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5029200" cy="5029200"/>
          </a:xfrm>
          <a:prstGeom prst="ellipse">
            <a:avLst/>
          </a:prstGeom>
          <a:solidFill>
            <a:srgbClr val="1F4E7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F2B134">
              <a:alpha val="18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8745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 vs RELATIVE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77240" y="26060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REFERENCING IN EXCEL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Concepts, Worked Examples, and the Full Practice-Workbook Answer Key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5349240"/>
            <a:ext cx="2926080" cy="0"/>
          </a:xfrm>
          <a:prstGeom prst="line">
            <a:avLst/>
          </a:prstGeom>
          <a:noFill/>
          <a:ln w="12700">
            <a:solidFill>
              <a:srgbClr val="3D5A7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486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Prodigy Training Hub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5852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Companion deck to Absolute_Referencing_Practice.xlsx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Kajola Gbenga Adewale | Data Expert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Reference Locking Matters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097280"/>
            <a:ext cx="1828800" cy="0"/>
          </a:xfrm>
          <a:prstGeom prst="line">
            <a:avLst/>
          </a:prstGeom>
          <a:noFill/>
          <a:ln w="38100">
            <a:solidFill>
              <a:srgbClr val="F2B1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173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formula is built from cell references. When a formula is copied to other cells, each reference either shifts with it or stays fixed, depending on whether it is locked with a $ sign. Choosing correctly is what keeps one formula accurate across an entire report.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AF1FB"/>
          </a:solidFill>
          <a:ln w="12700">
            <a:solidFill>
              <a:srgbClr val="D7E3F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770632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62432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Unlocked = it moves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97180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relative reference shifts one row or column every time the formula is copied, whether that is what you wanted or not.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776472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AF1FB"/>
          </a:solidFill>
          <a:ln w="12700">
            <a:solidFill>
              <a:srgbClr val="D7E3F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32504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37360" y="388620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= it stays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737360" y="4233672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$ sign in front of a column letter or row number freezes that part of the reference, no matter where the formula travels.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5038344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AF1FB"/>
          </a:solidFill>
          <a:ln w="12700">
            <a:solidFill>
              <a:srgbClr val="D7E3F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294376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37360" y="514807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habit, fewer errors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737360" y="5495544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which of the four reference types to reach for removes an entire category of silent spreadsheet mistakes.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Types of Cell Reference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097280"/>
            <a:ext cx="1828800" cy="0"/>
          </a:xfrm>
          <a:prstGeom prst="line">
            <a:avLst/>
          </a:prstGeom>
          <a:noFill/>
          <a:ln w="38100">
            <a:solidFill>
              <a:srgbClr val="F2B1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5285232" cy="2240280"/>
          </a:xfrm>
          <a:prstGeom prst="roundRect">
            <a:avLst>
              <a:gd name="adj" fmla="val 3673"/>
            </a:avLst>
          </a:prstGeom>
          <a:solidFill>
            <a:srgbClr val="F2F4F7"/>
          </a:solidFill>
          <a:ln w="12700">
            <a:solidFill>
              <a:srgbClr val="D7E3F5"/>
            </a:solidFill>
            <a:prstDash val="solid"/>
          </a:ln>
          <a:effectLst>
            <a:outerShdw sx="100000" sy="100000" kx="0" ky="0" algn="bl" rotWithShape="0" blurRad="127000" dist="38100" dir="5400000">
              <a:srgbClr val="1F2937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6459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5727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554480" y="20848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Reference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32688" y="2542032"/>
            <a:ext cx="4700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Locks: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locked
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column and row shift freely with the copy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371600"/>
            <a:ext cx="5285232" cy="2240280"/>
          </a:xfrm>
          <a:prstGeom prst="roundRect">
            <a:avLst>
              <a:gd name="adj" fmla="val 3673"/>
            </a:avLst>
          </a:prstGeom>
          <a:solidFill>
            <a:srgbClr val="EAF1FB"/>
          </a:solidFill>
          <a:ln w="12700">
            <a:solidFill>
              <a:srgbClr val="D7E3F5"/>
            </a:solidFill>
            <a:prstDash val="solid"/>
          </a:ln>
          <a:effectLst>
            <a:outerShdw sx="100000" sy="100000" kx="0" ky="0" algn="bl" rotWithShape="0" blurRad="127000" dist="38100" dir="5400000">
              <a:srgbClr val="1F2937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164592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15727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$A1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7178040" y="20848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Locked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56248" y="2542032"/>
            <a:ext cx="4700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Locks: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(A) is locked
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Stays on column A; row still shifts when copied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794760"/>
            <a:ext cx="5285232" cy="2240280"/>
          </a:xfrm>
          <a:prstGeom prst="roundRect">
            <a:avLst>
              <a:gd name="adj" fmla="val 3673"/>
            </a:avLst>
          </a:prstGeom>
          <a:solidFill>
            <a:srgbClr val="EAF1FB"/>
          </a:solidFill>
          <a:ln w="12700">
            <a:solidFill>
              <a:srgbClr val="D7E3F5"/>
            </a:solidFill>
            <a:prstDash val="solid"/>
          </a:ln>
          <a:effectLst>
            <a:outerShdw sx="100000" sy="100000" kx="0" ky="0" algn="bl" rotWithShape="0" blurRad="127000" dist="38100" dir="5400000">
              <a:srgbClr val="1F2937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06908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39959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A$1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1554480" y="45079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Locked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32688" y="4965192"/>
            <a:ext cx="4700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Locks: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(1) is locked
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Stays on row 1; column still shifts when copied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63640" y="3794760"/>
            <a:ext cx="5285232" cy="2240280"/>
          </a:xfrm>
          <a:prstGeom prst="roundRect">
            <a:avLst>
              <a:gd name="adj" fmla="val 3673"/>
            </a:avLst>
          </a:prstGeom>
          <a:solidFill>
            <a:srgbClr val="FCEFD6"/>
          </a:solidFill>
          <a:ln w="12700">
            <a:solidFill>
              <a:srgbClr val="D7E3F5"/>
            </a:solidFill>
            <a:prstDash val="solid"/>
          </a:ln>
          <a:effectLst>
            <a:outerShdw sx="100000" sy="100000" kx="0" ky="0" algn="bl" rotWithShape="0" blurRad="127000" dist="38100" dir="5400000">
              <a:srgbClr val="1F2937">
                <a:alpha val="12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406908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78040" y="39959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79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$A$1</a:t>
            </a:r>
            <a:endParaRPr lang="en-US" sz="2600" dirty="0"/>
          </a:p>
        </p:txBody>
      </p:sp>
      <p:sp>
        <p:nvSpPr>
          <p:cNvPr id="22" name="Text 16"/>
          <p:cNvSpPr/>
          <p:nvPr/>
        </p:nvSpPr>
        <p:spPr>
          <a:xfrm>
            <a:off x="7178040" y="45079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 Reference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56248" y="4965192"/>
            <a:ext cx="4700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Locks: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AND row locked
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shifts; always reads cell A1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4E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06240"/>
            <a:ext cx="4206240" cy="4206240"/>
          </a:xfrm>
          <a:prstGeom prst="ellipse">
            <a:avLst/>
          </a:prstGeom>
          <a:solidFill>
            <a:srgbClr val="16324A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1965960"/>
            <a:ext cx="2651760" cy="26517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40280"/>
            <a:ext cx="2103120" cy="2103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93192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931920" y="19659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F4 to cycle reference types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3931920" y="28803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 cell reference inside a formula in the formula bar, then press F4 (Windows) or Cmd+T (Mac) to cycle automatically: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931920" y="3886200"/>
            <a:ext cx="1234440" cy="594360"/>
          </a:xfrm>
          <a:prstGeom prst="roundRect">
            <a:avLst>
              <a:gd name="adj" fmla="val 12308"/>
            </a:avLst>
          </a:prstGeom>
          <a:solidFill>
            <a:srgbClr val="2A5C86"/>
          </a:solidFill>
          <a:ln/>
        </p:spPr>
      </p:sp>
      <p:sp>
        <p:nvSpPr>
          <p:cNvPr id="9" name="Text 6"/>
          <p:cNvSpPr/>
          <p:nvPr/>
        </p:nvSpPr>
        <p:spPr>
          <a:xfrm>
            <a:off x="3931920" y="388620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166360" y="3886200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0" y="3886200"/>
            <a:ext cx="1234440" cy="594360"/>
          </a:xfrm>
          <a:prstGeom prst="roundRect">
            <a:avLst>
              <a:gd name="adj" fmla="val 12308"/>
            </a:avLst>
          </a:prstGeom>
          <a:solidFill>
            <a:srgbClr val="2A5C86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0" y="388620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$A$1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720840" y="3886200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040880" y="3886200"/>
            <a:ext cx="1234440" cy="594360"/>
          </a:xfrm>
          <a:prstGeom prst="roundRect">
            <a:avLst>
              <a:gd name="adj" fmla="val 12308"/>
            </a:avLst>
          </a:prstGeom>
          <a:solidFill>
            <a:srgbClr val="2A5C86"/>
          </a:solidFill>
          <a:ln/>
        </p:spPr>
      </p:sp>
      <p:sp>
        <p:nvSpPr>
          <p:cNvPr id="15" name="Text 12"/>
          <p:cNvSpPr/>
          <p:nvPr/>
        </p:nvSpPr>
        <p:spPr>
          <a:xfrm>
            <a:off x="7040880" y="388620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A$1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75320" y="3886200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595360" y="3886200"/>
            <a:ext cx="1234440" cy="594360"/>
          </a:xfrm>
          <a:prstGeom prst="roundRect">
            <a:avLst>
              <a:gd name="adj" fmla="val 12308"/>
            </a:avLst>
          </a:prstGeom>
          <a:solidFill>
            <a:srgbClr val="2A5C86"/>
          </a:solidFill>
          <a:ln/>
        </p:spPr>
      </p:sp>
      <p:sp>
        <p:nvSpPr>
          <p:cNvPr id="18" name="Text 15"/>
          <p:cNvSpPr/>
          <p:nvPr/>
        </p:nvSpPr>
        <p:spPr>
          <a:xfrm>
            <a:off x="8595360" y="388620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$A1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829800" y="3886200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0149840" y="3886200"/>
            <a:ext cx="1234440" cy="594360"/>
          </a:xfrm>
          <a:prstGeom prst="roundRect">
            <a:avLst>
              <a:gd name="adj" fmla="val 12308"/>
            </a:avLst>
          </a:prstGeom>
          <a:solidFill>
            <a:srgbClr val="F2B134"/>
          </a:solidFill>
          <a:ln/>
        </p:spPr>
      </p:sp>
      <p:sp>
        <p:nvSpPr>
          <p:cNvPr id="21" name="Text 18"/>
          <p:cNvSpPr/>
          <p:nvPr/>
        </p:nvSpPr>
        <p:spPr>
          <a:xfrm>
            <a:off x="10149840" y="388620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5E7E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46634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SHEET 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0350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Reference – See the Problem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58368" y="1170432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3258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fixed 10% discount rate sits in B19. Typing =B21*B19 in C21 is correct, but copying it down lets the reference drift.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1280160" cy="566928"/>
          </a:xfrm>
          <a:prstGeom prst="rect">
            <a:avLst/>
          </a:prstGeom>
          <a:solidFill>
            <a:srgbClr val="1F4E7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2011680"/>
            <a:ext cx="1133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920240" y="2011680"/>
            <a:ext cx="3291840" cy="566928"/>
          </a:xfrm>
          <a:prstGeom prst="rect">
            <a:avLst/>
          </a:prstGeom>
          <a:solidFill>
            <a:srgbClr val="1F4E7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93392" y="2011680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 After Copying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212080" y="2011680"/>
            <a:ext cx="2743200" cy="566928"/>
          </a:xfrm>
          <a:prstGeom prst="rect">
            <a:avLst/>
          </a:prstGeom>
          <a:solidFill>
            <a:srgbClr val="1F4E7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85232" y="2011680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955280" y="2011680"/>
            <a:ext cx="3566160" cy="566928"/>
          </a:xfrm>
          <a:prstGeom prst="rect">
            <a:avLst/>
          </a:prstGeom>
          <a:solidFill>
            <a:srgbClr val="1F4E7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28432" y="2011680"/>
            <a:ext cx="3419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2578608"/>
            <a:ext cx="1280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" y="2578608"/>
            <a:ext cx="1133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C21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1920240" y="2578608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993392" y="2578608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=B21*B19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212080" y="2578608"/>
            <a:ext cx="2743200" cy="566928"/>
          </a:xfrm>
          <a:prstGeom prst="rect">
            <a:avLst/>
          </a:prstGeom>
          <a:solidFill>
            <a:srgbClr val="E7F5E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85232" y="2578608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₦6,200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955280" y="2578608"/>
            <a:ext cx="3566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28432" y="2578608"/>
            <a:ext cx="3419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– B19 really is the discount rate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40080" y="3145536"/>
            <a:ext cx="1280160" cy="566928"/>
          </a:xfrm>
          <a:prstGeom prst="rect">
            <a:avLst/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" y="3145536"/>
            <a:ext cx="1133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C22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1920240" y="3145536"/>
            <a:ext cx="3291840" cy="566928"/>
          </a:xfrm>
          <a:prstGeom prst="rect">
            <a:avLst/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993392" y="3145536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=B22*B20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212080" y="3145536"/>
            <a:ext cx="2743200" cy="566928"/>
          </a:xfrm>
          <a:prstGeom prst="rect">
            <a:avLst/>
          </a:prstGeom>
          <a:solidFill>
            <a:srgbClr val="FBEAE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285232" y="3145536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#VALUE!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7955280" y="3145536"/>
            <a:ext cx="3566160" cy="566928"/>
          </a:xfrm>
          <a:prstGeom prst="rect">
            <a:avLst/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028432" y="3145536"/>
            <a:ext cx="3419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B20 is a text header, not a number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40080" y="3712464"/>
            <a:ext cx="1280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13232" y="3712464"/>
            <a:ext cx="1133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C23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1920240" y="3712464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993392" y="3712464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=B23*B21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5212080" y="3712464"/>
            <a:ext cx="2743200" cy="566928"/>
          </a:xfrm>
          <a:prstGeom prst="rect">
            <a:avLst/>
          </a:prstGeom>
          <a:solidFill>
            <a:srgbClr val="FBEAE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285232" y="3712464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₦567,000,000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7955280" y="3712464"/>
            <a:ext cx="3566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028432" y="3712464"/>
            <a:ext cx="3419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B21 is a price, not the discount rate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640080" y="4279392"/>
            <a:ext cx="1280160" cy="566928"/>
          </a:xfrm>
          <a:prstGeom prst="rect">
            <a:avLst/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13232" y="4279392"/>
            <a:ext cx="1133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C24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1920240" y="4279392"/>
            <a:ext cx="3291840" cy="566928"/>
          </a:xfrm>
          <a:prstGeom prst="rect">
            <a:avLst/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993392" y="4279392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=B24*B22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5212080" y="4279392"/>
            <a:ext cx="2743200" cy="566928"/>
          </a:xfrm>
          <a:prstGeom prst="rect">
            <a:avLst/>
          </a:prstGeom>
          <a:solidFill>
            <a:srgbClr val="FBEAE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285232" y="4279392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₦409,500,000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7955280" y="4279392"/>
            <a:ext cx="3566160" cy="566928"/>
          </a:xfrm>
          <a:prstGeom prst="rect">
            <a:avLst/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028432" y="4279392"/>
            <a:ext cx="3419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B22 is a price, not the discount rate</a:t>
            </a:r>
            <a:endParaRPr lang="en-US" sz="1150" dirty="0"/>
          </a:p>
        </p:txBody>
      </p:sp>
      <p:sp>
        <p:nvSpPr>
          <p:cNvPr id="48" name="Shape 45"/>
          <p:cNvSpPr/>
          <p:nvPr/>
        </p:nvSpPr>
        <p:spPr>
          <a:xfrm>
            <a:off x="640080" y="52578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AF1FB"/>
          </a:solidFill>
          <a:ln w="12700">
            <a:solidFill>
              <a:srgbClr val="D7E3F5"/>
            </a:solidFill>
            <a:prstDash val="solid"/>
          </a:ln>
        </p:spPr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486400"/>
            <a:ext cx="502920" cy="502920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1508760" y="5349240"/>
            <a:ext cx="9829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happened: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relative reference has no memory of what a cell means, only where it sits, so it keeps sliding down one row at a time as it is copied – straight through a text header and into unrelated price cells.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F1F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46634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SHEET 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0350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Lock ($A1) – Copying Across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58368" y="1170432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3258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=B19/$H17 in B20, then copy ACROSS to C20:F20. The $ before H stops the enrolment target from sliding into I, J, K as the formula moves right.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057400"/>
            <a:ext cx="1920240" cy="548640"/>
          </a:xfrm>
          <a:prstGeom prst="rect">
            <a:avLst/>
          </a:prstGeom>
          <a:solidFill>
            <a:srgbClr val="1F4E7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4944" y="205740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560320" y="2057400"/>
            <a:ext cx="1792224" cy="548640"/>
          </a:xfrm>
          <a:prstGeom prst="rect">
            <a:avLst/>
          </a:prstGeom>
          <a:solidFill>
            <a:srgbClr val="1F4E7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15184" y="205740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1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52544" y="2057400"/>
            <a:ext cx="1792224" cy="548640"/>
          </a:xfrm>
          <a:prstGeom prst="rect">
            <a:avLst/>
          </a:prstGeom>
          <a:solidFill>
            <a:srgbClr val="1F4E7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07408" y="205740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2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144768" y="2057400"/>
            <a:ext cx="1792224" cy="548640"/>
          </a:xfrm>
          <a:prstGeom prst="rect">
            <a:avLst/>
          </a:prstGeom>
          <a:solidFill>
            <a:srgbClr val="1F4E7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99632" y="205740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3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936992" y="2057400"/>
            <a:ext cx="1792224" cy="548640"/>
          </a:xfrm>
          <a:prstGeom prst="rect">
            <a:avLst/>
          </a:prstGeom>
          <a:solidFill>
            <a:srgbClr val="1F4E7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91856" y="205740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4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9729216" y="2057400"/>
            <a:ext cx="1792224" cy="548640"/>
          </a:xfrm>
          <a:prstGeom prst="rect">
            <a:avLst/>
          </a:prstGeom>
          <a:solidFill>
            <a:srgbClr val="1F4E7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784080" y="205740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5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40080" y="2606040"/>
            <a:ext cx="1920240" cy="548640"/>
          </a:xfrm>
          <a:prstGeom prst="rect">
            <a:avLst/>
          </a:prstGeom>
          <a:solidFill>
            <a:srgbClr val="F0F3F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4944" y="260604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Enrolled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560320" y="2606040"/>
            <a:ext cx="179222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615184" y="260604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352544" y="2606040"/>
            <a:ext cx="179222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407408" y="260604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144768" y="2606040"/>
            <a:ext cx="179222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99632" y="260604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36992" y="2606040"/>
            <a:ext cx="179222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91856" y="260604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9729216" y="2606040"/>
            <a:ext cx="179222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784080" y="260604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40080" y="3154680"/>
            <a:ext cx="1920240" cy="502920"/>
          </a:xfrm>
          <a:prstGeom prst="rect">
            <a:avLst/>
          </a:prstGeom>
          <a:solidFill>
            <a:srgbClr val="F0F3F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94944" y="31546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2560320" y="3154680"/>
            <a:ext cx="1792224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615184" y="315468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=B19/$H17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4352544" y="3154680"/>
            <a:ext cx="1792224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407408" y="315468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=C19/$H17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6144768" y="3154680"/>
            <a:ext cx="1792224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199632" y="315468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=D19/$H17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7936992" y="3154680"/>
            <a:ext cx="1792224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991856" y="315468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=E19/$H17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9729216" y="3154680"/>
            <a:ext cx="1792224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784080" y="315468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=F19/$H17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640080" y="3657600"/>
            <a:ext cx="1920240" cy="548640"/>
          </a:xfrm>
          <a:prstGeom prst="rect">
            <a:avLst/>
          </a:prstGeom>
          <a:solidFill>
            <a:srgbClr val="F0F3F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94944" y="365760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Target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2560320" y="3657600"/>
            <a:ext cx="1792224" cy="548640"/>
          </a:xfrm>
          <a:prstGeom prst="rect">
            <a:avLst/>
          </a:prstGeom>
          <a:solidFill>
            <a:srgbClr val="E7F5E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615184" y="365760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16.4%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4352544" y="3657600"/>
            <a:ext cx="1792224" cy="548640"/>
          </a:xfrm>
          <a:prstGeom prst="rect">
            <a:avLst/>
          </a:prstGeom>
          <a:solidFill>
            <a:srgbClr val="E7F5E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407408" y="365760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19.0%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6144768" y="3657600"/>
            <a:ext cx="1792224" cy="548640"/>
          </a:xfrm>
          <a:prstGeom prst="rect">
            <a:avLst/>
          </a:prstGeom>
          <a:solidFill>
            <a:srgbClr val="E7F5E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199632" y="365760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22.0%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7936992" y="3657600"/>
            <a:ext cx="1792224" cy="548640"/>
          </a:xfrm>
          <a:prstGeom prst="rect">
            <a:avLst/>
          </a:prstGeom>
          <a:solidFill>
            <a:srgbClr val="E7F5E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991856" y="365760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17.6%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9729216" y="3657600"/>
            <a:ext cx="1792224" cy="548640"/>
          </a:xfrm>
          <a:prstGeom prst="rect">
            <a:avLst/>
          </a:prstGeom>
          <a:solidFill>
            <a:srgbClr val="E7F5E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9784080" y="365760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20.2%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640080" y="54406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CEFD6"/>
          </a:solidFill>
          <a:ln w="12700">
            <a:solidFill>
              <a:srgbClr val="F0DBB2"/>
            </a:solidFill>
            <a:prstDash val="solid"/>
          </a:ln>
        </p:spPr>
      </p:sp>
      <p:pic>
        <p:nvPicPr>
          <p:cNvPr id="5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669280"/>
            <a:ext cx="502920" cy="502920"/>
          </a:xfrm>
          <a:prstGeom prst="rect">
            <a:avLst/>
          </a:prstGeom>
        </p:spPr>
      </p:pic>
      <p:sp>
        <p:nvSpPr>
          <p:cNvPr id="58" name="Text 54"/>
          <p:cNvSpPr/>
          <p:nvPr/>
        </p:nvSpPr>
        <p:spPr>
          <a:xfrm>
            <a:off x="1508760" y="5532120"/>
            <a:ext cx="9829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$H17, not $H$17: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formula is only ever copied sideways, never down, so locking the column is what matters. The row was left free deliberately – though locking it too would also work.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F1F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46634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SHEET 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0350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Lock (A$1) – Copying Down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58368" y="1170432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3258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=B19+B$17 in C19, then copy DOWN to C20:C22. The $ before 17 stops the exam fee from sliding into row 18, 19, 20 as the formula moves down.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057400"/>
            <a:ext cx="3108960" cy="502920"/>
          </a:xfrm>
          <a:prstGeom prst="rect">
            <a:avLst/>
          </a:prstGeom>
          <a:solidFill>
            <a:srgbClr val="1F4E7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2057400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749040" y="2057400"/>
            <a:ext cx="2468880" cy="502920"/>
          </a:xfrm>
          <a:prstGeom prst="rect">
            <a:avLst/>
          </a:prstGeom>
          <a:solidFill>
            <a:srgbClr val="1F4E7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22192" y="205740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Fee (N)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17920" y="2057400"/>
            <a:ext cx="2651760" cy="502920"/>
          </a:xfrm>
          <a:prstGeom prst="rect">
            <a:avLst/>
          </a:prstGeom>
          <a:solidFill>
            <a:srgbClr val="1F4E7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91072" y="205740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869680" y="2057400"/>
            <a:ext cx="2651760" cy="502920"/>
          </a:xfrm>
          <a:prstGeom prst="rect">
            <a:avLst/>
          </a:prstGeom>
          <a:solidFill>
            <a:srgbClr val="1F4E7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42832" y="205740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Payable (N)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2560320"/>
            <a:ext cx="31089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" y="2560320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Bola Adeyemi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749040" y="2560320"/>
            <a:ext cx="24688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22192" y="256032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65,000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217920" y="2560320"/>
            <a:ext cx="26517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91072" y="256032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=B19+B$17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869680" y="2560320"/>
            <a:ext cx="2651760" cy="502920"/>
          </a:xfrm>
          <a:prstGeom prst="rect">
            <a:avLst/>
          </a:prstGeom>
          <a:solidFill>
            <a:srgbClr val="E7F5E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942832" y="256032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70,000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40080" y="3063240"/>
            <a:ext cx="3108960" cy="502920"/>
          </a:xfrm>
          <a:prstGeom prst="rect">
            <a:avLst/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" y="3063240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Femi Alabi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3749040" y="3063240"/>
            <a:ext cx="2468880" cy="502920"/>
          </a:xfrm>
          <a:prstGeom prst="rect">
            <a:avLst/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822192" y="306324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65,000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217920" y="3063240"/>
            <a:ext cx="2651760" cy="502920"/>
          </a:xfrm>
          <a:prstGeom prst="rect">
            <a:avLst/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291072" y="306324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=B20+B$17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8869680" y="3063240"/>
            <a:ext cx="2651760" cy="502920"/>
          </a:xfrm>
          <a:prstGeom prst="rect">
            <a:avLst/>
          </a:prstGeom>
          <a:solidFill>
            <a:srgbClr val="E7F5E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942832" y="306324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70,000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40080" y="3566160"/>
            <a:ext cx="31089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13232" y="3566160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 Nwosu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3749040" y="3566160"/>
            <a:ext cx="24688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822192" y="356616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72,000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217920" y="3566160"/>
            <a:ext cx="26517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91072" y="356616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=B21+B$17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8869680" y="3566160"/>
            <a:ext cx="2651760" cy="502920"/>
          </a:xfrm>
          <a:prstGeom prst="rect">
            <a:avLst/>
          </a:prstGeom>
          <a:solidFill>
            <a:srgbClr val="E7F5E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942832" y="356616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77,000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640080" y="4069080"/>
            <a:ext cx="3108960" cy="502920"/>
          </a:xfrm>
          <a:prstGeom prst="rect">
            <a:avLst/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13232" y="4069080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Hassan Yusuf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3749040" y="4069080"/>
            <a:ext cx="2468880" cy="502920"/>
          </a:xfrm>
          <a:prstGeom prst="rect">
            <a:avLst/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822192" y="406908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72,000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6217920" y="4069080"/>
            <a:ext cx="2651760" cy="502920"/>
          </a:xfrm>
          <a:prstGeom prst="rect">
            <a:avLst/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291072" y="406908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=B22+B$17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8869680" y="4069080"/>
            <a:ext cx="2651760" cy="502920"/>
          </a:xfrm>
          <a:prstGeom prst="rect">
            <a:avLst/>
          </a:prstGeom>
          <a:solidFill>
            <a:srgbClr val="E7F5E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942832" y="406908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77,000</a:t>
            </a:r>
            <a:endParaRPr lang="en-US" sz="1150" dirty="0"/>
          </a:p>
        </p:txBody>
      </p:sp>
      <p:sp>
        <p:nvSpPr>
          <p:cNvPr id="48" name="Shape 45"/>
          <p:cNvSpPr/>
          <p:nvPr/>
        </p:nvSpPr>
        <p:spPr>
          <a:xfrm>
            <a:off x="640080" y="46634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CEFD6"/>
          </a:solidFill>
          <a:ln w="12700">
            <a:solidFill>
              <a:srgbClr val="F0DBB2"/>
            </a:solidFill>
            <a:prstDash val="solid"/>
          </a:ln>
        </p:spPr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892040"/>
            <a:ext cx="502920" cy="502920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1508760" y="4754880"/>
            <a:ext cx="9829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B$17, not $B$17: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formula only ever travels down a column, so locking the row is what matters. The column letter was left free since it never needed to change in a vertical copy – this is the direct fix for the Sheet 1 problem.</a:t>
            </a:r>
            <a:endParaRPr lang="en-US" sz="1200" dirty="0"/>
          </a:p>
        </p:txBody>
      </p:sp>
      <p:sp>
        <p:nvSpPr>
          <p:cNvPr id="51" name="Text 47"/>
          <p:cNvSpPr/>
          <p:nvPr/>
        </p:nvSpPr>
        <p:spPr>
          <a:xfrm>
            <a:off x="640080" y="58704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 (staff bonus, 2% rate, =B8*B$5): Adaeze ₦7,600 • Musa ₦8,400 • Chidinma ₦7,000 • Tunde ₦9,200 • Ngozi ₦7,900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CEFD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46634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SHEET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0350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 Reference ($A$1) – Both Directions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58368" y="1170432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3258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=$B20*(1-$I$18) in C20, then copy ACROSS to D20:F20 AND DOWN to C21:F23. Both $ signs together keep the discount rate fixed no matter which direction the formula travels.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057400"/>
            <a:ext cx="3108960" cy="502920"/>
          </a:xfrm>
          <a:prstGeom prst="rect">
            <a:avLst/>
          </a:prstGeom>
          <a:solidFill>
            <a:srgbClr val="1F4E7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2057400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749040" y="2057400"/>
            <a:ext cx="1920240" cy="502920"/>
          </a:xfrm>
          <a:prstGeom prst="rect">
            <a:avLst/>
          </a:prstGeom>
          <a:solidFill>
            <a:srgbClr val="1F4E7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22192" y="205740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(N)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0" y="2057400"/>
            <a:ext cx="3200400" cy="502920"/>
          </a:xfrm>
          <a:prstGeom prst="rect">
            <a:avLst/>
          </a:prstGeom>
          <a:solidFill>
            <a:srgbClr val="1F4E7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42432" y="205740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 (any cell)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869680" y="2057400"/>
            <a:ext cx="2651760" cy="502920"/>
          </a:xfrm>
          <a:prstGeom prst="rect">
            <a:avLst/>
          </a:prstGeom>
          <a:solidFill>
            <a:srgbClr val="1F4E7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42832" y="205740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Discounted Price (N)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2560320"/>
            <a:ext cx="31089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" y="2560320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Data Science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749040" y="2560320"/>
            <a:ext cx="1920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22192" y="256032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120,000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669280" y="2560320"/>
            <a:ext cx="32004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42432" y="256032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=$B20*(1-$I$18)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869680" y="2560320"/>
            <a:ext cx="2651760" cy="502920"/>
          </a:xfrm>
          <a:prstGeom prst="rect">
            <a:avLst/>
          </a:prstGeom>
          <a:solidFill>
            <a:srgbClr val="E7F5E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942832" y="256032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114,000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40080" y="3063240"/>
            <a:ext cx="3108960" cy="502920"/>
          </a:xfrm>
          <a:prstGeom prst="rect">
            <a:avLst/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" y="3063240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Masterclass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3749040" y="3063240"/>
            <a:ext cx="1920240" cy="502920"/>
          </a:xfrm>
          <a:prstGeom prst="rect">
            <a:avLst/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822192" y="306324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95,000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669280" y="3063240"/>
            <a:ext cx="3200400" cy="502920"/>
          </a:xfrm>
          <a:prstGeom prst="rect">
            <a:avLst/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42432" y="306324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=$B21*(1-$I$18)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8869680" y="3063240"/>
            <a:ext cx="2651760" cy="502920"/>
          </a:xfrm>
          <a:prstGeom prst="rect">
            <a:avLst/>
          </a:prstGeom>
          <a:solidFill>
            <a:srgbClr val="E7F5E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942832" y="306324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90,250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40080" y="3566160"/>
            <a:ext cx="31089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13232" y="3566160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Programming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3749040" y="3566160"/>
            <a:ext cx="1920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822192" y="356616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110,000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5669280" y="3566160"/>
            <a:ext cx="32004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742432" y="356616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=$B22*(1-$I$18)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8869680" y="3566160"/>
            <a:ext cx="2651760" cy="502920"/>
          </a:xfrm>
          <a:prstGeom prst="rect">
            <a:avLst/>
          </a:prstGeom>
          <a:solidFill>
            <a:srgbClr val="E7F5E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942832" y="356616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104,500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640080" y="4069080"/>
            <a:ext cx="3108960" cy="502920"/>
          </a:xfrm>
          <a:prstGeom prst="rect">
            <a:avLst/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13232" y="4069080"/>
            <a:ext cx="296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SPSS Statistics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3749040" y="4069080"/>
            <a:ext cx="1920240" cy="502920"/>
          </a:xfrm>
          <a:prstGeom prst="rect">
            <a:avLst/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822192" y="40690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85,000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5669280" y="4069080"/>
            <a:ext cx="3200400" cy="502920"/>
          </a:xfrm>
          <a:prstGeom prst="rect">
            <a:avLst/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742432" y="406908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=$B23*(1-$I$18)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8869680" y="4069080"/>
            <a:ext cx="2651760" cy="502920"/>
          </a:xfrm>
          <a:prstGeom prst="rect">
            <a:avLst/>
          </a:prstGeom>
          <a:solidFill>
            <a:srgbClr val="E7F5E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942832" y="406908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80,750</a:t>
            </a:r>
            <a:endParaRPr lang="en-US" sz="1150" dirty="0"/>
          </a:p>
        </p:txBody>
      </p:sp>
      <p:sp>
        <p:nvSpPr>
          <p:cNvPr id="48" name="Shape 45"/>
          <p:cNvSpPr/>
          <p:nvPr/>
        </p:nvSpPr>
        <p:spPr>
          <a:xfrm>
            <a:off x="640080" y="46634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CEFD6"/>
          </a:solidFill>
          <a:ln w="12700">
            <a:solidFill>
              <a:srgbClr val="F0DBB2"/>
            </a:solidFill>
            <a:prstDash val="solid"/>
          </a:ln>
        </p:spPr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892040"/>
            <a:ext cx="502920" cy="502920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1508760" y="4754880"/>
            <a:ext cx="9829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$I$18, both locked: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Whenever a formula travels in two directions, or references one single constant, a partial lock is not enough – this is the safest reference to reach for whenever the copy direction is uncertain.</a:t>
            </a:r>
            <a:endParaRPr lang="en-US" sz="1200" dirty="0"/>
          </a:p>
        </p:txBody>
      </p:sp>
      <p:sp>
        <p:nvSpPr>
          <p:cNvPr id="51" name="Text 47"/>
          <p:cNvSpPr/>
          <p:nvPr/>
        </p:nvSpPr>
        <p:spPr>
          <a:xfrm>
            <a:off x="640080" y="58704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 (VAT grid at 7.5%, =$B8*(1+$I$5)): Laptop Bag ₦8,600 • Office Chair ₦26,875 • Whiteboard ₦16,125 • Printer Paper ₦3,762.50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F4E7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46634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SHEET 5 – PRACTICE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0350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Multiplication Table: Column + Row Lock Together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58368" y="1170432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3258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=$A5*B$4 in B5, copy ACROSS to K5, then copy that whole row DOWN to row 14. $A5 locks the column (A) for the horizontal copy; B$4 locks the row (4) for the vertical copy.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1965960"/>
            <a:ext cx="420624" cy="420624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243584" y="1965960"/>
            <a:ext cx="420624" cy="420624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11" name="Text 8"/>
          <p:cNvSpPr/>
          <p:nvPr/>
        </p:nvSpPr>
        <p:spPr>
          <a:xfrm>
            <a:off x="1243584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664208" y="1965960"/>
            <a:ext cx="420624" cy="420624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13" name="Text 10"/>
          <p:cNvSpPr/>
          <p:nvPr/>
        </p:nvSpPr>
        <p:spPr>
          <a:xfrm>
            <a:off x="1664208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084832" y="1965960"/>
            <a:ext cx="420624" cy="420624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15" name="Text 12"/>
          <p:cNvSpPr/>
          <p:nvPr/>
        </p:nvSpPr>
        <p:spPr>
          <a:xfrm>
            <a:off x="2084832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505456" y="1965960"/>
            <a:ext cx="420624" cy="420624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17" name="Text 14"/>
          <p:cNvSpPr/>
          <p:nvPr/>
        </p:nvSpPr>
        <p:spPr>
          <a:xfrm>
            <a:off x="2505456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926080" y="1965960"/>
            <a:ext cx="420624" cy="420624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19" name="Text 16"/>
          <p:cNvSpPr/>
          <p:nvPr/>
        </p:nvSpPr>
        <p:spPr>
          <a:xfrm>
            <a:off x="2926080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346704" y="1965960"/>
            <a:ext cx="420624" cy="420624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21" name="Text 18"/>
          <p:cNvSpPr/>
          <p:nvPr/>
        </p:nvSpPr>
        <p:spPr>
          <a:xfrm>
            <a:off x="3346704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767328" y="1965960"/>
            <a:ext cx="420624" cy="420624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23" name="Text 20"/>
          <p:cNvSpPr/>
          <p:nvPr/>
        </p:nvSpPr>
        <p:spPr>
          <a:xfrm>
            <a:off x="3767328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187952" y="1965960"/>
            <a:ext cx="420624" cy="420624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25" name="Text 22"/>
          <p:cNvSpPr/>
          <p:nvPr/>
        </p:nvSpPr>
        <p:spPr>
          <a:xfrm>
            <a:off x="4187952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608576" y="1965960"/>
            <a:ext cx="420624" cy="420624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27" name="Text 24"/>
          <p:cNvSpPr/>
          <p:nvPr/>
        </p:nvSpPr>
        <p:spPr>
          <a:xfrm>
            <a:off x="4608576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029200" y="1965960"/>
            <a:ext cx="420624" cy="420624"/>
          </a:xfrm>
          <a:prstGeom prst="rect">
            <a:avLst/>
          </a:prstGeom>
          <a:solidFill>
            <a:srgbClr val="1F4E78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0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22960" y="2386584"/>
            <a:ext cx="420624" cy="42062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1" name="Text 28"/>
          <p:cNvSpPr/>
          <p:nvPr/>
        </p:nvSpPr>
        <p:spPr>
          <a:xfrm>
            <a:off x="822960" y="2386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243584" y="2386584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243584" y="2386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1664208" y="2386584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664208" y="2386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2084832" y="2386584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084832" y="2386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2505456" y="2386584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505456" y="2386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2926080" y="2386584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926080" y="2386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3346704" y="2386584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346704" y="2386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3767328" y="2386584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767328" y="2386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187952" y="2386584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187952" y="2386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608576" y="2386584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608576" y="2386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5029200" y="2386584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029200" y="2386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822960" y="2807208"/>
            <a:ext cx="420624" cy="42062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3" name="Text 50"/>
          <p:cNvSpPr/>
          <p:nvPr/>
        </p:nvSpPr>
        <p:spPr>
          <a:xfrm>
            <a:off x="822960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1243584" y="2807208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243584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1664208" y="2807208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664208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2084832" y="2807208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2084832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2505456" y="2807208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2505456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2926080" y="2807208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2926080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3346704" y="2807208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3346704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3767328" y="2807208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3767328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4187952" y="2807208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4187952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4608576" y="2807208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4608576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5029200" y="2807208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5029200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822960" y="3227832"/>
            <a:ext cx="420624" cy="42062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5" name="Text 72"/>
          <p:cNvSpPr/>
          <p:nvPr/>
        </p:nvSpPr>
        <p:spPr>
          <a:xfrm>
            <a:off x="822960" y="3227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76" name="Shape 73"/>
          <p:cNvSpPr/>
          <p:nvPr/>
        </p:nvSpPr>
        <p:spPr>
          <a:xfrm>
            <a:off x="1243584" y="3227832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1243584" y="3227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1664208" y="3227832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1664208" y="3227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80" name="Shape 77"/>
          <p:cNvSpPr/>
          <p:nvPr/>
        </p:nvSpPr>
        <p:spPr>
          <a:xfrm>
            <a:off x="2084832" y="3227832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2084832" y="3227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82" name="Shape 79"/>
          <p:cNvSpPr/>
          <p:nvPr/>
        </p:nvSpPr>
        <p:spPr>
          <a:xfrm>
            <a:off x="2505456" y="3227832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2505456" y="3227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2926080" y="3227832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2926080" y="3227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86" name="Shape 83"/>
          <p:cNvSpPr/>
          <p:nvPr/>
        </p:nvSpPr>
        <p:spPr>
          <a:xfrm>
            <a:off x="3346704" y="3227832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3346704" y="3227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88" name="Shape 85"/>
          <p:cNvSpPr/>
          <p:nvPr/>
        </p:nvSpPr>
        <p:spPr>
          <a:xfrm>
            <a:off x="3767328" y="3227832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3767328" y="3227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4187952" y="3227832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4187952" y="3227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92" name="Shape 89"/>
          <p:cNvSpPr/>
          <p:nvPr/>
        </p:nvSpPr>
        <p:spPr>
          <a:xfrm>
            <a:off x="4608576" y="3227832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4608576" y="3227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94" name="Shape 91"/>
          <p:cNvSpPr/>
          <p:nvPr/>
        </p:nvSpPr>
        <p:spPr>
          <a:xfrm>
            <a:off x="5029200" y="3227832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029200" y="3227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822960" y="3648456"/>
            <a:ext cx="420624" cy="42062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7" name="Text 94"/>
          <p:cNvSpPr/>
          <p:nvPr/>
        </p:nvSpPr>
        <p:spPr>
          <a:xfrm>
            <a:off x="822960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98" name="Shape 95"/>
          <p:cNvSpPr/>
          <p:nvPr/>
        </p:nvSpPr>
        <p:spPr>
          <a:xfrm>
            <a:off x="1243584" y="3648456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1243584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00" name="Shape 97"/>
          <p:cNvSpPr/>
          <p:nvPr/>
        </p:nvSpPr>
        <p:spPr>
          <a:xfrm>
            <a:off x="1664208" y="3648456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1664208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102" name="Shape 99"/>
          <p:cNvSpPr/>
          <p:nvPr/>
        </p:nvSpPr>
        <p:spPr>
          <a:xfrm>
            <a:off x="2084832" y="3648456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2084832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104" name="Shape 101"/>
          <p:cNvSpPr/>
          <p:nvPr/>
        </p:nvSpPr>
        <p:spPr>
          <a:xfrm>
            <a:off x="2505456" y="3648456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2505456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106" name="Shape 103"/>
          <p:cNvSpPr/>
          <p:nvPr/>
        </p:nvSpPr>
        <p:spPr>
          <a:xfrm>
            <a:off x="2926080" y="3648456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2926080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3346704" y="3648456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3346704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110" name="Shape 107"/>
          <p:cNvSpPr/>
          <p:nvPr/>
        </p:nvSpPr>
        <p:spPr>
          <a:xfrm>
            <a:off x="3767328" y="3648456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3767328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112" name="Shape 109"/>
          <p:cNvSpPr/>
          <p:nvPr/>
        </p:nvSpPr>
        <p:spPr>
          <a:xfrm>
            <a:off x="4187952" y="3648456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4187952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sp>
        <p:nvSpPr>
          <p:cNvPr id="114" name="Shape 111"/>
          <p:cNvSpPr/>
          <p:nvPr/>
        </p:nvSpPr>
        <p:spPr>
          <a:xfrm>
            <a:off x="4608576" y="3648456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4608576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  <p:sp>
        <p:nvSpPr>
          <p:cNvPr id="116" name="Shape 113"/>
          <p:cNvSpPr/>
          <p:nvPr/>
        </p:nvSpPr>
        <p:spPr>
          <a:xfrm>
            <a:off x="5029200" y="3648456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5029200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  <p:sp>
        <p:nvSpPr>
          <p:cNvPr id="118" name="Shape 115"/>
          <p:cNvSpPr/>
          <p:nvPr/>
        </p:nvSpPr>
        <p:spPr>
          <a:xfrm>
            <a:off x="822960" y="4069080"/>
            <a:ext cx="420624" cy="42062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9" name="Text 116"/>
          <p:cNvSpPr/>
          <p:nvPr/>
        </p:nvSpPr>
        <p:spPr>
          <a:xfrm>
            <a:off x="82296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20" name="Shape 117"/>
          <p:cNvSpPr/>
          <p:nvPr/>
        </p:nvSpPr>
        <p:spPr>
          <a:xfrm>
            <a:off x="1243584" y="4069080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1243584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22" name="Shape 119"/>
          <p:cNvSpPr/>
          <p:nvPr/>
        </p:nvSpPr>
        <p:spPr>
          <a:xfrm>
            <a:off x="1664208" y="4069080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1664208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24" name="Shape 121"/>
          <p:cNvSpPr/>
          <p:nvPr/>
        </p:nvSpPr>
        <p:spPr>
          <a:xfrm>
            <a:off x="2084832" y="4069080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2084832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126" name="Shape 123"/>
          <p:cNvSpPr/>
          <p:nvPr/>
        </p:nvSpPr>
        <p:spPr>
          <a:xfrm>
            <a:off x="2505456" y="4069080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2505456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128" name="Shape 125"/>
          <p:cNvSpPr/>
          <p:nvPr/>
        </p:nvSpPr>
        <p:spPr>
          <a:xfrm>
            <a:off x="2926080" y="4069080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292608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130" name="Shape 127"/>
          <p:cNvSpPr/>
          <p:nvPr/>
        </p:nvSpPr>
        <p:spPr>
          <a:xfrm>
            <a:off x="3346704" y="4069080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1" name="Text 128"/>
          <p:cNvSpPr/>
          <p:nvPr/>
        </p:nvSpPr>
        <p:spPr>
          <a:xfrm>
            <a:off x="3346704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132" name="Shape 129"/>
          <p:cNvSpPr/>
          <p:nvPr/>
        </p:nvSpPr>
        <p:spPr>
          <a:xfrm>
            <a:off x="3767328" y="4069080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3" name="Text 130"/>
          <p:cNvSpPr/>
          <p:nvPr/>
        </p:nvSpPr>
        <p:spPr>
          <a:xfrm>
            <a:off x="3767328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  <p:sp>
        <p:nvSpPr>
          <p:cNvPr id="134" name="Shape 131"/>
          <p:cNvSpPr/>
          <p:nvPr/>
        </p:nvSpPr>
        <p:spPr>
          <a:xfrm>
            <a:off x="4187952" y="4069080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5" name="Text 132"/>
          <p:cNvSpPr/>
          <p:nvPr/>
        </p:nvSpPr>
        <p:spPr>
          <a:xfrm>
            <a:off x="4187952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  <p:sp>
        <p:nvSpPr>
          <p:cNvPr id="136" name="Shape 133"/>
          <p:cNvSpPr/>
          <p:nvPr/>
        </p:nvSpPr>
        <p:spPr>
          <a:xfrm>
            <a:off x="4608576" y="4069080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4608576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000" dirty="0"/>
          </a:p>
        </p:txBody>
      </p:sp>
      <p:sp>
        <p:nvSpPr>
          <p:cNvPr id="138" name="Shape 135"/>
          <p:cNvSpPr/>
          <p:nvPr/>
        </p:nvSpPr>
        <p:spPr>
          <a:xfrm>
            <a:off x="5029200" y="4069080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502920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000" dirty="0"/>
          </a:p>
        </p:txBody>
      </p:sp>
      <p:sp>
        <p:nvSpPr>
          <p:cNvPr id="140" name="Shape 137"/>
          <p:cNvSpPr/>
          <p:nvPr/>
        </p:nvSpPr>
        <p:spPr>
          <a:xfrm>
            <a:off x="822960" y="4489704"/>
            <a:ext cx="420624" cy="42062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41" name="Text 138"/>
          <p:cNvSpPr/>
          <p:nvPr/>
        </p:nvSpPr>
        <p:spPr>
          <a:xfrm>
            <a:off x="822960" y="4489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142" name="Shape 139"/>
          <p:cNvSpPr/>
          <p:nvPr/>
        </p:nvSpPr>
        <p:spPr>
          <a:xfrm>
            <a:off x="1243584" y="4489704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3" name="Text 140"/>
          <p:cNvSpPr/>
          <p:nvPr/>
        </p:nvSpPr>
        <p:spPr>
          <a:xfrm>
            <a:off x="1243584" y="4489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44" name="Shape 141"/>
          <p:cNvSpPr/>
          <p:nvPr/>
        </p:nvSpPr>
        <p:spPr>
          <a:xfrm>
            <a:off x="1664208" y="4489704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5" name="Text 142"/>
          <p:cNvSpPr/>
          <p:nvPr/>
        </p:nvSpPr>
        <p:spPr>
          <a:xfrm>
            <a:off x="1664208" y="4489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146" name="Shape 143"/>
          <p:cNvSpPr/>
          <p:nvPr/>
        </p:nvSpPr>
        <p:spPr>
          <a:xfrm>
            <a:off x="2084832" y="4489704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7" name="Text 144"/>
          <p:cNvSpPr/>
          <p:nvPr/>
        </p:nvSpPr>
        <p:spPr>
          <a:xfrm>
            <a:off x="2084832" y="4489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148" name="Shape 145"/>
          <p:cNvSpPr/>
          <p:nvPr/>
        </p:nvSpPr>
        <p:spPr>
          <a:xfrm>
            <a:off x="2505456" y="4489704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2505456" y="4489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150" name="Shape 147"/>
          <p:cNvSpPr/>
          <p:nvPr/>
        </p:nvSpPr>
        <p:spPr>
          <a:xfrm>
            <a:off x="2926080" y="4489704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1" name="Text 148"/>
          <p:cNvSpPr/>
          <p:nvPr/>
        </p:nvSpPr>
        <p:spPr>
          <a:xfrm>
            <a:off x="2926080" y="4489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152" name="Shape 149"/>
          <p:cNvSpPr/>
          <p:nvPr/>
        </p:nvSpPr>
        <p:spPr>
          <a:xfrm>
            <a:off x="3346704" y="4489704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3" name="Text 150"/>
          <p:cNvSpPr/>
          <p:nvPr/>
        </p:nvSpPr>
        <p:spPr>
          <a:xfrm>
            <a:off x="3346704" y="4489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  <p:sp>
        <p:nvSpPr>
          <p:cNvPr id="154" name="Shape 151"/>
          <p:cNvSpPr/>
          <p:nvPr/>
        </p:nvSpPr>
        <p:spPr>
          <a:xfrm>
            <a:off x="3767328" y="4489704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5" name="Text 152"/>
          <p:cNvSpPr/>
          <p:nvPr/>
        </p:nvSpPr>
        <p:spPr>
          <a:xfrm>
            <a:off x="3767328" y="4489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  <p:sp>
        <p:nvSpPr>
          <p:cNvPr id="156" name="Shape 153"/>
          <p:cNvSpPr/>
          <p:nvPr/>
        </p:nvSpPr>
        <p:spPr>
          <a:xfrm>
            <a:off x="4187952" y="4489704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7" name="Text 154"/>
          <p:cNvSpPr/>
          <p:nvPr/>
        </p:nvSpPr>
        <p:spPr>
          <a:xfrm>
            <a:off x="4187952" y="4489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000" dirty="0"/>
          </a:p>
        </p:txBody>
      </p:sp>
      <p:sp>
        <p:nvSpPr>
          <p:cNvPr id="158" name="Shape 155"/>
          <p:cNvSpPr/>
          <p:nvPr/>
        </p:nvSpPr>
        <p:spPr>
          <a:xfrm>
            <a:off x="4608576" y="4489704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9" name="Text 156"/>
          <p:cNvSpPr/>
          <p:nvPr/>
        </p:nvSpPr>
        <p:spPr>
          <a:xfrm>
            <a:off x="4608576" y="4489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000" dirty="0"/>
          </a:p>
        </p:txBody>
      </p:sp>
      <p:sp>
        <p:nvSpPr>
          <p:cNvPr id="160" name="Shape 157"/>
          <p:cNvSpPr/>
          <p:nvPr/>
        </p:nvSpPr>
        <p:spPr>
          <a:xfrm>
            <a:off x="5029200" y="4489704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1" name="Text 158"/>
          <p:cNvSpPr/>
          <p:nvPr/>
        </p:nvSpPr>
        <p:spPr>
          <a:xfrm>
            <a:off x="5029200" y="4489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000" dirty="0"/>
          </a:p>
        </p:txBody>
      </p:sp>
      <p:sp>
        <p:nvSpPr>
          <p:cNvPr id="162" name="Shape 159"/>
          <p:cNvSpPr/>
          <p:nvPr/>
        </p:nvSpPr>
        <p:spPr>
          <a:xfrm>
            <a:off x="822960" y="4910328"/>
            <a:ext cx="420624" cy="42062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63" name="Text 160"/>
          <p:cNvSpPr/>
          <p:nvPr/>
        </p:nvSpPr>
        <p:spPr>
          <a:xfrm>
            <a:off x="822960" y="4910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164" name="Shape 161"/>
          <p:cNvSpPr/>
          <p:nvPr/>
        </p:nvSpPr>
        <p:spPr>
          <a:xfrm>
            <a:off x="1243584" y="4910328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5" name="Text 162"/>
          <p:cNvSpPr/>
          <p:nvPr/>
        </p:nvSpPr>
        <p:spPr>
          <a:xfrm>
            <a:off x="1243584" y="4910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166" name="Shape 163"/>
          <p:cNvSpPr/>
          <p:nvPr/>
        </p:nvSpPr>
        <p:spPr>
          <a:xfrm>
            <a:off x="1664208" y="4910328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7" name="Text 164"/>
          <p:cNvSpPr/>
          <p:nvPr/>
        </p:nvSpPr>
        <p:spPr>
          <a:xfrm>
            <a:off x="1664208" y="4910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168" name="Shape 165"/>
          <p:cNvSpPr/>
          <p:nvPr/>
        </p:nvSpPr>
        <p:spPr>
          <a:xfrm>
            <a:off x="2084832" y="4910328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9" name="Text 166"/>
          <p:cNvSpPr/>
          <p:nvPr/>
        </p:nvSpPr>
        <p:spPr>
          <a:xfrm>
            <a:off x="2084832" y="4910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170" name="Shape 167"/>
          <p:cNvSpPr/>
          <p:nvPr/>
        </p:nvSpPr>
        <p:spPr>
          <a:xfrm>
            <a:off x="2505456" y="4910328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1" name="Text 168"/>
          <p:cNvSpPr/>
          <p:nvPr/>
        </p:nvSpPr>
        <p:spPr>
          <a:xfrm>
            <a:off x="2505456" y="4910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172" name="Shape 169"/>
          <p:cNvSpPr/>
          <p:nvPr/>
        </p:nvSpPr>
        <p:spPr>
          <a:xfrm>
            <a:off x="2926080" y="4910328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3" name="Text 170"/>
          <p:cNvSpPr/>
          <p:nvPr/>
        </p:nvSpPr>
        <p:spPr>
          <a:xfrm>
            <a:off x="2926080" y="4910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  <p:sp>
        <p:nvSpPr>
          <p:cNvPr id="174" name="Shape 171"/>
          <p:cNvSpPr/>
          <p:nvPr/>
        </p:nvSpPr>
        <p:spPr>
          <a:xfrm>
            <a:off x="3346704" y="4910328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5" name="Text 172"/>
          <p:cNvSpPr/>
          <p:nvPr/>
        </p:nvSpPr>
        <p:spPr>
          <a:xfrm>
            <a:off x="3346704" y="4910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  <p:sp>
        <p:nvSpPr>
          <p:cNvPr id="176" name="Shape 173"/>
          <p:cNvSpPr/>
          <p:nvPr/>
        </p:nvSpPr>
        <p:spPr>
          <a:xfrm>
            <a:off x="3767328" y="4910328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7" name="Text 174"/>
          <p:cNvSpPr/>
          <p:nvPr/>
        </p:nvSpPr>
        <p:spPr>
          <a:xfrm>
            <a:off x="3767328" y="4910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000" dirty="0"/>
          </a:p>
        </p:txBody>
      </p:sp>
      <p:sp>
        <p:nvSpPr>
          <p:cNvPr id="178" name="Shape 175"/>
          <p:cNvSpPr/>
          <p:nvPr/>
        </p:nvSpPr>
        <p:spPr>
          <a:xfrm>
            <a:off x="4187952" y="4910328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9" name="Text 176"/>
          <p:cNvSpPr/>
          <p:nvPr/>
        </p:nvSpPr>
        <p:spPr>
          <a:xfrm>
            <a:off x="4187952" y="4910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000" dirty="0"/>
          </a:p>
        </p:txBody>
      </p:sp>
      <p:sp>
        <p:nvSpPr>
          <p:cNvPr id="180" name="Shape 177"/>
          <p:cNvSpPr/>
          <p:nvPr/>
        </p:nvSpPr>
        <p:spPr>
          <a:xfrm>
            <a:off x="4608576" y="4910328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1" name="Text 178"/>
          <p:cNvSpPr/>
          <p:nvPr/>
        </p:nvSpPr>
        <p:spPr>
          <a:xfrm>
            <a:off x="4608576" y="4910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000" dirty="0"/>
          </a:p>
        </p:txBody>
      </p:sp>
      <p:sp>
        <p:nvSpPr>
          <p:cNvPr id="182" name="Shape 179"/>
          <p:cNvSpPr/>
          <p:nvPr/>
        </p:nvSpPr>
        <p:spPr>
          <a:xfrm>
            <a:off x="5029200" y="4910328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3" name="Text 180"/>
          <p:cNvSpPr/>
          <p:nvPr/>
        </p:nvSpPr>
        <p:spPr>
          <a:xfrm>
            <a:off x="5029200" y="4910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000" dirty="0"/>
          </a:p>
        </p:txBody>
      </p:sp>
      <p:sp>
        <p:nvSpPr>
          <p:cNvPr id="184" name="Shape 181"/>
          <p:cNvSpPr/>
          <p:nvPr/>
        </p:nvSpPr>
        <p:spPr>
          <a:xfrm>
            <a:off x="822960" y="5330952"/>
            <a:ext cx="420624" cy="42062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85" name="Text 182"/>
          <p:cNvSpPr/>
          <p:nvPr/>
        </p:nvSpPr>
        <p:spPr>
          <a:xfrm>
            <a:off x="822960" y="5330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186" name="Shape 183"/>
          <p:cNvSpPr/>
          <p:nvPr/>
        </p:nvSpPr>
        <p:spPr>
          <a:xfrm>
            <a:off x="1243584" y="5330952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7" name="Text 184"/>
          <p:cNvSpPr/>
          <p:nvPr/>
        </p:nvSpPr>
        <p:spPr>
          <a:xfrm>
            <a:off x="1243584" y="5330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188" name="Shape 185"/>
          <p:cNvSpPr/>
          <p:nvPr/>
        </p:nvSpPr>
        <p:spPr>
          <a:xfrm>
            <a:off x="1664208" y="5330952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9" name="Text 186"/>
          <p:cNvSpPr/>
          <p:nvPr/>
        </p:nvSpPr>
        <p:spPr>
          <a:xfrm>
            <a:off x="1664208" y="5330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190" name="Shape 187"/>
          <p:cNvSpPr/>
          <p:nvPr/>
        </p:nvSpPr>
        <p:spPr>
          <a:xfrm>
            <a:off x="2084832" y="5330952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1" name="Text 188"/>
          <p:cNvSpPr/>
          <p:nvPr/>
        </p:nvSpPr>
        <p:spPr>
          <a:xfrm>
            <a:off x="2084832" y="5330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192" name="Shape 189"/>
          <p:cNvSpPr/>
          <p:nvPr/>
        </p:nvSpPr>
        <p:spPr>
          <a:xfrm>
            <a:off x="2505456" y="5330952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3" name="Text 190"/>
          <p:cNvSpPr/>
          <p:nvPr/>
        </p:nvSpPr>
        <p:spPr>
          <a:xfrm>
            <a:off x="2505456" y="5330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sp>
        <p:nvSpPr>
          <p:cNvPr id="194" name="Shape 191"/>
          <p:cNvSpPr/>
          <p:nvPr/>
        </p:nvSpPr>
        <p:spPr>
          <a:xfrm>
            <a:off x="2926080" y="5330952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5" name="Text 192"/>
          <p:cNvSpPr/>
          <p:nvPr/>
        </p:nvSpPr>
        <p:spPr>
          <a:xfrm>
            <a:off x="2926080" y="5330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  <p:sp>
        <p:nvSpPr>
          <p:cNvPr id="196" name="Shape 193"/>
          <p:cNvSpPr/>
          <p:nvPr/>
        </p:nvSpPr>
        <p:spPr>
          <a:xfrm>
            <a:off x="3346704" y="5330952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7" name="Text 194"/>
          <p:cNvSpPr/>
          <p:nvPr/>
        </p:nvSpPr>
        <p:spPr>
          <a:xfrm>
            <a:off x="3346704" y="5330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000" dirty="0"/>
          </a:p>
        </p:txBody>
      </p:sp>
      <p:sp>
        <p:nvSpPr>
          <p:cNvPr id="198" name="Shape 195"/>
          <p:cNvSpPr/>
          <p:nvPr/>
        </p:nvSpPr>
        <p:spPr>
          <a:xfrm>
            <a:off x="3767328" y="5330952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9" name="Text 196"/>
          <p:cNvSpPr/>
          <p:nvPr/>
        </p:nvSpPr>
        <p:spPr>
          <a:xfrm>
            <a:off x="3767328" y="5330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000" dirty="0"/>
          </a:p>
        </p:txBody>
      </p:sp>
      <p:sp>
        <p:nvSpPr>
          <p:cNvPr id="200" name="Shape 197"/>
          <p:cNvSpPr/>
          <p:nvPr/>
        </p:nvSpPr>
        <p:spPr>
          <a:xfrm>
            <a:off x="4187952" y="5330952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1" name="Text 198"/>
          <p:cNvSpPr/>
          <p:nvPr/>
        </p:nvSpPr>
        <p:spPr>
          <a:xfrm>
            <a:off x="4187952" y="5330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000" dirty="0"/>
          </a:p>
        </p:txBody>
      </p:sp>
      <p:sp>
        <p:nvSpPr>
          <p:cNvPr id="202" name="Shape 199"/>
          <p:cNvSpPr/>
          <p:nvPr/>
        </p:nvSpPr>
        <p:spPr>
          <a:xfrm>
            <a:off x="4608576" y="5330952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3" name="Text 200"/>
          <p:cNvSpPr/>
          <p:nvPr/>
        </p:nvSpPr>
        <p:spPr>
          <a:xfrm>
            <a:off x="4608576" y="5330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000" dirty="0"/>
          </a:p>
        </p:txBody>
      </p:sp>
      <p:sp>
        <p:nvSpPr>
          <p:cNvPr id="204" name="Shape 201"/>
          <p:cNvSpPr/>
          <p:nvPr/>
        </p:nvSpPr>
        <p:spPr>
          <a:xfrm>
            <a:off x="5029200" y="5330952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5" name="Text 202"/>
          <p:cNvSpPr/>
          <p:nvPr/>
        </p:nvSpPr>
        <p:spPr>
          <a:xfrm>
            <a:off x="5029200" y="5330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000" dirty="0"/>
          </a:p>
        </p:txBody>
      </p:sp>
      <p:sp>
        <p:nvSpPr>
          <p:cNvPr id="206" name="Shape 203"/>
          <p:cNvSpPr/>
          <p:nvPr/>
        </p:nvSpPr>
        <p:spPr>
          <a:xfrm>
            <a:off x="822960" y="5751576"/>
            <a:ext cx="420624" cy="42062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07" name="Text 204"/>
          <p:cNvSpPr/>
          <p:nvPr/>
        </p:nvSpPr>
        <p:spPr>
          <a:xfrm>
            <a:off x="822960" y="5751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208" name="Shape 205"/>
          <p:cNvSpPr/>
          <p:nvPr/>
        </p:nvSpPr>
        <p:spPr>
          <a:xfrm>
            <a:off x="1243584" y="5751576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9" name="Text 206"/>
          <p:cNvSpPr/>
          <p:nvPr/>
        </p:nvSpPr>
        <p:spPr>
          <a:xfrm>
            <a:off x="1243584" y="5751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210" name="Shape 207"/>
          <p:cNvSpPr/>
          <p:nvPr/>
        </p:nvSpPr>
        <p:spPr>
          <a:xfrm>
            <a:off x="1664208" y="5751576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1" name="Text 208"/>
          <p:cNvSpPr/>
          <p:nvPr/>
        </p:nvSpPr>
        <p:spPr>
          <a:xfrm>
            <a:off x="1664208" y="5751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212" name="Shape 209"/>
          <p:cNvSpPr/>
          <p:nvPr/>
        </p:nvSpPr>
        <p:spPr>
          <a:xfrm>
            <a:off x="2084832" y="5751576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3" name="Text 210"/>
          <p:cNvSpPr/>
          <p:nvPr/>
        </p:nvSpPr>
        <p:spPr>
          <a:xfrm>
            <a:off x="2084832" y="5751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214" name="Shape 211"/>
          <p:cNvSpPr/>
          <p:nvPr/>
        </p:nvSpPr>
        <p:spPr>
          <a:xfrm>
            <a:off x="2505456" y="5751576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5" name="Text 212"/>
          <p:cNvSpPr/>
          <p:nvPr/>
        </p:nvSpPr>
        <p:spPr>
          <a:xfrm>
            <a:off x="2505456" y="5751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  <p:sp>
        <p:nvSpPr>
          <p:cNvPr id="216" name="Shape 213"/>
          <p:cNvSpPr/>
          <p:nvPr/>
        </p:nvSpPr>
        <p:spPr>
          <a:xfrm>
            <a:off x="2926080" y="5751576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7" name="Text 214"/>
          <p:cNvSpPr/>
          <p:nvPr/>
        </p:nvSpPr>
        <p:spPr>
          <a:xfrm>
            <a:off x="2926080" y="5751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000" dirty="0"/>
          </a:p>
        </p:txBody>
      </p:sp>
      <p:sp>
        <p:nvSpPr>
          <p:cNvPr id="218" name="Shape 215"/>
          <p:cNvSpPr/>
          <p:nvPr/>
        </p:nvSpPr>
        <p:spPr>
          <a:xfrm>
            <a:off x="3346704" y="5751576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9" name="Text 216"/>
          <p:cNvSpPr/>
          <p:nvPr/>
        </p:nvSpPr>
        <p:spPr>
          <a:xfrm>
            <a:off x="3346704" y="5751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000" dirty="0"/>
          </a:p>
        </p:txBody>
      </p:sp>
      <p:sp>
        <p:nvSpPr>
          <p:cNvPr id="220" name="Shape 217"/>
          <p:cNvSpPr/>
          <p:nvPr/>
        </p:nvSpPr>
        <p:spPr>
          <a:xfrm>
            <a:off x="3767328" y="5751576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1" name="Text 218"/>
          <p:cNvSpPr/>
          <p:nvPr/>
        </p:nvSpPr>
        <p:spPr>
          <a:xfrm>
            <a:off x="3767328" y="5751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000" dirty="0"/>
          </a:p>
        </p:txBody>
      </p:sp>
      <p:sp>
        <p:nvSpPr>
          <p:cNvPr id="222" name="Shape 219"/>
          <p:cNvSpPr/>
          <p:nvPr/>
        </p:nvSpPr>
        <p:spPr>
          <a:xfrm>
            <a:off x="4187952" y="5751576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3" name="Text 220"/>
          <p:cNvSpPr/>
          <p:nvPr/>
        </p:nvSpPr>
        <p:spPr>
          <a:xfrm>
            <a:off x="4187952" y="5751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000" dirty="0"/>
          </a:p>
        </p:txBody>
      </p:sp>
      <p:sp>
        <p:nvSpPr>
          <p:cNvPr id="224" name="Shape 221"/>
          <p:cNvSpPr/>
          <p:nvPr/>
        </p:nvSpPr>
        <p:spPr>
          <a:xfrm>
            <a:off x="4608576" y="5751576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5" name="Text 222"/>
          <p:cNvSpPr/>
          <p:nvPr/>
        </p:nvSpPr>
        <p:spPr>
          <a:xfrm>
            <a:off x="4608576" y="5751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1000" dirty="0"/>
          </a:p>
        </p:txBody>
      </p:sp>
      <p:sp>
        <p:nvSpPr>
          <p:cNvPr id="226" name="Shape 223"/>
          <p:cNvSpPr/>
          <p:nvPr/>
        </p:nvSpPr>
        <p:spPr>
          <a:xfrm>
            <a:off x="5029200" y="5751576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7" name="Text 224"/>
          <p:cNvSpPr/>
          <p:nvPr/>
        </p:nvSpPr>
        <p:spPr>
          <a:xfrm>
            <a:off x="5029200" y="5751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000" dirty="0"/>
          </a:p>
        </p:txBody>
      </p:sp>
      <p:sp>
        <p:nvSpPr>
          <p:cNvPr id="228" name="Shape 225"/>
          <p:cNvSpPr/>
          <p:nvPr/>
        </p:nvSpPr>
        <p:spPr>
          <a:xfrm>
            <a:off x="822960" y="6172200"/>
            <a:ext cx="420624" cy="42062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29" name="Text 226"/>
          <p:cNvSpPr/>
          <p:nvPr/>
        </p:nvSpPr>
        <p:spPr>
          <a:xfrm>
            <a:off x="822960" y="6172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230" name="Shape 227"/>
          <p:cNvSpPr/>
          <p:nvPr/>
        </p:nvSpPr>
        <p:spPr>
          <a:xfrm>
            <a:off x="1243584" y="6172200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1" name="Text 228"/>
          <p:cNvSpPr/>
          <p:nvPr/>
        </p:nvSpPr>
        <p:spPr>
          <a:xfrm>
            <a:off x="1243584" y="6172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2" name="Shape 229"/>
          <p:cNvSpPr/>
          <p:nvPr/>
        </p:nvSpPr>
        <p:spPr>
          <a:xfrm>
            <a:off x="1664208" y="6172200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3" name="Text 230"/>
          <p:cNvSpPr/>
          <p:nvPr/>
        </p:nvSpPr>
        <p:spPr>
          <a:xfrm>
            <a:off x="1664208" y="6172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234" name="Shape 231"/>
          <p:cNvSpPr/>
          <p:nvPr/>
        </p:nvSpPr>
        <p:spPr>
          <a:xfrm>
            <a:off x="2084832" y="6172200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5" name="Text 232"/>
          <p:cNvSpPr/>
          <p:nvPr/>
        </p:nvSpPr>
        <p:spPr>
          <a:xfrm>
            <a:off x="2084832" y="6172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236" name="Shape 233"/>
          <p:cNvSpPr/>
          <p:nvPr/>
        </p:nvSpPr>
        <p:spPr>
          <a:xfrm>
            <a:off x="2505456" y="6172200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7" name="Text 234"/>
          <p:cNvSpPr/>
          <p:nvPr/>
        </p:nvSpPr>
        <p:spPr>
          <a:xfrm>
            <a:off x="2505456" y="6172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  <p:sp>
        <p:nvSpPr>
          <p:cNvPr id="238" name="Shape 235"/>
          <p:cNvSpPr/>
          <p:nvPr/>
        </p:nvSpPr>
        <p:spPr>
          <a:xfrm>
            <a:off x="2926080" y="6172200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9" name="Text 236"/>
          <p:cNvSpPr/>
          <p:nvPr/>
        </p:nvSpPr>
        <p:spPr>
          <a:xfrm>
            <a:off x="2926080" y="6172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000" dirty="0"/>
          </a:p>
        </p:txBody>
      </p:sp>
      <p:sp>
        <p:nvSpPr>
          <p:cNvPr id="240" name="Shape 237"/>
          <p:cNvSpPr/>
          <p:nvPr/>
        </p:nvSpPr>
        <p:spPr>
          <a:xfrm>
            <a:off x="3346704" y="6172200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1" name="Text 238"/>
          <p:cNvSpPr/>
          <p:nvPr/>
        </p:nvSpPr>
        <p:spPr>
          <a:xfrm>
            <a:off x="3346704" y="6172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000" dirty="0"/>
          </a:p>
        </p:txBody>
      </p:sp>
      <p:sp>
        <p:nvSpPr>
          <p:cNvPr id="242" name="Shape 239"/>
          <p:cNvSpPr/>
          <p:nvPr/>
        </p:nvSpPr>
        <p:spPr>
          <a:xfrm>
            <a:off x="3767328" y="6172200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3" name="Text 240"/>
          <p:cNvSpPr/>
          <p:nvPr/>
        </p:nvSpPr>
        <p:spPr>
          <a:xfrm>
            <a:off x="3767328" y="6172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000" dirty="0"/>
          </a:p>
        </p:txBody>
      </p:sp>
      <p:sp>
        <p:nvSpPr>
          <p:cNvPr id="244" name="Shape 241"/>
          <p:cNvSpPr/>
          <p:nvPr/>
        </p:nvSpPr>
        <p:spPr>
          <a:xfrm>
            <a:off x="4187952" y="6172200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5" name="Text 242"/>
          <p:cNvSpPr/>
          <p:nvPr/>
        </p:nvSpPr>
        <p:spPr>
          <a:xfrm>
            <a:off x="4187952" y="6172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000" dirty="0"/>
          </a:p>
        </p:txBody>
      </p:sp>
      <p:sp>
        <p:nvSpPr>
          <p:cNvPr id="246" name="Shape 243"/>
          <p:cNvSpPr/>
          <p:nvPr/>
        </p:nvSpPr>
        <p:spPr>
          <a:xfrm>
            <a:off x="4608576" y="6172200"/>
            <a:ext cx="420624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7" name="Text 244"/>
          <p:cNvSpPr/>
          <p:nvPr/>
        </p:nvSpPr>
        <p:spPr>
          <a:xfrm>
            <a:off x="4608576" y="6172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000" dirty="0"/>
          </a:p>
        </p:txBody>
      </p:sp>
      <p:sp>
        <p:nvSpPr>
          <p:cNvPr id="248" name="Shape 245"/>
          <p:cNvSpPr/>
          <p:nvPr/>
        </p:nvSpPr>
        <p:spPr>
          <a:xfrm>
            <a:off x="5029200" y="6172200"/>
            <a:ext cx="420624" cy="420624"/>
          </a:xfrm>
          <a:prstGeom prst="rect">
            <a:avLst/>
          </a:prstGeom>
          <a:solidFill>
            <a:srgbClr val="E7F5E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9" name="Text 246"/>
          <p:cNvSpPr/>
          <p:nvPr/>
        </p:nvSpPr>
        <p:spPr>
          <a:xfrm>
            <a:off x="5029200" y="6172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000" dirty="0"/>
          </a:p>
        </p:txBody>
      </p:sp>
      <p:sp>
        <p:nvSpPr>
          <p:cNvPr id="250" name="Shape 247"/>
          <p:cNvSpPr/>
          <p:nvPr/>
        </p:nvSpPr>
        <p:spPr>
          <a:xfrm>
            <a:off x="5943600" y="2148840"/>
            <a:ext cx="5623560" cy="4206240"/>
          </a:xfrm>
          <a:prstGeom prst="roundRect">
            <a:avLst>
              <a:gd name="adj" fmla="val 1739"/>
            </a:avLst>
          </a:prstGeom>
          <a:solidFill>
            <a:srgbClr val="EAF1FB"/>
          </a:solidFill>
          <a:ln w="12700">
            <a:solidFill>
              <a:srgbClr val="D7E3F5"/>
            </a:solidFill>
            <a:prstDash val="solid"/>
          </a:ln>
        </p:spPr>
      </p:sp>
      <p:pic>
        <p:nvPicPr>
          <p:cNvPr id="25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377440"/>
            <a:ext cx="457200" cy="457200"/>
          </a:xfrm>
          <a:prstGeom prst="rect">
            <a:avLst/>
          </a:prstGeom>
        </p:spPr>
      </p:pic>
      <p:sp>
        <p:nvSpPr>
          <p:cNvPr id="252" name="Text 248"/>
          <p:cNvSpPr/>
          <p:nvPr/>
        </p:nvSpPr>
        <p:spPr>
          <a:xfrm>
            <a:off x="6766560" y="23957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$A5*B$4 works in both directions</a:t>
            </a:r>
            <a:endParaRPr lang="en-US" sz="1400" dirty="0"/>
          </a:p>
        </p:txBody>
      </p:sp>
      <p:sp>
        <p:nvSpPr>
          <p:cNvPr id="253" name="Text 249"/>
          <p:cNvSpPr/>
          <p:nvPr/>
        </p:nvSpPr>
        <p:spPr>
          <a:xfrm>
            <a:off x="6263640" y="297180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4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$A5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locks column A so that copying the formula ACROSS from B to K keeps reading the multiplier from column A, never sliding into column B, C, D.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4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B$4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locks row 4 so that copying the formula DOWN from row 5 to row 14 keeps reading the multiplicand from row 4, never sliding into row 5, 6, 7.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lock alone survives a two-directional copy – only the combination keeps all 100 cells correct.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F4E7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46634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SHEET 6 – PRACTICE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0350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Prodigy Training Hub VAT Invoice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58368" y="1170432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3258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D7 = =B7*C7 (relative). E7 = =D7*$G$4 (absolute – G4 holds one fixed 7.5% VAT rate). F7 = =D7+E7 (relative). Copy D7:F7 down to row 10.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057400"/>
            <a:ext cx="3291840" cy="457200"/>
          </a:xfrm>
          <a:prstGeom prst="rect">
            <a:avLst/>
          </a:prstGeom>
          <a:solidFill>
            <a:srgbClr val="1F4E7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4944" y="2057400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931920" y="2057400"/>
            <a:ext cx="822960" cy="457200"/>
          </a:xfrm>
          <a:prstGeom prst="rect">
            <a:avLst/>
          </a:prstGeom>
          <a:solidFill>
            <a:srgbClr val="1F4E7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86784" y="205740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2057400"/>
            <a:ext cx="1737360" cy="457200"/>
          </a:xfrm>
          <a:prstGeom prst="rect">
            <a:avLst/>
          </a:prstGeom>
          <a:solidFill>
            <a:srgbClr val="1F4E7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09744" y="20574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Price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92240" y="2057400"/>
            <a:ext cx="1691640" cy="457200"/>
          </a:xfrm>
          <a:prstGeom prst="rect">
            <a:avLst/>
          </a:prstGeom>
          <a:solidFill>
            <a:srgbClr val="1F4E7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47104" y="20574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 (N)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83880" y="2057400"/>
            <a:ext cx="1691640" cy="457200"/>
          </a:xfrm>
          <a:prstGeom prst="rect">
            <a:avLst/>
          </a:prstGeom>
          <a:solidFill>
            <a:srgbClr val="1F4E7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38744" y="20574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VAT (N)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875520" y="2057400"/>
            <a:ext cx="1691640" cy="457200"/>
          </a:xfrm>
          <a:prstGeom prst="rect">
            <a:avLst/>
          </a:prstGeom>
          <a:solidFill>
            <a:srgbClr val="1F4E7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930384" y="20574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(N)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0080" y="2514600"/>
            <a:ext cx="32918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4944" y="2514600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Fundamentals Training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931920" y="251460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986784" y="251460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754880" y="2514600"/>
            <a:ext cx="1737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09744" y="25146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45,000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92240" y="2514600"/>
            <a:ext cx="1691640" cy="457200"/>
          </a:xfrm>
          <a:prstGeom prst="rect">
            <a:avLst/>
          </a:prstGeom>
          <a:solidFill>
            <a:srgbClr val="E7F5E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47104" y="25146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135,000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183880" y="2514600"/>
            <a:ext cx="1691640" cy="457200"/>
          </a:xfrm>
          <a:prstGeom prst="rect">
            <a:avLst/>
          </a:prstGeom>
          <a:solidFill>
            <a:srgbClr val="E7F5E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38744" y="25146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10,125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9875520" y="2514600"/>
            <a:ext cx="1691640" cy="457200"/>
          </a:xfrm>
          <a:prstGeom prst="rect">
            <a:avLst/>
          </a:prstGeom>
          <a:solidFill>
            <a:srgbClr val="E7F5E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930384" y="25146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145,125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40080" y="2971800"/>
            <a:ext cx="3291840" cy="457200"/>
          </a:xfrm>
          <a:prstGeom prst="rect">
            <a:avLst/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94944" y="2971800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 Workshop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3931920" y="2971800"/>
            <a:ext cx="822960" cy="457200"/>
          </a:xfrm>
          <a:prstGeom prst="rect">
            <a:avLst/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986784" y="297180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754880" y="2971800"/>
            <a:ext cx="1737360" cy="457200"/>
          </a:xfrm>
          <a:prstGeom prst="rect">
            <a:avLst/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09744" y="29718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60,000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492240" y="2971800"/>
            <a:ext cx="1691640" cy="457200"/>
          </a:xfrm>
          <a:prstGeom prst="rect">
            <a:avLst/>
          </a:prstGeom>
          <a:solidFill>
            <a:srgbClr val="E7F5E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547104" y="29718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120,000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8183880" y="2971800"/>
            <a:ext cx="1691640" cy="457200"/>
          </a:xfrm>
          <a:prstGeom prst="rect">
            <a:avLst/>
          </a:prstGeom>
          <a:solidFill>
            <a:srgbClr val="E7F5E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238744" y="29718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9,000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9875520" y="2971800"/>
            <a:ext cx="1691640" cy="457200"/>
          </a:xfrm>
          <a:prstGeom prst="rect">
            <a:avLst/>
          </a:prstGeom>
          <a:solidFill>
            <a:srgbClr val="E7F5E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930384" y="29718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129,000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40080" y="3429000"/>
            <a:ext cx="32918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94944" y="3429000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Programming Bootcamp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3931920" y="342900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986784" y="342900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4754880" y="3429000"/>
            <a:ext cx="1737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809744" y="34290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85,000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6492240" y="3429000"/>
            <a:ext cx="1691640" cy="457200"/>
          </a:xfrm>
          <a:prstGeom prst="rect">
            <a:avLst/>
          </a:prstGeom>
          <a:solidFill>
            <a:srgbClr val="E7F5E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547104" y="34290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85,000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8183880" y="3429000"/>
            <a:ext cx="1691640" cy="457200"/>
          </a:xfrm>
          <a:prstGeom prst="rect">
            <a:avLst/>
          </a:prstGeom>
          <a:solidFill>
            <a:srgbClr val="E7F5E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238744" y="34290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6,375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9875520" y="3429000"/>
            <a:ext cx="1691640" cy="457200"/>
          </a:xfrm>
          <a:prstGeom prst="rect">
            <a:avLst/>
          </a:prstGeom>
          <a:solidFill>
            <a:srgbClr val="E7F5E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9930384" y="34290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91,375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640080" y="3886200"/>
            <a:ext cx="3291840" cy="457200"/>
          </a:xfrm>
          <a:prstGeom prst="rect">
            <a:avLst/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94944" y="3886200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Printing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3931920" y="3886200"/>
            <a:ext cx="822960" cy="457200"/>
          </a:xfrm>
          <a:prstGeom prst="rect">
            <a:avLst/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986784" y="388620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4754880" y="3886200"/>
            <a:ext cx="1737360" cy="457200"/>
          </a:xfrm>
          <a:prstGeom prst="rect">
            <a:avLst/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809744" y="3886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6492240" y="3886200"/>
            <a:ext cx="1691640" cy="457200"/>
          </a:xfrm>
          <a:prstGeom prst="rect">
            <a:avLst/>
          </a:prstGeom>
          <a:solidFill>
            <a:srgbClr val="E7F5E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547104" y="38862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12,000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8183880" y="3886200"/>
            <a:ext cx="1691640" cy="457200"/>
          </a:xfrm>
          <a:prstGeom prst="rect">
            <a:avLst/>
          </a:prstGeom>
          <a:solidFill>
            <a:srgbClr val="E7F5E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8238744" y="38862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9875520" y="3886200"/>
            <a:ext cx="1691640" cy="457200"/>
          </a:xfrm>
          <a:prstGeom prst="rect">
            <a:avLst/>
          </a:prstGeom>
          <a:solidFill>
            <a:srgbClr val="E7F5E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9930384" y="38862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12,900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640080" y="4343400"/>
            <a:ext cx="3291840" cy="457200"/>
          </a:xfrm>
          <a:prstGeom prst="rect">
            <a:avLst/>
          </a:prstGeom>
          <a:solidFill>
            <a:srgbClr val="CADC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94944" y="4343400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TOTAL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3931920" y="4343400"/>
            <a:ext cx="822960" cy="457200"/>
          </a:xfrm>
          <a:prstGeom prst="rect">
            <a:avLst/>
          </a:prstGeom>
          <a:solidFill>
            <a:srgbClr val="CADC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986784" y="434340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72" name="Shape 69"/>
          <p:cNvSpPr/>
          <p:nvPr/>
        </p:nvSpPr>
        <p:spPr>
          <a:xfrm>
            <a:off x="4754880" y="4343400"/>
            <a:ext cx="1737360" cy="457200"/>
          </a:xfrm>
          <a:prstGeom prst="rect">
            <a:avLst/>
          </a:prstGeom>
          <a:solidFill>
            <a:srgbClr val="CADC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4809744" y="43434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74" name="Shape 71"/>
          <p:cNvSpPr/>
          <p:nvPr/>
        </p:nvSpPr>
        <p:spPr>
          <a:xfrm>
            <a:off x="6492240" y="4343400"/>
            <a:ext cx="1691640" cy="457200"/>
          </a:xfrm>
          <a:prstGeom prst="rect">
            <a:avLst/>
          </a:prstGeom>
          <a:solidFill>
            <a:srgbClr val="CADC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6547104" y="43434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352,000</a:t>
            </a:r>
            <a:endParaRPr lang="en-US" sz="1100" dirty="0"/>
          </a:p>
        </p:txBody>
      </p:sp>
      <p:sp>
        <p:nvSpPr>
          <p:cNvPr id="76" name="Shape 73"/>
          <p:cNvSpPr/>
          <p:nvPr/>
        </p:nvSpPr>
        <p:spPr>
          <a:xfrm>
            <a:off x="8183880" y="4343400"/>
            <a:ext cx="1691640" cy="457200"/>
          </a:xfrm>
          <a:prstGeom prst="rect">
            <a:avLst/>
          </a:prstGeom>
          <a:solidFill>
            <a:srgbClr val="CADC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8238744" y="43434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26,400</a:t>
            </a:r>
            <a:endParaRPr lang="en-US" sz="1100" dirty="0"/>
          </a:p>
        </p:txBody>
      </p:sp>
      <p:sp>
        <p:nvSpPr>
          <p:cNvPr id="78" name="Shape 75"/>
          <p:cNvSpPr/>
          <p:nvPr/>
        </p:nvSpPr>
        <p:spPr>
          <a:xfrm>
            <a:off x="9875520" y="4343400"/>
            <a:ext cx="1691640" cy="457200"/>
          </a:xfrm>
          <a:prstGeom prst="rect">
            <a:avLst/>
          </a:prstGeom>
          <a:solidFill>
            <a:srgbClr val="CADC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9930384" y="434340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378,400</a:t>
            </a:r>
            <a:endParaRPr lang="en-US" sz="1100" dirty="0"/>
          </a:p>
        </p:txBody>
      </p:sp>
      <p:sp>
        <p:nvSpPr>
          <p:cNvPr id="80" name="Shape 77"/>
          <p:cNvSpPr/>
          <p:nvPr/>
        </p:nvSpPr>
        <p:spPr>
          <a:xfrm>
            <a:off x="640080" y="507492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CEFD6"/>
          </a:solidFill>
          <a:ln w="12700">
            <a:solidFill>
              <a:srgbClr val="F0DBB2"/>
            </a:solidFill>
            <a:prstDash val="solid"/>
          </a:ln>
        </p:spPr>
      </p:sp>
      <p:pic>
        <p:nvPicPr>
          <p:cNvPr id="8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303520"/>
            <a:ext cx="502920" cy="502920"/>
          </a:xfrm>
          <a:prstGeom prst="rect">
            <a:avLst/>
          </a:prstGeom>
        </p:spPr>
      </p:pic>
      <p:sp>
        <p:nvSpPr>
          <p:cNvPr id="82" name="Text 78"/>
          <p:cNvSpPr/>
          <p:nvPr/>
        </p:nvSpPr>
        <p:spPr>
          <a:xfrm>
            <a:off x="1508760" y="5166360"/>
            <a:ext cx="9829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$G$4, both locked: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for a straight vertical copy, a fully absolute reference is the safest habit for any real invoice template, because extra columns are often inserted later, and $G$4 is guaranteed to keep pointing at the VAT rate no matter what shifts around it.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Reference Cheat Sheet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097280"/>
            <a:ext cx="1828800" cy="0"/>
          </a:xfrm>
          <a:prstGeom prst="line">
            <a:avLst/>
          </a:prstGeom>
          <a:noFill/>
          <a:ln w="38100">
            <a:solidFill>
              <a:srgbClr val="F2B1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10881360" cy="1170432"/>
          </a:xfrm>
          <a:prstGeom prst="roundRect">
            <a:avLst>
              <a:gd name="adj" fmla="val 6250"/>
            </a:avLst>
          </a:prstGeom>
          <a:solidFill>
            <a:srgbClr val="EAF1FB"/>
          </a:solidFill>
          <a:ln w="12700">
            <a:solidFill>
              <a:srgbClr val="D7E3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36776"/>
            <a:ext cx="731520" cy="731520"/>
          </a:xfrm>
          <a:prstGeom prst="ellipse">
            <a:avLst/>
          </a:prstGeom>
          <a:solidFill>
            <a:srgbClr val="1F4E7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801368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58191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429000" y="1563624"/>
            <a:ext cx="7863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Copying ACROSS columns and need a cell fixed? 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the column.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743200"/>
            <a:ext cx="10881360" cy="1170432"/>
          </a:xfrm>
          <a:prstGeom prst="roundRect">
            <a:avLst>
              <a:gd name="adj" fmla="val 6250"/>
            </a:avLst>
          </a:prstGeom>
          <a:solidFill>
            <a:srgbClr val="EAF1FB"/>
          </a:solidFill>
          <a:ln w="12700">
            <a:solidFill>
              <a:srgbClr val="D7E3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2962656"/>
            <a:ext cx="731520" cy="731520"/>
          </a:xfrm>
          <a:prstGeom prst="ellipse">
            <a:avLst/>
          </a:prstGeom>
          <a:solidFill>
            <a:srgbClr val="1F4E7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3127248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290779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A$1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3429000" y="2889504"/>
            <a:ext cx="7863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Copying DOWN rows and need a cell fixed? 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the row.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069080"/>
            <a:ext cx="10881360" cy="1170432"/>
          </a:xfrm>
          <a:prstGeom prst="roundRect">
            <a:avLst>
              <a:gd name="adj" fmla="val 6250"/>
            </a:avLst>
          </a:prstGeom>
          <a:solidFill>
            <a:srgbClr val="EAF1FB"/>
          </a:solidFill>
          <a:ln w="12700">
            <a:solidFill>
              <a:srgbClr val="D7E3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" y="4288536"/>
            <a:ext cx="731520" cy="731520"/>
          </a:xfrm>
          <a:prstGeom prst="ellipse">
            <a:avLst/>
          </a:prstGeom>
          <a:solidFill>
            <a:srgbClr val="1F4E7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4453128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23367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$A$1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3429000" y="4215384"/>
            <a:ext cx="7863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Copying in BOTH directions, or referencing one fixed constant (VAT rate, target, bonus %)? 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both.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5394960"/>
            <a:ext cx="10881360" cy="1170432"/>
          </a:xfrm>
          <a:prstGeom prst="roundRect">
            <a:avLst>
              <a:gd name="adj" fmla="val 6250"/>
            </a:avLst>
          </a:prstGeom>
          <a:solidFill>
            <a:srgbClr val="EAF1FB"/>
          </a:solidFill>
          <a:ln w="12700">
            <a:solidFill>
              <a:srgbClr val="D7E3F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68680" y="5614416"/>
            <a:ext cx="731520" cy="731520"/>
          </a:xfrm>
          <a:prstGeom prst="ellipse">
            <a:avLst/>
          </a:prstGeom>
          <a:solidFill>
            <a:srgbClr val="1F4E7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5779008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28800" y="555955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3429000" y="5541264"/>
            <a:ext cx="7863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copying at all, or want the reference to shift naturally? 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it relative.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3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1F4E7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480560"/>
            <a:ext cx="3291840" cy="3291840"/>
          </a:xfrm>
          <a:prstGeom prst="ellipse">
            <a:avLst/>
          </a:prstGeom>
          <a:solidFill>
            <a:srgbClr val="F2B134">
              <a:alpha val="18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8384" y="137160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063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formula. Any direction. Always correct.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737360" y="3794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 four reference types and every formula you build will survive being copied anywhere.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18304" y="4892040"/>
            <a:ext cx="2743200" cy="0"/>
          </a:xfrm>
          <a:prstGeom prst="line">
            <a:avLst/>
          </a:prstGeom>
          <a:noFill/>
          <a:ln w="12700">
            <a:solidFill>
              <a:srgbClr val="3D5A7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074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Prodigy Training Hub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5440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Kajola Gbenga Adewale | Data Expert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Absolute vs Relative Cell Referencing in Excel</dc:title>
  <dc:subject>PptxGenJS Presentation</dc:subject>
  <dc:creator>Kajola Gbenga Adewale</dc:creator>
  <cp:lastModifiedBy>Kajola Gbenga Adewale</cp:lastModifiedBy>
  <cp:revision>1</cp:revision>
  <dcterms:created xsi:type="dcterms:W3CDTF">2026-07-03T07:53:58Z</dcterms:created>
  <dcterms:modified xsi:type="dcterms:W3CDTF">2026-07-03T07:53:58Z</dcterms:modified>
</cp:coreProperties>
</file>
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Chi-square tests work with COUNTS - not means. This is a fundamentally different kind of statistical question from t-tests and ANOVA.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(O-E)^2/E is squaring the gap so it is always positive, then dividing by E to standardise (a difference of 30 means more when E=50 than when E=500). The SUM across all cells gives the overall test statistic.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Adjusted standardised residuals are the most underused tool in chi-square analysis. Without them, students can only say 'there is a significant association' - with them, they can say exactly which specific category combinations drive the association.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as a checklist for participants. Every chi-square result should be checked against all 7 components. Skipping any one of them produces an incomplete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write-up sentence by sentence. Show participants exactly where each number came from in the SPSS output. This is the template they will use in every future chi-square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Chi-Square Test deck. The Deming quote reminds us that chi-square is how we let categorical data speak statistically rather than impressionistically.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486400" cy="5486400"/>
          </a:xfrm>
          <a:prstGeom prst="ellipse">
            <a:avLst/>
          </a:prstGeom>
          <a:solidFill>
            <a:srgbClr val="5C1A8B">
              <a:alpha val="24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C8920A">
              <a:alpha val="15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3840480"/>
            <a:ext cx="2286000" cy="2286000"/>
          </a:xfrm>
          <a:prstGeom prst="ellipse">
            <a:avLst/>
          </a:prstGeom>
          <a:solidFill>
            <a:srgbClr val="0A6E78">
              <a:alpha val="12000"/>
            </a:srgbClr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 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Guide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 - Test of Independence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- Effect Size - Full Output Interpretation - SPSS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SPSS Statistics Training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767328"/>
            <a:ext cx="3840480" cy="896112"/>
          </a:xfrm>
          <a:prstGeom prst="roundRect">
            <a:avLst>
              <a:gd name="adj" fmla="val 10204"/>
            </a:avLst>
          </a:prstGeom>
          <a:solidFill>
            <a:srgbClr val="5C1A8B">
              <a:alpha val="85000"/>
            </a:srgbClr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81304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9144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5C1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</a:t>
            </a:r>
            <a:endParaRPr lang="en-US" sz="1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097280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2194560" cy="4572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78892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Core Topics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09728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680" y="2560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93592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Chi-Square?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93592" y="457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tests, when to use, the formula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822960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969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93592" y="877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Logic: O vs 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expected frequencies explained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1536192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682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93592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 Test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93592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one variable against expected distribution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63240" y="2249424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395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93592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GoF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93592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Frequencies table, test statistics, full interpretation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63240" y="2962656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1089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93592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Independence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93592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Two-variable association in contingency tables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63240" y="3675888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8221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9359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Independence Output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93592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table, footnote, column percentages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63240" y="4389120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45354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93592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Standardised Residuals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93592" y="4736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Pinpointing which cells drive significance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0760" y="109728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560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11112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 Cramer's V and Phi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11112" y="457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magnitude of association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822960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969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11112" y="877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Interpretation Framework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11112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complete, professional interpretation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0760" y="1536192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1682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11112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APA Write-Up Examples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11112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significant and non-significant results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2249424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72200" y="2395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11112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Violations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11112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 rule, Fisher's Exact, combining categories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80760" y="2962656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31089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11112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Step-by-Step Guide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611112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dialog, every option, every output table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80760" y="3675888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72200" y="38221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1111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Case Studies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611112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HR, FMCG, healthcare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Chi-Square Test?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 analysis - comparing counts to expectations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Chi-Square Test - Purpose, When to Use, and The Formula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658368"/>
          </a:xfrm>
          <a:prstGeom prst="roundRect">
            <a:avLst>
              <a:gd name="adj" fmla="val 11111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515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</a:t>
            </a:r>
            <a:pPr indent="0" marL="0">
              <a:buNone/>
            </a:pPr>
            <a:r>
              <a:rPr lang="en-US" sz="11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we OBSERVE in the data significantly different from what we would EXPECT if our null hypothesis were true? Chi-square measures the gap between observed counts (O) and expected counts (E).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773936"/>
            <a:ext cx="2834640" cy="331012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84708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84708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distribution of ONE variable match expected proportions?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5 UAC Foods products equally preferred? Does our sample match national FMCG benchmarks?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255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categorical variable (K categories)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5478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&gt; Legacy &gt; Chi-Square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773936"/>
            <a:ext cx="2834640" cy="331012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184708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84708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Independence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23113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TWO categorical variables related to each other?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74320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product preference related to gender? Is turnover associated with department?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3255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categorical variables in a contingency table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35478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&gt; Crosstabs &gt; Statistics: Chi-Square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1773936"/>
            <a:ext cx="2834640" cy="331012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184708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84708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Homogeneity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23113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distribution of a variable the SAME across separate populations?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74320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pass/fail rate the same across Lagos, Abuja, Kano schools?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3255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variable, measured across 2+ independent groups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35478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&gt; Crosstabs (identical procedure)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5102352"/>
            <a:ext cx="8631936" cy="512064"/>
          </a:xfrm>
          <a:prstGeom prst="roundRect">
            <a:avLst>
              <a:gd name="adj" fmla="val 14286"/>
            </a:avLst>
          </a:prstGeom>
          <a:solidFill>
            <a:srgbClr val="1A0A28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5102352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chi-squared = SUM [ (O - E)^2 / E ]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54496" y="5138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O=Observed, E=Expected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5C1A8B">
              <a:alpha val="16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Logic: Observed vs Expected Frequencies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4133088"/>
          </a:xfrm>
          <a:prstGeom prst="roundRect">
            <a:avLst>
              <a:gd name="adj" fmla="val 2500"/>
            </a:avLst>
          </a:prstGeom>
          <a:solidFill>
            <a:srgbClr val="2D1550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(O)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3533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counts in your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physically counted 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your survey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993392"/>
            <a:ext cx="2103120" cy="274320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87168" y="1993392"/>
            <a:ext cx="1444752" cy="274320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9933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26771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 Sausage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87168" y="226771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2677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Foods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87168" y="254203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54203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281635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Biggs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87168" y="281635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816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09067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87168" y="309067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30906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336499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87168" y="336499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33649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363931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87168" y="363931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36393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46227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YOUR actual survey results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05072" y="2395728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005072" y="32004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914400"/>
            <a:ext cx="3657600" cy="4133088"/>
          </a:xfrm>
          <a:prstGeom prst="roundRect">
            <a:avLst>
              <a:gd name="adj" fmla="val 2500"/>
            </a:avLst>
          </a:prstGeom>
          <a:solidFill>
            <a:srgbClr val="2D1550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9875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(E)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21808" y="13533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EXPECT to see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H0 were true (no association,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matches benchmark)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21808" y="1993392"/>
            <a:ext cx="2103120" cy="274320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24928" y="1993392"/>
            <a:ext cx="1444752" cy="274320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19933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21808" y="226771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 Sausage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24928" y="226771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2677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21808" y="254203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21808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Foods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24928" y="254203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4928" y="254203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321808" y="281635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Biggs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24928" y="281635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24928" y="2816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321808" y="309067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24928" y="309067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4928" y="30906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21808" y="3364992"/>
            <a:ext cx="2103120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424928" y="3364992"/>
            <a:ext cx="144475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24928" y="33649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21808" y="3639312"/>
            <a:ext cx="2103120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24928" y="3639312"/>
            <a:ext cx="144475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24928" y="36393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21808" y="446227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equally preferred: N/k = 450/5 = 90 each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Goodness of Fit Test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distribution of one variable match what we expected?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Goodness of Fit - Complete Worked Example with Full Interpretation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4241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five UAC Foods products equally preferred by Lagos consumers? (H0: All five products are equally preferred - each with 20% market share)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682496"/>
            <a:ext cx="530352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556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Expected Frequencies (N=450, equal split = 90 each):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371600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37360" y="2011680"/>
            <a:ext cx="694944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01168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2304" y="2011680"/>
            <a:ext cx="694944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201168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27248" y="2011680"/>
            <a:ext cx="713232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0116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0" y="2011680"/>
            <a:ext cx="102412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0116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(O-E)^2/E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137160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737360" y="2286000"/>
            <a:ext cx="6949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2860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32304" y="2286000"/>
            <a:ext cx="6949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22860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27248" y="2286000"/>
            <a:ext cx="71323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2286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0" y="2286000"/>
            <a:ext cx="102412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2860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56032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37360" y="256032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5603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32304" y="256032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25603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27248" y="2560320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27248" y="2560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0" y="2560320"/>
            <a:ext cx="10241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2560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2834640"/>
            <a:ext cx="137160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Biggs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37360" y="2834640"/>
            <a:ext cx="6949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283464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32304" y="2834640"/>
            <a:ext cx="6949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32304" y="283464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27248" y="2834640"/>
            <a:ext cx="71323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27248" y="28346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0" y="2834640"/>
            <a:ext cx="102412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28346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10896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37360" y="310896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310896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32304" y="310896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32304" y="310896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127248" y="3108960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7248" y="31089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-36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40480" y="3108960"/>
            <a:ext cx="10241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0" y="31089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3383280"/>
            <a:ext cx="1371600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737360" y="3383280"/>
            <a:ext cx="694944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338328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32304" y="3383280"/>
            <a:ext cx="694944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32304" y="338328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127248" y="3383280"/>
            <a:ext cx="713232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27248" y="33832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840480" y="3383280"/>
            <a:ext cx="1024128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0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365760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737360" y="365760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0" y="36576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432304" y="3657600"/>
            <a:ext cx="6949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32304" y="36576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127248" y="3657600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27248" y="36576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840480" y="3657600"/>
            <a:ext cx="1024128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0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chi-sq=132.89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56032" y="4041648"/>
            <a:ext cx="5303520" cy="694944"/>
          </a:xfrm>
          <a:prstGeom prst="roundRect">
            <a:avLst>
              <a:gd name="adj" fmla="val 10526"/>
            </a:avLst>
          </a:prstGeom>
          <a:solidFill>
            <a:srgbClr val="1A0A28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" y="4114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chi-squared(4, N=450) = 132.89    df = k-1 = 4    p &lt; .001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5687568" y="1682496"/>
            <a:ext cx="3200400" cy="30540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797296" y="175564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Interpretation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797296" y="208483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97296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126480" y="20848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Decision: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967728" y="206654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 &lt; .05. REJECT H0. Products are NOT equally preferred.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797296" y="2633472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97296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126480" y="26334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Language: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967728" y="261518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preference is significantly concentrated - Gala dominates the market.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797296" y="3182112"/>
            <a:ext cx="256032" cy="256032"/>
          </a:xfrm>
          <a:prstGeom prst="ellipse">
            <a:avLst/>
          </a:prstGeom>
          <a:solidFill>
            <a:srgbClr val="D46A0A"/>
          </a:solidFill>
          <a:ln w="12700">
            <a:solidFill>
              <a:srgbClr val="D46A0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97296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12648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Deviation: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967728" y="316382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Gala: residual = +82 (81% above expected). Other: residual = -60 (67% below expected).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797296" y="3730752"/>
            <a:ext cx="256032" cy="256032"/>
          </a:xfrm>
          <a:prstGeom prst="ellipse">
            <a:avLst/>
          </a:prstGeom>
          <a:solidFill>
            <a:srgbClr val="0A6B3A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97296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126480" y="37307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967728" y="371246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 for GoF. Chi-sq/N ratio = .295. Huge practical difference from uniform distribution.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797296" y="4279392"/>
            <a:ext cx="256032" cy="256032"/>
          </a:xfrm>
          <a:prstGeom prst="ellipse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97296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126480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967728" y="426110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product portfolio has dramatically unequal consumer appeal. Strategy investment needed to lift weaker products.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56032" y="4809744"/>
            <a:ext cx="8631936" cy="475488"/>
          </a:xfrm>
          <a:prstGeom prst="roundRect">
            <a:avLst>
              <a:gd name="adj" fmla="val 11538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4048" y="4809744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chi-square goodness of fit test found significant non-uniform product preferences, chi-squared(4, N=450) = 132.89, p &lt; .001. Gala Sausage Roll was substantially over-preferred (38.2% vs expected 20%), while Other UAC products were substantially under-preferred (6.7% vs expected 20%).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of Independence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two categorical variables associated with each other?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Contingency Table - Setting Up the Test of Independence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4241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UAC Foods product preference associated with gender? H0: Product preference and gender are INDEPENDENT. H1: Product preference and gender are ASSOCIATED.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682496"/>
            <a:ext cx="4937760" cy="3310128"/>
          </a:xfrm>
          <a:prstGeom prst="roundRect">
            <a:avLst>
              <a:gd name="adj" fmla="val 2486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556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Frequencies (Column %)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29844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64208" y="2011680"/>
            <a:ext cx="1152144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116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(N=268)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16352" y="2011680"/>
            <a:ext cx="1152144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0116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(N=182)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68496" y="2011680"/>
            <a:ext cx="731520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129844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860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64208" y="228600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22860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(41.4%)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16352" y="228600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2860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(33.5%)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68496" y="2286000"/>
            <a:ext cx="7315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60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Foods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64208" y="256032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25603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(18.3%)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16352" y="256032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25603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(32.4%)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68496" y="256032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68496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129844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Biggs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64208" y="283464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64208" y="283464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(22.0%)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16352" y="283464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16352" y="283464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(14.8%)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68496" y="2834640"/>
            <a:ext cx="7315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68496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10896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089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64208" y="310896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4208" y="3108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(10.4%)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16352" y="310896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16352" y="3108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(14.3%)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968496" y="310896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68496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383280"/>
            <a:ext cx="129844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83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64208" y="338328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64208" y="33832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(7.8%)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16352" y="3383280"/>
            <a:ext cx="115214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16352" y="33832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(4.9%)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968496" y="3383280"/>
            <a:ext cx="7315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68496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365760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657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64208" y="365760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64208" y="36576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(100%)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816352" y="3657600"/>
            <a:ext cx="115214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16352" y="36576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(100%)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968496" y="3657600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68496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5760" y="4663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SPSS: Analyze &gt; Descriptive Stats &gt; Crosstabs &gt; Column 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21808" y="1682496"/>
            <a:ext cx="354787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431536" y="175564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Frequency Formula: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431536" y="2048256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(Row Total x Column Total) / Grand Total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431536" y="2450592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Gala-Male: E = (172 x 268) / 450 = 102.4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Gala-Female: E = (172 x 182) / 450 = 69.6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Deli-Male: E = (108 x 268) / 450 = 64.3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21808" y="3218688"/>
            <a:ext cx="3547872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431536" y="32918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Expected Frequency Matters: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431536" y="3584448"/>
            <a:ext cx="33284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frequency = what the cell count WOULD be if H0 (independence) were true.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Male count for Gala = Expected (102.4), gender makes NO difference to Gala preference.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Male count exceeds Expected (111 &gt; 102.4), males prefer Gala more than independence would predict.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56032" y="4919472"/>
            <a:ext cx="8631936" cy="512064"/>
          </a:xfrm>
          <a:prstGeom prst="roundRect">
            <a:avLst>
              <a:gd name="adj" fmla="val 14286"/>
            </a:avLst>
          </a:prstGeom>
          <a:solidFill>
            <a:srgbClr val="1A0A28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" y="49560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(rows-1) x (cols-1) = (5-1) x (2-1) = 4     Degrees of Freedom determines the chi-square distribution to compare against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SPSS Output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table, every number, every decision - end to end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Chi-Square Tests Table - Reading Every Row Correctly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5385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4241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output table. SPSS produces four rows - but only ONE is typically reported. Know which row to use and what to read.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8631936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(SPSS Output - UAC Foods Gender x Product)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993392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9152" y="1920240"/>
            <a:ext cx="65836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920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512064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202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9584" y="1920240"/>
            <a:ext cx="1371600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Asymp. Sig. (2-sided)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01184" y="1920240"/>
            <a:ext cx="4096512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9202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1993392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945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Chi-Square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59152" y="2194560"/>
            <a:ext cx="658368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2194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17520" y="2194560"/>
            <a:ext cx="512064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1945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29584" y="2194560"/>
            <a:ext cx="1371600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01184" y="2194560"/>
            <a:ext cx="409651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19456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- Always report this row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468880"/>
            <a:ext cx="19933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688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59152" y="2468880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4688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17520" y="2468880"/>
            <a:ext cx="5120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468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29584" y="246888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01184" y="2468880"/>
            <a:ext cx="40965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4688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- similar to Pearson. Report if requested.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2743200"/>
            <a:ext cx="199339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43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Linear-by-Linear Association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59152" y="2743200"/>
            <a:ext cx="658368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2743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17520" y="2743200"/>
            <a:ext cx="512064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2743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529584" y="2743200"/>
            <a:ext cx="137160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9584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01184" y="2743200"/>
            <a:ext cx="409651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274320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ordinal x ordinal tables. Ignore for nominal variables.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017520"/>
            <a:ext cx="19933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of Valid Cases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59152" y="3017520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59152" y="3017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017520" y="3017520"/>
            <a:ext cx="5120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0175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529584" y="301752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9584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01184" y="3017520"/>
            <a:ext cx="40965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01184" y="30175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 used. Should match expected sample size.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51572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0 cells (0.0%) have expected count less than 5. The minimum expected count is 12.13.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4809744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EF0E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4809744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p=.000 in SPSS does NOT mean literally zero. It means p &lt; .0005 (rounds to .000). Always report as p &lt; .001. NEVER write p = .000 in any report or publication.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6032" y="5193792"/>
            <a:ext cx="8631936" cy="310896"/>
          </a:xfrm>
          <a:prstGeom prst="roundRect">
            <a:avLst>
              <a:gd name="adj" fmla="val 17647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5193792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 'a': Critical! If it says '&gt; 20% of cells have expected count &lt; 5', your chi-square result may be unreliable. See the Assumptions section.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5C1A8B">
              <a:alpha val="16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Standardised Residuals - Finding WHICH Cells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2D1550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9264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chi-square (p&lt;.001) tells us THAT an association exists - but NOT where. A 5x2 table has 10 cells. Which ones are significantly over or under-represented? Adjusted Standardised Residuals (ASR) answer this question.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5120640" cy="3218688"/>
          </a:xfrm>
          <a:prstGeom prst="roundRect">
            <a:avLst>
              <a:gd name="adj" fmla="val 2841"/>
            </a:avLst>
          </a:prstGeom>
          <a:solidFill>
            <a:srgbClr val="2D1550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82880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- Product x Gender with Adjusted Residuals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103120"/>
            <a:ext cx="102412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031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08176" y="2103120"/>
            <a:ext cx="111556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21031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 (ASR)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23744" y="2103120"/>
            <a:ext cx="1115568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1031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O (ASR)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39312" y="2103120"/>
            <a:ext cx="1536192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377440"/>
            <a:ext cx="102412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774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08176" y="237744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(+2.8)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23744" y="237744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(-2.8)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39312" y="2377440"/>
            <a:ext cx="1536192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2377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651760"/>
            <a:ext cx="102412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517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08176" y="2651760"/>
            <a:ext cx="111556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265176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(-3.1)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23744" y="2651760"/>
            <a:ext cx="111556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265176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(+3.1)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39312" y="2651760"/>
            <a:ext cx="1536192" cy="274320"/>
          </a:xfrm>
          <a:prstGeom prst="rect">
            <a:avLst/>
          </a:prstGeom>
          <a:solidFill>
            <a:srgbClr val="D8C0F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26517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2926080"/>
            <a:ext cx="102412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9260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Biggs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08176" y="292608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8176" y="292608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(+1.7)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23744" y="292608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292608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(-1.7)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39312" y="2926080"/>
            <a:ext cx="153619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29260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3200400"/>
            <a:ext cx="102412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200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08176" y="3200400"/>
            <a:ext cx="111556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08176" y="32004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(-0.8)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23744" y="3200400"/>
            <a:ext cx="1115568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32004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(+0.8)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39312" y="3200400"/>
            <a:ext cx="1536192" cy="274320"/>
          </a:xfrm>
          <a:prstGeom prst="rect">
            <a:avLst/>
          </a:prstGeom>
          <a:solidFill>
            <a:srgbClr val="2D1550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3474720"/>
            <a:ext cx="102412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4747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408176" y="347472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08176" y="34747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(+1.2)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23744" y="3474720"/>
            <a:ext cx="1115568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23744" y="34747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(-1.2)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39312" y="3474720"/>
            <a:ext cx="1536192" cy="274320"/>
          </a:xfrm>
          <a:prstGeom prst="rect">
            <a:avLst/>
          </a:prstGeom>
          <a:solidFill>
            <a:srgbClr val="1A0A38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3474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84048" y="422452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|ASR| &gt; 1.96 = significant at p&lt;.05   |ASR| &gt; 2.58 = significant at p&lt;.01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84048" y="444398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SPSS: Crosstabs &gt; Cells &gt; Adjusted standardised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4048" y="4681728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84048" y="495604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&gt; +1.96: MORE cases than expected. Over-represented.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&lt; -1.96: FEWER cases than expected. Under-represented.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04688" y="1755648"/>
            <a:ext cx="3337560" cy="3310128"/>
          </a:xfrm>
          <a:prstGeom prst="roundRect">
            <a:avLst>
              <a:gd name="adj" fmla="val 2762"/>
            </a:avLst>
          </a:prstGeom>
          <a:solidFill>
            <a:srgbClr val="2D1550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1828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ASRs Tell Us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596128" y="2139696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0D0820"/>
          </a:solidFill>
          <a:ln w="10160">
            <a:solidFill>
              <a:srgbClr val="8B4D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176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Gala-Male +2.8*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69280" y="239572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significantly OVER-prefer Gala (111 observed vs 102.4 expected). The gender gap in Gala preference is real, not chance.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96128" y="2743200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0D0820"/>
          </a:solidFill>
          <a:ln w="10160">
            <a:solidFill>
              <a:srgbClr val="8B4D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0" y="2779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4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Gala-Female -2.8*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69280" y="299923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significantly UNDER-prefer Gala relative to their proportion of the sample. Mirror image of Gala-Male.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596128" y="3346704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0D0820"/>
          </a:solidFill>
          <a:ln w="10160">
            <a:solidFill>
              <a:srgbClr val="12A3B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Deli-Female +3.1*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669280" y="36027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signal. Female consumers choose Deli at nearly double the expected rate (59 vs 43.7 expected). Most important cell.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596128" y="3950208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0D0820"/>
          </a:solidFill>
          <a:ln w="10160">
            <a:solidFill>
              <a:srgbClr val="12A3B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Deli-Male -3.1*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69280" y="420624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consumers significantly AVOID Deli Foods relative to their proportion. Mirror of Deli-Female.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596128" y="4553712"/>
            <a:ext cx="3154680" cy="530352"/>
          </a:xfrm>
          <a:prstGeom prst="roundRect">
            <a:avLst>
              <a:gd name="adj" fmla="val 8621"/>
            </a:avLst>
          </a:prstGeom>
          <a:solidFill>
            <a:srgbClr val="0D0820"/>
          </a:solidFill>
          <a:ln w="10160">
            <a:solidFill>
              <a:srgbClr val="C8920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Mr.B/Sup/Other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669280" y="480974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|ASR| &lt; 1.96. Gender makes NO significant difference for these three products. Gender-neutral marketing is appropriate here.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Size - Cramer's V, Phi and Odds Ratio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(p &lt; .05) tells us the association is REAL. Effect size tells us how STRONG it is. ALWAYS report both - a significant p-value with a negligible effect size means the association is real but trivial.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2834640" cy="340156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73736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7373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Coefficient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 = sqrt(chi-sq / 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2x2 tables ONLY. Equivalent to Pearson r for two binary variables.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816352"/>
            <a:ext cx="548640" cy="201168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23544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548640" cy="201168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23544" y="3072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(Cohen)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548640" cy="201168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3544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(Cohen)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548640" cy="201168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23544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(Cohen)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822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x Repurchase (2x2): Phi = sqrt(16.93/300) = 0.237. Small-to-medium effect.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1664208"/>
            <a:ext cx="2834640" cy="340156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55264" y="173736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17373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1214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sqrt(chi-sq / (N * min(r-1, c-1)))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Tables with MORE than 2 rows or columns. Most commonly reported.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816352"/>
            <a:ext cx="548640" cy="201168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0.00-0.09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95344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3054096"/>
            <a:ext cx="548640" cy="201168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0.10-0.29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95344" y="3072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3291840"/>
            <a:ext cx="548640" cy="201168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291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0.30-0.49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95344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3529584"/>
            <a:ext cx="548640" cy="201168"/>
          </a:xfrm>
          <a:prstGeom prst="rect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0.50+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95344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91840" y="3822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x Product (5x2): V = sqrt(24.83/(450*1)) = 0.235. Small-to-moderate effect.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664208"/>
            <a:ext cx="2834640" cy="3401568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27064" y="173736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17373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21214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= (a*d) / (b*c)  [2x2 tables]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4323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2x2 tables when the research question is about RISK or ODDS of an outcome.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2816352"/>
            <a:ext cx="548640" cy="201168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OR=1.0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867144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63640" y="3054096"/>
            <a:ext cx="548640" cy="201168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OR=1.5-2.0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67144" y="3072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Weak-moderate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63640" y="3291840"/>
            <a:ext cx="548640" cy="201168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291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OR=2.0-4.0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67144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Moderate-strong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63640" y="3529584"/>
            <a:ext cx="548640" cy="201168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4.0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867144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63640" y="3822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x Target (2x2): OR = (142*52)/(38*68) = 2.86. Trained employees have 2.86x higher odds of meeting targets.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5120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51206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V-squared (V^2) gives the approximate variance explained - like R^2 in regression. UAC example: V^2 = .235^2 = .055, meaning gender explains about 5.5% of the variance in product preferences.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7-Step Interpretation Framework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complete, professional chi-square interpretation - never miss a component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Chi-Square Interpretation - All 7 Components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384048" cy="384048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1155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3898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WHICH chi-square test you ran and WHAT variables were involved.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chi-square test of independence was conducted to examine the association between gender and UAC Foods product preference.'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2048256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39696"/>
            <a:ext cx="384048" cy="384048"/>
          </a:xfrm>
          <a:prstGeom prst="ellipse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21396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Assumption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24140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footnote for expected cell count violations. Report result.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'All expected cell frequencies exceeded 5 (minimum = 12.1), satisfying test assumptions.' OR 'X cells had E &lt; 5; Fisher's Exact Test was used.'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072384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63824"/>
            <a:ext cx="384048" cy="384048"/>
          </a:xfrm>
          <a:prstGeom prst="ellipse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" y="31638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 + Decision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343814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chi-squared(df, N=n) = value, p = [exact value or &lt; .001]. State REJECT or FAIL TO REJECT H0.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7307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association was statistically significant, chi-squared(4, N=450) = 24.83, p &lt; .001. We reject H0.'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4096512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187952"/>
            <a:ext cx="384048" cy="384048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41879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44622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Cramer's V (or Phi for 2x2) and interpret the magnitude.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effect size was small-to-moderate (Cramer's V = .235). Gender explains approximately 5.5% of the variance in product preferences.'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90872" y="1024128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1115568"/>
            <a:ext cx="384048" cy="384048"/>
          </a:xfrm>
          <a:prstGeom prst="ellipse">
            <a:avLst/>
          </a:prstGeom>
          <a:solidFill>
            <a:srgbClr val="D46A0A"/>
          </a:solidFill>
          <a:ln w="12700">
            <a:solidFill>
              <a:srgbClr val="D46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11155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% Profile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3898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PATTERN using column percentages. What does each group look like?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82312" y="16824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'Among male consumers, Gala was most preferred (41.4%). Among female consumers, Gala remained most preferred (33.5%) but Deli Foods rose to second (32.4% vs 18.3% for males).'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90872" y="2048256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82312" y="213969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21396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(ASR)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24140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Adjusted Standardised Residuals to identify WHICH specific cells are significant.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270662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'Male consumers significantly over-preferred Gala (ASR=+2.8, p&lt;.05) and female consumers significantly over-preferred Deli Foods (ASR=+3.1, p&lt;.01). No other cells showed significant deviations.'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90872" y="3072384"/>
            <a:ext cx="4160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3163824"/>
            <a:ext cx="384048" cy="384048"/>
          </a:xfrm>
          <a:prstGeom prst="ellipse">
            <a:avLst/>
          </a:prstGeom>
          <a:solidFill>
            <a:srgbClr val="0A6B3A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57800" y="31638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43814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 for the business/research? What should be DONE?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82312" y="37307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'Gender-targeted marketing appears justified for Gala and Deli products but gender-neutral messaging is appropriate for Mr. Biggs, Supreme, and Other lines.'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APA Write-Up - UAC Foods Gender x Product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133088"/>
          </a:xfrm>
          <a:prstGeom prst="roundRect">
            <a:avLst>
              <a:gd name="adj" fmla="val 2212"/>
            </a:avLst>
          </a:prstGeom>
          <a:solidFill>
            <a:srgbClr val="2D1550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8B4DC8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Test &amp; Variables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chi-square test of independence was conducted to examine the association between gender (male, female) and preferred UAC Foods product category (Gala, Deli Foods, Mr. Biggs, Supreme, Other) among N = 450 Lagos consumers.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17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Assumption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1517904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expected cell frequencies exceeded 5 (minimum expected count = 12.1), satisfying the chi-square assumption.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Test + Decision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2029968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was statistically significant, chi-squared(4, N = 450) = 24.83, p &lt; .001. We reject the null hypothesis of independence.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46A0A"/>
          </a:solidFill>
          <a:ln w="12700">
            <a:solidFill>
              <a:srgbClr val="D46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420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Effect Size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78992" y="2542032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size was small-to-moderate (Cramer's V = .235), indicating that gender accounts for approximately 5.5% of the variance in product preferences.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0A6B3A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540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Column % Pattern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78992" y="3054096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percentages revealed that male consumers disproportionately preferred Gala Sausage Roll (41.4% of males vs 33.5% of females), while female consumers disproportionately preferred Deli Foods (32.4% of females vs 18.3% of males).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ASR Cells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78992" y="356616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standardised residuals confirmed that the association was driven by male over-preference for Gala (adj. residual = +2.8, p &lt; .05) and female over-preference for Deli Foods (adj. residual = +3.1, p &lt; .01). No other cells showed statistically significant deviations.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078224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782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Implication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78992" y="4078224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support gender-targeted marketing for the Gala and Deli product lines, while gender-neutral strategies appear appropriate for Mr. Biggs, Supreme Ice Cream, and Other products.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a NON-SIGNIFICANT Chi-Square Result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8631936" cy="530352"/>
          </a:xfrm>
          <a:prstGeom prst="roundRect">
            <a:avLst>
              <a:gd name="adj" fmla="val 13793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results are just as valid as significant ones. They require careful interpretation - not just 'no result found'. Here is how to interpret and report them correctly.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627632"/>
            <a:ext cx="416052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00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Result: Education Level x Repurchase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2103120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56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956816"/>
            <a:ext cx="713232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95681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956816"/>
            <a:ext cx="493776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9568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75888" y="1956816"/>
            <a:ext cx="1188720" cy="2743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21031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Chi-Square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2231136"/>
            <a:ext cx="71323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2311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2231136"/>
            <a:ext cx="493776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2311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75888" y="2231136"/>
            <a:ext cx="11887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2231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.240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505456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2505456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505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.097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2505456"/>
            <a:ext cx="49377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250545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75888" y="2505456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2505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79776"/>
            <a:ext cx="21031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779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of Valid Cases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0" y="2779776"/>
            <a:ext cx="713232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27797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82112" y="2779776"/>
            <a:ext cx="493776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2112" y="27797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75888" y="2779776"/>
            <a:ext cx="1188720" cy="274320"/>
          </a:xfrm>
          <a:prstGeom prst="rect">
            <a:avLst/>
          </a:prstGeom>
          <a:solidFill>
            <a:srgbClr val="F0E8FF"/>
          </a:solidFill>
          <a:ln w="6350">
            <a:solidFill>
              <a:srgbClr val="C8B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2779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090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Footnote: 0 cells have expected count &lt; 5. Min expected = 18.4.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3284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 = .240 &gt; .05. Fail to reject H0. No significant association between education level and repurchase intention category.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81728" y="1627632"/>
            <a:ext cx="416052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91456" y="1700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Non-Significant Results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91456" y="1993392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0160">
            <a:solidFill>
              <a:srgbClr val="0A6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0299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say: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0992" y="202996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'There was no statistically significant association...' or 'Education level was not significantly associated with repurchase intention.'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91456" y="2432304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0160">
            <a:solidFill>
              <a:srgbClr val="0A6E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4688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report: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24688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 value, df, N, p-value, and Cramer's V - ALL of these still need to be reported even when non-significant.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91456" y="2871216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9077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say: 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50992" y="29077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'There is NO relationship between the variables.' Non-significant means insufficient evidence - not proof of no relationship.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91456" y="331012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0160">
            <a:solidFill>
              <a:srgbClr val="D46A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34670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consider: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50992" y="334670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sample large enough? Low power can produce non-significant results even when a true association exists. A power analysis would clarify this.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3877056"/>
            <a:ext cx="8631936" cy="1225296"/>
          </a:xfrm>
          <a:prstGeom prst="roundRect">
            <a:avLst>
              <a:gd name="adj" fmla="val 6716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84048" y="39502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APA Write-Up for Non-Significant Result: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84048" y="4242816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chi-square test of independence was conducted to examine the association between education level (low, middle, high) and repurchase intention category (will not repurchase, undecided, will repurchase) among N=450 UAC Foods consumers. All expected cell frequencies exceeded 5 (minimum = 18.4). The association was not statistically significant, chi-squared(3, N=450) = 4.21, p = .240, Cramer's V = .097 (negligible effect). There was no statistically significant association between education level and repurchase intention. Future research with a larger and more diverse sample may be needed to detect any relationship with sufficient statistical power.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56032" y="5138928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5138928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does not mean 'unimportant' or 'no effect exists'. It means: with this sample and this test, we do not have sufficient evidence to conclude an association. Power, sample size, and effect size all matter.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and Violations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 rule, Fisher's Exact Test, and how to fix violations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Expected Cell Count Assumption - The Most Important Check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530352"/>
          </a:xfrm>
          <a:prstGeom prst="roundRect">
            <a:avLst>
              <a:gd name="adj" fmla="val 13793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424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 test is based on asymptotic mathematics. With very small expected cell counts, the chi-square distribution is a poor approximation and results cannot be trusted. SPSS tells you in the FOOTNOTE below the Chi-Square Tests table.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645920"/>
            <a:ext cx="4160520" cy="2359152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719072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71907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Count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2121408"/>
            <a:ext cx="4005072" cy="566928"/>
          </a:xfrm>
          <a:prstGeom prst="roundRect">
            <a:avLst>
              <a:gd name="adj" fmla="val 8065"/>
            </a:avLst>
          </a:prstGeom>
          <a:solidFill>
            <a:srgbClr val="F8F0FF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217627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0A6B3A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1762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5568" y="217627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cells with expected count &lt; 5.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2432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normally. Report: 'All expected cell counts exceeded 5 (minimum = XX.X).'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" y="2743200"/>
            <a:ext cx="4005072" cy="566928"/>
          </a:xfrm>
          <a:prstGeom prst="roundRect">
            <a:avLst>
              <a:gd name="adj" fmla="val 8065"/>
            </a:avLst>
          </a:prstGeom>
          <a:solidFill>
            <a:srgbClr val="F8F0FF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798064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7980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TOLERABLE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5568" y="279806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20% of cells with expected count between 1 and 5.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caution. Note: 'X% of cells had expected count &lt; 5 (minimum = X.X). Results should be interpreted cautiously.'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" y="3364992"/>
            <a:ext cx="4005072" cy="566928"/>
          </a:xfrm>
          <a:prstGeom prst="roundRect">
            <a:avLst>
              <a:gd name="adj" fmla="val 8065"/>
            </a:avLst>
          </a:prstGeom>
          <a:solidFill>
            <a:srgbClr val="F8F0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3419856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4198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5568" y="341985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20% of cells with expected count &lt; 5, OR any cell with expected count &lt; 1.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" y="3675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trust chi-square. Use a solution (see right panel). Report which solution was used and why.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4059936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0D0A20"/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Footnote Location: Below the Chi-Square Tests table. Look for: 'X cells (XX.X%) have expected count less than 5. The minimum expected count is XX.XX.'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1645920"/>
            <a:ext cx="4160520" cy="2359152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719072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71907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When Assumption is Violated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2121408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F8F0FF"/>
          </a:solidFill>
          <a:ln w="10160">
            <a:solidFill>
              <a:srgbClr val="5C1A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57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Exact Test: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215798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 tables with expected counts &lt;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2596896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F8F0FF"/>
          </a:solidFill>
          <a:ln w="10160">
            <a:solidFill>
              <a:srgbClr val="5C1A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33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Categories: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63056" y="26334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table size with sparse cells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73168" y="3072384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F8F0FF"/>
          </a:solidFill>
          <a:ln w="10160">
            <a:solidFill>
              <a:srgbClr val="5C1A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Data: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63056" y="31089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driving low expected counts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3547872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F8F0FF"/>
          </a:solidFill>
          <a:ln w="10160">
            <a:solidFill>
              <a:srgbClr val="5C1A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Tests (SPSS):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3056" y="35844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table size with small expected counts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608576"/>
            <a:ext cx="8631936" cy="877824"/>
          </a:xfrm>
          <a:prstGeom prst="roundRect">
            <a:avLst>
              <a:gd name="adj" fmla="val 9375"/>
            </a:avLst>
          </a:prstGeom>
          <a:solidFill>
            <a:srgbClr val="F0E8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4048" y="46817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Assumptions: 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" y="49194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Independence of observations </a:t>
            </a:r>
            <a:pPr indent="0" marL="0">
              <a:buNone/>
            </a:pPr>
            <a:r>
              <a:rPr lang="en-US" sz="10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each person appears in ONE cell only. Violated by repeated measures (use McNemar/Cochran's Q instead).  </a:t>
            </a:r>
            <a:pPr indent="0" marL="0">
              <a:buNone/>
            </a:pPr>
            <a:r>
              <a:rPr lang="en-US" sz="10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Mutually exclusive categories </a:t>
            </a:r>
            <a:pPr indent="0" marL="0">
              <a:buNone/>
            </a:pPr>
            <a:r>
              <a:rPr lang="en-US" sz="10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every observation must fall into exactly one category with no ambiguity or overlap.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SPSS Step-by-Step Guide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dialog, every option, every table - complete SPSS reference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SPSS Procedure - Test of Independence (Complete)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3891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SPSS Procedure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" y="14264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Crosstabs: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83664" y="142646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Crosstabs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938528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6656" y="19385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Row variable: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83664" y="1938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Row(s): uac_product_pref (more categories typically goes in rows)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50592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2450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Column variable: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83664" y="245059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Column(s): gender (the grouping variable)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962656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" y="29626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dialog: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83664" y="296265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Statistics. Tick: Chi-square AND Phi and Cramer's V. Click Continue.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474720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34747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dialog: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83664" y="34747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Cells. Tick: Observed, Expected (Counts). Tick: Column (Percentages). Tick: Adjusted standardised (Residuals). Click Continue.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986784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6656" y="39867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check: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83664" y="398678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 Check Case Processing Summary first (N=450, 100% valid). Proceed to output.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498848"/>
            <a:ext cx="256032" cy="256032"/>
          </a:xfrm>
          <a:prstGeom prst="ellipse">
            <a:avLst/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98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" y="44988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 path: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83664" y="449884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Tests &gt; Legacy Dialogs &gt; Chi-Square. Move variable. Choose expected values. Click OK.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1024128"/>
            <a:ext cx="411480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82896" y="10972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Output - In This Order: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82896" y="1426464"/>
            <a:ext cx="3895344" cy="804672"/>
          </a:xfrm>
          <a:prstGeom prst="roundRect">
            <a:avLst>
              <a:gd name="adj" fmla="val 6818"/>
            </a:avLst>
          </a:prstGeom>
          <a:solidFill>
            <a:srgbClr val="000000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1499616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14996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Case Processing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77393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N=450 and 100% valid. Any missing cases?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82896" y="2340864"/>
            <a:ext cx="3895344" cy="804672"/>
          </a:xfrm>
          <a:prstGeom prst="roundRect">
            <a:avLst>
              <a:gd name="adj" fmla="val 6818"/>
            </a:avLst>
          </a:prstGeom>
          <a:solidFill>
            <a:srgbClr val="000000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6048" y="2414016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4140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Crosstabulation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68833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column percentages. Read adjusted residuals. |ASR| &gt; 1.96 = significant cells.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82896" y="3255264"/>
            <a:ext cx="3895344" cy="804672"/>
          </a:xfrm>
          <a:prstGeom prst="roundRect">
            <a:avLst>
              <a:gd name="adj" fmla="val 6818"/>
            </a:avLst>
          </a:prstGeom>
          <a:solidFill>
            <a:srgbClr val="000000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6048" y="3328416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3284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Chi-Square Tests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60273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Pearson Chi-Square row only. Get Value, df, Sig. READ FOOTNOTE for expected count violations.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82896" y="4169664"/>
            <a:ext cx="3895344" cy="804672"/>
          </a:xfrm>
          <a:prstGeom prst="roundRect">
            <a:avLst>
              <a:gd name="adj" fmla="val 6818"/>
            </a:avLst>
          </a:prstGeom>
          <a:solidFill>
            <a:srgbClr val="000000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56048" y="4242816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A6B3A"/>
          </a:solidFill>
          <a:ln w="12700">
            <a:solidFill>
              <a:srgbClr val="0A6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4242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Symmetric Measures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51713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Cramer's V. Interpret magnitude: negligible/small/moderate/strong.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032" y="5120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EF0E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51206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Reporting p = .000. The correct report is p &lt; .001. SPSS rounds to 3 decimal places - .000 means 'less than .0005', not literally zero.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5C1A8B">
              <a:alpha val="20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 |  SECTION 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Nigerian Case Studies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in real Nigerian business contexts - with full interpretations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8"/>
          </a:solidFill>
          <a:ln w="12700">
            <a:solidFill>
              <a:srgbClr val="1A0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Nigerian Business Chi-Square Applications with Complete Interpretation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5C1A8B"/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" y="1115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employee turnover (left/stayed) associated with department?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3950208" cy="237744"/>
          </a:xfrm>
          <a:prstGeom prst="roundRect">
            <a:avLst>
              <a:gd name="adj" fmla="val 15385"/>
            </a:avLst>
          </a:prstGeom>
          <a:solidFill>
            <a:srgbClr val="5C1A8B">
              <a:alpha val="88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4475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chi-squared(4,N=850)=18.42, p=.001, V=.147 (small effect)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950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association: Engineering significantly higher turnover (ASR=+2.9). Customer Service significantly lower (ASR=-2.4). Sales, Finance, HR show no difference. V=.147 means department explains only 2.2% of turnover variance - department matters but other factors dominate.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90872" y="1024128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64024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0972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Cement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0408" y="1115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production target achievement (Yes/No) associated with training participation?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82312" y="1426464"/>
            <a:ext cx="3950208" cy="237744"/>
          </a:xfrm>
          <a:prstGeom prst="roundRect">
            <a:avLst>
              <a:gd name="adj" fmla="val 15385"/>
            </a:avLst>
          </a:prstGeom>
          <a:solidFill>
            <a:srgbClr val="0A6E78">
              <a:alpha val="88000"/>
            </a:srgbClr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44475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chi-squared(1,N=300)=16.93, p&lt;.001, Phi=.237 (small-moderate), OR=2.86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82312" y="1737360"/>
            <a:ext cx="3950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association: Trained employees 2.86x more likely to meet targets (OR=2.86). Column %: 78.9% of trained met targets vs 56.7% untrained. Assumption met (all E&gt;5). Effect is practically meaningful. Supports continued investment in training.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1752" y="3127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1272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Bank Nigeria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" y="3145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loan type distribution (4 types) differ across regions (4 cities)?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3950208" cy="237744"/>
          </a:xfrm>
          <a:prstGeom prst="roundRect">
            <a:avLst>
              <a:gd name="adj" fmla="val 15385"/>
            </a:avLst>
          </a:prstGeom>
          <a:solidFill>
            <a:srgbClr val="C8920A">
              <a:alpha val="88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7472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chi-squared(9,N=1200)=11.84, p=.221, V=.056 (negligible effect)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767328"/>
            <a:ext cx="3950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(p=.221&gt;.05). Fail to reject H0. No statistically significant regional differences in loan type distribution. V=.056 confirms negligible effect. First Bank maintains broadly consistent loan portfolios across Lagos, Abuja, Port Harcourt, and Kano. National lending strategy appears uniformly implemented.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90872" y="3054096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8B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64024" y="3127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46A0A"/>
          </a:solidFill>
          <a:ln w="12700">
            <a:solidFill>
              <a:srgbClr val="D46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31272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50408" y="3145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shopping frequency (Daily/Weekly/Monthly/Occasional) differ by age group?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82312" y="3456432"/>
            <a:ext cx="3950208" cy="237744"/>
          </a:xfrm>
          <a:prstGeom prst="roundRect">
            <a:avLst>
              <a:gd name="adj" fmla="val 15385"/>
            </a:avLst>
          </a:prstGeom>
          <a:solidFill>
            <a:srgbClr val="D46A0A">
              <a:alpha val="88000"/>
            </a:srgbClr>
          </a:solidFill>
          <a:ln w="12700">
            <a:solidFill>
              <a:srgbClr val="D46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347472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chi-squared(9,N=450)=42.18, p&lt;.001, V=.306 (moderate effect)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82312" y="3767328"/>
            <a:ext cx="3950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moderate association. Under-25s significantly over-represented in Occasional (ASR=+3.4) - lowest loyalty. Over-55s significantly over-represented in Daily purchases (ASR=+2.8). V=.306 means age explains ~9.4% of shopping frequency variance. Age-targeted frequency strategies are warranted.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4937760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937760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Case 3 (First Bank): A NON-SIGNIFICANT result is also a finding. It means regional strategy is consistent. Non-significant results should be reported and interpreted professionally - not dismissed.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5C1A8B">
              <a:alpha val="16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- The Chi-Square Test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3385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work with COUNTS of categorical data - not means. Use them when your dependent variable is nominal or ordinal and you are comparing frequencies across categories.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5681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chi-sq = SUM[(O-E)^2/E] compares what you observed to what you would expect if H0 (no association / matches expectation) were true. Large chi-sq = big gap = evidence against H0.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7977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FOOTNOTE below the Chi-Square Tests table. If &gt; 20% of cells have expected count &lt; 5, the result is unreliable. Use Fisher's Exact Test (for 2x2) or combine categories.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60273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PEARSON CHI-SQUARE row always. Never report p = .000 - report p &lt; .001. State df and N: chi-squared(df, N=n) = value, p = [value].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42569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(p &lt; .05) tells you the association is REAL. Cramer's V tells you HOW STRONG. Always report both. Small V = real but weak association.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82312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113385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9512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percentages describe the PATTERN of association. Describe the profile within each group to make the association tangible and meaningful.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82312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95681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9512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Standardised Residuals (|ASR| &gt; 1.96) identify WHICH specific cells are significantly over or under-represented. This is the most powerful and underused interpretation tool.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82312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77977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9512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chi-square interpretation has 7 components: Test name, Assumption check, Test statistic + decision, Effect size, Column % pattern, Cell-level ASR, and Practical implication.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82312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60273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9512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results are valid and important findings. Report them fully. Never say 'no relationship exists' - say 'no statistically significant association was found with this sample'.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82312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2D1550"/>
          </a:solidFill>
          <a:ln w="6350">
            <a:solidFill>
              <a:srgbClr val="8B4D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442569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9512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 test assumes independence of observations. For PAIRED categorical data (before/after same subjects), use McNemar Test (2 categories) or Cochran's Q (3+ categories) instead.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5C1A8B">
              <a:alpha val="18000"/>
            </a:srgbClr>
          </a:solidFill>
          <a:ln w="12700">
            <a:solidFill>
              <a:srgbClr val="5C1A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7680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"Without data you are just another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with an opinion."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99339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W. Edwards Deming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chi-square test: giving your categorical data a voice)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615184"/>
            <a:ext cx="27432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-  Discussion  -  Next Steps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4041648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5C1A8B">
              <a:alpha val="85000"/>
            </a:srgbClr>
          </a:solidFill>
          <a:ln w="12700">
            <a:solidFill>
              <a:srgbClr val="8B4D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409651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Chi-Square Test - Complete Slides</dc:title>
  <dc:subject>PptxGenJS Presentation</dc:subject>
  <dc:creator>Kajola Gbenga Adewale</dc:creator>
  <cp:lastModifiedBy>Kajola Gbenga Adewale</cp:lastModifiedBy>
  <cp:revision>1</cp:revision>
  <dcterms:created xsi:type="dcterms:W3CDTF">2026-06-27T23:38:16Z</dcterms:created>
  <dcterms:modified xsi:type="dcterms:W3CDTF">2026-06-27T23:38:16Z</dcterms:modified>
</cp:coreProperties>
</file>
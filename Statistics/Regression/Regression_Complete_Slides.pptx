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VIF formula: VIF_j = 1/(1-R²_j) where R²_j is R² from regressing X_j on all other predictors. Cook's D threshold: 4/n or some use 1.0 as the stricter threshold. Durbin-Watson: values near 2 are ideal; &lt; 1 or &gt; 3 indicate severe autocorrelation.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of Parallel Lines is the most critical check in ordinal logistic regression. If violated, the model's assumption that all predictors have the same effect regardless of which boundary you are crossing is not met. The result: use multinomial logistic or partial proportional odds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Polynomial tip: always centre X before creating X² to reduce multicollinearity between X and X². Polynomial overfitting: resist using degree &gt; 3 unless you have very strong theoretical reasons. Quantile regression is available in R (quantreg package) and Stata; standard SPSS does not include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Elements that MUST appear in every regression report: (1) Sample size N. (2) Model fit: R²+Adj.R² for OLS, Nagelkerke+HL for logistic, Harrell's C for Cox. (3) Statistical significance: F with df for OLS, omnibus chi-sq for logistic. (4) Effect sizes: b and CI for OLS, OR and CI for logistic. (5) Assumptions discussion. (6) Practical interpretation of coefficients in business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486400" y="-1828800"/>
            <a:ext cx="6400800" cy="6400800"/>
          </a:xfrm>
          <a:prstGeom prst="ellipse">
            <a:avLst/>
          </a:prstGeom>
          <a:solidFill>
            <a:srgbClr val="0A7E8C">
              <a:alpha val="20000"/>
            </a:srgbClr>
          </a:solidFill>
          <a:ln w="12700">
            <a:solidFill>
              <a:srgbClr val="0A7E8C"/>
            </a:solidFill>
            <a:prstDash val="solid"/>
          </a:ln>
        </p:spPr>
      </p:sp>
      <p:sp>
        <p:nvSpPr>
          <p:cNvPr id="3" name="Shape 1"/>
          <p:cNvSpPr/>
          <p:nvPr/>
        </p:nvSpPr>
        <p:spPr>
          <a:xfrm>
            <a:off x="-1828800" y="3200400"/>
            <a:ext cx="4572000" cy="45720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548640"/>
            <a:ext cx="4846320" cy="347472"/>
          </a:xfrm>
          <a:prstGeom prst="rect">
            <a:avLst/>
          </a:prstGeom>
          <a:noFill/>
          <a:ln/>
        </p:spPr>
        <p:txBody>
          <a:bodyPr wrap="square" lIns="0" tIns="0" rIns="0" bIns="0" rtlCol="0" anchor="ctr"/>
          <a:lstStyle/>
          <a:p>
            <a:pPr indent="0" marL="0">
              <a:buNone/>
            </a:pPr>
            <a:r>
              <a:rPr lang="en-US" sz="1300" b="1" spc="300" kern="0" dirty="0">
                <a:solidFill>
                  <a:srgbClr val="D4A010"/>
                </a:solidFill>
                <a:latin typeface="Calibri" pitchFamily="34" charset="0"/>
                <a:ea typeface="Calibri" pitchFamily="34" charset="-122"/>
                <a:cs typeface="Calibri" pitchFamily="34" charset="-120"/>
              </a:rPr>
              <a:t>REGRESSION ANALYSIS</a:t>
            </a:r>
            <a:endParaRPr lang="en-US" sz="1300" dirty="0"/>
          </a:p>
        </p:txBody>
      </p:sp>
      <p:sp>
        <p:nvSpPr>
          <p:cNvPr id="5" name="Text 3"/>
          <p:cNvSpPr/>
          <p:nvPr/>
        </p:nvSpPr>
        <p:spPr>
          <a:xfrm>
            <a:off x="548640" y="969264"/>
            <a:ext cx="4846320" cy="1353312"/>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The Complete</a:t>
            </a:r>
            <a:endParaRPr lang="en-US" sz="5000" dirty="0"/>
          </a:p>
          <a:p>
            <a:pPr indent="0" marL="0">
              <a:buNone/>
            </a:pPr>
            <a:r>
              <a:rPr lang="en-US" sz="5000" b="1" dirty="0">
                <a:solidFill>
                  <a:srgbClr val="FFFFFF"/>
                </a:solidFill>
                <a:latin typeface="Cambria" pitchFamily="34" charset="0"/>
                <a:ea typeface="Cambria" pitchFamily="34" charset="-122"/>
                <a:cs typeface="Cambria" pitchFamily="34" charset="-120"/>
              </a:rPr>
              <a:t>Reference</a:t>
            </a:r>
            <a:endParaRPr lang="en-US" sz="5000" dirty="0"/>
          </a:p>
        </p:txBody>
      </p:sp>
      <p:sp>
        <p:nvSpPr>
          <p:cNvPr id="6" name="Text 4"/>
          <p:cNvSpPr/>
          <p:nvPr/>
        </p:nvSpPr>
        <p:spPr>
          <a:xfrm>
            <a:off x="548640" y="2450592"/>
            <a:ext cx="4846320" cy="804672"/>
          </a:xfrm>
          <a:prstGeom prst="rect">
            <a:avLst/>
          </a:prstGeom>
          <a:noFill/>
          <a:ln/>
        </p:spPr>
        <p:txBody>
          <a:bodyPr wrap="square" lIns="0" tIns="0" rIns="0" bIns="0" rtlCol="0" anchor="ctr"/>
          <a:lstStyle/>
          <a:p>
            <a:pPr indent="0" marL="0">
              <a:buNone/>
            </a:pPr>
            <a:r>
              <a:rPr lang="en-US" sz="1300" dirty="0">
                <a:solidFill>
                  <a:srgbClr val="90D8E0"/>
                </a:solidFill>
                <a:latin typeface="Calibri" pitchFamily="34" charset="0"/>
                <a:ea typeface="Calibri" pitchFamily="34" charset="-122"/>
                <a:cs typeface="Calibri" pitchFamily="34" charset="-120"/>
              </a:rPr>
              <a:t>15 Regression Types  •  All Formulas  •  All Assumptions</a:t>
            </a:r>
            <a:endParaRPr lang="en-US" sz="1300" dirty="0"/>
          </a:p>
          <a:p>
            <a:pPr indent="0" marL="0">
              <a:buNone/>
            </a:pPr>
            <a:r>
              <a:rPr lang="en-US" sz="1300" dirty="0">
                <a:solidFill>
                  <a:srgbClr val="90D8E0"/>
                </a:solidFill>
                <a:latin typeface="Calibri" pitchFamily="34" charset="0"/>
                <a:ea typeface="Calibri" pitchFamily="34" charset="-122"/>
                <a:cs typeface="Calibri" pitchFamily="34" charset="-120"/>
              </a:rPr>
              <a:t>Full Interpretations  •  SPSS Procedures  •  APA Templates</a:t>
            </a:r>
            <a:endParaRPr lang="en-US" sz="1300" dirty="0"/>
          </a:p>
          <a:p>
            <a:pPr indent="0" marL="0">
              <a:buNone/>
            </a:pPr>
            <a:r>
              <a:rPr lang="en-US" sz="1300" dirty="0">
                <a:solidFill>
                  <a:srgbClr val="90D8E0"/>
                </a:solidFill>
                <a:latin typeface="Calibri" pitchFamily="34" charset="0"/>
                <a:ea typeface="Calibri" pitchFamily="34" charset="-122"/>
                <a:cs typeface="Calibri" pitchFamily="34" charset="-120"/>
              </a:rPr>
              <a:t>Nigerian Business Applications: Banking  •  Insurance  •  FMCG  •  Telecoms</a:t>
            </a:r>
            <a:endParaRPr lang="en-US" sz="1300" dirty="0"/>
          </a:p>
        </p:txBody>
      </p:sp>
      <p:sp>
        <p:nvSpPr>
          <p:cNvPr id="7" name="Shape 5"/>
          <p:cNvSpPr/>
          <p:nvPr/>
        </p:nvSpPr>
        <p:spPr>
          <a:xfrm>
            <a:off x="548640" y="3364992"/>
            <a:ext cx="4023360" cy="822960"/>
          </a:xfrm>
          <a:prstGeom prst="roundRect">
            <a:avLst>
              <a:gd name="adj" fmla="val 11111"/>
            </a:avLst>
          </a:prstGeom>
          <a:solidFill>
            <a:srgbClr val="0A7E8C">
              <a:alpha val="85000"/>
            </a:srgbClr>
          </a:solidFill>
          <a:ln w="12700">
            <a:solidFill>
              <a:srgbClr val="14B8C8"/>
            </a:solidFill>
            <a:prstDash val="solid"/>
          </a:ln>
        </p:spPr>
      </p:sp>
      <p:sp>
        <p:nvSpPr>
          <p:cNvPr id="8" name="Text 6"/>
          <p:cNvSpPr/>
          <p:nvPr/>
        </p:nvSpPr>
        <p:spPr>
          <a:xfrm>
            <a:off x="548640" y="3419856"/>
            <a:ext cx="4023360" cy="7315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Kajola Gbenga Adewale</a:t>
            </a:r>
            <a:endParaRPr lang="en-US" sz="1500" dirty="0"/>
          </a:p>
          <a:p>
            <a:pPr algn="ctr" indent="0" marL="0">
              <a:buNone/>
            </a:pPr>
            <a:r>
              <a:rPr lang="en-US" sz="1200" dirty="0">
                <a:solidFill>
                  <a:srgbClr val="F0C840"/>
                </a:solidFill>
                <a:latin typeface="Calibri" pitchFamily="34" charset="0"/>
                <a:ea typeface="Calibri" pitchFamily="34" charset="-122"/>
                <a:cs typeface="Calibri" pitchFamily="34" charset="-120"/>
              </a:rPr>
              <a:t>Data Expert</a:t>
            </a:r>
            <a:endParaRPr lang="en-US" sz="1500" dirty="0"/>
          </a:p>
        </p:txBody>
      </p:sp>
      <p:sp>
        <p:nvSpPr>
          <p:cNvPr id="9" name="Shape 7"/>
          <p:cNvSpPr/>
          <p:nvPr/>
        </p:nvSpPr>
        <p:spPr>
          <a:xfrm>
            <a:off x="5577840" y="457200"/>
            <a:ext cx="1627632" cy="1024128"/>
          </a:xfrm>
          <a:prstGeom prst="roundRect">
            <a:avLst>
              <a:gd name="adj" fmla="val 6250"/>
            </a:avLst>
          </a:prstGeom>
          <a:solidFill>
            <a:srgbClr val="0C1428"/>
          </a:solidFill>
          <a:ln w="7620">
            <a:solidFill>
              <a:srgbClr val="14B8C8"/>
            </a:solidFill>
            <a:prstDash val="solid"/>
          </a:ln>
        </p:spPr>
      </p:sp>
      <p:sp>
        <p:nvSpPr>
          <p:cNvPr id="10" name="Text 8"/>
          <p:cNvSpPr/>
          <p:nvPr/>
        </p:nvSpPr>
        <p:spPr>
          <a:xfrm>
            <a:off x="5577840" y="512064"/>
            <a:ext cx="1627632" cy="292608"/>
          </a:xfrm>
          <a:prstGeom prst="rect">
            <a:avLst/>
          </a:prstGeom>
          <a:noFill/>
          <a:ln/>
        </p:spPr>
        <p:txBody>
          <a:bodyPr wrap="square" lIns="0" tIns="0" rIns="0" bIns="0" rtlCol="0" anchor="ctr"/>
          <a:lstStyle/>
          <a:p>
            <a:pPr algn="ctr" indent="0" marL="0">
              <a:buNone/>
            </a:pPr>
            <a:r>
              <a:rPr lang="en-US" sz="950" b="1" dirty="0">
                <a:solidFill>
                  <a:srgbClr val="14B8C8"/>
                </a:solidFill>
                <a:latin typeface="Calibri" pitchFamily="34" charset="0"/>
                <a:ea typeface="Calibri" pitchFamily="34" charset="-122"/>
                <a:cs typeface="Calibri" pitchFamily="34" charset="-120"/>
              </a:rPr>
              <a:t>Simple LR</a:t>
            </a:r>
            <a:endParaRPr lang="en-US" sz="950" dirty="0"/>
          </a:p>
        </p:txBody>
      </p:sp>
      <p:sp>
        <p:nvSpPr>
          <p:cNvPr id="11" name="Text 9"/>
          <p:cNvSpPr/>
          <p:nvPr/>
        </p:nvSpPr>
        <p:spPr>
          <a:xfrm>
            <a:off x="5577840" y="822960"/>
            <a:ext cx="1627632" cy="512064"/>
          </a:xfrm>
          <a:prstGeom prst="rect">
            <a:avLst/>
          </a:prstGeom>
          <a:noFill/>
          <a:ln/>
        </p:spPr>
        <p:txBody>
          <a:bodyPr wrap="square" lIns="0" tIns="0" rIns="0" bIns="0" rtlCol="0" anchor="ctr"/>
          <a:lstStyle/>
          <a:p>
            <a:pPr algn="ctr" indent="0" marL="0">
              <a:buNone/>
            </a:pPr>
            <a:r>
              <a:rPr lang="en-US" sz="1000" dirty="0">
                <a:solidFill>
                  <a:srgbClr val="F0C840"/>
                </a:solidFill>
                <a:latin typeface="Courier New" pitchFamily="34" charset="0"/>
                <a:ea typeface="Courier New" pitchFamily="34" charset="-122"/>
                <a:cs typeface="Courier New" pitchFamily="34" charset="-120"/>
              </a:rPr>
              <a:t>Ŷ = b₀ + b₁X</a:t>
            </a:r>
            <a:endParaRPr lang="en-US" sz="1000" dirty="0"/>
          </a:p>
        </p:txBody>
      </p:sp>
      <p:sp>
        <p:nvSpPr>
          <p:cNvPr id="12" name="Shape 10"/>
          <p:cNvSpPr/>
          <p:nvPr/>
        </p:nvSpPr>
        <p:spPr>
          <a:xfrm>
            <a:off x="7315200" y="457200"/>
            <a:ext cx="1627632" cy="1024128"/>
          </a:xfrm>
          <a:prstGeom prst="roundRect">
            <a:avLst>
              <a:gd name="adj" fmla="val 6250"/>
            </a:avLst>
          </a:prstGeom>
          <a:solidFill>
            <a:srgbClr val="0C1428"/>
          </a:solidFill>
          <a:ln w="7620">
            <a:solidFill>
              <a:srgbClr val="14B8C8"/>
            </a:solidFill>
            <a:prstDash val="solid"/>
          </a:ln>
        </p:spPr>
      </p:sp>
      <p:sp>
        <p:nvSpPr>
          <p:cNvPr id="13" name="Text 11"/>
          <p:cNvSpPr/>
          <p:nvPr/>
        </p:nvSpPr>
        <p:spPr>
          <a:xfrm>
            <a:off x="7315200" y="512064"/>
            <a:ext cx="1627632" cy="292608"/>
          </a:xfrm>
          <a:prstGeom prst="rect">
            <a:avLst/>
          </a:prstGeom>
          <a:noFill/>
          <a:ln/>
        </p:spPr>
        <p:txBody>
          <a:bodyPr wrap="square" lIns="0" tIns="0" rIns="0" bIns="0" rtlCol="0" anchor="ctr"/>
          <a:lstStyle/>
          <a:p>
            <a:pPr algn="ctr" indent="0" marL="0">
              <a:buNone/>
            </a:pPr>
            <a:r>
              <a:rPr lang="en-US" sz="950" b="1" dirty="0">
                <a:solidFill>
                  <a:srgbClr val="14B8C8"/>
                </a:solidFill>
                <a:latin typeface="Calibri" pitchFamily="34" charset="0"/>
                <a:ea typeface="Calibri" pitchFamily="34" charset="-122"/>
                <a:cs typeface="Calibri" pitchFamily="34" charset="-120"/>
              </a:rPr>
              <a:t>Multiple LR</a:t>
            </a:r>
            <a:endParaRPr lang="en-US" sz="950" dirty="0"/>
          </a:p>
        </p:txBody>
      </p:sp>
      <p:sp>
        <p:nvSpPr>
          <p:cNvPr id="14" name="Text 12"/>
          <p:cNvSpPr/>
          <p:nvPr/>
        </p:nvSpPr>
        <p:spPr>
          <a:xfrm>
            <a:off x="7315200" y="822960"/>
            <a:ext cx="1627632" cy="512064"/>
          </a:xfrm>
          <a:prstGeom prst="rect">
            <a:avLst/>
          </a:prstGeom>
          <a:noFill/>
          <a:ln/>
        </p:spPr>
        <p:txBody>
          <a:bodyPr wrap="square" lIns="0" tIns="0" rIns="0" bIns="0" rtlCol="0" anchor="ctr"/>
          <a:lstStyle/>
          <a:p>
            <a:pPr algn="ctr" indent="0" marL="0">
              <a:buNone/>
            </a:pPr>
            <a:r>
              <a:rPr lang="en-US" sz="1000" dirty="0">
                <a:solidFill>
                  <a:srgbClr val="F0C840"/>
                </a:solidFill>
                <a:latin typeface="Courier New" pitchFamily="34" charset="0"/>
                <a:ea typeface="Courier New" pitchFamily="34" charset="-122"/>
                <a:cs typeface="Courier New" pitchFamily="34" charset="-120"/>
              </a:rPr>
              <a:t>Ŷ = b₀+b₁X₁+...+bₚXₚ</a:t>
            </a:r>
            <a:endParaRPr lang="en-US" sz="1000" dirty="0"/>
          </a:p>
        </p:txBody>
      </p:sp>
      <p:sp>
        <p:nvSpPr>
          <p:cNvPr id="15" name="Shape 13"/>
          <p:cNvSpPr/>
          <p:nvPr/>
        </p:nvSpPr>
        <p:spPr>
          <a:xfrm>
            <a:off x="5577840" y="1627632"/>
            <a:ext cx="1627632" cy="1024128"/>
          </a:xfrm>
          <a:prstGeom prst="roundRect">
            <a:avLst>
              <a:gd name="adj" fmla="val 6250"/>
            </a:avLst>
          </a:prstGeom>
          <a:solidFill>
            <a:srgbClr val="0C1428"/>
          </a:solidFill>
          <a:ln w="7620">
            <a:solidFill>
              <a:srgbClr val="14B8C8"/>
            </a:solidFill>
            <a:prstDash val="solid"/>
          </a:ln>
        </p:spPr>
      </p:sp>
      <p:sp>
        <p:nvSpPr>
          <p:cNvPr id="16" name="Text 14"/>
          <p:cNvSpPr/>
          <p:nvPr/>
        </p:nvSpPr>
        <p:spPr>
          <a:xfrm>
            <a:off x="5577840" y="1682496"/>
            <a:ext cx="1627632" cy="292608"/>
          </a:xfrm>
          <a:prstGeom prst="rect">
            <a:avLst/>
          </a:prstGeom>
          <a:noFill/>
          <a:ln/>
        </p:spPr>
        <p:txBody>
          <a:bodyPr wrap="square" lIns="0" tIns="0" rIns="0" bIns="0" rtlCol="0" anchor="ctr"/>
          <a:lstStyle/>
          <a:p>
            <a:pPr algn="ctr" indent="0" marL="0">
              <a:buNone/>
            </a:pPr>
            <a:r>
              <a:rPr lang="en-US" sz="950" b="1" dirty="0">
                <a:solidFill>
                  <a:srgbClr val="14B8C8"/>
                </a:solidFill>
                <a:latin typeface="Calibri" pitchFamily="34" charset="0"/>
                <a:ea typeface="Calibri" pitchFamily="34" charset="-122"/>
                <a:cs typeface="Calibri" pitchFamily="34" charset="-120"/>
              </a:rPr>
              <a:t>Logistic</a:t>
            </a:r>
            <a:endParaRPr lang="en-US" sz="950" dirty="0"/>
          </a:p>
        </p:txBody>
      </p:sp>
      <p:sp>
        <p:nvSpPr>
          <p:cNvPr id="17" name="Text 15"/>
          <p:cNvSpPr/>
          <p:nvPr/>
        </p:nvSpPr>
        <p:spPr>
          <a:xfrm>
            <a:off x="5577840" y="1993392"/>
            <a:ext cx="1627632" cy="512064"/>
          </a:xfrm>
          <a:prstGeom prst="rect">
            <a:avLst/>
          </a:prstGeom>
          <a:noFill/>
          <a:ln/>
        </p:spPr>
        <p:txBody>
          <a:bodyPr wrap="square" lIns="0" tIns="0" rIns="0" bIns="0" rtlCol="0" anchor="ctr"/>
          <a:lstStyle/>
          <a:p>
            <a:pPr algn="ctr" indent="0" marL="0">
              <a:buNone/>
            </a:pPr>
            <a:r>
              <a:rPr lang="en-US" sz="1000" dirty="0">
                <a:solidFill>
                  <a:srgbClr val="F0C840"/>
                </a:solidFill>
                <a:latin typeface="Courier New" pitchFamily="34" charset="0"/>
                <a:ea typeface="Courier New" pitchFamily="34" charset="-122"/>
                <a:cs typeface="Courier New" pitchFamily="34" charset="-120"/>
              </a:rPr>
              <a:t>log(P/1-P) = Xβ</a:t>
            </a:r>
            <a:endParaRPr lang="en-US" sz="1000" dirty="0"/>
          </a:p>
        </p:txBody>
      </p:sp>
      <p:sp>
        <p:nvSpPr>
          <p:cNvPr id="18" name="Shape 16"/>
          <p:cNvSpPr/>
          <p:nvPr/>
        </p:nvSpPr>
        <p:spPr>
          <a:xfrm>
            <a:off x="7315200" y="1627632"/>
            <a:ext cx="1627632" cy="1024128"/>
          </a:xfrm>
          <a:prstGeom prst="roundRect">
            <a:avLst>
              <a:gd name="adj" fmla="val 6250"/>
            </a:avLst>
          </a:prstGeom>
          <a:solidFill>
            <a:srgbClr val="0C1428"/>
          </a:solidFill>
          <a:ln w="7620">
            <a:solidFill>
              <a:srgbClr val="14B8C8"/>
            </a:solidFill>
            <a:prstDash val="solid"/>
          </a:ln>
        </p:spPr>
      </p:sp>
      <p:sp>
        <p:nvSpPr>
          <p:cNvPr id="19" name="Text 17"/>
          <p:cNvSpPr/>
          <p:nvPr/>
        </p:nvSpPr>
        <p:spPr>
          <a:xfrm>
            <a:off x="7315200" y="1682496"/>
            <a:ext cx="1627632" cy="292608"/>
          </a:xfrm>
          <a:prstGeom prst="rect">
            <a:avLst/>
          </a:prstGeom>
          <a:noFill/>
          <a:ln/>
        </p:spPr>
        <p:txBody>
          <a:bodyPr wrap="square" lIns="0" tIns="0" rIns="0" bIns="0" rtlCol="0" anchor="ctr"/>
          <a:lstStyle/>
          <a:p>
            <a:pPr algn="ctr" indent="0" marL="0">
              <a:buNone/>
            </a:pPr>
            <a:r>
              <a:rPr lang="en-US" sz="950" b="1" dirty="0">
                <a:solidFill>
                  <a:srgbClr val="14B8C8"/>
                </a:solidFill>
                <a:latin typeface="Calibri" pitchFamily="34" charset="0"/>
                <a:ea typeface="Calibri" pitchFamily="34" charset="-122"/>
                <a:cs typeface="Calibri" pitchFamily="34" charset="-120"/>
              </a:rPr>
              <a:t>Poisson</a:t>
            </a:r>
            <a:endParaRPr lang="en-US" sz="950" dirty="0"/>
          </a:p>
        </p:txBody>
      </p:sp>
      <p:sp>
        <p:nvSpPr>
          <p:cNvPr id="20" name="Text 18"/>
          <p:cNvSpPr/>
          <p:nvPr/>
        </p:nvSpPr>
        <p:spPr>
          <a:xfrm>
            <a:off x="7315200" y="1993392"/>
            <a:ext cx="1627632" cy="512064"/>
          </a:xfrm>
          <a:prstGeom prst="rect">
            <a:avLst/>
          </a:prstGeom>
          <a:noFill/>
          <a:ln/>
        </p:spPr>
        <p:txBody>
          <a:bodyPr wrap="square" lIns="0" tIns="0" rIns="0" bIns="0" rtlCol="0" anchor="ctr"/>
          <a:lstStyle/>
          <a:p>
            <a:pPr algn="ctr" indent="0" marL="0">
              <a:buNone/>
            </a:pPr>
            <a:r>
              <a:rPr lang="en-US" sz="1000" dirty="0">
                <a:solidFill>
                  <a:srgbClr val="F0C840"/>
                </a:solidFill>
                <a:latin typeface="Courier New" pitchFamily="34" charset="0"/>
                <a:ea typeface="Courier New" pitchFamily="34" charset="-122"/>
                <a:cs typeface="Courier New" pitchFamily="34" charset="-120"/>
              </a:rPr>
              <a:t>log(E(Y)) = Xβ</a:t>
            </a:r>
            <a:endParaRPr lang="en-US" sz="1000" dirty="0"/>
          </a:p>
        </p:txBody>
      </p:sp>
      <p:sp>
        <p:nvSpPr>
          <p:cNvPr id="21" name="Shape 19"/>
          <p:cNvSpPr/>
          <p:nvPr/>
        </p:nvSpPr>
        <p:spPr>
          <a:xfrm>
            <a:off x="5577840" y="2798064"/>
            <a:ext cx="1627632" cy="1024128"/>
          </a:xfrm>
          <a:prstGeom prst="roundRect">
            <a:avLst>
              <a:gd name="adj" fmla="val 6250"/>
            </a:avLst>
          </a:prstGeom>
          <a:solidFill>
            <a:srgbClr val="0C1428"/>
          </a:solidFill>
          <a:ln w="7620">
            <a:solidFill>
              <a:srgbClr val="14B8C8"/>
            </a:solidFill>
            <a:prstDash val="solid"/>
          </a:ln>
        </p:spPr>
      </p:sp>
      <p:sp>
        <p:nvSpPr>
          <p:cNvPr id="22" name="Text 20"/>
          <p:cNvSpPr/>
          <p:nvPr/>
        </p:nvSpPr>
        <p:spPr>
          <a:xfrm>
            <a:off x="5577840" y="2852928"/>
            <a:ext cx="1627632" cy="292608"/>
          </a:xfrm>
          <a:prstGeom prst="rect">
            <a:avLst/>
          </a:prstGeom>
          <a:noFill/>
          <a:ln/>
        </p:spPr>
        <p:txBody>
          <a:bodyPr wrap="square" lIns="0" tIns="0" rIns="0" bIns="0" rtlCol="0" anchor="ctr"/>
          <a:lstStyle/>
          <a:p>
            <a:pPr algn="ctr" indent="0" marL="0">
              <a:buNone/>
            </a:pPr>
            <a:r>
              <a:rPr lang="en-US" sz="950" b="1" dirty="0">
                <a:solidFill>
                  <a:srgbClr val="14B8C8"/>
                </a:solidFill>
                <a:latin typeface="Calibri" pitchFamily="34" charset="0"/>
                <a:ea typeface="Calibri" pitchFamily="34" charset="-122"/>
                <a:cs typeface="Calibri" pitchFamily="34" charset="-120"/>
              </a:rPr>
              <a:t>Ridge</a:t>
            </a:r>
            <a:endParaRPr lang="en-US" sz="950" dirty="0"/>
          </a:p>
        </p:txBody>
      </p:sp>
      <p:sp>
        <p:nvSpPr>
          <p:cNvPr id="23" name="Text 21"/>
          <p:cNvSpPr/>
          <p:nvPr/>
        </p:nvSpPr>
        <p:spPr>
          <a:xfrm>
            <a:off x="5577840" y="3163824"/>
            <a:ext cx="1627632" cy="512064"/>
          </a:xfrm>
          <a:prstGeom prst="rect">
            <a:avLst/>
          </a:prstGeom>
          <a:noFill/>
          <a:ln/>
        </p:spPr>
        <p:txBody>
          <a:bodyPr wrap="square" lIns="0" tIns="0" rIns="0" bIns="0" rtlCol="0" anchor="ctr"/>
          <a:lstStyle/>
          <a:p>
            <a:pPr algn="ctr" indent="0" marL="0">
              <a:buNone/>
            </a:pPr>
            <a:r>
              <a:rPr lang="en-US" sz="1000" dirty="0">
                <a:solidFill>
                  <a:srgbClr val="F0C840"/>
                </a:solidFill>
                <a:latin typeface="Courier New" pitchFamily="34" charset="0"/>
                <a:ea typeface="Courier New" pitchFamily="34" charset="-122"/>
                <a:cs typeface="Courier New" pitchFamily="34" charset="-120"/>
              </a:rPr>
              <a:t>SSR + λΣbⱼ²</a:t>
            </a:r>
            <a:endParaRPr lang="en-US" sz="1000" dirty="0"/>
          </a:p>
        </p:txBody>
      </p:sp>
      <p:sp>
        <p:nvSpPr>
          <p:cNvPr id="24" name="Shape 22"/>
          <p:cNvSpPr/>
          <p:nvPr/>
        </p:nvSpPr>
        <p:spPr>
          <a:xfrm>
            <a:off x="7315200" y="2798064"/>
            <a:ext cx="1627632" cy="1024128"/>
          </a:xfrm>
          <a:prstGeom prst="roundRect">
            <a:avLst>
              <a:gd name="adj" fmla="val 6250"/>
            </a:avLst>
          </a:prstGeom>
          <a:solidFill>
            <a:srgbClr val="0C1428"/>
          </a:solidFill>
          <a:ln w="7620">
            <a:solidFill>
              <a:srgbClr val="14B8C8"/>
            </a:solidFill>
            <a:prstDash val="solid"/>
          </a:ln>
        </p:spPr>
      </p:sp>
      <p:sp>
        <p:nvSpPr>
          <p:cNvPr id="25" name="Text 23"/>
          <p:cNvSpPr/>
          <p:nvPr/>
        </p:nvSpPr>
        <p:spPr>
          <a:xfrm>
            <a:off x="7315200" y="2852928"/>
            <a:ext cx="1627632" cy="292608"/>
          </a:xfrm>
          <a:prstGeom prst="rect">
            <a:avLst/>
          </a:prstGeom>
          <a:noFill/>
          <a:ln/>
        </p:spPr>
        <p:txBody>
          <a:bodyPr wrap="square" lIns="0" tIns="0" rIns="0" bIns="0" rtlCol="0" anchor="ctr"/>
          <a:lstStyle/>
          <a:p>
            <a:pPr algn="ctr" indent="0" marL="0">
              <a:buNone/>
            </a:pPr>
            <a:r>
              <a:rPr lang="en-US" sz="950" b="1" dirty="0">
                <a:solidFill>
                  <a:srgbClr val="14B8C8"/>
                </a:solidFill>
                <a:latin typeface="Calibri" pitchFamily="34" charset="0"/>
                <a:ea typeface="Calibri" pitchFamily="34" charset="-122"/>
                <a:cs typeface="Calibri" pitchFamily="34" charset="-120"/>
              </a:rPr>
              <a:t>Lasso</a:t>
            </a:r>
            <a:endParaRPr lang="en-US" sz="950" dirty="0"/>
          </a:p>
        </p:txBody>
      </p:sp>
      <p:sp>
        <p:nvSpPr>
          <p:cNvPr id="26" name="Text 24"/>
          <p:cNvSpPr/>
          <p:nvPr/>
        </p:nvSpPr>
        <p:spPr>
          <a:xfrm>
            <a:off x="7315200" y="3163824"/>
            <a:ext cx="1627632" cy="512064"/>
          </a:xfrm>
          <a:prstGeom prst="rect">
            <a:avLst/>
          </a:prstGeom>
          <a:noFill/>
          <a:ln/>
        </p:spPr>
        <p:txBody>
          <a:bodyPr wrap="square" lIns="0" tIns="0" rIns="0" bIns="0" rtlCol="0" anchor="ctr"/>
          <a:lstStyle/>
          <a:p>
            <a:pPr algn="ctr" indent="0" marL="0">
              <a:buNone/>
            </a:pPr>
            <a:r>
              <a:rPr lang="en-US" sz="1000" dirty="0">
                <a:solidFill>
                  <a:srgbClr val="F0C840"/>
                </a:solidFill>
                <a:latin typeface="Courier New" pitchFamily="34" charset="0"/>
                <a:ea typeface="Courier New" pitchFamily="34" charset="-122"/>
                <a:cs typeface="Courier New" pitchFamily="34" charset="-120"/>
              </a:rPr>
              <a:t>SSR + λΣ|bⱼ|</a:t>
            </a:r>
            <a:endParaRPr lang="en-US" sz="1000" dirty="0"/>
          </a:p>
        </p:txBody>
      </p:sp>
      <p:sp>
        <p:nvSpPr>
          <p:cNvPr id="27" name="Shape 25"/>
          <p:cNvSpPr/>
          <p:nvPr/>
        </p:nvSpPr>
        <p:spPr>
          <a:xfrm>
            <a:off x="5577840" y="3968496"/>
            <a:ext cx="1627632" cy="1024128"/>
          </a:xfrm>
          <a:prstGeom prst="roundRect">
            <a:avLst>
              <a:gd name="adj" fmla="val 6250"/>
            </a:avLst>
          </a:prstGeom>
          <a:solidFill>
            <a:srgbClr val="0C1428"/>
          </a:solidFill>
          <a:ln w="7620">
            <a:solidFill>
              <a:srgbClr val="14B8C8"/>
            </a:solidFill>
            <a:prstDash val="solid"/>
          </a:ln>
        </p:spPr>
      </p:sp>
      <p:sp>
        <p:nvSpPr>
          <p:cNvPr id="28" name="Text 26"/>
          <p:cNvSpPr/>
          <p:nvPr/>
        </p:nvSpPr>
        <p:spPr>
          <a:xfrm>
            <a:off x="5577840" y="4023360"/>
            <a:ext cx="1627632" cy="292608"/>
          </a:xfrm>
          <a:prstGeom prst="rect">
            <a:avLst/>
          </a:prstGeom>
          <a:noFill/>
          <a:ln/>
        </p:spPr>
        <p:txBody>
          <a:bodyPr wrap="square" lIns="0" tIns="0" rIns="0" bIns="0" rtlCol="0" anchor="ctr"/>
          <a:lstStyle/>
          <a:p>
            <a:pPr algn="ctr" indent="0" marL="0">
              <a:buNone/>
            </a:pPr>
            <a:r>
              <a:rPr lang="en-US" sz="950" b="1" dirty="0">
                <a:solidFill>
                  <a:srgbClr val="14B8C8"/>
                </a:solidFill>
                <a:latin typeface="Calibri" pitchFamily="34" charset="0"/>
                <a:ea typeface="Calibri" pitchFamily="34" charset="-122"/>
                <a:cs typeface="Calibri" pitchFamily="34" charset="-120"/>
              </a:rPr>
              <a:t>Cox</a:t>
            </a:r>
            <a:endParaRPr lang="en-US" sz="950" dirty="0"/>
          </a:p>
        </p:txBody>
      </p:sp>
      <p:sp>
        <p:nvSpPr>
          <p:cNvPr id="29" name="Text 27"/>
          <p:cNvSpPr/>
          <p:nvPr/>
        </p:nvSpPr>
        <p:spPr>
          <a:xfrm>
            <a:off x="5577840" y="4334256"/>
            <a:ext cx="1627632" cy="512064"/>
          </a:xfrm>
          <a:prstGeom prst="rect">
            <a:avLst/>
          </a:prstGeom>
          <a:noFill/>
          <a:ln/>
        </p:spPr>
        <p:txBody>
          <a:bodyPr wrap="square" lIns="0" tIns="0" rIns="0" bIns="0" rtlCol="0" anchor="ctr"/>
          <a:lstStyle/>
          <a:p>
            <a:pPr algn="ctr" indent="0" marL="0">
              <a:buNone/>
            </a:pPr>
            <a:r>
              <a:rPr lang="en-US" sz="1000" dirty="0">
                <a:solidFill>
                  <a:srgbClr val="F0C840"/>
                </a:solidFill>
                <a:latin typeface="Courier New" pitchFamily="34" charset="0"/>
                <a:ea typeface="Courier New" pitchFamily="34" charset="-122"/>
                <a:cs typeface="Courier New" pitchFamily="34" charset="-120"/>
              </a:rPr>
              <a:t>h(t) = h₀(t)·exp(Xβ)</a:t>
            </a:r>
            <a:endParaRPr lang="en-US" sz="1000" dirty="0"/>
          </a:p>
        </p:txBody>
      </p:sp>
      <p:sp>
        <p:nvSpPr>
          <p:cNvPr id="30" name="Shape 28"/>
          <p:cNvSpPr/>
          <p:nvPr/>
        </p:nvSpPr>
        <p:spPr>
          <a:xfrm>
            <a:off x="7315200" y="3968496"/>
            <a:ext cx="1627632" cy="1024128"/>
          </a:xfrm>
          <a:prstGeom prst="roundRect">
            <a:avLst>
              <a:gd name="adj" fmla="val 6250"/>
            </a:avLst>
          </a:prstGeom>
          <a:solidFill>
            <a:srgbClr val="0C1428"/>
          </a:solidFill>
          <a:ln w="7620">
            <a:solidFill>
              <a:srgbClr val="14B8C8"/>
            </a:solidFill>
            <a:prstDash val="solid"/>
          </a:ln>
        </p:spPr>
      </p:sp>
      <p:sp>
        <p:nvSpPr>
          <p:cNvPr id="31" name="Text 29"/>
          <p:cNvSpPr/>
          <p:nvPr/>
        </p:nvSpPr>
        <p:spPr>
          <a:xfrm>
            <a:off x="7315200" y="4023360"/>
            <a:ext cx="1627632" cy="292608"/>
          </a:xfrm>
          <a:prstGeom prst="rect">
            <a:avLst/>
          </a:prstGeom>
          <a:noFill/>
          <a:ln/>
        </p:spPr>
        <p:txBody>
          <a:bodyPr wrap="square" lIns="0" tIns="0" rIns="0" bIns="0" rtlCol="0" anchor="ctr"/>
          <a:lstStyle/>
          <a:p>
            <a:pPr algn="ctr" indent="0" marL="0">
              <a:buNone/>
            </a:pPr>
            <a:r>
              <a:rPr lang="en-US" sz="950" b="1" dirty="0">
                <a:solidFill>
                  <a:srgbClr val="14B8C8"/>
                </a:solidFill>
                <a:latin typeface="Calibri" pitchFamily="34" charset="0"/>
                <a:ea typeface="Calibri" pitchFamily="34" charset="-122"/>
                <a:cs typeface="Calibri" pitchFamily="34" charset="-120"/>
              </a:rPr>
              <a:t>Odds Ratio</a:t>
            </a:r>
            <a:endParaRPr lang="en-US" sz="950" dirty="0"/>
          </a:p>
        </p:txBody>
      </p:sp>
      <p:sp>
        <p:nvSpPr>
          <p:cNvPr id="32" name="Text 30"/>
          <p:cNvSpPr/>
          <p:nvPr/>
        </p:nvSpPr>
        <p:spPr>
          <a:xfrm>
            <a:off x="7315200" y="4334256"/>
            <a:ext cx="1627632" cy="512064"/>
          </a:xfrm>
          <a:prstGeom prst="rect">
            <a:avLst/>
          </a:prstGeom>
          <a:noFill/>
          <a:ln/>
        </p:spPr>
        <p:txBody>
          <a:bodyPr wrap="square" lIns="0" tIns="0" rIns="0" bIns="0" rtlCol="0" anchor="ctr"/>
          <a:lstStyle/>
          <a:p>
            <a:pPr algn="ctr" indent="0" marL="0">
              <a:buNone/>
            </a:pPr>
            <a:r>
              <a:rPr lang="en-US" sz="1000" dirty="0">
                <a:solidFill>
                  <a:srgbClr val="F0C840"/>
                </a:solidFill>
                <a:latin typeface="Courier New" pitchFamily="34" charset="0"/>
                <a:ea typeface="Courier New" pitchFamily="34" charset="-122"/>
                <a:cs typeface="Courier New" pitchFamily="34" charset="-120"/>
              </a:rPr>
              <a:t>OR = exp(bⱼ)</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2926080" cy="5143500"/>
          </a:xfrm>
          <a:prstGeom prst="rect">
            <a:avLst/>
          </a:prstGeom>
          <a:solidFill>
            <a:srgbClr val="070C18"/>
          </a:solidFill>
          <a:ln w="12700">
            <a:solidFill>
              <a:srgbClr val="070C18"/>
            </a:solidFill>
            <a:prstDash val="solid"/>
          </a:ln>
        </p:spPr>
      </p:sp>
      <p:sp>
        <p:nvSpPr>
          <p:cNvPr id="3" name="Text 1"/>
          <p:cNvSpPr/>
          <p:nvPr/>
        </p:nvSpPr>
        <p:spPr>
          <a:xfrm>
            <a:off x="137160" y="914400"/>
            <a:ext cx="2633472" cy="13716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COMPLETE</a:t>
            </a:r>
            <a:endParaRPr lang="en-US" sz="2400" dirty="0"/>
          </a:p>
          <a:p>
            <a:pPr algn="ctr" indent="0" marL="0">
              <a:buNone/>
            </a:pPr>
            <a:r>
              <a:rPr lang="en-US" sz="2400" b="1" dirty="0">
                <a:solidFill>
                  <a:srgbClr val="FFFFFF"/>
                </a:solidFill>
                <a:latin typeface="Cambria" pitchFamily="34" charset="0"/>
                <a:ea typeface="Cambria" pitchFamily="34" charset="-122"/>
                <a:cs typeface="Cambria" pitchFamily="34" charset="-120"/>
              </a:rPr>
              <a:t>AGENDA</a:t>
            </a:r>
            <a:endParaRPr lang="en-US" sz="2400" dirty="0"/>
          </a:p>
        </p:txBody>
      </p:sp>
      <p:sp>
        <p:nvSpPr>
          <p:cNvPr id="4" name="Shape 2"/>
          <p:cNvSpPr/>
          <p:nvPr/>
        </p:nvSpPr>
        <p:spPr>
          <a:xfrm>
            <a:off x="365760" y="2423160"/>
            <a:ext cx="2194560" cy="45720"/>
          </a:xfrm>
          <a:prstGeom prst="rect">
            <a:avLst/>
          </a:prstGeom>
          <a:solidFill>
            <a:srgbClr val="D4A010"/>
          </a:solidFill>
          <a:ln w="12700">
            <a:solidFill>
              <a:srgbClr val="D4A010"/>
            </a:solidFill>
            <a:prstDash val="solid"/>
          </a:ln>
        </p:spPr>
      </p:sp>
      <p:sp>
        <p:nvSpPr>
          <p:cNvPr id="5" name="Text 3"/>
          <p:cNvSpPr/>
          <p:nvPr/>
        </p:nvSpPr>
        <p:spPr>
          <a:xfrm>
            <a:off x="137160" y="2542032"/>
            <a:ext cx="2633472" cy="329184"/>
          </a:xfrm>
          <a:prstGeom prst="rect">
            <a:avLst/>
          </a:prstGeom>
          <a:noFill/>
          <a:ln/>
        </p:spPr>
        <p:txBody>
          <a:bodyPr wrap="square" lIns="0" tIns="0" rIns="0" bIns="0" rtlCol="0" anchor="ctr"/>
          <a:lstStyle/>
          <a:p>
            <a:pPr algn="ctr" indent="0" marL="0">
              <a:buNone/>
            </a:pPr>
            <a:r>
              <a:rPr lang="en-US" sz="1200" dirty="0">
                <a:solidFill>
                  <a:srgbClr val="F0C840"/>
                </a:solidFill>
                <a:latin typeface="Calibri" pitchFamily="34" charset="0"/>
                <a:ea typeface="Calibri" pitchFamily="34" charset="-122"/>
                <a:cs typeface="Calibri" pitchFamily="34" charset="-120"/>
              </a:rPr>
              <a:t>28 Core Topics</a:t>
            </a:r>
            <a:endParaRPr lang="en-US" sz="1200" dirty="0"/>
          </a:p>
        </p:txBody>
      </p:sp>
      <p:sp>
        <p:nvSpPr>
          <p:cNvPr id="6" name="Shape 4"/>
          <p:cNvSpPr/>
          <p:nvPr/>
        </p:nvSpPr>
        <p:spPr>
          <a:xfrm>
            <a:off x="3063240" y="91440"/>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136392" y="128016"/>
            <a:ext cx="237744" cy="219456"/>
          </a:xfrm>
          <a:prstGeom prst="roundRect">
            <a:avLst>
              <a:gd name="adj" fmla="val 12500"/>
            </a:avLst>
          </a:prstGeom>
          <a:solidFill>
            <a:srgbClr val="070C18"/>
          </a:solidFill>
          <a:ln w="12700">
            <a:solidFill>
              <a:srgbClr val="070C18"/>
            </a:solidFill>
            <a:prstDash val="solid"/>
          </a:ln>
        </p:spPr>
      </p:sp>
      <p:sp>
        <p:nvSpPr>
          <p:cNvPr id="8" name="Text 6"/>
          <p:cNvSpPr/>
          <p:nvPr/>
        </p:nvSpPr>
        <p:spPr>
          <a:xfrm>
            <a:off x="3136392" y="128016"/>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01</a:t>
            </a:r>
            <a:endParaRPr lang="en-US" sz="650" dirty="0"/>
          </a:p>
        </p:txBody>
      </p:sp>
      <p:sp>
        <p:nvSpPr>
          <p:cNvPr id="9" name="Text 7"/>
          <p:cNvSpPr/>
          <p:nvPr/>
        </p:nvSpPr>
        <p:spPr>
          <a:xfrm>
            <a:off x="3429000" y="109728"/>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The Regression Family</a:t>
            </a:r>
            <a:endParaRPr lang="en-US" sz="850" dirty="0"/>
          </a:p>
        </p:txBody>
      </p:sp>
      <p:sp>
        <p:nvSpPr>
          <p:cNvPr id="10" name="Text 8"/>
          <p:cNvSpPr/>
          <p:nvPr/>
        </p:nvSpPr>
        <p:spPr>
          <a:xfrm>
            <a:off x="3429000" y="274320"/>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15 types, decision map</a:t>
            </a:r>
            <a:endParaRPr lang="en-US" sz="700" dirty="0"/>
          </a:p>
        </p:txBody>
      </p:sp>
      <p:sp>
        <p:nvSpPr>
          <p:cNvPr id="11" name="Shape 9"/>
          <p:cNvSpPr/>
          <p:nvPr/>
        </p:nvSpPr>
        <p:spPr>
          <a:xfrm>
            <a:off x="3063240" y="438912"/>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3136392" y="475488"/>
            <a:ext cx="237744" cy="219456"/>
          </a:xfrm>
          <a:prstGeom prst="roundRect">
            <a:avLst>
              <a:gd name="adj" fmla="val 12500"/>
            </a:avLst>
          </a:prstGeom>
          <a:solidFill>
            <a:srgbClr val="070C18"/>
          </a:solidFill>
          <a:ln w="12700">
            <a:solidFill>
              <a:srgbClr val="070C18"/>
            </a:solidFill>
            <a:prstDash val="solid"/>
          </a:ln>
        </p:spPr>
      </p:sp>
      <p:sp>
        <p:nvSpPr>
          <p:cNvPr id="13" name="Text 11"/>
          <p:cNvSpPr/>
          <p:nvPr/>
        </p:nvSpPr>
        <p:spPr>
          <a:xfrm>
            <a:off x="3136392" y="475488"/>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02</a:t>
            </a:r>
            <a:endParaRPr lang="en-US" sz="650" dirty="0"/>
          </a:p>
        </p:txBody>
      </p:sp>
      <p:sp>
        <p:nvSpPr>
          <p:cNvPr id="14" name="Text 12"/>
          <p:cNvSpPr/>
          <p:nvPr/>
        </p:nvSpPr>
        <p:spPr>
          <a:xfrm>
            <a:off x="3429000" y="457200"/>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Simple Linear Regression</a:t>
            </a:r>
            <a:endParaRPr lang="en-US" sz="850" dirty="0"/>
          </a:p>
        </p:txBody>
      </p:sp>
      <p:sp>
        <p:nvSpPr>
          <p:cNvPr id="15" name="Text 13"/>
          <p:cNvSpPr/>
          <p:nvPr/>
        </p:nvSpPr>
        <p:spPr>
          <a:xfrm>
            <a:off x="3429000" y="621792"/>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OLS, estimation, R², t-test</a:t>
            </a:r>
            <a:endParaRPr lang="en-US" sz="700" dirty="0"/>
          </a:p>
        </p:txBody>
      </p:sp>
      <p:sp>
        <p:nvSpPr>
          <p:cNvPr id="16" name="Shape 14"/>
          <p:cNvSpPr/>
          <p:nvPr/>
        </p:nvSpPr>
        <p:spPr>
          <a:xfrm>
            <a:off x="3063240" y="786384"/>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7" name="Shape 15"/>
          <p:cNvSpPr/>
          <p:nvPr/>
        </p:nvSpPr>
        <p:spPr>
          <a:xfrm>
            <a:off x="3136392" y="822960"/>
            <a:ext cx="237744" cy="219456"/>
          </a:xfrm>
          <a:prstGeom prst="roundRect">
            <a:avLst>
              <a:gd name="adj" fmla="val 12500"/>
            </a:avLst>
          </a:prstGeom>
          <a:solidFill>
            <a:srgbClr val="070C18"/>
          </a:solidFill>
          <a:ln w="12700">
            <a:solidFill>
              <a:srgbClr val="070C18"/>
            </a:solidFill>
            <a:prstDash val="solid"/>
          </a:ln>
        </p:spPr>
      </p:sp>
      <p:sp>
        <p:nvSpPr>
          <p:cNvPr id="18" name="Text 16"/>
          <p:cNvSpPr/>
          <p:nvPr/>
        </p:nvSpPr>
        <p:spPr>
          <a:xfrm>
            <a:off x="3136392" y="822960"/>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03</a:t>
            </a:r>
            <a:endParaRPr lang="en-US" sz="650" dirty="0"/>
          </a:p>
        </p:txBody>
      </p:sp>
      <p:sp>
        <p:nvSpPr>
          <p:cNvPr id="19" name="Text 17"/>
          <p:cNvSpPr/>
          <p:nvPr/>
        </p:nvSpPr>
        <p:spPr>
          <a:xfrm>
            <a:off x="3429000" y="804672"/>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SLR Interpretation</a:t>
            </a:r>
            <a:endParaRPr lang="en-US" sz="850" dirty="0"/>
          </a:p>
        </p:txBody>
      </p:sp>
      <p:sp>
        <p:nvSpPr>
          <p:cNvPr id="20" name="Text 18"/>
          <p:cNvSpPr/>
          <p:nvPr/>
        </p:nvSpPr>
        <p:spPr>
          <a:xfrm>
            <a:off x="3429000" y="969264"/>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Slope, intercept, CI, PI</a:t>
            </a:r>
            <a:endParaRPr lang="en-US" sz="700" dirty="0"/>
          </a:p>
        </p:txBody>
      </p:sp>
      <p:sp>
        <p:nvSpPr>
          <p:cNvPr id="21" name="Shape 19"/>
          <p:cNvSpPr/>
          <p:nvPr/>
        </p:nvSpPr>
        <p:spPr>
          <a:xfrm>
            <a:off x="3063240" y="1133856"/>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22" name="Shape 20"/>
          <p:cNvSpPr/>
          <p:nvPr/>
        </p:nvSpPr>
        <p:spPr>
          <a:xfrm>
            <a:off x="3136392" y="1170432"/>
            <a:ext cx="237744" cy="219456"/>
          </a:xfrm>
          <a:prstGeom prst="roundRect">
            <a:avLst>
              <a:gd name="adj" fmla="val 12500"/>
            </a:avLst>
          </a:prstGeom>
          <a:solidFill>
            <a:srgbClr val="070C18"/>
          </a:solidFill>
          <a:ln w="12700">
            <a:solidFill>
              <a:srgbClr val="070C18"/>
            </a:solidFill>
            <a:prstDash val="solid"/>
          </a:ln>
        </p:spPr>
      </p:sp>
      <p:sp>
        <p:nvSpPr>
          <p:cNvPr id="23" name="Text 21"/>
          <p:cNvSpPr/>
          <p:nvPr/>
        </p:nvSpPr>
        <p:spPr>
          <a:xfrm>
            <a:off x="3136392" y="1170432"/>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04</a:t>
            </a:r>
            <a:endParaRPr lang="en-US" sz="650" dirty="0"/>
          </a:p>
        </p:txBody>
      </p:sp>
      <p:sp>
        <p:nvSpPr>
          <p:cNvPr id="24" name="Text 22"/>
          <p:cNvSpPr/>
          <p:nvPr/>
        </p:nvSpPr>
        <p:spPr>
          <a:xfrm>
            <a:off x="3429000" y="1152144"/>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Multiple Linear Regression</a:t>
            </a:r>
            <a:endParaRPr lang="en-US" sz="850" dirty="0"/>
          </a:p>
        </p:txBody>
      </p:sp>
      <p:sp>
        <p:nvSpPr>
          <p:cNvPr id="25" name="Text 23"/>
          <p:cNvSpPr/>
          <p:nvPr/>
        </p:nvSpPr>
        <p:spPr>
          <a:xfrm>
            <a:off x="3429000" y="1316736"/>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Ceteris paribus, MLR model</a:t>
            </a:r>
            <a:endParaRPr lang="en-US" sz="700" dirty="0"/>
          </a:p>
        </p:txBody>
      </p:sp>
      <p:sp>
        <p:nvSpPr>
          <p:cNvPr id="26" name="Shape 24"/>
          <p:cNvSpPr/>
          <p:nvPr/>
        </p:nvSpPr>
        <p:spPr>
          <a:xfrm>
            <a:off x="3063240" y="1481328"/>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27" name="Shape 25"/>
          <p:cNvSpPr/>
          <p:nvPr/>
        </p:nvSpPr>
        <p:spPr>
          <a:xfrm>
            <a:off x="3136392" y="1517904"/>
            <a:ext cx="237744" cy="219456"/>
          </a:xfrm>
          <a:prstGeom prst="roundRect">
            <a:avLst>
              <a:gd name="adj" fmla="val 12500"/>
            </a:avLst>
          </a:prstGeom>
          <a:solidFill>
            <a:srgbClr val="070C18"/>
          </a:solidFill>
          <a:ln w="12700">
            <a:solidFill>
              <a:srgbClr val="070C18"/>
            </a:solidFill>
            <a:prstDash val="solid"/>
          </a:ln>
        </p:spPr>
      </p:sp>
      <p:sp>
        <p:nvSpPr>
          <p:cNvPr id="28" name="Text 26"/>
          <p:cNvSpPr/>
          <p:nvPr/>
        </p:nvSpPr>
        <p:spPr>
          <a:xfrm>
            <a:off x="3136392" y="1517904"/>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05</a:t>
            </a:r>
            <a:endParaRPr lang="en-US" sz="650" dirty="0"/>
          </a:p>
        </p:txBody>
      </p:sp>
      <p:sp>
        <p:nvSpPr>
          <p:cNvPr id="29" name="Text 27"/>
          <p:cNvSpPr/>
          <p:nvPr/>
        </p:nvSpPr>
        <p:spPr>
          <a:xfrm>
            <a:off x="3429000" y="1499616"/>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MLR Coefficients</a:t>
            </a:r>
            <a:endParaRPr lang="en-US" sz="850" dirty="0"/>
          </a:p>
        </p:txBody>
      </p:sp>
      <p:sp>
        <p:nvSpPr>
          <p:cNvPr id="30" name="Text 28"/>
          <p:cNvSpPr/>
          <p:nvPr/>
        </p:nvSpPr>
        <p:spPr>
          <a:xfrm>
            <a:off x="3429000" y="1664208"/>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Full interpretation, dummy vars</a:t>
            </a:r>
            <a:endParaRPr lang="en-US" sz="700" dirty="0"/>
          </a:p>
        </p:txBody>
      </p:sp>
      <p:sp>
        <p:nvSpPr>
          <p:cNvPr id="31" name="Shape 29"/>
          <p:cNvSpPr/>
          <p:nvPr/>
        </p:nvSpPr>
        <p:spPr>
          <a:xfrm>
            <a:off x="3063240" y="1828800"/>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32" name="Shape 30"/>
          <p:cNvSpPr/>
          <p:nvPr/>
        </p:nvSpPr>
        <p:spPr>
          <a:xfrm>
            <a:off x="3136392" y="1865376"/>
            <a:ext cx="237744" cy="219456"/>
          </a:xfrm>
          <a:prstGeom prst="roundRect">
            <a:avLst>
              <a:gd name="adj" fmla="val 12500"/>
            </a:avLst>
          </a:prstGeom>
          <a:solidFill>
            <a:srgbClr val="070C18"/>
          </a:solidFill>
          <a:ln w="12700">
            <a:solidFill>
              <a:srgbClr val="070C18"/>
            </a:solidFill>
            <a:prstDash val="solid"/>
          </a:ln>
        </p:spPr>
      </p:sp>
      <p:sp>
        <p:nvSpPr>
          <p:cNvPr id="33" name="Text 31"/>
          <p:cNvSpPr/>
          <p:nvPr/>
        </p:nvSpPr>
        <p:spPr>
          <a:xfrm>
            <a:off x="3136392" y="1865376"/>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06</a:t>
            </a:r>
            <a:endParaRPr lang="en-US" sz="650" dirty="0"/>
          </a:p>
        </p:txBody>
      </p:sp>
      <p:sp>
        <p:nvSpPr>
          <p:cNvPr id="34" name="Text 32"/>
          <p:cNvSpPr/>
          <p:nvPr/>
        </p:nvSpPr>
        <p:spPr>
          <a:xfrm>
            <a:off x="3429000" y="1847088"/>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MLR Model Fit</a:t>
            </a:r>
            <a:endParaRPr lang="en-US" sz="850" dirty="0"/>
          </a:p>
        </p:txBody>
      </p:sp>
      <p:sp>
        <p:nvSpPr>
          <p:cNvPr id="35" name="Text 33"/>
          <p:cNvSpPr/>
          <p:nvPr/>
        </p:nvSpPr>
        <p:spPr>
          <a:xfrm>
            <a:off x="3429000" y="2011680"/>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R², Adj.R², F-test, RMSE</a:t>
            </a:r>
            <a:endParaRPr lang="en-US" sz="700" dirty="0"/>
          </a:p>
        </p:txBody>
      </p:sp>
      <p:sp>
        <p:nvSpPr>
          <p:cNvPr id="36" name="Shape 34"/>
          <p:cNvSpPr/>
          <p:nvPr/>
        </p:nvSpPr>
        <p:spPr>
          <a:xfrm>
            <a:off x="3063240" y="2176272"/>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37" name="Shape 35"/>
          <p:cNvSpPr/>
          <p:nvPr/>
        </p:nvSpPr>
        <p:spPr>
          <a:xfrm>
            <a:off x="3136392" y="2212848"/>
            <a:ext cx="237744" cy="219456"/>
          </a:xfrm>
          <a:prstGeom prst="roundRect">
            <a:avLst>
              <a:gd name="adj" fmla="val 12500"/>
            </a:avLst>
          </a:prstGeom>
          <a:solidFill>
            <a:srgbClr val="070C18"/>
          </a:solidFill>
          <a:ln w="12700">
            <a:solidFill>
              <a:srgbClr val="070C18"/>
            </a:solidFill>
            <a:prstDash val="solid"/>
          </a:ln>
        </p:spPr>
      </p:sp>
      <p:sp>
        <p:nvSpPr>
          <p:cNvPr id="38" name="Text 36"/>
          <p:cNvSpPr/>
          <p:nvPr/>
        </p:nvSpPr>
        <p:spPr>
          <a:xfrm>
            <a:off x="3136392" y="2212848"/>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07</a:t>
            </a:r>
            <a:endParaRPr lang="en-US" sz="650" dirty="0"/>
          </a:p>
        </p:txBody>
      </p:sp>
      <p:sp>
        <p:nvSpPr>
          <p:cNvPr id="39" name="Text 37"/>
          <p:cNvSpPr/>
          <p:nvPr/>
        </p:nvSpPr>
        <p:spPr>
          <a:xfrm>
            <a:off x="3429000" y="2194560"/>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Assumption 1-3</a:t>
            </a:r>
            <a:endParaRPr lang="en-US" sz="850" dirty="0"/>
          </a:p>
        </p:txBody>
      </p:sp>
      <p:sp>
        <p:nvSpPr>
          <p:cNvPr id="40" name="Text 38"/>
          <p:cNvSpPr/>
          <p:nvPr/>
        </p:nvSpPr>
        <p:spPr>
          <a:xfrm>
            <a:off x="3429000" y="2359152"/>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Linearity, independence, homoscedasticity</a:t>
            </a:r>
            <a:endParaRPr lang="en-US" sz="700" dirty="0"/>
          </a:p>
        </p:txBody>
      </p:sp>
      <p:sp>
        <p:nvSpPr>
          <p:cNvPr id="41" name="Shape 39"/>
          <p:cNvSpPr/>
          <p:nvPr/>
        </p:nvSpPr>
        <p:spPr>
          <a:xfrm>
            <a:off x="3063240" y="2523744"/>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42" name="Shape 40"/>
          <p:cNvSpPr/>
          <p:nvPr/>
        </p:nvSpPr>
        <p:spPr>
          <a:xfrm>
            <a:off x="3136392" y="2560320"/>
            <a:ext cx="237744" cy="219456"/>
          </a:xfrm>
          <a:prstGeom prst="roundRect">
            <a:avLst>
              <a:gd name="adj" fmla="val 12500"/>
            </a:avLst>
          </a:prstGeom>
          <a:solidFill>
            <a:srgbClr val="070C18"/>
          </a:solidFill>
          <a:ln w="12700">
            <a:solidFill>
              <a:srgbClr val="070C18"/>
            </a:solidFill>
            <a:prstDash val="solid"/>
          </a:ln>
        </p:spPr>
      </p:sp>
      <p:sp>
        <p:nvSpPr>
          <p:cNvPr id="43" name="Text 41"/>
          <p:cNvSpPr/>
          <p:nvPr/>
        </p:nvSpPr>
        <p:spPr>
          <a:xfrm>
            <a:off x="3136392" y="2560320"/>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08</a:t>
            </a:r>
            <a:endParaRPr lang="en-US" sz="650" dirty="0"/>
          </a:p>
        </p:txBody>
      </p:sp>
      <p:sp>
        <p:nvSpPr>
          <p:cNvPr id="44" name="Text 42"/>
          <p:cNvSpPr/>
          <p:nvPr/>
        </p:nvSpPr>
        <p:spPr>
          <a:xfrm>
            <a:off x="3429000" y="2542032"/>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Assumption 4-6</a:t>
            </a:r>
            <a:endParaRPr lang="en-US" sz="850" dirty="0"/>
          </a:p>
        </p:txBody>
      </p:sp>
      <p:sp>
        <p:nvSpPr>
          <p:cNvPr id="45" name="Text 43"/>
          <p:cNvSpPr/>
          <p:nvPr/>
        </p:nvSpPr>
        <p:spPr>
          <a:xfrm>
            <a:off x="3429000" y="2706624"/>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Normality, VIF, influential outliers</a:t>
            </a:r>
            <a:endParaRPr lang="en-US" sz="700" dirty="0"/>
          </a:p>
        </p:txBody>
      </p:sp>
      <p:sp>
        <p:nvSpPr>
          <p:cNvPr id="46" name="Shape 44"/>
          <p:cNvSpPr/>
          <p:nvPr/>
        </p:nvSpPr>
        <p:spPr>
          <a:xfrm>
            <a:off x="3063240" y="2871216"/>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47" name="Shape 45"/>
          <p:cNvSpPr/>
          <p:nvPr/>
        </p:nvSpPr>
        <p:spPr>
          <a:xfrm>
            <a:off x="3136392" y="2907792"/>
            <a:ext cx="237744" cy="219456"/>
          </a:xfrm>
          <a:prstGeom prst="roundRect">
            <a:avLst>
              <a:gd name="adj" fmla="val 12500"/>
            </a:avLst>
          </a:prstGeom>
          <a:solidFill>
            <a:srgbClr val="070C18"/>
          </a:solidFill>
          <a:ln w="12700">
            <a:solidFill>
              <a:srgbClr val="070C18"/>
            </a:solidFill>
            <a:prstDash val="solid"/>
          </a:ln>
        </p:spPr>
      </p:sp>
      <p:sp>
        <p:nvSpPr>
          <p:cNvPr id="48" name="Text 46"/>
          <p:cNvSpPr/>
          <p:nvPr/>
        </p:nvSpPr>
        <p:spPr>
          <a:xfrm>
            <a:off x="3136392" y="2907792"/>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09</a:t>
            </a:r>
            <a:endParaRPr lang="en-US" sz="650" dirty="0"/>
          </a:p>
        </p:txBody>
      </p:sp>
      <p:sp>
        <p:nvSpPr>
          <p:cNvPr id="49" name="Text 47"/>
          <p:cNvSpPr/>
          <p:nvPr/>
        </p:nvSpPr>
        <p:spPr>
          <a:xfrm>
            <a:off x="3429000" y="2889504"/>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Residual Plots</a:t>
            </a:r>
            <a:endParaRPr lang="en-US" sz="850" dirty="0"/>
          </a:p>
        </p:txBody>
      </p:sp>
      <p:sp>
        <p:nvSpPr>
          <p:cNvPr id="50" name="Text 48"/>
          <p:cNvSpPr/>
          <p:nvPr/>
        </p:nvSpPr>
        <p:spPr>
          <a:xfrm>
            <a:off x="3429000" y="3054096"/>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4 diagnostic plots guide</a:t>
            </a:r>
            <a:endParaRPr lang="en-US" sz="700" dirty="0"/>
          </a:p>
        </p:txBody>
      </p:sp>
      <p:sp>
        <p:nvSpPr>
          <p:cNvPr id="51" name="Shape 49"/>
          <p:cNvSpPr/>
          <p:nvPr/>
        </p:nvSpPr>
        <p:spPr>
          <a:xfrm>
            <a:off x="3063240" y="3218688"/>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52" name="Shape 50"/>
          <p:cNvSpPr/>
          <p:nvPr/>
        </p:nvSpPr>
        <p:spPr>
          <a:xfrm>
            <a:off x="3136392" y="3255264"/>
            <a:ext cx="237744" cy="219456"/>
          </a:xfrm>
          <a:prstGeom prst="roundRect">
            <a:avLst>
              <a:gd name="adj" fmla="val 12500"/>
            </a:avLst>
          </a:prstGeom>
          <a:solidFill>
            <a:srgbClr val="070C18"/>
          </a:solidFill>
          <a:ln w="12700">
            <a:solidFill>
              <a:srgbClr val="070C18"/>
            </a:solidFill>
            <a:prstDash val="solid"/>
          </a:ln>
        </p:spPr>
      </p:sp>
      <p:sp>
        <p:nvSpPr>
          <p:cNvPr id="53" name="Text 51"/>
          <p:cNvSpPr/>
          <p:nvPr/>
        </p:nvSpPr>
        <p:spPr>
          <a:xfrm>
            <a:off x="3136392" y="3255264"/>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10</a:t>
            </a:r>
            <a:endParaRPr lang="en-US" sz="650" dirty="0"/>
          </a:p>
        </p:txBody>
      </p:sp>
      <p:sp>
        <p:nvSpPr>
          <p:cNvPr id="54" name="Text 52"/>
          <p:cNvSpPr/>
          <p:nvPr/>
        </p:nvSpPr>
        <p:spPr>
          <a:xfrm>
            <a:off x="3429000" y="3236976"/>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SPSS Procedure</a:t>
            </a:r>
            <a:endParaRPr lang="en-US" sz="850" dirty="0"/>
          </a:p>
        </p:txBody>
      </p:sp>
      <p:sp>
        <p:nvSpPr>
          <p:cNvPr id="55" name="Text 53"/>
          <p:cNvSpPr/>
          <p:nvPr/>
        </p:nvSpPr>
        <p:spPr>
          <a:xfrm>
            <a:off x="3429000" y="3401568"/>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Step-by-step, output tables</a:t>
            </a:r>
            <a:endParaRPr lang="en-US" sz="700" dirty="0"/>
          </a:p>
        </p:txBody>
      </p:sp>
      <p:sp>
        <p:nvSpPr>
          <p:cNvPr id="56" name="Shape 54"/>
          <p:cNvSpPr/>
          <p:nvPr/>
        </p:nvSpPr>
        <p:spPr>
          <a:xfrm>
            <a:off x="3063240" y="3566160"/>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57" name="Shape 55"/>
          <p:cNvSpPr/>
          <p:nvPr/>
        </p:nvSpPr>
        <p:spPr>
          <a:xfrm>
            <a:off x="3136392" y="3602736"/>
            <a:ext cx="237744" cy="219456"/>
          </a:xfrm>
          <a:prstGeom prst="roundRect">
            <a:avLst>
              <a:gd name="adj" fmla="val 12500"/>
            </a:avLst>
          </a:prstGeom>
          <a:solidFill>
            <a:srgbClr val="070C18"/>
          </a:solidFill>
          <a:ln w="12700">
            <a:solidFill>
              <a:srgbClr val="070C18"/>
            </a:solidFill>
            <a:prstDash val="solid"/>
          </a:ln>
        </p:spPr>
      </p:sp>
      <p:sp>
        <p:nvSpPr>
          <p:cNvPr id="58" name="Text 56"/>
          <p:cNvSpPr/>
          <p:nvPr/>
        </p:nvSpPr>
        <p:spPr>
          <a:xfrm>
            <a:off x="3136392" y="3602736"/>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11</a:t>
            </a:r>
            <a:endParaRPr lang="en-US" sz="650" dirty="0"/>
          </a:p>
        </p:txBody>
      </p:sp>
      <p:sp>
        <p:nvSpPr>
          <p:cNvPr id="59" name="Text 57"/>
          <p:cNvSpPr/>
          <p:nvPr/>
        </p:nvSpPr>
        <p:spPr>
          <a:xfrm>
            <a:off x="3429000" y="3584448"/>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Variable Selection</a:t>
            </a:r>
            <a:endParaRPr lang="en-US" sz="850" dirty="0"/>
          </a:p>
        </p:txBody>
      </p:sp>
      <p:sp>
        <p:nvSpPr>
          <p:cNvPr id="60" name="Text 58"/>
          <p:cNvSpPr/>
          <p:nvPr/>
        </p:nvSpPr>
        <p:spPr>
          <a:xfrm>
            <a:off x="3429000" y="3749040"/>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AIC/BIC, stepwise, hierarchical</a:t>
            </a:r>
            <a:endParaRPr lang="en-US" sz="700" dirty="0"/>
          </a:p>
        </p:txBody>
      </p:sp>
      <p:sp>
        <p:nvSpPr>
          <p:cNvPr id="61" name="Shape 59"/>
          <p:cNvSpPr/>
          <p:nvPr/>
        </p:nvSpPr>
        <p:spPr>
          <a:xfrm>
            <a:off x="3063240" y="3913632"/>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62" name="Shape 60"/>
          <p:cNvSpPr/>
          <p:nvPr/>
        </p:nvSpPr>
        <p:spPr>
          <a:xfrm>
            <a:off x="3136392" y="3950208"/>
            <a:ext cx="237744" cy="219456"/>
          </a:xfrm>
          <a:prstGeom prst="roundRect">
            <a:avLst>
              <a:gd name="adj" fmla="val 12500"/>
            </a:avLst>
          </a:prstGeom>
          <a:solidFill>
            <a:srgbClr val="070C18"/>
          </a:solidFill>
          <a:ln w="12700">
            <a:solidFill>
              <a:srgbClr val="070C18"/>
            </a:solidFill>
            <a:prstDash val="solid"/>
          </a:ln>
        </p:spPr>
      </p:sp>
      <p:sp>
        <p:nvSpPr>
          <p:cNvPr id="63" name="Text 61"/>
          <p:cNvSpPr/>
          <p:nvPr/>
        </p:nvSpPr>
        <p:spPr>
          <a:xfrm>
            <a:off x="3136392" y="3950208"/>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12</a:t>
            </a:r>
            <a:endParaRPr lang="en-US" sz="650" dirty="0"/>
          </a:p>
        </p:txBody>
      </p:sp>
      <p:sp>
        <p:nvSpPr>
          <p:cNvPr id="64" name="Text 62"/>
          <p:cNvSpPr/>
          <p:nvPr/>
        </p:nvSpPr>
        <p:spPr>
          <a:xfrm>
            <a:off x="3429000" y="3931920"/>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Interaction/Moderation</a:t>
            </a:r>
            <a:endParaRPr lang="en-US" sz="850" dirty="0"/>
          </a:p>
        </p:txBody>
      </p:sp>
      <p:sp>
        <p:nvSpPr>
          <p:cNvPr id="65" name="Text 63"/>
          <p:cNvSpPr/>
          <p:nvPr/>
        </p:nvSpPr>
        <p:spPr>
          <a:xfrm>
            <a:off x="3429000" y="4096512"/>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Product terms, simple slopes</a:t>
            </a:r>
            <a:endParaRPr lang="en-US" sz="700" dirty="0"/>
          </a:p>
        </p:txBody>
      </p:sp>
      <p:sp>
        <p:nvSpPr>
          <p:cNvPr id="66" name="Shape 64"/>
          <p:cNvSpPr/>
          <p:nvPr/>
        </p:nvSpPr>
        <p:spPr>
          <a:xfrm>
            <a:off x="3063240" y="4261104"/>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67" name="Shape 65"/>
          <p:cNvSpPr/>
          <p:nvPr/>
        </p:nvSpPr>
        <p:spPr>
          <a:xfrm>
            <a:off x="3136392" y="4297680"/>
            <a:ext cx="237744" cy="219456"/>
          </a:xfrm>
          <a:prstGeom prst="roundRect">
            <a:avLst>
              <a:gd name="adj" fmla="val 12500"/>
            </a:avLst>
          </a:prstGeom>
          <a:solidFill>
            <a:srgbClr val="070C18"/>
          </a:solidFill>
          <a:ln w="12700">
            <a:solidFill>
              <a:srgbClr val="070C18"/>
            </a:solidFill>
            <a:prstDash val="solid"/>
          </a:ln>
        </p:spPr>
      </p:sp>
      <p:sp>
        <p:nvSpPr>
          <p:cNvPr id="68" name="Text 66"/>
          <p:cNvSpPr/>
          <p:nvPr/>
        </p:nvSpPr>
        <p:spPr>
          <a:xfrm>
            <a:off x="3136392" y="4297680"/>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13</a:t>
            </a:r>
            <a:endParaRPr lang="en-US" sz="650" dirty="0"/>
          </a:p>
        </p:txBody>
      </p:sp>
      <p:sp>
        <p:nvSpPr>
          <p:cNvPr id="69" name="Text 67"/>
          <p:cNvSpPr/>
          <p:nvPr/>
        </p:nvSpPr>
        <p:spPr>
          <a:xfrm>
            <a:off x="3429000" y="4279392"/>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Mediation</a:t>
            </a:r>
            <a:endParaRPr lang="en-US" sz="850" dirty="0"/>
          </a:p>
        </p:txBody>
      </p:sp>
      <p:sp>
        <p:nvSpPr>
          <p:cNvPr id="70" name="Text 68"/>
          <p:cNvSpPr/>
          <p:nvPr/>
        </p:nvSpPr>
        <p:spPr>
          <a:xfrm>
            <a:off x="3429000" y="4443984"/>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Paths a, b, c', indirect effect</a:t>
            </a:r>
            <a:endParaRPr lang="en-US" sz="700" dirty="0"/>
          </a:p>
        </p:txBody>
      </p:sp>
      <p:sp>
        <p:nvSpPr>
          <p:cNvPr id="71" name="Shape 69"/>
          <p:cNvSpPr/>
          <p:nvPr/>
        </p:nvSpPr>
        <p:spPr>
          <a:xfrm>
            <a:off x="3063240" y="4608576"/>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72" name="Shape 70"/>
          <p:cNvSpPr/>
          <p:nvPr/>
        </p:nvSpPr>
        <p:spPr>
          <a:xfrm>
            <a:off x="3136392" y="4645152"/>
            <a:ext cx="237744" cy="219456"/>
          </a:xfrm>
          <a:prstGeom prst="roundRect">
            <a:avLst>
              <a:gd name="adj" fmla="val 12500"/>
            </a:avLst>
          </a:prstGeom>
          <a:solidFill>
            <a:srgbClr val="070C18"/>
          </a:solidFill>
          <a:ln w="12700">
            <a:solidFill>
              <a:srgbClr val="070C18"/>
            </a:solidFill>
            <a:prstDash val="solid"/>
          </a:ln>
        </p:spPr>
      </p:sp>
      <p:sp>
        <p:nvSpPr>
          <p:cNvPr id="73" name="Text 71"/>
          <p:cNvSpPr/>
          <p:nvPr/>
        </p:nvSpPr>
        <p:spPr>
          <a:xfrm>
            <a:off x="3136392" y="4645152"/>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14</a:t>
            </a:r>
            <a:endParaRPr lang="en-US" sz="650" dirty="0"/>
          </a:p>
        </p:txBody>
      </p:sp>
      <p:sp>
        <p:nvSpPr>
          <p:cNvPr id="74" name="Text 72"/>
          <p:cNvSpPr/>
          <p:nvPr/>
        </p:nvSpPr>
        <p:spPr>
          <a:xfrm>
            <a:off x="3429000" y="4626864"/>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Logistic Regression</a:t>
            </a:r>
            <a:endParaRPr lang="en-US" sz="850" dirty="0"/>
          </a:p>
        </p:txBody>
      </p:sp>
      <p:sp>
        <p:nvSpPr>
          <p:cNvPr id="75" name="Text 73"/>
          <p:cNvSpPr/>
          <p:nvPr/>
        </p:nvSpPr>
        <p:spPr>
          <a:xfrm>
            <a:off x="3429000" y="4791456"/>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Binary outcomes, odds ratios</a:t>
            </a:r>
            <a:endParaRPr lang="en-US" sz="700" dirty="0"/>
          </a:p>
        </p:txBody>
      </p:sp>
      <p:sp>
        <p:nvSpPr>
          <p:cNvPr id="76" name="Shape 74"/>
          <p:cNvSpPr/>
          <p:nvPr/>
        </p:nvSpPr>
        <p:spPr>
          <a:xfrm>
            <a:off x="6080760" y="91440"/>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77" name="Shape 75"/>
          <p:cNvSpPr/>
          <p:nvPr/>
        </p:nvSpPr>
        <p:spPr>
          <a:xfrm>
            <a:off x="6153912" y="128016"/>
            <a:ext cx="237744" cy="219456"/>
          </a:xfrm>
          <a:prstGeom prst="roundRect">
            <a:avLst>
              <a:gd name="adj" fmla="val 12500"/>
            </a:avLst>
          </a:prstGeom>
          <a:solidFill>
            <a:srgbClr val="070C18"/>
          </a:solidFill>
          <a:ln w="12700">
            <a:solidFill>
              <a:srgbClr val="070C18"/>
            </a:solidFill>
            <a:prstDash val="solid"/>
          </a:ln>
        </p:spPr>
      </p:sp>
      <p:sp>
        <p:nvSpPr>
          <p:cNvPr id="78" name="Text 76"/>
          <p:cNvSpPr/>
          <p:nvPr/>
        </p:nvSpPr>
        <p:spPr>
          <a:xfrm>
            <a:off x="6153912" y="128016"/>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15</a:t>
            </a:r>
            <a:endParaRPr lang="en-US" sz="650" dirty="0"/>
          </a:p>
        </p:txBody>
      </p:sp>
      <p:sp>
        <p:nvSpPr>
          <p:cNvPr id="79" name="Text 77"/>
          <p:cNvSpPr/>
          <p:nvPr/>
        </p:nvSpPr>
        <p:spPr>
          <a:xfrm>
            <a:off x="6446520" y="109728"/>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Logistic Output</a:t>
            </a:r>
            <a:endParaRPr lang="en-US" sz="850" dirty="0"/>
          </a:p>
        </p:txBody>
      </p:sp>
      <p:sp>
        <p:nvSpPr>
          <p:cNvPr id="80" name="Text 78"/>
          <p:cNvSpPr/>
          <p:nvPr/>
        </p:nvSpPr>
        <p:spPr>
          <a:xfrm>
            <a:off x="6446520" y="274320"/>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OR, HL test, AUC, APA</a:t>
            </a:r>
            <a:endParaRPr lang="en-US" sz="700" dirty="0"/>
          </a:p>
        </p:txBody>
      </p:sp>
      <p:sp>
        <p:nvSpPr>
          <p:cNvPr id="81" name="Shape 79"/>
          <p:cNvSpPr/>
          <p:nvPr/>
        </p:nvSpPr>
        <p:spPr>
          <a:xfrm>
            <a:off x="6080760" y="438912"/>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82" name="Shape 80"/>
          <p:cNvSpPr/>
          <p:nvPr/>
        </p:nvSpPr>
        <p:spPr>
          <a:xfrm>
            <a:off x="6153912" y="475488"/>
            <a:ext cx="237744" cy="219456"/>
          </a:xfrm>
          <a:prstGeom prst="roundRect">
            <a:avLst>
              <a:gd name="adj" fmla="val 12500"/>
            </a:avLst>
          </a:prstGeom>
          <a:solidFill>
            <a:srgbClr val="070C18"/>
          </a:solidFill>
          <a:ln w="12700">
            <a:solidFill>
              <a:srgbClr val="070C18"/>
            </a:solidFill>
            <a:prstDash val="solid"/>
          </a:ln>
        </p:spPr>
      </p:sp>
      <p:sp>
        <p:nvSpPr>
          <p:cNvPr id="83" name="Text 81"/>
          <p:cNvSpPr/>
          <p:nvPr/>
        </p:nvSpPr>
        <p:spPr>
          <a:xfrm>
            <a:off x="6153912" y="475488"/>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16</a:t>
            </a:r>
            <a:endParaRPr lang="en-US" sz="650" dirty="0"/>
          </a:p>
        </p:txBody>
      </p:sp>
      <p:sp>
        <p:nvSpPr>
          <p:cNvPr id="84" name="Text 82"/>
          <p:cNvSpPr/>
          <p:nvPr/>
        </p:nvSpPr>
        <p:spPr>
          <a:xfrm>
            <a:off x="6446520" y="457200"/>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Multinomial/Ordinal</a:t>
            </a:r>
            <a:endParaRPr lang="en-US" sz="850" dirty="0"/>
          </a:p>
        </p:txBody>
      </p:sp>
      <p:sp>
        <p:nvSpPr>
          <p:cNvPr id="85" name="Text 83"/>
          <p:cNvSpPr/>
          <p:nvPr/>
        </p:nvSpPr>
        <p:spPr>
          <a:xfrm>
            <a:off x="6446520" y="621792"/>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3+ categories, parallel odds</a:t>
            </a:r>
            <a:endParaRPr lang="en-US" sz="700" dirty="0"/>
          </a:p>
        </p:txBody>
      </p:sp>
      <p:sp>
        <p:nvSpPr>
          <p:cNvPr id="86" name="Shape 84"/>
          <p:cNvSpPr/>
          <p:nvPr/>
        </p:nvSpPr>
        <p:spPr>
          <a:xfrm>
            <a:off x="6080760" y="786384"/>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87" name="Shape 85"/>
          <p:cNvSpPr/>
          <p:nvPr/>
        </p:nvSpPr>
        <p:spPr>
          <a:xfrm>
            <a:off x="6153912" y="822960"/>
            <a:ext cx="237744" cy="219456"/>
          </a:xfrm>
          <a:prstGeom prst="roundRect">
            <a:avLst>
              <a:gd name="adj" fmla="val 12500"/>
            </a:avLst>
          </a:prstGeom>
          <a:solidFill>
            <a:srgbClr val="070C18"/>
          </a:solidFill>
          <a:ln w="12700">
            <a:solidFill>
              <a:srgbClr val="070C18"/>
            </a:solidFill>
            <a:prstDash val="solid"/>
          </a:ln>
        </p:spPr>
      </p:sp>
      <p:sp>
        <p:nvSpPr>
          <p:cNvPr id="88" name="Text 86"/>
          <p:cNvSpPr/>
          <p:nvPr/>
        </p:nvSpPr>
        <p:spPr>
          <a:xfrm>
            <a:off x="6153912" y="822960"/>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17</a:t>
            </a:r>
            <a:endParaRPr lang="en-US" sz="650" dirty="0"/>
          </a:p>
        </p:txBody>
      </p:sp>
      <p:sp>
        <p:nvSpPr>
          <p:cNvPr id="89" name="Text 87"/>
          <p:cNvSpPr/>
          <p:nvPr/>
        </p:nvSpPr>
        <p:spPr>
          <a:xfrm>
            <a:off x="6446520" y="804672"/>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Ridge, Lasso, Elastic Net</a:t>
            </a:r>
            <a:endParaRPr lang="en-US" sz="850" dirty="0"/>
          </a:p>
        </p:txBody>
      </p:sp>
      <p:sp>
        <p:nvSpPr>
          <p:cNvPr id="90" name="Text 88"/>
          <p:cNvSpPr/>
          <p:nvPr/>
        </p:nvSpPr>
        <p:spPr>
          <a:xfrm>
            <a:off x="6446520" y="969264"/>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Regularised regression</a:t>
            </a:r>
            <a:endParaRPr lang="en-US" sz="700" dirty="0"/>
          </a:p>
        </p:txBody>
      </p:sp>
      <p:sp>
        <p:nvSpPr>
          <p:cNvPr id="91" name="Shape 89"/>
          <p:cNvSpPr/>
          <p:nvPr/>
        </p:nvSpPr>
        <p:spPr>
          <a:xfrm>
            <a:off x="6080760" y="1133856"/>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92" name="Shape 90"/>
          <p:cNvSpPr/>
          <p:nvPr/>
        </p:nvSpPr>
        <p:spPr>
          <a:xfrm>
            <a:off x="6153912" y="1170432"/>
            <a:ext cx="237744" cy="219456"/>
          </a:xfrm>
          <a:prstGeom prst="roundRect">
            <a:avLst>
              <a:gd name="adj" fmla="val 12500"/>
            </a:avLst>
          </a:prstGeom>
          <a:solidFill>
            <a:srgbClr val="070C18"/>
          </a:solidFill>
          <a:ln w="12700">
            <a:solidFill>
              <a:srgbClr val="070C18"/>
            </a:solidFill>
            <a:prstDash val="solid"/>
          </a:ln>
        </p:spPr>
      </p:sp>
      <p:sp>
        <p:nvSpPr>
          <p:cNvPr id="93" name="Text 91"/>
          <p:cNvSpPr/>
          <p:nvPr/>
        </p:nvSpPr>
        <p:spPr>
          <a:xfrm>
            <a:off x="6153912" y="1170432"/>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18</a:t>
            </a:r>
            <a:endParaRPr lang="en-US" sz="650" dirty="0"/>
          </a:p>
        </p:txBody>
      </p:sp>
      <p:sp>
        <p:nvSpPr>
          <p:cNvPr id="94" name="Text 92"/>
          <p:cNvSpPr/>
          <p:nvPr/>
        </p:nvSpPr>
        <p:spPr>
          <a:xfrm>
            <a:off x="6446520" y="1152144"/>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Polynomial + Splines</a:t>
            </a:r>
            <a:endParaRPr lang="en-US" sz="850" dirty="0"/>
          </a:p>
        </p:txBody>
      </p:sp>
      <p:sp>
        <p:nvSpPr>
          <p:cNvPr id="95" name="Text 93"/>
          <p:cNvSpPr/>
          <p:nvPr/>
        </p:nvSpPr>
        <p:spPr>
          <a:xfrm>
            <a:off x="6446520" y="1316736"/>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Curves, knots, GAMs</a:t>
            </a:r>
            <a:endParaRPr lang="en-US" sz="700" dirty="0"/>
          </a:p>
        </p:txBody>
      </p:sp>
      <p:sp>
        <p:nvSpPr>
          <p:cNvPr id="96" name="Shape 94"/>
          <p:cNvSpPr/>
          <p:nvPr/>
        </p:nvSpPr>
        <p:spPr>
          <a:xfrm>
            <a:off x="6080760" y="1481328"/>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97" name="Shape 95"/>
          <p:cNvSpPr/>
          <p:nvPr/>
        </p:nvSpPr>
        <p:spPr>
          <a:xfrm>
            <a:off x="6153912" y="1517904"/>
            <a:ext cx="237744" cy="219456"/>
          </a:xfrm>
          <a:prstGeom prst="roundRect">
            <a:avLst>
              <a:gd name="adj" fmla="val 12500"/>
            </a:avLst>
          </a:prstGeom>
          <a:solidFill>
            <a:srgbClr val="070C18"/>
          </a:solidFill>
          <a:ln w="12700">
            <a:solidFill>
              <a:srgbClr val="070C18"/>
            </a:solidFill>
            <a:prstDash val="solid"/>
          </a:ln>
        </p:spPr>
      </p:sp>
      <p:sp>
        <p:nvSpPr>
          <p:cNvPr id="98" name="Text 96"/>
          <p:cNvSpPr/>
          <p:nvPr/>
        </p:nvSpPr>
        <p:spPr>
          <a:xfrm>
            <a:off x="6153912" y="1517904"/>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19</a:t>
            </a:r>
            <a:endParaRPr lang="en-US" sz="650" dirty="0"/>
          </a:p>
        </p:txBody>
      </p:sp>
      <p:sp>
        <p:nvSpPr>
          <p:cNvPr id="99" name="Text 97"/>
          <p:cNvSpPr/>
          <p:nvPr/>
        </p:nvSpPr>
        <p:spPr>
          <a:xfrm>
            <a:off x="6446520" y="1499616"/>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Poisson/NB Regression</a:t>
            </a:r>
            <a:endParaRPr lang="en-US" sz="850" dirty="0"/>
          </a:p>
        </p:txBody>
      </p:sp>
      <p:sp>
        <p:nvSpPr>
          <p:cNvPr id="100" name="Text 98"/>
          <p:cNvSpPr/>
          <p:nvPr/>
        </p:nvSpPr>
        <p:spPr>
          <a:xfrm>
            <a:off x="6446520" y="1664208"/>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Count data, IRR</a:t>
            </a:r>
            <a:endParaRPr lang="en-US" sz="700" dirty="0"/>
          </a:p>
        </p:txBody>
      </p:sp>
      <p:sp>
        <p:nvSpPr>
          <p:cNvPr id="101" name="Shape 99"/>
          <p:cNvSpPr/>
          <p:nvPr/>
        </p:nvSpPr>
        <p:spPr>
          <a:xfrm>
            <a:off x="6080760" y="1828800"/>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02" name="Shape 100"/>
          <p:cNvSpPr/>
          <p:nvPr/>
        </p:nvSpPr>
        <p:spPr>
          <a:xfrm>
            <a:off x="6153912" y="1865376"/>
            <a:ext cx="237744" cy="219456"/>
          </a:xfrm>
          <a:prstGeom prst="roundRect">
            <a:avLst>
              <a:gd name="adj" fmla="val 12500"/>
            </a:avLst>
          </a:prstGeom>
          <a:solidFill>
            <a:srgbClr val="070C18"/>
          </a:solidFill>
          <a:ln w="12700">
            <a:solidFill>
              <a:srgbClr val="070C18"/>
            </a:solidFill>
            <a:prstDash val="solid"/>
          </a:ln>
        </p:spPr>
      </p:sp>
      <p:sp>
        <p:nvSpPr>
          <p:cNvPr id="103" name="Text 101"/>
          <p:cNvSpPr/>
          <p:nvPr/>
        </p:nvSpPr>
        <p:spPr>
          <a:xfrm>
            <a:off x="6153912" y="1865376"/>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20</a:t>
            </a:r>
            <a:endParaRPr lang="en-US" sz="650" dirty="0"/>
          </a:p>
        </p:txBody>
      </p:sp>
      <p:sp>
        <p:nvSpPr>
          <p:cNvPr id="104" name="Text 102"/>
          <p:cNvSpPr/>
          <p:nvPr/>
        </p:nvSpPr>
        <p:spPr>
          <a:xfrm>
            <a:off x="6446520" y="1847088"/>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Cox Survival Analysis</a:t>
            </a:r>
            <a:endParaRPr lang="en-US" sz="850" dirty="0"/>
          </a:p>
        </p:txBody>
      </p:sp>
      <p:sp>
        <p:nvSpPr>
          <p:cNvPr id="105" name="Text 103"/>
          <p:cNvSpPr/>
          <p:nvPr/>
        </p:nvSpPr>
        <p:spPr>
          <a:xfrm>
            <a:off x="6446520" y="2011680"/>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Hazard ratios, censoring</a:t>
            </a:r>
            <a:endParaRPr lang="en-US" sz="700" dirty="0"/>
          </a:p>
        </p:txBody>
      </p:sp>
      <p:sp>
        <p:nvSpPr>
          <p:cNvPr id="106" name="Shape 104"/>
          <p:cNvSpPr/>
          <p:nvPr/>
        </p:nvSpPr>
        <p:spPr>
          <a:xfrm>
            <a:off x="6080760" y="2176272"/>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07" name="Shape 105"/>
          <p:cNvSpPr/>
          <p:nvPr/>
        </p:nvSpPr>
        <p:spPr>
          <a:xfrm>
            <a:off x="6153912" y="2212848"/>
            <a:ext cx="237744" cy="219456"/>
          </a:xfrm>
          <a:prstGeom prst="roundRect">
            <a:avLst>
              <a:gd name="adj" fmla="val 12500"/>
            </a:avLst>
          </a:prstGeom>
          <a:solidFill>
            <a:srgbClr val="070C18"/>
          </a:solidFill>
          <a:ln w="12700">
            <a:solidFill>
              <a:srgbClr val="070C18"/>
            </a:solidFill>
            <a:prstDash val="solid"/>
          </a:ln>
        </p:spPr>
      </p:sp>
      <p:sp>
        <p:nvSpPr>
          <p:cNvPr id="108" name="Text 106"/>
          <p:cNvSpPr/>
          <p:nvPr/>
        </p:nvSpPr>
        <p:spPr>
          <a:xfrm>
            <a:off x="6153912" y="2212848"/>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21</a:t>
            </a:r>
            <a:endParaRPr lang="en-US" sz="650" dirty="0"/>
          </a:p>
        </p:txBody>
      </p:sp>
      <p:sp>
        <p:nvSpPr>
          <p:cNvPr id="109" name="Text 107"/>
          <p:cNvSpPr/>
          <p:nvPr/>
        </p:nvSpPr>
        <p:spPr>
          <a:xfrm>
            <a:off x="6446520" y="2194560"/>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Quantile Regression</a:t>
            </a:r>
            <a:endParaRPr lang="en-US" sz="850" dirty="0"/>
          </a:p>
        </p:txBody>
      </p:sp>
      <p:sp>
        <p:nvSpPr>
          <p:cNvPr id="110" name="Text 108"/>
          <p:cNvSpPr/>
          <p:nvPr/>
        </p:nvSpPr>
        <p:spPr>
          <a:xfrm>
            <a:off x="6446520" y="2359152"/>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Beyond the conditional mean</a:t>
            </a:r>
            <a:endParaRPr lang="en-US" sz="700" dirty="0"/>
          </a:p>
        </p:txBody>
      </p:sp>
      <p:sp>
        <p:nvSpPr>
          <p:cNvPr id="111" name="Shape 109"/>
          <p:cNvSpPr/>
          <p:nvPr/>
        </p:nvSpPr>
        <p:spPr>
          <a:xfrm>
            <a:off x="6080760" y="2523744"/>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12" name="Shape 110"/>
          <p:cNvSpPr/>
          <p:nvPr/>
        </p:nvSpPr>
        <p:spPr>
          <a:xfrm>
            <a:off x="6153912" y="2560320"/>
            <a:ext cx="237744" cy="219456"/>
          </a:xfrm>
          <a:prstGeom prst="roundRect">
            <a:avLst>
              <a:gd name="adj" fmla="val 12500"/>
            </a:avLst>
          </a:prstGeom>
          <a:solidFill>
            <a:srgbClr val="070C18"/>
          </a:solidFill>
          <a:ln w="12700">
            <a:solidFill>
              <a:srgbClr val="070C18"/>
            </a:solidFill>
            <a:prstDash val="solid"/>
          </a:ln>
        </p:spPr>
      </p:sp>
      <p:sp>
        <p:nvSpPr>
          <p:cNvPr id="113" name="Text 111"/>
          <p:cNvSpPr/>
          <p:nvPr/>
        </p:nvSpPr>
        <p:spPr>
          <a:xfrm>
            <a:off x="6153912" y="2560320"/>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22</a:t>
            </a:r>
            <a:endParaRPr lang="en-US" sz="650" dirty="0"/>
          </a:p>
        </p:txBody>
      </p:sp>
      <p:sp>
        <p:nvSpPr>
          <p:cNvPr id="114" name="Text 112"/>
          <p:cNvSpPr/>
          <p:nvPr/>
        </p:nvSpPr>
        <p:spPr>
          <a:xfrm>
            <a:off x="6446520" y="2542032"/>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GTBank Applications</a:t>
            </a:r>
            <a:endParaRPr lang="en-US" sz="850" dirty="0"/>
          </a:p>
        </p:txBody>
      </p:sp>
      <p:sp>
        <p:nvSpPr>
          <p:cNvPr id="115" name="Text 113"/>
          <p:cNvSpPr/>
          <p:nvPr/>
        </p:nvSpPr>
        <p:spPr>
          <a:xfrm>
            <a:off x="6446520" y="2706624"/>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HR equity, credit scoring</a:t>
            </a:r>
            <a:endParaRPr lang="en-US" sz="700" dirty="0"/>
          </a:p>
        </p:txBody>
      </p:sp>
      <p:sp>
        <p:nvSpPr>
          <p:cNvPr id="116" name="Shape 114"/>
          <p:cNvSpPr/>
          <p:nvPr/>
        </p:nvSpPr>
        <p:spPr>
          <a:xfrm>
            <a:off x="6080760" y="2871216"/>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17" name="Shape 115"/>
          <p:cNvSpPr/>
          <p:nvPr/>
        </p:nvSpPr>
        <p:spPr>
          <a:xfrm>
            <a:off x="6153912" y="2907792"/>
            <a:ext cx="237744" cy="219456"/>
          </a:xfrm>
          <a:prstGeom prst="roundRect">
            <a:avLst>
              <a:gd name="adj" fmla="val 12500"/>
            </a:avLst>
          </a:prstGeom>
          <a:solidFill>
            <a:srgbClr val="070C18"/>
          </a:solidFill>
          <a:ln w="12700">
            <a:solidFill>
              <a:srgbClr val="070C18"/>
            </a:solidFill>
            <a:prstDash val="solid"/>
          </a:ln>
        </p:spPr>
      </p:sp>
      <p:sp>
        <p:nvSpPr>
          <p:cNvPr id="118" name="Text 116"/>
          <p:cNvSpPr/>
          <p:nvPr/>
        </p:nvSpPr>
        <p:spPr>
          <a:xfrm>
            <a:off x="6153912" y="2907792"/>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23</a:t>
            </a:r>
            <a:endParaRPr lang="en-US" sz="650" dirty="0"/>
          </a:p>
        </p:txBody>
      </p:sp>
      <p:sp>
        <p:nvSpPr>
          <p:cNvPr id="119" name="Text 117"/>
          <p:cNvSpPr/>
          <p:nvPr/>
        </p:nvSpPr>
        <p:spPr>
          <a:xfrm>
            <a:off x="6446520" y="2889504"/>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Insurance Applications</a:t>
            </a:r>
            <a:endParaRPr lang="en-US" sz="850" dirty="0"/>
          </a:p>
        </p:txBody>
      </p:sp>
      <p:sp>
        <p:nvSpPr>
          <p:cNvPr id="120" name="Text 118"/>
          <p:cNvSpPr/>
          <p:nvPr/>
        </p:nvSpPr>
        <p:spPr>
          <a:xfrm>
            <a:off x="6446520" y="3054096"/>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Leadway Poisson pricing</a:t>
            </a:r>
            <a:endParaRPr lang="en-US" sz="700" dirty="0"/>
          </a:p>
        </p:txBody>
      </p:sp>
      <p:sp>
        <p:nvSpPr>
          <p:cNvPr id="121" name="Shape 119"/>
          <p:cNvSpPr/>
          <p:nvPr/>
        </p:nvSpPr>
        <p:spPr>
          <a:xfrm>
            <a:off x="6080760" y="3218688"/>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22" name="Shape 120"/>
          <p:cNvSpPr/>
          <p:nvPr/>
        </p:nvSpPr>
        <p:spPr>
          <a:xfrm>
            <a:off x="6153912" y="3255264"/>
            <a:ext cx="237744" cy="219456"/>
          </a:xfrm>
          <a:prstGeom prst="roundRect">
            <a:avLst>
              <a:gd name="adj" fmla="val 12500"/>
            </a:avLst>
          </a:prstGeom>
          <a:solidFill>
            <a:srgbClr val="070C18"/>
          </a:solidFill>
          <a:ln w="12700">
            <a:solidFill>
              <a:srgbClr val="070C18"/>
            </a:solidFill>
            <a:prstDash val="solid"/>
          </a:ln>
        </p:spPr>
      </p:sp>
      <p:sp>
        <p:nvSpPr>
          <p:cNvPr id="123" name="Text 121"/>
          <p:cNvSpPr/>
          <p:nvPr/>
        </p:nvSpPr>
        <p:spPr>
          <a:xfrm>
            <a:off x="6153912" y="3255264"/>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24</a:t>
            </a:r>
            <a:endParaRPr lang="en-US" sz="650" dirty="0"/>
          </a:p>
        </p:txBody>
      </p:sp>
      <p:sp>
        <p:nvSpPr>
          <p:cNvPr id="124" name="Text 122"/>
          <p:cNvSpPr/>
          <p:nvPr/>
        </p:nvSpPr>
        <p:spPr>
          <a:xfrm>
            <a:off x="6446520" y="3236976"/>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FMCG Applications</a:t>
            </a:r>
            <a:endParaRPr lang="en-US" sz="850" dirty="0"/>
          </a:p>
        </p:txBody>
      </p:sp>
      <p:sp>
        <p:nvSpPr>
          <p:cNvPr id="125" name="Text 123"/>
          <p:cNvSpPr/>
          <p:nvPr/>
        </p:nvSpPr>
        <p:spPr>
          <a:xfrm>
            <a:off x="6446520" y="3401568"/>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UAC Foods forecasting</a:t>
            </a:r>
            <a:endParaRPr lang="en-US" sz="700" dirty="0"/>
          </a:p>
        </p:txBody>
      </p:sp>
      <p:sp>
        <p:nvSpPr>
          <p:cNvPr id="126" name="Shape 124"/>
          <p:cNvSpPr/>
          <p:nvPr/>
        </p:nvSpPr>
        <p:spPr>
          <a:xfrm>
            <a:off x="6080760" y="3566160"/>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27" name="Shape 125"/>
          <p:cNvSpPr/>
          <p:nvPr/>
        </p:nvSpPr>
        <p:spPr>
          <a:xfrm>
            <a:off x="6153912" y="3602736"/>
            <a:ext cx="237744" cy="219456"/>
          </a:xfrm>
          <a:prstGeom prst="roundRect">
            <a:avLst>
              <a:gd name="adj" fmla="val 12500"/>
            </a:avLst>
          </a:prstGeom>
          <a:solidFill>
            <a:srgbClr val="070C18"/>
          </a:solidFill>
          <a:ln w="12700">
            <a:solidFill>
              <a:srgbClr val="070C18"/>
            </a:solidFill>
            <a:prstDash val="solid"/>
          </a:ln>
        </p:spPr>
      </p:sp>
      <p:sp>
        <p:nvSpPr>
          <p:cNvPr id="128" name="Text 126"/>
          <p:cNvSpPr/>
          <p:nvPr/>
        </p:nvSpPr>
        <p:spPr>
          <a:xfrm>
            <a:off x="6153912" y="3602736"/>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25</a:t>
            </a:r>
            <a:endParaRPr lang="en-US" sz="650" dirty="0"/>
          </a:p>
        </p:txBody>
      </p:sp>
      <p:sp>
        <p:nvSpPr>
          <p:cNvPr id="129" name="Text 127"/>
          <p:cNvSpPr/>
          <p:nvPr/>
        </p:nvSpPr>
        <p:spPr>
          <a:xfrm>
            <a:off x="6446520" y="3584448"/>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Real Estate + Telecoms</a:t>
            </a:r>
            <a:endParaRPr lang="en-US" sz="850" dirty="0"/>
          </a:p>
        </p:txBody>
      </p:sp>
      <p:sp>
        <p:nvSpPr>
          <p:cNvPr id="130" name="Text 128"/>
          <p:cNvSpPr/>
          <p:nvPr/>
        </p:nvSpPr>
        <p:spPr>
          <a:xfrm>
            <a:off x="6446520" y="3749040"/>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Zenith AVM, MTN survival</a:t>
            </a:r>
            <a:endParaRPr lang="en-US" sz="700" dirty="0"/>
          </a:p>
        </p:txBody>
      </p:sp>
      <p:sp>
        <p:nvSpPr>
          <p:cNvPr id="131" name="Shape 129"/>
          <p:cNvSpPr/>
          <p:nvPr/>
        </p:nvSpPr>
        <p:spPr>
          <a:xfrm>
            <a:off x="6080760" y="3913632"/>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32" name="Shape 130"/>
          <p:cNvSpPr/>
          <p:nvPr/>
        </p:nvSpPr>
        <p:spPr>
          <a:xfrm>
            <a:off x="6153912" y="3950208"/>
            <a:ext cx="237744" cy="219456"/>
          </a:xfrm>
          <a:prstGeom prst="roundRect">
            <a:avLst>
              <a:gd name="adj" fmla="val 12500"/>
            </a:avLst>
          </a:prstGeom>
          <a:solidFill>
            <a:srgbClr val="070C18"/>
          </a:solidFill>
          <a:ln w="12700">
            <a:solidFill>
              <a:srgbClr val="070C18"/>
            </a:solidFill>
            <a:prstDash val="solid"/>
          </a:ln>
        </p:spPr>
      </p:sp>
      <p:sp>
        <p:nvSpPr>
          <p:cNvPr id="133" name="Text 131"/>
          <p:cNvSpPr/>
          <p:nvPr/>
        </p:nvSpPr>
        <p:spPr>
          <a:xfrm>
            <a:off x="6153912" y="3950208"/>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26</a:t>
            </a:r>
            <a:endParaRPr lang="en-US" sz="650" dirty="0"/>
          </a:p>
        </p:txBody>
      </p:sp>
      <p:sp>
        <p:nvSpPr>
          <p:cNvPr id="134" name="Text 132"/>
          <p:cNvSpPr/>
          <p:nvPr/>
        </p:nvSpPr>
        <p:spPr>
          <a:xfrm>
            <a:off x="6446520" y="3931920"/>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Complete APA Templates</a:t>
            </a:r>
            <a:endParaRPr lang="en-US" sz="850" dirty="0"/>
          </a:p>
        </p:txBody>
      </p:sp>
      <p:sp>
        <p:nvSpPr>
          <p:cNvPr id="135" name="Text 133"/>
          <p:cNvSpPr/>
          <p:nvPr/>
        </p:nvSpPr>
        <p:spPr>
          <a:xfrm>
            <a:off x="6446520" y="4096512"/>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Linear + logistic templates</a:t>
            </a:r>
            <a:endParaRPr lang="en-US" sz="700" dirty="0"/>
          </a:p>
        </p:txBody>
      </p:sp>
      <p:sp>
        <p:nvSpPr>
          <p:cNvPr id="136" name="Shape 134"/>
          <p:cNvSpPr/>
          <p:nvPr/>
        </p:nvSpPr>
        <p:spPr>
          <a:xfrm>
            <a:off x="6080760" y="4261104"/>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37" name="Shape 135"/>
          <p:cNvSpPr/>
          <p:nvPr/>
        </p:nvSpPr>
        <p:spPr>
          <a:xfrm>
            <a:off x="6153912" y="4297680"/>
            <a:ext cx="237744" cy="219456"/>
          </a:xfrm>
          <a:prstGeom prst="roundRect">
            <a:avLst>
              <a:gd name="adj" fmla="val 12500"/>
            </a:avLst>
          </a:prstGeom>
          <a:solidFill>
            <a:srgbClr val="070C18"/>
          </a:solidFill>
          <a:ln w="12700">
            <a:solidFill>
              <a:srgbClr val="070C18"/>
            </a:solidFill>
            <a:prstDash val="solid"/>
          </a:ln>
        </p:spPr>
      </p:sp>
      <p:sp>
        <p:nvSpPr>
          <p:cNvPr id="138" name="Text 136"/>
          <p:cNvSpPr/>
          <p:nvPr/>
        </p:nvSpPr>
        <p:spPr>
          <a:xfrm>
            <a:off x="6153912" y="4297680"/>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27</a:t>
            </a:r>
            <a:endParaRPr lang="en-US" sz="650" dirty="0"/>
          </a:p>
        </p:txBody>
      </p:sp>
      <p:sp>
        <p:nvSpPr>
          <p:cNvPr id="139" name="Text 137"/>
          <p:cNvSpPr/>
          <p:nvPr/>
        </p:nvSpPr>
        <p:spPr>
          <a:xfrm>
            <a:off x="6446520" y="4279392"/>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Model Selection Guide</a:t>
            </a:r>
            <a:endParaRPr lang="en-US" sz="850" dirty="0"/>
          </a:p>
        </p:txBody>
      </p:sp>
      <p:sp>
        <p:nvSpPr>
          <p:cNvPr id="140" name="Text 138"/>
          <p:cNvSpPr/>
          <p:nvPr/>
        </p:nvSpPr>
        <p:spPr>
          <a:xfrm>
            <a:off x="6446520" y="4443984"/>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Choosing between 15 types</a:t>
            </a:r>
            <a:endParaRPr lang="en-US" sz="700" dirty="0"/>
          </a:p>
        </p:txBody>
      </p:sp>
      <p:sp>
        <p:nvSpPr>
          <p:cNvPr id="141" name="Shape 139"/>
          <p:cNvSpPr/>
          <p:nvPr/>
        </p:nvSpPr>
        <p:spPr>
          <a:xfrm>
            <a:off x="6080760" y="4608576"/>
            <a:ext cx="2880360" cy="320040"/>
          </a:xfrm>
          <a:prstGeom prst="roundRect">
            <a:avLst>
              <a:gd name="adj" fmla="val 1428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42" name="Shape 140"/>
          <p:cNvSpPr/>
          <p:nvPr/>
        </p:nvSpPr>
        <p:spPr>
          <a:xfrm>
            <a:off x="6153912" y="4645152"/>
            <a:ext cx="237744" cy="219456"/>
          </a:xfrm>
          <a:prstGeom prst="roundRect">
            <a:avLst>
              <a:gd name="adj" fmla="val 12500"/>
            </a:avLst>
          </a:prstGeom>
          <a:solidFill>
            <a:srgbClr val="070C18"/>
          </a:solidFill>
          <a:ln w="12700">
            <a:solidFill>
              <a:srgbClr val="070C18"/>
            </a:solidFill>
            <a:prstDash val="solid"/>
          </a:ln>
        </p:spPr>
      </p:sp>
      <p:sp>
        <p:nvSpPr>
          <p:cNvPr id="143" name="Text 141"/>
          <p:cNvSpPr/>
          <p:nvPr/>
        </p:nvSpPr>
        <p:spPr>
          <a:xfrm>
            <a:off x="6153912" y="4645152"/>
            <a:ext cx="237744" cy="219456"/>
          </a:xfrm>
          <a:prstGeom prst="rect">
            <a:avLst/>
          </a:prstGeom>
          <a:noFill/>
          <a:ln/>
        </p:spPr>
        <p:txBody>
          <a:bodyPr wrap="square" lIns="0" tIns="0" rIns="0" bIns="0" rtlCol="0" anchor="ctr"/>
          <a:lstStyle/>
          <a:p>
            <a:pPr algn="ctr" indent="0" marL="0">
              <a:buNone/>
            </a:pPr>
            <a:r>
              <a:rPr lang="en-US" sz="650" b="1" dirty="0">
                <a:solidFill>
                  <a:srgbClr val="F0C840"/>
                </a:solidFill>
                <a:latin typeface="Calibri" pitchFamily="34" charset="0"/>
                <a:ea typeface="Calibri" pitchFamily="34" charset="-122"/>
                <a:cs typeface="Calibri" pitchFamily="34" charset="-120"/>
              </a:rPr>
              <a:t>28</a:t>
            </a:r>
            <a:endParaRPr lang="en-US" sz="650" dirty="0"/>
          </a:p>
        </p:txBody>
      </p:sp>
      <p:sp>
        <p:nvSpPr>
          <p:cNvPr id="144" name="Text 142"/>
          <p:cNvSpPr/>
          <p:nvPr/>
        </p:nvSpPr>
        <p:spPr>
          <a:xfrm>
            <a:off x="6446520" y="4626864"/>
            <a:ext cx="2432304" cy="164592"/>
          </a:xfrm>
          <a:prstGeom prst="rect">
            <a:avLst/>
          </a:prstGeom>
          <a:noFill/>
          <a:ln/>
        </p:spPr>
        <p:txBody>
          <a:bodyPr wrap="square" lIns="0" tIns="0" rIns="0" bIns="0" rtlCol="0" anchor="ctr"/>
          <a:lstStyle/>
          <a:p>
            <a:pPr indent="0" marL="0">
              <a:buNone/>
            </a:pPr>
            <a:r>
              <a:rPr lang="en-US" sz="850" b="1" dirty="0">
                <a:solidFill>
                  <a:srgbClr val="0C1428"/>
                </a:solidFill>
                <a:latin typeface="Calibri" pitchFamily="34" charset="0"/>
                <a:ea typeface="Calibri" pitchFamily="34" charset="-122"/>
                <a:cs typeface="Calibri" pitchFamily="34" charset="-120"/>
              </a:rPr>
              <a:t>Key Takeaways</a:t>
            </a:r>
            <a:endParaRPr lang="en-US" sz="850" dirty="0"/>
          </a:p>
        </p:txBody>
      </p:sp>
      <p:sp>
        <p:nvSpPr>
          <p:cNvPr id="145" name="Text 143"/>
          <p:cNvSpPr/>
          <p:nvPr/>
        </p:nvSpPr>
        <p:spPr>
          <a:xfrm>
            <a:off x="6446520" y="4791456"/>
            <a:ext cx="2432304" cy="128016"/>
          </a:xfrm>
          <a:prstGeom prst="rect">
            <a:avLst/>
          </a:prstGeom>
          <a:noFill/>
          <a:ln/>
        </p:spPr>
        <p:txBody>
          <a:bodyPr wrap="square" lIns="0" tIns="0" rIns="0" bIns="0" rtlCol="0" anchor="ctr"/>
          <a:lstStyle/>
          <a:p>
            <a:pPr indent="0" marL="0">
              <a:buNone/>
            </a:pPr>
            <a:r>
              <a:rPr lang="en-US" sz="700" dirty="0">
                <a:solidFill>
                  <a:srgbClr val="64748B"/>
                </a:solidFill>
                <a:latin typeface="Calibri" pitchFamily="34" charset="0"/>
                <a:ea typeface="Calibri" pitchFamily="34" charset="-122"/>
                <a:cs typeface="Calibri" pitchFamily="34" charset="-120"/>
              </a:rPr>
              <a:t>10 golden rules of regression</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REGRESSION  |  SECTION 01</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Regression Family</a:t>
            </a:r>
            <a:endParaRPr lang="en-US" sz="36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15 types - decision map for choosing the right model</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Complete Regression Family - Which Model for Which Data?</a:t>
            </a:r>
            <a:endParaRPr lang="en-US" sz="2100" dirty="0"/>
          </a:p>
        </p:txBody>
      </p:sp>
      <p:sp>
        <p:nvSpPr>
          <p:cNvPr id="4" name="Shape 2"/>
          <p:cNvSpPr/>
          <p:nvPr/>
        </p:nvSpPr>
        <p:spPr>
          <a:xfrm>
            <a:off x="201168" y="1024128"/>
            <a:ext cx="2834640" cy="713232"/>
          </a:xfrm>
          <a:prstGeom prst="roundRect">
            <a:avLst>
              <a:gd name="adj" fmla="val 7692"/>
            </a:avLst>
          </a:prstGeom>
          <a:solidFill>
            <a:srgbClr val="F0F8FA"/>
          </a:solidFill>
          <a:ln w="10160">
            <a:solidFill>
              <a:srgbClr val="0A7E8C"/>
            </a:solidFill>
            <a:prstDash val="solid"/>
          </a:ln>
        </p:spPr>
      </p:sp>
      <p:sp>
        <p:nvSpPr>
          <p:cNvPr id="5" name="Shape 3"/>
          <p:cNvSpPr/>
          <p:nvPr/>
        </p:nvSpPr>
        <p:spPr>
          <a:xfrm>
            <a:off x="256032" y="1078992"/>
            <a:ext cx="1097280" cy="237744"/>
          </a:xfrm>
          <a:prstGeom prst="roundRect">
            <a:avLst>
              <a:gd name="adj" fmla="val 15385"/>
            </a:avLst>
          </a:prstGeom>
          <a:solidFill>
            <a:srgbClr val="0A7E8C"/>
          </a:solidFill>
          <a:ln w="12700">
            <a:solidFill>
              <a:srgbClr val="0A7E8C"/>
            </a:solidFill>
            <a:prstDash val="solid"/>
          </a:ln>
        </p:spPr>
      </p:sp>
      <p:sp>
        <p:nvSpPr>
          <p:cNvPr id="6" name="Text 4"/>
          <p:cNvSpPr/>
          <p:nvPr/>
        </p:nvSpPr>
        <p:spPr>
          <a:xfrm>
            <a:off x="256032" y="1078992"/>
            <a:ext cx="10972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Simple Linear</a:t>
            </a:r>
            <a:endParaRPr lang="en-US" sz="800" dirty="0"/>
          </a:p>
        </p:txBody>
      </p:sp>
      <p:sp>
        <p:nvSpPr>
          <p:cNvPr id="7" name="Text 5"/>
          <p:cNvSpPr/>
          <p:nvPr/>
        </p:nvSpPr>
        <p:spPr>
          <a:xfrm>
            <a:off x="1426464" y="1078992"/>
            <a:ext cx="1536192" cy="201168"/>
          </a:xfrm>
          <a:prstGeom prst="rect">
            <a:avLst/>
          </a:prstGeom>
          <a:noFill/>
          <a:ln/>
        </p:spPr>
        <p:txBody>
          <a:bodyPr wrap="square" lIns="0" tIns="0" rIns="0" bIns="0" rtlCol="0" anchor="ctr"/>
          <a:lstStyle/>
          <a:p>
            <a:pPr indent="0" marL="0">
              <a:buNone/>
            </a:pPr>
            <a:r>
              <a:rPr lang="en-US" sz="800" b="1" dirty="0">
                <a:solidFill>
                  <a:srgbClr val="0A7E8C"/>
                </a:solidFill>
                <a:latin typeface="Calibri" pitchFamily="34" charset="0"/>
                <a:ea typeface="Calibri" pitchFamily="34" charset="-122"/>
                <a:cs typeface="Calibri" pitchFamily="34" charset="-120"/>
              </a:rPr>
              <a:t>DV: Continuous</a:t>
            </a:r>
            <a:endParaRPr lang="en-US" sz="800" dirty="0"/>
          </a:p>
        </p:txBody>
      </p:sp>
      <p:sp>
        <p:nvSpPr>
          <p:cNvPr id="8" name="Text 6"/>
          <p:cNvSpPr/>
          <p:nvPr/>
        </p:nvSpPr>
        <p:spPr>
          <a:xfrm>
            <a:off x="292608" y="1389888"/>
            <a:ext cx="1371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1 predictor, linear</a:t>
            </a:r>
            <a:endParaRPr lang="en-US" sz="800" dirty="0"/>
          </a:p>
        </p:txBody>
      </p:sp>
      <p:sp>
        <p:nvSpPr>
          <p:cNvPr id="9" name="Text 7"/>
          <p:cNvSpPr/>
          <p:nvPr/>
        </p:nvSpPr>
        <p:spPr>
          <a:xfrm>
            <a:off x="1682496" y="1389888"/>
            <a:ext cx="1280160" cy="274320"/>
          </a:xfrm>
          <a:prstGeom prst="rect">
            <a:avLst/>
          </a:prstGeom>
          <a:noFill/>
          <a:ln/>
        </p:spPr>
        <p:txBody>
          <a:bodyPr wrap="square" lIns="0" tIns="0" rIns="0" bIns="0" rtlCol="0" anchor="ctr"/>
          <a:lstStyle/>
          <a:p>
            <a:pPr indent="0" marL="0">
              <a:buNone/>
            </a:pPr>
            <a:r>
              <a:rPr lang="en-US" sz="800" i="1" dirty="0">
                <a:solidFill>
                  <a:srgbClr val="0A7E8C"/>
                </a:solidFill>
                <a:latin typeface="Calibri" pitchFamily="34" charset="0"/>
                <a:ea typeface="Calibri" pitchFamily="34" charset="-122"/>
                <a:cs typeface="Calibri" pitchFamily="34" charset="-120"/>
              </a:rPr>
              <a:t>Income → spending</a:t>
            </a:r>
            <a:endParaRPr lang="en-US" sz="800" dirty="0"/>
          </a:p>
        </p:txBody>
      </p:sp>
      <p:sp>
        <p:nvSpPr>
          <p:cNvPr id="10" name="Shape 8"/>
          <p:cNvSpPr/>
          <p:nvPr/>
        </p:nvSpPr>
        <p:spPr>
          <a:xfrm>
            <a:off x="201168" y="1828800"/>
            <a:ext cx="2834640" cy="713232"/>
          </a:xfrm>
          <a:prstGeom prst="roundRect">
            <a:avLst>
              <a:gd name="adj" fmla="val 7692"/>
            </a:avLst>
          </a:prstGeom>
          <a:solidFill>
            <a:srgbClr val="F0F8FA"/>
          </a:solidFill>
          <a:ln w="10160">
            <a:solidFill>
              <a:srgbClr val="2878F0"/>
            </a:solidFill>
            <a:prstDash val="solid"/>
          </a:ln>
        </p:spPr>
      </p:sp>
      <p:sp>
        <p:nvSpPr>
          <p:cNvPr id="11" name="Shape 9"/>
          <p:cNvSpPr/>
          <p:nvPr/>
        </p:nvSpPr>
        <p:spPr>
          <a:xfrm>
            <a:off x="256032" y="1883664"/>
            <a:ext cx="1097280" cy="237744"/>
          </a:xfrm>
          <a:prstGeom prst="roundRect">
            <a:avLst>
              <a:gd name="adj" fmla="val 15385"/>
            </a:avLst>
          </a:prstGeom>
          <a:solidFill>
            <a:srgbClr val="2878F0"/>
          </a:solidFill>
          <a:ln w="12700">
            <a:solidFill>
              <a:srgbClr val="2878F0"/>
            </a:solidFill>
            <a:prstDash val="solid"/>
          </a:ln>
        </p:spPr>
      </p:sp>
      <p:sp>
        <p:nvSpPr>
          <p:cNvPr id="12" name="Text 10"/>
          <p:cNvSpPr/>
          <p:nvPr/>
        </p:nvSpPr>
        <p:spPr>
          <a:xfrm>
            <a:off x="256032" y="1883664"/>
            <a:ext cx="1097280" cy="237744"/>
          </a:xfrm>
          <a:prstGeom prst="rect">
            <a:avLst/>
          </a:prstGeom>
          <a:noFill/>
          <a:ln/>
        </p:spPr>
        <p:txBody>
          <a:bodyPr wrap="square" lIns="0" tIns="0" rIns="0" bIns="0" rtlCol="0" anchor="ctr"/>
          <a:lstStyle/>
          <a:p>
            <a:pPr algn="ctr" indent="0" marL="0">
              <a:buNone/>
            </a:pPr>
            <a:r>
              <a:rPr lang="en-US" sz="800" b="1" dirty="0">
                <a:solidFill>
                  <a:srgbClr val="0C1428"/>
                </a:solidFill>
                <a:latin typeface="Calibri" pitchFamily="34" charset="0"/>
                <a:ea typeface="Calibri" pitchFamily="34" charset="-122"/>
                <a:cs typeface="Calibri" pitchFamily="34" charset="-120"/>
              </a:rPr>
              <a:t>Multiple Linear</a:t>
            </a:r>
            <a:endParaRPr lang="en-US" sz="800" dirty="0"/>
          </a:p>
        </p:txBody>
      </p:sp>
      <p:sp>
        <p:nvSpPr>
          <p:cNvPr id="13" name="Text 11"/>
          <p:cNvSpPr/>
          <p:nvPr/>
        </p:nvSpPr>
        <p:spPr>
          <a:xfrm>
            <a:off x="1426464" y="1883664"/>
            <a:ext cx="1536192" cy="201168"/>
          </a:xfrm>
          <a:prstGeom prst="rect">
            <a:avLst/>
          </a:prstGeom>
          <a:noFill/>
          <a:ln/>
        </p:spPr>
        <p:txBody>
          <a:bodyPr wrap="square" lIns="0" tIns="0" rIns="0" bIns="0" rtlCol="0" anchor="ctr"/>
          <a:lstStyle/>
          <a:p>
            <a:pPr indent="0" marL="0">
              <a:buNone/>
            </a:pPr>
            <a:r>
              <a:rPr lang="en-US" sz="800" b="1" dirty="0">
                <a:solidFill>
                  <a:srgbClr val="2878F0"/>
                </a:solidFill>
                <a:latin typeface="Calibri" pitchFamily="34" charset="0"/>
                <a:ea typeface="Calibri" pitchFamily="34" charset="-122"/>
                <a:cs typeface="Calibri" pitchFamily="34" charset="-120"/>
              </a:rPr>
              <a:t>DV: Continuous</a:t>
            </a:r>
            <a:endParaRPr lang="en-US" sz="800" dirty="0"/>
          </a:p>
        </p:txBody>
      </p:sp>
      <p:sp>
        <p:nvSpPr>
          <p:cNvPr id="14" name="Text 12"/>
          <p:cNvSpPr/>
          <p:nvPr/>
        </p:nvSpPr>
        <p:spPr>
          <a:xfrm>
            <a:off x="292608" y="2194560"/>
            <a:ext cx="1371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Many predictors</a:t>
            </a:r>
            <a:endParaRPr lang="en-US" sz="800" dirty="0"/>
          </a:p>
        </p:txBody>
      </p:sp>
      <p:sp>
        <p:nvSpPr>
          <p:cNvPr id="15" name="Text 13"/>
          <p:cNvSpPr/>
          <p:nvPr/>
        </p:nvSpPr>
        <p:spPr>
          <a:xfrm>
            <a:off x="1682496" y="2194560"/>
            <a:ext cx="1280160" cy="274320"/>
          </a:xfrm>
          <a:prstGeom prst="rect">
            <a:avLst/>
          </a:prstGeom>
          <a:noFill/>
          <a:ln/>
        </p:spPr>
        <p:txBody>
          <a:bodyPr wrap="square" lIns="0" tIns="0" rIns="0" bIns="0" rtlCol="0" anchor="ctr"/>
          <a:lstStyle/>
          <a:p>
            <a:pPr indent="0" marL="0">
              <a:buNone/>
            </a:pPr>
            <a:r>
              <a:rPr lang="en-US" sz="800" i="1" dirty="0">
                <a:solidFill>
                  <a:srgbClr val="2878F0"/>
                </a:solidFill>
                <a:latin typeface="Calibri" pitchFamily="34" charset="0"/>
                <a:ea typeface="Calibri" pitchFamily="34" charset="-122"/>
                <a:cs typeface="Calibri" pitchFamily="34" charset="-120"/>
              </a:rPr>
              <a:t>Area+Location → price</a:t>
            </a:r>
            <a:endParaRPr lang="en-US" sz="800" dirty="0"/>
          </a:p>
        </p:txBody>
      </p:sp>
      <p:sp>
        <p:nvSpPr>
          <p:cNvPr id="16" name="Shape 14"/>
          <p:cNvSpPr/>
          <p:nvPr/>
        </p:nvSpPr>
        <p:spPr>
          <a:xfrm>
            <a:off x="201168" y="2633472"/>
            <a:ext cx="2834640" cy="713232"/>
          </a:xfrm>
          <a:prstGeom prst="roundRect">
            <a:avLst>
              <a:gd name="adj" fmla="val 7692"/>
            </a:avLst>
          </a:prstGeom>
          <a:solidFill>
            <a:srgbClr val="F0F8FA"/>
          </a:solidFill>
          <a:ln w="10160">
            <a:solidFill>
              <a:srgbClr val="0A8A50"/>
            </a:solidFill>
            <a:prstDash val="solid"/>
          </a:ln>
        </p:spPr>
      </p:sp>
      <p:sp>
        <p:nvSpPr>
          <p:cNvPr id="17" name="Shape 15"/>
          <p:cNvSpPr/>
          <p:nvPr/>
        </p:nvSpPr>
        <p:spPr>
          <a:xfrm>
            <a:off x="256032" y="2688336"/>
            <a:ext cx="1097280" cy="237744"/>
          </a:xfrm>
          <a:prstGeom prst="roundRect">
            <a:avLst>
              <a:gd name="adj" fmla="val 15385"/>
            </a:avLst>
          </a:prstGeom>
          <a:solidFill>
            <a:srgbClr val="0A8A50"/>
          </a:solidFill>
          <a:ln w="12700">
            <a:solidFill>
              <a:srgbClr val="0A8A50"/>
            </a:solidFill>
            <a:prstDash val="solid"/>
          </a:ln>
        </p:spPr>
      </p:sp>
      <p:sp>
        <p:nvSpPr>
          <p:cNvPr id="18" name="Text 16"/>
          <p:cNvSpPr/>
          <p:nvPr/>
        </p:nvSpPr>
        <p:spPr>
          <a:xfrm>
            <a:off x="256032" y="2688336"/>
            <a:ext cx="10972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Polynomial</a:t>
            </a:r>
            <a:endParaRPr lang="en-US" sz="800" dirty="0"/>
          </a:p>
        </p:txBody>
      </p:sp>
      <p:sp>
        <p:nvSpPr>
          <p:cNvPr id="19" name="Text 17"/>
          <p:cNvSpPr/>
          <p:nvPr/>
        </p:nvSpPr>
        <p:spPr>
          <a:xfrm>
            <a:off x="1426464" y="2688336"/>
            <a:ext cx="1536192" cy="201168"/>
          </a:xfrm>
          <a:prstGeom prst="rect">
            <a:avLst/>
          </a:prstGeom>
          <a:noFill/>
          <a:ln/>
        </p:spPr>
        <p:txBody>
          <a:bodyPr wrap="square" lIns="0" tIns="0" rIns="0" bIns="0" rtlCol="0" anchor="ctr"/>
          <a:lstStyle/>
          <a:p>
            <a:pPr indent="0" marL="0">
              <a:buNone/>
            </a:pPr>
            <a:r>
              <a:rPr lang="en-US" sz="800" b="1" dirty="0">
                <a:solidFill>
                  <a:srgbClr val="0A8A50"/>
                </a:solidFill>
                <a:latin typeface="Calibri" pitchFamily="34" charset="0"/>
                <a:ea typeface="Calibri" pitchFamily="34" charset="-122"/>
                <a:cs typeface="Calibri" pitchFamily="34" charset="-120"/>
              </a:rPr>
              <a:t>DV: Continuous</a:t>
            </a:r>
            <a:endParaRPr lang="en-US" sz="800" dirty="0"/>
          </a:p>
        </p:txBody>
      </p:sp>
      <p:sp>
        <p:nvSpPr>
          <p:cNvPr id="20" name="Text 18"/>
          <p:cNvSpPr/>
          <p:nvPr/>
        </p:nvSpPr>
        <p:spPr>
          <a:xfrm>
            <a:off x="292608" y="2999232"/>
            <a:ext cx="1371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Curved relationship</a:t>
            </a:r>
            <a:endParaRPr lang="en-US" sz="800" dirty="0"/>
          </a:p>
        </p:txBody>
      </p:sp>
      <p:sp>
        <p:nvSpPr>
          <p:cNvPr id="21" name="Text 19"/>
          <p:cNvSpPr/>
          <p:nvPr/>
        </p:nvSpPr>
        <p:spPr>
          <a:xfrm>
            <a:off x="1682496" y="2999232"/>
            <a:ext cx="1280160" cy="274320"/>
          </a:xfrm>
          <a:prstGeom prst="rect">
            <a:avLst/>
          </a:prstGeom>
          <a:noFill/>
          <a:ln/>
        </p:spPr>
        <p:txBody>
          <a:bodyPr wrap="square" lIns="0" tIns="0" rIns="0" bIns="0" rtlCol="0" anchor="ctr"/>
          <a:lstStyle/>
          <a:p>
            <a:pPr indent="0" marL="0">
              <a:buNone/>
            </a:pPr>
            <a:r>
              <a:rPr lang="en-US" sz="800" i="1" dirty="0">
                <a:solidFill>
                  <a:srgbClr val="0A8A50"/>
                </a:solidFill>
                <a:latin typeface="Calibri" pitchFamily="34" charset="0"/>
                <a:ea typeface="Calibri" pitchFamily="34" charset="-122"/>
                <a:cs typeface="Calibri" pitchFamily="34" charset="-120"/>
              </a:rPr>
              <a:t>Experience² → salary</a:t>
            </a:r>
            <a:endParaRPr lang="en-US" sz="800" dirty="0"/>
          </a:p>
        </p:txBody>
      </p:sp>
      <p:sp>
        <p:nvSpPr>
          <p:cNvPr id="22" name="Shape 20"/>
          <p:cNvSpPr/>
          <p:nvPr/>
        </p:nvSpPr>
        <p:spPr>
          <a:xfrm>
            <a:off x="201168" y="3438144"/>
            <a:ext cx="2834640" cy="713232"/>
          </a:xfrm>
          <a:prstGeom prst="roundRect">
            <a:avLst>
              <a:gd name="adj" fmla="val 7692"/>
            </a:avLst>
          </a:prstGeom>
          <a:solidFill>
            <a:srgbClr val="F0F8FA"/>
          </a:solidFill>
          <a:ln w="10160">
            <a:solidFill>
              <a:srgbClr val="E07010"/>
            </a:solidFill>
            <a:prstDash val="solid"/>
          </a:ln>
        </p:spPr>
      </p:sp>
      <p:sp>
        <p:nvSpPr>
          <p:cNvPr id="23" name="Shape 21"/>
          <p:cNvSpPr/>
          <p:nvPr/>
        </p:nvSpPr>
        <p:spPr>
          <a:xfrm>
            <a:off x="256032" y="3493008"/>
            <a:ext cx="1097280" cy="237744"/>
          </a:xfrm>
          <a:prstGeom prst="roundRect">
            <a:avLst>
              <a:gd name="adj" fmla="val 15385"/>
            </a:avLst>
          </a:prstGeom>
          <a:solidFill>
            <a:srgbClr val="E07010"/>
          </a:solidFill>
          <a:ln w="12700">
            <a:solidFill>
              <a:srgbClr val="E07010"/>
            </a:solidFill>
            <a:prstDash val="solid"/>
          </a:ln>
        </p:spPr>
      </p:sp>
      <p:sp>
        <p:nvSpPr>
          <p:cNvPr id="24" name="Text 22"/>
          <p:cNvSpPr/>
          <p:nvPr/>
        </p:nvSpPr>
        <p:spPr>
          <a:xfrm>
            <a:off x="256032" y="3493008"/>
            <a:ext cx="10972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Logistic (Binary)</a:t>
            </a:r>
            <a:endParaRPr lang="en-US" sz="800" dirty="0"/>
          </a:p>
        </p:txBody>
      </p:sp>
      <p:sp>
        <p:nvSpPr>
          <p:cNvPr id="25" name="Text 23"/>
          <p:cNvSpPr/>
          <p:nvPr/>
        </p:nvSpPr>
        <p:spPr>
          <a:xfrm>
            <a:off x="1426464" y="3493008"/>
            <a:ext cx="1536192" cy="201168"/>
          </a:xfrm>
          <a:prstGeom prst="rect">
            <a:avLst/>
          </a:prstGeom>
          <a:noFill/>
          <a:ln/>
        </p:spPr>
        <p:txBody>
          <a:bodyPr wrap="square" lIns="0" tIns="0" rIns="0" bIns="0" rtlCol="0" anchor="ctr"/>
          <a:lstStyle/>
          <a:p>
            <a:pPr indent="0" marL="0">
              <a:buNone/>
            </a:pPr>
            <a:r>
              <a:rPr lang="en-US" sz="800" b="1" dirty="0">
                <a:solidFill>
                  <a:srgbClr val="E07010"/>
                </a:solidFill>
                <a:latin typeface="Calibri" pitchFamily="34" charset="0"/>
                <a:ea typeface="Calibri" pitchFamily="34" charset="-122"/>
                <a:cs typeface="Calibri" pitchFamily="34" charset="-120"/>
              </a:rPr>
              <a:t>DV: Binary 0/1</a:t>
            </a:r>
            <a:endParaRPr lang="en-US" sz="800" dirty="0"/>
          </a:p>
        </p:txBody>
      </p:sp>
      <p:sp>
        <p:nvSpPr>
          <p:cNvPr id="26" name="Text 24"/>
          <p:cNvSpPr/>
          <p:nvPr/>
        </p:nvSpPr>
        <p:spPr>
          <a:xfrm>
            <a:off x="292608" y="3803904"/>
            <a:ext cx="1371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P(event)</a:t>
            </a:r>
            <a:endParaRPr lang="en-US" sz="800" dirty="0"/>
          </a:p>
        </p:txBody>
      </p:sp>
      <p:sp>
        <p:nvSpPr>
          <p:cNvPr id="27" name="Text 25"/>
          <p:cNvSpPr/>
          <p:nvPr/>
        </p:nvSpPr>
        <p:spPr>
          <a:xfrm>
            <a:off x="1682496" y="3803904"/>
            <a:ext cx="1280160" cy="274320"/>
          </a:xfrm>
          <a:prstGeom prst="rect">
            <a:avLst/>
          </a:prstGeom>
          <a:noFill/>
          <a:ln/>
        </p:spPr>
        <p:txBody>
          <a:bodyPr wrap="square" lIns="0" tIns="0" rIns="0" bIns="0" rtlCol="0" anchor="ctr"/>
          <a:lstStyle/>
          <a:p>
            <a:pPr indent="0" marL="0">
              <a:buNone/>
            </a:pPr>
            <a:r>
              <a:rPr lang="en-US" sz="800" i="1" dirty="0">
                <a:solidFill>
                  <a:srgbClr val="E07010"/>
                </a:solidFill>
                <a:latin typeface="Calibri" pitchFamily="34" charset="0"/>
                <a:ea typeface="Calibri" pitchFamily="34" charset="-122"/>
                <a:cs typeface="Calibri" pitchFamily="34" charset="-120"/>
              </a:rPr>
              <a:t>P(default|profile)</a:t>
            </a:r>
            <a:endParaRPr lang="en-US" sz="800" dirty="0"/>
          </a:p>
        </p:txBody>
      </p:sp>
      <p:sp>
        <p:nvSpPr>
          <p:cNvPr id="28" name="Shape 26"/>
          <p:cNvSpPr/>
          <p:nvPr/>
        </p:nvSpPr>
        <p:spPr>
          <a:xfrm>
            <a:off x="201168" y="4242816"/>
            <a:ext cx="2834640" cy="713232"/>
          </a:xfrm>
          <a:prstGeom prst="roundRect">
            <a:avLst>
              <a:gd name="adj" fmla="val 7692"/>
            </a:avLst>
          </a:prstGeom>
          <a:solidFill>
            <a:srgbClr val="F0F8FA"/>
          </a:solidFill>
          <a:ln w="10160">
            <a:solidFill>
              <a:srgbClr val="6010C8"/>
            </a:solidFill>
            <a:prstDash val="solid"/>
          </a:ln>
        </p:spPr>
      </p:sp>
      <p:sp>
        <p:nvSpPr>
          <p:cNvPr id="29" name="Shape 27"/>
          <p:cNvSpPr/>
          <p:nvPr/>
        </p:nvSpPr>
        <p:spPr>
          <a:xfrm>
            <a:off x="256032" y="4297680"/>
            <a:ext cx="1097280" cy="237744"/>
          </a:xfrm>
          <a:prstGeom prst="roundRect">
            <a:avLst>
              <a:gd name="adj" fmla="val 15385"/>
            </a:avLst>
          </a:prstGeom>
          <a:solidFill>
            <a:srgbClr val="6010C8"/>
          </a:solidFill>
          <a:ln w="12700">
            <a:solidFill>
              <a:srgbClr val="6010C8"/>
            </a:solidFill>
            <a:prstDash val="solid"/>
          </a:ln>
        </p:spPr>
      </p:sp>
      <p:sp>
        <p:nvSpPr>
          <p:cNvPr id="30" name="Text 28"/>
          <p:cNvSpPr/>
          <p:nvPr/>
        </p:nvSpPr>
        <p:spPr>
          <a:xfrm>
            <a:off x="256032" y="4297680"/>
            <a:ext cx="10972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Multinomial</a:t>
            </a:r>
            <a:endParaRPr lang="en-US" sz="800" dirty="0"/>
          </a:p>
        </p:txBody>
      </p:sp>
      <p:sp>
        <p:nvSpPr>
          <p:cNvPr id="31" name="Text 29"/>
          <p:cNvSpPr/>
          <p:nvPr/>
        </p:nvSpPr>
        <p:spPr>
          <a:xfrm>
            <a:off x="1426464" y="4297680"/>
            <a:ext cx="1536192" cy="201168"/>
          </a:xfrm>
          <a:prstGeom prst="rect">
            <a:avLst/>
          </a:prstGeom>
          <a:noFill/>
          <a:ln/>
        </p:spPr>
        <p:txBody>
          <a:bodyPr wrap="square" lIns="0" tIns="0" rIns="0" bIns="0" rtlCol="0" anchor="ctr"/>
          <a:lstStyle/>
          <a:p>
            <a:pPr indent="0" marL="0">
              <a:buNone/>
            </a:pPr>
            <a:r>
              <a:rPr lang="en-US" sz="800" b="1" dirty="0">
                <a:solidFill>
                  <a:srgbClr val="6010C8"/>
                </a:solidFill>
                <a:latin typeface="Calibri" pitchFamily="34" charset="0"/>
                <a:ea typeface="Calibri" pitchFamily="34" charset="-122"/>
                <a:cs typeface="Calibri" pitchFamily="34" charset="-120"/>
              </a:rPr>
              <a:t>DV: 3+ unordered</a:t>
            </a:r>
            <a:endParaRPr lang="en-US" sz="800" dirty="0"/>
          </a:p>
        </p:txBody>
      </p:sp>
      <p:sp>
        <p:nvSpPr>
          <p:cNvPr id="32" name="Text 30"/>
          <p:cNvSpPr/>
          <p:nvPr/>
        </p:nvSpPr>
        <p:spPr>
          <a:xfrm>
            <a:off x="292608" y="4608576"/>
            <a:ext cx="1371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Multi-class</a:t>
            </a:r>
            <a:endParaRPr lang="en-US" sz="800" dirty="0"/>
          </a:p>
        </p:txBody>
      </p:sp>
      <p:sp>
        <p:nvSpPr>
          <p:cNvPr id="33" name="Text 31"/>
          <p:cNvSpPr/>
          <p:nvPr/>
        </p:nvSpPr>
        <p:spPr>
          <a:xfrm>
            <a:off x="1682496" y="4608576"/>
            <a:ext cx="1280160" cy="274320"/>
          </a:xfrm>
          <a:prstGeom prst="rect">
            <a:avLst/>
          </a:prstGeom>
          <a:noFill/>
          <a:ln/>
        </p:spPr>
        <p:txBody>
          <a:bodyPr wrap="square" lIns="0" tIns="0" rIns="0" bIns="0" rtlCol="0" anchor="ctr"/>
          <a:lstStyle/>
          <a:p>
            <a:pPr indent="0" marL="0">
              <a:buNone/>
            </a:pPr>
            <a:r>
              <a:rPr lang="en-US" sz="800" i="1" dirty="0">
                <a:solidFill>
                  <a:srgbClr val="6010C8"/>
                </a:solidFill>
                <a:latin typeface="Calibri" pitchFamily="34" charset="0"/>
                <a:ea typeface="Calibri" pitchFamily="34" charset="-122"/>
                <a:cs typeface="Calibri" pitchFamily="34" charset="-120"/>
              </a:rPr>
              <a:t>Product preference</a:t>
            </a:r>
            <a:endParaRPr lang="en-US" sz="800" dirty="0"/>
          </a:p>
        </p:txBody>
      </p:sp>
      <p:sp>
        <p:nvSpPr>
          <p:cNvPr id="34" name="Shape 32"/>
          <p:cNvSpPr/>
          <p:nvPr/>
        </p:nvSpPr>
        <p:spPr>
          <a:xfrm>
            <a:off x="3182112" y="1024128"/>
            <a:ext cx="2834640" cy="713232"/>
          </a:xfrm>
          <a:prstGeom prst="roundRect">
            <a:avLst>
              <a:gd name="adj" fmla="val 7692"/>
            </a:avLst>
          </a:prstGeom>
          <a:solidFill>
            <a:srgbClr val="F0F8FA"/>
          </a:solidFill>
          <a:ln w="10160">
            <a:solidFill>
              <a:srgbClr val="9840F0"/>
            </a:solidFill>
            <a:prstDash val="solid"/>
          </a:ln>
        </p:spPr>
      </p:sp>
      <p:sp>
        <p:nvSpPr>
          <p:cNvPr id="35" name="Shape 33"/>
          <p:cNvSpPr/>
          <p:nvPr/>
        </p:nvSpPr>
        <p:spPr>
          <a:xfrm>
            <a:off x="3236976" y="1078992"/>
            <a:ext cx="1097280" cy="237744"/>
          </a:xfrm>
          <a:prstGeom prst="roundRect">
            <a:avLst>
              <a:gd name="adj" fmla="val 15385"/>
            </a:avLst>
          </a:prstGeom>
          <a:solidFill>
            <a:srgbClr val="9840F0"/>
          </a:solidFill>
          <a:ln w="12700">
            <a:solidFill>
              <a:srgbClr val="9840F0"/>
            </a:solidFill>
            <a:prstDash val="solid"/>
          </a:ln>
        </p:spPr>
      </p:sp>
      <p:sp>
        <p:nvSpPr>
          <p:cNvPr id="36" name="Text 34"/>
          <p:cNvSpPr/>
          <p:nvPr/>
        </p:nvSpPr>
        <p:spPr>
          <a:xfrm>
            <a:off x="3236976" y="1078992"/>
            <a:ext cx="10972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Ordinal</a:t>
            </a:r>
            <a:endParaRPr lang="en-US" sz="800" dirty="0"/>
          </a:p>
        </p:txBody>
      </p:sp>
      <p:sp>
        <p:nvSpPr>
          <p:cNvPr id="37" name="Text 35"/>
          <p:cNvSpPr/>
          <p:nvPr/>
        </p:nvSpPr>
        <p:spPr>
          <a:xfrm>
            <a:off x="4407408" y="1078992"/>
            <a:ext cx="1536192" cy="201168"/>
          </a:xfrm>
          <a:prstGeom prst="rect">
            <a:avLst/>
          </a:prstGeom>
          <a:noFill/>
          <a:ln/>
        </p:spPr>
        <p:txBody>
          <a:bodyPr wrap="square" lIns="0" tIns="0" rIns="0" bIns="0" rtlCol="0" anchor="ctr"/>
          <a:lstStyle/>
          <a:p>
            <a:pPr indent="0" marL="0">
              <a:buNone/>
            </a:pPr>
            <a:r>
              <a:rPr lang="en-US" sz="800" b="1" dirty="0">
                <a:solidFill>
                  <a:srgbClr val="9840F0"/>
                </a:solidFill>
                <a:latin typeface="Calibri" pitchFamily="34" charset="0"/>
                <a:ea typeface="Calibri" pitchFamily="34" charset="-122"/>
                <a:cs typeface="Calibri" pitchFamily="34" charset="-120"/>
              </a:rPr>
              <a:t>DV: 3+ ordered</a:t>
            </a:r>
            <a:endParaRPr lang="en-US" sz="800" dirty="0"/>
          </a:p>
        </p:txBody>
      </p:sp>
      <p:sp>
        <p:nvSpPr>
          <p:cNvPr id="38" name="Text 36"/>
          <p:cNvSpPr/>
          <p:nvPr/>
        </p:nvSpPr>
        <p:spPr>
          <a:xfrm>
            <a:off x="3273552" y="1389888"/>
            <a:ext cx="1371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Ranked outcome</a:t>
            </a:r>
            <a:endParaRPr lang="en-US" sz="800" dirty="0"/>
          </a:p>
        </p:txBody>
      </p:sp>
      <p:sp>
        <p:nvSpPr>
          <p:cNvPr id="39" name="Text 37"/>
          <p:cNvSpPr/>
          <p:nvPr/>
        </p:nvSpPr>
        <p:spPr>
          <a:xfrm>
            <a:off x="4663440" y="1389888"/>
            <a:ext cx="1280160" cy="274320"/>
          </a:xfrm>
          <a:prstGeom prst="rect">
            <a:avLst/>
          </a:prstGeom>
          <a:noFill/>
          <a:ln/>
        </p:spPr>
        <p:txBody>
          <a:bodyPr wrap="square" lIns="0" tIns="0" rIns="0" bIns="0" rtlCol="0" anchor="ctr"/>
          <a:lstStyle/>
          <a:p>
            <a:pPr indent="0" marL="0">
              <a:buNone/>
            </a:pPr>
            <a:r>
              <a:rPr lang="en-US" sz="800" i="1" dirty="0">
                <a:solidFill>
                  <a:srgbClr val="9840F0"/>
                </a:solidFill>
                <a:latin typeface="Calibri" pitchFamily="34" charset="0"/>
                <a:ea typeface="Calibri" pitchFamily="34" charset="-122"/>
                <a:cs typeface="Calibri" pitchFamily="34" charset="-120"/>
              </a:rPr>
              <a:t>Satisfaction 1-5</a:t>
            </a:r>
            <a:endParaRPr lang="en-US" sz="800" dirty="0"/>
          </a:p>
        </p:txBody>
      </p:sp>
      <p:sp>
        <p:nvSpPr>
          <p:cNvPr id="40" name="Shape 38"/>
          <p:cNvSpPr/>
          <p:nvPr/>
        </p:nvSpPr>
        <p:spPr>
          <a:xfrm>
            <a:off x="3182112" y="1828800"/>
            <a:ext cx="2834640" cy="713232"/>
          </a:xfrm>
          <a:prstGeom prst="roundRect">
            <a:avLst>
              <a:gd name="adj" fmla="val 7692"/>
            </a:avLst>
          </a:prstGeom>
          <a:solidFill>
            <a:srgbClr val="F0F8FA"/>
          </a:solidFill>
          <a:ln w="10160">
            <a:solidFill>
              <a:srgbClr val="C01060"/>
            </a:solidFill>
            <a:prstDash val="solid"/>
          </a:ln>
        </p:spPr>
      </p:sp>
      <p:sp>
        <p:nvSpPr>
          <p:cNvPr id="41" name="Shape 39"/>
          <p:cNvSpPr/>
          <p:nvPr/>
        </p:nvSpPr>
        <p:spPr>
          <a:xfrm>
            <a:off x="3236976" y="1883664"/>
            <a:ext cx="1097280" cy="237744"/>
          </a:xfrm>
          <a:prstGeom prst="roundRect">
            <a:avLst>
              <a:gd name="adj" fmla="val 15385"/>
            </a:avLst>
          </a:prstGeom>
          <a:solidFill>
            <a:srgbClr val="C01060"/>
          </a:solidFill>
          <a:ln w="12700">
            <a:solidFill>
              <a:srgbClr val="C01060"/>
            </a:solidFill>
            <a:prstDash val="solid"/>
          </a:ln>
        </p:spPr>
      </p:sp>
      <p:sp>
        <p:nvSpPr>
          <p:cNvPr id="42" name="Text 40"/>
          <p:cNvSpPr/>
          <p:nvPr/>
        </p:nvSpPr>
        <p:spPr>
          <a:xfrm>
            <a:off x="3236976" y="1883664"/>
            <a:ext cx="10972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Poisson</a:t>
            </a:r>
            <a:endParaRPr lang="en-US" sz="800" dirty="0"/>
          </a:p>
        </p:txBody>
      </p:sp>
      <p:sp>
        <p:nvSpPr>
          <p:cNvPr id="43" name="Text 41"/>
          <p:cNvSpPr/>
          <p:nvPr/>
        </p:nvSpPr>
        <p:spPr>
          <a:xfrm>
            <a:off x="4407408" y="1883664"/>
            <a:ext cx="1536192" cy="201168"/>
          </a:xfrm>
          <a:prstGeom prst="rect">
            <a:avLst/>
          </a:prstGeom>
          <a:noFill/>
          <a:ln/>
        </p:spPr>
        <p:txBody>
          <a:bodyPr wrap="square" lIns="0" tIns="0" rIns="0" bIns="0" rtlCol="0" anchor="ctr"/>
          <a:lstStyle/>
          <a:p>
            <a:pPr indent="0" marL="0">
              <a:buNone/>
            </a:pPr>
            <a:r>
              <a:rPr lang="en-US" sz="800" b="1" dirty="0">
                <a:solidFill>
                  <a:srgbClr val="C01060"/>
                </a:solidFill>
                <a:latin typeface="Calibri" pitchFamily="34" charset="0"/>
                <a:ea typeface="Calibri" pitchFamily="34" charset="-122"/>
                <a:cs typeface="Calibri" pitchFamily="34" charset="-120"/>
              </a:rPr>
              <a:t>DV: Count</a:t>
            </a:r>
            <a:endParaRPr lang="en-US" sz="800" dirty="0"/>
          </a:p>
        </p:txBody>
      </p:sp>
      <p:sp>
        <p:nvSpPr>
          <p:cNvPr id="44" name="Text 42"/>
          <p:cNvSpPr/>
          <p:nvPr/>
        </p:nvSpPr>
        <p:spPr>
          <a:xfrm>
            <a:off x="3273552" y="2194560"/>
            <a:ext cx="1371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Equidispersed counts</a:t>
            </a:r>
            <a:endParaRPr lang="en-US" sz="800" dirty="0"/>
          </a:p>
        </p:txBody>
      </p:sp>
      <p:sp>
        <p:nvSpPr>
          <p:cNvPr id="45" name="Text 43"/>
          <p:cNvSpPr/>
          <p:nvPr/>
        </p:nvSpPr>
        <p:spPr>
          <a:xfrm>
            <a:off x="4663440" y="2194560"/>
            <a:ext cx="1280160" cy="274320"/>
          </a:xfrm>
          <a:prstGeom prst="rect">
            <a:avLst/>
          </a:prstGeom>
          <a:noFill/>
          <a:ln/>
        </p:spPr>
        <p:txBody>
          <a:bodyPr wrap="square" lIns="0" tIns="0" rIns="0" bIns="0" rtlCol="0" anchor="ctr"/>
          <a:lstStyle/>
          <a:p>
            <a:pPr indent="0" marL="0">
              <a:buNone/>
            </a:pPr>
            <a:r>
              <a:rPr lang="en-US" sz="800" i="1" dirty="0">
                <a:solidFill>
                  <a:srgbClr val="C01060"/>
                </a:solidFill>
                <a:latin typeface="Calibri" pitchFamily="34" charset="0"/>
                <a:ea typeface="Calibri" pitchFamily="34" charset="-122"/>
                <a:cs typeface="Calibri" pitchFamily="34" charset="-120"/>
              </a:rPr>
              <a:t>Claims per year</a:t>
            </a:r>
            <a:endParaRPr lang="en-US" sz="800" dirty="0"/>
          </a:p>
        </p:txBody>
      </p:sp>
      <p:sp>
        <p:nvSpPr>
          <p:cNvPr id="46" name="Shape 44"/>
          <p:cNvSpPr/>
          <p:nvPr/>
        </p:nvSpPr>
        <p:spPr>
          <a:xfrm>
            <a:off x="3182112" y="2633472"/>
            <a:ext cx="2834640" cy="713232"/>
          </a:xfrm>
          <a:prstGeom prst="roundRect">
            <a:avLst>
              <a:gd name="adj" fmla="val 7692"/>
            </a:avLst>
          </a:prstGeom>
          <a:solidFill>
            <a:srgbClr val="F0F8FA"/>
          </a:solidFill>
          <a:ln w="10160">
            <a:solidFill>
              <a:srgbClr val="E03020"/>
            </a:solidFill>
            <a:prstDash val="solid"/>
          </a:ln>
        </p:spPr>
      </p:sp>
      <p:sp>
        <p:nvSpPr>
          <p:cNvPr id="47" name="Shape 45"/>
          <p:cNvSpPr/>
          <p:nvPr/>
        </p:nvSpPr>
        <p:spPr>
          <a:xfrm>
            <a:off x="3236976" y="2688336"/>
            <a:ext cx="1097280" cy="237744"/>
          </a:xfrm>
          <a:prstGeom prst="roundRect">
            <a:avLst>
              <a:gd name="adj" fmla="val 15385"/>
            </a:avLst>
          </a:prstGeom>
          <a:solidFill>
            <a:srgbClr val="E03020"/>
          </a:solidFill>
          <a:ln w="12700">
            <a:solidFill>
              <a:srgbClr val="E03020"/>
            </a:solidFill>
            <a:prstDash val="solid"/>
          </a:ln>
        </p:spPr>
      </p:sp>
      <p:sp>
        <p:nvSpPr>
          <p:cNvPr id="48" name="Text 46"/>
          <p:cNvSpPr/>
          <p:nvPr/>
        </p:nvSpPr>
        <p:spPr>
          <a:xfrm>
            <a:off x="3236976" y="2688336"/>
            <a:ext cx="10972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Negative Binomial</a:t>
            </a:r>
            <a:endParaRPr lang="en-US" sz="800" dirty="0"/>
          </a:p>
        </p:txBody>
      </p:sp>
      <p:sp>
        <p:nvSpPr>
          <p:cNvPr id="49" name="Text 47"/>
          <p:cNvSpPr/>
          <p:nvPr/>
        </p:nvSpPr>
        <p:spPr>
          <a:xfrm>
            <a:off x="4407408" y="2688336"/>
            <a:ext cx="1536192" cy="201168"/>
          </a:xfrm>
          <a:prstGeom prst="rect">
            <a:avLst/>
          </a:prstGeom>
          <a:noFill/>
          <a:ln/>
        </p:spPr>
        <p:txBody>
          <a:bodyPr wrap="square" lIns="0" tIns="0" rIns="0" bIns="0" rtlCol="0" anchor="ctr"/>
          <a:lstStyle/>
          <a:p>
            <a:pPr indent="0" marL="0">
              <a:buNone/>
            </a:pPr>
            <a:r>
              <a:rPr lang="en-US" sz="800" b="1" dirty="0">
                <a:solidFill>
                  <a:srgbClr val="E03020"/>
                </a:solidFill>
                <a:latin typeface="Calibri" pitchFamily="34" charset="0"/>
                <a:ea typeface="Calibri" pitchFamily="34" charset="-122"/>
                <a:cs typeface="Calibri" pitchFamily="34" charset="-120"/>
              </a:rPr>
              <a:t>DV: Count (overdispersed)</a:t>
            </a:r>
            <a:endParaRPr lang="en-US" sz="800" dirty="0"/>
          </a:p>
        </p:txBody>
      </p:sp>
      <p:sp>
        <p:nvSpPr>
          <p:cNvPr id="50" name="Text 48"/>
          <p:cNvSpPr/>
          <p:nvPr/>
        </p:nvSpPr>
        <p:spPr>
          <a:xfrm>
            <a:off x="3273552" y="2999232"/>
            <a:ext cx="1371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Var &gt;&gt; Mean</a:t>
            </a:r>
            <a:endParaRPr lang="en-US" sz="800" dirty="0"/>
          </a:p>
        </p:txBody>
      </p:sp>
      <p:sp>
        <p:nvSpPr>
          <p:cNvPr id="51" name="Text 49"/>
          <p:cNvSpPr/>
          <p:nvPr/>
        </p:nvSpPr>
        <p:spPr>
          <a:xfrm>
            <a:off x="4663440" y="2999232"/>
            <a:ext cx="1280160" cy="274320"/>
          </a:xfrm>
          <a:prstGeom prst="rect">
            <a:avLst/>
          </a:prstGeom>
          <a:noFill/>
          <a:ln/>
        </p:spPr>
        <p:txBody>
          <a:bodyPr wrap="square" lIns="0" tIns="0" rIns="0" bIns="0" rtlCol="0" anchor="ctr"/>
          <a:lstStyle/>
          <a:p>
            <a:pPr indent="0" marL="0">
              <a:buNone/>
            </a:pPr>
            <a:r>
              <a:rPr lang="en-US" sz="800" i="1" dirty="0">
                <a:solidFill>
                  <a:srgbClr val="E03020"/>
                </a:solidFill>
                <a:latin typeface="Calibri" pitchFamily="34" charset="0"/>
                <a:ea typeface="Calibri" pitchFamily="34" charset="-122"/>
                <a:cs typeface="Calibri" pitchFamily="34" charset="-120"/>
              </a:rPr>
              <a:t>Complaints/month</a:t>
            </a:r>
            <a:endParaRPr lang="en-US" sz="800" dirty="0"/>
          </a:p>
        </p:txBody>
      </p:sp>
      <p:sp>
        <p:nvSpPr>
          <p:cNvPr id="52" name="Shape 50"/>
          <p:cNvSpPr/>
          <p:nvPr/>
        </p:nvSpPr>
        <p:spPr>
          <a:xfrm>
            <a:off x="3182112" y="3438144"/>
            <a:ext cx="2834640" cy="713232"/>
          </a:xfrm>
          <a:prstGeom prst="roundRect">
            <a:avLst>
              <a:gd name="adj" fmla="val 7692"/>
            </a:avLst>
          </a:prstGeom>
          <a:solidFill>
            <a:srgbClr val="F0F8FA"/>
          </a:solidFill>
          <a:ln w="10160">
            <a:solidFill>
              <a:srgbClr val="14B8C8"/>
            </a:solidFill>
            <a:prstDash val="solid"/>
          </a:ln>
        </p:spPr>
      </p:sp>
      <p:sp>
        <p:nvSpPr>
          <p:cNvPr id="53" name="Shape 51"/>
          <p:cNvSpPr/>
          <p:nvPr/>
        </p:nvSpPr>
        <p:spPr>
          <a:xfrm>
            <a:off x="3236976" y="3493008"/>
            <a:ext cx="1097280" cy="237744"/>
          </a:xfrm>
          <a:prstGeom prst="roundRect">
            <a:avLst>
              <a:gd name="adj" fmla="val 15385"/>
            </a:avLst>
          </a:prstGeom>
          <a:solidFill>
            <a:srgbClr val="14B8C8"/>
          </a:solidFill>
          <a:ln w="12700">
            <a:solidFill>
              <a:srgbClr val="14B8C8"/>
            </a:solidFill>
            <a:prstDash val="solid"/>
          </a:ln>
        </p:spPr>
      </p:sp>
      <p:sp>
        <p:nvSpPr>
          <p:cNvPr id="54" name="Text 52"/>
          <p:cNvSpPr/>
          <p:nvPr/>
        </p:nvSpPr>
        <p:spPr>
          <a:xfrm>
            <a:off x="3236976" y="3493008"/>
            <a:ext cx="10972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Ridge (L2)</a:t>
            </a:r>
            <a:endParaRPr lang="en-US" sz="800" dirty="0"/>
          </a:p>
        </p:txBody>
      </p:sp>
      <p:sp>
        <p:nvSpPr>
          <p:cNvPr id="55" name="Text 53"/>
          <p:cNvSpPr/>
          <p:nvPr/>
        </p:nvSpPr>
        <p:spPr>
          <a:xfrm>
            <a:off x="4407408" y="3493008"/>
            <a:ext cx="1536192" cy="201168"/>
          </a:xfrm>
          <a:prstGeom prst="rect">
            <a:avLst/>
          </a:prstGeom>
          <a:noFill/>
          <a:ln/>
        </p:spPr>
        <p:txBody>
          <a:bodyPr wrap="square" lIns="0" tIns="0" rIns="0" bIns="0" rtlCol="0" anchor="ctr"/>
          <a:lstStyle/>
          <a:p>
            <a:pPr indent="0" marL="0">
              <a:buNone/>
            </a:pPr>
            <a:r>
              <a:rPr lang="en-US" sz="800" b="1" dirty="0">
                <a:solidFill>
                  <a:srgbClr val="14B8C8"/>
                </a:solidFill>
                <a:latin typeface="Calibri" pitchFamily="34" charset="0"/>
                <a:ea typeface="Calibri" pitchFamily="34" charset="-122"/>
                <a:cs typeface="Calibri" pitchFamily="34" charset="-120"/>
              </a:rPr>
              <a:t>DV: Continuous</a:t>
            </a:r>
            <a:endParaRPr lang="en-US" sz="800" dirty="0"/>
          </a:p>
        </p:txBody>
      </p:sp>
      <p:sp>
        <p:nvSpPr>
          <p:cNvPr id="56" name="Text 54"/>
          <p:cNvSpPr/>
          <p:nvPr/>
        </p:nvSpPr>
        <p:spPr>
          <a:xfrm>
            <a:off x="3273552" y="3803904"/>
            <a:ext cx="1371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Many correlated X</a:t>
            </a:r>
            <a:endParaRPr lang="en-US" sz="800" dirty="0"/>
          </a:p>
        </p:txBody>
      </p:sp>
      <p:sp>
        <p:nvSpPr>
          <p:cNvPr id="57" name="Text 55"/>
          <p:cNvSpPr/>
          <p:nvPr/>
        </p:nvSpPr>
        <p:spPr>
          <a:xfrm>
            <a:off x="4663440" y="3803904"/>
            <a:ext cx="1280160" cy="274320"/>
          </a:xfrm>
          <a:prstGeom prst="rect">
            <a:avLst/>
          </a:prstGeom>
          <a:noFill/>
          <a:ln/>
        </p:spPr>
        <p:txBody>
          <a:bodyPr wrap="square" lIns="0" tIns="0" rIns="0" bIns="0" rtlCol="0" anchor="ctr"/>
          <a:lstStyle/>
          <a:p>
            <a:pPr indent="0" marL="0">
              <a:buNone/>
            </a:pPr>
            <a:r>
              <a:rPr lang="en-US" sz="800" i="1" dirty="0">
                <a:solidFill>
                  <a:srgbClr val="14B8C8"/>
                </a:solidFill>
                <a:latin typeface="Calibri" pitchFamily="34" charset="0"/>
                <a:ea typeface="Calibri" pitchFamily="34" charset="-122"/>
                <a:cs typeface="Calibri" pitchFamily="34" charset="-120"/>
              </a:rPr>
              <a:t>100+ credit features</a:t>
            </a:r>
            <a:endParaRPr lang="en-US" sz="800" dirty="0"/>
          </a:p>
        </p:txBody>
      </p:sp>
      <p:sp>
        <p:nvSpPr>
          <p:cNvPr id="58" name="Shape 56"/>
          <p:cNvSpPr/>
          <p:nvPr/>
        </p:nvSpPr>
        <p:spPr>
          <a:xfrm>
            <a:off x="3182112" y="4242816"/>
            <a:ext cx="2834640" cy="713232"/>
          </a:xfrm>
          <a:prstGeom prst="roundRect">
            <a:avLst>
              <a:gd name="adj" fmla="val 7692"/>
            </a:avLst>
          </a:prstGeom>
          <a:solidFill>
            <a:srgbClr val="F0F8FA"/>
          </a:solidFill>
          <a:ln w="10160">
            <a:solidFill>
              <a:srgbClr val="D4A010"/>
            </a:solidFill>
            <a:prstDash val="solid"/>
          </a:ln>
        </p:spPr>
      </p:sp>
      <p:sp>
        <p:nvSpPr>
          <p:cNvPr id="59" name="Shape 57"/>
          <p:cNvSpPr/>
          <p:nvPr/>
        </p:nvSpPr>
        <p:spPr>
          <a:xfrm>
            <a:off x="3236976" y="4297680"/>
            <a:ext cx="1097280" cy="237744"/>
          </a:xfrm>
          <a:prstGeom prst="roundRect">
            <a:avLst>
              <a:gd name="adj" fmla="val 15385"/>
            </a:avLst>
          </a:prstGeom>
          <a:solidFill>
            <a:srgbClr val="D4A010"/>
          </a:solidFill>
          <a:ln w="12700">
            <a:solidFill>
              <a:srgbClr val="D4A010"/>
            </a:solidFill>
            <a:prstDash val="solid"/>
          </a:ln>
        </p:spPr>
      </p:sp>
      <p:sp>
        <p:nvSpPr>
          <p:cNvPr id="60" name="Text 58"/>
          <p:cNvSpPr/>
          <p:nvPr/>
        </p:nvSpPr>
        <p:spPr>
          <a:xfrm>
            <a:off x="3236976" y="4297680"/>
            <a:ext cx="10972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Lasso (L1)</a:t>
            </a:r>
            <a:endParaRPr lang="en-US" sz="800" dirty="0"/>
          </a:p>
        </p:txBody>
      </p:sp>
      <p:sp>
        <p:nvSpPr>
          <p:cNvPr id="61" name="Text 59"/>
          <p:cNvSpPr/>
          <p:nvPr/>
        </p:nvSpPr>
        <p:spPr>
          <a:xfrm>
            <a:off x="4407408" y="4297680"/>
            <a:ext cx="1536192" cy="201168"/>
          </a:xfrm>
          <a:prstGeom prst="rect">
            <a:avLst/>
          </a:prstGeom>
          <a:noFill/>
          <a:ln/>
        </p:spPr>
        <p:txBody>
          <a:bodyPr wrap="square" lIns="0" tIns="0" rIns="0" bIns="0" rtlCol="0" anchor="ctr"/>
          <a:lstStyle/>
          <a:p>
            <a:pPr indent="0" marL="0">
              <a:buNone/>
            </a:pPr>
            <a:r>
              <a:rPr lang="en-US" sz="800" b="1" dirty="0">
                <a:solidFill>
                  <a:srgbClr val="D4A010"/>
                </a:solidFill>
                <a:latin typeface="Calibri" pitchFamily="34" charset="0"/>
                <a:ea typeface="Calibri" pitchFamily="34" charset="-122"/>
                <a:cs typeface="Calibri" pitchFamily="34" charset="-120"/>
              </a:rPr>
              <a:t>DV: Continuous</a:t>
            </a:r>
            <a:endParaRPr lang="en-US" sz="800" dirty="0"/>
          </a:p>
        </p:txBody>
      </p:sp>
      <p:sp>
        <p:nvSpPr>
          <p:cNvPr id="62" name="Text 60"/>
          <p:cNvSpPr/>
          <p:nvPr/>
        </p:nvSpPr>
        <p:spPr>
          <a:xfrm>
            <a:off x="3273552" y="4608576"/>
            <a:ext cx="1371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Sparse selection</a:t>
            </a:r>
            <a:endParaRPr lang="en-US" sz="800" dirty="0"/>
          </a:p>
        </p:txBody>
      </p:sp>
      <p:sp>
        <p:nvSpPr>
          <p:cNvPr id="63" name="Text 61"/>
          <p:cNvSpPr/>
          <p:nvPr/>
        </p:nvSpPr>
        <p:spPr>
          <a:xfrm>
            <a:off x="4663440" y="4608576"/>
            <a:ext cx="1280160" cy="274320"/>
          </a:xfrm>
          <a:prstGeom prst="rect">
            <a:avLst/>
          </a:prstGeom>
          <a:noFill/>
          <a:ln/>
        </p:spPr>
        <p:txBody>
          <a:bodyPr wrap="square" lIns="0" tIns="0" rIns="0" bIns="0" rtlCol="0" anchor="ctr"/>
          <a:lstStyle/>
          <a:p>
            <a:pPr indent="0" marL="0">
              <a:buNone/>
            </a:pPr>
            <a:r>
              <a:rPr lang="en-US" sz="800" i="1" dirty="0">
                <a:solidFill>
                  <a:srgbClr val="D4A010"/>
                </a:solidFill>
                <a:latin typeface="Calibri" pitchFamily="34" charset="0"/>
                <a:ea typeface="Calibri" pitchFamily="34" charset="-122"/>
                <a:cs typeface="Calibri" pitchFamily="34" charset="-120"/>
              </a:rPr>
              <a:t>Select 20 from 200</a:t>
            </a:r>
            <a:endParaRPr lang="en-US" sz="800" dirty="0"/>
          </a:p>
        </p:txBody>
      </p:sp>
      <p:sp>
        <p:nvSpPr>
          <p:cNvPr id="64" name="Shape 62"/>
          <p:cNvSpPr/>
          <p:nvPr/>
        </p:nvSpPr>
        <p:spPr>
          <a:xfrm>
            <a:off x="6163056" y="1024128"/>
            <a:ext cx="2834640" cy="713232"/>
          </a:xfrm>
          <a:prstGeom prst="roundRect">
            <a:avLst>
              <a:gd name="adj" fmla="val 7692"/>
            </a:avLst>
          </a:prstGeom>
          <a:solidFill>
            <a:srgbClr val="F0F8FA"/>
          </a:solidFill>
          <a:ln w="10160">
            <a:solidFill>
              <a:srgbClr val="F0C840"/>
            </a:solidFill>
            <a:prstDash val="solid"/>
          </a:ln>
        </p:spPr>
      </p:sp>
      <p:sp>
        <p:nvSpPr>
          <p:cNvPr id="65" name="Shape 63"/>
          <p:cNvSpPr/>
          <p:nvPr/>
        </p:nvSpPr>
        <p:spPr>
          <a:xfrm>
            <a:off x="6217920" y="1078992"/>
            <a:ext cx="1097280" cy="237744"/>
          </a:xfrm>
          <a:prstGeom prst="roundRect">
            <a:avLst>
              <a:gd name="adj" fmla="val 15385"/>
            </a:avLst>
          </a:prstGeom>
          <a:solidFill>
            <a:srgbClr val="F0C840"/>
          </a:solidFill>
          <a:ln w="12700">
            <a:solidFill>
              <a:srgbClr val="F0C840"/>
            </a:solidFill>
            <a:prstDash val="solid"/>
          </a:ln>
        </p:spPr>
      </p:sp>
      <p:sp>
        <p:nvSpPr>
          <p:cNvPr id="66" name="Text 64"/>
          <p:cNvSpPr/>
          <p:nvPr/>
        </p:nvSpPr>
        <p:spPr>
          <a:xfrm>
            <a:off x="6217920" y="1078992"/>
            <a:ext cx="1097280" cy="237744"/>
          </a:xfrm>
          <a:prstGeom prst="rect">
            <a:avLst/>
          </a:prstGeom>
          <a:noFill/>
          <a:ln/>
        </p:spPr>
        <p:txBody>
          <a:bodyPr wrap="square" lIns="0" tIns="0" rIns="0" bIns="0" rtlCol="0" anchor="ctr"/>
          <a:lstStyle/>
          <a:p>
            <a:pPr algn="ctr" indent="0" marL="0">
              <a:buNone/>
            </a:pPr>
            <a:r>
              <a:rPr lang="en-US" sz="800" b="1" dirty="0">
                <a:solidFill>
                  <a:srgbClr val="0C1428"/>
                </a:solidFill>
                <a:latin typeface="Calibri" pitchFamily="34" charset="0"/>
                <a:ea typeface="Calibri" pitchFamily="34" charset="-122"/>
                <a:cs typeface="Calibri" pitchFamily="34" charset="-120"/>
              </a:rPr>
              <a:t>Elastic Net</a:t>
            </a:r>
            <a:endParaRPr lang="en-US" sz="800" dirty="0"/>
          </a:p>
        </p:txBody>
      </p:sp>
      <p:sp>
        <p:nvSpPr>
          <p:cNvPr id="67" name="Text 65"/>
          <p:cNvSpPr/>
          <p:nvPr/>
        </p:nvSpPr>
        <p:spPr>
          <a:xfrm>
            <a:off x="7388352" y="1078992"/>
            <a:ext cx="1536192" cy="201168"/>
          </a:xfrm>
          <a:prstGeom prst="rect">
            <a:avLst/>
          </a:prstGeom>
          <a:noFill/>
          <a:ln/>
        </p:spPr>
        <p:txBody>
          <a:bodyPr wrap="square" lIns="0" tIns="0" rIns="0" bIns="0" rtlCol="0" anchor="ctr"/>
          <a:lstStyle/>
          <a:p>
            <a:pPr indent="0" marL="0">
              <a:buNone/>
            </a:pPr>
            <a:r>
              <a:rPr lang="en-US" sz="800" b="1" dirty="0">
                <a:solidFill>
                  <a:srgbClr val="F0C840"/>
                </a:solidFill>
                <a:latin typeface="Calibri" pitchFamily="34" charset="0"/>
                <a:ea typeface="Calibri" pitchFamily="34" charset="-122"/>
                <a:cs typeface="Calibri" pitchFamily="34" charset="-120"/>
              </a:rPr>
              <a:t>DV: Continuous</a:t>
            </a:r>
            <a:endParaRPr lang="en-US" sz="800" dirty="0"/>
          </a:p>
        </p:txBody>
      </p:sp>
      <p:sp>
        <p:nvSpPr>
          <p:cNvPr id="68" name="Text 66"/>
          <p:cNvSpPr/>
          <p:nvPr/>
        </p:nvSpPr>
        <p:spPr>
          <a:xfrm>
            <a:off x="6254496" y="1389888"/>
            <a:ext cx="1371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Grouped correlated X</a:t>
            </a:r>
            <a:endParaRPr lang="en-US" sz="800" dirty="0"/>
          </a:p>
        </p:txBody>
      </p:sp>
      <p:sp>
        <p:nvSpPr>
          <p:cNvPr id="69" name="Text 67"/>
          <p:cNvSpPr/>
          <p:nvPr/>
        </p:nvSpPr>
        <p:spPr>
          <a:xfrm>
            <a:off x="7644384" y="1389888"/>
            <a:ext cx="1280160" cy="274320"/>
          </a:xfrm>
          <a:prstGeom prst="rect">
            <a:avLst/>
          </a:prstGeom>
          <a:noFill/>
          <a:ln/>
        </p:spPr>
        <p:txBody>
          <a:bodyPr wrap="square" lIns="0" tIns="0" rIns="0" bIns="0" rtlCol="0" anchor="ctr"/>
          <a:lstStyle/>
          <a:p>
            <a:pPr indent="0" marL="0">
              <a:buNone/>
            </a:pPr>
            <a:r>
              <a:rPr lang="en-US" sz="800" i="1" dirty="0">
                <a:solidFill>
                  <a:srgbClr val="F0C840"/>
                </a:solidFill>
                <a:latin typeface="Calibri" pitchFamily="34" charset="0"/>
                <a:ea typeface="Calibri" pitchFamily="34" charset="-122"/>
                <a:cs typeface="Calibri" pitchFamily="34" charset="-120"/>
              </a:rPr>
              <a:t>Behavioural signals</a:t>
            </a:r>
            <a:endParaRPr lang="en-US" sz="800" dirty="0"/>
          </a:p>
        </p:txBody>
      </p:sp>
      <p:sp>
        <p:nvSpPr>
          <p:cNvPr id="70" name="Shape 68"/>
          <p:cNvSpPr/>
          <p:nvPr/>
        </p:nvSpPr>
        <p:spPr>
          <a:xfrm>
            <a:off x="6163056" y="1828800"/>
            <a:ext cx="2834640" cy="713232"/>
          </a:xfrm>
          <a:prstGeom prst="roundRect">
            <a:avLst>
              <a:gd name="adj" fmla="val 7692"/>
            </a:avLst>
          </a:prstGeom>
          <a:solidFill>
            <a:srgbClr val="F0F8FA"/>
          </a:solidFill>
          <a:ln w="10160">
            <a:solidFill>
              <a:srgbClr val="1050D0"/>
            </a:solidFill>
            <a:prstDash val="solid"/>
          </a:ln>
        </p:spPr>
      </p:sp>
      <p:sp>
        <p:nvSpPr>
          <p:cNvPr id="71" name="Shape 69"/>
          <p:cNvSpPr/>
          <p:nvPr/>
        </p:nvSpPr>
        <p:spPr>
          <a:xfrm>
            <a:off x="6217920" y="1883664"/>
            <a:ext cx="1097280" cy="237744"/>
          </a:xfrm>
          <a:prstGeom prst="roundRect">
            <a:avLst>
              <a:gd name="adj" fmla="val 15385"/>
            </a:avLst>
          </a:prstGeom>
          <a:solidFill>
            <a:srgbClr val="1050D0"/>
          </a:solidFill>
          <a:ln w="12700">
            <a:solidFill>
              <a:srgbClr val="1050D0"/>
            </a:solidFill>
            <a:prstDash val="solid"/>
          </a:ln>
        </p:spPr>
      </p:sp>
      <p:sp>
        <p:nvSpPr>
          <p:cNvPr id="72" name="Text 70"/>
          <p:cNvSpPr/>
          <p:nvPr/>
        </p:nvSpPr>
        <p:spPr>
          <a:xfrm>
            <a:off x="6217920" y="1883664"/>
            <a:ext cx="10972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Cox Survival</a:t>
            </a:r>
            <a:endParaRPr lang="en-US" sz="800" dirty="0"/>
          </a:p>
        </p:txBody>
      </p:sp>
      <p:sp>
        <p:nvSpPr>
          <p:cNvPr id="73" name="Text 71"/>
          <p:cNvSpPr/>
          <p:nvPr/>
        </p:nvSpPr>
        <p:spPr>
          <a:xfrm>
            <a:off x="7388352" y="1883664"/>
            <a:ext cx="1536192" cy="201168"/>
          </a:xfrm>
          <a:prstGeom prst="rect">
            <a:avLst/>
          </a:prstGeom>
          <a:noFill/>
          <a:ln/>
        </p:spPr>
        <p:txBody>
          <a:bodyPr wrap="square" lIns="0" tIns="0" rIns="0" bIns="0" rtlCol="0" anchor="ctr"/>
          <a:lstStyle/>
          <a:p>
            <a:pPr indent="0" marL="0">
              <a:buNone/>
            </a:pPr>
            <a:r>
              <a:rPr lang="en-US" sz="800" b="1" dirty="0">
                <a:solidFill>
                  <a:srgbClr val="1050D0"/>
                </a:solidFill>
                <a:latin typeface="Calibri" pitchFamily="34" charset="0"/>
                <a:ea typeface="Calibri" pitchFamily="34" charset="-122"/>
                <a:cs typeface="Calibri" pitchFamily="34" charset="-120"/>
              </a:rPr>
              <a:t>DV: Time-to-event</a:t>
            </a:r>
            <a:endParaRPr lang="en-US" sz="800" dirty="0"/>
          </a:p>
        </p:txBody>
      </p:sp>
      <p:sp>
        <p:nvSpPr>
          <p:cNvPr id="74" name="Text 72"/>
          <p:cNvSpPr/>
          <p:nvPr/>
        </p:nvSpPr>
        <p:spPr>
          <a:xfrm>
            <a:off x="6254496" y="2194560"/>
            <a:ext cx="1371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Censored T data</a:t>
            </a:r>
            <a:endParaRPr lang="en-US" sz="800" dirty="0"/>
          </a:p>
        </p:txBody>
      </p:sp>
      <p:sp>
        <p:nvSpPr>
          <p:cNvPr id="75" name="Text 73"/>
          <p:cNvSpPr/>
          <p:nvPr/>
        </p:nvSpPr>
        <p:spPr>
          <a:xfrm>
            <a:off x="7644384" y="2194560"/>
            <a:ext cx="1280160" cy="274320"/>
          </a:xfrm>
          <a:prstGeom prst="rect">
            <a:avLst/>
          </a:prstGeom>
          <a:noFill/>
          <a:ln/>
        </p:spPr>
        <p:txBody>
          <a:bodyPr wrap="square" lIns="0" tIns="0" rIns="0" bIns="0" rtlCol="0" anchor="ctr"/>
          <a:lstStyle/>
          <a:p>
            <a:pPr indent="0" marL="0">
              <a:buNone/>
            </a:pPr>
            <a:r>
              <a:rPr lang="en-US" sz="800" i="1" dirty="0">
                <a:solidFill>
                  <a:srgbClr val="1050D0"/>
                </a:solidFill>
                <a:latin typeface="Calibri" pitchFamily="34" charset="0"/>
                <a:ea typeface="Calibri" pitchFamily="34" charset="-122"/>
                <a:cs typeface="Calibri" pitchFamily="34" charset="-120"/>
              </a:rPr>
              <a:t>Time until churn</a:t>
            </a:r>
            <a:endParaRPr lang="en-US" sz="800" dirty="0"/>
          </a:p>
        </p:txBody>
      </p:sp>
      <p:sp>
        <p:nvSpPr>
          <p:cNvPr id="76" name="Shape 74"/>
          <p:cNvSpPr/>
          <p:nvPr/>
        </p:nvSpPr>
        <p:spPr>
          <a:xfrm>
            <a:off x="6163056" y="2633472"/>
            <a:ext cx="2834640" cy="713232"/>
          </a:xfrm>
          <a:prstGeom prst="roundRect">
            <a:avLst>
              <a:gd name="adj" fmla="val 7692"/>
            </a:avLst>
          </a:prstGeom>
          <a:solidFill>
            <a:srgbClr val="F0F8FA"/>
          </a:solidFill>
          <a:ln w="10160">
            <a:solidFill>
              <a:srgbClr val="14C870"/>
            </a:solidFill>
            <a:prstDash val="solid"/>
          </a:ln>
        </p:spPr>
      </p:sp>
      <p:sp>
        <p:nvSpPr>
          <p:cNvPr id="77" name="Shape 75"/>
          <p:cNvSpPr/>
          <p:nvPr/>
        </p:nvSpPr>
        <p:spPr>
          <a:xfrm>
            <a:off x="6217920" y="2688336"/>
            <a:ext cx="1097280" cy="237744"/>
          </a:xfrm>
          <a:prstGeom prst="roundRect">
            <a:avLst>
              <a:gd name="adj" fmla="val 15385"/>
            </a:avLst>
          </a:prstGeom>
          <a:solidFill>
            <a:srgbClr val="14C870"/>
          </a:solidFill>
          <a:ln w="12700">
            <a:solidFill>
              <a:srgbClr val="14C870"/>
            </a:solidFill>
            <a:prstDash val="solid"/>
          </a:ln>
        </p:spPr>
      </p:sp>
      <p:sp>
        <p:nvSpPr>
          <p:cNvPr id="78" name="Text 76"/>
          <p:cNvSpPr/>
          <p:nvPr/>
        </p:nvSpPr>
        <p:spPr>
          <a:xfrm>
            <a:off x="6217920" y="2688336"/>
            <a:ext cx="10972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Quantile</a:t>
            </a:r>
            <a:endParaRPr lang="en-US" sz="800" dirty="0"/>
          </a:p>
        </p:txBody>
      </p:sp>
      <p:sp>
        <p:nvSpPr>
          <p:cNvPr id="79" name="Text 77"/>
          <p:cNvSpPr/>
          <p:nvPr/>
        </p:nvSpPr>
        <p:spPr>
          <a:xfrm>
            <a:off x="7388352" y="2688336"/>
            <a:ext cx="1536192" cy="201168"/>
          </a:xfrm>
          <a:prstGeom prst="rect">
            <a:avLst/>
          </a:prstGeom>
          <a:noFill/>
          <a:ln/>
        </p:spPr>
        <p:txBody>
          <a:bodyPr wrap="square" lIns="0" tIns="0" rIns="0" bIns="0" rtlCol="0" anchor="ctr"/>
          <a:lstStyle/>
          <a:p>
            <a:pPr indent="0" marL="0">
              <a:buNone/>
            </a:pPr>
            <a:r>
              <a:rPr lang="en-US" sz="800" b="1" dirty="0">
                <a:solidFill>
                  <a:srgbClr val="14C870"/>
                </a:solidFill>
                <a:latin typeface="Calibri" pitchFamily="34" charset="0"/>
                <a:ea typeface="Calibri" pitchFamily="34" charset="-122"/>
                <a:cs typeface="Calibri" pitchFamily="34" charset="-120"/>
              </a:rPr>
              <a:t>DV: Any continuous</a:t>
            </a:r>
            <a:endParaRPr lang="en-US" sz="800" dirty="0"/>
          </a:p>
        </p:txBody>
      </p:sp>
      <p:sp>
        <p:nvSpPr>
          <p:cNvPr id="80" name="Text 78"/>
          <p:cNvSpPr/>
          <p:nvPr/>
        </p:nvSpPr>
        <p:spPr>
          <a:xfrm>
            <a:off x="6254496" y="2999232"/>
            <a:ext cx="1371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Specific quantile</a:t>
            </a:r>
            <a:endParaRPr lang="en-US" sz="800" dirty="0"/>
          </a:p>
        </p:txBody>
      </p:sp>
      <p:sp>
        <p:nvSpPr>
          <p:cNvPr id="81" name="Text 79"/>
          <p:cNvSpPr/>
          <p:nvPr/>
        </p:nvSpPr>
        <p:spPr>
          <a:xfrm>
            <a:off x="7644384" y="2999232"/>
            <a:ext cx="1280160" cy="274320"/>
          </a:xfrm>
          <a:prstGeom prst="rect">
            <a:avLst/>
          </a:prstGeom>
          <a:noFill/>
          <a:ln/>
        </p:spPr>
        <p:txBody>
          <a:bodyPr wrap="square" lIns="0" tIns="0" rIns="0" bIns="0" rtlCol="0" anchor="ctr"/>
          <a:lstStyle/>
          <a:p>
            <a:pPr indent="0" marL="0">
              <a:buNone/>
            </a:pPr>
            <a:r>
              <a:rPr lang="en-US" sz="800" i="1" dirty="0">
                <a:solidFill>
                  <a:srgbClr val="14C870"/>
                </a:solidFill>
                <a:latin typeface="Calibri" pitchFamily="34" charset="0"/>
                <a:ea typeface="Calibri" pitchFamily="34" charset="-122"/>
                <a:cs typeface="Calibri" pitchFamily="34" charset="-120"/>
              </a:rPr>
              <a:t>90th pct price</a:t>
            </a:r>
            <a:endParaRPr lang="en-US" sz="800" dirty="0"/>
          </a:p>
        </p:txBody>
      </p:sp>
      <p:sp>
        <p:nvSpPr>
          <p:cNvPr id="82" name="Shape 80"/>
          <p:cNvSpPr/>
          <p:nvPr/>
        </p:nvSpPr>
        <p:spPr>
          <a:xfrm>
            <a:off x="6163056" y="3438144"/>
            <a:ext cx="2834640" cy="713232"/>
          </a:xfrm>
          <a:prstGeom prst="roundRect">
            <a:avLst>
              <a:gd name="adj" fmla="val 7692"/>
            </a:avLst>
          </a:prstGeom>
          <a:solidFill>
            <a:srgbClr val="F0F8FA"/>
          </a:solidFill>
          <a:ln w="10160">
            <a:solidFill>
              <a:srgbClr val="9840F0"/>
            </a:solidFill>
            <a:prstDash val="solid"/>
          </a:ln>
        </p:spPr>
      </p:sp>
      <p:sp>
        <p:nvSpPr>
          <p:cNvPr id="83" name="Shape 81"/>
          <p:cNvSpPr/>
          <p:nvPr/>
        </p:nvSpPr>
        <p:spPr>
          <a:xfrm>
            <a:off x="6217920" y="3493008"/>
            <a:ext cx="1097280" cy="237744"/>
          </a:xfrm>
          <a:prstGeom prst="roundRect">
            <a:avLst>
              <a:gd name="adj" fmla="val 15385"/>
            </a:avLst>
          </a:prstGeom>
          <a:solidFill>
            <a:srgbClr val="9840F0"/>
          </a:solidFill>
          <a:ln w="12700">
            <a:solidFill>
              <a:srgbClr val="9840F0"/>
            </a:solidFill>
            <a:prstDash val="solid"/>
          </a:ln>
        </p:spPr>
      </p:sp>
      <p:sp>
        <p:nvSpPr>
          <p:cNvPr id="84" name="Text 82"/>
          <p:cNvSpPr/>
          <p:nvPr/>
        </p:nvSpPr>
        <p:spPr>
          <a:xfrm>
            <a:off x="6217920" y="3493008"/>
            <a:ext cx="10972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GAM</a:t>
            </a:r>
            <a:endParaRPr lang="en-US" sz="800" dirty="0"/>
          </a:p>
        </p:txBody>
      </p:sp>
      <p:sp>
        <p:nvSpPr>
          <p:cNvPr id="85" name="Text 83"/>
          <p:cNvSpPr/>
          <p:nvPr/>
        </p:nvSpPr>
        <p:spPr>
          <a:xfrm>
            <a:off x="7388352" y="3493008"/>
            <a:ext cx="1536192" cy="201168"/>
          </a:xfrm>
          <a:prstGeom prst="rect">
            <a:avLst/>
          </a:prstGeom>
          <a:noFill/>
          <a:ln/>
        </p:spPr>
        <p:txBody>
          <a:bodyPr wrap="square" lIns="0" tIns="0" rIns="0" bIns="0" rtlCol="0" anchor="ctr"/>
          <a:lstStyle/>
          <a:p>
            <a:pPr indent="0" marL="0">
              <a:buNone/>
            </a:pPr>
            <a:r>
              <a:rPr lang="en-US" sz="800" b="1" dirty="0">
                <a:solidFill>
                  <a:srgbClr val="9840F0"/>
                </a:solidFill>
                <a:latin typeface="Calibri" pitchFamily="34" charset="0"/>
                <a:ea typeface="Calibri" pitchFamily="34" charset="-122"/>
                <a:cs typeface="Calibri" pitchFamily="34" charset="-120"/>
              </a:rPr>
              <a:t>DV: Any</a:t>
            </a:r>
            <a:endParaRPr lang="en-US" sz="800" dirty="0"/>
          </a:p>
        </p:txBody>
      </p:sp>
      <p:sp>
        <p:nvSpPr>
          <p:cNvPr id="86" name="Text 84"/>
          <p:cNvSpPr/>
          <p:nvPr/>
        </p:nvSpPr>
        <p:spPr>
          <a:xfrm>
            <a:off x="6254496" y="3803904"/>
            <a:ext cx="1371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Non-linear additive</a:t>
            </a:r>
            <a:endParaRPr lang="en-US" sz="800" dirty="0"/>
          </a:p>
        </p:txBody>
      </p:sp>
      <p:sp>
        <p:nvSpPr>
          <p:cNvPr id="87" name="Text 85"/>
          <p:cNvSpPr/>
          <p:nvPr/>
        </p:nvSpPr>
        <p:spPr>
          <a:xfrm>
            <a:off x="7644384" y="3803904"/>
            <a:ext cx="1280160" cy="274320"/>
          </a:xfrm>
          <a:prstGeom prst="rect">
            <a:avLst/>
          </a:prstGeom>
          <a:noFill/>
          <a:ln/>
        </p:spPr>
        <p:txBody>
          <a:bodyPr wrap="square" lIns="0" tIns="0" rIns="0" bIns="0" rtlCol="0" anchor="ctr"/>
          <a:lstStyle/>
          <a:p>
            <a:pPr indent="0" marL="0">
              <a:buNone/>
            </a:pPr>
            <a:r>
              <a:rPr lang="en-US" sz="800" i="1" dirty="0">
                <a:solidFill>
                  <a:srgbClr val="9840F0"/>
                </a:solidFill>
                <a:latin typeface="Calibri" pitchFamily="34" charset="0"/>
                <a:ea typeface="Calibri" pitchFamily="34" charset="-122"/>
                <a:cs typeface="Calibri" pitchFamily="34" charset="-120"/>
              </a:rPr>
              <a:t>Flexible income effect</a:t>
            </a:r>
            <a:endParaRPr lang="en-US" sz="800" dirty="0"/>
          </a:p>
        </p:txBody>
      </p:sp>
      <p:sp>
        <p:nvSpPr>
          <p:cNvPr id="88" name="Shape 86"/>
          <p:cNvSpPr/>
          <p:nvPr/>
        </p:nvSpPr>
        <p:spPr>
          <a:xfrm>
            <a:off x="6163056" y="4242816"/>
            <a:ext cx="2834640" cy="713232"/>
          </a:xfrm>
          <a:prstGeom prst="roundRect">
            <a:avLst>
              <a:gd name="adj" fmla="val 7692"/>
            </a:avLst>
          </a:prstGeom>
          <a:solidFill>
            <a:srgbClr val="F0F8FA"/>
          </a:solidFill>
          <a:ln w="10160">
            <a:solidFill>
              <a:srgbClr val="C85A00"/>
            </a:solidFill>
            <a:prstDash val="solid"/>
          </a:ln>
        </p:spPr>
      </p:sp>
      <p:sp>
        <p:nvSpPr>
          <p:cNvPr id="89" name="Shape 87"/>
          <p:cNvSpPr/>
          <p:nvPr/>
        </p:nvSpPr>
        <p:spPr>
          <a:xfrm>
            <a:off x="6217920" y="4297680"/>
            <a:ext cx="1097280" cy="237744"/>
          </a:xfrm>
          <a:prstGeom prst="roundRect">
            <a:avLst>
              <a:gd name="adj" fmla="val 15385"/>
            </a:avLst>
          </a:prstGeom>
          <a:solidFill>
            <a:srgbClr val="C85A00"/>
          </a:solidFill>
          <a:ln w="12700">
            <a:solidFill>
              <a:srgbClr val="C85A00"/>
            </a:solidFill>
            <a:prstDash val="solid"/>
          </a:ln>
        </p:spPr>
      </p:sp>
      <p:sp>
        <p:nvSpPr>
          <p:cNvPr id="90" name="Text 88"/>
          <p:cNvSpPr/>
          <p:nvPr/>
        </p:nvSpPr>
        <p:spPr>
          <a:xfrm>
            <a:off x="6217920" y="4297680"/>
            <a:ext cx="109728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Zero-Inflated</a:t>
            </a:r>
            <a:endParaRPr lang="en-US" sz="800" dirty="0"/>
          </a:p>
        </p:txBody>
      </p:sp>
      <p:sp>
        <p:nvSpPr>
          <p:cNvPr id="91" name="Text 89"/>
          <p:cNvSpPr/>
          <p:nvPr/>
        </p:nvSpPr>
        <p:spPr>
          <a:xfrm>
            <a:off x="7388352" y="4297680"/>
            <a:ext cx="1536192" cy="201168"/>
          </a:xfrm>
          <a:prstGeom prst="rect">
            <a:avLst/>
          </a:prstGeom>
          <a:noFill/>
          <a:ln/>
        </p:spPr>
        <p:txBody>
          <a:bodyPr wrap="square" lIns="0" tIns="0" rIns="0" bIns="0" rtlCol="0" anchor="ctr"/>
          <a:lstStyle/>
          <a:p>
            <a:pPr indent="0" marL="0">
              <a:buNone/>
            </a:pPr>
            <a:r>
              <a:rPr lang="en-US" sz="800" b="1" dirty="0">
                <a:solidFill>
                  <a:srgbClr val="C85A00"/>
                </a:solidFill>
                <a:latin typeface="Calibri" pitchFamily="34" charset="0"/>
                <a:ea typeface="Calibri" pitchFamily="34" charset="-122"/>
                <a:cs typeface="Calibri" pitchFamily="34" charset="-120"/>
              </a:rPr>
              <a:t>DV: Count + excess 0s</a:t>
            </a:r>
            <a:endParaRPr lang="en-US" sz="800" dirty="0"/>
          </a:p>
        </p:txBody>
      </p:sp>
      <p:sp>
        <p:nvSpPr>
          <p:cNvPr id="92" name="Text 90"/>
          <p:cNvSpPr/>
          <p:nvPr/>
        </p:nvSpPr>
        <p:spPr>
          <a:xfrm>
            <a:off x="6254496" y="4608576"/>
            <a:ext cx="1371600" cy="274320"/>
          </a:xfrm>
          <a:prstGeom prst="rect">
            <a:avLst/>
          </a:prstGeom>
          <a:noFill/>
          <a:ln/>
        </p:spPr>
        <p:txBody>
          <a:bodyPr wrap="square" lIns="0" tIns="0" rIns="0" bIns="0" rtlCol="0" anchor="ctr"/>
          <a:lstStyle/>
          <a:p>
            <a:pPr indent="0" marL="0">
              <a:buNone/>
            </a:pPr>
            <a:r>
              <a:rPr lang="en-US" sz="800" dirty="0">
                <a:solidFill>
                  <a:srgbClr val="64748B"/>
                </a:solidFill>
                <a:latin typeface="Calibri" pitchFamily="34" charset="0"/>
                <a:ea typeface="Calibri" pitchFamily="34" charset="-122"/>
                <a:cs typeface="Calibri" pitchFamily="34" charset="-120"/>
              </a:rPr>
              <a:t>Structural zeros</a:t>
            </a:r>
            <a:endParaRPr lang="en-US" sz="800" dirty="0"/>
          </a:p>
        </p:txBody>
      </p:sp>
      <p:sp>
        <p:nvSpPr>
          <p:cNvPr id="93" name="Text 91"/>
          <p:cNvSpPr/>
          <p:nvPr/>
        </p:nvSpPr>
        <p:spPr>
          <a:xfrm>
            <a:off x="7644384" y="4608576"/>
            <a:ext cx="1280160" cy="274320"/>
          </a:xfrm>
          <a:prstGeom prst="rect">
            <a:avLst/>
          </a:prstGeom>
          <a:noFill/>
          <a:ln/>
        </p:spPr>
        <p:txBody>
          <a:bodyPr wrap="square" lIns="0" tIns="0" rIns="0" bIns="0" rtlCol="0" anchor="ctr"/>
          <a:lstStyle/>
          <a:p>
            <a:pPr indent="0" marL="0">
              <a:buNone/>
            </a:pPr>
            <a:r>
              <a:rPr lang="en-US" sz="800" i="1" dirty="0">
                <a:solidFill>
                  <a:srgbClr val="C85A00"/>
                </a:solidFill>
                <a:latin typeface="Calibri" pitchFamily="34" charset="0"/>
                <a:ea typeface="Calibri" pitchFamily="34" charset="-122"/>
                <a:cs typeface="Calibri" pitchFamily="34" charset="-120"/>
              </a:rPr>
              <a:t>ATM faults (rural)</a:t>
            </a:r>
            <a:endParaRPr lang="en-US" sz="800" dirty="0"/>
          </a:p>
        </p:txBody>
      </p:sp>
      <p:sp>
        <p:nvSpPr>
          <p:cNvPr id="94" name="Shape 92"/>
          <p:cNvSpPr/>
          <p:nvPr/>
        </p:nvSpPr>
        <p:spPr>
          <a:xfrm>
            <a:off x="201168" y="5047488"/>
            <a:ext cx="8741664" cy="420624"/>
          </a:xfrm>
          <a:prstGeom prst="roundRect">
            <a:avLst>
              <a:gd name="adj" fmla="val 13043"/>
            </a:avLst>
          </a:prstGeom>
          <a:solidFill>
            <a:srgbClr val="FFFBEC"/>
          </a:solidFill>
          <a:ln w="19050">
            <a:solidFill>
              <a:srgbClr val="D4A010"/>
            </a:solidFill>
            <a:prstDash val="solid"/>
          </a:ln>
        </p:spPr>
      </p:sp>
      <p:sp>
        <p:nvSpPr>
          <p:cNvPr id="95" name="Text 93"/>
          <p:cNvSpPr/>
          <p:nvPr/>
        </p:nvSpPr>
        <p:spPr>
          <a:xfrm>
            <a:off x="329184" y="5047488"/>
            <a:ext cx="8558784" cy="420624"/>
          </a:xfrm>
          <a:prstGeom prst="rect">
            <a:avLst/>
          </a:prstGeom>
          <a:noFill/>
          <a:ln/>
        </p:spPr>
        <p:txBody>
          <a:bodyPr wrap="square" lIns="0" tIns="0" rIns="0" bIns="0" rtlCol="0" anchor="ctr"/>
          <a:lstStyle/>
          <a:p>
            <a:pPr indent="0" marL="0">
              <a:buNone/>
            </a:pPr>
            <a:r>
              <a:rPr lang="en-US" sz="950" dirty="0">
                <a:solidFill>
                  <a:srgbClr val="6B4800"/>
                </a:solidFill>
                <a:latin typeface="Calibri" pitchFamily="34" charset="0"/>
                <a:ea typeface="Calibri" pitchFamily="34" charset="-122"/>
                <a:cs typeface="Calibri" pitchFamily="34" charset="-120"/>
              </a:rPr>
              <a:t>DECISION RULE: Start with the DV type. Continuous normal → Linear. Binary → Logistic. Count → Poisson/NB. Time-to-event → Cox. Then ask: many/correlated predictors? → Regularise. Curved relationship? → Polynomial/GAM.</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REGRESSION  |  SECTION 02</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Simple Linear Regression</a:t>
            </a:r>
            <a:endParaRPr lang="en-US" sz="36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OLS estimation, every coefficient, R², t-tests, prediction and APA reporting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SLR - From Raw Data to Full Interpretation (GTBank Customer Spending)</a:t>
            </a:r>
            <a:endParaRPr lang="en-US" sz="2100" dirty="0"/>
          </a:p>
        </p:txBody>
      </p:sp>
      <p:sp>
        <p:nvSpPr>
          <p:cNvPr id="4" name="Shape 2"/>
          <p:cNvSpPr/>
          <p:nvPr/>
        </p:nvSpPr>
        <p:spPr>
          <a:xfrm>
            <a:off x="256032" y="1024128"/>
            <a:ext cx="8631936" cy="475488"/>
          </a:xfrm>
          <a:prstGeom prst="roundRect">
            <a:avLst>
              <a:gd name="adj" fmla="val 15385"/>
            </a:avLst>
          </a:prstGeom>
          <a:solidFill>
            <a:srgbClr val="0C1428"/>
          </a:solidFill>
          <a:ln w="12700">
            <a:solidFill>
              <a:srgbClr val="14B8C8"/>
            </a:solidFill>
            <a:prstDash val="solid"/>
          </a:ln>
        </p:spPr>
      </p:sp>
      <p:sp>
        <p:nvSpPr>
          <p:cNvPr id="5" name="Text 3"/>
          <p:cNvSpPr/>
          <p:nvPr/>
        </p:nvSpPr>
        <p:spPr>
          <a:xfrm>
            <a:off x="384048" y="1042416"/>
            <a:ext cx="8321040" cy="402336"/>
          </a:xfrm>
          <a:prstGeom prst="rect">
            <a:avLst/>
          </a:prstGeom>
          <a:noFill/>
          <a:ln/>
        </p:spPr>
        <p:txBody>
          <a:bodyPr wrap="square" lIns="0" tIns="0" rIns="0" bIns="0" rtlCol="0" anchor="ctr"/>
          <a:lstStyle/>
          <a:p>
            <a:pPr algn="ctr" indent="0" marL="0">
              <a:buNone/>
            </a:pPr>
            <a:r>
              <a:rPr lang="en-US" sz="1300" b="1" dirty="0">
                <a:solidFill>
                  <a:srgbClr val="14B8C8"/>
                </a:solidFill>
                <a:latin typeface="Courier New" pitchFamily="34" charset="0"/>
                <a:ea typeface="Courier New" pitchFamily="34" charset="-122"/>
                <a:cs typeface="Courier New" pitchFamily="34" charset="-120"/>
              </a:rPr>
              <a:t>Population: Y = β₀ + β₁X + ε        Fitted: Ŷ = b₀ + b₁X        OLS minimises: SSR = Σ(Yᵢ - Ŷᵢ)²</a:t>
            </a:r>
            <a:endParaRPr lang="en-US" sz="1300" dirty="0"/>
          </a:p>
        </p:txBody>
      </p:sp>
      <p:sp>
        <p:nvSpPr>
          <p:cNvPr id="6" name="Shape 4"/>
          <p:cNvSpPr/>
          <p:nvPr/>
        </p:nvSpPr>
        <p:spPr>
          <a:xfrm>
            <a:off x="256032" y="1591056"/>
            <a:ext cx="4160520" cy="3584448"/>
          </a:xfrm>
          <a:prstGeom prst="roundRect">
            <a:avLst>
              <a:gd name="adj" fmla="val 229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329184" y="1664208"/>
            <a:ext cx="4005072" cy="310896"/>
          </a:xfrm>
          <a:prstGeom prst="roundRect">
            <a:avLst>
              <a:gd name="adj" fmla="val 17647"/>
            </a:avLst>
          </a:prstGeom>
          <a:solidFill>
            <a:srgbClr val="0A7E8C"/>
          </a:solidFill>
          <a:ln w="12700">
            <a:solidFill>
              <a:srgbClr val="0A7E8C"/>
            </a:solidFill>
            <a:prstDash val="solid"/>
          </a:ln>
        </p:spPr>
      </p:sp>
      <p:sp>
        <p:nvSpPr>
          <p:cNvPr id="8" name="Text 6"/>
          <p:cNvSpPr/>
          <p:nvPr/>
        </p:nvSpPr>
        <p:spPr>
          <a:xfrm>
            <a:off x="329184" y="1664208"/>
            <a:ext cx="4005072"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Estimation: GTBank Income → Spending</a:t>
            </a:r>
            <a:endParaRPr lang="en-US" sz="1150" dirty="0"/>
          </a:p>
        </p:txBody>
      </p:sp>
      <p:sp>
        <p:nvSpPr>
          <p:cNvPr id="9" name="Text 7"/>
          <p:cNvSpPr/>
          <p:nvPr/>
        </p:nvSpPr>
        <p:spPr>
          <a:xfrm>
            <a:off x="365760" y="2029968"/>
            <a:ext cx="3950208" cy="237744"/>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n=200. X̄=385, Ȳ=187, S_XX=124,500, S_XY=48,720</a:t>
            </a:r>
            <a:endParaRPr lang="en-US" sz="1000" dirty="0"/>
          </a:p>
        </p:txBody>
      </p:sp>
      <p:sp>
        <p:nvSpPr>
          <p:cNvPr id="10" name="Text 8"/>
          <p:cNvSpPr/>
          <p:nvPr/>
        </p:nvSpPr>
        <p:spPr>
          <a:xfrm>
            <a:off x="365760" y="2304288"/>
            <a:ext cx="3950208" cy="475488"/>
          </a:xfrm>
          <a:prstGeom prst="rect">
            <a:avLst/>
          </a:prstGeom>
          <a:noFill/>
          <a:ln/>
        </p:spPr>
        <p:txBody>
          <a:bodyPr wrap="square" lIns="0" tIns="0" rIns="0" bIns="0" rtlCol="0" anchor="ctr"/>
          <a:lstStyle/>
          <a:p>
            <a:pPr indent="0" marL="0">
              <a:buNone/>
            </a:pPr>
            <a:r>
              <a:rPr lang="en-US" sz="1150" b="1" dirty="0">
                <a:solidFill>
                  <a:srgbClr val="0A7E8C"/>
                </a:solidFill>
                <a:latin typeface="Courier New" pitchFamily="34" charset="0"/>
                <a:ea typeface="Courier New" pitchFamily="34" charset="-122"/>
                <a:cs typeface="Courier New" pitchFamily="34" charset="-120"/>
              </a:rPr>
              <a:t>b₁ = S_XY / S_XX = 48,720 / 124,500 = 0.391</a:t>
            </a:r>
            <a:endParaRPr lang="en-US" sz="1150" dirty="0"/>
          </a:p>
          <a:p>
            <a:pPr indent="0" marL="0">
              <a:buNone/>
            </a:pPr>
            <a:r>
              <a:rPr lang="en-US" sz="1150" b="1" dirty="0">
                <a:solidFill>
                  <a:srgbClr val="0A7E8C"/>
                </a:solidFill>
                <a:latin typeface="Courier New" pitchFamily="34" charset="0"/>
                <a:ea typeface="Courier New" pitchFamily="34" charset="-122"/>
                <a:cs typeface="Courier New" pitchFamily="34" charset="-120"/>
              </a:rPr>
              <a:t>b₀ = Ȳ - b₁X̄ = 187 - 0.391×385 = 36.35</a:t>
            </a:r>
            <a:endParaRPr lang="en-US" sz="1150" dirty="0"/>
          </a:p>
        </p:txBody>
      </p:sp>
      <p:sp>
        <p:nvSpPr>
          <p:cNvPr id="11" name="Shape 9"/>
          <p:cNvSpPr/>
          <p:nvPr/>
        </p:nvSpPr>
        <p:spPr>
          <a:xfrm>
            <a:off x="347472" y="2834640"/>
            <a:ext cx="3968496" cy="329184"/>
          </a:xfrm>
          <a:prstGeom prst="roundRect">
            <a:avLst>
              <a:gd name="adj" fmla="val 16667"/>
            </a:avLst>
          </a:prstGeom>
          <a:solidFill>
            <a:srgbClr val="0A7E8C"/>
          </a:solidFill>
          <a:ln w="12700">
            <a:solidFill>
              <a:srgbClr val="0A7E8C"/>
            </a:solidFill>
            <a:prstDash val="solid"/>
          </a:ln>
        </p:spPr>
      </p:sp>
      <p:sp>
        <p:nvSpPr>
          <p:cNvPr id="12" name="Text 10"/>
          <p:cNvSpPr/>
          <p:nvPr/>
        </p:nvSpPr>
        <p:spPr>
          <a:xfrm>
            <a:off x="347472" y="2834640"/>
            <a:ext cx="3968496"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Ŷ = 36,350 + 391 × (Income in N million)</a:t>
            </a:r>
            <a:endParaRPr lang="en-US" sz="1300" dirty="0"/>
          </a:p>
        </p:txBody>
      </p:sp>
      <p:sp>
        <p:nvSpPr>
          <p:cNvPr id="13" name="Text 11"/>
          <p:cNvSpPr/>
          <p:nvPr/>
        </p:nvSpPr>
        <p:spPr>
          <a:xfrm>
            <a:off x="365760" y="3218688"/>
            <a:ext cx="3950208" cy="237744"/>
          </a:xfrm>
          <a:prstGeom prst="rect">
            <a:avLst/>
          </a:prstGeom>
          <a:noFill/>
          <a:ln/>
        </p:spPr>
        <p:txBody>
          <a:bodyPr wrap="square" lIns="0" tIns="0" rIns="0" bIns="0" rtlCol="0" anchor="ctr"/>
          <a:lstStyle/>
          <a:p>
            <a:pPr indent="0" marL="0">
              <a:buNone/>
            </a:pPr>
            <a:r>
              <a:rPr lang="en-US" sz="1000" b="1" dirty="0">
                <a:solidFill>
                  <a:srgbClr val="0A7E8C"/>
                </a:solidFill>
                <a:latin typeface="Calibri" pitchFamily="34" charset="0"/>
                <a:ea typeface="Calibri" pitchFamily="34" charset="-122"/>
                <a:cs typeface="Calibri" pitchFamily="34" charset="-120"/>
              </a:rPr>
              <a:t>Predict X=N480k: Ŷ = 36.35 + 0.391×480 = N224,100/year</a:t>
            </a:r>
            <a:endParaRPr lang="en-US" sz="1000" dirty="0"/>
          </a:p>
        </p:txBody>
      </p:sp>
      <p:sp>
        <p:nvSpPr>
          <p:cNvPr id="14" name="Shape 12"/>
          <p:cNvSpPr/>
          <p:nvPr/>
        </p:nvSpPr>
        <p:spPr>
          <a:xfrm>
            <a:off x="365760" y="3511296"/>
            <a:ext cx="914400" cy="256032"/>
          </a:xfrm>
          <a:prstGeom prst="rect">
            <a:avLst/>
          </a:prstGeom>
          <a:solidFill>
            <a:srgbClr val="0A7E8C"/>
          </a:solidFill>
          <a:ln w="12700">
            <a:solidFill>
              <a:srgbClr val="0A7E8C"/>
            </a:solidFill>
            <a:prstDash val="solid"/>
          </a:ln>
        </p:spPr>
      </p:sp>
      <p:sp>
        <p:nvSpPr>
          <p:cNvPr id="15" name="Text 13"/>
          <p:cNvSpPr/>
          <p:nvPr/>
        </p:nvSpPr>
        <p:spPr>
          <a:xfrm>
            <a:off x="365760" y="3511296"/>
            <a:ext cx="9144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Statistic</a:t>
            </a:r>
            <a:endParaRPr lang="en-US" sz="800" dirty="0"/>
          </a:p>
        </p:txBody>
      </p:sp>
      <p:sp>
        <p:nvSpPr>
          <p:cNvPr id="16" name="Shape 14"/>
          <p:cNvSpPr/>
          <p:nvPr/>
        </p:nvSpPr>
        <p:spPr>
          <a:xfrm>
            <a:off x="1280160" y="3511296"/>
            <a:ext cx="804672" cy="256032"/>
          </a:xfrm>
          <a:prstGeom prst="rect">
            <a:avLst/>
          </a:prstGeom>
          <a:solidFill>
            <a:srgbClr val="0A7E8C"/>
          </a:solidFill>
          <a:ln w="12700">
            <a:solidFill>
              <a:srgbClr val="0A7E8C"/>
            </a:solidFill>
            <a:prstDash val="solid"/>
          </a:ln>
        </p:spPr>
      </p:sp>
      <p:sp>
        <p:nvSpPr>
          <p:cNvPr id="17" name="Text 15"/>
          <p:cNvSpPr/>
          <p:nvPr/>
        </p:nvSpPr>
        <p:spPr>
          <a:xfrm>
            <a:off x="1280160" y="3511296"/>
            <a:ext cx="80467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Value</a:t>
            </a:r>
            <a:endParaRPr lang="en-US" sz="800" dirty="0"/>
          </a:p>
        </p:txBody>
      </p:sp>
      <p:sp>
        <p:nvSpPr>
          <p:cNvPr id="18" name="Shape 16"/>
          <p:cNvSpPr/>
          <p:nvPr/>
        </p:nvSpPr>
        <p:spPr>
          <a:xfrm>
            <a:off x="2084832" y="3511296"/>
            <a:ext cx="2048256" cy="256032"/>
          </a:xfrm>
          <a:prstGeom prst="rect">
            <a:avLst/>
          </a:prstGeom>
          <a:solidFill>
            <a:srgbClr val="0A7E8C"/>
          </a:solidFill>
          <a:ln w="12700">
            <a:solidFill>
              <a:srgbClr val="0A7E8C"/>
            </a:solidFill>
            <a:prstDash val="solid"/>
          </a:ln>
        </p:spPr>
      </p:sp>
      <p:sp>
        <p:nvSpPr>
          <p:cNvPr id="19" name="Text 17"/>
          <p:cNvSpPr/>
          <p:nvPr/>
        </p:nvSpPr>
        <p:spPr>
          <a:xfrm>
            <a:off x="2084832" y="3511296"/>
            <a:ext cx="2048256"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Meaning</a:t>
            </a:r>
            <a:endParaRPr lang="en-US" sz="800" dirty="0"/>
          </a:p>
        </p:txBody>
      </p:sp>
      <p:sp>
        <p:nvSpPr>
          <p:cNvPr id="20" name="Shape 18"/>
          <p:cNvSpPr/>
          <p:nvPr/>
        </p:nvSpPr>
        <p:spPr>
          <a:xfrm>
            <a:off x="365760" y="3767328"/>
            <a:ext cx="914400" cy="256032"/>
          </a:xfrm>
          <a:prstGeom prst="rect">
            <a:avLst/>
          </a:prstGeom>
          <a:solidFill>
            <a:srgbClr val="EAF6FA"/>
          </a:solidFill>
          <a:ln w="6350">
            <a:solidFill>
              <a:srgbClr val="A0C8D8"/>
            </a:solidFill>
            <a:prstDash val="solid"/>
          </a:ln>
        </p:spPr>
      </p:sp>
      <p:sp>
        <p:nvSpPr>
          <p:cNvPr id="21" name="Text 19"/>
          <p:cNvSpPr/>
          <p:nvPr/>
        </p:nvSpPr>
        <p:spPr>
          <a:xfrm>
            <a:off x="365760" y="3767328"/>
            <a:ext cx="91440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R²</a:t>
            </a:r>
            <a:endParaRPr lang="en-US" sz="800" dirty="0"/>
          </a:p>
        </p:txBody>
      </p:sp>
      <p:sp>
        <p:nvSpPr>
          <p:cNvPr id="22" name="Shape 20"/>
          <p:cNvSpPr/>
          <p:nvPr/>
        </p:nvSpPr>
        <p:spPr>
          <a:xfrm>
            <a:off x="1280160" y="3767328"/>
            <a:ext cx="804672" cy="256032"/>
          </a:xfrm>
          <a:prstGeom prst="rect">
            <a:avLst/>
          </a:prstGeom>
          <a:solidFill>
            <a:srgbClr val="EAF6FA"/>
          </a:solidFill>
          <a:ln w="6350">
            <a:solidFill>
              <a:srgbClr val="A0C8D8"/>
            </a:solidFill>
            <a:prstDash val="solid"/>
          </a:ln>
        </p:spPr>
      </p:sp>
      <p:sp>
        <p:nvSpPr>
          <p:cNvPr id="23" name="Text 21"/>
          <p:cNvSpPr/>
          <p:nvPr/>
        </p:nvSpPr>
        <p:spPr>
          <a:xfrm>
            <a:off x="1280160" y="3767328"/>
            <a:ext cx="8046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0.631</a:t>
            </a:r>
            <a:endParaRPr lang="en-US" sz="800" dirty="0"/>
          </a:p>
        </p:txBody>
      </p:sp>
      <p:sp>
        <p:nvSpPr>
          <p:cNvPr id="24" name="Shape 22"/>
          <p:cNvSpPr/>
          <p:nvPr/>
        </p:nvSpPr>
        <p:spPr>
          <a:xfrm>
            <a:off x="2084832" y="3767328"/>
            <a:ext cx="2048256" cy="256032"/>
          </a:xfrm>
          <a:prstGeom prst="rect">
            <a:avLst/>
          </a:prstGeom>
          <a:solidFill>
            <a:srgbClr val="EAF6FA"/>
          </a:solidFill>
          <a:ln w="6350">
            <a:solidFill>
              <a:srgbClr val="A0C8D8"/>
            </a:solidFill>
            <a:prstDash val="solid"/>
          </a:ln>
        </p:spPr>
      </p:sp>
      <p:sp>
        <p:nvSpPr>
          <p:cNvPr id="25" name="Text 23"/>
          <p:cNvSpPr/>
          <p:nvPr/>
        </p:nvSpPr>
        <p:spPr>
          <a:xfrm>
            <a:off x="2084832" y="3767328"/>
            <a:ext cx="2048256"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63.1% variance in spending explained by income</a:t>
            </a:r>
            <a:endParaRPr lang="en-US" sz="800" dirty="0"/>
          </a:p>
        </p:txBody>
      </p:sp>
      <p:sp>
        <p:nvSpPr>
          <p:cNvPr id="26" name="Shape 24"/>
          <p:cNvSpPr/>
          <p:nvPr/>
        </p:nvSpPr>
        <p:spPr>
          <a:xfrm>
            <a:off x="365760" y="4023360"/>
            <a:ext cx="914400" cy="256032"/>
          </a:xfrm>
          <a:prstGeom prst="rect">
            <a:avLst/>
          </a:prstGeom>
          <a:solidFill>
            <a:srgbClr val="FFFFFF"/>
          </a:solidFill>
          <a:ln w="6350">
            <a:solidFill>
              <a:srgbClr val="A0C8D8"/>
            </a:solidFill>
            <a:prstDash val="solid"/>
          </a:ln>
        </p:spPr>
      </p:sp>
      <p:sp>
        <p:nvSpPr>
          <p:cNvPr id="27" name="Text 25"/>
          <p:cNvSpPr/>
          <p:nvPr/>
        </p:nvSpPr>
        <p:spPr>
          <a:xfrm>
            <a:off x="365760" y="4023360"/>
            <a:ext cx="91440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SEE / RMSE</a:t>
            </a:r>
            <a:endParaRPr lang="en-US" sz="800" dirty="0"/>
          </a:p>
        </p:txBody>
      </p:sp>
      <p:sp>
        <p:nvSpPr>
          <p:cNvPr id="28" name="Shape 26"/>
          <p:cNvSpPr/>
          <p:nvPr/>
        </p:nvSpPr>
        <p:spPr>
          <a:xfrm>
            <a:off x="1280160" y="4023360"/>
            <a:ext cx="804672" cy="256032"/>
          </a:xfrm>
          <a:prstGeom prst="rect">
            <a:avLst/>
          </a:prstGeom>
          <a:solidFill>
            <a:srgbClr val="FFFFFF"/>
          </a:solidFill>
          <a:ln w="6350">
            <a:solidFill>
              <a:srgbClr val="A0C8D8"/>
            </a:solidFill>
            <a:prstDash val="solid"/>
          </a:ln>
        </p:spPr>
      </p:sp>
      <p:sp>
        <p:nvSpPr>
          <p:cNvPr id="29" name="Text 27"/>
          <p:cNvSpPr/>
          <p:nvPr/>
        </p:nvSpPr>
        <p:spPr>
          <a:xfrm>
            <a:off x="1280160" y="4023360"/>
            <a:ext cx="8046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N189k</a:t>
            </a:r>
            <a:endParaRPr lang="en-US" sz="800" dirty="0"/>
          </a:p>
        </p:txBody>
      </p:sp>
      <p:sp>
        <p:nvSpPr>
          <p:cNvPr id="30" name="Shape 28"/>
          <p:cNvSpPr/>
          <p:nvPr/>
        </p:nvSpPr>
        <p:spPr>
          <a:xfrm>
            <a:off x="2084832" y="4023360"/>
            <a:ext cx="2048256" cy="256032"/>
          </a:xfrm>
          <a:prstGeom prst="rect">
            <a:avLst/>
          </a:prstGeom>
          <a:solidFill>
            <a:srgbClr val="FFFFFF"/>
          </a:solidFill>
          <a:ln w="6350">
            <a:solidFill>
              <a:srgbClr val="A0C8D8"/>
            </a:solidFill>
            <a:prstDash val="solid"/>
          </a:ln>
        </p:spPr>
      </p:sp>
      <p:sp>
        <p:nvSpPr>
          <p:cNvPr id="31" name="Text 29"/>
          <p:cNvSpPr/>
          <p:nvPr/>
        </p:nvSpPr>
        <p:spPr>
          <a:xfrm>
            <a:off x="2084832" y="4023360"/>
            <a:ext cx="2048256"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Typical prediction error in original units</a:t>
            </a:r>
            <a:endParaRPr lang="en-US" sz="800" dirty="0"/>
          </a:p>
        </p:txBody>
      </p:sp>
      <p:sp>
        <p:nvSpPr>
          <p:cNvPr id="32" name="Shape 30"/>
          <p:cNvSpPr/>
          <p:nvPr/>
        </p:nvSpPr>
        <p:spPr>
          <a:xfrm>
            <a:off x="365760" y="4279392"/>
            <a:ext cx="914400" cy="256032"/>
          </a:xfrm>
          <a:prstGeom prst="rect">
            <a:avLst/>
          </a:prstGeom>
          <a:solidFill>
            <a:srgbClr val="EAF6FA"/>
          </a:solidFill>
          <a:ln w="6350">
            <a:solidFill>
              <a:srgbClr val="A0C8D8"/>
            </a:solidFill>
            <a:prstDash val="solid"/>
          </a:ln>
        </p:spPr>
      </p:sp>
      <p:sp>
        <p:nvSpPr>
          <p:cNvPr id="33" name="Text 31"/>
          <p:cNvSpPr/>
          <p:nvPr/>
        </p:nvSpPr>
        <p:spPr>
          <a:xfrm>
            <a:off x="365760" y="4279392"/>
            <a:ext cx="91440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F(1,198)</a:t>
            </a:r>
            <a:endParaRPr lang="en-US" sz="800" dirty="0"/>
          </a:p>
        </p:txBody>
      </p:sp>
      <p:sp>
        <p:nvSpPr>
          <p:cNvPr id="34" name="Shape 32"/>
          <p:cNvSpPr/>
          <p:nvPr/>
        </p:nvSpPr>
        <p:spPr>
          <a:xfrm>
            <a:off x="1280160" y="4279392"/>
            <a:ext cx="804672" cy="256032"/>
          </a:xfrm>
          <a:prstGeom prst="rect">
            <a:avLst/>
          </a:prstGeom>
          <a:solidFill>
            <a:srgbClr val="EAF6FA"/>
          </a:solidFill>
          <a:ln w="6350">
            <a:solidFill>
              <a:srgbClr val="A0C8D8"/>
            </a:solidFill>
            <a:prstDash val="solid"/>
          </a:ln>
        </p:spPr>
      </p:sp>
      <p:sp>
        <p:nvSpPr>
          <p:cNvPr id="35" name="Text 33"/>
          <p:cNvSpPr/>
          <p:nvPr/>
        </p:nvSpPr>
        <p:spPr>
          <a:xfrm>
            <a:off x="1280160" y="4279392"/>
            <a:ext cx="8046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339.1</a:t>
            </a:r>
            <a:endParaRPr lang="en-US" sz="800" dirty="0"/>
          </a:p>
        </p:txBody>
      </p:sp>
      <p:sp>
        <p:nvSpPr>
          <p:cNvPr id="36" name="Shape 34"/>
          <p:cNvSpPr/>
          <p:nvPr/>
        </p:nvSpPr>
        <p:spPr>
          <a:xfrm>
            <a:off x="2084832" y="4279392"/>
            <a:ext cx="2048256" cy="256032"/>
          </a:xfrm>
          <a:prstGeom prst="rect">
            <a:avLst/>
          </a:prstGeom>
          <a:solidFill>
            <a:srgbClr val="EAF6FA"/>
          </a:solidFill>
          <a:ln w="6350">
            <a:solidFill>
              <a:srgbClr val="A0C8D8"/>
            </a:solidFill>
            <a:prstDash val="solid"/>
          </a:ln>
        </p:spPr>
      </p:sp>
      <p:sp>
        <p:nvSpPr>
          <p:cNvPr id="37" name="Text 35"/>
          <p:cNvSpPr/>
          <p:nvPr/>
        </p:nvSpPr>
        <p:spPr>
          <a:xfrm>
            <a:off x="2084832" y="4279392"/>
            <a:ext cx="2048256"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Overall model p&lt;.001 (highly significant)</a:t>
            </a:r>
            <a:endParaRPr lang="en-US" sz="800" dirty="0"/>
          </a:p>
        </p:txBody>
      </p:sp>
      <p:sp>
        <p:nvSpPr>
          <p:cNvPr id="38" name="Shape 36"/>
          <p:cNvSpPr/>
          <p:nvPr/>
        </p:nvSpPr>
        <p:spPr>
          <a:xfrm>
            <a:off x="365760" y="4535424"/>
            <a:ext cx="914400" cy="256032"/>
          </a:xfrm>
          <a:prstGeom prst="rect">
            <a:avLst/>
          </a:prstGeom>
          <a:solidFill>
            <a:srgbClr val="FFFFFF"/>
          </a:solidFill>
          <a:ln w="6350">
            <a:solidFill>
              <a:srgbClr val="A0C8D8"/>
            </a:solidFill>
            <a:prstDash val="solid"/>
          </a:ln>
        </p:spPr>
      </p:sp>
      <p:sp>
        <p:nvSpPr>
          <p:cNvPr id="39" name="Text 37"/>
          <p:cNvSpPr/>
          <p:nvPr/>
        </p:nvSpPr>
        <p:spPr>
          <a:xfrm>
            <a:off x="365760" y="4535424"/>
            <a:ext cx="91440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t (slope)</a:t>
            </a:r>
            <a:endParaRPr lang="en-US" sz="800" dirty="0"/>
          </a:p>
        </p:txBody>
      </p:sp>
      <p:sp>
        <p:nvSpPr>
          <p:cNvPr id="40" name="Shape 38"/>
          <p:cNvSpPr/>
          <p:nvPr/>
        </p:nvSpPr>
        <p:spPr>
          <a:xfrm>
            <a:off x="1280160" y="4535424"/>
            <a:ext cx="804672" cy="256032"/>
          </a:xfrm>
          <a:prstGeom prst="rect">
            <a:avLst/>
          </a:prstGeom>
          <a:solidFill>
            <a:srgbClr val="FFFFFF"/>
          </a:solidFill>
          <a:ln w="6350">
            <a:solidFill>
              <a:srgbClr val="A0C8D8"/>
            </a:solidFill>
            <a:prstDash val="solid"/>
          </a:ln>
        </p:spPr>
      </p:sp>
      <p:sp>
        <p:nvSpPr>
          <p:cNvPr id="41" name="Text 39"/>
          <p:cNvSpPr/>
          <p:nvPr/>
        </p:nvSpPr>
        <p:spPr>
          <a:xfrm>
            <a:off x="1280160" y="4535424"/>
            <a:ext cx="8046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18.41</a:t>
            </a:r>
            <a:endParaRPr lang="en-US" sz="800" dirty="0"/>
          </a:p>
        </p:txBody>
      </p:sp>
      <p:sp>
        <p:nvSpPr>
          <p:cNvPr id="42" name="Shape 40"/>
          <p:cNvSpPr/>
          <p:nvPr/>
        </p:nvSpPr>
        <p:spPr>
          <a:xfrm>
            <a:off x="2084832" y="4535424"/>
            <a:ext cx="2048256" cy="256032"/>
          </a:xfrm>
          <a:prstGeom prst="rect">
            <a:avLst/>
          </a:prstGeom>
          <a:solidFill>
            <a:srgbClr val="FFFFFF"/>
          </a:solidFill>
          <a:ln w="6350">
            <a:solidFill>
              <a:srgbClr val="A0C8D8"/>
            </a:solidFill>
            <a:prstDash val="solid"/>
          </a:ln>
        </p:spPr>
      </p:sp>
      <p:sp>
        <p:nvSpPr>
          <p:cNvPr id="43" name="Text 41"/>
          <p:cNvSpPr/>
          <p:nvPr/>
        </p:nvSpPr>
        <p:spPr>
          <a:xfrm>
            <a:off x="2084832" y="4535424"/>
            <a:ext cx="2048256"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Income significant: p&lt;.001</a:t>
            </a:r>
            <a:endParaRPr lang="en-US" sz="800" dirty="0"/>
          </a:p>
        </p:txBody>
      </p:sp>
      <p:sp>
        <p:nvSpPr>
          <p:cNvPr id="44" name="Shape 42"/>
          <p:cNvSpPr/>
          <p:nvPr/>
        </p:nvSpPr>
        <p:spPr>
          <a:xfrm>
            <a:off x="365760" y="4791456"/>
            <a:ext cx="914400" cy="256032"/>
          </a:xfrm>
          <a:prstGeom prst="rect">
            <a:avLst/>
          </a:prstGeom>
          <a:solidFill>
            <a:srgbClr val="EAF6FA"/>
          </a:solidFill>
          <a:ln w="6350">
            <a:solidFill>
              <a:srgbClr val="A0C8D8"/>
            </a:solidFill>
            <a:prstDash val="solid"/>
          </a:ln>
        </p:spPr>
      </p:sp>
      <p:sp>
        <p:nvSpPr>
          <p:cNvPr id="45" name="Text 43"/>
          <p:cNvSpPr/>
          <p:nvPr/>
        </p:nvSpPr>
        <p:spPr>
          <a:xfrm>
            <a:off x="365760" y="4791456"/>
            <a:ext cx="91440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95% CI</a:t>
            </a:r>
            <a:endParaRPr lang="en-US" sz="800" dirty="0"/>
          </a:p>
        </p:txBody>
      </p:sp>
      <p:sp>
        <p:nvSpPr>
          <p:cNvPr id="46" name="Shape 44"/>
          <p:cNvSpPr/>
          <p:nvPr/>
        </p:nvSpPr>
        <p:spPr>
          <a:xfrm>
            <a:off x="1280160" y="4791456"/>
            <a:ext cx="804672" cy="256032"/>
          </a:xfrm>
          <a:prstGeom prst="rect">
            <a:avLst/>
          </a:prstGeom>
          <a:solidFill>
            <a:srgbClr val="EAF6FA"/>
          </a:solidFill>
          <a:ln w="6350">
            <a:solidFill>
              <a:srgbClr val="A0C8D8"/>
            </a:solidFill>
            <a:prstDash val="solid"/>
          </a:ln>
        </p:spPr>
      </p:sp>
      <p:sp>
        <p:nvSpPr>
          <p:cNvPr id="47" name="Text 45"/>
          <p:cNvSpPr/>
          <p:nvPr/>
        </p:nvSpPr>
        <p:spPr>
          <a:xfrm>
            <a:off x="1280160" y="4791456"/>
            <a:ext cx="8046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[0.349, 0.433]</a:t>
            </a:r>
            <a:endParaRPr lang="en-US" sz="800" dirty="0"/>
          </a:p>
        </p:txBody>
      </p:sp>
      <p:sp>
        <p:nvSpPr>
          <p:cNvPr id="48" name="Shape 46"/>
          <p:cNvSpPr/>
          <p:nvPr/>
        </p:nvSpPr>
        <p:spPr>
          <a:xfrm>
            <a:off x="2084832" y="4791456"/>
            <a:ext cx="2048256" cy="256032"/>
          </a:xfrm>
          <a:prstGeom prst="rect">
            <a:avLst/>
          </a:prstGeom>
          <a:solidFill>
            <a:srgbClr val="EAF6FA"/>
          </a:solidFill>
          <a:ln w="6350">
            <a:solidFill>
              <a:srgbClr val="A0C8D8"/>
            </a:solidFill>
            <a:prstDash val="solid"/>
          </a:ln>
        </p:spPr>
      </p:sp>
      <p:sp>
        <p:nvSpPr>
          <p:cNvPr id="49" name="Text 47"/>
          <p:cNvSpPr/>
          <p:nvPr/>
        </p:nvSpPr>
        <p:spPr>
          <a:xfrm>
            <a:off x="2084832" y="4791456"/>
            <a:ext cx="2048256"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True slope with 95% confidence</a:t>
            </a:r>
            <a:endParaRPr lang="en-US" sz="800" dirty="0"/>
          </a:p>
        </p:txBody>
      </p:sp>
      <p:sp>
        <p:nvSpPr>
          <p:cNvPr id="50" name="Shape 48"/>
          <p:cNvSpPr/>
          <p:nvPr/>
        </p:nvSpPr>
        <p:spPr>
          <a:xfrm>
            <a:off x="4681728" y="1591056"/>
            <a:ext cx="4160520" cy="3584448"/>
          </a:xfrm>
          <a:prstGeom prst="roundRect">
            <a:avLst>
              <a:gd name="adj" fmla="val 2296"/>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51" name="Shape 49"/>
          <p:cNvSpPr/>
          <p:nvPr/>
        </p:nvSpPr>
        <p:spPr>
          <a:xfrm>
            <a:off x="4754880" y="1664208"/>
            <a:ext cx="4005072" cy="310896"/>
          </a:xfrm>
          <a:prstGeom prst="roundRect">
            <a:avLst>
              <a:gd name="adj" fmla="val 17647"/>
            </a:avLst>
          </a:prstGeom>
          <a:solidFill>
            <a:srgbClr val="E07010"/>
          </a:solidFill>
          <a:ln w="12700">
            <a:solidFill>
              <a:srgbClr val="E07010"/>
            </a:solidFill>
            <a:prstDash val="solid"/>
          </a:ln>
        </p:spPr>
      </p:sp>
      <p:sp>
        <p:nvSpPr>
          <p:cNvPr id="52" name="Text 50"/>
          <p:cNvSpPr/>
          <p:nvPr/>
        </p:nvSpPr>
        <p:spPr>
          <a:xfrm>
            <a:off x="4754880" y="1664208"/>
            <a:ext cx="4005072"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Interpreting Every Number</a:t>
            </a:r>
            <a:endParaRPr lang="en-US" sz="1150" dirty="0"/>
          </a:p>
        </p:txBody>
      </p:sp>
      <p:sp>
        <p:nvSpPr>
          <p:cNvPr id="53" name="Shape 51"/>
          <p:cNvSpPr/>
          <p:nvPr/>
        </p:nvSpPr>
        <p:spPr>
          <a:xfrm>
            <a:off x="4773168" y="2029968"/>
            <a:ext cx="3986784" cy="676656"/>
          </a:xfrm>
          <a:prstGeom prst="roundRect">
            <a:avLst>
              <a:gd name="adj" fmla="val 8108"/>
            </a:avLst>
          </a:prstGeom>
          <a:solidFill>
            <a:srgbClr val="EAF6FA"/>
          </a:solidFill>
          <a:ln w="10160">
            <a:solidFill>
              <a:srgbClr val="2878F0"/>
            </a:solidFill>
            <a:prstDash val="solid"/>
          </a:ln>
        </p:spPr>
      </p:sp>
      <p:sp>
        <p:nvSpPr>
          <p:cNvPr id="54" name="Shape 52"/>
          <p:cNvSpPr/>
          <p:nvPr/>
        </p:nvSpPr>
        <p:spPr>
          <a:xfrm>
            <a:off x="4846320" y="2084832"/>
            <a:ext cx="329184" cy="256032"/>
          </a:xfrm>
          <a:prstGeom prst="roundRect">
            <a:avLst>
              <a:gd name="adj" fmla="val 14286"/>
            </a:avLst>
          </a:prstGeom>
          <a:solidFill>
            <a:srgbClr val="2878F0"/>
          </a:solidFill>
          <a:ln w="12700">
            <a:solidFill>
              <a:srgbClr val="2878F0"/>
            </a:solidFill>
            <a:prstDash val="solid"/>
          </a:ln>
        </p:spPr>
      </p:sp>
      <p:sp>
        <p:nvSpPr>
          <p:cNvPr id="55" name="Text 53"/>
          <p:cNvSpPr/>
          <p:nvPr/>
        </p:nvSpPr>
        <p:spPr>
          <a:xfrm>
            <a:off x="4846320" y="2084832"/>
            <a:ext cx="329184"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b₀</a:t>
            </a:r>
            <a:endParaRPr lang="en-US" sz="900" dirty="0"/>
          </a:p>
        </p:txBody>
      </p:sp>
      <p:sp>
        <p:nvSpPr>
          <p:cNvPr id="56" name="Text 54"/>
          <p:cNvSpPr/>
          <p:nvPr/>
        </p:nvSpPr>
        <p:spPr>
          <a:xfrm>
            <a:off x="5248656" y="2084832"/>
            <a:ext cx="3419856" cy="219456"/>
          </a:xfrm>
          <a:prstGeom prst="rect">
            <a:avLst/>
          </a:prstGeom>
          <a:noFill/>
          <a:ln/>
        </p:spPr>
        <p:txBody>
          <a:bodyPr wrap="square" lIns="0" tIns="0" rIns="0" bIns="0" rtlCol="0" anchor="ctr"/>
          <a:lstStyle/>
          <a:p>
            <a:pPr indent="0" marL="0">
              <a:buNone/>
            </a:pPr>
            <a:r>
              <a:rPr lang="en-US" sz="1000" b="1" dirty="0">
                <a:solidFill>
                  <a:srgbClr val="2878F0"/>
                </a:solidFill>
                <a:latin typeface="Calibri" pitchFamily="34" charset="0"/>
                <a:ea typeface="Calibri" pitchFamily="34" charset="-122"/>
                <a:cs typeface="Calibri" pitchFamily="34" charset="-120"/>
              </a:rPr>
              <a:t>Intercept = N36,350</a:t>
            </a:r>
            <a:endParaRPr lang="en-US" sz="1000" dirty="0"/>
          </a:p>
        </p:txBody>
      </p:sp>
      <p:sp>
        <p:nvSpPr>
          <p:cNvPr id="57" name="Text 55"/>
          <p:cNvSpPr/>
          <p:nvPr/>
        </p:nvSpPr>
        <p:spPr>
          <a:xfrm>
            <a:off x="4846320" y="2340864"/>
            <a:ext cx="3803904" cy="310896"/>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Predicted annual spending for a customer with ZERO income. A mathematical baseline for the fitted line. Not interpretable in business terms (no customer has zero income). Report cautiously.</a:t>
            </a:r>
            <a:endParaRPr lang="en-US" sz="850" dirty="0"/>
          </a:p>
        </p:txBody>
      </p:sp>
      <p:sp>
        <p:nvSpPr>
          <p:cNvPr id="58" name="Shape 56"/>
          <p:cNvSpPr/>
          <p:nvPr/>
        </p:nvSpPr>
        <p:spPr>
          <a:xfrm>
            <a:off x="4773168" y="2779776"/>
            <a:ext cx="3986784" cy="676656"/>
          </a:xfrm>
          <a:prstGeom prst="roundRect">
            <a:avLst>
              <a:gd name="adj" fmla="val 8108"/>
            </a:avLst>
          </a:prstGeom>
          <a:solidFill>
            <a:srgbClr val="EAF6FA"/>
          </a:solidFill>
          <a:ln w="10160">
            <a:solidFill>
              <a:srgbClr val="0A7E8C"/>
            </a:solidFill>
            <a:prstDash val="solid"/>
          </a:ln>
        </p:spPr>
      </p:sp>
      <p:sp>
        <p:nvSpPr>
          <p:cNvPr id="59" name="Shape 57"/>
          <p:cNvSpPr/>
          <p:nvPr/>
        </p:nvSpPr>
        <p:spPr>
          <a:xfrm>
            <a:off x="4846320" y="2834640"/>
            <a:ext cx="329184" cy="256032"/>
          </a:xfrm>
          <a:prstGeom prst="roundRect">
            <a:avLst>
              <a:gd name="adj" fmla="val 14286"/>
            </a:avLst>
          </a:prstGeom>
          <a:solidFill>
            <a:srgbClr val="0A7E8C"/>
          </a:solidFill>
          <a:ln w="12700">
            <a:solidFill>
              <a:srgbClr val="0A7E8C"/>
            </a:solidFill>
            <a:prstDash val="solid"/>
          </a:ln>
        </p:spPr>
      </p:sp>
      <p:sp>
        <p:nvSpPr>
          <p:cNvPr id="60" name="Text 58"/>
          <p:cNvSpPr/>
          <p:nvPr/>
        </p:nvSpPr>
        <p:spPr>
          <a:xfrm>
            <a:off x="4846320" y="2834640"/>
            <a:ext cx="329184"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b₁</a:t>
            </a:r>
            <a:endParaRPr lang="en-US" sz="900" dirty="0"/>
          </a:p>
        </p:txBody>
      </p:sp>
      <p:sp>
        <p:nvSpPr>
          <p:cNvPr id="61" name="Text 59"/>
          <p:cNvSpPr/>
          <p:nvPr/>
        </p:nvSpPr>
        <p:spPr>
          <a:xfrm>
            <a:off x="5248656" y="2834640"/>
            <a:ext cx="3419856" cy="219456"/>
          </a:xfrm>
          <a:prstGeom prst="rect">
            <a:avLst/>
          </a:prstGeom>
          <a:noFill/>
          <a:ln/>
        </p:spPr>
        <p:txBody>
          <a:bodyPr wrap="square" lIns="0" tIns="0" rIns="0" bIns="0" rtlCol="0" anchor="ctr"/>
          <a:lstStyle/>
          <a:p>
            <a:pPr indent="0" marL="0">
              <a:buNone/>
            </a:pPr>
            <a:r>
              <a:rPr lang="en-US" sz="1000" b="1" dirty="0">
                <a:solidFill>
                  <a:srgbClr val="0A7E8C"/>
                </a:solidFill>
                <a:latin typeface="Calibri" pitchFamily="34" charset="0"/>
                <a:ea typeface="Calibri" pitchFamily="34" charset="-122"/>
                <a:cs typeface="Calibri" pitchFamily="34" charset="-120"/>
              </a:rPr>
              <a:t>Slope = 0.391</a:t>
            </a:r>
            <a:endParaRPr lang="en-US" sz="1000" dirty="0"/>
          </a:p>
        </p:txBody>
      </p:sp>
      <p:sp>
        <p:nvSpPr>
          <p:cNvPr id="62" name="Text 60"/>
          <p:cNvSpPr/>
          <p:nvPr/>
        </p:nvSpPr>
        <p:spPr>
          <a:xfrm>
            <a:off x="4846320" y="3090672"/>
            <a:ext cx="3803904" cy="310896"/>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For every N1,000 increase in annual income, annual credit card spending increases by N391 on average, all else equal. A N100k income rise: N39,100 more spending. GTBank's marginal propensity to spend on credit.</a:t>
            </a:r>
            <a:endParaRPr lang="en-US" sz="850" dirty="0"/>
          </a:p>
        </p:txBody>
      </p:sp>
      <p:sp>
        <p:nvSpPr>
          <p:cNvPr id="63" name="Shape 61"/>
          <p:cNvSpPr/>
          <p:nvPr/>
        </p:nvSpPr>
        <p:spPr>
          <a:xfrm>
            <a:off x="4773168" y="3529584"/>
            <a:ext cx="3986784" cy="676656"/>
          </a:xfrm>
          <a:prstGeom prst="roundRect">
            <a:avLst>
              <a:gd name="adj" fmla="val 8108"/>
            </a:avLst>
          </a:prstGeom>
          <a:solidFill>
            <a:srgbClr val="EAF6FA"/>
          </a:solidFill>
          <a:ln w="10160">
            <a:solidFill>
              <a:srgbClr val="0A8A50"/>
            </a:solidFill>
            <a:prstDash val="solid"/>
          </a:ln>
        </p:spPr>
      </p:sp>
      <p:sp>
        <p:nvSpPr>
          <p:cNvPr id="64" name="Shape 62"/>
          <p:cNvSpPr/>
          <p:nvPr/>
        </p:nvSpPr>
        <p:spPr>
          <a:xfrm>
            <a:off x="4846320" y="3584448"/>
            <a:ext cx="329184" cy="256032"/>
          </a:xfrm>
          <a:prstGeom prst="roundRect">
            <a:avLst>
              <a:gd name="adj" fmla="val 14286"/>
            </a:avLst>
          </a:prstGeom>
          <a:solidFill>
            <a:srgbClr val="0A8A50"/>
          </a:solidFill>
          <a:ln w="12700">
            <a:solidFill>
              <a:srgbClr val="0A8A50"/>
            </a:solidFill>
            <a:prstDash val="solid"/>
          </a:ln>
        </p:spPr>
      </p:sp>
      <p:sp>
        <p:nvSpPr>
          <p:cNvPr id="65" name="Text 63"/>
          <p:cNvSpPr/>
          <p:nvPr/>
        </p:nvSpPr>
        <p:spPr>
          <a:xfrm>
            <a:off x="4846320" y="3584448"/>
            <a:ext cx="329184"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R²</a:t>
            </a:r>
            <a:endParaRPr lang="en-US" sz="900" dirty="0"/>
          </a:p>
        </p:txBody>
      </p:sp>
      <p:sp>
        <p:nvSpPr>
          <p:cNvPr id="66" name="Text 64"/>
          <p:cNvSpPr/>
          <p:nvPr/>
        </p:nvSpPr>
        <p:spPr>
          <a:xfrm>
            <a:off x="5248656" y="3584448"/>
            <a:ext cx="3419856" cy="219456"/>
          </a:xfrm>
          <a:prstGeom prst="rect">
            <a:avLst/>
          </a:prstGeom>
          <a:noFill/>
          <a:ln/>
        </p:spPr>
        <p:txBody>
          <a:bodyPr wrap="square" lIns="0" tIns="0" rIns="0" bIns="0" rtlCol="0" anchor="ctr"/>
          <a:lstStyle/>
          <a:p>
            <a:pPr indent="0" marL="0">
              <a:buNone/>
            </a:pPr>
            <a:r>
              <a:rPr lang="en-US" sz="1000" b="1" dirty="0">
                <a:solidFill>
                  <a:srgbClr val="0A8A50"/>
                </a:solidFill>
                <a:latin typeface="Calibri" pitchFamily="34" charset="0"/>
                <a:ea typeface="Calibri" pitchFamily="34" charset="-122"/>
                <a:cs typeface="Calibri" pitchFamily="34" charset="-120"/>
              </a:rPr>
              <a:t>R² = 0.631 (63.1%)</a:t>
            </a:r>
            <a:endParaRPr lang="en-US" sz="1000" dirty="0"/>
          </a:p>
        </p:txBody>
      </p:sp>
      <p:sp>
        <p:nvSpPr>
          <p:cNvPr id="67" name="Text 65"/>
          <p:cNvSpPr/>
          <p:nvPr/>
        </p:nvSpPr>
        <p:spPr>
          <a:xfrm>
            <a:off x="4846320" y="3840480"/>
            <a:ext cx="3803904" cy="310896"/>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Income explains 63.1% of the variation in spending. 36.9% remains unexplained by income alone - attributable to age, lifestyle, debt obligations, and other unmeasured factors.</a:t>
            </a:r>
            <a:endParaRPr lang="en-US" sz="850" dirty="0"/>
          </a:p>
        </p:txBody>
      </p:sp>
      <p:sp>
        <p:nvSpPr>
          <p:cNvPr id="68" name="Shape 66"/>
          <p:cNvSpPr/>
          <p:nvPr/>
        </p:nvSpPr>
        <p:spPr>
          <a:xfrm>
            <a:off x="4773168" y="4279392"/>
            <a:ext cx="3986784" cy="676656"/>
          </a:xfrm>
          <a:prstGeom prst="roundRect">
            <a:avLst>
              <a:gd name="adj" fmla="val 8108"/>
            </a:avLst>
          </a:prstGeom>
          <a:solidFill>
            <a:srgbClr val="EAF6FA"/>
          </a:solidFill>
          <a:ln w="10160">
            <a:solidFill>
              <a:srgbClr val="6010C8"/>
            </a:solidFill>
            <a:prstDash val="solid"/>
          </a:ln>
        </p:spPr>
      </p:sp>
      <p:sp>
        <p:nvSpPr>
          <p:cNvPr id="69" name="Shape 67"/>
          <p:cNvSpPr/>
          <p:nvPr/>
        </p:nvSpPr>
        <p:spPr>
          <a:xfrm>
            <a:off x="4846320" y="4334256"/>
            <a:ext cx="329184" cy="256032"/>
          </a:xfrm>
          <a:prstGeom prst="roundRect">
            <a:avLst>
              <a:gd name="adj" fmla="val 14286"/>
            </a:avLst>
          </a:prstGeom>
          <a:solidFill>
            <a:srgbClr val="6010C8"/>
          </a:solidFill>
          <a:ln w="12700">
            <a:solidFill>
              <a:srgbClr val="6010C8"/>
            </a:solidFill>
            <a:prstDash val="solid"/>
          </a:ln>
        </p:spPr>
      </p:sp>
      <p:sp>
        <p:nvSpPr>
          <p:cNvPr id="70" name="Text 68"/>
          <p:cNvSpPr/>
          <p:nvPr/>
        </p:nvSpPr>
        <p:spPr>
          <a:xfrm>
            <a:off x="4846320" y="4334256"/>
            <a:ext cx="329184"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CI</a:t>
            </a:r>
            <a:endParaRPr lang="en-US" sz="900" dirty="0"/>
          </a:p>
        </p:txBody>
      </p:sp>
      <p:sp>
        <p:nvSpPr>
          <p:cNvPr id="71" name="Text 69"/>
          <p:cNvSpPr/>
          <p:nvPr/>
        </p:nvSpPr>
        <p:spPr>
          <a:xfrm>
            <a:off x="5248656" y="4334256"/>
            <a:ext cx="3419856" cy="219456"/>
          </a:xfrm>
          <a:prstGeom prst="rect">
            <a:avLst/>
          </a:prstGeom>
          <a:noFill/>
          <a:ln/>
        </p:spPr>
        <p:txBody>
          <a:bodyPr wrap="square" lIns="0" tIns="0" rIns="0" bIns="0" rtlCol="0" anchor="ctr"/>
          <a:lstStyle/>
          <a:p>
            <a:pPr indent="0" marL="0">
              <a:buNone/>
            </a:pPr>
            <a:r>
              <a:rPr lang="en-US" sz="1000" b="1" dirty="0">
                <a:solidFill>
                  <a:srgbClr val="6010C8"/>
                </a:solidFill>
                <a:latin typeface="Calibri" pitchFamily="34" charset="0"/>
                <a:ea typeface="Calibri" pitchFamily="34" charset="-122"/>
                <a:cs typeface="Calibri" pitchFamily="34" charset="-120"/>
              </a:rPr>
              <a:t>95% CI: [0.349, 0.433]</a:t>
            </a:r>
            <a:endParaRPr lang="en-US" sz="1000" dirty="0"/>
          </a:p>
        </p:txBody>
      </p:sp>
      <p:sp>
        <p:nvSpPr>
          <p:cNvPr id="72" name="Text 70"/>
          <p:cNvSpPr/>
          <p:nvPr/>
        </p:nvSpPr>
        <p:spPr>
          <a:xfrm>
            <a:off x="4846320" y="4590288"/>
            <a:ext cx="3803904" cy="310896"/>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We are 95% confident the true slope is between N349 and N433 per N1,000 income increase. This interval does NOT include zero, confirming the slope is significant.</a:t>
            </a:r>
            <a:endParaRPr lang="en-US" sz="850" dirty="0"/>
          </a:p>
        </p:txBody>
      </p:sp>
      <p:sp>
        <p:nvSpPr>
          <p:cNvPr id="73" name="Shape 71"/>
          <p:cNvSpPr/>
          <p:nvPr/>
        </p:nvSpPr>
        <p:spPr>
          <a:xfrm>
            <a:off x="256032" y="5230368"/>
            <a:ext cx="8631936" cy="347472"/>
          </a:xfrm>
          <a:prstGeom prst="roundRect">
            <a:avLst>
              <a:gd name="adj" fmla="val 15789"/>
            </a:avLst>
          </a:prstGeom>
          <a:solidFill>
            <a:srgbClr val="FFFBEC"/>
          </a:solidFill>
          <a:ln w="19050">
            <a:solidFill>
              <a:srgbClr val="D4A010"/>
            </a:solidFill>
            <a:prstDash val="solid"/>
          </a:ln>
        </p:spPr>
      </p:sp>
      <p:sp>
        <p:nvSpPr>
          <p:cNvPr id="74" name="Text 72"/>
          <p:cNvSpPr/>
          <p:nvPr/>
        </p:nvSpPr>
        <p:spPr>
          <a:xfrm>
            <a:off x="384048" y="5230368"/>
            <a:ext cx="8449056" cy="347472"/>
          </a:xfrm>
          <a:prstGeom prst="rect">
            <a:avLst/>
          </a:prstGeom>
          <a:noFill/>
          <a:ln/>
        </p:spPr>
        <p:txBody>
          <a:bodyPr wrap="square" lIns="0" tIns="0" rIns="0" bIns="0" rtlCol="0" anchor="ctr"/>
          <a:lstStyle/>
          <a:p>
            <a:pPr indent="0" marL="0">
              <a:buNone/>
            </a:pPr>
            <a:r>
              <a:rPr lang="en-US" sz="950" i="1" dirty="0">
                <a:solidFill>
                  <a:srgbClr val="5A3800"/>
                </a:solidFill>
                <a:latin typeface="Calibri" pitchFamily="34" charset="0"/>
                <a:ea typeface="Calibri" pitchFamily="34" charset="-122"/>
                <a:cs typeface="Calibri" pitchFamily="34" charset="-120"/>
              </a:rPr>
              <a:t>APA: Simple linear regression revealed that annual income significantly predicted annual credit card spending, b = 391 (N), 95% CI [349, 433], t(198) = 18.41, p &lt; .001. Annual income explained 63.1% of the variance in spending, R² = .631, F(1,198) = 339.1, p &lt; .001.</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REGRESSION  |  SECTION 03</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Multiple Linear Regression</a:t>
            </a:r>
            <a:endParaRPr lang="en-US" sz="36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Ceteris paribus - six predictors, every coefficient interpreted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MLR - Lagos House Price Model - Complete Coefficients Table + Interpretation</a:t>
            </a:r>
            <a:endParaRPr lang="en-US" sz="2100" dirty="0"/>
          </a:p>
        </p:txBody>
      </p:sp>
      <p:sp>
        <p:nvSpPr>
          <p:cNvPr id="4" name="Shape 2"/>
          <p:cNvSpPr/>
          <p:nvPr/>
        </p:nvSpPr>
        <p:spPr>
          <a:xfrm>
            <a:off x="256032" y="1024128"/>
            <a:ext cx="8631936" cy="402336"/>
          </a:xfrm>
          <a:prstGeom prst="roundRect">
            <a:avLst>
              <a:gd name="adj" fmla="val 15909"/>
            </a:avLst>
          </a:prstGeom>
          <a:solidFill>
            <a:srgbClr val="0C1428"/>
          </a:solidFill>
          <a:ln w="10160">
            <a:solidFill>
              <a:srgbClr val="14B8C8"/>
            </a:solidFill>
            <a:prstDash val="solid"/>
          </a:ln>
        </p:spPr>
      </p:sp>
      <p:sp>
        <p:nvSpPr>
          <p:cNvPr id="5" name="Text 3"/>
          <p:cNvSpPr/>
          <p:nvPr/>
        </p:nvSpPr>
        <p:spPr>
          <a:xfrm>
            <a:off x="384048" y="1042416"/>
            <a:ext cx="8321040" cy="347472"/>
          </a:xfrm>
          <a:prstGeom prst="rect">
            <a:avLst/>
          </a:prstGeom>
          <a:noFill/>
          <a:ln/>
        </p:spPr>
        <p:txBody>
          <a:bodyPr wrap="square" lIns="0" tIns="0" rIns="0" bIns="0" rtlCol="0" anchor="ctr"/>
          <a:lstStyle/>
          <a:p>
            <a:pPr algn="ctr" indent="0" marL="0">
              <a:buNone/>
            </a:pPr>
            <a:r>
              <a:rPr lang="en-US" sz="1000" b="1" dirty="0">
                <a:solidFill>
                  <a:srgbClr val="14B8C8"/>
                </a:solidFill>
                <a:latin typeface="Courier New" pitchFamily="34" charset="0"/>
                <a:ea typeface="Courier New" pitchFamily="34" charset="-122"/>
                <a:cs typeface="Courier New" pitchFamily="34" charset="-120"/>
              </a:rPr>
              <a:t>Price-hat = -5.84M + 0.185M×Area + 0.820M×Location + 0.650M×Bedrooms - 0.048M×Age + 1.240M×Garage - 0.081M×Distance</a:t>
            </a:r>
            <a:endParaRPr lang="en-US" sz="1000" dirty="0"/>
          </a:p>
        </p:txBody>
      </p:sp>
      <p:sp>
        <p:nvSpPr>
          <p:cNvPr id="6" name="Shape 4"/>
          <p:cNvSpPr/>
          <p:nvPr/>
        </p:nvSpPr>
        <p:spPr>
          <a:xfrm>
            <a:off x="256032" y="1499616"/>
            <a:ext cx="1371600" cy="256032"/>
          </a:xfrm>
          <a:prstGeom prst="rect">
            <a:avLst/>
          </a:prstGeom>
          <a:solidFill>
            <a:srgbClr val="070C18"/>
          </a:solidFill>
          <a:ln w="12700">
            <a:solidFill>
              <a:srgbClr val="070C18"/>
            </a:solidFill>
            <a:prstDash val="solid"/>
          </a:ln>
        </p:spPr>
      </p:sp>
      <p:sp>
        <p:nvSpPr>
          <p:cNvPr id="7" name="Text 5"/>
          <p:cNvSpPr/>
          <p:nvPr/>
        </p:nvSpPr>
        <p:spPr>
          <a:xfrm>
            <a:off x="256032" y="1499616"/>
            <a:ext cx="137160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Predictor</a:t>
            </a:r>
            <a:endParaRPr lang="en-US" sz="800" dirty="0"/>
          </a:p>
        </p:txBody>
      </p:sp>
      <p:sp>
        <p:nvSpPr>
          <p:cNvPr id="8" name="Shape 6"/>
          <p:cNvSpPr/>
          <p:nvPr/>
        </p:nvSpPr>
        <p:spPr>
          <a:xfrm>
            <a:off x="1627632" y="1499616"/>
            <a:ext cx="749808" cy="256032"/>
          </a:xfrm>
          <a:prstGeom prst="rect">
            <a:avLst/>
          </a:prstGeom>
          <a:solidFill>
            <a:srgbClr val="070C18"/>
          </a:solidFill>
          <a:ln w="12700">
            <a:solidFill>
              <a:srgbClr val="070C18"/>
            </a:solidFill>
            <a:prstDash val="solid"/>
          </a:ln>
        </p:spPr>
      </p:sp>
      <p:sp>
        <p:nvSpPr>
          <p:cNvPr id="9" name="Text 7"/>
          <p:cNvSpPr/>
          <p:nvPr/>
        </p:nvSpPr>
        <p:spPr>
          <a:xfrm>
            <a:off x="1627632" y="1499616"/>
            <a:ext cx="74980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a:t>
            </a:r>
            <a:endParaRPr lang="en-US" sz="800" dirty="0"/>
          </a:p>
        </p:txBody>
      </p:sp>
      <p:sp>
        <p:nvSpPr>
          <p:cNvPr id="10" name="Shape 8"/>
          <p:cNvSpPr/>
          <p:nvPr/>
        </p:nvSpPr>
        <p:spPr>
          <a:xfrm>
            <a:off x="2377440" y="1499616"/>
            <a:ext cx="640080" cy="256032"/>
          </a:xfrm>
          <a:prstGeom prst="rect">
            <a:avLst/>
          </a:prstGeom>
          <a:solidFill>
            <a:srgbClr val="070C18"/>
          </a:solidFill>
          <a:ln w="12700">
            <a:solidFill>
              <a:srgbClr val="070C18"/>
            </a:solidFill>
            <a:prstDash val="solid"/>
          </a:ln>
        </p:spPr>
      </p:sp>
      <p:sp>
        <p:nvSpPr>
          <p:cNvPr id="11" name="Text 9"/>
          <p:cNvSpPr/>
          <p:nvPr/>
        </p:nvSpPr>
        <p:spPr>
          <a:xfrm>
            <a:off x="2377440" y="1499616"/>
            <a:ext cx="64008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SE</a:t>
            </a:r>
            <a:endParaRPr lang="en-US" sz="800" dirty="0"/>
          </a:p>
        </p:txBody>
      </p:sp>
      <p:sp>
        <p:nvSpPr>
          <p:cNvPr id="12" name="Shape 10"/>
          <p:cNvSpPr/>
          <p:nvPr/>
        </p:nvSpPr>
        <p:spPr>
          <a:xfrm>
            <a:off x="3017520" y="1499616"/>
            <a:ext cx="530352" cy="256032"/>
          </a:xfrm>
          <a:prstGeom prst="rect">
            <a:avLst/>
          </a:prstGeom>
          <a:solidFill>
            <a:srgbClr val="070C18"/>
          </a:solidFill>
          <a:ln w="12700">
            <a:solidFill>
              <a:srgbClr val="070C18"/>
            </a:solidFill>
            <a:prstDash val="solid"/>
          </a:ln>
        </p:spPr>
      </p:sp>
      <p:sp>
        <p:nvSpPr>
          <p:cNvPr id="13" name="Text 11"/>
          <p:cNvSpPr/>
          <p:nvPr/>
        </p:nvSpPr>
        <p:spPr>
          <a:xfrm>
            <a:off x="3017520" y="1499616"/>
            <a:ext cx="53035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Beta</a:t>
            </a:r>
            <a:endParaRPr lang="en-US" sz="800" dirty="0"/>
          </a:p>
        </p:txBody>
      </p:sp>
      <p:sp>
        <p:nvSpPr>
          <p:cNvPr id="14" name="Shape 12"/>
          <p:cNvSpPr/>
          <p:nvPr/>
        </p:nvSpPr>
        <p:spPr>
          <a:xfrm>
            <a:off x="3547872" y="1499616"/>
            <a:ext cx="566928" cy="256032"/>
          </a:xfrm>
          <a:prstGeom prst="rect">
            <a:avLst/>
          </a:prstGeom>
          <a:solidFill>
            <a:srgbClr val="070C18"/>
          </a:solidFill>
          <a:ln w="12700">
            <a:solidFill>
              <a:srgbClr val="070C18"/>
            </a:solidFill>
            <a:prstDash val="solid"/>
          </a:ln>
        </p:spPr>
      </p:sp>
      <p:sp>
        <p:nvSpPr>
          <p:cNvPr id="15" name="Text 13"/>
          <p:cNvSpPr/>
          <p:nvPr/>
        </p:nvSpPr>
        <p:spPr>
          <a:xfrm>
            <a:off x="3547872" y="1499616"/>
            <a:ext cx="56692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a:t>
            </a:r>
            <a:endParaRPr lang="en-US" sz="800" dirty="0"/>
          </a:p>
        </p:txBody>
      </p:sp>
      <p:sp>
        <p:nvSpPr>
          <p:cNvPr id="16" name="Shape 14"/>
          <p:cNvSpPr/>
          <p:nvPr/>
        </p:nvSpPr>
        <p:spPr>
          <a:xfrm>
            <a:off x="4114800" y="1499616"/>
            <a:ext cx="566928" cy="256032"/>
          </a:xfrm>
          <a:prstGeom prst="rect">
            <a:avLst/>
          </a:prstGeom>
          <a:solidFill>
            <a:srgbClr val="070C18"/>
          </a:solidFill>
          <a:ln w="12700">
            <a:solidFill>
              <a:srgbClr val="070C18"/>
            </a:solidFill>
            <a:prstDash val="solid"/>
          </a:ln>
        </p:spPr>
      </p:sp>
      <p:sp>
        <p:nvSpPr>
          <p:cNvPr id="17" name="Text 15"/>
          <p:cNvSpPr/>
          <p:nvPr/>
        </p:nvSpPr>
        <p:spPr>
          <a:xfrm>
            <a:off x="4114800" y="1499616"/>
            <a:ext cx="56692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a:t>
            </a:r>
            <a:endParaRPr lang="en-US" sz="800" dirty="0"/>
          </a:p>
        </p:txBody>
      </p:sp>
      <p:sp>
        <p:nvSpPr>
          <p:cNvPr id="18" name="Shape 16"/>
          <p:cNvSpPr/>
          <p:nvPr/>
        </p:nvSpPr>
        <p:spPr>
          <a:xfrm>
            <a:off x="4681728" y="1499616"/>
            <a:ext cx="1115568" cy="256032"/>
          </a:xfrm>
          <a:prstGeom prst="rect">
            <a:avLst/>
          </a:prstGeom>
          <a:solidFill>
            <a:srgbClr val="070C18"/>
          </a:solidFill>
          <a:ln w="12700">
            <a:solidFill>
              <a:srgbClr val="070C18"/>
            </a:solidFill>
            <a:prstDash val="solid"/>
          </a:ln>
        </p:spPr>
      </p:sp>
      <p:sp>
        <p:nvSpPr>
          <p:cNvPr id="19" name="Text 17"/>
          <p:cNvSpPr/>
          <p:nvPr/>
        </p:nvSpPr>
        <p:spPr>
          <a:xfrm>
            <a:off x="4681728" y="1499616"/>
            <a:ext cx="111556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95% CI</a:t>
            </a:r>
            <a:endParaRPr lang="en-US" sz="800" dirty="0"/>
          </a:p>
        </p:txBody>
      </p:sp>
      <p:sp>
        <p:nvSpPr>
          <p:cNvPr id="20" name="Shape 18"/>
          <p:cNvSpPr/>
          <p:nvPr/>
        </p:nvSpPr>
        <p:spPr>
          <a:xfrm>
            <a:off x="5797296" y="1499616"/>
            <a:ext cx="530352" cy="256032"/>
          </a:xfrm>
          <a:prstGeom prst="rect">
            <a:avLst/>
          </a:prstGeom>
          <a:solidFill>
            <a:srgbClr val="070C18"/>
          </a:solidFill>
          <a:ln w="12700">
            <a:solidFill>
              <a:srgbClr val="070C18"/>
            </a:solidFill>
            <a:prstDash val="solid"/>
          </a:ln>
        </p:spPr>
      </p:sp>
      <p:sp>
        <p:nvSpPr>
          <p:cNvPr id="21" name="Text 19"/>
          <p:cNvSpPr/>
          <p:nvPr/>
        </p:nvSpPr>
        <p:spPr>
          <a:xfrm>
            <a:off x="5797296" y="1499616"/>
            <a:ext cx="53035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VIF</a:t>
            </a:r>
            <a:endParaRPr lang="en-US" sz="800" dirty="0"/>
          </a:p>
        </p:txBody>
      </p:sp>
      <p:sp>
        <p:nvSpPr>
          <p:cNvPr id="22" name="Shape 20"/>
          <p:cNvSpPr/>
          <p:nvPr/>
        </p:nvSpPr>
        <p:spPr>
          <a:xfrm>
            <a:off x="256032" y="1755648"/>
            <a:ext cx="1371600" cy="256032"/>
          </a:xfrm>
          <a:prstGeom prst="rect">
            <a:avLst/>
          </a:prstGeom>
          <a:solidFill>
            <a:srgbClr val="C0F0FF"/>
          </a:solidFill>
          <a:ln w="6350">
            <a:solidFill>
              <a:srgbClr val="A0C8D8"/>
            </a:solidFill>
            <a:prstDash val="solid"/>
          </a:ln>
        </p:spPr>
      </p:sp>
      <p:sp>
        <p:nvSpPr>
          <p:cNvPr id="23" name="Text 21"/>
          <p:cNvSpPr/>
          <p:nvPr/>
        </p:nvSpPr>
        <p:spPr>
          <a:xfrm>
            <a:off x="256032" y="1755648"/>
            <a:ext cx="1371600"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Floor Area (sqm)</a:t>
            </a:r>
            <a:endParaRPr lang="en-US" sz="800" dirty="0"/>
          </a:p>
        </p:txBody>
      </p:sp>
      <p:sp>
        <p:nvSpPr>
          <p:cNvPr id="24" name="Shape 22"/>
          <p:cNvSpPr/>
          <p:nvPr/>
        </p:nvSpPr>
        <p:spPr>
          <a:xfrm>
            <a:off x="1627632" y="1755648"/>
            <a:ext cx="749808" cy="256032"/>
          </a:xfrm>
          <a:prstGeom prst="rect">
            <a:avLst/>
          </a:prstGeom>
          <a:solidFill>
            <a:srgbClr val="C0F0FF"/>
          </a:solidFill>
          <a:ln w="6350">
            <a:solidFill>
              <a:srgbClr val="A0C8D8"/>
            </a:solidFill>
            <a:prstDash val="solid"/>
          </a:ln>
        </p:spPr>
      </p:sp>
      <p:sp>
        <p:nvSpPr>
          <p:cNvPr id="25" name="Text 23"/>
          <p:cNvSpPr/>
          <p:nvPr/>
        </p:nvSpPr>
        <p:spPr>
          <a:xfrm>
            <a:off x="1627632" y="1755648"/>
            <a:ext cx="74980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N185k</a:t>
            </a:r>
            <a:endParaRPr lang="en-US" sz="800" dirty="0"/>
          </a:p>
        </p:txBody>
      </p:sp>
      <p:sp>
        <p:nvSpPr>
          <p:cNvPr id="26" name="Shape 24"/>
          <p:cNvSpPr/>
          <p:nvPr/>
        </p:nvSpPr>
        <p:spPr>
          <a:xfrm>
            <a:off x="2377440" y="1755648"/>
            <a:ext cx="640080" cy="256032"/>
          </a:xfrm>
          <a:prstGeom prst="rect">
            <a:avLst/>
          </a:prstGeom>
          <a:solidFill>
            <a:srgbClr val="EAF6FA"/>
          </a:solidFill>
          <a:ln w="6350">
            <a:solidFill>
              <a:srgbClr val="A0C8D8"/>
            </a:solidFill>
            <a:prstDash val="solid"/>
          </a:ln>
        </p:spPr>
      </p:sp>
      <p:sp>
        <p:nvSpPr>
          <p:cNvPr id="27" name="Text 25"/>
          <p:cNvSpPr/>
          <p:nvPr/>
        </p:nvSpPr>
        <p:spPr>
          <a:xfrm>
            <a:off x="2377440" y="1755648"/>
            <a:ext cx="64008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8.2k</a:t>
            </a:r>
            <a:endParaRPr lang="en-US" sz="800" dirty="0"/>
          </a:p>
        </p:txBody>
      </p:sp>
      <p:sp>
        <p:nvSpPr>
          <p:cNvPr id="28" name="Shape 26"/>
          <p:cNvSpPr/>
          <p:nvPr/>
        </p:nvSpPr>
        <p:spPr>
          <a:xfrm>
            <a:off x="3017520" y="1755648"/>
            <a:ext cx="530352" cy="256032"/>
          </a:xfrm>
          <a:prstGeom prst="rect">
            <a:avLst/>
          </a:prstGeom>
          <a:solidFill>
            <a:srgbClr val="C0F0FF"/>
          </a:solidFill>
          <a:ln w="6350">
            <a:solidFill>
              <a:srgbClr val="A0C8D8"/>
            </a:solidFill>
            <a:prstDash val="solid"/>
          </a:ln>
        </p:spPr>
      </p:sp>
      <p:sp>
        <p:nvSpPr>
          <p:cNvPr id="29" name="Text 27"/>
          <p:cNvSpPr/>
          <p:nvPr/>
        </p:nvSpPr>
        <p:spPr>
          <a:xfrm>
            <a:off x="3017520" y="1755648"/>
            <a:ext cx="5303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.512</a:t>
            </a:r>
            <a:endParaRPr lang="en-US" sz="800" dirty="0"/>
          </a:p>
        </p:txBody>
      </p:sp>
      <p:sp>
        <p:nvSpPr>
          <p:cNvPr id="30" name="Shape 28"/>
          <p:cNvSpPr/>
          <p:nvPr/>
        </p:nvSpPr>
        <p:spPr>
          <a:xfrm>
            <a:off x="3547872" y="1755648"/>
            <a:ext cx="566928" cy="256032"/>
          </a:xfrm>
          <a:prstGeom prst="rect">
            <a:avLst/>
          </a:prstGeom>
          <a:solidFill>
            <a:srgbClr val="C0F0FF"/>
          </a:solidFill>
          <a:ln w="6350">
            <a:solidFill>
              <a:srgbClr val="A0C8D8"/>
            </a:solidFill>
            <a:prstDash val="solid"/>
          </a:ln>
        </p:spPr>
      </p:sp>
      <p:sp>
        <p:nvSpPr>
          <p:cNvPr id="31" name="Text 29"/>
          <p:cNvSpPr/>
          <p:nvPr/>
        </p:nvSpPr>
        <p:spPr>
          <a:xfrm>
            <a:off x="3547872" y="1755648"/>
            <a:ext cx="56692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22.56</a:t>
            </a:r>
            <a:endParaRPr lang="en-US" sz="800" dirty="0"/>
          </a:p>
        </p:txBody>
      </p:sp>
      <p:sp>
        <p:nvSpPr>
          <p:cNvPr id="32" name="Shape 30"/>
          <p:cNvSpPr/>
          <p:nvPr/>
        </p:nvSpPr>
        <p:spPr>
          <a:xfrm>
            <a:off x="4114800" y="1755648"/>
            <a:ext cx="566928" cy="256032"/>
          </a:xfrm>
          <a:prstGeom prst="rect">
            <a:avLst/>
          </a:prstGeom>
          <a:solidFill>
            <a:srgbClr val="C0F0FF"/>
          </a:solidFill>
          <a:ln w="6350">
            <a:solidFill>
              <a:srgbClr val="A0C8D8"/>
            </a:solidFill>
            <a:prstDash val="solid"/>
          </a:ln>
        </p:spPr>
      </p:sp>
      <p:sp>
        <p:nvSpPr>
          <p:cNvPr id="33" name="Text 31"/>
          <p:cNvSpPr/>
          <p:nvPr/>
        </p:nvSpPr>
        <p:spPr>
          <a:xfrm>
            <a:off x="4114800" y="1755648"/>
            <a:ext cx="56692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&lt;.001</a:t>
            </a:r>
            <a:endParaRPr lang="en-US" sz="800" dirty="0"/>
          </a:p>
        </p:txBody>
      </p:sp>
      <p:sp>
        <p:nvSpPr>
          <p:cNvPr id="34" name="Shape 32"/>
          <p:cNvSpPr/>
          <p:nvPr/>
        </p:nvSpPr>
        <p:spPr>
          <a:xfrm>
            <a:off x="4681728" y="1755648"/>
            <a:ext cx="1115568" cy="256032"/>
          </a:xfrm>
          <a:prstGeom prst="rect">
            <a:avLst/>
          </a:prstGeom>
          <a:solidFill>
            <a:srgbClr val="EAF6FA"/>
          </a:solidFill>
          <a:ln w="6350">
            <a:solidFill>
              <a:srgbClr val="A0C8D8"/>
            </a:solidFill>
            <a:prstDash val="solid"/>
          </a:ln>
        </p:spPr>
      </p:sp>
      <p:sp>
        <p:nvSpPr>
          <p:cNvPr id="35" name="Text 33"/>
          <p:cNvSpPr/>
          <p:nvPr/>
        </p:nvSpPr>
        <p:spPr>
          <a:xfrm>
            <a:off x="4681728" y="1755648"/>
            <a:ext cx="11155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[169k, 201k]</a:t>
            </a:r>
            <a:endParaRPr lang="en-US" sz="800" dirty="0"/>
          </a:p>
        </p:txBody>
      </p:sp>
      <p:sp>
        <p:nvSpPr>
          <p:cNvPr id="36" name="Shape 34"/>
          <p:cNvSpPr/>
          <p:nvPr/>
        </p:nvSpPr>
        <p:spPr>
          <a:xfrm>
            <a:off x="5797296" y="1755648"/>
            <a:ext cx="530352" cy="256032"/>
          </a:xfrm>
          <a:prstGeom prst="rect">
            <a:avLst/>
          </a:prstGeom>
          <a:solidFill>
            <a:srgbClr val="C0F0FF"/>
          </a:solidFill>
          <a:ln w="6350">
            <a:solidFill>
              <a:srgbClr val="A0C8D8"/>
            </a:solidFill>
            <a:prstDash val="solid"/>
          </a:ln>
        </p:spPr>
      </p:sp>
      <p:sp>
        <p:nvSpPr>
          <p:cNvPr id="37" name="Text 35"/>
          <p:cNvSpPr/>
          <p:nvPr/>
        </p:nvSpPr>
        <p:spPr>
          <a:xfrm>
            <a:off x="5797296" y="1755648"/>
            <a:ext cx="5303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1.84</a:t>
            </a:r>
            <a:endParaRPr lang="en-US" sz="800" dirty="0"/>
          </a:p>
        </p:txBody>
      </p:sp>
      <p:sp>
        <p:nvSpPr>
          <p:cNvPr id="38" name="Shape 36"/>
          <p:cNvSpPr/>
          <p:nvPr/>
        </p:nvSpPr>
        <p:spPr>
          <a:xfrm>
            <a:off x="256032" y="2011680"/>
            <a:ext cx="1371600" cy="256032"/>
          </a:xfrm>
          <a:prstGeom prst="rect">
            <a:avLst/>
          </a:prstGeom>
          <a:solidFill>
            <a:srgbClr val="C0F0FF"/>
          </a:solidFill>
          <a:ln w="6350">
            <a:solidFill>
              <a:srgbClr val="A0C8D8"/>
            </a:solidFill>
            <a:prstDash val="solid"/>
          </a:ln>
        </p:spPr>
      </p:sp>
      <p:sp>
        <p:nvSpPr>
          <p:cNvPr id="39" name="Text 37"/>
          <p:cNvSpPr/>
          <p:nvPr/>
        </p:nvSpPr>
        <p:spPr>
          <a:xfrm>
            <a:off x="256032" y="2011680"/>
            <a:ext cx="1371600"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Location Score</a:t>
            </a:r>
            <a:endParaRPr lang="en-US" sz="800" dirty="0"/>
          </a:p>
        </p:txBody>
      </p:sp>
      <p:sp>
        <p:nvSpPr>
          <p:cNvPr id="40" name="Shape 38"/>
          <p:cNvSpPr/>
          <p:nvPr/>
        </p:nvSpPr>
        <p:spPr>
          <a:xfrm>
            <a:off x="1627632" y="2011680"/>
            <a:ext cx="749808" cy="256032"/>
          </a:xfrm>
          <a:prstGeom prst="rect">
            <a:avLst/>
          </a:prstGeom>
          <a:solidFill>
            <a:srgbClr val="C0F0FF"/>
          </a:solidFill>
          <a:ln w="6350">
            <a:solidFill>
              <a:srgbClr val="A0C8D8"/>
            </a:solidFill>
            <a:prstDash val="solid"/>
          </a:ln>
        </p:spPr>
      </p:sp>
      <p:sp>
        <p:nvSpPr>
          <p:cNvPr id="41" name="Text 39"/>
          <p:cNvSpPr/>
          <p:nvPr/>
        </p:nvSpPr>
        <p:spPr>
          <a:xfrm>
            <a:off x="1627632" y="2011680"/>
            <a:ext cx="74980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N820k</a:t>
            </a:r>
            <a:endParaRPr lang="en-US" sz="800" dirty="0"/>
          </a:p>
        </p:txBody>
      </p:sp>
      <p:sp>
        <p:nvSpPr>
          <p:cNvPr id="42" name="Shape 40"/>
          <p:cNvSpPr/>
          <p:nvPr/>
        </p:nvSpPr>
        <p:spPr>
          <a:xfrm>
            <a:off x="2377440" y="2011680"/>
            <a:ext cx="640080" cy="256032"/>
          </a:xfrm>
          <a:prstGeom prst="rect">
            <a:avLst/>
          </a:prstGeom>
          <a:solidFill>
            <a:srgbClr val="FFFFFF"/>
          </a:solidFill>
          <a:ln w="6350">
            <a:solidFill>
              <a:srgbClr val="A0C8D8"/>
            </a:solidFill>
            <a:prstDash val="solid"/>
          </a:ln>
        </p:spPr>
      </p:sp>
      <p:sp>
        <p:nvSpPr>
          <p:cNvPr id="43" name="Text 41"/>
          <p:cNvSpPr/>
          <p:nvPr/>
        </p:nvSpPr>
        <p:spPr>
          <a:xfrm>
            <a:off x="2377440" y="2011680"/>
            <a:ext cx="64008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42k</a:t>
            </a:r>
            <a:endParaRPr lang="en-US" sz="800" dirty="0"/>
          </a:p>
        </p:txBody>
      </p:sp>
      <p:sp>
        <p:nvSpPr>
          <p:cNvPr id="44" name="Shape 42"/>
          <p:cNvSpPr/>
          <p:nvPr/>
        </p:nvSpPr>
        <p:spPr>
          <a:xfrm>
            <a:off x="3017520" y="2011680"/>
            <a:ext cx="530352" cy="256032"/>
          </a:xfrm>
          <a:prstGeom prst="rect">
            <a:avLst/>
          </a:prstGeom>
          <a:solidFill>
            <a:srgbClr val="C0F0FF"/>
          </a:solidFill>
          <a:ln w="6350">
            <a:solidFill>
              <a:srgbClr val="A0C8D8"/>
            </a:solidFill>
            <a:prstDash val="solid"/>
          </a:ln>
        </p:spPr>
      </p:sp>
      <p:sp>
        <p:nvSpPr>
          <p:cNvPr id="45" name="Text 43"/>
          <p:cNvSpPr/>
          <p:nvPr/>
        </p:nvSpPr>
        <p:spPr>
          <a:xfrm>
            <a:off x="3017520" y="2011680"/>
            <a:ext cx="5303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.401</a:t>
            </a:r>
            <a:endParaRPr lang="en-US" sz="800" dirty="0"/>
          </a:p>
        </p:txBody>
      </p:sp>
      <p:sp>
        <p:nvSpPr>
          <p:cNvPr id="46" name="Shape 44"/>
          <p:cNvSpPr/>
          <p:nvPr/>
        </p:nvSpPr>
        <p:spPr>
          <a:xfrm>
            <a:off x="3547872" y="2011680"/>
            <a:ext cx="566928" cy="256032"/>
          </a:xfrm>
          <a:prstGeom prst="rect">
            <a:avLst/>
          </a:prstGeom>
          <a:solidFill>
            <a:srgbClr val="C0F0FF"/>
          </a:solidFill>
          <a:ln w="6350">
            <a:solidFill>
              <a:srgbClr val="A0C8D8"/>
            </a:solidFill>
            <a:prstDash val="solid"/>
          </a:ln>
        </p:spPr>
      </p:sp>
      <p:sp>
        <p:nvSpPr>
          <p:cNvPr id="47" name="Text 45"/>
          <p:cNvSpPr/>
          <p:nvPr/>
        </p:nvSpPr>
        <p:spPr>
          <a:xfrm>
            <a:off x="3547872" y="2011680"/>
            <a:ext cx="56692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19.52</a:t>
            </a:r>
            <a:endParaRPr lang="en-US" sz="800" dirty="0"/>
          </a:p>
        </p:txBody>
      </p:sp>
      <p:sp>
        <p:nvSpPr>
          <p:cNvPr id="48" name="Shape 46"/>
          <p:cNvSpPr/>
          <p:nvPr/>
        </p:nvSpPr>
        <p:spPr>
          <a:xfrm>
            <a:off x="4114800" y="2011680"/>
            <a:ext cx="566928" cy="256032"/>
          </a:xfrm>
          <a:prstGeom prst="rect">
            <a:avLst/>
          </a:prstGeom>
          <a:solidFill>
            <a:srgbClr val="C0F0FF"/>
          </a:solidFill>
          <a:ln w="6350">
            <a:solidFill>
              <a:srgbClr val="A0C8D8"/>
            </a:solidFill>
            <a:prstDash val="solid"/>
          </a:ln>
        </p:spPr>
      </p:sp>
      <p:sp>
        <p:nvSpPr>
          <p:cNvPr id="49" name="Text 47"/>
          <p:cNvSpPr/>
          <p:nvPr/>
        </p:nvSpPr>
        <p:spPr>
          <a:xfrm>
            <a:off x="4114800" y="2011680"/>
            <a:ext cx="56692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&lt;.001</a:t>
            </a:r>
            <a:endParaRPr lang="en-US" sz="800" dirty="0"/>
          </a:p>
        </p:txBody>
      </p:sp>
      <p:sp>
        <p:nvSpPr>
          <p:cNvPr id="50" name="Shape 48"/>
          <p:cNvSpPr/>
          <p:nvPr/>
        </p:nvSpPr>
        <p:spPr>
          <a:xfrm>
            <a:off x="4681728" y="2011680"/>
            <a:ext cx="1115568" cy="256032"/>
          </a:xfrm>
          <a:prstGeom prst="rect">
            <a:avLst/>
          </a:prstGeom>
          <a:solidFill>
            <a:srgbClr val="FFFFFF"/>
          </a:solidFill>
          <a:ln w="6350">
            <a:solidFill>
              <a:srgbClr val="A0C8D8"/>
            </a:solidFill>
            <a:prstDash val="solid"/>
          </a:ln>
        </p:spPr>
      </p:sp>
      <p:sp>
        <p:nvSpPr>
          <p:cNvPr id="51" name="Text 49"/>
          <p:cNvSpPr/>
          <p:nvPr/>
        </p:nvSpPr>
        <p:spPr>
          <a:xfrm>
            <a:off x="4681728" y="2011680"/>
            <a:ext cx="11155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[737k, 903k]</a:t>
            </a:r>
            <a:endParaRPr lang="en-US" sz="800" dirty="0"/>
          </a:p>
        </p:txBody>
      </p:sp>
      <p:sp>
        <p:nvSpPr>
          <p:cNvPr id="52" name="Shape 50"/>
          <p:cNvSpPr/>
          <p:nvPr/>
        </p:nvSpPr>
        <p:spPr>
          <a:xfrm>
            <a:off x="5797296" y="2011680"/>
            <a:ext cx="530352" cy="256032"/>
          </a:xfrm>
          <a:prstGeom prst="rect">
            <a:avLst/>
          </a:prstGeom>
          <a:solidFill>
            <a:srgbClr val="C0F0FF"/>
          </a:solidFill>
          <a:ln w="6350">
            <a:solidFill>
              <a:srgbClr val="A0C8D8"/>
            </a:solidFill>
            <a:prstDash val="solid"/>
          </a:ln>
        </p:spPr>
      </p:sp>
      <p:sp>
        <p:nvSpPr>
          <p:cNvPr id="53" name="Text 51"/>
          <p:cNvSpPr/>
          <p:nvPr/>
        </p:nvSpPr>
        <p:spPr>
          <a:xfrm>
            <a:off x="5797296" y="2011680"/>
            <a:ext cx="5303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1.71</a:t>
            </a:r>
            <a:endParaRPr lang="en-US" sz="800" dirty="0"/>
          </a:p>
        </p:txBody>
      </p:sp>
      <p:sp>
        <p:nvSpPr>
          <p:cNvPr id="54" name="Shape 52"/>
          <p:cNvSpPr/>
          <p:nvPr/>
        </p:nvSpPr>
        <p:spPr>
          <a:xfrm>
            <a:off x="256032" y="2267712"/>
            <a:ext cx="1371600" cy="256032"/>
          </a:xfrm>
          <a:prstGeom prst="rect">
            <a:avLst/>
          </a:prstGeom>
          <a:solidFill>
            <a:srgbClr val="C0F0FF"/>
          </a:solidFill>
          <a:ln w="6350">
            <a:solidFill>
              <a:srgbClr val="A0C8D8"/>
            </a:solidFill>
            <a:prstDash val="solid"/>
          </a:ln>
        </p:spPr>
      </p:sp>
      <p:sp>
        <p:nvSpPr>
          <p:cNvPr id="55" name="Text 53"/>
          <p:cNvSpPr/>
          <p:nvPr/>
        </p:nvSpPr>
        <p:spPr>
          <a:xfrm>
            <a:off x="256032" y="2267712"/>
            <a:ext cx="1371600"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Bedrooms</a:t>
            </a:r>
            <a:endParaRPr lang="en-US" sz="800" dirty="0"/>
          </a:p>
        </p:txBody>
      </p:sp>
      <p:sp>
        <p:nvSpPr>
          <p:cNvPr id="56" name="Shape 54"/>
          <p:cNvSpPr/>
          <p:nvPr/>
        </p:nvSpPr>
        <p:spPr>
          <a:xfrm>
            <a:off x="1627632" y="2267712"/>
            <a:ext cx="749808" cy="256032"/>
          </a:xfrm>
          <a:prstGeom prst="rect">
            <a:avLst/>
          </a:prstGeom>
          <a:solidFill>
            <a:srgbClr val="C0F0FF"/>
          </a:solidFill>
          <a:ln w="6350">
            <a:solidFill>
              <a:srgbClr val="A0C8D8"/>
            </a:solidFill>
            <a:prstDash val="solid"/>
          </a:ln>
        </p:spPr>
      </p:sp>
      <p:sp>
        <p:nvSpPr>
          <p:cNvPr id="57" name="Text 55"/>
          <p:cNvSpPr/>
          <p:nvPr/>
        </p:nvSpPr>
        <p:spPr>
          <a:xfrm>
            <a:off x="1627632" y="2267712"/>
            <a:ext cx="74980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N650k</a:t>
            </a:r>
            <a:endParaRPr lang="en-US" sz="800" dirty="0"/>
          </a:p>
        </p:txBody>
      </p:sp>
      <p:sp>
        <p:nvSpPr>
          <p:cNvPr id="58" name="Shape 56"/>
          <p:cNvSpPr/>
          <p:nvPr/>
        </p:nvSpPr>
        <p:spPr>
          <a:xfrm>
            <a:off x="2377440" y="2267712"/>
            <a:ext cx="640080" cy="256032"/>
          </a:xfrm>
          <a:prstGeom prst="rect">
            <a:avLst/>
          </a:prstGeom>
          <a:solidFill>
            <a:srgbClr val="EAF6FA"/>
          </a:solidFill>
          <a:ln w="6350">
            <a:solidFill>
              <a:srgbClr val="A0C8D8"/>
            </a:solidFill>
            <a:prstDash val="solid"/>
          </a:ln>
        </p:spPr>
      </p:sp>
      <p:sp>
        <p:nvSpPr>
          <p:cNvPr id="59" name="Text 57"/>
          <p:cNvSpPr/>
          <p:nvPr/>
        </p:nvSpPr>
        <p:spPr>
          <a:xfrm>
            <a:off x="2377440" y="2267712"/>
            <a:ext cx="64008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58k</a:t>
            </a:r>
            <a:endParaRPr lang="en-US" sz="800" dirty="0"/>
          </a:p>
        </p:txBody>
      </p:sp>
      <p:sp>
        <p:nvSpPr>
          <p:cNvPr id="60" name="Shape 58"/>
          <p:cNvSpPr/>
          <p:nvPr/>
        </p:nvSpPr>
        <p:spPr>
          <a:xfrm>
            <a:off x="3017520" y="2267712"/>
            <a:ext cx="530352" cy="256032"/>
          </a:xfrm>
          <a:prstGeom prst="rect">
            <a:avLst/>
          </a:prstGeom>
          <a:solidFill>
            <a:srgbClr val="C0F0FF"/>
          </a:solidFill>
          <a:ln w="6350">
            <a:solidFill>
              <a:srgbClr val="A0C8D8"/>
            </a:solidFill>
            <a:prstDash val="solid"/>
          </a:ln>
        </p:spPr>
      </p:sp>
      <p:sp>
        <p:nvSpPr>
          <p:cNvPr id="61" name="Text 59"/>
          <p:cNvSpPr/>
          <p:nvPr/>
        </p:nvSpPr>
        <p:spPr>
          <a:xfrm>
            <a:off x="3017520" y="2267712"/>
            <a:ext cx="5303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.284</a:t>
            </a:r>
            <a:endParaRPr lang="en-US" sz="800" dirty="0"/>
          </a:p>
        </p:txBody>
      </p:sp>
      <p:sp>
        <p:nvSpPr>
          <p:cNvPr id="62" name="Shape 60"/>
          <p:cNvSpPr/>
          <p:nvPr/>
        </p:nvSpPr>
        <p:spPr>
          <a:xfrm>
            <a:off x="3547872" y="2267712"/>
            <a:ext cx="566928" cy="256032"/>
          </a:xfrm>
          <a:prstGeom prst="rect">
            <a:avLst/>
          </a:prstGeom>
          <a:solidFill>
            <a:srgbClr val="C0F0FF"/>
          </a:solidFill>
          <a:ln w="6350">
            <a:solidFill>
              <a:srgbClr val="A0C8D8"/>
            </a:solidFill>
            <a:prstDash val="solid"/>
          </a:ln>
        </p:spPr>
      </p:sp>
      <p:sp>
        <p:nvSpPr>
          <p:cNvPr id="63" name="Text 61"/>
          <p:cNvSpPr/>
          <p:nvPr/>
        </p:nvSpPr>
        <p:spPr>
          <a:xfrm>
            <a:off x="3547872" y="2267712"/>
            <a:ext cx="56692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11.21</a:t>
            </a:r>
            <a:endParaRPr lang="en-US" sz="800" dirty="0"/>
          </a:p>
        </p:txBody>
      </p:sp>
      <p:sp>
        <p:nvSpPr>
          <p:cNvPr id="64" name="Shape 62"/>
          <p:cNvSpPr/>
          <p:nvPr/>
        </p:nvSpPr>
        <p:spPr>
          <a:xfrm>
            <a:off x="4114800" y="2267712"/>
            <a:ext cx="566928" cy="256032"/>
          </a:xfrm>
          <a:prstGeom prst="rect">
            <a:avLst/>
          </a:prstGeom>
          <a:solidFill>
            <a:srgbClr val="C0F0FF"/>
          </a:solidFill>
          <a:ln w="6350">
            <a:solidFill>
              <a:srgbClr val="A0C8D8"/>
            </a:solidFill>
            <a:prstDash val="solid"/>
          </a:ln>
        </p:spPr>
      </p:sp>
      <p:sp>
        <p:nvSpPr>
          <p:cNvPr id="65" name="Text 63"/>
          <p:cNvSpPr/>
          <p:nvPr/>
        </p:nvSpPr>
        <p:spPr>
          <a:xfrm>
            <a:off x="4114800" y="2267712"/>
            <a:ext cx="56692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&lt;.001</a:t>
            </a:r>
            <a:endParaRPr lang="en-US" sz="800" dirty="0"/>
          </a:p>
        </p:txBody>
      </p:sp>
      <p:sp>
        <p:nvSpPr>
          <p:cNvPr id="66" name="Shape 64"/>
          <p:cNvSpPr/>
          <p:nvPr/>
        </p:nvSpPr>
        <p:spPr>
          <a:xfrm>
            <a:off x="4681728" y="2267712"/>
            <a:ext cx="1115568" cy="256032"/>
          </a:xfrm>
          <a:prstGeom prst="rect">
            <a:avLst/>
          </a:prstGeom>
          <a:solidFill>
            <a:srgbClr val="EAF6FA"/>
          </a:solidFill>
          <a:ln w="6350">
            <a:solidFill>
              <a:srgbClr val="A0C8D8"/>
            </a:solidFill>
            <a:prstDash val="solid"/>
          </a:ln>
        </p:spPr>
      </p:sp>
      <p:sp>
        <p:nvSpPr>
          <p:cNvPr id="67" name="Text 65"/>
          <p:cNvSpPr/>
          <p:nvPr/>
        </p:nvSpPr>
        <p:spPr>
          <a:xfrm>
            <a:off x="4681728" y="2267712"/>
            <a:ext cx="11155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[536k, 764k]</a:t>
            </a:r>
            <a:endParaRPr lang="en-US" sz="800" dirty="0"/>
          </a:p>
        </p:txBody>
      </p:sp>
      <p:sp>
        <p:nvSpPr>
          <p:cNvPr id="68" name="Shape 66"/>
          <p:cNvSpPr/>
          <p:nvPr/>
        </p:nvSpPr>
        <p:spPr>
          <a:xfrm>
            <a:off x="5797296" y="2267712"/>
            <a:ext cx="530352" cy="256032"/>
          </a:xfrm>
          <a:prstGeom prst="rect">
            <a:avLst/>
          </a:prstGeom>
          <a:solidFill>
            <a:srgbClr val="C0F0FF"/>
          </a:solidFill>
          <a:ln w="6350">
            <a:solidFill>
              <a:srgbClr val="A0C8D8"/>
            </a:solidFill>
            <a:prstDash val="solid"/>
          </a:ln>
        </p:spPr>
      </p:sp>
      <p:sp>
        <p:nvSpPr>
          <p:cNvPr id="69" name="Text 67"/>
          <p:cNvSpPr/>
          <p:nvPr/>
        </p:nvSpPr>
        <p:spPr>
          <a:xfrm>
            <a:off x="5797296" y="2267712"/>
            <a:ext cx="5303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2.08</a:t>
            </a:r>
            <a:endParaRPr lang="en-US" sz="800" dirty="0"/>
          </a:p>
        </p:txBody>
      </p:sp>
      <p:sp>
        <p:nvSpPr>
          <p:cNvPr id="70" name="Shape 68"/>
          <p:cNvSpPr/>
          <p:nvPr/>
        </p:nvSpPr>
        <p:spPr>
          <a:xfrm>
            <a:off x="256032" y="2523744"/>
            <a:ext cx="1371600" cy="256032"/>
          </a:xfrm>
          <a:prstGeom prst="rect">
            <a:avLst/>
          </a:prstGeom>
          <a:solidFill>
            <a:srgbClr val="C0F0FF"/>
          </a:solidFill>
          <a:ln w="6350">
            <a:solidFill>
              <a:srgbClr val="A0C8D8"/>
            </a:solidFill>
            <a:prstDash val="solid"/>
          </a:ln>
        </p:spPr>
      </p:sp>
      <p:sp>
        <p:nvSpPr>
          <p:cNvPr id="71" name="Text 69"/>
          <p:cNvSpPr/>
          <p:nvPr/>
        </p:nvSpPr>
        <p:spPr>
          <a:xfrm>
            <a:off x="256032" y="2523744"/>
            <a:ext cx="1371600"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Age (years)</a:t>
            </a:r>
            <a:endParaRPr lang="en-US" sz="800" dirty="0"/>
          </a:p>
        </p:txBody>
      </p:sp>
      <p:sp>
        <p:nvSpPr>
          <p:cNvPr id="72" name="Shape 70"/>
          <p:cNvSpPr/>
          <p:nvPr/>
        </p:nvSpPr>
        <p:spPr>
          <a:xfrm>
            <a:off x="1627632" y="2523744"/>
            <a:ext cx="749808" cy="256032"/>
          </a:xfrm>
          <a:prstGeom prst="rect">
            <a:avLst/>
          </a:prstGeom>
          <a:solidFill>
            <a:srgbClr val="C0F0FF"/>
          </a:solidFill>
          <a:ln w="6350">
            <a:solidFill>
              <a:srgbClr val="A0C8D8"/>
            </a:solidFill>
            <a:prstDash val="solid"/>
          </a:ln>
        </p:spPr>
      </p:sp>
      <p:sp>
        <p:nvSpPr>
          <p:cNvPr id="73" name="Text 71"/>
          <p:cNvSpPr/>
          <p:nvPr/>
        </p:nvSpPr>
        <p:spPr>
          <a:xfrm>
            <a:off x="1627632" y="2523744"/>
            <a:ext cx="74980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-N48k</a:t>
            </a:r>
            <a:endParaRPr lang="en-US" sz="800" dirty="0"/>
          </a:p>
        </p:txBody>
      </p:sp>
      <p:sp>
        <p:nvSpPr>
          <p:cNvPr id="74" name="Shape 72"/>
          <p:cNvSpPr/>
          <p:nvPr/>
        </p:nvSpPr>
        <p:spPr>
          <a:xfrm>
            <a:off x="2377440" y="2523744"/>
            <a:ext cx="640080" cy="256032"/>
          </a:xfrm>
          <a:prstGeom prst="rect">
            <a:avLst/>
          </a:prstGeom>
          <a:solidFill>
            <a:srgbClr val="FFFFFF"/>
          </a:solidFill>
          <a:ln w="6350">
            <a:solidFill>
              <a:srgbClr val="A0C8D8"/>
            </a:solidFill>
            <a:prstDash val="solid"/>
          </a:ln>
        </p:spPr>
      </p:sp>
      <p:sp>
        <p:nvSpPr>
          <p:cNvPr id="75" name="Text 73"/>
          <p:cNvSpPr/>
          <p:nvPr/>
        </p:nvSpPr>
        <p:spPr>
          <a:xfrm>
            <a:off x="2377440" y="2523744"/>
            <a:ext cx="64008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6.8k</a:t>
            </a:r>
            <a:endParaRPr lang="en-US" sz="800" dirty="0"/>
          </a:p>
        </p:txBody>
      </p:sp>
      <p:sp>
        <p:nvSpPr>
          <p:cNvPr id="76" name="Shape 74"/>
          <p:cNvSpPr/>
          <p:nvPr/>
        </p:nvSpPr>
        <p:spPr>
          <a:xfrm>
            <a:off x="3017520" y="2523744"/>
            <a:ext cx="530352" cy="256032"/>
          </a:xfrm>
          <a:prstGeom prst="rect">
            <a:avLst/>
          </a:prstGeom>
          <a:solidFill>
            <a:srgbClr val="C0F0FF"/>
          </a:solidFill>
          <a:ln w="6350">
            <a:solidFill>
              <a:srgbClr val="A0C8D8"/>
            </a:solidFill>
            <a:prstDash val="solid"/>
          </a:ln>
        </p:spPr>
      </p:sp>
      <p:sp>
        <p:nvSpPr>
          <p:cNvPr id="77" name="Text 75"/>
          <p:cNvSpPr/>
          <p:nvPr/>
        </p:nvSpPr>
        <p:spPr>
          <a:xfrm>
            <a:off x="3017520" y="2523744"/>
            <a:ext cx="5303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-.178</a:t>
            </a:r>
            <a:endParaRPr lang="en-US" sz="800" dirty="0"/>
          </a:p>
        </p:txBody>
      </p:sp>
      <p:sp>
        <p:nvSpPr>
          <p:cNvPr id="78" name="Shape 76"/>
          <p:cNvSpPr/>
          <p:nvPr/>
        </p:nvSpPr>
        <p:spPr>
          <a:xfrm>
            <a:off x="3547872" y="2523744"/>
            <a:ext cx="566928" cy="256032"/>
          </a:xfrm>
          <a:prstGeom prst="rect">
            <a:avLst/>
          </a:prstGeom>
          <a:solidFill>
            <a:srgbClr val="C0F0FF"/>
          </a:solidFill>
          <a:ln w="6350">
            <a:solidFill>
              <a:srgbClr val="A0C8D8"/>
            </a:solidFill>
            <a:prstDash val="solid"/>
          </a:ln>
        </p:spPr>
      </p:sp>
      <p:sp>
        <p:nvSpPr>
          <p:cNvPr id="79" name="Text 77"/>
          <p:cNvSpPr/>
          <p:nvPr/>
        </p:nvSpPr>
        <p:spPr>
          <a:xfrm>
            <a:off x="3547872" y="2523744"/>
            <a:ext cx="56692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-7.06</a:t>
            </a:r>
            <a:endParaRPr lang="en-US" sz="800" dirty="0"/>
          </a:p>
        </p:txBody>
      </p:sp>
      <p:sp>
        <p:nvSpPr>
          <p:cNvPr id="80" name="Shape 78"/>
          <p:cNvSpPr/>
          <p:nvPr/>
        </p:nvSpPr>
        <p:spPr>
          <a:xfrm>
            <a:off x="4114800" y="2523744"/>
            <a:ext cx="566928" cy="256032"/>
          </a:xfrm>
          <a:prstGeom prst="rect">
            <a:avLst/>
          </a:prstGeom>
          <a:solidFill>
            <a:srgbClr val="C0F0FF"/>
          </a:solidFill>
          <a:ln w="6350">
            <a:solidFill>
              <a:srgbClr val="A0C8D8"/>
            </a:solidFill>
            <a:prstDash val="solid"/>
          </a:ln>
        </p:spPr>
      </p:sp>
      <p:sp>
        <p:nvSpPr>
          <p:cNvPr id="81" name="Text 79"/>
          <p:cNvSpPr/>
          <p:nvPr/>
        </p:nvSpPr>
        <p:spPr>
          <a:xfrm>
            <a:off x="4114800" y="2523744"/>
            <a:ext cx="56692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&lt;.001</a:t>
            </a:r>
            <a:endParaRPr lang="en-US" sz="800" dirty="0"/>
          </a:p>
        </p:txBody>
      </p:sp>
      <p:sp>
        <p:nvSpPr>
          <p:cNvPr id="82" name="Shape 80"/>
          <p:cNvSpPr/>
          <p:nvPr/>
        </p:nvSpPr>
        <p:spPr>
          <a:xfrm>
            <a:off x="4681728" y="2523744"/>
            <a:ext cx="1115568" cy="256032"/>
          </a:xfrm>
          <a:prstGeom prst="rect">
            <a:avLst/>
          </a:prstGeom>
          <a:solidFill>
            <a:srgbClr val="FFFFFF"/>
          </a:solidFill>
          <a:ln w="6350">
            <a:solidFill>
              <a:srgbClr val="A0C8D8"/>
            </a:solidFill>
            <a:prstDash val="solid"/>
          </a:ln>
        </p:spPr>
      </p:sp>
      <p:sp>
        <p:nvSpPr>
          <p:cNvPr id="83" name="Text 81"/>
          <p:cNvSpPr/>
          <p:nvPr/>
        </p:nvSpPr>
        <p:spPr>
          <a:xfrm>
            <a:off x="4681728" y="2523744"/>
            <a:ext cx="11155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[-61k, -35k]</a:t>
            </a:r>
            <a:endParaRPr lang="en-US" sz="800" dirty="0"/>
          </a:p>
        </p:txBody>
      </p:sp>
      <p:sp>
        <p:nvSpPr>
          <p:cNvPr id="84" name="Shape 82"/>
          <p:cNvSpPr/>
          <p:nvPr/>
        </p:nvSpPr>
        <p:spPr>
          <a:xfrm>
            <a:off x="5797296" y="2523744"/>
            <a:ext cx="530352" cy="256032"/>
          </a:xfrm>
          <a:prstGeom prst="rect">
            <a:avLst/>
          </a:prstGeom>
          <a:solidFill>
            <a:srgbClr val="C0F0FF"/>
          </a:solidFill>
          <a:ln w="6350">
            <a:solidFill>
              <a:srgbClr val="A0C8D8"/>
            </a:solidFill>
            <a:prstDash val="solid"/>
          </a:ln>
        </p:spPr>
      </p:sp>
      <p:sp>
        <p:nvSpPr>
          <p:cNvPr id="85" name="Text 83"/>
          <p:cNvSpPr/>
          <p:nvPr/>
        </p:nvSpPr>
        <p:spPr>
          <a:xfrm>
            <a:off x="5797296" y="2523744"/>
            <a:ext cx="5303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1.22</a:t>
            </a:r>
            <a:endParaRPr lang="en-US" sz="800" dirty="0"/>
          </a:p>
        </p:txBody>
      </p:sp>
      <p:sp>
        <p:nvSpPr>
          <p:cNvPr id="86" name="Shape 84"/>
          <p:cNvSpPr/>
          <p:nvPr/>
        </p:nvSpPr>
        <p:spPr>
          <a:xfrm>
            <a:off x="256032" y="2779776"/>
            <a:ext cx="1371600" cy="256032"/>
          </a:xfrm>
          <a:prstGeom prst="rect">
            <a:avLst/>
          </a:prstGeom>
          <a:solidFill>
            <a:srgbClr val="C0F0FF"/>
          </a:solidFill>
          <a:ln w="6350">
            <a:solidFill>
              <a:srgbClr val="A0C8D8"/>
            </a:solidFill>
            <a:prstDash val="solid"/>
          </a:ln>
        </p:spPr>
      </p:sp>
      <p:sp>
        <p:nvSpPr>
          <p:cNvPr id="87" name="Text 85"/>
          <p:cNvSpPr/>
          <p:nvPr/>
        </p:nvSpPr>
        <p:spPr>
          <a:xfrm>
            <a:off x="256032" y="2779776"/>
            <a:ext cx="1371600"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Garage (1=Yes)</a:t>
            </a:r>
            <a:endParaRPr lang="en-US" sz="800" dirty="0"/>
          </a:p>
        </p:txBody>
      </p:sp>
      <p:sp>
        <p:nvSpPr>
          <p:cNvPr id="88" name="Shape 86"/>
          <p:cNvSpPr/>
          <p:nvPr/>
        </p:nvSpPr>
        <p:spPr>
          <a:xfrm>
            <a:off x="1627632" y="2779776"/>
            <a:ext cx="749808" cy="256032"/>
          </a:xfrm>
          <a:prstGeom prst="rect">
            <a:avLst/>
          </a:prstGeom>
          <a:solidFill>
            <a:srgbClr val="C0F0FF"/>
          </a:solidFill>
          <a:ln w="6350">
            <a:solidFill>
              <a:srgbClr val="A0C8D8"/>
            </a:solidFill>
            <a:prstDash val="solid"/>
          </a:ln>
        </p:spPr>
      </p:sp>
      <p:sp>
        <p:nvSpPr>
          <p:cNvPr id="89" name="Text 87"/>
          <p:cNvSpPr/>
          <p:nvPr/>
        </p:nvSpPr>
        <p:spPr>
          <a:xfrm>
            <a:off x="1627632" y="2779776"/>
            <a:ext cx="74980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N1.24M</a:t>
            </a:r>
            <a:endParaRPr lang="en-US" sz="800" dirty="0"/>
          </a:p>
        </p:txBody>
      </p:sp>
      <p:sp>
        <p:nvSpPr>
          <p:cNvPr id="90" name="Shape 88"/>
          <p:cNvSpPr/>
          <p:nvPr/>
        </p:nvSpPr>
        <p:spPr>
          <a:xfrm>
            <a:off x="2377440" y="2779776"/>
            <a:ext cx="640080" cy="256032"/>
          </a:xfrm>
          <a:prstGeom prst="rect">
            <a:avLst/>
          </a:prstGeom>
          <a:solidFill>
            <a:srgbClr val="EAF6FA"/>
          </a:solidFill>
          <a:ln w="6350">
            <a:solidFill>
              <a:srgbClr val="A0C8D8"/>
            </a:solidFill>
            <a:prstDash val="solid"/>
          </a:ln>
        </p:spPr>
      </p:sp>
      <p:sp>
        <p:nvSpPr>
          <p:cNvPr id="91" name="Text 89"/>
          <p:cNvSpPr/>
          <p:nvPr/>
        </p:nvSpPr>
        <p:spPr>
          <a:xfrm>
            <a:off x="2377440" y="2779776"/>
            <a:ext cx="64008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185k</a:t>
            </a:r>
            <a:endParaRPr lang="en-US" sz="800" dirty="0"/>
          </a:p>
        </p:txBody>
      </p:sp>
      <p:sp>
        <p:nvSpPr>
          <p:cNvPr id="92" name="Shape 90"/>
          <p:cNvSpPr/>
          <p:nvPr/>
        </p:nvSpPr>
        <p:spPr>
          <a:xfrm>
            <a:off x="3017520" y="2779776"/>
            <a:ext cx="530352" cy="256032"/>
          </a:xfrm>
          <a:prstGeom prst="rect">
            <a:avLst/>
          </a:prstGeom>
          <a:solidFill>
            <a:srgbClr val="C0F0FF"/>
          </a:solidFill>
          <a:ln w="6350">
            <a:solidFill>
              <a:srgbClr val="A0C8D8"/>
            </a:solidFill>
            <a:prstDash val="solid"/>
          </a:ln>
        </p:spPr>
      </p:sp>
      <p:sp>
        <p:nvSpPr>
          <p:cNvPr id="93" name="Text 91"/>
          <p:cNvSpPr/>
          <p:nvPr/>
        </p:nvSpPr>
        <p:spPr>
          <a:xfrm>
            <a:off x="3017520" y="2779776"/>
            <a:ext cx="5303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.182</a:t>
            </a:r>
            <a:endParaRPr lang="en-US" sz="800" dirty="0"/>
          </a:p>
        </p:txBody>
      </p:sp>
      <p:sp>
        <p:nvSpPr>
          <p:cNvPr id="94" name="Shape 92"/>
          <p:cNvSpPr/>
          <p:nvPr/>
        </p:nvSpPr>
        <p:spPr>
          <a:xfrm>
            <a:off x="3547872" y="2779776"/>
            <a:ext cx="566928" cy="256032"/>
          </a:xfrm>
          <a:prstGeom prst="rect">
            <a:avLst/>
          </a:prstGeom>
          <a:solidFill>
            <a:srgbClr val="C0F0FF"/>
          </a:solidFill>
          <a:ln w="6350">
            <a:solidFill>
              <a:srgbClr val="A0C8D8"/>
            </a:solidFill>
            <a:prstDash val="solid"/>
          </a:ln>
        </p:spPr>
      </p:sp>
      <p:sp>
        <p:nvSpPr>
          <p:cNvPr id="95" name="Text 93"/>
          <p:cNvSpPr/>
          <p:nvPr/>
        </p:nvSpPr>
        <p:spPr>
          <a:xfrm>
            <a:off x="3547872" y="2779776"/>
            <a:ext cx="56692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6.70</a:t>
            </a:r>
            <a:endParaRPr lang="en-US" sz="800" dirty="0"/>
          </a:p>
        </p:txBody>
      </p:sp>
      <p:sp>
        <p:nvSpPr>
          <p:cNvPr id="96" name="Shape 94"/>
          <p:cNvSpPr/>
          <p:nvPr/>
        </p:nvSpPr>
        <p:spPr>
          <a:xfrm>
            <a:off x="4114800" y="2779776"/>
            <a:ext cx="566928" cy="256032"/>
          </a:xfrm>
          <a:prstGeom prst="rect">
            <a:avLst/>
          </a:prstGeom>
          <a:solidFill>
            <a:srgbClr val="C0F0FF"/>
          </a:solidFill>
          <a:ln w="6350">
            <a:solidFill>
              <a:srgbClr val="A0C8D8"/>
            </a:solidFill>
            <a:prstDash val="solid"/>
          </a:ln>
        </p:spPr>
      </p:sp>
      <p:sp>
        <p:nvSpPr>
          <p:cNvPr id="97" name="Text 95"/>
          <p:cNvSpPr/>
          <p:nvPr/>
        </p:nvSpPr>
        <p:spPr>
          <a:xfrm>
            <a:off x="4114800" y="2779776"/>
            <a:ext cx="56692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&lt;.001</a:t>
            </a:r>
            <a:endParaRPr lang="en-US" sz="800" dirty="0"/>
          </a:p>
        </p:txBody>
      </p:sp>
      <p:sp>
        <p:nvSpPr>
          <p:cNvPr id="98" name="Shape 96"/>
          <p:cNvSpPr/>
          <p:nvPr/>
        </p:nvSpPr>
        <p:spPr>
          <a:xfrm>
            <a:off x="4681728" y="2779776"/>
            <a:ext cx="1115568" cy="256032"/>
          </a:xfrm>
          <a:prstGeom prst="rect">
            <a:avLst/>
          </a:prstGeom>
          <a:solidFill>
            <a:srgbClr val="EAF6FA"/>
          </a:solidFill>
          <a:ln w="6350">
            <a:solidFill>
              <a:srgbClr val="A0C8D8"/>
            </a:solidFill>
            <a:prstDash val="solid"/>
          </a:ln>
        </p:spPr>
      </p:sp>
      <p:sp>
        <p:nvSpPr>
          <p:cNvPr id="99" name="Text 97"/>
          <p:cNvSpPr/>
          <p:nvPr/>
        </p:nvSpPr>
        <p:spPr>
          <a:xfrm>
            <a:off x="4681728" y="2779776"/>
            <a:ext cx="11155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[876k, 1.60M]</a:t>
            </a:r>
            <a:endParaRPr lang="en-US" sz="800" dirty="0"/>
          </a:p>
        </p:txBody>
      </p:sp>
      <p:sp>
        <p:nvSpPr>
          <p:cNvPr id="100" name="Shape 98"/>
          <p:cNvSpPr/>
          <p:nvPr/>
        </p:nvSpPr>
        <p:spPr>
          <a:xfrm>
            <a:off x="5797296" y="2779776"/>
            <a:ext cx="530352" cy="256032"/>
          </a:xfrm>
          <a:prstGeom prst="rect">
            <a:avLst/>
          </a:prstGeom>
          <a:solidFill>
            <a:srgbClr val="C0F0FF"/>
          </a:solidFill>
          <a:ln w="6350">
            <a:solidFill>
              <a:srgbClr val="A0C8D8"/>
            </a:solidFill>
            <a:prstDash val="solid"/>
          </a:ln>
        </p:spPr>
      </p:sp>
      <p:sp>
        <p:nvSpPr>
          <p:cNvPr id="101" name="Text 99"/>
          <p:cNvSpPr/>
          <p:nvPr/>
        </p:nvSpPr>
        <p:spPr>
          <a:xfrm>
            <a:off x="5797296" y="2779776"/>
            <a:ext cx="5303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1.44</a:t>
            </a:r>
            <a:endParaRPr lang="en-US" sz="800" dirty="0"/>
          </a:p>
        </p:txBody>
      </p:sp>
      <p:sp>
        <p:nvSpPr>
          <p:cNvPr id="102" name="Shape 100"/>
          <p:cNvSpPr/>
          <p:nvPr/>
        </p:nvSpPr>
        <p:spPr>
          <a:xfrm>
            <a:off x="256032" y="3035808"/>
            <a:ext cx="1371600" cy="256032"/>
          </a:xfrm>
          <a:prstGeom prst="rect">
            <a:avLst/>
          </a:prstGeom>
          <a:solidFill>
            <a:srgbClr val="C0F0FF"/>
          </a:solidFill>
          <a:ln w="6350">
            <a:solidFill>
              <a:srgbClr val="A0C8D8"/>
            </a:solidFill>
            <a:prstDash val="solid"/>
          </a:ln>
        </p:spPr>
      </p:sp>
      <p:sp>
        <p:nvSpPr>
          <p:cNvPr id="103" name="Text 101"/>
          <p:cNvSpPr/>
          <p:nvPr/>
        </p:nvSpPr>
        <p:spPr>
          <a:xfrm>
            <a:off x="256032" y="3035808"/>
            <a:ext cx="1371600"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Distance (km)</a:t>
            </a:r>
            <a:endParaRPr lang="en-US" sz="800" dirty="0"/>
          </a:p>
        </p:txBody>
      </p:sp>
      <p:sp>
        <p:nvSpPr>
          <p:cNvPr id="104" name="Shape 102"/>
          <p:cNvSpPr/>
          <p:nvPr/>
        </p:nvSpPr>
        <p:spPr>
          <a:xfrm>
            <a:off x="1627632" y="3035808"/>
            <a:ext cx="749808" cy="256032"/>
          </a:xfrm>
          <a:prstGeom prst="rect">
            <a:avLst/>
          </a:prstGeom>
          <a:solidFill>
            <a:srgbClr val="C0F0FF"/>
          </a:solidFill>
          <a:ln w="6350">
            <a:solidFill>
              <a:srgbClr val="A0C8D8"/>
            </a:solidFill>
            <a:prstDash val="solid"/>
          </a:ln>
        </p:spPr>
      </p:sp>
      <p:sp>
        <p:nvSpPr>
          <p:cNvPr id="105" name="Text 103"/>
          <p:cNvSpPr/>
          <p:nvPr/>
        </p:nvSpPr>
        <p:spPr>
          <a:xfrm>
            <a:off x="1627632" y="3035808"/>
            <a:ext cx="74980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-N81k</a:t>
            </a:r>
            <a:endParaRPr lang="en-US" sz="800" dirty="0"/>
          </a:p>
        </p:txBody>
      </p:sp>
      <p:sp>
        <p:nvSpPr>
          <p:cNvPr id="106" name="Shape 104"/>
          <p:cNvSpPr/>
          <p:nvPr/>
        </p:nvSpPr>
        <p:spPr>
          <a:xfrm>
            <a:off x="2377440" y="3035808"/>
            <a:ext cx="640080" cy="256032"/>
          </a:xfrm>
          <a:prstGeom prst="rect">
            <a:avLst/>
          </a:prstGeom>
          <a:solidFill>
            <a:srgbClr val="FFFFFF"/>
          </a:solidFill>
          <a:ln w="6350">
            <a:solidFill>
              <a:srgbClr val="A0C8D8"/>
            </a:solidFill>
            <a:prstDash val="solid"/>
          </a:ln>
        </p:spPr>
      </p:sp>
      <p:sp>
        <p:nvSpPr>
          <p:cNvPr id="107" name="Text 105"/>
          <p:cNvSpPr/>
          <p:nvPr/>
        </p:nvSpPr>
        <p:spPr>
          <a:xfrm>
            <a:off x="2377440" y="3035808"/>
            <a:ext cx="64008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12k</a:t>
            </a:r>
            <a:endParaRPr lang="en-US" sz="800" dirty="0"/>
          </a:p>
        </p:txBody>
      </p:sp>
      <p:sp>
        <p:nvSpPr>
          <p:cNvPr id="108" name="Shape 106"/>
          <p:cNvSpPr/>
          <p:nvPr/>
        </p:nvSpPr>
        <p:spPr>
          <a:xfrm>
            <a:off x="3017520" y="3035808"/>
            <a:ext cx="530352" cy="256032"/>
          </a:xfrm>
          <a:prstGeom prst="rect">
            <a:avLst/>
          </a:prstGeom>
          <a:solidFill>
            <a:srgbClr val="C0F0FF"/>
          </a:solidFill>
          <a:ln w="6350">
            <a:solidFill>
              <a:srgbClr val="A0C8D8"/>
            </a:solidFill>
            <a:prstDash val="solid"/>
          </a:ln>
        </p:spPr>
      </p:sp>
      <p:sp>
        <p:nvSpPr>
          <p:cNvPr id="109" name="Text 107"/>
          <p:cNvSpPr/>
          <p:nvPr/>
        </p:nvSpPr>
        <p:spPr>
          <a:xfrm>
            <a:off x="3017520" y="3035808"/>
            <a:ext cx="5303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-.198</a:t>
            </a:r>
            <a:endParaRPr lang="en-US" sz="800" dirty="0"/>
          </a:p>
        </p:txBody>
      </p:sp>
      <p:sp>
        <p:nvSpPr>
          <p:cNvPr id="110" name="Shape 108"/>
          <p:cNvSpPr/>
          <p:nvPr/>
        </p:nvSpPr>
        <p:spPr>
          <a:xfrm>
            <a:off x="3547872" y="3035808"/>
            <a:ext cx="566928" cy="256032"/>
          </a:xfrm>
          <a:prstGeom prst="rect">
            <a:avLst/>
          </a:prstGeom>
          <a:solidFill>
            <a:srgbClr val="C0F0FF"/>
          </a:solidFill>
          <a:ln w="6350">
            <a:solidFill>
              <a:srgbClr val="A0C8D8"/>
            </a:solidFill>
            <a:prstDash val="solid"/>
          </a:ln>
        </p:spPr>
      </p:sp>
      <p:sp>
        <p:nvSpPr>
          <p:cNvPr id="111" name="Text 109"/>
          <p:cNvSpPr/>
          <p:nvPr/>
        </p:nvSpPr>
        <p:spPr>
          <a:xfrm>
            <a:off x="3547872" y="3035808"/>
            <a:ext cx="56692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-6.75</a:t>
            </a:r>
            <a:endParaRPr lang="en-US" sz="800" dirty="0"/>
          </a:p>
        </p:txBody>
      </p:sp>
      <p:sp>
        <p:nvSpPr>
          <p:cNvPr id="112" name="Shape 110"/>
          <p:cNvSpPr/>
          <p:nvPr/>
        </p:nvSpPr>
        <p:spPr>
          <a:xfrm>
            <a:off x="4114800" y="3035808"/>
            <a:ext cx="566928" cy="256032"/>
          </a:xfrm>
          <a:prstGeom prst="rect">
            <a:avLst/>
          </a:prstGeom>
          <a:solidFill>
            <a:srgbClr val="C0F0FF"/>
          </a:solidFill>
          <a:ln w="6350">
            <a:solidFill>
              <a:srgbClr val="A0C8D8"/>
            </a:solidFill>
            <a:prstDash val="solid"/>
          </a:ln>
        </p:spPr>
      </p:sp>
      <p:sp>
        <p:nvSpPr>
          <p:cNvPr id="113" name="Text 111"/>
          <p:cNvSpPr/>
          <p:nvPr/>
        </p:nvSpPr>
        <p:spPr>
          <a:xfrm>
            <a:off x="4114800" y="3035808"/>
            <a:ext cx="56692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&lt;.001</a:t>
            </a:r>
            <a:endParaRPr lang="en-US" sz="800" dirty="0"/>
          </a:p>
        </p:txBody>
      </p:sp>
      <p:sp>
        <p:nvSpPr>
          <p:cNvPr id="114" name="Shape 112"/>
          <p:cNvSpPr/>
          <p:nvPr/>
        </p:nvSpPr>
        <p:spPr>
          <a:xfrm>
            <a:off x="4681728" y="3035808"/>
            <a:ext cx="1115568" cy="256032"/>
          </a:xfrm>
          <a:prstGeom prst="rect">
            <a:avLst/>
          </a:prstGeom>
          <a:solidFill>
            <a:srgbClr val="FFFFFF"/>
          </a:solidFill>
          <a:ln w="6350">
            <a:solidFill>
              <a:srgbClr val="A0C8D8"/>
            </a:solidFill>
            <a:prstDash val="solid"/>
          </a:ln>
        </p:spPr>
      </p:sp>
      <p:sp>
        <p:nvSpPr>
          <p:cNvPr id="115" name="Text 113"/>
          <p:cNvSpPr/>
          <p:nvPr/>
        </p:nvSpPr>
        <p:spPr>
          <a:xfrm>
            <a:off x="4681728" y="3035808"/>
            <a:ext cx="111556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[-105k,-57k]</a:t>
            </a:r>
            <a:endParaRPr lang="en-US" sz="800" dirty="0"/>
          </a:p>
        </p:txBody>
      </p:sp>
      <p:sp>
        <p:nvSpPr>
          <p:cNvPr id="116" name="Shape 114"/>
          <p:cNvSpPr/>
          <p:nvPr/>
        </p:nvSpPr>
        <p:spPr>
          <a:xfrm>
            <a:off x="5797296" y="3035808"/>
            <a:ext cx="530352" cy="256032"/>
          </a:xfrm>
          <a:prstGeom prst="rect">
            <a:avLst/>
          </a:prstGeom>
          <a:solidFill>
            <a:srgbClr val="C0F0FF"/>
          </a:solidFill>
          <a:ln w="6350">
            <a:solidFill>
              <a:srgbClr val="A0C8D8"/>
            </a:solidFill>
            <a:prstDash val="solid"/>
          </a:ln>
        </p:spPr>
      </p:sp>
      <p:sp>
        <p:nvSpPr>
          <p:cNvPr id="117" name="Text 115"/>
          <p:cNvSpPr/>
          <p:nvPr/>
        </p:nvSpPr>
        <p:spPr>
          <a:xfrm>
            <a:off x="5797296" y="3035808"/>
            <a:ext cx="53035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1.96</a:t>
            </a:r>
            <a:endParaRPr lang="en-US" sz="800" dirty="0"/>
          </a:p>
        </p:txBody>
      </p:sp>
      <p:sp>
        <p:nvSpPr>
          <p:cNvPr id="118" name="Shape 116"/>
          <p:cNvSpPr/>
          <p:nvPr/>
        </p:nvSpPr>
        <p:spPr>
          <a:xfrm>
            <a:off x="256032" y="3182112"/>
            <a:ext cx="8631936" cy="274320"/>
          </a:xfrm>
          <a:prstGeom prst="roundRect">
            <a:avLst>
              <a:gd name="adj" fmla="val 16667"/>
            </a:avLst>
          </a:prstGeom>
          <a:solidFill>
            <a:srgbClr val="0C1428"/>
          </a:solidFill>
          <a:ln w="7620">
            <a:solidFill>
              <a:srgbClr val="14B8C8"/>
            </a:solidFill>
            <a:prstDash val="solid"/>
          </a:ln>
        </p:spPr>
      </p:sp>
      <p:sp>
        <p:nvSpPr>
          <p:cNvPr id="119" name="Text 117"/>
          <p:cNvSpPr/>
          <p:nvPr/>
        </p:nvSpPr>
        <p:spPr>
          <a:xfrm>
            <a:off x="347472" y="3218688"/>
            <a:ext cx="8357616" cy="201168"/>
          </a:xfrm>
          <a:prstGeom prst="rect">
            <a:avLst/>
          </a:prstGeom>
          <a:noFill/>
          <a:ln/>
        </p:spPr>
        <p:txBody>
          <a:bodyPr wrap="square" lIns="0" tIns="0" rIns="0" bIns="0" rtlCol="0" anchor="ctr"/>
          <a:lstStyle/>
          <a:p>
            <a:pPr algn="ctr" indent="0" marL="0">
              <a:buNone/>
            </a:pPr>
            <a:r>
              <a:rPr lang="en-US" sz="950" b="1" dirty="0">
                <a:solidFill>
                  <a:srgbClr val="14B8C8"/>
                </a:solidFill>
                <a:latin typeface="Calibri" pitchFamily="34" charset="0"/>
                <a:ea typeface="Calibri" pitchFamily="34" charset="-122"/>
                <a:cs typeface="Calibri" pitchFamily="34" charset="-120"/>
              </a:rPr>
              <a:t>Model: R²=.862, Adj.R²=.860, RMSE=N1.74M, F(6,443)=460.4, p&lt;.001  |  All predictors highly significant (p&lt;.001)</a:t>
            </a:r>
            <a:endParaRPr lang="en-US" sz="950" dirty="0"/>
          </a:p>
        </p:txBody>
      </p:sp>
      <p:sp>
        <p:nvSpPr>
          <p:cNvPr id="120" name="Shape 118"/>
          <p:cNvSpPr/>
          <p:nvPr/>
        </p:nvSpPr>
        <p:spPr>
          <a:xfrm>
            <a:off x="256032" y="3529584"/>
            <a:ext cx="4160520" cy="457200"/>
          </a:xfrm>
          <a:prstGeom prst="roundRect">
            <a:avLst>
              <a:gd name="adj" fmla="val 10000"/>
            </a:avLst>
          </a:prstGeom>
          <a:solidFill>
            <a:srgbClr val="EAF6FA"/>
          </a:solidFill>
          <a:ln w="8890">
            <a:solidFill>
              <a:srgbClr val="2878F0"/>
            </a:solidFill>
            <a:prstDash val="solid"/>
          </a:ln>
        </p:spPr>
      </p:sp>
      <p:sp>
        <p:nvSpPr>
          <p:cNvPr id="121" name="Text 119"/>
          <p:cNvSpPr/>
          <p:nvPr/>
        </p:nvSpPr>
        <p:spPr>
          <a:xfrm>
            <a:off x="347472" y="3566160"/>
            <a:ext cx="1828800" cy="201168"/>
          </a:xfrm>
          <a:prstGeom prst="rect">
            <a:avLst/>
          </a:prstGeom>
          <a:noFill/>
          <a:ln/>
        </p:spPr>
        <p:txBody>
          <a:bodyPr wrap="square" lIns="0" tIns="0" rIns="0" bIns="0" rtlCol="0" anchor="ctr"/>
          <a:lstStyle/>
          <a:p>
            <a:pPr indent="0" marL="0">
              <a:buNone/>
            </a:pPr>
            <a:r>
              <a:rPr lang="en-US" sz="900" b="1" dirty="0">
                <a:solidFill>
                  <a:srgbClr val="2878F0"/>
                </a:solidFill>
                <a:latin typeface="Calibri" pitchFamily="34" charset="0"/>
                <a:ea typeface="Calibri" pitchFamily="34" charset="-122"/>
                <a:cs typeface="Calibri" pitchFamily="34" charset="-120"/>
              </a:rPr>
              <a:t>Floor Area (Beta=.512): </a:t>
            </a:r>
            <a:endParaRPr lang="en-US" sz="900" dirty="0"/>
          </a:p>
        </p:txBody>
      </p:sp>
      <p:sp>
        <p:nvSpPr>
          <p:cNvPr id="122" name="Text 120"/>
          <p:cNvSpPr/>
          <p:nvPr/>
        </p:nvSpPr>
        <p:spPr>
          <a:xfrm>
            <a:off x="347472" y="3767328"/>
            <a:ext cx="3913632" cy="182880"/>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STRONGEST predictor. N185k/sqm holding all else constant. 30 sqm larger apt: +N5.55M.</a:t>
            </a:r>
            <a:endParaRPr lang="en-US" sz="850" dirty="0"/>
          </a:p>
        </p:txBody>
      </p:sp>
      <p:sp>
        <p:nvSpPr>
          <p:cNvPr id="123" name="Shape 121"/>
          <p:cNvSpPr/>
          <p:nvPr/>
        </p:nvSpPr>
        <p:spPr>
          <a:xfrm>
            <a:off x="4718304" y="3529584"/>
            <a:ext cx="4160520" cy="457200"/>
          </a:xfrm>
          <a:prstGeom prst="roundRect">
            <a:avLst>
              <a:gd name="adj" fmla="val 10000"/>
            </a:avLst>
          </a:prstGeom>
          <a:solidFill>
            <a:srgbClr val="EAF6FA"/>
          </a:solidFill>
          <a:ln w="8890">
            <a:solidFill>
              <a:srgbClr val="0A8A50"/>
            </a:solidFill>
            <a:prstDash val="solid"/>
          </a:ln>
        </p:spPr>
      </p:sp>
      <p:sp>
        <p:nvSpPr>
          <p:cNvPr id="124" name="Text 122"/>
          <p:cNvSpPr/>
          <p:nvPr/>
        </p:nvSpPr>
        <p:spPr>
          <a:xfrm>
            <a:off x="4809744" y="3566160"/>
            <a:ext cx="1828800" cy="201168"/>
          </a:xfrm>
          <a:prstGeom prst="rect">
            <a:avLst/>
          </a:prstGeom>
          <a:noFill/>
          <a:ln/>
        </p:spPr>
        <p:txBody>
          <a:bodyPr wrap="square" lIns="0" tIns="0" rIns="0" bIns="0" rtlCol="0" anchor="ctr"/>
          <a:lstStyle/>
          <a:p>
            <a:pPr indent="0" marL="0">
              <a:buNone/>
            </a:pPr>
            <a:r>
              <a:rPr lang="en-US" sz="900" b="1" dirty="0">
                <a:solidFill>
                  <a:srgbClr val="0A8A50"/>
                </a:solidFill>
                <a:latin typeface="Calibri" pitchFamily="34" charset="0"/>
                <a:ea typeface="Calibri" pitchFamily="34" charset="-122"/>
                <a:cs typeface="Calibri" pitchFamily="34" charset="-120"/>
              </a:rPr>
              <a:t>Location Score (Beta=.401): </a:t>
            </a:r>
            <a:endParaRPr lang="en-US" sz="900" dirty="0"/>
          </a:p>
        </p:txBody>
      </p:sp>
      <p:sp>
        <p:nvSpPr>
          <p:cNvPr id="125" name="Text 123"/>
          <p:cNvSpPr/>
          <p:nvPr/>
        </p:nvSpPr>
        <p:spPr>
          <a:xfrm>
            <a:off x="4809744" y="3767328"/>
            <a:ext cx="3913632" cy="182880"/>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N820k per score point. Moving from score-5 to score-9: +N3.28M. Location 2nd strongest.</a:t>
            </a:r>
            <a:endParaRPr lang="en-US" sz="850" dirty="0"/>
          </a:p>
        </p:txBody>
      </p:sp>
      <p:sp>
        <p:nvSpPr>
          <p:cNvPr id="126" name="Shape 124"/>
          <p:cNvSpPr/>
          <p:nvPr/>
        </p:nvSpPr>
        <p:spPr>
          <a:xfrm>
            <a:off x="256032" y="4059936"/>
            <a:ext cx="4160520" cy="457200"/>
          </a:xfrm>
          <a:prstGeom prst="roundRect">
            <a:avLst>
              <a:gd name="adj" fmla="val 10000"/>
            </a:avLst>
          </a:prstGeom>
          <a:solidFill>
            <a:srgbClr val="EAF6FA"/>
          </a:solidFill>
          <a:ln w="8890">
            <a:solidFill>
              <a:srgbClr val="E03020"/>
            </a:solidFill>
            <a:prstDash val="solid"/>
          </a:ln>
        </p:spPr>
      </p:sp>
      <p:sp>
        <p:nvSpPr>
          <p:cNvPr id="127" name="Text 125"/>
          <p:cNvSpPr/>
          <p:nvPr/>
        </p:nvSpPr>
        <p:spPr>
          <a:xfrm>
            <a:off x="347472" y="4096512"/>
            <a:ext cx="1828800" cy="201168"/>
          </a:xfrm>
          <a:prstGeom prst="rect">
            <a:avLst/>
          </a:prstGeom>
          <a:noFill/>
          <a:ln/>
        </p:spPr>
        <p:txBody>
          <a:bodyPr wrap="square" lIns="0" tIns="0" rIns="0" bIns="0" rtlCol="0" anchor="ctr"/>
          <a:lstStyle/>
          <a:p>
            <a:pPr indent="0" marL="0">
              <a:buNone/>
            </a:pPr>
            <a:r>
              <a:rPr lang="en-US" sz="900" b="1" dirty="0">
                <a:solidFill>
                  <a:srgbClr val="E03020"/>
                </a:solidFill>
                <a:latin typeface="Calibri" pitchFamily="34" charset="0"/>
                <a:ea typeface="Calibri" pitchFamily="34" charset="-122"/>
                <a:cs typeface="Calibri" pitchFamily="34" charset="-120"/>
              </a:rPr>
              <a:t>Age (Beta=-.178): </a:t>
            </a:r>
            <a:endParaRPr lang="en-US" sz="900" dirty="0"/>
          </a:p>
        </p:txBody>
      </p:sp>
      <p:sp>
        <p:nvSpPr>
          <p:cNvPr id="128" name="Text 126"/>
          <p:cNvSpPr/>
          <p:nvPr/>
        </p:nvSpPr>
        <p:spPr>
          <a:xfrm>
            <a:off x="347472" y="4297680"/>
            <a:ext cx="3913632" cy="182880"/>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N48k price reduction per year of age. 20-year-old vs new equivalent: -N960k depreciation.</a:t>
            </a:r>
            <a:endParaRPr lang="en-US" sz="850" dirty="0"/>
          </a:p>
        </p:txBody>
      </p:sp>
      <p:sp>
        <p:nvSpPr>
          <p:cNvPr id="129" name="Shape 127"/>
          <p:cNvSpPr/>
          <p:nvPr/>
        </p:nvSpPr>
        <p:spPr>
          <a:xfrm>
            <a:off x="4718304" y="4059936"/>
            <a:ext cx="4160520" cy="457200"/>
          </a:xfrm>
          <a:prstGeom prst="roundRect">
            <a:avLst>
              <a:gd name="adj" fmla="val 10000"/>
            </a:avLst>
          </a:prstGeom>
          <a:solidFill>
            <a:srgbClr val="EAF6FA"/>
          </a:solidFill>
          <a:ln w="8890">
            <a:solidFill>
              <a:srgbClr val="E07010"/>
            </a:solidFill>
            <a:prstDash val="solid"/>
          </a:ln>
        </p:spPr>
      </p:sp>
      <p:sp>
        <p:nvSpPr>
          <p:cNvPr id="130" name="Text 128"/>
          <p:cNvSpPr/>
          <p:nvPr/>
        </p:nvSpPr>
        <p:spPr>
          <a:xfrm>
            <a:off x="4809744" y="4096512"/>
            <a:ext cx="1828800" cy="201168"/>
          </a:xfrm>
          <a:prstGeom prst="rect">
            <a:avLst/>
          </a:prstGeom>
          <a:noFill/>
          <a:ln/>
        </p:spPr>
        <p:txBody>
          <a:bodyPr wrap="square" lIns="0" tIns="0" rIns="0" bIns="0" rtlCol="0" anchor="ctr"/>
          <a:lstStyle/>
          <a:p>
            <a:pPr indent="0" marL="0">
              <a:buNone/>
            </a:pPr>
            <a:r>
              <a:rPr lang="en-US" sz="900" b="1" dirty="0">
                <a:solidFill>
                  <a:srgbClr val="E07010"/>
                </a:solidFill>
                <a:latin typeface="Calibri" pitchFamily="34" charset="0"/>
                <a:ea typeface="Calibri" pitchFamily="34" charset="-122"/>
                <a:cs typeface="Calibri" pitchFamily="34" charset="-120"/>
              </a:rPr>
              <a:t>Garage dummy (Beta=.182): </a:t>
            </a:r>
            <a:endParaRPr lang="en-US" sz="900" dirty="0"/>
          </a:p>
        </p:txBody>
      </p:sp>
      <p:sp>
        <p:nvSpPr>
          <p:cNvPr id="131" name="Text 129"/>
          <p:cNvSpPr/>
          <p:nvPr/>
        </p:nvSpPr>
        <p:spPr>
          <a:xfrm>
            <a:off x="4809744" y="4297680"/>
            <a:ext cx="3913632" cy="182880"/>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DUMMY VAR: properties with garage sell N1.24M more than without, all else equal.</a:t>
            </a:r>
            <a:endParaRPr lang="en-US" sz="850" dirty="0"/>
          </a:p>
        </p:txBody>
      </p:sp>
      <p:sp>
        <p:nvSpPr>
          <p:cNvPr id="132" name="Shape 130"/>
          <p:cNvSpPr/>
          <p:nvPr/>
        </p:nvSpPr>
        <p:spPr>
          <a:xfrm>
            <a:off x="256032" y="4590288"/>
            <a:ext cx="4160520" cy="457200"/>
          </a:xfrm>
          <a:prstGeom prst="roundRect">
            <a:avLst>
              <a:gd name="adj" fmla="val 10000"/>
            </a:avLst>
          </a:prstGeom>
          <a:solidFill>
            <a:srgbClr val="EAF6FA"/>
          </a:solidFill>
          <a:ln w="8890">
            <a:solidFill>
              <a:srgbClr val="C01060"/>
            </a:solidFill>
            <a:prstDash val="solid"/>
          </a:ln>
        </p:spPr>
      </p:sp>
      <p:sp>
        <p:nvSpPr>
          <p:cNvPr id="133" name="Text 131"/>
          <p:cNvSpPr/>
          <p:nvPr/>
        </p:nvSpPr>
        <p:spPr>
          <a:xfrm>
            <a:off x="347472" y="4626864"/>
            <a:ext cx="1828800" cy="201168"/>
          </a:xfrm>
          <a:prstGeom prst="rect">
            <a:avLst/>
          </a:prstGeom>
          <a:noFill/>
          <a:ln/>
        </p:spPr>
        <p:txBody>
          <a:bodyPr wrap="square" lIns="0" tIns="0" rIns="0" bIns="0" rtlCol="0" anchor="ctr"/>
          <a:lstStyle/>
          <a:p>
            <a:pPr indent="0" marL="0">
              <a:buNone/>
            </a:pPr>
            <a:r>
              <a:rPr lang="en-US" sz="900" b="1" dirty="0">
                <a:solidFill>
                  <a:srgbClr val="C01060"/>
                </a:solidFill>
                <a:latin typeface="Calibri" pitchFamily="34" charset="0"/>
                <a:ea typeface="Calibri" pitchFamily="34" charset="-122"/>
                <a:cs typeface="Calibri" pitchFamily="34" charset="-120"/>
              </a:rPr>
              <a:t>Distance (Beta=-.198): </a:t>
            </a:r>
            <a:endParaRPr lang="en-US" sz="900" dirty="0"/>
          </a:p>
        </p:txBody>
      </p:sp>
      <p:sp>
        <p:nvSpPr>
          <p:cNvPr id="134" name="Text 132"/>
          <p:cNvSpPr/>
          <p:nvPr/>
        </p:nvSpPr>
        <p:spPr>
          <a:xfrm>
            <a:off x="347472" y="4828032"/>
            <a:ext cx="3913632" cy="182880"/>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N81k less per km from island. Surulere vs Agege (10km): N810k location discount.</a:t>
            </a:r>
            <a:endParaRPr lang="en-US" sz="850" dirty="0"/>
          </a:p>
        </p:txBody>
      </p:sp>
      <p:sp>
        <p:nvSpPr>
          <p:cNvPr id="135" name="Shape 133"/>
          <p:cNvSpPr/>
          <p:nvPr/>
        </p:nvSpPr>
        <p:spPr>
          <a:xfrm>
            <a:off x="4718304" y="4590288"/>
            <a:ext cx="4160520" cy="457200"/>
          </a:xfrm>
          <a:prstGeom prst="roundRect">
            <a:avLst>
              <a:gd name="adj" fmla="val 10000"/>
            </a:avLst>
          </a:prstGeom>
          <a:solidFill>
            <a:srgbClr val="EAF6FA"/>
          </a:solidFill>
          <a:ln w="8890">
            <a:solidFill>
              <a:srgbClr val="6010C8"/>
            </a:solidFill>
            <a:prstDash val="solid"/>
          </a:ln>
        </p:spPr>
      </p:sp>
      <p:sp>
        <p:nvSpPr>
          <p:cNvPr id="136" name="Text 134"/>
          <p:cNvSpPr/>
          <p:nvPr/>
        </p:nvSpPr>
        <p:spPr>
          <a:xfrm>
            <a:off x="4809744" y="4626864"/>
            <a:ext cx="1828800" cy="201168"/>
          </a:xfrm>
          <a:prstGeom prst="rect">
            <a:avLst/>
          </a:prstGeom>
          <a:noFill/>
          <a:ln/>
        </p:spPr>
        <p:txBody>
          <a:bodyPr wrap="square" lIns="0" tIns="0" rIns="0" bIns="0" rtlCol="0" anchor="ctr"/>
          <a:lstStyle/>
          <a:p>
            <a:pPr indent="0" marL="0">
              <a:buNone/>
            </a:pPr>
            <a:r>
              <a:rPr lang="en-US" sz="900" b="1" dirty="0">
                <a:solidFill>
                  <a:srgbClr val="6010C8"/>
                </a:solidFill>
                <a:latin typeface="Calibri" pitchFamily="34" charset="0"/>
                <a:ea typeface="Calibri" pitchFamily="34" charset="-122"/>
                <a:cs typeface="Calibri" pitchFamily="34" charset="-120"/>
              </a:rPr>
              <a:t>Bedrooms (Beta=.284): </a:t>
            </a:r>
            <a:endParaRPr lang="en-US" sz="900" dirty="0"/>
          </a:p>
        </p:txBody>
      </p:sp>
      <p:sp>
        <p:nvSpPr>
          <p:cNvPr id="137" name="Text 135"/>
          <p:cNvSpPr/>
          <p:nvPr/>
        </p:nvSpPr>
        <p:spPr>
          <a:xfrm>
            <a:off x="4809744" y="4828032"/>
            <a:ext cx="3913632" cy="182880"/>
          </a:xfrm>
          <a:prstGeom prst="rect">
            <a:avLst/>
          </a:prstGeom>
          <a:noFill/>
          <a:ln/>
        </p:spPr>
        <p:txBody>
          <a:bodyPr wrap="square" lIns="0" tIns="0" rIns="0" bIns="0" rtlCol="0" anchor="ctr"/>
          <a:lstStyle/>
          <a:p>
            <a:pPr indent="0" marL="0">
              <a:buNone/>
            </a:pPr>
            <a:r>
              <a:rPr lang="en-US" sz="850" dirty="0">
                <a:solidFill>
                  <a:srgbClr val="0C1428"/>
                </a:solidFill>
                <a:latin typeface="Calibri" pitchFamily="34" charset="0"/>
                <a:ea typeface="Calibri" pitchFamily="34" charset="-122"/>
                <a:cs typeface="Calibri" pitchFamily="34" charset="-120"/>
              </a:rPr>
              <a:t>N650k per extra bedroom BEYOND what area would predict. Privacy/functionality premium.</a:t>
            </a:r>
            <a:endParaRPr lang="en-US" sz="850" dirty="0"/>
          </a:p>
        </p:txBody>
      </p:sp>
      <p:sp>
        <p:nvSpPr>
          <p:cNvPr id="138" name="Shape 136"/>
          <p:cNvSpPr/>
          <p:nvPr/>
        </p:nvSpPr>
        <p:spPr>
          <a:xfrm>
            <a:off x="256032" y="5212080"/>
            <a:ext cx="8631936" cy="347472"/>
          </a:xfrm>
          <a:prstGeom prst="roundRect">
            <a:avLst>
              <a:gd name="adj" fmla="val 15789"/>
            </a:avLst>
          </a:prstGeom>
          <a:solidFill>
            <a:srgbClr val="FFFBEC"/>
          </a:solidFill>
          <a:ln w="19050">
            <a:solidFill>
              <a:srgbClr val="D4A010"/>
            </a:solidFill>
            <a:prstDash val="solid"/>
          </a:ln>
        </p:spPr>
      </p:sp>
      <p:sp>
        <p:nvSpPr>
          <p:cNvPr id="139" name="Text 137"/>
          <p:cNvSpPr/>
          <p:nvPr/>
        </p:nvSpPr>
        <p:spPr>
          <a:xfrm>
            <a:off x="384048" y="5212080"/>
            <a:ext cx="8449056" cy="347472"/>
          </a:xfrm>
          <a:prstGeom prst="rect">
            <a:avLst/>
          </a:prstGeom>
          <a:noFill/>
          <a:ln/>
        </p:spPr>
        <p:txBody>
          <a:bodyPr wrap="square" lIns="0" tIns="0" rIns="0" bIns="0" rtlCol="0" anchor="ctr"/>
          <a:lstStyle/>
          <a:p>
            <a:pPr indent="0" marL="0">
              <a:buNone/>
            </a:pPr>
            <a:r>
              <a:rPr lang="en-US" sz="950" dirty="0">
                <a:solidFill>
                  <a:srgbClr val="6B4800"/>
                </a:solidFill>
                <a:latin typeface="Calibri" pitchFamily="34" charset="0"/>
                <a:ea typeface="Calibri" pitchFamily="34" charset="-122"/>
                <a:cs typeface="Calibri" pitchFamily="34" charset="-120"/>
              </a:rPr>
              <a:t>KEY: Report UNSTANDARDISED B for interpretation (N185k/sqm). Report STANDARDISED Beta to rank predictor IMPORTANCE (Beta=.512 = strongest). Report Adj.R² (NOT R²) for model comparison. Report all VIF &lt; 10 to confirm no multicollinearity.</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REGRESSION  |  SECTION 04</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The 6 OLS Assumptions</a:t>
            </a:r>
            <a:endParaRPr lang="en-US" sz="36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Full diagnostic guide - detect, consequence, and fix for every assumption</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A7E8C">
              <a:alpha val="16000"/>
            </a:srgbClr>
          </a:solidFill>
          <a:ln w="12700">
            <a:solidFill>
              <a:srgbClr val="0A7E8C"/>
            </a:solidFill>
            <a:prstDash val="solid"/>
          </a:ln>
        </p:spPr>
      </p:sp>
      <p:sp>
        <p:nvSpPr>
          <p:cNvPr id="3" name="Text 1"/>
          <p:cNvSpPr/>
          <p:nvPr/>
        </p:nvSpPr>
        <p:spPr>
          <a:xfrm>
            <a:off x="457200" y="164592"/>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6 OLS Assumptions - Complete Diagnostic Reference</a:t>
            </a:r>
            <a:endParaRPr lang="en-US" sz="2800" dirty="0"/>
          </a:p>
        </p:txBody>
      </p:sp>
      <p:sp>
        <p:nvSpPr>
          <p:cNvPr id="4" name="Shape 2"/>
          <p:cNvSpPr/>
          <p:nvPr/>
        </p:nvSpPr>
        <p:spPr>
          <a:xfrm>
            <a:off x="274320" y="932688"/>
            <a:ext cx="4160520" cy="1316736"/>
          </a:xfrm>
          <a:prstGeom prst="roundRect">
            <a:avLst>
              <a:gd name="adj" fmla="val 6250"/>
            </a:avLst>
          </a:prstGeom>
          <a:solidFill>
            <a:srgbClr val="0C1428"/>
          </a:solidFill>
          <a:ln w="15240">
            <a:solidFill>
              <a:srgbClr val="14B8C8"/>
            </a:solidFill>
            <a:prstDash val="solid"/>
          </a:ln>
        </p:spPr>
      </p:sp>
      <p:sp>
        <p:nvSpPr>
          <p:cNvPr id="5" name="Shape 3"/>
          <p:cNvSpPr/>
          <p:nvPr/>
        </p:nvSpPr>
        <p:spPr>
          <a:xfrm>
            <a:off x="365760" y="1024128"/>
            <a:ext cx="402336" cy="402336"/>
          </a:xfrm>
          <a:prstGeom prst="ellipse">
            <a:avLst/>
          </a:prstGeom>
          <a:solidFill>
            <a:srgbClr val="14B8C8"/>
          </a:solidFill>
          <a:ln w="12700">
            <a:solidFill>
              <a:srgbClr val="14B8C8"/>
            </a:solidFill>
            <a:prstDash val="solid"/>
          </a:ln>
        </p:spPr>
      </p:sp>
      <p:sp>
        <p:nvSpPr>
          <p:cNvPr id="6" name="Text 4"/>
          <p:cNvSpPr/>
          <p:nvPr/>
        </p:nvSpPr>
        <p:spPr>
          <a:xfrm>
            <a:off x="365760" y="102412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859536" y="1024128"/>
            <a:ext cx="3474720" cy="256032"/>
          </a:xfrm>
          <a:prstGeom prst="rect">
            <a:avLst/>
          </a:prstGeom>
          <a:noFill/>
          <a:ln/>
        </p:spPr>
        <p:txBody>
          <a:bodyPr wrap="square" lIns="0" tIns="0" rIns="0" bIns="0" rtlCol="0" anchor="ctr"/>
          <a:lstStyle/>
          <a:p>
            <a:pPr indent="0" marL="0">
              <a:buNone/>
            </a:pPr>
            <a:r>
              <a:rPr lang="en-US" sz="1150" b="1" dirty="0">
                <a:solidFill>
                  <a:srgbClr val="14B8C8"/>
                </a:solidFill>
                <a:latin typeface="Calibri" pitchFamily="34" charset="0"/>
                <a:ea typeface="Calibri" pitchFamily="34" charset="-122"/>
                <a:cs typeface="Calibri" pitchFamily="34" charset="-120"/>
              </a:rPr>
              <a:t>LINEARITY</a:t>
            </a:r>
            <a:endParaRPr lang="en-US" sz="1150" dirty="0"/>
          </a:p>
        </p:txBody>
      </p:sp>
      <p:sp>
        <p:nvSpPr>
          <p:cNvPr id="8" name="Text 6"/>
          <p:cNvSpPr/>
          <p:nvPr/>
        </p:nvSpPr>
        <p:spPr>
          <a:xfrm>
            <a:off x="384048" y="1371600"/>
            <a:ext cx="3913632" cy="402336"/>
          </a:xfrm>
          <a:prstGeom prst="rect">
            <a:avLst/>
          </a:prstGeom>
          <a:noFill/>
          <a:ln/>
        </p:spPr>
        <p:txBody>
          <a:bodyPr wrap="square" lIns="0" tIns="0" rIns="0" bIns="0" rtlCol="0" anchor="ctr"/>
          <a:lstStyle/>
          <a:p>
            <a:pPr indent="0" marL="0">
              <a:buNone/>
            </a:pPr>
            <a:r>
              <a:rPr lang="en-US" sz="850" b="1" dirty="0">
                <a:solidFill>
                  <a:srgbClr val="14B8C8"/>
                </a:solidFill>
                <a:latin typeface="Calibri" pitchFamily="34" charset="0"/>
                <a:ea typeface="Calibri" pitchFamily="34" charset="-122"/>
                <a:cs typeface="Calibri" pitchFamily="34" charset="-120"/>
              </a:rPr>
              <a:t>DETECT: </a:t>
            </a:r>
            <a:pPr indent="0" marL="0">
              <a:buNone/>
            </a:pPr>
            <a:r>
              <a:rPr lang="en-US" sz="850" dirty="0">
                <a:solidFill>
                  <a:srgbClr val="90D0D8"/>
                </a:solidFill>
                <a:latin typeface="Calibri" pitchFamily="34" charset="0"/>
                <a:ea typeface="Calibri" pitchFamily="34" charset="-122"/>
                <a:cs typeface="Calibri" pitchFamily="34" charset="-120"/>
              </a:rPr>
              <a:t>Residuals vs Fitted: random scatter = OK. Curved pattern = VIOLATION.</a:t>
            </a:r>
            <a:endParaRPr lang="en-US" sz="850" dirty="0"/>
          </a:p>
        </p:txBody>
      </p:sp>
      <p:sp>
        <p:nvSpPr>
          <p:cNvPr id="9" name="Text 7"/>
          <p:cNvSpPr/>
          <p:nvPr/>
        </p:nvSpPr>
        <p:spPr>
          <a:xfrm>
            <a:off x="384048" y="1810512"/>
            <a:ext cx="3913632" cy="365760"/>
          </a:xfrm>
          <a:prstGeom prst="rect">
            <a:avLst/>
          </a:prstGeom>
          <a:noFill/>
          <a:ln/>
        </p:spPr>
        <p:txBody>
          <a:bodyPr wrap="square" lIns="0" tIns="0" rIns="0" bIns="0" rtlCol="0" anchor="ctr"/>
          <a:lstStyle/>
          <a:p>
            <a:pPr indent="0" marL="0">
              <a:buNone/>
            </a:pPr>
            <a:r>
              <a:rPr lang="en-US" sz="850" b="1" dirty="0">
                <a:solidFill>
                  <a:srgbClr val="14B8C8"/>
                </a:solidFill>
                <a:latin typeface="Calibri" pitchFamily="34" charset="0"/>
                <a:ea typeface="Calibri" pitchFamily="34" charset="-122"/>
                <a:cs typeface="Calibri" pitchFamily="34" charset="-120"/>
              </a:rPr>
              <a:t>FIX: </a:t>
            </a:r>
            <a:pPr indent="0" marL="0">
              <a:buNone/>
            </a:pPr>
            <a:r>
              <a:rPr lang="en-US" sz="850" dirty="0">
                <a:solidFill>
                  <a:srgbClr val="7090A8"/>
                </a:solidFill>
                <a:latin typeface="Calibri" pitchFamily="34" charset="0"/>
                <a:ea typeface="Calibri" pitchFamily="34" charset="-122"/>
                <a:cs typeface="Calibri" pitchFamily="34" charset="-120"/>
              </a:rPr>
              <a:t>Add X² (polynomial). Transform X: LN(X) or sqrt(X). Use spline or GAM.</a:t>
            </a:r>
            <a:endParaRPr lang="en-US" sz="850" dirty="0"/>
          </a:p>
        </p:txBody>
      </p:sp>
      <p:sp>
        <p:nvSpPr>
          <p:cNvPr id="10" name="Shape 8"/>
          <p:cNvSpPr/>
          <p:nvPr/>
        </p:nvSpPr>
        <p:spPr>
          <a:xfrm>
            <a:off x="274320" y="2340864"/>
            <a:ext cx="4160520" cy="1316736"/>
          </a:xfrm>
          <a:prstGeom prst="roundRect">
            <a:avLst>
              <a:gd name="adj" fmla="val 6250"/>
            </a:avLst>
          </a:prstGeom>
          <a:solidFill>
            <a:srgbClr val="0C1428"/>
          </a:solidFill>
          <a:ln w="15240">
            <a:solidFill>
              <a:srgbClr val="D4A010"/>
            </a:solidFill>
            <a:prstDash val="solid"/>
          </a:ln>
        </p:spPr>
      </p:sp>
      <p:sp>
        <p:nvSpPr>
          <p:cNvPr id="11" name="Shape 9"/>
          <p:cNvSpPr/>
          <p:nvPr/>
        </p:nvSpPr>
        <p:spPr>
          <a:xfrm>
            <a:off x="365760" y="2432304"/>
            <a:ext cx="402336" cy="402336"/>
          </a:xfrm>
          <a:prstGeom prst="ellipse">
            <a:avLst/>
          </a:prstGeom>
          <a:solidFill>
            <a:srgbClr val="D4A010"/>
          </a:solidFill>
          <a:ln w="12700">
            <a:solidFill>
              <a:srgbClr val="D4A010"/>
            </a:solidFill>
            <a:prstDash val="solid"/>
          </a:ln>
        </p:spPr>
      </p:sp>
      <p:sp>
        <p:nvSpPr>
          <p:cNvPr id="12" name="Text 10"/>
          <p:cNvSpPr/>
          <p:nvPr/>
        </p:nvSpPr>
        <p:spPr>
          <a:xfrm>
            <a:off x="365760" y="243230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859536" y="2432304"/>
            <a:ext cx="3474720" cy="256032"/>
          </a:xfrm>
          <a:prstGeom prst="rect">
            <a:avLst/>
          </a:prstGeom>
          <a:noFill/>
          <a:ln/>
        </p:spPr>
        <p:txBody>
          <a:bodyPr wrap="square" lIns="0" tIns="0" rIns="0" bIns="0" rtlCol="0" anchor="ctr"/>
          <a:lstStyle/>
          <a:p>
            <a:pPr indent="0" marL="0">
              <a:buNone/>
            </a:pPr>
            <a:r>
              <a:rPr lang="en-US" sz="1150" b="1" dirty="0">
                <a:solidFill>
                  <a:srgbClr val="D4A010"/>
                </a:solidFill>
                <a:latin typeface="Calibri" pitchFamily="34" charset="0"/>
                <a:ea typeface="Calibri" pitchFamily="34" charset="-122"/>
                <a:cs typeface="Calibri" pitchFamily="34" charset="-120"/>
              </a:rPr>
              <a:t>INDEPENDENCE</a:t>
            </a:r>
            <a:endParaRPr lang="en-US" sz="1150" dirty="0"/>
          </a:p>
        </p:txBody>
      </p:sp>
      <p:sp>
        <p:nvSpPr>
          <p:cNvPr id="14" name="Text 12"/>
          <p:cNvSpPr/>
          <p:nvPr/>
        </p:nvSpPr>
        <p:spPr>
          <a:xfrm>
            <a:off x="384048" y="2779776"/>
            <a:ext cx="3913632" cy="402336"/>
          </a:xfrm>
          <a:prstGeom prst="rect">
            <a:avLst/>
          </a:prstGeom>
          <a:noFill/>
          <a:ln/>
        </p:spPr>
        <p:txBody>
          <a:bodyPr wrap="square" lIns="0" tIns="0" rIns="0" bIns="0" rtlCol="0" anchor="ctr"/>
          <a:lstStyle/>
          <a:p>
            <a:pPr indent="0" marL="0">
              <a:buNone/>
            </a:pPr>
            <a:r>
              <a:rPr lang="en-US" sz="850" b="1" dirty="0">
                <a:solidFill>
                  <a:srgbClr val="D4A010"/>
                </a:solidFill>
                <a:latin typeface="Calibri" pitchFamily="34" charset="0"/>
                <a:ea typeface="Calibri" pitchFamily="34" charset="-122"/>
                <a:cs typeface="Calibri" pitchFamily="34" charset="-120"/>
              </a:rPr>
              <a:t>DETECT: </a:t>
            </a:r>
            <a:pPr indent="0" marL="0">
              <a:buNone/>
            </a:pPr>
            <a:r>
              <a:rPr lang="en-US" sz="850" dirty="0">
                <a:solidFill>
                  <a:srgbClr val="90D0D8"/>
                </a:solidFill>
                <a:latin typeface="Calibri" pitchFamily="34" charset="0"/>
                <a:ea typeface="Calibri" pitchFamily="34" charset="-122"/>
                <a:cs typeface="Calibri" pitchFamily="34" charset="-120"/>
              </a:rPr>
              <a:t>Durbin-Watson near 2.0. DW &lt; 1.5 = positive autocorrelation.</a:t>
            </a:r>
            <a:endParaRPr lang="en-US" sz="850" dirty="0"/>
          </a:p>
        </p:txBody>
      </p:sp>
      <p:sp>
        <p:nvSpPr>
          <p:cNvPr id="15" name="Text 13"/>
          <p:cNvSpPr/>
          <p:nvPr/>
        </p:nvSpPr>
        <p:spPr>
          <a:xfrm>
            <a:off x="384048" y="3218688"/>
            <a:ext cx="3913632" cy="365760"/>
          </a:xfrm>
          <a:prstGeom prst="rect">
            <a:avLst/>
          </a:prstGeom>
          <a:noFill/>
          <a:ln/>
        </p:spPr>
        <p:txBody>
          <a:bodyPr wrap="square" lIns="0" tIns="0" rIns="0" bIns="0" rtlCol="0" anchor="ctr"/>
          <a:lstStyle/>
          <a:p>
            <a:pPr indent="0" marL="0">
              <a:buNone/>
            </a:pPr>
            <a:r>
              <a:rPr lang="en-US" sz="850" b="1" dirty="0">
                <a:solidFill>
                  <a:srgbClr val="D4A010"/>
                </a:solidFill>
                <a:latin typeface="Calibri" pitchFamily="34" charset="0"/>
                <a:ea typeface="Calibri" pitchFamily="34" charset="-122"/>
                <a:cs typeface="Calibri" pitchFamily="34" charset="-120"/>
              </a:rPr>
              <a:t>FIX: </a:t>
            </a:r>
            <a:pPr indent="0" marL="0">
              <a:buNone/>
            </a:pPr>
            <a:r>
              <a:rPr lang="en-US" sz="850" dirty="0">
                <a:solidFill>
                  <a:srgbClr val="7090A8"/>
                </a:solidFill>
                <a:latin typeface="Calibri" pitchFamily="34" charset="0"/>
                <a:ea typeface="Calibri" pitchFamily="34" charset="-122"/>
                <a:cs typeface="Calibri" pitchFamily="34" charset="-120"/>
              </a:rPr>
              <a:t>Add lag variables. HAC (Newey-West) standard errors. Multilevel model for clustered data.</a:t>
            </a:r>
            <a:endParaRPr lang="en-US" sz="850" dirty="0"/>
          </a:p>
        </p:txBody>
      </p:sp>
      <p:sp>
        <p:nvSpPr>
          <p:cNvPr id="16" name="Shape 14"/>
          <p:cNvSpPr/>
          <p:nvPr/>
        </p:nvSpPr>
        <p:spPr>
          <a:xfrm>
            <a:off x="274320" y="3749040"/>
            <a:ext cx="4160520" cy="1316736"/>
          </a:xfrm>
          <a:prstGeom prst="roundRect">
            <a:avLst>
              <a:gd name="adj" fmla="val 6250"/>
            </a:avLst>
          </a:prstGeom>
          <a:solidFill>
            <a:srgbClr val="0C1428"/>
          </a:solidFill>
          <a:ln w="15240">
            <a:solidFill>
              <a:srgbClr val="14C870"/>
            </a:solidFill>
            <a:prstDash val="solid"/>
          </a:ln>
        </p:spPr>
      </p:sp>
      <p:sp>
        <p:nvSpPr>
          <p:cNvPr id="17" name="Shape 15"/>
          <p:cNvSpPr/>
          <p:nvPr/>
        </p:nvSpPr>
        <p:spPr>
          <a:xfrm>
            <a:off x="365760" y="3840480"/>
            <a:ext cx="402336" cy="402336"/>
          </a:xfrm>
          <a:prstGeom prst="ellipse">
            <a:avLst/>
          </a:prstGeom>
          <a:solidFill>
            <a:srgbClr val="14C870"/>
          </a:solidFill>
          <a:ln w="12700">
            <a:solidFill>
              <a:srgbClr val="14C870"/>
            </a:solidFill>
            <a:prstDash val="solid"/>
          </a:ln>
        </p:spPr>
      </p:sp>
      <p:sp>
        <p:nvSpPr>
          <p:cNvPr id="18" name="Text 16"/>
          <p:cNvSpPr/>
          <p:nvPr/>
        </p:nvSpPr>
        <p:spPr>
          <a:xfrm>
            <a:off x="365760" y="38404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9" name="Text 17"/>
          <p:cNvSpPr/>
          <p:nvPr/>
        </p:nvSpPr>
        <p:spPr>
          <a:xfrm>
            <a:off x="859536" y="3840480"/>
            <a:ext cx="3474720" cy="256032"/>
          </a:xfrm>
          <a:prstGeom prst="rect">
            <a:avLst/>
          </a:prstGeom>
          <a:noFill/>
          <a:ln/>
        </p:spPr>
        <p:txBody>
          <a:bodyPr wrap="square" lIns="0" tIns="0" rIns="0" bIns="0" rtlCol="0" anchor="ctr"/>
          <a:lstStyle/>
          <a:p>
            <a:pPr indent="0" marL="0">
              <a:buNone/>
            </a:pPr>
            <a:r>
              <a:rPr lang="en-US" sz="1150" b="1" dirty="0">
                <a:solidFill>
                  <a:srgbClr val="14C870"/>
                </a:solidFill>
                <a:latin typeface="Calibri" pitchFamily="34" charset="0"/>
                <a:ea typeface="Calibri" pitchFamily="34" charset="-122"/>
                <a:cs typeface="Calibri" pitchFamily="34" charset="-120"/>
              </a:rPr>
              <a:t>HOMOSCEDASTICITY</a:t>
            </a:r>
            <a:endParaRPr lang="en-US" sz="1150" dirty="0"/>
          </a:p>
        </p:txBody>
      </p:sp>
      <p:sp>
        <p:nvSpPr>
          <p:cNvPr id="20" name="Text 18"/>
          <p:cNvSpPr/>
          <p:nvPr/>
        </p:nvSpPr>
        <p:spPr>
          <a:xfrm>
            <a:off x="384048" y="4187952"/>
            <a:ext cx="3913632" cy="402336"/>
          </a:xfrm>
          <a:prstGeom prst="rect">
            <a:avLst/>
          </a:prstGeom>
          <a:noFill/>
          <a:ln/>
        </p:spPr>
        <p:txBody>
          <a:bodyPr wrap="square" lIns="0" tIns="0" rIns="0" bIns="0" rtlCol="0" anchor="ctr"/>
          <a:lstStyle/>
          <a:p>
            <a:pPr indent="0" marL="0">
              <a:buNone/>
            </a:pPr>
            <a:r>
              <a:rPr lang="en-US" sz="850" b="1" dirty="0">
                <a:solidFill>
                  <a:srgbClr val="14C870"/>
                </a:solidFill>
                <a:latin typeface="Calibri" pitchFamily="34" charset="0"/>
                <a:ea typeface="Calibri" pitchFamily="34" charset="-122"/>
                <a:cs typeface="Calibri" pitchFamily="34" charset="-120"/>
              </a:rPr>
              <a:t>DETECT: </a:t>
            </a:r>
            <a:pPr indent="0" marL="0">
              <a:buNone/>
            </a:pPr>
            <a:r>
              <a:rPr lang="en-US" sz="850" dirty="0">
                <a:solidFill>
                  <a:srgbClr val="90D0D8"/>
                </a:solidFill>
                <a:latin typeface="Calibri" pitchFamily="34" charset="0"/>
                <a:ea typeface="Calibri" pitchFamily="34" charset="-122"/>
                <a:cs typeface="Calibri" pitchFamily="34" charset="-120"/>
              </a:rPr>
              <a:t>Scale-Location plot: flat = OK. Fan/funnel pattern = HETEROSCEDASTICITY.</a:t>
            </a:r>
            <a:endParaRPr lang="en-US" sz="850" dirty="0"/>
          </a:p>
        </p:txBody>
      </p:sp>
      <p:sp>
        <p:nvSpPr>
          <p:cNvPr id="21" name="Text 19"/>
          <p:cNvSpPr/>
          <p:nvPr/>
        </p:nvSpPr>
        <p:spPr>
          <a:xfrm>
            <a:off x="384048" y="4626864"/>
            <a:ext cx="3913632" cy="365760"/>
          </a:xfrm>
          <a:prstGeom prst="rect">
            <a:avLst/>
          </a:prstGeom>
          <a:noFill/>
          <a:ln/>
        </p:spPr>
        <p:txBody>
          <a:bodyPr wrap="square" lIns="0" tIns="0" rIns="0" bIns="0" rtlCol="0" anchor="ctr"/>
          <a:lstStyle/>
          <a:p>
            <a:pPr indent="0" marL="0">
              <a:buNone/>
            </a:pPr>
            <a:r>
              <a:rPr lang="en-US" sz="850" b="1" dirty="0">
                <a:solidFill>
                  <a:srgbClr val="14C870"/>
                </a:solidFill>
                <a:latin typeface="Calibri" pitchFamily="34" charset="0"/>
                <a:ea typeface="Calibri" pitchFamily="34" charset="-122"/>
                <a:cs typeface="Calibri" pitchFamily="34" charset="-120"/>
              </a:rPr>
              <a:t>FIX: </a:t>
            </a:r>
            <a:pPr indent="0" marL="0">
              <a:buNone/>
            </a:pPr>
            <a:r>
              <a:rPr lang="en-US" sz="850" dirty="0">
                <a:solidFill>
                  <a:srgbClr val="7090A8"/>
                </a:solidFill>
                <a:latin typeface="Calibri" pitchFamily="34" charset="0"/>
                <a:ea typeface="Calibri" pitchFamily="34" charset="-122"/>
                <a:cs typeface="Calibri" pitchFamily="34" charset="-120"/>
              </a:rPr>
              <a:t>Transform Y: LN(Y). Weighted Least Squares (WLS). Heteroscedasticity-robust SEs.</a:t>
            </a:r>
            <a:endParaRPr lang="en-US" sz="850" dirty="0"/>
          </a:p>
        </p:txBody>
      </p:sp>
      <p:sp>
        <p:nvSpPr>
          <p:cNvPr id="22" name="Shape 20"/>
          <p:cNvSpPr/>
          <p:nvPr/>
        </p:nvSpPr>
        <p:spPr>
          <a:xfrm>
            <a:off x="4736592" y="932688"/>
            <a:ext cx="4160520" cy="1316736"/>
          </a:xfrm>
          <a:prstGeom prst="roundRect">
            <a:avLst>
              <a:gd name="adj" fmla="val 6250"/>
            </a:avLst>
          </a:prstGeom>
          <a:solidFill>
            <a:srgbClr val="0C1428"/>
          </a:solidFill>
          <a:ln w="15240">
            <a:solidFill>
              <a:srgbClr val="E07010"/>
            </a:solidFill>
            <a:prstDash val="solid"/>
          </a:ln>
        </p:spPr>
      </p:sp>
      <p:sp>
        <p:nvSpPr>
          <p:cNvPr id="23" name="Shape 21"/>
          <p:cNvSpPr/>
          <p:nvPr/>
        </p:nvSpPr>
        <p:spPr>
          <a:xfrm>
            <a:off x="4828032" y="1024128"/>
            <a:ext cx="402336" cy="402336"/>
          </a:xfrm>
          <a:prstGeom prst="ellipse">
            <a:avLst/>
          </a:prstGeom>
          <a:solidFill>
            <a:srgbClr val="E07010"/>
          </a:solidFill>
          <a:ln w="12700">
            <a:solidFill>
              <a:srgbClr val="E07010"/>
            </a:solidFill>
            <a:prstDash val="solid"/>
          </a:ln>
        </p:spPr>
      </p:sp>
      <p:sp>
        <p:nvSpPr>
          <p:cNvPr id="24" name="Text 22"/>
          <p:cNvSpPr/>
          <p:nvPr/>
        </p:nvSpPr>
        <p:spPr>
          <a:xfrm>
            <a:off x="4828032" y="102412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5" name="Text 23"/>
          <p:cNvSpPr/>
          <p:nvPr/>
        </p:nvSpPr>
        <p:spPr>
          <a:xfrm>
            <a:off x="5321808" y="1024128"/>
            <a:ext cx="3474720" cy="256032"/>
          </a:xfrm>
          <a:prstGeom prst="rect">
            <a:avLst/>
          </a:prstGeom>
          <a:noFill/>
          <a:ln/>
        </p:spPr>
        <p:txBody>
          <a:bodyPr wrap="square" lIns="0" tIns="0" rIns="0" bIns="0" rtlCol="0" anchor="ctr"/>
          <a:lstStyle/>
          <a:p>
            <a:pPr indent="0" marL="0">
              <a:buNone/>
            </a:pPr>
            <a:r>
              <a:rPr lang="en-US" sz="1150" b="1" dirty="0">
                <a:solidFill>
                  <a:srgbClr val="E07010"/>
                </a:solidFill>
                <a:latin typeface="Calibri" pitchFamily="34" charset="0"/>
                <a:ea typeface="Calibri" pitchFamily="34" charset="-122"/>
                <a:cs typeface="Calibri" pitchFamily="34" charset="-120"/>
              </a:rPr>
              <a:t>NORMALITY OF RESIDUALS</a:t>
            </a:r>
            <a:endParaRPr lang="en-US" sz="1150" dirty="0"/>
          </a:p>
        </p:txBody>
      </p:sp>
      <p:sp>
        <p:nvSpPr>
          <p:cNvPr id="26" name="Text 24"/>
          <p:cNvSpPr/>
          <p:nvPr/>
        </p:nvSpPr>
        <p:spPr>
          <a:xfrm>
            <a:off x="4846320" y="1371600"/>
            <a:ext cx="3913632" cy="402336"/>
          </a:xfrm>
          <a:prstGeom prst="rect">
            <a:avLst/>
          </a:prstGeom>
          <a:noFill/>
          <a:ln/>
        </p:spPr>
        <p:txBody>
          <a:bodyPr wrap="square" lIns="0" tIns="0" rIns="0" bIns="0" rtlCol="0" anchor="ctr"/>
          <a:lstStyle/>
          <a:p>
            <a:pPr indent="0" marL="0">
              <a:buNone/>
            </a:pPr>
            <a:r>
              <a:rPr lang="en-US" sz="850" b="1" dirty="0">
                <a:solidFill>
                  <a:srgbClr val="E07010"/>
                </a:solidFill>
                <a:latin typeface="Calibri" pitchFamily="34" charset="0"/>
                <a:ea typeface="Calibri" pitchFamily="34" charset="-122"/>
                <a:cs typeface="Calibri" pitchFamily="34" charset="-120"/>
              </a:rPr>
              <a:t>DETECT: </a:t>
            </a:r>
            <a:pPr indent="0" marL="0">
              <a:buNone/>
            </a:pPr>
            <a:r>
              <a:rPr lang="en-US" sz="850" dirty="0">
                <a:solidFill>
                  <a:srgbClr val="90D0D8"/>
                </a:solidFill>
                <a:latin typeface="Calibri" pitchFamily="34" charset="0"/>
                <a:ea typeface="Calibri" pitchFamily="34" charset="-122"/>
                <a:cs typeface="Calibri" pitchFamily="34" charset="-120"/>
              </a:rPr>
              <a:t>Q-Q plot: on diagonal = OK. S-curve or heavy tail = VIOLATION. Shapiro-Wilk p&gt;.05.</a:t>
            </a:r>
            <a:endParaRPr lang="en-US" sz="850" dirty="0"/>
          </a:p>
        </p:txBody>
      </p:sp>
      <p:sp>
        <p:nvSpPr>
          <p:cNvPr id="27" name="Text 25"/>
          <p:cNvSpPr/>
          <p:nvPr/>
        </p:nvSpPr>
        <p:spPr>
          <a:xfrm>
            <a:off x="4846320" y="1810512"/>
            <a:ext cx="3913632" cy="365760"/>
          </a:xfrm>
          <a:prstGeom prst="rect">
            <a:avLst/>
          </a:prstGeom>
          <a:noFill/>
          <a:ln/>
        </p:spPr>
        <p:txBody>
          <a:bodyPr wrap="square" lIns="0" tIns="0" rIns="0" bIns="0" rtlCol="0" anchor="ctr"/>
          <a:lstStyle/>
          <a:p>
            <a:pPr indent="0" marL="0">
              <a:buNone/>
            </a:pPr>
            <a:r>
              <a:rPr lang="en-US" sz="850" b="1" dirty="0">
                <a:solidFill>
                  <a:srgbClr val="E07010"/>
                </a:solidFill>
                <a:latin typeface="Calibri" pitchFamily="34" charset="0"/>
                <a:ea typeface="Calibri" pitchFamily="34" charset="-122"/>
                <a:cs typeface="Calibri" pitchFamily="34" charset="-120"/>
              </a:rPr>
              <a:t>FIX: </a:t>
            </a:r>
            <a:pPr indent="0" marL="0">
              <a:buNone/>
            </a:pPr>
            <a:r>
              <a:rPr lang="en-US" sz="850" dirty="0">
                <a:solidFill>
                  <a:srgbClr val="7090A8"/>
                </a:solidFill>
                <a:latin typeface="Calibri" pitchFamily="34" charset="0"/>
                <a:ea typeface="Calibri" pitchFamily="34" charset="-122"/>
                <a:cs typeface="Calibri" pitchFamily="34" charset="-120"/>
              </a:rPr>
              <a:t>Transform Y: Box-Cox. Bootstrap CIs for small samples. CLT rescues for n&gt;100.</a:t>
            </a:r>
            <a:endParaRPr lang="en-US" sz="850" dirty="0"/>
          </a:p>
        </p:txBody>
      </p:sp>
      <p:sp>
        <p:nvSpPr>
          <p:cNvPr id="28" name="Shape 26"/>
          <p:cNvSpPr/>
          <p:nvPr/>
        </p:nvSpPr>
        <p:spPr>
          <a:xfrm>
            <a:off x="4736592" y="2340864"/>
            <a:ext cx="4160520" cy="1316736"/>
          </a:xfrm>
          <a:prstGeom prst="roundRect">
            <a:avLst>
              <a:gd name="adj" fmla="val 6250"/>
            </a:avLst>
          </a:prstGeom>
          <a:solidFill>
            <a:srgbClr val="0C1428"/>
          </a:solidFill>
          <a:ln w="15240">
            <a:solidFill>
              <a:srgbClr val="9840F0"/>
            </a:solidFill>
            <a:prstDash val="solid"/>
          </a:ln>
        </p:spPr>
      </p:sp>
      <p:sp>
        <p:nvSpPr>
          <p:cNvPr id="29" name="Shape 27"/>
          <p:cNvSpPr/>
          <p:nvPr/>
        </p:nvSpPr>
        <p:spPr>
          <a:xfrm>
            <a:off x="4828032" y="2432304"/>
            <a:ext cx="402336" cy="402336"/>
          </a:xfrm>
          <a:prstGeom prst="ellipse">
            <a:avLst/>
          </a:prstGeom>
          <a:solidFill>
            <a:srgbClr val="9840F0"/>
          </a:solidFill>
          <a:ln w="12700">
            <a:solidFill>
              <a:srgbClr val="9840F0"/>
            </a:solidFill>
            <a:prstDash val="solid"/>
          </a:ln>
        </p:spPr>
      </p:sp>
      <p:sp>
        <p:nvSpPr>
          <p:cNvPr id="30" name="Text 28"/>
          <p:cNvSpPr/>
          <p:nvPr/>
        </p:nvSpPr>
        <p:spPr>
          <a:xfrm>
            <a:off x="4828032" y="2432304"/>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31" name="Text 29"/>
          <p:cNvSpPr/>
          <p:nvPr/>
        </p:nvSpPr>
        <p:spPr>
          <a:xfrm>
            <a:off x="5321808" y="2432304"/>
            <a:ext cx="3474720" cy="256032"/>
          </a:xfrm>
          <a:prstGeom prst="rect">
            <a:avLst/>
          </a:prstGeom>
          <a:noFill/>
          <a:ln/>
        </p:spPr>
        <p:txBody>
          <a:bodyPr wrap="square" lIns="0" tIns="0" rIns="0" bIns="0" rtlCol="0" anchor="ctr"/>
          <a:lstStyle/>
          <a:p>
            <a:pPr indent="0" marL="0">
              <a:buNone/>
            </a:pPr>
            <a:r>
              <a:rPr lang="en-US" sz="1150" b="1" dirty="0">
                <a:solidFill>
                  <a:srgbClr val="9840F0"/>
                </a:solidFill>
                <a:latin typeface="Calibri" pitchFamily="34" charset="0"/>
                <a:ea typeface="Calibri" pitchFamily="34" charset="-122"/>
                <a:cs typeface="Calibri" pitchFamily="34" charset="-120"/>
              </a:rPr>
              <a:t>NO MULTICOLLINEARITY</a:t>
            </a:r>
            <a:endParaRPr lang="en-US" sz="1150" dirty="0"/>
          </a:p>
        </p:txBody>
      </p:sp>
      <p:sp>
        <p:nvSpPr>
          <p:cNvPr id="32" name="Text 30"/>
          <p:cNvSpPr/>
          <p:nvPr/>
        </p:nvSpPr>
        <p:spPr>
          <a:xfrm>
            <a:off x="4846320" y="2779776"/>
            <a:ext cx="3913632" cy="402336"/>
          </a:xfrm>
          <a:prstGeom prst="rect">
            <a:avLst/>
          </a:prstGeom>
          <a:noFill/>
          <a:ln/>
        </p:spPr>
        <p:txBody>
          <a:bodyPr wrap="square" lIns="0" tIns="0" rIns="0" bIns="0" rtlCol="0" anchor="ctr"/>
          <a:lstStyle/>
          <a:p>
            <a:pPr indent="0" marL="0">
              <a:buNone/>
            </a:pPr>
            <a:r>
              <a:rPr lang="en-US" sz="850" b="1" dirty="0">
                <a:solidFill>
                  <a:srgbClr val="9840F0"/>
                </a:solidFill>
                <a:latin typeface="Calibri" pitchFamily="34" charset="0"/>
                <a:ea typeface="Calibri" pitchFamily="34" charset="-122"/>
                <a:cs typeface="Calibri" pitchFamily="34" charset="-120"/>
              </a:rPr>
              <a:t>DETECT: </a:t>
            </a:r>
            <a:pPr indent="0" marL="0">
              <a:buNone/>
            </a:pPr>
            <a:r>
              <a:rPr lang="en-US" sz="850" dirty="0">
                <a:solidFill>
                  <a:srgbClr val="90D0D8"/>
                </a:solidFill>
                <a:latin typeface="Calibri" pitchFamily="34" charset="0"/>
                <a:ea typeface="Calibri" pitchFamily="34" charset="-122"/>
                <a:cs typeface="Calibri" pitchFamily="34" charset="-120"/>
              </a:rPr>
              <a:t>All VIF &lt; 10, Tolerance &gt; .10. Pairwise |r| &lt; .80 between all predictors.</a:t>
            </a:r>
            <a:endParaRPr lang="en-US" sz="850" dirty="0"/>
          </a:p>
        </p:txBody>
      </p:sp>
      <p:sp>
        <p:nvSpPr>
          <p:cNvPr id="33" name="Text 31"/>
          <p:cNvSpPr/>
          <p:nvPr/>
        </p:nvSpPr>
        <p:spPr>
          <a:xfrm>
            <a:off x="4846320" y="3218688"/>
            <a:ext cx="3913632" cy="365760"/>
          </a:xfrm>
          <a:prstGeom prst="rect">
            <a:avLst/>
          </a:prstGeom>
          <a:noFill/>
          <a:ln/>
        </p:spPr>
        <p:txBody>
          <a:bodyPr wrap="square" lIns="0" tIns="0" rIns="0" bIns="0" rtlCol="0" anchor="ctr"/>
          <a:lstStyle/>
          <a:p>
            <a:pPr indent="0" marL="0">
              <a:buNone/>
            </a:pPr>
            <a:r>
              <a:rPr lang="en-US" sz="850" b="1" dirty="0">
                <a:solidFill>
                  <a:srgbClr val="9840F0"/>
                </a:solidFill>
                <a:latin typeface="Calibri" pitchFamily="34" charset="0"/>
                <a:ea typeface="Calibri" pitchFamily="34" charset="-122"/>
                <a:cs typeface="Calibri" pitchFamily="34" charset="-120"/>
              </a:rPr>
              <a:t>FIX: </a:t>
            </a:r>
            <a:pPr indent="0" marL="0">
              <a:buNone/>
            </a:pPr>
            <a:r>
              <a:rPr lang="en-US" sz="850" dirty="0">
                <a:solidFill>
                  <a:srgbClr val="7090A8"/>
                </a:solidFill>
                <a:latin typeface="Calibri" pitchFamily="34" charset="0"/>
                <a:ea typeface="Calibri" pitchFamily="34" charset="-122"/>
                <a:cs typeface="Calibri" pitchFamily="34" charset="-120"/>
              </a:rPr>
              <a:t>Remove one correlated predictor. Combine into composite. Switch to Ridge regression.</a:t>
            </a:r>
            <a:endParaRPr lang="en-US" sz="850" dirty="0"/>
          </a:p>
        </p:txBody>
      </p:sp>
      <p:sp>
        <p:nvSpPr>
          <p:cNvPr id="34" name="Shape 32"/>
          <p:cNvSpPr/>
          <p:nvPr/>
        </p:nvSpPr>
        <p:spPr>
          <a:xfrm>
            <a:off x="4736592" y="3749040"/>
            <a:ext cx="4160520" cy="1316736"/>
          </a:xfrm>
          <a:prstGeom prst="roundRect">
            <a:avLst>
              <a:gd name="adj" fmla="val 6250"/>
            </a:avLst>
          </a:prstGeom>
          <a:solidFill>
            <a:srgbClr val="0C1428"/>
          </a:solidFill>
          <a:ln w="15240">
            <a:solidFill>
              <a:srgbClr val="E03020"/>
            </a:solidFill>
            <a:prstDash val="solid"/>
          </a:ln>
        </p:spPr>
      </p:sp>
      <p:sp>
        <p:nvSpPr>
          <p:cNvPr id="35" name="Shape 33"/>
          <p:cNvSpPr/>
          <p:nvPr/>
        </p:nvSpPr>
        <p:spPr>
          <a:xfrm>
            <a:off x="4828032" y="3840480"/>
            <a:ext cx="402336" cy="402336"/>
          </a:xfrm>
          <a:prstGeom prst="ellipse">
            <a:avLst/>
          </a:prstGeom>
          <a:solidFill>
            <a:srgbClr val="E03020"/>
          </a:solidFill>
          <a:ln w="12700">
            <a:solidFill>
              <a:srgbClr val="E03020"/>
            </a:solidFill>
            <a:prstDash val="solid"/>
          </a:ln>
        </p:spPr>
      </p:sp>
      <p:sp>
        <p:nvSpPr>
          <p:cNvPr id="36" name="Text 34"/>
          <p:cNvSpPr/>
          <p:nvPr/>
        </p:nvSpPr>
        <p:spPr>
          <a:xfrm>
            <a:off x="4828032" y="384048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6</a:t>
            </a:r>
            <a:endParaRPr lang="en-US" sz="1600" dirty="0"/>
          </a:p>
        </p:txBody>
      </p:sp>
      <p:sp>
        <p:nvSpPr>
          <p:cNvPr id="37" name="Text 35"/>
          <p:cNvSpPr/>
          <p:nvPr/>
        </p:nvSpPr>
        <p:spPr>
          <a:xfrm>
            <a:off x="5321808" y="3840480"/>
            <a:ext cx="3474720" cy="256032"/>
          </a:xfrm>
          <a:prstGeom prst="rect">
            <a:avLst/>
          </a:prstGeom>
          <a:noFill/>
          <a:ln/>
        </p:spPr>
        <p:txBody>
          <a:bodyPr wrap="square" lIns="0" tIns="0" rIns="0" bIns="0" rtlCol="0" anchor="ctr"/>
          <a:lstStyle/>
          <a:p>
            <a:pPr indent="0" marL="0">
              <a:buNone/>
            </a:pPr>
            <a:r>
              <a:rPr lang="en-US" sz="1150" b="1" dirty="0">
                <a:solidFill>
                  <a:srgbClr val="E03020"/>
                </a:solidFill>
                <a:latin typeface="Calibri" pitchFamily="34" charset="0"/>
                <a:ea typeface="Calibri" pitchFamily="34" charset="-122"/>
                <a:cs typeface="Calibri" pitchFamily="34" charset="-120"/>
              </a:rPr>
              <a:t>NO INFLUENTIAL OUTLIERS</a:t>
            </a:r>
            <a:endParaRPr lang="en-US" sz="1150" dirty="0"/>
          </a:p>
        </p:txBody>
      </p:sp>
      <p:sp>
        <p:nvSpPr>
          <p:cNvPr id="38" name="Text 36"/>
          <p:cNvSpPr/>
          <p:nvPr/>
        </p:nvSpPr>
        <p:spPr>
          <a:xfrm>
            <a:off x="4846320" y="4187952"/>
            <a:ext cx="3913632" cy="402336"/>
          </a:xfrm>
          <a:prstGeom prst="rect">
            <a:avLst/>
          </a:prstGeom>
          <a:noFill/>
          <a:ln/>
        </p:spPr>
        <p:txBody>
          <a:bodyPr wrap="square" lIns="0" tIns="0" rIns="0" bIns="0" rtlCol="0" anchor="ctr"/>
          <a:lstStyle/>
          <a:p>
            <a:pPr indent="0" marL="0">
              <a:buNone/>
            </a:pPr>
            <a:r>
              <a:rPr lang="en-US" sz="850" b="1" dirty="0">
                <a:solidFill>
                  <a:srgbClr val="E03020"/>
                </a:solidFill>
                <a:latin typeface="Calibri" pitchFamily="34" charset="0"/>
                <a:ea typeface="Calibri" pitchFamily="34" charset="-122"/>
                <a:cs typeface="Calibri" pitchFamily="34" charset="-120"/>
              </a:rPr>
              <a:t>DETECT: </a:t>
            </a:r>
            <a:pPr indent="0" marL="0">
              <a:buNone/>
            </a:pPr>
            <a:r>
              <a:rPr lang="en-US" sz="850" dirty="0">
                <a:solidFill>
                  <a:srgbClr val="90D0D8"/>
                </a:solidFill>
                <a:latin typeface="Calibri" pitchFamily="34" charset="0"/>
                <a:ea typeface="Calibri" pitchFamily="34" charset="-122"/>
                <a:cs typeface="Calibri" pitchFamily="34" charset="-120"/>
              </a:rPr>
              <a:t>Cook's D &lt; 4/n. Leverage h_ii &lt; 2(p+1)/n. |Studentised residual| &lt; 3.</a:t>
            </a:r>
            <a:endParaRPr lang="en-US" sz="850" dirty="0"/>
          </a:p>
        </p:txBody>
      </p:sp>
      <p:sp>
        <p:nvSpPr>
          <p:cNvPr id="39" name="Text 37"/>
          <p:cNvSpPr/>
          <p:nvPr/>
        </p:nvSpPr>
        <p:spPr>
          <a:xfrm>
            <a:off x="4846320" y="4626864"/>
            <a:ext cx="3913632" cy="365760"/>
          </a:xfrm>
          <a:prstGeom prst="rect">
            <a:avLst/>
          </a:prstGeom>
          <a:noFill/>
          <a:ln/>
        </p:spPr>
        <p:txBody>
          <a:bodyPr wrap="square" lIns="0" tIns="0" rIns="0" bIns="0" rtlCol="0" anchor="ctr"/>
          <a:lstStyle/>
          <a:p>
            <a:pPr indent="0" marL="0">
              <a:buNone/>
            </a:pPr>
            <a:r>
              <a:rPr lang="en-US" sz="850" b="1" dirty="0">
                <a:solidFill>
                  <a:srgbClr val="E03020"/>
                </a:solidFill>
                <a:latin typeface="Calibri" pitchFamily="34" charset="0"/>
                <a:ea typeface="Calibri" pitchFamily="34" charset="-122"/>
                <a:cs typeface="Calibri" pitchFamily="34" charset="-120"/>
              </a:rPr>
              <a:t>FIX: </a:t>
            </a:r>
            <a:pPr indent="0" marL="0">
              <a:buNone/>
            </a:pPr>
            <a:r>
              <a:rPr lang="en-US" sz="850" dirty="0">
                <a:solidFill>
                  <a:srgbClr val="7090A8"/>
                </a:solidFill>
                <a:latin typeface="Calibri" pitchFamily="34" charset="0"/>
                <a:ea typeface="Calibri" pitchFamily="34" charset="-122"/>
                <a:cs typeface="Calibri" pitchFamily="34" charset="-120"/>
              </a:rPr>
              <a:t>Verify data entry. Sensitivity analysis with/without. Robust M-estimation regression.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The Four Diagnostic Plots - Pattern Recognition Guide</a:t>
            </a:r>
            <a:endParaRPr lang="en-US" sz="2100" dirty="0"/>
          </a:p>
        </p:txBody>
      </p:sp>
      <p:sp>
        <p:nvSpPr>
          <p:cNvPr id="4" name="Shape 2"/>
          <p:cNvSpPr/>
          <p:nvPr/>
        </p:nvSpPr>
        <p:spPr>
          <a:xfrm>
            <a:off x="228600" y="1024128"/>
            <a:ext cx="4160520" cy="1993392"/>
          </a:xfrm>
          <a:prstGeom prst="roundRect">
            <a:avLst>
              <a:gd name="adj" fmla="val 4128"/>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01752" y="1097280"/>
            <a:ext cx="4005072" cy="310896"/>
          </a:xfrm>
          <a:prstGeom prst="roundRect">
            <a:avLst>
              <a:gd name="adj" fmla="val 17647"/>
            </a:avLst>
          </a:prstGeom>
          <a:solidFill>
            <a:srgbClr val="0A7E8C"/>
          </a:solidFill>
          <a:ln w="12700">
            <a:solidFill>
              <a:srgbClr val="0A7E8C"/>
            </a:solidFill>
            <a:prstDash val="solid"/>
          </a:ln>
        </p:spPr>
      </p:sp>
      <p:sp>
        <p:nvSpPr>
          <p:cNvPr id="6" name="Text 4"/>
          <p:cNvSpPr/>
          <p:nvPr/>
        </p:nvSpPr>
        <p:spPr>
          <a:xfrm>
            <a:off x="301752" y="1097280"/>
            <a:ext cx="40050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 Residuals vs Fitted</a:t>
            </a:r>
            <a:endParaRPr lang="en-US" sz="1200" dirty="0"/>
          </a:p>
        </p:txBody>
      </p:sp>
      <p:sp>
        <p:nvSpPr>
          <p:cNvPr id="7" name="Text 5"/>
          <p:cNvSpPr/>
          <p:nvPr/>
        </p:nvSpPr>
        <p:spPr>
          <a:xfrm>
            <a:off x="320040" y="1463040"/>
            <a:ext cx="3950208" cy="329184"/>
          </a:xfrm>
          <a:prstGeom prst="rect">
            <a:avLst/>
          </a:prstGeom>
          <a:noFill/>
          <a:ln/>
        </p:spPr>
        <p:txBody>
          <a:bodyPr wrap="square" lIns="0" tIns="0" rIns="0" bIns="0" rtlCol="0" anchor="ctr"/>
          <a:lstStyle/>
          <a:p>
            <a:pPr indent="0" marL="0">
              <a:buNone/>
            </a:pPr>
            <a:r>
              <a:rPr lang="en-US" sz="900" b="1" dirty="0">
                <a:solidFill>
                  <a:srgbClr val="0A8A50"/>
                </a:solidFill>
                <a:latin typeface="Calibri" pitchFamily="34" charset="0"/>
                <a:ea typeface="Calibri" pitchFamily="34" charset="-122"/>
                <a:cs typeface="Calibri" pitchFamily="34" charset="-120"/>
              </a:rPr>
              <a:t>GOOD: </a:t>
            </a:r>
            <a:pPr indent="0" marL="0">
              <a:buNone/>
            </a:pPr>
            <a:r>
              <a:rPr lang="en-US" sz="900" dirty="0">
                <a:solidFill>
                  <a:srgbClr val="0C1428"/>
                </a:solidFill>
                <a:latin typeface="Calibri" pitchFamily="34" charset="0"/>
                <a:ea typeface="Calibri" pitchFamily="34" charset="-122"/>
                <a:cs typeface="Calibri" pitchFamily="34" charset="-120"/>
              </a:rPr>
              <a:t>RANDOM scatter around zero horizontal line = All OK</a:t>
            </a:r>
            <a:endParaRPr lang="en-US" sz="900" dirty="0"/>
          </a:p>
        </p:txBody>
      </p:sp>
      <p:sp>
        <p:nvSpPr>
          <p:cNvPr id="8" name="Text 6"/>
          <p:cNvSpPr/>
          <p:nvPr/>
        </p:nvSpPr>
        <p:spPr>
          <a:xfrm>
            <a:off x="320040" y="1828800"/>
            <a:ext cx="3950208" cy="420624"/>
          </a:xfrm>
          <a:prstGeom prst="rect">
            <a:avLst/>
          </a:prstGeom>
          <a:noFill/>
          <a:ln/>
        </p:spPr>
        <p:txBody>
          <a:bodyPr wrap="square" lIns="0" tIns="0" rIns="0" bIns="0" rtlCol="0" anchor="ctr"/>
          <a:lstStyle/>
          <a:p>
            <a:pPr indent="0" marL="0">
              <a:buNone/>
            </a:pPr>
            <a:r>
              <a:rPr lang="en-US" sz="900" b="1" dirty="0">
                <a:solidFill>
                  <a:srgbClr val="E03020"/>
                </a:solidFill>
                <a:latin typeface="Calibri" pitchFamily="34" charset="0"/>
                <a:ea typeface="Calibri" pitchFamily="34" charset="-122"/>
                <a:cs typeface="Calibri" pitchFamily="34" charset="-120"/>
              </a:rPr>
              <a:t>BAD-1: </a:t>
            </a:r>
            <a:pPr indent="0" marL="0">
              <a:buNone/>
            </a:pPr>
            <a:r>
              <a:rPr lang="en-US" sz="900" dirty="0">
                <a:solidFill>
                  <a:srgbClr val="0C1428"/>
                </a:solidFill>
                <a:latin typeface="Calibri" pitchFamily="34" charset="0"/>
                <a:ea typeface="Calibri" pitchFamily="34" charset="-122"/>
                <a:cs typeface="Calibri" pitchFamily="34" charset="-120"/>
              </a:rPr>
              <a:t>CURVED pattern (arc/parabola) → Linearity violated → Add X² or transform</a:t>
            </a:r>
            <a:endParaRPr lang="en-US" sz="900" dirty="0"/>
          </a:p>
        </p:txBody>
      </p:sp>
      <p:sp>
        <p:nvSpPr>
          <p:cNvPr id="9" name="Text 7"/>
          <p:cNvSpPr/>
          <p:nvPr/>
        </p:nvSpPr>
        <p:spPr>
          <a:xfrm>
            <a:off x="320040" y="2286000"/>
            <a:ext cx="3950208" cy="347472"/>
          </a:xfrm>
          <a:prstGeom prst="rect">
            <a:avLst/>
          </a:prstGeom>
          <a:noFill/>
          <a:ln/>
        </p:spPr>
        <p:txBody>
          <a:bodyPr wrap="square" lIns="0" tIns="0" rIns="0" bIns="0" rtlCol="0" anchor="ctr"/>
          <a:lstStyle/>
          <a:p>
            <a:pPr indent="0" marL="0">
              <a:buNone/>
            </a:pPr>
            <a:r>
              <a:rPr lang="en-US" sz="900" b="1" dirty="0">
                <a:solidFill>
                  <a:srgbClr val="E07010"/>
                </a:solidFill>
                <a:latin typeface="Calibri" pitchFamily="34" charset="0"/>
                <a:ea typeface="Calibri" pitchFamily="34" charset="-122"/>
                <a:cs typeface="Calibri" pitchFamily="34" charset="-120"/>
              </a:rPr>
              <a:t>BAD-2: </a:t>
            </a:r>
            <a:pPr indent="0" marL="0">
              <a:buNone/>
            </a:pPr>
            <a:r>
              <a:rPr lang="en-US" sz="900" dirty="0">
                <a:solidFill>
                  <a:srgbClr val="0C1428"/>
                </a:solidFill>
                <a:latin typeface="Calibri" pitchFamily="34" charset="0"/>
                <a:ea typeface="Calibri" pitchFamily="34" charset="-122"/>
                <a:cs typeface="Calibri" pitchFamily="34" charset="-120"/>
              </a:rPr>
              <a:t>FAN/FUNNEL shape → Heteroscedasticity → Transform Y or use robust SEs</a:t>
            </a:r>
            <a:endParaRPr lang="en-US" sz="900" dirty="0"/>
          </a:p>
        </p:txBody>
      </p:sp>
      <p:sp>
        <p:nvSpPr>
          <p:cNvPr id="10" name="Text 8"/>
          <p:cNvSpPr/>
          <p:nvPr/>
        </p:nvSpPr>
        <p:spPr>
          <a:xfrm>
            <a:off x="320040" y="2670048"/>
            <a:ext cx="3950208" cy="256032"/>
          </a:xfrm>
          <a:prstGeom prst="rect">
            <a:avLst/>
          </a:prstGeom>
          <a:noFill/>
          <a:ln/>
        </p:spPr>
        <p:txBody>
          <a:bodyPr wrap="square" lIns="0" tIns="0" rIns="0" bIns="0" rtlCol="0" anchor="ctr"/>
          <a:lstStyle/>
          <a:p>
            <a:pPr indent="0" marL="0">
              <a:buNone/>
            </a:pPr>
            <a:r>
              <a:rPr lang="en-US" sz="850" b="1" dirty="0">
                <a:solidFill>
                  <a:srgbClr val="0A7E8C"/>
                </a:solidFill>
                <a:latin typeface="Calibri" pitchFamily="34" charset="0"/>
                <a:ea typeface="Calibri" pitchFamily="34" charset="-122"/>
                <a:cs typeface="Calibri" pitchFamily="34" charset="-120"/>
              </a:rPr>
              <a:t>SPSS: </a:t>
            </a:r>
            <a:pPr indent="0" marL="0">
              <a:buNone/>
            </a:pPr>
            <a:r>
              <a:rPr lang="en-US" sz="850" i="1" dirty="0">
                <a:solidFill>
                  <a:srgbClr val="64748B"/>
                </a:solidFill>
                <a:latin typeface="Calibri" pitchFamily="34" charset="0"/>
                <a:ea typeface="Calibri" pitchFamily="34" charset="-122"/>
                <a:cs typeface="Calibri" pitchFamily="34" charset="-120"/>
              </a:rPr>
              <a:t>Plots dialog: ZPRED (X) vs ZRESID (Y)</a:t>
            </a:r>
            <a:endParaRPr lang="en-US" sz="850" dirty="0"/>
          </a:p>
        </p:txBody>
      </p:sp>
      <p:sp>
        <p:nvSpPr>
          <p:cNvPr id="11" name="Shape 9"/>
          <p:cNvSpPr/>
          <p:nvPr/>
        </p:nvSpPr>
        <p:spPr>
          <a:xfrm>
            <a:off x="4690872" y="1024128"/>
            <a:ext cx="4160520" cy="1993392"/>
          </a:xfrm>
          <a:prstGeom prst="roundRect">
            <a:avLst>
              <a:gd name="adj" fmla="val 4128"/>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4764024" y="1097280"/>
            <a:ext cx="4005072" cy="310896"/>
          </a:xfrm>
          <a:prstGeom prst="roundRect">
            <a:avLst>
              <a:gd name="adj" fmla="val 17647"/>
            </a:avLst>
          </a:prstGeom>
          <a:solidFill>
            <a:srgbClr val="0A8A50"/>
          </a:solidFill>
          <a:ln w="12700">
            <a:solidFill>
              <a:srgbClr val="0A8A50"/>
            </a:solidFill>
            <a:prstDash val="solid"/>
          </a:ln>
        </p:spPr>
      </p:sp>
      <p:sp>
        <p:nvSpPr>
          <p:cNvPr id="13" name="Text 11"/>
          <p:cNvSpPr/>
          <p:nvPr/>
        </p:nvSpPr>
        <p:spPr>
          <a:xfrm>
            <a:off x="4764024" y="1097280"/>
            <a:ext cx="40050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 Normal Q-Q Plot</a:t>
            </a:r>
            <a:endParaRPr lang="en-US" sz="1200" dirty="0"/>
          </a:p>
        </p:txBody>
      </p:sp>
      <p:sp>
        <p:nvSpPr>
          <p:cNvPr id="14" name="Text 12"/>
          <p:cNvSpPr/>
          <p:nvPr/>
        </p:nvSpPr>
        <p:spPr>
          <a:xfrm>
            <a:off x="4782312" y="1463040"/>
            <a:ext cx="3950208" cy="329184"/>
          </a:xfrm>
          <a:prstGeom prst="rect">
            <a:avLst/>
          </a:prstGeom>
          <a:noFill/>
          <a:ln/>
        </p:spPr>
        <p:txBody>
          <a:bodyPr wrap="square" lIns="0" tIns="0" rIns="0" bIns="0" rtlCol="0" anchor="ctr"/>
          <a:lstStyle/>
          <a:p>
            <a:pPr indent="0" marL="0">
              <a:buNone/>
            </a:pPr>
            <a:r>
              <a:rPr lang="en-US" sz="900" b="1" dirty="0">
                <a:solidFill>
                  <a:srgbClr val="0A8A50"/>
                </a:solidFill>
                <a:latin typeface="Calibri" pitchFamily="34" charset="0"/>
                <a:ea typeface="Calibri" pitchFamily="34" charset="-122"/>
                <a:cs typeface="Calibri" pitchFamily="34" charset="-120"/>
              </a:rPr>
              <a:t>GOOD: </a:t>
            </a:r>
            <a:pPr indent="0" marL="0">
              <a:buNone/>
            </a:pPr>
            <a:r>
              <a:rPr lang="en-US" sz="900" dirty="0">
                <a:solidFill>
                  <a:srgbClr val="0C1428"/>
                </a:solidFill>
                <a:latin typeface="Calibri" pitchFamily="34" charset="0"/>
                <a:ea typeface="Calibri" pitchFamily="34" charset="-122"/>
                <a:cs typeface="Calibri" pitchFamily="34" charset="-120"/>
              </a:rPr>
              <a:t>Points close to diagonal reference line throughout = Normality OK</a:t>
            </a:r>
            <a:endParaRPr lang="en-US" sz="900" dirty="0"/>
          </a:p>
        </p:txBody>
      </p:sp>
      <p:sp>
        <p:nvSpPr>
          <p:cNvPr id="15" name="Text 13"/>
          <p:cNvSpPr/>
          <p:nvPr/>
        </p:nvSpPr>
        <p:spPr>
          <a:xfrm>
            <a:off x="4782312" y="1828800"/>
            <a:ext cx="3950208" cy="420624"/>
          </a:xfrm>
          <a:prstGeom prst="rect">
            <a:avLst/>
          </a:prstGeom>
          <a:noFill/>
          <a:ln/>
        </p:spPr>
        <p:txBody>
          <a:bodyPr wrap="square" lIns="0" tIns="0" rIns="0" bIns="0" rtlCol="0" anchor="ctr"/>
          <a:lstStyle/>
          <a:p>
            <a:pPr indent="0" marL="0">
              <a:buNone/>
            </a:pPr>
            <a:r>
              <a:rPr lang="en-US" sz="900" b="1" dirty="0">
                <a:solidFill>
                  <a:srgbClr val="E03020"/>
                </a:solidFill>
                <a:latin typeface="Calibri" pitchFamily="34" charset="0"/>
                <a:ea typeface="Calibri" pitchFamily="34" charset="-122"/>
                <a:cs typeface="Calibri" pitchFamily="34" charset="-120"/>
              </a:rPr>
              <a:t>BAD-1: </a:t>
            </a:r>
            <a:pPr indent="0" marL="0">
              <a:buNone/>
            </a:pPr>
            <a:r>
              <a:rPr lang="en-US" sz="900" dirty="0">
                <a:solidFill>
                  <a:srgbClr val="0C1428"/>
                </a:solidFill>
                <a:latin typeface="Calibri" pitchFamily="34" charset="0"/>
                <a:ea typeface="Calibri" pitchFamily="34" charset="-122"/>
                <a:cs typeface="Calibri" pitchFamily="34" charset="-120"/>
              </a:rPr>
              <a:t>S-CURVE (points below at both extremes) → Heavy tails → Transform Y</a:t>
            </a:r>
            <a:endParaRPr lang="en-US" sz="900" dirty="0"/>
          </a:p>
        </p:txBody>
      </p:sp>
      <p:sp>
        <p:nvSpPr>
          <p:cNvPr id="16" name="Text 14"/>
          <p:cNvSpPr/>
          <p:nvPr/>
        </p:nvSpPr>
        <p:spPr>
          <a:xfrm>
            <a:off x="4782312" y="2286000"/>
            <a:ext cx="3950208" cy="347472"/>
          </a:xfrm>
          <a:prstGeom prst="rect">
            <a:avLst/>
          </a:prstGeom>
          <a:noFill/>
          <a:ln/>
        </p:spPr>
        <p:txBody>
          <a:bodyPr wrap="square" lIns="0" tIns="0" rIns="0" bIns="0" rtlCol="0" anchor="ctr"/>
          <a:lstStyle/>
          <a:p>
            <a:pPr indent="0" marL="0">
              <a:buNone/>
            </a:pPr>
            <a:r>
              <a:rPr lang="en-US" sz="900" b="1" dirty="0">
                <a:solidFill>
                  <a:srgbClr val="E07010"/>
                </a:solidFill>
                <a:latin typeface="Calibri" pitchFamily="34" charset="0"/>
                <a:ea typeface="Calibri" pitchFamily="34" charset="-122"/>
                <a:cs typeface="Calibri" pitchFamily="34" charset="-120"/>
              </a:rPr>
              <a:t>BAD-2: </a:t>
            </a:r>
            <a:pPr indent="0" marL="0">
              <a:buNone/>
            </a:pPr>
            <a:r>
              <a:rPr lang="en-US" sz="900" dirty="0">
                <a:solidFill>
                  <a:srgbClr val="0C1428"/>
                </a:solidFill>
                <a:latin typeface="Calibri" pitchFamily="34" charset="0"/>
                <a:ea typeface="Calibri" pitchFamily="34" charset="-122"/>
                <a:cs typeface="Calibri" pitchFamily="34" charset="-120"/>
              </a:rPr>
              <a:t>Points above diagonal at far right → Right skew → LN(Y) transformation</a:t>
            </a:r>
            <a:endParaRPr lang="en-US" sz="900" dirty="0"/>
          </a:p>
        </p:txBody>
      </p:sp>
      <p:sp>
        <p:nvSpPr>
          <p:cNvPr id="17" name="Text 15"/>
          <p:cNvSpPr/>
          <p:nvPr/>
        </p:nvSpPr>
        <p:spPr>
          <a:xfrm>
            <a:off x="4782312" y="2670048"/>
            <a:ext cx="3950208" cy="256032"/>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SPSS: </a:t>
            </a:r>
            <a:pPr indent="0" marL="0">
              <a:buNone/>
            </a:pPr>
            <a:r>
              <a:rPr lang="en-US" sz="850" i="1" dirty="0">
                <a:solidFill>
                  <a:srgbClr val="64748B"/>
                </a:solidFill>
                <a:latin typeface="Calibri" pitchFamily="34" charset="0"/>
                <a:ea typeface="Calibri" pitchFamily="34" charset="-122"/>
                <a:cs typeface="Calibri" pitchFamily="34" charset="-120"/>
              </a:rPr>
              <a:t>Plots dialog: tick 'Normal probability plot'</a:t>
            </a:r>
            <a:endParaRPr lang="en-US" sz="850" dirty="0"/>
          </a:p>
        </p:txBody>
      </p:sp>
      <p:sp>
        <p:nvSpPr>
          <p:cNvPr id="18" name="Shape 16"/>
          <p:cNvSpPr/>
          <p:nvPr/>
        </p:nvSpPr>
        <p:spPr>
          <a:xfrm>
            <a:off x="228600" y="3108960"/>
            <a:ext cx="4160520" cy="1993392"/>
          </a:xfrm>
          <a:prstGeom prst="roundRect">
            <a:avLst>
              <a:gd name="adj" fmla="val 4128"/>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9" name="Shape 17"/>
          <p:cNvSpPr/>
          <p:nvPr/>
        </p:nvSpPr>
        <p:spPr>
          <a:xfrm>
            <a:off x="301752" y="3182112"/>
            <a:ext cx="4005072" cy="310896"/>
          </a:xfrm>
          <a:prstGeom prst="roundRect">
            <a:avLst>
              <a:gd name="adj" fmla="val 17647"/>
            </a:avLst>
          </a:prstGeom>
          <a:solidFill>
            <a:srgbClr val="E07010"/>
          </a:solidFill>
          <a:ln w="12700">
            <a:solidFill>
              <a:srgbClr val="E07010"/>
            </a:solidFill>
            <a:prstDash val="solid"/>
          </a:ln>
        </p:spPr>
      </p:sp>
      <p:sp>
        <p:nvSpPr>
          <p:cNvPr id="20" name="Text 18"/>
          <p:cNvSpPr/>
          <p:nvPr/>
        </p:nvSpPr>
        <p:spPr>
          <a:xfrm>
            <a:off x="301752" y="3182112"/>
            <a:ext cx="40050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 Scale-Location Plot</a:t>
            </a:r>
            <a:endParaRPr lang="en-US" sz="1200" dirty="0"/>
          </a:p>
        </p:txBody>
      </p:sp>
      <p:sp>
        <p:nvSpPr>
          <p:cNvPr id="21" name="Text 19"/>
          <p:cNvSpPr/>
          <p:nvPr/>
        </p:nvSpPr>
        <p:spPr>
          <a:xfrm>
            <a:off x="320040" y="3547872"/>
            <a:ext cx="3950208" cy="329184"/>
          </a:xfrm>
          <a:prstGeom prst="rect">
            <a:avLst/>
          </a:prstGeom>
          <a:noFill/>
          <a:ln/>
        </p:spPr>
        <p:txBody>
          <a:bodyPr wrap="square" lIns="0" tIns="0" rIns="0" bIns="0" rtlCol="0" anchor="ctr"/>
          <a:lstStyle/>
          <a:p>
            <a:pPr indent="0" marL="0">
              <a:buNone/>
            </a:pPr>
            <a:r>
              <a:rPr lang="en-US" sz="900" b="1" dirty="0">
                <a:solidFill>
                  <a:srgbClr val="0A8A50"/>
                </a:solidFill>
                <a:latin typeface="Calibri" pitchFamily="34" charset="0"/>
                <a:ea typeface="Calibri" pitchFamily="34" charset="-122"/>
                <a:cs typeface="Calibri" pitchFamily="34" charset="-120"/>
              </a:rPr>
              <a:t>GOOD: </a:t>
            </a:r>
            <a:pPr indent="0" marL="0">
              <a:buNone/>
            </a:pPr>
            <a:r>
              <a:rPr lang="en-US" sz="900" dirty="0">
                <a:solidFill>
                  <a:srgbClr val="0C1428"/>
                </a:solidFill>
                <a:latin typeface="Calibri" pitchFamily="34" charset="0"/>
                <a:ea typeface="Calibri" pitchFamily="34" charset="-122"/>
                <a:cs typeface="Calibri" pitchFamily="34" charset="-120"/>
              </a:rPr>
              <a:t>FLAT horizontal smooth line with random scatter = Homoscedastic</a:t>
            </a:r>
            <a:endParaRPr lang="en-US" sz="900" dirty="0"/>
          </a:p>
        </p:txBody>
      </p:sp>
      <p:sp>
        <p:nvSpPr>
          <p:cNvPr id="22" name="Text 20"/>
          <p:cNvSpPr/>
          <p:nvPr/>
        </p:nvSpPr>
        <p:spPr>
          <a:xfrm>
            <a:off x="320040" y="3913632"/>
            <a:ext cx="3950208" cy="420624"/>
          </a:xfrm>
          <a:prstGeom prst="rect">
            <a:avLst/>
          </a:prstGeom>
          <a:noFill/>
          <a:ln/>
        </p:spPr>
        <p:txBody>
          <a:bodyPr wrap="square" lIns="0" tIns="0" rIns="0" bIns="0" rtlCol="0" anchor="ctr"/>
          <a:lstStyle/>
          <a:p>
            <a:pPr indent="0" marL="0">
              <a:buNone/>
            </a:pPr>
            <a:r>
              <a:rPr lang="en-US" sz="900" b="1" dirty="0">
                <a:solidFill>
                  <a:srgbClr val="E03020"/>
                </a:solidFill>
                <a:latin typeface="Calibri" pitchFamily="34" charset="0"/>
                <a:ea typeface="Calibri" pitchFamily="34" charset="-122"/>
                <a:cs typeface="Calibri" pitchFamily="34" charset="-120"/>
              </a:rPr>
              <a:t>BAD-1: </a:t>
            </a:r>
            <a:pPr indent="0" marL="0">
              <a:buNone/>
            </a:pPr>
            <a:r>
              <a:rPr lang="en-US" sz="900" dirty="0">
                <a:solidFill>
                  <a:srgbClr val="0C1428"/>
                </a:solidFill>
                <a:latin typeface="Calibri" pitchFamily="34" charset="0"/>
                <a:ea typeface="Calibri" pitchFamily="34" charset="-122"/>
                <a:cs typeface="Calibri" pitchFamily="34" charset="-120"/>
              </a:rPr>
              <a:t>UPWARD TREND in smooth line → Heteroscedasticity confirmed → WLS or transform</a:t>
            </a:r>
            <a:endParaRPr lang="en-US" sz="900" dirty="0"/>
          </a:p>
        </p:txBody>
      </p:sp>
      <p:sp>
        <p:nvSpPr>
          <p:cNvPr id="23" name="Text 21"/>
          <p:cNvSpPr/>
          <p:nvPr/>
        </p:nvSpPr>
        <p:spPr>
          <a:xfrm>
            <a:off x="320040" y="4370832"/>
            <a:ext cx="3950208" cy="347472"/>
          </a:xfrm>
          <a:prstGeom prst="rect">
            <a:avLst/>
          </a:prstGeom>
          <a:noFill/>
          <a:ln/>
        </p:spPr>
        <p:txBody>
          <a:bodyPr wrap="square" lIns="0" tIns="0" rIns="0" bIns="0" rtlCol="0" anchor="ctr"/>
          <a:lstStyle/>
          <a:p>
            <a:pPr indent="0" marL="0">
              <a:buNone/>
            </a:pPr>
            <a:r>
              <a:rPr lang="en-US" sz="900" b="1" dirty="0">
                <a:solidFill>
                  <a:srgbClr val="E07010"/>
                </a:solidFill>
                <a:latin typeface="Calibri" pitchFamily="34" charset="0"/>
                <a:ea typeface="Calibri" pitchFamily="34" charset="-122"/>
                <a:cs typeface="Calibri" pitchFamily="34" charset="-120"/>
              </a:rPr>
              <a:t>BAD-2: </a:t>
            </a:r>
            <a:pPr indent="0" marL="0">
              <a:buNone/>
            </a:pPr>
            <a:r>
              <a:rPr lang="en-US" sz="900" dirty="0">
                <a:solidFill>
                  <a:srgbClr val="0C1428"/>
                </a:solidFill>
                <a:latin typeface="Calibri" pitchFamily="34" charset="0"/>
                <a:ea typeface="Calibri" pitchFamily="34" charset="-122"/>
                <a:cs typeface="Calibri" pitchFamily="34" charset="-120"/>
              </a:rPr>
              <a:t>Downward trend → Variance decreases with fitted values (less common)</a:t>
            </a:r>
            <a:endParaRPr lang="en-US" sz="900" dirty="0"/>
          </a:p>
        </p:txBody>
      </p:sp>
      <p:sp>
        <p:nvSpPr>
          <p:cNvPr id="24" name="Text 22"/>
          <p:cNvSpPr/>
          <p:nvPr/>
        </p:nvSpPr>
        <p:spPr>
          <a:xfrm>
            <a:off x="320040" y="4754880"/>
            <a:ext cx="3950208" cy="256032"/>
          </a:xfrm>
          <a:prstGeom prst="rect">
            <a:avLst/>
          </a:prstGeom>
          <a:noFill/>
          <a:ln/>
        </p:spPr>
        <p:txBody>
          <a:bodyPr wrap="square" lIns="0" tIns="0" rIns="0" bIns="0" rtlCol="0" anchor="ctr"/>
          <a:lstStyle/>
          <a:p>
            <a:pPr indent="0" marL="0">
              <a:buNone/>
            </a:pPr>
            <a:r>
              <a:rPr lang="en-US" sz="850" b="1" dirty="0">
                <a:solidFill>
                  <a:srgbClr val="E07010"/>
                </a:solidFill>
                <a:latin typeface="Calibri" pitchFamily="34" charset="0"/>
                <a:ea typeface="Calibri" pitchFamily="34" charset="-122"/>
                <a:cs typeface="Calibri" pitchFamily="34" charset="-120"/>
              </a:rPr>
              <a:t>SPSS: </a:t>
            </a:r>
            <a:pPr indent="0" marL="0">
              <a:buNone/>
            </a:pPr>
            <a:r>
              <a:rPr lang="en-US" sz="850" i="1" dirty="0">
                <a:solidFill>
                  <a:srgbClr val="64748B"/>
                </a:solidFill>
                <a:latin typeface="Calibri" pitchFamily="34" charset="0"/>
                <a:ea typeface="Calibri" pitchFamily="34" charset="-122"/>
                <a:cs typeface="Calibri" pitchFamily="34" charset="-120"/>
              </a:rPr>
              <a:t>Generated automatically in R; in SPSS use Scale-Location option in Plots</a:t>
            </a:r>
            <a:endParaRPr lang="en-US" sz="850" dirty="0"/>
          </a:p>
        </p:txBody>
      </p:sp>
      <p:sp>
        <p:nvSpPr>
          <p:cNvPr id="25" name="Shape 23"/>
          <p:cNvSpPr/>
          <p:nvPr/>
        </p:nvSpPr>
        <p:spPr>
          <a:xfrm>
            <a:off x="4690872" y="3108960"/>
            <a:ext cx="4160520" cy="1993392"/>
          </a:xfrm>
          <a:prstGeom prst="roundRect">
            <a:avLst>
              <a:gd name="adj" fmla="val 4128"/>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26" name="Shape 24"/>
          <p:cNvSpPr/>
          <p:nvPr/>
        </p:nvSpPr>
        <p:spPr>
          <a:xfrm>
            <a:off x="4764024" y="3182112"/>
            <a:ext cx="4005072" cy="310896"/>
          </a:xfrm>
          <a:prstGeom prst="roundRect">
            <a:avLst>
              <a:gd name="adj" fmla="val 17647"/>
            </a:avLst>
          </a:prstGeom>
          <a:solidFill>
            <a:srgbClr val="6010C8"/>
          </a:solidFill>
          <a:ln w="12700">
            <a:solidFill>
              <a:srgbClr val="6010C8"/>
            </a:solidFill>
            <a:prstDash val="solid"/>
          </a:ln>
        </p:spPr>
      </p:sp>
      <p:sp>
        <p:nvSpPr>
          <p:cNvPr id="27" name="Text 25"/>
          <p:cNvSpPr/>
          <p:nvPr/>
        </p:nvSpPr>
        <p:spPr>
          <a:xfrm>
            <a:off x="4764024" y="3182112"/>
            <a:ext cx="40050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 Residuals vs Leverage</a:t>
            </a:r>
            <a:endParaRPr lang="en-US" sz="1200" dirty="0"/>
          </a:p>
        </p:txBody>
      </p:sp>
      <p:sp>
        <p:nvSpPr>
          <p:cNvPr id="28" name="Text 26"/>
          <p:cNvSpPr/>
          <p:nvPr/>
        </p:nvSpPr>
        <p:spPr>
          <a:xfrm>
            <a:off x="4782312" y="3547872"/>
            <a:ext cx="3950208" cy="329184"/>
          </a:xfrm>
          <a:prstGeom prst="rect">
            <a:avLst/>
          </a:prstGeom>
          <a:noFill/>
          <a:ln/>
        </p:spPr>
        <p:txBody>
          <a:bodyPr wrap="square" lIns="0" tIns="0" rIns="0" bIns="0" rtlCol="0" anchor="ctr"/>
          <a:lstStyle/>
          <a:p>
            <a:pPr indent="0" marL="0">
              <a:buNone/>
            </a:pPr>
            <a:r>
              <a:rPr lang="en-US" sz="900" b="1" dirty="0">
                <a:solidFill>
                  <a:srgbClr val="0A8A50"/>
                </a:solidFill>
                <a:latin typeface="Calibri" pitchFamily="34" charset="0"/>
                <a:ea typeface="Calibri" pitchFamily="34" charset="-122"/>
                <a:cs typeface="Calibri" pitchFamily="34" charset="-120"/>
              </a:rPr>
              <a:t>GOOD: </a:t>
            </a:r>
            <a:pPr indent="0" marL="0">
              <a:buNone/>
            </a:pPr>
            <a:r>
              <a:rPr lang="en-US" sz="900" dirty="0">
                <a:solidFill>
                  <a:srgbClr val="0C1428"/>
                </a:solidFill>
                <a:latin typeface="Calibri" pitchFamily="34" charset="0"/>
                <a:ea typeface="Calibri" pitchFamily="34" charset="-122"/>
                <a:cs typeface="Calibri" pitchFamily="34" charset="-120"/>
              </a:rPr>
              <a:t>All points inside Cook's D = 0.5 dashed contour lines = No influential cases</a:t>
            </a:r>
            <a:endParaRPr lang="en-US" sz="900" dirty="0"/>
          </a:p>
        </p:txBody>
      </p:sp>
      <p:sp>
        <p:nvSpPr>
          <p:cNvPr id="29" name="Text 27"/>
          <p:cNvSpPr/>
          <p:nvPr/>
        </p:nvSpPr>
        <p:spPr>
          <a:xfrm>
            <a:off x="4782312" y="3913632"/>
            <a:ext cx="3950208" cy="420624"/>
          </a:xfrm>
          <a:prstGeom prst="rect">
            <a:avLst/>
          </a:prstGeom>
          <a:noFill/>
          <a:ln/>
        </p:spPr>
        <p:txBody>
          <a:bodyPr wrap="square" lIns="0" tIns="0" rIns="0" bIns="0" rtlCol="0" anchor="ctr"/>
          <a:lstStyle/>
          <a:p>
            <a:pPr indent="0" marL="0">
              <a:buNone/>
            </a:pPr>
            <a:r>
              <a:rPr lang="en-US" sz="900" b="1" dirty="0">
                <a:solidFill>
                  <a:srgbClr val="E03020"/>
                </a:solidFill>
                <a:latin typeface="Calibri" pitchFamily="34" charset="0"/>
                <a:ea typeface="Calibri" pitchFamily="34" charset="-122"/>
                <a:cs typeface="Calibri" pitchFamily="34" charset="-120"/>
              </a:rPr>
              <a:t>BAD-1: </a:t>
            </a:r>
            <a:pPr indent="0" marL="0">
              <a:buNone/>
            </a:pPr>
            <a:r>
              <a:rPr lang="en-US" sz="900" dirty="0">
                <a:solidFill>
                  <a:srgbClr val="0C1428"/>
                </a:solidFill>
                <a:latin typeface="Calibri" pitchFamily="34" charset="0"/>
                <a:ea typeface="Calibri" pitchFamily="34" charset="-122"/>
                <a:cs typeface="Calibri" pitchFamily="34" charset="-120"/>
              </a:rPr>
              <a:t>Points in UPPER-RIGHT corner (high leverage + high residual) → INFLUENTIAL → Investigate</a:t>
            </a:r>
            <a:endParaRPr lang="en-US" sz="900" dirty="0"/>
          </a:p>
        </p:txBody>
      </p:sp>
      <p:sp>
        <p:nvSpPr>
          <p:cNvPr id="30" name="Text 28"/>
          <p:cNvSpPr/>
          <p:nvPr/>
        </p:nvSpPr>
        <p:spPr>
          <a:xfrm>
            <a:off x="4782312" y="4370832"/>
            <a:ext cx="3950208" cy="347472"/>
          </a:xfrm>
          <a:prstGeom prst="rect">
            <a:avLst/>
          </a:prstGeom>
          <a:noFill/>
          <a:ln/>
        </p:spPr>
        <p:txBody>
          <a:bodyPr wrap="square" lIns="0" tIns="0" rIns="0" bIns="0" rtlCol="0" anchor="ctr"/>
          <a:lstStyle/>
          <a:p>
            <a:pPr indent="0" marL="0">
              <a:buNone/>
            </a:pPr>
            <a:r>
              <a:rPr lang="en-US" sz="900" b="1" dirty="0">
                <a:solidFill>
                  <a:srgbClr val="E07010"/>
                </a:solidFill>
                <a:latin typeface="Calibri" pitchFamily="34" charset="0"/>
                <a:ea typeface="Calibri" pitchFamily="34" charset="-122"/>
                <a:cs typeface="Calibri" pitchFamily="34" charset="-120"/>
              </a:rPr>
              <a:t>BAD-2: </a:t>
            </a:r>
            <a:pPr indent="0" marL="0">
              <a:buNone/>
            </a:pPr>
            <a:r>
              <a:rPr lang="en-US" sz="900" dirty="0">
                <a:solidFill>
                  <a:srgbClr val="0C1428"/>
                </a:solidFill>
                <a:latin typeface="Calibri" pitchFamily="34" charset="0"/>
                <a:ea typeface="Calibri" pitchFamily="34" charset="-122"/>
                <a:cs typeface="Calibri" pitchFamily="34" charset="-120"/>
              </a:rPr>
              <a:t>Point beyond Cook's D = 1.0 line → Potentially determining the whole regression</a:t>
            </a:r>
            <a:endParaRPr lang="en-US" sz="900" dirty="0"/>
          </a:p>
        </p:txBody>
      </p:sp>
      <p:sp>
        <p:nvSpPr>
          <p:cNvPr id="31" name="Text 29"/>
          <p:cNvSpPr/>
          <p:nvPr/>
        </p:nvSpPr>
        <p:spPr>
          <a:xfrm>
            <a:off x="4782312" y="4754880"/>
            <a:ext cx="3950208" cy="256032"/>
          </a:xfrm>
          <a:prstGeom prst="rect">
            <a:avLst/>
          </a:prstGeom>
          <a:noFill/>
          <a:ln/>
        </p:spPr>
        <p:txBody>
          <a:bodyPr wrap="square" lIns="0" tIns="0" rIns="0" bIns="0" rtlCol="0" anchor="ctr"/>
          <a:lstStyle/>
          <a:p>
            <a:pPr indent="0" marL="0">
              <a:buNone/>
            </a:pPr>
            <a:r>
              <a:rPr lang="en-US" sz="850" b="1" dirty="0">
                <a:solidFill>
                  <a:srgbClr val="6010C8"/>
                </a:solidFill>
                <a:latin typeface="Calibri" pitchFamily="34" charset="0"/>
                <a:ea typeface="Calibri" pitchFamily="34" charset="-122"/>
                <a:cs typeface="Calibri" pitchFamily="34" charset="-120"/>
              </a:rPr>
              <a:t>SPSS: </a:t>
            </a:r>
            <a:pPr indent="0" marL="0">
              <a:buNone/>
            </a:pPr>
            <a:r>
              <a:rPr lang="en-US" sz="850" i="1" dirty="0">
                <a:solidFill>
                  <a:srgbClr val="64748B"/>
                </a:solidFill>
                <a:latin typeface="Calibri" pitchFamily="34" charset="0"/>
                <a:ea typeface="Calibri" pitchFamily="34" charset="-122"/>
                <a:cs typeface="Calibri" pitchFamily="34" charset="-120"/>
              </a:rPr>
              <a:t>Save Cook's D and Leverage variables; plot in SPSS Chart Builder</a:t>
            </a:r>
            <a:endParaRPr lang="en-US" sz="850" dirty="0"/>
          </a:p>
        </p:txBody>
      </p:sp>
      <p:sp>
        <p:nvSpPr>
          <p:cNvPr id="32" name="Shape 30"/>
          <p:cNvSpPr/>
          <p:nvPr/>
        </p:nvSpPr>
        <p:spPr>
          <a:xfrm>
            <a:off x="256032" y="5047488"/>
            <a:ext cx="8631936" cy="402336"/>
          </a:xfrm>
          <a:prstGeom prst="roundRect">
            <a:avLst>
              <a:gd name="adj" fmla="val 13636"/>
            </a:avLst>
          </a:prstGeom>
          <a:solidFill>
            <a:srgbClr val="FFFBEC"/>
          </a:solidFill>
          <a:ln w="19050">
            <a:solidFill>
              <a:srgbClr val="D4A010"/>
            </a:solidFill>
            <a:prstDash val="solid"/>
          </a:ln>
        </p:spPr>
      </p:sp>
      <p:sp>
        <p:nvSpPr>
          <p:cNvPr id="33" name="Text 31"/>
          <p:cNvSpPr/>
          <p:nvPr/>
        </p:nvSpPr>
        <p:spPr>
          <a:xfrm>
            <a:off x="384048" y="5047488"/>
            <a:ext cx="8449056" cy="402336"/>
          </a:xfrm>
          <a:prstGeom prst="rect">
            <a:avLst/>
          </a:prstGeom>
          <a:noFill/>
          <a:ln/>
        </p:spPr>
        <p:txBody>
          <a:bodyPr wrap="square" lIns="0" tIns="0" rIns="0" bIns="0" rtlCol="0" anchor="ctr"/>
          <a:lstStyle/>
          <a:p>
            <a:pPr indent="0" marL="0">
              <a:buNone/>
            </a:pPr>
            <a:r>
              <a:rPr lang="en-US" sz="950" dirty="0">
                <a:solidFill>
                  <a:srgbClr val="6B4800"/>
                </a:solidFill>
                <a:latin typeface="Calibri" pitchFamily="34" charset="0"/>
                <a:ea typeface="Calibri" pitchFamily="34" charset="-122"/>
                <a:cs typeface="Calibri" pitchFamily="34" charset="-120"/>
              </a:rPr>
              <a:t>SPSS one-run diagnostics: Statistics → tick Collinearity diagnostics + Durbin-Watson. Plots → ZPRED/ZRESID + NPP + Histogram. Save → Cook's D, Leverage, DfBeta, Studentised Deleted Residuals. Then Explore saved residuals for Shapiro-Wilk.</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REGRESSION  |  SECTION 05</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Logistic Regression</a:t>
            </a:r>
            <a:endParaRPr lang="en-US" sz="36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Binary outcomes, odds ratios, model fit - First Bank default model</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Logistic Regression - First Bank Loan Default - Full Output and Interpretation</a:t>
            </a:r>
            <a:endParaRPr lang="en-US" sz="2100" dirty="0"/>
          </a:p>
        </p:txBody>
      </p:sp>
      <p:sp>
        <p:nvSpPr>
          <p:cNvPr id="4" name="Shape 2"/>
          <p:cNvSpPr/>
          <p:nvPr/>
        </p:nvSpPr>
        <p:spPr>
          <a:xfrm>
            <a:off x="256032" y="1024128"/>
            <a:ext cx="8631936" cy="420624"/>
          </a:xfrm>
          <a:prstGeom prst="roundRect">
            <a:avLst>
              <a:gd name="adj" fmla="val 15217"/>
            </a:avLst>
          </a:prstGeom>
          <a:solidFill>
            <a:srgbClr val="0C1428"/>
          </a:solidFill>
          <a:ln w="10160">
            <a:solidFill>
              <a:srgbClr val="14B8C8"/>
            </a:solidFill>
            <a:prstDash val="solid"/>
          </a:ln>
        </p:spPr>
      </p:sp>
      <p:sp>
        <p:nvSpPr>
          <p:cNvPr id="5" name="Text 3"/>
          <p:cNvSpPr/>
          <p:nvPr/>
        </p:nvSpPr>
        <p:spPr>
          <a:xfrm>
            <a:off x="384048" y="1042416"/>
            <a:ext cx="8321040" cy="365760"/>
          </a:xfrm>
          <a:prstGeom prst="rect">
            <a:avLst/>
          </a:prstGeom>
          <a:noFill/>
          <a:ln/>
        </p:spPr>
        <p:txBody>
          <a:bodyPr wrap="square" lIns="0" tIns="0" rIns="0" bIns="0" rtlCol="0" anchor="ctr"/>
          <a:lstStyle/>
          <a:p>
            <a:pPr algn="ctr" indent="0" marL="0">
              <a:buNone/>
            </a:pPr>
            <a:r>
              <a:rPr lang="en-US" sz="1100" b="1" dirty="0">
                <a:solidFill>
                  <a:srgbClr val="14B8C8"/>
                </a:solidFill>
                <a:latin typeface="Courier New" pitchFamily="34" charset="0"/>
                <a:ea typeface="Courier New" pitchFamily="34" charset="-122"/>
                <a:cs typeface="Courier New" pitchFamily="34" charset="-120"/>
              </a:rPr>
              <a:t>Model: log(P/1-P) = b₀+b₁X₁+...+bₚXₚ  |  Estimation: Maximum Likelihood  |  OR = exp(bⱼ) = multiplicative effect on odds</a:t>
            </a:r>
            <a:endParaRPr lang="en-US" sz="1100" dirty="0"/>
          </a:p>
        </p:txBody>
      </p:sp>
      <p:sp>
        <p:nvSpPr>
          <p:cNvPr id="6" name="Shape 4"/>
          <p:cNvSpPr/>
          <p:nvPr/>
        </p:nvSpPr>
        <p:spPr>
          <a:xfrm>
            <a:off x="256032" y="1517904"/>
            <a:ext cx="1463040" cy="256032"/>
          </a:xfrm>
          <a:prstGeom prst="rect">
            <a:avLst/>
          </a:prstGeom>
          <a:solidFill>
            <a:srgbClr val="070C18"/>
          </a:solidFill>
          <a:ln w="12700">
            <a:solidFill>
              <a:srgbClr val="070C18"/>
            </a:solidFill>
            <a:prstDash val="solid"/>
          </a:ln>
        </p:spPr>
      </p:sp>
      <p:sp>
        <p:nvSpPr>
          <p:cNvPr id="7" name="Text 5"/>
          <p:cNvSpPr/>
          <p:nvPr/>
        </p:nvSpPr>
        <p:spPr>
          <a:xfrm>
            <a:off x="256032" y="1517904"/>
            <a:ext cx="14630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Predictor</a:t>
            </a:r>
            <a:endParaRPr lang="en-US" sz="800" dirty="0"/>
          </a:p>
        </p:txBody>
      </p:sp>
      <p:sp>
        <p:nvSpPr>
          <p:cNvPr id="8" name="Shape 6"/>
          <p:cNvSpPr/>
          <p:nvPr/>
        </p:nvSpPr>
        <p:spPr>
          <a:xfrm>
            <a:off x="1719072" y="1517904"/>
            <a:ext cx="512064" cy="256032"/>
          </a:xfrm>
          <a:prstGeom prst="rect">
            <a:avLst/>
          </a:prstGeom>
          <a:solidFill>
            <a:srgbClr val="070C18"/>
          </a:solidFill>
          <a:ln w="12700">
            <a:solidFill>
              <a:srgbClr val="070C18"/>
            </a:solidFill>
            <a:prstDash val="solid"/>
          </a:ln>
        </p:spPr>
      </p:sp>
      <p:sp>
        <p:nvSpPr>
          <p:cNvPr id="9" name="Text 7"/>
          <p:cNvSpPr/>
          <p:nvPr/>
        </p:nvSpPr>
        <p:spPr>
          <a:xfrm>
            <a:off x="1719072" y="1517904"/>
            <a:ext cx="512064"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a:t>
            </a:r>
            <a:endParaRPr lang="en-US" sz="800" dirty="0"/>
          </a:p>
        </p:txBody>
      </p:sp>
      <p:sp>
        <p:nvSpPr>
          <p:cNvPr id="10" name="Shape 8"/>
          <p:cNvSpPr/>
          <p:nvPr/>
        </p:nvSpPr>
        <p:spPr>
          <a:xfrm>
            <a:off x="2231136" y="1517904"/>
            <a:ext cx="749808" cy="256032"/>
          </a:xfrm>
          <a:prstGeom prst="rect">
            <a:avLst/>
          </a:prstGeom>
          <a:solidFill>
            <a:srgbClr val="070C18"/>
          </a:solidFill>
          <a:ln w="12700">
            <a:solidFill>
              <a:srgbClr val="070C18"/>
            </a:solidFill>
            <a:prstDash val="solid"/>
          </a:ln>
        </p:spPr>
      </p:sp>
      <p:sp>
        <p:nvSpPr>
          <p:cNvPr id="11" name="Text 9"/>
          <p:cNvSpPr/>
          <p:nvPr/>
        </p:nvSpPr>
        <p:spPr>
          <a:xfrm>
            <a:off x="2231136" y="1517904"/>
            <a:ext cx="74980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Wald χ²</a:t>
            </a:r>
            <a:endParaRPr lang="en-US" sz="800" dirty="0"/>
          </a:p>
        </p:txBody>
      </p:sp>
      <p:sp>
        <p:nvSpPr>
          <p:cNvPr id="12" name="Shape 10"/>
          <p:cNvSpPr/>
          <p:nvPr/>
        </p:nvSpPr>
        <p:spPr>
          <a:xfrm>
            <a:off x="2980944" y="1517904"/>
            <a:ext cx="603504" cy="256032"/>
          </a:xfrm>
          <a:prstGeom prst="rect">
            <a:avLst/>
          </a:prstGeom>
          <a:solidFill>
            <a:srgbClr val="070C18"/>
          </a:solidFill>
          <a:ln w="12700">
            <a:solidFill>
              <a:srgbClr val="070C18"/>
            </a:solidFill>
            <a:prstDash val="solid"/>
          </a:ln>
        </p:spPr>
      </p:sp>
      <p:sp>
        <p:nvSpPr>
          <p:cNvPr id="13" name="Text 11"/>
          <p:cNvSpPr/>
          <p:nvPr/>
        </p:nvSpPr>
        <p:spPr>
          <a:xfrm>
            <a:off x="2980944" y="1517904"/>
            <a:ext cx="603504"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a:t>
            </a:r>
            <a:endParaRPr lang="en-US" sz="800" dirty="0"/>
          </a:p>
        </p:txBody>
      </p:sp>
      <p:sp>
        <p:nvSpPr>
          <p:cNvPr id="14" name="Shape 12"/>
          <p:cNvSpPr/>
          <p:nvPr/>
        </p:nvSpPr>
        <p:spPr>
          <a:xfrm>
            <a:off x="3584448" y="1517904"/>
            <a:ext cx="786384" cy="256032"/>
          </a:xfrm>
          <a:prstGeom prst="rect">
            <a:avLst/>
          </a:prstGeom>
          <a:solidFill>
            <a:srgbClr val="070C18"/>
          </a:solidFill>
          <a:ln w="12700">
            <a:solidFill>
              <a:srgbClr val="070C18"/>
            </a:solidFill>
            <a:prstDash val="solid"/>
          </a:ln>
        </p:spPr>
      </p:sp>
      <p:sp>
        <p:nvSpPr>
          <p:cNvPr id="15" name="Text 13"/>
          <p:cNvSpPr/>
          <p:nvPr/>
        </p:nvSpPr>
        <p:spPr>
          <a:xfrm>
            <a:off x="3584448" y="1517904"/>
            <a:ext cx="786384"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Exp(B)=OR</a:t>
            </a:r>
            <a:endParaRPr lang="en-US" sz="800" dirty="0"/>
          </a:p>
        </p:txBody>
      </p:sp>
      <p:sp>
        <p:nvSpPr>
          <p:cNvPr id="16" name="Shape 14"/>
          <p:cNvSpPr/>
          <p:nvPr/>
        </p:nvSpPr>
        <p:spPr>
          <a:xfrm>
            <a:off x="4370832" y="1517904"/>
            <a:ext cx="969264" cy="256032"/>
          </a:xfrm>
          <a:prstGeom prst="rect">
            <a:avLst/>
          </a:prstGeom>
          <a:solidFill>
            <a:srgbClr val="070C18"/>
          </a:solidFill>
          <a:ln w="12700">
            <a:solidFill>
              <a:srgbClr val="070C18"/>
            </a:solidFill>
            <a:prstDash val="solid"/>
          </a:ln>
        </p:spPr>
      </p:sp>
      <p:sp>
        <p:nvSpPr>
          <p:cNvPr id="17" name="Text 15"/>
          <p:cNvSpPr/>
          <p:nvPr/>
        </p:nvSpPr>
        <p:spPr>
          <a:xfrm>
            <a:off x="4370832" y="1517904"/>
            <a:ext cx="969264"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95% CI (OR)</a:t>
            </a:r>
            <a:endParaRPr lang="en-US" sz="800" dirty="0"/>
          </a:p>
        </p:txBody>
      </p:sp>
      <p:sp>
        <p:nvSpPr>
          <p:cNvPr id="18" name="Shape 16"/>
          <p:cNvSpPr/>
          <p:nvPr/>
        </p:nvSpPr>
        <p:spPr>
          <a:xfrm>
            <a:off x="5340096" y="1517904"/>
            <a:ext cx="3364992" cy="256032"/>
          </a:xfrm>
          <a:prstGeom prst="rect">
            <a:avLst/>
          </a:prstGeom>
          <a:solidFill>
            <a:srgbClr val="070C18"/>
          </a:solidFill>
          <a:ln w="12700">
            <a:solidFill>
              <a:srgbClr val="070C18"/>
            </a:solidFill>
            <a:prstDash val="solid"/>
          </a:ln>
        </p:spPr>
      </p:sp>
      <p:sp>
        <p:nvSpPr>
          <p:cNvPr id="19" name="Text 17"/>
          <p:cNvSpPr/>
          <p:nvPr/>
        </p:nvSpPr>
        <p:spPr>
          <a:xfrm>
            <a:off x="5340096" y="1517904"/>
            <a:ext cx="336499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Interpretation</a:t>
            </a:r>
            <a:endParaRPr lang="en-US" sz="800" dirty="0"/>
          </a:p>
        </p:txBody>
      </p:sp>
      <p:sp>
        <p:nvSpPr>
          <p:cNvPr id="20" name="Shape 18"/>
          <p:cNvSpPr/>
          <p:nvPr/>
        </p:nvSpPr>
        <p:spPr>
          <a:xfrm>
            <a:off x="256032" y="1773936"/>
            <a:ext cx="1463040" cy="256032"/>
          </a:xfrm>
          <a:prstGeom prst="rect">
            <a:avLst/>
          </a:prstGeom>
          <a:solidFill>
            <a:srgbClr val="EAF6FA"/>
          </a:solidFill>
          <a:ln w="6350">
            <a:solidFill>
              <a:srgbClr val="A0C8D8"/>
            </a:solidFill>
            <a:prstDash val="solid"/>
          </a:ln>
        </p:spPr>
      </p:sp>
      <p:sp>
        <p:nvSpPr>
          <p:cNvPr id="21" name="Text 19"/>
          <p:cNvSpPr/>
          <p:nvPr/>
        </p:nvSpPr>
        <p:spPr>
          <a:xfrm>
            <a:off x="256032" y="1773936"/>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(Constant)</a:t>
            </a:r>
            <a:endParaRPr lang="en-US" sz="800" dirty="0"/>
          </a:p>
        </p:txBody>
      </p:sp>
      <p:sp>
        <p:nvSpPr>
          <p:cNvPr id="22" name="Shape 20"/>
          <p:cNvSpPr/>
          <p:nvPr/>
        </p:nvSpPr>
        <p:spPr>
          <a:xfrm>
            <a:off x="1719072" y="1773936"/>
            <a:ext cx="512064" cy="256032"/>
          </a:xfrm>
          <a:prstGeom prst="rect">
            <a:avLst/>
          </a:prstGeom>
          <a:solidFill>
            <a:srgbClr val="EAF6FA"/>
          </a:solidFill>
          <a:ln w="6350">
            <a:solidFill>
              <a:srgbClr val="A0C8D8"/>
            </a:solidFill>
            <a:prstDash val="solid"/>
          </a:ln>
        </p:spPr>
      </p:sp>
      <p:sp>
        <p:nvSpPr>
          <p:cNvPr id="23" name="Text 21"/>
          <p:cNvSpPr/>
          <p:nvPr/>
        </p:nvSpPr>
        <p:spPr>
          <a:xfrm>
            <a:off x="1719072" y="1773936"/>
            <a:ext cx="51206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-3.48</a:t>
            </a:r>
            <a:endParaRPr lang="en-US" sz="800" dirty="0"/>
          </a:p>
        </p:txBody>
      </p:sp>
      <p:sp>
        <p:nvSpPr>
          <p:cNvPr id="24" name="Shape 22"/>
          <p:cNvSpPr/>
          <p:nvPr/>
        </p:nvSpPr>
        <p:spPr>
          <a:xfrm>
            <a:off x="2231136" y="1773936"/>
            <a:ext cx="749808" cy="256032"/>
          </a:xfrm>
          <a:prstGeom prst="rect">
            <a:avLst/>
          </a:prstGeom>
          <a:solidFill>
            <a:srgbClr val="EAF6FA"/>
          </a:solidFill>
          <a:ln w="6350">
            <a:solidFill>
              <a:srgbClr val="A0C8D8"/>
            </a:solidFill>
            <a:prstDash val="solid"/>
          </a:ln>
        </p:spPr>
      </p:sp>
      <p:sp>
        <p:nvSpPr>
          <p:cNvPr id="25" name="Text 23"/>
          <p:cNvSpPr/>
          <p:nvPr/>
        </p:nvSpPr>
        <p:spPr>
          <a:xfrm>
            <a:off x="2231136" y="1773936"/>
            <a:ext cx="74980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44.8</a:t>
            </a:r>
            <a:endParaRPr lang="en-US" sz="800" dirty="0"/>
          </a:p>
        </p:txBody>
      </p:sp>
      <p:sp>
        <p:nvSpPr>
          <p:cNvPr id="26" name="Shape 24"/>
          <p:cNvSpPr/>
          <p:nvPr/>
        </p:nvSpPr>
        <p:spPr>
          <a:xfrm>
            <a:off x="2980944" y="1773936"/>
            <a:ext cx="603504" cy="256032"/>
          </a:xfrm>
          <a:prstGeom prst="rect">
            <a:avLst/>
          </a:prstGeom>
          <a:solidFill>
            <a:srgbClr val="EAF6FA"/>
          </a:solidFill>
          <a:ln w="6350">
            <a:solidFill>
              <a:srgbClr val="A0C8D8"/>
            </a:solidFill>
            <a:prstDash val="solid"/>
          </a:ln>
        </p:spPr>
      </p:sp>
      <p:sp>
        <p:nvSpPr>
          <p:cNvPr id="27" name="Text 25"/>
          <p:cNvSpPr/>
          <p:nvPr/>
        </p:nvSpPr>
        <p:spPr>
          <a:xfrm>
            <a:off x="2980944" y="1773936"/>
            <a:ext cx="60350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&lt;.001</a:t>
            </a:r>
            <a:endParaRPr lang="en-US" sz="800" dirty="0"/>
          </a:p>
        </p:txBody>
      </p:sp>
      <p:sp>
        <p:nvSpPr>
          <p:cNvPr id="28" name="Shape 26"/>
          <p:cNvSpPr/>
          <p:nvPr/>
        </p:nvSpPr>
        <p:spPr>
          <a:xfrm>
            <a:off x="3584448" y="1773936"/>
            <a:ext cx="786384" cy="256032"/>
          </a:xfrm>
          <a:prstGeom prst="rect">
            <a:avLst/>
          </a:prstGeom>
          <a:solidFill>
            <a:srgbClr val="EAF6FA"/>
          </a:solidFill>
          <a:ln w="6350">
            <a:solidFill>
              <a:srgbClr val="A0C8D8"/>
            </a:solidFill>
            <a:prstDash val="solid"/>
          </a:ln>
        </p:spPr>
      </p:sp>
      <p:sp>
        <p:nvSpPr>
          <p:cNvPr id="29" name="Text 27"/>
          <p:cNvSpPr/>
          <p:nvPr/>
        </p:nvSpPr>
        <p:spPr>
          <a:xfrm>
            <a:off x="3584448" y="1773936"/>
            <a:ext cx="7863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0.031</a:t>
            </a:r>
            <a:endParaRPr lang="en-US" sz="800" dirty="0"/>
          </a:p>
        </p:txBody>
      </p:sp>
      <p:sp>
        <p:nvSpPr>
          <p:cNvPr id="30" name="Shape 28"/>
          <p:cNvSpPr/>
          <p:nvPr/>
        </p:nvSpPr>
        <p:spPr>
          <a:xfrm>
            <a:off x="4370832" y="1773936"/>
            <a:ext cx="969264" cy="256032"/>
          </a:xfrm>
          <a:prstGeom prst="rect">
            <a:avLst/>
          </a:prstGeom>
          <a:solidFill>
            <a:srgbClr val="EAF6FA"/>
          </a:solidFill>
          <a:ln w="6350">
            <a:solidFill>
              <a:srgbClr val="A0C8D8"/>
            </a:solidFill>
            <a:prstDash val="solid"/>
          </a:ln>
        </p:spPr>
      </p:sp>
      <p:sp>
        <p:nvSpPr>
          <p:cNvPr id="31" name="Text 29"/>
          <p:cNvSpPr/>
          <p:nvPr/>
        </p:nvSpPr>
        <p:spPr>
          <a:xfrm>
            <a:off x="4370832" y="1773936"/>
            <a:ext cx="96926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t>
            </a:r>
            <a:endParaRPr lang="en-US" sz="800" dirty="0"/>
          </a:p>
        </p:txBody>
      </p:sp>
      <p:sp>
        <p:nvSpPr>
          <p:cNvPr id="32" name="Shape 30"/>
          <p:cNvSpPr/>
          <p:nvPr/>
        </p:nvSpPr>
        <p:spPr>
          <a:xfrm>
            <a:off x="5340096" y="1773936"/>
            <a:ext cx="3364992" cy="256032"/>
          </a:xfrm>
          <a:prstGeom prst="rect">
            <a:avLst/>
          </a:prstGeom>
          <a:solidFill>
            <a:srgbClr val="EAF6FA"/>
          </a:solidFill>
          <a:ln w="6350">
            <a:solidFill>
              <a:srgbClr val="A0C8D8"/>
            </a:solidFill>
            <a:prstDash val="solid"/>
          </a:ln>
        </p:spPr>
      </p:sp>
      <p:sp>
        <p:nvSpPr>
          <p:cNvPr id="33" name="Text 31"/>
          <p:cNvSpPr/>
          <p:nvPr/>
        </p:nvSpPr>
        <p:spPr>
          <a:xfrm>
            <a:off x="5340096" y="1773936"/>
            <a:ext cx="336499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Baseline log-odds</a:t>
            </a:r>
            <a:endParaRPr lang="en-US" sz="800" dirty="0"/>
          </a:p>
        </p:txBody>
      </p:sp>
      <p:sp>
        <p:nvSpPr>
          <p:cNvPr id="34" name="Shape 32"/>
          <p:cNvSpPr/>
          <p:nvPr/>
        </p:nvSpPr>
        <p:spPr>
          <a:xfrm>
            <a:off x="256032" y="2029968"/>
            <a:ext cx="1463040" cy="256032"/>
          </a:xfrm>
          <a:prstGeom prst="rect">
            <a:avLst/>
          </a:prstGeom>
          <a:solidFill>
            <a:srgbClr val="C0F0FF"/>
          </a:solidFill>
          <a:ln w="6350">
            <a:solidFill>
              <a:srgbClr val="A0C8D8"/>
            </a:solidFill>
            <a:prstDash val="solid"/>
          </a:ln>
        </p:spPr>
      </p:sp>
      <p:sp>
        <p:nvSpPr>
          <p:cNvPr id="35" name="Text 33"/>
          <p:cNvSpPr/>
          <p:nvPr/>
        </p:nvSpPr>
        <p:spPr>
          <a:xfrm>
            <a:off x="256032" y="2029968"/>
            <a:ext cx="1463040"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Monthly Income (N000s)</a:t>
            </a:r>
            <a:endParaRPr lang="en-US" sz="800" dirty="0"/>
          </a:p>
        </p:txBody>
      </p:sp>
      <p:sp>
        <p:nvSpPr>
          <p:cNvPr id="36" name="Shape 34"/>
          <p:cNvSpPr/>
          <p:nvPr/>
        </p:nvSpPr>
        <p:spPr>
          <a:xfrm>
            <a:off x="1719072" y="2029968"/>
            <a:ext cx="512064" cy="256032"/>
          </a:xfrm>
          <a:prstGeom prst="rect">
            <a:avLst/>
          </a:prstGeom>
          <a:solidFill>
            <a:srgbClr val="C0F0FF"/>
          </a:solidFill>
          <a:ln w="6350">
            <a:solidFill>
              <a:srgbClr val="A0C8D8"/>
            </a:solidFill>
            <a:prstDash val="solid"/>
          </a:ln>
        </p:spPr>
      </p:sp>
      <p:sp>
        <p:nvSpPr>
          <p:cNvPr id="37" name="Text 35"/>
          <p:cNvSpPr/>
          <p:nvPr/>
        </p:nvSpPr>
        <p:spPr>
          <a:xfrm>
            <a:off x="1719072" y="2029968"/>
            <a:ext cx="51206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-0.018</a:t>
            </a:r>
            <a:endParaRPr lang="en-US" sz="800" dirty="0"/>
          </a:p>
        </p:txBody>
      </p:sp>
      <p:sp>
        <p:nvSpPr>
          <p:cNvPr id="38" name="Shape 36"/>
          <p:cNvSpPr/>
          <p:nvPr/>
        </p:nvSpPr>
        <p:spPr>
          <a:xfrm>
            <a:off x="2231136" y="2029968"/>
            <a:ext cx="749808" cy="256032"/>
          </a:xfrm>
          <a:prstGeom prst="rect">
            <a:avLst/>
          </a:prstGeom>
          <a:solidFill>
            <a:srgbClr val="C0F0FF"/>
          </a:solidFill>
          <a:ln w="6350">
            <a:solidFill>
              <a:srgbClr val="A0C8D8"/>
            </a:solidFill>
            <a:prstDash val="solid"/>
          </a:ln>
        </p:spPr>
      </p:sp>
      <p:sp>
        <p:nvSpPr>
          <p:cNvPr id="39" name="Text 37"/>
          <p:cNvSpPr/>
          <p:nvPr/>
        </p:nvSpPr>
        <p:spPr>
          <a:xfrm>
            <a:off x="2231136" y="2029968"/>
            <a:ext cx="74980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20.3</a:t>
            </a:r>
            <a:endParaRPr lang="en-US" sz="800" dirty="0"/>
          </a:p>
        </p:txBody>
      </p:sp>
      <p:sp>
        <p:nvSpPr>
          <p:cNvPr id="40" name="Shape 38"/>
          <p:cNvSpPr/>
          <p:nvPr/>
        </p:nvSpPr>
        <p:spPr>
          <a:xfrm>
            <a:off x="2980944" y="2029968"/>
            <a:ext cx="603504" cy="256032"/>
          </a:xfrm>
          <a:prstGeom prst="rect">
            <a:avLst/>
          </a:prstGeom>
          <a:solidFill>
            <a:srgbClr val="C0F0FF"/>
          </a:solidFill>
          <a:ln w="6350">
            <a:solidFill>
              <a:srgbClr val="A0C8D8"/>
            </a:solidFill>
            <a:prstDash val="solid"/>
          </a:ln>
        </p:spPr>
      </p:sp>
      <p:sp>
        <p:nvSpPr>
          <p:cNvPr id="41" name="Text 39"/>
          <p:cNvSpPr/>
          <p:nvPr/>
        </p:nvSpPr>
        <p:spPr>
          <a:xfrm>
            <a:off x="2980944" y="2029968"/>
            <a:ext cx="60350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&lt;.001</a:t>
            </a:r>
            <a:endParaRPr lang="en-US" sz="800" dirty="0"/>
          </a:p>
        </p:txBody>
      </p:sp>
      <p:sp>
        <p:nvSpPr>
          <p:cNvPr id="42" name="Shape 40"/>
          <p:cNvSpPr/>
          <p:nvPr/>
        </p:nvSpPr>
        <p:spPr>
          <a:xfrm>
            <a:off x="3584448" y="2029968"/>
            <a:ext cx="786384" cy="256032"/>
          </a:xfrm>
          <a:prstGeom prst="rect">
            <a:avLst/>
          </a:prstGeom>
          <a:solidFill>
            <a:srgbClr val="C0F0FF"/>
          </a:solidFill>
          <a:ln w="6350">
            <a:solidFill>
              <a:srgbClr val="A0C8D8"/>
            </a:solidFill>
            <a:prstDash val="solid"/>
          </a:ln>
        </p:spPr>
      </p:sp>
      <p:sp>
        <p:nvSpPr>
          <p:cNvPr id="43" name="Text 41"/>
          <p:cNvSpPr/>
          <p:nvPr/>
        </p:nvSpPr>
        <p:spPr>
          <a:xfrm>
            <a:off x="3584448" y="2029968"/>
            <a:ext cx="78638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0.982</a:t>
            </a:r>
            <a:endParaRPr lang="en-US" sz="800" dirty="0"/>
          </a:p>
        </p:txBody>
      </p:sp>
      <p:sp>
        <p:nvSpPr>
          <p:cNvPr id="44" name="Shape 42"/>
          <p:cNvSpPr/>
          <p:nvPr/>
        </p:nvSpPr>
        <p:spPr>
          <a:xfrm>
            <a:off x="4370832" y="2029968"/>
            <a:ext cx="969264" cy="256032"/>
          </a:xfrm>
          <a:prstGeom prst="rect">
            <a:avLst/>
          </a:prstGeom>
          <a:solidFill>
            <a:srgbClr val="C0F0FF"/>
          </a:solidFill>
          <a:ln w="6350">
            <a:solidFill>
              <a:srgbClr val="A0C8D8"/>
            </a:solidFill>
            <a:prstDash val="solid"/>
          </a:ln>
        </p:spPr>
      </p:sp>
      <p:sp>
        <p:nvSpPr>
          <p:cNvPr id="45" name="Text 43"/>
          <p:cNvSpPr/>
          <p:nvPr/>
        </p:nvSpPr>
        <p:spPr>
          <a:xfrm>
            <a:off x="4370832" y="2029968"/>
            <a:ext cx="96926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[0.975, 0.990]</a:t>
            </a:r>
            <a:endParaRPr lang="en-US" sz="800" dirty="0"/>
          </a:p>
        </p:txBody>
      </p:sp>
      <p:sp>
        <p:nvSpPr>
          <p:cNvPr id="46" name="Shape 44"/>
          <p:cNvSpPr/>
          <p:nvPr/>
        </p:nvSpPr>
        <p:spPr>
          <a:xfrm>
            <a:off x="5340096" y="2029968"/>
            <a:ext cx="3364992" cy="256032"/>
          </a:xfrm>
          <a:prstGeom prst="rect">
            <a:avLst/>
          </a:prstGeom>
          <a:solidFill>
            <a:srgbClr val="C0F0FF"/>
          </a:solidFill>
          <a:ln w="6350">
            <a:solidFill>
              <a:srgbClr val="A0C8D8"/>
            </a:solidFill>
            <a:prstDash val="solid"/>
          </a:ln>
        </p:spPr>
      </p:sp>
      <p:sp>
        <p:nvSpPr>
          <p:cNvPr id="47" name="Text 45"/>
          <p:cNvSpPr/>
          <p:nvPr/>
        </p:nvSpPr>
        <p:spPr>
          <a:xfrm>
            <a:off x="5340096" y="2029968"/>
            <a:ext cx="336499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N1k more income: odds × 0.982 (-1.8%)</a:t>
            </a:r>
            <a:endParaRPr lang="en-US" sz="800" dirty="0"/>
          </a:p>
        </p:txBody>
      </p:sp>
      <p:sp>
        <p:nvSpPr>
          <p:cNvPr id="48" name="Shape 46"/>
          <p:cNvSpPr/>
          <p:nvPr/>
        </p:nvSpPr>
        <p:spPr>
          <a:xfrm>
            <a:off x="256032" y="2286000"/>
            <a:ext cx="1463040" cy="256032"/>
          </a:xfrm>
          <a:prstGeom prst="rect">
            <a:avLst/>
          </a:prstGeom>
          <a:solidFill>
            <a:srgbClr val="C0F0FF"/>
          </a:solidFill>
          <a:ln w="6350">
            <a:solidFill>
              <a:srgbClr val="A0C8D8"/>
            </a:solidFill>
            <a:prstDash val="solid"/>
          </a:ln>
        </p:spPr>
      </p:sp>
      <p:sp>
        <p:nvSpPr>
          <p:cNvPr id="49" name="Text 47"/>
          <p:cNvSpPr/>
          <p:nvPr/>
        </p:nvSpPr>
        <p:spPr>
          <a:xfrm>
            <a:off x="256032" y="2286000"/>
            <a:ext cx="1463040"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Debt-to-Income Ratio</a:t>
            </a:r>
            <a:endParaRPr lang="en-US" sz="800" dirty="0"/>
          </a:p>
        </p:txBody>
      </p:sp>
      <p:sp>
        <p:nvSpPr>
          <p:cNvPr id="50" name="Shape 48"/>
          <p:cNvSpPr/>
          <p:nvPr/>
        </p:nvSpPr>
        <p:spPr>
          <a:xfrm>
            <a:off x="1719072" y="2286000"/>
            <a:ext cx="512064" cy="256032"/>
          </a:xfrm>
          <a:prstGeom prst="rect">
            <a:avLst/>
          </a:prstGeom>
          <a:solidFill>
            <a:srgbClr val="C0F0FF"/>
          </a:solidFill>
          <a:ln w="6350">
            <a:solidFill>
              <a:srgbClr val="A0C8D8"/>
            </a:solidFill>
            <a:prstDash val="solid"/>
          </a:ln>
        </p:spPr>
      </p:sp>
      <p:sp>
        <p:nvSpPr>
          <p:cNvPr id="51" name="Text 49"/>
          <p:cNvSpPr/>
          <p:nvPr/>
        </p:nvSpPr>
        <p:spPr>
          <a:xfrm>
            <a:off x="1719072" y="2286000"/>
            <a:ext cx="51206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1.84</a:t>
            </a:r>
            <a:endParaRPr lang="en-US" sz="800" dirty="0"/>
          </a:p>
        </p:txBody>
      </p:sp>
      <p:sp>
        <p:nvSpPr>
          <p:cNvPr id="52" name="Shape 50"/>
          <p:cNvSpPr/>
          <p:nvPr/>
        </p:nvSpPr>
        <p:spPr>
          <a:xfrm>
            <a:off x="2231136" y="2286000"/>
            <a:ext cx="749808" cy="256032"/>
          </a:xfrm>
          <a:prstGeom prst="rect">
            <a:avLst/>
          </a:prstGeom>
          <a:solidFill>
            <a:srgbClr val="C0F0FF"/>
          </a:solidFill>
          <a:ln w="6350">
            <a:solidFill>
              <a:srgbClr val="A0C8D8"/>
            </a:solidFill>
            <a:prstDash val="solid"/>
          </a:ln>
        </p:spPr>
      </p:sp>
      <p:sp>
        <p:nvSpPr>
          <p:cNvPr id="53" name="Text 51"/>
          <p:cNvSpPr/>
          <p:nvPr/>
        </p:nvSpPr>
        <p:spPr>
          <a:xfrm>
            <a:off x="2231136" y="2286000"/>
            <a:ext cx="74980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40.2</a:t>
            </a:r>
            <a:endParaRPr lang="en-US" sz="800" dirty="0"/>
          </a:p>
        </p:txBody>
      </p:sp>
      <p:sp>
        <p:nvSpPr>
          <p:cNvPr id="54" name="Shape 52"/>
          <p:cNvSpPr/>
          <p:nvPr/>
        </p:nvSpPr>
        <p:spPr>
          <a:xfrm>
            <a:off x="2980944" y="2286000"/>
            <a:ext cx="603504" cy="256032"/>
          </a:xfrm>
          <a:prstGeom prst="rect">
            <a:avLst/>
          </a:prstGeom>
          <a:solidFill>
            <a:srgbClr val="C0F0FF"/>
          </a:solidFill>
          <a:ln w="6350">
            <a:solidFill>
              <a:srgbClr val="A0C8D8"/>
            </a:solidFill>
            <a:prstDash val="solid"/>
          </a:ln>
        </p:spPr>
      </p:sp>
      <p:sp>
        <p:nvSpPr>
          <p:cNvPr id="55" name="Text 53"/>
          <p:cNvSpPr/>
          <p:nvPr/>
        </p:nvSpPr>
        <p:spPr>
          <a:xfrm>
            <a:off x="2980944" y="2286000"/>
            <a:ext cx="60350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&lt;.001</a:t>
            </a:r>
            <a:endParaRPr lang="en-US" sz="800" dirty="0"/>
          </a:p>
        </p:txBody>
      </p:sp>
      <p:sp>
        <p:nvSpPr>
          <p:cNvPr id="56" name="Shape 54"/>
          <p:cNvSpPr/>
          <p:nvPr/>
        </p:nvSpPr>
        <p:spPr>
          <a:xfrm>
            <a:off x="3584448" y="2286000"/>
            <a:ext cx="786384" cy="256032"/>
          </a:xfrm>
          <a:prstGeom prst="rect">
            <a:avLst/>
          </a:prstGeom>
          <a:solidFill>
            <a:srgbClr val="C0F0FF"/>
          </a:solidFill>
          <a:ln w="6350">
            <a:solidFill>
              <a:srgbClr val="A0C8D8"/>
            </a:solidFill>
            <a:prstDash val="solid"/>
          </a:ln>
        </p:spPr>
      </p:sp>
      <p:sp>
        <p:nvSpPr>
          <p:cNvPr id="57" name="Text 55"/>
          <p:cNvSpPr/>
          <p:nvPr/>
        </p:nvSpPr>
        <p:spPr>
          <a:xfrm>
            <a:off x="3584448" y="2286000"/>
            <a:ext cx="78638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6.297</a:t>
            </a:r>
            <a:endParaRPr lang="en-US" sz="800" dirty="0"/>
          </a:p>
        </p:txBody>
      </p:sp>
      <p:sp>
        <p:nvSpPr>
          <p:cNvPr id="58" name="Shape 56"/>
          <p:cNvSpPr/>
          <p:nvPr/>
        </p:nvSpPr>
        <p:spPr>
          <a:xfrm>
            <a:off x="4370832" y="2286000"/>
            <a:ext cx="969264" cy="256032"/>
          </a:xfrm>
          <a:prstGeom prst="rect">
            <a:avLst/>
          </a:prstGeom>
          <a:solidFill>
            <a:srgbClr val="C0F0FF"/>
          </a:solidFill>
          <a:ln w="6350">
            <a:solidFill>
              <a:srgbClr val="A0C8D8"/>
            </a:solidFill>
            <a:prstDash val="solid"/>
          </a:ln>
        </p:spPr>
      </p:sp>
      <p:sp>
        <p:nvSpPr>
          <p:cNvPr id="59" name="Text 57"/>
          <p:cNvSpPr/>
          <p:nvPr/>
        </p:nvSpPr>
        <p:spPr>
          <a:xfrm>
            <a:off x="4370832" y="2286000"/>
            <a:ext cx="96926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[3.57, 11.11]</a:t>
            </a:r>
            <a:endParaRPr lang="en-US" sz="800" dirty="0"/>
          </a:p>
        </p:txBody>
      </p:sp>
      <p:sp>
        <p:nvSpPr>
          <p:cNvPr id="60" name="Shape 58"/>
          <p:cNvSpPr/>
          <p:nvPr/>
        </p:nvSpPr>
        <p:spPr>
          <a:xfrm>
            <a:off x="5340096" y="2286000"/>
            <a:ext cx="3364992" cy="256032"/>
          </a:xfrm>
          <a:prstGeom prst="rect">
            <a:avLst/>
          </a:prstGeom>
          <a:solidFill>
            <a:srgbClr val="C0F0FF"/>
          </a:solidFill>
          <a:ln w="6350">
            <a:solidFill>
              <a:srgbClr val="A0C8D8"/>
            </a:solidFill>
            <a:prstDash val="solid"/>
          </a:ln>
        </p:spPr>
      </p:sp>
      <p:sp>
        <p:nvSpPr>
          <p:cNvPr id="61" name="Text 59"/>
          <p:cNvSpPr/>
          <p:nvPr/>
        </p:nvSpPr>
        <p:spPr>
          <a:xfrm>
            <a:off x="5340096" y="2286000"/>
            <a:ext cx="336499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STRONGEST: odds ×6.3 per unit (+530%)</a:t>
            </a:r>
            <a:endParaRPr lang="en-US" sz="800" dirty="0"/>
          </a:p>
        </p:txBody>
      </p:sp>
      <p:sp>
        <p:nvSpPr>
          <p:cNvPr id="62" name="Shape 60"/>
          <p:cNvSpPr/>
          <p:nvPr/>
        </p:nvSpPr>
        <p:spPr>
          <a:xfrm>
            <a:off x="256032" y="2542032"/>
            <a:ext cx="1463040" cy="256032"/>
          </a:xfrm>
          <a:prstGeom prst="rect">
            <a:avLst/>
          </a:prstGeom>
          <a:solidFill>
            <a:srgbClr val="C0F0FF"/>
          </a:solidFill>
          <a:ln w="6350">
            <a:solidFill>
              <a:srgbClr val="A0C8D8"/>
            </a:solidFill>
            <a:prstDash val="solid"/>
          </a:ln>
        </p:spPr>
      </p:sp>
      <p:sp>
        <p:nvSpPr>
          <p:cNvPr id="63" name="Text 61"/>
          <p:cNvSpPr/>
          <p:nvPr/>
        </p:nvSpPr>
        <p:spPr>
          <a:xfrm>
            <a:off x="256032" y="2542032"/>
            <a:ext cx="1463040"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Has Existing Loan</a:t>
            </a:r>
            <a:endParaRPr lang="en-US" sz="800" dirty="0"/>
          </a:p>
        </p:txBody>
      </p:sp>
      <p:sp>
        <p:nvSpPr>
          <p:cNvPr id="64" name="Shape 62"/>
          <p:cNvSpPr/>
          <p:nvPr/>
        </p:nvSpPr>
        <p:spPr>
          <a:xfrm>
            <a:off x="1719072" y="2542032"/>
            <a:ext cx="512064" cy="256032"/>
          </a:xfrm>
          <a:prstGeom prst="rect">
            <a:avLst/>
          </a:prstGeom>
          <a:solidFill>
            <a:srgbClr val="C0F0FF"/>
          </a:solidFill>
          <a:ln w="6350">
            <a:solidFill>
              <a:srgbClr val="A0C8D8"/>
            </a:solidFill>
            <a:prstDash val="solid"/>
          </a:ln>
        </p:spPr>
      </p:sp>
      <p:sp>
        <p:nvSpPr>
          <p:cNvPr id="65" name="Text 63"/>
          <p:cNvSpPr/>
          <p:nvPr/>
        </p:nvSpPr>
        <p:spPr>
          <a:xfrm>
            <a:off x="1719072" y="2542032"/>
            <a:ext cx="51206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0.72</a:t>
            </a:r>
            <a:endParaRPr lang="en-US" sz="800" dirty="0"/>
          </a:p>
        </p:txBody>
      </p:sp>
      <p:sp>
        <p:nvSpPr>
          <p:cNvPr id="66" name="Shape 64"/>
          <p:cNvSpPr/>
          <p:nvPr/>
        </p:nvSpPr>
        <p:spPr>
          <a:xfrm>
            <a:off x="2231136" y="2542032"/>
            <a:ext cx="749808" cy="256032"/>
          </a:xfrm>
          <a:prstGeom prst="rect">
            <a:avLst/>
          </a:prstGeom>
          <a:solidFill>
            <a:srgbClr val="C0F0FF"/>
          </a:solidFill>
          <a:ln w="6350">
            <a:solidFill>
              <a:srgbClr val="A0C8D8"/>
            </a:solidFill>
            <a:prstDash val="solid"/>
          </a:ln>
        </p:spPr>
      </p:sp>
      <p:sp>
        <p:nvSpPr>
          <p:cNvPr id="67" name="Text 65"/>
          <p:cNvSpPr/>
          <p:nvPr/>
        </p:nvSpPr>
        <p:spPr>
          <a:xfrm>
            <a:off x="2231136" y="2542032"/>
            <a:ext cx="74980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11.7</a:t>
            </a:r>
            <a:endParaRPr lang="en-US" sz="800" dirty="0"/>
          </a:p>
        </p:txBody>
      </p:sp>
      <p:sp>
        <p:nvSpPr>
          <p:cNvPr id="68" name="Shape 66"/>
          <p:cNvSpPr/>
          <p:nvPr/>
        </p:nvSpPr>
        <p:spPr>
          <a:xfrm>
            <a:off x="2980944" y="2542032"/>
            <a:ext cx="603504" cy="256032"/>
          </a:xfrm>
          <a:prstGeom prst="rect">
            <a:avLst/>
          </a:prstGeom>
          <a:solidFill>
            <a:srgbClr val="C0F0FF"/>
          </a:solidFill>
          <a:ln w="6350">
            <a:solidFill>
              <a:srgbClr val="A0C8D8"/>
            </a:solidFill>
            <a:prstDash val="solid"/>
          </a:ln>
        </p:spPr>
      </p:sp>
      <p:sp>
        <p:nvSpPr>
          <p:cNvPr id="69" name="Text 67"/>
          <p:cNvSpPr/>
          <p:nvPr/>
        </p:nvSpPr>
        <p:spPr>
          <a:xfrm>
            <a:off x="2980944" y="2542032"/>
            <a:ext cx="60350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.001</a:t>
            </a:r>
            <a:endParaRPr lang="en-US" sz="800" dirty="0"/>
          </a:p>
        </p:txBody>
      </p:sp>
      <p:sp>
        <p:nvSpPr>
          <p:cNvPr id="70" name="Shape 68"/>
          <p:cNvSpPr/>
          <p:nvPr/>
        </p:nvSpPr>
        <p:spPr>
          <a:xfrm>
            <a:off x="3584448" y="2542032"/>
            <a:ext cx="786384" cy="256032"/>
          </a:xfrm>
          <a:prstGeom prst="rect">
            <a:avLst/>
          </a:prstGeom>
          <a:solidFill>
            <a:srgbClr val="C0F0FF"/>
          </a:solidFill>
          <a:ln w="6350">
            <a:solidFill>
              <a:srgbClr val="A0C8D8"/>
            </a:solidFill>
            <a:prstDash val="solid"/>
          </a:ln>
        </p:spPr>
      </p:sp>
      <p:sp>
        <p:nvSpPr>
          <p:cNvPr id="71" name="Text 69"/>
          <p:cNvSpPr/>
          <p:nvPr/>
        </p:nvSpPr>
        <p:spPr>
          <a:xfrm>
            <a:off x="3584448" y="2542032"/>
            <a:ext cx="78638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2.054</a:t>
            </a:r>
            <a:endParaRPr lang="en-US" sz="800" dirty="0"/>
          </a:p>
        </p:txBody>
      </p:sp>
      <p:sp>
        <p:nvSpPr>
          <p:cNvPr id="72" name="Shape 70"/>
          <p:cNvSpPr/>
          <p:nvPr/>
        </p:nvSpPr>
        <p:spPr>
          <a:xfrm>
            <a:off x="4370832" y="2542032"/>
            <a:ext cx="969264" cy="256032"/>
          </a:xfrm>
          <a:prstGeom prst="rect">
            <a:avLst/>
          </a:prstGeom>
          <a:solidFill>
            <a:srgbClr val="C0F0FF"/>
          </a:solidFill>
          <a:ln w="6350">
            <a:solidFill>
              <a:srgbClr val="A0C8D8"/>
            </a:solidFill>
            <a:prstDash val="solid"/>
          </a:ln>
        </p:spPr>
      </p:sp>
      <p:sp>
        <p:nvSpPr>
          <p:cNvPr id="73" name="Text 71"/>
          <p:cNvSpPr/>
          <p:nvPr/>
        </p:nvSpPr>
        <p:spPr>
          <a:xfrm>
            <a:off x="4370832" y="2542032"/>
            <a:ext cx="96926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[1.36, 3.10]</a:t>
            </a:r>
            <a:endParaRPr lang="en-US" sz="800" dirty="0"/>
          </a:p>
        </p:txBody>
      </p:sp>
      <p:sp>
        <p:nvSpPr>
          <p:cNvPr id="74" name="Shape 72"/>
          <p:cNvSpPr/>
          <p:nvPr/>
        </p:nvSpPr>
        <p:spPr>
          <a:xfrm>
            <a:off x="5340096" y="2542032"/>
            <a:ext cx="3364992" cy="256032"/>
          </a:xfrm>
          <a:prstGeom prst="rect">
            <a:avLst/>
          </a:prstGeom>
          <a:solidFill>
            <a:srgbClr val="C0F0FF"/>
          </a:solidFill>
          <a:ln w="6350">
            <a:solidFill>
              <a:srgbClr val="A0C8D8"/>
            </a:solidFill>
            <a:prstDash val="solid"/>
          </a:ln>
        </p:spPr>
      </p:sp>
      <p:sp>
        <p:nvSpPr>
          <p:cNvPr id="75" name="Text 73"/>
          <p:cNvSpPr/>
          <p:nvPr/>
        </p:nvSpPr>
        <p:spPr>
          <a:xfrm>
            <a:off x="5340096" y="2542032"/>
            <a:ext cx="336499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Existing loan: default odds doubled</a:t>
            </a:r>
            <a:endParaRPr lang="en-US" sz="800" dirty="0"/>
          </a:p>
        </p:txBody>
      </p:sp>
      <p:sp>
        <p:nvSpPr>
          <p:cNvPr id="76" name="Shape 74"/>
          <p:cNvSpPr/>
          <p:nvPr/>
        </p:nvSpPr>
        <p:spPr>
          <a:xfrm>
            <a:off x="256032" y="2798064"/>
            <a:ext cx="1463040" cy="256032"/>
          </a:xfrm>
          <a:prstGeom prst="rect">
            <a:avLst/>
          </a:prstGeom>
          <a:solidFill>
            <a:srgbClr val="C0F0FF"/>
          </a:solidFill>
          <a:ln w="6350">
            <a:solidFill>
              <a:srgbClr val="A0C8D8"/>
            </a:solidFill>
            <a:prstDash val="solid"/>
          </a:ln>
        </p:spPr>
      </p:sp>
      <p:sp>
        <p:nvSpPr>
          <p:cNvPr id="77" name="Text 75"/>
          <p:cNvSpPr/>
          <p:nvPr/>
        </p:nvSpPr>
        <p:spPr>
          <a:xfrm>
            <a:off x="256032" y="2798064"/>
            <a:ext cx="1463040"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Credit Score</a:t>
            </a:r>
            <a:endParaRPr lang="en-US" sz="800" dirty="0"/>
          </a:p>
        </p:txBody>
      </p:sp>
      <p:sp>
        <p:nvSpPr>
          <p:cNvPr id="78" name="Shape 76"/>
          <p:cNvSpPr/>
          <p:nvPr/>
        </p:nvSpPr>
        <p:spPr>
          <a:xfrm>
            <a:off x="1719072" y="2798064"/>
            <a:ext cx="512064" cy="256032"/>
          </a:xfrm>
          <a:prstGeom prst="rect">
            <a:avLst/>
          </a:prstGeom>
          <a:solidFill>
            <a:srgbClr val="C0F0FF"/>
          </a:solidFill>
          <a:ln w="6350">
            <a:solidFill>
              <a:srgbClr val="A0C8D8"/>
            </a:solidFill>
            <a:prstDash val="solid"/>
          </a:ln>
        </p:spPr>
      </p:sp>
      <p:sp>
        <p:nvSpPr>
          <p:cNvPr id="79" name="Text 77"/>
          <p:cNvSpPr/>
          <p:nvPr/>
        </p:nvSpPr>
        <p:spPr>
          <a:xfrm>
            <a:off x="1719072" y="2798064"/>
            <a:ext cx="51206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-0.009</a:t>
            </a:r>
            <a:endParaRPr lang="en-US" sz="800" dirty="0"/>
          </a:p>
        </p:txBody>
      </p:sp>
      <p:sp>
        <p:nvSpPr>
          <p:cNvPr id="80" name="Shape 78"/>
          <p:cNvSpPr/>
          <p:nvPr/>
        </p:nvSpPr>
        <p:spPr>
          <a:xfrm>
            <a:off x="2231136" y="2798064"/>
            <a:ext cx="749808" cy="256032"/>
          </a:xfrm>
          <a:prstGeom prst="rect">
            <a:avLst/>
          </a:prstGeom>
          <a:solidFill>
            <a:srgbClr val="C0F0FF"/>
          </a:solidFill>
          <a:ln w="6350">
            <a:solidFill>
              <a:srgbClr val="A0C8D8"/>
            </a:solidFill>
            <a:prstDash val="solid"/>
          </a:ln>
        </p:spPr>
      </p:sp>
      <p:sp>
        <p:nvSpPr>
          <p:cNvPr id="81" name="Text 79"/>
          <p:cNvSpPr/>
          <p:nvPr/>
        </p:nvSpPr>
        <p:spPr>
          <a:xfrm>
            <a:off x="2231136" y="2798064"/>
            <a:ext cx="749808"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20.1</a:t>
            </a:r>
            <a:endParaRPr lang="en-US" sz="800" dirty="0"/>
          </a:p>
        </p:txBody>
      </p:sp>
      <p:sp>
        <p:nvSpPr>
          <p:cNvPr id="82" name="Shape 80"/>
          <p:cNvSpPr/>
          <p:nvPr/>
        </p:nvSpPr>
        <p:spPr>
          <a:xfrm>
            <a:off x="2980944" y="2798064"/>
            <a:ext cx="603504" cy="256032"/>
          </a:xfrm>
          <a:prstGeom prst="rect">
            <a:avLst/>
          </a:prstGeom>
          <a:solidFill>
            <a:srgbClr val="C0F0FF"/>
          </a:solidFill>
          <a:ln w="6350">
            <a:solidFill>
              <a:srgbClr val="A0C8D8"/>
            </a:solidFill>
            <a:prstDash val="solid"/>
          </a:ln>
        </p:spPr>
      </p:sp>
      <p:sp>
        <p:nvSpPr>
          <p:cNvPr id="83" name="Text 81"/>
          <p:cNvSpPr/>
          <p:nvPr/>
        </p:nvSpPr>
        <p:spPr>
          <a:xfrm>
            <a:off x="2980944" y="2798064"/>
            <a:ext cx="60350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&lt;.001</a:t>
            </a:r>
            <a:endParaRPr lang="en-US" sz="800" dirty="0"/>
          </a:p>
        </p:txBody>
      </p:sp>
      <p:sp>
        <p:nvSpPr>
          <p:cNvPr id="84" name="Shape 82"/>
          <p:cNvSpPr/>
          <p:nvPr/>
        </p:nvSpPr>
        <p:spPr>
          <a:xfrm>
            <a:off x="3584448" y="2798064"/>
            <a:ext cx="786384" cy="256032"/>
          </a:xfrm>
          <a:prstGeom prst="rect">
            <a:avLst/>
          </a:prstGeom>
          <a:solidFill>
            <a:srgbClr val="C0F0FF"/>
          </a:solidFill>
          <a:ln w="6350">
            <a:solidFill>
              <a:srgbClr val="A0C8D8"/>
            </a:solidFill>
            <a:prstDash val="solid"/>
          </a:ln>
        </p:spPr>
      </p:sp>
      <p:sp>
        <p:nvSpPr>
          <p:cNvPr id="85" name="Text 83"/>
          <p:cNvSpPr/>
          <p:nvPr/>
        </p:nvSpPr>
        <p:spPr>
          <a:xfrm>
            <a:off x="3584448" y="2798064"/>
            <a:ext cx="78638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0.991</a:t>
            </a:r>
            <a:endParaRPr lang="en-US" sz="800" dirty="0"/>
          </a:p>
        </p:txBody>
      </p:sp>
      <p:sp>
        <p:nvSpPr>
          <p:cNvPr id="86" name="Shape 84"/>
          <p:cNvSpPr/>
          <p:nvPr/>
        </p:nvSpPr>
        <p:spPr>
          <a:xfrm>
            <a:off x="4370832" y="2798064"/>
            <a:ext cx="969264" cy="256032"/>
          </a:xfrm>
          <a:prstGeom prst="rect">
            <a:avLst/>
          </a:prstGeom>
          <a:solidFill>
            <a:srgbClr val="C0F0FF"/>
          </a:solidFill>
          <a:ln w="6350">
            <a:solidFill>
              <a:srgbClr val="A0C8D8"/>
            </a:solidFill>
            <a:prstDash val="solid"/>
          </a:ln>
        </p:spPr>
      </p:sp>
      <p:sp>
        <p:nvSpPr>
          <p:cNvPr id="87" name="Text 85"/>
          <p:cNvSpPr/>
          <p:nvPr/>
        </p:nvSpPr>
        <p:spPr>
          <a:xfrm>
            <a:off x="4370832" y="2798064"/>
            <a:ext cx="969264"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[0.987, 0.995]</a:t>
            </a:r>
            <a:endParaRPr lang="en-US" sz="800" dirty="0"/>
          </a:p>
        </p:txBody>
      </p:sp>
      <p:sp>
        <p:nvSpPr>
          <p:cNvPr id="88" name="Shape 86"/>
          <p:cNvSpPr/>
          <p:nvPr/>
        </p:nvSpPr>
        <p:spPr>
          <a:xfrm>
            <a:off x="5340096" y="2798064"/>
            <a:ext cx="3364992" cy="256032"/>
          </a:xfrm>
          <a:prstGeom prst="rect">
            <a:avLst/>
          </a:prstGeom>
          <a:solidFill>
            <a:srgbClr val="C0F0FF"/>
          </a:solidFill>
          <a:ln w="6350">
            <a:solidFill>
              <a:srgbClr val="A0C8D8"/>
            </a:solidFill>
            <a:prstDash val="solid"/>
          </a:ln>
        </p:spPr>
      </p:sp>
      <p:sp>
        <p:nvSpPr>
          <p:cNvPr id="89" name="Text 87"/>
          <p:cNvSpPr/>
          <p:nvPr/>
        </p:nvSpPr>
        <p:spPr>
          <a:xfrm>
            <a:off x="5340096" y="2798064"/>
            <a:ext cx="3364992" cy="256032"/>
          </a:xfrm>
          <a:prstGeom prst="rect">
            <a:avLst/>
          </a:prstGeom>
          <a:noFill/>
          <a:ln/>
        </p:spPr>
        <p:txBody>
          <a:bodyPr wrap="square" lIns="0" tIns="0" rIns="0" bIns="0" rtlCol="0" anchor="ctr"/>
          <a:lstStyle/>
          <a:p>
            <a:pPr algn="ctr" indent="0" marL="0">
              <a:buNone/>
            </a:pPr>
            <a:r>
              <a:rPr lang="en-US" sz="800" b="1" dirty="0">
                <a:solidFill>
                  <a:srgbClr val="0A7E8C"/>
                </a:solidFill>
                <a:latin typeface="Calibri" pitchFamily="34" charset="0"/>
                <a:ea typeface="Calibri" pitchFamily="34" charset="-122"/>
                <a:cs typeface="Calibri" pitchFamily="34" charset="-120"/>
              </a:rPr>
              <a:t>100-pt better score: odds × 0.406 (-59%)</a:t>
            </a:r>
            <a:endParaRPr lang="en-US" sz="800" dirty="0"/>
          </a:p>
        </p:txBody>
      </p:sp>
      <p:sp>
        <p:nvSpPr>
          <p:cNvPr id="90" name="Shape 88"/>
          <p:cNvSpPr/>
          <p:nvPr/>
        </p:nvSpPr>
        <p:spPr>
          <a:xfrm>
            <a:off x="256032" y="3401568"/>
            <a:ext cx="4160520" cy="1792224"/>
          </a:xfrm>
          <a:prstGeom prst="roundRect">
            <a:avLst>
              <a:gd name="adj" fmla="val 4592"/>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91" name="Text 89"/>
          <p:cNvSpPr/>
          <p:nvPr/>
        </p:nvSpPr>
        <p:spPr>
          <a:xfrm>
            <a:off x="365760" y="3474720"/>
            <a:ext cx="3950208" cy="237744"/>
          </a:xfrm>
          <a:prstGeom prst="rect">
            <a:avLst/>
          </a:prstGeom>
          <a:noFill/>
          <a:ln/>
        </p:spPr>
        <p:txBody>
          <a:bodyPr wrap="square" lIns="0" tIns="0" rIns="0" bIns="0" rtlCol="0" anchor="ctr"/>
          <a:lstStyle/>
          <a:p>
            <a:pPr indent="0" marL="0">
              <a:buNone/>
            </a:pPr>
            <a:r>
              <a:rPr lang="en-US" sz="1100" b="1" dirty="0">
                <a:solidFill>
                  <a:srgbClr val="0A7E8C"/>
                </a:solidFill>
                <a:latin typeface="Calibri" pitchFamily="34" charset="0"/>
                <a:ea typeface="Calibri" pitchFamily="34" charset="-122"/>
                <a:cs typeface="Calibri" pitchFamily="34" charset="-120"/>
              </a:rPr>
              <a:t>Model Fit</a:t>
            </a:r>
            <a:endParaRPr lang="en-US" sz="1100" dirty="0"/>
          </a:p>
        </p:txBody>
      </p:sp>
      <p:sp>
        <p:nvSpPr>
          <p:cNvPr id="92" name="Shape 90"/>
          <p:cNvSpPr/>
          <p:nvPr/>
        </p:nvSpPr>
        <p:spPr>
          <a:xfrm>
            <a:off x="347472" y="3767328"/>
            <a:ext cx="3968496" cy="402336"/>
          </a:xfrm>
          <a:prstGeom prst="roundRect">
            <a:avLst>
              <a:gd name="adj" fmla="val 9091"/>
            </a:avLst>
          </a:prstGeom>
          <a:solidFill>
            <a:srgbClr val="E8FFF5"/>
          </a:solidFill>
          <a:ln w="10160">
            <a:solidFill>
              <a:srgbClr val="0A8A50"/>
            </a:solidFill>
            <a:prstDash val="solid"/>
          </a:ln>
        </p:spPr>
      </p:sp>
      <p:sp>
        <p:nvSpPr>
          <p:cNvPr id="93" name="Text 91"/>
          <p:cNvSpPr/>
          <p:nvPr/>
        </p:nvSpPr>
        <p:spPr>
          <a:xfrm>
            <a:off x="420624" y="3803904"/>
            <a:ext cx="1371600" cy="310896"/>
          </a:xfrm>
          <a:prstGeom prst="rect">
            <a:avLst/>
          </a:prstGeom>
          <a:noFill/>
          <a:ln/>
        </p:spPr>
        <p:txBody>
          <a:bodyPr wrap="square" lIns="0" tIns="0" rIns="0" bIns="0" rtlCol="0" anchor="ctr"/>
          <a:lstStyle/>
          <a:p>
            <a:pPr indent="0" marL="0">
              <a:buNone/>
            </a:pPr>
            <a:r>
              <a:rPr lang="en-US" sz="950" b="1" dirty="0">
                <a:solidFill>
                  <a:srgbClr val="0A8A50"/>
                </a:solidFill>
                <a:latin typeface="Calibri" pitchFamily="34" charset="0"/>
                <a:ea typeface="Calibri" pitchFamily="34" charset="-122"/>
                <a:cs typeface="Calibri" pitchFamily="34" charset="-120"/>
              </a:rPr>
              <a:t>Hosmer-Lemeshow: </a:t>
            </a:r>
            <a:endParaRPr lang="en-US" sz="950" dirty="0"/>
          </a:p>
        </p:txBody>
      </p:sp>
      <p:sp>
        <p:nvSpPr>
          <p:cNvPr id="94" name="Text 92"/>
          <p:cNvSpPr/>
          <p:nvPr/>
        </p:nvSpPr>
        <p:spPr>
          <a:xfrm>
            <a:off x="1810512" y="3803904"/>
            <a:ext cx="2468880" cy="310896"/>
          </a:xfrm>
          <a:prstGeom prst="rect">
            <a:avLst/>
          </a:prstGeom>
          <a:noFill/>
          <a:ln/>
        </p:spPr>
        <p:txBody>
          <a:bodyPr wrap="square" lIns="0" tIns="0" rIns="0" bIns="0" rtlCol="0" anchor="ctr"/>
          <a:lstStyle/>
          <a:p>
            <a:pPr indent="0" marL="0">
              <a:buNone/>
            </a:pPr>
            <a:r>
              <a:rPr lang="en-US" sz="900" dirty="0">
                <a:solidFill>
                  <a:srgbClr val="0C1428"/>
                </a:solidFill>
                <a:latin typeface="Calibri" pitchFamily="34" charset="0"/>
                <a:ea typeface="Calibri" pitchFamily="34" charset="-122"/>
                <a:cs typeface="Calibri" pitchFamily="34" charset="-120"/>
              </a:rPr>
              <a:t>χ²(8)=6.84, p=.554  (p&gt;.05 = GOOD FIT)</a:t>
            </a:r>
            <a:endParaRPr lang="en-US" sz="900" dirty="0"/>
          </a:p>
        </p:txBody>
      </p:sp>
      <p:sp>
        <p:nvSpPr>
          <p:cNvPr id="95" name="Shape 93"/>
          <p:cNvSpPr/>
          <p:nvPr/>
        </p:nvSpPr>
        <p:spPr>
          <a:xfrm>
            <a:off x="347472" y="4224528"/>
            <a:ext cx="3968496" cy="402336"/>
          </a:xfrm>
          <a:prstGeom prst="roundRect">
            <a:avLst>
              <a:gd name="adj" fmla="val 9091"/>
            </a:avLst>
          </a:prstGeom>
          <a:solidFill>
            <a:srgbClr val="EAF6FA"/>
          </a:solidFill>
          <a:ln w="10160">
            <a:solidFill>
              <a:srgbClr val="0A7E8C"/>
            </a:solidFill>
            <a:prstDash val="solid"/>
          </a:ln>
        </p:spPr>
      </p:sp>
      <p:sp>
        <p:nvSpPr>
          <p:cNvPr id="96" name="Text 94"/>
          <p:cNvSpPr/>
          <p:nvPr/>
        </p:nvSpPr>
        <p:spPr>
          <a:xfrm>
            <a:off x="420624" y="4261104"/>
            <a:ext cx="1371600" cy="310896"/>
          </a:xfrm>
          <a:prstGeom prst="rect">
            <a:avLst/>
          </a:prstGeom>
          <a:noFill/>
          <a:ln/>
        </p:spPr>
        <p:txBody>
          <a:bodyPr wrap="square" lIns="0" tIns="0" rIns="0" bIns="0" rtlCol="0" anchor="ctr"/>
          <a:lstStyle/>
          <a:p>
            <a:pPr indent="0" marL="0">
              <a:buNone/>
            </a:pPr>
            <a:r>
              <a:rPr lang="en-US" sz="950" b="1" dirty="0">
                <a:solidFill>
                  <a:srgbClr val="0A7E8C"/>
                </a:solidFill>
                <a:latin typeface="Calibri" pitchFamily="34" charset="0"/>
                <a:ea typeface="Calibri" pitchFamily="34" charset="-122"/>
                <a:cs typeface="Calibri" pitchFamily="34" charset="-120"/>
              </a:rPr>
              <a:t>Nagelkerke R²: </a:t>
            </a:r>
            <a:endParaRPr lang="en-US" sz="950" dirty="0"/>
          </a:p>
        </p:txBody>
      </p:sp>
      <p:sp>
        <p:nvSpPr>
          <p:cNvPr id="97" name="Text 95"/>
          <p:cNvSpPr/>
          <p:nvPr/>
        </p:nvSpPr>
        <p:spPr>
          <a:xfrm>
            <a:off x="1810512" y="4261104"/>
            <a:ext cx="2468880" cy="310896"/>
          </a:xfrm>
          <a:prstGeom prst="rect">
            <a:avLst/>
          </a:prstGeom>
          <a:noFill/>
          <a:ln/>
        </p:spPr>
        <p:txBody>
          <a:bodyPr wrap="square" lIns="0" tIns="0" rIns="0" bIns="0" rtlCol="0" anchor="ctr"/>
          <a:lstStyle/>
          <a:p>
            <a:pPr indent="0" marL="0">
              <a:buNone/>
            </a:pPr>
            <a:r>
              <a:rPr lang="en-US" sz="900" dirty="0">
                <a:solidFill>
                  <a:srgbClr val="0C1428"/>
                </a:solidFill>
                <a:latin typeface="Calibri" pitchFamily="34" charset="0"/>
                <a:ea typeface="Calibri" pitchFamily="34" charset="-122"/>
                <a:cs typeface="Calibri" pitchFamily="34" charset="-120"/>
              </a:rPr>
              <a:t>0.382  (~38.2% variance explained)</a:t>
            </a:r>
            <a:endParaRPr lang="en-US" sz="900" dirty="0"/>
          </a:p>
        </p:txBody>
      </p:sp>
      <p:sp>
        <p:nvSpPr>
          <p:cNvPr id="98" name="Shape 96"/>
          <p:cNvSpPr/>
          <p:nvPr/>
        </p:nvSpPr>
        <p:spPr>
          <a:xfrm>
            <a:off x="347472" y="4681728"/>
            <a:ext cx="3968496" cy="402336"/>
          </a:xfrm>
          <a:prstGeom prst="roundRect">
            <a:avLst>
              <a:gd name="adj" fmla="val 9091"/>
            </a:avLst>
          </a:prstGeom>
          <a:solidFill>
            <a:srgbClr val="EAF6FA"/>
          </a:solidFill>
          <a:ln w="10160">
            <a:solidFill>
              <a:srgbClr val="1050D0"/>
            </a:solidFill>
            <a:prstDash val="solid"/>
          </a:ln>
        </p:spPr>
      </p:sp>
      <p:sp>
        <p:nvSpPr>
          <p:cNvPr id="99" name="Text 97"/>
          <p:cNvSpPr/>
          <p:nvPr/>
        </p:nvSpPr>
        <p:spPr>
          <a:xfrm>
            <a:off x="420624" y="4718304"/>
            <a:ext cx="1371600" cy="310896"/>
          </a:xfrm>
          <a:prstGeom prst="rect">
            <a:avLst/>
          </a:prstGeom>
          <a:noFill/>
          <a:ln/>
        </p:spPr>
        <p:txBody>
          <a:bodyPr wrap="square" lIns="0" tIns="0" rIns="0" bIns="0" rtlCol="0" anchor="ctr"/>
          <a:lstStyle/>
          <a:p>
            <a:pPr indent="0" marL="0">
              <a:buNone/>
            </a:pPr>
            <a:r>
              <a:rPr lang="en-US" sz="950" b="1" dirty="0">
                <a:solidFill>
                  <a:srgbClr val="1050D0"/>
                </a:solidFill>
                <a:latin typeface="Calibri" pitchFamily="34" charset="0"/>
                <a:ea typeface="Calibri" pitchFamily="34" charset="-122"/>
                <a:cs typeface="Calibri" pitchFamily="34" charset="-120"/>
              </a:rPr>
              <a:t>Classification: </a:t>
            </a:r>
            <a:endParaRPr lang="en-US" sz="950" dirty="0"/>
          </a:p>
        </p:txBody>
      </p:sp>
      <p:sp>
        <p:nvSpPr>
          <p:cNvPr id="100" name="Text 98"/>
          <p:cNvSpPr/>
          <p:nvPr/>
        </p:nvSpPr>
        <p:spPr>
          <a:xfrm>
            <a:off x="1810512" y="4718304"/>
            <a:ext cx="2468880" cy="310896"/>
          </a:xfrm>
          <a:prstGeom prst="rect">
            <a:avLst/>
          </a:prstGeom>
          <a:noFill/>
          <a:ln/>
        </p:spPr>
        <p:txBody>
          <a:bodyPr wrap="square" lIns="0" tIns="0" rIns="0" bIns="0" rtlCol="0" anchor="ctr"/>
          <a:lstStyle/>
          <a:p>
            <a:pPr indent="0" marL="0">
              <a:buNone/>
            </a:pPr>
            <a:r>
              <a:rPr lang="en-US" sz="900" dirty="0">
                <a:solidFill>
                  <a:srgbClr val="0C1428"/>
                </a:solidFill>
                <a:latin typeface="Calibri" pitchFamily="34" charset="0"/>
                <a:ea typeface="Calibri" pitchFamily="34" charset="-122"/>
                <a:cs typeface="Calibri" pitchFamily="34" charset="-120"/>
              </a:rPr>
              <a:t>88.2% accuracy  (Sensitivity=71.4%, AUC=0.924)</a:t>
            </a:r>
            <a:endParaRPr lang="en-US" sz="900" dirty="0"/>
          </a:p>
        </p:txBody>
      </p:sp>
      <p:sp>
        <p:nvSpPr>
          <p:cNvPr id="101" name="Shape 99"/>
          <p:cNvSpPr/>
          <p:nvPr/>
        </p:nvSpPr>
        <p:spPr>
          <a:xfrm>
            <a:off x="4681728" y="3401568"/>
            <a:ext cx="4160520" cy="1792224"/>
          </a:xfrm>
          <a:prstGeom prst="roundRect">
            <a:avLst>
              <a:gd name="adj" fmla="val 4592"/>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02" name="Text 100"/>
          <p:cNvSpPr/>
          <p:nvPr/>
        </p:nvSpPr>
        <p:spPr>
          <a:xfrm>
            <a:off x="4791456" y="3474720"/>
            <a:ext cx="3950208" cy="237744"/>
          </a:xfrm>
          <a:prstGeom prst="rect">
            <a:avLst/>
          </a:prstGeom>
          <a:noFill/>
          <a:ln/>
        </p:spPr>
        <p:txBody>
          <a:bodyPr wrap="square" lIns="0" tIns="0" rIns="0" bIns="0" rtlCol="0" anchor="ctr"/>
          <a:lstStyle/>
          <a:p>
            <a:pPr indent="0" marL="0">
              <a:buNone/>
            </a:pPr>
            <a:r>
              <a:rPr lang="en-US" sz="1100" b="1" dirty="0">
                <a:solidFill>
                  <a:srgbClr val="E07010"/>
                </a:solidFill>
                <a:latin typeface="Calibri" pitchFamily="34" charset="0"/>
                <a:ea typeface="Calibri" pitchFamily="34" charset="-122"/>
                <a:cs typeface="Calibri" pitchFamily="34" charset="-120"/>
              </a:rPr>
              <a:t>OR Interpretation Key</a:t>
            </a:r>
            <a:endParaRPr lang="en-US" sz="1100" dirty="0"/>
          </a:p>
        </p:txBody>
      </p:sp>
      <p:sp>
        <p:nvSpPr>
          <p:cNvPr id="103" name="Shape 101"/>
          <p:cNvSpPr/>
          <p:nvPr/>
        </p:nvSpPr>
        <p:spPr>
          <a:xfrm>
            <a:off x="4773168" y="3767328"/>
            <a:ext cx="3950208" cy="237744"/>
          </a:xfrm>
          <a:prstGeom prst="roundRect">
            <a:avLst>
              <a:gd name="adj" fmla="val 15385"/>
            </a:avLst>
          </a:prstGeom>
          <a:solidFill>
            <a:srgbClr val="EAF6FA"/>
          </a:solidFill>
          <a:ln w="8890">
            <a:solidFill>
              <a:srgbClr val="E03020"/>
            </a:solidFill>
            <a:prstDash val="solid"/>
          </a:ln>
        </p:spPr>
      </p:sp>
      <p:sp>
        <p:nvSpPr>
          <p:cNvPr id="104" name="Text 102"/>
          <p:cNvSpPr/>
          <p:nvPr/>
        </p:nvSpPr>
        <p:spPr>
          <a:xfrm>
            <a:off x="4846320" y="3785616"/>
            <a:ext cx="3785616" cy="182880"/>
          </a:xfrm>
          <a:prstGeom prst="rect">
            <a:avLst/>
          </a:prstGeom>
          <a:noFill/>
          <a:ln/>
        </p:spPr>
        <p:txBody>
          <a:bodyPr wrap="square" lIns="0" tIns="0" rIns="0" bIns="0" rtlCol="0" anchor="ctr"/>
          <a:lstStyle/>
          <a:p>
            <a:pPr indent="0" marL="0">
              <a:buNone/>
            </a:pPr>
            <a:r>
              <a:rPr lang="en-US" sz="950" b="1" dirty="0">
                <a:solidFill>
                  <a:srgbClr val="E03020"/>
                </a:solidFill>
                <a:latin typeface="Calibri" pitchFamily="34" charset="0"/>
                <a:ea typeface="Calibri" pitchFamily="34" charset="-122"/>
                <a:cs typeface="Calibri" pitchFamily="34" charset="-120"/>
              </a:rPr>
              <a:t>OR=6.30 → DTI: 530% odds increase per unit</a:t>
            </a:r>
            <a:endParaRPr lang="en-US" sz="950" dirty="0"/>
          </a:p>
        </p:txBody>
      </p:sp>
      <p:sp>
        <p:nvSpPr>
          <p:cNvPr id="105" name="Shape 103"/>
          <p:cNvSpPr/>
          <p:nvPr/>
        </p:nvSpPr>
        <p:spPr>
          <a:xfrm>
            <a:off x="4773168" y="4041648"/>
            <a:ext cx="3950208" cy="237744"/>
          </a:xfrm>
          <a:prstGeom prst="roundRect">
            <a:avLst>
              <a:gd name="adj" fmla="val 15385"/>
            </a:avLst>
          </a:prstGeom>
          <a:solidFill>
            <a:srgbClr val="EAF6FA"/>
          </a:solidFill>
          <a:ln w="8890">
            <a:solidFill>
              <a:srgbClr val="E07010"/>
            </a:solidFill>
            <a:prstDash val="solid"/>
          </a:ln>
        </p:spPr>
      </p:sp>
      <p:sp>
        <p:nvSpPr>
          <p:cNvPr id="106" name="Text 104"/>
          <p:cNvSpPr/>
          <p:nvPr/>
        </p:nvSpPr>
        <p:spPr>
          <a:xfrm>
            <a:off x="4846320" y="4059936"/>
            <a:ext cx="3785616" cy="182880"/>
          </a:xfrm>
          <a:prstGeom prst="rect">
            <a:avLst/>
          </a:prstGeom>
          <a:noFill/>
          <a:ln/>
        </p:spPr>
        <p:txBody>
          <a:bodyPr wrap="square" lIns="0" tIns="0" rIns="0" bIns="0" rtlCol="0" anchor="ctr"/>
          <a:lstStyle/>
          <a:p>
            <a:pPr indent="0" marL="0">
              <a:buNone/>
            </a:pPr>
            <a:r>
              <a:rPr lang="en-US" sz="950" b="1" dirty="0">
                <a:solidFill>
                  <a:srgbClr val="E07010"/>
                </a:solidFill>
                <a:latin typeface="Calibri" pitchFamily="34" charset="0"/>
                <a:ea typeface="Calibri" pitchFamily="34" charset="-122"/>
                <a:cs typeface="Calibri" pitchFamily="34" charset="-120"/>
              </a:rPr>
              <a:t>OR=2.05 → Existing loan: odds doubled</a:t>
            </a:r>
            <a:endParaRPr lang="en-US" sz="950" dirty="0"/>
          </a:p>
        </p:txBody>
      </p:sp>
      <p:sp>
        <p:nvSpPr>
          <p:cNvPr id="107" name="Shape 105"/>
          <p:cNvSpPr/>
          <p:nvPr/>
        </p:nvSpPr>
        <p:spPr>
          <a:xfrm>
            <a:off x="4773168" y="4315968"/>
            <a:ext cx="3950208" cy="237744"/>
          </a:xfrm>
          <a:prstGeom prst="roundRect">
            <a:avLst>
              <a:gd name="adj" fmla="val 15385"/>
            </a:avLst>
          </a:prstGeom>
          <a:solidFill>
            <a:srgbClr val="EAF6FA"/>
          </a:solidFill>
          <a:ln w="8890">
            <a:solidFill>
              <a:srgbClr val="0A8A50"/>
            </a:solidFill>
            <a:prstDash val="solid"/>
          </a:ln>
        </p:spPr>
      </p:sp>
      <p:sp>
        <p:nvSpPr>
          <p:cNvPr id="108" name="Text 106"/>
          <p:cNvSpPr/>
          <p:nvPr/>
        </p:nvSpPr>
        <p:spPr>
          <a:xfrm>
            <a:off x="4846320" y="4334256"/>
            <a:ext cx="3785616" cy="182880"/>
          </a:xfrm>
          <a:prstGeom prst="rect">
            <a:avLst/>
          </a:prstGeom>
          <a:noFill/>
          <a:ln/>
        </p:spPr>
        <p:txBody>
          <a:bodyPr wrap="square" lIns="0" tIns="0" rIns="0" bIns="0" rtlCol="0" anchor="ctr"/>
          <a:lstStyle/>
          <a:p>
            <a:pPr indent="0" marL="0">
              <a:buNone/>
            </a:pPr>
            <a:r>
              <a:rPr lang="en-US" sz="950" b="1" dirty="0">
                <a:solidFill>
                  <a:srgbClr val="0A8A50"/>
                </a:solidFill>
                <a:latin typeface="Calibri" pitchFamily="34" charset="0"/>
                <a:ea typeface="Calibri" pitchFamily="34" charset="-122"/>
                <a:cs typeface="Calibri" pitchFamily="34" charset="-120"/>
              </a:rPr>
              <a:t>OR=0.982 → Each N1k income: -1.8% odds</a:t>
            </a:r>
            <a:endParaRPr lang="en-US" sz="950" dirty="0"/>
          </a:p>
        </p:txBody>
      </p:sp>
      <p:sp>
        <p:nvSpPr>
          <p:cNvPr id="109" name="Shape 107"/>
          <p:cNvSpPr/>
          <p:nvPr/>
        </p:nvSpPr>
        <p:spPr>
          <a:xfrm>
            <a:off x="4773168" y="4590288"/>
            <a:ext cx="3950208" cy="237744"/>
          </a:xfrm>
          <a:prstGeom prst="roundRect">
            <a:avLst>
              <a:gd name="adj" fmla="val 15385"/>
            </a:avLst>
          </a:prstGeom>
          <a:solidFill>
            <a:srgbClr val="EAF6FA"/>
          </a:solidFill>
          <a:ln w="8890">
            <a:solidFill>
              <a:srgbClr val="0A7E8C"/>
            </a:solidFill>
            <a:prstDash val="solid"/>
          </a:ln>
        </p:spPr>
      </p:sp>
      <p:sp>
        <p:nvSpPr>
          <p:cNvPr id="110" name="Text 108"/>
          <p:cNvSpPr/>
          <p:nvPr/>
        </p:nvSpPr>
        <p:spPr>
          <a:xfrm>
            <a:off x="4846320" y="4608576"/>
            <a:ext cx="3785616" cy="182880"/>
          </a:xfrm>
          <a:prstGeom prst="rect">
            <a:avLst/>
          </a:prstGeom>
          <a:noFill/>
          <a:ln/>
        </p:spPr>
        <p:txBody>
          <a:bodyPr wrap="square" lIns="0" tIns="0" rIns="0" bIns="0" rtlCol="0" anchor="ctr"/>
          <a:lstStyle/>
          <a:p>
            <a:pPr indent="0" marL="0">
              <a:buNone/>
            </a:pPr>
            <a:r>
              <a:rPr lang="en-US" sz="950" b="1" dirty="0">
                <a:solidFill>
                  <a:srgbClr val="0A7E8C"/>
                </a:solidFill>
                <a:latin typeface="Calibri" pitchFamily="34" charset="0"/>
                <a:ea typeface="Calibri" pitchFamily="34" charset="-122"/>
                <a:cs typeface="Calibri" pitchFamily="34" charset="-120"/>
              </a:rPr>
              <a:t>OR=0.991 → Each credit score point: -0.9% odds</a:t>
            </a:r>
            <a:endParaRPr lang="en-US" sz="950" dirty="0"/>
          </a:p>
        </p:txBody>
      </p:sp>
      <p:sp>
        <p:nvSpPr>
          <p:cNvPr id="111" name="Shape 109"/>
          <p:cNvSpPr/>
          <p:nvPr/>
        </p:nvSpPr>
        <p:spPr>
          <a:xfrm>
            <a:off x="4773168" y="4864608"/>
            <a:ext cx="3950208" cy="237744"/>
          </a:xfrm>
          <a:prstGeom prst="roundRect">
            <a:avLst>
              <a:gd name="adj" fmla="val 15385"/>
            </a:avLst>
          </a:prstGeom>
          <a:solidFill>
            <a:srgbClr val="EAF6FA"/>
          </a:solidFill>
          <a:ln w="8890">
            <a:solidFill>
              <a:srgbClr val="64748B"/>
            </a:solidFill>
            <a:prstDash val="solid"/>
          </a:ln>
        </p:spPr>
      </p:sp>
      <p:sp>
        <p:nvSpPr>
          <p:cNvPr id="112" name="Text 110"/>
          <p:cNvSpPr/>
          <p:nvPr/>
        </p:nvSpPr>
        <p:spPr>
          <a:xfrm>
            <a:off x="4846320" y="4882896"/>
            <a:ext cx="3785616" cy="182880"/>
          </a:xfrm>
          <a:prstGeom prst="rect">
            <a:avLst/>
          </a:prstGeom>
          <a:noFill/>
          <a:ln/>
        </p:spPr>
        <p:txBody>
          <a:bodyPr wrap="square" lIns="0" tIns="0" rIns="0" bIns="0" rtlCol="0" anchor="ctr"/>
          <a:lstStyle/>
          <a:p>
            <a:pPr indent="0" marL="0">
              <a:buNone/>
            </a:pPr>
            <a:r>
              <a:rPr lang="en-US" sz="950" b="1" dirty="0">
                <a:solidFill>
                  <a:srgbClr val="64748B"/>
                </a:solidFill>
                <a:latin typeface="Calibri" pitchFamily="34" charset="0"/>
                <a:ea typeface="Calibri" pitchFamily="34" charset="-122"/>
                <a:cs typeface="Calibri" pitchFamily="34" charset="-120"/>
              </a:rPr>
              <a:t>OR=1.0 → No effect (reference level)</a:t>
            </a:r>
            <a:endParaRPr lang="en-US" sz="950" dirty="0"/>
          </a:p>
        </p:txBody>
      </p:sp>
      <p:sp>
        <p:nvSpPr>
          <p:cNvPr id="113" name="Shape 111"/>
          <p:cNvSpPr/>
          <p:nvPr/>
        </p:nvSpPr>
        <p:spPr>
          <a:xfrm>
            <a:off x="256032" y="5248656"/>
            <a:ext cx="8631936" cy="329184"/>
          </a:xfrm>
          <a:prstGeom prst="roundRect">
            <a:avLst>
              <a:gd name="adj" fmla="val 16667"/>
            </a:avLst>
          </a:prstGeom>
          <a:solidFill>
            <a:srgbClr val="FFFBEC"/>
          </a:solidFill>
          <a:ln w="19050">
            <a:solidFill>
              <a:srgbClr val="D4A010"/>
            </a:solidFill>
            <a:prstDash val="solid"/>
          </a:ln>
        </p:spPr>
      </p:sp>
      <p:sp>
        <p:nvSpPr>
          <p:cNvPr id="114" name="Text 112"/>
          <p:cNvSpPr/>
          <p:nvPr/>
        </p:nvSpPr>
        <p:spPr>
          <a:xfrm>
            <a:off x="384048" y="5248656"/>
            <a:ext cx="8449056" cy="329184"/>
          </a:xfrm>
          <a:prstGeom prst="rect">
            <a:avLst/>
          </a:prstGeom>
          <a:noFill/>
          <a:ln/>
        </p:spPr>
        <p:txBody>
          <a:bodyPr wrap="square" lIns="0" tIns="0" rIns="0" bIns="0" rtlCol="0" anchor="ctr"/>
          <a:lstStyle/>
          <a:p>
            <a:pPr indent="0" marL="0">
              <a:buNone/>
            </a:pPr>
            <a:r>
              <a:rPr lang="en-US" sz="950" i="1" dirty="0">
                <a:solidFill>
                  <a:srgbClr val="5A3800"/>
                </a:solidFill>
                <a:latin typeface="Calibri" pitchFamily="34" charset="0"/>
                <a:ea typeface="Calibri" pitchFamily="34" charset="-122"/>
                <a:cs typeface="Calibri" pitchFamily="34" charset="-120"/>
              </a:rPr>
              <a:t>APA: Binary logistic regression predicted default from income, DTI, existing loan, credit score (N=1,200). Good fit: HL χ²(8)=6.84, p=.554. Nagelkerke R²=.382. AUC=.924. Accuracy=88.2%. Strongest: DTI ratio (OR=6.30, 95%CI [3.57,11.11], p&lt;.001). All four predictors significant.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D4A010">
              <a:alpha val="12000"/>
            </a:srgbClr>
          </a:solidFill>
          <a:ln w="12700">
            <a:solidFill>
              <a:srgbClr val="D4A010"/>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Multinomial and Ordinal Logistic Regression</a:t>
            </a:r>
            <a:endParaRPr lang="en-US" sz="2700" dirty="0"/>
          </a:p>
        </p:txBody>
      </p:sp>
      <p:sp>
        <p:nvSpPr>
          <p:cNvPr id="4" name="Shape 2"/>
          <p:cNvSpPr/>
          <p:nvPr/>
        </p:nvSpPr>
        <p:spPr>
          <a:xfrm>
            <a:off x="274320" y="914400"/>
            <a:ext cx="4160520" cy="4133088"/>
          </a:xfrm>
          <a:prstGeom prst="roundRect">
            <a:avLst>
              <a:gd name="adj" fmla="val 2212"/>
            </a:avLst>
          </a:prstGeom>
          <a:solidFill>
            <a:srgbClr val="0C1428"/>
          </a:solidFill>
          <a:ln w="15240">
            <a:solidFill>
              <a:srgbClr val="9840F0"/>
            </a:solidFill>
            <a:prstDash val="solid"/>
          </a:ln>
        </p:spPr>
      </p:sp>
      <p:sp>
        <p:nvSpPr>
          <p:cNvPr id="5" name="Shape 3"/>
          <p:cNvSpPr/>
          <p:nvPr/>
        </p:nvSpPr>
        <p:spPr>
          <a:xfrm>
            <a:off x="347472" y="987552"/>
            <a:ext cx="4005072" cy="310896"/>
          </a:xfrm>
          <a:prstGeom prst="roundRect">
            <a:avLst>
              <a:gd name="adj" fmla="val 17647"/>
            </a:avLst>
          </a:prstGeom>
          <a:solidFill>
            <a:srgbClr val="6010C8"/>
          </a:solidFill>
          <a:ln w="12700">
            <a:solidFill>
              <a:srgbClr val="6010C8"/>
            </a:solidFill>
            <a:prstDash val="solid"/>
          </a:ln>
        </p:spPr>
      </p:sp>
      <p:sp>
        <p:nvSpPr>
          <p:cNvPr id="6" name="Text 4"/>
          <p:cNvSpPr/>
          <p:nvPr/>
        </p:nvSpPr>
        <p:spPr>
          <a:xfrm>
            <a:off x="347472" y="987552"/>
            <a:ext cx="400507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MULTINOMIAL LOGISTIC</a:t>
            </a:r>
            <a:endParaRPr lang="en-US" sz="1200" dirty="0"/>
          </a:p>
        </p:txBody>
      </p:sp>
      <p:sp>
        <p:nvSpPr>
          <p:cNvPr id="7" name="Text 5"/>
          <p:cNvSpPr/>
          <p:nvPr/>
        </p:nvSpPr>
        <p:spPr>
          <a:xfrm>
            <a:off x="402336" y="1353312"/>
            <a:ext cx="3858768" cy="603504"/>
          </a:xfrm>
          <a:prstGeom prst="rect">
            <a:avLst/>
          </a:prstGeom>
          <a:noFill/>
          <a:ln/>
        </p:spPr>
        <p:txBody>
          <a:bodyPr wrap="square" lIns="0" tIns="0" rIns="0" bIns="0" rtlCol="0" anchor="ctr"/>
          <a:lstStyle/>
          <a:p>
            <a:pPr indent="0" marL="0">
              <a:buNone/>
            </a:pPr>
            <a:r>
              <a:rPr lang="en-US" sz="1000" dirty="0">
                <a:solidFill>
                  <a:srgbClr val="90D8E8"/>
                </a:solidFill>
                <a:latin typeface="Calibri" pitchFamily="34" charset="0"/>
                <a:ea typeface="Calibri" pitchFamily="34" charset="-122"/>
                <a:cs typeface="Calibri" pitchFamily="34" charset="-120"/>
              </a:rPr>
              <a:t>When: 3+ UNORDERED categories</a:t>
            </a:r>
            <a:endParaRPr lang="en-US" sz="1000" dirty="0"/>
          </a:p>
          <a:p>
            <a:pPr indent="0" marL="0">
              <a:buNone/>
            </a:pPr>
            <a:r>
              <a:rPr lang="en-US" sz="1000" dirty="0">
                <a:solidFill>
                  <a:srgbClr val="90D8E8"/>
                </a:solidFill>
                <a:latin typeface="Calibri" pitchFamily="34" charset="0"/>
                <a:ea typeface="Calibri" pitchFamily="34" charset="-122"/>
                <a:cs typeface="Calibri" pitchFamily="34" charset="-120"/>
              </a:rPr>
              <a:t>Model: K-1 separate logit equations vs reference</a:t>
            </a:r>
            <a:endParaRPr lang="en-US" sz="1000" dirty="0"/>
          </a:p>
          <a:p>
            <a:pPr indent="0" marL="0">
              <a:buNone/>
            </a:pPr>
            <a:r>
              <a:rPr lang="en-US" sz="1000" dirty="0">
                <a:solidFill>
                  <a:srgbClr val="90D8E8"/>
                </a:solidFill>
                <a:latin typeface="Calibri" pitchFamily="34" charset="0"/>
                <a:ea typeface="Calibri" pitchFamily="34" charset="-122"/>
                <a:cs typeface="Calibri" pitchFamily="34" charset="-120"/>
              </a:rPr>
              <a:t>Interpret: OR for each category vs reference</a:t>
            </a:r>
            <a:endParaRPr lang="en-US" sz="1000" dirty="0"/>
          </a:p>
        </p:txBody>
      </p:sp>
      <p:sp>
        <p:nvSpPr>
          <p:cNvPr id="8" name="Text 6"/>
          <p:cNvSpPr/>
          <p:nvPr/>
        </p:nvSpPr>
        <p:spPr>
          <a:xfrm>
            <a:off x="402336" y="2011680"/>
            <a:ext cx="3858768" cy="1298448"/>
          </a:xfrm>
          <a:prstGeom prst="rect">
            <a:avLst/>
          </a:prstGeom>
          <a:noFill/>
          <a:ln/>
        </p:spPr>
        <p:txBody>
          <a:bodyPr wrap="square" lIns="0" tIns="0" rIns="0" bIns="0" rtlCol="0" anchor="ctr"/>
          <a:lstStyle/>
          <a:p>
            <a:pPr indent="0" marL="0">
              <a:buNone/>
            </a:pPr>
            <a:r>
              <a:rPr lang="en-US" sz="1000" dirty="0">
                <a:solidFill>
                  <a:srgbClr val="90A8C0"/>
                </a:solidFill>
                <a:latin typeface="Calibri" pitchFamily="34" charset="0"/>
                <a:ea typeface="Calibri" pitchFamily="34" charset="-122"/>
                <a:cs typeface="Calibri" pitchFamily="34" charset="-120"/>
              </a:rPr>
              <a:t>UAC Foods Product Preference: 5 products</a:t>
            </a:r>
            <a:endParaRPr lang="en-US" sz="1000" dirty="0"/>
          </a:p>
          <a:p>
            <a:pPr indent="0" marL="0">
              <a:buNone/>
            </a:pPr>
            <a:r>
              <a:rPr lang="en-US" sz="1000" dirty="0">
                <a:solidFill>
                  <a:srgbClr val="90A8C0"/>
                </a:solidFill>
                <a:latin typeface="Calibri" pitchFamily="34" charset="0"/>
                <a:ea typeface="Calibri" pitchFamily="34" charset="-122"/>
                <a:cs typeface="Calibri" pitchFamily="34" charset="-120"/>
              </a:rPr>
              <a:t>Reference = Gala (largest group)</a:t>
            </a:r>
            <a:endParaRPr lang="en-US" sz="1000" dirty="0"/>
          </a:p>
          <a:p>
            <a:pPr indent="0" marL="0">
              <a:buNone/>
            </a:pPr>
            <a:r>
              <a:rPr lang="en-US" sz="1000" dirty="0">
                <a:solidFill>
                  <a:srgbClr val="90A8C0"/>
                </a:solidFill>
                <a:latin typeface="Calibri" pitchFamily="34" charset="0"/>
                <a:ea typeface="Calibri" pitchFamily="34" charset="-122"/>
                <a:cs typeface="Calibri" pitchFamily="34" charset="-120"/>
              </a:rPr>
              <a:t>OR for Deli vs Gala by Gender (female):</a:t>
            </a:r>
            <a:endParaRPr lang="en-US" sz="1000" dirty="0"/>
          </a:p>
          <a:p>
            <a:pPr indent="0" marL="0">
              <a:buNone/>
            </a:pPr>
            <a:r>
              <a:rPr lang="en-US" sz="1000" dirty="0">
                <a:solidFill>
                  <a:srgbClr val="90A8C0"/>
                </a:solidFill>
                <a:latin typeface="Calibri" pitchFamily="34" charset="0"/>
                <a:ea typeface="Calibri" pitchFamily="34" charset="-122"/>
                <a:cs typeface="Calibri" pitchFamily="34" charset="-120"/>
              </a:rPr>
              <a:t>exp(0.68) = 1.97</a:t>
            </a:r>
            <a:endParaRPr lang="en-US" sz="1000" dirty="0"/>
          </a:p>
          <a:p>
            <a:pPr indent="0" marL="0">
              <a:buNone/>
            </a:pPr>
            <a:r>
              <a:rPr lang="en-US" sz="1000" dirty="0">
                <a:solidFill>
                  <a:srgbClr val="90A8C0"/>
                </a:solidFill>
                <a:latin typeface="Calibri" pitchFamily="34" charset="0"/>
                <a:ea typeface="Calibri" pitchFamily="34" charset="-122"/>
                <a:cs typeface="Calibri" pitchFamily="34" charset="-120"/>
              </a:rPr>
              <a:t>Female consumers have 1.97× the odds of</a:t>
            </a:r>
            <a:endParaRPr lang="en-US" sz="1000" dirty="0"/>
          </a:p>
          <a:p>
            <a:pPr indent="0" marL="0">
              <a:buNone/>
            </a:pPr>
            <a:r>
              <a:rPr lang="en-US" sz="1000" dirty="0">
                <a:solidFill>
                  <a:srgbClr val="90A8C0"/>
                </a:solidFill>
                <a:latin typeface="Calibri" pitchFamily="34" charset="0"/>
                <a:ea typeface="Calibri" pitchFamily="34" charset="-122"/>
                <a:cs typeface="Calibri" pitchFamily="34" charset="-120"/>
              </a:rPr>
              <a:t>preferring Deli over Gala compared to males,</a:t>
            </a:r>
            <a:endParaRPr lang="en-US" sz="1000" dirty="0"/>
          </a:p>
          <a:p>
            <a:pPr indent="0" marL="0">
              <a:buNone/>
            </a:pPr>
            <a:r>
              <a:rPr lang="en-US" sz="1000" dirty="0">
                <a:solidFill>
                  <a:srgbClr val="90A8C0"/>
                </a:solidFill>
                <a:latin typeface="Calibri" pitchFamily="34" charset="0"/>
                <a:ea typeface="Calibri" pitchFamily="34" charset="-122"/>
                <a:cs typeface="Calibri" pitchFamily="34" charset="-120"/>
              </a:rPr>
              <a:t>all else equal.</a:t>
            </a:r>
            <a:endParaRPr lang="en-US" sz="1000" dirty="0"/>
          </a:p>
        </p:txBody>
      </p:sp>
      <p:sp>
        <p:nvSpPr>
          <p:cNvPr id="9" name="Text 7"/>
          <p:cNvSpPr/>
          <p:nvPr/>
        </p:nvSpPr>
        <p:spPr>
          <a:xfrm>
            <a:off x="402336" y="3364992"/>
            <a:ext cx="3858768" cy="621792"/>
          </a:xfrm>
          <a:prstGeom prst="rect">
            <a:avLst/>
          </a:prstGeom>
          <a:noFill/>
          <a:ln/>
        </p:spPr>
        <p:txBody>
          <a:bodyPr wrap="square" lIns="0" tIns="0" rIns="0" bIns="0" rtlCol="0" anchor="ctr"/>
          <a:lstStyle/>
          <a:p>
            <a:pPr indent="0" marL="0">
              <a:buNone/>
            </a:pPr>
            <a:r>
              <a:rPr lang="en-US" sz="950" dirty="0">
                <a:solidFill>
                  <a:srgbClr val="F0C840"/>
                </a:solidFill>
                <a:latin typeface="Calibri" pitchFamily="34" charset="0"/>
                <a:ea typeface="Calibri" pitchFamily="34" charset="-122"/>
                <a:cs typeface="Calibri" pitchFamily="34" charset="-120"/>
              </a:rPr>
              <a:t>SPSS: Analyze &gt; Regression &gt; Multinomial Logistic.</a:t>
            </a:r>
            <a:endParaRPr lang="en-US" sz="950" dirty="0"/>
          </a:p>
          <a:p>
            <a:pPr indent="0" marL="0">
              <a:buNone/>
            </a:pPr>
            <a:r>
              <a:rPr lang="en-US" sz="950" dirty="0">
                <a:solidFill>
                  <a:srgbClr val="F0C840"/>
                </a:solidFill>
                <a:latin typeface="Calibri" pitchFamily="34" charset="0"/>
                <a:ea typeface="Calibri" pitchFamily="34" charset="-122"/>
                <a:cs typeface="Calibri" pitchFamily="34" charset="-120"/>
              </a:rPr>
              <a:t>Specify reference category. Report per-category OR</a:t>
            </a:r>
            <a:endParaRPr lang="en-US" sz="950" dirty="0"/>
          </a:p>
          <a:p>
            <a:pPr indent="0" marL="0">
              <a:buNone/>
            </a:pPr>
            <a:r>
              <a:rPr lang="en-US" sz="950" dirty="0">
                <a:solidFill>
                  <a:srgbClr val="F0C840"/>
                </a:solidFill>
                <a:latin typeface="Calibri" pitchFamily="34" charset="0"/>
                <a:ea typeface="Calibri" pitchFamily="34" charset="-122"/>
                <a:cs typeface="Calibri" pitchFamily="34" charset="-120"/>
              </a:rPr>
              <a:t>and 95% CI from the Parameter Estimates table.</a:t>
            </a:r>
            <a:endParaRPr lang="en-US" sz="950" dirty="0"/>
          </a:p>
        </p:txBody>
      </p:sp>
      <p:sp>
        <p:nvSpPr>
          <p:cNvPr id="10" name="Text 8"/>
          <p:cNvSpPr/>
          <p:nvPr/>
        </p:nvSpPr>
        <p:spPr>
          <a:xfrm>
            <a:off x="402336" y="4059936"/>
            <a:ext cx="3858768" cy="475488"/>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Use when outcome is a multi-choice variable with NO natural ordering (brand preference, employment sector, disease type)</a:t>
            </a:r>
            <a:endParaRPr lang="en-US" sz="900" dirty="0"/>
          </a:p>
        </p:txBody>
      </p:sp>
      <p:sp>
        <p:nvSpPr>
          <p:cNvPr id="11" name="Shape 9"/>
          <p:cNvSpPr/>
          <p:nvPr/>
        </p:nvSpPr>
        <p:spPr>
          <a:xfrm>
            <a:off x="4681728" y="914400"/>
            <a:ext cx="4160520" cy="4133088"/>
          </a:xfrm>
          <a:prstGeom prst="roundRect">
            <a:avLst>
              <a:gd name="adj" fmla="val 2212"/>
            </a:avLst>
          </a:prstGeom>
          <a:solidFill>
            <a:srgbClr val="0C1428"/>
          </a:solidFill>
          <a:ln w="15240">
            <a:solidFill>
              <a:srgbClr val="9840F0"/>
            </a:solidFill>
            <a:prstDash val="solid"/>
          </a:ln>
        </p:spPr>
      </p:sp>
      <p:sp>
        <p:nvSpPr>
          <p:cNvPr id="12" name="Shape 10"/>
          <p:cNvSpPr/>
          <p:nvPr/>
        </p:nvSpPr>
        <p:spPr>
          <a:xfrm>
            <a:off x="4754880" y="987552"/>
            <a:ext cx="4005072" cy="310896"/>
          </a:xfrm>
          <a:prstGeom prst="roundRect">
            <a:avLst>
              <a:gd name="adj" fmla="val 17647"/>
            </a:avLst>
          </a:prstGeom>
          <a:solidFill>
            <a:srgbClr val="9840F0"/>
          </a:solidFill>
          <a:ln w="12700">
            <a:solidFill>
              <a:srgbClr val="9840F0"/>
            </a:solidFill>
            <a:prstDash val="solid"/>
          </a:ln>
        </p:spPr>
      </p:sp>
      <p:sp>
        <p:nvSpPr>
          <p:cNvPr id="13" name="Text 11"/>
          <p:cNvSpPr/>
          <p:nvPr/>
        </p:nvSpPr>
        <p:spPr>
          <a:xfrm>
            <a:off x="4754880" y="987552"/>
            <a:ext cx="4005072" cy="310896"/>
          </a:xfrm>
          <a:prstGeom prst="rect">
            <a:avLst/>
          </a:prstGeom>
          <a:noFill/>
          <a:ln/>
        </p:spPr>
        <p:txBody>
          <a:bodyPr wrap="square" lIns="0" tIns="0" rIns="0" bIns="0" rtlCol="0" anchor="ctr"/>
          <a:lstStyle/>
          <a:p>
            <a:pPr algn="ctr" indent="0" marL="0">
              <a:buNone/>
            </a:pPr>
            <a:r>
              <a:rPr lang="en-US" sz="1200" b="1" dirty="0">
                <a:solidFill>
                  <a:srgbClr val="070C18"/>
                </a:solidFill>
                <a:latin typeface="Calibri" pitchFamily="34" charset="0"/>
                <a:ea typeface="Calibri" pitchFamily="34" charset="-122"/>
                <a:cs typeface="Calibri" pitchFamily="34" charset="-120"/>
              </a:rPr>
              <a:t>ORDINAL LOGISTIC (PROP. ODDS)</a:t>
            </a:r>
            <a:endParaRPr lang="en-US" sz="1200" dirty="0"/>
          </a:p>
        </p:txBody>
      </p:sp>
      <p:sp>
        <p:nvSpPr>
          <p:cNvPr id="14" name="Text 12"/>
          <p:cNvSpPr/>
          <p:nvPr/>
        </p:nvSpPr>
        <p:spPr>
          <a:xfrm>
            <a:off x="4828032" y="1353312"/>
            <a:ext cx="3858768" cy="603504"/>
          </a:xfrm>
          <a:prstGeom prst="rect">
            <a:avLst/>
          </a:prstGeom>
          <a:noFill/>
          <a:ln/>
        </p:spPr>
        <p:txBody>
          <a:bodyPr wrap="square" lIns="0" tIns="0" rIns="0" bIns="0" rtlCol="0" anchor="ctr"/>
          <a:lstStyle/>
          <a:p>
            <a:pPr indent="0" marL="0">
              <a:buNone/>
            </a:pPr>
            <a:r>
              <a:rPr lang="en-US" sz="1000" dirty="0">
                <a:solidFill>
                  <a:srgbClr val="90D8E8"/>
                </a:solidFill>
                <a:latin typeface="Calibri" pitchFamily="34" charset="0"/>
                <a:ea typeface="Calibri" pitchFamily="34" charset="-122"/>
                <a:cs typeface="Calibri" pitchFamily="34" charset="-120"/>
              </a:rPr>
              <a:t>When: 3+ ORDERED categories</a:t>
            </a:r>
            <a:endParaRPr lang="en-US" sz="1000" dirty="0"/>
          </a:p>
          <a:p>
            <a:pPr indent="0" marL="0">
              <a:buNone/>
            </a:pPr>
            <a:r>
              <a:rPr lang="en-US" sz="1000" dirty="0">
                <a:solidFill>
                  <a:srgbClr val="90D8E8"/>
                </a:solidFill>
                <a:latin typeface="Calibri" pitchFamily="34" charset="0"/>
                <a:ea typeface="Calibri" pitchFamily="34" charset="-122"/>
                <a:cs typeface="Calibri" pitchFamily="34" charset="-120"/>
              </a:rPr>
              <a:t>Model: K-1 cumulative logit equations, SHARED slopes</a:t>
            </a:r>
            <a:endParaRPr lang="en-US" sz="1000" dirty="0"/>
          </a:p>
          <a:p>
            <a:pPr indent="0" marL="0">
              <a:buNone/>
            </a:pPr>
            <a:r>
              <a:rPr lang="en-US" sz="1000" dirty="0">
                <a:solidFill>
                  <a:srgbClr val="90D8E8"/>
                </a:solidFill>
                <a:latin typeface="Calibri" pitchFamily="34" charset="0"/>
                <a:ea typeface="Calibri" pitchFamily="34" charset="-122"/>
                <a:cs typeface="Calibri" pitchFamily="34" charset="-120"/>
              </a:rPr>
              <a:t>Assumption: Proportional Odds (parallel slopes)</a:t>
            </a:r>
            <a:endParaRPr lang="en-US" sz="1000" dirty="0"/>
          </a:p>
        </p:txBody>
      </p:sp>
      <p:sp>
        <p:nvSpPr>
          <p:cNvPr id="15" name="Text 13"/>
          <p:cNvSpPr/>
          <p:nvPr/>
        </p:nvSpPr>
        <p:spPr>
          <a:xfrm>
            <a:off x="4828032" y="2011680"/>
            <a:ext cx="3858768" cy="1298448"/>
          </a:xfrm>
          <a:prstGeom prst="rect">
            <a:avLst/>
          </a:prstGeom>
          <a:noFill/>
          <a:ln/>
        </p:spPr>
        <p:txBody>
          <a:bodyPr wrap="square" lIns="0" tIns="0" rIns="0" bIns="0" rtlCol="0" anchor="ctr"/>
          <a:lstStyle/>
          <a:p>
            <a:pPr indent="0" marL="0">
              <a:buNone/>
            </a:pPr>
            <a:r>
              <a:rPr lang="en-US" sz="1000" dirty="0">
                <a:solidFill>
                  <a:srgbClr val="90A8C0"/>
                </a:solidFill>
                <a:latin typeface="Calibri" pitchFamily="34" charset="0"/>
                <a:ea typeface="Calibri" pitchFamily="34" charset="-122"/>
                <a:cs typeface="Calibri" pitchFamily="34" charset="-120"/>
              </a:rPr>
              <a:t>Customer Satisfaction 1-5 (Very Poor to Excellent)</a:t>
            </a:r>
            <a:endParaRPr lang="en-US" sz="1000" dirty="0"/>
          </a:p>
          <a:p>
            <a:pPr indent="0" marL="0">
              <a:buNone/>
            </a:pPr>
            <a:r>
              <a:rPr lang="en-US" sz="1000" dirty="0">
                <a:solidFill>
                  <a:srgbClr val="90A8C0"/>
                </a:solidFill>
                <a:latin typeface="Calibri" pitchFamily="34" charset="0"/>
                <a:ea typeface="Calibri" pitchFamily="34" charset="-122"/>
                <a:cs typeface="Calibri" pitchFamily="34" charset="-120"/>
              </a:rPr>
              <a:t>Model: ln[P(Y≤k)/P(Y&gt;k)] = αₖ - b₁X₁ - b₂X₂</a:t>
            </a:r>
            <a:endParaRPr lang="en-US" sz="1000" dirty="0"/>
          </a:p>
          <a:p>
            <a:pPr indent="0" marL="0">
              <a:buNone/>
            </a:pPr>
            <a:r>
              <a:rPr lang="en-US" sz="1000" dirty="0">
                <a:solidFill>
                  <a:srgbClr val="90A8C0"/>
                </a:solidFill>
                <a:latin typeface="Calibri" pitchFamily="34" charset="0"/>
                <a:ea typeface="Calibri" pitchFamily="34" charset="-122"/>
                <a:cs typeface="Calibri" pitchFamily="34" charset="-120"/>
              </a:rPr>
              <a:t>Predictor: service_quality_score (0-10)</a:t>
            </a:r>
            <a:endParaRPr lang="en-US" sz="1000" dirty="0"/>
          </a:p>
          <a:p>
            <a:pPr indent="0" marL="0">
              <a:buNone/>
            </a:pPr>
            <a:r>
              <a:rPr lang="en-US" sz="1000" dirty="0">
                <a:solidFill>
                  <a:srgbClr val="90A8C0"/>
                </a:solidFill>
                <a:latin typeface="Calibri" pitchFamily="34" charset="0"/>
                <a:ea typeface="Calibri" pitchFamily="34" charset="-122"/>
                <a:cs typeface="Calibri" pitchFamily="34" charset="-120"/>
              </a:rPr>
              <a:t>b = 0.48, OR = exp(0.48) = 1.62</a:t>
            </a:r>
            <a:endParaRPr lang="en-US" sz="1000" dirty="0"/>
          </a:p>
          <a:p>
            <a:pPr indent="0" marL="0">
              <a:buNone/>
            </a:pPr>
            <a:r>
              <a:rPr lang="en-US" sz="1000" dirty="0">
                <a:solidFill>
                  <a:srgbClr val="90A8C0"/>
                </a:solidFill>
                <a:latin typeface="Calibri" pitchFamily="34" charset="0"/>
                <a:ea typeface="Calibri" pitchFamily="34" charset="-122"/>
                <a:cs typeface="Calibri" pitchFamily="34" charset="-120"/>
              </a:rPr>
              <a:t>Each quality point multiplies odds of being in</a:t>
            </a:r>
            <a:endParaRPr lang="en-US" sz="1000" dirty="0"/>
          </a:p>
          <a:p>
            <a:pPr indent="0" marL="0">
              <a:buNone/>
            </a:pPr>
            <a:r>
              <a:rPr lang="en-US" sz="1000" dirty="0">
                <a:solidFill>
                  <a:srgbClr val="90A8C0"/>
                </a:solidFill>
                <a:latin typeface="Calibri" pitchFamily="34" charset="0"/>
                <a:ea typeface="Calibri" pitchFamily="34" charset="-122"/>
                <a:cs typeface="Calibri" pitchFamily="34" charset="-120"/>
              </a:rPr>
              <a:t>a HIGHER satisfaction category by 1.62.</a:t>
            </a:r>
            <a:endParaRPr lang="en-US" sz="1000" dirty="0"/>
          </a:p>
        </p:txBody>
      </p:sp>
      <p:sp>
        <p:nvSpPr>
          <p:cNvPr id="16" name="Text 14"/>
          <p:cNvSpPr/>
          <p:nvPr/>
        </p:nvSpPr>
        <p:spPr>
          <a:xfrm>
            <a:off x="4828032" y="3364992"/>
            <a:ext cx="3858768" cy="621792"/>
          </a:xfrm>
          <a:prstGeom prst="rect">
            <a:avLst/>
          </a:prstGeom>
          <a:noFill/>
          <a:ln/>
        </p:spPr>
        <p:txBody>
          <a:bodyPr wrap="square" lIns="0" tIns="0" rIns="0" bIns="0" rtlCol="0" anchor="ctr"/>
          <a:lstStyle/>
          <a:p>
            <a:pPr indent="0" marL="0">
              <a:buNone/>
            </a:pPr>
            <a:r>
              <a:rPr lang="en-US" sz="950" dirty="0">
                <a:solidFill>
                  <a:srgbClr val="E03020"/>
                </a:solidFill>
                <a:latin typeface="Calibri" pitchFamily="34" charset="0"/>
                <a:ea typeface="Calibri" pitchFamily="34" charset="-122"/>
                <a:cs typeface="Calibri" pitchFamily="34" charset="-120"/>
              </a:rPr>
              <a:t>CRITICAL CHECK: Test of Parallel Lines (SPSS Output).</a:t>
            </a:r>
            <a:endParaRPr lang="en-US" sz="950" dirty="0"/>
          </a:p>
          <a:p>
            <a:pPr indent="0" marL="0">
              <a:buNone/>
            </a:pPr>
            <a:r>
              <a:rPr lang="en-US" sz="950" dirty="0">
                <a:solidFill>
                  <a:srgbClr val="E03020"/>
                </a:solidFill>
                <a:latin typeface="Calibri" pitchFamily="34" charset="0"/>
                <a:ea typeface="Calibri" pitchFamily="34" charset="-122"/>
                <a:cs typeface="Calibri" pitchFamily="34" charset="-120"/>
              </a:rPr>
              <a:t>p &gt; .05 = proportional odds assumption HOLDS.</a:t>
            </a:r>
            <a:endParaRPr lang="en-US" sz="950" dirty="0"/>
          </a:p>
          <a:p>
            <a:pPr indent="0" marL="0">
              <a:buNone/>
            </a:pPr>
            <a:r>
              <a:rPr lang="en-US" sz="950" dirty="0">
                <a:solidFill>
                  <a:srgbClr val="E03020"/>
                </a:solidFill>
                <a:latin typeface="Calibri" pitchFamily="34" charset="0"/>
                <a:ea typeface="Calibri" pitchFamily="34" charset="-122"/>
                <a:cs typeface="Calibri" pitchFamily="34" charset="-120"/>
              </a:rPr>
              <a:t>p &lt; .05 = assumption violated → use multinomial instead.</a:t>
            </a:r>
            <a:endParaRPr lang="en-US" sz="950" dirty="0"/>
          </a:p>
        </p:txBody>
      </p:sp>
      <p:sp>
        <p:nvSpPr>
          <p:cNvPr id="17" name="Text 15"/>
          <p:cNvSpPr/>
          <p:nvPr/>
        </p:nvSpPr>
        <p:spPr>
          <a:xfrm>
            <a:off x="4828032" y="4059936"/>
            <a:ext cx="3858768" cy="475488"/>
          </a:xfrm>
          <a:prstGeom prst="rect">
            <a:avLst/>
          </a:prstGeom>
          <a:noFill/>
          <a:ln/>
        </p:spPr>
        <p:txBody>
          <a:bodyPr wrap="square" lIns="0" tIns="0" rIns="0" bIns="0" rtlCol="0" anchor="ctr"/>
          <a:lstStyle/>
          <a:p>
            <a:pPr indent="0" marL="0">
              <a:buNone/>
            </a:pPr>
            <a:r>
              <a:rPr lang="en-US" sz="900" i="1" dirty="0">
                <a:solidFill>
                  <a:srgbClr val="F0C840"/>
                </a:solidFill>
                <a:latin typeface="Calibri" pitchFamily="34" charset="0"/>
                <a:ea typeface="Calibri" pitchFamily="34" charset="-122"/>
                <a:cs typeface="Calibri" pitchFamily="34" charset="-120"/>
              </a:rPr>
              <a:t>SPSS: Analyze &gt; Regression &gt; Ordinal. Output → Parameter Estimates + Test of Parallel Lines.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REGRESSION  |  SECTION 06</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Ridge, Lasso and Elastic Net</a:t>
            </a:r>
            <a:endParaRPr lang="en-US" sz="36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Regularisation for high-dimensional, correlated, and sparse data</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Regularised Regression - From OLS Breakdown to Ridge, Lasso and Elastic Net</a:t>
            </a:r>
            <a:endParaRPr lang="en-US" sz="2100" dirty="0"/>
          </a:p>
        </p:txBody>
      </p:sp>
      <p:sp>
        <p:nvSpPr>
          <p:cNvPr id="4" name="Shape 2"/>
          <p:cNvSpPr/>
          <p:nvPr/>
        </p:nvSpPr>
        <p:spPr>
          <a:xfrm>
            <a:off x="256032" y="1024128"/>
            <a:ext cx="8631936" cy="420624"/>
          </a:xfrm>
          <a:prstGeom prst="roundRect">
            <a:avLst>
              <a:gd name="adj" fmla="val 15217"/>
            </a:avLst>
          </a:prstGeom>
          <a:solidFill>
            <a:srgbClr val="0C1428"/>
          </a:solidFill>
          <a:ln w="10160">
            <a:solidFill>
              <a:srgbClr val="14B8C8"/>
            </a:solidFill>
            <a:prstDash val="solid"/>
          </a:ln>
        </p:spPr>
      </p:sp>
      <p:sp>
        <p:nvSpPr>
          <p:cNvPr id="5" name="Text 3"/>
          <p:cNvSpPr/>
          <p:nvPr/>
        </p:nvSpPr>
        <p:spPr>
          <a:xfrm>
            <a:off x="384048" y="1042416"/>
            <a:ext cx="8321040" cy="365760"/>
          </a:xfrm>
          <a:prstGeom prst="rect">
            <a:avLst/>
          </a:prstGeom>
          <a:noFill/>
          <a:ln/>
        </p:spPr>
        <p:txBody>
          <a:bodyPr wrap="square" lIns="0" tIns="0" rIns="0" bIns="0" rtlCol="0" anchor="ctr"/>
          <a:lstStyle/>
          <a:p>
            <a:pPr algn="ctr" indent="0" marL="0">
              <a:buNone/>
            </a:pPr>
            <a:r>
              <a:rPr lang="en-US" sz="1200" b="1" dirty="0">
                <a:solidFill>
                  <a:srgbClr val="14B8C8"/>
                </a:solidFill>
                <a:latin typeface="Courier New" pitchFamily="34" charset="0"/>
                <a:ea typeface="Courier New" pitchFamily="34" charset="-122"/>
                <a:cs typeface="Courier New" pitchFamily="34" charset="-120"/>
              </a:rPr>
              <a:t>Standard OLS: minimise SSR     →     Regularised: minimise  SSR  +  λ × Penalty(β)     [Choose λ by k-fold cross-validation]</a:t>
            </a:r>
            <a:endParaRPr lang="en-US" sz="1200" dirty="0"/>
          </a:p>
        </p:txBody>
      </p:sp>
      <p:sp>
        <p:nvSpPr>
          <p:cNvPr id="6" name="Shape 4"/>
          <p:cNvSpPr/>
          <p:nvPr/>
        </p:nvSpPr>
        <p:spPr>
          <a:xfrm>
            <a:off x="201168" y="1536192"/>
            <a:ext cx="2834640" cy="3547872"/>
          </a:xfrm>
          <a:prstGeom prst="roundRect">
            <a:avLst>
              <a:gd name="adj" fmla="val 2903"/>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7" name="Shape 5"/>
          <p:cNvSpPr/>
          <p:nvPr/>
        </p:nvSpPr>
        <p:spPr>
          <a:xfrm>
            <a:off x="256032" y="1609344"/>
            <a:ext cx="2724912" cy="329184"/>
          </a:xfrm>
          <a:prstGeom prst="roundRect">
            <a:avLst>
              <a:gd name="adj" fmla="val 16667"/>
            </a:avLst>
          </a:prstGeom>
          <a:solidFill>
            <a:srgbClr val="14B8C8"/>
          </a:solidFill>
          <a:ln w="12700">
            <a:solidFill>
              <a:srgbClr val="14B8C8"/>
            </a:solidFill>
            <a:prstDash val="solid"/>
          </a:ln>
        </p:spPr>
      </p:sp>
      <p:sp>
        <p:nvSpPr>
          <p:cNvPr id="8" name="Text 6"/>
          <p:cNvSpPr/>
          <p:nvPr/>
        </p:nvSpPr>
        <p:spPr>
          <a:xfrm>
            <a:off x="256032" y="1609344"/>
            <a:ext cx="2724912" cy="329184"/>
          </a:xfrm>
          <a:prstGeom prst="rect">
            <a:avLst/>
          </a:prstGeom>
          <a:noFill/>
          <a:ln/>
        </p:spPr>
        <p:txBody>
          <a:bodyPr wrap="square" lIns="0" tIns="0" rIns="0" bIns="0" rtlCol="0" anchor="ctr"/>
          <a:lstStyle/>
          <a:p>
            <a:pPr algn="ctr" indent="0" marL="0">
              <a:buNone/>
            </a:pPr>
            <a:r>
              <a:rPr lang="en-US" sz="1200" b="1" dirty="0">
                <a:solidFill>
                  <a:srgbClr val="070C18"/>
                </a:solidFill>
                <a:latin typeface="Calibri" pitchFamily="34" charset="0"/>
                <a:ea typeface="Calibri" pitchFamily="34" charset="-122"/>
                <a:cs typeface="Calibri" pitchFamily="34" charset="-120"/>
              </a:rPr>
              <a:t>RIDGE (L2)</a:t>
            </a:r>
            <a:endParaRPr lang="en-US" sz="1200" dirty="0"/>
          </a:p>
        </p:txBody>
      </p:sp>
      <p:sp>
        <p:nvSpPr>
          <p:cNvPr id="9" name="Text 7"/>
          <p:cNvSpPr/>
          <p:nvPr/>
        </p:nvSpPr>
        <p:spPr>
          <a:xfrm>
            <a:off x="292608" y="1993392"/>
            <a:ext cx="2633472" cy="237744"/>
          </a:xfrm>
          <a:prstGeom prst="rect">
            <a:avLst/>
          </a:prstGeom>
          <a:noFill/>
          <a:ln/>
        </p:spPr>
        <p:txBody>
          <a:bodyPr wrap="square" lIns="0" tIns="0" rIns="0" bIns="0" rtlCol="0" anchor="ctr"/>
          <a:lstStyle/>
          <a:p>
            <a:pPr algn="ctr" indent="0" marL="0">
              <a:buNone/>
            </a:pPr>
            <a:r>
              <a:rPr lang="en-US" sz="1050" b="1" dirty="0">
                <a:solidFill>
                  <a:srgbClr val="14B8C8"/>
                </a:solidFill>
                <a:latin typeface="Courier New" pitchFamily="34" charset="0"/>
                <a:ea typeface="Courier New" pitchFamily="34" charset="-122"/>
                <a:cs typeface="Courier New" pitchFamily="34" charset="-120"/>
              </a:rPr>
              <a:t>SSR + λ Σβⱼ²</a:t>
            </a:r>
            <a:endParaRPr lang="en-US" sz="1050" dirty="0"/>
          </a:p>
        </p:txBody>
      </p:sp>
      <p:sp>
        <p:nvSpPr>
          <p:cNvPr id="10" name="Text 8"/>
          <p:cNvSpPr/>
          <p:nvPr/>
        </p:nvSpPr>
        <p:spPr>
          <a:xfrm>
            <a:off x="292608" y="2267712"/>
            <a:ext cx="2633472" cy="45720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SHRINKS all toward zero. NONE reach exactly zero. ALL predictors kept.</a:t>
            </a:r>
            <a:endParaRPr lang="en-US" sz="900" dirty="0"/>
          </a:p>
        </p:txBody>
      </p:sp>
      <p:sp>
        <p:nvSpPr>
          <p:cNvPr id="11" name="Text 9"/>
          <p:cNvSpPr/>
          <p:nvPr/>
        </p:nvSpPr>
        <p:spPr>
          <a:xfrm>
            <a:off x="292608" y="2761488"/>
            <a:ext cx="2633472" cy="237744"/>
          </a:xfrm>
          <a:prstGeom prst="rect">
            <a:avLst/>
          </a:prstGeom>
          <a:noFill/>
          <a:ln/>
        </p:spPr>
        <p:txBody>
          <a:bodyPr wrap="square" lIns="0" tIns="0" rIns="0" bIns="0" rtlCol="0" anchor="ctr"/>
          <a:lstStyle/>
          <a:p>
            <a:pPr indent="0" marL="0">
              <a:buNone/>
            </a:pPr>
            <a:r>
              <a:rPr lang="en-US" sz="900" dirty="0">
                <a:solidFill>
                  <a:srgbClr val="0A8A50"/>
                </a:solidFill>
                <a:latin typeface="Calibri" pitchFamily="34" charset="0"/>
                <a:ea typeface="Calibri" pitchFamily="34" charset="-122"/>
                <a:cs typeface="Calibri" pitchFamily="34" charset="-120"/>
              </a:rPr>
              <a:t>+  Excellent for multicollinearity</a:t>
            </a:r>
            <a:endParaRPr lang="en-US" sz="900" dirty="0"/>
          </a:p>
        </p:txBody>
      </p:sp>
      <p:sp>
        <p:nvSpPr>
          <p:cNvPr id="12" name="Text 10"/>
          <p:cNvSpPr/>
          <p:nvPr/>
        </p:nvSpPr>
        <p:spPr>
          <a:xfrm>
            <a:off x="292608" y="3035808"/>
            <a:ext cx="2633472" cy="237744"/>
          </a:xfrm>
          <a:prstGeom prst="rect">
            <a:avLst/>
          </a:prstGeom>
          <a:noFill/>
          <a:ln/>
        </p:spPr>
        <p:txBody>
          <a:bodyPr wrap="square" lIns="0" tIns="0" rIns="0" bIns="0" rtlCol="0" anchor="ctr"/>
          <a:lstStyle/>
          <a:p>
            <a:pPr indent="0" marL="0">
              <a:buNone/>
            </a:pPr>
            <a:r>
              <a:rPr lang="en-US" sz="900" dirty="0">
                <a:solidFill>
                  <a:srgbClr val="0A8A50"/>
                </a:solidFill>
                <a:latin typeface="Calibri" pitchFamily="34" charset="0"/>
                <a:ea typeface="Calibri" pitchFamily="34" charset="-122"/>
                <a:cs typeface="Calibri" pitchFamily="34" charset="-120"/>
              </a:rPr>
              <a:t>+  Distributes weight among correlated group</a:t>
            </a:r>
            <a:endParaRPr lang="en-US" sz="900" dirty="0"/>
          </a:p>
        </p:txBody>
      </p:sp>
      <p:sp>
        <p:nvSpPr>
          <p:cNvPr id="13" name="Text 11"/>
          <p:cNvSpPr/>
          <p:nvPr/>
        </p:nvSpPr>
        <p:spPr>
          <a:xfrm>
            <a:off x="292608" y="3310128"/>
            <a:ext cx="2633472" cy="237744"/>
          </a:xfrm>
          <a:prstGeom prst="rect">
            <a:avLst/>
          </a:prstGeom>
          <a:noFill/>
          <a:ln/>
        </p:spPr>
        <p:txBody>
          <a:bodyPr wrap="square" lIns="0" tIns="0" rIns="0" bIns="0" rtlCol="0" anchor="ctr"/>
          <a:lstStyle/>
          <a:p>
            <a:pPr indent="0" marL="0">
              <a:buNone/>
            </a:pPr>
            <a:r>
              <a:rPr lang="en-US" sz="900" dirty="0">
                <a:solidFill>
                  <a:srgbClr val="0A8A50"/>
                </a:solidFill>
                <a:latin typeface="Calibri" pitchFamily="34" charset="0"/>
                <a:ea typeface="Calibri" pitchFamily="34" charset="-122"/>
                <a:cs typeface="Calibri" pitchFamily="34" charset="-120"/>
              </a:rPr>
              <a:t>+  Always has a unique solution</a:t>
            </a:r>
            <a:endParaRPr lang="en-US" sz="900" dirty="0"/>
          </a:p>
        </p:txBody>
      </p:sp>
      <p:sp>
        <p:nvSpPr>
          <p:cNvPr id="14" name="Text 12"/>
          <p:cNvSpPr/>
          <p:nvPr/>
        </p:nvSpPr>
        <p:spPr>
          <a:xfrm>
            <a:off x="292608" y="3584448"/>
            <a:ext cx="2633472" cy="219456"/>
          </a:xfrm>
          <a:prstGeom prst="rect">
            <a:avLst/>
          </a:prstGeom>
          <a:noFill/>
          <a:ln/>
        </p:spPr>
        <p:txBody>
          <a:bodyPr wrap="square" lIns="0" tIns="0" rIns="0" bIns="0" rtlCol="0" anchor="ctr"/>
          <a:lstStyle/>
          <a:p>
            <a:pPr indent="0" marL="0">
              <a:buNone/>
            </a:pPr>
            <a:r>
              <a:rPr lang="en-US" sz="850" dirty="0">
                <a:solidFill>
                  <a:srgbClr val="E03020"/>
                </a:solidFill>
                <a:latin typeface="Calibri" pitchFamily="34" charset="0"/>
                <a:ea typeface="Calibri" pitchFamily="34" charset="-122"/>
                <a:cs typeface="Calibri" pitchFamily="34" charset="-120"/>
              </a:rPr>
              <a:t>–  No variable selection</a:t>
            </a:r>
            <a:endParaRPr lang="en-US" sz="850" dirty="0"/>
          </a:p>
        </p:txBody>
      </p:sp>
      <p:sp>
        <p:nvSpPr>
          <p:cNvPr id="15" name="Text 13"/>
          <p:cNvSpPr/>
          <p:nvPr/>
        </p:nvSpPr>
        <p:spPr>
          <a:xfrm>
            <a:off x="292608" y="3822192"/>
            <a:ext cx="2633472" cy="219456"/>
          </a:xfrm>
          <a:prstGeom prst="rect">
            <a:avLst/>
          </a:prstGeom>
          <a:noFill/>
          <a:ln/>
        </p:spPr>
        <p:txBody>
          <a:bodyPr wrap="square" lIns="0" tIns="0" rIns="0" bIns="0" rtlCol="0" anchor="ctr"/>
          <a:lstStyle/>
          <a:p>
            <a:pPr indent="0" marL="0">
              <a:buNone/>
            </a:pPr>
            <a:r>
              <a:rPr lang="en-US" sz="850" dirty="0">
                <a:solidFill>
                  <a:srgbClr val="E03020"/>
                </a:solidFill>
                <a:latin typeface="Calibri" pitchFamily="34" charset="0"/>
                <a:ea typeface="Calibri" pitchFamily="34" charset="-122"/>
                <a:cs typeface="Calibri" pitchFamily="34" charset="-120"/>
              </a:rPr>
              <a:t>–  All p predictors kept even if irrelevant</a:t>
            </a:r>
            <a:endParaRPr lang="en-US" sz="850" dirty="0"/>
          </a:p>
        </p:txBody>
      </p:sp>
      <p:sp>
        <p:nvSpPr>
          <p:cNvPr id="16" name="Text 14"/>
          <p:cNvSpPr/>
          <p:nvPr/>
        </p:nvSpPr>
        <p:spPr>
          <a:xfrm>
            <a:off x="292608" y="4059936"/>
            <a:ext cx="2633472" cy="219456"/>
          </a:xfrm>
          <a:prstGeom prst="rect">
            <a:avLst/>
          </a:prstGeom>
          <a:noFill/>
          <a:ln/>
        </p:spPr>
        <p:txBody>
          <a:bodyPr wrap="square" lIns="0" tIns="0" rIns="0" bIns="0" rtlCol="0" anchor="ctr"/>
          <a:lstStyle/>
          <a:p>
            <a:pPr indent="0" marL="0">
              <a:buNone/>
            </a:pPr>
            <a:r>
              <a:rPr lang="en-US" sz="850" dirty="0">
                <a:solidFill>
                  <a:srgbClr val="E03020"/>
                </a:solidFill>
                <a:latin typeface="Calibri" pitchFamily="34" charset="0"/>
                <a:ea typeface="Calibri" pitchFamily="34" charset="-122"/>
                <a:cs typeface="Calibri" pitchFamily="34" charset="-120"/>
              </a:rPr>
              <a:t>–  Less sparse/interpretable</a:t>
            </a:r>
            <a:endParaRPr lang="en-US" sz="850" dirty="0"/>
          </a:p>
        </p:txBody>
      </p:sp>
      <p:sp>
        <p:nvSpPr>
          <p:cNvPr id="17" name="Text 15"/>
          <p:cNvSpPr/>
          <p:nvPr/>
        </p:nvSpPr>
        <p:spPr>
          <a:xfrm>
            <a:off x="292608" y="4334256"/>
            <a:ext cx="2633472" cy="694944"/>
          </a:xfrm>
          <a:prstGeom prst="rect">
            <a:avLst/>
          </a:prstGeom>
          <a:noFill/>
          <a:ln/>
        </p:spPr>
        <p:txBody>
          <a:bodyPr wrap="square" lIns="0" tIns="0" rIns="0" bIns="0" rtlCol="0" anchor="ctr"/>
          <a:lstStyle/>
          <a:p>
            <a:pPr indent="0" marL="0">
              <a:buNone/>
            </a:pPr>
            <a:r>
              <a:rPr lang="en-US" sz="850" b="1" dirty="0">
                <a:solidFill>
                  <a:srgbClr val="14B8C8"/>
                </a:solidFill>
                <a:latin typeface="Calibri" pitchFamily="34" charset="0"/>
                <a:ea typeface="Calibri" pitchFamily="34" charset="-122"/>
                <a:cs typeface="Calibri" pitchFamily="34" charset="-120"/>
              </a:rPr>
              <a:t>Nigeria: </a:t>
            </a:r>
            <a:pPr indent="0" marL="0">
              <a:buNone/>
            </a:pPr>
            <a:r>
              <a:rPr lang="en-US" sz="850" i="1" dirty="0">
                <a:solidFill>
                  <a:srgbClr val="64748B"/>
                </a:solidFill>
                <a:latin typeface="Calibri" pitchFamily="34" charset="0"/>
                <a:ea typeface="Calibri" pitchFamily="34" charset="-122"/>
                <a:cs typeface="Calibri" pitchFamily="34" charset="-120"/>
              </a:rPr>
              <a:t>Access Bank: 85 correlated credit features. Ridge (λ=0.42): stability restored. F1: 0.71→0.84.</a:t>
            </a:r>
            <a:endParaRPr lang="en-US" sz="850" dirty="0"/>
          </a:p>
        </p:txBody>
      </p:sp>
      <p:sp>
        <p:nvSpPr>
          <p:cNvPr id="18" name="Shape 16"/>
          <p:cNvSpPr/>
          <p:nvPr/>
        </p:nvSpPr>
        <p:spPr>
          <a:xfrm>
            <a:off x="3172968" y="1536192"/>
            <a:ext cx="2834640" cy="3547872"/>
          </a:xfrm>
          <a:prstGeom prst="roundRect">
            <a:avLst>
              <a:gd name="adj" fmla="val 2903"/>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9" name="Shape 17"/>
          <p:cNvSpPr/>
          <p:nvPr/>
        </p:nvSpPr>
        <p:spPr>
          <a:xfrm>
            <a:off x="3227832" y="1609344"/>
            <a:ext cx="2724912" cy="329184"/>
          </a:xfrm>
          <a:prstGeom prst="roundRect">
            <a:avLst>
              <a:gd name="adj" fmla="val 16667"/>
            </a:avLst>
          </a:prstGeom>
          <a:solidFill>
            <a:srgbClr val="D4A010"/>
          </a:solidFill>
          <a:ln w="12700">
            <a:solidFill>
              <a:srgbClr val="D4A010"/>
            </a:solidFill>
            <a:prstDash val="solid"/>
          </a:ln>
        </p:spPr>
      </p:sp>
      <p:sp>
        <p:nvSpPr>
          <p:cNvPr id="20" name="Text 18"/>
          <p:cNvSpPr/>
          <p:nvPr/>
        </p:nvSpPr>
        <p:spPr>
          <a:xfrm>
            <a:off x="3227832" y="1609344"/>
            <a:ext cx="2724912" cy="329184"/>
          </a:xfrm>
          <a:prstGeom prst="rect">
            <a:avLst/>
          </a:prstGeom>
          <a:noFill/>
          <a:ln/>
        </p:spPr>
        <p:txBody>
          <a:bodyPr wrap="square" lIns="0" tIns="0" rIns="0" bIns="0" rtlCol="0" anchor="ctr"/>
          <a:lstStyle/>
          <a:p>
            <a:pPr algn="ctr" indent="0" marL="0">
              <a:buNone/>
            </a:pPr>
            <a:r>
              <a:rPr lang="en-US" sz="1200" b="1" dirty="0">
                <a:solidFill>
                  <a:srgbClr val="0C1428"/>
                </a:solidFill>
                <a:latin typeface="Calibri" pitchFamily="34" charset="0"/>
                <a:ea typeface="Calibri" pitchFamily="34" charset="-122"/>
                <a:cs typeface="Calibri" pitchFamily="34" charset="-120"/>
              </a:rPr>
              <a:t>LASSO (L1)</a:t>
            </a:r>
            <a:endParaRPr lang="en-US" sz="1200" dirty="0"/>
          </a:p>
        </p:txBody>
      </p:sp>
      <p:sp>
        <p:nvSpPr>
          <p:cNvPr id="21" name="Text 19"/>
          <p:cNvSpPr/>
          <p:nvPr/>
        </p:nvSpPr>
        <p:spPr>
          <a:xfrm>
            <a:off x="3264408" y="1993392"/>
            <a:ext cx="2633472" cy="237744"/>
          </a:xfrm>
          <a:prstGeom prst="rect">
            <a:avLst/>
          </a:prstGeom>
          <a:noFill/>
          <a:ln/>
        </p:spPr>
        <p:txBody>
          <a:bodyPr wrap="square" lIns="0" tIns="0" rIns="0" bIns="0" rtlCol="0" anchor="ctr"/>
          <a:lstStyle/>
          <a:p>
            <a:pPr algn="ctr" indent="0" marL="0">
              <a:buNone/>
            </a:pPr>
            <a:r>
              <a:rPr lang="en-US" sz="1050" b="1" dirty="0">
                <a:solidFill>
                  <a:srgbClr val="D4A010"/>
                </a:solidFill>
                <a:latin typeface="Courier New" pitchFamily="34" charset="0"/>
                <a:ea typeface="Courier New" pitchFamily="34" charset="-122"/>
                <a:cs typeface="Courier New" pitchFamily="34" charset="-120"/>
              </a:rPr>
              <a:t>SSR + λ Σ|βⱼ|</a:t>
            </a:r>
            <a:endParaRPr lang="en-US" sz="1050" dirty="0"/>
          </a:p>
        </p:txBody>
      </p:sp>
      <p:sp>
        <p:nvSpPr>
          <p:cNvPr id="22" name="Text 20"/>
          <p:cNvSpPr/>
          <p:nvPr/>
        </p:nvSpPr>
        <p:spPr>
          <a:xfrm>
            <a:off x="3264408" y="2267712"/>
            <a:ext cx="2633472" cy="45720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Some coefficients set EXACTLY TO ZERO. Automatic variable selection. Sparse solution.</a:t>
            </a:r>
            <a:endParaRPr lang="en-US" sz="900" dirty="0"/>
          </a:p>
        </p:txBody>
      </p:sp>
      <p:sp>
        <p:nvSpPr>
          <p:cNvPr id="23" name="Text 21"/>
          <p:cNvSpPr/>
          <p:nvPr/>
        </p:nvSpPr>
        <p:spPr>
          <a:xfrm>
            <a:off x="3264408" y="2761488"/>
            <a:ext cx="2633472" cy="237744"/>
          </a:xfrm>
          <a:prstGeom prst="rect">
            <a:avLst/>
          </a:prstGeom>
          <a:noFill/>
          <a:ln/>
        </p:spPr>
        <p:txBody>
          <a:bodyPr wrap="square" lIns="0" tIns="0" rIns="0" bIns="0" rtlCol="0" anchor="ctr"/>
          <a:lstStyle/>
          <a:p>
            <a:pPr indent="0" marL="0">
              <a:buNone/>
            </a:pPr>
            <a:r>
              <a:rPr lang="en-US" sz="900" dirty="0">
                <a:solidFill>
                  <a:srgbClr val="0A8A50"/>
                </a:solidFill>
                <a:latin typeface="Calibri" pitchFamily="34" charset="0"/>
                <a:ea typeface="Calibri" pitchFamily="34" charset="-122"/>
                <a:cs typeface="Calibri" pitchFamily="34" charset="-120"/>
              </a:rPr>
              <a:t>+  Automatic feature selection</a:t>
            </a:r>
            <a:endParaRPr lang="en-US" sz="900" dirty="0"/>
          </a:p>
        </p:txBody>
      </p:sp>
      <p:sp>
        <p:nvSpPr>
          <p:cNvPr id="24" name="Text 22"/>
          <p:cNvSpPr/>
          <p:nvPr/>
        </p:nvSpPr>
        <p:spPr>
          <a:xfrm>
            <a:off x="3264408" y="3035808"/>
            <a:ext cx="2633472" cy="237744"/>
          </a:xfrm>
          <a:prstGeom prst="rect">
            <a:avLst/>
          </a:prstGeom>
          <a:noFill/>
          <a:ln/>
        </p:spPr>
        <p:txBody>
          <a:bodyPr wrap="square" lIns="0" tIns="0" rIns="0" bIns="0" rtlCol="0" anchor="ctr"/>
          <a:lstStyle/>
          <a:p>
            <a:pPr indent="0" marL="0">
              <a:buNone/>
            </a:pPr>
            <a:r>
              <a:rPr lang="en-US" sz="900" dirty="0">
                <a:solidFill>
                  <a:srgbClr val="0A8A50"/>
                </a:solidFill>
                <a:latin typeface="Calibri" pitchFamily="34" charset="0"/>
                <a:ea typeface="Calibri" pitchFamily="34" charset="-122"/>
                <a:cs typeface="Calibri" pitchFamily="34" charset="-120"/>
              </a:rPr>
              <a:t>+  Sparse, interpretable model</a:t>
            </a:r>
            <a:endParaRPr lang="en-US" sz="900" dirty="0"/>
          </a:p>
        </p:txBody>
      </p:sp>
      <p:sp>
        <p:nvSpPr>
          <p:cNvPr id="25" name="Text 23"/>
          <p:cNvSpPr/>
          <p:nvPr/>
        </p:nvSpPr>
        <p:spPr>
          <a:xfrm>
            <a:off x="3264408" y="3310128"/>
            <a:ext cx="2633472" cy="237744"/>
          </a:xfrm>
          <a:prstGeom prst="rect">
            <a:avLst/>
          </a:prstGeom>
          <a:noFill/>
          <a:ln/>
        </p:spPr>
        <p:txBody>
          <a:bodyPr wrap="square" lIns="0" tIns="0" rIns="0" bIns="0" rtlCol="0" anchor="ctr"/>
          <a:lstStyle/>
          <a:p>
            <a:pPr indent="0" marL="0">
              <a:buNone/>
            </a:pPr>
            <a:r>
              <a:rPr lang="en-US" sz="900" dirty="0">
                <a:solidFill>
                  <a:srgbClr val="0A8A50"/>
                </a:solidFill>
                <a:latin typeface="Calibri" pitchFamily="34" charset="0"/>
                <a:ea typeface="Calibri" pitchFamily="34" charset="-122"/>
                <a:cs typeface="Calibri" pitchFamily="34" charset="-120"/>
              </a:rPr>
              <a:t>+  Works when few predictors truly matter</a:t>
            </a:r>
            <a:endParaRPr lang="en-US" sz="900" dirty="0"/>
          </a:p>
        </p:txBody>
      </p:sp>
      <p:sp>
        <p:nvSpPr>
          <p:cNvPr id="26" name="Text 24"/>
          <p:cNvSpPr/>
          <p:nvPr/>
        </p:nvSpPr>
        <p:spPr>
          <a:xfrm>
            <a:off x="3264408" y="3584448"/>
            <a:ext cx="2633472" cy="219456"/>
          </a:xfrm>
          <a:prstGeom prst="rect">
            <a:avLst/>
          </a:prstGeom>
          <a:noFill/>
          <a:ln/>
        </p:spPr>
        <p:txBody>
          <a:bodyPr wrap="square" lIns="0" tIns="0" rIns="0" bIns="0" rtlCol="0" anchor="ctr"/>
          <a:lstStyle/>
          <a:p>
            <a:pPr indent="0" marL="0">
              <a:buNone/>
            </a:pPr>
            <a:r>
              <a:rPr lang="en-US" sz="850" dirty="0">
                <a:solidFill>
                  <a:srgbClr val="E03020"/>
                </a:solidFill>
                <a:latin typeface="Calibri" pitchFamily="34" charset="0"/>
                <a:ea typeface="Calibri" pitchFamily="34" charset="-122"/>
                <a:cs typeface="Calibri" pitchFamily="34" charset="-120"/>
              </a:rPr>
              <a:t>–  Picks one from correlated group (arbitrary)</a:t>
            </a:r>
            <a:endParaRPr lang="en-US" sz="850" dirty="0"/>
          </a:p>
        </p:txBody>
      </p:sp>
      <p:sp>
        <p:nvSpPr>
          <p:cNvPr id="27" name="Text 25"/>
          <p:cNvSpPr/>
          <p:nvPr/>
        </p:nvSpPr>
        <p:spPr>
          <a:xfrm>
            <a:off x="3264408" y="3822192"/>
            <a:ext cx="2633472" cy="219456"/>
          </a:xfrm>
          <a:prstGeom prst="rect">
            <a:avLst/>
          </a:prstGeom>
          <a:noFill/>
          <a:ln/>
        </p:spPr>
        <p:txBody>
          <a:bodyPr wrap="square" lIns="0" tIns="0" rIns="0" bIns="0" rtlCol="0" anchor="ctr"/>
          <a:lstStyle/>
          <a:p>
            <a:pPr indent="0" marL="0">
              <a:buNone/>
            </a:pPr>
            <a:r>
              <a:rPr lang="en-US" sz="850" dirty="0">
                <a:solidFill>
                  <a:srgbClr val="E03020"/>
                </a:solidFill>
                <a:latin typeface="Calibri" pitchFamily="34" charset="0"/>
                <a:ea typeface="Calibri" pitchFamily="34" charset="-122"/>
                <a:cs typeface="Calibri" pitchFamily="34" charset="-120"/>
              </a:rPr>
              <a:t>–  Unstable when many correlated predictors</a:t>
            </a:r>
            <a:endParaRPr lang="en-US" sz="850" dirty="0"/>
          </a:p>
        </p:txBody>
      </p:sp>
      <p:sp>
        <p:nvSpPr>
          <p:cNvPr id="28" name="Text 26"/>
          <p:cNvSpPr/>
          <p:nvPr/>
        </p:nvSpPr>
        <p:spPr>
          <a:xfrm>
            <a:off x="3264408" y="4059936"/>
            <a:ext cx="2633472" cy="219456"/>
          </a:xfrm>
          <a:prstGeom prst="rect">
            <a:avLst/>
          </a:prstGeom>
          <a:noFill/>
          <a:ln/>
        </p:spPr>
        <p:txBody>
          <a:bodyPr wrap="square" lIns="0" tIns="0" rIns="0" bIns="0" rtlCol="0" anchor="ctr"/>
          <a:lstStyle/>
          <a:p>
            <a:pPr indent="0" marL="0">
              <a:buNone/>
            </a:pPr>
            <a:r>
              <a:rPr lang="en-US" sz="850" dirty="0">
                <a:solidFill>
                  <a:srgbClr val="E03020"/>
                </a:solidFill>
                <a:latin typeface="Calibri" pitchFamily="34" charset="0"/>
                <a:ea typeface="Calibri" pitchFamily="34" charset="-122"/>
                <a:cs typeface="Calibri" pitchFamily="34" charset="-120"/>
              </a:rPr>
              <a:t>–  Max min(n,p) predictors selected</a:t>
            </a:r>
            <a:endParaRPr lang="en-US" sz="850" dirty="0"/>
          </a:p>
        </p:txBody>
      </p:sp>
      <p:sp>
        <p:nvSpPr>
          <p:cNvPr id="29" name="Text 27"/>
          <p:cNvSpPr/>
          <p:nvPr/>
        </p:nvSpPr>
        <p:spPr>
          <a:xfrm>
            <a:off x="3264408" y="4334256"/>
            <a:ext cx="2633472" cy="694944"/>
          </a:xfrm>
          <a:prstGeom prst="rect">
            <a:avLst/>
          </a:prstGeom>
          <a:noFill/>
          <a:ln/>
        </p:spPr>
        <p:txBody>
          <a:bodyPr wrap="square" lIns="0" tIns="0" rIns="0" bIns="0" rtlCol="0" anchor="ctr"/>
          <a:lstStyle/>
          <a:p>
            <a:pPr indent="0" marL="0">
              <a:buNone/>
            </a:pPr>
            <a:r>
              <a:rPr lang="en-US" sz="850" b="1" dirty="0">
                <a:solidFill>
                  <a:srgbClr val="D4A010"/>
                </a:solidFill>
                <a:latin typeface="Calibri" pitchFamily="34" charset="0"/>
                <a:ea typeface="Calibri" pitchFamily="34" charset="-122"/>
                <a:cs typeface="Calibri" pitchFamily="34" charset="-120"/>
              </a:rPr>
              <a:t>Nigeria: </a:t>
            </a:r>
            <a:pPr indent="0" marL="0">
              <a:buNone/>
            </a:pPr>
            <a:r>
              <a:rPr lang="en-US" sz="850" i="1" dirty="0">
                <a:solidFill>
                  <a:srgbClr val="64748B"/>
                </a:solidFill>
                <a:latin typeface="Calibri" pitchFamily="34" charset="0"/>
                <a:ea typeface="Calibri" pitchFamily="34" charset="-122"/>
                <a:cs typeface="Calibri" pitchFamily="34" charset="-120"/>
              </a:rPr>
              <a:t>GTBank macro model: 200 candidate vars. Lasso selects 23 non-zero; 177+ zeroed out.</a:t>
            </a:r>
            <a:endParaRPr lang="en-US" sz="850" dirty="0"/>
          </a:p>
        </p:txBody>
      </p:sp>
      <p:sp>
        <p:nvSpPr>
          <p:cNvPr id="30" name="Shape 28"/>
          <p:cNvSpPr/>
          <p:nvPr/>
        </p:nvSpPr>
        <p:spPr>
          <a:xfrm>
            <a:off x="6144768" y="1536192"/>
            <a:ext cx="2834640" cy="3547872"/>
          </a:xfrm>
          <a:prstGeom prst="roundRect">
            <a:avLst>
              <a:gd name="adj" fmla="val 2903"/>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31" name="Shape 29"/>
          <p:cNvSpPr/>
          <p:nvPr/>
        </p:nvSpPr>
        <p:spPr>
          <a:xfrm>
            <a:off x="6199632" y="1609344"/>
            <a:ext cx="2724912" cy="329184"/>
          </a:xfrm>
          <a:prstGeom prst="roundRect">
            <a:avLst>
              <a:gd name="adj" fmla="val 16667"/>
            </a:avLst>
          </a:prstGeom>
          <a:solidFill>
            <a:srgbClr val="9840F0"/>
          </a:solidFill>
          <a:ln w="12700">
            <a:solidFill>
              <a:srgbClr val="9840F0"/>
            </a:solidFill>
            <a:prstDash val="solid"/>
          </a:ln>
        </p:spPr>
      </p:sp>
      <p:sp>
        <p:nvSpPr>
          <p:cNvPr id="32" name="Text 30"/>
          <p:cNvSpPr/>
          <p:nvPr/>
        </p:nvSpPr>
        <p:spPr>
          <a:xfrm>
            <a:off x="6199632" y="1609344"/>
            <a:ext cx="2724912"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ELASTIC NET</a:t>
            </a:r>
            <a:endParaRPr lang="en-US" sz="1200" dirty="0"/>
          </a:p>
        </p:txBody>
      </p:sp>
      <p:sp>
        <p:nvSpPr>
          <p:cNvPr id="33" name="Text 31"/>
          <p:cNvSpPr/>
          <p:nvPr/>
        </p:nvSpPr>
        <p:spPr>
          <a:xfrm>
            <a:off x="6236208" y="1993392"/>
            <a:ext cx="2633472" cy="237744"/>
          </a:xfrm>
          <a:prstGeom prst="rect">
            <a:avLst/>
          </a:prstGeom>
          <a:noFill/>
          <a:ln/>
        </p:spPr>
        <p:txBody>
          <a:bodyPr wrap="square" lIns="0" tIns="0" rIns="0" bIns="0" rtlCol="0" anchor="ctr"/>
          <a:lstStyle/>
          <a:p>
            <a:pPr algn="ctr" indent="0" marL="0">
              <a:buNone/>
            </a:pPr>
            <a:r>
              <a:rPr lang="en-US" sz="1050" b="1" dirty="0">
                <a:solidFill>
                  <a:srgbClr val="9840F0"/>
                </a:solidFill>
                <a:latin typeface="Courier New" pitchFamily="34" charset="0"/>
                <a:ea typeface="Courier New" pitchFamily="34" charset="-122"/>
                <a:cs typeface="Courier New" pitchFamily="34" charset="-120"/>
              </a:rPr>
              <a:t>SSR + λ[αΣ|βⱼ|+(1-α)Σβⱼ²]</a:t>
            </a:r>
            <a:endParaRPr lang="en-US" sz="1050" dirty="0"/>
          </a:p>
        </p:txBody>
      </p:sp>
      <p:sp>
        <p:nvSpPr>
          <p:cNvPr id="34" name="Text 32"/>
          <p:cNvSpPr/>
          <p:nvPr/>
        </p:nvSpPr>
        <p:spPr>
          <a:xfrm>
            <a:off x="6236208" y="2267712"/>
            <a:ext cx="2633472" cy="457200"/>
          </a:xfrm>
          <a:prstGeom prst="rect">
            <a:avLst/>
          </a:prstGeom>
          <a:noFill/>
          <a:ln/>
        </p:spPr>
        <p:txBody>
          <a:bodyPr wrap="square" lIns="0" tIns="0" rIns="0" bIns="0" rtlCol="0" anchor="ctr"/>
          <a:lstStyle/>
          <a:p>
            <a:pPr indent="0" marL="0">
              <a:buNone/>
            </a:pPr>
            <a:r>
              <a:rPr lang="en-US" sz="900" b="1" dirty="0">
                <a:solidFill>
                  <a:srgbClr val="0C1428"/>
                </a:solidFill>
                <a:latin typeface="Calibri" pitchFamily="34" charset="0"/>
                <a:ea typeface="Calibri" pitchFamily="34" charset="-122"/>
                <a:cs typeface="Calibri" pitchFamily="34" charset="-120"/>
              </a:rPr>
              <a:t>SELECTS variables AND GROUPS correlated predictors. Best of Ridge and Lasso.</a:t>
            </a:r>
            <a:endParaRPr lang="en-US" sz="900" dirty="0"/>
          </a:p>
        </p:txBody>
      </p:sp>
      <p:sp>
        <p:nvSpPr>
          <p:cNvPr id="35" name="Text 33"/>
          <p:cNvSpPr/>
          <p:nvPr/>
        </p:nvSpPr>
        <p:spPr>
          <a:xfrm>
            <a:off x="6236208" y="2761488"/>
            <a:ext cx="2633472" cy="237744"/>
          </a:xfrm>
          <a:prstGeom prst="rect">
            <a:avLst/>
          </a:prstGeom>
          <a:noFill/>
          <a:ln/>
        </p:spPr>
        <p:txBody>
          <a:bodyPr wrap="square" lIns="0" tIns="0" rIns="0" bIns="0" rtlCol="0" anchor="ctr"/>
          <a:lstStyle/>
          <a:p>
            <a:pPr indent="0" marL="0">
              <a:buNone/>
            </a:pPr>
            <a:r>
              <a:rPr lang="en-US" sz="900" dirty="0">
                <a:solidFill>
                  <a:srgbClr val="0A8A50"/>
                </a:solidFill>
                <a:latin typeface="Calibri" pitchFamily="34" charset="0"/>
                <a:ea typeface="Calibri" pitchFamily="34" charset="-122"/>
                <a:cs typeface="Calibri" pitchFamily="34" charset="-120"/>
              </a:rPr>
              <a:t>+  Groups correlated predictors together</a:t>
            </a:r>
            <a:endParaRPr lang="en-US" sz="900" dirty="0"/>
          </a:p>
        </p:txBody>
      </p:sp>
      <p:sp>
        <p:nvSpPr>
          <p:cNvPr id="36" name="Text 34"/>
          <p:cNvSpPr/>
          <p:nvPr/>
        </p:nvSpPr>
        <p:spPr>
          <a:xfrm>
            <a:off x="6236208" y="3035808"/>
            <a:ext cx="2633472" cy="237744"/>
          </a:xfrm>
          <a:prstGeom prst="rect">
            <a:avLst/>
          </a:prstGeom>
          <a:noFill/>
          <a:ln/>
        </p:spPr>
        <p:txBody>
          <a:bodyPr wrap="square" lIns="0" tIns="0" rIns="0" bIns="0" rtlCol="0" anchor="ctr"/>
          <a:lstStyle/>
          <a:p>
            <a:pPr indent="0" marL="0">
              <a:buNone/>
            </a:pPr>
            <a:r>
              <a:rPr lang="en-US" sz="900" dirty="0">
                <a:solidFill>
                  <a:srgbClr val="0A8A50"/>
                </a:solidFill>
                <a:latin typeface="Calibri" pitchFamily="34" charset="0"/>
                <a:ea typeface="Calibri" pitchFamily="34" charset="-122"/>
                <a:cs typeface="Calibri" pitchFamily="34" charset="-120"/>
              </a:rPr>
              <a:t>+  Variable selection like Lasso</a:t>
            </a:r>
            <a:endParaRPr lang="en-US" sz="900" dirty="0"/>
          </a:p>
        </p:txBody>
      </p:sp>
      <p:sp>
        <p:nvSpPr>
          <p:cNvPr id="37" name="Text 35"/>
          <p:cNvSpPr/>
          <p:nvPr/>
        </p:nvSpPr>
        <p:spPr>
          <a:xfrm>
            <a:off x="6236208" y="3310128"/>
            <a:ext cx="2633472" cy="237744"/>
          </a:xfrm>
          <a:prstGeom prst="rect">
            <a:avLst/>
          </a:prstGeom>
          <a:noFill/>
          <a:ln/>
        </p:spPr>
        <p:txBody>
          <a:bodyPr wrap="square" lIns="0" tIns="0" rIns="0" bIns="0" rtlCol="0" anchor="ctr"/>
          <a:lstStyle/>
          <a:p>
            <a:pPr indent="0" marL="0">
              <a:buNone/>
            </a:pPr>
            <a:r>
              <a:rPr lang="en-US" sz="900" dirty="0">
                <a:solidFill>
                  <a:srgbClr val="0A8A50"/>
                </a:solidFill>
                <a:latin typeface="Calibri" pitchFamily="34" charset="0"/>
                <a:ea typeface="Calibri" pitchFamily="34" charset="-122"/>
                <a:cs typeface="Calibri" pitchFamily="34" charset="-120"/>
              </a:rPr>
              <a:t>+  More stable than pure Lasso</a:t>
            </a:r>
            <a:endParaRPr lang="en-US" sz="900" dirty="0"/>
          </a:p>
        </p:txBody>
      </p:sp>
      <p:sp>
        <p:nvSpPr>
          <p:cNvPr id="38" name="Text 36"/>
          <p:cNvSpPr/>
          <p:nvPr/>
        </p:nvSpPr>
        <p:spPr>
          <a:xfrm>
            <a:off x="6236208" y="3584448"/>
            <a:ext cx="2633472" cy="219456"/>
          </a:xfrm>
          <a:prstGeom prst="rect">
            <a:avLst/>
          </a:prstGeom>
          <a:noFill/>
          <a:ln/>
        </p:spPr>
        <p:txBody>
          <a:bodyPr wrap="square" lIns="0" tIns="0" rIns="0" bIns="0" rtlCol="0" anchor="ctr"/>
          <a:lstStyle/>
          <a:p>
            <a:pPr indent="0" marL="0">
              <a:buNone/>
            </a:pPr>
            <a:r>
              <a:rPr lang="en-US" sz="850" dirty="0">
                <a:solidFill>
                  <a:srgbClr val="E03020"/>
                </a:solidFill>
                <a:latin typeface="Calibri" pitchFamily="34" charset="0"/>
                <a:ea typeface="Calibri" pitchFamily="34" charset="-122"/>
                <a:cs typeface="Calibri" pitchFamily="34" charset="-120"/>
              </a:rPr>
              <a:t>–  Two hyperparameters (λ and α)</a:t>
            </a:r>
            <a:endParaRPr lang="en-US" sz="850" dirty="0"/>
          </a:p>
        </p:txBody>
      </p:sp>
      <p:sp>
        <p:nvSpPr>
          <p:cNvPr id="39" name="Text 37"/>
          <p:cNvSpPr/>
          <p:nvPr/>
        </p:nvSpPr>
        <p:spPr>
          <a:xfrm>
            <a:off x="6236208" y="3822192"/>
            <a:ext cx="2633472" cy="219456"/>
          </a:xfrm>
          <a:prstGeom prst="rect">
            <a:avLst/>
          </a:prstGeom>
          <a:noFill/>
          <a:ln/>
        </p:spPr>
        <p:txBody>
          <a:bodyPr wrap="square" lIns="0" tIns="0" rIns="0" bIns="0" rtlCol="0" anchor="ctr"/>
          <a:lstStyle/>
          <a:p>
            <a:pPr indent="0" marL="0">
              <a:buNone/>
            </a:pPr>
            <a:r>
              <a:rPr lang="en-US" sz="850" dirty="0">
                <a:solidFill>
                  <a:srgbClr val="E03020"/>
                </a:solidFill>
                <a:latin typeface="Calibri" pitchFamily="34" charset="0"/>
                <a:ea typeface="Calibri" pitchFamily="34" charset="-122"/>
                <a:cs typeface="Calibri" pitchFamily="34" charset="-120"/>
              </a:rPr>
              <a:t>–  More complex to tune</a:t>
            </a:r>
            <a:endParaRPr lang="en-US" sz="850" dirty="0"/>
          </a:p>
        </p:txBody>
      </p:sp>
      <p:sp>
        <p:nvSpPr>
          <p:cNvPr id="40" name="Text 38"/>
          <p:cNvSpPr/>
          <p:nvPr/>
        </p:nvSpPr>
        <p:spPr>
          <a:xfrm>
            <a:off x="6236208" y="4059936"/>
            <a:ext cx="2633472" cy="219456"/>
          </a:xfrm>
          <a:prstGeom prst="rect">
            <a:avLst/>
          </a:prstGeom>
          <a:noFill/>
          <a:ln/>
        </p:spPr>
        <p:txBody>
          <a:bodyPr wrap="square" lIns="0" tIns="0" rIns="0" bIns="0" rtlCol="0" anchor="ctr"/>
          <a:lstStyle/>
          <a:p>
            <a:pPr indent="0" marL="0">
              <a:buNone/>
            </a:pPr>
            <a:r>
              <a:rPr lang="en-US" sz="850" dirty="0">
                <a:solidFill>
                  <a:srgbClr val="E03020"/>
                </a:solidFill>
                <a:latin typeface="Calibri" pitchFamily="34" charset="0"/>
                <a:ea typeface="Calibri" pitchFamily="34" charset="-122"/>
                <a:cs typeface="Calibri" pitchFamily="34" charset="-120"/>
              </a:rPr>
              <a:t>–  Not as sparse as pure Lasso</a:t>
            </a:r>
            <a:endParaRPr lang="en-US" sz="850" dirty="0"/>
          </a:p>
        </p:txBody>
      </p:sp>
      <p:sp>
        <p:nvSpPr>
          <p:cNvPr id="41" name="Text 39"/>
          <p:cNvSpPr/>
          <p:nvPr/>
        </p:nvSpPr>
        <p:spPr>
          <a:xfrm>
            <a:off x="6236208" y="4334256"/>
            <a:ext cx="2633472" cy="694944"/>
          </a:xfrm>
          <a:prstGeom prst="rect">
            <a:avLst/>
          </a:prstGeom>
          <a:noFill/>
          <a:ln/>
        </p:spPr>
        <p:txBody>
          <a:bodyPr wrap="square" lIns="0" tIns="0" rIns="0" bIns="0" rtlCol="0" anchor="ctr"/>
          <a:lstStyle/>
          <a:p>
            <a:pPr indent="0" marL="0">
              <a:buNone/>
            </a:pPr>
            <a:r>
              <a:rPr lang="en-US" sz="850" b="1" dirty="0">
                <a:solidFill>
                  <a:srgbClr val="9840F0"/>
                </a:solidFill>
                <a:latin typeface="Calibri" pitchFamily="34" charset="0"/>
                <a:ea typeface="Calibri" pitchFamily="34" charset="-122"/>
                <a:cs typeface="Calibri" pitchFamily="34" charset="-120"/>
              </a:rPr>
              <a:t>Nigeria: </a:t>
            </a:r>
            <a:pPr indent="0" marL="0">
              <a:buNone/>
            </a:pPr>
            <a:r>
              <a:rPr lang="en-US" sz="850" i="1" dirty="0">
                <a:solidFill>
                  <a:srgbClr val="64748B"/>
                </a:solidFill>
                <a:latin typeface="Calibri" pitchFamily="34" charset="0"/>
                <a:ea typeface="Calibri" pitchFamily="34" charset="-122"/>
                <a:cs typeface="Calibri" pitchFamily="34" charset="-120"/>
              </a:rPr>
              <a:t>Konga: 150 behavioural signals. Elastic Net selects 28 cross-group features. AUC: 0.76→0.87.</a:t>
            </a:r>
            <a:endParaRPr lang="en-US" sz="850" dirty="0"/>
          </a:p>
        </p:txBody>
      </p:sp>
      <p:sp>
        <p:nvSpPr>
          <p:cNvPr id="42" name="Shape 40"/>
          <p:cNvSpPr/>
          <p:nvPr/>
        </p:nvSpPr>
        <p:spPr>
          <a:xfrm>
            <a:off x="256032" y="5138928"/>
            <a:ext cx="8631936" cy="347472"/>
          </a:xfrm>
          <a:prstGeom prst="roundRect">
            <a:avLst>
              <a:gd name="adj" fmla="val 15789"/>
            </a:avLst>
          </a:prstGeom>
          <a:solidFill>
            <a:srgbClr val="FFFBEC"/>
          </a:solidFill>
          <a:ln w="19050">
            <a:solidFill>
              <a:srgbClr val="D4A010"/>
            </a:solidFill>
            <a:prstDash val="solid"/>
          </a:ln>
        </p:spPr>
      </p:sp>
      <p:sp>
        <p:nvSpPr>
          <p:cNvPr id="43" name="Text 41"/>
          <p:cNvSpPr/>
          <p:nvPr/>
        </p:nvSpPr>
        <p:spPr>
          <a:xfrm>
            <a:off x="384048" y="5138928"/>
            <a:ext cx="8449056" cy="347472"/>
          </a:xfrm>
          <a:prstGeom prst="rect">
            <a:avLst/>
          </a:prstGeom>
          <a:noFill/>
          <a:ln/>
        </p:spPr>
        <p:txBody>
          <a:bodyPr wrap="square" lIns="0" tIns="0" rIns="0" bIns="0" rtlCol="0" anchor="ctr"/>
          <a:lstStyle/>
          <a:p>
            <a:pPr indent="0" marL="0">
              <a:buNone/>
            </a:pPr>
            <a:r>
              <a:rPr lang="en-US" sz="950" dirty="0">
                <a:solidFill>
                  <a:srgbClr val="6B4800"/>
                </a:solidFill>
                <a:latin typeface="Calibri" pitchFamily="34" charset="0"/>
                <a:ea typeface="Calibri" pitchFamily="34" charset="-122"/>
                <a:cs typeface="Calibri" pitchFamily="34" charset="-120"/>
              </a:rPr>
              <a:t>CV rule: always choose λ by k-fold cross-validation (k=5 or 10). Report Lambda.1se (within 1 SE of minimum CV error) for more parsimonious models. Standardise all predictors before fitting any regularised model.</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REGRESSION  |  SECTION 07</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Count and Survival Regression</a:t>
            </a:r>
            <a:endParaRPr lang="en-US" sz="36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Poisson, Negative Binomial, Cox - when Y is a count or time-to-event</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Poisson, Negative Binomial and Cox Survival - Models, Formulas and Interpretation</a:t>
            </a:r>
            <a:endParaRPr lang="en-US" sz="2100" dirty="0"/>
          </a:p>
        </p:txBody>
      </p:sp>
      <p:sp>
        <p:nvSpPr>
          <p:cNvPr id="4" name="Shape 2"/>
          <p:cNvSpPr/>
          <p:nvPr/>
        </p:nvSpPr>
        <p:spPr>
          <a:xfrm>
            <a:off x="256032" y="1024128"/>
            <a:ext cx="4160520" cy="4078224"/>
          </a:xfrm>
          <a:prstGeom prst="roundRect">
            <a:avLst>
              <a:gd name="adj" fmla="val 2018"/>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29184" y="1097280"/>
            <a:ext cx="4005072" cy="310896"/>
          </a:xfrm>
          <a:prstGeom prst="roundRect">
            <a:avLst>
              <a:gd name="adj" fmla="val 17647"/>
            </a:avLst>
          </a:prstGeom>
          <a:solidFill>
            <a:srgbClr val="C01060"/>
          </a:solidFill>
          <a:ln w="12700">
            <a:solidFill>
              <a:srgbClr val="C01060"/>
            </a:solidFill>
            <a:prstDash val="solid"/>
          </a:ln>
        </p:spPr>
      </p:sp>
      <p:sp>
        <p:nvSpPr>
          <p:cNvPr id="6" name="Text 4"/>
          <p:cNvSpPr/>
          <p:nvPr/>
        </p:nvSpPr>
        <p:spPr>
          <a:xfrm>
            <a:off x="329184" y="1097280"/>
            <a:ext cx="4005072"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POISSON / NEGATIVE BINOMIAL (Count Y)</a:t>
            </a:r>
            <a:endParaRPr lang="en-US" sz="1050" dirty="0"/>
          </a:p>
        </p:txBody>
      </p:sp>
      <p:sp>
        <p:nvSpPr>
          <p:cNvPr id="7" name="Text 5"/>
          <p:cNvSpPr/>
          <p:nvPr/>
        </p:nvSpPr>
        <p:spPr>
          <a:xfrm>
            <a:off x="365760" y="1463040"/>
            <a:ext cx="3950208" cy="256032"/>
          </a:xfrm>
          <a:prstGeom prst="rect">
            <a:avLst/>
          </a:prstGeom>
          <a:noFill/>
          <a:ln/>
        </p:spPr>
        <p:txBody>
          <a:bodyPr wrap="square" lIns="0" tIns="0" rIns="0" bIns="0" rtlCol="0" anchor="ctr"/>
          <a:lstStyle/>
          <a:p>
            <a:pPr algn="ctr" indent="0" marL="0">
              <a:buNone/>
            </a:pPr>
            <a:r>
              <a:rPr lang="en-US" sz="1200" b="1" dirty="0">
                <a:solidFill>
                  <a:srgbClr val="C01060"/>
                </a:solidFill>
                <a:latin typeface="Courier New" pitchFamily="34" charset="0"/>
                <a:ea typeface="Courier New" pitchFamily="34" charset="-122"/>
                <a:cs typeface="Courier New" pitchFamily="34" charset="-120"/>
              </a:rPr>
              <a:t>log(E(Y|X)) = b₀ + b₁X₁ + ... + bₚXₚ</a:t>
            </a:r>
            <a:endParaRPr lang="en-US" sz="1200" dirty="0"/>
          </a:p>
        </p:txBody>
      </p:sp>
      <p:sp>
        <p:nvSpPr>
          <p:cNvPr id="8" name="Text 6"/>
          <p:cNvSpPr/>
          <p:nvPr/>
        </p:nvSpPr>
        <p:spPr>
          <a:xfrm>
            <a:off x="365760" y="1773936"/>
            <a:ext cx="3950208" cy="256032"/>
          </a:xfrm>
          <a:prstGeom prst="rect">
            <a:avLst/>
          </a:prstGeom>
          <a:noFill/>
          <a:ln/>
        </p:spPr>
        <p:txBody>
          <a:bodyPr wrap="square" lIns="0" tIns="0" rIns="0" bIns="0" rtlCol="0" anchor="ctr"/>
          <a:lstStyle/>
          <a:p>
            <a:pPr indent="0" marL="0">
              <a:buNone/>
            </a:pPr>
            <a:r>
              <a:rPr lang="en-US" sz="950" dirty="0">
                <a:solidFill>
                  <a:srgbClr val="0C1428"/>
                </a:solidFill>
                <a:latin typeface="Calibri" pitchFamily="34" charset="0"/>
                <a:ea typeface="Calibri" pitchFamily="34" charset="-122"/>
                <a:cs typeface="Calibri" pitchFamily="34" charset="-120"/>
              </a:rPr>
              <a:t>IRR = exp(bⱼ) = multiplicative change in expected count per unit increase in Xⱼ</a:t>
            </a:r>
            <a:endParaRPr lang="en-US" sz="950" dirty="0"/>
          </a:p>
        </p:txBody>
      </p:sp>
      <p:sp>
        <p:nvSpPr>
          <p:cNvPr id="9" name="Shape 7"/>
          <p:cNvSpPr/>
          <p:nvPr/>
        </p:nvSpPr>
        <p:spPr>
          <a:xfrm>
            <a:off x="347472" y="2084832"/>
            <a:ext cx="1463040" cy="256032"/>
          </a:xfrm>
          <a:prstGeom prst="rect">
            <a:avLst/>
          </a:prstGeom>
          <a:solidFill>
            <a:srgbClr val="C01060"/>
          </a:solidFill>
          <a:ln w="12700">
            <a:solidFill>
              <a:srgbClr val="C01060"/>
            </a:solidFill>
            <a:prstDash val="solid"/>
          </a:ln>
        </p:spPr>
      </p:sp>
      <p:sp>
        <p:nvSpPr>
          <p:cNvPr id="10" name="Text 8"/>
          <p:cNvSpPr/>
          <p:nvPr/>
        </p:nvSpPr>
        <p:spPr>
          <a:xfrm>
            <a:off x="347472" y="2084832"/>
            <a:ext cx="14630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 </a:t>
            </a:r>
            <a:endParaRPr lang="en-US" sz="800" dirty="0"/>
          </a:p>
        </p:txBody>
      </p:sp>
      <p:sp>
        <p:nvSpPr>
          <p:cNvPr id="11" name="Shape 9"/>
          <p:cNvSpPr/>
          <p:nvPr/>
        </p:nvSpPr>
        <p:spPr>
          <a:xfrm>
            <a:off x="1810512" y="2084832"/>
            <a:ext cx="1298448" cy="256032"/>
          </a:xfrm>
          <a:prstGeom prst="rect">
            <a:avLst/>
          </a:prstGeom>
          <a:solidFill>
            <a:srgbClr val="C01060"/>
          </a:solidFill>
          <a:ln w="12700">
            <a:solidFill>
              <a:srgbClr val="C01060"/>
            </a:solidFill>
            <a:prstDash val="solid"/>
          </a:ln>
        </p:spPr>
      </p:sp>
      <p:sp>
        <p:nvSpPr>
          <p:cNvPr id="12" name="Text 10"/>
          <p:cNvSpPr/>
          <p:nvPr/>
        </p:nvSpPr>
        <p:spPr>
          <a:xfrm>
            <a:off x="1810512" y="2084832"/>
            <a:ext cx="129844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Poisson</a:t>
            </a:r>
            <a:endParaRPr lang="en-US" sz="800" dirty="0"/>
          </a:p>
        </p:txBody>
      </p:sp>
      <p:sp>
        <p:nvSpPr>
          <p:cNvPr id="13" name="Shape 11"/>
          <p:cNvSpPr/>
          <p:nvPr/>
        </p:nvSpPr>
        <p:spPr>
          <a:xfrm>
            <a:off x="3108960" y="2084832"/>
            <a:ext cx="1298448" cy="256032"/>
          </a:xfrm>
          <a:prstGeom prst="rect">
            <a:avLst/>
          </a:prstGeom>
          <a:solidFill>
            <a:srgbClr val="C01060"/>
          </a:solidFill>
          <a:ln w="12700">
            <a:solidFill>
              <a:srgbClr val="C01060"/>
            </a:solidFill>
            <a:prstDash val="solid"/>
          </a:ln>
        </p:spPr>
      </p:sp>
      <p:sp>
        <p:nvSpPr>
          <p:cNvPr id="14" name="Text 12"/>
          <p:cNvSpPr/>
          <p:nvPr/>
        </p:nvSpPr>
        <p:spPr>
          <a:xfrm>
            <a:off x="3108960" y="2084832"/>
            <a:ext cx="129844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Neg. Binomial</a:t>
            </a:r>
            <a:endParaRPr lang="en-US" sz="800" dirty="0"/>
          </a:p>
        </p:txBody>
      </p:sp>
      <p:sp>
        <p:nvSpPr>
          <p:cNvPr id="15" name="Shape 13"/>
          <p:cNvSpPr/>
          <p:nvPr/>
        </p:nvSpPr>
        <p:spPr>
          <a:xfrm>
            <a:off x="347472" y="2340864"/>
            <a:ext cx="1463040" cy="256032"/>
          </a:xfrm>
          <a:prstGeom prst="rect">
            <a:avLst/>
          </a:prstGeom>
          <a:solidFill>
            <a:srgbClr val="EAF6FA"/>
          </a:solidFill>
          <a:ln w="6350">
            <a:solidFill>
              <a:srgbClr val="A0C8D8"/>
            </a:solidFill>
            <a:prstDash val="solid"/>
          </a:ln>
        </p:spPr>
      </p:sp>
      <p:sp>
        <p:nvSpPr>
          <p:cNvPr id="16" name="Text 14"/>
          <p:cNvSpPr/>
          <p:nvPr/>
        </p:nvSpPr>
        <p:spPr>
          <a:xfrm>
            <a:off x="347472" y="2340864"/>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Assumption</a:t>
            </a:r>
            <a:endParaRPr lang="en-US" sz="800" dirty="0"/>
          </a:p>
        </p:txBody>
      </p:sp>
      <p:sp>
        <p:nvSpPr>
          <p:cNvPr id="17" name="Shape 15"/>
          <p:cNvSpPr/>
          <p:nvPr/>
        </p:nvSpPr>
        <p:spPr>
          <a:xfrm>
            <a:off x="1810512" y="2340864"/>
            <a:ext cx="1298448" cy="256032"/>
          </a:xfrm>
          <a:prstGeom prst="rect">
            <a:avLst/>
          </a:prstGeom>
          <a:solidFill>
            <a:srgbClr val="EAF6FA"/>
          </a:solidFill>
          <a:ln w="6350">
            <a:solidFill>
              <a:srgbClr val="A0C8D8"/>
            </a:solidFill>
            <a:prstDash val="solid"/>
          </a:ln>
        </p:spPr>
      </p:sp>
      <p:sp>
        <p:nvSpPr>
          <p:cNvPr id="18" name="Text 16"/>
          <p:cNvSpPr/>
          <p:nvPr/>
        </p:nvSpPr>
        <p:spPr>
          <a:xfrm>
            <a:off x="1810512" y="2340864"/>
            <a:ext cx="129844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E(Y) = Var(Y)</a:t>
            </a:r>
            <a:endParaRPr lang="en-US" sz="800" dirty="0"/>
          </a:p>
        </p:txBody>
      </p:sp>
      <p:sp>
        <p:nvSpPr>
          <p:cNvPr id="19" name="Shape 17"/>
          <p:cNvSpPr/>
          <p:nvPr/>
        </p:nvSpPr>
        <p:spPr>
          <a:xfrm>
            <a:off x="3108960" y="2340864"/>
            <a:ext cx="1298448" cy="256032"/>
          </a:xfrm>
          <a:prstGeom prst="rect">
            <a:avLst/>
          </a:prstGeom>
          <a:solidFill>
            <a:srgbClr val="EAF6FA"/>
          </a:solidFill>
          <a:ln w="6350">
            <a:solidFill>
              <a:srgbClr val="A0C8D8"/>
            </a:solidFill>
            <a:prstDash val="solid"/>
          </a:ln>
        </p:spPr>
      </p:sp>
      <p:sp>
        <p:nvSpPr>
          <p:cNvPr id="20" name="Text 18"/>
          <p:cNvSpPr/>
          <p:nvPr/>
        </p:nvSpPr>
        <p:spPr>
          <a:xfrm>
            <a:off x="3108960" y="2340864"/>
            <a:ext cx="129844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E(Y) &lt; Var(Y) (overdispersed)</a:t>
            </a:r>
            <a:endParaRPr lang="en-US" sz="800" dirty="0"/>
          </a:p>
        </p:txBody>
      </p:sp>
      <p:sp>
        <p:nvSpPr>
          <p:cNvPr id="21" name="Shape 19"/>
          <p:cNvSpPr/>
          <p:nvPr/>
        </p:nvSpPr>
        <p:spPr>
          <a:xfrm>
            <a:off x="347472" y="2596896"/>
            <a:ext cx="1463040" cy="256032"/>
          </a:xfrm>
          <a:prstGeom prst="rect">
            <a:avLst/>
          </a:prstGeom>
          <a:solidFill>
            <a:srgbClr val="FFFFFF"/>
          </a:solidFill>
          <a:ln w="6350">
            <a:solidFill>
              <a:srgbClr val="A0C8D8"/>
            </a:solidFill>
            <a:prstDash val="solid"/>
          </a:ln>
        </p:spPr>
      </p:sp>
      <p:sp>
        <p:nvSpPr>
          <p:cNvPr id="22" name="Text 20"/>
          <p:cNvSpPr/>
          <p:nvPr/>
        </p:nvSpPr>
        <p:spPr>
          <a:xfrm>
            <a:off x="347472" y="2596896"/>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Detection</a:t>
            </a:r>
            <a:endParaRPr lang="en-US" sz="800" dirty="0"/>
          </a:p>
        </p:txBody>
      </p:sp>
      <p:sp>
        <p:nvSpPr>
          <p:cNvPr id="23" name="Shape 21"/>
          <p:cNvSpPr/>
          <p:nvPr/>
        </p:nvSpPr>
        <p:spPr>
          <a:xfrm>
            <a:off x="1810512" y="2596896"/>
            <a:ext cx="1298448" cy="256032"/>
          </a:xfrm>
          <a:prstGeom prst="rect">
            <a:avLst/>
          </a:prstGeom>
          <a:solidFill>
            <a:srgbClr val="FFFFFF"/>
          </a:solidFill>
          <a:ln w="6350">
            <a:solidFill>
              <a:srgbClr val="A0C8D8"/>
            </a:solidFill>
            <a:prstDash val="solid"/>
          </a:ln>
        </p:spPr>
      </p:sp>
      <p:sp>
        <p:nvSpPr>
          <p:cNvPr id="24" name="Text 22"/>
          <p:cNvSpPr/>
          <p:nvPr/>
        </p:nvSpPr>
        <p:spPr>
          <a:xfrm>
            <a:off x="1810512" y="2596896"/>
            <a:ext cx="129844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Dispersion test φ≈1</a:t>
            </a:r>
            <a:endParaRPr lang="en-US" sz="800" dirty="0"/>
          </a:p>
        </p:txBody>
      </p:sp>
      <p:sp>
        <p:nvSpPr>
          <p:cNvPr id="25" name="Shape 23"/>
          <p:cNvSpPr/>
          <p:nvPr/>
        </p:nvSpPr>
        <p:spPr>
          <a:xfrm>
            <a:off x="3108960" y="2596896"/>
            <a:ext cx="1298448" cy="256032"/>
          </a:xfrm>
          <a:prstGeom prst="rect">
            <a:avLst/>
          </a:prstGeom>
          <a:solidFill>
            <a:srgbClr val="FFFFFF"/>
          </a:solidFill>
          <a:ln w="6350">
            <a:solidFill>
              <a:srgbClr val="A0C8D8"/>
            </a:solidFill>
            <a:prstDash val="solid"/>
          </a:ln>
        </p:spPr>
      </p:sp>
      <p:sp>
        <p:nvSpPr>
          <p:cNvPr id="26" name="Text 24"/>
          <p:cNvSpPr/>
          <p:nvPr/>
        </p:nvSpPr>
        <p:spPr>
          <a:xfrm>
            <a:off x="3108960" y="2596896"/>
            <a:ext cx="129844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φ &gt;&gt; 1 (e.g. &gt; 1.5)</a:t>
            </a:r>
            <a:endParaRPr lang="en-US" sz="800" dirty="0"/>
          </a:p>
        </p:txBody>
      </p:sp>
      <p:sp>
        <p:nvSpPr>
          <p:cNvPr id="27" name="Shape 25"/>
          <p:cNvSpPr/>
          <p:nvPr/>
        </p:nvSpPr>
        <p:spPr>
          <a:xfrm>
            <a:off x="347472" y="2852928"/>
            <a:ext cx="1463040" cy="256032"/>
          </a:xfrm>
          <a:prstGeom prst="rect">
            <a:avLst/>
          </a:prstGeom>
          <a:solidFill>
            <a:srgbClr val="EAF6FA"/>
          </a:solidFill>
          <a:ln w="6350">
            <a:solidFill>
              <a:srgbClr val="A0C8D8"/>
            </a:solidFill>
            <a:prstDash val="solid"/>
          </a:ln>
        </p:spPr>
      </p:sp>
      <p:sp>
        <p:nvSpPr>
          <p:cNvPr id="28" name="Text 26"/>
          <p:cNvSpPr/>
          <p:nvPr/>
        </p:nvSpPr>
        <p:spPr>
          <a:xfrm>
            <a:off x="347472" y="2852928"/>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Use when</a:t>
            </a:r>
            <a:endParaRPr lang="en-US" sz="800" dirty="0"/>
          </a:p>
        </p:txBody>
      </p:sp>
      <p:sp>
        <p:nvSpPr>
          <p:cNvPr id="29" name="Shape 27"/>
          <p:cNvSpPr/>
          <p:nvPr/>
        </p:nvSpPr>
        <p:spPr>
          <a:xfrm>
            <a:off x="1810512" y="2852928"/>
            <a:ext cx="1298448" cy="256032"/>
          </a:xfrm>
          <a:prstGeom prst="rect">
            <a:avLst/>
          </a:prstGeom>
          <a:solidFill>
            <a:srgbClr val="EAF6FA"/>
          </a:solidFill>
          <a:ln w="6350">
            <a:solidFill>
              <a:srgbClr val="A0C8D8"/>
            </a:solidFill>
            <a:prstDash val="solid"/>
          </a:ln>
        </p:spPr>
      </p:sp>
      <p:sp>
        <p:nvSpPr>
          <p:cNvPr id="30" name="Text 28"/>
          <p:cNvSpPr/>
          <p:nvPr/>
        </p:nvSpPr>
        <p:spPr>
          <a:xfrm>
            <a:off x="1810512" y="2852928"/>
            <a:ext cx="129844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Equidispersed counts</a:t>
            </a:r>
            <a:endParaRPr lang="en-US" sz="800" dirty="0"/>
          </a:p>
        </p:txBody>
      </p:sp>
      <p:sp>
        <p:nvSpPr>
          <p:cNvPr id="31" name="Shape 29"/>
          <p:cNvSpPr/>
          <p:nvPr/>
        </p:nvSpPr>
        <p:spPr>
          <a:xfrm>
            <a:off x="3108960" y="2852928"/>
            <a:ext cx="1298448" cy="256032"/>
          </a:xfrm>
          <a:prstGeom prst="rect">
            <a:avLst/>
          </a:prstGeom>
          <a:solidFill>
            <a:srgbClr val="EAF6FA"/>
          </a:solidFill>
          <a:ln w="6350">
            <a:solidFill>
              <a:srgbClr val="A0C8D8"/>
            </a:solidFill>
            <a:prstDash val="solid"/>
          </a:ln>
        </p:spPr>
      </p:sp>
      <p:sp>
        <p:nvSpPr>
          <p:cNvPr id="32" name="Text 30"/>
          <p:cNvSpPr/>
          <p:nvPr/>
        </p:nvSpPr>
        <p:spPr>
          <a:xfrm>
            <a:off x="3108960" y="2852928"/>
            <a:ext cx="129844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Var much greater than Mean</a:t>
            </a:r>
            <a:endParaRPr lang="en-US" sz="800" dirty="0"/>
          </a:p>
        </p:txBody>
      </p:sp>
      <p:sp>
        <p:nvSpPr>
          <p:cNvPr id="33" name="Shape 31"/>
          <p:cNvSpPr/>
          <p:nvPr/>
        </p:nvSpPr>
        <p:spPr>
          <a:xfrm>
            <a:off x="347472" y="3108960"/>
            <a:ext cx="1463040" cy="256032"/>
          </a:xfrm>
          <a:prstGeom prst="rect">
            <a:avLst/>
          </a:prstGeom>
          <a:solidFill>
            <a:srgbClr val="FFFFFF"/>
          </a:solidFill>
          <a:ln w="6350">
            <a:solidFill>
              <a:srgbClr val="A0C8D8"/>
            </a:solidFill>
            <a:prstDash val="solid"/>
          </a:ln>
        </p:spPr>
      </p:sp>
      <p:sp>
        <p:nvSpPr>
          <p:cNvPr id="34" name="Text 32"/>
          <p:cNvSpPr/>
          <p:nvPr/>
        </p:nvSpPr>
        <p:spPr>
          <a:xfrm>
            <a:off x="347472" y="3108960"/>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AIC comparison</a:t>
            </a:r>
            <a:endParaRPr lang="en-US" sz="800" dirty="0"/>
          </a:p>
        </p:txBody>
      </p:sp>
      <p:sp>
        <p:nvSpPr>
          <p:cNvPr id="35" name="Shape 33"/>
          <p:cNvSpPr/>
          <p:nvPr/>
        </p:nvSpPr>
        <p:spPr>
          <a:xfrm>
            <a:off x="1810512" y="3108960"/>
            <a:ext cx="1298448" cy="256032"/>
          </a:xfrm>
          <a:prstGeom prst="rect">
            <a:avLst/>
          </a:prstGeom>
          <a:solidFill>
            <a:srgbClr val="FFFFFF"/>
          </a:solidFill>
          <a:ln w="6350">
            <a:solidFill>
              <a:srgbClr val="A0C8D8"/>
            </a:solidFill>
            <a:prstDash val="solid"/>
          </a:ln>
        </p:spPr>
      </p:sp>
      <p:sp>
        <p:nvSpPr>
          <p:cNvPr id="36" name="Text 34"/>
          <p:cNvSpPr/>
          <p:nvPr/>
        </p:nvSpPr>
        <p:spPr>
          <a:xfrm>
            <a:off x="1810512" y="3108960"/>
            <a:ext cx="129844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Fit both - use lower AIC</a:t>
            </a:r>
            <a:endParaRPr lang="en-US" sz="800" dirty="0"/>
          </a:p>
        </p:txBody>
      </p:sp>
      <p:sp>
        <p:nvSpPr>
          <p:cNvPr id="37" name="Shape 35"/>
          <p:cNvSpPr/>
          <p:nvPr/>
        </p:nvSpPr>
        <p:spPr>
          <a:xfrm>
            <a:off x="3108960" y="3108960"/>
            <a:ext cx="1298448" cy="256032"/>
          </a:xfrm>
          <a:prstGeom prst="rect">
            <a:avLst/>
          </a:prstGeom>
          <a:solidFill>
            <a:srgbClr val="FFFFFF"/>
          </a:solidFill>
          <a:ln w="6350">
            <a:solidFill>
              <a:srgbClr val="A0C8D8"/>
            </a:solidFill>
            <a:prstDash val="solid"/>
          </a:ln>
        </p:spPr>
      </p:sp>
      <p:sp>
        <p:nvSpPr>
          <p:cNvPr id="38" name="Text 36"/>
          <p:cNvSpPr/>
          <p:nvPr/>
        </p:nvSpPr>
        <p:spPr>
          <a:xfrm>
            <a:off x="3108960" y="3108960"/>
            <a:ext cx="1298448"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NB almost always wins if overdispersed</a:t>
            </a:r>
            <a:endParaRPr lang="en-US" sz="800" dirty="0"/>
          </a:p>
        </p:txBody>
      </p:sp>
      <p:sp>
        <p:nvSpPr>
          <p:cNvPr id="39" name="Shape 37"/>
          <p:cNvSpPr/>
          <p:nvPr/>
        </p:nvSpPr>
        <p:spPr>
          <a:xfrm>
            <a:off x="347472" y="3401568"/>
            <a:ext cx="3968496" cy="1554480"/>
          </a:xfrm>
          <a:prstGeom prst="roundRect">
            <a:avLst>
              <a:gd name="adj" fmla="val 3529"/>
            </a:avLst>
          </a:prstGeom>
          <a:solidFill>
            <a:srgbClr val="FEF0ED"/>
          </a:solidFill>
          <a:ln w="10160">
            <a:solidFill>
              <a:srgbClr val="C01060"/>
            </a:solidFill>
            <a:prstDash val="solid"/>
          </a:ln>
        </p:spPr>
      </p:sp>
      <p:sp>
        <p:nvSpPr>
          <p:cNvPr id="40" name="Text 38"/>
          <p:cNvSpPr/>
          <p:nvPr/>
        </p:nvSpPr>
        <p:spPr>
          <a:xfrm>
            <a:off x="420624" y="3474720"/>
            <a:ext cx="3822192" cy="1426464"/>
          </a:xfrm>
          <a:prstGeom prst="rect">
            <a:avLst/>
          </a:prstGeom>
          <a:noFill/>
          <a:ln/>
        </p:spPr>
        <p:txBody>
          <a:bodyPr wrap="square" lIns="0" tIns="0" rIns="0" bIns="0" rtlCol="0" anchor="ctr"/>
          <a:lstStyle/>
          <a:p>
            <a:pPr indent="0" marL="0">
              <a:buNone/>
            </a:pPr>
            <a:r>
              <a:rPr lang="en-US" sz="950" b="1" dirty="0">
                <a:solidFill>
                  <a:srgbClr val="C01060"/>
                </a:solidFill>
                <a:latin typeface="Calibri" pitchFamily="34" charset="0"/>
                <a:ea typeface="Calibri" pitchFamily="34" charset="-122"/>
                <a:cs typeface="Calibri" pitchFamily="34" charset="-120"/>
              </a:rPr>
              <a:t>Leadway Insurance Claims:
</a:t>
            </a:r>
            <a:pPr indent="0" marL="0">
              <a:buNone/>
            </a:pPr>
            <a:r>
              <a:rPr lang="en-US" sz="950" dirty="0">
                <a:solidFill>
                  <a:srgbClr val="0C1428"/>
                </a:solidFill>
                <a:latin typeface="Calibri" pitchFamily="34" charset="0"/>
                <a:ea typeface="Calibri" pitchFamily="34" charset="-122"/>
                <a:cs typeface="Calibri" pitchFamily="34" charset="-120"/>
              </a:rPr>
              <a:t>Poisson GLM (overdispersion φ=2.4 → switch to NB).</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NB Results:</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young_driver IRR=1.46: 46% more claims</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urban IRR=1.25: 25% more claims  </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low_mileage IRR=0.75: 25% fewer claims</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car_age IRR=1.08/yr: 8% more per year older car</a:t>
            </a:r>
            <a:endParaRPr lang="en-US" sz="950" dirty="0"/>
          </a:p>
          <a:p>
            <a:pPr indent="0" marL="0">
              <a:buNone/>
            </a:pP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Loss ratio: 108% → 91% after risk-based pricing.</a:t>
            </a:r>
            <a:endParaRPr lang="en-US" sz="950" dirty="0"/>
          </a:p>
        </p:txBody>
      </p:sp>
      <p:sp>
        <p:nvSpPr>
          <p:cNvPr id="41" name="Shape 39"/>
          <p:cNvSpPr/>
          <p:nvPr/>
        </p:nvSpPr>
        <p:spPr>
          <a:xfrm>
            <a:off x="4681728" y="1024128"/>
            <a:ext cx="4160520" cy="4078224"/>
          </a:xfrm>
          <a:prstGeom prst="roundRect">
            <a:avLst>
              <a:gd name="adj" fmla="val 2018"/>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42" name="Shape 40"/>
          <p:cNvSpPr/>
          <p:nvPr/>
        </p:nvSpPr>
        <p:spPr>
          <a:xfrm>
            <a:off x="4754880" y="1097280"/>
            <a:ext cx="4005072" cy="310896"/>
          </a:xfrm>
          <a:prstGeom prst="roundRect">
            <a:avLst>
              <a:gd name="adj" fmla="val 17647"/>
            </a:avLst>
          </a:prstGeom>
          <a:solidFill>
            <a:srgbClr val="1050D0"/>
          </a:solidFill>
          <a:ln w="12700">
            <a:solidFill>
              <a:srgbClr val="1050D0"/>
            </a:solidFill>
            <a:prstDash val="solid"/>
          </a:ln>
        </p:spPr>
      </p:sp>
      <p:sp>
        <p:nvSpPr>
          <p:cNvPr id="43" name="Text 41"/>
          <p:cNvSpPr/>
          <p:nvPr/>
        </p:nvSpPr>
        <p:spPr>
          <a:xfrm>
            <a:off x="4754880" y="1097280"/>
            <a:ext cx="4005072"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COX SURVIVAL (Time-to-Event Y)</a:t>
            </a:r>
            <a:endParaRPr lang="en-US" sz="1050" dirty="0"/>
          </a:p>
        </p:txBody>
      </p:sp>
      <p:sp>
        <p:nvSpPr>
          <p:cNvPr id="44" name="Text 42"/>
          <p:cNvSpPr/>
          <p:nvPr/>
        </p:nvSpPr>
        <p:spPr>
          <a:xfrm>
            <a:off x="4791456" y="1463040"/>
            <a:ext cx="3950208" cy="256032"/>
          </a:xfrm>
          <a:prstGeom prst="rect">
            <a:avLst/>
          </a:prstGeom>
          <a:noFill/>
          <a:ln/>
        </p:spPr>
        <p:txBody>
          <a:bodyPr wrap="square" lIns="0" tIns="0" rIns="0" bIns="0" rtlCol="0" anchor="ctr"/>
          <a:lstStyle/>
          <a:p>
            <a:pPr algn="ctr" indent="0" marL="0">
              <a:buNone/>
            </a:pPr>
            <a:r>
              <a:rPr lang="en-US" sz="1200" b="1" dirty="0">
                <a:solidFill>
                  <a:srgbClr val="1050D0"/>
                </a:solidFill>
                <a:latin typeface="Courier New" pitchFamily="34" charset="0"/>
                <a:ea typeface="Courier New" pitchFamily="34" charset="-122"/>
                <a:cs typeface="Courier New" pitchFamily="34" charset="-120"/>
              </a:rPr>
              <a:t>h(t|X) = h₀(t) · exp(b₁X₁ + ... + bₚXₚ)</a:t>
            </a:r>
            <a:endParaRPr lang="en-US" sz="1200" dirty="0"/>
          </a:p>
        </p:txBody>
      </p:sp>
      <p:sp>
        <p:nvSpPr>
          <p:cNvPr id="45" name="Text 43"/>
          <p:cNvSpPr/>
          <p:nvPr/>
        </p:nvSpPr>
        <p:spPr>
          <a:xfrm>
            <a:off x="4791456" y="1773936"/>
            <a:ext cx="3950208" cy="256032"/>
          </a:xfrm>
          <a:prstGeom prst="rect">
            <a:avLst/>
          </a:prstGeom>
          <a:noFill/>
          <a:ln/>
        </p:spPr>
        <p:txBody>
          <a:bodyPr wrap="square" lIns="0" tIns="0" rIns="0" bIns="0" rtlCol="0" anchor="ctr"/>
          <a:lstStyle/>
          <a:p>
            <a:pPr indent="0" marL="0">
              <a:buNone/>
            </a:pPr>
            <a:r>
              <a:rPr lang="en-US" sz="950" dirty="0">
                <a:solidFill>
                  <a:srgbClr val="0C1428"/>
                </a:solidFill>
                <a:latin typeface="Calibri" pitchFamily="34" charset="0"/>
                <a:ea typeface="Calibri" pitchFamily="34" charset="-122"/>
                <a:cs typeface="Calibri" pitchFamily="34" charset="-120"/>
              </a:rPr>
              <a:t>HR = exp(bⱼ) = multiplicative change in hazard (event rate) per unit increase in Xⱼ</a:t>
            </a:r>
            <a:endParaRPr lang="en-US" sz="950" dirty="0"/>
          </a:p>
        </p:txBody>
      </p:sp>
      <p:sp>
        <p:nvSpPr>
          <p:cNvPr id="46" name="Shape 44"/>
          <p:cNvSpPr/>
          <p:nvPr/>
        </p:nvSpPr>
        <p:spPr>
          <a:xfrm>
            <a:off x="4773168" y="2084832"/>
            <a:ext cx="1298448" cy="256032"/>
          </a:xfrm>
          <a:prstGeom prst="rect">
            <a:avLst/>
          </a:prstGeom>
          <a:solidFill>
            <a:srgbClr val="1050D0"/>
          </a:solidFill>
          <a:ln w="12700">
            <a:solidFill>
              <a:srgbClr val="1050D0"/>
            </a:solidFill>
            <a:prstDash val="solid"/>
          </a:ln>
        </p:spPr>
      </p:sp>
      <p:sp>
        <p:nvSpPr>
          <p:cNvPr id="47" name="Text 45"/>
          <p:cNvSpPr/>
          <p:nvPr/>
        </p:nvSpPr>
        <p:spPr>
          <a:xfrm>
            <a:off x="4773168" y="2084832"/>
            <a:ext cx="1298448"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HR Value</a:t>
            </a:r>
            <a:endParaRPr lang="en-US" sz="800" dirty="0"/>
          </a:p>
        </p:txBody>
      </p:sp>
      <p:sp>
        <p:nvSpPr>
          <p:cNvPr id="48" name="Shape 46"/>
          <p:cNvSpPr/>
          <p:nvPr/>
        </p:nvSpPr>
        <p:spPr>
          <a:xfrm>
            <a:off x="6071616" y="2084832"/>
            <a:ext cx="2724912" cy="256032"/>
          </a:xfrm>
          <a:prstGeom prst="rect">
            <a:avLst/>
          </a:prstGeom>
          <a:solidFill>
            <a:srgbClr val="1050D0"/>
          </a:solidFill>
          <a:ln w="12700">
            <a:solidFill>
              <a:srgbClr val="1050D0"/>
            </a:solidFill>
            <a:prstDash val="solid"/>
          </a:ln>
        </p:spPr>
      </p:sp>
      <p:sp>
        <p:nvSpPr>
          <p:cNvPr id="49" name="Text 47"/>
          <p:cNvSpPr/>
          <p:nvPr/>
        </p:nvSpPr>
        <p:spPr>
          <a:xfrm>
            <a:off x="6071616" y="2084832"/>
            <a:ext cx="272491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Meaning</a:t>
            </a:r>
            <a:endParaRPr lang="en-US" sz="800" dirty="0"/>
          </a:p>
        </p:txBody>
      </p:sp>
      <p:sp>
        <p:nvSpPr>
          <p:cNvPr id="50" name="Shape 48"/>
          <p:cNvSpPr/>
          <p:nvPr/>
        </p:nvSpPr>
        <p:spPr>
          <a:xfrm>
            <a:off x="4773168" y="2340864"/>
            <a:ext cx="1298448" cy="256032"/>
          </a:xfrm>
          <a:prstGeom prst="rect">
            <a:avLst/>
          </a:prstGeom>
          <a:solidFill>
            <a:srgbClr val="EAF6FA"/>
          </a:solidFill>
          <a:ln w="6350">
            <a:solidFill>
              <a:srgbClr val="A0C8D8"/>
            </a:solidFill>
            <a:prstDash val="solid"/>
          </a:ln>
        </p:spPr>
      </p:sp>
      <p:sp>
        <p:nvSpPr>
          <p:cNvPr id="51" name="Text 49"/>
          <p:cNvSpPr/>
          <p:nvPr/>
        </p:nvSpPr>
        <p:spPr>
          <a:xfrm>
            <a:off x="4773168" y="2340864"/>
            <a:ext cx="1298448"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HR = 1</a:t>
            </a:r>
            <a:endParaRPr lang="en-US" sz="800" dirty="0"/>
          </a:p>
        </p:txBody>
      </p:sp>
      <p:sp>
        <p:nvSpPr>
          <p:cNvPr id="52" name="Shape 50"/>
          <p:cNvSpPr/>
          <p:nvPr/>
        </p:nvSpPr>
        <p:spPr>
          <a:xfrm>
            <a:off x="6071616" y="2340864"/>
            <a:ext cx="2724912" cy="256032"/>
          </a:xfrm>
          <a:prstGeom prst="rect">
            <a:avLst/>
          </a:prstGeom>
          <a:solidFill>
            <a:srgbClr val="EAF6FA"/>
          </a:solidFill>
          <a:ln w="6350">
            <a:solidFill>
              <a:srgbClr val="A0C8D8"/>
            </a:solidFill>
            <a:prstDash val="solid"/>
          </a:ln>
        </p:spPr>
      </p:sp>
      <p:sp>
        <p:nvSpPr>
          <p:cNvPr id="53" name="Text 51"/>
          <p:cNvSpPr/>
          <p:nvPr/>
        </p:nvSpPr>
        <p:spPr>
          <a:xfrm>
            <a:off x="6071616" y="2340864"/>
            <a:ext cx="27249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No effect on hazard / event rate</a:t>
            </a:r>
            <a:endParaRPr lang="en-US" sz="800" dirty="0"/>
          </a:p>
        </p:txBody>
      </p:sp>
      <p:sp>
        <p:nvSpPr>
          <p:cNvPr id="54" name="Shape 52"/>
          <p:cNvSpPr/>
          <p:nvPr/>
        </p:nvSpPr>
        <p:spPr>
          <a:xfrm>
            <a:off x="4773168" y="2596896"/>
            <a:ext cx="1298448" cy="256032"/>
          </a:xfrm>
          <a:prstGeom prst="rect">
            <a:avLst/>
          </a:prstGeom>
          <a:solidFill>
            <a:srgbClr val="FFFFFF"/>
          </a:solidFill>
          <a:ln w="6350">
            <a:solidFill>
              <a:srgbClr val="A0C8D8"/>
            </a:solidFill>
            <a:prstDash val="solid"/>
          </a:ln>
        </p:spPr>
      </p:sp>
      <p:sp>
        <p:nvSpPr>
          <p:cNvPr id="55" name="Text 53"/>
          <p:cNvSpPr/>
          <p:nvPr/>
        </p:nvSpPr>
        <p:spPr>
          <a:xfrm>
            <a:off x="4773168" y="2596896"/>
            <a:ext cx="1298448"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HR &gt; 1</a:t>
            </a:r>
            <a:endParaRPr lang="en-US" sz="800" dirty="0"/>
          </a:p>
        </p:txBody>
      </p:sp>
      <p:sp>
        <p:nvSpPr>
          <p:cNvPr id="56" name="Shape 54"/>
          <p:cNvSpPr/>
          <p:nvPr/>
        </p:nvSpPr>
        <p:spPr>
          <a:xfrm>
            <a:off x="6071616" y="2596896"/>
            <a:ext cx="2724912" cy="256032"/>
          </a:xfrm>
          <a:prstGeom prst="rect">
            <a:avLst/>
          </a:prstGeom>
          <a:solidFill>
            <a:srgbClr val="FFFFFF"/>
          </a:solidFill>
          <a:ln w="6350">
            <a:solidFill>
              <a:srgbClr val="A0C8D8"/>
            </a:solidFill>
            <a:prstDash val="solid"/>
          </a:ln>
        </p:spPr>
      </p:sp>
      <p:sp>
        <p:nvSpPr>
          <p:cNvPr id="57" name="Text 55"/>
          <p:cNvSpPr/>
          <p:nvPr/>
        </p:nvSpPr>
        <p:spPr>
          <a:xfrm>
            <a:off x="6071616" y="2596896"/>
            <a:ext cx="27249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Predictor increases hazard (faster event)</a:t>
            </a:r>
            <a:endParaRPr lang="en-US" sz="800" dirty="0"/>
          </a:p>
        </p:txBody>
      </p:sp>
      <p:sp>
        <p:nvSpPr>
          <p:cNvPr id="58" name="Shape 56"/>
          <p:cNvSpPr/>
          <p:nvPr/>
        </p:nvSpPr>
        <p:spPr>
          <a:xfrm>
            <a:off x="4773168" y="2852928"/>
            <a:ext cx="1298448" cy="256032"/>
          </a:xfrm>
          <a:prstGeom prst="rect">
            <a:avLst/>
          </a:prstGeom>
          <a:solidFill>
            <a:srgbClr val="EAF6FA"/>
          </a:solidFill>
          <a:ln w="6350">
            <a:solidFill>
              <a:srgbClr val="A0C8D8"/>
            </a:solidFill>
            <a:prstDash val="solid"/>
          </a:ln>
        </p:spPr>
      </p:sp>
      <p:sp>
        <p:nvSpPr>
          <p:cNvPr id="59" name="Text 57"/>
          <p:cNvSpPr/>
          <p:nvPr/>
        </p:nvSpPr>
        <p:spPr>
          <a:xfrm>
            <a:off x="4773168" y="2852928"/>
            <a:ext cx="1298448"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HR &lt; 1</a:t>
            </a:r>
            <a:endParaRPr lang="en-US" sz="800" dirty="0"/>
          </a:p>
        </p:txBody>
      </p:sp>
      <p:sp>
        <p:nvSpPr>
          <p:cNvPr id="60" name="Shape 58"/>
          <p:cNvSpPr/>
          <p:nvPr/>
        </p:nvSpPr>
        <p:spPr>
          <a:xfrm>
            <a:off x="6071616" y="2852928"/>
            <a:ext cx="2724912" cy="256032"/>
          </a:xfrm>
          <a:prstGeom prst="rect">
            <a:avLst/>
          </a:prstGeom>
          <a:solidFill>
            <a:srgbClr val="EAF6FA"/>
          </a:solidFill>
          <a:ln w="6350">
            <a:solidFill>
              <a:srgbClr val="A0C8D8"/>
            </a:solidFill>
            <a:prstDash val="solid"/>
          </a:ln>
        </p:spPr>
      </p:sp>
      <p:sp>
        <p:nvSpPr>
          <p:cNvPr id="61" name="Text 59"/>
          <p:cNvSpPr/>
          <p:nvPr/>
        </p:nvSpPr>
        <p:spPr>
          <a:xfrm>
            <a:off x="6071616" y="2852928"/>
            <a:ext cx="27249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Predictor decreases hazard (longer survival)</a:t>
            </a:r>
            <a:endParaRPr lang="en-US" sz="800" dirty="0"/>
          </a:p>
        </p:txBody>
      </p:sp>
      <p:sp>
        <p:nvSpPr>
          <p:cNvPr id="62" name="Shape 60"/>
          <p:cNvSpPr/>
          <p:nvPr/>
        </p:nvSpPr>
        <p:spPr>
          <a:xfrm>
            <a:off x="4773168" y="3108960"/>
            <a:ext cx="1298448" cy="256032"/>
          </a:xfrm>
          <a:prstGeom prst="rect">
            <a:avLst/>
          </a:prstGeom>
          <a:solidFill>
            <a:srgbClr val="FFFFFF"/>
          </a:solidFill>
          <a:ln w="6350">
            <a:solidFill>
              <a:srgbClr val="A0C8D8"/>
            </a:solidFill>
            <a:prstDash val="solid"/>
          </a:ln>
        </p:spPr>
      </p:sp>
      <p:sp>
        <p:nvSpPr>
          <p:cNvPr id="63" name="Text 61"/>
          <p:cNvSpPr/>
          <p:nvPr/>
        </p:nvSpPr>
        <p:spPr>
          <a:xfrm>
            <a:off x="4773168" y="3108960"/>
            <a:ext cx="1298448"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HR = 2.84</a:t>
            </a:r>
            <a:endParaRPr lang="en-US" sz="800" dirty="0"/>
          </a:p>
        </p:txBody>
      </p:sp>
      <p:sp>
        <p:nvSpPr>
          <p:cNvPr id="64" name="Shape 62"/>
          <p:cNvSpPr/>
          <p:nvPr/>
        </p:nvSpPr>
        <p:spPr>
          <a:xfrm>
            <a:off x="6071616" y="3108960"/>
            <a:ext cx="2724912" cy="256032"/>
          </a:xfrm>
          <a:prstGeom prst="rect">
            <a:avLst/>
          </a:prstGeom>
          <a:solidFill>
            <a:srgbClr val="FFFFFF"/>
          </a:solidFill>
          <a:ln w="6350">
            <a:solidFill>
              <a:srgbClr val="A0C8D8"/>
            </a:solidFill>
            <a:prstDash val="solid"/>
          </a:ln>
        </p:spPr>
      </p:sp>
      <p:sp>
        <p:nvSpPr>
          <p:cNvPr id="65" name="Text 63"/>
          <p:cNvSpPr/>
          <p:nvPr/>
        </p:nvSpPr>
        <p:spPr>
          <a:xfrm>
            <a:off x="6071616" y="3108960"/>
            <a:ext cx="27249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Event occurs at 2.84× the baseline rate</a:t>
            </a:r>
            <a:endParaRPr lang="en-US" sz="800" dirty="0"/>
          </a:p>
        </p:txBody>
      </p:sp>
      <p:sp>
        <p:nvSpPr>
          <p:cNvPr id="66" name="Shape 64"/>
          <p:cNvSpPr/>
          <p:nvPr/>
        </p:nvSpPr>
        <p:spPr>
          <a:xfrm>
            <a:off x="4773168" y="3401568"/>
            <a:ext cx="3968496" cy="1554480"/>
          </a:xfrm>
          <a:prstGeom prst="roundRect">
            <a:avLst>
              <a:gd name="adj" fmla="val 3529"/>
            </a:avLst>
          </a:prstGeom>
          <a:solidFill>
            <a:srgbClr val="E0EDF8"/>
          </a:solidFill>
          <a:ln w="10160">
            <a:solidFill>
              <a:srgbClr val="1050D0"/>
            </a:solidFill>
            <a:prstDash val="solid"/>
          </a:ln>
        </p:spPr>
      </p:sp>
      <p:sp>
        <p:nvSpPr>
          <p:cNvPr id="67" name="Text 65"/>
          <p:cNvSpPr/>
          <p:nvPr/>
        </p:nvSpPr>
        <p:spPr>
          <a:xfrm>
            <a:off x="4846320" y="3474720"/>
            <a:ext cx="3822192" cy="1426464"/>
          </a:xfrm>
          <a:prstGeom prst="rect">
            <a:avLst/>
          </a:prstGeom>
          <a:noFill/>
          <a:ln/>
        </p:spPr>
        <p:txBody>
          <a:bodyPr wrap="square" lIns="0" tIns="0" rIns="0" bIns="0" rtlCol="0" anchor="ctr"/>
          <a:lstStyle/>
          <a:p>
            <a:pPr indent="0" marL="0">
              <a:buNone/>
            </a:pPr>
            <a:r>
              <a:rPr lang="en-US" sz="950" b="1" dirty="0">
                <a:solidFill>
                  <a:srgbClr val="1050D0"/>
                </a:solidFill>
                <a:latin typeface="Calibri" pitchFamily="34" charset="0"/>
                <a:ea typeface="Calibri" pitchFamily="34" charset="-122"/>
                <a:cs typeface="Calibri" pitchFamily="34" charset="-120"/>
              </a:rPr>
              <a:t>MTN Nigeria Customer Churn:
</a:t>
            </a:r>
            <a:pPr indent="0" marL="0">
              <a:buNone/>
            </a:pPr>
            <a:r>
              <a:rPr lang="en-US" sz="950" dirty="0">
                <a:solidFill>
                  <a:srgbClr val="0C1428"/>
                </a:solidFill>
                <a:latin typeface="Calibri" pitchFamily="34" charset="0"/>
                <a:ea typeface="Calibri" pitchFamily="34" charset="-122"/>
                <a:cs typeface="Calibri" pitchFamily="34" charset="-120"/>
              </a:rPr>
              <a:t>Cox regression on 120,000 subscribers.</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24-month observation, 18,400 churn events.</a:t>
            </a:r>
            <a:endParaRPr lang="en-US" sz="950" dirty="0"/>
          </a:p>
          <a:p>
            <a:pPr indent="0" marL="0">
              <a:buNone/>
            </a:pP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Key Hazard Ratios:</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low_ARPU: HR=2.84 (2.84× faster churn)</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no_bundle: HR=1.92 (+92% hazard)</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per complaint: HR=1.47 (+47% hazard)</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years_as_customer: HR=0.83 (-17% per year)</a:t>
            </a:r>
            <a:endParaRPr lang="en-US" sz="950" dirty="0"/>
          </a:p>
          <a:p>
            <a:pPr indent="0" marL="0">
              <a:buNone/>
            </a:pP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Harrell's C: 0.84 (excellent discrimination).</a:t>
            </a:r>
            <a:endParaRPr lang="en-US" sz="950" dirty="0"/>
          </a:p>
          <a:p>
            <a:pPr indent="0" marL="0">
              <a:buNone/>
            </a:pPr>
            <a:r>
              <a:rPr lang="en-US" sz="950" dirty="0">
                <a:solidFill>
                  <a:srgbClr val="0C1428"/>
                </a:solidFill>
                <a:latin typeface="Calibri" pitchFamily="34" charset="0"/>
                <a:ea typeface="Calibri" pitchFamily="34" charset="-122"/>
                <a:cs typeface="Calibri" pitchFamily="34" charset="-120"/>
              </a:rPr>
              <a:t>Intervention ROI: N175M per campaign cycle.</a:t>
            </a:r>
            <a:endParaRPr lang="en-US" sz="950" dirty="0"/>
          </a:p>
        </p:txBody>
      </p:sp>
      <p:sp>
        <p:nvSpPr>
          <p:cNvPr id="68" name="Shape 66"/>
          <p:cNvSpPr/>
          <p:nvPr/>
        </p:nvSpPr>
        <p:spPr>
          <a:xfrm>
            <a:off x="256032" y="5157216"/>
            <a:ext cx="8631936" cy="347472"/>
          </a:xfrm>
          <a:prstGeom prst="roundRect">
            <a:avLst>
              <a:gd name="adj" fmla="val 15789"/>
            </a:avLst>
          </a:prstGeom>
          <a:solidFill>
            <a:srgbClr val="FFFBEC"/>
          </a:solidFill>
          <a:ln w="19050">
            <a:solidFill>
              <a:srgbClr val="D4A010"/>
            </a:solidFill>
            <a:prstDash val="solid"/>
          </a:ln>
        </p:spPr>
      </p:sp>
      <p:sp>
        <p:nvSpPr>
          <p:cNvPr id="69" name="Text 67"/>
          <p:cNvSpPr/>
          <p:nvPr/>
        </p:nvSpPr>
        <p:spPr>
          <a:xfrm>
            <a:off x="384048" y="5157216"/>
            <a:ext cx="8449056" cy="347472"/>
          </a:xfrm>
          <a:prstGeom prst="rect">
            <a:avLst/>
          </a:prstGeom>
          <a:noFill/>
          <a:ln/>
        </p:spPr>
        <p:txBody>
          <a:bodyPr wrap="square" lIns="0" tIns="0" rIns="0" bIns="0" rtlCol="0" anchor="ctr"/>
          <a:lstStyle/>
          <a:p>
            <a:pPr indent="0" marL="0">
              <a:buNone/>
            </a:pPr>
            <a:r>
              <a:rPr lang="en-US" sz="950" dirty="0">
                <a:solidFill>
                  <a:srgbClr val="6B4800"/>
                </a:solidFill>
                <a:latin typeface="Calibri" pitchFamily="34" charset="0"/>
                <a:ea typeface="Calibri" pitchFamily="34" charset="-122"/>
                <a:cs typeface="Calibri" pitchFamily="34" charset="-120"/>
              </a:rPr>
              <a:t>OVERDISPERSION CHECK: Fit Poisson first. Calculate dispersion statistic = Pearson chi-sq / df. If &gt;&gt; 1, switch to Negative Binomial. Compare AIC: NB AIC &lt; Poisson AIC = NB is better fit. PROPORTIONAL HAZARDS: check Schoenfeld residuals test (p &gt; .05 = PH holds).</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6858000" y="-914400"/>
            <a:ext cx="3657600" cy="3657600"/>
          </a:xfrm>
          <a:prstGeom prst="ellipse">
            <a:avLst/>
          </a:prstGeom>
          <a:solidFill>
            <a:srgbClr val="0A7E8C">
              <a:alpha val="16000"/>
            </a:srgbClr>
          </a:solidFill>
          <a:ln w="12700">
            <a:solidFill>
              <a:srgbClr val="0A7E8C"/>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Polynomial, GAM and Quantile Regression</a:t>
            </a:r>
            <a:endParaRPr lang="en-US" sz="2800" dirty="0"/>
          </a:p>
        </p:txBody>
      </p:sp>
      <p:sp>
        <p:nvSpPr>
          <p:cNvPr id="4" name="Shape 2"/>
          <p:cNvSpPr/>
          <p:nvPr/>
        </p:nvSpPr>
        <p:spPr>
          <a:xfrm>
            <a:off x="274320" y="914400"/>
            <a:ext cx="2651760" cy="4133088"/>
          </a:xfrm>
          <a:prstGeom prst="roundRect">
            <a:avLst>
              <a:gd name="adj" fmla="val 3448"/>
            </a:avLst>
          </a:prstGeom>
          <a:solidFill>
            <a:srgbClr val="0C1428"/>
          </a:solidFill>
          <a:ln w="12700">
            <a:solidFill>
              <a:srgbClr val="14C870"/>
            </a:solidFill>
            <a:prstDash val="solid"/>
          </a:ln>
        </p:spPr>
      </p:sp>
      <p:sp>
        <p:nvSpPr>
          <p:cNvPr id="5" name="Shape 3"/>
          <p:cNvSpPr/>
          <p:nvPr/>
        </p:nvSpPr>
        <p:spPr>
          <a:xfrm>
            <a:off x="347472" y="987552"/>
            <a:ext cx="2505456" cy="292608"/>
          </a:xfrm>
          <a:prstGeom prst="roundRect">
            <a:avLst>
              <a:gd name="adj" fmla="val 15625"/>
            </a:avLst>
          </a:prstGeom>
          <a:solidFill>
            <a:srgbClr val="0A8A50"/>
          </a:solidFill>
          <a:ln w="12700">
            <a:solidFill>
              <a:srgbClr val="0A8A50"/>
            </a:solidFill>
            <a:prstDash val="solid"/>
          </a:ln>
        </p:spPr>
      </p:sp>
      <p:sp>
        <p:nvSpPr>
          <p:cNvPr id="6" name="Text 4"/>
          <p:cNvSpPr/>
          <p:nvPr/>
        </p:nvSpPr>
        <p:spPr>
          <a:xfrm>
            <a:off x="347472" y="987552"/>
            <a:ext cx="250545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POLYNOMIAL</a:t>
            </a:r>
            <a:endParaRPr lang="en-US" sz="1050" dirty="0"/>
          </a:p>
        </p:txBody>
      </p:sp>
      <p:sp>
        <p:nvSpPr>
          <p:cNvPr id="7" name="Text 5"/>
          <p:cNvSpPr/>
          <p:nvPr/>
        </p:nvSpPr>
        <p:spPr>
          <a:xfrm>
            <a:off x="402336" y="1335024"/>
            <a:ext cx="2359152" cy="3218688"/>
          </a:xfrm>
          <a:prstGeom prst="rect">
            <a:avLst/>
          </a:prstGeom>
          <a:noFill/>
          <a:ln/>
        </p:spPr>
        <p:txBody>
          <a:bodyPr wrap="square" lIns="0" tIns="0" rIns="0" bIns="0" rtlCol="0" anchor="ctr"/>
          <a:lstStyle/>
          <a:p>
            <a:pPr indent="0" marL="0">
              <a:buNone/>
            </a:pPr>
            <a:r>
              <a:rPr lang="en-US" sz="950" dirty="0">
                <a:solidFill>
                  <a:srgbClr val="90D8E0"/>
                </a:solidFill>
                <a:latin typeface="Calibri" pitchFamily="34" charset="0"/>
                <a:ea typeface="Calibri" pitchFamily="34" charset="-122"/>
                <a:cs typeface="Calibri" pitchFamily="34" charset="-120"/>
              </a:rPr>
              <a:t>Y = b₀+b₁X+b₂X²+b₃X³+ε</a:t>
            </a:r>
            <a:endParaRPr lang="en-US" sz="950" dirty="0"/>
          </a:p>
          <a:p>
            <a:pPr indent="0" marL="0">
              <a:buNone/>
            </a:pP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Linear in PARAMETERS (not X).</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All OLS theory applies.</a:t>
            </a:r>
            <a:endParaRPr lang="en-US" sz="950" dirty="0"/>
          </a:p>
          <a:p>
            <a:pPr indent="0" marL="0">
              <a:buNone/>
            </a:pP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Marginal effect:</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dY/dX = b₁ + 2b₂X + 3b₃X²</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(changes at every value of X)</a:t>
            </a:r>
            <a:endParaRPr lang="en-US" sz="950" dirty="0"/>
          </a:p>
          <a:p>
            <a:pPr indent="0" marL="0">
              <a:buNone/>
            </a:pP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Vertex (peak/trough):</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X* = -b₁/(2b₂)</a:t>
            </a:r>
            <a:endParaRPr lang="en-US" sz="950" dirty="0"/>
          </a:p>
          <a:p>
            <a:pPr indent="0" marL="0">
              <a:buNone/>
            </a:pP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MTN Nigeria Salary:</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Ŷ = 1.82M + 310k·Exp - 4.5k·Exp²</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Peak salary at Exp* = 34.4 years</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At Exp=10: marginal N220k/yr</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At Exp=25: marginal N85k/yr</a:t>
            </a:r>
            <a:endParaRPr lang="en-US" sz="950" dirty="0"/>
          </a:p>
          <a:p>
            <a:pPr indent="0" marL="0">
              <a:buNone/>
            </a:pP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Diminishing returns clearly quantified.</a:t>
            </a:r>
            <a:endParaRPr lang="en-US" sz="950" dirty="0"/>
          </a:p>
        </p:txBody>
      </p:sp>
      <p:sp>
        <p:nvSpPr>
          <p:cNvPr id="8" name="Shape 6"/>
          <p:cNvSpPr/>
          <p:nvPr/>
        </p:nvSpPr>
        <p:spPr>
          <a:xfrm>
            <a:off x="3035808" y="914400"/>
            <a:ext cx="2651760" cy="4133088"/>
          </a:xfrm>
          <a:prstGeom prst="roundRect">
            <a:avLst>
              <a:gd name="adj" fmla="val 3448"/>
            </a:avLst>
          </a:prstGeom>
          <a:solidFill>
            <a:srgbClr val="0C1428"/>
          </a:solidFill>
          <a:ln w="12700">
            <a:solidFill>
              <a:srgbClr val="9840F0"/>
            </a:solidFill>
            <a:prstDash val="solid"/>
          </a:ln>
        </p:spPr>
      </p:sp>
      <p:sp>
        <p:nvSpPr>
          <p:cNvPr id="9" name="Shape 7"/>
          <p:cNvSpPr/>
          <p:nvPr/>
        </p:nvSpPr>
        <p:spPr>
          <a:xfrm>
            <a:off x="3108960" y="987552"/>
            <a:ext cx="2505456" cy="292608"/>
          </a:xfrm>
          <a:prstGeom prst="roundRect">
            <a:avLst>
              <a:gd name="adj" fmla="val 15625"/>
            </a:avLst>
          </a:prstGeom>
          <a:solidFill>
            <a:srgbClr val="6010C8"/>
          </a:solidFill>
          <a:ln w="12700">
            <a:solidFill>
              <a:srgbClr val="6010C8"/>
            </a:solidFill>
            <a:prstDash val="solid"/>
          </a:ln>
        </p:spPr>
      </p:sp>
      <p:sp>
        <p:nvSpPr>
          <p:cNvPr id="10" name="Text 8"/>
          <p:cNvSpPr/>
          <p:nvPr/>
        </p:nvSpPr>
        <p:spPr>
          <a:xfrm>
            <a:off x="3108960" y="987552"/>
            <a:ext cx="2505456"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SPLINES + GAMs</a:t>
            </a:r>
            <a:endParaRPr lang="en-US" sz="1050" dirty="0"/>
          </a:p>
        </p:txBody>
      </p:sp>
      <p:sp>
        <p:nvSpPr>
          <p:cNvPr id="11" name="Text 9"/>
          <p:cNvSpPr/>
          <p:nvPr/>
        </p:nvSpPr>
        <p:spPr>
          <a:xfrm>
            <a:off x="3090672" y="1335024"/>
            <a:ext cx="2542032" cy="3218688"/>
          </a:xfrm>
          <a:prstGeom prst="rect">
            <a:avLst/>
          </a:prstGeom>
          <a:noFill/>
          <a:ln/>
        </p:spPr>
        <p:txBody>
          <a:bodyPr wrap="square" lIns="0" tIns="0" rIns="0" bIns="0" rtlCol="0" anchor="ctr"/>
          <a:lstStyle/>
          <a:p>
            <a:pPr indent="0" marL="0">
              <a:buNone/>
            </a:pPr>
            <a:r>
              <a:rPr lang="en-US" sz="950" dirty="0">
                <a:solidFill>
                  <a:srgbClr val="90D8E0"/>
                </a:solidFill>
                <a:latin typeface="Calibri" pitchFamily="34" charset="0"/>
                <a:ea typeface="Calibri" pitchFamily="34" charset="-122"/>
                <a:cs typeface="Calibri" pitchFamily="34" charset="-120"/>
              </a:rPr>
              <a:t>SPLINE: piecewise polynomials</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with smooth joins at KNOTS.</a:t>
            </a:r>
            <a:endParaRPr lang="en-US" sz="950" dirty="0"/>
          </a:p>
          <a:p>
            <a:pPr indent="0" marL="0">
              <a:buNone/>
            </a:pP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Linear spline: different slopes</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in different X regions.</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Cubic spline: smooth first &amp;</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second derivatives at knots.</a:t>
            </a:r>
            <a:endParaRPr lang="en-US" sz="950" dirty="0"/>
          </a:p>
          <a:p>
            <a:pPr indent="0" marL="0">
              <a:buNone/>
            </a:pP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Lagos house price spline:</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Knot at 100sqm + knot at 200sqm.</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Small apt slope: N210k/sqm</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Mid-range slope: N185k/sqm</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Luxury slope: N155k/sqm</a:t>
            </a:r>
            <a:endParaRPr lang="en-US" sz="950" dirty="0"/>
          </a:p>
          <a:p>
            <a:pPr indent="0" marL="0">
              <a:buNone/>
            </a:pP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GAM (Generalised Additive Model):</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Y = b₀ + f₁(X₁) + f₂(X₂) + ε</a:t>
            </a:r>
            <a:endParaRPr lang="en-US" sz="950" dirty="0"/>
          </a:p>
          <a:p>
            <a:pPr indent="0" marL="0">
              <a:buNone/>
            </a:pP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Each fⱼ is a smooth data-driven</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curve. EDF=1: linear. EDF&gt;1:</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non-linear. No need to specify</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functional form in advance.</a:t>
            </a:r>
            <a:endParaRPr lang="en-US" sz="950" dirty="0"/>
          </a:p>
        </p:txBody>
      </p:sp>
      <p:sp>
        <p:nvSpPr>
          <p:cNvPr id="12" name="Shape 10"/>
          <p:cNvSpPr/>
          <p:nvPr/>
        </p:nvSpPr>
        <p:spPr>
          <a:xfrm>
            <a:off x="5797296" y="914400"/>
            <a:ext cx="3054096" cy="4133088"/>
          </a:xfrm>
          <a:prstGeom prst="roundRect">
            <a:avLst>
              <a:gd name="adj" fmla="val 2994"/>
            </a:avLst>
          </a:prstGeom>
          <a:solidFill>
            <a:srgbClr val="0C1428"/>
          </a:solidFill>
          <a:ln w="12700">
            <a:solidFill>
              <a:srgbClr val="F0C840"/>
            </a:solidFill>
            <a:prstDash val="solid"/>
          </a:ln>
        </p:spPr>
      </p:sp>
      <p:sp>
        <p:nvSpPr>
          <p:cNvPr id="13" name="Shape 11"/>
          <p:cNvSpPr/>
          <p:nvPr/>
        </p:nvSpPr>
        <p:spPr>
          <a:xfrm>
            <a:off x="5870448" y="987552"/>
            <a:ext cx="2907792" cy="292608"/>
          </a:xfrm>
          <a:prstGeom prst="roundRect">
            <a:avLst>
              <a:gd name="adj" fmla="val 15625"/>
            </a:avLst>
          </a:prstGeom>
          <a:solidFill>
            <a:srgbClr val="D4A010"/>
          </a:solidFill>
          <a:ln w="12700">
            <a:solidFill>
              <a:srgbClr val="D4A010"/>
            </a:solidFill>
            <a:prstDash val="solid"/>
          </a:ln>
        </p:spPr>
      </p:sp>
      <p:sp>
        <p:nvSpPr>
          <p:cNvPr id="14" name="Text 12"/>
          <p:cNvSpPr/>
          <p:nvPr/>
        </p:nvSpPr>
        <p:spPr>
          <a:xfrm>
            <a:off x="5870448" y="987552"/>
            <a:ext cx="2907792" cy="292608"/>
          </a:xfrm>
          <a:prstGeom prst="rect">
            <a:avLst/>
          </a:prstGeom>
          <a:noFill/>
          <a:ln/>
        </p:spPr>
        <p:txBody>
          <a:bodyPr wrap="square" lIns="0" tIns="0" rIns="0" bIns="0" rtlCol="0" anchor="ctr"/>
          <a:lstStyle/>
          <a:p>
            <a:pPr algn="ctr" indent="0" marL="0">
              <a:buNone/>
            </a:pPr>
            <a:r>
              <a:rPr lang="en-US" sz="1050" b="1" dirty="0">
                <a:solidFill>
                  <a:srgbClr val="070C18"/>
                </a:solidFill>
                <a:latin typeface="Calibri" pitchFamily="34" charset="0"/>
                <a:ea typeface="Calibri" pitchFamily="34" charset="-122"/>
                <a:cs typeface="Calibri" pitchFamily="34" charset="-120"/>
              </a:rPr>
              <a:t>QUANTILE REGRESSION</a:t>
            </a:r>
            <a:endParaRPr lang="en-US" sz="1050" dirty="0"/>
          </a:p>
        </p:txBody>
      </p:sp>
      <p:sp>
        <p:nvSpPr>
          <p:cNvPr id="15" name="Text 13"/>
          <p:cNvSpPr/>
          <p:nvPr/>
        </p:nvSpPr>
        <p:spPr>
          <a:xfrm>
            <a:off x="5943600" y="1335024"/>
            <a:ext cx="2834640" cy="3218688"/>
          </a:xfrm>
          <a:prstGeom prst="rect">
            <a:avLst/>
          </a:prstGeom>
          <a:noFill/>
          <a:ln/>
        </p:spPr>
        <p:txBody>
          <a:bodyPr wrap="square" lIns="0" tIns="0" rIns="0" bIns="0" rtlCol="0" anchor="ctr"/>
          <a:lstStyle/>
          <a:p>
            <a:pPr indent="0" marL="0">
              <a:buNone/>
            </a:pPr>
            <a:r>
              <a:rPr lang="en-US" sz="950" dirty="0">
                <a:solidFill>
                  <a:srgbClr val="90D8E0"/>
                </a:solidFill>
                <a:latin typeface="Calibri" pitchFamily="34" charset="0"/>
                <a:ea typeface="Calibri" pitchFamily="34" charset="-122"/>
                <a:cs typeface="Calibri" pitchFamily="34" charset="-120"/>
              </a:rPr>
              <a:t>Models the conditional QUANTILE</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of Y at level τ, not the mean.</a:t>
            </a:r>
            <a:endParaRPr lang="en-US" sz="950" dirty="0"/>
          </a:p>
          <a:p>
            <a:pPr indent="0" marL="0">
              <a:buNone/>
            </a:pP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τ=0.50: conditional MEDIAN</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τ=0.90: 90th conditional percentile</a:t>
            </a:r>
            <a:endParaRPr lang="en-US" sz="950" dirty="0"/>
          </a:p>
          <a:p>
            <a:pPr indent="0" marL="0">
              <a:buNone/>
            </a:pP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Minimises the 'check function'</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(asymmetric loss penalising by τ).</a:t>
            </a:r>
            <a:endParaRPr lang="en-US" sz="950" dirty="0"/>
          </a:p>
          <a:p>
            <a:pPr indent="0" marL="0">
              <a:buNone/>
            </a:pP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When to use:</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 Effect differs across Y distribution</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 Interested in tail behaviour</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 Outliers distort OLS mean</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 Skewed bounded outcomes</a:t>
            </a:r>
            <a:endParaRPr lang="en-US" sz="950" dirty="0"/>
          </a:p>
          <a:p>
            <a:pPr indent="0" marL="0">
              <a:buNone/>
            </a:pP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Lagos house price quantile:</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Location score effect:</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 τ=0.10 (cheap): N320k/point</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 τ=0.50 (median): N820k/point</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 τ=0.90 (luxury): N2,100k/point</a:t>
            </a:r>
            <a:endParaRPr lang="en-US" sz="950" dirty="0"/>
          </a:p>
          <a:p>
            <a:pPr indent="0" marL="0">
              <a:buNone/>
            </a:pP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Location matters 6.6× more</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in the luxury vs cheap segment.</a:t>
            </a:r>
            <a:endParaRPr lang="en-US" sz="950" dirty="0"/>
          </a:p>
          <a:p>
            <a:pPr indent="0" marL="0">
              <a:buNone/>
            </a:pPr>
            <a:r>
              <a:rPr lang="en-US" sz="950" dirty="0">
                <a:solidFill>
                  <a:srgbClr val="90D8E0"/>
                </a:solidFill>
                <a:latin typeface="Calibri" pitchFamily="34" charset="0"/>
                <a:ea typeface="Calibri" pitchFamily="34" charset="-122"/>
                <a:cs typeface="Calibri" pitchFamily="34" charset="-120"/>
              </a:rPr>
              <a:t>Different strategy for each tier.</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5943600" y="-1371600"/>
            <a:ext cx="5029200" cy="5029200"/>
          </a:xfrm>
          <a:prstGeom prst="ellipse">
            <a:avLst/>
          </a:prstGeom>
          <a:solidFill>
            <a:srgbClr val="0A7E8C">
              <a:alpha val="20000"/>
            </a:srgbClr>
          </a:solidFill>
          <a:ln w="12700">
            <a:solidFill>
              <a:srgbClr val="0A7E8C"/>
            </a:solidFill>
            <a:prstDash val="solid"/>
          </a:ln>
        </p:spPr>
      </p:sp>
      <p:sp>
        <p:nvSpPr>
          <p:cNvPr id="3" name="Shape 1"/>
          <p:cNvSpPr/>
          <p:nvPr/>
        </p:nvSpPr>
        <p:spPr>
          <a:xfrm>
            <a:off x="-1097280" y="3200400"/>
            <a:ext cx="3657600" cy="3657600"/>
          </a:xfrm>
          <a:prstGeom prst="ellipse">
            <a:avLst/>
          </a:prstGeom>
          <a:solidFill>
            <a:srgbClr val="D4A010">
              <a:alpha val="12000"/>
            </a:srgbClr>
          </a:solidFill>
          <a:ln w="12700">
            <a:solidFill>
              <a:srgbClr val="D4A010"/>
            </a:solidFill>
            <a:prstDash val="solid"/>
          </a:ln>
        </p:spPr>
      </p:sp>
      <p:sp>
        <p:nvSpPr>
          <p:cNvPr id="4" name="Text 2"/>
          <p:cNvSpPr/>
          <p:nvPr/>
        </p:nvSpPr>
        <p:spPr>
          <a:xfrm>
            <a:off x="548640" y="1005840"/>
            <a:ext cx="6400800" cy="365760"/>
          </a:xfrm>
          <a:prstGeom prst="rect">
            <a:avLst/>
          </a:prstGeom>
          <a:noFill/>
          <a:ln/>
        </p:spPr>
        <p:txBody>
          <a:bodyPr wrap="square" lIns="0" tIns="0" rIns="0" bIns="0" rtlCol="0" anchor="ctr"/>
          <a:lstStyle/>
          <a:p>
            <a:pPr indent="0" marL="0">
              <a:buNone/>
            </a:pPr>
            <a:r>
              <a:rPr lang="en-US" sz="1200" b="1" spc="200" kern="0" dirty="0">
                <a:solidFill>
                  <a:srgbClr val="D4A010"/>
                </a:solidFill>
                <a:latin typeface="Calibri" pitchFamily="34" charset="0"/>
                <a:ea typeface="Calibri" pitchFamily="34" charset="-122"/>
                <a:cs typeface="Calibri" pitchFamily="34" charset="-120"/>
              </a:rPr>
              <a:t>REGRESSION  |  SECTION 08</a:t>
            </a:r>
            <a:endParaRPr lang="en-US" sz="1200" dirty="0"/>
          </a:p>
        </p:txBody>
      </p:sp>
      <p:sp>
        <p:nvSpPr>
          <p:cNvPr id="5" name="Text 3"/>
          <p:cNvSpPr/>
          <p:nvPr/>
        </p:nvSpPr>
        <p:spPr>
          <a:xfrm>
            <a:off x="548640" y="1417320"/>
            <a:ext cx="7772400" cy="11887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Nigerian Business Applications</a:t>
            </a:r>
            <a:endParaRPr lang="en-US" sz="3600" dirty="0"/>
          </a:p>
        </p:txBody>
      </p:sp>
      <p:sp>
        <p:nvSpPr>
          <p:cNvPr id="6" name="Text 4"/>
          <p:cNvSpPr/>
          <p:nvPr/>
        </p:nvSpPr>
        <p:spPr>
          <a:xfrm>
            <a:off x="548640" y="2670048"/>
            <a:ext cx="6858000" cy="502920"/>
          </a:xfrm>
          <a:prstGeom prst="rect">
            <a:avLst/>
          </a:prstGeom>
          <a:noFill/>
          <a:ln/>
        </p:spPr>
        <p:txBody>
          <a:bodyPr wrap="square" lIns="0" tIns="0" rIns="0" bIns="0" rtlCol="0" anchor="ctr"/>
          <a:lstStyle/>
          <a:p>
            <a:pPr indent="0" marL="0">
              <a:buNone/>
            </a:pPr>
            <a:r>
              <a:rPr lang="en-US" sz="1500" dirty="0">
                <a:solidFill>
                  <a:srgbClr val="90D8E0"/>
                </a:solidFill>
                <a:latin typeface="Calibri" pitchFamily="34" charset="0"/>
                <a:ea typeface="Calibri" pitchFamily="34" charset="-122"/>
                <a:cs typeface="Calibri" pitchFamily="34" charset="-120"/>
              </a:rPr>
              <a:t>Six sector case studies with models, results and measured ROI</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Nigerian Business Regression Applications - Model, Result and Impact</a:t>
            </a:r>
            <a:endParaRPr lang="en-US" sz="2100" dirty="0"/>
          </a:p>
        </p:txBody>
      </p:sp>
      <p:sp>
        <p:nvSpPr>
          <p:cNvPr id="4" name="Shape 2"/>
          <p:cNvSpPr/>
          <p:nvPr/>
        </p:nvSpPr>
        <p:spPr>
          <a:xfrm>
            <a:off x="228600" y="1024128"/>
            <a:ext cx="4160520" cy="1280160"/>
          </a:xfrm>
          <a:prstGeom prst="roundRect">
            <a:avLst>
              <a:gd name="adj" fmla="val 5000"/>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5" name="Shape 3"/>
          <p:cNvSpPr/>
          <p:nvPr/>
        </p:nvSpPr>
        <p:spPr>
          <a:xfrm>
            <a:off x="301752" y="1097280"/>
            <a:ext cx="658368" cy="237744"/>
          </a:xfrm>
          <a:prstGeom prst="roundRect">
            <a:avLst>
              <a:gd name="adj" fmla="val 15385"/>
            </a:avLst>
          </a:prstGeom>
          <a:solidFill>
            <a:srgbClr val="0A7E8C"/>
          </a:solidFill>
          <a:ln w="12700">
            <a:solidFill>
              <a:srgbClr val="0A7E8C"/>
            </a:solidFill>
            <a:prstDash val="solid"/>
          </a:ln>
        </p:spPr>
      </p:sp>
      <p:sp>
        <p:nvSpPr>
          <p:cNvPr id="6" name="Text 4"/>
          <p:cNvSpPr/>
          <p:nvPr/>
        </p:nvSpPr>
        <p:spPr>
          <a:xfrm>
            <a:off x="301752" y="1097280"/>
            <a:ext cx="658368" cy="237744"/>
          </a:xfrm>
          <a:prstGeom prst="rect">
            <a:avLst/>
          </a:prstGeom>
          <a:noFill/>
          <a:ln/>
        </p:spPr>
        <p:txBody>
          <a:bodyPr wrap="square" lIns="0" tIns="0" rIns="0" bIns="0" rtlCol="0" anchor="ctr"/>
          <a:lstStyle/>
          <a:p>
            <a:pPr algn="ctr" indent="0" marL="0">
              <a:buNone/>
            </a:pPr>
            <a:r>
              <a:rPr lang="en-US" sz="900" b="1" dirty="0">
                <a:solidFill>
                  <a:srgbClr val="0C1428"/>
                </a:solidFill>
                <a:latin typeface="Calibri" pitchFamily="34" charset="0"/>
                <a:ea typeface="Calibri" pitchFamily="34" charset="-122"/>
                <a:cs typeface="Calibri" pitchFamily="34" charset="-120"/>
              </a:rPr>
              <a:t>GTBank</a:t>
            </a:r>
            <a:endParaRPr lang="en-US" sz="900" dirty="0"/>
          </a:p>
        </p:txBody>
      </p:sp>
      <p:sp>
        <p:nvSpPr>
          <p:cNvPr id="7" name="Text 5"/>
          <p:cNvSpPr/>
          <p:nvPr/>
        </p:nvSpPr>
        <p:spPr>
          <a:xfrm>
            <a:off x="1033272" y="1115568"/>
            <a:ext cx="3255264" cy="219456"/>
          </a:xfrm>
          <a:prstGeom prst="rect">
            <a:avLst/>
          </a:prstGeom>
          <a:noFill/>
          <a:ln/>
        </p:spPr>
        <p:txBody>
          <a:bodyPr wrap="square" lIns="0" tIns="0" rIns="0" bIns="0" rtlCol="0" anchor="ctr"/>
          <a:lstStyle/>
          <a:p>
            <a:pPr indent="0" marL="0">
              <a:buNone/>
            </a:pPr>
            <a:r>
              <a:rPr lang="en-US" sz="1050" b="1" dirty="0">
                <a:solidFill>
                  <a:srgbClr val="0A7E8C"/>
                </a:solidFill>
                <a:latin typeface="Calibri" pitchFamily="34" charset="0"/>
                <a:ea typeface="Calibri" pitchFamily="34" charset="-122"/>
                <a:cs typeface="Calibri" pitchFamily="34" charset="-120"/>
              </a:rPr>
              <a:t>HR Pay Equity (MLR)</a:t>
            </a:r>
            <a:endParaRPr lang="en-US" sz="1050" dirty="0"/>
          </a:p>
        </p:txBody>
      </p:sp>
      <p:sp>
        <p:nvSpPr>
          <p:cNvPr id="8" name="Text 6"/>
          <p:cNvSpPr/>
          <p:nvPr/>
        </p:nvSpPr>
        <p:spPr>
          <a:xfrm>
            <a:off x="320040" y="1389888"/>
            <a:ext cx="3950208" cy="201168"/>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Model: Salary ~ Experience+Education+Department+Performance+Management+Gender</a:t>
            </a:r>
            <a:endParaRPr lang="en-US" sz="800" dirty="0"/>
          </a:p>
        </p:txBody>
      </p:sp>
      <p:sp>
        <p:nvSpPr>
          <p:cNvPr id="9" name="Text 7"/>
          <p:cNvSpPr/>
          <p:nvPr/>
        </p:nvSpPr>
        <p:spPr>
          <a:xfrm>
            <a:off x="320040" y="1609344"/>
            <a:ext cx="3950208" cy="274320"/>
          </a:xfrm>
          <a:prstGeom prst="rect">
            <a:avLst/>
          </a:prstGeom>
          <a:noFill/>
          <a:ln/>
        </p:spPr>
        <p:txBody>
          <a:bodyPr wrap="square" lIns="0" tIns="0" rIns="0" bIns="0" rtlCol="0" anchor="ctr"/>
          <a:lstStyle/>
          <a:p>
            <a:pPr indent="0" marL="0">
              <a:buNone/>
            </a:pPr>
            <a:r>
              <a:rPr lang="en-US" sz="850" b="1" dirty="0">
                <a:solidFill>
                  <a:srgbClr val="0A7E8C"/>
                </a:solidFill>
                <a:latin typeface="Calibri" pitchFamily="34" charset="0"/>
                <a:ea typeface="Calibri" pitchFamily="34" charset="-122"/>
                <a:cs typeface="Calibri" pitchFamily="34" charset="-120"/>
              </a:rPr>
              <a:t>Result: </a:t>
            </a:r>
            <a:pPr indent="0" marL="0">
              <a:buNone/>
            </a:pPr>
            <a:r>
              <a:rPr lang="en-US" sz="850" dirty="0">
                <a:solidFill>
                  <a:srgbClr val="0C1428"/>
                </a:solidFill>
                <a:latin typeface="Calibri" pitchFamily="34" charset="0"/>
                <a:ea typeface="Calibri" pitchFamily="34" charset="-122"/>
                <a:cs typeface="Calibri" pitchFamily="34" charset="-120"/>
              </a:rPr>
              <a:t>R²=.742. Gender: b=-N14,800/month, p=.034. Women earn N14,800 less after controlling all factors.</a:t>
            </a:r>
            <a:endParaRPr lang="en-US" sz="850" dirty="0"/>
          </a:p>
        </p:txBody>
      </p:sp>
      <p:sp>
        <p:nvSpPr>
          <p:cNvPr id="10" name="Text 8"/>
          <p:cNvSpPr/>
          <p:nvPr/>
        </p:nvSpPr>
        <p:spPr>
          <a:xfrm>
            <a:off x="320040" y="1920240"/>
            <a:ext cx="3950208" cy="329184"/>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Impact: </a:t>
            </a:r>
            <a:pPr indent="0" marL="0">
              <a:buNone/>
            </a:pPr>
            <a:r>
              <a:rPr lang="en-US" sz="850" i="1" dirty="0">
                <a:solidFill>
                  <a:srgbClr val="0C1428"/>
                </a:solidFill>
                <a:latin typeface="Calibri" pitchFamily="34" charset="0"/>
                <a:ea typeface="Calibri" pitchFamily="34" charset="-122"/>
                <a:cs typeface="Calibri" pitchFamily="34" charset="-120"/>
              </a:rPr>
              <a:t>47 female employees adjusted. Gender gap closed. Averted N8.4M in attrition costs.</a:t>
            </a:r>
            <a:endParaRPr lang="en-US" sz="850" dirty="0"/>
          </a:p>
        </p:txBody>
      </p:sp>
      <p:sp>
        <p:nvSpPr>
          <p:cNvPr id="11" name="Shape 9"/>
          <p:cNvSpPr/>
          <p:nvPr/>
        </p:nvSpPr>
        <p:spPr>
          <a:xfrm>
            <a:off x="4690872" y="1024128"/>
            <a:ext cx="4160520" cy="1280160"/>
          </a:xfrm>
          <a:prstGeom prst="roundRect">
            <a:avLst>
              <a:gd name="adj" fmla="val 5000"/>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2" name="Shape 10"/>
          <p:cNvSpPr/>
          <p:nvPr/>
        </p:nvSpPr>
        <p:spPr>
          <a:xfrm>
            <a:off x="4764024" y="1097280"/>
            <a:ext cx="658368" cy="237744"/>
          </a:xfrm>
          <a:prstGeom prst="roundRect">
            <a:avLst>
              <a:gd name="adj" fmla="val 15385"/>
            </a:avLst>
          </a:prstGeom>
          <a:solidFill>
            <a:srgbClr val="2878F0"/>
          </a:solidFill>
          <a:ln w="12700">
            <a:solidFill>
              <a:srgbClr val="2878F0"/>
            </a:solidFill>
            <a:prstDash val="solid"/>
          </a:ln>
        </p:spPr>
      </p:sp>
      <p:sp>
        <p:nvSpPr>
          <p:cNvPr id="13" name="Text 11"/>
          <p:cNvSpPr/>
          <p:nvPr/>
        </p:nvSpPr>
        <p:spPr>
          <a:xfrm>
            <a:off x="4764024" y="1097280"/>
            <a:ext cx="658368" cy="237744"/>
          </a:xfrm>
          <a:prstGeom prst="rect">
            <a:avLst/>
          </a:prstGeom>
          <a:noFill/>
          <a:ln/>
        </p:spPr>
        <p:txBody>
          <a:bodyPr wrap="square" lIns="0" tIns="0" rIns="0" bIns="0" rtlCol="0" anchor="ctr"/>
          <a:lstStyle/>
          <a:p>
            <a:pPr algn="ctr" indent="0" marL="0">
              <a:buNone/>
            </a:pPr>
            <a:r>
              <a:rPr lang="en-US" sz="900" b="1" dirty="0">
                <a:solidFill>
                  <a:srgbClr val="0C1428"/>
                </a:solidFill>
                <a:latin typeface="Calibri" pitchFamily="34" charset="0"/>
                <a:ea typeface="Calibri" pitchFamily="34" charset="-122"/>
                <a:cs typeface="Calibri" pitchFamily="34" charset="-120"/>
              </a:rPr>
              <a:t>First Bank</a:t>
            </a:r>
            <a:endParaRPr lang="en-US" sz="900" dirty="0"/>
          </a:p>
        </p:txBody>
      </p:sp>
      <p:sp>
        <p:nvSpPr>
          <p:cNvPr id="14" name="Text 12"/>
          <p:cNvSpPr/>
          <p:nvPr/>
        </p:nvSpPr>
        <p:spPr>
          <a:xfrm>
            <a:off x="5495544" y="1115568"/>
            <a:ext cx="3255264" cy="219456"/>
          </a:xfrm>
          <a:prstGeom prst="rect">
            <a:avLst/>
          </a:prstGeom>
          <a:noFill/>
          <a:ln/>
        </p:spPr>
        <p:txBody>
          <a:bodyPr wrap="square" lIns="0" tIns="0" rIns="0" bIns="0" rtlCol="0" anchor="ctr"/>
          <a:lstStyle/>
          <a:p>
            <a:pPr indent="0" marL="0">
              <a:buNone/>
            </a:pPr>
            <a:r>
              <a:rPr lang="en-US" sz="1050" b="1" dirty="0">
                <a:solidFill>
                  <a:srgbClr val="2878F0"/>
                </a:solidFill>
                <a:latin typeface="Calibri" pitchFamily="34" charset="0"/>
                <a:ea typeface="Calibri" pitchFamily="34" charset="-122"/>
                <a:cs typeface="Calibri" pitchFamily="34" charset="-120"/>
              </a:rPr>
              <a:t>HR Attrition (Logistic)</a:t>
            </a:r>
            <a:endParaRPr lang="en-US" sz="1050" dirty="0"/>
          </a:p>
        </p:txBody>
      </p:sp>
      <p:sp>
        <p:nvSpPr>
          <p:cNvPr id="15" name="Text 13"/>
          <p:cNvSpPr/>
          <p:nvPr/>
        </p:nvSpPr>
        <p:spPr>
          <a:xfrm>
            <a:off x="4782312" y="1389888"/>
            <a:ext cx="3950208" cy="201168"/>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Model: P(Left) ~ Performance+Salary_Index+YearsNoPromotion+Overtime</a:t>
            </a:r>
            <a:endParaRPr lang="en-US" sz="800" dirty="0"/>
          </a:p>
        </p:txBody>
      </p:sp>
      <p:sp>
        <p:nvSpPr>
          <p:cNvPr id="16" name="Text 14"/>
          <p:cNvSpPr/>
          <p:nvPr/>
        </p:nvSpPr>
        <p:spPr>
          <a:xfrm>
            <a:off x="4782312" y="1609344"/>
            <a:ext cx="3950208" cy="274320"/>
          </a:xfrm>
          <a:prstGeom prst="rect">
            <a:avLst/>
          </a:prstGeom>
          <a:noFill/>
          <a:ln/>
        </p:spPr>
        <p:txBody>
          <a:bodyPr wrap="square" lIns="0" tIns="0" rIns="0" bIns="0" rtlCol="0" anchor="ctr"/>
          <a:lstStyle/>
          <a:p>
            <a:pPr indent="0" marL="0">
              <a:buNone/>
            </a:pPr>
            <a:r>
              <a:rPr lang="en-US" sz="850" b="1" dirty="0">
                <a:solidFill>
                  <a:srgbClr val="2878F0"/>
                </a:solidFill>
                <a:latin typeface="Calibri" pitchFamily="34" charset="0"/>
                <a:ea typeface="Calibri" pitchFamily="34" charset="-122"/>
                <a:cs typeface="Calibri" pitchFamily="34" charset="-120"/>
              </a:rPr>
              <a:t>Result: </a:t>
            </a:r>
            <a:pPr indent="0" marL="0">
              <a:buNone/>
            </a:pPr>
            <a:r>
              <a:rPr lang="en-US" sz="850" dirty="0">
                <a:solidFill>
                  <a:srgbClr val="0C1428"/>
                </a:solidFill>
                <a:latin typeface="Calibri" pitchFamily="34" charset="0"/>
                <a:ea typeface="Calibri" pitchFamily="34" charset="-122"/>
                <a:cs typeface="Calibri" pitchFamily="34" charset="-120"/>
              </a:rPr>
              <a:t>AUC=.884. YearsNoPromotion OR=1.68. Below-market-pay OR=3.24. Accuracy=91.4%.</a:t>
            </a:r>
            <a:endParaRPr lang="en-US" sz="850" dirty="0"/>
          </a:p>
        </p:txBody>
      </p:sp>
      <p:sp>
        <p:nvSpPr>
          <p:cNvPr id="17" name="Text 15"/>
          <p:cNvSpPr/>
          <p:nvPr/>
        </p:nvSpPr>
        <p:spPr>
          <a:xfrm>
            <a:off x="4782312" y="1920240"/>
            <a:ext cx="3950208" cy="329184"/>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Impact: </a:t>
            </a:r>
            <a:pPr indent="0" marL="0">
              <a:buNone/>
            </a:pPr>
            <a:r>
              <a:rPr lang="en-US" sz="850" i="1" dirty="0">
                <a:solidFill>
                  <a:srgbClr val="0C1428"/>
                </a:solidFill>
                <a:latin typeface="Calibri" pitchFamily="34" charset="0"/>
                <a:ea typeface="Calibri" pitchFamily="34" charset="-122"/>
                <a:cs typeface="Calibri" pitchFamily="34" charset="-120"/>
              </a:rPr>
              <a:t>Attrition 14.2%→10.8%. Annual saving N45.7M. Model ROI: 36x. Payback: 24 days.</a:t>
            </a:r>
            <a:endParaRPr lang="en-US" sz="850" dirty="0"/>
          </a:p>
        </p:txBody>
      </p:sp>
      <p:sp>
        <p:nvSpPr>
          <p:cNvPr id="18" name="Shape 16"/>
          <p:cNvSpPr/>
          <p:nvPr/>
        </p:nvSpPr>
        <p:spPr>
          <a:xfrm>
            <a:off x="228600" y="2395728"/>
            <a:ext cx="4160520" cy="1280160"/>
          </a:xfrm>
          <a:prstGeom prst="roundRect">
            <a:avLst>
              <a:gd name="adj" fmla="val 5000"/>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19" name="Shape 17"/>
          <p:cNvSpPr/>
          <p:nvPr/>
        </p:nvSpPr>
        <p:spPr>
          <a:xfrm>
            <a:off x="301752" y="2468880"/>
            <a:ext cx="658368" cy="237744"/>
          </a:xfrm>
          <a:prstGeom prst="roundRect">
            <a:avLst>
              <a:gd name="adj" fmla="val 15385"/>
            </a:avLst>
          </a:prstGeom>
          <a:solidFill>
            <a:srgbClr val="E07010"/>
          </a:solidFill>
          <a:ln w="12700">
            <a:solidFill>
              <a:srgbClr val="E07010"/>
            </a:solidFill>
            <a:prstDash val="solid"/>
          </a:ln>
        </p:spPr>
      </p:sp>
      <p:sp>
        <p:nvSpPr>
          <p:cNvPr id="20" name="Text 18"/>
          <p:cNvSpPr/>
          <p:nvPr/>
        </p:nvSpPr>
        <p:spPr>
          <a:xfrm>
            <a:off x="301752" y="2468880"/>
            <a:ext cx="658368" cy="237744"/>
          </a:xfrm>
          <a:prstGeom prst="rect">
            <a:avLst/>
          </a:prstGeom>
          <a:noFill/>
          <a:ln/>
        </p:spPr>
        <p:txBody>
          <a:bodyPr wrap="square" lIns="0" tIns="0" rIns="0" bIns="0" rtlCol="0" anchor="ctr"/>
          <a:lstStyle/>
          <a:p>
            <a:pPr algn="ctr" indent="0" marL="0">
              <a:buNone/>
            </a:pPr>
            <a:r>
              <a:rPr lang="en-US" sz="900" b="1" dirty="0">
                <a:solidFill>
                  <a:srgbClr val="0C1428"/>
                </a:solidFill>
                <a:latin typeface="Calibri" pitchFamily="34" charset="0"/>
                <a:ea typeface="Calibri" pitchFamily="34" charset="-122"/>
                <a:cs typeface="Calibri" pitchFamily="34" charset="-120"/>
              </a:rPr>
              <a:t>Leadway</a:t>
            </a:r>
            <a:endParaRPr lang="en-US" sz="900" dirty="0"/>
          </a:p>
        </p:txBody>
      </p:sp>
      <p:sp>
        <p:nvSpPr>
          <p:cNvPr id="21" name="Text 19"/>
          <p:cNvSpPr/>
          <p:nvPr/>
        </p:nvSpPr>
        <p:spPr>
          <a:xfrm>
            <a:off x="1033272" y="2487168"/>
            <a:ext cx="3255264" cy="219456"/>
          </a:xfrm>
          <a:prstGeom prst="rect">
            <a:avLst/>
          </a:prstGeom>
          <a:noFill/>
          <a:ln/>
        </p:spPr>
        <p:txBody>
          <a:bodyPr wrap="square" lIns="0" tIns="0" rIns="0" bIns="0" rtlCol="0" anchor="ctr"/>
          <a:lstStyle/>
          <a:p>
            <a:pPr indent="0" marL="0">
              <a:buNone/>
            </a:pPr>
            <a:r>
              <a:rPr lang="en-US" sz="1050" b="1" dirty="0">
                <a:solidFill>
                  <a:srgbClr val="E07010"/>
                </a:solidFill>
                <a:latin typeface="Calibri" pitchFamily="34" charset="0"/>
                <a:ea typeface="Calibri" pitchFamily="34" charset="-122"/>
                <a:cs typeface="Calibri" pitchFamily="34" charset="-120"/>
              </a:rPr>
              <a:t>Insurance Pricing (NB GLM)</a:t>
            </a:r>
            <a:endParaRPr lang="en-US" sz="1050" dirty="0"/>
          </a:p>
        </p:txBody>
      </p:sp>
      <p:sp>
        <p:nvSpPr>
          <p:cNvPr id="22" name="Text 20"/>
          <p:cNvSpPr/>
          <p:nvPr/>
        </p:nvSpPr>
        <p:spPr>
          <a:xfrm>
            <a:off x="320040" y="2761488"/>
            <a:ext cx="3950208" cy="201168"/>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Model: log(E(claims)) = b₀ + b_young + b_urban + b_mileage + b_car_age</a:t>
            </a:r>
            <a:endParaRPr lang="en-US" sz="800" dirty="0"/>
          </a:p>
        </p:txBody>
      </p:sp>
      <p:sp>
        <p:nvSpPr>
          <p:cNvPr id="23" name="Text 21"/>
          <p:cNvSpPr/>
          <p:nvPr/>
        </p:nvSpPr>
        <p:spPr>
          <a:xfrm>
            <a:off x="320040" y="2980944"/>
            <a:ext cx="3950208" cy="274320"/>
          </a:xfrm>
          <a:prstGeom prst="rect">
            <a:avLst/>
          </a:prstGeom>
          <a:noFill/>
          <a:ln/>
        </p:spPr>
        <p:txBody>
          <a:bodyPr wrap="square" lIns="0" tIns="0" rIns="0" bIns="0" rtlCol="0" anchor="ctr"/>
          <a:lstStyle/>
          <a:p>
            <a:pPr indent="0" marL="0">
              <a:buNone/>
            </a:pPr>
            <a:r>
              <a:rPr lang="en-US" sz="850" b="1" dirty="0">
                <a:solidFill>
                  <a:srgbClr val="E07010"/>
                </a:solidFill>
                <a:latin typeface="Calibri" pitchFamily="34" charset="0"/>
                <a:ea typeface="Calibri" pitchFamily="34" charset="-122"/>
                <a:cs typeface="Calibri" pitchFamily="34" charset="-120"/>
              </a:rPr>
              <a:t>Result: </a:t>
            </a:r>
            <a:pPr indent="0" marL="0">
              <a:buNone/>
            </a:pPr>
            <a:r>
              <a:rPr lang="en-US" sz="850" dirty="0">
                <a:solidFill>
                  <a:srgbClr val="0C1428"/>
                </a:solidFill>
                <a:latin typeface="Calibri" pitchFamily="34" charset="0"/>
                <a:ea typeface="Calibri" pitchFamily="34" charset="-122"/>
                <a:cs typeface="Calibri" pitchFamily="34" charset="-120"/>
              </a:rPr>
              <a:t>Overdispersion φ=2.4: Negative Binomial used. Young: IRR=1.46. Urban: 1.25. Low mileage: 0.75.</a:t>
            </a:r>
            <a:endParaRPr lang="en-US" sz="850" dirty="0"/>
          </a:p>
        </p:txBody>
      </p:sp>
      <p:sp>
        <p:nvSpPr>
          <p:cNvPr id="24" name="Text 22"/>
          <p:cNvSpPr/>
          <p:nvPr/>
        </p:nvSpPr>
        <p:spPr>
          <a:xfrm>
            <a:off x="320040" y="3291840"/>
            <a:ext cx="3950208" cy="329184"/>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Impact: </a:t>
            </a:r>
            <a:pPr indent="0" marL="0">
              <a:buNone/>
            </a:pPr>
            <a:r>
              <a:rPr lang="en-US" sz="850" i="1" dirty="0">
                <a:solidFill>
                  <a:srgbClr val="0C1428"/>
                </a:solidFill>
                <a:latin typeface="Calibri" pitchFamily="34" charset="0"/>
                <a:ea typeface="Calibri" pitchFamily="34" charset="-122"/>
                <a:cs typeface="Calibri" pitchFamily="34" charset="-120"/>
              </a:rPr>
              <a:t>Loss ratio 108%→91%. Adverse selection eliminated. Risk-based premiums fully implemented.</a:t>
            </a:r>
            <a:endParaRPr lang="en-US" sz="850" dirty="0"/>
          </a:p>
        </p:txBody>
      </p:sp>
      <p:sp>
        <p:nvSpPr>
          <p:cNvPr id="25" name="Shape 23"/>
          <p:cNvSpPr/>
          <p:nvPr/>
        </p:nvSpPr>
        <p:spPr>
          <a:xfrm>
            <a:off x="4690872" y="2395728"/>
            <a:ext cx="4160520" cy="1280160"/>
          </a:xfrm>
          <a:prstGeom prst="roundRect">
            <a:avLst>
              <a:gd name="adj" fmla="val 5000"/>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26" name="Shape 24"/>
          <p:cNvSpPr/>
          <p:nvPr/>
        </p:nvSpPr>
        <p:spPr>
          <a:xfrm>
            <a:off x="4764024" y="2468880"/>
            <a:ext cx="658368" cy="237744"/>
          </a:xfrm>
          <a:prstGeom prst="roundRect">
            <a:avLst>
              <a:gd name="adj" fmla="val 15385"/>
            </a:avLst>
          </a:prstGeom>
          <a:solidFill>
            <a:srgbClr val="0A8A50"/>
          </a:solidFill>
          <a:ln w="12700">
            <a:solidFill>
              <a:srgbClr val="0A8A50"/>
            </a:solidFill>
            <a:prstDash val="solid"/>
          </a:ln>
        </p:spPr>
      </p:sp>
      <p:sp>
        <p:nvSpPr>
          <p:cNvPr id="27" name="Text 25"/>
          <p:cNvSpPr/>
          <p:nvPr/>
        </p:nvSpPr>
        <p:spPr>
          <a:xfrm>
            <a:off x="4764024" y="2468880"/>
            <a:ext cx="658368" cy="237744"/>
          </a:xfrm>
          <a:prstGeom prst="rect">
            <a:avLst/>
          </a:prstGeom>
          <a:noFill/>
          <a:ln/>
        </p:spPr>
        <p:txBody>
          <a:bodyPr wrap="square" lIns="0" tIns="0" rIns="0" bIns="0" rtlCol="0" anchor="ctr"/>
          <a:lstStyle/>
          <a:p>
            <a:pPr algn="ctr" indent="0" marL="0">
              <a:buNone/>
            </a:pPr>
            <a:r>
              <a:rPr lang="en-US" sz="900" b="1" dirty="0">
                <a:solidFill>
                  <a:srgbClr val="0C1428"/>
                </a:solidFill>
                <a:latin typeface="Calibri" pitchFamily="34" charset="0"/>
                <a:ea typeface="Calibri" pitchFamily="34" charset="-122"/>
                <a:cs typeface="Calibri" pitchFamily="34" charset="-120"/>
              </a:rPr>
              <a:t>UAC Foods</a:t>
            </a:r>
            <a:endParaRPr lang="en-US" sz="900" dirty="0"/>
          </a:p>
        </p:txBody>
      </p:sp>
      <p:sp>
        <p:nvSpPr>
          <p:cNvPr id="28" name="Text 26"/>
          <p:cNvSpPr/>
          <p:nvPr/>
        </p:nvSpPr>
        <p:spPr>
          <a:xfrm>
            <a:off x="5495544" y="2487168"/>
            <a:ext cx="3255264" cy="219456"/>
          </a:xfrm>
          <a:prstGeom prst="rect">
            <a:avLst/>
          </a:prstGeom>
          <a:noFill/>
          <a:ln/>
        </p:spPr>
        <p:txBody>
          <a:bodyPr wrap="square" lIns="0" tIns="0" rIns="0" bIns="0" rtlCol="0" anchor="ctr"/>
          <a:lstStyle/>
          <a:p>
            <a:pPr indent="0" marL="0">
              <a:buNone/>
            </a:pPr>
            <a:r>
              <a:rPr lang="en-US" sz="1050" b="1" dirty="0">
                <a:solidFill>
                  <a:srgbClr val="0A8A50"/>
                </a:solidFill>
                <a:latin typeface="Calibri" pitchFamily="34" charset="0"/>
                <a:ea typeface="Calibri" pitchFamily="34" charset="-122"/>
                <a:cs typeface="Calibri" pitchFamily="34" charset="-120"/>
              </a:rPr>
              <a:t>Sales Forecasting (LR)</a:t>
            </a:r>
            <a:endParaRPr lang="en-US" sz="1050" dirty="0"/>
          </a:p>
        </p:txBody>
      </p:sp>
      <p:sp>
        <p:nvSpPr>
          <p:cNvPr id="29" name="Text 27"/>
          <p:cNvSpPr/>
          <p:nvPr/>
        </p:nvSpPr>
        <p:spPr>
          <a:xfrm>
            <a:off x="4782312" y="2761488"/>
            <a:ext cx="3950208" cy="201168"/>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Model: LN(Sales) ~ trend + seasonality + LN(distribution) + LN(price) + competition</a:t>
            </a:r>
            <a:endParaRPr lang="en-US" sz="800" dirty="0"/>
          </a:p>
        </p:txBody>
      </p:sp>
      <p:sp>
        <p:nvSpPr>
          <p:cNvPr id="30" name="Text 28"/>
          <p:cNvSpPr/>
          <p:nvPr/>
        </p:nvSpPr>
        <p:spPr>
          <a:xfrm>
            <a:off x="4782312" y="2980944"/>
            <a:ext cx="3950208" cy="274320"/>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Result: </a:t>
            </a:r>
            <a:pPr indent="0" marL="0">
              <a:buNone/>
            </a:pPr>
            <a:r>
              <a:rPr lang="en-US" sz="850" dirty="0">
                <a:solidFill>
                  <a:srgbClr val="0C1428"/>
                </a:solidFill>
                <a:latin typeface="Calibri" pitchFamily="34" charset="0"/>
                <a:ea typeface="Calibri" pitchFamily="34" charset="-122"/>
                <a:cs typeface="Calibri" pitchFamily="34" charset="-120"/>
              </a:rPr>
              <a:t>R²=.912. Price elasticity=-0.65 (inelastic). Distribution elasticity=+0.72. Accuracy=94.2%.</a:t>
            </a:r>
            <a:endParaRPr lang="en-US" sz="850" dirty="0"/>
          </a:p>
        </p:txBody>
      </p:sp>
      <p:sp>
        <p:nvSpPr>
          <p:cNvPr id="31" name="Text 29"/>
          <p:cNvSpPr/>
          <p:nvPr/>
        </p:nvSpPr>
        <p:spPr>
          <a:xfrm>
            <a:off x="4782312" y="3291840"/>
            <a:ext cx="3950208" cy="329184"/>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Impact: </a:t>
            </a:r>
            <a:pPr indent="0" marL="0">
              <a:buNone/>
            </a:pPr>
            <a:r>
              <a:rPr lang="en-US" sz="850" i="1" dirty="0">
                <a:solidFill>
                  <a:srgbClr val="0C1428"/>
                </a:solidFill>
                <a:latin typeface="Calibri" pitchFamily="34" charset="0"/>
                <a:ea typeface="Calibri" pitchFamily="34" charset="-122"/>
                <a:cs typeface="Calibri" pitchFamily="34" charset="-120"/>
              </a:rPr>
              <a:t>Forecast accuracy 82%→94.2%. Waste reduced N42M/year. Procurement saving N18M/year.</a:t>
            </a:r>
            <a:endParaRPr lang="en-US" sz="850" dirty="0"/>
          </a:p>
        </p:txBody>
      </p:sp>
      <p:sp>
        <p:nvSpPr>
          <p:cNvPr id="32" name="Shape 30"/>
          <p:cNvSpPr/>
          <p:nvPr/>
        </p:nvSpPr>
        <p:spPr>
          <a:xfrm>
            <a:off x="228600" y="3767328"/>
            <a:ext cx="4160520" cy="1280160"/>
          </a:xfrm>
          <a:prstGeom prst="roundRect">
            <a:avLst>
              <a:gd name="adj" fmla="val 5000"/>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33" name="Shape 31"/>
          <p:cNvSpPr/>
          <p:nvPr/>
        </p:nvSpPr>
        <p:spPr>
          <a:xfrm>
            <a:off x="301752" y="3840480"/>
            <a:ext cx="658368" cy="237744"/>
          </a:xfrm>
          <a:prstGeom prst="roundRect">
            <a:avLst>
              <a:gd name="adj" fmla="val 15385"/>
            </a:avLst>
          </a:prstGeom>
          <a:solidFill>
            <a:srgbClr val="6010C8"/>
          </a:solidFill>
          <a:ln w="12700">
            <a:solidFill>
              <a:srgbClr val="6010C8"/>
            </a:solidFill>
            <a:prstDash val="solid"/>
          </a:ln>
        </p:spPr>
      </p:sp>
      <p:sp>
        <p:nvSpPr>
          <p:cNvPr id="34" name="Text 32"/>
          <p:cNvSpPr/>
          <p:nvPr/>
        </p:nvSpPr>
        <p:spPr>
          <a:xfrm>
            <a:off x="301752" y="3840480"/>
            <a:ext cx="658368" cy="237744"/>
          </a:xfrm>
          <a:prstGeom prst="rect">
            <a:avLst/>
          </a:prstGeom>
          <a:noFill/>
          <a:ln/>
        </p:spPr>
        <p:txBody>
          <a:bodyPr wrap="square" lIns="0" tIns="0" rIns="0" bIns="0" rtlCol="0" anchor="ctr"/>
          <a:lstStyle/>
          <a:p>
            <a:pPr algn="ctr" indent="0" marL="0">
              <a:buNone/>
            </a:pPr>
            <a:r>
              <a:rPr lang="en-US" sz="900" b="1" dirty="0">
                <a:solidFill>
                  <a:srgbClr val="0C1428"/>
                </a:solidFill>
                <a:latin typeface="Calibri" pitchFamily="34" charset="0"/>
                <a:ea typeface="Calibri" pitchFamily="34" charset="-122"/>
                <a:cs typeface="Calibri" pitchFamily="34" charset="-120"/>
              </a:rPr>
              <a:t>Zenith Bank</a:t>
            </a:r>
            <a:endParaRPr lang="en-US" sz="900" dirty="0"/>
          </a:p>
        </p:txBody>
      </p:sp>
      <p:sp>
        <p:nvSpPr>
          <p:cNvPr id="35" name="Text 33"/>
          <p:cNvSpPr/>
          <p:nvPr/>
        </p:nvSpPr>
        <p:spPr>
          <a:xfrm>
            <a:off x="1033272" y="3858768"/>
            <a:ext cx="3255264" cy="219456"/>
          </a:xfrm>
          <a:prstGeom prst="rect">
            <a:avLst/>
          </a:prstGeom>
          <a:noFill/>
          <a:ln/>
        </p:spPr>
        <p:txBody>
          <a:bodyPr wrap="square" lIns="0" tIns="0" rIns="0" bIns="0" rtlCol="0" anchor="ctr"/>
          <a:lstStyle/>
          <a:p>
            <a:pPr indent="0" marL="0">
              <a:buNone/>
            </a:pPr>
            <a:r>
              <a:rPr lang="en-US" sz="1050" b="1" dirty="0">
                <a:solidFill>
                  <a:srgbClr val="6010C8"/>
                </a:solidFill>
                <a:latin typeface="Calibri" pitchFamily="34" charset="0"/>
                <a:ea typeface="Calibri" pitchFamily="34" charset="-122"/>
                <a:cs typeface="Calibri" pitchFamily="34" charset="-120"/>
              </a:rPr>
              <a:t>Property AVM (Log-Log MLR)</a:t>
            </a:r>
            <a:endParaRPr lang="en-US" sz="1050" dirty="0"/>
          </a:p>
        </p:txBody>
      </p:sp>
      <p:sp>
        <p:nvSpPr>
          <p:cNvPr id="36" name="Text 34"/>
          <p:cNvSpPr/>
          <p:nvPr/>
        </p:nvSpPr>
        <p:spPr>
          <a:xfrm>
            <a:off x="320040" y="4133088"/>
            <a:ext cx="3950208" cy="201168"/>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Model: LN(Price) ~ LN(Area)+Location+LN(Age)+Generator+Pool-Distance</a:t>
            </a:r>
            <a:endParaRPr lang="en-US" sz="800" dirty="0"/>
          </a:p>
        </p:txBody>
      </p:sp>
      <p:sp>
        <p:nvSpPr>
          <p:cNvPr id="37" name="Text 35"/>
          <p:cNvSpPr/>
          <p:nvPr/>
        </p:nvSpPr>
        <p:spPr>
          <a:xfrm>
            <a:off x="320040" y="4352544"/>
            <a:ext cx="3950208" cy="274320"/>
          </a:xfrm>
          <a:prstGeom prst="rect">
            <a:avLst/>
          </a:prstGeom>
          <a:noFill/>
          <a:ln/>
        </p:spPr>
        <p:txBody>
          <a:bodyPr wrap="square" lIns="0" tIns="0" rIns="0" bIns="0" rtlCol="0" anchor="ctr"/>
          <a:lstStyle/>
          <a:p>
            <a:pPr indent="0" marL="0">
              <a:buNone/>
            </a:pPr>
            <a:r>
              <a:rPr lang="en-US" sz="850" b="1" dirty="0">
                <a:solidFill>
                  <a:srgbClr val="6010C8"/>
                </a:solidFill>
                <a:latin typeface="Calibri" pitchFamily="34" charset="0"/>
                <a:ea typeface="Calibri" pitchFamily="34" charset="-122"/>
                <a:cs typeface="Calibri" pitchFamily="34" charset="-120"/>
              </a:rPr>
              <a:t>Result: </a:t>
            </a:r>
            <a:pPr indent="0" marL="0">
              <a:buNone/>
            </a:pPr>
            <a:r>
              <a:rPr lang="en-US" sz="850" dirty="0">
                <a:solidFill>
                  <a:srgbClr val="0C1428"/>
                </a:solidFill>
                <a:latin typeface="Calibri" pitchFamily="34" charset="0"/>
                <a:ea typeface="Calibri" pitchFamily="34" charset="-122"/>
                <a:cs typeface="Calibri" pitchFamily="34" charset="-120"/>
              </a:rPr>
              <a:t>R²=.891. LN(Area) coeff=0.68 (diminishing returns). Generator: +20% premium. MAPE=12.8%.</a:t>
            </a:r>
            <a:endParaRPr lang="en-US" sz="850" dirty="0"/>
          </a:p>
        </p:txBody>
      </p:sp>
      <p:sp>
        <p:nvSpPr>
          <p:cNvPr id="38" name="Text 36"/>
          <p:cNvSpPr/>
          <p:nvPr/>
        </p:nvSpPr>
        <p:spPr>
          <a:xfrm>
            <a:off x="320040" y="4663440"/>
            <a:ext cx="3950208" cy="329184"/>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Impact: </a:t>
            </a:r>
            <a:pPr indent="0" marL="0">
              <a:buNone/>
            </a:pPr>
            <a:r>
              <a:rPr lang="en-US" sz="850" i="1" dirty="0">
                <a:solidFill>
                  <a:srgbClr val="0C1428"/>
                </a:solidFill>
                <a:latin typeface="Calibri" pitchFamily="34" charset="0"/>
                <a:ea typeface="Calibri" pitchFamily="34" charset="-122"/>
                <a:cs typeface="Calibri" pitchFamily="34" charset="-120"/>
              </a:rPr>
              <a:t>Same-day AVM vs 5-day manual. Beats agent accuracy (15-20%). N4.8M/year in valuation savings.</a:t>
            </a:r>
            <a:endParaRPr lang="en-US" sz="850" dirty="0"/>
          </a:p>
        </p:txBody>
      </p:sp>
      <p:sp>
        <p:nvSpPr>
          <p:cNvPr id="39" name="Shape 37"/>
          <p:cNvSpPr/>
          <p:nvPr/>
        </p:nvSpPr>
        <p:spPr>
          <a:xfrm>
            <a:off x="4690872" y="3767328"/>
            <a:ext cx="4160520" cy="1280160"/>
          </a:xfrm>
          <a:prstGeom prst="roundRect">
            <a:avLst>
              <a:gd name="adj" fmla="val 5000"/>
            </a:avLst>
          </a:prstGeom>
          <a:solidFill>
            <a:srgbClr val="FFFFFF"/>
          </a:solidFill>
          <a:ln w="6350">
            <a:solidFill>
              <a:srgbClr val="A8C8D8"/>
            </a:solidFill>
            <a:prstDash val="solid"/>
          </a:ln>
          <a:effectLst>
            <a:outerShdw sx="100000" sy="100000" kx="0" ky="0" algn="bl" rotWithShape="0" blurRad="76200" dist="25400" dir="2700000">
              <a:srgbClr val="000000">
                <a:alpha val="12000"/>
              </a:srgbClr>
            </a:outerShdw>
          </a:effectLst>
        </p:spPr>
      </p:sp>
      <p:sp>
        <p:nvSpPr>
          <p:cNvPr id="40" name="Shape 38"/>
          <p:cNvSpPr/>
          <p:nvPr/>
        </p:nvSpPr>
        <p:spPr>
          <a:xfrm>
            <a:off x="4764024" y="3840480"/>
            <a:ext cx="658368" cy="237744"/>
          </a:xfrm>
          <a:prstGeom prst="roundRect">
            <a:avLst>
              <a:gd name="adj" fmla="val 15385"/>
            </a:avLst>
          </a:prstGeom>
          <a:solidFill>
            <a:srgbClr val="D4A010"/>
          </a:solidFill>
          <a:ln w="12700">
            <a:solidFill>
              <a:srgbClr val="D4A010"/>
            </a:solidFill>
            <a:prstDash val="solid"/>
          </a:ln>
        </p:spPr>
      </p:sp>
      <p:sp>
        <p:nvSpPr>
          <p:cNvPr id="41" name="Text 39"/>
          <p:cNvSpPr/>
          <p:nvPr/>
        </p:nvSpPr>
        <p:spPr>
          <a:xfrm>
            <a:off x="4764024" y="3840480"/>
            <a:ext cx="658368" cy="237744"/>
          </a:xfrm>
          <a:prstGeom prst="rect">
            <a:avLst/>
          </a:prstGeom>
          <a:noFill/>
          <a:ln/>
        </p:spPr>
        <p:txBody>
          <a:bodyPr wrap="square" lIns="0" tIns="0" rIns="0" bIns="0" rtlCol="0" anchor="ctr"/>
          <a:lstStyle/>
          <a:p>
            <a:pPr algn="ctr" indent="0" marL="0">
              <a:buNone/>
            </a:pPr>
            <a:r>
              <a:rPr lang="en-US" sz="900" b="1" dirty="0">
                <a:solidFill>
                  <a:srgbClr val="0C1428"/>
                </a:solidFill>
                <a:latin typeface="Calibri" pitchFamily="34" charset="0"/>
                <a:ea typeface="Calibri" pitchFamily="34" charset="-122"/>
                <a:cs typeface="Calibri" pitchFamily="34" charset="-120"/>
              </a:rPr>
              <a:t>MTN Nigeria</a:t>
            </a:r>
            <a:endParaRPr lang="en-US" sz="900" dirty="0"/>
          </a:p>
        </p:txBody>
      </p:sp>
      <p:sp>
        <p:nvSpPr>
          <p:cNvPr id="42" name="Text 40"/>
          <p:cNvSpPr/>
          <p:nvPr/>
        </p:nvSpPr>
        <p:spPr>
          <a:xfrm>
            <a:off x="5495544" y="3858768"/>
            <a:ext cx="3255264" cy="219456"/>
          </a:xfrm>
          <a:prstGeom prst="rect">
            <a:avLst/>
          </a:prstGeom>
          <a:noFill/>
          <a:ln/>
        </p:spPr>
        <p:txBody>
          <a:bodyPr wrap="square" lIns="0" tIns="0" rIns="0" bIns="0" rtlCol="0" anchor="ctr"/>
          <a:lstStyle/>
          <a:p>
            <a:pPr indent="0" marL="0">
              <a:buNone/>
            </a:pPr>
            <a:r>
              <a:rPr lang="en-US" sz="1050" b="1" dirty="0">
                <a:solidFill>
                  <a:srgbClr val="D4A010"/>
                </a:solidFill>
                <a:latin typeface="Calibri" pitchFamily="34" charset="0"/>
                <a:ea typeface="Calibri" pitchFamily="34" charset="-122"/>
                <a:cs typeface="Calibri" pitchFamily="34" charset="-120"/>
              </a:rPr>
              <a:t>Churn (Cox Survival)</a:t>
            </a:r>
            <a:endParaRPr lang="en-US" sz="1050" dirty="0"/>
          </a:p>
        </p:txBody>
      </p:sp>
      <p:sp>
        <p:nvSpPr>
          <p:cNvPr id="43" name="Text 41"/>
          <p:cNvSpPr/>
          <p:nvPr/>
        </p:nvSpPr>
        <p:spPr>
          <a:xfrm>
            <a:off x="4782312" y="4133088"/>
            <a:ext cx="3950208" cy="201168"/>
          </a:xfrm>
          <a:prstGeom prst="rect">
            <a:avLst/>
          </a:prstGeom>
          <a:noFill/>
          <a:ln/>
        </p:spPr>
        <p:txBody>
          <a:bodyPr wrap="square" lIns="0" tIns="0" rIns="0" bIns="0" rtlCol="0" anchor="ctr"/>
          <a:lstStyle/>
          <a:p>
            <a:pPr indent="0" marL="0">
              <a:buNone/>
            </a:pPr>
            <a:r>
              <a:rPr lang="en-US" sz="800" i="1" dirty="0">
                <a:solidFill>
                  <a:srgbClr val="64748B"/>
                </a:solidFill>
                <a:latin typeface="Calibri" pitchFamily="34" charset="0"/>
                <a:ea typeface="Calibri" pitchFamily="34" charset="-122"/>
                <a:cs typeface="Calibri" pitchFamily="34" charset="-120"/>
              </a:rPr>
              <a:t>Model: h(t) = h₀(t)·exp(b_ARPU + b_bundle + b_complaints + b_tenure)</a:t>
            </a:r>
            <a:endParaRPr lang="en-US" sz="800" dirty="0"/>
          </a:p>
        </p:txBody>
      </p:sp>
      <p:sp>
        <p:nvSpPr>
          <p:cNvPr id="44" name="Text 42"/>
          <p:cNvSpPr/>
          <p:nvPr/>
        </p:nvSpPr>
        <p:spPr>
          <a:xfrm>
            <a:off x="4782312" y="4352544"/>
            <a:ext cx="3950208" cy="274320"/>
          </a:xfrm>
          <a:prstGeom prst="rect">
            <a:avLst/>
          </a:prstGeom>
          <a:noFill/>
          <a:ln/>
        </p:spPr>
        <p:txBody>
          <a:bodyPr wrap="square" lIns="0" tIns="0" rIns="0" bIns="0" rtlCol="0" anchor="ctr"/>
          <a:lstStyle/>
          <a:p>
            <a:pPr indent="0" marL="0">
              <a:buNone/>
            </a:pPr>
            <a:r>
              <a:rPr lang="en-US" sz="850" b="1" dirty="0">
                <a:solidFill>
                  <a:srgbClr val="D4A010"/>
                </a:solidFill>
                <a:latin typeface="Calibri" pitchFamily="34" charset="0"/>
                <a:ea typeface="Calibri" pitchFamily="34" charset="-122"/>
                <a:cs typeface="Calibri" pitchFamily="34" charset="-120"/>
              </a:rPr>
              <a:t>Result: </a:t>
            </a:r>
            <a:pPr indent="0" marL="0">
              <a:buNone/>
            </a:pPr>
            <a:r>
              <a:rPr lang="en-US" sz="850" dirty="0">
                <a:solidFill>
                  <a:srgbClr val="0C1428"/>
                </a:solidFill>
                <a:latin typeface="Calibri" pitchFamily="34" charset="0"/>
                <a:ea typeface="Calibri" pitchFamily="34" charset="-122"/>
                <a:cs typeface="Calibri" pitchFamily="34" charset="-120"/>
              </a:rPr>
              <a:t>N=120k subscribers. HR low_ARPU=2.84. HR no_bundle=1.92. Harrell's C=0.84.</a:t>
            </a:r>
            <a:endParaRPr lang="en-US" sz="850" dirty="0"/>
          </a:p>
        </p:txBody>
      </p:sp>
      <p:sp>
        <p:nvSpPr>
          <p:cNvPr id="45" name="Text 43"/>
          <p:cNvSpPr/>
          <p:nvPr/>
        </p:nvSpPr>
        <p:spPr>
          <a:xfrm>
            <a:off x="4782312" y="4663440"/>
            <a:ext cx="3950208" cy="329184"/>
          </a:xfrm>
          <a:prstGeom prst="rect">
            <a:avLst/>
          </a:prstGeom>
          <a:noFill/>
          <a:ln/>
        </p:spPr>
        <p:txBody>
          <a:bodyPr wrap="square" lIns="0" tIns="0" rIns="0" bIns="0" rtlCol="0" anchor="ctr"/>
          <a:lstStyle/>
          <a:p>
            <a:pPr indent="0" marL="0">
              <a:buNone/>
            </a:pPr>
            <a:r>
              <a:rPr lang="en-US" sz="850" b="1" dirty="0">
                <a:solidFill>
                  <a:srgbClr val="0A8A50"/>
                </a:solidFill>
                <a:latin typeface="Calibri" pitchFamily="34" charset="0"/>
                <a:ea typeface="Calibri" pitchFamily="34" charset="-122"/>
                <a:cs typeface="Calibri" pitchFamily="34" charset="-120"/>
              </a:rPr>
              <a:t>Impact: </a:t>
            </a:r>
            <a:pPr indent="0" marL="0">
              <a:buNone/>
            </a:pPr>
            <a:r>
              <a:rPr lang="en-US" sz="850" i="1" dirty="0">
                <a:solidFill>
                  <a:srgbClr val="0C1428"/>
                </a:solidFill>
                <a:latin typeface="Calibri" pitchFamily="34" charset="0"/>
                <a:ea typeface="Calibri" pitchFamily="34" charset="-122"/>
                <a:cs typeface="Calibri" pitchFamily="34" charset="-120"/>
              </a:rPr>
              <a:t>Targeted retention: 34% vs 8% control. N175M CLV retained per campaign cycle.</a:t>
            </a:r>
            <a:endParaRPr lang="en-US" sz="850" dirty="0"/>
          </a:p>
        </p:txBody>
      </p:sp>
      <p:sp>
        <p:nvSpPr>
          <p:cNvPr id="46" name="Shape 44"/>
          <p:cNvSpPr/>
          <p:nvPr/>
        </p:nvSpPr>
        <p:spPr>
          <a:xfrm>
            <a:off x="256032" y="5175504"/>
            <a:ext cx="8631936" cy="310896"/>
          </a:xfrm>
          <a:prstGeom prst="roundRect">
            <a:avLst>
              <a:gd name="adj" fmla="val 17647"/>
            </a:avLst>
          </a:prstGeom>
          <a:solidFill>
            <a:srgbClr val="FFFBEC"/>
          </a:solidFill>
          <a:ln w="19050">
            <a:solidFill>
              <a:srgbClr val="D4A010"/>
            </a:solidFill>
            <a:prstDash val="solid"/>
          </a:ln>
        </p:spPr>
      </p:sp>
      <p:sp>
        <p:nvSpPr>
          <p:cNvPr id="47" name="Text 45"/>
          <p:cNvSpPr/>
          <p:nvPr/>
        </p:nvSpPr>
        <p:spPr>
          <a:xfrm>
            <a:off x="384048" y="5175504"/>
            <a:ext cx="8449056" cy="310896"/>
          </a:xfrm>
          <a:prstGeom prst="rect">
            <a:avLst/>
          </a:prstGeom>
          <a:noFill/>
          <a:ln/>
        </p:spPr>
        <p:txBody>
          <a:bodyPr wrap="square" lIns="0" tIns="0" rIns="0" bIns="0" rtlCol="0" anchor="ctr"/>
          <a:lstStyle/>
          <a:p>
            <a:pPr indent="0" marL="0">
              <a:buNone/>
            </a:pPr>
            <a:r>
              <a:rPr lang="en-US" sz="950" dirty="0">
                <a:solidFill>
                  <a:srgbClr val="6B4800"/>
                </a:solidFill>
                <a:latin typeface="Calibri" pitchFamily="34" charset="0"/>
                <a:ea typeface="Calibri" pitchFamily="34" charset="-122"/>
                <a:cs typeface="Calibri" pitchFamily="34" charset="-120"/>
              </a:rPr>
              <a:t>Common thread: every case converts raw data into a predictive equation, assigns a coefficient to each driver, and makes better decisions than intuition alone. Regression is the bridge between data and decision.</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8FA"/>
        </a:solidFill>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070C18"/>
          </a:solidFill>
          <a:ln w="12700">
            <a:solidFill>
              <a:srgbClr val="070C18"/>
            </a:solidFill>
            <a:prstDash val="solid"/>
          </a:ln>
        </p:spPr>
      </p:sp>
      <p:sp>
        <p:nvSpPr>
          <p:cNvPr id="3" name="Text 1"/>
          <p:cNvSpPr/>
          <p:nvPr/>
        </p:nvSpPr>
        <p:spPr>
          <a:xfrm>
            <a:off x="438912" y="109728"/>
            <a:ext cx="8412480" cy="713232"/>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Complete Model Selection Guide - 15 Regression Types Decision Table</a:t>
            </a:r>
            <a:endParaRPr lang="en-US" sz="2100" dirty="0"/>
          </a:p>
        </p:txBody>
      </p:sp>
      <p:sp>
        <p:nvSpPr>
          <p:cNvPr id="4" name="Shape 2"/>
          <p:cNvSpPr/>
          <p:nvPr/>
        </p:nvSpPr>
        <p:spPr>
          <a:xfrm>
            <a:off x="256032" y="1024128"/>
            <a:ext cx="1463040" cy="256032"/>
          </a:xfrm>
          <a:prstGeom prst="rect">
            <a:avLst/>
          </a:prstGeom>
          <a:solidFill>
            <a:srgbClr val="070C18"/>
          </a:solidFill>
          <a:ln w="12700">
            <a:solidFill>
              <a:srgbClr val="070C18"/>
            </a:solidFill>
            <a:prstDash val="solid"/>
          </a:ln>
        </p:spPr>
      </p:sp>
      <p:sp>
        <p:nvSpPr>
          <p:cNvPr id="5" name="Text 3"/>
          <p:cNvSpPr/>
          <p:nvPr/>
        </p:nvSpPr>
        <p:spPr>
          <a:xfrm>
            <a:off x="256032" y="1024128"/>
            <a:ext cx="146304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Outcome (Y)</a:t>
            </a:r>
            <a:endParaRPr lang="en-US" sz="800" dirty="0"/>
          </a:p>
        </p:txBody>
      </p:sp>
      <p:sp>
        <p:nvSpPr>
          <p:cNvPr id="6" name="Shape 4"/>
          <p:cNvSpPr/>
          <p:nvPr/>
        </p:nvSpPr>
        <p:spPr>
          <a:xfrm>
            <a:off x="1719072" y="1024128"/>
            <a:ext cx="1243584" cy="256032"/>
          </a:xfrm>
          <a:prstGeom prst="rect">
            <a:avLst/>
          </a:prstGeom>
          <a:solidFill>
            <a:srgbClr val="070C18"/>
          </a:solidFill>
          <a:ln w="12700">
            <a:solidFill>
              <a:srgbClr val="070C18"/>
            </a:solidFill>
            <a:prstDash val="solid"/>
          </a:ln>
        </p:spPr>
      </p:sp>
      <p:sp>
        <p:nvSpPr>
          <p:cNvPr id="7" name="Text 5"/>
          <p:cNvSpPr/>
          <p:nvPr/>
        </p:nvSpPr>
        <p:spPr>
          <a:xfrm>
            <a:off x="1719072" y="1024128"/>
            <a:ext cx="1243584"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Distribution</a:t>
            </a:r>
            <a:endParaRPr lang="en-US" sz="800" dirty="0"/>
          </a:p>
        </p:txBody>
      </p:sp>
      <p:sp>
        <p:nvSpPr>
          <p:cNvPr id="8" name="Shape 6"/>
          <p:cNvSpPr/>
          <p:nvPr/>
        </p:nvSpPr>
        <p:spPr>
          <a:xfrm>
            <a:off x="2962656" y="1024128"/>
            <a:ext cx="1280160" cy="256032"/>
          </a:xfrm>
          <a:prstGeom prst="rect">
            <a:avLst/>
          </a:prstGeom>
          <a:solidFill>
            <a:srgbClr val="070C18"/>
          </a:solidFill>
          <a:ln w="12700">
            <a:solidFill>
              <a:srgbClr val="070C18"/>
            </a:solidFill>
            <a:prstDash val="solid"/>
          </a:ln>
        </p:spPr>
      </p:sp>
      <p:sp>
        <p:nvSpPr>
          <p:cNvPr id="9" name="Text 7"/>
          <p:cNvSpPr/>
          <p:nvPr/>
        </p:nvSpPr>
        <p:spPr>
          <a:xfrm>
            <a:off x="2962656" y="1024128"/>
            <a:ext cx="1280160"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Relationship</a:t>
            </a:r>
            <a:endParaRPr lang="en-US" sz="800" dirty="0"/>
          </a:p>
        </p:txBody>
      </p:sp>
      <p:sp>
        <p:nvSpPr>
          <p:cNvPr id="10" name="Shape 8"/>
          <p:cNvSpPr/>
          <p:nvPr/>
        </p:nvSpPr>
        <p:spPr>
          <a:xfrm>
            <a:off x="4242816" y="1024128"/>
            <a:ext cx="1810512" cy="256032"/>
          </a:xfrm>
          <a:prstGeom prst="rect">
            <a:avLst/>
          </a:prstGeom>
          <a:solidFill>
            <a:srgbClr val="070C18"/>
          </a:solidFill>
          <a:ln w="12700">
            <a:solidFill>
              <a:srgbClr val="070C18"/>
            </a:solidFill>
            <a:prstDash val="solid"/>
          </a:ln>
        </p:spPr>
      </p:sp>
      <p:sp>
        <p:nvSpPr>
          <p:cNvPr id="11" name="Text 9"/>
          <p:cNvSpPr/>
          <p:nvPr/>
        </p:nvSpPr>
        <p:spPr>
          <a:xfrm>
            <a:off x="4242816" y="1024128"/>
            <a:ext cx="181051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Model</a:t>
            </a:r>
            <a:endParaRPr lang="en-US" sz="800" dirty="0"/>
          </a:p>
        </p:txBody>
      </p:sp>
      <p:sp>
        <p:nvSpPr>
          <p:cNvPr id="12" name="Shape 10"/>
          <p:cNvSpPr/>
          <p:nvPr/>
        </p:nvSpPr>
        <p:spPr>
          <a:xfrm>
            <a:off x="6053328" y="1024128"/>
            <a:ext cx="2633472" cy="256032"/>
          </a:xfrm>
          <a:prstGeom prst="rect">
            <a:avLst/>
          </a:prstGeom>
          <a:solidFill>
            <a:srgbClr val="070C18"/>
          </a:solidFill>
          <a:ln w="12700">
            <a:solidFill>
              <a:srgbClr val="070C18"/>
            </a:solidFill>
            <a:prstDash val="solid"/>
          </a:ln>
        </p:spPr>
      </p:sp>
      <p:sp>
        <p:nvSpPr>
          <p:cNvPr id="13" name="Text 11"/>
          <p:cNvSpPr/>
          <p:nvPr/>
        </p:nvSpPr>
        <p:spPr>
          <a:xfrm>
            <a:off x="6053328" y="1024128"/>
            <a:ext cx="2633472" cy="25603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Key Output</a:t>
            </a:r>
            <a:endParaRPr lang="en-US" sz="800" dirty="0"/>
          </a:p>
        </p:txBody>
      </p:sp>
      <p:sp>
        <p:nvSpPr>
          <p:cNvPr id="14" name="Shape 12"/>
          <p:cNvSpPr/>
          <p:nvPr/>
        </p:nvSpPr>
        <p:spPr>
          <a:xfrm>
            <a:off x="256032" y="1280160"/>
            <a:ext cx="1463040" cy="256032"/>
          </a:xfrm>
          <a:prstGeom prst="rect">
            <a:avLst/>
          </a:prstGeom>
          <a:solidFill>
            <a:srgbClr val="EAF6FA"/>
          </a:solidFill>
          <a:ln w="6350">
            <a:solidFill>
              <a:srgbClr val="A0C8D8"/>
            </a:solidFill>
            <a:prstDash val="solid"/>
          </a:ln>
        </p:spPr>
      </p:sp>
      <p:sp>
        <p:nvSpPr>
          <p:cNvPr id="15" name="Text 13"/>
          <p:cNvSpPr/>
          <p:nvPr/>
        </p:nvSpPr>
        <p:spPr>
          <a:xfrm>
            <a:off x="256032" y="1280160"/>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Continuous, normal</a:t>
            </a:r>
            <a:endParaRPr lang="en-US" sz="800" dirty="0"/>
          </a:p>
        </p:txBody>
      </p:sp>
      <p:sp>
        <p:nvSpPr>
          <p:cNvPr id="16" name="Shape 14"/>
          <p:cNvSpPr/>
          <p:nvPr/>
        </p:nvSpPr>
        <p:spPr>
          <a:xfrm>
            <a:off x="1719072" y="1280160"/>
            <a:ext cx="1243584" cy="256032"/>
          </a:xfrm>
          <a:prstGeom prst="rect">
            <a:avLst/>
          </a:prstGeom>
          <a:solidFill>
            <a:srgbClr val="EAF6FA"/>
          </a:solidFill>
          <a:ln w="6350">
            <a:solidFill>
              <a:srgbClr val="A0C8D8"/>
            </a:solidFill>
            <a:prstDash val="solid"/>
          </a:ln>
        </p:spPr>
      </p:sp>
      <p:sp>
        <p:nvSpPr>
          <p:cNvPr id="17" name="Text 15"/>
          <p:cNvSpPr/>
          <p:nvPr/>
        </p:nvSpPr>
        <p:spPr>
          <a:xfrm>
            <a:off x="1719072" y="1280160"/>
            <a:ext cx="12435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Normal</a:t>
            </a:r>
            <a:endParaRPr lang="en-US" sz="800" dirty="0"/>
          </a:p>
        </p:txBody>
      </p:sp>
      <p:sp>
        <p:nvSpPr>
          <p:cNvPr id="18" name="Shape 16"/>
          <p:cNvSpPr/>
          <p:nvPr/>
        </p:nvSpPr>
        <p:spPr>
          <a:xfrm>
            <a:off x="2962656" y="1280160"/>
            <a:ext cx="1280160" cy="256032"/>
          </a:xfrm>
          <a:prstGeom prst="rect">
            <a:avLst/>
          </a:prstGeom>
          <a:solidFill>
            <a:srgbClr val="EAF6FA"/>
          </a:solidFill>
          <a:ln w="6350">
            <a:solidFill>
              <a:srgbClr val="A0C8D8"/>
            </a:solidFill>
            <a:prstDash val="solid"/>
          </a:ln>
        </p:spPr>
      </p:sp>
      <p:sp>
        <p:nvSpPr>
          <p:cNvPr id="19" name="Text 17"/>
          <p:cNvSpPr/>
          <p:nvPr/>
        </p:nvSpPr>
        <p:spPr>
          <a:xfrm>
            <a:off x="2962656" y="1280160"/>
            <a:ext cx="128016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Linear</a:t>
            </a:r>
            <a:endParaRPr lang="en-US" sz="800" dirty="0"/>
          </a:p>
        </p:txBody>
      </p:sp>
      <p:sp>
        <p:nvSpPr>
          <p:cNvPr id="20" name="Shape 18"/>
          <p:cNvSpPr/>
          <p:nvPr/>
        </p:nvSpPr>
        <p:spPr>
          <a:xfrm>
            <a:off x="4242816" y="1280160"/>
            <a:ext cx="1810512" cy="256032"/>
          </a:xfrm>
          <a:prstGeom prst="rect">
            <a:avLst/>
          </a:prstGeom>
          <a:solidFill>
            <a:srgbClr val="EAF6FA"/>
          </a:solidFill>
          <a:ln w="6350">
            <a:solidFill>
              <a:srgbClr val="A0C8D8"/>
            </a:solidFill>
            <a:prstDash val="solid"/>
          </a:ln>
        </p:spPr>
      </p:sp>
      <p:sp>
        <p:nvSpPr>
          <p:cNvPr id="21" name="Text 19"/>
          <p:cNvSpPr/>
          <p:nvPr/>
        </p:nvSpPr>
        <p:spPr>
          <a:xfrm>
            <a:off x="4242816" y="1280160"/>
            <a:ext cx="18105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Multiple Linear (OLS)</a:t>
            </a:r>
            <a:endParaRPr lang="en-US" sz="800" dirty="0"/>
          </a:p>
        </p:txBody>
      </p:sp>
      <p:sp>
        <p:nvSpPr>
          <p:cNvPr id="22" name="Shape 20"/>
          <p:cNvSpPr/>
          <p:nvPr/>
        </p:nvSpPr>
        <p:spPr>
          <a:xfrm>
            <a:off x="6053328" y="1280160"/>
            <a:ext cx="2633472" cy="256032"/>
          </a:xfrm>
          <a:prstGeom prst="rect">
            <a:avLst/>
          </a:prstGeom>
          <a:solidFill>
            <a:srgbClr val="EAF6FA"/>
          </a:solidFill>
          <a:ln w="6350">
            <a:solidFill>
              <a:srgbClr val="A0C8D8"/>
            </a:solidFill>
            <a:prstDash val="solid"/>
          </a:ln>
        </p:spPr>
      </p:sp>
      <p:sp>
        <p:nvSpPr>
          <p:cNvPr id="23" name="Text 21"/>
          <p:cNvSpPr/>
          <p:nvPr/>
        </p:nvSpPr>
        <p:spPr>
          <a:xfrm>
            <a:off x="6053328" y="1280160"/>
            <a:ext cx="26334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R², Adj.R², b, t, p, CI</a:t>
            </a:r>
            <a:endParaRPr lang="en-US" sz="800" dirty="0"/>
          </a:p>
        </p:txBody>
      </p:sp>
      <p:sp>
        <p:nvSpPr>
          <p:cNvPr id="24" name="Shape 22"/>
          <p:cNvSpPr/>
          <p:nvPr/>
        </p:nvSpPr>
        <p:spPr>
          <a:xfrm>
            <a:off x="256032" y="1536192"/>
            <a:ext cx="1463040" cy="256032"/>
          </a:xfrm>
          <a:prstGeom prst="rect">
            <a:avLst/>
          </a:prstGeom>
          <a:solidFill>
            <a:srgbClr val="FFFFFF"/>
          </a:solidFill>
          <a:ln w="6350">
            <a:solidFill>
              <a:srgbClr val="A0C8D8"/>
            </a:solidFill>
            <a:prstDash val="solid"/>
          </a:ln>
        </p:spPr>
      </p:sp>
      <p:sp>
        <p:nvSpPr>
          <p:cNvPr id="25" name="Text 23"/>
          <p:cNvSpPr/>
          <p:nvPr/>
        </p:nvSpPr>
        <p:spPr>
          <a:xfrm>
            <a:off x="256032" y="1536192"/>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Continuous, right-skewed</a:t>
            </a:r>
            <a:endParaRPr lang="en-US" sz="800" dirty="0"/>
          </a:p>
        </p:txBody>
      </p:sp>
      <p:sp>
        <p:nvSpPr>
          <p:cNvPr id="26" name="Shape 24"/>
          <p:cNvSpPr/>
          <p:nvPr/>
        </p:nvSpPr>
        <p:spPr>
          <a:xfrm>
            <a:off x="1719072" y="1536192"/>
            <a:ext cx="1243584" cy="256032"/>
          </a:xfrm>
          <a:prstGeom prst="rect">
            <a:avLst/>
          </a:prstGeom>
          <a:solidFill>
            <a:srgbClr val="FFFFFF"/>
          </a:solidFill>
          <a:ln w="6350">
            <a:solidFill>
              <a:srgbClr val="A0C8D8"/>
            </a:solidFill>
            <a:prstDash val="solid"/>
          </a:ln>
        </p:spPr>
      </p:sp>
      <p:sp>
        <p:nvSpPr>
          <p:cNvPr id="27" name="Text 25"/>
          <p:cNvSpPr/>
          <p:nvPr/>
        </p:nvSpPr>
        <p:spPr>
          <a:xfrm>
            <a:off x="1719072" y="1536192"/>
            <a:ext cx="12435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Log-Normal</a:t>
            </a:r>
            <a:endParaRPr lang="en-US" sz="800" dirty="0"/>
          </a:p>
        </p:txBody>
      </p:sp>
      <p:sp>
        <p:nvSpPr>
          <p:cNvPr id="28" name="Shape 26"/>
          <p:cNvSpPr/>
          <p:nvPr/>
        </p:nvSpPr>
        <p:spPr>
          <a:xfrm>
            <a:off x="2962656" y="1536192"/>
            <a:ext cx="1280160" cy="256032"/>
          </a:xfrm>
          <a:prstGeom prst="rect">
            <a:avLst/>
          </a:prstGeom>
          <a:solidFill>
            <a:srgbClr val="FFFFFF"/>
          </a:solidFill>
          <a:ln w="6350">
            <a:solidFill>
              <a:srgbClr val="A0C8D8"/>
            </a:solidFill>
            <a:prstDash val="solid"/>
          </a:ln>
        </p:spPr>
      </p:sp>
      <p:sp>
        <p:nvSpPr>
          <p:cNvPr id="29" name="Text 27"/>
          <p:cNvSpPr/>
          <p:nvPr/>
        </p:nvSpPr>
        <p:spPr>
          <a:xfrm>
            <a:off x="2962656" y="1536192"/>
            <a:ext cx="128016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Log-linear</a:t>
            </a:r>
            <a:endParaRPr lang="en-US" sz="800" dirty="0"/>
          </a:p>
        </p:txBody>
      </p:sp>
      <p:sp>
        <p:nvSpPr>
          <p:cNvPr id="30" name="Shape 28"/>
          <p:cNvSpPr/>
          <p:nvPr/>
        </p:nvSpPr>
        <p:spPr>
          <a:xfrm>
            <a:off x="4242816" y="1536192"/>
            <a:ext cx="1810512" cy="256032"/>
          </a:xfrm>
          <a:prstGeom prst="rect">
            <a:avLst/>
          </a:prstGeom>
          <a:solidFill>
            <a:srgbClr val="FFFFFF"/>
          </a:solidFill>
          <a:ln w="6350">
            <a:solidFill>
              <a:srgbClr val="A0C8D8"/>
            </a:solidFill>
            <a:prstDash val="solid"/>
          </a:ln>
        </p:spPr>
      </p:sp>
      <p:sp>
        <p:nvSpPr>
          <p:cNvPr id="31" name="Text 29"/>
          <p:cNvSpPr/>
          <p:nvPr/>
        </p:nvSpPr>
        <p:spPr>
          <a:xfrm>
            <a:off x="4242816" y="1536192"/>
            <a:ext cx="18105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Linear on LN(Y)</a:t>
            </a:r>
            <a:endParaRPr lang="en-US" sz="800" dirty="0"/>
          </a:p>
        </p:txBody>
      </p:sp>
      <p:sp>
        <p:nvSpPr>
          <p:cNvPr id="32" name="Shape 30"/>
          <p:cNvSpPr/>
          <p:nvPr/>
        </p:nvSpPr>
        <p:spPr>
          <a:xfrm>
            <a:off x="6053328" y="1536192"/>
            <a:ext cx="2633472" cy="256032"/>
          </a:xfrm>
          <a:prstGeom prst="rect">
            <a:avLst/>
          </a:prstGeom>
          <a:solidFill>
            <a:srgbClr val="FFFFFF"/>
          </a:solidFill>
          <a:ln w="6350">
            <a:solidFill>
              <a:srgbClr val="A0C8D8"/>
            </a:solidFill>
            <a:prstDash val="solid"/>
          </a:ln>
        </p:spPr>
      </p:sp>
      <p:sp>
        <p:nvSpPr>
          <p:cNvPr id="33" name="Text 31"/>
          <p:cNvSpPr/>
          <p:nvPr/>
        </p:nvSpPr>
        <p:spPr>
          <a:xfrm>
            <a:off x="6053328" y="1536192"/>
            <a:ext cx="26334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exp(b)=multiplicative effect</a:t>
            </a:r>
            <a:endParaRPr lang="en-US" sz="800" dirty="0"/>
          </a:p>
        </p:txBody>
      </p:sp>
      <p:sp>
        <p:nvSpPr>
          <p:cNvPr id="34" name="Shape 32"/>
          <p:cNvSpPr/>
          <p:nvPr/>
        </p:nvSpPr>
        <p:spPr>
          <a:xfrm>
            <a:off x="256032" y="1792224"/>
            <a:ext cx="1463040" cy="256032"/>
          </a:xfrm>
          <a:prstGeom prst="rect">
            <a:avLst/>
          </a:prstGeom>
          <a:solidFill>
            <a:srgbClr val="EAF6FA"/>
          </a:solidFill>
          <a:ln w="6350">
            <a:solidFill>
              <a:srgbClr val="A0C8D8"/>
            </a:solidFill>
            <a:prstDash val="solid"/>
          </a:ln>
        </p:spPr>
      </p:sp>
      <p:sp>
        <p:nvSpPr>
          <p:cNvPr id="35" name="Text 33"/>
          <p:cNvSpPr/>
          <p:nvPr/>
        </p:nvSpPr>
        <p:spPr>
          <a:xfrm>
            <a:off x="256032" y="1792224"/>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Continuous, many corr. X</a:t>
            </a:r>
            <a:endParaRPr lang="en-US" sz="800" dirty="0"/>
          </a:p>
        </p:txBody>
      </p:sp>
      <p:sp>
        <p:nvSpPr>
          <p:cNvPr id="36" name="Shape 34"/>
          <p:cNvSpPr/>
          <p:nvPr/>
        </p:nvSpPr>
        <p:spPr>
          <a:xfrm>
            <a:off x="1719072" y="1792224"/>
            <a:ext cx="1243584" cy="256032"/>
          </a:xfrm>
          <a:prstGeom prst="rect">
            <a:avLst/>
          </a:prstGeom>
          <a:solidFill>
            <a:srgbClr val="EAF6FA"/>
          </a:solidFill>
          <a:ln w="6350">
            <a:solidFill>
              <a:srgbClr val="A0C8D8"/>
            </a:solidFill>
            <a:prstDash val="solid"/>
          </a:ln>
        </p:spPr>
      </p:sp>
      <p:sp>
        <p:nvSpPr>
          <p:cNvPr id="37" name="Text 35"/>
          <p:cNvSpPr/>
          <p:nvPr/>
        </p:nvSpPr>
        <p:spPr>
          <a:xfrm>
            <a:off x="1719072" y="1792224"/>
            <a:ext cx="12435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Normal</a:t>
            </a:r>
            <a:endParaRPr lang="en-US" sz="800" dirty="0"/>
          </a:p>
        </p:txBody>
      </p:sp>
      <p:sp>
        <p:nvSpPr>
          <p:cNvPr id="38" name="Shape 36"/>
          <p:cNvSpPr/>
          <p:nvPr/>
        </p:nvSpPr>
        <p:spPr>
          <a:xfrm>
            <a:off x="2962656" y="1792224"/>
            <a:ext cx="1280160" cy="256032"/>
          </a:xfrm>
          <a:prstGeom prst="rect">
            <a:avLst/>
          </a:prstGeom>
          <a:solidFill>
            <a:srgbClr val="EAF6FA"/>
          </a:solidFill>
          <a:ln w="6350">
            <a:solidFill>
              <a:srgbClr val="A0C8D8"/>
            </a:solidFill>
            <a:prstDash val="solid"/>
          </a:ln>
        </p:spPr>
      </p:sp>
      <p:sp>
        <p:nvSpPr>
          <p:cNvPr id="39" name="Text 37"/>
          <p:cNvSpPr/>
          <p:nvPr/>
        </p:nvSpPr>
        <p:spPr>
          <a:xfrm>
            <a:off x="2962656" y="1792224"/>
            <a:ext cx="128016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Linear</a:t>
            </a:r>
            <a:endParaRPr lang="en-US" sz="800" dirty="0"/>
          </a:p>
        </p:txBody>
      </p:sp>
      <p:sp>
        <p:nvSpPr>
          <p:cNvPr id="40" name="Shape 38"/>
          <p:cNvSpPr/>
          <p:nvPr/>
        </p:nvSpPr>
        <p:spPr>
          <a:xfrm>
            <a:off x="4242816" y="1792224"/>
            <a:ext cx="1810512" cy="256032"/>
          </a:xfrm>
          <a:prstGeom prst="rect">
            <a:avLst/>
          </a:prstGeom>
          <a:solidFill>
            <a:srgbClr val="EAF6FA"/>
          </a:solidFill>
          <a:ln w="6350">
            <a:solidFill>
              <a:srgbClr val="A0C8D8"/>
            </a:solidFill>
            <a:prstDash val="solid"/>
          </a:ln>
        </p:spPr>
      </p:sp>
      <p:sp>
        <p:nvSpPr>
          <p:cNvPr id="41" name="Text 39"/>
          <p:cNvSpPr/>
          <p:nvPr/>
        </p:nvSpPr>
        <p:spPr>
          <a:xfrm>
            <a:off x="4242816" y="1792224"/>
            <a:ext cx="18105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Ridge Regression (L2)</a:t>
            </a:r>
            <a:endParaRPr lang="en-US" sz="800" dirty="0"/>
          </a:p>
        </p:txBody>
      </p:sp>
      <p:sp>
        <p:nvSpPr>
          <p:cNvPr id="42" name="Shape 40"/>
          <p:cNvSpPr/>
          <p:nvPr/>
        </p:nvSpPr>
        <p:spPr>
          <a:xfrm>
            <a:off x="6053328" y="1792224"/>
            <a:ext cx="2633472" cy="256032"/>
          </a:xfrm>
          <a:prstGeom prst="rect">
            <a:avLst/>
          </a:prstGeom>
          <a:solidFill>
            <a:srgbClr val="EAF6FA"/>
          </a:solidFill>
          <a:ln w="6350">
            <a:solidFill>
              <a:srgbClr val="A0C8D8"/>
            </a:solidFill>
            <a:prstDash val="solid"/>
          </a:ln>
        </p:spPr>
      </p:sp>
      <p:sp>
        <p:nvSpPr>
          <p:cNvPr id="43" name="Text 41"/>
          <p:cNvSpPr/>
          <p:nvPr/>
        </p:nvSpPr>
        <p:spPr>
          <a:xfrm>
            <a:off x="6053328" y="1792224"/>
            <a:ext cx="26334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Shrunk coefficients, CV error</a:t>
            </a:r>
            <a:endParaRPr lang="en-US" sz="800" dirty="0"/>
          </a:p>
        </p:txBody>
      </p:sp>
      <p:sp>
        <p:nvSpPr>
          <p:cNvPr id="44" name="Shape 42"/>
          <p:cNvSpPr/>
          <p:nvPr/>
        </p:nvSpPr>
        <p:spPr>
          <a:xfrm>
            <a:off x="256032" y="2048256"/>
            <a:ext cx="1463040" cy="256032"/>
          </a:xfrm>
          <a:prstGeom prst="rect">
            <a:avLst/>
          </a:prstGeom>
          <a:solidFill>
            <a:srgbClr val="FFFFFF"/>
          </a:solidFill>
          <a:ln w="6350">
            <a:solidFill>
              <a:srgbClr val="A0C8D8"/>
            </a:solidFill>
            <a:prstDash val="solid"/>
          </a:ln>
        </p:spPr>
      </p:sp>
      <p:sp>
        <p:nvSpPr>
          <p:cNvPr id="45" name="Text 43"/>
          <p:cNvSpPr/>
          <p:nvPr/>
        </p:nvSpPr>
        <p:spPr>
          <a:xfrm>
            <a:off x="256032" y="2048256"/>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Continuous, need selection</a:t>
            </a:r>
            <a:endParaRPr lang="en-US" sz="800" dirty="0"/>
          </a:p>
        </p:txBody>
      </p:sp>
      <p:sp>
        <p:nvSpPr>
          <p:cNvPr id="46" name="Shape 44"/>
          <p:cNvSpPr/>
          <p:nvPr/>
        </p:nvSpPr>
        <p:spPr>
          <a:xfrm>
            <a:off x="1719072" y="2048256"/>
            <a:ext cx="1243584" cy="256032"/>
          </a:xfrm>
          <a:prstGeom prst="rect">
            <a:avLst/>
          </a:prstGeom>
          <a:solidFill>
            <a:srgbClr val="FFFFFF"/>
          </a:solidFill>
          <a:ln w="6350">
            <a:solidFill>
              <a:srgbClr val="A0C8D8"/>
            </a:solidFill>
            <a:prstDash val="solid"/>
          </a:ln>
        </p:spPr>
      </p:sp>
      <p:sp>
        <p:nvSpPr>
          <p:cNvPr id="47" name="Text 45"/>
          <p:cNvSpPr/>
          <p:nvPr/>
        </p:nvSpPr>
        <p:spPr>
          <a:xfrm>
            <a:off x="1719072" y="2048256"/>
            <a:ext cx="12435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Normal</a:t>
            </a:r>
            <a:endParaRPr lang="en-US" sz="800" dirty="0"/>
          </a:p>
        </p:txBody>
      </p:sp>
      <p:sp>
        <p:nvSpPr>
          <p:cNvPr id="48" name="Shape 46"/>
          <p:cNvSpPr/>
          <p:nvPr/>
        </p:nvSpPr>
        <p:spPr>
          <a:xfrm>
            <a:off x="2962656" y="2048256"/>
            <a:ext cx="1280160" cy="256032"/>
          </a:xfrm>
          <a:prstGeom prst="rect">
            <a:avLst/>
          </a:prstGeom>
          <a:solidFill>
            <a:srgbClr val="FFFFFF"/>
          </a:solidFill>
          <a:ln w="6350">
            <a:solidFill>
              <a:srgbClr val="A0C8D8"/>
            </a:solidFill>
            <a:prstDash val="solid"/>
          </a:ln>
        </p:spPr>
      </p:sp>
      <p:sp>
        <p:nvSpPr>
          <p:cNvPr id="49" name="Text 47"/>
          <p:cNvSpPr/>
          <p:nvPr/>
        </p:nvSpPr>
        <p:spPr>
          <a:xfrm>
            <a:off x="2962656" y="2048256"/>
            <a:ext cx="128016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Sparse linear</a:t>
            </a:r>
            <a:endParaRPr lang="en-US" sz="800" dirty="0"/>
          </a:p>
        </p:txBody>
      </p:sp>
      <p:sp>
        <p:nvSpPr>
          <p:cNvPr id="50" name="Shape 48"/>
          <p:cNvSpPr/>
          <p:nvPr/>
        </p:nvSpPr>
        <p:spPr>
          <a:xfrm>
            <a:off x="4242816" y="2048256"/>
            <a:ext cx="1810512" cy="256032"/>
          </a:xfrm>
          <a:prstGeom prst="rect">
            <a:avLst/>
          </a:prstGeom>
          <a:solidFill>
            <a:srgbClr val="FFFFFF"/>
          </a:solidFill>
          <a:ln w="6350">
            <a:solidFill>
              <a:srgbClr val="A0C8D8"/>
            </a:solidFill>
            <a:prstDash val="solid"/>
          </a:ln>
        </p:spPr>
      </p:sp>
      <p:sp>
        <p:nvSpPr>
          <p:cNvPr id="51" name="Text 49"/>
          <p:cNvSpPr/>
          <p:nvPr/>
        </p:nvSpPr>
        <p:spPr>
          <a:xfrm>
            <a:off x="4242816" y="2048256"/>
            <a:ext cx="18105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Lasso Regression (L1)</a:t>
            </a:r>
            <a:endParaRPr lang="en-US" sz="800" dirty="0"/>
          </a:p>
        </p:txBody>
      </p:sp>
      <p:sp>
        <p:nvSpPr>
          <p:cNvPr id="52" name="Shape 50"/>
          <p:cNvSpPr/>
          <p:nvPr/>
        </p:nvSpPr>
        <p:spPr>
          <a:xfrm>
            <a:off x="6053328" y="2048256"/>
            <a:ext cx="2633472" cy="256032"/>
          </a:xfrm>
          <a:prstGeom prst="rect">
            <a:avLst/>
          </a:prstGeom>
          <a:solidFill>
            <a:srgbClr val="FFFFFF"/>
          </a:solidFill>
          <a:ln w="6350">
            <a:solidFill>
              <a:srgbClr val="A0C8D8"/>
            </a:solidFill>
            <a:prstDash val="solid"/>
          </a:ln>
        </p:spPr>
      </p:sp>
      <p:sp>
        <p:nvSpPr>
          <p:cNvPr id="53" name="Text 51"/>
          <p:cNvSpPr/>
          <p:nvPr/>
        </p:nvSpPr>
        <p:spPr>
          <a:xfrm>
            <a:off x="6053328" y="2048256"/>
            <a:ext cx="26334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Zero and non-zero coefficients</a:t>
            </a:r>
            <a:endParaRPr lang="en-US" sz="800" dirty="0"/>
          </a:p>
        </p:txBody>
      </p:sp>
      <p:sp>
        <p:nvSpPr>
          <p:cNvPr id="54" name="Shape 52"/>
          <p:cNvSpPr/>
          <p:nvPr/>
        </p:nvSpPr>
        <p:spPr>
          <a:xfrm>
            <a:off x="256032" y="2304288"/>
            <a:ext cx="1463040" cy="256032"/>
          </a:xfrm>
          <a:prstGeom prst="rect">
            <a:avLst/>
          </a:prstGeom>
          <a:solidFill>
            <a:srgbClr val="EAF6FA"/>
          </a:solidFill>
          <a:ln w="6350">
            <a:solidFill>
              <a:srgbClr val="A0C8D8"/>
            </a:solidFill>
            <a:prstDash val="solid"/>
          </a:ln>
        </p:spPr>
      </p:sp>
      <p:sp>
        <p:nvSpPr>
          <p:cNvPr id="55" name="Text 53"/>
          <p:cNvSpPr/>
          <p:nvPr/>
        </p:nvSpPr>
        <p:spPr>
          <a:xfrm>
            <a:off x="256032" y="2304288"/>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Continuous, grouped corr.</a:t>
            </a:r>
            <a:endParaRPr lang="en-US" sz="800" dirty="0"/>
          </a:p>
        </p:txBody>
      </p:sp>
      <p:sp>
        <p:nvSpPr>
          <p:cNvPr id="56" name="Shape 54"/>
          <p:cNvSpPr/>
          <p:nvPr/>
        </p:nvSpPr>
        <p:spPr>
          <a:xfrm>
            <a:off x="1719072" y="2304288"/>
            <a:ext cx="1243584" cy="256032"/>
          </a:xfrm>
          <a:prstGeom prst="rect">
            <a:avLst/>
          </a:prstGeom>
          <a:solidFill>
            <a:srgbClr val="EAF6FA"/>
          </a:solidFill>
          <a:ln w="6350">
            <a:solidFill>
              <a:srgbClr val="A0C8D8"/>
            </a:solidFill>
            <a:prstDash val="solid"/>
          </a:ln>
        </p:spPr>
      </p:sp>
      <p:sp>
        <p:nvSpPr>
          <p:cNvPr id="57" name="Text 55"/>
          <p:cNvSpPr/>
          <p:nvPr/>
        </p:nvSpPr>
        <p:spPr>
          <a:xfrm>
            <a:off x="1719072" y="2304288"/>
            <a:ext cx="12435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Normal</a:t>
            </a:r>
            <a:endParaRPr lang="en-US" sz="800" dirty="0"/>
          </a:p>
        </p:txBody>
      </p:sp>
      <p:sp>
        <p:nvSpPr>
          <p:cNvPr id="58" name="Shape 56"/>
          <p:cNvSpPr/>
          <p:nvPr/>
        </p:nvSpPr>
        <p:spPr>
          <a:xfrm>
            <a:off x="2962656" y="2304288"/>
            <a:ext cx="1280160" cy="256032"/>
          </a:xfrm>
          <a:prstGeom prst="rect">
            <a:avLst/>
          </a:prstGeom>
          <a:solidFill>
            <a:srgbClr val="EAF6FA"/>
          </a:solidFill>
          <a:ln w="6350">
            <a:solidFill>
              <a:srgbClr val="A0C8D8"/>
            </a:solidFill>
            <a:prstDash val="solid"/>
          </a:ln>
        </p:spPr>
      </p:sp>
      <p:sp>
        <p:nvSpPr>
          <p:cNvPr id="59" name="Text 57"/>
          <p:cNvSpPr/>
          <p:nvPr/>
        </p:nvSpPr>
        <p:spPr>
          <a:xfrm>
            <a:off x="2962656" y="2304288"/>
            <a:ext cx="128016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Sparse+grouped</a:t>
            </a:r>
            <a:endParaRPr lang="en-US" sz="800" dirty="0"/>
          </a:p>
        </p:txBody>
      </p:sp>
      <p:sp>
        <p:nvSpPr>
          <p:cNvPr id="60" name="Shape 58"/>
          <p:cNvSpPr/>
          <p:nvPr/>
        </p:nvSpPr>
        <p:spPr>
          <a:xfrm>
            <a:off x="4242816" y="2304288"/>
            <a:ext cx="1810512" cy="256032"/>
          </a:xfrm>
          <a:prstGeom prst="rect">
            <a:avLst/>
          </a:prstGeom>
          <a:solidFill>
            <a:srgbClr val="EAF6FA"/>
          </a:solidFill>
          <a:ln w="6350">
            <a:solidFill>
              <a:srgbClr val="A0C8D8"/>
            </a:solidFill>
            <a:prstDash val="solid"/>
          </a:ln>
        </p:spPr>
      </p:sp>
      <p:sp>
        <p:nvSpPr>
          <p:cNvPr id="61" name="Text 59"/>
          <p:cNvSpPr/>
          <p:nvPr/>
        </p:nvSpPr>
        <p:spPr>
          <a:xfrm>
            <a:off x="4242816" y="2304288"/>
            <a:ext cx="18105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Elastic Net</a:t>
            </a:r>
            <a:endParaRPr lang="en-US" sz="800" dirty="0"/>
          </a:p>
        </p:txBody>
      </p:sp>
      <p:sp>
        <p:nvSpPr>
          <p:cNvPr id="62" name="Shape 60"/>
          <p:cNvSpPr/>
          <p:nvPr/>
        </p:nvSpPr>
        <p:spPr>
          <a:xfrm>
            <a:off x="6053328" y="2304288"/>
            <a:ext cx="2633472" cy="256032"/>
          </a:xfrm>
          <a:prstGeom prst="rect">
            <a:avLst/>
          </a:prstGeom>
          <a:solidFill>
            <a:srgbClr val="EAF6FA"/>
          </a:solidFill>
          <a:ln w="6350">
            <a:solidFill>
              <a:srgbClr val="A0C8D8"/>
            </a:solidFill>
            <a:prstDash val="solid"/>
          </a:ln>
        </p:spPr>
      </p:sp>
      <p:sp>
        <p:nvSpPr>
          <p:cNvPr id="63" name="Text 61"/>
          <p:cNvSpPr/>
          <p:nvPr/>
        </p:nvSpPr>
        <p:spPr>
          <a:xfrm>
            <a:off x="6053328" y="2304288"/>
            <a:ext cx="26334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λ + α from CV</a:t>
            </a:r>
            <a:endParaRPr lang="en-US" sz="800" dirty="0"/>
          </a:p>
        </p:txBody>
      </p:sp>
      <p:sp>
        <p:nvSpPr>
          <p:cNvPr id="64" name="Shape 62"/>
          <p:cNvSpPr/>
          <p:nvPr/>
        </p:nvSpPr>
        <p:spPr>
          <a:xfrm>
            <a:off x="256032" y="2560320"/>
            <a:ext cx="1463040" cy="256032"/>
          </a:xfrm>
          <a:prstGeom prst="rect">
            <a:avLst/>
          </a:prstGeom>
          <a:solidFill>
            <a:srgbClr val="FFFFFF"/>
          </a:solidFill>
          <a:ln w="6350">
            <a:solidFill>
              <a:srgbClr val="A0C8D8"/>
            </a:solidFill>
            <a:prstDash val="solid"/>
          </a:ln>
        </p:spPr>
      </p:sp>
      <p:sp>
        <p:nvSpPr>
          <p:cNvPr id="65" name="Text 63"/>
          <p:cNvSpPr/>
          <p:nvPr/>
        </p:nvSpPr>
        <p:spPr>
          <a:xfrm>
            <a:off x="256032" y="2560320"/>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Continuous, curved X-Y</a:t>
            </a:r>
            <a:endParaRPr lang="en-US" sz="800" dirty="0"/>
          </a:p>
        </p:txBody>
      </p:sp>
      <p:sp>
        <p:nvSpPr>
          <p:cNvPr id="66" name="Shape 64"/>
          <p:cNvSpPr/>
          <p:nvPr/>
        </p:nvSpPr>
        <p:spPr>
          <a:xfrm>
            <a:off x="1719072" y="2560320"/>
            <a:ext cx="1243584" cy="256032"/>
          </a:xfrm>
          <a:prstGeom prst="rect">
            <a:avLst/>
          </a:prstGeom>
          <a:solidFill>
            <a:srgbClr val="FFFFFF"/>
          </a:solidFill>
          <a:ln w="6350">
            <a:solidFill>
              <a:srgbClr val="A0C8D8"/>
            </a:solidFill>
            <a:prstDash val="solid"/>
          </a:ln>
        </p:spPr>
      </p:sp>
      <p:sp>
        <p:nvSpPr>
          <p:cNvPr id="67" name="Text 65"/>
          <p:cNvSpPr/>
          <p:nvPr/>
        </p:nvSpPr>
        <p:spPr>
          <a:xfrm>
            <a:off x="1719072" y="2560320"/>
            <a:ext cx="12435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Normal</a:t>
            </a:r>
            <a:endParaRPr lang="en-US" sz="800" dirty="0"/>
          </a:p>
        </p:txBody>
      </p:sp>
      <p:sp>
        <p:nvSpPr>
          <p:cNvPr id="68" name="Shape 66"/>
          <p:cNvSpPr/>
          <p:nvPr/>
        </p:nvSpPr>
        <p:spPr>
          <a:xfrm>
            <a:off x="2962656" y="2560320"/>
            <a:ext cx="1280160" cy="256032"/>
          </a:xfrm>
          <a:prstGeom prst="rect">
            <a:avLst/>
          </a:prstGeom>
          <a:solidFill>
            <a:srgbClr val="FFFFFF"/>
          </a:solidFill>
          <a:ln w="6350">
            <a:solidFill>
              <a:srgbClr val="A0C8D8"/>
            </a:solidFill>
            <a:prstDash val="solid"/>
          </a:ln>
        </p:spPr>
      </p:sp>
      <p:sp>
        <p:nvSpPr>
          <p:cNvPr id="69" name="Text 67"/>
          <p:cNvSpPr/>
          <p:nvPr/>
        </p:nvSpPr>
        <p:spPr>
          <a:xfrm>
            <a:off x="2962656" y="2560320"/>
            <a:ext cx="128016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Non-linear</a:t>
            </a:r>
            <a:endParaRPr lang="en-US" sz="800" dirty="0"/>
          </a:p>
        </p:txBody>
      </p:sp>
      <p:sp>
        <p:nvSpPr>
          <p:cNvPr id="70" name="Shape 68"/>
          <p:cNvSpPr/>
          <p:nvPr/>
        </p:nvSpPr>
        <p:spPr>
          <a:xfrm>
            <a:off x="4242816" y="2560320"/>
            <a:ext cx="1810512" cy="256032"/>
          </a:xfrm>
          <a:prstGeom prst="rect">
            <a:avLst/>
          </a:prstGeom>
          <a:solidFill>
            <a:srgbClr val="FFFFFF"/>
          </a:solidFill>
          <a:ln w="6350">
            <a:solidFill>
              <a:srgbClr val="A0C8D8"/>
            </a:solidFill>
            <a:prstDash val="solid"/>
          </a:ln>
        </p:spPr>
      </p:sp>
      <p:sp>
        <p:nvSpPr>
          <p:cNvPr id="71" name="Text 69"/>
          <p:cNvSpPr/>
          <p:nvPr/>
        </p:nvSpPr>
        <p:spPr>
          <a:xfrm>
            <a:off x="4242816" y="2560320"/>
            <a:ext cx="18105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Polynomial / Spline / GAM</a:t>
            </a:r>
            <a:endParaRPr lang="en-US" sz="800" dirty="0"/>
          </a:p>
        </p:txBody>
      </p:sp>
      <p:sp>
        <p:nvSpPr>
          <p:cNvPr id="72" name="Shape 70"/>
          <p:cNvSpPr/>
          <p:nvPr/>
        </p:nvSpPr>
        <p:spPr>
          <a:xfrm>
            <a:off x="6053328" y="2560320"/>
            <a:ext cx="2633472" cy="256032"/>
          </a:xfrm>
          <a:prstGeom prst="rect">
            <a:avLst/>
          </a:prstGeom>
          <a:solidFill>
            <a:srgbClr val="FFFFFF"/>
          </a:solidFill>
          <a:ln w="6350">
            <a:solidFill>
              <a:srgbClr val="A0C8D8"/>
            </a:solidFill>
            <a:prstDash val="solid"/>
          </a:ln>
        </p:spPr>
      </p:sp>
      <p:sp>
        <p:nvSpPr>
          <p:cNvPr id="73" name="Text 71"/>
          <p:cNvSpPr/>
          <p:nvPr/>
        </p:nvSpPr>
        <p:spPr>
          <a:xfrm>
            <a:off x="6053328" y="2560320"/>
            <a:ext cx="26334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Smooth terms, EDF</a:t>
            </a:r>
            <a:endParaRPr lang="en-US" sz="800" dirty="0"/>
          </a:p>
        </p:txBody>
      </p:sp>
      <p:sp>
        <p:nvSpPr>
          <p:cNvPr id="74" name="Shape 72"/>
          <p:cNvSpPr/>
          <p:nvPr/>
        </p:nvSpPr>
        <p:spPr>
          <a:xfrm>
            <a:off x="256032" y="2816352"/>
            <a:ext cx="1463040" cy="256032"/>
          </a:xfrm>
          <a:prstGeom prst="rect">
            <a:avLst/>
          </a:prstGeom>
          <a:solidFill>
            <a:srgbClr val="EAF6FA"/>
          </a:solidFill>
          <a:ln w="6350">
            <a:solidFill>
              <a:srgbClr val="A0C8D8"/>
            </a:solidFill>
            <a:prstDash val="solid"/>
          </a:ln>
        </p:spPr>
      </p:sp>
      <p:sp>
        <p:nvSpPr>
          <p:cNvPr id="75" name="Text 73"/>
          <p:cNvSpPr/>
          <p:nvPr/>
        </p:nvSpPr>
        <p:spPr>
          <a:xfrm>
            <a:off x="256032" y="2816352"/>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Binary 0/1</a:t>
            </a:r>
            <a:endParaRPr lang="en-US" sz="800" dirty="0"/>
          </a:p>
        </p:txBody>
      </p:sp>
      <p:sp>
        <p:nvSpPr>
          <p:cNvPr id="76" name="Shape 74"/>
          <p:cNvSpPr/>
          <p:nvPr/>
        </p:nvSpPr>
        <p:spPr>
          <a:xfrm>
            <a:off x="1719072" y="2816352"/>
            <a:ext cx="1243584" cy="256032"/>
          </a:xfrm>
          <a:prstGeom prst="rect">
            <a:avLst/>
          </a:prstGeom>
          <a:solidFill>
            <a:srgbClr val="EAF6FA"/>
          </a:solidFill>
          <a:ln w="6350">
            <a:solidFill>
              <a:srgbClr val="A0C8D8"/>
            </a:solidFill>
            <a:prstDash val="solid"/>
          </a:ln>
        </p:spPr>
      </p:sp>
      <p:sp>
        <p:nvSpPr>
          <p:cNvPr id="77" name="Text 75"/>
          <p:cNvSpPr/>
          <p:nvPr/>
        </p:nvSpPr>
        <p:spPr>
          <a:xfrm>
            <a:off x="1719072" y="2816352"/>
            <a:ext cx="12435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Bernoulli</a:t>
            </a:r>
            <a:endParaRPr lang="en-US" sz="800" dirty="0"/>
          </a:p>
        </p:txBody>
      </p:sp>
      <p:sp>
        <p:nvSpPr>
          <p:cNvPr id="78" name="Shape 76"/>
          <p:cNvSpPr/>
          <p:nvPr/>
        </p:nvSpPr>
        <p:spPr>
          <a:xfrm>
            <a:off x="2962656" y="2816352"/>
            <a:ext cx="1280160" cy="256032"/>
          </a:xfrm>
          <a:prstGeom prst="rect">
            <a:avLst/>
          </a:prstGeom>
          <a:solidFill>
            <a:srgbClr val="EAF6FA"/>
          </a:solidFill>
          <a:ln w="6350">
            <a:solidFill>
              <a:srgbClr val="A0C8D8"/>
            </a:solidFill>
            <a:prstDash val="solid"/>
          </a:ln>
        </p:spPr>
      </p:sp>
      <p:sp>
        <p:nvSpPr>
          <p:cNvPr id="79" name="Text 77"/>
          <p:cNvSpPr/>
          <p:nvPr/>
        </p:nvSpPr>
        <p:spPr>
          <a:xfrm>
            <a:off x="2962656" y="2816352"/>
            <a:ext cx="128016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Logistic link</a:t>
            </a:r>
            <a:endParaRPr lang="en-US" sz="800" dirty="0"/>
          </a:p>
        </p:txBody>
      </p:sp>
      <p:sp>
        <p:nvSpPr>
          <p:cNvPr id="80" name="Shape 78"/>
          <p:cNvSpPr/>
          <p:nvPr/>
        </p:nvSpPr>
        <p:spPr>
          <a:xfrm>
            <a:off x="4242816" y="2816352"/>
            <a:ext cx="1810512" cy="256032"/>
          </a:xfrm>
          <a:prstGeom prst="rect">
            <a:avLst/>
          </a:prstGeom>
          <a:solidFill>
            <a:srgbClr val="EAF6FA"/>
          </a:solidFill>
          <a:ln w="6350">
            <a:solidFill>
              <a:srgbClr val="A0C8D8"/>
            </a:solidFill>
            <a:prstDash val="solid"/>
          </a:ln>
        </p:spPr>
      </p:sp>
      <p:sp>
        <p:nvSpPr>
          <p:cNvPr id="81" name="Text 79"/>
          <p:cNvSpPr/>
          <p:nvPr/>
        </p:nvSpPr>
        <p:spPr>
          <a:xfrm>
            <a:off x="4242816" y="2816352"/>
            <a:ext cx="18105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Binary Logistic</a:t>
            </a:r>
            <a:endParaRPr lang="en-US" sz="800" dirty="0"/>
          </a:p>
        </p:txBody>
      </p:sp>
      <p:sp>
        <p:nvSpPr>
          <p:cNvPr id="82" name="Shape 80"/>
          <p:cNvSpPr/>
          <p:nvPr/>
        </p:nvSpPr>
        <p:spPr>
          <a:xfrm>
            <a:off x="6053328" y="2816352"/>
            <a:ext cx="2633472" cy="256032"/>
          </a:xfrm>
          <a:prstGeom prst="rect">
            <a:avLst/>
          </a:prstGeom>
          <a:solidFill>
            <a:srgbClr val="EAF6FA"/>
          </a:solidFill>
          <a:ln w="6350">
            <a:solidFill>
              <a:srgbClr val="A0C8D8"/>
            </a:solidFill>
            <a:prstDash val="solid"/>
          </a:ln>
        </p:spPr>
      </p:sp>
      <p:sp>
        <p:nvSpPr>
          <p:cNvPr id="83" name="Text 81"/>
          <p:cNvSpPr/>
          <p:nvPr/>
        </p:nvSpPr>
        <p:spPr>
          <a:xfrm>
            <a:off x="6053328" y="2816352"/>
            <a:ext cx="26334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OR=exp(b), AUC, HL test</a:t>
            </a:r>
            <a:endParaRPr lang="en-US" sz="800" dirty="0"/>
          </a:p>
        </p:txBody>
      </p:sp>
      <p:sp>
        <p:nvSpPr>
          <p:cNvPr id="84" name="Shape 82"/>
          <p:cNvSpPr/>
          <p:nvPr/>
        </p:nvSpPr>
        <p:spPr>
          <a:xfrm>
            <a:off x="256032" y="3072384"/>
            <a:ext cx="1463040" cy="256032"/>
          </a:xfrm>
          <a:prstGeom prst="rect">
            <a:avLst/>
          </a:prstGeom>
          <a:solidFill>
            <a:srgbClr val="FFFFFF"/>
          </a:solidFill>
          <a:ln w="6350">
            <a:solidFill>
              <a:srgbClr val="A0C8D8"/>
            </a:solidFill>
            <a:prstDash val="solid"/>
          </a:ln>
        </p:spPr>
      </p:sp>
      <p:sp>
        <p:nvSpPr>
          <p:cNvPr id="85" name="Text 83"/>
          <p:cNvSpPr/>
          <p:nvPr/>
        </p:nvSpPr>
        <p:spPr>
          <a:xfrm>
            <a:off x="256032" y="3072384"/>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3+ unordered categories</a:t>
            </a:r>
            <a:endParaRPr lang="en-US" sz="800" dirty="0"/>
          </a:p>
        </p:txBody>
      </p:sp>
      <p:sp>
        <p:nvSpPr>
          <p:cNvPr id="86" name="Shape 84"/>
          <p:cNvSpPr/>
          <p:nvPr/>
        </p:nvSpPr>
        <p:spPr>
          <a:xfrm>
            <a:off x="1719072" y="3072384"/>
            <a:ext cx="1243584" cy="256032"/>
          </a:xfrm>
          <a:prstGeom prst="rect">
            <a:avLst/>
          </a:prstGeom>
          <a:solidFill>
            <a:srgbClr val="FFFFFF"/>
          </a:solidFill>
          <a:ln w="6350">
            <a:solidFill>
              <a:srgbClr val="A0C8D8"/>
            </a:solidFill>
            <a:prstDash val="solid"/>
          </a:ln>
        </p:spPr>
      </p:sp>
      <p:sp>
        <p:nvSpPr>
          <p:cNvPr id="87" name="Text 85"/>
          <p:cNvSpPr/>
          <p:nvPr/>
        </p:nvSpPr>
        <p:spPr>
          <a:xfrm>
            <a:off x="1719072" y="3072384"/>
            <a:ext cx="12435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Multinomial</a:t>
            </a:r>
            <a:endParaRPr lang="en-US" sz="800" dirty="0"/>
          </a:p>
        </p:txBody>
      </p:sp>
      <p:sp>
        <p:nvSpPr>
          <p:cNvPr id="88" name="Shape 86"/>
          <p:cNvSpPr/>
          <p:nvPr/>
        </p:nvSpPr>
        <p:spPr>
          <a:xfrm>
            <a:off x="2962656" y="3072384"/>
            <a:ext cx="1280160" cy="256032"/>
          </a:xfrm>
          <a:prstGeom prst="rect">
            <a:avLst/>
          </a:prstGeom>
          <a:solidFill>
            <a:srgbClr val="FFFFFF"/>
          </a:solidFill>
          <a:ln w="6350">
            <a:solidFill>
              <a:srgbClr val="A0C8D8"/>
            </a:solidFill>
            <a:prstDash val="solid"/>
          </a:ln>
        </p:spPr>
      </p:sp>
      <p:sp>
        <p:nvSpPr>
          <p:cNvPr id="89" name="Text 87"/>
          <p:cNvSpPr/>
          <p:nvPr/>
        </p:nvSpPr>
        <p:spPr>
          <a:xfrm>
            <a:off x="2962656" y="3072384"/>
            <a:ext cx="128016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Logistic link (K-1)</a:t>
            </a:r>
            <a:endParaRPr lang="en-US" sz="800" dirty="0"/>
          </a:p>
        </p:txBody>
      </p:sp>
      <p:sp>
        <p:nvSpPr>
          <p:cNvPr id="90" name="Shape 88"/>
          <p:cNvSpPr/>
          <p:nvPr/>
        </p:nvSpPr>
        <p:spPr>
          <a:xfrm>
            <a:off x="4242816" y="3072384"/>
            <a:ext cx="1810512" cy="256032"/>
          </a:xfrm>
          <a:prstGeom prst="rect">
            <a:avLst/>
          </a:prstGeom>
          <a:solidFill>
            <a:srgbClr val="FFFFFF"/>
          </a:solidFill>
          <a:ln w="6350">
            <a:solidFill>
              <a:srgbClr val="A0C8D8"/>
            </a:solidFill>
            <a:prstDash val="solid"/>
          </a:ln>
        </p:spPr>
      </p:sp>
      <p:sp>
        <p:nvSpPr>
          <p:cNvPr id="91" name="Text 89"/>
          <p:cNvSpPr/>
          <p:nvPr/>
        </p:nvSpPr>
        <p:spPr>
          <a:xfrm>
            <a:off x="4242816" y="3072384"/>
            <a:ext cx="18105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Multinomial Logistic</a:t>
            </a:r>
            <a:endParaRPr lang="en-US" sz="800" dirty="0"/>
          </a:p>
        </p:txBody>
      </p:sp>
      <p:sp>
        <p:nvSpPr>
          <p:cNvPr id="92" name="Shape 90"/>
          <p:cNvSpPr/>
          <p:nvPr/>
        </p:nvSpPr>
        <p:spPr>
          <a:xfrm>
            <a:off x="6053328" y="3072384"/>
            <a:ext cx="2633472" cy="256032"/>
          </a:xfrm>
          <a:prstGeom prst="rect">
            <a:avLst/>
          </a:prstGeom>
          <a:solidFill>
            <a:srgbClr val="FFFFFF"/>
          </a:solidFill>
          <a:ln w="6350">
            <a:solidFill>
              <a:srgbClr val="A0C8D8"/>
            </a:solidFill>
            <a:prstDash val="solid"/>
          </a:ln>
        </p:spPr>
      </p:sp>
      <p:sp>
        <p:nvSpPr>
          <p:cNvPr id="93" name="Text 91"/>
          <p:cNvSpPr/>
          <p:nvPr/>
        </p:nvSpPr>
        <p:spPr>
          <a:xfrm>
            <a:off x="6053328" y="3072384"/>
            <a:ext cx="26334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OR per category vs reference</a:t>
            </a:r>
            <a:endParaRPr lang="en-US" sz="800" dirty="0"/>
          </a:p>
        </p:txBody>
      </p:sp>
      <p:sp>
        <p:nvSpPr>
          <p:cNvPr id="94" name="Shape 92"/>
          <p:cNvSpPr/>
          <p:nvPr/>
        </p:nvSpPr>
        <p:spPr>
          <a:xfrm>
            <a:off x="256032" y="3328416"/>
            <a:ext cx="1463040" cy="256032"/>
          </a:xfrm>
          <a:prstGeom prst="rect">
            <a:avLst/>
          </a:prstGeom>
          <a:solidFill>
            <a:srgbClr val="EAF6FA"/>
          </a:solidFill>
          <a:ln w="6350">
            <a:solidFill>
              <a:srgbClr val="A0C8D8"/>
            </a:solidFill>
            <a:prstDash val="solid"/>
          </a:ln>
        </p:spPr>
      </p:sp>
      <p:sp>
        <p:nvSpPr>
          <p:cNvPr id="95" name="Text 93"/>
          <p:cNvSpPr/>
          <p:nvPr/>
        </p:nvSpPr>
        <p:spPr>
          <a:xfrm>
            <a:off x="256032" y="3328416"/>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3+ ordered categories</a:t>
            </a:r>
            <a:endParaRPr lang="en-US" sz="800" dirty="0"/>
          </a:p>
        </p:txBody>
      </p:sp>
      <p:sp>
        <p:nvSpPr>
          <p:cNvPr id="96" name="Shape 94"/>
          <p:cNvSpPr/>
          <p:nvPr/>
        </p:nvSpPr>
        <p:spPr>
          <a:xfrm>
            <a:off x="1719072" y="3328416"/>
            <a:ext cx="1243584" cy="256032"/>
          </a:xfrm>
          <a:prstGeom prst="rect">
            <a:avLst/>
          </a:prstGeom>
          <a:solidFill>
            <a:srgbClr val="EAF6FA"/>
          </a:solidFill>
          <a:ln w="6350">
            <a:solidFill>
              <a:srgbClr val="A0C8D8"/>
            </a:solidFill>
            <a:prstDash val="solid"/>
          </a:ln>
        </p:spPr>
      </p:sp>
      <p:sp>
        <p:nvSpPr>
          <p:cNvPr id="97" name="Text 95"/>
          <p:cNvSpPr/>
          <p:nvPr/>
        </p:nvSpPr>
        <p:spPr>
          <a:xfrm>
            <a:off x="1719072" y="3328416"/>
            <a:ext cx="12435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Ordinal</a:t>
            </a:r>
            <a:endParaRPr lang="en-US" sz="800" dirty="0"/>
          </a:p>
        </p:txBody>
      </p:sp>
      <p:sp>
        <p:nvSpPr>
          <p:cNvPr id="98" name="Shape 96"/>
          <p:cNvSpPr/>
          <p:nvPr/>
        </p:nvSpPr>
        <p:spPr>
          <a:xfrm>
            <a:off x="2962656" y="3328416"/>
            <a:ext cx="1280160" cy="256032"/>
          </a:xfrm>
          <a:prstGeom prst="rect">
            <a:avLst/>
          </a:prstGeom>
          <a:solidFill>
            <a:srgbClr val="EAF6FA"/>
          </a:solidFill>
          <a:ln w="6350">
            <a:solidFill>
              <a:srgbClr val="A0C8D8"/>
            </a:solidFill>
            <a:prstDash val="solid"/>
          </a:ln>
        </p:spPr>
      </p:sp>
      <p:sp>
        <p:nvSpPr>
          <p:cNvPr id="99" name="Text 97"/>
          <p:cNvSpPr/>
          <p:nvPr/>
        </p:nvSpPr>
        <p:spPr>
          <a:xfrm>
            <a:off x="2962656" y="3328416"/>
            <a:ext cx="128016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Cumulative logit</a:t>
            </a:r>
            <a:endParaRPr lang="en-US" sz="800" dirty="0"/>
          </a:p>
        </p:txBody>
      </p:sp>
      <p:sp>
        <p:nvSpPr>
          <p:cNvPr id="100" name="Shape 98"/>
          <p:cNvSpPr/>
          <p:nvPr/>
        </p:nvSpPr>
        <p:spPr>
          <a:xfrm>
            <a:off x="4242816" y="3328416"/>
            <a:ext cx="1810512" cy="256032"/>
          </a:xfrm>
          <a:prstGeom prst="rect">
            <a:avLst/>
          </a:prstGeom>
          <a:solidFill>
            <a:srgbClr val="EAF6FA"/>
          </a:solidFill>
          <a:ln w="6350">
            <a:solidFill>
              <a:srgbClr val="A0C8D8"/>
            </a:solidFill>
            <a:prstDash val="solid"/>
          </a:ln>
        </p:spPr>
      </p:sp>
      <p:sp>
        <p:nvSpPr>
          <p:cNvPr id="101" name="Text 99"/>
          <p:cNvSpPr/>
          <p:nvPr/>
        </p:nvSpPr>
        <p:spPr>
          <a:xfrm>
            <a:off x="4242816" y="3328416"/>
            <a:ext cx="18105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Ordinal (Prop. Odds)</a:t>
            </a:r>
            <a:endParaRPr lang="en-US" sz="800" dirty="0"/>
          </a:p>
        </p:txBody>
      </p:sp>
      <p:sp>
        <p:nvSpPr>
          <p:cNvPr id="102" name="Shape 100"/>
          <p:cNvSpPr/>
          <p:nvPr/>
        </p:nvSpPr>
        <p:spPr>
          <a:xfrm>
            <a:off x="6053328" y="3328416"/>
            <a:ext cx="2633472" cy="256032"/>
          </a:xfrm>
          <a:prstGeom prst="rect">
            <a:avLst/>
          </a:prstGeom>
          <a:solidFill>
            <a:srgbClr val="EAF6FA"/>
          </a:solidFill>
          <a:ln w="6350">
            <a:solidFill>
              <a:srgbClr val="A0C8D8"/>
            </a:solidFill>
            <a:prstDash val="solid"/>
          </a:ln>
        </p:spPr>
      </p:sp>
      <p:sp>
        <p:nvSpPr>
          <p:cNvPr id="103" name="Text 101"/>
          <p:cNvSpPr/>
          <p:nvPr/>
        </p:nvSpPr>
        <p:spPr>
          <a:xfrm>
            <a:off x="6053328" y="3328416"/>
            <a:ext cx="26334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OR, Test of Parallel Lines</a:t>
            </a:r>
            <a:endParaRPr lang="en-US" sz="800" dirty="0"/>
          </a:p>
        </p:txBody>
      </p:sp>
      <p:sp>
        <p:nvSpPr>
          <p:cNvPr id="104" name="Shape 102"/>
          <p:cNvSpPr/>
          <p:nvPr/>
        </p:nvSpPr>
        <p:spPr>
          <a:xfrm>
            <a:off x="256032" y="3584448"/>
            <a:ext cx="1463040" cy="256032"/>
          </a:xfrm>
          <a:prstGeom prst="rect">
            <a:avLst/>
          </a:prstGeom>
          <a:solidFill>
            <a:srgbClr val="FFFFFF"/>
          </a:solidFill>
          <a:ln w="6350">
            <a:solidFill>
              <a:srgbClr val="A0C8D8"/>
            </a:solidFill>
            <a:prstDash val="solid"/>
          </a:ln>
        </p:spPr>
      </p:sp>
      <p:sp>
        <p:nvSpPr>
          <p:cNvPr id="105" name="Text 103"/>
          <p:cNvSpPr/>
          <p:nvPr/>
        </p:nvSpPr>
        <p:spPr>
          <a:xfrm>
            <a:off x="256032" y="3584448"/>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Count (equidispersed)</a:t>
            </a:r>
            <a:endParaRPr lang="en-US" sz="800" dirty="0"/>
          </a:p>
        </p:txBody>
      </p:sp>
      <p:sp>
        <p:nvSpPr>
          <p:cNvPr id="106" name="Shape 104"/>
          <p:cNvSpPr/>
          <p:nvPr/>
        </p:nvSpPr>
        <p:spPr>
          <a:xfrm>
            <a:off x="1719072" y="3584448"/>
            <a:ext cx="1243584" cy="256032"/>
          </a:xfrm>
          <a:prstGeom prst="rect">
            <a:avLst/>
          </a:prstGeom>
          <a:solidFill>
            <a:srgbClr val="FFFFFF"/>
          </a:solidFill>
          <a:ln w="6350">
            <a:solidFill>
              <a:srgbClr val="A0C8D8"/>
            </a:solidFill>
            <a:prstDash val="solid"/>
          </a:ln>
        </p:spPr>
      </p:sp>
      <p:sp>
        <p:nvSpPr>
          <p:cNvPr id="107" name="Text 105"/>
          <p:cNvSpPr/>
          <p:nvPr/>
        </p:nvSpPr>
        <p:spPr>
          <a:xfrm>
            <a:off x="1719072" y="3584448"/>
            <a:ext cx="12435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Poisson</a:t>
            </a:r>
            <a:endParaRPr lang="en-US" sz="800" dirty="0"/>
          </a:p>
        </p:txBody>
      </p:sp>
      <p:sp>
        <p:nvSpPr>
          <p:cNvPr id="108" name="Shape 106"/>
          <p:cNvSpPr/>
          <p:nvPr/>
        </p:nvSpPr>
        <p:spPr>
          <a:xfrm>
            <a:off x="2962656" y="3584448"/>
            <a:ext cx="1280160" cy="256032"/>
          </a:xfrm>
          <a:prstGeom prst="rect">
            <a:avLst/>
          </a:prstGeom>
          <a:solidFill>
            <a:srgbClr val="FFFFFF"/>
          </a:solidFill>
          <a:ln w="6350">
            <a:solidFill>
              <a:srgbClr val="A0C8D8"/>
            </a:solidFill>
            <a:prstDash val="solid"/>
          </a:ln>
        </p:spPr>
      </p:sp>
      <p:sp>
        <p:nvSpPr>
          <p:cNvPr id="109" name="Text 107"/>
          <p:cNvSpPr/>
          <p:nvPr/>
        </p:nvSpPr>
        <p:spPr>
          <a:xfrm>
            <a:off x="2962656" y="3584448"/>
            <a:ext cx="128016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Log link</a:t>
            </a:r>
            <a:endParaRPr lang="en-US" sz="800" dirty="0"/>
          </a:p>
        </p:txBody>
      </p:sp>
      <p:sp>
        <p:nvSpPr>
          <p:cNvPr id="110" name="Shape 108"/>
          <p:cNvSpPr/>
          <p:nvPr/>
        </p:nvSpPr>
        <p:spPr>
          <a:xfrm>
            <a:off x="4242816" y="3584448"/>
            <a:ext cx="1810512" cy="256032"/>
          </a:xfrm>
          <a:prstGeom prst="rect">
            <a:avLst/>
          </a:prstGeom>
          <a:solidFill>
            <a:srgbClr val="FFFFFF"/>
          </a:solidFill>
          <a:ln w="6350">
            <a:solidFill>
              <a:srgbClr val="A0C8D8"/>
            </a:solidFill>
            <a:prstDash val="solid"/>
          </a:ln>
        </p:spPr>
      </p:sp>
      <p:sp>
        <p:nvSpPr>
          <p:cNvPr id="111" name="Text 109"/>
          <p:cNvSpPr/>
          <p:nvPr/>
        </p:nvSpPr>
        <p:spPr>
          <a:xfrm>
            <a:off x="4242816" y="3584448"/>
            <a:ext cx="18105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Poisson GLM</a:t>
            </a:r>
            <a:endParaRPr lang="en-US" sz="800" dirty="0"/>
          </a:p>
        </p:txBody>
      </p:sp>
      <p:sp>
        <p:nvSpPr>
          <p:cNvPr id="112" name="Shape 110"/>
          <p:cNvSpPr/>
          <p:nvPr/>
        </p:nvSpPr>
        <p:spPr>
          <a:xfrm>
            <a:off x="6053328" y="3584448"/>
            <a:ext cx="2633472" cy="256032"/>
          </a:xfrm>
          <a:prstGeom prst="rect">
            <a:avLst/>
          </a:prstGeom>
          <a:solidFill>
            <a:srgbClr val="FFFFFF"/>
          </a:solidFill>
          <a:ln w="6350">
            <a:solidFill>
              <a:srgbClr val="A0C8D8"/>
            </a:solidFill>
            <a:prstDash val="solid"/>
          </a:ln>
        </p:spPr>
      </p:sp>
      <p:sp>
        <p:nvSpPr>
          <p:cNvPr id="113" name="Text 111"/>
          <p:cNvSpPr/>
          <p:nvPr/>
        </p:nvSpPr>
        <p:spPr>
          <a:xfrm>
            <a:off x="6053328" y="3584448"/>
            <a:ext cx="26334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IRR=exp(b), Dispersion test</a:t>
            </a:r>
            <a:endParaRPr lang="en-US" sz="800" dirty="0"/>
          </a:p>
        </p:txBody>
      </p:sp>
      <p:sp>
        <p:nvSpPr>
          <p:cNvPr id="114" name="Shape 112"/>
          <p:cNvSpPr/>
          <p:nvPr/>
        </p:nvSpPr>
        <p:spPr>
          <a:xfrm>
            <a:off x="256032" y="3840480"/>
            <a:ext cx="1463040" cy="256032"/>
          </a:xfrm>
          <a:prstGeom prst="rect">
            <a:avLst/>
          </a:prstGeom>
          <a:solidFill>
            <a:srgbClr val="EAF6FA"/>
          </a:solidFill>
          <a:ln w="6350">
            <a:solidFill>
              <a:srgbClr val="A0C8D8"/>
            </a:solidFill>
            <a:prstDash val="solid"/>
          </a:ln>
        </p:spPr>
      </p:sp>
      <p:sp>
        <p:nvSpPr>
          <p:cNvPr id="115" name="Text 113"/>
          <p:cNvSpPr/>
          <p:nvPr/>
        </p:nvSpPr>
        <p:spPr>
          <a:xfrm>
            <a:off x="256032" y="3840480"/>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Count (overdispersed)</a:t>
            </a:r>
            <a:endParaRPr lang="en-US" sz="800" dirty="0"/>
          </a:p>
        </p:txBody>
      </p:sp>
      <p:sp>
        <p:nvSpPr>
          <p:cNvPr id="116" name="Shape 114"/>
          <p:cNvSpPr/>
          <p:nvPr/>
        </p:nvSpPr>
        <p:spPr>
          <a:xfrm>
            <a:off x="1719072" y="3840480"/>
            <a:ext cx="1243584" cy="256032"/>
          </a:xfrm>
          <a:prstGeom prst="rect">
            <a:avLst/>
          </a:prstGeom>
          <a:solidFill>
            <a:srgbClr val="EAF6FA"/>
          </a:solidFill>
          <a:ln w="6350">
            <a:solidFill>
              <a:srgbClr val="A0C8D8"/>
            </a:solidFill>
            <a:prstDash val="solid"/>
          </a:ln>
        </p:spPr>
      </p:sp>
      <p:sp>
        <p:nvSpPr>
          <p:cNvPr id="117" name="Text 115"/>
          <p:cNvSpPr/>
          <p:nvPr/>
        </p:nvSpPr>
        <p:spPr>
          <a:xfrm>
            <a:off x="1719072" y="3840480"/>
            <a:ext cx="12435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Neg. Binomial</a:t>
            </a:r>
            <a:endParaRPr lang="en-US" sz="800" dirty="0"/>
          </a:p>
        </p:txBody>
      </p:sp>
      <p:sp>
        <p:nvSpPr>
          <p:cNvPr id="118" name="Shape 116"/>
          <p:cNvSpPr/>
          <p:nvPr/>
        </p:nvSpPr>
        <p:spPr>
          <a:xfrm>
            <a:off x="2962656" y="3840480"/>
            <a:ext cx="1280160" cy="256032"/>
          </a:xfrm>
          <a:prstGeom prst="rect">
            <a:avLst/>
          </a:prstGeom>
          <a:solidFill>
            <a:srgbClr val="EAF6FA"/>
          </a:solidFill>
          <a:ln w="6350">
            <a:solidFill>
              <a:srgbClr val="A0C8D8"/>
            </a:solidFill>
            <a:prstDash val="solid"/>
          </a:ln>
        </p:spPr>
      </p:sp>
      <p:sp>
        <p:nvSpPr>
          <p:cNvPr id="119" name="Text 117"/>
          <p:cNvSpPr/>
          <p:nvPr/>
        </p:nvSpPr>
        <p:spPr>
          <a:xfrm>
            <a:off x="2962656" y="3840480"/>
            <a:ext cx="128016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Log link</a:t>
            </a:r>
            <a:endParaRPr lang="en-US" sz="800" dirty="0"/>
          </a:p>
        </p:txBody>
      </p:sp>
      <p:sp>
        <p:nvSpPr>
          <p:cNvPr id="120" name="Shape 118"/>
          <p:cNvSpPr/>
          <p:nvPr/>
        </p:nvSpPr>
        <p:spPr>
          <a:xfrm>
            <a:off x="4242816" y="3840480"/>
            <a:ext cx="1810512" cy="256032"/>
          </a:xfrm>
          <a:prstGeom prst="rect">
            <a:avLst/>
          </a:prstGeom>
          <a:solidFill>
            <a:srgbClr val="EAF6FA"/>
          </a:solidFill>
          <a:ln w="6350">
            <a:solidFill>
              <a:srgbClr val="A0C8D8"/>
            </a:solidFill>
            <a:prstDash val="solid"/>
          </a:ln>
        </p:spPr>
      </p:sp>
      <p:sp>
        <p:nvSpPr>
          <p:cNvPr id="121" name="Text 119"/>
          <p:cNvSpPr/>
          <p:nvPr/>
        </p:nvSpPr>
        <p:spPr>
          <a:xfrm>
            <a:off x="4242816" y="3840480"/>
            <a:ext cx="18105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Negative Binomial GLM</a:t>
            </a:r>
            <a:endParaRPr lang="en-US" sz="800" dirty="0"/>
          </a:p>
        </p:txBody>
      </p:sp>
      <p:sp>
        <p:nvSpPr>
          <p:cNvPr id="122" name="Shape 120"/>
          <p:cNvSpPr/>
          <p:nvPr/>
        </p:nvSpPr>
        <p:spPr>
          <a:xfrm>
            <a:off x="6053328" y="3840480"/>
            <a:ext cx="2633472" cy="256032"/>
          </a:xfrm>
          <a:prstGeom prst="rect">
            <a:avLst/>
          </a:prstGeom>
          <a:solidFill>
            <a:srgbClr val="EAF6FA"/>
          </a:solidFill>
          <a:ln w="6350">
            <a:solidFill>
              <a:srgbClr val="A0C8D8"/>
            </a:solidFill>
            <a:prstDash val="solid"/>
          </a:ln>
        </p:spPr>
      </p:sp>
      <p:sp>
        <p:nvSpPr>
          <p:cNvPr id="123" name="Text 121"/>
          <p:cNvSpPr/>
          <p:nvPr/>
        </p:nvSpPr>
        <p:spPr>
          <a:xfrm>
            <a:off x="6053328" y="3840480"/>
            <a:ext cx="26334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IRR, φ dispersion parameter</a:t>
            </a:r>
            <a:endParaRPr lang="en-US" sz="800" dirty="0"/>
          </a:p>
        </p:txBody>
      </p:sp>
      <p:sp>
        <p:nvSpPr>
          <p:cNvPr id="124" name="Shape 122"/>
          <p:cNvSpPr/>
          <p:nvPr/>
        </p:nvSpPr>
        <p:spPr>
          <a:xfrm>
            <a:off x="256032" y="4096512"/>
            <a:ext cx="1463040" cy="256032"/>
          </a:xfrm>
          <a:prstGeom prst="rect">
            <a:avLst/>
          </a:prstGeom>
          <a:solidFill>
            <a:srgbClr val="FFFFFF"/>
          </a:solidFill>
          <a:ln w="6350">
            <a:solidFill>
              <a:srgbClr val="A0C8D8"/>
            </a:solidFill>
            <a:prstDash val="solid"/>
          </a:ln>
        </p:spPr>
      </p:sp>
      <p:sp>
        <p:nvSpPr>
          <p:cNvPr id="125" name="Text 123"/>
          <p:cNvSpPr/>
          <p:nvPr/>
        </p:nvSpPr>
        <p:spPr>
          <a:xfrm>
            <a:off x="256032" y="4096512"/>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Count (excess zeros)</a:t>
            </a:r>
            <a:endParaRPr lang="en-US" sz="800" dirty="0"/>
          </a:p>
        </p:txBody>
      </p:sp>
      <p:sp>
        <p:nvSpPr>
          <p:cNvPr id="126" name="Shape 124"/>
          <p:cNvSpPr/>
          <p:nvPr/>
        </p:nvSpPr>
        <p:spPr>
          <a:xfrm>
            <a:off x="1719072" y="4096512"/>
            <a:ext cx="1243584" cy="256032"/>
          </a:xfrm>
          <a:prstGeom prst="rect">
            <a:avLst/>
          </a:prstGeom>
          <a:solidFill>
            <a:srgbClr val="FFFFFF"/>
          </a:solidFill>
          <a:ln w="6350">
            <a:solidFill>
              <a:srgbClr val="A0C8D8"/>
            </a:solidFill>
            <a:prstDash val="solid"/>
          </a:ln>
        </p:spPr>
      </p:sp>
      <p:sp>
        <p:nvSpPr>
          <p:cNvPr id="127" name="Text 125"/>
          <p:cNvSpPr/>
          <p:nvPr/>
        </p:nvSpPr>
        <p:spPr>
          <a:xfrm>
            <a:off x="1719072" y="4096512"/>
            <a:ext cx="12435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ZIP or ZINB</a:t>
            </a:r>
            <a:endParaRPr lang="en-US" sz="800" dirty="0"/>
          </a:p>
        </p:txBody>
      </p:sp>
      <p:sp>
        <p:nvSpPr>
          <p:cNvPr id="128" name="Shape 126"/>
          <p:cNvSpPr/>
          <p:nvPr/>
        </p:nvSpPr>
        <p:spPr>
          <a:xfrm>
            <a:off x="2962656" y="4096512"/>
            <a:ext cx="1280160" cy="256032"/>
          </a:xfrm>
          <a:prstGeom prst="rect">
            <a:avLst/>
          </a:prstGeom>
          <a:solidFill>
            <a:srgbClr val="FFFFFF"/>
          </a:solidFill>
          <a:ln w="6350">
            <a:solidFill>
              <a:srgbClr val="A0C8D8"/>
            </a:solidFill>
            <a:prstDash val="solid"/>
          </a:ln>
        </p:spPr>
      </p:sp>
      <p:sp>
        <p:nvSpPr>
          <p:cNvPr id="129" name="Text 127"/>
          <p:cNvSpPr/>
          <p:nvPr/>
        </p:nvSpPr>
        <p:spPr>
          <a:xfrm>
            <a:off x="2962656" y="4096512"/>
            <a:ext cx="128016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Two-component</a:t>
            </a:r>
            <a:endParaRPr lang="en-US" sz="800" dirty="0"/>
          </a:p>
        </p:txBody>
      </p:sp>
      <p:sp>
        <p:nvSpPr>
          <p:cNvPr id="130" name="Shape 128"/>
          <p:cNvSpPr/>
          <p:nvPr/>
        </p:nvSpPr>
        <p:spPr>
          <a:xfrm>
            <a:off x="4242816" y="4096512"/>
            <a:ext cx="1810512" cy="256032"/>
          </a:xfrm>
          <a:prstGeom prst="rect">
            <a:avLst/>
          </a:prstGeom>
          <a:solidFill>
            <a:srgbClr val="FFFFFF"/>
          </a:solidFill>
          <a:ln w="6350">
            <a:solidFill>
              <a:srgbClr val="A0C8D8"/>
            </a:solidFill>
            <a:prstDash val="solid"/>
          </a:ln>
        </p:spPr>
      </p:sp>
      <p:sp>
        <p:nvSpPr>
          <p:cNvPr id="131" name="Text 129"/>
          <p:cNvSpPr/>
          <p:nvPr/>
        </p:nvSpPr>
        <p:spPr>
          <a:xfrm>
            <a:off x="4242816" y="4096512"/>
            <a:ext cx="18105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Zero-Inflated Model</a:t>
            </a:r>
            <a:endParaRPr lang="en-US" sz="800" dirty="0"/>
          </a:p>
        </p:txBody>
      </p:sp>
      <p:sp>
        <p:nvSpPr>
          <p:cNvPr id="132" name="Shape 130"/>
          <p:cNvSpPr/>
          <p:nvPr/>
        </p:nvSpPr>
        <p:spPr>
          <a:xfrm>
            <a:off x="6053328" y="4096512"/>
            <a:ext cx="2633472" cy="256032"/>
          </a:xfrm>
          <a:prstGeom prst="rect">
            <a:avLst/>
          </a:prstGeom>
          <a:solidFill>
            <a:srgbClr val="FFFFFF"/>
          </a:solidFill>
          <a:ln w="6350">
            <a:solidFill>
              <a:srgbClr val="A0C8D8"/>
            </a:solidFill>
            <a:prstDash val="solid"/>
          </a:ln>
        </p:spPr>
      </p:sp>
      <p:sp>
        <p:nvSpPr>
          <p:cNvPr id="133" name="Text 131"/>
          <p:cNvSpPr/>
          <p:nvPr/>
        </p:nvSpPr>
        <p:spPr>
          <a:xfrm>
            <a:off x="6053328" y="4096512"/>
            <a:ext cx="26334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Vuong test vs Poisson/NB</a:t>
            </a:r>
            <a:endParaRPr lang="en-US" sz="800" dirty="0"/>
          </a:p>
        </p:txBody>
      </p:sp>
      <p:sp>
        <p:nvSpPr>
          <p:cNvPr id="134" name="Shape 132"/>
          <p:cNvSpPr/>
          <p:nvPr/>
        </p:nvSpPr>
        <p:spPr>
          <a:xfrm>
            <a:off x="256032" y="4352544"/>
            <a:ext cx="1463040" cy="256032"/>
          </a:xfrm>
          <a:prstGeom prst="rect">
            <a:avLst/>
          </a:prstGeom>
          <a:solidFill>
            <a:srgbClr val="EAF6FA"/>
          </a:solidFill>
          <a:ln w="6350">
            <a:solidFill>
              <a:srgbClr val="A0C8D8"/>
            </a:solidFill>
            <a:prstDash val="solid"/>
          </a:ln>
        </p:spPr>
      </p:sp>
      <p:sp>
        <p:nvSpPr>
          <p:cNvPr id="135" name="Text 133"/>
          <p:cNvSpPr/>
          <p:nvPr/>
        </p:nvSpPr>
        <p:spPr>
          <a:xfrm>
            <a:off x="256032" y="4352544"/>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Censored (left/right)</a:t>
            </a:r>
            <a:endParaRPr lang="en-US" sz="800" dirty="0"/>
          </a:p>
        </p:txBody>
      </p:sp>
      <p:sp>
        <p:nvSpPr>
          <p:cNvPr id="136" name="Shape 134"/>
          <p:cNvSpPr/>
          <p:nvPr/>
        </p:nvSpPr>
        <p:spPr>
          <a:xfrm>
            <a:off x="1719072" y="4352544"/>
            <a:ext cx="1243584" cy="256032"/>
          </a:xfrm>
          <a:prstGeom prst="rect">
            <a:avLst/>
          </a:prstGeom>
          <a:solidFill>
            <a:srgbClr val="EAF6FA"/>
          </a:solidFill>
          <a:ln w="6350">
            <a:solidFill>
              <a:srgbClr val="A0C8D8"/>
            </a:solidFill>
            <a:prstDash val="solid"/>
          </a:ln>
        </p:spPr>
      </p:sp>
      <p:sp>
        <p:nvSpPr>
          <p:cNvPr id="137" name="Text 135"/>
          <p:cNvSpPr/>
          <p:nvPr/>
        </p:nvSpPr>
        <p:spPr>
          <a:xfrm>
            <a:off x="1719072" y="4352544"/>
            <a:ext cx="12435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Censored Normal</a:t>
            </a:r>
            <a:endParaRPr lang="en-US" sz="800" dirty="0"/>
          </a:p>
        </p:txBody>
      </p:sp>
      <p:sp>
        <p:nvSpPr>
          <p:cNvPr id="138" name="Shape 136"/>
          <p:cNvSpPr/>
          <p:nvPr/>
        </p:nvSpPr>
        <p:spPr>
          <a:xfrm>
            <a:off x="2962656" y="4352544"/>
            <a:ext cx="1280160" cy="256032"/>
          </a:xfrm>
          <a:prstGeom prst="rect">
            <a:avLst/>
          </a:prstGeom>
          <a:solidFill>
            <a:srgbClr val="EAF6FA"/>
          </a:solidFill>
          <a:ln w="6350">
            <a:solidFill>
              <a:srgbClr val="A0C8D8"/>
            </a:solidFill>
            <a:prstDash val="solid"/>
          </a:ln>
        </p:spPr>
      </p:sp>
      <p:sp>
        <p:nvSpPr>
          <p:cNvPr id="139" name="Text 137"/>
          <p:cNvSpPr/>
          <p:nvPr/>
        </p:nvSpPr>
        <p:spPr>
          <a:xfrm>
            <a:off x="2962656" y="4352544"/>
            <a:ext cx="128016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Identity link</a:t>
            </a:r>
            <a:endParaRPr lang="en-US" sz="800" dirty="0"/>
          </a:p>
        </p:txBody>
      </p:sp>
      <p:sp>
        <p:nvSpPr>
          <p:cNvPr id="140" name="Shape 138"/>
          <p:cNvSpPr/>
          <p:nvPr/>
        </p:nvSpPr>
        <p:spPr>
          <a:xfrm>
            <a:off x="4242816" y="4352544"/>
            <a:ext cx="1810512" cy="256032"/>
          </a:xfrm>
          <a:prstGeom prst="rect">
            <a:avLst/>
          </a:prstGeom>
          <a:solidFill>
            <a:srgbClr val="EAF6FA"/>
          </a:solidFill>
          <a:ln w="6350">
            <a:solidFill>
              <a:srgbClr val="A0C8D8"/>
            </a:solidFill>
            <a:prstDash val="solid"/>
          </a:ln>
        </p:spPr>
      </p:sp>
      <p:sp>
        <p:nvSpPr>
          <p:cNvPr id="141" name="Text 139"/>
          <p:cNvSpPr/>
          <p:nvPr/>
        </p:nvSpPr>
        <p:spPr>
          <a:xfrm>
            <a:off x="4242816" y="4352544"/>
            <a:ext cx="18105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Tobit Regression</a:t>
            </a:r>
            <a:endParaRPr lang="en-US" sz="800" dirty="0"/>
          </a:p>
        </p:txBody>
      </p:sp>
      <p:sp>
        <p:nvSpPr>
          <p:cNvPr id="142" name="Shape 140"/>
          <p:cNvSpPr/>
          <p:nvPr/>
        </p:nvSpPr>
        <p:spPr>
          <a:xfrm>
            <a:off x="6053328" y="4352544"/>
            <a:ext cx="2633472" cy="256032"/>
          </a:xfrm>
          <a:prstGeom prst="rect">
            <a:avLst/>
          </a:prstGeom>
          <a:solidFill>
            <a:srgbClr val="EAF6FA"/>
          </a:solidFill>
          <a:ln w="6350">
            <a:solidFill>
              <a:srgbClr val="A0C8D8"/>
            </a:solidFill>
            <a:prstDash val="solid"/>
          </a:ln>
        </p:spPr>
      </p:sp>
      <p:sp>
        <p:nvSpPr>
          <p:cNvPr id="143" name="Text 141"/>
          <p:cNvSpPr/>
          <p:nvPr/>
        </p:nvSpPr>
        <p:spPr>
          <a:xfrm>
            <a:off x="6053328" y="4352544"/>
            <a:ext cx="26334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Marginal effects</a:t>
            </a:r>
            <a:endParaRPr lang="en-US" sz="800" dirty="0"/>
          </a:p>
        </p:txBody>
      </p:sp>
      <p:sp>
        <p:nvSpPr>
          <p:cNvPr id="144" name="Shape 142"/>
          <p:cNvSpPr/>
          <p:nvPr/>
        </p:nvSpPr>
        <p:spPr>
          <a:xfrm>
            <a:off x="256032" y="4608576"/>
            <a:ext cx="1463040" cy="256032"/>
          </a:xfrm>
          <a:prstGeom prst="rect">
            <a:avLst/>
          </a:prstGeom>
          <a:solidFill>
            <a:srgbClr val="FFFFFF"/>
          </a:solidFill>
          <a:ln w="6350">
            <a:solidFill>
              <a:srgbClr val="A0C8D8"/>
            </a:solidFill>
            <a:prstDash val="solid"/>
          </a:ln>
        </p:spPr>
      </p:sp>
      <p:sp>
        <p:nvSpPr>
          <p:cNvPr id="145" name="Text 143"/>
          <p:cNvSpPr/>
          <p:nvPr/>
        </p:nvSpPr>
        <p:spPr>
          <a:xfrm>
            <a:off x="256032" y="4608576"/>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Time to event (censored)</a:t>
            </a:r>
            <a:endParaRPr lang="en-US" sz="800" dirty="0"/>
          </a:p>
        </p:txBody>
      </p:sp>
      <p:sp>
        <p:nvSpPr>
          <p:cNvPr id="146" name="Shape 144"/>
          <p:cNvSpPr/>
          <p:nvPr/>
        </p:nvSpPr>
        <p:spPr>
          <a:xfrm>
            <a:off x="1719072" y="4608576"/>
            <a:ext cx="1243584" cy="256032"/>
          </a:xfrm>
          <a:prstGeom prst="rect">
            <a:avLst/>
          </a:prstGeom>
          <a:solidFill>
            <a:srgbClr val="FFFFFF"/>
          </a:solidFill>
          <a:ln w="6350">
            <a:solidFill>
              <a:srgbClr val="A0C8D8"/>
            </a:solidFill>
            <a:prstDash val="solid"/>
          </a:ln>
        </p:spPr>
      </p:sp>
      <p:sp>
        <p:nvSpPr>
          <p:cNvPr id="147" name="Text 145"/>
          <p:cNvSpPr/>
          <p:nvPr/>
        </p:nvSpPr>
        <p:spPr>
          <a:xfrm>
            <a:off x="1719072" y="4608576"/>
            <a:ext cx="12435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Survival</a:t>
            </a:r>
            <a:endParaRPr lang="en-US" sz="800" dirty="0"/>
          </a:p>
        </p:txBody>
      </p:sp>
      <p:sp>
        <p:nvSpPr>
          <p:cNvPr id="148" name="Shape 146"/>
          <p:cNvSpPr/>
          <p:nvPr/>
        </p:nvSpPr>
        <p:spPr>
          <a:xfrm>
            <a:off x="2962656" y="4608576"/>
            <a:ext cx="1280160" cy="256032"/>
          </a:xfrm>
          <a:prstGeom prst="rect">
            <a:avLst/>
          </a:prstGeom>
          <a:solidFill>
            <a:srgbClr val="FFFFFF"/>
          </a:solidFill>
          <a:ln w="6350">
            <a:solidFill>
              <a:srgbClr val="A0C8D8"/>
            </a:solidFill>
            <a:prstDash val="solid"/>
          </a:ln>
        </p:spPr>
      </p:sp>
      <p:sp>
        <p:nvSpPr>
          <p:cNvPr id="149" name="Text 147"/>
          <p:cNvSpPr/>
          <p:nvPr/>
        </p:nvSpPr>
        <p:spPr>
          <a:xfrm>
            <a:off x="2962656" y="4608576"/>
            <a:ext cx="128016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Log hazard</a:t>
            </a:r>
            <a:endParaRPr lang="en-US" sz="800" dirty="0"/>
          </a:p>
        </p:txBody>
      </p:sp>
      <p:sp>
        <p:nvSpPr>
          <p:cNvPr id="150" name="Shape 148"/>
          <p:cNvSpPr/>
          <p:nvPr/>
        </p:nvSpPr>
        <p:spPr>
          <a:xfrm>
            <a:off x="4242816" y="4608576"/>
            <a:ext cx="1810512" cy="256032"/>
          </a:xfrm>
          <a:prstGeom prst="rect">
            <a:avLst/>
          </a:prstGeom>
          <a:solidFill>
            <a:srgbClr val="FFFFFF"/>
          </a:solidFill>
          <a:ln w="6350">
            <a:solidFill>
              <a:srgbClr val="A0C8D8"/>
            </a:solidFill>
            <a:prstDash val="solid"/>
          </a:ln>
        </p:spPr>
      </p:sp>
      <p:sp>
        <p:nvSpPr>
          <p:cNvPr id="151" name="Text 149"/>
          <p:cNvSpPr/>
          <p:nvPr/>
        </p:nvSpPr>
        <p:spPr>
          <a:xfrm>
            <a:off x="4242816" y="4608576"/>
            <a:ext cx="18105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Cox Proportional Hazards</a:t>
            </a:r>
            <a:endParaRPr lang="en-US" sz="800" dirty="0"/>
          </a:p>
        </p:txBody>
      </p:sp>
      <p:sp>
        <p:nvSpPr>
          <p:cNvPr id="152" name="Shape 150"/>
          <p:cNvSpPr/>
          <p:nvPr/>
        </p:nvSpPr>
        <p:spPr>
          <a:xfrm>
            <a:off x="6053328" y="4608576"/>
            <a:ext cx="2633472" cy="256032"/>
          </a:xfrm>
          <a:prstGeom prst="rect">
            <a:avLst/>
          </a:prstGeom>
          <a:solidFill>
            <a:srgbClr val="FFFFFF"/>
          </a:solidFill>
          <a:ln w="6350">
            <a:solidFill>
              <a:srgbClr val="A0C8D8"/>
            </a:solidFill>
            <a:prstDash val="solid"/>
          </a:ln>
        </p:spPr>
      </p:sp>
      <p:sp>
        <p:nvSpPr>
          <p:cNvPr id="153" name="Text 151"/>
          <p:cNvSpPr/>
          <p:nvPr/>
        </p:nvSpPr>
        <p:spPr>
          <a:xfrm>
            <a:off x="6053328" y="4608576"/>
            <a:ext cx="26334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HR=exp(b), Harrell's C</a:t>
            </a:r>
            <a:endParaRPr lang="en-US" sz="800" dirty="0"/>
          </a:p>
        </p:txBody>
      </p:sp>
      <p:sp>
        <p:nvSpPr>
          <p:cNvPr id="154" name="Shape 152"/>
          <p:cNvSpPr/>
          <p:nvPr/>
        </p:nvSpPr>
        <p:spPr>
          <a:xfrm>
            <a:off x="256032" y="4864608"/>
            <a:ext cx="1463040" cy="256032"/>
          </a:xfrm>
          <a:prstGeom prst="rect">
            <a:avLst/>
          </a:prstGeom>
          <a:solidFill>
            <a:srgbClr val="EAF6FA"/>
          </a:solidFill>
          <a:ln w="6350">
            <a:solidFill>
              <a:srgbClr val="A0C8D8"/>
            </a:solidFill>
            <a:prstDash val="solid"/>
          </a:ln>
        </p:spPr>
      </p:sp>
      <p:sp>
        <p:nvSpPr>
          <p:cNvPr id="155" name="Text 153"/>
          <p:cNvSpPr/>
          <p:nvPr/>
        </p:nvSpPr>
        <p:spPr>
          <a:xfrm>
            <a:off x="256032" y="4864608"/>
            <a:ext cx="1463040" cy="256032"/>
          </a:xfrm>
          <a:prstGeom prst="rect">
            <a:avLst/>
          </a:prstGeom>
          <a:noFill/>
          <a:ln/>
        </p:spPr>
        <p:txBody>
          <a:bodyPr wrap="square" lIns="0" tIns="0" rIns="0" bIns="0" rtlCol="0" anchor="ctr"/>
          <a:lstStyle/>
          <a:p>
            <a:pPr algn="ctr" indent="0" marL="0">
              <a:buNone/>
            </a:pPr>
            <a:r>
              <a:rPr lang="en-US" sz="800" dirty="0">
                <a:solidFill>
                  <a:srgbClr val="0C1428"/>
                </a:solidFill>
                <a:latin typeface="Calibri" pitchFamily="34" charset="0"/>
                <a:ea typeface="Calibri" pitchFamily="34" charset="-122"/>
                <a:cs typeface="Calibri" pitchFamily="34" charset="-120"/>
              </a:rPr>
              <a:t>Any (specific quantile)</a:t>
            </a:r>
            <a:endParaRPr lang="en-US" sz="800" dirty="0"/>
          </a:p>
        </p:txBody>
      </p:sp>
      <p:sp>
        <p:nvSpPr>
          <p:cNvPr id="156" name="Shape 154"/>
          <p:cNvSpPr/>
          <p:nvPr/>
        </p:nvSpPr>
        <p:spPr>
          <a:xfrm>
            <a:off x="1719072" y="4864608"/>
            <a:ext cx="1243584" cy="256032"/>
          </a:xfrm>
          <a:prstGeom prst="rect">
            <a:avLst/>
          </a:prstGeom>
          <a:solidFill>
            <a:srgbClr val="EAF6FA"/>
          </a:solidFill>
          <a:ln w="6350">
            <a:solidFill>
              <a:srgbClr val="A0C8D8"/>
            </a:solidFill>
            <a:prstDash val="solid"/>
          </a:ln>
        </p:spPr>
      </p:sp>
      <p:sp>
        <p:nvSpPr>
          <p:cNvPr id="157" name="Text 155"/>
          <p:cNvSpPr/>
          <p:nvPr/>
        </p:nvSpPr>
        <p:spPr>
          <a:xfrm>
            <a:off x="1719072" y="4864608"/>
            <a:ext cx="1243584"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None assumed</a:t>
            </a:r>
            <a:endParaRPr lang="en-US" sz="800" dirty="0"/>
          </a:p>
        </p:txBody>
      </p:sp>
      <p:sp>
        <p:nvSpPr>
          <p:cNvPr id="158" name="Shape 156"/>
          <p:cNvSpPr/>
          <p:nvPr/>
        </p:nvSpPr>
        <p:spPr>
          <a:xfrm>
            <a:off x="2962656" y="4864608"/>
            <a:ext cx="1280160" cy="256032"/>
          </a:xfrm>
          <a:prstGeom prst="rect">
            <a:avLst/>
          </a:prstGeom>
          <a:solidFill>
            <a:srgbClr val="EAF6FA"/>
          </a:solidFill>
          <a:ln w="6350">
            <a:solidFill>
              <a:srgbClr val="A0C8D8"/>
            </a:solidFill>
            <a:prstDash val="solid"/>
          </a:ln>
        </p:spPr>
      </p:sp>
      <p:sp>
        <p:nvSpPr>
          <p:cNvPr id="159" name="Text 157"/>
          <p:cNvSpPr/>
          <p:nvPr/>
        </p:nvSpPr>
        <p:spPr>
          <a:xfrm>
            <a:off x="2962656" y="4864608"/>
            <a:ext cx="1280160"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Any</a:t>
            </a:r>
            <a:endParaRPr lang="en-US" sz="800" dirty="0"/>
          </a:p>
        </p:txBody>
      </p:sp>
      <p:sp>
        <p:nvSpPr>
          <p:cNvPr id="160" name="Shape 158"/>
          <p:cNvSpPr/>
          <p:nvPr/>
        </p:nvSpPr>
        <p:spPr>
          <a:xfrm>
            <a:off x="4242816" y="4864608"/>
            <a:ext cx="1810512" cy="256032"/>
          </a:xfrm>
          <a:prstGeom prst="rect">
            <a:avLst/>
          </a:prstGeom>
          <a:solidFill>
            <a:srgbClr val="EAF6FA"/>
          </a:solidFill>
          <a:ln w="6350">
            <a:solidFill>
              <a:srgbClr val="A0C8D8"/>
            </a:solidFill>
            <a:prstDash val="solid"/>
          </a:ln>
        </p:spPr>
      </p:sp>
      <p:sp>
        <p:nvSpPr>
          <p:cNvPr id="161" name="Text 159"/>
          <p:cNvSpPr/>
          <p:nvPr/>
        </p:nvSpPr>
        <p:spPr>
          <a:xfrm>
            <a:off x="4242816" y="4864608"/>
            <a:ext cx="181051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Quantile Regression</a:t>
            </a:r>
            <a:endParaRPr lang="en-US" sz="800" dirty="0"/>
          </a:p>
        </p:txBody>
      </p:sp>
      <p:sp>
        <p:nvSpPr>
          <p:cNvPr id="162" name="Shape 160"/>
          <p:cNvSpPr/>
          <p:nvPr/>
        </p:nvSpPr>
        <p:spPr>
          <a:xfrm>
            <a:off x="6053328" y="4864608"/>
            <a:ext cx="2633472" cy="256032"/>
          </a:xfrm>
          <a:prstGeom prst="rect">
            <a:avLst/>
          </a:prstGeom>
          <a:solidFill>
            <a:srgbClr val="EAF6FA"/>
          </a:solidFill>
          <a:ln w="6350">
            <a:solidFill>
              <a:srgbClr val="A0C8D8"/>
            </a:solidFill>
            <a:prstDash val="solid"/>
          </a:ln>
        </p:spPr>
      </p:sp>
      <p:sp>
        <p:nvSpPr>
          <p:cNvPr id="163" name="Text 161"/>
          <p:cNvSpPr/>
          <p:nvPr/>
        </p:nvSpPr>
        <p:spPr>
          <a:xfrm>
            <a:off x="6053328" y="4864608"/>
            <a:ext cx="2633472" cy="256032"/>
          </a:xfrm>
          <a:prstGeom prst="rect">
            <a:avLst/>
          </a:prstGeom>
          <a:noFill/>
          <a:ln/>
        </p:spPr>
        <p:txBody>
          <a:bodyPr wrap="square" lIns="0" tIns="0" rIns="0" bIns="0"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Quantile coefficients at τ</a:t>
            </a:r>
            <a:endParaRPr lang="en-US" sz="800" dirty="0"/>
          </a:p>
        </p:txBody>
      </p:sp>
      <p:sp>
        <p:nvSpPr>
          <p:cNvPr id="164" name="Shape 162"/>
          <p:cNvSpPr/>
          <p:nvPr/>
        </p:nvSpPr>
        <p:spPr>
          <a:xfrm>
            <a:off x="256032" y="5047488"/>
            <a:ext cx="8631936" cy="384048"/>
          </a:xfrm>
          <a:prstGeom prst="roundRect">
            <a:avLst>
              <a:gd name="adj" fmla="val 14286"/>
            </a:avLst>
          </a:prstGeom>
          <a:solidFill>
            <a:srgbClr val="FEF0ED"/>
          </a:solidFill>
          <a:ln w="19050">
            <a:solidFill>
              <a:srgbClr val="E03020"/>
            </a:solidFill>
            <a:prstDash val="solid"/>
          </a:ln>
        </p:spPr>
      </p:sp>
      <p:sp>
        <p:nvSpPr>
          <p:cNvPr id="165" name="Text 163"/>
          <p:cNvSpPr/>
          <p:nvPr/>
        </p:nvSpPr>
        <p:spPr>
          <a:xfrm>
            <a:off x="384048" y="5047488"/>
            <a:ext cx="8449056" cy="384048"/>
          </a:xfrm>
          <a:prstGeom prst="rect">
            <a:avLst/>
          </a:prstGeom>
          <a:noFill/>
          <a:ln/>
        </p:spPr>
        <p:txBody>
          <a:bodyPr wrap="square" lIns="0" tIns="0" rIns="0" bIns="0" rtlCol="0" anchor="ctr"/>
          <a:lstStyle/>
          <a:p>
            <a:pPr indent="0" marL="0">
              <a:buNone/>
            </a:pPr>
            <a:r>
              <a:rPr lang="en-US" sz="950" dirty="0">
                <a:solidFill>
                  <a:srgbClr val="7A1A0E"/>
                </a:solidFill>
                <a:latin typeface="Calibri" pitchFamily="34" charset="0"/>
                <a:ea typeface="Calibri" pitchFamily="34" charset="-122"/>
                <a:cs typeface="Calibri" pitchFamily="34" charset="-120"/>
              </a:rPr>
              <a:t>Never use OLS when: Y is binary (use logistic), Y is a count (use Poisson/NB), or Y is time-to-event (use Cox). Using OLS in these cases violates the distributional assumptions and produces invalid inferences.</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D4A010">
              <a:alpha val="12000"/>
            </a:srgbClr>
          </a:solidFill>
          <a:ln w="12700">
            <a:solidFill>
              <a:srgbClr val="D4A010"/>
            </a:solidFill>
            <a:prstDash val="solid"/>
          </a:ln>
        </p:spPr>
      </p:sp>
      <p:sp>
        <p:nvSpPr>
          <p:cNvPr id="3" name="Text 1"/>
          <p:cNvSpPr/>
          <p:nvPr/>
        </p:nvSpPr>
        <p:spPr>
          <a:xfrm>
            <a:off x="457200" y="201168"/>
            <a:ext cx="8229600" cy="5943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Complete APA Reporting Templates</a:t>
            </a:r>
            <a:endParaRPr lang="en-US" sz="2800" dirty="0"/>
          </a:p>
        </p:txBody>
      </p:sp>
      <p:sp>
        <p:nvSpPr>
          <p:cNvPr id="4" name="Shape 2"/>
          <p:cNvSpPr/>
          <p:nvPr/>
        </p:nvSpPr>
        <p:spPr>
          <a:xfrm>
            <a:off x="274320" y="914400"/>
            <a:ext cx="8595360" cy="2084832"/>
          </a:xfrm>
          <a:prstGeom prst="roundRect">
            <a:avLst>
              <a:gd name="adj" fmla="val 4386"/>
            </a:avLst>
          </a:prstGeom>
          <a:solidFill>
            <a:srgbClr val="0C1428"/>
          </a:solidFill>
          <a:ln w="12700">
            <a:solidFill>
              <a:srgbClr val="14B8C8"/>
            </a:solidFill>
            <a:prstDash val="solid"/>
          </a:ln>
        </p:spPr>
      </p:sp>
      <p:sp>
        <p:nvSpPr>
          <p:cNvPr id="5" name="Shape 3"/>
          <p:cNvSpPr/>
          <p:nvPr/>
        </p:nvSpPr>
        <p:spPr>
          <a:xfrm>
            <a:off x="347472" y="987552"/>
            <a:ext cx="3657600" cy="292608"/>
          </a:xfrm>
          <a:prstGeom prst="roundRect">
            <a:avLst>
              <a:gd name="adj" fmla="val 15625"/>
            </a:avLst>
          </a:prstGeom>
          <a:solidFill>
            <a:srgbClr val="0A7E8C"/>
          </a:solidFill>
          <a:ln w="12700">
            <a:solidFill>
              <a:srgbClr val="0A7E8C"/>
            </a:solidFill>
            <a:prstDash val="solid"/>
          </a:ln>
        </p:spPr>
      </p:sp>
      <p:sp>
        <p:nvSpPr>
          <p:cNvPr id="6" name="Text 4"/>
          <p:cNvSpPr/>
          <p:nvPr/>
        </p:nvSpPr>
        <p:spPr>
          <a:xfrm>
            <a:off x="347472" y="987552"/>
            <a:ext cx="3657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Multiple Linear Regression Template</a:t>
            </a:r>
            <a:endParaRPr lang="en-US" sz="1050" dirty="0"/>
          </a:p>
        </p:txBody>
      </p:sp>
      <p:sp>
        <p:nvSpPr>
          <p:cNvPr id="7" name="Text 5"/>
          <p:cNvSpPr/>
          <p:nvPr/>
        </p:nvSpPr>
        <p:spPr>
          <a:xfrm>
            <a:off x="402336" y="1335024"/>
            <a:ext cx="8229600" cy="1572768"/>
          </a:xfrm>
          <a:prstGeom prst="rect">
            <a:avLst/>
          </a:prstGeom>
          <a:noFill/>
          <a:ln/>
        </p:spPr>
        <p:txBody>
          <a:bodyPr wrap="square" lIns="0" tIns="0" rIns="0" bIns="0" rtlCol="0" anchor="ctr"/>
          <a:lstStyle/>
          <a:p>
            <a:pPr indent="0" marL="0">
              <a:buNone/>
            </a:pPr>
            <a:r>
              <a:rPr lang="en-US" sz="950" dirty="0">
                <a:solidFill>
                  <a:srgbClr val="90D8E0"/>
                </a:solidFill>
                <a:latin typeface="Calibri" pitchFamily="34" charset="0"/>
                <a:ea typeface="Calibri" pitchFamily="34" charset="-122"/>
                <a:cs typeface="Calibri" pitchFamily="34" charset="-120"/>
              </a:rPr>
              <a:t>[Description] were entered as predictors of [outcome] using multiple linear regression. The model explained a [significant/non-significant] and [substantial/modest] proportion of variance in [outcome], R² = .XX, Adjusted R² = .XX, F(p, n-p-1) = XX.XX, p = .XXX, RMSE = [value]. [Predictor A] significantly predicted [outcome], b = [value], 95% CI [lower, upper], t(df) = [value], p = .XXX, indicating that [plain-language interpretation]. [Predictor B] was not a significant predictor (b = [value], p = .XXX). [State Beta of strongest predictor: 'X was the strongest predictor, Beta = .XX'.] Model assumptions were checked: [linearity, homoscedasticity, normality, independence, VIF range, Cook's D max].</a:t>
            </a:r>
            <a:endParaRPr lang="en-US" sz="950" dirty="0"/>
          </a:p>
        </p:txBody>
      </p:sp>
      <p:sp>
        <p:nvSpPr>
          <p:cNvPr id="8" name="Shape 6"/>
          <p:cNvSpPr/>
          <p:nvPr/>
        </p:nvSpPr>
        <p:spPr>
          <a:xfrm>
            <a:off x="274320" y="3072384"/>
            <a:ext cx="8595360" cy="1956816"/>
          </a:xfrm>
          <a:prstGeom prst="roundRect">
            <a:avLst>
              <a:gd name="adj" fmla="val 4673"/>
            </a:avLst>
          </a:prstGeom>
          <a:solidFill>
            <a:srgbClr val="0C1428"/>
          </a:solidFill>
          <a:ln w="12700">
            <a:solidFill>
              <a:srgbClr val="E07010"/>
            </a:solidFill>
            <a:prstDash val="solid"/>
          </a:ln>
        </p:spPr>
      </p:sp>
      <p:sp>
        <p:nvSpPr>
          <p:cNvPr id="9" name="Shape 7"/>
          <p:cNvSpPr/>
          <p:nvPr/>
        </p:nvSpPr>
        <p:spPr>
          <a:xfrm>
            <a:off x="347472" y="3145536"/>
            <a:ext cx="3657600" cy="292608"/>
          </a:xfrm>
          <a:prstGeom prst="roundRect">
            <a:avLst>
              <a:gd name="adj" fmla="val 15625"/>
            </a:avLst>
          </a:prstGeom>
          <a:solidFill>
            <a:srgbClr val="E07010"/>
          </a:solidFill>
          <a:ln w="12700">
            <a:solidFill>
              <a:srgbClr val="E07010"/>
            </a:solidFill>
            <a:prstDash val="solid"/>
          </a:ln>
        </p:spPr>
      </p:sp>
      <p:sp>
        <p:nvSpPr>
          <p:cNvPr id="10" name="Text 8"/>
          <p:cNvSpPr/>
          <p:nvPr/>
        </p:nvSpPr>
        <p:spPr>
          <a:xfrm>
            <a:off x="347472" y="3145536"/>
            <a:ext cx="3657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Binary Logistic Regression Template</a:t>
            </a:r>
            <a:endParaRPr lang="en-US" sz="1050" dirty="0"/>
          </a:p>
        </p:txBody>
      </p:sp>
      <p:sp>
        <p:nvSpPr>
          <p:cNvPr id="11" name="Text 9"/>
          <p:cNvSpPr/>
          <p:nvPr/>
        </p:nvSpPr>
        <p:spPr>
          <a:xfrm>
            <a:off x="402336" y="3493008"/>
            <a:ext cx="8229600" cy="1444752"/>
          </a:xfrm>
          <a:prstGeom prst="rect">
            <a:avLst/>
          </a:prstGeom>
          <a:noFill/>
          <a:ln/>
        </p:spPr>
        <p:txBody>
          <a:bodyPr wrap="square" lIns="0" tIns="0" rIns="0" bIns="0" rtlCol="0" anchor="ctr"/>
          <a:lstStyle/>
          <a:p>
            <a:pPr indent="0" marL="0">
              <a:buNone/>
            </a:pPr>
            <a:r>
              <a:rPr lang="en-US" sz="950" dirty="0">
                <a:solidFill>
                  <a:srgbClr val="90D8E0"/>
                </a:solidFill>
                <a:latin typeface="Calibri" pitchFamily="34" charset="0"/>
                <a:ea typeface="Calibri" pitchFamily="34" charset="-122"/>
                <a:cs typeface="Calibri" pitchFamily="34" charset="-120"/>
              </a:rPr>
              <a:t>Binary logistic regression was conducted to predict [outcome] from [list predictors] (N = XX, X events = XX%). The model demonstrated [good/poor] calibration (Hosmer-Lemeshow chi-squared([df]) = [value], p = [value]) and explained approximately XX% of variance (Nagelkerke R² = .XX). The model correctly classified XX% of cases (Sensitivity = XX%, Specificity = XX%, AUC = .XX). [Predictor] was the strongest predictor of [outcome] (OR = [value], 95% CI [lower, upper], p = .XXX), indicating that [interpretation of OR in plain language]. [Report OR, CI, p for each significant predictor.] [Predictor X] was not significant (OR = [value], p = .XXX).</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914400" y="-914400"/>
            <a:ext cx="3657600" cy="3657600"/>
          </a:xfrm>
          <a:prstGeom prst="ellipse">
            <a:avLst/>
          </a:prstGeom>
          <a:solidFill>
            <a:srgbClr val="D4A010">
              <a:alpha val="12000"/>
            </a:srgbClr>
          </a:solidFill>
          <a:ln w="12700">
            <a:solidFill>
              <a:srgbClr val="D4A010"/>
            </a:solidFill>
            <a:prstDash val="solid"/>
          </a:ln>
        </p:spPr>
      </p:sp>
      <p:sp>
        <p:nvSpPr>
          <p:cNvPr id="3" name="Shape 1"/>
          <p:cNvSpPr/>
          <p:nvPr/>
        </p:nvSpPr>
        <p:spPr>
          <a:xfrm>
            <a:off x="6858000" y="3200400"/>
            <a:ext cx="3657600" cy="3657600"/>
          </a:xfrm>
          <a:prstGeom prst="ellipse">
            <a:avLst/>
          </a:prstGeom>
          <a:solidFill>
            <a:srgbClr val="0A7E8C">
              <a:alpha val="16000"/>
            </a:srgbClr>
          </a:solidFill>
          <a:ln w="12700">
            <a:solidFill>
              <a:srgbClr val="0A7E8C"/>
            </a:solidFill>
            <a:prstDash val="solid"/>
          </a:ln>
        </p:spPr>
      </p:sp>
      <p:sp>
        <p:nvSpPr>
          <p:cNvPr id="4" name="Text 2"/>
          <p:cNvSpPr/>
          <p:nvPr/>
        </p:nvSpPr>
        <p:spPr>
          <a:xfrm>
            <a:off x="457200" y="164592"/>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10 Golden Rules of Regression</a:t>
            </a:r>
            <a:endParaRPr lang="en-US" sz="3200" dirty="0"/>
          </a:p>
        </p:txBody>
      </p:sp>
      <p:sp>
        <p:nvSpPr>
          <p:cNvPr id="5" name="Shape 3"/>
          <p:cNvSpPr/>
          <p:nvPr/>
        </p:nvSpPr>
        <p:spPr>
          <a:xfrm>
            <a:off x="320040" y="932688"/>
            <a:ext cx="4160520" cy="731520"/>
          </a:xfrm>
          <a:prstGeom prst="roundRect">
            <a:avLst>
              <a:gd name="adj" fmla="val 8750"/>
            </a:avLst>
          </a:prstGeom>
          <a:solidFill>
            <a:srgbClr val="0C1428"/>
          </a:solidFill>
          <a:ln w="6350">
            <a:solidFill>
              <a:srgbClr val="14B8C8"/>
            </a:solidFill>
            <a:prstDash val="solid"/>
          </a:ln>
        </p:spPr>
      </p:sp>
      <p:sp>
        <p:nvSpPr>
          <p:cNvPr id="6" name="Shape 4"/>
          <p:cNvSpPr/>
          <p:nvPr/>
        </p:nvSpPr>
        <p:spPr>
          <a:xfrm>
            <a:off x="411480" y="1133856"/>
            <a:ext cx="292608" cy="292608"/>
          </a:xfrm>
          <a:prstGeom prst="ellipse">
            <a:avLst/>
          </a:prstGeom>
          <a:solidFill>
            <a:srgbClr val="F0C840"/>
          </a:solidFill>
          <a:ln w="12700">
            <a:solidFill>
              <a:srgbClr val="F0C840"/>
            </a:solidFill>
            <a:prstDash val="solid"/>
          </a:ln>
        </p:spPr>
      </p:sp>
      <p:sp>
        <p:nvSpPr>
          <p:cNvPr id="7" name="Text 5"/>
          <p:cNvSpPr/>
          <p:nvPr/>
        </p:nvSpPr>
        <p:spPr>
          <a:xfrm>
            <a:off x="411480" y="113385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1</a:t>
            </a:r>
            <a:endParaRPr lang="en-US" sz="800" dirty="0"/>
          </a:p>
        </p:txBody>
      </p:sp>
      <p:sp>
        <p:nvSpPr>
          <p:cNvPr id="8" name="Text 6"/>
          <p:cNvSpPr/>
          <p:nvPr/>
        </p:nvSpPr>
        <p:spPr>
          <a:xfrm>
            <a:off x="777240" y="100584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START with your outcome type. Continuous → linear. Binary → logistic. Count → Poisson/NB. Time-to-event → Cox. Wrong model = wrong inference regardless of how good the fit looks.</a:t>
            </a:r>
            <a:endParaRPr lang="en-US" sz="850" dirty="0"/>
          </a:p>
        </p:txBody>
      </p:sp>
      <p:sp>
        <p:nvSpPr>
          <p:cNvPr id="9" name="Shape 7"/>
          <p:cNvSpPr/>
          <p:nvPr/>
        </p:nvSpPr>
        <p:spPr>
          <a:xfrm>
            <a:off x="320040" y="1755648"/>
            <a:ext cx="4160520" cy="731520"/>
          </a:xfrm>
          <a:prstGeom prst="roundRect">
            <a:avLst>
              <a:gd name="adj" fmla="val 8750"/>
            </a:avLst>
          </a:prstGeom>
          <a:solidFill>
            <a:srgbClr val="0C1428"/>
          </a:solidFill>
          <a:ln w="6350">
            <a:solidFill>
              <a:srgbClr val="14B8C8"/>
            </a:solidFill>
            <a:prstDash val="solid"/>
          </a:ln>
        </p:spPr>
      </p:sp>
      <p:sp>
        <p:nvSpPr>
          <p:cNvPr id="10" name="Shape 8"/>
          <p:cNvSpPr/>
          <p:nvPr/>
        </p:nvSpPr>
        <p:spPr>
          <a:xfrm>
            <a:off x="411480" y="1956816"/>
            <a:ext cx="292608" cy="292608"/>
          </a:xfrm>
          <a:prstGeom prst="ellipse">
            <a:avLst/>
          </a:prstGeom>
          <a:solidFill>
            <a:srgbClr val="F0C840"/>
          </a:solidFill>
          <a:ln w="12700">
            <a:solidFill>
              <a:srgbClr val="F0C840"/>
            </a:solidFill>
            <a:prstDash val="solid"/>
          </a:ln>
        </p:spPr>
      </p:sp>
      <p:sp>
        <p:nvSpPr>
          <p:cNvPr id="11" name="Text 9"/>
          <p:cNvSpPr/>
          <p:nvPr/>
        </p:nvSpPr>
        <p:spPr>
          <a:xfrm>
            <a:off x="411480" y="195681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2</a:t>
            </a:r>
            <a:endParaRPr lang="en-US" sz="800" dirty="0"/>
          </a:p>
        </p:txBody>
      </p:sp>
      <p:sp>
        <p:nvSpPr>
          <p:cNvPr id="12" name="Text 10"/>
          <p:cNvSpPr/>
          <p:nvPr/>
        </p:nvSpPr>
        <p:spPr>
          <a:xfrm>
            <a:off x="777240" y="182880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The ceteris paribus principle: each MLR coefficient is the unique effect of that predictor HOLDING ALL OTHERS CONSTANT. Never interpret MLR coefficients as if they came from separate SLR models.</a:t>
            </a:r>
            <a:endParaRPr lang="en-US" sz="850" dirty="0"/>
          </a:p>
        </p:txBody>
      </p:sp>
      <p:sp>
        <p:nvSpPr>
          <p:cNvPr id="13" name="Shape 11"/>
          <p:cNvSpPr/>
          <p:nvPr/>
        </p:nvSpPr>
        <p:spPr>
          <a:xfrm>
            <a:off x="320040" y="2578608"/>
            <a:ext cx="4160520" cy="731520"/>
          </a:xfrm>
          <a:prstGeom prst="roundRect">
            <a:avLst>
              <a:gd name="adj" fmla="val 8750"/>
            </a:avLst>
          </a:prstGeom>
          <a:solidFill>
            <a:srgbClr val="0C1428"/>
          </a:solidFill>
          <a:ln w="6350">
            <a:solidFill>
              <a:srgbClr val="14B8C8"/>
            </a:solidFill>
            <a:prstDash val="solid"/>
          </a:ln>
        </p:spPr>
      </p:sp>
      <p:sp>
        <p:nvSpPr>
          <p:cNvPr id="14" name="Shape 12"/>
          <p:cNvSpPr/>
          <p:nvPr/>
        </p:nvSpPr>
        <p:spPr>
          <a:xfrm>
            <a:off x="411480" y="2779776"/>
            <a:ext cx="292608" cy="292608"/>
          </a:xfrm>
          <a:prstGeom prst="ellipse">
            <a:avLst/>
          </a:prstGeom>
          <a:solidFill>
            <a:srgbClr val="F0C840"/>
          </a:solidFill>
          <a:ln w="12700">
            <a:solidFill>
              <a:srgbClr val="F0C840"/>
            </a:solidFill>
            <a:prstDash val="solid"/>
          </a:ln>
        </p:spPr>
      </p:sp>
      <p:sp>
        <p:nvSpPr>
          <p:cNvPr id="15" name="Text 13"/>
          <p:cNvSpPr/>
          <p:nvPr/>
        </p:nvSpPr>
        <p:spPr>
          <a:xfrm>
            <a:off x="411480" y="277977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3</a:t>
            </a:r>
            <a:endParaRPr lang="en-US" sz="800" dirty="0"/>
          </a:p>
        </p:txBody>
      </p:sp>
      <p:sp>
        <p:nvSpPr>
          <p:cNvPr id="16" name="Text 14"/>
          <p:cNvSpPr/>
          <p:nvPr/>
        </p:nvSpPr>
        <p:spPr>
          <a:xfrm>
            <a:off x="777240" y="265176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ALWAYS report and compare models using Adjusted R², never standard R². Standard R² can only increase as predictors are added, even for random noise variables.</a:t>
            </a:r>
            <a:endParaRPr lang="en-US" sz="850" dirty="0"/>
          </a:p>
        </p:txBody>
      </p:sp>
      <p:sp>
        <p:nvSpPr>
          <p:cNvPr id="17" name="Shape 15"/>
          <p:cNvSpPr/>
          <p:nvPr/>
        </p:nvSpPr>
        <p:spPr>
          <a:xfrm>
            <a:off x="320040" y="3401568"/>
            <a:ext cx="4160520" cy="731520"/>
          </a:xfrm>
          <a:prstGeom prst="roundRect">
            <a:avLst>
              <a:gd name="adj" fmla="val 8750"/>
            </a:avLst>
          </a:prstGeom>
          <a:solidFill>
            <a:srgbClr val="0C1428"/>
          </a:solidFill>
          <a:ln w="6350">
            <a:solidFill>
              <a:srgbClr val="14B8C8"/>
            </a:solidFill>
            <a:prstDash val="solid"/>
          </a:ln>
        </p:spPr>
      </p:sp>
      <p:sp>
        <p:nvSpPr>
          <p:cNvPr id="18" name="Shape 16"/>
          <p:cNvSpPr/>
          <p:nvPr/>
        </p:nvSpPr>
        <p:spPr>
          <a:xfrm>
            <a:off x="411480" y="3602736"/>
            <a:ext cx="292608" cy="292608"/>
          </a:xfrm>
          <a:prstGeom prst="ellipse">
            <a:avLst/>
          </a:prstGeom>
          <a:solidFill>
            <a:srgbClr val="F0C840"/>
          </a:solidFill>
          <a:ln w="12700">
            <a:solidFill>
              <a:srgbClr val="F0C840"/>
            </a:solidFill>
            <a:prstDash val="solid"/>
          </a:ln>
        </p:spPr>
      </p:sp>
      <p:sp>
        <p:nvSpPr>
          <p:cNvPr id="19" name="Text 17"/>
          <p:cNvSpPr/>
          <p:nvPr/>
        </p:nvSpPr>
        <p:spPr>
          <a:xfrm>
            <a:off x="411480" y="360273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4</a:t>
            </a:r>
            <a:endParaRPr lang="en-US" sz="800" dirty="0"/>
          </a:p>
        </p:txBody>
      </p:sp>
      <p:sp>
        <p:nvSpPr>
          <p:cNvPr id="20" name="Text 18"/>
          <p:cNvSpPr/>
          <p:nvPr/>
        </p:nvSpPr>
        <p:spPr>
          <a:xfrm>
            <a:off x="777240" y="347472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CHECK ALL 6 ASSUMPTIONS every time: Linearity (Residuals vs Fitted), Independence (Durbin-Watson), Homoscedasticity (Scale-Location), Normality (Q-Q), No Multicollinearity (VIF&lt;10), No Influential Outliers (Cook's D).</a:t>
            </a:r>
            <a:endParaRPr lang="en-US" sz="850" dirty="0"/>
          </a:p>
        </p:txBody>
      </p:sp>
      <p:sp>
        <p:nvSpPr>
          <p:cNvPr id="21" name="Shape 19"/>
          <p:cNvSpPr/>
          <p:nvPr/>
        </p:nvSpPr>
        <p:spPr>
          <a:xfrm>
            <a:off x="320040" y="4224528"/>
            <a:ext cx="4160520" cy="731520"/>
          </a:xfrm>
          <a:prstGeom prst="roundRect">
            <a:avLst>
              <a:gd name="adj" fmla="val 8750"/>
            </a:avLst>
          </a:prstGeom>
          <a:solidFill>
            <a:srgbClr val="0C1428"/>
          </a:solidFill>
          <a:ln w="6350">
            <a:solidFill>
              <a:srgbClr val="14B8C8"/>
            </a:solidFill>
            <a:prstDash val="solid"/>
          </a:ln>
        </p:spPr>
      </p:sp>
      <p:sp>
        <p:nvSpPr>
          <p:cNvPr id="22" name="Shape 20"/>
          <p:cNvSpPr/>
          <p:nvPr/>
        </p:nvSpPr>
        <p:spPr>
          <a:xfrm>
            <a:off x="411480" y="4425696"/>
            <a:ext cx="292608" cy="292608"/>
          </a:xfrm>
          <a:prstGeom prst="ellipse">
            <a:avLst/>
          </a:prstGeom>
          <a:solidFill>
            <a:srgbClr val="F0C840"/>
          </a:solidFill>
          <a:ln w="12700">
            <a:solidFill>
              <a:srgbClr val="F0C840"/>
            </a:solidFill>
            <a:prstDash val="solid"/>
          </a:ln>
        </p:spPr>
      </p:sp>
      <p:sp>
        <p:nvSpPr>
          <p:cNvPr id="23" name="Text 21"/>
          <p:cNvSpPr/>
          <p:nvPr/>
        </p:nvSpPr>
        <p:spPr>
          <a:xfrm>
            <a:off x="411480" y="442569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5</a:t>
            </a:r>
            <a:endParaRPr lang="en-US" sz="800" dirty="0"/>
          </a:p>
        </p:txBody>
      </p:sp>
      <p:sp>
        <p:nvSpPr>
          <p:cNvPr id="24" name="Text 22"/>
          <p:cNvSpPr/>
          <p:nvPr/>
        </p:nvSpPr>
        <p:spPr>
          <a:xfrm>
            <a:off x="777240" y="429768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VIF &gt; 10 = severe multicollinearity. Fix: remove one correlated predictor, combine into composite, or switch to Ridge regression. Never ignore high VIFs.</a:t>
            </a:r>
            <a:endParaRPr lang="en-US" sz="850" dirty="0"/>
          </a:p>
        </p:txBody>
      </p:sp>
      <p:sp>
        <p:nvSpPr>
          <p:cNvPr id="25" name="Shape 23"/>
          <p:cNvSpPr/>
          <p:nvPr/>
        </p:nvSpPr>
        <p:spPr>
          <a:xfrm>
            <a:off x="4782312" y="932688"/>
            <a:ext cx="4160520" cy="731520"/>
          </a:xfrm>
          <a:prstGeom prst="roundRect">
            <a:avLst>
              <a:gd name="adj" fmla="val 8750"/>
            </a:avLst>
          </a:prstGeom>
          <a:solidFill>
            <a:srgbClr val="0C1428"/>
          </a:solidFill>
          <a:ln w="6350">
            <a:solidFill>
              <a:srgbClr val="14B8C8"/>
            </a:solidFill>
            <a:prstDash val="solid"/>
          </a:ln>
        </p:spPr>
      </p:sp>
      <p:sp>
        <p:nvSpPr>
          <p:cNvPr id="26" name="Shape 24"/>
          <p:cNvSpPr/>
          <p:nvPr/>
        </p:nvSpPr>
        <p:spPr>
          <a:xfrm>
            <a:off x="4873752" y="1133856"/>
            <a:ext cx="292608" cy="292608"/>
          </a:xfrm>
          <a:prstGeom prst="ellipse">
            <a:avLst/>
          </a:prstGeom>
          <a:solidFill>
            <a:srgbClr val="F0C840"/>
          </a:solidFill>
          <a:ln w="12700">
            <a:solidFill>
              <a:srgbClr val="F0C840"/>
            </a:solidFill>
            <a:prstDash val="solid"/>
          </a:ln>
        </p:spPr>
      </p:sp>
      <p:sp>
        <p:nvSpPr>
          <p:cNvPr id="27" name="Text 25"/>
          <p:cNvSpPr/>
          <p:nvPr/>
        </p:nvSpPr>
        <p:spPr>
          <a:xfrm>
            <a:off x="4873752" y="113385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6</a:t>
            </a:r>
            <a:endParaRPr lang="en-US" sz="800" dirty="0"/>
          </a:p>
        </p:txBody>
      </p:sp>
      <p:sp>
        <p:nvSpPr>
          <p:cNvPr id="28" name="Text 26"/>
          <p:cNvSpPr/>
          <p:nvPr/>
        </p:nvSpPr>
        <p:spPr>
          <a:xfrm>
            <a:off x="5239512" y="100584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Logistic coefficients are NOT interpretable directly. ALWAYS exponentiate: OR = exp(b). OR &gt; 1 = increases odds. OR &lt; 1 = decreases odds. Report OR and 95% CI, not b values alone.</a:t>
            </a:r>
            <a:endParaRPr lang="en-US" sz="850" dirty="0"/>
          </a:p>
        </p:txBody>
      </p:sp>
      <p:sp>
        <p:nvSpPr>
          <p:cNvPr id="29" name="Shape 27"/>
          <p:cNvSpPr/>
          <p:nvPr/>
        </p:nvSpPr>
        <p:spPr>
          <a:xfrm>
            <a:off x="4782312" y="1755648"/>
            <a:ext cx="4160520" cy="731520"/>
          </a:xfrm>
          <a:prstGeom prst="roundRect">
            <a:avLst>
              <a:gd name="adj" fmla="val 8750"/>
            </a:avLst>
          </a:prstGeom>
          <a:solidFill>
            <a:srgbClr val="0C1428"/>
          </a:solidFill>
          <a:ln w="6350">
            <a:solidFill>
              <a:srgbClr val="14B8C8"/>
            </a:solidFill>
            <a:prstDash val="solid"/>
          </a:ln>
        </p:spPr>
      </p:sp>
      <p:sp>
        <p:nvSpPr>
          <p:cNvPr id="30" name="Shape 28"/>
          <p:cNvSpPr/>
          <p:nvPr/>
        </p:nvSpPr>
        <p:spPr>
          <a:xfrm>
            <a:off x="4873752" y="1956816"/>
            <a:ext cx="292608" cy="292608"/>
          </a:xfrm>
          <a:prstGeom prst="ellipse">
            <a:avLst/>
          </a:prstGeom>
          <a:solidFill>
            <a:srgbClr val="F0C840"/>
          </a:solidFill>
          <a:ln w="12700">
            <a:solidFill>
              <a:srgbClr val="F0C840"/>
            </a:solidFill>
            <a:prstDash val="solid"/>
          </a:ln>
        </p:spPr>
      </p:sp>
      <p:sp>
        <p:nvSpPr>
          <p:cNvPr id="31" name="Text 29"/>
          <p:cNvSpPr/>
          <p:nvPr/>
        </p:nvSpPr>
        <p:spPr>
          <a:xfrm>
            <a:off x="4873752" y="195681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7</a:t>
            </a:r>
            <a:endParaRPr lang="en-US" sz="800" dirty="0"/>
          </a:p>
        </p:txBody>
      </p:sp>
      <p:sp>
        <p:nvSpPr>
          <p:cNvPr id="32" name="Text 30"/>
          <p:cNvSpPr/>
          <p:nvPr/>
        </p:nvSpPr>
        <p:spPr>
          <a:xfrm>
            <a:off x="5239512" y="182880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Ridge keeps ALL predictors (shrinks toward zero). Lasso sets SOME to exactly zero (variable selection). Elastic Net does BOTH. Always choose lambda by cross-validation, never manually.</a:t>
            </a:r>
            <a:endParaRPr lang="en-US" sz="850" dirty="0"/>
          </a:p>
        </p:txBody>
      </p:sp>
      <p:sp>
        <p:nvSpPr>
          <p:cNvPr id="33" name="Shape 31"/>
          <p:cNvSpPr/>
          <p:nvPr/>
        </p:nvSpPr>
        <p:spPr>
          <a:xfrm>
            <a:off x="4782312" y="2578608"/>
            <a:ext cx="4160520" cy="731520"/>
          </a:xfrm>
          <a:prstGeom prst="roundRect">
            <a:avLst>
              <a:gd name="adj" fmla="val 8750"/>
            </a:avLst>
          </a:prstGeom>
          <a:solidFill>
            <a:srgbClr val="0C1428"/>
          </a:solidFill>
          <a:ln w="6350">
            <a:solidFill>
              <a:srgbClr val="14B8C8"/>
            </a:solidFill>
            <a:prstDash val="solid"/>
          </a:ln>
        </p:spPr>
      </p:sp>
      <p:sp>
        <p:nvSpPr>
          <p:cNvPr id="34" name="Shape 32"/>
          <p:cNvSpPr/>
          <p:nvPr/>
        </p:nvSpPr>
        <p:spPr>
          <a:xfrm>
            <a:off x="4873752" y="2779776"/>
            <a:ext cx="292608" cy="292608"/>
          </a:xfrm>
          <a:prstGeom prst="ellipse">
            <a:avLst/>
          </a:prstGeom>
          <a:solidFill>
            <a:srgbClr val="F0C840"/>
          </a:solidFill>
          <a:ln w="12700">
            <a:solidFill>
              <a:srgbClr val="F0C840"/>
            </a:solidFill>
            <a:prstDash val="solid"/>
          </a:ln>
        </p:spPr>
      </p:sp>
      <p:sp>
        <p:nvSpPr>
          <p:cNvPr id="35" name="Text 33"/>
          <p:cNvSpPr/>
          <p:nvPr/>
        </p:nvSpPr>
        <p:spPr>
          <a:xfrm>
            <a:off x="4873752" y="277977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8</a:t>
            </a:r>
            <a:endParaRPr lang="en-US" sz="800" dirty="0"/>
          </a:p>
        </p:txBody>
      </p:sp>
      <p:sp>
        <p:nvSpPr>
          <p:cNvPr id="36" name="Text 34"/>
          <p:cNvSpPr/>
          <p:nvPr/>
        </p:nvSpPr>
        <p:spPr>
          <a:xfrm>
            <a:off x="5239512" y="265176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The Hosmer-Lemeshow test for logistic: you WANT p &gt; .05 (failure to reject = good fit). The opposite of most hypothesis tests. Flag this clearly when reporting.</a:t>
            </a:r>
            <a:endParaRPr lang="en-US" sz="850" dirty="0"/>
          </a:p>
        </p:txBody>
      </p:sp>
      <p:sp>
        <p:nvSpPr>
          <p:cNvPr id="37" name="Shape 35"/>
          <p:cNvSpPr/>
          <p:nvPr/>
        </p:nvSpPr>
        <p:spPr>
          <a:xfrm>
            <a:off x="4782312" y="3401568"/>
            <a:ext cx="4160520" cy="731520"/>
          </a:xfrm>
          <a:prstGeom prst="roundRect">
            <a:avLst>
              <a:gd name="adj" fmla="val 8750"/>
            </a:avLst>
          </a:prstGeom>
          <a:solidFill>
            <a:srgbClr val="0C1428"/>
          </a:solidFill>
          <a:ln w="6350">
            <a:solidFill>
              <a:srgbClr val="14B8C8"/>
            </a:solidFill>
            <a:prstDash val="solid"/>
          </a:ln>
        </p:spPr>
      </p:sp>
      <p:sp>
        <p:nvSpPr>
          <p:cNvPr id="38" name="Shape 36"/>
          <p:cNvSpPr/>
          <p:nvPr/>
        </p:nvSpPr>
        <p:spPr>
          <a:xfrm>
            <a:off x="4873752" y="3602736"/>
            <a:ext cx="292608" cy="292608"/>
          </a:xfrm>
          <a:prstGeom prst="ellipse">
            <a:avLst/>
          </a:prstGeom>
          <a:solidFill>
            <a:srgbClr val="F0C840"/>
          </a:solidFill>
          <a:ln w="12700">
            <a:solidFill>
              <a:srgbClr val="F0C840"/>
            </a:solidFill>
            <a:prstDash val="solid"/>
          </a:ln>
        </p:spPr>
      </p:sp>
      <p:sp>
        <p:nvSpPr>
          <p:cNvPr id="39" name="Text 37"/>
          <p:cNvSpPr/>
          <p:nvPr/>
        </p:nvSpPr>
        <p:spPr>
          <a:xfrm>
            <a:off x="4873752" y="360273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9</a:t>
            </a:r>
            <a:endParaRPr lang="en-US" sz="800" dirty="0"/>
          </a:p>
        </p:txBody>
      </p:sp>
      <p:sp>
        <p:nvSpPr>
          <p:cNvPr id="40" name="Text 38"/>
          <p:cNvSpPr/>
          <p:nvPr/>
        </p:nvSpPr>
        <p:spPr>
          <a:xfrm>
            <a:off x="5239512" y="347472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Regression reveals associations in observational data, NOT causation. A significant coefficient means X predicts Y. Causal claims require experimental design, RCT, IV, RDD, or DID methods.</a:t>
            </a:r>
            <a:endParaRPr lang="en-US" sz="850" dirty="0"/>
          </a:p>
        </p:txBody>
      </p:sp>
      <p:sp>
        <p:nvSpPr>
          <p:cNvPr id="41" name="Shape 39"/>
          <p:cNvSpPr/>
          <p:nvPr/>
        </p:nvSpPr>
        <p:spPr>
          <a:xfrm>
            <a:off x="4782312" y="4224528"/>
            <a:ext cx="4160520" cy="731520"/>
          </a:xfrm>
          <a:prstGeom prst="roundRect">
            <a:avLst>
              <a:gd name="adj" fmla="val 8750"/>
            </a:avLst>
          </a:prstGeom>
          <a:solidFill>
            <a:srgbClr val="0C1428"/>
          </a:solidFill>
          <a:ln w="6350">
            <a:solidFill>
              <a:srgbClr val="14B8C8"/>
            </a:solidFill>
            <a:prstDash val="solid"/>
          </a:ln>
        </p:spPr>
      </p:sp>
      <p:sp>
        <p:nvSpPr>
          <p:cNvPr id="42" name="Shape 40"/>
          <p:cNvSpPr/>
          <p:nvPr/>
        </p:nvSpPr>
        <p:spPr>
          <a:xfrm>
            <a:off x="4873752" y="4425696"/>
            <a:ext cx="292608" cy="292608"/>
          </a:xfrm>
          <a:prstGeom prst="ellipse">
            <a:avLst/>
          </a:prstGeom>
          <a:solidFill>
            <a:srgbClr val="F0C840"/>
          </a:solidFill>
          <a:ln w="12700">
            <a:solidFill>
              <a:srgbClr val="F0C840"/>
            </a:solidFill>
            <a:prstDash val="solid"/>
          </a:ln>
        </p:spPr>
      </p:sp>
      <p:sp>
        <p:nvSpPr>
          <p:cNvPr id="43" name="Text 41"/>
          <p:cNvSpPr/>
          <p:nvPr/>
        </p:nvSpPr>
        <p:spPr>
          <a:xfrm>
            <a:off x="4873752" y="4425696"/>
            <a:ext cx="292608" cy="292608"/>
          </a:xfrm>
          <a:prstGeom prst="rect">
            <a:avLst/>
          </a:prstGeom>
          <a:noFill/>
          <a:ln/>
        </p:spPr>
        <p:txBody>
          <a:bodyPr wrap="square" lIns="0" tIns="0" rIns="0" bIns="0" rtlCol="0" anchor="ctr"/>
          <a:lstStyle/>
          <a:p>
            <a:pPr algn="ctr" indent="0" marL="0">
              <a:buNone/>
            </a:pPr>
            <a:r>
              <a:rPr lang="en-US" sz="800" b="1" dirty="0">
                <a:solidFill>
                  <a:srgbClr val="070C18"/>
                </a:solidFill>
                <a:latin typeface="Calibri" pitchFamily="34" charset="0"/>
                <a:ea typeface="Calibri" pitchFamily="34" charset="-122"/>
                <a:cs typeface="Calibri" pitchFamily="34" charset="-120"/>
              </a:rPr>
              <a:t>10</a:t>
            </a:r>
            <a:endParaRPr lang="en-US" sz="800" dirty="0"/>
          </a:p>
        </p:txBody>
      </p:sp>
      <p:sp>
        <p:nvSpPr>
          <p:cNvPr id="44" name="Text 42"/>
          <p:cNvSpPr/>
          <p:nvPr/>
        </p:nvSpPr>
        <p:spPr>
          <a:xfrm>
            <a:off x="5239512" y="4297680"/>
            <a:ext cx="3611880" cy="585216"/>
          </a:xfrm>
          <a:prstGeom prst="rect">
            <a:avLst/>
          </a:prstGeom>
          <a:noFill/>
          <a:ln/>
        </p:spPr>
        <p:txBody>
          <a:bodyPr wrap="square" lIns="0" tIns="0" rIns="0" bIns="0" rtlCol="0" anchor="ctr"/>
          <a:lstStyle/>
          <a:p>
            <a:pPr indent="0" marL="0">
              <a:buNone/>
            </a:pPr>
            <a:r>
              <a:rPr lang="en-US" sz="850" dirty="0">
                <a:solidFill>
                  <a:srgbClr val="90D8E0"/>
                </a:solidFill>
                <a:latin typeface="Calibri" pitchFamily="34" charset="0"/>
                <a:ea typeface="Calibri" pitchFamily="34" charset="-122"/>
                <a:cs typeface="Calibri" pitchFamily="34" charset="-120"/>
              </a:rPr>
              <a:t>The Proportional Hazards assumption in Cox, the Proportional Odds assumption in Ordinal Logistic, and the Equidispersion assumption in Poisson are MODEL-SPECIFIC assumptions BEYOND the standard OLS six. Always test them.</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1645920" y="-1645920"/>
            <a:ext cx="5486400" cy="5486400"/>
          </a:xfrm>
          <a:prstGeom prst="ellipse">
            <a:avLst/>
          </a:prstGeom>
          <a:solidFill>
            <a:srgbClr val="0A7E8C">
              <a:alpha val="18000"/>
            </a:srgbClr>
          </a:solidFill>
          <a:ln w="12700">
            <a:solidFill>
              <a:srgbClr val="0A7E8C"/>
            </a:solidFill>
            <a:prstDash val="solid"/>
          </a:ln>
        </p:spPr>
      </p:sp>
      <p:sp>
        <p:nvSpPr>
          <p:cNvPr id="3" name="Shape 1"/>
          <p:cNvSpPr/>
          <p:nvPr/>
        </p:nvSpPr>
        <p:spPr>
          <a:xfrm>
            <a:off x="6400800" y="2560320"/>
            <a:ext cx="4572000" cy="4572000"/>
          </a:xfrm>
          <a:prstGeom prst="ellipse">
            <a:avLst/>
          </a:prstGeom>
          <a:solidFill>
            <a:srgbClr val="D4A010">
              <a:alpha val="12000"/>
            </a:srgbClr>
          </a:solidFill>
          <a:ln w="12700">
            <a:solidFill>
              <a:srgbClr val="D4A010"/>
            </a:solidFill>
            <a:prstDash val="solid"/>
          </a:ln>
        </p:spPr>
      </p:sp>
      <p:sp>
        <p:nvSpPr>
          <p:cNvPr id="4" name="Text 2"/>
          <p:cNvSpPr/>
          <p:nvPr/>
        </p:nvSpPr>
        <p:spPr>
          <a:xfrm>
            <a:off x="731520" y="749808"/>
            <a:ext cx="7680960" cy="1097280"/>
          </a:xfrm>
          <a:prstGeom prst="rect">
            <a:avLst/>
          </a:prstGeom>
          <a:noFill/>
          <a:ln/>
        </p:spPr>
        <p:txBody>
          <a:bodyPr wrap="square" lIns="0" tIns="0" rIns="0" bIns="0" rtlCol="0" anchor="ctr"/>
          <a:lstStyle/>
          <a:p>
            <a:pPr algn="ctr" indent="0" marL="0">
              <a:buNone/>
            </a:pPr>
            <a:r>
              <a:rPr lang="en-US" sz="3400" b="1" i="1" dirty="0">
                <a:solidFill>
                  <a:srgbClr val="FFFFFF"/>
                </a:solidFill>
                <a:latin typeface="Cambria" pitchFamily="34" charset="0"/>
                <a:ea typeface="Cambria" pitchFamily="34" charset="-122"/>
                <a:cs typeface="Cambria" pitchFamily="34" charset="-120"/>
              </a:rPr>
              <a:t>"Essentially, all models are wrong,</a:t>
            </a:r>
            <a:endParaRPr lang="en-US" sz="3400" dirty="0"/>
          </a:p>
          <a:p>
            <a:pPr algn="ctr" indent="0" marL="0">
              <a:buNone/>
            </a:pPr>
            <a:r>
              <a:rPr lang="en-US" sz="3400" b="1" i="1" dirty="0">
                <a:solidFill>
                  <a:srgbClr val="FFFFFF"/>
                </a:solidFill>
                <a:latin typeface="Cambria" pitchFamily="34" charset="0"/>
                <a:ea typeface="Cambria" pitchFamily="34" charset="-122"/>
                <a:cs typeface="Cambria" pitchFamily="34" charset="-120"/>
              </a:rPr>
              <a:t>but some are useful."</a:t>
            </a:r>
            <a:endParaRPr lang="en-US" sz="3400" dirty="0"/>
          </a:p>
        </p:txBody>
      </p:sp>
      <p:sp>
        <p:nvSpPr>
          <p:cNvPr id="5" name="Text 3"/>
          <p:cNvSpPr/>
          <p:nvPr/>
        </p:nvSpPr>
        <p:spPr>
          <a:xfrm>
            <a:off x="1371600" y="1993392"/>
            <a:ext cx="6400800" cy="512064"/>
          </a:xfrm>
          <a:prstGeom prst="rect">
            <a:avLst/>
          </a:prstGeom>
          <a:noFill/>
          <a:ln/>
        </p:spPr>
        <p:txBody>
          <a:bodyPr wrap="square" lIns="0" tIns="0" rIns="0" bIns="0" rtlCol="0" anchor="ctr"/>
          <a:lstStyle/>
          <a:p>
            <a:pPr algn="ctr" indent="0" marL="0">
              <a:buNone/>
            </a:pPr>
            <a:r>
              <a:rPr lang="en-US" sz="1400" dirty="0">
                <a:solidFill>
                  <a:srgbClr val="90D8E0"/>
                </a:solidFill>
                <a:latin typeface="Calibri" pitchFamily="34" charset="0"/>
                <a:ea typeface="Calibri" pitchFamily="34" charset="-122"/>
                <a:cs typeface="Calibri" pitchFamily="34" charset="-120"/>
              </a:rPr>
              <a:t>- George E. P. Box</a:t>
            </a:r>
            <a:endParaRPr lang="en-US" sz="1400" dirty="0"/>
          </a:p>
          <a:p>
            <a:pPr algn="ctr" indent="0" marL="0">
              <a:buNone/>
            </a:pPr>
            <a:r>
              <a:rPr lang="en-US" sz="1400" dirty="0">
                <a:solidFill>
                  <a:srgbClr val="90D8E0"/>
                </a:solidFill>
                <a:latin typeface="Calibri" pitchFamily="34" charset="0"/>
                <a:ea typeface="Calibri" pitchFamily="34" charset="-122"/>
                <a:cs typeface="Calibri" pitchFamily="34" charset="-120"/>
              </a:rPr>
              <a:t>(Build the simplest regression that answers your business question honestly.)</a:t>
            </a:r>
            <a:endParaRPr lang="en-US" sz="1400" dirty="0"/>
          </a:p>
        </p:txBody>
      </p:sp>
      <p:sp>
        <p:nvSpPr>
          <p:cNvPr id="6" name="Shape 4"/>
          <p:cNvSpPr/>
          <p:nvPr/>
        </p:nvSpPr>
        <p:spPr>
          <a:xfrm>
            <a:off x="3200400" y="2633472"/>
            <a:ext cx="2743200" cy="0"/>
          </a:xfrm>
          <a:prstGeom prst="line">
            <a:avLst/>
          </a:prstGeom>
          <a:noFill/>
          <a:ln w="19050">
            <a:solidFill>
              <a:srgbClr val="F0C840"/>
            </a:solidFill>
            <a:prstDash val="solid"/>
          </a:ln>
        </p:spPr>
      </p:sp>
      <p:sp>
        <p:nvSpPr>
          <p:cNvPr id="7" name="Text 5"/>
          <p:cNvSpPr/>
          <p:nvPr/>
        </p:nvSpPr>
        <p:spPr>
          <a:xfrm>
            <a:off x="914400" y="2816352"/>
            <a:ext cx="7315200" cy="713232"/>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8" name="Text 6"/>
          <p:cNvSpPr/>
          <p:nvPr/>
        </p:nvSpPr>
        <p:spPr>
          <a:xfrm>
            <a:off x="914400" y="3566160"/>
            <a:ext cx="7315200" cy="384048"/>
          </a:xfrm>
          <a:prstGeom prst="rect">
            <a:avLst/>
          </a:prstGeom>
          <a:noFill/>
          <a:ln/>
        </p:spPr>
        <p:txBody>
          <a:bodyPr wrap="square" lIns="0" tIns="0" rIns="0" bIns="0" rtlCol="0" anchor="ctr"/>
          <a:lstStyle/>
          <a:p>
            <a:pPr algn="ctr" indent="0" marL="0">
              <a:buNone/>
            </a:pPr>
            <a:r>
              <a:rPr lang="en-US" sz="1700" dirty="0">
                <a:solidFill>
                  <a:srgbClr val="90D8E0"/>
                </a:solidFill>
                <a:latin typeface="Calibri" pitchFamily="34" charset="0"/>
                <a:ea typeface="Calibri" pitchFamily="34" charset="-122"/>
                <a:cs typeface="Calibri" pitchFamily="34" charset="-120"/>
              </a:rPr>
              <a:t>Questions  -  Discussion  -  Applications</a:t>
            </a:r>
            <a:endParaRPr lang="en-US" sz="1700" dirty="0"/>
          </a:p>
        </p:txBody>
      </p:sp>
      <p:sp>
        <p:nvSpPr>
          <p:cNvPr id="9" name="Shape 7"/>
          <p:cNvSpPr/>
          <p:nvPr/>
        </p:nvSpPr>
        <p:spPr>
          <a:xfrm>
            <a:off x="2834640" y="4041648"/>
            <a:ext cx="3474720" cy="969264"/>
          </a:xfrm>
          <a:prstGeom prst="roundRect">
            <a:avLst>
              <a:gd name="adj" fmla="val 11321"/>
            </a:avLst>
          </a:prstGeom>
          <a:solidFill>
            <a:srgbClr val="0A7E8C">
              <a:alpha val="85000"/>
            </a:srgbClr>
          </a:solidFill>
          <a:ln w="12700">
            <a:solidFill>
              <a:srgbClr val="14B8C8"/>
            </a:solidFill>
            <a:prstDash val="solid"/>
          </a:ln>
        </p:spPr>
      </p:sp>
      <p:sp>
        <p:nvSpPr>
          <p:cNvPr id="10" name="Text 8"/>
          <p:cNvSpPr/>
          <p:nvPr/>
        </p:nvSpPr>
        <p:spPr>
          <a:xfrm>
            <a:off x="2834640" y="4096512"/>
            <a:ext cx="3474720" cy="877824"/>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Kajola Gbenga Adewale</a:t>
            </a:r>
            <a:endParaRPr lang="en-US" sz="1600" dirty="0"/>
          </a:p>
          <a:p>
            <a:pPr algn="ctr" indent="0" marL="0">
              <a:buNone/>
            </a:pPr>
            <a:r>
              <a:rPr lang="en-US" sz="1300" dirty="0">
                <a:solidFill>
                  <a:srgbClr val="F0C840"/>
                </a:solidFill>
                <a:latin typeface="Calibri" pitchFamily="34" charset="0"/>
                <a:ea typeface="Calibri" pitchFamily="34" charset="-122"/>
                <a:cs typeface="Calibri" pitchFamily="34" charset="-120"/>
              </a:rPr>
              <a:t>Data Expert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Regression Analysis - The Complete Reference</dc:title>
  <dc:subject>PptxGenJS Presentation</dc:subject>
  <dc:creator>Kajola Gbenga Adewale</dc:creator>
  <cp:lastModifiedBy>Kajola Gbenga Adewale</cp:lastModifiedBy>
  <cp:revision>1</cp:revision>
  <dcterms:created xsi:type="dcterms:W3CDTF">2026-06-29T07:57:18Z</dcterms:created>
  <dcterms:modified xsi:type="dcterms:W3CDTF">2026-06-29T07:57:18Z</dcterms:modified>
</cp:coreProperties>
</file>
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complete Normal Distribution presentation. This deck covers everything from foundational theory to real-world Nigerian business applications and SPSS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on the visual comparison. The shift in location vs. change in spread is the most important intuitive property of the normal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PDF formula need not be memorised - but understanding what mu and sigma control is essential. The area under the curve = probability is the key conceptual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Z-score converts any normal distribution question into a Standard Normal question. This is the universal 'translation step' in all normal distribution calculations.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in the deck. The empirical rule underlies everything from quality control specifications to clinical reference ranges to Value at Risk calculations.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participants to calculate the probability of a GTBank customer income exceeding N600,000. Z = (600,000-380,000)/95,000 = 2.32. P(Z &gt; 2.32) = 1 - 0.9898 = 0.0102 = about 1% of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Z* = 1.960 for 95% CI is the most important single number in applied statistics. It appears everywhere - confidence intervals, sample size calculations, hypothesis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teaching point: always use Shapiro-Wilk (not K-S) as the primary formal test. The K-S column is less powerful. Highlighted rows show the two non-normal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this slide as a quick reference card for participants. The top 3 items (check normality, CDF.NORMAL, IDF.NORMAL) are the most frequently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828800"/>
            <a:ext cx="5943600" cy="5943600"/>
          </a:xfrm>
          <a:prstGeom prst="ellipse">
            <a:avLst/>
          </a:prstGeom>
          <a:solidFill>
            <a:srgbClr val="1A3A7A">
              <a:alpha val="24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926080"/>
            <a:ext cx="4572000" cy="4572000"/>
          </a:xfrm>
          <a:prstGeom prst="ellipse">
            <a:avLst/>
          </a:prstGeom>
          <a:solidFill>
            <a:srgbClr val="C8920A">
              <a:alpha val="15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09260" y="4427159"/>
            <a:ext cx="384048" cy="144841"/>
          </a:xfrm>
          <a:prstGeom prst="roundRect">
            <a:avLst>
              <a:gd name="adj" fmla="val 25253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97296" y="4137477"/>
            <a:ext cx="288036" cy="434523"/>
          </a:xfrm>
          <a:prstGeom prst="roundRect">
            <a:avLst>
              <a:gd name="adj" fmla="val 12698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320" y="3702954"/>
            <a:ext cx="240030" cy="869046"/>
          </a:xfrm>
          <a:prstGeom prst="roundRect">
            <a:avLst>
              <a:gd name="adj" fmla="val 15238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1344" y="3196011"/>
            <a:ext cx="211226" cy="1375989"/>
          </a:xfrm>
          <a:prstGeom prst="roundRect">
            <a:avLst>
              <a:gd name="adj" fmla="val 17316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73368" y="2616647"/>
            <a:ext cx="192024" cy="1955353"/>
          </a:xfrm>
          <a:prstGeom prst="roundRect">
            <a:avLst>
              <a:gd name="adj" fmla="val 19048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2037283"/>
            <a:ext cx="172822" cy="2534717"/>
          </a:xfrm>
          <a:prstGeom prst="roundRect">
            <a:avLst>
              <a:gd name="adj" fmla="val 2116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57416" y="1530340"/>
            <a:ext cx="172822" cy="3041660"/>
          </a:xfrm>
          <a:prstGeom prst="roundRect">
            <a:avLst>
              <a:gd name="adj" fmla="val 2116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168237"/>
            <a:ext cx="172822" cy="3403763"/>
          </a:xfrm>
          <a:prstGeom prst="roundRect">
            <a:avLst>
              <a:gd name="adj" fmla="val 2116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41464" y="950976"/>
            <a:ext cx="172822" cy="3621024"/>
          </a:xfrm>
          <a:prstGeom prst="roundRect">
            <a:avLst>
              <a:gd name="adj" fmla="val 2116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33488" y="1168237"/>
            <a:ext cx="172822" cy="3403763"/>
          </a:xfrm>
          <a:prstGeom prst="roundRect">
            <a:avLst>
              <a:gd name="adj" fmla="val 2116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25512" y="1530340"/>
            <a:ext cx="172822" cy="3041660"/>
          </a:xfrm>
          <a:prstGeom prst="roundRect">
            <a:avLst>
              <a:gd name="adj" fmla="val 2116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17536" y="2037283"/>
            <a:ext cx="192024" cy="2534717"/>
          </a:xfrm>
          <a:prstGeom prst="roundRect">
            <a:avLst>
              <a:gd name="adj" fmla="val 19048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2616647"/>
            <a:ext cx="211226" cy="1955353"/>
          </a:xfrm>
          <a:prstGeom prst="roundRect">
            <a:avLst>
              <a:gd name="adj" fmla="val 17316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3196011"/>
            <a:ext cx="240030" cy="1375989"/>
          </a:xfrm>
          <a:prstGeom prst="roundRect">
            <a:avLst>
              <a:gd name="adj" fmla="val 15238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3608" y="3702954"/>
            <a:ext cx="288036" cy="869046"/>
          </a:xfrm>
          <a:prstGeom prst="roundRect">
            <a:avLst>
              <a:gd name="adj" fmla="val 12698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85632" y="4137477"/>
            <a:ext cx="240030" cy="434523"/>
          </a:xfrm>
          <a:prstGeom prst="roundRect">
            <a:avLst>
              <a:gd name="adj" fmla="val 15238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77656" y="4427159"/>
            <a:ext cx="288036" cy="144841"/>
          </a:xfrm>
          <a:prstGeom prst="roundRect">
            <a:avLst>
              <a:gd name="adj" fmla="val 25253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4572000"/>
            <a:ext cx="3840480" cy="0"/>
          </a:xfrm>
          <a:prstGeom prst="line">
            <a:avLst/>
          </a:prstGeom>
          <a:noFill/>
          <a:ln w="12700">
            <a:solidFill>
              <a:srgbClr val="1A2E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8229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1371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Guide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94360" y="248716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- Properties - The Empirical Rule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Testing - Applications - SPSS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" y="338328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A3A7A">
              <a:alpha val="85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429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Kajola Gbenga Adewale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Expert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280160"/>
            <a:ext cx="2633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2651760"/>
            <a:ext cx="2194560" cy="4572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278892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Core Topics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20116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54680" y="38404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384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93592" y="292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Normal Distribution?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93592" y="603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history, and why it matters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02412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070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9359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Properties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93592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mean, SD, symmetry, kurtosis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63240" y="184708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202996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93592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Normal (Z) Distribution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93592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Z-scores, Z-table, transformation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63240" y="267004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8529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93592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Empirical Rule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93592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68-95-99.7 rule in depth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63240" y="349300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36758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93592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Calculations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93592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Areas, critical values, inverse normal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63240" y="431596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449884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93592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for Normality - Visual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593592" y="4718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Q-Q plot, boxplot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0760" y="20116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38404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84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11112" y="292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for Normality - Formal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11112" y="603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Shapiro-Wilk, K-S test, skewness/kurtosis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80760" y="102412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12070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1111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in Hypothesis Testing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11112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distribution, Z-test, CIs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0760" y="184708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202996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11112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NOT Normal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611112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Transformations, non-parametric alternatives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0760" y="267004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28529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11112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Applications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611112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HR, manufacturing, healthcare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080760" y="349300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72200" y="36758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11112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Complete Guide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611112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CDF.NORMAL, Explore, plotting, reporting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80760" y="4315968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72200" y="449884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11112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611112" y="4718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with solutions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3A7A">
              <a:alpha val="20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 |  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Normal Distribution?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modern statistics - why the bell curve is everywhere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Normal Distribution - Definition and Core Concept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8631936" cy="749808"/>
          </a:xfrm>
          <a:prstGeom prst="roundRect">
            <a:avLst>
              <a:gd name="adj" fmla="val 10976"/>
            </a:avLst>
          </a:prstGeom>
          <a:solidFill>
            <a:srgbClr val="E8F0FB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51560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symmetric, bell-shaped probability distribution completely defined by its MEAN (centre) and STANDARD DEVIATION (spread). It is the most important distribution in statistics - the foundation of virtually all parametric inference.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the MEAN (shifts location):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5780" y="4117141"/>
            <a:ext cx="201168" cy="70811"/>
          </a:xfrm>
          <a:prstGeom prst="roundRect">
            <a:avLst>
              <a:gd name="adj" fmla="val 51653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3975519"/>
            <a:ext cx="150876" cy="212433"/>
          </a:xfrm>
          <a:prstGeom prst="roundRect">
            <a:avLst>
              <a:gd name="adj" fmla="val 24242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763085"/>
            <a:ext cx="125730" cy="424867"/>
          </a:xfrm>
          <a:prstGeom prst="roundRect">
            <a:avLst>
              <a:gd name="adj" fmla="val 29091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3515246"/>
            <a:ext cx="110642" cy="672706"/>
          </a:xfrm>
          <a:prstGeom prst="roundRect">
            <a:avLst>
              <a:gd name="adj" fmla="val 33058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3232002"/>
            <a:ext cx="100584" cy="955950"/>
          </a:xfrm>
          <a:prstGeom prst="roundRect">
            <a:avLst>
              <a:gd name="adj" fmla="val 3636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2948757"/>
            <a:ext cx="90526" cy="1239195"/>
          </a:xfrm>
          <a:prstGeom prst="roundRect">
            <a:avLst>
              <a:gd name="adj" fmla="val 4040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576" y="2700918"/>
            <a:ext cx="90526" cy="1487034"/>
          </a:xfrm>
          <a:prstGeom prst="roundRect">
            <a:avLst>
              <a:gd name="adj" fmla="val 4040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2523890"/>
            <a:ext cx="90526" cy="1664062"/>
          </a:xfrm>
          <a:prstGeom prst="roundRect">
            <a:avLst>
              <a:gd name="adj" fmla="val 4040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0744" y="2417674"/>
            <a:ext cx="90526" cy="1770278"/>
          </a:xfrm>
          <a:prstGeom prst="roundRect">
            <a:avLst>
              <a:gd name="adj" fmla="val 4040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1328" y="2523890"/>
            <a:ext cx="90526" cy="1664062"/>
          </a:xfrm>
          <a:prstGeom prst="roundRect">
            <a:avLst>
              <a:gd name="adj" fmla="val 4040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912" y="2700918"/>
            <a:ext cx="90526" cy="1487034"/>
          </a:xfrm>
          <a:prstGeom prst="roundRect">
            <a:avLst>
              <a:gd name="adj" fmla="val 4040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82496" y="2948757"/>
            <a:ext cx="100584" cy="1239195"/>
          </a:xfrm>
          <a:prstGeom prst="roundRect">
            <a:avLst>
              <a:gd name="adj" fmla="val 36364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3232002"/>
            <a:ext cx="110642" cy="955950"/>
          </a:xfrm>
          <a:prstGeom prst="roundRect">
            <a:avLst>
              <a:gd name="adj" fmla="val 33058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83664" y="3515246"/>
            <a:ext cx="125730" cy="672706"/>
          </a:xfrm>
          <a:prstGeom prst="roundRect">
            <a:avLst>
              <a:gd name="adj" fmla="val 29091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84248" y="3763085"/>
            <a:ext cx="150876" cy="424867"/>
          </a:xfrm>
          <a:prstGeom prst="roundRect">
            <a:avLst>
              <a:gd name="adj" fmla="val 24242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84832" y="3975519"/>
            <a:ext cx="125730" cy="212433"/>
          </a:xfrm>
          <a:prstGeom prst="roundRect">
            <a:avLst>
              <a:gd name="adj" fmla="val 29091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85416" y="4117141"/>
            <a:ext cx="150876" cy="70811"/>
          </a:xfrm>
          <a:prstGeom prst="roundRect">
            <a:avLst>
              <a:gd name="adj" fmla="val 51653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187952"/>
            <a:ext cx="2011680" cy="0"/>
          </a:xfrm>
          <a:prstGeom prst="line">
            <a:avLst/>
          </a:prstGeom>
          <a:noFill/>
          <a:ln w="12700">
            <a:solidFill>
              <a:srgbClr val="1A2E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2176272"/>
            <a:ext cx="0" cy="1810512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051560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1901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N(5, 1)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54580" y="4117141"/>
            <a:ext cx="201168" cy="70811"/>
          </a:xfrm>
          <a:prstGeom prst="roundRect">
            <a:avLst>
              <a:gd name="adj" fmla="val 51653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05456" y="3975519"/>
            <a:ext cx="150876" cy="212433"/>
          </a:xfrm>
          <a:prstGeom prst="roundRect">
            <a:avLst>
              <a:gd name="adj" fmla="val 24242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06040" y="3763085"/>
            <a:ext cx="125730" cy="424867"/>
          </a:xfrm>
          <a:prstGeom prst="roundRect">
            <a:avLst>
              <a:gd name="adj" fmla="val 29091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06624" y="3515246"/>
            <a:ext cx="110642" cy="672706"/>
          </a:xfrm>
          <a:prstGeom prst="roundRect">
            <a:avLst>
              <a:gd name="adj" fmla="val 33058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07208" y="3232002"/>
            <a:ext cx="100584" cy="955950"/>
          </a:xfrm>
          <a:prstGeom prst="roundRect">
            <a:avLst>
              <a:gd name="adj" fmla="val 36364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07792" y="2948757"/>
            <a:ext cx="90526" cy="1239195"/>
          </a:xfrm>
          <a:prstGeom prst="roundRect">
            <a:avLst>
              <a:gd name="adj" fmla="val 40404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08376" y="2700918"/>
            <a:ext cx="90526" cy="1487034"/>
          </a:xfrm>
          <a:prstGeom prst="roundRect">
            <a:avLst>
              <a:gd name="adj" fmla="val 40404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08960" y="2523890"/>
            <a:ext cx="90526" cy="1664062"/>
          </a:xfrm>
          <a:prstGeom prst="roundRect">
            <a:avLst>
              <a:gd name="adj" fmla="val 40404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9544" y="2417674"/>
            <a:ext cx="90526" cy="1770278"/>
          </a:xfrm>
          <a:prstGeom prst="roundRect">
            <a:avLst>
              <a:gd name="adj" fmla="val 40404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10128" y="2523890"/>
            <a:ext cx="90526" cy="1664062"/>
          </a:xfrm>
          <a:prstGeom prst="roundRect">
            <a:avLst>
              <a:gd name="adj" fmla="val 40404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10712" y="2700918"/>
            <a:ext cx="90526" cy="1487034"/>
          </a:xfrm>
          <a:prstGeom prst="roundRect">
            <a:avLst>
              <a:gd name="adj" fmla="val 40404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11296" y="2948757"/>
            <a:ext cx="100584" cy="1239195"/>
          </a:xfrm>
          <a:prstGeom prst="roundRect">
            <a:avLst>
              <a:gd name="adj" fmla="val 36364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11880" y="3232002"/>
            <a:ext cx="110642" cy="955950"/>
          </a:xfrm>
          <a:prstGeom prst="roundRect">
            <a:avLst>
              <a:gd name="adj" fmla="val 33058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12464" y="3515246"/>
            <a:ext cx="125730" cy="672706"/>
          </a:xfrm>
          <a:prstGeom prst="roundRect">
            <a:avLst>
              <a:gd name="adj" fmla="val 29091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13048" y="3763085"/>
            <a:ext cx="150876" cy="424867"/>
          </a:xfrm>
          <a:prstGeom prst="roundRect">
            <a:avLst>
              <a:gd name="adj" fmla="val 24242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13632" y="3975519"/>
            <a:ext cx="125730" cy="212433"/>
          </a:xfrm>
          <a:prstGeom prst="roundRect">
            <a:avLst>
              <a:gd name="adj" fmla="val 29091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14216" y="4117141"/>
            <a:ext cx="150876" cy="70811"/>
          </a:xfrm>
          <a:prstGeom prst="roundRect">
            <a:avLst>
              <a:gd name="adj" fmla="val 51653"/>
            </a:avLst>
          </a:prstGeom>
          <a:solidFill>
            <a:srgbClr val="0A6B4A">
              <a:alpha val="50000"/>
            </a:srgbClr>
          </a:solidFill>
          <a:ln w="3810">
            <a:solidFill>
              <a:srgbClr val="0A6B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03120" y="4187952"/>
            <a:ext cx="2011680" cy="0"/>
          </a:xfrm>
          <a:prstGeom prst="line">
            <a:avLst/>
          </a:prstGeom>
          <a:noFill/>
          <a:ln w="12700">
            <a:solidFill>
              <a:srgbClr val="1A2E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08960" y="2176272"/>
            <a:ext cx="0" cy="1810512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2880360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103120" y="1901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N(8, 1)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" y="42428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SD, different mean = same shape, shifted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1874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the SD (changes spread):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23460" y="4117141"/>
            <a:ext cx="201168" cy="70811"/>
          </a:xfrm>
          <a:prstGeom prst="roundRect">
            <a:avLst>
              <a:gd name="adj" fmla="val 51653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74336" y="3975519"/>
            <a:ext cx="150876" cy="212433"/>
          </a:xfrm>
          <a:prstGeom prst="roundRect">
            <a:avLst>
              <a:gd name="adj" fmla="val 24242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74920" y="3763085"/>
            <a:ext cx="125730" cy="424867"/>
          </a:xfrm>
          <a:prstGeom prst="roundRect">
            <a:avLst>
              <a:gd name="adj" fmla="val 29091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75504" y="3515246"/>
            <a:ext cx="110642" cy="672706"/>
          </a:xfrm>
          <a:prstGeom prst="roundRect">
            <a:avLst>
              <a:gd name="adj" fmla="val 33058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76088" y="3232002"/>
            <a:ext cx="100584" cy="955950"/>
          </a:xfrm>
          <a:prstGeom prst="roundRect">
            <a:avLst>
              <a:gd name="adj" fmla="val 36364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76672" y="2948757"/>
            <a:ext cx="90526" cy="1239195"/>
          </a:xfrm>
          <a:prstGeom prst="roundRect">
            <a:avLst>
              <a:gd name="adj" fmla="val 40404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77256" y="2700918"/>
            <a:ext cx="90526" cy="1487034"/>
          </a:xfrm>
          <a:prstGeom prst="roundRect">
            <a:avLst>
              <a:gd name="adj" fmla="val 40404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77840" y="2523890"/>
            <a:ext cx="90526" cy="1664062"/>
          </a:xfrm>
          <a:prstGeom prst="roundRect">
            <a:avLst>
              <a:gd name="adj" fmla="val 40404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78424" y="2417674"/>
            <a:ext cx="90526" cy="1770278"/>
          </a:xfrm>
          <a:prstGeom prst="roundRect">
            <a:avLst>
              <a:gd name="adj" fmla="val 40404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79008" y="2523890"/>
            <a:ext cx="90526" cy="1664062"/>
          </a:xfrm>
          <a:prstGeom prst="roundRect">
            <a:avLst>
              <a:gd name="adj" fmla="val 40404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79592" y="2700918"/>
            <a:ext cx="90526" cy="1487034"/>
          </a:xfrm>
          <a:prstGeom prst="roundRect">
            <a:avLst>
              <a:gd name="adj" fmla="val 40404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80176" y="2948757"/>
            <a:ext cx="100584" cy="1239195"/>
          </a:xfrm>
          <a:prstGeom prst="roundRect">
            <a:avLst>
              <a:gd name="adj" fmla="val 36364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80760" y="3232002"/>
            <a:ext cx="110642" cy="955950"/>
          </a:xfrm>
          <a:prstGeom prst="roundRect">
            <a:avLst>
              <a:gd name="adj" fmla="val 33058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81344" y="3515246"/>
            <a:ext cx="125730" cy="672706"/>
          </a:xfrm>
          <a:prstGeom prst="roundRect">
            <a:avLst>
              <a:gd name="adj" fmla="val 29091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81928" y="3763085"/>
            <a:ext cx="150876" cy="424867"/>
          </a:xfrm>
          <a:prstGeom prst="roundRect">
            <a:avLst>
              <a:gd name="adj" fmla="val 24242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82512" y="3975519"/>
            <a:ext cx="125730" cy="212433"/>
          </a:xfrm>
          <a:prstGeom prst="roundRect">
            <a:avLst>
              <a:gd name="adj" fmla="val 29091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83096" y="4117141"/>
            <a:ext cx="150876" cy="70811"/>
          </a:xfrm>
          <a:prstGeom prst="roundRect">
            <a:avLst>
              <a:gd name="adj" fmla="val 51653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0" y="4187952"/>
            <a:ext cx="2011680" cy="0"/>
          </a:xfrm>
          <a:prstGeom prst="line">
            <a:avLst/>
          </a:prstGeom>
          <a:noFill/>
          <a:ln w="12700">
            <a:solidFill>
              <a:srgbClr val="1A2E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77840" y="2176272"/>
            <a:ext cx="0" cy="1810512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5349240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572000" y="1901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N(0, 0.5)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835140" y="4117141"/>
            <a:ext cx="201168" cy="70811"/>
          </a:xfrm>
          <a:prstGeom prst="roundRect">
            <a:avLst>
              <a:gd name="adj" fmla="val 51653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86016" y="3975519"/>
            <a:ext cx="150876" cy="212433"/>
          </a:xfrm>
          <a:prstGeom prst="roundRect">
            <a:avLst>
              <a:gd name="adj" fmla="val 24242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086600" y="3763085"/>
            <a:ext cx="125730" cy="424867"/>
          </a:xfrm>
          <a:prstGeom prst="roundRect">
            <a:avLst>
              <a:gd name="adj" fmla="val 29091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87184" y="3515246"/>
            <a:ext cx="110642" cy="672706"/>
          </a:xfrm>
          <a:prstGeom prst="roundRect">
            <a:avLst>
              <a:gd name="adj" fmla="val 33058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87768" y="3232002"/>
            <a:ext cx="100584" cy="955950"/>
          </a:xfrm>
          <a:prstGeom prst="roundRect">
            <a:avLst>
              <a:gd name="adj" fmla="val 36364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388352" y="2948757"/>
            <a:ext cx="90526" cy="1239195"/>
          </a:xfrm>
          <a:prstGeom prst="roundRect">
            <a:avLst>
              <a:gd name="adj" fmla="val 40404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88936" y="2700918"/>
            <a:ext cx="90526" cy="1487034"/>
          </a:xfrm>
          <a:prstGeom prst="roundRect">
            <a:avLst>
              <a:gd name="adj" fmla="val 40404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89520" y="2523890"/>
            <a:ext cx="90526" cy="1664062"/>
          </a:xfrm>
          <a:prstGeom prst="roundRect">
            <a:avLst>
              <a:gd name="adj" fmla="val 40404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690104" y="2417674"/>
            <a:ext cx="90526" cy="1770278"/>
          </a:xfrm>
          <a:prstGeom prst="roundRect">
            <a:avLst>
              <a:gd name="adj" fmla="val 40404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90688" y="2523890"/>
            <a:ext cx="90526" cy="1664062"/>
          </a:xfrm>
          <a:prstGeom prst="roundRect">
            <a:avLst>
              <a:gd name="adj" fmla="val 40404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891272" y="2700918"/>
            <a:ext cx="90526" cy="1487034"/>
          </a:xfrm>
          <a:prstGeom prst="roundRect">
            <a:avLst>
              <a:gd name="adj" fmla="val 40404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991856" y="2948757"/>
            <a:ext cx="100584" cy="1239195"/>
          </a:xfrm>
          <a:prstGeom prst="roundRect">
            <a:avLst>
              <a:gd name="adj" fmla="val 36364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92440" y="3232002"/>
            <a:ext cx="110642" cy="955950"/>
          </a:xfrm>
          <a:prstGeom prst="roundRect">
            <a:avLst>
              <a:gd name="adj" fmla="val 33058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93024" y="3515246"/>
            <a:ext cx="125730" cy="672706"/>
          </a:xfrm>
          <a:prstGeom prst="roundRect">
            <a:avLst>
              <a:gd name="adj" fmla="val 29091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293608" y="3763085"/>
            <a:ext cx="150876" cy="424867"/>
          </a:xfrm>
          <a:prstGeom prst="roundRect">
            <a:avLst>
              <a:gd name="adj" fmla="val 24242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394192" y="3975519"/>
            <a:ext cx="125730" cy="212433"/>
          </a:xfrm>
          <a:prstGeom prst="roundRect">
            <a:avLst>
              <a:gd name="adj" fmla="val 29091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94776" y="4117141"/>
            <a:ext cx="150876" cy="70811"/>
          </a:xfrm>
          <a:prstGeom prst="roundRect">
            <a:avLst>
              <a:gd name="adj" fmla="val 51653"/>
            </a:avLst>
          </a:prstGeom>
          <a:solidFill>
            <a:srgbClr val="D4680A">
              <a:alpha val="50000"/>
            </a:srgbClr>
          </a:solidFill>
          <a:ln w="3810">
            <a:solidFill>
              <a:srgbClr val="D4680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83680" y="4187952"/>
            <a:ext cx="2011680" cy="0"/>
          </a:xfrm>
          <a:prstGeom prst="line">
            <a:avLst/>
          </a:prstGeom>
          <a:noFill/>
          <a:ln w="12700">
            <a:solidFill>
              <a:srgbClr val="1A2E4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89520" y="2176272"/>
            <a:ext cx="0" cy="1810512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91" name="Text 89"/>
          <p:cNvSpPr/>
          <p:nvPr/>
        </p:nvSpPr>
        <p:spPr>
          <a:xfrm>
            <a:off x="7360920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583680" y="1901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N(0, 2)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4572000" y="42428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mean, different SD = same centre, wider/narrower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274320" y="455371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Facts: </a:t>
            </a:r>
            <a:pPr indent="0" marL="0">
              <a:buNone/>
            </a:pPr>
            <a:r>
              <a:rPr lang="en-US" sz="10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around mean   |   Mean = Median = Mode   |   Total area = 1.0   |   Tails extend to ±infinity   |   Fully described by just mu and sigma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3A7A">
              <a:alpha val="16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Properties of the Normal Distribution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932688"/>
          </a:xfrm>
          <a:prstGeom prst="roundRect">
            <a:avLst>
              <a:gd name="adj" fmla="val 8824"/>
            </a:avLst>
          </a:prstGeom>
          <a:solidFill>
            <a:srgbClr val="122844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692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Density Function (PDF):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" y="1261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(1 / (sigma * sqrt(2*pi))) * e^(-(x-mu)^2 / (2*sigma^2))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160520" cy="841248"/>
          </a:xfrm>
          <a:prstGeom prst="roundRect">
            <a:avLst>
              <a:gd name="adj" fmla="val 7609"/>
            </a:avLst>
          </a:prstGeom>
          <a:solidFill>
            <a:srgbClr val="122844"/>
          </a:solidFill>
          <a:ln w="1016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933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933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61872" y="1993392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mirror symmetry around mu. P(X &lt; mu) = P(X &gt; mu) = 0.500. Skewness = 0 exactly.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4505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bell curve at the mean and both halves are identical mirror images.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852928"/>
            <a:ext cx="4160520" cy="841248"/>
          </a:xfrm>
          <a:prstGeom prst="roundRect">
            <a:avLst>
              <a:gd name="adj" fmla="val 7609"/>
            </a:avLst>
          </a:prstGeom>
          <a:solidFill>
            <a:srgbClr val="122844"/>
          </a:solidFill>
          <a:ln w="10160">
            <a:solidFill>
              <a:srgbClr val="12A3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2A374"/>
          </a:solidFill>
          <a:ln w="12700">
            <a:solidFill>
              <a:srgbClr val="12A3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Median = Mode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61872" y="292608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measures of central tendency are identical for a perfectly normal distribution, all equal to mu.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3832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only holds for symmetric distributions. Skewed distributions have different mean, median, mode.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785616"/>
            <a:ext cx="4160520" cy="841248"/>
          </a:xfrm>
          <a:prstGeom prst="roundRect">
            <a:avLst>
              <a:gd name="adj" fmla="val 7609"/>
            </a:avLst>
          </a:prstGeom>
          <a:solidFill>
            <a:srgbClr val="122844"/>
          </a:solidFill>
          <a:ln w="10160">
            <a:solidFill>
              <a:srgbClr val="C892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85876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587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 Points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61872" y="385876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changes from concave down to concave up at exactly mu ± sigma.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43159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'shoulders' of the bell. The steepest slope of the curve occurs at one SD from the mean.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36592" y="1920240"/>
            <a:ext cx="4160520" cy="841248"/>
          </a:xfrm>
          <a:prstGeom prst="roundRect">
            <a:avLst>
              <a:gd name="adj" fmla="val 7609"/>
            </a:avLst>
          </a:prstGeom>
          <a:solidFill>
            <a:srgbClr val="122844"/>
          </a:solidFill>
          <a:ln w="10160">
            <a:solidFill>
              <a:srgbClr val="D468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19933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9933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Tails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24144" y="1993392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tails approach but NEVER touch the x-axis as they extend to negative and positive infinity.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4505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always some positive probability density at extreme values, no matter how far from the mean.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36592" y="2852928"/>
            <a:ext cx="4160520" cy="841248"/>
          </a:xfrm>
          <a:prstGeom prst="roundRect">
            <a:avLst>
              <a:gd name="adj" fmla="val 7609"/>
            </a:avLst>
          </a:prstGeom>
          <a:solidFill>
            <a:srgbClr val="122844"/>
          </a:solidFill>
          <a:ln w="10160">
            <a:solidFill>
              <a:srgbClr val="5DA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2926080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9260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1.0 Always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24144" y="292608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area under any normal curve equals exactly 1.0 (100%). This is true regardless of mu and sigma.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3832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defining property of all probability density functions. Probabilities are computed as areas.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3785616"/>
            <a:ext cx="4160520" cy="841248"/>
          </a:xfrm>
          <a:prstGeom prst="roundRect">
            <a:avLst>
              <a:gd name="adj" fmla="val 7609"/>
            </a:avLst>
          </a:prstGeom>
          <a:solidFill>
            <a:srgbClr val="122844"/>
          </a:solidFill>
          <a:ln w="10160">
            <a:solidFill>
              <a:srgbClr val="B07A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385876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B07AD4"/>
          </a:solidFill>
          <a:ln w="12700">
            <a:solidFill>
              <a:srgbClr val="B07A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8587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= 3 (Excess = 0)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724144" y="385876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 has kurtosis = 3 (excess kurtosis = 0, the mesokurtic baseline).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3159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Leptokurtic &gt; 3 (fat tails). Platykurtic &lt; 3 (thin tails). SPSS reports excess kurtosis.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3A7A">
              <a:alpha val="20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 |  SECTION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 Normal Distribution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Z-scores, transformation and the universal reference distribution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Z-Score - Standardising Any Normal Distribution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8631936" cy="786384"/>
          </a:xfrm>
          <a:prstGeom prst="roundRect">
            <a:avLst>
              <a:gd name="adj" fmla="val 10465"/>
            </a:avLst>
          </a:prstGeom>
          <a:solidFill>
            <a:srgbClr val="E8F0FB"/>
          </a:solidFill>
          <a:ln w="19050">
            <a:solidFill>
              <a:srgbClr val="1A3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7899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- mu) / sigma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53712" y="111556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</a:t>
            </a:r>
            <a:pPr indent="0" marL="0">
              <a:buNone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raw data value   </a:t>
            </a:r>
            <a:pPr indent="0" marL="0">
              <a:buNone/>
            </a:pPr>
            <a:r>
              <a:rPr lang="en-US" sz="11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</a:t>
            </a:r>
            <a:pPr indent="0" marL="0">
              <a:buNone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population mean   </a:t>
            </a:r>
            <a:pPr indent="0" marL="0">
              <a:buNone/>
            </a:pPr>
            <a:r>
              <a:rPr lang="en-US" sz="11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</a:t>
            </a:r>
            <a:pPr indent="0" marL="0">
              <a:buNone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population standard deviation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901952"/>
            <a:ext cx="2834640" cy="3090672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" y="1975104"/>
            <a:ext cx="2688336" cy="310896"/>
          </a:xfrm>
          <a:prstGeom prst="roundRect">
            <a:avLst>
              <a:gd name="adj" fmla="val 17647"/>
            </a:avLst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97510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Z-Score Tells You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" y="2359152"/>
            <a:ext cx="640080" cy="347472"/>
          </a:xfrm>
          <a:prstGeom prst="rect">
            <a:avLst/>
          </a:prstGeom>
          <a:solidFill>
            <a:srgbClr val="1B5CA0"/>
          </a:solidFill>
          <a:ln w="12700">
            <a:solidFill>
              <a:srgbClr val="1B5C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2359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4128" y="2377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equals the mean exactly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" y="2779776"/>
            <a:ext cx="640080" cy="347472"/>
          </a:xfrm>
          <a:prstGeom prst="rect">
            <a:avLst/>
          </a:prstGeom>
          <a:solidFill>
            <a:srgbClr val="12A374"/>
          </a:solidFill>
          <a:ln w="12700">
            <a:solidFill>
              <a:srgbClr val="12A3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7797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+1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24128" y="27980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1 SD ABOVE the mean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" y="3200400"/>
            <a:ext cx="640080" cy="347472"/>
          </a:xfrm>
          <a:prstGeom prst="rect">
            <a:avLst/>
          </a:prstGeom>
          <a:solidFill>
            <a:srgbClr val="12A374"/>
          </a:solidFill>
          <a:ln w="12700">
            <a:solidFill>
              <a:srgbClr val="12A3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3200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-1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24128" y="3218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1 SD BELOW the mean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" y="3621024"/>
            <a:ext cx="640080" cy="347472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36210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+2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4128" y="36393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2 SDs above mean (unusual)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" y="4041648"/>
            <a:ext cx="640080" cy="347472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4041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-2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24128" y="40599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2 SDs below mean (unusual)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" y="4462272"/>
            <a:ext cx="640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4622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&gt;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24128" y="44805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outlier (0.27% of data)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18688" y="1901952"/>
            <a:ext cx="5669280" cy="3090672"/>
          </a:xfrm>
          <a:prstGeom prst="roundRect">
            <a:avLst>
              <a:gd name="adj" fmla="val 2663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91840" y="1975104"/>
            <a:ext cx="5522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Normal Distribution N(0, 1)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82212" y="4509821"/>
            <a:ext cx="552298" cy="80467"/>
          </a:xfrm>
          <a:prstGeom prst="roundRect">
            <a:avLst>
              <a:gd name="adj" fmla="val 45455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96435" y="4348886"/>
            <a:ext cx="414223" cy="241402"/>
          </a:xfrm>
          <a:prstGeom prst="roundRect">
            <a:avLst>
              <a:gd name="adj" fmla="val 15151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72584" y="4107485"/>
            <a:ext cx="345186" cy="482803"/>
          </a:xfrm>
          <a:prstGeom prst="roundRect">
            <a:avLst>
              <a:gd name="adj" fmla="val 10596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48733" y="3825850"/>
            <a:ext cx="303764" cy="764438"/>
          </a:xfrm>
          <a:prstGeom prst="roundRect">
            <a:avLst>
              <a:gd name="adj" fmla="val 12041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24882" y="3503981"/>
            <a:ext cx="276149" cy="1086307"/>
          </a:xfrm>
          <a:prstGeom prst="roundRect">
            <a:avLst>
              <a:gd name="adj" fmla="val 13245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01030" y="3182112"/>
            <a:ext cx="248534" cy="1408176"/>
          </a:xfrm>
          <a:prstGeom prst="roundRect">
            <a:avLst>
              <a:gd name="adj" fmla="val 14717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77179" y="2900477"/>
            <a:ext cx="248534" cy="1689811"/>
          </a:xfrm>
          <a:prstGeom prst="roundRect">
            <a:avLst>
              <a:gd name="adj" fmla="val 14717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53328" y="2699309"/>
            <a:ext cx="248534" cy="1890979"/>
          </a:xfrm>
          <a:prstGeom prst="roundRect">
            <a:avLst>
              <a:gd name="adj" fmla="val 14717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9477" y="2578608"/>
            <a:ext cx="248534" cy="2011680"/>
          </a:xfrm>
          <a:prstGeom prst="roundRect">
            <a:avLst>
              <a:gd name="adj" fmla="val 14717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05626" y="2699309"/>
            <a:ext cx="248534" cy="1890979"/>
          </a:xfrm>
          <a:prstGeom prst="roundRect">
            <a:avLst>
              <a:gd name="adj" fmla="val 14717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81774" y="2900477"/>
            <a:ext cx="248534" cy="1689811"/>
          </a:xfrm>
          <a:prstGeom prst="roundRect">
            <a:avLst>
              <a:gd name="adj" fmla="val 14717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57923" y="3182112"/>
            <a:ext cx="276149" cy="1408176"/>
          </a:xfrm>
          <a:prstGeom prst="roundRect">
            <a:avLst>
              <a:gd name="adj" fmla="val 13245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34072" y="3503981"/>
            <a:ext cx="303764" cy="1086307"/>
          </a:xfrm>
          <a:prstGeom prst="roundRect">
            <a:avLst>
              <a:gd name="adj" fmla="val 12041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10221" y="3825850"/>
            <a:ext cx="345186" cy="764438"/>
          </a:xfrm>
          <a:prstGeom prst="roundRect">
            <a:avLst>
              <a:gd name="adj" fmla="val 10596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86370" y="4107485"/>
            <a:ext cx="414223" cy="482803"/>
          </a:xfrm>
          <a:prstGeom prst="roundRect">
            <a:avLst>
              <a:gd name="adj" fmla="val 8830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62518" y="4348886"/>
            <a:ext cx="345186" cy="241402"/>
          </a:xfrm>
          <a:prstGeom prst="roundRect">
            <a:avLst>
              <a:gd name="adj" fmla="val 15151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38667" y="4509821"/>
            <a:ext cx="414223" cy="80467"/>
          </a:xfrm>
          <a:prstGeom prst="roundRect">
            <a:avLst>
              <a:gd name="adj" fmla="val 45455"/>
            </a:avLst>
          </a:prstGeom>
          <a:solidFill>
            <a:srgbClr val="1B5CA0">
              <a:alpha val="50000"/>
            </a:srgbClr>
          </a:solidFill>
          <a:ln w="3810">
            <a:solidFill>
              <a:srgbClr val="1B5C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91840" y="4590288"/>
            <a:ext cx="5522976" cy="0"/>
          </a:xfrm>
          <a:prstGeom prst="line">
            <a:avLst/>
          </a:prstGeom>
          <a:noFill/>
          <a:ln w="12700">
            <a:solidFill>
              <a:srgbClr val="1A2E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41387" y="2304288"/>
            <a:ext cx="0" cy="2304288"/>
          </a:xfrm>
          <a:prstGeom prst="line">
            <a:avLst/>
          </a:prstGeom>
          <a:noFill/>
          <a:ln w="10160">
            <a:solidFill>
              <a:srgbClr val="C0CEE0"/>
            </a:solidFill>
            <a:prstDash val="dot"/>
          </a:ln>
        </p:spPr>
      </p:sp>
      <p:sp>
        <p:nvSpPr>
          <p:cNvPr id="49" name="Text 47"/>
          <p:cNvSpPr/>
          <p:nvPr/>
        </p:nvSpPr>
        <p:spPr>
          <a:xfrm>
            <a:off x="3840219" y="46268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767067" y="4389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12034" y="2304288"/>
            <a:ext cx="0" cy="2304288"/>
          </a:xfrm>
          <a:prstGeom prst="line">
            <a:avLst/>
          </a:prstGeom>
          <a:noFill/>
          <a:ln w="10160">
            <a:solidFill>
              <a:srgbClr val="C0CEE0"/>
            </a:solidFill>
            <a:prstDash val="dot"/>
          </a:ln>
        </p:spPr>
      </p:sp>
      <p:sp>
        <p:nvSpPr>
          <p:cNvPr id="52" name="Text 50"/>
          <p:cNvSpPr/>
          <p:nvPr/>
        </p:nvSpPr>
        <p:spPr>
          <a:xfrm>
            <a:off x="4510866" y="46268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437714" y="4389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82681" y="2304288"/>
            <a:ext cx="0" cy="2304288"/>
          </a:xfrm>
          <a:prstGeom prst="line">
            <a:avLst/>
          </a:prstGeom>
          <a:noFill/>
          <a:ln w="10160">
            <a:solidFill>
              <a:srgbClr val="C0CEE0"/>
            </a:solidFill>
            <a:prstDash val="dot"/>
          </a:ln>
        </p:spPr>
      </p:sp>
      <p:sp>
        <p:nvSpPr>
          <p:cNvPr id="55" name="Text 53"/>
          <p:cNvSpPr/>
          <p:nvPr/>
        </p:nvSpPr>
        <p:spPr>
          <a:xfrm>
            <a:off x="5181513" y="46268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08361" y="4389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053328" y="2304288"/>
            <a:ext cx="0" cy="2304288"/>
          </a:xfrm>
          <a:prstGeom prst="line">
            <a:avLst/>
          </a:prstGeom>
          <a:noFill/>
          <a:ln w="10160">
            <a:solidFill>
              <a:srgbClr val="C0CEE0"/>
            </a:solidFill>
            <a:prstDash val="dot"/>
          </a:ln>
        </p:spPr>
      </p:sp>
      <p:sp>
        <p:nvSpPr>
          <p:cNvPr id="58" name="Text 56"/>
          <p:cNvSpPr/>
          <p:nvPr/>
        </p:nvSpPr>
        <p:spPr>
          <a:xfrm>
            <a:off x="5852160" y="46268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779008" y="4389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723975" y="2304288"/>
            <a:ext cx="0" cy="2304288"/>
          </a:xfrm>
          <a:prstGeom prst="line">
            <a:avLst/>
          </a:prstGeom>
          <a:noFill/>
          <a:ln w="10160">
            <a:solidFill>
              <a:srgbClr val="C0CEE0"/>
            </a:solidFill>
            <a:prstDash val="dot"/>
          </a:ln>
        </p:spPr>
      </p:sp>
      <p:sp>
        <p:nvSpPr>
          <p:cNvPr id="61" name="Text 59"/>
          <p:cNvSpPr/>
          <p:nvPr/>
        </p:nvSpPr>
        <p:spPr>
          <a:xfrm>
            <a:off x="6522807" y="46268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49655" y="4389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84.1%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94622" y="2304288"/>
            <a:ext cx="0" cy="2304288"/>
          </a:xfrm>
          <a:prstGeom prst="line">
            <a:avLst/>
          </a:prstGeom>
          <a:noFill/>
          <a:ln w="10160">
            <a:solidFill>
              <a:srgbClr val="C0CEE0"/>
            </a:solidFill>
            <a:prstDash val="dot"/>
          </a:ln>
        </p:spPr>
      </p:sp>
      <p:sp>
        <p:nvSpPr>
          <p:cNvPr id="64" name="Text 62"/>
          <p:cNvSpPr/>
          <p:nvPr/>
        </p:nvSpPr>
        <p:spPr>
          <a:xfrm>
            <a:off x="7193454" y="46268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120302" y="4389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065269" y="2304288"/>
            <a:ext cx="0" cy="2304288"/>
          </a:xfrm>
          <a:prstGeom prst="line">
            <a:avLst/>
          </a:prstGeom>
          <a:noFill/>
          <a:ln w="10160">
            <a:solidFill>
              <a:srgbClr val="C0CEE0"/>
            </a:solidFill>
            <a:prstDash val="dot"/>
          </a:ln>
        </p:spPr>
      </p:sp>
      <p:sp>
        <p:nvSpPr>
          <p:cNvPr id="67" name="Text 65"/>
          <p:cNvSpPr/>
          <p:nvPr/>
        </p:nvSpPr>
        <p:spPr>
          <a:xfrm>
            <a:off x="7864101" y="46268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790949" y="4389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046720" y="46085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Z-value: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046720" y="4370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P(Z &lt; z):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56032" y="5065776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FFFBEC"/>
          </a:solidFill>
          <a:ln w="19050">
            <a:solidFill>
              <a:srgbClr val="C8920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4048" y="5065776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Exam score X=82, class mean=70, SD=10. Z=(82-70)/10 = +1.20. Student is 1.20 standard deviations above the mean. P(Z &lt; 1.20) = 0.8849. Student scored higher than 88.5% of classmates.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3A7A">
              <a:alpha val="20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 |  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Empirical Rule (68-95-99.7 Rule)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useful property of the normal distribution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68 - 95 - 99.7 Empirical Rule - Visual and Numerical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965960" y="3670767"/>
            <a:ext cx="694944" cy="96561"/>
          </a:xfrm>
          <a:prstGeom prst="roundRect">
            <a:avLst>
              <a:gd name="adj" fmla="val 37879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87168" y="3477646"/>
            <a:ext cx="521208" cy="289682"/>
          </a:xfrm>
          <a:prstGeom prst="roundRect">
            <a:avLst>
              <a:gd name="adj" fmla="val 1262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3187964"/>
            <a:ext cx="434340" cy="579364"/>
          </a:xfrm>
          <a:prstGeom prst="roundRect">
            <a:avLst>
              <a:gd name="adj" fmla="val 8421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82112" y="2850002"/>
            <a:ext cx="382219" cy="917326"/>
          </a:xfrm>
          <a:prstGeom prst="roundRect">
            <a:avLst>
              <a:gd name="adj" fmla="val 9569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9584" y="2463759"/>
            <a:ext cx="347472" cy="1303569"/>
          </a:xfrm>
          <a:prstGeom prst="roundRect">
            <a:avLst>
              <a:gd name="adj" fmla="val 1052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77056" y="2077517"/>
            <a:ext cx="312725" cy="1689811"/>
          </a:xfrm>
          <a:prstGeom prst="roundRect">
            <a:avLst>
              <a:gd name="adj" fmla="val 1169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1739555"/>
            <a:ext cx="312725" cy="2027773"/>
          </a:xfrm>
          <a:prstGeom prst="roundRect">
            <a:avLst>
              <a:gd name="adj" fmla="val 1169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498153"/>
            <a:ext cx="312725" cy="2269175"/>
          </a:xfrm>
          <a:prstGeom prst="roundRect">
            <a:avLst>
              <a:gd name="adj" fmla="val 1169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1353312"/>
            <a:ext cx="312725" cy="2414016"/>
          </a:xfrm>
          <a:prstGeom prst="roundRect">
            <a:avLst>
              <a:gd name="adj" fmla="val 1169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66944" y="1498153"/>
            <a:ext cx="312725" cy="2269175"/>
          </a:xfrm>
          <a:prstGeom prst="roundRect">
            <a:avLst>
              <a:gd name="adj" fmla="val 1169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14416" y="1739555"/>
            <a:ext cx="312725" cy="2027773"/>
          </a:xfrm>
          <a:prstGeom prst="roundRect">
            <a:avLst>
              <a:gd name="adj" fmla="val 1169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1888" y="2077517"/>
            <a:ext cx="347472" cy="1689811"/>
          </a:xfrm>
          <a:prstGeom prst="roundRect">
            <a:avLst>
              <a:gd name="adj" fmla="val 1052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463759"/>
            <a:ext cx="382219" cy="1303569"/>
          </a:xfrm>
          <a:prstGeom prst="roundRect">
            <a:avLst>
              <a:gd name="adj" fmla="val 9569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2850002"/>
            <a:ext cx="434340" cy="917326"/>
          </a:xfrm>
          <a:prstGeom prst="roundRect">
            <a:avLst>
              <a:gd name="adj" fmla="val 8421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04304" y="3187964"/>
            <a:ext cx="521208" cy="579364"/>
          </a:xfrm>
          <a:prstGeom prst="roundRect">
            <a:avLst>
              <a:gd name="adj" fmla="val 7018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51776" y="3477646"/>
            <a:ext cx="434340" cy="289682"/>
          </a:xfrm>
          <a:prstGeom prst="roundRect">
            <a:avLst>
              <a:gd name="adj" fmla="val 1262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99248" y="3670767"/>
            <a:ext cx="521208" cy="96561"/>
          </a:xfrm>
          <a:prstGeom prst="roundRect">
            <a:avLst>
              <a:gd name="adj" fmla="val 37879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3767328"/>
            <a:ext cx="6949440" cy="0"/>
          </a:xfrm>
          <a:prstGeom prst="line">
            <a:avLst/>
          </a:prstGeom>
          <a:noFill/>
          <a:ln w="12700">
            <a:solidFill>
              <a:srgbClr val="1A2E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024128"/>
            <a:ext cx="0" cy="246888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343400" y="3803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13760" y="1024128"/>
            <a:ext cx="2316480" cy="2578608"/>
          </a:xfrm>
          <a:prstGeom prst="roundRect">
            <a:avLst/>
          </a:prstGeom>
          <a:solidFill>
            <a:srgbClr val="1B5CA0">
              <a:alpha val="22000"/>
            </a:srgbClr>
          </a:solidFill>
          <a:ln w="12700">
            <a:solidFill>
              <a:srgbClr val="1B5C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5520" y="1024128"/>
            <a:ext cx="1158240" cy="2578608"/>
          </a:xfrm>
          <a:prstGeom prst="roundRect">
            <a:avLst/>
          </a:prstGeom>
          <a:solidFill>
            <a:srgbClr val="0A6B4A">
              <a:alpha val="16000"/>
            </a:srgbClr>
          </a:solidFill>
          <a:ln w="12700">
            <a:solidFill>
              <a:srgbClr val="0A6B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30240" y="1024128"/>
            <a:ext cx="1158240" cy="2578608"/>
          </a:xfrm>
          <a:prstGeom prst="roundRect">
            <a:avLst/>
          </a:prstGeom>
          <a:solidFill>
            <a:srgbClr val="0A6B4A">
              <a:alpha val="16000"/>
            </a:srgbClr>
          </a:solidFill>
          <a:ln w="12700">
            <a:solidFill>
              <a:srgbClr val="0A6B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1024128"/>
            <a:ext cx="1158240" cy="2578608"/>
          </a:xfrm>
          <a:prstGeom prst="roundRect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88480" y="1024128"/>
            <a:ext cx="1158240" cy="2578608"/>
          </a:xfrm>
          <a:prstGeom prst="roundRect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3767328"/>
            <a:ext cx="0" cy="109728"/>
          </a:xfrm>
          <a:prstGeom prst="line">
            <a:avLst/>
          </a:prstGeom>
          <a:noFill/>
          <a:ln w="12700">
            <a:solidFill>
              <a:srgbClr val="0B1F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89534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mu-3s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55520" y="3767328"/>
            <a:ext cx="0" cy="109728"/>
          </a:xfrm>
          <a:prstGeom prst="line">
            <a:avLst/>
          </a:prstGeom>
          <a:noFill/>
          <a:ln w="12700">
            <a:solidFill>
              <a:srgbClr val="0B1F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08048" y="389534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mu-2s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13760" y="3767328"/>
            <a:ext cx="0" cy="109728"/>
          </a:xfrm>
          <a:prstGeom prst="line">
            <a:avLst/>
          </a:prstGeom>
          <a:noFill/>
          <a:ln w="12700">
            <a:solidFill>
              <a:srgbClr val="0B1F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6288" y="389534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mu-s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3767328"/>
            <a:ext cx="0" cy="109728"/>
          </a:xfrm>
          <a:prstGeom prst="line">
            <a:avLst/>
          </a:prstGeom>
          <a:noFill/>
          <a:ln w="12700">
            <a:solidFill>
              <a:srgbClr val="0B1F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24528" y="389534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30240" y="3767328"/>
            <a:ext cx="0" cy="109728"/>
          </a:xfrm>
          <a:prstGeom prst="line">
            <a:avLst/>
          </a:prstGeom>
          <a:noFill/>
          <a:ln w="12700">
            <a:solidFill>
              <a:srgbClr val="0B1F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82768" y="389534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mu+s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88480" y="3767328"/>
            <a:ext cx="0" cy="109728"/>
          </a:xfrm>
          <a:prstGeom prst="line">
            <a:avLst/>
          </a:prstGeom>
          <a:noFill/>
          <a:ln w="12700">
            <a:solidFill>
              <a:srgbClr val="0B1F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41008" y="389534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mu+2s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46720" y="3767328"/>
            <a:ext cx="0" cy="109728"/>
          </a:xfrm>
          <a:prstGeom prst="line">
            <a:avLst/>
          </a:prstGeom>
          <a:noFill/>
          <a:ln w="12700">
            <a:solidFill>
              <a:srgbClr val="0B1F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99248" y="389534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mu+3s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529584" y="2304288"/>
            <a:ext cx="92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87824" y="2304288"/>
            <a:ext cx="92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71344" y="2743200"/>
            <a:ext cx="92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46064" y="2743200"/>
            <a:ext cx="92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213104" y="3108960"/>
            <a:ext cx="92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04304" y="3108960"/>
            <a:ext cx="92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13760" y="4169664"/>
            <a:ext cx="2316480" cy="0"/>
          </a:xfrm>
          <a:prstGeom prst="line">
            <a:avLst/>
          </a:prstGeom>
          <a:noFill/>
          <a:ln w="19050">
            <a:solidFill>
              <a:srgbClr val="1B5C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13760" y="4096512"/>
            <a:ext cx="0" cy="146304"/>
          </a:xfrm>
          <a:prstGeom prst="line">
            <a:avLst/>
          </a:prstGeom>
          <a:noFill/>
          <a:ln w="19050">
            <a:solidFill>
              <a:srgbClr val="1B5C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30240" y="4096512"/>
            <a:ext cx="0" cy="146304"/>
          </a:xfrm>
          <a:prstGeom prst="line">
            <a:avLst/>
          </a:prstGeom>
          <a:noFill/>
          <a:ln w="19050">
            <a:solidFill>
              <a:srgbClr val="1B5C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4206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68.27% - Within 1 SD of mean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255520" y="4370832"/>
            <a:ext cx="4632960" cy="0"/>
          </a:xfrm>
          <a:prstGeom prst="line">
            <a:avLst/>
          </a:prstGeom>
          <a:noFill/>
          <a:ln w="19050">
            <a:solidFill>
              <a:srgbClr val="0A6B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55520" y="4297680"/>
            <a:ext cx="0" cy="146304"/>
          </a:xfrm>
          <a:prstGeom prst="line">
            <a:avLst/>
          </a:prstGeom>
          <a:noFill/>
          <a:ln w="19050">
            <a:solidFill>
              <a:srgbClr val="0A6B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88480" y="4297680"/>
            <a:ext cx="0" cy="146304"/>
          </a:xfrm>
          <a:prstGeom prst="line">
            <a:avLst/>
          </a:prstGeom>
          <a:noFill/>
          <a:ln w="19050">
            <a:solidFill>
              <a:srgbClr val="0A6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0" y="44074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95.45% - Within 2 SDs of mean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97280" y="4572000"/>
            <a:ext cx="6949440" cy="0"/>
          </a:xfrm>
          <a:prstGeom prst="line">
            <a:avLst/>
          </a:prstGeom>
          <a:noFill/>
          <a:ln w="19050">
            <a:solidFill>
              <a:srgbClr val="C8920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7280" y="4498848"/>
            <a:ext cx="0" cy="146304"/>
          </a:xfrm>
          <a:prstGeom prst="line">
            <a:avLst/>
          </a:prstGeom>
          <a:noFill/>
          <a:ln w="19050">
            <a:solidFill>
              <a:srgbClr val="C8920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46720" y="4498848"/>
            <a:ext cx="0" cy="146304"/>
          </a:xfrm>
          <a:prstGeom prst="line">
            <a:avLst/>
          </a:prstGeom>
          <a:noFill/>
          <a:ln w="19050">
            <a:solidFill>
              <a:srgbClr val="C892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0" y="46085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99.73% - Within 3 SDs of mean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3A7A">
              <a:alpha val="16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Rule - Nigerian Business Applications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60520" cy="1993392"/>
          </a:xfrm>
          <a:prstGeom prst="roundRect">
            <a:avLst>
              <a:gd name="adj" fmla="val 3670"/>
            </a:avLst>
          </a:prstGeom>
          <a:solidFill>
            <a:srgbClr val="122844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621792" cy="256032"/>
          </a:xfrm>
          <a:prstGeom prst="roundRect">
            <a:avLst>
              <a:gd name="adj" fmla="val 14286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GTBank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60704" y="102412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customer income: mu=N380,000, sigma=N95,000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- 68%: N285k to N475k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- 95%: N190k to N570k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17627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- 5% earn below N190k (high risk flag)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50545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below mu-2sigma (N190k) automatically flagged for credit review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36592" y="932688"/>
            <a:ext cx="4160520" cy="1993392"/>
          </a:xfrm>
          <a:prstGeom prst="roundRect">
            <a:avLst>
              <a:gd name="adj" fmla="val 3670"/>
            </a:avLst>
          </a:prstGeom>
          <a:solidFill>
            <a:srgbClr val="122844"/>
          </a:solidFill>
          <a:ln w="12700">
            <a:solidFill>
              <a:srgbClr val="12A3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024128"/>
            <a:ext cx="621792" cy="256032"/>
          </a:xfrm>
          <a:prstGeom prst="roundRect">
            <a:avLst>
              <a:gd name="adj" fmla="val 14286"/>
            </a:avLst>
          </a:prstGeom>
          <a:solidFill>
            <a:srgbClr val="12A374"/>
          </a:solidFill>
          <a:ln w="12700">
            <a:solidFill>
              <a:srgbClr val="12A3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0241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Dangote Cement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22976" y="102412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3533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weight: mu=50kg, sigma=0.4kg, spec limits: 49.2-50.8kg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66420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Within 2sigma: 49.2 to 50.8kg = 95.45%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92024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Defect rate: 4.55% of bags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17627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- 3sigma: 49.8 to 50.2 = 99.73% in spec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50545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2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sigma to 0.27kg would achieve 3-sigma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4160520" cy="1993392"/>
          </a:xfrm>
          <a:prstGeom prst="roundRect">
            <a:avLst>
              <a:gd name="adj" fmla="val 3670"/>
            </a:avLst>
          </a:prstGeom>
          <a:solidFill>
            <a:srgbClr val="122844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108960"/>
            <a:ext cx="621792" cy="256032"/>
          </a:xfrm>
          <a:prstGeom prst="roundRect">
            <a:avLst>
              <a:gd name="adj" fmla="val 14286"/>
            </a:avLst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0896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Nigeria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60704" y="31089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343814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performance scores: mu=72, sigma=11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" y="374904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- 68%: Score 61-83 = 'Meets Expectations'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" y="400507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Top 16%: Score &gt; 83 = fast-track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426110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Bottom 2.5%: Score &lt; 50 = PIP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" y="459028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enables equitable, statistically-based talent decisions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36592" y="3017520"/>
            <a:ext cx="4160520" cy="1993392"/>
          </a:xfrm>
          <a:prstGeom prst="roundRect">
            <a:avLst>
              <a:gd name="adj" fmla="val 3670"/>
            </a:avLst>
          </a:prstGeom>
          <a:solidFill>
            <a:srgbClr val="122844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3108960"/>
            <a:ext cx="621792" cy="256032"/>
          </a:xfrm>
          <a:prstGeom prst="roundRect">
            <a:avLst>
              <a:gd name="adj" fmla="val 14286"/>
            </a:avLst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10896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22976" y="31089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Ranges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343814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Haemoglobin (adult male): mu=14.5 g/dL, sigma=1.1 g/dL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374904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Normal range (mu±2SD): 12.3-16.7 g/dL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00507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- 5% of healthy men outside range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26110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&lt; 12.3 triggers anaemia investigation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459028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'normal range' IS the 95% empirical rule interval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3A7A">
              <a:alpha val="20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 |  SECTION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Calculations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areas, critical values and inverse probabilities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Types of Normal Probability Calculations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16052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1752" y="1097280"/>
            <a:ext cx="4005072" cy="292608"/>
          </a:xfrm>
          <a:prstGeom prst="roundRect">
            <a:avLst>
              <a:gd name="adj" fmla="val 15625"/>
            </a:avLst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9728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&lt; a) - Area to the LEFT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Z = (a - mu) / sigma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Look up P(Z &lt; z) in Z-table or SPSS CDF.NORMAL(a, mu, sigma)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3913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UAC/Bank: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X~N(8 min, SD=2 min). P(wait &lt; 11 min)? Z=(11-8)/2=1.50. P(Z&lt;1.50)=0.9332. Answer: 93.3% of customers wait less than 11 minutes.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90872" y="1024128"/>
            <a:ext cx="416052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64024" y="1097280"/>
            <a:ext cx="4005072" cy="292608"/>
          </a:xfrm>
          <a:prstGeom prst="roundRect">
            <a:avLst>
              <a:gd name="adj" fmla="val 15625"/>
            </a:avLst>
          </a:prstGeom>
          <a:solidFill>
            <a:srgbClr val="0A6B4A"/>
          </a:solidFill>
          <a:ln w="12700">
            <a:solidFill>
              <a:srgbClr val="0A6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4024" y="109728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&gt; a) - Area to the RIGHT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82312" y="146304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&gt; a) = 1 - P(X &lt; a) = 1 - P(Z &lt; z)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P(Z &gt; z) = P(Z &lt; -z) by symmetry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82312" y="2011680"/>
            <a:ext cx="3913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UAC/Bank: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P(wait &gt; 12 min)? Z=(12-8)/2=2.00. P(Z&gt;2.00)=1-0.9772=0.0228. Answer: Only 2.3% of customers wait more than 12 minutes.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3054096"/>
            <a:ext cx="416052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1752" y="3127248"/>
            <a:ext cx="4005072" cy="292608"/>
          </a:xfrm>
          <a:prstGeom prst="roundRect">
            <a:avLst>
              <a:gd name="adj" fmla="val 15625"/>
            </a:avLst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12724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&lt; X &lt; b) - Area BETWEEN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349300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&lt; X &lt; b) = P(Z &lt; z_b) - P(Z &lt; z_a)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Z-scores for both bounds, subtract probabilities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4041648"/>
            <a:ext cx="3913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UAC/Bank: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P(6 &lt; wait &lt; 11)? Z for 6: -1.00, P=-0.1587. Z for 11: 1.50, P=0.9332. Answer: 0.9332-0.1587=0.7745 = 77.5%.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90872" y="3054096"/>
            <a:ext cx="416052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64024" y="3127248"/>
            <a:ext cx="4005072" cy="292608"/>
          </a:xfrm>
          <a:prstGeom prst="roundRect">
            <a:avLst>
              <a:gd name="adj" fmla="val 15625"/>
            </a:avLst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312724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X Given Probability - INVERSE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82312" y="349300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Find Z from table for given P (or use IDF.NORMAL)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X = mu + Z*sigma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82312" y="4041648"/>
            <a:ext cx="3913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UAC/Bank: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wants 90% served within x minutes. Z for 0.90=1.282. x=8+1.282*2=10.56 min. Answer: Advertise 'served in 11 minutes or less'.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4956048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FFFBEC"/>
          </a:solidFill>
          <a:ln w="19050">
            <a:solidFill>
              <a:srgbClr val="C89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956048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Functions: CDF.NORMAL(x,mu,sigma) for left-tail probability. IDF.NORMAL(p,mu,sigma) for inverse. Use Transform &gt; Compute Variable to calculate these.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Z-Values - The Essential Reference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2670048"/>
          </a:xfrm>
          <a:prstGeom prst="roundRect">
            <a:avLst>
              <a:gd name="adj" fmla="val 3425"/>
            </a:avLst>
          </a:prstGeom>
          <a:solidFill>
            <a:srgbClr val="122844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87552"/>
            <a:ext cx="1645920" cy="2743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87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93392" y="987552"/>
            <a:ext cx="1188720" cy="2743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987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(sig level)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82112" y="987552"/>
            <a:ext cx="1280160" cy="2743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987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Z* (two-tailed)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62272" y="987552"/>
            <a:ext cx="1481328" cy="2743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987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(one-tailed right)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987552"/>
            <a:ext cx="2286000" cy="2743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987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1261872"/>
            <a:ext cx="164592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93392" y="1261872"/>
            <a:ext cx="118872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1261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alpha=0.10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82112" y="1261872"/>
            <a:ext cx="128016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1261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±1.645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62272" y="1261872"/>
            <a:ext cx="1481328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126187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0" y="1261872"/>
            <a:ext cx="228600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research, wide CIs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1536192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93392" y="1536192"/>
            <a:ext cx="1188720" cy="274320"/>
          </a:xfrm>
          <a:prstGeom prst="rect">
            <a:avLst/>
          </a:prstGeom>
          <a:solidFill>
            <a:srgbClr val="D6EAF8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alpha=0.05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82112" y="1536192"/>
            <a:ext cx="1280160" cy="274320"/>
          </a:xfrm>
          <a:prstGeom prst="rect">
            <a:avLst/>
          </a:prstGeom>
          <a:solidFill>
            <a:srgbClr val="D6EAF8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82112" y="1536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±1.960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62272" y="1536192"/>
            <a:ext cx="14813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15361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1.645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0" y="1536192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social science - most common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7472" y="1810512"/>
            <a:ext cx="164592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1810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993392" y="1810512"/>
            <a:ext cx="118872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93392" y="1810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alpha=0.01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82112" y="1810512"/>
            <a:ext cx="128016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82112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±2.576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462272" y="1810512"/>
            <a:ext cx="1481328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62272" y="18105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2.326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43600" y="1810512"/>
            <a:ext cx="228600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and high-stakes research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" y="2084832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993392" y="2084832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93392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alpha=0.001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182112" y="2084832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82112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±3.291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462272" y="2084832"/>
            <a:ext cx="14813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62272" y="2084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3.090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43600" y="2084832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trials, critical safety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47472" y="2359152"/>
            <a:ext cx="164592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99.73%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993392" y="2359152"/>
            <a:ext cx="118872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93392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Rule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182112" y="2359152"/>
            <a:ext cx="128016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82112" y="2359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±3.000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462272" y="2359152"/>
            <a:ext cx="1481328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62272" y="23591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943600" y="2359152"/>
            <a:ext cx="228600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3-sigma quality control (Six Sigma)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74320" y="3749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Regions for Two-Tailed Test (alpha=0.05, Z* = ±1.96):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348740" y="4959793"/>
            <a:ext cx="859536" cy="32831"/>
          </a:xfrm>
          <a:prstGeom prst="roundRect">
            <a:avLst>
              <a:gd name="adj" fmla="val 111407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93392" y="4894132"/>
            <a:ext cx="644652" cy="98492"/>
          </a:xfrm>
          <a:prstGeom prst="roundRect">
            <a:avLst>
              <a:gd name="adj" fmla="val 3713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423160" y="4795640"/>
            <a:ext cx="537210" cy="196984"/>
          </a:xfrm>
          <a:prstGeom prst="roundRect">
            <a:avLst>
              <a:gd name="adj" fmla="val 18568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52928" y="4680733"/>
            <a:ext cx="472745" cy="311891"/>
          </a:xfrm>
          <a:prstGeom prst="roundRect">
            <a:avLst>
              <a:gd name="adj" fmla="val 11727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82696" y="4549411"/>
            <a:ext cx="429768" cy="443213"/>
          </a:xfrm>
          <a:prstGeom prst="roundRect">
            <a:avLst>
              <a:gd name="adj" fmla="val 8511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12464" y="4418088"/>
            <a:ext cx="386791" cy="574536"/>
          </a:xfrm>
          <a:prstGeom prst="roundRect">
            <a:avLst>
              <a:gd name="adj" fmla="val 945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142232" y="4303181"/>
            <a:ext cx="386791" cy="689443"/>
          </a:xfrm>
          <a:prstGeom prst="roundRect">
            <a:avLst>
              <a:gd name="adj" fmla="val 945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0" y="4221104"/>
            <a:ext cx="386791" cy="771520"/>
          </a:xfrm>
          <a:prstGeom prst="roundRect">
            <a:avLst>
              <a:gd name="adj" fmla="val 945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01768" y="4171859"/>
            <a:ext cx="386791" cy="820765"/>
          </a:xfrm>
          <a:prstGeom prst="roundRect">
            <a:avLst>
              <a:gd name="adj" fmla="val 945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31536" y="4221104"/>
            <a:ext cx="386791" cy="771520"/>
          </a:xfrm>
          <a:prstGeom prst="roundRect">
            <a:avLst>
              <a:gd name="adj" fmla="val 945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61304" y="4303181"/>
            <a:ext cx="386791" cy="689443"/>
          </a:xfrm>
          <a:prstGeom prst="roundRect">
            <a:avLst>
              <a:gd name="adj" fmla="val 945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91072" y="4418088"/>
            <a:ext cx="429768" cy="574536"/>
          </a:xfrm>
          <a:prstGeom prst="roundRect">
            <a:avLst>
              <a:gd name="adj" fmla="val 8511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20840" y="4549411"/>
            <a:ext cx="472745" cy="443213"/>
          </a:xfrm>
          <a:prstGeom prst="roundRect">
            <a:avLst>
              <a:gd name="adj" fmla="val 8252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50608" y="4680733"/>
            <a:ext cx="537210" cy="311891"/>
          </a:xfrm>
          <a:prstGeom prst="roundRect">
            <a:avLst>
              <a:gd name="adj" fmla="val 11727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580376" y="4795640"/>
            <a:ext cx="644652" cy="196984"/>
          </a:xfrm>
          <a:prstGeom prst="roundRect">
            <a:avLst>
              <a:gd name="adj" fmla="val 18568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10144" y="4894132"/>
            <a:ext cx="537210" cy="98492"/>
          </a:xfrm>
          <a:prstGeom prst="roundRect">
            <a:avLst>
              <a:gd name="adj" fmla="val 37136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439912" y="4959793"/>
            <a:ext cx="644652" cy="32831"/>
          </a:xfrm>
          <a:prstGeom prst="roundRect">
            <a:avLst>
              <a:gd name="adj" fmla="val 111407"/>
            </a:avLst>
          </a:prstGeom>
          <a:solidFill>
            <a:srgbClr val="1A3A7A">
              <a:alpha val="50000"/>
            </a:srgbClr>
          </a:solidFill>
          <a:ln w="3810">
            <a:solidFill>
              <a:srgbClr val="1A3A7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4992624"/>
            <a:ext cx="8595360" cy="0"/>
          </a:xfrm>
          <a:prstGeom prst="line">
            <a:avLst/>
          </a:prstGeom>
          <a:noFill/>
          <a:ln w="12700">
            <a:solidFill>
              <a:srgbClr val="1A2E4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4059936"/>
            <a:ext cx="1138885" cy="822960"/>
          </a:xfrm>
          <a:prstGeom prst="round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24932" y="4059936"/>
            <a:ext cx="1138885" cy="822960"/>
          </a:xfrm>
          <a:prstGeom prst="round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92608" y="4261104"/>
            <a:ext cx="10744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(2.5%)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646420" y="4261104"/>
            <a:ext cx="10744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(2.5%)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605022" y="4261104"/>
            <a:ext cx="193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H0 (95%)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3278124" y="4919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-1.96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445252" y="491947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3A7A">
              <a:alpha val="20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 |  SECTION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for Normality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and formal methods for assessing the normality assumption in SPSS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Methods for Checking Normality - Visual and Formal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1752" y="1097280"/>
            <a:ext cx="621792" cy="237744"/>
          </a:xfrm>
          <a:prstGeom prst="roundRect">
            <a:avLst>
              <a:gd name="adj" fmla="val 15385"/>
            </a:avLst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972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96696" y="10972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+ Normal Curve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40817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Statistics &gt; Frequencies &gt; Charts &gt; Histograms &gt; With normal curve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bell-shaped bars following the curve overlay. Red flags: strong skew (long tail), bimodal (two peaks), or perfectly flat (uniform).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2377440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1752" y="2450592"/>
            <a:ext cx="621792" cy="237744"/>
          </a:xfrm>
          <a:prstGeom prst="roundRect">
            <a:avLst>
              <a:gd name="adj" fmla="val 15385"/>
            </a:avLst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245059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96696" y="24505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Q-Q Plot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76148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Statistics &gt; Explore &gt; Plots &gt; Normality plots with tests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07238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falling close to the straight diagonal line. Red flags: systematic S-curve (skewed), bowed curve (heavy/light tails), or sharp deviations at either end.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3730752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1752" y="3803904"/>
            <a:ext cx="621792" cy="237744"/>
          </a:xfrm>
          <a:prstGeom prst="roundRect">
            <a:avLst>
              <a:gd name="adj" fmla="val 15385"/>
            </a:avLst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380390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96696" y="38039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411480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Statistics &gt; Explore &gt; Plots &gt; Boxplots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4425696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box with median line centred. Equal whisker lengths. Red flags: off-centre median (skew), very long whisker (asymmetric tails), many outlier circles/stars.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90872" y="1024128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64024" y="1097280"/>
            <a:ext cx="621792" cy="237744"/>
          </a:xfrm>
          <a:prstGeom prst="roundRect">
            <a:avLst>
              <a:gd name="adj" fmla="val 15385"/>
            </a:avLst>
          </a:prstGeom>
          <a:solidFill>
            <a:srgbClr val="0A6B4A"/>
          </a:solidFill>
          <a:ln w="12700">
            <a:solidFill>
              <a:srgbClr val="0A6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10972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58968" y="10972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Test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2312" y="140817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automatically in: Analyze &gt; Descriptive Statistics &gt; Explore &gt; Plots &gt; Normality plots with tests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82312" y="1719072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.05 = fail to reject H0 = normality supported. p &lt; .05 = reject H0 = normality not supported. BEST choice for n &lt; 2,000.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90872" y="2377440"/>
            <a:ext cx="41605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64024" y="2450592"/>
            <a:ext cx="621792" cy="237744"/>
          </a:xfrm>
          <a:prstGeom prst="roundRect">
            <a:avLst>
              <a:gd name="adj" fmla="val 15385"/>
            </a:avLst>
          </a:prstGeom>
          <a:solidFill>
            <a:srgbClr val="0A6B4A"/>
          </a:solidFill>
          <a:ln w="12700">
            <a:solidFill>
              <a:srgbClr val="0A6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4024" y="245059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58968" y="24505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/ Kurtosis Z-Scores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82312" y="276148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Explore: Skewness / SE_Skewness and Kurtosis / SE_Kurtosis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82312" y="3072384"/>
            <a:ext cx="3950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&lt; 1.96: no significant departure from normality. |Z| &gt; 1.96: significant skewness or kurtosis. Useful for small to medium samples.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4169664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FEF0ED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169664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samples (n &gt; 200), Shapiro-Wilk ALWAYS rejects normality for trivial deviations. ALWAYS examine the histogram and Q-Q plot alongside the formal test. Visual inspection plus formal test = complete picture.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4608576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FFFBEC"/>
          </a:solidFill>
          <a:ln w="19050">
            <a:solidFill>
              <a:srgbClr val="C892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608576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 summary: Shapiro-Wilk p &gt; .05 AND histogram approximately bell-shaped AND Q-Q plot points near diagonal = normality assumption satisfied. Proceed with parametric tests.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3A7A">
              <a:alpha val="16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Normality Test Output in SPSS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120640" cy="3401568"/>
          </a:xfrm>
          <a:prstGeom prst="roundRect">
            <a:avLst>
              <a:gd name="adj" fmla="val 2688"/>
            </a:avLst>
          </a:prstGeom>
          <a:solidFill>
            <a:srgbClr val="122844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8755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of Normality (SPSS Explore Output)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4048" y="1261872"/>
            <a:ext cx="1280160" cy="2743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61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64208" y="1261872"/>
            <a:ext cx="658368" cy="2743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4208" y="12618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 Stat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22576" y="1261872"/>
            <a:ext cx="640080" cy="2743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22576" y="12618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 Sig.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62656" y="1261872"/>
            <a:ext cx="658368" cy="2743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12618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S-W Stat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21024" y="1261872"/>
            <a:ext cx="640080" cy="2743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1024" y="12618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S-W Sig.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1536192"/>
            <a:ext cx="128016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536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sat_mean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64208" y="1536192"/>
            <a:ext cx="658368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64208" y="15361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22576" y="1536192"/>
            <a:ext cx="64008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22576" y="1536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62656" y="1536192"/>
            <a:ext cx="658368" cy="274320"/>
          </a:xfrm>
          <a:prstGeom prst="rect">
            <a:avLst/>
          </a:prstGeom>
          <a:solidFill>
            <a:srgbClr val="D6EAF8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62656" y="15361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.982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21024" y="1536192"/>
            <a:ext cx="640080" cy="274320"/>
          </a:xfrm>
          <a:prstGeom prst="rect">
            <a:avLst/>
          </a:prstGeom>
          <a:solidFill>
            <a:srgbClr val="D6EAF8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1024" y="1536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.067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" y="1810512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monthly_salary_ngn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664208" y="1810512"/>
            <a:ext cx="658368" cy="274320"/>
          </a:xfrm>
          <a:prstGeom prst="rect">
            <a:avLst/>
          </a:prstGeom>
          <a:solidFill>
            <a:srgbClr val="D6EAF8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64208" y="1810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22576" y="1810512"/>
            <a:ext cx="640080" cy="274320"/>
          </a:xfrm>
          <a:prstGeom prst="rect">
            <a:avLst/>
          </a:prstGeom>
          <a:solidFill>
            <a:srgbClr val="D6EAF8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22576" y="1810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&lt;.001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962656" y="1810512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62656" y="1810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.724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21024" y="1810512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21024" y="1810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&lt;.001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4048" y="2084832"/>
            <a:ext cx="128016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age_in_years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664208" y="2084832"/>
            <a:ext cx="658368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64208" y="20848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322576" y="2084832"/>
            <a:ext cx="64008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22576" y="2084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962656" y="2084832"/>
            <a:ext cx="658368" cy="274320"/>
          </a:xfrm>
          <a:prstGeom prst="rect">
            <a:avLst/>
          </a:prstGeom>
          <a:solidFill>
            <a:srgbClr val="D6EAF8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62656" y="20848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.988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21024" y="2084832"/>
            <a:ext cx="640080" cy="274320"/>
          </a:xfrm>
          <a:prstGeom prst="rect">
            <a:avLst/>
          </a:prstGeom>
          <a:solidFill>
            <a:srgbClr val="D6EAF8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1024" y="2084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.198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84048" y="2359152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2359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repurchase_int.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664208" y="2359152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64208" y="23591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0.094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322576" y="2359152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22576" y="2359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.012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962656" y="2359152"/>
            <a:ext cx="65836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62656" y="23591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.968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21024" y="2359152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21024" y="2359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.002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504688" y="1554480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sat_mean: S-W p=.067 &gt; .05 → NORMAL. Parametric tests OK.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504688" y="184708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monthly_salary: S-W p&lt;.001 → NOT NORMAL. Use Mann-Whitney instead of t-test for comparisons.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504688" y="2139696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age_in_years: S-W p=.198 &gt; .05 → NORMAL.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04688" y="2432304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repurchase: S-W p=.002 &lt; .05 → NOT NORMAL (ordinal anyway). Use non-parametric.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370832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122844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2336" y="4443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Matrix: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02336" y="4681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S-W p &gt; .05 + Histogram ~bell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02336" y="49011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parametric test. Note: 'Normality assumption satisfied.'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145536" y="4681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S-W p &lt; .05 (large n) + Histogram ~bell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145536" y="49011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practical impact. CLT may rescue. Report both tests and proceed with note.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888736" y="4681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S-W p &lt; .05 + Clearly skewed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888736" y="49011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non-parametric alternative OR transform variable. Report decision.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3A7A">
              <a:alpha val="20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 |  SECTION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Data is NOT Normal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Transformations, non-parametric alternatives and the CLT rescue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When Normality is Violated - Complete Options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16052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475488" cy="475488"/>
          </a:xfrm>
          <a:prstGeom prst="ellipse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13385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Do Nothing (CLT)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n &gt; 30 per group (ideally &gt; 100). Mild to moderate non-normality.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865376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Proceed with parametric test. Report: 'Although data showed mild non-normality (S-W p=.042), parametric tests were used given the large sample size (n...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246888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Valid for mild violations. Reduces precision for severe violations even with large 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90872" y="1024128"/>
            <a:ext cx="416052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115568"/>
            <a:ext cx="475488" cy="475488"/>
          </a:xfrm>
          <a:prstGeom prst="ellipse">
            <a:avLst/>
          </a:prstGeom>
          <a:solidFill>
            <a:srgbClr val="0A6B4A"/>
          </a:solidFill>
          <a:ln w="12700">
            <a:solidFill>
              <a:srgbClr val="0A6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49240" y="113385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Transform the Variable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82312" y="155448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Positively skewed scale data (income, salary, response times). n can be small.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82312" y="1865376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Transform &gt; Compute Variable. For positive skew: COMPUTE log_salary = LN(monthly_salary_ngn). Re-run Shapiro-Wilk on log_salary. If now normal, procee...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82312" y="246888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Changes scale. Must back-transform for interpretation. Not always effective.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3017520"/>
            <a:ext cx="416052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08960"/>
            <a:ext cx="475488" cy="475488"/>
          </a:xfrm>
          <a:prstGeom prst="ellipse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6968" y="31272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3: Non-Parametric 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354787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Ordinal DV or small n (&lt; 30) with clearly non-normal data. Severe violations.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3858768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Independent t-test → Mann-Whitney U. One-Way ANOVA → Kruskal-Wallis. Paired t-test → Wilcoxon Signed-Rank. Pearson r → Spearman rho....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4462272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Less statistical power than parametric tests when data is actually normal. Cannot estimate means.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90872" y="3017520"/>
            <a:ext cx="416052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82312" y="3108960"/>
            <a:ext cx="475488" cy="475488"/>
          </a:xfrm>
          <a:prstGeom prst="ellipse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31272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4: Bootstrapping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82312" y="354787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Small samples with non-normal data where non-parametric tests may also be inappropriate.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82312" y="3858768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 SPSS: click the Bootstrap button in most analysis dialogs (regression, correlations, t-test). Set 1000 samples minimum. Use bootstrap confidence in...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82312" y="4462272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Computationally intensive. Requires careful interpretation. Not universally available in SPSS base.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6032" y="4919472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FFFBEC"/>
          </a:solidFill>
          <a:ln w="19050">
            <a:solidFill>
              <a:srgbClr val="C89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919472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PRIORITY: (1) Large sample? Try CLT. (2) Mildly skewed? Try log transformation. (3) Ordinal or severely non-normal? Use non-parametric. (4) Small sample, complex? Bootstrap.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3A7A">
              <a:alpha val="20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 |  SECTION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SPSS Complete Guide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SPSS path for normal distribution analysis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SPSS Reference for Normal Distribution Analysis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0F5FA"/>
          </a:solidFill>
          <a:ln w="10160">
            <a:solidFill>
              <a:srgbClr val="1A3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" y="1097280"/>
            <a:ext cx="493776" cy="237744"/>
          </a:xfrm>
          <a:prstGeom prst="roundRect">
            <a:avLst>
              <a:gd name="adj" fmla="val 15385"/>
            </a:avLst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97280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normality (full)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Statistics &gt; Explore &gt; Plots: Normality plots with tests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591056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Shapiro-Wilk, K-S test, histogram, Q-Q plot, boxplot. The COMPLETE normality assessment in one step.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184708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0F5FA"/>
          </a:solidFill>
          <a:ln w="10160">
            <a:solidFill>
              <a:srgbClr val="1A3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" y="1920240"/>
            <a:ext cx="493776" cy="237744"/>
          </a:xfrm>
          <a:prstGeom prst="roundRect">
            <a:avLst>
              <a:gd name="adj" fmla="val 15385"/>
            </a:avLst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920240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normality by group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21284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Statistics &gt; Explore &gt; Factor List: group variable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414016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normality tests and plots for each group. Essential before independent t-tests and ANOVA.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267004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0F5FA"/>
          </a:solidFill>
          <a:ln w="10160">
            <a:solidFill>
              <a:srgbClr val="0A6B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" y="2743200"/>
            <a:ext cx="493776" cy="237744"/>
          </a:xfrm>
          <a:prstGeom prst="roundRect">
            <a:avLst>
              <a:gd name="adj" fmla="val 15385"/>
            </a:avLst>
          </a:prstGeom>
          <a:solidFill>
            <a:srgbClr val="0A6B4A"/>
          </a:solidFill>
          <a:ln w="12700">
            <a:solidFill>
              <a:srgbClr val="0A6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2743200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74320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P(X &lt; 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03580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&gt; Compute &gt; COMPUTE prob = CDF.NORMAL(value, mean, sd)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3236976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probability value. The left-tail cumulative probability for a specified value.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349300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0F5FA"/>
          </a:solidFill>
          <a:ln w="10160">
            <a:solidFill>
              <a:srgbClr val="0A6B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" y="3566160"/>
            <a:ext cx="493776" cy="237744"/>
          </a:xfrm>
          <a:prstGeom prst="roundRect">
            <a:avLst>
              <a:gd name="adj" fmla="val 15385"/>
            </a:avLst>
          </a:prstGeom>
          <a:solidFill>
            <a:srgbClr val="0A6B4A"/>
          </a:solidFill>
          <a:ln w="12700">
            <a:solidFill>
              <a:srgbClr val="0A6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3566160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35661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X given probability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85876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&gt; Compute &gt; COMPUTE x = IDF.NORMAL(probability, mean, sd)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4059936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corresponding to a given cumulative probability. Used for percentile calculations and CI bounds.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431596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0F5FA"/>
          </a:solidFill>
          <a:ln w="10160">
            <a:solidFill>
              <a:srgbClr val="C892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" y="4389120"/>
            <a:ext cx="493776" cy="237744"/>
          </a:xfrm>
          <a:prstGeom prst="roundRect">
            <a:avLst>
              <a:gd name="adj" fmla="val 15385"/>
            </a:avLst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4389120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438912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normal random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46817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&gt; Compute &gt; COMPUTE sim = RV.NORMAL(mean, sd)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0040" y="4882896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normally distributed values. Useful for teaching demos, power analysis, Monte Carlo simulation.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90872" y="102412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0F5FA"/>
          </a:solidFill>
          <a:ln w="10160">
            <a:solidFill>
              <a:srgbClr val="D468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64024" y="1097280"/>
            <a:ext cx="493776" cy="237744"/>
          </a:xfrm>
          <a:prstGeom prst="roundRect">
            <a:avLst>
              <a:gd name="adj" fmla="val 15385"/>
            </a:avLst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1097280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30952" y="10972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for skewed data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82312" y="138988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&gt; Compute &gt; COMPUTE log_var = LN(original_var)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82312" y="1591056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log transformed variable. Use when variable is positively skewed. Re-check normality after.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90872" y="184708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0F5FA"/>
          </a:solidFill>
          <a:ln w="10160">
            <a:solidFill>
              <a:srgbClr val="1B5C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64024" y="1920240"/>
            <a:ext cx="493776" cy="237744"/>
          </a:xfrm>
          <a:prstGeom prst="roundRect">
            <a:avLst>
              <a:gd name="adj" fmla="val 15385"/>
            </a:avLst>
          </a:prstGeom>
          <a:solidFill>
            <a:srgbClr val="1B5CA0"/>
          </a:solidFill>
          <a:ln w="12700">
            <a:solidFill>
              <a:srgbClr val="1B5C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64024" y="1920240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30952" y="192024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regression residuals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82312" y="221284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dialog &gt; Plots &gt; Histogram + Normal P-P of standardised residuals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82312" y="2414016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check that residuals are normally distributed. Critical assumption for valid regression inference.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90872" y="267004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0F5FA"/>
          </a:solidFill>
          <a:ln w="10160">
            <a:solidFill>
              <a:srgbClr val="D4680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64024" y="2743200"/>
            <a:ext cx="493776" cy="237744"/>
          </a:xfrm>
          <a:prstGeom prst="roundRect">
            <a:avLst>
              <a:gd name="adj" fmla="val 15385"/>
            </a:avLst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4024" y="2743200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30952" y="274320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standardisation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82312" y="303580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Statistics &gt; Descriptives &gt; Save standardised values as variables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82312" y="3236976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variables with prefix Z. Mean=0, SD=1. Used for outlier detection and cluster analysis input.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90872" y="349300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F0F5F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64024" y="3566160"/>
            <a:ext cx="493776" cy="237744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64024" y="3566160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30952" y="35661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CIs (no assumption)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82312" y="385876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analysis dialog &gt; Bootstrap button &gt; Perform bootstrapping &gt; 1000 samples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82312" y="4059936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percentile confidence intervals. Valid when distributional assumptions are violated.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Exercises - Normal Distribution Mastery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8631936" cy="694944"/>
          </a:xfrm>
          <a:prstGeom prst="roundRect">
            <a:avLst>
              <a:gd name="adj" fmla="val 11842"/>
            </a:avLst>
          </a:prstGeom>
          <a:solidFill>
            <a:srgbClr val="E8F0FB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60704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Staff salaries at Zenith Bank Lagos are normally distributed. Mean = N380,000 per month. Standard Deviation = N95,000.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810512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83664"/>
            <a:ext cx="329184" cy="329184"/>
          </a:xfrm>
          <a:prstGeom prst="ellipse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Zenith Bank staff earn less than N285,000?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3950208" cy="365760"/>
          </a:xfrm>
          <a:prstGeom prst="roundRect">
            <a:avLst>
              <a:gd name="adj" fmla="val 12500"/>
            </a:avLst>
          </a:prstGeom>
          <a:solidFill>
            <a:srgbClr val="EEF4FB"/>
          </a:solidFill>
          <a:ln w="10160">
            <a:solidFill>
              <a:srgbClr val="1A3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377440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Z=(285k-380k)/95k=-1.00. P(Z&lt;-1.0)=0.1587. Answer: 15.87% earn less than N285k.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90872" y="1810512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883664"/>
            <a:ext cx="329184" cy="329184"/>
          </a:xfrm>
          <a:prstGeom prst="ellipse">
            <a:avLst/>
          </a:prstGeom>
          <a:solidFill>
            <a:srgbClr val="0A6B4A"/>
          </a:solidFill>
          <a:ln w="12700">
            <a:solidFill>
              <a:srgbClr val="0A6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93792" y="19019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earn more than N570,000 per month?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82312" y="2359152"/>
            <a:ext cx="3950208" cy="365760"/>
          </a:xfrm>
          <a:prstGeom prst="roundRect">
            <a:avLst>
              <a:gd name="adj" fmla="val 12500"/>
            </a:avLst>
          </a:prstGeom>
          <a:solidFill>
            <a:srgbClr val="EEF4FB"/>
          </a:solidFill>
          <a:ln w="10160">
            <a:solidFill>
              <a:srgbClr val="0A6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2377440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Z=(570k-380k)/95k=2.00. P(Z&gt;2.0)=1-0.9772=0.0228. Answer: 2.28% earn more than N570k.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889504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62656"/>
            <a:ext cx="329184" cy="329184"/>
          </a:xfrm>
          <a:prstGeom prst="ellipse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29809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earn between N285,000 and N475,000?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438144"/>
            <a:ext cx="3950208" cy="365760"/>
          </a:xfrm>
          <a:prstGeom prst="roundRect">
            <a:avLst>
              <a:gd name="adj" fmla="val 12500"/>
            </a:avLst>
          </a:prstGeom>
          <a:solidFill>
            <a:srgbClr val="EEF4FB"/>
          </a:solidFill>
          <a:ln w="10160">
            <a:solidFill>
              <a:srgbClr val="C89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5643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P(-1.0&lt;Z&lt;1.0)=0.6827. Answer: 68.27% - the 1-sigma interval of the empirical rule.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90872" y="2889504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2962656"/>
            <a:ext cx="329184" cy="329184"/>
          </a:xfrm>
          <a:prstGeom prst="ellipse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93792" y="29809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salary is the 90th percentile?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82312" y="3438144"/>
            <a:ext cx="3950208" cy="365760"/>
          </a:xfrm>
          <a:prstGeom prst="roundRect">
            <a:avLst>
              <a:gd name="adj" fmla="val 12500"/>
            </a:avLst>
          </a:prstGeom>
          <a:solidFill>
            <a:srgbClr val="EEF4FB"/>
          </a:solidFill>
          <a:ln w="10160">
            <a:solidFill>
              <a:srgbClr val="D468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5464" y="345643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for 0.90=1.282. X=380,000+1.282*95,000=501,790. Answer: N501,790 per month.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3968496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041648"/>
            <a:ext cx="329184" cy="329184"/>
          </a:xfrm>
          <a:prstGeom prst="ellipse">
            <a:avLst/>
          </a:prstGeom>
          <a:solidFill>
            <a:srgbClr val="1B5CA0"/>
          </a:solidFill>
          <a:ln w="12700">
            <a:solidFill>
              <a:srgbClr val="1B5C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0599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wants the top 5% earners. What is the minimum salary threshold?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517136"/>
            <a:ext cx="3950208" cy="365760"/>
          </a:xfrm>
          <a:prstGeom prst="roundRect">
            <a:avLst>
              <a:gd name="adj" fmla="val 12500"/>
            </a:avLst>
          </a:prstGeom>
          <a:solidFill>
            <a:srgbClr val="EEF4FB"/>
          </a:solidFill>
          <a:ln w="10160">
            <a:solidFill>
              <a:srgbClr val="1B5C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4535424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for 0.95=1.645. X=380,000+1.645*95,000=536,275. Answer: N536,275 per month.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90872" y="3968496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C0CE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82312" y="4041648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93792" y="40599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SPSS, compute the probability that a randomly selected employee earns &lt; N450,000. Write the syntax.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82312" y="4517136"/>
            <a:ext cx="3950208" cy="365760"/>
          </a:xfrm>
          <a:prstGeom prst="roundRect">
            <a:avLst>
              <a:gd name="adj" fmla="val 12500"/>
            </a:avLst>
          </a:prstGeom>
          <a:solidFill>
            <a:srgbClr val="EEF4FB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5464" y="4535424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8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p_below_450k = CDF.NORMAL(450000, 380000, 95000). Result = 0.7698 = 76.98%.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5084064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FFFBEC"/>
          </a:solidFill>
          <a:ln w="19050">
            <a:solidFill>
              <a:srgbClr val="C892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5084064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exercises 1-5 manually, then verify using SPSS CDF.NORMAL function. Compare your Z-table results with the SPSS computed values.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A3A7A">
              <a:alpha val="16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- Normal Distribution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22844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3385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 is completely defined by just TWO parameters: the mean (mu, location) and standard deviation (sigma, spread). Every other property follows from these two.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22844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5681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Empirical Rule: 68% within 1 SD, 95% within 2 SDs, 99.7% within 3 SDs. This single rule underpins quality control, clinical reference ranges, and financial risk management worldwide.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22844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77977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65176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normal distribution can be converted to the Standard Normal N(0,1) using the Z-score: Z = (X-mu)/sigma. The Z-score tells you how many standard deviations a value is from the mean.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22844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60273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probabilities: P(X &lt; a) = P(Z &lt; z) from tables. P(X &gt; a) = 1 - P(X &lt; a). P(a &lt; X &lt; b) = P(Z &lt; z_b) - P(Z &lt; z_a). In SPSS: CDF.NORMAL(x, mu, sigma).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422452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22844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42569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normality requires BOTH formal tests (Shapiro-Wilk: p &gt; .05 = normal) AND visual inspection (histogram, Q-Q plot). Never rely on the formal test alone, especially with large samples.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82312" y="93268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22844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113385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39512" y="100584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samples (n &gt; 100), the Central Limit Theorem ensures parametric tests are valid even with non-normal data. For small samples, normality matters more.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82312" y="175564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22844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195681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39512" y="182880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normality is violated: (1) Large n - proceed with note. (2) Positive skew - try LN() transformation. (3) Ordinal or severe violation - use non-parametric alternatives.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82312" y="257860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22844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3752" y="277977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39512" y="265176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distribution is the foundation of: t-tests, ANOVA, Pearson correlation, regression (residuals), confidence intervals, Z-tests, and sample size calculations.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82312" y="340156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22844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360273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39512" y="347472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SPSS: Analyze &gt; Descriptive Statistics &gt; Explore is the single command that produces ALL normality evidence: Shapiro-Wilk, histogram, Q-Q plot, and boxplot simultaneously.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82312" y="4224528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122844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73752" y="4425696"/>
            <a:ext cx="292608" cy="29260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39512" y="429768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Median = Mode for a perfect normal distribution. When these diverge significantly in your data, the distribution is skewed and the mean is not the best measure of central tendency.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1A3A7A">
              <a:alpha val="18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560320"/>
            <a:ext cx="4572000" cy="4572000"/>
          </a:xfrm>
          <a:prstGeom prst="ellipse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306629"/>
            <a:ext cx="365760" cy="70811"/>
          </a:xfrm>
          <a:prstGeom prst="roundRect">
            <a:avLst>
              <a:gd name="adj" fmla="val 51653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2165007"/>
            <a:ext cx="274320" cy="212433"/>
          </a:xfrm>
          <a:prstGeom prst="roundRect">
            <a:avLst>
              <a:gd name="adj" fmla="val 17218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1952573"/>
            <a:ext cx="228600" cy="424867"/>
          </a:xfrm>
          <a:prstGeom prst="roundRect">
            <a:avLst>
              <a:gd name="adj" fmla="val 16000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704734"/>
            <a:ext cx="201168" cy="672706"/>
          </a:xfrm>
          <a:prstGeom prst="roundRect">
            <a:avLst>
              <a:gd name="adj" fmla="val 18182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1421490"/>
            <a:ext cx="182880" cy="955950"/>
          </a:xfrm>
          <a:prstGeom prst="roundRect">
            <a:avLst>
              <a:gd name="adj" fmla="val 20000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138245"/>
            <a:ext cx="164592" cy="1239195"/>
          </a:xfrm>
          <a:prstGeom prst="roundRect">
            <a:avLst>
              <a:gd name="adj" fmla="val 22222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890406"/>
            <a:ext cx="164592" cy="1487034"/>
          </a:xfrm>
          <a:prstGeom prst="roundRect">
            <a:avLst>
              <a:gd name="adj" fmla="val 22222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713378"/>
            <a:ext cx="164592" cy="1664062"/>
          </a:xfrm>
          <a:prstGeom prst="roundRect">
            <a:avLst>
              <a:gd name="adj" fmla="val 22222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607162"/>
            <a:ext cx="164592" cy="1770278"/>
          </a:xfrm>
          <a:prstGeom prst="roundRect">
            <a:avLst>
              <a:gd name="adj" fmla="val 22222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713378"/>
            <a:ext cx="164592" cy="1664062"/>
          </a:xfrm>
          <a:prstGeom prst="roundRect">
            <a:avLst>
              <a:gd name="adj" fmla="val 22222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890406"/>
            <a:ext cx="164592" cy="1487034"/>
          </a:xfrm>
          <a:prstGeom prst="roundRect">
            <a:avLst>
              <a:gd name="adj" fmla="val 22222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1138245"/>
            <a:ext cx="182880" cy="1239195"/>
          </a:xfrm>
          <a:prstGeom prst="roundRect">
            <a:avLst>
              <a:gd name="adj" fmla="val 20000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421490"/>
            <a:ext cx="201168" cy="955950"/>
          </a:xfrm>
          <a:prstGeom prst="roundRect">
            <a:avLst>
              <a:gd name="adj" fmla="val 18182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1704734"/>
            <a:ext cx="228600" cy="672706"/>
          </a:xfrm>
          <a:prstGeom prst="roundRect">
            <a:avLst>
              <a:gd name="adj" fmla="val 16000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1952573"/>
            <a:ext cx="274320" cy="424867"/>
          </a:xfrm>
          <a:prstGeom prst="roundRect">
            <a:avLst>
              <a:gd name="adj" fmla="val 13333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165007"/>
            <a:ext cx="228600" cy="212433"/>
          </a:xfrm>
          <a:prstGeom prst="roundRect">
            <a:avLst>
              <a:gd name="adj" fmla="val 17218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306629"/>
            <a:ext cx="274320" cy="70811"/>
          </a:xfrm>
          <a:prstGeom prst="roundRect">
            <a:avLst>
              <a:gd name="adj" fmla="val 51653"/>
            </a:avLst>
          </a:prstGeom>
          <a:solidFill>
            <a:srgbClr val="2E86C1">
              <a:alpha val="50000"/>
            </a:srgbClr>
          </a:solidFill>
          <a:ln w="3810">
            <a:solidFill>
              <a:srgbClr val="2E86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377440"/>
            <a:ext cx="3657600" cy="0"/>
          </a:xfrm>
          <a:prstGeom prst="line">
            <a:avLst/>
          </a:prstGeom>
          <a:noFill/>
          <a:ln w="12700">
            <a:solidFill>
              <a:srgbClr val="1A2E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54203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"All models are wrong,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some are useful."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371600" y="363931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George E. P. Box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normal distribution: our most useful model)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4224528"/>
            <a:ext cx="27432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3425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2834640" y="5065776"/>
            <a:ext cx="3474720" cy="804672"/>
          </a:xfrm>
          <a:prstGeom prst="roundRect">
            <a:avLst>
              <a:gd name="adj" fmla="val 11364"/>
            </a:avLst>
          </a:prstGeom>
          <a:solidFill>
            <a:srgbClr val="1A3A7A">
              <a:alpha val="85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510235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Kajola Gbenga Adewale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Expert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Normal Distribution - Complete Slides</dc:title>
  <dc:subject>PptxGenJS Presentation</dc:subject>
  <dc:creator>Kajola Gbenga Adewale</dc:creator>
  <cp:lastModifiedBy>Kajola Gbenga Adewale</cp:lastModifiedBy>
  <cp:revision>1</cp:revision>
  <dcterms:created xsi:type="dcterms:W3CDTF">2026-06-27T23:21:31Z</dcterms:created>
  <dcterms:modified xsi:type="dcterms:W3CDTF">2026-06-27T23:21:31Z</dcterms:modified>
</cp:coreProperties>
</file>
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Bayes' Theorem is the mathematical backbone of: Gmail spam filter, Siri natural language understanding, self-driving car object detection, COVID risk assessment, and every fraud and credit scoring model in Nigeria.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Income follows log-normal because it is the multiplicative product of many factors (education, experience, network, luck) rather than an additive sum. The CLT applies to additive sums → Normal. Multiplicative products → Log-Normal.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Monte Carlo simulation is used in: project planning (schedule risk), options pricing (Black-Scholes is an analytic form of MC), pension fund modelling, pharmaceutical trial design, and nuclear reactor safety analysis.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common thread: every case converts an uncertain business question into a probability, combines that probability with financial impact, and drives a specific, quantified decision. This is the business value of probability.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0" y="-1828800"/>
            <a:ext cx="6400800" cy="6400800"/>
          </a:xfrm>
          <a:prstGeom prst="ellipse">
            <a:avLst/>
          </a:prstGeom>
          <a:solidFill>
            <a:srgbClr val="0A7E8C">
              <a:alpha val="20000"/>
            </a:srgbClr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828800" y="3200400"/>
            <a:ext cx="4572000" cy="4572000"/>
          </a:xfrm>
          <a:prstGeom prst="ellipse">
            <a:avLst/>
          </a:prstGeom>
          <a:solidFill>
            <a:srgbClr val="D4A010">
              <a:alpha val="12000"/>
            </a:srgbClr>
          </a:solidFill>
          <a:ln w="12700">
            <a:solidFill>
              <a:srgbClr val="D4A01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0" y="4114800"/>
            <a:ext cx="2286000" cy="2286000"/>
          </a:xfrm>
          <a:prstGeom prst="ellipse">
            <a:avLst/>
          </a:prstGeom>
          <a:solidFill>
            <a:srgbClr val="6010C0">
              <a:alpha val="10000"/>
            </a:srgbClr>
          </a:solidFill>
          <a:ln w="12700">
            <a:solidFill>
              <a:srgbClr val="6010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59436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PROBABILITY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594360" y="2212848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Guide to Theory,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9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Rules, Distributions and Applications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94360" y="315468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8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 - Bayes' Theorem - Distributions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8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Value - Decision Theory - Business Risk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8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Nigerian Banking - Insurance - FMCG - Healthcare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4360" y="3977640"/>
            <a:ext cx="4114800" cy="868680"/>
          </a:xfrm>
          <a:prstGeom prst="roundRect">
            <a:avLst>
              <a:gd name="adj" fmla="val 10526"/>
            </a:avLst>
          </a:prstGeom>
          <a:solidFill>
            <a:srgbClr val="0A7E8C">
              <a:alpha val="85000"/>
            </a:srgbClr>
          </a:solidFill>
          <a:ln w="12700">
            <a:solidFill>
              <a:srgbClr val="14B8C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402336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Kajola Gbenga Adewale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0C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Expert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760720" y="18288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0" b="1" dirty="0">
                <a:solidFill>
                  <a:srgbClr val="0A7E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11000" dirty="0"/>
          </a:p>
        </p:txBody>
      </p:sp>
      <p:sp>
        <p:nvSpPr>
          <p:cNvPr id="11" name="Text 9"/>
          <p:cNvSpPr/>
          <p:nvPr/>
        </p:nvSpPr>
        <p:spPr>
          <a:xfrm>
            <a:off x="7040880" y="54864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0C8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(E)</a:t>
            </a:r>
            <a:endParaRPr lang="en-US" sz="5200" dirty="0"/>
          </a:p>
        </p:txBody>
      </p:sp>
      <p:sp>
        <p:nvSpPr>
          <p:cNvPr id="12" name="Shape 10"/>
          <p:cNvSpPr/>
          <p:nvPr/>
        </p:nvSpPr>
        <p:spPr>
          <a:xfrm>
            <a:off x="5760720" y="1645920"/>
            <a:ext cx="1005840" cy="877824"/>
          </a:xfrm>
          <a:prstGeom prst="roundRect">
            <a:avLst>
              <a:gd name="adj" fmla="val 7292"/>
            </a:avLst>
          </a:prstGeom>
          <a:solidFill>
            <a:srgbClr val="0E1728"/>
          </a:solidFill>
          <a:ln w="10160">
            <a:solidFill>
              <a:srgbClr val="14B8C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60720" y="1645920"/>
            <a:ext cx="10058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876288" y="1645920"/>
            <a:ext cx="1005840" cy="877824"/>
          </a:xfrm>
          <a:prstGeom prst="roundRect">
            <a:avLst>
              <a:gd name="adj" fmla="val 7292"/>
            </a:avLst>
          </a:prstGeom>
          <a:solidFill>
            <a:srgbClr val="0E1728"/>
          </a:solidFill>
          <a:ln w="10160">
            <a:solidFill>
              <a:srgbClr val="14B8C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76288" y="1645920"/>
            <a:ext cx="10058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4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991856" y="2651760"/>
            <a:ext cx="1005840" cy="877824"/>
          </a:xfrm>
          <a:prstGeom prst="roundRect">
            <a:avLst>
              <a:gd name="adj" fmla="val 7292"/>
            </a:avLst>
          </a:prstGeom>
          <a:solidFill>
            <a:srgbClr val="0E1728"/>
          </a:solidFill>
          <a:ln w="10160">
            <a:solidFill>
              <a:srgbClr val="14B8C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991856" y="2651760"/>
            <a:ext cx="10058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760720" y="2651760"/>
            <a:ext cx="1005840" cy="877824"/>
          </a:xfrm>
          <a:prstGeom prst="roundRect">
            <a:avLst>
              <a:gd name="adj" fmla="val 7292"/>
            </a:avLst>
          </a:prstGeom>
          <a:solidFill>
            <a:srgbClr val="0E1728"/>
          </a:solidFill>
          <a:ln w="10160">
            <a:solidFill>
              <a:srgbClr val="14B8C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760720" y="2651760"/>
            <a:ext cx="10058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Markov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4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876288" y="3657600"/>
            <a:ext cx="1005840" cy="877824"/>
          </a:xfrm>
          <a:prstGeom prst="roundRect">
            <a:avLst>
              <a:gd name="adj" fmla="val 7292"/>
            </a:avLst>
          </a:prstGeom>
          <a:solidFill>
            <a:srgbClr val="0E1728"/>
          </a:solidFill>
          <a:ln w="10160">
            <a:solidFill>
              <a:srgbClr val="14B8C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76288" y="3657600"/>
            <a:ext cx="10058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4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Carlo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991856" y="3657600"/>
            <a:ext cx="1005840" cy="877824"/>
          </a:xfrm>
          <a:prstGeom prst="roundRect">
            <a:avLst>
              <a:gd name="adj" fmla="val 7292"/>
            </a:avLst>
          </a:prstGeom>
          <a:solidFill>
            <a:srgbClr val="0E1728"/>
          </a:solidFill>
          <a:ln w="10160">
            <a:solidFill>
              <a:srgbClr val="14B8C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991856" y="3657600"/>
            <a:ext cx="10058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080D1A"/>
          </a:solidFill>
          <a:ln w="12700">
            <a:solidFill>
              <a:srgbClr val="080D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" y="1097280"/>
            <a:ext cx="263347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COMPLETE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2514600"/>
            <a:ext cx="2194560" cy="45720"/>
          </a:xfrm>
          <a:prstGeom prst="rect">
            <a:avLst/>
          </a:prstGeom>
          <a:solidFill>
            <a:srgbClr val="D4A010"/>
          </a:solidFill>
          <a:ln w="12700">
            <a:solidFill>
              <a:srgbClr val="D4A01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2651760"/>
            <a:ext cx="2633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0C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Core Topics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063240" y="128016"/>
            <a:ext cx="288036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6350">
            <a:solidFill>
              <a:srgbClr val="B0C8D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154680" y="274320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080D1A"/>
          </a:solidFill>
          <a:ln w="12700">
            <a:solidFill>
              <a:srgbClr val="080D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154680" y="2743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0C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538728" y="18288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1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Probability?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538728" y="475488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Definition, 3 interpretations, properties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063240" y="822960"/>
            <a:ext cx="288036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6350">
            <a:solidFill>
              <a:srgbClr val="B0C8D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54680" y="969264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080D1A"/>
          </a:solidFill>
          <a:ln w="12700">
            <a:solidFill>
              <a:srgbClr val="080D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54680" y="9692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0C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538728" y="877824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1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of Probability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538728" y="1170432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Addition, multiplication, conditional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063240" y="1517904"/>
            <a:ext cx="288036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6350">
            <a:solidFill>
              <a:srgbClr val="B0C8D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154680" y="1664208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080D1A"/>
          </a:solidFill>
          <a:ln w="12700">
            <a:solidFill>
              <a:srgbClr val="080D1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154680" y="16642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0C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538728" y="157276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1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Bayes' Theorem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538728" y="1865376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Prior, likelihood, posterior - updating beliefs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063240" y="2212848"/>
            <a:ext cx="288036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6350">
            <a:solidFill>
              <a:srgbClr val="B0C8D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154680" y="2359152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080D1A"/>
          </a:solidFill>
          <a:ln w="12700">
            <a:solidFill>
              <a:srgbClr val="080D1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154680" y="23591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0C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538728" y="2267712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1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Bayesian Business Apps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538728" y="2560320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scoring, credit risk, marketing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3063240" y="2907792"/>
            <a:ext cx="288036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6350">
            <a:solidFill>
              <a:srgbClr val="B0C8D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154680" y="3054096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080D1A"/>
          </a:solidFill>
          <a:ln w="12700">
            <a:solidFill>
              <a:srgbClr val="080D1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154680" y="30540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0C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538728" y="2962656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1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Counting Techniques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538728" y="3255264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Permutations, combinations, binomial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3063240" y="3602736"/>
            <a:ext cx="288036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6350">
            <a:solidFill>
              <a:srgbClr val="B0C8D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154680" y="3749040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080D1A"/>
          </a:solidFill>
          <a:ln w="12700">
            <a:solidFill>
              <a:srgbClr val="080D1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154680" y="37490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0C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3538728" y="365760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1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Discrete Distributions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3538728" y="3950208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Bernoulli, Binomial, Poisson, Geometric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3063240" y="4297680"/>
            <a:ext cx="288036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6350">
            <a:solidFill>
              <a:srgbClr val="B0C8D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154680" y="4443984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080D1A"/>
          </a:solidFill>
          <a:ln w="12700">
            <a:solidFill>
              <a:srgbClr val="080D1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154680" y="44439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0C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3538728" y="4352544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1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Distributions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3538728" y="4645152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Normal, Exponential, Log-Normal, Gamma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6080760" y="128016"/>
            <a:ext cx="288036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6350">
            <a:solidFill>
              <a:srgbClr val="B0C8D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172200" y="274320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080D1A"/>
          </a:solidFill>
          <a:ln w="12700">
            <a:solidFill>
              <a:srgbClr val="080D1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172200" y="2743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0C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6556248" y="18288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1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Value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6556248" y="475488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criterion, variance, risk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6080760" y="822960"/>
            <a:ext cx="288036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6350">
            <a:solidFill>
              <a:srgbClr val="B0C8D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6172200" y="969264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080D1A"/>
          </a:solidFill>
          <a:ln w="12700">
            <a:solidFill>
              <a:srgbClr val="080D1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172200" y="9692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0C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6556248" y="877824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1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Theory and Trees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6556248" y="1170432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decisions, utility, risk preference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6080760" y="1517904"/>
            <a:ext cx="288036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6350">
            <a:solidFill>
              <a:srgbClr val="B0C8D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6172200" y="1664208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080D1A"/>
          </a:solidFill>
          <a:ln w="12700">
            <a:solidFill>
              <a:srgbClr val="080D1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172200" y="16642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0C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6556248" y="157276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1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 of Large Numbers and CLT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6556248" y="1865376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insurance works, sampling theory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6080760" y="2212848"/>
            <a:ext cx="288036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6350">
            <a:solidFill>
              <a:srgbClr val="B0C8D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6172200" y="2359152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080D1A"/>
          </a:solidFill>
          <a:ln w="12700">
            <a:solidFill>
              <a:srgbClr val="080D1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172200" y="23591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0C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6556248" y="2267712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1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Markov Chains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6556248" y="2560320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churn, credit migration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6080760" y="2907792"/>
            <a:ext cx="288036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6350">
            <a:solidFill>
              <a:srgbClr val="B0C8D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6172200" y="3054096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080D1A"/>
          </a:solidFill>
          <a:ln w="12700">
            <a:solidFill>
              <a:srgbClr val="080D1A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172200" y="30540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0C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6556248" y="2962656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1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 Carlo Simulation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6556248" y="3255264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outcome distributions, stress testing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6080760" y="3602736"/>
            <a:ext cx="288036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6350">
            <a:solidFill>
              <a:srgbClr val="B0C8D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67" name="Shape 65"/>
          <p:cNvSpPr/>
          <p:nvPr/>
        </p:nvSpPr>
        <p:spPr>
          <a:xfrm>
            <a:off x="6172200" y="3749040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080D1A"/>
          </a:solidFill>
          <a:ln w="12700">
            <a:solidFill>
              <a:srgbClr val="080D1A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172200" y="37490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0C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6556248" y="365760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1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Nigerian Business Cases</a:t>
            </a:r>
            <a:endParaRPr lang="en-US" sz="950" dirty="0"/>
          </a:p>
        </p:txBody>
      </p:sp>
      <p:sp>
        <p:nvSpPr>
          <p:cNvPr id="70" name="Text 68"/>
          <p:cNvSpPr/>
          <p:nvPr/>
        </p:nvSpPr>
        <p:spPr>
          <a:xfrm>
            <a:off x="6556248" y="3950208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Banking, insurance, FMCG, telecoms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6080760" y="4297680"/>
            <a:ext cx="288036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6350">
            <a:solidFill>
              <a:srgbClr val="B0C8D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72" name="Shape 70"/>
          <p:cNvSpPr/>
          <p:nvPr/>
        </p:nvSpPr>
        <p:spPr>
          <a:xfrm>
            <a:off x="6172200" y="4443984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080D1A"/>
          </a:solidFill>
          <a:ln w="12700">
            <a:solidFill>
              <a:srgbClr val="080D1A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172200" y="44439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0C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00" dirty="0"/>
          </a:p>
        </p:txBody>
      </p:sp>
      <p:sp>
        <p:nvSpPr>
          <p:cNvPr id="74" name="Text 72"/>
          <p:cNvSpPr/>
          <p:nvPr/>
        </p:nvSpPr>
        <p:spPr>
          <a:xfrm>
            <a:off x="6556248" y="4352544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1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at Risk and Risk Metrics</a:t>
            </a:r>
            <a:endParaRPr lang="en-US" sz="950" dirty="0"/>
          </a:p>
        </p:txBody>
      </p:sp>
      <p:sp>
        <p:nvSpPr>
          <p:cNvPr id="75" name="Text 73"/>
          <p:cNvSpPr/>
          <p:nvPr/>
        </p:nvSpPr>
        <p:spPr>
          <a:xfrm>
            <a:off x="6556248" y="4645152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VaR, insurance pricing, portfolio risk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1371600"/>
            <a:ext cx="5029200" cy="5029200"/>
          </a:xfrm>
          <a:prstGeom prst="ellipse">
            <a:avLst/>
          </a:prstGeom>
          <a:solidFill>
            <a:srgbClr val="0A7E8C">
              <a:alpha val="20000"/>
            </a:srgbClr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3200400"/>
            <a:ext cx="3657600" cy="3657600"/>
          </a:xfrm>
          <a:prstGeom prst="ellipse">
            <a:avLst/>
          </a:prstGeom>
          <a:solidFill>
            <a:srgbClr val="D4A010">
              <a:alpha val="12000"/>
            </a:srgbClr>
          </a:solidFill>
          <a:ln w="12700">
            <a:solidFill>
              <a:srgbClr val="D4A01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058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 |  SECTION 01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Probability?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48640" y="2670048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mathematical language of uncertainty - from 0 (impossible) to 1 (certain)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80D1A"/>
          </a:solidFill>
          <a:ln w="12700">
            <a:solidFill>
              <a:srgbClr val="080D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412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Probability - Three Interpretations and Core Properties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28600" y="1024128"/>
            <a:ext cx="2834640" cy="3072384"/>
          </a:xfrm>
          <a:prstGeom prst="roundRect">
            <a:avLst>
              <a:gd name="adj" fmla="val 2903"/>
            </a:avLst>
          </a:prstGeom>
          <a:solidFill>
            <a:srgbClr val="FFFFFF"/>
          </a:solidFill>
          <a:ln w="6350">
            <a:solidFill>
              <a:srgbClr val="B0C8D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83464" y="1097280"/>
            <a:ext cx="2724912" cy="347472"/>
          </a:xfrm>
          <a:prstGeom prst="roundRect">
            <a:avLst>
              <a:gd name="adj" fmla="val 15789"/>
            </a:avLst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83464" y="1097280"/>
            <a:ext cx="2724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(Theoretical)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0040" y="1499616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7E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P(E) = Favourable / Total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1810512"/>
            <a:ext cx="2633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E1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equally likely outcomes from mathematical reasoning. No data needed.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20040" y="2286000"/>
            <a:ext cx="263347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</a:t>
            </a:r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52-card deck: P(King) = 4/52 = 7.7%. Equally likely outcomes assumed.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20040" y="2907792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when: </a:t>
            </a:r>
            <a:pPr indent="0" marL="0">
              <a:buNone/>
            </a:pPr>
            <a:r>
              <a:rPr lang="en-US" sz="900" dirty="0">
                <a:solidFill>
                  <a:srgbClr val="0E1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games, dice, simple sampling without replacement.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00400" y="1024128"/>
            <a:ext cx="2834640" cy="3072384"/>
          </a:xfrm>
          <a:prstGeom prst="roundRect">
            <a:avLst>
              <a:gd name="adj" fmla="val 2903"/>
            </a:avLst>
          </a:prstGeom>
          <a:solidFill>
            <a:srgbClr val="FFFFFF"/>
          </a:solidFill>
          <a:ln w="6350">
            <a:solidFill>
              <a:srgbClr val="B0C8D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55264" y="1097280"/>
            <a:ext cx="2724912" cy="347472"/>
          </a:xfrm>
          <a:prstGeom prst="roundRect">
            <a:avLst>
              <a:gd name="adj" fmla="val 15789"/>
            </a:avLst>
          </a:prstGeom>
          <a:solidFill>
            <a:srgbClr val="0A8A50"/>
          </a:solidFill>
          <a:ln w="12700">
            <a:solidFill>
              <a:srgbClr val="0A8A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55264" y="1097280"/>
            <a:ext cx="2724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Empirical (Frequentist)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91840" y="1499616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8A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P(E) = Occurrences / Trials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291840" y="1810512"/>
            <a:ext cx="2633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E1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observed frequency from repeated experiments. Converges to true P as n increases.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291840" y="2286000"/>
            <a:ext cx="263347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8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</a:t>
            </a:r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GTBank: 840 defaults from 12,000 loans. P(default) = 840/12,000 = 7%. This becomes the model baseline.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291840" y="2907792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8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when: </a:t>
            </a:r>
            <a:pPr indent="0" marL="0">
              <a:buNone/>
            </a:pPr>
            <a:r>
              <a:rPr lang="en-US" sz="900" dirty="0">
                <a:solidFill>
                  <a:srgbClr val="0E1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risk, insurance pricing, quality control, customer analytics.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172200" y="1024128"/>
            <a:ext cx="2834640" cy="3072384"/>
          </a:xfrm>
          <a:prstGeom prst="roundRect">
            <a:avLst>
              <a:gd name="adj" fmla="val 2903"/>
            </a:avLst>
          </a:prstGeom>
          <a:solidFill>
            <a:srgbClr val="FFFFFF"/>
          </a:solidFill>
          <a:ln w="6350">
            <a:solidFill>
              <a:srgbClr val="B0C8D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27064" y="1097280"/>
            <a:ext cx="2724912" cy="347472"/>
          </a:xfrm>
          <a:prstGeom prst="roundRect">
            <a:avLst>
              <a:gd name="adj" fmla="val 15789"/>
            </a:avLst>
          </a:prstGeom>
          <a:solidFill>
            <a:srgbClr val="6010C0"/>
          </a:solidFill>
          <a:ln w="12700">
            <a:solidFill>
              <a:srgbClr val="6010C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27064" y="1097280"/>
            <a:ext cx="2724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Subjective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263640" y="1499616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01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P(E) = Expert belief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263640" y="1810512"/>
            <a:ext cx="2633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E1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personal judgment or degree of belief. Used when data is scarce or event is unique.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263640" y="2286000"/>
            <a:ext cx="263347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01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</a:t>
            </a:r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UAC Foods assigns 65% probability to a new product achieving breakeven in year one based on market research.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263640" y="2907792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01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when: </a:t>
            </a:r>
            <a:pPr indent="0" marL="0">
              <a:buNone/>
            </a:pPr>
            <a:r>
              <a:rPr lang="en-US" sz="900" dirty="0">
                <a:solidFill>
                  <a:srgbClr val="0E1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product launches, one-off events, early-stage startup decisions.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56032" y="4151376"/>
            <a:ext cx="8631936" cy="694944"/>
          </a:xfrm>
          <a:prstGeom prst="roundRect">
            <a:avLst>
              <a:gd name="adj" fmla="val 10526"/>
            </a:avLst>
          </a:prstGeom>
          <a:solidFill>
            <a:srgbClr val="E0F7FA"/>
          </a:solidFill>
          <a:ln w="6350">
            <a:solidFill>
              <a:srgbClr val="B0C8D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84048" y="4224528"/>
            <a:ext cx="14447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PROPERTIES: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920240" y="4224528"/>
            <a:ext cx="13167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E1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Non-negativity: P(E) &gt;= 0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291840" y="4224528"/>
            <a:ext cx="13167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E1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Certainty: P(S) = 1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663440" y="4224528"/>
            <a:ext cx="13167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E1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Complement: P(E') = 1 - P(E)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035040" y="4224528"/>
            <a:ext cx="13167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E1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Additivity: If mutually exclusive, P(A or B) = P(A) + P(B)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406640" y="4224528"/>
            <a:ext cx="13167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E1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Range: 0 &lt;= P(E) &lt;= 1 always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1371600"/>
            <a:ext cx="5029200" cy="5029200"/>
          </a:xfrm>
          <a:prstGeom prst="ellipse">
            <a:avLst/>
          </a:prstGeom>
          <a:solidFill>
            <a:srgbClr val="0A7E8C">
              <a:alpha val="20000"/>
            </a:srgbClr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3200400"/>
            <a:ext cx="3657600" cy="3657600"/>
          </a:xfrm>
          <a:prstGeom prst="ellipse">
            <a:avLst/>
          </a:prstGeom>
          <a:solidFill>
            <a:srgbClr val="D4A010">
              <a:alpha val="12000"/>
            </a:srgbClr>
          </a:solidFill>
          <a:ln w="12700">
            <a:solidFill>
              <a:srgbClr val="D4A01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058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 |  SECTION 02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Rules of Probability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48640" y="2670048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 rule, multiplication rule, conditional probability and total probability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80D1A"/>
          </a:solidFill>
          <a:ln w="12700">
            <a:solidFill>
              <a:srgbClr val="080D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412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Four Essential Probability Rules with Business Applications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28600" y="1024128"/>
            <a:ext cx="4160520" cy="1901952"/>
          </a:xfrm>
          <a:prstGeom prst="roundRect">
            <a:avLst>
              <a:gd name="adj" fmla="val 4327"/>
            </a:avLst>
          </a:prstGeom>
          <a:solidFill>
            <a:srgbClr val="FFFFFF"/>
          </a:solidFill>
          <a:ln w="6350">
            <a:solidFill>
              <a:srgbClr val="B0C8D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01752" y="1097280"/>
            <a:ext cx="4005072" cy="310896"/>
          </a:xfrm>
          <a:prstGeom prst="roundRect">
            <a:avLst>
              <a:gd name="adj" fmla="val 17647"/>
            </a:avLst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01752" y="1097280"/>
            <a:ext cx="4005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 Rule (General)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20040" y="1463040"/>
            <a:ext cx="3950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7E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P(A OR B) = P(A) + P(B) - P(A AND B)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1755648"/>
            <a:ext cx="3950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E1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Subtract the overlap to avoid double-counting. If mutually exclusive: P(A AND B) = 0.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20040" y="2139696"/>
            <a:ext cx="39502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Business: </a:t>
            </a:r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P(salaried)=0.62, P(has existing loan)=0.38, P(both)=0.24. P(salaried OR has loan)=0.62+0.38-0.24=0.76.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690872" y="1024128"/>
            <a:ext cx="4160520" cy="1901952"/>
          </a:xfrm>
          <a:prstGeom prst="roundRect">
            <a:avLst>
              <a:gd name="adj" fmla="val 4327"/>
            </a:avLst>
          </a:prstGeom>
          <a:solidFill>
            <a:srgbClr val="FFFFFF"/>
          </a:solidFill>
          <a:ln w="6350">
            <a:solidFill>
              <a:srgbClr val="B0C8D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64024" y="1097280"/>
            <a:ext cx="4005072" cy="310896"/>
          </a:xfrm>
          <a:prstGeom prst="roundRect">
            <a:avLst>
              <a:gd name="adj" fmla="val 17647"/>
            </a:avLst>
          </a:prstGeom>
          <a:solidFill>
            <a:srgbClr val="0A8A50"/>
          </a:solidFill>
          <a:ln w="12700">
            <a:solidFill>
              <a:srgbClr val="0A8A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64024" y="1097280"/>
            <a:ext cx="4005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Multiplication Rule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782312" y="1463040"/>
            <a:ext cx="3950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8A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P(A AND B) = P(A) * P(B|A)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82312" y="1755648"/>
            <a:ext cx="3950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E1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independent events: P(A AND B) = P(A)*P(B). Independence: knowing A gives no info about B.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782312" y="2139696"/>
            <a:ext cx="39502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8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Business: </a:t>
            </a:r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Dangote quality: P(bag1 ok AND bag2 ok) = 0.97*0.97 = 0.941. P(at least one defect)=1-0.941=0.059.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28600" y="3017520"/>
            <a:ext cx="4160520" cy="1901952"/>
          </a:xfrm>
          <a:prstGeom prst="roundRect">
            <a:avLst>
              <a:gd name="adj" fmla="val 4327"/>
            </a:avLst>
          </a:prstGeom>
          <a:solidFill>
            <a:srgbClr val="FFFFFF"/>
          </a:solidFill>
          <a:ln w="6350">
            <a:solidFill>
              <a:srgbClr val="B0C8D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01752" y="3090672"/>
            <a:ext cx="4005072" cy="310896"/>
          </a:xfrm>
          <a:prstGeom prst="roundRect">
            <a:avLst>
              <a:gd name="adj" fmla="val 17647"/>
            </a:avLst>
          </a:prstGeom>
          <a:solidFill>
            <a:srgbClr val="E06A10"/>
          </a:solidFill>
          <a:ln w="12700">
            <a:solidFill>
              <a:srgbClr val="E06A1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01752" y="3090672"/>
            <a:ext cx="4005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Probability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20040" y="3456432"/>
            <a:ext cx="3950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06A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P(B|A) = P(A AND B) / P(A)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20040" y="3749040"/>
            <a:ext cx="3950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E1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IMPORTANT rule. Updates probability of B given that A is known. Foundation of Bayes.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20040" y="4133088"/>
            <a:ext cx="39502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06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Business: </a:t>
            </a:r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P(default AND self-employed)=0.054. P(self-employed)=0.30. P(default|self-employed)=0.054/0.30=18%.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690872" y="3017520"/>
            <a:ext cx="4160520" cy="1901952"/>
          </a:xfrm>
          <a:prstGeom prst="roundRect">
            <a:avLst>
              <a:gd name="adj" fmla="val 4327"/>
            </a:avLst>
          </a:prstGeom>
          <a:solidFill>
            <a:srgbClr val="FFFFFF"/>
          </a:solidFill>
          <a:ln w="6350">
            <a:solidFill>
              <a:srgbClr val="B0C8D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64024" y="3090672"/>
            <a:ext cx="4005072" cy="310896"/>
          </a:xfrm>
          <a:prstGeom prst="roundRect">
            <a:avLst>
              <a:gd name="adj" fmla="val 17647"/>
            </a:avLst>
          </a:prstGeom>
          <a:solidFill>
            <a:srgbClr val="6010C0"/>
          </a:solidFill>
          <a:ln w="12700">
            <a:solidFill>
              <a:srgbClr val="6010C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64024" y="3090672"/>
            <a:ext cx="4005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Probability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782312" y="3456432"/>
            <a:ext cx="3950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01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P(A) = SUM[ P(A|Bi) * P(Bi) ]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782312" y="3749040"/>
            <a:ext cx="3950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E1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sample space is partitioned into exhaustive, mutually exclusive events B1...Bn.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782312" y="4133088"/>
            <a:ext cx="39502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01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Business: </a:t>
            </a:r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Leadway: 3 risk tiers. P(claim)=0.02(0.50)+0.08(0.35)+0.22(0.15)=0.01+0.028+0.033=0.071=7.1%.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56032" y="4937760"/>
            <a:ext cx="8631936" cy="384048"/>
          </a:xfrm>
          <a:prstGeom prst="roundRect">
            <a:avLst>
              <a:gd name="adj" fmla="val 14286"/>
            </a:avLst>
          </a:prstGeom>
          <a:solidFill>
            <a:srgbClr val="FFFBEC"/>
          </a:solidFill>
          <a:ln w="19050">
            <a:solidFill>
              <a:srgbClr val="D4A01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84048" y="4937760"/>
            <a:ext cx="8449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4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probability is the engine of ALL credit scoring, fraud detection, disease diagnosis, and recommendation systems. Master P(B|A) = P(A and B)/P(A) and you understand how every predictive model reasons.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1371600"/>
            <a:ext cx="5029200" cy="5029200"/>
          </a:xfrm>
          <a:prstGeom prst="ellipse">
            <a:avLst/>
          </a:prstGeom>
          <a:solidFill>
            <a:srgbClr val="0A7E8C">
              <a:alpha val="20000"/>
            </a:srgbClr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3200400"/>
            <a:ext cx="3657600" cy="3657600"/>
          </a:xfrm>
          <a:prstGeom prst="ellipse">
            <a:avLst/>
          </a:prstGeom>
          <a:solidFill>
            <a:srgbClr val="D4A010">
              <a:alpha val="12000"/>
            </a:srgbClr>
          </a:solidFill>
          <a:ln w="12700">
            <a:solidFill>
              <a:srgbClr val="D4A01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058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 |  SECTION 03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Bayes' Theorem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48640" y="2670048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Updating prior beliefs with new evidence - the most powerful formula in applied statistics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80D1A"/>
          </a:solidFill>
          <a:ln w="12700">
            <a:solidFill>
              <a:srgbClr val="080D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412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Bayes' Theorem - Prior + Evidence = Posterior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56032" y="1024128"/>
            <a:ext cx="8631936" cy="804672"/>
          </a:xfrm>
          <a:prstGeom prst="roundRect">
            <a:avLst>
              <a:gd name="adj" fmla="val 10227"/>
            </a:avLst>
          </a:prstGeom>
          <a:solidFill>
            <a:srgbClr val="0E1728"/>
          </a:solidFill>
          <a:ln w="19050">
            <a:solidFill>
              <a:srgbClr val="14B8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56032" y="1097280"/>
            <a:ext cx="6583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P(H | E)  =  P(E | H) × P(H)  /  P(E)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912864" y="1097280"/>
            <a:ext cx="1828800" cy="137160"/>
          </a:xfrm>
          <a:prstGeom prst="roundRect">
            <a:avLst>
              <a:gd name="adj" fmla="val 20000"/>
            </a:avLst>
          </a:prstGeom>
          <a:solidFill>
            <a:srgbClr val="0A8A50"/>
          </a:solidFill>
          <a:ln w="12700">
            <a:solidFill>
              <a:srgbClr val="0A8A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12864" y="1097280"/>
            <a:ext cx="1828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P(H|E) = POSTERIOR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6912864" y="1252728"/>
            <a:ext cx="1828800" cy="137160"/>
          </a:xfrm>
          <a:prstGeom prst="roundRect">
            <a:avLst>
              <a:gd name="adj" fmla="val 20000"/>
            </a:avLst>
          </a:prstGeom>
          <a:solidFill>
            <a:srgbClr val="E06A10"/>
          </a:solidFill>
          <a:ln w="12700">
            <a:solidFill>
              <a:srgbClr val="E06A1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12864" y="1252728"/>
            <a:ext cx="1828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P(E|H) = LIKELIHOOD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6912864" y="1408176"/>
            <a:ext cx="1828800" cy="137160"/>
          </a:xfrm>
          <a:prstGeom prst="roundRect">
            <a:avLst>
              <a:gd name="adj" fmla="val 20000"/>
            </a:avLst>
          </a:prstGeom>
          <a:solidFill>
            <a:srgbClr val="1050D0"/>
          </a:solidFill>
          <a:ln w="12700">
            <a:solidFill>
              <a:srgbClr val="1050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12864" y="1408176"/>
            <a:ext cx="1828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P(H) = PRIOR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6912864" y="1563624"/>
            <a:ext cx="1828800" cy="137160"/>
          </a:xfrm>
          <a:prstGeom prst="roundRect">
            <a:avLst>
              <a:gd name="adj" fmla="val 20000"/>
            </a:avLst>
          </a:prstGeom>
          <a:solidFill>
            <a:srgbClr val="6010C0"/>
          </a:solidFill>
          <a:ln w="12700">
            <a:solidFill>
              <a:srgbClr val="6010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12864" y="1563624"/>
            <a:ext cx="1828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P(E) = MARGINAL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256032" y="1920240"/>
            <a:ext cx="5029200" cy="3182112"/>
          </a:xfrm>
          <a:prstGeom prst="roundRect">
            <a:avLst>
              <a:gd name="adj" fmla="val 2586"/>
            </a:avLst>
          </a:prstGeom>
          <a:solidFill>
            <a:srgbClr val="FFFFFF"/>
          </a:solidFill>
          <a:ln w="6350">
            <a:solidFill>
              <a:srgbClr val="B0C8D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9184" y="1993392"/>
            <a:ext cx="4882896" cy="310896"/>
          </a:xfrm>
          <a:prstGeom prst="roundRect">
            <a:avLst>
              <a:gd name="adj" fmla="val 17647"/>
            </a:avLst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9184" y="1993392"/>
            <a:ext cx="4882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LUTH Medical Example - Tuberculosis Test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5760" y="2359152"/>
            <a:ext cx="4846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1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 test: Sensitivity=95%, Specificity=92%. Lagos TB prevalence=2%.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E1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tests POSITIVE. What is P(actually has TB)?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2816352"/>
            <a:ext cx="4864608" cy="475488"/>
          </a:xfrm>
          <a:prstGeom prst="roundRect">
            <a:avLst>
              <a:gd name="adj" fmla="val 9615"/>
            </a:avLst>
          </a:prstGeom>
          <a:solidFill>
            <a:srgbClr val="EAF6FA"/>
          </a:solidFill>
          <a:ln w="10160">
            <a:solidFill>
              <a:srgbClr val="0A7E8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0624" y="285292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Prior: 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737360" y="2852928"/>
            <a:ext cx="3401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E1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P(TB) = 0.02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47472" y="3364992"/>
            <a:ext cx="4864608" cy="475488"/>
          </a:xfrm>
          <a:prstGeom prst="roundRect">
            <a:avLst>
              <a:gd name="adj" fmla="val 9615"/>
            </a:avLst>
          </a:prstGeom>
          <a:solidFill>
            <a:srgbClr val="EAF6FA"/>
          </a:solidFill>
          <a:ln w="10160">
            <a:solidFill>
              <a:srgbClr val="0A7E8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0624" y="340156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Likelihood: 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737360" y="3401568"/>
            <a:ext cx="3401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E1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P(Positive|TB) = 0.95   P(Positive|No TB) = 0.08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47472" y="3913632"/>
            <a:ext cx="4864608" cy="475488"/>
          </a:xfrm>
          <a:prstGeom prst="roundRect">
            <a:avLst>
              <a:gd name="adj" fmla="val 9615"/>
            </a:avLst>
          </a:prstGeom>
          <a:solidFill>
            <a:srgbClr val="EAF6FA"/>
          </a:solidFill>
          <a:ln w="10160">
            <a:solidFill>
              <a:srgbClr val="0A7E8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20624" y="395020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P(Positive): 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1737360" y="3950208"/>
            <a:ext cx="3401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E1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0.95(0.02) + 0.08(0.98) = 0.019 + 0.0784 = 0.0974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47472" y="4462272"/>
            <a:ext cx="4864608" cy="475488"/>
          </a:xfrm>
          <a:prstGeom prst="roundRect">
            <a:avLst>
              <a:gd name="adj" fmla="val 9615"/>
            </a:avLst>
          </a:prstGeom>
          <a:solidFill>
            <a:srgbClr val="E0FFF5"/>
          </a:solidFill>
          <a:ln w="10160">
            <a:solidFill>
              <a:srgbClr val="0A8A5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20624" y="449884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8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Posterior: 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1737360" y="4498848"/>
            <a:ext cx="3401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E1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P(TB|Positive) = 0.019 / 0.0974 = 0.195 = 19.5%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347472" y="5010912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3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with a positive test, only 19.5% probability of TB.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E03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80.5% of positive tests are false positives!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413248" y="1920240"/>
            <a:ext cx="3474720" cy="3182112"/>
          </a:xfrm>
          <a:prstGeom prst="roundRect">
            <a:avLst>
              <a:gd name="adj" fmla="val 2586"/>
            </a:avLst>
          </a:prstGeom>
          <a:solidFill>
            <a:srgbClr val="E0F7FA"/>
          </a:solidFill>
          <a:ln w="6350">
            <a:solidFill>
              <a:srgbClr val="B0C8D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5522976" y="1993392"/>
            <a:ext cx="3255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Bayesian Update Process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522976" y="2322576"/>
            <a:ext cx="3255264" cy="713232"/>
          </a:xfrm>
          <a:prstGeom prst="roundRect">
            <a:avLst>
              <a:gd name="adj" fmla="val 8974"/>
            </a:avLst>
          </a:prstGeom>
          <a:solidFill>
            <a:srgbClr val="1050D0">
              <a:alpha val="90000"/>
            </a:srgbClr>
          </a:solidFill>
          <a:ln w="12700">
            <a:solidFill>
              <a:srgbClr val="1050D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596128" y="2395728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BELIEF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P(H) = 0.02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150608" y="3035808"/>
            <a:ext cx="0" cy="128016"/>
          </a:xfrm>
          <a:prstGeom prst="line">
            <a:avLst/>
          </a:prstGeom>
          <a:noFill/>
          <a:ln w="25400">
            <a:solidFill>
              <a:srgbClr val="D4A01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522976" y="3200400"/>
            <a:ext cx="3255264" cy="713232"/>
          </a:xfrm>
          <a:prstGeom prst="roundRect">
            <a:avLst>
              <a:gd name="adj" fmla="val 8974"/>
            </a:avLst>
          </a:prstGeom>
          <a:solidFill>
            <a:srgbClr val="E06A10">
              <a:alpha val="90000"/>
            </a:srgbClr>
          </a:solidFill>
          <a:ln w="12700">
            <a:solidFill>
              <a:srgbClr val="E06A1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596128" y="3273552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EVIDENCE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test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7150608" y="3913632"/>
            <a:ext cx="0" cy="128016"/>
          </a:xfrm>
          <a:prstGeom prst="line">
            <a:avLst/>
          </a:prstGeom>
          <a:noFill/>
          <a:ln w="25400">
            <a:solidFill>
              <a:srgbClr val="D4A01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522976" y="4078224"/>
            <a:ext cx="3255264" cy="713232"/>
          </a:xfrm>
          <a:prstGeom prst="roundRect">
            <a:avLst>
              <a:gd name="adj" fmla="val 8974"/>
            </a:avLst>
          </a:prstGeom>
          <a:solidFill>
            <a:srgbClr val="0A8A50">
              <a:alpha val="90000"/>
            </a:srgbClr>
          </a:solidFill>
          <a:ln w="12700">
            <a:solidFill>
              <a:srgbClr val="0A8A5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596128" y="4151376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POSTERIOR BELIEF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P(H|E) = 0.195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522976" y="4846320"/>
            <a:ext cx="32552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E1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Bayes' Theorem is the algorithm for RATIONAL BELIEF UPDATING. Start with a prior. Observe evidence. Compute the posterior. The posterior becomes the new prior when more evidence arrives.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256032" y="5193792"/>
            <a:ext cx="8631936" cy="347472"/>
          </a:xfrm>
          <a:prstGeom prst="roundRect">
            <a:avLst>
              <a:gd name="adj" fmla="val 15789"/>
            </a:avLst>
          </a:prstGeom>
          <a:solidFill>
            <a:srgbClr val="FEF0ED"/>
          </a:solidFill>
          <a:ln w="19050">
            <a:solidFill>
              <a:srgbClr val="E0302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84048" y="5193792"/>
            <a:ext cx="8449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Base Rate Fallacy: ignoring the prior P(H). Doctors, detectives, and analysts routinely over-estimate P(disease|positive test) by forgetting how rare the disease is. Bayes corrects this error.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0A7E8C">
              <a:alpha val="16000"/>
            </a:srgbClr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Bayes' Theorem - Three Nigerian Business Applications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2816352" cy="4133088"/>
          </a:xfrm>
          <a:prstGeom prst="roundRect">
            <a:avLst>
              <a:gd name="adj" fmla="val 3247"/>
            </a:avLst>
          </a:prstGeom>
          <a:solidFill>
            <a:srgbClr val="0E1728"/>
          </a:solidFill>
          <a:ln w="15240">
            <a:solidFill>
              <a:srgbClr val="E06A1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87552"/>
            <a:ext cx="2633472" cy="329184"/>
          </a:xfrm>
          <a:prstGeom prst="roundRect">
            <a:avLst>
              <a:gd name="adj" fmla="val 16667"/>
            </a:avLst>
          </a:prstGeom>
          <a:solidFill>
            <a:srgbClr val="E06A10"/>
          </a:solidFill>
          <a:ln w="12700">
            <a:solidFill>
              <a:srgbClr val="E06A1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87552"/>
            <a:ext cx="2633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8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Bank - Fraud Scoring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65760" y="1389888"/>
            <a:ext cx="822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4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Prior: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225296" y="1389888"/>
            <a:ext cx="18470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0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P(Fraud) = 0.003 (base fraud rate)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65760" y="1883664"/>
            <a:ext cx="822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0C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Evidence: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225296" y="1883664"/>
            <a:ext cx="18470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0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has 3 fraud signals: foreign country, large amount, new device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65760" y="2377440"/>
            <a:ext cx="822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0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Likelihoods: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225296" y="2377440"/>
            <a:ext cx="18470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0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P(signals | Fraud) = 0.82   P(signals | Legit) = 0.015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65760" y="2871216"/>
            <a:ext cx="822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0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Calculation: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225296" y="2871216"/>
            <a:ext cx="18470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0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P(E) = 0.82(0.003)+0.015(0.997) = 0.00246+0.01496 = 0.01742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65760" y="3364992"/>
            <a:ext cx="822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06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225296" y="3364992"/>
            <a:ext cx="18470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0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P(Fraud | signals) = 0.00246/0.01742 = 14.1%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65760" y="3895344"/>
            <a:ext cx="263347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E06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Transaction probability 47x higher than base rate (0.3%). Flagged for manual review. Without Bayes: no way to rationally combine base rate with observed signals.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246120" y="914400"/>
            <a:ext cx="2816352" cy="4133088"/>
          </a:xfrm>
          <a:prstGeom prst="roundRect">
            <a:avLst>
              <a:gd name="adj" fmla="val 3247"/>
            </a:avLst>
          </a:prstGeom>
          <a:solidFill>
            <a:srgbClr val="0E1728"/>
          </a:solidFill>
          <a:ln w="15240">
            <a:solidFill>
              <a:srgbClr val="287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337560" y="987552"/>
            <a:ext cx="2633472" cy="329184"/>
          </a:xfrm>
          <a:prstGeom prst="roundRect">
            <a:avLst>
              <a:gd name="adj" fmla="val 16667"/>
            </a:avLst>
          </a:prstGeom>
          <a:solidFill>
            <a:srgbClr val="2878F0"/>
          </a:solidFill>
          <a:ln w="12700">
            <a:solidFill>
              <a:srgbClr val="287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37560" y="987552"/>
            <a:ext cx="2633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8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Bank - Credit Scoring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337560" y="1389888"/>
            <a:ext cx="822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4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Prior: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197096" y="1389888"/>
            <a:ext cx="18470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0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P(Default) = 0.07 (historical base rate)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337560" y="1883664"/>
            <a:ext cx="822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0C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Evidence: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197096" y="1883664"/>
            <a:ext cx="18470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0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Customer: low income, multiple existing loans, 3 late payments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337560" y="2377440"/>
            <a:ext cx="822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0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Likelihoods: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197096" y="2377440"/>
            <a:ext cx="18470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0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P(profile | Default) = 0.48   P(profile | No Default) = 0.06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337560" y="2871216"/>
            <a:ext cx="822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0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Calculation: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197096" y="2871216"/>
            <a:ext cx="18470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0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P(profile) = 0.48(0.07)+0.06(0.93) = 0.0336+0.0558 = 0.0894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337560" y="3364992"/>
            <a:ext cx="822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87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197096" y="3364992"/>
            <a:ext cx="18470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0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P(Default | profile) = 0.0336/0.0894 = 37.6%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3337560" y="3895344"/>
            <a:ext cx="263347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87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Personal default probability 5.4x the base rate. Loan rejected or priced at premium rate. Bayesian credit scoring replaced manual loan officer judgment.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6217920" y="914400"/>
            <a:ext cx="2816352" cy="4133088"/>
          </a:xfrm>
          <a:prstGeom prst="roundRect">
            <a:avLst>
              <a:gd name="adj" fmla="val 3247"/>
            </a:avLst>
          </a:prstGeom>
          <a:solidFill>
            <a:srgbClr val="0E1728"/>
          </a:solidFill>
          <a:ln w="15240">
            <a:solidFill>
              <a:srgbClr val="14C87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309360" y="987552"/>
            <a:ext cx="2633472" cy="329184"/>
          </a:xfrm>
          <a:prstGeom prst="roundRect">
            <a:avLst>
              <a:gd name="adj" fmla="val 16667"/>
            </a:avLst>
          </a:prstGeom>
          <a:solidFill>
            <a:srgbClr val="14C870"/>
          </a:solidFill>
          <a:ln w="12700">
            <a:solidFill>
              <a:srgbClr val="14C87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09360" y="987552"/>
            <a:ext cx="2633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8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Flutterwave - Lead Scoring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309360" y="1389888"/>
            <a:ext cx="822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4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Prior: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7168896" y="1389888"/>
            <a:ext cx="18470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0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P(Convert) = 0.12 (baseline conversion rate)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6309360" y="1883664"/>
            <a:ext cx="822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0C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Evidence: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7168896" y="1883664"/>
            <a:ext cx="18470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0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Prospect clicked email + visited pricing + spent &gt; 3 minutes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6309360" y="2377440"/>
            <a:ext cx="822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0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Likelihoods: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7168896" y="2377440"/>
            <a:ext cx="18470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0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P(behaviours | Convert) = 0.68   P(behaviours | No Convert) = 0.11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6309360" y="2871216"/>
            <a:ext cx="822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0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Calculation: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7168896" y="2871216"/>
            <a:ext cx="18470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0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P(E) = 0.68(0.12)+0.11(0.88) = 0.0816+0.0968 = 0.1784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6309360" y="3364992"/>
            <a:ext cx="822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4C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7168896" y="3364992"/>
            <a:ext cx="18470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0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P(Convert | behaviours) = 0.0816/0.1784 = 45.7%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09360" y="3895344"/>
            <a:ext cx="263347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14C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Conversion probability 3.8x higher than baseline. Sales call triggered automatically. Bayesian lead scoring allocates sales team time to highest-probability prospects.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1371600"/>
            <a:ext cx="5029200" cy="5029200"/>
          </a:xfrm>
          <a:prstGeom prst="ellipse">
            <a:avLst/>
          </a:prstGeom>
          <a:solidFill>
            <a:srgbClr val="0A7E8C">
              <a:alpha val="20000"/>
            </a:srgbClr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3200400"/>
            <a:ext cx="3657600" cy="3657600"/>
          </a:xfrm>
          <a:prstGeom prst="ellipse">
            <a:avLst/>
          </a:prstGeom>
          <a:solidFill>
            <a:srgbClr val="D4A010">
              <a:alpha val="12000"/>
            </a:srgbClr>
          </a:solidFill>
          <a:ln w="12700">
            <a:solidFill>
              <a:srgbClr val="D4A01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058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 |  SECTION 04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Probability Distributions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48640" y="2670048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Bernoulli to Log-Normal - which distribution fits your data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80D1A"/>
          </a:solidFill>
          <a:ln w="12700">
            <a:solidFill>
              <a:srgbClr val="080D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412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Discrete Distributions - Bernoulli, Binomial, Poisson and Geometric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28600" y="1024128"/>
            <a:ext cx="4160520" cy="1938528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6350">
            <a:solidFill>
              <a:srgbClr val="B0C8D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01752" y="1097280"/>
            <a:ext cx="4005072" cy="310896"/>
          </a:xfrm>
          <a:prstGeom prst="roundRect">
            <a:avLst>
              <a:gd name="adj" fmla="val 17647"/>
            </a:avLst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01752" y="1097280"/>
            <a:ext cx="4005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Bernoulli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20040" y="1463040"/>
            <a:ext cx="3950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A7E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P(X=1)=p, P(X=0)=1-p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20040" y="1773936"/>
            <a:ext cx="3950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= p     Variance = p(1-p)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0040" y="2029968"/>
            <a:ext cx="395020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Business: </a:t>
            </a:r>
            <a:pPr indent="0" marL="0">
              <a:buNone/>
            </a:pPr>
            <a:r>
              <a:rPr lang="en-US" sz="950" i="1" dirty="0">
                <a:solidFill>
                  <a:srgbClr val="0E1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loan application: approved (p=0.72) or rejected. Building block for all binary outcomes.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690872" y="1024128"/>
            <a:ext cx="4160520" cy="1938528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6350">
            <a:solidFill>
              <a:srgbClr val="B0C8D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64024" y="1097280"/>
            <a:ext cx="4005072" cy="310896"/>
          </a:xfrm>
          <a:prstGeom prst="roundRect">
            <a:avLst>
              <a:gd name="adj" fmla="val 17647"/>
            </a:avLst>
          </a:prstGeom>
          <a:solidFill>
            <a:srgbClr val="0A8A50"/>
          </a:solidFill>
          <a:ln w="12700">
            <a:solidFill>
              <a:srgbClr val="0A8A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64024" y="1097280"/>
            <a:ext cx="4005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Binomial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Bin(n,p)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782312" y="1463040"/>
            <a:ext cx="3950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A8A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P(X=k)=C(n,k)*p^k*(1-p)^(n-k)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782312" y="1773936"/>
            <a:ext cx="3950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= np     Variance = np(1-p)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782312" y="2029968"/>
            <a:ext cx="395020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8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Business: </a:t>
            </a:r>
            <a:pPr indent="0" marL="0">
              <a:buNone/>
            </a:pPr>
            <a:r>
              <a:rPr lang="en-US" sz="950" i="1" dirty="0">
                <a:solidFill>
                  <a:srgbClr val="0E1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MTN: 100 subscribers, churn rate 4%. E(churns)=4. P(more than 8 churn) = 1-CDF(8).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28600" y="3054096"/>
            <a:ext cx="4160520" cy="1938528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6350">
            <a:solidFill>
              <a:srgbClr val="B0C8D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01752" y="3127248"/>
            <a:ext cx="4005072" cy="310896"/>
          </a:xfrm>
          <a:prstGeom prst="roundRect">
            <a:avLst>
              <a:gd name="adj" fmla="val 17647"/>
            </a:avLst>
          </a:prstGeom>
          <a:solidFill>
            <a:srgbClr val="E06A10"/>
          </a:solidFill>
          <a:ln w="12700">
            <a:solidFill>
              <a:srgbClr val="E06A1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01752" y="3127248"/>
            <a:ext cx="4005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Poisson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Poi(λ)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20040" y="3493008"/>
            <a:ext cx="3950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06A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P(X=k)=λ^k*e^(-λ)/k!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20040" y="3803904"/>
            <a:ext cx="3950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= λ     Variance = λ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20040" y="4059936"/>
            <a:ext cx="395020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06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Business: </a:t>
            </a:r>
            <a:pPr indent="0" marL="0">
              <a:buNone/>
            </a:pPr>
            <a:r>
              <a:rPr lang="en-US" sz="950" i="1" dirty="0">
                <a:solidFill>
                  <a:srgbClr val="0E1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Zenith Bank ATM: avg 2.3 breakdowns/month. P(0 breakdowns)=e^(-2.3)=10%. Schedule maintenance accordingly.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690872" y="3054096"/>
            <a:ext cx="4160520" cy="1938528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6350">
            <a:solidFill>
              <a:srgbClr val="B0C8D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64024" y="3127248"/>
            <a:ext cx="4005072" cy="310896"/>
          </a:xfrm>
          <a:prstGeom prst="roundRect">
            <a:avLst>
              <a:gd name="adj" fmla="val 17647"/>
            </a:avLst>
          </a:prstGeom>
          <a:solidFill>
            <a:srgbClr val="6010C0"/>
          </a:solidFill>
          <a:ln w="12700">
            <a:solidFill>
              <a:srgbClr val="6010C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64024" y="3127248"/>
            <a:ext cx="4005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Geometric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Geo(p)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782312" y="3493008"/>
            <a:ext cx="3950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01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P(X=k)=(1-p)^(k-1)*p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782312" y="3803904"/>
            <a:ext cx="3950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= 1/p     Variance = (1-p)/p²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782312" y="4059936"/>
            <a:ext cx="395020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01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Business: </a:t>
            </a:r>
            <a:pPr indent="0" marL="0">
              <a:buNone/>
            </a:pPr>
            <a:r>
              <a:rPr lang="en-US" sz="950" i="1" dirty="0">
                <a:solidFill>
                  <a:srgbClr val="0E1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Telemarketer: 15% sale probability. E(calls until first sale)=1/0.15=6.7 calls.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56032" y="4937760"/>
            <a:ext cx="8631936" cy="384048"/>
          </a:xfrm>
          <a:prstGeom prst="roundRect">
            <a:avLst>
              <a:gd name="adj" fmla="val 14286"/>
            </a:avLst>
          </a:prstGeom>
          <a:solidFill>
            <a:srgbClr val="FFFBEC"/>
          </a:solidFill>
          <a:ln w="19050">
            <a:solidFill>
              <a:srgbClr val="D4A01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84048" y="4937760"/>
            <a:ext cx="8449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4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guide: 1 binary trial = Bernoulli. N binary trials = Binomial. Count of rare events = Poisson. Trials until first success = Geometric. Use Poisson when n is large and p is small (np = lambda).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8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3200400"/>
            <a:ext cx="3657600" cy="3657600"/>
          </a:xfrm>
          <a:prstGeom prst="ellipse">
            <a:avLst/>
          </a:prstGeom>
          <a:solidFill>
            <a:srgbClr val="D4A010">
              <a:alpha val="12000"/>
            </a:srgbClr>
          </a:solidFill>
          <a:ln w="12700">
            <a:solidFill>
              <a:srgbClr val="D4A01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Continuous Distributions - Normal, Exponential, Log-Normal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160520" cy="1316736"/>
          </a:xfrm>
          <a:prstGeom prst="roundRect">
            <a:avLst>
              <a:gd name="adj" fmla="val 5556"/>
            </a:avLst>
          </a:prstGeom>
          <a:solidFill>
            <a:srgbClr val="0E1728"/>
          </a:solidFill>
          <a:ln w="12700">
            <a:solidFill>
              <a:srgbClr val="14B8C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87552"/>
            <a:ext cx="1325880" cy="256032"/>
          </a:xfrm>
          <a:prstGeom prst="roundRect">
            <a:avLst>
              <a:gd name="adj" fmla="val 14286"/>
            </a:avLst>
          </a:prstGeom>
          <a:solidFill>
            <a:srgbClr val="14B8C8"/>
          </a:solidFill>
          <a:ln w="12700">
            <a:solidFill>
              <a:srgbClr val="14B8C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87552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N(μ,σ²)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755648" y="100584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Mean=μ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633472" y="1005840"/>
            <a:ext cx="1700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B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f(x)=(1/σ√2π)e^(-½((x-μ)/σ)²)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84048" y="1316736"/>
            <a:ext cx="3913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0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Salaries, test scores, production weights, measurement errors. Central Limit Theorem basis.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84048" y="1700784"/>
            <a:ext cx="3913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4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Nigeria: </a:t>
            </a:r>
            <a:pPr indent="0" marL="0">
              <a:buNone/>
            </a:pPr>
            <a:r>
              <a:rPr lang="en-US" sz="850" i="1" dirty="0">
                <a:solidFill>
                  <a:srgbClr val="70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MTN Nigeria salaries: N(N3.8M, N950k²). P(salary&gt;N5M)=P(Z&gt;1.26)=10.3% earn above N5M.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74320" y="2322576"/>
            <a:ext cx="4160520" cy="1316736"/>
          </a:xfrm>
          <a:prstGeom prst="roundRect">
            <a:avLst>
              <a:gd name="adj" fmla="val 5556"/>
            </a:avLst>
          </a:prstGeom>
          <a:solidFill>
            <a:srgbClr val="0E1728"/>
          </a:solidFill>
          <a:ln w="12700">
            <a:solidFill>
              <a:srgbClr val="D4A01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2395728"/>
            <a:ext cx="1325880" cy="256032"/>
          </a:xfrm>
          <a:prstGeom prst="roundRect">
            <a:avLst>
              <a:gd name="adj" fmla="val 14286"/>
            </a:avLst>
          </a:prstGeom>
          <a:solidFill>
            <a:srgbClr val="D4A010"/>
          </a:solidFill>
          <a:ln w="12700">
            <a:solidFill>
              <a:srgbClr val="D4A01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39572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8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Exponential Exp(λ)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755648" y="2414016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Mean=1/λ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633472" y="2414016"/>
            <a:ext cx="1700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4A0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f(x)=λe^(-λx)  for x≥0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84048" y="2724912"/>
            <a:ext cx="3913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0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between events, equipment failure time, customer service wait times. Memoryless property.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84048" y="3108960"/>
            <a:ext cx="3913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4A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Nigeria: </a:t>
            </a:r>
            <a:pPr indent="0" marL="0">
              <a:buNone/>
            </a:pPr>
            <a:r>
              <a:rPr lang="en-US" sz="850" i="1" dirty="0">
                <a:solidFill>
                  <a:srgbClr val="70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Dangote conveyor: λ=0.05/month, mean=20 months. P(failure within 6 months)=25.9%.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74320" y="3730752"/>
            <a:ext cx="4160520" cy="1316736"/>
          </a:xfrm>
          <a:prstGeom prst="roundRect">
            <a:avLst>
              <a:gd name="adj" fmla="val 5556"/>
            </a:avLst>
          </a:prstGeom>
          <a:solidFill>
            <a:srgbClr val="0E1728"/>
          </a:solidFill>
          <a:ln w="12700">
            <a:solidFill>
              <a:srgbClr val="E06A1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3803904"/>
            <a:ext cx="1325880" cy="256032"/>
          </a:xfrm>
          <a:prstGeom prst="roundRect">
            <a:avLst>
              <a:gd name="adj" fmla="val 14286"/>
            </a:avLst>
          </a:prstGeom>
          <a:solidFill>
            <a:srgbClr val="E06A10"/>
          </a:solidFill>
          <a:ln w="12700">
            <a:solidFill>
              <a:srgbClr val="E06A1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803904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Log-Normal LN(μ,σ²)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755648" y="3822192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Mean=e^(μ+σ²/2)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633472" y="3822192"/>
            <a:ext cx="1700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06A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ln(X)~N(μ,σ²)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84048" y="4133088"/>
            <a:ext cx="3913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0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Income, insurance claims, property prices, transaction amounts. Right-skewed, strictly positive.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84048" y="4517136"/>
            <a:ext cx="3913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06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Nigeria: </a:t>
            </a:r>
            <a:pPr indent="0" marL="0">
              <a:buNone/>
            </a:pPr>
            <a:r>
              <a:rPr lang="en-US" sz="850" i="1" dirty="0">
                <a:solidFill>
                  <a:srgbClr val="70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Leadway insurance claims: log-normal. Mean claim=N545k. Heavy right tail from catastrophic accidents.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736592" y="914400"/>
            <a:ext cx="4160520" cy="1316736"/>
          </a:xfrm>
          <a:prstGeom prst="roundRect">
            <a:avLst>
              <a:gd name="adj" fmla="val 5556"/>
            </a:avLst>
          </a:prstGeom>
          <a:solidFill>
            <a:srgbClr val="0E1728"/>
          </a:solidFill>
          <a:ln w="12700">
            <a:solidFill>
              <a:srgbClr val="6010C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28032" y="987552"/>
            <a:ext cx="1325880" cy="256032"/>
          </a:xfrm>
          <a:prstGeom prst="roundRect">
            <a:avLst>
              <a:gd name="adj" fmla="val 14286"/>
            </a:avLst>
          </a:prstGeom>
          <a:solidFill>
            <a:srgbClr val="6010C0"/>
          </a:solidFill>
          <a:ln w="12700">
            <a:solidFill>
              <a:srgbClr val="6010C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28032" y="987552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8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 Beta(α,β)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217920" y="100584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Mean=α/(α+β)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095744" y="1005840"/>
            <a:ext cx="1700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01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Supported on [0,1]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846320" y="1316736"/>
            <a:ext cx="3913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0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Modelling probabilities themselves. Bayesian prior for conversion rates, default rates.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846320" y="1700784"/>
            <a:ext cx="3913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01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Nigeria: </a:t>
            </a:r>
            <a:pPr indent="0" marL="0">
              <a:buNone/>
            </a:pPr>
            <a:r>
              <a:rPr lang="en-US" sz="850" i="1" dirty="0">
                <a:solidFill>
                  <a:srgbClr val="70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Flutterwave conversion: Beta(2,18) prior → after 30/200 conversions → Beta(32,188), E=14.5%.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736592" y="2322576"/>
            <a:ext cx="4160520" cy="1316736"/>
          </a:xfrm>
          <a:prstGeom prst="roundRect">
            <a:avLst>
              <a:gd name="adj" fmla="val 5556"/>
            </a:avLst>
          </a:prstGeom>
          <a:solidFill>
            <a:srgbClr val="0E1728"/>
          </a:solidFill>
          <a:ln w="12700">
            <a:solidFill>
              <a:srgbClr val="287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828032" y="2395728"/>
            <a:ext cx="1325880" cy="256032"/>
          </a:xfrm>
          <a:prstGeom prst="roundRect">
            <a:avLst>
              <a:gd name="adj" fmla="val 14286"/>
            </a:avLst>
          </a:prstGeom>
          <a:solidFill>
            <a:srgbClr val="2878F0"/>
          </a:solidFill>
          <a:ln w="12700">
            <a:solidFill>
              <a:srgbClr val="287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28032" y="239572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Uniform U(a,b)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217920" y="2414016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Mean=(a+b)/2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095744" y="2414016"/>
            <a:ext cx="1700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87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f(x)=1/(b-a)  for a≤x≤b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846320" y="2724912"/>
            <a:ext cx="3913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0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 likelihood over a range. Processing times, random sampling.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4846320" y="3108960"/>
            <a:ext cx="3913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87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Nigeria: </a:t>
            </a:r>
            <a:pPr indent="0" marL="0">
              <a:buNone/>
            </a:pPr>
            <a:r>
              <a:rPr lang="en-US" sz="850" i="1" dirty="0">
                <a:solidFill>
                  <a:srgbClr val="70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processing: U(3,7) days. P(done in 4 days)=(4-3)/(7-3)=25%.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736592" y="3730752"/>
            <a:ext cx="4160520" cy="1316736"/>
          </a:xfrm>
          <a:prstGeom prst="roundRect">
            <a:avLst>
              <a:gd name="adj" fmla="val 5556"/>
            </a:avLst>
          </a:prstGeom>
          <a:solidFill>
            <a:srgbClr val="0E1728"/>
          </a:solidFill>
          <a:ln w="12700">
            <a:solidFill>
              <a:srgbClr val="14C87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828032" y="3803904"/>
            <a:ext cx="1325880" cy="256032"/>
          </a:xfrm>
          <a:prstGeom prst="roundRect">
            <a:avLst>
              <a:gd name="adj" fmla="val 14286"/>
            </a:avLst>
          </a:prstGeom>
          <a:solidFill>
            <a:srgbClr val="14C870"/>
          </a:solidFill>
          <a:ln w="12700">
            <a:solidFill>
              <a:srgbClr val="14C87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28032" y="3803904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Gamma Γ(k,θ)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217920" y="3822192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Mean=kθ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7095744" y="3822192"/>
            <a:ext cx="1700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C8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 until k-th Poisson event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4846320" y="4133088"/>
            <a:ext cx="3913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0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claims, time to r-th failure, sum of exponentials. Insurance and reliability.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4846320" y="4517136"/>
            <a:ext cx="3913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4C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Nigeria: </a:t>
            </a:r>
            <a:pPr indent="0" marL="0">
              <a:buNone/>
            </a:pPr>
            <a:r>
              <a:rPr lang="en-US" sz="850" i="1" dirty="0">
                <a:solidFill>
                  <a:srgbClr val="70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aggregate insurance claims: modelled by Gamma distribution for provisioning reserves.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8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1371600"/>
            <a:ext cx="5029200" cy="5029200"/>
          </a:xfrm>
          <a:prstGeom prst="ellipse">
            <a:avLst/>
          </a:prstGeom>
          <a:solidFill>
            <a:srgbClr val="0A7E8C">
              <a:alpha val="20000"/>
            </a:srgbClr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3200400"/>
            <a:ext cx="3657600" cy="3657600"/>
          </a:xfrm>
          <a:prstGeom prst="ellipse">
            <a:avLst/>
          </a:prstGeom>
          <a:solidFill>
            <a:srgbClr val="D4A010">
              <a:alpha val="12000"/>
            </a:srgbClr>
          </a:solidFill>
          <a:ln w="12700">
            <a:solidFill>
              <a:srgbClr val="D4A01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058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 |  SECTION 05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Value and Decision Theory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48640" y="2670048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Probability-weighted outcomes as the rational basis for business decisions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80D1A"/>
          </a:solidFill>
          <a:ln w="12700">
            <a:solidFill>
              <a:srgbClr val="080D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412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Value in Business Decisions - Three Nigerian Applications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56032" y="1024128"/>
            <a:ext cx="8631936" cy="566928"/>
          </a:xfrm>
          <a:prstGeom prst="roundRect">
            <a:avLst>
              <a:gd name="adj" fmla="val 12903"/>
            </a:avLst>
          </a:prstGeom>
          <a:solidFill>
            <a:srgbClr val="E0F7FA"/>
          </a:solidFill>
          <a:ln w="6350">
            <a:solidFill>
              <a:srgbClr val="B0C8D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84048" y="1042416"/>
            <a:ext cx="8321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Definition: </a:t>
            </a:r>
            <a:pPr indent="0" marL="0">
              <a:buNone/>
            </a:pPr>
            <a:r>
              <a:rPr lang="en-US" sz="1100" dirty="0">
                <a:solidFill>
                  <a:srgbClr val="0E1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E(X) = SUM[x_i * P(X=x_i)]. The probability-weighted average outcome. The rational decision criterion is: choose the action with the HIGHEST expected net value.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1682496"/>
            <a:ext cx="2834640" cy="3383280"/>
          </a:xfrm>
          <a:prstGeom prst="roundRect">
            <a:avLst>
              <a:gd name="adj" fmla="val 2903"/>
            </a:avLst>
          </a:prstGeom>
          <a:solidFill>
            <a:srgbClr val="FFFFFF"/>
          </a:solidFill>
          <a:ln w="6350">
            <a:solidFill>
              <a:srgbClr val="B0C8D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83464" y="1755648"/>
            <a:ext cx="2724912" cy="329184"/>
          </a:xfrm>
          <a:prstGeom prst="roundRect">
            <a:avLst>
              <a:gd name="adj" fmla="val 16667"/>
            </a:avLst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3464" y="1755648"/>
            <a:ext cx="2724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UAC Foods - Product Launch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20040" y="2139696"/>
            <a:ext cx="2633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E1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Strong success (N200M profit, p=0.30)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20040" y="2468880"/>
            <a:ext cx="2633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E1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Moderate success (N80M profit, p=0.45)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20040" y="2798064"/>
            <a:ext cx="2633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E1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Failure (N-50M loss, p=0.25)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0040" y="3145536"/>
            <a:ext cx="2633472" cy="274320"/>
          </a:xfrm>
          <a:prstGeom prst="roundRect">
            <a:avLst>
              <a:gd name="adj" fmla="val 13333"/>
            </a:avLst>
          </a:prstGeom>
          <a:solidFill>
            <a:srgbClr val="EAF6FA"/>
          </a:solidFill>
          <a:ln w="10160">
            <a:solidFill>
              <a:srgbClr val="0A7E8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4904" y="3163824"/>
            <a:ext cx="2523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A7E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 = 200(0.30)+80(0.45)+(-50)(0.25) = 60+36-12.5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20040" y="3474720"/>
            <a:ext cx="2633472" cy="274320"/>
          </a:xfrm>
          <a:prstGeom prst="roundRect">
            <a:avLst>
              <a:gd name="adj" fmla="val 13333"/>
            </a:avLst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3474720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E(Net) = N83.5 million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20040" y="3803904"/>
            <a:ext cx="26334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Decision: </a:t>
            </a:r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Launch. E(Launch) = N83.5M &gt;&gt; E(Don't Launch) = N0.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00400" y="1682496"/>
            <a:ext cx="2834640" cy="3383280"/>
          </a:xfrm>
          <a:prstGeom prst="roundRect">
            <a:avLst>
              <a:gd name="adj" fmla="val 2903"/>
            </a:avLst>
          </a:prstGeom>
          <a:solidFill>
            <a:srgbClr val="FFFFFF"/>
          </a:solidFill>
          <a:ln w="6350">
            <a:solidFill>
              <a:srgbClr val="B0C8D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55264" y="1755648"/>
            <a:ext cx="2724912" cy="329184"/>
          </a:xfrm>
          <a:prstGeom prst="roundRect">
            <a:avLst>
              <a:gd name="adj" fmla="val 16667"/>
            </a:avLst>
          </a:prstGeom>
          <a:solidFill>
            <a:srgbClr val="E06A10"/>
          </a:solidFill>
          <a:ln w="12700">
            <a:solidFill>
              <a:srgbClr val="E06A1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55264" y="1755648"/>
            <a:ext cx="2724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Leadway - Insurance Premium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291840" y="2139696"/>
            <a:ext cx="2633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E1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Expected claim rate: 9.76% (from Total Probability)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291840" y="2468880"/>
            <a:ext cx="2633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E1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Average claim size: N420,000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291840" y="2798064"/>
            <a:ext cx="2633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E1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Operating expenses: N12,000/policy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291840" y="3145536"/>
            <a:ext cx="2633472" cy="274320"/>
          </a:xfrm>
          <a:prstGeom prst="roundRect">
            <a:avLst>
              <a:gd name="adj" fmla="val 13333"/>
            </a:avLst>
          </a:prstGeom>
          <a:solidFill>
            <a:srgbClr val="EAF6FA"/>
          </a:solidFill>
          <a:ln w="10160">
            <a:solidFill>
              <a:srgbClr val="E06A1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46704" y="3163824"/>
            <a:ext cx="2523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A7E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Pure premium = 0.0976 * 420,000 = N41,000. Total = 41,000+12,000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291840" y="3474720"/>
            <a:ext cx="2633472" cy="274320"/>
          </a:xfrm>
          <a:prstGeom prst="roundRect">
            <a:avLst>
              <a:gd name="adj" fmla="val 13333"/>
            </a:avLst>
          </a:prstGeom>
          <a:solidFill>
            <a:srgbClr val="E06A10"/>
          </a:solidFill>
          <a:ln w="12700">
            <a:solidFill>
              <a:srgbClr val="E06A1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91840" y="3474720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premium = N53,000/year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291840" y="3803904"/>
            <a:ext cx="26334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06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Decision: </a:t>
            </a:r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Premiums below N53,000 are unprofitable. Loaded premium with profit = N65,000.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172200" y="1682496"/>
            <a:ext cx="2834640" cy="3383280"/>
          </a:xfrm>
          <a:prstGeom prst="roundRect">
            <a:avLst>
              <a:gd name="adj" fmla="val 2903"/>
            </a:avLst>
          </a:prstGeom>
          <a:solidFill>
            <a:srgbClr val="FFFFFF"/>
          </a:solidFill>
          <a:ln w="6350">
            <a:solidFill>
              <a:srgbClr val="B0C8D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227064" y="1755648"/>
            <a:ext cx="2724912" cy="329184"/>
          </a:xfrm>
          <a:prstGeom prst="roundRect">
            <a:avLst>
              <a:gd name="adj" fmla="val 16667"/>
            </a:avLst>
          </a:prstGeom>
          <a:solidFill>
            <a:srgbClr val="0A8A50"/>
          </a:solidFill>
          <a:ln w="12700">
            <a:solidFill>
              <a:srgbClr val="0A8A5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27064" y="1755648"/>
            <a:ext cx="2724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Flutterwave - Marketing Channel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263640" y="2139696"/>
            <a:ext cx="2633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E1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Digital (Cost N5M): P(Success)=0.45, return N40M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263640" y="2468880"/>
            <a:ext cx="2633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E1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Social (Cost N3M): P(Success)=0.60, return N25M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263640" y="2798064"/>
            <a:ext cx="2633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E1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TV (Cost N15M): P(Success)=0.70, return N60M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263640" y="3145536"/>
            <a:ext cx="2633472" cy="274320"/>
          </a:xfrm>
          <a:prstGeom prst="roundRect">
            <a:avLst>
              <a:gd name="adj" fmla="val 13333"/>
            </a:avLst>
          </a:prstGeom>
          <a:solidFill>
            <a:srgbClr val="EAF6FA"/>
          </a:solidFill>
          <a:ln w="10160">
            <a:solidFill>
              <a:srgbClr val="0A8A5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18504" y="3163824"/>
            <a:ext cx="2523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A7E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Digital EV=40(.45)-5=N13M. Social=25(.60)-3=N12M. TV=60(.70)-15=N27M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6263640" y="3474720"/>
            <a:ext cx="2633472" cy="274320"/>
          </a:xfrm>
          <a:prstGeom prst="roundRect">
            <a:avLst>
              <a:gd name="adj" fmla="val 13333"/>
            </a:avLst>
          </a:prstGeom>
          <a:solidFill>
            <a:srgbClr val="0A8A50"/>
          </a:solidFill>
          <a:ln w="12700">
            <a:solidFill>
              <a:srgbClr val="0A8A5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63640" y="3474720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 campaign: E(Net) = N27M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6263640" y="3803904"/>
            <a:ext cx="26334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8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Decision: </a:t>
            </a:r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Allocate budget to TV campaign despite highest cost (highest EV).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56032" y="5120640"/>
            <a:ext cx="8631936" cy="347472"/>
          </a:xfrm>
          <a:prstGeom prst="roundRect">
            <a:avLst>
              <a:gd name="adj" fmla="val 15789"/>
            </a:avLst>
          </a:prstGeom>
          <a:solidFill>
            <a:srgbClr val="FEF0ED"/>
          </a:solidFill>
          <a:ln w="19050">
            <a:solidFill>
              <a:srgbClr val="E0302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84048" y="5120640"/>
            <a:ext cx="8449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value ignores variance (risk). An investment with EV=N100K but with possible 50% loss is NOT equivalent to a guaranteed N100K for a risk-averse decision-maker. Add standard deviation analysis alongside EV.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8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1371600"/>
            <a:ext cx="5029200" cy="5029200"/>
          </a:xfrm>
          <a:prstGeom prst="ellipse">
            <a:avLst/>
          </a:prstGeom>
          <a:solidFill>
            <a:srgbClr val="0A7E8C">
              <a:alpha val="20000"/>
            </a:srgbClr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3200400"/>
            <a:ext cx="3657600" cy="3657600"/>
          </a:xfrm>
          <a:prstGeom prst="ellipse">
            <a:avLst/>
          </a:prstGeom>
          <a:solidFill>
            <a:srgbClr val="D4A010">
              <a:alpha val="12000"/>
            </a:srgbClr>
          </a:solidFill>
          <a:ln w="12700">
            <a:solidFill>
              <a:srgbClr val="D4A01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058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 |  SECTION 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LLN and Central Limit Theorem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48640" y="2670048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insurance works, why sampling works, and why the normal distribution appears everywhere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80D1A"/>
          </a:solidFill>
          <a:ln w="12700">
            <a:solidFill>
              <a:srgbClr val="080D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412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Law of Large Numbers and Central Limit Theorem - Business Foundations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56032" y="1024128"/>
            <a:ext cx="4160520" cy="2450592"/>
          </a:xfrm>
          <a:prstGeom prst="roundRect">
            <a:avLst>
              <a:gd name="adj" fmla="val 3358"/>
            </a:avLst>
          </a:prstGeom>
          <a:solidFill>
            <a:srgbClr val="FFFFFF"/>
          </a:solidFill>
          <a:ln w="6350">
            <a:solidFill>
              <a:srgbClr val="B0C8D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9184" y="1097280"/>
            <a:ext cx="4005072" cy="329184"/>
          </a:xfrm>
          <a:prstGeom prst="roundRect">
            <a:avLst>
              <a:gd name="adj" fmla="val 16667"/>
            </a:avLst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9184" y="1097280"/>
            <a:ext cx="4005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 of Large Numbers (LLN)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481328"/>
            <a:ext cx="3950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7E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x-bar → μ  as  n → infinity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1828800"/>
            <a:ext cx="39502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1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the number of trials increases, the observed frequency converges to the true probability. With enough observations, averages become predictable even when individual outcomes are not.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2414016"/>
            <a:ext cx="395020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Leadway Insurance: </a:t>
            </a:r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car accidents are unpredictable. But with 200,000 policyholders, the actual claim rate WILL be very close to the expected 9.76%. The LLN is WHY insurance is a viable business model.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681728" y="1024128"/>
            <a:ext cx="4160520" cy="2450592"/>
          </a:xfrm>
          <a:prstGeom prst="roundRect">
            <a:avLst>
              <a:gd name="adj" fmla="val 3358"/>
            </a:avLst>
          </a:prstGeom>
          <a:solidFill>
            <a:srgbClr val="FFFFFF"/>
          </a:solidFill>
          <a:ln w="6350">
            <a:solidFill>
              <a:srgbClr val="B0C8D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097280"/>
            <a:ext cx="4005072" cy="329184"/>
          </a:xfrm>
          <a:prstGeom prst="roundRect">
            <a:avLst>
              <a:gd name="adj" fmla="val 16667"/>
            </a:avLst>
          </a:prstGeom>
          <a:solidFill>
            <a:srgbClr val="D4A010"/>
          </a:solidFill>
          <a:ln w="12700">
            <a:solidFill>
              <a:srgbClr val="D4A01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1097280"/>
            <a:ext cx="4005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Limit Theorem (CLT)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91456" y="1481328"/>
            <a:ext cx="3950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A0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x-bar ~ N(μ, σ²/n)  for large 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791456" y="1828800"/>
            <a:ext cx="39502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1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samples of size n from ANY distribution with mean μ and finite variance σ², the sampling distribution of the mean is approximately normal. Holds for n ≥ 30 in most cases.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791456" y="2414016"/>
            <a:ext cx="395020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4A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GTBank Loan Portfolio: </a:t>
            </a:r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loans, E(loss/loan)=N45k, SD=N120k. Total portfolio loss ~ N(22.5M, 2.68M). P(total loss&gt;N30M) = P(Z&gt;2.80) = 0.3%. This drives CBN capital requirements.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56032" y="3547872"/>
            <a:ext cx="8631936" cy="1481328"/>
          </a:xfrm>
          <a:prstGeom prst="roundRect">
            <a:avLst>
              <a:gd name="adj" fmla="val 4938"/>
            </a:avLst>
          </a:prstGeom>
          <a:solidFill>
            <a:srgbClr val="F0F8FA"/>
          </a:solidFill>
          <a:ln w="6350">
            <a:solidFill>
              <a:srgbClr val="B0C8D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84048" y="3621024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CLT Matters for Business: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47472" y="3931920"/>
            <a:ext cx="256032" cy="256032"/>
          </a:xfrm>
          <a:prstGeom prst="ellipse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" y="39319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76656" y="3931920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Sampling Theory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47472" y="4224528"/>
            <a:ext cx="20848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E1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intervals and hypothesis tests rely on CLT to use Z-table regardless of raw data distribution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523744" y="3931920"/>
            <a:ext cx="256032" cy="256032"/>
          </a:xfrm>
          <a:prstGeom prst="ellipse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23744" y="39319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852928" y="3931920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Risk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523744" y="4224528"/>
            <a:ext cx="20848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E1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loan/insurance losses are approximately normal by CLT even if individual losses are not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700016" y="3931920"/>
            <a:ext cx="256032" cy="256032"/>
          </a:xfrm>
          <a:prstGeom prst="ellipse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00016" y="39319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029200" y="3931920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Control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700016" y="4224528"/>
            <a:ext cx="20848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E1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mean of measurements approaches normality enabling precise control limits (X-bar charts)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876288" y="3931920"/>
            <a:ext cx="256032" cy="256032"/>
          </a:xfrm>
          <a:prstGeom prst="ellipse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76288" y="39319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7205472" y="3931920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Models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876288" y="4224528"/>
            <a:ext cx="20848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E1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on diversified portfolios approach normality by CLT even if individual stocks are non-normal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56032" y="5084064"/>
            <a:ext cx="8631936" cy="384048"/>
          </a:xfrm>
          <a:prstGeom prst="roundRect">
            <a:avLst>
              <a:gd name="adj" fmla="val 14286"/>
            </a:avLst>
          </a:prstGeom>
          <a:solidFill>
            <a:srgbClr val="FEF0ED"/>
          </a:solidFill>
          <a:ln w="19050">
            <a:solidFill>
              <a:srgbClr val="E0302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84048" y="5084064"/>
            <a:ext cx="8449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Gambler's Fallacy: 10 consecutive reds on a roulette wheel does NOT make black 'due'. Each spin is independent. The LLN converges over MANY trials but does NOT guarantee balance over a small sequence.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8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1371600"/>
            <a:ext cx="5029200" cy="5029200"/>
          </a:xfrm>
          <a:prstGeom prst="ellipse">
            <a:avLst/>
          </a:prstGeom>
          <a:solidFill>
            <a:srgbClr val="0A7E8C">
              <a:alpha val="20000"/>
            </a:srgbClr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3200400"/>
            <a:ext cx="3657600" cy="3657600"/>
          </a:xfrm>
          <a:prstGeom prst="ellipse">
            <a:avLst/>
          </a:prstGeom>
          <a:solidFill>
            <a:srgbClr val="D4A010">
              <a:alpha val="12000"/>
            </a:srgbClr>
          </a:solidFill>
          <a:ln w="12700">
            <a:solidFill>
              <a:srgbClr val="D4A01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058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 |  SECTION 07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Markov Chains and Monte Carlo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48640" y="2670048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lifecycle modelling, credit migration, and simulation for risk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0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80D1A"/>
          </a:solidFill>
          <a:ln w="12700">
            <a:solidFill>
              <a:srgbClr val="080D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412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Markov Chains - Customer Lifecycle and Credit Migration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56032" y="1024128"/>
            <a:ext cx="4160520" cy="4041648"/>
          </a:xfrm>
          <a:prstGeom prst="roundRect">
            <a:avLst>
              <a:gd name="adj" fmla="val 2036"/>
            </a:avLst>
          </a:prstGeom>
          <a:solidFill>
            <a:srgbClr val="FFFFFF"/>
          </a:solidFill>
          <a:ln w="6350">
            <a:solidFill>
              <a:srgbClr val="B0C8D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097280"/>
            <a:ext cx="3950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MTN Nigeria - Customer State Transitions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1463040" cy="457200"/>
          </a:xfrm>
          <a:prstGeom prst="roundRect">
            <a:avLst>
              <a:gd name="adj" fmla="val 14000"/>
            </a:avLst>
          </a:prstGeom>
          <a:solidFill>
            <a:srgbClr val="0A8A50"/>
          </a:solidFill>
          <a:ln w="12700">
            <a:solidFill>
              <a:srgbClr val="0A8A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630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651760"/>
            <a:ext cx="1463040" cy="457200"/>
          </a:xfrm>
          <a:prstGeom prst="roundRect">
            <a:avLst>
              <a:gd name="adj" fmla="val 14000"/>
            </a:avLst>
          </a:prstGeom>
          <a:solidFill>
            <a:srgbClr val="E06A10"/>
          </a:solidFill>
          <a:ln w="12700">
            <a:solidFill>
              <a:srgbClr val="E06A1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6517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DORMANT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840480"/>
            <a:ext cx="1463040" cy="457200"/>
          </a:xfrm>
          <a:prstGeom prst="roundRect">
            <a:avLst>
              <a:gd name="adj" fmla="val 14000"/>
            </a:avLst>
          </a:prstGeom>
          <a:solidFill>
            <a:srgbClr val="E03020"/>
          </a:solidFill>
          <a:ln w="12700">
            <a:solidFill>
              <a:srgbClr val="E0302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840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CHURNED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176272" y="146304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 Matrix (monthly):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176272" y="1737360"/>
            <a:ext cx="932688" cy="274320"/>
          </a:xfrm>
          <a:prstGeom prst="rect">
            <a:avLst/>
          </a:prstGeom>
          <a:solidFill>
            <a:srgbClr val="080D1A"/>
          </a:solidFill>
          <a:ln w="12700">
            <a:solidFill>
              <a:srgbClr val="080D1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176272" y="1737360"/>
            <a:ext cx="93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From\To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108960" y="1737360"/>
            <a:ext cx="713232" cy="274320"/>
          </a:xfrm>
          <a:prstGeom prst="rect">
            <a:avLst/>
          </a:prstGeom>
          <a:solidFill>
            <a:srgbClr val="080D1A"/>
          </a:solidFill>
          <a:ln w="12700">
            <a:solidFill>
              <a:srgbClr val="080D1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08960" y="1737360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822192" y="1737360"/>
            <a:ext cx="713232" cy="274320"/>
          </a:xfrm>
          <a:prstGeom prst="rect">
            <a:avLst/>
          </a:prstGeom>
          <a:solidFill>
            <a:srgbClr val="080D1A"/>
          </a:solidFill>
          <a:ln w="12700">
            <a:solidFill>
              <a:srgbClr val="080D1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22192" y="1737360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Dormant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535424" y="1737360"/>
            <a:ext cx="713232" cy="274320"/>
          </a:xfrm>
          <a:prstGeom prst="rect">
            <a:avLst/>
          </a:prstGeom>
          <a:solidFill>
            <a:srgbClr val="080D1A"/>
          </a:solidFill>
          <a:ln w="12700">
            <a:solidFill>
              <a:srgbClr val="080D1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35424" y="1737360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Churned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176272" y="2011680"/>
            <a:ext cx="932688" cy="274320"/>
          </a:xfrm>
          <a:prstGeom prst="rect">
            <a:avLst/>
          </a:prstGeom>
          <a:solidFill>
            <a:srgbClr val="EAF6FA"/>
          </a:solidFill>
          <a:ln w="6350">
            <a:solidFill>
              <a:srgbClr val="A0C8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176272" y="2011680"/>
            <a:ext cx="93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E1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108960" y="2011680"/>
            <a:ext cx="713232" cy="274320"/>
          </a:xfrm>
          <a:prstGeom prst="rect">
            <a:avLst/>
          </a:prstGeom>
          <a:solidFill>
            <a:srgbClr val="C0F0FF"/>
          </a:solidFill>
          <a:ln w="6350">
            <a:solidFill>
              <a:srgbClr val="A0C8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108960" y="2011680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0.88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822192" y="2011680"/>
            <a:ext cx="713232" cy="274320"/>
          </a:xfrm>
          <a:prstGeom prst="rect">
            <a:avLst/>
          </a:prstGeom>
          <a:solidFill>
            <a:srgbClr val="C0F0FF"/>
          </a:solidFill>
          <a:ln w="6350">
            <a:solidFill>
              <a:srgbClr val="A0C8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22192" y="2011680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0.10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535424" y="2011680"/>
            <a:ext cx="713232" cy="274320"/>
          </a:xfrm>
          <a:prstGeom prst="rect">
            <a:avLst/>
          </a:prstGeom>
          <a:solidFill>
            <a:srgbClr val="EAF6FA"/>
          </a:solidFill>
          <a:ln w="6350">
            <a:solidFill>
              <a:srgbClr val="A0C8D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35424" y="2011680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0.02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176272" y="2286000"/>
            <a:ext cx="932688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A0C8D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176272" y="2286000"/>
            <a:ext cx="93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E1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Dormant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108960" y="2286000"/>
            <a:ext cx="71323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A0C8D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108960" y="2286000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0.25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822192" y="2286000"/>
            <a:ext cx="71323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A0C8D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822192" y="2286000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0.55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535424" y="2286000"/>
            <a:ext cx="713232" cy="274320"/>
          </a:xfrm>
          <a:prstGeom prst="rect">
            <a:avLst/>
          </a:prstGeom>
          <a:solidFill>
            <a:srgbClr val="C0F0FF"/>
          </a:solidFill>
          <a:ln w="6350">
            <a:solidFill>
              <a:srgbClr val="A0C8D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35424" y="2286000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0.20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2176272" y="2560320"/>
            <a:ext cx="932688" cy="274320"/>
          </a:xfrm>
          <a:prstGeom prst="rect">
            <a:avLst/>
          </a:prstGeom>
          <a:solidFill>
            <a:srgbClr val="EAF6FA"/>
          </a:solidFill>
          <a:ln w="6350">
            <a:solidFill>
              <a:srgbClr val="A0C8D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176272" y="2560320"/>
            <a:ext cx="93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E1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Churned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3108960" y="2560320"/>
            <a:ext cx="713232" cy="274320"/>
          </a:xfrm>
          <a:prstGeom prst="rect">
            <a:avLst/>
          </a:prstGeom>
          <a:solidFill>
            <a:srgbClr val="EAF6FA"/>
          </a:solidFill>
          <a:ln w="6350">
            <a:solidFill>
              <a:srgbClr val="A0C8D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108960" y="2560320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0.05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3822192" y="2560320"/>
            <a:ext cx="713232" cy="274320"/>
          </a:xfrm>
          <a:prstGeom prst="rect">
            <a:avLst/>
          </a:prstGeom>
          <a:solidFill>
            <a:srgbClr val="EAF6FA"/>
          </a:solidFill>
          <a:ln w="6350">
            <a:solidFill>
              <a:srgbClr val="A0C8D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822192" y="2560320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4535424" y="2560320"/>
            <a:ext cx="713232" cy="274320"/>
          </a:xfrm>
          <a:prstGeom prst="rect">
            <a:avLst/>
          </a:prstGeom>
          <a:solidFill>
            <a:srgbClr val="C0F0FF"/>
          </a:solidFill>
          <a:ln w="6350">
            <a:solidFill>
              <a:srgbClr val="A0C8D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35424" y="2560320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0.95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365760" y="3035808"/>
            <a:ext cx="3950208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E1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E1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 currently Active customer has 88% probability of staying Active next month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E1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 Dormant customer has 20% chance of churning THIS month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E1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Churned is near-absorbing: 95% stay churned (only 5% return)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E1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use: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E1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50,000 Dormant customers x 0.20 = 10,000 expected to churn next month. Cost to prevent: N500 offer. Value of retained customer: N18,000. Intervention ROI = 36x if 34% retention achieved.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681728" y="1024128"/>
            <a:ext cx="4160520" cy="4041648"/>
          </a:xfrm>
          <a:prstGeom prst="roundRect">
            <a:avLst>
              <a:gd name="adj" fmla="val 2036"/>
            </a:avLst>
          </a:prstGeom>
          <a:solidFill>
            <a:srgbClr val="FFFFFF"/>
          </a:solidFill>
          <a:ln w="6350">
            <a:solidFill>
              <a:srgbClr val="B0C8D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4791456" y="1097280"/>
            <a:ext cx="3950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6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Rating Migration - Bank Loan Portfolio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4791456" y="1389888"/>
            <a:ext cx="640080" cy="274320"/>
          </a:xfrm>
          <a:prstGeom prst="rect">
            <a:avLst/>
          </a:prstGeom>
          <a:solidFill>
            <a:srgbClr val="080D1A"/>
          </a:solidFill>
          <a:ln w="12700">
            <a:solidFill>
              <a:srgbClr val="080D1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91456" y="13898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5431536" y="1389888"/>
            <a:ext cx="658368" cy="274320"/>
          </a:xfrm>
          <a:prstGeom prst="rect">
            <a:avLst/>
          </a:prstGeom>
          <a:solidFill>
            <a:srgbClr val="080D1A"/>
          </a:solidFill>
          <a:ln w="12700">
            <a:solidFill>
              <a:srgbClr val="080D1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431536" y="1389888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AAA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6089904" y="1389888"/>
            <a:ext cx="658368" cy="274320"/>
          </a:xfrm>
          <a:prstGeom prst="rect">
            <a:avLst/>
          </a:prstGeom>
          <a:solidFill>
            <a:srgbClr val="080D1A"/>
          </a:solidFill>
          <a:ln w="12700">
            <a:solidFill>
              <a:srgbClr val="080D1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089904" y="1389888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6748272" y="1389888"/>
            <a:ext cx="658368" cy="274320"/>
          </a:xfrm>
          <a:prstGeom prst="rect">
            <a:avLst/>
          </a:prstGeom>
          <a:solidFill>
            <a:srgbClr val="080D1A"/>
          </a:solidFill>
          <a:ln w="12700">
            <a:solidFill>
              <a:srgbClr val="080D1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748272" y="1389888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7406640" y="1389888"/>
            <a:ext cx="658368" cy="274320"/>
          </a:xfrm>
          <a:prstGeom prst="rect">
            <a:avLst/>
          </a:prstGeom>
          <a:solidFill>
            <a:srgbClr val="080D1A"/>
          </a:solidFill>
          <a:ln w="12700">
            <a:solidFill>
              <a:srgbClr val="080D1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406640" y="1389888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BBB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8065008" y="1389888"/>
            <a:ext cx="658368" cy="274320"/>
          </a:xfrm>
          <a:prstGeom prst="rect">
            <a:avLst/>
          </a:prstGeom>
          <a:solidFill>
            <a:srgbClr val="080D1A"/>
          </a:solidFill>
          <a:ln w="12700">
            <a:solidFill>
              <a:srgbClr val="080D1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065008" y="1389888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4791456" y="1664208"/>
            <a:ext cx="640080" cy="274320"/>
          </a:xfrm>
          <a:prstGeom prst="rect">
            <a:avLst/>
          </a:prstGeom>
          <a:solidFill>
            <a:srgbClr val="EAF6FA"/>
          </a:solidFill>
          <a:ln w="6350">
            <a:solidFill>
              <a:srgbClr val="A0C8D8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791456" y="166420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E1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AAA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5431536" y="1664208"/>
            <a:ext cx="658368" cy="274320"/>
          </a:xfrm>
          <a:prstGeom prst="rect">
            <a:avLst/>
          </a:prstGeom>
          <a:solidFill>
            <a:srgbClr val="C0F0FF"/>
          </a:solidFill>
          <a:ln w="6350">
            <a:solidFill>
              <a:srgbClr val="A0C8D8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431536" y="1664208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0.92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6089904" y="1664208"/>
            <a:ext cx="658368" cy="274320"/>
          </a:xfrm>
          <a:prstGeom prst="rect">
            <a:avLst/>
          </a:prstGeom>
          <a:solidFill>
            <a:srgbClr val="EAF6FA"/>
          </a:solidFill>
          <a:ln w="6350">
            <a:solidFill>
              <a:srgbClr val="A0C8D8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089904" y="1664208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0.07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6748272" y="1664208"/>
            <a:ext cx="658368" cy="274320"/>
          </a:xfrm>
          <a:prstGeom prst="rect">
            <a:avLst/>
          </a:prstGeom>
          <a:solidFill>
            <a:srgbClr val="EAF6FA"/>
          </a:solidFill>
          <a:ln w="6350">
            <a:solidFill>
              <a:srgbClr val="A0C8D8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748272" y="1664208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0.01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7406640" y="1664208"/>
            <a:ext cx="658368" cy="274320"/>
          </a:xfrm>
          <a:prstGeom prst="rect">
            <a:avLst/>
          </a:prstGeom>
          <a:solidFill>
            <a:srgbClr val="EAF6FA"/>
          </a:solidFill>
          <a:ln w="6350">
            <a:solidFill>
              <a:srgbClr val="A0C8D8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406640" y="1664208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8065008" y="1664208"/>
            <a:ext cx="658368" cy="274320"/>
          </a:xfrm>
          <a:prstGeom prst="rect">
            <a:avLst/>
          </a:prstGeom>
          <a:solidFill>
            <a:srgbClr val="EAF6FA"/>
          </a:solidFill>
          <a:ln w="6350">
            <a:solidFill>
              <a:srgbClr val="A0C8D8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8065008" y="1664208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4791456" y="1938528"/>
            <a:ext cx="6400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A0C8D8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791456" y="193852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E1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5431536" y="1938528"/>
            <a:ext cx="658368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A0C8D8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5431536" y="1938528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0.02</a:t>
            </a:r>
            <a:endParaRPr lang="en-US" sz="850" dirty="0"/>
          </a:p>
        </p:txBody>
      </p:sp>
      <p:sp>
        <p:nvSpPr>
          <p:cNvPr id="76" name="Shape 74"/>
          <p:cNvSpPr/>
          <p:nvPr/>
        </p:nvSpPr>
        <p:spPr>
          <a:xfrm>
            <a:off x="6089904" y="1938528"/>
            <a:ext cx="658368" cy="274320"/>
          </a:xfrm>
          <a:prstGeom prst="rect">
            <a:avLst/>
          </a:prstGeom>
          <a:solidFill>
            <a:srgbClr val="C0F0FF"/>
          </a:solidFill>
          <a:ln w="6350">
            <a:solidFill>
              <a:srgbClr val="A0C8D8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6089904" y="1938528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0.91</a:t>
            </a:r>
            <a:endParaRPr lang="en-US" sz="850" dirty="0"/>
          </a:p>
        </p:txBody>
      </p:sp>
      <p:sp>
        <p:nvSpPr>
          <p:cNvPr id="78" name="Shape 76"/>
          <p:cNvSpPr/>
          <p:nvPr/>
        </p:nvSpPr>
        <p:spPr>
          <a:xfrm>
            <a:off x="6748272" y="1938528"/>
            <a:ext cx="658368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A0C8D8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6748272" y="1938528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0.06</a:t>
            </a:r>
            <a:endParaRPr lang="en-US" sz="850" dirty="0"/>
          </a:p>
        </p:txBody>
      </p:sp>
      <p:sp>
        <p:nvSpPr>
          <p:cNvPr id="80" name="Shape 78"/>
          <p:cNvSpPr/>
          <p:nvPr/>
        </p:nvSpPr>
        <p:spPr>
          <a:xfrm>
            <a:off x="7406640" y="1938528"/>
            <a:ext cx="658368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A0C8D8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7406640" y="1938528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0.01</a:t>
            </a:r>
            <a:endParaRPr lang="en-US" sz="850" dirty="0"/>
          </a:p>
        </p:txBody>
      </p:sp>
      <p:sp>
        <p:nvSpPr>
          <p:cNvPr id="82" name="Shape 80"/>
          <p:cNvSpPr/>
          <p:nvPr/>
        </p:nvSpPr>
        <p:spPr>
          <a:xfrm>
            <a:off x="8065008" y="1938528"/>
            <a:ext cx="658368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A0C8D8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8065008" y="1938528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</a:t>
            </a:r>
            <a:endParaRPr lang="en-US" sz="850" dirty="0"/>
          </a:p>
        </p:txBody>
      </p:sp>
      <p:sp>
        <p:nvSpPr>
          <p:cNvPr id="84" name="Shape 82"/>
          <p:cNvSpPr/>
          <p:nvPr/>
        </p:nvSpPr>
        <p:spPr>
          <a:xfrm>
            <a:off x="4791456" y="2212848"/>
            <a:ext cx="640080" cy="274320"/>
          </a:xfrm>
          <a:prstGeom prst="rect">
            <a:avLst/>
          </a:prstGeom>
          <a:solidFill>
            <a:srgbClr val="EAF6FA"/>
          </a:solidFill>
          <a:ln w="6350">
            <a:solidFill>
              <a:srgbClr val="A0C8D8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4791456" y="22128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E1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850" dirty="0"/>
          </a:p>
        </p:txBody>
      </p:sp>
      <p:sp>
        <p:nvSpPr>
          <p:cNvPr id="86" name="Shape 84"/>
          <p:cNvSpPr/>
          <p:nvPr/>
        </p:nvSpPr>
        <p:spPr>
          <a:xfrm>
            <a:off x="5431536" y="2212848"/>
            <a:ext cx="658368" cy="274320"/>
          </a:xfrm>
          <a:prstGeom prst="rect">
            <a:avLst/>
          </a:prstGeom>
          <a:solidFill>
            <a:srgbClr val="EAF6FA"/>
          </a:solidFill>
          <a:ln w="6350">
            <a:solidFill>
              <a:srgbClr val="A0C8D8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5431536" y="2212848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</a:t>
            </a:r>
            <a:endParaRPr lang="en-US" sz="850" dirty="0"/>
          </a:p>
        </p:txBody>
      </p:sp>
      <p:sp>
        <p:nvSpPr>
          <p:cNvPr id="88" name="Shape 86"/>
          <p:cNvSpPr/>
          <p:nvPr/>
        </p:nvSpPr>
        <p:spPr>
          <a:xfrm>
            <a:off x="6089904" y="2212848"/>
            <a:ext cx="658368" cy="274320"/>
          </a:xfrm>
          <a:prstGeom prst="rect">
            <a:avLst/>
          </a:prstGeom>
          <a:solidFill>
            <a:srgbClr val="EAF6FA"/>
          </a:solidFill>
          <a:ln w="6350">
            <a:solidFill>
              <a:srgbClr val="A0C8D8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6089904" y="2212848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0.03</a:t>
            </a:r>
            <a:endParaRPr lang="en-US" sz="850" dirty="0"/>
          </a:p>
        </p:txBody>
      </p:sp>
      <p:sp>
        <p:nvSpPr>
          <p:cNvPr id="90" name="Shape 88"/>
          <p:cNvSpPr/>
          <p:nvPr/>
        </p:nvSpPr>
        <p:spPr>
          <a:xfrm>
            <a:off x="6748272" y="2212848"/>
            <a:ext cx="658368" cy="274320"/>
          </a:xfrm>
          <a:prstGeom prst="rect">
            <a:avLst/>
          </a:prstGeom>
          <a:solidFill>
            <a:srgbClr val="C0F0FF"/>
          </a:solidFill>
          <a:ln w="6350">
            <a:solidFill>
              <a:srgbClr val="A0C8D8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6748272" y="2212848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0.88</a:t>
            </a:r>
            <a:endParaRPr lang="en-US" sz="850" dirty="0"/>
          </a:p>
        </p:txBody>
      </p:sp>
      <p:sp>
        <p:nvSpPr>
          <p:cNvPr id="92" name="Shape 90"/>
          <p:cNvSpPr/>
          <p:nvPr/>
        </p:nvSpPr>
        <p:spPr>
          <a:xfrm>
            <a:off x="7406640" y="2212848"/>
            <a:ext cx="658368" cy="274320"/>
          </a:xfrm>
          <a:prstGeom prst="rect">
            <a:avLst/>
          </a:prstGeom>
          <a:solidFill>
            <a:srgbClr val="EAF6FA"/>
          </a:solidFill>
          <a:ln w="6350">
            <a:solidFill>
              <a:srgbClr val="A0C8D8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7406640" y="2212848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0.08</a:t>
            </a:r>
            <a:endParaRPr lang="en-US" sz="850" dirty="0"/>
          </a:p>
        </p:txBody>
      </p:sp>
      <p:sp>
        <p:nvSpPr>
          <p:cNvPr id="94" name="Shape 92"/>
          <p:cNvSpPr/>
          <p:nvPr/>
        </p:nvSpPr>
        <p:spPr>
          <a:xfrm>
            <a:off x="8065008" y="2212848"/>
            <a:ext cx="658368" cy="274320"/>
          </a:xfrm>
          <a:prstGeom prst="rect">
            <a:avLst/>
          </a:prstGeom>
          <a:solidFill>
            <a:srgbClr val="EAF6FA"/>
          </a:solidFill>
          <a:ln w="6350">
            <a:solidFill>
              <a:srgbClr val="A0C8D8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8065008" y="2212848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0.01</a:t>
            </a:r>
            <a:endParaRPr lang="en-US" sz="850" dirty="0"/>
          </a:p>
        </p:txBody>
      </p:sp>
      <p:sp>
        <p:nvSpPr>
          <p:cNvPr id="96" name="Shape 94"/>
          <p:cNvSpPr/>
          <p:nvPr/>
        </p:nvSpPr>
        <p:spPr>
          <a:xfrm>
            <a:off x="4791456" y="2487168"/>
            <a:ext cx="6400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A0C8D8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4791456" y="248716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E1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BBB</a:t>
            </a:r>
            <a:endParaRPr lang="en-US" sz="850" dirty="0"/>
          </a:p>
        </p:txBody>
      </p:sp>
      <p:sp>
        <p:nvSpPr>
          <p:cNvPr id="98" name="Shape 96"/>
          <p:cNvSpPr/>
          <p:nvPr/>
        </p:nvSpPr>
        <p:spPr>
          <a:xfrm>
            <a:off x="5431536" y="2487168"/>
            <a:ext cx="658368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A0C8D8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5431536" y="2487168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</a:t>
            </a:r>
            <a:endParaRPr lang="en-US" sz="850" dirty="0"/>
          </a:p>
        </p:txBody>
      </p:sp>
      <p:sp>
        <p:nvSpPr>
          <p:cNvPr id="100" name="Shape 98"/>
          <p:cNvSpPr/>
          <p:nvPr/>
        </p:nvSpPr>
        <p:spPr>
          <a:xfrm>
            <a:off x="6089904" y="2487168"/>
            <a:ext cx="658368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A0C8D8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6089904" y="2487168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0.01</a:t>
            </a:r>
            <a:endParaRPr lang="en-US" sz="850" dirty="0"/>
          </a:p>
        </p:txBody>
      </p:sp>
      <p:sp>
        <p:nvSpPr>
          <p:cNvPr id="102" name="Shape 100"/>
          <p:cNvSpPr/>
          <p:nvPr/>
        </p:nvSpPr>
        <p:spPr>
          <a:xfrm>
            <a:off x="6748272" y="2487168"/>
            <a:ext cx="658368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A0C8D8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6748272" y="2487168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0.05</a:t>
            </a:r>
            <a:endParaRPr lang="en-US" sz="850" dirty="0"/>
          </a:p>
        </p:txBody>
      </p:sp>
      <p:sp>
        <p:nvSpPr>
          <p:cNvPr id="104" name="Shape 102"/>
          <p:cNvSpPr/>
          <p:nvPr/>
        </p:nvSpPr>
        <p:spPr>
          <a:xfrm>
            <a:off x="7406640" y="2487168"/>
            <a:ext cx="658368" cy="274320"/>
          </a:xfrm>
          <a:prstGeom prst="rect">
            <a:avLst/>
          </a:prstGeom>
          <a:solidFill>
            <a:srgbClr val="C0F0FF"/>
          </a:solidFill>
          <a:ln w="6350">
            <a:solidFill>
              <a:srgbClr val="A0C8D8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7406640" y="2487168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0.83</a:t>
            </a:r>
            <a:endParaRPr lang="en-US" sz="850" dirty="0"/>
          </a:p>
        </p:txBody>
      </p:sp>
      <p:sp>
        <p:nvSpPr>
          <p:cNvPr id="106" name="Shape 104"/>
          <p:cNvSpPr/>
          <p:nvPr/>
        </p:nvSpPr>
        <p:spPr>
          <a:xfrm>
            <a:off x="8065008" y="2487168"/>
            <a:ext cx="658368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A0C8D8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8065008" y="2487168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0.11</a:t>
            </a:r>
            <a:endParaRPr lang="en-US" sz="850" dirty="0"/>
          </a:p>
        </p:txBody>
      </p:sp>
      <p:sp>
        <p:nvSpPr>
          <p:cNvPr id="108" name="Shape 106"/>
          <p:cNvSpPr/>
          <p:nvPr/>
        </p:nvSpPr>
        <p:spPr>
          <a:xfrm>
            <a:off x="4791456" y="2761488"/>
            <a:ext cx="640080" cy="274320"/>
          </a:xfrm>
          <a:prstGeom prst="rect">
            <a:avLst/>
          </a:prstGeom>
          <a:solidFill>
            <a:srgbClr val="EAF6FA"/>
          </a:solidFill>
          <a:ln w="6350">
            <a:solidFill>
              <a:srgbClr val="A0C8D8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4791456" y="27614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E1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</a:t>
            </a:r>
            <a:endParaRPr lang="en-US" sz="850" dirty="0"/>
          </a:p>
        </p:txBody>
      </p:sp>
      <p:sp>
        <p:nvSpPr>
          <p:cNvPr id="110" name="Shape 108"/>
          <p:cNvSpPr/>
          <p:nvPr/>
        </p:nvSpPr>
        <p:spPr>
          <a:xfrm>
            <a:off x="5431536" y="2761488"/>
            <a:ext cx="658368" cy="274320"/>
          </a:xfrm>
          <a:prstGeom prst="rect">
            <a:avLst/>
          </a:prstGeom>
          <a:solidFill>
            <a:srgbClr val="EAF6FA"/>
          </a:solidFill>
          <a:ln w="6350">
            <a:solidFill>
              <a:srgbClr val="A0C8D8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5431536" y="2761488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</a:t>
            </a:r>
            <a:endParaRPr lang="en-US" sz="850" dirty="0"/>
          </a:p>
        </p:txBody>
      </p:sp>
      <p:sp>
        <p:nvSpPr>
          <p:cNvPr id="112" name="Shape 110"/>
          <p:cNvSpPr/>
          <p:nvPr/>
        </p:nvSpPr>
        <p:spPr>
          <a:xfrm>
            <a:off x="6089904" y="2761488"/>
            <a:ext cx="658368" cy="274320"/>
          </a:xfrm>
          <a:prstGeom prst="rect">
            <a:avLst/>
          </a:prstGeom>
          <a:solidFill>
            <a:srgbClr val="EAF6FA"/>
          </a:solidFill>
          <a:ln w="6350">
            <a:solidFill>
              <a:srgbClr val="A0C8D8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6089904" y="2761488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</a:t>
            </a:r>
            <a:endParaRPr lang="en-US" sz="850" dirty="0"/>
          </a:p>
        </p:txBody>
      </p:sp>
      <p:sp>
        <p:nvSpPr>
          <p:cNvPr id="114" name="Shape 112"/>
          <p:cNvSpPr/>
          <p:nvPr/>
        </p:nvSpPr>
        <p:spPr>
          <a:xfrm>
            <a:off x="6748272" y="2761488"/>
            <a:ext cx="658368" cy="274320"/>
          </a:xfrm>
          <a:prstGeom prst="rect">
            <a:avLst/>
          </a:prstGeom>
          <a:solidFill>
            <a:srgbClr val="EAF6FA"/>
          </a:solidFill>
          <a:ln w="6350">
            <a:solidFill>
              <a:srgbClr val="A0C8D8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6748272" y="2761488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</a:t>
            </a:r>
            <a:endParaRPr lang="en-US" sz="850" dirty="0"/>
          </a:p>
        </p:txBody>
      </p:sp>
      <p:sp>
        <p:nvSpPr>
          <p:cNvPr id="116" name="Shape 114"/>
          <p:cNvSpPr/>
          <p:nvPr/>
        </p:nvSpPr>
        <p:spPr>
          <a:xfrm>
            <a:off x="7406640" y="2761488"/>
            <a:ext cx="658368" cy="274320"/>
          </a:xfrm>
          <a:prstGeom prst="rect">
            <a:avLst/>
          </a:prstGeom>
          <a:solidFill>
            <a:srgbClr val="EAF6FA"/>
          </a:solidFill>
          <a:ln w="6350">
            <a:solidFill>
              <a:srgbClr val="A0C8D8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7406640" y="2761488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</a:t>
            </a:r>
            <a:endParaRPr lang="en-US" sz="850" dirty="0"/>
          </a:p>
        </p:txBody>
      </p:sp>
      <p:sp>
        <p:nvSpPr>
          <p:cNvPr id="118" name="Shape 116"/>
          <p:cNvSpPr/>
          <p:nvPr/>
        </p:nvSpPr>
        <p:spPr>
          <a:xfrm>
            <a:off x="8065008" y="2761488"/>
            <a:ext cx="658368" cy="274320"/>
          </a:xfrm>
          <a:prstGeom prst="rect">
            <a:avLst/>
          </a:prstGeom>
          <a:solidFill>
            <a:srgbClr val="C0F0FF"/>
          </a:solidFill>
          <a:ln w="6350">
            <a:solidFill>
              <a:srgbClr val="A0C8D8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8065008" y="2761488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850" dirty="0"/>
          </a:p>
        </p:txBody>
      </p:sp>
      <p:sp>
        <p:nvSpPr>
          <p:cNvPr id="120" name="Text 118"/>
          <p:cNvSpPr/>
          <p:nvPr/>
        </p:nvSpPr>
        <p:spPr>
          <a:xfrm>
            <a:off x="4791456" y="3291840"/>
            <a:ext cx="39502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E1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is an ABSORBING state (once defaulted, stays defaulted in this 1-year model). Banks multiply this matrix by itself to get 5-year migration probabilities. P(BBB→Default in 5 years) requires P^5 computation.</a:t>
            </a:r>
            <a:endParaRPr lang="en-US" sz="950" dirty="0"/>
          </a:p>
        </p:txBody>
      </p:sp>
      <p:sp>
        <p:nvSpPr>
          <p:cNvPr id="121" name="Text 119"/>
          <p:cNvSpPr/>
          <p:nvPr/>
        </p:nvSpPr>
        <p:spPr>
          <a:xfrm>
            <a:off x="4791456" y="3840480"/>
            <a:ext cx="395020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E1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IFRS 9 Application: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E1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1: Minimal credit risk change from origination. 12-month ECL provision.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E1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2: Significant increase in credit risk. Lifetime ECL provision.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E1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3: Credit-impaired. Full lifetime ECL.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E1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Markov migration probabilities determine which Stage each loan belongs to and the Expected Credit Loss (ECL) provision amount.</a:t>
            </a:r>
            <a:endParaRPr lang="en-US" sz="900" dirty="0"/>
          </a:p>
        </p:txBody>
      </p:sp>
      <p:sp>
        <p:nvSpPr>
          <p:cNvPr id="122" name="Shape 120"/>
          <p:cNvSpPr/>
          <p:nvPr/>
        </p:nvSpPr>
        <p:spPr>
          <a:xfrm>
            <a:off x="256032" y="5120640"/>
            <a:ext cx="8631936" cy="347472"/>
          </a:xfrm>
          <a:prstGeom prst="roundRect">
            <a:avLst>
              <a:gd name="adj" fmla="val 15789"/>
            </a:avLst>
          </a:prstGeom>
          <a:solidFill>
            <a:srgbClr val="FFFBEC"/>
          </a:solidFill>
          <a:ln w="19050">
            <a:solidFill>
              <a:srgbClr val="D4A010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384048" y="5120640"/>
            <a:ext cx="8449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4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Steady-state analysis: Multiply the transition matrix by itself repeatedly until it converges. The steady-state gives long-run proportions in each state. For MTN: long-run 72% Active, 18% Dormant, 10% Churned.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8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0A7E8C">
              <a:alpha val="16000"/>
            </a:srgbClr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Monte Carlo Simulation - Full Risk Profiles from Probability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8595360" cy="621792"/>
          </a:xfrm>
          <a:prstGeom prst="roundRect">
            <a:avLst>
              <a:gd name="adj" fmla="val 11765"/>
            </a:avLst>
          </a:prstGeom>
          <a:solidFill>
            <a:srgbClr val="0E1728"/>
          </a:solidFill>
          <a:ln w="12700">
            <a:solidFill>
              <a:srgbClr val="14B8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02336" y="969264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 Carlo: </a:t>
            </a:r>
            <a:pPr indent="0" marL="0">
              <a:buNone/>
            </a:pPr>
            <a:r>
              <a:rPr lang="en-US" sz="1050" dirty="0">
                <a:solidFill>
                  <a:srgbClr val="9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computing a single expected value, randomly sample from all uncertain input distributions 10,000-100,000 times to build the FULL DISTRIBUTION of possible outcomes. Reveals tail risks that EV calculations miss.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74320" y="1609344"/>
            <a:ext cx="2816352" cy="3438144"/>
          </a:xfrm>
          <a:prstGeom prst="roundRect">
            <a:avLst>
              <a:gd name="adj" fmla="val 3247"/>
            </a:avLst>
          </a:prstGeom>
          <a:solidFill>
            <a:srgbClr val="0E1728"/>
          </a:solidFill>
          <a:ln w="15240">
            <a:solidFill>
              <a:srgbClr val="14B8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682496"/>
            <a:ext cx="2633472" cy="292608"/>
          </a:xfrm>
          <a:prstGeom prst="roundRect">
            <a:avLst>
              <a:gd name="adj" fmla="val 15625"/>
            </a:avLst>
          </a:prstGeom>
          <a:solidFill>
            <a:srgbClr val="14B8C8"/>
          </a:solidFill>
          <a:ln w="12700">
            <a:solidFill>
              <a:srgbClr val="14B8C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682496"/>
            <a:ext cx="2633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UAC Foods Revenue Forecast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2048256"/>
            <a:ext cx="26334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4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Inputs: </a:t>
            </a:r>
            <a:pPr indent="0" marL="0">
              <a:buNone/>
            </a:pPr>
            <a:r>
              <a:rPr lang="en-US" sz="900" dirty="0">
                <a:solidFill>
                  <a:srgbClr val="90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sales: N(8,500, 800). Price per unit: N(250, 30).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65760" y="2560320"/>
            <a:ext cx="26334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4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Process: </a:t>
            </a:r>
            <a:pPr indent="0" marL="0">
              <a:buNone/>
            </a:pPr>
            <a:r>
              <a:rPr lang="en-US" sz="900" dirty="0">
                <a:solidFill>
                  <a:srgbClr val="90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 simulations: each samples one sales value and one price value, computes revenue.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5760" y="3090672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4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Mean revenue: N2,125,000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65760" y="3346704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4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SD: N275,000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65760" y="3602736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4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- 5th percentile: N1,680,000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65760" y="3858768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4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- 95th percentile: N2,570,000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65760" y="4151376"/>
            <a:ext cx="2633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P(revenue &lt; N1.68M) = 5%. Sets cash flow minimum planning threshold with quantified confidence.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246120" y="1609344"/>
            <a:ext cx="2816352" cy="3438144"/>
          </a:xfrm>
          <a:prstGeom prst="roundRect">
            <a:avLst>
              <a:gd name="adj" fmla="val 3247"/>
            </a:avLst>
          </a:prstGeom>
          <a:solidFill>
            <a:srgbClr val="0E1728"/>
          </a:solidFill>
          <a:ln w="15240">
            <a:solidFill>
              <a:srgbClr val="D4A01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337560" y="1682496"/>
            <a:ext cx="2633472" cy="292608"/>
          </a:xfrm>
          <a:prstGeom prst="roundRect">
            <a:avLst>
              <a:gd name="adj" fmla="val 15625"/>
            </a:avLst>
          </a:prstGeom>
          <a:solidFill>
            <a:srgbClr val="D4A010"/>
          </a:solidFill>
          <a:ln w="12700">
            <a:solidFill>
              <a:srgbClr val="D4A01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37560" y="1682496"/>
            <a:ext cx="2633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Dangote Cement NPV Analysis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337560" y="2048256"/>
            <a:ext cx="26334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4A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Inputs: </a:t>
            </a:r>
            <a:pPr indent="0" marL="0">
              <a:buNone/>
            </a:pPr>
            <a:r>
              <a:rPr lang="en-US" sz="900" dirty="0">
                <a:solidFill>
                  <a:srgbClr val="90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growth: Uniform(3%,8%). Cost overrun: LogNormal(1.0,0.15). Cement price: N(28,000,3,500).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337560" y="2560320"/>
            <a:ext cx="26334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4A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Process: </a:t>
            </a:r>
            <a:pPr indent="0" marL="0">
              <a:buNone/>
            </a:pPr>
            <a:r>
              <a:rPr lang="en-US" sz="900" dirty="0">
                <a:solidFill>
                  <a:srgbClr val="90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50,000 simulations of NPV. Each scenario samples correlated inputs. Computes project NPV.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337560" y="3090672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4A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P(NPV &gt; 0) = 78.4%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337560" y="3346704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4A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P(NPV &gt; N100M) = 42%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337560" y="3602736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4A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P(NPV &lt; 0) = 21.6%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337560" y="3858768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4A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Mean NPV = N62M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337560" y="4151376"/>
            <a:ext cx="2633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Board gets P(profitable) = 78.4% rather than 3 scenarios. Full risk-adjusted investment decision.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217920" y="1609344"/>
            <a:ext cx="2816352" cy="3438144"/>
          </a:xfrm>
          <a:prstGeom prst="roundRect">
            <a:avLst>
              <a:gd name="adj" fmla="val 3247"/>
            </a:avLst>
          </a:prstGeom>
          <a:solidFill>
            <a:srgbClr val="0E1728"/>
          </a:solidFill>
          <a:ln w="15240">
            <a:solidFill>
              <a:srgbClr val="E06A1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309360" y="1682496"/>
            <a:ext cx="2633472" cy="292608"/>
          </a:xfrm>
          <a:prstGeom prst="roundRect">
            <a:avLst>
              <a:gd name="adj" fmla="val 15625"/>
            </a:avLst>
          </a:prstGeom>
          <a:solidFill>
            <a:srgbClr val="E06A10"/>
          </a:solidFill>
          <a:ln w="12700">
            <a:solidFill>
              <a:srgbClr val="E06A1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09360" y="1682496"/>
            <a:ext cx="2633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GTBank Stress Testing (CBN)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309360" y="2048256"/>
            <a:ext cx="26334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06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Inputs: </a:t>
            </a:r>
            <a:pPr indent="0" marL="0">
              <a:buNone/>
            </a:pPr>
            <a:r>
              <a:rPr lang="en-US" sz="900" dirty="0">
                <a:solidFill>
                  <a:srgbClr val="90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 growth: N(2.8%, 1.2%). Inflation: N(15%, 3%). Property: N(-2%, 8%). Unemployment: N(33%, 5%).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309360" y="2560320"/>
            <a:ext cx="26334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06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Process: </a:t>
            </a:r>
            <a:pPr indent="0" marL="0">
              <a:buNone/>
            </a:pPr>
            <a:r>
              <a:rPr lang="en-US" sz="900" dirty="0">
                <a:solidFill>
                  <a:srgbClr val="90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100,000 correlated macro scenarios. Each drives NPL ratio through credit migration model.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309360" y="3090672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06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Base case NPL: 4.2%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309360" y="3346704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06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- 95th percentile NPL: 8.7%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309360" y="3602736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06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- 99th percentile NPL: 12.4%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309360" y="3858768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06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Capital requirement: VaR 99%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309360" y="4151376"/>
            <a:ext cx="2633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99th percentile NPL drives CBN capital adequacy submission. Monte Carlo replaces deterministic 3-scenario stress tests.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0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80D1A"/>
          </a:solidFill>
          <a:ln w="12700">
            <a:solidFill>
              <a:srgbClr val="080D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412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Value at Risk and Insurance Pricing - Probability in Financial Risk Management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56032" y="1024128"/>
            <a:ext cx="4160520" cy="4041648"/>
          </a:xfrm>
          <a:prstGeom prst="roundRect">
            <a:avLst>
              <a:gd name="adj" fmla="val 2036"/>
            </a:avLst>
          </a:prstGeom>
          <a:solidFill>
            <a:srgbClr val="FFFFFF"/>
          </a:solidFill>
          <a:ln w="6350">
            <a:solidFill>
              <a:srgbClr val="B0C8D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9184" y="1097280"/>
            <a:ext cx="4005072" cy="329184"/>
          </a:xfrm>
          <a:prstGeom prst="roundRect">
            <a:avLst>
              <a:gd name="adj" fmla="val 16667"/>
            </a:avLst>
          </a:prstGeom>
          <a:solidFill>
            <a:srgbClr val="E03020"/>
          </a:solidFill>
          <a:ln w="12700">
            <a:solidFill>
              <a:srgbClr val="E0302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9184" y="1097280"/>
            <a:ext cx="4005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at Risk (VaR) - Banking Application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481328"/>
            <a:ext cx="3950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03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VaR(α) = μ - Z(α) × σ  (parametric)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1828800"/>
            <a:ext cx="39502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1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 answers: 'What is the maximum loss at the X% confidence level over Y days?' It is the primary risk measure for banks, required by Basel III and CBN regulations.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47472" y="2395728"/>
            <a:ext cx="3986784" cy="1444752"/>
          </a:xfrm>
          <a:prstGeom prst="roundRect">
            <a:avLst>
              <a:gd name="adj" fmla="val 3797"/>
            </a:avLst>
          </a:prstGeom>
          <a:solidFill>
            <a:srgbClr val="FEF0ED"/>
          </a:solidFill>
          <a:ln w="10160">
            <a:solidFill>
              <a:srgbClr val="E0302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0624" y="2468880"/>
            <a:ext cx="384048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03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Zenith Bank Trading Desk:
</a:t>
            </a:r>
            <a:pPr indent="0" marL="0">
              <a:buNone/>
            </a:pPr>
            <a:r>
              <a:rPr lang="en-US" sz="950" dirty="0">
                <a:solidFill>
                  <a:srgbClr val="0E1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mean return: N500,000. Daily SD: N2,000,000.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E1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1-day VaR = 500,000 - 1.645×2,000,000 = N-2,790,000.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E1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Interpretation: On 95% of trading days (19 of 20), loss will NOT exceed N2.79M. On 5% of days (1 in 20 trading days), losses WILL exceed N2.79M.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E1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VaR is reported to the Risk Committee and CBN daily.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65760" y="3895344"/>
            <a:ext cx="1316736" cy="274320"/>
          </a:xfrm>
          <a:prstGeom prst="rect">
            <a:avLst/>
          </a:prstGeom>
          <a:solidFill>
            <a:srgbClr val="080D1A"/>
          </a:solidFill>
          <a:ln w="12700">
            <a:solidFill>
              <a:srgbClr val="080D1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3895344"/>
            <a:ext cx="1316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682496" y="3895344"/>
            <a:ext cx="1316736" cy="274320"/>
          </a:xfrm>
          <a:prstGeom prst="rect">
            <a:avLst/>
          </a:prstGeom>
          <a:solidFill>
            <a:srgbClr val="080D1A"/>
          </a:solidFill>
          <a:ln w="12700">
            <a:solidFill>
              <a:srgbClr val="080D1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82496" y="3895344"/>
            <a:ext cx="1316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Z-value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999232" y="3895344"/>
            <a:ext cx="1316736" cy="274320"/>
          </a:xfrm>
          <a:prstGeom prst="rect">
            <a:avLst/>
          </a:prstGeom>
          <a:solidFill>
            <a:srgbClr val="080D1A"/>
          </a:solidFill>
          <a:ln w="12700">
            <a:solidFill>
              <a:srgbClr val="080D1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99232" y="3895344"/>
            <a:ext cx="1316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1-day VaR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65760" y="4169664"/>
            <a:ext cx="1316736" cy="274320"/>
          </a:xfrm>
          <a:prstGeom prst="rect">
            <a:avLst/>
          </a:prstGeom>
          <a:solidFill>
            <a:srgbClr val="EAF6FA"/>
          </a:solidFill>
          <a:ln w="6350">
            <a:solidFill>
              <a:srgbClr val="A0C8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4169664"/>
            <a:ext cx="1316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E1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1682496" y="4169664"/>
            <a:ext cx="1316736" cy="274320"/>
          </a:xfrm>
          <a:prstGeom prst="rect">
            <a:avLst/>
          </a:prstGeom>
          <a:solidFill>
            <a:srgbClr val="EAF6FA"/>
          </a:solidFill>
          <a:ln w="6350">
            <a:solidFill>
              <a:srgbClr val="A0C8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682496" y="4169664"/>
            <a:ext cx="1316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1.282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999232" y="4169664"/>
            <a:ext cx="1316736" cy="274320"/>
          </a:xfrm>
          <a:prstGeom prst="rect">
            <a:avLst/>
          </a:prstGeom>
          <a:solidFill>
            <a:srgbClr val="EAF6FA"/>
          </a:solidFill>
          <a:ln w="6350">
            <a:solidFill>
              <a:srgbClr val="A0C8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999232" y="4169664"/>
            <a:ext cx="1316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N-2.064M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65760" y="4443984"/>
            <a:ext cx="1316736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A0C8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4443984"/>
            <a:ext cx="1316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E1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1682496" y="4443984"/>
            <a:ext cx="1316736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A0C8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682496" y="4443984"/>
            <a:ext cx="1316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1.645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999232" y="4443984"/>
            <a:ext cx="1316736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A0C8D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999232" y="4443984"/>
            <a:ext cx="1316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N-2.790M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65760" y="4718304"/>
            <a:ext cx="1316736" cy="274320"/>
          </a:xfrm>
          <a:prstGeom prst="rect">
            <a:avLst/>
          </a:prstGeom>
          <a:solidFill>
            <a:srgbClr val="EAF6FA"/>
          </a:solidFill>
          <a:ln w="6350">
            <a:solidFill>
              <a:srgbClr val="A0C8D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718304"/>
            <a:ext cx="1316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E1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99%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1682496" y="4718304"/>
            <a:ext cx="1316736" cy="274320"/>
          </a:xfrm>
          <a:prstGeom prst="rect">
            <a:avLst/>
          </a:prstGeom>
          <a:solidFill>
            <a:srgbClr val="EAF6FA"/>
          </a:solidFill>
          <a:ln w="6350">
            <a:solidFill>
              <a:srgbClr val="A0C8D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682496" y="4718304"/>
            <a:ext cx="1316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2.326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999232" y="4718304"/>
            <a:ext cx="1316736" cy="274320"/>
          </a:xfrm>
          <a:prstGeom prst="rect">
            <a:avLst/>
          </a:prstGeom>
          <a:solidFill>
            <a:srgbClr val="EAF6FA"/>
          </a:solidFill>
          <a:ln w="6350">
            <a:solidFill>
              <a:srgbClr val="A0C8D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999232" y="4718304"/>
            <a:ext cx="1316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N-4.152M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681728" y="1024128"/>
            <a:ext cx="4160520" cy="4041648"/>
          </a:xfrm>
          <a:prstGeom prst="roundRect">
            <a:avLst>
              <a:gd name="adj" fmla="val 2036"/>
            </a:avLst>
          </a:prstGeom>
          <a:solidFill>
            <a:srgbClr val="FFFFFF"/>
          </a:solidFill>
          <a:ln w="6350">
            <a:solidFill>
              <a:srgbClr val="B0C8D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754880" y="1097280"/>
            <a:ext cx="4005072" cy="329184"/>
          </a:xfrm>
          <a:prstGeom prst="roundRect">
            <a:avLst>
              <a:gd name="adj" fmla="val 16667"/>
            </a:avLst>
          </a:prstGeom>
          <a:solidFill>
            <a:srgbClr val="E06A10"/>
          </a:solidFill>
          <a:ln w="12700">
            <a:solidFill>
              <a:srgbClr val="E06A1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54880" y="1097280"/>
            <a:ext cx="4005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Pricing - Pure Premium Approach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791456" y="1481328"/>
            <a:ext cx="3950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06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Premium = E(Claim frequency × severity) + Expenses + Profit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773168" y="1828800"/>
            <a:ext cx="3986784" cy="1627632"/>
          </a:xfrm>
          <a:prstGeom prst="roundRect">
            <a:avLst>
              <a:gd name="adj" fmla="val 3371"/>
            </a:avLst>
          </a:prstGeom>
          <a:solidFill>
            <a:srgbClr val="FFF3E0"/>
          </a:solidFill>
          <a:ln w="10160">
            <a:solidFill>
              <a:srgbClr val="E06A1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46320" y="1901952"/>
            <a:ext cx="3840480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06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AXA Mansard - Vehicle Insurance in Lagos:
</a:t>
            </a:r>
            <a:pPr indent="0" marL="0">
              <a:buNone/>
            </a:pPr>
            <a:r>
              <a:rPr lang="en-US" sz="950" dirty="0">
                <a:solidFill>
                  <a:srgbClr val="0E1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Theft probability: P(theft) = 0.022/year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E1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vehicle value: N2,800,000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E1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claim = 0.022 × 2,800,000 = N61,600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E1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expenses: N15,000/policy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E1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profit margin: 15%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E1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premium = (61,600+15,000)/(1-0.15)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E1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76,600/0.85 = N90,118/year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E1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Premiums below N90,118 = unprofitable.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4791456" y="3511296"/>
            <a:ext cx="3950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6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classification adjustments: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791456" y="3767328"/>
            <a:ext cx="1554480" cy="274320"/>
          </a:xfrm>
          <a:prstGeom prst="rect">
            <a:avLst/>
          </a:prstGeom>
          <a:solidFill>
            <a:srgbClr val="E06A10"/>
          </a:solidFill>
          <a:ln w="12700">
            <a:solidFill>
              <a:srgbClr val="E06A1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91456" y="376732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Profile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6345936" y="3767328"/>
            <a:ext cx="1261872" cy="274320"/>
          </a:xfrm>
          <a:prstGeom prst="rect">
            <a:avLst/>
          </a:prstGeom>
          <a:solidFill>
            <a:srgbClr val="E06A10"/>
          </a:solidFill>
          <a:ln w="12700">
            <a:solidFill>
              <a:srgbClr val="E06A1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345936" y="3767328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P(theft/accident)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7607808" y="3767328"/>
            <a:ext cx="1261872" cy="274320"/>
          </a:xfrm>
          <a:prstGeom prst="rect">
            <a:avLst/>
          </a:prstGeom>
          <a:solidFill>
            <a:srgbClr val="E06A10"/>
          </a:solidFill>
          <a:ln w="12700">
            <a:solidFill>
              <a:srgbClr val="E06A1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607808" y="3767328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Adjusted Premium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4791456" y="4041648"/>
            <a:ext cx="1554480" cy="274320"/>
          </a:xfrm>
          <a:prstGeom prst="rect">
            <a:avLst/>
          </a:prstGeom>
          <a:solidFill>
            <a:srgbClr val="EAF6FA"/>
          </a:solidFill>
          <a:ln w="6350">
            <a:solidFill>
              <a:srgbClr val="A0C8D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91456" y="404164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E1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Young, &lt; 3 years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6345936" y="4041648"/>
            <a:ext cx="1261872" cy="274320"/>
          </a:xfrm>
          <a:prstGeom prst="rect">
            <a:avLst/>
          </a:prstGeom>
          <a:solidFill>
            <a:srgbClr val="EAF6FA"/>
          </a:solidFill>
          <a:ln w="6350">
            <a:solidFill>
              <a:srgbClr val="A0C8D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345936" y="4041648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0.038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7607808" y="4041648"/>
            <a:ext cx="1261872" cy="274320"/>
          </a:xfrm>
          <a:prstGeom prst="rect">
            <a:avLst/>
          </a:prstGeom>
          <a:solidFill>
            <a:srgbClr val="EAF6FA"/>
          </a:solidFill>
          <a:ln w="6350">
            <a:solidFill>
              <a:srgbClr val="A0C8D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607808" y="4041648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N155,000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4791456" y="4315968"/>
            <a:ext cx="15544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A0C8D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791456" y="431596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E1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risk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6345936" y="4315968"/>
            <a:ext cx="126187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A0C8D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345936" y="4315968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0.022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7607808" y="4315968"/>
            <a:ext cx="126187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A0C8D8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607808" y="4315968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N90,118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4791456" y="4590288"/>
            <a:ext cx="1554480" cy="274320"/>
          </a:xfrm>
          <a:prstGeom prst="rect">
            <a:avLst/>
          </a:prstGeom>
          <a:solidFill>
            <a:srgbClr val="EAF6FA"/>
          </a:solidFill>
          <a:ln w="6350">
            <a:solidFill>
              <a:srgbClr val="A0C8D8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791456" y="459028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E1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Mature, &gt; 5 years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6345936" y="4590288"/>
            <a:ext cx="1261872" cy="274320"/>
          </a:xfrm>
          <a:prstGeom prst="rect">
            <a:avLst/>
          </a:prstGeom>
          <a:solidFill>
            <a:srgbClr val="EAF6FA"/>
          </a:solidFill>
          <a:ln w="6350">
            <a:solidFill>
              <a:srgbClr val="A0C8D8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345936" y="4590288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0.012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7607808" y="4590288"/>
            <a:ext cx="1261872" cy="274320"/>
          </a:xfrm>
          <a:prstGeom prst="rect">
            <a:avLst/>
          </a:prstGeom>
          <a:solidFill>
            <a:srgbClr val="EAF6FA"/>
          </a:solidFill>
          <a:ln w="6350">
            <a:solidFill>
              <a:srgbClr val="A0C8D8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607808" y="4590288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N50,000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256032" y="5120640"/>
            <a:ext cx="8631936" cy="347472"/>
          </a:xfrm>
          <a:prstGeom prst="roundRect">
            <a:avLst>
              <a:gd name="adj" fmla="val 15789"/>
            </a:avLst>
          </a:prstGeom>
          <a:solidFill>
            <a:srgbClr val="FFFBEC"/>
          </a:solidFill>
          <a:ln w="19050">
            <a:solidFill>
              <a:srgbClr val="D4A01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84048" y="5120640"/>
            <a:ext cx="8449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4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insurance pricing formula IS probability theory in direct commercial application. Every premium is a probability-weighted expected cost. Actuaries are essentially applied probabilists who price uncertainty at scale.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8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D4A010">
              <a:alpha val="12000"/>
            </a:srgbClr>
          </a:solidFill>
          <a:ln w="12700">
            <a:solidFill>
              <a:srgbClr val="D4A01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Nigerian Business Cases - Where Probability Creates Direct Value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160520" cy="1993392"/>
          </a:xfrm>
          <a:prstGeom prst="roundRect">
            <a:avLst>
              <a:gd name="adj" fmla="val 4128"/>
            </a:avLst>
          </a:prstGeom>
          <a:solidFill>
            <a:srgbClr val="0E1728"/>
          </a:solidFill>
          <a:ln w="15240">
            <a:solidFill>
              <a:srgbClr val="287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87552"/>
            <a:ext cx="658368" cy="256032"/>
          </a:xfrm>
          <a:prstGeom prst="roundRect">
            <a:avLst>
              <a:gd name="adj" fmla="val 14286"/>
            </a:avLst>
          </a:prstGeom>
          <a:solidFill>
            <a:srgbClr val="2878F0"/>
          </a:solidFill>
          <a:ln w="12700">
            <a:solidFill>
              <a:srgbClr val="287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87552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8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Bank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97280" y="1005840"/>
            <a:ext cx="3218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87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Risk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84048" y="1316736"/>
            <a:ext cx="3913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0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method: Bayesian credit scoring combines 50+ features into P(default|profile)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84048" y="1700784"/>
            <a:ext cx="3913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03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Before: 8.2% NPL ratio. Manual officer judgment. High approval inconsistency.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84048" y="2066544"/>
            <a:ext cx="3913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87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After: 4.7% NPL ratio. 31% loan book growth. N18B reduction in loan loss provisions annually.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84048" y="2432304"/>
            <a:ext cx="3913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Method: Logistic regression: log(P/(1-P)) = b0+b1x1+...+bnxn. P(default|features) drives approve/reject/price.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736592" y="914400"/>
            <a:ext cx="4160520" cy="1993392"/>
          </a:xfrm>
          <a:prstGeom prst="roundRect">
            <a:avLst>
              <a:gd name="adj" fmla="val 4128"/>
            </a:avLst>
          </a:prstGeom>
          <a:solidFill>
            <a:srgbClr val="0E1728"/>
          </a:solidFill>
          <a:ln w="15240">
            <a:solidFill>
              <a:srgbClr val="E06A1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28032" y="987552"/>
            <a:ext cx="658368" cy="256032"/>
          </a:xfrm>
          <a:prstGeom prst="roundRect">
            <a:avLst>
              <a:gd name="adj" fmla="val 14286"/>
            </a:avLst>
          </a:prstGeom>
          <a:solidFill>
            <a:srgbClr val="E06A10"/>
          </a:solidFill>
          <a:ln w="12700">
            <a:solidFill>
              <a:srgbClr val="E06A1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28032" y="987552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8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Leadway Assurance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559552" y="1005840"/>
            <a:ext cx="3218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6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Insurance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46320" y="1316736"/>
            <a:ext cx="3913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0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method: Compound Poisson model: P(claim|driver profile) × E(claim size)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846320" y="1700784"/>
            <a:ext cx="3913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03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Before: Adverse selection: risky drivers buying at standard rates. Portfolio loss ratio 108%.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846320" y="2066544"/>
            <a:ext cx="3913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06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After: Credibility-weighted pricing improved accuracy 22%. Loss ratio reduced to 89%.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846320" y="2432304"/>
            <a:ext cx="3913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Method: Pure premium = E(frequency|profile) × E(severity|profile). Poisson for frequency, Log-Normal for severity.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74320" y="2999232"/>
            <a:ext cx="4160520" cy="1993392"/>
          </a:xfrm>
          <a:prstGeom prst="roundRect">
            <a:avLst>
              <a:gd name="adj" fmla="val 4128"/>
            </a:avLst>
          </a:prstGeom>
          <a:solidFill>
            <a:srgbClr val="0E1728"/>
          </a:solidFill>
          <a:ln w="15240">
            <a:solidFill>
              <a:srgbClr val="14C87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3072384"/>
            <a:ext cx="658368" cy="256032"/>
          </a:xfrm>
          <a:prstGeom prst="roundRect">
            <a:avLst>
              <a:gd name="adj" fmla="val 14286"/>
            </a:avLst>
          </a:prstGeom>
          <a:solidFill>
            <a:srgbClr val="14C870"/>
          </a:solidFill>
          <a:ln w="12700">
            <a:solidFill>
              <a:srgbClr val="14C87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072384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8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MTN Nigeria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97280" y="3090672"/>
            <a:ext cx="3218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C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Retention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84048" y="3401568"/>
            <a:ext cx="3913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0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method: Cox proportional hazard model: h(t|x) = h0(t)×e^(beta*x). P(churn in month t).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84048" y="3785616"/>
            <a:ext cx="3913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03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Before: Undifferentiated retention spend: N2B/year. Retention rate 23% of targeted subscribers.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84048" y="4151376"/>
            <a:ext cx="3913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C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After: Probability-targeted retention: top 60% churn-risk segment. 34% retention rate. ROI of 36x.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84048" y="4517136"/>
            <a:ext cx="3913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Method: Survival analysis + Markov chain steady-state. Customer lifetime value = E(revenue) × P(retained).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736592" y="2999232"/>
            <a:ext cx="4160520" cy="1993392"/>
          </a:xfrm>
          <a:prstGeom prst="roundRect">
            <a:avLst>
              <a:gd name="adj" fmla="val 4128"/>
            </a:avLst>
          </a:prstGeom>
          <a:solidFill>
            <a:srgbClr val="0E1728"/>
          </a:solidFill>
          <a:ln w="15240">
            <a:solidFill>
              <a:srgbClr val="0A7E8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828032" y="3072384"/>
            <a:ext cx="658368" cy="256032"/>
          </a:xfrm>
          <a:prstGeom prst="roundRect">
            <a:avLst>
              <a:gd name="adj" fmla="val 14286"/>
            </a:avLst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28032" y="3072384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8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UAC Foods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559552" y="3090672"/>
            <a:ext cx="3218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Planning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846320" y="3401568"/>
            <a:ext cx="3913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0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method: Demand distribution fit per SKU: Normal(mu, sigma^2). Safety stock = Z*sigma*sqrt(L).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846320" y="3785616"/>
            <a:ext cx="3913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03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Before: Stockout rate: 12% of SKU-days. Excess inventory: N450M tied up in buffer stock.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846320" y="4151376"/>
            <a:ext cx="3913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After: Stockout reduced to 3.8%. Inventory holding cost reduced 18%. Working capital freed: N180M.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846320" y="4517136"/>
            <a:ext cx="3913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Method: Probability distribution fit (K-S test). Reorder point = mu*L + Z(95%)*sigma*sqrt(L).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8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D4A010">
              <a:alpha val="12000"/>
            </a:srgbClr>
          </a:solidFill>
          <a:ln w="12700">
            <a:solidFill>
              <a:srgbClr val="D4A01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3200400"/>
            <a:ext cx="3657600" cy="3657600"/>
          </a:xfrm>
          <a:prstGeom prst="ellipse">
            <a:avLst/>
          </a:prstGeom>
          <a:solidFill>
            <a:srgbClr val="0A7E8C">
              <a:alpha val="16000"/>
            </a:srgbClr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 - Probability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20040" y="932688"/>
            <a:ext cx="4160520" cy="731520"/>
          </a:xfrm>
          <a:prstGeom prst="roundRect">
            <a:avLst>
              <a:gd name="adj" fmla="val 8750"/>
            </a:avLst>
          </a:prstGeom>
          <a:solidFill>
            <a:srgbClr val="0E1728"/>
          </a:solidFill>
          <a:ln w="6350">
            <a:solidFill>
              <a:srgbClr val="14B8C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133856"/>
            <a:ext cx="292608" cy="292608"/>
          </a:xfrm>
          <a:prstGeom prst="ellipse">
            <a:avLst/>
          </a:prstGeom>
          <a:solidFill>
            <a:srgbClr val="F0C840"/>
          </a:solidFill>
          <a:ln w="12700">
            <a:solidFill>
              <a:srgbClr val="F0C8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1338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8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77240" y="1005840"/>
            <a:ext cx="3611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has three interpretations: Classical (equally likely outcomes), Empirical (observed frequency from data), and Subjective (expert belief). Most business applications use empirical or Bayesian probability.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20040" y="1755648"/>
            <a:ext cx="4160520" cy="731520"/>
          </a:xfrm>
          <a:prstGeom prst="roundRect">
            <a:avLst>
              <a:gd name="adj" fmla="val 8750"/>
            </a:avLst>
          </a:prstGeom>
          <a:solidFill>
            <a:srgbClr val="0E1728"/>
          </a:solidFill>
          <a:ln w="6350">
            <a:solidFill>
              <a:srgbClr val="14B8C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" y="1956816"/>
            <a:ext cx="292608" cy="292608"/>
          </a:xfrm>
          <a:prstGeom prst="ellipse">
            <a:avLst/>
          </a:prstGeom>
          <a:solidFill>
            <a:srgbClr val="F0C840"/>
          </a:solidFill>
          <a:ln w="12700">
            <a:solidFill>
              <a:srgbClr val="F0C8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9568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8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777240" y="1828800"/>
            <a:ext cx="3611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rules: Addition (P(A or B)=P(A)+P(B)-P(A and B)), Multiplication (P(A and B)=P(A)P(B|A)), Conditional (P(B|A)=P(A and B)/P(A)), Total Probability (P(A)=sum of P(A|Bi)P(Bi)).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20040" y="2578608"/>
            <a:ext cx="4160520" cy="731520"/>
          </a:xfrm>
          <a:prstGeom prst="roundRect">
            <a:avLst>
              <a:gd name="adj" fmla="val 8750"/>
            </a:avLst>
          </a:prstGeom>
          <a:solidFill>
            <a:srgbClr val="0E1728"/>
          </a:solidFill>
          <a:ln w="6350">
            <a:solidFill>
              <a:srgbClr val="14B8C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" y="2779776"/>
            <a:ext cx="292608" cy="292608"/>
          </a:xfrm>
          <a:prstGeom prst="ellipse">
            <a:avLst/>
          </a:prstGeom>
          <a:solidFill>
            <a:srgbClr val="F0C840"/>
          </a:solidFill>
          <a:ln w="12700">
            <a:solidFill>
              <a:srgbClr val="F0C84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27797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8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777240" y="2651760"/>
            <a:ext cx="3611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Bayes' Theorem: P(H|E)=P(E|H)P(H)/P(E). Updates prior belief with evidence to produce posterior. The mathematical engine of fraud detection, credit scoring, medical diagnosis, and spam filtering.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20040" y="3401568"/>
            <a:ext cx="4160520" cy="731520"/>
          </a:xfrm>
          <a:prstGeom prst="roundRect">
            <a:avLst>
              <a:gd name="adj" fmla="val 8750"/>
            </a:avLst>
          </a:prstGeom>
          <a:solidFill>
            <a:srgbClr val="0E1728"/>
          </a:solidFill>
          <a:ln w="6350">
            <a:solidFill>
              <a:srgbClr val="14B8C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11480" y="3602736"/>
            <a:ext cx="292608" cy="292608"/>
          </a:xfrm>
          <a:prstGeom prst="ellipse">
            <a:avLst/>
          </a:prstGeom>
          <a:solidFill>
            <a:srgbClr val="F0C840"/>
          </a:solidFill>
          <a:ln w="12700">
            <a:solidFill>
              <a:srgbClr val="F0C84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36027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8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777240" y="3474720"/>
            <a:ext cx="3611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Base Rate Fallacy: a positive test result on a rare disease may MOSTLY be a false positive. Ignoring the prior probability is the most common error in probabilistic reasoning.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20040" y="4224528"/>
            <a:ext cx="4160520" cy="731520"/>
          </a:xfrm>
          <a:prstGeom prst="roundRect">
            <a:avLst>
              <a:gd name="adj" fmla="val 8750"/>
            </a:avLst>
          </a:prstGeom>
          <a:solidFill>
            <a:srgbClr val="0E1728"/>
          </a:solidFill>
          <a:ln w="6350">
            <a:solidFill>
              <a:srgbClr val="14B8C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11480" y="4425696"/>
            <a:ext cx="292608" cy="292608"/>
          </a:xfrm>
          <a:prstGeom prst="ellipse">
            <a:avLst/>
          </a:prstGeom>
          <a:solidFill>
            <a:srgbClr val="F0C840"/>
          </a:solidFill>
          <a:ln w="12700">
            <a:solidFill>
              <a:srgbClr val="F0C84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44256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8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777240" y="4297680"/>
            <a:ext cx="3611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Discrete distributions: Bernoulli (1 trial), Binomial (n trials), Poisson (count of rare events), Geometric (trials until success). Choose based on the nature of the business question.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782312" y="932688"/>
            <a:ext cx="4160520" cy="731520"/>
          </a:xfrm>
          <a:prstGeom prst="roundRect">
            <a:avLst>
              <a:gd name="adj" fmla="val 8750"/>
            </a:avLst>
          </a:prstGeom>
          <a:solidFill>
            <a:srgbClr val="0E1728"/>
          </a:solidFill>
          <a:ln w="6350">
            <a:solidFill>
              <a:srgbClr val="14B8C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73752" y="1133856"/>
            <a:ext cx="292608" cy="292608"/>
          </a:xfrm>
          <a:prstGeom prst="ellipse">
            <a:avLst/>
          </a:prstGeom>
          <a:solidFill>
            <a:srgbClr val="F0C840"/>
          </a:solidFill>
          <a:ln w="12700">
            <a:solidFill>
              <a:srgbClr val="F0C84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73752" y="11338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8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239512" y="1005840"/>
            <a:ext cx="3611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distributions: Normal (symmetric quantities, sampling theory), Exponential (time between events, memoryless), Log-Normal (income, claims, prices - strictly positive and right-skewed).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782312" y="1755648"/>
            <a:ext cx="4160520" cy="731520"/>
          </a:xfrm>
          <a:prstGeom prst="roundRect">
            <a:avLst>
              <a:gd name="adj" fmla="val 8750"/>
            </a:avLst>
          </a:prstGeom>
          <a:solidFill>
            <a:srgbClr val="0E1728"/>
          </a:solidFill>
          <a:ln w="6350">
            <a:solidFill>
              <a:srgbClr val="14B8C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73752" y="1956816"/>
            <a:ext cx="292608" cy="292608"/>
          </a:xfrm>
          <a:prstGeom prst="ellipse">
            <a:avLst/>
          </a:prstGeom>
          <a:solidFill>
            <a:srgbClr val="F0C840"/>
          </a:solidFill>
          <a:ln w="12700">
            <a:solidFill>
              <a:srgbClr val="F0C84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73752" y="19568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8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239512" y="1828800"/>
            <a:ext cx="3611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Value = SUM[outcome × probability]. The rational decision criterion. Always compare E(Option A) vs E(Option B). But add variance analysis for risk-averse decisions.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782312" y="2578608"/>
            <a:ext cx="4160520" cy="731520"/>
          </a:xfrm>
          <a:prstGeom prst="roundRect">
            <a:avLst>
              <a:gd name="adj" fmla="val 8750"/>
            </a:avLst>
          </a:prstGeom>
          <a:solidFill>
            <a:srgbClr val="0E1728"/>
          </a:solidFill>
          <a:ln w="6350">
            <a:solidFill>
              <a:srgbClr val="14B8C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873752" y="2779776"/>
            <a:ext cx="292608" cy="292608"/>
          </a:xfrm>
          <a:prstGeom prst="ellipse">
            <a:avLst/>
          </a:prstGeom>
          <a:solidFill>
            <a:srgbClr val="F0C840"/>
          </a:solidFill>
          <a:ln w="12700">
            <a:solidFill>
              <a:srgbClr val="F0C84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73752" y="27797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8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239512" y="2651760"/>
            <a:ext cx="3611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Law of Large Numbers explains why insurance works: individual events are unpredictable but aggregate experience is highly predictable. The Central Limit Theorem makes means approximately normal.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782312" y="3401568"/>
            <a:ext cx="4160520" cy="731520"/>
          </a:xfrm>
          <a:prstGeom prst="roundRect">
            <a:avLst>
              <a:gd name="adj" fmla="val 8750"/>
            </a:avLst>
          </a:prstGeom>
          <a:solidFill>
            <a:srgbClr val="0E1728"/>
          </a:solidFill>
          <a:ln w="6350">
            <a:solidFill>
              <a:srgbClr val="14B8C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873752" y="3602736"/>
            <a:ext cx="292608" cy="292608"/>
          </a:xfrm>
          <a:prstGeom prst="ellipse">
            <a:avLst/>
          </a:prstGeom>
          <a:solidFill>
            <a:srgbClr val="F0C840"/>
          </a:solidFill>
          <a:ln w="12700">
            <a:solidFill>
              <a:srgbClr val="F0C84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73752" y="36027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8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5239512" y="3474720"/>
            <a:ext cx="3611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Markov Chains model sequential state transitions: customer churn stages, loan credit migrations, inventory states. Steady-state analysis reveals long-run system behaviour.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782312" y="4224528"/>
            <a:ext cx="4160520" cy="731520"/>
          </a:xfrm>
          <a:prstGeom prst="roundRect">
            <a:avLst>
              <a:gd name="adj" fmla="val 8750"/>
            </a:avLst>
          </a:prstGeom>
          <a:solidFill>
            <a:srgbClr val="0E1728"/>
          </a:solidFill>
          <a:ln w="6350">
            <a:solidFill>
              <a:srgbClr val="14B8C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873752" y="4425696"/>
            <a:ext cx="292608" cy="292608"/>
          </a:xfrm>
          <a:prstGeom prst="ellipse">
            <a:avLst/>
          </a:prstGeom>
          <a:solidFill>
            <a:srgbClr val="F0C840"/>
          </a:solidFill>
          <a:ln w="12700">
            <a:solidFill>
              <a:srgbClr val="F0C84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73752" y="44256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8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5239512" y="4297680"/>
            <a:ext cx="3611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 Carlo simulation generates the FULL DISTRIBUTION of outcomes from probability distributions. Reveals tail risks, P(loss), and confidence intervals that single expected value calculations miss.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8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645920"/>
            <a:ext cx="5486400" cy="5486400"/>
          </a:xfrm>
          <a:prstGeom prst="ellipse">
            <a:avLst/>
          </a:prstGeom>
          <a:solidFill>
            <a:srgbClr val="0A7E8C">
              <a:alpha val="18000"/>
            </a:srgbClr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2560320"/>
            <a:ext cx="4572000" cy="4572000"/>
          </a:xfrm>
          <a:prstGeom prst="ellipse">
            <a:avLst/>
          </a:prstGeom>
          <a:solidFill>
            <a:srgbClr val="D4A010">
              <a:alpha val="12000"/>
            </a:srgbClr>
          </a:solidFill>
          <a:ln w="12700">
            <a:solidFill>
              <a:srgbClr val="D4A01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749808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"Probability is the very guide of life."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371600" y="1719072"/>
            <a:ext cx="6400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Joseph Butler (1736)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9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(Every good business decision is a good probability judgement.)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0" y="2359152"/>
            <a:ext cx="2743200" cy="0"/>
          </a:xfrm>
          <a:prstGeom prst="line">
            <a:avLst/>
          </a:prstGeom>
          <a:noFill/>
          <a:ln w="19050">
            <a:solidFill>
              <a:srgbClr val="F0C8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514600"/>
            <a:ext cx="7315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914400" y="3310128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9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 -  Discussion  -  Applications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2834640" y="3858768"/>
            <a:ext cx="3474720" cy="987552"/>
          </a:xfrm>
          <a:prstGeom prst="roundRect">
            <a:avLst>
              <a:gd name="adj" fmla="val 11111"/>
            </a:avLst>
          </a:prstGeom>
          <a:solidFill>
            <a:srgbClr val="0A7E8C">
              <a:alpha val="85000"/>
            </a:srgbClr>
          </a:solidFill>
          <a:ln w="12700">
            <a:solidFill>
              <a:srgbClr val="14B8C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34640" y="3913632"/>
            <a:ext cx="34747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Kajola Gbenga Adewale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0C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Expert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Probability - Complete Guide</dc:title>
  <dc:subject>PptxGenJS Presentation</dc:subject>
  <dc:creator>Kajola Gbenga Adewale</dc:creator>
  <cp:lastModifiedBy>Kajola Gbenga Adewale</cp:lastModifiedBy>
  <cp:revision>1</cp:revision>
  <dcterms:created xsi:type="dcterms:W3CDTF">2026-06-28T17:11:16Z</dcterms:created>
  <dcterms:modified xsi:type="dcterms:W3CDTF">2026-06-28T17:11:16Z</dcterms:modified>
</cp:coreProperties>
</file>
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accuracy paradox is the single most important concept to grasp. It explains why most real-world ML projects need imbalance-aware metrics. Show participants: 99% accuracy sounds great until you learn the baseline is also 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metrics are available in sklearn: from sklearn.metrics import log_loss, cohen_kappa_score, balanced_accuracy_score, average_precision_score, brier_score_loss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Leakage is the most dangerous mistake because it produces models that appear to work perfectly in development but fail in production. Pipeline() from sklearn is the best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5669280" y="-1828800"/>
            <a:ext cx="6400800" cy="6400800"/>
          </a:xfrm>
          <a:prstGeom prst="ellipse">
            <a:avLst/>
          </a:prstGeom>
          <a:solidFill>
            <a:srgbClr val="0A7E8C">
              <a:alpha val="20000"/>
            </a:srgbClr>
          </a:solidFill>
          <a:ln w="12700">
            <a:solidFill>
              <a:srgbClr val="0A7E8C"/>
            </a:solidFill>
            <a:prstDash val="solid"/>
          </a:ln>
        </p:spPr>
      </p:sp>
      <p:sp>
        <p:nvSpPr>
          <p:cNvPr id="3" name="Shape 1"/>
          <p:cNvSpPr/>
          <p:nvPr/>
        </p:nvSpPr>
        <p:spPr>
          <a:xfrm>
            <a:off x="-1828800" y="3200400"/>
            <a:ext cx="4572000" cy="4572000"/>
          </a:xfrm>
          <a:prstGeom prst="ellipse">
            <a:avLst/>
          </a:prstGeom>
          <a:solidFill>
            <a:srgbClr val="D4A010">
              <a:alpha val="12000"/>
            </a:srgbClr>
          </a:solidFill>
          <a:ln w="12700">
            <a:solidFill>
              <a:srgbClr val="D4A010"/>
            </a:solidFill>
            <a:prstDash val="solid"/>
          </a:ln>
        </p:spPr>
      </p:sp>
      <p:sp>
        <p:nvSpPr>
          <p:cNvPr id="4" name="Shape 2"/>
          <p:cNvSpPr/>
          <p:nvPr/>
        </p:nvSpPr>
        <p:spPr>
          <a:xfrm>
            <a:off x="3200400" y="4114800"/>
            <a:ext cx="2286000" cy="2286000"/>
          </a:xfrm>
          <a:prstGeom prst="ellipse">
            <a:avLst/>
          </a:prstGeom>
          <a:solidFill>
            <a:srgbClr val="6A10C0">
              <a:alpha val="10000"/>
            </a:srgbClr>
          </a:solidFill>
          <a:ln w="12700">
            <a:solidFill>
              <a:srgbClr val="6A10C0"/>
            </a:solidFill>
            <a:prstDash val="solid"/>
          </a:ln>
        </p:spPr>
      </p:sp>
      <p:sp>
        <p:nvSpPr>
          <p:cNvPr id="5" name="Text 3"/>
          <p:cNvSpPr/>
          <p:nvPr/>
        </p:nvSpPr>
        <p:spPr>
          <a:xfrm>
            <a:off x="594360" y="749808"/>
            <a:ext cx="7315200" cy="438912"/>
          </a:xfrm>
          <a:prstGeom prst="rect">
            <a:avLst/>
          </a:prstGeom>
          <a:noFill/>
          <a:ln/>
        </p:spPr>
        <p:txBody>
          <a:bodyPr wrap="square" lIns="0" tIns="0" rIns="0" bIns="0" rtlCol="0" anchor="ctr"/>
          <a:lstStyle/>
          <a:p>
            <a:pPr indent="0" marL="0">
              <a:buNone/>
            </a:pPr>
            <a:r>
              <a:rPr lang="en-US" sz="1300" b="1" spc="300" kern="0" dirty="0">
                <a:solidFill>
                  <a:srgbClr val="D4A010"/>
                </a:solidFill>
                <a:latin typeface="Calibri" pitchFamily="34" charset="0"/>
                <a:ea typeface="Calibri" pitchFamily="34" charset="-122"/>
                <a:cs typeface="Calibri" pitchFamily="34" charset="-120"/>
              </a:rPr>
              <a:t>ML MODEL EVALUATION</a:t>
            </a:r>
            <a:endParaRPr lang="en-US" sz="1300" dirty="0"/>
          </a:p>
        </p:txBody>
      </p:sp>
      <p:sp>
        <p:nvSpPr>
          <p:cNvPr id="6" name="Text 4"/>
          <p:cNvSpPr/>
          <p:nvPr/>
        </p:nvSpPr>
        <p:spPr>
          <a:xfrm>
            <a:off x="594360" y="1261872"/>
            <a:ext cx="7315200" cy="9601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Metrics - A Complete Guide</a:t>
            </a:r>
            <a:endParaRPr lang="en-US" sz="4600" dirty="0"/>
          </a:p>
        </p:txBody>
      </p:sp>
      <p:sp>
        <p:nvSpPr>
          <p:cNvPr id="7" name="Text 5"/>
          <p:cNvSpPr/>
          <p:nvPr/>
        </p:nvSpPr>
        <p:spPr>
          <a:xfrm>
            <a:off x="594360" y="2340864"/>
            <a:ext cx="6858000" cy="804672"/>
          </a:xfrm>
          <a:prstGeom prst="rect">
            <a:avLst/>
          </a:prstGeom>
          <a:noFill/>
          <a:ln/>
        </p:spPr>
        <p:txBody>
          <a:bodyPr wrap="square" lIns="0" tIns="0" rIns="0" bIns="0" rtlCol="0" anchor="ctr"/>
          <a:lstStyle/>
          <a:p>
            <a:pPr indent="0" marL="0">
              <a:buNone/>
            </a:pPr>
            <a:r>
              <a:rPr lang="en-US" sz="1300" dirty="0">
                <a:solidFill>
                  <a:srgbClr val="90D8E0"/>
                </a:solidFill>
                <a:latin typeface="Calibri" pitchFamily="34" charset="0"/>
                <a:ea typeface="Calibri" pitchFamily="34" charset="-122"/>
                <a:cs typeface="Calibri" pitchFamily="34" charset="-120"/>
              </a:rPr>
              <a:t>Train/Test Split  -  Overfitting/Underfitting  -  Confusion Matrix</a:t>
            </a:r>
            <a:endParaRPr lang="en-US" sz="1300" dirty="0"/>
          </a:p>
          <a:p>
            <a:pPr indent="0" marL="0">
              <a:buNone/>
            </a:pPr>
            <a:r>
              <a:rPr lang="en-US" sz="1300" dirty="0">
                <a:solidFill>
                  <a:srgbClr val="90D8E0"/>
                </a:solidFill>
                <a:latin typeface="Calibri" pitchFamily="34" charset="0"/>
                <a:ea typeface="Calibri" pitchFamily="34" charset="-122"/>
                <a:cs typeface="Calibri" pitchFamily="34" charset="-120"/>
              </a:rPr>
              <a:t>Accuracy  -  Precision  -  Recall  -  F1  -  Macro/Weighted Avg</a:t>
            </a:r>
            <a:endParaRPr lang="en-US" sz="1300" dirty="0"/>
          </a:p>
          <a:p>
            <a:pPr indent="0" marL="0">
              <a:buNone/>
            </a:pPr>
            <a:r>
              <a:rPr lang="en-US" sz="1300" dirty="0">
                <a:solidFill>
                  <a:srgbClr val="90D8E0"/>
                </a:solidFill>
                <a:latin typeface="Calibri" pitchFamily="34" charset="0"/>
                <a:ea typeface="Calibri" pitchFamily="34" charset="-122"/>
                <a:cs typeface="Calibri" pitchFamily="34" charset="-120"/>
              </a:rPr>
              <a:t>ROC-AUC  -  PR-AUC  -  MCC  -  Log Loss  -  Regression  -  Clustering</a:t>
            </a:r>
            <a:endParaRPr lang="en-US" sz="1300" dirty="0"/>
          </a:p>
        </p:txBody>
      </p:sp>
      <p:sp>
        <p:nvSpPr>
          <p:cNvPr id="8" name="Shape 6"/>
          <p:cNvSpPr/>
          <p:nvPr/>
        </p:nvSpPr>
        <p:spPr>
          <a:xfrm>
            <a:off x="594360" y="3291840"/>
            <a:ext cx="4114800" cy="868680"/>
          </a:xfrm>
          <a:prstGeom prst="roundRect">
            <a:avLst>
              <a:gd name="adj" fmla="val 10526"/>
            </a:avLst>
          </a:prstGeom>
          <a:solidFill>
            <a:srgbClr val="0A7E8C">
              <a:alpha val="85000"/>
            </a:srgbClr>
          </a:solidFill>
          <a:ln w="12700">
            <a:solidFill>
              <a:srgbClr val="14B8C8"/>
            </a:solidFill>
            <a:prstDash val="solid"/>
          </a:ln>
        </p:spPr>
      </p:sp>
      <p:sp>
        <p:nvSpPr>
          <p:cNvPr id="9" name="Text 7"/>
          <p:cNvSpPr/>
          <p:nvPr/>
        </p:nvSpPr>
        <p:spPr>
          <a:xfrm>
            <a:off x="594360" y="3337560"/>
            <a:ext cx="41148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Kajola Gbenga Adewale</a:t>
            </a:r>
            <a:endParaRPr lang="en-US" sz="1500" dirty="0"/>
          </a:p>
          <a:p>
            <a:pPr algn="ctr" indent="0" marL="0">
              <a:buNone/>
            </a:pPr>
            <a:r>
              <a:rPr lang="en-US" sz="1200" dirty="0">
                <a:solidFill>
                  <a:srgbClr val="F0C840"/>
                </a:solidFill>
                <a:latin typeface="Calibri" pitchFamily="34" charset="0"/>
                <a:ea typeface="Calibri" pitchFamily="34" charset="-122"/>
                <a:cs typeface="Calibri" pitchFamily="34" charset="-120"/>
              </a:rPr>
              <a:t>Data Expert</a:t>
            </a:r>
            <a:endParaRPr lang="en-US" sz="1500" dirty="0"/>
          </a:p>
        </p:txBody>
      </p:sp>
      <p:sp>
        <p:nvSpPr>
          <p:cNvPr id="10" name="Shape 8"/>
          <p:cNvSpPr/>
          <p:nvPr/>
        </p:nvSpPr>
        <p:spPr>
          <a:xfrm>
            <a:off x="5120640" y="457200"/>
            <a:ext cx="1737360" cy="914400"/>
          </a:xfrm>
          <a:prstGeom prst="roundRect">
            <a:avLst>
              <a:gd name="adj" fmla="val 8000"/>
            </a:avLst>
          </a:prstGeom>
          <a:solidFill>
            <a:srgbClr val="101828"/>
          </a:solidFill>
          <a:ln w="12700">
            <a:solidFill>
              <a:srgbClr val="14B8C8"/>
            </a:solidFill>
            <a:prstDash val="solid"/>
          </a:ln>
        </p:spPr>
      </p:sp>
      <p:sp>
        <p:nvSpPr>
          <p:cNvPr id="11" name="Text 9"/>
          <p:cNvSpPr/>
          <p:nvPr/>
        </p:nvSpPr>
        <p:spPr>
          <a:xfrm>
            <a:off x="5120640" y="457200"/>
            <a:ext cx="1737360" cy="914400"/>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Accuracy</a:t>
            </a:r>
            <a:endParaRPr lang="en-US" sz="1400" dirty="0"/>
          </a:p>
        </p:txBody>
      </p:sp>
      <p:sp>
        <p:nvSpPr>
          <p:cNvPr id="12" name="Shape 10"/>
          <p:cNvSpPr/>
          <p:nvPr/>
        </p:nvSpPr>
        <p:spPr>
          <a:xfrm>
            <a:off x="7040880" y="457200"/>
            <a:ext cx="1737360" cy="914400"/>
          </a:xfrm>
          <a:prstGeom prst="roundRect">
            <a:avLst>
              <a:gd name="adj" fmla="val 8000"/>
            </a:avLst>
          </a:prstGeom>
          <a:solidFill>
            <a:srgbClr val="101828"/>
          </a:solidFill>
          <a:ln w="12700">
            <a:solidFill>
              <a:srgbClr val="14B8C8"/>
            </a:solidFill>
            <a:prstDash val="solid"/>
          </a:ln>
        </p:spPr>
      </p:sp>
      <p:sp>
        <p:nvSpPr>
          <p:cNvPr id="13" name="Text 11"/>
          <p:cNvSpPr/>
          <p:nvPr/>
        </p:nvSpPr>
        <p:spPr>
          <a:xfrm>
            <a:off x="7040880" y="457200"/>
            <a:ext cx="1737360" cy="914400"/>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Precision</a:t>
            </a:r>
            <a:endParaRPr lang="en-US" sz="1400" dirty="0"/>
          </a:p>
        </p:txBody>
      </p:sp>
      <p:sp>
        <p:nvSpPr>
          <p:cNvPr id="14" name="Shape 12"/>
          <p:cNvSpPr/>
          <p:nvPr/>
        </p:nvSpPr>
        <p:spPr>
          <a:xfrm>
            <a:off x="5120640" y="1554480"/>
            <a:ext cx="1737360" cy="914400"/>
          </a:xfrm>
          <a:prstGeom prst="roundRect">
            <a:avLst>
              <a:gd name="adj" fmla="val 8000"/>
            </a:avLst>
          </a:prstGeom>
          <a:solidFill>
            <a:srgbClr val="101828"/>
          </a:solidFill>
          <a:ln w="12700">
            <a:solidFill>
              <a:srgbClr val="14B8C8"/>
            </a:solidFill>
            <a:prstDash val="solid"/>
          </a:ln>
        </p:spPr>
      </p:sp>
      <p:sp>
        <p:nvSpPr>
          <p:cNvPr id="15" name="Text 13"/>
          <p:cNvSpPr/>
          <p:nvPr/>
        </p:nvSpPr>
        <p:spPr>
          <a:xfrm>
            <a:off x="5120640" y="1554480"/>
            <a:ext cx="1737360" cy="914400"/>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Recall</a:t>
            </a:r>
            <a:endParaRPr lang="en-US" sz="1400" dirty="0"/>
          </a:p>
        </p:txBody>
      </p:sp>
      <p:sp>
        <p:nvSpPr>
          <p:cNvPr id="16" name="Shape 14"/>
          <p:cNvSpPr/>
          <p:nvPr/>
        </p:nvSpPr>
        <p:spPr>
          <a:xfrm>
            <a:off x="7040880" y="1554480"/>
            <a:ext cx="1737360" cy="914400"/>
          </a:xfrm>
          <a:prstGeom prst="roundRect">
            <a:avLst>
              <a:gd name="adj" fmla="val 8000"/>
            </a:avLst>
          </a:prstGeom>
          <a:solidFill>
            <a:srgbClr val="101828"/>
          </a:solidFill>
          <a:ln w="12700">
            <a:solidFill>
              <a:srgbClr val="14B8C8"/>
            </a:solidFill>
            <a:prstDash val="solid"/>
          </a:ln>
        </p:spPr>
      </p:sp>
      <p:sp>
        <p:nvSpPr>
          <p:cNvPr id="17" name="Text 15"/>
          <p:cNvSpPr/>
          <p:nvPr/>
        </p:nvSpPr>
        <p:spPr>
          <a:xfrm>
            <a:off x="7040880" y="1554480"/>
            <a:ext cx="1737360" cy="914400"/>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F1</a:t>
            </a:r>
            <a:endParaRPr lang="en-US" sz="1400" dirty="0"/>
          </a:p>
        </p:txBody>
      </p:sp>
      <p:sp>
        <p:nvSpPr>
          <p:cNvPr id="18" name="Shape 16"/>
          <p:cNvSpPr/>
          <p:nvPr/>
        </p:nvSpPr>
        <p:spPr>
          <a:xfrm>
            <a:off x="5120640" y="2651760"/>
            <a:ext cx="1737360" cy="914400"/>
          </a:xfrm>
          <a:prstGeom prst="roundRect">
            <a:avLst>
              <a:gd name="adj" fmla="val 8000"/>
            </a:avLst>
          </a:prstGeom>
          <a:solidFill>
            <a:srgbClr val="101828"/>
          </a:solidFill>
          <a:ln w="12700">
            <a:solidFill>
              <a:srgbClr val="14B8C8"/>
            </a:solidFill>
            <a:prstDash val="solid"/>
          </a:ln>
        </p:spPr>
      </p:sp>
      <p:sp>
        <p:nvSpPr>
          <p:cNvPr id="19" name="Text 17"/>
          <p:cNvSpPr/>
          <p:nvPr/>
        </p:nvSpPr>
        <p:spPr>
          <a:xfrm>
            <a:off x="5120640" y="2651760"/>
            <a:ext cx="1737360" cy="914400"/>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AUC</a:t>
            </a:r>
            <a:endParaRPr lang="en-US" sz="1400" dirty="0"/>
          </a:p>
        </p:txBody>
      </p:sp>
      <p:sp>
        <p:nvSpPr>
          <p:cNvPr id="20" name="Shape 18"/>
          <p:cNvSpPr/>
          <p:nvPr/>
        </p:nvSpPr>
        <p:spPr>
          <a:xfrm>
            <a:off x="7040880" y="2651760"/>
            <a:ext cx="1737360" cy="914400"/>
          </a:xfrm>
          <a:prstGeom prst="roundRect">
            <a:avLst>
              <a:gd name="adj" fmla="val 8000"/>
            </a:avLst>
          </a:prstGeom>
          <a:solidFill>
            <a:srgbClr val="101828"/>
          </a:solidFill>
          <a:ln w="12700">
            <a:solidFill>
              <a:srgbClr val="14B8C8"/>
            </a:solidFill>
            <a:prstDash val="solid"/>
          </a:ln>
        </p:spPr>
      </p:sp>
      <p:sp>
        <p:nvSpPr>
          <p:cNvPr id="21" name="Text 19"/>
          <p:cNvSpPr/>
          <p:nvPr/>
        </p:nvSpPr>
        <p:spPr>
          <a:xfrm>
            <a:off x="7040880" y="2651760"/>
            <a:ext cx="1737360" cy="914400"/>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MCC</a:t>
            </a:r>
            <a:endParaRPr lang="en-US" sz="1400" dirty="0"/>
          </a:p>
        </p:txBody>
      </p:sp>
      <p:sp>
        <p:nvSpPr>
          <p:cNvPr id="22" name="Shape 20"/>
          <p:cNvSpPr/>
          <p:nvPr/>
        </p:nvSpPr>
        <p:spPr>
          <a:xfrm>
            <a:off x="5120640" y="3749040"/>
            <a:ext cx="1737360" cy="914400"/>
          </a:xfrm>
          <a:prstGeom prst="roundRect">
            <a:avLst>
              <a:gd name="adj" fmla="val 8000"/>
            </a:avLst>
          </a:prstGeom>
          <a:solidFill>
            <a:srgbClr val="101828"/>
          </a:solidFill>
          <a:ln w="12700">
            <a:solidFill>
              <a:srgbClr val="14B8C8"/>
            </a:solidFill>
            <a:prstDash val="solid"/>
          </a:ln>
        </p:spPr>
      </p:sp>
      <p:sp>
        <p:nvSpPr>
          <p:cNvPr id="23" name="Text 21"/>
          <p:cNvSpPr/>
          <p:nvPr/>
        </p:nvSpPr>
        <p:spPr>
          <a:xfrm>
            <a:off x="5120640" y="3749040"/>
            <a:ext cx="1737360" cy="914400"/>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RMSE</a:t>
            </a:r>
            <a:endParaRPr lang="en-US" sz="1400" dirty="0"/>
          </a:p>
        </p:txBody>
      </p:sp>
      <p:sp>
        <p:nvSpPr>
          <p:cNvPr id="24" name="Shape 22"/>
          <p:cNvSpPr/>
          <p:nvPr/>
        </p:nvSpPr>
        <p:spPr>
          <a:xfrm>
            <a:off x="7040880" y="3749040"/>
            <a:ext cx="1737360" cy="914400"/>
          </a:xfrm>
          <a:prstGeom prst="roundRect">
            <a:avLst>
              <a:gd name="adj" fmla="val 8000"/>
            </a:avLst>
          </a:prstGeom>
          <a:solidFill>
            <a:srgbClr val="101828"/>
          </a:solidFill>
          <a:ln w="12700">
            <a:solidFill>
              <a:srgbClr val="14B8C8"/>
            </a:solidFill>
            <a:prstDash val="solid"/>
          </a:ln>
        </p:spPr>
      </p:sp>
      <p:sp>
        <p:nvSpPr>
          <p:cNvPr id="25" name="Text 23"/>
          <p:cNvSpPr/>
          <p:nvPr/>
        </p:nvSpPr>
        <p:spPr>
          <a:xfrm>
            <a:off x="7040880" y="3749040"/>
            <a:ext cx="1737360" cy="914400"/>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R²</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80E1C"/>
          </a:solidFill>
          <a:ln w="12700">
            <a:solidFill>
              <a:srgbClr val="080E1C"/>
            </a:solidFill>
            <a:prstDash val="solid"/>
          </a:ln>
        </p:spPr>
      </p:sp>
      <p:sp>
        <p:nvSpPr>
          <p:cNvPr id="3" name="Text 1"/>
          <p:cNvSpPr/>
          <p:nvPr/>
        </p:nvSpPr>
        <p:spPr>
          <a:xfrm>
            <a:off x="137160" y="1097280"/>
            <a:ext cx="2633472" cy="13716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COMPLETE</a:t>
            </a:r>
            <a:endParaRPr lang="en-US" sz="2400" dirty="0"/>
          </a:p>
          <a:p>
            <a:pPr algn="ctr" indent="0" marL="0">
              <a:buNone/>
            </a:pPr>
            <a:r>
              <a:rPr lang="en-US" sz="2400" b="1" dirty="0">
                <a:solidFill>
                  <a:srgbClr val="FFFFFF"/>
                </a:solidFill>
                <a:latin typeface="Cambria" pitchFamily="34" charset="0"/>
                <a:ea typeface="Cambria" pitchFamily="34" charset="-122"/>
                <a:cs typeface="Cambria" pitchFamily="34" charset="-120"/>
              </a:rPr>
              <a:t>AGENDA</a:t>
            </a:r>
            <a:endParaRPr lang="en-US" sz="2400" dirty="0"/>
          </a:p>
        </p:txBody>
      </p:sp>
      <p:sp>
        <p:nvSpPr>
          <p:cNvPr id="4" name="Shape 2"/>
          <p:cNvSpPr/>
          <p:nvPr/>
        </p:nvSpPr>
        <p:spPr>
          <a:xfrm>
            <a:off x="365760" y="2578608"/>
            <a:ext cx="2194560" cy="45720"/>
          </a:xfrm>
          <a:prstGeom prst="rect">
            <a:avLst/>
          </a:prstGeom>
          <a:solidFill>
            <a:srgbClr val="D4A010"/>
          </a:solidFill>
          <a:ln w="12700">
            <a:solidFill>
              <a:srgbClr val="D4A010"/>
            </a:solidFill>
            <a:prstDash val="solid"/>
          </a:ln>
        </p:spPr>
      </p:sp>
      <p:sp>
        <p:nvSpPr>
          <p:cNvPr id="5" name="Text 3"/>
          <p:cNvSpPr/>
          <p:nvPr/>
        </p:nvSpPr>
        <p:spPr>
          <a:xfrm>
            <a:off x="137160" y="2706624"/>
            <a:ext cx="2633472" cy="365760"/>
          </a:xfrm>
          <a:prstGeom prst="rect">
            <a:avLst/>
          </a:prstGeom>
          <a:noFill/>
          <a:ln/>
        </p:spPr>
        <p:txBody>
          <a:bodyPr wrap="square" lIns="0" tIns="0" rIns="0" bIns="0" rtlCol="0" anchor="ctr"/>
          <a:lstStyle/>
          <a:p>
            <a:pPr algn="ctr" indent="0" marL="0">
              <a:buNone/>
            </a:pPr>
            <a:r>
              <a:rPr lang="en-US" sz="1200" dirty="0">
                <a:solidFill>
                  <a:srgbClr val="F0C840"/>
                </a:solidFill>
                <a:latin typeface="Calibri" pitchFamily="34" charset="0"/>
                <a:ea typeface="Calibri" pitchFamily="34" charset="-122"/>
                <a:cs typeface="Calibri" pitchFamily="34" charset="-120"/>
              </a:rPr>
              <a:t>15 Core Topics</a:t>
            </a:r>
            <a:endParaRPr lang="en-US" sz="1200" dirty="0"/>
          </a:p>
        </p:txBody>
      </p:sp>
      <p:sp>
        <p:nvSpPr>
          <p:cNvPr id="6" name="Shape 4"/>
          <p:cNvSpPr/>
          <p:nvPr/>
        </p:nvSpPr>
        <p:spPr>
          <a:xfrm>
            <a:off x="3063240" y="109728"/>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154680" y="228600"/>
            <a:ext cx="310896" cy="310896"/>
          </a:xfrm>
          <a:prstGeom prst="roundRect">
            <a:avLst>
              <a:gd name="adj" fmla="val 11765"/>
            </a:avLst>
          </a:prstGeom>
          <a:solidFill>
            <a:srgbClr val="080E1C"/>
          </a:solidFill>
          <a:ln w="12700">
            <a:solidFill>
              <a:srgbClr val="080E1C"/>
            </a:solidFill>
            <a:prstDash val="solid"/>
          </a:ln>
        </p:spPr>
      </p:sp>
      <p:sp>
        <p:nvSpPr>
          <p:cNvPr id="8" name="Text 6"/>
          <p:cNvSpPr/>
          <p:nvPr/>
        </p:nvSpPr>
        <p:spPr>
          <a:xfrm>
            <a:off x="3154680" y="228600"/>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01</a:t>
            </a:r>
            <a:endParaRPr lang="en-US" sz="800" dirty="0"/>
          </a:p>
        </p:txBody>
      </p:sp>
      <p:sp>
        <p:nvSpPr>
          <p:cNvPr id="9" name="Text 7"/>
          <p:cNvSpPr/>
          <p:nvPr/>
        </p:nvSpPr>
        <p:spPr>
          <a:xfrm>
            <a:off x="3538728" y="164592"/>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Train / Test / Validation Splits</a:t>
            </a:r>
            <a:endParaRPr lang="en-US" sz="950" dirty="0"/>
          </a:p>
        </p:txBody>
      </p:sp>
      <p:sp>
        <p:nvSpPr>
          <p:cNvPr id="10" name="Text 8"/>
          <p:cNvSpPr/>
          <p:nvPr/>
        </p:nvSpPr>
        <p:spPr>
          <a:xfrm>
            <a:off x="3538728" y="438912"/>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Why we split, strategies, K-fold CV</a:t>
            </a:r>
            <a:endParaRPr lang="en-US" sz="800" dirty="0"/>
          </a:p>
        </p:txBody>
      </p:sp>
      <p:sp>
        <p:nvSpPr>
          <p:cNvPr id="11" name="Shape 9"/>
          <p:cNvSpPr/>
          <p:nvPr/>
        </p:nvSpPr>
        <p:spPr>
          <a:xfrm>
            <a:off x="3063240" y="731520"/>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154680" y="850392"/>
            <a:ext cx="310896" cy="310896"/>
          </a:xfrm>
          <a:prstGeom prst="roundRect">
            <a:avLst>
              <a:gd name="adj" fmla="val 11765"/>
            </a:avLst>
          </a:prstGeom>
          <a:solidFill>
            <a:srgbClr val="080E1C"/>
          </a:solidFill>
          <a:ln w="12700">
            <a:solidFill>
              <a:srgbClr val="080E1C"/>
            </a:solidFill>
            <a:prstDash val="solid"/>
          </a:ln>
        </p:spPr>
      </p:sp>
      <p:sp>
        <p:nvSpPr>
          <p:cNvPr id="13" name="Text 11"/>
          <p:cNvSpPr/>
          <p:nvPr/>
        </p:nvSpPr>
        <p:spPr>
          <a:xfrm>
            <a:off x="3154680" y="850392"/>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02</a:t>
            </a:r>
            <a:endParaRPr lang="en-US" sz="800" dirty="0"/>
          </a:p>
        </p:txBody>
      </p:sp>
      <p:sp>
        <p:nvSpPr>
          <p:cNvPr id="14" name="Text 12"/>
          <p:cNvSpPr/>
          <p:nvPr/>
        </p:nvSpPr>
        <p:spPr>
          <a:xfrm>
            <a:off x="3538728" y="786384"/>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Underfitting vs Overfitting</a:t>
            </a:r>
            <a:endParaRPr lang="en-US" sz="950" dirty="0"/>
          </a:p>
        </p:txBody>
      </p:sp>
      <p:sp>
        <p:nvSpPr>
          <p:cNvPr id="15" name="Text 13"/>
          <p:cNvSpPr/>
          <p:nvPr/>
        </p:nvSpPr>
        <p:spPr>
          <a:xfrm>
            <a:off x="3538728" y="1060704"/>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Bias-variance, learning curves, diagnosis</a:t>
            </a:r>
            <a:endParaRPr lang="en-US" sz="800" dirty="0"/>
          </a:p>
        </p:txBody>
      </p:sp>
      <p:sp>
        <p:nvSpPr>
          <p:cNvPr id="16" name="Shape 14"/>
          <p:cNvSpPr/>
          <p:nvPr/>
        </p:nvSpPr>
        <p:spPr>
          <a:xfrm>
            <a:off x="3063240" y="1353312"/>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154680" y="1472184"/>
            <a:ext cx="310896" cy="310896"/>
          </a:xfrm>
          <a:prstGeom prst="roundRect">
            <a:avLst>
              <a:gd name="adj" fmla="val 11765"/>
            </a:avLst>
          </a:prstGeom>
          <a:solidFill>
            <a:srgbClr val="080E1C"/>
          </a:solidFill>
          <a:ln w="12700">
            <a:solidFill>
              <a:srgbClr val="080E1C"/>
            </a:solidFill>
            <a:prstDash val="solid"/>
          </a:ln>
        </p:spPr>
      </p:sp>
      <p:sp>
        <p:nvSpPr>
          <p:cNvPr id="18" name="Text 16"/>
          <p:cNvSpPr/>
          <p:nvPr/>
        </p:nvSpPr>
        <p:spPr>
          <a:xfrm>
            <a:off x="3154680" y="1472184"/>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03</a:t>
            </a:r>
            <a:endParaRPr lang="en-US" sz="800" dirty="0"/>
          </a:p>
        </p:txBody>
      </p:sp>
      <p:sp>
        <p:nvSpPr>
          <p:cNvPr id="19" name="Text 17"/>
          <p:cNvSpPr/>
          <p:nvPr/>
        </p:nvSpPr>
        <p:spPr>
          <a:xfrm>
            <a:off x="3538728" y="1408176"/>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The Confusion Matrix</a:t>
            </a:r>
            <a:endParaRPr lang="en-US" sz="950" dirty="0"/>
          </a:p>
        </p:txBody>
      </p:sp>
      <p:sp>
        <p:nvSpPr>
          <p:cNvPr id="20" name="Text 18"/>
          <p:cNvSpPr/>
          <p:nvPr/>
        </p:nvSpPr>
        <p:spPr>
          <a:xfrm>
            <a:off x="3538728" y="1682496"/>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TP, TN, FP, FN - the foundation of all metrics</a:t>
            </a:r>
            <a:endParaRPr lang="en-US" sz="800" dirty="0"/>
          </a:p>
        </p:txBody>
      </p:sp>
      <p:sp>
        <p:nvSpPr>
          <p:cNvPr id="21" name="Shape 19"/>
          <p:cNvSpPr/>
          <p:nvPr/>
        </p:nvSpPr>
        <p:spPr>
          <a:xfrm>
            <a:off x="3063240" y="1975104"/>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3154680" y="2093976"/>
            <a:ext cx="310896" cy="310896"/>
          </a:xfrm>
          <a:prstGeom prst="roundRect">
            <a:avLst>
              <a:gd name="adj" fmla="val 11765"/>
            </a:avLst>
          </a:prstGeom>
          <a:solidFill>
            <a:srgbClr val="080E1C"/>
          </a:solidFill>
          <a:ln w="12700">
            <a:solidFill>
              <a:srgbClr val="080E1C"/>
            </a:solidFill>
            <a:prstDash val="solid"/>
          </a:ln>
        </p:spPr>
      </p:sp>
      <p:sp>
        <p:nvSpPr>
          <p:cNvPr id="23" name="Text 21"/>
          <p:cNvSpPr/>
          <p:nvPr/>
        </p:nvSpPr>
        <p:spPr>
          <a:xfrm>
            <a:off x="3154680" y="2093976"/>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04</a:t>
            </a:r>
            <a:endParaRPr lang="en-US" sz="800" dirty="0"/>
          </a:p>
        </p:txBody>
      </p:sp>
      <p:sp>
        <p:nvSpPr>
          <p:cNvPr id="24" name="Text 22"/>
          <p:cNvSpPr/>
          <p:nvPr/>
        </p:nvSpPr>
        <p:spPr>
          <a:xfrm>
            <a:off x="3538728" y="2029968"/>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Accuracy</a:t>
            </a:r>
            <a:endParaRPr lang="en-US" sz="950" dirty="0"/>
          </a:p>
        </p:txBody>
      </p:sp>
      <p:sp>
        <p:nvSpPr>
          <p:cNvPr id="25" name="Text 23"/>
          <p:cNvSpPr/>
          <p:nvPr/>
        </p:nvSpPr>
        <p:spPr>
          <a:xfrm>
            <a:off x="3538728" y="2304288"/>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When it works and when it dangerously misleads</a:t>
            </a:r>
            <a:endParaRPr lang="en-US" sz="800" dirty="0"/>
          </a:p>
        </p:txBody>
      </p:sp>
      <p:sp>
        <p:nvSpPr>
          <p:cNvPr id="26" name="Shape 24"/>
          <p:cNvSpPr/>
          <p:nvPr/>
        </p:nvSpPr>
        <p:spPr>
          <a:xfrm>
            <a:off x="3063240" y="2596896"/>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3154680" y="2715768"/>
            <a:ext cx="310896" cy="310896"/>
          </a:xfrm>
          <a:prstGeom prst="roundRect">
            <a:avLst>
              <a:gd name="adj" fmla="val 11765"/>
            </a:avLst>
          </a:prstGeom>
          <a:solidFill>
            <a:srgbClr val="080E1C"/>
          </a:solidFill>
          <a:ln w="12700">
            <a:solidFill>
              <a:srgbClr val="080E1C"/>
            </a:solidFill>
            <a:prstDash val="solid"/>
          </a:ln>
        </p:spPr>
      </p:sp>
      <p:sp>
        <p:nvSpPr>
          <p:cNvPr id="28" name="Text 26"/>
          <p:cNvSpPr/>
          <p:nvPr/>
        </p:nvSpPr>
        <p:spPr>
          <a:xfrm>
            <a:off x="3154680" y="2715768"/>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05</a:t>
            </a:r>
            <a:endParaRPr lang="en-US" sz="800" dirty="0"/>
          </a:p>
        </p:txBody>
      </p:sp>
      <p:sp>
        <p:nvSpPr>
          <p:cNvPr id="29" name="Text 27"/>
          <p:cNvSpPr/>
          <p:nvPr/>
        </p:nvSpPr>
        <p:spPr>
          <a:xfrm>
            <a:off x="3538728" y="2651760"/>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Precision and Recall</a:t>
            </a:r>
            <a:endParaRPr lang="en-US" sz="950" dirty="0"/>
          </a:p>
        </p:txBody>
      </p:sp>
      <p:sp>
        <p:nvSpPr>
          <p:cNvPr id="30" name="Text 28"/>
          <p:cNvSpPr/>
          <p:nvPr/>
        </p:nvSpPr>
        <p:spPr>
          <a:xfrm>
            <a:off x="3538728" y="2926080"/>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The trade-off and when each matters most</a:t>
            </a:r>
            <a:endParaRPr lang="en-US" sz="800" dirty="0"/>
          </a:p>
        </p:txBody>
      </p:sp>
      <p:sp>
        <p:nvSpPr>
          <p:cNvPr id="31" name="Shape 29"/>
          <p:cNvSpPr/>
          <p:nvPr/>
        </p:nvSpPr>
        <p:spPr>
          <a:xfrm>
            <a:off x="3063240" y="3218688"/>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3154680" y="3337560"/>
            <a:ext cx="310896" cy="310896"/>
          </a:xfrm>
          <a:prstGeom prst="roundRect">
            <a:avLst>
              <a:gd name="adj" fmla="val 11765"/>
            </a:avLst>
          </a:prstGeom>
          <a:solidFill>
            <a:srgbClr val="080E1C"/>
          </a:solidFill>
          <a:ln w="12700">
            <a:solidFill>
              <a:srgbClr val="080E1C"/>
            </a:solidFill>
            <a:prstDash val="solid"/>
          </a:ln>
        </p:spPr>
      </p:sp>
      <p:sp>
        <p:nvSpPr>
          <p:cNvPr id="33" name="Text 31"/>
          <p:cNvSpPr/>
          <p:nvPr/>
        </p:nvSpPr>
        <p:spPr>
          <a:xfrm>
            <a:off x="3154680" y="3337560"/>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06</a:t>
            </a:r>
            <a:endParaRPr lang="en-US" sz="800" dirty="0"/>
          </a:p>
        </p:txBody>
      </p:sp>
      <p:sp>
        <p:nvSpPr>
          <p:cNvPr id="34" name="Text 32"/>
          <p:cNvSpPr/>
          <p:nvPr/>
        </p:nvSpPr>
        <p:spPr>
          <a:xfrm>
            <a:off x="3538728" y="3273552"/>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F1 Score and F-Beta</a:t>
            </a:r>
            <a:endParaRPr lang="en-US" sz="950" dirty="0"/>
          </a:p>
        </p:txBody>
      </p:sp>
      <p:sp>
        <p:nvSpPr>
          <p:cNvPr id="35" name="Text 33"/>
          <p:cNvSpPr/>
          <p:nvPr/>
        </p:nvSpPr>
        <p:spPr>
          <a:xfrm>
            <a:off x="3538728" y="3547872"/>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Harmonic mean, beta weighting, interpretation</a:t>
            </a:r>
            <a:endParaRPr lang="en-US" sz="800" dirty="0"/>
          </a:p>
        </p:txBody>
      </p:sp>
      <p:sp>
        <p:nvSpPr>
          <p:cNvPr id="36" name="Shape 34"/>
          <p:cNvSpPr/>
          <p:nvPr/>
        </p:nvSpPr>
        <p:spPr>
          <a:xfrm>
            <a:off x="3063240" y="3840480"/>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3154680" y="3959352"/>
            <a:ext cx="310896" cy="310896"/>
          </a:xfrm>
          <a:prstGeom prst="roundRect">
            <a:avLst>
              <a:gd name="adj" fmla="val 11765"/>
            </a:avLst>
          </a:prstGeom>
          <a:solidFill>
            <a:srgbClr val="080E1C"/>
          </a:solidFill>
          <a:ln w="12700">
            <a:solidFill>
              <a:srgbClr val="080E1C"/>
            </a:solidFill>
            <a:prstDash val="solid"/>
          </a:ln>
        </p:spPr>
      </p:sp>
      <p:sp>
        <p:nvSpPr>
          <p:cNvPr id="38" name="Text 36"/>
          <p:cNvSpPr/>
          <p:nvPr/>
        </p:nvSpPr>
        <p:spPr>
          <a:xfrm>
            <a:off x="3154680" y="3959352"/>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07</a:t>
            </a:r>
            <a:endParaRPr lang="en-US" sz="800" dirty="0"/>
          </a:p>
        </p:txBody>
      </p:sp>
      <p:sp>
        <p:nvSpPr>
          <p:cNvPr id="39" name="Text 37"/>
          <p:cNvSpPr/>
          <p:nvPr/>
        </p:nvSpPr>
        <p:spPr>
          <a:xfrm>
            <a:off x="3538728" y="3895344"/>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Macro / Micro / Weighted Avg</a:t>
            </a:r>
            <a:endParaRPr lang="en-US" sz="950" dirty="0"/>
          </a:p>
        </p:txBody>
      </p:sp>
      <p:sp>
        <p:nvSpPr>
          <p:cNvPr id="40" name="Text 38"/>
          <p:cNvSpPr/>
          <p:nvPr/>
        </p:nvSpPr>
        <p:spPr>
          <a:xfrm>
            <a:off x="3538728" y="4169664"/>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Multi-class aggregation strategies</a:t>
            </a:r>
            <a:endParaRPr lang="en-US" sz="800" dirty="0"/>
          </a:p>
        </p:txBody>
      </p:sp>
      <p:sp>
        <p:nvSpPr>
          <p:cNvPr id="41" name="Shape 39"/>
          <p:cNvSpPr/>
          <p:nvPr/>
        </p:nvSpPr>
        <p:spPr>
          <a:xfrm>
            <a:off x="3063240" y="4462272"/>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42" name="Shape 40"/>
          <p:cNvSpPr/>
          <p:nvPr/>
        </p:nvSpPr>
        <p:spPr>
          <a:xfrm>
            <a:off x="3154680" y="4581144"/>
            <a:ext cx="310896" cy="310896"/>
          </a:xfrm>
          <a:prstGeom prst="roundRect">
            <a:avLst>
              <a:gd name="adj" fmla="val 11765"/>
            </a:avLst>
          </a:prstGeom>
          <a:solidFill>
            <a:srgbClr val="080E1C"/>
          </a:solidFill>
          <a:ln w="12700">
            <a:solidFill>
              <a:srgbClr val="080E1C"/>
            </a:solidFill>
            <a:prstDash val="solid"/>
          </a:ln>
        </p:spPr>
      </p:sp>
      <p:sp>
        <p:nvSpPr>
          <p:cNvPr id="43" name="Text 41"/>
          <p:cNvSpPr/>
          <p:nvPr/>
        </p:nvSpPr>
        <p:spPr>
          <a:xfrm>
            <a:off x="3154680" y="4581144"/>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08</a:t>
            </a:r>
            <a:endParaRPr lang="en-US" sz="800" dirty="0"/>
          </a:p>
        </p:txBody>
      </p:sp>
      <p:sp>
        <p:nvSpPr>
          <p:cNvPr id="44" name="Text 42"/>
          <p:cNvSpPr/>
          <p:nvPr/>
        </p:nvSpPr>
        <p:spPr>
          <a:xfrm>
            <a:off x="3538728" y="4517136"/>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ROC Curves and AUC</a:t>
            </a:r>
            <a:endParaRPr lang="en-US" sz="950" dirty="0"/>
          </a:p>
        </p:txBody>
      </p:sp>
      <p:sp>
        <p:nvSpPr>
          <p:cNvPr id="45" name="Text 43"/>
          <p:cNvSpPr/>
          <p:nvPr/>
        </p:nvSpPr>
        <p:spPr>
          <a:xfrm>
            <a:off x="3538728" y="4791456"/>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Threshold-independent discrimination metric</a:t>
            </a:r>
            <a:endParaRPr lang="en-US" sz="800" dirty="0"/>
          </a:p>
        </p:txBody>
      </p:sp>
      <p:sp>
        <p:nvSpPr>
          <p:cNvPr id="46" name="Shape 44"/>
          <p:cNvSpPr/>
          <p:nvPr/>
        </p:nvSpPr>
        <p:spPr>
          <a:xfrm>
            <a:off x="6080760" y="109728"/>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47" name="Shape 45"/>
          <p:cNvSpPr/>
          <p:nvPr/>
        </p:nvSpPr>
        <p:spPr>
          <a:xfrm>
            <a:off x="6172200" y="228600"/>
            <a:ext cx="310896" cy="310896"/>
          </a:xfrm>
          <a:prstGeom prst="roundRect">
            <a:avLst>
              <a:gd name="adj" fmla="val 11765"/>
            </a:avLst>
          </a:prstGeom>
          <a:solidFill>
            <a:srgbClr val="080E1C"/>
          </a:solidFill>
          <a:ln w="12700">
            <a:solidFill>
              <a:srgbClr val="080E1C"/>
            </a:solidFill>
            <a:prstDash val="solid"/>
          </a:ln>
        </p:spPr>
      </p:sp>
      <p:sp>
        <p:nvSpPr>
          <p:cNvPr id="48" name="Text 46"/>
          <p:cNvSpPr/>
          <p:nvPr/>
        </p:nvSpPr>
        <p:spPr>
          <a:xfrm>
            <a:off x="6172200" y="228600"/>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09</a:t>
            </a:r>
            <a:endParaRPr lang="en-US" sz="800" dirty="0"/>
          </a:p>
        </p:txBody>
      </p:sp>
      <p:sp>
        <p:nvSpPr>
          <p:cNvPr id="49" name="Text 47"/>
          <p:cNvSpPr/>
          <p:nvPr/>
        </p:nvSpPr>
        <p:spPr>
          <a:xfrm>
            <a:off x="6556248" y="164592"/>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PR Curves and PR-AUC</a:t>
            </a:r>
            <a:endParaRPr lang="en-US" sz="950" dirty="0"/>
          </a:p>
        </p:txBody>
      </p:sp>
      <p:sp>
        <p:nvSpPr>
          <p:cNvPr id="50" name="Text 48"/>
          <p:cNvSpPr/>
          <p:nvPr/>
        </p:nvSpPr>
        <p:spPr>
          <a:xfrm>
            <a:off x="6556248" y="438912"/>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The imbalanced dataset evaluation tool</a:t>
            </a:r>
            <a:endParaRPr lang="en-US" sz="800" dirty="0"/>
          </a:p>
        </p:txBody>
      </p:sp>
      <p:sp>
        <p:nvSpPr>
          <p:cNvPr id="51" name="Shape 49"/>
          <p:cNvSpPr/>
          <p:nvPr/>
        </p:nvSpPr>
        <p:spPr>
          <a:xfrm>
            <a:off x="6080760" y="731520"/>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52" name="Shape 50"/>
          <p:cNvSpPr/>
          <p:nvPr/>
        </p:nvSpPr>
        <p:spPr>
          <a:xfrm>
            <a:off x="6172200" y="850392"/>
            <a:ext cx="310896" cy="310896"/>
          </a:xfrm>
          <a:prstGeom prst="roundRect">
            <a:avLst>
              <a:gd name="adj" fmla="val 11765"/>
            </a:avLst>
          </a:prstGeom>
          <a:solidFill>
            <a:srgbClr val="080E1C"/>
          </a:solidFill>
          <a:ln w="12700">
            <a:solidFill>
              <a:srgbClr val="080E1C"/>
            </a:solidFill>
            <a:prstDash val="solid"/>
          </a:ln>
        </p:spPr>
      </p:sp>
      <p:sp>
        <p:nvSpPr>
          <p:cNvPr id="53" name="Text 51"/>
          <p:cNvSpPr/>
          <p:nvPr/>
        </p:nvSpPr>
        <p:spPr>
          <a:xfrm>
            <a:off x="6172200" y="850392"/>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10</a:t>
            </a:r>
            <a:endParaRPr lang="en-US" sz="800" dirty="0"/>
          </a:p>
        </p:txBody>
      </p:sp>
      <p:sp>
        <p:nvSpPr>
          <p:cNvPr id="54" name="Text 52"/>
          <p:cNvSpPr/>
          <p:nvPr/>
        </p:nvSpPr>
        <p:spPr>
          <a:xfrm>
            <a:off x="6556248" y="786384"/>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MCC and Balanced Accuracy</a:t>
            </a:r>
            <a:endParaRPr lang="en-US" sz="950" dirty="0"/>
          </a:p>
        </p:txBody>
      </p:sp>
      <p:sp>
        <p:nvSpPr>
          <p:cNvPr id="55" name="Text 53"/>
          <p:cNvSpPr/>
          <p:nvPr/>
        </p:nvSpPr>
        <p:spPr>
          <a:xfrm>
            <a:off x="6556248" y="1060704"/>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Robust metrics for all scenarios</a:t>
            </a:r>
            <a:endParaRPr lang="en-US" sz="800" dirty="0"/>
          </a:p>
        </p:txBody>
      </p:sp>
      <p:sp>
        <p:nvSpPr>
          <p:cNvPr id="56" name="Shape 54"/>
          <p:cNvSpPr/>
          <p:nvPr/>
        </p:nvSpPr>
        <p:spPr>
          <a:xfrm>
            <a:off x="6080760" y="1353312"/>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57" name="Shape 55"/>
          <p:cNvSpPr/>
          <p:nvPr/>
        </p:nvSpPr>
        <p:spPr>
          <a:xfrm>
            <a:off x="6172200" y="1472184"/>
            <a:ext cx="310896" cy="310896"/>
          </a:xfrm>
          <a:prstGeom prst="roundRect">
            <a:avLst>
              <a:gd name="adj" fmla="val 11765"/>
            </a:avLst>
          </a:prstGeom>
          <a:solidFill>
            <a:srgbClr val="080E1C"/>
          </a:solidFill>
          <a:ln w="12700">
            <a:solidFill>
              <a:srgbClr val="080E1C"/>
            </a:solidFill>
            <a:prstDash val="solid"/>
          </a:ln>
        </p:spPr>
      </p:sp>
      <p:sp>
        <p:nvSpPr>
          <p:cNvPr id="58" name="Text 56"/>
          <p:cNvSpPr/>
          <p:nvPr/>
        </p:nvSpPr>
        <p:spPr>
          <a:xfrm>
            <a:off x="6172200" y="1472184"/>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11</a:t>
            </a:r>
            <a:endParaRPr lang="en-US" sz="800" dirty="0"/>
          </a:p>
        </p:txBody>
      </p:sp>
      <p:sp>
        <p:nvSpPr>
          <p:cNvPr id="59" name="Text 57"/>
          <p:cNvSpPr/>
          <p:nvPr/>
        </p:nvSpPr>
        <p:spPr>
          <a:xfrm>
            <a:off x="6556248" y="1408176"/>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Log Loss, Cohen's Kappa, G-Mean</a:t>
            </a:r>
            <a:endParaRPr lang="en-US" sz="950" dirty="0"/>
          </a:p>
        </p:txBody>
      </p:sp>
      <p:sp>
        <p:nvSpPr>
          <p:cNvPr id="60" name="Text 58"/>
          <p:cNvSpPr/>
          <p:nvPr/>
        </p:nvSpPr>
        <p:spPr>
          <a:xfrm>
            <a:off x="6556248" y="1682496"/>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Probability and agreement metrics</a:t>
            </a:r>
            <a:endParaRPr lang="en-US" sz="800" dirty="0"/>
          </a:p>
        </p:txBody>
      </p:sp>
      <p:sp>
        <p:nvSpPr>
          <p:cNvPr id="61" name="Shape 59"/>
          <p:cNvSpPr/>
          <p:nvPr/>
        </p:nvSpPr>
        <p:spPr>
          <a:xfrm>
            <a:off x="6080760" y="1975104"/>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62" name="Shape 60"/>
          <p:cNvSpPr/>
          <p:nvPr/>
        </p:nvSpPr>
        <p:spPr>
          <a:xfrm>
            <a:off x="6172200" y="2093976"/>
            <a:ext cx="310896" cy="310896"/>
          </a:xfrm>
          <a:prstGeom prst="roundRect">
            <a:avLst>
              <a:gd name="adj" fmla="val 11765"/>
            </a:avLst>
          </a:prstGeom>
          <a:solidFill>
            <a:srgbClr val="080E1C"/>
          </a:solidFill>
          <a:ln w="12700">
            <a:solidFill>
              <a:srgbClr val="080E1C"/>
            </a:solidFill>
            <a:prstDash val="solid"/>
          </a:ln>
        </p:spPr>
      </p:sp>
      <p:sp>
        <p:nvSpPr>
          <p:cNvPr id="63" name="Text 61"/>
          <p:cNvSpPr/>
          <p:nvPr/>
        </p:nvSpPr>
        <p:spPr>
          <a:xfrm>
            <a:off x="6172200" y="2093976"/>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12</a:t>
            </a:r>
            <a:endParaRPr lang="en-US" sz="800" dirty="0"/>
          </a:p>
        </p:txBody>
      </p:sp>
      <p:sp>
        <p:nvSpPr>
          <p:cNvPr id="64" name="Text 62"/>
          <p:cNvSpPr/>
          <p:nvPr/>
        </p:nvSpPr>
        <p:spPr>
          <a:xfrm>
            <a:off x="6556248" y="2029968"/>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Regression Metrics</a:t>
            </a:r>
            <a:endParaRPr lang="en-US" sz="950" dirty="0"/>
          </a:p>
        </p:txBody>
      </p:sp>
      <p:sp>
        <p:nvSpPr>
          <p:cNvPr id="65" name="Text 63"/>
          <p:cNvSpPr/>
          <p:nvPr/>
        </p:nvSpPr>
        <p:spPr>
          <a:xfrm>
            <a:off x="6556248" y="2304288"/>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MAE, MSE, RMSE, R², MAPE, Huber</a:t>
            </a:r>
            <a:endParaRPr lang="en-US" sz="800" dirty="0"/>
          </a:p>
        </p:txBody>
      </p:sp>
      <p:sp>
        <p:nvSpPr>
          <p:cNvPr id="66" name="Shape 64"/>
          <p:cNvSpPr/>
          <p:nvPr/>
        </p:nvSpPr>
        <p:spPr>
          <a:xfrm>
            <a:off x="6080760" y="2596896"/>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67" name="Shape 65"/>
          <p:cNvSpPr/>
          <p:nvPr/>
        </p:nvSpPr>
        <p:spPr>
          <a:xfrm>
            <a:off x="6172200" y="2715768"/>
            <a:ext cx="310896" cy="310896"/>
          </a:xfrm>
          <a:prstGeom prst="roundRect">
            <a:avLst>
              <a:gd name="adj" fmla="val 11765"/>
            </a:avLst>
          </a:prstGeom>
          <a:solidFill>
            <a:srgbClr val="080E1C"/>
          </a:solidFill>
          <a:ln w="12700">
            <a:solidFill>
              <a:srgbClr val="080E1C"/>
            </a:solidFill>
            <a:prstDash val="solid"/>
          </a:ln>
        </p:spPr>
      </p:sp>
      <p:sp>
        <p:nvSpPr>
          <p:cNvPr id="68" name="Text 66"/>
          <p:cNvSpPr/>
          <p:nvPr/>
        </p:nvSpPr>
        <p:spPr>
          <a:xfrm>
            <a:off x="6172200" y="2715768"/>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13</a:t>
            </a:r>
            <a:endParaRPr lang="en-US" sz="800" dirty="0"/>
          </a:p>
        </p:txBody>
      </p:sp>
      <p:sp>
        <p:nvSpPr>
          <p:cNvPr id="69" name="Text 67"/>
          <p:cNvSpPr/>
          <p:nvPr/>
        </p:nvSpPr>
        <p:spPr>
          <a:xfrm>
            <a:off x="6556248" y="2651760"/>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Clustering Metrics</a:t>
            </a:r>
            <a:endParaRPr lang="en-US" sz="950" dirty="0"/>
          </a:p>
        </p:txBody>
      </p:sp>
      <p:sp>
        <p:nvSpPr>
          <p:cNvPr id="70" name="Text 68"/>
          <p:cNvSpPr/>
          <p:nvPr/>
        </p:nvSpPr>
        <p:spPr>
          <a:xfrm>
            <a:off x="6556248" y="2926080"/>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Silhouette, DBI, CH Index, ARI</a:t>
            </a:r>
            <a:endParaRPr lang="en-US" sz="800" dirty="0"/>
          </a:p>
        </p:txBody>
      </p:sp>
      <p:sp>
        <p:nvSpPr>
          <p:cNvPr id="71" name="Shape 69"/>
          <p:cNvSpPr/>
          <p:nvPr/>
        </p:nvSpPr>
        <p:spPr>
          <a:xfrm>
            <a:off x="6080760" y="3218688"/>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72" name="Shape 70"/>
          <p:cNvSpPr/>
          <p:nvPr/>
        </p:nvSpPr>
        <p:spPr>
          <a:xfrm>
            <a:off x="6172200" y="3337560"/>
            <a:ext cx="310896" cy="310896"/>
          </a:xfrm>
          <a:prstGeom prst="roundRect">
            <a:avLst>
              <a:gd name="adj" fmla="val 11765"/>
            </a:avLst>
          </a:prstGeom>
          <a:solidFill>
            <a:srgbClr val="080E1C"/>
          </a:solidFill>
          <a:ln w="12700">
            <a:solidFill>
              <a:srgbClr val="080E1C"/>
            </a:solidFill>
            <a:prstDash val="solid"/>
          </a:ln>
        </p:spPr>
      </p:sp>
      <p:sp>
        <p:nvSpPr>
          <p:cNvPr id="73" name="Text 71"/>
          <p:cNvSpPr/>
          <p:nvPr/>
        </p:nvSpPr>
        <p:spPr>
          <a:xfrm>
            <a:off x="6172200" y="3337560"/>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14</a:t>
            </a:r>
            <a:endParaRPr lang="en-US" sz="800" dirty="0"/>
          </a:p>
        </p:txBody>
      </p:sp>
      <p:sp>
        <p:nvSpPr>
          <p:cNvPr id="74" name="Text 72"/>
          <p:cNvSpPr/>
          <p:nvPr/>
        </p:nvSpPr>
        <p:spPr>
          <a:xfrm>
            <a:off x="6556248" y="3273552"/>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Choosing the Right Metric</a:t>
            </a:r>
            <a:endParaRPr lang="en-US" sz="950" dirty="0"/>
          </a:p>
        </p:txBody>
      </p:sp>
      <p:sp>
        <p:nvSpPr>
          <p:cNvPr id="75" name="Text 73"/>
          <p:cNvSpPr/>
          <p:nvPr/>
        </p:nvSpPr>
        <p:spPr>
          <a:xfrm>
            <a:off x="6556248" y="3547872"/>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Decision framework for any problem type</a:t>
            </a:r>
            <a:endParaRPr lang="en-US" sz="800" dirty="0"/>
          </a:p>
        </p:txBody>
      </p:sp>
      <p:sp>
        <p:nvSpPr>
          <p:cNvPr id="76" name="Shape 74"/>
          <p:cNvSpPr/>
          <p:nvPr/>
        </p:nvSpPr>
        <p:spPr>
          <a:xfrm>
            <a:off x="6080760" y="3840480"/>
            <a:ext cx="2880360" cy="585216"/>
          </a:xfrm>
          <a:prstGeom prst="roundRect">
            <a:avLst>
              <a:gd name="adj" fmla="val 9375"/>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77" name="Shape 75"/>
          <p:cNvSpPr/>
          <p:nvPr/>
        </p:nvSpPr>
        <p:spPr>
          <a:xfrm>
            <a:off x="6172200" y="3959352"/>
            <a:ext cx="310896" cy="310896"/>
          </a:xfrm>
          <a:prstGeom prst="roundRect">
            <a:avLst>
              <a:gd name="adj" fmla="val 11765"/>
            </a:avLst>
          </a:prstGeom>
          <a:solidFill>
            <a:srgbClr val="080E1C"/>
          </a:solidFill>
          <a:ln w="12700">
            <a:solidFill>
              <a:srgbClr val="080E1C"/>
            </a:solidFill>
            <a:prstDash val="solid"/>
          </a:ln>
        </p:spPr>
      </p:sp>
      <p:sp>
        <p:nvSpPr>
          <p:cNvPr id="78" name="Text 76"/>
          <p:cNvSpPr/>
          <p:nvPr/>
        </p:nvSpPr>
        <p:spPr>
          <a:xfrm>
            <a:off x="6172200" y="3959352"/>
            <a:ext cx="310896" cy="310896"/>
          </a:xfrm>
          <a:prstGeom prst="rect">
            <a:avLst/>
          </a:prstGeom>
          <a:noFill/>
          <a:ln/>
        </p:spPr>
        <p:txBody>
          <a:bodyPr wrap="square" lIns="0" tIns="0" rIns="0" bIns="0" rtlCol="0" anchor="ctr"/>
          <a:lstStyle/>
          <a:p>
            <a:pPr algn="ctr" indent="0" marL="0">
              <a:buNone/>
            </a:pPr>
            <a:r>
              <a:rPr lang="en-US" sz="800" b="1" dirty="0">
                <a:solidFill>
                  <a:srgbClr val="F0C840"/>
                </a:solidFill>
                <a:latin typeface="Calibri" pitchFamily="34" charset="0"/>
                <a:ea typeface="Calibri" pitchFamily="34" charset="-122"/>
                <a:cs typeface="Calibri" pitchFamily="34" charset="-120"/>
              </a:rPr>
              <a:t>15</a:t>
            </a:r>
            <a:endParaRPr lang="en-US" sz="800" dirty="0"/>
          </a:p>
        </p:txBody>
      </p:sp>
      <p:sp>
        <p:nvSpPr>
          <p:cNvPr id="79" name="Text 77"/>
          <p:cNvSpPr/>
          <p:nvPr/>
        </p:nvSpPr>
        <p:spPr>
          <a:xfrm>
            <a:off x="6556248" y="3895344"/>
            <a:ext cx="2331720" cy="237744"/>
          </a:xfrm>
          <a:prstGeom prst="rect">
            <a:avLst/>
          </a:prstGeom>
          <a:noFill/>
          <a:ln/>
        </p:spPr>
        <p:txBody>
          <a:bodyPr wrap="square" lIns="0" tIns="0" rIns="0" bIns="0" rtlCol="0" anchor="ctr"/>
          <a:lstStyle/>
          <a:p>
            <a:pPr indent="0" marL="0">
              <a:buNone/>
            </a:pPr>
            <a:r>
              <a:rPr lang="en-US" sz="950" b="1" dirty="0">
                <a:solidFill>
                  <a:srgbClr val="080E1C"/>
                </a:solidFill>
                <a:latin typeface="Calibri" pitchFamily="34" charset="0"/>
                <a:ea typeface="Calibri" pitchFamily="34" charset="-122"/>
                <a:cs typeface="Calibri" pitchFamily="34" charset="-120"/>
              </a:rPr>
              <a:t>Common Mistakes to Avoid</a:t>
            </a:r>
            <a:endParaRPr lang="en-US" sz="950" dirty="0"/>
          </a:p>
        </p:txBody>
      </p:sp>
      <p:sp>
        <p:nvSpPr>
          <p:cNvPr id="80" name="Text 78"/>
          <p:cNvSpPr/>
          <p:nvPr/>
        </p:nvSpPr>
        <p:spPr>
          <a:xfrm>
            <a:off x="6556248" y="4169664"/>
            <a:ext cx="23317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leakage, test contamination, imbalance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ML METRICS  |  SECTION 01</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Train / Test / Validation Splits</a:t>
            </a:r>
            <a:endParaRPr lang="en-US" sz="38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Building an honest evaluation pipeline from the very beginning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80E1C"/>
          </a:solidFill>
          <a:ln w="12700">
            <a:solidFill>
              <a:srgbClr val="080E1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Three-Way Split - Why and How</a:t>
            </a:r>
            <a:endParaRPr lang="en-US" sz="2100" dirty="0"/>
          </a:p>
        </p:txBody>
      </p:sp>
      <p:sp>
        <p:nvSpPr>
          <p:cNvPr id="4" name="Shape 2"/>
          <p:cNvSpPr/>
          <p:nvPr/>
        </p:nvSpPr>
        <p:spPr>
          <a:xfrm>
            <a:off x="274320" y="1024128"/>
            <a:ext cx="8595360" cy="512064"/>
          </a:xfrm>
          <a:prstGeom prst="roundRect">
            <a:avLst>
              <a:gd name="adj" fmla="val 12500"/>
            </a:avLst>
          </a:prstGeom>
          <a:solidFill>
            <a:srgbClr val="101828"/>
          </a:solidFill>
          <a:ln w="10160">
            <a:solidFill>
              <a:srgbClr val="14B8C8"/>
            </a:solidFill>
            <a:prstDash val="solid"/>
          </a:ln>
        </p:spPr>
      </p:sp>
      <p:sp>
        <p:nvSpPr>
          <p:cNvPr id="5" name="Text 3"/>
          <p:cNvSpPr/>
          <p:nvPr/>
        </p:nvSpPr>
        <p:spPr>
          <a:xfrm>
            <a:off x="365760" y="1078992"/>
            <a:ext cx="8321040" cy="384048"/>
          </a:xfrm>
          <a:prstGeom prst="rect">
            <a:avLst/>
          </a:prstGeom>
          <a:noFill/>
          <a:ln/>
        </p:spPr>
        <p:txBody>
          <a:bodyPr wrap="square" lIns="0" tIns="0" rIns="0" bIns="0" rtlCol="0" anchor="ctr"/>
          <a:lstStyle/>
          <a:p>
            <a:pPr algn="ctr" indent="0" marL="0">
              <a:buNone/>
            </a:pPr>
            <a:r>
              <a:rPr lang="en-US" sz="1400" b="1" dirty="0">
                <a:solidFill>
                  <a:srgbClr val="14B8C8"/>
                </a:solidFill>
                <a:latin typeface="Calibri" pitchFamily="34" charset="0"/>
                <a:ea typeface="Calibri" pitchFamily="34" charset="-122"/>
                <a:cs typeface="Calibri" pitchFamily="34" charset="-120"/>
              </a:rPr>
              <a:t>Full Dataset (N = 10,000 UAC Foods customers)</a:t>
            </a:r>
            <a:endParaRPr lang="en-US" sz="1400" dirty="0"/>
          </a:p>
        </p:txBody>
      </p:sp>
      <p:sp>
        <p:nvSpPr>
          <p:cNvPr id="6" name="Shape 4"/>
          <p:cNvSpPr/>
          <p:nvPr/>
        </p:nvSpPr>
        <p:spPr>
          <a:xfrm>
            <a:off x="1005840" y="1554480"/>
            <a:ext cx="0" cy="329184"/>
          </a:xfrm>
          <a:prstGeom prst="line">
            <a:avLst/>
          </a:prstGeom>
          <a:noFill/>
          <a:ln w="25400">
            <a:solidFill>
              <a:srgbClr val="0A7E8C"/>
            </a:solidFill>
            <a:prstDash val="solid"/>
          </a:ln>
        </p:spPr>
      </p:sp>
      <p:sp>
        <p:nvSpPr>
          <p:cNvPr id="7" name="Shape 5"/>
          <p:cNvSpPr/>
          <p:nvPr/>
        </p:nvSpPr>
        <p:spPr>
          <a:xfrm>
            <a:off x="4572000" y="1554480"/>
            <a:ext cx="0" cy="329184"/>
          </a:xfrm>
          <a:prstGeom prst="line">
            <a:avLst/>
          </a:prstGeom>
          <a:noFill/>
          <a:ln w="25400">
            <a:solidFill>
              <a:srgbClr val="D4A010"/>
            </a:solidFill>
            <a:prstDash val="solid"/>
          </a:ln>
        </p:spPr>
      </p:sp>
      <p:sp>
        <p:nvSpPr>
          <p:cNvPr id="8" name="Shape 6"/>
          <p:cNvSpPr/>
          <p:nvPr/>
        </p:nvSpPr>
        <p:spPr>
          <a:xfrm>
            <a:off x="7406640" y="1554480"/>
            <a:ext cx="0" cy="329184"/>
          </a:xfrm>
          <a:prstGeom prst="line">
            <a:avLst/>
          </a:prstGeom>
          <a:noFill/>
          <a:ln w="25400">
            <a:solidFill>
              <a:srgbClr val="E02020"/>
            </a:solidFill>
            <a:prstDash val="solid"/>
          </a:ln>
        </p:spPr>
      </p:sp>
      <p:sp>
        <p:nvSpPr>
          <p:cNvPr id="9" name="Shape 7"/>
          <p:cNvSpPr/>
          <p:nvPr/>
        </p:nvSpPr>
        <p:spPr>
          <a:xfrm>
            <a:off x="256032" y="1901952"/>
            <a:ext cx="3474720" cy="2743200"/>
          </a:xfrm>
          <a:prstGeom prst="roundRect">
            <a:avLst>
              <a:gd name="adj" fmla="val 3000"/>
            </a:avLst>
          </a:prstGeom>
          <a:solidFill>
            <a:srgbClr val="E0F7FA"/>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0" name="Shape 8"/>
          <p:cNvSpPr/>
          <p:nvPr/>
        </p:nvSpPr>
        <p:spPr>
          <a:xfrm>
            <a:off x="310896" y="1975104"/>
            <a:ext cx="3364992" cy="347472"/>
          </a:xfrm>
          <a:prstGeom prst="roundRect">
            <a:avLst>
              <a:gd name="adj" fmla="val 15789"/>
            </a:avLst>
          </a:prstGeom>
          <a:solidFill>
            <a:srgbClr val="0A7E8C"/>
          </a:solidFill>
          <a:ln w="12700">
            <a:solidFill>
              <a:srgbClr val="0A7E8C"/>
            </a:solidFill>
            <a:prstDash val="solid"/>
          </a:ln>
        </p:spPr>
      </p:sp>
      <p:sp>
        <p:nvSpPr>
          <p:cNvPr id="11" name="Text 9"/>
          <p:cNvSpPr/>
          <p:nvPr/>
        </p:nvSpPr>
        <p:spPr>
          <a:xfrm>
            <a:off x="310896" y="1975104"/>
            <a:ext cx="336499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TRAINING SET</a:t>
            </a:r>
            <a:endParaRPr lang="en-US" sz="1100" dirty="0"/>
          </a:p>
        </p:txBody>
      </p:sp>
      <p:sp>
        <p:nvSpPr>
          <p:cNvPr id="12" name="Text 10"/>
          <p:cNvSpPr/>
          <p:nvPr/>
        </p:nvSpPr>
        <p:spPr>
          <a:xfrm>
            <a:off x="347472" y="2377440"/>
            <a:ext cx="3346704" cy="256032"/>
          </a:xfrm>
          <a:prstGeom prst="rect">
            <a:avLst/>
          </a:prstGeom>
          <a:noFill/>
          <a:ln/>
        </p:spPr>
        <p:txBody>
          <a:bodyPr wrap="square" lIns="0" tIns="0" rIns="0" bIns="0" rtlCol="0" anchor="ctr"/>
          <a:lstStyle/>
          <a:p>
            <a:pPr algn="ctr" indent="0" marL="0">
              <a:buNone/>
            </a:pPr>
            <a:r>
              <a:rPr lang="en-US" sz="1000" b="1" dirty="0">
                <a:solidFill>
                  <a:srgbClr val="0A7E8C"/>
                </a:solidFill>
                <a:latin typeface="Calibri" pitchFamily="34" charset="0"/>
                <a:ea typeface="Calibri" pitchFamily="34" charset="-122"/>
                <a:cs typeface="Calibri" pitchFamily="34" charset="-120"/>
              </a:rPr>
              <a:t>70% = 7,000 customers</a:t>
            </a:r>
            <a:endParaRPr lang="en-US" sz="1000" dirty="0"/>
          </a:p>
        </p:txBody>
      </p:sp>
      <p:sp>
        <p:nvSpPr>
          <p:cNvPr id="13" name="Text 11"/>
          <p:cNvSpPr/>
          <p:nvPr/>
        </p:nvSpPr>
        <p:spPr>
          <a:xfrm>
            <a:off x="365760" y="2688336"/>
            <a:ext cx="329184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Model learns from this data</a:t>
            </a:r>
            <a:endParaRPr lang="en-US" sz="950" dirty="0"/>
          </a:p>
        </p:txBody>
      </p:sp>
      <p:sp>
        <p:nvSpPr>
          <p:cNvPr id="14" name="Text 12"/>
          <p:cNvSpPr/>
          <p:nvPr/>
        </p:nvSpPr>
        <p:spPr>
          <a:xfrm>
            <a:off x="365760" y="3108960"/>
            <a:ext cx="329184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Parameters optimised here</a:t>
            </a:r>
            <a:endParaRPr lang="en-US" sz="950" dirty="0"/>
          </a:p>
        </p:txBody>
      </p:sp>
      <p:sp>
        <p:nvSpPr>
          <p:cNvPr id="15" name="Text 13"/>
          <p:cNvSpPr/>
          <p:nvPr/>
        </p:nvSpPr>
        <p:spPr>
          <a:xfrm>
            <a:off x="365760" y="3529584"/>
            <a:ext cx="329184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Can be seen many times</a:t>
            </a:r>
            <a:endParaRPr lang="en-US" sz="950" dirty="0"/>
          </a:p>
        </p:txBody>
      </p:sp>
      <p:sp>
        <p:nvSpPr>
          <p:cNvPr id="16" name="Text 14"/>
          <p:cNvSpPr/>
          <p:nvPr/>
        </p:nvSpPr>
        <p:spPr>
          <a:xfrm>
            <a:off x="365760" y="3950208"/>
            <a:ext cx="329184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Never used for evaluation</a:t>
            </a:r>
            <a:endParaRPr lang="en-US" sz="950" dirty="0"/>
          </a:p>
        </p:txBody>
      </p:sp>
      <p:sp>
        <p:nvSpPr>
          <p:cNvPr id="17" name="Shape 15"/>
          <p:cNvSpPr/>
          <p:nvPr/>
        </p:nvSpPr>
        <p:spPr>
          <a:xfrm>
            <a:off x="3858768" y="1901952"/>
            <a:ext cx="2560320" cy="2743200"/>
          </a:xfrm>
          <a:prstGeom prst="roundRect">
            <a:avLst>
              <a:gd name="adj" fmla="val 3214"/>
            </a:avLst>
          </a:prstGeom>
          <a:solidFill>
            <a:srgbClr val="FFFBEC"/>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3913632" y="1975104"/>
            <a:ext cx="2450592" cy="347472"/>
          </a:xfrm>
          <a:prstGeom prst="roundRect">
            <a:avLst>
              <a:gd name="adj" fmla="val 15789"/>
            </a:avLst>
          </a:prstGeom>
          <a:solidFill>
            <a:srgbClr val="D4A010"/>
          </a:solidFill>
          <a:ln w="12700">
            <a:solidFill>
              <a:srgbClr val="D4A010"/>
            </a:solidFill>
            <a:prstDash val="solid"/>
          </a:ln>
        </p:spPr>
      </p:sp>
      <p:sp>
        <p:nvSpPr>
          <p:cNvPr id="19" name="Text 17"/>
          <p:cNvSpPr/>
          <p:nvPr/>
        </p:nvSpPr>
        <p:spPr>
          <a:xfrm>
            <a:off x="3913632" y="1975104"/>
            <a:ext cx="245059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VALIDATION SET</a:t>
            </a:r>
            <a:endParaRPr lang="en-US" sz="1100" dirty="0"/>
          </a:p>
        </p:txBody>
      </p:sp>
      <p:sp>
        <p:nvSpPr>
          <p:cNvPr id="20" name="Text 18"/>
          <p:cNvSpPr/>
          <p:nvPr/>
        </p:nvSpPr>
        <p:spPr>
          <a:xfrm>
            <a:off x="3950208" y="2377440"/>
            <a:ext cx="2432304" cy="256032"/>
          </a:xfrm>
          <a:prstGeom prst="rect">
            <a:avLst/>
          </a:prstGeom>
          <a:noFill/>
          <a:ln/>
        </p:spPr>
        <p:txBody>
          <a:bodyPr wrap="square" lIns="0" tIns="0" rIns="0" bIns="0" rtlCol="0" anchor="ctr"/>
          <a:lstStyle/>
          <a:p>
            <a:pPr algn="ctr" indent="0" marL="0">
              <a:buNone/>
            </a:pPr>
            <a:r>
              <a:rPr lang="en-US" sz="1000" b="1" dirty="0">
                <a:solidFill>
                  <a:srgbClr val="D4A010"/>
                </a:solidFill>
                <a:latin typeface="Calibri" pitchFamily="34" charset="0"/>
                <a:ea typeface="Calibri" pitchFamily="34" charset="-122"/>
                <a:cs typeface="Calibri" pitchFamily="34" charset="-120"/>
              </a:rPr>
              <a:t>15% = 1,500 customers</a:t>
            </a:r>
            <a:endParaRPr lang="en-US" sz="1000" dirty="0"/>
          </a:p>
        </p:txBody>
      </p:sp>
      <p:sp>
        <p:nvSpPr>
          <p:cNvPr id="21" name="Text 19"/>
          <p:cNvSpPr/>
          <p:nvPr/>
        </p:nvSpPr>
        <p:spPr>
          <a:xfrm>
            <a:off x="3968496" y="2688336"/>
            <a:ext cx="237744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Tune hyperparameters</a:t>
            </a:r>
            <a:endParaRPr lang="en-US" sz="950" dirty="0"/>
          </a:p>
        </p:txBody>
      </p:sp>
      <p:sp>
        <p:nvSpPr>
          <p:cNvPr id="22" name="Text 20"/>
          <p:cNvSpPr/>
          <p:nvPr/>
        </p:nvSpPr>
        <p:spPr>
          <a:xfrm>
            <a:off x="3968496" y="3108960"/>
            <a:ext cx="237744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Compare models</a:t>
            </a:r>
            <a:endParaRPr lang="en-US" sz="950" dirty="0"/>
          </a:p>
        </p:txBody>
      </p:sp>
      <p:sp>
        <p:nvSpPr>
          <p:cNvPr id="23" name="Text 21"/>
          <p:cNvSpPr/>
          <p:nvPr/>
        </p:nvSpPr>
        <p:spPr>
          <a:xfrm>
            <a:off x="3968496" y="3529584"/>
            <a:ext cx="237744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Select architecture</a:t>
            </a:r>
            <a:endParaRPr lang="en-US" sz="950" dirty="0"/>
          </a:p>
        </p:txBody>
      </p:sp>
      <p:sp>
        <p:nvSpPr>
          <p:cNvPr id="24" name="Text 22"/>
          <p:cNvSpPr/>
          <p:nvPr/>
        </p:nvSpPr>
        <p:spPr>
          <a:xfrm>
            <a:off x="3968496" y="3950208"/>
            <a:ext cx="237744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Can be seen repeatedly</a:t>
            </a:r>
            <a:endParaRPr lang="en-US" sz="950" dirty="0"/>
          </a:p>
        </p:txBody>
      </p:sp>
      <p:sp>
        <p:nvSpPr>
          <p:cNvPr id="25" name="Shape 23"/>
          <p:cNvSpPr/>
          <p:nvPr/>
        </p:nvSpPr>
        <p:spPr>
          <a:xfrm>
            <a:off x="6473952" y="1901952"/>
            <a:ext cx="2377440" cy="2743200"/>
          </a:xfrm>
          <a:prstGeom prst="roundRect">
            <a:avLst>
              <a:gd name="adj" fmla="val 3462"/>
            </a:avLst>
          </a:prstGeom>
          <a:solidFill>
            <a:srgbClr val="FEF0ED"/>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6528816" y="1975104"/>
            <a:ext cx="2267712" cy="347472"/>
          </a:xfrm>
          <a:prstGeom prst="roundRect">
            <a:avLst>
              <a:gd name="adj" fmla="val 15789"/>
            </a:avLst>
          </a:prstGeom>
          <a:solidFill>
            <a:srgbClr val="E02020"/>
          </a:solidFill>
          <a:ln w="12700">
            <a:solidFill>
              <a:srgbClr val="E02020"/>
            </a:solidFill>
            <a:prstDash val="solid"/>
          </a:ln>
        </p:spPr>
      </p:sp>
      <p:sp>
        <p:nvSpPr>
          <p:cNvPr id="27" name="Text 25"/>
          <p:cNvSpPr/>
          <p:nvPr/>
        </p:nvSpPr>
        <p:spPr>
          <a:xfrm>
            <a:off x="6528816" y="1975104"/>
            <a:ext cx="22677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 SET</a:t>
            </a:r>
            <a:endParaRPr lang="en-US" sz="1100" dirty="0"/>
          </a:p>
        </p:txBody>
      </p:sp>
      <p:sp>
        <p:nvSpPr>
          <p:cNvPr id="28" name="Text 26"/>
          <p:cNvSpPr/>
          <p:nvPr/>
        </p:nvSpPr>
        <p:spPr>
          <a:xfrm>
            <a:off x="6565392" y="2377440"/>
            <a:ext cx="2249424" cy="256032"/>
          </a:xfrm>
          <a:prstGeom prst="rect">
            <a:avLst/>
          </a:prstGeom>
          <a:noFill/>
          <a:ln/>
        </p:spPr>
        <p:txBody>
          <a:bodyPr wrap="square" lIns="0" tIns="0" rIns="0" bIns="0" rtlCol="0" anchor="ctr"/>
          <a:lstStyle/>
          <a:p>
            <a:pPr algn="ctr" indent="0" marL="0">
              <a:buNone/>
            </a:pPr>
            <a:r>
              <a:rPr lang="en-US" sz="1000" b="1" dirty="0">
                <a:solidFill>
                  <a:srgbClr val="E02020"/>
                </a:solidFill>
                <a:latin typeface="Calibri" pitchFamily="34" charset="0"/>
                <a:ea typeface="Calibri" pitchFamily="34" charset="-122"/>
                <a:cs typeface="Calibri" pitchFamily="34" charset="-120"/>
              </a:rPr>
              <a:t>15% = 1,500 customers</a:t>
            </a:r>
            <a:endParaRPr lang="en-US" sz="1000" dirty="0"/>
          </a:p>
        </p:txBody>
      </p:sp>
      <p:sp>
        <p:nvSpPr>
          <p:cNvPr id="29" name="Text 27"/>
          <p:cNvSpPr/>
          <p:nvPr/>
        </p:nvSpPr>
        <p:spPr>
          <a:xfrm>
            <a:off x="6583680" y="2688336"/>
            <a:ext cx="219456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Used ONCE at the end</a:t>
            </a:r>
            <a:endParaRPr lang="en-US" sz="950" dirty="0"/>
          </a:p>
        </p:txBody>
      </p:sp>
      <p:sp>
        <p:nvSpPr>
          <p:cNvPr id="30" name="Text 28"/>
          <p:cNvSpPr/>
          <p:nvPr/>
        </p:nvSpPr>
        <p:spPr>
          <a:xfrm>
            <a:off x="6583680" y="3108960"/>
            <a:ext cx="219456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Final honest evaluation</a:t>
            </a:r>
            <a:endParaRPr lang="en-US" sz="950" dirty="0"/>
          </a:p>
        </p:txBody>
      </p:sp>
      <p:sp>
        <p:nvSpPr>
          <p:cNvPr id="31" name="Text 29"/>
          <p:cNvSpPr/>
          <p:nvPr/>
        </p:nvSpPr>
        <p:spPr>
          <a:xfrm>
            <a:off x="6583680" y="3529584"/>
            <a:ext cx="219456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Never influences decisions</a:t>
            </a:r>
            <a:endParaRPr lang="en-US" sz="950" dirty="0"/>
          </a:p>
        </p:txBody>
      </p:sp>
      <p:sp>
        <p:nvSpPr>
          <p:cNvPr id="32" name="Text 30"/>
          <p:cNvSpPr/>
          <p:nvPr/>
        </p:nvSpPr>
        <p:spPr>
          <a:xfrm>
            <a:off x="6583680" y="3950208"/>
            <a:ext cx="2194560" cy="38404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Gives real-world estimate</a:t>
            </a:r>
            <a:endParaRPr lang="en-US" sz="950" dirty="0"/>
          </a:p>
        </p:txBody>
      </p:sp>
      <p:sp>
        <p:nvSpPr>
          <p:cNvPr id="33" name="Shape 31"/>
          <p:cNvSpPr/>
          <p:nvPr/>
        </p:nvSpPr>
        <p:spPr>
          <a:xfrm>
            <a:off x="256032" y="4700016"/>
            <a:ext cx="8631936" cy="384048"/>
          </a:xfrm>
          <a:prstGeom prst="roundRect">
            <a:avLst>
              <a:gd name="adj" fmla="val 14286"/>
            </a:avLst>
          </a:prstGeom>
          <a:solidFill>
            <a:srgbClr val="FEF0ED"/>
          </a:solidFill>
          <a:ln w="19050">
            <a:solidFill>
              <a:srgbClr val="E02020"/>
            </a:solidFill>
            <a:prstDash val="solid"/>
          </a:ln>
        </p:spPr>
      </p:sp>
      <p:sp>
        <p:nvSpPr>
          <p:cNvPr id="34" name="Text 32"/>
          <p:cNvSpPr/>
          <p:nvPr/>
        </p:nvSpPr>
        <p:spPr>
          <a:xfrm>
            <a:off x="384048" y="4700016"/>
            <a:ext cx="8449056" cy="384048"/>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The Golden Rule: NEVER evaluate on data used in any way to make model decisions. Every look at test performance is implicit training on the test set. Reserve the test set for ONE final evaluation only.</a:t>
            </a:r>
            <a:endParaRPr lang="en-US" sz="1000" dirty="0"/>
          </a:p>
        </p:txBody>
      </p:sp>
      <p:sp>
        <p:nvSpPr>
          <p:cNvPr id="35" name="Shape 33"/>
          <p:cNvSpPr/>
          <p:nvPr/>
        </p:nvSpPr>
        <p:spPr>
          <a:xfrm>
            <a:off x="256032" y="5120640"/>
            <a:ext cx="8631936" cy="347472"/>
          </a:xfrm>
          <a:prstGeom prst="roundRect">
            <a:avLst>
              <a:gd name="adj" fmla="val 15789"/>
            </a:avLst>
          </a:prstGeom>
          <a:solidFill>
            <a:srgbClr val="FFFBEC"/>
          </a:solidFill>
          <a:ln w="19050">
            <a:solidFill>
              <a:srgbClr val="D4A010"/>
            </a:solidFill>
            <a:prstDash val="solid"/>
          </a:ln>
        </p:spPr>
      </p:sp>
      <p:sp>
        <p:nvSpPr>
          <p:cNvPr id="36" name="Text 34"/>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For small datasets (&lt; 1,000 samples): use K-fold cross-validation instead of a fixed split. CV uses all data for both training and evaluation in different folds.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ML METRICS  |  SECTION 02</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Underfitting and Overfitting</a:t>
            </a:r>
            <a:endParaRPr lang="en-US" sz="38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Bias-variance trade-off and how to diagnose model problems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80E1C"/>
          </a:solidFill>
          <a:ln w="12700">
            <a:solidFill>
              <a:srgbClr val="080E1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Underfitting vs Overfitting - The Complete Diagnostic Framework</a:t>
            </a:r>
            <a:endParaRPr lang="en-US" sz="2100" dirty="0"/>
          </a:p>
        </p:txBody>
      </p:sp>
      <p:sp>
        <p:nvSpPr>
          <p:cNvPr id="4" name="Shape 2"/>
          <p:cNvSpPr/>
          <p:nvPr/>
        </p:nvSpPr>
        <p:spPr>
          <a:xfrm>
            <a:off x="228600" y="1024128"/>
            <a:ext cx="2834640" cy="4023360"/>
          </a:xfrm>
          <a:prstGeom prst="roundRect">
            <a:avLst>
              <a:gd name="adj" fmla="val 2903"/>
            </a:avLst>
          </a:prstGeom>
          <a:solidFill>
            <a:srgbClr val="FFF3E8"/>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83464" y="1097280"/>
            <a:ext cx="2724912" cy="438912"/>
          </a:xfrm>
          <a:prstGeom prst="roundRect">
            <a:avLst>
              <a:gd name="adj" fmla="val 14583"/>
            </a:avLst>
          </a:prstGeom>
          <a:solidFill>
            <a:srgbClr val="E06A10"/>
          </a:solidFill>
          <a:ln w="12700">
            <a:solidFill>
              <a:srgbClr val="E06A10"/>
            </a:solidFill>
            <a:prstDash val="solid"/>
          </a:ln>
        </p:spPr>
      </p:sp>
      <p:sp>
        <p:nvSpPr>
          <p:cNvPr id="6" name="Text 4"/>
          <p:cNvSpPr/>
          <p:nvPr/>
        </p:nvSpPr>
        <p:spPr>
          <a:xfrm>
            <a:off x="283464" y="1097280"/>
            <a:ext cx="272491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UNDERFITTING</a:t>
            </a:r>
            <a:endParaRPr lang="en-US" sz="1300" dirty="0"/>
          </a:p>
        </p:txBody>
      </p:sp>
      <p:sp>
        <p:nvSpPr>
          <p:cNvPr id="7" name="Text 5"/>
          <p:cNvSpPr/>
          <p:nvPr/>
        </p:nvSpPr>
        <p:spPr>
          <a:xfrm>
            <a:off x="283464" y="1353312"/>
            <a:ext cx="2724912" cy="1828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(High Bias)</a:t>
            </a:r>
            <a:endParaRPr lang="en-US" sz="1000" dirty="0"/>
          </a:p>
        </p:txBody>
      </p:sp>
      <p:sp>
        <p:nvSpPr>
          <p:cNvPr id="8" name="Shape 6"/>
          <p:cNvSpPr/>
          <p:nvPr/>
        </p:nvSpPr>
        <p:spPr>
          <a:xfrm>
            <a:off x="320040" y="1591056"/>
            <a:ext cx="2633472" cy="512064"/>
          </a:xfrm>
          <a:prstGeom prst="roundRect">
            <a:avLst>
              <a:gd name="adj" fmla="val 10714"/>
            </a:avLst>
          </a:prstGeom>
          <a:solidFill>
            <a:srgbClr val="080E1C"/>
          </a:solidFill>
          <a:ln w="10160">
            <a:solidFill>
              <a:srgbClr val="E06A10"/>
            </a:solidFill>
            <a:prstDash val="solid"/>
          </a:ln>
        </p:spPr>
      </p:sp>
      <p:sp>
        <p:nvSpPr>
          <p:cNvPr id="9" name="Text 7"/>
          <p:cNvSpPr/>
          <p:nvPr/>
        </p:nvSpPr>
        <p:spPr>
          <a:xfrm>
            <a:off x="393192" y="1627632"/>
            <a:ext cx="2487168" cy="219456"/>
          </a:xfrm>
          <a:prstGeom prst="rect">
            <a:avLst/>
          </a:prstGeom>
          <a:noFill/>
          <a:ln/>
        </p:spPr>
        <p:txBody>
          <a:bodyPr wrap="square" lIns="0" tIns="0" rIns="0" bIns="0" rtlCol="0" anchor="ctr"/>
          <a:lstStyle/>
          <a:p>
            <a:pPr indent="0" marL="0">
              <a:buNone/>
            </a:pPr>
            <a:r>
              <a:rPr lang="en-US" sz="1000" b="1" dirty="0">
                <a:solidFill>
                  <a:srgbClr val="E06A10"/>
                </a:solidFill>
                <a:latin typeface="Calibri" pitchFamily="34" charset="0"/>
                <a:ea typeface="Calibri" pitchFamily="34" charset="-122"/>
                <a:cs typeface="Calibri" pitchFamily="34" charset="-120"/>
              </a:rPr>
              <a:t>Train: LOW (~62%)</a:t>
            </a:r>
            <a:endParaRPr lang="en-US" sz="1000" dirty="0"/>
          </a:p>
        </p:txBody>
      </p:sp>
      <p:sp>
        <p:nvSpPr>
          <p:cNvPr id="10" name="Text 8"/>
          <p:cNvSpPr/>
          <p:nvPr/>
        </p:nvSpPr>
        <p:spPr>
          <a:xfrm>
            <a:off x="393192" y="1847088"/>
            <a:ext cx="2487168" cy="201168"/>
          </a:xfrm>
          <a:prstGeom prst="rect">
            <a:avLst/>
          </a:prstGeom>
          <a:noFill/>
          <a:ln/>
        </p:spPr>
        <p:txBody>
          <a:bodyPr wrap="square" lIns="0" tIns="0" rIns="0" bIns="0" rtlCol="0" anchor="ctr"/>
          <a:lstStyle/>
          <a:p>
            <a:pPr indent="0" marL="0">
              <a:buNone/>
            </a:pPr>
            <a:r>
              <a:rPr lang="en-US" sz="950" dirty="0">
                <a:solidFill>
                  <a:srgbClr val="90D8E0"/>
                </a:solidFill>
                <a:latin typeface="Calibri" pitchFamily="34" charset="0"/>
                <a:ea typeface="Calibri" pitchFamily="34" charset="-122"/>
                <a:cs typeface="Calibri" pitchFamily="34" charset="-120"/>
              </a:rPr>
              <a:t>Test: LOW (~60%)   Gap: Tiny (~2%)</a:t>
            </a:r>
            <a:endParaRPr lang="en-US" sz="950" dirty="0"/>
          </a:p>
        </p:txBody>
      </p:sp>
      <p:sp>
        <p:nvSpPr>
          <p:cNvPr id="11" name="Text 9"/>
          <p:cNvSpPr/>
          <p:nvPr/>
        </p:nvSpPr>
        <p:spPr>
          <a:xfrm>
            <a:off x="320040" y="2157984"/>
            <a:ext cx="2633472" cy="292608"/>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 Train accuracy is LOW</a:t>
            </a:r>
            <a:endParaRPr lang="en-US" sz="900" dirty="0"/>
          </a:p>
        </p:txBody>
      </p:sp>
      <p:sp>
        <p:nvSpPr>
          <p:cNvPr id="12" name="Text 10"/>
          <p:cNvSpPr/>
          <p:nvPr/>
        </p:nvSpPr>
        <p:spPr>
          <a:xfrm>
            <a:off x="320040" y="2487168"/>
            <a:ext cx="2633472" cy="292608"/>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 Test accuracy also LOW</a:t>
            </a:r>
            <a:endParaRPr lang="en-US" sz="900" dirty="0"/>
          </a:p>
        </p:txBody>
      </p:sp>
      <p:sp>
        <p:nvSpPr>
          <p:cNvPr id="13" name="Text 11"/>
          <p:cNvSpPr/>
          <p:nvPr/>
        </p:nvSpPr>
        <p:spPr>
          <a:xfrm>
            <a:off x="320040" y="2816352"/>
            <a:ext cx="2633472" cy="292608"/>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 No significant gap</a:t>
            </a:r>
            <a:endParaRPr lang="en-US" sz="900" dirty="0"/>
          </a:p>
        </p:txBody>
      </p:sp>
      <p:sp>
        <p:nvSpPr>
          <p:cNvPr id="14" name="Text 12"/>
          <p:cNvSpPr/>
          <p:nvPr/>
        </p:nvSpPr>
        <p:spPr>
          <a:xfrm>
            <a:off x="320040" y="3182112"/>
            <a:ext cx="2633472" cy="347472"/>
          </a:xfrm>
          <a:prstGeom prst="rect">
            <a:avLst/>
          </a:prstGeom>
          <a:noFill/>
          <a:ln/>
        </p:spPr>
        <p:txBody>
          <a:bodyPr wrap="square" lIns="0" tIns="0" rIns="0" bIns="0" rtlCol="0" anchor="ctr"/>
          <a:lstStyle/>
          <a:p>
            <a:pPr indent="0" marL="0">
              <a:buNone/>
            </a:pPr>
            <a:r>
              <a:rPr lang="en-US" sz="900" b="1" dirty="0">
                <a:solidFill>
                  <a:srgbClr val="E06A10"/>
                </a:solidFill>
                <a:latin typeface="Calibri" pitchFamily="34" charset="0"/>
                <a:ea typeface="Calibri" pitchFamily="34" charset="-122"/>
                <a:cs typeface="Calibri" pitchFamily="34" charset="-120"/>
              </a:rPr>
              <a:t>Cause: </a:t>
            </a:r>
            <a:pPr indent="0" marL="0">
              <a:buNone/>
            </a:pPr>
            <a:r>
              <a:rPr lang="en-US" sz="900" dirty="0">
                <a:solidFill>
                  <a:srgbClr val="101828"/>
                </a:solidFill>
                <a:latin typeface="Calibri" pitchFamily="34" charset="0"/>
                <a:ea typeface="Calibri" pitchFamily="34" charset="-122"/>
                <a:cs typeface="Calibri" pitchFamily="34" charset="-120"/>
              </a:rPr>
              <a:t>Model too simple. Too few features. Over-regularised.</a:t>
            </a:r>
            <a:endParaRPr lang="en-US" sz="900" dirty="0"/>
          </a:p>
        </p:txBody>
      </p:sp>
      <p:sp>
        <p:nvSpPr>
          <p:cNvPr id="15" name="Shape 13"/>
          <p:cNvSpPr/>
          <p:nvPr/>
        </p:nvSpPr>
        <p:spPr>
          <a:xfrm>
            <a:off x="320040" y="3566160"/>
            <a:ext cx="2633472" cy="18288"/>
          </a:xfrm>
          <a:prstGeom prst="rect">
            <a:avLst/>
          </a:prstGeom>
          <a:solidFill>
            <a:srgbClr val="E06A10"/>
          </a:solidFill>
          <a:ln w="12700">
            <a:solidFill>
              <a:srgbClr val="E06A10"/>
            </a:solidFill>
            <a:prstDash val="solid"/>
          </a:ln>
        </p:spPr>
      </p:sp>
      <p:sp>
        <p:nvSpPr>
          <p:cNvPr id="16" name="Text 14"/>
          <p:cNvSpPr/>
          <p:nvPr/>
        </p:nvSpPr>
        <p:spPr>
          <a:xfrm>
            <a:off x="320040" y="3621024"/>
            <a:ext cx="2633472" cy="438912"/>
          </a:xfrm>
          <a:prstGeom prst="rect">
            <a:avLst/>
          </a:prstGeom>
          <a:noFill/>
          <a:ln/>
        </p:spPr>
        <p:txBody>
          <a:bodyPr wrap="square" lIns="0" tIns="0" rIns="0" bIns="0" rtlCol="0" anchor="ctr"/>
          <a:lstStyle/>
          <a:p>
            <a:pPr indent="0" marL="0">
              <a:buNone/>
            </a:pPr>
            <a:r>
              <a:rPr lang="en-US" sz="850" i="1" dirty="0">
                <a:solidFill>
                  <a:srgbClr val="E06A10"/>
                </a:solidFill>
                <a:latin typeface="Calibri" pitchFamily="34" charset="0"/>
                <a:ea typeface="Calibri" pitchFamily="34" charset="-122"/>
                <a:cs typeface="Calibri" pitchFamily="34" charset="-120"/>
              </a:rPr>
              <a:t>Fix: Increase model complexity, add features, reduce regularisation.</a:t>
            </a:r>
            <a:endParaRPr lang="en-US" sz="850" dirty="0"/>
          </a:p>
        </p:txBody>
      </p:sp>
      <p:sp>
        <p:nvSpPr>
          <p:cNvPr id="17" name="Shape 15"/>
          <p:cNvSpPr/>
          <p:nvPr/>
        </p:nvSpPr>
        <p:spPr>
          <a:xfrm>
            <a:off x="3200400" y="1024128"/>
            <a:ext cx="2834640" cy="4023360"/>
          </a:xfrm>
          <a:prstGeom prst="roundRect">
            <a:avLst>
              <a:gd name="adj" fmla="val 2903"/>
            </a:avLst>
          </a:prstGeom>
          <a:solidFill>
            <a:srgbClr val="E8FFF5"/>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3255264" y="1097280"/>
            <a:ext cx="2724912" cy="438912"/>
          </a:xfrm>
          <a:prstGeom prst="roundRect">
            <a:avLst>
              <a:gd name="adj" fmla="val 14583"/>
            </a:avLst>
          </a:prstGeom>
          <a:solidFill>
            <a:srgbClr val="0A8A4A"/>
          </a:solidFill>
          <a:ln w="12700">
            <a:solidFill>
              <a:srgbClr val="0A8A4A"/>
            </a:solidFill>
            <a:prstDash val="solid"/>
          </a:ln>
        </p:spPr>
      </p:sp>
      <p:sp>
        <p:nvSpPr>
          <p:cNvPr id="19" name="Text 17"/>
          <p:cNvSpPr/>
          <p:nvPr/>
        </p:nvSpPr>
        <p:spPr>
          <a:xfrm>
            <a:off x="3255264" y="1097280"/>
            <a:ext cx="272491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JUST RIGHT</a:t>
            </a:r>
            <a:endParaRPr lang="en-US" sz="1300" dirty="0"/>
          </a:p>
        </p:txBody>
      </p:sp>
      <p:sp>
        <p:nvSpPr>
          <p:cNvPr id="20" name="Text 18"/>
          <p:cNvSpPr/>
          <p:nvPr/>
        </p:nvSpPr>
        <p:spPr>
          <a:xfrm>
            <a:off x="3255264" y="1353312"/>
            <a:ext cx="2724912" cy="1828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(Ideal Generalisation)</a:t>
            </a:r>
            <a:endParaRPr lang="en-US" sz="1000" dirty="0"/>
          </a:p>
        </p:txBody>
      </p:sp>
      <p:sp>
        <p:nvSpPr>
          <p:cNvPr id="21" name="Shape 19"/>
          <p:cNvSpPr/>
          <p:nvPr/>
        </p:nvSpPr>
        <p:spPr>
          <a:xfrm>
            <a:off x="3291840" y="1591056"/>
            <a:ext cx="2633472" cy="512064"/>
          </a:xfrm>
          <a:prstGeom prst="roundRect">
            <a:avLst>
              <a:gd name="adj" fmla="val 10714"/>
            </a:avLst>
          </a:prstGeom>
          <a:solidFill>
            <a:srgbClr val="080E1C"/>
          </a:solidFill>
          <a:ln w="10160">
            <a:solidFill>
              <a:srgbClr val="0A8A4A"/>
            </a:solidFill>
            <a:prstDash val="solid"/>
          </a:ln>
        </p:spPr>
      </p:sp>
      <p:sp>
        <p:nvSpPr>
          <p:cNvPr id="22" name="Text 20"/>
          <p:cNvSpPr/>
          <p:nvPr/>
        </p:nvSpPr>
        <p:spPr>
          <a:xfrm>
            <a:off x="3364992" y="1627632"/>
            <a:ext cx="2487168" cy="219456"/>
          </a:xfrm>
          <a:prstGeom prst="rect">
            <a:avLst/>
          </a:prstGeom>
          <a:noFill/>
          <a:ln/>
        </p:spPr>
        <p:txBody>
          <a:bodyPr wrap="square" lIns="0" tIns="0" rIns="0" bIns="0" rtlCol="0" anchor="ctr"/>
          <a:lstStyle/>
          <a:p>
            <a:pPr indent="0" marL="0">
              <a:buNone/>
            </a:pPr>
            <a:r>
              <a:rPr lang="en-US" sz="1000" b="1" dirty="0">
                <a:solidFill>
                  <a:srgbClr val="0A8A4A"/>
                </a:solidFill>
                <a:latin typeface="Calibri" pitchFamily="34" charset="0"/>
                <a:ea typeface="Calibri" pitchFamily="34" charset="-122"/>
                <a:cs typeface="Calibri" pitchFamily="34" charset="-120"/>
              </a:rPr>
              <a:t>Train: HIGH (~95%)</a:t>
            </a:r>
            <a:endParaRPr lang="en-US" sz="1000" dirty="0"/>
          </a:p>
        </p:txBody>
      </p:sp>
      <p:sp>
        <p:nvSpPr>
          <p:cNvPr id="23" name="Text 21"/>
          <p:cNvSpPr/>
          <p:nvPr/>
        </p:nvSpPr>
        <p:spPr>
          <a:xfrm>
            <a:off x="3364992" y="1847088"/>
            <a:ext cx="2487168" cy="201168"/>
          </a:xfrm>
          <a:prstGeom prst="rect">
            <a:avLst/>
          </a:prstGeom>
          <a:noFill/>
          <a:ln/>
        </p:spPr>
        <p:txBody>
          <a:bodyPr wrap="square" lIns="0" tIns="0" rIns="0" bIns="0" rtlCol="0" anchor="ctr"/>
          <a:lstStyle/>
          <a:p>
            <a:pPr indent="0" marL="0">
              <a:buNone/>
            </a:pPr>
            <a:r>
              <a:rPr lang="en-US" sz="950" dirty="0">
                <a:solidFill>
                  <a:srgbClr val="90D8E0"/>
                </a:solidFill>
                <a:latin typeface="Calibri" pitchFamily="34" charset="0"/>
                <a:ea typeface="Calibri" pitchFamily="34" charset="-122"/>
                <a:cs typeface="Calibri" pitchFamily="34" charset="-120"/>
              </a:rPr>
              <a:t>Test: HIGH (~93%)   Gap: Small (~2%)</a:t>
            </a:r>
            <a:endParaRPr lang="en-US" sz="950" dirty="0"/>
          </a:p>
        </p:txBody>
      </p:sp>
      <p:sp>
        <p:nvSpPr>
          <p:cNvPr id="24" name="Text 22"/>
          <p:cNvSpPr/>
          <p:nvPr/>
        </p:nvSpPr>
        <p:spPr>
          <a:xfrm>
            <a:off x="3291840" y="2157984"/>
            <a:ext cx="2633472" cy="292608"/>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 Train accuracy is high</a:t>
            </a:r>
            <a:endParaRPr lang="en-US" sz="900" dirty="0"/>
          </a:p>
        </p:txBody>
      </p:sp>
      <p:sp>
        <p:nvSpPr>
          <p:cNvPr id="25" name="Text 23"/>
          <p:cNvSpPr/>
          <p:nvPr/>
        </p:nvSpPr>
        <p:spPr>
          <a:xfrm>
            <a:off x="3291840" y="2487168"/>
            <a:ext cx="2633472" cy="292608"/>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 Test accuracy close to train</a:t>
            </a:r>
            <a:endParaRPr lang="en-US" sz="900" dirty="0"/>
          </a:p>
        </p:txBody>
      </p:sp>
      <p:sp>
        <p:nvSpPr>
          <p:cNvPr id="26" name="Text 24"/>
          <p:cNvSpPr/>
          <p:nvPr/>
        </p:nvSpPr>
        <p:spPr>
          <a:xfrm>
            <a:off x="3291840" y="2816352"/>
            <a:ext cx="2633472" cy="292608"/>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 Small, acceptable gap</a:t>
            </a:r>
            <a:endParaRPr lang="en-US" sz="900" dirty="0"/>
          </a:p>
        </p:txBody>
      </p:sp>
      <p:sp>
        <p:nvSpPr>
          <p:cNvPr id="27" name="Text 25"/>
          <p:cNvSpPr/>
          <p:nvPr/>
        </p:nvSpPr>
        <p:spPr>
          <a:xfrm>
            <a:off x="3291840" y="3182112"/>
            <a:ext cx="2633472" cy="347472"/>
          </a:xfrm>
          <a:prstGeom prst="rect">
            <a:avLst/>
          </a:prstGeom>
          <a:noFill/>
          <a:ln/>
        </p:spPr>
        <p:txBody>
          <a:bodyPr wrap="square" lIns="0" tIns="0" rIns="0" bIns="0" rtlCol="0" anchor="ctr"/>
          <a:lstStyle/>
          <a:p>
            <a:pPr indent="0" marL="0">
              <a:buNone/>
            </a:pPr>
            <a:r>
              <a:rPr lang="en-US" sz="900" b="1" dirty="0">
                <a:solidFill>
                  <a:srgbClr val="0A8A4A"/>
                </a:solidFill>
                <a:latin typeface="Calibri" pitchFamily="34" charset="0"/>
                <a:ea typeface="Calibri" pitchFamily="34" charset="-122"/>
                <a:cs typeface="Calibri" pitchFamily="34" charset="-120"/>
              </a:rPr>
              <a:t>Cause: </a:t>
            </a:r>
            <a:pPr indent="0" marL="0">
              <a:buNone/>
            </a:pPr>
            <a:r>
              <a:rPr lang="en-US" sz="900" dirty="0">
                <a:solidFill>
                  <a:srgbClr val="101828"/>
                </a:solidFill>
                <a:latin typeface="Calibri" pitchFamily="34" charset="0"/>
                <a:ea typeface="Calibri" pitchFamily="34" charset="-122"/>
                <a:cs typeface="Calibri" pitchFamily="34" charset="-120"/>
              </a:rPr>
              <a:t>Model has learned the signal, not the noise.</a:t>
            </a:r>
            <a:endParaRPr lang="en-US" sz="900" dirty="0"/>
          </a:p>
        </p:txBody>
      </p:sp>
      <p:sp>
        <p:nvSpPr>
          <p:cNvPr id="28" name="Shape 26"/>
          <p:cNvSpPr/>
          <p:nvPr/>
        </p:nvSpPr>
        <p:spPr>
          <a:xfrm>
            <a:off x="3291840" y="3566160"/>
            <a:ext cx="2633472" cy="18288"/>
          </a:xfrm>
          <a:prstGeom prst="rect">
            <a:avLst/>
          </a:prstGeom>
          <a:solidFill>
            <a:srgbClr val="0A8A4A"/>
          </a:solidFill>
          <a:ln w="12700">
            <a:solidFill>
              <a:srgbClr val="0A8A4A"/>
            </a:solidFill>
            <a:prstDash val="solid"/>
          </a:ln>
        </p:spPr>
      </p:sp>
      <p:sp>
        <p:nvSpPr>
          <p:cNvPr id="29" name="Text 27"/>
          <p:cNvSpPr/>
          <p:nvPr/>
        </p:nvSpPr>
        <p:spPr>
          <a:xfrm>
            <a:off x="3291840" y="3621024"/>
            <a:ext cx="2633472" cy="438912"/>
          </a:xfrm>
          <a:prstGeom prst="rect">
            <a:avLst/>
          </a:prstGeom>
          <a:noFill/>
          <a:ln/>
        </p:spPr>
        <p:txBody>
          <a:bodyPr wrap="square" lIns="0" tIns="0" rIns="0" bIns="0" rtlCol="0" anchor="ctr"/>
          <a:lstStyle/>
          <a:p>
            <a:pPr indent="0" marL="0">
              <a:buNone/>
            </a:pPr>
            <a:r>
              <a:rPr lang="en-US" sz="850" i="1" dirty="0">
                <a:solidFill>
                  <a:srgbClr val="0A8A4A"/>
                </a:solidFill>
                <a:latin typeface="Calibri" pitchFamily="34" charset="0"/>
                <a:ea typeface="Calibri" pitchFamily="34" charset="-122"/>
                <a:cs typeface="Calibri" pitchFamily="34" charset="-120"/>
              </a:rPr>
              <a:t>Fix: Deploy with confidence. Monitor for distribution shift.</a:t>
            </a:r>
            <a:endParaRPr lang="en-US" sz="850" dirty="0"/>
          </a:p>
        </p:txBody>
      </p:sp>
      <p:sp>
        <p:nvSpPr>
          <p:cNvPr id="30" name="Shape 28"/>
          <p:cNvSpPr/>
          <p:nvPr/>
        </p:nvSpPr>
        <p:spPr>
          <a:xfrm>
            <a:off x="6172200" y="1024128"/>
            <a:ext cx="2834640" cy="4023360"/>
          </a:xfrm>
          <a:prstGeom prst="roundRect">
            <a:avLst>
              <a:gd name="adj" fmla="val 2903"/>
            </a:avLst>
          </a:prstGeom>
          <a:solidFill>
            <a:srgbClr val="FEF0ED"/>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31" name="Shape 29"/>
          <p:cNvSpPr/>
          <p:nvPr/>
        </p:nvSpPr>
        <p:spPr>
          <a:xfrm>
            <a:off x="6227064" y="1097280"/>
            <a:ext cx="2724912" cy="438912"/>
          </a:xfrm>
          <a:prstGeom prst="roundRect">
            <a:avLst>
              <a:gd name="adj" fmla="val 14583"/>
            </a:avLst>
          </a:prstGeom>
          <a:solidFill>
            <a:srgbClr val="E02020"/>
          </a:solidFill>
          <a:ln w="12700">
            <a:solidFill>
              <a:srgbClr val="E02020"/>
            </a:solidFill>
            <a:prstDash val="solid"/>
          </a:ln>
        </p:spPr>
      </p:sp>
      <p:sp>
        <p:nvSpPr>
          <p:cNvPr id="32" name="Text 30"/>
          <p:cNvSpPr/>
          <p:nvPr/>
        </p:nvSpPr>
        <p:spPr>
          <a:xfrm>
            <a:off x="6227064" y="1097280"/>
            <a:ext cx="272491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OVERFITTING</a:t>
            </a:r>
            <a:endParaRPr lang="en-US" sz="1300" dirty="0"/>
          </a:p>
        </p:txBody>
      </p:sp>
      <p:sp>
        <p:nvSpPr>
          <p:cNvPr id="33" name="Text 31"/>
          <p:cNvSpPr/>
          <p:nvPr/>
        </p:nvSpPr>
        <p:spPr>
          <a:xfrm>
            <a:off x="6227064" y="1353312"/>
            <a:ext cx="2724912" cy="1828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(High Variance)</a:t>
            </a:r>
            <a:endParaRPr lang="en-US" sz="1000" dirty="0"/>
          </a:p>
        </p:txBody>
      </p:sp>
      <p:sp>
        <p:nvSpPr>
          <p:cNvPr id="34" name="Shape 32"/>
          <p:cNvSpPr/>
          <p:nvPr/>
        </p:nvSpPr>
        <p:spPr>
          <a:xfrm>
            <a:off x="6263640" y="1591056"/>
            <a:ext cx="2633472" cy="512064"/>
          </a:xfrm>
          <a:prstGeom prst="roundRect">
            <a:avLst>
              <a:gd name="adj" fmla="val 10714"/>
            </a:avLst>
          </a:prstGeom>
          <a:solidFill>
            <a:srgbClr val="080E1C"/>
          </a:solidFill>
          <a:ln w="10160">
            <a:solidFill>
              <a:srgbClr val="E02020"/>
            </a:solidFill>
            <a:prstDash val="solid"/>
          </a:ln>
        </p:spPr>
      </p:sp>
      <p:sp>
        <p:nvSpPr>
          <p:cNvPr id="35" name="Text 33"/>
          <p:cNvSpPr/>
          <p:nvPr/>
        </p:nvSpPr>
        <p:spPr>
          <a:xfrm>
            <a:off x="6336792" y="1627632"/>
            <a:ext cx="2487168" cy="219456"/>
          </a:xfrm>
          <a:prstGeom prst="rect">
            <a:avLst/>
          </a:prstGeom>
          <a:noFill/>
          <a:ln/>
        </p:spPr>
        <p:txBody>
          <a:bodyPr wrap="square" lIns="0" tIns="0" rIns="0" bIns="0" rtlCol="0" anchor="ctr"/>
          <a:lstStyle/>
          <a:p>
            <a:pPr indent="0" marL="0">
              <a:buNone/>
            </a:pPr>
            <a:r>
              <a:rPr lang="en-US" sz="1000" b="1" dirty="0">
                <a:solidFill>
                  <a:srgbClr val="E02020"/>
                </a:solidFill>
                <a:latin typeface="Calibri" pitchFamily="34" charset="0"/>
                <a:ea typeface="Calibri" pitchFamily="34" charset="-122"/>
                <a:cs typeface="Calibri" pitchFamily="34" charset="-120"/>
              </a:rPr>
              <a:t>Train: VERY HIGH (~99%)</a:t>
            </a:r>
            <a:endParaRPr lang="en-US" sz="1000" dirty="0"/>
          </a:p>
        </p:txBody>
      </p:sp>
      <p:sp>
        <p:nvSpPr>
          <p:cNvPr id="36" name="Text 34"/>
          <p:cNvSpPr/>
          <p:nvPr/>
        </p:nvSpPr>
        <p:spPr>
          <a:xfrm>
            <a:off x="6336792" y="1847088"/>
            <a:ext cx="2487168" cy="201168"/>
          </a:xfrm>
          <a:prstGeom prst="rect">
            <a:avLst/>
          </a:prstGeom>
          <a:noFill/>
          <a:ln/>
        </p:spPr>
        <p:txBody>
          <a:bodyPr wrap="square" lIns="0" tIns="0" rIns="0" bIns="0" rtlCol="0" anchor="ctr"/>
          <a:lstStyle/>
          <a:p>
            <a:pPr indent="0" marL="0">
              <a:buNone/>
            </a:pPr>
            <a:r>
              <a:rPr lang="en-US" sz="950" dirty="0">
                <a:solidFill>
                  <a:srgbClr val="90D8E0"/>
                </a:solidFill>
                <a:latin typeface="Calibri" pitchFamily="34" charset="0"/>
                <a:ea typeface="Calibri" pitchFamily="34" charset="-122"/>
                <a:cs typeface="Calibri" pitchFamily="34" charset="-120"/>
              </a:rPr>
              <a:t>Test: LOW (~70%)   Gap: LARGE (~29%)</a:t>
            </a:r>
            <a:endParaRPr lang="en-US" sz="950" dirty="0"/>
          </a:p>
        </p:txBody>
      </p:sp>
      <p:sp>
        <p:nvSpPr>
          <p:cNvPr id="37" name="Text 35"/>
          <p:cNvSpPr/>
          <p:nvPr/>
        </p:nvSpPr>
        <p:spPr>
          <a:xfrm>
            <a:off x="6263640" y="2157984"/>
            <a:ext cx="2633472" cy="292608"/>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 Train accuracy near-perfect</a:t>
            </a:r>
            <a:endParaRPr lang="en-US" sz="900" dirty="0"/>
          </a:p>
        </p:txBody>
      </p:sp>
      <p:sp>
        <p:nvSpPr>
          <p:cNvPr id="38" name="Text 36"/>
          <p:cNvSpPr/>
          <p:nvPr/>
        </p:nvSpPr>
        <p:spPr>
          <a:xfrm>
            <a:off x="6263640" y="2487168"/>
            <a:ext cx="2633472" cy="292608"/>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 Test accuracy much lower</a:t>
            </a:r>
            <a:endParaRPr lang="en-US" sz="900" dirty="0"/>
          </a:p>
        </p:txBody>
      </p:sp>
      <p:sp>
        <p:nvSpPr>
          <p:cNvPr id="39" name="Text 37"/>
          <p:cNvSpPr/>
          <p:nvPr/>
        </p:nvSpPr>
        <p:spPr>
          <a:xfrm>
            <a:off x="6263640" y="2816352"/>
            <a:ext cx="2633472" cy="292608"/>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 Large gap between them</a:t>
            </a:r>
            <a:endParaRPr lang="en-US" sz="900" dirty="0"/>
          </a:p>
        </p:txBody>
      </p:sp>
      <p:sp>
        <p:nvSpPr>
          <p:cNvPr id="40" name="Text 38"/>
          <p:cNvSpPr/>
          <p:nvPr/>
        </p:nvSpPr>
        <p:spPr>
          <a:xfrm>
            <a:off x="6263640" y="3182112"/>
            <a:ext cx="2633472" cy="347472"/>
          </a:xfrm>
          <a:prstGeom prst="rect">
            <a:avLst/>
          </a:prstGeom>
          <a:noFill/>
          <a:ln/>
        </p:spPr>
        <p:txBody>
          <a:bodyPr wrap="square" lIns="0" tIns="0" rIns="0" bIns="0" rtlCol="0" anchor="ctr"/>
          <a:lstStyle/>
          <a:p>
            <a:pPr indent="0" marL="0">
              <a:buNone/>
            </a:pPr>
            <a:r>
              <a:rPr lang="en-US" sz="900" b="1" dirty="0">
                <a:solidFill>
                  <a:srgbClr val="E02020"/>
                </a:solidFill>
                <a:latin typeface="Calibri" pitchFamily="34" charset="0"/>
                <a:ea typeface="Calibri" pitchFamily="34" charset="-122"/>
                <a:cs typeface="Calibri" pitchFamily="34" charset="-120"/>
              </a:rPr>
              <a:t>Cause: </a:t>
            </a:r>
            <a:pPr indent="0" marL="0">
              <a:buNone/>
            </a:pPr>
            <a:r>
              <a:rPr lang="en-US" sz="900" dirty="0">
                <a:solidFill>
                  <a:srgbClr val="101828"/>
                </a:solidFill>
                <a:latin typeface="Calibri" pitchFamily="34" charset="0"/>
                <a:ea typeface="Calibri" pitchFamily="34" charset="-122"/>
                <a:cs typeface="Calibri" pitchFamily="34" charset="-120"/>
              </a:rPr>
              <a:t>Model too complex. Too little training data. No regularisation.</a:t>
            </a:r>
            <a:endParaRPr lang="en-US" sz="900" dirty="0"/>
          </a:p>
        </p:txBody>
      </p:sp>
      <p:sp>
        <p:nvSpPr>
          <p:cNvPr id="41" name="Shape 39"/>
          <p:cNvSpPr/>
          <p:nvPr/>
        </p:nvSpPr>
        <p:spPr>
          <a:xfrm>
            <a:off x="6263640" y="3566160"/>
            <a:ext cx="2633472" cy="18288"/>
          </a:xfrm>
          <a:prstGeom prst="rect">
            <a:avLst/>
          </a:prstGeom>
          <a:solidFill>
            <a:srgbClr val="E02020"/>
          </a:solidFill>
          <a:ln w="12700">
            <a:solidFill>
              <a:srgbClr val="E02020"/>
            </a:solidFill>
            <a:prstDash val="solid"/>
          </a:ln>
        </p:spPr>
      </p:sp>
      <p:sp>
        <p:nvSpPr>
          <p:cNvPr id="42" name="Text 40"/>
          <p:cNvSpPr/>
          <p:nvPr/>
        </p:nvSpPr>
        <p:spPr>
          <a:xfrm>
            <a:off x="6263640" y="3621024"/>
            <a:ext cx="2633472" cy="438912"/>
          </a:xfrm>
          <a:prstGeom prst="rect">
            <a:avLst/>
          </a:prstGeom>
          <a:noFill/>
          <a:ln/>
        </p:spPr>
        <p:txBody>
          <a:bodyPr wrap="square" lIns="0" tIns="0" rIns="0" bIns="0" rtlCol="0" anchor="ctr"/>
          <a:lstStyle/>
          <a:p>
            <a:pPr indent="0" marL="0">
              <a:buNone/>
            </a:pPr>
            <a:r>
              <a:rPr lang="en-US" sz="850" i="1" dirty="0">
                <a:solidFill>
                  <a:srgbClr val="E02020"/>
                </a:solidFill>
                <a:latin typeface="Calibri" pitchFamily="34" charset="0"/>
                <a:ea typeface="Calibri" pitchFamily="34" charset="-122"/>
                <a:cs typeface="Calibri" pitchFamily="34" charset="-120"/>
              </a:rPr>
              <a:t>Fix: Regularise (L1/L2/Dropout), more data, simpler model, early stopping.</a:t>
            </a:r>
            <a:endParaRPr lang="en-US" sz="850" dirty="0"/>
          </a:p>
        </p:txBody>
      </p:sp>
      <p:sp>
        <p:nvSpPr>
          <p:cNvPr id="43" name="Shape 41"/>
          <p:cNvSpPr/>
          <p:nvPr/>
        </p:nvSpPr>
        <p:spPr>
          <a:xfrm>
            <a:off x="256032" y="5102352"/>
            <a:ext cx="8631936" cy="384048"/>
          </a:xfrm>
          <a:prstGeom prst="roundRect">
            <a:avLst>
              <a:gd name="adj" fmla="val 14286"/>
            </a:avLst>
          </a:prstGeom>
          <a:solidFill>
            <a:srgbClr val="FFFBEC"/>
          </a:solidFill>
          <a:ln w="19050">
            <a:solidFill>
              <a:srgbClr val="D4A010"/>
            </a:solidFill>
            <a:prstDash val="solid"/>
          </a:ln>
        </p:spPr>
      </p:sp>
      <p:sp>
        <p:nvSpPr>
          <p:cNvPr id="44" name="Text 42"/>
          <p:cNvSpPr/>
          <p:nvPr/>
        </p:nvSpPr>
        <p:spPr>
          <a:xfrm>
            <a:off x="384048" y="5102352"/>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Formula: Total Error = Bias² + Variance + Irreducible Noise. You cannot eliminate irreducible noise. Your job is to find the right balance between bias and variance - not to minimise only one.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ML METRICS  |  SECTION 03</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Confusion Matrix</a:t>
            </a:r>
            <a:endParaRPr lang="en-US" sz="38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The foundation from which ALL classification metrics are derived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80E1C"/>
          </a:solidFill>
          <a:ln w="12700">
            <a:solidFill>
              <a:srgbClr val="080E1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Confusion Matrix - Four Cells, Every Metric</a:t>
            </a:r>
            <a:endParaRPr lang="en-US" sz="2100" dirty="0"/>
          </a:p>
        </p:txBody>
      </p:sp>
      <p:sp>
        <p:nvSpPr>
          <p:cNvPr id="4" name="Shape 2"/>
          <p:cNvSpPr/>
          <p:nvPr/>
        </p:nvSpPr>
        <p:spPr>
          <a:xfrm>
            <a:off x="2468880" y="1828800"/>
            <a:ext cx="2011680" cy="1188720"/>
          </a:xfrm>
          <a:prstGeom prst="roundRect">
            <a:avLst>
              <a:gd name="adj" fmla="val 4615"/>
            </a:avLst>
          </a:prstGeom>
          <a:solidFill>
            <a:srgbClr val="0A8A4A"/>
          </a:solidFill>
          <a:ln w="19050">
            <a:solidFill>
              <a:srgbClr val="FFFFFF"/>
            </a:solidFill>
            <a:prstDash val="solid"/>
          </a:ln>
        </p:spPr>
      </p:sp>
      <p:sp>
        <p:nvSpPr>
          <p:cNvPr id="5" name="Text 3"/>
          <p:cNvSpPr/>
          <p:nvPr/>
        </p:nvSpPr>
        <p:spPr>
          <a:xfrm>
            <a:off x="2523744" y="1883664"/>
            <a:ext cx="190195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TRUE POSITIVE (TP)</a:t>
            </a:r>
            <a:endParaRPr lang="en-US" sz="900" dirty="0"/>
          </a:p>
        </p:txBody>
      </p:sp>
      <p:sp>
        <p:nvSpPr>
          <p:cNvPr id="6" name="Text 4"/>
          <p:cNvSpPr/>
          <p:nvPr/>
        </p:nvSpPr>
        <p:spPr>
          <a:xfrm>
            <a:off x="2542032" y="2157984"/>
            <a:ext cx="1883664" cy="8046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Predicted: Fraud</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Actual: Fraud</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Correct detection</a:t>
            </a:r>
            <a:endParaRPr lang="en-US" sz="850" dirty="0"/>
          </a:p>
        </p:txBody>
      </p:sp>
      <p:sp>
        <p:nvSpPr>
          <p:cNvPr id="7" name="Shape 5"/>
          <p:cNvSpPr/>
          <p:nvPr/>
        </p:nvSpPr>
        <p:spPr>
          <a:xfrm>
            <a:off x="4572000" y="1828800"/>
            <a:ext cx="2011680" cy="1188720"/>
          </a:xfrm>
          <a:prstGeom prst="roundRect">
            <a:avLst>
              <a:gd name="adj" fmla="val 4615"/>
            </a:avLst>
          </a:prstGeom>
          <a:solidFill>
            <a:srgbClr val="E02020"/>
          </a:solidFill>
          <a:ln w="19050">
            <a:solidFill>
              <a:srgbClr val="FFFFFF"/>
            </a:solidFill>
            <a:prstDash val="solid"/>
          </a:ln>
        </p:spPr>
      </p:sp>
      <p:sp>
        <p:nvSpPr>
          <p:cNvPr id="8" name="Text 6"/>
          <p:cNvSpPr/>
          <p:nvPr/>
        </p:nvSpPr>
        <p:spPr>
          <a:xfrm>
            <a:off x="4626864" y="1883664"/>
            <a:ext cx="190195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FALSE NEGATIVE (FN)</a:t>
            </a:r>
            <a:endParaRPr lang="en-US" sz="900" dirty="0"/>
          </a:p>
        </p:txBody>
      </p:sp>
      <p:sp>
        <p:nvSpPr>
          <p:cNvPr id="9" name="Text 7"/>
          <p:cNvSpPr/>
          <p:nvPr/>
        </p:nvSpPr>
        <p:spPr>
          <a:xfrm>
            <a:off x="4645152" y="2157984"/>
            <a:ext cx="1883664" cy="8046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Predicted: Legit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Actual: Fraud</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MISSED detection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 Type II Error</a:t>
            </a:r>
            <a:endParaRPr lang="en-US" sz="850" dirty="0"/>
          </a:p>
        </p:txBody>
      </p:sp>
      <p:sp>
        <p:nvSpPr>
          <p:cNvPr id="10" name="Shape 8"/>
          <p:cNvSpPr/>
          <p:nvPr/>
        </p:nvSpPr>
        <p:spPr>
          <a:xfrm>
            <a:off x="2468880" y="3108960"/>
            <a:ext cx="2011680" cy="1188720"/>
          </a:xfrm>
          <a:prstGeom prst="roundRect">
            <a:avLst>
              <a:gd name="adj" fmla="val 4615"/>
            </a:avLst>
          </a:prstGeom>
          <a:solidFill>
            <a:srgbClr val="E06A10"/>
          </a:solidFill>
          <a:ln w="19050">
            <a:solidFill>
              <a:srgbClr val="FFFFFF"/>
            </a:solidFill>
            <a:prstDash val="solid"/>
          </a:ln>
        </p:spPr>
      </p:sp>
      <p:sp>
        <p:nvSpPr>
          <p:cNvPr id="11" name="Text 9"/>
          <p:cNvSpPr/>
          <p:nvPr/>
        </p:nvSpPr>
        <p:spPr>
          <a:xfrm>
            <a:off x="2523744" y="3163824"/>
            <a:ext cx="190195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FALSE POSITIVE (FP)</a:t>
            </a:r>
            <a:endParaRPr lang="en-US" sz="900" dirty="0"/>
          </a:p>
        </p:txBody>
      </p:sp>
      <p:sp>
        <p:nvSpPr>
          <p:cNvPr id="12" name="Text 10"/>
          <p:cNvSpPr/>
          <p:nvPr/>
        </p:nvSpPr>
        <p:spPr>
          <a:xfrm>
            <a:off x="2542032" y="3438144"/>
            <a:ext cx="1883664" cy="8046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Predicted: Fraud</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Actual: Legit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FALSE alarm</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 Type I Error</a:t>
            </a:r>
            <a:endParaRPr lang="en-US" sz="850" dirty="0"/>
          </a:p>
        </p:txBody>
      </p:sp>
      <p:sp>
        <p:nvSpPr>
          <p:cNvPr id="13" name="Shape 11"/>
          <p:cNvSpPr/>
          <p:nvPr/>
        </p:nvSpPr>
        <p:spPr>
          <a:xfrm>
            <a:off x="4572000" y="3108960"/>
            <a:ext cx="2011680" cy="1188720"/>
          </a:xfrm>
          <a:prstGeom prst="roundRect">
            <a:avLst>
              <a:gd name="adj" fmla="val 4615"/>
            </a:avLst>
          </a:prstGeom>
          <a:solidFill>
            <a:srgbClr val="0A7E8C"/>
          </a:solidFill>
          <a:ln w="19050">
            <a:solidFill>
              <a:srgbClr val="FFFFFF"/>
            </a:solidFill>
            <a:prstDash val="solid"/>
          </a:ln>
        </p:spPr>
      </p:sp>
      <p:sp>
        <p:nvSpPr>
          <p:cNvPr id="14" name="Text 12"/>
          <p:cNvSpPr/>
          <p:nvPr/>
        </p:nvSpPr>
        <p:spPr>
          <a:xfrm>
            <a:off x="4626864" y="3163824"/>
            <a:ext cx="190195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TRUE NEGATIVE (TN)</a:t>
            </a:r>
            <a:endParaRPr lang="en-US" sz="900" dirty="0"/>
          </a:p>
        </p:txBody>
      </p:sp>
      <p:sp>
        <p:nvSpPr>
          <p:cNvPr id="15" name="Text 13"/>
          <p:cNvSpPr/>
          <p:nvPr/>
        </p:nvSpPr>
        <p:spPr>
          <a:xfrm>
            <a:off x="4645152" y="3438144"/>
            <a:ext cx="1883664" cy="8046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Predicted: Legit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Actual: Legit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Correct rejection</a:t>
            </a:r>
            <a:endParaRPr lang="en-US" sz="850" dirty="0"/>
          </a:p>
        </p:txBody>
      </p:sp>
      <p:sp>
        <p:nvSpPr>
          <p:cNvPr id="16" name="Text 14"/>
          <p:cNvSpPr/>
          <p:nvPr/>
        </p:nvSpPr>
        <p:spPr>
          <a:xfrm>
            <a:off x="2468880" y="1554480"/>
            <a:ext cx="2011680" cy="256032"/>
          </a:xfrm>
          <a:prstGeom prst="rect">
            <a:avLst/>
          </a:prstGeom>
          <a:noFill/>
          <a:ln/>
        </p:spPr>
        <p:txBody>
          <a:bodyPr wrap="square" lIns="0" tIns="0" rIns="0" bIns="0" rtlCol="0" anchor="ctr"/>
          <a:lstStyle/>
          <a:p>
            <a:pPr algn="ctr" indent="0" marL="0">
              <a:buNone/>
            </a:pPr>
            <a:r>
              <a:rPr lang="en-US" sz="1100" b="1" dirty="0">
                <a:solidFill>
                  <a:srgbClr val="101828"/>
                </a:solidFill>
                <a:latin typeface="Calibri" pitchFamily="34" charset="0"/>
                <a:ea typeface="Calibri" pitchFamily="34" charset="-122"/>
                <a:cs typeface="Calibri" pitchFamily="34" charset="-120"/>
              </a:rPr>
              <a:t>Predicted POSITIVE</a:t>
            </a:r>
            <a:endParaRPr lang="en-US" sz="1100" dirty="0"/>
          </a:p>
        </p:txBody>
      </p:sp>
      <p:sp>
        <p:nvSpPr>
          <p:cNvPr id="17" name="Text 15"/>
          <p:cNvSpPr/>
          <p:nvPr/>
        </p:nvSpPr>
        <p:spPr>
          <a:xfrm>
            <a:off x="4572000" y="1554480"/>
            <a:ext cx="2011680" cy="256032"/>
          </a:xfrm>
          <a:prstGeom prst="rect">
            <a:avLst/>
          </a:prstGeom>
          <a:noFill/>
          <a:ln/>
        </p:spPr>
        <p:txBody>
          <a:bodyPr wrap="square" lIns="0" tIns="0" rIns="0" bIns="0" rtlCol="0" anchor="ctr"/>
          <a:lstStyle/>
          <a:p>
            <a:pPr algn="ctr" indent="0" marL="0">
              <a:buNone/>
            </a:pPr>
            <a:r>
              <a:rPr lang="en-US" sz="1100" b="1" dirty="0">
                <a:solidFill>
                  <a:srgbClr val="101828"/>
                </a:solidFill>
                <a:latin typeface="Calibri" pitchFamily="34" charset="0"/>
                <a:ea typeface="Calibri" pitchFamily="34" charset="-122"/>
                <a:cs typeface="Calibri" pitchFamily="34" charset="-120"/>
              </a:rPr>
              <a:t>Predicted NEGATIVE</a:t>
            </a:r>
            <a:endParaRPr lang="en-US" sz="1100" dirty="0"/>
          </a:p>
        </p:txBody>
      </p:sp>
      <p:sp>
        <p:nvSpPr>
          <p:cNvPr id="18" name="Text 16"/>
          <p:cNvSpPr/>
          <p:nvPr/>
        </p:nvSpPr>
        <p:spPr>
          <a:xfrm>
            <a:off x="1645920" y="1828800"/>
            <a:ext cx="749808" cy="1188720"/>
          </a:xfrm>
          <a:prstGeom prst="rect">
            <a:avLst/>
          </a:prstGeom>
          <a:noFill/>
          <a:ln/>
        </p:spPr>
        <p:txBody>
          <a:bodyPr wrap="square" lIns="0" tIns="0" rIns="0" bIns="0" rtlCol="0" anchor="ctr"/>
          <a:lstStyle/>
          <a:p>
            <a:pPr algn="ctr" indent="0" marL="0">
              <a:buNone/>
            </a:pPr>
            <a:r>
              <a:rPr lang="en-US" sz="1000" b="1" dirty="0">
                <a:solidFill>
                  <a:srgbClr val="101828"/>
                </a:solidFill>
                <a:latin typeface="Calibri" pitchFamily="34" charset="0"/>
                <a:ea typeface="Calibri" pitchFamily="34" charset="-122"/>
                <a:cs typeface="Calibri" pitchFamily="34" charset="-120"/>
              </a:rPr>
              <a:t>Actual</a:t>
            </a:r>
            <a:endParaRPr lang="en-US" sz="1000" dirty="0"/>
          </a:p>
          <a:p>
            <a:pPr algn="ctr" indent="0" marL="0">
              <a:buNone/>
            </a:pPr>
            <a:r>
              <a:rPr lang="en-US" sz="1000" b="1" dirty="0">
                <a:solidFill>
                  <a:srgbClr val="101828"/>
                </a:solidFill>
                <a:latin typeface="Calibri" pitchFamily="34" charset="0"/>
                <a:ea typeface="Calibri" pitchFamily="34" charset="-122"/>
                <a:cs typeface="Calibri" pitchFamily="34" charset="-120"/>
              </a:rPr>
              <a:t>POSITIVE</a:t>
            </a:r>
            <a:endParaRPr lang="en-US" sz="1000" dirty="0"/>
          </a:p>
        </p:txBody>
      </p:sp>
      <p:sp>
        <p:nvSpPr>
          <p:cNvPr id="19" name="Text 17"/>
          <p:cNvSpPr/>
          <p:nvPr/>
        </p:nvSpPr>
        <p:spPr>
          <a:xfrm>
            <a:off x="1645920" y="3108960"/>
            <a:ext cx="749808" cy="1188720"/>
          </a:xfrm>
          <a:prstGeom prst="rect">
            <a:avLst/>
          </a:prstGeom>
          <a:noFill/>
          <a:ln/>
        </p:spPr>
        <p:txBody>
          <a:bodyPr wrap="square" lIns="0" tIns="0" rIns="0" bIns="0" rtlCol="0" anchor="ctr"/>
          <a:lstStyle/>
          <a:p>
            <a:pPr algn="ctr" indent="0" marL="0">
              <a:buNone/>
            </a:pPr>
            <a:r>
              <a:rPr lang="en-US" sz="1000" b="1" dirty="0">
                <a:solidFill>
                  <a:srgbClr val="101828"/>
                </a:solidFill>
                <a:latin typeface="Calibri" pitchFamily="34" charset="0"/>
                <a:ea typeface="Calibri" pitchFamily="34" charset="-122"/>
                <a:cs typeface="Calibri" pitchFamily="34" charset="-120"/>
              </a:rPr>
              <a:t>Actual</a:t>
            </a:r>
            <a:endParaRPr lang="en-US" sz="1000" dirty="0"/>
          </a:p>
          <a:p>
            <a:pPr algn="ctr" indent="0" marL="0">
              <a:buNone/>
            </a:pPr>
            <a:r>
              <a:rPr lang="en-US" sz="1000" b="1" dirty="0">
                <a:solidFill>
                  <a:srgbClr val="101828"/>
                </a:solidFill>
                <a:latin typeface="Calibri" pitchFamily="34" charset="0"/>
                <a:ea typeface="Calibri" pitchFamily="34" charset="-122"/>
                <a:cs typeface="Calibri" pitchFamily="34" charset="-120"/>
              </a:rPr>
              <a:t>NEGATIVE</a:t>
            </a:r>
            <a:endParaRPr lang="en-US" sz="1000" dirty="0"/>
          </a:p>
        </p:txBody>
      </p:sp>
      <p:sp>
        <p:nvSpPr>
          <p:cNvPr id="20" name="Shape 18"/>
          <p:cNvSpPr/>
          <p:nvPr/>
        </p:nvSpPr>
        <p:spPr>
          <a:xfrm>
            <a:off x="6748272" y="1024128"/>
            <a:ext cx="2139696" cy="4041648"/>
          </a:xfrm>
          <a:prstGeom prst="roundRect">
            <a:avLst>
              <a:gd name="adj" fmla="val 384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21" name="Shape 19"/>
          <p:cNvSpPr/>
          <p:nvPr/>
        </p:nvSpPr>
        <p:spPr>
          <a:xfrm>
            <a:off x="6821424" y="1097280"/>
            <a:ext cx="1993392" cy="329184"/>
          </a:xfrm>
          <a:prstGeom prst="roundRect">
            <a:avLst>
              <a:gd name="adj" fmla="val 16667"/>
            </a:avLst>
          </a:prstGeom>
          <a:solidFill>
            <a:srgbClr val="080E1C"/>
          </a:solidFill>
          <a:ln w="12700">
            <a:solidFill>
              <a:srgbClr val="080E1C"/>
            </a:solidFill>
            <a:prstDash val="solid"/>
          </a:ln>
        </p:spPr>
      </p:sp>
      <p:sp>
        <p:nvSpPr>
          <p:cNvPr id="22" name="Text 20"/>
          <p:cNvSpPr/>
          <p:nvPr/>
        </p:nvSpPr>
        <p:spPr>
          <a:xfrm>
            <a:off x="6821424" y="1097280"/>
            <a:ext cx="1993392" cy="329184"/>
          </a:xfrm>
          <a:prstGeom prst="rect">
            <a:avLst/>
          </a:prstGeom>
          <a:noFill/>
          <a:ln/>
        </p:spPr>
        <p:txBody>
          <a:bodyPr wrap="square" lIns="0" tIns="0" rIns="0" bIns="0" rtlCol="0" anchor="ctr"/>
          <a:lstStyle/>
          <a:p>
            <a:pPr algn="ctr" indent="0" marL="0">
              <a:buNone/>
            </a:pPr>
            <a:r>
              <a:rPr lang="en-US" sz="1050" b="1" dirty="0">
                <a:solidFill>
                  <a:srgbClr val="F0C840"/>
                </a:solidFill>
                <a:latin typeface="Calibri" pitchFamily="34" charset="0"/>
                <a:ea typeface="Calibri" pitchFamily="34" charset="-122"/>
                <a:cs typeface="Calibri" pitchFamily="34" charset="-120"/>
              </a:rPr>
              <a:t>Derived Metrics</a:t>
            </a:r>
            <a:endParaRPr lang="en-US" sz="1050" dirty="0"/>
          </a:p>
        </p:txBody>
      </p:sp>
      <p:sp>
        <p:nvSpPr>
          <p:cNvPr id="23" name="Shape 21"/>
          <p:cNvSpPr/>
          <p:nvPr/>
        </p:nvSpPr>
        <p:spPr>
          <a:xfrm>
            <a:off x="6821424" y="1499616"/>
            <a:ext cx="1993392" cy="365760"/>
          </a:xfrm>
          <a:prstGeom prst="rect">
            <a:avLst/>
          </a:prstGeom>
          <a:solidFill>
            <a:srgbClr val="EAF6FA"/>
          </a:solidFill>
          <a:ln w="6350">
            <a:solidFill>
              <a:srgbClr val="B0D0D8"/>
            </a:solidFill>
            <a:prstDash val="solid"/>
          </a:ln>
        </p:spPr>
      </p:sp>
      <p:sp>
        <p:nvSpPr>
          <p:cNvPr id="24" name="Text 22"/>
          <p:cNvSpPr/>
          <p:nvPr/>
        </p:nvSpPr>
        <p:spPr>
          <a:xfrm>
            <a:off x="6894576" y="1517904"/>
            <a:ext cx="822960" cy="329184"/>
          </a:xfrm>
          <a:prstGeom prst="rect">
            <a:avLst/>
          </a:prstGeom>
          <a:noFill/>
          <a:ln/>
        </p:spPr>
        <p:txBody>
          <a:bodyPr wrap="square" lIns="0" tIns="0" rIns="0" bIns="0" rtlCol="0" anchor="ctr"/>
          <a:lstStyle/>
          <a:p>
            <a:pPr indent="0" marL="0">
              <a:buNone/>
            </a:pPr>
            <a:r>
              <a:rPr lang="en-US" sz="900" b="1" dirty="0">
                <a:solidFill>
                  <a:srgbClr val="0A7E8C"/>
                </a:solidFill>
                <a:latin typeface="Calibri" pitchFamily="34" charset="0"/>
                <a:ea typeface="Calibri" pitchFamily="34" charset="-122"/>
                <a:cs typeface="Calibri" pitchFamily="34" charset="-120"/>
              </a:rPr>
              <a:t>Accuracy</a:t>
            </a:r>
            <a:endParaRPr lang="en-US" sz="900" dirty="0"/>
          </a:p>
        </p:txBody>
      </p:sp>
      <p:sp>
        <p:nvSpPr>
          <p:cNvPr id="25" name="Text 23"/>
          <p:cNvSpPr/>
          <p:nvPr/>
        </p:nvSpPr>
        <p:spPr>
          <a:xfrm>
            <a:off x="7754112" y="1517904"/>
            <a:ext cx="987552" cy="329184"/>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(TP+TN)/All</a:t>
            </a:r>
            <a:endParaRPr lang="en-US" sz="850" dirty="0"/>
          </a:p>
        </p:txBody>
      </p:sp>
      <p:sp>
        <p:nvSpPr>
          <p:cNvPr id="26" name="Shape 24"/>
          <p:cNvSpPr/>
          <p:nvPr/>
        </p:nvSpPr>
        <p:spPr>
          <a:xfrm>
            <a:off x="6821424" y="1920240"/>
            <a:ext cx="1993392" cy="365760"/>
          </a:xfrm>
          <a:prstGeom prst="rect">
            <a:avLst/>
          </a:prstGeom>
          <a:solidFill>
            <a:srgbClr val="FFFFFF"/>
          </a:solidFill>
          <a:ln w="6350">
            <a:solidFill>
              <a:srgbClr val="B0D0D8"/>
            </a:solidFill>
            <a:prstDash val="solid"/>
          </a:ln>
        </p:spPr>
      </p:sp>
      <p:sp>
        <p:nvSpPr>
          <p:cNvPr id="27" name="Text 25"/>
          <p:cNvSpPr/>
          <p:nvPr/>
        </p:nvSpPr>
        <p:spPr>
          <a:xfrm>
            <a:off x="6894576" y="1938528"/>
            <a:ext cx="822960" cy="329184"/>
          </a:xfrm>
          <a:prstGeom prst="rect">
            <a:avLst/>
          </a:prstGeom>
          <a:noFill/>
          <a:ln/>
        </p:spPr>
        <p:txBody>
          <a:bodyPr wrap="square" lIns="0" tIns="0" rIns="0" bIns="0" rtlCol="0" anchor="ctr"/>
          <a:lstStyle/>
          <a:p>
            <a:pPr indent="0" marL="0">
              <a:buNone/>
            </a:pPr>
            <a:r>
              <a:rPr lang="en-US" sz="900" b="1" dirty="0">
                <a:solidFill>
                  <a:srgbClr val="1050C0"/>
                </a:solidFill>
                <a:latin typeface="Calibri" pitchFamily="34" charset="0"/>
                <a:ea typeface="Calibri" pitchFamily="34" charset="-122"/>
                <a:cs typeface="Calibri" pitchFamily="34" charset="-120"/>
              </a:rPr>
              <a:t>Precision</a:t>
            </a:r>
            <a:endParaRPr lang="en-US" sz="900" dirty="0"/>
          </a:p>
        </p:txBody>
      </p:sp>
      <p:sp>
        <p:nvSpPr>
          <p:cNvPr id="28" name="Text 26"/>
          <p:cNvSpPr/>
          <p:nvPr/>
        </p:nvSpPr>
        <p:spPr>
          <a:xfrm>
            <a:off x="7754112" y="1938528"/>
            <a:ext cx="987552" cy="329184"/>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TP/(TP+FP)</a:t>
            </a:r>
            <a:endParaRPr lang="en-US" sz="850" dirty="0"/>
          </a:p>
        </p:txBody>
      </p:sp>
      <p:sp>
        <p:nvSpPr>
          <p:cNvPr id="29" name="Shape 27"/>
          <p:cNvSpPr/>
          <p:nvPr/>
        </p:nvSpPr>
        <p:spPr>
          <a:xfrm>
            <a:off x="6821424" y="2340864"/>
            <a:ext cx="1993392" cy="365760"/>
          </a:xfrm>
          <a:prstGeom prst="rect">
            <a:avLst/>
          </a:prstGeom>
          <a:solidFill>
            <a:srgbClr val="EAF6FA"/>
          </a:solidFill>
          <a:ln w="6350">
            <a:solidFill>
              <a:srgbClr val="B0D0D8"/>
            </a:solidFill>
            <a:prstDash val="solid"/>
          </a:ln>
        </p:spPr>
      </p:sp>
      <p:sp>
        <p:nvSpPr>
          <p:cNvPr id="30" name="Text 28"/>
          <p:cNvSpPr/>
          <p:nvPr/>
        </p:nvSpPr>
        <p:spPr>
          <a:xfrm>
            <a:off x="6894576" y="2359152"/>
            <a:ext cx="822960" cy="329184"/>
          </a:xfrm>
          <a:prstGeom prst="rect">
            <a:avLst/>
          </a:prstGeom>
          <a:noFill/>
          <a:ln/>
        </p:spPr>
        <p:txBody>
          <a:bodyPr wrap="square" lIns="0" tIns="0" rIns="0" bIns="0" rtlCol="0" anchor="ctr"/>
          <a:lstStyle/>
          <a:p>
            <a:pPr indent="0" marL="0">
              <a:buNone/>
            </a:pPr>
            <a:r>
              <a:rPr lang="en-US" sz="900" b="1" dirty="0">
                <a:solidFill>
                  <a:srgbClr val="0A8A4A"/>
                </a:solidFill>
                <a:latin typeface="Calibri" pitchFamily="34" charset="0"/>
                <a:ea typeface="Calibri" pitchFamily="34" charset="-122"/>
                <a:cs typeface="Calibri" pitchFamily="34" charset="-120"/>
              </a:rPr>
              <a:t>Recall</a:t>
            </a:r>
            <a:endParaRPr lang="en-US" sz="900" dirty="0"/>
          </a:p>
        </p:txBody>
      </p:sp>
      <p:sp>
        <p:nvSpPr>
          <p:cNvPr id="31" name="Text 29"/>
          <p:cNvSpPr/>
          <p:nvPr/>
        </p:nvSpPr>
        <p:spPr>
          <a:xfrm>
            <a:off x="7754112" y="2359152"/>
            <a:ext cx="987552" cy="329184"/>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TP/(TP+FN)</a:t>
            </a:r>
            <a:endParaRPr lang="en-US" sz="850" dirty="0"/>
          </a:p>
        </p:txBody>
      </p:sp>
      <p:sp>
        <p:nvSpPr>
          <p:cNvPr id="32" name="Shape 30"/>
          <p:cNvSpPr/>
          <p:nvPr/>
        </p:nvSpPr>
        <p:spPr>
          <a:xfrm>
            <a:off x="6821424" y="2761488"/>
            <a:ext cx="1993392" cy="365760"/>
          </a:xfrm>
          <a:prstGeom prst="rect">
            <a:avLst/>
          </a:prstGeom>
          <a:solidFill>
            <a:srgbClr val="FFFFFF"/>
          </a:solidFill>
          <a:ln w="6350">
            <a:solidFill>
              <a:srgbClr val="B0D0D8"/>
            </a:solidFill>
            <a:prstDash val="solid"/>
          </a:ln>
        </p:spPr>
      </p:sp>
      <p:sp>
        <p:nvSpPr>
          <p:cNvPr id="33" name="Text 31"/>
          <p:cNvSpPr/>
          <p:nvPr/>
        </p:nvSpPr>
        <p:spPr>
          <a:xfrm>
            <a:off x="6894576" y="2779776"/>
            <a:ext cx="822960" cy="329184"/>
          </a:xfrm>
          <a:prstGeom prst="rect">
            <a:avLst/>
          </a:prstGeom>
          <a:noFill/>
          <a:ln/>
        </p:spPr>
        <p:txBody>
          <a:bodyPr wrap="square" lIns="0" tIns="0" rIns="0" bIns="0" rtlCol="0" anchor="ctr"/>
          <a:lstStyle/>
          <a:p>
            <a:pPr indent="0" marL="0">
              <a:buNone/>
            </a:pPr>
            <a:r>
              <a:rPr lang="en-US" sz="900" b="1" dirty="0">
                <a:solidFill>
                  <a:srgbClr val="0A7E8C"/>
                </a:solidFill>
                <a:latin typeface="Calibri" pitchFamily="34" charset="0"/>
                <a:ea typeface="Calibri" pitchFamily="34" charset="-122"/>
                <a:cs typeface="Calibri" pitchFamily="34" charset="-120"/>
              </a:rPr>
              <a:t>Specificity</a:t>
            </a:r>
            <a:endParaRPr lang="en-US" sz="900" dirty="0"/>
          </a:p>
        </p:txBody>
      </p:sp>
      <p:sp>
        <p:nvSpPr>
          <p:cNvPr id="34" name="Text 32"/>
          <p:cNvSpPr/>
          <p:nvPr/>
        </p:nvSpPr>
        <p:spPr>
          <a:xfrm>
            <a:off x="7754112" y="2779776"/>
            <a:ext cx="987552" cy="329184"/>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TN/(TN+FP)</a:t>
            </a:r>
            <a:endParaRPr lang="en-US" sz="850" dirty="0"/>
          </a:p>
        </p:txBody>
      </p:sp>
      <p:sp>
        <p:nvSpPr>
          <p:cNvPr id="35" name="Shape 33"/>
          <p:cNvSpPr/>
          <p:nvPr/>
        </p:nvSpPr>
        <p:spPr>
          <a:xfrm>
            <a:off x="6821424" y="3182112"/>
            <a:ext cx="1993392" cy="365760"/>
          </a:xfrm>
          <a:prstGeom prst="rect">
            <a:avLst/>
          </a:prstGeom>
          <a:solidFill>
            <a:srgbClr val="EAF6FA"/>
          </a:solidFill>
          <a:ln w="6350">
            <a:solidFill>
              <a:srgbClr val="B0D0D8"/>
            </a:solidFill>
            <a:prstDash val="solid"/>
          </a:ln>
        </p:spPr>
      </p:sp>
      <p:sp>
        <p:nvSpPr>
          <p:cNvPr id="36" name="Text 34"/>
          <p:cNvSpPr/>
          <p:nvPr/>
        </p:nvSpPr>
        <p:spPr>
          <a:xfrm>
            <a:off x="6894576" y="3200400"/>
            <a:ext cx="822960" cy="329184"/>
          </a:xfrm>
          <a:prstGeom prst="rect">
            <a:avLst/>
          </a:prstGeom>
          <a:noFill/>
          <a:ln/>
        </p:spPr>
        <p:txBody>
          <a:bodyPr wrap="square" lIns="0" tIns="0" rIns="0" bIns="0" rtlCol="0" anchor="ctr"/>
          <a:lstStyle/>
          <a:p>
            <a:pPr indent="0" marL="0">
              <a:buNone/>
            </a:pPr>
            <a:r>
              <a:rPr lang="en-US" sz="900" b="1" dirty="0">
                <a:solidFill>
                  <a:srgbClr val="6A10C0"/>
                </a:solidFill>
                <a:latin typeface="Calibri" pitchFamily="34" charset="0"/>
                <a:ea typeface="Calibri" pitchFamily="34" charset="-122"/>
                <a:cs typeface="Calibri" pitchFamily="34" charset="-120"/>
              </a:rPr>
              <a:t>F1</a:t>
            </a:r>
            <a:endParaRPr lang="en-US" sz="900" dirty="0"/>
          </a:p>
        </p:txBody>
      </p:sp>
      <p:sp>
        <p:nvSpPr>
          <p:cNvPr id="37" name="Text 35"/>
          <p:cNvSpPr/>
          <p:nvPr/>
        </p:nvSpPr>
        <p:spPr>
          <a:xfrm>
            <a:off x="7754112" y="3200400"/>
            <a:ext cx="987552" cy="329184"/>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2TP/(2TP+FP+FN)</a:t>
            </a:r>
            <a:endParaRPr lang="en-US" sz="850" dirty="0"/>
          </a:p>
        </p:txBody>
      </p:sp>
      <p:sp>
        <p:nvSpPr>
          <p:cNvPr id="38" name="Shape 36"/>
          <p:cNvSpPr/>
          <p:nvPr/>
        </p:nvSpPr>
        <p:spPr>
          <a:xfrm>
            <a:off x="6821424" y="3602736"/>
            <a:ext cx="1993392" cy="365760"/>
          </a:xfrm>
          <a:prstGeom prst="rect">
            <a:avLst/>
          </a:prstGeom>
          <a:solidFill>
            <a:srgbClr val="FFFFFF"/>
          </a:solidFill>
          <a:ln w="6350">
            <a:solidFill>
              <a:srgbClr val="B0D0D8"/>
            </a:solidFill>
            <a:prstDash val="solid"/>
          </a:ln>
        </p:spPr>
      </p:sp>
      <p:sp>
        <p:nvSpPr>
          <p:cNvPr id="39" name="Text 37"/>
          <p:cNvSpPr/>
          <p:nvPr/>
        </p:nvSpPr>
        <p:spPr>
          <a:xfrm>
            <a:off x="6894576" y="3621024"/>
            <a:ext cx="822960" cy="329184"/>
          </a:xfrm>
          <a:prstGeom prst="rect">
            <a:avLst/>
          </a:prstGeom>
          <a:noFill/>
          <a:ln/>
        </p:spPr>
        <p:txBody>
          <a:bodyPr wrap="square" lIns="0" tIns="0" rIns="0" bIns="0" rtlCol="0" anchor="ctr"/>
          <a:lstStyle/>
          <a:p>
            <a:pPr indent="0" marL="0">
              <a:buNone/>
            </a:pPr>
            <a:r>
              <a:rPr lang="en-US" sz="900" b="1" dirty="0">
                <a:solidFill>
                  <a:srgbClr val="E02020"/>
                </a:solidFill>
                <a:latin typeface="Calibri" pitchFamily="34" charset="0"/>
                <a:ea typeface="Calibri" pitchFamily="34" charset="-122"/>
                <a:cs typeface="Calibri" pitchFamily="34" charset="-120"/>
              </a:rPr>
              <a:t>FPR</a:t>
            </a:r>
            <a:endParaRPr lang="en-US" sz="900" dirty="0"/>
          </a:p>
        </p:txBody>
      </p:sp>
      <p:sp>
        <p:nvSpPr>
          <p:cNvPr id="40" name="Text 38"/>
          <p:cNvSpPr/>
          <p:nvPr/>
        </p:nvSpPr>
        <p:spPr>
          <a:xfrm>
            <a:off x="7754112" y="3621024"/>
            <a:ext cx="987552" cy="329184"/>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FP/(FP+TN)</a:t>
            </a:r>
            <a:endParaRPr lang="en-US" sz="850" dirty="0"/>
          </a:p>
        </p:txBody>
      </p:sp>
      <p:sp>
        <p:nvSpPr>
          <p:cNvPr id="41" name="Shape 39"/>
          <p:cNvSpPr/>
          <p:nvPr/>
        </p:nvSpPr>
        <p:spPr>
          <a:xfrm>
            <a:off x="6821424" y="4023360"/>
            <a:ext cx="1993392" cy="365760"/>
          </a:xfrm>
          <a:prstGeom prst="rect">
            <a:avLst/>
          </a:prstGeom>
          <a:solidFill>
            <a:srgbClr val="EAF6FA"/>
          </a:solidFill>
          <a:ln w="6350">
            <a:solidFill>
              <a:srgbClr val="B0D0D8"/>
            </a:solidFill>
            <a:prstDash val="solid"/>
          </a:ln>
        </p:spPr>
      </p:sp>
      <p:sp>
        <p:nvSpPr>
          <p:cNvPr id="42" name="Text 40"/>
          <p:cNvSpPr/>
          <p:nvPr/>
        </p:nvSpPr>
        <p:spPr>
          <a:xfrm>
            <a:off x="6894576" y="4041648"/>
            <a:ext cx="822960" cy="329184"/>
          </a:xfrm>
          <a:prstGeom prst="rect">
            <a:avLst/>
          </a:prstGeom>
          <a:noFill/>
          <a:ln/>
        </p:spPr>
        <p:txBody>
          <a:bodyPr wrap="square" lIns="0" tIns="0" rIns="0" bIns="0" rtlCol="0" anchor="ctr"/>
          <a:lstStyle/>
          <a:p>
            <a:pPr indent="0" marL="0">
              <a:buNone/>
            </a:pPr>
            <a:r>
              <a:rPr lang="en-US" sz="900" b="1" dirty="0">
                <a:solidFill>
                  <a:srgbClr val="E06A10"/>
                </a:solidFill>
                <a:latin typeface="Calibri" pitchFamily="34" charset="0"/>
                <a:ea typeface="Calibri" pitchFamily="34" charset="-122"/>
                <a:cs typeface="Calibri" pitchFamily="34" charset="-120"/>
              </a:rPr>
              <a:t>FNR</a:t>
            </a:r>
            <a:endParaRPr lang="en-US" sz="900" dirty="0"/>
          </a:p>
        </p:txBody>
      </p:sp>
      <p:sp>
        <p:nvSpPr>
          <p:cNvPr id="43" name="Text 41"/>
          <p:cNvSpPr/>
          <p:nvPr/>
        </p:nvSpPr>
        <p:spPr>
          <a:xfrm>
            <a:off x="7754112" y="4041648"/>
            <a:ext cx="987552" cy="329184"/>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FN/(FN+TP)</a:t>
            </a:r>
            <a:endParaRPr lang="en-US" sz="850" dirty="0"/>
          </a:p>
        </p:txBody>
      </p:sp>
      <p:sp>
        <p:nvSpPr>
          <p:cNvPr id="44" name="Shape 42"/>
          <p:cNvSpPr/>
          <p:nvPr/>
        </p:nvSpPr>
        <p:spPr>
          <a:xfrm>
            <a:off x="6821424" y="4443984"/>
            <a:ext cx="1993392" cy="365760"/>
          </a:xfrm>
          <a:prstGeom prst="rect">
            <a:avLst/>
          </a:prstGeom>
          <a:solidFill>
            <a:srgbClr val="FFFFFF"/>
          </a:solidFill>
          <a:ln w="6350">
            <a:solidFill>
              <a:srgbClr val="B0D0D8"/>
            </a:solidFill>
            <a:prstDash val="solid"/>
          </a:ln>
        </p:spPr>
      </p:sp>
      <p:sp>
        <p:nvSpPr>
          <p:cNvPr id="45" name="Text 43"/>
          <p:cNvSpPr/>
          <p:nvPr/>
        </p:nvSpPr>
        <p:spPr>
          <a:xfrm>
            <a:off x="6894576" y="4462272"/>
            <a:ext cx="822960" cy="329184"/>
          </a:xfrm>
          <a:prstGeom prst="rect">
            <a:avLst/>
          </a:prstGeom>
          <a:noFill/>
          <a:ln/>
        </p:spPr>
        <p:txBody>
          <a:bodyPr wrap="square" lIns="0" tIns="0" rIns="0" bIns="0" rtlCol="0" anchor="ctr"/>
          <a:lstStyle/>
          <a:p>
            <a:pPr indent="0" marL="0">
              <a:buNone/>
            </a:pPr>
            <a:r>
              <a:rPr lang="en-US" sz="900" b="1" dirty="0">
                <a:solidFill>
                  <a:srgbClr val="888888"/>
                </a:solidFill>
                <a:latin typeface="Calibri" pitchFamily="34" charset="0"/>
                <a:ea typeface="Calibri" pitchFamily="34" charset="-122"/>
                <a:cs typeface="Calibri" pitchFamily="34" charset="-120"/>
              </a:rPr>
              <a:t>MCC</a:t>
            </a:r>
            <a:endParaRPr lang="en-US" sz="900" dirty="0"/>
          </a:p>
        </p:txBody>
      </p:sp>
      <p:sp>
        <p:nvSpPr>
          <p:cNvPr id="46" name="Text 44"/>
          <p:cNvSpPr/>
          <p:nvPr/>
        </p:nvSpPr>
        <p:spPr>
          <a:xfrm>
            <a:off x="7754112" y="4462272"/>
            <a:ext cx="987552" cy="329184"/>
          </a:xfrm>
          <a:prstGeom prst="rect">
            <a:avLst/>
          </a:prstGeom>
          <a:noFill/>
          <a:ln/>
        </p:spPr>
        <p:txBody>
          <a:bodyPr wrap="square" lIns="0" tIns="0" rIns="0" bIns="0"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(TP*TN-FP*FN)/sqrt(...)</a:t>
            </a:r>
            <a:endParaRPr lang="en-US" sz="850" dirty="0"/>
          </a:p>
        </p:txBody>
      </p:sp>
      <p:sp>
        <p:nvSpPr>
          <p:cNvPr id="47" name="Shape 45"/>
          <p:cNvSpPr/>
          <p:nvPr/>
        </p:nvSpPr>
        <p:spPr>
          <a:xfrm>
            <a:off x="256032" y="1024128"/>
            <a:ext cx="1316736" cy="4041648"/>
          </a:xfrm>
          <a:prstGeom prst="roundRect">
            <a:avLst>
              <a:gd name="adj" fmla="val 5556"/>
            </a:avLst>
          </a:prstGeom>
          <a:solidFill>
            <a:srgbClr val="E0F7FA"/>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48" name="Text 46"/>
          <p:cNvSpPr/>
          <p:nvPr/>
        </p:nvSpPr>
        <p:spPr>
          <a:xfrm>
            <a:off x="329184" y="1097280"/>
            <a:ext cx="1170432" cy="1920240"/>
          </a:xfrm>
          <a:prstGeom prst="rect">
            <a:avLst/>
          </a:prstGeom>
          <a:noFill/>
          <a:ln/>
        </p:spPr>
        <p:txBody>
          <a:bodyPr wrap="square" lIns="0" tIns="0" rIns="0" bIns="0" rtlCol="0" anchor="ctr"/>
          <a:lstStyle/>
          <a:p>
            <a:pPr algn="ctr" indent="0" marL="0">
              <a:buNone/>
            </a:pPr>
            <a:r>
              <a:rPr lang="en-US" sz="1000" b="1" dirty="0">
                <a:solidFill>
                  <a:srgbClr val="E06A10"/>
                </a:solidFill>
                <a:latin typeface="Calibri" pitchFamily="34" charset="0"/>
                <a:ea typeface="Calibri" pitchFamily="34" charset="-122"/>
                <a:cs typeface="Calibri" pitchFamily="34" charset="-120"/>
              </a:rPr>
              <a:t>FP Cost:</a:t>
            </a:r>
            <a:endParaRPr lang="en-US" sz="1000" dirty="0"/>
          </a:p>
          <a:p>
            <a:pPr algn="ctr" indent="0" marL="0">
              <a:buNone/>
            </a:pPr>
            <a:r>
              <a:rPr lang="en-US" sz="1000" b="1" dirty="0">
                <a:solidFill>
                  <a:srgbClr val="E06A10"/>
                </a:solidFill>
                <a:latin typeface="Calibri" pitchFamily="34" charset="0"/>
                <a:ea typeface="Calibri" pitchFamily="34" charset="-122"/>
                <a:cs typeface="Calibri" pitchFamily="34" charset="-120"/>
              </a:rPr>
              <a:t>False alarm</a:t>
            </a:r>
            <a:endParaRPr lang="en-US" sz="1000" dirty="0"/>
          </a:p>
          <a:p>
            <a:pPr algn="ctr" indent="0" marL="0">
              <a:buNone/>
            </a:pPr>
            <a:r>
              <a:rPr lang="en-US" sz="1000" b="1" dirty="0">
                <a:solidFill>
                  <a:srgbClr val="E06A10"/>
                </a:solidFill>
                <a:latin typeface="Calibri" pitchFamily="34" charset="0"/>
                <a:ea typeface="Calibri" pitchFamily="34" charset="-122"/>
                <a:cs typeface="Calibri" pitchFamily="34" charset="-120"/>
              </a:rPr>
              <a:t>Unnecessary</a:t>
            </a:r>
            <a:endParaRPr lang="en-US" sz="1000" dirty="0"/>
          </a:p>
          <a:p>
            <a:pPr algn="ctr" indent="0" marL="0">
              <a:buNone/>
            </a:pPr>
            <a:r>
              <a:rPr lang="en-US" sz="1000" b="1" dirty="0">
                <a:solidFill>
                  <a:srgbClr val="E06A10"/>
                </a:solidFill>
                <a:latin typeface="Calibri" pitchFamily="34" charset="0"/>
                <a:ea typeface="Calibri" pitchFamily="34" charset="-122"/>
                <a:cs typeface="Calibri" pitchFamily="34" charset="-120"/>
              </a:rPr>
              <a:t>action</a:t>
            </a:r>
            <a:endParaRPr lang="en-US" sz="1000" dirty="0"/>
          </a:p>
          <a:p>
            <a:pPr algn="ctr" indent="0" marL="0">
              <a:buNone/>
            </a:pPr>
            <a:r>
              <a:rPr lang="en-US" sz="1000" b="1" dirty="0">
                <a:solidFill>
                  <a:srgbClr val="E06A10"/>
                </a:solidFill>
                <a:latin typeface="Calibri" pitchFamily="34" charset="0"/>
                <a:ea typeface="Calibri" pitchFamily="34" charset="-122"/>
                <a:cs typeface="Calibri" pitchFamily="34" charset="-120"/>
              </a:rPr>
              <a:t>Type I</a:t>
            </a:r>
            <a:endParaRPr lang="en-US" sz="1000" dirty="0"/>
          </a:p>
        </p:txBody>
      </p:sp>
      <p:sp>
        <p:nvSpPr>
          <p:cNvPr id="49" name="Shape 47"/>
          <p:cNvSpPr/>
          <p:nvPr/>
        </p:nvSpPr>
        <p:spPr>
          <a:xfrm>
            <a:off x="457200" y="3054096"/>
            <a:ext cx="914400" cy="36576"/>
          </a:xfrm>
          <a:prstGeom prst="rect">
            <a:avLst/>
          </a:prstGeom>
          <a:solidFill>
            <a:srgbClr val="B0C8D0"/>
          </a:solidFill>
          <a:ln w="12700">
            <a:solidFill>
              <a:srgbClr val="B0C8D0"/>
            </a:solidFill>
            <a:prstDash val="solid"/>
          </a:ln>
        </p:spPr>
      </p:sp>
      <p:sp>
        <p:nvSpPr>
          <p:cNvPr id="50" name="Text 48"/>
          <p:cNvSpPr/>
          <p:nvPr/>
        </p:nvSpPr>
        <p:spPr>
          <a:xfrm>
            <a:off x="329184" y="3145536"/>
            <a:ext cx="1170432" cy="1828800"/>
          </a:xfrm>
          <a:prstGeom prst="rect">
            <a:avLst/>
          </a:prstGeom>
          <a:noFill/>
          <a:ln/>
        </p:spPr>
        <p:txBody>
          <a:bodyPr wrap="square" lIns="0" tIns="0" rIns="0" bIns="0" rtlCol="0" anchor="ctr"/>
          <a:lstStyle/>
          <a:p>
            <a:pPr algn="ctr" indent="0" marL="0">
              <a:buNone/>
            </a:pPr>
            <a:r>
              <a:rPr lang="en-US" sz="1000" b="1" dirty="0">
                <a:solidFill>
                  <a:srgbClr val="E02020"/>
                </a:solidFill>
                <a:latin typeface="Calibri" pitchFamily="34" charset="0"/>
                <a:ea typeface="Calibri" pitchFamily="34" charset="-122"/>
                <a:cs typeface="Calibri" pitchFamily="34" charset="-120"/>
              </a:rPr>
              <a:t>FN Cost:</a:t>
            </a:r>
            <a:endParaRPr lang="en-US" sz="1000" dirty="0"/>
          </a:p>
          <a:p>
            <a:pPr algn="ctr" indent="0" marL="0">
              <a:buNone/>
            </a:pPr>
            <a:r>
              <a:rPr lang="en-US" sz="1000" b="1" dirty="0">
                <a:solidFill>
                  <a:srgbClr val="E02020"/>
                </a:solidFill>
                <a:latin typeface="Calibri" pitchFamily="34" charset="0"/>
                <a:ea typeface="Calibri" pitchFamily="34" charset="-122"/>
                <a:cs typeface="Calibri" pitchFamily="34" charset="-120"/>
              </a:rPr>
              <a:t>Missed</a:t>
            </a:r>
            <a:endParaRPr lang="en-US" sz="1000" dirty="0"/>
          </a:p>
          <a:p>
            <a:pPr algn="ctr" indent="0" marL="0">
              <a:buNone/>
            </a:pPr>
            <a:r>
              <a:rPr lang="en-US" sz="1000" b="1" dirty="0">
                <a:solidFill>
                  <a:srgbClr val="E02020"/>
                </a:solidFill>
                <a:latin typeface="Calibri" pitchFamily="34" charset="0"/>
                <a:ea typeface="Calibri" pitchFamily="34" charset="-122"/>
                <a:cs typeface="Calibri" pitchFamily="34" charset="-120"/>
              </a:rPr>
              <a:t>detection</a:t>
            </a:r>
            <a:endParaRPr lang="en-US" sz="1000" dirty="0"/>
          </a:p>
          <a:p>
            <a:pPr algn="ctr" indent="0" marL="0">
              <a:buNone/>
            </a:pPr>
            <a:r>
              <a:rPr lang="en-US" sz="1000" b="1" dirty="0">
                <a:solidFill>
                  <a:srgbClr val="E02020"/>
                </a:solidFill>
                <a:latin typeface="Calibri" pitchFamily="34" charset="0"/>
                <a:ea typeface="Calibri" pitchFamily="34" charset="-122"/>
                <a:cs typeface="Calibri" pitchFamily="34" charset="-120"/>
              </a:rPr>
              <a:t>Go untreated</a:t>
            </a:r>
            <a:endParaRPr lang="en-US" sz="1000" dirty="0"/>
          </a:p>
          <a:p>
            <a:pPr algn="ctr" indent="0" marL="0">
              <a:buNone/>
            </a:pPr>
            <a:r>
              <a:rPr lang="en-US" sz="1000" b="1" dirty="0">
                <a:solidFill>
                  <a:srgbClr val="E02020"/>
                </a:solidFill>
                <a:latin typeface="Calibri" pitchFamily="34" charset="0"/>
                <a:ea typeface="Calibri" pitchFamily="34" charset="-122"/>
                <a:cs typeface="Calibri" pitchFamily="34" charset="-120"/>
              </a:rPr>
              <a:t>Type II</a:t>
            </a:r>
            <a:endParaRPr lang="en-US" sz="1000" dirty="0"/>
          </a:p>
        </p:txBody>
      </p:sp>
      <p:sp>
        <p:nvSpPr>
          <p:cNvPr id="51" name="Shape 49"/>
          <p:cNvSpPr/>
          <p:nvPr/>
        </p:nvSpPr>
        <p:spPr>
          <a:xfrm>
            <a:off x="256032" y="5120640"/>
            <a:ext cx="8631936" cy="347472"/>
          </a:xfrm>
          <a:prstGeom prst="roundRect">
            <a:avLst>
              <a:gd name="adj" fmla="val 15789"/>
            </a:avLst>
          </a:prstGeom>
          <a:solidFill>
            <a:srgbClr val="FFFBEC"/>
          </a:solidFill>
          <a:ln w="19050">
            <a:solidFill>
              <a:srgbClr val="D4A010"/>
            </a:solidFill>
            <a:prstDash val="solid"/>
          </a:ln>
        </p:spPr>
      </p:sp>
      <p:sp>
        <p:nvSpPr>
          <p:cNvPr id="52" name="Text 50"/>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CRITICAL QUESTION for every project: Which is worse - a False Positive or a False Negative? Fraud detection: FN worse (missed fraud). Spam filter: FP worse (lost email). Cancer screening: FN worse (missed cancer). This question determines which metric to optimise.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A7E8C">
              <a:alpha val="16000"/>
            </a:srgbClr>
          </a:solidFill>
          <a:ln w="12700">
            <a:solidFill>
              <a:srgbClr val="0A7E8C"/>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Accuracy - When It Works and When It Dangerously Misleads</a:t>
            </a:r>
            <a:endParaRPr lang="en-US" sz="2600" dirty="0"/>
          </a:p>
        </p:txBody>
      </p:sp>
      <p:sp>
        <p:nvSpPr>
          <p:cNvPr id="4" name="Shape 2"/>
          <p:cNvSpPr/>
          <p:nvPr/>
        </p:nvSpPr>
        <p:spPr>
          <a:xfrm>
            <a:off x="274320" y="914400"/>
            <a:ext cx="4160520" cy="4133088"/>
          </a:xfrm>
          <a:prstGeom prst="roundRect">
            <a:avLst>
              <a:gd name="adj" fmla="val 2212"/>
            </a:avLst>
          </a:prstGeom>
          <a:solidFill>
            <a:srgbClr val="101828"/>
          </a:solidFill>
          <a:ln w="19050">
            <a:solidFill>
              <a:srgbClr val="E02020"/>
            </a:solidFill>
            <a:prstDash val="solid"/>
          </a:ln>
        </p:spPr>
      </p:sp>
      <p:sp>
        <p:nvSpPr>
          <p:cNvPr id="5" name="Shape 3"/>
          <p:cNvSpPr/>
          <p:nvPr/>
        </p:nvSpPr>
        <p:spPr>
          <a:xfrm>
            <a:off x="347472" y="987552"/>
            <a:ext cx="4005072" cy="329184"/>
          </a:xfrm>
          <a:prstGeom prst="roundRect">
            <a:avLst>
              <a:gd name="adj" fmla="val 16667"/>
            </a:avLst>
          </a:prstGeom>
          <a:solidFill>
            <a:srgbClr val="E02020"/>
          </a:solidFill>
          <a:ln w="12700">
            <a:solidFill>
              <a:srgbClr val="E02020"/>
            </a:solidFill>
            <a:prstDash val="solid"/>
          </a:ln>
        </p:spPr>
      </p:sp>
      <p:sp>
        <p:nvSpPr>
          <p:cNvPr id="6" name="Text 4"/>
          <p:cNvSpPr/>
          <p:nvPr/>
        </p:nvSpPr>
        <p:spPr>
          <a:xfrm>
            <a:off x="347472" y="987552"/>
            <a:ext cx="400507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ACCURACY PARADOX</a:t>
            </a:r>
            <a:endParaRPr lang="en-US" sz="1200" dirty="0"/>
          </a:p>
        </p:txBody>
      </p:sp>
      <p:sp>
        <p:nvSpPr>
          <p:cNvPr id="7" name="Text 5"/>
          <p:cNvSpPr/>
          <p:nvPr/>
        </p:nvSpPr>
        <p:spPr>
          <a:xfrm>
            <a:off x="384048" y="1389888"/>
            <a:ext cx="3913632" cy="2176272"/>
          </a:xfrm>
          <a:prstGeom prst="rect">
            <a:avLst/>
          </a:prstGeom>
          <a:noFill/>
          <a:ln/>
        </p:spPr>
        <p:txBody>
          <a:bodyPr wrap="square" lIns="0" tIns="0" rIns="0" bIns="0" rtlCol="0" anchor="ctr"/>
          <a:lstStyle/>
          <a:p>
            <a:pPr indent="0" marL="0">
              <a:buNone/>
            </a:pPr>
            <a:r>
              <a:rPr lang="en-US" sz="1050" dirty="0">
                <a:solidFill>
                  <a:srgbClr val="90D8E0"/>
                </a:solidFill>
                <a:latin typeface="Calibri" pitchFamily="34" charset="0"/>
                <a:ea typeface="Calibri" pitchFamily="34" charset="-122"/>
                <a:cs typeface="Calibri" pitchFamily="34" charset="-120"/>
              </a:rPr>
              <a:t>First Bank fraud detection: 50,000 transactions</a:t>
            </a:r>
            <a:endParaRPr lang="en-US" sz="1050" dirty="0"/>
          </a:p>
          <a:p>
            <a:pPr indent="0" marL="0">
              <a:buNone/>
            </a:pPr>
            <a:r>
              <a:rPr lang="en-US" sz="1050" dirty="0">
                <a:solidFill>
                  <a:srgbClr val="90D8E0"/>
                </a:solidFill>
                <a:latin typeface="Calibri" pitchFamily="34" charset="0"/>
                <a:ea typeface="Calibri" pitchFamily="34" charset="-122"/>
                <a:cs typeface="Calibri" pitchFamily="34" charset="-120"/>
              </a:rPr>
              <a:t>49,500 legitimate (99%), 500 fraudulent (1%)</a:t>
            </a:r>
            <a:endParaRPr lang="en-US" sz="1050" dirty="0"/>
          </a:p>
          <a:p>
            <a:pPr indent="0" marL="0">
              <a:buNone/>
            </a:pPr>
            <a:endParaRPr lang="en-US" sz="1050" dirty="0"/>
          </a:p>
          <a:p>
            <a:pPr indent="0" marL="0">
              <a:buNone/>
            </a:pPr>
            <a:r>
              <a:rPr lang="en-US" sz="1050" dirty="0">
                <a:solidFill>
                  <a:srgbClr val="90D8E0"/>
                </a:solidFill>
                <a:latin typeface="Calibri" pitchFamily="34" charset="0"/>
                <a:ea typeface="Calibri" pitchFamily="34" charset="-122"/>
                <a:cs typeface="Calibri" pitchFamily="34" charset="-120"/>
              </a:rPr>
              <a:t>Naive model: predict ALL as legitimate</a:t>
            </a:r>
            <a:endParaRPr lang="en-US" sz="1050" dirty="0"/>
          </a:p>
          <a:p>
            <a:pPr indent="0" marL="0">
              <a:buNone/>
            </a:pPr>
            <a:r>
              <a:rPr lang="en-US" sz="1050" dirty="0">
                <a:solidFill>
                  <a:srgbClr val="90D8E0"/>
                </a:solidFill>
                <a:latin typeface="Calibri" pitchFamily="34" charset="0"/>
                <a:ea typeface="Calibri" pitchFamily="34" charset="-122"/>
                <a:cs typeface="Calibri" pitchFamily="34" charset="-120"/>
              </a:rPr>
              <a:t>Accuracy = 49,500/50,000 = 99.0%</a:t>
            </a:r>
            <a:endParaRPr lang="en-US" sz="1050" dirty="0"/>
          </a:p>
          <a:p>
            <a:pPr indent="0" marL="0">
              <a:buNone/>
            </a:pPr>
            <a:endParaRPr lang="en-US" sz="1050" dirty="0"/>
          </a:p>
          <a:p>
            <a:pPr indent="0" marL="0">
              <a:buNone/>
            </a:pPr>
            <a:r>
              <a:rPr lang="en-US" sz="1050" dirty="0">
                <a:solidFill>
                  <a:srgbClr val="90D8E0"/>
                </a:solidFill>
                <a:latin typeface="Calibri" pitchFamily="34" charset="0"/>
                <a:ea typeface="Calibri" pitchFamily="34" charset="-122"/>
                <a:cs typeface="Calibri" pitchFamily="34" charset="-120"/>
              </a:rPr>
              <a:t>BUT: TP=0, FN=500, Precision=0, Recall=0, F1=0</a:t>
            </a:r>
            <a:endParaRPr lang="en-US" sz="1050" dirty="0"/>
          </a:p>
          <a:p>
            <a:pPr indent="0" marL="0">
              <a:buNone/>
            </a:pPr>
            <a:endParaRPr lang="en-US" sz="1050" dirty="0"/>
          </a:p>
          <a:p>
            <a:pPr indent="0" marL="0">
              <a:buNone/>
            </a:pPr>
            <a:r>
              <a:rPr lang="en-US" sz="1050" dirty="0">
                <a:solidFill>
                  <a:srgbClr val="90D8E0"/>
                </a:solidFill>
                <a:latin typeface="Calibri" pitchFamily="34" charset="0"/>
                <a:ea typeface="Calibri" pitchFamily="34" charset="-122"/>
                <a:cs typeface="Calibri" pitchFamily="34" charset="-120"/>
              </a:rPr>
              <a:t>The model detects ZERO frauds</a:t>
            </a:r>
            <a:endParaRPr lang="en-US" sz="1050" dirty="0"/>
          </a:p>
          <a:p>
            <a:pPr indent="0" marL="0">
              <a:buNone/>
            </a:pPr>
            <a:r>
              <a:rPr lang="en-US" sz="1050" dirty="0">
                <a:solidFill>
                  <a:srgbClr val="90D8E0"/>
                </a:solidFill>
                <a:latin typeface="Calibri" pitchFamily="34" charset="0"/>
                <a:ea typeface="Calibri" pitchFamily="34" charset="-122"/>
                <a:cs typeface="Calibri" pitchFamily="34" charset="-120"/>
              </a:rPr>
              <a:t>Accuracy of 99% is completely meaningless.</a:t>
            </a:r>
            <a:endParaRPr lang="en-US" sz="1050" dirty="0"/>
          </a:p>
        </p:txBody>
      </p:sp>
      <p:sp>
        <p:nvSpPr>
          <p:cNvPr id="8" name="Text 6"/>
          <p:cNvSpPr/>
          <p:nvPr/>
        </p:nvSpPr>
        <p:spPr>
          <a:xfrm>
            <a:off x="384048" y="3639312"/>
            <a:ext cx="3913632" cy="420624"/>
          </a:xfrm>
          <a:prstGeom prst="rect">
            <a:avLst/>
          </a:prstGeom>
          <a:noFill/>
          <a:ln/>
        </p:spPr>
        <p:txBody>
          <a:bodyPr wrap="square" lIns="0" tIns="0" rIns="0" bIns="0" rtlCol="0" anchor="ctr"/>
          <a:lstStyle/>
          <a:p>
            <a:pPr indent="0" marL="0">
              <a:buNone/>
            </a:pPr>
            <a:r>
              <a:rPr lang="en-US" sz="1050" b="1" dirty="0">
                <a:solidFill>
                  <a:srgbClr val="E02020"/>
                </a:solidFill>
                <a:latin typeface="Calibri" pitchFamily="34" charset="0"/>
                <a:ea typeface="Calibri" pitchFamily="34" charset="-122"/>
                <a:cs typeface="Calibri" pitchFamily="34" charset="-120"/>
              </a:rPr>
              <a:t>LESSON: High accuracy + imbalanced data = completely useless metric</a:t>
            </a:r>
            <a:endParaRPr lang="en-US" sz="1050" dirty="0"/>
          </a:p>
        </p:txBody>
      </p:sp>
      <p:sp>
        <p:nvSpPr>
          <p:cNvPr id="9" name="Text 7"/>
          <p:cNvSpPr/>
          <p:nvPr/>
        </p:nvSpPr>
        <p:spPr>
          <a:xfrm>
            <a:off x="384048" y="4114800"/>
            <a:ext cx="3913632" cy="329184"/>
          </a:xfrm>
          <a:prstGeom prst="rect">
            <a:avLst/>
          </a:prstGeom>
          <a:noFill/>
          <a:ln/>
        </p:spPr>
        <p:txBody>
          <a:bodyPr wrap="square" lIns="0" tIns="0" rIns="0" bIns="0" rtlCol="0" anchor="ctr"/>
          <a:lstStyle/>
          <a:p>
            <a:pPr indent="0" marL="0">
              <a:buNone/>
            </a:pPr>
            <a:r>
              <a:rPr lang="en-US" sz="950" dirty="0">
                <a:solidFill>
                  <a:srgbClr val="F0C840"/>
                </a:solidFill>
                <a:latin typeface="Courier New" pitchFamily="34" charset="0"/>
                <a:ea typeface="Courier New" pitchFamily="34" charset="-122"/>
                <a:cs typeface="Courier New" pitchFamily="34" charset="-120"/>
              </a:rPr>
              <a:t>Formula: Accuracy = (TP+TN) / (TP+TN+FP+FN)</a:t>
            </a:r>
            <a:endParaRPr lang="en-US" sz="950" dirty="0"/>
          </a:p>
        </p:txBody>
      </p:sp>
      <p:sp>
        <p:nvSpPr>
          <p:cNvPr id="10" name="Shape 8"/>
          <p:cNvSpPr/>
          <p:nvPr/>
        </p:nvSpPr>
        <p:spPr>
          <a:xfrm>
            <a:off x="4681728" y="914400"/>
            <a:ext cx="4160520" cy="4133088"/>
          </a:xfrm>
          <a:prstGeom prst="roundRect">
            <a:avLst>
              <a:gd name="adj" fmla="val 2212"/>
            </a:avLst>
          </a:prstGeom>
          <a:solidFill>
            <a:srgbClr val="101828"/>
          </a:solidFill>
          <a:ln w="19050">
            <a:solidFill>
              <a:srgbClr val="0A8A4A"/>
            </a:solidFill>
            <a:prstDash val="solid"/>
          </a:ln>
        </p:spPr>
      </p:sp>
      <p:sp>
        <p:nvSpPr>
          <p:cNvPr id="11" name="Shape 9"/>
          <p:cNvSpPr/>
          <p:nvPr/>
        </p:nvSpPr>
        <p:spPr>
          <a:xfrm>
            <a:off x="4754880" y="987552"/>
            <a:ext cx="4005072" cy="329184"/>
          </a:xfrm>
          <a:prstGeom prst="roundRect">
            <a:avLst>
              <a:gd name="adj" fmla="val 16667"/>
            </a:avLst>
          </a:prstGeom>
          <a:solidFill>
            <a:srgbClr val="0A8A4A"/>
          </a:solidFill>
          <a:ln w="12700">
            <a:solidFill>
              <a:srgbClr val="0A8A4A"/>
            </a:solidFill>
            <a:prstDash val="solid"/>
          </a:ln>
        </p:spPr>
      </p:sp>
      <p:sp>
        <p:nvSpPr>
          <p:cNvPr id="12" name="Text 10"/>
          <p:cNvSpPr/>
          <p:nvPr/>
        </p:nvSpPr>
        <p:spPr>
          <a:xfrm>
            <a:off x="4754880" y="987552"/>
            <a:ext cx="400507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WHEN ACCURACY IS VALID</a:t>
            </a:r>
            <a:endParaRPr lang="en-US" sz="1200" dirty="0"/>
          </a:p>
        </p:txBody>
      </p:sp>
      <p:sp>
        <p:nvSpPr>
          <p:cNvPr id="13" name="Text 11"/>
          <p:cNvSpPr/>
          <p:nvPr/>
        </p:nvSpPr>
        <p:spPr>
          <a:xfrm>
            <a:off x="4791456" y="1389888"/>
            <a:ext cx="3913632" cy="438912"/>
          </a:xfrm>
          <a:prstGeom prst="rect">
            <a:avLst/>
          </a:prstGeom>
          <a:noFill/>
          <a:ln/>
        </p:spPr>
        <p:txBody>
          <a:bodyPr wrap="square" lIns="0" tIns="0" rIns="0" bIns="0" rtlCol="0" anchor="ctr"/>
          <a:lstStyle/>
          <a:p>
            <a:pPr indent="0" marL="0">
              <a:buNone/>
            </a:pPr>
            <a:r>
              <a:rPr lang="en-US" sz="1050" dirty="0">
                <a:solidFill>
                  <a:srgbClr val="90D8E0"/>
                </a:solidFill>
                <a:latin typeface="Calibri" pitchFamily="34" charset="0"/>
                <a:ea typeface="Calibri" pitchFamily="34" charset="-122"/>
                <a:cs typeface="Calibri" pitchFamily="34" charset="-120"/>
              </a:rPr>
              <a:t>- Classes are approximately balanced (each class has similar N)</a:t>
            </a:r>
            <a:endParaRPr lang="en-US" sz="1050" dirty="0"/>
          </a:p>
        </p:txBody>
      </p:sp>
      <p:sp>
        <p:nvSpPr>
          <p:cNvPr id="14" name="Text 12"/>
          <p:cNvSpPr/>
          <p:nvPr/>
        </p:nvSpPr>
        <p:spPr>
          <a:xfrm>
            <a:off x="4791456" y="1883664"/>
            <a:ext cx="3913632" cy="438912"/>
          </a:xfrm>
          <a:prstGeom prst="rect">
            <a:avLst/>
          </a:prstGeom>
          <a:noFill/>
          <a:ln/>
        </p:spPr>
        <p:txBody>
          <a:bodyPr wrap="square" lIns="0" tIns="0" rIns="0" bIns="0" rtlCol="0" anchor="ctr"/>
          <a:lstStyle/>
          <a:p>
            <a:pPr indent="0" marL="0">
              <a:buNone/>
            </a:pPr>
            <a:r>
              <a:rPr lang="en-US" sz="1050" dirty="0">
                <a:solidFill>
                  <a:srgbClr val="90D8E0"/>
                </a:solidFill>
                <a:latin typeface="Calibri" pitchFamily="34" charset="0"/>
                <a:ea typeface="Calibri" pitchFamily="34" charset="-122"/>
                <a:cs typeface="Calibri" pitchFamily="34" charset="-120"/>
              </a:rPr>
              <a:t>- Both error types (FP and FN) have similar costs</a:t>
            </a:r>
            <a:endParaRPr lang="en-US" sz="1050" dirty="0"/>
          </a:p>
        </p:txBody>
      </p:sp>
      <p:sp>
        <p:nvSpPr>
          <p:cNvPr id="15" name="Text 13"/>
          <p:cNvSpPr/>
          <p:nvPr/>
        </p:nvSpPr>
        <p:spPr>
          <a:xfrm>
            <a:off x="4791456" y="2377440"/>
            <a:ext cx="3913632" cy="438912"/>
          </a:xfrm>
          <a:prstGeom prst="rect">
            <a:avLst/>
          </a:prstGeom>
          <a:noFill/>
          <a:ln/>
        </p:spPr>
        <p:txBody>
          <a:bodyPr wrap="square" lIns="0" tIns="0" rIns="0" bIns="0" rtlCol="0" anchor="ctr"/>
          <a:lstStyle/>
          <a:p>
            <a:pPr indent="0" marL="0">
              <a:buNone/>
            </a:pPr>
            <a:r>
              <a:rPr lang="en-US" sz="1050" dirty="0">
                <a:solidFill>
                  <a:srgbClr val="90D8E0"/>
                </a:solidFill>
                <a:latin typeface="Calibri" pitchFamily="34" charset="0"/>
                <a:ea typeface="Calibri" pitchFamily="34" charset="-122"/>
                <a:cs typeface="Calibri" pitchFamily="34" charset="-120"/>
              </a:rPr>
              <a:t>- Quick comparison baseline metric</a:t>
            </a:r>
            <a:endParaRPr lang="en-US" sz="1050" dirty="0"/>
          </a:p>
        </p:txBody>
      </p:sp>
      <p:sp>
        <p:nvSpPr>
          <p:cNvPr id="16" name="Text 14"/>
          <p:cNvSpPr/>
          <p:nvPr/>
        </p:nvSpPr>
        <p:spPr>
          <a:xfrm>
            <a:off x="4791456" y="2871216"/>
            <a:ext cx="3913632" cy="438912"/>
          </a:xfrm>
          <a:prstGeom prst="rect">
            <a:avLst/>
          </a:prstGeom>
          <a:noFill/>
          <a:ln/>
        </p:spPr>
        <p:txBody>
          <a:bodyPr wrap="square" lIns="0" tIns="0" rIns="0" bIns="0" rtlCol="0" anchor="ctr"/>
          <a:lstStyle/>
          <a:p>
            <a:pPr indent="0" marL="0">
              <a:buNone/>
            </a:pPr>
            <a:r>
              <a:rPr lang="en-US" sz="1050" dirty="0">
                <a:solidFill>
                  <a:srgbClr val="90D8E0"/>
                </a:solidFill>
                <a:latin typeface="Calibri" pitchFamily="34" charset="0"/>
                <a:ea typeface="Calibri" pitchFamily="34" charset="-122"/>
                <a:cs typeface="Calibri" pitchFamily="34" charset="-120"/>
              </a:rPr>
              <a:t>- Simple problems with well-separated classes</a:t>
            </a:r>
            <a:endParaRPr lang="en-US" sz="1050" dirty="0"/>
          </a:p>
        </p:txBody>
      </p:sp>
      <p:sp>
        <p:nvSpPr>
          <p:cNvPr id="17" name="Text 15"/>
          <p:cNvSpPr/>
          <p:nvPr/>
        </p:nvSpPr>
        <p:spPr>
          <a:xfrm>
            <a:off x="4791456" y="3364992"/>
            <a:ext cx="3913632" cy="438912"/>
          </a:xfrm>
          <a:prstGeom prst="rect">
            <a:avLst/>
          </a:prstGeom>
          <a:noFill/>
          <a:ln/>
        </p:spPr>
        <p:txBody>
          <a:bodyPr wrap="square" lIns="0" tIns="0" rIns="0" bIns="0" rtlCol="0" anchor="ctr"/>
          <a:lstStyle/>
          <a:p>
            <a:pPr indent="0" marL="0">
              <a:buNone/>
            </a:pPr>
            <a:r>
              <a:rPr lang="en-US" sz="1050" dirty="0">
                <a:solidFill>
                  <a:srgbClr val="90D8E0"/>
                </a:solidFill>
                <a:latin typeface="Calibri" pitchFamily="34" charset="0"/>
                <a:ea typeface="Calibri" pitchFamily="34" charset="-122"/>
                <a:cs typeface="Calibri" pitchFamily="34" charset="-120"/>
              </a:rPr>
              <a:t>- Always compare to majority-class baseline first</a:t>
            </a:r>
            <a:endParaRPr lang="en-US" sz="1050" dirty="0"/>
          </a:p>
        </p:txBody>
      </p:sp>
      <p:sp>
        <p:nvSpPr>
          <p:cNvPr id="18" name="Text 16"/>
          <p:cNvSpPr/>
          <p:nvPr/>
        </p:nvSpPr>
        <p:spPr>
          <a:xfrm>
            <a:off x="4791456" y="3877056"/>
            <a:ext cx="3913632" cy="566928"/>
          </a:xfrm>
          <a:prstGeom prst="rect">
            <a:avLst/>
          </a:prstGeom>
          <a:noFill/>
          <a:ln/>
        </p:spPr>
        <p:txBody>
          <a:bodyPr wrap="square" lIns="0" tIns="0" rIns="0" bIns="0" rtlCol="0" anchor="ctr"/>
          <a:lstStyle/>
          <a:p>
            <a:pPr indent="0" marL="0">
              <a:buNone/>
            </a:pPr>
            <a:r>
              <a:rPr lang="en-US" sz="1000" i="1" dirty="0">
                <a:solidFill>
                  <a:srgbClr val="D4A010"/>
                </a:solidFill>
                <a:latin typeface="Calibri" pitchFamily="34" charset="0"/>
                <a:ea typeface="Calibri" pitchFamily="34" charset="-122"/>
                <a:cs typeface="Calibri" pitchFamily="34" charset="-120"/>
              </a:rPr>
              <a:t>Baseline check: what accuracy would you get by always predicting the majority class? Your model MUST beat this baseline substantially.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80E1C"/>
          </a:solidFill>
          <a:ln w="12700">
            <a:solidFill>
              <a:srgbClr val="080E1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Precision and Recall - Understanding the Fundamental Trade-off</a:t>
            </a:r>
            <a:endParaRPr lang="en-US" sz="2100" dirty="0"/>
          </a:p>
        </p:txBody>
      </p:sp>
      <p:sp>
        <p:nvSpPr>
          <p:cNvPr id="4" name="Shape 2"/>
          <p:cNvSpPr/>
          <p:nvPr/>
        </p:nvSpPr>
        <p:spPr>
          <a:xfrm>
            <a:off x="256032" y="1024128"/>
            <a:ext cx="4160520" cy="4041648"/>
          </a:xfrm>
          <a:prstGeom prst="roundRect">
            <a:avLst>
              <a:gd name="adj" fmla="val 203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29184"/>
          </a:xfrm>
          <a:prstGeom prst="roundRect">
            <a:avLst>
              <a:gd name="adj" fmla="val 16667"/>
            </a:avLst>
          </a:prstGeom>
          <a:solidFill>
            <a:srgbClr val="1050C0"/>
          </a:solidFill>
          <a:ln w="12700">
            <a:solidFill>
              <a:srgbClr val="1050C0"/>
            </a:solidFill>
            <a:prstDash val="solid"/>
          </a:ln>
        </p:spPr>
      </p:sp>
      <p:sp>
        <p:nvSpPr>
          <p:cNvPr id="6" name="Text 4"/>
          <p:cNvSpPr/>
          <p:nvPr/>
        </p:nvSpPr>
        <p:spPr>
          <a:xfrm>
            <a:off x="329184" y="1097280"/>
            <a:ext cx="400507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PRECISION  =  TP / (TP + FP)</a:t>
            </a:r>
            <a:endParaRPr lang="en-US" sz="1200" dirty="0"/>
          </a:p>
        </p:txBody>
      </p:sp>
      <p:sp>
        <p:nvSpPr>
          <p:cNvPr id="7" name="Text 5"/>
          <p:cNvSpPr/>
          <p:nvPr/>
        </p:nvSpPr>
        <p:spPr>
          <a:xfrm>
            <a:off x="365760" y="1499616"/>
            <a:ext cx="3950208" cy="658368"/>
          </a:xfrm>
          <a:prstGeom prst="rect">
            <a:avLst/>
          </a:prstGeom>
          <a:noFill/>
          <a:ln/>
        </p:spPr>
        <p:txBody>
          <a:bodyPr wrap="square" lIns="0" tIns="0" rIns="0" bIns="0" rtlCol="0" anchor="ctr"/>
          <a:lstStyle/>
          <a:p>
            <a:pPr indent="0" marL="0">
              <a:buNone/>
            </a:pPr>
            <a:r>
              <a:rPr lang="en-US" sz="1050" dirty="0">
                <a:solidFill>
                  <a:srgbClr val="101828"/>
                </a:solidFill>
                <a:latin typeface="Calibri" pitchFamily="34" charset="0"/>
                <a:ea typeface="Calibri" pitchFamily="34" charset="-122"/>
                <a:cs typeface="Calibri" pitchFamily="34" charset="-120"/>
              </a:rPr>
              <a:t>'Of all cases I predicted POSITIVE, what fraction truly IS positive?'</a:t>
            </a:r>
            <a:endParaRPr lang="en-US" sz="1050" dirty="0"/>
          </a:p>
          <a:p>
            <a:pPr indent="0" marL="0">
              <a:buNone/>
            </a:pPr>
            <a:endParaRPr lang="en-US" sz="1050" dirty="0"/>
          </a:p>
          <a:p>
            <a:pPr indent="0" marL="0">
              <a:buNone/>
            </a:pPr>
            <a:r>
              <a:rPr lang="en-US" sz="1050" dirty="0">
                <a:solidFill>
                  <a:srgbClr val="101828"/>
                </a:solidFill>
                <a:latin typeface="Calibri" pitchFamily="34" charset="0"/>
                <a:ea typeface="Calibri" pitchFamily="34" charset="-122"/>
                <a:cs typeface="Calibri" pitchFamily="34" charset="-120"/>
              </a:rPr>
              <a:t>Measures quality of positive predictions.</a:t>
            </a:r>
            <a:endParaRPr lang="en-US" sz="1050" dirty="0"/>
          </a:p>
          <a:p>
            <a:pPr indent="0" marL="0">
              <a:buNone/>
            </a:pPr>
            <a:r>
              <a:rPr lang="en-US" sz="1050" dirty="0">
                <a:solidFill>
                  <a:srgbClr val="101828"/>
                </a:solidFill>
                <a:latin typeface="Calibri" pitchFamily="34" charset="0"/>
                <a:ea typeface="Calibri" pitchFamily="34" charset="-122"/>
                <a:cs typeface="Calibri" pitchFamily="34" charset="-120"/>
              </a:rPr>
              <a:t>High Precision = Very few false alarms.</a:t>
            </a:r>
            <a:endParaRPr lang="en-US" sz="1050" dirty="0"/>
          </a:p>
        </p:txBody>
      </p:sp>
      <p:sp>
        <p:nvSpPr>
          <p:cNvPr id="8" name="Text 6"/>
          <p:cNvSpPr/>
          <p:nvPr/>
        </p:nvSpPr>
        <p:spPr>
          <a:xfrm>
            <a:off x="365760" y="2212848"/>
            <a:ext cx="3950208" cy="256032"/>
          </a:xfrm>
          <a:prstGeom prst="rect">
            <a:avLst/>
          </a:prstGeom>
          <a:noFill/>
          <a:ln/>
        </p:spPr>
        <p:txBody>
          <a:bodyPr wrap="square" lIns="0" tIns="0" rIns="0" bIns="0" rtlCol="0" anchor="ctr"/>
          <a:lstStyle/>
          <a:p>
            <a:pPr indent="0" marL="0">
              <a:buNone/>
            </a:pPr>
            <a:r>
              <a:rPr lang="en-US" sz="1050" b="1" dirty="0">
                <a:solidFill>
                  <a:srgbClr val="1050C0"/>
                </a:solidFill>
                <a:latin typeface="Calibri" pitchFamily="34" charset="0"/>
                <a:ea typeface="Calibri" pitchFamily="34" charset="-122"/>
                <a:cs typeface="Calibri" pitchFamily="34" charset="-120"/>
              </a:rPr>
              <a:t>Optimise Precision when FP is COSTLY:</a:t>
            </a:r>
            <a:endParaRPr lang="en-US" sz="1050" dirty="0"/>
          </a:p>
        </p:txBody>
      </p:sp>
      <p:sp>
        <p:nvSpPr>
          <p:cNvPr id="9" name="Text 7"/>
          <p:cNvSpPr/>
          <p:nvPr/>
        </p:nvSpPr>
        <p:spPr>
          <a:xfrm>
            <a:off x="365760" y="2505456"/>
            <a:ext cx="3950208" cy="29260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Medical biopsy: A false positive = unnecessary painful procedure</a:t>
            </a:r>
            <a:endParaRPr lang="en-US" sz="950" dirty="0"/>
          </a:p>
        </p:txBody>
      </p:sp>
      <p:sp>
        <p:nvSpPr>
          <p:cNvPr id="10" name="Text 8"/>
          <p:cNvSpPr/>
          <p:nvPr/>
        </p:nvSpPr>
        <p:spPr>
          <a:xfrm>
            <a:off x="365760" y="2834640"/>
            <a:ext cx="3950208" cy="29260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Legal AI: A false positive = accusing an innocent person</a:t>
            </a:r>
            <a:endParaRPr lang="en-US" sz="950" dirty="0"/>
          </a:p>
        </p:txBody>
      </p:sp>
      <p:sp>
        <p:nvSpPr>
          <p:cNvPr id="11" name="Text 9"/>
          <p:cNvSpPr/>
          <p:nvPr/>
        </p:nvSpPr>
        <p:spPr>
          <a:xfrm>
            <a:off x="365760" y="3163824"/>
            <a:ext cx="3950208" cy="29260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Spam filter: A false positive = losing an important email</a:t>
            </a:r>
            <a:endParaRPr lang="en-US" sz="950" dirty="0"/>
          </a:p>
        </p:txBody>
      </p:sp>
      <p:sp>
        <p:nvSpPr>
          <p:cNvPr id="12" name="Text 10"/>
          <p:cNvSpPr/>
          <p:nvPr/>
        </p:nvSpPr>
        <p:spPr>
          <a:xfrm>
            <a:off x="365760" y="3493008"/>
            <a:ext cx="3950208" cy="29260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Loan approval: A false positive = approving a defaulting borrower</a:t>
            </a:r>
            <a:endParaRPr lang="en-US" sz="950" dirty="0"/>
          </a:p>
        </p:txBody>
      </p:sp>
      <p:sp>
        <p:nvSpPr>
          <p:cNvPr id="13" name="Shape 11"/>
          <p:cNvSpPr/>
          <p:nvPr/>
        </p:nvSpPr>
        <p:spPr>
          <a:xfrm>
            <a:off x="365760" y="3913632"/>
            <a:ext cx="3950208" cy="512064"/>
          </a:xfrm>
          <a:prstGeom prst="roundRect">
            <a:avLst>
              <a:gd name="adj" fmla="val 10714"/>
            </a:avLst>
          </a:prstGeom>
          <a:solidFill>
            <a:srgbClr val="E8F0FF"/>
          </a:solidFill>
          <a:ln w="10160">
            <a:solidFill>
              <a:srgbClr val="1050C0"/>
            </a:solidFill>
            <a:prstDash val="solid"/>
          </a:ln>
        </p:spPr>
      </p:sp>
      <p:sp>
        <p:nvSpPr>
          <p:cNvPr id="14" name="Text 12"/>
          <p:cNvSpPr/>
          <p:nvPr/>
        </p:nvSpPr>
        <p:spPr>
          <a:xfrm>
            <a:off x="438912" y="3950208"/>
            <a:ext cx="3803904" cy="457200"/>
          </a:xfrm>
          <a:prstGeom prst="rect">
            <a:avLst/>
          </a:prstGeom>
          <a:noFill/>
          <a:ln/>
        </p:spPr>
        <p:txBody>
          <a:bodyPr wrap="square" lIns="0" tIns="0" rIns="0" bIns="0" rtlCol="0" anchor="ctr"/>
          <a:lstStyle/>
          <a:p>
            <a:pPr indent="0" marL="0">
              <a:buNone/>
            </a:pPr>
            <a:r>
              <a:rPr lang="en-US" sz="950" b="1" dirty="0">
                <a:solidFill>
                  <a:srgbClr val="1050C0"/>
                </a:solidFill>
                <a:latin typeface="Calibri" pitchFamily="34" charset="0"/>
                <a:ea typeface="Calibri" pitchFamily="34" charset="-122"/>
                <a:cs typeface="Calibri" pitchFamily="34" charset="-120"/>
              </a:rPr>
              <a:t>GTBank Credit: </a:t>
            </a:r>
            <a:pPr indent="0" marL="0">
              <a:buNone/>
            </a:pPr>
            <a:r>
              <a:rPr lang="en-US" sz="950" dirty="0">
                <a:solidFill>
                  <a:srgbClr val="101828"/>
                </a:solidFill>
                <a:latin typeface="Calibri" pitchFamily="34" charset="0"/>
                <a:ea typeface="Calibri" pitchFamily="34" charset="-122"/>
                <a:cs typeface="Calibri" pitchFamily="34" charset="-120"/>
              </a:rPr>
              <a:t>Precision=0.78 for APPROVE means 78 out of every 100 approved loans repay. 22 default - direct financial loss per approval decision.</a:t>
            </a:r>
            <a:endParaRPr lang="en-US" sz="950" dirty="0"/>
          </a:p>
        </p:txBody>
      </p:sp>
      <p:sp>
        <p:nvSpPr>
          <p:cNvPr id="15" name="Shape 13"/>
          <p:cNvSpPr/>
          <p:nvPr/>
        </p:nvSpPr>
        <p:spPr>
          <a:xfrm>
            <a:off x="4681728" y="1024128"/>
            <a:ext cx="4160520" cy="4041648"/>
          </a:xfrm>
          <a:prstGeom prst="roundRect">
            <a:avLst>
              <a:gd name="adj" fmla="val 203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6" name="Shape 14"/>
          <p:cNvSpPr/>
          <p:nvPr/>
        </p:nvSpPr>
        <p:spPr>
          <a:xfrm>
            <a:off x="4754880" y="1097280"/>
            <a:ext cx="4005072" cy="329184"/>
          </a:xfrm>
          <a:prstGeom prst="roundRect">
            <a:avLst>
              <a:gd name="adj" fmla="val 16667"/>
            </a:avLst>
          </a:prstGeom>
          <a:solidFill>
            <a:srgbClr val="0A8A4A"/>
          </a:solidFill>
          <a:ln w="12700">
            <a:solidFill>
              <a:srgbClr val="0A8A4A"/>
            </a:solidFill>
            <a:prstDash val="solid"/>
          </a:ln>
        </p:spPr>
      </p:sp>
      <p:sp>
        <p:nvSpPr>
          <p:cNvPr id="17" name="Text 15"/>
          <p:cNvSpPr/>
          <p:nvPr/>
        </p:nvSpPr>
        <p:spPr>
          <a:xfrm>
            <a:off x="4754880" y="1097280"/>
            <a:ext cx="400507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RECALL  =  TP / (TP + FN)</a:t>
            </a:r>
            <a:endParaRPr lang="en-US" sz="1200" dirty="0"/>
          </a:p>
        </p:txBody>
      </p:sp>
      <p:sp>
        <p:nvSpPr>
          <p:cNvPr id="18" name="Text 16"/>
          <p:cNvSpPr/>
          <p:nvPr/>
        </p:nvSpPr>
        <p:spPr>
          <a:xfrm>
            <a:off x="4773168" y="1499616"/>
            <a:ext cx="3950208" cy="658368"/>
          </a:xfrm>
          <a:prstGeom prst="rect">
            <a:avLst/>
          </a:prstGeom>
          <a:noFill/>
          <a:ln/>
        </p:spPr>
        <p:txBody>
          <a:bodyPr wrap="square" lIns="0" tIns="0" rIns="0" bIns="0" rtlCol="0" anchor="ctr"/>
          <a:lstStyle/>
          <a:p>
            <a:pPr indent="0" marL="0">
              <a:buNone/>
            </a:pPr>
            <a:r>
              <a:rPr lang="en-US" sz="1050" dirty="0">
                <a:solidFill>
                  <a:srgbClr val="101828"/>
                </a:solidFill>
                <a:latin typeface="Calibri" pitchFamily="34" charset="0"/>
                <a:ea typeface="Calibri" pitchFamily="34" charset="-122"/>
                <a:cs typeface="Calibri" pitchFamily="34" charset="-120"/>
              </a:rPr>
              <a:t>'Of all cases that ARE positive, what fraction did I DETECT?'</a:t>
            </a:r>
            <a:endParaRPr lang="en-US" sz="1050" dirty="0"/>
          </a:p>
          <a:p>
            <a:pPr indent="0" marL="0">
              <a:buNone/>
            </a:pPr>
            <a:endParaRPr lang="en-US" sz="1050" dirty="0"/>
          </a:p>
          <a:p>
            <a:pPr indent="0" marL="0">
              <a:buNone/>
            </a:pPr>
            <a:r>
              <a:rPr lang="en-US" sz="1050" dirty="0">
                <a:solidFill>
                  <a:srgbClr val="101828"/>
                </a:solidFill>
                <a:latin typeface="Calibri" pitchFamily="34" charset="0"/>
                <a:ea typeface="Calibri" pitchFamily="34" charset="-122"/>
                <a:cs typeface="Calibri" pitchFamily="34" charset="-120"/>
              </a:rPr>
              <a:t>Measures completeness of detection.</a:t>
            </a:r>
            <a:endParaRPr lang="en-US" sz="1050" dirty="0"/>
          </a:p>
          <a:p>
            <a:pPr indent="0" marL="0">
              <a:buNone/>
            </a:pPr>
            <a:r>
              <a:rPr lang="en-US" sz="1050" dirty="0">
                <a:solidFill>
                  <a:srgbClr val="101828"/>
                </a:solidFill>
                <a:latin typeface="Calibri" pitchFamily="34" charset="0"/>
                <a:ea typeface="Calibri" pitchFamily="34" charset="-122"/>
                <a:cs typeface="Calibri" pitchFamily="34" charset="-120"/>
              </a:rPr>
              <a:t>High Recall = Very few missed cases.</a:t>
            </a:r>
            <a:endParaRPr lang="en-US" sz="1050" dirty="0"/>
          </a:p>
        </p:txBody>
      </p:sp>
      <p:sp>
        <p:nvSpPr>
          <p:cNvPr id="19" name="Text 17"/>
          <p:cNvSpPr/>
          <p:nvPr/>
        </p:nvSpPr>
        <p:spPr>
          <a:xfrm>
            <a:off x="4773168" y="2212848"/>
            <a:ext cx="3950208" cy="256032"/>
          </a:xfrm>
          <a:prstGeom prst="rect">
            <a:avLst/>
          </a:prstGeom>
          <a:noFill/>
          <a:ln/>
        </p:spPr>
        <p:txBody>
          <a:bodyPr wrap="square" lIns="0" tIns="0" rIns="0" bIns="0" rtlCol="0" anchor="ctr"/>
          <a:lstStyle/>
          <a:p>
            <a:pPr indent="0" marL="0">
              <a:buNone/>
            </a:pPr>
            <a:r>
              <a:rPr lang="en-US" sz="1050" b="1" dirty="0">
                <a:solidFill>
                  <a:srgbClr val="0A8A4A"/>
                </a:solidFill>
                <a:latin typeface="Calibri" pitchFamily="34" charset="0"/>
                <a:ea typeface="Calibri" pitchFamily="34" charset="-122"/>
                <a:cs typeface="Calibri" pitchFamily="34" charset="-120"/>
              </a:rPr>
              <a:t>Optimise Recall when FN is COSTLY:</a:t>
            </a:r>
            <a:endParaRPr lang="en-US" sz="1050" dirty="0"/>
          </a:p>
        </p:txBody>
      </p:sp>
      <p:sp>
        <p:nvSpPr>
          <p:cNvPr id="20" name="Text 18"/>
          <p:cNvSpPr/>
          <p:nvPr/>
        </p:nvSpPr>
        <p:spPr>
          <a:xfrm>
            <a:off x="4773168" y="2505456"/>
            <a:ext cx="3950208" cy="29260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Cancer screening: A false negative = sick patient told healthy</a:t>
            </a:r>
            <a:endParaRPr lang="en-US" sz="950" dirty="0"/>
          </a:p>
        </p:txBody>
      </p:sp>
      <p:sp>
        <p:nvSpPr>
          <p:cNvPr id="21" name="Text 19"/>
          <p:cNvSpPr/>
          <p:nvPr/>
        </p:nvSpPr>
        <p:spPr>
          <a:xfrm>
            <a:off x="4773168" y="2834640"/>
            <a:ext cx="3950208" cy="29260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Fraud detection: A false negative = fraud goes undetected</a:t>
            </a:r>
            <a:endParaRPr lang="en-US" sz="950" dirty="0"/>
          </a:p>
        </p:txBody>
      </p:sp>
      <p:sp>
        <p:nvSpPr>
          <p:cNvPr id="22" name="Text 20"/>
          <p:cNvSpPr/>
          <p:nvPr/>
        </p:nvSpPr>
        <p:spPr>
          <a:xfrm>
            <a:off x="4773168" y="3163824"/>
            <a:ext cx="3950208" cy="29260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Equipment failure: A false negative = machine breaks down</a:t>
            </a:r>
            <a:endParaRPr lang="en-US" sz="950" dirty="0"/>
          </a:p>
        </p:txBody>
      </p:sp>
      <p:sp>
        <p:nvSpPr>
          <p:cNvPr id="23" name="Text 21"/>
          <p:cNvSpPr/>
          <p:nvPr/>
        </p:nvSpPr>
        <p:spPr>
          <a:xfrm>
            <a:off x="4773168" y="3493008"/>
            <a:ext cx="3950208" cy="292608"/>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COVID testing: A false negative = infected person spreads disease</a:t>
            </a:r>
            <a:endParaRPr lang="en-US" sz="950" dirty="0"/>
          </a:p>
        </p:txBody>
      </p:sp>
      <p:sp>
        <p:nvSpPr>
          <p:cNvPr id="24" name="Shape 22"/>
          <p:cNvSpPr/>
          <p:nvPr/>
        </p:nvSpPr>
        <p:spPr>
          <a:xfrm>
            <a:off x="4773168" y="3913632"/>
            <a:ext cx="3950208" cy="512064"/>
          </a:xfrm>
          <a:prstGeom prst="roundRect">
            <a:avLst>
              <a:gd name="adj" fmla="val 10714"/>
            </a:avLst>
          </a:prstGeom>
          <a:solidFill>
            <a:srgbClr val="E8FFF0"/>
          </a:solidFill>
          <a:ln w="10160">
            <a:solidFill>
              <a:srgbClr val="0A8A4A"/>
            </a:solidFill>
            <a:prstDash val="solid"/>
          </a:ln>
        </p:spPr>
      </p:sp>
      <p:sp>
        <p:nvSpPr>
          <p:cNvPr id="25" name="Text 23"/>
          <p:cNvSpPr/>
          <p:nvPr/>
        </p:nvSpPr>
        <p:spPr>
          <a:xfrm>
            <a:off x="4846320" y="3950208"/>
            <a:ext cx="3803904" cy="457200"/>
          </a:xfrm>
          <a:prstGeom prst="rect">
            <a:avLst/>
          </a:prstGeom>
          <a:noFill/>
          <a:ln/>
        </p:spPr>
        <p:txBody>
          <a:bodyPr wrap="square" lIns="0" tIns="0" rIns="0" bIns="0" rtlCol="0" anchor="ctr"/>
          <a:lstStyle/>
          <a:p>
            <a:pPr indent="0" marL="0">
              <a:buNone/>
            </a:pPr>
            <a:r>
              <a:rPr lang="en-US" sz="950" b="1" dirty="0">
                <a:solidFill>
                  <a:srgbClr val="0A8A4A"/>
                </a:solidFill>
                <a:latin typeface="Calibri" pitchFamily="34" charset="0"/>
                <a:ea typeface="Calibri" pitchFamily="34" charset="-122"/>
                <a:cs typeface="Calibri" pitchFamily="34" charset="-120"/>
              </a:rPr>
              <a:t>LUTH Cancer Screening: </a:t>
            </a:r>
            <a:pPr indent="0" marL="0">
              <a:buNone/>
            </a:pPr>
            <a:r>
              <a:rPr lang="en-US" sz="950" dirty="0">
                <a:solidFill>
                  <a:srgbClr val="101828"/>
                </a:solidFill>
                <a:latin typeface="Calibri" pitchFamily="34" charset="0"/>
                <a:ea typeface="Calibri" pitchFamily="34" charset="-122"/>
                <a:cs typeface="Calibri" pitchFamily="34" charset="-120"/>
              </a:rPr>
              <a:t>Recall=0.94 detects 94 of 100 cancers. 6 patients receive false negatives and miss treatment - potentially fatal.</a:t>
            </a:r>
            <a:endParaRPr lang="en-US" sz="950" dirty="0"/>
          </a:p>
        </p:txBody>
      </p:sp>
      <p:sp>
        <p:nvSpPr>
          <p:cNvPr id="26" name="Shape 24"/>
          <p:cNvSpPr/>
          <p:nvPr/>
        </p:nvSpPr>
        <p:spPr>
          <a:xfrm>
            <a:off x="256032" y="5120640"/>
            <a:ext cx="8631936" cy="347472"/>
          </a:xfrm>
          <a:prstGeom prst="roundRect">
            <a:avLst>
              <a:gd name="adj" fmla="val 15789"/>
            </a:avLst>
          </a:prstGeom>
          <a:solidFill>
            <a:srgbClr val="FFFBEC"/>
          </a:solidFill>
          <a:ln w="19050">
            <a:solidFill>
              <a:srgbClr val="D4A010"/>
            </a:solidFill>
            <a:prstDash val="solid"/>
          </a:ln>
        </p:spPr>
      </p:sp>
      <p:sp>
        <p:nvSpPr>
          <p:cNvPr id="27" name="Text 25"/>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THE TRADE-OFF: Lowering the classification threshold increases Recall (catch more positives) but decreases Precision (more false alarms). The optimal threshold depends on error costs in your domain.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D4A010">
              <a:alpha val="12000"/>
            </a:srgbClr>
          </a:solidFill>
          <a:ln w="12700">
            <a:solidFill>
              <a:srgbClr val="D4A010"/>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F1 Score, F-Beta and MCC - Balancing Precision and Recall</a:t>
            </a:r>
            <a:endParaRPr lang="en-US" sz="2600" dirty="0"/>
          </a:p>
        </p:txBody>
      </p:sp>
      <p:sp>
        <p:nvSpPr>
          <p:cNvPr id="4" name="Shape 2"/>
          <p:cNvSpPr/>
          <p:nvPr/>
        </p:nvSpPr>
        <p:spPr>
          <a:xfrm>
            <a:off x="274320" y="914400"/>
            <a:ext cx="5029200" cy="1572768"/>
          </a:xfrm>
          <a:prstGeom prst="roundRect">
            <a:avLst>
              <a:gd name="adj" fmla="val 5814"/>
            </a:avLst>
          </a:prstGeom>
          <a:solidFill>
            <a:srgbClr val="101828"/>
          </a:solidFill>
          <a:ln w="15240">
            <a:solidFill>
              <a:srgbClr val="6A10C0"/>
            </a:solidFill>
            <a:prstDash val="solid"/>
          </a:ln>
        </p:spPr>
      </p:sp>
      <p:sp>
        <p:nvSpPr>
          <p:cNvPr id="5" name="Text 3"/>
          <p:cNvSpPr/>
          <p:nvPr/>
        </p:nvSpPr>
        <p:spPr>
          <a:xfrm>
            <a:off x="402336" y="1005840"/>
            <a:ext cx="4773168" cy="438912"/>
          </a:xfrm>
          <a:prstGeom prst="rect">
            <a:avLst/>
          </a:prstGeom>
          <a:noFill/>
          <a:ln/>
        </p:spPr>
        <p:txBody>
          <a:bodyPr wrap="square" lIns="0" tIns="0" rIns="0" bIns="0" rtlCol="0" anchor="ctr"/>
          <a:lstStyle/>
          <a:p>
            <a:pPr algn="ctr" indent="0" marL="0">
              <a:buNone/>
            </a:pPr>
            <a:r>
              <a:rPr lang="en-US" sz="1800" b="1" dirty="0">
                <a:solidFill>
                  <a:srgbClr val="9840E0"/>
                </a:solidFill>
                <a:latin typeface="Courier New" pitchFamily="34" charset="0"/>
                <a:ea typeface="Courier New" pitchFamily="34" charset="-122"/>
                <a:cs typeface="Courier New" pitchFamily="34" charset="-120"/>
              </a:rPr>
              <a:t>F1 = 2 × (Precision × Recall) / (Precision + Recall)</a:t>
            </a:r>
            <a:endParaRPr lang="en-US" sz="1800" dirty="0"/>
          </a:p>
        </p:txBody>
      </p:sp>
      <p:sp>
        <p:nvSpPr>
          <p:cNvPr id="6" name="Text 4"/>
          <p:cNvSpPr/>
          <p:nvPr/>
        </p:nvSpPr>
        <p:spPr>
          <a:xfrm>
            <a:off x="402336" y="1481328"/>
            <a:ext cx="4773168" cy="274320"/>
          </a:xfrm>
          <a:prstGeom prst="rect">
            <a:avLst/>
          </a:prstGeom>
          <a:noFill/>
          <a:ln/>
        </p:spPr>
        <p:txBody>
          <a:bodyPr wrap="square" lIns="0" tIns="0" rIns="0" bIns="0" rtlCol="0" anchor="ctr"/>
          <a:lstStyle/>
          <a:p>
            <a:pPr algn="ctr" indent="0" marL="0">
              <a:buNone/>
            </a:pPr>
            <a:r>
              <a:rPr lang="en-US" sz="1050" dirty="0">
                <a:solidFill>
                  <a:srgbClr val="C8A8E8"/>
                </a:solidFill>
                <a:latin typeface="Calibri" pitchFamily="34" charset="0"/>
                <a:ea typeface="Calibri" pitchFamily="34" charset="-122"/>
                <a:cs typeface="Calibri" pitchFamily="34" charset="-120"/>
              </a:rPr>
              <a:t>= 2TP / (2TP + FP + FN)  -  Harmonic Mean of Precision and Recall</a:t>
            </a:r>
            <a:endParaRPr lang="en-US" sz="1050" dirty="0"/>
          </a:p>
        </p:txBody>
      </p:sp>
      <p:sp>
        <p:nvSpPr>
          <p:cNvPr id="7" name="Text 5"/>
          <p:cNvSpPr/>
          <p:nvPr/>
        </p:nvSpPr>
        <p:spPr>
          <a:xfrm>
            <a:off x="402336" y="1773936"/>
            <a:ext cx="4773168" cy="640080"/>
          </a:xfrm>
          <a:prstGeom prst="rect">
            <a:avLst/>
          </a:prstGeom>
          <a:noFill/>
          <a:ln/>
        </p:spPr>
        <p:txBody>
          <a:bodyPr wrap="square" lIns="0" tIns="0" rIns="0" bIns="0" rtlCol="0" anchor="ctr"/>
          <a:lstStyle/>
          <a:p>
            <a:pPr indent="0" marL="0">
              <a:buNone/>
            </a:pPr>
            <a:r>
              <a:rPr lang="en-US" sz="950" dirty="0">
                <a:solidFill>
                  <a:srgbClr val="90A8D0"/>
                </a:solidFill>
                <a:latin typeface="Calibri" pitchFamily="34" charset="0"/>
                <a:ea typeface="Calibri" pitchFamily="34" charset="-122"/>
                <a:cs typeface="Calibri" pitchFamily="34" charset="-120"/>
              </a:rPr>
              <a:t>Why harmonic mean? It punishes extreme imbalances: if Precision=1.0 and Recall=0.0, arithmetic mean=0.5 but F1=0. A model that detects NOTHING should score 0.</a:t>
            </a:r>
            <a:endParaRPr lang="en-US" sz="950" dirty="0"/>
          </a:p>
        </p:txBody>
      </p:sp>
      <p:sp>
        <p:nvSpPr>
          <p:cNvPr id="8" name="Shape 6"/>
          <p:cNvSpPr/>
          <p:nvPr/>
        </p:nvSpPr>
        <p:spPr>
          <a:xfrm>
            <a:off x="5413248" y="914400"/>
            <a:ext cx="3429000" cy="1572768"/>
          </a:xfrm>
          <a:prstGeom prst="roundRect">
            <a:avLst>
              <a:gd name="adj" fmla="val 5814"/>
            </a:avLst>
          </a:prstGeom>
          <a:solidFill>
            <a:srgbClr val="101828"/>
          </a:solidFill>
          <a:ln w="12700">
            <a:solidFill>
              <a:srgbClr val="D4A010"/>
            </a:solidFill>
            <a:prstDash val="solid"/>
          </a:ln>
        </p:spPr>
      </p:sp>
      <p:sp>
        <p:nvSpPr>
          <p:cNvPr id="9" name="Text 7"/>
          <p:cNvSpPr/>
          <p:nvPr/>
        </p:nvSpPr>
        <p:spPr>
          <a:xfrm>
            <a:off x="5522976" y="987552"/>
            <a:ext cx="3200400" cy="347472"/>
          </a:xfrm>
          <a:prstGeom prst="rect">
            <a:avLst/>
          </a:prstGeom>
          <a:noFill/>
          <a:ln/>
        </p:spPr>
        <p:txBody>
          <a:bodyPr wrap="square" lIns="0" tIns="0" rIns="0" bIns="0" rtlCol="0" anchor="ctr"/>
          <a:lstStyle/>
          <a:p>
            <a:pPr indent="0" marL="0">
              <a:buNone/>
            </a:pPr>
            <a:r>
              <a:rPr lang="en-US" sz="1100" b="1" dirty="0">
                <a:solidFill>
                  <a:srgbClr val="F0C840"/>
                </a:solidFill>
                <a:latin typeface="Courier New" pitchFamily="34" charset="0"/>
                <a:ea typeface="Courier New" pitchFamily="34" charset="-122"/>
                <a:cs typeface="Courier New" pitchFamily="34" charset="-120"/>
              </a:rPr>
              <a:t>F-Beta: F_β = (1+β²)×(P×R)/(β²×P+R)</a:t>
            </a:r>
            <a:endParaRPr lang="en-US" sz="1100" dirty="0"/>
          </a:p>
        </p:txBody>
      </p:sp>
      <p:sp>
        <p:nvSpPr>
          <p:cNvPr id="10" name="Shape 8"/>
          <p:cNvSpPr/>
          <p:nvPr/>
        </p:nvSpPr>
        <p:spPr>
          <a:xfrm>
            <a:off x="5522976" y="1371600"/>
            <a:ext cx="402336" cy="292608"/>
          </a:xfrm>
          <a:prstGeom prst="roundRect">
            <a:avLst>
              <a:gd name="adj" fmla="val 12500"/>
            </a:avLst>
          </a:prstGeom>
          <a:solidFill>
            <a:srgbClr val="D4A010"/>
          </a:solidFill>
          <a:ln w="12700">
            <a:solidFill>
              <a:srgbClr val="D4A010"/>
            </a:solidFill>
            <a:prstDash val="solid"/>
          </a:ln>
        </p:spPr>
      </p:sp>
      <p:sp>
        <p:nvSpPr>
          <p:cNvPr id="11" name="Text 9"/>
          <p:cNvSpPr/>
          <p:nvPr/>
        </p:nvSpPr>
        <p:spPr>
          <a:xfrm>
            <a:off x="5522976" y="1371600"/>
            <a:ext cx="402336" cy="292608"/>
          </a:xfrm>
          <a:prstGeom prst="rect">
            <a:avLst/>
          </a:prstGeom>
          <a:noFill/>
          <a:ln/>
        </p:spPr>
        <p:txBody>
          <a:bodyPr wrap="square" lIns="0" tIns="0" rIns="0" bIns="0" rtlCol="0" anchor="ctr"/>
          <a:lstStyle/>
          <a:p>
            <a:pPr algn="ctr" indent="0" marL="0">
              <a:buNone/>
            </a:pPr>
            <a:r>
              <a:rPr lang="en-US" sz="850" b="1" dirty="0">
                <a:solidFill>
                  <a:srgbClr val="080E1C"/>
                </a:solidFill>
                <a:latin typeface="Calibri" pitchFamily="34" charset="0"/>
                <a:ea typeface="Calibri" pitchFamily="34" charset="-122"/>
                <a:cs typeface="Calibri" pitchFamily="34" charset="-120"/>
              </a:rPr>
              <a:t>β=0.5</a:t>
            </a:r>
            <a:endParaRPr lang="en-US" sz="850" dirty="0"/>
          </a:p>
        </p:txBody>
      </p:sp>
      <p:sp>
        <p:nvSpPr>
          <p:cNvPr id="12" name="Text 10"/>
          <p:cNvSpPr/>
          <p:nvPr/>
        </p:nvSpPr>
        <p:spPr>
          <a:xfrm>
            <a:off x="5980176" y="1389888"/>
            <a:ext cx="2779776" cy="256032"/>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Precision 2x more important than Recall</a:t>
            </a:r>
            <a:endParaRPr lang="en-US" sz="850" dirty="0"/>
          </a:p>
        </p:txBody>
      </p:sp>
      <p:sp>
        <p:nvSpPr>
          <p:cNvPr id="13" name="Shape 11"/>
          <p:cNvSpPr/>
          <p:nvPr/>
        </p:nvSpPr>
        <p:spPr>
          <a:xfrm>
            <a:off x="5522976" y="1737360"/>
            <a:ext cx="402336" cy="292608"/>
          </a:xfrm>
          <a:prstGeom prst="roundRect">
            <a:avLst>
              <a:gd name="adj" fmla="val 12500"/>
            </a:avLst>
          </a:prstGeom>
          <a:solidFill>
            <a:srgbClr val="D4A010"/>
          </a:solidFill>
          <a:ln w="12700">
            <a:solidFill>
              <a:srgbClr val="D4A010"/>
            </a:solidFill>
            <a:prstDash val="solid"/>
          </a:ln>
        </p:spPr>
      </p:sp>
      <p:sp>
        <p:nvSpPr>
          <p:cNvPr id="14" name="Text 12"/>
          <p:cNvSpPr/>
          <p:nvPr/>
        </p:nvSpPr>
        <p:spPr>
          <a:xfrm>
            <a:off x="5522976" y="1737360"/>
            <a:ext cx="402336" cy="292608"/>
          </a:xfrm>
          <a:prstGeom prst="rect">
            <a:avLst/>
          </a:prstGeom>
          <a:noFill/>
          <a:ln/>
        </p:spPr>
        <p:txBody>
          <a:bodyPr wrap="square" lIns="0" tIns="0" rIns="0" bIns="0" rtlCol="0" anchor="ctr"/>
          <a:lstStyle/>
          <a:p>
            <a:pPr algn="ctr" indent="0" marL="0">
              <a:buNone/>
            </a:pPr>
            <a:r>
              <a:rPr lang="en-US" sz="850" b="1" dirty="0">
                <a:solidFill>
                  <a:srgbClr val="080E1C"/>
                </a:solidFill>
                <a:latin typeface="Calibri" pitchFamily="34" charset="0"/>
                <a:ea typeface="Calibri" pitchFamily="34" charset="-122"/>
                <a:cs typeface="Calibri" pitchFamily="34" charset="-120"/>
              </a:rPr>
              <a:t>β=1.0</a:t>
            </a:r>
            <a:endParaRPr lang="en-US" sz="850" dirty="0"/>
          </a:p>
        </p:txBody>
      </p:sp>
      <p:sp>
        <p:nvSpPr>
          <p:cNvPr id="15" name="Text 13"/>
          <p:cNvSpPr/>
          <p:nvPr/>
        </p:nvSpPr>
        <p:spPr>
          <a:xfrm>
            <a:off x="5980176" y="1755648"/>
            <a:ext cx="2779776" cy="256032"/>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Equal weight (standard F1)</a:t>
            </a:r>
            <a:endParaRPr lang="en-US" sz="850" dirty="0"/>
          </a:p>
        </p:txBody>
      </p:sp>
      <p:sp>
        <p:nvSpPr>
          <p:cNvPr id="16" name="Shape 14"/>
          <p:cNvSpPr/>
          <p:nvPr/>
        </p:nvSpPr>
        <p:spPr>
          <a:xfrm>
            <a:off x="5522976" y="2103120"/>
            <a:ext cx="402336" cy="292608"/>
          </a:xfrm>
          <a:prstGeom prst="roundRect">
            <a:avLst>
              <a:gd name="adj" fmla="val 12500"/>
            </a:avLst>
          </a:prstGeom>
          <a:solidFill>
            <a:srgbClr val="D4A010"/>
          </a:solidFill>
          <a:ln w="12700">
            <a:solidFill>
              <a:srgbClr val="D4A010"/>
            </a:solidFill>
            <a:prstDash val="solid"/>
          </a:ln>
        </p:spPr>
      </p:sp>
      <p:sp>
        <p:nvSpPr>
          <p:cNvPr id="17" name="Text 15"/>
          <p:cNvSpPr/>
          <p:nvPr/>
        </p:nvSpPr>
        <p:spPr>
          <a:xfrm>
            <a:off x="5522976" y="2103120"/>
            <a:ext cx="402336" cy="292608"/>
          </a:xfrm>
          <a:prstGeom prst="rect">
            <a:avLst/>
          </a:prstGeom>
          <a:noFill/>
          <a:ln/>
        </p:spPr>
        <p:txBody>
          <a:bodyPr wrap="square" lIns="0" tIns="0" rIns="0" bIns="0" rtlCol="0" anchor="ctr"/>
          <a:lstStyle/>
          <a:p>
            <a:pPr algn="ctr" indent="0" marL="0">
              <a:buNone/>
            </a:pPr>
            <a:r>
              <a:rPr lang="en-US" sz="850" b="1" dirty="0">
                <a:solidFill>
                  <a:srgbClr val="080E1C"/>
                </a:solidFill>
                <a:latin typeface="Calibri" pitchFamily="34" charset="0"/>
                <a:ea typeface="Calibri" pitchFamily="34" charset="-122"/>
                <a:cs typeface="Calibri" pitchFamily="34" charset="-120"/>
              </a:rPr>
              <a:t>β=2.0</a:t>
            </a:r>
            <a:endParaRPr lang="en-US" sz="850" dirty="0"/>
          </a:p>
        </p:txBody>
      </p:sp>
      <p:sp>
        <p:nvSpPr>
          <p:cNvPr id="18" name="Text 16"/>
          <p:cNvSpPr/>
          <p:nvPr/>
        </p:nvSpPr>
        <p:spPr>
          <a:xfrm>
            <a:off x="5980176" y="2121408"/>
            <a:ext cx="2779776" cy="256032"/>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Recall 2x more important than Precision</a:t>
            </a:r>
            <a:endParaRPr lang="en-US" sz="850" dirty="0"/>
          </a:p>
        </p:txBody>
      </p:sp>
      <p:sp>
        <p:nvSpPr>
          <p:cNvPr id="19" name="Shape 17"/>
          <p:cNvSpPr/>
          <p:nvPr/>
        </p:nvSpPr>
        <p:spPr>
          <a:xfrm>
            <a:off x="274320" y="2560320"/>
            <a:ext cx="8595360" cy="2487168"/>
          </a:xfrm>
          <a:prstGeom prst="roundRect">
            <a:avLst>
              <a:gd name="adj" fmla="val 3676"/>
            </a:avLst>
          </a:prstGeom>
          <a:solidFill>
            <a:srgbClr val="101828"/>
          </a:solidFill>
          <a:ln w="12700">
            <a:solidFill>
              <a:srgbClr val="14B8C8"/>
            </a:solidFill>
            <a:prstDash val="solid"/>
          </a:ln>
        </p:spPr>
      </p:sp>
      <p:sp>
        <p:nvSpPr>
          <p:cNvPr id="20" name="Text 18"/>
          <p:cNvSpPr/>
          <p:nvPr/>
        </p:nvSpPr>
        <p:spPr>
          <a:xfrm>
            <a:off x="402336" y="2633472"/>
            <a:ext cx="8321040" cy="274320"/>
          </a:xfrm>
          <a:prstGeom prst="rect">
            <a:avLst/>
          </a:prstGeom>
          <a:noFill/>
          <a:ln/>
        </p:spPr>
        <p:txBody>
          <a:bodyPr wrap="square" lIns="0" tIns="0" rIns="0" bIns="0" rtlCol="0" anchor="ctr"/>
          <a:lstStyle/>
          <a:p>
            <a:pPr indent="0" marL="0">
              <a:buNone/>
            </a:pPr>
            <a:r>
              <a:rPr lang="en-US" sz="1200" b="1" dirty="0">
                <a:solidFill>
                  <a:srgbClr val="14B8C8"/>
                </a:solidFill>
                <a:latin typeface="Calibri" pitchFamily="34" charset="0"/>
                <a:ea typeface="Calibri" pitchFamily="34" charset="-122"/>
                <a:cs typeface="Calibri" pitchFamily="34" charset="-120"/>
              </a:rPr>
              <a:t>MCC (Matthews Correlation Coefficient) - The Most Reliable Single Metric</a:t>
            </a:r>
            <a:endParaRPr lang="en-US" sz="1200" dirty="0"/>
          </a:p>
        </p:txBody>
      </p:sp>
      <p:sp>
        <p:nvSpPr>
          <p:cNvPr id="21" name="Text 19"/>
          <p:cNvSpPr/>
          <p:nvPr/>
        </p:nvSpPr>
        <p:spPr>
          <a:xfrm>
            <a:off x="402336" y="2944368"/>
            <a:ext cx="83210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MCC = (TP×TN - FP×FN) / sqrt((TP+FP)(TP+FN)(TN+FP)(TN+FN))</a:t>
            </a:r>
            <a:endParaRPr lang="en-US" sz="1400" dirty="0"/>
          </a:p>
        </p:txBody>
      </p:sp>
      <p:sp>
        <p:nvSpPr>
          <p:cNvPr id="22" name="Shape 20"/>
          <p:cNvSpPr/>
          <p:nvPr/>
        </p:nvSpPr>
        <p:spPr>
          <a:xfrm>
            <a:off x="402336" y="3328416"/>
            <a:ext cx="2011680" cy="694944"/>
          </a:xfrm>
          <a:prstGeom prst="roundRect">
            <a:avLst>
              <a:gd name="adj" fmla="val 7895"/>
            </a:avLst>
          </a:prstGeom>
          <a:solidFill>
            <a:srgbClr val="0A1820"/>
          </a:solidFill>
          <a:ln w="10160">
            <a:solidFill>
              <a:srgbClr val="0A8A4A"/>
            </a:solidFill>
            <a:prstDash val="solid"/>
          </a:ln>
        </p:spPr>
      </p:sp>
      <p:sp>
        <p:nvSpPr>
          <p:cNvPr id="23" name="Text 21"/>
          <p:cNvSpPr/>
          <p:nvPr/>
        </p:nvSpPr>
        <p:spPr>
          <a:xfrm>
            <a:off x="457200" y="3364992"/>
            <a:ext cx="1901952" cy="237744"/>
          </a:xfrm>
          <a:prstGeom prst="rect">
            <a:avLst/>
          </a:prstGeom>
          <a:noFill/>
          <a:ln/>
        </p:spPr>
        <p:txBody>
          <a:bodyPr wrap="square" lIns="0" tIns="0" rIns="0" bIns="0" rtlCol="0" anchor="ctr"/>
          <a:lstStyle/>
          <a:p>
            <a:pPr algn="ctr" indent="0" marL="0">
              <a:buNone/>
            </a:pPr>
            <a:r>
              <a:rPr lang="en-US" sz="1100" b="1" dirty="0">
                <a:solidFill>
                  <a:srgbClr val="0A8A4A"/>
                </a:solidFill>
                <a:latin typeface="Calibri" pitchFamily="34" charset="0"/>
                <a:ea typeface="Calibri" pitchFamily="34" charset="-122"/>
                <a:cs typeface="Calibri" pitchFamily="34" charset="-120"/>
              </a:rPr>
              <a:t>MCC = +1</a:t>
            </a:r>
            <a:endParaRPr lang="en-US" sz="1100" dirty="0"/>
          </a:p>
        </p:txBody>
      </p:sp>
      <p:sp>
        <p:nvSpPr>
          <p:cNvPr id="24" name="Text 22"/>
          <p:cNvSpPr/>
          <p:nvPr/>
        </p:nvSpPr>
        <p:spPr>
          <a:xfrm>
            <a:off x="457200" y="3621024"/>
            <a:ext cx="1901952" cy="347472"/>
          </a:xfrm>
          <a:prstGeom prst="rect">
            <a:avLst/>
          </a:prstGeom>
          <a:noFill/>
          <a:ln/>
        </p:spPr>
        <p:txBody>
          <a:bodyPr wrap="square" lIns="0" tIns="0" rIns="0" bIns="0" rtlCol="0" anchor="ctr"/>
          <a:lstStyle/>
          <a:p>
            <a:pPr algn="ctr" indent="0" marL="0">
              <a:buNone/>
            </a:pPr>
            <a:r>
              <a:rPr lang="en-US" sz="900" dirty="0">
                <a:solidFill>
                  <a:srgbClr val="90D0D8"/>
                </a:solidFill>
                <a:latin typeface="Calibri" pitchFamily="34" charset="0"/>
                <a:ea typeface="Calibri" pitchFamily="34" charset="-122"/>
                <a:cs typeface="Calibri" pitchFamily="34" charset="-120"/>
              </a:rPr>
              <a:t>Perfect predictions</a:t>
            </a:r>
            <a:endParaRPr lang="en-US" sz="900" dirty="0"/>
          </a:p>
        </p:txBody>
      </p:sp>
      <p:sp>
        <p:nvSpPr>
          <p:cNvPr id="25" name="Shape 23"/>
          <p:cNvSpPr/>
          <p:nvPr/>
        </p:nvSpPr>
        <p:spPr>
          <a:xfrm>
            <a:off x="2560320" y="3328416"/>
            <a:ext cx="2011680" cy="694944"/>
          </a:xfrm>
          <a:prstGeom prst="roundRect">
            <a:avLst>
              <a:gd name="adj" fmla="val 7895"/>
            </a:avLst>
          </a:prstGeom>
          <a:solidFill>
            <a:srgbClr val="0A1820"/>
          </a:solidFill>
          <a:ln w="10160">
            <a:solidFill>
              <a:srgbClr val="64748B"/>
            </a:solidFill>
            <a:prstDash val="solid"/>
          </a:ln>
        </p:spPr>
      </p:sp>
      <p:sp>
        <p:nvSpPr>
          <p:cNvPr id="26" name="Text 24"/>
          <p:cNvSpPr/>
          <p:nvPr/>
        </p:nvSpPr>
        <p:spPr>
          <a:xfrm>
            <a:off x="2615184" y="3364992"/>
            <a:ext cx="1901952" cy="237744"/>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MCC = 0</a:t>
            </a:r>
            <a:endParaRPr lang="en-US" sz="1100" dirty="0"/>
          </a:p>
        </p:txBody>
      </p:sp>
      <p:sp>
        <p:nvSpPr>
          <p:cNvPr id="27" name="Text 25"/>
          <p:cNvSpPr/>
          <p:nvPr/>
        </p:nvSpPr>
        <p:spPr>
          <a:xfrm>
            <a:off x="2615184" y="3621024"/>
            <a:ext cx="1901952" cy="347472"/>
          </a:xfrm>
          <a:prstGeom prst="rect">
            <a:avLst/>
          </a:prstGeom>
          <a:noFill/>
          <a:ln/>
        </p:spPr>
        <p:txBody>
          <a:bodyPr wrap="square" lIns="0" tIns="0" rIns="0" bIns="0" rtlCol="0" anchor="ctr"/>
          <a:lstStyle/>
          <a:p>
            <a:pPr algn="ctr" indent="0" marL="0">
              <a:buNone/>
            </a:pPr>
            <a:r>
              <a:rPr lang="en-US" sz="900" dirty="0">
                <a:solidFill>
                  <a:srgbClr val="90D0D8"/>
                </a:solidFill>
                <a:latin typeface="Calibri" pitchFamily="34" charset="0"/>
                <a:ea typeface="Calibri" pitchFamily="34" charset="-122"/>
                <a:cs typeface="Calibri" pitchFamily="34" charset="-120"/>
              </a:rPr>
              <a:t>No better than random</a:t>
            </a:r>
            <a:endParaRPr lang="en-US" sz="900" dirty="0"/>
          </a:p>
        </p:txBody>
      </p:sp>
      <p:sp>
        <p:nvSpPr>
          <p:cNvPr id="28" name="Shape 26"/>
          <p:cNvSpPr/>
          <p:nvPr/>
        </p:nvSpPr>
        <p:spPr>
          <a:xfrm>
            <a:off x="4718304" y="3328416"/>
            <a:ext cx="2011680" cy="694944"/>
          </a:xfrm>
          <a:prstGeom prst="roundRect">
            <a:avLst>
              <a:gd name="adj" fmla="val 7895"/>
            </a:avLst>
          </a:prstGeom>
          <a:solidFill>
            <a:srgbClr val="0A1820"/>
          </a:solidFill>
          <a:ln w="10160">
            <a:solidFill>
              <a:srgbClr val="E02020"/>
            </a:solidFill>
            <a:prstDash val="solid"/>
          </a:ln>
        </p:spPr>
      </p:sp>
      <p:sp>
        <p:nvSpPr>
          <p:cNvPr id="29" name="Text 27"/>
          <p:cNvSpPr/>
          <p:nvPr/>
        </p:nvSpPr>
        <p:spPr>
          <a:xfrm>
            <a:off x="4773168" y="3364992"/>
            <a:ext cx="1901952" cy="237744"/>
          </a:xfrm>
          <a:prstGeom prst="rect">
            <a:avLst/>
          </a:prstGeom>
          <a:noFill/>
          <a:ln/>
        </p:spPr>
        <p:txBody>
          <a:bodyPr wrap="square" lIns="0" tIns="0" rIns="0" bIns="0" rtlCol="0" anchor="ctr"/>
          <a:lstStyle/>
          <a:p>
            <a:pPr algn="ctr" indent="0" marL="0">
              <a:buNone/>
            </a:pPr>
            <a:r>
              <a:rPr lang="en-US" sz="1100" b="1" dirty="0">
                <a:solidFill>
                  <a:srgbClr val="E02020"/>
                </a:solidFill>
                <a:latin typeface="Calibri" pitchFamily="34" charset="0"/>
                <a:ea typeface="Calibri" pitchFamily="34" charset="-122"/>
                <a:cs typeface="Calibri" pitchFamily="34" charset="-120"/>
              </a:rPr>
              <a:t>MCC = -1</a:t>
            </a:r>
            <a:endParaRPr lang="en-US" sz="1100" dirty="0"/>
          </a:p>
        </p:txBody>
      </p:sp>
      <p:sp>
        <p:nvSpPr>
          <p:cNvPr id="30" name="Text 28"/>
          <p:cNvSpPr/>
          <p:nvPr/>
        </p:nvSpPr>
        <p:spPr>
          <a:xfrm>
            <a:off x="4773168" y="3621024"/>
            <a:ext cx="1901952" cy="347472"/>
          </a:xfrm>
          <a:prstGeom prst="rect">
            <a:avLst/>
          </a:prstGeom>
          <a:noFill/>
          <a:ln/>
        </p:spPr>
        <p:txBody>
          <a:bodyPr wrap="square" lIns="0" tIns="0" rIns="0" bIns="0" rtlCol="0" anchor="ctr"/>
          <a:lstStyle/>
          <a:p>
            <a:pPr algn="ctr" indent="0" marL="0">
              <a:buNone/>
            </a:pPr>
            <a:r>
              <a:rPr lang="en-US" sz="900" dirty="0">
                <a:solidFill>
                  <a:srgbClr val="90D0D8"/>
                </a:solidFill>
                <a:latin typeface="Calibri" pitchFamily="34" charset="0"/>
                <a:ea typeface="Calibri" pitchFamily="34" charset="-122"/>
                <a:cs typeface="Calibri" pitchFamily="34" charset="-120"/>
              </a:rPr>
              <a:t>Perfectly wrong - flip all predictions</a:t>
            </a:r>
            <a:endParaRPr lang="en-US" sz="900" dirty="0"/>
          </a:p>
        </p:txBody>
      </p:sp>
      <p:sp>
        <p:nvSpPr>
          <p:cNvPr id="31" name="Shape 29"/>
          <p:cNvSpPr/>
          <p:nvPr/>
        </p:nvSpPr>
        <p:spPr>
          <a:xfrm>
            <a:off x="6876288" y="3328416"/>
            <a:ext cx="2011680" cy="694944"/>
          </a:xfrm>
          <a:prstGeom prst="roundRect">
            <a:avLst>
              <a:gd name="adj" fmla="val 7895"/>
            </a:avLst>
          </a:prstGeom>
          <a:solidFill>
            <a:srgbClr val="0A1820"/>
          </a:solidFill>
          <a:ln w="10160">
            <a:solidFill>
              <a:srgbClr val="0A7E8C"/>
            </a:solidFill>
            <a:prstDash val="solid"/>
          </a:ln>
        </p:spPr>
      </p:sp>
      <p:sp>
        <p:nvSpPr>
          <p:cNvPr id="32" name="Text 30"/>
          <p:cNvSpPr/>
          <p:nvPr/>
        </p:nvSpPr>
        <p:spPr>
          <a:xfrm>
            <a:off x="6931152" y="3364992"/>
            <a:ext cx="1901952" cy="237744"/>
          </a:xfrm>
          <a:prstGeom prst="rect">
            <a:avLst/>
          </a:prstGeom>
          <a:noFill/>
          <a:ln/>
        </p:spPr>
        <p:txBody>
          <a:bodyPr wrap="square" lIns="0" tIns="0" rIns="0" bIns="0" rtlCol="0" anchor="ctr"/>
          <a:lstStyle/>
          <a:p>
            <a:pPr algn="ctr" indent="0" marL="0">
              <a:buNone/>
            </a:pPr>
            <a:r>
              <a:rPr lang="en-US" sz="1100" b="1" dirty="0">
                <a:solidFill>
                  <a:srgbClr val="0A7E8C"/>
                </a:solidFill>
                <a:latin typeface="Calibri" pitchFamily="34" charset="0"/>
                <a:ea typeface="Calibri" pitchFamily="34" charset="-122"/>
                <a:cs typeface="Calibri" pitchFamily="34" charset="-120"/>
              </a:rPr>
              <a:t>MCC = 0.5-0.8</a:t>
            </a:r>
            <a:endParaRPr lang="en-US" sz="1100" dirty="0"/>
          </a:p>
        </p:txBody>
      </p:sp>
      <p:sp>
        <p:nvSpPr>
          <p:cNvPr id="33" name="Text 31"/>
          <p:cNvSpPr/>
          <p:nvPr/>
        </p:nvSpPr>
        <p:spPr>
          <a:xfrm>
            <a:off x="6931152" y="3621024"/>
            <a:ext cx="1901952" cy="347472"/>
          </a:xfrm>
          <a:prstGeom prst="rect">
            <a:avLst/>
          </a:prstGeom>
          <a:noFill/>
          <a:ln/>
        </p:spPr>
        <p:txBody>
          <a:bodyPr wrap="square" lIns="0" tIns="0" rIns="0" bIns="0" rtlCol="0" anchor="ctr"/>
          <a:lstStyle/>
          <a:p>
            <a:pPr algn="ctr" indent="0" marL="0">
              <a:buNone/>
            </a:pPr>
            <a:r>
              <a:rPr lang="en-US" sz="900" dirty="0">
                <a:solidFill>
                  <a:srgbClr val="90D0D8"/>
                </a:solidFill>
                <a:latin typeface="Calibri" pitchFamily="34" charset="0"/>
                <a:ea typeface="Calibri" pitchFamily="34" charset="-122"/>
                <a:cs typeface="Calibri" pitchFamily="34" charset="-120"/>
              </a:rPr>
              <a:t>Good practical performance</a:t>
            </a:r>
            <a:endParaRPr lang="en-US" sz="900" dirty="0"/>
          </a:p>
        </p:txBody>
      </p:sp>
      <p:sp>
        <p:nvSpPr>
          <p:cNvPr id="34" name="Text 32"/>
          <p:cNvSpPr/>
          <p:nvPr/>
        </p:nvSpPr>
        <p:spPr>
          <a:xfrm>
            <a:off x="402336" y="4078224"/>
            <a:ext cx="8321040" cy="347472"/>
          </a:xfrm>
          <a:prstGeom prst="rect">
            <a:avLst/>
          </a:prstGeom>
          <a:noFill/>
          <a:ln/>
        </p:spPr>
        <p:txBody>
          <a:bodyPr wrap="square" lIns="0" tIns="0" rIns="0" bIns="0" rtlCol="0" anchor="ctr"/>
          <a:lstStyle/>
          <a:p>
            <a:pPr indent="0" marL="0">
              <a:buNone/>
            </a:pPr>
            <a:r>
              <a:rPr lang="en-US" sz="950" dirty="0">
                <a:solidFill>
                  <a:srgbClr val="90D8E0"/>
                </a:solidFill>
                <a:latin typeface="Calibri" pitchFamily="34" charset="0"/>
                <a:ea typeface="Calibri" pitchFamily="34" charset="-122"/>
                <a:cs typeface="Calibri" pitchFamily="34" charset="-120"/>
              </a:rPr>
              <a:t>MCC advantage: accounts for ALL FOUR cells (TP+TN+FP+FN) equally. Unlike accuracy, F1, precision, or recall - MCC gives a symmetric, complete picture even for highly imbalanced datasets.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ML METRICS  |  SECTION 04</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Macro / Micro / Weighted Average</a:t>
            </a:r>
            <a:endParaRPr lang="en-US" sz="38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Aggregating multi-class metrics - which average to choose and why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80E1C"/>
          </a:solidFill>
          <a:ln w="12700">
            <a:solidFill>
              <a:srgbClr val="080E1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sklearn classification_report - Reading and Interpreting Every Number</a:t>
            </a:r>
            <a:endParaRPr lang="en-US" sz="2100" dirty="0"/>
          </a:p>
        </p:txBody>
      </p:sp>
      <p:sp>
        <p:nvSpPr>
          <p:cNvPr id="4" name="Shape 2"/>
          <p:cNvSpPr/>
          <p:nvPr/>
        </p:nvSpPr>
        <p:spPr>
          <a:xfrm>
            <a:off x="256032" y="1024128"/>
            <a:ext cx="5029200" cy="3200400"/>
          </a:xfrm>
          <a:prstGeom prst="roundRect">
            <a:avLst>
              <a:gd name="adj" fmla="val 2571"/>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882896" cy="292608"/>
          </a:xfrm>
          <a:prstGeom prst="roundRect">
            <a:avLst>
              <a:gd name="adj" fmla="val 15625"/>
            </a:avLst>
          </a:prstGeom>
          <a:solidFill>
            <a:srgbClr val="080E1C"/>
          </a:solidFill>
          <a:ln w="12700">
            <a:solidFill>
              <a:srgbClr val="080E1C"/>
            </a:solidFill>
            <a:prstDash val="solid"/>
          </a:ln>
        </p:spPr>
      </p:sp>
      <p:sp>
        <p:nvSpPr>
          <p:cNvPr id="6" name="Text 4"/>
          <p:cNvSpPr/>
          <p:nvPr/>
        </p:nvSpPr>
        <p:spPr>
          <a:xfrm>
            <a:off x="402336" y="1115568"/>
            <a:ext cx="4736592" cy="256032"/>
          </a:xfrm>
          <a:prstGeom prst="rect">
            <a:avLst/>
          </a:prstGeom>
          <a:noFill/>
          <a:ln/>
        </p:spPr>
        <p:txBody>
          <a:bodyPr wrap="square" lIns="0" tIns="0" rIns="0" bIns="0" rtlCol="0" anchor="ctr"/>
          <a:lstStyle/>
          <a:p>
            <a:pPr indent="0" marL="0">
              <a:buNone/>
            </a:pPr>
            <a:r>
              <a:rPr lang="en-US" sz="900" b="1" dirty="0">
                <a:solidFill>
                  <a:srgbClr val="F0C840"/>
                </a:solidFill>
                <a:latin typeface="Calibri" pitchFamily="34" charset="0"/>
                <a:ea typeface="Calibri" pitchFamily="34" charset="-122"/>
                <a:cs typeface="Calibri" pitchFamily="34" charset="-120"/>
              </a:rPr>
              <a:t>classification_report output (UAC Foods 5-class product classifier)</a:t>
            </a:r>
            <a:endParaRPr lang="en-US" sz="900" dirty="0"/>
          </a:p>
        </p:txBody>
      </p:sp>
      <p:sp>
        <p:nvSpPr>
          <p:cNvPr id="7" name="Shape 5"/>
          <p:cNvSpPr/>
          <p:nvPr/>
        </p:nvSpPr>
        <p:spPr>
          <a:xfrm>
            <a:off x="329184" y="1408176"/>
            <a:ext cx="1005840" cy="274320"/>
          </a:xfrm>
          <a:prstGeom prst="rect">
            <a:avLst/>
          </a:prstGeom>
          <a:solidFill>
            <a:srgbClr val="080E1C"/>
          </a:solidFill>
          <a:ln w="12700">
            <a:solidFill>
              <a:srgbClr val="080E1C"/>
            </a:solidFill>
            <a:prstDash val="solid"/>
          </a:ln>
        </p:spPr>
      </p:sp>
      <p:sp>
        <p:nvSpPr>
          <p:cNvPr id="8" name="Text 6"/>
          <p:cNvSpPr/>
          <p:nvPr/>
        </p:nvSpPr>
        <p:spPr>
          <a:xfrm>
            <a:off x="329184" y="1408176"/>
            <a:ext cx="10058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Class</a:t>
            </a:r>
            <a:endParaRPr lang="en-US" sz="850" dirty="0"/>
          </a:p>
        </p:txBody>
      </p:sp>
      <p:sp>
        <p:nvSpPr>
          <p:cNvPr id="9" name="Shape 7"/>
          <p:cNvSpPr/>
          <p:nvPr/>
        </p:nvSpPr>
        <p:spPr>
          <a:xfrm>
            <a:off x="1335024" y="1408176"/>
            <a:ext cx="804672" cy="274320"/>
          </a:xfrm>
          <a:prstGeom prst="rect">
            <a:avLst/>
          </a:prstGeom>
          <a:solidFill>
            <a:srgbClr val="080E1C"/>
          </a:solidFill>
          <a:ln w="12700">
            <a:solidFill>
              <a:srgbClr val="080E1C"/>
            </a:solidFill>
            <a:prstDash val="solid"/>
          </a:ln>
        </p:spPr>
      </p:sp>
      <p:sp>
        <p:nvSpPr>
          <p:cNvPr id="10" name="Text 8"/>
          <p:cNvSpPr/>
          <p:nvPr/>
        </p:nvSpPr>
        <p:spPr>
          <a:xfrm>
            <a:off x="1335024" y="1408176"/>
            <a:ext cx="80467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Precision</a:t>
            </a:r>
            <a:endParaRPr lang="en-US" sz="850" dirty="0"/>
          </a:p>
        </p:txBody>
      </p:sp>
      <p:sp>
        <p:nvSpPr>
          <p:cNvPr id="11" name="Shape 9"/>
          <p:cNvSpPr/>
          <p:nvPr/>
        </p:nvSpPr>
        <p:spPr>
          <a:xfrm>
            <a:off x="2139696" y="1408176"/>
            <a:ext cx="804672" cy="274320"/>
          </a:xfrm>
          <a:prstGeom prst="rect">
            <a:avLst/>
          </a:prstGeom>
          <a:solidFill>
            <a:srgbClr val="080E1C"/>
          </a:solidFill>
          <a:ln w="12700">
            <a:solidFill>
              <a:srgbClr val="080E1C"/>
            </a:solidFill>
            <a:prstDash val="solid"/>
          </a:ln>
        </p:spPr>
      </p:sp>
      <p:sp>
        <p:nvSpPr>
          <p:cNvPr id="12" name="Text 10"/>
          <p:cNvSpPr/>
          <p:nvPr/>
        </p:nvSpPr>
        <p:spPr>
          <a:xfrm>
            <a:off x="2139696" y="1408176"/>
            <a:ext cx="80467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Recall</a:t>
            </a:r>
            <a:endParaRPr lang="en-US" sz="850" dirty="0"/>
          </a:p>
        </p:txBody>
      </p:sp>
      <p:sp>
        <p:nvSpPr>
          <p:cNvPr id="13" name="Shape 11"/>
          <p:cNvSpPr/>
          <p:nvPr/>
        </p:nvSpPr>
        <p:spPr>
          <a:xfrm>
            <a:off x="2944368" y="1408176"/>
            <a:ext cx="804672" cy="274320"/>
          </a:xfrm>
          <a:prstGeom prst="rect">
            <a:avLst/>
          </a:prstGeom>
          <a:solidFill>
            <a:srgbClr val="080E1C"/>
          </a:solidFill>
          <a:ln w="12700">
            <a:solidFill>
              <a:srgbClr val="080E1C"/>
            </a:solidFill>
            <a:prstDash val="solid"/>
          </a:ln>
        </p:spPr>
      </p:sp>
      <p:sp>
        <p:nvSpPr>
          <p:cNvPr id="14" name="Text 12"/>
          <p:cNvSpPr/>
          <p:nvPr/>
        </p:nvSpPr>
        <p:spPr>
          <a:xfrm>
            <a:off x="2944368" y="1408176"/>
            <a:ext cx="80467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F1</a:t>
            </a:r>
            <a:endParaRPr lang="en-US" sz="850" dirty="0"/>
          </a:p>
        </p:txBody>
      </p:sp>
      <p:sp>
        <p:nvSpPr>
          <p:cNvPr id="15" name="Shape 13"/>
          <p:cNvSpPr/>
          <p:nvPr/>
        </p:nvSpPr>
        <p:spPr>
          <a:xfrm>
            <a:off x="3749040" y="1408176"/>
            <a:ext cx="713232" cy="274320"/>
          </a:xfrm>
          <a:prstGeom prst="rect">
            <a:avLst/>
          </a:prstGeom>
          <a:solidFill>
            <a:srgbClr val="080E1C"/>
          </a:solidFill>
          <a:ln w="12700">
            <a:solidFill>
              <a:srgbClr val="080E1C"/>
            </a:solidFill>
            <a:prstDash val="solid"/>
          </a:ln>
        </p:spPr>
      </p:sp>
      <p:sp>
        <p:nvSpPr>
          <p:cNvPr id="16" name="Text 14"/>
          <p:cNvSpPr/>
          <p:nvPr/>
        </p:nvSpPr>
        <p:spPr>
          <a:xfrm>
            <a:off x="3749040" y="1408176"/>
            <a:ext cx="71323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Support</a:t>
            </a:r>
            <a:endParaRPr lang="en-US" sz="850" dirty="0"/>
          </a:p>
        </p:txBody>
      </p:sp>
      <p:sp>
        <p:nvSpPr>
          <p:cNvPr id="17" name="Shape 15"/>
          <p:cNvSpPr/>
          <p:nvPr/>
        </p:nvSpPr>
        <p:spPr>
          <a:xfrm>
            <a:off x="329184" y="1682496"/>
            <a:ext cx="1005840" cy="274320"/>
          </a:xfrm>
          <a:prstGeom prst="rect">
            <a:avLst/>
          </a:prstGeom>
          <a:solidFill>
            <a:srgbClr val="EAF6FA"/>
          </a:solidFill>
          <a:ln w="6350">
            <a:solidFill>
              <a:srgbClr val="A0C8D0"/>
            </a:solidFill>
            <a:prstDash val="solid"/>
          </a:ln>
        </p:spPr>
      </p:sp>
      <p:sp>
        <p:nvSpPr>
          <p:cNvPr id="18" name="Text 16"/>
          <p:cNvSpPr/>
          <p:nvPr/>
        </p:nvSpPr>
        <p:spPr>
          <a:xfrm>
            <a:off x="329184" y="1682496"/>
            <a:ext cx="1005840" cy="274320"/>
          </a:xfrm>
          <a:prstGeom prst="rect">
            <a:avLst/>
          </a:prstGeom>
          <a:noFill/>
          <a:ln/>
        </p:spPr>
        <p:txBody>
          <a:bodyPr wrap="square" lIns="0" tIns="0" rIns="0" bIns="0" rtlCol="0" anchor="ctr"/>
          <a:lstStyle/>
          <a:p>
            <a:pPr algn="ctr" indent="0" marL="0">
              <a:buNone/>
            </a:pPr>
            <a:r>
              <a:rPr lang="en-US" sz="850" dirty="0">
                <a:solidFill>
                  <a:srgbClr val="101828"/>
                </a:solidFill>
                <a:latin typeface="Calibri" pitchFamily="34" charset="0"/>
                <a:ea typeface="Calibri" pitchFamily="34" charset="-122"/>
                <a:cs typeface="Calibri" pitchFamily="34" charset="-120"/>
              </a:rPr>
              <a:t>Gala</a:t>
            </a:r>
            <a:endParaRPr lang="en-US" sz="850" dirty="0"/>
          </a:p>
        </p:txBody>
      </p:sp>
      <p:sp>
        <p:nvSpPr>
          <p:cNvPr id="19" name="Shape 17"/>
          <p:cNvSpPr/>
          <p:nvPr/>
        </p:nvSpPr>
        <p:spPr>
          <a:xfrm>
            <a:off x="1335024" y="1682496"/>
            <a:ext cx="804672" cy="274320"/>
          </a:xfrm>
          <a:prstGeom prst="rect">
            <a:avLst/>
          </a:prstGeom>
          <a:solidFill>
            <a:srgbClr val="EAF6FA"/>
          </a:solidFill>
          <a:ln w="6350">
            <a:solidFill>
              <a:srgbClr val="A0C8D0"/>
            </a:solidFill>
            <a:prstDash val="solid"/>
          </a:ln>
        </p:spPr>
      </p:sp>
      <p:sp>
        <p:nvSpPr>
          <p:cNvPr id="20" name="Text 18"/>
          <p:cNvSpPr/>
          <p:nvPr/>
        </p:nvSpPr>
        <p:spPr>
          <a:xfrm>
            <a:off x="1335024" y="168249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0.88</a:t>
            </a:r>
            <a:endParaRPr lang="en-US" sz="850" dirty="0"/>
          </a:p>
        </p:txBody>
      </p:sp>
      <p:sp>
        <p:nvSpPr>
          <p:cNvPr id="21" name="Shape 19"/>
          <p:cNvSpPr/>
          <p:nvPr/>
        </p:nvSpPr>
        <p:spPr>
          <a:xfrm>
            <a:off x="2139696" y="1682496"/>
            <a:ext cx="804672" cy="274320"/>
          </a:xfrm>
          <a:prstGeom prst="rect">
            <a:avLst/>
          </a:prstGeom>
          <a:solidFill>
            <a:srgbClr val="EAF6FA"/>
          </a:solidFill>
          <a:ln w="6350">
            <a:solidFill>
              <a:srgbClr val="A0C8D0"/>
            </a:solidFill>
            <a:prstDash val="solid"/>
          </a:ln>
        </p:spPr>
      </p:sp>
      <p:sp>
        <p:nvSpPr>
          <p:cNvPr id="22" name="Text 20"/>
          <p:cNvSpPr/>
          <p:nvPr/>
        </p:nvSpPr>
        <p:spPr>
          <a:xfrm>
            <a:off x="2139696" y="168249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0.84</a:t>
            </a:r>
            <a:endParaRPr lang="en-US" sz="850" dirty="0"/>
          </a:p>
        </p:txBody>
      </p:sp>
      <p:sp>
        <p:nvSpPr>
          <p:cNvPr id="23" name="Shape 21"/>
          <p:cNvSpPr/>
          <p:nvPr/>
        </p:nvSpPr>
        <p:spPr>
          <a:xfrm>
            <a:off x="2944368" y="1682496"/>
            <a:ext cx="804672" cy="274320"/>
          </a:xfrm>
          <a:prstGeom prst="rect">
            <a:avLst/>
          </a:prstGeom>
          <a:solidFill>
            <a:srgbClr val="EAF6FA"/>
          </a:solidFill>
          <a:ln w="6350">
            <a:solidFill>
              <a:srgbClr val="A0C8D0"/>
            </a:solidFill>
            <a:prstDash val="solid"/>
          </a:ln>
        </p:spPr>
      </p:sp>
      <p:sp>
        <p:nvSpPr>
          <p:cNvPr id="24" name="Text 22"/>
          <p:cNvSpPr/>
          <p:nvPr/>
        </p:nvSpPr>
        <p:spPr>
          <a:xfrm>
            <a:off x="2944368" y="168249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0.86</a:t>
            </a:r>
            <a:endParaRPr lang="en-US" sz="850" dirty="0"/>
          </a:p>
        </p:txBody>
      </p:sp>
      <p:sp>
        <p:nvSpPr>
          <p:cNvPr id="25" name="Shape 23"/>
          <p:cNvSpPr/>
          <p:nvPr/>
        </p:nvSpPr>
        <p:spPr>
          <a:xfrm>
            <a:off x="3749040" y="1682496"/>
            <a:ext cx="713232" cy="274320"/>
          </a:xfrm>
          <a:prstGeom prst="rect">
            <a:avLst/>
          </a:prstGeom>
          <a:solidFill>
            <a:srgbClr val="EAF6FA"/>
          </a:solidFill>
          <a:ln w="6350">
            <a:solidFill>
              <a:srgbClr val="A0C8D0"/>
            </a:solidFill>
            <a:prstDash val="solid"/>
          </a:ln>
        </p:spPr>
      </p:sp>
      <p:sp>
        <p:nvSpPr>
          <p:cNvPr id="26" name="Text 24"/>
          <p:cNvSpPr/>
          <p:nvPr/>
        </p:nvSpPr>
        <p:spPr>
          <a:xfrm>
            <a:off x="3749040" y="1682496"/>
            <a:ext cx="71323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172</a:t>
            </a:r>
            <a:endParaRPr lang="en-US" sz="850" dirty="0"/>
          </a:p>
        </p:txBody>
      </p:sp>
      <p:sp>
        <p:nvSpPr>
          <p:cNvPr id="27" name="Shape 25"/>
          <p:cNvSpPr/>
          <p:nvPr/>
        </p:nvSpPr>
        <p:spPr>
          <a:xfrm>
            <a:off x="329184" y="1956816"/>
            <a:ext cx="1005840" cy="274320"/>
          </a:xfrm>
          <a:prstGeom prst="rect">
            <a:avLst/>
          </a:prstGeom>
          <a:solidFill>
            <a:srgbClr val="FFFFFF"/>
          </a:solidFill>
          <a:ln w="6350">
            <a:solidFill>
              <a:srgbClr val="A0C8D0"/>
            </a:solidFill>
            <a:prstDash val="solid"/>
          </a:ln>
        </p:spPr>
      </p:sp>
      <p:sp>
        <p:nvSpPr>
          <p:cNvPr id="28" name="Text 26"/>
          <p:cNvSpPr/>
          <p:nvPr/>
        </p:nvSpPr>
        <p:spPr>
          <a:xfrm>
            <a:off x="329184" y="1956816"/>
            <a:ext cx="1005840" cy="274320"/>
          </a:xfrm>
          <a:prstGeom prst="rect">
            <a:avLst/>
          </a:prstGeom>
          <a:noFill/>
          <a:ln/>
        </p:spPr>
        <p:txBody>
          <a:bodyPr wrap="square" lIns="0" tIns="0" rIns="0" bIns="0" rtlCol="0" anchor="ctr"/>
          <a:lstStyle/>
          <a:p>
            <a:pPr algn="ctr" indent="0" marL="0">
              <a:buNone/>
            </a:pPr>
            <a:r>
              <a:rPr lang="en-US" sz="850" dirty="0">
                <a:solidFill>
                  <a:srgbClr val="101828"/>
                </a:solidFill>
                <a:latin typeface="Calibri" pitchFamily="34" charset="0"/>
                <a:ea typeface="Calibri" pitchFamily="34" charset="-122"/>
                <a:cs typeface="Calibri" pitchFamily="34" charset="-120"/>
              </a:rPr>
              <a:t>Deli</a:t>
            </a:r>
            <a:endParaRPr lang="en-US" sz="850" dirty="0"/>
          </a:p>
        </p:txBody>
      </p:sp>
      <p:sp>
        <p:nvSpPr>
          <p:cNvPr id="29" name="Shape 27"/>
          <p:cNvSpPr/>
          <p:nvPr/>
        </p:nvSpPr>
        <p:spPr>
          <a:xfrm>
            <a:off x="1335024" y="1956816"/>
            <a:ext cx="804672" cy="274320"/>
          </a:xfrm>
          <a:prstGeom prst="rect">
            <a:avLst/>
          </a:prstGeom>
          <a:solidFill>
            <a:srgbClr val="FFFFFF"/>
          </a:solidFill>
          <a:ln w="6350">
            <a:solidFill>
              <a:srgbClr val="A0C8D0"/>
            </a:solidFill>
            <a:prstDash val="solid"/>
          </a:ln>
        </p:spPr>
      </p:sp>
      <p:sp>
        <p:nvSpPr>
          <p:cNvPr id="30" name="Text 28"/>
          <p:cNvSpPr/>
          <p:nvPr/>
        </p:nvSpPr>
        <p:spPr>
          <a:xfrm>
            <a:off x="1335024" y="195681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0.82</a:t>
            </a:r>
            <a:endParaRPr lang="en-US" sz="850" dirty="0"/>
          </a:p>
        </p:txBody>
      </p:sp>
      <p:sp>
        <p:nvSpPr>
          <p:cNvPr id="31" name="Shape 29"/>
          <p:cNvSpPr/>
          <p:nvPr/>
        </p:nvSpPr>
        <p:spPr>
          <a:xfrm>
            <a:off x="2139696" y="1956816"/>
            <a:ext cx="804672" cy="274320"/>
          </a:xfrm>
          <a:prstGeom prst="rect">
            <a:avLst/>
          </a:prstGeom>
          <a:solidFill>
            <a:srgbClr val="FFFFFF"/>
          </a:solidFill>
          <a:ln w="6350">
            <a:solidFill>
              <a:srgbClr val="A0C8D0"/>
            </a:solidFill>
            <a:prstDash val="solid"/>
          </a:ln>
        </p:spPr>
      </p:sp>
      <p:sp>
        <p:nvSpPr>
          <p:cNvPr id="32" name="Text 30"/>
          <p:cNvSpPr/>
          <p:nvPr/>
        </p:nvSpPr>
        <p:spPr>
          <a:xfrm>
            <a:off x="2139696" y="195681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0.79</a:t>
            </a:r>
            <a:endParaRPr lang="en-US" sz="850" dirty="0"/>
          </a:p>
        </p:txBody>
      </p:sp>
      <p:sp>
        <p:nvSpPr>
          <p:cNvPr id="33" name="Shape 31"/>
          <p:cNvSpPr/>
          <p:nvPr/>
        </p:nvSpPr>
        <p:spPr>
          <a:xfrm>
            <a:off x="2944368" y="1956816"/>
            <a:ext cx="804672" cy="274320"/>
          </a:xfrm>
          <a:prstGeom prst="rect">
            <a:avLst/>
          </a:prstGeom>
          <a:solidFill>
            <a:srgbClr val="FFFFFF"/>
          </a:solidFill>
          <a:ln w="6350">
            <a:solidFill>
              <a:srgbClr val="A0C8D0"/>
            </a:solidFill>
            <a:prstDash val="solid"/>
          </a:ln>
        </p:spPr>
      </p:sp>
      <p:sp>
        <p:nvSpPr>
          <p:cNvPr id="34" name="Text 32"/>
          <p:cNvSpPr/>
          <p:nvPr/>
        </p:nvSpPr>
        <p:spPr>
          <a:xfrm>
            <a:off x="2944368" y="195681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0.80</a:t>
            </a:r>
            <a:endParaRPr lang="en-US" sz="850" dirty="0"/>
          </a:p>
        </p:txBody>
      </p:sp>
      <p:sp>
        <p:nvSpPr>
          <p:cNvPr id="35" name="Shape 33"/>
          <p:cNvSpPr/>
          <p:nvPr/>
        </p:nvSpPr>
        <p:spPr>
          <a:xfrm>
            <a:off x="3749040" y="1956816"/>
            <a:ext cx="713232" cy="274320"/>
          </a:xfrm>
          <a:prstGeom prst="rect">
            <a:avLst/>
          </a:prstGeom>
          <a:solidFill>
            <a:srgbClr val="FFFFFF"/>
          </a:solidFill>
          <a:ln w="6350">
            <a:solidFill>
              <a:srgbClr val="A0C8D0"/>
            </a:solidFill>
            <a:prstDash val="solid"/>
          </a:ln>
        </p:spPr>
      </p:sp>
      <p:sp>
        <p:nvSpPr>
          <p:cNvPr id="36" name="Text 34"/>
          <p:cNvSpPr/>
          <p:nvPr/>
        </p:nvSpPr>
        <p:spPr>
          <a:xfrm>
            <a:off x="3749040" y="1956816"/>
            <a:ext cx="71323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108</a:t>
            </a:r>
            <a:endParaRPr lang="en-US" sz="850" dirty="0"/>
          </a:p>
        </p:txBody>
      </p:sp>
      <p:sp>
        <p:nvSpPr>
          <p:cNvPr id="37" name="Shape 35"/>
          <p:cNvSpPr/>
          <p:nvPr/>
        </p:nvSpPr>
        <p:spPr>
          <a:xfrm>
            <a:off x="329184" y="2231136"/>
            <a:ext cx="1005840" cy="274320"/>
          </a:xfrm>
          <a:prstGeom prst="rect">
            <a:avLst/>
          </a:prstGeom>
          <a:solidFill>
            <a:srgbClr val="EAF6FA"/>
          </a:solidFill>
          <a:ln w="6350">
            <a:solidFill>
              <a:srgbClr val="A0C8D0"/>
            </a:solidFill>
            <a:prstDash val="solid"/>
          </a:ln>
        </p:spPr>
      </p:sp>
      <p:sp>
        <p:nvSpPr>
          <p:cNvPr id="38" name="Text 36"/>
          <p:cNvSpPr/>
          <p:nvPr/>
        </p:nvSpPr>
        <p:spPr>
          <a:xfrm>
            <a:off x="329184" y="2231136"/>
            <a:ext cx="1005840" cy="274320"/>
          </a:xfrm>
          <a:prstGeom prst="rect">
            <a:avLst/>
          </a:prstGeom>
          <a:noFill/>
          <a:ln/>
        </p:spPr>
        <p:txBody>
          <a:bodyPr wrap="square" lIns="0" tIns="0" rIns="0" bIns="0" rtlCol="0" anchor="ctr"/>
          <a:lstStyle/>
          <a:p>
            <a:pPr algn="ctr" indent="0" marL="0">
              <a:buNone/>
            </a:pPr>
            <a:r>
              <a:rPr lang="en-US" sz="850" dirty="0">
                <a:solidFill>
                  <a:srgbClr val="101828"/>
                </a:solidFill>
                <a:latin typeface="Calibri" pitchFamily="34" charset="0"/>
                <a:ea typeface="Calibri" pitchFamily="34" charset="-122"/>
                <a:cs typeface="Calibri" pitchFamily="34" charset="-120"/>
              </a:rPr>
              <a:t>Mr. Biggs</a:t>
            </a:r>
            <a:endParaRPr lang="en-US" sz="850" dirty="0"/>
          </a:p>
        </p:txBody>
      </p:sp>
      <p:sp>
        <p:nvSpPr>
          <p:cNvPr id="39" name="Shape 37"/>
          <p:cNvSpPr/>
          <p:nvPr/>
        </p:nvSpPr>
        <p:spPr>
          <a:xfrm>
            <a:off x="1335024" y="2231136"/>
            <a:ext cx="804672" cy="274320"/>
          </a:xfrm>
          <a:prstGeom prst="rect">
            <a:avLst/>
          </a:prstGeom>
          <a:solidFill>
            <a:srgbClr val="EAF6FA"/>
          </a:solidFill>
          <a:ln w="6350">
            <a:solidFill>
              <a:srgbClr val="A0C8D0"/>
            </a:solidFill>
            <a:prstDash val="solid"/>
          </a:ln>
        </p:spPr>
      </p:sp>
      <p:sp>
        <p:nvSpPr>
          <p:cNvPr id="40" name="Text 38"/>
          <p:cNvSpPr/>
          <p:nvPr/>
        </p:nvSpPr>
        <p:spPr>
          <a:xfrm>
            <a:off x="1335024" y="223113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0.75</a:t>
            </a:r>
            <a:endParaRPr lang="en-US" sz="850" dirty="0"/>
          </a:p>
        </p:txBody>
      </p:sp>
      <p:sp>
        <p:nvSpPr>
          <p:cNvPr id="41" name="Shape 39"/>
          <p:cNvSpPr/>
          <p:nvPr/>
        </p:nvSpPr>
        <p:spPr>
          <a:xfrm>
            <a:off x="2139696" y="2231136"/>
            <a:ext cx="804672" cy="274320"/>
          </a:xfrm>
          <a:prstGeom prst="rect">
            <a:avLst/>
          </a:prstGeom>
          <a:solidFill>
            <a:srgbClr val="EAF6FA"/>
          </a:solidFill>
          <a:ln w="6350">
            <a:solidFill>
              <a:srgbClr val="A0C8D0"/>
            </a:solidFill>
            <a:prstDash val="solid"/>
          </a:ln>
        </p:spPr>
      </p:sp>
      <p:sp>
        <p:nvSpPr>
          <p:cNvPr id="42" name="Text 40"/>
          <p:cNvSpPr/>
          <p:nvPr/>
        </p:nvSpPr>
        <p:spPr>
          <a:xfrm>
            <a:off x="2139696" y="223113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0.72</a:t>
            </a:r>
            <a:endParaRPr lang="en-US" sz="850" dirty="0"/>
          </a:p>
        </p:txBody>
      </p:sp>
      <p:sp>
        <p:nvSpPr>
          <p:cNvPr id="43" name="Shape 41"/>
          <p:cNvSpPr/>
          <p:nvPr/>
        </p:nvSpPr>
        <p:spPr>
          <a:xfrm>
            <a:off x="2944368" y="2231136"/>
            <a:ext cx="804672" cy="274320"/>
          </a:xfrm>
          <a:prstGeom prst="rect">
            <a:avLst/>
          </a:prstGeom>
          <a:solidFill>
            <a:srgbClr val="EAF6FA"/>
          </a:solidFill>
          <a:ln w="6350">
            <a:solidFill>
              <a:srgbClr val="A0C8D0"/>
            </a:solidFill>
            <a:prstDash val="solid"/>
          </a:ln>
        </p:spPr>
      </p:sp>
      <p:sp>
        <p:nvSpPr>
          <p:cNvPr id="44" name="Text 42"/>
          <p:cNvSpPr/>
          <p:nvPr/>
        </p:nvSpPr>
        <p:spPr>
          <a:xfrm>
            <a:off x="2944368" y="223113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0.73</a:t>
            </a:r>
            <a:endParaRPr lang="en-US" sz="850" dirty="0"/>
          </a:p>
        </p:txBody>
      </p:sp>
      <p:sp>
        <p:nvSpPr>
          <p:cNvPr id="45" name="Shape 43"/>
          <p:cNvSpPr/>
          <p:nvPr/>
        </p:nvSpPr>
        <p:spPr>
          <a:xfrm>
            <a:off x="3749040" y="2231136"/>
            <a:ext cx="713232" cy="274320"/>
          </a:xfrm>
          <a:prstGeom prst="rect">
            <a:avLst/>
          </a:prstGeom>
          <a:solidFill>
            <a:srgbClr val="EAF6FA"/>
          </a:solidFill>
          <a:ln w="6350">
            <a:solidFill>
              <a:srgbClr val="A0C8D0"/>
            </a:solidFill>
            <a:prstDash val="solid"/>
          </a:ln>
        </p:spPr>
      </p:sp>
      <p:sp>
        <p:nvSpPr>
          <p:cNvPr id="46" name="Text 44"/>
          <p:cNvSpPr/>
          <p:nvPr/>
        </p:nvSpPr>
        <p:spPr>
          <a:xfrm>
            <a:off x="3749040" y="2231136"/>
            <a:ext cx="71323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86</a:t>
            </a:r>
            <a:endParaRPr lang="en-US" sz="850" dirty="0"/>
          </a:p>
        </p:txBody>
      </p:sp>
      <p:sp>
        <p:nvSpPr>
          <p:cNvPr id="47" name="Shape 45"/>
          <p:cNvSpPr/>
          <p:nvPr/>
        </p:nvSpPr>
        <p:spPr>
          <a:xfrm>
            <a:off x="329184" y="2505456"/>
            <a:ext cx="1005840" cy="274320"/>
          </a:xfrm>
          <a:prstGeom prst="rect">
            <a:avLst/>
          </a:prstGeom>
          <a:solidFill>
            <a:srgbClr val="C8F0FF"/>
          </a:solidFill>
          <a:ln w="6350">
            <a:solidFill>
              <a:srgbClr val="A0C8D0"/>
            </a:solidFill>
            <a:prstDash val="solid"/>
          </a:ln>
        </p:spPr>
      </p:sp>
      <p:sp>
        <p:nvSpPr>
          <p:cNvPr id="48" name="Text 46"/>
          <p:cNvSpPr/>
          <p:nvPr/>
        </p:nvSpPr>
        <p:spPr>
          <a:xfrm>
            <a:off x="329184" y="2505456"/>
            <a:ext cx="1005840"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Supreme</a:t>
            </a:r>
            <a:endParaRPr lang="en-US" sz="850" dirty="0"/>
          </a:p>
        </p:txBody>
      </p:sp>
      <p:sp>
        <p:nvSpPr>
          <p:cNvPr id="49" name="Shape 47"/>
          <p:cNvSpPr/>
          <p:nvPr/>
        </p:nvSpPr>
        <p:spPr>
          <a:xfrm>
            <a:off x="1335024" y="2505456"/>
            <a:ext cx="804672" cy="274320"/>
          </a:xfrm>
          <a:prstGeom prst="rect">
            <a:avLst/>
          </a:prstGeom>
          <a:solidFill>
            <a:srgbClr val="C8F0FF"/>
          </a:solidFill>
          <a:ln w="6350">
            <a:solidFill>
              <a:srgbClr val="A0C8D0"/>
            </a:solidFill>
            <a:prstDash val="solid"/>
          </a:ln>
        </p:spPr>
      </p:sp>
      <p:sp>
        <p:nvSpPr>
          <p:cNvPr id="50" name="Text 48"/>
          <p:cNvSpPr/>
          <p:nvPr/>
        </p:nvSpPr>
        <p:spPr>
          <a:xfrm>
            <a:off x="1335024" y="2505456"/>
            <a:ext cx="804672"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0.61</a:t>
            </a:r>
            <a:endParaRPr lang="en-US" sz="850" dirty="0"/>
          </a:p>
        </p:txBody>
      </p:sp>
      <p:sp>
        <p:nvSpPr>
          <p:cNvPr id="51" name="Shape 49"/>
          <p:cNvSpPr/>
          <p:nvPr/>
        </p:nvSpPr>
        <p:spPr>
          <a:xfrm>
            <a:off x="2139696" y="2505456"/>
            <a:ext cx="804672" cy="274320"/>
          </a:xfrm>
          <a:prstGeom prst="rect">
            <a:avLst/>
          </a:prstGeom>
          <a:solidFill>
            <a:srgbClr val="C8F0FF"/>
          </a:solidFill>
          <a:ln w="6350">
            <a:solidFill>
              <a:srgbClr val="A0C8D0"/>
            </a:solidFill>
            <a:prstDash val="solid"/>
          </a:ln>
        </p:spPr>
      </p:sp>
      <p:sp>
        <p:nvSpPr>
          <p:cNvPr id="52" name="Text 50"/>
          <p:cNvSpPr/>
          <p:nvPr/>
        </p:nvSpPr>
        <p:spPr>
          <a:xfrm>
            <a:off x="2139696" y="2505456"/>
            <a:ext cx="804672"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0.58</a:t>
            </a:r>
            <a:endParaRPr lang="en-US" sz="850" dirty="0"/>
          </a:p>
        </p:txBody>
      </p:sp>
      <p:sp>
        <p:nvSpPr>
          <p:cNvPr id="53" name="Shape 51"/>
          <p:cNvSpPr/>
          <p:nvPr/>
        </p:nvSpPr>
        <p:spPr>
          <a:xfrm>
            <a:off x="2944368" y="2505456"/>
            <a:ext cx="804672" cy="274320"/>
          </a:xfrm>
          <a:prstGeom prst="rect">
            <a:avLst/>
          </a:prstGeom>
          <a:solidFill>
            <a:srgbClr val="C8F0FF"/>
          </a:solidFill>
          <a:ln w="6350">
            <a:solidFill>
              <a:srgbClr val="A0C8D0"/>
            </a:solidFill>
            <a:prstDash val="solid"/>
          </a:ln>
        </p:spPr>
      </p:sp>
      <p:sp>
        <p:nvSpPr>
          <p:cNvPr id="54" name="Text 52"/>
          <p:cNvSpPr/>
          <p:nvPr/>
        </p:nvSpPr>
        <p:spPr>
          <a:xfrm>
            <a:off x="2944368" y="2505456"/>
            <a:ext cx="804672"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0.59</a:t>
            </a:r>
            <a:endParaRPr lang="en-US" sz="850" dirty="0"/>
          </a:p>
        </p:txBody>
      </p:sp>
      <p:sp>
        <p:nvSpPr>
          <p:cNvPr id="55" name="Shape 53"/>
          <p:cNvSpPr/>
          <p:nvPr/>
        </p:nvSpPr>
        <p:spPr>
          <a:xfrm>
            <a:off x="3749040" y="2505456"/>
            <a:ext cx="713232" cy="274320"/>
          </a:xfrm>
          <a:prstGeom prst="rect">
            <a:avLst/>
          </a:prstGeom>
          <a:solidFill>
            <a:srgbClr val="C8F0FF"/>
          </a:solidFill>
          <a:ln w="6350">
            <a:solidFill>
              <a:srgbClr val="A0C8D0"/>
            </a:solidFill>
            <a:prstDash val="solid"/>
          </a:ln>
        </p:spPr>
      </p:sp>
      <p:sp>
        <p:nvSpPr>
          <p:cNvPr id="56" name="Text 54"/>
          <p:cNvSpPr/>
          <p:nvPr/>
        </p:nvSpPr>
        <p:spPr>
          <a:xfrm>
            <a:off x="3749040" y="2505456"/>
            <a:ext cx="713232"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54</a:t>
            </a:r>
            <a:endParaRPr lang="en-US" sz="850" dirty="0"/>
          </a:p>
        </p:txBody>
      </p:sp>
      <p:sp>
        <p:nvSpPr>
          <p:cNvPr id="57" name="Shape 55"/>
          <p:cNvSpPr/>
          <p:nvPr/>
        </p:nvSpPr>
        <p:spPr>
          <a:xfrm>
            <a:off x="329184" y="2779776"/>
            <a:ext cx="1005840" cy="274320"/>
          </a:xfrm>
          <a:prstGeom prst="rect">
            <a:avLst/>
          </a:prstGeom>
          <a:solidFill>
            <a:srgbClr val="C8F0FF"/>
          </a:solidFill>
          <a:ln w="6350">
            <a:solidFill>
              <a:srgbClr val="A0C8D0"/>
            </a:solidFill>
            <a:prstDash val="solid"/>
          </a:ln>
        </p:spPr>
      </p:sp>
      <p:sp>
        <p:nvSpPr>
          <p:cNvPr id="58" name="Text 56"/>
          <p:cNvSpPr/>
          <p:nvPr/>
        </p:nvSpPr>
        <p:spPr>
          <a:xfrm>
            <a:off x="329184" y="2779776"/>
            <a:ext cx="1005840"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Other</a:t>
            </a:r>
            <a:endParaRPr lang="en-US" sz="850" dirty="0"/>
          </a:p>
        </p:txBody>
      </p:sp>
      <p:sp>
        <p:nvSpPr>
          <p:cNvPr id="59" name="Shape 57"/>
          <p:cNvSpPr/>
          <p:nvPr/>
        </p:nvSpPr>
        <p:spPr>
          <a:xfrm>
            <a:off x="1335024" y="2779776"/>
            <a:ext cx="804672" cy="274320"/>
          </a:xfrm>
          <a:prstGeom prst="rect">
            <a:avLst/>
          </a:prstGeom>
          <a:solidFill>
            <a:srgbClr val="C8F0FF"/>
          </a:solidFill>
          <a:ln w="6350">
            <a:solidFill>
              <a:srgbClr val="A0C8D0"/>
            </a:solidFill>
            <a:prstDash val="solid"/>
          </a:ln>
        </p:spPr>
      </p:sp>
      <p:sp>
        <p:nvSpPr>
          <p:cNvPr id="60" name="Text 58"/>
          <p:cNvSpPr/>
          <p:nvPr/>
        </p:nvSpPr>
        <p:spPr>
          <a:xfrm>
            <a:off x="1335024" y="2779776"/>
            <a:ext cx="804672"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0.42</a:t>
            </a:r>
            <a:endParaRPr lang="en-US" sz="850" dirty="0"/>
          </a:p>
        </p:txBody>
      </p:sp>
      <p:sp>
        <p:nvSpPr>
          <p:cNvPr id="61" name="Shape 59"/>
          <p:cNvSpPr/>
          <p:nvPr/>
        </p:nvSpPr>
        <p:spPr>
          <a:xfrm>
            <a:off x="2139696" y="2779776"/>
            <a:ext cx="804672" cy="274320"/>
          </a:xfrm>
          <a:prstGeom prst="rect">
            <a:avLst/>
          </a:prstGeom>
          <a:solidFill>
            <a:srgbClr val="C8F0FF"/>
          </a:solidFill>
          <a:ln w="6350">
            <a:solidFill>
              <a:srgbClr val="A0C8D0"/>
            </a:solidFill>
            <a:prstDash val="solid"/>
          </a:ln>
        </p:spPr>
      </p:sp>
      <p:sp>
        <p:nvSpPr>
          <p:cNvPr id="62" name="Text 60"/>
          <p:cNvSpPr/>
          <p:nvPr/>
        </p:nvSpPr>
        <p:spPr>
          <a:xfrm>
            <a:off x="2139696" y="2779776"/>
            <a:ext cx="804672"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0.48</a:t>
            </a:r>
            <a:endParaRPr lang="en-US" sz="850" dirty="0"/>
          </a:p>
        </p:txBody>
      </p:sp>
      <p:sp>
        <p:nvSpPr>
          <p:cNvPr id="63" name="Shape 61"/>
          <p:cNvSpPr/>
          <p:nvPr/>
        </p:nvSpPr>
        <p:spPr>
          <a:xfrm>
            <a:off x="2944368" y="2779776"/>
            <a:ext cx="804672" cy="274320"/>
          </a:xfrm>
          <a:prstGeom prst="rect">
            <a:avLst/>
          </a:prstGeom>
          <a:solidFill>
            <a:srgbClr val="C8F0FF"/>
          </a:solidFill>
          <a:ln w="6350">
            <a:solidFill>
              <a:srgbClr val="A0C8D0"/>
            </a:solidFill>
            <a:prstDash val="solid"/>
          </a:ln>
        </p:spPr>
      </p:sp>
      <p:sp>
        <p:nvSpPr>
          <p:cNvPr id="64" name="Text 62"/>
          <p:cNvSpPr/>
          <p:nvPr/>
        </p:nvSpPr>
        <p:spPr>
          <a:xfrm>
            <a:off x="2944368" y="2779776"/>
            <a:ext cx="804672"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0.45</a:t>
            </a:r>
            <a:endParaRPr lang="en-US" sz="850" dirty="0"/>
          </a:p>
        </p:txBody>
      </p:sp>
      <p:sp>
        <p:nvSpPr>
          <p:cNvPr id="65" name="Shape 63"/>
          <p:cNvSpPr/>
          <p:nvPr/>
        </p:nvSpPr>
        <p:spPr>
          <a:xfrm>
            <a:off x="3749040" y="2779776"/>
            <a:ext cx="713232" cy="274320"/>
          </a:xfrm>
          <a:prstGeom prst="rect">
            <a:avLst/>
          </a:prstGeom>
          <a:solidFill>
            <a:srgbClr val="C8F0FF"/>
          </a:solidFill>
          <a:ln w="6350">
            <a:solidFill>
              <a:srgbClr val="A0C8D0"/>
            </a:solidFill>
            <a:prstDash val="solid"/>
          </a:ln>
        </p:spPr>
      </p:sp>
      <p:sp>
        <p:nvSpPr>
          <p:cNvPr id="66" name="Text 64"/>
          <p:cNvSpPr/>
          <p:nvPr/>
        </p:nvSpPr>
        <p:spPr>
          <a:xfrm>
            <a:off x="3749040" y="2779776"/>
            <a:ext cx="713232" cy="274320"/>
          </a:xfrm>
          <a:prstGeom prst="rect">
            <a:avLst/>
          </a:prstGeom>
          <a:noFill/>
          <a:ln/>
        </p:spPr>
        <p:txBody>
          <a:bodyPr wrap="square" lIns="0" tIns="0" rIns="0" bIns="0" rtlCol="0" anchor="ctr"/>
          <a:lstStyle/>
          <a:p>
            <a:pPr algn="ctr" indent="0" marL="0">
              <a:buNone/>
            </a:pPr>
            <a:r>
              <a:rPr lang="en-US" sz="850" b="1" dirty="0">
                <a:solidFill>
                  <a:srgbClr val="0A7E8C"/>
                </a:solidFill>
                <a:latin typeface="Calibri" pitchFamily="34" charset="0"/>
                <a:ea typeface="Calibri" pitchFamily="34" charset="-122"/>
                <a:cs typeface="Calibri" pitchFamily="34" charset="-120"/>
              </a:rPr>
              <a:t>30</a:t>
            </a:r>
            <a:endParaRPr lang="en-US" sz="850" dirty="0"/>
          </a:p>
        </p:txBody>
      </p:sp>
      <p:sp>
        <p:nvSpPr>
          <p:cNvPr id="67" name="Shape 65"/>
          <p:cNvSpPr/>
          <p:nvPr/>
        </p:nvSpPr>
        <p:spPr>
          <a:xfrm>
            <a:off x="329184" y="3054096"/>
            <a:ext cx="1005840" cy="274320"/>
          </a:xfrm>
          <a:prstGeom prst="rect">
            <a:avLst/>
          </a:prstGeom>
          <a:solidFill>
            <a:srgbClr val="FFFFFF"/>
          </a:solidFill>
          <a:ln w="6350">
            <a:solidFill>
              <a:srgbClr val="A0C8D0"/>
            </a:solidFill>
            <a:prstDash val="solid"/>
          </a:ln>
        </p:spPr>
      </p:sp>
      <p:sp>
        <p:nvSpPr>
          <p:cNvPr id="68" name="Text 66"/>
          <p:cNvSpPr/>
          <p:nvPr/>
        </p:nvSpPr>
        <p:spPr>
          <a:xfrm>
            <a:off x="329184" y="3054096"/>
            <a:ext cx="1005840" cy="274320"/>
          </a:xfrm>
          <a:prstGeom prst="rect">
            <a:avLst/>
          </a:prstGeom>
          <a:noFill/>
          <a:ln/>
        </p:spPr>
        <p:txBody>
          <a:bodyPr wrap="square" lIns="0" tIns="0" rIns="0" bIns="0" rtlCol="0" anchor="ctr"/>
          <a:lstStyle/>
          <a:p>
            <a:pPr algn="ctr" indent="0" marL="0">
              <a:buNone/>
            </a:pPr>
            <a:r>
              <a:rPr lang="en-US" sz="850" dirty="0">
                <a:solidFill>
                  <a:srgbClr val="101828"/>
                </a:solidFill>
                <a:latin typeface="Calibri" pitchFamily="34" charset="0"/>
                <a:ea typeface="Calibri" pitchFamily="34" charset="-122"/>
                <a:cs typeface="Calibri" pitchFamily="34" charset="-120"/>
              </a:rPr>
              <a:t>accuracy</a:t>
            </a:r>
            <a:endParaRPr lang="en-US" sz="850" dirty="0"/>
          </a:p>
        </p:txBody>
      </p:sp>
      <p:sp>
        <p:nvSpPr>
          <p:cNvPr id="69" name="Shape 67"/>
          <p:cNvSpPr/>
          <p:nvPr/>
        </p:nvSpPr>
        <p:spPr>
          <a:xfrm>
            <a:off x="1335024" y="3054096"/>
            <a:ext cx="804672" cy="274320"/>
          </a:xfrm>
          <a:prstGeom prst="rect">
            <a:avLst/>
          </a:prstGeom>
          <a:solidFill>
            <a:srgbClr val="FFFFFF"/>
          </a:solidFill>
          <a:ln w="6350">
            <a:solidFill>
              <a:srgbClr val="A0C8D0"/>
            </a:solidFill>
            <a:prstDash val="solid"/>
          </a:ln>
        </p:spPr>
      </p:sp>
      <p:sp>
        <p:nvSpPr>
          <p:cNvPr id="70" name="Text 68"/>
          <p:cNvSpPr/>
          <p:nvPr/>
        </p:nvSpPr>
        <p:spPr>
          <a:xfrm>
            <a:off x="1335024" y="3054096"/>
            <a:ext cx="804672" cy="274320"/>
          </a:xfrm>
          <a:prstGeom prst="rect">
            <a:avLst/>
          </a:prstGeom>
          <a:noFill/>
          <a:ln/>
        </p:spPr>
        <p:txBody>
          <a:bodyPr wrap="square" lIns="0" tIns="0" rIns="0" bIns="0" rtlCol="0" anchor="ctr"/>
          <a:lstStyle/>
          <a:p>
            <a:pPr algn="ctr" indent="0" marL="0">
              <a:buNone/>
            </a:pPr>
            <a:endParaRPr lang="en-US" sz="850" dirty="0"/>
          </a:p>
        </p:txBody>
      </p:sp>
      <p:sp>
        <p:nvSpPr>
          <p:cNvPr id="71" name="Shape 69"/>
          <p:cNvSpPr/>
          <p:nvPr/>
        </p:nvSpPr>
        <p:spPr>
          <a:xfrm>
            <a:off x="2139696" y="3054096"/>
            <a:ext cx="804672" cy="274320"/>
          </a:xfrm>
          <a:prstGeom prst="rect">
            <a:avLst/>
          </a:prstGeom>
          <a:solidFill>
            <a:srgbClr val="FFFFFF"/>
          </a:solidFill>
          <a:ln w="6350">
            <a:solidFill>
              <a:srgbClr val="A0C8D0"/>
            </a:solidFill>
            <a:prstDash val="solid"/>
          </a:ln>
        </p:spPr>
      </p:sp>
      <p:sp>
        <p:nvSpPr>
          <p:cNvPr id="72" name="Text 70"/>
          <p:cNvSpPr/>
          <p:nvPr/>
        </p:nvSpPr>
        <p:spPr>
          <a:xfrm>
            <a:off x="2139696" y="3054096"/>
            <a:ext cx="804672" cy="274320"/>
          </a:xfrm>
          <a:prstGeom prst="rect">
            <a:avLst/>
          </a:prstGeom>
          <a:noFill/>
          <a:ln/>
        </p:spPr>
        <p:txBody>
          <a:bodyPr wrap="square" lIns="0" tIns="0" rIns="0" bIns="0" rtlCol="0" anchor="ctr"/>
          <a:lstStyle/>
          <a:p>
            <a:pPr algn="ctr" indent="0" marL="0">
              <a:buNone/>
            </a:pPr>
            <a:endParaRPr lang="en-US" sz="850" dirty="0"/>
          </a:p>
        </p:txBody>
      </p:sp>
      <p:sp>
        <p:nvSpPr>
          <p:cNvPr id="73" name="Shape 71"/>
          <p:cNvSpPr/>
          <p:nvPr/>
        </p:nvSpPr>
        <p:spPr>
          <a:xfrm>
            <a:off x="2944368" y="3054096"/>
            <a:ext cx="804672" cy="274320"/>
          </a:xfrm>
          <a:prstGeom prst="rect">
            <a:avLst/>
          </a:prstGeom>
          <a:solidFill>
            <a:srgbClr val="FFFFFF"/>
          </a:solidFill>
          <a:ln w="6350">
            <a:solidFill>
              <a:srgbClr val="A0C8D0"/>
            </a:solidFill>
            <a:prstDash val="solid"/>
          </a:ln>
        </p:spPr>
      </p:sp>
      <p:sp>
        <p:nvSpPr>
          <p:cNvPr id="74" name="Text 72"/>
          <p:cNvSpPr/>
          <p:nvPr/>
        </p:nvSpPr>
        <p:spPr>
          <a:xfrm>
            <a:off x="2944368" y="305409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0.76</a:t>
            </a:r>
            <a:endParaRPr lang="en-US" sz="850" dirty="0"/>
          </a:p>
        </p:txBody>
      </p:sp>
      <p:sp>
        <p:nvSpPr>
          <p:cNvPr id="75" name="Shape 73"/>
          <p:cNvSpPr/>
          <p:nvPr/>
        </p:nvSpPr>
        <p:spPr>
          <a:xfrm>
            <a:off x="3749040" y="3054096"/>
            <a:ext cx="713232" cy="274320"/>
          </a:xfrm>
          <a:prstGeom prst="rect">
            <a:avLst/>
          </a:prstGeom>
          <a:solidFill>
            <a:srgbClr val="FFFFFF"/>
          </a:solidFill>
          <a:ln w="6350">
            <a:solidFill>
              <a:srgbClr val="A0C8D0"/>
            </a:solidFill>
            <a:prstDash val="solid"/>
          </a:ln>
        </p:spPr>
      </p:sp>
      <p:sp>
        <p:nvSpPr>
          <p:cNvPr id="76" name="Text 74"/>
          <p:cNvSpPr/>
          <p:nvPr/>
        </p:nvSpPr>
        <p:spPr>
          <a:xfrm>
            <a:off x="3749040" y="3054096"/>
            <a:ext cx="71323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450</a:t>
            </a:r>
            <a:endParaRPr lang="en-US" sz="850" dirty="0"/>
          </a:p>
        </p:txBody>
      </p:sp>
      <p:sp>
        <p:nvSpPr>
          <p:cNvPr id="77" name="Shape 75"/>
          <p:cNvSpPr/>
          <p:nvPr/>
        </p:nvSpPr>
        <p:spPr>
          <a:xfrm>
            <a:off x="329184" y="3328416"/>
            <a:ext cx="1005840" cy="274320"/>
          </a:xfrm>
          <a:prstGeom prst="rect">
            <a:avLst/>
          </a:prstGeom>
          <a:solidFill>
            <a:srgbClr val="EAF6FA"/>
          </a:solidFill>
          <a:ln w="6350">
            <a:solidFill>
              <a:srgbClr val="A0C8D0"/>
            </a:solidFill>
            <a:prstDash val="solid"/>
          </a:ln>
        </p:spPr>
      </p:sp>
      <p:sp>
        <p:nvSpPr>
          <p:cNvPr id="78" name="Text 76"/>
          <p:cNvSpPr/>
          <p:nvPr/>
        </p:nvSpPr>
        <p:spPr>
          <a:xfrm>
            <a:off x="329184" y="3328416"/>
            <a:ext cx="1005840" cy="274320"/>
          </a:xfrm>
          <a:prstGeom prst="rect">
            <a:avLst/>
          </a:prstGeom>
          <a:noFill/>
          <a:ln/>
        </p:spPr>
        <p:txBody>
          <a:bodyPr wrap="square" lIns="0" tIns="0" rIns="0" bIns="0" rtlCol="0" anchor="ctr"/>
          <a:lstStyle/>
          <a:p>
            <a:pPr algn="ctr" indent="0" marL="0">
              <a:buNone/>
            </a:pPr>
            <a:r>
              <a:rPr lang="en-US" sz="850" dirty="0">
                <a:solidFill>
                  <a:srgbClr val="101828"/>
                </a:solidFill>
                <a:latin typeface="Calibri" pitchFamily="34" charset="0"/>
                <a:ea typeface="Calibri" pitchFamily="34" charset="-122"/>
                <a:cs typeface="Calibri" pitchFamily="34" charset="-120"/>
              </a:rPr>
              <a:t>macro avg</a:t>
            </a:r>
            <a:endParaRPr lang="en-US" sz="850" dirty="0"/>
          </a:p>
        </p:txBody>
      </p:sp>
      <p:sp>
        <p:nvSpPr>
          <p:cNvPr id="79" name="Shape 77"/>
          <p:cNvSpPr/>
          <p:nvPr/>
        </p:nvSpPr>
        <p:spPr>
          <a:xfrm>
            <a:off x="1335024" y="3328416"/>
            <a:ext cx="804672" cy="274320"/>
          </a:xfrm>
          <a:prstGeom prst="rect">
            <a:avLst/>
          </a:prstGeom>
          <a:solidFill>
            <a:srgbClr val="EAF6FA"/>
          </a:solidFill>
          <a:ln w="6350">
            <a:solidFill>
              <a:srgbClr val="A0C8D0"/>
            </a:solidFill>
            <a:prstDash val="solid"/>
          </a:ln>
        </p:spPr>
      </p:sp>
      <p:sp>
        <p:nvSpPr>
          <p:cNvPr id="80" name="Text 78"/>
          <p:cNvSpPr/>
          <p:nvPr/>
        </p:nvSpPr>
        <p:spPr>
          <a:xfrm>
            <a:off x="1335024" y="332841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0.70</a:t>
            </a:r>
            <a:endParaRPr lang="en-US" sz="850" dirty="0"/>
          </a:p>
        </p:txBody>
      </p:sp>
      <p:sp>
        <p:nvSpPr>
          <p:cNvPr id="81" name="Shape 79"/>
          <p:cNvSpPr/>
          <p:nvPr/>
        </p:nvSpPr>
        <p:spPr>
          <a:xfrm>
            <a:off x="2139696" y="3328416"/>
            <a:ext cx="804672" cy="274320"/>
          </a:xfrm>
          <a:prstGeom prst="rect">
            <a:avLst/>
          </a:prstGeom>
          <a:solidFill>
            <a:srgbClr val="EAF6FA"/>
          </a:solidFill>
          <a:ln w="6350">
            <a:solidFill>
              <a:srgbClr val="A0C8D0"/>
            </a:solidFill>
            <a:prstDash val="solid"/>
          </a:ln>
        </p:spPr>
      </p:sp>
      <p:sp>
        <p:nvSpPr>
          <p:cNvPr id="82" name="Text 80"/>
          <p:cNvSpPr/>
          <p:nvPr/>
        </p:nvSpPr>
        <p:spPr>
          <a:xfrm>
            <a:off x="2139696" y="332841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0.68</a:t>
            </a:r>
            <a:endParaRPr lang="en-US" sz="850" dirty="0"/>
          </a:p>
        </p:txBody>
      </p:sp>
      <p:sp>
        <p:nvSpPr>
          <p:cNvPr id="83" name="Shape 81"/>
          <p:cNvSpPr/>
          <p:nvPr/>
        </p:nvSpPr>
        <p:spPr>
          <a:xfrm>
            <a:off x="2944368" y="3328416"/>
            <a:ext cx="804672" cy="274320"/>
          </a:xfrm>
          <a:prstGeom prst="rect">
            <a:avLst/>
          </a:prstGeom>
          <a:solidFill>
            <a:srgbClr val="EAF6FA"/>
          </a:solidFill>
          <a:ln w="6350">
            <a:solidFill>
              <a:srgbClr val="A0C8D0"/>
            </a:solidFill>
            <a:prstDash val="solid"/>
          </a:ln>
        </p:spPr>
      </p:sp>
      <p:sp>
        <p:nvSpPr>
          <p:cNvPr id="84" name="Text 82"/>
          <p:cNvSpPr/>
          <p:nvPr/>
        </p:nvSpPr>
        <p:spPr>
          <a:xfrm>
            <a:off x="2944368" y="332841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0.69</a:t>
            </a:r>
            <a:endParaRPr lang="en-US" sz="850" dirty="0"/>
          </a:p>
        </p:txBody>
      </p:sp>
      <p:sp>
        <p:nvSpPr>
          <p:cNvPr id="85" name="Shape 83"/>
          <p:cNvSpPr/>
          <p:nvPr/>
        </p:nvSpPr>
        <p:spPr>
          <a:xfrm>
            <a:off x="3749040" y="3328416"/>
            <a:ext cx="713232" cy="274320"/>
          </a:xfrm>
          <a:prstGeom prst="rect">
            <a:avLst/>
          </a:prstGeom>
          <a:solidFill>
            <a:srgbClr val="EAF6FA"/>
          </a:solidFill>
          <a:ln w="6350">
            <a:solidFill>
              <a:srgbClr val="A0C8D0"/>
            </a:solidFill>
            <a:prstDash val="solid"/>
          </a:ln>
        </p:spPr>
      </p:sp>
      <p:sp>
        <p:nvSpPr>
          <p:cNvPr id="86" name="Text 84"/>
          <p:cNvSpPr/>
          <p:nvPr/>
        </p:nvSpPr>
        <p:spPr>
          <a:xfrm>
            <a:off x="3749040" y="3328416"/>
            <a:ext cx="71323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450</a:t>
            </a:r>
            <a:endParaRPr lang="en-US" sz="850" dirty="0"/>
          </a:p>
        </p:txBody>
      </p:sp>
      <p:sp>
        <p:nvSpPr>
          <p:cNvPr id="87" name="Shape 85"/>
          <p:cNvSpPr/>
          <p:nvPr/>
        </p:nvSpPr>
        <p:spPr>
          <a:xfrm>
            <a:off x="329184" y="3602736"/>
            <a:ext cx="1005840" cy="274320"/>
          </a:xfrm>
          <a:prstGeom prst="rect">
            <a:avLst/>
          </a:prstGeom>
          <a:solidFill>
            <a:srgbClr val="FFFFFF"/>
          </a:solidFill>
          <a:ln w="6350">
            <a:solidFill>
              <a:srgbClr val="A0C8D0"/>
            </a:solidFill>
            <a:prstDash val="solid"/>
          </a:ln>
        </p:spPr>
      </p:sp>
      <p:sp>
        <p:nvSpPr>
          <p:cNvPr id="88" name="Text 86"/>
          <p:cNvSpPr/>
          <p:nvPr/>
        </p:nvSpPr>
        <p:spPr>
          <a:xfrm>
            <a:off x="329184" y="3602736"/>
            <a:ext cx="1005840" cy="274320"/>
          </a:xfrm>
          <a:prstGeom prst="rect">
            <a:avLst/>
          </a:prstGeom>
          <a:noFill/>
          <a:ln/>
        </p:spPr>
        <p:txBody>
          <a:bodyPr wrap="square" lIns="0" tIns="0" rIns="0" bIns="0" rtlCol="0" anchor="ctr"/>
          <a:lstStyle/>
          <a:p>
            <a:pPr algn="ctr" indent="0" marL="0">
              <a:buNone/>
            </a:pPr>
            <a:r>
              <a:rPr lang="en-US" sz="850" dirty="0">
                <a:solidFill>
                  <a:srgbClr val="101828"/>
                </a:solidFill>
                <a:latin typeface="Calibri" pitchFamily="34" charset="0"/>
                <a:ea typeface="Calibri" pitchFamily="34" charset="-122"/>
                <a:cs typeface="Calibri" pitchFamily="34" charset="-120"/>
              </a:rPr>
              <a:t>weighted avg</a:t>
            </a:r>
            <a:endParaRPr lang="en-US" sz="850" dirty="0"/>
          </a:p>
        </p:txBody>
      </p:sp>
      <p:sp>
        <p:nvSpPr>
          <p:cNvPr id="89" name="Shape 87"/>
          <p:cNvSpPr/>
          <p:nvPr/>
        </p:nvSpPr>
        <p:spPr>
          <a:xfrm>
            <a:off x="1335024" y="3602736"/>
            <a:ext cx="804672" cy="274320"/>
          </a:xfrm>
          <a:prstGeom prst="rect">
            <a:avLst/>
          </a:prstGeom>
          <a:solidFill>
            <a:srgbClr val="FFFFFF"/>
          </a:solidFill>
          <a:ln w="6350">
            <a:solidFill>
              <a:srgbClr val="A0C8D0"/>
            </a:solidFill>
            <a:prstDash val="solid"/>
          </a:ln>
        </p:spPr>
      </p:sp>
      <p:sp>
        <p:nvSpPr>
          <p:cNvPr id="90" name="Text 88"/>
          <p:cNvSpPr/>
          <p:nvPr/>
        </p:nvSpPr>
        <p:spPr>
          <a:xfrm>
            <a:off x="1335024" y="360273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0.77</a:t>
            </a:r>
            <a:endParaRPr lang="en-US" sz="850" dirty="0"/>
          </a:p>
        </p:txBody>
      </p:sp>
      <p:sp>
        <p:nvSpPr>
          <p:cNvPr id="91" name="Shape 89"/>
          <p:cNvSpPr/>
          <p:nvPr/>
        </p:nvSpPr>
        <p:spPr>
          <a:xfrm>
            <a:off x="2139696" y="3602736"/>
            <a:ext cx="804672" cy="274320"/>
          </a:xfrm>
          <a:prstGeom prst="rect">
            <a:avLst/>
          </a:prstGeom>
          <a:solidFill>
            <a:srgbClr val="FFFFFF"/>
          </a:solidFill>
          <a:ln w="6350">
            <a:solidFill>
              <a:srgbClr val="A0C8D0"/>
            </a:solidFill>
            <a:prstDash val="solid"/>
          </a:ln>
        </p:spPr>
      </p:sp>
      <p:sp>
        <p:nvSpPr>
          <p:cNvPr id="92" name="Text 90"/>
          <p:cNvSpPr/>
          <p:nvPr/>
        </p:nvSpPr>
        <p:spPr>
          <a:xfrm>
            <a:off x="2139696" y="360273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0.76</a:t>
            </a:r>
            <a:endParaRPr lang="en-US" sz="850" dirty="0"/>
          </a:p>
        </p:txBody>
      </p:sp>
      <p:sp>
        <p:nvSpPr>
          <p:cNvPr id="93" name="Shape 91"/>
          <p:cNvSpPr/>
          <p:nvPr/>
        </p:nvSpPr>
        <p:spPr>
          <a:xfrm>
            <a:off x="2944368" y="3602736"/>
            <a:ext cx="804672" cy="274320"/>
          </a:xfrm>
          <a:prstGeom prst="rect">
            <a:avLst/>
          </a:prstGeom>
          <a:solidFill>
            <a:srgbClr val="FFFFFF"/>
          </a:solidFill>
          <a:ln w="6350">
            <a:solidFill>
              <a:srgbClr val="A0C8D0"/>
            </a:solidFill>
            <a:prstDash val="solid"/>
          </a:ln>
        </p:spPr>
      </p:sp>
      <p:sp>
        <p:nvSpPr>
          <p:cNvPr id="94" name="Text 92"/>
          <p:cNvSpPr/>
          <p:nvPr/>
        </p:nvSpPr>
        <p:spPr>
          <a:xfrm>
            <a:off x="2944368" y="3602736"/>
            <a:ext cx="8046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0.76</a:t>
            </a:r>
            <a:endParaRPr lang="en-US" sz="850" dirty="0"/>
          </a:p>
        </p:txBody>
      </p:sp>
      <p:sp>
        <p:nvSpPr>
          <p:cNvPr id="95" name="Shape 93"/>
          <p:cNvSpPr/>
          <p:nvPr/>
        </p:nvSpPr>
        <p:spPr>
          <a:xfrm>
            <a:off x="3749040" y="3602736"/>
            <a:ext cx="713232" cy="274320"/>
          </a:xfrm>
          <a:prstGeom prst="rect">
            <a:avLst/>
          </a:prstGeom>
          <a:solidFill>
            <a:srgbClr val="FFFFFF"/>
          </a:solidFill>
          <a:ln w="6350">
            <a:solidFill>
              <a:srgbClr val="A0C8D0"/>
            </a:solidFill>
            <a:prstDash val="solid"/>
          </a:ln>
        </p:spPr>
      </p:sp>
      <p:sp>
        <p:nvSpPr>
          <p:cNvPr id="96" name="Text 94"/>
          <p:cNvSpPr/>
          <p:nvPr/>
        </p:nvSpPr>
        <p:spPr>
          <a:xfrm>
            <a:off x="3749040" y="3602736"/>
            <a:ext cx="713232" cy="27432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450</a:t>
            </a:r>
            <a:endParaRPr lang="en-US" sz="850" dirty="0"/>
          </a:p>
        </p:txBody>
      </p:sp>
      <p:sp>
        <p:nvSpPr>
          <p:cNvPr id="97" name="Shape 95"/>
          <p:cNvSpPr/>
          <p:nvPr/>
        </p:nvSpPr>
        <p:spPr>
          <a:xfrm>
            <a:off x="5413248" y="1024128"/>
            <a:ext cx="3474720" cy="3200400"/>
          </a:xfrm>
          <a:prstGeom prst="roundRect">
            <a:avLst>
              <a:gd name="adj" fmla="val 2571"/>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98" name="Text 96"/>
          <p:cNvSpPr/>
          <p:nvPr/>
        </p:nvSpPr>
        <p:spPr>
          <a:xfrm>
            <a:off x="5522976" y="1097280"/>
            <a:ext cx="3255264" cy="256032"/>
          </a:xfrm>
          <a:prstGeom prst="rect">
            <a:avLst/>
          </a:prstGeom>
          <a:noFill/>
          <a:ln/>
        </p:spPr>
        <p:txBody>
          <a:bodyPr wrap="square" lIns="0" tIns="0" rIns="0" bIns="0" rtlCol="0" anchor="ctr"/>
          <a:lstStyle/>
          <a:p>
            <a:pPr indent="0" marL="0">
              <a:buNone/>
            </a:pPr>
            <a:r>
              <a:rPr lang="en-US" sz="1100" b="1" dirty="0">
                <a:solidFill>
                  <a:srgbClr val="0A7E8C"/>
                </a:solidFill>
                <a:latin typeface="Calibri" pitchFamily="34" charset="0"/>
                <a:ea typeface="Calibri" pitchFamily="34" charset="-122"/>
                <a:cs typeface="Calibri" pitchFamily="34" charset="-120"/>
              </a:rPr>
              <a:t>Interpreting Each Row</a:t>
            </a:r>
            <a:endParaRPr lang="en-US" sz="1100" dirty="0"/>
          </a:p>
        </p:txBody>
      </p:sp>
      <p:sp>
        <p:nvSpPr>
          <p:cNvPr id="99" name="Shape 97"/>
          <p:cNvSpPr/>
          <p:nvPr/>
        </p:nvSpPr>
        <p:spPr>
          <a:xfrm>
            <a:off x="5522976" y="1426464"/>
            <a:ext cx="3255264" cy="658368"/>
          </a:xfrm>
          <a:prstGeom prst="roundRect">
            <a:avLst>
              <a:gd name="adj" fmla="val 6944"/>
            </a:avLst>
          </a:prstGeom>
          <a:solidFill>
            <a:srgbClr val="000000"/>
          </a:solidFill>
          <a:ln w="10160">
            <a:solidFill>
              <a:srgbClr val="0A7E8C"/>
            </a:solidFill>
            <a:prstDash val="solid"/>
          </a:ln>
        </p:spPr>
      </p:sp>
      <p:sp>
        <p:nvSpPr>
          <p:cNvPr id="100" name="Text 98"/>
          <p:cNvSpPr/>
          <p:nvPr/>
        </p:nvSpPr>
        <p:spPr>
          <a:xfrm>
            <a:off x="5596128" y="1463040"/>
            <a:ext cx="3108960" cy="219456"/>
          </a:xfrm>
          <a:prstGeom prst="rect">
            <a:avLst/>
          </a:prstGeom>
          <a:noFill/>
          <a:ln/>
        </p:spPr>
        <p:txBody>
          <a:bodyPr wrap="square" lIns="0" tIns="0" rIns="0" bIns="0" rtlCol="0" anchor="ctr"/>
          <a:lstStyle/>
          <a:p>
            <a:pPr indent="0" marL="0">
              <a:buNone/>
            </a:pPr>
            <a:r>
              <a:rPr lang="en-US" sz="1000" b="1" dirty="0">
                <a:solidFill>
                  <a:srgbClr val="0A7E8C"/>
                </a:solidFill>
                <a:latin typeface="Calibri" pitchFamily="34" charset="0"/>
                <a:ea typeface="Calibri" pitchFamily="34" charset="-122"/>
                <a:cs typeface="Calibri" pitchFamily="34" charset="-120"/>
              </a:rPr>
              <a:t>Per-class rows</a:t>
            </a:r>
            <a:endParaRPr lang="en-US" sz="1000" dirty="0"/>
          </a:p>
        </p:txBody>
      </p:sp>
      <p:sp>
        <p:nvSpPr>
          <p:cNvPr id="101" name="Text 99"/>
          <p:cNvSpPr/>
          <p:nvPr/>
        </p:nvSpPr>
        <p:spPr>
          <a:xfrm>
            <a:off x="5596128" y="1700784"/>
            <a:ext cx="3108960" cy="329184"/>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Performance for EACH class individually. Read F1 per class to see which classes are hard.</a:t>
            </a:r>
            <a:endParaRPr lang="en-US" sz="850" dirty="0"/>
          </a:p>
        </p:txBody>
      </p:sp>
      <p:sp>
        <p:nvSpPr>
          <p:cNvPr id="102" name="Shape 100"/>
          <p:cNvSpPr/>
          <p:nvPr/>
        </p:nvSpPr>
        <p:spPr>
          <a:xfrm>
            <a:off x="5522976" y="2157984"/>
            <a:ext cx="3255264" cy="658368"/>
          </a:xfrm>
          <a:prstGeom prst="roundRect">
            <a:avLst>
              <a:gd name="adj" fmla="val 6944"/>
            </a:avLst>
          </a:prstGeom>
          <a:solidFill>
            <a:srgbClr val="000000"/>
          </a:solidFill>
          <a:ln w="10160">
            <a:solidFill>
              <a:srgbClr val="1050C0"/>
            </a:solidFill>
            <a:prstDash val="solid"/>
          </a:ln>
        </p:spPr>
      </p:sp>
      <p:sp>
        <p:nvSpPr>
          <p:cNvPr id="103" name="Text 101"/>
          <p:cNvSpPr/>
          <p:nvPr/>
        </p:nvSpPr>
        <p:spPr>
          <a:xfrm>
            <a:off x="5596128" y="2194560"/>
            <a:ext cx="3108960" cy="219456"/>
          </a:xfrm>
          <a:prstGeom prst="rect">
            <a:avLst/>
          </a:prstGeom>
          <a:noFill/>
          <a:ln/>
        </p:spPr>
        <p:txBody>
          <a:bodyPr wrap="square" lIns="0" tIns="0" rIns="0" bIns="0" rtlCol="0" anchor="ctr"/>
          <a:lstStyle/>
          <a:p>
            <a:pPr indent="0" marL="0">
              <a:buNone/>
            </a:pPr>
            <a:r>
              <a:rPr lang="en-US" sz="1000" b="1" dirty="0">
                <a:solidFill>
                  <a:srgbClr val="1050C0"/>
                </a:solidFill>
                <a:latin typeface="Calibri" pitchFamily="34" charset="0"/>
                <a:ea typeface="Calibri" pitchFamily="34" charset="-122"/>
                <a:cs typeface="Calibri" pitchFamily="34" charset="-120"/>
              </a:rPr>
              <a:t>Accuracy (0.76)</a:t>
            </a:r>
            <a:endParaRPr lang="en-US" sz="1000" dirty="0"/>
          </a:p>
        </p:txBody>
      </p:sp>
      <p:sp>
        <p:nvSpPr>
          <p:cNvPr id="104" name="Text 102"/>
          <p:cNvSpPr/>
          <p:nvPr/>
        </p:nvSpPr>
        <p:spPr>
          <a:xfrm>
            <a:off x="5596128" y="2432304"/>
            <a:ext cx="3108960" cy="329184"/>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Overall fraction correct. Misleading if classes imbalanced. Compare to majority-class baseline.</a:t>
            </a:r>
            <a:endParaRPr lang="en-US" sz="850" dirty="0"/>
          </a:p>
        </p:txBody>
      </p:sp>
      <p:sp>
        <p:nvSpPr>
          <p:cNvPr id="105" name="Shape 103"/>
          <p:cNvSpPr/>
          <p:nvPr/>
        </p:nvSpPr>
        <p:spPr>
          <a:xfrm>
            <a:off x="5522976" y="2889504"/>
            <a:ext cx="3255264" cy="658368"/>
          </a:xfrm>
          <a:prstGeom prst="roundRect">
            <a:avLst>
              <a:gd name="adj" fmla="val 6944"/>
            </a:avLst>
          </a:prstGeom>
          <a:solidFill>
            <a:srgbClr val="000000"/>
          </a:solidFill>
          <a:ln w="10160">
            <a:solidFill>
              <a:srgbClr val="6A10C0"/>
            </a:solidFill>
            <a:prstDash val="solid"/>
          </a:ln>
        </p:spPr>
      </p:sp>
      <p:sp>
        <p:nvSpPr>
          <p:cNvPr id="106" name="Text 104"/>
          <p:cNvSpPr/>
          <p:nvPr/>
        </p:nvSpPr>
        <p:spPr>
          <a:xfrm>
            <a:off x="5596128" y="2926080"/>
            <a:ext cx="3108960" cy="219456"/>
          </a:xfrm>
          <a:prstGeom prst="rect">
            <a:avLst/>
          </a:prstGeom>
          <a:noFill/>
          <a:ln/>
        </p:spPr>
        <p:txBody>
          <a:bodyPr wrap="square" lIns="0" tIns="0" rIns="0" bIns="0" rtlCol="0" anchor="ctr"/>
          <a:lstStyle/>
          <a:p>
            <a:pPr indent="0" marL="0">
              <a:buNone/>
            </a:pPr>
            <a:r>
              <a:rPr lang="en-US" sz="1000" b="1" dirty="0">
                <a:solidFill>
                  <a:srgbClr val="6A10C0"/>
                </a:solidFill>
                <a:latin typeface="Calibri" pitchFamily="34" charset="0"/>
                <a:ea typeface="Calibri" pitchFamily="34" charset="-122"/>
                <a:cs typeface="Calibri" pitchFamily="34" charset="-120"/>
              </a:rPr>
              <a:t>Macro avg (0.69)</a:t>
            </a:r>
            <a:endParaRPr lang="en-US" sz="1000" dirty="0"/>
          </a:p>
        </p:txBody>
      </p:sp>
      <p:sp>
        <p:nvSpPr>
          <p:cNvPr id="107" name="Text 105"/>
          <p:cNvSpPr/>
          <p:nvPr/>
        </p:nvSpPr>
        <p:spPr>
          <a:xfrm>
            <a:off x="5596128" y="3163824"/>
            <a:ext cx="3108960" cy="329184"/>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Unweighted average. Each class counts equally. Pulled down by poor 'Other' (F1=0.45).</a:t>
            </a:r>
            <a:endParaRPr lang="en-US" sz="850" dirty="0"/>
          </a:p>
        </p:txBody>
      </p:sp>
      <p:sp>
        <p:nvSpPr>
          <p:cNvPr id="108" name="Shape 106"/>
          <p:cNvSpPr/>
          <p:nvPr/>
        </p:nvSpPr>
        <p:spPr>
          <a:xfrm>
            <a:off x="5522976" y="3621024"/>
            <a:ext cx="3255264" cy="658368"/>
          </a:xfrm>
          <a:prstGeom prst="roundRect">
            <a:avLst>
              <a:gd name="adj" fmla="val 6944"/>
            </a:avLst>
          </a:prstGeom>
          <a:solidFill>
            <a:srgbClr val="000000"/>
          </a:solidFill>
          <a:ln w="10160">
            <a:solidFill>
              <a:srgbClr val="D4A010"/>
            </a:solidFill>
            <a:prstDash val="solid"/>
          </a:ln>
        </p:spPr>
      </p:sp>
      <p:sp>
        <p:nvSpPr>
          <p:cNvPr id="109" name="Text 107"/>
          <p:cNvSpPr/>
          <p:nvPr/>
        </p:nvSpPr>
        <p:spPr>
          <a:xfrm>
            <a:off x="5596128" y="3657600"/>
            <a:ext cx="3108960" cy="219456"/>
          </a:xfrm>
          <a:prstGeom prst="rect">
            <a:avLst/>
          </a:prstGeom>
          <a:noFill/>
          <a:ln/>
        </p:spPr>
        <p:txBody>
          <a:bodyPr wrap="square" lIns="0" tIns="0" rIns="0" bIns="0" rtlCol="0" anchor="ctr"/>
          <a:lstStyle/>
          <a:p>
            <a:pPr indent="0" marL="0">
              <a:buNone/>
            </a:pPr>
            <a:r>
              <a:rPr lang="en-US" sz="1000" b="1" dirty="0">
                <a:solidFill>
                  <a:srgbClr val="D4A010"/>
                </a:solidFill>
                <a:latin typeface="Calibri" pitchFamily="34" charset="0"/>
                <a:ea typeface="Calibri" pitchFamily="34" charset="-122"/>
                <a:cs typeface="Calibri" pitchFamily="34" charset="-120"/>
              </a:rPr>
              <a:t>Weighted avg (0.76)</a:t>
            </a:r>
            <a:endParaRPr lang="en-US" sz="1000" dirty="0"/>
          </a:p>
        </p:txBody>
      </p:sp>
      <p:sp>
        <p:nvSpPr>
          <p:cNvPr id="110" name="Text 108"/>
          <p:cNvSpPr/>
          <p:nvPr/>
        </p:nvSpPr>
        <p:spPr>
          <a:xfrm>
            <a:off x="5596128" y="3895344"/>
            <a:ext cx="3108960" cy="329184"/>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Size-weighted average. Large classes (Gala N=172) dominate. Small class (Other N=30) has little impact.</a:t>
            </a:r>
            <a:endParaRPr lang="en-US" sz="850" dirty="0"/>
          </a:p>
        </p:txBody>
      </p:sp>
      <p:sp>
        <p:nvSpPr>
          <p:cNvPr id="111" name="Shape 109"/>
          <p:cNvSpPr/>
          <p:nvPr/>
        </p:nvSpPr>
        <p:spPr>
          <a:xfrm>
            <a:off x="256032" y="4279392"/>
            <a:ext cx="8631936" cy="841248"/>
          </a:xfrm>
          <a:prstGeom prst="roundRect">
            <a:avLst>
              <a:gd name="adj" fmla="val 8696"/>
            </a:avLst>
          </a:prstGeom>
          <a:solidFill>
            <a:srgbClr val="F0F8FA"/>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12" name="Text 110"/>
          <p:cNvSpPr/>
          <p:nvPr/>
        </p:nvSpPr>
        <p:spPr>
          <a:xfrm>
            <a:off x="384048" y="4352544"/>
            <a:ext cx="1828800" cy="256032"/>
          </a:xfrm>
          <a:prstGeom prst="rect">
            <a:avLst/>
          </a:prstGeom>
          <a:noFill/>
          <a:ln/>
        </p:spPr>
        <p:txBody>
          <a:bodyPr wrap="square" lIns="0" tIns="0" rIns="0" bIns="0" rtlCol="0" anchor="ctr"/>
          <a:lstStyle/>
          <a:p>
            <a:pPr indent="0" marL="0">
              <a:buNone/>
            </a:pPr>
            <a:r>
              <a:rPr lang="en-US" sz="1050" b="1" dirty="0">
                <a:solidFill>
                  <a:srgbClr val="080E1C"/>
                </a:solidFill>
                <a:latin typeface="Calibri" pitchFamily="34" charset="0"/>
                <a:ea typeface="Calibri" pitchFamily="34" charset="-122"/>
                <a:cs typeface="Calibri" pitchFamily="34" charset="-120"/>
              </a:rPr>
              <a:t>When to report which:</a:t>
            </a:r>
            <a:endParaRPr lang="en-US" sz="1050" dirty="0"/>
          </a:p>
        </p:txBody>
      </p:sp>
      <p:sp>
        <p:nvSpPr>
          <p:cNvPr id="113" name="Text 111"/>
          <p:cNvSpPr/>
          <p:nvPr/>
        </p:nvSpPr>
        <p:spPr>
          <a:xfrm>
            <a:off x="2286000" y="4352544"/>
            <a:ext cx="914400" cy="256032"/>
          </a:xfrm>
          <a:prstGeom prst="rect">
            <a:avLst/>
          </a:prstGeom>
          <a:noFill/>
          <a:ln/>
        </p:spPr>
        <p:txBody>
          <a:bodyPr wrap="square" lIns="0" tIns="0" rIns="0" bIns="0" rtlCol="0" anchor="ctr"/>
          <a:lstStyle/>
          <a:p>
            <a:pPr indent="0" marL="0">
              <a:buNone/>
            </a:pPr>
            <a:r>
              <a:rPr lang="en-US" sz="950" b="1" dirty="0">
                <a:solidFill>
                  <a:srgbClr val="6A10C0"/>
                </a:solidFill>
                <a:latin typeface="Calibri" pitchFamily="34" charset="0"/>
                <a:ea typeface="Calibri" pitchFamily="34" charset="-122"/>
                <a:cs typeface="Calibri" pitchFamily="34" charset="-120"/>
              </a:rPr>
              <a:t>Macro F1 (0.69): </a:t>
            </a:r>
            <a:endParaRPr lang="en-US" sz="950" dirty="0"/>
          </a:p>
        </p:txBody>
      </p:sp>
      <p:sp>
        <p:nvSpPr>
          <p:cNvPr id="114" name="Text 112"/>
          <p:cNvSpPr/>
          <p:nvPr/>
        </p:nvSpPr>
        <p:spPr>
          <a:xfrm>
            <a:off x="2286000" y="4626864"/>
            <a:ext cx="2084832" cy="438912"/>
          </a:xfrm>
          <a:prstGeom prst="rect">
            <a:avLst/>
          </a:prstGeom>
          <a:noFill/>
          <a:ln/>
        </p:spPr>
        <p:txBody>
          <a:bodyPr wrap="square" lIns="0" tIns="0" rIns="0" bIns="0" rtlCol="0" anchor="ctr"/>
          <a:lstStyle/>
          <a:p>
            <a:pPr indent="0" marL="0">
              <a:buNone/>
            </a:pPr>
            <a:r>
              <a:rPr lang="en-US" sz="800" dirty="0">
                <a:solidFill>
                  <a:srgbClr val="101828"/>
                </a:solidFill>
                <a:latin typeface="Calibri" pitchFamily="34" charset="0"/>
                <a:ea typeface="Calibri" pitchFamily="34" charset="-122"/>
                <a:cs typeface="Calibri" pitchFamily="34" charset="-120"/>
              </a:rPr>
              <a:t>All classes equally important. Highlights poor 'Other' class (0.45). Use when rare classes matter.</a:t>
            </a:r>
            <a:endParaRPr lang="en-US" sz="800" dirty="0"/>
          </a:p>
        </p:txBody>
      </p:sp>
      <p:sp>
        <p:nvSpPr>
          <p:cNvPr id="115" name="Text 113"/>
          <p:cNvSpPr/>
          <p:nvPr/>
        </p:nvSpPr>
        <p:spPr>
          <a:xfrm>
            <a:off x="4462272" y="4352544"/>
            <a:ext cx="914400" cy="256032"/>
          </a:xfrm>
          <a:prstGeom prst="rect">
            <a:avLst/>
          </a:prstGeom>
          <a:noFill/>
          <a:ln/>
        </p:spPr>
        <p:txBody>
          <a:bodyPr wrap="square" lIns="0" tIns="0" rIns="0" bIns="0" rtlCol="0" anchor="ctr"/>
          <a:lstStyle/>
          <a:p>
            <a:pPr indent="0" marL="0">
              <a:buNone/>
            </a:pPr>
            <a:r>
              <a:rPr lang="en-US" sz="950" b="1" dirty="0">
                <a:solidFill>
                  <a:srgbClr val="D4A010"/>
                </a:solidFill>
                <a:latin typeface="Calibri" pitchFamily="34" charset="0"/>
                <a:ea typeface="Calibri" pitchFamily="34" charset="-122"/>
                <a:cs typeface="Calibri" pitchFamily="34" charset="-120"/>
              </a:rPr>
              <a:t>Weighted F1 (0.76): </a:t>
            </a:r>
            <a:endParaRPr lang="en-US" sz="950" dirty="0"/>
          </a:p>
        </p:txBody>
      </p:sp>
      <p:sp>
        <p:nvSpPr>
          <p:cNvPr id="116" name="Text 114"/>
          <p:cNvSpPr/>
          <p:nvPr/>
        </p:nvSpPr>
        <p:spPr>
          <a:xfrm>
            <a:off x="4462272" y="4626864"/>
            <a:ext cx="2084832" cy="438912"/>
          </a:xfrm>
          <a:prstGeom prst="rect">
            <a:avLst/>
          </a:prstGeom>
          <a:noFill/>
          <a:ln/>
        </p:spPr>
        <p:txBody>
          <a:bodyPr wrap="square" lIns="0" tIns="0" rIns="0" bIns="0" rtlCol="0" anchor="ctr"/>
          <a:lstStyle/>
          <a:p>
            <a:pPr indent="0" marL="0">
              <a:buNone/>
            </a:pPr>
            <a:r>
              <a:rPr lang="en-US" sz="800" dirty="0">
                <a:solidFill>
                  <a:srgbClr val="101828"/>
                </a:solidFill>
                <a:latin typeface="Calibri" pitchFamily="34" charset="0"/>
                <a:ea typeface="Calibri" pitchFamily="34" charset="-122"/>
                <a:cs typeface="Calibri" pitchFamily="34" charset="-120"/>
              </a:rPr>
              <a:t>Accounts for class size. Good overall summary. Majority class dominates. Use for overall picture.</a:t>
            </a:r>
            <a:endParaRPr lang="en-US" sz="800" dirty="0"/>
          </a:p>
        </p:txBody>
      </p:sp>
      <p:sp>
        <p:nvSpPr>
          <p:cNvPr id="117" name="Text 115"/>
          <p:cNvSpPr/>
          <p:nvPr/>
        </p:nvSpPr>
        <p:spPr>
          <a:xfrm>
            <a:off x="6638544" y="4352544"/>
            <a:ext cx="914400" cy="256032"/>
          </a:xfrm>
          <a:prstGeom prst="rect">
            <a:avLst/>
          </a:prstGeom>
          <a:noFill/>
          <a:ln/>
        </p:spPr>
        <p:txBody>
          <a:bodyPr wrap="square" lIns="0" tIns="0" rIns="0" bIns="0" rtlCol="0" anchor="ctr"/>
          <a:lstStyle/>
          <a:p>
            <a:pPr indent="0" marL="0">
              <a:buNone/>
            </a:pPr>
            <a:r>
              <a:rPr lang="en-US" sz="950" b="1" dirty="0">
                <a:solidFill>
                  <a:srgbClr val="0A7E8C"/>
                </a:solidFill>
                <a:latin typeface="Calibri" pitchFamily="34" charset="0"/>
                <a:ea typeface="Calibri" pitchFamily="34" charset="-122"/>
                <a:cs typeface="Calibri" pitchFamily="34" charset="-120"/>
              </a:rPr>
              <a:t>Per-class F1: </a:t>
            </a:r>
            <a:endParaRPr lang="en-US" sz="950" dirty="0"/>
          </a:p>
        </p:txBody>
      </p:sp>
      <p:sp>
        <p:nvSpPr>
          <p:cNvPr id="118" name="Text 116"/>
          <p:cNvSpPr/>
          <p:nvPr/>
        </p:nvSpPr>
        <p:spPr>
          <a:xfrm>
            <a:off x="6638544" y="4626864"/>
            <a:ext cx="2084832" cy="438912"/>
          </a:xfrm>
          <a:prstGeom prst="rect">
            <a:avLst/>
          </a:prstGeom>
          <a:noFill/>
          <a:ln/>
        </p:spPr>
        <p:txBody>
          <a:bodyPr wrap="square" lIns="0" tIns="0" rIns="0" bIns="0" rtlCol="0" anchor="ctr"/>
          <a:lstStyle/>
          <a:p>
            <a:pPr indent="0" marL="0">
              <a:buNone/>
            </a:pPr>
            <a:r>
              <a:rPr lang="en-US" sz="800" dirty="0">
                <a:solidFill>
                  <a:srgbClr val="101828"/>
                </a:solidFill>
                <a:latin typeface="Calibri" pitchFamily="34" charset="0"/>
                <a:ea typeface="Calibri" pitchFamily="34" charset="-122"/>
                <a:cs typeface="Calibri" pitchFamily="34" charset="-120"/>
              </a:rPr>
              <a:t>Detailed view: Gala (0.86) excellent. Other (0.45) needs attention. Use for targeted improvement.</a:t>
            </a:r>
            <a:endParaRPr lang="en-US" sz="800" dirty="0"/>
          </a:p>
        </p:txBody>
      </p:sp>
      <p:sp>
        <p:nvSpPr>
          <p:cNvPr id="119" name="Shape 117"/>
          <p:cNvSpPr/>
          <p:nvPr/>
        </p:nvSpPr>
        <p:spPr>
          <a:xfrm>
            <a:off x="256032" y="5157216"/>
            <a:ext cx="8631936" cy="310896"/>
          </a:xfrm>
          <a:prstGeom prst="roundRect">
            <a:avLst>
              <a:gd name="adj" fmla="val 17647"/>
            </a:avLst>
          </a:prstGeom>
          <a:solidFill>
            <a:srgbClr val="FEF0ED"/>
          </a:solidFill>
          <a:ln w="19050">
            <a:solidFill>
              <a:srgbClr val="E02020"/>
            </a:solidFill>
            <a:prstDash val="solid"/>
          </a:ln>
        </p:spPr>
      </p:sp>
      <p:sp>
        <p:nvSpPr>
          <p:cNvPr id="120" name="Text 118"/>
          <p:cNvSpPr/>
          <p:nvPr/>
        </p:nvSpPr>
        <p:spPr>
          <a:xfrm>
            <a:off x="384048" y="5157216"/>
            <a:ext cx="8449056" cy="310896"/>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Red flags above: 'Other' class has F1=0.45 with only 30 support samples. The model struggles with rare classes. Consider oversampling (SMOTE), class weights, or collecting more Other-class data.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ML METRICS  |  SECTION 05</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ROC-AUC and PR-AUC</a:t>
            </a:r>
            <a:endParaRPr lang="en-US" sz="38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Threshold-independent performance curves for complete evaluation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80E1C"/>
          </a:solidFill>
          <a:ln w="12700">
            <a:solidFill>
              <a:srgbClr val="080E1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ROC Curve, AUC and Precision-Recall Curve - Complete Interpretation</a:t>
            </a:r>
            <a:endParaRPr lang="en-US" sz="2100" dirty="0"/>
          </a:p>
        </p:txBody>
      </p:sp>
      <p:sp>
        <p:nvSpPr>
          <p:cNvPr id="4" name="Shape 2"/>
          <p:cNvSpPr/>
          <p:nvPr/>
        </p:nvSpPr>
        <p:spPr>
          <a:xfrm>
            <a:off x="256032" y="1024128"/>
            <a:ext cx="4160520" cy="4041648"/>
          </a:xfrm>
          <a:prstGeom prst="roundRect">
            <a:avLst>
              <a:gd name="adj" fmla="val 203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65760" y="1097280"/>
            <a:ext cx="3950208" cy="256032"/>
          </a:xfrm>
          <a:prstGeom prst="rect">
            <a:avLst/>
          </a:prstGeom>
          <a:noFill/>
          <a:ln/>
        </p:spPr>
        <p:txBody>
          <a:bodyPr wrap="square" lIns="0" tIns="0" rIns="0" bIns="0" rtlCol="0" anchor="ctr"/>
          <a:lstStyle/>
          <a:p>
            <a:pPr indent="0" marL="0">
              <a:buNone/>
            </a:pPr>
            <a:r>
              <a:rPr lang="en-US" sz="1100" b="1" dirty="0">
                <a:solidFill>
                  <a:srgbClr val="0A7E8C"/>
                </a:solidFill>
                <a:latin typeface="Calibri" pitchFamily="34" charset="0"/>
                <a:ea typeface="Calibri" pitchFamily="34" charset="-122"/>
                <a:cs typeface="Calibri" pitchFamily="34" charset="-120"/>
              </a:rPr>
              <a:t>ROC Curve - FPR vs TPR</a:t>
            </a:r>
            <a:endParaRPr lang="en-US" sz="1100" dirty="0"/>
          </a:p>
        </p:txBody>
      </p:sp>
      <p:sp>
        <p:nvSpPr>
          <p:cNvPr id="6" name="Shape 4"/>
          <p:cNvSpPr/>
          <p:nvPr/>
        </p:nvSpPr>
        <p:spPr>
          <a:xfrm>
            <a:off x="457200" y="1554480"/>
            <a:ext cx="0" cy="3108960"/>
          </a:xfrm>
          <a:prstGeom prst="line">
            <a:avLst/>
          </a:prstGeom>
          <a:noFill/>
          <a:ln w="15240">
            <a:solidFill>
              <a:srgbClr val="101828"/>
            </a:solidFill>
            <a:prstDash val="solid"/>
          </a:ln>
        </p:spPr>
      </p:sp>
      <p:sp>
        <p:nvSpPr>
          <p:cNvPr id="7" name="Shape 5"/>
          <p:cNvSpPr/>
          <p:nvPr/>
        </p:nvSpPr>
        <p:spPr>
          <a:xfrm>
            <a:off x="457200" y="4663440"/>
            <a:ext cx="3566160" cy="0"/>
          </a:xfrm>
          <a:prstGeom prst="line">
            <a:avLst/>
          </a:prstGeom>
          <a:noFill/>
          <a:ln w="15240">
            <a:solidFill>
              <a:srgbClr val="101828"/>
            </a:solidFill>
            <a:prstDash val="solid"/>
          </a:ln>
        </p:spPr>
      </p:sp>
      <p:sp>
        <p:nvSpPr>
          <p:cNvPr id="8" name="Text 6"/>
          <p:cNvSpPr/>
          <p:nvPr/>
        </p:nvSpPr>
        <p:spPr>
          <a:xfrm>
            <a:off x="164592" y="3163824"/>
            <a:ext cx="822960" cy="219456"/>
          </a:xfrm>
          <a:prstGeom prst="rect">
            <a:avLst/>
          </a:prstGeom>
          <a:noFill/>
          <a:ln/>
        </p:spPr>
        <p:txBody>
          <a:bodyPr wrap="square" lIns="0" tIns="0" rIns="0" bIns="0" rtlCol="0" anchor="ctr"/>
          <a:lstStyle/>
          <a:p>
            <a:pPr algn="ctr" indent="0" marL="0">
              <a:buNone/>
            </a:pPr>
            <a:r>
              <a:rPr lang="en-US" sz="850" dirty="0">
                <a:solidFill>
                  <a:srgbClr val="0A7E8C"/>
                </a:solidFill>
                <a:latin typeface="Calibri" pitchFamily="34" charset="0"/>
                <a:ea typeface="Calibri" pitchFamily="34" charset="-122"/>
                <a:cs typeface="Calibri" pitchFamily="34" charset="-120"/>
              </a:rPr>
              <a:t>TPR (Recall)</a:t>
            </a:r>
            <a:endParaRPr lang="en-US" sz="850" dirty="0"/>
          </a:p>
        </p:txBody>
      </p:sp>
      <p:sp>
        <p:nvSpPr>
          <p:cNvPr id="9" name="Text 7"/>
          <p:cNvSpPr/>
          <p:nvPr/>
        </p:nvSpPr>
        <p:spPr>
          <a:xfrm>
            <a:off x="1554480" y="4718304"/>
            <a:ext cx="2194560" cy="201168"/>
          </a:xfrm>
          <a:prstGeom prst="rect">
            <a:avLst/>
          </a:prstGeom>
          <a:noFill/>
          <a:ln/>
        </p:spPr>
        <p:txBody>
          <a:bodyPr wrap="square" lIns="0" tIns="0" rIns="0" bIns="0" rtlCol="0" anchor="ctr"/>
          <a:lstStyle/>
          <a:p>
            <a:pPr algn="ctr" indent="0" marL="0">
              <a:buNone/>
            </a:pPr>
            <a:r>
              <a:rPr lang="en-US" sz="850" dirty="0">
                <a:solidFill>
                  <a:srgbClr val="0A7E8C"/>
                </a:solidFill>
                <a:latin typeface="Calibri" pitchFamily="34" charset="0"/>
                <a:ea typeface="Calibri" pitchFamily="34" charset="-122"/>
                <a:cs typeface="Calibri" pitchFamily="34" charset="-120"/>
              </a:rPr>
              <a:t>FPR (1-Specificity)</a:t>
            </a:r>
            <a:endParaRPr lang="en-US" sz="850" dirty="0"/>
          </a:p>
        </p:txBody>
      </p:sp>
      <p:sp>
        <p:nvSpPr>
          <p:cNvPr id="10" name="Shape 8"/>
          <p:cNvSpPr/>
          <p:nvPr/>
        </p:nvSpPr>
        <p:spPr>
          <a:xfrm>
            <a:off x="457200" y="4663440"/>
            <a:ext cx="3566160" cy="-3108960"/>
          </a:xfrm>
          <a:prstGeom prst="line">
            <a:avLst/>
          </a:prstGeom>
          <a:noFill/>
          <a:ln w="12700">
            <a:solidFill>
              <a:srgbClr val="888888"/>
            </a:solidFill>
            <a:prstDash val="dash"/>
          </a:ln>
        </p:spPr>
      </p:sp>
      <p:sp>
        <p:nvSpPr>
          <p:cNvPr id="11" name="Text 9"/>
          <p:cNvSpPr/>
          <p:nvPr/>
        </p:nvSpPr>
        <p:spPr>
          <a:xfrm>
            <a:off x="1737360" y="2971800"/>
            <a:ext cx="1371600" cy="18288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Random AUC=0.5</a:t>
            </a:r>
            <a:endParaRPr lang="en-US" sz="750" dirty="0"/>
          </a:p>
        </p:txBody>
      </p:sp>
      <p:sp>
        <p:nvSpPr>
          <p:cNvPr id="12" name="Shape 10"/>
          <p:cNvSpPr/>
          <p:nvPr/>
        </p:nvSpPr>
        <p:spPr>
          <a:xfrm>
            <a:off x="457200" y="4663440"/>
            <a:ext cx="178308" cy="-1492301"/>
          </a:xfrm>
          <a:prstGeom prst="line">
            <a:avLst/>
          </a:prstGeom>
          <a:noFill/>
          <a:ln w="31750">
            <a:solidFill>
              <a:srgbClr val="0A7E8C"/>
            </a:solidFill>
            <a:prstDash val="solid"/>
          </a:ln>
        </p:spPr>
      </p:sp>
      <p:sp>
        <p:nvSpPr>
          <p:cNvPr id="13" name="Shape 11"/>
          <p:cNvSpPr/>
          <p:nvPr/>
        </p:nvSpPr>
        <p:spPr>
          <a:xfrm>
            <a:off x="635508" y="3171139"/>
            <a:ext cx="249631" cy="-746150"/>
          </a:xfrm>
          <a:prstGeom prst="line">
            <a:avLst/>
          </a:prstGeom>
          <a:noFill/>
          <a:ln w="31750">
            <a:solidFill>
              <a:srgbClr val="0A7E8C"/>
            </a:solidFill>
            <a:prstDash val="solid"/>
          </a:ln>
        </p:spPr>
      </p:sp>
      <p:sp>
        <p:nvSpPr>
          <p:cNvPr id="14" name="Shape 12"/>
          <p:cNvSpPr/>
          <p:nvPr/>
        </p:nvSpPr>
        <p:spPr>
          <a:xfrm>
            <a:off x="885139" y="2424989"/>
            <a:ext cx="463601" cy="-497434"/>
          </a:xfrm>
          <a:prstGeom prst="line">
            <a:avLst/>
          </a:prstGeom>
          <a:noFill/>
          <a:ln w="31750">
            <a:solidFill>
              <a:srgbClr val="0A7E8C"/>
            </a:solidFill>
            <a:prstDash val="solid"/>
          </a:ln>
        </p:spPr>
      </p:sp>
      <p:sp>
        <p:nvSpPr>
          <p:cNvPr id="15" name="Shape 13"/>
          <p:cNvSpPr/>
          <p:nvPr/>
        </p:nvSpPr>
        <p:spPr>
          <a:xfrm>
            <a:off x="1348740" y="1927555"/>
            <a:ext cx="713232" cy="-217627"/>
          </a:xfrm>
          <a:prstGeom prst="line">
            <a:avLst/>
          </a:prstGeom>
          <a:noFill/>
          <a:ln w="31750">
            <a:solidFill>
              <a:srgbClr val="0A7E8C"/>
            </a:solidFill>
            <a:prstDash val="solid"/>
          </a:ln>
        </p:spPr>
      </p:sp>
      <p:sp>
        <p:nvSpPr>
          <p:cNvPr id="16" name="Shape 14"/>
          <p:cNvSpPr/>
          <p:nvPr/>
        </p:nvSpPr>
        <p:spPr>
          <a:xfrm>
            <a:off x="2061972" y="1709928"/>
            <a:ext cx="891540" cy="-93269"/>
          </a:xfrm>
          <a:prstGeom prst="line">
            <a:avLst/>
          </a:prstGeom>
          <a:noFill/>
          <a:ln w="31750">
            <a:solidFill>
              <a:srgbClr val="0A7E8C"/>
            </a:solidFill>
            <a:prstDash val="solid"/>
          </a:ln>
        </p:spPr>
      </p:sp>
      <p:sp>
        <p:nvSpPr>
          <p:cNvPr id="17" name="Shape 15"/>
          <p:cNvSpPr/>
          <p:nvPr/>
        </p:nvSpPr>
        <p:spPr>
          <a:xfrm>
            <a:off x="2953512" y="1616659"/>
            <a:ext cx="1069848" cy="-62179"/>
          </a:xfrm>
          <a:prstGeom prst="line">
            <a:avLst/>
          </a:prstGeom>
          <a:noFill/>
          <a:ln w="31750">
            <a:solidFill>
              <a:srgbClr val="0A7E8C"/>
            </a:solidFill>
            <a:prstDash val="solid"/>
          </a:ln>
        </p:spPr>
      </p:sp>
      <p:sp>
        <p:nvSpPr>
          <p:cNvPr id="18" name="Text 16"/>
          <p:cNvSpPr/>
          <p:nvPr/>
        </p:nvSpPr>
        <p:spPr>
          <a:xfrm>
            <a:off x="914400" y="2011680"/>
            <a:ext cx="1371600" cy="475488"/>
          </a:xfrm>
          <a:prstGeom prst="rect">
            <a:avLst/>
          </a:prstGeom>
          <a:noFill/>
          <a:ln/>
        </p:spPr>
        <p:txBody>
          <a:bodyPr wrap="square" lIns="0" tIns="0" rIns="0" bIns="0" rtlCol="0" anchor="ctr"/>
          <a:lstStyle/>
          <a:p>
            <a:pPr algn="ctr" indent="0" marL="0">
              <a:buNone/>
            </a:pPr>
            <a:r>
              <a:rPr lang="en-US" sz="1200" b="1" dirty="0">
                <a:solidFill>
                  <a:srgbClr val="0A7E8C"/>
                </a:solidFill>
                <a:latin typeface="Calibri" pitchFamily="34" charset="0"/>
                <a:ea typeface="Calibri" pitchFamily="34" charset="-122"/>
                <a:cs typeface="Calibri" pitchFamily="34" charset="-120"/>
              </a:rPr>
              <a:t>AUC = 0.94</a:t>
            </a:r>
            <a:endParaRPr lang="en-US" sz="1200" dirty="0"/>
          </a:p>
          <a:p>
            <a:pPr algn="ctr" indent="0" marL="0">
              <a:buNone/>
            </a:pPr>
            <a:r>
              <a:rPr lang="en-US" sz="1200" b="1" dirty="0">
                <a:solidFill>
                  <a:srgbClr val="0A7E8C"/>
                </a:solidFill>
                <a:latin typeface="Calibri" pitchFamily="34" charset="0"/>
                <a:ea typeface="Calibri" pitchFamily="34" charset="-122"/>
                <a:cs typeface="Calibri" pitchFamily="34" charset="-120"/>
              </a:rPr>
              <a:t>(Excellent)</a:t>
            </a:r>
            <a:endParaRPr lang="en-US" sz="1200" dirty="0"/>
          </a:p>
        </p:txBody>
      </p:sp>
      <p:sp>
        <p:nvSpPr>
          <p:cNvPr id="19" name="Text 17"/>
          <p:cNvSpPr/>
          <p:nvPr/>
        </p:nvSpPr>
        <p:spPr>
          <a:xfrm>
            <a:off x="365760" y="3401568"/>
            <a:ext cx="3950208" cy="420624"/>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AUC = P(model ranks a random positive</a:t>
            </a:r>
            <a:endParaRPr lang="en-US" sz="950" dirty="0"/>
          </a:p>
          <a:p>
            <a:pPr indent="0" marL="0">
              <a:buNone/>
            </a:pPr>
            <a:r>
              <a:rPr lang="en-US" sz="950" dirty="0">
                <a:solidFill>
                  <a:srgbClr val="101828"/>
                </a:solidFill>
                <a:latin typeface="Calibri" pitchFamily="34" charset="0"/>
                <a:ea typeface="Calibri" pitchFamily="34" charset="-122"/>
                <a:cs typeface="Calibri" pitchFamily="34" charset="-120"/>
              </a:rPr>
              <a:t>higher than a random negative)</a:t>
            </a:r>
            <a:endParaRPr lang="en-US" sz="950" dirty="0"/>
          </a:p>
        </p:txBody>
      </p:sp>
      <p:sp>
        <p:nvSpPr>
          <p:cNvPr id="20" name="Shape 18"/>
          <p:cNvSpPr/>
          <p:nvPr/>
        </p:nvSpPr>
        <p:spPr>
          <a:xfrm>
            <a:off x="347472" y="3877056"/>
            <a:ext cx="4005072" cy="658368"/>
          </a:xfrm>
          <a:prstGeom prst="roundRect">
            <a:avLst>
              <a:gd name="adj" fmla="val 8333"/>
            </a:avLst>
          </a:prstGeom>
          <a:solidFill>
            <a:srgbClr val="E0F7FA"/>
          </a:solidFill>
          <a:ln w="10160">
            <a:solidFill>
              <a:srgbClr val="0A7E8C"/>
            </a:solidFill>
            <a:prstDash val="solid"/>
          </a:ln>
        </p:spPr>
      </p:sp>
      <p:sp>
        <p:nvSpPr>
          <p:cNvPr id="21" name="Text 19"/>
          <p:cNvSpPr/>
          <p:nvPr/>
        </p:nvSpPr>
        <p:spPr>
          <a:xfrm>
            <a:off x="420624" y="3931920"/>
            <a:ext cx="932688" cy="512064"/>
          </a:xfrm>
          <a:prstGeom prst="rect">
            <a:avLst/>
          </a:prstGeom>
          <a:noFill/>
          <a:ln/>
        </p:spPr>
        <p:txBody>
          <a:bodyPr wrap="square" lIns="0" tIns="0" rIns="0" bIns="0" rtlCol="0" anchor="ctr"/>
          <a:lstStyle/>
          <a:p>
            <a:pPr algn="ctr" indent="0" marL="0">
              <a:buNone/>
            </a:pPr>
            <a:r>
              <a:rPr lang="en-US" sz="900" b="1" dirty="0">
                <a:solidFill>
                  <a:srgbClr val="0A7E8C"/>
                </a:solidFill>
                <a:latin typeface="Calibri" pitchFamily="34" charset="0"/>
                <a:ea typeface="Calibri" pitchFamily="34" charset="-122"/>
                <a:cs typeface="Calibri" pitchFamily="34" charset="-120"/>
              </a:rPr>
              <a:t>&gt;=0.90: Excellent</a:t>
            </a:r>
            <a:endParaRPr lang="en-US" sz="900" dirty="0"/>
          </a:p>
        </p:txBody>
      </p:sp>
      <p:sp>
        <p:nvSpPr>
          <p:cNvPr id="22" name="Text 20"/>
          <p:cNvSpPr/>
          <p:nvPr/>
        </p:nvSpPr>
        <p:spPr>
          <a:xfrm>
            <a:off x="1408176" y="3931920"/>
            <a:ext cx="932688" cy="512064"/>
          </a:xfrm>
          <a:prstGeom prst="rect">
            <a:avLst/>
          </a:prstGeom>
          <a:noFill/>
          <a:ln/>
        </p:spPr>
        <p:txBody>
          <a:bodyPr wrap="square" lIns="0" tIns="0" rIns="0" bIns="0" rtlCol="0" anchor="ctr"/>
          <a:lstStyle/>
          <a:p>
            <a:pPr algn="ctr" indent="0" marL="0">
              <a:buNone/>
            </a:pPr>
            <a:r>
              <a:rPr lang="en-US" sz="900" dirty="0">
                <a:solidFill>
                  <a:srgbClr val="101828"/>
                </a:solidFill>
                <a:latin typeface="Calibri" pitchFamily="34" charset="0"/>
                <a:ea typeface="Calibri" pitchFamily="34" charset="-122"/>
                <a:cs typeface="Calibri" pitchFamily="34" charset="-120"/>
              </a:rPr>
              <a:t>0.80-0.89: Good</a:t>
            </a:r>
            <a:endParaRPr lang="en-US" sz="900" dirty="0"/>
          </a:p>
        </p:txBody>
      </p:sp>
      <p:sp>
        <p:nvSpPr>
          <p:cNvPr id="23" name="Text 21"/>
          <p:cNvSpPr/>
          <p:nvPr/>
        </p:nvSpPr>
        <p:spPr>
          <a:xfrm>
            <a:off x="2395728" y="3931920"/>
            <a:ext cx="932688" cy="512064"/>
          </a:xfrm>
          <a:prstGeom prst="rect">
            <a:avLst/>
          </a:prstGeom>
          <a:noFill/>
          <a:ln/>
        </p:spPr>
        <p:txBody>
          <a:bodyPr wrap="square" lIns="0" tIns="0" rIns="0" bIns="0" rtlCol="0" anchor="ctr"/>
          <a:lstStyle/>
          <a:p>
            <a:pPr algn="ctr" indent="0" marL="0">
              <a:buNone/>
            </a:pPr>
            <a:r>
              <a:rPr lang="en-US" sz="900" dirty="0">
                <a:solidFill>
                  <a:srgbClr val="101828"/>
                </a:solidFill>
                <a:latin typeface="Calibri" pitchFamily="34" charset="0"/>
                <a:ea typeface="Calibri" pitchFamily="34" charset="-122"/>
                <a:cs typeface="Calibri" pitchFamily="34" charset="-120"/>
              </a:rPr>
              <a:t>0.70-0.79: Fair</a:t>
            </a:r>
            <a:endParaRPr lang="en-US" sz="900" dirty="0"/>
          </a:p>
        </p:txBody>
      </p:sp>
      <p:sp>
        <p:nvSpPr>
          <p:cNvPr id="24" name="Text 22"/>
          <p:cNvSpPr/>
          <p:nvPr/>
        </p:nvSpPr>
        <p:spPr>
          <a:xfrm>
            <a:off x="3383280" y="3931920"/>
            <a:ext cx="932688" cy="512064"/>
          </a:xfrm>
          <a:prstGeom prst="rect">
            <a:avLst/>
          </a:prstGeom>
          <a:noFill/>
          <a:ln/>
        </p:spPr>
        <p:txBody>
          <a:bodyPr wrap="square" lIns="0" tIns="0" rIns="0" bIns="0" rtlCol="0" anchor="ctr"/>
          <a:lstStyle/>
          <a:p>
            <a:pPr algn="ctr" indent="0" marL="0">
              <a:buNone/>
            </a:pPr>
            <a:r>
              <a:rPr lang="en-US" sz="900" dirty="0">
                <a:solidFill>
                  <a:srgbClr val="101828"/>
                </a:solidFill>
                <a:latin typeface="Calibri" pitchFamily="34" charset="0"/>
                <a:ea typeface="Calibri" pitchFamily="34" charset="-122"/>
                <a:cs typeface="Calibri" pitchFamily="34" charset="-120"/>
              </a:rPr>
              <a:t>0.50-0.69: Poor</a:t>
            </a:r>
            <a:endParaRPr lang="en-US" sz="900" dirty="0"/>
          </a:p>
        </p:txBody>
      </p:sp>
      <p:sp>
        <p:nvSpPr>
          <p:cNvPr id="25" name="Shape 23"/>
          <p:cNvSpPr/>
          <p:nvPr/>
        </p:nvSpPr>
        <p:spPr>
          <a:xfrm>
            <a:off x="4681728" y="1024128"/>
            <a:ext cx="4160520" cy="4041648"/>
          </a:xfrm>
          <a:prstGeom prst="roundRect">
            <a:avLst>
              <a:gd name="adj" fmla="val 203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26" name="Text 24"/>
          <p:cNvSpPr/>
          <p:nvPr/>
        </p:nvSpPr>
        <p:spPr>
          <a:xfrm>
            <a:off x="4791456" y="1097280"/>
            <a:ext cx="3950208" cy="256032"/>
          </a:xfrm>
          <a:prstGeom prst="rect">
            <a:avLst/>
          </a:prstGeom>
          <a:noFill/>
          <a:ln/>
        </p:spPr>
        <p:txBody>
          <a:bodyPr wrap="square" lIns="0" tIns="0" rIns="0" bIns="0" rtlCol="0" anchor="ctr"/>
          <a:lstStyle/>
          <a:p>
            <a:pPr indent="0" marL="0">
              <a:buNone/>
            </a:pPr>
            <a:r>
              <a:rPr lang="en-US" sz="1100" b="1" dirty="0">
                <a:solidFill>
                  <a:srgbClr val="6A10C0"/>
                </a:solidFill>
                <a:latin typeface="Calibri" pitchFamily="34" charset="0"/>
                <a:ea typeface="Calibri" pitchFamily="34" charset="-122"/>
                <a:cs typeface="Calibri" pitchFamily="34" charset="-120"/>
              </a:rPr>
              <a:t>PR Curve - Precision vs Recall</a:t>
            </a:r>
            <a:endParaRPr lang="en-US" sz="1100" dirty="0"/>
          </a:p>
        </p:txBody>
      </p:sp>
      <p:sp>
        <p:nvSpPr>
          <p:cNvPr id="27" name="Shape 25"/>
          <p:cNvSpPr/>
          <p:nvPr/>
        </p:nvSpPr>
        <p:spPr>
          <a:xfrm>
            <a:off x="4846320" y="1554480"/>
            <a:ext cx="0" cy="3108960"/>
          </a:xfrm>
          <a:prstGeom prst="line">
            <a:avLst/>
          </a:prstGeom>
          <a:noFill/>
          <a:ln w="15240">
            <a:solidFill>
              <a:srgbClr val="101828"/>
            </a:solidFill>
            <a:prstDash val="solid"/>
          </a:ln>
        </p:spPr>
      </p:sp>
      <p:sp>
        <p:nvSpPr>
          <p:cNvPr id="28" name="Shape 26"/>
          <p:cNvSpPr/>
          <p:nvPr/>
        </p:nvSpPr>
        <p:spPr>
          <a:xfrm>
            <a:off x="4846320" y="4663440"/>
            <a:ext cx="3566160" cy="0"/>
          </a:xfrm>
          <a:prstGeom prst="line">
            <a:avLst/>
          </a:prstGeom>
          <a:noFill/>
          <a:ln w="15240">
            <a:solidFill>
              <a:srgbClr val="101828"/>
            </a:solidFill>
            <a:prstDash val="solid"/>
          </a:ln>
        </p:spPr>
      </p:sp>
      <p:sp>
        <p:nvSpPr>
          <p:cNvPr id="29" name="Text 27"/>
          <p:cNvSpPr/>
          <p:nvPr/>
        </p:nvSpPr>
        <p:spPr>
          <a:xfrm>
            <a:off x="4517136" y="3163824"/>
            <a:ext cx="822960" cy="219456"/>
          </a:xfrm>
          <a:prstGeom prst="rect">
            <a:avLst/>
          </a:prstGeom>
          <a:noFill/>
          <a:ln/>
        </p:spPr>
        <p:txBody>
          <a:bodyPr wrap="square" lIns="0" tIns="0" rIns="0" bIns="0" rtlCol="0" anchor="ctr"/>
          <a:lstStyle/>
          <a:p>
            <a:pPr algn="ctr" indent="0" marL="0">
              <a:buNone/>
            </a:pPr>
            <a:r>
              <a:rPr lang="en-US" sz="850" dirty="0">
                <a:solidFill>
                  <a:srgbClr val="6A10C0"/>
                </a:solidFill>
                <a:latin typeface="Calibri" pitchFamily="34" charset="0"/>
                <a:ea typeface="Calibri" pitchFamily="34" charset="-122"/>
                <a:cs typeface="Calibri" pitchFamily="34" charset="-120"/>
              </a:rPr>
              <a:t>Precision</a:t>
            </a:r>
            <a:endParaRPr lang="en-US" sz="850" dirty="0"/>
          </a:p>
        </p:txBody>
      </p:sp>
      <p:sp>
        <p:nvSpPr>
          <p:cNvPr id="30" name="Text 28"/>
          <p:cNvSpPr/>
          <p:nvPr/>
        </p:nvSpPr>
        <p:spPr>
          <a:xfrm>
            <a:off x="6217920" y="4718304"/>
            <a:ext cx="1371600" cy="201168"/>
          </a:xfrm>
          <a:prstGeom prst="rect">
            <a:avLst/>
          </a:prstGeom>
          <a:noFill/>
          <a:ln/>
        </p:spPr>
        <p:txBody>
          <a:bodyPr wrap="square" lIns="0" tIns="0" rIns="0" bIns="0" rtlCol="0" anchor="ctr"/>
          <a:lstStyle/>
          <a:p>
            <a:pPr algn="ctr" indent="0" marL="0">
              <a:buNone/>
            </a:pPr>
            <a:r>
              <a:rPr lang="en-US" sz="850" dirty="0">
                <a:solidFill>
                  <a:srgbClr val="6A10C0"/>
                </a:solidFill>
                <a:latin typeface="Calibri" pitchFamily="34" charset="0"/>
                <a:ea typeface="Calibri" pitchFamily="34" charset="-122"/>
                <a:cs typeface="Calibri" pitchFamily="34" charset="-120"/>
              </a:rPr>
              <a:t>Recall</a:t>
            </a:r>
            <a:endParaRPr lang="en-US" sz="850" dirty="0"/>
          </a:p>
        </p:txBody>
      </p:sp>
      <p:sp>
        <p:nvSpPr>
          <p:cNvPr id="31" name="Shape 29"/>
          <p:cNvSpPr/>
          <p:nvPr/>
        </p:nvSpPr>
        <p:spPr>
          <a:xfrm>
            <a:off x="4846320" y="4507992"/>
            <a:ext cx="3566160" cy="0"/>
          </a:xfrm>
          <a:prstGeom prst="line">
            <a:avLst/>
          </a:prstGeom>
          <a:noFill/>
          <a:ln w="12700">
            <a:solidFill>
              <a:srgbClr val="888888"/>
            </a:solidFill>
            <a:prstDash val="dash"/>
          </a:ln>
        </p:spPr>
      </p:sp>
      <p:sp>
        <p:nvSpPr>
          <p:cNvPr id="32" name="Text 30"/>
          <p:cNvSpPr/>
          <p:nvPr/>
        </p:nvSpPr>
        <p:spPr>
          <a:xfrm>
            <a:off x="5029200" y="4290365"/>
            <a:ext cx="2011680" cy="18288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Baseline = prevalence (5%)</a:t>
            </a:r>
            <a:endParaRPr lang="en-US" sz="750" dirty="0"/>
          </a:p>
        </p:txBody>
      </p:sp>
      <p:sp>
        <p:nvSpPr>
          <p:cNvPr id="33" name="Shape 31"/>
          <p:cNvSpPr/>
          <p:nvPr/>
        </p:nvSpPr>
        <p:spPr>
          <a:xfrm>
            <a:off x="4846320" y="1554480"/>
            <a:ext cx="1069848" cy="248717"/>
          </a:xfrm>
          <a:prstGeom prst="line">
            <a:avLst/>
          </a:prstGeom>
          <a:noFill/>
          <a:ln w="31750">
            <a:solidFill>
              <a:srgbClr val="6A10C0"/>
            </a:solidFill>
            <a:prstDash val="solid"/>
          </a:ln>
        </p:spPr>
      </p:sp>
      <p:sp>
        <p:nvSpPr>
          <p:cNvPr id="34" name="Shape 32"/>
          <p:cNvSpPr/>
          <p:nvPr/>
        </p:nvSpPr>
        <p:spPr>
          <a:xfrm>
            <a:off x="5916168" y="1803197"/>
            <a:ext cx="713232" cy="310896"/>
          </a:xfrm>
          <a:prstGeom prst="line">
            <a:avLst/>
          </a:prstGeom>
          <a:noFill/>
          <a:ln w="31750">
            <a:solidFill>
              <a:srgbClr val="6A10C0"/>
            </a:solidFill>
            <a:prstDash val="solid"/>
          </a:ln>
        </p:spPr>
      </p:sp>
      <p:sp>
        <p:nvSpPr>
          <p:cNvPr id="35" name="Shape 33"/>
          <p:cNvSpPr/>
          <p:nvPr/>
        </p:nvSpPr>
        <p:spPr>
          <a:xfrm>
            <a:off x="6629400" y="2114093"/>
            <a:ext cx="713232" cy="341986"/>
          </a:xfrm>
          <a:prstGeom prst="line">
            <a:avLst/>
          </a:prstGeom>
          <a:noFill/>
          <a:ln w="31750">
            <a:solidFill>
              <a:srgbClr val="6A10C0"/>
            </a:solidFill>
            <a:prstDash val="solid"/>
          </a:ln>
        </p:spPr>
      </p:sp>
      <p:sp>
        <p:nvSpPr>
          <p:cNvPr id="36" name="Shape 34"/>
          <p:cNvSpPr/>
          <p:nvPr/>
        </p:nvSpPr>
        <p:spPr>
          <a:xfrm>
            <a:off x="7342632" y="2456078"/>
            <a:ext cx="534924" cy="404165"/>
          </a:xfrm>
          <a:prstGeom prst="line">
            <a:avLst/>
          </a:prstGeom>
          <a:noFill/>
          <a:ln w="31750">
            <a:solidFill>
              <a:srgbClr val="6A10C0"/>
            </a:solidFill>
            <a:prstDash val="solid"/>
          </a:ln>
        </p:spPr>
      </p:sp>
      <p:sp>
        <p:nvSpPr>
          <p:cNvPr id="37" name="Shape 35"/>
          <p:cNvSpPr/>
          <p:nvPr/>
        </p:nvSpPr>
        <p:spPr>
          <a:xfrm>
            <a:off x="7877556" y="2860243"/>
            <a:ext cx="356616" cy="497434"/>
          </a:xfrm>
          <a:prstGeom prst="line">
            <a:avLst/>
          </a:prstGeom>
          <a:noFill/>
          <a:ln w="31750">
            <a:solidFill>
              <a:srgbClr val="6A10C0"/>
            </a:solidFill>
            <a:prstDash val="solid"/>
          </a:ln>
        </p:spPr>
      </p:sp>
      <p:sp>
        <p:nvSpPr>
          <p:cNvPr id="38" name="Shape 36"/>
          <p:cNvSpPr/>
          <p:nvPr/>
        </p:nvSpPr>
        <p:spPr>
          <a:xfrm>
            <a:off x="8234172" y="3357677"/>
            <a:ext cx="178308" cy="310896"/>
          </a:xfrm>
          <a:prstGeom prst="line">
            <a:avLst/>
          </a:prstGeom>
          <a:noFill/>
          <a:ln w="31750">
            <a:solidFill>
              <a:srgbClr val="6A10C0"/>
            </a:solidFill>
            <a:prstDash val="solid"/>
          </a:ln>
        </p:spPr>
      </p:sp>
      <p:sp>
        <p:nvSpPr>
          <p:cNvPr id="39" name="Text 37"/>
          <p:cNvSpPr/>
          <p:nvPr/>
        </p:nvSpPr>
        <p:spPr>
          <a:xfrm>
            <a:off x="5577840" y="2286000"/>
            <a:ext cx="1828800" cy="347472"/>
          </a:xfrm>
          <a:prstGeom prst="rect">
            <a:avLst/>
          </a:prstGeom>
          <a:noFill/>
          <a:ln/>
        </p:spPr>
        <p:txBody>
          <a:bodyPr wrap="square" lIns="0" tIns="0" rIns="0" bIns="0" rtlCol="0" anchor="ctr"/>
          <a:lstStyle/>
          <a:p>
            <a:pPr algn="ctr" indent="0" marL="0">
              <a:buNone/>
            </a:pPr>
            <a:r>
              <a:rPr lang="en-US" sz="1200" b="1" dirty="0">
                <a:solidFill>
                  <a:srgbClr val="6A10C0"/>
                </a:solidFill>
                <a:latin typeface="Calibri" pitchFamily="34" charset="0"/>
                <a:ea typeface="Calibri" pitchFamily="34" charset="-122"/>
                <a:cs typeface="Calibri" pitchFamily="34" charset="-120"/>
              </a:rPr>
              <a:t>PR-AUC = 0.71</a:t>
            </a:r>
            <a:endParaRPr lang="en-US" sz="1200" dirty="0"/>
          </a:p>
        </p:txBody>
      </p:sp>
      <p:sp>
        <p:nvSpPr>
          <p:cNvPr id="40" name="Text 38"/>
          <p:cNvSpPr/>
          <p:nvPr/>
        </p:nvSpPr>
        <p:spPr>
          <a:xfrm>
            <a:off x="4791456" y="3364992"/>
            <a:ext cx="3950208" cy="256032"/>
          </a:xfrm>
          <a:prstGeom prst="rect">
            <a:avLst/>
          </a:prstGeom>
          <a:noFill/>
          <a:ln/>
        </p:spPr>
        <p:txBody>
          <a:bodyPr wrap="square" lIns="0" tIns="0" rIns="0" bIns="0" rtlCol="0" anchor="ctr"/>
          <a:lstStyle/>
          <a:p>
            <a:pPr indent="0" marL="0">
              <a:buNone/>
            </a:pPr>
            <a:r>
              <a:rPr lang="en-US" sz="1000" b="1" dirty="0">
                <a:solidFill>
                  <a:srgbClr val="6A10C0"/>
                </a:solidFill>
                <a:latin typeface="Calibri" pitchFamily="34" charset="0"/>
                <a:ea typeface="Calibri" pitchFamily="34" charset="-122"/>
                <a:cs typeface="Calibri" pitchFamily="34" charset="-120"/>
              </a:rPr>
              <a:t>Use PR Curve when:</a:t>
            </a:r>
            <a:endParaRPr lang="en-US" sz="1000" dirty="0"/>
          </a:p>
        </p:txBody>
      </p:sp>
      <p:sp>
        <p:nvSpPr>
          <p:cNvPr id="41" name="Text 39"/>
          <p:cNvSpPr/>
          <p:nvPr/>
        </p:nvSpPr>
        <p:spPr>
          <a:xfrm>
            <a:off x="4791456" y="3657600"/>
            <a:ext cx="3950208" cy="256032"/>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Positive class is RARE (fraud, disease, failure)</a:t>
            </a:r>
            <a:endParaRPr lang="en-US" sz="950" dirty="0"/>
          </a:p>
        </p:txBody>
      </p:sp>
      <p:sp>
        <p:nvSpPr>
          <p:cNvPr id="42" name="Text 40"/>
          <p:cNvSpPr/>
          <p:nvPr/>
        </p:nvSpPr>
        <p:spPr>
          <a:xfrm>
            <a:off x="4791456" y="3931920"/>
            <a:ext cx="3950208" cy="256032"/>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You care most about DETECTING positives correctly</a:t>
            </a:r>
            <a:endParaRPr lang="en-US" sz="950" dirty="0"/>
          </a:p>
        </p:txBody>
      </p:sp>
      <p:sp>
        <p:nvSpPr>
          <p:cNvPr id="43" name="Text 41"/>
          <p:cNvSpPr/>
          <p:nvPr/>
        </p:nvSpPr>
        <p:spPr>
          <a:xfrm>
            <a:off x="4791456" y="4206240"/>
            <a:ext cx="3950208" cy="256032"/>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ROC-AUC looks inflated due to large TN count</a:t>
            </a:r>
            <a:endParaRPr lang="en-US" sz="950" dirty="0"/>
          </a:p>
        </p:txBody>
      </p:sp>
      <p:sp>
        <p:nvSpPr>
          <p:cNvPr id="44" name="Text 42"/>
          <p:cNvSpPr/>
          <p:nvPr/>
        </p:nvSpPr>
        <p:spPr>
          <a:xfrm>
            <a:off x="4791456" y="4480560"/>
            <a:ext cx="3950208" cy="256032"/>
          </a:xfrm>
          <a:prstGeom prst="rect">
            <a:avLst/>
          </a:prstGeom>
          <a:noFill/>
          <a:ln/>
        </p:spPr>
        <p:txBody>
          <a:bodyPr wrap="square" lIns="0" tIns="0" rIns="0" bIns="0" rtlCol="0" anchor="ctr"/>
          <a:lstStyle/>
          <a:p>
            <a:pPr indent="0" marL="0">
              <a:buNone/>
            </a:pPr>
            <a:r>
              <a:rPr lang="en-US" sz="950" dirty="0">
                <a:solidFill>
                  <a:srgbClr val="101828"/>
                </a:solidFill>
                <a:latin typeface="Calibri" pitchFamily="34" charset="0"/>
                <a:ea typeface="Calibri" pitchFamily="34" charset="-122"/>
                <a:cs typeface="Calibri" pitchFamily="34" charset="-120"/>
              </a:rPr>
              <a:t>- Comparing models on imbalanced datasets</a:t>
            </a:r>
            <a:endParaRPr lang="en-US" sz="950" dirty="0"/>
          </a:p>
        </p:txBody>
      </p:sp>
      <p:sp>
        <p:nvSpPr>
          <p:cNvPr id="45" name="Shape 43"/>
          <p:cNvSpPr/>
          <p:nvPr/>
        </p:nvSpPr>
        <p:spPr>
          <a:xfrm>
            <a:off x="256032" y="5120640"/>
            <a:ext cx="8631936" cy="347472"/>
          </a:xfrm>
          <a:prstGeom prst="roundRect">
            <a:avLst>
              <a:gd name="adj" fmla="val 15789"/>
            </a:avLst>
          </a:prstGeom>
          <a:solidFill>
            <a:srgbClr val="FFFBEC"/>
          </a:solidFill>
          <a:ln w="19050">
            <a:solidFill>
              <a:srgbClr val="D4A010"/>
            </a:solidFill>
            <a:prstDash val="solid"/>
          </a:ln>
        </p:spPr>
      </p:sp>
      <p:sp>
        <p:nvSpPr>
          <p:cNvPr id="46" name="Text 44"/>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ROC-AUC vs PR-AUC: If your positive class is rare (&lt; 10% of data), PR-AUC is a more honest measure of model performance. A model can have high ROC-AUC while having poor PR-AUC on imbalanced data.</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A7E8C">
              <a:alpha val="16000"/>
            </a:srgbClr>
          </a:solidFill>
          <a:ln w="12700">
            <a:solidFill>
              <a:srgbClr val="0A7E8C"/>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Additional Classification Metrics Quick Reference</a:t>
            </a:r>
            <a:endParaRPr lang="en-US" sz="2700" dirty="0"/>
          </a:p>
        </p:txBody>
      </p:sp>
      <p:sp>
        <p:nvSpPr>
          <p:cNvPr id="4" name="Shape 2"/>
          <p:cNvSpPr/>
          <p:nvPr/>
        </p:nvSpPr>
        <p:spPr>
          <a:xfrm>
            <a:off x="274320" y="914400"/>
            <a:ext cx="4160520" cy="1298448"/>
          </a:xfrm>
          <a:prstGeom prst="roundRect">
            <a:avLst>
              <a:gd name="adj" fmla="val 5634"/>
            </a:avLst>
          </a:prstGeom>
          <a:solidFill>
            <a:srgbClr val="101828"/>
          </a:solidFill>
          <a:ln w="12700">
            <a:solidFill>
              <a:srgbClr val="9840E0"/>
            </a:solidFill>
            <a:prstDash val="solid"/>
          </a:ln>
        </p:spPr>
      </p:sp>
      <p:sp>
        <p:nvSpPr>
          <p:cNvPr id="5" name="Shape 3"/>
          <p:cNvSpPr/>
          <p:nvPr/>
        </p:nvSpPr>
        <p:spPr>
          <a:xfrm>
            <a:off x="365760" y="987552"/>
            <a:ext cx="960120" cy="256032"/>
          </a:xfrm>
          <a:prstGeom prst="roundRect">
            <a:avLst>
              <a:gd name="adj" fmla="val 14286"/>
            </a:avLst>
          </a:prstGeom>
          <a:solidFill>
            <a:srgbClr val="9840E0"/>
          </a:solidFill>
          <a:ln w="12700">
            <a:solidFill>
              <a:srgbClr val="9840E0"/>
            </a:solidFill>
            <a:prstDash val="solid"/>
          </a:ln>
        </p:spPr>
      </p:sp>
      <p:sp>
        <p:nvSpPr>
          <p:cNvPr id="6" name="Text 4"/>
          <p:cNvSpPr/>
          <p:nvPr/>
        </p:nvSpPr>
        <p:spPr>
          <a:xfrm>
            <a:off x="365760" y="987552"/>
            <a:ext cx="960120" cy="256032"/>
          </a:xfrm>
          <a:prstGeom prst="rect">
            <a:avLst/>
          </a:prstGeom>
          <a:noFill/>
          <a:ln/>
        </p:spPr>
        <p:txBody>
          <a:bodyPr wrap="square" lIns="0" tIns="0" rIns="0" bIns="0" rtlCol="0" anchor="ctr"/>
          <a:lstStyle/>
          <a:p>
            <a:pPr algn="ctr" indent="0" marL="0">
              <a:buNone/>
            </a:pPr>
            <a:r>
              <a:rPr lang="en-US" sz="950" b="1" dirty="0">
                <a:solidFill>
                  <a:srgbClr val="080E1C"/>
                </a:solidFill>
                <a:latin typeface="Calibri" pitchFamily="34" charset="0"/>
                <a:ea typeface="Calibri" pitchFamily="34" charset="-122"/>
                <a:cs typeface="Calibri" pitchFamily="34" charset="-120"/>
              </a:rPr>
              <a:t>Log Loss</a:t>
            </a:r>
            <a:endParaRPr lang="en-US" sz="950" dirty="0"/>
          </a:p>
        </p:txBody>
      </p:sp>
      <p:sp>
        <p:nvSpPr>
          <p:cNvPr id="7" name="Text 5"/>
          <p:cNvSpPr/>
          <p:nvPr/>
        </p:nvSpPr>
        <p:spPr>
          <a:xfrm>
            <a:off x="1389888" y="1005840"/>
            <a:ext cx="2944368" cy="237744"/>
          </a:xfrm>
          <a:prstGeom prst="rect">
            <a:avLst/>
          </a:prstGeom>
          <a:noFill/>
          <a:ln/>
        </p:spPr>
        <p:txBody>
          <a:bodyPr wrap="square" lIns="0" tIns="0" rIns="0" bIns="0" rtlCol="0" anchor="ctr"/>
          <a:lstStyle/>
          <a:p>
            <a:pPr indent="0" marL="0">
              <a:buNone/>
            </a:pPr>
            <a:r>
              <a:rPr lang="en-US" sz="900" dirty="0">
                <a:solidFill>
                  <a:srgbClr val="9840E0"/>
                </a:solidFill>
                <a:latin typeface="Courier New" pitchFamily="34" charset="0"/>
                <a:ea typeface="Courier New" pitchFamily="34" charset="-122"/>
                <a:cs typeface="Courier New" pitchFamily="34" charset="-120"/>
              </a:rPr>
              <a:t>-(1/N)Σ[y·log(p)+(1-y)·log(1-p)]</a:t>
            </a:r>
            <a:endParaRPr lang="en-US" sz="900" dirty="0"/>
          </a:p>
        </p:txBody>
      </p:sp>
      <p:sp>
        <p:nvSpPr>
          <p:cNvPr id="8" name="Text 6"/>
          <p:cNvSpPr/>
          <p:nvPr/>
        </p:nvSpPr>
        <p:spPr>
          <a:xfrm>
            <a:off x="384048" y="1316736"/>
            <a:ext cx="3913632" cy="219456"/>
          </a:xfrm>
          <a:prstGeom prst="rect">
            <a:avLst/>
          </a:prstGeom>
          <a:noFill/>
          <a:ln/>
        </p:spPr>
        <p:txBody>
          <a:bodyPr wrap="square" lIns="0" tIns="0" rIns="0" bIns="0" rtlCol="0" anchor="ctr"/>
          <a:lstStyle/>
          <a:p>
            <a:pPr indent="0" marL="0">
              <a:buNone/>
            </a:pPr>
            <a:r>
              <a:rPr lang="en-US" sz="900" dirty="0">
                <a:solidFill>
                  <a:srgbClr val="90A8C8"/>
                </a:solidFill>
                <a:latin typeface="Calibri" pitchFamily="34" charset="0"/>
                <a:ea typeface="Calibri" pitchFamily="34" charset="-122"/>
                <a:cs typeface="Calibri" pitchFamily="34" charset="-120"/>
              </a:rPr>
              <a:t>Range: 0→inf (lower better)</a:t>
            </a:r>
            <a:endParaRPr lang="en-US" sz="900" dirty="0"/>
          </a:p>
        </p:txBody>
      </p:sp>
      <p:sp>
        <p:nvSpPr>
          <p:cNvPr id="9" name="Text 7"/>
          <p:cNvSpPr/>
          <p:nvPr/>
        </p:nvSpPr>
        <p:spPr>
          <a:xfrm>
            <a:off x="384048" y="1554480"/>
            <a:ext cx="3913632"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Probability calibration quality. Penalises confident wrong predictions heavily. Standard NNet/logistic training loss.</a:t>
            </a:r>
            <a:endParaRPr lang="en-US" sz="850" dirty="0"/>
          </a:p>
        </p:txBody>
      </p:sp>
      <p:sp>
        <p:nvSpPr>
          <p:cNvPr id="10" name="Shape 8"/>
          <p:cNvSpPr/>
          <p:nvPr/>
        </p:nvSpPr>
        <p:spPr>
          <a:xfrm>
            <a:off x="274320" y="2304288"/>
            <a:ext cx="4160520" cy="1298448"/>
          </a:xfrm>
          <a:prstGeom prst="roundRect">
            <a:avLst>
              <a:gd name="adj" fmla="val 5634"/>
            </a:avLst>
          </a:prstGeom>
          <a:solidFill>
            <a:srgbClr val="101828"/>
          </a:solidFill>
          <a:ln w="12700">
            <a:solidFill>
              <a:srgbClr val="14B8C8"/>
            </a:solidFill>
            <a:prstDash val="solid"/>
          </a:ln>
        </p:spPr>
      </p:sp>
      <p:sp>
        <p:nvSpPr>
          <p:cNvPr id="11" name="Shape 9"/>
          <p:cNvSpPr/>
          <p:nvPr/>
        </p:nvSpPr>
        <p:spPr>
          <a:xfrm>
            <a:off x="365760" y="2377440"/>
            <a:ext cx="960120" cy="256032"/>
          </a:xfrm>
          <a:prstGeom prst="roundRect">
            <a:avLst>
              <a:gd name="adj" fmla="val 14286"/>
            </a:avLst>
          </a:prstGeom>
          <a:solidFill>
            <a:srgbClr val="14B8C8"/>
          </a:solidFill>
          <a:ln w="12700">
            <a:solidFill>
              <a:srgbClr val="14B8C8"/>
            </a:solidFill>
            <a:prstDash val="solid"/>
          </a:ln>
        </p:spPr>
      </p:sp>
      <p:sp>
        <p:nvSpPr>
          <p:cNvPr id="12" name="Text 10"/>
          <p:cNvSpPr/>
          <p:nvPr/>
        </p:nvSpPr>
        <p:spPr>
          <a:xfrm>
            <a:off x="365760" y="2377440"/>
            <a:ext cx="960120" cy="256032"/>
          </a:xfrm>
          <a:prstGeom prst="rect">
            <a:avLst/>
          </a:prstGeom>
          <a:noFill/>
          <a:ln/>
        </p:spPr>
        <p:txBody>
          <a:bodyPr wrap="square" lIns="0" tIns="0" rIns="0" bIns="0" rtlCol="0" anchor="ctr"/>
          <a:lstStyle/>
          <a:p>
            <a:pPr algn="ctr" indent="0" marL="0">
              <a:buNone/>
            </a:pPr>
            <a:r>
              <a:rPr lang="en-US" sz="950" b="1" dirty="0">
                <a:solidFill>
                  <a:srgbClr val="080E1C"/>
                </a:solidFill>
                <a:latin typeface="Calibri" pitchFamily="34" charset="0"/>
                <a:ea typeface="Calibri" pitchFamily="34" charset="-122"/>
                <a:cs typeface="Calibri" pitchFamily="34" charset="-120"/>
              </a:rPr>
              <a:t>Cohen's Kappa</a:t>
            </a:r>
            <a:endParaRPr lang="en-US" sz="950" dirty="0"/>
          </a:p>
        </p:txBody>
      </p:sp>
      <p:sp>
        <p:nvSpPr>
          <p:cNvPr id="13" name="Text 11"/>
          <p:cNvSpPr/>
          <p:nvPr/>
        </p:nvSpPr>
        <p:spPr>
          <a:xfrm>
            <a:off x="1389888" y="2395728"/>
            <a:ext cx="2944368" cy="237744"/>
          </a:xfrm>
          <a:prstGeom prst="rect">
            <a:avLst/>
          </a:prstGeom>
          <a:noFill/>
          <a:ln/>
        </p:spPr>
        <p:txBody>
          <a:bodyPr wrap="square" lIns="0" tIns="0" rIns="0" bIns="0" rtlCol="0" anchor="ctr"/>
          <a:lstStyle/>
          <a:p>
            <a:pPr indent="0" marL="0">
              <a:buNone/>
            </a:pPr>
            <a:r>
              <a:rPr lang="en-US" sz="900" dirty="0">
                <a:solidFill>
                  <a:srgbClr val="14B8C8"/>
                </a:solidFill>
                <a:latin typeface="Courier New" pitchFamily="34" charset="0"/>
                <a:ea typeface="Courier New" pitchFamily="34" charset="-122"/>
                <a:cs typeface="Courier New" pitchFamily="34" charset="-120"/>
              </a:rPr>
              <a:t>(Obs Acc - Exp Acc)/(1 - Exp Acc)</a:t>
            </a:r>
            <a:endParaRPr lang="en-US" sz="900" dirty="0"/>
          </a:p>
        </p:txBody>
      </p:sp>
      <p:sp>
        <p:nvSpPr>
          <p:cNvPr id="14" name="Text 12"/>
          <p:cNvSpPr/>
          <p:nvPr/>
        </p:nvSpPr>
        <p:spPr>
          <a:xfrm>
            <a:off x="384048" y="2706624"/>
            <a:ext cx="3913632" cy="219456"/>
          </a:xfrm>
          <a:prstGeom prst="rect">
            <a:avLst/>
          </a:prstGeom>
          <a:noFill/>
          <a:ln/>
        </p:spPr>
        <p:txBody>
          <a:bodyPr wrap="square" lIns="0" tIns="0" rIns="0" bIns="0" rtlCol="0" anchor="ctr"/>
          <a:lstStyle/>
          <a:p>
            <a:pPr indent="0" marL="0">
              <a:buNone/>
            </a:pPr>
            <a:r>
              <a:rPr lang="en-US" sz="900" dirty="0">
                <a:solidFill>
                  <a:srgbClr val="90A8C8"/>
                </a:solidFill>
                <a:latin typeface="Calibri" pitchFamily="34" charset="0"/>
                <a:ea typeface="Calibri" pitchFamily="34" charset="-122"/>
                <a:cs typeface="Calibri" pitchFamily="34" charset="-120"/>
              </a:rPr>
              <a:t>Range: -1 to +1 (higher better)</a:t>
            </a:r>
            <a:endParaRPr lang="en-US" sz="900" dirty="0"/>
          </a:p>
        </p:txBody>
      </p:sp>
      <p:sp>
        <p:nvSpPr>
          <p:cNvPr id="15" name="Text 13"/>
          <p:cNvSpPr/>
          <p:nvPr/>
        </p:nvSpPr>
        <p:spPr>
          <a:xfrm>
            <a:off x="384048" y="2944368"/>
            <a:ext cx="3913632"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How much better than random? Kappa=0: no better than chance. Corrects accuracy for class imbalance. Kappa&gt;0.8: almost perfect.</a:t>
            </a:r>
            <a:endParaRPr lang="en-US" sz="850" dirty="0"/>
          </a:p>
        </p:txBody>
      </p:sp>
      <p:sp>
        <p:nvSpPr>
          <p:cNvPr id="16" name="Shape 14"/>
          <p:cNvSpPr/>
          <p:nvPr/>
        </p:nvSpPr>
        <p:spPr>
          <a:xfrm>
            <a:off x="274320" y="3694176"/>
            <a:ext cx="4160520" cy="1298448"/>
          </a:xfrm>
          <a:prstGeom prst="roundRect">
            <a:avLst>
              <a:gd name="adj" fmla="val 5634"/>
            </a:avLst>
          </a:prstGeom>
          <a:solidFill>
            <a:srgbClr val="101828"/>
          </a:solidFill>
          <a:ln w="12700">
            <a:solidFill>
              <a:srgbClr val="D4A010"/>
            </a:solidFill>
            <a:prstDash val="solid"/>
          </a:ln>
        </p:spPr>
      </p:sp>
      <p:sp>
        <p:nvSpPr>
          <p:cNvPr id="17" name="Shape 15"/>
          <p:cNvSpPr/>
          <p:nvPr/>
        </p:nvSpPr>
        <p:spPr>
          <a:xfrm>
            <a:off x="365760" y="3767328"/>
            <a:ext cx="960120" cy="256032"/>
          </a:xfrm>
          <a:prstGeom prst="roundRect">
            <a:avLst>
              <a:gd name="adj" fmla="val 14286"/>
            </a:avLst>
          </a:prstGeom>
          <a:solidFill>
            <a:srgbClr val="D4A010"/>
          </a:solidFill>
          <a:ln w="12700">
            <a:solidFill>
              <a:srgbClr val="D4A010"/>
            </a:solidFill>
            <a:prstDash val="solid"/>
          </a:ln>
        </p:spPr>
      </p:sp>
      <p:sp>
        <p:nvSpPr>
          <p:cNvPr id="18" name="Text 16"/>
          <p:cNvSpPr/>
          <p:nvPr/>
        </p:nvSpPr>
        <p:spPr>
          <a:xfrm>
            <a:off x="365760" y="3767328"/>
            <a:ext cx="960120" cy="256032"/>
          </a:xfrm>
          <a:prstGeom prst="rect">
            <a:avLst/>
          </a:prstGeom>
          <a:noFill/>
          <a:ln/>
        </p:spPr>
        <p:txBody>
          <a:bodyPr wrap="square" lIns="0" tIns="0" rIns="0" bIns="0" rtlCol="0" anchor="ctr"/>
          <a:lstStyle/>
          <a:p>
            <a:pPr algn="ctr" indent="0" marL="0">
              <a:buNone/>
            </a:pPr>
            <a:r>
              <a:rPr lang="en-US" sz="950" b="1" dirty="0">
                <a:solidFill>
                  <a:srgbClr val="080E1C"/>
                </a:solidFill>
                <a:latin typeface="Calibri" pitchFamily="34" charset="0"/>
                <a:ea typeface="Calibri" pitchFamily="34" charset="-122"/>
                <a:cs typeface="Calibri" pitchFamily="34" charset="-120"/>
              </a:rPr>
              <a:t>Balanced Accuracy</a:t>
            </a:r>
            <a:endParaRPr lang="en-US" sz="950" dirty="0"/>
          </a:p>
        </p:txBody>
      </p:sp>
      <p:sp>
        <p:nvSpPr>
          <p:cNvPr id="19" name="Text 17"/>
          <p:cNvSpPr/>
          <p:nvPr/>
        </p:nvSpPr>
        <p:spPr>
          <a:xfrm>
            <a:off x="1389888" y="3785616"/>
            <a:ext cx="2944368" cy="237744"/>
          </a:xfrm>
          <a:prstGeom prst="rect">
            <a:avLst/>
          </a:prstGeom>
          <a:noFill/>
          <a:ln/>
        </p:spPr>
        <p:txBody>
          <a:bodyPr wrap="square" lIns="0" tIns="0" rIns="0" bIns="0" rtlCol="0" anchor="ctr"/>
          <a:lstStyle/>
          <a:p>
            <a:pPr indent="0" marL="0">
              <a:buNone/>
            </a:pPr>
            <a:r>
              <a:rPr lang="en-US" sz="900" dirty="0">
                <a:solidFill>
                  <a:srgbClr val="D4A010"/>
                </a:solidFill>
                <a:latin typeface="Courier New" pitchFamily="34" charset="0"/>
                <a:ea typeface="Courier New" pitchFamily="34" charset="-122"/>
                <a:cs typeface="Courier New" pitchFamily="34" charset="-120"/>
              </a:rPr>
              <a:t>(Sensitivity + Specificity) / 2</a:t>
            </a:r>
            <a:endParaRPr lang="en-US" sz="900" dirty="0"/>
          </a:p>
        </p:txBody>
      </p:sp>
      <p:sp>
        <p:nvSpPr>
          <p:cNvPr id="20" name="Text 18"/>
          <p:cNvSpPr/>
          <p:nvPr/>
        </p:nvSpPr>
        <p:spPr>
          <a:xfrm>
            <a:off x="384048" y="4096512"/>
            <a:ext cx="3913632" cy="219456"/>
          </a:xfrm>
          <a:prstGeom prst="rect">
            <a:avLst/>
          </a:prstGeom>
          <a:noFill/>
          <a:ln/>
        </p:spPr>
        <p:txBody>
          <a:bodyPr wrap="square" lIns="0" tIns="0" rIns="0" bIns="0" rtlCol="0" anchor="ctr"/>
          <a:lstStyle/>
          <a:p>
            <a:pPr indent="0" marL="0">
              <a:buNone/>
            </a:pPr>
            <a:r>
              <a:rPr lang="en-US" sz="900" dirty="0">
                <a:solidFill>
                  <a:srgbClr val="90A8C8"/>
                </a:solidFill>
                <a:latin typeface="Calibri" pitchFamily="34" charset="0"/>
                <a:ea typeface="Calibri" pitchFamily="34" charset="-122"/>
                <a:cs typeface="Calibri" pitchFamily="34" charset="-120"/>
              </a:rPr>
              <a:t>Range: 0.5 to 1.0 (higher better)</a:t>
            </a:r>
            <a:endParaRPr lang="en-US" sz="900" dirty="0"/>
          </a:p>
        </p:txBody>
      </p:sp>
      <p:sp>
        <p:nvSpPr>
          <p:cNvPr id="21" name="Text 19"/>
          <p:cNvSpPr/>
          <p:nvPr/>
        </p:nvSpPr>
        <p:spPr>
          <a:xfrm>
            <a:off x="384048" y="4334256"/>
            <a:ext cx="3913632"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Accuracy corrected for class imbalance. Equivalent to accuracy on balanced dataset. Use instead of accuracy for imbalanced data.</a:t>
            </a:r>
            <a:endParaRPr lang="en-US" sz="850" dirty="0"/>
          </a:p>
        </p:txBody>
      </p:sp>
      <p:sp>
        <p:nvSpPr>
          <p:cNvPr id="22" name="Shape 20"/>
          <p:cNvSpPr/>
          <p:nvPr/>
        </p:nvSpPr>
        <p:spPr>
          <a:xfrm>
            <a:off x="4736592" y="914400"/>
            <a:ext cx="4160520" cy="1298448"/>
          </a:xfrm>
          <a:prstGeom prst="roundRect">
            <a:avLst>
              <a:gd name="adj" fmla="val 5634"/>
            </a:avLst>
          </a:prstGeom>
          <a:solidFill>
            <a:srgbClr val="101828"/>
          </a:solidFill>
          <a:ln w="12700">
            <a:solidFill>
              <a:srgbClr val="14C870"/>
            </a:solidFill>
            <a:prstDash val="solid"/>
          </a:ln>
        </p:spPr>
      </p:sp>
      <p:sp>
        <p:nvSpPr>
          <p:cNvPr id="23" name="Shape 21"/>
          <p:cNvSpPr/>
          <p:nvPr/>
        </p:nvSpPr>
        <p:spPr>
          <a:xfrm>
            <a:off x="4828032" y="987552"/>
            <a:ext cx="960120" cy="256032"/>
          </a:xfrm>
          <a:prstGeom prst="roundRect">
            <a:avLst>
              <a:gd name="adj" fmla="val 14286"/>
            </a:avLst>
          </a:prstGeom>
          <a:solidFill>
            <a:srgbClr val="14C870"/>
          </a:solidFill>
          <a:ln w="12700">
            <a:solidFill>
              <a:srgbClr val="14C870"/>
            </a:solidFill>
            <a:prstDash val="solid"/>
          </a:ln>
        </p:spPr>
      </p:sp>
      <p:sp>
        <p:nvSpPr>
          <p:cNvPr id="24" name="Text 22"/>
          <p:cNvSpPr/>
          <p:nvPr/>
        </p:nvSpPr>
        <p:spPr>
          <a:xfrm>
            <a:off x="4828032" y="987552"/>
            <a:ext cx="960120" cy="256032"/>
          </a:xfrm>
          <a:prstGeom prst="rect">
            <a:avLst/>
          </a:prstGeom>
          <a:noFill/>
          <a:ln/>
        </p:spPr>
        <p:txBody>
          <a:bodyPr wrap="square" lIns="0" tIns="0" rIns="0" bIns="0" rtlCol="0" anchor="ctr"/>
          <a:lstStyle/>
          <a:p>
            <a:pPr algn="ctr" indent="0" marL="0">
              <a:buNone/>
            </a:pPr>
            <a:r>
              <a:rPr lang="en-US" sz="950" b="1" dirty="0">
                <a:solidFill>
                  <a:srgbClr val="080E1C"/>
                </a:solidFill>
                <a:latin typeface="Calibri" pitchFamily="34" charset="0"/>
                <a:ea typeface="Calibri" pitchFamily="34" charset="-122"/>
                <a:cs typeface="Calibri" pitchFamily="34" charset="-120"/>
              </a:rPr>
              <a:t>G-Mean</a:t>
            </a:r>
            <a:endParaRPr lang="en-US" sz="950" dirty="0"/>
          </a:p>
        </p:txBody>
      </p:sp>
      <p:sp>
        <p:nvSpPr>
          <p:cNvPr id="25" name="Text 23"/>
          <p:cNvSpPr/>
          <p:nvPr/>
        </p:nvSpPr>
        <p:spPr>
          <a:xfrm>
            <a:off x="5852160" y="1005840"/>
            <a:ext cx="2944368" cy="237744"/>
          </a:xfrm>
          <a:prstGeom prst="rect">
            <a:avLst/>
          </a:prstGeom>
          <a:noFill/>
          <a:ln/>
        </p:spPr>
        <p:txBody>
          <a:bodyPr wrap="square" lIns="0" tIns="0" rIns="0" bIns="0" rtlCol="0" anchor="ctr"/>
          <a:lstStyle/>
          <a:p>
            <a:pPr indent="0" marL="0">
              <a:buNone/>
            </a:pPr>
            <a:r>
              <a:rPr lang="en-US" sz="900" dirty="0">
                <a:solidFill>
                  <a:srgbClr val="14C870"/>
                </a:solidFill>
                <a:latin typeface="Courier New" pitchFamily="34" charset="0"/>
                <a:ea typeface="Courier New" pitchFamily="34" charset="-122"/>
                <a:cs typeface="Courier New" pitchFamily="34" charset="-120"/>
              </a:rPr>
              <a:t>sqrt(Sensitivity × Specificity)</a:t>
            </a:r>
            <a:endParaRPr lang="en-US" sz="900" dirty="0"/>
          </a:p>
        </p:txBody>
      </p:sp>
      <p:sp>
        <p:nvSpPr>
          <p:cNvPr id="26" name="Text 24"/>
          <p:cNvSpPr/>
          <p:nvPr/>
        </p:nvSpPr>
        <p:spPr>
          <a:xfrm>
            <a:off x="4846320" y="1316736"/>
            <a:ext cx="3913632" cy="219456"/>
          </a:xfrm>
          <a:prstGeom prst="rect">
            <a:avLst/>
          </a:prstGeom>
          <a:noFill/>
          <a:ln/>
        </p:spPr>
        <p:txBody>
          <a:bodyPr wrap="square" lIns="0" tIns="0" rIns="0" bIns="0" rtlCol="0" anchor="ctr"/>
          <a:lstStyle/>
          <a:p>
            <a:pPr indent="0" marL="0">
              <a:buNone/>
            </a:pPr>
            <a:r>
              <a:rPr lang="en-US" sz="900" dirty="0">
                <a:solidFill>
                  <a:srgbClr val="90A8C8"/>
                </a:solidFill>
                <a:latin typeface="Calibri" pitchFamily="34" charset="0"/>
                <a:ea typeface="Calibri" pitchFamily="34" charset="-122"/>
                <a:cs typeface="Calibri" pitchFamily="34" charset="-120"/>
              </a:rPr>
              <a:t>Range: 0 to 1 (higher better)</a:t>
            </a:r>
            <a:endParaRPr lang="en-US" sz="900" dirty="0"/>
          </a:p>
        </p:txBody>
      </p:sp>
      <p:sp>
        <p:nvSpPr>
          <p:cNvPr id="27" name="Text 25"/>
          <p:cNvSpPr/>
          <p:nvPr/>
        </p:nvSpPr>
        <p:spPr>
          <a:xfrm>
            <a:off x="4846320" y="1554480"/>
            <a:ext cx="3913632"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Geometric mean of sensitivity and specificity. Maximise to balance both class performances simultaneously. Good for imbalanced data.</a:t>
            </a:r>
            <a:endParaRPr lang="en-US" sz="850" dirty="0"/>
          </a:p>
        </p:txBody>
      </p:sp>
      <p:sp>
        <p:nvSpPr>
          <p:cNvPr id="28" name="Shape 26"/>
          <p:cNvSpPr/>
          <p:nvPr/>
        </p:nvSpPr>
        <p:spPr>
          <a:xfrm>
            <a:off x="4736592" y="2304288"/>
            <a:ext cx="4160520" cy="1298448"/>
          </a:xfrm>
          <a:prstGeom prst="roundRect">
            <a:avLst>
              <a:gd name="adj" fmla="val 5634"/>
            </a:avLst>
          </a:prstGeom>
          <a:solidFill>
            <a:srgbClr val="101828"/>
          </a:solidFill>
          <a:ln w="12700">
            <a:solidFill>
              <a:srgbClr val="E06A10"/>
            </a:solidFill>
            <a:prstDash val="solid"/>
          </a:ln>
        </p:spPr>
      </p:sp>
      <p:sp>
        <p:nvSpPr>
          <p:cNvPr id="29" name="Shape 27"/>
          <p:cNvSpPr/>
          <p:nvPr/>
        </p:nvSpPr>
        <p:spPr>
          <a:xfrm>
            <a:off x="4828032" y="2377440"/>
            <a:ext cx="960120" cy="256032"/>
          </a:xfrm>
          <a:prstGeom prst="roundRect">
            <a:avLst>
              <a:gd name="adj" fmla="val 14286"/>
            </a:avLst>
          </a:prstGeom>
          <a:solidFill>
            <a:srgbClr val="E06A10"/>
          </a:solidFill>
          <a:ln w="12700">
            <a:solidFill>
              <a:srgbClr val="E06A10"/>
            </a:solidFill>
            <a:prstDash val="solid"/>
          </a:ln>
        </p:spPr>
      </p:sp>
      <p:sp>
        <p:nvSpPr>
          <p:cNvPr id="30" name="Text 28"/>
          <p:cNvSpPr/>
          <p:nvPr/>
        </p:nvSpPr>
        <p:spPr>
          <a:xfrm>
            <a:off x="4828032" y="2377440"/>
            <a:ext cx="960120" cy="256032"/>
          </a:xfrm>
          <a:prstGeom prst="rect">
            <a:avLst/>
          </a:prstGeom>
          <a:noFill/>
          <a:ln/>
        </p:spPr>
        <p:txBody>
          <a:bodyPr wrap="square" lIns="0" tIns="0" rIns="0" bIns="0" rtlCol="0" anchor="ctr"/>
          <a:lstStyle/>
          <a:p>
            <a:pPr algn="ctr" indent="0" marL="0">
              <a:buNone/>
            </a:pPr>
            <a:r>
              <a:rPr lang="en-US" sz="950" b="1" dirty="0">
                <a:solidFill>
                  <a:srgbClr val="080E1C"/>
                </a:solidFill>
                <a:latin typeface="Calibri" pitchFamily="34" charset="0"/>
                <a:ea typeface="Calibri" pitchFamily="34" charset="-122"/>
                <a:cs typeface="Calibri" pitchFamily="34" charset="-120"/>
              </a:rPr>
              <a:t>Average Precision</a:t>
            </a:r>
            <a:endParaRPr lang="en-US" sz="950" dirty="0"/>
          </a:p>
        </p:txBody>
      </p:sp>
      <p:sp>
        <p:nvSpPr>
          <p:cNvPr id="31" name="Text 29"/>
          <p:cNvSpPr/>
          <p:nvPr/>
        </p:nvSpPr>
        <p:spPr>
          <a:xfrm>
            <a:off x="5852160" y="2395728"/>
            <a:ext cx="2944368" cy="237744"/>
          </a:xfrm>
          <a:prstGeom prst="rect">
            <a:avLst/>
          </a:prstGeom>
          <a:noFill/>
          <a:ln/>
        </p:spPr>
        <p:txBody>
          <a:bodyPr wrap="square" lIns="0" tIns="0" rIns="0" bIns="0" rtlCol="0" anchor="ctr"/>
          <a:lstStyle/>
          <a:p>
            <a:pPr indent="0" marL="0">
              <a:buNone/>
            </a:pPr>
            <a:r>
              <a:rPr lang="en-US" sz="900" dirty="0">
                <a:solidFill>
                  <a:srgbClr val="E06A10"/>
                </a:solidFill>
                <a:latin typeface="Courier New" pitchFamily="34" charset="0"/>
                <a:ea typeface="Courier New" pitchFamily="34" charset="-122"/>
                <a:cs typeface="Courier New" pitchFamily="34" charset="-120"/>
              </a:rPr>
              <a:t>Σ[(R_n - R_{n-1}) × P_n]</a:t>
            </a:r>
            <a:endParaRPr lang="en-US" sz="900" dirty="0"/>
          </a:p>
        </p:txBody>
      </p:sp>
      <p:sp>
        <p:nvSpPr>
          <p:cNvPr id="32" name="Text 30"/>
          <p:cNvSpPr/>
          <p:nvPr/>
        </p:nvSpPr>
        <p:spPr>
          <a:xfrm>
            <a:off x="4846320" y="2706624"/>
            <a:ext cx="3913632" cy="219456"/>
          </a:xfrm>
          <a:prstGeom prst="rect">
            <a:avLst/>
          </a:prstGeom>
          <a:noFill/>
          <a:ln/>
        </p:spPr>
        <p:txBody>
          <a:bodyPr wrap="square" lIns="0" tIns="0" rIns="0" bIns="0" rtlCol="0" anchor="ctr"/>
          <a:lstStyle/>
          <a:p>
            <a:pPr indent="0" marL="0">
              <a:buNone/>
            </a:pPr>
            <a:r>
              <a:rPr lang="en-US" sz="900" dirty="0">
                <a:solidFill>
                  <a:srgbClr val="90A8C8"/>
                </a:solidFill>
                <a:latin typeface="Calibri" pitchFamily="34" charset="0"/>
                <a:ea typeface="Calibri" pitchFamily="34" charset="-122"/>
                <a:cs typeface="Calibri" pitchFamily="34" charset="-120"/>
              </a:rPr>
              <a:t>Range: 0 to 1 (higher better)</a:t>
            </a:r>
            <a:endParaRPr lang="en-US" sz="900" dirty="0"/>
          </a:p>
        </p:txBody>
      </p:sp>
      <p:sp>
        <p:nvSpPr>
          <p:cNvPr id="33" name="Text 31"/>
          <p:cNvSpPr/>
          <p:nvPr/>
        </p:nvSpPr>
        <p:spPr>
          <a:xfrm>
            <a:off x="4846320" y="2944368"/>
            <a:ext cx="3913632"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Area under the PR curve. Preferred over PR-AUC by sklearn. Best summary metric for imbalanced binary classifiers.</a:t>
            </a:r>
            <a:endParaRPr lang="en-US" sz="850" dirty="0"/>
          </a:p>
        </p:txBody>
      </p:sp>
      <p:sp>
        <p:nvSpPr>
          <p:cNvPr id="34" name="Shape 32"/>
          <p:cNvSpPr/>
          <p:nvPr/>
        </p:nvSpPr>
        <p:spPr>
          <a:xfrm>
            <a:off x="4736592" y="3694176"/>
            <a:ext cx="4160520" cy="1298448"/>
          </a:xfrm>
          <a:prstGeom prst="roundRect">
            <a:avLst>
              <a:gd name="adj" fmla="val 5634"/>
            </a:avLst>
          </a:prstGeom>
          <a:solidFill>
            <a:srgbClr val="101828"/>
          </a:solidFill>
          <a:ln w="12700">
            <a:solidFill>
              <a:srgbClr val="E02020"/>
            </a:solidFill>
            <a:prstDash val="solid"/>
          </a:ln>
        </p:spPr>
      </p:sp>
      <p:sp>
        <p:nvSpPr>
          <p:cNvPr id="35" name="Shape 33"/>
          <p:cNvSpPr/>
          <p:nvPr/>
        </p:nvSpPr>
        <p:spPr>
          <a:xfrm>
            <a:off x="4828032" y="3767328"/>
            <a:ext cx="960120" cy="256032"/>
          </a:xfrm>
          <a:prstGeom prst="roundRect">
            <a:avLst>
              <a:gd name="adj" fmla="val 14286"/>
            </a:avLst>
          </a:prstGeom>
          <a:solidFill>
            <a:srgbClr val="E02020"/>
          </a:solidFill>
          <a:ln w="12700">
            <a:solidFill>
              <a:srgbClr val="E02020"/>
            </a:solidFill>
            <a:prstDash val="solid"/>
          </a:ln>
        </p:spPr>
      </p:sp>
      <p:sp>
        <p:nvSpPr>
          <p:cNvPr id="36" name="Text 34"/>
          <p:cNvSpPr/>
          <p:nvPr/>
        </p:nvSpPr>
        <p:spPr>
          <a:xfrm>
            <a:off x="4828032" y="3767328"/>
            <a:ext cx="960120" cy="256032"/>
          </a:xfrm>
          <a:prstGeom prst="rect">
            <a:avLst/>
          </a:prstGeom>
          <a:noFill/>
          <a:ln/>
        </p:spPr>
        <p:txBody>
          <a:bodyPr wrap="square" lIns="0" tIns="0" rIns="0" bIns="0" rtlCol="0" anchor="ctr"/>
          <a:lstStyle/>
          <a:p>
            <a:pPr algn="ctr" indent="0" marL="0">
              <a:buNone/>
            </a:pPr>
            <a:r>
              <a:rPr lang="en-US" sz="950" b="1" dirty="0">
                <a:solidFill>
                  <a:srgbClr val="080E1C"/>
                </a:solidFill>
                <a:latin typeface="Calibri" pitchFamily="34" charset="0"/>
                <a:ea typeface="Calibri" pitchFamily="34" charset="-122"/>
                <a:cs typeface="Calibri" pitchFamily="34" charset="-120"/>
              </a:rPr>
              <a:t>Brier Score</a:t>
            </a:r>
            <a:endParaRPr lang="en-US" sz="950" dirty="0"/>
          </a:p>
        </p:txBody>
      </p:sp>
      <p:sp>
        <p:nvSpPr>
          <p:cNvPr id="37" name="Text 35"/>
          <p:cNvSpPr/>
          <p:nvPr/>
        </p:nvSpPr>
        <p:spPr>
          <a:xfrm>
            <a:off x="5852160" y="3785616"/>
            <a:ext cx="2944368" cy="237744"/>
          </a:xfrm>
          <a:prstGeom prst="rect">
            <a:avLst/>
          </a:prstGeom>
          <a:noFill/>
          <a:ln/>
        </p:spPr>
        <p:txBody>
          <a:bodyPr wrap="square" lIns="0" tIns="0" rIns="0" bIns="0" rtlCol="0" anchor="ctr"/>
          <a:lstStyle/>
          <a:p>
            <a:pPr indent="0" marL="0">
              <a:buNone/>
            </a:pPr>
            <a:r>
              <a:rPr lang="en-US" sz="900" dirty="0">
                <a:solidFill>
                  <a:srgbClr val="E02020"/>
                </a:solidFill>
                <a:latin typeface="Courier New" pitchFamily="34" charset="0"/>
                <a:ea typeface="Courier New" pitchFamily="34" charset="-122"/>
                <a:cs typeface="Courier New" pitchFamily="34" charset="-120"/>
              </a:rPr>
              <a:t>(1/N) Σ[(p_i - y_i)²]</a:t>
            </a:r>
            <a:endParaRPr lang="en-US" sz="900" dirty="0"/>
          </a:p>
        </p:txBody>
      </p:sp>
      <p:sp>
        <p:nvSpPr>
          <p:cNvPr id="38" name="Text 36"/>
          <p:cNvSpPr/>
          <p:nvPr/>
        </p:nvSpPr>
        <p:spPr>
          <a:xfrm>
            <a:off x="4846320" y="4096512"/>
            <a:ext cx="3913632" cy="219456"/>
          </a:xfrm>
          <a:prstGeom prst="rect">
            <a:avLst/>
          </a:prstGeom>
          <a:noFill/>
          <a:ln/>
        </p:spPr>
        <p:txBody>
          <a:bodyPr wrap="square" lIns="0" tIns="0" rIns="0" bIns="0" rtlCol="0" anchor="ctr"/>
          <a:lstStyle/>
          <a:p>
            <a:pPr indent="0" marL="0">
              <a:buNone/>
            </a:pPr>
            <a:r>
              <a:rPr lang="en-US" sz="900" dirty="0">
                <a:solidFill>
                  <a:srgbClr val="90A8C8"/>
                </a:solidFill>
                <a:latin typeface="Calibri" pitchFamily="34" charset="0"/>
                <a:ea typeface="Calibri" pitchFamily="34" charset="-122"/>
                <a:cs typeface="Calibri" pitchFamily="34" charset="-120"/>
              </a:rPr>
              <a:t>Range: 0 to 1 (lower better)</a:t>
            </a:r>
            <a:endParaRPr lang="en-US" sz="900" dirty="0"/>
          </a:p>
        </p:txBody>
      </p:sp>
      <p:sp>
        <p:nvSpPr>
          <p:cNvPr id="39" name="Text 37"/>
          <p:cNvSpPr/>
          <p:nvPr/>
        </p:nvSpPr>
        <p:spPr>
          <a:xfrm>
            <a:off x="4846320" y="4334256"/>
            <a:ext cx="3913632"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Mean squared error of probability predictions. Combines discrimination and calibration. 0=perfect. 0.25=random (50% base rate).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ML METRICS  |  SECTION 06</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Regression Metrics</a:t>
            </a:r>
            <a:endParaRPr lang="en-US" sz="38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MAE, MSE, RMSE, R², MAPE, Huber - measuring numerical prediction quality</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80E1C"/>
          </a:solidFill>
          <a:ln w="12700">
            <a:solidFill>
              <a:srgbClr val="080E1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All Regression Metrics with Formulas, Ranges and Use Cases</a:t>
            </a:r>
            <a:endParaRPr lang="en-US" sz="2100" dirty="0"/>
          </a:p>
        </p:txBody>
      </p:sp>
      <p:sp>
        <p:nvSpPr>
          <p:cNvPr id="4" name="Shape 2"/>
          <p:cNvSpPr/>
          <p:nvPr/>
        </p:nvSpPr>
        <p:spPr>
          <a:xfrm>
            <a:off x="228600" y="1024128"/>
            <a:ext cx="4160520" cy="1261872"/>
          </a:xfrm>
          <a:prstGeom prst="roundRect">
            <a:avLst>
              <a:gd name="adj" fmla="val 5797"/>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01752" y="1097280"/>
            <a:ext cx="566928" cy="256032"/>
          </a:xfrm>
          <a:prstGeom prst="roundRect">
            <a:avLst>
              <a:gd name="adj" fmla="val 14286"/>
            </a:avLst>
          </a:prstGeom>
          <a:solidFill>
            <a:srgbClr val="0A7E8C"/>
          </a:solidFill>
          <a:ln w="12700">
            <a:solidFill>
              <a:srgbClr val="0A7E8C"/>
            </a:solidFill>
            <a:prstDash val="solid"/>
          </a:ln>
        </p:spPr>
      </p:sp>
      <p:sp>
        <p:nvSpPr>
          <p:cNvPr id="6" name="Text 4"/>
          <p:cNvSpPr/>
          <p:nvPr/>
        </p:nvSpPr>
        <p:spPr>
          <a:xfrm>
            <a:off x="301752" y="1097280"/>
            <a:ext cx="56692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MAE</a:t>
            </a:r>
            <a:endParaRPr lang="en-US" sz="1200" dirty="0"/>
          </a:p>
        </p:txBody>
      </p:sp>
      <p:sp>
        <p:nvSpPr>
          <p:cNvPr id="7" name="Text 5"/>
          <p:cNvSpPr/>
          <p:nvPr/>
        </p:nvSpPr>
        <p:spPr>
          <a:xfrm>
            <a:off x="941832" y="1115568"/>
            <a:ext cx="3364992" cy="237744"/>
          </a:xfrm>
          <a:prstGeom prst="rect">
            <a:avLst/>
          </a:prstGeom>
          <a:noFill/>
          <a:ln/>
        </p:spPr>
        <p:txBody>
          <a:bodyPr wrap="square" lIns="0" tIns="0" rIns="0" bIns="0" rtlCol="0" anchor="ctr"/>
          <a:lstStyle/>
          <a:p>
            <a:pPr indent="0" marL="0">
              <a:buNone/>
            </a:pPr>
            <a:r>
              <a:rPr lang="en-US" sz="1100" b="1" dirty="0">
                <a:solidFill>
                  <a:srgbClr val="0A7E8C"/>
                </a:solidFill>
                <a:latin typeface="Courier New" pitchFamily="34" charset="0"/>
                <a:ea typeface="Courier New" pitchFamily="34" charset="-122"/>
                <a:cs typeface="Courier New" pitchFamily="34" charset="-120"/>
              </a:rPr>
              <a:t>(1/N)Σ|y - ŷ|</a:t>
            </a:r>
            <a:endParaRPr lang="en-US" sz="1100" dirty="0"/>
          </a:p>
        </p:txBody>
      </p:sp>
      <p:sp>
        <p:nvSpPr>
          <p:cNvPr id="8" name="Text 6"/>
          <p:cNvSpPr/>
          <p:nvPr/>
        </p:nvSpPr>
        <p:spPr>
          <a:xfrm>
            <a:off x="320040" y="1426464"/>
            <a:ext cx="3950208"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Range: 0→∞ lower=better   Units: Same as target   Outlier robust: High</a:t>
            </a:r>
            <a:endParaRPr lang="en-US" sz="850" dirty="0"/>
          </a:p>
        </p:txBody>
      </p:sp>
      <p:sp>
        <p:nvSpPr>
          <p:cNvPr id="9" name="Text 7"/>
          <p:cNvSpPr/>
          <p:nvPr/>
        </p:nvSpPr>
        <p:spPr>
          <a:xfrm>
            <a:off x="320040" y="1645920"/>
            <a:ext cx="3950208" cy="256032"/>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Equal cost for any error size. Intuitive interpretation.</a:t>
            </a:r>
            <a:endParaRPr lang="en-US" sz="900" dirty="0"/>
          </a:p>
        </p:txBody>
      </p:sp>
      <p:sp>
        <p:nvSpPr>
          <p:cNvPr id="10" name="Text 8"/>
          <p:cNvSpPr/>
          <p:nvPr/>
        </p:nvSpPr>
        <p:spPr>
          <a:xfrm>
            <a:off x="320040" y="1938528"/>
            <a:ext cx="3950208" cy="274320"/>
          </a:xfrm>
          <a:prstGeom prst="rect">
            <a:avLst/>
          </a:prstGeom>
          <a:noFill/>
          <a:ln/>
        </p:spPr>
        <p:txBody>
          <a:bodyPr wrap="square" lIns="0" tIns="0" rIns="0" bIns="0" rtlCol="0" anchor="ctr"/>
          <a:lstStyle/>
          <a:p>
            <a:pPr indent="0" marL="0">
              <a:buNone/>
            </a:pPr>
            <a:r>
              <a:rPr lang="en-US" sz="850" b="1" dirty="0">
                <a:solidFill>
                  <a:srgbClr val="0A7E8C"/>
                </a:solidFill>
                <a:latin typeface="Calibri" pitchFamily="34" charset="0"/>
                <a:ea typeface="Calibri" pitchFamily="34" charset="-122"/>
                <a:cs typeface="Calibri" pitchFamily="34" charset="-120"/>
              </a:rPr>
              <a:t>e.g. </a:t>
            </a:r>
            <a:pPr indent="0" marL="0">
              <a:buNone/>
            </a:pPr>
            <a:r>
              <a:rPr lang="en-US" sz="850" i="1" dirty="0">
                <a:solidFill>
                  <a:srgbClr val="64748B"/>
                </a:solidFill>
                <a:latin typeface="Calibri" pitchFamily="34" charset="0"/>
                <a:ea typeface="Calibri" pitchFamily="34" charset="-122"/>
                <a:cs typeface="Calibri" pitchFamily="34" charset="-120"/>
              </a:rPr>
              <a:t>MAE=N2.4M for house prices: on average, predictions are N2.4M from actual</a:t>
            </a:r>
            <a:endParaRPr lang="en-US" sz="850" dirty="0"/>
          </a:p>
        </p:txBody>
      </p:sp>
      <p:sp>
        <p:nvSpPr>
          <p:cNvPr id="11" name="Shape 9"/>
          <p:cNvSpPr/>
          <p:nvPr/>
        </p:nvSpPr>
        <p:spPr>
          <a:xfrm>
            <a:off x="228600" y="2377440"/>
            <a:ext cx="4160520" cy="1261872"/>
          </a:xfrm>
          <a:prstGeom prst="roundRect">
            <a:avLst>
              <a:gd name="adj" fmla="val 5797"/>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01752" y="2450592"/>
            <a:ext cx="566928" cy="256032"/>
          </a:xfrm>
          <a:prstGeom prst="roundRect">
            <a:avLst>
              <a:gd name="adj" fmla="val 14286"/>
            </a:avLst>
          </a:prstGeom>
          <a:solidFill>
            <a:srgbClr val="E06A10"/>
          </a:solidFill>
          <a:ln w="12700">
            <a:solidFill>
              <a:srgbClr val="E06A10"/>
            </a:solidFill>
            <a:prstDash val="solid"/>
          </a:ln>
        </p:spPr>
      </p:sp>
      <p:sp>
        <p:nvSpPr>
          <p:cNvPr id="13" name="Text 11"/>
          <p:cNvSpPr/>
          <p:nvPr/>
        </p:nvSpPr>
        <p:spPr>
          <a:xfrm>
            <a:off x="301752" y="2450592"/>
            <a:ext cx="56692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MSE</a:t>
            </a:r>
            <a:endParaRPr lang="en-US" sz="1200" dirty="0"/>
          </a:p>
        </p:txBody>
      </p:sp>
      <p:sp>
        <p:nvSpPr>
          <p:cNvPr id="14" name="Text 12"/>
          <p:cNvSpPr/>
          <p:nvPr/>
        </p:nvSpPr>
        <p:spPr>
          <a:xfrm>
            <a:off x="941832" y="2468880"/>
            <a:ext cx="3364992" cy="237744"/>
          </a:xfrm>
          <a:prstGeom prst="rect">
            <a:avLst/>
          </a:prstGeom>
          <a:noFill/>
          <a:ln/>
        </p:spPr>
        <p:txBody>
          <a:bodyPr wrap="square" lIns="0" tIns="0" rIns="0" bIns="0" rtlCol="0" anchor="ctr"/>
          <a:lstStyle/>
          <a:p>
            <a:pPr indent="0" marL="0">
              <a:buNone/>
            </a:pPr>
            <a:r>
              <a:rPr lang="en-US" sz="1100" b="1" dirty="0">
                <a:solidFill>
                  <a:srgbClr val="E06A10"/>
                </a:solidFill>
                <a:latin typeface="Courier New" pitchFamily="34" charset="0"/>
                <a:ea typeface="Courier New" pitchFamily="34" charset="-122"/>
                <a:cs typeface="Courier New" pitchFamily="34" charset="-120"/>
              </a:rPr>
              <a:t>(1/N)Σ(y - ŷ)²</a:t>
            </a:r>
            <a:endParaRPr lang="en-US" sz="1100" dirty="0"/>
          </a:p>
        </p:txBody>
      </p:sp>
      <p:sp>
        <p:nvSpPr>
          <p:cNvPr id="15" name="Text 13"/>
          <p:cNvSpPr/>
          <p:nvPr/>
        </p:nvSpPr>
        <p:spPr>
          <a:xfrm>
            <a:off x="320040" y="2779776"/>
            <a:ext cx="3950208"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Range: 0→∞ lower=better   Units: Squared units   Outlier robust: Low</a:t>
            </a:r>
            <a:endParaRPr lang="en-US" sz="850" dirty="0"/>
          </a:p>
        </p:txBody>
      </p:sp>
      <p:sp>
        <p:nvSpPr>
          <p:cNvPr id="16" name="Text 14"/>
          <p:cNvSpPr/>
          <p:nvPr/>
        </p:nvSpPr>
        <p:spPr>
          <a:xfrm>
            <a:off x="320040" y="2999232"/>
            <a:ext cx="3950208" cy="256032"/>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Large errors much more costly. Standard gradient-based training loss.</a:t>
            </a:r>
            <a:endParaRPr lang="en-US" sz="900" dirty="0"/>
          </a:p>
        </p:txBody>
      </p:sp>
      <p:sp>
        <p:nvSpPr>
          <p:cNvPr id="17" name="Text 15"/>
          <p:cNvSpPr/>
          <p:nvPr/>
        </p:nvSpPr>
        <p:spPr>
          <a:xfrm>
            <a:off x="320040" y="3291840"/>
            <a:ext cx="3950208" cy="274320"/>
          </a:xfrm>
          <a:prstGeom prst="rect">
            <a:avLst/>
          </a:prstGeom>
          <a:noFill/>
          <a:ln/>
        </p:spPr>
        <p:txBody>
          <a:bodyPr wrap="square" lIns="0" tIns="0" rIns="0" bIns="0" rtlCol="0" anchor="ctr"/>
          <a:lstStyle/>
          <a:p>
            <a:pPr indent="0" marL="0">
              <a:buNone/>
            </a:pPr>
            <a:r>
              <a:rPr lang="en-US" sz="850" b="1" dirty="0">
                <a:solidFill>
                  <a:srgbClr val="E06A10"/>
                </a:solidFill>
                <a:latin typeface="Calibri" pitchFamily="34" charset="0"/>
                <a:ea typeface="Calibri" pitchFamily="34" charset="-122"/>
                <a:cs typeface="Calibri" pitchFamily="34" charset="-120"/>
              </a:rPr>
              <a:t>e.g. </a:t>
            </a:r>
            <a:pPr indent="0" marL="0">
              <a:buNone/>
            </a:pPr>
            <a:r>
              <a:rPr lang="en-US" sz="850" i="1" dirty="0">
                <a:solidFill>
                  <a:srgbClr val="64748B"/>
                </a:solidFill>
                <a:latin typeface="Calibri" pitchFamily="34" charset="0"/>
                <a:ea typeface="Calibri" pitchFamily="34" charset="-122"/>
                <a:cs typeface="Calibri" pitchFamily="34" charset="-120"/>
              </a:rPr>
              <a:t>MSE very sensitive to outliers. One large error dominates the metric.</a:t>
            </a:r>
            <a:endParaRPr lang="en-US" sz="850" dirty="0"/>
          </a:p>
        </p:txBody>
      </p:sp>
      <p:sp>
        <p:nvSpPr>
          <p:cNvPr id="18" name="Shape 16"/>
          <p:cNvSpPr/>
          <p:nvPr/>
        </p:nvSpPr>
        <p:spPr>
          <a:xfrm>
            <a:off x="228600" y="3730752"/>
            <a:ext cx="4160520" cy="1261872"/>
          </a:xfrm>
          <a:prstGeom prst="roundRect">
            <a:avLst>
              <a:gd name="adj" fmla="val 5797"/>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301752" y="3803904"/>
            <a:ext cx="566928" cy="256032"/>
          </a:xfrm>
          <a:prstGeom prst="roundRect">
            <a:avLst>
              <a:gd name="adj" fmla="val 14286"/>
            </a:avLst>
          </a:prstGeom>
          <a:solidFill>
            <a:srgbClr val="1050C0"/>
          </a:solidFill>
          <a:ln w="12700">
            <a:solidFill>
              <a:srgbClr val="1050C0"/>
            </a:solidFill>
            <a:prstDash val="solid"/>
          </a:ln>
        </p:spPr>
      </p:sp>
      <p:sp>
        <p:nvSpPr>
          <p:cNvPr id="20" name="Text 18"/>
          <p:cNvSpPr/>
          <p:nvPr/>
        </p:nvSpPr>
        <p:spPr>
          <a:xfrm>
            <a:off x="301752" y="3803904"/>
            <a:ext cx="56692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RMSE</a:t>
            </a:r>
            <a:endParaRPr lang="en-US" sz="1200" dirty="0"/>
          </a:p>
        </p:txBody>
      </p:sp>
      <p:sp>
        <p:nvSpPr>
          <p:cNvPr id="21" name="Text 19"/>
          <p:cNvSpPr/>
          <p:nvPr/>
        </p:nvSpPr>
        <p:spPr>
          <a:xfrm>
            <a:off x="941832" y="3822192"/>
            <a:ext cx="3364992" cy="237744"/>
          </a:xfrm>
          <a:prstGeom prst="rect">
            <a:avLst/>
          </a:prstGeom>
          <a:noFill/>
          <a:ln/>
        </p:spPr>
        <p:txBody>
          <a:bodyPr wrap="square" lIns="0" tIns="0" rIns="0" bIns="0" rtlCol="0" anchor="ctr"/>
          <a:lstStyle/>
          <a:p>
            <a:pPr indent="0" marL="0">
              <a:buNone/>
            </a:pPr>
            <a:r>
              <a:rPr lang="en-US" sz="1100" b="1" dirty="0">
                <a:solidFill>
                  <a:srgbClr val="1050C0"/>
                </a:solidFill>
                <a:latin typeface="Courier New" pitchFamily="34" charset="0"/>
                <a:ea typeface="Courier New" pitchFamily="34" charset="-122"/>
                <a:cs typeface="Courier New" pitchFamily="34" charset="-120"/>
              </a:rPr>
              <a:t>sqrt(MSE)</a:t>
            </a:r>
            <a:endParaRPr lang="en-US" sz="1100" dirty="0"/>
          </a:p>
        </p:txBody>
      </p:sp>
      <p:sp>
        <p:nvSpPr>
          <p:cNvPr id="22" name="Text 20"/>
          <p:cNvSpPr/>
          <p:nvPr/>
        </p:nvSpPr>
        <p:spPr>
          <a:xfrm>
            <a:off x="320040" y="4133088"/>
            <a:ext cx="3950208"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Range: 0→∞ lower=better   Units: Same as target   Outlier robust: Low</a:t>
            </a:r>
            <a:endParaRPr lang="en-US" sz="850" dirty="0"/>
          </a:p>
        </p:txBody>
      </p:sp>
      <p:sp>
        <p:nvSpPr>
          <p:cNvPr id="23" name="Text 21"/>
          <p:cNvSpPr/>
          <p:nvPr/>
        </p:nvSpPr>
        <p:spPr>
          <a:xfrm>
            <a:off x="320040" y="4352544"/>
            <a:ext cx="3950208" cy="256032"/>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Most common regression metric. Large errors penalised more. Same units as MAE.</a:t>
            </a:r>
            <a:endParaRPr lang="en-US" sz="900" dirty="0"/>
          </a:p>
        </p:txBody>
      </p:sp>
      <p:sp>
        <p:nvSpPr>
          <p:cNvPr id="24" name="Text 22"/>
          <p:cNvSpPr/>
          <p:nvPr/>
        </p:nvSpPr>
        <p:spPr>
          <a:xfrm>
            <a:off x="320040" y="4645152"/>
            <a:ext cx="3950208" cy="274320"/>
          </a:xfrm>
          <a:prstGeom prst="rect">
            <a:avLst/>
          </a:prstGeom>
          <a:noFill/>
          <a:ln/>
        </p:spPr>
        <p:txBody>
          <a:bodyPr wrap="square" lIns="0" tIns="0" rIns="0" bIns="0" rtlCol="0" anchor="ctr"/>
          <a:lstStyle/>
          <a:p>
            <a:pPr indent="0" marL="0">
              <a:buNone/>
            </a:pPr>
            <a:r>
              <a:rPr lang="en-US" sz="850" b="1" dirty="0">
                <a:solidFill>
                  <a:srgbClr val="1050C0"/>
                </a:solidFill>
                <a:latin typeface="Calibri" pitchFamily="34" charset="0"/>
                <a:ea typeface="Calibri" pitchFamily="34" charset="-122"/>
                <a:cs typeface="Calibri" pitchFamily="34" charset="-120"/>
              </a:rPr>
              <a:t>e.g. </a:t>
            </a:r>
            <a:pPr indent="0" marL="0">
              <a:buNone/>
            </a:pPr>
            <a:r>
              <a:rPr lang="en-US" sz="850" i="1" dirty="0">
                <a:solidFill>
                  <a:srgbClr val="64748B"/>
                </a:solidFill>
                <a:latin typeface="Calibri" pitchFamily="34" charset="0"/>
                <a:ea typeface="Calibri" pitchFamily="34" charset="-122"/>
                <a:cs typeface="Calibri" pitchFamily="34" charset="-120"/>
              </a:rPr>
              <a:t>RMSE&gt;&gt;MAE signals large outlier predictions. Investigate those specific cases.</a:t>
            </a:r>
            <a:endParaRPr lang="en-US" sz="850" dirty="0"/>
          </a:p>
        </p:txBody>
      </p:sp>
      <p:sp>
        <p:nvSpPr>
          <p:cNvPr id="25" name="Shape 23"/>
          <p:cNvSpPr/>
          <p:nvPr/>
        </p:nvSpPr>
        <p:spPr>
          <a:xfrm>
            <a:off x="4690872" y="1024128"/>
            <a:ext cx="4160520" cy="1261872"/>
          </a:xfrm>
          <a:prstGeom prst="roundRect">
            <a:avLst>
              <a:gd name="adj" fmla="val 5797"/>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4764024" y="1097280"/>
            <a:ext cx="566928" cy="256032"/>
          </a:xfrm>
          <a:prstGeom prst="roundRect">
            <a:avLst>
              <a:gd name="adj" fmla="val 14286"/>
            </a:avLst>
          </a:prstGeom>
          <a:solidFill>
            <a:srgbClr val="6A10C0"/>
          </a:solidFill>
          <a:ln w="12700">
            <a:solidFill>
              <a:srgbClr val="6A10C0"/>
            </a:solidFill>
            <a:prstDash val="solid"/>
          </a:ln>
        </p:spPr>
      </p:sp>
      <p:sp>
        <p:nvSpPr>
          <p:cNvPr id="27" name="Text 25"/>
          <p:cNvSpPr/>
          <p:nvPr/>
        </p:nvSpPr>
        <p:spPr>
          <a:xfrm>
            <a:off x="4764024" y="1097280"/>
            <a:ext cx="56692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R²</a:t>
            </a:r>
            <a:endParaRPr lang="en-US" sz="1200" dirty="0"/>
          </a:p>
        </p:txBody>
      </p:sp>
      <p:sp>
        <p:nvSpPr>
          <p:cNvPr id="28" name="Text 26"/>
          <p:cNvSpPr/>
          <p:nvPr/>
        </p:nvSpPr>
        <p:spPr>
          <a:xfrm>
            <a:off x="5404104" y="1115568"/>
            <a:ext cx="3364992" cy="237744"/>
          </a:xfrm>
          <a:prstGeom prst="rect">
            <a:avLst/>
          </a:prstGeom>
          <a:noFill/>
          <a:ln/>
        </p:spPr>
        <p:txBody>
          <a:bodyPr wrap="square" lIns="0" tIns="0" rIns="0" bIns="0" rtlCol="0" anchor="ctr"/>
          <a:lstStyle/>
          <a:p>
            <a:pPr indent="0" marL="0">
              <a:buNone/>
            </a:pPr>
            <a:r>
              <a:rPr lang="en-US" sz="1100" b="1" dirty="0">
                <a:solidFill>
                  <a:srgbClr val="6A10C0"/>
                </a:solidFill>
                <a:latin typeface="Courier New" pitchFamily="34" charset="0"/>
                <a:ea typeface="Courier New" pitchFamily="34" charset="-122"/>
                <a:cs typeface="Courier New" pitchFamily="34" charset="-120"/>
              </a:rPr>
              <a:t>1 - SS_res/SS_tot</a:t>
            </a:r>
            <a:endParaRPr lang="en-US" sz="1100" dirty="0"/>
          </a:p>
        </p:txBody>
      </p:sp>
      <p:sp>
        <p:nvSpPr>
          <p:cNvPr id="29" name="Text 27"/>
          <p:cNvSpPr/>
          <p:nvPr/>
        </p:nvSpPr>
        <p:spPr>
          <a:xfrm>
            <a:off x="4782312" y="1426464"/>
            <a:ext cx="3950208"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Range: -∞ to 1 higher=better   Units: Unitless   Outlier robust: Medium</a:t>
            </a:r>
            <a:endParaRPr lang="en-US" sz="850" dirty="0"/>
          </a:p>
        </p:txBody>
      </p:sp>
      <p:sp>
        <p:nvSpPr>
          <p:cNvPr id="30" name="Text 28"/>
          <p:cNvSpPr/>
          <p:nvPr/>
        </p:nvSpPr>
        <p:spPr>
          <a:xfrm>
            <a:off x="4782312" y="1645920"/>
            <a:ext cx="3950208" cy="256032"/>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Proportion of variance explained. R²=0.82: model explains 82% of variance.</a:t>
            </a:r>
            <a:endParaRPr lang="en-US" sz="900" dirty="0"/>
          </a:p>
        </p:txBody>
      </p:sp>
      <p:sp>
        <p:nvSpPr>
          <p:cNvPr id="31" name="Text 29"/>
          <p:cNvSpPr/>
          <p:nvPr/>
        </p:nvSpPr>
        <p:spPr>
          <a:xfrm>
            <a:off x="4782312" y="1938528"/>
            <a:ext cx="3950208" cy="274320"/>
          </a:xfrm>
          <a:prstGeom prst="rect">
            <a:avLst/>
          </a:prstGeom>
          <a:noFill/>
          <a:ln/>
        </p:spPr>
        <p:txBody>
          <a:bodyPr wrap="square" lIns="0" tIns="0" rIns="0" bIns="0" rtlCol="0" anchor="ctr"/>
          <a:lstStyle/>
          <a:p>
            <a:pPr indent="0" marL="0">
              <a:buNone/>
            </a:pPr>
            <a:r>
              <a:rPr lang="en-US" sz="850" b="1" dirty="0">
                <a:solidFill>
                  <a:srgbClr val="6A10C0"/>
                </a:solidFill>
                <a:latin typeface="Calibri" pitchFamily="34" charset="0"/>
                <a:ea typeface="Calibri" pitchFamily="34" charset="-122"/>
                <a:cs typeface="Calibri" pitchFamily="34" charset="-120"/>
              </a:rPr>
              <a:t>e.g. </a:t>
            </a:r>
            <a:pPr indent="0" marL="0">
              <a:buNone/>
            </a:pPr>
            <a:r>
              <a:rPr lang="en-US" sz="850" i="1" dirty="0">
                <a:solidFill>
                  <a:srgbClr val="64748B"/>
                </a:solidFill>
                <a:latin typeface="Calibri" pitchFamily="34" charset="0"/>
                <a:ea typeface="Calibri" pitchFamily="34" charset="-122"/>
                <a:cs typeface="Calibri" pitchFamily="34" charset="-120"/>
              </a:rPr>
              <a:t>R²&lt;0: worse than predicting mean. Always compute Adjusted R² when comparing models.</a:t>
            </a:r>
            <a:endParaRPr lang="en-US" sz="850" dirty="0"/>
          </a:p>
        </p:txBody>
      </p:sp>
      <p:sp>
        <p:nvSpPr>
          <p:cNvPr id="32" name="Shape 30"/>
          <p:cNvSpPr/>
          <p:nvPr/>
        </p:nvSpPr>
        <p:spPr>
          <a:xfrm>
            <a:off x="4690872" y="2377440"/>
            <a:ext cx="4160520" cy="1261872"/>
          </a:xfrm>
          <a:prstGeom prst="roundRect">
            <a:avLst>
              <a:gd name="adj" fmla="val 5797"/>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33" name="Shape 31"/>
          <p:cNvSpPr/>
          <p:nvPr/>
        </p:nvSpPr>
        <p:spPr>
          <a:xfrm>
            <a:off x="4764024" y="2450592"/>
            <a:ext cx="566928" cy="256032"/>
          </a:xfrm>
          <a:prstGeom prst="roundRect">
            <a:avLst>
              <a:gd name="adj" fmla="val 14286"/>
            </a:avLst>
          </a:prstGeom>
          <a:solidFill>
            <a:srgbClr val="D4A010"/>
          </a:solidFill>
          <a:ln w="12700">
            <a:solidFill>
              <a:srgbClr val="D4A010"/>
            </a:solidFill>
            <a:prstDash val="solid"/>
          </a:ln>
        </p:spPr>
      </p:sp>
      <p:sp>
        <p:nvSpPr>
          <p:cNvPr id="34" name="Text 32"/>
          <p:cNvSpPr/>
          <p:nvPr/>
        </p:nvSpPr>
        <p:spPr>
          <a:xfrm>
            <a:off x="4764024" y="2450592"/>
            <a:ext cx="56692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MAPE</a:t>
            </a:r>
            <a:endParaRPr lang="en-US" sz="1200" dirty="0"/>
          </a:p>
        </p:txBody>
      </p:sp>
      <p:sp>
        <p:nvSpPr>
          <p:cNvPr id="35" name="Text 33"/>
          <p:cNvSpPr/>
          <p:nvPr/>
        </p:nvSpPr>
        <p:spPr>
          <a:xfrm>
            <a:off x="5404104" y="2468880"/>
            <a:ext cx="3364992" cy="237744"/>
          </a:xfrm>
          <a:prstGeom prst="rect">
            <a:avLst/>
          </a:prstGeom>
          <a:noFill/>
          <a:ln/>
        </p:spPr>
        <p:txBody>
          <a:bodyPr wrap="square" lIns="0" tIns="0" rIns="0" bIns="0" rtlCol="0" anchor="ctr"/>
          <a:lstStyle/>
          <a:p>
            <a:pPr indent="0" marL="0">
              <a:buNone/>
            </a:pPr>
            <a:r>
              <a:rPr lang="en-US" sz="1100" b="1" dirty="0">
                <a:solidFill>
                  <a:srgbClr val="D4A010"/>
                </a:solidFill>
                <a:latin typeface="Courier New" pitchFamily="34" charset="0"/>
                <a:ea typeface="Courier New" pitchFamily="34" charset="-122"/>
                <a:cs typeface="Courier New" pitchFamily="34" charset="-120"/>
              </a:rPr>
              <a:t>(100/N)Σ|y-ŷ|/|y|</a:t>
            </a:r>
            <a:endParaRPr lang="en-US" sz="1100" dirty="0"/>
          </a:p>
        </p:txBody>
      </p:sp>
      <p:sp>
        <p:nvSpPr>
          <p:cNvPr id="36" name="Text 34"/>
          <p:cNvSpPr/>
          <p:nvPr/>
        </p:nvSpPr>
        <p:spPr>
          <a:xfrm>
            <a:off x="4782312" y="2779776"/>
            <a:ext cx="3950208"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Range: 0%→∞ lower=better   Units: Percentage   Outlier robust: Medium</a:t>
            </a:r>
            <a:endParaRPr lang="en-US" sz="850" dirty="0"/>
          </a:p>
        </p:txBody>
      </p:sp>
      <p:sp>
        <p:nvSpPr>
          <p:cNvPr id="37" name="Text 35"/>
          <p:cNvSpPr/>
          <p:nvPr/>
        </p:nvSpPr>
        <p:spPr>
          <a:xfrm>
            <a:off x="4782312" y="2999232"/>
            <a:ext cx="3950208" cy="256032"/>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Scale-free % error. Easy business interpretation. Undefined when y=0.</a:t>
            </a:r>
            <a:endParaRPr lang="en-US" sz="900" dirty="0"/>
          </a:p>
        </p:txBody>
      </p:sp>
      <p:sp>
        <p:nvSpPr>
          <p:cNvPr id="38" name="Text 36"/>
          <p:cNvSpPr/>
          <p:nvPr/>
        </p:nvSpPr>
        <p:spPr>
          <a:xfrm>
            <a:off x="4782312" y="3291840"/>
            <a:ext cx="3950208" cy="274320"/>
          </a:xfrm>
          <a:prstGeom prst="rect">
            <a:avLst/>
          </a:prstGeom>
          <a:noFill/>
          <a:ln/>
        </p:spPr>
        <p:txBody>
          <a:bodyPr wrap="square" lIns="0" tIns="0" rIns="0" bIns="0" rtlCol="0" anchor="ctr"/>
          <a:lstStyle/>
          <a:p>
            <a:pPr indent="0" marL="0">
              <a:buNone/>
            </a:pPr>
            <a:r>
              <a:rPr lang="en-US" sz="850" b="1" dirty="0">
                <a:solidFill>
                  <a:srgbClr val="D4A010"/>
                </a:solidFill>
                <a:latin typeface="Calibri" pitchFamily="34" charset="0"/>
                <a:ea typeface="Calibri" pitchFamily="34" charset="-122"/>
                <a:cs typeface="Calibri" pitchFamily="34" charset="-120"/>
              </a:rPr>
              <a:t>e.g. </a:t>
            </a:r>
            <a:pPr indent="0" marL="0">
              <a:buNone/>
            </a:pPr>
            <a:r>
              <a:rPr lang="en-US" sz="850" i="1" dirty="0">
                <a:solidFill>
                  <a:srgbClr val="64748B"/>
                </a:solidFill>
                <a:latin typeface="Calibri" pitchFamily="34" charset="0"/>
                <a:ea typeface="Calibri" pitchFamily="34" charset="-122"/>
                <a:cs typeface="Calibri" pitchFamily="34" charset="-120"/>
              </a:rPr>
              <a:t>MAPE=8%: predictions are on average 8% away from actual value.</a:t>
            </a:r>
            <a:endParaRPr lang="en-US" sz="850" dirty="0"/>
          </a:p>
        </p:txBody>
      </p:sp>
      <p:sp>
        <p:nvSpPr>
          <p:cNvPr id="39" name="Shape 37"/>
          <p:cNvSpPr/>
          <p:nvPr/>
        </p:nvSpPr>
        <p:spPr>
          <a:xfrm>
            <a:off x="4690872" y="3730752"/>
            <a:ext cx="4160520" cy="1261872"/>
          </a:xfrm>
          <a:prstGeom prst="roundRect">
            <a:avLst>
              <a:gd name="adj" fmla="val 5797"/>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40" name="Shape 38"/>
          <p:cNvSpPr/>
          <p:nvPr/>
        </p:nvSpPr>
        <p:spPr>
          <a:xfrm>
            <a:off x="4764024" y="3803904"/>
            <a:ext cx="566928" cy="256032"/>
          </a:xfrm>
          <a:prstGeom prst="roundRect">
            <a:avLst>
              <a:gd name="adj" fmla="val 14286"/>
            </a:avLst>
          </a:prstGeom>
          <a:solidFill>
            <a:srgbClr val="0A8A4A"/>
          </a:solidFill>
          <a:ln w="12700">
            <a:solidFill>
              <a:srgbClr val="0A8A4A"/>
            </a:solidFill>
            <a:prstDash val="solid"/>
          </a:ln>
        </p:spPr>
      </p:sp>
      <p:sp>
        <p:nvSpPr>
          <p:cNvPr id="41" name="Text 39"/>
          <p:cNvSpPr/>
          <p:nvPr/>
        </p:nvSpPr>
        <p:spPr>
          <a:xfrm>
            <a:off x="4764024" y="3803904"/>
            <a:ext cx="56692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Huber</a:t>
            </a:r>
            <a:endParaRPr lang="en-US" sz="1200" dirty="0"/>
          </a:p>
        </p:txBody>
      </p:sp>
      <p:sp>
        <p:nvSpPr>
          <p:cNvPr id="42" name="Text 40"/>
          <p:cNvSpPr/>
          <p:nvPr/>
        </p:nvSpPr>
        <p:spPr>
          <a:xfrm>
            <a:off x="5404104" y="3822192"/>
            <a:ext cx="3364992" cy="237744"/>
          </a:xfrm>
          <a:prstGeom prst="rect">
            <a:avLst/>
          </a:prstGeom>
          <a:noFill/>
          <a:ln/>
        </p:spPr>
        <p:txBody>
          <a:bodyPr wrap="square" lIns="0" tIns="0" rIns="0" bIns="0" rtlCol="0" anchor="ctr"/>
          <a:lstStyle/>
          <a:p>
            <a:pPr indent="0" marL="0">
              <a:buNone/>
            </a:pPr>
            <a:r>
              <a:rPr lang="en-US" sz="1100" b="1" dirty="0">
                <a:solidFill>
                  <a:srgbClr val="0A8A4A"/>
                </a:solidFill>
                <a:latin typeface="Courier New" pitchFamily="34" charset="0"/>
                <a:ea typeface="Courier New" pitchFamily="34" charset="-122"/>
                <a:cs typeface="Courier New" pitchFamily="34" charset="-120"/>
              </a:rPr>
              <a:t>MSE if small / MAE if large</a:t>
            </a:r>
            <a:endParaRPr lang="en-US" sz="1100" dirty="0"/>
          </a:p>
        </p:txBody>
      </p:sp>
      <p:sp>
        <p:nvSpPr>
          <p:cNvPr id="43" name="Text 41"/>
          <p:cNvSpPr/>
          <p:nvPr/>
        </p:nvSpPr>
        <p:spPr>
          <a:xfrm>
            <a:off x="4782312" y="4133088"/>
            <a:ext cx="3950208"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Range: 0→∞ lower=better   Units: Depends on δ   Outlier robust: High</a:t>
            </a:r>
            <a:endParaRPr lang="en-US" sz="850" dirty="0"/>
          </a:p>
        </p:txBody>
      </p:sp>
      <p:sp>
        <p:nvSpPr>
          <p:cNvPr id="44" name="Text 42"/>
          <p:cNvSpPr/>
          <p:nvPr/>
        </p:nvSpPr>
        <p:spPr>
          <a:xfrm>
            <a:off x="4782312" y="4352544"/>
            <a:ext cx="3950208" cy="256032"/>
          </a:xfrm>
          <a:prstGeom prst="rect">
            <a:avLst/>
          </a:prstGeom>
          <a:noFill/>
          <a:ln/>
        </p:spPr>
        <p:txBody>
          <a:bodyPr wrap="square" lIns="0" tIns="0" rIns="0" bIns="0" rtlCol="0" anchor="ctr"/>
          <a:lstStyle/>
          <a:p>
            <a:pPr indent="0" marL="0">
              <a:buNone/>
            </a:pPr>
            <a:r>
              <a:rPr lang="en-US" sz="900" dirty="0">
                <a:solidFill>
                  <a:srgbClr val="101828"/>
                </a:solidFill>
                <a:latin typeface="Calibri" pitchFamily="34" charset="0"/>
                <a:ea typeface="Calibri" pitchFamily="34" charset="-122"/>
                <a:cs typeface="Calibri" pitchFamily="34" charset="-120"/>
              </a:rPr>
              <a:t>Hybrid MSE+MAE. Robust to outliers + differentiable. Adjust delta hyperparameter.</a:t>
            </a:r>
            <a:endParaRPr lang="en-US" sz="900" dirty="0"/>
          </a:p>
        </p:txBody>
      </p:sp>
      <p:sp>
        <p:nvSpPr>
          <p:cNvPr id="45" name="Text 43"/>
          <p:cNvSpPr/>
          <p:nvPr/>
        </p:nvSpPr>
        <p:spPr>
          <a:xfrm>
            <a:off x="4782312" y="4645152"/>
            <a:ext cx="3950208" cy="274320"/>
          </a:xfrm>
          <a:prstGeom prst="rect">
            <a:avLst/>
          </a:prstGeom>
          <a:noFill/>
          <a:ln/>
        </p:spPr>
        <p:txBody>
          <a:bodyPr wrap="square" lIns="0" tIns="0" rIns="0" bIns="0" rtlCol="0" anchor="ctr"/>
          <a:lstStyle/>
          <a:p>
            <a:pPr indent="0" marL="0">
              <a:buNone/>
            </a:pPr>
            <a:r>
              <a:rPr lang="en-US" sz="850" b="1" dirty="0">
                <a:solidFill>
                  <a:srgbClr val="0A8A4A"/>
                </a:solidFill>
                <a:latin typeface="Calibri" pitchFamily="34" charset="0"/>
                <a:ea typeface="Calibri" pitchFamily="34" charset="-122"/>
                <a:cs typeface="Calibri" pitchFamily="34" charset="-120"/>
              </a:rPr>
              <a:t>e.g. </a:t>
            </a:r>
            <a:pPr indent="0" marL="0">
              <a:buNone/>
            </a:pPr>
            <a:r>
              <a:rPr lang="en-US" sz="850" i="1" dirty="0">
                <a:solidFill>
                  <a:srgbClr val="64748B"/>
                </a:solidFill>
                <a:latin typeface="Calibri" pitchFamily="34" charset="0"/>
                <a:ea typeface="Calibri" pitchFamily="34" charset="-122"/>
                <a:cs typeface="Calibri" pitchFamily="34" charset="-120"/>
              </a:rPr>
              <a:t>Best of both worlds: smooth for gradient descent, robust for outliers.</a:t>
            </a:r>
            <a:endParaRPr lang="en-US" sz="850" dirty="0"/>
          </a:p>
        </p:txBody>
      </p:sp>
      <p:sp>
        <p:nvSpPr>
          <p:cNvPr id="46" name="Shape 44"/>
          <p:cNvSpPr/>
          <p:nvPr/>
        </p:nvSpPr>
        <p:spPr>
          <a:xfrm>
            <a:off x="256032" y="5120640"/>
            <a:ext cx="8631936" cy="347472"/>
          </a:xfrm>
          <a:prstGeom prst="roundRect">
            <a:avLst>
              <a:gd name="adj" fmla="val 15789"/>
            </a:avLst>
          </a:prstGeom>
          <a:solidFill>
            <a:srgbClr val="FFFBEC"/>
          </a:solidFill>
          <a:ln w="19050">
            <a:solidFill>
              <a:srgbClr val="D4A010"/>
            </a:solidFill>
            <a:prstDash val="solid"/>
          </a:ln>
        </p:spPr>
      </p:sp>
      <p:sp>
        <p:nvSpPr>
          <p:cNvPr id="47" name="Text 45"/>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Rule of thumb: Start with RMSE+R² for reporting. If RMSE &gt;&gt; MAE, investigate outlier predictions. For business stakeholders, MAPE is often most intuitive ('we are off by X% on average'). Use Adjusted R² when comparing models with different feature counts.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ML METRICS  |  SECTION 07</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Choosing the Right Metric</a:t>
            </a:r>
            <a:endParaRPr lang="en-US" sz="38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Decision framework - the right metric for every problem type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80E1C"/>
          </a:solidFill>
          <a:ln w="12700">
            <a:solidFill>
              <a:srgbClr val="080E1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Complete Metric Selection Framework - Every Problem Type</a:t>
            </a:r>
            <a:endParaRPr lang="en-US" sz="2100" dirty="0"/>
          </a:p>
        </p:txBody>
      </p:sp>
      <p:sp>
        <p:nvSpPr>
          <p:cNvPr id="4" name="Shape 2"/>
          <p:cNvSpPr/>
          <p:nvPr/>
        </p:nvSpPr>
        <p:spPr>
          <a:xfrm>
            <a:off x="201168" y="1024128"/>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56032" y="1078992"/>
            <a:ext cx="1554480" cy="420624"/>
          </a:xfrm>
          <a:prstGeom prst="roundRect">
            <a:avLst>
              <a:gd name="adj" fmla="val 13043"/>
            </a:avLst>
          </a:prstGeom>
          <a:solidFill>
            <a:srgbClr val="0A7E8C"/>
          </a:solidFill>
          <a:ln w="12700">
            <a:solidFill>
              <a:srgbClr val="0A7E8C"/>
            </a:solidFill>
            <a:prstDash val="solid"/>
          </a:ln>
        </p:spPr>
      </p:sp>
      <p:sp>
        <p:nvSpPr>
          <p:cNvPr id="6" name="Text 4"/>
          <p:cNvSpPr/>
          <p:nvPr/>
        </p:nvSpPr>
        <p:spPr>
          <a:xfrm>
            <a:off x="256032" y="1078992"/>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Binary Classif.</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(Balanced)</a:t>
            </a:r>
            <a:endParaRPr lang="en-US" sz="900" dirty="0"/>
          </a:p>
        </p:txBody>
      </p:sp>
      <p:sp>
        <p:nvSpPr>
          <p:cNvPr id="7" name="Text 5"/>
          <p:cNvSpPr/>
          <p:nvPr/>
        </p:nvSpPr>
        <p:spPr>
          <a:xfrm>
            <a:off x="292608" y="1554480"/>
            <a:ext cx="1481328" cy="201168"/>
          </a:xfrm>
          <a:prstGeom prst="rect">
            <a:avLst/>
          </a:prstGeom>
          <a:noFill/>
          <a:ln/>
        </p:spPr>
        <p:txBody>
          <a:bodyPr wrap="square" lIns="0" tIns="0" rIns="0" bIns="0" rtlCol="0" anchor="ctr"/>
          <a:lstStyle/>
          <a:p>
            <a:pPr indent="0" marL="0">
              <a:buNone/>
            </a:pPr>
            <a:r>
              <a:rPr lang="en-US" sz="800" b="1" dirty="0">
                <a:solidFill>
                  <a:srgbClr val="0A7E8C"/>
                </a:solidFill>
                <a:latin typeface="Calibri" pitchFamily="34" charset="0"/>
                <a:ea typeface="Calibri" pitchFamily="34" charset="-122"/>
                <a:cs typeface="Calibri" pitchFamily="34" charset="-120"/>
              </a:rPr>
              <a:t>PRIMARY:</a:t>
            </a:r>
            <a:endParaRPr lang="en-US" sz="800" dirty="0"/>
          </a:p>
        </p:txBody>
      </p:sp>
      <p:sp>
        <p:nvSpPr>
          <p:cNvPr id="8" name="Text 6"/>
          <p:cNvSpPr/>
          <p:nvPr/>
        </p:nvSpPr>
        <p:spPr>
          <a:xfrm>
            <a:off x="292608" y="1755648"/>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F1 Score</a:t>
            </a:r>
            <a:endParaRPr lang="en-US" sz="900" dirty="0"/>
          </a:p>
        </p:txBody>
      </p:sp>
      <p:sp>
        <p:nvSpPr>
          <p:cNvPr id="9" name="Text 7"/>
          <p:cNvSpPr/>
          <p:nvPr/>
        </p:nvSpPr>
        <p:spPr>
          <a:xfrm>
            <a:off x="292608" y="2139696"/>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10" name="Text 8"/>
          <p:cNvSpPr/>
          <p:nvPr/>
        </p:nvSpPr>
        <p:spPr>
          <a:xfrm>
            <a:off x="292608" y="2340864"/>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Accuracy, MCC, ROC-AUC</a:t>
            </a:r>
            <a:endParaRPr lang="en-US" sz="850" dirty="0"/>
          </a:p>
        </p:txBody>
      </p:sp>
      <p:sp>
        <p:nvSpPr>
          <p:cNvPr id="11" name="Text 9"/>
          <p:cNvSpPr/>
          <p:nvPr/>
        </p:nvSpPr>
        <p:spPr>
          <a:xfrm>
            <a:off x="292608" y="2706624"/>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If imbalanced: all of these</a:t>
            </a:r>
            <a:endParaRPr lang="en-US" sz="750" dirty="0"/>
          </a:p>
        </p:txBody>
      </p:sp>
      <p:sp>
        <p:nvSpPr>
          <p:cNvPr id="12" name="Shape 10"/>
          <p:cNvSpPr/>
          <p:nvPr/>
        </p:nvSpPr>
        <p:spPr>
          <a:xfrm>
            <a:off x="1975104" y="1024128"/>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13" name="Shape 11"/>
          <p:cNvSpPr/>
          <p:nvPr/>
        </p:nvSpPr>
        <p:spPr>
          <a:xfrm>
            <a:off x="2029968" y="1078992"/>
            <a:ext cx="1554480" cy="420624"/>
          </a:xfrm>
          <a:prstGeom prst="roundRect">
            <a:avLst>
              <a:gd name="adj" fmla="val 13043"/>
            </a:avLst>
          </a:prstGeom>
          <a:solidFill>
            <a:srgbClr val="E06A10"/>
          </a:solidFill>
          <a:ln w="12700">
            <a:solidFill>
              <a:srgbClr val="E06A10"/>
            </a:solidFill>
            <a:prstDash val="solid"/>
          </a:ln>
        </p:spPr>
      </p:sp>
      <p:sp>
        <p:nvSpPr>
          <p:cNvPr id="14" name="Text 12"/>
          <p:cNvSpPr/>
          <p:nvPr/>
        </p:nvSpPr>
        <p:spPr>
          <a:xfrm>
            <a:off x="2029968" y="1078992"/>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Binary Classif.</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(Imbalanced)</a:t>
            </a:r>
            <a:endParaRPr lang="en-US" sz="900" dirty="0"/>
          </a:p>
        </p:txBody>
      </p:sp>
      <p:sp>
        <p:nvSpPr>
          <p:cNvPr id="15" name="Text 13"/>
          <p:cNvSpPr/>
          <p:nvPr/>
        </p:nvSpPr>
        <p:spPr>
          <a:xfrm>
            <a:off x="2066544" y="1554480"/>
            <a:ext cx="1481328" cy="201168"/>
          </a:xfrm>
          <a:prstGeom prst="rect">
            <a:avLst/>
          </a:prstGeom>
          <a:noFill/>
          <a:ln/>
        </p:spPr>
        <p:txBody>
          <a:bodyPr wrap="square" lIns="0" tIns="0" rIns="0" bIns="0" rtlCol="0" anchor="ctr"/>
          <a:lstStyle/>
          <a:p>
            <a:pPr indent="0" marL="0">
              <a:buNone/>
            </a:pPr>
            <a:r>
              <a:rPr lang="en-US" sz="800" b="1" dirty="0">
                <a:solidFill>
                  <a:srgbClr val="E06A10"/>
                </a:solidFill>
                <a:latin typeface="Calibri" pitchFamily="34" charset="0"/>
                <a:ea typeface="Calibri" pitchFamily="34" charset="-122"/>
                <a:cs typeface="Calibri" pitchFamily="34" charset="-120"/>
              </a:rPr>
              <a:t>PRIMARY:</a:t>
            </a:r>
            <a:endParaRPr lang="en-US" sz="800" dirty="0"/>
          </a:p>
        </p:txBody>
      </p:sp>
      <p:sp>
        <p:nvSpPr>
          <p:cNvPr id="16" name="Text 14"/>
          <p:cNvSpPr/>
          <p:nvPr/>
        </p:nvSpPr>
        <p:spPr>
          <a:xfrm>
            <a:off x="2066544" y="1755648"/>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PR-AUC + Macro F1</a:t>
            </a:r>
            <a:endParaRPr lang="en-US" sz="900" dirty="0"/>
          </a:p>
        </p:txBody>
      </p:sp>
      <p:sp>
        <p:nvSpPr>
          <p:cNvPr id="17" name="Text 15"/>
          <p:cNvSpPr/>
          <p:nvPr/>
        </p:nvSpPr>
        <p:spPr>
          <a:xfrm>
            <a:off x="2066544" y="2139696"/>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18" name="Text 16"/>
          <p:cNvSpPr/>
          <p:nvPr/>
        </p:nvSpPr>
        <p:spPr>
          <a:xfrm>
            <a:off x="2066544" y="2340864"/>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ROC-AUC, MCC, F2</a:t>
            </a:r>
            <a:endParaRPr lang="en-US" sz="850" dirty="0"/>
          </a:p>
        </p:txBody>
      </p:sp>
      <p:sp>
        <p:nvSpPr>
          <p:cNvPr id="19" name="Text 17"/>
          <p:cNvSpPr/>
          <p:nvPr/>
        </p:nvSpPr>
        <p:spPr>
          <a:xfrm>
            <a:off x="2066544" y="2706624"/>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Raw accuracy - misleading</a:t>
            </a:r>
            <a:endParaRPr lang="en-US" sz="750" dirty="0"/>
          </a:p>
        </p:txBody>
      </p:sp>
      <p:sp>
        <p:nvSpPr>
          <p:cNvPr id="20" name="Shape 18"/>
          <p:cNvSpPr/>
          <p:nvPr/>
        </p:nvSpPr>
        <p:spPr>
          <a:xfrm>
            <a:off x="3749040" y="1024128"/>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21" name="Shape 19"/>
          <p:cNvSpPr/>
          <p:nvPr/>
        </p:nvSpPr>
        <p:spPr>
          <a:xfrm>
            <a:off x="3803904" y="1078992"/>
            <a:ext cx="1554480" cy="420624"/>
          </a:xfrm>
          <a:prstGeom prst="roundRect">
            <a:avLst>
              <a:gd name="adj" fmla="val 13043"/>
            </a:avLst>
          </a:prstGeom>
          <a:solidFill>
            <a:srgbClr val="E02020"/>
          </a:solidFill>
          <a:ln w="12700">
            <a:solidFill>
              <a:srgbClr val="E02020"/>
            </a:solidFill>
            <a:prstDash val="solid"/>
          </a:ln>
        </p:spPr>
      </p:sp>
      <p:sp>
        <p:nvSpPr>
          <p:cNvPr id="22" name="Text 20"/>
          <p:cNvSpPr/>
          <p:nvPr/>
        </p:nvSpPr>
        <p:spPr>
          <a:xfrm>
            <a:off x="3803904" y="1078992"/>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Fraud / Medical</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Detection</a:t>
            </a:r>
            <a:endParaRPr lang="en-US" sz="900" dirty="0"/>
          </a:p>
        </p:txBody>
      </p:sp>
      <p:sp>
        <p:nvSpPr>
          <p:cNvPr id="23" name="Text 21"/>
          <p:cNvSpPr/>
          <p:nvPr/>
        </p:nvSpPr>
        <p:spPr>
          <a:xfrm>
            <a:off x="3840480" y="1554480"/>
            <a:ext cx="1481328" cy="201168"/>
          </a:xfrm>
          <a:prstGeom prst="rect">
            <a:avLst/>
          </a:prstGeom>
          <a:noFill/>
          <a:ln/>
        </p:spPr>
        <p:txBody>
          <a:bodyPr wrap="square" lIns="0" tIns="0" rIns="0" bIns="0" rtlCol="0" anchor="ctr"/>
          <a:lstStyle/>
          <a:p>
            <a:pPr indent="0" marL="0">
              <a:buNone/>
            </a:pPr>
            <a:r>
              <a:rPr lang="en-US" sz="800" b="1" dirty="0">
                <a:solidFill>
                  <a:srgbClr val="E02020"/>
                </a:solidFill>
                <a:latin typeface="Calibri" pitchFamily="34" charset="0"/>
                <a:ea typeface="Calibri" pitchFamily="34" charset="-122"/>
                <a:cs typeface="Calibri" pitchFamily="34" charset="-120"/>
              </a:rPr>
              <a:t>PRIMARY:</a:t>
            </a:r>
            <a:endParaRPr lang="en-US" sz="800" dirty="0"/>
          </a:p>
        </p:txBody>
      </p:sp>
      <p:sp>
        <p:nvSpPr>
          <p:cNvPr id="24" name="Text 22"/>
          <p:cNvSpPr/>
          <p:nvPr/>
        </p:nvSpPr>
        <p:spPr>
          <a:xfrm>
            <a:off x="3840480" y="1755648"/>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Recall (maximise)</a:t>
            </a:r>
            <a:endParaRPr lang="en-US" sz="900" dirty="0"/>
          </a:p>
        </p:txBody>
      </p:sp>
      <p:sp>
        <p:nvSpPr>
          <p:cNvPr id="25" name="Text 23"/>
          <p:cNvSpPr/>
          <p:nvPr/>
        </p:nvSpPr>
        <p:spPr>
          <a:xfrm>
            <a:off x="3840480" y="2139696"/>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26" name="Text 24"/>
          <p:cNvSpPr/>
          <p:nvPr/>
        </p:nvSpPr>
        <p:spPr>
          <a:xfrm>
            <a:off x="3840480" y="2340864"/>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PR-AUC, F2, MCC</a:t>
            </a:r>
            <a:endParaRPr lang="en-US" sz="850" dirty="0"/>
          </a:p>
        </p:txBody>
      </p:sp>
      <p:sp>
        <p:nvSpPr>
          <p:cNvPr id="27" name="Text 25"/>
          <p:cNvSpPr/>
          <p:nvPr/>
        </p:nvSpPr>
        <p:spPr>
          <a:xfrm>
            <a:off x="3840480" y="2706624"/>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Accuracy, Precision alone</a:t>
            </a:r>
            <a:endParaRPr lang="en-US" sz="750" dirty="0"/>
          </a:p>
        </p:txBody>
      </p:sp>
      <p:sp>
        <p:nvSpPr>
          <p:cNvPr id="28" name="Shape 26"/>
          <p:cNvSpPr/>
          <p:nvPr/>
        </p:nvSpPr>
        <p:spPr>
          <a:xfrm>
            <a:off x="5522976" y="1024128"/>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29" name="Shape 27"/>
          <p:cNvSpPr/>
          <p:nvPr/>
        </p:nvSpPr>
        <p:spPr>
          <a:xfrm>
            <a:off x="5577840" y="1078992"/>
            <a:ext cx="1554480" cy="420624"/>
          </a:xfrm>
          <a:prstGeom prst="roundRect">
            <a:avLst>
              <a:gd name="adj" fmla="val 13043"/>
            </a:avLst>
          </a:prstGeom>
          <a:solidFill>
            <a:srgbClr val="1050C0"/>
          </a:solidFill>
          <a:ln w="12700">
            <a:solidFill>
              <a:srgbClr val="1050C0"/>
            </a:solidFill>
            <a:prstDash val="solid"/>
          </a:ln>
        </p:spPr>
      </p:sp>
      <p:sp>
        <p:nvSpPr>
          <p:cNvPr id="30" name="Text 28"/>
          <p:cNvSpPr/>
          <p:nvPr/>
        </p:nvSpPr>
        <p:spPr>
          <a:xfrm>
            <a:off x="5577840" y="1078992"/>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Spam / Search</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Ranking</a:t>
            </a:r>
            <a:endParaRPr lang="en-US" sz="900" dirty="0"/>
          </a:p>
        </p:txBody>
      </p:sp>
      <p:sp>
        <p:nvSpPr>
          <p:cNvPr id="31" name="Text 29"/>
          <p:cNvSpPr/>
          <p:nvPr/>
        </p:nvSpPr>
        <p:spPr>
          <a:xfrm>
            <a:off x="5614416" y="1554480"/>
            <a:ext cx="1481328" cy="201168"/>
          </a:xfrm>
          <a:prstGeom prst="rect">
            <a:avLst/>
          </a:prstGeom>
          <a:noFill/>
          <a:ln/>
        </p:spPr>
        <p:txBody>
          <a:bodyPr wrap="square" lIns="0" tIns="0" rIns="0" bIns="0" rtlCol="0" anchor="ctr"/>
          <a:lstStyle/>
          <a:p>
            <a:pPr indent="0" marL="0">
              <a:buNone/>
            </a:pPr>
            <a:r>
              <a:rPr lang="en-US" sz="800" b="1" dirty="0">
                <a:solidFill>
                  <a:srgbClr val="1050C0"/>
                </a:solidFill>
                <a:latin typeface="Calibri" pitchFamily="34" charset="0"/>
                <a:ea typeface="Calibri" pitchFamily="34" charset="-122"/>
                <a:cs typeface="Calibri" pitchFamily="34" charset="-120"/>
              </a:rPr>
              <a:t>PRIMARY:</a:t>
            </a:r>
            <a:endParaRPr lang="en-US" sz="800" dirty="0"/>
          </a:p>
        </p:txBody>
      </p:sp>
      <p:sp>
        <p:nvSpPr>
          <p:cNvPr id="32" name="Text 30"/>
          <p:cNvSpPr/>
          <p:nvPr/>
        </p:nvSpPr>
        <p:spPr>
          <a:xfrm>
            <a:off x="5614416" y="1755648"/>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Precision (maximise)</a:t>
            </a:r>
            <a:endParaRPr lang="en-US" sz="900" dirty="0"/>
          </a:p>
        </p:txBody>
      </p:sp>
      <p:sp>
        <p:nvSpPr>
          <p:cNvPr id="33" name="Text 31"/>
          <p:cNvSpPr/>
          <p:nvPr/>
        </p:nvSpPr>
        <p:spPr>
          <a:xfrm>
            <a:off x="5614416" y="2139696"/>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34" name="Text 32"/>
          <p:cNvSpPr/>
          <p:nvPr/>
        </p:nvSpPr>
        <p:spPr>
          <a:xfrm>
            <a:off x="5614416" y="2340864"/>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F1, F0.5, ROC-AUC</a:t>
            </a:r>
            <a:endParaRPr lang="en-US" sz="850" dirty="0"/>
          </a:p>
        </p:txBody>
      </p:sp>
      <p:sp>
        <p:nvSpPr>
          <p:cNvPr id="35" name="Text 33"/>
          <p:cNvSpPr/>
          <p:nvPr/>
        </p:nvSpPr>
        <p:spPr>
          <a:xfrm>
            <a:off x="5614416" y="2706624"/>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Optimising recall alone</a:t>
            </a:r>
            <a:endParaRPr lang="en-US" sz="750" dirty="0"/>
          </a:p>
        </p:txBody>
      </p:sp>
      <p:sp>
        <p:nvSpPr>
          <p:cNvPr id="36" name="Shape 34"/>
          <p:cNvSpPr/>
          <p:nvPr/>
        </p:nvSpPr>
        <p:spPr>
          <a:xfrm>
            <a:off x="7296912" y="1024128"/>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7351776" y="1078992"/>
            <a:ext cx="1554480" cy="420624"/>
          </a:xfrm>
          <a:prstGeom prst="roundRect">
            <a:avLst>
              <a:gd name="adj" fmla="val 13043"/>
            </a:avLst>
          </a:prstGeom>
          <a:solidFill>
            <a:srgbClr val="6A10C0"/>
          </a:solidFill>
          <a:ln w="12700">
            <a:solidFill>
              <a:srgbClr val="6A10C0"/>
            </a:solidFill>
            <a:prstDash val="solid"/>
          </a:ln>
        </p:spPr>
      </p:sp>
      <p:sp>
        <p:nvSpPr>
          <p:cNvPr id="38" name="Text 36"/>
          <p:cNvSpPr/>
          <p:nvPr/>
        </p:nvSpPr>
        <p:spPr>
          <a:xfrm>
            <a:off x="7351776" y="1078992"/>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Multi-class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(Balanced)</a:t>
            </a:r>
            <a:endParaRPr lang="en-US" sz="900" dirty="0"/>
          </a:p>
        </p:txBody>
      </p:sp>
      <p:sp>
        <p:nvSpPr>
          <p:cNvPr id="39" name="Text 37"/>
          <p:cNvSpPr/>
          <p:nvPr/>
        </p:nvSpPr>
        <p:spPr>
          <a:xfrm>
            <a:off x="7388352" y="1554480"/>
            <a:ext cx="1481328" cy="201168"/>
          </a:xfrm>
          <a:prstGeom prst="rect">
            <a:avLst/>
          </a:prstGeom>
          <a:noFill/>
          <a:ln/>
        </p:spPr>
        <p:txBody>
          <a:bodyPr wrap="square" lIns="0" tIns="0" rIns="0" bIns="0" rtlCol="0" anchor="ctr"/>
          <a:lstStyle/>
          <a:p>
            <a:pPr indent="0" marL="0">
              <a:buNone/>
            </a:pPr>
            <a:r>
              <a:rPr lang="en-US" sz="800" b="1" dirty="0">
                <a:solidFill>
                  <a:srgbClr val="6A10C0"/>
                </a:solidFill>
                <a:latin typeface="Calibri" pitchFamily="34" charset="0"/>
                <a:ea typeface="Calibri" pitchFamily="34" charset="-122"/>
                <a:cs typeface="Calibri" pitchFamily="34" charset="-120"/>
              </a:rPr>
              <a:t>PRIMARY:</a:t>
            </a:r>
            <a:endParaRPr lang="en-US" sz="800" dirty="0"/>
          </a:p>
        </p:txBody>
      </p:sp>
      <p:sp>
        <p:nvSpPr>
          <p:cNvPr id="40" name="Text 38"/>
          <p:cNvSpPr/>
          <p:nvPr/>
        </p:nvSpPr>
        <p:spPr>
          <a:xfrm>
            <a:off x="7388352" y="1755648"/>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Macro F1</a:t>
            </a:r>
            <a:endParaRPr lang="en-US" sz="900" dirty="0"/>
          </a:p>
        </p:txBody>
      </p:sp>
      <p:sp>
        <p:nvSpPr>
          <p:cNvPr id="41" name="Text 39"/>
          <p:cNvSpPr/>
          <p:nvPr/>
        </p:nvSpPr>
        <p:spPr>
          <a:xfrm>
            <a:off x="7388352" y="2139696"/>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42" name="Text 40"/>
          <p:cNvSpPr/>
          <p:nvPr/>
        </p:nvSpPr>
        <p:spPr>
          <a:xfrm>
            <a:off x="7388352" y="2340864"/>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Accuracy, Macro AUC</a:t>
            </a:r>
            <a:endParaRPr lang="en-US" sz="850" dirty="0"/>
          </a:p>
        </p:txBody>
      </p:sp>
      <p:sp>
        <p:nvSpPr>
          <p:cNvPr id="43" name="Text 41"/>
          <p:cNvSpPr/>
          <p:nvPr/>
        </p:nvSpPr>
        <p:spPr>
          <a:xfrm>
            <a:off x="7388352" y="2706624"/>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a:t>
            </a:r>
            <a:endParaRPr lang="en-US" sz="750" dirty="0"/>
          </a:p>
        </p:txBody>
      </p:sp>
      <p:sp>
        <p:nvSpPr>
          <p:cNvPr id="44" name="Shape 42"/>
          <p:cNvSpPr/>
          <p:nvPr/>
        </p:nvSpPr>
        <p:spPr>
          <a:xfrm>
            <a:off x="201168" y="3017520"/>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45" name="Shape 43"/>
          <p:cNvSpPr/>
          <p:nvPr/>
        </p:nvSpPr>
        <p:spPr>
          <a:xfrm>
            <a:off x="256032" y="3072384"/>
            <a:ext cx="1554480" cy="420624"/>
          </a:xfrm>
          <a:prstGeom prst="roundRect">
            <a:avLst>
              <a:gd name="adj" fmla="val 13043"/>
            </a:avLst>
          </a:prstGeom>
          <a:solidFill>
            <a:srgbClr val="9840E0"/>
          </a:solidFill>
          <a:ln w="12700">
            <a:solidFill>
              <a:srgbClr val="9840E0"/>
            </a:solidFill>
            <a:prstDash val="solid"/>
          </a:ln>
        </p:spPr>
      </p:sp>
      <p:sp>
        <p:nvSpPr>
          <p:cNvPr id="46" name="Text 44"/>
          <p:cNvSpPr/>
          <p:nvPr/>
        </p:nvSpPr>
        <p:spPr>
          <a:xfrm>
            <a:off x="256032" y="3072384"/>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Multi-class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(Imbalanced)</a:t>
            </a:r>
            <a:endParaRPr lang="en-US" sz="900" dirty="0"/>
          </a:p>
        </p:txBody>
      </p:sp>
      <p:sp>
        <p:nvSpPr>
          <p:cNvPr id="47" name="Text 45"/>
          <p:cNvSpPr/>
          <p:nvPr/>
        </p:nvSpPr>
        <p:spPr>
          <a:xfrm>
            <a:off x="292608" y="3547872"/>
            <a:ext cx="1481328" cy="201168"/>
          </a:xfrm>
          <a:prstGeom prst="rect">
            <a:avLst/>
          </a:prstGeom>
          <a:noFill/>
          <a:ln/>
        </p:spPr>
        <p:txBody>
          <a:bodyPr wrap="square" lIns="0" tIns="0" rIns="0" bIns="0" rtlCol="0" anchor="ctr"/>
          <a:lstStyle/>
          <a:p>
            <a:pPr indent="0" marL="0">
              <a:buNone/>
            </a:pPr>
            <a:r>
              <a:rPr lang="en-US" sz="800" b="1" dirty="0">
                <a:solidFill>
                  <a:srgbClr val="9840E0"/>
                </a:solidFill>
                <a:latin typeface="Calibri" pitchFamily="34" charset="0"/>
                <a:ea typeface="Calibri" pitchFamily="34" charset="-122"/>
                <a:cs typeface="Calibri" pitchFamily="34" charset="-120"/>
              </a:rPr>
              <a:t>PRIMARY:</a:t>
            </a:r>
            <a:endParaRPr lang="en-US" sz="800" dirty="0"/>
          </a:p>
        </p:txBody>
      </p:sp>
      <p:sp>
        <p:nvSpPr>
          <p:cNvPr id="48" name="Text 46"/>
          <p:cNvSpPr/>
          <p:nvPr/>
        </p:nvSpPr>
        <p:spPr>
          <a:xfrm>
            <a:off x="292608" y="3749040"/>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Weighted F1+Macro F1</a:t>
            </a:r>
            <a:endParaRPr lang="en-US" sz="900" dirty="0"/>
          </a:p>
        </p:txBody>
      </p:sp>
      <p:sp>
        <p:nvSpPr>
          <p:cNvPr id="49" name="Text 47"/>
          <p:cNvSpPr/>
          <p:nvPr/>
        </p:nvSpPr>
        <p:spPr>
          <a:xfrm>
            <a:off x="292608" y="4133088"/>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50" name="Text 48"/>
          <p:cNvSpPr/>
          <p:nvPr/>
        </p:nvSpPr>
        <p:spPr>
          <a:xfrm>
            <a:off x="292608" y="4334256"/>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Per-class F1, AUC OvR</a:t>
            </a:r>
            <a:endParaRPr lang="en-US" sz="850" dirty="0"/>
          </a:p>
        </p:txBody>
      </p:sp>
      <p:sp>
        <p:nvSpPr>
          <p:cNvPr id="51" name="Text 49"/>
          <p:cNvSpPr/>
          <p:nvPr/>
        </p:nvSpPr>
        <p:spPr>
          <a:xfrm>
            <a:off x="292608" y="4700016"/>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Weighted avg alone</a:t>
            </a:r>
            <a:endParaRPr lang="en-US" sz="750" dirty="0"/>
          </a:p>
        </p:txBody>
      </p:sp>
      <p:sp>
        <p:nvSpPr>
          <p:cNvPr id="52" name="Shape 50"/>
          <p:cNvSpPr/>
          <p:nvPr/>
        </p:nvSpPr>
        <p:spPr>
          <a:xfrm>
            <a:off x="1975104" y="3017520"/>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53" name="Shape 51"/>
          <p:cNvSpPr/>
          <p:nvPr/>
        </p:nvSpPr>
        <p:spPr>
          <a:xfrm>
            <a:off x="2029968" y="3072384"/>
            <a:ext cx="1554480" cy="420624"/>
          </a:xfrm>
          <a:prstGeom prst="roundRect">
            <a:avLst>
              <a:gd name="adj" fmla="val 13043"/>
            </a:avLst>
          </a:prstGeom>
          <a:solidFill>
            <a:srgbClr val="0A8A4A"/>
          </a:solidFill>
          <a:ln w="12700">
            <a:solidFill>
              <a:srgbClr val="0A8A4A"/>
            </a:solidFill>
            <a:prstDash val="solid"/>
          </a:ln>
        </p:spPr>
      </p:sp>
      <p:sp>
        <p:nvSpPr>
          <p:cNvPr id="54" name="Text 52"/>
          <p:cNvSpPr/>
          <p:nvPr/>
        </p:nvSpPr>
        <p:spPr>
          <a:xfrm>
            <a:off x="2029968" y="3072384"/>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Regression</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(General)</a:t>
            </a:r>
            <a:endParaRPr lang="en-US" sz="900" dirty="0"/>
          </a:p>
        </p:txBody>
      </p:sp>
      <p:sp>
        <p:nvSpPr>
          <p:cNvPr id="55" name="Text 53"/>
          <p:cNvSpPr/>
          <p:nvPr/>
        </p:nvSpPr>
        <p:spPr>
          <a:xfrm>
            <a:off x="2066544" y="3547872"/>
            <a:ext cx="1481328" cy="201168"/>
          </a:xfrm>
          <a:prstGeom prst="rect">
            <a:avLst/>
          </a:prstGeom>
          <a:noFill/>
          <a:ln/>
        </p:spPr>
        <p:txBody>
          <a:bodyPr wrap="square" lIns="0" tIns="0" rIns="0" bIns="0" rtlCol="0" anchor="ctr"/>
          <a:lstStyle/>
          <a:p>
            <a:pPr indent="0" marL="0">
              <a:buNone/>
            </a:pPr>
            <a:r>
              <a:rPr lang="en-US" sz="800" b="1" dirty="0">
                <a:solidFill>
                  <a:srgbClr val="0A8A4A"/>
                </a:solidFill>
                <a:latin typeface="Calibri" pitchFamily="34" charset="0"/>
                <a:ea typeface="Calibri" pitchFamily="34" charset="-122"/>
                <a:cs typeface="Calibri" pitchFamily="34" charset="-120"/>
              </a:rPr>
              <a:t>PRIMARY:</a:t>
            </a:r>
            <a:endParaRPr lang="en-US" sz="800" dirty="0"/>
          </a:p>
        </p:txBody>
      </p:sp>
      <p:sp>
        <p:nvSpPr>
          <p:cNvPr id="56" name="Text 54"/>
          <p:cNvSpPr/>
          <p:nvPr/>
        </p:nvSpPr>
        <p:spPr>
          <a:xfrm>
            <a:off x="2066544" y="3749040"/>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RMSE + R²</a:t>
            </a:r>
            <a:endParaRPr lang="en-US" sz="900" dirty="0"/>
          </a:p>
        </p:txBody>
      </p:sp>
      <p:sp>
        <p:nvSpPr>
          <p:cNvPr id="57" name="Text 55"/>
          <p:cNvSpPr/>
          <p:nvPr/>
        </p:nvSpPr>
        <p:spPr>
          <a:xfrm>
            <a:off x="2066544" y="4133088"/>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58" name="Text 56"/>
          <p:cNvSpPr/>
          <p:nvPr/>
        </p:nvSpPr>
        <p:spPr>
          <a:xfrm>
            <a:off x="2066544" y="4334256"/>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MAE, Adj R²</a:t>
            </a:r>
            <a:endParaRPr lang="en-US" sz="850" dirty="0"/>
          </a:p>
        </p:txBody>
      </p:sp>
      <p:sp>
        <p:nvSpPr>
          <p:cNvPr id="59" name="Text 57"/>
          <p:cNvSpPr/>
          <p:nvPr/>
        </p:nvSpPr>
        <p:spPr>
          <a:xfrm>
            <a:off x="2066544" y="4700016"/>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a:t>
            </a:r>
            <a:endParaRPr lang="en-US" sz="750" dirty="0"/>
          </a:p>
        </p:txBody>
      </p:sp>
      <p:sp>
        <p:nvSpPr>
          <p:cNvPr id="60" name="Shape 58"/>
          <p:cNvSpPr/>
          <p:nvPr/>
        </p:nvSpPr>
        <p:spPr>
          <a:xfrm>
            <a:off x="3749040" y="3017520"/>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61" name="Shape 59"/>
          <p:cNvSpPr/>
          <p:nvPr/>
        </p:nvSpPr>
        <p:spPr>
          <a:xfrm>
            <a:off x="3803904" y="3072384"/>
            <a:ext cx="1554480" cy="420624"/>
          </a:xfrm>
          <a:prstGeom prst="roundRect">
            <a:avLst>
              <a:gd name="adj" fmla="val 13043"/>
            </a:avLst>
          </a:prstGeom>
          <a:solidFill>
            <a:srgbClr val="14C870"/>
          </a:solidFill>
          <a:ln w="12700">
            <a:solidFill>
              <a:srgbClr val="14C870"/>
            </a:solidFill>
            <a:prstDash val="solid"/>
          </a:ln>
        </p:spPr>
      </p:sp>
      <p:sp>
        <p:nvSpPr>
          <p:cNvPr id="62" name="Text 60"/>
          <p:cNvSpPr/>
          <p:nvPr/>
        </p:nvSpPr>
        <p:spPr>
          <a:xfrm>
            <a:off x="3803904" y="3072384"/>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Regression</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(Robust/Outliers)</a:t>
            </a:r>
            <a:endParaRPr lang="en-US" sz="900" dirty="0"/>
          </a:p>
        </p:txBody>
      </p:sp>
      <p:sp>
        <p:nvSpPr>
          <p:cNvPr id="63" name="Text 61"/>
          <p:cNvSpPr/>
          <p:nvPr/>
        </p:nvSpPr>
        <p:spPr>
          <a:xfrm>
            <a:off x="3840480" y="3547872"/>
            <a:ext cx="1481328" cy="201168"/>
          </a:xfrm>
          <a:prstGeom prst="rect">
            <a:avLst/>
          </a:prstGeom>
          <a:noFill/>
          <a:ln/>
        </p:spPr>
        <p:txBody>
          <a:bodyPr wrap="square" lIns="0" tIns="0" rIns="0" bIns="0" rtlCol="0" anchor="ctr"/>
          <a:lstStyle/>
          <a:p>
            <a:pPr indent="0" marL="0">
              <a:buNone/>
            </a:pPr>
            <a:r>
              <a:rPr lang="en-US" sz="800" b="1" dirty="0">
                <a:solidFill>
                  <a:srgbClr val="14C870"/>
                </a:solidFill>
                <a:latin typeface="Calibri" pitchFamily="34" charset="0"/>
                <a:ea typeface="Calibri" pitchFamily="34" charset="-122"/>
                <a:cs typeface="Calibri" pitchFamily="34" charset="-120"/>
              </a:rPr>
              <a:t>PRIMARY:</a:t>
            </a:r>
            <a:endParaRPr lang="en-US" sz="800" dirty="0"/>
          </a:p>
        </p:txBody>
      </p:sp>
      <p:sp>
        <p:nvSpPr>
          <p:cNvPr id="64" name="Text 62"/>
          <p:cNvSpPr/>
          <p:nvPr/>
        </p:nvSpPr>
        <p:spPr>
          <a:xfrm>
            <a:off x="3840480" y="3749040"/>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MAE or Huber Loss</a:t>
            </a:r>
            <a:endParaRPr lang="en-US" sz="900" dirty="0"/>
          </a:p>
        </p:txBody>
      </p:sp>
      <p:sp>
        <p:nvSpPr>
          <p:cNvPr id="65" name="Text 63"/>
          <p:cNvSpPr/>
          <p:nvPr/>
        </p:nvSpPr>
        <p:spPr>
          <a:xfrm>
            <a:off x="3840480" y="4133088"/>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66" name="Text 64"/>
          <p:cNvSpPr/>
          <p:nvPr/>
        </p:nvSpPr>
        <p:spPr>
          <a:xfrm>
            <a:off x="3840480" y="4334256"/>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RMSE for comparison</a:t>
            </a:r>
            <a:endParaRPr lang="en-US" sz="850" dirty="0"/>
          </a:p>
        </p:txBody>
      </p:sp>
      <p:sp>
        <p:nvSpPr>
          <p:cNvPr id="67" name="Text 65"/>
          <p:cNvSpPr/>
          <p:nvPr/>
        </p:nvSpPr>
        <p:spPr>
          <a:xfrm>
            <a:off x="3840480" y="4700016"/>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MSE alone</a:t>
            </a:r>
            <a:endParaRPr lang="en-US" sz="750" dirty="0"/>
          </a:p>
        </p:txBody>
      </p:sp>
      <p:sp>
        <p:nvSpPr>
          <p:cNvPr id="68" name="Shape 66"/>
          <p:cNvSpPr/>
          <p:nvPr/>
        </p:nvSpPr>
        <p:spPr>
          <a:xfrm>
            <a:off x="5522976" y="3017520"/>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69" name="Shape 67"/>
          <p:cNvSpPr/>
          <p:nvPr/>
        </p:nvSpPr>
        <p:spPr>
          <a:xfrm>
            <a:off x="5577840" y="3072384"/>
            <a:ext cx="1554480" cy="420624"/>
          </a:xfrm>
          <a:prstGeom prst="roundRect">
            <a:avLst>
              <a:gd name="adj" fmla="val 13043"/>
            </a:avLst>
          </a:prstGeom>
          <a:solidFill>
            <a:srgbClr val="D4A010"/>
          </a:solidFill>
          <a:ln w="12700">
            <a:solidFill>
              <a:srgbClr val="D4A010"/>
            </a:solidFill>
            <a:prstDash val="solid"/>
          </a:ln>
        </p:spPr>
      </p:sp>
      <p:sp>
        <p:nvSpPr>
          <p:cNvPr id="70" name="Text 68"/>
          <p:cNvSpPr/>
          <p:nvPr/>
        </p:nvSpPr>
        <p:spPr>
          <a:xfrm>
            <a:off x="5577840" y="3072384"/>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Probability</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Calibration</a:t>
            </a:r>
            <a:endParaRPr lang="en-US" sz="900" dirty="0"/>
          </a:p>
        </p:txBody>
      </p:sp>
      <p:sp>
        <p:nvSpPr>
          <p:cNvPr id="71" name="Text 69"/>
          <p:cNvSpPr/>
          <p:nvPr/>
        </p:nvSpPr>
        <p:spPr>
          <a:xfrm>
            <a:off x="5614416" y="3547872"/>
            <a:ext cx="1481328" cy="201168"/>
          </a:xfrm>
          <a:prstGeom prst="rect">
            <a:avLst/>
          </a:prstGeom>
          <a:noFill/>
          <a:ln/>
        </p:spPr>
        <p:txBody>
          <a:bodyPr wrap="square" lIns="0" tIns="0" rIns="0" bIns="0" rtlCol="0" anchor="ctr"/>
          <a:lstStyle/>
          <a:p>
            <a:pPr indent="0" marL="0">
              <a:buNone/>
            </a:pPr>
            <a:r>
              <a:rPr lang="en-US" sz="800" b="1" dirty="0">
                <a:solidFill>
                  <a:srgbClr val="D4A010"/>
                </a:solidFill>
                <a:latin typeface="Calibri" pitchFamily="34" charset="0"/>
                <a:ea typeface="Calibri" pitchFamily="34" charset="-122"/>
                <a:cs typeface="Calibri" pitchFamily="34" charset="-120"/>
              </a:rPr>
              <a:t>PRIMARY:</a:t>
            </a:r>
            <a:endParaRPr lang="en-US" sz="800" dirty="0"/>
          </a:p>
        </p:txBody>
      </p:sp>
      <p:sp>
        <p:nvSpPr>
          <p:cNvPr id="72" name="Text 70"/>
          <p:cNvSpPr/>
          <p:nvPr/>
        </p:nvSpPr>
        <p:spPr>
          <a:xfrm>
            <a:off x="5614416" y="3749040"/>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Log Loss / Brier</a:t>
            </a:r>
            <a:endParaRPr lang="en-US" sz="900" dirty="0"/>
          </a:p>
        </p:txBody>
      </p:sp>
      <p:sp>
        <p:nvSpPr>
          <p:cNvPr id="73" name="Text 71"/>
          <p:cNvSpPr/>
          <p:nvPr/>
        </p:nvSpPr>
        <p:spPr>
          <a:xfrm>
            <a:off x="5614416" y="4133088"/>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74" name="Text 72"/>
          <p:cNvSpPr/>
          <p:nvPr/>
        </p:nvSpPr>
        <p:spPr>
          <a:xfrm>
            <a:off x="5614416" y="4334256"/>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ROC-AUC</a:t>
            </a:r>
            <a:endParaRPr lang="en-US" sz="850" dirty="0"/>
          </a:p>
        </p:txBody>
      </p:sp>
      <p:sp>
        <p:nvSpPr>
          <p:cNvPr id="75" name="Text 73"/>
          <p:cNvSpPr/>
          <p:nvPr/>
        </p:nvSpPr>
        <p:spPr>
          <a:xfrm>
            <a:off x="5614416" y="4700016"/>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Threshold-based only</a:t>
            </a:r>
            <a:endParaRPr lang="en-US" sz="750" dirty="0"/>
          </a:p>
        </p:txBody>
      </p:sp>
      <p:sp>
        <p:nvSpPr>
          <p:cNvPr id="76" name="Shape 74"/>
          <p:cNvSpPr/>
          <p:nvPr/>
        </p:nvSpPr>
        <p:spPr>
          <a:xfrm>
            <a:off x="7296912" y="3017520"/>
            <a:ext cx="1664208" cy="1901952"/>
          </a:xfrm>
          <a:prstGeom prst="roundRect">
            <a:avLst>
              <a:gd name="adj" fmla="val 4396"/>
            </a:avLst>
          </a:prstGeom>
          <a:solidFill>
            <a:srgbClr val="FFFFFF"/>
          </a:solidFill>
          <a:ln w="6350">
            <a:solidFill>
              <a:srgbClr val="B0C8D0"/>
            </a:solidFill>
            <a:prstDash val="solid"/>
          </a:ln>
          <a:effectLst>
            <a:outerShdw sx="100000" sy="100000" kx="0" ky="0" algn="bl" rotWithShape="0" blurRad="76200" dist="25400" dir="2700000">
              <a:srgbClr val="000000">
                <a:alpha val="12000"/>
              </a:srgbClr>
            </a:outerShdw>
          </a:effectLst>
        </p:spPr>
      </p:sp>
      <p:sp>
        <p:nvSpPr>
          <p:cNvPr id="77" name="Shape 75"/>
          <p:cNvSpPr/>
          <p:nvPr/>
        </p:nvSpPr>
        <p:spPr>
          <a:xfrm>
            <a:off x="7351776" y="3072384"/>
            <a:ext cx="1554480" cy="420624"/>
          </a:xfrm>
          <a:prstGeom prst="roundRect">
            <a:avLst>
              <a:gd name="adj" fmla="val 13043"/>
            </a:avLst>
          </a:prstGeom>
          <a:solidFill>
            <a:srgbClr val="888888"/>
          </a:solidFill>
          <a:ln w="12700">
            <a:solidFill>
              <a:srgbClr val="888888"/>
            </a:solidFill>
            <a:prstDash val="solid"/>
          </a:ln>
        </p:spPr>
      </p:sp>
      <p:sp>
        <p:nvSpPr>
          <p:cNvPr id="78" name="Text 76"/>
          <p:cNvSpPr/>
          <p:nvPr/>
        </p:nvSpPr>
        <p:spPr>
          <a:xfrm>
            <a:off x="7351776" y="3072384"/>
            <a:ext cx="155448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Clustering</a:t>
            </a:r>
            <a:endParaRPr lang="en-US" sz="900" dirty="0"/>
          </a:p>
        </p:txBody>
      </p:sp>
      <p:sp>
        <p:nvSpPr>
          <p:cNvPr id="79" name="Text 77"/>
          <p:cNvSpPr/>
          <p:nvPr/>
        </p:nvSpPr>
        <p:spPr>
          <a:xfrm>
            <a:off x="7388352" y="3547872"/>
            <a:ext cx="1481328" cy="201168"/>
          </a:xfrm>
          <a:prstGeom prst="rect">
            <a:avLst/>
          </a:prstGeom>
          <a:noFill/>
          <a:ln/>
        </p:spPr>
        <p:txBody>
          <a:bodyPr wrap="square" lIns="0" tIns="0" rIns="0" bIns="0" rtlCol="0" anchor="ctr"/>
          <a:lstStyle/>
          <a:p>
            <a:pPr indent="0" marL="0">
              <a:buNone/>
            </a:pPr>
            <a:r>
              <a:rPr lang="en-US" sz="800" b="1" dirty="0">
                <a:solidFill>
                  <a:srgbClr val="888888"/>
                </a:solidFill>
                <a:latin typeface="Calibri" pitchFamily="34" charset="0"/>
                <a:ea typeface="Calibri" pitchFamily="34" charset="-122"/>
                <a:cs typeface="Calibri" pitchFamily="34" charset="-120"/>
              </a:rPr>
              <a:t>PRIMARY:</a:t>
            </a:r>
            <a:endParaRPr lang="en-US" sz="800" dirty="0"/>
          </a:p>
        </p:txBody>
      </p:sp>
      <p:sp>
        <p:nvSpPr>
          <p:cNvPr id="80" name="Text 78"/>
          <p:cNvSpPr/>
          <p:nvPr/>
        </p:nvSpPr>
        <p:spPr>
          <a:xfrm>
            <a:off x="7388352" y="3749040"/>
            <a:ext cx="1481328" cy="347472"/>
          </a:xfrm>
          <a:prstGeom prst="rect">
            <a:avLst/>
          </a:prstGeom>
          <a:noFill/>
          <a:ln/>
        </p:spPr>
        <p:txBody>
          <a:bodyPr wrap="square" lIns="0" tIns="0" rIns="0" bIns="0" rtlCol="0" anchor="ctr"/>
          <a:lstStyle/>
          <a:p>
            <a:pPr indent="0" marL="0">
              <a:buNone/>
            </a:pPr>
            <a:r>
              <a:rPr lang="en-US" sz="900" b="1" dirty="0">
                <a:solidFill>
                  <a:srgbClr val="101828"/>
                </a:solidFill>
                <a:latin typeface="Calibri" pitchFamily="34" charset="0"/>
                <a:ea typeface="Calibri" pitchFamily="34" charset="-122"/>
                <a:cs typeface="Calibri" pitchFamily="34" charset="-120"/>
              </a:rPr>
              <a:t>Silhouette Score</a:t>
            </a:r>
            <a:endParaRPr lang="en-US" sz="900" dirty="0"/>
          </a:p>
        </p:txBody>
      </p:sp>
      <p:sp>
        <p:nvSpPr>
          <p:cNvPr id="81" name="Text 79"/>
          <p:cNvSpPr/>
          <p:nvPr/>
        </p:nvSpPr>
        <p:spPr>
          <a:xfrm>
            <a:off x="7388352" y="4133088"/>
            <a:ext cx="1481328"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Also report:</a:t>
            </a:r>
            <a:endParaRPr lang="en-US" sz="800" dirty="0"/>
          </a:p>
        </p:txBody>
      </p:sp>
      <p:sp>
        <p:nvSpPr>
          <p:cNvPr id="82" name="Text 80"/>
          <p:cNvSpPr/>
          <p:nvPr/>
        </p:nvSpPr>
        <p:spPr>
          <a:xfrm>
            <a:off x="7388352" y="4334256"/>
            <a:ext cx="1481328" cy="347472"/>
          </a:xfrm>
          <a:prstGeom prst="rect">
            <a:avLst/>
          </a:prstGeom>
          <a:noFill/>
          <a:ln/>
        </p:spPr>
        <p:txBody>
          <a:bodyPr wrap="square" lIns="0" tIns="0" rIns="0" bIns="0" rtlCol="0" anchor="ctr"/>
          <a:lstStyle/>
          <a:p>
            <a:pPr indent="0" marL="0">
              <a:buNone/>
            </a:pPr>
            <a:r>
              <a:rPr lang="en-US" sz="850" dirty="0">
                <a:solidFill>
                  <a:srgbClr val="101828"/>
                </a:solidFill>
                <a:latin typeface="Calibri" pitchFamily="34" charset="0"/>
                <a:ea typeface="Calibri" pitchFamily="34" charset="-122"/>
                <a:cs typeface="Calibri" pitchFamily="34" charset="-120"/>
              </a:rPr>
              <a:t>DBI, CH Index</a:t>
            </a:r>
            <a:endParaRPr lang="en-US" sz="850" dirty="0"/>
          </a:p>
        </p:txBody>
      </p:sp>
      <p:sp>
        <p:nvSpPr>
          <p:cNvPr id="83" name="Text 81"/>
          <p:cNvSpPr/>
          <p:nvPr/>
        </p:nvSpPr>
        <p:spPr>
          <a:xfrm>
            <a:off x="7388352" y="4700016"/>
            <a:ext cx="1481328" cy="201168"/>
          </a:xfrm>
          <a:prstGeom prst="rect">
            <a:avLst/>
          </a:prstGeom>
          <a:noFill/>
          <a:ln/>
        </p:spPr>
        <p:txBody>
          <a:bodyPr wrap="square" lIns="0" tIns="0" rIns="0" bIns="0" rtlCol="0" anchor="ctr"/>
          <a:lstStyle/>
          <a:p>
            <a:pPr indent="0" marL="0">
              <a:buNone/>
            </a:pPr>
            <a:r>
              <a:rPr lang="en-US" sz="750" i="1" dirty="0">
                <a:solidFill>
                  <a:srgbClr val="E02020"/>
                </a:solidFill>
                <a:latin typeface="Calibri" pitchFamily="34" charset="0"/>
                <a:ea typeface="Calibri" pitchFamily="34" charset="-122"/>
                <a:cs typeface="Calibri" pitchFamily="34" charset="-120"/>
              </a:rPr>
              <a:t>Avoid: Accuracy (no labels)</a:t>
            </a:r>
            <a:endParaRPr lang="en-US" sz="750" dirty="0"/>
          </a:p>
        </p:txBody>
      </p:sp>
      <p:sp>
        <p:nvSpPr>
          <p:cNvPr id="84" name="Shape 82"/>
          <p:cNvSpPr/>
          <p:nvPr/>
        </p:nvSpPr>
        <p:spPr>
          <a:xfrm>
            <a:off x="256032" y="4882896"/>
            <a:ext cx="8631936" cy="384048"/>
          </a:xfrm>
          <a:prstGeom prst="roundRect">
            <a:avLst>
              <a:gd name="adj" fmla="val 14286"/>
            </a:avLst>
          </a:prstGeom>
          <a:solidFill>
            <a:srgbClr val="FEF0ED"/>
          </a:solidFill>
          <a:ln w="19050">
            <a:solidFill>
              <a:srgbClr val="E02020"/>
            </a:solidFill>
            <a:prstDash val="solid"/>
          </a:ln>
        </p:spPr>
      </p:sp>
      <p:sp>
        <p:nvSpPr>
          <p:cNvPr id="85" name="Text 83"/>
          <p:cNvSpPr/>
          <p:nvPr/>
        </p:nvSpPr>
        <p:spPr>
          <a:xfrm>
            <a:off x="384048" y="4882896"/>
            <a:ext cx="8449056" cy="384048"/>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NEVER report only one metric. A model that optimises a single metric often degrades other important metrics. Always report primary + secondary metrics and compare against a meaningful baseline.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D4A010">
              <a:alpha val="12000"/>
            </a:srgbClr>
          </a:solidFill>
          <a:ln w="12700">
            <a:solidFill>
              <a:srgbClr val="D4A010"/>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Common Mistakes in Model Evaluation - Avoid These Errors</a:t>
            </a:r>
            <a:endParaRPr lang="en-US" sz="2600" dirty="0"/>
          </a:p>
        </p:txBody>
      </p:sp>
      <p:sp>
        <p:nvSpPr>
          <p:cNvPr id="4" name="Shape 2"/>
          <p:cNvSpPr/>
          <p:nvPr/>
        </p:nvSpPr>
        <p:spPr>
          <a:xfrm>
            <a:off x="274320" y="914400"/>
            <a:ext cx="4160520" cy="1316736"/>
          </a:xfrm>
          <a:prstGeom prst="roundRect">
            <a:avLst>
              <a:gd name="adj" fmla="val 5556"/>
            </a:avLst>
          </a:prstGeom>
          <a:solidFill>
            <a:srgbClr val="101828"/>
          </a:solidFill>
          <a:ln w="12700">
            <a:solidFill>
              <a:srgbClr val="E02020"/>
            </a:solidFill>
            <a:prstDash val="solid"/>
          </a:ln>
        </p:spPr>
      </p:sp>
      <p:sp>
        <p:nvSpPr>
          <p:cNvPr id="5" name="Shape 3"/>
          <p:cNvSpPr/>
          <p:nvPr/>
        </p:nvSpPr>
        <p:spPr>
          <a:xfrm>
            <a:off x="365760" y="1005840"/>
            <a:ext cx="329184" cy="329184"/>
          </a:xfrm>
          <a:prstGeom prst="ellipse">
            <a:avLst/>
          </a:prstGeom>
          <a:solidFill>
            <a:srgbClr val="E02020"/>
          </a:solidFill>
          <a:ln w="12700">
            <a:solidFill>
              <a:srgbClr val="E02020"/>
            </a:solidFill>
            <a:prstDash val="solid"/>
          </a:ln>
        </p:spPr>
      </p:sp>
      <p:sp>
        <p:nvSpPr>
          <p:cNvPr id="6" name="Text 4"/>
          <p:cNvSpPr/>
          <p:nvPr/>
        </p:nvSpPr>
        <p:spPr>
          <a:xfrm>
            <a:off x="365760" y="10058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768096" y="1005840"/>
            <a:ext cx="3566160" cy="256032"/>
          </a:xfrm>
          <a:prstGeom prst="rect">
            <a:avLst/>
          </a:prstGeom>
          <a:noFill/>
          <a:ln/>
        </p:spPr>
        <p:txBody>
          <a:bodyPr wrap="square" lIns="0" tIns="0" rIns="0" bIns="0" rtlCol="0" anchor="ctr"/>
          <a:lstStyle/>
          <a:p>
            <a:pPr indent="0" marL="0">
              <a:buNone/>
            </a:pPr>
            <a:r>
              <a:rPr lang="en-US" sz="1100" b="1" dirty="0">
                <a:solidFill>
                  <a:srgbClr val="E02020"/>
                </a:solidFill>
                <a:latin typeface="Calibri" pitchFamily="34" charset="0"/>
                <a:ea typeface="Calibri" pitchFamily="34" charset="-122"/>
                <a:cs typeface="Calibri" pitchFamily="34" charset="-120"/>
              </a:rPr>
              <a:t>Data Leakage</a:t>
            </a:r>
            <a:endParaRPr lang="en-US" sz="1100" dirty="0"/>
          </a:p>
        </p:txBody>
      </p:sp>
      <p:sp>
        <p:nvSpPr>
          <p:cNvPr id="8" name="Text 6"/>
          <p:cNvSpPr/>
          <p:nvPr/>
        </p:nvSpPr>
        <p:spPr>
          <a:xfrm>
            <a:off x="384048" y="1316736"/>
            <a:ext cx="3913632" cy="475488"/>
          </a:xfrm>
          <a:prstGeom prst="rect">
            <a:avLst/>
          </a:prstGeom>
          <a:noFill/>
          <a:ln/>
        </p:spPr>
        <p:txBody>
          <a:bodyPr wrap="square" lIns="0" tIns="0" rIns="0" bIns="0" rtlCol="0" anchor="ctr"/>
          <a:lstStyle/>
          <a:p>
            <a:pPr indent="0" marL="0">
              <a:buNone/>
            </a:pPr>
            <a:r>
              <a:rPr lang="en-US" sz="850" dirty="0">
                <a:solidFill>
                  <a:srgbClr val="90A8C8"/>
                </a:solidFill>
                <a:latin typeface="Calibri" pitchFamily="34" charset="0"/>
                <a:ea typeface="Calibri" pitchFamily="34" charset="-122"/>
                <a:cs typeface="Calibri" pitchFamily="34" charset="-120"/>
              </a:rPr>
              <a:t>Fitting preprocessing (StandardScaler, imputer, encoder) on the full dataset BEFORE splitting. Future information leaks into training. Produces unrealistically optimistic results.</a:t>
            </a:r>
            <a:endParaRPr lang="en-US" sz="850" dirty="0"/>
          </a:p>
        </p:txBody>
      </p:sp>
      <p:sp>
        <p:nvSpPr>
          <p:cNvPr id="9" name="Text 7"/>
          <p:cNvSpPr/>
          <p:nvPr/>
        </p:nvSpPr>
        <p:spPr>
          <a:xfrm>
            <a:off x="384048" y="1828800"/>
            <a:ext cx="3913632" cy="347472"/>
          </a:xfrm>
          <a:prstGeom prst="rect">
            <a:avLst/>
          </a:prstGeom>
          <a:noFill/>
          <a:ln/>
        </p:spPr>
        <p:txBody>
          <a:bodyPr wrap="square" lIns="0" tIns="0" rIns="0" bIns="0" rtlCol="0" anchor="ctr"/>
          <a:lstStyle/>
          <a:p>
            <a:pPr indent="0" marL="0">
              <a:buNone/>
            </a:pPr>
            <a:r>
              <a:rPr lang="en-US" sz="800" b="1" dirty="0">
                <a:solidFill>
                  <a:srgbClr val="E02020"/>
                </a:solidFill>
                <a:latin typeface="Calibri" pitchFamily="34" charset="0"/>
                <a:ea typeface="Calibri" pitchFamily="34" charset="-122"/>
                <a:cs typeface="Calibri" pitchFamily="34" charset="-120"/>
              </a:rPr>
              <a:t>Fix: </a:t>
            </a:r>
            <a:pPr indent="0" marL="0">
              <a:buNone/>
            </a:pPr>
            <a:r>
              <a:rPr lang="en-US" sz="800" dirty="0">
                <a:solidFill>
                  <a:srgbClr val="7090A8"/>
                </a:solidFill>
                <a:latin typeface="Calibri" pitchFamily="34" charset="0"/>
                <a:ea typeface="Calibri" pitchFamily="34" charset="-122"/>
                <a:cs typeface="Calibri" pitchFamily="34" charset="-120"/>
              </a:rPr>
              <a:t>Always use Pipeline(). Fit preprocessing on training data only. Transform test data using train-fitted transformers. sklearn Pipeline prevents this automatically.</a:t>
            </a:r>
            <a:endParaRPr lang="en-US" sz="800" dirty="0"/>
          </a:p>
        </p:txBody>
      </p:sp>
      <p:sp>
        <p:nvSpPr>
          <p:cNvPr id="10" name="Shape 8"/>
          <p:cNvSpPr/>
          <p:nvPr/>
        </p:nvSpPr>
        <p:spPr>
          <a:xfrm>
            <a:off x="274320" y="2322576"/>
            <a:ext cx="4160520" cy="1316736"/>
          </a:xfrm>
          <a:prstGeom prst="roundRect">
            <a:avLst>
              <a:gd name="adj" fmla="val 5556"/>
            </a:avLst>
          </a:prstGeom>
          <a:solidFill>
            <a:srgbClr val="101828"/>
          </a:solidFill>
          <a:ln w="12700">
            <a:solidFill>
              <a:srgbClr val="E06A10"/>
            </a:solidFill>
            <a:prstDash val="solid"/>
          </a:ln>
        </p:spPr>
      </p:sp>
      <p:sp>
        <p:nvSpPr>
          <p:cNvPr id="11" name="Shape 9"/>
          <p:cNvSpPr/>
          <p:nvPr/>
        </p:nvSpPr>
        <p:spPr>
          <a:xfrm>
            <a:off x="365760" y="2414016"/>
            <a:ext cx="329184" cy="329184"/>
          </a:xfrm>
          <a:prstGeom prst="ellipse">
            <a:avLst/>
          </a:prstGeom>
          <a:solidFill>
            <a:srgbClr val="E06A10"/>
          </a:solidFill>
          <a:ln w="12700">
            <a:solidFill>
              <a:srgbClr val="E06A10"/>
            </a:solidFill>
            <a:prstDash val="solid"/>
          </a:ln>
        </p:spPr>
      </p:sp>
      <p:sp>
        <p:nvSpPr>
          <p:cNvPr id="12" name="Text 10"/>
          <p:cNvSpPr/>
          <p:nvPr/>
        </p:nvSpPr>
        <p:spPr>
          <a:xfrm>
            <a:off x="365760" y="241401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768096" y="2414016"/>
            <a:ext cx="3566160" cy="256032"/>
          </a:xfrm>
          <a:prstGeom prst="rect">
            <a:avLst/>
          </a:prstGeom>
          <a:noFill/>
          <a:ln/>
        </p:spPr>
        <p:txBody>
          <a:bodyPr wrap="square" lIns="0" tIns="0" rIns="0" bIns="0" rtlCol="0" anchor="ctr"/>
          <a:lstStyle/>
          <a:p>
            <a:pPr indent="0" marL="0">
              <a:buNone/>
            </a:pPr>
            <a:r>
              <a:rPr lang="en-US" sz="1100" b="1" dirty="0">
                <a:solidFill>
                  <a:srgbClr val="E06A10"/>
                </a:solidFill>
                <a:latin typeface="Calibri" pitchFamily="34" charset="0"/>
                <a:ea typeface="Calibri" pitchFamily="34" charset="-122"/>
                <a:cs typeface="Calibri" pitchFamily="34" charset="-120"/>
              </a:rPr>
              <a:t>Test Set Contamination</a:t>
            </a:r>
            <a:endParaRPr lang="en-US" sz="1100" dirty="0"/>
          </a:p>
        </p:txBody>
      </p:sp>
      <p:sp>
        <p:nvSpPr>
          <p:cNvPr id="14" name="Text 12"/>
          <p:cNvSpPr/>
          <p:nvPr/>
        </p:nvSpPr>
        <p:spPr>
          <a:xfrm>
            <a:off x="384048" y="2724912"/>
            <a:ext cx="3913632" cy="475488"/>
          </a:xfrm>
          <a:prstGeom prst="rect">
            <a:avLst/>
          </a:prstGeom>
          <a:noFill/>
          <a:ln/>
        </p:spPr>
        <p:txBody>
          <a:bodyPr wrap="square" lIns="0" tIns="0" rIns="0" bIns="0" rtlCol="0" anchor="ctr"/>
          <a:lstStyle/>
          <a:p>
            <a:pPr indent="0" marL="0">
              <a:buNone/>
            </a:pPr>
            <a:r>
              <a:rPr lang="en-US" sz="850" dirty="0">
                <a:solidFill>
                  <a:srgbClr val="90A8C8"/>
                </a:solidFill>
                <a:latin typeface="Calibri" pitchFamily="34" charset="0"/>
                <a:ea typeface="Calibri" pitchFamily="34" charset="-122"/>
                <a:cs typeface="Calibri" pitchFamily="34" charset="-120"/>
              </a:rPr>
              <a:t>Looking at test set performance and making model decisions based on it. Every look at the test set makes it an implicit validation set. Results are optimistic relative to truly unseen data.</a:t>
            </a:r>
            <a:endParaRPr lang="en-US" sz="850" dirty="0"/>
          </a:p>
        </p:txBody>
      </p:sp>
      <p:sp>
        <p:nvSpPr>
          <p:cNvPr id="15" name="Text 13"/>
          <p:cNvSpPr/>
          <p:nvPr/>
        </p:nvSpPr>
        <p:spPr>
          <a:xfrm>
            <a:off x="384048" y="3236976"/>
            <a:ext cx="3913632" cy="347472"/>
          </a:xfrm>
          <a:prstGeom prst="rect">
            <a:avLst/>
          </a:prstGeom>
          <a:noFill/>
          <a:ln/>
        </p:spPr>
        <p:txBody>
          <a:bodyPr wrap="square" lIns="0" tIns="0" rIns="0" bIns="0" rtlCol="0" anchor="ctr"/>
          <a:lstStyle/>
          <a:p>
            <a:pPr indent="0" marL="0">
              <a:buNone/>
            </a:pPr>
            <a:r>
              <a:rPr lang="en-US" sz="800" b="1" dirty="0">
                <a:solidFill>
                  <a:srgbClr val="E06A10"/>
                </a:solidFill>
                <a:latin typeface="Calibri" pitchFamily="34" charset="0"/>
                <a:ea typeface="Calibri" pitchFamily="34" charset="-122"/>
                <a:cs typeface="Calibri" pitchFamily="34" charset="-120"/>
              </a:rPr>
              <a:t>Fix: </a:t>
            </a:r>
            <a:pPr indent="0" marL="0">
              <a:buNone/>
            </a:pPr>
            <a:r>
              <a:rPr lang="en-US" sz="800" dirty="0">
                <a:solidFill>
                  <a:srgbClr val="7090A8"/>
                </a:solidFill>
                <a:latin typeface="Calibri" pitchFamily="34" charset="0"/>
                <a:ea typeface="Calibri" pitchFamily="34" charset="-122"/>
                <a:cs typeface="Calibri" pitchFamily="34" charset="-120"/>
              </a:rPr>
              <a:t>Use separate validation set for all model development decisions. Look at the test set ONCE at the very end. Never tune hyperparameters based on test set performance.</a:t>
            </a:r>
            <a:endParaRPr lang="en-US" sz="800" dirty="0"/>
          </a:p>
        </p:txBody>
      </p:sp>
      <p:sp>
        <p:nvSpPr>
          <p:cNvPr id="16" name="Shape 14"/>
          <p:cNvSpPr/>
          <p:nvPr/>
        </p:nvSpPr>
        <p:spPr>
          <a:xfrm>
            <a:off x="274320" y="3730752"/>
            <a:ext cx="4160520" cy="1316736"/>
          </a:xfrm>
          <a:prstGeom prst="roundRect">
            <a:avLst>
              <a:gd name="adj" fmla="val 5556"/>
            </a:avLst>
          </a:prstGeom>
          <a:solidFill>
            <a:srgbClr val="101828"/>
          </a:solidFill>
          <a:ln w="12700">
            <a:solidFill>
              <a:srgbClr val="6A10C0"/>
            </a:solidFill>
            <a:prstDash val="solid"/>
          </a:ln>
        </p:spPr>
      </p:sp>
      <p:sp>
        <p:nvSpPr>
          <p:cNvPr id="17" name="Shape 15"/>
          <p:cNvSpPr/>
          <p:nvPr/>
        </p:nvSpPr>
        <p:spPr>
          <a:xfrm>
            <a:off x="365760" y="3822192"/>
            <a:ext cx="329184" cy="329184"/>
          </a:xfrm>
          <a:prstGeom prst="ellipse">
            <a:avLst/>
          </a:prstGeom>
          <a:solidFill>
            <a:srgbClr val="6A10C0"/>
          </a:solidFill>
          <a:ln w="12700">
            <a:solidFill>
              <a:srgbClr val="6A10C0"/>
            </a:solidFill>
            <a:prstDash val="solid"/>
          </a:ln>
        </p:spPr>
      </p:sp>
      <p:sp>
        <p:nvSpPr>
          <p:cNvPr id="18" name="Text 16"/>
          <p:cNvSpPr/>
          <p:nvPr/>
        </p:nvSpPr>
        <p:spPr>
          <a:xfrm>
            <a:off x="365760" y="38221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768096" y="3822192"/>
            <a:ext cx="3566160" cy="256032"/>
          </a:xfrm>
          <a:prstGeom prst="rect">
            <a:avLst/>
          </a:prstGeom>
          <a:noFill/>
          <a:ln/>
        </p:spPr>
        <p:txBody>
          <a:bodyPr wrap="square" lIns="0" tIns="0" rIns="0" bIns="0" rtlCol="0" anchor="ctr"/>
          <a:lstStyle/>
          <a:p>
            <a:pPr indent="0" marL="0">
              <a:buNone/>
            </a:pPr>
            <a:r>
              <a:rPr lang="en-US" sz="1100" b="1" dirty="0">
                <a:solidFill>
                  <a:srgbClr val="6A10C0"/>
                </a:solidFill>
                <a:latin typeface="Calibri" pitchFamily="34" charset="0"/>
                <a:ea typeface="Calibri" pitchFamily="34" charset="-122"/>
                <a:cs typeface="Calibri" pitchFamily="34" charset="-120"/>
              </a:rPr>
              <a:t>Ignoring Class Imbalance</a:t>
            </a:r>
            <a:endParaRPr lang="en-US" sz="1100" dirty="0"/>
          </a:p>
        </p:txBody>
      </p:sp>
      <p:sp>
        <p:nvSpPr>
          <p:cNvPr id="20" name="Text 18"/>
          <p:cNvSpPr/>
          <p:nvPr/>
        </p:nvSpPr>
        <p:spPr>
          <a:xfrm>
            <a:off x="384048" y="4133088"/>
            <a:ext cx="3913632" cy="475488"/>
          </a:xfrm>
          <a:prstGeom prst="rect">
            <a:avLst/>
          </a:prstGeom>
          <a:noFill/>
          <a:ln/>
        </p:spPr>
        <p:txBody>
          <a:bodyPr wrap="square" lIns="0" tIns="0" rIns="0" bIns="0" rtlCol="0" anchor="ctr"/>
          <a:lstStyle/>
          <a:p>
            <a:pPr indent="0" marL="0">
              <a:buNone/>
            </a:pPr>
            <a:r>
              <a:rPr lang="en-US" sz="850" dirty="0">
                <a:solidFill>
                  <a:srgbClr val="90A8C8"/>
                </a:solidFill>
                <a:latin typeface="Calibri" pitchFamily="34" charset="0"/>
                <a:ea typeface="Calibri" pitchFamily="34" charset="-122"/>
                <a:cs typeface="Calibri" pitchFamily="34" charset="-120"/>
              </a:rPr>
              <a:t>Reporting 99% accuracy for a fraud model without mentioning the 99% legitimate baseline. High accuracy on imbalanced data usually reflects the model learning to predict the majority class.</a:t>
            </a:r>
            <a:endParaRPr lang="en-US" sz="850" dirty="0"/>
          </a:p>
        </p:txBody>
      </p:sp>
      <p:sp>
        <p:nvSpPr>
          <p:cNvPr id="21" name="Text 19"/>
          <p:cNvSpPr/>
          <p:nvPr/>
        </p:nvSpPr>
        <p:spPr>
          <a:xfrm>
            <a:off x="384048" y="4645152"/>
            <a:ext cx="3913632" cy="347472"/>
          </a:xfrm>
          <a:prstGeom prst="rect">
            <a:avLst/>
          </a:prstGeom>
          <a:noFill/>
          <a:ln/>
        </p:spPr>
        <p:txBody>
          <a:bodyPr wrap="square" lIns="0" tIns="0" rIns="0" bIns="0" rtlCol="0" anchor="ctr"/>
          <a:lstStyle/>
          <a:p>
            <a:pPr indent="0" marL="0">
              <a:buNone/>
            </a:pPr>
            <a:r>
              <a:rPr lang="en-US" sz="800" b="1" dirty="0">
                <a:solidFill>
                  <a:srgbClr val="6A10C0"/>
                </a:solidFill>
                <a:latin typeface="Calibri" pitchFamily="34" charset="0"/>
                <a:ea typeface="Calibri" pitchFamily="34" charset="-122"/>
                <a:cs typeface="Calibri" pitchFamily="34" charset="-120"/>
              </a:rPr>
              <a:t>Fix: </a:t>
            </a:r>
            <a:pPr indent="0" marL="0">
              <a:buNone/>
            </a:pPr>
            <a:r>
              <a:rPr lang="en-US" sz="800" dirty="0">
                <a:solidFill>
                  <a:srgbClr val="7090A8"/>
                </a:solidFill>
                <a:latin typeface="Calibri" pitchFamily="34" charset="0"/>
                <a:ea typeface="Calibri" pitchFamily="34" charset="-122"/>
                <a:cs typeface="Calibri" pitchFamily="34" charset="-120"/>
              </a:rPr>
              <a:t>Always report the majority-class baseline alongside accuracy. Use F1, PR-AUC, ROC-AUC, MCC. Apply class_weight='balanced' or use SMOTE/oversampling for the minority class.</a:t>
            </a:r>
            <a:endParaRPr lang="en-US" sz="800" dirty="0"/>
          </a:p>
        </p:txBody>
      </p:sp>
      <p:sp>
        <p:nvSpPr>
          <p:cNvPr id="22" name="Shape 20"/>
          <p:cNvSpPr/>
          <p:nvPr/>
        </p:nvSpPr>
        <p:spPr>
          <a:xfrm>
            <a:off x="4736592" y="914400"/>
            <a:ext cx="4160520" cy="1316736"/>
          </a:xfrm>
          <a:prstGeom prst="roundRect">
            <a:avLst>
              <a:gd name="adj" fmla="val 5556"/>
            </a:avLst>
          </a:prstGeom>
          <a:solidFill>
            <a:srgbClr val="101828"/>
          </a:solidFill>
          <a:ln w="12700">
            <a:solidFill>
              <a:srgbClr val="D4A010"/>
            </a:solidFill>
            <a:prstDash val="solid"/>
          </a:ln>
        </p:spPr>
      </p:sp>
      <p:sp>
        <p:nvSpPr>
          <p:cNvPr id="23" name="Shape 21"/>
          <p:cNvSpPr/>
          <p:nvPr/>
        </p:nvSpPr>
        <p:spPr>
          <a:xfrm>
            <a:off x="4828032" y="1005840"/>
            <a:ext cx="329184" cy="329184"/>
          </a:xfrm>
          <a:prstGeom prst="ellipse">
            <a:avLst/>
          </a:prstGeom>
          <a:solidFill>
            <a:srgbClr val="D4A010"/>
          </a:solidFill>
          <a:ln w="12700">
            <a:solidFill>
              <a:srgbClr val="D4A010"/>
            </a:solidFill>
            <a:prstDash val="solid"/>
          </a:ln>
        </p:spPr>
      </p:sp>
      <p:sp>
        <p:nvSpPr>
          <p:cNvPr id="24" name="Text 22"/>
          <p:cNvSpPr/>
          <p:nvPr/>
        </p:nvSpPr>
        <p:spPr>
          <a:xfrm>
            <a:off x="4828032" y="10058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5230368" y="1005840"/>
            <a:ext cx="3566160" cy="256032"/>
          </a:xfrm>
          <a:prstGeom prst="rect">
            <a:avLst/>
          </a:prstGeom>
          <a:noFill/>
          <a:ln/>
        </p:spPr>
        <p:txBody>
          <a:bodyPr wrap="square" lIns="0" tIns="0" rIns="0" bIns="0" rtlCol="0" anchor="ctr"/>
          <a:lstStyle/>
          <a:p>
            <a:pPr indent="0" marL="0">
              <a:buNone/>
            </a:pPr>
            <a:r>
              <a:rPr lang="en-US" sz="1100" b="1" dirty="0">
                <a:solidFill>
                  <a:srgbClr val="D4A010"/>
                </a:solidFill>
                <a:latin typeface="Calibri" pitchFamily="34" charset="0"/>
                <a:ea typeface="Calibri" pitchFamily="34" charset="-122"/>
                <a:cs typeface="Calibri" pitchFamily="34" charset="-120"/>
              </a:rPr>
              <a:t>Single Metric Tunnel Vision</a:t>
            </a:r>
            <a:endParaRPr lang="en-US" sz="1100" dirty="0"/>
          </a:p>
        </p:txBody>
      </p:sp>
      <p:sp>
        <p:nvSpPr>
          <p:cNvPr id="26" name="Text 24"/>
          <p:cNvSpPr/>
          <p:nvPr/>
        </p:nvSpPr>
        <p:spPr>
          <a:xfrm>
            <a:off x="4846320" y="1316736"/>
            <a:ext cx="3913632" cy="475488"/>
          </a:xfrm>
          <a:prstGeom prst="rect">
            <a:avLst/>
          </a:prstGeom>
          <a:noFill/>
          <a:ln/>
        </p:spPr>
        <p:txBody>
          <a:bodyPr wrap="square" lIns="0" tIns="0" rIns="0" bIns="0" rtlCol="0" anchor="ctr"/>
          <a:lstStyle/>
          <a:p>
            <a:pPr indent="0" marL="0">
              <a:buNone/>
            </a:pPr>
            <a:r>
              <a:rPr lang="en-US" sz="850" dirty="0">
                <a:solidFill>
                  <a:srgbClr val="90A8C8"/>
                </a:solidFill>
                <a:latin typeface="Calibri" pitchFamily="34" charset="0"/>
                <a:ea typeface="Calibri" pitchFamily="34" charset="-122"/>
                <a:cs typeface="Calibri" pitchFamily="34" charset="-120"/>
              </a:rPr>
              <a:t>Optimising one metric (e.g., recall) without monitoring others (precision collapses). Real-world models must balance multiple competing objectives.</a:t>
            </a:r>
            <a:endParaRPr lang="en-US" sz="850" dirty="0"/>
          </a:p>
        </p:txBody>
      </p:sp>
      <p:sp>
        <p:nvSpPr>
          <p:cNvPr id="27" name="Text 25"/>
          <p:cNvSpPr/>
          <p:nvPr/>
        </p:nvSpPr>
        <p:spPr>
          <a:xfrm>
            <a:off x="4846320" y="1828800"/>
            <a:ext cx="3913632" cy="347472"/>
          </a:xfrm>
          <a:prstGeom prst="rect">
            <a:avLst/>
          </a:prstGeom>
          <a:noFill/>
          <a:ln/>
        </p:spPr>
        <p:txBody>
          <a:bodyPr wrap="square" lIns="0" tIns="0" rIns="0" bIns="0" rtlCol="0" anchor="ctr"/>
          <a:lstStyle/>
          <a:p>
            <a:pPr indent="0" marL="0">
              <a:buNone/>
            </a:pPr>
            <a:r>
              <a:rPr lang="en-US" sz="800" b="1" dirty="0">
                <a:solidFill>
                  <a:srgbClr val="D4A010"/>
                </a:solidFill>
                <a:latin typeface="Calibri" pitchFamily="34" charset="0"/>
                <a:ea typeface="Calibri" pitchFamily="34" charset="-122"/>
                <a:cs typeface="Calibri" pitchFamily="34" charset="-120"/>
              </a:rPr>
              <a:t>Fix: </a:t>
            </a:r>
            <a:pPr indent="0" marL="0">
              <a:buNone/>
            </a:pPr>
            <a:r>
              <a:rPr lang="en-US" sz="800" dirty="0">
                <a:solidFill>
                  <a:srgbClr val="7090A8"/>
                </a:solidFill>
                <a:latin typeface="Calibri" pitchFamily="34" charset="0"/>
                <a:ea typeface="Calibri" pitchFamily="34" charset="-122"/>
                <a:cs typeface="Calibri" pitchFamily="34" charset="-120"/>
              </a:rPr>
              <a:t>Define upfront the primary metric AND secondary constraints. E.g., 'maximise recall subject to precision &gt;= 0.40'. Monitor the full metric suite during development.</a:t>
            </a:r>
            <a:endParaRPr lang="en-US" sz="800" dirty="0"/>
          </a:p>
        </p:txBody>
      </p:sp>
      <p:sp>
        <p:nvSpPr>
          <p:cNvPr id="28" name="Shape 26"/>
          <p:cNvSpPr/>
          <p:nvPr/>
        </p:nvSpPr>
        <p:spPr>
          <a:xfrm>
            <a:off x="4736592" y="2322576"/>
            <a:ext cx="4160520" cy="1316736"/>
          </a:xfrm>
          <a:prstGeom prst="roundRect">
            <a:avLst>
              <a:gd name="adj" fmla="val 5556"/>
            </a:avLst>
          </a:prstGeom>
          <a:solidFill>
            <a:srgbClr val="101828"/>
          </a:solidFill>
          <a:ln w="12700">
            <a:solidFill>
              <a:srgbClr val="1050C0"/>
            </a:solidFill>
            <a:prstDash val="solid"/>
          </a:ln>
        </p:spPr>
      </p:sp>
      <p:sp>
        <p:nvSpPr>
          <p:cNvPr id="29" name="Shape 27"/>
          <p:cNvSpPr/>
          <p:nvPr/>
        </p:nvSpPr>
        <p:spPr>
          <a:xfrm>
            <a:off x="4828032" y="2414016"/>
            <a:ext cx="329184" cy="329184"/>
          </a:xfrm>
          <a:prstGeom prst="ellipse">
            <a:avLst/>
          </a:prstGeom>
          <a:solidFill>
            <a:srgbClr val="1050C0"/>
          </a:solidFill>
          <a:ln w="12700">
            <a:solidFill>
              <a:srgbClr val="1050C0"/>
            </a:solidFill>
            <a:prstDash val="solid"/>
          </a:ln>
        </p:spPr>
      </p:sp>
      <p:sp>
        <p:nvSpPr>
          <p:cNvPr id="30" name="Text 28"/>
          <p:cNvSpPr/>
          <p:nvPr/>
        </p:nvSpPr>
        <p:spPr>
          <a:xfrm>
            <a:off x="4828032" y="241401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5230368" y="2414016"/>
            <a:ext cx="3566160" cy="256032"/>
          </a:xfrm>
          <a:prstGeom prst="rect">
            <a:avLst/>
          </a:prstGeom>
          <a:noFill/>
          <a:ln/>
        </p:spPr>
        <p:txBody>
          <a:bodyPr wrap="square" lIns="0" tIns="0" rIns="0" bIns="0" rtlCol="0" anchor="ctr"/>
          <a:lstStyle/>
          <a:p>
            <a:pPr indent="0" marL="0">
              <a:buNone/>
            </a:pPr>
            <a:r>
              <a:rPr lang="en-US" sz="1100" b="1" dirty="0">
                <a:solidFill>
                  <a:srgbClr val="1050C0"/>
                </a:solidFill>
                <a:latin typeface="Calibri" pitchFamily="34" charset="0"/>
                <a:ea typeface="Calibri" pitchFamily="34" charset="-122"/>
                <a:cs typeface="Calibri" pitchFamily="34" charset="-120"/>
              </a:rPr>
              <a:t>Overfitting to Validation</a:t>
            </a:r>
            <a:endParaRPr lang="en-US" sz="1100" dirty="0"/>
          </a:p>
        </p:txBody>
      </p:sp>
      <p:sp>
        <p:nvSpPr>
          <p:cNvPr id="32" name="Text 30"/>
          <p:cNvSpPr/>
          <p:nvPr/>
        </p:nvSpPr>
        <p:spPr>
          <a:xfrm>
            <a:off x="4846320" y="2724912"/>
            <a:ext cx="3913632" cy="475488"/>
          </a:xfrm>
          <a:prstGeom prst="rect">
            <a:avLst/>
          </a:prstGeom>
          <a:noFill/>
          <a:ln/>
        </p:spPr>
        <p:txBody>
          <a:bodyPr wrap="square" lIns="0" tIns="0" rIns="0" bIns="0" rtlCol="0" anchor="ctr"/>
          <a:lstStyle/>
          <a:p>
            <a:pPr indent="0" marL="0">
              <a:buNone/>
            </a:pPr>
            <a:r>
              <a:rPr lang="en-US" sz="850" dirty="0">
                <a:solidFill>
                  <a:srgbClr val="90A8C8"/>
                </a:solidFill>
                <a:latin typeface="Calibri" pitchFamily="34" charset="0"/>
                <a:ea typeface="Calibri" pitchFamily="34" charset="-122"/>
                <a:cs typeface="Calibri" pitchFamily="34" charset="-120"/>
              </a:rPr>
              <a:t>Running hundreds of experiments and reporting the best validation set result. Multiple comparisons inflate apparent performance. The winning model may have 'gotten lucky' on the validation set.</a:t>
            </a:r>
            <a:endParaRPr lang="en-US" sz="850" dirty="0"/>
          </a:p>
        </p:txBody>
      </p:sp>
      <p:sp>
        <p:nvSpPr>
          <p:cNvPr id="33" name="Text 31"/>
          <p:cNvSpPr/>
          <p:nvPr/>
        </p:nvSpPr>
        <p:spPr>
          <a:xfrm>
            <a:off x="4846320" y="3236976"/>
            <a:ext cx="3913632" cy="347472"/>
          </a:xfrm>
          <a:prstGeom prst="rect">
            <a:avLst/>
          </a:prstGeom>
          <a:noFill/>
          <a:ln/>
        </p:spPr>
        <p:txBody>
          <a:bodyPr wrap="square" lIns="0" tIns="0" rIns="0" bIns="0" rtlCol="0" anchor="ctr"/>
          <a:lstStyle/>
          <a:p>
            <a:pPr indent="0" marL="0">
              <a:buNone/>
            </a:pPr>
            <a:r>
              <a:rPr lang="en-US" sz="800" b="1" dirty="0">
                <a:solidFill>
                  <a:srgbClr val="1050C0"/>
                </a:solidFill>
                <a:latin typeface="Calibri" pitchFamily="34" charset="0"/>
                <a:ea typeface="Calibri" pitchFamily="34" charset="-122"/>
                <a:cs typeface="Calibri" pitchFamily="34" charset="-120"/>
              </a:rPr>
              <a:t>Fix: </a:t>
            </a:r>
            <a:pPr indent="0" marL="0">
              <a:buNone/>
            </a:pPr>
            <a:r>
              <a:rPr lang="en-US" sz="800" dirty="0">
                <a:solidFill>
                  <a:srgbClr val="7090A8"/>
                </a:solidFill>
                <a:latin typeface="Calibri" pitchFamily="34" charset="0"/>
                <a:ea typeface="Calibri" pitchFamily="34" charset="-122"/>
                <a:cs typeface="Calibri" pitchFamily="34" charset="-120"/>
              </a:rPr>
              <a:t>Use cross-validation for more reliable estimates. Apply Bonferroni correction for many comparisons. Confirm final performance on the held-out test set. Report standard deviation of CV scores.</a:t>
            </a:r>
            <a:endParaRPr lang="en-US" sz="800" dirty="0"/>
          </a:p>
        </p:txBody>
      </p:sp>
      <p:sp>
        <p:nvSpPr>
          <p:cNvPr id="34" name="Shape 32"/>
          <p:cNvSpPr/>
          <p:nvPr/>
        </p:nvSpPr>
        <p:spPr>
          <a:xfrm>
            <a:off x="4736592" y="3730752"/>
            <a:ext cx="4160520" cy="1316736"/>
          </a:xfrm>
          <a:prstGeom prst="roundRect">
            <a:avLst>
              <a:gd name="adj" fmla="val 5556"/>
            </a:avLst>
          </a:prstGeom>
          <a:solidFill>
            <a:srgbClr val="101828"/>
          </a:solidFill>
          <a:ln w="12700">
            <a:solidFill>
              <a:srgbClr val="14C870"/>
            </a:solidFill>
            <a:prstDash val="solid"/>
          </a:ln>
        </p:spPr>
      </p:sp>
      <p:sp>
        <p:nvSpPr>
          <p:cNvPr id="35" name="Shape 33"/>
          <p:cNvSpPr/>
          <p:nvPr/>
        </p:nvSpPr>
        <p:spPr>
          <a:xfrm>
            <a:off x="4828032" y="3822192"/>
            <a:ext cx="329184" cy="329184"/>
          </a:xfrm>
          <a:prstGeom prst="ellipse">
            <a:avLst/>
          </a:prstGeom>
          <a:solidFill>
            <a:srgbClr val="14C870"/>
          </a:solidFill>
          <a:ln w="12700">
            <a:solidFill>
              <a:srgbClr val="14C870"/>
            </a:solidFill>
            <a:prstDash val="solid"/>
          </a:ln>
        </p:spPr>
      </p:sp>
      <p:sp>
        <p:nvSpPr>
          <p:cNvPr id="36" name="Text 34"/>
          <p:cNvSpPr/>
          <p:nvPr/>
        </p:nvSpPr>
        <p:spPr>
          <a:xfrm>
            <a:off x="4828032" y="38221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7" name="Text 35"/>
          <p:cNvSpPr/>
          <p:nvPr/>
        </p:nvSpPr>
        <p:spPr>
          <a:xfrm>
            <a:off x="5230368" y="3822192"/>
            <a:ext cx="3566160" cy="256032"/>
          </a:xfrm>
          <a:prstGeom prst="rect">
            <a:avLst/>
          </a:prstGeom>
          <a:noFill/>
          <a:ln/>
        </p:spPr>
        <p:txBody>
          <a:bodyPr wrap="square" lIns="0" tIns="0" rIns="0" bIns="0" rtlCol="0" anchor="ctr"/>
          <a:lstStyle/>
          <a:p>
            <a:pPr indent="0" marL="0">
              <a:buNone/>
            </a:pPr>
            <a:r>
              <a:rPr lang="en-US" sz="1100" b="1" dirty="0">
                <a:solidFill>
                  <a:srgbClr val="14C870"/>
                </a:solidFill>
                <a:latin typeface="Calibri" pitchFamily="34" charset="0"/>
                <a:ea typeface="Calibri" pitchFamily="34" charset="-122"/>
                <a:cs typeface="Calibri" pitchFamily="34" charset="-120"/>
              </a:rPr>
              <a:t>Wrong Aggregation for Multi-Class</a:t>
            </a:r>
            <a:endParaRPr lang="en-US" sz="1100" dirty="0"/>
          </a:p>
        </p:txBody>
      </p:sp>
      <p:sp>
        <p:nvSpPr>
          <p:cNvPr id="38" name="Text 36"/>
          <p:cNvSpPr/>
          <p:nvPr/>
        </p:nvSpPr>
        <p:spPr>
          <a:xfrm>
            <a:off x="4846320" y="4133088"/>
            <a:ext cx="3913632" cy="475488"/>
          </a:xfrm>
          <a:prstGeom prst="rect">
            <a:avLst/>
          </a:prstGeom>
          <a:noFill/>
          <a:ln/>
        </p:spPr>
        <p:txBody>
          <a:bodyPr wrap="square" lIns="0" tIns="0" rIns="0" bIns="0" rtlCol="0" anchor="ctr"/>
          <a:lstStyle/>
          <a:p>
            <a:pPr indent="0" marL="0">
              <a:buNone/>
            </a:pPr>
            <a:r>
              <a:rPr lang="en-US" sz="850" dirty="0">
                <a:solidFill>
                  <a:srgbClr val="90A8C8"/>
                </a:solidFill>
                <a:latin typeface="Calibri" pitchFamily="34" charset="0"/>
                <a:ea typeface="Calibri" pitchFamily="34" charset="-122"/>
                <a:cs typeface="Calibri" pitchFamily="34" charset="-120"/>
              </a:rPr>
              <a:t>Reporting only weighted average F1 for an imbalanced multi-class problem. Weighted average is dominated by large classes and hides poor performance on rare classes.</a:t>
            </a:r>
            <a:endParaRPr lang="en-US" sz="850" dirty="0"/>
          </a:p>
        </p:txBody>
      </p:sp>
      <p:sp>
        <p:nvSpPr>
          <p:cNvPr id="39" name="Text 37"/>
          <p:cNvSpPr/>
          <p:nvPr/>
        </p:nvSpPr>
        <p:spPr>
          <a:xfrm>
            <a:off x="4846320" y="4645152"/>
            <a:ext cx="3913632" cy="347472"/>
          </a:xfrm>
          <a:prstGeom prst="rect">
            <a:avLst/>
          </a:prstGeom>
          <a:noFill/>
          <a:ln/>
        </p:spPr>
        <p:txBody>
          <a:bodyPr wrap="square" lIns="0" tIns="0" rIns="0" bIns="0" rtlCol="0" anchor="ctr"/>
          <a:lstStyle/>
          <a:p>
            <a:pPr indent="0" marL="0">
              <a:buNone/>
            </a:pPr>
            <a:r>
              <a:rPr lang="en-US" sz="800" b="1" dirty="0">
                <a:solidFill>
                  <a:srgbClr val="14C870"/>
                </a:solidFill>
                <a:latin typeface="Calibri" pitchFamily="34" charset="0"/>
                <a:ea typeface="Calibri" pitchFamily="34" charset="-122"/>
                <a:cs typeface="Calibri" pitchFamily="34" charset="-120"/>
              </a:rPr>
              <a:t>Fix: </a:t>
            </a:r>
            <a:pPr indent="0" marL="0">
              <a:buNone/>
            </a:pPr>
            <a:r>
              <a:rPr lang="en-US" sz="800" dirty="0">
                <a:solidFill>
                  <a:srgbClr val="7090A8"/>
                </a:solidFill>
                <a:latin typeface="Calibri" pitchFamily="34" charset="0"/>
                <a:ea typeface="Calibri" pitchFamily="34" charset="-122"/>
                <a:cs typeface="Calibri" pitchFamily="34" charset="-120"/>
              </a:rPr>
              <a:t>Report BOTH macro and weighted F1. Include per-class F1 scores with support. If rare classes are important, track macro F1 and per-class F1 on the underperforming classes specifically.</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0">
              <a:alpha val="12000"/>
            </a:srgbClr>
          </a:solidFill>
          <a:ln w="12700">
            <a:solidFill>
              <a:srgbClr val="D4A010"/>
            </a:solidFill>
            <a:prstDash val="solid"/>
          </a:ln>
        </p:spPr>
      </p:sp>
      <p:sp>
        <p:nvSpPr>
          <p:cNvPr id="3" name="Shape 1"/>
          <p:cNvSpPr/>
          <p:nvPr/>
        </p:nvSpPr>
        <p:spPr>
          <a:xfrm>
            <a:off x="6858000" y="3200400"/>
            <a:ext cx="3657600" cy="3657600"/>
          </a:xfrm>
          <a:prstGeom prst="ellipse">
            <a:avLst/>
          </a:prstGeom>
          <a:solidFill>
            <a:srgbClr val="0A7E8C">
              <a:alpha val="16000"/>
            </a:srgbClr>
          </a:solidFill>
          <a:ln w="12700">
            <a:solidFill>
              <a:srgbClr val="0A7E8C"/>
            </a:solidFill>
            <a:prstDash val="solid"/>
          </a:ln>
        </p:spPr>
      </p:sp>
      <p:sp>
        <p:nvSpPr>
          <p:cNvPr id="4" name="Text 2"/>
          <p:cNvSpPr/>
          <p:nvPr/>
        </p:nvSpPr>
        <p:spPr>
          <a:xfrm>
            <a:off x="457200" y="164592"/>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Key Takeaways - ML Model Evaluation Metrics</a:t>
            </a:r>
            <a:endParaRPr lang="en-US" sz="2800" dirty="0"/>
          </a:p>
        </p:txBody>
      </p:sp>
      <p:sp>
        <p:nvSpPr>
          <p:cNvPr id="5" name="Shape 3"/>
          <p:cNvSpPr/>
          <p:nvPr/>
        </p:nvSpPr>
        <p:spPr>
          <a:xfrm>
            <a:off x="320040" y="932688"/>
            <a:ext cx="4160520" cy="731520"/>
          </a:xfrm>
          <a:prstGeom prst="roundRect">
            <a:avLst>
              <a:gd name="adj" fmla="val 8750"/>
            </a:avLst>
          </a:prstGeom>
          <a:solidFill>
            <a:srgbClr val="101828"/>
          </a:solidFill>
          <a:ln w="6350">
            <a:solidFill>
              <a:srgbClr val="14B8C8"/>
            </a:solidFill>
            <a:prstDash val="solid"/>
          </a:ln>
        </p:spPr>
      </p:sp>
      <p:sp>
        <p:nvSpPr>
          <p:cNvPr id="6" name="Shape 4"/>
          <p:cNvSpPr/>
          <p:nvPr/>
        </p:nvSpPr>
        <p:spPr>
          <a:xfrm>
            <a:off x="411480" y="1133856"/>
            <a:ext cx="292608" cy="292608"/>
          </a:xfrm>
          <a:prstGeom prst="ellipse">
            <a:avLst/>
          </a:prstGeom>
          <a:solidFill>
            <a:srgbClr val="F0C840"/>
          </a:solidFill>
          <a:ln w="12700">
            <a:solidFill>
              <a:srgbClr val="F0C840"/>
            </a:solidFill>
            <a:prstDash val="solid"/>
          </a:ln>
        </p:spPr>
      </p:sp>
      <p:sp>
        <p:nvSpPr>
          <p:cNvPr id="7" name="Text 5"/>
          <p:cNvSpPr/>
          <p:nvPr/>
        </p:nvSpPr>
        <p:spPr>
          <a:xfrm>
            <a:off x="411480" y="113385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1</a:t>
            </a:r>
            <a:endParaRPr lang="en-US" sz="800" dirty="0"/>
          </a:p>
        </p:txBody>
      </p:sp>
      <p:sp>
        <p:nvSpPr>
          <p:cNvPr id="8" name="Text 6"/>
          <p:cNvSpPr/>
          <p:nvPr/>
        </p:nvSpPr>
        <p:spPr>
          <a:xfrm>
            <a:off x="777240" y="100584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NEVER evaluate on training data. The only honest performance estimate uses held-out data the model has never seen. Reserve the test set for ONE final evaluation only.</a:t>
            </a:r>
            <a:endParaRPr lang="en-US" sz="850" dirty="0"/>
          </a:p>
        </p:txBody>
      </p:sp>
      <p:sp>
        <p:nvSpPr>
          <p:cNvPr id="9" name="Shape 7"/>
          <p:cNvSpPr/>
          <p:nvPr/>
        </p:nvSpPr>
        <p:spPr>
          <a:xfrm>
            <a:off x="320040" y="1755648"/>
            <a:ext cx="4160520" cy="731520"/>
          </a:xfrm>
          <a:prstGeom prst="roundRect">
            <a:avLst>
              <a:gd name="adj" fmla="val 8750"/>
            </a:avLst>
          </a:prstGeom>
          <a:solidFill>
            <a:srgbClr val="101828"/>
          </a:solidFill>
          <a:ln w="6350">
            <a:solidFill>
              <a:srgbClr val="14B8C8"/>
            </a:solidFill>
            <a:prstDash val="solid"/>
          </a:ln>
        </p:spPr>
      </p:sp>
      <p:sp>
        <p:nvSpPr>
          <p:cNvPr id="10" name="Shape 8"/>
          <p:cNvSpPr/>
          <p:nvPr/>
        </p:nvSpPr>
        <p:spPr>
          <a:xfrm>
            <a:off x="411480" y="1956816"/>
            <a:ext cx="292608" cy="292608"/>
          </a:xfrm>
          <a:prstGeom prst="ellipse">
            <a:avLst/>
          </a:prstGeom>
          <a:solidFill>
            <a:srgbClr val="F0C840"/>
          </a:solidFill>
          <a:ln w="12700">
            <a:solidFill>
              <a:srgbClr val="F0C840"/>
            </a:solidFill>
            <a:prstDash val="solid"/>
          </a:ln>
        </p:spPr>
      </p:sp>
      <p:sp>
        <p:nvSpPr>
          <p:cNvPr id="11" name="Text 9"/>
          <p:cNvSpPr/>
          <p:nvPr/>
        </p:nvSpPr>
        <p:spPr>
          <a:xfrm>
            <a:off x="411480" y="195681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777240" y="182880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Underfitting: low train AND test accuracy (model too simple). Overfitting: very high train, low test (model too complex). The goal is a small train-test gap with high test accuracy.</a:t>
            </a:r>
            <a:endParaRPr lang="en-US" sz="850" dirty="0"/>
          </a:p>
        </p:txBody>
      </p:sp>
      <p:sp>
        <p:nvSpPr>
          <p:cNvPr id="13" name="Shape 11"/>
          <p:cNvSpPr/>
          <p:nvPr/>
        </p:nvSpPr>
        <p:spPr>
          <a:xfrm>
            <a:off x="320040" y="2578608"/>
            <a:ext cx="4160520" cy="731520"/>
          </a:xfrm>
          <a:prstGeom prst="roundRect">
            <a:avLst>
              <a:gd name="adj" fmla="val 8750"/>
            </a:avLst>
          </a:prstGeom>
          <a:solidFill>
            <a:srgbClr val="101828"/>
          </a:solidFill>
          <a:ln w="6350">
            <a:solidFill>
              <a:srgbClr val="14B8C8"/>
            </a:solidFill>
            <a:prstDash val="solid"/>
          </a:ln>
        </p:spPr>
      </p:sp>
      <p:sp>
        <p:nvSpPr>
          <p:cNvPr id="14" name="Shape 12"/>
          <p:cNvSpPr/>
          <p:nvPr/>
        </p:nvSpPr>
        <p:spPr>
          <a:xfrm>
            <a:off x="411480" y="2779776"/>
            <a:ext cx="292608" cy="292608"/>
          </a:xfrm>
          <a:prstGeom prst="ellipse">
            <a:avLst/>
          </a:prstGeom>
          <a:solidFill>
            <a:srgbClr val="F0C840"/>
          </a:solidFill>
          <a:ln w="12700">
            <a:solidFill>
              <a:srgbClr val="F0C840"/>
            </a:solidFill>
            <a:prstDash val="solid"/>
          </a:ln>
        </p:spPr>
      </p:sp>
      <p:sp>
        <p:nvSpPr>
          <p:cNvPr id="15" name="Text 13"/>
          <p:cNvSpPr/>
          <p:nvPr/>
        </p:nvSpPr>
        <p:spPr>
          <a:xfrm>
            <a:off x="411480" y="277977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777240" y="265176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The confusion matrix (TP, TN, FP, FN) is the foundation. EVERY classification metric is derived from these four numbers. Always look at the confusion matrix, not just summary metrics.</a:t>
            </a:r>
            <a:endParaRPr lang="en-US" sz="850" dirty="0"/>
          </a:p>
        </p:txBody>
      </p:sp>
      <p:sp>
        <p:nvSpPr>
          <p:cNvPr id="17" name="Shape 15"/>
          <p:cNvSpPr/>
          <p:nvPr/>
        </p:nvSpPr>
        <p:spPr>
          <a:xfrm>
            <a:off x="320040" y="3401568"/>
            <a:ext cx="4160520" cy="731520"/>
          </a:xfrm>
          <a:prstGeom prst="roundRect">
            <a:avLst>
              <a:gd name="adj" fmla="val 8750"/>
            </a:avLst>
          </a:prstGeom>
          <a:solidFill>
            <a:srgbClr val="101828"/>
          </a:solidFill>
          <a:ln w="6350">
            <a:solidFill>
              <a:srgbClr val="14B8C8"/>
            </a:solidFill>
            <a:prstDash val="solid"/>
          </a:ln>
        </p:spPr>
      </p:sp>
      <p:sp>
        <p:nvSpPr>
          <p:cNvPr id="18" name="Shape 16"/>
          <p:cNvSpPr/>
          <p:nvPr/>
        </p:nvSpPr>
        <p:spPr>
          <a:xfrm>
            <a:off x="411480" y="3602736"/>
            <a:ext cx="292608" cy="292608"/>
          </a:xfrm>
          <a:prstGeom prst="ellipse">
            <a:avLst/>
          </a:prstGeom>
          <a:solidFill>
            <a:srgbClr val="F0C840"/>
          </a:solidFill>
          <a:ln w="12700">
            <a:solidFill>
              <a:srgbClr val="F0C840"/>
            </a:solidFill>
            <a:prstDash val="solid"/>
          </a:ln>
        </p:spPr>
      </p:sp>
      <p:sp>
        <p:nvSpPr>
          <p:cNvPr id="19" name="Text 17"/>
          <p:cNvSpPr/>
          <p:nvPr/>
        </p:nvSpPr>
        <p:spPr>
          <a:xfrm>
            <a:off x="411480" y="360273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777240" y="347472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Accuracy is dangerous for imbalanced datasets. A 99% fraud model that detects zero frauds has accuracy = 99%. Always compare to the majority-class baseline.</a:t>
            </a:r>
            <a:endParaRPr lang="en-US" sz="850" dirty="0"/>
          </a:p>
        </p:txBody>
      </p:sp>
      <p:sp>
        <p:nvSpPr>
          <p:cNvPr id="21" name="Shape 19"/>
          <p:cNvSpPr/>
          <p:nvPr/>
        </p:nvSpPr>
        <p:spPr>
          <a:xfrm>
            <a:off x="320040" y="4224528"/>
            <a:ext cx="4160520" cy="731520"/>
          </a:xfrm>
          <a:prstGeom prst="roundRect">
            <a:avLst>
              <a:gd name="adj" fmla="val 8750"/>
            </a:avLst>
          </a:prstGeom>
          <a:solidFill>
            <a:srgbClr val="101828"/>
          </a:solidFill>
          <a:ln w="6350">
            <a:solidFill>
              <a:srgbClr val="14B8C8"/>
            </a:solidFill>
            <a:prstDash val="solid"/>
          </a:ln>
        </p:spPr>
      </p:sp>
      <p:sp>
        <p:nvSpPr>
          <p:cNvPr id="22" name="Shape 20"/>
          <p:cNvSpPr/>
          <p:nvPr/>
        </p:nvSpPr>
        <p:spPr>
          <a:xfrm>
            <a:off x="411480" y="4425696"/>
            <a:ext cx="292608" cy="292608"/>
          </a:xfrm>
          <a:prstGeom prst="ellipse">
            <a:avLst/>
          </a:prstGeom>
          <a:solidFill>
            <a:srgbClr val="F0C840"/>
          </a:solidFill>
          <a:ln w="12700">
            <a:solidFill>
              <a:srgbClr val="F0C840"/>
            </a:solidFill>
            <a:prstDash val="solid"/>
          </a:ln>
        </p:spPr>
      </p:sp>
      <p:sp>
        <p:nvSpPr>
          <p:cNvPr id="23" name="Text 21"/>
          <p:cNvSpPr/>
          <p:nvPr/>
        </p:nvSpPr>
        <p:spPr>
          <a:xfrm>
            <a:off x="411480" y="442569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777240" y="429768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Precision: quality of positive predictions (minimise FP). Recall: completeness of detection (minimise FN). The right one to prioritise depends entirely on the cost of each error type.</a:t>
            </a:r>
            <a:endParaRPr lang="en-US" sz="850" dirty="0"/>
          </a:p>
        </p:txBody>
      </p:sp>
      <p:sp>
        <p:nvSpPr>
          <p:cNvPr id="25" name="Shape 23"/>
          <p:cNvSpPr/>
          <p:nvPr/>
        </p:nvSpPr>
        <p:spPr>
          <a:xfrm>
            <a:off x="4782312" y="932688"/>
            <a:ext cx="4160520" cy="731520"/>
          </a:xfrm>
          <a:prstGeom prst="roundRect">
            <a:avLst>
              <a:gd name="adj" fmla="val 8750"/>
            </a:avLst>
          </a:prstGeom>
          <a:solidFill>
            <a:srgbClr val="101828"/>
          </a:solidFill>
          <a:ln w="6350">
            <a:solidFill>
              <a:srgbClr val="14B8C8"/>
            </a:solidFill>
            <a:prstDash val="solid"/>
          </a:ln>
        </p:spPr>
      </p:sp>
      <p:sp>
        <p:nvSpPr>
          <p:cNvPr id="26" name="Shape 24"/>
          <p:cNvSpPr/>
          <p:nvPr/>
        </p:nvSpPr>
        <p:spPr>
          <a:xfrm>
            <a:off x="4873752" y="1133856"/>
            <a:ext cx="292608" cy="292608"/>
          </a:xfrm>
          <a:prstGeom prst="ellipse">
            <a:avLst/>
          </a:prstGeom>
          <a:solidFill>
            <a:srgbClr val="F0C840"/>
          </a:solidFill>
          <a:ln w="12700">
            <a:solidFill>
              <a:srgbClr val="F0C840"/>
            </a:solidFill>
            <a:prstDash val="solid"/>
          </a:ln>
        </p:spPr>
      </p:sp>
      <p:sp>
        <p:nvSpPr>
          <p:cNvPr id="27" name="Text 25"/>
          <p:cNvSpPr/>
          <p:nvPr/>
        </p:nvSpPr>
        <p:spPr>
          <a:xfrm>
            <a:off x="4873752" y="113385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6</a:t>
            </a:r>
            <a:endParaRPr lang="en-US" sz="800" dirty="0"/>
          </a:p>
        </p:txBody>
      </p:sp>
      <p:sp>
        <p:nvSpPr>
          <p:cNvPr id="28" name="Text 26"/>
          <p:cNvSpPr/>
          <p:nvPr/>
        </p:nvSpPr>
        <p:spPr>
          <a:xfrm>
            <a:off x="5239512" y="100584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F1 is the harmonic mean of precision and recall. Low F1 when EITHER is low, even if the other is perfect. F-Beta lets you weight one more than the other.</a:t>
            </a:r>
            <a:endParaRPr lang="en-US" sz="850" dirty="0"/>
          </a:p>
        </p:txBody>
      </p:sp>
      <p:sp>
        <p:nvSpPr>
          <p:cNvPr id="29" name="Shape 27"/>
          <p:cNvSpPr/>
          <p:nvPr/>
        </p:nvSpPr>
        <p:spPr>
          <a:xfrm>
            <a:off x="4782312" y="1755648"/>
            <a:ext cx="4160520" cy="731520"/>
          </a:xfrm>
          <a:prstGeom prst="roundRect">
            <a:avLst>
              <a:gd name="adj" fmla="val 8750"/>
            </a:avLst>
          </a:prstGeom>
          <a:solidFill>
            <a:srgbClr val="101828"/>
          </a:solidFill>
          <a:ln w="6350">
            <a:solidFill>
              <a:srgbClr val="14B8C8"/>
            </a:solidFill>
            <a:prstDash val="solid"/>
          </a:ln>
        </p:spPr>
      </p:sp>
      <p:sp>
        <p:nvSpPr>
          <p:cNvPr id="30" name="Shape 28"/>
          <p:cNvSpPr/>
          <p:nvPr/>
        </p:nvSpPr>
        <p:spPr>
          <a:xfrm>
            <a:off x="4873752" y="1956816"/>
            <a:ext cx="292608" cy="292608"/>
          </a:xfrm>
          <a:prstGeom prst="ellipse">
            <a:avLst/>
          </a:prstGeom>
          <a:solidFill>
            <a:srgbClr val="F0C840"/>
          </a:solidFill>
          <a:ln w="12700">
            <a:solidFill>
              <a:srgbClr val="F0C840"/>
            </a:solidFill>
            <a:prstDash val="solid"/>
          </a:ln>
        </p:spPr>
      </p:sp>
      <p:sp>
        <p:nvSpPr>
          <p:cNvPr id="31" name="Text 29"/>
          <p:cNvSpPr/>
          <p:nvPr/>
        </p:nvSpPr>
        <p:spPr>
          <a:xfrm>
            <a:off x="4873752" y="195681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7</a:t>
            </a:r>
            <a:endParaRPr lang="en-US" sz="800" dirty="0"/>
          </a:p>
        </p:txBody>
      </p:sp>
      <p:sp>
        <p:nvSpPr>
          <p:cNvPr id="32" name="Text 30"/>
          <p:cNvSpPr/>
          <p:nvPr/>
        </p:nvSpPr>
        <p:spPr>
          <a:xfrm>
            <a:off x="5239512" y="182880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Macro avg = equal weight to all classes. Weighted avg = proportional to class size. Always report BOTH for imbalanced multi-class problems. Check per-class F1 for rare classes.</a:t>
            </a:r>
            <a:endParaRPr lang="en-US" sz="850" dirty="0"/>
          </a:p>
        </p:txBody>
      </p:sp>
      <p:sp>
        <p:nvSpPr>
          <p:cNvPr id="33" name="Shape 31"/>
          <p:cNvSpPr/>
          <p:nvPr/>
        </p:nvSpPr>
        <p:spPr>
          <a:xfrm>
            <a:off x="4782312" y="2578608"/>
            <a:ext cx="4160520" cy="731520"/>
          </a:xfrm>
          <a:prstGeom prst="roundRect">
            <a:avLst>
              <a:gd name="adj" fmla="val 8750"/>
            </a:avLst>
          </a:prstGeom>
          <a:solidFill>
            <a:srgbClr val="101828"/>
          </a:solidFill>
          <a:ln w="6350">
            <a:solidFill>
              <a:srgbClr val="14B8C8"/>
            </a:solidFill>
            <a:prstDash val="solid"/>
          </a:ln>
        </p:spPr>
      </p:sp>
      <p:sp>
        <p:nvSpPr>
          <p:cNvPr id="34" name="Shape 32"/>
          <p:cNvSpPr/>
          <p:nvPr/>
        </p:nvSpPr>
        <p:spPr>
          <a:xfrm>
            <a:off x="4873752" y="2779776"/>
            <a:ext cx="292608" cy="292608"/>
          </a:xfrm>
          <a:prstGeom prst="ellipse">
            <a:avLst/>
          </a:prstGeom>
          <a:solidFill>
            <a:srgbClr val="F0C840"/>
          </a:solidFill>
          <a:ln w="12700">
            <a:solidFill>
              <a:srgbClr val="F0C840"/>
            </a:solidFill>
            <a:prstDash val="solid"/>
          </a:ln>
        </p:spPr>
      </p:sp>
      <p:sp>
        <p:nvSpPr>
          <p:cNvPr id="35" name="Text 33"/>
          <p:cNvSpPr/>
          <p:nvPr/>
        </p:nvSpPr>
        <p:spPr>
          <a:xfrm>
            <a:off x="4873752" y="277977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8</a:t>
            </a:r>
            <a:endParaRPr lang="en-US" sz="800" dirty="0"/>
          </a:p>
        </p:txBody>
      </p:sp>
      <p:sp>
        <p:nvSpPr>
          <p:cNvPr id="36" name="Text 34"/>
          <p:cNvSpPr/>
          <p:nvPr/>
        </p:nvSpPr>
        <p:spPr>
          <a:xfrm>
            <a:off x="5239512" y="265176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ROC-AUC: probability model ranks a random positive higher than a random negative. PR-AUC: use for highly imbalanced data where positives are rare.</a:t>
            </a:r>
            <a:endParaRPr lang="en-US" sz="850" dirty="0"/>
          </a:p>
        </p:txBody>
      </p:sp>
      <p:sp>
        <p:nvSpPr>
          <p:cNvPr id="37" name="Shape 35"/>
          <p:cNvSpPr/>
          <p:nvPr/>
        </p:nvSpPr>
        <p:spPr>
          <a:xfrm>
            <a:off x="4782312" y="3401568"/>
            <a:ext cx="4160520" cy="731520"/>
          </a:xfrm>
          <a:prstGeom prst="roundRect">
            <a:avLst>
              <a:gd name="adj" fmla="val 8750"/>
            </a:avLst>
          </a:prstGeom>
          <a:solidFill>
            <a:srgbClr val="101828"/>
          </a:solidFill>
          <a:ln w="6350">
            <a:solidFill>
              <a:srgbClr val="14B8C8"/>
            </a:solidFill>
            <a:prstDash val="solid"/>
          </a:ln>
        </p:spPr>
      </p:sp>
      <p:sp>
        <p:nvSpPr>
          <p:cNvPr id="38" name="Shape 36"/>
          <p:cNvSpPr/>
          <p:nvPr/>
        </p:nvSpPr>
        <p:spPr>
          <a:xfrm>
            <a:off x="4873752" y="3602736"/>
            <a:ext cx="292608" cy="292608"/>
          </a:xfrm>
          <a:prstGeom prst="ellipse">
            <a:avLst/>
          </a:prstGeom>
          <a:solidFill>
            <a:srgbClr val="F0C840"/>
          </a:solidFill>
          <a:ln w="12700">
            <a:solidFill>
              <a:srgbClr val="F0C840"/>
            </a:solidFill>
            <a:prstDash val="solid"/>
          </a:ln>
        </p:spPr>
      </p:sp>
      <p:sp>
        <p:nvSpPr>
          <p:cNvPr id="39" name="Text 37"/>
          <p:cNvSpPr/>
          <p:nvPr/>
        </p:nvSpPr>
        <p:spPr>
          <a:xfrm>
            <a:off x="4873752" y="360273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9</a:t>
            </a:r>
            <a:endParaRPr lang="en-US" sz="800" dirty="0"/>
          </a:p>
        </p:txBody>
      </p:sp>
      <p:sp>
        <p:nvSpPr>
          <p:cNvPr id="40" name="Text 38"/>
          <p:cNvSpPr/>
          <p:nvPr/>
        </p:nvSpPr>
        <p:spPr>
          <a:xfrm>
            <a:off x="5239512" y="347472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MCC is the most reliable single metric for binary classification. Range -1 to +1. Takes all four confusion matrix cells into account. Use when classes are imbalanced.</a:t>
            </a:r>
            <a:endParaRPr lang="en-US" sz="850" dirty="0"/>
          </a:p>
        </p:txBody>
      </p:sp>
      <p:sp>
        <p:nvSpPr>
          <p:cNvPr id="41" name="Shape 39"/>
          <p:cNvSpPr/>
          <p:nvPr/>
        </p:nvSpPr>
        <p:spPr>
          <a:xfrm>
            <a:off x="4782312" y="4224528"/>
            <a:ext cx="4160520" cy="731520"/>
          </a:xfrm>
          <a:prstGeom prst="roundRect">
            <a:avLst>
              <a:gd name="adj" fmla="val 8750"/>
            </a:avLst>
          </a:prstGeom>
          <a:solidFill>
            <a:srgbClr val="101828"/>
          </a:solidFill>
          <a:ln w="6350">
            <a:solidFill>
              <a:srgbClr val="14B8C8"/>
            </a:solidFill>
            <a:prstDash val="solid"/>
          </a:ln>
        </p:spPr>
      </p:sp>
      <p:sp>
        <p:nvSpPr>
          <p:cNvPr id="42" name="Shape 40"/>
          <p:cNvSpPr/>
          <p:nvPr/>
        </p:nvSpPr>
        <p:spPr>
          <a:xfrm>
            <a:off x="4873752" y="4425696"/>
            <a:ext cx="292608" cy="292608"/>
          </a:xfrm>
          <a:prstGeom prst="ellipse">
            <a:avLst/>
          </a:prstGeom>
          <a:solidFill>
            <a:srgbClr val="F0C840"/>
          </a:solidFill>
          <a:ln w="12700">
            <a:solidFill>
              <a:srgbClr val="F0C840"/>
            </a:solidFill>
            <a:prstDash val="solid"/>
          </a:ln>
        </p:spPr>
      </p:sp>
      <p:sp>
        <p:nvSpPr>
          <p:cNvPr id="43" name="Text 41"/>
          <p:cNvSpPr/>
          <p:nvPr/>
        </p:nvSpPr>
        <p:spPr>
          <a:xfrm>
            <a:off x="4873752" y="4425696"/>
            <a:ext cx="292608" cy="292608"/>
          </a:xfrm>
          <a:prstGeom prst="rect">
            <a:avLst/>
          </a:prstGeom>
          <a:noFill/>
          <a:ln/>
        </p:spPr>
        <p:txBody>
          <a:bodyPr wrap="square" lIns="0" tIns="0" rIns="0" bIns="0" rtlCol="0" anchor="ctr"/>
          <a:lstStyle/>
          <a:p>
            <a:pPr algn="ctr" indent="0" marL="0">
              <a:buNone/>
            </a:pPr>
            <a:r>
              <a:rPr lang="en-US" sz="800" b="1" dirty="0">
                <a:solidFill>
                  <a:srgbClr val="080E1C"/>
                </a:solidFill>
                <a:latin typeface="Calibri" pitchFamily="34" charset="0"/>
                <a:ea typeface="Calibri" pitchFamily="34" charset="-122"/>
                <a:cs typeface="Calibri" pitchFamily="34" charset="-120"/>
              </a:rPr>
              <a:t>10</a:t>
            </a:r>
            <a:endParaRPr lang="en-US" sz="800" dirty="0"/>
          </a:p>
        </p:txBody>
      </p:sp>
      <p:sp>
        <p:nvSpPr>
          <p:cNvPr id="44" name="Text 42"/>
          <p:cNvSpPr/>
          <p:nvPr/>
        </p:nvSpPr>
        <p:spPr>
          <a:xfrm>
            <a:off x="5239512" y="429768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Regression: RMSE+R² for general use. MAE or Huber when outliers are present. MAPE for scale-free % interpretation. Adjusted R² when comparing models with different feature counts.</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1645920" y="-1645920"/>
            <a:ext cx="5486400" cy="5486400"/>
          </a:xfrm>
          <a:prstGeom prst="ellipse">
            <a:avLst/>
          </a:prstGeom>
          <a:solidFill>
            <a:srgbClr val="0A7E8C">
              <a:alpha val="18000"/>
            </a:srgbClr>
          </a:solidFill>
          <a:ln w="12700">
            <a:solidFill>
              <a:srgbClr val="0A7E8C"/>
            </a:solidFill>
            <a:prstDash val="solid"/>
          </a:ln>
        </p:spPr>
      </p:sp>
      <p:sp>
        <p:nvSpPr>
          <p:cNvPr id="3" name="Shape 1"/>
          <p:cNvSpPr/>
          <p:nvPr/>
        </p:nvSpPr>
        <p:spPr>
          <a:xfrm>
            <a:off x="6400800" y="2560320"/>
            <a:ext cx="4572000" cy="4572000"/>
          </a:xfrm>
          <a:prstGeom prst="ellipse">
            <a:avLst/>
          </a:prstGeom>
          <a:solidFill>
            <a:srgbClr val="D4A010">
              <a:alpha val="12000"/>
            </a:srgbClr>
          </a:solidFill>
          <a:ln w="12700">
            <a:solidFill>
              <a:srgbClr val="D4A010"/>
            </a:solidFill>
            <a:prstDash val="solid"/>
          </a:ln>
        </p:spPr>
      </p:sp>
      <p:sp>
        <p:nvSpPr>
          <p:cNvPr id="4" name="Text 2"/>
          <p:cNvSpPr/>
          <p:nvPr/>
        </p:nvSpPr>
        <p:spPr>
          <a:xfrm>
            <a:off x="731520" y="530352"/>
            <a:ext cx="7680960" cy="1371600"/>
          </a:xfrm>
          <a:prstGeom prst="rect">
            <a:avLst/>
          </a:prstGeom>
          <a:noFill/>
          <a:ln/>
        </p:spPr>
        <p:txBody>
          <a:bodyPr wrap="square" lIns="0" tIns="0" rIns="0" bIns="0" rtlCol="0" anchor="ctr"/>
          <a:lstStyle/>
          <a:p>
            <a:pPr algn="ctr" indent="0" marL="0">
              <a:buNone/>
            </a:pPr>
            <a:r>
              <a:rPr lang="en-US" sz="2100" b="1" i="1" dirty="0">
                <a:solidFill>
                  <a:srgbClr val="FFFFFF"/>
                </a:solidFill>
                <a:latin typeface="Cambria" pitchFamily="34" charset="0"/>
                <a:ea typeface="Cambria" pitchFamily="34" charset="-122"/>
                <a:cs typeface="Cambria" pitchFamily="34" charset="-120"/>
              </a:rPr>
              <a:t>"A model that performs well on the training set</a:t>
            </a:r>
            <a:endParaRPr lang="en-US" sz="2100" dirty="0"/>
          </a:p>
          <a:p>
            <a:pPr algn="ctr" indent="0" marL="0">
              <a:buNone/>
            </a:pPr>
            <a:r>
              <a:rPr lang="en-US" sz="2100" b="1" i="1" dirty="0">
                <a:solidFill>
                  <a:srgbClr val="FFFFFF"/>
                </a:solidFill>
                <a:latin typeface="Cambria" pitchFamily="34" charset="0"/>
                <a:ea typeface="Cambria" pitchFamily="34" charset="-122"/>
                <a:cs typeface="Cambria" pitchFamily="34" charset="-120"/>
              </a:rPr>
              <a:t>but poorly in production is not a model -</a:t>
            </a:r>
            <a:endParaRPr lang="en-US" sz="2100" dirty="0"/>
          </a:p>
          <a:p>
            <a:pPr algn="ctr" indent="0" marL="0">
              <a:buNone/>
            </a:pPr>
            <a:r>
              <a:rPr lang="en-US" sz="2100" b="1" i="1" dirty="0">
                <a:solidFill>
                  <a:srgbClr val="FFFFFF"/>
                </a:solidFill>
                <a:latin typeface="Cambria" pitchFamily="34" charset="0"/>
                <a:ea typeface="Cambria" pitchFamily="34" charset="-122"/>
                <a:cs typeface="Cambria" pitchFamily="34" charset="-120"/>
              </a:rPr>
              <a:t>it is an elaborate way to fool yourself."</a:t>
            </a:r>
            <a:endParaRPr lang="en-US" sz="2100" dirty="0"/>
          </a:p>
        </p:txBody>
      </p:sp>
      <p:sp>
        <p:nvSpPr>
          <p:cNvPr id="5" name="Text 3"/>
          <p:cNvSpPr/>
          <p:nvPr/>
        </p:nvSpPr>
        <p:spPr>
          <a:xfrm>
            <a:off x="1371600" y="2029968"/>
            <a:ext cx="6400800" cy="512064"/>
          </a:xfrm>
          <a:prstGeom prst="rect">
            <a:avLst/>
          </a:prstGeom>
          <a:noFill/>
          <a:ln/>
        </p:spPr>
        <p:txBody>
          <a:bodyPr wrap="square" lIns="0" tIns="0" rIns="0" bIns="0" rtlCol="0" anchor="ctr"/>
          <a:lstStyle/>
          <a:p>
            <a:pPr algn="ctr" indent="0" marL="0">
              <a:buNone/>
            </a:pPr>
            <a:r>
              <a:rPr lang="en-US" sz="1300" dirty="0">
                <a:solidFill>
                  <a:srgbClr val="90D8E0"/>
                </a:solidFill>
                <a:latin typeface="Calibri" pitchFamily="34" charset="0"/>
                <a:ea typeface="Calibri" pitchFamily="34" charset="-122"/>
                <a:cs typeface="Calibri" pitchFamily="34" charset="-120"/>
              </a:rPr>
              <a:t>- Practical ML wisdom</a:t>
            </a:r>
            <a:endParaRPr lang="en-US" sz="1300" dirty="0"/>
          </a:p>
          <a:p>
            <a:pPr algn="ctr" indent="0" marL="0">
              <a:buNone/>
            </a:pPr>
            <a:r>
              <a:rPr lang="en-US" sz="1300" dirty="0">
                <a:solidFill>
                  <a:srgbClr val="90D8E0"/>
                </a:solidFill>
                <a:latin typeface="Calibri" pitchFamily="34" charset="0"/>
                <a:ea typeface="Calibri" pitchFamily="34" charset="-122"/>
                <a:cs typeface="Calibri" pitchFamily="34" charset="-120"/>
              </a:rPr>
              <a:t>(Always evaluate on truly unseen data. Always.)</a:t>
            </a:r>
            <a:endParaRPr lang="en-US" sz="1300" dirty="0"/>
          </a:p>
        </p:txBody>
      </p:sp>
      <p:sp>
        <p:nvSpPr>
          <p:cNvPr id="6" name="Shape 4"/>
          <p:cNvSpPr/>
          <p:nvPr/>
        </p:nvSpPr>
        <p:spPr>
          <a:xfrm>
            <a:off x="3200400" y="2651760"/>
            <a:ext cx="2743200" cy="0"/>
          </a:xfrm>
          <a:prstGeom prst="line">
            <a:avLst/>
          </a:prstGeom>
          <a:noFill/>
          <a:ln w="19050">
            <a:solidFill>
              <a:srgbClr val="F0C840"/>
            </a:solidFill>
            <a:prstDash val="solid"/>
          </a:ln>
        </p:spPr>
      </p:sp>
      <p:sp>
        <p:nvSpPr>
          <p:cNvPr id="7" name="Text 5"/>
          <p:cNvSpPr/>
          <p:nvPr/>
        </p:nvSpPr>
        <p:spPr>
          <a:xfrm>
            <a:off x="914400" y="2816352"/>
            <a:ext cx="7315200" cy="713232"/>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8" name="Text 6"/>
          <p:cNvSpPr/>
          <p:nvPr/>
        </p:nvSpPr>
        <p:spPr>
          <a:xfrm>
            <a:off x="914400" y="3566160"/>
            <a:ext cx="7315200" cy="384048"/>
          </a:xfrm>
          <a:prstGeom prst="rect">
            <a:avLst/>
          </a:prstGeom>
          <a:noFill/>
          <a:ln/>
        </p:spPr>
        <p:txBody>
          <a:bodyPr wrap="square" lIns="0" tIns="0" rIns="0" bIns="0" rtlCol="0" anchor="ctr"/>
          <a:lstStyle/>
          <a:p>
            <a:pPr algn="ctr" indent="0" marL="0">
              <a:buNone/>
            </a:pPr>
            <a:r>
              <a:rPr lang="en-US" sz="1600" dirty="0">
                <a:solidFill>
                  <a:srgbClr val="90D8E0"/>
                </a:solidFill>
                <a:latin typeface="Calibri" pitchFamily="34" charset="0"/>
                <a:ea typeface="Calibri" pitchFamily="34" charset="-122"/>
                <a:cs typeface="Calibri" pitchFamily="34" charset="-120"/>
              </a:rPr>
              <a:t>Questions  -  Discussion  -  Next Steps</a:t>
            </a:r>
            <a:endParaRPr lang="en-US" sz="1600" dirty="0"/>
          </a:p>
        </p:txBody>
      </p:sp>
      <p:sp>
        <p:nvSpPr>
          <p:cNvPr id="9" name="Shape 7"/>
          <p:cNvSpPr/>
          <p:nvPr/>
        </p:nvSpPr>
        <p:spPr>
          <a:xfrm>
            <a:off x="2834640" y="4041648"/>
            <a:ext cx="3474720" cy="969264"/>
          </a:xfrm>
          <a:prstGeom prst="roundRect">
            <a:avLst>
              <a:gd name="adj" fmla="val 11321"/>
            </a:avLst>
          </a:prstGeom>
          <a:solidFill>
            <a:srgbClr val="0A7E8C">
              <a:alpha val="85000"/>
            </a:srgbClr>
          </a:solidFill>
          <a:ln w="12700">
            <a:solidFill>
              <a:srgbClr val="14B8C8"/>
            </a:solidFill>
            <a:prstDash val="solid"/>
          </a:ln>
        </p:spPr>
      </p:sp>
      <p:sp>
        <p:nvSpPr>
          <p:cNvPr id="10" name="Text 8"/>
          <p:cNvSpPr/>
          <p:nvPr/>
        </p:nvSpPr>
        <p:spPr>
          <a:xfrm>
            <a:off x="2834640" y="4096512"/>
            <a:ext cx="3474720" cy="8778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Kajola Gbenga Adewale</a:t>
            </a:r>
            <a:endParaRPr lang="en-US" sz="1600" dirty="0"/>
          </a:p>
          <a:p>
            <a:pPr algn="ctr" indent="0" marL="0">
              <a:buNone/>
            </a:pPr>
            <a:r>
              <a:rPr lang="en-US" sz="1300" dirty="0">
                <a:solidFill>
                  <a:srgbClr val="F0C840"/>
                </a:solidFill>
                <a:latin typeface="Calibri" pitchFamily="34" charset="0"/>
                <a:ea typeface="Calibri" pitchFamily="34" charset="-122"/>
                <a:cs typeface="Calibri" pitchFamily="34" charset="-120"/>
              </a:rPr>
              <a:t>Data Expert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Model Evaluation Metrics - Complete Guide</dc:title>
  <dc:subject>PptxGenJS Presentation</dc:subject>
  <dc:creator>Kajola Gbenga Adewale</dc:creator>
  <cp:lastModifiedBy>Kajola Gbenga Adewale</cp:lastModifiedBy>
  <cp:revision>1</cp:revision>
  <dcterms:created xsi:type="dcterms:W3CDTF">2026-06-28T08:24:15Z</dcterms:created>
  <dcterms:modified xsi:type="dcterms:W3CDTF">2026-06-28T08:24:15Z</dcterms:modified>
</cp:coreProperties>
</file>
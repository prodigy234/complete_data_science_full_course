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Simpson's Paradox: the correlation in the FULL dataset can be in the OPPOSITE direction to correlations within every subgroup. Always check for confounders and analyse subgroups separately before drawing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MUST REPORT: (1) Coefficient type (Pearson/Spearman/partial). (2) r or rho value to 2-3dp. (3) df in parentheses. (4) p-value. (5) 95% CI (use Fisher's Z, compute manually or via online calculator). (6) r² and verbal description of effect size. (7) Brief direction/magnitude statement in plain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5303520" y="-1828800"/>
            <a:ext cx="6400800" cy="6400800"/>
          </a:xfrm>
          <a:prstGeom prst="ellipse">
            <a:avLst/>
          </a:prstGeom>
          <a:solidFill>
            <a:srgbClr val="0A7E8C">
              <a:alpha val="20000"/>
            </a:srgbClr>
          </a:solidFill>
          <a:ln w="12700">
            <a:solidFill>
              <a:srgbClr val="0A7E8C"/>
            </a:solidFill>
            <a:prstDash val="solid"/>
          </a:ln>
        </p:spPr>
      </p:sp>
      <p:sp>
        <p:nvSpPr>
          <p:cNvPr id="3" name="Shape 1"/>
          <p:cNvSpPr/>
          <p:nvPr/>
        </p:nvSpPr>
        <p:spPr>
          <a:xfrm>
            <a:off x="-1828800" y="3200400"/>
            <a:ext cx="4572000" cy="4572000"/>
          </a:xfrm>
          <a:prstGeom prst="ellipse">
            <a:avLst/>
          </a:prstGeom>
          <a:solidFill>
            <a:srgbClr val="D4A010">
              <a:alpha val="12000"/>
            </a:srgbClr>
          </a:solidFill>
          <a:ln w="12700">
            <a:solidFill>
              <a:srgbClr val="D4A010"/>
            </a:solidFill>
            <a:prstDash val="solid"/>
          </a:ln>
        </p:spPr>
      </p:sp>
      <p:sp>
        <p:nvSpPr>
          <p:cNvPr id="4" name="Text 2"/>
          <p:cNvSpPr/>
          <p:nvPr/>
        </p:nvSpPr>
        <p:spPr>
          <a:xfrm>
            <a:off x="548640" y="548640"/>
            <a:ext cx="4663440" cy="347472"/>
          </a:xfrm>
          <a:prstGeom prst="rect">
            <a:avLst/>
          </a:prstGeom>
          <a:noFill/>
          <a:ln/>
        </p:spPr>
        <p:txBody>
          <a:bodyPr wrap="square" lIns="0" tIns="0" rIns="0" bIns="0" rtlCol="0" anchor="ctr"/>
          <a:lstStyle/>
          <a:p>
            <a:pPr indent="0" marL="0">
              <a:buNone/>
            </a:pPr>
            <a:r>
              <a:rPr lang="en-US" sz="1300" b="1" spc="300" kern="0" dirty="0">
                <a:solidFill>
                  <a:srgbClr val="D4A010"/>
                </a:solidFill>
                <a:latin typeface="Calibri" pitchFamily="34" charset="0"/>
                <a:ea typeface="Calibri" pitchFamily="34" charset="-122"/>
                <a:cs typeface="Calibri" pitchFamily="34" charset="-120"/>
              </a:rPr>
              <a:t>CORRELATION ANALYSIS</a:t>
            </a:r>
            <a:endParaRPr lang="en-US" sz="1300" dirty="0"/>
          </a:p>
        </p:txBody>
      </p:sp>
      <p:sp>
        <p:nvSpPr>
          <p:cNvPr id="5" name="Text 3"/>
          <p:cNvSpPr/>
          <p:nvPr/>
        </p:nvSpPr>
        <p:spPr>
          <a:xfrm>
            <a:off x="548640" y="969264"/>
            <a:ext cx="4663440" cy="1353312"/>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The Complete</a:t>
            </a:r>
            <a:endParaRPr lang="en-US" sz="5000" dirty="0"/>
          </a:p>
          <a:p>
            <a:pPr indent="0" marL="0">
              <a:buNone/>
            </a:pPr>
            <a:r>
              <a:rPr lang="en-US" sz="5000" b="1" dirty="0">
                <a:solidFill>
                  <a:srgbClr val="FFFFFF"/>
                </a:solidFill>
                <a:latin typeface="Cambria" pitchFamily="34" charset="0"/>
                <a:ea typeface="Cambria" pitchFamily="34" charset="-122"/>
                <a:cs typeface="Cambria" pitchFamily="34" charset="-120"/>
              </a:rPr>
              <a:t>Reference</a:t>
            </a:r>
            <a:endParaRPr lang="en-US" sz="5000" dirty="0"/>
          </a:p>
        </p:txBody>
      </p:sp>
      <p:sp>
        <p:nvSpPr>
          <p:cNvPr id="6" name="Text 4"/>
          <p:cNvSpPr/>
          <p:nvPr/>
        </p:nvSpPr>
        <p:spPr>
          <a:xfrm>
            <a:off x="548640" y="2450592"/>
            <a:ext cx="4663440" cy="841248"/>
          </a:xfrm>
          <a:prstGeom prst="rect">
            <a:avLst/>
          </a:prstGeom>
          <a:noFill/>
          <a:ln/>
        </p:spPr>
        <p:txBody>
          <a:bodyPr wrap="square" lIns="0" tIns="0" rIns="0" bIns="0" rtlCol="0" anchor="ctr"/>
          <a:lstStyle/>
          <a:p>
            <a:pPr indent="0" marL="0">
              <a:buNone/>
            </a:pPr>
            <a:r>
              <a:rPr lang="en-US" sz="1300" dirty="0">
                <a:solidFill>
                  <a:srgbClr val="90D8E0"/>
                </a:solidFill>
                <a:latin typeface="Calibri" pitchFamily="34" charset="0"/>
                <a:ea typeface="Calibri" pitchFamily="34" charset="-122"/>
                <a:cs typeface="Calibri" pitchFamily="34" charset="-120"/>
              </a:rPr>
              <a:t>Pearson r  •  Spearman rho  •  Kendall tau</a:t>
            </a:r>
            <a:endParaRPr lang="en-US" sz="1300" dirty="0"/>
          </a:p>
          <a:p>
            <a:pPr indent="0" marL="0">
              <a:buNone/>
            </a:pPr>
            <a:r>
              <a:rPr lang="en-US" sz="1300" dirty="0">
                <a:solidFill>
                  <a:srgbClr val="90D8E0"/>
                </a:solidFill>
                <a:latin typeface="Calibri" pitchFamily="34" charset="0"/>
                <a:ea typeface="Calibri" pitchFamily="34" charset="-122"/>
                <a:cs typeface="Calibri" pitchFamily="34" charset="-120"/>
              </a:rPr>
              <a:t>Point-Biserial  •  Phi  •  Partial  •  Semi-Partial</a:t>
            </a:r>
            <a:endParaRPr lang="en-US" sz="1300" dirty="0"/>
          </a:p>
          <a:p>
            <a:pPr indent="0" marL="0">
              <a:buNone/>
            </a:pPr>
            <a:r>
              <a:rPr lang="en-US" sz="1300" dirty="0">
                <a:solidFill>
                  <a:srgbClr val="90D8E0"/>
                </a:solidFill>
                <a:latin typeface="Calibri" pitchFamily="34" charset="0"/>
                <a:ea typeface="Calibri" pitchFamily="34" charset="-122"/>
                <a:cs typeface="Calibri" pitchFamily="34" charset="-120"/>
              </a:rPr>
              <a:t>Assumptions  •  Testing  •  SPSS  •  APA</a:t>
            </a:r>
            <a:endParaRPr lang="en-US" sz="1300" dirty="0"/>
          </a:p>
          <a:p>
            <a:pPr indent="0" marL="0">
              <a:buNone/>
            </a:pPr>
            <a:r>
              <a:rPr lang="en-US" sz="1300" dirty="0">
                <a:solidFill>
                  <a:srgbClr val="90D8E0"/>
                </a:solidFill>
                <a:latin typeface="Calibri" pitchFamily="34" charset="0"/>
                <a:ea typeface="Calibri" pitchFamily="34" charset="-122"/>
                <a:cs typeface="Calibri" pitchFamily="34" charset="-120"/>
              </a:rPr>
              <a:t>Nigerian Business Applications</a:t>
            </a:r>
            <a:endParaRPr lang="en-US" sz="1300" dirty="0"/>
          </a:p>
        </p:txBody>
      </p:sp>
      <p:sp>
        <p:nvSpPr>
          <p:cNvPr id="7" name="Shape 5"/>
          <p:cNvSpPr/>
          <p:nvPr/>
        </p:nvSpPr>
        <p:spPr>
          <a:xfrm>
            <a:off x="548640" y="3383280"/>
            <a:ext cx="3931920" cy="804672"/>
          </a:xfrm>
          <a:prstGeom prst="roundRect">
            <a:avLst>
              <a:gd name="adj" fmla="val 11364"/>
            </a:avLst>
          </a:prstGeom>
          <a:solidFill>
            <a:srgbClr val="0A7E8C">
              <a:alpha val="85000"/>
            </a:srgbClr>
          </a:solidFill>
          <a:ln w="12700">
            <a:solidFill>
              <a:srgbClr val="14B8C8"/>
            </a:solidFill>
            <a:prstDash val="solid"/>
          </a:ln>
        </p:spPr>
      </p:sp>
      <p:sp>
        <p:nvSpPr>
          <p:cNvPr id="8" name="Text 6"/>
          <p:cNvSpPr/>
          <p:nvPr/>
        </p:nvSpPr>
        <p:spPr>
          <a:xfrm>
            <a:off x="548640" y="3438144"/>
            <a:ext cx="3931920" cy="71323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Kajola Gbenga Adewale</a:t>
            </a:r>
            <a:endParaRPr lang="en-US" sz="1500" dirty="0"/>
          </a:p>
          <a:p>
            <a:pPr algn="ctr" indent="0" marL="0">
              <a:buNone/>
            </a:pPr>
            <a:r>
              <a:rPr lang="en-US" sz="1200" dirty="0">
                <a:solidFill>
                  <a:srgbClr val="F0C840"/>
                </a:solidFill>
                <a:latin typeface="Calibri" pitchFamily="34" charset="0"/>
                <a:ea typeface="Calibri" pitchFamily="34" charset="-122"/>
                <a:cs typeface="Calibri" pitchFamily="34" charset="-120"/>
              </a:rPr>
              <a:t>Data Expert</a:t>
            </a:r>
            <a:endParaRPr lang="en-US" sz="1500" dirty="0"/>
          </a:p>
        </p:txBody>
      </p:sp>
      <p:sp>
        <p:nvSpPr>
          <p:cNvPr id="9" name="Shape 7"/>
          <p:cNvSpPr/>
          <p:nvPr/>
        </p:nvSpPr>
        <p:spPr>
          <a:xfrm>
            <a:off x="5577840" y="457200"/>
            <a:ext cx="3200400" cy="4443984"/>
          </a:xfrm>
          <a:prstGeom prst="roundRect">
            <a:avLst>
              <a:gd name="adj" fmla="val 2857"/>
            </a:avLst>
          </a:prstGeom>
          <a:solidFill>
            <a:srgbClr val="0C1428"/>
          </a:solidFill>
          <a:ln w="12700">
            <a:solidFill>
              <a:srgbClr val="14B8C8"/>
            </a:solidFill>
            <a:prstDash val="solid"/>
          </a:ln>
        </p:spPr>
      </p:sp>
      <p:sp>
        <p:nvSpPr>
          <p:cNvPr id="10" name="Text 8"/>
          <p:cNvSpPr/>
          <p:nvPr/>
        </p:nvSpPr>
        <p:spPr>
          <a:xfrm>
            <a:off x="5650992" y="530352"/>
            <a:ext cx="3054096" cy="256032"/>
          </a:xfrm>
          <a:prstGeom prst="rect">
            <a:avLst/>
          </a:prstGeom>
          <a:noFill/>
          <a:ln/>
        </p:spPr>
        <p:txBody>
          <a:bodyPr wrap="square" lIns="0" tIns="0" rIns="0" bIns="0" rtlCol="0" anchor="ctr"/>
          <a:lstStyle/>
          <a:p>
            <a:pPr algn="ctr" indent="0" marL="0">
              <a:buNone/>
            </a:pPr>
            <a:r>
              <a:rPr lang="en-US" sz="1100" b="1" dirty="0">
                <a:solidFill>
                  <a:srgbClr val="F0C840"/>
                </a:solidFill>
                <a:latin typeface="Calibri" pitchFamily="34" charset="0"/>
                <a:ea typeface="Calibri" pitchFamily="34" charset="-122"/>
                <a:cs typeface="Calibri" pitchFamily="34" charset="-120"/>
              </a:rPr>
              <a:t>Correlation Scale</a:t>
            </a:r>
            <a:endParaRPr lang="en-US" sz="1100" dirty="0"/>
          </a:p>
        </p:txBody>
      </p:sp>
      <p:sp>
        <p:nvSpPr>
          <p:cNvPr id="11" name="Shape 9"/>
          <p:cNvSpPr/>
          <p:nvPr/>
        </p:nvSpPr>
        <p:spPr>
          <a:xfrm>
            <a:off x="5650992" y="859536"/>
            <a:ext cx="3054096" cy="438912"/>
          </a:xfrm>
          <a:prstGeom prst="roundRect">
            <a:avLst>
              <a:gd name="adj" fmla="val 10417"/>
            </a:avLst>
          </a:prstGeom>
          <a:solidFill>
            <a:srgbClr val="0A1420"/>
          </a:solidFill>
          <a:ln w="12700">
            <a:solidFill>
              <a:srgbClr val="E03020"/>
            </a:solidFill>
            <a:prstDash val="solid"/>
          </a:ln>
        </p:spPr>
      </p:sp>
      <p:sp>
        <p:nvSpPr>
          <p:cNvPr id="12" name="Text 10"/>
          <p:cNvSpPr/>
          <p:nvPr/>
        </p:nvSpPr>
        <p:spPr>
          <a:xfrm>
            <a:off x="5724144" y="896112"/>
            <a:ext cx="512064" cy="347472"/>
          </a:xfrm>
          <a:prstGeom prst="rect">
            <a:avLst/>
          </a:prstGeom>
          <a:noFill/>
          <a:ln/>
        </p:spPr>
        <p:txBody>
          <a:bodyPr wrap="square" lIns="0" tIns="0" rIns="0" bIns="0" rtlCol="0" anchor="ctr"/>
          <a:lstStyle/>
          <a:p>
            <a:pPr algn="ctr" indent="0" marL="0">
              <a:buNone/>
            </a:pPr>
            <a:r>
              <a:rPr lang="en-US" sz="1300" b="1" dirty="0">
                <a:solidFill>
                  <a:srgbClr val="E03020"/>
                </a:solidFill>
                <a:latin typeface="Courier New" pitchFamily="34" charset="0"/>
                <a:ea typeface="Courier New" pitchFamily="34" charset="-122"/>
                <a:cs typeface="Courier New" pitchFamily="34" charset="-120"/>
              </a:rPr>
              <a:t>-1.0</a:t>
            </a:r>
            <a:endParaRPr lang="en-US" sz="1300" dirty="0"/>
          </a:p>
        </p:txBody>
      </p:sp>
      <p:sp>
        <p:nvSpPr>
          <p:cNvPr id="13" name="Text 11"/>
          <p:cNvSpPr/>
          <p:nvPr/>
        </p:nvSpPr>
        <p:spPr>
          <a:xfrm>
            <a:off x="6291072" y="896112"/>
            <a:ext cx="2340864" cy="347472"/>
          </a:xfrm>
          <a:prstGeom prst="rect">
            <a:avLst/>
          </a:prstGeom>
          <a:noFill/>
          <a:ln/>
        </p:spPr>
        <p:txBody>
          <a:bodyPr wrap="square" lIns="0" tIns="0" rIns="0" bIns="0" rtlCol="0" anchor="ctr"/>
          <a:lstStyle/>
          <a:p>
            <a:pPr indent="0" marL="0">
              <a:buNone/>
            </a:pPr>
            <a:r>
              <a:rPr lang="en-US" sz="1100" dirty="0">
                <a:solidFill>
                  <a:srgbClr val="90D8E0"/>
                </a:solidFill>
                <a:latin typeface="Calibri" pitchFamily="34" charset="0"/>
                <a:ea typeface="Calibri" pitchFamily="34" charset="-122"/>
                <a:cs typeface="Calibri" pitchFamily="34" charset="-120"/>
              </a:rPr>
              <a:t>Perfect Negative</a:t>
            </a:r>
            <a:endParaRPr lang="en-US" sz="1100" dirty="0"/>
          </a:p>
        </p:txBody>
      </p:sp>
      <p:sp>
        <p:nvSpPr>
          <p:cNvPr id="14" name="Shape 12"/>
          <p:cNvSpPr/>
          <p:nvPr/>
        </p:nvSpPr>
        <p:spPr>
          <a:xfrm>
            <a:off x="5650992" y="1371600"/>
            <a:ext cx="3054096" cy="438912"/>
          </a:xfrm>
          <a:prstGeom prst="roundRect">
            <a:avLst>
              <a:gd name="adj" fmla="val 10417"/>
            </a:avLst>
          </a:prstGeom>
          <a:solidFill>
            <a:srgbClr val="0A1420"/>
          </a:solidFill>
          <a:ln w="12700">
            <a:solidFill>
              <a:srgbClr val="E07010"/>
            </a:solidFill>
            <a:prstDash val="solid"/>
          </a:ln>
        </p:spPr>
      </p:sp>
      <p:sp>
        <p:nvSpPr>
          <p:cNvPr id="15" name="Text 13"/>
          <p:cNvSpPr/>
          <p:nvPr/>
        </p:nvSpPr>
        <p:spPr>
          <a:xfrm>
            <a:off x="5724144" y="1408176"/>
            <a:ext cx="512064" cy="347472"/>
          </a:xfrm>
          <a:prstGeom prst="rect">
            <a:avLst/>
          </a:prstGeom>
          <a:noFill/>
          <a:ln/>
        </p:spPr>
        <p:txBody>
          <a:bodyPr wrap="square" lIns="0" tIns="0" rIns="0" bIns="0" rtlCol="0" anchor="ctr"/>
          <a:lstStyle/>
          <a:p>
            <a:pPr algn="ctr" indent="0" marL="0">
              <a:buNone/>
            </a:pPr>
            <a:r>
              <a:rPr lang="en-US" sz="1300" b="1" dirty="0">
                <a:solidFill>
                  <a:srgbClr val="E07010"/>
                </a:solidFill>
                <a:latin typeface="Courier New" pitchFamily="34" charset="0"/>
                <a:ea typeface="Courier New" pitchFamily="34" charset="-122"/>
                <a:cs typeface="Courier New" pitchFamily="34" charset="-120"/>
              </a:rPr>
              <a:t>-0.7</a:t>
            </a:r>
            <a:endParaRPr lang="en-US" sz="1300" dirty="0"/>
          </a:p>
        </p:txBody>
      </p:sp>
      <p:sp>
        <p:nvSpPr>
          <p:cNvPr id="16" name="Text 14"/>
          <p:cNvSpPr/>
          <p:nvPr/>
        </p:nvSpPr>
        <p:spPr>
          <a:xfrm>
            <a:off x="6291072" y="1408176"/>
            <a:ext cx="2340864" cy="347472"/>
          </a:xfrm>
          <a:prstGeom prst="rect">
            <a:avLst/>
          </a:prstGeom>
          <a:noFill/>
          <a:ln/>
        </p:spPr>
        <p:txBody>
          <a:bodyPr wrap="square" lIns="0" tIns="0" rIns="0" bIns="0" rtlCol="0" anchor="ctr"/>
          <a:lstStyle/>
          <a:p>
            <a:pPr indent="0" marL="0">
              <a:buNone/>
            </a:pPr>
            <a:r>
              <a:rPr lang="en-US" sz="1100" dirty="0">
                <a:solidFill>
                  <a:srgbClr val="90D8E0"/>
                </a:solidFill>
                <a:latin typeface="Calibri" pitchFamily="34" charset="0"/>
                <a:ea typeface="Calibri" pitchFamily="34" charset="-122"/>
                <a:cs typeface="Calibri" pitchFamily="34" charset="-120"/>
              </a:rPr>
              <a:t>Strong Negative</a:t>
            </a:r>
            <a:endParaRPr lang="en-US" sz="1100" dirty="0"/>
          </a:p>
        </p:txBody>
      </p:sp>
      <p:sp>
        <p:nvSpPr>
          <p:cNvPr id="17" name="Shape 15"/>
          <p:cNvSpPr/>
          <p:nvPr/>
        </p:nvSpPr>
        <p:spPr>
          <a:xfrm>
            <a:off x="5650992" y="1883664"/>
            <a:ext cx="3054096" cy="438912"/>
          </a:xfrm>
          <a:prstGeom prst="roundRect">
            <a:avLst>
              <a:gd name="adj" fmla="val 10417"/>
            </a:avLst>
          </a:prstGeom>
          <a:solidFill>
            <a:srgbClr val="0A1420"/>
          </a:solidFill>
          <a:ln w="12700">
            <a:solidFill>
              <a:srgbClr val="D48010"/>
            </a:solidFill>
            <a:prstDash val="solid"/>
          </a:ln>
        </p:spPr>
      </p:sp>
      <p:sp>
        <p:nvSpPr>
          <p:cNvPr id="18" name="Text 16"/>
          <p:cNvSpPr/>
          <p:nvPr/>
        </p:nvSpPr>
        <p:spPr>
          <a:xfrm>
            <a:off x="5724144" y="1920240"/>
            <a:ext cx="512064" cy="347472"/>
          </a:xfrm>
          <a:prstGeom prst="rect">
            <a:avLst/>
          </a:prstGeom>
          <a:noFill/>
          <a:ln/>
        </p:spPr>
        <p:txBody>
          <a:bodyPr wrap="square" lIns="0" tIns="0" rIns="0" bIns="0" rtlCol="0" anchor="ctr"/>
          <a:lstStyle/>
          <a:p>
            <a:pPr algn="ctr" indent="0" marL="0">
              <a:buNone/>
            </a:pPr>
            <a:r>
              <a:rPr lang="en-US" sz="1300" b="1" dirty="0">
                <a:solidFill>
                  <a:srgbClr val="D48010"/>
                </a:solidFill>
                <a:latin typeface="Courier New" pitchFamily="34" charset="0"/>
                <a:ea typeface="Courier New" pitchFamily="34" charset="-122"/>
                <a:cs typeface="Courier New" pitchFamily="34" charset="-120"/>
              </a:rPr>
              <a:t>-0.5</a:t>
            </a:r>
            <a:endParaRPr lang="en-US" sz="1300" dirty="0"/>
          </a:p>
        </p:txBody>
      </p:sp>
      <p:sp>
        <p:nvSpPr>
          <p:cNvPr id="19" name="Text 17"/>
          <p:cNvSpPr/>
          <p:nvPr/>
        </p:nvSpPr>
        <p:spPr>
          <a:xfrm>
            <a:off x="6291072" y="1920240"/>
            <a:ext cx="2340864" cy="347472"/>
          </a:xfrm>
          <a:prstGeom prst="rect">
            <a:avLst/>
          </a:prstGeom>
          <a:noFill/>
          <a:ln/>
        </p:spPr>
        <p:txBody>
          <a:bodyPr wrap="square" lIns="0" tIns="0" rIns="0" bIns="0" rtlCol="0" anchor="ctr"/>
          <a:lstStyle/>
          <a:p>
            <a:pPr indent="0" marL="0">
              <a:buNone/>
            </a:pPr>
            <a:r>
              <a:rPr lang="en-US" sz="1100" dirty="0">
                <a:solidFill>
                  <a:srgbClr val="90D8E0"/>
                </a:solidFill>
                <a:latin typeface="Calibri" pitchFamily="34" charset="0"/>
                <a:ea typeface="Calibri" pitchFamily="34" charset="-122"/>
                <a:cs typeface="Calibri" pitchFamily="34" charset="-120"/>
              </a:rPr>
              <a:t>Moderate Negative</a:t>
            </a:r>
            <a:endParaRPr lang="en-US" sz="1100" dirty="0"/>
          </a:p>
        </p:txBody>
      </p:sp>
      <p:sp>
        <p:nvSpPr>
          <p:cNvPr id="20" name="Shape 18"/>
          <p:cNvSpPr/>
          <p:nvPr/>
        </p:nvSpPr>
        <p:spPr>
          <a:xfrm>
            <a:off x="5650992" y="2395728"/>
            <a:ext cx="3054096" cy="438912"/>
          </a:xfrm>
          <a:prstGeom prst="roundRect">
            <a:avLst>
              <a:gd name="adj" fmla="val 10417"/>
            </a:avLst>
          </a:prstGeom>
          <a:solidFill>
            <a:srgbClr val="0A1420"/>
          </a:solidFill>
          <a:ln w="12700">
            <a:solidFill>
              <a:srgbClr val="64748B"/>
            </a:solidFill>
            <a:prstDash val="solid"/>
          </a:ln>
        </p:spPr>
      </p:sp>
      <p:sp>
        <p:nvSpPr>
          <p:cNvPr id="21" name="Text 19"/>
          <p:cNvSpPr/>
          <p:nvPr/>
        </p:nvSpPr>
        <p:spPr>
          <a:xfrm>
            <a:off x="5724144" y="2432304"/>
            <a:ext cx="512064" cy="347472"/>
          </a:xfrm>
          <a:prstGeom prst="rect">
            <a:avLst/>
          </a:prstGeom>
          <a:noFill/>
          <a:ln/>
        </p:spPr>
        <p:txBody>
          <a:bodyPr wrap="square" lIns="0" tIns="0" rIns="0" bIns="0" rtlCol="0" anchor="ctr"/>
          <a:lstStyle/>
          <a:p>
            <a:pPr algn="ctr" indent="0" marL="0">
              <a:buNone/>
            </a:pPr>
            <a:r>
              <a:rPr lang="en-US" sz="1300" b="1" dirty="0">
                <a:solidFill>
                  <a:srgbClr val="64748B"/>
                </a:solidFill>
                <a:latin typeface="Courier New" pitchFamily="34" charset="0"/>
                <a:ea typeface="Courier New" pitchFamily="34" charset="-122"/>
                <a:cs typeface="Courier New" pitchFamily="34" charset="-120"/>
              </a:rPr>
              <a:t>0.0</a:t>
            </a:r>
            <a:endParaRPr lang="en-US" sz="1300" dirty="0"/>
          </a:p>
        </p:txBody>
      </p:sp>
      <p:sp>
        <p:nvSpPr>
          <p:cNvPr id="22" name="Text 20"/>
          <p:cNvSpPr/>
          <p:nvPr/>
        </p:nvSpPr>
        <p:spPr>
          <a:xfrm>
            <a:off x="6291072" y="2432304"/>
            <a:ext cx="2340864" cy="347472"/>
          </a:xfrm>
          <a:prstGeom prst="rect">
            <a:avLst/>
          </a:prstGeom>
          <a:noFill/>
          <a:ln/>
        </p:spPr>
        <p:txBody>
          <a:bodyPr wrap="square" lIns="0" tIns="0" rIns="0" bIns="0" rtlCol="0" anchor="ctr"/>
          <a:lstStyle/>
          <a:p>
            <a:pPr indent="0" marL="0">
              <a:buNone/>
            </a:pPr>
            <a:r>
              <a:rPr lang="en-US" sz="1100" dirty="0">
                <a:solidFill>
                  <a:srgbClr val="90D8E0"/>
                </a:solidFill>
                <a:latin typeface="Calibri" pitchFamily="34" charset="0"/>
                <a:ea typeface="Calibri" pitchFamily="34" charset="-122"/>
                <a:cs typeface="Calibri" pitchFamily="34" charset="-120"/>
              </a:rPr>
              <a:t>No Linear Assoc.</a:t>
            </a:r>
            <a:endParaRPr lang="en-US" sz="1100" dirty="0"/>
          </a:p>
        </p:txBody>
      </p:sp>
      <p:sp>
        <p:nvSpPr>
          <p:cNvPr id="23" name="Shape 21"/>
          <p:cNvSpPr/>
          <p:nvPr/>
        </p:nvSpPr>
        <p:spPr>
          <a:xfrm>
            <a:off x="5650992" y="2907792"/>
            <a:ext cx="3054096" cy="438912"/>
          </a:xfrm>
          <a:prstGeom prst="roundRect">
            <a:avLst>
              <a:gd name="adj" fmla="val 10417"/>
            </a:avLst>
          </a:prstGeom>
          <a:solidFill>
            <a:srgbClr val="0A1420"/>
          </a:solidFill>
          <a:ln w="12700">
            <a:solidFill>
              <a:srgbClr val="14B8C8"/>
            </a:solidFill>
            <a:prstDash val="solid"/>
          </a:ln>
        </p:spPr>
      </p:sp>
      <p:sp>
        <p:nvSpPr>
          <p:cNvPr id="24" name="Text 22"/>
          <p:cNvSpPr/>
          <p:nvPr/>
        </p:nvSpPr>
        <p:spPr>
          <a:xfrm>
            <a:off x="5724144" y="2944368"/>
            <a:ext cx="512064" cy="347472"/>
          </a:xfrm>
          <a:prstGeom prst="rect">
            <a:avLst/>
          </a:prstGeom>
          <a:noFill/>
          <a:ln/>
        </p:spPr>
        <p:txBody>
          <a:bodyPr wrap="square" lIns="0" tIns="0" rIns="0" bIns="0" rtlCol="0" anchor="ctr"/>
          <a:lstStyle/>
          <a:p>
            <a:pPr algn="ctr" indent="0" marL="0">
              <a:buNone/>
            </a:pPr>
            <a:r>
              <a:rPr lang="en-US" sz="1300" b="1" dirty="0">
                <a:solidFill>
                  <a:srgbClr val="14B8C8"/>
                </a:solidFill>
                <a:latin typeface="Courier New" pitchFamily="34" charset="0"/>
                <a:ea typeface="Courier New" pitchFamily="34" charset="-122"/>
                <a:cs typeface="Courier New" pitchFamily="34" charset="-120"/>
              </a:rPr>
              <a:t>+0.5</a:t>
            </a:r>
            <a:endParaRPr lang="en-US" sz="1300" dirty="0"/>
          </a:p>
        </p:txBody>
      </p:sp>
      <p:sp>
        <p:nvSpPr>
          <p:cNvPr id="25" name="Text 23"/>
          <p:cNvSpPr/>
          <p:nvPr/>
        </p:nvSpPr>
        <p:spPr>
          <a:xfrm>
            <a:off x="6291072" y="2944368"/>
            <a:ext cx="2340864" cy="347472"/>
          </a:xfrm>
          <a:prstGeom prst="rect">
            <a:avLst/>
          </a:prstGeom>
          <a:noFill/>
          <a:ln/>
        </p:spPr>
        <p:txBody>
          <a:bodyPr wrap="square" lIns="0" tIns="0" rIns="0" bIns="0" rtlCol="0" anchor="ctr"/>
          <a:lstStyle/>
          <a:p>
            <a:pPr indent="0" marL="0">
              <a:buNone/>
            </a:pPr>
            <a:r>
              <a:rPr lang="en-US" sz="1100" dirty="0">
                <a:solidFill>
                  <a:srgbClr val="90D8E0"/>
                </a:solidFill>
                <a:latin typeface="Calibri" pitchFamily="34" charset="0"/>
                <a:ea typeface="Calibri" pitchFamily="34" charset="-122"/>
                <a:cs typeface="Calibri" pitchFamily="34" charset="-120"/>
              </a:rPr>
              <a:t>Moderate Positive</a:t>
            </a:r>
            <a:endParaRPr lang="en-US" sz="1100" dirty="0"/>
          </a:p>
        </p:txBody>
      </p:sp>
      <p:sp>
        <p:nvSpPr>
          <p:cNvPr id="26" name="Shape 24"/>
          <p:cNvSpPr/>
          <p:nvPr/>
        </p:nvSpPr>
        <p:spPr>
          <a:xfrm>
            <a:off x="5650992" y="3419856"/>
            <a:ext cx="3054096" cy="438912"/>
          </a:xfrm>
          <a:prstGeom prst="roundRect">
            <a:avLst>
              <a:gd name="adj" fmla="val 10417"/>
            </a:avLst>
          </a:prstGeom>
          <a:solidFill>
            <a:srgbClr val="0A1420"/>
          </a:solidFill>
          <a:ln w="12700">
            <a:solidFill>
              <a:srgbClr val="0A8A50"/>
            </a:solidFill>
            <a:prstDash val="solid"/>
          </a:ln>
        </p:spPr>
      </p:sp>
      <p:sp>
        <p:nvSpPr>
          <p:cNvPr id="27" name="Text 25"/>
          <p:cNvSpPr/>
          <p:nvPr/>
        </p:nvSpPr>
        <p:spPr>
          <a:xfrm>
            <a:off x="5724144" y="3456432"/>
            <a:ext cx="512064" cy="347472"/>
          </a:xfrm>
          <a:prstGeom prst="rect">
            <a:avLst/>
          </a:prstGeom>
          <a:noFill/>
          <a:ln/>
        </p:spPr>
        <p:txBody>
          <a:bodyPr wrap="square" lIns="0" tIns="0" rIns="0" bIns="0" rtlCol="0" anchor="ctr"/>
          <a:lstStyle/>
          <a:p>
            <a:pPr algn="ctr" indent="0" marL="0">
              <a:buNone/>
            </a:pPr>
            <a:r>
              <a:rPr lang="en-US" sz="1300" b="1" dirty="0">
                <a:solidFill>
                  <a:srgbClr val="0A8A50"/>
                </a:solidFill>
                <a:latin typeface="Courier New" pitchFamily="34" charset="0"/>
                <a:ea typeface="Courier New" pitchFamily="34" charset="-122"/>
                <a:cs typeface="Courier New" pitchFamily="34" charset="-120"/>
              </a:rPr>
              <a:t>+0.7</a:t>
            </a:r>
            <a:endParaRPr lang="en-US" sz="1300" dirty="0"/>
          </a:p>
        </p:txBody>
      </p:sp>
      <p:sp>
        <p:nvSpPr>
          <p:cNvPr id="28" name="Text 26"/>
          <p:cNvSpPr/>
          <p:nvPr/>
        </p:nvSpPr>
        <p:spPr>
          <a:xfrm>
            <a:off x="6291072" y="3456432"/>
            <a:ext cx="2340864" cy="347472"/>
          </a:xfrm>
          <a:prstGeom prst="rect">
            <a:avLst/>
          </a:prstGeom>
          <a:noFill/>
          <a:ln/>
        </p:spPr>
        <p:txBody>
          <a:bodyPr wrap="square" lIns="0" tIns="0" rIns="0" bIns="0" rtlCol="0" anchor="ctr"/>
          <a:lstStyle/>
          <a:p>
            <a:pPr indent="0" marL="0">
              <a:buNone/>
            </a:pPr>
            <a:r>
              <a:rPr lang="en-US" sz="1100" dirty="0">
                <a:solidFill>
                  <a:srgbClr val="90D8E0"/>
                </a:solidFill>
                <a:latin typeface="Calibri" pitchFamily="34" charset="0"/>
                <a:ea typeface="Calibri" pitchFamily="34" charset="-122"/>
                <a:cs typeface="Calibri" pitchFamily="34" charset="-120"/>
              </a:rPr>
              <a:t>Strong Positive</a:t>
            </a:r>
            <a:endParaRPr lang="en-US" sz="1100" dirty="0"/>
          </a:p>
        </p:txBody>
      </p:sp>
      <p:sp>
        <p:nvSpPr>
          <p:cNvPr id="29" name="Shape 27"/>
          <p:cNvSpPr/>
          <p:nvPr/>
        </p:nvSpPr>
        <p:spPr>
          <a:xfrm>
            <a:off x="5650992" y="3931920"/>
            <a:ext cx="3054096" cy="438912"/>
          </a:xfrm>
          <a:prstGeom prst="roundRect">
            <a:avLst>
              <a:gd name="adj" fmla="val 10417"/>
            </a:avLst>
          </a:prstGeom>
          <a:solidFill>
            <a:srgbClr val="0A1420"/>
          </a:solidFill>
          <a:ln w="12700">
            <a:solidFill>
              <a:srgbClr val="14C870"/>
            </a:solidFill>
            <a:prstDash val="solid"/>
          </a:ln>
        </p:spPr>
      </p:sp>
      <p:sp>
        <p:nvSpPr>
          <p:cNvPr id="30" name="Text 28"/>
          <p:cNvSpPr/>
          <p:nvPr/>
        </p:nvSpPr>
        <p:spPr>
          <a:xfrm>
            <a:off x="5724144" y="3968496"/>
            <a:ext cx="512064" cy="347472"/>
          </a:xfrm>
          <a:prstGeom prst="rect">
            <a:avLst/>
          </a:prstGeom>
          <a:noFill/>
          <a:ln/>
        </p:spPr>
        <p:txBody>
          <a:bodyPr wrap="square" lIns="0" tIns="0" rIns="0" bIns="0" rtlCol="0" anchor="ctr"/>
          <a:lstStyle/>
          <a:p>
            <a:pPr algn="ctr" indent="0" marL="0">
              <a:buNone/>
            </a:pPr>
            <a:r>
              <a:rPr lang="en-US" sz="1300" b="1" dirty="0">
                <a:solidFill>
                  <a:srgbClr val="14C870"/>
                </a:solidFill>
                <a:latin typeface="Courier New" pitchFamily="34" charset="0"/>
                <a:ea typeface="Courier New" pitchFamily="34" charset="-122"/>
                <a:cs typeface="Courier New" pitchFamily="34" charset="-120"/>
              </a:rPr>
              <a:t>+1.0</a:t>
            </a:r>
            <a:endParaRPr lang="en-US" sz="1300" dirty="0"/>
          </a:p>
        </p:txBody>
      </p:sp>
      <p:sp>
        <p:nvSpPr>
          <p:cNvPr id="31" name="Text 29"/>
          <p:cNvSpPr/>
          <p:nvPr/>
        </p:nvSpPr>
        <p:spPr>
          <a:xfrm>
            <a:off x="6291072" y="3968496"/>
            <a:ext cx="2340864" cy="347472"/>
          </a:xfrm>
          <a:prstGeom prst="rect">
            <a:avLst/>
          </a:prstGeom>
          <a:noFill/>
          <a:ln/>
        </p:spPr>
        <p:txBody>
          <a:bodyPr wrap="square" lIns="0" tIns="0" rIns="0" bIns="0" rtlCol="0" anchor="ctr"/>
          <a:lstStyle/>
          <a:p>
            <a:pPr indent="0" marL="0">
              <a:buNone/>
            </a:pPr>
            <a:r>
              <a:rPr lang="en-US" sz="1100" dirty="0">
                <a:solidFill>
                  <a:srgbClr val="90D8E0"/>
                </a:solidFill>
                <a:latin typeface="Calibri" pitchFamily="34" charset="0"/>
                <a:ea typeface="Calibri" pitchFamily="34" charset="-122"/>
                <a:cs typeface="Calibri" pitchFamily="34" charset="-120"/>
              </a:rPr>
              <a:t>Perfect Positive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070C18"/>
          </a:solidFill>
          <a:ln w="12700">
            <a:solidFill>
              <a:srgbClr val="070C18"/>
            </a:solidFill>
            <a:prstDash val="solid"/>
          </a:ln>
        </p:spPr>
      </p:sp>
      <p:sp>
        <p:nvSpPr>
          <p:cNvPr id="3" name="Text 1"/>
          <p:cNvSpPr/>
          <p:nvPr/>
        </p:nvSpPr>
        <p:spPr>
          <a:xfrm>
            <a:off x="137160" y="822960"/>
            <a:ext cx="2633472" cy="13716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COMPLETE</a:t>
            </a:r>
            <a:endParaRPr lang="en-US" sz="2400" dirty="0"/>
          </a:p>
          <a:p>
            <a:pPr algn="ctr" indent="0" marL="0">
              <a:buNone/>
            </a:pPr>
            <a:r>
              <a:rPr lang="en-US" sz="2400" b="1" dirty="0">
                <a:solidFill>
                  <a:srgbClr val="FFFFFF"/>
                </a:solidFill>
                <a:latin typeface="Cambria" pitchFamily="34" charset="0"/>
                <a:ea typeface="Cambria" pitchFamily="34" charset="-122"/>
                <a:cs typeface="Cambria" pitchFamily="34" charset="-120"/>
              </a:rPr>
              <a:t>AGENDA</a:t>
            </a:r>
            <a:endParaRPr lang="en-US" sz="2400" dirty="0"/>
          </a:p>
        </p:txBody>
      </p:sp>
      <p:sp>
        <p:nvSpPr>
          <p:cNvPr id="4" name="Shape 2"/>
          <p:cNvSpPr/>
          <p:nvPr/>
        </p:nvSpPr>
        <p:spPr>
          <a:xfrm>
            <a:off x="365760" y="2359152"/>
            <a:ext cx="2194560" cy="45720"/>
          </a:xfrm>
          <a:prstGeom prst="rect">
            <a:avLst/>
          </a:prstGeom>
          <a:solidFill>
            <a:srgbClr val="D4A010"/>
          </a:solidFill>
          <a:ln w="12700">
            <a:solidFill>
              <a:srgbClr val="D4A010"/>
            </a:solidFill>
            <a:prstDash val="solid"/>
          </a:ln>
        </p:spPr>
      </p:sp>
      <p:sp>
        <p:nvSpPr>
          <p:cNvPr id="5" name="Text 3"/>
          <p:cNvSpPr/>
          <p:nvPr/>
        </p:nvSpPr>
        <p:spPr>
          <a:xfrm>
            <a:off x="137160" y="2487168"/>
            <a:ext cx="2633472" cy="329184"/>
          </a:xfrm>
          <a:prstGeom prst="rect">
            <a:avLst/>
          </a:prstGeom>
          <a:noFill/>
          <a:ln/>
        </p:spPr>
        <p:txBody>
          <a:bodyPr wrap="square" lIns="0" tIns="0" rIns="0" bIns="0" rtlCol="0" anchor="ctr"/>
          <a:lstStyle/>
          <a:p>
            <a:pPr algn="ctr" indent="0" marL="0">
              <a:buNone/>
            </a:pPr>
            <a:r>
              <a:rPr lang="en-US" sz="1200" dirty="0">
                <a:solidFill>
                  <a:srgbClr val="F0C840"/>
                </a:solidFill>
                <a:latin typeface="Calibri" pitchFamily="34" charset="0"/>
                <a:ea typeface="Calibri" pitchFamily="34" charset="-122"/>
                <a:cs typeface="Calibri" pitchFamily="34" charset="-120"/>
              </a:rPr>
              <a:t>22 Core Topics</a:t>
            </a:r>
            <a:endParaRPr lang="en-US" sz="1200" dirty="0"/>
          </a:p>
        </p:txBody>
      </p:sp>
      <p:sp>
        <p:nvSpPr>
          <p:cNvPr id="6" name="Shape 4"/>
          <p:cNvSpPr/>
          <p:nvPr/>
        </p:nvSpPr>
        <p:spPr>
          <a:xfrm>
            <a:off x="3063240" y="91440"/>
            <a:ext cx="2880360" cy="411480"/>
          </a:xfrm>
          <a:prstGeom prst="roundRect">
            <a:avLst>
              <a:gd name="adj" fmla="val 11111"/>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7" name="Shape 5"/>
          <p:cNvSpPr/>
          <p:nvPr/>
        </p:nvSpPr>
        <p:spPr>
          <a:xfrm>
            <a:off x="3136392" y="146304"/>
            <a:ext cx="237744" cy="274320"/>
          </a:xfrm>
          <a:prstGeom prst="roundRect">
            <a:avLst>
              <a:gd name="adj" fmla="val 11538"/>
            </a:avLst>
          </a:prstGeom>
          <a:solidFill>
            <a:srgbClr val="070C18"/>
          </a:solidFill>
          <a:ln w="12700">
            <a:solidFill>
              <a:srgbClr val="070C18"/>
            </a:solidFill>
            <a:prstDash val="solid"/>
          </a:ln>
        </p:spPr>
      </p:sp>
      <p:sp>
        <p:nvSpPr>
          <p:cNvPr id="8" name="Text 6"/>
          <p:cNvSpPr/>
          <p:nvPr/>
        </p:nvSpPr>
        <p:spPr>
          <a:xfrm>
            <a:off x="3136392" y="146304"/>
            <a:ext cx="237744" cy="274320"/>
          </a:xfrm>
          <a:prstGeom prst="rect">
            <a:avLst/>
          </a:prstGeom>
          <a:noFill/>
          <a:ln/>
        </p:spPr>
        <p:txBody>
          <a:bodyPr wrap="square" lIns="0" tIns="0" rIns="0" bIns="0" rtlCol="0" anchor="ctr"/>
          <a:lstStyle/>
          <a:p>
            <a:pPr algn="ctr" indent="0" marL="0">
              <a:buNone/>
            </a:pPr>
            <a:r>
              <a:rPr lang="en-US" sz="700" b="1" dirty="0">
                <a:solidFill>
                  <a:srgbClr val="F0C840"/>
                </a:solidFill>
                <a:latin typeface="Calibri" pitchFamily="34" charset="0"/>
                <a:ea typeface="Calibri" pitchFamily="34" charset="-122"/>
                <a:cs typeface="Calibri" pitchFamily="34" charset="-120"/>
              </a:rPr>
              <a:t>01</a:t>
            </a:r>
            <a:endParaRPr lang="en-US" sz="700" dirty="0"/>
          </a:p>
        </p:txBody>
      </p:sp>
      <p:sp>
        <p:nvSpPr>
          <p:cNvPr id="9" name="Text 7"/>
          <p:cNvSpPr/>
          <p:nvPr/>
        </p:nvSpPr>
        <p:spPr>
          <a:xfrm>
            <a:off x="3447288" y="128016"/>
            <a:ext cx="2414016" cy="182880"/>
          </a:xfrm>
          <a:prstGeom prst="rect">
            <a:avLst/>
          </a:prstGeom>
          <a:noFill/>
          <a:ln/>
        </p:spPr>
        <p:txBody>
          <a:bodyPr wrap="square" lIns="0" tIns="0" rIns="0" bIns="0" rtlCol="0" anchor="ctr"/>
          <a:lstStyle/>
          <a:p>
            <a:pPr indent="0" marL="0">
              <a:buNone/>
            </a:pPr>
            <a:r>
              <a:rPr lang="en-US" sz="900" b="1" dirty="0">
                <a:solidFill>
                  <a:srgbClr val="0C1428"/>
                </a:solidFill>
                <a:latin typeface="Calibri" pitchFamily="34" charset="0"/>
                <a:ea typeface="Calibri" pitchFamily="34" charset="-122"/>
                <a:cs typeface="Calibri" pitchFamily="34" charset="-120"/>
              </a:rPr>
              <a:t>What is Correlation?</a:t>
            </a:r>
            <a:endParaRPr lang="en-US" sz="900" dirty="0"/>
          </a:p>
        </p:txBody>
      </p:sp>
      <p:sp>
        <p:nvSpPr>
          <p:cNvPr id="10" name="Text 8"/>
          <p:cNvSpPr/>
          <p:nvPr/>
        </p:nvSpPr>
        <p:spPr>
          <a:xfrm>
            <a:off x="3447288" y="329184"/>
            <a:ext cx="2414016" cy="14630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Definition, properties, the family</a:t>
            </a:r>
            <a:endParaRPr lang="en-US" sz="750" dirty="0"/>
          </a:p>
        </p:txBody>
      </p:sp>
      <p:sp>
        <p:nvSpPr>
          <p:cNvPr id="11" name="Shape 9"/>
          <p:cNvSpPr/>
          <p:nvPr/>
        </p:nvSpPr>
        <p:spPr>
          <a:xfrm>
            <a:off x="3063240" y="530352"/>
            <a:ext cx="2880360" cy="411480"/>
          </a:xfrm>
          <a:prstGeom prst="roundRect">
            <a:avLst>
              <a:gd name="adj" fmla="val 11111"/>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12" name="Shape 10"/>
          <p:cNvSpPr/>
          <p:nvPr/>
        </p:nvSpPr>
        <p:spPr>
          <a:xfrm>
            <a:off x="3136392" y="585216"/>
            <a:ext cx="237744" cy="274320"/>
          </a:xfrm>
          <a:prstGeom prst="roundRect">
            <a:avLst>
              <a:gd name="adj" fmla="val 11538"/>
            </a:avLst>
          </a:prstGeom>
          <a:solidFill>
            <a:srgbClr val="070C18"/>
          </a:solidFill>
          <a:ln w="12700">
            <a:solidFill>
              <a:srgbClr val="070C18"/>
            </a:solidFill>
            <a:prstDash val="solid"/>
          </a:ln>
        </p:spPr>
      </p:sp>
      <p:sp>
        <p:nvSpPr>
          <p:cNvPr id="13" name="Text 11"/>
          <p:cNvSpPr/>
          <p:nvPr/>
        </p:nvSpPr>
        <p:spPr>
          <a:xfrm>
            <a:off x="3136392" y="585216"/>
            <a:ext cx="237744" cy="274320"/>
          </a:xfrm>
          <a:prstGeom prst="rect">
            <a:avLst/>
          </a:prstGeom>
          <a:noFill/>
          <a:ln/>
        </p:spPr>
        <p:txBody>
          <a:bodyPr wrap="square" lIns="0" tIns="0" rIns="0" bIns="0" rtlCol="0" anchor="ctr"/>
          <a:lstStyle/>
          <a:p>
            <a:pPr algn="ctr" indent="0" marL="0">
              <a:buNone/>
            </a:pPr>
            <a:r>
              <a:rPr lang="en-US" sz="700" b="1" dirty="0">
                <a:solidFill>
                  <a:srgbClr val="F0C840"/>
                </a:solidFill>
                <a:latin typeface="Calibri" pitchFamily="34" charset="0"/>
                <a:ea typeface="Calibri" pitchFamily="34" charset="-122"/>
                <a:cs typeface="Calibri" pitchFamily="34" charset="-120"/>
              </a:rPr>
              <a:t>02</a:t>
            </a:r>
            <a:endParaRPr lang="en-US" sz="700" dirty="0"/>
          </a:p>
        </p:txBody>
      </p:sp>
      <p:sp>
        <p:nvSpPr>
          <p:cNvPr id="14" name="Text 12"/>
          <p:cNvSpPr/>
          <p:nvPr/>
        </p:nvSpPr>
        <p:spPr>
          <a:xfrm>
            <a:off x="3447288" y="566928"/>
            <a:ext cx="2414016" cy="182880"/>
          </a:xfrm>
          <a:prstGeom prst="rect">
            <a:avLst/>
          </a:prstGeom>
          <a:noFill/>
          <a:ln/>
        </p:spPr>
        <p:txBody>
          <a:bodyPr wrap="square" lIns="0" tIns="0" rIns="0" bIns="0" rtlCol="0" anchor="ctr"/>
          <a:lstStyle/>
          <a:p>
            <a:pPr indent="0" marL="0">
              <a:buNone/>
            </a:pPr>
            <a:r>
              <a:rPr lang="en-US" sz="900" b="1" dirty="0">
                <a:solidFill>
                  <a:srgbClr val="0C1428"/>
                </a:solidFill>
                <a:latin typeface="Calibri" pitchFamily="34" charset="0"/>
                <a:ea typeface="Calibri" pitchFamily="34" charset="-122"/>
                <a:cs typeface="Calibri" pitchFamily="34" charset="-120"/>
              </a:rPr>
              <a:t>Pearson r - Complete Theory</a:t>
            </a:r>
            <a:endParaRPr lang="en-US" sz="900" dirty="0"/>
          </a:p>
        </p:txBody>
      </p:sp>
      <p:sp>
        <p:nvSpPr>
          <p:cNvPr id="15" name="Text 13"/>
          <p:cNvSpPr/>
          <p:nvPr/>
        </p:nvSpPr>
        <p:spPr>
          <a:xfrm>
            <a:off x="3447288" y="768096"/>
            <a:ext cx="2414016" cy="14630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Formula, derivation, r-squared</a:t>
            </a:r>
            <a:endParaRPr lang="en-US" sz="750" dirty="0"/>
          </a:p>
        </p:txBody>
      </p:sp>
      <p:sp>
        <p:nvSpPr>
          <p:cNvPr id="16" name="Shape 14"/>
          <p:cNvSpPr/>
          <p:nvPr/>
        </p:nvSpPr>
        <p:spPr>
          <a:xfrm>
            <a:off x="3063240" y="969264"/>
            <a:ext cx="2880360" cy="411480"/>
          </a:xfrm>
          <a:prstGeom prst="roundRect">
            <a:avLst>
              <a:gd name="adj" fmla="val 11111"/>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17" name="Shape 15"/>
          <p:cNvSpPr/>
          <p:nvPr/>
        </p:nvSpPr>
        <p:spPr>
          <a:xfrm>
            <a:off x="3136392" y="1024128"/>
            <a:ext cx="237744" cy="274320"/>
          </a:xfrm>
          <a:prstGeom prst="roundRect">
            <a:avLst>
              <a:gd name="adj" fmla="val 11538"/>
            </a:avLst>
          </a:prstGeom>
          <a:solidFill>
            <a:srgbClr val="070C18"/>
          </a:solidFill>
          <a:ln w="12700">
            <a:solidFill>
              <a:srgbClr val="070C18"/>
            </a:solidFill>
            <a:prstDash val="solid"/>
          </a:ln>
        </p:spPr>
      </p:sp>
      <p:sp>
        <p:nvSpPr>
          <p:cNvPr id="18" name="Text 16"/>
          <p:cNvSpPr/>
          <p:nvPr/>
        </p:nvSpPr>
        <p:spPr>
          <a:xfrm>
            <a:off x="3136392" y="1024128"/>
            <a:ext cx="237744" cy="274320"/>
          </a:xfrm>
          <a:prstGeom prst="rect">
            <a:avLst/>
          </a:prstGeom>
          <a:noFill/>
          <a:ln/>
        </p:spPr>
        <p:txBody>
          <a:bodyPr wrap="square" lIns="0" tIns="0" rIns="0" bIns="0" rtlCol="0" anchor="ctr"/>
          <a:lstStyle/>
          <a:p>
            <a:pPr algn="ctr" indent="0" marL="0">
              <a:buNone/>
            </a:pPr>
            <a:r>
              <a:rPr lang="en-US" sz="700" b="1" dirty="0">
                <a:solidFill>
                  <a:srgbClr val="F0C840"/>
                </a:solidFill>
                <a:latin typeface="Calibri" pitchFamily="34" charset="0"/>
                <a:ea typeface="Calibri" pitchFamily="34" charset="-122"/>
                <a:cs typeface="Calibri" pitchFamily="34" charset="-120"/>
              </a:rPr>
              <a:t>03</a:t>
            </a:r>
            <a:endParaRPr lang="en-US" sz="700" dirty="0"/>
          </a:p>
        </p:txBody>
      </p:sp>
      <p:sp>
        <p:nvSpPr>
          <p:cNvPr id="19" name="Text 17"/>
          <p:cNvSpPr/>
          <p:nvPr/>
        </p:nvSpPr>
        <p:spPr>
          <a:xfrm>
            <a:off x="3447288" y="1005840"/>
            <a:ext cx="2414016" cy="182880"/>
          </a:xfrm>
          <a:prstGeom prst="rect">
            <a:avLst/>
          </a:prstGeom>
          <a:noFill/>
          <a:ln/>
        </p:spPr>
        <p:txBody>
          <a:bodyPr wrap="square" lIns="0" tIns="0" rIns="0" bIns="0" rtlCol="0" anchor="ctr"/>
          <a:lstStyle/>
          <a:p>
            <a:pPr indent="0" marL="0">
              <a:buNone/>
            </a:pPr>
            <a:r>
              <a:rPr lang="en-US" sz="900" b="1" dirty="0">
                <a:solidFill>
                  <a:srgbClr val="0C1428"/>
                </a:solidFill>
                <a:latin typeface="Calibri" pitchFamily="34" charset="0"/>
                <a:ea typeface="Calibri" pitchFamily="34" charset="-122"/>
                <a:cs typeface="Calibri" pitchFamily="34" charset="-120"/>
              </a:rPr>
              <a:t>Computing Pearson r</a:t>
            </a:r>
            <a:endParaRPr lang="en-US" sz="900" dirty="0"/>
          </a:p>
        </p:txBody>
      </p:sp>
      <p:sp>
        <p:nvSpPr>
          <p:cNvPr id="20" name="Text 18"/>
          <p:cNvSpPr/>
          <p:nvPr/>
        </p:nvSpPr>
        <p:spPr>
          <a:xfrm>
            <a:off x="3447288" y="1207008"/>
            <a:ext cx="2414016" cy="14630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Step-by-step GTBank worked example</a:t>
            </a:r>
            <a:endParaRPr lang="en-US" sz="750" dirty="0"/>
          </a:p>
        </p:txBody>
      </p:sp>
      <p:sp>
        <p:nvSpPr>
          <p:cNvPr id="21" name="Shape 19"/>
          <p:cNvSpPr/>
          <p:nvPr/>
        </p:nvSpPr>
        <p:spPr>
          <a:xfrm>
            <a:off x="3063240" y="1408176"/>
            <a:ext cx="2880360" cy="411480"/>
          </a:xfrm>
          <a:prstGeom prst="roundRect">
            <a:avLst>
              <a:gd name="adj" fmla="val 11111"/>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22" name="Shape 20"/>
          <p:cNvSpPr/>
          <p:nvPr/>
        </p:nvSpPr>
        <p:spPr>
          <a:xfrm>
            <a:off x="3136392" y="1463040"/>
            <a:ext cx="237744" cy="274320"/>
          </a:xfrm>
          <a:prstGeom prst="roundRect">
            <a:avLst>
              <a:gd name="adj" fmla="val 11538"/>
            </a:avLst>
          </a:prstGeom>
          <a:solidFill>
            <a:srgbClr val="070C18"/>
          </a:solidFill>
          <a:ln w="12700">
            <a:solidFill>
              <a:srgbClr val="070C18"/>
            </a:solidFill>
            <a:prstDash val="solid"/>
          </a:ln>
        </p:spPr>
      </p:sp>
      <p:sp>
        <p:nvSpPr>
          <p:cNvPr id="23" name="Text 21"/>
          <p:cNvSpPr/>
          <p:nvPr/>
        </p:nvSpPr>
        <p:spPr>
          <a:xfrm>
            <a:off x="3136392" y="1463040"/>
            <a:ext cx="237744" cy="274320"/>
          </a:xfrm>
          <a:prstGeom prst="rect">
            <a:avLst/>
          </a:prstGeom>
          <a:noFill/>
          <a:ln/>
        </p:spPr>
        <p:txBody>
          <a:bodyPr wrap="square" lIns="0" tIns="0" rIns="0" bIns="0" rtlCol="0" anchor="ctr"/>
          <a:lstStyle/>
          <a:p>
            <a:pPr algn="ctr" indent="0" marL="0">
              <a:buNone/>
            </a:pPr>
            <a:r>
              <a:rPr lang="en-US" sz="700" b="1" dirty="0">
                <a:solidFill>
                  <a:srgbClr val="F0C840"/>
                </a:solidFill>
                <a:latin typeface="Calibri" pitchFamily="34" charset="0"/>
                <a:ea typeface="Calibri" pitchFamily="34" charset="-122"/>
                <a:cs typeface="Calibri" pitchFamily="34" charset="-120"/>
              </a:rPr>
              <a:t>04</a:t>
            </a:r>
            <a:endParaRPr lang="en-US" sz="700" dirty="0"/>
          </a:p>
        </p:txBody>
      </p:sp>
      <p:sp>
        <p:nvSpPr>
          <p:cNvPr id="24" name="Text 22"/>
          <p:cNvSpPr/>
          <p:nvPr/>
        </p:nvSpPr>
        <p:spPr>
          <a:xfrm>
            <a:off x="3447288" y="1444752"/>
            <a:ext cx="2414016" cy="182880"/>
          </a:xfrm>
          <a:prstGeom prst="rect">
            <a:avLst/>
          </a:prstGeom>
          <a:noFill/>
          <a:ln/>
        </p:spPr>
        <p:txBody>
          <a:bodyPr wrap="square" lIns="0" tIns="0" rIns="0" bIns="0" rtlCol="0" anchor="ctr"/>
          <a:lstStyle/>
          <a:p>
            <a:pPr indent="0" marL="0">
              <a:buNone/>
            </a:pPr>
            <a:r>
              <a:rPr lang="en-US" sz="900" b="1" dirty="0">
                <a:solidFill>
                  <a:srgbClr val="0C1428"/>
                </a:solidFill>
                <a:latin typeface="Calibri" pitchFamily="34" charset="0"/>
                <a:ea typeface="Calibri" pitchFamily="34" charset="-122"/>
                <a:cs typeface="Calibri" pitchFamily="34" charset="-120"/>
              </a:rPr>
              <a:t>Interpreting r - Benchmarks</a:t>
            </a:r>
            <a:endParaRPr lang="en-US" sz="900" dirty="0"/>
          </a:p>
        </p:txBody>
      </p:sp>
      <p:sp>
        <p:nvSpPr>
          <p:cNvPr id="25" name="Text 23"/>
          <p:cNvSpPr/>
          <p:nvPr/>
        </p:nvSpPr>
        <p:spPr>
          <a:xfrm>
            <a:off x="3447288" y="1645920"/>
            <a:ext cx="2414016" cy="14630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Strength, direction, practical sig.</a:t>
            </a:r>
            <a:endParaRPr lang="en-US" sz="750" dirty="0"/>
          </a:p>
        </p:txBody>
      </p:sp>
      <p:sp>
        <p:nvSpPr>
          <p:cNvPr id="26" name="Shape 24"/>
          <p:cNvSpPr/>
          <p:nvPr/>
        </p:nvSpPr>
        <p:spPr>
          <a:xfrm>
            <a:off x="3063240" y="1847088"/>
            <a:ext cx="2880360" cy="411480"/>
          </a:xfrm>
          <a:prstGeom prst="roundRect">
            <a:avLst>
              <a:gd name="adj" fmla="val 11111"/>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27" name="Shape 25"/>
          <p:cNvSpPr/>
          <p:nvPr/>
        </p:nvSpPr>
        <p:spPr>
          <a:xfrm>
            <a:off x="3136392" y="1901952"/>
            <a:ext cx="237744" cy="274320"/>
          </a:xfrm>
          <a:prstGeom prst="roundRect">
            <a:avLst>
              <a:gd name="adj" fmla="val 11538"/>
            </a:avLst>
          </a:prstGeom>
          <a:solidFill>
            <a:srgbClr val="070C18"/>
          </a:solidFill>
          <a:ln w="12700">
            <a:solidFill>
              <a:srgbClr val="070C18"/>
            </a:solidFill>
            <a:prstDash val="solid"/>
          </a:ln>
        </p:spPr>
      </p:sp>
      <p:sp>
        <p:nvSpPr>
          <p:cNvPr id="28" name="Text 26"/>
          <p:cNvSpPr/>
          <p:nvPr/>
        </p:nvSpPr>
        <p:spPr>
          <a:xfrm>
            <a:off x="3136392" y="1901952"/>
            <a:ext cx="237744" cy="274320"/>
          </a:xfrm>
          <a:prstGeom prst="rect">
            <a:avLst/>
          </a:prstGeom>
          <a:noFill/>
          <a:ln/>
        </p:spPr>
        <p:txBody>
          <a:bodyPr wrap="square" lIns="0" tIns="0" rIns="0" bIns="0" rtlCol="0" anchor="ctr"/>
          <a:lstStyle/>
          <a:p>
            <a:pPr algn="ctr" indent="0" marL="0">
              <a:buNone/>
            </a:pPr>
            <a:r>
              <a:rPr lang="en-US" sz="700" b="1" dirty="0">
                <a:solidFill>
                  <a:srgbClr val="F0C840"/>
                </a:solidFill>
                <a:latin typeface="Calibri" pitchFamily="34" charset="0"/>
                <a:ea typeface="Calibri" pitchFamily="34" charset="-122"/>
                <a:cs typeface="Calibri" pitchFamily="34" charset="-120"/>
              </a:rPr>
              <a:t>05</a:t>
            </a:r>
            <a:endParaRPr lang="en-US" sz="700" dirty="0"/>
          </a:p>
        </p:txBody>
      </p:sp>
      <p:sp>
        <p:nvSpPr>
          <p:cNvPr id="29" name="Text 27"/>
          <p:cNvSpPr/>
          <p:nvPr/>
        </p:nvSpPr>
        <p:spPr>
          <a:xfrm>
            <a:off x="3447288" y="1883664"/>
            <a:ext cx="2414016" cy="182880"/>
          </a:xfrm>
          <a:prstGeom prst="rect">
            <a:avLst/>
          </a:prstGeom>
          <a:noFill/>
          <a:ln/>
        </p:spPr>
        <p:txBody>
          <a:bodyPr wrap="square" lIns="0" tIns="0" rIns="0" bIns="0" rtlCol="0" anchor="ctr"/>
          <a:lstStyle/>
          <a:p>
            <a:pPr indent="0" marL="0">
              <a:buNone/>
            </a:pPr>
            <a:r>
              <a:rPr lang="en-US" sz="900" b="1" dirty="0">
                <a:solidFill>
                  <a:srgbClr val="0C1428"/>
                </a:solidFill>
                <a:latin typeface="Calibri" pitchFamily="34" charset="0"/>
                <a:ea typeface="Calibri" pitchFamily="34" charset="-122"/>
                <a:cs typeface="Calibri" pitchFamily="34" charset="-120"/>
              </a:rPr>
              <a:t>Hypothesis Testing</a:t>
            </a:r>
            <a:endParaRPr lang="en-US" sz="900" dirty="0"/>
          </a:p>
        </p:txBody>
      </p:sp>
      <p:sp>
        <p:nvSpPr>
          <p:cNvPr id="30" name="Text 28"/>
          <p:cNvSpPr/>
          <p:nvPr/>
        </p:nvSpPr>
        <p:spPr>
          <a:xfrm>
            <a:off x="3447288" y="2084832"/>
            <a:ext cx="2414016" cy="14630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t-test, Fisher's Z, CI for rho</a:t>
            </a:r>
            <a:endParaRPr lang="en-US" sz="750" dirty="0"/>
          </a:p>
        </p:txBody>
      </p:sp>
      <p:sp>
        <p:nvSpPr>
          <p:cNvPr id="31" name="Shape 29"/>
          <p:cNvSpPr/>
          <p:nvPr/>
        </p:nvSpPr>
        <p:spPr>
          <a:xfrm>
            <a:off x="3063240" y="2286000"/>
            <a:ext cx="2880360" cy="411480"/>
          </a:xfrm>
          <a:prstGeom prst="roundRect">
            <a:avLst>
              <a:gd name="adj" fmla="val 11111"/>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32" name="Shape 30"/>
          <p:cNvSpPr/>
          <p:nvPr/>
        </p:nvSpPr>
        <p:spPr>
          <a:xfrm>
            <a:off x="3136392" y="2340864"/>
            <a:ext cx="237744" cy="274320"/>
          </a:xfrm>
          <a:prstGeom prst="roundRect">
            <a:avLst>
              <a:gd name="adj" fmla="val 11538"/>
            </a:avLst>
          </a:prstGeom>
          <a:solidFill>
            <a:srgbClr val="070C18"/>
          </a:solidFill>
          <a:ln w="12700">
            <a:solidFill>
              <a:srgbClr val="070C18"/>
            </a:solidFill>
            <a:prstDash val="solid"/>
          </a:ln>
        </p:spPr>
      </p:sp>
      <p:sp>
        <p:nvSpPr>
          <p:cNvPr id="33" name="Text 31"/>
          <p:cNvSpPr/>
          <p:nvPr/>
        </p:nvSpPr>
        <p:spPr>
          <a:xfrm>
            <a:off x="3136392" y="2340864"/>
            <a:ext cx="237744" cy="274320"/>
          </a:xfrm>
          <a:prstGeom prst="rect">
            <a:avLst/>
          </a:prstGeom>
          <a:noFill/>
          <a:ln/>
        </p:spPr>
        <p:txBody>
          <a:bodyPr wrap="square" lIns="0" tIns="0" rIns="0" bIns="0" rtlCol="0" anchor="ctr"/>
          <a:lstStyle/>
          <a:p>
            <a:pPr algn="ctr" indent="0" marL="0">
              <a:buNone/>
            </a:pPr>
            <a:r>
              <a:rPr lang="en-US" sz="700" b="1" dirty="0">
                <a:solidFill>
                  <a:srgbClr val="F0C840"/>
                </a:solidFill>
                <a:latin typeface="Calibri" pitchFamily="34" charset="0"/>
                <a:ea typeface="Calibri" pitchFamily="34" charset="-122"/>
                <a:cs typeface="Calibri" pitchFamily="34" charset="-120"/>
              </a:rPr>
              <a:t>06</a:t>
            </a:r>
            <a:endParaRPr lang="en-US" sz="700" dirty="0"/>
          </a:p>
        </p:txBody>
      </p:sp>
      <p:sp>
        <p:nvSpPr>
          <p:cNvPr id="34" name="Text 32"/>
          <p:cNvSpPr/>
          <p:nvPr/>
        </p:nvSpPr>
        <p:spPr>
          <a:xfrm>
            <a:off x="3447288" y="2322576"/>
            <a:ext cx="2414016" cy="182880"/>
          </a:xfrm>
          <a:prstGeom prst="rect">
            <a:avLst/>
          </a:prstGeom>
          <a:noFill/>
          <a:ln/>
        </p:spPr>
        <p:txBody>
          <a:bodyPr wrap="square" lIns="0" tIns="0" rIns="0" bIns="0" rtlCol="0" anchor="ctr"/>
          <a:lstStyle/>
          <a:p>
            <a:pPr indent="0" marL="0">
              <a:buNone/>
            </a:pPr>
            <a:r>
              <a:rPr lang="en-US" sz="900" b="1" dirty="0">
                <a:solidFill>
                  <a:srgbClr val="0C1428"/>
                </a:solidFill>
                <a:latin typeface="Calibri" pitchFamily="34" charset="0"/>
                <a:ea typeface="Calibri" pitchFamily="34" charset="-122"/>
                <a:cs typeface="Calibri" pitchFamily="34" charset="-120"/>
              </a:rPr>
              <a:t>Assumptions of Pearson r</a:t>
            </a:r>
            <a:endParaRPr lang="en-US" sz="900" dirty="0"/>
          </a:p>
        </p:txBody>
      </p:sp>
      <p:sp>
        <p:nvSpPr>
          <p:cNvPr id="35" name="Text 33"/>
          <p:cNvSpPr/>
          <p:nvPr/>
        </p:nvSpPr>
        <p:spPr>
          <a:xfrm>
            <a:off x="3447288" y="2523744"/>
            <a:ext cx="2414016" cy="14630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Linearity, normality, homoscedasticity</a:t>
            </a:r>
            <a:endParaRPr lang="en-US" sz="750" dirty="0"/>
          </a:p>
        </p:txBody>
      </p:sp>
      <p:sp>
        <p:nvSpPr>
          <p:cNvPr id="36" name="Shape 34"/>
          <p:cNvSpPr/>
          <p:nvPr/>
        </p:nvSpPr>
        <p:spPr>
          <a:xfrm>
            <a:off x="3063240" y="2724912"/>
            <a:ext cx="2880360" cy="411480"/>
          </a:xfrm>
          <a:prstGeom prst="roundRect">
            <a:avLst>
              <a:gd name="adj" fmla="val 11111"/>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37" name="Shape 35"/>
          <p:cNvSpPr/>
          <p:nvPr/>
        </p:nvSpPr>
        <p:spPr>
          <a:xfrm>
            <a:off x="3136392" y="2779776"/>
            <a:ext cx="237744" cy="274320"/>
          </a:xfrm>
          <a:prstGeom prst="roundRect">
            <a:avLst>
              <a:gd name="adj" fmla="val 11538"/>
            </a:avLst>
          </a:prstGeom>
          <a:solidFill>
            <a:srgbClr val="070C18"/>
          </a:solidFill>
          <a:ln w="12700">
            <a:solidFill>
              <a:srgbClr val="070C18"/>
            </a:solidFill>
            <a:prstDash val="solid"/>
          </a:ln>
        </p:spPr>
      </p:sp>
      <p:sp>
        <p:nvSpPr>
          <p:cNvPr id="38" name="Text 36"/>
          <p:cNvSpPr/>
          <p:nvPr/>
        </p:nvSpPr>
        <p:spPr>
          <a:xfrm>
            <a:off x="3136392" y="2779776"/>
            <a:ext cx="237744" cy="274320"/>
          </a:xfrm>
          <a:prstGeom prst="rect">
            <a:avLst/>
          </a:prstGeom>
          <a:noFill/>
          <a:ln/>
        </p:spPr>
        <p:txBody>
          <a:bodyPr wrap="square" lIns="0" tIns="0" rIns="0" bIns="0" rtlCol="0" anchor="ctr"/>
          <a:lstStyle/>
          <a:p>
            <a:pPr algn="ctr" indent="0" marL="0">
              <a:buNone/>
            </a:pPr>
            <a:r>
              <a:rPr lang="en-US" sz="700" b="1" dirty="0">
                <a:solidFill>
                  <a:srgbClr val="F0C840"/>
                </a:solidFill>
                <a:latin typeface="Calibri" pitchFamily="34" charset="0"/>
                <a:ea typeface="Calibri" pitchFamily="34" charset="-122"/>
                <a:cs typeface="Calibri" pitchFamily="34" charset="-120"/>
              </a:rPr>
              <a:t>07</a:t>
            </a:r>
            <a:endParaRPr lang="en-US" sz="700" dirty="0"/>
          </a:p>
        </p:txBody>
      </p:sp>
      <p:sp>
        <p:nvSpPr>
          <p:cNvPr id="39" name="Text 37"/>
          <p:cNvSpPr/>
          <p:nvPr/>
        </p:nvSpPr>
        <p:spPr>
          <a:xfrm>
            <a:off x="3447288" y="2761488"/>
            <a:ext cx="2414016" cy="182880"/>
          </a:xfrm>
          <a:prstGeom prst="rect">
            <a:avLst/>
          </a:prstGeom>
          <a:noFill/>
          <a:ln/>
        </p:spPr>
        <p:txBody>
          <a:bodyPr wrap="square" lIns="0" tIns="0" rIns="0" bIns="0" rtlCol="0" anchor="ctr"/>
          <a:lstStyle/>
          <a:p>
            <a:pPr indent="0" marL="0">
              <a:buNone/>
            </a:pPr>
            <a:r>
              <a:rPr lang="en-US" sz="900" b="1" dirty="0">
                <a:solidFill>
                  <a:srgbClr val="0C1428"/>
                </a:solidFill>
                <a:latin typeface="Calibri" pitchFamily="34" charset="0"/>
                <a:ea typeface="Calibri" pitchFamily="34" charset="-122"/>
                <a:cs typeface="Calibri" pitchFamily="34" charset="-120"/>
              </a:rPr>
              <a:t>Outliers and Violations</a:t>
            </a:r>
            <a:endParaRPr lang="en-US" sz="900" dirty="0"/>
          </a:p>
        </p:txBody>
      </p:sp>
      <p:sp>
        <p:nvSpPr>
          <p:cNvPr id="40" name="Text 38"/>
          <p:cNvSpPr/>
          <p:nvPr/>
        </p:nvSpPr>
        <p:spPr>
          <a:xfrm>
            <a:off x="3447288" y="2962656"/>
            <a:ext cx="2414016" cy="14630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Effect of outliers, restriction of range</a:t>
            </a:r>
            <a:endParaRPr lang="en-US" sz="750" dirty="0"/>
          </a:p>
        </p:txBody>
      </p:sp>
      <p:sp>
        <p:nvSpPr>
          <p:cNvPr id="41" name="Shape 39"/>
          <p:cNvSpPr/>
          <p:nvPr/>
        </p:nvSpPr>
        <p:spPr>
          <a:xfrm>
            <a:off x="3063240" y="3163824"/>
            <a:ext cx="2880360" cy="411480"/>
          </a:xfrm>
          <a:prstGeom prst="roundRect">
            <a:avLst>
              <a:gd name="adj" fmla="val 11111"/>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42" name="Shape 40"/>
          <p:cNvSpPr/>
          <p:nvPr/>
        </p:nvSpPr>
        <p:spPr>
          <a:xfrm>
            <a:off x="3136392" y="3218688"/>
            <a:ext cx="237744" cy="274320"/>
          </a:xfrm>
          <a:prstGeom prst="roundRect">
            <a:avLst>
              <a:gd name="adj" fmla="val 11538"/>
            </a:avLst>
          </a:prstGeom>
          <a:solidFill>
            <a:srgbClr val="070C18"/>
          </a:solidFill>
          <a:ln w="12700">
            <a:solidFill>
              <a:srgbClr val="070C18"/>
            </a:solidFill>
            <a:prstDash val="solid"/>
          </a:ln>
        </p:spPr>
      </p:sp>
      <p:sp>
        <p:nvSpPr>
          <p:cNvPr id="43" name="Text 41"/>
          <p:cNvSpPr/>
          <p:nvPr/>
        </p:nvSpPr>
        <p:spPr>
          <a:xfrm>
            <a:off x="3136392" y="3218688"/>
            <a:ext cx="237744" cy="274320"/>
          </a:xfrm>
          <a:prstGeom prst="rect">
            <a:avLst/>
          </a:prstGeom>
          <a:noFill/>
          <a:ln/>
        </p:spPr>
        <p:txBody>
          <a:bodyPr wrap="square" lIns="0" tIns="0" rIns="0" bIns="0" rtlCol="0" anchor="ctr"/>
          <a:lstStyle/>
          <a:p>
            <a:pPr algn="ctr" indent="0" marL="0">
              <a:buNone/>
            </a:pPr>
            <a:r>
              <a:rPr lang="en-US" sz="700" b="1" dirty="0">
                <a:solidFill>
                  <a:srgbClr val="F0C840"/>
                </a:solidFill>
                <a:latin typeface="Calibri" pitchFamily="34" charset="0"/>
                <a:ea typeface="Calibri" pitchFamily="34" charset="-122"/>
                <a:cs typeface="Calibri" pitchFamily="34" charset="-120"/>
              </a:rPr>
              <a:t>08</a:t>
            </a:r>
            <a:endParaRPr lang="en-US" sz="700" dirty="0"/>
          </a:p>
        </p:txBody>
      </p:sp>
      <p:sp>
        <p:nvSpPr>
          <p:cNvPr id="44" name="Text 42"/>
          <p:cNvSpPr/>
          <p:nvPr/>
        </p:nvSpPr>
        <p:spPr>
          <a:xfrm>
            <a:off x="3447288" y="3200400"/>
            <a:ext cx="2414016" cy="182880"/>
          </a:xfrm>
          <a:prstGeom prst="rect">
            <a:avLst/>
          </a:prstGeom>
          <a:noFill/>
          <a:ln/>
        </p:spPr>
        <p:txBody>
          <a:bodyPr wrap="square" lIns="0" tIns="0" rIns="0" bIns="0" rtlCol="0" anchor="ctr"/>
          <a:lstStyle/>
          <a:p>
            <a:pPr indent="0" marL="0">
              <a:buNone/>
            </a:pPr>
            <a:r>
              <a:rPr lang="en-US" sz="900" b="1" dirty="0">
                <a:solidFill>
                  <a:srgbClr val="0C1428"/>
                </a:solidFill>
                <a:latin typeface="Calibri" pitchFamily="34" charset="0"/>
                <a:ea typeface="Calibri" pitchFamily="34" charset="-122"/>
                <a:cs typeface="Calibri" pitchFamily="34" charset="-120"/>
              </a:rPr>
              <a:t>Spearman's Rho</a:t>
            </a:r>
            <a:endParaRPr lang="en-US" sz="900" dirty="0"/>
          </a:p>
        </p:txBody>
      </p:sp>
      <p:sp>
        <p:nvSpPr>
          <p:cNvPr id="45" name="Text 43"/>
          <p:cNvSpPr/>
          <p:nvPr/>
        </p:nvSpPr>
        <p:spPr>
          <a:xfrm>
            <a:off x="3447288" y="3401568"/>
            <a:ext cx="2414016" cy="14630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Formula, d^2 method, MTN example</a:t>
            </a:r>
            <a:endParaRPr lang="en-US" sz="750" dirty="0"/>
          </a:p>
        </p:txBody>
      </p:sp>
      <p:sp>
        <p:nvSpPr>
          <p:cNvPr id="46" name="Shape 44"/>
          <p:cNvSpPr/>
          <p:nvPr/>
        </p:nvSpPr>
        <p:spPr>
          <a:xfrm>
            <a:off x="3063240" y="3602736"/>
            <a:ext cx="2880360" cy="411480"/>
          </a:xfrm>
          <a:prstGeom prst="roundRect">
            <a:avLst>
              <a:gd name="adj" fmla="val 11111"/>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47" name="Shape 45"/>
          <p:cNvSpPr/>
          <p:nvPr/>
        </p:nvSpPr>
        <p:spPr>
          <a:xfrm>
            <a:off x="3136392" y="3657600"/>
            <a:ext cx="237744" cy="274320"/>
          </a:xfrm>
          <a:prstGeom prst="roundRect">
            <a:avLst>
              <a:gd name="adj" fmla="val 11538"/>
            </a:avLst>
          </a:prstGeom>
          <a:solidFill>
            <a:srgbClr val="070C18"/>
          </a:solidFill>
          <a:ln w="12700">
            <a:solidFill>
              <a:srgbClr val="070C18"/>
            </a:solidFill>
            <a:prstDash val="solid"/>
          </a:ln>
        </p:spPr>
      </p:sp>
      <p:sp>
        <p:nvSpPr>
          <p:cNvPr id="48" name="Text 46"/>
          <p:cNvSpPr/>
          <p:nvPr/>
        </p:nvSpPr>
        <p:spPr>
          <a:xfrm>
            <a:off x="3136392" y="3657600"/>
            <a:ext cx="237744" cy="274320"/>
          </a:xfrm>
          <a:prstGeom prst="rect">
            <a:avLst/>
          </a:prstGeom>
          <a:noFill/>
          <a:ln/>
        </p:spPr>
        <p:txBody>
          <a:bodyPr wrap="square" lIns="0" tIns="0" rIns="0" bIns="0" rtlCol="0" anchor="ctr"/>
          <a:lstStyle/>
          <a:p>
            <a:pPr algn="ctr" indent="0" marL="0">
              <a:buNone/>
            </a:pPr>
            <a:r>
              <a:rPr lang="en-US" sz="700" b="1" dirty="0">
                <a:solidFill>
                  <a:srgbClr val="F0C840"/>
                </a:solidFill>
                <a:latin typeface="Calibri" pitchFamily="34" charset="0"/>
                <a:ea typeface="Calibri" pitchFamily="34" charset="-122"/>
                <a:cs typeface="Calibri" pitchFamily="34" charset="-120"/>
              </a:rPr>
              <a:t>09</a:t>
            </a:r>
            <a:endParaRPr lang="en-US" sz="700" dirty="0"/>
          </a:p>
        </p:txBody>
      </p:sp>
      <p:sp>
        <p:nvSpPr>
          <p:cNvPr id="49" name="Text 47"/>
          <p:cNvSpPr/>
          <p:nvPr/>
        </p:nvSpPr>
        <p:spPr>
          <a:xfrm>
            <a:off x="3447288" y="3639312"/>
            <a:ext cx="2414016" cy="182880"/>
          </a:xfrm>
          <a:prstGeom prst="rect">
            <a:avLst/>
          </a:prstGeom>
          <a:noFill/>
          <a:ln/>
        </p:spPr>
        <p:txBody>
          <a:bodyPr wrap="square" lIns="0" tIns="0" rIns="0" bIns="0" rtlCol="0" anchor="ctr"/>
          <a:lstStyle/>
          <a:p>
            <a:pPr indent="0" marL="0">
              <a:buNone/>
            </a:pPr>
            <a:r>
              <a:rPr lang="en-US" sz="900" b="1" dirty="0">
                <a:solidFill>
                  <a:srgbClr val="0C1428"/>
                </a:solidFill>
                <a:latin typeface="Calibri" pitchFamily="34" charset="0"/>
                <a:ea typeface="Calibri" pitchFamily="34" charset="-122"/>
                <a:cs typeface="Calibri" pitchFamily="34" charset="-120"/>
              </a:rPr>
              <a:t>Pearson vs Spearman</a:t>
            </a:r>
            <a:endParaRPr lang="en-US" sz="900" dirty="0"/>
          </a:p>
        </p:txBody>
      </p:sp>
      <p:sp>
        <p:nvSpPr>
          <p:cNvPr id="50" name="Text 48"/>
          <p:cNvSpPr/>
          <p:nvPr/>
        </p:nvSpPr>
        <p:spPr>
          <a:xfrm>
            <a:off x="3447288" y="3840480"/>
            <a:ext cx="2414016" cy="14630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When to use which, decision guide</a:t>
            </a:r>
            <a:endParaRPr lang="en-US" sz="750" dirty="0"/>
          </a:p>
        </p:txBody>
      </p:sp>
      <p:sp>
        <p:nvSpPr>
          <p:cNvPr id="51" name="Shape 49"/>
          <p:cNvSpPr/>
          <p:nvPr/>
        </p:nvSpPr>
        <p:spPr>
          <a:xfrm>
            <a:off x="3063240" y="4041648"/>
            <a:ext cx="2880360" cy="411480"/>
          </a:xfrm>
          <a:prstGeom prst="roundRect">
            <a:avLst>
              <a:gd name="adj" fmla="val 11111"/>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52" name="Shape 50"/>
          <p:cNvSpPr/>
          <p:nvPr/>
        </p:nvSpPr>
        <p:spPr>
          <a:xfrm>
            <a:off x="3136392" y="4096512"/>
            <a:ext cx="237744" cy="274320"/>
          </a:xfrm>
          <a:prstGeom prst="roundRect">
            <a:avLst>
              <a:gd name="adj" fmla="val 11538"/>
            </a:avLst>
          </a:prstGeom>
          <a:solidFill>
            <a:srgbClr val="070C18"/>
          </a:solidFill>
          <a:ln w="12700">
            <a:solidFill>
              <a:srgbClr val="070C18"/>
            </a:solidFill>
            <a:prstDash val="solid"/>
          </a:ln>
        </p:spPr>
      </p:sp>
      <p:sp>
        <p:nvSpPr>
          <p:cNvPr id="53" name="Text 51"/>
          <p:cNvSpPr/>
          <p:nvPr/>
        </p:nvSpPr>
        <p:spPr>
          <a:xfrm>
            <a:off x="3136392" y="4096512"/>
            <a:ext cx="237744" cy="274320"/>
          </a:xfrm>
          <a:prstGeom prst="rect">
            <a:avLst/>
          </a:prstGeom>
          <a:noFill/>
          <a:ln/>
        </p:spPr>
        <p:txBody>
          <a:bodyPr wrap="square" lIns="0" tIns="0" rIns="0" bIns="0" rtlCol="0" anchor="ctr"/>
          <a:lstStyle/>
          <a:p>
            <a:pPr algn="ctr" indent="0" marL="0">
              <a:buNone/>
            </a:pPr>
            <a:r>
              <a:rPr lang="en-US" sz="700" b="1" dirty="0">
                <a:solidFill>
                  <a:srgbClr val="F0C840"/>
                </a:solidFill>
                <a:latin typeface="Calibri" pitchFamily="34" charset="0"/>
                <a:ea typeface="Calibri" pitchFamily="34" charset="-122"/>
                <a:cs typeface="Calibri" pitchFamily="34" charset="-120"/>
              </a:rPr>
              <a:t>10</a:t>
            </a:r>
            <a:endParaRPr lang="en-US" sz="700" dirty="0"/>
          </a:p>
        </p:txBody>
      </p:sp>
      <p:sp>
        <p:nvSpPr>
          <p:cNvPr id="54" name="Text 52"/>
          <p:cNvSpPr/>
          <p:nvPr/>
        </p:nvSpPr>
        <p:spPr>
          <a:xfrm>
            <a:off x="3447288" y="4078224"/>
            <a:ext cx="2414016" cy="182880"/>
          </a:xfrm>
          <a:prstGeom prst="rect">
            <a:avLst/>
          </a:prstGeom>
          <a:noFill/>
          <a:ln/>
        </p:spPr>
        <p:txBody>
          <a:bodyPr wrap="square" lIns="0" tIns="0" rIns="0" bIns="0" rtlCol="0" anchor="ctr"/>
          <a:lstStyle/>
          <a:p>
            <a:pPr indent="0" marL="0">
              <a:buNone/>
            </a:pPr>
            <a:r>
              <a:rPr lang="en-US" sz="900" b="1" dirty="0">
                <a:solidFill>
                  <a:srgbClr val="0C1428"/>
                </a:solidFill>
                <a:latin typeface="Calibri" pitchFamily="34" charset="0"/>
                <a:ea typeface="Calibri" pitchFamily="34" charset="-122"/>
                <a:cs typeface="Calibri" pitchFamily="34" charset="-120"/>
              </a:rPr>
              <a:t>Kendall's Tau</a:t>
            </a:r>
            <a:endParaRPr lang="en-US" sz="900" dirty="0"/>
          </a:p>
        </p:txBody>
      </p:sp>
      <p:sp>
        <p:nvSpPr>
          <p:cNvPr id="55" name="Text 53"/>
          <p:cNvSpPr/>
          <p:nvPr/>
        </p:nvSpPr>
        <p:spPr>
          <a:xfrm>
            <a:off x="3447288" y="4279392"/>
            <a:ext cx="2414016" cy="14630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Concordance, discordance, tau-b</a:t>
            </a:r>
            <a:endParaRPr lang="en-US" sz="750" dirty="0"/>
          </a:p>
        </p:txBody>
      </p:sp>
      <p:sp>
        <p:nvSpPr>
          <p:cNvPr id="56" name="Shape 54"/>
          <p:cNvSpPr/>
          <p:nvPr/>
        </p:nvSpPr>
        <p:spPr>
          <a:xfrm>
            <a:off x="3063240" y="4480560"/>
            <a:ext cx="2880360" cy="411480"/>
          </a:xfrm>
          <a:prstGeom prst="roundRect">
            <a:avLst>
              <a:gd name="adj" fmla="val 11111"/>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57" name="Shape 55"/>
          <p:cNvSpPr/>
          <p:nvPr/>
        </p:nvSpPr>
        <p:spPr>
          <a:xfrm>
            <a:off x="3136392" y="4535424"/>
            <a:ext cx="237744" cy="274320"/>
          </a:xfrm>
          <a:prstGeom prst="roundRect">
            <a:avLst>
              <a:gd name="adj" fmla="val 11538"/>
            </a:avLst>
          </a:prstGeom>
          <a:solidFill>
            <a:srgbClr val="070C18"/>
          </a:solidFill>
          <a:ln w="12700">
            <a:solidFill>
              <a:srgbClr val="070C18"/>
            </a:solidFill>
            <a:prstDash val="solid"/>
          </a:ln>
        </p:spPr>
      </p:sp>
      <p:sp>
        <p:nvSpPr>
          <p:cNvPr id="58" name="Text 56"/>
          <p:cNvSpPr/>
          <p:nvPr/>
        </p:nvSpPr>
        <p:spPr>
          <a:xfrm>
            <a:off x="3136392" y="4535424"/>
            <a:ext cx="237744" cy="274320"/>
          </a:xfrm>
          <a:prstGeom prst="rect">
            <a:avLst/>
          </a:prstGeom>
          <a:noFill/>
          <a:ln/>
        </p:spPr>
        <p:txBody>
          <a:bodyPr wrap="square" lIns="0" tIns="0" rIns="0" bIns="0" rtlCol="0" anchor="ctr"/>
          <a:lstStyle/>
          <a:p>
            <a:pPr algn="ctr" indent="0" marL="0">
              <a:buNone/>
            </a:pPr>
            <a:r>
              <a:rPr lang="en-US" sz="700" b="1" dirty="0">
                <a:solidFill>
                  <a:srgbClr val="F0C840"/>
                </a:solidFill>
                <a:latin typeface="Calibri" pitchFamily="34" charset="0"/>
                <a:ea typeface="Calibri" pitchFamily="34" charset="-122"/>
                <a:cs typeface="Calibri" pitchFamily="34" charset="-120"/>
              </a:rPr>
              <a:t>11</a:t>
            </a:r>
            <a:endParaRPr lang="en-US" sz="700" dirty="0"/>
          </a:p>
        </p:txBody>
      </p:sp>
      <p:sp>
        <p:nvSpPr>
          <p:cNvPr id="59" name="Text 57"/>
          <p:cNvSpPr/>
          <p:nvPr/>
        </p:nvSpPr>
        <p:spPr>
          <a:xfrm>
            <a:off x="3447288" y="4517136"/>
            <a:ext cx="2414016" cy="182880"/>
          </a:xfrm>
          <a:prstGeom prst="rect">
            <a:avLst/>
          </a:prstGeom>
          <a:noFill/>
          <a:ln/>
        </p:spPr>
        <p:txBody>
          <a:bodyPr wrap="square" lIns="0" tIns="0" rIns="0" bIns="0" rtlCol="0" anchor="ctr"/>
          <a:lstStyle/>
          <a:p>
            <a:pPr indent="0" marL="0">
              <a:buNone/>
            </a:pPr>
            <a:r>
              <a:rPr lang="en-US" sz="900" b="1" dirty="0">
                <a:solidFill>
                  <a:srgbClr val="0C1428"/>
                </a:solidFill>
                <a:latin typeface="Calibri" pitchFamily="34" charset="0"/>
                <a:ea typeface="Calibri" pitchFamily="34" charset="-122"/>
                <a:cs typeface="Calibri" pitchFamily="34" charset="-120"/>
              </a:rPr>
              <a:t>Point-Biserial Correlation</a:t>
            </a:r>
            <a:endParaRPr lang="en-US" sz="900" dirty="0"/>
          </a:p>
        </p:txBody>
      </p:sp>
      <p:sp>
        <p:nvSpPr>
          <p:cNvPr id="60" name="Text 58"/>
          <p:cNvSpPr/>
          <p:nvPr/>
        </p:nvSpPr>
        <p:spPr>
          <a:xfrm>
            <a:off x="3447288" y="4718304"/>
            <a:ext cx="2414016" cy="14630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Binary-continuous, First Bank example</a:t>
            </a:r>
            <a:endParaRPr lang="en-US" sz="750" dirty="0"/>
          </a:p>
        </p:txBody>
      </p:sp>
      <p:sp>
        <p:nvSpPr>
          <p:cNvPr id="61" name="Shape 59"/>
          <p:cNvSpPr/>
          <p:nvPr/>
        </p:nvSpPr>
        <p:spPr>
          <a:xfrm>
            <a:off x="6080760" y="91440"/>
            <a:ext cx="2880360" cy="411480"/>
          </a:xfrm>
          <a:prstGeom prst="roundRect">
            <a:avLst>
              <a:gd name="adj" fmla="val 11111"/>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62" name="Shape 60"/>
          <p:cNvSpPr/>
          <p:nvPr/>
        </p:nvSpPr>
        <p:spPr>
          <a:xfrm>
            <a:off x="6153912" y="146304"/>
            <a:ext cx="237744" cy="274320"/>
          </a:xfrm>
          <a:prstGeom prst="roundRect">
            <a:avLst>
              <a:gd name="adj" fmla="val 11538"/>
            </a:avLst>
          </a:prstGeom>
          <a:solidFill>
            <a:srgbClr val="070C18"/>
          </a:solidFill>
          <a:ln w="12700">
            <a:solidFill>
              <a:srgbClr val="070C18"/>
            </a:solidFill>
            <a:prstDash val="solid"/>
          </a:ln>
        </p:spPr>
      </p:sp>
      <p:sp>
        <p:nvSpPr>
          <p:cNvPr id="63" name="Text 61"/>
          <p:cNvSpPr/>
          <p:nvPr/>
        </p:nvSpPr>
        <p:spPr>
          <a:xfrm>
            <a:off x="6153912" y="146304"/>
            <a:ext cx="237744" cy="274320"/>
          </a:xfrm>
          <a:prstGeom prst="rect">
            <a:avLst/>
          </a:prstGeom>
          <a:noFill/>
          <a:ln/>
        </p:spPr>
        <p:txBody>
          <a:bodyPr wrap="square" lIns="0" tIns="0" rIns="0" bIns="0" rtlCol="0" anchor="ctr"/>
          <a:lstStyle/>
          <a:p>
            <a:pPr algn="ctr" indent="0" marL="0">
              <a:buNone/>
            </a:pPr>
            <a:r>
              <a:rPr lang="en-US" sz="700" b="1" dirty="0">
                <a:solidFill>
                  <a:srgbClr val="F0C840"/>
                </a:solidFill>
                <a:latin typeface="Calibri" pitchFamily="34" charset="0"/>
                <a:ea typeface="Calibri" pitchFamily="34" charset="-122"/>
                <a:cs typeface="Calibri" pitchFamily="34" charset="-120"/>
              </a:rPr>
              <a:t>12</a:t>
            </a:r>
            <a:endParaRPr lang="en-US" sz="700" dirty="0"/>
          </a:p>
        </p:txBody>
      </p:sp>
      <p:sp>
        <p:nvSpPr>
          <p:cNvPr id="64" name="Text 62"/>
          <p:cNvSpPr/>
          <p:nvPr/>
        </p:nvSpPr>
        <p:spPr>
          <a:xfrm>
            <a:off x="6464808" y="128016"/>
            <a:ext cx="2414016" cy="182880"/>
          </a:xfrm>
          <a:prstGeom prst="rect">
            <a:avLst/>
          </a:prstGeom>
          <a:noFill/>
          <a:ln/>
        </p:spPr>
        <p:txBody>
          <a:bodyPr wrap="square" lIns="0" tIns="0" rIns="0" bIns="0" rtlCol="0" anchor="ctr"/>
          <a:lstStyle/>
          <a:p>
            <a:pPr indent="0" marL="0">
              <a:buNone/>
            </a:pPr>
            <a:r>
              <a:rPr lang="en-US" sz="900" b="1" dirty="0">
                <a:solidFill>
                  <a:srgbClr val="0C1428"/>
                </a:solidFill>
                <a:latin typeface="Calibri" pitchFamily="34" charset="0"/>
                <a:ea typeface="Calibri" pitchFamily="34" charset="-122"/>
                <a:cs typeface="Calibri" pitchFamily="34" charset="-120"/>
              </a:rPr>
              <a:t>Phi and Other Special Types</a:t>
            </a:r>
            <a:endParaRPr lang="en-US" sz="900" dirty="0"/>
          </a:p>
        </p:txBody>
      </p:sp>
      <p:sp>
        <p:nvSpPr>
          <p:cNvPr id="65" name="Text 63"/>
          <p:cNvSpPr/>
          <p:nvPr/>
        </p:nvSpPr>
        <p:spPr>
          <a:xfrm>
            <a:off x="6464808" y="329184"/>
            <a:ext cx="2414016" cy="14630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Phi, biserial, tetrachoric, polychoric</a:t>
            </a:r>
            <a:endParaRPr lang="en-US" sz="750" dirty="0"/>
          </a:p>
        </p:txBody>
      </p:sp>
      <p:sp>
        <p:nvSpPr>
          <p:cNvPr id="66" name="Shape 64"/>
          <p:cNvSpPr/>
          <p:nvPr/>
        </p:nvSpPr>
        <p:spPr>
          <a:xfrm>
            <a:off x="6080760" y="530352"/>
            <a:ext cx="2880360" cy="411480"/>
          </a:xfrm>
          <a:prstGeom prst="roundRect">
            <a:avLst>
              <a:gd name="adj" fmla="val 11111"/>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67" name="Shape 65"/>
          <p:cNvSpPr/>
          <p:nvPr/>
        </p:nvSpPr>
        <p:spPr>
          <a:xfrm>
            <a:off x="6153912" y="585216"/>
            <a:ext cx="237744" cy="274320"/>
          </a:xfrm>
          <a:prstGeom prst="roundRect">
            <a:avLst>
              <a:gd name="adj" fmla="val 11538"/>
            </a:avLst>
          </a:prstGeom>
          <a:solidFill>
            <a:srgbClr val="070C18"/>
          </a:solidFill>
          <a:ln w="12700">
            <a:solidFill>
              <a:srgbClr val="070C18"/>
            </a:solidFill>
            <a:prstDash val="solid"/>
          </a:ln>
        </p:spPr>
      </p:sp>
      <p:sp>
        <p:nvSpPr>
          <p:cNvPr id="68" name="Text 66"/>
          <p:cNvSpPr/>
          <p:nvPr/>
        </p:nvSpPr>
        <p:spPr>
          <a:xfrm>
            <a:off x="6153912" y="585216"/>
            <a:ext cx="237744" cy="274320"/>
          </a:xfrm>
          <a:prstGeom prst="rect">
            <a:avLst/>
          </a:prstGeom>
          <a:noFill/>
          <a:ln/>
        </p:spPr>
        <p:txBody>
          <a:bodyPr wrap="square" lIns="0" tIns="0" rIns="0" bIns="0" rtlCol="0" anchor="ctr"/>
          <a:lstStyle/>
          <a:p>
            <a:pPr algn="ctr" indent="0" marL="0">
              <a:buNone/>
            </a:pPr>
            <a:r>
              <a:rPr lang="en-US" sz="700" b="1" dirty="0">
                <a:solidFill>
                  <a:srgbClr val="F0C840"/>
                </a:solidFill>
                <a:latin typeface="Calibri" pitchFamily="34" charset="0"/>
                <a:ea typeface="Calibri" pitchFamily="34" charset="-122"/>
                <a:cs typeface="Calibri" pitchFamily="34" charset="-120"/>
              </a:rPr>
              <a:t>13</a:t>
            </a:r>
            <a:endParaRPr lang="en-US" sz="700" dirty="0"/>
          </a:p>
        </p:txBody>
      </p:sp>
      <p:sp>
        <p:nvSpPr>
          <p:cNvPr id="69" name="Text 67"/>
          <p:cNvSpPr/>
          <p:nvPr/>
        </p:nvSpPr>
        <p:spPr>
          <a:xfrm>
            <a:off x="6464808" y="566928"/>
            <a:ext cx="2414016" cy="182880"/>
          </a:xfrm>
          <a:prstGeom prst="rect">
            <a:avLst/>
          </a:prstGeom>
          <a:noFill/>
          <a:ln/>
        </p:spPr>
        <p:txBody>
          <a:bodyPr wrap="square" lIns="0" tIns="0" rIns="0" bIns="0" rtlCol="0" anchor="ctr"/>
          <a:lstStyle/>
          <a:p>
            <a:pPr indent="0" marL="0">
              <a:buNone/>
            </a:pPr>
            <a:r>
              <a:rPr lang="en-US" sz="900" b="1" dirty="0">
                <a:solidFill>
                  <a:srgbClr val="0C1428"/>
                </a:solidFill>
                <a:latin typeface="Calibri" pitchFamily="34" charset="0"/>
                <a:ea typeface="Calibri" pitchFamily="34" charset="-122"/>
                <a:cs typeface="Calibri" pitchFamily="34" charset="-120"/>
              </a:rPr>
              <a:t>Partial Correlation</a:t>
            </a:r>
            <a:endParaRPr lang="en-US" sz="900" dirty="0"/>
          </a:p>
        </p:txBody>
      </p:sp>
      <p:sp>
        <p:nvSpPr>
          <p:cNvPr id="70" name="Text 68"/>
          <p:cNvSpPr/>
          <p:nvPr/>
        </p:nvSpPr>
        <p:spPr>
          <a:xfrm>
            <a:off x="6464808" y="768096"/>
            <a:ext cx="2414016" cy="14630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Removing third variable - GTBank</a:t>
            </a:r>
            <a:endParaRPr lang="en-US" sz="750" dirty="0"/>
          </a:p>
        </p:txBody>
      </p:sp>
      <p:sp>
        <p:nvSpPr>
          <p:cNvPr id="71" name="Shape 69"/>
          <p:cNvSpPr/>
          <p:nvPr/>
        </p:nvSpPr>
        <p:spPr>
          <a:xfrm>
            <a:off x="6080760" y="969264"/>
            <a:ext cx="2880360" cy="411480"/>
          </a:xfrm>
          <a:prstGeom prst="roundRect">
            <a:avLst>
              <a:gd name="adj" fmla="val 11111"/>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72" name="Shape 70"/>
          <p:cNvSpPr/>
          <p:nvPr/>
        </p:nvSpPr>
        <p:spPr>
          <a:xfrm>
            <a:off x="6153912" y="1024128"/>
            <a:ext cx="237744" cy="274320"/>
          </a:xfrm>
          <a:prstGeom prst="roundRect">
            <a:avLst>
              <a:gd name="adj" fmla="val 11538"/>
            </a:avLst>
          </a:prstGeom>
          <a:solidFill>
            <a:srgbClr val="070C18"/>
          </a:solidFill>
          <a:ln w="12700">
            <a:solidFill>
              <a:srgbClr val="070C18"/>
            </a:solidFill>
            <a:prstDash val="solid"/>
          </a:ln>
        </p:spPr>
      </p:sp>
      <p:sp>
        <p:nvSpPr>
          <p:cNvPr id="73" name="Text 71"/>
          <p:cNvSpPr/>
          <p:nvPr/>
        </p:nvSpPr>
        <p:spPr>
          <a:xfrm>
            <a:off x="6153912" y="1024128"/>
            <a:ext cx="237744" cy="274320"/>
          </a:xfrm>
          <a:prstGeom prst="rect">
            <a:avLst/>
          </a:prstGeom>
          <a:noFill/>
          <a:ln/>
        </p:spPr>
        <p:txBody>
          <a:bodyPr wrap="square" lIns="0" tIns="0" rIns="0" bIns="0" rtlCol="0" anchor="ctr"/>
          <a:lstStyle/>
          <a:p>
            <a:pPr algn="ctr" indent="0" marL="0">
              <a:buNone/>
            </a:pPr>
            <a:r>
              <a:rPr lang="en-US" sz="700" b="1" dirty="0">
                <a:solidFill>
                  <a:srgbClr val="F0C840"/>
                </a:solidFill>
                <a:latin typeface="Calibri" pitchFamily="34" charset="0"/>
                <a:ea typeface="Calibri" pitchFamily="34" charset="-122"/>
                <a:cs typeface="Calibri" pitchFamily="34" charset="-120"/>
              </a:rPr>
              <a:t>14</a:t>
            </a:r>
            <a:endParaRPr lang="en-US" sz="700" dirty="0"/>
          </a:p>
        </p:txBody>
      </p:sp>
      <p:sp>
        <p:nvSpPr>
          <p:cNvPr id="74" name="Text 72"/>
          <p:cNvSpPr/>
          <p:nvPr/>
        </p:nvSpPr>
        <p:spPr>
          <a:xfrm>
            <a:off x="6464808" y="1005840"/>
            <a:ext cx="2414016" cy="182880"/>
          </a:xfrm>
          <a:prstGeom prst="rect">
            <a:avLst/>
          </a:prstGeom>
          <a:noFill/>
          <a:ln/>
        </p:spPr>
        <p:txBody>
          <a:bodyPr wrap="square" lIns="0" tIns="0" rIns="0" bIns="0" rtlCol="0" anchor="ctr"/>
          <a:lstStyle/>
          <a:p>
            <a:pPr indent="0" marL="0">
              <a:buNone/>
            </a:pPr>
            <a:r>
              <a:rPr lang="en-US" sz="900" b="1" dirty="0">
                <a:solidFill>
                  <a:srgbClr val="0C1428"/>
                </a:solidFill>
                <a:latin typeface="Calibri" pitchFamily="34" charset="0"/>
                <a:ea typeface="Calibri" pitchFamily="34" charset="-122"/>
                <a:cs typeface="Calibri" pitchFamily="34" charset="-120"/>
              </a:rPr>
              <a:t>Semi-Partial Correlation</a:t>
            </a:r>
            <a:endParaRPr lang="en-US" sz="900" dirty="0"/>
          </a:p>
        </p:txBody>
      </p:sp>
      <p:sp>
        <p:nvSpPr>
          <p:cNvPr id="75" name="Text 73"/>
          <p:cNvSpPr/>
          <p:nvPr/>
        </p:nvSpPr>
        <p:spPr>
          <a:xfrm>
            <a:off x="6464808" y="1207008"/>
            <a:ext cx="2414016" cy="14630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Unique variance, link to regression</a:t>
            </a:r>
            <a:endParaRPr lang="en-US" sz="750" dirty="0"/>
          </a:p>
        </p:txBody>
      </p:sp>
      <p:sp>
        <p:nvSpPr>
          <p:cNvPr id="76" name="Shape 74"/>
          <p:cNvSpPr/>
          <p:nvPr/>
        </p:nvSpPr>
        <p:spPr>
          <a:xfrm>
            <a:off x="6080760" y="1408176"/>
            <a:ext cx="2880360" cy="411480"/>
          </a:xfrm>
          <a:prstGeom prst="roundRect">
            <a:avLst>
              <a:gd name="adj" fmla="val 11111"/>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77" name="Shape 75"/>
          <p:cNvSpPr/>
          <p:nvPr/>
        </p:nvSpPr>
        <p:spPr>
          <a:xfrm>
            <a:off x="6153912" y="1463040"/>
            <a:ext cx="237744" cy="274320"/>
          </a:xfrm>
          <a:prstGeom prst="roundRect">
            <a:avLst>
              <a:gd name="adj" fmla="val 11538"/>
            </a:avLst>
          </a:prstGeom>
          <a:solidFill>
            <a:srgbClr val="070C18"/>
          </a:solidFill>
          <a:ln w="12700">
            <a:solidFill>
              <a:srgbClr val="070C18"/>
            </a:solidFill>
            <a:prstDash val="solid"/>
          </a:ln>
        </p:spPr>
      </p:sp>
      <p:sp>
        <p:nvSpPr>
          <p:cNvPr id="78" name="Text 76"/>
          <p:cNvSpPr/>
          <p:nvPr/>
        </p:nvSpPr>
        <p:spPr>
          <a:xfrm>
            <a:off x="6153912" y="1463040"/>
            <a:ext cx="237744" cy="274320"/>
          </a:xfrm>
          <a:prstGeom prst="rect">
            <a:avLst/>
          </a:prstGeom>
          <a:noFill/>
          <a:ln/>
        </p:spPr>
        <p:txBody>
          <a:bodyPr wrap="square" lIns="0" tIns="0" rIns="0" bIns="0" rtlCol="0" anchor="ctr"/>
          <a:lstStyle/>
          <a:p>
            <a:pPr algn="ctr" indent="0" marL="0">
              <a:buNone/>
            </a:pPr>
            <a:r>
              <a:rPr lang="en-US" sz="700" b="1" dirty="0">
                <a:solidFill>
                  <a:srgbClr val="F0C840"/>
                </a:solidFill>
                <a:latin typeface="Calibri" pitchFamily="34" charset="0"/>
                <a:ea typeface="Calibri" pitchFamily="34" charset="-122"/>
                <a:cs typeface="Calibri" pitchFamily="34" charset="-120"/>
              </a:rPr>
              <a:t>15</a:t>
            </a:r>
            <a:endParaRPr lang="en-US" sz="700" dirty="0"/>
          </a:p>
        </p:txBody>
      </p:sp>
      <p:sp>
        <p:nvSpPr>
          <p:cNvPr id="79" name="Text 77"/>
          <p:cNvSpPr/>
          <p:nvPr/>
        </p:nvSpPr>
        <p:spPr>
          <a:xfrm>
            <a:off x="6464808" y="1444752"/>
            <a:ext cx="2414016" cy="182880"/>
          </a:xfrm>
          <a:prstGeom prst="rect">
            <a:avLst/>
          </a:prstGeom>
          <a:noFill/>
          <a:ln/>
        </p:spPr>
        <p:txBody>
          <a:bodyPr wrap="square" lIns="0" tIns="0" rIns="0" bIns="0" rtlCol="0" anchor="ctr"/>
          <a:lstStyle/>
          <a:p>
            <a:pPr indent="0" marL="0">
              <a:buNone/>
            </a:pPr>
            <a:r>
              <a:rPr lang="en-US" sz="900" b="1" dirty="0">
                <a:solidFill>
                  <a:srgbClr val="0C1428"/>
                </a:solidFill>
                <a:latin typeface="Calibri" pitchFamily="34" charset="0"/>
                <a:ea typeface="Calibri" pitchFamily="34" charset="-122"/>
                <a:cs typeface="Calibri" pitchFamily="34" charset="-120"/>
              </a:rPr>
              <a:t>Correlation Matrix</a:t>
            </a:r>
            <a:endParaRPr lang="en-US" sz="900" dirty="0"/>
          </a:p>
        </p:txBody>
      </p:sp>
      <p:sp>
        <p:nvSpPr>
          <p:cNvPr id="80" name="Text 78"/>
          <p:cNvSpPr/>
          <p:nvPr/>
        </p:nvSpPr>
        <p:spPr>
          <a:xfrm>
            <a:off x="6464808" y="1645920"/>
            <a:ext cx="2414016" cy="14630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Reading patterns, GTBank 7-variable</a:t>
            </a:r>
            <a:endParaRPr lang="en-US" sz="750" dirty="0"/>
          </a:p>
        </p:txBody>
      </p:sp>
      <p:sp>
        <p:nvSpPr>
          <p:cNvPr id="81" name="Shape 79"/>
          <p:cNvSpPr/>
          <p:nvPr/>
        </p:nvSpPr>
        <p:spPr>
          <a:xfrm>
            <a:off x="6080760" y="1847088"/>
            <a:ext cx="2880360" cy="411480"/>
          </a:xfrm>
          <a:prstGeom prst="roundRect">
            <a:avLst>
              <a:gd name="adj" fmla="val 11111"/>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82" name="Shape 80"/>
          <p:cNvSpPr/>
          <p:nvPr/>
        </p:nvSpPr>
        <p:spPr>
          <a:xfrm>
            <a:off x="6153912" y="1901952"/>
            <a:ext cx="237744" cy="274320"/>
          </a:xfrm>
          <a:prstGeom prst="roundRect">
            <a:avLst>
              <a:gd name="adj" fmla="val 11538"/>
            </a:avLst>
          </a:prstGeom>
          <a:solidFill>
            <a:srgbClr val="070C18"/>
          </a:solidFill>
          <a:ln w="12700">
            <a:solidFill>
              <a:srgbClr val="070C18"/>
            </a:solidFill>
            <a:prstDash val="solid"/>
          </a:ln>
        </p:spPr>
      </p:sp>
      <p:sp>
        <p:nvSpPr>
          <p:cNvPr id="83" name="Text 81"/>
          <p:cNvSpPr/>
          <p:nvPr/>
        </p:nvSpPr>
        <p:spPr>
          <a:xfrm>
            <a:off x="6153912" y="1901952"/>
            <a:ext cx="237744" cy="274320"/>
          </a:xfrm>
          <a:prstGeom prst="rect">
            <a:avLst/>
          </a:prstGeom>
          <a:noFill/>
          <a:ln/>
        </p:spPr>
        <p:txBody>
          <a:bodyPr wrap="square" lIns="0" tIns="0" rIns="0" bIns="0" rtlCol="0" anchor="ctr"/>
          <a:lstStyle/>
          <a:p>
            <a:pPr algn="ctr" indent="0" marL="0">
              <a:buNone/>
            </a:pPr>
            <a:r>
              <a:rPr lang="en-US" sz="700" b="1" dirty="0">
                <a:solidFill>
                  <a:srgbClr val="F0C840"/>
                </a:solidFill>
                <a:latin typeface="Calibri" pitchFamily="34" charset="0"/>
                <a:ea typeface="Calibri" pitchFamily="34" charset="-122"/>
                <a:cs typeface="Calibri" pitchFamily="34" charset="-120"/>
              </a:rPr>
              <a:t>16</a:t>
            </a:r>
            <a:endParaRPr lang="en-US" sz="700" dirty="0"/>
          </a:p>
        </p:txBody>
      </p:sp>
      <p:sp>
        <p:nvSpPr>
          <p:cNvPr id="84" name="Text 82"/>
          <p:cNvSpPr/>
          <p:nvPr/>
        </p:nvSpPr>
        <p:spPr>
          <a:xfrm>
            <a:off x="6464808" y="1883664"/>
            <a:ext cx="2414016" cy="182880"/>
          </a:xfrm>
          <a:prstGeom prst="rect">
            <a:avLst/>
          </a:prstGeom>
          <a:noFill/>
          <a:ln/>
        </p:spPr>
        <p:txBody>
          <a:bodyPr wrap="square" lIns="0" tIns="0" rIns="0" bIns="0" rtlCol="0" anchor="ctr"/>
          <a:lstStyle/>
          <a:p>
            <a:pPr indent="0" marL="0">
              <a:buNone/>
            </a:pPr>
            <a:r>
              <a:rPr lang="en-US" sz="900" b="1" dirty="0">
                <a:solidFill>
                  <a:srgbClr val="0C1428"/>
                </a:solidFill>
                <a:latin typeface="Calibri" pitchFamily="34" charset="0"/>
                <a:ea typeface="Calibri" pitchFamily="34" charset="-122"/>
                <a:cs typeface="Calibri" pitchFamily="34" charset="-120"/>
              </a:rPr>
              <a:t>Correlation vs Causation</a:t>
            </a:r>
            <a:endParaRPr lang="en-US" sz="900" dirty="0"/>
          </a:p>
        </p:txBody>
      </p:sp>
      <p:sp>
        <p:nvSpPr>
          <p:cNvPr id="85" name="Text 83"/>
          <p:cNvSpPr/>
          <p:nvPr/>
        </p:nvSpPr>
        <p:spPr>
          <a:xfrm>
            <a:off x="6464808" y="2084832"/>
            <a:ext cx="2414016" cy="14630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The critical distinction - examples</a:t>
            </a:r>
            <a:endParaRPr lang="en-US" sz="750" dirty="0"/>
          </a:p>
        </p:txBody>
      </p:sp>
      <p:sp>
        <p:nvSpPr>
          <p:cNvPr id="86" name="Shape 84"/>
          <p:cNvSpPr/>
          <p:nvPr/>
        </p:nvSpPr>
        <p:spPr>
          <a:xfrm>
            <a:off x="6080760" y="2286000"/>
            <a:ext cx="2880360" cy="411480"/>
          </a:xfrm>
          <a:prstGeom prst="roundRect">
            <a:avLst>
              <a:gd name="adj" fmla="val 11111"/>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87" name="Shape 85"/>
          <p:cNvSpPr/>
          <p:nvPr/>
        </p:nvSpPr>
        <p:spPr>
          <a:xfrm>
            <a:off x="6153912" y="2340864"/>
            <a:ext cx="237744" cy="274320"/>
          </a:xfrm>
          <a:prstGeom prst="roundRect">
            <a:avLst>
              <a:gd name="adj" fmla="val 11538"/>
            </a:avLst>
          </a:prstGeom>
          <a:solidFill>
            <a:srgbClr val="070C18"/>
          </a:solidFill>
          <a:ln w="12700">
            <a:solidFill>
              <a:srgbClr val="070C18"/>
            </a:solidFill>
            <a:prstDash val="solid"/>
          </a:ln>
        </p:spPr>
      </p:sp>
      <p:sp>
        <p:nvSpPr>
          <p:cNvPr id="88" name="Text 86"/>
          <p:cNvSpPr/>
          <p:nvPr/>
        </p:nvSpPr>
        <p:spPr>
          <a:xfrm>
            <a:off x="6153912" y="2340864"/>
            <a:ext cx="237744" cy="274320"/>
          </a:xfrm>
          <a:prstGeom prst="rect">
            <a:avLst/>
          </a:prstGeom>
          <a:noFill/>
          <a:ln/>
        </p:spPr>
        <p:txBody>
          <a:bodyPr wrap="square" lIns="0" tIns="0" rIns="0" bIns="0" rtlCol="0" anchor="ctr"/>
          <a:lstStyle/>
          <a:p>
            <a:pPr algn="ctr" indent="0" marL="0">
              <a:buNone/>
            </a:pPr>
            <a:r>
              <a:rPr lang="en-US" sz="700" b="1" dirty="0">
                <a:solidFill>
                  <a:srgbClr val="F0C840"/>
                </a:solidFill>
                <a:latin typeface="Calibri" pitchFamily="34" charset="0"/>
                <a:ea typeface="Calibri" pitchFamily="34" charset="-122"/>
                <a:cs typeface="Calibri" pitchFamily="34" charset="-120"/>
              </a:rPr>
              <a:t>17</a:t>
            </a:r>
            <a:endParaRPr lang="en-US" sz="700" dirty="0"/>
          </a:p>
        </p:txBody>
      </p:sp>
      <p:sp>
        <p:nvSpPr>
          <p:cNvPr id="89" name="Text 87"/>
          <p:cNvSpPr/>
          <p:nvPr/>
        </p:nvSpPr>
        <p:spPr>
          <a:xfrm>
            <a:off x="6464808" y="2322576"/>
            <a:ext cx="2414016" cy="182880"/>
          </a:xfrm>
          <a:prstGeom prst="rect">
            <a:avLst/>
          </a:prstGeom>
          <a:noFill/>
          <a:ln/>
        </p:spPr>
        <p:txBody>
          <a:bodyPr wrap="square" lIns="0" tIns="0" rIns="0" bIns="0" rtlCol="0" anchor="ctr"/>
          <a:lstStyle/>
          <a:p>
            <a:pPr indent="0" marL="0">
              <a:buNone/>
            </a:pPr>
            <a:r>
              <a:rPr lang="en-US" sz="900" b="1" dirty="0">
                <a:solidFill>
                  <a:srgbClr val="0C1428"/>
                </a:solidFill>
                <a:latin typeface="Calibri" pitchFamily="34" charset="0"/>
                <a:ea typeface="Calibri" pitchFamily="34" charset="-122"/>
                <a:cs typeface="Calibri" pitchFamily="34" charset="-120"/>
              </a:rPr>
              <a:t>Spurious Correlations</a:t>
            </a:r>
            <a:endParaRPr lang="en-US" sz="900" dirty="0"/>
          </a:p>
        </p:txBody>
      </p:sp>
      <p:sp>
        <p:nvSpPr>
          <p:cNvPr id="90" name="Text 88"/>
          <p:cNvSpPr/>
          <p:nvPr/>
        </p:nvSpPr>
        <p:spPr>
          <a:xfrm>
            <a:off x="6464808" y="2523744"/>
            <a:ext cx="2414016" cy="14630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Simpson's paradox, confounding</a:t>
            </a:r>
            <a:endParaRPr lang="en-US" sz="750" dirty="0"/>
          </a:p>
        </p:txBody>
      </p:sp>
      <p:sp>
        <p:nvSpPr>
          <p:cNvPr id="91" name="Shape 89"/>
          <p:cNvSpPr/>
          <p:nvPr/>
        </p:nvSpPr>
        <p:spPr>
          <a:xfrm>
            <a:off x="6080760" y="2724912"/>
            <a:ext cx="2880360" cy="411480"/>
          </a:xfrm>
          <a:prstGeom prst="roundRect">
            <a:avLst>
              <a:gd name="adj" fmla="val 11111"/>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92" name="Shape 90"/>
          <p:cNvSpPr/>
          <p:nvPr/>
        </p:nvSpPr>
        <p:spPr>
          <a:xfrm>
            <a:off x="6153912" y="2779776"/>
            <a:ext cx="237744" cy="274320"/>
          </a:xfrm>
          <a:prstGeom prst="roundRect">
            <a:avLst>
              <a:gd name="adj" fmla="val 11538"/>
            </a:avLst>
          </a:prstGeom>
          <a:solidFill>
            <a:srgbClr val="070C18"/>
          </a:solidFill>
          <a:ln w="12700">
            <a:solidFill>
              <a:srgbClr val="070C18"/>
            </a:solidFill>
            <a:prstDash val="solid"/>
          </a:ln>
        </p:spPr>
      </p:sp>
      <p:sp>
        <p:nvSpPr>
          <p:cNvPr id="93" name="Text 91"/>
          <p:cNvSpPr/>
          <p:nvPr/>
        </p:nvSpPr>
        <p:spPr>
          <a:xfrm>
            <a:off x="6153912" y="2779776"/>
            <a:ext cx="237744" cy="274320"/>
          </a:xfrm>
          <a:prstGeom prst="rect">
            <a:avLst/>
          </a:prstGeom>
          <a:noFill/>
          <a:ln/>
        </p:spPr>
        <p:txBody>
          <a:bodyPr wrap="square" lIns="0" tIns="0" rIns="0" bIns="0" rtlCol="0" anchor="ctr"/>
          <a:lstStyle/>
          <a:p>
            <a:pPr algn="ctr" indent="0" marL="0">
              <a:buNone/>
            </a:pPr>
            <a:r>
              <a:rPr lang="en-US" sz="700" b="1" dirty="0">
                <a:solidFill>
                  <a:srgbClr val="F0C840"/>
                </a:solidFill>
                <a:latin typeface="Calibri" pitchFamily="34" charset="0"/>
                <a:ea typeface="Calibri" pitchFamily="34" charset="-122"/>
                <a:cs typeface="Calibri" pitchFamily="34" charset="-120"/>
              </a:rPr>
              <a:t>18</a:t>
            </a:r>
            <a:endParaRPr lang="en-US" sz="700" dirty="0"/>
          </a:p>
        </p:txBody>
      </p:sp>
      <p:sp>
        <p:nvSpPr>
          <p:cNvPr id="94" name="Text 92"/>
          <p:cNvSpPr/>
          <p:nvPr/>
        </p:nvSpPr>
        <p:spPr>
          <a:xfrm>
            <a:off x="6464808" y="2761488"/>
            <a:ext cx="2414016" cy="182880"/>
          </a:xfrm>
          <a:prstGeom prst="rect">
            <a:avLst/>
          </a:prstGeom>
          <a:noFill/>
          <a:ln/>
        </p:spPr>
        <p:txBody>
          <a:bodyPr wrap="square" lIns="0" tIns="0" rIns="0" bIns="0" rtlCol="0" anchor="ctr"/>
          <a:lstStyle/>
          <a:p>
            <a:pPr indent="0" marL="0">
              <a:buNone/>
            </a:pPr>
            <a:r>
              <a:rPr lang="en-US" sz="900" b="1" dirty="0">
                <a:solidFill>
                  <a:srgbClr val="0C1428"/>
                </a:solidFill>
                <a:latin typeface="Calibri" pitchFamily="34" charset="0"/>
                <a:ea typeface="Calibri" pitchFamily="34" charset="-122"/>
                <a:cs typeface="Calibri" pitchFamily="34" charset="-120"/>
              </a:rPr>
              <a:t>SPSS Complete Procedure</a:t>
            </a:r>
            <a:endParaRPr lang="en-US" sz="900" dirty="0"/>
          </a:p>
        </p:txBody>
      </p:sp>
      <p:sp>
        <p:nvSpPr>
          <p:cNvPr id="95" name="Text 93"/>
          <p:cNvSpPr/>
          <p:nvPr/>
        </p:nvSpPr>
        <p:spPr>
          <a:xfrm>
            <a:off x="6464808" y="2962656"/>
            <a:ext cx="2414016" cy="14630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Bivariate, partial, output reading</a:t>
            </a:r>
            <a:endParaRPr lang="en-US" sz="750" dirty="0"/>
          </a:p>
        </p:txBody>
      </p:sp>
      <p:sp>
        <p:nvSpPr>
          <p:cNvPr id="96" name="Shape 94"/>
          <p:cNvSpPr/>
          <p:nvPr/>
        </p:nvSpPr>
        <p:spPr>
          <a:xfrm>
            <a:off x="6080760" y="3163824"/>
            <a:ext cx="2880360" cy="411480"/>
          </a:xfrm>
          <a:prstGeom prst="roundRect">
            <a:avLst>
              <a:gd name="adj" fmla="val 11111"/>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97" name="Shape 95"/>
          <p:cNvSpPr/>
          <p:nvPr/>
        </p:nvSpPr>
        <p:spPr>
          <a:xfrm>
            <a:off x="6153912" y="3218688"/>
            <a:ext cx="237744" cy="274320"/>
          </a:xfrm>
          <a:prstGeom prst="roundRect">
            <a:avLst>
              <a:gd name="adj" fmla="val 11538"/>
            </a:avLst>
          </a:prstGeom>
          <a:solidFill>
            <a:srgbClr val="070C18"/>
          </a:solidFill>
          <a:ln w="12700">
            <a:solidFill>
              <a:srgbClr val="070C18"/>
            </a:solidFill>
            <a:prstDash val="solid"/>
          </a:ln>
        </p:spPr>
      </p:sp>
      <p:sp>
        <p:nvSpPr>
          <p:cNvPr id="98" name="Text 96"/>
          <p:cNvSpPr/>
          <p:nvPr/>
        </p:nvSpPr>
        <p:spPr>
          <a:xfrm>
            <a:off x="6153912" y="3218688"/>
            <a:ext cx="237744" cy="274320"/>
          </a:xfrm>
          <a:prstGeom prst="rect">
            <a:avLst/>
          </a:prstGeom>
          <a:noFill/>
          <a:ln/>
        </p:spPr>
        <p:txBody>
          <a:bodyPr wrap="square" lIns="0" tIns="0" rIns="0" bIns="0" rtlCol="0" anchor="ctr"/>
          <a:lstStyle/>
          <a:p>
            <a:pPr algn="ctr" indent="0" marL="0">
              <a:buNone/>
            </a:pPr>
            <a:r>
              <a:rPr lang="en-US" sz="700" b="1" dirty="0">
                <a:solidFill>
                  <a:srgbClr val="F0C840"/>
                </a:solidFill>
                <a:latin typeface="Calibri" pitchFamily="34" charset="0"/>
                <a:ea typeface="Calibri" pitchFamily="34" charset="-122"/>
                <a:cs typeface="Calibri" pitchFamily="34" charset="-120"/>
              </a:rPr>
              <a:t>19</a:t>
            </a:r>
            <a:endParaRPr lang="en-US" sz="700" dirty="0"/>
          </a:p>
        </p:txBody>
      </p:sp>
      <p:sp>
        <p:nvSpPr>
          <p:cNvPr id="99" name="Text 97"/>
          <p:cNvSpPr/>
          <p:nvPr/>
        </p:nvSpPr>
        <p:spPr>
          <a:xfrm>
            <a:off x="6464808" y="3200400"/>
            <a:ext cx="2414016" cy="182880"/>
          </a:xfrm>
          <a:prstGeom prst="rect">
            <a:avLst/>
          </a:prstGeom>
          <a:noFill/>
          <a:ln/>
        </p:spPr>
        <p:txBody>
          <a:bodyPr wrap="square" lIns="0" tIns="0" rIns="0" bIns="0" rtlCol="0" anchor="ctr"/>
          <a:lstStyle/>
          <a:p>
            <a:pPr indent="0" marL="0">
              <a:buNone/>
            </a:pPr>
            <a:r>
              <a:rPr lang="en-US" sz="900" b="1" dirty="0">
                <a:solidFill>
                  <a:srgbClr val="0C1428"/>
                </a:solidFill>
                <a:latin typeface="Calibri" pitchFamily="34" charset="0"/>
                <a:ea typeface="Calibri" pitchFamily="34" charset="-122"/>
                <a:cs typeface="Calibri" pitchFamily="34" charset="-120"/>
              </a:rPr>
              <a:t>Nigerian Banking Applications</a:t>
            </a:r>
            <a:endParaRPr lang="en-US" sz="900" dirty="0"/>
          </a:p>
        </p:txBody>
      </p:sp>
      <p:sp>
        <p:nvSpPr>
          <p:cNvPr id="100" name="Text 98"/>
          <p:cNvSpPr/>
          <p:nvPr/>
        </p:nvSpPr>
        <p:spPr>
          <a:xfrm>
            <a:off x="6464808" y="3401568"/>
            <a:ext cx="2414016" cy="14630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GTBank, First Bank, Zenith</a:t>
            </a:r>
            <a:endParaRPr lang="en-US" sz="750" dirty="0"/>
          </a:p>
        </p:txBody>
      </p:sp>
      <p:sp>
        <p:nvSpPr>
          <p:cNvPr id="101" name="Shape 99"/>
          <p:cNvSpPr/>
          <p:nvPr/>
        </p:nvSpPr>
        <p:spPr>
          <a:xfrm>
            <a:off x="6080760" y="3602736"/>
            <a:ext cx="2880360" cy="411480"/>
          </a:xfrm>
          <a:prstGeom prst="roundRect">
            <a:avLst>
              <a:gd name="adj" fmla="val 11111"/>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102" name="Shape 100"/>
          <p:cNvSpPr/>
          <p:nvPr/>
        </p:nvSpPr>
        <p:spPr>
          <a:xfrm>
            <a:off x="6153912" y="3657600"/>
            <a:ext cx="237744" cy="274320"/>
          </a:xfrm>
          <a:prstGeom prst="roundRect">
            <a:avLst>
              <a:gd name="adj" fmla="val 11538"/>
            </a:avLst>
          </a:prstGeom>
          <a:solidFill>
            <a:srgbClr val="070C18"/>
          </a:solidFill>
          <a:ln w="12700">
            <a:solidFill>
              <a:srgbClr val="070C18"/>
            </a:solidFill>
            <a:prstDash val="solid"/>
          </a:ln>
        </p:spPr>
      </p:sp>
      <p:sp>
        <p:nvSpPr>
          <p:cNvPr id="103" name="Text 101"/>
          <p:cNvSpPr/>
          <p:nvPr/>
        </p:nvSpPr>
        <p:spPr>
          <a:xfrm>
            <a:off x="6153912" y="3657600"/>
            <a:ext cx="237744" cy="274320"/>
          </a:xfrm>
          <a:prstGeom prst="rect">
            <a:avLst/>
          </a:prstGeom>
          <a:noFill/>
          <a:ln/>
        </p:spPr>
        <p:txBody>
          <a:bodyPr wrap="square" lIns="0" tIns="0" rIns="0" bIns="0" rtlCol="0" anchor="ctr"/>
          <a:lstStyle/>
          <a:p>
            <a:pPr algn="ctr" indent="0" marL="0">
              <a:buNone/>
            </a:pPr>
            <a:r>
              <a:rPr lang="en-US" sz="700" b="1" dirty="0">
                <a:solidFill>
                  <a:srgbClr val="F0C840"/>
                </a:solidFill>
                <a:latin typeface="Calibri" pitchFamily="34" charset="0"/>
                <a:ea typeface="Calibri" pitchFamily="34" charset="-122"/>
                <a:cs typeface="Calibri" pitchFamily="34" charset="-120"/>
              </a:rPr>
              <a:t>20</a:t>
            </a:r>
            <a:endParaRPr lang="en-US" sz="700" dirty="0"/>
          </a:p>
        </p:txBody>
      </p:sp>
      <p:sp>
        <p:nvSpPr>
          <p:cNvPr id="104" name="Text 102"/>
          <p:cNvSpPr/>
          <p:nvPr/>
        </p:nvSpPr>
        <p:spPr>
          <a:xfrm>
            <a:off x="6464808" y="3639312"/>
            <a:ext cx="2414016" cy="182880"/>
          </a:xfrm>
          <a:prstGeom prst="rect">
            <a:avLst/>
          </a:prstGeom>
          <a:noFill/>
          <a:ln/>
        </p:spPr>
        <p:txBody>
          <a:bodyPr wrap="square" lIns="0" tIns="0" rIns="0" bIns="0" rtlCol="0" anchor="ctr"/>
          <a:lstStyle/>
          <a:p>
            <a:pPr indent="0" marL="0">
              <a:buNone/>
            </a:pPr>
            <a:r>
              <a:rPr lang="en-US" sz="900" b="1" dirty="0">
                <a:solidFill>
                  <a:srgbClr val="0C1428"/>
                </a:solidFill>
                <a:latin typeface="Calibri" pitchFamily="34" charset="0"/>
                <a:ea typeface="Calibri" pitchFamily="34" charset="-122"/>
                <a:cs typeface="Calibri" pitchFamily="34" charset="-120"/>
              </a:rPr>
              <a:t>FMCG, Telecoms, Insurance</a:t>
            </a:r>
            <a:endParaRPr lang="en-US" sz="900" dirty="0"/>
          </a:p>
        </p:txBody>
      </p:sp>
      <p:sp>
        <p:nvSpPr>
          <p:cNvPr id="105" name="Text 103"/>
          <p:cNvSpPr/>
          <p:nvPr/>
        </p:nvSpPr>
        <p:spPr>
          <a:xfrm>
            <a:off x="6464808" y="3840480"/>
            <a:ext cx="2414016" cy="14630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UAC Foods, MTN, Leadway</a:t>
            </a:r>
            <a:endParaRPr lang="en-US" sz="750" dirty="0"/>
          </a:p>
        </p:txBody>
      </p:sp>
      <p:sp>
        <p:nvSpPr>
          <p:cNvPr id="106" name="Shape 104"/>
          <p:cNvSpPr/>
          <p:nvPr/>
        </p:nvSpPr>
        <p:spPr>
          <a:xfrm>
            <a:off x="6080760" y="4041648"/>
            <a:ext cx="2880360" cy="411480"/>
          </a:xfrm>
          <a:prstGeom prst="roundRect">
            <a:avLst>
              <a:gd name="adj" fmla="val 11111"/>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107" name="Shape 105"/>
          <p:cNvSpPr/>
          <p:nvPr/>
        </p:nvSpPr>
        <p:spPr>
          <a:xfrm>
            <a:off x="6153912" y="4096512"/>
            <a:ext cx="237744" cy="274320"/>
          </a:xfrm>
          <a:prstGeom prst="roundRect">
            <a:avLst>
              <a:gd name="adj" fmla="val 11538"/>
            </a:avLst>
          </a:prstGeom>
          <a:solidFill>
            <a:srgbClr val="070C18"/>
          </a:solidFill>
          <a:ln w="12700">
            <a:solidFill>
              <a:srgbClr val="070C18"/>
            </a:solidFill>
            <a:prstDash val="solid"/>
          </a:ln>
        </p:spPr>
      </p:sp>
      <p:sp>
        <p:nvSpPr>
          <p:cNvPr id="108" name="Text 106"/>
          <p:cNvSpPr/>
          <p:nvPr/>
        </p:nvSpPr>
        <p:spPr>
          <a:xfrm>
            <a:off x="6153912" y="4096512"/>
            <a:ext cx="237744" cy="274320"/>
          </a:xfrm>
          <a:prstGeom prst="rect">
            <a:avLst/>
          </a:prstGeom>
          <a:noFill/>
          <a:ln/>
        </p:spPr>
        <p:txBody>
          <a:bodyPr wrap="square" lIns="0" tIns="0" rIns="0" bIns="0" rtlCol="0" anchor="ctr"/>
          <a:lstStyle/>
          <a:p>
            <a:pPr algn="ctr" indent="0" marL="0">
              <a:buNone/>
            </a:pPr>
            <a:r>
              <a:rPr lang="en-US" sz="700" b="1" dirty="0">
                <a:solidFill>
                  <a:srgbClr val="F0C840"/>
                </a:solidFill>
                <a:latin typeface="Calibri" pitchFamily="34" charset="0"/>
                <a:ea typeface="Calibri" pitchFamily="34" charset="-122"/>
                <a:cs typeface="Calibri" pitchFamily="34" charset="-120"/>
              </a:rPr>
              <a:t>21</a:t>
            </a:r>
            <a:endParaRPr lang="en-US" sz="700" dirty="0"/>
          </a:p>
        </p:txBody>
      </p:sp>
      <p:sp>
        <p:nvSpPr>
          <p:cNvPr id="109" name="Text 107"/>
          <p:cNvSpPr/>
          <p:nvPr/>
        </p:nvSpPr>
        <p:spPr>
          <a:xfrm>
            <a:off x="6464808" y="4078224"/>
            <a:ext cx="2414016" cy="182880"/>
          </a:xfrm>
          <a:prstGeom prst="rect">
            <a:avLst/>
          </a:prstGeom>
          <a:noFill/>
          <a:ln/>
        </p:spPr>
        <p:txBody>
          <a:bodyPr wrap="square" lIns="0" tIns="0" rIns="0" bIns="0" rtlCol="0" anchor="ctr"/>
          <a:lstStyle/>
          <a:p>
            <a:pPr indent="0" marL="0">
              <a:buNone/>
            </a:pPr>
            <a:r>
              <a:rPr lang="en-US" sz="900" b="1" dirty="0">
                <a:solidFill>
                  <a:srgbClr val="0C1428"/>
                </a:solidFill>
                <a:latin typeface="Calibri" pitchFamily="34" charset="0"/>
                <a:ea typeface="Calibri" pitchFamily="34" charset="-122"/>
                <a:cs typeface="Calibri" pitchFamily="34" charset="-120"/>
              </a:rPr>
              <a:t>APA Reporting Templates</a:t>
            </a:r>
            <a:endParaRPr lang="en-US" sz="900" dirty="0"/>
          </a:p>
        </p:txBody>
      </p:sp>
      <p:sp>
        <p:nvSpPr>
          <p:cNvPr id="110" name="Text 108"/>
          <p:cNvSpPr/>
          <p:nvPr/>
        </p:nvSpPr>
        <p:spPr>
          <a:xfrm>
            <a:off x="6464808" y="4279392"/>
            <a:ext cx="2414016" cy="14630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Pearson, Spearman, Partial templates</a:t>
            </a:r>
            <a:endParaRPr lang="en-US" sz="750" dirty="0"/>
          </a:p>
        </p:txBody>
      </p:sp>
      <p:sp>
        <p:nvSpPr>
          <p:cNvPr id="111" name="Shape 109"/>
          <p:cNvSpPr/>
          <p:nvPr/>
        </p:nvSpPr>
        <p:spPr>
          <a:xfrm>
            <a:off x="6080760" y="4480560"/>
            <a:ext cx="2880360" cy="411480"/>
          </a:xfrm>
          <a:prstGeom prst="roundRect">
            <a:avLst>
              <a:gd name="adj" fmla="val 11111"/>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112" name="Shape 110"/>
          <p:cNvSpPr/>
          <p:nvPr/>
        </p:nvSpPr>
        <p:spPr>
          <a:xfrm>
            <a:off x="6153912" y="4535424"/>
            <a:ext cx="237744" cy="274320"/>
          </a:xfrm>
          <a:prstGeom prst="roundRect">
            <a:avLst>
              <a:gd name="adj" fmla="val 11538"/>
            </a:avLst>
          </a:prstGeom>
          <a:solidFill>
            <a:srgbClr val="070C18"/>
          </a:solidFill>
          <a:ln w="12700">
            <a:solidFill>
              <a:srgbClr val="070C18"/>
            </a:solidFill>
            <a:prstDash val="solid"/>
          </a:ln>
        </p:spPr>
      </p:sp>
      <p:sp>
        <p:nvSpPr>
          <p:cNvPr id="113" name="Text 111"/>
          <p:cNvSpPr/>
          <p:nvPr/>
        </p:nvSpPr>
        <p:spPr>
          <a:xfrm>
            <a:off x="6153912" y="4535424"/>
            <a:ext cx="237744" cy="274320"/>
          </a:xfrm>
          <a:prstGeom prst="rect">
            <a:avLst/>
          </a:prstGeom>
          <a:noFill/>
          <a:ln/>
        </p:spPr>
        <p:txBody>
          <a:bodyPr wrap="square" lIns="0" tIns="0" rIns="0" bIns="0" rtlCol="0" anchor="ctr"/>
          <a:lstStyle/>
          <a:p>
            <a:pPr algn="ctr" indent="0" marL="0">
              <a:buNone/>
            </a:pPr>
            <a:r>
              <a:rPr lang="en-US" sz="700" b="1" dirty="0">
                <a:solidFill>
                  <a:srgbClr val="F0C840"/>
                </a:solidFill>
                <a:latin typeface="Calibri" pitchFamily="34" charset="0"/>
                <a:ea typeface="Calibri" pitchFamily="34" charset="-122"/>
                <a:cs typeface="Calibri" pitchFamily="34" charset="-120"/>
              </a:rPr>
              <a:t>22</a:t>
            </a:r>
            <a:endParaRPr lang="en-US" sz="700" dirty="0"/>
          </a:p>
        </p:txBody>
      </p:sp>
      <p:sp>
        <p:nvSpPr>
          <p:cNvPr id="114" name="Text 112"/>
          <p:cNvSpPr/>
          <p:nvPr/>
        </p:nvSpPr>
        <p:spPr>
          <a:xfrm>
            <a:off x="6464808" y="4517136"/>
            <a:ext cx="2414016" cy="182880"/>
          </a:xfrm>
          <a:prstGeom prst="rect">
            <a:avLst/>
          </a:prstGeom>
          <a:noFill/>
          <a:ln/>
        </p:spPr>
        <p:txBody>
          <a:bodyPr wrap="square" lIns="0" tIns="0" rIns="0" bIns="0" rtlCol="0" anchor="ctr"/>
          <a:lstStyle/>
          <a:p>
            <a:pPr indent="0" marL="0">
              <a:buNone/>
            </a:pPr>
            <a:r>
              <a:rPr lang="en-US" sz="900" b="1" dirty="0">
                <a:solidFill>
                  <a:srgbClr val="0C1428"/>
                </a:solidFill>
                <a:latin typeface="Calibri" pitchFamily="34" charset="0"/>
                <a:ea typeface="Calibri" pitchFamily="34" charset="-122"/>
                <a:cs typeface="Calibri" pitchFamily="34" charset="-120"/>
              </a:rPr>
              <a:t>Key Takeaways</a:t>
            </a:r>
            <a:endParaRPr lang="en-US" sz="900" dirty="0"/>
          </a:p>
        </p:txBody>
      </p:sp>
      <p:sp>
        <p:nvSpPr>
          <p:cNvPr id="115" name="Text 113"/>
          <p:cNvSpPr/>
          <p:nvPr/>
        </p:nvSpPr>
        <p:spPr>
          <a:xfrm>
            <a:off x="6464808" y="4718304"/>
            <a:ext cx="2414016" cy="14630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10 golden rules of correlation</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5943600" y="-1371600"/>
            <a:ext cx="5029200" cy="5029200"/>
          </a:xfrm>
          <a:prstGeom prst="ellipse">
            <a:avLst/>
          </a:prstGeom>
          <a:solidFill>
            <a:srgbClr val="0A7E8C">
              <a:alpha val="20000"/>
            </a:srgbClr>
          </a:solidFill>
          <a:ln w="12700">
            <a:solidFill>
              <a:srgbClr val="0A7E8C"/>
            </a:solidFill>
            <a:prstDash val="solid"/>
          </a:ln>
        </p:spPr>
      </p:sp>
      <p:sp>
        <p:nvSpPr>
          <p:cNvPr id="3" name="Shape 1"/>
          <p:cNvSpPr/>
          <p:nvPr/>
        </p:nvSpPr>
        <p:spPr>
          <a:xfrm>
            <a:off x="-1097280" y="3200400"/>
            <a:ext cx="3657600" cy="3657600"/>
          </a:xfrm>
          <a:prstGeom prst="ellipse">
            <a:avLst/>
          </a:prstGeom>
          <a:solidFill>
            <a:srgbClr val="D4A010">
              <a:alpha val="12000"/>
            </a:srgbClr>
          </a:solidFill>
          <a:ln w="12700">
            <a:solidFill>
              <a:srgbClr val="D4A010"/>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0"/>
                </a:solidFill>
                <a:latin typeface="Calibri" pitchFamily="34" charset="0"/>
                <a:ea typeface="Calibri" pitchFamily="34" charset="-122"/>
                <a:cs typeface="Calibri" pitchFamily="34" charset="-120"/>
              </a:rPr>
              <a:t>CORRELATION  |  SECTION 01</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Pearson r - Complete Theory</a:t>
            </a:r>
            <a:endParaRPr lang="en-US" sz="36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90D8E0"/>
                </a:solidFill>
                <a:latin typeface="Calibri" pitchFamily="34" charset="0"/>
                <a:ea typeface="Calibri" pitchFamily="34" charset="-122"/>
                <a:cs typeface="Calibri" pitchFamily="34" charset="-120"/>
              </a:rPr>
              <a:t>Formula, computation, coefficient of determination and hypothesis testing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70C18"/>
          </a:solidFill>
          <a:ln w="12700">
            <a:solidFill>
              <a:srgbClr val="070C18"/>
            </a:solidFill>
            <a:prstDash val="solid"/>
          </a:ln>
        </p:spPr>
      </p:sp>
      <p:sp>
        <p:nvSpPr>
          <p:cNvPr id="3" name="Text 1"/>
          <p:cNvSpPr/>
          <p:nvPr/>
        </p:nvSpPr>
        <p:spPr>
          <a:xfrm>
            <a:off x="438912"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Pearson r - Formula, Computation and Full Interpretation (GTBank)</a:t>
            </a:r>
            <a:endParaRPr lang="en-US" sz="2100" dirty="0"/>
          </a:p>
        </p:txBody>
      </p:sp>
      <p:sp>
        <p:nvSpPr>
          <p:cNvPr id="4" name="Shape 2"/>
          <p:cNvSpPr/>
          <p:nvPr/>
        </p:nvSpPr>
        <p:spPr>
          <a:xfrm>
            <a:off x="256032" y="1024128"/>
            <a:ext cx="8631936" cy="475488"/>
          </a:xfrm>
          <a:prstGeom prst="roundRect">
            <a:avLst>
              <a:gd name="adj" fmla="val 15385"/>
            </a:avLst>
          </a:prstGeom>
          <a:solidFill>
            <a:srgbClr val="0C1428"/>
          </a:solidFill>
          <a:ln w="12700">
            <a:solidFill>
              <a:srgbClr val="14B8C8"/>
            </a:solidFill>
            <a:prstDash val="solid"/>
          </a:ln>
        </p:spPr>
      </p:sp>
      <p:sp>
        <p:nvSpPr>
          <p:cNvPr id="5" name="Text 3"/>
          <p:cNvSpPr/>
          <p:nvPr/>
        </p:nvSpPr>
        <p:spPr>
          <a:xfrm>
            <a:off x="384048" y="1042416"/>
            <a:ext cx="8321040" cy="402336"/>
          </a:xfrm>
          <a:prstGeom prst="rect">
            <a:avLst/>
          </a:prstGeom>
          <a:noFill/>
          <a:ln/>
        </p:spPr>
        <p:txBody>
          <a:bodyPr wrap="square" lIns="0" tIns="0" rIns="0" bIns="0" rtlCol="0" anchor="ctr"/>
          <a:lstStyle/>
          <a:p>
            <a:pPr algn="ctr" indent="0" marL="0">
              <a:buNone/>
            </a:pPr>
            <a:r>
              <a:rPr lang="en-US" sz="1150" b="1" dirty="0">
                <a:solidFill>
                  <a:srgbClr val="14B8C8"/>
                </a:solidFill>
                <a:latin typeface="Courier New" pitchFamily="34" charset="0"/>
                <a:ea typeface="Courier New" pitchFamily="34" charset="-122"/>
                <a:cs typeface="Courier New" pitchFamily="34" charset="-120"/>
              </a:rPr>
              <a:t>r = Cov(X,Y)/(SD_X × SD_Y)   =   S_XY/√(S_XX × S_YY)   =   [nΣXY - ΣXΣY] / √{[nΣX²-(ΣX)²][nΣY²-(ΣY)²]}</a:t>
            </a:r>
            <a:endParaRPr lang="en-US" sz="1150" dirty="0"/>
          </a:p>
        </p:txBody>
      </p:sp>
      <p:sp>
        <p:nvSpPr>
          <p:cNvPr id="6" name="Shape 4"/>
          <p:cNvSpPr/>
          <p:nvPr/>
        </p:nvSpPr>
        <p:spPr>
          <a:xfrm>
            <a:off x="256032" y="1591056"/>
            <a:ext cx="4160520" cy="3547872"/>
          </a:xfrm>
          <a:prstGeom prst="roundRect">
            <a:avLst>
              <a:gd name="adj" fmla="val 2320"/>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7" name="Shape 5"/>
          <p:cNvSpPr/>
          <p:nvPr/>
        </p:nvSpPr>
        <p:spPr>
          <a:xfrm>
            <a:off x="329184" y="1664208"/>
            <a:ext cx="4005072" cy="310896"/>
          </a:xfrm>
          <a:prstGeom prst="roundRect">
            <a:avLst>
              <a:gd name="adj" fmla="val 17647"/>
            </a:avLst>
          </a:prstGeom>
          <a:solidFill>
            <a:srgbClr val="0A7E8C"/>
          </a:solidFill>
          <a:ln w="12700">
            <a:solidFill>
              <a:srgbClr val="0A7E8C"/>
            </a:solidFill>
            <a:prstDash val="solid"/>
          </a:ln>
        </p:spPr>
      </p:sp>
      <p:sp>
        <p:nvSpPr>
          <p:cNvPr id="8" name="Text 6"/>
          <p:cNvSpPr/>
          <p:nvPr/>
        </p:nvSpPr>
        <p:spPr>
          <a:xfrm>
            <a:off x="329184" y="1664208"/>
            <a:ext cx="400507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GTBank: Income (X) vs Spending (Y), n=200</a:t>
            </a:r>
            <a:endParaRPr lang="en-US" sz="1100" dirty="0"/>
          </a:p>
        </p:txBody>
      </p:sp>
      <p:sp>
        <p:nvSpPr>
          <p:cNvPr id="9" name="Text 7"/>
          <p:cNvSpPr/>
          <p:nvPr/>
        </p:nvSpPr>
        <p:spPr>
          <a:xfrm>
            <a:off x="365760" y="2029968"/>
            <a:ext cx="3950208" cy="402336"/>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ΣX=77.0, ΣY=37.4, ΣXY=19.84</a:t>
            </a:r>
            <a:endParaRPr lang="en-US" sz="950" dirty="0"/>
          </a:p>
          <a:p>
            <a:pPr indent="0" marL="0">
              <a:buNone/>
            </a:pPr>
            <a:r>
              <a:rPr lang="en-US" sz="950" dirty="0">
                <a:solidFill>
                  <a:srgbClr val="64748B"/>
                </a:solidFill>
                <a:latin typeface="Calibri" pitchFamily="34" charset="0"/>
                <a:ea typeface="Calibri" pitchFamily="34" charset="-122"/>
                <a:cs typeface="Calibri" pitchFamily="34" charset="-120"/>
              </a:rPr>
              <a:t>ΣX²=34.92, ΣY²=9.47</a:t>
            </a:r>
            <a:endParaRPr lang="en-US" sz="950" dirty="0"/>
          </a:p>
        </p:txBody>
      </p:sp>
      <p:sp>
        <p:nvSpPr>
          <p:cNvPr id="10" name="Text 8"/>
          <p:cNvSpPr/>
          <p:nvPr/>
        </p:nvSpPr>
        <p:spPr>
          <a:xfrm>
            <a:off x="365760" y="2487168"/>
            <a:ext cx="3950208" cy="292608"/>
          </a:xfrm>
          <a:prstGeom prst="rect">
            <a:avLst/>
          </a:prstGeom>
          <a:noFill/>
          <a:ln/>
        </p:spPr>
        <p:txBody>
          <a:bodyPr wrap="square" lIns="0" tIns="0" rIns="0" bIns="0" rtlCol="0" anchor="ctr"/>
          <a:lstStyle/>
          <a:p>
            <a:pPr indent="0" marL="0">
              <a:buNone/>
            </a:pPr>
            <a:r>
              <a:rPr lang="en-US" sz="950" dirty="0">
                <a:solidFill>
                  <a:srgbClr val="0C1428"/>
                </a:solidFill>
                <a:latin typeface="Calibri" pitchFamily="34" charset="0"/>
                <a:ea typeface="Calibri" pitchFamily="34" charset="-122"/>
                <a:cs typeface="Calibri" pitchFamily="34" charset="-120"/>
              </a:rPr>
              <a:t>Numerator = 200(19.84) - (77.0)(37.4) = 3968 - 2879.8 = 1088.2</a:t>
            </a:r>
            <a:endParaRPr lang="en-US" sz="950" dirty="0"/>
          </a:p>
        </p:txBody>
      </p:sp>
      <p:sp>
        <p:nvSpPr>
          <p:cNvPr id="11" name="Text 9"/>
          <p:cNvSpPr/>
          <p:nvPr/>
        </p:nvSpPr>
        <p:spPr>
          <a:xfrm>
            <a:off x="365760" y="2816352"/>
            <a:ext cx="3950208" cy="292608"/>
          </a:xfrm>
          <a:prstGeom prst="rect">
            <a:avLst/>
          </a:prstGeom>
          <a:noFill/>
          <a:ln/>
        </p:spPr>
        <p:txBody>
          <a:bodyPr wrap="square" lIns="0" tIns="0" rIns="0" bIns="0" rtlCol="0" anchor="ctr"/>
          <a:lstStyle/>
          <a:p>
            <a:pPr indent="0" marL="0">
              <a:buNone/>
            </a:pPr>
            <a:r>
              <a:rPr lang="en-US" sz="950" dirty="0">
                <a:solidFill>
                  <a:srgbClr val="0C1428"/>
                </a:solidFill>
                <a:latin typeface="Calibri" pitchFamily="34" charset="0"/>
                <a:ea typeface="Calibri" pitchFamily="34" charset="-122"/>
                <a:cs typeface="Calibri" pitchFamily="34" charset="-120"/>
              </a:rPr>
              <a:t>Den_X = 200(34.92) - (77.0)² = 6984 - 5929 = 1055</a:t>
            </a:r>
            <a:endParaRPr lang="en-US" sz="950" dirty="0"/>
          </a:p>
        </p:txBody>
      </p:sp>
      <p:sp>
        <p:nvSpPr>
          <p:cNvPr id="12" name="Text 10"/>
          <p:cNvSpPr/>
          <p:nvPr/>
        </p:nvSpPr>
        <p:spPr>
          <a:xfrm>
            <a:off x="365760" y="3145536"/>
            <a:ext cx="3950208" cy="292608"/>
          </a:xfrm>
          <a:prstGeom prst="rect">
            <a:avLst/>
          </a:prstGeom>
          <a:noFill/>
          <a:ln/>
        </p:spPr>
        <p:txBody>
          <a:bodyPr wrap="square" lIns="0" tIns="0" rIns="0" bIns="0" rtlCol="0" anchor="ctr"/>
          <a:lstStyle/>
          <a:p>
            <a:pPr indent="0" marL="0">
              <a:buNone/>
            </a:pPr>
            <a:r>
              <a:rPr lang="en-US" sz="950" dirty="0">
                <a:solidFill>
                  <a:srgbClr val="0C1428"/>
                </a:solidFill>
                <a:latin typeface="Calibri" pitchFamily="34" charset="0"/>
                <a:ea typeface="Calibri" pitchFamily="34" charset="-122"/>
                <a:cs typeface="Calibri" pitchFamily="34" charset="-120"/>
              </a:rPr>
              <a:t>Den_Y = 200(9.47) - (37.4)² = 1894 - 1398.76 = 495.24</a:t>
            </a:r>
            <a:endParaRPr lang="en-US" sz="950" dirty="0"/>
          </a:p>
        </p:txBody>
      </p:sp>
      <p:sp>
        <p:nvSpPr>
          <p:cNvPr id="13" name="Text 11"/>
          <p:cNvSpPr/>
          <p:nvPr/>
        </p:nvSpPr>
        <p:spPr>
          <a:xfrm>
            <a:off x="365760" y="3474720"/>
            <a:ext cx="3950208" cy="292608"/>
          </a:xfrm>
          <a:prstGeom prst="rect">
            <a:avLst/>
          </a:prstGeom>
          <a:noFill/>
          <a:ln/>
        </p:spPr>
        <p:txBody>
          <a:bodyPr wrap="square" lIns="0" tIns="0" rIns="0" bIns="0" rtlCol="0" anchor="ctr"/>
          <a:lstStyle/>
          <a:p>
            <a:pPr indent="0" marL="0">
              <a:buNone/>
            </a:pPr>
            <a:r>
              <a:rPr lang="en-US" sz="950" dirty="0">
                <a:solidFill>
                  <a:srgbClr val="0C1428"/>
                </a:solidFill>
                <a:latin typeface="Calibri" pitchFamily="34" charset="0"/>
                <a:ea typeface="Calibri" pitchFamily="34" charset="-122"/>
                <a:cs typeface="Calibri" pitchFamily="34" charset="-120"/>
              </a:rPr>
              <a:t>r = 1088.2 / √(1055 × 495.24) = 1088.2 / 722.8</a:t>
            </a:r>
            <a:endParaRPr lang="en-US" sz="950" dirty="0"/>
          </a:p>
        </p:txBody>
      </p:sp>
      <p:sp>
        <p:nvSpPr>
          <p:cNvPr id="14" name="Shape 12"/>
          <p:cNvSpPr/>
          <p:nvPr/>
        </p:nvSpPr>
        <p:spPr>
          <a:xfrm>
            <a:off x="347472" y="3822192"/>
            <a:ext cx="3968496" cy="310896"/>
          </a:xfrm>
          <a:prstGeom prst="roundRect">
            <a:avLst>
              <a:gd name="adj" fmla="val 14706"/>
            </a:avLst>
          </a:prstGeom>
          <a:solidFill>
            <a:srgbClr val="0A7E8C"/>
          </a:solidFill>
          <a:ln w="12700">
            <a:solidFill>
              <a:srgbClr val="0A7E8C"/>
            </a:solidFill>
            <a:prstDash val="solid"/>
          </a:ln>
        </p:spPr>
      </p:sp>
      <p:sp>
        <p:nvSpPr>
          <p:cNvPr id="15" name="Text 13"/>
          <p:cNvSpPr/>
          <p:nvPr/>
        </p:nvSpPr>
        <p:spPr>
          <a:xfrm>
            <a:off x="347472" y="3822192"/>
            <a:ext cx="39684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r = +0.794   (Strong Positive)</a:t>
            </a:r>
            <a:endParaRPr lang="en-US" sz="1400" dirty="0"/>
          </a:p>
        </p:txBody>
      </p:sp>
      <p:sp>
        <p:nvSpPr>
          <p:cNvPr id="16" name="Text 14"/>
          <p:cNvSpPr/>
          <p:nvPr/>
        </p:nvSpPr>
        <p:spPr>
          <a:xfrm>
            <a:off x="365760" y="4187952"/>
            <a:ext cx="3950208" cy="256032"/>
          </a:xfrm>
          <a:prstGeom prst="rect">
            <a:avLst/>
          </a:prstGeom>
          <a:noFill/>
          <a:ln/>
        </p:spPr>
        <p:txBody>
          <a:bodyPr wrap="square" lIns="0" tIns="0" rIns="0" bIns="0" rtlCol="0" anchor="ctr"/>
          <a:lstStyle/>
          <a:p>
            <a:pPr indent="0" marL="0">
              <a:buNone/>
            </a:pPr>
            <a:r>
              <a:rPr lang="en-US" sz="950" b="1" dirty="0">
                <a:solidFill>
                  <a:srgbClr val="0A7E8C"/>
                </a:solidFill>
                <a:latin typeface="Calibri" pitchFamily="34" charset="0"/>
                <a:ea typeface="Calibri" pitchFamily="34" charset="-122"/>
                <a:cs typeface="Calibri" pitchFamily="34" charset="-120"/>
              </a:rPr>
              <a:t>r² = 0.794² = 0.631 → Income explains 63.1% of spending variance</a:t>
            </a:r>
            <a:endParaRPr lang="en-US" sz="950" dirty="0"/>
          </a:p>
        </p:txBody>
      </p:sp>
      <p:sp>
        <p:nvSpPr>
          <p:cNvPr id="17" name="Text 15"/>
          <p:cNvSpPr/>
          <p:nvPr/>
        </p:nvSpPr>
        <p:spPr>
          <a:xfrm>
            <a:off x="365760" y="4498848"/>
            <a:ext cx="3950208" cy="384048"/>
          </a:xfrm>
          <a:prstGeom prst="rect">
            <a:avLst/>
          </a:prstGeom>
          <a:noFill/>
          <a:ln/>
        </p:spPr>
        <p:txBody>
          <a:bodyPr wrap="square" lIns="0" tIns="0" rIns="0" bIns="0" rtlCol="0" anchor="ctr"/>
          <a:lstStyle/>
          <a:p>
            <a:pPr indent="0" marL="0">
              <a:buNone/>
            </a:pPr>
            <a:r>
              <a:rPr lang="en-US" sz="950" dirty="0">
                <a:solidFill>
                  <a:srgbClr val="0C1428"/>
                </a:solidFill>
                <a:latin typeface="Calibri" pitchFamily="34" charset="0"/>
                <a:ea typeface="Calibri" pitchFamily="34" charset="-122"/>
                <a:cs typeface="Calibri" pitchFamily="34" charset="-120"/>
              </a:rPr>
              <a:t>t-test: t = 0.794√198/√(1-0.631) = 18.40, df=198, p&lt;.001</a:t>
            </a:r>
            <a:endParaRPr lang="en-US" sz="950" dirty="0"/>
          </a:p>
          <a:p>
            <a:pPr indent="0" marL="0">
              <a:buNone/>
            </a:pPr>
            <a:r>
              <a:rPr lang="en-US" sz="950" dirty="0">
                <a:solidFill>
                  <a:srgbClr val="0C1428"/>
                </a:solidFill>
                <a:latin typeface="Calibri" pitchFamily="34" charset="0"/>
                <a:ea typeface="Calibri" pitchFamily="34" charset="-122"/>
                <a:cs typeface="Calibri" pitchFamily="34" charset="-120"/>
              </a:rPr>
              <a:t>95% CI for ρ (via Fisher's Z): [.735, .841]</a:t>
            </a:r>
            <a:endParaRPr lang="en-US" sz="950" dirty="0"/>
          </a:p>
        </p:txBody>
      </p:sp>
      <p:sp>
        <p:nvSpPr>
          <p:cNvPr id="18" name="Shape 16"/>
          <p:cNvSpPr/>
          <p:nvPr/>
        </p:nvSpPr>
        <p:spPr>
          <a:xfrm>
            <a:off x="4681728" y="1591056"/>
            <a:ext cx="4160520" cy="3547872"/>
          </a:xfrm>
          <a:prstGeom prst="roundRect">
            <a:avLst>
              <a:gd name="adj" fmla="val 2320"/>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19" name="Shape 17"/>
          <p:cNvSpPr/>
          <p:nvPr/>
        </p:nvSpPr>
        <p:spPr>
          <a:xfrm>
            <a:off x="4754880" y="1664208"/>
            <a:ext cx="4005072" cy="310896"/>
          </a:xfrm>
          <a:prstGeom prst="roundRect">
            <a:avLst>
              <a:gd name="adj" fmla="val 17647"/>
            </a:avLst>
          </a:prstGeom>
          <a:solidFill>
            <a:srgbClr val="E07010"/>
          </a:solidFill>
          <a:ln w="12700">
            <a:solidFill>
              <a:srgbClr val="E07010"/>
            </a:solidFill>
            <a:prstDash val="solid"/>
          </a:ln>
        </p:spPr>
      </p:sp>
      <p:sp>
        <p:nvSpPr>
          <p:cNvPr id="20" name="Text 18"/>
          <p:cNvSpPr/>
          <p:nvPr/>
        </p:nvSpPr>
        <p:spPr>
          <a:xfrm>
            <a:off x="4754880" y="1664208"/>
            <a:ext cx="400507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Interpreting the Magnitude of r</a:t>
            </a:r>
            <a:endParaRPr lang="en-US" sz="1100" dirty="0"/>
          </a:p>
        </p:txBody>
      </p:sp>
      <p:sp>
        <p:nvSpPr>
          <p:cNvPr id="21" name="Shape 19"/>
          <p:cNvSpPr/>
          <p:nvPr/>
        </p:nvSpPr>
        <p:spPr>
          <a:xfrm>
            <a:off x="4773168" y="2029968"/>
            <a:ext cx="3968496" cy="420624"/>
          </a:xfrm>
          <a:prstGeom prst="roundRect">
            <a:avLst>
              <a:gd name="adj" fmla="val 10870"/>
            </a:avLst>
          </a:prstGeom>
          <a:solidFill>
            <a:srgbClr val="EAF6FA"/>
          </a:solidFill>
          <a:ln w="10160">
            <a:solidFill>
              <a:srgbClr val="64748B"/>
            </a:solidFill>
            <a:prstDash val="solid"/>
          </a:ln>
        </p:spPr>
      </p:sp>
      <p:sp>
        <p:nvSpPr>
          <p:cNvPr id="22" name="Text 20"/>
          <p:cNvSpPr/>
          <p:nvPr/>
        </p:nvSpPr>
        <p:spPr>
          <a:xfrm>
            <a:off x="4846320" y="2066544"/>
            <a:ext cx="1627632" cy="329184"/>
          </a:xfrm>
          <a:prstGeom prst="rect">
            <a:avLst/>
          </a:prstGeom>
          <a:noFill/>
          <a:ln/>
        </p:spPr>
        <p:txBody>
          <a:bodyPr wrap="square" lIns="0" tIns="0" rIns="0" bIns="0" rtlCol="0" anchor="ctr"/>
          <a:lstStyle/>
          <a:p>
            <a:pPr indent="0" marL="0">
              <a:buNone/>
            </a:pPr>
            <a:r>
              <a:rPr lang="en-US" sz="1000" b="1" dirty="0">
                <a:solidFill>
                  <a:srgbClr val="64748B"/>
                </a:solidFill>
                <a:latin typeface="Courier New" pitchFamily="34" charset="0"/>
                <a:ea typeface="Courier New" pitchFamily="34" charset="-122"/>
                <a:cs typeface="Courier New" pitchFamily="34" charset="-120"/>
              </a:rPr>
              <a:t>|r| 0.00-0.09</a:t>
            </a:r>
            <a:endParaRPr lang="en-US" sz="1000" dirty="0"/>
          </a:p>
        </p:txBody>
      </p:sp>
      <p:sp>
        <p:nvSpPr>
          <p:cNvPr id="23" name="Text 21"/>
          <p:cNvSpPr/>
          <p:nvPr/>
        </p:nvSpPr>
        <p:spPr>
          <a:xfrm>
            <a:off x="6510528" y="2066544"/>
            <a:ext cx="2139696" cy="329184"/>
          </a:xfrm>
          <a:prstGeom prst="rect">
            <a:avLst/>
          </a:prstGeom>
          <a:noFill/>
          <a:ln/>
        </p:spPr>
        <p:txBody>
          <a:bodyPr wrap="square" lIns="0" tIns="0" rIns="0" bIns="0" rtlCol="0" anchor="ctr"/>
          <a:lstStyle/>
          <a:p>
            <a:pPr indent="0" marL="0">
              <a:buNone/>
            </a:pPr>
            <a:r>
              <a:rPr lang="en-US" sz="1050" dirty="0">
                <a:solidFill>
                  <a:srgbClr val="0C1428"/>
                </a:solidFill>
                <a:latin typeface="Calibri" pitchFamily="34" charset="0"/>
                <a:ea typeface="Calibri" pitchFamily="34" charset="-122"/>
                <a:cs typeface="Calibri" pitchFamily="34" charset="-120"/>
              </a:rPr>
              <a:t>Negligible</a:t>
            </a:r>
            <a:endParaRPr lang="en-US" sz="1050" dirty="0"/>
          </a:p>
        </p:txBody>
      </p:sp>
      <p:sp>
        <p:nvSpPr>
          <p:cNvPr id="24" name="Shape 22"/>
          <p:cNvSpPr/>
          <p:nvPr/>
        </p:nvSpPr>
        <p:spPr>
          <a:xfrm>
            <a:off x="4773168" y="2505456"/>
            <a:ext cx="3968496" cy="420624"/>
          </a:xfrm>
          <a:prstGeom prst="roundRect">
            <a:avLst>
              <a:gd name="adj" fmla="val 10870"/>
            </a:avLst>
          </a:prstGeom>
          <a:solidFill>
            <a:srgbClr val="EAF6FA"/>
          </a:solidFill>
          <a:ln w="10160">
            <a:solidFill>
              <a:srgbClr val="2878F0"/>
            </a:solidFill>
            <a:prstDash val="solid"/>
          </a:ln>
        </p:spPr>
      </p:sp>
      <p:sp>
        <p:nvSpPr>
          <p:cNvPr id="25" name="Text 23"/>
          <p:cNvSpPr/>
          <p:nvPr/>
        </p:nvSpPr>
        <p:spPr>
          <a:xfrm>
            <a:off x="4846320" y="2542032"/>
            <a:ext cx="1627632" cy="329184"/>
          </a:xfrm>
          <a:prstGeom prst="rect">
            <a:avLst/>
          </a:prstGeom>
          <a:noFill/>
          <a:ln/>
        </p:spPr>
        <p:txBody>
          <a:bodyPr wrap="square" lIns="0" tIns="0" rIns="0" bIns="0" rtlCol="0" anchor="ctr"/>
          <a:lstStyle/>
          <a:p>
            <a:pPr indent="0" marL="0">
              <a:buNone/>
            </a:pPr>
            <a:r>
              <a:rPr lang="en-US" sz="1000" b="1" dirty="0">
                <a:solidFill>
                  <a:srgbClr val="2878F0"/>
                </a:solidFill>
                <a:latin typeface="Courier New" pitchFamily="34" charset="0"/>
                <a:ea typeface="Courier New" pitchFamily="34" charset="-122"/>
                <a:cs typeface="Courier New" pitchFamily="34" charset="-120"/>
              </a:rPr>
              <a:t>|r| 0.10-0.29</a:t>
            </a:r>
            <a:endParaRPr lang="en-US" sz="1000" dirty="0"/>
          </a:p>
        </p:txBody>
      </p:sp>
      <p:sp>
        <p:nvSpPr>
          <p:cNvPr id="26" name="Text 24"/>
          <p:cNvSpPr/>
          <p:nvPr/>
        </p:nvSpPr>
        <p:spPr>
          <a:xfrm>
            <a:off x="6510528" y="2542032"/>
            <a:ext cx="2139696" cy="329184"/>
          </a:xfrm>
          <a:prstGeom prst="rect">
            <a:avLst/>
          </a:prstGeom>
          <a:noFill/>
          <a:ln/>
        </p:spPr>
        <p:txBody>
          <a:bodyPr wrap="square" lIns="0" tIns="0" rIns="0" bIns="0" rtlCol="0" anchor="ctr"/>
          <a:lstStyle/>
          <a:p>
            <a:pPr indent="0" marL="0">
              <a:buNone/>
            </a:pPr>
            <a:r>
              <a:rPr lang="en-US" sz="1050" dirty="0">
                <a:solidFill>
                  <a:srgbClr val="0C1428"/>
                </a:solidFill>
                <a:latin typeface="Calibri" pitchFamily="34" charset="0"/>
                <a:ea typeface="Calibri" pitchFamily="34" charset="-122"/>
                <a:cs typeface="Calibri" pitchFamily="34" charset="-120"/>
              </a:rPr>
              <a:t>Small / Weak</a:t>
            </a:r>
            <a:endParaRPr lang="en-US" sz="1050" dirty="0"/>
          </a:p>
        </p:txBody>
      </p:sp>
      <p:sp>
        <p:nvSpPr>
          <p:cNvPr id="27" name="Shape 25"/>
          <p:cNvSpPr/>
          <p:nvPr/>
        </p:nvSpPr>
        <p:spPr>
          <a:xfrm>
            <a:off x="4773168" y="2980944"/>
            <a:ext cx="3968496" cy="420624"/>
          </a:xfrm>
          <a:prstGeom prst="roundRect">
            <a:avLst>
              <a:gd name="adj" fmla="val 10870"/>
            </a:avLst>
          </a:prstGeom>
          <a:solidFill>
            <a:srgbClr val="EAF6FA"/>
          </a:solidFill>
          <a:ln w="10160">
            <a:solidFill>
              <a:srgbClr val="14B8C8"/>
            </a:solidFill>
            <a:prstDash val="solid"/>
          </a:ln>
        </p:spPr>
      </p:sp>
      <p:sp>
        <p:nvSpPr>
          <p:cNvPr id="28" name="Text 26"/>
          <p:cNvSpPr/>
          <p:nvPr/>
        </p:nvSpPr>
        <p:spPr>
          <a:xfrm>
            <a:off x="4846320" y="3017520"/>
            <a:ext cx="1627632" cy="329184"/>
          </a:xfrm>
          <a:prstGeom prst="rect">
            <a:avLst/>
          </a:prstGeom>
          <a:noFill/>
          <a:ln/>
        </p:spPr>
        <p:txBody>
          <a:bodyPr wrap="square" lIns="0" tIns="0" rIns="0" bIns="0" rtlCol="0" anchor="ctr"/>
          <a:lstStyle/>
          <a:p>
            <a:pPr indent="0" marL="0">
              <a:buNone/>
            </a:pPr>
            <a:r>
              <a:rPr lang="en-US" sz="1000" b="1" dirty="0">
                <a:solidFill>
                  <a:srgbClr val="14B8C8"/>
                </a:solidFill>
                <a:latin typeface="Courier New" pitchFamily="34" charset="0"/>
                <a:ea typeface="Courier New" pitchFamily="34" charset="-122"/>
                <a:cs typeface="Courier New" pitchFamily="34" charset="-120"/>
              </a:rPr>
              <a:t>|r| 0.30-0.49</a:t>
            </a:r>
            <a:endParaRPr lang="en-US" sz="1000" dirty="0"/>
          </a:p>
        </p:txBody>
      </p:sp>
      <p:sp>
        <p:nvSpPr>
          <p:cNvPr id="29" name="Text 27"/>
          <p:cNvSpPr/>
          <p:nvPr/>
        </p:nvSpPr>
        <p:spPr>
          <a:xfrm>
            <a:off x="6510528" y="3017520"/>
            <a:ext cx="2139696" cy="329184"/>
          </a:xfrm>
          <a:prstGeom prst="rect">
            <a:avLst/>
          </a:prstGeom>
          <a:noFill/>
          <a:ln/>
        </p:spPr>
        <p:txBody>
          <a:bodyPr wrap="square" lIns="0" tIns="0" rIns="0" bIns="0" rtlCol="0" anchor="ctr"/>
          <a:lstStyle/>
          <a:p>
            <a:pPr indent="0" marL="0">
              <a:buNone/>
            </a:pPr>
            <a:r>
              <a:rPr lang="en-US" sz="1050" dirty="0">
                <a:solidFill>
                  <a:srgbClr val="0C1428"/>
                </a:solidFill>
                <a:latin typeface="Calibri" pitchFamily="34" charset="0"/>
                <a:ea typeface="Calibri" pitchFamily="34" charset="-122"/>
                <a:cs typeface="Calibri" pitchFamily="34" charset="-120"/>
              </a:rPr>
              <a:t>Moderate</a:t>
            </a:r>
            <a:endParaRPr lang="en-US" sz="1050" dirty="0"/>
          </a:p>
        </p:txBody>
      </p:sp>
      <p:sp>
        <p:nvSpPr>
          <p:cNvPr id="30" name="Shape 28"/>
          <p:cNvSpPr/>
          <p:nvPr/>
        </p:nvSpPr>
        <p:spPr>
          <a:xfrm>
            <a:off x="4773168" y="3456432"/>
            <a:ext cx="3968496" cy="420624"/>
          </a:xfrm>
          <a:prstGeom prst="roundRect">
            <a:avLst>
              <a:gd name="adj" fmla="val 10870"/>
            </a:avLst>
          </a:prstGeom>
          <a:solidFill>
            <a:srgbClr val="EAF6FA"/>
          </a:solidFill>
          <a:ln w="10160">
            <a:solidFill>
              <a:srgbClr val="D4A010"/>
            </a:solidFill>
            <a:prstDash val="solid"/>
          </a:ln>
        </p:spPr>
      </p:sp>
      <p:sp>
        <p:nvSpPr>
          <p:cNvPr id="31" name="Text 29"/>
          <p:cNvSpPr/>
          <p:nvPr/>
        </p:nvSpPr>
        <p:spPr>
          <a:xfrm>
            <a:off x="4846320" y="3493008"/>
            <a:ext cx="1627632" cy="329184"/>
          </a:xfrm>
          <a:prstGeom prst="rect">
            <a:avLst/>
          </a:prstGeom>
          <a:noFill/>
          <a:ln/>
        </p:spPr>
        <p:txBody>
          <a:bodyPr wrap="square" lIns="0" tIns="0" rIns="0" bIns="0" rtlCol="0" anchor="ctr"/>
          <a:lstStyle/>
          <a:p>
            <a:pPr indent="0" marL="0">
              <a:buNone/>
            </a:pPr>
            <a:r>
              <a:rPr lang="en-US" sz="1000" b="1" dirty="0">
                <a:solidFill>
                  <a:srgbClr val="D4A010"/>
                </a:solidFill>
                <a:latin typeface="Courier New" pitchFamily="34" charset="0"/>
                <a:ea typeface="Courier New" pitchFamily="34" charset="-122"/>
                <a:cs typeface="Courier New" pitchFamily="34" charset="-120"/>
              </a:rPr>
              <a:t>|r| 0.50-0.69</a:t>
            </a:r>
            <a:endParaRPr lang="en-US" sz="1000" dirty="0"/>
          </a:p>
        </p:txBody>
      </p:sp>
      <p:sp>
        <p:nvSpPr>
          <p:cNvPr id="32" name="Text 30"/>
          <p:cNvSpPr/>
          <p:nvPr/>
        </p:nvSpPr>
        <p:spPr>
          <a:xfrm>
            <a:off x="6510528" y="3493008"/>
            <a:ext cx="2139696" cy="329184"/>
          </a:xfrm>
          <a:prstGeom prst="rect">
            <a:avLst/>
          </a:prstGeom>
          <a:noFill/>
          <a:ln/>
        </p:spPr>
        <p:txBody>
          <a:bodyPr wrap="square" lIns="0" tIns="0" rIns="0" bIns="0" rtlCol="0" anchor="ctr"/>
          <a:lstStyle/>
          <a:p>
            <a:pPr indent="0" marL="0">
              <a:buNone/>
            </a:pPr>
            <a:r>
              <a:rPr lang="en-US" sz="1050" dirty="0">
                <a:solidFill>
                  <a:srgbClr val="0C1428"/>
                </a:solidFill>
                <a:latin typeface="Calibri" pitchFamily="34" charset="0"/>
                <a:ea typeface="Calibri" pitchFamily="34" charset="-122"/>
                <a:cs typeface="Calibri" pitchFamily="34" charset="-120"/>
              </a:rPr>
              <a:t>Moderate-Strong</a:t>
            </a:r>
            <a:endParaRPr lang="en-US" sz="1050" dirty="0"/>
          </a:p>
        </p:txBody>
      </p:sp>
      <p:sp>
        <p:nvSpPr>
          <p:cNvPr id="33" name="Shape 31"/>
          <p:cNvSpPr/>
          <p:nvPr/>
        </p:nvSpPr>
        <p:spPr>
          <a:xfrm>
            <a:off x="4773168" y="3931920"/>
            <a:ext cx="3968496" cy="420624"/>
          </a:xfrm>
          <a:prstGeom prst="roundRect">
            <a:avLst>
              <a:gd name="adj" fmla="val 10870"/>
            </a:avLst>
          </a:prstGeom>
          <a:solidFill>
            <a:srgbClr val="EAF6FA"/>
          </a:solidFill>
          <a:ln w="10160">
            <a:solidFill>
              <a:srgbClr val="E07010"/>
            </a:solidFill>
            <a:prstDash val="solid"/>
          </a:ln>
        </p:spPr>
      </p:sp>
      <p:sp>
        <p:nvSpPr>
          <p:cNvPr id="34" name="Text 32"/>
          <p:cNvSpPr/>
          <p:nvPr/>
        </p:nvSpPr>
        <p:spPr>
          <a:xfrm>
            <a:off x="4846320" y="3968496"/>
            <a:ext cx="1627632" cy="329184"/>
          </a:xfrm>
          <a:prstGeom prst="rect">
            <a:avLst/>
          </a:prstGeom>
          <a:noFill/>
          <a:ln/>
        </p:spPr>
        <p:txBody>
          <a:bodyPr wrap="square" lIns="0" tIns="0" rIns="0" bIns="0" rtlCol="0" anchor="ctr"/>
          <a:lstStyle/>
          <a:p>
            <a:pPr indent="0" marL="0">
              <a:buNone/>
            </a:pPr>
            <a:r>
              <a:rPr lang="en-US" sz="1000" b="1" dirty="0">
                <a:solidFill>
                  <a:srgbClr val="E07010"/>
                </a:solidFill>
                <a:latin typeface="Courier New" pitchFamily="34" charset="0"/>
                <a:ea typeface="Courier New" pitchFamily="34" charset="-122"/>
                <a:cs typeface="Courier New" pitchFamily="34" charset="-120"/>
              </a:rPr>
              <a:t>|r| 0.70-0.89</a:t>
            </a:r>
            <a:endParaRPr lang="en-US" sz="1000" dirty="0"/>
          </a:p>
        </p:txBody>
      </p:sp>
      <p:sp>
        <p:nvSpPr>
          <p:cNvPr id="35" name="Text 33"/>
          <p:cNvSpPr/>
          <p:nvPr/>
        </p:nvSpPr>
        <p:spPr>
          <a:xfrm>
            <a:off x="6510528" y="3968496"/>
            <a:ext cx="2139696" cy="329184"/>
          </a:xfrm>
          <a:prstGeom prst="rect">
            <a:avLst/>
          </a:prstGeom>
          <a:noFill/>
          <a:ln/>
        </p:spPr>
        <p:txBody>
          <a:bodyPr wrap="square" lIns="0" tIns="0" rIns="0" bIns="0" rtlCol="0" anchor="ctr"/>
          <a:lstStyle/>
          <a:p>
            <a:pPr indent="0" marL="0">
              <a:buNone/>
            </a:pPr>
            <a:r>
              <a:rPr lang="en-US" sz="1050" dirty="0">
                <a:solidFill>
                  <a:srgbClr val="0C1428"/>
                </a:solidFill>
                <a:latin typeface="Calibri" pitchFamily="34" charset="0"/>
                <a:ea typeface="Calibri" pitchFamily="34" charset="-122"/>
                <a:cs typeface="Calibri" pitchFamily="34" charset="-120"/>
              </a:rPr>
              <a:t>Strong</a:t>
            </a:r>
            <a:endParaRPr lang="en-US" sz="1050" dirty="0"/>
          </a:p>
        </p:txBody>
      </p:sp>
      <p:sp>
        <p:nvSpPr>
          <p:cNvPr id="36" name="Shape 34"/>
          <p:cNvSpPr/>
          <p:nvPr/>
        </p:nvSpPr>
        <p:spPr>
          <a:xfrm>
            <a:off x="4773168" y="4407408"/>
            <a:ext cx="3968496" cy="420624"/>
          </a:xfrm>
          <a:prstGeom prst="roundRect">
            <a:avLst>
              <a:gd name="adj" fmla="val 10870"/>
            </a:avLst>
          </a:prstGeom>
          <a:solidFill>
            <a:srgbClr val="EAF6FA"/>
          </a:solidFill>
          <a:ln w="10160">
            <a:solidFill>
              <a:srgbClr val="14C870"/>
            </a:solidFill>
            <a:prstDash val="solid"/>
          </a:ln>
        </p:spPr>
      </p:sp>
      <p:sp>
        <p:nvSpPr>
          <p:cNvPr id="37" name="Text 35"/>
          <p:cNvSpPr/>
          <p:nvPr/>
        </p:nvSpPr>
        <p:spPr>
          <a:xfrm>
            <a:off x="4846320" y="4443984"/>
            <a:ext cx="1627632" cy="329184"/>
          </a:xfrm>
          <a:prstGeom prst="rect">
            <a:avLst/>
          </a:prstGeom>
          <a:noFill/>
          <a:ln/>
        </p:spPr>
        <p:txBody>
          <a:bodyPr wrap="square" lIns="0" tIns="0" rIns="0" bIns="0" rtlCol="0" anchor="ctr"/>
          <a:lstStyle/>
          <a:p>
            <a:pPr indent="0" marL="0">
              <a:buNone/>
            </a:pPr>
            <a:r>
              <a:rPr lang="en-US" sz="1000" b="1" dirty="0">
                <a:solidFill>
                  <a:srgbClr val="14C870"/>
                </a:solidFill>
                <a:latin typeface="Courier New" pitchFamily="34" charset="0"/>
                <a:ea typeface="Courier New" pitchFamily="34" charset="-122"/>
                <a:cs typeface="Courier New" pitchFamily="34" charset="-120"/>
              </a:rPr>
              <a:t>|r| 0.90-1.00</a:t>
            </a:r>
            <a:endParaRPr lang="en-US" sz="1000" dirty="0"/>
          </a:p>
        </p:txBody>
      </p:sp>
      <p:sp>
        <p:nvSpPr>
          <p:cNvPr id="38" name="Text 36"/>
          <p:cNvSpPr/>
          <p:nvPr/>
        </p:nvSpPr>
        <p:spPr>
          <a:xfrm>
            <a:off x="6510528" y="4443984"/>
            <a:ext cx="2139696" cy="329184"/>
          </a:xfrm>
          <a:prstGeom prst="rect">
            <a:avLst/>
          </a:prstGeom>
          <a:noFill/>
          <a:ln/>
        </p:spPr>
        <p:txBody>
          <a:bodyPr wrap="square" lIns="0" tIns="0" rIns="0" bIns="0" rtlCol="0" anchor="ctr"/>
          <a:lstStyle/>
          <a:p>
            <a:pPr indent="0" marL="0">
              <a:buNone/>
            </a:pPr>
            <a:r>
              <a:rPr lang="en-US" sz="1050" dirty="0">
                <a:solidFill>
                  <a:srgbClr val="0C1428"/>
                </a:solidFill>
                <a:latin typeface="Calibri" pitchFamily="34" charset="0"/>
                <a:ea typeface="Calibri" pitchFamily="34" charset="-122"/>
                <a:cs typeface="Calibri" pitchFamily="34" charset="-120"/>
              </a:rPr>
              <a:t>Very Strong / Perfect</a:t>
            </a:r>
            <a:endParaRPr lang="en-US" sz="1050" dirty="0"/>
          </a:p>
        </p:txBody>
      </p:sp>
      <p:sp>
        <p:nvSpPr>
          <p:cNvPr id="39" name="Text 37"/>
          <p:cNvSpPr/>
          <p:nvPr/>
        </p:nvSpPr>
        <p:spPr>
          <a:xfrm>
            <a:off x="4773168" y="4736592"/>
            <a:ext cx="3968496" cy="384048"/>
          </a:xfrm>
          <a:prstGeom prst="rect">
            <a:avLst/>
          </a:prstGeom>
          <a:noFill/>
          <a:ln/>
        </p:spPr>
        <p:txBody>
          <a:bodyPr wrap="square" lIns="0" tIns="0" rIns="0" bIns="0" rtlCol="0" anchor="ctr"/>
          <a:lstStyle/>
          <a:p>
            <a:pPr indent="0" marL="0">
              <a:buNone/>
            </a:pPr>
            <a:r>
              <a:rPr lang="en-US" sz="950" b="1" dirty="0">
                <a:solidFill>
                  <a:srgbClr val="6010C8"/>
                </a:solidFill>
                <a:latin typeface="Calibri" pitchFamily="34" charset="0"/>
                <a:ea typeface="Calibri" pitchFamily="34" charset="-122"/>
                <a:cs typeface="Calibri" pitchFamily="34" charset="-120"/>
              </a:rPr>
              <a:t>r² = shared variance key!</a:t>
            </a:r>
            <a:endParaRPr lang="en-US" sz="950" dirty="0"/>
          </a:p>
          <a:p>
            <a:pPr indent="0" marL="0">
              <a:buNone/>
            </a:pPr>
            <a:r>
              <a:rPr lang="en-US" sz="950" b="1" dirty="0">
                <a:solidFill>
                  <a:srgbClr val="6010C8"/>
                </a:solidFill>
                <a:latin typeface="Calibri" pitchFamily="34" charset="0"/>
                <a:ea typeface="Calibri" pitchFamily="34" charset="-122"/>
                <a:cs typeface="Calibri" pitchFamily="34" charset="-120"/>
              </a:rPr>
              <a:t>r=0.50 → only 25% shared variance</a:t>
            </a:r>
            <a:endParaRPr lang="en-US" sz="950" dirty="0"/>
          </a:p>
          <a:p>
            <a:pPr indent="0" marL="0">
              <a:buNone/>
            </a:pPr>
            <a:r>
              <a:rPr lang="en-US" sz="950" b="1" dirty="0">
                <a:solidFill>
                  <a:srgbClr val="6010C8"/>
                </a:solidFill>
                <a:latin typeface="Calibri" pitchFamily="34" charset="0"/>
                <a:ea typeface="Calibri" pitchFamily="34" charset="-122"/>
                <a:cs typeface="Calibri" pitchFamily="34" charset="-120"/>
              </a:rPr>
              <a:t>r=0.80 → 64% shared variance</a:t>
            </a:r>
            <a:endParaRPr lang="en-US" sz="950" dirty="0"/>
          </a:p>
        </p:txBody>
      </p:sp>
      <p:sp>
        <p:nvSpPr>
          <p:cNvPr id="40" name="Shape 38"/>
          <p:cNvSpPr/>
          <p:nvPr/>
        </p:nvSpPr>
        <p:spPr>
          <a:xfrm>
            <a:off x="256032" y="5212080"/>
            <a:ext cx="8631936" cy="347472"/>
          </a:xfrm>
          <a:prstGeom prst="roundRect">
            <a:avLst>
              <a:gd name="adj" fmla="val 15789"/>
            </a:avLst>
          </a:prstGeom>
          <a:solidFill>
            <a:srgbClr val="FFFBEC"/>
          </a:solidFill>
          <a:ln w="19050">
            <a:solidFill>
              <a:srgbClr val="D4A010"/>
            </a:solidFill>
            <a:prstDash val="solid"/>
          </a:ln>
        </p:spPr>
      </p:sp>
      <p:sp>
        <p:nvSpPr>
          <p:cNvPr id="41" name="Text 39"/>
          <p:cNvSpPr/>
          <p:nvPr/>
        </p:nvSpPr>
        <p:spPr>
          <a:xfrm>
            <a:off x="365760" y="5212080"/>
            <a:ext cx="8449056" cy="347472"/>
          </a:xfrm>
          <a:prstGeom prst="rect">
            <a:avLst/>
          </a:prstGeom>
          <a:noFill/>
          <a:ln/>
        </p:spPr>
        <p:txBody>
          <a:bodyPr wrap="square" lIns="0" tIns="0" rIns="0" bIns="0" rtlCol="0" anchor="ctr"/>
          <a:lstStyle/>
          <a:p>
            <a:pPr indent="0" marL="0">
              <a:buNone/>
            </a:pPr>
            <a:r>
              <a:rPr lang="en-US" sz="950" i="1" dirty="0">
                <a:solidFill>
                  <a:srgbClr val="5A3800"/>
                </a:solidFill>
                <a:latin typeface="Calibri" pitchFamily="34" charset="0"/>
                <a:ea typeface="Calibri" pitchFamily="34" charset="-122"/>
                <a:cs typeface="Calibri" pitchFamily="34" charset="-120"/>
              </a:rPr>
              <a:t>APA: A Pearson product-moment correlation was computed to assess the relationship between annual income and credit card spending (N=200). There was a strong, positive correlation, r(198) = .794, p &lt; .001, 95% CI [.735, .841]. Income accounted for 63.1% of the variance in spending (r² = .631).</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6858000" y="-914400"/>
            <a:ext cx="3657600" cy="3657600"/>
          </a:xfrm>
          <a:prstGeom prst="ellipse">
            <a:avLst/>
          </a:prstGeom>
          <a:solidFill>
            <a:srgbClr val="0A7E8C">
              <a:alpha val="16000"/>
            </a:srgbClr>
          </a:solidFill>
          <a:ln w="12700">
            <a:solidFill>
              <a:srgbClr val="0A7E8C"/>
            </a:solidFill>
            <a:prstDash val="solid"/>
          </a:ln>
        </p:spPr>
      </p:sp>
      <p:sp>
        <p:nvSpPr>
          <p:cNvPr id="3" name="Text 1"/>
          <p:cNvSpPr/>
          <p:nvPr/>
        </p:nvSpPr>
        <p:spPr>
          <a:xfrm>
            <a:off x="457200" y="201168"/>
            <a:ext cx="8229600" cy="5943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The Coefficient of Determination - Why r² Matters More than r</a:t>
            </a:r>
            <a:endParaRPr lang="en-US" sz="2600" dirty="0"/>
          </a:p>
        </p:txBody>
      </p:sp>
      <p:sp>
        <p:nvSpPr>
          <p:cNvPr id="4" name="Shape 2"/>
          <p:cNvSpPr/>
          <p:nvPr/>
        </p:nvSpPr>
        <p:spPr>
          <a:xfrm>
            <a:off x="274320" y="914400"/>
            <a:ext cx="8595360" cy="566928"/>
          </a:xfrm>
          <a:prstGeom prst="roundRect">
            <a:avLst>
              <a:gd name="adj" fmla="val 12903"/>
            </a:avLst>
          </a:prstGeom>
          <a:solidFill>
            <a:srgbClr val="0C1428"/>
          </a:solidFill>
          <a:ln w="12700">
            <a:solidFill>
              <a:srgbClr val="14B8C8"/>
            </a:solidFill>
            <a:prstDash val="solid"/>
          </a:ln>
        </p:spPr>
      </p:sp>
      <p:sp>
        <p:nvSpPr>
          <p:cNvPr id="5" name="Text 3"/>
          <p:cNvSpPr/>
          <p:nvPr/>
        </p:nvSpPr>
        <p:spPr>
          <a:xfrm>
            <a:off x="402336" y="969264"/>
            <a:ext cx="8321040" cy="457200"/>
          </a:xfrm>
          <a:prstGeom prst="rect">
            <a:avLst/>
          </a:prstGeom>
          <a:noFill/>
          <a:ln/>
        </p:spPr>
        <p:txBody>
          <a:bodyPr wrap="square" lIns="0" tIns="0" rIns="0" bIns="0" rtlCol="0" anchor="ctr"/>
          <a:lstStyle/>
          <a:p>
            <a:pPr algn="ctr" indent="0" marL="0">
              <a:buNone/>
            </a:pPr>
            <a:r>
              <a:rPr lang="en-US" sz="1400" b="1" dirty="0">
                <a:solidFill>
                  <a:srgbClr val="14B8C8"/>
                </a:solidFill>
                <a:latin typeface="Calibri" pitchFamily="34" charset="0"/>
                <a:ea typeface="Calibri" pitchFamily="34" charset="-122"/>
                <a:cs typeface="Calibri" pitchFamily="34" charset="-120"/>
              </a:rPr>
              <a:t>r² = Proportion of SHARED VARIANCE between X and Y. This is the key metric for PRACTICAL significance.</a:t>
            </a:r>
            <a:endParaRPr lang="en-US" sz="1400" dirty="0"/>
          </a:p>
        </p:txBody>
      </p:sp>
      <p:sp>
        <p:nvSpPr>
          <p:cNvPr id="6" name="Shape 4"/>
          <p:cNvSpPr/>
          <p:nvPr/>
        </p:nvSpPr>
        <p:spPr>
          <a:xfrm>
            <a:off x="274320" y="1572768"/>
            <a:ext cx="1572768" cy="3401568"/>
          </a:xfrm>
          <a:prstGeom prst="roundRect">
            <a:avLst>
              <a:gd name="adj" fmla="val 4651"/>
            </a:avLst>
          </a:prstGeom>
          <a:solidFill>
            <a:srgbClr val="0C1428"/>
          </a:solidFill>
          <a:ln w="12700">
            <a:solidFill>
              <a:srgbClr val="2878F0"/>
            </a:solidFill>
            <a:prstDash val="solid"/>
          </a:ln>
        </p:spPr>
      </p:sp>
      <p:sp>
        <p:nvSpPr>
          <p:cNvPr id="7" name="Shape 5"/>
          <p:cNvSpPr/>
          <p:nvPr/>
        </p:nvSpPr>
        <p:spPr>
          <a:xfrm>
            <a:off x="329184" y="1645920"/>
            <a:ext cx="1463040" cy="310896"/>
          </a:xfrm>
          <a:prstGeom prst="roundRect">
            <a:avLst>
              <a:gd name="adj" fmla="val 14706"/>
            </a:avLst>
          </a:prstGeom>
          <a:solidFill>
            <a:srgbClr val="2878F0"/>
          </a:solidFill>
          <a:ln w="12700">
            <a:solidFill>
              <a:srgbClr val="2878F0"/>
            </a:solidFill>
            <a:prstDash val="solid"/>
          </a:ln>
        </p:spPr>
      </p:sp>
      <p:sp>
        <p:nvSpPr>
          <p:cNvPr id="8" name="Text 6"/>
          <p:cNvSpPr/>
          <p:nvPr/>
        </p:nvSpPr>
        <p:spPr>
          <a:xfrm>
            <a:off x="329184" y="1645920"/>
            <a:ext cx="1463040" cy="310896"/>
          </a:xfrm>
          <a:prstGeom prst="rect">
            <a:avLst/>
          </a:prstGeom>
          <a:noFill/>
          <a:ln/>
        </p:spPr>
        <p:txBody>
          <a:bodyPr wrap="square" lIns="0" tIns="0" rIns="0" bIns="0" rtlCol="0" anchor="ctr"/>
          <a:lstStyle/>
          <a:p>
            <a:pPr algn="ctr" indent="0" marL="0">
              <a:buNone/>
            </a:pPr>
            <a:r>
              <a:rPr lang="en-US" sz="1100" b="1" dirty="0">
                <a:solidFill>
                  <a:srgbClr val="070C18"/>
                </a:solidFill>
                <a:latin typeface="Calibri" pitchFamily="34" charset="0"/>
                <a:ea typeface="Calibri" pitchFamily="34" charset="-122"/>
                <a:cs typeface="Calibri" pitchFamily="34" charset="-120"/>
              </a:rPr>
              <a:t>r = 0.30</a:t>
            </a:r>
            <a:endParaRPr lang="en-US" sz="1100" dirty="0"/>
          </a:p>
        </p:txBody>
      </p:sp>
      <p:sp>
        <p:nvSpPr>
          <p:cNvPr id="9" name="Text 7"/>
          <p:cNvSpPr/>
          <p:nvPr/>
        </p:nvSpPr>
        <p:spPr>
          <a:xfrm>
            <a:off x="347472" y="2011680"/>
            <a:ext cx="1426464" cy="256032"/>
          </a:xfrm>
          <a:prstGeom prst="rect">
            <a:avLst/>
          </a:prstGeom>
          <a:noFill/>
          <a:ln/>
        </p:spPr>
        <p:txBody>
          <a:bodyPr wrap="square" lIns="0" tIns="0" rIns="0" bIns="0" rtlCol="0" anchor="ctr"/>
          <a:lstStyle/>
          <a:p>
            <a:pPr algn="ctr" indent="0" marL="0">
              <a:buNone/>
            </a:pPr>
            <a:r>
              <a:rPr lang="en-US" sz="1200" b="1" dirty="0">
                <a:solidFill>
                  <a:srgbClr val="2878F0"/>
                </a:solidFill>
                <a:latin typeface="Courier New" pitchFamily="34" charset="0"/>
                <a:ea typeface="Courier New" pitchFamily="34" charset="-122"/>
                <a:cs typeface="Courier New" pitchFamily="34" charset="-120"/>
              </a:rPr>
              <a:t>r² = 0.09</a:t>
            </a:r>
            <a:endParaRPr lang="en-US" sz="1200" dirty="0"/>
          </a:p>
        </p:txBody>
      </p:sp>
      <p:sp>
        <p:nvSpPr>
          <p:cNvPr id="10" name="Shape 8"/>
          <p:cNvSpPr/>
          <p:nvPr/>
        </p:nvSpPr>
        <p:spPr>
          <a:xfrm>
            <a:off x="457200" y="4279392"/>
            <a:ext cx="1207008" cy="164592"/>
          </a:xfrm>
          <a:prstGeom prst="roundRect">
            <a:avLst>
              <a:gd name="adj" fmla="val 22222"/>
            </a:avLst>
          </a:prstGeom>
          <a:solidFill>
            <a:srgbClr val="2878F0">
              <a:alpha val="80000"/>
            </a:srgbClr>
          </a:solidFill>
          <a:ln w="12700">
            <a:solidFill>
              <a:srgbClr val="2878F0"/>
            </a:solidFill>
            <a:prstDash val="solid"/>
          </a:ln>
        </p:spPr>
      </p:sp>
      <p:sp>
        <p:nvSpPr>
          <p:cNvPr id="11" name="Shape 9"/>
          <p:cNvSpPr/>
          <p:nvPr/>
        </p:nvSpPr>
        <p:spPr>
          <a:xfrm>
            <a:off x="457200" y="2615184"/>
            <a:ext cx="1207008" cy="1664208"/>
          </a:xfrm>
          <a:prstGeom prst="roundRect">
            <a:avLst>
              <a:gd name="adj" fmla="val 3030"/>
            </a:avLst>
          </a:prstGeom>
          <a:solidFill>
            <a:srgbClr val="0A1420"/>
          </a:solidFill>
          <a:ln w="12700">
            <a:solidFill>
              <a:srgbClr val="0A1420"/>
            </a:solidFill>
            <a:prstDash val="solid"/>
          </a:ln>
        </p:spPr>
      </p:sp>
      <p:sp>
        <p:nvSpPr>
          <p:cNvPr id="12" name="Text 10"/>
          <p:cNvSpPr/>
          <p:nvPr/>
        </p:nvSpPr>
        <p:spPr>
          <a:xfrm>
            <a:off x="329184" y="4023360"/>
            <a:ext cx="1463040" cy="329184"/>
          </a:xfrm>
          <a:prstGeom prst="rect">
            <a:avLst/>
          </a:prstGeom>
          <a:noFill/>
          <a:ln/>
        </p:spPr>
        <p:txBody>
          <a:bodyPr wrap="square" lIns="0" tIns="0" rIns="0" bIns="0" rtlCol="0" anchor="ctr"/>
          <a:lstStyle/>
          <a:p>
            <a:pPr algn="ctr" indent="0" marL="0">
              <a:buNone/>
            </a:pPr>
            <a:r>
              <a:rPr lang="en-US" sz="850" b="1" dirty="0">
                <a:solidFill>
                  <a:srgbClr val="2878F0"/>
                </a:solidFill>
                <a:latin typeface="Calibri" pitchFamily="34" charset="0"/>
                <a:ea typeface="Calibri" pitchFamily="34" charset="-122"/>
                <a:cs typeface="Calibri" pitchFamily="34" charset="-120"/>
              </a:rPr>
              <a:t>9% shared</a:t>
            </a:r>
            <a:endParaRPr lang="en-US" sz="850" dirty="0"/>
          </a:p>
        </p:txBody>
      </p:sp>
      <p:sp>
        <p:nvSpPr>
          <p:cNvPr id="13" name="Text 11"/>
          <p:cNvSpPr/>
          <p:nvPr/>
        </p:nvSpPr>
        <p:spPr>
          <a:xfrm>
            <a:off x="329184" y="2633472"/>
            <a:ext cx="1463040" cy="329184"/>
          </a:xfrm>
          <a:prstGeom prst="rect">
            <a:avLst/>
          </a:prstGeom>
          <a:noFill/>
          <a:ln/>
        </p:spPr>
        <p:txBody>
          <a:bodyPr wrap="square" lIns="0" tIns="0" rIns="0" bIns="0"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91% unique</a:t>
            </a:r>
            <a:endParaRPr lang="en-US" sz="750" dirty="0"/>
          </a:p>
        </p:txBody>
      </p:sp>
      <p:sp>
        <p:nvSpPr>
          <p:cNvPr id="14" name="Text 12"/>
          <p:cNvSpPr/>
          <p:nvPr/>
        </p:nvSpPr>
        <p:spPr>
          <a:xfrm>
            <a:off x="329184" y="4663440"/>
            <a:ext cx="1463040" cy="384048"/>
          </a:xfrm>
          <a:prstGeom prst="rect">
            <a:avLst/>
          </a:prstGeom>
          <a:noFill/>
          <a:ln/>
        </p:spPr>
        <p:txBody>
          <a:bodyPr wrap="square" lIns="0" tIns="0" rIns="0" bIns="0" rtlCol="0" anchor="ctr"/>
          <a:lstStyle/>
          <a:p>
            <a:pPr algn="ctr" indent="0" marL="0">
              <a:buNone/>
            </a:pPr>
            <a:r>
              <a:rPr lang="en-US" sz="750" dirty="0">
                <a:solidFill>
                  <a:srgbClr val="90D8E0"/>
                </a:solidFill>
                <a:latin typeface="Calibri" pitchFamily="34" charset="0"/>
                <a:ea typeface="Calibri" pitchFamily="34" charset="-122"/>
                <a:cs typeface="Calibri" pitchFamily="34" charset="-120"/>
              </a:rPr>
              <a:t>'Significant' r can mean almost nothing practically. Only 9% shared variance.</a:t>
            </a:r>
            <a:endParaRPr lang="en-US" sz="750" dirty="0"/>
          </a:p>
        </p:txBody>
      </p:sp>
      <p:sp>
        <p:nvSpPr>
          <p:cNvPr id="15" name="Shape 13"/>
          <p:cNvSpPr/>
          <p:nvPr/>
        </p:nvSpPr>
        <p:spPr>
          <a:xfrm>
            <a:off x="1975104" y="1572768"/>
            <a:ext cx="1572768" cy="3401568"/>
          </a:xfrm>
          <a:prstGeom prst="roundRect">
            <a:avLst>
              <a:gd name="adj" fmla="val 4651"/>
            </a:avLst>
          </a:prstGeom>
          <a:solidFill>
            <a:srgbClr val="0C1428"/>
          </a:solidFill>
          <a:ln w="12700">
            <a:solidFill>
              <a:srgbClr val="14B8C8"/>
            </a:solidFill>
            <a:prstDash val="solid"/>
          </a:ln>
        </p:spPr>
      </p:sp>
      <p:sp>
        <p:nvSpPr>
          <p:cNvPr id="16" name="Shape 14"/>
          <p:cNvSpPr/>
          <p:nvPr/>
        </p:nvSpPr>
        <p:spPr>
          <a:xfrm>
            <a:off x="2029968" y="1645920"/>
            <a:ext cx="1463040" cy="310896"/>
          </a:xfrm>
          <a:prstGeom prst="roundRect">
            <a:avLst>
              <a:gd name="adj" fmla="val 14706"/>
            </a:avLst>
          </a:prstGeom>
          <a:solidFill>
            <a:srgbClr val="14B8C8"/>
          </a:solidFill>
          <a:ln w="12700">
            <a:solidFill>
              <a:srgbClr val="14B8C8"/>
            </a:solidFill>
            <a:prstDash val="solid"/>
          </a:ln>
        </p:spPr>
      </p:sp>
      <p:sp>
        <p:nvSpPr>
          <p:cNvPr id="17" name="Text 15"/>
          <p:cNvSpPr/>
          <p:nvPr/>
        </p:nvSpPr>
        <p:spPr>
          <a:xfrm>
            <a:off x="2029968" y="1645920"/>
            <a:ext cx="1463040" cy="310896"/>
          </a:xfrm>
          <a:prstGeom prst="rect">
            <a:avLst/>
          </a:prstGeom>
          <a:noFill/>
          <a:ln/>
        </p:spPr>
        <p:txBody>
          <a:bodyPr wrap="square" lIns="0" tIns="0" rIns="0" bIns="0" rtlCol="0" anchor="ctr"/>
          <a:lstStyle/>
          <a:p>
            <a:pPr algn="ctr" indent="0" marL="0">
              <a:buNone/>
            </a:pPr>
            <a:r>
              <a:rPr lang="en-US" sz="1100" b="1" dirty="0">
                <a:solidFill>
                  <a:srgbClr val="070C18"/>
                </a:solidFill>
                <a:latin typeface="Calibri" pitchFamily="34" charset="0"/>
                <a:ea typeface="Calibri" pitchFamily="34" charset="-122"/>
                <a:cs typeface="Calibri" pitchFamily="34" charset="-120"/>
              </a:rPr>
              <a:t>r = 0.50</a:t>
            </a:r>
            <a:endParaRPr lang="en-US" sz="1100" dirty="0"/>
          </a:p>
        </p:txBody>
      </p:sp>
      <p:sp>
        <p:nvSpPr>
          <p:cNvPr id="18" name="Text 16"/>
          <p:cNvSpPr/>
          <p:nvPr/>
        </p:nvSpPr>
        <p:spPr>
          <a:xfrm>
            <a:off x="2048256" y="2011680"/>
            <a:ext cx="1426464" cy="256032"/>
          </a:xfrm>
          <a:prstGeom prst="rect">
            <a:avLst/>
          </a:prstGeom>
          <a:noFill/>
          <a:ln/>
        </p:spPr>
        <p:txBody>
          <a:bodyPr wrap="square" lIns="0" tIns="0" rIns="0" bIns="0" rtlCol="0" anchor="ctr"/>
          <a:lstStyle/>
          <a:p>
            <a:pPr algn="ctr" indent="0" marL="0">
              <a:buNone/>
            </a:pPr>
            <a:r>
              <a:rPr lang="en-US" sz="1200" b="1" dirty="0">
                <a:solidFill>
                  <a:srgbClr val="14B8C8"/>
                </a:solidFill>
                <a:latin typeface="Courier New" pitchFamily="34" charset="0"/>
                <a:ea typeface="Courier New" pitchFamily="34" charset="-122"/>
                <a:cs typeface="Courier New" pitchFamily="34" charset="-120"/>
              </a:rPr>
              <a:t>r² = 0.25</a:t>
            </a:r>
            <a:endParaRPr lang="en-US" sz="1200" dirty="0"/>
          </a:p>
        </p:txBody>
      </p:sp>
      <p:sp>
        <p:nvSpPr>
          <p:cNvPr id="19" name="Shape 17"/>
          <p:cNvSpPr/>
          <p:nvPr/>
        </p:nvSpPr>
        <p:spPr>
          <a:xfrm>
            <a:off x="2157984" y="3986784"/>
            <a:ext cx="1207008" cy="457200"/>
          </a:xfrm>
          <a:prstGeom prst="roundRect">
            <a:avLst>
              <a:gd name="adj" fmla="val 8000"/>
            </a:avLst>
          </a:prstGeom>
          <a:solidFill>
            <a:srgbClr val="14B8C8">
              <a:alpha val="80000"/>
            </a:srgbClr>
          </a:solidFill>
          <a:ln w="12700">
            <a:solidFill>
              <a:srgbClr val="14B8C8"/>
            </a:solidFill>
            <a:prstDash val="solid"/>
          </a:ln>
        </p:spPr>
      </p:sp>
      <p:sp>
        <p:nvSpPr>
          <p:cNvPr id="20" name="Shape 18"/>
          <p:cNvSpPr/>
          <p:nvPr/>
        </p:nvSpPr>
        <p:spPr>
          <a:xfrm>
            <a:off x="2157984" y="2615184"/>
            <a:ext cx="1207008" cy="1371600"/>
          </a:xfrm>
          <a:prstGeom prst="roundRect">
            <a:avLst>
              <a:gd name="adj" fmla="val 3030"/>
            </a:avLst>
          </a:prstGeom>
          <a:solidFill>
            <a:srgbClr val="0A1420"/>
          </a:solidFill>
          <a:ln w="12700">
            <a:solidFill>
              <a:srgbClr val="0A1420"/>
            </a:solidFill>
            <a:prstDash val="solid"/>
          </a:ln>
        </p:spPr>
      </p:sp>
      <p:sp>
        <p:nvSpPr>
          <p:cNvPr id="21" name="Text 19"/>
          <p:cNvSpPr/>
          <p:nvPr/>
        </p:nvSpPr>
        <p:spPr>
          <a:xfrm>
            <a:off x="2029968" y="4023360"/>
            <a:ext cx="1463040" cy="329184"/>
          </a:xfrm>
          <a:prstGeom prst="rect">
            <a:avLst/>
          </a:prstGeom>
          <a:noFill/>
          <a:ln/>
        </p:spPr>
        <p:txBody>
          <a:bodyPr wrap="square" lIns="0" tIns="0" rIns="0" bIns="0" rtlCol="0" anchor="ctr"/>
          <a:lstStyle/>
          <a:p>
            <a:pPr algn="ctr" indent="0" marL="0">
              <a:buNone/>
            </a:pPr>
            <a:r>
              <a:rPr lang="en-US" sz="850" b="1" dirty="0">
                <a:solidFill>
                  <a:srgbClr val="14B8C8"/>
                </a:solidFill>
                <a:latin typeface="Calibri" pitchFamily="34" charset="0"/>
                <a:ea typeface="Calibri" pitchFamily="34" charset="-122"/>
                <a:cs typeface="Calibri" pitchFamily="34" charset="-120"/>
              </a:rPr>
              <a:t>25% shared</a:t>
            </a:r>
            <a:endParaRPr lang="en-US" sz="850" dirty="0"/>
          </a:p>
        </p:txBody>
      </p:sp>
      <p:sp>
        <p:nvSpPr>
          <p:cNvPr id="22" name="Text 20"/>
          <p:cNvSpPr/>
          <p:nvPr/>
        </p:nvSpPr>
        <p:spPr>
          <a:xfrm>
            <a:off x="2029968" y="2633472"/>
            <a:ext cx="1463040" cy="329184"/>
          </a:xfrm>
          <a:prstGeom prst="rect">
            <a:avLst/>
          </a:prstGeom>
          <a:noFill/>
          <a:ln/>
        </p:spPr>
        <p:txBody>
          <a:bodyPr wrap="square" lIns="0" tIns="0" rIns="0" bIns="0"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75% unique</a:t>
            </a:r>
            <a:endParaRPr lang="en-US" sz="750" dirty="0"/>
          </a:p>
        </p:txBody>
      </p:sp>
      <p:sp>
        <p:nvSpPr>
          <p:cNvPr id="23" name="Text 21"/>
          <p:cNvSpPr/>
          <p:nvPr/>
        </p:nvSpPr>
        <p:spPr>
          <a:xfrm>
            <a:off x="2029968" y="4663440"/>
            <a:ext cx="1463040" cy="384048"/>
          </a:xfrm>
          <a:prstGeom prst="rect">
            <a:avLst/>
          </a:prstGeom>
          <a:noFill/>
          <a:ln/>
        </p:spPr>
        <p:txBody>
          <a:bodyPr wrap="square" lIns="0" tIns="0" rIns="0" bIns="0" rtlCol="0" anchor="ctr"/>
          <a:lstStyle/>
          <a:p>
            <a:pPr algn="ctr" indent="0" marL="0">
              <a:buNone/>
            </a:pPr>
            <a:r>
              <a:rPr lang="en-US" sz="750" dirty="0">
                <a:solidFill>
                  <a:srgbClr val="90D8E0"/>
                </a:solidFill>
                <a:latin typeface="Calibri" pitchFamily="34" charset="0"/>
                <a:ea typeface="Calibri" pitchFamily="34" charset="-122"/>
                <a:cs typeface="Calibri" pitchFamily="34" charset="-120"/>
              </a:rPr>
              <a:t>'Moderate' correlation. Still only 1/4 of variance shared. Often overestimated.</a:t>
            </a:r>
            <a:endParaRPr lang="en-US" sz="750" dirty="0"/>
          </a:p>
        </p:txBody>
      </p:sp>
      <p:sp>
        <p:nvSpPr>
          <p:cNvPr id="24" name="Shape 22"/>
          <p:cNvSpPr/>
          <p:nvPr/>
        </p:nvSpPr>
        <p:spPr>
          <a:xfrm>
            <a:off x="3675888" y="1572768"/>
            <a:ext cx="1572768" cy="3401568"/>
          </a:xfrm>
          <a:prstGeom prst="roundRect">
            <a:avLst>
              <a:gd name="adj" fmla="val 4651"/>
            </a:avLst>
          </a:prstGeom>
          <a:solidFill>
            <a:srgbClr val="0C1428"/>
          </a:solidFill>
          <a:ln w="12700">
            <a:solidFill>
              <a:srgbClr val="D4A010"/>
            </a:solidFill>
            <a:prstDash val="solid"/>
          </a:ln>
        </p:spPr>
      </p:sp>
      <p:sp>
        <p:nvSpPr>
          <p:cNvPr id="25" name="Shape 23"/>
          <p:cNvSpPr/>
          <p:nvPr/>
        </p:nvSpPr>
        <p:spPr>
          <a:xfrm>
            <a:off x="3730752" y="1645920"/>
            <a:ext cx="1463040" cy="310896"/>
          </a:xfrm>
          <a:prstGeom prst="roundRect">
            <a:avLst>
              <a:gd name="adj" fmla="val 14706"/>
            </a:avLst>
          </a:prstGeom>
          <a:solidFill>
            <a:srgbClr val="D4A010"/>
          </a:solidFill>
          <a:ln w="12700">
            <a:solidFill>
              <a:srgbClr val="D4A010"/>
            </a:solidFill>
            <a:prstDash val="solid"/>
          </a:ln>
        </p:spPr>
      </p:sp>
      <p:sp>
        <p:nvSpPr>
          <p:cNvPr id="26" name="Text 24"/>
          <p:cNvSpPr/>
          <p:nvPr/>
        </p:nvSpPr>
        <p:spPr>
          <a:xfrm>
            <a:off x="3730752" y="1645920"/>
            <a:ext cx="1463040" cy="310896"/>
          </a:xfrm>
          <a:prstGeom prst="rect">
            <a:avLst/>
          </a:prstGeom>
          <a:noFill/>
          <a:ln/>
        </p:spPr>
        <p:txBody>
          <a:bodyPr wrap="square" lIns="0" tIns="0" rIns="0" bIns="0" rtlCol="0" anchor="ctr"/>
          <a:lstStyle/>
          <a:p>
            <a:pPr algn="ctr" indent="0" marL="0">
              <a:buNone/>
            </a:pPr>
            <a:r>
              <a:rPr lang="en-US" sz="1100" b="1" dirty="0">
                <a:solidFill>
                  <a:srgbClr val="070C18"/>
                </a:solidFill>
                <a:latin typeface="Calibri" pitchFamily="34" charset="0"/>
                <a:ea typeface="Calibri" pitchFamily="34" charset="-122"/>
                <a:cs typeface="Calibri" pitchFamily="34" charset="-120"/>
              </a:rPr>
              <a:t>r = 0.70</a:t>
            </a:r>
            <a:endParaRPr lang="en-US" sz="1100" dirty="0"/>
          </a:p>
        </p:txBody>
      </p:sp>
      <p:sp>
        <p:nvSpPr>
          <p:cNvPr id="27" name="Text 25"/>
          <p:cNvSpPr/>
          <p:nvPr/>
        </p:nvSpPr>
        <p:spPr>
          <a:xfrm>
            <a:off x="3749040" y="2011680"/>
            <a:ext cx="1426464" cy="256032"/>
          </a:xfrm>
          <a:prstGeom prst="rect">
            <a:avLst/>
          </a:prstGeom>
          <a:noFill/>
          <a:ln/>
        </p:spPr>
        <p:txBody>
          <a:bodyPr wrap="square" lIns="0" tIns="0" rIns="0" bIns="0" rtlCol="0" anchor="ctr"/>
          <a:lstStyle/>
          <a:p>
            <a:pPr algn="ctr" indent="0" marL="0">
              <a:buNone/>
            </a:pPr>
            <a:r>
              <a:rPr lang="en-US" sz="1200" b="1" dirty="0">
                <a:solidFill>
                  <a:srgbClr val="D4A010"/>
                </a:solidFill>
                <a:latin typeface="Courier New" pitchFamily="34" charset="0"/>
                <a:ea typeface="Courier New" pitchFamily="34" charset="-122"/>
                <a:cs typeface="Courier New" pitchFamily="34" charset="-120"/>
              </a:rPr>
              <a:t>r² = 0.49</a:t>
            </a:r>
            <a:endParaRPr lang="en-US" sz="1200" dirty="0"/>
          </a:p>
        </p:txBody>
      </p:sp>
      <p:sp>
        <p:nvSpPr>
          <p:cNvPr id="28" name="Shape 26"/>
          <p:cNvSpPr/>
          <p:nvPr/>
        </p:nvSpPr>
        <p:spPr>
          <a:xfrm>
            <a:off x="3858768" y="3547872"/>
            <a:ext cx="1207008" cy="896112"/>
          </a:xfrm>
          <a:prstGeom prst="roundRect">
            <a:avLst>
              <a:gd name="adj" fmla="val 4082"/>
            </a:avLst>
          </a:prstGeom>
          <a:solidFill>
            <a:srgbClr val="D4A010">
              <a:alpha val="80000"/>
            </a:srgbClr>
          </a:solidFill>
          <a:ln w="12700">
            <a:solidFill>
              <a:srgbClr val="D4A010"/>
            </a:solidFill>
            <a:prstDash val="solid"/>
          </a:ln>
        </p:spPr>
      </p:sp>
      <p:sp>
        <p:nvSpPr>
          <p:cNvPr id="29" name="Shape 27"/>
          <p:cNvSpPr/>
          <p:nvPr/>
        </p:nvSpPr>
        <p:spPr>
          <a:xfrm>
            <a:off x="3858768" y="2615184"/>
            <a:ext cx="1207008" cy="932688"/>
          </a:xfrm>
          <a:prstGeom prst="roundRect">
            <a:avLst>
              <a:gd name="adj" fmla="val 3922"/>
            </a:avLst>
          </a:prstGeom>
          <a:solidFill>
            <a:srgbClr val="0A1420"/>
          </a:solidFill>
          <a:ln w="12700">
            <a:solidFill>
              <a:srgbClr val="0A1420"/>
            </a:solidFill>
            <a:prstDash val="solid"/>
          </a:ln>
        </p:spPr>
      </p:sp>
      <p:sp>
        <p:nvSpPr>
          <p:cNvPr id="30" name="Text 28"/>
          <p:cNvSpPr/>
          <p:nvPr/>
        </p:nvSpPr>
        <p:spPr>
          <a:xfrm>
            <a:off x="3730752" y="4023360"/>
            <a:ext cx="1463040" cy="329184"/>
          </a:xfrm>
          <a:prstGeom prst="rect">
            <a:avLst/>
          </a:prstGeom>
          <a:noFill/>
          <a:ln/>
        </p:spPr>
        <p:txBody>
          <a:bodyPr wrap="square" lIns="0" tIns="0" rIns="0" bIns="0" rtlCol="0" anchor="ctr"/>
          <a:lstStyle/>
          <a:p>
            <a:pPr algn="ctr" indent="0" marL="0">
              <a:buNone/>
            </a:pPr>
            <a:r>
              <a:rPr lang="en-US" sz="850" b="1" dirty="0">
                <a:solidFill>
                  <a:srgbClr val="D4A010"/>
                </a:solidFill>
                <a:latin typeface="Calibri" pitchFamily="34" charset="0"/>
                <a:ea typeface="Calibri" pitchFamily="34" charset="-122"/>
                <a:cs typeface="Calibri" pitchFamily="34" charset="-120"/>
              </a:rPr>
              <a:t>49% shared</a:t>
            </a:r>
            <a:endParaRPr lang="en-US" sz="850" dirty="0"/>
          </a:p>
        </p:txBody>
      </p:sp>
      <p:sp>
        <p:nvSpPr>
          <p:cNvPr id="31" name="Text 29"/>
          <p:cNvSpPr/>
          <p:nvPr/>
        </p:nvSpPr>
        <p:spPr>
          <a:xfrm>
            <a:off x="3730752" y="2633472"/>
            <a:ext cx="1463040" cy="329184"/>
          </a:xfrm>
          <a:prstGeom prst="rect">
            <a:avLst/>
          </a:prstGeom>
          <a:noFill/>
          <a:ln/>
        </p:spPr>
        <p:txBody>
          <a:bodyPr wrap="square" lIns="0" tIns="0" rIns="0" bIns="0"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51% unique</a:t>
            </a:r>
            <a:endParaRPr lang="en-US" sz="750" dirty="0"/>
          </a:p>
        </p:txBody>
      </p:sp>
      <p:sp>
        <p:nvSpPr>
          <p:cNvPr id="32" name="Text 30"/>
          <p:cNvSpPr/>
          <p:nvPr/>
        </p:nvSpPr>
        <p:spPr>
          <a:xfrm>
            <a:off x="3730752" y="4663440"/>
            <a:ext cx="1463040" cy="384048"/>
          </a:xfrm>
          <a:prstGeom prst="rect">
            <a:avLst/>
          </a:prstGeom>
          <a:noFill/>
          <a:ln/>
        </p:spPr>
        <p:txBody>
          <a:bodyPr wrap="square" lIns="0" tIns="0" rIns="0" bIns="0" rtlCol="0" anchor="ctr"/>
          <a:lstStyle/>
          <a:p>
            <a:pPr algn="ctr" indent="0" marL="0">
              <a:buNone/>
            </a:pPr>
            <a:r>
              <a:rPr lang="en-US" sz="750" dirty="0">
                <a:solidFill>
                  <a:srgbClr val="90D8E0"/>
                </a:solidFill>
                <a:latin typeface="Calibri" pitchFamily="34" charset="0"/>
                <a:ea typeface="Calibri" pitchFamily="34" charset="-122"/>
                <a:cs typeface="Calibri" pitchFamily="34" charset="-120"/>
              </a:rPr>
              <a:t>'Strong' correlation. Nearly half variance shared. Practically important.</a:t>
            </a:r>
            <a:endParaRPr lang="en-US" sz="750" dirty="0"/>
          </a:p>
        </p:txBody>
      </p:sp>
      <p:sp>
        <p:nvSpPr>
          <p:cNvPr id="33" name="Shape 31"/>
          <p:cNvSpPr/>
          <p:nvPr/>
        </p:nvSpPr>
        <p:spPr>
          <a:xfrm>
            <a:off x="5376672" y="1572768"/>
            <a:ext cx="1572768" cy="3401568"/>
          </a:xfrm>
          <a:prstGeom prst="roundRect">
            <a:avLst>
              <a:gd name="adj" fmla="val 4651"/>
            </a:avLst>
          </a:prstGeom>
          <a:solidFill>
            <a:srgbClr val="0C1428"/>
          </a:solidFill>
          <a:ln w="12700">
            <a:solidFill>
              <a:srgbClr val="E07010"/>
            </a:solidFill>
            <a:prstDash val="solid"/>
          </a:ln>
        </p:spPr>
      </p:sp>
      <p:sp>
        <p:nvSpPr>
          <p:cNvPr id="34" name="Shape 32"/>
          <p:cNvSpPr/>
          <p:nvPr/>
        </p:nvSpPr>
        <p:spPr>
          <a:xfrm>
            <a:off x="5431536" y="1645920"/>
            <a:ext cx="1463040" cy="310896"/>
          </a:xfrm>
          <a:prstGeom prst="roundRect">
            <a:avLst>
              <a:gd name="adj" fmla="val 14706"/>
            </a:avLst>
          </a:prstGeom>
          <a:solidFill>
            <a:srgbClr val="E07010"/>
          </a:solidFill>
          <a:ln w="12700">
            <a:solidFill>
              <a:srgbClr val="E07010"/>
            </a:solidFill>
            <a:prstDash val="solid"/>
          </a:ln>
        </p:spPr>
      </p:sp>
      <p:sp>
        <p:nvSpPr>
          <p:cNvPr id="35" name="Text 33"/>
          <p:cNvSpPr/>
          <p:nvPr/>
        </p:nvSpPr>
        <p:spPr>
          <a:xfrm>
            <a:off x="5431536" y="1645920"/>
            <a:ext cx="1463040" cy="310896"/>
          </a:xfrm>
          <a:prstGeom prst="rect">
            <a:avLst/>
          </a:prstGeom>
          <a:noFill/>
          <a:ln/>
        </p:spPr>
        <p:txBody>
          <a:bodyPr wrap="square" lIns="0" tIns="0" rIns="0" bIns="0" rtlCol="0" anchor="ctr"/>
          <a:lstStyle/>
          <a:p>
            <a:pPr algn="ctr" indent="0" marL="0">
              <a:buNone/>
            </a:pPr>
            <a:r>
              <a:rPr lang="en-US" sz="1100" b="1" dirty="0">
                <a:solidFill>
                  <a:srgbClr val="070C18"/>
                </a:solidFill>
                <a:latin typeface="Calibri" pitchFamily="34" charset="0"/>
                <a:ea typeface="Calibri" pitchFamily="34" charset="-122"/>
                <a:cs typeface="Calibri" pitchFamily="34" charset="-120"/>
              </a:rPr>
              <a:t>r = 0.80</a:t>
            </a:r>
            <a:endParaRPr lang="en-US" sz="1100" dirty="0"/>
          </a:p>
        </p:txBody>
      </p:sp>
      <p:sp>
        <p:nvSpPr>
          <p:cNvPr id="36" name="Text 34"/>
          <p:cNvSpPr/>
          <p:nvPr/>
        </p:nvSpPr>
        <p:spPr>
          <a:xfrm>
            <a:off x="5449824" y="2011680"/>
            <a:ext cx="1426464" cy="256032"/>
          </a:xfrm>
          <a:prstGeom prst="rect">
            <a:avLst/>
          </a:prstGeom>
          <a:noFill/>
          <a:ln/>
        </p:spPr>
        <p:txBody>
          <a:bodyPr wrap="square" lIns="0" tIns="0" rIns="0" bIns="0" rtlCol="0" anchor="ctr"/>
          <a:lstStyle/>
          <a:p>
            <a:pPr algn="ctr" indent="0" marL="0">
              <a:buNone/>
            </a:pPr>
            <a:r>
              <a:rPr lang="en-US" sz="1200" b="1" dirty="0">
                <a:solidFill>
                  <a:srgbClr val="E07010"/>
                </a:solidFill>
                <a:latin typeface="Courier New" pitchFamily="34" charset="0"/>
                <a:ea typeface="Courier New" pitchFamily="34" charset="-122"/>
                <a:cs typeface="Courier New" pitchFamily="34" charset="-120"/>
              </a:rPr>
              <a:t>r² = 0.64</a:t>
            </a:r>
            <a:endParaRPr lang="en-US" sz="1200" dirty="0"/>
          </a:p>
        </p:txBody>
      </p:sp>
      <p:sp>
        <p:nvSpPr>
          <p:cNvPr id="37" name="Shape 35"/>
          <p:cNvSpPr/>
          <p:nvPr/>
        </p:nvSpPr>
        <p:spPr>
          <a:xfrm>
            <a:off x="5559552" y="3273552"/>
            <a:ext cx="1207008" cy="1170432"/>
          </a:xfrm>
          <a:prstGeom prst="roundRect">
            <a:avLst>
              <a:gd name="adj" fmla="val 3125"/>
            </a:avLst>
          </a:prstGeom>
          <a:solidFill>
            <a:srgbClr val="E07010">
              <a:alpha val="80000"/>
            </a:srgbClr>
          </a:solidFill>
          <a:ln w="12700">
            <a:solidFill>
              <a:srgbClr val="E07010"/>
            </a:solidFill>
            <a:prstDash val="solid"/>
          </a:ln>
        </p:spPr>
      </p:sp>
      <p:sp>
        <p:nvSpPr>
          <p:cNvPr id="38" name="Shape 36"/>
          <p:cNvSpPr/>
          <p:nvPr/>
        </p:nvSpPr>
        <p:spPr>
          <a:xfrm>
            <a:off x="5559552" y="2615184"/>
            <a:ext cx="1207008" cy="658368"/>
          </a:xfrm>
          <a:prstGeom prst="roundRect">
            <a:avLst>
              <a:gd name="adj" fmla="val 5556"/>
            </a:avLst>
          </a:prstGeom>
          <a:solidFill>
            <a:srgbClr val="0A1420"/>
          </a:solidFill>
          <a:ln w="12700">
            <a:solidFill>
              <a:srgbClr val="0A1420"/>
            </a:solidFill>
            <a:prstDash val="solid"/>
          </a:ln>
        </p:spPr>
      </p:sp>
      <p:sp>
        <p:nvSpPr>
          <p:cNvPr id="39" name="Text 37"/>
          <p:cNvSpPr/>
          <p:nvPr/>
        </p:nvSpPr>
        <p:spPr>
          <a:xfrm>
            <a:off x="5431536" y="4023360"/>
            <a:ext cx="1463040" cy="329184"/>
          </a:xfrm>
          <a:prstGeom prst="rect">
            <a:avLst/>
          </a:prstGeom>
          <a:noFill/>
          <a:ln/>
        </p:spPr>
        <p:txBody>
          <a:bodyPr wrap="square" lIns="0" tIns="0" rIns="0" bIns="0" rtlCol="0" anchor="ctr"/>
          <a:lstStyle/>
          <a:p>
            <a:pPr algn="ctr" indent="0" marL="0">
              <a:buNone/>
            </a:pPr>
            <a:r>
              <a:rPr lang="en-US" sz="850" b="1" dirty="0">
                <a:solidFill>
                  <a:srgbClr val="E07010"/>
                </a:solidFill>
                <a:latin typeface="Calibri" pitchFamily="34" charset="0"/>
                <a:ea typeface="Calibri" pitchFamily="34" charset="-122"/>
                <a:cs typeface="Calibri" pitchFamily="34" charset="-120"/>
              </a:rPr>
              <a:t>64% shared</a:t>
            </a:r>
            <a:endParaRPr lang="en-US" sz="850" dirty="0"/>
          </a:p>
        </p:txBody>
      </p:sp>
      <p:sp>
        <p:nvSpPr>
          <p:cNvPr id="40" name="Text 38"/>
          <p:cNvSpPr/>
          <p:nvPr/>
        </p:nvSpPr>
        <p:spPr>
          <a:xfrm>
            <a:off x="5431536" y="2633472"/>
            <a:ext cx="1463040" cy="329184"/>
          </a:xfrm>
          <a:prstGeom prst="rect">
            <a:avLst/>
          </a:prstGeom>
          <a:noFill/>
          <a:ln/>
        </p:spPr>
        <p:txBody>
          <a:bodyPr wrap="square" lIns="0" tIns="0" rIns="0" bIns="0"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36% unique</a:t>
            </a:r>
            <a:endParaRPr lang="en-US" sz="750" dirty="0"/>
          </a:p>
        </p:txBody>
      </p:sp>
      <p:sp>
        <p:nvSpPr>
          <p:cNvPr id="41" name="Text 39"/>
          <p:cNvSpPr/>
          <p:nvPr/>
        </p:nvSpPr>
        <p:spPr>
          <a:xfrm>
            <a:off x="5431536" y="4663440"/>
            <a:ext cx="1463040" cy="384048"/>
          </a:xfrm>
          <a:prstGeom prst="rect">
            <a:avLst/>
          </a:prstGeom>
          <a:noFill/>
          <a:ln/>
        </p:spPr>
        <p:txBody>
          <a:bodyPr wrap="square" lIns="0" tIns="0" rIns="0" bIns="0" rtlCol="0" anchor="ctr"/>
          <a:lstStyle/>
          <a:p>
            <a:pPr algn="ctr" indent="0" marL="0">
              <a:buNone/>
            </a:pPr>
            <a:r>
              <a:rPr lang="en-US" sz="750" dirty="0">
                <a:solidFill>
                  <a:srgbClr val="90D8E0"/>
                </a:solidFill>
                <a:latin typeface="Calibri" pitchFamily="34" charset="0"/>
                <a:ea typeface="Calibri" pitchFamily="34" charset="-122"/>
                <a:cs typeface="Calibri" pitchFamily="34" charset="-120"/>
              </a:rPr>
              <a:t>'Very strong'. Nearly 2/3 shared variance. Genuine strong relationship.</a:t>
            </a:r>
            <a:endParaRPr lang="en-US" sz="750" dirty="0"/>
          </a:p>
        </p:txBody>
      </p:sp>
      <p:sp>
        <p:nvSpPr>
          <p:cNvPr id="42" name="Shape 40"/>
          <p:cNvSpPr/>
          <p:nvPr/>
        </p:nvSpPr>
        <p:spPr>
          <a:xfrm>
            <a:off x="7077456" y="1572768"/>
            <a:ext cx="1572768" cy="3401568"/>
          </a:xfrm>
          <a:prstGeom prst="roundRect">
            <a:avLst>
              <a:gd name="adj" fmla="val 4651"/>
            </a:avLst>
          </a:prstGeom>
          <a:solidFill>
            <a:srgbClr val="0C1428"/>
          </a:solidFill>
          <a:ln w="12700">
            <a:solidFill>
              <a:srgbClr val="14C870"/>
            </a:solidFill>
            <a:prstDash val="solid"/>
          </a:ln>
        </p:spPr>
      </p:sp>
      <p:sp>
        <p:nvSpPr>
          <p:cNvPr id="43" name="Shape 41"/>
          <p:cNvSpPr/>
          <p:nvPr/>
        </p:nvSpPr>
        <p:spPr>
          <a:xfrm>
            <a:off x="7132320" y="1645920"/>
            <a:ext cx="1463040" cy="310896"/>
          </a:xfrm>
          <a:prstGeom prst="roundRect">
            <a:avLst>
              <a:gd name="adj" fmla="val 14706"/>
            </a:avLst>
          </a:prstGeom>
          <a:solidFill>
            <a:srgbClr val="14C870"/>
          </a:solidFill>
          <a:ln w="12700">
            <a:solidFill>
              <a:srgbClr val="14C870"/>
            </a:solidFill>
            <a:prstDash val="solid"/>
          </a:ln>
        </p:spPr>
      </p:sp>
      <p:sp>
        <p:nvSpPr>
          <p:cNvPr id="44" name="Text 42"/>
          <p:cNvSpPr/>
          <p:nvPr/>
        </p:nvSpPr>
        <p:spPr>
          <a:xfrm>
            <a:off x="7132320" y="1645920"/>
            <a:ext cx="1463040" cy="310896"/>
          </a:xfrm>
          <a:prstGeom prst="rect">
            <a:avLst/>
          </a:prstGeom>
          <a:noFill/>
          <a:ln/>
        </p:spPr>
        <p:txBody>
          <a:bodyPr wrap="square" lIns="0" tIns="0" rIns="0" bIns="0" rtlCol="0" anchor="ctr"/>
          <a:lstStyle/>
          <a:p>
            <a:pPr algn="ctr" indent="0" marL="0">
              <a:buNone/>
            </a:pPr>
            <a:r>
              <a:rPr lang="en-US" sz="1100" b="1" dirty="0">
                <a:solidFill>
                  <a:srgbClr val="070C18"/>
                </a:solidFill>
                <a:latin typeface="Calibri" pitchFamily="34" charset="0"/>
                <a:ea typeface="Calibri" pitchFamily="34" charset="-122"/>
                <a:cs typeface="Calibri" pitchFamily="34" charset="-120"/>
              </a:rPr>
              <a:t>r = 0.90</a:t>
            </a:r>
            <a:endParaRPr lang="en-US" sz="1100" dirty="0"/>
          </a:p>
        </p:txBody>
      </p:sp>
      <p:sp>
        <p:nvSpPr>
          <p:cNvPr id="45" name="Text 43"/>
          <p:cNvSpPr/>
          <p:nvPr/>
        </p:nvSpPr>
        <p:spPr>
          <a:xfrm>
            <a:off x="7150608" y="2011680"/>
            <a:ext cx="1426464" cy="256032"/>
          </a:xfrm>
          <a:prstGeom prst="rect">
            <a:avLst/>
          </a:prstGeom>
          <a:noFill/>
          <a:ln/>
        </p:spPr>
        <p:txBody>
          <a:bodyPr wrap="square" lIns="0" tIns="0" rIns="0" bIns="0" rtlCol="0" anchor="ctr"/>
          <a:lstStyle/>
          <a:p>
            <a:pPr algn="ctr" indent="0" marL="0">
              <a:buNone/>
            </a:pPr>
            <a:r>
              <a:rPr lang="en-US" sz="1200" b="1" dirty="0">
                <a:solidFill>
                  <a:srgbClr val="14C870"/>
                </a:solidFill>
                <a:latin typeface="Courier New" pitchFamily="34" charset="0"/>
                <a:ea typeface="Courier New" pitchFamily="34" charset="-122"/>
                <a:cs typeface="Courier New" pitchFamily="34" charset="-120"/>
              </a:rPr>
              <a:t>r² = 0.81</a:t>
            </a:r>
            <a:endParaRPr lang="en-US" sz="1200" dirty="0"/>
          </a:p>
        </p:txBody>
      </p:sp>
      <p:sp>
        <p:nvSpPr>
          <p:cNvPr id="46" name="Shape 44"/>
          <p:cNvSpPr/>
          <p:nvPr/>
        </p:nvSpPr>
        <p:spPr>
          <a:xfrm>
            <a:off x="7260336" y="2962656"/>
            <a:ext cx="1207008" cy="1481328"/>
          </a:xfrm>
          <a:prstGeom prst="roundRect">
            <a:avLst>
              <a:gd name="adj" fmla="val 3030"/>
            </a:avLst>
          </a:prstGeom>
          <a:solidFill>
            <a:srgbClr val="14C870">
              <a:alpha val="80000"/>
            </a:srgbClr>
          </a:solidFill>
          <a:ln w="12700">
            <a:solidFill>
              <a:srgbClr val="14C870"/>
            </a:solidFill>
            <a:prstDash val="solid"/>
          </a:ln>
        </p:spPr>
      </p:sp>
      <p:sp>
        <p:nvSpPr>
          <p:cNvPr id="47" name="Shape 45"/>
          <p:cNvSpPr/>
          <p:nvPr/>
        </p:nvSpPr>
        <p:spPr>
          <a:xfrm>
            <a:off x="7260336" y="2615184"/>
            <a:ext cx="1207008" cy="347472"/>
          </a:xfrm>
          <a:prstGeom prst="roundRect">
            <a:avLst>
              <a:gd name="adj" fmla="val 10526"/>
            </a:avLst>
          </a:prstGeom>
          <a:solidFill>
            <a:srgbClr val="0A1420"/>
          </a:solidFill>
          <a:ln w="12700">
            <a:solidFill>
              <a:srgbClr val="0A1420"/>
            </a:solidFill>
            <a:prstDash val="solid"/>
          </a:ln>
        </p:spPr>
      </p:sp>
      <p:sp>
        <p:nvSpPr>
          <p:cNvPr id="48" name="Text 46"/>
          <p:cNvSpPr/>
          <p:nvPr/>
        </p:nvSpPr>
        <p:spPr>
          <a:xfrm>
            <a:off x="7132320" y="4023360"/>
            <a:ext cx="1463040" cy="329184"/>
          </a:xfrm>
          <a:prstGeom prst="rect">
            <a:avLst/>
          </a:prstGeom>
          <a:noFill/>
          <a:ln/>
        </p:spPr>
        <p:txBody>
          <a:bodyPr wrap="square" lIns="0" tIns="0" rIns="0" bIns="0" rtlCol="0" anchor="ctr"/>
          <a:lstStyle/>
          <a:p>
            <a:pPr algn="ctr" indent="0" marL="0">
              <a:buNone/>
            </a:pPr>
            <a:r>
              <a:rPr lang="en-US" sz="850" b="1" dirty="0">
                <a:solidFill>
                  <a:srgbClr val="14C870"/>
                </a:solidFill>
                <a:latin typeface="Calibri" pitchFamily="34" charset="0"/>
                <a:ea typeface="Calibri" pitchFamily="34" charset="-122"/>
                <a:cs typeface="Calibri" pitchFamily="34" charset="-120"/>
              </a:rPr>
              <a:t>81% shared</a:t>
            </a:r>
            <a:endParaRPr lang="en-US" sz="850" dirty="0"/>
          </a:p>
        </p:txBody>
      </p:sp>
      <p:sp>
        <p:nvSpPr>
          <p:cNvPr id="49" name="Text 47"/>
          <p:cNvSpPr/>
          <p:nvPr/>
        </p:nvSpPr>
        <p:spPr>
          <a:xfrm>
            <a:off x="7132320" y="2633472"/>
            <a:ext cx="1463040" cy="329184"/>
          </a:xfrm>
          <a:prstGeom prst="rect">
            <a:avLst/>
          </a:prstGeom>
          <a:noFill/>
          <a:ln/>
        </p:spPr>
        <p:txBody>
          <a:bodyPr wrap="square" lIns="0" tIns="0" rIns="0" bIns="0"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19% unique</a:t>
            </a:r>
            <a:endParaRPr lang="en-US" sz="750" dirty="0"/>
          </a:p>
        </p:txBody>
      </p:sp>
      <p:sp>
        <p:nvSpPr>
          <p:cNvPr id="50" name="Text 48"/>
          <p:cNvSpPr/>
          <p:nvPr/>
        </p:nvSpPr>
        <p:spPr>
          <a:xfrm>
            <a:off x="7132320" y="4663440"/>
            <a:ext cx="1463040" cy="384048"/>
          </a:xfrm>
          <a:prstGeom prst="rect">
            <a:avLst/>
          </a:prstGeom>
          <a:noFill/>
          <a:ln/>
        </p:spPr>
        <p:txBody>
          <a:bodyPr wrap="square" lIns="0" tIns="0" rIns="0" bIns="0" rtlCol="0" anchor="ctr"/>
          <a:lstStyle/>
          <a:p>
            <a:pPr algn="ctr" indent="0" marL="0">
              <a:buNone/>
            </a:pPr>
            <a:r>
              <a:rPr lang="en-US" sz="750" dirty="0">
                <a:solidFill>
                  <a:srgbClr val="90D8E0"/>
                </a:solidFill>
                <a:latin typeface="Calibri" pitchFamily="34" charset="0"/>
                <a:ea typeface="Calibri" pitchFamily="34" charset="-122"/>
                <a:cs typeface="Calibri" pitchFamily="34" charset="-120"/>
              </a:rPr>
              <a:t>'Very strong'. Most variance shared. Check for multicollinearity in regression!</a:t>
            </a:r>
            <a:endParaRPr lang="en-US" sz="750" dirty="0"/>
          </a:p>
        </p:txBody>
      </p:sp>
      <p:sp>
        <p:nvSpPr>
          <p:cNvPr id="51" name="Shape 49"/>
          <p:cNvSpPr/>
          <p:nvPr/>
        </p:nvSpPr>
        <p:spPr>
          <a:xfrm>
            <a:off x="256032" y="5102352"/>
            <a:ext cx="8631936" cy="384048"/>
          </a:xfrm>
          <a:prstGeom prst="roundRect">
            <a:avLst>
              <a:gd name="adj" fmla="val 14286"/>
            </a:avLst>
          </a:prstGeom>
          <a:solidFill>
            <a:srgbClr val="F0ECFF"/>
          </a:solidFill>
          <a:ln w="19050">
            <a:solidFill>
              <a:srgbClr val="6010C8"/>
            </a:solidFill>
            <a:prstDash val="solid"/>
          </a:ln>
        </p:spPr>
      </p:sp>
      <p:sp>
        <p:nvSpPr>
          <p:cNvPr id="52" name="Text 50"/>
          <p:cNvSpPr/>
          <p:nvPr/>
        </p:nvSpPr>
        <p:spPr>
          <a:xfrm>
            <a:off x="365760" y="5102352"/>
            <a:ext cx="8449056" cy="384048"/>
          </a:xfrm>
          <a:prstGeom prst="rect">
            <a:avLst/>
          </a:prstGeom>
          <a:noFill/>
          <a:ln/>
        </p:spPr>
        <p:txBody>
          <a:bodyPr wrap="square" lIns="0" tIns="0" rIns="0" bIns="0" rtlCol="0" anchor="ctr"/>
          <a:lstStyle/>
          <a:p>
            <a:pPr indent="0" marL="0">
              <a:buNone/>
            </a:pPr>
            <a:r>
              <a:rPr lang="en-US" sz="950" dirty="0">
                <a:solidFill>
                  <a:srgbClr val="3A0A8A"/>
                </a:solidFill>
                <a:latin typeface="Calibri" pitchFamily="34" charset="0"/>
                <a:ea typeface="Calibri" pitchFamily="34" charset="-122"/>
                <a:cs typeface="Calibri" pitchFamily="34" charset="-120"/>
              </a:rPr>
              <a:t>KEY: r = 0.30 is 'significant' but r² = 0.09 means only 9% shared variance. Always report r² alongside r. The difference between r=0.50 and r=0.70 in PRACTICAL terms is massive: 25% vs 49% shared variance.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5943600" y="-1371600"/>
            <a:ext cx="5029200" cy="5029200"/>
          </a:xfrm>
          <a:prstGeom prst="ellipse">
            <a:avLst/>
          </a:prstGeom>
          <a:solidFill>
            <a:srgbClr val="0A7E8C">
              <a:alpha val="20000"/>
            </a:srgbClr>
          </a:solidFill>
          <a:ln w="12700">
            <a:solidFill>
              <a:srgbClr val="0A7E8C"/>
            </a:solidFill>
            <a:prstDash val="solid"/>
          </a:ln>
        </p:spPr>
      </p:sp>
      <p:sp>
        <p:nvSpPr>
          <p:cNvPr id="3" name="Shape 1"/>
          <p:cNvSpPr/>
          <p:nvPr/>
        </p:nvSpPr>
        <p:spPr>
          <a:xfrm>
            <a:off x="-1097280" y="3200400"/>
            <a:ext cx="3657600" cy="3657600"/>
          </a:xfrm>
          <a:prstGeom prst="ellipse">
            <a:avLst/>
          </a:prstGeom>
          <a:solidFill>
            <a:srgbClr val="D4A010">
              <a:alpha val="12000"/>
            </a:srgbClr>
          </a:solidFill>
          <a:ln w="12700">
            <a:solidFill>
              <a:srgbClr val="D4A010"/>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0"/>
                </a:solidFill>
                <a:latin typeface="Calibri" pitchFamily="34" charset="0"/>
                <a:ea typeface="Calibri" pitchFamily="34" charset="-122"/>
                <a:cs typeface="Calibri" pitchFamily="34" charset="-120"/>
              </a:rPr>
              <a:t>CORRELATION  |  SECTION 02</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Spearman rho and Kendall Tau</a:t>
            </a:r>
            <a:endParaRPr lang="en-US" sz="36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90D8E0"/>
                </a:solidFill>
                <a:latin typeface="Calibri" pitchFamily="34" charset="0"/>
                <a:ea typeface="Calibri" pitchFamily="34" charset="-122"/>
                <a:cs typeface="Calibri" pitchFamily="34" charset="-120"/>
              </a:rPr>
              <a:t>Non-parametric alternatives for ordinal data or non-normal distributions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70C18"/>
          </a:solidFill>
          <a:ln w="12700">
            <a:solidFill>
              <a:srgbClr val="070C18"/>
            </a:solidFill>
            <a:prstDash val="solid"/>
          </a:ln>
        </p:spPr>
      </p:sp>
      <p:sp>
        <p:nvSpPr>
          <p:cNvPr id="3" name="Text 1"/>
          <p:cNvSpPr/>
          <p:nvPr/>
        </p:nvSpPr>
        <p:spPr>
          <a:xfrm>
            <a:off x="438912"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Spearman rho vs Kendall Tau - Formulas, Differences and Applications</a:t>
            </a:r>
            <a:endParaRPr lang="en-US" sz="2100" dirty="0"/>
          </a:p>
        </p:txBody>
      </p:sp>
      <p:sp>
        <p:nvSpPr>
          <p:cNvPr id="4" name="Shape 2"/>
          <p:cNvSpPr/>
          <p:nvPr/>
        </p:nvSpPr>
        <p:spPr>
          <a:xfrm>
            <a:off x="256032" y="1024128"/>
            <a:ext cx="4160520" cy="4078224"/>
          </a:xfrm>
          <a:prstGeom prst="roundRect">
            <a:avLst>
              <a:gd name="adj" fmla="val 2018"/>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29184" y="1097280"/>
            <a:ext cx="4005072" cy="310896"/>
          </a:xfrm>
          <a:prstGeom prst="roundRect">
            <a:avLst>
              <a:gd name="adj" fmla="val 17647"/>
            </a:avLst>
          </a:prstGeom>
          <a:solidFill>
            <a:srgbClr val="0A7E8C"/>
          </a:solidFill>
          <a:ln w="12700">
            <a:solidFill>
              <a:srgbClr val="0A7E8C"/>
            </a:solidFill>
            <a:prstDash val="solid"/>
          </a:ln>
        </p:spPr>
      </p:sp>
      <p:sp>
        <p:nvSpPr>
          <p:cNvPr id="6" name="Text 4"/>
          <p:cNvSpPr/>
          <p:nvPr/>
        </p:nvSpPr>
        <p:spPr>
          <a:xfrm>
            <a:off x="329184" y="1097280"/>
            <a:ext cx="400507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SPEARMAN'S RHO (ρ)</a:t>
            </a:r>
            <a:endParaRPr lang="en-US" sz="1200" dirty="0"/>
          </a:p>
        </p:txBody>
      </p:sp>
      <p:sp>
        <p:nvSpPr>
          <p:cNvPr id="7" name="Text 5"/>
          <p:cNvSpPr/>
          <p:nvPr/>
        </p:nvSpPr>
        <p:spPr>
          <a:xfrm>
            <a:off x="365760" y="1463040"/>
            <a:ext cx="3950208" cy="256032"/>
          </a:xfrm>
          <a:prstGeom prst="rect">
            <a:avLst/>
          </a:prstGeom>
          <a:noFill/>
          <a:ln/>
        </p:spPr>
        <p:txBody>
          <a:bodyPr wrap="square" lIns="0" tIns="0" rIns="0" bIns="0" rtlCol="0" anchor="ctr"/>
          <a:lstStyle/>
          <a:p>
            <a:pPr algn="ctr" indent="0" marL="0">
              <a:buNone/>
            </a:pPr>
            <a:r>
              <a:rPr lang="en-US" sz="1150" b="1" dirty="0">
                <a:solidFill>
                  <a:srgbClr val="0A7E8C"/>
                </a:solidFill>
                <a:latin typeface="Courier New" pitchFamily="34" charset="0"/>
                <a:ea typeface="Courier New" pitchFamily="34" charset="-122"/>
                <a:cs typeface="Courier New" pitchFamily="34" charset="-120"/>
              </a:rPr>
              <a:t>ρ = 1 - [6 × Σd²] / [n(n² - 1)]    (d = rank difference)</a:t>
            </a:r>
            <a:endParaRPr lang="en-US" sz="1150" dirty="0"/>
          </a:p>
        </p:txBody>
      </p:sp>
      <p:sp>
        <p:nvSpPr>
          <p:cNvPr id="8" name="Text 6"/>
          <p:cNvSpPr/>
          <p:nvPr/>
        </p:nvSpPr>
        <p:spPr>
          <a:xfrm>
            <a:off x="365760" y="1773936"/>
            <a:ext cx="3950208" cy="1353312"/>
          </a:xfrm>
          <a:prstGeom prst="rect">
            <a:avLst/>
          </a:prstGeom>
          <a:noFill/>
          <a:ln/>
        </p:spPr>
        <p:txBody>
          <a:bodyPr wrap="square" lIns="0" tIns="0" rIns="0" bIns="0" rtlCol="0" anchor="ctr"/>
          <a:lstStyle/>
          <a:p>
            <a:pPr indent="0" marL="0">
              <a:buNone/>
            </a:pPr>
            <a:r>
              <a:rPr lang="en-US" sz="950" dirty="0">
                <a:solidFill>
                  <a:srgbClr val="0C1428"/>
                </a:solidFill>
                <a:latin typeface="Calibri" pitchFamily="34" charset="0"/>
                <a:ea typeface="Calibri" pitchFamily="34" charset="-122"/>
                <a:cs typeface="Calibri" pitchFamily="34" charset="-120"/>
              </a:rPr>
              <a:t>= Pearson r computed on the RANKS of X and Y</a:t>
            </a:r>
            <a:endParaRPr lang="en-US" sz="950" dirty="0"/>
          </a:p>
          <a:p>
            <a:pPr indent="0" marL="0">
              <a:buNone/>
            </a:pPr>
            <a:endParaRPr lang="en-US" sz="950" dirty="0"/>
          </a:p>
          <a:p>
            <a:pPr indent="0" marL="0">
              <a:buNone/>
            </a:pPr>
            <a:r>
              <a:rPr lang="en-US" sz="950" dirty="0">
                <a:solidFill>
                  <a:srgbClr val="0C1428"/>
                </a:solidFill>
                <a:latin typeface="Calibri" pitchFamily="34" charset="0"/>
                <a:ea typeface="Calibri" pitchFamily="34" charset="-122"/>
                <a:cs typeface="Calibri" pitchFamily="34" charset="-120"/>
              </a:rPr>
              <a:t>Detects: MONOTONIC relationships</a:t>
            </a:r>
            <a:endParaRPr lang="en-US" sz="950" dirty="0"/>
          </a:p>
          <a:p>
            <a:pPr indent="0" marL="0">
              <a:buNone/>
            </a:pPr>
            <a:r>
              <a:rPr lang="en-US" sz="950" dirty="0">
                <a:solidFill>
                  <a:srgbClr val="0C1428"/>
                </a:solidFill>
                <a:latin typeface="Calibri" pitchFamily="34" charset="0"/>
                <a:ea typeface="Calibri" pitchFamily="34" charset="-122"/>
                <a:cs typeface="Calibri" pitchFamily="34" charset="-120"/>
              </a:rPr>
              <a:t>(always increasing or always decreasing, not necessarily linear)</a:t>
            </a:r>
            <a:endParaRPr lang="en-US" sz="950" dirty="0"/>
          </a:p>
          <a:p>
            <a:pPr indent="0" marL="0">
              <a:buNone/>
            </a:pPr>
            <a:endParaRPr lang="en-US" sz="950" dirty="0"/>
          </a:p>
          <a:p>
            <a:pPr indent="0" marL="0">
              <a:buNone/>
            </a:pPr>
            <a:r>
              <a:rPr lang="en-US" sz="950" dirty="0">
                <a:solidFill>
                  <a:srgbClr val="0C1428"/>
                </a:solidFill>
                <a:latin typeface="Calibri" pitchFamily="34" charset="0"/>
                <a:ea typeface="Calibri" pitchFamily="34" charset="-122"/>
                <a:cs typeface="Calibri" pitchFamily="34" charset="-120"/>
              </a:rPr>
              <a:t>Advantages:</a:t>
            </a:r>
            <a:endParaRPr lang="en-US" sz="950" dirty="0"/>
          </a:p>
          <a:p>
            <a:pPr indent="0" marL="0">
              <a:buNone/>
            </a:pPr>
            <a:r>
              <a:rPr lang="en-US" sz="950" dirty="0">
                <a:solidFill>
                  <a:srgbClr val="0C1428"/>
                </a:solidFill>
                <a:latin typeface="Calibri" pitchFamily="34" charset="0"/>
                <a:ea typeface="Calibri" pitchFamily="34" charset="-122"/>
                <a:cs typeface="Calibri" pitchFamily="34" charset="-120"/>
              </a:rPr>
              <a:t>- No normality assumption required</a:t>
            </a:r>
            <a:endParaRPr lang="en-US" sz="950" dirty="0"/>
          </a:p>
          <a:p>
            <a:pPr indent="0" marL="0">
              <a:buNone/>
            </a:pPr>
            <a:r>
              <a:rPr lang="en-US" sz="950" dirty="0">
                <a:solidFill>
                  <a:srgbClr val="0C1428"/>
                </a:solidFill>
                <a:latin typeface="Calibri" pitchFamily="34" charset="0"/>
                <a:ea typeface="Calibri" pitchFamily="34" charset="-122"/>
                <a:cs typeface="Calibri" pitchFamily="34" charset="-120"/>
              </a:rPr>
              <a:t>- Robust to outliers (uses ranks)</a:t>
            </a:r>
            <a:endParaRPr lang="en-US" sz="950" dirty="0"/>
          </a:p>
          <a:p>
            <a:pPr indent="0" marL="0">
              <a:buNone/>
            </a:pPr>
            <a:r>
              <a:rPr lang="en-US" sz="950" dirty="0">
                <a:solidFill>
                  <a:srgbClr val="0C1428"/>
                </a:solidFill>
                <a:latin typeface="Calibri" pitchFamily="34" charset="0"/>
                <a:ea typeface="Calibri" pitchFamily="34" charset="-122"/>
                <a:cs typeface="Calibri" pitchFamily="34" charset="-120"/>
              </a:rPr>
              <a:t>- Works for ordinal data</a:t>
            </a:r>
            <a:endParaRPr lang="en-US" sz="950" dirty="0"/>
          </a:p>
          <a:p>
            <a:pPr indent="0" marL="0">
              <a:buNone/>
            </a:pPr>
            <a:r>
              <a:rPr lang="en-US" sz="950" dirty="0">
                <a:solidFill>
                  <a:srgbClr val="0C1428"/>
                </a:solidFill>
                <a:latin typeface="Calibri" pitchFamily="34" charset="0"/>
                <a:ea typeface="Calibri" pitchFamily="34" charset="-122"/>
                <a:cs typeface="Calibri" pitchFamily="34" charset="-120"/>
              </a:rPr>
              <a:t>- Slightly less powerful than Pearson when normality holds</a:t>
            </a:r>
            <a:endParaRPr lang="en-US" sz="950" dirty="0"/>
          </a:p>
        </p:txBody>
      </p:sp>
      <p:sp>
        <p:nvSpPr>
          <p:cNvPr id="9" name="Shape 7"/>
          <p:cNvSpPr/>
          <p:nvPr/>
        </p:nvSpPr>
        <p:spPr>
          <a:xfrm>
            <a:off x="347472" y="3182112"/>
            <a:ext cx="1005840" cy="256032"/>
          </a:xfrm>
          <a:prstGeom prst="rect">
            <a:avLst/>
          </a:prstGeom>
          <a:solidFill>
            <a:srgbClr val="0A7E8C"/>
          </a:solidFill>
          <a:ln w="12700">
            <a:solidFill>
              <a:srgbClr val="0A7E8C"/>
            </a:solidFill>
            <a:prstDash val="solid"/>
          </a:ln>
        </p:spPr>
      </p:sp>
      <p:sp>
        <p:nvSpPr>
          <p:cNvPr id="10" name="Text 8"/>
          <p:cNvSpPr/>
          <p:nvPr/>
        </p:nvSpPr>
        <p:spPr>
          <a:xfrm>
            <a:off x="347472" y="3182112"/>
            <a:ext cx="100584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District</a:t>
            </a:r>
            <a:endParaRPr lang="en-US" sz="800" dirty="0"/>
          </a:p>
        </p:txBody>
      </p:sp>
      <p:sp>
        <p:nvSpPr>
          <p:cNvPr id="11" name="Shape 9"/>
          <p:cNvSpPr/>
          <p:nvPr/>
        </p:nvSpPr>
        <p:spPr>
          <a:xfrm>
            <a:off x="1353312" y="3182112"/>
            <a:ext cx="749808" cy="256032"/>
          </a:xfrm>
          <a:prstGeom prst="rect">
            <a:avLst/>
          </a:prstGeom>
          <a:solidFill>
            <a:srgbClr val="0A7E8C"/>
          </a:solidFill>
          <a:ln w="12700">
            <a:solidFill>
              <a:srgbClr val="0A7E8C"/>
            </a:solidFill>
            <a:prstDash val="solid"/>
          </a:ln>
        </p:spPr>
      </p:sp>
      <p:sp>
        <p:nvSpPr>
          <p:cNvPr id="12" name="Text 10"/>
          <p:cNvSpPr/>
          <p:nvPr/>
        </p:nvSpPr>
        <p:spPr>
          <a:xfrm>
            <a:off x="1353312" y="3182112"/>
            <a:ext cx="749808"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Net Quality Rank</a:t>
            </a:r>
            <a:endParaRPr lang="en-US" sz="800" dirty="0"/>
          </a:p>
        </p:txBody>
      </p:sp>
      <p:sp>
        <p:nvSpPr>
          <p:cNvPr id="13" name="Shape 11"/>
          <p:cNvSpPr/>
          <p:nvPr/>
        </p:nvSpPr>
        <p:spPr>
          <a:xfrm>
            <a:off x="2103120" y="3182112"/>
            <a:ext cx="1005840" cy="256032"/>
          </a:xfrm>
          <a:prstGeom prst="rect">
            <a:avLst/>
          </a:prstGeom>
          <a:solidFill>
            <a:srgbClr val="0A7E8C"/>
          </a:solidFill>
          <a:ln w="12700">
            <a:solidFill>
              <a:srgbClr val="0A7E8C"/>
            </a:solidFill>
            <a:prstDash val="solid"/>
          </a:ln>
        </p:spPr>
      </p:sp>
      <p:sp>
        <p:nvSpPr>
          <p:cNvPr id="14" name="Text 12"/>
          <p:cNvSpPr/>
          <p:nvPr/>
        </p:nvSpPr>
        <p:spPr>
          <a:xfrm>
            <a:off x="2103120" y="3182112"/>
            <a:ext cx="100584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Satisfaction Rank</a:t>
            </a:r>
            <a:endParaRPr lang="en-US" sz="800" dirty="0"/>
          </a:p>
        </p:txBody>
      </p:sp>
      <p:sp>
        <p:nvSpPr>
          <p:cNvPr id="15" name="Shape 13"/>
          <p:cNvSpPr/>
          <p:nvPr/>
        </p:nvSpPr>
        <p:spPr>
          <a:xfrm>
            <a:off x="3108960" y="3182112"/>
            <a:ext cx="658368" cy="256032"/>
          </a:xfrm>
          <a:prstGeom prst="rect">
            <a:avLst/>
          </a:prstGeom>
          <a:solidFill>
            <a:srgbClr val="0A7E8C"/>
          </a:solidFill>
          <a:ln w="12700">
            <a:solidFill>
              <a:srgbClr val="0A7E8C"/>
            </a:solidFill>
            <a:prstDash val="solid"/>
          </a:ln>
        </p:spPr>
      </p:sp>
      <p:sp>
        <p:nvSpPr>
          <p:cNvPr id="16" name="Text 14"/>
          <p:cNvSpPr/>
          <p:nvPr/>
        </p:nvSpPr>
        <p:spPr>
          <a:xfrm>
            <a:off x="3108960" y="3182112"/>
            <a:ext cx="658368"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a:t>
            </a:r>
            <a:endParaRPr lang="en-US" sz="800" dirty="0"/>
          </a:p>
        </p:txBody>
      </p:sp>
      <p:sp>
        <p:nvSpPr>
          <p:cNvPr id="17" name="Shape 15"/>
          <p:cNvSpPr/>
          <p:nvPr/>
        </p:nvSpPr>
        <p:spPr>
          <a:xfrm>
            <a:off x="3767328" y="3182112"/>
            <a:ext cx="658368" cy="256032"/>
          </a:xfrm>
          <a:prstGeom prst="rect">
            <a:avLst/>
          </a:prstGeom>
          <a:solidFill>
            <a:srgbClr val="0A7E8C"/>
          </a:solidFill>
          <a:ln w="12700">
            <a:solidFill>
              <a:srgbClr val="0A7E8C"/>
            </a:solidFill>
            <a:prstDash val="solid"/>
          </a:ln>
        </p:spPr>
      </p:sp>
      <p:sp>
        <p:nvSpPr>
          <p:cNvPr id="18" name="Text 16"/>
          <p:cNvSpPr/>
          <p:nvPr/>
        </p:nvSpPr>
        <p:spPr>
          <a:xfrm>
            <a:off x="3767328" y="3182112"/>
            <a:ext cx="658368"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d²</a:t>
            </a:r>
            <a:endParaRPr lang="en-US" sz="800" dirty="0"/>
          </a:p>
        </p:txBody>
      </p:sp>
      <p:sp>
        <p:nvSpPr>
          <p:cNvPr id="19" name="Shape 17"/>
          <p:cNvSpPr/>
          <p:nvPr/>
        </p:nvSpPr>
        <p:spPr>
          <a:xfrm>
            <a:off x="347472" y="3438144"/>
            <a:ext cx="1005840" cy="256032"/>
          </a:xfrm>
          <a:prstGeom prst="rect">
            <a:avLst/>
          </a:prstGeom>
          <a:solidFill>
            <a:srgbClr val="EAF6FA"/>
          </a:solidFill>
          <a:ln w="6350">
            <a:solidFill>
              <a:srgbClr val="A0C8D8"/>
            </a:solidFill>
            <a:prstDash val="solid"/>
          </a:ln>
        </p:spPr>
      </p:sp>
      <p:sp>
        <p:nvSpPr>
          <p:cNvPr id="20" name="Text 18"/>
          <p:cNvSpPr/>
          <p:nvPr/>
        </p:nvSpPr>
        <p:spPr>
          <a:xfrm>
            <a:off x="347472" y="3438144"/>
            <a:ext cx="1005840"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Lagos Is.</a:t>
            </a:r>
            <a:endParaRPr lang="en-US" sz="800" dirty="0"/>
          </a:p>
        </p:txBody>
      </p:sp>
      <p:sp>
        <p:nvSpPr>
          <p:cNvPr id="21" name="Shape 19"/>
          <p:cNvSpPr/>
          <p:nvPr/>
        </p:nvSpPr>
        <p:spPr>
          <a:xfrm>
            <a:off x="1353312" y="3438144"/>
            <a:ext cx="749808" cy="256032"/>
          </a:xfrm>
          <a:prstGeom prst="rect">
            <a:avLst/>
          </a:prstGeom>
          <a:solidFill>
            <a:srgbClr val="EAF6FA"/>
          </a:solidFill>
          <a:ln w="6350">
            <a:solidFill>
              <a:srgbClr val="A0C8D8"/>
            </a:solidFill>
            <a:prstDash val="solid"/>
          </a:ln>
        </p:spPr>
      </p:sp>
      <p:sp>
        <p:nvSpPr>
          <p:cNvPr id="22" name="Text 20"/>
          <p:cNvSpPr/>
          <p:nvPr/>
        </p:nvSpPr>
        <p:spPr>
          <a:xfrm>
            <a:off x="1353312" y="3438144"/>
            <a:ext cx="749808"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1</a:t>
            </a:r>
            <a:endParaRPr lang="en-US" sz="800" dirty="0"/>
          </a:p>
        </p:txBody>
      </p:sp>
      <p:sp>
        <p:nvSpPr>
          <p:cNvPr id="23" name="Shape 21"/>
          <p:cNvSpPr/>
          <p:nvPr/>
        </p:nvSpPr>
        <p:spPr>
          <a:xfrm>
            <a:off x="2103120" y="3438144"/>
            <a:ext cx="1005840" cy="256032"/>
          </a:xfrm>
          <a:prstGeom prst="rect">
            <a:avLst/>
          </a:prstGeom>
          <a:solidFill>
            <a:srgbClr val="EAF6FA"/>
          </a:solidFill>
          <a:ln w="6350">
            <a:solidFill>
              <a:srgbClr val="A0C8D8"/>
            </a:solidFill>
            <a:prstDash val="solid"/>
          </a:ln>
        </p:spPr>
      </p:sp>
      <p:sp>
        <p:nvSpPr>
          <p:cNvPr id="24" name="Text 22"/>
          <p:cNvSpPr/>
          <p:nvPr/>
        </p:nvSpPr>
        <p:spPr>
          <a:xfrm>
            <a:off x="2103120" y="3438144"/>
            <a:ext cx="1005840"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2</a:t>
            </a:r>
            <a:endParaRPr lang="en-US" sz="800" dirty="0"/>
          </a:p>
        </p:txBody>
      </p:sp>
      <p:sp>
        <p:nvSpPr>
          <p:cNvPr id="25" name="Shape 23"/>
          <p:cNvSpPr/>
          <p:nvPr/>
        </p:nvSpPr>
        <p:spPr>
          <a:xfrm>
            <a:off x="3108960" y="3438144"/>
            <a:ext cx="658368" cy="256032"/>
          </a:xfrm>
          <a:prstGeom prst="rect">
            <a:avLst/>
          </a:prstGeom>
          <a:solidFill>
            <a:srgbClr val="EAF6FA"/>
          </a:solidFill>
          <a:ln w="6350">
            <a:solidFill>
              <a:srgbClr val="A0C8D8"/>
            </a:solidFill>
            <a:prstDash val="solid"/>
          </a:ln>
        </p:spPr>
      </p:sp>
      <p:sp>
        <p:nvSpPr>
          <p:cNvPr id="26" name="Text 24"/>
          <p:cNvSpPr/>
          <p:nvPr/>
        </p:nvSpPr>
        <p:spPr>
          <a:xfrm>
            <a:off x="3108960" y="3438144"/>
            <a:ext cx="658368"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-1</a:t>
            </a:r>
            <a:endParaRPr lang="en-US" sz="800" dirty="0"/>
          </a:p>
        </p:txBody>
      </p:sp>
      <p:sp>
        <p:nvSpPr>
          <p:cNvPr id="27" name="Shape 25"/>
          <p:cNvSpPr/>
          <p:nvPr/>
        </p:nvSpPr>
        <p:spPr>
          <a:xfrm>
            <a:off x="3767328" y="3438144"/>
            <a:ext cx="658368" cy="256032"/>
          </a:xfrm>
          <a:prstGeom prst="rect">
            <a:avLst/>
          </a:prstGeom>
          <a:solidFill>
            <a:srgbClr val="EAF6FA"/>
          </a:solidFill>
          <a:ln w="6350">
            <a:solidFill>
              <a:srgbClr val="A0C8D8"/>
            </a:solidFill>
            <a:prstDash val="solid"/>
          </a:ln>
        </p:spPr>
      </p:sp>
      <p:sp>
        <p:nvSpPr>
          <p:cNvPr id="28" name="Text 26"/>
          <p:cNvSpPr/>
          <p:nvPr/>
        </p:nvSpPr>
        <p:spPr>
          <a:xfrm>
            <a:off x="3767328" y="3438144"/>
            <a:ext cx="658368"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1</a:t>
            </a:r>
            <a:endParaRPr lang="en-US" sz="800" dirty="0"/>
          </a:p>
        </p:txBody>
      </p:sp>
      <p:sp>
        <p:nvSpPr>
          <p:cNvPr id="29" name="Shape 27"/>
          <p:cNvSpPr/>
          <p:nvPr/>
        </p:nvSpPr>
        <p:spPr>
          <a:xfrm>
            <a:off x="347472" y="3694176"/>
            <a:ext cx="1005840" cy="256032"/>
          </a:xfrm>
          <a:prstGeom prst="rect">
            <a:avLst/>
          </a:prstGeom>
          <a:solidFill>
            <a:srgbClr val="FFFFFF"/>
          </a:solidFill>
          <a:ln w="6350">
            <a:solidFill>
              <a:srgbClr val="A0C8D8"/>
            </a:solidFill>
            <a:prstDash val="solid"/>
          </a:ln>
        </p:spPr>
      </p:sp>
      <p:sp>
        <p:nvSpPr>
          <p:cNvPr id="30" name="Text 28"/>
          <p:cNvSpPr/>
          <p:nvPr/>
        </p:nvSpPr>
        <p:spPr>
          <a:xfrm>
            <a:off x="347472" y="3694176"/>
            <a:ext cx="1005840"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V. Island</a:t>
            </a:r>
            <a:endParaRPr lang="en-US" sz="800" dirty="0"/>
          </a:p>
        </p:txBody>
      </p:sp>
      <p:sp>
        <p:nvSpPr>
          <p:cNvPr id="31" name="Shape 29"/>
          <p:cNvSpPr/>
          <p:nvPr/>
        </p:nvSpPr>
        <p:spPr>
          <a:xfrm>
            <a:off x="1353312" y="3694176"/>
            <a:ext cx="749808" cy="256032"/>
          </a:xfrm>
          <a:prstGeom prst="rect">
            <a:avLst/>
          </a:prstGeom>
          <a:solidFill>
            <a:srgbClr val="FFFFFF"/>
          </a:solidFill>
          <a:ln w="6350">
            <a:solidFill>
              <a:srgbClr val="A0C8D8"/>
            </a:solidFill>
            <a:prstDash val="solid"/>
          </a:ln>
        </p:spPr>
      </p:sp>
      <p:sp>
        <p:nvSpPr>
          <p:cNvPr id="32" name="Text 30"/>
          <p:cNvSpPr/>
          <p:nvPr/>
        </p:nvSpPr>
        <p:spPr>
          <a:xfrm>
            <a:off x="1353312" y="3694176"/>
            <a:ext cx="749808"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2</a:t>
            </a:r>
            <a:endParaRPr lang="en-US" sz="800" dirty="0"/>
          </a:p>
        </p:txBody>
      </p:sp>
      <p:sp>
        <p:nvSpPr>
          <p:cNvPr id="33" name="Shape 31"/>
          <p:cNvSpPr/>
          <p:nvPr/>
        </p:nvSpPr>
        <p:spPr>
          <a:xfrm>
            <a:off x="2103120" y="3694176"/>
            <a:ext cx="1005840" cy="256032"/>
          </a:xfrm>
          <a:prstGeom prst="rect">
            <a:avLst/>
          </a:prstGeom>
          <a:solidFill>
            <a:srgbClr val="FFFFFF"/>
          </a:solidFill>
          <a:ln w="6350">
            <a:solidFill>
              <a:srgbClr val="A0C8D8"/>
            </a:solidFill>
            <a:prstDash val="solid"/>
          </a:ln>
        </p:spPr>
      </p:sp>
      <p:sp>
        <p:nvSpPr>
          <p:cNvPr id="34" name="Text 32"/>
          <p:cNvSpPr/>
          <p:nvPr/>
        </p:nvSpPr>
        <p:spPr>
          <a:xfrm>
            <a:off x="2103120" y="3694176"/>
            <a:ext cx="1005840"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1</a:t>
            </a:r>
            <a:endParaRPr lang="en-US" sz="800" dirty="0"/>
          </a:p>
        </p:txBody>
      </p:sp>
      <p:sp>
        <p:nvSpPr>
          <p:cNvPr id="35" name="Shape 33"/>
          <p:cNvSpPr/>
          <p:nvPr/>
        </p:nvSpPr>
        <p:spPr>
          <a:xfrm>
            <a:off x="3108960" y="3694176"/>
            <a:ext cx="658368" cy="256032"/>
          </a:xfrm>
          <a:prstGeom prst="rect">
            <a:avLst/>
          </a:prstGeom>
          <a:solidFill>
            <a:srgbClr val="FFFFFF"/>
          </a:solidFill>
          <a:ln w="6350">
            <a:solidFill>
              <a:srgbClr val="A0C8D8"/>
            </a:solidFill>
            <a:prstDash val="solid"/>
          </a:ln>
        </p:spPr>
      </p:sp>
      <p:sp>
        <p:nvSpPr>
          <p:cNvPr id="36" name="Text 34"/>
          <p:cNvSpPr/>
          <p:nvPr/>
        </p:nvSpPr>
        <p:spPr>
          <a:xfrm>
            <a:off x="3108960" y="3694176"/>
            <a:ext cx="658368"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1</a:t>
            </a:r>
            <a:endParaRPr lang="en-US" sz="800" dirty="0"/>
          </a:p>
        </p:txBody>
      </p:sp>
      <p:sp>
        <p:nvSpPr>
          <p:cNvPr id="37" name="Shape 35"/>
          <p:cNvSpPr/>
          <p:nvPr/>
        </p:nvSpPr>
        <p:spPr>
          <a:xfrm>
            <a:off x="3767328" y="3694176"/>
            <a:ext cx="658368" cy="256032"/>
          </a:xfrm>
          <a:prstGeom prst="rect">
            <a:avLst/>
          </a:prstGeom>
          <a:solidFill>
            <a:srgbClr val="FFFFFF"/>
          </a:solidFill>
          <a:ln w="6350">
            <a:solidFill>
              <a:srgbClr val="A0C8D8"/>
            </a:solidFill>
            <a:prstDash val="solid"/>
          </a:ln>
        </p:spPr>
      </p:sp>
      <p:sp>
        <p:nvSpPr>
          <p:cNvPr id="38" name="Text 36"/>
          <p:cNvSpPr/>
          <p:nvPr/>
        </p:nvSpPr>
        <p:spPr>
          <a:xfrm>
            <a:off x="3767328" y="3694176"/>
            <a:ext cx="658368"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1</a:t>
            </a:r>
            <a:endParaRPr lang="en-US" sz="800" dirty="0"/>
          </a:p>
        </p:txBody>
      </p:sp>
      <p:sp>
        <p:nvSpPr>
          <p:cNvPr id="39" name="Shape 37"/>
          <p:cNvSpPr/>
          <p:nvPr/>
        </p:nvSpPr>
        <p:spPr>
          <a:xfrm>
            <a:off x="347472" y="3950208"/>
            <a:ext cx="1005840" cy="256032"/>
          </a:xfrm>
          <a:prstGeom prst="rect">
            <a:avLst/>
          </a:prstGeom>
          <a:solidFill>
            <a:srgbClr val="EAF6FA"/>
          </a:solidFill>
          <a:ln w="6350">
            <a:solidFill>
              <a:srgbClr val="A0C8D8"/>
            </a:solidFill>
            <a:prstDash val="solid"/>
          </a:ln>
        </p:spPr>
      </p:sp>
      <p:sp>
        <p:nvSpPr>
          <p:cNvPr id="40" name="Text 38"/>
          <p:cNvSpPr/>
          <p:nvPr/>
        </p:nvSpPr>
        <p:spPr>
          <a:xfrm>
            <a:off x="347472" y="3950208"/>
            <a:ext cx="1005840"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Lekki</a:t>
            </a:r>
            <a:endParaRPr lang="en-US" sz="800" dirty="0"/>
          </a:p>
        </p:txBody>
      </p:sp>
      <p:sp>
        <p:nvSpPr>
          <p:cNvPr id="41" name="Shape 39"/>
          <p:cNvSpPr/>
          <p:nvPr/>
        </p:nvSpPr>
        <p:spPr>
          <a:xfrm>
            <a:off x="1353312" y="3950208"/>
            <a:ext cx="749808" cy="256032"/>
          </a:xfrm>
          <a:prstGeom prst="rect">
            <a:avLst/>
          </a:prstGeom>
          <a:solidFill>
            <a:srgbClr val="EAF6FA"/>
          </a:solidFill>
          <a:ln w="6350">
            <a:solidFill>
              <a:srgbClr val="A0C8D8"/>
            </a:solidFill>
            <a:prstDash val="solid"/>
          </a:ln>
        </p:spPr>
      </p:sp>
      <p:sp>
        <p:nvSpPr>
          <p:cNvPr id="42" name="Text 40"/>
          <p:cNvSpPr/>
          <p:nvPr/>
        </p:nvSpPr>
        <p:spPr>
          <a:xfrm>
            <a:off x="1353312" y="3950208"/>
            <a:ext cx="749808"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4</a:t>
            </a:r>
            <a:endParaRPr lang="en-US" sz="800" dirty="0"/>
          </a:p>
        </p:txBody>
      </p:sp>
      <p:sp>
        <p:nvSpPr>
          <p:cNvPr id="43" name="Shape 41"/>
          <p:cNvSpPr/>
          <p:nvPr/>
        </p:nvSpPr>
        <p:spPr>
          <a:xfrm>
            <a:off x="2103120" y="3950208"/>
            <a:ext cx="1005840" cy="256032"/>
          </a:xfrm>
          <a:prstGeom prst="rect">
            <a:avLst/>
          </a:prstGeom>
          <a:solidFill>
            <a:srgbClr val="EAF6FA"/>
          </a:solidFill>
          <a:ln w="6350">
            <a:solidFill>
              <a:srgbClr val="A0C8D8"/>
            </a:solidFill>
            <a:prstDash val="solid"/>
          </a:ln>
        </p:spPr>
      </p:sp>
      <p:sp>
        <p:nvSpPr>
          <p:cNvPr id="44" name="Text 42"/>
          <p:cNvSpPr/>
          <p:nvPr/>
        </p:nvSpPr>
        <p:spPr>
          <a:xfrm>
            <a:off x="2103120" y="3950208"/>
            <a:ext cx="1005840"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3</a:t>
            </a:r>
            <a:endParaRPr lang="en-US" sz="800" dirty="0"/>
          </a:p>
        </p:txBody>
      </p:sp>
      <p:sp>
        <p:nvSpPr>
          <p:cNvPr id="45" name="Shape 43"/>
          <p:cNvSpPr/>
          <p:nvPr/>
        </p:nvSpPr>
        <p:spPr>
          <a:xfrm>
            <a:off x="3108960" y="3950208"/>
            <a:ext cx="658368" cy="256032"/>
          </a:xfrm>
          <a:prstGeom prst="rect">
            <a:avLst/>
          </a:prstGeom>
          <a:solidFill>
            <a:srgbClr val="EAF6FA"/>
          </a:solidFill>
          <a:ln w="6350">
            <a:solidFill>
              <a:srgbClr val="A0C8D8"/>
            </a:solidFill>
            <a:prstDash val="solid"/>
          </a:ln>
        </p:spPr>
      </p:sp>
      <p:sp>
        <p:nvSpPr>
          <p:cNvPr id="46" name="Text 44"/>
          <p:cNvSpPr/>
          <p:nvPr/>
        </p:nvSpPr>
        <p:spPr>
          <a:xfrm>
            <a:off x="3108960" y="3950208"/>
            <a:ext cx="658368"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1</a:t>
            </a:r>
            <a:endParaRPr lang="en-US" sz="800" dirty="0"/>
          </a:p>
        </p:txBody>
      </p:sp>
      <p:sp>
        <p:nvSpPr>
          <p:cNvPr id="47" name="Shape 45"/>
          <p:cNvSpPr/>
          <p:nvPr/>
        </p:nvSpPr>
        <p:spPr>
          <a:xfrm>
            <a:off x="3767328" y="3950208"/>
            <a:ext cx="658368" cy="256032"/>
          </a:xfrm>
          <a:prstGeom prst="rect">
            <a:avLst/>
          </a:prstGeom>
          <a:solidFill>
            <a:srgbClr val="EAF6FA"/>
          </a:solidFill>
          <a:ln w="6350">
            <a:solidFill>
              <a:srgbClr val="A0C8D8"/>
            </a:solidFill>
            <a:prstDash val="solid"/>
          </a:ln>
        </p:spPr>
      </p:sp>
      <p:sp>
        <p:nvSpPr>
          <p:cNvPr id="48" name="Text 46"/>
          <p:cNvSpPr/>
          <p:nvPr/>
        </p:nvSpPr>
        <p:spPr>
          <a:xfrm>
            <a:off x="3767328" y="3950208"/>
            <a:ext cx="658368"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1</a:t>
            </a:r>
            <a:endParaRPr lang="en-US" sz="800" dirty="0"/>
          </a:p>
        </p:txBody>
      </p:sp>
      <p:sp>
        <p:nvSpPr>
          <p:cNvPr id="49" name="Shape 47"/>
          <p:cNvSpPr/>
          <p:nvPr/>
        </p:nvSpPr>
        <p:spPr>
          <a:xfrm>
            <a:off x="347472" y="4206240"/>
            <a:ext cx="1005840" cy="256032"/>
          </a:xfrm>
          <a:prstGeom prst="rect">
            <a:avLst/>
          </a:prstGeom>
          <a:solidFill>
            <a:srgbClr val="FFFFFF"/>
          </a:solidFill>
          <a:ln w="6350">
            <a:solidFill>
              <a:srgbClr val="A0C8D8"/>
            </a:solidFill>
            <a:prstDash val="solid"/>
          </a:ln>
        </p:spPr>
      </p:sp>
      <p:sp>
        <p:nvSpPr>
          <p:cNvPr id="50" name="Text 48"/>
          <p:cNvSpPr/>
          <p:nvPr/>
        </p:nvSpPr>
        <p:spPr>
          <a:xfrm>
            <a:off x="347472" y="4206240"/>
            <a:ext cx="1005840"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Mushin</a:t>
            </a:r>
            <a:endParaRPr lang="en-US" sz="800" dirty="0"/>
          </a:p>
        </p:txBody>
      </p:sp>
      <p:sp>
        <p:nvSpPr>
          <p:cNvPr id="51" name="Shape 49"/>
          <p:cNvSpPr/>
          <p:nvPr/>
        </p:nvSpPr>
        <p:spPr>
          <a:xfrm>
            <a:off x="1353312" y="4206240"/>
            <a:ext cx="749808" cy="256032"/>
          </a:xfrm>
          <a:prstGeom prst="rect">
            <a:avLst/>
          </a:prstGeom>
          <a:solidFill>
            <a:srgbClr val="FFFFFF"/>
          </a:solidFill>
          <a:ln w="6350">
            <a:solidFill>
              <a:srgbClr val="A0C8D8"/>
            </a:solidFill>
            <a:prstDash val="solid"/>
          </a:ln>
        </p:spPr>
      </p:sp>
      <p:sp>
        <p:nvSpPr>
          <p:cNvPr id="52" name="Text 50"/>
          <p:cNvSpPr/>
          <p:nvPr/>
        </p:nvSpPr>
        <p:spPr>
          <a:xfrm>
            <a:off x="1353312" y="4206240"/>
            <a:ext cx="749808"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9</a:t>
            </a:r>
            <a:endParaRPr lang="en-US" sz="800" dirty="0"/>
          </a:p>
        </p:txBody>
      </p:sp>
      <p:sp>
        <p:nvSpPr>
          <p:cNvPr id="53" name="Shape 51"/>
          <p:cNvSpPr/>
          <p:nvPr/>
        </p:nvSpPr>
        <p:spPr>
          <a:xfrm>
            <a:off x="2103120" y="4206240"/>
            <a:ext cx="1005840" cy="256032"/>
          </a:xfrm>
          <a:prstGeom prst="rect">
            <a:avLst/>
          </a:prstGeom>
          <a:solidFill>
            <a:srgbClr val="FFFFFF"/>
          </a:solidFill>
          <a:ln w="6350">
            <a:solidFill>
              <a:srgbClr val="A0C8D8"/>
            </a:solidFill>
            <a:prstDash val="solid"/>
          </a:ln>
        </p:spPr>
      </p:sp>
      <p:sp>
        <p:nvSpPr>
          <p:cNvPr id="54" name="Text 52"/>
          <p:cNvSpPr/>
          <p:nvPr/>
        </p:nvSpPr>
        <p:spPr>
          <a:xfrm>
            <a:off x="2103120" y="4206240"/>
            <a:ext cx="1005840"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7</a:t>
            </a:r>
            <a:endParaRPr lang="en-US" sz="800" dirty="0"/>
          </a:p>
        </p:txBody>
      </p:sp>
      <p:sp>
        <p:nvSpPr>
          <p:cNvPr id="55" name="Shape 53"/>
          <p:cNvSpPr/>
          <p:nvPr/>
        </p:nvSpPr>
        <p:spPr>
          <a:xfrm>
            <a:off x="3108960" y="4206240"/>
            <a:ext cx="658368" cy="256032"/>
          </a:xfrm>
          <a:prstGeom prst="rect">
            <a:avLst/>
          </a:prstGeom>
          <a:solidFill>
            <a:srgbClr val="FFFFFF"/>
          </a:solidFill>
          <a:ln w="6350">
            <a:solidFill>
              <a:srgbClr val="A0C8D8"/>
            </a:solidFill>
            <a:prstDash val="solid"/>
          </a:ln>
        </p:spPr>
      </p:sp>
      <p:sp>
        <p:nvSpPr>
          <p:cNvPr id="56" name="Text 54"/>
          <p:cNvSpPr/>
          <p:nvPr/>
        </p:nvSpPr>
        <p:spPr>
          <a:xfrm>
            <a:off x="3108960" y="4206240"/>
            <a:ext cx="658368"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2</a:t>
            </a:r>
            <a:endParaRPr lang="en-US" sz="800" dirty="0"/>
          </a:p>
        </p:txBody>
      </p:sp>
      <p:sp>
        <p:nvSpPr>
          <p:cNvPr id="57" name="Shape 55"/>
          <p:cNvSpPr/>
          <p:nvPr/>
        </p:nvSpPr>
        <p:spPr>
          <a:xfrm>
            <a:off x="3767328" y="4206240"/>
            <a:ext cx="658368" cy="256032"/>
          </a:xfrm>
          <a:prstGeom prst="rect">
            <a:avLst/>
          </a:prstGeom>
          <a:solidFill>
            <a:srgbClr val="FFFFFF"/>
          </a:solidFill>
          <a:ln w="6350">
            <a:solidFill>
              <a:srgbClr val="A0C8D8"/>
            </a:solidFill>
            <a:prstDash val="solid"/>
          </a:ln>
        </p:spPr>
      </p:sp>
      <p:sp>
        <p:nvSpPr>
          <p:cNvPr id="58" name="Text 56"/>
          <p:cNvSpPr/>
          <p:nvPr/>
        </p:nvSpPr>
        <p:spPr>
          <a:xfrm>
            <a:off x="3767328" y="4206240"/>
            <a:ext cx="658368"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4</a:t>
            </a:r>
            <a:endParaRPr lang="en-US" sz="800" dirty="0"/>
          </a:p>
        </p:txBody>
      </p:sp>
      <p:sp>
        <p:nvSpPr>
          <p:cNvPr id="59" name="Shape 57"/>
          <p:cNvSpPr/>
          <p:nvPr/>
        </p:nvSpPr>
        <p:spPr>
          <a:xfrm>
            <a:off x="347472" y="4462272"/>
            <a:ext cx="1005840" cy="256032"/>
          </a:xfrm>
          <a:prstGeom prst="rect">
            <a:avLst/>
          </a:prstGeom>
          <a:solidFill>
            <a:srgbClr val="EAF6FA"/>
          </a:solidFill>
          <a:ln w="6350">
            <a:solidFill>
              <a:srgbClr val="A0C8D8"/>
            </a:solidFill>
            <a:prstDash val="solid"/>
          </a:ln>
        </p:spPr>
      </p:sp>
      <p:sp>
        <p:nvSpPr>
          <p:cNvPr id="60" name="Text 58"/>
          <p:cNvSpPr/>
          <p:nvPr/>
        </p:nvSpPr>
        <p:spPr>
          <a:xfrm>
            <a:off x="347472" y="4462272"/>
            <a:ext cx="1005840"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Badagry</a:t>
            </a:r>
            <a:endParaRPr lang="en-US" sz="800" dirty="0"/>
          </a:p>
        </p:txBody>
      </p:sp>
      <p:sp>
        <p:nvSpPr>
          <p:cNvPr id="61" name="Shape 59"/>
          <p:cNvSpPr/>
          <p:nvPr/>
        </p:nvSpPr>
        <p:spPr>
          <a:xfrm>
            <a:off x="1353312" y="4462272"/>
            <a:ext cx="749808" cy="256032"/>
          </a:xfrm>
          <a:prstGeom prst="rect">
            <a:avLst/>
          </a:prstGeom>
          <a:solidFill>
            <a:srgbClr val="EAF6FA"/>
          </a:solidFill>
          <a:ln w="6350">
            <a:solidFill>
              <a:srgbClr val="A0C8D8"/>
            </a:solidFill>
            <a:prstDash val="solid"/>
          </a:ln>
        </p:spPr>
      </p:sp>
      <p:sp>
        <p:nvSpPr>
          <p:cNvPr id="62" name="Text 60"/>
          <p:cNvSpPr/>
          <p:nvPr/>
        </p:nvSpPr>
        <p:spPr>
          <a:xfrm>
            <a:off x="1353312" y="4462272"/>
            <a:ext cx="749808"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12</a:t>
            </a:r>
            <a:endParaRPr lang="en-US" sz="800" dirty="0"/>
          </a:p>
        </p:txBody>
      </p:sp>
      <p:sp>
        <p:nvSpPr>
          <p:cNvPr id="63" name="Shape 61"/>
          <p:cNvSpPr/>
          <p:nvPr/>
        </p:nvSpPr>
        <p:spPr>
          <a:xfrm>
            <a:off x="2103120" y="4462272"/>
            <a:ext cx="1005840" cy="256032"/>
          </a:xfrm>
          <a:prstGeom prst="rect">
            <a:avLst/>
          </a:prstGeom>
          <a:solidFill>
            <a:srgbClr val="EAF6FA"/>
          </a:solidFill>
          <a:ln w="6350">
            <a:solidFill>
              <a:srgbClr val="A0C8D8"/>
            </a:solidFill>
            <a:prstDash val="solid"/>
          </a:ln>
        </p:spPr>
      </p:sp>
      <p:sp>
        <p:nvSpPr>
          <p:cNvPr id="64" name="Text 62"/>
          <p:cNvSpPr/>
          <p:nvPr/>
        </p:nvSpPr>
        <p:spPr>
          <a:xfrm>
            <a:off x="2103120" y="4462272"/>
            <a:ext cx="1005840"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11</a:t>
            </a:r>
            <a:endParaRPr lang="en-US" sz="800" dirty="0"/>
          </a:p>
        </p:txBody>
      </p:sp>
      <p:sp>
        <p:nvSpPr>
          <p:cNvPr id="65" name="Shape 63"/>
          <p:cNvSpPr/>
          <p:nvPr/>
        </p:nvSpPr>
        <p:spPr>
          <a:xfrm>
            <a:off x="3108960" y="4462272"/>
            <a:ext cx="658368" cy="256032"/>
          </a:xfrm>
          <a:prstGeom prst="rect">
            <a:avLst/>
          </a:prstGeom>
          <a:solidFill>
            <a:srgbClr val="EAF6FA"/>
          </a:solidFill>
          <a:ln w="6350">
            <a:solidFill>
              <a:srgbClr val="A0C8D8"/>
            </a:solidFill>
            <a:prstDash val="solid"/>
          </a:ln>
        </p:spPr>
      </p:sp>
      <p:sp>
        <p:nvSpPr>
          <p:cNvPr id="66" name="Text 64"/>
          <p:cNvSpPr/>
          <p:nvPr/>
        </p:nvSpPr>
        <p:spPr>
          <a:xfrm>
            <a:off x="3108960" y="4462272"/>
            <a:ext cx="658368"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1</a:t>
            </a:r>
            <a:endParaRPr lang="en-US" sz="800" dirty="0"/>
          </a:p>
        </p:txBody>
      </p:sp>
      <p:sp>
        <p:nvSpPr>
          <p:cNvPr id="67" name="Shape 65"/>
          <p:cNvSpPr/>
          <p:nvPr/>
        </p:nvSpPr>
        <p:spPr>
          <a:xfrm>
            <a:off x="3767328" y="4462272"/>
            <a:ext cx="658368" cy="256032"/>
          </a:xfrm>
          <a:prstGeom prst="rect">
            <a:avLst/>
          </a:prstGeom>
          <a:solidFill>
            <a:srgbClr val="EAF6FA"/>
          </a:solidFill>
          <a:ln w="6350">
            <a:solidFill>
              <a:srgbClr val="A0C8D8"/>
            </a:solidFill>
            <a:prstDash val="solid"/>
          </a:ln>
        </p:spPr>
      </p:sp>
      <p:sp>
        <p:nvSpPr>
          <p:cNvPr id="68" name="Text 66"/>
          <p:cNvSpPr/>
          <p:nvPr/>
        </p:nvSpPr>
        <p:spPr>
          <a:xfrm>
            <a:off x="3767328" y="4462272"/>
            <a:ext cx="658368"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1</a:t>
            </a:r>
            <a:endParaRPr lang="en-US" sz="800" dirty="0"/>
          </a:p>
        </p:txBody>
      </p:sp>
      <p:sp>
        <p:nvSpPr>
          <p:cNvPr id="69" name="Text 67"/>
          <p:cNvSpPr/>
          <p:nvPr/>
        </p:nvSpPr>
        <p:spPr>
          <a:xfrm>
            <a:off x="365760" y="4425696"/>
            <a:ext cx="3950208" cy="384048"/>
          </a:xfrm>
          <a:prstGeom prst="rect">
            <a:avLst/>
          </a:prstGeom>
          <a:noFill/>
          <a:ln/>
        </p:spPr>
        <p:txBody>
          <a:bodyPr wrap="square" lIns="0" tIns="0" rIns="0" bIns="0" rtlCol="0" anchor="ctr"/>
          <a:lstStyle/>
          <a:p>
            <a:pPr indent="0" marL="0">
              <a:buNone/>
            </a:pPr>
            <a:r>
              <a:rPr lang="en-US" sz="950" b="1" dirty="0">
                <a:solidFill>
                  <a:srgbClr val="0A7E8C"/>
                </a:solidFill>
                <a:latin typeface="Calibri" pitchFamily="34" charset="0"/>
                <a:ea typeface="Calibri" pitchFamily="34" charset="-122"/>
                <a:cs typeface="Calibri" pitchFamily="34" charset="-120"/>
              </a:rPr>
              <a:t>Full 12-district data: Σd²=14. ρ = 1-6(14)/[12(143)] = 1-84/1716 = 0.951</a:t>
            </a:r>
            <a:endParaRPr lang="en-US" sz="950" dirty="0"/>
          </a:p>
          <a:p>
            <a:pPr indent="0" marL="0">
              <a:buNone/>
            </a:pPr>
            <a:r>
              <a:rPr lang="en-US" sz="950" b="1" dirty="0">
                <a:solidFill>
                  <a:srgbClr val="0A7E8C"/>
                </a:solidFill>
                <a:latin typeface="Calibri" pitchFamily="34" charset="0"/>
                <a:ea typeface="Calibri" pitchFamily="34" charset="-122"/>
                <a:cs typeface="Calibri" pitchFamily="34" charset="-120"/>
              </a:rPr>
              <a:t>Very strong positive: quality rank ↑ = satisfaction rank ↑</a:t>
            </a:r>
            <a:endParaRPr lang="en-US" sz="950" dirty="0"/>
          </a:p>
        </p:txBody>
      </p:sp>
      <p:sp>
        <p:nvSpPr>
          <p:cNvPr id="70" name="Text 68"/>
          <p:cNvSpPr/>
          <p:nvPr/>
        </p:nvSpPr>
        <p:spPr>
          <a:xfrm>
            <a:off x="365760" y="4846320"/>
            <a:ext cx="3950208" cy="237744"/>
          </a:xfrm>
          <a:prstGeom prst="rect">
            <a:avLst/>
          </a:prstGeom>
          <a:noFill/>
          <a:ln/>
        </p:spPr>
        <p:txBody>
          <a:bodyPr wrap="square" lIns="0" tIns="0" rIns="0" bIns="0" rtlCol="0" anchor="ctr"/>
          <a:lstStyle/>
          <a:p>
            <a:pPr indent="0" marL="0">
              <a:buNone/>
            </a:pPr>
            <a:r>
              <a:rPr lang="en-US" sz="950" i="1" dirty="0">
                <a:solidFill>
                  <a:srgbClr val="D4A010"/>
                </a:solidFill>
                <a:latin typeface="Calibri" pitchFamily="34" charset="0"/>
                <a:ea typeface="Calibri" pitchFamily="34" charset="-122"/>
                <a:cs typeface="Calibri" pitchFamily="34" charset="-120"/>
              </a:rPr>
              <a:t>APA: rho(10) = .951, p &lt; .001</a:t>
            </a:r>
            <a:endParaRPr lang="en-US" sz="950" dirty="0"/>
          </a:p>
        </p:txBody>
      </p:sp>
      <p:sp>
        <p:nvSpPr>
          <p:cNvPr id="71" name="Shape 69"/>
          <p:cNvSpPr/>
          <p:nvPr/>
        </p:nvSpPr>
        <p:spPr>
          <a:xfrm>
            <a:off x="4681728" y="1024128"/>
            <a:ext cx="4160520" cy="4078224"/>
          </a:xfrm>
          <a:prstGeom prst="roundRect">
            <a:avLst>
              <a:gd name="adj" fmla="val 2018"/>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72" name="Shape 70"/>
          <p:cNvSpPr/>
          <p:nvPr/>
        </p:nvSpPr>
        <p:spPr>
          <a:xfrm>
            <a:off x="4754880" y="1097280"/>
            <a:ext cx="4005072" cy="310896"/>
          </a:xfrm>
          <a:prstGeom prst="roundRect">
            <a:avLst>
              <a:gd name="adj" fmla="val 17647"/>
            </a:avLst>
          </a:prstGeom>
          <a:solidFill>
            <a:srgbClr val="6010C8"/>
          </a:solidFill>
          <a:ln w="12700">
            <a:solidFill>
              <a:srgbClr val="6010C8"/>
            </a:solidFill>
            <a:prstDash val="solid"/>
          </a:ln>
        </p:spPr>
      </p:sp>
      <p:sp>
        <p:nvSpPr>
          <p:cNvPr id="73" name="Text 71"/>
          <p:cNvSpPr/>
          <p:nvPr/>
        </p:nvSpPr>
        <p:spPr>
          <a:xfrm>
            <a:off x="4754880" y="1097280"/>
            <a:ext cx="400507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KENDALL'S TAU-B (τ_b)</a:t>
            </a:r>
            <a:endParaRPr lang="en-US" sz="1200" dirty="0"/>
          </a:p>
        </p:txBody>
      </p:sp>
      <p:sp>
        <p:nvSpPr>
          <p:cNvPr id="74" name="Text 72"/>
          <p:cNvSpPr/>
          <p:nvPr/>
        </p:nvSpPr>
        <p:spPr>
          <a:xfrm>
            <a:off x="4791456" y="1463040"/>
            <a:ext cx="3950208" cy="256032"/>
          </a:xfrm>
          <a:prstGeom prst="rect">
            <a:avLst/>
          </a:prstGeom>
          <a:noFill/>
          <a:ln/>
        </p:spPr>
        <p:txBody>
          <a:bodyPr wrap="square" lIns="0" tIns="0" rIns="0" bIns="0" rtlCol="0" anchor="ctr"/>
          <a:lstStyle/>
          <a:p>
            <a:pPr algn="ctr" indent="0" marL="0">
              <a:buNone/>
            </a:pPr>
            <a:r>
              <a:rPr lang="en-US" sz="1150" b="1" dirty="0">
                <a:solidFill>
                  <a:srgbClr val="6010C8"/>
                </a:solidFill>
                <a:latin typeface="Courier New" pitchFamily="34" charset="0"/>
                <a:ea typeface="Courier New" pitchFamily="34" charset="-122"/>
                <a:cs typeface="Courier New" pitchFamily="34" charset="-120"/>
              </a:rPr>
              <a:t>τ_b = (C - D) / √[(C+D+T_X)(C+D+T_Y)]</a:t>
            </a:r>
            <a:endParaRPr lang="en-US" sz="1150" dirty="0"/>
          </a:p>
        </p:txBody>
      </p:sp>
      <p:sp>
        <p:nvSpPr>
          <p:cNvPr id="75" name="Text 73"/>
          <p:cNvSpPr/>
          <p:nvPr/>
        </p:nvSpPr>
        <p:spPr>
          <a:xfrm>
            <a:off x="4791456" y="1773936"/>
            <a:ext cx="3950208" cy="2084832"/>
          </a:xfrm>
          <a:prstGeom prst="rect">
            <a:avLst/>
          </a:prstGeom>
          <a:noFill/>
          <a:ln/>
        </p:spPr>
        <p:txBody>
          <a:bodyPr wrap="square" lIns="0" tIns="0" rIns="0" bIns="0" rtlCol="0" anchor="ctr"/>
          <a:lstStyle/>
          <a:p>
            <a:pPr indent="0" marL="0">
              <a:buNone/>
            </a:pPr>
            <a:r>
              <a:rPr lang="en-US" sz="950" dirty="0">
                <a:solidFill>
                  <a:srgbClr val="0C1428"/>
                </a:solidFill>
                <a:latin typeface="Calibri" pitchFamily="34" charset="0"/>
                <a:ea typeface="Calibri" pitchFamily="34" charset="-122"/>
                <a:cs typeface="Calibri" pitchFamily="34" charset="-120"/>
              </a:rPr>
              <a:t>C = concordant pairs (rank order agrees)</a:t>
            </a:r>
            <a:endParaRPr lang="en-US" sz="950" dirty="0"/>
          </a:p>
          <a:p>
            <a:pPr indent="0" marL="0">
              <a:buNone/>
            </a:pPr>
            <a:r>
              <a:rPr lang="en-US" sz="950" dirty="0">
                <a:solidFill>
                  <a:srgbClr val="0C1428"/>
                </a:solidFill>
                <a:latin typeface="Calibri" pitchFamily="34" charset="0"/>
                <a:ea typeface="Calibri" pitchFamily="34" charset="-122"/>
                <a:cs typeface="Calibri" pitchFamily="34" charset="-120"/>
              </a:rPr>
              <a:t>D = discordant pairs (rank order disagrees)</a:t>
            </a:r>
            <a:endParaRPr lang="en-US" sz="950" dirty="0"/>
          </a:p>
          <a:p>
            <a:pPr indent="0" marL="0">
              <a:buNone/>
            </a:pPr>
            <a:r>
              <a:rPr lang="en-US" sz="950" dirty="0">
                <a:solidFill>
                  <a:srgbClr val="0C1428"/>
                </a:solidFill>
                <a:latin typeface="Calibri" pitchFamily="34" charset="0"/>
                <a:ea typeface="Calibri" pitchFamily="34" charset="-122"/>
                <a:cs typeface="Calibri" pitchFamily="34" charset="-120"/>
              </a:rPr>
              <a:t>T_X = ties on X. T_Y = ties on Y</a:t>
            </a:r>
            <a:endParaRPr lang="en-US" sz="950" dirty="0"/>
          </a:p>
          <a:p>
            <a:pPr indent="0" marL="0">
              <a:buNone/>
            </a:pPr>
            <a:endParaRPr lang="en-US" sz="950" dirty="0"/>
          </a:p>
          <a:p>
            <a:pPr indent="0" marL="0">
              <a:buNone/>
            </a:pPr>
            <a:r>
              <a:rPr lang="en-US" sz="950" dirty="0">
                <a:solidFill>
                  <a:srgbClr val="0C1428"/>
                </a:solidFill>
                <a:latin typeface="Calibri" pitchFamily="34" charset="0"/>
                <a:ea typeface="Calibri" pitchFamily="34" charset="-122"/>
                <a:cs typeface="Calibri" pitchFamily="34" charset="-120"/>
              </a:rPr>
              <a:t>Interpretation:</a:t>
            </a:r>
            <a:endParaRPr lang="en-US" sz="950" dirty="0"/>
          </a:p>
          <a:p>
            <a:pPr indent="0" marL="0">
              <a:buNone/>
            </a:pPr>
            <a:r>
              <a:rPr lang="en-US" sz="950" dirty="0">
                <a:solidFill>
                  <a:srgbClr val="0C1428"/>
                </a:solidFill>
                <a:latin typeface="Calibri" pitchFamily="34" charset="0"/>
                <a:ea typeface="Calibri" pitchFamily="34" charset="-122"/>
                <a:cs typeface="Calibri" pitchFamily="34" charset="-120"/>
              </a:rPr>
              <a:t>tau = 0.714 means: for a randomly chosen</a:t>
            </a:r>
            <a:endParaRPr lang="en-US" sz="950" dirty="0"/>
          </a:p>
          <a:p>
            <a:pPr indent="0" marL="0">
              <a:buNone/>
            </a:pPr>
            <a:r>
              <a:rPr lang="en-US" sz="950" dirty="0">
                <a:solidFill>
                  <a:srgbClr val="0C1428"/>
                </a:solidFill>
                <a:latin typeface="Calibri" pitchFamily="34" charset="0"/>
                <a:ea typeface="Calibri" pitchFamily="34" charset="-122"/>
                <a:cs typeface="Calibri" pitchFamily="34" charset="-120"/>
              </a:rPr>
              <a:t>pair, the probability of agreement exceeds</a:t>
            </a:r>
            <a:endParaRPr lang="en-US" sz="950" dirty="0"/>
          </a:p>
          <a:p>
            <a:pPr indent="0" marL="0">
              <a:buNone/>
            </a:pPr>
            <a:r>
              <a:rPr lang="en-US" sz="950" dirty="0">
                <a:solidFill>
                  <a:srgbClr val="0C1428"/>
                </a:solidFill>
                <a:latin typeface="Calibri" pitchFamily="34" charset="0"/>
                <a:ea typeface="Calibri" pitchFamily="34" charset="-122"/>
                <a:cs typeface="Calibri" pitchFamily="34" charset="-120"/>
              </a:rPr>
              <a:t>the probability of disagreement by 71.4%.</a:t>
            </a:r>
            <a:endParaRPr lang="en-US" sz="950" dirty="0"/>
          </a:p>
          <a:p>
            <a:pPr indent="0" marL="0">
              <a:buNone/>
            </a:pPr>
            <a:r>
              <a:rPr lang="en-US" sz="950" dirty="0">
                <a:solidFill>
                  <a:srgbClr val="0C1428"/>
                </a:solidFill>
                <a:latin typeface="Calibri" pitchFamily="34" charset="0"/>
                <a:ea typeface="Calibri" pitchFamily="34" charset="-122"/>
                <a:cs typeface="Calibri" pitchFamily="34" charset="-120"/>
              </a:rPr>
              <a:t>More intuitive than rho!</a:t>
            </a:r>
            <a:endParaRPr lang="en-US" sz="950" dirty="0"/>
          </a:p>
          <a:p>
            <a:pPr indent="0" marL="0">
              <a:buNone/>
            </a:pPr>
            <a:endParaRPr lang="en-US" sz="950" dirty="0"/>
          </a:p>
          <a:p>
            <a:pPr indent="0" marL="0">
              <a:buNone/>
            </a:pPr>
            <a:r>
              <a:rPr lang="en-US" sz="950" dirty="0">
                <a:solidFill>
                  <a:srgbClr val="0C1428"/>
                </a:solidFill>
                <a:latin typeface="Calibri" pitchFamily="34" charset="0"/>
                <a:ea typeface="Calibri" pitchFamily="34" charset="-122"/>
                <a:cs typeface="Calibri" pitchFamily="34" charset="-120"/>
              </a:rPr>
              <a:t>Prefer Kendall when:</a:t>
            </a:r>
            <a:endParaRPr lang="en-US" sz="950" dirty="0"/>
          </a:p>
          <a:p>
            <a:pPr indent="0" marL="0">
              <a:buNone/>
            </a:pPr>
            <a:r>
              <a:rPr lang="en-US" sz="950" dirty="0">
                <a:solidFill>
                  <a:srgbClr val="0C1428"/>
                </a:solidFill>
                <a:latin typeface="Calibri" pitchFamily="34" charset="0"/>
                <a:ea typeface="Calibri" pitchFamily="34" charset="-122"/>
                <a:cs typeface="Calibri" pitchFamily="34" charset="-120"/>
              </a:rPr>
              <a:t>- Sample is small (n &lt; 30)</a:t>
            </a:r>
            <a:endParaRPr lang="en-US" sz="950" dirty="0"/>
          </a:p>
          <a:p>
            <a:pPr indent="0" marL="0">
              <a:buNone/>
            </a:pPr>
            <a:r>
              <a:rPr lang="en-US" sz="950" dirty="0">
                <a:solidFill>
                  <a:srgbClr val="0C1428"/>
                </a:solidFill>
                <a:latin typeface="Calibri" pitchFamily="34" charset="0"/>
                <a:ea typeface="Calibri" pitchFamily="34" charset="-122"/>
                <a:cs typeface="Calibri" pitchFamily="34" charset="-120"/>
              </a:rPr>
              <a:t>- Many tied ranks present</a:t>
            </a:r>
            <a:endParaRPr lang="en-US" sz="950" dirty="0"/>
          </a:p>
          <a:p>
            <a:pPr indent="0" marL="0">
              <a:buNone/>
            </a:pPr>
            <a:r>
              <a:rPr lang="en-US" sz="950" dirty="0">
                <a:solidFill>
                  <a:srgbClr val="0C1428"/>
                </a:solidFill>
                <a:latin typeface="Calibri" pitchFamily="34" charset="0"/>
                <a:ea typeface="Calibri" pitchFamily="34" charset="-122"/>
                <a:cs typeface="Calibri" pitchFamily="34" charset="-120"/>
              </a:rPr>
              <a:t>- Probabilistic interpretation needed</a:t>
            </a:r>
            <a:endParaRPr lang="en-US" sz="950" dirty="0"/>
          </a:p>
        </p:txBody>
      </p:sp>
      <p:sp>
        <p:nvSpPr>
          <p:cNvPr id="76" name="Shape 74"/>
          <p:cNvSpPr/>
          <p:nvPr/>
        </p:nvSpPr>
        <p:spPr>
          <a:xfrm>
            <a:off x="4773168" y="3913632"/>
            <a:ext cx="3950208" cy="1133856"/>
          </a:xfrm>
          <a:prstGeom prst="roundRect">
            <a:avLst>
              <a:gd name="adj" fmla="val 4839"/>
            </a:avLst>
          </a:prstGeom>
          <a:solidFill>
            <a:srgbClr val="F5F0FF"/>
          </a:solidFill>
          <a:ln w="10160">
            <a:solidFill>
              <a:srgbClr val="6010C8"/>
            </a:solidFill>
            <a:prstDash val="solid"/>
          </a:ln>
        </p:spPr>
      </p:sp>
      <p:sp>
        <p:nvSpPr>
          <p:cNvPr id="77" name="Text 75"/>
          <p:cNvSpPr/>
          <p:nvPr/>
        </p:nvSpPr>
        <p:spPr>
          <a:xfrm>
            <a:off x="4846320" y="3968496"/>
            <a:ext cx="3803904" cy="1024128"/>
          </a:xfrm>
          <a:prstGeom prst="rect">
            <a:avLst/>
          </a:prstGeom>
          <a:noFill/>
          <a:ln/>
        </p:spPr>
        <p:txBody>
          <a:bodyPr wrap="square" lIns="0" tIns="0" rIns="0" bIns="0" rtlCol="0" anchor="ctr"/>
          <a:lstStyle/>
          <a:p>
            <a:pPr indent="0" marL="0">
              <a:buNone/>
            </a:pPr>
            <a:r>
              <a:rPr lang="en-US" sz="900" b="1" dirty="0">
                <a:solidFill>
                  <a:srgbClr val="6010C8"/>
                </a:solidFill>
                <a:latin typeface="Calibri" pitchFamily="34" charset="0"/>
                <a:ea typeface="Calibri" pitchFamily="34" charset="-122"/>
                <a:cs typeface="Calibri" pitchFamily="34" charset="-120"/>
              </a:rPr>
              <a:t>KEY DIFFERENCE rho vs tau:
</a:t>
            </a:r>
            <a:pPr indent="0" marL="0">
              <a:buNone/>
            </a:pPr>
            <a:r>
              <a:rPr lang="en-US" sz="900" dirty="0">
                <a:solidFill>
                  <a:srgbClr val="0C1428"/>
                </a:solidFill>
                <a:latin typeface="Calibri" pitchFamily="34" charset="0"/>
                <a:ea typeface="Calibri" pitchFamily="34" charset="-122"/>
                <a:cs typeface="Calibri" pitchFamily="34" charset="-120"/>
              </a:rPr>
              <a:t>For the same data, |tau| is typically smaller than |rho| (roughly tau ≈ 2/3 × rho). They test the SAME H0 and have similar power. Spearman more familiar in social science. Kendall preferred in biostatistics. Both available in SPSS under Analyze &gt; Correlate &gt; Bivariate.</a:t>
            </a:r>
            <a:endParaRPr lang="en-US" sz="900" dirty="0"/>
          </a:p>
        </p:txBody>
      </p:sp>
      <p:sp>
        <p:nvSpPr>
          <p:cNvPr id="78" name="Shape 76"/>
          <p:cNvSpPr/>
          <p:nvPr/>
        </p:nvSpPr>
        <p:spPr>
          <a:xfrm>
            <a:off x="256032" y="5157216"/>
            <a:ext cx="8631936" cy="347472"/>
          </a:xfrm>
          <a:prstGeom prst="roundRect">
            <a:avLst>
              <a:gd name="adj" fmla="val 15789"/>
            </a:avLst>
          </a:prstGeom>
          <a:solidFill>
            <a:srgbClr val="FFFBEC"/>
          </a:solidFill>
          <a:ln w="19050">
            <a:solidFill>
              <a:srgbClr val="D4A010"/>
            </a:solidFill>
            <a:prstDash val="solid"/>
          </a:ln>
        </p:spPr>
      </p:sp>
      <p:sp>
        <p:nvSpPr>
          <p:cNvPr id="79" name="Text 77"/>
          <p:cNvSpPr/>
          <p:nvPr/>
        </p:nvSpPr>
        <p:spPr>
          <a:xfrm>
            <a:off x="365760" y="5157216"/>
            <a:ext cx="8449056" cy="347472"/>
          </a:xfrm>
          <a:prstGeom prst="rect">
            <a:avLst/>
          </a:prstGeom>
          <a:noFill/>
          <a:ln/>
        </p:spPr>
        <p:txBody>
          <a:bodyPr wrap="square" lIns="0" tIns="0" rIns="0" bIns="0" rtlCol="0" anchor="ctr"/>
          <a:lstStyle/>
          <a:p>
            <a:pPr indent="0" marL="0">
              <a:buNone/>
            </a:pPr>
            <a:r>
              <a:rPr lang="en-US" sz="950" dirty="0">
                <a:solidFill>
                  <a:srgbClr val="6B4800"/>
                </a:solidFill>
                <a:latin typeface="Calibri" pitchFamily="34" charset="0"/>
                <a:ea typeface="Calibri" pitchFamily="34" charset="-122"/>
                <a:cs typeface="Calibri" pitchFamily="34" charset="-120"/>
              </a:rPr>
              <a:t>USE PEARSON: continuous data, approximately normal, no extreme outliers. USE SPEARMAN: ordinal data, non-normal distribution, outliers present. USE KENDALL: small samples (n&lt;30), many ties, probabilistic interpretation preferred.</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5943600" y="-1371600"/>
            <a:ext cx="5029200" cy="5029200"/>
          </a:xfrm>
          <a:prstGeom prst="ellipse">
            <a:avLst/>
          </a:prstGeom>
          <a:solidFill>
            <a:srgbClr val="0A7E8C">
              <a:alpha val="20000"/>
            </a:srgbClr>
          </a:solidFill>
          <a:ln w="12700">
            <a:solidFill>
              <a:srgbClr val="0A7E8C"/>
            </a:solidFill>
            <a:prstDash val="solid"/>
          </a:ln>
        </p:spPr>
      </p:sp>
      <p:sp>
        <p:nvSpPr>
          <p:cNvPr id="3" name="Shape 1"/>
          <p:cNvSpPr/>
          <p:nvPr/>
        </p:nvSpPr>
        <p:spPr>
          <a:xfrm>
            <a:off x="-1097280" y="3200400"/>
            <a:ext cx="3657600" cy="3657600"/>
          </a:xfrm>
          <a:prstGeom prst="ellipse">
            <a:avLst/>
          </a:prstGeom>
          <a:solidFill>
            <a:srgbClr val="D4A010">
              <a:alpha val="12000"/>
            </a:srgbClr>
          </a:solidFill>
          <a:ln w="12700">
            <a:solidFill>
              <a:srgbClr val="D4A010"/>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0"/>
                </a:solidFill>
                <a:latin typeface="Calibri" pitchFamily="34" charset="0"/>
                <a:ea typeface="Calibri" pitchFamily="34" charset="-122"/>
                <a:cs typeface="Calibri" pitchFamily="34" charset="-120"/>
              </a:rPr>
              <a:t>CORRELATION  |  SECTION 03</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Special Correlation Types</a:t>
            </a:r>
            <a:endParaRPr lang="en-US" sz="36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90D8E0"/>
                </a:solidFill>
                <a:latin typeface="Calibri" pitchFamily="34" charset="0"/>
                <a:ea typeface="Calibri" pitchFamily="34" charset="-122"/>
                <a:cs typeface="Calibri" pitchFamily="34" charset="-120"/>
              </a:rPr>
              <a:t>Point-biserial, Phi, Partial and Semi-partial correlation</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70C18"/>
          </a:solidFill>
          <a:ln w="12700">
            <a:solidFill>
              <a:srgbClr val="070C18"/>
            </a:solidFill>
            <a:prstDash val="solid"/>
          </a:ln>
        </p:spPr>
      </p:sp>
      <p:sp>
        <p:nvSpPr>
          <p:cNvPr id="3" name="Text 1"/>
          <p:cNvSpPr/>
          <p:nvPr/>
        </p:nvSpPr>
        <p:spPr>
          <a:xfrm>
            <a:off x="438912"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Point-Biserial, Phi and Partial Correlations - Complete Reference</a:t>
            </a:r>
            <a:endParaRPr lang="en-US" sz="2100" dirty="0"/>
          </a:p>
        </p:txBody>
      </p:sp>
      <p:sp>
        <p:nvSpPr>
          <p:cNvPr id="4" name="Shape 2"/>
          <p:cNvSpPr/>
          <p:nvPr/>
        </p:nvSpPr>
        <p:spPr>
          <a:xfrm>
            <a:off x="256032" y="1024128"/>
            <a:ext cx="2788920" cy="4041648"/>
          </a:xfrm>
          <a:prstGeom prst="roundRect">
            <a:avLst>
              <a:gd name="adj" fmla="val 2623"/>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29184" y="1097280"/>
            <a:ext cx="2633472" cy="292608"/>
          </a:xfrm>
          <a:prstGeom prst="roundRect">
            <a:avLst>
              <a:gd name="adj" fmla="val 15625"/>
            </a:avLst>
          </a:prstGeom>
          <a:solidFill>
            <a:srgbClr val="E07010"/>
          </a:solidFill>
          <a:ln w="12700">
            <a:solidFill>
              <a:srgbClr val="E07010"/>
            </a:solidFill>
            <a:prstDash val="solid"/>
          </a:ln>
        </p:spPr>
      </p:sp>
      <p:sp>
        <p:nvSpPr>
          <p:cNvPr id="6" name="Text 4"/>
          <p:cNvSpPr/>
          <p:nvPr/>
        </p:nvSpPr>
        <p:spPr>
          <a:xfrm>
            <a:off x="329184" y="1097280"/>
            <a:ext cx="263347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POINT-BISERIAL r_pb</a:t>
            </a:r>
            <a:endParaRPr lang="en-US" sz="1000" dirty="0"/>
          </a:p>
        </p:txBody>
      </p:sp>
      <p:sp>
        <p:nvSpPr>
          <p:cNvPr id="7" name="Text 5"/>
          <p:cNvSpPr/>
          <p:nvPr/>
        </p:nvSpPr>
        <p:spPr>
          <a:xfrm>
            <a:off x="365760" y="1444752"/>
            <a:ext cx="2596896" cy="2724912"/>
          </a:xfrm>
          <a:prstGeom prst="rect">
            <a:avLst/>
          </a:prstGeom>
          <a:noFill/>
          <a:ln/>
        </p:spPr>
        <p:txBody>
          <a:bodyPr wrap="square" lIns="0" tIns="0" rIns="0" bIns="0" rtlCol="0" anchor="ctr"/>
          <a:lstStyle/>
          <a:p>
            <a:pPr indent="0" marL="0">
              <a:buNone/>
            </a:pPr>
            <a:r>
              <a:rPr lang="en-US" sz="900" dirty="0">
                <a:solidFill>
                  <a:srgbClr val="0C1428"/>
                </a:solidFill>
                <a:latin typeface="Calibri" pitchFamily="34" charset="0"/>
                <a:ea typeface="Calibri" pitchFamily="34" charset="-122"/>
                <a:cs typeface="Calibri" pitchFamily="34" charset="-120"/>
              </a:rPr>
              <a:t>X is NATURALLY binary (0/1)</a:t>
            </a: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Y is CONTINUOUS</a:t>
            </a: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 Pearson r with 0/1 coded X</a:t>
            </a:r>
            <a:endParaRPr lang="en-US" sz="900" dirty="0"/>
          </a:p>
          <a:p>
            <a:pPr indent="0" marL="0">
              <a:buNone/>
            </a:pP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Formula:</a:t>
            </a: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r_pb = (M₁-M₀)/SD_Y × √[n₁n₀/n²]</a:t>
            </a:r>
            <a:endParaRPr lang="en-US" sz="900" dirty="0"/>
          </a:p>
          <a:p>
            <a:pPr indent="0" marL="0">
              <a:buNone/>
            </a:pP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First Bank Default vs Credit Score:</a:t>
            </a: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M₁(defaulters)=534, M₀(non)=672</a:t>
            </a: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SD_Y=94, n₁=180, n₀=1020, n=1200</a:t>
            </a:r>
            <a:endParaRPr lang="en-US" sz="900" dirty="0"/>
          </a:p>
          <a:p>
            <a:pPr indent="0" marL="0">
              <a:buNone/>
            </a:pP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r_pb = (534-672)/94 × √[180×1020/1200²]</a:t>
            </a: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 -1.468 × 0.357 = -0.524</a:t>
            </a:r>
            <a:endParaRPr lang="en-US" sz="900" dirty="0"/>
          </a:p>
          <a:p>
            <a:pPr indent="0" marL="0">
              <a:buNone/>
            </a:pP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Strong negative: higher credit</a:t>
            </a: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score → lower default probability.</a:t>
            </a:r>
            <a:endParaRPr lang="en-US" sz="900" dirty="0"/>
          </a:p>
        </p:txBody>
      </p:sp>
      <p:sp>
        <p:nvSpPr>
          <p:cNvPr id="8" name="Text 6"/>
          <p:cNvSpPr/>
          <p:nvPr/>
        </p:nvSpPr>
        <p:spPr>
          <a:xfrm>
            <a:off x="365760" y="4224528"/>
            <a:ext cx="2596896" cy="237744"/>
          </a:xfrm>
          <a:prstGeom prst="rect">
            <a:avLst/>
          </a:prstGeom>
          <a:noFill/>
          <a:ln/>
        </p:spPr>
        <p:txBody>
          <a:bodyPr wrap="square" lIns="0" tIns="0" rIns="0" bIns="0" rtlCol="0" anchor="ctr"/>
          <a:lstStyle/>
          <a:p>
            <a:pPr indent="0" marL="0">
              <a:buNone/>
            </a:pPr>
            <a:r>
              <a:rPr lang="en-US" sz="900" i="1" dirty="0">
                <a:solidFill>
                  <a:srgbClr val="D4A010"/>
                </a:solidFill>
                <a:latin typeface="Calibri" pitchFamily="34" charset="0"/>
                <a:ea typeface="Calibri" pitchFamily="34" charset="-122"/>
                <a:cs typeface="Calibri" pitchFamily="34" charset="-120"/>
              </a:rPr>
              <a:t>APA: r_pb(1198) = -.524, p&lt;.001</a:t>
            </a:r>
            <a:endParaRPr lang="en-US" sz="900" dirty="0"/>
          </a:p>
        </p:txBody>
      </p:sp>
      <p:sp>
        <p:nvSpPr>
          <p:cNvPr id="9" name="Shape 7"/>
          <p:cNvSpPr/>
          <p:nvPr/>
        </p:nvSpPr>
        <p:spPr>
          <a:xfrm>
            <a:off x="3127248" y="1024128"/>
            <a:ext cx="2788920" cy="4041648"/>
          </a:xfrm>
          <a:prstGeom prst="roundRect">
            <a:avLst>
              <a:gd name="adj" fmla="val 2623"/>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10" name="Shape 8"/>
          <p:cNvSpPr/>
          <p:nvPr/>
        </p:nvSpPr>
        <p:spPr>
          <a:xfrm>
            <a:off x="3200400" y="1097280"/>
            <a:ext cx="2633472" cy="292608"/>
          </a:xfrm>
          <a:prstGeom prst="roundRect">
            <a:avLst>
              <a:gd name="adj" fmla="val 15625"/>
            </a:avLst>
          </a:prstGeom>
          <a:solidFill>
            <a:srgbClr val="C01060"/>
          </a:solidFill>
          <a:ln w="12700">
            <a:solidFill>
              <a:srgbClr val="C01060"/>
            </a:solidFill>
            <a:prstDash val="solid"/>
          </a:ln>
        </p:spPr>
      </p:sp>
      <p:sp>
        <p:nvSpPr>
          <p:cNvPr id="11" name="Text 9"/>
          <p:cNvSpPr/>
          <p:nvPr/>
        </p:nvSpPr>
        <p:spPr>
          <a:xfrm>
            <a:off x="3200400" y="1097280"/>
            <a:ext cx="263347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PHI COEFFICIENT (φ)</a:t>
            </a:r>
            <a:endParaRPr lang="en-US" sz="1000" dirty="0"/>
          </a:p>
        </p:txBody>
      </p:sp>
      <p:sp>
        <p:nvSpPr>
          <p:cNvPr id="12" name="Text 10"/>
          <p:cNvSpPr/>
          <p:nvPr/>
        </p:nvSpPr>
        <p:spPr>
          <a:xfrm>
            <a:off x="3255264" y="1444752"/>
            <a:ext cx="2596896" cy="2761488"/>
          </a:xfrm>
          <a:prstGeom prst="rect">
            <a:avLst/>
          </a:prstGeom>
          <a:noFill/>
          <a:ln/>
        </p:spPr>
        <p:txBody>
          <a:bodyPr wrap="square" lIns="0" tIns="0" rIns="0" bIns="0" rtlCol="0" anchor="ctr"/>
          <a:lstStyle/>
          <a:p>
            <a:pPr indent="0" marL="0">
              <a:buNone/>
            </a:pPr>
            <a:r>
              <a:rPr lang="en-US" sz="900" dirty="0">
                <a:solidFill>
                  <a:srgbClr val="0C1428"/>
                </a:solidFill>
                <a:latin typeface="Calibri" pitchFamily="34" charset="0"/>
                <a:ea typeface="Calibri" pitchFamily="34" charset="-122"/>
                <a:cs typeface="Calibri" pitchFamily="34" charset="-120"/>
              </a:rPr>
              <a:t>BOTH X and Y are binary (0/1)</a:t>
            </a: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 Pearson r on two 0/1 variables</a:t>
            </a:r>
            <a:endParaRPr lang="en-US" sz="900" dirty="0"/>
          </a:p>
          <a:p>
            <a:pPr indent="0" marL="0">
              <a:buNone/>
            </a:pP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2×2 table: cells a,b,c,d</a:t>
            </a: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φ = (ad-bc)/√[(a+b)(c+d)(a+c)(b+d)]</a:t>
            </a:r>
            <a:endParaRPr lang="en-US" sz="900" dirty="0"/>
          </a:p>
          <a:p>
            <a:pPr indent="0" marL="0">
              <a:buNone/>
            </a:pP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Range: -1 to +1</a:t>
            </a: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Note: achieves ±1 only when</a:t>
            </a: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both marginals are 50/50!</a:t>
            </a: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For unequal marginals, max</a:t>
            </a: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achievable phi &lt; 1.0</a:t>
            </a:r>
            <a:endParaRPr lang="en-US" sz="900" dirty="0"/>
          </a:p>
          <a:p>
            <a:pPr indent="0" marL="0">
              <a:buNone/>
            </a:pP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UAC Foods: Gender vs Gala purchase</a:t>
            </a: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a=115,b=125,c=95,d=115</a:t>
            </a: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φ=(115×115-125×95)/50400</a:t>
            </a: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 1350/50400 = 0.027</a:t>
            </a: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Very weak: gender barely</a:t>
            </a: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predicts Gala purchase.</a:t>
            </a:r>
            <a:endParaRPr lang="en-US" sz="900" dirty="0"/>
          </a:p>
        </p:txBody>
      </p:sp>
      <p:sp>
        <p:nvSpPr>
          <p:cNvPr id="13" name="Text 11"/>
          <p:cNvSpPr/>
          <p:nvPr/>
        </p:nvSpPr>
        <p:spPr>
          <a:xfrm>
            <a:off x="3255264" y="4261104"/>
            <a:ext cx="2596896" cy="201168"/>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See also: Tetrachoric (2 artificial</a:t>
            </a:r>
            <a:endParaRPr lang="en-US" sz="800" dirty="0"/>
          </a:p>
          <a:p>
            <a:pPr indent="0" marL="0">
              <a:buNone/>
            </a:pPr>
            <a:r>
              <a:rPr lang="en-US" sz="800" i="1" dirty="0">
                <a:solidFill>
                  <a:srgbClr val="64748B"/>
                </a:solidFill>
                <a:latin typeface="Calibri" pitchFamily="34" charset="0"/>
                <a:ea typeface="Calibri" pitchFamily="34" charset="-122"/>
                <a:cs typeface="Calibri" pitchFamily="34" charset="-120"/>
              </a:rPr>
              <a:t>binary), Polychoric (2 ordinal)</a:t>
            </a:r>
            <a:endParaRPr lang="en-US" sz="800" dirty="0"/>
          </a:p>
        </p:txBody>
      </p:sp>
      <p:sp>
        <p:nvSpPr>
          <p:cNvPr id="14" name="Shape 12"/>
          <p:cNvSpPr/>
          <p:nvPr/>
        </p:nvSpPr>
        <p:spPr>
          <a:xfrm>
            <a:off x="5998464" y="1024128"/>
            <a:ext cx="2852928" cy="4041648"/>
          </a:xfrm>
          <a:prstGeom prst="roundRect">
            <a:avLst>
              <a:gd name="adj" fmla="val 2564"/>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15" name="Shape 13"/>
          <p:cNvSpPr/>
          <p:nvPr/>
        </p:nvSpPr>
        <p:spPr>
          <a:xfrm>
            <a:off x="6071616" y="1097280"/>
            <a:ext cx="2706624" cy="292608"/>
          </a:xfrm>
          <a:prstGeom prst="roundRect">
            <a:avLst>
              <a:gd name="adj" fmla="val 15625"/>
            </a:avLst>
          </a:prstGeom>
          <a:solidFill>
            <a:srgbClr val="0A8A50"/>
          </a:solidFill>
          <a:ln w="12700">
            <a:solidFill>
              <a:srgbClr val="0A8A50"/>
            </a:solidFill>
            <a:prstDash val="solid"/>
          </a:ln>
        </p:spPr>
      </p:sp>
      <p:sp>
        <p:nvSpPr>
          <p:cNvPr id="16" name="Text 14"/>
          <p:cNvSpPr/>
          <p:nvPr/>
        </p:nvSpPr>
        <p:spPr>
          <a:xfrm>
            <a:off x="6071616" y="1097280"/>
            <a:ext cx="2706624"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PARTIAL CORRELATION r_XY.Z</a:t>
            </a:r>
            <a:endParaRPr lang="en-US" sz="950" dirty="0"/>
          </a:p>
        </p:txBody>
      </p:sp>
      <p:sp>
        <p:nvSpPr>
          <p:cNvPr id="17" name="Text 15"/>
          <p:cNvSpPr/>
          <p:nvPr/>
        </p:nvSpPr>
        <p:spPr>
          <a:xfrm>
            <a:off x="6108192" y="1444752"/>
            <a:ext cx="2706624" cy="2743200"/>
          </a:xfrm>
          <a:prstGeom prst="rect">
            <a:avLst/>
          </a:prstGeom>
          <a:noFill/>
          <a:ln/>
        </p:spPr>
        <p:txBody>
          <a:bodyPr wrap="square" lIns="0" tIns="0" rIns="0" bIns="0" rtlCol="0" anchor="ctr"/>
          <a:lstStyle/>
          <a:p>
            <a:pPr indent="0" marL="0">
              <a:buNone/>
            </a:pPr>
            <a:r>
              <a:rPr lang="en-US" sz="900" dirty="0">
                <a:solidFill>
                  <a:srgbClr val="0C1428"/>
                </a:solidFill>
                <a:latin typeface="Calibri" pitchFamily="34" charset="0"/>
                <a:ea typeface="Calibri" pitchFamily="34" charset="-122"/>
                <a:cs typeface="Calibri" pitchFamily="34" charset="-120"/>
              </a:rPr>
              <a:t>Removes Z from BOTH X and Y.</a:t>
            </a: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'What is X-Y association after</a:t>
            </a: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removing all influence of Z?'</a:t>
            </a:r>
            <a:endParaRPr lang="en-US" sz="900" dirty="0"/>
          </a:p>
          <a:p>
            <a:pPr indent="0" marL="0">
              <a:buNone/>
            </a:pP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Formula:</a:t>
            </a: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r_XY.Z = (r_XY - r_XZ×r_YZ)</a:t>
            </a: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        / √[(1-r_XZ²)(1-r_YZ²)]</a:t>
            </a:r>
            <a:endParaRPr lang="en-US" sz="900" dirty="0"/>
          </a:p>
          <a:p>
            <a:pPr indent="0" marL="0">
              <a:buNone/>
            </a:pP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GTBank Example:</a:t>
            </a: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r_Income,Spend = 0.794</a:t>
            </a: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r_Income,Age = 0.620</a:t>
            </a: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r_Spend,Age = 0.580</a:t>
            </a:r>
            <a:endParaRPr lang="en-US" sz="900" dirty="0"/>
          </a:p>
          <a:p>
            <a:pPr indent="0" marL="0">
              <a:buNone/>
            </a:pP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r_IncSpend.Age =</a:t>
            </a: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(0.794-0.620×0.580)</a:t>
            </a: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/√[(1-0.384)(1-0.336)]</a:t>
            </a: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 0.434/0.640 = 0.678</a:t>
            </a:r>
            <a:endParaRPr lang="en-US" sz="900" dirty="0"/>
          </a:p>
          <a:p>
            <a:pPr indent="0" marL="0">
              <a:buNone/>
            </a:pP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Age accounts for SOME but not</a:t>
            </a: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all of the income-spend link.</a:t>
            </a:r>
            <a:endParaRPr lang="en-US" sz="900" dirty="0"/>
          </a:p>
          <a:p>
            <a:pPr indent="0" marL="0">
              <a:buNone/>
            </a:pPr>
            <a:r>
              <a:rPr lang="en-US" sz="900" dirty="0">
                <a:solidFill>
                  <a:srgbClr val="0C1428"/>
                </a:solidFill>
                <a:latin typeface="Calibri" pitchFamily="34" charset="0"/>
                <a:ea typeface="Calibri" pitchFamily="34" charset="-122"/>
                <a:cs typeface="Calibri" pitchFamily="34" charset="-120"/>
              </a:rPr>
              <a:t>Genuine income effect remains.</a:t>
            </a:r>
            <a:endParaRPr lang="en-US" sz="900" dirty="0"/>
          </a:p>
        </p:txBody>
      </p:sp>
      <p:sp>
        <p:nvSpPr>
          <p:cNvPr id="18" name="Text 16"/>
          <p:cNvSpPr/>
          <p:nvPr/>
        </p:nvSpPr>
        <p:spPr>
          <a:xfrm>
            <a:off x="6108192" y="4242816"/>
            <a:ext cx="2706624" cy="201168"/>
          </a:xfrm>
          <a:prstGeom prst="rect">
            <a:avLst/>
          </a:prstGeom>
          <a:noFill/>
          <a:ln/>
        </p:spPr>
        <p:txBody>
          <a:bodyPr wrap="square" lIns="0" tIns="0" rIns="0" bIns="0" rtlCol="0" anchor="ctr"/>
          <a:lstStyle/>
          <a:p>
            <a:pPr indent="0" marL="0">
              <a:buNone/>
            </a:pPr>
            <a:r>
              <a:rPr lang="en-US" sz="800" i="1" dirty="0">
                <a:solidFill>
                  <a:srgbClr val="0A8A50"/>
                </a:solidFill>
                <a:latin typeface="Calibri" pitchFamily="34" charset="0"/>
                <a:ea typeface="Calibri" pitchFamily="34" charset="-122"/>
                <a:cs typeface="Calibri" pitchFamily="34" charset="-120"/>
              </a:rPr>
              <a:t>Semi-partial r² = unique ΔR²</a:t>
            </a:r>
            <a:endParaRPr lang="en-US" sz="800" dirty="0"/>
          </a:p>
          <a:p>
            <a:pPr indent="0" marL="0">
              <a:buNone/>
            </a:pPr>
            <a:r>
              <a:rPr lang="en-US" sz="800" i="1" dirty="0">
                <a:solidFill>
                  <a:srgbClr val="0A8A50"/>
                </a:solidFill>
                <a:latin typeface="Calibri" pitchFamily="34" charset="0"/>
                <a:ea typeface="Calibri" pitchFamily="34" charset="-122"/>
                <a:cs typeface="Calibri" pitchFamily="34" charset="-120"/>
              </a:rPr>
              <a:t>when X added to model with Z</a:t>
            </a:r>
            <a:endParaRPr lang="en-US" sz="800" dirty="0"/>
          </a:p>
        </p:txBody>
      </p:sp>
      <p:sp>
        <p:nvSpPr>
          <p:cNvPr id="19" name="Shape 17"/>
          <p:cNvSpPr/>
          <p:nvPr/>
        </p:nvSpPr>
        <p:spPr>
          <a:xfrm>
            <a:off x="256032" y="5138928"/>
            <a:ext cx="8631936" cy="347472"/>
          </a:xfrm>
          <a:prstGeom prst="roundRect">
            <a:avLst>
              <a:gd name="adj" fmla="val 15789"/>
            </a:avLst>
          </a:prstGeom>
          <a:solidFill>
            <a:srgbClr val="FFFBEC"/>
          </a:solidFill>
          <a:ln w="19050">
            <a:solidFill>
              <a:srgbClr val="D4A010"/>
            </a:solidFill>
            <a:prstDash val="solid"/>
          </a:ln>
        </p:spPr>
      </p:sp>
      <p:sp>
        <p:nvSpPr>
          <p:cNvPr id="20" name="Text 18"/>
          <p:cNvSpPr/>
          <p:nvPr/>
        </p:nvSpPr>
        <p:spPr>
          <a:xfrm>
            <a:off x="365760" y="5138928"/>
            <a:ext cx="8449056" cy="347472"/>
          </a:xfrm>
          <a:prstGeom prst="rect">
            <a:avLst/>
          </a:prstGeom>
          <a:noFill/>
          <a:ln/>
        </p:spPr>
        <p:txBody>
          <a:bodyPr wrap="square" lIns="0" tIns="0" rIns="0" bIns="0" rtlCol="0" anchor="ctr"/>
          <a:lstStyle/>
          <a:p>
            <a:pPr indent="0" marL="0">
              <a:buNone/>
            </a:pPr>
            <a:r>
              <a:rPr lang="en-US" sz="950" dirty="0">
                <a:solidFill>
                  <a:srgbClr val="6B4800"/>
                </a:solidFill>
                <a:latin typeface="Calibri" pitchFamily="34" charset="0"/>
                <a:ea typeface="Calibri" pitchFamily="34" charset="-122"/>
                <a:cs typeface="Calibri" pitchFamily="34" charset="-120"/>
              </a:rPr>
              <a:t>SPSS: Bivariate correlation → Analyze&gt;Correlate&gt;Bivariate (tick Pearson/Spearman/Kendall). Partial → Analyze&gt;Correlate&gt;Partial. Semi-partial via Regression → Statistics&gt;Part and partial correlations.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5943600" y="-1371600"/>
            <a:ext cx="5029200" cy="5029200"/>
          </a:xfrm>
          <a:prstGeom prst="ellipse">
            <a:avLst/>
          </a:prstGeom>
          <a:solidFill>
            <a:srgbClr val="0A7E8C">
              <a:alpha val="20000"/>
            </a:srgbClr>
          </a:solidFill>
          <a:ln w="12700">
            <a:solidFill>
              <a:srgbClr val="0A7E8C"/>
            </a:solidFill>
            <a:prstDash val="solid"/>
          </a:ln>
        </p:spPr>
      </p:sp>
      <p:sp>
        <p:nvSpPr>
          <p:cNvPr id="3" name="Shape 1"/>
          <p:cNvSpPr/>
          <p:nvPr/>
        </p:nvSpPr>
        <p:spPr>
          <a:xfrm>
            <a:off x="-1097280" y="3200400"/>
            <a:ext cx="3657600" cy="3657600"/>
          </a:xfrm>
          <a:prstGeom prst="ellipse">
            <a:avLst/>
          </a:prstGeom>
          <a:solidFill>
            <a:srgbClr val="D4A010">
              <a:alpha val="12000"/>
            </a:srgbClr>
          </a:solidFill>
          <a:ln w="12700">
            <a:solidFill>
              <a:srgbClr val="D4A010"/>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0"/>
                </a:solidFill>
                <a:latin typeface="Calibri" pitchFamily="34" charset="0"/>
                <a:ea typeface="Calibri" pitchFamily="34" charset="-122"/>
                <a:cs typeface="Calibri" pitchFamily="34" charset="-120"/>
              </a:rPr>
              <a:t>CORRELATION  |  SECTION 04</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The Correlation Matrix</a:t>
            </a:r>
            <a:endParaRPr lang="en-US" sz="36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90D8E0"/>
                </a:solidFill>
                <a:latin typeface="Calibri" pitchFamily="34" charset="0"/>
                <a:ea typeface="Calibri" pitchFamily="34" charset="-122"/>
                <a:cs typeface="Calibri" pitchFamily="34" charset="-120"/>
              </a:rPr>
              <a:t>Reading, interpreting patterns, multicollinearity and significance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70C18"/>
          </a:solidFill>
          <a:ln w="12700">
            <a:solidFill>
              <a:srgbClr val="070C18"/>
            </a:solidFill>
            <a:prstDash val="solid"/>
          </a:ln>
        </p:spPr>
      </p:sp>
      <p:sp>
        <p:nvSpPr>
          <p:cNvPr id="3" name="Text 1"/>
          <p:cNvSpPr/>
          <p:nvPr/>
        </p:nvSpPr>
        <p:spPr>
          <a:xfrm>
            <a:off x="438912"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GTBank 7-Variable Correlation Matrix - Complete Reading Guide</a:t>
            </a:r>
            <a:endParaRPr lang="en-US" sz="2100" dirty="0"/>
          </a:p>
        </p:txBody>
      </p:sp>
      <p:sp>
        <p:nvSpPr>
          <p:cNvPr id="4" name="Shape 2"/>
          <p:cNvSpPr/>
          <p:nvPr/>
        </p:nvSpPr>
        <p:spPr>
          <a:xfrm>
            <a:off x="256032" y="1024128"/>
            <a:ext cx="1115568" cy="256032"/>
          </a:xfrm>
          <a:prstGeom prst="rect">
            <a:avLst/>
          </a:prstGeom>
          <a:solidFill>
            <a:srgbClr val="070C18"/>
          </a:solidFill>
          <a:ln w="12700">
            <a:solidFill>
              <a:srgbClr val="070C18"/>
            </a:solidFill>
            <a:prstDash val="solid"/>
          </a:ln>
        </p:spPr>
      </p:sp>
      <p:sp>
        <p:nvSpPr>
          <p:cNvPr id="5" name="Text 3"/>
          <p:cNvSpPr/>
          <p:nvPr/>
        </p:nvSpPr>
        <p:spPr>
          <a:xfrm>
            <a:off x="256032" y="1024128"/>
            <a:ext cx="1115568"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Variable</a:t>
            </a:r>
            <a:endParaRPr lang="en-US" sz="800" dirty="0"/>
          </a:p>
        </p:txBody>
      </p:sp>
      <p:sp>
        <p:nvSpPr>
          <p:cNvPr id="6" name="Shape 4"/>
          <p:cNvSpPr/>
          <p:nvPr/>
        </p:nvSpPr>
        <p:spPr>
          <a:xfrm>
            <a:off x="1371600" y="1024128"/>
            <a:ext cx="987552" cy="256032"/>
          </a:xfrm>
          <a:prstGeom prst="rect">
            <a:avLst/>
          </a:prstGeom>
          <a:solidFill>
            <a:srgbClr val="070C18"/>
          </a:solidFill>
          <a:ln w="12700">
            <a:solidFill>
              <a:srgbClr val="070C18"/>
            </a:solidFill>
            <a:prstDash val="solid"/>
          </a:ln>
        </p:spPr>
      </p:sp>
      <p:sp>
        <p:nvSpPr>
          <p:cNvPr id="7" name="Text 5"/>
          <p:cNvSpPr/>
          <p:nvPr/>
        </p:nvSpPr>
        <p:spPr>
          <a:xfrm>
            <a:off x="1371600" y="1024128"/>
            <a:ext cx="98755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Income</a:t>
            </a:r>
            <a:endParaRPr lang="en-US" sz="800" dirty="0"/>
          </a:p>
        </p:txBody>
      </p:sp>
      <p:sp>
        <p:nvSpPr>
          <p:cNvPr id="8" name="Shape 6"/>
          <p:cNvSpPr/>
          <p:nvPr/>
        </p:nvSpPr>
        <p:spPr>
          <a:xfrm>
            <a:off x="2359152" y="1024128"/>
            <a:ext cx="987552" cy="256032"/>
          </a:xfrm>
          <a:prstGeom prst="rect">
            <a:avLst/>
          </a:prstGeom>
          <a:solidFill>
            <a:srgbClr val="070C18"/>
          </a:solidFill>
          <a:ln w="12700">
            <a:solidFill>
              <a:srgbClr val="070C18"/>
            </a:solidFill>
            <a:prstDash val="solid"/>
          </a:ln>
        </p:spPr>
      </p:sp>
      <p:sp>
        <p:nvSpPr>
          <p:cNvPr id="9" name="Text 7"/>
          <p:cNvSpPr/>
          <p:nvPr/>
        </p:nvSpPr>
        <p:spPr>
          <a:xfrm>
            <a:off x="2359152" y="1024128"/>
            <a:ext cx="98755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Spending</a:t>
            </a:r>
            <a:endParaRPr lang="en-US" sz="800" dirty="0"/>
          </a:p>
        </p:txBody>
      </p:sp>
      <p:sp>
        <p:nvSpPr>
          <p:cNvPr id="10" name="Shape 8"/>
          <p:cNvSpPr/>
          <p:nvPr/>
        </p:nvSpPr>
        <p:spPr>
          <a:xfrm>
            <a:off x="3346704" y="1024128"/>
            <a:ext cx="987552" cy="256032"/>
          </a:xfrm>
          <a:prstGeom prst="rect">
            <a:avLst/>
          </a:prstGeom>
          <a:solidFill>
            <a:srgbClr val="070C18"/>
          </a:solidFill>
          <a:ln w="12700">
            <a:solidFill>
              <a:srgbClr val="070C18"/>
            </a:solidFill>
            <a:prstDash val="solid"/>
          </a:ln>
        </p:spPr>
      </p:sp>
      <p:sp>
        <p:nvSpPr>
          <p:cNvPr id="11" name="Text 9"/>
          <p:cNvSpPr/>
          <p:nvPr/>
        </p:nvSpPr>
        <p:spPr>
          <a:xfrm>
            <a:off x="3346704" y="1024128"/>
            <a:ext cx="98755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Savings</a:t>
            </a:r>
            <a:endParaRPr lang="en-US" sz="800" dirty="0"/>
          </a:p>
        </p:txBody>
      </p:sp>
      <p:sp>
        <p:nvSpPr>
          <p:cNvPr id="12" name="Shape 10"/>
          <p:cNvSpPr/>
          <p:nvPr/>
        </p:nvSpPr>
        <p:spPr>
          <a:xfrm>
            <a:off x="4334256" y="1024128"/>
            <a:ext cx="987552" cy="256032"/>
          </a:xfrm>
          <a:prstGeom prst="rect">
            <a:avLst/>
          </a:prstGeom>
          <a:solidFill>
            <a:srgbClr val="070C18"/>
          </a:solidFill>
          <a:ln w="12700">
            <a:solidFill>
              <a:srgbClr val="070C18"/>
            </a:solidFill>
            <a:prstDash val="solid"/>
          </a:ln>
        </p:spPr>
      </p:sp>
      <p:sp>
        <p:nvSpPr>
          <p:cNvPr id="13" name="Text 11"/>
          <p:cNvSpPr/>
          <p:nvPr/>
        </p:nvSpPr>
        <p:spPr>
          <a:xfrm>
            <a:off x="4334256" y="1024128"/>
            <a:ext cx="98755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Debt</a:t>
            </a:r>
            <a:endParaRPr lang="en-US" sz="800" dirty="0"/>
          </a:p>
        </p:txBody>
      </p:sp>
      <p:sp>
        <p:nvSpPr>
          <p:cNvPr id="14" name="Shape 12"/>
          <p:cNvSpPr/>
          <p:nvPr/>
        </p:nvSpPr>
        <p:spPr>
          <a:xfrm>
            <a:off x="5321808" y="1024128"/>
            <a:ext cx="987552" cy="256032"/>
          </a:xfrm>
          <a:prstGeom prst="rect">
            <a:avLst/>
          </a:prstGeom>
          <a:solidFill>
            <a:srgbClr val="070C18"/>
          </a:solidFill>
          <a:ln w="12700">
            <a:solidFill>
              <a:srgbClr val="070C18"/>
            </a:solidFill>
            <a:prstDash val="solid"/>
          </a:ln>
        </p:spPr>
      </p:sp>
      <p:sp>
        <p:nvSpPr>
          <p:cNvPr id="15" name="Text 13"/>
          <p:cNvSpPr/>
          <p:nvPr/>
        </p:nvSpPr>
        <p:spPr>
          <a:xfrm>
            <a:off x="5321808" y="1024128"/>
            <a:ext cx="98755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Credit Scr</a:t>
            </a:r>
            <a:endParaRPr lang="en-US" sz="800" dirty="0"/>
          </a:p>
        </p:txBody>
      </p:sp>
      <p:sp>
        <p:nvSpPr>
          <p:cNvPr id="16" name="Shape 14"/>
          <p:cNvSpPr/>
          <p:nvPr/>
        </p:nvSpPr>
        <p:spPr>
          <a:xfrm>
            <a:off x="6309360" y="1024128"/>
            <a:ext cx="987552" cy="256032"/>
          </a:xfrm>
          <a:prstGeom prst="rect">
            <a:avLst/>
          </a:prstGeom>
          <a:solidFill>
            <a:srgbClr val="070C18"/>
          </a:solidFill>
          <a:ln w="12700">
            <a:solidFill>
              <a:srgbClr val="070C18"/>
            </a:solidFill>
            <a:prstDash val="solid"/>
          </a:ln>
        </p:spPr>
      </p:sp>
      <p:sp>
        <p:nvSpPr>
          <p:cNvPr id="17" name="Text 15"/>
          <p:cNvSpPr/>
          <p:nvPr/>
        </p:nvSpPr>
        <p:spPr>
          <a:xfrm>
            <a:off x="6309360" y="1024128"/>
            <a:ext cx="98755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Age</a:t>
            </a:r>
            <a:endParaRPr lang="en-US" sz="800" dirty="0"/>
          </a:p>
        </p:txBody>
      </p:sp>
      <p:sp>
        <p:nvSpPr>
          <p:cNvPr id="18" name="Shape 16"/>
          <p:cNvSpPr/>
          <p:nvPr/>
        </p:nvSpPr>
        <p:spPr>
          <a:xfrm>
            <a:off x="7296912" y="1024128"/>
            <a:ext cx="987552" cy="256032"/>
          </a:xfrm>
          <a:prstGeom prst="rect">
            <a:avLst/>
          </a:prstGeom>
          <a:solidFill>
            <a:srgbClr val="070C18"/>
          </a:solidFill>
          <a:ln w="12700">
            <a:solidFill>
              <a:srgbClr val="070C18"/>
            </a:solidFill>
            <a:prstDash val="solid"/>
          </a:ln>
        </p:spPr>
      </p:sp>
      <p:sp>
        <p:nvSpPr>
          <p:cNvPr id="19" name="Text 17"/>
          <p:cNvSpPr/>
          <p:nvPr/>
        </p:nvSpPr>
        <p:spPr>
          <a:xfrm>
            <a:off x="7296912" y="1024128"/>
            <a:ext cx="98755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Txn Freq</a:t>
            </a:r>
            <a:endParaRPr lang="en-US" sz="800" dirty="0"/>
          </a:p>
        </p:txBody>
      </p:sp>
      <p:sp>
        <p:nvSpPr>
          <p:cNvPr id="20" name="Shape 18"/>
          <p:cNvSpPr/>
          <p:nvPr/>
        </p:nvSpPr>
        <p:spPr>
          <a:xfrm>
            <a:off x="256032" y="1280160"/>
            <a:ext cx="1115568" cy="256032"/>
          </a:xfrm>
          <a:prstGeom prst="rect">
            <a:avLst/>
          </a:prstGeom>
          <a:solidFill>
            <a:srgbClr val="EAF6FA"/>
          </a:solidFill>
          <a:ln w="6350">
            <a:solidFill>
              <a:srgbClr val="A0C8D8"/>
            </a:solidFill>
            <a:prstDash val="solid"/>
          </a:ln>
        </p:spPr>
      </p:sp>
      <p:sp>
        <p:nvSpPr>
          <p:cNvPr id="21" name="Text 19"/>
          <p:cNvSpPr/>
          <p:nvPr/>
        </p:nvSpPr>
        <p:spPr>
          <a:xfrm>
            <a:off x="256032" y="1280160"/>
            <a:ext cx="1115568"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Income</a:t>
            </a:r>
            <a:endParaRPr lang="en-US" sz="800" dirty="0"/>
          </a:p>
        </p:txBody>
      </p:sp>
      <p:sp>
        <p:nvSpPr>
          <p:cNvPr id="22" name="Shape 20"/>
          <p:cNvSpPr/>
          <p:nvPr/>
        </p:nvSpPr>
        <p:spPr>
          <a:xfrm>
            <a:off x="1371600" y="1280160"/>
            <a:ext cx="987552" cy="256032"/>
          </a:xfrm>
          <a:prstGeom prst="rect">
            <a:avLst/>
          </a:prstGeom>
          <a:solidFill>
            <a:srgbClr val="EAF6FA"/>
          </a:solidFill>
          <a:ln w="6350">
            <a:solidFill>
              <a:srgbClr val="A0C8D8"/>
            </a:solidFill>
            <a:prstDash val="solid"/>
          </a:ln>
        </p:spPr>
      </p:sp>
      <p:sp>
        <p:nvSpPr>
          <p:cNvPr id="23" name="Text 21"/>
          <p:cNvSpPr/>
          <p:nvPr/>
        </p:nvSpPr>
        <p:spPr>
          <a:xfrm>
            <a:off x="1371600" y="1280160"/>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1.000</a:t>
            </a:r>
            <a:endParaRPr lang="en-US" sz="800" dirty="0"/>
          </a:p>
        </p:txBody>
      </p:sp>
      <p:sp>
        <p:nvSpPr>
          <p:cNvPr id="24" name="Shape 22"/>
          <p:cNvSpPr/>
          <p:nvPr/>
        </p:nvSpPr>
        <p:spPr>
          <a:xfrm>
            <a:off x="2359152" y="1280160"/>
            <a:ext cx="987552" cy="256032"/>
          </a:xfrm>
          <a:prstGeom prst="rect">
            <a:avLst/>
          </a:prstGeom>
          <a:solidFill>
            <a:srgbClr val="C0F0FF"/>
          </a:solidFill>
          <a:ln w="6350">
            <a:solidFill>
              <a:srgbClr val="A0C8D8"/>
            </a:solidFill>
            <a:prstDash val="solid"/>
          </a:ln>
        </p:spPr>
      </p:sp>
      <p:sp>
        <p:nvSpPr>
          <p:cNvPr id="25" name="Text 23"/>
          <p:cNvSpPr/>
          <p:nvPr/>
        </p:nvSpPr>
        <p:spPr>
          <a:xfrm>
            <a:off x="2359152" y="1280160"/>
            <a:ext cx="987552"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0.794**</a:t>
            </a:r>
            <a:endParaRPr lang="en-US" sz="800" dirty="0"/>
          </a:p>
        </p:txBody>
      </p:sp>
      <p:sp>
        <p:nvSpPr>
          <p:cNvPr id="26" name="Shape 24"/>
          <p:cNvSpPr/>
          <p:nvPr/>
        </p:nvSpPr>
        <p:spPr>
          <a:xfrm>
            <a:off x="3346704" y="1280160"/>
            <a:ext cx="987552" cy="256032"/>
          </a:xfrm>
          <a:prstGeom prst="rect">
            <a:avLst/>
          </a:prstGeom>
          <a:solidFill>
            <a:srgbClr val="C0F0FF"/>
          </a:solidFill>
          <a:ln w="6350">
            <a:solidFill>
              <a:srgbClr val="A0C8D8"/>
            </a:solidFill>
            <a:prstDash val="solid"/>
          </a:ln>
        </p:spPr>
      </p:sp>
      <p:sp>
        <p:nvSpPr>
          <p:cNvPr id="27" name="Text 25"/>
          <p:cNvSpPr/>
          <p:nvPr/>
        </p:nvSpPr>
        <p:spPr>
          <a:xfrm>
            <a:off x="3346704" y="1280160"/>
            <a:ext cx="987552"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0.681**</a:t>
            </a:r>
            <a:endParaRPr lang="en-US" sz="800" dirty="0"/>
          </a:p>
        </p:txBody>
      </p:sp>
      <p:sp>
        <p:nvSpPr>
          <p:cNvPr id="28" name="Shape 26"/>
          <p:cNvSpPr/>
          <p:nvPr/>
        </p:nvSpPr>
        <p:spPr>
          <a:xfrm>
            <a:off x="4334256" y="1280160"/>
            <a:ext cx="987552" cy="256032"/>
          </a:xfrm>
          <a:prstGeom prst="rect">
            <a:avLst/>
          </a:prstGeom>
          <a:solidFill>
            <a:srgbClr val="EAF6FA"/>
          </a:solidFill>
          <a:ln w="6350">
            <a:solidFill>
              <a:srgbClr val="A0C8D8"/>
            </a:solidFill>
            <a:prstDash val="solid"/>
          </a:ln>
        </p:spPr>
      </p:sp>
      <p:sp>
        <p:nvSpPr>
          <p:cNvPr id="29" name="Text 27"/>
          <p:cNvSpPr/>
          <p:nvPr/>
        </p:nvSpPr>
        <p:spPr>
          <a:xfrm>
            <a:off x="4334256" y="1280160"/>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-0.342**</a:t>
            </a:r>
            <a:endParaRPr lang="en-US" sz="800" dirty="0"/>
          </a:p>
        </p:txBody>
      </p:sp>
      <p:sp>
        <p:nvSpPr>
          <p:cNvPr id="30" name="Shape 28"/>
          <p:cNvSpPr/>
          <p:nvPr/>
        </p:nvSpPr>
        <p:spPr>
          <a:xfrm>
            <a:off x="5321808" y="1280160"/>
            <a:ext cx="987552" cy="256032"/>
          </a:xfrm>
          <a:prstGeom prst="rect">
            <a:avLst/>
          </a:prstGeom>
          <a:solidFill>
            <a:srgbClr val="EAF6FA"/>
          </a:solidFill>
          <a:ln w="6350">
            <a:solidFill>
              <a:srgbClr val="A0C8D8"/>
            </a:solidFill>
            <a:prstDash val="solid"/>
          </a:ln>
        </p:spPr>
      </p:sp>
      <p:sp>
        <p:nvSpPr>
          <p:cNvPr id="31" name="Text 29"/>
          <p:cNvSpPr/>
          <p:nvPr/>
        </p:nvSpPr>
        <p:spPr>
          <a:xfrm>
            <a:off x="5321808" y="1280160"/>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0.518**</a:t>
            </a:r>
            <a:endParaRPr lang="en-US" sz="800" dirty="0"/>
          </a:p>
        </p:txBody>
      </p:sp>
      <p:sp>
        <p:nvSpPr>
          <p:cNvPr id="32" name="Shape 30"/>
          <p:cNvSpPr/>
          <p:nvPr/>
        </p:nvSpPr>
        <p:spPr>
          <a:xfrm>
            <a:off x="6309360" y="1280160"/>
            <a:ext cx="987552" cy="256032"/>
          </a:xfrm>
          <a:prstGeom prst="rect">
            <a:avLst/>
          </a:prstGeom>
          <a:solidFill>
            <a:srgbClr val="C0F0FF"/>
          </a:solidFill>
          <a:ln w="6350">
            <a:solidFill>
              <a:srgbClr val="A0C8D8"/>
            </a:solidFill>
            <a:prstDash val="solid"/>
          </a:ln>
        </p:spPr>
      </p:sp>
      <p:sp>
        <p:nvSpPr>
          <p:cNvPr id="33" name="Text 31"/>
          <p:cNvSpPr/>
          <p:nvPr/>
        </p:nvSpPr>
        <p:spPr>
          <a:xfrm>
            <a:off x="6309360" y="1280160"/>
            <a:ext cx="987552"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0.620**</a:t>
            </a:r>
            <a:endParaRPr lang="en-US" sz="800" dirty="0"/>
          </a:p>
        </p:txBody>
      </p:sp>
      <p:sp>
        <p:nvSpPr>
          <p:cNvPr id="34" name="Shape 32"/>
          <p:cNvSpPr/>
          <p:nvPr/>
        </p:nvSpPr>
        <p:spPr>
          <a:xfrm>
            <a:off x="7296912" y="1280160"/>
            <a:ext cx="987552" cy="256032"/>
          </a:xfrm>
          <a:prstGeom prst="rect">
            <a:avLst/>
          </a:prstGeom>
          <a:solidFill>
            <a:srgbClr val="EAF6FA"/>
          </a:solidFill>
          <a:ln w="6350">
            <a:solidFill>
              <a:srgbClr val="A0C8D8"/>
            </a:solidFill>
            <a:prstDash val="solid"/>
          </a:ln>
        </p:spPr>
      </p:sp>
      <p:sp>
        <p:nvSpPr>
          <p:cNvPr id="35" name="Text 33"/>
          <p:cNvSpPr/>
          <p:nvPr/>
        </p:nvSpPr>
        <p:spPr>
          <a:xfrm>
            <a:off x="7296912" y="1280160"/>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0.445**</a:t>
            </a:r>
            <a:endParaRPr lang="en-US" sz="800" dirty="0"/>
          </a:p>
        </p:txBody>
      </p:sp>
      <p:sp>
        <p:nvSpPr>
          <p:cNvPr id="36" name="Shape 34"/>
          <p:cNvSpPr/>
          <p:nvPr/>
        </p:nvSpPr>
        <p:spPr>
          <a:xfrm>
            <a:off x="256032" y="1536192"/>
            <a:ext cx="1115568" cy="256032"/>
          </a:xfrm>
          <a:prstGeom prst="rect">
            <a:avLst/>
          </a:prstGeom>
          <a:solidFill>
            <a:srgbClr val="FFFFFF"/>
          </a:solidFill>
          <a:ln w="6350">
            <a:solidFill>
              <a:srgbClr val="A0C8D8"/>
            </a:solidFill>
            <a:prstDash val="solid"/>
          </a:ln>
        </p:spPr>
      </p:sp>
      <p:sp>
        <p:nvSpPr>
          <p:cNvPr id="37" name="Text 35"/>
          <p:cNvSpPr/>
          <p:nvPr/>
        </p:nvSpPr>
        <p:spPr>
          <a:xfrm>
            <a:off x="256032" y="1536192"/>
            <a:ext cx="1115568"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Spending</a:t>
            </a:r>
            <a:endParaRPr lang="en-US" sz="800" dirty="0"/>
          </a:p>
        </p:txBody>
      </p:sp>
      <p:sp>
        <p:nvSpPr>
          <p:cNvPr id="38" name="Shape 36"/>
          <p:cNvSpPr/>
          <p:nvPr/>
        </p:nvSpPr>
        <p:spPr>
          <a:xfrm>
            <a:off x="1371600" y="1536192"/>
            <a:ext cx="987552" cy="256032"/>
          </a:xfrm>
          <a:prstGeom prst="rect">
            <a:avLst/>
          </a:prstGeom>
          <a:solidFill>
            <a:srgbClr val="FFFFFF"/>
          </a:solidFill>
          <a:ln w="6350">
            <a:solidFill>
              <a:srgbClr val="A0C8D8"/>
            </a:solidFill>
            <a:prstDash val="solid"/>
          </a:ln>
        </p:spPr>
      </p:sp>
      <p:sp>
        <p:nvSpPr>
          <p:cNvPr id="39" name="Text 37"/>
          <p:cNvSpPr/>
          <p:nvPr/>
        </p:nvSpPr>
        <p:spPr>
          <a:xfrm>
            <a:off x="1371600" y="1536192"/>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0.794**</a:t>
            </a:r>
            <a:endParaRPr lang="en-US" sz="800" dirty="0"/>
          </a:p>
        </p:txBody>
      </p:sp>
      <p:sp>
        <p:nvSpPr>
          <p:cNvPr id="40" name="Shape 38"/>
          <p:cNvSpPr/>
          <p:nvPr/>
        </p:nvSpPr>
        <p:spPr>
          <a:xfrm>
            <a:off x="2359152" y="1536192"/>
            <a:ext cx="987552" cy="256032"/>
          </a:xfrm>
          <a:prstGeom prst="rect">
            <a:avLst/>
          </a:prstGeom>
          <a:solidFill>
            <a:srgbClr val="FFFFFF"/>
          </a:solidFill>
          <a:ln w="6350">
            <a:solidFill>
              <a:srgbClr val="A0C8D8"/>
            </a:solidFill>
            <a:prstDash val="solid"/>
          </a:ln>
        </p:spPr>
      </p:sp>
      <p:sp>
        <p:nvSpPr>
          <p:cNvPr id="41" name="Text 39"/>
          <p:cNvSpPr/>
          <p:nvPr/>
        </p:nvSpPr>
        <p:spPr>
          <a:xfrm>
            <a:off x="2359152" y="1536192"/>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1.000</a:t>
            </a:r>
            <a:endParaRPr lang="en-US" sz="800" dirty="0"/>
          </a:p>
        </p:txBody>
      </p:sp>
      <p:sp>
        <p:nvSpPr>
          <p:cNvPr id="42" name="Shape 40"/>
          <p:cNvSpPr/>
          <p:nvPr/>
        </p:nvSpPr>
        <p:spPr>
          <a:xfrm>
            <a:off x="3346704" y="1536192"/>
            <a:ext cx="987552" cy="256032"/>
          </a:xfrm>
          <a:prstGeom prst="rect">
            <a:avLst/>
          </a:prstGeom>
          <a:solidFill>
            <a:srgbClr val="FFFFFF"/>
          </a:solidFill>
          <a:ln w="6350">
            <a:solidFill>
              <a:srgbClr val="A0C8D8"/>
            </a:solidFill>
            <a:prstDash val="solid"/>
          </a:ln>
        </p:spPr>
      </p:sp>
      <p:sp>
        <p:nvSpPr>
          <p:cNvPr id="43" name="Text 41"/>
          <p:cNvSpPr/>
          <p:nvPr/>
        </p:nvSpPr>
        <p:spPr>
          <a:xfrm>
            <a:off x="3346704" y="1536192"/>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0.523**</a:t>
            </a:r>
            <a:endParaRPr lang="en-US" sz="800" dirty="0"/>
          </a:p>
        </p:txBody>
      </p:sp>
      <p:sp>
        <p:nvSpPr>
          <p:cNvPr id="44" name="Shape 42"/>
          <p:cNvSpPr/>
          <p:nvPr/>
        </p:nvSpPr>
        <p:spPr>
          <a:xfrm>
            <a:off x="4334256" y="1536192"/>
            <a:ext cx="987552" cy="256032"/>
          </a:xfrm>
          <a:prstGeom prst="rect">
            <a:avLst/>
          </a:prstGeom>
          <a:solidFill>
            <a:srgbClr val="FFFFFF"/>
          </a:solidFill>
          <a:ln w="6350">
            <a:solidFill>
              <a:srgbClr val="A0C8D8"/>
            </a:solidFill>
            <a:prstDash val="solid"/>
          </a:ln>
        </p:spPr>
      </p:sp>
      <p:sp>
        <p:nvSpPr>
          <p:cNvPr id="45" name="Text 43"/>
          <p:cNvSpPr/>
          <p:nvPr/>
        </p:nvSpPr>
        <p:spPr>
          <a:xfrm>
            <a:off x="4334256" y="1536192"/>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-0.218**</a:t>
            </a:r>
            <a:endParaRPr lang="en-US" sz="800" dirty="0"/>
          </a:p>
        </p:txBody>
      </p:sp>
      <p:sp>
        <p:nvSpPr>
          <p:cNvPr id="46" name="Shape 44"/>
          <p:cNvSpPr/>
          <p:nvPr/>
        </p:nvSpPr>
        <p:spPr>
          <a:xfrm>
            <a:off x="5321808" y="1536192"/>
            <a:ext cx="987552" cy="256032"/>
          </a:xfrm>
          <a:prstGeom prst="rect">
            <a:avLst/>
          </a:prstGeom>
          <a:solidFill>
            <a:srgbClr val="FFFFFF"/>
          </a:solidFill>
          <a:ln w="6350">
            <a:solidFill>
              <a:srgbClr val="A0C8D8"/>
            </a:solidFill>
            <a:prstDash val="solid"/>
          </a:ln>
        </p:spPr>
      </p:sp>
      <p:sp>
        <p:nvSpPr>
          <p:cNvPr id="47" name="Text 45"/>
          <p:cNvSpPr/>
          <p:nvPr/>
        </p:nvSpPr>
        <p:spPr>
          <a:xfrm>
            <a:off x="5321808" y="1536192"/>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0.387**</a:t>
            </a:r>
            <a:endParaRPr lang="en-US" sz="800" dirty="0"/>
          </a:p>
        </p:txBody>
      </p:sp>
      <p:sp>
        <p:nvSpPr>
          <p:cNvPr id="48" name="Shape 46"/>
          <p:cNvSpPr/>
          <p:nvPr/>
        </p:nvSpPr>
        <p:spPr>
          <a:xfrm>
            <a:off x="6309360" y="1536192"/>
            <a:ext cx="987552" cy="256032"/>
          </a:xfrm>
          <a:prstGeom prst="rect">
            <a:avLst/>
          </a:prstGeom>
          <a:solidFill>
            <a:srgbClr val="FFFFFF"/>
          </a:solidFill>
          <a:ln w="6350">
            <a:solidFill>
              <a:srgbClr val="A0C8D8"/>
            </a:solidFill>
            <a:prstDash val="solid"/>
          </a:ln>
        </p:spPr>
      </p:sp>
      <p:sp>
        <p:nvSpPr>
          <p:cNvPr id="49" name="Text 47"/>
          <p:cNvSpPr/>
          <p:nvPr/>
        </p:nvSpPr>
        <p:spPr>
          <a:xfrm>
            <a:off x="6309360" y="1536192"/>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0.482**</a:t>
            </a:r>
            <a:endParaRPr lang="en-US" sz="800" dirty="0"/>
          </a:p>
        </p:txBody>
      </p:sp>
      <p:sp>
        <p:nvSpPr>
          <p:cNvPr id="50" name="Shape 48"/>
          <p:cNvSpPr/>
          <p:nvPr/>
        </p:nvSpPr>
        <p:spPr>
          <a:xfrm>
            <a:off x="7296912" y="1536192"/>
            <a:ext cx="987552" cy="256032"/>
          </a:xfrm>
          <a:prstGeom prst="rect">
            <a:avLst/>
          </a:prstGeom>
          <a:solidFill>
            <a:srgbClr val="C0F0FF"/>
          </a:solidFill>
          <a:ln w="6350">
            <a:solidFill>
              <a:srgbClr val="A0C8D8"/>
            </a:solidFill>
            <a:prstDash val="solid"/>
          </a:ln>
        </p:spPr>
      </p:sp>
      <p:sp>
        <p:nvSpPr>
          <p:cNvPr id="51" name="Text 49"/>
          <p:cNvSpPr/>
          <p:nvPr/>
        </p:nvSpPr>
        <p:spPr>
          <a:xfrm>
            <a:off x="7296912" y="1536192"/>
            <a:ext cx="987552"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0.618**</a:t>
            </a:r>
            <a:endParaRPr lang="en-US" sz="800" dirty="0"/>
          </a:p>
        </p:txBody>
      </p:sp>
      <p:sp>
        <p:nvSpPr>
          <p:cNvPr id="52" name="Shape 50"/>
          <p:cNvSpPr/>
          <p:nvPr/>
        </p:nvSpPr>
        <p:spPr>
          <a:xfrm>
            <a:off x="256032" y="1792224"/>
            <a:ext cx="1115568" cy="256032"/>
          </a:xfrm>
          <a:prstGeom prst="rect">
            <a:avLst/>
          </a:prstGeom>
          <a:solidFill>
            <a:srgbClr val="EAF6FA"/>
          </a:solidFill>
          <a:ln w="6350">
            <a:solidFill>
              <a:srgbClr val="A0C8D8"/>
            </a:solidFill>
            <a:prstDash val="solid"/>
          </a:ln>
        </p:spPr>
      </p:sp>
      <p:sp>
        <p:nvSpPr>
          <p:cNvPr id="53" name="Text 51"/>
          <p:cNvSpPr/>
          <p:nvPr/>
        </p:nvSpPr>
        <p:spPr>
          <a:xfrm>
            <a:off x="256032" y="1792224"/>
            <a:ext cx="1115568"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Savings</a:t>
            </a:r>
            <a:endParaRPr lang="en-US" sz="800" dirty="0"/>
          </a:p>
        </p:txBody>
      </p:sp>
      <p:sp>
        <p:nvSpPr>
          <p:cNvPr id="54" name="Shape 52"/>
          <p:cNvSpPr/>
          <p:nvPr/>
        </p:nvSpPr>
        <p:spPr>
          <a:xfrm>
            <a:off x="1371600" y="1792224"/>
            <a:ext cx="987552" cy="256032"/>
          </a:xfrm>
          <a:prstGeom prst="rect">
            <a:avLst/>
          </a:prstGeom>
          <a:solidFill>
            <a:srgbClr val="EAF6FA"/>
          </a:solidFill>
          <a:ln w="6350">
            <a:solidFill>
              <a:srgbClr val="A0C8D8"/>
            </a:solidFill>
            <a:prstDash val="solid"/>
          </a:ln>
        </p:spPr>
      </p:sp>
      <p:sp>
        <p:nvSpPr>
          <p:cNvPr id="55" name="Text 53"/>
          <p:cNvSpPr/>
          <p:nvPr/>
        </p:nvSpPr>
        <p:spPr>
          <a:xfrm>
            <a:off x="1371600" y="1792224"/>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0.681**</a:t>
            </a:r>
            <a:endParaRPr lang="en-US" sz="800" dirty="0"/>
          </a:p>
        </p:txBody>
      </p:sp>
      <p:sp>
        <p:nvSpPr>
          <p:cNvPr id="56" name="Shape 54"/>
          <p:cNvSpPr/>
          <p:nvPr/>
        </p:nvSpPr>
        <p:spPr>
          <a:xfrm>
            <a:off x="2359152" y="1792224"/>
            <a:ext cx="987552" cy="256032"/>
          </a:xfrm>
          <a:prstGeom prst="rect">
            <a:avLst/>
          </a:prstGeom>
          <a:solidFill>
            <a:srgbClr val="EAF6FA"/>
          </a:solidFill>
          <a:ln w="6350">
            <a:solidFill>
              <a:srgbClr val="A0C8D8"/>
            </a:solidFill>
            <a:prstDash val="solid"/>
          </a:ln>
        </p:spPr>
      </p:sp>
      <p:sp>
        <p:nvSpPr>
          <p:cNvPr id="57" name="Text 55"/>
          <p:cNvSpPr/>
          <p:nvPr/>
        </p:nvSpPr>
        <p:spPr>
          <a:xfrm>
            <a:off x="2359152" y="1792224"/>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0.523**</a:t>
            </a:r>
            <a:endParaRPr lang="en-US" sz="800" dirty="0"/>
          </a:p>
        </p:txBody>
      </p:sp>
      <p:sp>
        <p:nvSpPr>
          <p:cNvPr id="58" name="Shape 56"/>
          <p:cNvSpPr/>
          <p:nvPr/>
        </p:nvSpPr>
        <p:spPr>
          <a:xfrm>
            <a:off x="3346704" y="1792224"/>
            <a:ext cx="987552" cy="256032"/>
          </a:xfrm>
          <a:prstGeom prst="rect">
            <a:avLst/>
          </a:prstGeom>
          <a:solidFill>
            <a:srgbClr val="EAF6FA"/>
          </a:solidFill>
          <a:ln w="6350">
            <a:solidFill>
              <a:srgbClr val="A0C8D8"/>
            </a:solidFill>
            <a:prstDash val="solid"/>
          </a:ln>
        </p:spPr>
      </p:sp>
      <p:sp>
        <p:nvSpPr>
          <p:cNvPr id="59" name="Text 57"/>
          <p:cNvSpPr/>
          <p:nvPr/>
        </p:nvSpPr>
        <p:spPr>
          <a:xfrm>
            <a:off x="3346704" y="1792224"/>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1.000</a:t>
            </a:r>
            <a:endParaRPr lang="en-US" sz="800" dirty="0"/>
          </a:p>
        </p:txBody>
      </p:sp>
      <p:sp>
        <p:nvSpPr>
          <p:cNvPr id="60" name="Shape 58"/>
          <p:cNvSpPr/>
          <p:nvPr/>
        </p:nvSpPr>
        <p:spPr>
          <a:xfrm>
            <a:off x="4334256" y="1792224"/>
            <a:ext cx="987552" cy="256032"/>
          </a:xfrm>
          <a:prstGeom prst="rect">
            <a:avLst/>
          </a:prstGeom>
          <a:solidFill>
            <a:srgbClr val="C0F0FF"/>
          </a:solidFill>
          <a:ln w="6350">
            <a:solidFill>
              <a:srgbClr val="A0C8D8"/>
            </a:solidFill>
            <a:prstDash val="solid"/>
          </a:ln>
        </p:spPr>
      </p:sp>
      <p:sp>
        <p:nvSpPr>
          <p:cNvPr id="61" name="Text 59"/>
          <p:cNvSpPr/>
          <p:nvPr/>
        </p:nvSpPr>
        <p:spPr>
          <a:xfrm>
            <a:off x="4334256" y="1792224"/>
            <a:ext cx="987552"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-0.571**</a:t>
            </a:r>
            <a:endParaRPr lang="en-US" sz="800" dirty="0"/>
          </a:p>
        </p:txBody>
      </p:sp>
      <p:sp>
        <p:nvSpPr>
          <p:cNvPr id="62" name="Shape 60"/>
          <p:cNvSpPr/>
          <p:nvPr/>
        </p:nvSpPr>
        <p:spPr>
          <a:xfrm>
            <a:off x="5321808" y="1792224"/>
            <a:ext cx="987552" cy="256032"/>
          </a:xfrm>
          <a:prstGeom prst="rect">
            <a:avLst/>
          </a:prstGeom>
          <a:solidFill>
            <a:srgbClr val="C0F0FF"/>
          </a:solidFill>
          <a:ln w="6350">
            <a:solidFill>
              <a:srgbClr val="A0C8D8"/>
            </a:solidFill>
            <a:prstDash val="solid"/>
          </a:ln>
        </p:spPr>
      </p:sp>
      <p:sp>
        <p:nvSpPr>
          <p:cNvPr id="63" name="Text 61"/>
          <p:cNvSpPr/>
          <p:nvPr/>
        </p:nvSpPr>
        <p:spPr>
          <a:xfrm>
            <a:off x="5321808" y="1792224"/>
            <a:ext cx="987552"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0.602**</a:t>
            </a:r>
            <a:endParaRPr lang="en-US" sz="800" dirty="0"/>
          </a:p>
        </p:txBody>
      </p:sp>
      <p:sp>
        <p:nvSpPr>
          <p:cNvPr id="64" name="Shape 62"/>
          <p:cNvSpPr/>
          <p:nvPr/>
        </p:nvSpPr>
        <p:spPr>
          <a:xfrm>
            <a:off x="6309360" y="1792224"/>
            <a:ext cx="987552" cy="256032"/>
          </a:xfrm>
          <a:prstGeom prst="rect">
            <a:avLst/>
          </a:prstGeom>
          <a:solidFill>
            <a:srgbClr val="C0F0FF"/>
          </a:solidFill>
          <a:ln w="6350">
            <a:solidFill>
              <a:srgbClr val="A0C8D8"/>
            </a:solidFill>
            <a:prstDash val="solid"/>
          </a:ln>
        </p:spPr>
      </p:sp>
      <p:sp>
        <p:nvSpPr>
          <p:cNvPr id="65" name="Text 63"/>
          <p:cNvSpPr/>
          <p:nvPr/>
        </p:nvSpPr>
        <p:spPr>
          <a:xfrm>
            <a:off x="6309360" y="1792224"/>
            <a:ext cx="987552"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0.714**</a:t>
            </a:r>
            <a:endParaRPr lang="en-US" sz="800" dirty="0"/>
          </a:p>
        </p:txBody>
      </p:sp>
      <p:sp>
        <p:nvSpPr>
          <p:cNvPr id="66" name="Shape 64"/>
          <p:cNvSpPr/>
          <p:nvPr/>
        </p:nvSpPr>
        <p:spPr>
          <a:xfrm>
            <a:off x="7296912" y="1792224"/>
            <a:ext cx="987552" cy="256032"/>
          </a:xfrm>
          <a:prstGeom prst="rect">
            <a:avLst/>
          </a:prstGeom>
          <a:solidFill>
            <a:srgbClr val="EAF6FA"/>
          </a:solidFill>
          <a:ln w="6350">
            <a:solidFill>
              <a:srgbClr val="A0C8D8"/>
            </a:solidFill>
            <a:prstDash val="solid"/>
          </a:ln>
        </p:spPr>
      </p:sp>
      <p:sp>
        <p:nvSpPr>
          <p:cNvPr id="67" name="Text 65"/>
          <p:cNvSpPr/>
          <p:nvPr/>
        </p:nvSpPr>
        <p:spPr>
          <a:xfrm>
            <a:off x="7296912" y="1792224"/>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0.338**</a:t>
            </a:r>
            <a:endParaRPr lang="en-US" sz="800" dirty="0"/>
          </a:p>
        </p:txBody>
      </p:sp>
      <p:sp>
        <p:nvSpPr>
          <p:cNvPr id="68" name="Shape 66"/>
          <p:cNvSpPr/>
          <p:nvPr/>
        </p:nvSpPr>
        <p:spPr>
          <a:xfrm>
            <a:off x="256032" y="2048256"/>
            <a:ext cx="1115568" cy="256032"/>
          </a:xfrm>
          <a:prstGeom prst="rect">
            <a:avLst/>
          </a:prstGeom>
          <a:solidFill>
            <a:srgbClr val="FFFFFF"/>
          </a:solidFill>
          <a:ln w="6350">
            <a:solidFill>
              <a:srgbClr val="A0C8D8"/>
            </a:solidFill>
            <a:prstDash val="solid"/>
          </a:ln>
        </p:spPr>
      </p:sp>
      <p:sp>
        <p:nvSpPr>
          <p:cNvPr id="69" name="Text 67"/>
          <p:cNvSpPr/>
          <p:nvPr/>
        </p:nvSpPr>
        <p:spPr>
          <a:xfrm>
            <a:off x="256032" y="2048256"/>
            <a:ext cx="1115568"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Debt</a:t>
            </a:r>
            <a:endParaRPr lang="en-US" sz="800" dirty="0"/>
          </a:p>
        </p:txBody>
      </p:sp>
      <p:sp>
        <p:nvSpPr>
          <p:cNvPr id="70" name="Shape 68"/>
          <p:cNvSpPr/>
          <p:nvPr/>
        </p:nvSpPr>
        <p:spPr>
          <a:xfrm>
            <a:off x="1371600" y="2048256"/>
            <a:ext cx="987552" cy="256032"/>
          </a:xfrm>
          <a:prstGeom prst="rect">
            <a:avLst/>
          </a:prstGeom>
          <a:solidFill>
            <a:srgbClr val="FFFFFF"/>
          </a:solidFill>
          <a:ln w="6350">
            <a:solidFill>
              <a:srgbClr val="A0C8D8"/>
            </a:solidFill>
            <a:prstDash val="solid"/>
          </a:ln>
        </p:spPr>
      </p:sp>
      <p:sp>
        <p:nvSpPr>
          <p:cNvPr id="71" name="Text 69"/>
          <p:cNvSpPr/>
          <p:nvPr/>
        </p:nvSpPr>
        <p:spPr>
          <a:xfrm>
            <a:off x="1371600" y="2048256"/>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-0.342**</a:t>
            </a:r>
            <a:endParaRPr lang="en-US" sz="800" dirty="0"/>
          </a:p>
        </p:txBody>
      </p:sp>
      <p:sp>
        <p:nvSpPr>
          <p:cNvPr id="72" name="Shape 70"/>
          <p:cNvSpPr/>
          <p:nvPr/>
        </p:nvSpPr>
        <p:spPr>
          <a:xfrm>
            <a:off x="2359152" y="2048256"/>
            <a:ext cx="987552" cy="256032"/>
          </a:xfrm>
          <a:prstGeom prst="rect">
            <a:avLst/>
          </a:prstGeom>
          <a:solidFill>
            <a:srgbClr val="FFFFFF"/>
          </a:solidFill>
          <a:ln w="6350">
            <a:solidFill>
              <a:srgbClr val="A0C8D8"/>
            </a:solidFill>
            <a:prstDash val="solid"/>
          </a:ln>
        </p:spPr>
      </p:sp>
      <p:sp>
        <p:nvSpPr>
          <p:cNvPr id="73" name="Text 71"/>
          <p:cNvSpPr/>
          <p:nvPr/>
        </p:nvSpPr>
        <p:spPr>
          <a:xfrm>
            <a:off x="2359152" y="2048256"/>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-0.218**</a:t>
            </a:r>
            <a:endParaRPr lang="en-US" sz="800" dirty="0"/>
          </a:p>
        </p:txBody>
      </p:sp>
      <p:sp>
        <p:nvSpPr>
          <p:cNvPr id="74" name="Shape 72"/>
          <p:cNvSpPr/>
          <p:nvPr/>
        </p:nvSpPr>
        <p:spPr>
          <a:xfrm>
            <a:off x="3346704" y="2048256"/>
            <a:ext cx="987552" cy="256032"/>
          </a:xfrm>
          <a:prstGeom prst="rect">
            <a:avLst/>
          </a:prstGeom>
          <a:solidFill>
            <a:srgbClr val="FFFFFF"/>
          </a:solidFill>
          <a:ln w="6350">
            <a:solidFill>
              <a:srgbClr val="A0C8D8"/>
            </a:solidFill>
            <a:prstDash val="solid"/>
          </a:ln>
        </p:spPr>
      </p:sp>
      <p:sp>
        <p:nvSpPr>
          <p:cNvPr id="75" name="Text 73"/>
          <p:cNvSpPr/>
          <p:nvPr/>
        </p:nvSpPr>
        <p:spPr>
          <a:xfrm>
            <a:off x="3346704" y="2048256"/>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-0.571**</a:t>
            </a:r>
            <a:endParaRPr lang="en-US" sz="800" dirty="0"/>
          </a:p>
        </p:txBody>
      </p:sp>
      <p:sp>
        <p:nvSpPr>
          <p:cNvPr id="76" name="Shape 74"/>
          <p:cNvSpPr/>
          <p:nvPr/>
        </p:nvSpPr>
        <p:spPr>
          <a:xfrm>
            <a:off x="4334256" y="2048256"/>
            <a:ext cx="987552" cy="256032"/>
          </a:xfrm>
          <a:prstGeom prst="rect">
            <a:avLst/>
          </a:prstGeom>
          <a:solidFill>
            <a:srgbClr val="FFFFFF"/>
          </a:solidFill>
          <a:ln w="6350">
            <a:solidFill>
              <a:srgbClr val="A0C8D8"/>
            </a:solidFill>
            <a:prstDash val="solid"/>
          </a:ln>
        </p:spPr>
      </p:sp>
      <p:sp>
        <p:nvSpPr>
          <p:cNvPr id="77" name="Text 75"/>
          <p:cNvSpPr/>
          <p:nvPr/>
        </p:nvSpPr>
        <p:spPr>
          <a:xfrm>
            <a:off x="4334256" y="2048256"/>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1.000</a:t>
            </a:r>
            <a:endParaRPr lang="en-US" sz="800" dirty="0"/>
          </a:p>
        </p:txBody>
      </p:sp>
      <p:sp>
        <p:nvSpPr>
          <p:cNvPr id="78" name="Shape 76"/>
          <p:cNvSpPr/>
          <p:nvPr/>
        </p:nvSpPr>
        <p:spPr>
          <a:xfrm>
            <a:off x="5321808" y="2048256"/>
            <a:ext cx="987552" cy="256032"/>
          </a:xfrm>
          <a:prstGeom prst="rect">
            <a:avLst/>
          </a:prstGeom>
          <a:solidFill>
            <a:srgbClr val="C0F0FF"/>
          </a:solidFill>
          <a:ln w="6350">
            <a:solidFill>
              <a:srgbClr val="A0C8D8"/>
            </a:solidFill>
            <a:prstDash val="solid"/>
          </a:ln>
        </p:spPr>
      </p:sp>
      <p:sp>
        <p:nvSpPr>
          <p:cNvPr id="79" name="Text 77"/>
          <p:cNvSpPr/>
          <p:nvPr/>
        </p:nvSpPr>
        <p:spPr>
          <a:xfrm>
            <a:off x="5321808" y="2048256"/>
            <a:ext cx="987552"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-0.624**</a:t>
            </a:r>
            <a:endParaRPr lang="en-US" sz="800" dirty="0"/>
          </a:p>
        </p:txBody>
      </p:sp>
      <p:sp>
        <p:nvSpPr>
          <p:cNvPr id="80" name="Shape 78"/>
          <p:cNvSpPr/>
          <p:nvPr/>
        </p:nvSpPr>
        <p:spPr>
          <a:xfrm>
            <a:off x="6309360" y="2048256"/>
            <a:ext cx="987552" cy="256032"/>
          </a:xfrm>
          <a:prstGeom prst="rect">
            <a:avLst/>
          </a:prstGeom>
          <a:solidFill>
            <a:srgbClr val="FFFFFF"/>
          </a:solidFill>
          <a:ln w="6350">
            <a:solidFill>
              <a:srgbClr val="A0C8D8"/>
            </a:solidFill>
            <a:prstDash val="solid"/>
          </a:ln>
        </p:spPr>
      </p:sp>
      <p:sp>
        <p:nvSpPr>
          <p:cNvPr id="81" name="Text 79"/>
          <p:cNvSpPr/>
          <p:nvPr/>
        </p:nvSpPr>
        <p:spPr>
          <a:xfrm>
            <a:off x="6309360" y="2048256"/>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-0.281**</a:t>
            </a:r>
            <a:endParaRPr lang="en-US" sz="800" dirty="0"/>
          </a:p>
        </p:txBody>
      </p:sp>
      <p:sp>
        <p:nvSpPr>
          <p:cNvPr id="82" name="Shape 80"/>
          <p:cNvSpPr/>
          <p:nvPr/>
        </p:nvSpPr>
        <p:spPr>
          <a:xfrm>
            <a:off x="7296912" y="2048256"/>
            <a:ext cx="987552" cy="256032"/>
          </a:xfrm>
          <a:prstGeom prst="rect">
            <a:avLst/>
          </a:prstGeom>
          <a:solidFill>
            <a:srgbClr val="FFFFFF"/>
          </a:solidFill>
          <a:ln w="6350">
            <a:solidFill>
              <a:srgbClr val="A0C8D8"/>
            </a:solidFill>
            <a:prstDash val="solid"/>
          </a:ln>
        </p:spPr>
      </p:sp>
      <p:sp>
        <p:nvSpPr>
          <p:cNvPr id="83" name="Text 81"/>
          <p:cNvSpPr/>
          <p:nvPr/>
        </p:nvSpPr>
        <p:spPr>
          <a:xfrm>
            <a:off x="7296912" y="2048256"/>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-0.124</a:t>
            </a:r>
            <a:endParaRPr lang="en-US" sz="800" dirty="0"/>
          </a:p>
        </p:txBody>
      </p:sp>
      <p:sp>
        <p:nvSpPr>
          <p:cNvPr id="84" name="Shape 82"/>
          <p:cNvSpPr/>
          <p:nvPr/>
        </p:nvSpPr>
        <p:spPr>
          <a:xfrm>
            <a:off x="256032" y="2304288"/>
            <a:ext cx="1115568" cy="256032"/>
          </a:xfrm>
          <a:prstGeom prst="rect">
            <a:avLst/>
          </a:prstGeom>
          <a:solidFill>
            <a:srgbClr val="EAF6FA"/>
          </a:solidFill>
          <a:ln w="6350">
            <a:solidFill>
              <a:srgbClr val="A0C8D8"/>
            </a:solidFill>
            <a:prstDash val="solid"/>
          </a:ln>
        </p:spPr>
      </p:sp>
      <p:sp>
        <p:nvSpPr>
          <p:cNvPr id="85" name="Text 83"/>
          <p:cNvSpPr/>
          <p:nvPr/>
        </p:nvSpPr>
        <p:spPr>
          <a:xfrm>
            <a:off x="256032" y="2304288"/>
            <a:ext cx="1115568"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Credit Score</a:t>
            </a:r>
            <a:endParaRPr lang="en-US" sz="800" dirty="0"/>
          </a:p>
        </p:txBody>
      </p:sp>
      <p:sp>
        <p:nvSpPr>
          <p:cNvPr id="86" name="Shape 84"/>
          <p:cNvSpPr/>
          <p:nvPr/>
        </p:nvSpPr>
        <p:spPr>
          <a:xfrm>
            <a:off x="1371600" y="2304288"/>
            <a:ext cx="987552" cy="256032"/>
          </a:xfrm>
          <a:prstGeom prst="rect">
            <a:avLst/>
          </a:prstGeom>
          <a:solidFill>
            <a:srgbClr val="EAF6FA"/>
          </a:solidFill>
          <a:ln w="6350">
            <a:solidFill>
              <a:srgbClr val="A0C8D8"/>
            </a:solidFill>
            <a:prstDash val="solid"/>
          </a:ln>
        </p:spPr>
      </p:sp>
      <p:sp>
        <p:nvSpPr>
          <p:cNvPr id="87" name="Text 85"/>
          <p:cNvSpPr/>
          <p:nvPr/>
        </p:nvSpPr>
        <p:spPr>
          <a:xfrm>
            <a:off x="1371600" y="2304288"/>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0.518**</a:t>
            </a:r>
            <a:endParaRPr lang="en-US" sz="800" dirty="0"/>
          </a:p>
        </p:txBody>
      </p:sp>
      <p:sp>
        <p:nvSpPr>
          <p:cNvPr id="88" name="Shape 86"/>
          <p:cNvSpPr/>
          <p:nvPr/>
        </p:nvSpPr>
        <p:spPr>
          <a:xfrm>
            <a:off x="2359152" y="2304288"/>
            <a:ext cx="987552" cy="256032"/>
          </a:xfrm>
          <a:prstGeom prst="rect">
            <a:avLst/>
          </a:prstGeom>
          <a:solidFill>
            <a:srgbClr val="EAF6FA"/>
          </a:solidFill>
          <a:ln w="6350">
            <a:solidFill>
              <a:srgbClr val="A0C8D8"/>
            </a:solidFill>
            <a:prstDash val="solid"/>
          </a:ln>
        </p:spPr>
      </p:sp>
      <p:sp>
        <p:nvSpPr>
          <p:cNvPr id="89" name="Text 87"/>
          <p:cNvSpPr/>
          <p:nvPr/>
        </p:nvSpPr>
        <p:spPr>
          <a:xfrm>
            <a:off x="2359152" y="2304288"/>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0.387**</a:t>
            </a:r>
            <a:endParaRPr lang="en-US" sz="800" dirty="0"/>
          </a:p>
        </p:txBody>
      </p:sp>
      <p:sp>
        <p:nvSpPr>
          <p:cNvPr id="90" name="Shape 88"/>
          <p:cNvSpPr/>
          <p:nvPr/>
        </p:nvSpPr>
        <p:spPr>
          <a:xfrm>
            <a:off x="3346704" y="2304288"/>
            <a:ext cx="987552" cy="256032"/>
          </a:xfrm>
          <a:prstGeom prst="rect">
            <a:avLst/>
          </a:prstGeom>
          <a:solidFill>
            <a:srgbClr val="EAF6FA"/>
          </a:solidFill>
          <a:ln w="6350">
            <a:solidFill>
              <a:srgbClr val="A0C8D8"/>
            </a:solidFill>
            <a:prstDash val="solid"/>
          </a:ln>
        </p:spPr>
      </p:sp>
      <p:sp>
        <p:nvSpPr>
          <p:cNvPr id="91" name="Text 89"/>
          <p:cNvSpPr/>
          <p:nvPr/>
        </p:nvSpPr>
        <p:spPr>
          <a:xfrm>
            <a:off x="3346704" y="2304288"/>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0.602**</a:t>
            </a:r>
            <a:endParaRPr lang="en-US" sz="800" dirty="0"/>
          </a:p>
        </p:txBody>
      </p:sp>
      <p:sp>
        <p:nvSpPr>
          <p:cNvPr id="92" name="Shape 90"/>
          <p:cNvSpPr/>
          <p:nvPr/>
        </p:nvSpPr>
        <p:spPr>
          <a:xfrm>
            <a:off x="4334256" y="2304288"/>
            <a:ext cx="987552" cy="256032"/>
          </a:xfrm>
          <a:prstGeom prst="rect">
            <a:avLst/>
          </a:prstGeom>
          <a:solidFill>
            <a:srgbClr val="EAF6FA"/>
          </a:solidFill>
          <a:ln w="6350">
            <a:solidFill>
              <a:srgbClr val="A0C8D8"/>
            </a:solidFill>
            <a:prstDash val="solid"/>
          </a:ln>
        </p:spPr>
      </p:sp>
      <p:sp>
        <p:nvSpPr>
          <p:cNvPr id="93" name="Text 91"/>
          <p:cNvSpPr/>
          <p:nvPr/>
        </p:nvSpPr>
        <p:spPr>
          <a:xfrm>
            <a:off x="4334256" y="2304288"/>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-0.624**</a:t>
            </a:r>
            <a:endParaRPr lang="en-US" sz="800" dirty="0"/>
          </a:p>
        </p:txBody>
      </p:sp>
      <p:sp>
        <p:nvSpPr>
          <p:cNvPr id="94" name="Shape 92"/>
          <p:cNvSpPr/>
          <p:nvPr/>
        </p:nvSpPr>
        <p:spPr>
          <a:xfrm>
            <a:off x="5321808" y="2304288"/>
            <a:ext cx="987552" cy="256032"/>
          </a:xfrm>
          <a:prstGeom prst="rect">
            <a:avLst/>
          </a:prstGeom>
          <a:solidFill>
            <a:srgbClr val="EAF6FA"/>
          </a:solidFill>
          <a:ln w="6350">
            <a:solidFill>
              <a:srgbClr val="A0C8D8"/>
            </a:solidFill>
            <a:prstDash val="solid"/>
          </a:ln>
        </p:spPr>
      </p:sp>
      <p:sp>
        <p:nvSpPr>
          <p:cNvPr id="95" name="Text 93"/>
          <p:cNvSpPr/>
          <p:nvPr/>
        </p:nvSpPr>
        <p:spPr>
          <a:xfrm>
            <a:off x="5321808" y="2304288"/>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1.000</a:t>
            </a:r>
            <a:endParaRPr lang="en-US" sz="800" dirty="0"/>
          </a:p>
        </p:txBody>
      </p:sp>
      <p:sp>
        <p:nvSpPr>
          <p:cNvPr id="96" name="Shape 94"/>
          <p:cNvSpPr/>
          <p:nvPr/>
        </p:nvSpPr>
        <p:spPr>
          <a:xfrm>
            <a:off x="6309360" y="2304288"/>
            <a:ext cx="987552" cy="256032"/>
          </a:xfrm>
          <a:prstGeom prst="rect">
            <a:avLst/>
          </a:prstGeom>
          <a:solidFill>
            <a:srgbClr val="EAF6FA"/>
          </a:solidFill>
          <a:ln w="6350">
            <a:solidFill>
              <a:srgbClr val="A0C8D8"/>
            </a:solidFill>
            <a:prstDash val="solid"/>
          </a:ln>
        </p:spPr>
      </p:sp>
      <p:sp>
        <p:nvSpPr>
          <p:cNvPr id="97" name="Text 95"/>
          <p:cNvSpPr/>
          <p:nvPr/>
        </p:nvSpPr>
        <p:spPr>
          <a:xfrm>
            <a:off x="6309360" y="2304288"/>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0.396**</a:t>
            </a:r>
            <a:endParaRPr lang="en-US" sz="800" dirty="0"/>
          </a:p>
        </p:txBody>
      </p:sp>
      <p:sp>
        <p:nvSpPr>
          <p:cNvPr id="98" name="Shape 96"/>
          <p:cNvSpPr/>
          <p:nvPr/>
        </p:nvSpPr>
        <p:spPr>
          <a:xfrm>
            <a:off x="7296912" y="2304288"/>
            <a:ext cx="987552" cy="256032"/>
          </a:xfrm>
          <a:prstGeom prst="rect">
            <a:avLst/>
          </a:prstGeom>
          <a:solidFill>
            <a:srgbClr val="EAF6FA"/>
          </a:solidFill>
          <a:ln w="6350">
            <a:solidFill>
              <a:srgbClr val="A0C8D8"/>
            </a:solidFill>
            <a:prstDash val="solid"/>
          </a:ln>
        </p:spPr>
      </p:sp>
      <p:sp>
        <p:nvSpPr>
          <p:cNvPr id="99" name="Text 97"/>
          <p:cNvSpPr/>
          <p:nvPr/>
        </p:nvSpPr>
        <p:spPr>
          <a:xfrm>
            <a:off x="7296912" y="2304288"/>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0.254**</a:t>
            </a:r>
            <a:endParaRPr lang="en-US" sz="800" dirty="0"/>
          </a:p>
        </p:txBody>
      </p:sp>
      <p:sp>
        <p:nvSpPr>
          <p:cNvPr id="100" name="Shape 98"/>
          <p:cNvSpPr/>
          <p:nvPr/>
        </p:nvSpPr>
        <p:spPr>
          <a:xfrm>
            <a:off x="256032" y="2560320"/>
            <a:ext cx="1115568" cy="256032"/>
          </a:xfrm>
          <a:prstGeom prst="rect">
            <a:avLst/>
          </a:prstGeom>
          <a:solidFill>
            <a:srgbClr val="FFFFFF"/>
          </a:solidFill>
          <a:ln w="6350">
            <a:solidFill>
              <a:srgbClr val="A0C8D8"/>
            </a:solidFill>
            <a:prstDash val="solid"/>
          </a:ln>
        </p:spPr>
      </p:sp>
      <p:sp>
        <p:nvSpPr>
          <p:cNvPr id="101" name="Text 99"/>
          <p:cNvSpPr/>
          <p:nvPr/>
        </p:nvSpPr>
        <p:spPr>
          <a:xfrm>
            <a:off x="256032" y="2560320"/>
            <a:ext cx="1115568"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Age</a:t>
            </a:r>
            <a:endParaRPr lang="en-US" sz="800" dirty="0"/>
          </a:p>
        </p:txBody>
      </p:sp>
      <p:sp>
        <p:nvSpPr>
          <p:cNvPr id="102" name="Shape 100"/>
          <p:cNvSpPr/>
          <p:nvPr/>
        </p:nvSpPr>
        <p:spPr>
          <a:xfrm>
            <a:off x="1371600" y="2560320"/>
            <a:ext cx="987552" cy="256032"/>
          </a:xfrm>
          <a:prstGeom prst="rect">
            <a:avLst/>
          </a:prstGeom>
          <a:solidFill>
            <a:srgbClr val="FFFFFF"/>
          </a:solidFill>
          <a:ln w="6350">
            <a:solidFill>
              <a:srgbClr val="A0C8D8"/>
            </a:solidFill>
            <a:prstDash val="solid"/>
          </a:ln>
        </p:spPr>
      </p:sp>
      <p:sp>
        <p:nvSpPr>
          <p:cNvPr id="103" name="Text 101"/>
          <p:cNvSpPr/>
          <p:nvPr/>
        </p:nvSpPr>
        <p:spPr>
          <a:xfrm>
            <a:off x="1371600" y="2560320"/>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0.620**</a:t>
            </a:r>
            <a:endParaRPr lang="en-US" sz="800" dirty="0"/>
          </a:p>
        </p:txBody>
      </p:sp>
      <p:sp>
        <p:nvSpPr>
          <p:cNvPr id="104" name="Shape 102"/>
          <p:cNvSpPr/>
          <p:nvPr/>
        </p:nvSpPr>
        <p:spPr>
          <a:xfrm>
            <a:off x="2359152" y="2560320"/>
            <a:ext cx="987552" cy="256032"/>
          </a:xfrm>
          <a:prstGeom prst="rect">
            <a:avLst/>
          </a:prstGeom>
          <a:solidFill>
            <a:srgbClr val="FFFFFF"/>
          </a:solidFill>
          <a:ln w="6350">
            <a:solidFill>
              <a:srgbClr val="A0C8D8"/>
            </a:solidFill>
            <a:prstDash val="solid"/>
          </a:ln>
        </p:spPr>
      </p:sp>
      <p:sp>
        <p:nvSpPr>
          <p:cNvPr id="105" name="Text 103"/>
          <p:cNvSpPr/>
          <p:nvPr/>
        </p:nvSpPr>
        <p:spPr>
          <a:xfrm>
            <a:off x="2359152" y="2560320"/>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0.482**</a:t>
            </a:r>
            <a:endParaRPr lang="en-US" sz="800" dirty="0"/>
          </a:p>
        </p:txBody>
      </p:sp>
      <p:sp>
        <p:nvSpPr>
          <p:cNvPr id="106" name="Shape 104"/>
          <p:cNvSpPr/>
          <p:nvPr/>
        </p:nvSpPr>
        <p:spPr>
          <a:xfrm>
            <a:off x="3346704" y="2560320"/>
            <a:ext cx="987552" cy="256032"/>
          </a:xfrm>
          <a:prstGeom prst="rect">
            <a:avLst/>
          </a:prstGeom>
          <a:solidFill>
            <a:srgbClr val="FFFFFF"/>
          </a:solidFill>
          <a:ln w="6350">
            <a:solidFill>
              <a:srgbClr val="A0C8D8"/>
            </a:solidFill>
            <a:prstDash val="solid"/>
          </a:ln>
        </p:spPr>
      </p:sp>
      <p:sp>
        <p:nvSpPr>
          <p:cNvPr id="107" name="Text 105"/>
          <p:cNvSpPr/>
          <p:nvPr/>
        </p:nvSpPr>
        <p:spPr>
          <a:xfrm>
            <a:off x="3346704" y="2560320"/>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0.714**</a:t>
            </a:r>
            <a:endParaRPr lang="en-US" sz="800" dirty="0"/>
          </a:p>
        </p:txBody>
      </p:sp>
      <p:sp>
        <p:nvSpPr>
          <p:cNvPr id="108" name="Shape 106"/>
          <p:cNvSpPr/>
          <p:nvPr/>
        </p:nvSpPr>
        <p:spPr>
          <a:xfrm>
            <a:off x="4334256" y="2560320"/>
            <a:ext cx="987552" cy="256032"/>
          </a:xfrm>
          <a:prstGeom prst="rect">
            <a:avLst/>
          </a:prstGeom>
          <a:solidFill>
            <a:srgbClr val="FFFFFF"/>
          </a:solidFill>
          <a:ln w="6350">
            <a:solidFill>
              <a:srgbClr val="A0C8D8"/>
            </a:solidFill>
            <a:prstDash val="solid"/>
          </a:ln>
        </p:spPr>
      </p:sp>
      <p:sp>
        <p:nvSpPr>
          <p:cNvPr id="109" name="Text 107"/>
          <p:cNvSpPr/>
          <p:nvPr/>
        </p:nvSpPr>
        <p:spPr>
          <a:xfrm>
            <a:off x="4334256" y="2560320"/>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-0.281**</a:t>
            </a:r>
            <a:endParaRPr lang="en-US" sz="800" dirty="0"/>
          </a:p>
        </p:txBody>
      </p:sp>
      <p:sp>
        <p:nvSpPr>
          <p:cNvPr id="110" name="Shape 108"/>
          <p:cNvSpPr/>
          <p:nvPr/>
        </p:nvSpPr>
        <p:spPr>
          <a:xfrm>
            <a:off x="5321808" y="2560320"/>
            <a:ext cx="987552" cy="256032"/>
          </a:xfrm>
          <a:prstGeom prst="rect">
            <a:avLst/>
          </a:prstGeom>
          <a:solidFill>
            <a:srgbClr val="FFFFFF"/>
          </a:solidFill>
          <a:ln w="6350">
            <a:solidFill>
              <a:srgbClr val="A0C8D8"/>
            </a:solidFill>
            <a:prstDash val="solid"/>
          </a:ln>
        </p:spPr>
      </p:sp>
      <p:sp>
        <p:nvSpPr>
          <p:cNvPr id="111" name="Text 109"/>
          <p:cNvSpPr/>
          <p:nvPr/>
        </p:nvSpPr>
        <p:spPr>
          <a:xfrm>
            <a:off x="5321808" y="2560320"/>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0.396**</a:t>
            </a:r>
            <a:endParaRPr lang="en-US" sz="800" dirty="0"/>
          </a:p>
        </p:txBody>
      </p:sp>
      <p:sp>
        <p:nvSpPr>
          <p:cNvPr id="112" name="Shape 110"/>
          <p:cNvSpPr/>
          <p:nvPr/>
        </p:nvSpPr>
        <p:spPr>
          <a:xfrm>
            <a:off x="6309360" y="2560320"/>
            <a:ext cx="987552" cy="256032"/>
          </a:xfrm>
          <a:prstGeom prst="rect">
            <a:avLst/>
          </a:prstGeom>
          <a:solidFill>
            <a:srgbClr val="FFFFFF"/>
          </a:solidFill>
          <a:ln w="6350">
            <a:solidFill>
              <a:srgbClr val="A0C8D8"/>
            </a:solidFill>
            <a:prstDash val="solid"/>
          </a:ln>
        </p:spPr>
      </p:sp>
      <p:sp>
        <p:nvSpPr>
          <p:cNvPr id="113" name="Text 111"/>
          <p:cNvSpPr/>
          <p:nvPr/>
        </p:nvSpPr>
        <p:spPr>
          <a:xfrm>
            <a:off x="6309360" y="2560320"/>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1.000</a:t>
            </a:r>
            <a:endParaRPr lang="en-US" sz="800" dirty="0"/>
          </a:p>
        </p:txBody>
      </p:sp>
      <p:sp>
        <p:nvSpPr>
          <p:cNvPr id="114" name="Shape 112"/>
          <p:cNvSpPr/>
          <p:nvPr/>
        </p:nvSpPr>
        <p:spPr>
          <a:xfrm>
            <a:off x="7296912" y="2560320"/>
            <a:ext cx="987552" cy="256032"/>
          </a:xfrm>
          <a:prstGeom prst="rect">
            <a:avLst/>
          </a:prstGeom>
          <a:solidFill>
            <a:srgbClr val="FFFFFF"/>
          </a:solidFill>
          <a:ln w="6350">
            <a:solidFill>
              <a:srgbClr val="A0C8D8"/>
            </a:solidFill>
            <a:prstDash val="solid"/>
          </a:ln>
        </p:spPr>
      </p:sp>
      <p:sp>
        <p:nvSpPr>
          <p:cNvPr id="115" name="Text 113"/>
          <p:cNvSpPr/>
          <p:nvPr/>
        </p:nvSpPr>
        <p:spPr>
          <a:xfrm>
            <a:off x="7296912" y="2560320"/>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0.189**</a:t>
            </a:r>
            <a:endParaRPr lang="en-US" sz="800" dirty="0"/>
          </a:p>
        </p:txBody>
      </p:sp>
      <p:sp>
        <p:nvSpPr>
          <p:cNvPr id="116" name="Shape 114"/>
          <p:cNvSpPr/>
          <p:nvPr/>
        </p:nvSpPr>
        <p:spPr>
          <a:xfrm>
            <a:off x="256032" y="2816352"/>
            <a:ext cx="1115568" cy="256032"/>
          </a:xfrm>
          <a:prstGeom prst="rect">
            <a:avLst/>
          </a:prstGeom>
          <a:solidFill>
            <a:srgbClr val="EAF6FA"/>
          </a:solidFill>
          <a:ln w="6350">
            <a:solidFill>
              <a:srgbClr val="A0C8D8"/>
            </a:solidFill>
            <a:prstDash val="solid"/>
          </a:ln>
        </p:spPr>
      </p:sp>
      <p:sp>
        <p:nvSpPr>
          <p:cNvPr id="117" name="Text 115"/>
          <p:cNvSpPr/>
          <p:nvPr/>
        </p:nvSpPr>
        <p:spPr>
          <a:xfrm>
            <a:off x="256032" y="2816352"/>
            <a:ext cx="1115568"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Txn Frequency</a:t>
            </a:r>
            <a:endParaRPr lang="en-US" sz="800" dirty="0"/>
          </a:p>
        </p:txBody>
      </p:sp>
      <p:sp>
        <p:nvSpPr>
          <p:cNvPr id="118" name="Shape 116"/>
          <p:cNvSpPr/>
          <p:nvPr/>
        </p:nvSpPr>
        <p:spPr>
          <a:xfrm>
            <a:off x="1371600" y="2816352"/>
            <a:ext cx="987552" cy="256032"/>
          </a:xfrm>
          <a:prstGeom prst="rect">
            <a:avLst/>
          </a:prstGeom>
          <a:solidFill>
            <a:srgbClr val="EAF6FA"/>
          </a:solidFill>
          <a:ln w="6350">
            <a:solidFill>
              <a:srgbClr val="A0C8D8"/>
            </a:solidFill>
            <a:prstDash val="solid"/>
          </a:ln>
        </p:spPr>
      </p:sp>
      <p:sp>
        <p:nvSpPr>
          <p:cNvPr id="119" name="Text 117"/>
          <p:cNvSpPr/>
          <p:nvPr/>
        </p:nvSpPr>
        <p:spPr>
          <a:xfrm>
            <a:off x="1371600" y="2816352"/>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0.445**</a:t>
            </a:r>
            <a:endParaRPr lang="en-US" sz="800" dirty="0"/>
          </a:p>
        </p:txBody>
      </p:sp>
      <p:sp>
        <p:nvSpPr>
          <p:cNvPr id="120" name="Shape 118"/>
          <p:cNvSpPr/>
          <p:nvPr/>
        </p:nvSpPr>
        <p:spPr>
          <a:xfrm>
            <a:off x="2359152" y="2816352"/>
            <a:ext cx="987552" cy="256032"/>
          </a:xfrm>
          <a:prstGeom prst="rect">
            <a:avLst/>
          </a:prstGeom>
          <a:solidFill>
            <a:srgbClr val="EAF6FA"/>
          </a:solidFill>
          <a:ln w="6350">
            <a:solidFill>
              <a:srgbClr val="A0C8D8"/>
            </a:solidFill>
            <a:prstDash val="solid"/>
          </a:ln>
        </p:spPr>
      </p:sp>
      <p:sp>
        <p:nvSpPr>
          <p:cNvPr id="121" name="Text 119"/>
          <p:cNvSpPr/>
          <p:nvPr/>
        </p:nvSpPr>
        <p:spPr>
          <a:xfrm>
            <a:off x="2359152" y="2816352"/>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0.618**</a:t>
            </a:r>
            <a:endParaRPr lang="en-US" sz="800" dirty="0"/>
          </a:p>
        </p:txBody>
      </p:sp>
      <p:sp>
        <p:nvSpPr>
          <p:cNvPr id="122" name="Shape 120"/>
          <p:cNvSpPr/>
          <p:nvPr/>
        </p:nvSpPr>
        <p:spPr>
          <a:xfrm>
            <a:off x="3346704" y="2816352"/>
            <a:ext cx="987552" cy="256032"/>
          </a:xfrm>
          <a:prstGeom prst="rect">
            <a:avLst/>
          </a:prstGeom>
          <a:solidFill>
            <a:srgbClr val="EAF6FA"/>
          </a:solidFill>
          <a:ln w="6350">
            <a:solidFill>
              <a:srgbClr val="A0C8D8"/>
            </a:solidFill>
            <a:prstDash val="solid"/>
          </a:ln>
        </p:spPr>
      </p:sp>
      <p:sp>
        <p:nvSpPr>
          <p:cNvPr id="123" name="Text 121"/>
          <p:cNvSpPr/>
          <p:nvPr/>
        </p:nvSpPr>
        <p:spPr>
          <a:xfrm>
            <a:off x="3346704" y="2816352"/>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0.338**</a:t>
            </a:r>
            <a:endParaRPr lang="en-US" sz="800" dirty="0"/>
          </a:p>
        </p:txBody>
      </p:sp>
      <p:sp>
        <p:nvSpPr>
          <p:cNvPr id="124" name="Shape 122"/>
          <p:cNvSpPr/>
          <p:nvPr/>
        </p:nvSpPr>
        <p:spPr>
          <a:xfrm>
            <a:off x="4334256" y="2816352"/>
            <a:ext cx="987552" cy="256032"/>
          </a:xfrm>
          <a:prstGeom prst="rect">
            <a:avLst/>
          </a:prstGeom>
          <a:solidFill>
            <a:srgbClr val="EAF6FA"/>
          </a:solidFill>
          <a:ln w="6350">
            <a:solidFill>
              <a:srgbClr val="A0C8D8"/>
            </a:solidFill>
            <a:prstDash val="solid"/>
          </a:ln>
        </p:spPr>
      </p:sp>
      <p:sp>
        <p:nvSpPr>
          <p:cNvPr id="125" name="Text 123"/>
          <p:cNvSpPr/>
          <p:nvPr/>
        </p:nvSpPr>
        <p:spPr>
          <a:xfrm>
            <a:off x="4334256" y="2816352"/>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-0.124</a:t>
            </a:r>
            <a:endParaRPr lang="en-US" sz="800" dirty="0"/>
          </a:p>
        </p:txBody>
      </p:sp>
      <p:sp>
        <p:nvSpPr>
          <p:cNvPr id="126" name="Shape 124"/>
          <p:cNvSpPr/>
          <p:nvPr/>
        </p:nvSpPr>
        <p:spPr>
          <a:xfrm>
            <a:off x="5321808" y="2816352"/>
            <a:ext cx="987552" cy="256032"/>
          </a:xfrm>
          <a:prstGeom prst="rect">
            <a:avLst/>
          </a:prstGeom>
          <a:solidFill>
            <a:srgbClr val="EAF6FA"/>
          </a:solidFill>
          <a:ln w="6350">
            <a:solidFill>
              <a:srgbClr val="A0C8D8"/>
            </a:solidFill>
            <a:prstDash val="solid"/>
          </a:ln>
        </p:spPr>
      </p:sp>
      <p:sp>
        <p:nvSpPr>
          <p:cNvPr id="127" name="Text 125"/>
          <p:cNvSpPr/>
          <p:nvPr/>
        </p:nvSpPr>
        <p:spPr>
          <a:xfrm>
            <a:off x="5321808" y="2816352"/>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0.254**</a:t>
            </a:r>
            <a:endParaRPr lang="en-US" sz="800" dirty="0"/>
          </a:p>
        </p:txBody>
      </p:sp>
      <p:sp>
        <p:nvSpPr>
          <p:cNvPr id="128" name="Shape 126"/>
          <p:cNvSpPr/>
          <p:nvPr/>
        </p:nvSpPr>
        <p:spPr>
          <a:xfrm>
            <a:off x="6309360" y="2816352"/>
            <a:ext cx="987552" cy="256032"/>
          </a:xfrm>
          <a:prstGeom prst="rect">
            <a:avLst/>
          </a:prstGeom>
          <a:solidFill>
            <a:srgbClr val="EAF6FA"/>
          </a:solidFill>
          <a:ln w="6350">
            <a:solidFill>
              <a:srgbClr val="A0C8D8"/>
            </a:solidFill>
            <a:prstDash val="solid"/>
          </a:ln>
        </p:spPr>
      </p:sp>
      <p:sp>
        <p:nvSpPr>
          <p:cNvPr id="129" name="Text 127"/>
          <p:cNvSpPr/>
          <p:nvPr/>
        </p:nvSpPr>
        <p:spPr>
          <a:xfrm>
            <a:off x="6309360" y="2816352"/>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0.189**</a:t>
            </a:r>
            <a:endParaRPr lang="en-US" sz="800" dirty="0"/>
          </a:p>
        </p:txBody>
      </p:sp>
      <p:sp>
        <p:nvSpPr>
          <p:cNvPr id="130" name="Shape 128"/>
          <p:cNvSpPr/>
          <p:nvPr/>
        </p:nvSpPr>
        <p:spPr>
          <a:xfrm>
            <a:off x="7296912" y="2816352"/>
            <a:ext cx="987552" cy="256032"/>
          </a:xfrm>
          <a:prstGeom prst="rect">
            <a:avLst/>
          </a:prstGeom>
          <a:solidFill>
            <a:srgbClr val="EAF6FA"/>
          </a:solidFill>
          <a:ln w="6350">
            <a:solidFill>
              <a:srgbClr val="A0C8D8"/>
            </a:solidFill>
            <a:prstDash val="solid"/>
          </a:ln>
        </p:spPr>
      </p:sp>
      <p:sp>
        <p:nvSpPr>
          <p:cNvPr id="131" name="Text 129"/>
          <p:cNvSpPr/>
          <p:nvPr/>
        </p:nvSpPr>
        <p:spPr>
          <a:xfrm>
            <a:off x="7296912" y="2816352"/>
            <a:ext cx="98755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1.000</a:t>
            </a:r>
            <a:endParaRPr lang="en-US" sz="800" dirty="0"/>
          </a:p>
        </p:txBody>
      </p:sp>
      <p:sp>
        <p:nvSpPr>
          <p:cNvPr id="132" name="Shape 130"/>
          <p:cNvSpPr/>
          <p:nvPr/>
        </p:nvSpPr>
        <p:spPr>
          <a:xfrm>
            <a:off x="256032" y="3493008"/>
            <a:ext cx="4160520" cy="457200"/>
          </a:xfrm>
          <a:prstGeom prst="roundRect">
            <a:avLst>
              <a:gd name="adj" fmla="val 10000"/>
            </a:avLst>
          </a:prstGeom>
          <a:solidFill>
            <a:srgbClr val="EAF6FA"/>
          </a:solidFill>
          <a:ln w="8890">
            <a:solidFill>
              <a:srgbClr val="0A7E8C"/>
            </a:solidFill>
            <a:prstDash val="solid"/>
          </a:ln>
        </p:spPr>
      </p:sp>
      <p:sp>
        <p:nvSpPr>
          <p:cNvPr id="133" name="Text 131"/>
          <p:cNvSpPr/>
          <p:nvPr/>
        </p:nvSpPr>
        <p:spPr>
          <a:xfrm>
            <a:off x="347472" y="3529584"/>
            <a:ext cx="1645920" cy="182880"/>
          </a:xfrm>
          <a:prstGeom prst="rect">
            <a:avLst/>
          </a:prstGeom>
          <a:noFill/>
          <a:ln/>
        </p:spPr>
        <p:txBody>
          <a:bodyPr wrap="square" lIns="0" tIns="0" rIns="0" bIns="0" rtlCol="0" anchor="ctr"/>
          <a:lstStyle/>
          <a:p>
            <a:pPr indent="0" marL="0">
              <a:buNone/>
            </a:pPr>
            <a:r>
              <a:rPr lang="en-US" sz="900" b="1" dirty="0">
                <a:solidFill>
                  <a:srgbClr val="0A7E8C"/>
                </a:solidFill>
                <a:latin typeface="Calibri" pitchFamily="34" charset="0"/>
                <a:ea typeface="Calibri" pitchFamily="34" charset="-122"/>
                <a:cs typeface="Calibri" pitchFamily="34" charset="-120"/>
              </a:rPr>
              <a:t>Income-Spending r=.794: </a:t>
            </a:r>
            <a:endParaRPr lang="en-US" sz="900" dirty="0"/>
          </a:p>
        </p:txBody>
      </p:sp>
      <p:sp>
        <p:nvSpPr>
          <p:cNvPr id="134" name="Text 132"/>
          <p:cNvSpPr/>
          <p:nvPr/>
        </p:nvSpPr>
        <p:spPr>
          <a:xfrm>
            <a:off x="347472" y="3730752"/>
            <a:ext cx="3913632" cy="182880"/>
          </a:xfrm>
          <a:prstGeom prst="rect">
            <a:avLst/>
          </a:prstGeom>
          <a:noFill/>
          <a:ln/>
        </p:spPr>
        <p:txBody>
          <a:bodyPr wrap="square" lIns="0" tIns="0" rIns="0" bIns="0" rtlCol="0" anchor="ctr"/>
          <a:lstStyle/>
          <a:p>
            <a:pPr indent="0" marL="0">
              <a:buNone/>
            </a:pPr>
            <a:r>
              <a:rPr lang="en-US" sz="850" dirty="0">
                <a:solidFill>
                  <a:srgbClr val="0C1428"/>
                </a:solidFill>
                <a:latin typeface="Calibri" pitchFamily="34" charset="0"/>
                <a:ea typeface="Calibri" pitchFamily="34" charset="-122"/>
                <a:cs typeface="Calibri" pitchFamily="34" charset="-120"/>
              </a:rPr>
              <a:t>STRONG positive. High-income customers spend more on credit. Core business insight.</a:t>
            </a:r>
            <a:endParaRPr lang="en-US" sz="850" dirty="0"/>
          </a:p>
        </p:txBody>
      </p:sp>
      <p:sp>
        <p:nvSpPr>
          <p:cNvPr id="135" name="Shape 133"/>
          <p:cNvSpPr/>
          <p:nvPr/>
        </p:nvSpPr>
        <p:spPr>
          <a:xfrm>
            <a:off x="4718304" y="3493008"/>
            <a:ext cx="4160520" cy="457200"/>
          </a:xfrm>
          <a:prstGeom prst="roundRect">
            <a:avLst>
              <a:gd name="adj" fmla="val 10000"/>
            </a:avLst>
          </a:prstGeom>
          <a:solidFill>
            <a:srgbClr val="EAF6FA"/>
          </a:solidFill>
          <a:ln w="8890">
            <a:solidFill>
              <a:srgbClr val="0A8A50"/>
            </a:solidFill>
            <a:prstDash val="solid"/>
          </a:ln>
        </p:spPr>
      </p:sp>
      <p:sp>
        <p:nvSpPr>
          <p:cNvPr id="136" name="Text 134"/>
          <p:cNvSpPr/>
          <p:nvPr/>
        </p:nvSpPr>
        <p:spPr>
          <a:xfrm>
            <a:off x="4809744" y="3529584"/>
            <a:ext cx="1645920" cy="182880"/>
          </a:xfrm>
          <a:prstGeom prst="rect">
            <a:avLst/>
          </a:prstGeom>
          <a:noFill/>
          <a:ln/>
        </p:spPr>
        <p:txBody>
          <a:bodyPr wrap="square" lIns="0" tIns="0" rIns="0" bIns="0" rtlCol="0" anchor="ctr"/>
          <a:lstStyle/>
          <a:p>
            <a:pPr indent="0" marL="0">
              <a:buNone/>
            </a:pPr>
            <a:r>
              <a:rPr lang="en-US" sz="900" b="1" dirty="0">
                <a:solidFill>
                  <a:srgbClr val="0A8A50"/>
                </a:solidFill>
                <a:latin typeface="Calibri" pitchFamily="34" charset="0"/>
                <a:ea typeface="Calibri" pitchFamily="34" charset="-122"/>
                <a:cs typeface="Calibri" pitchFamily="34" charset="-120"/>
              </a:rPr>
              <a:t>Age-Savings r=.714: </a:t>
            </a:r>
            <a:endParaRPr lang="en-US" sz="900" dirty="0"/>
          </a:p>
        </p:txBody>
      </p:sp>
      <p:sp>
        <p:nvSpPr>
          <p:cNvPr id="137" name="Text 135"/>
          <p:cNvSpPr/>
          <p:nvPr/>
        </p:nvSpPr>
        <p:spPr>
          <a:xfrm>
            <a:off x="4809744" y="3730752"/>
            <a:ext cx="3913632" cy="182880"/>
          </a:xfrm>
          <a:prstGeom prst="rect">
            <a:avLst/>
          </a:prstGeom>
          <a:noFill/>
          <a:ln/>
        </p:spPr>
        <p:txBody>
          <a:bodyPr wrap="square" lIns="0" tIns="0" rIns="0" bIns="0" rtlCol="0" anchor="ctr"/>
          <a:lstStyle/>
          <a:p>
            <a:pPr indent="0" marL="0">
              <a:buNone/>
            </a:pPr>
            <a:r>
              <a:rPr lang="en-US" sz="850" dirty="0">
                <a:solidFill>
                  <a:srgbClr val="0C1428"/>
                </a:solidFill>
                <a:latin typeface="Calibri" pitchFamily="34" charset="0"/>
                <a:ea typeface="Calibri" pitchFamily="34" charset="-122"/>
                <a:cs typeface="Calibri" pitchFamily="34" charset="-120"/>
              </a:rPr>
              <a:t>STRONG positive. Older customers accumulate more savings over time. Expected lifecycle effect.</a:t>
            </a:r>
            <a:endParaRPr lang="en-US" sz="850" dirty="0"/>
          </a:p>
        </p:txBody>
      </p:sp>
      <p:sp>
        <p:nvSpPr>
          <p:cNvPr id="138" name="Shape 136"/>
          <p:cNvSpPr/>
          <p:nvPr/>
        </p:nvSpPr>
        <p:spPr>
          <a:xfrm>
            <a:off x="256032" y="4005072"/>
            <a:ext cx="4160520" cy="457200"/>
          </a:xfrm>
          <a:prstGeom prst="roundRect">
            <a:avLst>
              <a:gd name="adj" fmla="val 10000"/>
            </a:avLst>
          </a:prstGeom>
          <a:solidFill>
            <a:srgbClr val="EAF6FA"/>
          </a:solidFill>
          <a:ln w="8890">
            <a:solidFill>
              <a:srgbClr val="E03020"/>
            </a:solidFill>
            <a:prstDash val="solid"/>
          </a:ln>
        </p:spPr>
      </p:sp>
      <p:sp>
        <p:nvSpPr>
          <p:cNvPr id="139" name="Text 137"/>
          <p:cNvSpPr/>
          <p:nvPr/>
        </p:nvSpPr>
        <p:spPr>
          <a:xfrm>
            <a:off x="347472" y="4041648"/>
            <a:ext cx="1645920" cy="182880"/>
          </a:xfrm>
          <a:prstGeom prst="rect">
            <a:avLst/>
          </a:prstGeom>
          <a:noFill/>
          <a:ln/>
        </p:spPr>
        <p:txBody>
          <a:bodyPr wrap="square" lIns="0" tIns="0" rIns="0" bIns="0" rtlCol="0" anchor="ctr"/>
          <a:lstStyle/>
          <a:p>
            <a:pPr indent="0" marL="0">
              <a:buNone/>
            </a:pPr>
            <a:r>
              <a:rPr lang="en-US" sz="900" b="1" dirty="0">
                <a:solidFill>
                  <a:srgbClr val="E03020"/>
                </a:solidFill>
                <a:latin typeface="Calibri" pitchFamily="34" charset="0"/>
                <a:ea typeface="Calibri" pitchFamily="34" charset="-122"/>
                <a:cs typeface="Calibri" pitchFamily="34" charset="-120"/>
              </a:rPr>
              <a:t>Debt-Credit Score r=-.624: </a:t>
            </a:r>
            <a:endParaRPr lang="en-US" sz="900" dirty="0"/>
          </a:p>
        </p:txBody>
      </p:sp>
      <p:sp>
        <p:nvSpPr>
          <p:cNvPr id="140" name="Text 138"/>
          <p:cNvSpPr/>
          <p:nvPr/>
        </p:nvSpPr>
        <p:spPr>
          <a:xfrm>
            <a:off x="347472" y="4242816"/>
            <a:ext cx="3913632" cy="182880"/>
          </a:xfrm>
          <a:prstGeom prst="rect">
            <a:avLst/>
          </a:prstGeom>
          <a:noFill/>
          <a:ln/>
        </p:spPr>
        <p:txBody>
          <a:bodyPr wrap="square" lIns="0" tIns="0" rIns="0" bIns="0" rtlCol="0" anchor="ctr"/>
          <a:lstStyle/>
          <a:p>
            <a:pPr indent="0" marL="0">
              <a:buNone/>
            </a:pPr>
            <a:r>
              <a:rPr lang="en-US" sz="850" dirty="0">
                <a:solidFill>
                  <a:srgbClr val="0C1428"/>
                </a:solidFill>
                <a:latin typeface="Calibri" pitchFamily="34" charset="0"/>
                <a:ea typeface="Calibri" pitchFamily="34" charset="-122"/>
                <a:cs typeface="Calibri" pitchFamily="34" charset="-120"/>
              </a:rPr>
              <a:t>STRONG negative. More debt = lower credit score. Key risk indicator for lending decisions.</a:t>
            </a:r>
            <a:endParaRPr lang="en-US" sz="850" dirty="0"/>
          </a:p>
        </p:txBody>
      </p:sp>
      <p:sp>
        <p:nvSpPr>
          <p:cNvPr id="141" name="Shape 139"/>
          <p:cNvSpPr/>
          <p:nvPr/>
        </p:nvSpPr>
        <p:spPr>
          <a:xfrm>
            <a:off x="4718304" y="4005072"/>
            <a:ext cx="4160520" cy="457200"/>
          </a:xfrm>
          <a:prstGeom prst="roundRect">
            <a:avLst>
              <a:gd name="adj" fmla="val 10000"/>
            </a:avLst>
          </a:prstGeom>
          <a:solidFill>
            <a:srgbClr val="EAF6FA"/>
          </a:solidFill>
          <a:ln w="8890">
            <a:solidFill>
              <a:srgbClr val="E07010"/>
            </a:solidFill>
            <a:prstDash val="solid"/>
          </a:ln>
        </p:spPr>
      </p:sp>
      <p:sp>
        <p:nvSpPr>
          <p:cNvPr id="142" name="Text 140"/>
          <p:cNvSpPr/>
          <p:nvPr/>
        </p:nvSpPr>
        <p:spPr>
          <a:xfrm>
            <a:off x="4809744" y="4041648"/>
            <a:ext cx="1645920" cy="182880"/>
          </a:xfrm>
          <a:prstGeom prst="rect">
            <a:avLst/>
          </a:prstGeom>
          <a:noFill/>
          <a:ln/>
        </p:spPr>
        <p:txBody>
          <a:bodyPr wrap="square" lIns="0" tIns="0" rIns="0" bIns="0" rtlCol="0" anchor="ctr"/>
          <a:lstStyle/>
          <a:p>
            <a:pPr indent="0" marL="0">
              <a:buNone/>
            </a:pPr>
            <a:r>
              <a:rPr lang="en-US" sz="900" b="1" dirty="0">
                <a:solidFill>
                  <a:srgbClr val="E07010"/>
                </a:solidFill>
                <a:latin typeface="Calibri" pitchFamily="34" charset="0"/>
                <a:ea typeface="Calibri" pitchFamily="34" charset="-122"/>
                <a:cs typeface="Calibri" pitchFamily="34" charset="-120"/>
              </a:rPr>
              <a:t>Debt-Savings r=-.571: </a:t>
            </a:r>
            <a:endParaRPr lang="en-US" sz="900" dirty="0"/>
          </a:p>
        </p:txBody>
      </p:sp>
      <p:sp>
        <p:nvSpPr>
          <p:cNvPr id="143" name="Text 141"/>
          <p:cNvSpPr/>
          <p:nvPr/>
        </p:nvSpPr>
        <p:spPr>
          <a:xfrm>
            <a:off x="4809744" y="4242816"/>
            <a:ext cx="3913632" cy="182880"/>
          </a:xfrm>
          <a:prstGeom prst="rect">
            <a:avLst/>
          </a:prstGeom>
          <a:noFill/>
          <a:ln/>
        </p:spPr>
        <p:txBody>
          <a:bodyPr wrap="square" lIns="0" tIns="0" rIns="0" bIns="0" rtlCol="0" anchor="ctr"/>
          <a:lstStyle/>
          <a:p>
            <a:pPr indent="0" marL="0">
              <a:buNone/>
            </a:pPr>
            <a:r>
              <a:rPr lang="en-US" sz="850" dirty="0">
                <a:solidFill>
                  <a:srgbClr val="0C1428"/>
                </a:solidFill>
                <a:latin typeface="Calibri" pitchFamily="34" charset="0"/>
                <a:ea typeface="Calibri" pitchFamily="34" charset="-122"/>
                <a:cs typeface="Calibri" pitchFamily="34" charset="-120"/>
              </a:rPr>
              <a:t>MODERATE-STRONG negative. Higher debt correlates with lower savings (competing for same income).</a:t>
            </a:r>
            <a:endParaRPr lang="en-US" sz="850" dirty="0"/>
          </a:p>
        </p:txBody>
      </p:sp>
      <p:sp>
        <p:nvSpPr>
          <p:cNvPr id="144" name="Shape 142"/>
          <p:cNvSpPr/>
          <p:nvPr/>
        </p:nvSpPr>
        <p:spPr>
          <a:xfrm>
            <a:off x="256032" y="4517136"/>
            <a:ext cx="4160520" cy="457200"/>
          </a:xfrm>
          <a:prstGeom prst="roundRect">
            <a:avLst>
              <a:gd name="adj" fmla="val 10000"/>
            </a:avLst>
          </a:prstGeom>
          <a:solidFill>
            <a:srgbClr val="EAF6FA"/>
          </a:solidFill>
          <a:ln w="8890">
            <a:solidFill>
              <a:srgbClr val="64748B"/>
            </a:solidFill>
            <a:prstDash val="solid"/>
          </a:ln>
        </p:spPr>
      </p:sp>
      <p:sp>
        <p:nvSpPr>
          <p:cNvPr id="145" name="Text 143"/>
          <p:cNvSpPr/>
          <p:nvPr/>
        </p:nvSpPr>
        <p:spPr>
          <a:xfrm>
            <a:off x="347472" y="4553712"/>
            <a:ext cx="1645920" cy="182880"/>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Debt-Txn Freq r=-.124: </a:t>
            </a:r>
            <a:endParaRPr lang="en-US" sz="900" dirty="0"/>
          </a:p>
        </p:txBody>
      </p:sp>
      <p:sp>
        <p:nvSpPr>
          <p:cNvPr id="146" name="Text 144"/>
          <p:cNvSpPr/>
          <p:nvPr/>
        </p:nvSpPr>
        <p:spPr>
          <a:xfrm>
            <a:off x="347472" y="4754880"/>
            <a:ext cx="3913632" cy="182880"/>
          </a:xfrm>
          <a:prstGeom prst="rect">
            <a:avLst/>
          </a:prstGeom>
          <a:noFill/>
          <a:ln/>
        </p:spPr>
        <p:txBody>
          <a:bodyPr wrap="square" lIns="0" tIns="0" rIns="0" bIns="0" rtlCol="0" anchor="ctr"/>
          <a:lstStyle/>
          <a:p>
            <a:pPr indent="0" marL="0">
              <a:buNone/>
            </a:pPr>
            <a:r>
              <a:rPr lang="en-US" sz="850" dirty="0">
                <a:solidFill>
                  <a:srgbClr val="0C1428"/>
                </a:solidFill>
                <a:latin typeface="Calibri" pitchFamily="34" charset="0"/>
                <a:ea typeface="Calibri" pitchFamily="34" charset="-122"/>
                <a:cs typeface="Calibri" pitchFamily="34" charset="-120"/>
              </a:rPr>
              <a:t>NEGLIGIBLE, not significant. Debt level does not predict transaction frequency. Unrelated.</a:t>
            </a:r>
            <a:endParaRPr lang="en-US" sz="850" dirty="0"/>
          </a:p>
        </p:txBody>
      </p:sp>
      <p:sp>
        <p:nvSpPr>
          <p:cNvPr id="147" name="Shape 145"/>
          <p:cNvSpPr/>
          <p:nvPr/>
        </p:nvSpPr>
        <p:spPr>
          <a:xfrm>
            <a:off x="4718304" y="4517136"/>
            <a:ext cx="4160520" cy="457200"/>
          </a:xfrm>
          <a:prstGeom prst="roundRect">
            <a:avLst>
              <a:gd name="adj" fmla="val 10000"/>
            </a:avLst>
          </a:prstGeom>
          <a:solidFill>
            <a:srgbClr val="EAF6FA"/>
          </a:solidFill>
          <a:ln w="8890">
            <a:solidFill>
              <a:srgbClr val="6010C8"/>
            </a:solidFill>
            <a:prstDash val="solid"/>
          </a:ln>
        </p:spPr>
      </p:sp>
      <p:sp>
        <p:nvSpPr>
          <p:cNvPr id="148" name="Text 146"/>
          <p:cNvSpPr/>
          <p:nvPr/>
        </p:nvSpPr>
        <p:spPr>
          <a:xfrm>
            <a:off x="4809744" y="4553712"/>
            <a:ext cx="1645920" cy="182880"/>
          </a:xfrm>
          <a:prstGeom prst="rect">
            <a:avLst/>
          </a:prstGeom>
          <a:noFill/>
          <a:ln/>
        </p:spPr>
        <p:txBody>
          <a:bodyPr wrap="square" lIns="0" tIns="0" rIns="0" bIns="0" rtlCol="0" anchor="ctr"/>
          <a:lstStyle/>
          <a:p>
            <a:pPr indent="0" marL="0">
              <a:buNone/>
            </a:pPr>
            <a:r>
              <a:rPr lang="en-US" sz="900" b="1" dirty="0">
                <a:solidFill>
                  <a:srgbClr val="6010C8"/>
                </a:solidFill>
                <a:latin typeface="Calibri" pitchFamily="34" charset="0"/>
                <a:ea typeface="Calibri" pitchFamily="34" charset="-122"/>
                <a:cs typeface="Calibri" pitchFamily="34" charset="-120"/>
              </a:rPr>
              <a:t>Income-Age r=.620 ⚠: </a:t>
            </a:r>
            <a:endParaRPr lang="en-US" sz="900" dirty="0"/>
          </a:p>
        </p:txBody>
      </p:sp>
      <p:sp>
        <p:nvSpPr>
          <p:cNvPr id="149" name="Text 147"/>
          <p:cNvSpPr/>
          <p:nvPr/>
        </p:nvSpPr>
        <p:spPr>
          <a:xfrm>
            <a:off x="4809744" y="4754880"/>
            <a:ext cx="3913632" cy="182880"/>
          </a:xfrm>
          <a:prstGeom prst="rect">
            <a:avLst/>
          </a:prstGeom>
          <a:noFill/>
          <a:ln/>
        </p:spPr>
        <p:txBody>
          <a:bodyPr wrap="square" lIns="0" tIns="0" rIns="0" bIns="0" rtlCol="0" anchor="ctr"/>
          <a:lstStyle/>
          <a:p>
            <a:pPr indent="0" marL="0">
              <a:buNone/>
            </a:pPr>
            <a:r>
              <a:rPr lang="en-US" sz="850" dirty="0">
                <a:solidFill>
                  <a:srgbClr val="0C1428"/>
                </a:solidFill>
                <a:latin typeface="Calibri" pitchFamily="34" charset="0"/>
                <a:ea typeface="Calibri" pitchFamily="34" charset="-122"/>
                <a:cs typeface="Calibri" pitchFamily="34" charset="-120"/>
              </a:rPr>
              <a:t>MULTICOLLINEARITY RISK. Income and age are correlated r=.62. If both in regression, check VIF!</a:t>
            </a:r>
            <a:endParaRPr lang="en-US" sz="850" dirty="0"/>
          </a:p>
        </p:txBody>
      </p:sp>
      <p:sp>
        <p:nvSpPr>
          <p:cNvPr id="150" name="Shape 148"/>
          <p:cNvSpPr/>
          <p:nvPr/>
        </p:nvSpPr>
        <p:spPr>
          <a:xfrm>
            <a:off x="256032" y="5084064"/>
            <a:ext cx="8631936" cy="402336"/>
          </a:xfrm>
          <a:prstGeom prst="roundRect">
            <a:avLst>
              <a:gd name="adj" fmla="val 13636"/>
            </a:avLst>
          </a:prstGeom>
          <a:solidFill>
            <a:srgbClr val="FEF0ED"/>
          </a:solidFill>
          <a:ln w="19050">
            <a:solidFill>
              <a:srgbClr val="E03020"/>
            </a:solidFill>
            <a:prstDash val="solid"/>
          </a:ln>
        </p:spPr>
      </p:sp>
      <p:sp>
        <p:nvSpPr>
          <p:cNvPr id="151" name="Text 149"/>
          <p:cNvSpPr/>
          <p:nvPr/>
        </p:nvSpPr>
        <p:spPr>
          <a:xfrm>
            <a:off x="365760" y="5084064"/>
            <a:ext cx="8449056" cy="402336"/>
          </a:xfrm>
          <a:prstGeom prst="rect">
            <a:avLst/>
          </a:prstGeom>
          <a:noFill/>
          <a:ln/>
        </p:spPr>
        <p:txBody>
          <a:bodyPr wrap="square" lIns="0" tIns="0" rIns="0" bIns="0" rtlCol="0" anchor="ctr"/>
          <a:lstStyle/>
          <a:p>
            <a:pPr indent="0" marL="0">
              <a:buNone/>
            </a:pPr>
            <a:r>
              <a:rPr lang="en-US" sz="950" dirty="0">
                <a:solidFill>
                  <a:srgbClr val="7A1A0E"/>
                </a:solidFill>
                <a:latin typeface="Calibri" pitchFamily="34" charset="0"/>
                <a:ea typeface="Calibri" pitchFamily="34" charset="-122"/>
                <a:cs typeface="Calibri" pitchFamily="34" charset="-120"/>
              </a:rPr>
              <a:t>MULTIPLE COMPARISONS: For a 7-variable matrix there are 7×6/2=21 pairwise correlations. At α=.05, expect ~1 false positive by chance. Apply Bonferroni correction: α*=.05/21=.0024. Only report correlations with p&lt;.0024 as truly significant.</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5943600" y="-1371600"/>
            <a:ext cx="5029200" cy="5029200"/>
          </a:xfrm>
          <a:prstGeom prst="ellipse">
            <a:avLst/>
          </a:prstGeom>
          <a:solidFill>
            <a:srgbClr val="0A7E8C">
              <a:alpha val="20000"/>
            </a:srgbClr>
          </a:solidFill>
          <a:ln w="12700">
            <a:solidFill>
              <a:srgbClr val="0A7E8C"/>
            </a:solidFill>
            <a:prstDash val="solid"/>
          </a:ln>
        </p:spPr>
      </p:sp>
      <p:sp>
        <p:nvSpPr>
          <p:cNvPr id="3" name="Shape 1"/>
          <p:cNvSpPr/>
          <p:nvPr/>
        </p:nvSpPr>
        <p:spPr>
          <a:xfrm>
            <a:off x="-1097280" y="3200400"/>
            <a:ext cx="3657600" cy="3657600"/>
          </a:xfrm>
          <a:prstGeom prst="ellipse">
            <a:avLst/>
          </a:prstGeom>
          <a:solidFill>
            <a:srgbClr val="D4A010">
              <a:alpha val="12000"/>
            </a:srgbClr>
          </a:solidFill>
          <a:ln w="12700">
            <a:solidFill>
              <a:srgbClr val="D4A010"/>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0"/>
                </a:solidFill>
                <a:latin typeface="Calibri" pitchFamily="34" charset="0"/>
                <a:ea typeface="Calibri" pitchFamily="34" charset="-122"/>
                <a:cs typeface="Calibri" pitchFamily="34" charset="-120"/>
              </a:rPr>
              <a:t>CORRELATION  |  SECTION 05</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Correlation vs Causation</a:t>
            </a:r>
            <a:endParaRPr lang="en-US" sz="36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90D8E0"/>
                </a:solidFill>
                <a:latin typeface="Calibri" pitchFamily="34" charset="0"/>
                <a:ea typeface="Calibri" pitchFamily="34" charset="-122"/>
                <a:cs typeface="Calibri" pitchFamily="34" charset="-120"/>
              </a:rPr>
              <a:t>The most important distinction in all of statistics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6858000" y="-914400"/>
            <a:ext cx="3657600" cy="3657600"/>
          </a:xfrm>
          <a:prstGeom prst="ellipse">
            <a:avLst/>
          </a:prstGeom>
          <a:solidFill>
            <a:srgbClr val="0A7E8C">
              <a:alpha val="16000"/>
            </a:srgbClr>
          </a:solidFill>
          <a:ln w="12700">
            <a:solidFill>
              <a:srgbClr val="0A7E8C"/>
            </a:solidFill>
            <a:prstDash val="solid"/>
          </a:ln>
        </p:spPr>
      </p:sp>
      <p:sp>
        <p:nvSpPr>
          <p:cNvPr id="3" name="Text 1"/>
          <p:cNvSpPr/>
          <p:nvPr/>
        </p:nvSpPr>
        <p:spPr>
          <a:xfrm>
            <a:off x="457200" y="201168"/>
            <a:ext cx="8229600" cy="5943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Correlation Does NOT Imply Causation - The Complete Treatment</a:t>
            </a:r>
            <a:endParaRPr lang="en-US" sz="2600" dirty="0"/>
          </a:p>
        </p:txBody>
      </p:sp>
      <p:sp>
        <p:nvSpPr>
          <p:cNvPr id="4" name="Shape 2"/>
          <p:cNvSpPr/>
          <p:nvPr/>
        </p:nvSpPr>
        <p:spPr>
          <a:xfrm>
            <a:off x="274320" y="914400"/>
            <a:ext cx="8595360" cy="493776"/>
          </a:xfrm>
          <a:prstGeom prst="roundRect">
            <a:avLst>
              <a:gd name="adj" fmla="val 14815"/>
            </a:avLst>
          </a:prstGeom>
          <a:solidFill>
            <a:srgbClr val="0C1428"/>
          </a:solidFill>
          <a:ln w="12700">
            <a:solidFill>
              <a:srgbClr val="14B8C8"/>
            </a:solidFill>
            <a:prstDash val="solid"/>
          </a:ln>
        </p:spPr>
      </p:sp>
      <p:sp>
        <p:nvSpPr>
          <p:cNvPr id="5" name="Text 3"/>
          <p:cNvSpPr/>
          <p:nvPr/>
        </p:nvSpPr>
        <p:spPr>
          <a:xfrm>
            <a:off x="402336" y="969264"/>
            <a:ext cx="8321040" cy="384048"/>
          </a:xfrm>
          <a:prstGeom prst="rect">
            <a:avLst/>
          </a:prstGeom>
          <a:noFill/>
          <a:ln/>
        </p:spPr>
        <p:txBody>
          <a:bodyPr wrap="square" lIns="0" tIns="0" rIns="0" bIns="0" rtlCol="0" anchor="ctr"/>
          <a:lstStyle/>
          <a:p>
            <a:pPr algn="ctr" indent="0" marL="0">
              <a:buNone/>
            </a:pPr>
            <a:r>
              <a:rPr lang="en-US" sz="1200" b="1" dirty="0">
                <a:solidFill>
                  <a:srgbClr val="14B8C8"/>
                </a:solidFill>
                <a:latin typeface="Calibri" pitchFamily="34" charset="0"/>
                <a:ea typeface="Calibri" pitchFamily="34" charset="-122"/>
                <a:cs typeface="Calibri" pitchFamily="34" charset="-120"/>
              </a:rPr>
              <a:t>Observed correlation between X and Y is consistent with ALL of these causal structures simultaneously:</a:t>
            </a:r>
            <a:endParaRPr lang="en-US" sz="1200" dirty="0"/>
          </a:p>
        </p:txBody>
      </p:sp>
      <p:sp>
        <p:nvSpPr>
          <p:cNvPr id="6" name="Shape 4"/>
          <p:cNvSpPr/>
          <p:nvPr/>
        </p:nvSpPr>
        <p:spPr>
          <a:xfrm>
            <a:off x="274320" y="1481328"/>
            <a:ext cx="2048256" cy="3401568"/>
          </a:xfrm>
          <a:prstGeom prst="roundRect">
            <a:avLst>
              <a:gd name="adj" fmla="val 4464"/>
            </a:avLst>
          </a:prstGeom>
          <a:solidFill>
            <a:srgbClr val="0C1428"/>
          </a:solidFill>
          <a:ln w="15240">
            <a:solidFill>
              <a:srgbClr val="14C870"/>
            </a:solidFill>
            <a:prstDash val="solid"/>
          </a:ln>
        </p:spPr>
      </p:sp>
      <p:sp>
        <p:nvSpPr>
          <p:cNvPr id="7" name="Shape 5"/>
          <p:cNvSpPr/>
          <p:nvPr/>
        </p:nvSpPr>
        <p:spPr>
          <a:xfrm>
            <a:off x="347472" y="1554480"/>
            <a:ext cx="1901952" cy="420624"/>
          </a:xfrm>
          <a:prstGeom prst="roundRect">
            <a:avLst>
              <a:gd name="adj" fmla="val 13043"/>
            </a:avLst>
          </a:prstGeom>
          <a:solidFill>
            <a:srgbClr val="14C870"/>
          </a:solidFill>
          <a:ln w="12700">
            <a:solidFill>
              <a:srgbClr val="14C870"/>
            </a:solidFill>
            <a:prstDash val="solid"/>
          </a:ln>
        </p:spPr>
      </p:sp>
      <p:sp>
        <p:nvSpPr>
          <p:cNvPr id="8" name="Text 6"/>
          <p:cNvSpPr/>
          <p:nvPr/>
        </p:nvSpPr>
        <p:spPr>
          <a:xfrm>
            <a:off x="347472" y="1554480"/>
            <a:ext cx="1901952" cy="420624"/>
          </a:xfrm>
          <a:prstGeom prst="rect">
            <a:avLst/>
          </a:prstGeom>
          <a:noFill/>
          <a:ln/>
        </p:spPr>
        <p:txBody>
          <a:bodyPr wrap="square" lIns="0" tIns="0" rIns="0" bIns="0" rtlCol="0" anchor="ctr"/>
          <a:lstStyle/>
          <a:p>
            <a:pPr algn="ctr" indent="0" marL="0">
              <a:buNone/>
            </a:pPr>
            <a:r>
              <a:rPr lang="en-US" sz="1400" b="1" dirty="0">
                <a:solidFill>
                  <a:srgbClr val="070C18"/>
                </a:solidFill>
                <a:latin typeface="Calibri" pitchFamily="34" charset="0"/>
                <a:ea typeface="Calibri" pitchFamily="34" charset="-122"/>
                <a:cs typeface="Calibri" pitchFamily="34" charset="-120"/>
              </a:rPr>
              <a:t>X → Y</a:t>
            </a:r>
            <a:endParaRPr lang="en-US" sz="1400" dirty="0"/>
          </a:p>
        </p:txBody>
      </p:sp>
      <p:sp>
        <p:nvSpPr>
          <p:cNvPr id="9" name="Text 7"/>
          <p:cNvSpPr/>
          <p:nvPr/>
        </p:nvSpPr>
        <p:spPr>
          <a:xfrm>
            <a:off x="384048" y="2029968"/>
            <a:ext cx="1828800" cy="256032"/>
          </a:xfrm>
          <a:prstGeom prst="rect">
            <a:avLst/>
          </a:prstGeom>
          <a:noFill/>
          <a:ln/>
        </p:spPr>
        <p:txBody>
          <a:bodyPr wrap="square" lIns="0" tIns="0" rIns="0" bIns="0" rtlCol="0" anchor="ctr"/>
          <a:lstStyle/>
          <a:p>
            <a:pPr indent="0" marL="0">
              <a:buNone/>
            </a:pPr>
            <a:r>
              <a:rPr lang="en-US" sz="1050" b="1" dirty="0">
                <a:solidFill>
                  <a:srgbClr val="14C870"/>
                </a:solidFill>
                <a:latin typeface="Calibri" pitchFamily="34" charset="0"/>
                <a:ea typeface="Calibri" pitchFamily="34" charset="-122"/>
                <a:cs typeface="Calibri" pitchFamily="34" charset="-120"/>
              </a:rPr>
              <a:t>X causes Y</a:t>
            </a:r>
            <a:endParaRPr lang="en-US" sz="1050" dirty="0"/>
          </a:p>
        </p:txBody>
      </p:sp>
      <p:sp>
        <p:nvSpPr>
          <p:cNvPr id="10" name="Text 8"/>
          <p:cNvSpPr/>
          <p:nvPr/>
        </p:nvSpPr>
        <p:spPr>
          <a:xfrm>
            <a:off x="384048" y="2322576"/>
            <a:ext cx="1828800" cy="2487168"/>
          </a:xfrm>
          <a:prstGeom prst="rect">
            <a:avLst/>
          </a:prstGeom>
          <a:noFill/>
          <a:ln/>
        </p:spPr>
        <p:txBody>
          <a:bodyPr wrap="square" lIns="0" tIns="0" rIns="0" bIns="0" rtlCol="0" anchor="ctr"/>
          <a:lstStyle/>
          <a:p>
            <a:pPr indent="0" marL="0">
              <a:buNone/>
            </a:pPr>
            <a:r>
              <a:rPr lang="en-US" sz="900" dirty="0">
                <a:solidFill>
                  <a:srgbClr val="90D8E0"/>
                </a:solidFill>
                <a:latin typeface="Calibri" pitchFamily="34" charset="0"/>
                <a:ea typeface="Calibri" pitchFamily="34" charset="-122"/>
                <a:cs typeface="Calibri" pitchFamily="34" charset="-120"/>
              </a:rPr>
              <a:t>Income causes spending (plausible). Correlation confirms covariation but NOT direction.</a:t>
            </a:r>
            <a:endParaRPr lang="en-US" sz="900" dirty="0"/>
          </a:p>
        </p:txBody>
      </p:sp>
      <p:sp>
        <p:nvSpPr>
          <p:cNvPr id="11" name="Shape 9"/>
          <p:cNvSpPr/>
          <p:nvPr/>
        </p:nvSpPr>
        <p:spPr>
          <a:xfrm>
            <a:off x="2450592" y="1481328"/>
            <a:ext cx="2048256" cy="3401568"/>
          </a:xfrm>
          <a:prstGeom prst="roundRect">
            <a:avLst>
              <a:gd name="adj" fmla="val 4464"/>
            </a:avLst>
          </a:prstGeom>
          <a:solidFill>
            <a:srgbClr val="0C1428"/>
          </a:solidFill>
          <a:ln w="15240">
            <a:solidFill>
              <a:srgbClr val="2878F0"/>
            </a:solidFill>
            <a:prstDash val="solid"/>
          </a:ln>
        </p:spPr>
      </p:sp>
      <p:sp>
        <p:nvSpPr>
          <p:cNvPr id="12" name="Shape 10"/>
          <p:cNvSpPr/>
          <p:nvPr/>
        </p:nvSpPr>
        <p:spPr>
          <a:xfrm>
            <a:off x="2523744" y="1554480"/>
            <a:ext cx="1901952" cy="420624"/>
          </a:xfrm>
          <a:prstGeom prst="roundRect">
            <a:avLst>
              <a:gd name="adj" fmla="val 13043"/>
            </a:avLst>
          </a:prstGeom>
          <a:solidFill>
            <a:srgbClr val="2878F0"/>
          </a:solidFill>
          <a:ln w="12700">
            <a:solidFill>
              <a:srgbClr val="2878F0"/>
            </a:solidFill>
            <a:prstDash val="solid"/>
          </a:ln>
        </p:spPr>
      </p:sp>
      <p:sp>
        <p:nvSpPr>
          <p:cNvPr id="13" name="Text 11"/>
          <p:cNvSpPr/>
          <p:nvPr/>
        </p:nvSpPr>
        <p:spPr>
          <a:xfrm>
            <a:off x="2523744" y="1554480"/>
            <a:ext cx="1901952" cy="420624"/>
          </a:xfrm>
          <a:prstGeom prst="rect">
            <a:avLst/>
          </a:prstGeom>
          <a:noFill/>
          <a:ln/>
        </p:spPr>
        <p:txBody>
          <a:bodyPr wrap="square" lIns="0" tIns="0" rIns="0" bIns="0" rtlCol="0" anchor="ctr"/>
          <a:lstStyle/>
          <a:p>
            <a:pPr algn="ctr" indent="0" marL="0">
              <a:buNone/>
            </a:pPr>
            <a:r>
              <a:rPr lang="en-US" sz="1400" b="1" dirty="0">
                <a:solidFill>
                  <a:srgbClr val="070C18"/>
                </a:solidFill>
                <a:latin typeface="Calibri" pitchFamily="34" charset="0"/>
                <a:ea typeface="Calibri" pitchFamily="34" charset="-122"/>
                <a:cs typeface="Calibri" pitchFamily="34" charset="-120"/>
              </a:rPr>
              <a:t>Y → X</a:t>
            </a:r>
            <a:endParaRPr lang="en-US" sz="1400" dirty="0"/>
          </a:p>
        </p:txBody>
      </p:sp>
      <p:sp>
        <p:nvSpPr>
          <p:cNvPr id="14" name="Text 12"/>
          <p:cNvSpPr/>
          <p:nvPr/>
        </p:nvSpPr>
        <p:spPr>
          <a:xfrm>
            <a:off x="2560320" y="2029968"/>
            <a:ext cx="1828800" cy="256032"/>
          </a:xfrm>
          <a:prstGeom prst="rect">
            <a:avLst/>
          </a:prstGeom>
          <a:noFill/>
          <a:ln/>
        </p:spPr>
        <p:txBody>
          <a:bodyPr wrap="square" lIns="0" tIns="0" rIns="0" bIns="0" rtlCol="0" anchor="ctr"/>
          <a:lstStyle/>
          <a:p>
            <a:pPr indent="0" marL="0">
              <a:buNone/>
            </a:pPr>
            <a:r>
              <a:rPr lang="en-US" sz="1050" b="1" dirty="0">
                <a:solidFill>
                  <a:srgbClr val="2878F0"/>
                </a:solidFill>
                <a:latin typeface="Calibri" pitchFamily="34" charset="0"/>
                <a:ea typeface="Calibri" pitchFamily="34" charset="-122"/>
                <a:cs typeface="Calibri" pitchFamily="34" charset="-120"/>
              </a:rPr>
              <a:t>Y causes X</a:t>
            </a:r>
            <a:endParaRPr lang="en-US" sz="1050" dirty="0"/>
          </a:p>
        </p:txBody>
      </p:sp>
      <p:sp>
        <p:nvSpPr>
          <p:cNvPr id="15" name="Text 13"/>
          <p:cNvSpPr/>
          <p:nvPr/>
        </p:nvSpPr>
        <p:spPr>
          <a:xfrm>
            <a:off x="2560320" y="2322576"/>
            <a:ext cx="1828800" cy="2487168"/>
          </a:xfrm>
          <a:prstGeom prst="rect">
            <a:avLst/>
          </a:prstGeom>
          <a:noFill/>
          <a:ln/>
        </p:spPr>
        <p:txBody>
          <a:bodyPr wrap="square" lIns="0" tIns="0" rIns="0" bIns="0" rtlCol="0" anchor="ctr"/>
          <a:lstStyle/>
          <a:p>
            <a:pPr indent="0" marL="0">
              <a:buNone/>
            </a:pPr>
            <a:r>
              <a:rPr lang="en-US" sz="900" dirty="0">
                <a:solidFill>
                  <a:srgbClr val="90D8E0"/>
                </a:solidFill>
                <a:latin typeface="Calibri" pitchFamily="34" charset="0"/>
                <a:ea typeface="Calibri" pitchFamily="34" charset="-122"/>
                <a:cs typeface="Calibri" pitchFamily="34" charset="-120"/>
              </a:rPr>
              <a:t>Spending causes income? (reversed causation). Both directions produce the same r value.</a:t>
            </a:r>
            <a:endParaRPr lang="en-US" sz="900" dirty="0"/>
          </a:p>
        </p:txBody>
      </p:sp>
      <p:sp>
        <p:nvSpPr>
          <p:cNvPr id="16" name="Shape 14"/>
          <p:cNvSpPr/>
          <p:nvPr/>
        </p:nvSpPr>
        <p:spPr>
          <a:xfrm>
            <a:off x="4626864" y="1481328"/>
            <a:ext cx="2048256" cy="3401568"/>
          </a:xfrm>
          <a:prstGeom prst="roundRect">
            <a:avLst>
              <a:gd name="adj" fmla="val 4464"/>
            </a:avLst>
          </a:prstGeom>
          <a:solidFill>
            <a:srgbClr val="0C1428"/>
          </a:solidFill>
          <a:ln w="15240">
            <a:solidFill>
              <a:srgbClr val="D4A010"/>
            </a:solidFill>
            <a:prstDash val="solid"/>
          </a:ln>
        </p:spPr>
      </p:sp>
      <p:sp>
        <p:nvSpPr>
          <p:cNvPr id="17" name="Shape 15"/>
          <p:cNvSpPr/>
          <p:nvPr/>
        </p:nvSpPr>
        <p:spPr>
          <a:xfrm>
            <a:off x="4700016" y="1554480"/>
            <a:ext cx="1901952" cy="420624"/>
          </a:xfrm>
          <a:prstGeom prst="roundRect">
            <a:avLst>
              <a:gd name="adj" fmla="val 13043"/>
            </a:avLst>
          </a:prstGeom>
          <a:solidFill>
            <a:srgbClr val="D4A010"/>
          </a:solidFill>
          <a:ln w="12700">
            <a:solidFill>
              <a:srgbClr val="D4A010"/>
            </a:solidFill>
            <a:prstDash val="solid"/>
          </a:ln>
        </p:spPr>
      </p:sp>
      <p:sp>
        <p:nvSpPr>
          <p:cNvPr id="18" name="Text 16"/>
          <p:cNvSpPr/>
          <p:nvPr/>
        </p:nvSpPr>
        <p:spPr>
          <a:xfrm>
            <a:off x="4700016" y="1554480"/>
            <a:ext cx="1901952" cy="420624"/>
          </a:xfrm>
          <a:prstGeom prst="rect">
            <a:avLst/>
          </a:prstGeom>
          <a:noFill/>
          <a:ln/>
        </p:spPr>
        <p:txBody>
          <a:bodyPr wrap="square" lIns="0" tIns="0" rIns="0" bIns="0" rtlCol="0" anchor="ctr"/>
          <a:lstStyle/>
          <a:p>
            <a:pPr algn="ctr" indent="0" marL="0">
              <a:buNone/>
            </a:pPr>
            <a:r>
              <a:rPr lang="en-US" sz="1400" b="1" dirty="0">
                <a:solidFill>
                  <a:srgbClr val="070C18"/>
                </a:solidFill>
                <a:latin typeface="Calibri" pitchFamily="34" charset="0"/>
                <a:ea typeface="Calibri" pitchFamily="34" charset="-122"/>
                <a:cs typeface="Calibri" pitchFamily="34" charset="-120"/>
              </a:rPr>
              <a:t>Z → X, Y</a:t>
            </a:r>
            <a:endParaRPr lang="en-US" sz="1400" dirty="0"/>
          </a:p>
        </p:txBody>
      </p:sp>
      <p:sp>
        <p:nvSpPr>
          <p:cNvPr id="19" name="Text 17"/>
          <p:cNvSpPr/>
          <p:nvPr/>
        </p:nvSpPr>
        <p:spPr>
          <a:xfrm>
            <a:off x="4736592" y="2029968"/>
            <a:ext cx="1828800" cy="256032"/>
          </a:xfrm>
          <a:prstGeom prst="rect">
            <a:avLst/>
          </a:prstGeom>
          <a:noFill/>
          <a:ln/>
        </p:spPr>
        <p:txBody>
          <a:bodyPr wrap="square" lIns="0" tIns="0" rIns="0" bIns="0" rtlCol="0" anchor="ctr"/>
          <a:lstStyle/>
          <a:p>
            <a:pPr indent="0" marL="0">
              <a:buNone/>
            </a:pPr>
            <a:r>
              <a:rPr lang="en-US" sz="1050" b="1" dirty="0">
                <a:solidFill>
                  <a:srgbClr val="D4A010"/>
                </a:solidFill>
                <a:latin typeface="Calibri" pitchFamily="34" charset="0"/>
                <a:ea typeface="Calibri" pitchFamily="34" charset="-122"/>
                <a:cs typeface="Calibri" pitchFamily="34" charset="-120"/>
              </a:rPr>
              <a:t>Confounding: Z causes BOTH</a:t>
            </a:r>
            <a:endParaRPr lang="en-US" sz="1050" dirty="0"/>
          </a:p>
        </p:txBody>
      </p:sp>
      <p:sp>
        <p:nvSpPr>
          <p:cNvPr id="20" name="Text 18"/>
          <p:cNvSpPr/>
          <p:nvPr/>
        </p:nvSpPr>
        <p:spPr>
          <a:xfrm>
            <a:off x="4736592" y="2322576"/>
            <a:ext cx="1828800" cy="2487168"/>
          </a:xfrm>
          <a:prstGeom prst="rect">
            <a:avLst/>
          </a:prstGeom>
          <a:noFill/>
          <a:ln/>
        </p:spPr>
        <p:txBody>
          <a:bodyPr wrap="square" lIns="0" tIns="0" rIns="0" bIns="0" rtlCol="0" anchor="ctr"/>
          <a:lstStyle/>
          <a:p>
            <a:pPr indent="0" marL="0">
              <a:buNone/>
            </a:pPr>
            <a:r>
              <a:rPr lang="en-US" sz="900" dirty="0">
                <a:solidFill>
                  <a:srgbClr val="90D8E0"/>
                </a:solidFill>
                <a:latin typeface="Calibri" pitchFamily="34" charset="0"/>
                <a:ea typeface="Calibri" pitchFamily="34" charset="-122"/>
                <a:cs typeface="Calibri" pitchFamily="34" charset="-120"/>
              </a:rPr>
              <a:t>Age drives both income AND spending. Creating an apparent income-spending link. Age is the confounder.</a:t>
            </a:r>
            <a:endParaRPr lang="en-US" sz="900" dirty="0"/>
          </a:p>
        </p:txBody>
      </p:sp>
      <p:sp>
        <p:nvSpPr>
          <p:cNvPr id="21" name="Shape 19"/>
          <p:cNvSpPr/>
          <p:nvPr/>
        </p:nvSpPr>
        <p:spPr>
          <a:xfrm>
            <a:off x="6803136" y="1481328"/>
            <a:ext cx="2048256" cy="3401568"/>
          </a:xfrm>
          <a:prstGeom prst="roundRect">
            <a:avLst>
              <a:gd name="adj" fmla="val 4464"/>
            </a:avLst>
          </a:prstGeom>
          <a:solidFill>
            <a:srgbClr val="0C1428"/>
          </a:solidFill>
          <a:ln w="15240">
            <a:solidFill>
              <a:srgbClr val="E03020"/>
            </a:solidFill>
            <a:prstDash val="solid"/>
          </a:ln>
        </p:spPr>
      </p:sp>
      <p:sp>
        <p:nvSpPr>
          <p:cNvPr id="22" name="Shape 20"/>
          <p:cNvSpPr/>
          <p:nvPr/>
        </p:nvSpPr>
        <p:spPr>
          <a:xfrm>
            <a:off x="6876288" y="1554480"/>
            <a:ext cx="1901952" cy="420624"/>
          </a:xfrm>
          <a:prstGeom prst="roundRect">
            <a:avLst>
              <a:gd name="adj" fmla="val 13043"/>
            </a:avLst>
          </a:prstGeom>
          <a:solidFill>
            <a:srgbClr val="E03020"/>
          </a:solidFill>
          <a:ln w="12700">
            <a:solidFill>
              <a:srgbClr val="E03020"/>
            </a:solidFill>
            <a:prstDash val="solid"/>
          </a:ln>
        </p:spPr>
      </p:sp>
      <p:sp>
        <p:nvSpPr>
          <p:cNvPr id="23" name="Text 21"/>
          <p:cNvSpPr/>
          <p:nvPr/>
        </p:nvSpPr>
        <p:spPr>
          <a:xfrm>
            <a:off x="6876288" y="1554480"/>
            <a:ext cx="1901952" cy="420624"/>
          </a:xfrm>
          <a:prstGeom prst="rect">
            <a:avLst/>
          </a:prstGeom>
          <a:noFill/>
          <a:ln/>
        </p:spPr>
        <p:txBody>
          <a:bodyPr wrap="square" lIns="0" tIns="0" rIns="0" bIns="0" rtlCol="0" anchor="ctr"/>
          <a:lstStyle/>
          <a:p>
            <a:pPr algn="ctr" indent="0" marL="0">
              <a:buNone/>
            </a:pPr>
            <a:r>
              <a:rPr lang="en-US" sz="1400" b="1" dirty="0">
                <a:solidFill>
                  <a:srgbClr val="070C18"/>
                </a:solidFill>
                <a:latin typeface="Calibri" pitchFamily="34" charset="0"/>
                <a:ea typeface="Calibri" pitchFamily="34" charset="-122"/>
                <a:cs typeface="Calibri" pitchFamily="34" charset="-120"/>
              </a:rPr>
              <a:t>Coincidence</a:t>
            </a:r>
            <a:endParaRPr lang="en-US" sz="1400" dirty="0"/>
          </a:p>
        </p:txBody>
      </p:sp>
      <p:sp>
        <p:nvSpPr>
          <p:cNvPr id="24" name="Text 22"/>
          <p:cNvSpPr/>
          <p:nvPr/>
        </p:nvSpPr>
        <p:spPr>
          <a:xfrm>
            <a:off x="6912864" y="2029968"/>
            <a:ext cx="1828800" cy="256032"/>
          </a:xfrm>
          <a:prstGeom prst="rect">
            <a:avLst/>
          </a:prstGeom>
          <a:noFill/>
          <a:ln/>
        </p:spPr>
        <p:txBody>
          <a:bodyPr wrap="square" lIns="0" tIns="0" rIns="0" bIns="0" rtlCol="0" anchor="ctr"/>
          <a:lstStyle/>
          <a:p>
            <a:pPr indent="0" marL="0">
              <a:buNone/>
            </a:pPr>
            <a:r>
              <a:rPr lang="en-US" sz="1050" b="1" dirty="0">
                <a:solidFill>
                  <a:srgbClr val="E03020"/>
                </a:solidFill>
                <a:latin typeface="Calibri" pitchFamily="34" charset="0"/>
                <a:ea typeface="Calibri" pitchFamily="34" charset="-122"/>
                <a:cs typeface="Calibri" pitchFamily="34" charset="-120"/>
              </a:rPr>
              <a:t>Spurious / Coincidental</a:t>
            </a:r>
            <a:endParaRPr lang="en-US" sz="1050" dirty="0"/>
          </a:p>
        </p:txBody>
      </p:sp>
      <p:sp>
        <p:nvSpPr>
          <p:cNvPr id="25" name="Text 23"/>
          <p:cNvSpPr/>
          <p:nvPr/>
        </p:nvSpPr>
        <p:spPr>
          <a:xfrm>
            <a:off x="6912864" y="2322576"/>
            <a:ext cx="1828800" cy="2487168"/>
          </a:xfrm>
          <a:prstGeom prst="rect">
            <a:avLst/>
          </a:prstGeom>
          <a:noFill/>
          <a:ln/>
        </p:spPr>
        <p:txBody>
          <a:bodyPr wrap="square" lIns="0" tIns="0" rIns="0" bIns="0" rtlCol="0" anchor="ctr"/>
          <a:lstStyle/>
          <a:p>
            <a:pPr indent="0" marL="0">
              <a:buNone/>
            </a:pPr>
            <a:r>
              <a:rPr lang="en-US" sz="900" dirty="0">
                <a:solidFill>
                  <a:srgbClr val="90D8E0"/>
                </a:solidFill>
                <a:latin typeface="Calibri" pitchFamily="34" charset="0"/>
                <a:ea typeface="Calibri" pitchFamily="34" charset="-122"/>
                <a:cs typeface="Calibri" pitchFamily="34" charset="-120"/>
              </a:rPr>
              <a:t>Nicolas Cage films and pool drownings r=.666. Both trend similarly by coincidence over time.</a:t>
            </a:r>
            <a:endParaRPr lang="en-US" sz="900" dirty="0"/>
          </a:p>
        </p:txBody>
      </p:sp>
      <p:sp>
        <p:nvSpPr>
          <p:cNvPr id="26" name="Shape 24"/>
          <p:cNvSpPr/>
          <p:nvPr/>
        </p:nvSpPr>
        <p:spPr>
          <a:xfrm>
            <a:off x="274320" y="4937760"/>
            <a:ext cx="8595360" cy="621792"/>
          </a:xfrm>
          <a:prstGeom prst="roundRect">
            <a:avLst>
              <a:gd name="adj" fmla="val 11765"/>
            </a:avLst>
          </a:prstGeom>
          <a:solidFill>
            <a:srgbClr val="0C1428"/>
          </a:solidFill>
          <a:ln w="12700">
            <a:solidFill>
              <a:srgbClr val="14B8C8"/>
            </a:solidFill>
            <a:prstDash val="solid"/>
          </a:ln>
        </p:spPr>
      </p:sp>
      <p:sp>
        <p:nvSpPr>
          <p:cNvPr id="27" name="Text 25"/>
          <p:cNvSpPr/>
          <p:nvPr/>
        </p:nvSpPr>
        <p:spPr>
          <a:xfrm>
            <a:off x="402336" y="4992624"/>
            <a:ext cx="8321040" cy="512064"/>
          </a:xfrm>
          <a:prstGeom prst="rect">
            <a:avLst/>
          </a:prstGeom>
          <a:noFill/>
          <a:ln/>
        </p:spPr>
        <p:txBody>
          <a:bodyPr wrap="square" lIns="0" tIns="0" rIns="0" bIns="0" rtlCol="0" anchor="ctr"/>
          <a:lstStyle/>
          <a:p>
            <a:pPr indent="0" marL="0">
              <a:buNone/>
            </a:pPr>
            <a:r>
              <a:rPr lang="en-US" sz="1000" b="1" dirty="0">
                <a:solidFill>
                  <a:srgbClr val="14B8C8"/>
                </a:solidFill>
                <a:latin typeface="Calibri" pitchFamily="34" charset="0"/>
                <a:ea typeface="Calibri" pitchFamily="34" charset="-122"/>
                <a:cs typeface="Calibri" pitchFamily="34" charset="-120"/>
              </a:rPr>
              <a:t>THREE CONDITIONS for causation: </a:t>
            </a:r>
            <a:pPr indent="0" marL="0">
              <a:buNone/>
            </a:pPr>
            <a:r>
              <a:rPr lang="en-US" sz="1000" dirty="0">
                <a:solidFill>
                  <a:srgbClr val="90D8E0"/>
                </a:solidFill>
                <a:latin typeface="Calibri" pitchFamily="34" charset="0"/>
                <a:ea typeface="Calibri" pitchFamily="34" charset="-122"/>
                <a:cs typeface="Calibri" pitchFamily="34" charset="-120"/>
              </a:rPr>
              <a:t>(1) Temporal precedence (cause precedes effect). </a:t>
            </a:r>
            <a:pPr indent="0" marL="0">
              <a:buNone/>
            </a:pPr>
            <a:r>
              <a:rPr lang="en-US" sz="1000" dirty="0">
                <a:solidFill>
                  <a:srgbClr val="90D8E0"/>
                </a:solidFill>
                <a:latin typeface="Calibri" pitchFamily="34" charset="0"/>
                <a:ea typeface="Calibri" pitchFamily="34" charset="-122"/>
                <a:cs typeface="Calibri" pitchFamily="34" charset="-120"/>
              </a:rPr>
              <a:t>(2) Covariation (they correlate - this is what r confirms!). </a:t>
            </a:r>
            <a:pPr indent="0" marL="0">
              <a:buNone/>
            </a:pPr>
            <a:r>
              <a:rPr lang="en-US" sz="1000" dirty="0">
                <a:solidFill>
                  <a:srgbClr val="90D8E0"/>
                </a:solidFill>
                <a:latin typeface="Calibri" pitchFamily="34" charset="0"/>
                <a:ea typeface="Calibri" pitchFamily="34" charset="-122"/>
                <a:cs typeface="Calibri" pitchFamily="34" charset="-120"/>
              </a:rPr>
              <a:t>(3) Elimination of alternatives (ALL confounders ruled out). </a:t>
            </a:r>
            <a:pPr indent="0" marL="0">
              <a:buNone/>
            </a:pPr>
            <a:r>
              <a:rPr lang="en-US" sz="1000" b="1" dirty="0">
                <a:solidFill>
                  <a:srgbClr val="E03020"/>
                </a:solidFill>
                <a:latin typeface="Calibri" pitchFamily="34" charset="0"/>
                <a:ea typeface="Calibri" pitchFamily="34" charset="-122"/>
                <a:cs typeface="Calibri" pitchFamily="34" charset="-120"/>
              </a:rPr>
              <a:t>Correlation only confirms condition 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70C18"/>
          </a:solidFill>
          <a:ln w="12700">
            <a:solidFill>
              <a:srgbClr val="070C18"/>
            </a:solidFill>
            <a:prstDash val="solid"/>
          </a:ln>
        </p:spPr>
      </p:sp>
      <p:sp>
        <p:nvSpPr>
          <p:cNvPr id="3" name="Text 1"/>
          <p:cNvSpPr/>
          <p:nvPr/>
        </p:nvSpPr>
        <p:spPr>
          <a:xfrm>
            <a:off x="438912"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Assumptions, Violations and Fixes - Complete Diagnostic Guide</a:t>
            </a:r>
            <a:endParaRPr lang="en-US" sz="2100" dirty="0"/>
          </a:p>
        </p:txBody>
      </p:sp>
      <p:sp>
        <p:nvSpPr>
          <p:cNvPr id="4" name="Shape 2"/>
          <p:cNvSpPr/>
          <p:nvPr/>
        </p:nvSpPr>
        <p:spPr>
          <a:xfrm>
            <a:off x="256032" y="1024128"/>
            <a:ext cx="4160520" cy="1298448"/>
          </a:xfrm>
          <a:prstGeom prst="roundRect">
            <a:avLst>
              <a:gd name="adj" fmla="val 5634"/>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29184" y="1097280"/>
            <a:ext cx="256032" cy="256032"/>
          </a:xfrm>
          <a:prstGeom prst="roundRect">
            <a:avLst>
              <a:gd name="adj" fmla="val 14286"/>
            </a:avLst>
          </a:prstGeom>
          <a:solidFill>
            <a:srgbClr val="14B8C8"/>
          </a:solidFill>
          <a:ln w="12700">
            <a:solidFill>
              <a:srgbClr val="14B8C8"/>
            </a:solidFill>
            <a:prstDash val="solid"/>
          </a:ln>
        </p:spPr>
      </p:sp>
      <p:sp>
        <p:nvSpPr>
          <p:cNvPr id="6" name="Text 4"/>
          <p:cNvSpPr/>
          <p:nvPr/>
        </p:nvSpPr>
        <p:spPr>
          <a:xfrm>
            <a:off x="329184" y="109728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7" name="Text 5"/>
          <p:cNvSpPr/>
          <p:nvPr/>
        </p:nvSpPr>
        <p:spPr>
          <a:xfrm>
            <a:off x="658368" y="1115568"/>
            <a:ext cx="3657600" cy="237744"/>
          </a:xfrm>
          <a:prstGeom prst="rect">
            <a:avLst/>
          </a:prstGeom>
          <a:noFill/>
          <a:ln/>
        </p:spPr>
        <p:txBody>
          <a:bodyPr wrap="square" lIns="0" tIns="0" rIns="0" bIns="0" rtlCol="0" anchor="ctr"/>
          <a:lstStyle/>
          <a:p>
            <a:pPr indent="0" marL="0">
              <a:buNone/>
            </a:pPr>
            <a:r>
              <a:rPr lang="en-US" sz="1050" b="1" dirty="0">
                <a:solidFill>
                  <a:srgbClr val="14B8C8"/>
                </a:solidFill>
                <a:latin typeface="Calibri" pitchFamily="34" charset="0"/>
                <a:ea typeface="Calibri" pitchFamily="34" charset="-122"/>
                <a:cs typeface="Calibri" pitchFamily="34" charset="-120"/>
              </a:rPr>
              <a:t>LINEARITY</a:t>
            </a:r>
            <a:endParaRPr lang="en-US" sz="1050" dirty="0"/>
          </a:p>
        </p:txBody>
      </p:sp>
      <p:sp>
        <p:nvSpPr>
          <p:cNvPr id="8" name="Text 6"/>
          <p:cNvSpPr/>
          <p:nvPr/>
        </p:nvSpPr>
        <p:spPr>
          <a:xfrm>
            <a:off x="347472" y="1426464"/>
            <a:ext cx="3950208" cy="256032"/>
          </a:xfrm>
          <a:prstGeom prst="rect">
            <a:avLst/>
          </a:prstGeom>
          <a:noFill/>
          <a:ln/>
        </p:spPr>
        <p:txBody>
          <a:bodyPr wrap="square" lIns="0" tIns="0" rIns="0" bIns="0" rtlCol="0" anchor="ctr"/>
          <a:lstStyle/>
          <a:p>
            <a:pPr indent="0" marL="0">
              <a:buNone/>
            </a:pPr>
            <a:r>
              <a:rPr lang="en-US" sz="850" b="1" dirty="0">
                <a:solidFill>
                  <a:srgbClr val="14B8C8"/>
                </a:solidFill>
                <a:latin typeface="Calibri" pitchFamily="34" charset="0"/>
                <a:ea typeface="Calibri" pitchFamily="34" charset="-122"/>
                <a:cs typeface="Calibri" pitchFamily="34" charset="-120"/>
              </a:rPr>
              <a:t>Detect: </a:t>
            </a:r>
            <a:pPr indent="0" marL="0">
              <a:buNone/>
            </a:pPr>
            <a:r>
              <a:rPr lang="en-US" sz="850" dirty="0">
                <a:solidFill>
                  <a:srgbClr val="64748B"/>
                </a:solidFill>
                <a:latin typeface="Calibri" pitchFamily="34" charset="0"/>
                <a:ea typeface="Calibri" pitchFamily="34" charset="-122"/>
                <a:cs typeface="Calibri" pitchFamily="34" charset="-120"/>
              </a:rPr>
              <a:t>Scatter plot: curved/U-shaped pattern = non-linearity present.</a:t>
            </a:r>
            <a:endParaRPr lang="en-US" sz="850" dirty="0"/>
          </a:p>
        </p:txBody>
      </p:sp>
      <p:sp>
        <p:nvSpPr>
          <p:cNvPr id="9" name="Text 7"/>
          <p:cNvSpPr/>
          <p:nvPr/>
        </p:nvSpPr>
        <p:spPr>
          <a:xfrm>
            <a:off x="347472" y="1719072"/>
            <a:ext cx="3950208" cy="256032"/>
          </a:xfrm>
          <a:prstGeom prst="rect">
            <a:avLst/>
          </a:prstGeom>
          <a:noFill/>
          <a:ln/>
        </p:spPr>
        <p:txBody>
          <a:bodyPr wrap="square" lIns="0" tIns="0" rIns="0" bIns="0" rtlCol="0" anchor="ctr"/>
          <a:lstStyle/>
          <a:p>
            <a:pPr indent="0" marL="0">
              <a:buNone/>
            </a:pPr>
            <a:r>
              <a:rPr lang="en-US" sz="850" b="1" dirty="0">
                <a:solidFill>
                  <a:srgbClr val="14B8C8"/>
                </a:solidFill>
                <a:latin typeface="Calibri" pitchFamily="34" charset="0"/>
                <a:ea typeface="Calibri" pitchFamily="34" charset="-122"/>
                <a:cs typeface="Calibri" pitchFamily="34" charset="-120"/>
              </a:rPr>
              <a:t>Fix: </a:t>
            </a:r>
            <a:pPr indent="0" marL="0">
              <a:buNone/>
            </a:pPr>
            <a:r>
              <a:rPr lang="en-US" sz="850" dirty="0">
                <a:solidFill>
                  <a:srgbClr val="0C1428"/>
                </a:solidFill>
                <a:latin typeface="Calibri" pitchFamily="34" charset="0"/>
                <a:ea typeface="Calibri" pitchFamily="34" charset="-122"/>
                <a:cs typeface="Calibri" pitchFamily="34" charset="-120"/>
              </a:rPr>
              <a:t>Use Spearman rho (detects monotonic). Or transform variables: LN(X), sqrt(X).</a:t>
            </a:r>
            <a:endParaRPr lang="en-US" sz="850" dirty="0"/>
          </a:p>
        </p:txBody>
      </p:sp>
      <p:sp>
        <p:nvSpPr>
          <p:cNvPr id="10" name="Text 8"/>
          <p:cNvSpPr/>
          <p:nvPr/>
        </p:nvSpPr>
        <p:spPr>
          <a:xfrm>
            <a:off x="347472" y="1993392"/>
            <a:ext cx="3950208" cy="256032"/>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Scatter plot shows a straight-line (not curved) pattern. Pearson r measures LINEAR association only.</a:t>
            </a:r>
            <a:endParaRPr lang="en-US" sz="800" dirty="0"/>
          </a:p>
        </p:txBody>
      </p:sp>
      <p:sp>
        <p:nvSpPr>
          <p:cNvPr id="11" name="Shape 9"/>
          <p:cNvSpPr/>
          <p:nvPr/>
        </p:nvSpPr>
        <p:spPr>
          <a:xfrm>
            <a:off x="256032" y="2414016"/>
            <a:ext cx="4160520" cy="1298448"/>
          </a:xfrm>
          <a:prstGeom prst="roundRect">
            <a:avLst>
              <a:gd name="adj" fmla="val 5634"/>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12" name="Shape 10"/>
          <p:cNvSpPr/>
          <p:nvPr/>
        </p:nvSpPr>
        <p:spPr>
          <a:xfrm>
            <a:off x="329184" y="2487168"/>
            <a:ext cx="256032" cy="256032"/>
          </a:xfrm>
          <a:prstGeom prst="roundRect">
            <a:avLst>
              <a:gd name="adj" fmla="val 14286"/>
            </a:avLst>
          </a:prstGeom>
          <a:solidFill>
            <a:srgbClr val="D4A010"/>
          </a:solidFill>
          <a:ln w="12700">
            <a:solidFill>
              <a:srgbClr val="D4A010"/>
            </a:solidFill>
            <a:prstDash val="solid"/>
          </a:ln>
        </p:spPr>
      </p:sp>
      <p:sp>
        <p:nvSpPr>
          <p:cNvPr id="13" name="Text 11"/>
          <p:cNvSpPr/>
          <p:nvPr/>
        </p:nvSpPr>
        <p:spPr>
          <a:xfrm>
            <a:off x="329184" y="248716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4" name="Text 12"/>
          <p:cNvSpPr/>
          <p:nvPr/>
        </p:nvSpPr>
        <p:spPr>
          <a:xfrm>
            <a:off x="658368" y="2505456"/>
            <a:ext cx="3657600" cy="237744"/>
          </a:xfrm>
          <a:prstGeom prst="rect">
            <a:avLst/>
          </a:prstGeom>
          <a:noFill/>
          <a:ln/>
        </p:spPr>
        <p:txBody>
          <a:bodyPr wrap="square" lIns="0" tIns="0" rIns="0" bIns="0" rtlCol="0" anchor="ctr"/>
          <a:lstStyle/>
          <a:p>
            <a:pPr indent="0" marL="0">
              <a:buNone/>
            </a:pPr>
            <a:r>
              <a:rPr lang="en-US" sz="1050" b="1" dirty="0">
                <a:solidFill>
                  <a:srgbClr val="D4A010"/>
                </a:solidFill>
                <a:latin typeface="Calibri" pitchFamily="34" charset="0"/>
                <a:ea typeface="Calibri" pitchFamily="34" charset="-122"/>
                <a:cs typeface="Calibri" pitchFamily="34" charset="-120"/>
              </a:rPr>
              <a:t>BIVARIATE NORMALITY</a:t>
            </a:r>
            <a:endParaRPr lang="en-US" sz="1050" dirty="0"/>
          </a:p>
        </p:txBody>
      </p:sp>
      <p:sp>
        <p:nvSpPr>
          <p:cNvPr id="15" name="Text 13"/>
          <p:cNvSpPr/>
          <p:nvPr/>
        </p:nvSpPr>
        <p:spPr>
          <a:xfrm>
            <a:off x="347472" y="2816352"/>
            <a:ext cx="3950208" cy="256032"/>
          </a:xfrm>
          <a:prstGeom prst="rect">
            <a:avLst/>
          </a:prstGeom>
          <a:noFill/>
          <a:ln/>
        </p:spPr>
        <p:txBody>
          <a:bodyPr wrap="square" lIns="0" tIns="0" rIns="0" bIns="0" rtlCol="0" anchor="ctr"/>
          <a:lstStyle/>
          <a:p>
            <a:pPr indent="0" marL="0">
              <a:buNone/>
            </a:pPr>
            <a:r>
              <a:rPr lang="en-US" sz="850" b="1" dirty="0">
                <a:solidFill>
                  <a:srgbClr val="D4A010"/>
                </a:solidFill>
                <a:latin typeface="Calibri" pitchFamily="34" charset="0"/>
                <a:ea typeface="Calibri" pitchFamily="34" charset="-122"/>
                <a:cs typeface="Calibri" pitchFamily="34" charset="-120"/>
              </a:rPr>
              <a:t>Detect: </a:t>
            </a:r>
            <a:pPr indent="0" marL="0">
              <a:buNone/>
            </a:pPr>
            <a:r>
              <a:rPr lang="en-US" sz="850" dirty="0">
                <a:solidFill>
                  <a:srgbClr val="64748B"/>
                </a:solidFill>
                <a:latin typeface="Calibri" pitchFamily="34" charset="0"/>
                <a:ea typeface="Calibri" pitchFamily="34" charset="-122"/>
                <a:cs typeface="Calibri" pitchFamily="34" charset="-120"/>
              </a:rPr>
              <a:t>Histograms + Q-Q plots + Shapiro-Wilk for each variable. |Skewness| &gt; 2 = concern.</a:t>
            </a:r>
            <a:endParaRPr lang="en-US" sz="850" dirty="0"/>
          </a:p>
        </p:txBody>
      </p:sp>
      <p:sp>
        <p:nvSpPr>
          <p:cNvPr id="16" name="Text 14"/>
          <p:cNvSpPr/>
          <p:nvPr/>
        </p:nvSpPr>
        <p:spPr>
          <a:xfrm>
            <a:off x="347472" y="3108960"/>
            <a:ext cx="3950208" cy="256032"/>
          </a:xfrm>
          <a:prstGeom prst="rect">
            <a:avLst/>
          </a:prstGeom>
          <a:noFill/>
          <a:ln/>
        </p:spPr>
        <p:txBody>
          <a:bodyPr wrap="square" lIns="0" tIns="0" rIns="0" bIns="0" rtlCol="0" anchor="ctr"/>
          <a:lstStyle/>
          <a:p>
            <a:pPr indent="0" marL="0">
              <a:buNone/>
            </a:pPr>
            <a:r>
              <a:rPr lang="en-US" sz="850" b="1" dirty="0">
                <a:solidFill>
                  <a:srgbClr val="D4A010"/>
                </a:solidFill>
                <a:latin typeface="Calibri" pitchFamily="34" charset="0"/>
                <a:ea typeface="Calibri" pitchFamily="34" charset="-122"/>
                <a:cs typeface="Calibri" pitchFamily="34" charset="-120"/>
              </a:rPr>
              <a:t>Fix: </a:t>
            </a:r>
            <a:pPr indent="0" marL="0">
              <a:buNone/>
            </a:pPr>
            <a:r>
              <a:rPr lang="en-US" sz="850" dirty="0">
                <a:solidFill>
                  <a:srgbClr val="0C1428"/>
                </a:solidFill>
                <a:latin typeface="Calibri" pitchFamily="34" charset="0"/>
                <a:ea typeface="Calibri" pitchFamily="34" charset="-122"/>
                <a:cs typeface="Calibri" pitchFamily="34" charset="-120"/>
              </a:rPr>
              <a:t>Use Spearman rho (non-parametric). Or transform: LN(Y), sqrt(Y).</a:t>
            </a:r>
            <a:endParaRPr lang="en-US" sz="850" dirty="0"/>
          </a:p>
        </p:txBody>
      </p:sp>
      <p:sp>
        <p:nvSpPr>
          <p:cNvPr id="17" name="Text 15"/>
          <p:cNvSpPr/>
          <p:nvPr/>
        </p:nvSpPr>
        <p:spPr>
          <a:xfrm>
            <a:off x="347472" y="3383280"/>
            <a:ext cx="3950208" cy="256032"/>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Both X and Y approximately normally distributed. Important for small samples; CLT helps for n&gt;30.</a:t>
            </a:r>
            <a:endParaRPr lang="en-US" sz="800" dirty="0"/>
          </a:p>
        </p:txBody>
      </p:sp>
      <p:sp>
        <p:nvSpPr>
          <p:cNvPr id="18" name="Shape 16"/>
          <p:cNvSpPr/>
          <p:nvPr/>
        </p:nvSpPr>
        <p:spPr>
          <a:xfrm>
            <a:off x="256032" y="3803904"/>
            <a:ext cx="4160520" cy="1298448"/>
          </a:xfrm>
          <a:prstGeom prst="roundRect">
            <a:avLst>
              <a:gd name="adj" fmla="val 5634"/>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19" name="Shape 17"/>
          <p:cNvSpPr/>
          <p:nvPr/>
        </p:nvSpPr>
        <p:spPr>
          <a:xfrm>
            <a:off x="329184" y="3877056"/>
            <a:ext cx="256032" cy="256032"/>
          </a:xfrm>
          <a:prstGeom prst="roundRect">
            <a:avLst>
              <a:gd name="adj" fmla="val 14286"/>
            </a:avLst>
          </a:prstGeom>
          <a:solidFill>
            <a:srgbClr val="E03020"/>
          </a:solidFill>
          <a:ln w="12700">
            <a:solidFill>
              <a:srgbClr val="E03020"/>
            </a:solidFill>
            <a:prstDash val="solid"/>
          </a:ln>
        </p:spPr>
      </p:sp>
      <p:sp>
        <p:nvSpPr>
          <p:cNvPr id="20" name="Text 18"/>
          <p:cNvSpPr/>
          <p:nvPr/>
        </p:nvSpPr>
        <p:spPr>
          <a:xfrm>
            <a:off x="329184" y="3877056"/>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1" name="Text 19"/>
          <p:cNvSpPr/>
          <p:nvPr/>
        </p:nvSpPr>
        <p:spPr>
          <a:xfrm>
            <a:off x="658368" y="3895344"/>
            <a:ext cx="3657600" cy="237744"/>
          </a:xfrm>
          <a:prstGeom prst="rect">
            <a:avLst/>
          </a:prstGeom>
          <a:noFill/>
          <a:ln/>
        </p:spPr>
        <p:txBody>
          <a:bodyPr wrap="square" lIns="0" tIns="0" rIns="0" bIns="0" rtlCol="0" anchor="ctr"/>
          <a:lstStyle/>
          <a:p>
            <a:pPr indent="0" marL="0">
              <a:buNone/>
            </a:pPr>
            <a:r>
              <a:rPr lang="en-US" sz="1050" b="1" dirty="0">
                <a:solidFill>
                  <a:srgbClr val="E03020"/>
                </a:solidFill>
                <a:latin typeface="Calibri" pitchFamily="34" charset="0"/>
                <a:ea typeface="Calibri" pitchFamily="34" charset="-122"/>
                <a:cs typeface="Calibri" pitchFamily="34" charset="-120"/>
              </a:rPr>
              <a:t>NO EXTREME OUTLIERS</a:t>
            </a:r>
            <a:endParaRPr lang="en-US" sz="1050" dirty="0"/>
          </a:p>
        </p:txBody>
      </p:sp>
      <p:sp>
        <p:nvSpPr>
          <p:cNvPr id="22" name="Text 20"/>
          <p:cNvSpPr/>
          <p:nvPr/>
        </p:nvSpPr>
        <p:spPr>
          <a:xfrm>
            <a:off x="347472" y="4206240"/>
            <a:ext cx="3950208" cy="256032"/>
          </a:xfrm>
          <a:prstGeom prst="rect">
            <a:avLst/>
          </a:prstGeom>
          <a:noFill/>
          <a:ln/>
        </p:spPr>
        <p:txBody>
          <a:bodyPr wrap="square" lIns="0" tIns="0" rIns="0" bIns="0" rtlCol="0" anchor="ctr"/>
          <a:lstStyle/>
          <a:p>
            <a:pPr indent="0" marL="0">
              <a:buNone/>
            </a:pPr>
            <a:r>
              <a:rPr lang="en-US" sz="850" b="1" dirty="0">
                <a:solidFill>
                  <a:srgbClr val="E03020"/>
                </a:solidFill>
                <a:latin typeface="Calibri" pitchFamily="34" charset="0"/>
                <a:ea typeface="Calibri" pitchFamily="34" charset="-122"/>
                <a:cs typeface="Calibri" pitchFamily="34" charset="-120"/>
              </a:rPr>
              <a:t>Detect: </a:t>
            </a:r>
            <a:pPr indent="0" marL="0">
              <a:buNone/>
            </a:pPr>
            <a:r>
              <a:rPr lang="en-US" sz="850" dirty="0">
                <a:solidFill>
                  <a:srgbClr val="64748B"/>
                </a:solidFill>
                <a:latin typeface="Calibri" pitchFamily="34" charset="0"/>
                <a:ea typeface="Calibri" pitchFamily="34" charset="-122"/>
                <a:cs typeface="Calibri" pitchFamily="34" charset="-120"/>
              </a:rPr>
              <a:t>Scatter plot: isolated points far from the main data cloud. Box plots of each variable.</a:t>
            </a:r>
            <a:endParaRPr lang="en-US" sz="850" dirty="0"/>
          </a:p>
        </p:txBody>
      </p:sp>
      <p:sp>
        <p:nvSpPr>
          <p:cNvPr id="23" name="Text 21"/>
          <p:cNvSpPr/>
          <p:nvPr/>
        </p:nvSpPr>
        <p:spPr>
          <a:xfrm>
            <a:off x="347472" y="4498848"/>
            <a:ext cx="3950208" cy="256032"/>
          </a:xfrm>
          <a:prstGeom prst="rect">
            <a:avLst/>
          </a:prstGeom>
          <a:noFill/>
          <a:ln/>
        </p:spPr>
        <p:txBody>
          <a:bodyPr wrap="square" lIns="0" tIns="0" rIns="0" bIns="0" rtlCol="0" anchor="ctr"/>
          <a:lstStyle/>
          <a:p>
            <a:pPr indent="0" marL="0">
              <a:buNone/>
            </a:pPr>
            <a:r>
              <a:rPr lang="en-US" sz="850" b="1" dirty="0">
                <a:solidFill>
                  <a:srgbClr val="E03020"/>
                </a:solidFill>
                <a:latin typeface="Calibri" pitchFamily="34" charset="0"/>
                <a:ea typeface="Calibri" pitchFamily="34" charset="-122"/>
                <a:cs typeface="Calibri" pitchFamily="34" charset="-120"/>
              </a:rPr>
              <a:t>Fix: </a:t>
            </a:r>
            <a:pPr indent="0" marL="0">
              <a:buNone/>
            </a:pPr>
            <a:r>
              <a:rPr lang="en-US" sz="850" dirty="0">
                <a:solidFill>
                  <a:srgbClr val="0C1428"/>
                </a:solidFill>
                <a:latin typeface="Calibri" pitchFamily="34" charset="0"/>
                <a:ea typeface="Calibri" pitchFamily="34" charset="-122"/>
                <a:cs typeface="Calibri" pitchFamily="34" charset="-120"/>
              </a:rPr>
              <a:t>Report r with AND without the outlier. Use Spearman rho as robust alternative.</a:t>
            </a:r>
            <a:endParaRPr lang="en-US" sz="850" dirty="0"/>
          </a:p>
        </p:txBody>
      </p:sp>
      <p:sp>
        <p:nvSpPr>
          <p:cNvPr id="24" name="Text 22"/>
          <p:cNvSpPr/>
          <p:nvPr/>
        </p:nvSpPr>
        <p:spPr>
          <a:xfrm>
            <a:off x="347472" y="4773168"/>
            <a:ext cx="3950208" cy="256032"/>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A single outlier can dramatically change r (inflate or deflate). Pearson r is not resistant.</a:t>
            </a:r>
            <a:endParaRPr lang="en-US" sz="800" dirty="0"/>
          </a:p>
        </p:txBody>
      </p:sp>
      <p:sp>
        <p:nvSpPr>
          <p:cNvPr id="25" name="Shape 23"/>
          <p:cNvSpPr/>
          <p:nvPr/>
        </p:nvSpPr>
        <p:spPr>
          <a:xfrm>
            <a:off x="4718304" y="1024128"/>
            <a:ext cx="4160520" cy="1298448"/>
          </a:xfrm>
          <a:prstGeom prst="roundRect">
            <a:avLst>
              <a:gd name="adj" fmla="val 5634"/>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26" name="Shape 24"/>
          <p:cNvSpPr/>
          <p:nvPr/>
        </p:nvSpPr>
        <p:spPr>
          <a:xfrm>
            <a:off x="4791456" y="1097280"/>
            <a:ext cx="256032" cy="256032"/>
          </a:xfrm>
          <a:prstGeom prst="roundRect">
            <a:avLst>
              <a:gd name="adj" fmla="val 14286"/>
            </a:avLst>
          </a:prstGeom>
          <a:solidFill>
            <a:srgbClr val="E07010"/>
          </a:solidFill>
          <a:ln w="12700">
            <a:solidFill>
              <a:srgbClr val="E07010"/>
            </a:solidFill>
            <a:prstDash val="solid"/>
          </a:ln>
        </p:spPr>
      </p:sp>
      <p:sp>
        <p:nvSpPr>
          <p:cNvPr id="27" name="Text 25"/>
          <p:cNvSpPr/>
          <p:nvPr/>
        </p:nvSpPr>
        <p:spPr>
          <a:xfrm>
            <a:off x="4791456" y="109728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8" name="Text 26"/>
          <p:cNvSpPr/>
          <p:nvPr/>
        </p:nvSpPr>
        <p:spPr>
          <a:xfrm>
            <a:off x="5120640" y="1115568"/>
            <a:ext cx="3657600" cy="237744"/>
          </a:xfrm>
          <a:prstGeom prst="rect">
            <a:avLst/>
          </a:prstGeom>
          <a:noFill/>
          <a:ln/>
        </p:spPr>
        <p:txBody>
          <a:bodyPr wrap="square" lIns="0" tIns="0" rIns="0" bIns="0" rtlCol="0" anchor="ctr"/>
          <a:lstStyle/>
          <a:p>
            <a:pPr indent="0" marL="0">
              <a:buNone/>
            </a:pPr>
            <a:r>
              <a:rPr lang="en-US" sz="1050" b="1" dirty="0">
                <a:solidFill>
                  <a:srgbClr val="E07010"/>
                </a:solidFill>
                <a:latin typeface="Calibri" pitchFamily="34" charset="0"/>
                <a:ea typeface="Calibri" pitchFamily="34" charset="-122"/>
                <a:cs typeface="Calibri" pitchFamily="34" charset="-120"/>
              </a:rPr>
              <a:t>HOMOSCEDASTICITY</a:t>
            </a:r>
            <a:endParaRPr lang="en-US" sz="1050" dirty="0"/>
          </a:p>
        </p:txBody>
      </p:sp>
      <p:sp>
        <p:nvSpPr>
          <p:cNvPr id="29" name="Text 27"/>
          <p:cNvSpPr/>
          <p:nvPr/>
        </p:nvSpPr>
        <p:spPr>
          <a:xfrm>
            <a:off x="4809744" y="1426464"/>
            <a:ext cx="3950208" cy="256032"/>
          </a:xfrm>
          <a:prstGeom prst="rect">
            <a:avLst/>
          </a:prstGeom>
          <a:noFill/>
          <a:ln/>
        </p:spPr>
        <p:txBody>
          <a:bodyPr wrap="square" lIns="0" tIns="0" rIns="0" bIns="0" rtlCol="0" anchor="ctr"/>
          <a:lstStyle/>
          <a:p>
            <a:pPr indent="0" marL="0">
              <a:buNone/>
            </a:pPr>
            <a:r>
              <a:rPr lang="en-US" sz="850" b="1" dirty="0">
                <a:solidFill>
                  <a:srgbClr val="E07010"/>
                </a:solidFill>
                <a:latin typeface="Calibri" pitchFamily="34" charset="0"/>
                <a:ea typeface="Calibri" pitchFamily="34" charset="-122"/>
                <a:cs typeface="Calibri" pitchFamily="34" charset="-120"/>
              </a:rPr>
              <a:t>Detect: </a:t>
            </a:r>
            <a:pPr indent="0" marL="0">
              <a:buNone/>
            </a:pPr>
            <a:r>
              <a:rPr lang="en-US" sz="850" dirty="0">
                <a:solidFill>
                  <a:srgbClr val="64748B"/>
                </a:solidFill>
                <a:latin typeface="Calibri" pitchFamily="34" charset="0"/>
                <a:ea typeface="Calibri" pitchFamily="34" charset="-122"/>
                <a:cs typeface="Calibri" pitchFamily="34" charset="-120"/>
              </a:rPr>
              <a:t>Scatter plot: does the spread of the data cloud change as X increases?</a:t>
            </a:r>
            <a:endParaRPr lang="en-US" sz="850" dirty="0"/>
          </a:p>
        </p:txBody>
      </p:sp>
      <p:sp>
        <p:nvSpPr>
          <p:cNvPr id="30" name="Text 28"/>
          <p:cNvSpPr/>
          <p:nvPr/>
        </p:nvSpPr>
        <p:spPr>
          <a:xfrm>
            <a:off x="4809744" y="1719072"/>
            <a:ext cx="3950208" cy="256032"/>
          </a:xfrm>
          <a:prstGeom prst="rect">
            <a:avLst/>
          </a:prstGeom>
          <a:noFill/>
          <a:ln/>
        </p:spPr>
        <p:txBody>
          <a:bodyPr wrap="square" lIns="0" tIns="0" rIns="0" bIns="0" rtlCol="0" anchor="ctr"/>
          <a:lstStyle/>
          <a:p>
            <a:pPr indent="0" marL="0">
              <a:buNone/>
            </a:pPr>
            <a:r>
              <a:rPr lang="en-US" sz="850" b="1" dirty="0">
                <a:solidFill>
                  <a:srgbClr val="E07010"/>
                </a:solidFill>
                <a:latin typeface="Calibri" pitchFamily="34" charset="0"/>
                <a:ea typeface="Calibri" pitchFamily="34" charset="-122"/>
                <a:cs typeface="Calibri" pitchFamily="34" charset="-120"/>
              </a:rPr>
              <a:t>Fix: </a:t>
            </a:r>
            <a:pPr indent="0" marL="0">
              <a:buNone/>
            </a:pPr>
            <a:r>
              <a:rPr lang="en-US" sz="850" dirty="0">
                <a:solidFill>
                  <a:srgbClr val="0C1428"/>
                </a:solidFill>
                <a:latin typeface="Calibri" pitchFamily="34" charset="0"/>
                <a:ea typeface="Calibri" pitchFamily="34" charset="-122"/>
                <a:cs typeface="Calibri" pitchFamily="34" charset="-120"/>
              </a:rPr>
              <a:t>Use Spearman rho. Or transform Y: LN(Y) often stabilises variance.</a:t>
            </a:r>
            <a:endParaRPr lang="en-US" sz="850" dirty="0"/>
          </a:p>
        </p:txBody>
      </p:sp>
      <p:sp>
        <p:nvSpPr>
          <p:cNvPr id="31" name="Text 29"/>
          <p:cNvSpPr/>
          <p:nvPr/>
        </p:nvSpPr>
        <p:spPr>
          <a:xfrm>
            <a:off x="4809744" y="1993392"/>
            <a:ext cx="3950208" cy="256032"/>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Variance of Y is approximately constant across all values of X. Fan shape in scatter = violation.</a:t>
            </a:r>
            <a:endParaRPr lang="en-US" sz="800" dirty="0"/>
          </a:p>
        </p:txBody>
      </p:sp>
      <p:sp>
        <p:nvSpPr>
          <p:cNvPr id="32" name="Shape 30"/>
          <p:cNvSpPr/>
          <p:nvPr/>
        </p:nvSpPr>
        <p:spPr>
          <a:xfrm>
            <a:off x="4718304" y="2414016"/>
            <a:ext cx="4160520" cy="1298448"/>
          </a:xfrm>
          <a:prstGeom prst="roundRect">
            <a:avLst>
              <a:gd name="adj" fmla="val 5634"/>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33" name="Shape 31"/>
          <p:cNvSpPr/>
          <p:nvPr/>
        </p:nvSpPr>
        <p:spPr>
          <a:xfrm>
            <a:off x="4791456" y="2487168"/>
            <a:ext cx="256032" cy="256032"/>
          </a:xfrm>
          <a:prstGeom prst="roundRect">
            <a:avLst>
              <a:gd name="adj" fmla="val 14286"/>
            </a:avLst>
          </a:prstGeom>
          <a:solidFill>
            <a:srgbClr val="0A8A50"/>
          </a:solidFill>
          <a:ln w="12700">
            <a:solidFill>
              <a:srgbClr val="0A8A50"/>
            </a:solidFill>
            <a:prstDash val="solid"/>
          </a:ln>
        </p:spPr>
      </p:sp>
      <p:sp>
        <p:nvSpPr>
          <p:cNvPr id="34" name="Text 32"/>
          <p:cNvSpPr/>
          <p:nvPr/>
        </p:nvSpPr>
        <p:spPr>
          <a:xfrm>
            <a:off x="4791456" y="248716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35" name="Text 33"/>
          <p:cNvSpPr/>
          <p:nvPr/>
        </p:nvSpPr>
        <p:spPr>
          <a:xfrm>
            <a:off x="5120640" y="2505456"/>
            <a:ext cx="3657600" cy="237744"/>
          </a:xfrm>
          <a:prstGeom prst="rect">
            <a:avLst/>
          </a:prstGeom>
          <a:noFill/>
          <a:ln/>
        </p:spPr>
        <p:txBody>
          <a:bodyPr wrap="square" lIns="0" tIns="0" rIns="0" bIns="0" rtlCol="0" anchor="ctr"/>
          <a:lstStyle/>
          <a:p>
            <a:pPr indent="0" marL="0">
              <a:buNone/>
            </a:pPr>
            <a:r>
              <a:rPr lang="en-US" sz="1050" b="1" dirty="0">
                <a:solidFill>
                  <a:srgbClr val="0A8A50"/>
                </a:solidFill>
                <a:latin typeface="Calibri" pitchFamily="34" charset="0"/>
                <a:ea typeface="Calibri" pitchFamily="34" charset="-122"/>
                <a:cs typeface="Calibri" pitchFamily="34" charset="-120"/>
              </a:rPr>
              <a:t>INDEPENDENCE</a:t>
            </a:r>
            <a:endParaRPr lang="en-US" sz="1050" dirty="0"/>
          </a:p>
        </p:txBody>
      </p:sp>
      <p:sp>
        <p:nvSpPr>
          <p:cNvPr id="36" name="Text 34"/>
          <p:cNvSpPr/>
          <p:nvPr/>
        </p:nvSpPr>
        <p:spPr>
          <a:xfrm>
            <a:off x="4809744" y="2816352"/>
            <a:ext cx="3950208" cy="256032"/>
          </a:xfrm>
          <a:prstGeom prst="rect">
            <a:avLst/>
          </a:prstGeom>
          <a:noFill/>
          <a:ln/>
        </p:spPr>
        <p:txBody>
          <a:bodyPr wrap="square" lIns="0" tIns="0" rIns="0" bIns="0" rtlCol="0" anchor="ctr"/>
          <a:lstStyle/>
          <a:p>
            <a:pPr indent="0" marL="0">
              <a:buNone/>
            </a:pPr>
            <a:r>
              <a:rPr lang="en-US" sz="850" b="1" dirty="0">
                <a:solidFill>
                  <a:srgbClr val="0A8A50"/>
                </a:solidFill>
                <a:latin typeface="Calibri" pitchFamily="34" charset="0"/>
                <a:ea typeface="Calibri" pitchFamily="34" charset="-122"/>
                <a:cs typeface="Calibri" pitchFamily="34" charset="-120"/>
              </a:rPr>
              <a:t>Detect: </a:t>
            </a:r>
            <a:pPr indent="0" marL="0">
              <a:buNone/>
            </a:pPr>
            <a:r>
              <a:rPr lang="en-US" sz="850" dirty="0">
                <a:solidFill>
                  <a:srgbClr val="64748B"/>
                </a:solidFill>
                <a:latin typeface="Calibri" pitchFamily="34" charset="0"/>
                <a:ea typeface="Calibri" pitchFamily="34" charset="-122"/>
                <a:cs typeface="Calibri" pitchFamily="34" charset="-120"/>
              </a:rPr>
              <a:t>Study design: are there multiple observations per person? Are units nested in groups?</a:t>
            </a:r>
            <a:endParaRPr lang="en-US" sz="850" dirty="0"/>
          </a:p>
        </p:txBody>
      </p:sp>
      <p:sp>
        <p:nvSpPr>
          <p:cNvPr id="37" name="Text 35"/>
          <p:cNvSpPr/>
          <p:nvPr/>
        </p:nvSpPr>
        <p:spPr>
          <a:xfrm>
            <a:off x="4809744" y="3108960"/>
            <a:ext cx="3950208" cy="256032"/>
          </a:xfrm>
          <a:prstGeom prst="rect">
            <a:avLst/>
          </a:prstGeom>
          <a:noFill/>
          <a:ln/>
        </p:spPr>
        <p:txBody>
          <a:bodyPr wrap="square" lIns="0" tIns="0" rIns="0" bIns="0" rtlCol="0" anchor="ctr"/>
          <a:lstStyle/>
          <a:p>
            <a:pPr indent="0" marL="0">
              <a:buNone/>
            </a:pPr>
            <a:r>
              <a:rPr lang="en-US" sz="850" b="1" dirty="0">
                <a:solidFill>
                  <a:srgbClr val="0A8A50"/>
                </a:solidFill>
                <a:latin typeface="Calibri" pitchFamily="34" charset="0"/>
                <a:ea typeface="Calibri" pitchFamily="34" charset="-122"/>
                <a:cs typeface="Calibri" pitchFamily="34" charset="-120"/>
              </a:rPr>
              <a:t>Fix: </a:t>
            </a:r>
            <a:pPr indent="0" marL="0">
              <a:buNone/>
            </a:pPr>
            <a:r>
              <a:rPr lang="en-US" sz="850" dirty="0">
                <a:solidFill>
                  <a:srgbClr val="0C1428"/>
                </a:solidFill>
                <a:latin typeface="Calibri" pitchFamily="34" charset="0"/>
                <a:ea typeface="Calibri" pitchFamily="34" charset="-122"/>
                <a:cs typeface="Calibri" pitchFamily="34" charset="-120"/>
              </a:rPr>
              <a:t>Intra-class correlation (ICC) for repeated measures. Multilevel model for nested data.</a:t>
            </a:r>
            <a:endParaRPr lang="en-US" sz="850" dirty="0"/>
          </a:p>
        </p:txBody>
      </p:sp>
      <p:sp>
        <p:nvSpPr>
          <p:cNvPr id="38" name="Text 36"/>
          <p:cNvSpPr/>
          <p:nvPr/>
        </p:nvSpPr>
        <p:spPr>
          <a:xfrm>
            <a:off x="4809744" y="3383280"/>
            <a:ext cx="3950208" cy="256032"/>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Each pair (X_i, Y_i) is from a different independent unit. Violated by repeated measures or clustering.</a:t>
            </a:r>
            <a:endParaRPr lang="en-US" sz="800" dirty="0"/>
          </a:p>
        </p:txBody>
      </p:sp>
      <p:sp>
        <p:nvSpPr>
          <p:cNvPr id="39" name="Shape 37"/>
          <p:cNvSpPr/>
          <p:nvPr/>
        </p:nvSpPr>
        <p:spPr>
          <a:xfrm>
            <a:off x="4718304" y="3803904"/>
            <a:ext cx="4160520" cy="1298448"/>
          </a:xfrm>
          <a:prstGeom prst="roundRect">
            <a:avLst>
              <a:gd name="adj" fmla="val 5634"/>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40" name="Shape 38"/>
          <p:cNvSpPr/>
          <p:nvPr/>
        </p:nvSpPr>
        <p:spPr>
          <a:xfrm>
            <a:off x="4791456" y="3877056"/>
            <a:ext cx="256032" cy="256032"/>
          </a:xfrm>
          <a:prstGeom prst="roundRect">
            <a:avLst>
              <a:gd name="adj" fmla="val 14286"/>
            </a:avLst>
          </a:prstGeom>
          <a:solidFill>
            <a:srgbClr val="6010C8"/>
          </a:solidFill>
          <a:ln w="12700">
            <a:solidFill>
              <a:srgbClr val="6010C8"/>
            </a:solidFill>
            <a:prstDash val="solid"/>
          </a:ln>
        </p:spPr>
      </p:sp>
      <p:sp>
        <p:nvSpPr>
          <p:cNvPr id="41" name="Text 39"/>
          <p:cNvSpPr/>
          <p:nvPr/>
        </p:nvSpPr>
        <p:spPr>
          <a:xfrm>
            <a:off x="4791456" y="3877056"/>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42" name="Text 40"/>
          <p:cNvSpPr/>
          <p:nvPr/>
        </p:nvSpPr>
        <p:spPr>
          <a:xfrm>
            <a:off x="5120640" y="3895344"/>
            <a:ext cx="3657600" cy="237744"/>
          </a:xfrm>
          <a:prstGeom prst="rect">
            <a:avLst/>
          </a:prstGeom>
          <a:noFill/>
          <a:ln/>
        </p:spPr>
        <p:txBody>
          <a:bodyPr wrap="square" lIns="0" tIns="0" rIns="0" bIns="0" rtlCol="0" anchor="ctr"/>
          <a:lstStyle/>
          <a:p>
            <a:pPr indent="0" marL="0">
              <a:buNone/>
            </a:pPr>
            <a:r>
              <a:rPr lang="en-US" sz="1050" b="1" dirty="0">
                <a:solidFill>
                  <a:srgbClr val="6010C8"/>
                </a:solidFill>
                <a:latin typeface="Calibri" pitchFamily="34" charset="0"/>
                <a:ea typeface="Calibri" pitchFamily="34" charset="-122"/>
                <a:cs typeface="Calibri" pitchFamily="34" charset="-120"/>
              </a:rPr>
              <a:t>FULL RANGE (No Restriction)</a:t>
            </a:r>
            <a:endParaRPr lang="en-US" sz="1050" dirty="0"/>
          </a:p>
        </p:txBody>
      </p:sp>
      <p:sp>
        <p:nvSpPr>
          <p:cNvPr id="43" name="Text 41"/>
          <p:cNvSpPr/>
          <p:nvPr/>
        </p:nvSpPr>
        <p:spPr>
          <a:xfrm>
            <a:off x="4809744" y="4206240"/>
            <a:ext cx="3950208" cy="256032"/>
          </a:xfrm>
          <a:prstGeom prst="rect">
            <a:avLst/>
          </a:prstGeom>
          <a:noFill/>
          <a:ln/>
        </p:spPr>
        <p:txBody>
          <a:bodyPr wrap="square" lIns="0" tIns="0" rIns="0" bIns="0" rtlCol="0" anchor="ctr"/>
          <a:lstStyle/>
          <a:p>
            <a:pPr indent="0" marL="0">
              <a:buNone/>
            </a:pPr>
            <a:r>
              <a:rPr lang="en-US" sz="850" b="1" dirty="0">
                <a:solidFill>
                  <a:srgbClr val="6010C8"/>
                </a:solidFill>
                <a:latin typeface="Calibri" pitchFamily="34" charset="0"/>
                <a:ea typeface="Calibri" pitchFamily="34" charset="-122"/>
                <a:cs typeface="Calibri" pitchFamily="34" charset="-120"/>
              </a:rPr>
              <a:t>Detect: </a:t>
            </a:r>
            <a:pPr indent="0" marL="0">
              <a:buNone/>
            </a:pPr>
            <a:r>
              <a:rPr lang="en-US" sz="850" dirty="0">
                <a:solidFill>
                  <a:srgbClr val="64748B"/>
                </a:solidFill>
                <a:latin typeface="Calibri" pitchFamily="34" charset="0"/>
                <a:ea typeface="Calibri" pitchFamily="34" charset="-122"/>
                <a:cs typeface="Calibri" pitchFamily="34" charset="-120"/>
              </a:rPr>
              <a:t>Compare SD of X/Y in sample vs expected population SD. Is your sample selected on X or Y?</a:t>
            </a:r>
            <a:endParaRPr lang="en-US" sz="850" dirty="0"/>
          </a:p>
        </p:txBody>
      </p:sp>
      <p:sp>
        <p:nvSpPr>
          <p:cNvPr id="44" name="Text 42"/>
          <p:cNvSpPr/>
          <p:nvPr/>
        </p:nvSpPr>
        <p:spPr>
          <a:xfrm>
            <a:off x="4809744" y="4498848"/>
            <a:ext cx="3950208" cy="256032"/>
          </a:xfrm>
          <a:prstGeom prst="rect">
            <a:avLst/>
          </a:prstGeom>
          <a:noFill/>
          <a:ln/>
        </p:spPr>
        <p:txBody>
          <a:bodyPr wrap="square" lIns="0" tIns="0" rIns="0" bIns="0" rtlCol="0" anchor="ctr"/>
          <a:lstStyle/>
          <a:p>
            <a:pPr indent="0" marL="0">
              <a:buNone/>
            </a:pPr>
            <a:r>
              <a:rPr lang="en-US" sz="850" b="1" dirty="0">
                <a:solidFill>
                  <a:srgbClr val="6010C8"/>
                </a:solidFill>
                <a:latin typeface="Calibri" pitchFamily="34" charset="0"/>
                <a:ea typeface="Calibri" pitchFamily="34" charset="-122"/>
                <a:cs typeface="Calibri" pitchFamily="34" charset="-120"/>
              </a:rPr>
              <a:t>Fix: </a:t>
            </a:r>
            <a:pPr indent="0" marL="0">
              <a:buNone/>
            </a:pPr>
            <a:r>
              <a:rPr lang="en-US" sz="850" dirty="0">
                <a:solidFill>
                  <a:srgbClr val="0C1428"/>
                </a:solidFill>
                <a:latin typeface="Calibri" pitchFamily="34" charset="0"/>
                <a:ea typeface="Calibri" pitchFamily="34" charset="-122"/>
                <a:cs typeface="Calibri" pitchFamily="34" charset="-120"/>
              </a:rPr>
              <a:t>Apply Thorndike correction for attenuation. Explicitly discuss restriction as a limitation.</a:t>
            </a:r>
            <a:endParaRPr lang="en-US" sz="850" dirty="0"/>
          </a:p>
        </p:txBody>
      </p:sp>
      <p:sp>
        <p:nvSpPr>
          <p:cNvPr id="45" name="Text 43"/>
          <p:cNvSpPr/>
          <p:nvPr/>
        </p:nvSpPr>
        <p:spPr>
          <a:xfrm>
            <a:off x="4809744" y="4773168"/>
            <a:ext cx="3950208" cy="256032"/>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Range of X and Y in the sample should represent the full population range. Truncated range deflates r.</a:t>
            </a:r>
            <a:endParaRPr lang="en-US" sz="800" dirty="0"/>
          </a:p>
        </p:txBody>
      </p:sp>
      <p:sp>
        <p:nvSpPr>
          <p:cNvPr id="46" name="Shape 44"/>
          <p:cNvSpPr/>
          <p:nvPr/>
        </p:nvSpPr>
        <p:spPr>
          <a:xfrm>
            <a:off x="256032" y="5138928"/>
            <a:ext cx="8631936" cy="347472"/>
          </a:xfrm>
          <a:prstGeom prst="roundRect">
            <a:avLst>
              <a:gd name="adj" fmla="val 15789"/>
            </a:avLst>
          </a:prstGeom>
          <a:solidFill>
            <a:srgbClr val="FFFBEC"/>
          </a:solidFill>
          <a:ln w="19050">
            <a:solidFill>
              <a:srgbClr val="D4A010"/>
            </a:solidFill>
            <a:prstDash val="solid"/>
          </a:ln>
        </p:spPr>
      </p:sp>
      <p:sp>
        <p:nvSpPr>
          <p:cNvPr id="47" name="Text 45"/>
          <p:cNvSpPr/>
          <p:nvPr/>
        </p:nvSpPr>
        <p:spPr>
          <a:xfrm>
            <a:off x="365760" y="5138928"/>
            <a:ext cx="8449056" cy="347472"/>
          </a:xfrm>
          <a:prstGeom prst="rect">
            <a:avLst/>
          </a:prstGeom>
          <a:noFill/>
          <a:ln/>
        </p:spPr>
        <p:txBody>
          <a:bodyPr wrap="square" lIns="0" tIns="0" rIns="0" bIns="0" rtlCol="0" anchor="ctr"/>
          <a:lstStyle/>
          <a:p>
            <a:pPr indent="0" marL="0">
              <a:buNone/>
            </a:pPr>
            <a:r>
              <a:rPr lang="en-US" sz="950" dirty="0">
                <a:solidFill>
                  <a:srgbClr val="6B4800"/>
                </a:solidFill>
                <a:latin typeface="Calibri" pitchFamily="34" charset="0"/>
                <a:ea typeface="Calibri" pitchFamily="34" charset="-122"/>
                <a:cs typeface="Calibri" pitchFamily="34" charset="-120"/>
              </a:rPr>
              <a:t>ALWAYS plot the scatter diagram BEFORE computing r. Anscombe's Quartet (1973): four datasets with identical r=0.816 but completely different patterns. Visual inspection is irreplaceable.</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5943600" y="-1371600"/>
            <a:ext cx="5029200" cy="5029200"/>
          </a:xfrm>
          <a:prstGeom prst="ellipse">
            <a:avLst/>
          </a:prstGeom>
          <a:solidFill>
            <a:srgbClr val="0A7E8C">
              <a:alpha val="20000"/>
            </a:srgbClr>
          </a:solidFill>
          <a:ln w="12700">
            <a:solidFill>
              <a:srgbClr val="0A7E8C"/>
            </a:solidFill>
            <a:prstDash val="solid"/>
          </a:ln>
        </p:spPr>
      </p:sp>
      <p:sp>
        <p:nvSpPr>
          <p:cNvPr id="3" name="Shape 1"/>
          <p:cNvSpPr/>
          <p:nvPr/>
        </p:nvSpPr>
        <p:spPr>
          <a:xfrm>
            <a:off x="-1097280" y="3200400"/>
            <a:ext cx="3657600" cy="3657600"/>
          </a:xfrm>
          <a:prstGeom prst="ellipse">
            <a:avLst/>
          </a:prstGeom>
          <a:solidFill>
            <a:srgbClr val="D4A010">
              <a:alpha val="12000"/>
            </a:srgbClr>
          </a:solidFill>
          <a:ln w="12700">
            <a:solidFill>
              <a:srgbClr val="D4A010"/>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0"/>
                </a:solidFill>
                <a:latin typeface="Calibri" pitchFamily="34" charset="0"/>
                <a:ea typeface="Calibri" pitchFamily="34" charset="-122"/>
                <a:cs typeface="Calibri" pitchFamily="34" charset="-120"/>
              </a:rPr>
              <a:t>CORRELATION  |  SECTION 06</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SPSS Complete Procedure</a:t>
            </a:r>
            <a:endParaRPr lang="en-US" sz="36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90D8E0"/>
                </a:solidFill>
                <a:latin typeface="Calibri" pitchFamily="34" charset="0"/>
                <a:ea typeface="Calibri" pitchFamily="34" charset="-122"/>
                <a:cs typeface="Calibri" pitchFamily="34" charset="-120"/>
              </a:rPr>
              <a:t>Step-by-step guide to running and reading every correlation output</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70C18"/>
          </a:solidFill>
          <a:ln w="12700">
            <a:solidFill>
              <a:srgbClr val="070C18"/>
            </a:solidFill>
            <a:prstDash val="solid"/>
          </a:ln>
        </p:spPr>
      </p:sp>
      <p:sp>
        <p:nvSpPr>
          <p:cNvPr id="3" name="Text 1"/>
          <p:cNvSpPr/>
          <p:nvPr/>
        </p:nvSpPr>
        <p:spPr>
          <a:xfrm>
            <a:off x="438912"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SPSS Correlation - Complete Procedure and Output Reading Guide</a:t>
            </a:r>
            <a:endParaRPr lang="en-US" sz="2100" dirty="0"/>
          </a:p>
        </p:txBody>
      </p:sp>
      <p:sp>
        <p:nvSpPr>
          <p:cNvPr id="4" name="Shape 2"/>
          <p:cNvSpPr/>
          <p:nvPr/>
        </p:nvSpPr>
        <p:spPr>
          <a:xfrm>
            <a:off x="256032" y="1024128"/>
            <a:ext cx="4160520" cy="4041648"/>
          </a:xfrm>
          <a:prstGeom prst="roundRect">
            <a:avLst>
              <a:gd name="adj" fmla="val 2036"/>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29184" y="1097280"/>
            <a:ext cx="4005072" cy="310896"/>
          </a:xfrm>
          <a:prstGeom prst="roundRect">
            <a:avLst>
              <a:gd name="adj" fmla="val 17647"/>
            </a:avLst>
          </a:prstGeom>
          <a:solidFill>
            <a:srgbClr val="0A7E8C"/>
          </a:solidFill>
          <a:ln w="12700">
            <a:solidFill>
              <a:srgbClr val="0A7E8C"/>
            </a:solidFill>
            <a:prstDash val="solid"/>
          </a:ln>
        </p:spPr>
      </p:sp>
      <p:sp>
        <p:nvSpPr>
          <p:cNvPr id="6" name="Text 4"/>
          <p:cNvSpPr/>
          <p:nvPr/>
        </p:nvSpPr>
        <p:spPr>
          <a:xfrm>
            <a:off x="329184" y="1097280"/>
            <a:ext cx="400507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Step-by-Step SPSS Procedure</a:t>
            </a:r>
            <a:endParaRPr lang="en-US" sz="1100" dirty="0"/>
          </a:p>
        </p:txBody>
      </p:sp>
      <p:sp>
        <p:nvSpPr>
          <p:cNvPr id="7" name="Shape 5"/>
          <p:cNvSpPr/>
          <p:nvPr/>
        </p:nvSpPr>
        <p:spPr>
          <a:xfrm>
            <a:off x="347472" y="1463040"/>
            <a:ext cx="3950208" cy="256032"/>
          </a:xfrm>
          <a:prstGeom prst="roundRect">
            <a:avLst>
              <a:gd name="adj" fmla="val 10714"/>
            </a:avLst>
          </a:prstGeom>
          <a:solidFill>
            <a:srgbClr val="EAF6FA"/>
          </a:solidFill>
          <a:ln w="6350">
            <a:solidFill>
              <a:srgbClr val="0A7E8C"/>
            </a:solidFill>
            <a:prstDash val="solid"/>
          </a:ln>
        </p:spPr>
      </p:sp>
      <p:sp>
        <p:nvSpPr>
          <p:cNvPr id="8" name="Shape 6"/>
          <p:cNvSpPr/>
          <p:nvPr/>
        </p:nvSpPr>
        <p:spPr>
          <a:xfrm>
            <a:off x="347472" y="1463040"/>
            <a:ext cx="219456" cy="256032"/>
          </a:xfrm>
          <a:prstGeom prst="roundRect">
            <a:avLst>
              <a:gd name="adj" fmla="val 12500"/>
            </a:avLst>
          </a:prstGeom>
          <a:solidFill>
            <a:srgbClr val="0A7E8C"/>
          </a:solidFill>
          <a:ln w="12700">
            <a:solidFill>
              <a:srgbClr val="0A7E8C"/>
            </a:solidFill>
            <a:prstDash val="solid"/>
          </a:ln>
        </p:spPr>
      </p:sp>
      <p:sp>
        <p:nvSpPr>
          <p:cNvPr id="9" name="Text 7"/>
          <p:cNvSpPr/>
          <p:nvPr/>
        </p:nvSpPr>
        <p:spPr>
          <a:xfrm>
            <a:off x="347472" y="1463040"/>
            <a:ext cx="219456"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a:t>
            </a:r>
            <a:endParaRPr lang="en-US" sz="750" dirty="0"/>
          </a:p>
        </p:txBody>
      </p:sp>
      <p:sp>
        <p:nvSpPr>
          <p:cNvPr id="10" name="Text 8"/>
          <p:cNvSpPr/>
          <p:nvPr/>
        </p:nvSpPr>
        <p:spPr>
          <a:xfrm>
            <a:off x="603504" y="1481328"/>
            <a:ext cx="2194560" cy="219456"/>
          </a:xfrm>
          <a:prstGeom prst="rect">
            <a:avLst/>
          </a:prstGeom>
          <a:noFill/>
          <a:ln/>
        </p:spPr>
        <p:txBody>
          <a:bodyPr wrap="square" lIns="0" tIns="0" rIns="0" bIns="0" rtlCol="0" anchor="ctr"/>
          <a:lstStyle/>
          <a:p>
            <a:pPr indent="0" marL="0">
              <a:buNone/>
            </a:pPr>
            <a:r>
              <a:rPr lang="en-US" sz="850" dirty="0">
                <a:solidFill>
                  <a:srgbClr val="0C1428"/>
                </a:solidFill>
                <a:latin typeface="Calibri" pitchFamily="34" charset="0"/>
                <a:ea typeface="Calibri" pitchFamily="34" charset="-122"/>
                <a:cs typeface="Calibri" pitchFamily="34" charset="-120"/>
              </a:rPr>
              <a:t>Analyze &gt; Correlate &gt; Bivariate</a:t>
            </a:r>
            <a:endParaRPr lang="en-US" sz="850" dirty="0"/>
          </a:p>
        </p:txBody>
      </p:sp>
      <p:sp>
        <p:nvSpPr>
          <p:cNvPr id="11" name="Text 9"/>
          <p:cNvSpPr/>
          <p:nvPr/>
        </p:nvSpPr>
        <p:spPr>
          <a:xfrm>
            <a:off x="2834640" y="1481328"/>
            <a:ext cx="1371600" cy="219456"/>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Main menu path</a:t>
            </a:r>
            <a:endParaRPr lang="en-US" sz="750" dirty="0"/>
          </a:p>
        </p:txBody>
      </p:sp>
      <p:sp>
        <p:nvSpPr>
          <p:cNvPr id="12" name="Shape 10"/>
          <p:cNvSpPr/>
          <p:nvPr/>
        </p:nvSpPr>
        <p:spPr>
          <a:xfrm>
            <a:off x="347472" y="1737360"/>
            <a:ext cx="3950208" cy="256032"/>
          </a:xfrm>
          <a:prstGeom prst="roundRect">
            <a:avLst>
              <a:gd name="adj" fmla="val 10714"/>
            </a:avLst>
          </a:prstGeom>
          <a:solidFill>
            <a:srgbClr val="EAF6FA"/>
          </a:solidFill>
          <a:ln w="6350">
            <a:solidFill>
              <a:srgbClr val="0A7E8C"/>
            </a:solidFill>
            <a:prstDash val="solid"/>
          </a:ln>
        </p:spPr>
      </p:sp>
      <p:sp>
        <p:nvSpPr>
          <p:cNvPr id="13" name="Shape 11"/>
          <p:cNvSpPr/>
          <p:nvPr/>
        </p:nvSpPr>
        <p:spPr>
          <a:xfrm>
            <a:off x="347472" y="1737360"/>
            <a:ext cx="219456" cy="256032"/>
          </a:xfrm>
          <a:prstGeom prst="roundRect">
            <a:avLst>
              <a:gd name="adj" fmla="val 12500"/>
            </a:avLst>
          </a:prstGeom>
          <a:solidFill>
            <a:srgbClr val="0A7E8C"/>
          </a:solidFill>
          <a:ln w="12700">
            <a:solidFill>
              <a:srgbClr val="0A7E8C"/>
            </a:solidFill>
            <a:prstDash val="solid"/>
          </a:ln>
        </p:spPr>
      </p:sp>
      <p:sp>
        <p:nvSpPr>
          <p:cNvPr id="14" name="Text 12"/>
          <p:cNvSpPr/>
          <p:nvPr/>
        </p:nvSpPr>
        <p:spPr>
          <a:xfrm>
            <a:off x="347472" y="1737360"/>
            <a:ext cx="219456"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2</a:t>
            </a:r>
            <a:endParaRPr lang="en-US" sz="750" dirty="0"/>
          </a:p>
        </p:txBody>
      </p:sp>
      <p:sp>
        <p:nvSpPr>
          <p:cNvPr id="15" name="Text 13"/>
          <p:cNvSpPr/>
          <p:nvPr/>
        </p:nvSpPr>
        <p:spPr>
          <a:xfrm>
            <a:off x="603504" y="1755648"/>
            <a:ext cx="2194560" cy="219456"/>
          </a:xfrm>
          <a:prstGeom prst="rect">
            <a:avLst/>
          </a:prstGeom>
          <a:noFill/>
          <a:ln/>
        </p:spPr>
        <p:txBody>
          <a:bodyPr wrap="square" lIns="0" tIns="0" rIns="0" bIns="0" rtlCol="0" anchor="ctr"/>
          <a:lstStyle/>
          <a:p>
            <a:pPr indent="0" marL="0">
              <a:buNone/>
            </a:pPr>
            <a:r>
              <a:rPr lang="en-US" sz="850" dirty="0">
                <a:solidFill>
                  <a:srgbClr val="0C1428"/>
                </a:solidFill>
                <a:latin typeface="Calibri" pitchFamily="34" charset="0"/>
                <a:ea typeface="Calibri" pitchFamily="34" charset="-122"/>
                <a:cs typeface="Calibri" pitchFamily="34" charset="-120"/>
              </a:rPr>
              <a:t>Move variables to 'Variables' box</a:t>
            </a:r>
            <a:endParaRPr lang="en-US" sz="850" dirty="0"/>
          </a:p>
        </p:txBody>
      </p:sp>
      <p:sp>
        <p:nvSpPr>
          <p:cNvPr id="16" name="Text 14"/>
          <p:cNvSpPr/>
          <p:nvPr/>
        </p:nvSpPr>
        <p:spPr>
          <a:xfrm>
            <a:off x="2834640" y="1755648"/>
            <a:ext cx="1371600" cy="219456"/>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All variables to correlate</a:t>
            </a:r>
            <a:endParaRPr lang="en-US" sz="750" dirty="0"/>
          </a:p>
        </p:txBody>
      </p:sp>
      <p:sp>
        <p:nvSpPr>
          <p:cNvPr id="17" name="Shape 15"/>
          <p:cNvSpPr/>
          <p:nvPr/>
        </p:nvSpPr>
        <p:spPr>
          <a:xfrm>
            <a:off x="347472" y="2011680"/>
            <a:ext cx="3950208" cy="256032"/>
          </a:xfrm>
          <a:prstGeom prst="roundRect">
            <a:avLst>
              <a:gd name="adj" fmla="val 10714"/>
            </a:avLst>
          </a:prstGeom>
          <a:solidFill>
            <a:srgbClr val="EAF6FA"/>
          </a:solidFill>
          <a:ln w="6350">
            <a:solidFill>
              <a:srgbClr val="0A7E8C"/>
            </a:solidFill>
            <a:prstDash val="solid"/>
          </a:ln>
        </p:spPr>
      </p:sp>
      <p:sp>
        <p:nvSpPr>
          <p:cNvPr id="18" name="Shape 16"/>
          <p:cNvSpPr/>
          <p:nvPr/>
        </p:nvSpPr>
        <p:spPr>
          <a:xfrm>
            <a:off x="347472" y="2011680"/>
            <a:ext cx="219456" cy="256032"/>
          </a:xfrm>
          <a:prstGeom prst="roundRect">
            <a:avLst>
              <a:gd name="adj" fmla="val 12500"/>
            </a:avLst>
          </a:prstGeom>
          <a:solidFill>
            <a:srgbClr val="0A7E8C"/>
          </a:solidFill>
          <a:ln w="12700">
            <a:solidFill>
              <a:srgbClr val="0A7E8C"/>
            </a:solidFill>
            <a:prstDash val="solid"/>
          </a:ln>
        </p:spPr>
      </p:sp>
      <p:sp>
        <p:nvSpPr>
          <p:cNvPr id="19" name="Text 17"/>
          <p:cNvSpPr/>
          <p:nvPr/>
        </p:nvSpPr>
        <p:spPr>
          <a:xfrm>
            <a:off x="347472" y="2011680"/>
            <a:ext cx="219456"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3</a:t>
            </a:r>
            <a:endParaRPr lang="en-US" sz="750" dirty="0"/>
          </a:p>
        </p:txBody>
      </p:sp>
      <p:sp>
        <p:nvSpPr>
          <p:cNvPr id="20" name="Text 18"/>
          <p:cNvSpPr/>
          <p:nvPr/>
        </p:nvSpPr>
        <p:spPr>
          <a:xfrm>
            <a:off x="603504" y="2029968"/>
            <a:ext cx="2194560" cy="219456"/>
          </a:xfrm>
          <a:prstGeom prst="rect">
            <a:avLst/>
          </a:prstGeom>
          <a:noFill/>
          <a:ln/>
        </p:spPr>
        <p:txBody>
          <a:bodyPr wrap="square" lIns="0" tIns="0" rIns="0" bIns="0" rtlCol="0" anchor="ctr"/>
          <a:lstStyle/>
          <a:p>
            <a:pPr indent="0" marL="0">
              <a:buNone/>
            </a:pPr>
            <a:r>
              <a:rPr lang="en-US" sz="850" dirty="0">
                <a:solidFill>
                  <a:srgbClr val="0C1428"/>
                </a:solidFill>
                <a:latin typeface="Calibri" pitchFamily="34" charset="0"/>
                <a:ea typeface="Calibri" pitchFamily="34" charset="-122"/>
                <a:cs typeface="Calibri" pitchFamily="34" charset="-120"/>
              </a:rPr>
              <a:t>Tick: Pearson (and/or Spearman, Kendall tau-b)</a:t>
            </a:r>
            <a:endParaRPr lang="en-US" sz="850" dirty="0"/>
          </a:p>
        </p:txBody>
      </p:sp>
      <p:sp>
        <p:nvSpPr>
          <p:cNvPr id="21" name="Text 19"/>
          <p:cNvSpPr/>
          <p:nvPr/>
        </p:nvSpPr>
        <p:spPr>
          <a:xfrm>
            <a:off x="2834640" y="2029968"/>
            <a:ext cx="1371600" cy="219456"/>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Choose coefficient type</a:t>
            </a:r>
            <a:endParaRPr lang="en-US" sz="750" dirty="0"/>
          </a:p>
        </p:txBody>
      </p:sp>
      <p:sp>
        <p:nvSpPr>
          <p:cNvPr id="22" name="Shape 20"/>
          <p:cNvSpPr/>
          <p:nvPr/>
        </p:nvSpPr>
        <p:spPr>
          <a:xfrm>
            <a:off x="347472" y="2286000"/>
            <a:ext cx="3950208" cy="256032"/>
          </a:xfrm>
          <a:prstGeom prst="roundRect">
            <a:avLst>
              <a:gd name="adj" fmla="val 10714"/>
            </a:avLst>
          </a:prstGeom>
          <a:solidFill>
            <a:srgbClr val="EAF6FA"/>
          </a:solidFill>
          <a:ln w="6350">
            <a:solidFill>
              <a:srgbClr val="0A7E8C"/>
            </a:solidFill>
            <a:prstDash val="solid"/>
          </a:ln>
        </p:spPr>
      </p:sp>
      <p:sp>
        <p:nvSpPr>
          <p:cNvPr id="23" name="Shape 21"/>
          <p:cNvSpPr/>
          <p:nvPr/>
        </p:nvSpPr>
        <p:spPr>
          <a:xfrm>
            <a:off x="347472" y="2286000"/>
            <a:ext cx="219456" cy="256032"/>
          </a:xfrm>
          <a:prstGeom prst="roundRect">
            <a:avLst>
              <a:gd name="adj" fmla="val 12500"/>
            </a:avLst>
          </a:prstGeom>
          <a:solidFill>
            <a:srgbClr val="0A7E8C"/>
          </a:solidFill>
          <a:ln w="12700">
            <a:solidFill>
              <a:srgbClr val="0A7E8C"/>
            </a:solidFill>
            <a:prstDash val="solid"/>
          </a:ln>
        </p:spPr>
      </p:sp>
      <p:sp>
        <p:nvSpPr>
          <p:cNvPr id="24" name="Text 22"/>
          <p:cNvSpPr/>
          <p:nvPr/>
        </p:nvSpPr>
        <p:spPr>
          <a:xfrm>
            <a:off x="347472" y="2286000"/>
            <a:ext cx="219456"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4</a:t>
            </a:r>
            <a:endParaRPr lang="en-US" sz="750" dirty="0"/>
          </a:p>
        </p:txBody>
      </p:sp>
      <p:sp>
        <p:nvSpPr>
          <p:cNvPr id="25" name="Text 23"/>
          <p:cNvSpPr/>
          <p:nvPr/>
        </p:nvSpPr>
        <p:spPr>
          <a:xfrm>
            <a:off x="603504" y="2304288"/>
            <a:ext cx="2194560" cy="219456"/>
          </a:xfrm>
          <a:prstGeom prst="rect">
            <a:avLst/>
          </a:prstGeom>
          <a:noFill/>
          <a:ln/>
        </p:spPr>
        <p:txBody>
          <a:bodyPr wrap="square" lIns="0" tIns="0" rIns="0" bIns="0" rtlCol="0" anchor="ctr"/>
          <a:lstStyle/>
          <a:p>
            <a:pPr indent="0" marL="0">
              <a:buNone/>
            </a:pPr>
            <a:r>
              <a:rPr lang="en-US" sz="850" dirty="0">
                <a:solidFill>
                  <a:srgbClr val="0C1428"/>
                </a:solidFill>
                <a:latin typeface="Calibri" pitchFamily="34" charset="0"/>
                <a:ea typeface="Calibri" pitchFamily="34" charset="-122"/>
                <a:cs typeface="Calibri" pitchFamily="34" charset="-120"/>
              </a:rPr>
              <a:t>Two-tailed significance test</a:t>
            </a:r>
            <a:endParaRPr lang="en-US" sz="850" dirty="0"/>
          </a:p>
        </p:txBody>
      </p:sp>
      <p:sp>
        <p:nvSpPr>
          <p:cNvPr id="26" name="Text 24"/>
          <p:cNvSpPr/>
          <p:nvPr/>
        </p:nvSpPr>
        <p:spPr>
          <a:xfrm>
            <a:off x="2834640" y="2304288"/>
            <a:ext cx="1371600" cy="219456"/>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Default; use 1-tailed only with a priori direction</a:t>
            </a:r>
            <a:endParaRPr lang="en-US" sz="750" dirty="0"/>
          </a:p>
        </p:txBody>
      </p:sp>
      <p:sp>
        <p:nvSpPr>
          <p:cNvPr id="27" name="Shape 25"/>
          <p:cNvSpPr/>
          <p:nvPr/>
        </p:nvSpPr>
        <p:spPr>
          <a:xfrm>
            <a:off x="347472" y="2560320"/>
            <a:ext cx="3950208" cy="256032"/>
          </a:xfrm>
          <a:prstGeom prst="roundRect">
            <a:avLst>
              <a:gd name="adj" fmla="val 10714"/>
            </a:avLst>
          </a:prstGeom>
          <a:solidFill>
            <a:srgbClr val="EAF6FA"/>
          </a:solidFill>
          <a:ln w="6350">
            <a:solidFill>
              <a:srgbClr val="0A7E8C"/>
            </a:solidFill>
            <a:prstDash val="solid"/>
          </a:ln>
        </p:spPr>
      </p:sp>
      <p:sp>
        <p:nvSpPr>
          <p:cNvPr id="28" name="Shape 26"/>
          <p:cNvSpPr/>
          <p:nvPr/>
        </p:nvSpPr>
        <p:spPr>
          <a:xfrm>
            <a:off x="347472" y="2560320"/>
            <a:ext cx="219456" cy="256032"/>
          </a:xfrm>
          <a:prstGeom prst="roundRect">
            <a:avLst>
              <a:gd name="adj" fmla="val 12500"/>
            </a:avLst>
          </a:prstGeom>
          <a:solidFill>
            <a:srgbClr val="0A7E8C"/>
          </a:solidFill>
          <a:ln w="12700">
            <a:solidFill>
              <a:srgbClr val="0A7E8C"/>
            </a:solidFill>
            <a:prstDash val="solid"/>
          </a:ln>
        </p:spPr>
      </p:sp>
      <p:sp>
        <p:nvSpPr>
          <p:cNvPr id="29" name="Text 27"/>
          <p:cNvSpPr/>
          <p:nvPr/>
        </p:nvSpPr>
        <p:spPr>
          <a:xfrm>
            <a:off x="347472" y="2560320"/>
            <a:ext cx="219456"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5</a:t>
            </a:r>
            <a:endParaRPr lang="en-US" sz="750" dirty="0"/>
          </a:p>
        </p:txBody>
      </p:sp>
      <p:sp>
        <p:nvSpPr>
          <p:cNvPr id="30" name="Text 28"/>
          <p:cNvSpPr/>
          <p:nvPr/>
        </p:nvSpPr>
        <p:spPr>
          <a:xfrm>
            <a:off x="603504" y="2578608"/>
            <a:ext cx="2194560" cy="219456"/>
          </a:xfrm>
          <a:prstGeom prst="rect">
            <a:avLst/>
          </a:prstGeom>
          <a:noFill/>
          <a:ln/>
        </p:spPr>
        <p:txBody>
          <a:bodyPr wrap="square" lIns="0" tIns="0" rIns="0" bIns="0" rtlCol="0" anchor="ctr"/>
          <a:lstStyle/>
          <a:p>
            <a:pPr indent="0" marL="0">
              <a:buNone/>
            </a:pPr>
            <a:r>
              <a:rPr lang="en-US" sz="850" dirty="0">
                <a:solidFill>
                  <a:srgbClr val="0C1428"/>
                </a:solidFill>
                <a:latin typeface="Calibri" pitchFamily="34" charset="0"/>
                <a:ea typeface="Calibri" pitchFamily="34" charset="-122"/>
                <a:cs typeface="Calibri" pitchFamily="34" charset="-120"/>
              </a:rPr>
              <a:t>Options: tick Means &amp; SDs</a:t>
            </a:r>
            <a:endParaRPr lang="en-US" sz="850" dirty="0"/>
          </a:p>
        </p:txBody>
      </p:sp>
      <p:sp>
        <p:nvSpPr>
          <p:cNvPr id="31" name="Text 29"/>
          <p:cNvSpPr/>
          <p:nvPr/>
        </p:nvSpPr>
        <p:spPr>
          <a:xfrm>
            <a:off x="2834640" y="2578608"/>
            <a:ext cx="1371600" cy="219456"/>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Descriptive stats alongside correlations</a:t>
            </a:r>
            <a:endParaRPr lang="en-US" sz="750" dirty="0"/>
          </a:p>
        </p:txBody>
      </p:sp>
      <p:sp>
        <p:nvSpPr>
          <p:cNvPr id="32" name="Shape 30"/>
          <p:cNvSpPr/>
          <p:nvPr/>
        </p:nvSpPr>
        <p:spPr>
          <a:xfrm>
            <a:off x="347472" y="2834640"/>
            <a:ext cx="3950208" cy="256032"/>
          </a:xfrm>
          <a:prstGeom prst="roundRect">
            <a:avLst>
              <a:gd name="adj" fmla="val 10714"/>
            </a:avLst>
          </a:prstGeom>
          <a:solidFill>
            <a:srgbClr val="EAF6FA"/>
          </a:solidFill>
          <a:ln w="6350">
            <a:solidFill>
              <a:srgbClr val="0A7E8C"/>
            </a:solidFill>
            <a:prstDash val="solid"/>
          </a:ln>
        </p:spPr>
      </p:sp>
      <p:sp>
        <p:nvSpPr>
          <p:cNvPr id="33" name="Shape 31"/>
          <p:cNvSpPr/>
          <p:nvPr/>
        </p:nvSpPr>
        <p:spPr>
          <a:xfrm>
            <a:off x="347472" y="2834640"/>
            <a:ext cx="219456" cy="256032"/>
          </a:xfrm>
          <a:prstGeom prst="roundRect">
            <a:avLst>
              <a:gd name="adj" fmla="val 12500"/>
            </a:avLst>
          </a:prstGeom>
          <a:solidFill>
            <a:srgbClr val="0A7E8C"/>
          </a:solidFill>
          <a:ln w="12700">
            <a:solidFill>
              <a:srgbClr val="0A7E8C"/>
            </a:solidFill>
            <a:prstDash val="solid"/>
          </a:ln>
        </p:spPr>
      </p:sp>
      <p:sp>
        <p:nvSpPr>
          <p:cNvPr id="34" name="Text 32"/>
          <p:cNvSpPr/>
          <p:nvPr/>
        </p:nvSpPr>
        <p:spPr>
          <a:xfrm>
            <a:off x="347472" y="2834640"/>
            <a:ext cx="219456"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6</a:t>
            </a:r>
            <a:endParaRPr lang="en-US" sz="750" dirty="0"/>
          </a:p>
        </p:txBody>
      </p:sp>
      <p:sp>
        <p:nvSpPr>
          <p:cNvPr id="35" name="Text 33"/>
          <p:cNvSpPr/>
          <p:nvPr/>
        </p:nvSpPr>
        <p:spPr>
          <a:xfrm>
            <a:off x="603504" y="2852928"/>
            <a:ext cx="2194560" cy="219456"/>
          </a:xfrm>
          <a:prstGeom prst="rect">
            <a:avLst/>
          </a:prstGeom>
          <a:noFill/>
          <a:ln/>
        </p:spPr>
        <p:txBody>
          <a:bodyPr wrap="square" lIns="0" tIns="0" rIns="0" bIns="0" rtlCol="0" anchor="ctr"/>
          <a:lstStyle/>
          <a:p>
            <a:pPr indent="0" marL="0">
              <a:buNone/>
            </a:pPr>
            <a:r>
              <a:rPr lang="en-US" sz="850" dirty="0">
                <a:solidFill>
                  <a:srgbClr val="0C1428"/>
                </a:solidFill>
                <a:latin typeface="Calibri" pitchFamily="34" charset="0"/>
                <a:ea typeface="Calibri" pitchFamily="34" charset="-122"/>
                <a:cs typeface="Calibri" pitchFamily="34" charset="-120"/>
              </a:rPr>
              <a:t>Flag significant: tick for asterisks</a:t>
            </a:r>
            <a:endParaRPr lang="en-US" sz="850" dirty="0"/>
          </a:p>
        </p:txBody>
      </p:sp>
      <p:sp>
        <p:nvSpPr>
          <p:cNvPr id="36" name="Text 34"/>
          <p:cNvSpPr/>
          <p:nvPr/>
        </p:nvSpPr>
        <p:spPr>
          <a:xfrm>
            <a:off x="2834640" y="2852928"/>
            <a:ext cx="1371600" cy="219456"/>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 p&lt;.05, ** p&lt;.01</a:t>
            </a:r>
            <a:endParaRPr lang="en-US" sz="750" dirty="0"/>
          </a:p>
        </p:txBody>
      </p:sp>
      <p:sp>
        <p:nvSpPr>
          <p:cNvPr id="37" name="Shape 35"/>
          <p:cNvSpPr/>
          <p:nvPr/>
        </p:nvSpPr>
        <p:spPr>
          <a:xfrm>
            <a:off x="347472" y="3108960"/>
            <a:ext cx="3950208" cy="256032"/>
          </a:xfrm>
          <a:prstGeom prst="roundRect">
            <a:avLst>
              <a:gd name="adj" fmla="val 10714"/>
            </a:avLst>
          </a:prstGeom>
          <a:solidFill>
            <a:srgbClr val="EAF6FA"/>
          </a:solidFill>
          <a:ln w="6350">
            <a:solidFill>
              <a:srgbClr val="0A7E8C"/>
            </a:solidFill>
            <a:prstDash val="solid"/>
          </a:ln>
        </p:spPr>
      </p:sp>
      <p:sp>
        <p:nvSpPr>
          <p:cNvPr id="38" name="Shape 36"/>
          <p:cNvSpPr/>
          <p:nvPr/>
        </p:nvSpPr>
        <p:spPr>
          <a:xfrm>
            <a:off x="347472" y="3108960"/>
            <a:ext cx="219456" cy="256032"/>
          </a:xfrm>
          <a:prstGeom prst="roundRect">
            <a:avLst>
              <a:gd name="adj" fmla="val 12500"/>
            </a:avLst>
          </a:prstGeom>
          <a:solidFill>
            <a:srgbClr val="0A7E8C"/>
          </a:solidFill>
          <a:ln w="12700">
            <a:solidFill>
              <a:srgbClr val="0A7E8C"/>
            </a:solidFill>
            <a:prstDash val="solid"/>
          </a:ln>
        </p:spPr>
      </p:sp>
      <p:sp>
        <p:nvSpPr>
          <p:cNvPr id="39" name="Text 37"/>
          <p:cNvSpPr/>
          <p:nvPr/>
        </p:nvSpPr>
        <p:spPr>
          <a:xfrm>
            <a:off x="347472" y="3108960"/>
            <a:ext cx="219456"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7</a:t>
            </a:r>
            <a:endParaRPr lang="en-US" sz="750" dirty="0"/>
          </a:p>
        </p:txBody>
      </p:sp>
      <p:sp>
        <p:nvSpPr>
          <p:cNvPr id="40" name="Text 38"/>
          <p:cNvSpPr/>
          <p:nvPr/>
        </p:nvSpPr>
        <p:spPr>
          <a:xfrm>
            <a:off x="603504" y="3127248"/>
            <a:ext cx="2194560" cy="219456"/>
          </a:xfrm>
          <a:prstGeom prst="rect">
            <a:avLst/>
          </a:prstGeom>
          <a:noFill/>
          <a:ln/>
        </p:spPr>
        <p:txBody>
          <a:bodyPr wrap="square" lIns="0" tIns="0" rIns="0" bIns="0" rtlCol="0" anchor="ctr"/>
          <a:lstStyle/>
          <a:p>
            <a:pPr indent="0" marL="0">
              <a:buNone/>
            </a:pPr>
            <a:r>
              <a:rPr lang="en-US" sz="850" dirty="0">
                <a:solidFill>
                  <a:srgbClr val="0C1428"/>
                </a:solidFill>
                <a:latin typeface="Calibri" pitchFamily="34" charset="0"/>
                <a:ea typeface="Calibri" pitchFamily="34" charset="-122"/>
                <a:cs typeface="Calibri" pitchFamily="34" charset="-120"/>
              </a:rPr>
              <a:t>Click OK</a:t>
            </a:r>
            <a:endParaRPr lang="en-US" sz="850" dirty="0"/>
          </a:p>
        </p:txBody>
      </p:sp>
      <p:sp>
        <p:nvSpPr>
          <p:cNvPr id="41" name="Text 39"/>
          <p:cNvSpPr/>
          <p:nvPr/>
        </p:nvSpPr>
        <p:spPr>
          <a:xfrm>
            <a:off x="2834640" y="3127248"/>
            <a:ext cx="1371600" cy="219456"/>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Run the analysis</a:t>
            </a:r>
            <a:endParaRPr lang="en-US" sz="750" dirty="0"/>
          </a:p>
        </p:txBody>
      </p:sp>
      <p:sp>
        <p:nvSpPr>
          <p:cNvPr id="42" name="Shape 40"/>
          <p:cNvSpPr/>
          <p:nvPr/>
        </p:nvSpPr>
        <p:spPr>
          <a:xfrm>
            <a:off x="347472" y="3383280"/>
            <a:ext cx="3950208" cy="256032"/>
          </a:xfrm>
          <a:prstGeom prst="roundRect">
            <a:avLst>
              <a:gd name="adj" fmla="val 10714"/>
            </a:avLst>
          </a:prstGeom>
          <a:solidFill>
            <a:srgbClr val="FFFBEC"/>
          </a:solidFill>
          <a:ln w="6350">
            <a:solidFill>
              <a:srgbClr val="D4A010"/>
            </a:solidFill>
            <a:prstDash val="solid"/>
          </a:ln>
        </p:spPr>
      </p:sp>
      <p:sp>
        <p:nvSpPr>
          <p:cNvPr id="43" name="Shape 41"/>
          <p:cNvSpPr/>
          <p:nvPr/>
        </p:nvSpPr>
        <p:spPr>
          <a:xfrm>
            <a:off x="347472" y="3383280"/>
            <a:ext cx="219456" cy="256032"/>
          </a:xfrm>
          <a:prstGeom prst="roundRect">
            <a:avLst>
              <a:gd name="adj" fmla="val 12500"/>
            </a:avLst>
          </a:prstGeom>
          <a:solidFill>
            <a:srgbClr val="D4A010"/>
          </a:solidFill>
          <a:ln w="12700">
            <a:solidFill>
              <a:srgbClr val="D4A010"/>
            </a:solidFill>
            <a:prstDash val="solid"/>
          </a:ln>
        </p:spPr>
      </p:sp>
      <p:sp>
        <p:nvSpPr>
          <p:cNvPr id="44" name="Text 42"/>
          <p:cNvSpPr/>
          <p:nvPr/>
        </p:nvSpPr>
        <p:spPr>
          <a:xfrm>
            <a:off x="347472" y="3383280"/>
            <a:ext cx="219456"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P</a:t>
            </a:r>
            <a:endParaRPr lang="en-US" sz="750" dirty="0"/>
          </a:p>
        </p:txBody>
      </p:sp>
      <p:sp>
        <p:nvSpPr>
          <p:cNvPr id="45" name="Text 43"/>
          <p:cNvSpPr/>
          <p:nvPr/>
        </p:nvSpPr>
        <p:spPr>
          <a:xfrm>
            <a:off x="603504" y="3401568"/>
            <a:ext cx="2194560" cy="219456"/>
          </a:xfrm>
          <a:prstGeom prst="rect">
            <a:avLst/>
          </a:prstGeom>
          <a:noFill/>
          <a:ln/>
        </p:spPr>
        <p:txBody>
          <a:bodyPr wrap="square" lIns="0" tIns="0" rIns="0" bIns="0" rtlCol="0" anchor="ctr"/>
          <a:lstStyle/>
          <a:p>
            <a:pPr indent="0" marL="0">
              <a:buNone/>
            </a:pPr>
            <a:r>
              <a:rPr lang="en-US" sz="850" dirty="0">
                <a:solidFill>
                  <a:srgbClr val="0C1428"/>
                </a:solidFill>
                <a:latin typeface="Calibri" pitchFamily="34" charset="0"/>
                <a:ea typeface="Calibri" pitchFamily="34" charset="-122"/>
                <a:cs typeface="Calibri" pitchFamily="34" charset="-120"/>
              </a:rPr>
              <a:t>For PARTIAL correlation:</a:t>
            </a:r>
            <a:endParaRPr lang="en-US" sz="850" dirty="0"/>
          </a:p>
        </p:txBody>
      </p:sp>
      <p:sp>
        <p:nvSpPr>
          <p:cNvPr id="46" name="Text 44"/>
          <p:cNvSpPr/>
          <p:nvPr/>
        </p:nvSpPr>
        <p:spPr>
          <a:xfrm>
            <a:off x="2834640" y="3401568"/>
            <a:ext cx="1371600" cy="219456"/>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Analyze &gt; Correlate &gt; Partial</a:t>
            </a:r>
            <a:endParaRPr lang="en-US" sz="750" dirty="0"/>
          </a:p>
        </p:txBody>
      </p:sp>
      <p:sp>
        <p:nvSpPr>
          <p:cNvPr id="47" name="Shape 45"/>
          <p:cNvSpPr/>
          <p:nvPr/>
        </p:nvSpPr>
        <p:spPr>
          <a:xfrm>
            <a:off x="347472" y="3657600"/>
            <a:ext cx="3950208" cy="256032"/>
          </a:xfrm>
          <a:prstGeom prst="roundRect">
            <a:avLst>
              <a:gd name="adj" fmla="val 10714"/>
            </a:avLst>
          </a:prstGeom>
          <a:solidFill>
            <a:srgbClr val="FFFBEC"/>
          </a:solidFill>
          <a:ln w="6350">
            <a:solidFill>
              <a:srgbClr val="D4A010"/>
            </a:solidFill>
            <a:prstDash val="solid"/>
          </a:ln>
        </p:spPr>
      </p:sp>
      <p:sp>
        <p:nvSpPr>
          <p:cNvPr id="48" name="Shape 46"/>
          <p:cNvSpPr/>
          <p:nvPr/>
        </p:nvSpPr>
        <p:spPr>
          <a:xfrm>
            <a:off x="347472" y="3657600"/>
            <a:ext cx="219456" cy="256032"/>
          </a:xfrm>
          <a:prstGeom prst="roundRect">
            <a:avLst>
              <a:gd name="adj" fmla="val 12500"/>
            </a:avLst>
          </a:prstGeom>
          <a:solidFill>
            <a:srgbClr val="D4A010"/>
          </a:solidFill>
          <a:ln w="12700">
            <a:solidFill>
              <a:srgbClr val="D4A010"/>
            </a:solidFill>
            <a:prstDash val="solid"/>
          </a:ln>
        </p:spPr>
      </p:sp>
      <p:sp>
        <p:nvSpPr>
          <p:cNvPr id="49" name="Text 47"/>
          <p:cNvSpPr/>
          <p:nvPr/>
        </p:nvSpPr>
        <p:spPr>
          <a:xfrm>
            <a:off x="347472" y="3657600"/>
            <a:ext cx="219456"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P</a:t>
            </a:r>
            <a:endParaRPr lang="en-US" sz="750" dirty="0"/>
          </a:p>
        </p:txBody>
      </p:sp>
      <p:sp>
        <p:nvSpPr>
          <p:cNvPr id="50" name="Text 48"/>
          <p:cNvSpPr/>
          <p:nvPr/>
        </p:nvSpPr>
        <p:spPr>
          <a:xfrm>
            <a:off x="603504" y="3675888"/>
            <a:ext cx="2194560" cy="219456"/>
          </a:xfrm>
          <a:prstGeom prst="rect">
            <a:avLst/>
          </a:prstGeom>
          <a:noFill/>
          <a:ln/>
        </p:spPr>
        <p:txBody>
          <a:bodyPr wrap="square" lIns="0" tIns="0" rIns="0" bIns="0" rtlCol="0" anchor="ctr"/>
          <a:lstStyle/>
          <a:p>
            <a:pPr indent="0" marL="0">
              <a:buNone/>
            </a:pPr>
            <a:r>
              <a:rPr lang="en-US" sz="850" dirty="0">
                <a:solidFill>
                  <a:srgbClr val="0C1428"/>
                </a:solidFill>
                <a:latin typeface="Calibri" pitchFamily="34" charset="0"/>
                <a:ea typeface="Calibri" pitchFamily="34" charset="-122"/>
                <a:cs typeface="Calibri" pitchFamily="34" charset="-120"/>
              </a:rPr>
              <a:t>Variables: the two main vars</a:t>
            </a:r>
            <a:endParaRPr lang="en-US" sz="850" dirty="0"/>
          </a:p>
        </p:txBody>
      </p:sp>
      <p:sp>
        <p:nvSpPr>
          <p:cNvPr id="51" name="Text 49"/>
          <p:cNvSpPr/>
          <p:nvPr/>
        </p:nvSpPr>
        <p:spPr>
          <a:xfrm>
            <a:off x="2834640" y="3675888"/>
            <a:ext cx="1371600" cy="219456"/>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Controlling for: Z variable(s)</a:t>
            </a:r>
            <a:endParaRPr lang="en-US" sz="750" dirty="0"/>
          </a:p>
        </p:txBody>
      </p:sp>
      <p:sp>
        <p:nvSpPr>
          <p:cNvPr id="52" name="Shape 50"/>
          <p:cNvSpPr/>
          <p:nvPr/>
        </p:nvSpPr>
        <p:spPr>
          <a:xfrm>
            <a:off x="347472" y="3931920"/>
            <a:ext cx="3950208" cy="256032"/>
          </a:xfrm>
          <a:prstGeom prst="roundRect">
            <a:avLst>
              <a:gd name="adj" fmla="val 10714"/>
            </a:avLst>
          </a:prstGeom>
          <a:solidFill>
            <a:srgbClr val="FEF0ED"/>
          </a:solidFill>
          <a:ln w="6350">
            <a:solidFill>
              <a:srgbClr val="E03020"/>
            </a:solidFill>
            <a:prstDash val="solid"/>
          </a:ln>
        </p:spPr>
      </p:sp>
      <p:sp>
        <p:nvSpPr>
          <p:cNvPr id="53" name="Shape 51"/>
          <p:cNvSpPr/>
          <p:nvPr/>
        </p:nvSpPr>
        <p:spPr>
          <a:xfrm>
            <a:off x="347472" y="3931920"/>
            <a:ext cx="219456" cy="256032"/>
          </a:xfrm>
          <a:prstGeom prst="roundRect">
            <a:avLst>
              <a:gd name="adj" fmla="val 12500"/>
            </a:avLst>
          </a:prstGeom>
          <a:solidFill>
            <a:srgbClr val="E03020"/>
          </a:solidFill>
          <a:ln w="12700">
            <a:solidFill>
              <a:srgbClr val="E03020"/>
            </a:solidFill>
            <a:prstDash val="solid"/>
          </a:ln>
        </p:spPr>
      </p:sp>
      <p:sp>
        <p:nvSpPr>
          <p:cNvPr id="54" name="Text 52"/>
          <p:cNvSpPr/>
          <p:nvPr/>
        </p:nvSpPr>
        <p:spPr>
          <a:xfrm>
            <a:off x="347472" y="3931920"/>
            <a:ext cx="219456"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55" name="Text 53"/>
          <p:cNvSpPr/>
          <p:nvPr/>
        </p:nvSpPr>
        <p:spPr>
          <a:xfrm>
            <a:off x="603504" y="3950208"/>
            <a:ext cx="2194560" cy="219456"/>
          </a:xfrm>
          <a:prstGeom prst="rect">
            <a:avLst/>
          </a:prstGeom>
          <a:noFill/>
          <a:ln/>
        </p:spPr>
        <p:txBody>
          <a:bodyPr wrap="square" lIns="0" tIns="0" rIns="0" bIns="0" rtlCol="0" anchor="ctr"/>
          <a:lstStyle/>
          <a:p>
            <a:pPr indent="0" marL="0">
              <a:buNone/>
            </a:pPr>
            <a:r>
              <a:rPr lang="en-US" sz="850" dirty="0">
                <a:solidFill>
                  <a:srgbClr val="0C1428"/>
                </a:solidFill>
                <a:latin typeface="Calibri" pitchFamily="34" charset="0"/>
                <a:ea typeface="Calibri" pitchFamily="34" charset="-122"/>
                <a:cs typeface="Calibri" pitchFamily="34" charset="-120"/>
              </a:rPr>
              <a:t>Before running - check assumptions:</a:t>
            </a:r>
            <a:endParaRPr lang="en-US" sz="850" dirty="0"/>
          </a:p>
        </p:txBody>
      </p:sp>
      <p:sp>
        <p:nvSpPr>
          <p:cNvPr id="56" name="Text 54"/>
          <p:cNvSpPr/>
          <p:nvPr/>
        </p:nvSpPr>
        <p:spPr>
          <a:xfrm>
            <a:off x="2834640" y="3950208"/>
            <a:ext cx="1371600" cy="219456"/>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Graph scatter, run Explore on each variable for normality</a:t>
            </a:r>
            <a:endParaRPr lang="en-US" sz="750" dirty="0"/>
          </a:p>
        </p:txBody>
      </p:sp>
      <p:sp>
        <p:nvSpPr>
          <p:cNvPr id="57" name="Shape 55"/>
          <p:cNvSpPr/>
          <p:nvPr/>
        </p:nvSpPr>
        <p:spPr>
          <a:xfrm>
            <a:off x="4681728" y="1024128"/>
            <a:ext cx="4160520" cy="4041648"/>
          </a:xfrm>
          <a:prstGeom prst="roundRect">
            <a:avLst>
              <a:gd name="adj" fmla="val 2036"/>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58" name="Shape 56"/>
          <p:cNvSpPr/>
          <p:nvPr/>
        </p:nvSpPr>
        <p:spPr>
          <a:xfrm>
            <a:off x="4754880" y="1097280"/>
            <a:ext cx="4005072" cy="310896"/>
          </a:xfrm>
          <a:prstGeom prst="roundRect">
            <a:avLst>
              <a:gd name="adj" fmla="val 17647"/>
            </a:avLst>
          </a:prstGeom>
          <a:solidFill>
            <a:srgbClr val="E07010"/>
          </a:solidFill>
          <a:ln w="12700">
            <a:solidFill>
              <a:srgbClr val="E07010"/>
            </a:solidFill>
            <a:prstDash val="solid"/>
          </a:ln>
        </p:spPr>
      </p:sp>
      <p:sp>
        <p:nvSpPr>
          <p:cNvPr id="59" name="Text 57"/>
          <p:cNvSpPr/>
          <p:nvPr/>
        </p:nvSpPr>
        <p:spPr>
          <a:xfrm>
            <a:off x="4754880" y="1097280"/>
            <a:ext cx="400507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Reading the SPSS Output Tables</a:t>
            </a:r>
            <a:endParaRPr lang="en-US" sz="1100" dirty="0"/>
          </a:p>
        </p:txBody>
      </p:sp>
      <p:sp>
        <p:nvSpPr>
          <p:cNvPr id="60" name="Shape 58"/>
          <p:cNvSpPr/>
          <p:nvPr/>
        </p:nvSpPr>
        <p:spPr>
          <a:xfrm>
            <a:off x="4773168" y="1463040"/>
            <a:ext cx="3950208" cy="256032"/>
          </a:xfrm>
          <a:prstGeom prst="roundRect">
            <a:avLst>
              <a:gd name="adj" fmla="val 7143"/>
            </a:avLst>
          </a:prstGeom>
          <a:solidFill>
            <a:srgbClr val="EAF6FA"/>
          </a:solidFill>
          <a:ln w="6350">
            <a:solidFill>
              <a:srgbClr val="A0C8D8"/>
            </a:solidFill>
            <a:prstDash val="solid"/>
          </a:ln>
        </p:spPr>
      </p:sp>
      <p:sp>
        <p:nvSpPr>
          <p:cNvPr id="61" name="Text 59"/>
          <p:cNvSpPr/>
          <p:nvPr/>
        </p:nvSpPr>
        <p:spPr>
          <a:xfrm>
            <a:off x="4846320" y="1481328"/>
            <a:ext cx="1627632" cy="201168"/>
          </a:xfrm>
          <a:prstGeom prst="rect">
            <a:avLst/>
          </a:prstGeom>
          <a:noFill/>
          <a:ln/>
        </p:spPr>
        <p:txBody>
          <a:bodyPr wrap="square" lIns="0" tIns="0" rIns="0" bIns="0" rtlCol="0" anchor="ctr"/>
          <a:lstStyle/>
          <a:p>
            <a:pPr indent="0" marL="0">
              <a:buNone/>
            </a:pPr>
            <a:r>
              <a:rPr lang="en-US" sz="800" b="1" dirty="0">
                <a:solidFill>
                  <a:srgbClr val="E07010"/>
                </a:solidFill>
                <a:latin typeface="Calibri" pitchFamily="34" charset="0"/>
                <a:ea typeface="Calibri" pitchFamily="34" charset="-122"/>
                <a:cs typeface="Calibri" pitchFamily="34" charset="-120"/>
              </a:rPr>
              <a:t>Descriptive Statistics: </a:t>
            </a:r>
            <a:endParaRPr lang="en-US" sz="800" dirty="0"/>
          </a:p>
        </p:txBody>
      </p:sp>
      <p:sp>
        <p:nvSpPr>
          <p:cNvPr id="62" name="Text 60"/>
          <p:cNvSpPr/>
          <p:nvPr/>
        </p:nvSpPr>
        <p:spPr>
          <a:xfrm>
            <a:off x="6492240" y="1481328"/>
            <a:ext cx="2157984" cy="201168"/>
          </a:xfrm>
          <a:prstGeom prst="rect">
            <a:avLst/>
          </a:prstGeom>
          <a:noFill/>
          <a:ln/>
        </p:spPr>
        <p:txBody>
          <a:bodyPr wrap="square" lIns="0" tIns="0" rIns="0" bIns="0" rtlCol="0" anchor="ctr"/>
          <a:lstStyle/>
          <a:p>
            <a:pPr indent="0" marL="0">
              <a:buNone/>
            </a:pPr>
            <a:r>
              <a:rPr lang="en-US" sz="800" dirty="0">
                <a:solidFill>
                  <a:srgbClr val="0C1428"/>
                </a:solidFill>
                <a:latin typeface="Calibri" pitchFamily="34" charset="0"/>
                <a:ea typeface="Calibri" pitchFamily="34" charset="-122"/>
                <a:cs typeface="Calibri" pitchFamily="34" charset="-120"/>
              </a:rPr>
              <a:t>Mean, SD, N for each variable. Sanity-check before interpreting r.</a:t>
            </a:r>
            <a:endParaRPr lang="en-US" sz="800" dirty="0"/>
          </a:p>
        </p:txBody>
      </p:sp>
      <p:sp>
        <p:nvSpPr>
          <p:cNvPr id="63" name="Shape 61"/>
          <p:cNvSpPr/>
          <p:nvPr/>
        </p:nvSpPr>
        <p:spPr>
          <a:xfrm>
            <a:off x="4773168" y="1737360"/>
            <a:ext cx="3950208" cy="256032"/>
          </a:xfrm>
          <a:prstGeom prst="roundRect">
            <a:avLst>
              <a:gd name="adj" fmla="val 7143"/>
            </a:avLst>
          </a:prstGeom>
          <a:solidFill>
            <a:srgbClr val="FFFFFF"/>
          </a:solidFill>
          <a:ln w="6350">
            <a:solidFill>
              <a:srgbClr val="A0C8D8"/>
            </a:solidFill>
            <a:prstDash val="solid"/>
          </a:ln>
        </p:spPr>
      </p:sp>
      <p:sp>
        <p:nvSpPr>
          <p:cNvPr id="64" name="Text 62"/>
          <p:cNvSpPr/>
          <p:nvPr/>
        </p:nvSpPr>
        <p:spPr>
          <a:xfrm>
            <a:off x="4846320" y="1755648"/>
            <a:ext cx="1627632" cy="201168"/>
          </a:xfrm>
          <a:prstGeom prst="rect">
            <a:avLst/>
          </a:prstGeom>
          <a:noFill/>
          <a:ln/>
        </p:spPr>
        <p:txBody>
          <a:bodyPr wrap="square" lIns="0" tIns="0" rIns="0" bIns="0" rtlCol="0" anchor="ctr"/>
          <a:lstStyle/>
          <a:p>
            <a:pPr indent="0" marL="0">
              <a:buNone/>
            </a:pPr>
            <a:r>
              <a:rPr lang="en-US" sz="800" b="1" dirty="0">
                <a:solidFill>
                  <a:srgbClr val="E07010"/>
                </a:solidFill>
                <a:latin typeface="Calibri" pitchFamily="34" charset="0"/>
                <a:ea typeface="Calibri" pitchFamily="34" charset="-122"/>
                <a:cs typeface="Calibri" pitchFamily="34" charset="-120"/>
              </a:rPr>
              <a:t>Correlations Matrix (main): </a:t>
            </a:r>
            <a:endParaRPr lang="en-US" sz="800" dirty="0"/>
          </a:p>
        </p:txBody>
      </p:sp>
      <p:sp>
        <p:nvSpPr>
          <p:cNvPr id="65" name="Text 63"/>
          <p:cNvSpPr/>
          <p:nvPr/>
        </p:nvSpPr>
        <p:spPr>
          <a:xfrm>
            <a:off x="6492240" y="1755648"/>
            <a:ext cx="2157984" cy="201168"/>
          </a:xfrm>
          <a:prstGeom prst="rect">
            <a:avLst/>
          </a:prstGeom>
          <a:noFill/>
          <a:ln/>
        </p:spPr>
        <p:txBody>
          <a:bodyPr wrap="square" lIns="0" tIns="0" rIns="0" bIns="0" rtlCol="0" anchor="ctr"/>
          <a:lstStyle/>
          <a:p>
            <a:pPr indent="0" marL="0">
              <a:buNone/>
            </a:pPr>
            <a:r>
              <a:rPr lang="en-US" sz="800" dirty="0">
                <a:solidFill>
                  <a:srgbClr val="0C1428"/>
                </a:solidFill>
                <a:latin typeface="Calibri" pitchFamily="34" charset="0"/>
                <a:ea typeface="Calibri" pitchFamily="34" charset="-122"/>
                <a:cs typeface="Calibri" pitchFamily="34" charset="-120"/>
              </a:rPr>
              <a:t>Each cell: (1) Pearson r value, (2) Sig. (2-tailed) p-value, (3) N. Diagonal = 1.000 always.</a:t>
            </a:r>
            <a:endParaRPr lang="en-US" sz="800" dirty="0"/>
          </a:p>
        </p:txBody>
      </p:sp>
      <p:sp>
        <p:nvSpPr>
          <p:cNvPr id="66" name="Shape 64"/>
          <p:cNvSpPr/>
          <p:nvPr/>
        </p:nvSpPr>
        <p:spPr>
          <a:xfrm>
            <a:off x="4773168" y="2011680"/>
            <a:ext cx="3950208" cy="256032"/>
          </a:xfrm>
          <a:prstGeom prst="roundRect">
            <a:avLst>
              <a:gd name="adj" fmla="val 7143"/>
            </a:avLst>
          </a:prstGeom>
          <a:solidFill>
            <a:srgbClr val="EAF6FA"/>
          </a:solidFill>
          <a:ln w="6350">
            <a:solidFill>
              <a:srgbClr val="A0C8D8"/>
            </a:solidFill>
            <a:prstDash val="solid"/>
          </a:ln>
        </p:spPr>
      </p:sp>
      <p:sp>
        <p:nvSpPr>
          <p:cNvPr id="67" name="Text 65"/>
          <p:cNvSpPr/>
          <p:nvPr/>
        </p:nvSpPr>
        <p:spPr>
          <a:xfrm>
            <a:off x="4846320" y="2029968"/>
            <a:ext cx="1627632" cy="201168"/>
          </a:xfrm>
          <a:prstGeom prst="rect">
            <a:avLst/>
          </a:prstGeom>
          <a:noFill/>
          <a:ln/>
        </p:spPr>
        <p:txBody>
          <a:bodyPr wrap="square" lIns="0" tIns="0" rIns="0" bIns="0" rtlCol="0" anchor="ctr"/>
          <a:lstStyle/>
          <a:p>
            <a:pPr indent="0" marL="0">
              <a:buNone/>
            </a:pPr>
            <a:r>
              <a:rPr lang="en-US" sz="800" b="1" dirty="0">
                <a:solidFill>
                  <a:srgbClr val="E07010"/>
                </a:solidFill>
                <a:latin typeface="Calibri" pitchFamily="34" charset="0"/>
                <a:ea typeface="Calibri" pitchFamily="34" charset="-122"/>
                <a:cs typeface="Calibri" pitchFamily="34" charset="-120"/>
              </a:rPr>
              <a:t>Asterisks * and **: </a:t>
            </a:r>
            <a:endParaRPr lang="en-US" sz="800" dirty="0"/>
          </a:p>
        </p:txBody>
      </p:sp>
      <p:sp>
        <p:nvSpPr>
          <p:cNvPr id="68" name="Text 66"/>
          <p:cNvSpPr/>
          <p:nvPr/>
        </p:nvSpPr>
        <p:spPr>
          <a:xfrm>
            <a:off x="6492240" y="2029968"/>
            <a:ext cx="2157984" cy="201168"/>
          </a:xfrm>
          <a:prstGeom prst="rect">
            <a:avLst/>
          </a:prstGeom>
          <a:noFill/>
          <a:ln/>
        </p:spPr>
        <p:txBody>
          <a:bodyPr wrap="square" lIns="0" tIns="0" rIns="0" bIns="0" rtlCol="0" anchor="ctr"/>
          <a:lstStyle/>
          <a:p>
            <a:pPr indent="0" marL="0">
              <a:buNone/>
            </a:pPr>
            <a:r>
              <a:rPr lang="en-US" sz="800" dirty="0">
                <a:solidFill>
                  <a:srgbClr val="0C1428"/>
                </a:solidFill>
                <a:latin typeface="Calibri" pitchFamily="34" charset="0"/>
                <a:ea typeface="Calibri" pitchFamily="34" charset="-122"/>
                <a:cs typeface="Calibri" pitchFamily="34" charset="-120"/>
              </a:rPr>
              <a:t>* = p&lt;.05 (significant). ** = p&lt;.01 (highly significant). No asterisk = p&gt;.05 (not significant).</a:t>
            </a:r>
            <a:endParaRPr lang="en-US" sz="800" dirty="0"/>
          </a:p>
        </p:txBody>
      </p:sp>
      <p:sp>
        <p:nvSpPr>
          <p:cNvPr id="69" name="Shape 67"/>
          <p:cNvSpPr/>
          <p:nvPr/>
        </p:nvSpPr>
        <p:spPr>
          <a:xfrm>
            <a:off x="4773168" y="2286000"/>
            <a:ext cx="3950208" cy="256032"/>
          </a:xfrm>
          <a:prstGeom prst="roundRect">
            <a:avLst>
              <a:gd name="adj" fmla="val 7143"/>
            </a:avLst>
          </a:prstGeom>
          <a:solidFill>
            <a:srgbClr val="FFFFFF"/>
          </a:solidFill>
          <a:ln w="6350">
            <a:solidFill>
              <a:srgbClr val="A0C8D8"/>
            </a:solidFill>
            <a:prstDash val="solid"/>
          </a:ln>
        </p:spPr>
      </p:sp>
      <p:sp>
        <p:nvSpPr>
          <p:cNvPr id="70" name="Text 68"/>
          <p:cNvSpPr/>
          <p:nvPr/>
        </p:nvSpPr>
        <p:spPr>
          <a:xfrm>
            <a:off x="4846320" y="2304288"/>
            <a:ext cx="1627632" cy="201168"/>
          </a:xfrm>
          <a:prstGeom prst="rect">
            <a:avLst/>
          </a:prstGeom>
          <a:noFill/>
          <a:ln/>
        </p:spPr>
        <p:txBody>
          <a:bodyPr wrap="square" lIns="0" tIns="0" rIns="0" bIns="0" rtlCol="0" anchor="ctr"/>
          <a:lstStyle/>
          <a:p>
            <a:pPr indent="0" marL="0">
              <a:buNone/>
            </a:pPr>
            <a:r>
              <a:rPr lang="en-US" sz="800" b="1" dirty="0">
                <a:solidFill>
                  <a:srgbClr val="E07010"/>
                </a:solidFill>
                <a:latin typeface="Calibri" pitchFamily="34" charset="0"/>
                <a:ea typeface="Calibri" pitchFamily="34" charset="-122"/>
                <a:cs typeface="Calibri" pitchFamily="34" charset="-120"/>
              </a:rPr>
              <a:t>Sig. (2-tailed) column: </a:t>
            </a:r>
            <a:endParaRPr lang="en-US" sz="800" dirty="0"/>
          </a:p>
        </p:txBody>
      </p:sp>
      <p:sp>
        <p:nvSpPr>
          <p:cNvPr id="71" name="Text 69"/>
          <p:cNvSpPr/>
          <p:nvPr/>
        </p:nvSpPr>
        <p:spPr>
          <a:xfrm>
            <a:off x="6492240" y="2304288"/>
            <a:ext cx="2157984" cy="201168"/>
          </a:xfrm>
          <a:prstGeom prst="rect">
            <a:avLst/>
          </a:prstGeom>
          <a:noFill/>
          <a:ln/>
        </p:spPr>
        <p:txBody>
          <a:bodyPr wrap="square" lIns="0" tIns="0" rIns="0" bIns="0" rtlCol="0" anchor="ctr"/>
          <a:lstStyle/>
          <a:p>
            <a:pPr indent="0" marL="0">
              <a:buNone/>
            </a:pPr>
            <a:r>
              <a:rPr lang="en-US" sz="800" dirty="0">
                <a:solidFill>
                  <a:srgbClr val="0C1428"/>
                </a:solidFill>
                <a:latin typeface="Calibri" pitchFamily="34" charset="0"/>
                <a:ea typeface="Calibri" pitchFamily="34" charset="-122"/>
                <a:cs typeface="Calibri" pitchFamily="34" charset="-120"/>
              </a:rPr>
              <a:t>The p-value for H0: rho=0. If p&lt;.05, reject H0. The correlation is statistically significant.</a:t>
            </a:r>
            <a:endParaRPr lang="en-US" sz="800" dirty="0"/>
          </a:p>
        </p:txBody>
      </p:sp>
      <p:sp>
        <p:nvSpPr>
          <p:cNvPr id="72" name="Shape 70"/>
          <p:cNvSpPr/>
          <p:nvPr/>
        </p:nvSpPr>
        <p:spPr>
          <a:xfrm>
            <a:off x="4773168" y="2560320"/>
            <a:ext cx="3950208" cy="256032"/>
          </a:xfrm>
          <a:prstGeom prst="roundRect">
            <a:avLst>
              <a:gd name="adj" fmla="val 7143"/>
            </a:avLst>
          </a:prstGeom>
          <a:solidFill>
            <a:srgbClr val="EAF6FA"/>
          </a:solidFill>
          <a:ln w="6350">
            <a:solidFill>
              <a:srgbClr val="A0C8D8"/>
            </a:solidFill>
            <a:prstDash val="solid"/>
          </a:ln>
        </p:spPr>
      </p:sp>
      <p:sp>
        <p:nvSpPr>
          <p:cNvPr id="73" name="Text 71"/>
          <p:cNvSpPr/>
          <p:nvPr/>
        </p:nvSpPr>
        <p:spPr>
          <a:xfrm>
            <a:off x="4846320" y="2578608"/>
            <a:ext cx="1627632" cy="201168"/>
          </a:xfrm>
          <a:prstGeom prst="rect">
            <a:avLst/>
          </a:prstGeom>
          <a:noFill/>
          <a:ln/>
        </p:spPr>
        <p:txBody>
          <a:bodyPr wrap="square" lIns="0" tIns="0" rIns="0" bIns="0" rtlCol="0" anchor="ctr"/>
          <a:lstStyle/>
          <a:p>
            <a:pPr indent="0" marL="0">
              <a:buNone/>
            </a:pPr>
            <a:r>
              <a:rPr lang="en-US" sz="800" b="1" dirty="0">
                <a:solidFill>
                  <a:srgbClr val="E07010"/>
                </a:solidFill>
                <a:latin typeface="Calibri" pitchFamily="34" charset="0"/>
                <a:ea typeface="Calibri" pitchFamily="34" charset="-122"/>
                <a:cs typeface="Calibri" pitchFamily="34" charset="-120"/>
              </a:rPr>
              <a:t>N in each cell: </a:t>
            </a:r>
            <a:endParaRPr lang="en-US" sz="800" dirty="0"/>
          </a:p>
        </p:txBody>
      </p:sp>
      <p:sp>
        <p:nvSpPr>
          <p:cNvPr id="74" name="Text 72"/>
          <p:cNvSpPr/>
          <p:nvPr/>
        </p:nvSpPr>
        <p:spPr>
          <a:xfrm>
            <a:off x="6492240" y="2578608"/>
            <a:ext cx="2157984" cy="201168"/>
          </a:xfrm>
          <a:prstGeom prst="rect">
            <a:avLst/>
          </a:prstGeom>
          <a:noFill/>
          <a:ln/>
        </p:spPr>
        <p:txBody>
          <a:bodyPr wrap="square" lIns="0" tIns="0" rIns="0" bIns="0" rtlCol="0" anchor="ctr"/>
          <a:lstStyle/>
          <a:p>
            <a:pPr indent="0" marL="0">
              <a:buNone/>
            </a:pPr>
            <a:r>
              <a:rPr lang="en-US" sz="800" dirty="0">
                <a:solidFill>
                  <a:srgbClr val="0C1428"/>
                </a:solidFill>
                <a:latin typeface="Calibri" pitchFamily="34" charset="0"/>
                <a:ea typeface="Calibri" pitchFamily="34" charset="-122"/>
                <a:cs typeface="Calibri" pitchFamily="34" charset="-120"/>
              </a:rPr>
              <a:t>Pairwise N may differ if there is missing data (SPSS uses pairwise deletion by default).</a:t>
            </a:r>
            <a:endParaRPr lang="en-US" sz="800" dirty="0"/>
          </a:p>
        </p:txBody>
      </p:sp>
      <p:sp>
        <p:nvSpPr>
          <p:cNvPr id="75" name="Shape 73"/>
          <p:cNvSpPr/>
          <p:nvPr/>
        </p:nvSpPr>
        <p:spPr>
          <a:xfrm>
            <a:off x="4773168" y="2834640"/>
            <a:ext cx="3950208" cy="256032"/>
          </a:xfrm>
          <a:prstGeom prst="roundRect">
            <a:avLst>
              <a:gd name="adj" fmla="val 7143"/>
            </a:avLst>
          </a:prstGeom>
          <a:solidFill>
            <a:srgbClr val="FFFFFF"/>
          </a:solidFill>
          <a:ln w="6350">
            <a:solidFill>
              <a:srgbClr val="A0C8D8"/>
            </a:solidFill>
            <a:prstDash val="solid"/>
          </a:ln>
        </p:spPr>
      </p:sp>
      <p:sp>
        <p:nvSpPr>
          <p:cNvPr id="76" name="Text 74"/>
          <p:cNvSpPr/>
          <p:nvPr/>
        </p:nvSpPr>
        <p:spPr>
          <a:xfrm>
            <a:off x="4846320" y="2852928"/>
            <a:ext cx="1627632" cy="201168"/>
          </a:xfrm>
          <a:prstGeom prst="rect">
            <a:avLst/>
          </a:prstGeom>
          <a:noFill/>
          <a:ln/>
        </p:spPr>
        <p:txBody>
          <a:bodyPr wrap="square" lIns="0" tIns="0" rIns="0" bIns="0" rtlCol="0" anchor="ctr"/>
          <a:lstStyle/>
          <a:p>
            <a:pPr indent="0" marL="0">
              <a:buNone/>
            </a:pPr>
            <a:r>
              <a:rPr lang="en-US" sz="800" b="1" dirty="0">
                <a:solidFill>
                  <a:srgbClr val="E07010"/>
                </a:solidFill>
                <a:latin typeface="Calibri" pitchFamily="34" charset="0"/>
                <a:ea typeface="Calibri" pitchFamily="34" charset="-122"/>
                <a:cs typeface="Calibri" pitchFamily="34" charset="-120"/>
              </a:rPr>
              <a:t>How to read a pair: </a:t>
            </a:r>
            <a:endParaRPr lang="en-US" sz="800" dirty="0"/>
          </a:p>
        </p:txBody>
      </p:sp>
      <p:sp>
        <p:nvSpPr>
          <p:cNvPr id="77" name="Text 75"/>
          <p:cNvSpPr/>
          <p:nvPr/>
        </p:nvSpPr>
        <p:spPr>
          <a:xfrm>
            <a:off x="6492240" y="2852928"/>
            <a:ext cx="2157984" cy="201168"/>
          </a:xfrm>
          <a:prstGeom prst="rect">
            <a:avLst/>
          </a:prstGeom>
          <a:noFill/>
          <a:ln/>
        </p:spPr>
        <p:txBody>
          <a:bodyPr wrap="square" lIns="0" tIns="0" rIns="0" bIns="0" rtlCol="0" anchor="ctr"/>
          <a:lstStyle/>
          <a:p>
            <a:pPr indent="0" marL="0">
              <a:buNone/>
            </a:pPr>
            <a:r>
              <a:rPr lang="en-US" sz="800" dirty="0">
                <a:solidFill>
                  <a:srgbClr val="0C1428"/>
                </a:solidFill>
                <a:latin typeface="Calibri" pitchFamily="34" charset="0"/>
                <a:ea typeface="Calibri" pitchFamily="34" charset="-122"/>
                <a:cs typeface="Calibri" pitchFamily="34" charset="-120"/>
              </a:rPr>
              <a:t>Find row = Variable 1, column = Variable 2. Read the r, p, and N. Repeat for every pair of interest.</a:t>
            </a:r>
            <a:endParaRPr lang="en-US" sz="800" dirty="0"/>
          </a:p>
        </p:txBody>
      </p:sp>
      <p:sp>
        <p:nvSpPr>
          <p:cNvPr id="78" name="Shape 76"/>
          <p:cNvSpPr/>
          <p:nvPr/>
        </p:nvSpPr>
        <p:spPr>
          <a:xfrm>
            <a:off x="4773168" y="3108960"/>
            <a:ext cx="3950208" cy="256032"/>
          </a:xfrm>
          <a:prstGeom prst="roundRect">
            <a:avLst>
              <a:gd name="adj" fmla="val 7143"/>
            </a:avLst>
          </a:prstGeom>
          <a:solidFill>
            <a:srgbClr val="EAF6FA"/>
          </a:solidFill>
          <a:ln w="6350">
            <a:solidFill>
              <a:srgbClr val="A0C8D8"/>
            </a:solidFill>
            <a:prstDash val="solid"/>
          </a:ln>
        </p:spPr>
      </p:sp>
      <p:sp>
        <p:nvSpPr>
          <p:cNvPr id="79" name="Text 77"/>
          <p:cNvSpPr/>
          <p:nvPr/>
        </p:nvSpPr>
        <p:spPr>
          <a:xfrm>
            <a:off x="4846320" y="3127248"/>
            <a:ext cx="1627632" cy="201168"/>
          </a:xfrm>
          <a:prstGeom prst="rect">
            <a:avLst/>
          </a:prstGeom>
          <a:noFill/>
          <a:ln/>
        </p:spPr>
        <p:txBody>
          <a:bodyPr wrap="square" lIns="0" tIns="0" rIns="0" bIns="0" rtlCol="0" anchor="ctr"/>
          <a:lstStyle/>
          <a:p>
            <a:pPr indent="0" marL="0">
              <a:buNone/>
            </a:pPr>
            <a:r>
              <a:rPr lang="en-US" sz="800" b="1" dirty="0">
                <a:solidFill>
                  <a:srgbClr val="E07010"/>
                </a:solidFill>
                <a:latin typeface="Calibri" pitchFamily="34" charset="0"/>
                <a:ea typeface="Calibri" pitchFamily="34" charset="-122"/>
                <a:cs typeface="Calibri" pitchFamily="34" charset="-120"/>
              </a:rPr>
              <a:t>Partial correlation output: </a:t>
            </a:r>
            <a:endParaRPr lang="en-US" sz="800" dirty="0"/>
          </a:p>
        </p:txBody>
      </p:sp>
      <p:sp>
        <p:nvSpPr>
          <p:cNvPr id="80" name="Text 78"/>
          <p:cNvSpPr/>
          <p:nvPr/>
        </p:nvSpPr>
        <p:spPr>
          <a:xfrm>
            <a:off x="6492240" y="3127248"/>
            <a:ext cx="2157984" cy="201168"/>
          </a:xfrm>
          <a:prstGeom prst="rect">
            <a:avLst/>
          </a:prstGeom>
          <a:noFill/>
          <a:ln/>
        </p:spPr>
        <p:txBody>
          <a:bodyPr wrap="square" lIns="0" tIns="0" rIns="0" bIns="0" rtlCol="0" anchor="ctr"/>
          <a:lstStyle/>
          <a:p>
            <a:pPr indent="0" marL="0">
              <a:buNone/>
            </a:pPr>
            <a:r>
              <a:rPr lang="en-US" sz="800" dirty="0">
                <a:solidFill>
                  <a:srgbClr val="0C1428"/>
                </a:solidFill>
                <a:latin typeface="Calibri" pitchFamily="34" charset="0"/>
                <a:ea typeface="Calibri" pitchFamily="34" charset="-122"/>
                <a:cs typeface="Calibri" pitchFamily="34" charset="-120"/>
              </a:rPr>
              <a:t>Shows: zero-order r (original), partial r (controlled), and df = n-2-k (k = number of control vars).</a:t>
            </a:r>
            <a:endParaRPr lang="en-US" sz="800" dirty="0"/>
          </a:p>
        </p:txBody>
      </p:sp>
      <p:sp>
        <p:nvSpPr>
          <p:cNvPr id="81" name="Shape 79"/>
          <p:cNvSpPr/>
          <p:nvPr/>
        </p:nvSpPr>
        <p:spPr>
          <a:xfrm>
            <a:off x="4773168" y="3383280"/>
            <a:ext cx="3950208" cy="256032"/>
          </a:xfrm>
          <a:prstGeom prst="roundRect">
            <a:avLst>
              <a:gd name="adj" fmla="val 7143"/>
            </a:avLst>
          </a:prstGeom>
          <a:solidFill>
            <a:srgbClr val="FFFFFF"/>
          </a:solidFill>
          <a:ln w="6350">
            <a:solidFill>
              <a:srgbClr val="A0C8D8"/>
            </a:solidFill>
            <a:prstDash val="solid"/>
          </a:ln>
        </p:spPr>
      </p:sp>
      <p:sp>
        <p:nvSpPr>
          <p:cNvPr id="82" name="Text 80"/>
          <p:cNvSpPr/>
          <p:nvPr/>
        </p:nvSpPr>
        <p:spPr>
          <a:xfrm>
            <a:off x="4846320" y="3401568"/>
            <a:ext cx="1627632" cy="201168"/>
          </a:xfrm>
          <a:prstGeom prst="rect">
            <a:avLst/>
          </a:prstGeom>
          <a:noFill/>
          <a:ln/>
        </p:spPr>
        <p:txBody>
          <a:bodyPr wrap="square" lIns="0" tIns="0" rIns="0" bIns="0" rtlCol="0" anchor="ctr"/>
          <a:lstStyle/>
          <a:p>
            <a:pPr indent="0" marL="0">
              <a:buNone/>
            </a:pPr>
            <a:r>
              <a:rPr lang="en-US" sz="800" b="1" dirty="0">
                <a:solidFill>
                  <a:srgbClr val="E07010"/>
                </a:solidFill>
                <a:latin typeface="Calibri" pitchFamily="34" charset="0"/>
                <a:ea typeface="Calibri" pitchFamily="34" charset="-122"/>
                <a:cs typeface="Calibri" pitchFamily="34" charset="-120"/>
              </a:rPr>
              <a:t>What to report: </a:t>
            </a:r>
            <a:endParaRPr lang="en-US" sz="800" dirty="0"/>
          </a:p>
        </p:txBody>
      </p:sp>
      <p:sp>
        <p:nvSpPr>
          <p:cNvPr id="83" name="Text 81"/>
          <p:cNvSpPr/>
          <p:nvPr/>
        </p:nvSpPr>
        <p:spPr>
          <a:xfrm>
            <a:off x="6492240" y="3401568"/>
            <a:ext cx="2157984" cy="201168"/>
          </a:xfrm>
          <a:prstGeom prst="rect">
            <a:avLst/>
          </a:prstGeom>
          <a:noFill/>
          <a:ln/>
        </p:spPr>
        <p:txBody>
          <a:bodyPr wrap="square" lIns="0" tIns="0" rIns="0" bIns="0" rtlCol="0" anchor="ctr"/>
          <a:lstStyle/>
          <a:p>
            <a:pPr indent="0" marL="0">
              <a:buNone/>
            </a:pPr>
            <a:r>
              <a:rPr lang="en-US" sz="800" dirty="0">
                <a:solidFill>
                  <a:srgbClr val="0C1428"/>
                </a:solidFill>
                <a:latin typeface="Calibri" pitchFamily="34" charset="0"/>
                <a:ea typeface="Calibri" pitchFamily="34" charset="-122"/>
                <a:cs typeface="Calibri" pitchFamily="34" charset="-120"/>
              </a:rPr>
              <a:t>r (to 2 or 3 dp), df, p-value, 95% CI (compute separately), r². Describe direction and magnitude.</a:t>
            </a:r>
            <a:endParaRPr lang="en-US" sz="800" dirty="0"/>
          </a:p>
        </p:txBody>
      </p:sp>
      <p:sp>
        <p:nvSpPr>
          <p:cNvPr id="84" name="Shape 82"/>
          <p:cNvSpPr/>
          <p:nvPr/>
        </p:nvSpPr>
        <p:spPr>
          <a:xfrm>
            <a:off x="256032" y="5120640"/>
            <a:ext cx="8631936" cy="365760"/>
          </a:xfrm>
          <a:prstGeom prst="roundRect">
            <a:avLst>
              <a:gd name="adj" fmla="val 15000"/>
            </a:avLst>
          </a:prstGeom>
          <a:solidFill>
            <a:srgbClr val="FFFBEC"/>
          </a:solidFill>
          <a:ln w="19050">
            <a:solidFill>
              <a:srgbClr val="D4A010"/>
            </a:solidFill>
            <a:prstDash val="solid"/>
          </a:ln>
        </p:spPr>
      </p:sp>
      <p:sp>
        <p:nvSpPr>
          <p:cNvPr id="85" name="Text 83"/>
          <p:cNvSpPr/>
          <p:nvPr/>
        </p:nvSpPr>
        <p:spPr>
          <a:xfrm>
            <a:off x="365760" y="5120640"/>
            <a:ext cx="8449056" cy="365760"/>
          </a:xfrm>
          <a:prstGeom prst="rect">
            <a:avLst/>
          </a:prstGeom>
          <a:noFill/>
          <a:ln/>
        </p:spPr>
        <p:txBody>
          <a:bodyPr wrap="square" lIns="0" tIns="0" rIns="0" bIns="0" rtlCol="0" anchor="ctr"/>
          <a:lstStyle/>
          <a:p>
            <a:pPr indent="0" marL="0">
              <a:buNone/>
            </a:pPr>
            <a:r>
              <a:rPr lang="en-US" sz="950" dirty="0">
                <a:solidFill>
                  <a:srgbClr val="6B4800"/>
                </a:solidFill>
                <a:latin typeface="Calibri" pitchFamily="34" charset="0"/>
                <a:ea typeface="Calibri" pitchFamily="34" charset="-122"/>
                <a:cs typeface="Calibri" pitchFamily="34" charset="-120"/>
              </a:rPr>
              <a:t>CHECK BEFORE INTERPRETING: (1) Does the scatter plot show a linear relationship? (2) Are there outliers? (3) Is N large enough for the detected r size? Small r with large N can be significant but trivial. Large r with small N may not be significant.</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5943600" y="-1371600"/>
            <a:ext cx="5029200" cy="5029200"/>
          </a:xfrm>
          <a:prstGeom prst="ellipse">
            <a:avLst/>
          </a:prstGeom>
          <a:solidFill>
            <a:srgbClr val="0A7E8C">
              <a:alpha val="20000"/>
            </a:srgbClr>
          </a:solidFill>
          <a:ln w="12700">
            <a:solidFill>
              <a:srgbClr val="0A7E8C"/>
            </a:solidFill>
            <a:prstDash val="solid"/>
          </a:ln>
        </p:spPr>
      </p:sp>
      <p:sp>
        <p:nvSpPr>
          <p:cNvPr id="3" name="Shape 1"/>
          <p:cNvSpPr/>
          <p:nvPr/>
        </p:nvSpPr>
        <p:spPr>
          <a:xfrm>
            <a:off x="-1097280" y="3200400"/>
            <a:ext cx="3657600" cy="3657600"/>
          </a:xfrm>
          <a:prstGeom prst="ellipse">
            <a:avLst/>
          </a:prstGeom>
          <a:solidFill>
            <a:srgbClr val="D4A010">
              <a:alpha val="12000"/>
            </a:srgbClr>
          </a:solidFill>
          <a:ln w="12700">
            <a:solidFill>
              <a:srgbClr val="D4A010"/>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0"/>
                </a:solidFill>
                <a:latin typeface="Calibri" pitchFamily="34" charset="0"/>
                <a:ea typeface="Calibri" pitchFamily="34" charset="-122"/>
                <a:cs typeface="Calibri" pitchFamily="34" charset="-120"/>
              </a:rPr>
              <a:t>CORRELATION  |  SECTION 07</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Nigerian Business Applications</a:t>
            </a:r>
            <a:endParaRPr lang="en-US" sz="36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90D8E0"/>
                </a:solidFill>
                <a:latin typeface="Calibri" pitchFamily="34" charset="0"/>
                <a:ea typeface="Calibri" pitchFamily="34" charset="-122"/>
                <a:cs typeface="Calibri" pitchFamily="34" charset="-120"/>
              </a:rPr>
              <a:t>Six sectors showing how correlation analysis drives real business decisions</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70C18"/>
          </a:solidFill>
          <a:ln w="12700">
            <a:solidFill>
              <a:srgbClr val="070C18"/>
            </a:solidFill>
            <a:prstDash val="solid"/>
          </a:ln>
        </p:spPr>
      </p:sp>
      <p:sp>
        <p:nvSpPr>
          <p:cNvPr id="3" name="Text 1"/>
          <p:cNvSpPr/>
          <p:nvPr/>
        </p:nvSpPr>
        <p:spPr>
          <a:xfrm>
            <a:off x="438912"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Six Nigerian Business Correlation Applications - Insights and Decisions</a:t>
            </a:r>
            <a:endParaRPr lang="en-US" sz="2100" dirty="0"/>
          </a:p>
        </p:txBody>
      </p:sp>
      <p:sp>
        <p:nvSpPr>
          <p:cNvPr id="4" name="Shape 2"/>
          <p:cNvSpPr/>
          <p:nvPr/>
        </p:nvSpPr>
        <p:spPr>
          <a:xfrm>
            <a:off x="228600" y="1024128"/>
            <a:ext cx="4160520" cy="1280160"/>
          </a:xfrm>
          <a:prstGeom prst="roundRect">
            <a:avLst>
              <a:gd name="adj" fmla="val 5000"/>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01752" y="1097280"/>
            <a:ext cx="640080" cy="237744"/>
          </a:xfrm>
          <a:prstGeom prst="roundRect">
            <a:avLst>
              <a:gd name="adj" fmla="val 15385"/>
            </a:avLst>
          </a:prstGeom>
          <a:solidFill>
            <a:srgbClr val="0A7E8C"/>
          </a:solidFill>
          <a:ln w="12700">
            <a:solidFill>
              <a:srgbClr val="0A7E8C"/>
            </a:solidFill>
            <a:prstDash val="solid"/>
          </a:ln>
        </p:spPr>
      </p:sp>
      <p:sp>
        <p:nvSpPr>
          <p:cNvPr id="6" name="Text 4"/>
          <p:cNvSpPr/>
          <p:nvPr/>
        </p:nvSpPr>
        <p:spPr>
          <a:xfrm>
            <a:off x="301752" y="1097280"/>
            <a:ext cx="640080" cy="237744"/>
          </a:xfrm>
          <a:prstGeom prst="rect">
            <a:avLst/>
          </a:prstGeom>
          <a:noFill/>
          <a:ln/>
        </p:spPr>
        <p:txBody>
          <a:bodyPr wrap="square" lIns="0" tIns="0" rIns="0" bIns="0" rtlCol="0" anchor="ctr"/>
          <a:lstStyle/>
          <a:p>
            <a:pPr algn="ctr" indent="0" marL="0">
              <a:buNone/>
            </a:pPr>
            <a:r>
              <a:rPr lang="en-US" sz="900" b="1" dirty="0">
                <a:solidFill>
                  <a:srgbClr val="0C1428"/>
                </a:solidFill>
                <a:latin typeface="Calibri" pitchFamily="34" charset="0"/>
                <a:ea typeface="Calibri" pitchFamily="34" charset="-122"/>
                <a:cs typeface="Calibri" pitchFamily="34" charset="-120"/>
              </a:rPr>
              <a:t>GTBank</a:t>
            </a:r>
            <a:endParaRPr lang="en-US" sz="900" dirty="0"/>
          </a:p>
        </p:txBody>
      </p:sp>
      <p:sp>
        <p:nvSpPr>
          <p:cNvPr id="7" name="Text 5"/>
          <p:cNvSpPr/>
          <p:nvPr/>
        </p:nvSpPr>
        <p:spPr>
          <a:xfrm>
            <a:off x="1014984" y="1115568"/>
            <a:ext cx="3291840" cy="219456"/>
          </a:xfrm>
          <a:prstGeom prst="rect">
            <a:avLst/>
          </a:prstGeom>
          <a:noFill/>
          <a:ln/>
        </p:spPr>
        <p:txBody>
          <a:bodyPr wrap="square" lIns="0" tIns="0" rIns="0" bIns="0" rtlCol="0" anchor="ctr"/>
          <a:lstStyle/>
          <a:p>
            <a:pPr indent="0" marL="0">
              <a:buNone/>
            </a:pPr>
            <a:r>
              <a:rPr lang="en-US" sz="1000" b="1" dirty="0">
                <a:solidFill>
                  <a:srgbClr val="0A7E8C"/>
                </a:solidFill>
                <a:latin typeface="Calibri" pitchFamily="34" charset="0"/>
                <a:ea typeface="Calibri" pitchFamily="34" charset="-122"/>
                <a:cs typeface="Calibri" pitchFamily="34" charset="-120"/>
              </a:rPr>
              <a:t>Customer Financial Analysis (Pearson r)</a:t>
            </a:r>
            <a:endParaRPr lang="en-US" sz="1000" dirty="0"/>
          </a:p>
        </p:txBody>
      </p:sp>
      <p:sp>
        <p:nvSpPr>
          <p:cNvPr id="8" name="Text 6"/>
          <p:cNvSpPr/>
          <p:nvPr/>
        </p:nvSpPr>
        <p:spPr>
          <a:xfrm>
            <a:off x="320040" y="1389888"/>
            <a:ext cx="3950208" cy="256032"/>
          </a:xfrm>
          <a:prstGeom prst="rect">
            <a:avLst/>
          </a:prstGeom>
          <a:noFill/>
          <a:ln/>
        </p:spPr>
        <p:txBody>
          <a:bodyPr wrap="square" lIns="0" tIns="0" rIns="0" bIns="0" rtlCol="0" anchor="ctr"/>
          <a:lstStyle/>
          <a:p>
            <a:pPr indent="0" marL="0">
              <a:buNone/>
            </a:pPr>
            <a:r>
              <a:rPr lang="en-US" sz="850" b="1" dirty="0">
                <a:solidFill>
                  <a:srgbClr val="0A7E8C"/>
                </a:solidFill>
                <a:latin typeface="Calibri" pitchFamily="34" charset="0"/>
                <a:ea typeface="Calibri" pitchFamily="34" charset="-122"/>
                <a:cs typeface="Calibri" pitchFamily="34" charset="-120"/>
              </a:rPr>
              <a:t>r findings: </a:t>
            </a:r>
            <a:pPr indent="0" marL="0">
              <a:buNone/>
            </a:pPr>
            <a:r>
              <a:rPr lang="en-US" sz="850" dirty="0">
                <a:solidFill>
                  <a:srgbClr val="0C1428"/>
                </a:solidFill>
                <a:latin typeface="Calibri" pitchFamily="34" charset="0"/>
                <a:ea typeface="Calibri" pitchFamily="34" charset="-122"/>
                <a:cs typeface="Calibri" pitchFamily="34" charset="-120"/>
              </a:rPr>
              <a:t>Income-Spending r=.794**. Age-Savings r=.714**. Debt-Credit Score r=-.624**.</a:t>
            </a:r>
            <a:endParaRPr lang="en-US" sz="850" dirty="0"/>
          </a:p>
        </p:txBody>
      </p:sp>
      <p:sp>
        <p:nvSpPr>
          <p:cNvPr id="9" name="Text 7"/>
          <p:cNvSpPr/>
          <p:nvPr/>
        </p:nvSpPr>
        <p:spPr>
          <a:xfrm>
            <a:off x="320040" y="1664208"/>
            <a:ext cx="3950208" cy="256032"/>
          </a:xfrm>
          <a:prstGeom prst="rect">
            <a:avLst/>
          </a:prstGeom>
          <a:noFill/>
          <a:ln/>
        </p:spPr>
        <p:txBody>
          <a:bodyPr wrap="square" lIns="0" tIns="0" rIns="0" bIns="0" rtlCol="0" anchor="ctr"/>
          <a:lstStyle/>
          <a:p>
            <a:pPr indent="0" marL="0">
              <a:buNone/>
            </a:pPr>
            <a:r>
              <a:rPr lang="en-US" sz="850" b="1" dirty="0">
                <a:solidFill>
                  <a:srgbClr val="0A7E8C"/>
                </a:solidFill>
                <a:latin typeface="Calibri" pitchFamily="34" charset="0"/>
                <a:ea typeface="Calibri" pitchFamily="34" charset="-122"/>
                <a:cs typeface="Calibri" pitchFamily="34" charset="-120"/>
              </a:rPr>
              <a:t>Insight: </a:t>
            </a:r>
            <a:pPr indent="0" marL="0">
              <a:buNone/>
            </a:pPr>
            <a:r>
              <a:rPr lang="en-US" sz="850" i="1" dirty="0">
                <a:solidFill>
                  <a:srgbClr val="64748B"/>
                </a:solidFill>
                <a:latin typeface="Calibri" pitchFamily="34" charset="0"/>
                <a:ea typeface="Calibri" pitchFamily="34" charset="-122"/>
                <a:cs typeface="Calibri" pitchFamily="34" charset="-120"/>
              </a:rPr>
              <a:t>Income-savings-age cluster (wealth). Spending-transactions cluster (active). Drives two cross-sell tracks.</a:t>
            </a:r>
            <a:endParaRPr lang="en-US" sz="850" dirty="0"/>
          </a:p>
        </p:txBody>
      </p:sp>
      <p:sp>
        <p:nvSpPr>
          <p:cNvPr id="10" name="Text 8"/>
          <p:cNvSpPr/>
          <p:nvPr/>
        </p:nvSpPr>
        <p:spPr>
          <a:xfrm>
            <a:off x="320040" y="1938528"/>
            <a:ext cx="3950208" cy="274320"/>
          </a:xfrm>
          <a:prstGeom prst="rect">
            <a:avLst/>
          </a:prstGeom>
          <a:noFill/>
          <a:ln/>
        </p:spPr>
        <p:txBody>
          <a:bodyPr wrap="square" lIns="0" tIns="0" rIns="0" bIns="0" rtlCol="0" anchor="ctr"/>
          <a:lstStyle/>
          <a:p>
            <a:pPr indent="0" marL="0">
              <a:buNone/>
            </a:pPr>
            <a:r>
              <a:rPr lang="en-US" sz="850" b="1" dirty="0">
                <a:solidFill>
                  <a:srgbClr val="0A8A50"/>
                </a:solidFill>
                <a:latin typeface="Calibri" pitchFamily="34" charset="0"/>
                <a:ea typeface="Calibri" pitchFamily="34" charset="-122"/>
                <a:cs typeface="Calibri" pitchFamily="34" charset="-120"/>
              </a:rPr>
              <a:t>Impact: </a:t>
            </a:r>
            <a:pPr indent="0" marL="0">
              <a:buNone/>
            </a:pPr>
            <a:r>
              <a:rPr lang="en-US" sz="850" dirty="0">
                <a:solidFill>
                  <a:srgbClr val="0C1428"/>
                </a:solidFill>
                <a:latin typeface="Calibri" pitchFamily="34" charset="0"/>
                <a:ea typeface="Calibri" pitchFamily="34" charset="-122"/>
                <a:cs typeface="Calibri" pitchFamily="34" charset="-120"/>
              </a:rPr>
              <a:t>Product targeting: investment products for wealth cluster; premium credit for active spenders.</a:t>
            </a:r>
            <a:endParaRPr lang="en-US" sz="850" dirty="0"/>
          </a:p>
        </p:txBody>
      </p:sp>
      <p:sp>
        <p:nvSpPr>
          <p:cNvPr id="11" name="Shape 9"/>
          <p:cNvSpPr/>
          <p:nvPr/>
        </p:nvSpPr>
        <p:spPr>
          <a:xfrm>
            <a:off x="4690872" y="1024128"/>
            <a:ext cx="4160520" cy="1280160"/>
          </a:xfrm>
          <a:prstGeom prst="roundRect">
            <a:avLst>
              <a:gd name="adj" fmla="val 5000"/>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12" name="Shape 10"/>
          <p:cNvSpPr/>
          <p:nvPr/>
        </p:nvSpPr>
        <p:spPr>
          <a:xfrm>
            <a:off x="4764024" y="1097280"/>
            <a:ext cx="640080" cy="237744"/>
          </a:xfrm>
          <a:prstGeom prst="roundRect">
            <a:avLst>
              <a:gd name="adj" fmla="val 15385"/>
            </a:avLst>
          </a:prstGeom>
          <a:solidFill>
            <a:srgbClr val="2878F0"/>
          </a:solidFill>
          <a:ln w="12700">
            <a:solidFill>
              <a:srgbClr val="2878F0"/>
            </a:solidFill>
            <a:prstDash val="solid"/>
          </a:ln>
        </p:spPr>
      </p:sp>
      <p:sp>
        <p:nvSpPr>
          <p:cNvPr id="13" name="Text 11"/>
          <p:cNvSpPr/>
          <p:nvPr/>
        </p:nvSpPr>
        <p:spPr>
          <a:xfrm>
            <a:off x="4764024" y="1097280"/>
            <a:ext cx="640080" cy="237744"/>
          </a:xfrm>
          <a:prstGeom prst="rect">
            <a:avLst/>
          </a:prstGeom>
          <a:noFill/>
          <a:ln/>
        </p:spPr>
        <p:txBody>
          <a:bodyPr wrap="square" lIns="0" tIns="0" rIns="0" bIns="0" rtlCol="0" anchor="ctr"/>
          <a:lstStyle/>
          <a:p>
            <a:pPr algn="ctr" indent="0" marL="0">
              <a:buNone/>
            </a:pPr>
            <a:r>
              <a:rPr lang="en-US" sz="900" b="1" dirty="0">
                <a:solidFill>
                  <a:srgbClr val="0C1428"/>
                </a:solidFill>
                <a:latin typeface="Calibri" pitchFamily="34" charset="0"/>
                <a:ea typeface="Calibri" pitchFamily="34" charset="-122"/>
                <a:cs typeface="Calibri" pitchFamily="34" charset="-120"/>
              </a:rPr>
              <a:t>First Bank</a:t>
            </a:r>
            <a:endParaRPr lang="en-US" sz="900" dirty="0"/>
          </a:p>
        </p:txBody>
      </p:sp>
      <p:sp>
        <p:nvSpPr>
          <p:cNvPr id="14" name="Text 12"/>
          <p:cNvSpPr/>
          <p:nvPr/>
        </p:nvSpPr>
        <p:spPr>
          <a:xfrm>
            <a:off x="5477256" y="1115568"/>
            <a:ext cx="3291840" cy="219456"/>
          </a:xfrm>
          <a:prstGeom prst="rect">
            <a:avLst/>
          </a:prstGeom>
          <a:noFill/>
          <a:ln/>
        </p:spPr>
        <p:txBody>
          <a:bodyPr wrap="square" lIns="0" tIns="0" rIns="0" bIns="0" rtlCol="0" anchor="ctr"/>
          <a:lstStyle/>
          <a:p>
            <a:pPr indent="0" marL="0">
              <a:buNone/>
            </a:pPr>
            <a:r>
              <a:rPr lang="en-US" sz="1000" b="1" dirty="0">
                <a:solidFill>
                  <a:srgbClr val="2878F0"/>
                </a:solidFill>
                <a:latin typeface="Calibri" pitchFamily="34" charset="0"/>
                <a:ea typeface="Calibri" pitchFamily="34" charset="-122"/>
                <a:cs typeface="Calibri" pitchFamily="34" charset="-120"/>
              </a:rPr>
              <a:t>Loan Risk Profiling (Point-Biserial r_pb)</a:t>
            </a:r>
            <a:endParaRPr lang="en-US" sz="1000" dirty="0"/>
          </a:p>
        </p:txBody>
      </p:sp>
      <p:sp>
        <p:nvSpPr>
          <p:cNvPr id="15" name="Text 13"/>
          <p:cNvSpPr/>
          <p:nvPr/>
        </p:nvSpPr>
        <p:spPr>
          <a:xfrm>
            <a:off x="4782312" y="1389888"/>
            <a:ext cx="3950208" cy="256032"/>
          </a:xfrm>
          <a:prstGeom prst="rect">
            <a:avLst/>
          </a:prstGeom>
          <a:noFill/>
          <a:ln/>
        </p:spPr>
        <p:txBody>
          <a:bodyPr wrap="square" lIns="0" tIns="0" rIns="0" bIns="0" rtlCol="0" anchor="ctr"/>
          <a:lstStyle/>
          <a:p>
            <a:pPr indent="0" marL="0">
              <a:buNone/>
            </a:pPr>
            <a:r>
              <a:rPr lang="en-US" sz="850" b="1" dirty="0">
                <a:solidFill>
                  <a:srgbClr val="2878F0"/>
                </a:solidFill>
                <a:latin typeface="Calibri" pitchFamily="34" charset="0"/>
                <a:ea typeface="Calibri" pitchFamily="34" charset="-122"/>
                <a:cs typeface="Calibri" pitchFamily="34" charset="-120"/>
              </a:rPr>
              <a:t>r findings: </a:t>
            </a:r>
            <a:pPr indent="0" marL="0">
              <a:buNone/>
            </a:pPr>
            <a:r>
              <a:rPr lang="en-US" sz="850" dirty="0">
                <a:solidFill>
                  <a:srgbClr val="0C1428"/>
                </a:solidFill>
                <a:latin typeface="Calibri" pitchFamily="34" charset="0"/>
                <a:ea typeface="Calibri" pitchFamily="34" charset="-122"/>
                <a:cs typeface="Calibri" pitchFamily="34" charset="-120"/>
              </a:rPr>
              <a:t>Default-Credit Score r_pb=-.524**. Default-Income r_pb=-.412**. Default-DTI r_pb=+.398**.</a:t>
            </a:r>
            <a:endParaRPr lang="en-US" sz="850" dirty="0"/>
          </a:p>
        </p:txBody>
      </p:sp>
      <p:sp>
        <p:nvSpPr>
          <p:cNvPr id="16" name="Text 14"/>
          <p:cNvSpPr/>
          <p:nvPr/>
        </p:nvSpPr>
        <p:spPr>
          <a:xfrm>
            <a:off x="4782312" y="1664208"/>
            <a:ext cx="3950208" cy="256032"/>
          </a:xfrm>
          <a:prstGeom prst="rect">
            <a:avLst/>
          </a:prstGeom>
          <a:noFill/>
          <a:ln/>
        </p:spPr>
        <p:txBody>
          <a:bodyPr wrap="square" lIns="0" tIns="0" rIns="0" bIns="0" rtlCol="0" anchor="ctr"/>
          <a:lstStyle/>
          <a:p>
            <a:pPr indent="0" marL="0">
              <a:buNone/>
            </a:pPr>
            <a:r>
              <a:rPr lang="en-US" sz="850" b="1" dirty="0">
                <a:solidFill>
                  <a:srgbClr val="2878F0"/>
                </a:solidFill>
                <a:latin typeface="Calibri" pitchFamily="34" charset="0"/>
                <a:ea typeface="Calibri" pitchFamily="34" charset="-122"/>
                <a:cs typeface="Calibri" pitchFamily="34" charset="-120"/>
              </a:rPr>
              <a:t>Insight: </a:t>
            </a:r>
            <a:pPr indent="0" marL="0">
              <a:buNone/>
            </a:pPr>
            <a:r>
              <a:rPr lang="en-US" sz="850" i="1" dirty="0">
                <a:solidFill>
                  <a:srgbClr val="64748B"/>
                </a:solidFill>
                <a:latin typeface="Calibri" pitchFamily="34" charset="0"/>
                <a:ea typeface="Calibri" pitchFamily="34" charset="-122"/>
                <a:cs typeface="Calibri" pitchFamily="34" charset="-120"/>
              </a:rPr>
              <a:t>Credit score and income are most strongly (negatively) associated with default. DTI is the top positive predictor.</a:t>
            </a:r>
            <a:endParaRPr lang="en-US" sz="850" dirty="0"/>
          </a:p>
        </p:txBody>
      </p:sp>
      <p:sp>
        <p:nvSpPr>
          <p:cNvPr id="17" name="Text 15"/>
          <p:cNvSpPr/>
          <p:nvPr/>
        </p:nvSpPr>
        <p:spPr>
          <a:xfrm>
            <a:off x="4782312" y="1938528"/>
            <a:ext cx="3950208" cy="274320"/>
          </a:xfrm>
          <a:prstGeom prst="rect">
            <a:avLst/>
          </a:prstGeom>
          <a:noFill/>
          <a:ln/>
        </p:spPr>
        <p:txBody>
          <a:bodyPr wrap="square" lIns="0" tIns="0" rIns="0" bIns="0" rtlCol="0" anchor="ctr"/>
          <a:lstStyle/>
          <a:p>
            <a:pPr indent="0" marL="0">
              <a:buNone/>
            </a:pPr>
            <a:r>
              <a:rPr lang="en-US" sz="850" b="1" dirty="0">
                <a:solidFill>
                  <a:srgbClr val="0A8A50"/>
                </a:solidFill>
                <a:latin typeface="Calibri" pitchFamily="34" charset="0"/>
                <a:ea typeface="Calibri" pitchFamily="34" charset="-122"/>
                <a:cs typeface="Calibri" pitchFamily="34" charset="-120"/>
              </a:rPr>
              <a:t>Impact: </a:t>
            </a:r>
            <a:pPr indent="0" marL="0">
              <a:buNone/>
            </a:pPr>
            <a:r>
              <a:rPr lang="en-US" sz="850" dirty="0">
                <a:solidFill>
                  <a:srgbClr val="0C1428"/>
                </a:solidFill>
                <a:latin typeface="Calibri" pitchFamily="34" charset="0"/>
                <a:ea typeface="Calibri" pitchFamily="34" charset="-122"/>
                <a:cs typeface="Calibri" pitchFamily="34" charset="-120"/>
              </a:rPr>
              <a:t>Priority feature selection for logistic regression credit scoring model. VIF checked for multicollinearity.</a:t>
            </a:r>
            <a:endParaRPr lang="en-US" sz="850" dirty="0"/>
          </a:p>
        </p:txBody>
      </p:sp>
      <p:sp>
        <p:nvSpPr>
          <p:cNvPr id="18" name="Shape 16"/>
          <p:cNvSpPr/>
          <p:nvPr/>
        </p:nvSpPr>
        <p:spPr>
          <a:xfrm>
            <a:off x="228600" y="2395728"/>
            <a:ext cx="4160520" cy="1280160"/>
          </a:xfrm>
          <a:prstGeom prst="roundRect">
            <a:avLst>
              <a:gd name="adj" fmla="val 5000"/>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19" name="Shape 17"/>
          <p:cNvSpPr/>
          <p:nvPr/>
        </p:nvSpPr>
        <p:spPr>
          <a:xfrm>
            <a:off x="301752" y="2468880"/>
            <a:ext cx="640080" cy="237744"/>
          </a:xfrm>
          <a:prstGeom prst="roundRect">
            <a:avLst>
              <a:gd name="adj" fmla="val 15385"/>
            </a:avLst>
          </a:prstGeom>
          <a:solidFill>
            <a:srgbClr val="E07010"/>
          </a:solidFill>
          <a:ln w="12700">
            <a:solidFill>
              <a:srgbClr val="E07010"/>
            </a:solidFill>
            <a:prstDash val="solid"/>
          </a:ln>
        </p:spPr>
      </p:sp>
      <p:sp>
        <p:nvSpPr>
          <p:cNvPr id="20" name="Text 18"/>
          <p:cNvSpPr/>
          <p:nvPr/>
        </p:nvSpPr>
        <p:spPr>
          <a:xfrm>
            <a:off x="301752" y="2468880"/>
            <a:ext cx="640080" cy="237744"/>
          </a:xfrm>
          <a:prstGeom prst="rect">
            <a:avLst/>
          </a:prstGeom>
          <a:noFill/>
          <a:ln/>
        </p:spPr>
        <p:txBody>
          <a:bodyPr wrap="square" lIns="0" tIns="0" rIns="0" bIns="0" rtlCol="0" anchor="ctr"/>
          <a:lstStyle/>
          <a:p>
            <a:pPr algn="ctr" indent="0" marL="0">
              <a:buNone/>
            </a:pPr>
            <a:r>
              <a:rPr lang="en-US" sz="900" b="1" dirty="0">
                <a:solidFill>
                  <a:srgbClr val="0C1428"/>
                </a:solidFill>
                <a:latin typeface="Calibri" pitchFamily="34" charset="0"/>
                <a:ea typeface="Calibri" pitchFamily="34" charset="-122"/>
                <a:cs typeface="Calibri" pitchFamily="34" charset="-120"/>
              </a:rPr>
              <a:t>Leadway</a:t>
            </a:r>
            <a:endParaRPr lang="en-US" sz="900" dirty="0"/>
          </a:p>
        </p:txBody>
      </p:sp>
      <p:sp>
        <p:nvSpPr>
          <p:cNvPr id="21" name="Text 19"/>
          <p:cNvSpPr/>
          <p:nvPr/>
        </p:nvSpPr>
        <p:spPr>
          <a:xfrm>
            <a:off x="1014984" y="2487168"/>
            <a:ext cx="3291840" cy="219456"/>
          </a:xfrm>
          <a:prstGeom prst="rect">
            <a:avLst/>
          </a:prstGeom>
          <a:noFill/>
          <a:ln/>
        </p:spPr>
        <p:txBody>
          <a:bodyPr wrap="square" lIns="0" tIns="0" rIns="0" bIns="0" rtlCol="0" anchor="ctr"/>
          <a:lstStyle/>
          <a:p>
            <a:pPr indent="0" marL="0">
              <a:buNone/>
            </a:pPr>
            <a:r>
              <a:rPr lang="en-US" sz="1000" b="1" dirty="0">
                <a:solidFill>
                  <a:srgbClr val="E07010"/>
                </a:solidFill>
                <a:latin typeface="Calibri" pitchFamily="34" charset="0"/>
                <a:ea typeface="Calibri" pitchFamily="34" charset="-122"/>
                <a:cs typeface="Calibri" pitchFamily="34" charset="-120"/>
              </a:rPr>
              <a:t>Insurance Risk Factors (Spearman rho (skewed counts))</a:t>
            </a:r>
            <a:endParaRPr lang="en-US" sz="1000" dirty="0"/>
          </a:p>
        </p:txBody>
      </p:sp>
      <p:sp>
        <p:nvSpPr>
          <p:cNvPr id="22" name="Text 20"/>
          <p:cNvSpPr/>
          <p:nvPr/>
        </p:nvSpPr>
        <p:spPr>
          <a:xfrm>
            <a:off x="320040" y="2761488"/>
            <a:ext cx="3950208" cy="256032"/>
          </a:xfrm>
          <a:prstGeom prst="rect">
            <a:avLst/>
          </a:prstGeom>
          <a:noFill/>
          <a:ln/>
        </p:spPr>
        <p:txBody>
          <a:bodyPr wrap="square" lIns="0" tIns="0" rIns="0" bIns="0" rtlCol="0" anchor="ctr"/>
          <a:lstStyle/>
          <a:p>
            <a:pPr indent="0" marL="0">
              <a:buNone/>
            </a:pPr>
            <a:r>
              <a:rPr lang="en-US" sz="850" b="1" dirty="0">
                <a:solidFill>
                  <a:srgbClr val="E07010"/>
                </a:solidFill>
                <a:latin typeface="Calibri" pitchFamily="34" charset="0"/>
                <a:ea typeface="Calibri" pitchFamily="34" charset="-122"/>
                <a:cs typeface="Calibri" pitchFamily="34" charset="-120"/>
              </a:rPr>
              <a:t>r findings: </a:t>
            </a:r>
            <a:pPr indent="0" marL="0">
              <a:buNone/>
            </a:pPr>
            <a:r>
              <a:rPr lang="en-US" sz="850" dirty="0">
                <a:solidFill>
                  <a:srgbClr val="0C1428"/>
                </a:solidFill>
                <a:latin typeface="Calibri" pitchFamily="34" charset="0"/>
                <a:ea typeface="Calibri" pitchFamily="34" charset="-122"/>
                <a:cs typeface="Calibri" pitchFamily="34" charset="-120"/>
              </a:rPr>
              <a:t>Car_value rank vs claim_size rank rho=+.681**. Annual_mileage vs claim_freq rho=+.512**.</a:t>
            </a:r>
            <a:endParaRPr lang="en-US" sz="850" dirty="0"/>
          </a:p>
        </p:txBody>
      </p:sp>
      <p:sp>
        <p:nvSpPr>
          <p:cNvPr id="23" name="Text 21"/>
          <p:cNvSpPr/>
          <p:nvPr/>
        </p:nvSpPr>
        <p:spPr>
          <a:xfrm>
            <a:off x="320040" y="3035808"/>
            <a:ext cx="3950208" cy="256032"/>
          </a:xfrm>
          <a:prstGeom prst="rect">
            <a:avLst/>
          </a:prstGeom>
          <a:noFill/>
          <a:ln/>
        </p:spPr>
        <p:txBody>
          <a:bodyPr wrap="square" lIns="0" tIns="0" rIns="0" bIns="0" rtlCol="0" anchor="ctr"/>
          <a:lstStyle/>
          <a:p>
            <a:pPr indent="0" marL="0">
              <a:buNone/>
            </a:pPr>
            <a:r>
              <a:rPr lang="en-US" sz="850" b="1" dirty="0">
                <a:solidFill>
                  <a:srgbClr val="E07010"/>
                </a:solidFill>
                <a:latin typeface="Calibri" pitchFamily="34" charset="0"/>
                <a:ea typeface="Calibri" pitchFamily="34" charset="-122"/>
                <a:cs typeface="Calibri" pitchFamily="34" charset="-120"/>
              </a:rPr>
              <a:t>Insight: </a:t>
            </a:r>
            <a:pPr indent="0" marL="0">
              <a:buNone/>
            </a:pPr>
            <a:r>
              <a:rPr lang="en-US" sz="850" i="1" dirty="0">
                <a:solidFill>
                  <a:srgbClr val="64748B"/>
                </a:solidFill>
                <a:latin typeface="Calibri" pitchFamily="34" charset="0"/>
                <a:ea typeface="Calibri" pitchFamily="34" charset="-122"/>
                <a:cs typeface="Calibri" pitchFamily="34" charset="-120"/>
              </a:rPr>
              <a:t>Non-normal count data → Spearman preferred. Mileage-urban rho=.62 raises multicollinearity concern in GLM.</a:t>
            </a:r>
            <a:endParaRPr lang="en-US" sz="850" dirty="0"/>
          </a:p>
        </p:txBody>
      </p:sp>
      <p:sp>
        <p:nvSpPr>
          <p:cNvPr id="24" name="Text 22"/>
          <p:cNvSpPr/>
          <p:nvPr/>
        </p:nvSpPr>
        <p:spPr>
          <a:xfrm>
            <a:off x="320040" y="3310128"/>
            <a:ext cx="3950208" cy="274320"/>
          </a:xfrm>
          <a:prstGeom prst="rect">
            <a:avLst/>
          </a:prstGeom>
          <a:noFill/>
          <a:ln/>
        </p:spPr>
        <p:txBody>
          <a:bodyPr wrap="square" lIns="0" tIns="0" rIns="0" bIns="0" rtlCol="0" anchor="ctr"/>
          <a:lstStyle/>
          <a:p>
            <a:pPr indent="0" marL="0">
              <a:buNone/>
            </a:pPr>
            <a:r>
              <a:rPr lang="en-US" sz="850" b="1" dirty="0">
                <a:solidFill>
                  <a:srgbClr val="0A8A50"/>
                </a:solidFill>
                <a:latin typeface="Calibri" pitchFamily="34" charset="0"/>
                <a:ea typeface="Calibri" pitchFamily="34" charset="-122"/>
                <a:cs typeface="Calibri" pitchFamily="34" charset="-120"/>
              </a:rPr>
              <a:t>Impact: </a:t>
            </a:r>
            <a:pPr indent="0" marL="0">
              <a:buNone/>
            </a:pPr>
            <a:r>
              <a:rPr lang="en-US" sz="850" dirty="0">
                <a:solidFill>
                  <a:srgbClr val="0C1428"/>
                </a:solidFill>
                <a:latin typeface="Calibri" pitchFamily="34" charset="0"/>
                <a:ea typeface="Calibri" pitchFamily="34" charset="-122"/>
                <a:cs typeface="Calibri" pitchFamily="34" charset="-120"/>
              </a:rPr>
              <a:t>Feature prioritisation and VIF monitoring for Poisson pricing model. Dual premium adjustment implemented.</a:t>
            </a:r>
            <a:endParaRPr lang="en-US" sz="850" dirty="0"/>
          </a:p>
        </p:txBody>
      </p:sp>
      <p:sp>
        <p:nvSpPr>
          <p:cNvPr id="25" name="Shape 23"/>
          <p:cNvSpPr/>
          <p:nvPr/>
        </p:nvSpPr>
        <p:spPr>
          <a:xfrm>
            <a:off x="4690872" y="2395728"/>
            <a:ext cx="4160520" cy="1280160"/>
          </a:xfrm>
          <a:prstGeom prst="roundRect">
            <a:avLst>
              <a:gd name="adj" fmla="val 5000"/>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26" name="Shape 24"/>
          <p:cNvSpPr/>
          <p:nvPr/>
        </p:nvSpPr>
        <p:spPr>
          <a:xfrm>
            <a:off x="4764024" y="2468880"/>
            <a:ext cx="640080" cy="237744"/>
          </a:xfrm>
          <a:prstGeom prst="roundRect">
            <a:avLst>
              <a:gd name="adj" fmla="val 15385"/>
            </a:avLst>
          </a:prstGeom>
          <a:solidFill>
            <a:srgbClr val="0A8A50"/>
          </a:solidFill>
          <a:ln w="12700">
            <a:solidFill>
              <a:srgbClr val="0A8A50"/>
            </a:solidFill>
            <a:prstDash val="solid"/>
          </a:ln>
        </p:spPr>
      </p:sp>
      <p:sp>
        <p:nvSpPr>
          <p:cNvPr id="27" name="Text 25"/>
          <p:cNvSpPr/>
          <p:nvPr/>
        </p:nvSpPr>
        <p:spPr>
          <a:xfrm>
            <a:off x="4764024" y="2468880"/>
            <a:ext cx="640080" cy="237744"/>
          </a:xfrm>
          <a:prstGeom prst="rect">
            <a:avLst/>
          </a:prstGeom>
          <a:noFill/>
          <a:ln/>
        </p:spPr>
        <p:txBody>
          <a:bodyPr wrap="square" lIns="0" tIns="0" rIns="0" bIns="0" rtlCol="0" anchor="ctr"/>
          <a:lstStyle/>
          <a:p>
            <a:pPr algn="ctr" indent="0" marL="0">
              <a:buNone/>
            </a:pPr>
            <a:r>
              <a:rPr lang="en-US" sz="900" b="1" dirty="0">
                <a:solidFill>
                  <a:srgbClr val="0C1428"/>
                </a:solidFill>
                <a:latin typeface="Calibri" pitchFamily="34" charset="0"/>
                <a:ea typeface="Calibri" pitchFamily="34" charset="-122"/>
                <a:cs typeface="Calibri" pitchFamily="34" charset="-120"/>
              </a:rPr>
              <a:t>UAC Foods</a:t>
            </a:r>
            <a:endParaRPr lang="en-US" sz="900" dirty="0"/>
          </a:p>
        </p:txBody>
      </p:sp>
      <p:sp>
        <p:nvSpPr>
          <p:cNvPr id="28" name="Text 26"/>
          <p:cNvSpPr/>
          <p:nvPr/>
        </p:nvSpPr>
        <p:spPr>
          <a:xfrm>
            <a:off x="5477256" y="2487168"/>
            <a:ext cx="3291840" cy="219456"/>
          </a:xfrm>
          <a:prstGeom prst="rect">
            <a:avLst/>
          </a:prstGeom>
          <a:noFill/>
          <a:ln/>
        </p:spPr>
        <p:txBody>
          <a:bodyPr wrap="square" lIns="0" tIns="0" rIns="0" bIns="0" rtlCol="0" anchor="ctr"/>
          <a:lstStyle/>
          <a:p>
            <a:pPr indent="0" marL="0">
              <a:buNone/>
            </a:pPr>
            <a:r>
              <a:rPr lang="en-US" sz="1000" b="1" dirty="0">
                <a:solidFill>
                  <a:srgbClr val="0A8A50"/>
                </a:solidFill>
                <a:latin typeface="Calibri" pitchFamily="34" charset="0"/>
                <a:ea typeface="Calibri" pitchFamily="34" charset="-122"/>
                <a:cs typeface="Calibri" pitchFamily="34" charset="-120"/>
              </a:rPr>
              <a:t>Marketing-Sales Analysis (Pearson r (time series))</a:t>
            </a:r>
            <a:endParaRPr lang="en-US" sz="1000" dirty="0"/>
          </a:p>
        </p:txBody>
      </p:sp>
      <p:sp>
        <p:nvSpPr>
          <p:cNvPr id="29" name="Text 27"/>
          <p:cNvSpPr/>
          <p:nvPr/>
        </p:nvSpPr>
        <p:spPr>
          <a:xfrm>
            <a:off x="4782312" y="2761488"/>
            <a:ext cx="3950208" cy="256032"/>
          </a:xfrm>
          <a:prstGeom prst="rect">
            <a:avLst/>
          </a:prstGeom>
          <a:noFill/>
          <a:ln/>
        </p:spPr>
        <p:txBody>
          <a:bodyPr wrap="square" lIns="0" tIns="0" rIns="0" bIns="0" rtlCol="0" anchor="ctr"/>
          <a:lstStyle/>
          <a:p>
            <a:pPr indent="0" marL="0">
              <a:buNone/>
            </a:pPr>
            <a:r>
              <a:rPr lang="en-US" sz="850" b="1" dirty="0">
                <a:solidFill>
                  <a:srgbClr val="0A8A50"/>
                </a:solidFill>
                <a:latin typeface="Calibri" pitchFamily="34" charset="0"/>
                <a:ea typeface="Calibri" pitchFamily="34" charset="-122"/>
                <a:cs typeface="Calibri" pitchFamily="34" charset="-120"/>
              </a:rPr>
              <a:t>r findings: </a:t>
            </a:r>
            <a:pPr indent="0" marL="0">
              <a:buNone/>
            </a:pPr>
            <a:r>
              <a:rPr lang="en-US" sz="850" dirty="0">
                <a:solidFill>
                  <a:srgbClr val="0C1428"/>
                </a:solidFill>
                <a:latin typeface="Calibri" pitchFamily="34" charset="0"/>
                <a:ea typeface="Calibri" pitchFamily="34" charset="-122"/>
                <a:cs typeface="Calibri" pitchFamily="34" charset="-120"/>
              </a:rPr>
              <a:t>TV_spend vs sales r=.782**. Price vs sales r=-.684**. TV-digital r=.72 (correlated!)</a:t>
            </a:r>
            <a:endParaRPr lang="en-US" sz="850" dirty="0"/>
          </a:p>
        </p:txBody>
      </p:sp>
      <p:sp>
        <p:nvSpPr>
          <p:cNvPr id="30" name="Text 28"/>
          <p:cNvSpPr/>
          <p:nvPr/>
        </p:nvSpPr>
        <p:spPr>
          <a:xfrm>
            <a:off x="4782312" y="3035808"/>
            <a:ext cx="3950208" cy="256032"/>
          </a:xfrm>
          <a:prstGeom prst="rect">
            <a:avLst/>
          </a:prstGeom>
          <a:noFill/>
          <a:ln/>
        </p:spPr>
        <p:txBody>
          <a:bodyPr wrap="square" lIns="0" tIns="0" rIns="0" bIns="0" rtlCol="0" anchor="ctr"/>
          <a:lstStyle/>
          <a:p>
            <a:pPr indent="0" marL="0">
              <a:buNone/>
            </a:pPr>
            <a:r>
              <a:rPr lang="en-US" sz="850" b="1" dirty="0">
                <a:solidFill>
                  <a:srgbClr val="0A8A50"/>
                </a:solidFill>
                <a:latin typeface="Calibri" pitchFamily="34" charset="0"/>
                <a:ea typeface="Calibri" pitchFamily="34" charset="-122"/>
                <a:cs typeface="Calibri" pitchFamily="34" charset="-120"/>
              </a:rPr>
              <a:t>Insight: </a:t>
            </a:r>
            <a:pPr indent="0" marL="0">
              <a:buNone/>
            </a:pPr>
            <a:r>
              <a:rPr lang="en-US" sz="850" i="1" dirty="0">
                <a:solidFill>
                  <a:srgbClr val="64748B"/>
                </a:solidFill>
                <a:latin typeface="Calibri" pitchFamily="34" charset="0"/>
                <a:ea typeface="Calibri" pitchFamily="34" charset="-122"/>
                <a:cs typeface="Calibri" pitchFamily="34" charset="-120"/>
              </a:rPr>
              <a:t>Both TV and digital spend are highly correlated with each other (r=.72). Multicollinearity risk in regression.</a:t>
            </a:r>
            <a:endParaRPr lang="en-US" sz="850" dirty="0"/>
          </a:p>
        </p:txBody>
      </p:sp>
      <p:sp>
        <p:nvSpPr>
          <p:cNvPr id="31" name="Text 29"/>
          <p:cNvSpPr/>
          <p:nvPr/>
        </p:nvSpPr>
        <p:spPr>
          <a:xfrm>
            <a:off x="4782312" y="3310128"/>
            <a:ext cx="3950208" cy="274320"/>
          </a:xfrm>
          <a:prstGeom prst="rect">
            <a:avLst/>
          </a:prstGeom>
          <a:noFill/>
          <a:ln/>
        </p:spPr>
        <p:txBody>
          <a:bodyPr wrap="square" lIns="0" tIns="0" rIns="0" bIns="0" rtlCol="0" anchor="ctr"/>
          <a:lstStyle/>
          <a:p>
            <a:pPr indent="0" marL="0">
              <a:buNone/>
            </a:pPr>
            <a:r>
              <a:rPr lang="en-US" sz="850" b="1" dirty="0">
                <a:solidFill>
                  <a:srgbClr val="0A8A50"/>
                </a:solidFill>
                <a:latin typeface="Calibri" pitchFamily="34" charset="0"/>
                <a:ea typeface="Calibri" pitchFamily="34" charset="-122"/>
                <a:cs typeface="Calibri" pitchFamily="34" charset="-120"/>
              </a:rPr>
              <a:t>Impact: </a:t>
            </a:r>
            <a:pPr indent="0" marL="0">
              <a:buNone/>
            </a:pPr>
            <a:r>
              <a:rPr lang="en-US" sz="850" dirty="0">
                <a:solidFill>
                  <a:srgbClr val="0C1428"/>
                </a:solidFill>
                <a:latin typeface="Calibri" pitchFamily="34" charset="0"/>
                <a:ea typeface="Calibri" pitchFamily="34" charset="-122"/>
                <a:cs typeface="Calibri" pitchFamily="34" charset="-120"/>
              </a:rPr>
              <a:t>Solution: create total_marketing_spend composite, OR enter separately in blocks and compare AIC models.</a:t>
            </a:r>
            <a:endParaRPr lang="en-US" sz="850" dirty="0"/>
          </a:p>
        </p:txBody>
      </p:sp>
      <p:sp>
        <p:nvSpPr>
          <p:cNvPr id="32" name="Shape 30"/>
          <p:cNvSpPr/>
          <p:nvPr/>
        </p:nvSpPr>
        <p:spPr>
          <a:xfrm>
            <a:off x="228600" y="3767328"/>
            <a:ext cx="4160520" cy="1280160"/>
          </a:xfrm>
          <a:prstGeom prst="roundRect">
            <a:avLst>
              <a:gd name="adj" fmla="val 5000"/>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33" name="Shape 31"/>
          <p:cNvSpPr/>
          <p:nvPr/>
        </p:nvSpPr>
        <p:spPr>
          <a:xfrm>
            <a:off x="301752" y="3840480"/>
            <a:ext cx="640080" cy="237744"/>
          </a:xfrm>
          <a:prstGeom prst="roundRect">
            <a:avLst>
              <a:gd name="adj" fmla="val 15385"/>
            </a:avLst>
          </a:prstGeom>
          <a:solidFill>
            <a:srgbClr val="6010C8"/>
          </a:solidFill>
          <a:ln w="12700">
            <a:solidFill>
              <a:srgbClr val="6010C8"/>
            </a:solidFill>
            <a:prstDash val="solid"/>
          </a:ln>
        </p:spPr>
      </p:sp>
      <p:sp>
        <p:nvSpPr>
          <p:cNvPr id="34" name="Text 32"/>
          <p:cNvSpPr/>
          <p:nvPr/>
        </p:nvSpPr>
        <p:spPr>
          <a:xfrm>
            <a:off x="301752" y="3840480"/>
            <a:ext cx="640080" cy="237744"/>
          </a:xfrm>
          <a:prstGeom prst="rect">
            <a:avLst/>
          </a:prstGeom>
          <a:noFill/>
          <a:ln/>
        </p:spPr>
        <p:txBody>
          <a:bodyPr wrap="square" lIns="0" tIns="0" rIns="0" bIns="0" rtlCol="0" anchor="ctr"/>
          <a:lstStyle/>
          <a:p>
            <a:pPr algn="ctr" indent="0" marL="0">
              <a:buNone/>
            </a:pPr>
            <a:r>
              <a:rPr lang="en-US" sz="900" b="1" dirty="0">
                <a:solidFill>
                  <a:srgbClr val="0C1428"/>
                </a:solidFill>
                <a:latin typeface="Calibri" pitchFamily="34" charset="0"/>
                <a:ea typeface="Calibri" pitchFamily="34" charset="-122"/>
                <a:cs typeface="Calibri" pitchFamily="34" charset="-120"/>
              </a:rPr>
              <a:t>MTN Nigeria</a:t>
            </a:r>
            <a:endParaRPr lang="en-US" sz="900" dirty="0"/>
          </a:p>
        </p:txBody>
      </p:sp>
      <p:sp>
        <p:nvSpPr>
          <p:cNvPr id="35" name="Text 33"/>
          <p:cNvSpPr/>
          <p:nvPr/>
        </p:nvSpPr>
        <p:spPr>
          <a:xfrm>
            <a:off x="1014984" y="3858768"/>
            <a:ext cx="3291840" cy="219456"/>
          </a:xfrm>
          <a:prstGeom prst="rect">
            <a:avLst/>
          </a:prstGeom>
          <a:noFill/>
          <a:ln/>
        </p:spPr>
        <p:txBody>
          <a:bodyPr wrap="square" lIns="0" tIns="0" rIns="0" bIns="0" rtlCol="0" anchor="ctr"/>
          <a:lstStyle/>
          <a:p>
            <a:pPr indent="0" marL="0">
              <a:buNone/>
            </a:pPr>
            <a:r>
              <a:rPr lang="en-US" sz="1000" b="1" dirty="0">
                <a:solidFill>
                  <a:srgbClr val="6010C8"/>
                </a:solidFill>
                <a:latin typeface="Calibri" pitchFamily="34" charset="0"/>
                <a:ea typeface="Calibri" pitchFamily="34" charset="-122"/>
                <a:cs typeface="Calibri" pitchFamily="34" charset="-120"/>
              </a:rPr>
              <a:t>Employee Engagement HR (Spearman rho (ordinal surveys))</a:t>
            </a:r>
            <a:endParaRPr lang="en-US" sz="1000" dirty="0"/>
          </a:p>
        </p:txBody>
      </p:sp>
      <p:sp>
        <p:nvSpPr>
          <p:cNvPr id="36" name="Text 34"/>
          <p:cNvSpPr/>
          <p:nvPr/>
        </p:nvSpPr>
        <p:spPr>
          <a:xfrm>
            <a:off x="320040" y="4133088"/>
            <a:ext cx="3950208" cy="256032"/>
          </a:xfrm>
          <a:prstGeom prst="rect">
            <a:avLst/>
          </a:prstGeom>
          <a:noFill/>
          <a:ln/>
        </p:spPr>
        <p:txBody>
          <a:bodyPr wrap="square" lIns="0" tIns="0" rIns="0" bIns="0" rtlCol="0" anchor="ctr"/>
          <a:lstStyle/>
          <a:p>
            <a:pPr indent="0" marL="0">
              <a:buNone/>
            </a:pPr>
            <a:r>
              <a:rPr lang="en-US" sz="850" b="1" dirty="0">
                <a:solidFill>
                  <a:srgbClr val="6010C8"/>
                </a:solidFill>
                <a:latin typeface="Calibri" pitchFamily="34" charset="0"/>
                <a:ea typeface="Calibri" pitchFamily="34" charset="-122"/>
                <a:cs typeface="Calibri" pitchFamily="34" charset="-120"/>
              </a:rPr>
              <a:t>r findings: </a:t>
            </a:r>
            <a:pPr indent="0" marL="0">
              <a:buNone/>
            </a:pPr>
            <a:r>
              <a:rPr lang="en-US" sz="850" dirty="0">
                <a:solidFill>
                  <a:srgbClr val="0C1428"/>
                </a:solidFill>
                <a:latin typeface="Calibri" pitchFamily="34" charset="0"/>
                <a:ea typeface="Calibri" pitchFamily="34" charset="-122"/>
                <a:cs typeface="Calibri" pitchFamily="34" charset="-120"/>
              </a:rPr>
              <a:t>Overtime vs Burnout rho=+.748**. Manager quality vs Engagement rho=+.681**.</a:t>
            </a:r>
            <a:endParaRPr lang="en-US" sz="850" dirty="0"/>
          </a:p>
        </p:txBody>
      </p:sp>
      <p:sp>
        <p:nvSpPr>
          <p:cNvPr id="37" name="Text 35"/>
          <p:cNvSpPr/>
          <p:nvPr/>
        </p:nvSpPr>
        <p:spPr>
          <a:xfrm>
            <a:off x="320040" y="4407408"/>
            <a:ext cx="3950208" cy="256032"/>
          </a:xfrm>
          <a:prstGeom prst="rect">
            <a:avLst/>
          </a:prstGeom>
          <a:noFill/>
          <a:ln/>
        </p:spPr>
        <p:txBody>
          <a:bodyPr wrap="square" lIns="0" tIns="0" rIns="0" bIns="0" rtlCol="0" anchor="ctr"/>
          <a:lstStyle/>
          <a:p>
            <a:pPr indent="0" marL="0">
              <a:buNone/>
            </a:pPr>
            <a:r>
              <a:rPr lang="en-US" sz="850" b="1" dirty="0">
                <a:solidFill>
                  <a:srgbClr val="6010C8"/>
                </a:solidFill>
                <a:latin typeface="Calibri" pitchFamily="34" charset="0"/>
                <a:ea typeface="Calibri" pitchFamily="34" charset="-122"/>
                <a:cs typeface="Calibri" pitchFamily="34" charset="-120"/>
              </a:rPr>
              <a:t>Insight: </a:t>
            </a:r>
            <a:pPr indent="0" marL="0">
              <a:buNone/>
            </a:pPr>
            <a:r>
              <a:rPr lang="en-US" sz="850" i="1" dirty="0">
                <a:solidFill>
                  <a:srgbClr val="64748B"/>
                </a:solidFill>
                <a:latin typeface="Calibri" pitchFamily="34" charset="0"/>
                <a:ea typeface="Calibri" pitchFamily="34" charset="-122"/>
                <a:cs typeface="Calibri" pitchFamily="34" charset="-120"/>
              </a:rPr>
              <a:t>Strongest single correlation: overtime-burnout (.748). Partial r(engagement,performance|manager)=.488.</a:t>
            </a:r>
            <a:endParaRPr lang="en-US" sz="850" dirty="0"/>
          </a:p>
        </p:txBody>
      </p:sp>
      <p:sp>
        <p:nvSpPr>
          <p:cNvPr id="38" name="Text 36"/>
          <p:cNvSpPr/>
          <p:nvPr/>
        </p:nvSpPr>
        <p:spPr>
          <a:xfrm>
            <a:off x="320040" y="4681728"/>
            <a:ext cx="3950208" cy="274320"/>
          </a:xfrm>
          <a:prstGeom prst="rect">
            <a:avLst/>
          </a:prstGeom>
          <a:noFill/>
          <a:ln/>
        </p:spPr>
        <p:txBody>
          <a:bodyPr wrap="square" lIns="0" tIns="0" rIns="0" bIns="0" rtlCol="0" anchor="ctr"/>
          <a:lstStyle/>
          <a:p>
            <a:pPr indent="0" marL="0">
              <a:buNone/>
            </a:pPr>
            <a:r>
              <a:rPr lang="en-US" sz="850" b="1" dirty="0">
                <a:solidFill>
                  <a:srgbClr val="0A8A50"/>
                </a:solidFill>
                <a:latin typeface="Calibri" pitchFamily="34" charset="0"/>
                <a:ea typeface="Calibri" pitchFamily="34" charset="-122"/>
                <a:cs typeface="Calibri" pitchFamily="34" charset="-120"/>
              </a:rPr>
              <a:t>Impact: </a:t>
            </a:r>
            <a:pPr indent="0" marL="0">
              <a:buNone/>
            </a:pPr>
            <a:r>
              <a:rPr lang="en-US" sz="850" dirty="0">
                <a:solidFill>
                  <a:srgbClr val="0C1428"/>
                </a:solidFill>
                <a:latin typeface="Calibri" pitchFamily="34" charset="0"/>
                <a:ea typeface="Calibri" pitchFamily="34" charset="-122"/>
                <a:cs typeface="Calibri" pitchFamily="34" charset="-120"/>
              </a:rPr>
              <a:t>HR policy review on overtime hours. Manager quality targeted as lever for engagement improvement.</a:t>
            </a:r>
            <a:endParaRPr lang="en-US" sz="850" dirty="0"/>
          </a:p>
        </p:txBody>
      </p:sp>
      <p:sp>
        <p:nvSpPr>
          <p:cNvPr id="39" name="Shape 37"/>
          <p:cNvSpPr/>
          <p:nvPr/>
        </p:nvSpPr>
        <p:spPr>
          <a:xfrm>
            <a:off x="4690872" y="3767328"/>
            <a:ext cx="4160520" cy="1280160"/>
          </a:xfrm>
          <a:prstGeom prst="roundRect">
            <a:avLst>
              <a:gd name="adj" fmla="val 5000"/>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40" name="Shape 38"/>
          <p:cNvSpPr/>
          <p:nvPr/>
        </p:nvSpPr>
        <p:spPr>
          <a:xfrm>
            <a:off x="4764024" y="3840480"/>
            <a:ext cx="640080" cy="237744"/>
          </a:xfrm>
          <a:prstGeom prst="roundRect">
            <a:avLst>
              <a:gd name="adj" fmla="val 15385"/>
            </a:avLst>
          </a:prstGeom>
          <a:solidFill>
            <a:srgbClr val="D4A010"/>
          </a:solidFill>
          <a:ln w="12700">
            <a:solidFill>
              <a:srgbClr val="D4A010"/>
            </a:solidFill>
            <a:prstDash val="solid"/>
          </a:ln>
        </p:spPr>
      </p:sp>
      <p:sp>
        <p:nvSpPr>
          <p:cNvPr id="41" name="Text 39"/>
          <p:cNvSpPr/>
          <p:nvPr/>
        </p:nvSpPr>
        <p:spPr>
          <a:xfrm>
            <a:off x="4764024" y="3840480"/>
            <a:ext cx="640080" cy="237744"/>
          </a:xfrm>
          <a:prstGeom prst="rect">
            <a:avLst/>
          </a:prstGeom>
          <a:noFill/>
          <a:ln/>
        </p:spPr>
        <p:txBody>
          <a:bodyPr wrap="square" lIns="0" tIns="0" rIns="0" bIns="0" rtlCol="0" anchor="ctr"/>
          <a:lstStyle/>
          <a:p>
            <a:pPr algn="ctr" indent="0" marL="0">
              <a:buNone/>
            </a:pPr>
            <a:r>
              <a:rPr lang="en-US" sz="900" b="1" dirty="0">
                <a:solidFill>
                  <a:srgbClr val="0C1428"/>
                </a:solidFill>
                <a:latin typeface="Calibri" pitchFamily="34" charset="0"/>
                <a:ea typeface="Calibri" pitchFamily="34" charset="-122"/>
                <a:cs typeface="Calibri" pitchFamily="34" charset="-120"/>
              </a:rPr>
              <a:t>Zenith Bank</a:t>
            </a:r>
            <a:endParaRPr lang="en-US" sz="900" dirty="0"/>
          </a:p>
        </p:txBody>
      </p:sp>
      <p:sp>
        <p:nvSpPr>
          <p:cNvPr id="42" name="Text 40"/>
          <p:cNvSpPr/>
          <p:nvPr/>
        </p:nvSpPr>
        <p:spPr>
          <a:xfrm>
            <a:off x="5477256" y="3858768"/>
            <a:ext cx="3291840" cy="219456"/>
          </a:xfrm>
          <a:prstGeom prst="rect">
            <a:avLst/>
          </a:prstGeom>
          <a:noFill/>
          <a:ln/>
        </p:spPr>
        <p:txBody>
          <a:bodyPr wrap="square" lIns="0" tIns="0" rIns="0" bIns="0" rtlCol="0" anchor="ctr"/>
          <a:lstStyle/>
          <a:p>
            <a:pPr indent="0" marL="0">
              <a:buNone/>
            </a:pPr>
            <a:r>
              <a:rPr lang="en-US" sz="1000" b="1" dirty="0">
                <a:solidFill>
                  <a:srgbClr val="D4A010"/>
                </a:solidFill>
                <a:latin typeface="Calibri" pitchFamily="34" charset="0"/>
                <a:ea typeface="Calibri" pitchFamily="34" charset="-122"/>
                <a:cs typeface="Calibri" pitchFamily="34" charset="-120"/>
              </a:rPr>
              <a:t>Macro-NPL Risk (Pearson r + Lag Analysis)</a:t>
            </a:r>
            <a:endParaRPr lang="en-US" sz="1000" dirty="0"/>
          </a:p>
        </p:txBody>
      </p:sp>
      <p:sp>
        <p:nvSpPr>
          <p:cNvPr id="43" name="Text 41"/>
          <p:cNvSpPr/>
          <p:nvPr/>
        </p:nvSpPr>
        <p:spPr>
          <a:xfrm>
            <a:off x="4782312" y="4133088"/>
            <a:ext cx="3950208" cy="256032"/>
          </a:xfrm>
          <a:prstGeom prst="rect">
            <a:avLst/>
          </a:prstGeom>
          <a:noFill/>
          <a:ln/>
        </p:spPr>
        <p:txBody>
          <a:bodyPr wrap="square" lIns="0" tIns="0" rIns="0" bIns="0" rtlCol="0" anchor="ctr"/>
          <a:lstStyle/>
          <a:p>
            <a:pPr indent="0" marL="0">
              <a:buNone/>
            </a:pPr>
            <a:r>
              <a:rPr lang="en-US" sz="850" b="1" dirty="0">
                <a:solidFill>
                  <a:srgbClr val="D4A010"/>
                </a:solidFill>
                <a:latin typeface="Calibri" pitchFamily="34" charset="0"/>
                <a:ea typeface="Calibri" pitchFamily="34" charset="-122"/>
                <a:cs typeface="Calibri" pitchFamily="34" charset="-120"/>
              </a:rPr>
              <a:t>r findings: </a:t>
            </a:r>
            <a:pPr indent="0" marL="0">
              <a:buNone/>
            </a:pPr>
            <a:r>
              <a:rPr lang="en-US" sz="850" dirty="0">
                <a:solidFill>
                  <a:srgbClr val="0C1428"/>
                </a:solidFill>
                <a:latin typeface="Calibri" pitchFamily="34" charset="0"/>
                <a:ea typeface="Calibri" pitchFamily="34" charset="-122"/>
                <a:cs typeface="Calibri" pitchFamily="34" charset="-120"/>
              </a:rPr>
              <a:t>GDP_growth vs NPL r=-.782**. Unemployment vs NPL r=+.712**. GDP_t-1 vs NPL r=-.846 (lagged stronger).</a:t>
            </a:r>
            <a:endParaRPr lang="en-US" sz="850" dirty="0"/>
          </a:p>
        </p:txBody>
      </p:sp>
      <p:sp>
        <p:nvSpPr>
          <p:cNvPr id="44" name="Text 42"/>
          <p:cNvSpPr/>
          <p:nvPr/>
        </p:nvSpPr>
        <p:spPr>
          <a:xfrm>
            <a:off x="4782312" y="4407408"/>
            <a:ext cx="3950208" cy="256032"/>
          </a:xfrm>
          <a:prstGeom prst="rect">
            <a:avLst/>
          </a:prstGeom>
          <a:noFill/>
          <a:ln/>
        </p:spPr>
        <p:txBody>
          <a:bodyPr wrap="square" lIns="0" tIns="0" rIns="0" bIns="0" rtlCol="0" anchor="ctr"/>
          <a:lstStyle/>
          <a:p>
            <a:pPr indent="0" marL="0">
              <a:buNone/>
            </a:pPr>
            <a:r>
              <a:rPr lang="en-US" sz="850" b="1" dirty="0">
                <a:solidFill>
                  <a:srgbClr val="D4A010"/>
                </a:solidFill>
                <a:latin typeface="Calibri" pitchFamily="34" charset="0"/>
                <a:ea typeface="Calibri" pitchFamily="34" charset="-122"/>
                <a:cs typeface="Calibri" pitchFamily="34" charset="-120"/>
              </a:rPr>
              <a:t>Insight: </a:t>
            </a:r>
            <a:pPr indent="0" marL="0">
              <a:buNone/>
            </a:pPr>
            <a:r>
              <a:rPr lang="en-US" sz="850" i="1" dirty="0">
                <a:solidFill>
                  <a:srgbClr val="64748B"/>
                </a:solidFill>
                <a:latin typeface="Calibri" pitchFamily="34" charset="0"/>
                <a:ea typeface="Calibri" pitchFamily="34" charset="-122"/>
                <a:cs typeface="Calibri" pitchFamily="34" charset="-120"/>
              </a:rPr>
              <a:t>Lagged GDP (t-1) correlates more strongly with NPL than contemporaneous GDP. Transmission lag ~1 quarter.</a:t>
            </a:r>
            <a:endParaRPr lang="en-US" sz="850" dirty="0"/>
          </a:p>
        </p:txBody>
      </p:sp>
      <p:sp>
        <p:nvSpPr>
          <p:cNvPr id="45" name="Text 43"/>
          <p:cNvSpPr/>
          <p:nvPr/>
        </p:nvSpPr>
        <p:spPr>
          <a:xfrm>
            <a:off x="4782312" y="4681728"/>
            <a:ext cx="3950208" cy="274320"/>
          </a:xfrm>
          <a:prstGeom prst="rect">
            <a:avLst/>
          </a:prstGeom>
          <a:noFill/>
          <a:ln/>
        </p:spPr>
        <p:txBody>
          <a:bodyPr wrap="square" lIns="0" tIns="0" rIns="0" bIns="0" rtlCol="0" anchor="ctr"/>
          <a:lstStyle/>
          <a:p>
            <a:pPr indent="0" marL="0">
              <a:buNone/>
            </a:pPr>
            <a:r>
              <a:rPr lang="en-US" sz="850" b="1" dirty="0">
                <a:solidFill>
                  <a:srgbClr val="0A8A50"/>
                </a:solidFill>
                <a:latin typeface="Calibri" pitchFamily="34" charset="0"/>
                <a:ea typeface="Calibri" pitchFamily="34" charset="-122"/>
                <a:cs typeface="Calibri" pitchFamily="34" charset="-120"/>
              </a:rPr>
              <a:t>Impact: </a:t>
            </a:r>
            <a:pPr indent="0" marL="0">
              <a:buNone/>
            </a:pPr>
            <a:r>
              <a:rPr lang="en-US" sz="850" dirty="0">
                <a:solidFill>
                  <a:srgbClr val="0C1428"/>
                </a:solidFill>
                <a:latin typeface="Calibri" pitchFamily="34" charset="0"/>
                <a:ea typeface="Calibri" pitchFamily="34" charset="-122"/>
                <a:cs typeface="Calibri" pitchFamily="34" charset="-120"/>
              </a:rPr>
              <a:t>Lag structure informs VAR model for NPL forecasting used in CBN ICAAP submissions.</a:t>
            </a:r>
            <a:endParaRPr lang="en-US" sz="850" dirty="0"/>
          </a:p>
        </p:txBody>
      </p:sp>
      <p:sp>
        <p:nvSpPr>
          <p:cNvPr id="46" name="Shape 44"/>
          <p:cNvSpPr/>
          <p:nvPr/>
        </p:nvSpPr>
        <p:spPr>
          <a:xfrm>
            <a:off x="256032" y="5175504"/>
            <a:ext cx="8631936" cy="310896"/>
          </a:xfrm>
          <a:prstGeom prst="roundRect">
            <a:avLst>
              <a:gd name="adj" fmla="val 17647"/>
            </a:avLst>
          </a:prstGeom>
          <a:solidFill>
            <a:srgbClr val="FFFBEC"/>
          </a:solidFill>
          <a:ln w="19050">
            <a:solidFill>
              <a:srgbClr val="D4A010"/>
            </a:solidFill>
            <a:prstDash val="solid"/>
          </a:ln>
        </p:spPr>
      </p:sp>
      <p:sp>
        <p:nvSpPr>
          <p:cNvPr id="47" name="Text 45"/>
          <p:cNvSpPr/>
          <p:nvPr/>
        </p:nvSpPr>
        <p:spPr>
          <a:xfrm>
            <a:off x="365760" y="5175504"/>
            <a:ext cx="8449056" cy="310896"/>
          </a:xfrm>
          <a:prstGeom prst="rect">
            <a:avLst/>
          </a:prstGeom>
          <a:noFill/>
          <a:ln/>
        </p:spPr>
        <p:txBody>
          <a:bodyPr wrap="square" lIns="0" tIns="0" rIns="0" bIns="0" rtlCol="0" anchor="ctr"/>
          <a:lstStyle/>
          <a:p>
            <a:pPr indent="0" marL="0">
              <a:buNone/>
            </a:pPr>
            <a:r>
              <a:rPr lang="en-US" sz="950" dirty="0">
                <a:solidFill>
                  <a:srgbClr val="6B4800"/>
                </a:solidFill>
                <a:latin typeface="Calibri" pitchFamily="34" charset="0"/>
                <a:ea typeface="Calibri" pitchFamily="34" charset="-122"/>
                <a:cs typeface="Calibri" pitchFamily="34" charset="-120"/>
              </a:rPr>
              <a:t>COMMON THREAD: Correlation is always the FIRST step. Before any regression model is built, the correlation matrix reveals which features relate to the outcome, which features are correlated with each other (multicollinearity risk), and which transformations are needed.</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914400" y="-914400"/>
            <a:ext cx="3657600" cy="3657600"/>
          </a:xfrm>
          <a:prstGeom prst="ellipse">
            <a:avLst/>
          </a:prstGeom>
          <a:solidFill>
            <a:srgbClr val="D4A010">
              <a:alpha val="12000"/>
            </a:srgbClr>
          </a:solidFill>
          <a:ln w="12700">
            <a:solidFill>
              <a:srgbClr val="D4A010"/>
            </a:solidFill>
            <a:prstDash val="solid"/>
          </a:ln>
        </p:spPr>
      </p:sp>
      <p:sp>
        <p:nvSpPr>
          <p:cNvPr id="3" name="Text 1"/>
          <p:cNvSpPr/>
          <p:nvPr/>
        </p:nvSpPr>
        <p:spPr>
          <a:xfrm>
            <a:off x="457200" y="201168"/>
            <a:ext cx="8229600" cy="59436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Complete APA Reporting Templates for Correlation</a:t>
            </a:r>
            <a:endParaRPr lang="en-US" sz="2700" dirty="0"/>
          </a:p>
        </p:txBody>
      </p:sp>
      <p:sp>
        <p:nvSpPr>
          <p:cNvPr id="4" name="Shape 2"/>
          <p:cNvSpPr/>
          <p:nvPr/>
        </p:nvSpPr>
        <p:spPr>
          <a:xfrm>
            <a:off x="274320" y="987552"/>
            <a:ext cx="8595360" cy="1316736"/>
          </a:xfrm>
          <a:prstGeom prst="roundRect">
            <a:avLst>
              <a:gd name="adj" fmla="val 6250"/>
            </a:avLst>
          </a:prstGeom>
          <a:solidFill>
            <a:srgbClr val="0C1428"/>
          </a:solidFill>
          <a:ln w="12700">
            <a:solidFill>
              <a:srgbClr val="0A7E8C"/>
            </a:solidFill>
            <a:prstDash val="solid"/>
          </a:ln>
        </p:spPr>
      </p:sp>
      <p:sp>
        <p:nvSpPr>
          <p:cNvPr id="5" name="Shape 3"/>
          <p:cNvSpPr/>
          <p:nvPr/>
        </p:nvSpPr>
        <p:spPr>
          <a:xfrm>
            <a:off x="347472" y="1060704"/>
            <a:ext cx="914400" cy="256032"/>
          </a:xfrm>
          <a:prstGeom prst="roundRect">
            <a:avLst>
              <a:gd name="adj" fmla="val 14286"/>
            </a:avLst>
          </a:prstGeom>
          <a:solidFill>
            <a:srgbClr val="0A7E8C"/>
          </a:solidFill>
          <a:ln w="12700">
            <a:solidFill>
              <a:srgbClr val="0A7E8C"/>
            </a:solidFill>
            <a:prstDash val="solid"/>
          </a:ln>
        </p:spPr>
      </p:sp>
      <p:sp>
        <p:nvSpPr>
          <p:cNvPr id="6" name="Text 4"/>
          <p:cNvSpPr/>
          <p:nvPr/>
        </p:nvSpPr>
        <p:spPr>
          <a:xfrm>
            <a:off x="347472" y="1060704"/>
            <a:ext cx="914400" cy="256032"/>
          </a:xfrm>
          <a:prstGeom prst="rect">
            <a:avLst/>
          </a:prstGeom>
          <a:noFill/>
          <a:ln/>
        </p:spPr>
        <p:txBody>
          <a:bodyPr wrap="square" lIns="0" tIns="0" rIns="0" bIns="0" rtlCol="0" anchor="ctr"/>
          <a:lstStyle/>
          <a:p>
            <a:pPr algn="ctr" indent="0" marL="0">
              <a:buNone/>
            </a:pPr>
            <a:r>
              <a:rPr lang="en-US" sz="950" b="1" dirty="0">
                <a:solidFill>
                  <a:srgbClr val="070C18"/>
                </a:solidFill>
                <a:latin typeface="Calibri" pitchFamily="34" charset="0"/>
                <a:ea typeface="Calibri" pitchFamily="34" charset="-122"/>
                <a:cs typeface="Calibri" pitchFamily="34" charset="-120"/>
              </a:rPr>
              <a:t>Pearson r</a:t>
            </a:r>
            <a:endParaRPr lang="en-US" sz="950" dirty="0"/>
          </a:p>
        </p:txBody>
      </p:sp>
      <p:sp>
        <p:nvSpPr>
          <p:cNvPr id="7" name="Text 5"/>
          <p:cNvSpPr/>
          <p:nvPr/>
        </p:nvSpPr>
        <p:spPr>
          <a:xfrm>
            <a:off x="402336" y="1371600"/>
            <a:ext cx="8321040" cy="914400"/>
          </a:xfrm>
          <a:prstGeom prst="rect">
            <a:avLst/>
          </a:prstGeom>
          <a:noFill/>
          <a:ln/>
        </p:spPr>
        <p:txBody>
          <a:bodyPr wrap="square" lIns="0" tIns="0" rIns="0" bIns="0" rtlCol="0" anchor="ctr"/>
          <a:lstStyle/>
          <a:p>
            <a:pPr indent="0" marL="0">
              <a:buNone/>
            </a:pPr>
            <a:r>
              <a:rPr lang="en-US" sz="900" dirty="0">
                <a:solidFill>
                  <a:srgbClr val="90D8E0"/>
                </a:solidFill>
                <a:latin typeface="Calibri" pitchFamily="34" charset="0"/>
                <a:ea typeface="Calibri" pitchFamily="34" charset="-122"/>
                <a:cs typeface="Calibri" pitchFamily="34" charset="-120"/>
              </a:rPr>
              <a:t>A Pearson product-moment correlation coefficient was computed to assess the relationship between [Variable X] and [Variable Y] among [sample description] (N = [n]). There was a [small/moderate/strong], [positive/negative], [statistically significant/non-significant] correlation between the two variables, r([df=n-2]) = [.XXX], p = [value], 95% CI [[lower], [upper]]. [Variable X] accounted for [r²×100]% of the variance in [Variable Y] (r² = [.XXX]).</a:t>
            </a:r>
            <a:endParaRPr lang="en-US" sz="900" dirty="0"/>
          </a:p>
        </p:txBody>
      </p:sp>
      <p:sp>
        <p:nvSpPr>
          <p:cNvPr id="8" name="Shape 6"/>
          <p:cNvSpPr/>
          <p:nvPr/>
        </p:nvSpPr>
        <p:spPr>
          <a:xfrm>
            <a:off x="274320" y="2377440"/>
            <a:ext cx="8595360" cy="1316736"/>
          </a:xfrm>
          <a:prstGeom prst="roundRect">
            <a:avLst>
              <a:gd name="adj" fmla="val 6250"/>
            </a:avLst>
          </a:prstGeom>
          <a:solidFill>
            <a:srgbClr val="0C1428"/>
          </a:solidFill>
          <a:ln w="12700">
            <a:solidFill>
              <a:srgbClr val="6010C8"/>
            </a:solidFill>
            <a:prstDash val="solid"/>
          </a:ln>
        </p:spPr>
      </p:sp>
      <p:sp>
        <p:nvSpPr>
          <p:cNvPr id="9" name="Shape 7"/>
          <p:cNvSpPr/>
          <p:nvPr/>
        </p:nvSpPr>
        <p:spPr>
          <a:xfrm>
            <a:off x="347472" y="2450592"/>
            <a:ext cx="914400" cy="256032"/>
          </a:xfrm>
          <a:prstGeom prst="roundRect">
            <a:avLst>
              <a:gd name="adj" fmla="val 14286"/>
            </a:avLst>
          </a:prstGeom>
          <a:solidFill>
            <a:srgbClr val="6010C8"/>
          </a:solidFill>
          <a:ln w="12700">
            <a:solidFill>
              <a:srgbClr val="6010C8"/>
            </a:solidFill>
            <a:prstDash val="solid"/>
          </a:ln>
        </p:spPr>
      </p:sp>
      <p:sp>
        <p:nvSpPr>
          <p:cNvPr id="10" name="Text 8"/>
          <p:cNvSpPr/>
          <p:nvPr/>
        </p:nvSpPr>
        <p:spPr>
          <a:xfrm>
            <a:off x="347472" y="2450592"/>
            <a:ext cx="914400" cy="256032"/>
          </a:xfrm>
          <a:prstGeom prst="rect">
            <a:avLst/>
          </a:prstGeom>
          <a:noFill/>
          <a:ln/>
        </p:spPr>
        <p:txBody>
          <a:bodyPr wrap="square" lIns="0" tIns="0" rIns="0" bIns="0" rtlCol="0" anchor="ctr"/>
          <a:lstStyle/>
          <a:p>
            <a:pPr algn="ctr" indent="0" marL="0">
              <a:buNone/>
            </a:pPr>
            <a:r>
              <a:rPr lang="en-US" sz="950" b="1" dirty="0">
                <a:solidFill>
                  <a:srgbClr val="070C18"/>
                </a:solidFill>
                <a:latin typeface="Calibri" pitchFamily="34" charset="0"/>
                <a:ea typeface="Calibri" pitchFamily="34" charset="-122"/>
                <a:cs typeface="Calibri" pitchFamily="34" charset="-120"/>
              </a:rPr>
              <a:t>Spearman rho</a:t>
            </a:r>
            <a:endParaRPr lang="en-US" sz="950" dirty="0"/>
          </a:p>
        </p:txBody>
      </p:sp>
      <p:sp>
        <p:nvSpPr>
          <p:cNvPr id="11" name="Text 9"/>
          <p:cNvSpPr/>
          <p:nvPr/>
        </p:nvSpPr>
        <p:spPr>
          <a:xfrm>
            <a:off x="402336" y="2761488"/>
            <a:ext cx="8321040" cy="914400"/>
          </a:xfrm>
          <a:prstGeom prst="rect">
            <a:avLst/>
          </a:prstGeom>
          <a:noFill/>
          <a:ln/>
        </p:spPr>
        <p:txBody>
          <a:bodyPr wrap="square" lIns="0" tIns="0" rIns="0" bIns="0" rtlCol="0" anchor="ctr"/>
          <a:lstStyle/>
          <a:p>
            <a:pPr indent="0" marL="0">
              <a:buNone/>
            </a:pPr>
            <a:r>
              <a:rPr lang="en-US" sz="900" dirty="0">
                <a:solidFill>
                  <a:srgbClr val="90D8E0"/>
                </a:solidFill>
                <a:latin typeface="Calibri" pitchFamily="34" charset="0"/>
                <a:ea typeface="Calibri" pitchFamily="34" charset="-122"/>
                <a:cs typeface="Calibri" pitchFamily="34" charset="-120"/>
              </a:rPr>
              <a:t>A Spearman rank-order correlation was conducted to assess the relationship between [Variable X] and [Variable Y] (N = [n]). [State any violated assumptions: e.g., 'Spearman rho was used because the data were measured on an ordinal scale / because normality was violated (Shapiro-Wilk W = [value], p = [value])'.] There was a [strong/moderate/weak], [positive/negative] correlation between the two variables, rho([df=n-2]) = [.XXX], p = [value]. [Interpret direction and magnitude in plain language.]</a:t>
            </a:r>
            <a:endParaRPr lang="en-US" sz="900" dirty="0"/>
          </a:p>
        </p:txBody>
      </p:sp>
      <p:sp>
        <p:nvSpPr>
          <p:cNvPr id="12" name="Shape 10"/>
          <p:cNvSpPr/>
          <p:nvPr/>
        </p:nvSpPr>
        <p:spPr>
          <a:xfrm>
            <a:off x="274320" y="3767328"/>
            <a:ext cx="8595360" cy="1316736"/>
          </a:xfrm>
          <a:prstGeom prst="roundRect">
            <a:avLst>
              <a:gd name="adj" fmla="val 6250"/>
            </a:avLst>
          </a:prstGeom>
          <a:solidFill>
            <a:srgbClr val="0C1428"/>
          </a:solidFill>
          <a:ln w="12700">
            <a:solidFill>
              <a:srgbClr val="0A8A50"/>
            </a:solidFill>
            <a:prstDash val="solid"/>
          </a:ln>
        </p:spPr>
      </p:sp>
      <p:sp>
        <p:nvSpPr>
          <p:cNvPr id="13" name="Shape 11"/>
          <p:cNvSpPr/>
          <p:nvPr/>
        </p:nvSpPr>
        <p:spPr>
          <a:xfrm>
            <a:off x="347472" y="3840480"/>
            <a:ext cx="914400" cy="256032"/>
          </a:xfrm>
          <a:prstGeom prst="roundRect">
            <a:avLst>
              <a:gd name="adj" fmla="val 14286"/>
            </a:avLst>
          </a:prstGeom>
          <a:solidFill>
            <a:srgbClr val="0A8A50"/>
          </a:solidFill>
          <a:ln w="12700">
            <a:solidFill>
              <a:srgbClr val="0A8A50"/>
            </a:solidFill>
            <a:prstDash val="solid"/>
          </a:ln>
        </p:spPr>
      </p:sp>
      <p:sp>
        <p:nvSpPr>
          <p:cNvPr id="14" name="Text 12"/>
          <p:cNvSpPr/>
          <p:nvPr/>
        </p:nvSpPr>
        <p:spPr>
          <a:xfrm>
            <a:off x="347472" y="3840480"/>
            <a:ext cx="914400" cy="256032"/>
          </a:xfrm>
          <a:prstGeom prst="rect">
            <a:avLst/>
          </a:prstGeom>
          <a:noFill/>
          <a:ln/>
        </p:spPr>
        <p:txBody>
          <a:bodyPr wrap="square" lIns="0" tIns="0" rIns="0" bIns="0" rtlCol="0" anchor="ctr"/>
          <a:lstStyle/>
          <a:p>
            <a:pPr algn="ctr" indent="0" marL="0">
              <a:buNone/>
            </a:pPr>
            <a:r>
              <a:rPr lang="en-US" sz="950" b="1" dirty="0">
                <a:solidFill>
                  <a:srgbClr val="070C18"/>
                </a:solidFill>
                <a:latin typeface="Calibri" pitchFamily="34" charset="0"/>
                <a:ea typeface="Calibri" pitchFamily="34" charset="-122"/>
                <a:cs typeface="Calibri" pitchFamily="34" charset="-120"/>
              </a:rPr>
              <a:t>Partial Correlation</a:t>
            </a:r>
            <a:endParaRPr lang="en-US" sz="950" dirty="0"/>
          </a:p>
        </p:txBody>
      </p:sp>
      <p:sp>
        <p:nvSpPr>
          <p:cNvPr id="15" name="Text 13"/>
          <p:cNvSpPr/>
          <p:nvPr/>
        </p:nvSpPr>
        <p:spPr>
          <a:xfrm>
            <a:off x="402336" y="4151376"/>
            <a:ext cx="8321040" cy="914400"/>
          </a:xfrm>
          <a:prstGeom prst="rect">
            <a:avLst/>
          </a:prstGeom>
          <a:noFill/>
          <a:ln/>
        </p:spPr>
        <p:txBody>
          <a:bodyPr wrap="square" lIns="0" tIns="0" rIns="0" bIns="0" rtlCol="0" anchor="ctr"/>
          <a:lstStyle/>
          <a:p>
            <a:pPr indent="0" marL="0">
              <a:buNone/>
            </a:pPr>
            <a:r>
              <a:rPr lang="en-US" sz="900" dirty="0">
                <a:solidFill>
                  <a:srgbClr val="90D8E0"/>
                </a:solidFill>
                <a:latin typeface="Calibri" pitchFamily="34" charset="0"/>
                <a:ea typeface="Calibri" pitchFamily="34" charset="-122"/>
                <a:cs typeface="Calibri" pitchFamily="34" charset="-120"/>
              </a:rPr>
              <a:t>A partial correlation was conducted to control for the effect of [Variable Z] on the relationship between [Variable X] and [Variable Y] (N = [n]). Preliminary analyses confirmed that the assumptions of normality and linearity were met. There was a [strong/moderate/weak], [positive/negative] partial correlation between [X] and [Y], after controlling for [Z], r([df=n-2-k]) = [.XXX], p = [value], [compared to the zero-order correlation of r = .XXX]. [Discuss whether and how controlling for Z changed the interpretation of the X-Y relationship.]</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914400" y="-914400"/>
            <a:ext cx="3657600" cy="3657600"/>
          </a:xfrm>
          <a:prstGeom prst="ellipse">
            <a:avLst/>
          </a:prstGeom>
          <a:solidFill>
            <a:srgbClr val="D4A010">
              <a:alpha val="12000"/>
            </a:srgbClr>
          </a:solidFill>
          <a:ln w="12700">
            <a:solidFill>
              <a:srgbClr val="D4A010"/>
            </a:solidFill>
            <a:prstDash val="solid"/>
          </a:ln>
        </p:spPr>
      </p:sp>
      <p:sp>
        <p:nvSpPr>
          <p:cNvPr id="3" name="Shape 1"/>
          <p:cNvSpPr/>
          <p:nvPr/>
        </p:nvSpPr>
        <p:spPr>
          <a:xfrm>
            <a:off x="6858000" y="3200400"/>
            <a:ext cx="3657600" cy="3657600"/>
          </a:xfrm>
          <a:prstGeom prst="ellipse">
            <a:avLst/>
          </a:prstGeom>
          <a:solidFill>
            <a:srgbClr val="0A7E8C">
              <a:alpha val="16000"/>
            </a:srgbClr>
          </a:solidFill>
          <a:ln w="12700">
            <a:solidFill>
              <a:srgbClr val="0A7E8C"/>
            </a:solidFill>
            <a:prstDash val="solid"/>
          </a:ln>
        </p:spPr>
      </p:sp>
      <p:sp>
        <p:nvSpPr>
          <p:cNvPr id="4" name="Text 2"/>
          <p:cNvSpPr/>
          <p:nvPr/>
        </p:nvSpPr>
        <p:spPr>
          <a:xfrm>
            <a:off x="457200" y="164592"/>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10 Golden Rules of Correlation Analysis</a:t>
            </a:r>
            <a:endParaRPr lang="en-US" sz="3000" dirty="0"/>
          </a:p>
        </p:txBody>
      </p:sp>
      <p:sp>
        <p:nvSpPr>
          <p:cNvPr id="5" name="Shape 3"/>
          <p:cNvSpPr/>
          <p:nvPr/>
        </p:nvSpPr>
        <p:spPr>
          <a:xfrm>
            <a:off x="320040" y="932688"/>
            <a:ext cx="4160520" cy="731520"/>
          </a:xfrm>
          <a:prstGeom prst="roundRect">
            <a:avLst>
              <a:gd name="adj" fmla="val 8750"/>
            </a:avLst>
          </a:prstGeom>
          <a:solidFill>
            <a:srgbClr val="0C1428"/>
          </a:solidFill>
          <a:ln w="6350">
            <a:solidFill>
              <a:srgbClr val="14B8C8"/>
            </a:solidFill>
            <a:prstDash val="solid"/>
          </a:ln>
        </p:spPr>
      </p:sp>
      <p:sp>
        <p:nvSpPr>
          <p:cNvPr id="6" name="Shape 4"/>
          <p:cNvSpPr/>
          <p:nvPr/>
        </p:nvSpPr>
        <p:spPr>
          <a:xfrm>
            <a:off x="411480" y="1133856"/>
            <a:ext cx="292608" cy="292608"/>
          </a:xfrm>
          <a:prstGeom prst="ellipse">
            <a:avLst/>
          </a:prstGeom>
          <a:solidFill>
            <a:srgbClr val="F0C840"/>
          </a:solidFill>
          <a:ln w="12700">
            <a:solidFill>
              <a:srgbClr val="F0C840"/>
            </a:solidFill>
            <a:prstDash val="solid"/>
          </a:ln>
        </p:spPr>
      </p:sp>
      <p:sp>
        <p:nvSpPr>
          <p:cNvPr id="7" name="Text 5"/>
          <p:cNvSpPr/>
          <p:nvPr/>
        </p:nvSpPr>
        <p:spPr>
          <a:xfrm>
            <a:off x="411480" y="1133856"/>
            <a:ext cx="292608" cy="292608"/>
          </a:xfrm>
          <a:prstGeom prst="rect">
            <a:avLst/>
          </a:prstGeom>
          <a:noFill/>
          <a:ln/>
        </p:spPr>
        <p:txBody>
          <a:bodyPr wrap="square" lIns="0" tIns="0" rIns="0" bIns="0" rtlCol="0" anchor="ctr"/>
          <a:lstStyle/>
          <a:p>
            <a:pPr algn="ctr" indent="0" marL="0">
              <a:buNone/>
            </a:pPr>
            <a:r>
              <a:rPr lang="en-US" sz="800" b="1" dirty="0">
                <a:solidFill>
                  <a:srgbClr val="070C18"/>
                </a:solidFill>
                <a:latin typeface="Calibri" pitchFamily="34" charset="0"/>
                <a:ea typeface="Calibri" pitchFamily="34" charset="-122"/>
                <a:cs typeface="Calibri" pitchFamily="34" charset="-120"/>
              </a:rPr>
              <a:t>1</a:t>
            </a:r>
            <a:endParaRPr lang="en-US" sz="800" dirty="0"/>
          </a:p>
        </p:txBody>
      </p:sp>
      <p:sp>
        <p:nvSpPr>
          <p:cNvPr id="8" name="Text 6"/>
          <p:cNvSpPr/>
          <p:nvPr/>
        </p:nvSpPr>
        <p:spPr>
          <a:xfrm>
            <a:off x="777240" y="1005840"/>
            <a:ext cx="3611880" cy="585216"/>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ALWAYS make a scatter plot FIRST. Pearson r = 0.816 can describe radically different scatter patterns (Anscombe's Quartet). No formula can substitute for visual inspection. Plot before you compute.</a:t>
            </a:r>
            <a:endParaRPr lang="en-US" sz="850" dirty="0"/>
          </a:p>
        </p:txBody>
      </p:sp>
      <p:sp>
        <p:nvSpPr>
          <p:cNvPr id="9" name="Shape 7"/>
          <p:cNvSpPr/>
          <p:nvPr/>
        </p:nvSpPr>
        <p:spPr>
          <a:xfrm>
            <a:off x="320040" y="1755648"/>
            <a:ext cx="4160520" cy="731520"/>
          </a:xfrm>
          <a:prstGeom prst="roundRect">
            <a:avLst>
              <a:gd name="adj" fmla="val 8750"/>
            </a:avLst>
          </a:prstGeom>
          <a:solidFill>
            <a:srgbClr val="0C1428"/>
          </a:solidFill>
          <a:ln w="6350">
            <a:solidFill>
              <a:srgbClr val="14B8C8"/>
            </a:solidFill>
            <a:prstDash val="solid"/>
          </a:ln>
        </p:spPr>
      </p:sp>
      <p:sp>
        <p:nvSpPr>
          <p:cNvPr id="10" name="Shape 8"/>
          <p:cNvSpPr/>
          <p:nvPr/>
        </p:nvSpPr>
        <p:spPr>
          <a:xfrm>
            <a:off x="411480" y="1956816"/>
            <a:ext cx="292608" cy="292608"/>
          </a:xfrm>
          <a:prstGeom prst="ellipse">
            <a:avLst/>
          </a:prstGeom>
          <a:solidFill>
            <a:srgbClr val="F0C840"/>
          </a:solidFill>
          <a:ln w="12700">
            <a:solidFill>
              <a:srgbClr val="F0C840"/>
            </a:solidFill>
            <a:prstDash val="solid"/>
          </a:ln>
        </p:spPr>
      </p:sp>
      <p:sp>
        <p:nvSpPr>
          <p:cNvPr id="11" name="Text 9"/>
          <p:cNvSpPr/>
          <p:nvPr/>
        </p:nvSpPr>
        <p:spPr>
          <a:xfrm>
            <a:off x="411480" y="1956816"/>
            <a:ext cx="292608" cy="292608"/>
          </a:xfrm>
          <a:prstGeom prst="rect">
            <a:avLst/>
          </a:prstGeom>
          <a:noFill/>
          <a:ln/>
        </p:spPr>
        <p:txBody>
          <a:bodyPr wrap="square" lIns="0" tIns="0" rIns="0" bIns="0" rtlCol="0" anchor="ctr"/>
          <a:lstStyle/>
          <a:p>
            <a:pPr algn="ctr" indent="0" marL="0">
              <a:buNone/>
            </a:pPr>
            <a:r>
              <a:rPr lang="en-US" sz="800" b="1" dirty="0">
                <a:solidFill>
                  <a:srgbClr val="070C18"/>
                </a:solidFill>
                <a:latin typeface="Calibri" pitchFamily="34" charset="0"/>
                <a:ea typeface="Calibri" pitchFamily="34" charset="-122"/>
                <a:cs typeface="Calibri" pitchFamily="34" charset="-120"/>
              </a:rPr>
              <a:t>2</a:t>
            </a:r>
            <a:endParaRPr lang="en-US" sz="800" dirty="0"/>
          </a:p>
        </p:txBody>
      </p:sp>
      <p:sp>
        <p:nvSpPr>
          <p:cNvPr id="12" name="Text 10"/>
          <p:cNvSpPr/>
          <p:nvPr/>
        </p:nvSpPr>
        <p:spPr>
          <a:xfrm>
            <a:off x="777240" y="1828800"/>
            <a:ext cx="3611880" cy="585216"/>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Report r² alongside r. A correlation of r = 0.30 sounds moderate but only 9% of variance is shared. r² converts r into a percentage of shared variance - the metric that communicates practical importance.</a:t>
            </a:r>
            <a:endParaRPr lang="en-US" sz="850" dirty="0"/>
          </a:p>
        </p:txBody>
      </p:sp>
      <p:sp>
        <p:nvSpPr>
          <p:cNvPr id="13" name="Shape 11"/>
          <p:cNvSpPr/>
          <p:nvPr/>
        </p:nvSpPr>
        <p:spPr>
          <a:xfrm>
            <a:off x="320040" y="2578608"/>
            <a:ext cx="4160520" cy="731520"/>
          </a:xfrm>
          <a:prstGeom prst="roundRect">
            <a:avLst>
              <a:gd name="adj" fmla="val 8750"/>
            </a:avLst>
          </a:prstGeom>
          <a:solidFill>
            <a:srgbClr val="0C1428"/>
          </a:solidFill>
          <a:ln w="6350">
            <a:solidFill>
              <a:srgbClr val="14B8C8"/>
            </a:solidFill>
            <a:prstDash val="solid"/>
          </a:ln>
        </p:spPr>
      </p:sp>
      <p:sp>
        <p:nvSpPr>
          <p:cNvPr id="14" name="Shape 12"/>
          <p:cNvSpPr/>
          <p:nvPr/>
        </p:nvSpPr>
        <p:spPr>
          <a:xfrm>
            <a:off x="411480" y="2779776"/>
            <a:ext cx="292608" cy="292608"/>
          </a:xfrm>
          <a:prstGeom prst="ellipse">
            <a:avLst/>
          </a:prstGeom>
          <a:solidFill>
            <a:srgbClr val="F0C840"/>
          </a:solidFill>
          <a:ln w="12700">
            <a:solidFill>
              <a:srgbClr val="F0C840"/>
            </a:solidFill>
            <a:prstDash val="solid"/>
          </a:ln>
        </p:spPr>
      </p:sp>
      <p:sp>
        <p:nvSpPr>
          <p:cNvPr id="15" name="Text 13"/>
          <p:cNvSpPr/>
          <p:nvPr/>
        </p:nvSpPr>
        <p:spPr>
          <a:xfrm>
            <a:off x="411480" y="2779776"/>
            <a:ext cx="292608" cy="292608"/>
          </a:xfrm>
          <a:prstGeom prst="rect">
            <a:avLst/>
          </a:prstGeom>
          <a:noFill/>
          <a:ln/>
        </p:spPr>
        <p:txBody>
          <a:bodyPr wrap="square" lIns="0" tIns="0" rIns="0" bIns="0" rtlCol="0" anchor="ctr"/>
          <a:lstStyle/>
          <a:p>
            <a:pPr algn="ctr" indent="0" marL="0">
              <a:buNone/>
            </a:pPr>
            <a:r>
              <a:rPr lang="en-US" sz="800" b="1" dirty="0">
                <a:solidFill>
                  <a:srgbClr val="070C18"/>
                </a:solidFill>
                <a:latin typeface="Calibri" pitchFamily="34" charset="0"/>
                <a:ea typeface="Calibri" pitchFamily="34" charset="-122"/>
                <a:cs typeface="Calibri" pitchFamily="34" charset="-120"/>
              </a:rPr>
              <a:t>3</a:t>
            </a:r>
            <a:endParaRPr lang="en-US" sz="800" dirty="0"/>
          </a:p>
        </p:txBody>
      </p:sp>
      <p:sp>
        <p:nvSpPr>
          <p:cNvPr id="16" name="Text 14"/>
          <p:cNvSpPr/>
          <p:nvPr/>
        </p:nvSpPr>
        <p:spPr>
          <a:xfrm>
            <a:off x="777240" y="2651760"/>
            <a:ext cx="3611880" cy="585216"/>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r = 0 does NOT mean no relationship. It means no LINEAR relationship. A perfect U-shaped curve has r = 0. Check the scatter plot. If a curved pattern exists, use Spearman rho or a non-linear analysis.</a:t>
            </a:r>
            <a:endParaRPr lang="en-US" sz="850" dirty="0"/>
          </a:p>
        </p:txBody>
      </p:sp>
      <p:sp>
        <p:nvSpPr>
          <p:cNvPr id="17" name="Shape 15"/>
          <p:cNvSpPr/>
          <p:nvPr/>
        </p:nvSpPr>
        <p:spPr>
          <a:xfrm>
            <a:off x="320040" y="3401568"/>
            <a:ext cx="4160520" cy="731520"/>
          </a:xfrm>
          <a:prstGeom prst="roundRect">
            <a:avLst>
              <a:gd name="adj" fmla="val 8750"/>
            </a:avLst>
          </a:prstGeom>
          <a:solidFill>
            <a:srgbClr val="0C1428"/>
          </a:solidFill>
          <a:ln w="6350">
            <a:solidFill>
              <a:srgbClr val="14B8C8"/>
            </a:solidFill>
            <a:prstDash val="solid"/>
          </a:ln>
        </p:spPr>
      </p:sp>
      <p:sp>
        <p:nvSpPr>
          <p:cNvPr id="18" name="Shape 16"/>
          <p:cNvSpPr/>
          <p:nvPr/>
        </p:nvSpPr>
        <p:spPr>
          <a:xfrm>
            <a:off x="411480" y="3602736"/>
            <a:ext cx="292608" cy="292608"/>
          </a:xfrm>
          <a:prstGeom prst="ellipse">
            <a:avLst/>
          </a:prstGeom>
          <a:solidFill>
            <a:srgbClr val="F0C840"/>
          </a:solidFill>
          <a:ln w="12700">
            <a:solidFill>
              <a:srgbClr val="F0C840"/>
            </a:solidFill>
            <a:prstDash val="solid"/>
          </a:ln>
        </p:spPr>
      </p:sp>
      <p:sp>
        <p:nvSpPr>
          <p:cNvPr id="19" name="Text 17"/>
          <p:cNvSpPr/>
          <p:nvPr/>
        </p:nvSpPr>
        <p:spPr>
          <a:xfrm>
            <a:off x="411480" y="3602736"/>
            <a:ext cx="292608" cy="292608"/>
          </a:xfrm>
          <a:prstGeom prst="rect">
            <a:avLst/>
          </a:prstGeom>
          <a:noFill/>
          <a:ln/>
        </p:spPr>
        <p:txBody>
          <a:bodyPr wrap="square" lIns="0" tIns="0" rIns="0" bIns="0" rtlCol="0" anchor="ctr"/>
          <a:lstStyle/>
          <a:p>
            <a:pPr algn="ctr" indent="0" marL="0">
              <a:buNone/>
            </a:pPr>
            <a:r>
              <a:rPr lang="en-US" sz="800" b="1" dirty="0">
                <a:solidFill>
                  <a:srgbClr val="070C18"/>
                </a:solidFill>
                <a:latin typeface="Calibri" pitchFamily="34" charset="0"/>
                <a:ea typeface="Calibri" pitchFamily="34" charset="-122"/>
                <a:cs typeface="Calibri" pitchFamily="34" charset="-120"/>
              </a:rPr>
              <a:t>4</a:t>
            </a:r>
            <a:endParaRPr lang="en-US" sz="800" dirty="0"/>
          </a:p>
        </p:txBody>
      </p:sp>
      <p:sp>
        <p:nvSpPr>
          <p:cNvPr id="20" name="Text 18"/>
          <p:cNvSpPr/>
          <p:nvPr/>
        </p:nvSpPr>
        <p:spPr>
          <a:xfrm>
            <a:off x="777240" y="3474720"/>
            <a:ext cx="3611880" cy="585216"/>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Choose the right correlation type: Pearson for continuous, approximately normal, linear. Spearman for ordinal, non-normal, or with outliers. Kendall for small samples with many ties. Point-biserial for binary vs continuous.</a:t>
            </a:r>
            <a:endParaRPr lang="en-US" sz="850" dirty="0"/>
          </a:p>
        </p:txBody>
      </p:sp>
      <p:sp>
        <p:nvSpPr>
          <p:cNvPr id="21" name="Shape 19"/>
          <p:cNvSpPr/>
          <p:nvPr/>
        </p:nvSpPr>
        <p:spPr>
          <a:xfrm>
            <a:off x="320040" y="4224528"/>
            <a:ext cx="4160520" cy="731520"/>
          </a:xfrm>
          <a:prstGeom prst="roundRect">
            <a:avLst>
              <a:gd name="adj" fmla="val 8750"/>
            </a:avLst>
          </a:prstGeom>
          <a:solidFill>
            <a:srgbClr val="0C1428"/>
          </a:solidFill>
          <a:ln w="6350">
            <a:solidFill>
              <a:srgbClr val="14B8C8"/>
            </a:solidFill>
            <a:prstDash val="solid"/>
          </a:ln>
        </p:spPr>
      </p:sp>
      <p:sp>
        <p:nvSpPr>
          <p:cNvPr id="22" name="Shape 20"/>
          <p:cNvSpPr/>
          <p:nvPr/>
        </p:nvSpPr>
        <p:spPr>
          <a:xfrm>
            <a:off x="411480" y="4425696"/>
            <a:ext cx="292608" cy="292608"/>
          </a:xfrm>
          <a:prstGeom prst="ellipse">
            <a:avLst/>
          </a:prstGeom>
          <a:solidFill>
            <a:srgbClr val="F0C840"/>
          </a:solidFill>
          <a:ln w="12700">
            <a:solidFill>
              <a:srgbClr val="F0C840"/>
            </a:solidFill>
            <a:prstDash val="solid"/>
          </a:ln>
        </p:spPr>
      </p:sp>
      <p:sp>
        <p:nvSpPr>
          <p:cNvPr id="23" name="Text 21"/>
          <p:cNvSpPr/>
          <p:nvPr/>
        </p:nvSpPr>
        <p:spPr>
          <a:xfrm>
            <a:off x="411480" y="4425696"/>
            <a:ext cx="292608" cy="292608"/>
          </a:xfrm>
          <a:prstGeom prst="rect">
            <a:avLst/>
          </a:prstGeom>
          <a:noFill/>
          <a:ln/>
        </p:spPr>
        <p:txBody>
          <a:bodyPr wrap="square" lIns="0" tIns="0" rIns="0" bIns="0" rtlCol="0" anchor="ctr"/>
          <a:lstStyle/>
          <a:p>
            <a:pPr algn="ctr" indent="0" marL="0">
              <a:buNone/>
            </a:pPr>
            <a:r>
              <a:rPr lang="en-US" sz="800" b="1" dirty="0">
                <a:solidFill>
                  <a:srgbClr val="070C18"/>
                </a:solidFill>
                <a:latin typeface="Calibri" pitchFamily="34" charset="0"/>
                <a:ea typeface="Calibri" pitchFamily="34" charset="-122"/>
                <a:cs typeface="Calibri" pitchFamily="34" charset="-120"/>
              </a:rPr>
              <a:t>5</a:t>
            </a:r>
            <a:endParaRPr lang="en-US" sz="800" dirty="0"/>
          </a:p>
        </p:txBody>
      </p:sp>
      <p:sp>
        <p:nvSpPr>
          <p:cNvPr id="24" name="Text 22"/>
          <p:cNvSpPr/>
          <p:nvPr/>
        </p:nvSpPr>
        <p:spPr>
          <a:xfrm>
            <a:off x="777240" y="4297680"/>
            <a:ext cx="3611880" cy="585216"/>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Statistical significance does not mean practical importance. With n = 10,000, even r = 0.02 is 'significant' but r² = 0.04% (trivial). ALWAYS report effect size (r²) alongside the p-value.</a:t>
            </a:r>
            <a:endParaRPr lang="en-US" sz="850" dirty="0"/>
          </a:p>
        </p:txBody>
      </p:sp>
      <p:sp>
        <p:nvSpPr>
          <p:cNvPr id="25" name="Shape 23"/>
          <p:cNvSpPr/>
          <p:nvPr/>
        </p:nvSpPr>
        <p:spPr>
          <a:xfrm>
            <a:off x="4782312" y="932688"/>
            <a:ext cx="4160520" cy="731520"/>
          </a:xfrm>
          <a:prstGeom prst="roundRect">
            <a:avLst>
              <a:gd name="adj" fmla="val 8750"/>
            </a:avLst>
          </a:prstGeom>
          <a:solidFill>
            <a:srgbClr val="0C1428"/>
          </a:solidFill>
          <a:ln w="6350">
            <a:solidFill>
              <a:srgbClr val="14B8C8"/>
            </a:solidFill>
            <a:prstDash val="solid"/>
          </a:ln>
        </p:spPr>
      </p:sp>
      <p:sp>
        <p:nvSpPr>
          <p:cNvPr id="26" name="Shape 24"/>
          <p:cNvSpPr/>
          <p:nvPr/>
        </p:nvSpPr>
        <p:spPr>
          <a:xfrm>
            <a:off x="4873752" y="1133856"/>
            <a:ext cx="292608" cy="292608"/>
          </a:xfrm>
          <a:prstGeom prst="ellipse">
            <a:avLst/>
          </a:prstGeom>
          <a:solidFill>
            <a:srgbClr val="F0C840"/>
          </a:solidFill>
          <a:ln w="12700">
            <a:solidFill>
              <a:srgbClr val="F0C840"/>
            </a:solidFill>
            <a:prstDash val="solid"/>
          </a:ln>
        </p:spPr>
      </p:sp>
      <p:sp>
        <p:nvSpPr>
          <p:cNvPr id="27" name="Text 25"/>
          <p:cNvSpPr/>
          <p:nvPr/>
        </p:nvSpPr>
        <p:spPr>
          <a:xfrm>
            <a:off x="4873752" y="1133856"/>
            <a:ext cx="292608" cy="292608"/>
          </a:xfrm>
          <a:prstGeom prst="rect">
            <a:avLst/>
          </a:prstGeom>
          <a:noFill/>
          <a:ln/>
        </p:spPr>
        <p:txBody>
          <a:bodyPr wrap="square" lIns="0" tIns="0" rIns="0" bIns="0" rtlCol="0" anchor="ctr"/>
          <a:lstStyle/>
          <a:p>
            <a:pPr algn="ctr" indent="0" marL="0">
              <a:buNone/>
            </a:pPr>
            <a:r>
              <a:rPr lang="en-US" sz="800" b="1" dirty="0">
                <a:solidFill>
                  <a:srgbClr val="070C18"/>
                </a:solidFill>
                <a:latin typeface="Calibri" pitchFamily="34" charset="0"/>
                <a:ea typeface="Calibri" pitchFamily="34" charset="-122"/>
                <a:cs typeface="Calibri" pitchFamily="34" charset="-120"/>
              </a:rPr>
              <a:t>6</a:t>
            </a:r>
            <a:endParaRPr lang="en-US" sz="800" dirty="0"/>
          </a:p>
        </p:txBody>
      </p:sp>
      <p:sp>
        <p:nvSpPr>
          <p:cNvPr id="28" name="Text 26"/>
          <p:cNvSpPr/>
          <p:nvPr/>
        </p:nvSpPr>
        <p:spPr>
          <a:xfrm>
            <a:off x="5239512" y="1005840"/>
            <a:ext cx="3611880" cy="585216"/>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Fisher's Z transformation is required for confidence intervals and comparing two correlations. The sampling distribution of r is skewed (not normal), especially for large |r|. Use Z' = atanh(r).</a:t>
            </a:r>
            <a:endParaRPr lang="en-US" sz="850" dirty="0"/>
          </a:p>
        </p:txBody>
      </p:sp>
      <p:sp>
        <p:nvSpPr>
          <p:cNvPr id="29" name="Shape 27"/>
          <p:cNvSpPr/>
          <p:nvPr/>
        </p:nvSpPr>
        <p:spPr>
          <a:xfrm>
            <a:off x="4782312" y="1755648"/>
            <a:ext cx="4160520" cy="731520"/>
          </a:xfrm>
          <a:prstGeom prst="roundRect">
            <a:avLst>
              <a:gd name="adj" fmla="val 8750"/>
            </a:avLst>
          </a:prstGeom>
          <a:solidFill>
            <a:srgbClr val="0C1428"/>
          </a:solidFill>
          <a:ln w="6350">
            <a:solidFill>
              <a:srgbClr val="14B8C8"/>
            </a:solidFill>
            <a:prstDash val="solid"/>
          </a:ln>
        </p:spPr>
      </p:sp>
      <p:sp>
        <p:nvSpPr>
          <p:cNvPr id="30" name="Shape 28"/>
          <p:cNvSpPr/>
          <p:nvPr/>
        </p:nvSpPr>
        <p:spPr>
          <a:xfrm>
            <a:off x="4873752" y="1956816"/>
            <a:ext cx="292608" cy="292608"/>
          </a:xfrm>
          <a:prstGeom prst="ellipse">
            <a:avLst/>
          </a:prstGeom>
          <a:solidFill>
            <a:srgbClr val="F0C840"/>
          </a:solidFill>
          <a:ln w="12700">
            <a:solidFill>
              <a:srgbClr val="F0C840"/>
            </a:solidFill>
            <a:prstDash val="solid"/>
          </a:ln>
        </p:spPr>
      </p:sp>
      <p:sp>
        <p:nvSpPr>
          <p:cNvPr id="31" name="Text 29"/>
          <p:cNvSpPr/>
          <p:nvPr/>
        </p:nvSpPr>
        <p:spPr>
          <a:xfrm>
            <a:off x="4873752" y="1956816"/>
            <a:ext cx="292608" cy="292608"/>
          </a:xfrm>
          <a:prstGeom prst="rect">
            <a:avLst/>
          </a:prstGeom>
          <a:noFill/>
          <a:ln/>
        </p:spPr>
        <p:txBody>
          <a:bodyPr wrap="square" lIns="0" tIns="0" rIns="0" bIns="0" rtlCol="0" anchor="ctr"/>
          <a:lstStyle/>
          <a:p>
            <a:pPr algn="ctr" indent="0" marL="0">
              <a:buNone/>
            </a:pPr>
            <a:r>
              <a:rPr lang="en-US" sz="800" b="1" dirty="0">
                <a:solidFill>
                  <a:srgbClr val="070C18"/>
                </a:solidFill>
                <a:latin typeface="Calibri" pitchFamily="34" charset="0"/>
                <a:ea typeface="Calibri" pitchFamily="34" charset="-122"/>
                <a:cs typeface="Calibri" pitchFamily="34" charset="-120"/>
              </a:rPr>
              <a:t>7</a:t>
            </a:r>
            <a:endParaRPr lang="en-US" sz="800" dirty="0"/>
          </a:p>
        </p:txBody>
      </p:sp>
      <p:sp>
        <p:nvSpPr>
          <p:cNvPr id="32" name="Text 30"/>
          <p:cNvSpPr/>
          <p:nvPr/>
        </p:nvSpPr>
        <p:spPr>
          <a:xfrm>
            <a:off x="5239512" y="1828800"/>
            <a:ext cx="3611880" cy="585216"/>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Partial correlation removes a third variable's influence from BOTH X and Y. It answers whether X and Y are still related after accounting for Z. If partial r drops dramatically, Z was confounding the relationship.</a:t>
            </a:r>
            <a:endParaRPr lang="en-US" sz="850" dirty="0"/>
          </a:p>
        </p:txBody>
      </p:sp>
      <p:sp>
        <p:nvSpPr>
          <p:cNvPr id="33" name="Shape 31"/>
          <p:cNvSpPr/>
          <p:nvPr/>
        </p:nvSpPr>
        <p:spPr>
          <a:xfrm>
            <a:off x="4782312" y="2578608"/>
            <a:ext cx="4160520" cy="731520"/>
          </a:xfrm>
          <a:prstGeom prst="roundRect">
            <a:avLst>
              <a:gd name="adj" fmla="val 8750"/>
            </a:avLst>
          </a:prstGeom>
          <a:solidFill>
            <a:srgbClr val="0C1428"/>
          </a:solidFill>
          <a:ln w="6350">
            <a:solidFill>
              <a:srgbClr val="14B8C8"/>
            </a:solidFill>
            <a:prstDash val="solid"/>
          </a:ln>
        </p:spPr>
      </p:sp>
      <p:sp>
        <p:nvSpPr>
          <p:cNvPr id="34" name="Shape 32"/>
          <p:cNvSpPr/>
          <p:nvPr/>
        </p:nvSpPr>
        <p:spPr>
          <a:xfrm>
            <a:off x="4873752" y="2779776"/>
            <a:ext cx="292608" cy="292608"/>
          </a:xfrm>
          <a:prstGeom prst="ellipse">
            <a:avLst/>
          </a:prstGeom>
          <a:solidFill>
            <a:srgbClr val="F0C840"/>
          </a:solidFill>
          <a:ln w="12700">
            <a:solidFill>
              <a:srgbClr val="F0C840"/>
            </a:solidFill>
            <a:prstDash val="solid"/>
          </a:ln>
        </p:spPr>
      </p:sp>
      <p:sp>
        <p:nvSpPr>
          <p:cNvPr id="35" name="Text 33"/>
          <p:cNvSpPr/>
          <p:nvPr/>
        </p:nvSpPr>
        <p:spPr>
          <a:xfrm>
            <a:off x="4873752" y="2779776"/>
            <a:ext cx="292608" cy="292608"/>
          </a:xfrm>
          <a:prstGeom prst="rect">
            <a:avLst/>
          </a:prstGeom>
          <a:noFill/>
          <a:ln/>
        </p:spPr>
        <p:txBody>
          <a:bodyPr wrap="square" lIns="0" tIns="0" rIns="0" bIns="0" rtlCol="0" anchor="ctr"/>
          <a:lstStyle/>
          <a:p>
            <a:pPr algn="ctr" indent="0" marL="0">
              <a:buNone/>
            </a:pPr>
            <a:r>
              <a:rPr lang="en-US" sz="800" b="1" dirty="0">
                <a:solidFill>
                  <a:srgbClr val="070C18"/>
                </a:solidFill>
                <a:latin typeface="Calibri" pitchFamily="34" charset="0"/>
                <a:ea typeface="Calibri" pitchFamily="34" charset="-122"/>
                <a:cs typeface="Calibri" pitchFamily="34" charset="-120"/>
              </a:rPr>
              <a:t>8</a:t>
            </a:r>
            <a:endParaRPr lang="en-US" sz="800" dirty="0"/>
          </a:p>
        </p:txBody>
      </p:sp>
      <p:sp>
        <p:nvSpPr>
          <p:cNvPr id="36" name="Text 34"/>
          <p:cNvSpPr/>
          <p:nvPr/>
        </p:nvSpPr>
        <p:spPr>
          <a:xfrm>
            <a:off x="5239512" y="2651760"/>
            <a:ext cx="3611880" cy="585216"/>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Correlation and causation are different. Three conditions for causation: temporal precedence, covariation (what r measures), and elimination of alternatives. Correlation only satisfies condition 2.</a:t>
            </a:r>
            <a:endParaRPr lang="en-US" sz="850" dirty="0"/>
          </a:p>
        </p:txBody>
      </p:sp>
      <p:sp>
        <p:nvSpPr>
          <p:cNvPr id="37" name="Shape 35"/>
          <p:cNvSpPr/>
          <p:nvPr/>
        </p:nvSpPr>
        <p:spPr>
          <a:xfrm>
            <a:off x="4782312" y="3401568"/>
            <a:ext cx="4160520" cy="731520"/>
          </a:xfrm>
          <a:prstGeom prst="roundRect">
            <a:avLst>
              <a:gd name="adj" fmla="val 8750"/>
            </a:avLst>
          </a:prstGeom>
          <a:solidFill>
            <a:srgbClr val="0C1428"/>
          </a:solidFill>
          <a:ln w="6350">
            <a:solidFill>
              <a:srgbClr val="14B8C8"/>
            </a:solidFill>
            <a:prstDash val="solid"/>
          </a:ln>
        </p:spPr>
      </p:sp>
      <p:sp>
        <p:nvSpPr>
          <p:cNvPr id="38" name="Shape 36"/>
          <p:cNvSpPr/>
          <p:nvPr/>
        </p:nvSpPr>
        <p:spPr>
          <a:xfrm>
            <a:off x="4873752" y="3602736"/>
            <a:ext cx="292608" cy="292608"/>
          </a:xfrm>
          <a:prstGeom prst="ellipse">
            <a:avLst/>
          </a:prstGeom>
          <a:solidFill>
            <a:srgbClr val="F0C840"/>
          </a:solidFill>
          <a:ln w="12700">
            <a:solidFill>
              <a:srgbClr val="F0C840"/>
            </a:solidFill>
            <a:prstDash val="solid"/>
          </a:ln>
        </p:spPr>
      </p:sp>
      <p:sp>
        <p:nvSpPr>
          <p:cNvPr id="39" name="Text 37"/>
          <p:cNvSpPr/>
          <p:nvPr/>
        </p:nvSpPr>
        <p:spPr>
          <a:xfrm>
            <a:off x="4873752" y="3602736"/>
            <a:ext cx="292608" cy="292608"/>
          </a:xfrm>
          <a:prstGeom prst="rect">
            <a:avLst/>
          </a:prstGeom>
          <a:noFill/>
          <a:ln/>
        </p:spPr>
        <p:txBody>
          <a:bodyPr wrap="square" lIns="0" tIns="0" rIns="0" bIns="0" rtlCol="0" anchor="ctr"/>
          <a:lstStyle/>
          <a:p>
            <a:pPr algn="ctr" indent="0" marL="0">
              <a:buNone/>
            </a:pPr>
            <a:r>
              <a:rPr lang="en-US" sz="800" b="1" dirty="0">
                <a:solidFill>
                  <a:srgbClr val="070C18"/>
                </a:solidFill>
                <a:latin typeface="Calibri" pitchFamily="34" charset="0"/>
                <a:ea typeface="Calibri" pitchFamily="34" charset="-122"/>
                <a:cs typeface="Calibri" pitchFamily="34" charset="-120"/>
              </a:rPr>
              <a:t>9</a:t>
            </a:r>
            <a:endParaRPr lang="en-US" sz="800" dirty="0"/>
          </a:p>
        </p:txBody>
      </p:sp>
      <p:sp>
        <p:nvSpPr>
          <p:cNvPr id="40" name="Text 38"/>
          <p:cNvSpPr/>
          <p:nvPr/>
        </p:nvSpPr>
        <p:spPr>
          <a:xfrm>
            <a:off x="5239512" y="3474720"/>
            <a:ext cx="3611880" cy="585216"/>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Restriction of range deflates r. If your sample is selected on X or Y (e.g., only high-income customers or only admitted students), the observed r underestimates the true population r. Discuss as a limitation.</a:t>
            </a:r>
            <a:endParaRPr lang="en-US" sz="850" dirty="0"/>
          </a:p>
        </p:txBody>
      </p:sp>
      <p:sp>
        <p:nvSpPr>
          <p:cNvPr id="41" name="Shape 39"/>
          <p:cNvSpPr/>
          <p:nvPr/>
        </p:nvSpPr>
        <p:spPr>
          <a:xfrm>
            <a:off x="4782312" y="4224528"/>
            <a:ext cx="4160520" cy="731520"/>
          </a:xfrm>
          <a:prstGeom prst="roundRect">
            <a:avLst>
              <a:gd name="adj" fmla="val 8750"/>
            </a:avLst>
          </a:prstGeom>
          <a:solidFill>
            <a:srgbClr val="0C1428"/>
          </a:solidFill>
          <a:ln w="6350">
            <a:solidFill>
              <a:srgbClr val="14B8C8"/>
            </a:solidFill>
            <a:prstDash val="solid"/>
          </a:ln>
        </p:spPr>
      </p:sp>
      <p:sp>
        <p:nvSpPr>
          <p:cNvPr id="42" name="Shape 40"/>
          <p:cNvSpPr/>
          <p:nvPr/>
        </p:nvSpPr>
        <p:spPr>
          <a:xfrm>
            <a:off x="4873752" y="4425696"/>
            <a:ext cx="292608" cy="292608"/>
          </a:xfrm>
          <a:prstGeom prst="ellipse">
            <a:avLst/>
          </a:prstGeom>
          <a:solidFill>
            <a:srgbClr val="F0C840"/>
          </a:solidFill>
          <a:ln w="12700">
            <a:solidFill>
              <a:srgbClr val="F0C840"/>
            </a:solidFill>
            <a:prstDash val="solid"/>
          </a:ln>
        </p:spPr>
      </p:sp>
      <p:sp>
        <p:nvSpPr>
          <p:cNvPr id="43" name="Text 41"/>
          <p:cNvSpPr/>
          <p:nvPr/>
        </p:nvSpPr>
        <p:spPr>
          <a:xfrm>
            <a:off x="4873752" y="4425696"/>
            <a:ext cx="292608" cy="292608"/>
          </a:xfrm>
          <a:prstGeom prst="rect">
            <a:avLst/>
          </a:prstGeom>
          <a:noFill/>
          <a:ln/>
        </p:spPr>
        <p:txBody>
          <a:bodyPr wrap="square" lIns="0" tIns="0" rIns="0" bIns="0" rtlCol="0" anchor="ctr"/>
          <a:lstStyle/>
          <a:p>
            <a:pPr algn="ctr" indent="0" marL="0">
              <a:buNone/>
            </a:pPr>
            <a:r>
              <a:rPr lang="en-US" sz="800" b="1" dirty="0">
                <a:solidFill>
                  <a:srgbClr val="070C18"/>
                </a:solidFill>
                <a:latin typeface="Calibri" pitchFamily="34" charset="0"/>
                <a:ea typeface="Calibri" pitchFamily="34" charset="-122"/>
                <a:cs typeface="Calibri" pitchFamily="34" charset="-120"/>
              </a:rPr>
              <a:t>10</a:t>
            </a:r>
            <a:endParaRPr lang="en-US" sz="800" dirty="0"/>
          </a:p>
        </p:txBody>
      </p:sp>
      <p:sp>
        <p:nvSpPr>
          <p:cNvPr id="44" name="Text 42"/>
          <p:cNvSpPr/>
          <p:nvPr/>
        </p:nvSpPr>
        <p:spPr>
          <a:xfrm>
            <a:off x="5239512" y="4297680"/>
            <a:ext cx="3611880" cy="585216"/>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In a correlation matrix with k variables, test k(k-1)/2 pairs simultaneously. Apply Bonferroni correction (α* = α/number of tests) to control Type I error. Do not interpret every asterisk as a real finding.</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1645920" y="-1645920"/>
            <a:ext cx="5486400" cy="5486400"/>
          </a:xfrm>
          <a:prstGeom prst="ellipse">
            <a:avLst/>
          </a:prstGeom>
          <a:solidFill>
            <a:srgbClr val="0A7E8C">
              <a:alpha val="18000"/>
            </a:srgbClr>
          </a:solidFill>
          <a:ln w="12700">
            <a:solidFill>
              <a:srgbClr val="0A7E8C"/>
            </a:solidFill>
            <a:prstDash val="solid"/>
          </a:ln>
        </p:spPr>
      </p:sp>
      <p:sp>
        <p:nvSpPr>
          <p:cNvPr id="3" name="Shape 1"/>
          <p:cNvSpPr/>
          <p:nvPr/>
        </p:nvSpPr>
        <p:spPr>
          <a:xfrm>
            <a:off x="6400800" y="2560320"/>
            <a:ext cx="4572000" cy="4572000"/>
          </a:xfrm>
          <a:prstGeom prst="ellipse">
            <a:avLst/>
          </a:prstGeom>
          <a:solidFill>
            <a:srgbClr val="D4A010">
              <a:alpha val="12000"/>
            </a:srgbClr>
          </a:solidFill>
          <a:ln w="12700">
            <a:solidFill>
              <a:srgbClr val="D4A010"/>
            </a:solidFill>
            <a:prstDash val="solid"/>
          </a:ln>
        </p:spPr>
      </p:sp>
      <p:sp>
        <p:nvSpPr>
          <p:cNvPr id="4" name="Text 2"/>
          <p:cNvSpPr/>
          <p:nvPr/>
        </p:nvSpPr>
        <p:spPr>
          <a:xfrm>
            <a:off x="731520" y="658368"/>
            <a:ext cx="7680960" cy="1261872"/>
          </a:xfrm>
          <a:prstGeom prst="rect">
            <a:avLst/>
          </a:prstGeom>
          <a:noFill/>
          <a:ln/>
        </p:spPr>
        <p:txBody>
          <a:bodyPr wrap="square" lIns="0" tIns="0" rIns="0" bIns="0" rtlCol="0" anchor="ctr"/>
          <a:lstStyle/>
          <a:p>
            <a:pPr algn="ctr" indent="0" marL="0">
              <a:buNone/>
            </a:pPr>
            <a:r>
              <a:rPr lang="en-US" sz="2200" b="1" i="1" dirty="0">
                <a:solidFill>
                  <a:srgbClr val="FFFFFF"/>
                </a:solidFill>
                <a:latin typeface="Cambria" pitchFamily="34" charset="0"/>
                <a:ea typeface="Cambria" pitchFamily="34" charset="-122"/>
                <a:cs typeface="Cambria" pitchFamily="34" charset="-120"/>
              </a:rPr>
              <a:t>"Correlation does not imply causation,</a:t>
            </a:r>
            <a:endParaRPr lang="en-US" sz="2200" dirty="0"/>
          </a:p>
          <a:p>
            <a:pPr algn="ctr" indent="0" marL="0">
              <a:buNone/>
            </a:pPr>
            <a:r>
              <a:rPr lang="en-US" sz="2200" b="1" i="1" dirty="0">
                <a:solidFill>
                  <a:srgbClr val="FFFFFF"/>
                </a:solidFill>
                <a:latin typeface="Cambria" pitchFamily="34" charset="0"/>
                <a:ea typeface="Cambria" pitchFamily="34" charset="-122"/>
                <a:cs typeface="Cambria" pitchFamily="34" charset="-120"/>
              </a:rPr>
              <a:t>but it does waggle its eyebrows suggestively</a:t>
            </a:r>
            <a:endParaRPr lang="en-US" sz="2200" dirty="0"/>
          </a:p>
          <a:p>
            <a:pPr algn="ctr" indent="0" marL="0">
              <a:buNone/>
            </a:pPr>
            <a:r>
              <a:rPr lang="en-US" sz="2200" b="1" i="1" dirty="0">
                <a:solidFill>
                  <a:srgbClr val="FFFFFF"/>
                </a:solidFill>
                <a:latin typeface="Cambria" pitchFamily="34" charset="0"/>
                <a:ea typeface="Cambria" pitchFamily="34" charset="-122"/>
                <a:cs typeface="Cambria" pitchFamily="34" charset="-120"/>
              </a:rPr>
              <a:t>and gesture furtively while mouthing 'look over there'."</a:t>
            </a:r>
            <a:endParaRPr lang="en-US" sz="2200" dirty="0"/>
          </a:p>
        </p:txBody>
      </p:sp>
      <p:sp>
        <p:nvSpPr>
          <p:cNvPr id="5" name="Text 3"/>
          <p:cNvSpPr/>
          <p:nvPr/>
        </p:nvSpPr>
        <p:spPr>
          <a:xfrm>
            <a:off x="1371600" y="2048256"/>
            <a:ext cx="6400800" cy="475488"/>
          </a:xfrm>
          <a:prstGeom prst="rect">
            <a:avLst/>
          </a:prstGeom>
          <a:noFill/>
          <a:ln/>
        </p:spPr>
        <p:txBody>
          <a:bodyPr wrap="square" lIns="0" tIns="0" rIns="0" bIns="0" rtlCol="0" anchor="ctr"/>
          <a:lstStyle/>
          <a:p>
            <a:pPr algn="ctr" indent="0" marL="0">
              <a:buNone/>
            </a:pPr>
            <a:r>
              <a:rPr lang="en-US" sz="1300" dirty="0">
                <a:solidFill>
                  <a:srgbClr val="90D8E0"/>
                </a:solidFill>
                <a:latin typeface="Calibri" pitchFamily="34" charset="0"/>
                <a:ea typeface="Calibri" pitchFamily="34" charset="-122"/>
                <a:cs typeface="Calibri" pitchFamily="34" charset="-120"/>
              </a:rPr>
              <a:t>- Randall Munroe (xkcd)</a:t>
            </a:r>
            <a:endParaRPr lang="en-US" sz="1300" dirty="0"/>
          </a:p>
          <a:p>
            <a:pPr algn="ctr" indent="0" marL="0">
              <a:buNone/>
            </a:pPr>
            <a:r>
              <a:rPr lang="en-US" sz="1300" dirty="0">
                <a:solidFill>
                  <a:srgbClr val="90D8E0"/>
                </a:solidFill>
                <a:latin typeface="Calibri" pitchFamily="34" charset="0"/>
                <a:ea typeface="Calibri" pitchFamily="34" charset="-122"/>
                <a:cs typeface="Calibri" pitchFamily="34" charset="-120"/>
              </a:rPr>
              <a:t>(Correlation is the START of understanding, not the END.)</a:t>
            </a:r>
            <a:endParaRPr lang="en-US" sz="1300" dirty="0"/>
          </a:p>
        </p:txBody>
      </p:sp>
      <p:sp>
        <p:nvSpPr>
          <p:cNvPr id="6" name="Shape 4"/>
          <p:cNvSpPr/>
          <p:nvPr/>
        </p:nvSpPr>
        <p:spPr>
          <a:xfrm>
            <a:off x="3200400" y="2651760"/>
            <a:ext cx="2743200" cy="0"/>
          </a:xfrm>
          <a:prstGeom prst="line">
            <a:avLst/>
          </a:prstGeom>
          <a:noFill/>
          <a:ln w="19050">
            <a:solidFill>
              <a:srgbClr val="F0C840"/>
            </a:solidFill>
            <a:prstDash val="solid"/>
          </a:ln>
        </p:spPr>
      </p:sp>
      <p:sp>
        <p:nvSpPr>
          <p:cNvPr id="7" name="Text 5"/>
          <p:cNvSpPr/>
          <p:nvPr/>
        </p:nvSpPr>
        <p:spPr>
          <a:xfrm>
            <a:off x="914400" y="2816352"/>
            <a:ext cx="7315200" cy="713232"/>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8" name="Text 6"/>
          <p:cNvSpPr/>
          <p:nvPr/>
        </p:nvSpPr>
        <p:spPr>
          <a:xfrm>
            <a:off x="914400" y="3566160"/>
            <a:ext cx="7315200" cy="384048"/>
          </a:xfrm>
          <a:prstGeom prst="rect">
            <a:avLst/>
          </a:prstGeom>
          <a:noFill/>
          <a:ln/>
        </p:spPr>
        <p:txBody>
          <a:bodyPr wrap="square" lIns="0" tIns="0" rIns="0" bIns="0" rtlCol="0" anchor="ctr"/>
          <a:lstStyle/>
          <a:p>
            <a:pPr algn="ctr" indent="0" marL="0">
              <a:buNone/>
            </a:pPr>
            <a:r>
              <a:rPr lang="en-US" sz="1700" dirty="0">
                <a:solidFill>
                  <a:srgbClr val="90D8E0"/>
                </a:solidFill>
                <a:latin typeface="Calibri" pitchFamily="34" charset="0"/>
                <a:ea typeface="Calibri" pitchFamily="34" charset="-122"/>
                <a:cs typeface="Calibri" pitchFamily="34" charset="-120"/>
              </a:rPr>
              <a:t>Questions  -  Discussion  -  Applications</a:t>
            </a:r>
            <a:endParaRPr lang="en-US" sz="1700" dirty="0"/>
          </a:p>
        </p:txBody>
      </p:sp>
      <p:sp>
        <p:nvSpPr>
          <p:cNvPr id="9" name="Shape 7"/>
          <p:cNvSpPr/>
          <p:nvPr/>
        </p:nvSpPr>
        <p:spPr>
          <a:xfrm>
            <a:off x="2834640" y="4041648"/>
            <a:ext cx="3474720" cy="969264"/>
          </a:xfrm>
          <a:prstGeom prst="roundRect">
            <a:avLst>
              <a:gd name="adj" fmla="val 11321"/>
            </a:avLst>
          </a:prstGeom>
          <a:solidFill>
            <a:srgbClr val="0A7E8C">
              <a:alpha val="85000"/>
            </a:srgbClr>
          </a:solidFill>
          <a:ln w="12700">
            <a:solidFill>
              <a:srgbClr val="14B8C8"/>
            </a:solidFill>
            <a:prstDash val="solid"/>
          </a:ln>
        </p:spPr>
      </p:sp>
      <p:sp>
        <p:nvSpPr>
          <p:cNvPr id="10" name="Text 8"/>
          <p:cNvSpPr/>
          <p:nvPr/>
        </p:nvSpPr>
        <p:spPr>
          <a:xfrm>
            <a:off x="2834640" y="4096512"/>
            <a:ext cx="3474720" cy="8778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Kajola Gbenga Adewale</a:t>
            </a:r>
            <a:endParaRPr lang="en-US" sz="1600" dirty="0"/>
          </a:p>
          <a:p>
            <a:pPr algn="ctr" indent="0" marL="0">
              <a:buNone/>
            </a:pPr>
            <a:r>
              <a:rPr lang="en-US" sz="1300" dirty="0">
                <a:solidFill>
                  <a:srgbClr val="F0C840"/>
                </a:solidFill>
                <a:latin typeface="Calibri" pitchFamily="34" charset="0"/>
                <a:ea typeface="Calibri" pitchFamily="34" charset="-122"/>
                <a:cs typeface="Calibri" pitchFamily="34" charset="-120"/>
              </a:rPr>
              <a:t>Data Expert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Correlation Analysis - The Complete Reference</dc:title>
  <dc:subject>PptxGenJS Presentation</dc:subject>
  <dc:creator>Kajola Gbenga Adewale</dc:creator>
  <cp:lastModifiedBy>Kajola Gbenga Adewale</cp:lastModifiedBy>
  <cp:revision>1</cp:revision>
  <dcterms:created xsi:type="dcterms:W3CDTF">2026-06-29T08:52:21Z</dcterms:created>
  <dcterms:modified xsi:type="dcterms:W3CDTF">2026-06-29T08:52:21Z</dcterms:modified>
</cp:coreProperties>
</file>
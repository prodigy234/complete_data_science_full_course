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every major pandas data cleaning technique with real code examples and line-by-line explanation tables for every code block. All code runs in Google Colab. Platform: import pandas as pd. The deck follows the standard 10-step cleaning pipeline used in professional data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dirty data table highlights 7 different data quality issues in a single dataset: missing values (NULL), negative prices, zero quantities, wrong categories (UNKNOWN), wrong case (kano vs Lagos), whitespace in values, and outliers (rating=99). All highlighted in different colours. Ask students to count how many issues they can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10-step pipeline. Emphasise: this is the professional workflow. Skipping step 3 (missing values) and going straight to step 5 (types) often fails silently because NaN values prevent astype() from working. The df.copy() at step 1 is critical - never modify the DataFrame loaded directly from the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10 minutes of any data project. Students should run every one of these commands before doing anything else. df.describe() often reveals outliers immediately - a minimum price of -45000 or maximum age of 999 are instant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value detection. The msno library (pip install missingno) creates a visual matrix where white lines = missing. For columns missing over 50% of data, consider dropping the column entirely rather than filling. Under 5% missing is generally acceptable to fill or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fillna() strategies. The group-wise median fill is the most professional approach. Instead of filling all missing prices with the global median, it fills each row with the median price for that row's category - much more accurate. inplace=True modifies the DataFrame directly instead of returning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dropna() vs fillna(). Rule: fillna() for columns where you have a reasonable imputation strategy. dropna() for rows where the key columns are missing and the row is unusable. Always check df.shape before and after to know how many rows you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Duplicates. The subset= parameter is critical in practice. A full row duplicate (all columns identical) is rare. More common: duplicate order_id with slightly different data (data entry error). In that case: drop_duplicates(subset=['order_id'], keep='first') removes based on just the ID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types. The most important: date columns loaded from CSV always come in as object (string). pd.to_datetime() converts them to datetime64, which unlocks all .dt accessor methods for time-based analysis. pd.to_numeric with errors='coerce' is safer than astype because it handles bad values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 cleaning is the most commonly needed cleaning step. The .str accessor applies string methods to every row in a column. Always chain .str.strip() before .str.lower() or .str.title() to remove spaces first. The price cleaning example (removing NGN and commas before astype) is a very common real-world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naming conventions. Always use snake_case (lowercase with underscores) for column names. It avoids needing df['First Name'] (spaces require bracket notation) and makes column access with dot notation possible: df.first_name. The bulk rename pipeline is the fastest way to clean all column names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Filtering. The single most important syntax rule: use &amp; (ampersand) for AND and | (pipe) for OR in pandas boolean operations. Python's 'and' and 'or' keywords do NOT work with Series. Also: always wrap each condition in parentheses when combining: (df['a'] &gt; 0) &amp; (df['b'] &gt;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 handling. Three choices: remove the rows (risky if many), cap the values at the fence (winsorising - safer), or leave them (if they are legitimate extreme values like a B2B bulk order). Always investigate before removing. A price of 99,000,000 might be a typo OR a legitimate large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groupby() follows the Split-Apply-Combine pattern: split the data into groups, apply a function to each group, combine the results. The named aggregation syntax (agg with keyword arguments) was introduced in pandas 0.25 and is now the recommended approach. reset_index() is almost always needed after agg().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merge() vs concat(). merge() joins on a KEY column - like SQL JOIN. concat() stacks DataFrames vertically - like SQL UNION ALL. Use merge() when combining tables with a shared ID column. Use concat() when combining multiple files of the same structure (January + February + March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apply() vs map() vs np.where(). Rule: use map() for simple value replacement (dictionary lookup). Use np.where() for fast if/else conditions on a column. Use apply() only when you need complex logic that cannot be expressed as a vectorised operation. apply() with axis=1 is the slowest - avoid on large DataFrames.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techniques. melt() is the most important of these - it converts wide format (one column per quarter) to long format (one row per quarter) which is what Seaborn, Plotly and most ML libraries expect. pivot_table() is the reverse. get_dummies() is essential before any machine learning - models cannot process text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assertions. assert is Python's built-in way to write automated checks that halt execution with an error message if the condition is not met. This is the professional equivalent of a QA checklist. Run these before handing data to stakeholders or feeding it into a model. If any assertion fails, go back and fix the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sheet. Print and distribute. The two-line rule: 1. Always work on a copy (df.copy()). 2. Always validate before exporting (assert statements). Everything else between is the 10-step cleaning pipeline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Students have covered the complete pandas cleaning toolkit - from loading raw data through the 10-step pipeline to final validation and export. The next session builds directly on this: EDA and visualization require clean data to produce accurate and meaningful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dirty="0">
                <a:solidFill>
                  <a:srgbClr val="000000"/>
                </a:solidFill>
              </a:rPr>
              <a:t>🐼</a:t>
            </a:r>
            <a:endParaRPr lang="en-US" sz="8200" dirty="0"/>
          </a:p>
        </p:txBody>
      </p:sp>
      <p:sp>
        <p:nvSpPr>
          <p:cNvPr id="8" name="Shape 6"/>
          <p:cNvSpPr/>
          <p:nvPr/>
        </p:nvSpPr>
        <p:spPr>
          <a:xfrm>
            <a:off x="0" y="4352544"/>
            <a:ext cx="4846320" cy="2505456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4805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0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594360"/>
            <a:ext cx="690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Pandas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74920" y="274320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Teaching Deck - All Techniques with Code and Line-by-Line Explanations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273552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Colab  |  Library: pandas (import pandas as pd)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3730752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3858768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8587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858768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8587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49640" y="3858768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38587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287000" y="3858768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38587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Cleaning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4964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Reorder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8700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join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4964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map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8700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CLEANING MATTERS - The Real Cost of Dirty Data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144768"/>
            <a:ext cx="11338560" cy="603504"/>
          </a:xfrm>
          <a:prstGeom prst="roundRect">
            <a:avLst>
              <a:gd name="adj" fmla="val 12121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619963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visualise or model dirty data. Every chart and every ML model trained on dirty data is wrong. Clean first - always.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10-STEP PANDAS CLEANING PIPELINE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742432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111E35"/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742432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998464"/>
            <a:ext cx="374904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58155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Always in order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" y="6236208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1-10 are not arbitrary. Missing values must be handled before type conversion. Duplicates must be removed before statistics.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5742432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111E35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5742432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5998464"/>
            <a:ext cx="37490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3128" y="58155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Save checkpoints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53128" y="6236208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major step, print df.shape and df.isnull().sum() to confirm progress.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5742432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111E35"/>
          </a:solidFill>
          <a:ln w="1397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5742432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5998464"/>
            <a:ext cx="3749040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5048" y="58155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Never modify raw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85048" y="6236208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work on a copy: df_clean = df.copy(). Keep the original untouched.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First Look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 before you touch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 AND INITIAL INSPECTION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load_inspect.py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df.copy()  # always work on a copy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and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# (rows, cols)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print(df.columns.tolist())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and last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# first 5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     # last 5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df.sample(5)  # random 5 rows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Statistics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# dtypes + nulls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# numeric 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df.describe(include='object') # string cols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             # count per col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/ len(df) * 100  # pct missing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          # duplicate rows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17883"/>
          </a:xfrm>
          <a:prstGeom prst="rect">
            <a:avLst/>
          </a:prstGeom>
          <a:solidFill>
            <a:srgbClr val="3B82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1788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542011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542011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587731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587731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the Pandas library. pd is the universal alias used by all data professionals.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059894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059894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105614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105614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NumPy, needed for np.nan and numeric operations used during cleaning.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577777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577777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623497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pd.read_csv('data.csv')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623497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file from disk and loads it into a DataFrame - a 2D table with rows and columns.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095660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095660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141380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df.copy()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141380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independent copy. Changes to df_clean will NOT affect the original df. Always do this.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613543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613543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659263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659263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(number_of_rows, number_of_columns). First thing to check after loading.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131425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131425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177145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177145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data type of each column: int64, float64, object (text), datetime64. Reveals type problems.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4649308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4649308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4695028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4695028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column names, dtype, and count of non-null values per column. Shows missing values at a glance.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167191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167191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212911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212911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count, mean, std, min, quartiles, max for every numeric column. Spot outliers here.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5685074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75090" y="5685074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5730794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266530" y="5730794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missing values per column. isnull() returns True/False, sum() counts the Trues.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78040" y="6202957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75090" y="6202957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6248677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266530" y="6248677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rows that are exact duplicates of another row. Returns integer count.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data quality problem in every real dataset.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MISSING VALUES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03504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024128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29400" y="1024128"/>
            <a:ext cx="53035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29400" y="1207008"/>
            <a:ext cx="53035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5741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5858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5975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10789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detect_missing.py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75704" y="1408176"/>
            <a:ext cx="50292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Null count per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Percentage missing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null_pct = (df.isnull().sum()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len(df) * 100).round(2)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print(null_pct[null_pct &amp;gt; 0])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rows have any null?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df[df.isnull().any(axis=1)]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 missing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missingno as msno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msno.matrix(df)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msno.bar(df)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29400" y="4407408"/>
            <a:ext cx="5303520" cy="385572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56878" y="4407408"/>
            <a:ext cx="18288" cy="3855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4453128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48318" y="4453128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29400" y="4792980"/>
            <a:ext cx="5303520" cy="3855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56878" y="4792980"/>
            <a:ext cx="18288" cy="3855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838700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948318" y="4838700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DataFrame of True/False. True = the cell is missing.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29400" y="5178552"/>
            <a:ext cx="5303520" cy="3855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56878" y="5178552"/>
            <a:ext cx="18288" cy="3855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0840" y="5224272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948318" y="5224272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True values per column - giving missing count per column.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29400" y="5564124"/>
            <a:ext cx="5303520" cy="3855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56878" y="5564124"/>
            <a:ext cx="18288" cy="3855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0840" y="5609844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len(df) * 100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948318" y="5609844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count to percentage. Divide by total rows, multiply by 100.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29400" y="5949696"/>
            <a:ext cx="5303520" cy="3855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56878" y="5949696"/>
            <a:ext cx="18288" cy="3855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0840" y="5995416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null_pct &amp;gt; 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948318" y="5995416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filter - only show columns that actually have missing values.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629400" y="6335268"/>
            <a:ext cx="5303520" cy="3855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56878" y="6335268"/>
            <a:ext cx="18288" cy="3855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20840" y="6380988"/>
            <a:ext cx="20994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axis=1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948318" y="6380988"/>
            <a:ext cx="289316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means across columns (row-by-row). axis=0 means across rows (column-by-column).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FILLING MISSING VALUES - fillna() Strategies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67512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024128"/>
            <a:ext cx="4663440" cy="5559552"/>
          </a:xfrm>
          <a:prstGeom prst="roundRect">
            <a:avLst>
              <a:gd name="adj" fmla="val 196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69480" y="1024128"/>
            <a:ext cx="46634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207008"/>
            <a:ext cx="46634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7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98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99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078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15784" y="1408176"/>
            <a:ext cx="438912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Fill with constant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df['price'].fillna(0, inplace=True)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df['region'].fillna('Unknown', inplace=True)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Fill with mean/median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mean_p = df['price'].mean()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df['price'].fillna(mean_p, inplace=True)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median for skewed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med_p = df['price'].median()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df['price'].fillna(med_p, inplace=True)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Fill with mode (categories)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mode_r = df['region'].mode()[0]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df['region'].fillna(mode_r, inplace=True)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Forward/backward fill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df['price'].fillna(method='ffill', inplace=True)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df['price'].fillna(method='bfill', inplace=True)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Group-wise fill (best practice)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df.groupby('category')['price']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.transform(lambda x: x.fillna(x.median()))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fillna() - Line-by-Line Explanation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943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736592"/>
            <a:ext cx="5943600" cy="220472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07792" y="4736592"/>
            <a:ext cx="18288" cy="22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82312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99232" y="4782312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4957064"/>
            <a:ext cx="5943600" cy="2204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07792" y="4957064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5002784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df['price'].fillna(0)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99232" y="5002784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every NaN in the price column with 0. Returns new Series - use inplace=True to modify df directly.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5177536"/>
            <a:ext cx="5943600" cy="2204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7792" y="5177536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5223256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inplace=True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99232" y="5223256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the DataFrame in place without needing reassignment. Equivalent to: df['col'] = df['col'].fillna(value).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5398008"/>
            <a:ext cx="5943600" cy="2204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07792" y="5398008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443728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  .median()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999232" y="5443728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average / middle value of the column, ignoring NaN. Use as fill value.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5618480"/>
            <a:ext cx="5943600" cy="2204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07792" y="5618480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5664200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.mode()[0]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999232" y="5664200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.mode() returns a Series of most frequent values. [0] picks the first (most common) one.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5838952"/>
            <a:ext cx="5943600" cy="2204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07792" y="5838952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5884672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method='ffill'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999232" y="5884672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fill: propagates the LAST valid value downward. Useful for time series.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6059424"/>
            <a:ext cx="5943600" cy="2204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907792" y="6059424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6105144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method='bfill'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999232" y="6105144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fill: propagates the NEXT valid value upward. Also useful for time series.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6279896"/>
            <a:ext cx="5943600" cy="220472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907792" y="6279896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325616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.groupby('category')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999232" y="6325616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by the category column before computing the fill value. Each group gets its own median.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11480" y="6500368"/>
            <a:ext cx="5943600" cy="220472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7792" y="6500368"/>
            <a:ext cx="18288" cy="220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46088"/>
            <a:ext cx="2368296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.transform(lambda x: ...)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999232" y="6546088"/>
            <a:ext cx="3264408" cy="12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per group and returns a Series aligned to the original index for direct assignment.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06B6D4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that have at least one NaN value. Use carefully - can remove too many rows.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df.dropna(subset=['price'])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only rows where the 'price' column is NaN. Other nulls are kept.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df.dropna(thresh=5)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rows with at least 5 non-null values. thresh=minimum number of valid values required.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df.dropna(axis=1)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entire COLUMNS that contain any NaN. axis=1 means along columns.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df.dropna(how='all')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rows only if ALL values in the row are NaN. how='any' (default) drops if any are NaN.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6537960" y="4535424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803843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629400" y="458114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8895283" y="458114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after fillna/dropna to verify no missing values remain.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6537960" y="5120640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803843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629400" y="516636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df.notnull()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8895283" y="516636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where the value IS present. Opposite of isnull().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killers of aggregation and count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REMOVING DUPLICATE ROWS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943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407408"/>
            <a:ext cx="5943600" cy="2212848"/>
          </a:xfrm>
          <a:prstGeom prst="roundRect">
            <a:avLst>
              <a:gd name="adj" fmla="val 413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40740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459028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449884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44988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449884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462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4791456"/>
            <a:ext cx="5669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many duplicate rows?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the duplicate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df[df.duplicated()]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df[df.duplicated(keep=False)]  # see ALL copies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duplicates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df.reset_index(drop=True, inplace=True)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8B5C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Boolean Series: True = this row is a duplicate of a previous row. False = unique row.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True values - giving the total number of duplicate rows found.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keep=False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ALL copies of a duplicate row as True (default keep='first' only marks the 2nd+ occurrences).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duplicate rows, keeping the first occurrence by default.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keep='last'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keep='last' keeps the last occurrence instead of the first.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37960" y="4535424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03843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458114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subset=['col1','col2']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895283" y="458114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duplicates only on specific columns. Example: drop_duplicates(subset=['order_id']).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5120640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03843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516636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reset_index(drop=True)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895283" y="516636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row index to 0,1,2,3... after removing rows. drop=True discards the old index.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37960" y="5705856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803843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29400" y="575157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before/after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895283" y="575157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shape before and after: print(f'Removed: {before-after} rows').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 Conversion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cause silent calculation errors.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DATA TYPES - astype() and to_datetime()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583680" cy="3840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4919472"/>
            <a:ext cx="658368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178040" y="1024128"/>
            <a:ext cx="4754880" cy="569671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75090" y="1024128"/>
            <a:ext cx="18288" cy="5696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269480" y="1069848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266530" y="1069848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178040" y="1593799"/>
            <a:ext cx="475488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175090" y="1593799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69480" y="1639519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266530" y="1639519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current data type of every column. object = string/mixed. Spot type problems here.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78040" y="2163470"/>
            <a:ext cx="475488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75090" y="2163470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69480" y="2209190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df['col'].astype('int64')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266530" y="2209190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column to integer. Fails if the column has non-numeric values or NaN.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78040" y="2733142"/>
            <a:ext cx="475488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75090" y="2733142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269480" y="2778862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df['col'].astype('float64')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266530" y="2778862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decimal number. More forgiving than int64 with NaN.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178040" y="3302813"/>
            <a:ext cx="475488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175090" y="3302813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69480" y="3348533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df['col'].astype('str')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266530" y="3348533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string. Any value becomes text including numbers.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178040" y="3872484"/>
            <a:ext cx="475488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175090" y="3872484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69480" y="3918204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df['col'].astype('category')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266530" y="3918204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low-cardinality text to category type. Uses less memory. Good for region, gender, etc.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178040" y="4442155"/>
            <a:ext cx="475488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175090" y="4442155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269480" y="4487875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pd.to_numeric(col, errors='coerce')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9266530" y="4487875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number. errors='coerce' turns unparseable values into NaN instead of crashing.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178040" y="5011826"/>
            <a:ext cx="475488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175090" y="5011826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269480" y="5057546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pd.to_datetime(col)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9266530" y="5057546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date string column to datetime64 type. Enables .dt.year, .dt.month, etc.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7178040" y="5581498"/>
            <a:ext cx="475488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175090" y="5581498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269480" y="5627218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df['date'].dt.year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9266530" y="5627218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year from a datetime column. Also: .dt.month .dt.day .dt.day_name()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178040" y="6151169"/>
            <a:ext cx="475488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9175090" y="6151169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269480" y="6196889"/>
            <a:ext cx="1869034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errors='coerce'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9266530" y="6196889"/>
            <a:ext cx="2574950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 for safe conversion. Instead of raising an error on bad values, it returns NaN.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7178040" y="4919472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7178040" y="4919472"/>
            <a:ext cx="47548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178040" y="5102352"/>
            <a:ext cx="47548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06056" y="5010912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507224" y="50109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708392" y="501091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909560" y="4974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types.py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324344" y="5303520"/>
            <a:ext cx="4480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 type conversion with error handling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pd.to_numeric(df['price'],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errors='coerce')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 = pd.to_datetime(df['date'],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errors='coerce')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df['month'] = df['date'].dt.month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df['year']  = df['date'].dt.year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Cleaning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Whitespace, wrong case, and embedded characters ruin groupby.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TEXT COLUMNS - The .str Accessor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5836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961888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96188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14476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05332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0533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0533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6016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str_chain.py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34593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multiple operations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 = df['region'].str.strip().str.title()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78040" y="1024128"/>
            <a:ext cx="4754880" cy="517883"/>
          </a:xfrm>
          <a:prstGeom prst="rect">
            <a:avLst/>
          </a:prstGeom>
          <a:solidFill>
            <a:srgbClr val="F9731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75090" y="1024128"/>
            <a:ext cx="18288" cy="51788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1069848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266530" y="1069848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78040" y="1542011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75090" y="1542011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1587731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266530" y="1587731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and trailing whitespace. '  Lagos  ' becomes 'Lagos'.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78040" y="2059894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75090" y="2059894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2105614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.str.lower()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266530" y="2105614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characters to lowercase. 'LAGOS' becomes 'lagos'.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78040" y="2577777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75090" y="2577777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2623497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.str.upper()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266530" y="2623497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characters to uppercase. 'lagos' becomes 'LAGOS'.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78040" y="3095660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75090" y="3095660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69480" y="3141380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266530" y="3141380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Case - first letter of each word capitalised. 'lagos state' becomes 'Lagos State'.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78040" y="3613543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75090" y="3613543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69480" y="3659263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.str.replace('a','b')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266530" y="3659263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substring 'a' with 'b'. Use regex=True for pattern matching.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78040" y="4131425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75090" y="4131425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69480" y="4177145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.str.contains('text')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266530" y="4177145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if the string contains 'text'. Used for filtering.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78040" y="4649308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75090" y="4649308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69480" y="4695028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.str.startswith('ORD-')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266530" y="4695028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string starts with 'ORD-'. Used to validate ID formats.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178040" y="5167191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175090" y="5167191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69480" y="5212911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.str.split(',', expand=True)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266530" y="5212911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comma and expands into separate columns. expand=True returns a DataFrame.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178040" y="5685074"/>
            <a:ext cx="4754880" cy="517883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75090" y="5685074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269480" y="5730794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.str.len()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266530" y="5730794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length of each string. Useful for validating phone numbers, IDs.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178040" y="6202957"/>
            <a:ext cx="4754880" cy="517883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175090" y="6202957"/>
            <a:ext cx="18288" cy="51788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269480" y="6248677"/>
            <a:ext cx="1869034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.str.zfill(5)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9266530" y="6248677"/>
            <a:ext cx="2574950" cy="4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with leading zeros to reach length 5. '42' becomes '00042'. For invoice IDs.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178040" y="5029200"/>
            <a:ext cx="4754880" cy="1719072"/>
          </a:xfrm>
          <a:prstGeom prst="roundRect">
            <a:avLst>
              <a:gd name="adj" fmla="val 531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178040" y="5029200"/>
            <a:ext cx="47548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178040" y="5212080"/>
            <a:ext cx="47548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306056" y="51206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507224" y="51206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708392" y="51206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909560" y="5084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str_clean.py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324344" y="5413248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cleaning example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   = df['region'].str.strip().str.title()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 = df['category'].str.strip().str.title()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   = (df['price']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.str.replace('NGN','',regex=False)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.str.replace(',','',regex=False)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.astype('float64'))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and Reorder Columns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 names make every downstream operation easier.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RENAMING, REORDERING, AND SELECTING COLUMNS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5836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663440"/>
            <a:ext cx="6583680" cy="2066544"/>
          </a:xfrm>
          <a:prstGeom prst="roundRect">
            <a:avLst>
              <a:gd name="adj" fmla="val 442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663440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4846320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475488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47548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47548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71830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047488"/>
            <a:ext cx="6309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Rename specific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'CUST ID':    'customer_id',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'First Name': 'first_name',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'SALES_AMT':  'sales_amount',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'DOB':        'date_of_birth',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'Reg?':       'is_registered',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inplace=True)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06B6D4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df.rename(columns={...})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specific columns using a dictionary {old_name: new_name}. Does not change other columns.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inplace=True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rename directly to df. Without it, rename() returns a new DataFrame.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['a','b','c']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 column names at once. The list must match the exact number of columns.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df.columns.str.lower()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column names to lowercase in one command.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df.columns.str.replace(' ','_')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spaces with underscores in all column names at once.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df[['col1','col2','col3']]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and reorders columns. Double brackets return a DataFrame.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df.drop('col', axis=1)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 column. axis=1 means along columns (axis=0 would drop a row).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df.drop(['c1','c2'], axis=1)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multiple columns at once by passing a list.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178040" y="4663440"/>
            <a:ext cx="4754880" cy="2066544"/>
          </a:xfrm>
          <a:prstGeom prst="roundRect">
            <a:avLst>
              <a:gd name="adj" fmla="val 442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178040" y="4663440"/>
            <a:ext cx="47548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4846320"/>
            <a:ext cx="47548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306056" y="475488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507224" y="47548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708392" y="47548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09560" y="4718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rename2.py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324344" y="5047488"/>
            <a:ext cx="44805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Bulk rename: all lowercase + underscores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(df.columns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.str.lower()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 ','_',regex=False))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and reorder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['customer_id','date','product','sales_amount']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  = df[cols]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and Removing Invalid Rows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rows that should never have existed.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ROWS - Remove Invalid, Negative, and Out-of-Range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filtering.py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rows with negative prices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df[df['price'] &amp;gt; 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zero-quantity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df[df['quantity'] &amp;gt; 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valid regions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valid_regions = ['Lagos','Abuja','Kano','Port Harcourt']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df[df['region'].isin(valid_regions)]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'UNKNOWN'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df[df['region'] != 'UNKNOWN']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rows within a date range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df[df['date'] &amp;gt;= '2024-01-01']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df[(df['date'] &amp;gt;= '2024-01-01')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(df['date'] &amp;lt;= '2024-12-31')]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Compound condition (multiple rules)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(df['price'] &amp;gt; 0)  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(df['quantity'] &amp;gt; 0)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(df['region'].isin(valid_regions))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df[mask]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 between 1 and 5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df[df['rating'].between(1, 5)]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F43F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df[df['price'] &amp;gt; 0]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indexing. df['price'] &amp;gt; 0 returns True/False per row. Passing that back into df[] keeps only True rows.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df['col'].isin(list)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for rows where the column value is in the provided list. Best way to filter to known valid 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 != 'UNKNOWN'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rows where region is NOT 'UNKNOWN'. != is the not-equal operator.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&amp;gt;= '2024-01-01'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the date column is datetime type. Compares dates chronologically.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(cond1) and (cond2)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conditions. Use and (and) and | (or) for DataFrame filtering, NOT Python's and/or keywords.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df['col'].between(1, 5)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where value is between 1 and 5 inclusive. Cleaner than writing col &amp;gt;= 1 and col &amp;lt;= 5.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variable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compound conditions in a variable called mask for readability. Then apply: df = df[mask].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before/after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 shape before and after filtering to confirm how many rows were removed.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and Handling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that distort averages, charts, and models.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AND HANDLING OUTLIERS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21792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504688"/>
            <a:ext cx="621792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504688"/>
            <a:ext cx="62179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687568"/>
            <a:ext cx="62179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59612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5961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5961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559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888736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IQR method - detect and remove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= df['price'].quantile(0.25)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 = df['price'].quantile(0.75)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 = df[(df['price'] &amp;gt;= Q1-1.5*IQR) and (df['price'] &amp;lt;= Q3+1.5*IQR)]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12280" y="1024128"/>
            <a:ext cx="5120640" cy="585216"/>
          </a:xfrm>
          <a:prstGeom prst="rect">
            <a:avLst/>
          </a:prstGeom>
          <a:solidFill>
            <a:srgbClr val="F43F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2949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1069848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54389" y="1069848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12280" y="1609344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2949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1655064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df['col'].quantile(0.25)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054389" y="1655064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Q1 - the value at the 25th percentile. 25% of values fall below this point.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12280" y="2194560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2949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2240280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df['col'].quantile(0.75)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054389" y="2240280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Q3 - the value at the 75th percentile. 75% of values fall below this point.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12280" y="2779776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2949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03720" y="2825496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054389" y="2825496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Range. The spread of the middle 50% of data.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12280" y="3364992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62949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03720" y="3410712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Q1 - 1.5 * IQR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054389" y="3410712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fence. Values below this are considered outliers (the Tukey rule).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12280" y="3950208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62949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995928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+ 1.5 * IQR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054389" y="3995928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fence. Values above this are considered outliers.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812280" y="4535424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962949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03720" y="4581144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Z-score method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054389" y="4581144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scipy import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np.abs(stats.zscore(df['price']))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df[z &amp;lt; 3]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812280" y="5120640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962949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03720" y="5166360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Capping (winsorize)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054389" y="5166360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df['price'].clip(lower=Q1-1.5*IQR, upper=Q3+1.5*IQR)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values instead of removing rows.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812280" y="5705856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62949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03720" y="5751576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054389" y="5751576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outliers. Dots beyond whiskers = values outside 1.5*IQR range.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812280" y="5230368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812280" y="5230368"/>
            <a:ext cx="51206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12280" y="5413248"/>
            <a:ext cx="51206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940296" y="532180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41464" y="53218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42632" y="532180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43800" y="5285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outliers.py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958584" y="5614416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Z-score method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np.abs(stats.zscore(df['price'].dropna()))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df[z &amp;lt; 3]  # keep within 3 std devs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 instead of remove (safer)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df['price'].clip(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lower=Q1-1.5*IQR, upper=Q3+1.5*IQR)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and agg()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summaries by category - the core of data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groupby() - Split, Apply, Combine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9436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93776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937760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120640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02920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0292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0292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9926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321808"/>
            <a:ext cx="5669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Named aggregation (best practice)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df.groupby('region').agg(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total_revenue = ('revenue', 'sum'),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avg_price     = ('price',   'mean'),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order_count   = ('order_id','count'),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max_qty       = ('quantity','max')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EAB308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DataFrame by unique values in 'region'. Each group = all rows with the same region value.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.agg(new_name=('col','func'))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aggregation syntax. new_name is the output column name, col is the source column, func is the aggregation function.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'sum', 'mean', 'count'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aggregation functions. Others: 'min', 'max', 'std', 'median', 'nunique', 'first', 'last'.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'nunique'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unique values in a group. Example: how many unique products per region.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group keys (region) from index back to a regular column. Almost always needed after groupby.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37960" y="4535424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03843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458114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.groupby(['a','b'])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895283" y="458114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multiple columns. Returns a MultiIndex result. Use reset_index() to flatten.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5120640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03843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516636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.transform('mean')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895283" y="516636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group stats but keeps original DataFrame shape. Useful for adding a 'group mean' column.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37960" y="5705856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803843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29400" y="575157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pivot_table()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895283" y="575157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groupby. Creates a cross-tabulation matrix: pd.pivot_table(df, index='region', columns='category', values='revenue', aggfunc='sum').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537960" y="4937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537960" y="4937760"/>
            <a:ext cx="53949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37960" y="5120640"/>
            <a:ext cx="53949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665976" y="502920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67144" y="50292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068312" y="50292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269480" y="4992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groupby2.py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684264" y="5321808"/>
            <a:ext cx="5120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group keys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df.groupby(['region','category'])['revenue'].sum()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group mean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df['region_avg'] = df.groupby('region')['revenue']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.transform('mean')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and Joining DataFrames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from multiple sources.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pd.merge() - Combining DataFrames on a Key Column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024128"/>
            <a:ext cx="4663440" cy="569671"/>
          </a:xfrm>
          <a:prstGeom prst="rect">
            <a:avLst/>
          </a:prstGeom>
          <a:solidFill>
            <a:srgbClr val="84CC1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28125" y="1024128"/>
            <a:ext cx="18288" cy="5696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069848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/ Parameter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19565" y="1069848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269480" y="1593799"/>
            <a:ext cx="466344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28125" y="1593799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1639519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pd.merge(left, right)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19565" y="1639519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DataFrames together. Returns a new DataFrame with columns from both.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69480" y="2163470"/>
            <a:ext cx="466344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28125" y="2163470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2209190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on='key'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319565" y="2209190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name to join on. Must exist in BOTH DataFrames.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2733142"/>
            <a:ext cx="466344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28125" y="2733142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60920" y="2778862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left_on='a', right_on='b'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319565" y="2778862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key column has different names in left and right DataFrames.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69480" y="3302813"/>
            <a:ext cx="466344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8125" y="3302813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3348533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how='inner'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319565" y="3348533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rows where the key exists in BOTH tables. Missing rows are dropped.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69480" y="3872484"/>
            <a:ext cx="466344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28125" y="3872484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60920" y="3918204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how='left'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19565" y="3918204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from the left table. Right table rows with no match get NaN.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69480" y="4442155"/>
            <a:ext cx="466344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28125" y="4442155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60920" y="4487875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how='right'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19565" y="4487875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from the right table. Left table rows with no match get NaN.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269480" y="5011826"/>
            <a:ext cx="466344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28125" y="5011826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60920" y="5057546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how='outer'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19565" y="5057546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from BOTH tables. Non-matching rows get NaN.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269480" y="5581498"/>
            <a:ext cx="4663440" cy="569671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28125" y="5581498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60920" y="5627218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suffixes=('_x','_y')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19565" y="5627218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tables have the same non-key column, suffixes distinguish them.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69480" y="6151169"/>
            <a:ext cx="4663440" cy="569671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28125" y="6151169"/>
            <a:ext cx="18288" cy="56967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60920" y="6196889"/>
            <a:ext cx="1830629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pd.concat([df1,df2])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19565" y="6196889"/>
            <a:ext cx="25219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DataFrames vertically (add rows). All columns must match. Use ignore_index=True.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269480" y="4919472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269480" y="4919472"/>
            <a:ext cx="46634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69480" y="5102352"/>
            <a:ext cx="46634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97496" y="5010912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98664" y="50109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799832" y="501091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01000" y="4974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merge.py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15784" y="5303520"/>
            <a:ext cx="4389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orders with 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pd.merge(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orders_df,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customers_df,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on='customer_id',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how='left'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monthly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pd.concat([jan, feb, mar], ignore_index=True)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apply(), map(), and applymap()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custom functions row by row or cell by cell.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apply(), map(), and applymap() - Custom Transformations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apply_map.py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map() - replace values in a Series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gender_map = {'M':'Male', 'F':'Female', '1':'Male', '0':'Female'}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 = df['gender'].map(gender_map)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apply() on a column with lambda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df['price_ngn'] = df['price'].apply(lambda x: x * 1580)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apply() with a custom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classify_margin(margin):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margin &amp;gt;= 30:  return 'High'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margin &amp;gt;= 15: return 'Medium'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return 'Low'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df['margin_class'] = df['margin_pct'].apply(classify_margin)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apply() across rows (axis=1)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full_name(row):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row['first_name'] + ' ' + row['last_name']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df['full_name'] = df.apply(full_name, axis=1)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np.where() - fast if/else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df['status'] = np.where(df['sales'] &amp;gt; 50000, 'High', 'Low')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pd.cut() - bin continuous into categories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df['age_group'] = pd.cut(df['age'],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bins=[0,18,35,50,100],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labels=['Teen','Adult','Mid','Senior'])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22D3E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series.map(dict)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values using a dictionary. Values not in the dict become NaN. Fastest for simple value replacement.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series.apply(func)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value in a Series (column). Can use lambda or a named function.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df.apply(func, axis=1)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ROW. axis=1 passes each row as a Series to the function.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x: x * 1580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function. x is each cell value. Returns the transformed value.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np.where(cond, a, b)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if/else. Where cond is True, returns a. Where False, returns b. Much faster than apply.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pd.cut(col, bins, labels)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a numeric column into labelled categories. bins=[0,18,35] creates [0-18] and [18-35] groups.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pd.qcut(col, q=4)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into EQUAL-SIZE quantile groups. q=4 creates quartiles. Unlike pd.cut which uses fixed ranges.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applymap(func)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function to every CELL in a DataFrame (not just one column). Use for formatting or type checks.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Cleaning Techniques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patterns that go beyond the basics.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PANDAS CLEANING - pivot, melt, explode, and more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94360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566928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pivot_table - cross-tabulate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= pd.pivot_table(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index='region',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columns='category',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values='revenue',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aggfunc='sum',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fill_value=0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melt - wide to long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df_long = pd.melt(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id_vars=['product'],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value_vars=['Q1','Q2','Q3','Q4'],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var_name='quarter',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value_name='revenue'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explode - split list cells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df['tags'] = df['tags'].str.split(',')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df.explode('tags')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str.extract with regex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df['year'] = df['code'].str.extract(r'(\d{4})')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EC4899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cross-tabulation. index= is the row grouping, columns= is the column grouping, aggfunc= is the calculation. fill_value=0 replaces NaN with 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a WIDE table (many columns) into a LONG table (fewer columns, more rows). Opposite of pivot. Used to prepare data for Seaborn and Plotly.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id_vars=['product']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to keep as identifiers. These stay as columns in the output.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value_vars=['Q1','Q2']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to unpivot (melt) into rows. Each becomes a value in the var_name column.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explode('col')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cell contains a list, explode() creates one row per item. 'tags': ['python','pandas'] becomes two rows.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4535424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03843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58114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str.extract(regex)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895283" y="458114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part of a string that matches a regex pattern. Returns a DataFrame.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5120640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3843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16636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pd.get_dummies(df['col'])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95283" y="516636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encoding. Converts a category column into multiple True/False (1/0) columns. Used before ML models.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5705856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3843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575157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df.pipe(func)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895283" y="575157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custom cleaning functions. df.pipe(remove_nulls).pipe(fix_types).pipe(rename_cols).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Validation and Export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data is clean. Assert it. Then export.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VALIDATION - Assert Before You Export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943600"/>
            <a:ext cx="6766560" cy="804672"/>
          </a:xfrm>
          <a:prstGeom prst="roundRect">
            <a:avLst>
              <a:gd name="adj" fmla="val 1136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943600"/>
            <a:ext cx="67665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126480"/>
            <a:ext cx="67665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0350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0350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0350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9984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32764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df.to_csv('clean_data.csv', index=False)  # export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df.to_excel('clean_data.xlsx', index=False)  # Excel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024128"/>
            <a:ext cx="4572000" cy="585216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8116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1069848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72600" y="106984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1609344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8116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165506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df.isnull().sum().sum()==0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372600" y="16550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AssertionError if any NaN remains. Use this as a hard stop.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2194560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224028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(df['price'] &amp;gt; 0).all()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372600" y="22402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only if ALL prices are positive. .all() requires every value to be True.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2779776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2825496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df['region'].isin(valid)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72600" y="282549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region is in the allowed list. Chain with .all() for validation.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3364992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3410712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df['date'].dtype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72600" y="34107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dtype is datetime64[ns], not object (string).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3950208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8116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3995928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between(1, 5)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72600" y="39959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where value is between 1 and 5. Chain .all() to validate.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4535424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458114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72600" y="458114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final shape so you can confirm expected row and column count.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360920" y="5120640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8116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52360" y="516636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to_csv(index=False)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72600" y="51663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to CSV. index=False prevents pandas adding a row number column.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360920" y="5705856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28116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52360" y="5751576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to_excel(index=False)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372600" y="575157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to Excel .xlsx format. Requires openpyxl: pip install openpyxl.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360920" y="4791456"/>
            <a:ext cx="4572000" cy="1956816"/>
          </a:xfrm>
          <a:prstGeom prst="roundRect">
            <a:avLst>
              <a:gd name="adj" fmla="val 467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360920" y="4791456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60920" y="4974336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88936" y="4882896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90104" y="488289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891272" y="488289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924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validate.py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507224" y="5175504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validation block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df.isnull().sum().sum() == 0, 'Nulls remain'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df.duplicated().sum()  == 0, 'Dupes remain'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(df['price'] &amp;gt; 0).all(), 'Negative prices'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df['date'].dtype == 'datetime64[ns]',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'Date is not datetime'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print(f'Clean dataset: {df.shape[0]:,} rows, {df.shape[1]} cols')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df.to_csv('nigeria_retail_clean.csv', index=False)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DATA CLEANING - 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70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df.copy()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df.describe()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56432" y="1078992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170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- find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481328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(df.isnull().sum()/len(df)*100)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01384" y="1078992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1170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- fill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1481328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fillna(0)  fillna(median)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fillna(method='ffill')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546336" y="1078992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56064" y="1170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- drop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56064" y="1481328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df.dropna(subset=['col'])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" y="27066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" y="3017520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56432" y="2615184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27066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017520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astype('int64')  astype('float64')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pd.to_datetime(df['date'])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01384" y="2615184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11112" y="27066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clean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11112" y="3017520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  .str.lower()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.str.replace()  .str.title()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46336" y="2615184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27066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cols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56064" y="3017520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df.rename(columns={'old':'new'})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df.columns.str.lower()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151376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" y="424281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4553712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df[df['col'] &amp;gt; 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df[df['col'].isin(list)]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df[df['col'].between(1,5)]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56432" y="4151376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EC48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424281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IQR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4553712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Q1=.quantile(0.25)  Q3=.quantile(0.75)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IQR=Q3-Q1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 &amp;gt;= Q1-1.5*IQR) and (df &amp;lt;= Q3+1.5*IQR)]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01384" y="4151376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EAB30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11112" y="424281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agg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11112" y="4553712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df.groupby('col').agg(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total=('col2','sum'),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avg=('col3','mean')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46336" y="4151376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84CC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656064" y="424281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join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56064" y="4553712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pd.merge(df1,df2,on='key',how='left')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pd.concat([df1,df2],ignore_index=True)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5687568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1208" y="57790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map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" y="6089904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series.map(dict)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series.apply(lambda x: 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np.where(cond, a, b)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56432" y="5687568"/>
            <a:ext cx="2907792" cy="1444752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66160" y="57790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66160" y="6089904"/>
            <a:ext cx="2688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df.isnull().sum().sum()==0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(df['col']&amp;gt;0).all()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df.to_csv('out.csv',index=False)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dirty="0">
                <a:solidFill>
                  <a:srgbClr val="000000"/>
                </a:solidFill>
              </a:rPr>
              <a:t>🐼</a:t>
            </a:r>
            <a:endParaRPr lang="en-US" sz="8200" dirty="0"/>
          </a:p>
        </p:txBody>
      </p:sp>
      <p:sp>
        <p:nvSpPr>
          <p:cNvPr id="8" name="Shape 6"/>
          <p:cNvSpPr/>
          <p:nvPr/>
        </p:nvSpPr>
        <p:spPr>
          <a:xfrm>
            <a:off x="0" y="4370832"/>
            <a:ext cx="4937760" cy="2487168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805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clean any real-world dataset using pandas.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5285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Kajola Gbenga Adewale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5724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5486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074920" y="159105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Pandas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074920" y="25786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Teaching Deck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3090672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218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sections covered: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360273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602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Inspect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60920" y="360273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602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46920" y="360273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3602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411480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411480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60920" y="411480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1480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Cleaning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46920" y="411480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11480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Reorder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4626864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626864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60920" y="4626864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4626864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46920" y="4626864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4626864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and agg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74920" y="513892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513892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join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60920" y="513892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513892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map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646920" y="513892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513892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74920" y="5650992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565099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Export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610819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Exploratory Data Analysis (EDA) - then Data Visualization with Matplotlib and Seaborn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with Pandas - Complete Teaching Deck</dc:title>
  <dc:subject>PptxGenJS Presentation</dc:subject>
  <dc:creator>Kajola Gbenga Adewale</dc:creator>
  <cp:lastModifiedBy>Kajola Gbenga Adewale</cp:lastModifiedBy>
  <cp:revision>1</cp:revision>
  <dcterms:created xsi:type="dcterms:W3CDTF">2026-06-24T12:50:55Z</dcterms:created>
  <dcterms:modified xsi:type="dcterms:W3CDTF">2026-06-24T12:50:55Z</dcterms:modified>
</cp:coreProperties>
</file>
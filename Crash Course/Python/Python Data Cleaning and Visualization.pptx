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Lst>
  <p:notesMasterIdLst>
    <p:notesMasterId r:id="rId4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notesMaster" Target="notesMasters/notesMaster1.xml"/><Relationship Id="rId42" Type="http://schemas.openxmlformats.org/officeDocument/2006/relationships/presProps" Target="presProps.xml"/><Relationship Id="rId43" Type="http://schemas.openxmlformats.org/officeDocument/2006/relationships/viewProps" Target="viewProps.xml"/><Relationship Id="rId44" Type="http://schemas.openxmlformats.org/officeDocument/2006/relationships/theme" Target="theme/theme1.xml"/><Relationship Id="rId4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3-hour Python Data Cleaning and Visualisation session. Platform: Google Colab. Dataset: 4,500-row Nigerian retail sales dataset with intentional dirty data built in. By end of session students will have cleaned a real dataset and produced 12 different chart types.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overview. Two equal halves of 90 minutes each. Tell students: the first half without clean data makes the second half's charts meaningless. Real analysts spend 60-80% of their time on cleaning. The visualisation half is the payoff for the cleaning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introduction. Upload nigeria_retail_sales.csv to Colab using the Files panel (left sidebar) or using the upload cell. The dataset has intentional dirty data: 190 rows with missing units, 89 with missing price, 44 with negative prices, 61 with zero units, inconsistent region values. Students will fix all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 dirty data types. Every type is present in our dataset. Walk through each one before students open their notebooks. The cost of not cleaning: a dashboard built on data with 4% negative prices will overstate costs; zero-unit rows inflate order counts; 'UNKNOWN' region breaks regional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is non-negotiable. Run all of these before touching a single row. Key insight from our dataset: df.describe() will show negative unit_price (min is negative — impossible), and zero units. value_counts() on region will reveal 'UNKNOWN'. This is the discovery phase.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value handling. The group-wise median fill is the most professional approach and the most commonly used in data engineering. Demonstrate live: first fillna() with global median, then show how group transform gives better results. Verify with df.isnull().sum()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Type fixing. The to_datetime() conversion unlocks the entire time-series analysis: filtering by month, computing day-of-week patterns, resampling weekly/monthly. Without it, every time-based analysis fails silently. Demonstrate: before to_datetime(), df['date'].dt.month fails. After, it works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Duplicates and outliers. The IQR method is the most commonly used and produces the same outlier bounds that box plots visually show. Run the box plot command and show students that the dots beyond the whiskers are exactly what the IQR formula flagged. This visual-statistical connection is powerful.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8-step pipeline is the professional workflow. Run the final assertion block that checks zero nulls, no negatives, no unknown regions, correct types — before exporting. Save the clean CSV so the visualisation session can start fresh without re-running the cleaning.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selection guide is the single most important reference in the visualisation half. Every time a student wants to make a chart, they should ask: WHY does this chart type fit this data? Print this slide. Walk through each chart, its when-to-use, and the business example. This prevents the most common mistake: using pie charts for 8 categories or line charts for nominal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cell. Run this once at the start of every visualisation session. Setting rcParams globally saves re-specifying figure size on every chart. Having a consistent palette makes dashboards look professional. Plotly charts are interactive in Colab — students can hover over data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Bar chart. The sort_values(ascending=False) is critical — always sort before plotting so the audience's eye naturally reads from most to least important. bar_label() adds value labels on top of each bar — a professional touch that removes the need to squint at the 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vs Stacked. Key rule: grouped bar is better when you need to compare the same category across groups. Stacked is better when you want to see both the total and the composition. Never use 100% stacked bar when the absolute totals matter — it hides size differences.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Line chart. The annotate() call adds a professional arrow annotation pointing to the peak month — a critical storytelling skill. The FuncFormatter for the Y axis labels (NGN20M instead of 20000000) is the single change that most improves readability in financial charts.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Area chart. The key difference from line: area charts emphasise the volume under the curve. Stacked area charts show both total and composition simultaneously. The Plotly version adds hover interactivity — when you hover, it shows all category values for that month simultaneously.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Pie charts are the most misused chart in business. The rule: if any two slices look the same size, switch to a bar chart so the audience can compare. Donut adds a label space in the centre. Both are best for 3-5 slices with one clearly dominant 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Scatter plot. The correlation coefficient r (printed on the chart) adds quantitative backing to the visual pattern. r &gt; 0.7 is strong positive. r &lt; -0.7 is strong negative. r near 0 means no linear relationship. The Plotly version with trendline='ols' fits an OLS regression line automatically and shows R² on hover.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Histogram. The most important thing to read from a histogram: is the distribution normal, right-skewed, left-skewed, or bimodal? Right-skewed margin distribution (long tail right) means most transactions are low-margin with a few very high-margin outliers. Adding mean AND median lines reveals skewness: if mean &gt; median, the data is right-skewed.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 plot. The violin plot is the box plot's sibling — it adds a kernel density curve showing exactly where the data is concentrated. Groceries may have a wide box (high variance between transactions) while Stationery has a narrow box (consistent margins). The axhline showing the overall median gives a reference line for comparison.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Heatmap. Two variants: the cross-tab heatmap (revenue by category and month) reveals seasonality patterns — Electronics peaks in November-December (Black Friday / Christmas season). The correlation heatmap shows which numeric variables move together — crucial before building any model or interpretation.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Radar chart. The normalisation step (0-100 per metric) is essential — without it, revenue (millions) would dominate the chart and all other spokes would be invisible. Plotly's interactive radar lets students hover on each spoke to see exact values. Used heavily in performance management and sales territory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Dashboard layout. plt.subplots(rows,cols) is how professional analysts combine charts into a single figure. fig.suptitle() adds an overall dashboard title. tight_layout() prevents charts from overlapping. plt.savefig() exports a publication-quality PNG. The Plotly make_subplots creates an interactive HTML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Pairplot is the most productive single command in EDA. It is the first chart a data scientist runs on a new dataset. The hue='category' parameter colours points by category — immediately reveals whether different categories have different price points, volumes, and margins.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end-to-end notebook. Run each CELL block sequentially. The cleaning pipeline in Cell 4 runs in under 5 seconds on the full 4,500-row dataset. Visualisation cells each run in 2-4 seconds. By the end students have a complete, professional analysis of the Nigerian retail dataset.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Cheat sheet. Print and distribute to every student at the end of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Students have done a complete, professional data analysis: loaded → inspected → cleaned → visualised → presented. The next session naturally flows into advanced Pandas (groupby, merge, pivot) and then Scikit-Learn for predictive analytics.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4754880" cy="6858000"/>
          </a:xfrm>
          <a:prstGeom prst="rect">
            <a:avLst/>
          </a:prstGeom>
          <a:solidFill>
            <a:srgbClr val="0D1B3E"/>
          </a:solidFill>
          <a:ln w="12700">
            <a:solidFill>
              <a:srgbClr val="0D1B3E"/>
            </a:solidFill>
            <a:prstDash val="solid"/>
          </a:ln>
        </p:spPr>
      </p:sp>
      <p:sp>
        <p:nvSpPr>
          <p:cNvPr id="3" name="Shape 1"/>
          <p:cNvSpPr/>
          <p:nvPr/>
        </p:nvSpPr>
        <p:spPr>
          <a:xfrm>
            <a:off x="402336" y="402336"/>
            <a:ext cx="1828800" cy="1828800"/>
          </a:xfrm>
          <a:prstGeom prst="roundRect">
            <a:avLst>
              <a:gd name="adj" fmla="val 7000"/>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4" name="Shape 2"/>
          <p:cNvSpPr/>
          <p:nvPr/>
        </p:nvSpPr>
        <p:spPr>
          <a:xfrm>
            <a:off x="2414016" y="402336"/>
            <a:ext cx="1828800" cy="1828800"/>
          </a:xfrm>
          <a:prstGeom prst="roundRect">
            <a:avLst>
              <a:gd name="adj" fmla="val 7000"/>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02336" y="2414016"/>
            <a:ext cx="1828800" cy="1828800"/>
          </a:xfrm>
          <a:prstGeom prst="roundRect">
            <a:avLst>
              <a:gd name="adj" fmla="val 7000"/>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6" name="Shape 4"/>
          <p:cNvSpPr/>
          <p:nvPr/>
        </p:nvSpPr>
        <p:spPr>
          <a:xfrm>
            <a:off x="2414016" y="2414016"/>
            <a:ext cx="1828800" cy="1828800"/>
          </a:xfrm>
          <a:prstGeom prst="roundRect">
            <a:avLst>
              <a:gd name="adj" fmla="val 7000"/>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7" name="Text 5"/>
          <p:cNvSpPr/>
          <p:nvPr/>
        </p:nvSpPr>
        <p:spPr>
          <a:xfrm>
            <a:off x="402336" y="402336"/>
            <a:ext cx="3840480" cy="3840480"/>
          </a:xfrm>
          <a:prstGeom prst="rect">
            <a:avLst/>
          </a:prstGeom>
          <a:noFill/>
          <a:ln/>
        </p:spPr>
        <p:txBody>
          <a:bodyPr wrap="square" lIns="0" tIns="0" rIns="0" bIns="0" rtlCol="0" anchor="ctr"/>
          <a:lstStyle/>
          <a:p>
            <a:pPr algn="ctr" indent="0" marL="0">
              <a:buNone/>
            </a:pPr>
            <a:r>
              <a:rPr lang="en-US" sz="8800" dirty="0">
                <a:solidFill>
                  <a:srgbClr val="000000"/>
                </a:solidFill>
              </a:rPr>
              <a:t>🐍</a:t>
            </a:r>
            <a:endParaRPr lang="en-US" sz="8800" dirty="0"/>
          </a:p>
        </p:txBody>
      </p:sp>
      <p:sp>
        <p:nvSpPr>
          <p:cNvPr id="8" name="Shape 6"/>
          <p:cNvSpPr/>
          <p:nvPr/>
        </p:nvSpPr>
        <p:spPr>
          <a:xfrm>
            <a:off x="0" y="4389120"/>
            <a:ext cx="4754880" cy="2468880"/>
          </a:xfrm>
          <a:prstGeom prst="rect">
            <a:avLst/>
          </a:prstGeom>
          <a:solidFill>
            <a:srgbClr val="0A1220"/>
          </a:solidFill>
          <a:ln w="12700">
            <a:solidFill>
              <a:srgbClr val="0A1220"/>
            </a:solidFill>
            <a:prstDash val="solid"/>
          </a:ln>
        </p:spPr>
      </p:sp>
      <p:sp>
        <p:nvSpPr>
          <p:cNvPr id="9" name="Text 7"/>
          <p:cNvSpPr/>
          <p:nvPr/>
        </p:nvSpPr>
        <p:spPr>
          <a:xfrm>
            <a:off x="0" y="4517136"/>
            <a:ext cx="4754880" cy="310896"/>
          </a:xfrm>
          <a:prstGeom prst="rect">
            <a:avLst/>
          </a:prstGeom>
          <a:noFill/>
          <a:ln/>
        </p:spPr>
        <p:txBody>
          <a:bodyPr wrap="square" lIns="0" tIns="0" rIns="0" bIns="0" rtlCol="0" anchor="ctr"/>
          <a:lstStyle/>
          <a:p>
            <a:pPr algn="ctr" indent="0" marL="0">
              <a:buNone/>
            </a:pPr>
            <a:r>
              <a:rPr lang="en-US" sz="950" b="1" spc="200" kern="0" dirty="0">
                <a:solidFill>
                  <a:srgbClr val="94A3B8"/>
                </a:solidFill>
                <a:latin typeface="Calibri" pitchFamily="34" charset="0"/>
                <a:ea typeface="Calibri" pitchFamily="34" charset="-122"/>
                <a:cs typeface="Calibri" pitchFamily="34" charset="-120"/>
              </a:rPr>
              <a:t>KAJOLA GBENGA ADEWALE</a:t>
            </a:r>
            <a:endParaRPr lang="en-US" sz="950" dirty="0"/>
          </a:p>
        </p:txBody>
      </p:sp>
      <p:sp>
        <p:nvSpPr>
          <p:cNvPr id="10" name="Text 8"/>
          <p:cNvSpPr/>
          <p:nvPr/>
        </p:nvSpPr>
        <p:spPr>
          <a:xfrm>
            <a:off x="0" y="4901184"/>
            <a:ext cx="475488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1" name="Text 9"/>
          <p:cNvSpPr/>
          <p:nvPr/>
        </p:nvSpPr>
        <p:spPr>
          <a:xfrm>
            <a:off x="4983480" y="594360"/>
            <a:ext cx="7040880" cy="114300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Python</a:t>
            </a:r>
            <a:endParaRPr lang="en-US" sz="5200" dirty="0"/>
          </a:p>
        </p:txBody>
      </p:sp>
      <p:sp>
        <p:nvSpPr>
          <p:cNvPr id="12" name="Text 10"/>
          <p:cNvSpPr/>
          <p:nvPr/>
        </p:nvSpPr>
        <p:spPr>
          <a:xfrm>
            <a:off x="4983480" y="1691640"/>
            <a:ext cx="7040880" cy="822960"/>
          </a:xfrm>
          <a:prstGeom prst="rect">
            <a:avLst/>
          </a:prstGeom>
          <a:noFill/>
          <a:ln/>
        </p:spPr>
        <p:txBody>
          <a:bodyPr wrap="square" lIns="0" tIns="0" rIns="0" bIns="0" rtlCol="0" anchor="ctr"/>
          <a:lstStyle/>
          <a:p>
            <a:pPr indent="0" marL="0">
              <a:buNone/>
            </a:pPr>
            <a:r>
              <a:rPr lang="en-US" sz="3600" b="1" dirty="0">
                <a:solidFill>
                  <a:srgbClr val="F9AB00"/>
                </a:solidFill>
                <a:latin typeface="Cambria" pitchFamily="34" charset="0"/>
                <a:ea typeface="Cambria" pitchFamily="34" charset="-122"/>
                <a:cs typeface="Cambria" pitchFamily="34" charset="-120"/>
              </a:rPr>
              <a:t>Data Cleaning and</a:t>
            </a:r>
            <a:endParaRPr lang="en-US" sz="3600" dirty="0"/>
          </a:p>
        </p:txBody>
      </p:sp>
      <p:sp>
        <p:nvSpPr>
          <p:cNvPr id="13" name="Text 11"/>
          <p:cNvSpPr/>
          <p:nvPr/>
        </p:nvSpPr>
        <p:spPr>
          <a:xfrm>
            <a:off x="4983480" y="2450592"/>
            <a:ext cx="7040880" cy="822960"/>
          </a:xfrm>
          <a:prstGeom prst="rect">
            <a:avLst/>
          </a:prstGeom>
          <a:noFill/>
          <a:ln/>
        </p:spPr>
        <p:txBody>
          <a:bodyPr wrap="square" lIns="0" tIns="0" rIns="0" bIns="0" rtlCol="0" anchor="ctr"/>
          <a:lstStyle/>
          <a:p>
            <a:pPr indent="0" marL="0">
              <a:buNone/>
            </a:pPr>
            <a:r>
              <a:rPr lang="en-US" sz="3600" b="1" dirty="0">
                <a:solidFill>
                  <a:srgbClr val="F9AB00"/>
                </a:solidFill>
                <a:latin typeface="Cambria" pitchFamily="34" charset="0"/>
                <a:ea typeface="Cambria" pitchFamily="34" charset="-122"/>
                <a:cs typeface="Cambria" pitchFamily="34" charset="-120"/>
              </a:rPr>
              <a:t>Data Visualisation</a:t>
            </a:r>
            <a:endParaRPr lang="en-US" sz="3600" dirty="0"/>
          </a:p>
        </p:txBody>
      </p:sp>
      <p:sp>
        <p:nvSpPr>
          <p:cNvPr id="14" name="Text 12"/>
          <p:cNvSpPr/>
          <p:nvPr/>
        </p:nvSpPr>
        <p:spPr>
          <a:xfrm>
            <a:off x="4983480" y="3337560"/>
            <a:ext cx="7040880" cy="347472"/>
          </a:xfrm>
          <a:prstGeom prst="rect">
            <a:avLst/>
          </a:prstGeom>
          <a:noFill/>
          <a:ln/>
        </p:spPr>
        <p:txBody>
          <a:bodyPr wrap="square" lIns="0" tIns="0" rIns="0" bIns="0" rtlCol="0" anchor="ctr"/>
          <a:lstStyle/>
          <a:p>
            <a:pPr indent="0" marL="0">
              <a:buNone/>
            </a:pPr>
            <a:r>
              <a:rPr lang="en-US" sz="1300" i="1" dirty="0">
                <a:solidFill>
                  <a:srgbClr val="94A3B8"/>
                </a:solidFill>
                <a:latin typeface="Calibri" pitchFamily="34" charset="0"/>
                <a:ea typeface="Calibri" pitchFamily="34" charset="-122"/>
                <a:cs typeface="Calibri" pitchFamily="34" charset="-120"/>
              </a:rPr>
              <a:t>3-Hour Complete Session  |  Google Colab  |  Real Dataset</a:t>
            </a:r>
            <a:endParaRPr lang="en-US" sz="1300" dirty="0"/>
          </a:p>
        </p:txBody>
      </p:sp>
      <p:sp>
        <p:nvSpPr>
          <p:cNvPr id="15" name="Shape 13"/>
          <p:cNvSpPr/>
          <p:nvPr/>
        </p:nvSpPr>
        <p:spPr>
          <a:xfrm>
            <a:off x="4983480" y="3785616"/>
            <a:ext cx="6858000" cy="45720"/>
          </a:xfrm>
          <a:prstGeom prst="rect">
            <a:avLst/>
          </a:prstGeom>
          <a:solidFill>
            <a:srgbClr val="2563EB"/>
          </a:solidFill>
          <a:ln w="12700">
            <a:solidFill>
              <a:srgbClr val="2563EB"/>
            </a:solidFill>
            <a:prstDash val="solid"/>
          </a:ln>
        </p:spPr>
      </p:sp>
      <p:sp>
        <p:nvSpPr>
          <p:cNvPr id="16" name="Shape 14"/>
          <p:cNvSpPr/>
          <p:nvPr/>
        </p:nvSpPr>
        <p:spPr>
          <a:xfrm>
            <a:off x="4983480" y="3931920"/>
            <a:ext cx="2267712" cy="475488"/>
          </a:xfrm>
          <a:prstGeom prst="roundRect">
            <a:avLst>
              <a:gd name="adj" fmla="val 15385"/>
            </a:avLst>
          </a:prstGeom>
          <a:solidFill>
            <a:srgbClr val="E11D48"/>
          </a:solidFill>
          <a:ln w="12700">
            <a:solidFill>
              <a:srgbClr val="E11D48"/>
            </a:solidFill>
            <a:prstDash val="solid"/>
          </a:ln>
        </p:spPr>
      </p:sp>
      <p:sp>
        <p:nvSpPr>
          <p:cNvPr id="17" name="Text 15"/>
          <p:cNvSpPr/>
          <p:nvPr/>
        </p:nvSpPr>
        <p:spPr>
          <a:xfrm>
            <a:off x="4983480" y="3931920"/>
            <a:ext cx="226771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Data Cleaning</a:t>
            </a:r>
            <a:endParaRPr lang="en-US" sz="1100" dirty="0"/>
          </a:p>
        </p:txBody>
      </p:sp>
      <p:sp>
        <p:nvSpPr>
          <p:cNvPr id="18" name="Shape 16"/>
          <p:cNvSpPr/>
          <p:nvPr/>
        </p:nvSpPr>
        <p:spPr>
          <a:xfrm>
            <a:off x="7360920" y="3931920"/>
            <a:ext cx="2267712" cy="475488"/>
          </a:xfrm>
          <a:prstGeom prst="roundRect">
            <a:avLst>
              <a:gd name="adj" fmla="val 15385"/>
            </a:avLst>
          </a:prstGeom>
          <a:solidFill>
            <a:srgbClr val="2563EB"/>
          </a:solidFill>
          <a:ln w="12700">
            <a:solidFill>
              <a:srgbClr val="2563EB"/>
            </a:solidFill>
            <a:prstDash val="solid"/>
          </a:ln>
        </p:spPr>
      </p:sp>
      <p:sp>
        <p:nvSpPr>
          <p:cNvPr id="19" name="Text 17"/>
          <p:cNvSpPr/>
          <p:nvPr/>
        </p:nvSpPr>
        <p:spPr>
          <a:xfrm>
            <a:off x="7360920" y="3931920"/>
            <a:ext cx="226771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12 Chart Types</a:t>
            </a:r>
            <a:endParaRPr lang="en-US" sz="1100" dirty="0"/>
          </a:p>
        </p:txBody>
      </p:sp>
      <p:sp>
        <p:nvSpPr>
          <p:cNvPr id="20" name="Shape 18"/>
          <p:cNvSpPr/>
          <p:nvPr/>
        </p:nvSpPr>
        <p:spPr>
          <a:xfrm>
            <a:off x="9738360" y="3931920"/>
            <a:ext cx="2267712" cy="475488"/>
          </a:xfrm>
          <a:prstGeom prst="roundRect">
            <a:avLst>
              <a:gd name="adj" fmla="val 15385"/>
            </a:avLst>
          </a:prstGeom>
          <a:solidFill>
            <a:srgbClr val="16A34A"/>
          </a:solidFill>
          <a:ln w="12700">
            <a:solidFill>
              <a:srgbClr val="16A34A"/>
            </a:solidFill>
            <a:prstDash val="solid"/>
          </a:ln>
        </p:spPr>
      </p:sp>
      <p:sp>
        <p:nvSpPr>
          <p:cNvPr id="21" name="Text 19"/>
          <p:cNvSpPr/>
          <p:nvPr/>
        </p:nvSpPr>
        <p:spPr>
          <a:xfrm>
            <a:off x="9738360" y="3931920"/>
            <a:ext cx="226771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Real Dataset</a:t>
            </a:r>
            <a:endParaRPr lang="en-US" sz="1100" dirty="0"/>
          </a:p>
        </p:txBody>
      </p:sp>
      <p:sp>
        <p:nvSpPr>
          <p:cNvPr id="22" name="Shape 20"/>
          <p:cNvSpPr/>
          <p:nvPr/>
        </p:nvSpPr>
        <p:spPr>
          <a:xfrm>
            <a:off x="4983480" y="4498848"/>
            <a:ext cx="2267712" cy="475488"/>
          </a:xfrm>
          <a:prstGeom prst="roundRect">
            <a:avLst>
              <a:gd name="adj" fmla="val 15385"/>
            </a:avLst>
          </a:prstGeom>
          <a:solidFill>
            <a:srgbClr val="7C3AED"/>
          </a:solidFill>
          <a:ln w="12700">
            <a:solidFill>
              <a:srgbClr val="7C3AED"/>
            </a:solidFill>
            <a:prstDash val="solid"/>
          </a:ln>
        </p:spPr>
      </p:sp>
      <p:sp>
        <p:nvSpPr>
          <p:cNvPr id="23" name="Text 21"/>
          <p:cNvSpPr/>
          <p:nvPr/>
        </p:nvSpPr>
        <p:spPr>
          <a:xfrm>
            <a:off x="4983480" y="4498848"/>
            <a:ext cx="226771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EDA</a:t>
            </a:r>
            <a:endParaRPr lang="en-US" sz="1100" dirty="0"/>
          </a:p>
        </p:txBody>
      </p:sp>
      <p:sp>
        <p:nvSpPr>
          <p:cNvPr id="24" name="Shape 22"/>
          <p:cNvSpPr/>
          <p:nvPr/>
        </p:nvSpPr>
        <p:spPr>
          <a:xfrm>
            <a:off x="7360920" y="4498848"/>
            <a:ext cx="2267712" cy="475488"/>
          </a:xfrm>
          <a:prstGeom prst="roundRect">
            <a:avLst>
              <a:gd name="adj" fmla="val 15385"/>
            </a:avLst>
          </a:prstGeom>
          <a:solidFill>
            <a:srgbClr val="0891B2"/>
          </a:solidFill>
          <a:ln w="12700">
            <a:solidFill>
              <a:srgbClr val="0891B2"/>
            </a:solidFill>
            <a:prstDash val="solid"/>
          </a:ln>
        </p:spPr>
      </p:sp>
      <p:sp>
        <p:nvSpPr>
          <p:cNvPr id="25" name="Text 23"/>
          <p:cNvSpPr/>
          <p:nvPr/>
        </p:nvSpPr>
        <p:spPr>
          <a:xfrm>
            <a:off x="7360920" y="4498848"/>
            <a:ext cx="226771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Seaborn</a:t>
            </a:r>
            <a:endParaRPr lang="en-US" sz="1100" dirty="0"/>
          </a:p>
        </p:txBody>
      </p:sp>
      <p:sp>
        <p:nvSpPr>
          <p:cNvPr id="26" name="Shape 24"/>
          <p:cNvSpPr/>
          <p:nvPr/>
        </p:nvSpPr>
        <p:spPr>
          <a:xfrm>
            <a:off x="9738360" y="4498848"/>
            <a:ext cx="2267712" cy="475488"/>
          </a:xfrm>
          <a:prstGeom prst="roundRect">
            <a:avLst>
              <a:gd name="adj" fmla="val 15385"/>
            </a:avLst>
          </a:prstGeom>
          <a:solidFill>
            <a:srgbClr val="F9AB00"/>
          </a:solidFill>
          <a:ln w="12700">
            <a:solidFill>
              <a:srgbClr val="F9AB00"/>
            </a:solidFill>
            <a:prstDash val="solid"/>
          </a:ln>
        </p:spPr>
      </p:sp>
      <p:sp>
        <p:nvSpPr>
          <p:cNvPr id="27" name="Text 25"/>
          <p:cNvSpPr/>
          <p:nvPr/>
        </p:nvSpPr>
        <p:spPr>
          <a:xfrm>
            <a:off x="9738360" y="4498848"/>
            <a:ext cx="2267712"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Plotly</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SESSION OVERVIEW — 3 HOURS, TWO MAJOR PARTS</a:t>
            </a:r>
            <a:endParaRPr lang="en-US" sz="2600" dirty="0"/>
          </a:p>
        </p:txBody>
      </p:sp>
      <p:sp>
        <p:nvSpPr>
          <p:cNvPr id="4" name="Shape 2"/>
          <p:cNvSpPr/>
          <p:nvPr/>
        </p:nvSpPr>
        <p:spPr>
          <a:xfrm>
            <a:off x="411480" y="1051560"/>
            <a:ext cx="5650992" cy="5577840"/>
          </a:xfrm>
          <a:prstGeom prst="roundRect">
            <a:avLst>
              <a:gd name="adj" fmla="val 1967"/>
            </a:avLst>
          </a:prstGeom>
          <a:solidFill>
            <a:srgbClr val="FFFFFF"/>
          </a:solidFill>
          <a:ln w="19050">
            <a:solidFill>
              <a:srgbClr val="E11D48"/>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51560"/>
            <a:ext cx="5650992" cy="640080"/>
          </a:xfrm>
          <a:prstGeom prst="roundRect">
            <a:avLst>
              <a:gd name="adj" fmla="val 17143"/>
            </a:avLst>
          </a:prstGeom>
          <a:solidFill>
            <a:srgbClr val="E11D48"/>
          </a:solidFill>
          <a:ln w="12700">
            <a:solidFill>
              <a:srgbClr val="E11D48"/>
            </a:solidFill>
            <a:prstDash val="solid"/>
          </a:ln>
        </p:spPr>
      </p:sp>
      <p:sp>
        <p:nvSpPr>
          <p:cNvPr id="6" name="Shape 4"/>
          <p:cNvSpPr/>
          <p:nvPr/>
        </p:nvSpPr>
        <p:spPr>
          <a:xfrm>
            <a:off x="411480" y="1417320"/>
            <a:ext cx="5650992" cy="274320"/>
          </a:xfrm>
          <a:prstGeom prst="rect">
            <a:avLst/>
          </a:prstGeom>
          <a:solidFill>
            <a:srgbClr val="E11D48"/>
          </a:solidFill>
          <a:ln w="12700">
            <a:solidFill>
              <a:srgbClr val="E11D48"/>
            </a:solidFill>
            <a:prstDash val="solid"/>
          </a:ln>
        </p:spPr>
      </p:sp>
      <p:sp>
        <p:nvSpPr>
          <p:cNvPr id="7" name="Text 5"/>
          <p:cNvSpPr/>
          <p:nvPr/>
        </p:nvSpPr>
        <p:spPr>
          <a:xfrm>
            <a:off x="566928" y="1133856"/>
            <a:ext cx="5349240" cy="493776"/>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PART 1: Data Cleaning (90 min)</a:t>
            </a:r>
            <a:endParaRPr lang="en-US" sz="1300" dirty="0"/>
          </a:p>
        </p:txBody>
      </p:sp>
      <p:sp>
        <p:nvSpPr>
          <p:cNvPr id="8" name="Shape 6"/>
          <p:cNvSpPr/>
          <p:nvPr/>
        </p:nvSpPr>
        <p:spPr>
          <a:xfrm>
            <a:off x="566928" y="2011680"/>
            <a:ext cx="201168" cy="201168"/>
          </a:xfrm>
          <a:prstGeom prst="ellipse">
            <a:avLst/>
          </a:prstGeom>
          <a:solidFill>
            <a:srgbClr val="E11D48"/>
          </a:solidFill>
          <a:ln w="12700">
            <a:solidFill>
              <a:srgbClr val="E11D48"/>
            </a:solidFill>
            <a:prstDash val="solid"/>
          </a:ln>
        </p:spPr>
      </p:sp>
      <p:sp>
        <p:nvSpPr>
          <p:cNvPr id="9" name="Text 7"/>
          <p:cNvSpPr/>
          <p:nvPr/>
        </p:nvSpPr>
        <p:spPr>
          <a:xfrm>
            <a:off x="841248" y="1810512"/>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01: Why clean data matters and the cost of dirty data</a:t>
            </a:r>
            <a:endParaRPr lang="en-US" sz="1100" dirty="0"/>
          </a:p>
        </p:txBody>
      </p:sp>
      <p:sp>
        <p:nvSpPr>
          <p:cNvPr id="10" name="Shape 8"/>
          <p:cNvSpPr/>
          <p:nvPr/>
        </p:nvSpPr>
        <p:spPr>
          <a:xfrm>
            <a:off x="566928" y="2670048"/>
            <a:ext cx="201168" cy="201168"/>
          </a:xfrm>
          <a:prstGeom prst="ellipse">
            <a:avLst/>
          </a:prstGeom>
          <a:solidFill>
            <a:srgbClr val="E11D48"/>
          </a:solidFill>
          <a:ln w="12700">
            <a:solidFill>
              <a:srgbClr val="E11D48"/>
            </a:solidFill>
            <a:prstDash val="solid"/>
          </a:ln>
        </p:spPr>
      </p:sp>
      <p:sp>
        <p:nvSpPr>
          <p:cNvPr id="11" name="Text 9"/>
          <p:cNvSpPr/>
          <p:nvPr/>
        </p:nvSpPr>
        <p:spPr>
          <a:xfrm>
            <a:off x="841248" y="2468880"/>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02: Loading and inspecting the dataset in Colab</a:t>
            </a:r>
            <a:endParaRPr lang="en-US" sz="1100" dirty="0"/>
          </a:p>
        </p:txBody>
      </p:sp>
      <p:sp>
        <p:nvSpPr>
          <p:cNvPr id="12" name="Shape 10"/>
          <p:cNvSpPr/>
          <p:nvPr/>
        </p:nvSpPr>
        <p:spPr>
          <a:xfrm>
            <a:off x="566928" y="3328416"/>
            <a:ext cx="201168" cy="201168"/>
          </a:xfrm>
          <a:prstGeom prst="ellipse">
            <a:avLst/>
          </a:prstGeom>
          <a:solidFill>
            <a:srgbClr val="E11D48"/>
          </a:solidFill>
          <a:ln w="12700">
            <a:solidFill>
              <a:srgbClr val="E11D48"/>
            </a:solidFill>
            <a:prstDash val="solid"/>
          </a:ln>
        </p:spPr>
      </p:sp>
      <p:sp>
        <p:nvSpPr>
          <p:cNvPr id="13" name="Text 11"/>
          <p:cNvSpPr/>
          <p:nvPr/>
        </p:nvSpPr>
        <p:spPr>
          <a:xfrm>
            <a:off x="841248" y="3127248"/>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03: Handling missing values (dropna, fillna)</a:t>
            </a:r>
            <a:endParaRPr lang="en-US" sz="1100" dirty="0"/>
          </a:p>
        </p:txBody>
      </p:sp>
      <p:sp>
        <p:nvSpPr>
          <p:cNvPr id="14" name="Shape 12"/>
          <p:cNvSpPr/>
          <p:nvPr/>
        </p:nvSpPr>
        <p:spPr>
          <a:xfrm>
            <a:off x="566928" y="3986784"/>
            <a:ext cx="201168" cy="201168"/>
          </a:xfrm>
          <a:prstGeom prst="ellipse">
            <a:avLst/>
          </a:prstGeom>
          <a:solidFill>
            <a:srgbClr val="E11D48"/>
          </a:solidFill>
          <a:ln w="12700">
            <a:solidFill>
              <a:srgbClr val="E11D48"/>
            </a:solidFill>
            <a:prstDash val="solid"/>
          </a:ln>
        </p:spPr>
      </p:sp>
      <p:sp>
        <p:nvSpPr>
          <p:cNvPr id="15" name="Text 13"/>
          <p:cNvSpPr/>
          <p:nvPr/>
        </p:nvSpPr>
        <p:spPr>
          <a:xfrm>
            <a:off x="841248" y="3785616"/>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04: Fixing data types (astype, to_datetime)</a:t>
            </a:r>
            <a:endParaRPr lang="en-US" sz="1100" dirty="0"/>
          </a:p>
        </p:txBody>
      </p:sp>
      <p:sp>
        <p:nvSpPr>
          <p:cNvPr id="16" name="Shape 14"/>
          <p:cNvSpPr/>
          <p:nvPr/>
        </p:nvSpPr>
        <p:spPr>
          <a:xfrm>
            <a:off x="566928" y="4645152"/>
            <a:ext cx="201168" cy="201168"/>
          </a:xfrm>
          <a:prstGeom prst="ellipse">
            <a:avLst/>
          </a:prstGeom>
          <a:solidFill>
            <a:srgbClr val="E11D48"/>
          </a:solidFill>
          <a:ln w="12700">
            <a:solidFill>
              <a:srgbClr val="E11D48"/>
            </a:solidFill>
            <a:prstDash val="solid"/>
          </a:ln>
        </p:spPr>
      </p:sp>
      <p:sp>
        <p:nvSpPr>
          <p:cNvPr id="17" name="Text 15"/>
          <p:cNvSpPr/>
          <p:nvPr/>
        </p:nvSpPr>
        <p:spPr>
          <a:xfrm>
            <a:off x="841248" y="4443984"/>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05: Removing duplicates and outliers</a:t>
            </a:r>
            <a:endParaRPr lang="en-US" sz="1100" dirty="0"/>
          </a:p>
        </p:txBody>
      </p:sp>
      <p:sp>
        <p:nvSpPr>
          <p:cNvPr id="18" name="Shape 16"/>
          <p:cNvSpPr/>
          <p:nvPr/>
        </p:nvSpPr>
        <p:spPr>
          <a:xfrm>
            <a:off x="566928" y="5303520"/>
            <a:ext cx="201168" cy="201168"/>
          </a:xfrm>
          <a:prstGeom prst="ellipse">
            <a:avLst/>
          </a:prstGeom>
          <a:solidFill>
            <a:srgbClr val="E11D48"/>
          </a:solidFill>
          <a:ln w="12700">
            <a:solidFill>
              <a:srgbClr val="E11D48"/>
            </a:solidFill>
            <a:prstDash val="solid"/>
          </a:ln>
        </p:spPr>
      </p:sp>
      <p:sp>
        <p:nvSpPr>
          <p:cNvPr id="19" name="Text 17"/>
          <p:cNvSpPr/>
          <p:nvPr/>
        </p:nvSpPr>
        <p:spPr>
          <a:xfrm>
            <a:off x="841248" y="5102352"/>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06: Validating and exporting clean data</a:t>
            </a:r>
            <a:endParaRPr lang="en-US" sz="1100" dirty="0"/>
          </a:p>
        </p:txBody>
      </p:sp>
      <p:sp>
        <p:nvSpPr>
          <p:cNvPr id="20" name="Shape 18"/>
          <p:cNvSpPr/>
          <p:nvPr/>
        </p:nvSpPr>
        <p:spPr>
          <a:xfrm>
            <a:off x="6355080" y="1051560"/>
            <a:ext cx="5650992" cy="5577840"/>
          </a:xfrm>
          <a:prstGeom prst="roundRect">
            <a:avLst>
              <a:gd name="adj" fmla="val 1967"/>
            </a:avLst>
          </a:prstGeom>
          <a:solidFill>
            <a:srgbClr val="FFFFFF"/>
          </a:solidFill>
          <a:ln w="19050">
            <a:solidFill>
              <a:srgbClr val="2563EB"/>
            </a:solidFill>
            <a:prstDash val="solid"/>
          </a:ln>
          <a:effectLst>
            <a:outerShdw sx="100000" sy="100000" kx="0" ky="0" algn="bl" rotWithShape="0" blurRad="127000" dist="50800" dir="2700000">
              <a:srgbClr val="000000">
                <a:alpha val="18000"/>
              </a:srgbClr>
            </a:outerShdw>
          </a:effectLst>
        </p:spPr>
      </p:sp>
      <p:sp>
        <p:nvSpPr>
          <p:cNvPr id="21" name="Shape 19"/>
          <p:cNvSpPr/>
          <p:nvPr/>
        </p:nvSpPr>
        <p:spPr>
          <a:xfrm>
            <a:off x="6355080" y="1051560"/>
            <a:ext cx="5650992" cy="640080"/>
          </a:xfrm>
          <a:prstGeom prst="roundRect">
            <a:avLst>
              <a:gd name="adj" fmla="val 17143"/>
            </a:avLst>
          </a:prstGeom>
          <a:solidFill>
            <a:srgbClr val="2563EB"/>
          </a:solidFill>
          <a:ln w="12700">
            <a:solidFill>
              <a:srgbClr val="2563EB"/>
            </a:solidFill>
            <a:prstDash val="solid"/>
          </a:ln>
        </p:spPr>
      </p:sp>
      <p:sp>
        <p:nvSpPr>
          <p:cNvPr id="22" name="Shape 20"/>
          <p:cNvSpPr/>
          <p:nvPr/>
        </p:nvSpPr>
        <p:spPr>
          <a:xfrm>
            <a:off x="6355080" y="1417320"/>
            <a:ext cx="5650992" cy="274320"/>
          </a:xfrm>
          <a:prstGeom prst="rect">
            <a:avLst/>
          </a:prstGeom>
          <a:solidFill>
            <a:srgbClr val="2563EB"/>
          </a:solidFill>
          <a:ln w="12700">
            <a:solidFill>
              <a:srgbClr val="2563EB"/>
            </a:solidFill>
            <a:prstDash val="solid"/>
          </a:ln>
        </p:spPr>
      </p:sp>
      <p:sp>
        <p:nvSpPr>
          <p:cNvPr id="23" name="Text 21"/>
          <p:cNvSpPr/>
          <p:nvPr/>
        </p:nvSpPr>
        <p:spPr>
          <a:xfrm>
            <a:off x="6510528" y="1133856"/>
            <a:ext cx="5349240" cy="493776"/>
          </a:xfrm>
          <a:prstGeom prst="rect">
            <a:avLst/>
          </a:prstGeom>
          <a:noFill/>
          <a:ln/>
        </p:spPr>
        <p:txBody>
          <a:bodyPr wrap="square" lIns="0" tIns="0" rIns="0" bIns="0" rtlCol="0" anchor="ctr"/>
          <a:lstStyle/>
          <a:p>
            <a:pPr indent="0" marL="0">
              <a:buNone/>
            </a:pPr>
            <a:r>
              <a:rPr lang="en-US" sz="1300" b="1" dirty="0">
                <a:solidFill>
                  <a:srgbClr val="FFFFFF"/>
                </a:solidFill>
                <a:latin typeface="Cambria" pitchFamily="34" charset="0"/>
                <a:ea typeface="Cambria" pitchFamily="34" charset="-122"/>
                <a:cs typeface="Cambria" pitchFamily="34" charset="-120"/>
              </a:rPr>
              <a:t>PART 2: Data Visualisation (90 min)</a:t>
            </a:r>
            <a:endParaRPr lang="en-US" sz="1300" dirty="0"/>
          </a:p>
        </p:txBody>
      </p:sp>
      <p:sp>
        <p:nvSpPr>
          <p:cNvPr id="24" name="Shape 22"/>
          <p:cNvSpPr/>
          <p:nvPr/>
        </p:nvSpPr>
        <p:spPr>
          <a:xfrm>
            <a:off x="6510528" y="2011680"/>
            <a:ext cx="201168" cy="201168"/>
          </a:xfrm>
          <a:prstGeom prst="ellipse">
            <a:avLst/>
          </a:prstGeom>
          <a:solidFill>
            <a:srgbClr val="2563EB"/>
          </a:solidFill>
          <a:ln w="12700">
            <a:solidFill>
              <a:srgbClr val="2563EB"/>
            </a:solidFill>
            <a:prstDash val="solid"/>
          </a:ln>
        </p:spPr>
      </p:sp>
      <p:sp>
        <p:nvSpPr>
          <p:cNvPr id="25" name="Text 23"/>
          <p:cNvSpPr/>
          <p:nvPr/>
        </p:nvSpPr>
        <p:spPr>
          <a:xfrm>
            <a:off x="6784848" y="1810512"/>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07: Visualisation principles and chart selection guide</a:t>
            </a:r>
            <a:endParaRPr lang="en-US" sz="1100" dirty="0"/>
          </a:p>
        </p:txBody>
      </p:sp>
      <p:sp>
        <p:nvSpPr>
          <p:cNvPr id="26" name="Shape 24"/>
          <p:cNvSpPr/>
          <p:nvPr/>
        </p:nvSpPr>
        <p:spPr>
          <a:xfrm>
            <a:off x="6510528" y="2670048"/>
            <a:ext cx="201168" cy="201168"/>
          </a:xfrm>
          <a:prstGeom prst="ellipse">
            <a:avLst/>
          </a:prstGeom>
          <a:solidFill>
            <a:srgbClr val="2563EB"/>
          </a:solidFill>
          <a:ln w="12700">
            <a:solidFill>
              <a:srgbClr val="2563EB"/>
            </a:solidFill>
            <a:prstDash val="solid"/>
          </a:ln>
        </p:spPr>
      </p:sp>
      <p:sp>
        <p:nvSpPr>
          <p:cNvPr id="27" name="Text 25"/>
          <p:cNvSpPr/>
          <p:nvPr/>
        </p:nvSpPr>
        <p:spPr>
          <a:xfrm>
            <a:off x="6784848" y="2468880"/>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08: Bar, Grouped Bar, and Stacked Bar charts</a:t>
            </a:r>
            <a:endParaRPr lang="en-US" sz="1100" dirty="0"/>
          </a:p>
        </p:txBody>
      </p:sp>
      <p:sp>
        <p:nvSpPr>
          <p:cNvPr id="28" name="Shape 26"/>
          <p:cNvSpPr/>
          <p:nvPr/>
        </p:nvSpPr>
        <p:spPr>
          <a:xfrm>
            <a:off x="6510528" y="3328416"/>
            <a:ext cx="201168" cy="201168"/>
          </a:xfrm>
          <a:prstGeom prst="ellipse">
            <a:avLst/>
          </a:prstGeom>
          <a:solidFill>
            <a:srgbClr val="2563EB"/>
          </a:solidFill>
          <a:ln w="12700">
            <a:solidFill>
              <a:srgbClr val="2563EB"/>
            </a:solidFill>
            <a:prstDash val="solid"/>
          </a:ln>
        </p:spPr>
      </p:sp>
      <p:sp>
        <p:nvSpPr>
          <p:cNvPr id="29" name="Text 27"/>
          <p:cNvSpPr/>
          <p:nvPr/>
        </p:nvSpPr>
        <p:spPr>
          <a:xfrm>
            <a:off x="6784848" y="3127248"/>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09: Line charts and Area charts</a:t>
            </a:r>
            <a:endParaRPr lang="en-US" sz="1100" dirty="0"/>
          </a:p>
        </p:txBody>
      </p:sp>
      <p:sp>
        <p:nvSpPr>
          <p:cNvPr id="30" name="Shape 28"/>
          <p:cNvSpPr/>
          <p:nvPr/>
        </p:nvSpPr>
        <p:spPr>
          <a:xfrm>
            <a:off x="6510528" y="3986784"/>
            <a:ext cx="201168" cy="201168"/>
          </a:xfrm>
          <a:prstGeom prst="ellipse">
            <a:avLst/>
          </a:prstGeom>
          <a:solidFill>
            <a:srgbClr val="2563EB"/>
          </a:solidFill>
          <a:ln w="12700">
            <a:solidFill>
              <a:srgbClr val="2563EB"/>
            </a:solidFill>
            <a:prstDash val="solid"/>
          </a:ln>
        </p:spPr>
      </p:sp>
      <p:sp>
        <p:nvSpPr>
          <p:cNvPr id="31" name="Text 29"/>
          <p:cNvSpPr/>
          <p:nvPr/>
        </p:nvSpPr>
        <p:spPr>
          <a:xfrm>
            <a:off x="6784848" y="3785616"/>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10: Pie charts and Donut charts</a:t>
            </a:r>
            <a:endParaRPr lang="en-US" sz="1100" dirty="0"/>
          </a:p>
        </p:txBody>
      </p:sp>
      <p:sp>
        <p:nvSpPr>
          <p:cNvPr id="32" name="Shape 30"/>
          <p:cNvSpPr/>
          <p:nvPr/>
        </p:nvSpPr>
        <p:spPr>
          <a:xfrm>
            <a:off x="6510528" y="4645152"/>
            <a:ext cx="201168" cy="201168"/>
          </a:xfrm>
          <a:prstGeom prst="ellipse">
            <a:avLst/>
          </a:prstGeom>
          <a:solidFill>
            <a:srgbClr val="2563EB"/>
          </a:solidFill>
          <a:ln w="12700">
            <a:solidFill>
              <a:srgbClr val="2563EB"/>
            </a:solidFill>
            <a:prstDash val="solid"/>
          </a:ln>
        </p:spPr>
      </p:sp>
      <p:sp>
        <p:nvSpPr>
          <p:cNvPr id="33" name="Text 31"/>
          <p:cNvSpPr/>
          <p:nvPr/>
        </p:nvSpPr>
        <p:spPr>
          <a:xfrm>
            <a:off x="6784848" y="4443984"/>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11: Scatter plots, Histograms, and Box plots</a:t>
            </a:r>
            <a:endParaRPr lang="en-US" sz="1100" dirty="0"/>
          </a:p>
        </p:txBody>
      </p:sp>
      <p:sp>
        <p:nvSpPr>
          <p:cNvPr id="34" name="Shape 32"/>
          <p:cNvSpPr/>
          <p:nvPr/>
        </p:nvSpPr>
        <p:spPr>
          <a:xfrm>
            <a:off x="6510528" y="5303520"/>
            <a:ext cx="201168" cy="201168"/>
          </a:xfrm>
          <a:prstGeom prst="ellipse">
            <a:avLst/>
          </a:prstGeom>
          <a:solidFill>
            <a:srgbClr val="2563EB"/>
          </a:solidFill>
          <a:ln w="12700">
            <a:solidFill>
              <a:srgbClr val="2563EB"/>
            </a:solidFill>
            <a:prstDash val="solid"/>
          </a:ln>
        </p:spPr>
      </p:sp>
      <p:sp>
        <p:nvSpPr>
          <p:cNvPr id="35" name="Text 33"/>
          <p:cNvSpPr/>
          <p:nvPr/>
        </p:nvSpPr>
        <p:spPr>
          <a:xfrm>
            <a:off x="6784848" y="5102352"/>
            <a:ext cx="5074920" cy="566928"/>
          </a:xfrm>
          <a:prstGeom prst="rect">
            <a:avLst/>
          </a:prstGeom>
          <a:noFill/>
          <a:ln/>
        </p:spPr>
        <p:txBody>
          <a:bodyPr wrap="square" lIns="0" tIns="0" rIns="0" bIns="0" rtlCol="0" anchor="ctr"/>
          <a:lstStyle/>
          <a:p>
            <a:pPr indent="0" marL="0">
              <a:buNone/>
            </a:pPr>
            <a:r>
              <a:rPr lang="en-US" sz="1100" b="1" dirty="0">
                <a:solidFill>
                  <a:srgbClr val="0A1220"/>
                </a:solidFill>
                <a:latin typeface="Calibri" pitchFamily="34" charset="0"/>
                <a:ea typeface="Calibri" pitchFamily="34" charset="-122"/>
                <a:cs typeface="Calibri" pitchFamily="34" charset="-120"/>
              </a:rPr>
              <a:t>Section 12: Heatmaps, Radar charts, and Dashboard layouts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DATASET — NIGERIA RETAIL SALES (4,500 ROWS × 19 COLUMNS)</a:t>
            </a:r>
            <a:endParaRPr lang="en-US" sz="2600" dirty="0"/>
          </a:p>
        </p:txBody>
      </p:sp>
      <p:sp>
        <p:nvSpPr>
          <p:cNvPr id="4" name="Shape 2"/>
          <p:cNvSpPr/>
          <p:nvPr/>
        </p:nvSpPr>
        <p:spPr>
          <a:xfrm>
            <a:off x="411480" y="1024128"/>
            <a:ext cx="68580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85800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685800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9436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load_data.py</a:t>
            </a:r>
            <a:endParaRPr lang="en-US" sz="900" dirty="0"/>
          </a:p>
        </p:txBody>
      </p:sp>
      <p:sp>
        <p:nvSpPr>
          <p:cNvPr id="11" name="Text 9"/>
          <p:cNvSpPr/>
          <p:nvPr/>
        </p:nvSpPr>
        <p:spPr>
          <a:xfrm>
            <a:off x="557784" y="1426464"/>
            <a:ext cx="65836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Load the dataset in Colab</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pandas as pd</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numpy as np</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pd.read_csv('nigeria_retail_sales.csv')</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print(f'Shape: {df.shape}')   # (4500, 19)</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First look</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df.head()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df.tail()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df.sample(5)    # random 5 rows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Column overview</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df.columns.tolist()</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['order_id','date','month','quarter',</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'product','category','region',</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'sales_rep','channel','payment_mode',</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'units','unit_cost','unit_price',</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'discount_pct','revenue','profit',</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'margin_pct','customer_rating','return_flag']</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Full summary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df.info()        # column types and nulls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df.describe()    # stats for numeric columns</a:t>
            </a:r>
            <a:endParaRPr lang="en-US" sz="1050" dirty="0"/>
          </a:p>
        </p:txBody>
      </p:sp>
      <p:sp>
        <p:nvSpPr>
          <p:cNvPr id="12" name="Text 10"/>
          <p:cNvSpPr/>
          <p:nvPr/>
        </p:nvSpPr>
        <p:spPr>
          <a:xfrm>
            <a:off x="7452360" y="1078992"/>
            <a:ext cx="4480560" cy="274320"/>
          </a:xfrm>
          <a:prstGeom prst="rect">
            <a:avLst/>
          </a:prstGeom>
          <a:noFill/>
          <a:ln/>
        </p:spPr>
        <p:txBody>
          <a:bodyPr wrap="square" lIns="0" tIns="0" rIns="0" bIns="0" rtlCol="0" anchor="ctr"/>
          <a:lstStyle/>
          <a:p>
            <a:pPr indent="0" marL="0">
              <a:buNone/>
            </a:pPr>
            <a:r>
              <a:rPr lang="en-US" sz="1100" b="1" dirty="0">
                <a:solidFill>
                  <a:srgbClr val="94A3B8"/>
                </a:solidFill>
                <a:latin typeface="Cambria" pitchFamily="34" charset="0"/>
                <a:ea typeface="Cambria" pitchFamily="34" charset="-122"/>
                <a:cs typeface="Cambria" pitchFamily="34" charset="-120"/>
              </a:rPr>
              <a:t>Column Guide</a:t>
            </a:r>
            <a:endParaRPr lang="en-US" sz="1100" dirty="0"/>
          </a:p>
        </p:txBody>
      </p:sp>
      <p:sp>
        <p:nvSpPr>
          <p:cNvPr id="13" name="Shape 11"/>
          <p:cNvSpPr/>
          <p:nvPr/>
        </p:nvSpPr>
        <p:spPr>
          <a:xfrm>
            <a:off x="7452360" y="1426464"/>
            <a:ext cx="4480560" cy="475488"/>
          </a:xfrm>
          <a:prstGeom prst="rect">
            <a:avLst/>
          </a:prstGeom>
          <a:solidFill>
            <a:srgbClr val="131F38"/>
          </a:solidFill>
          <a:ln w="3810">
            <a:solidFill>
              <a:srgbClr val="E2E8F0"/>
            </a:solidFill>
            <a:prstDash val="solid"/>
          </a:ln>
        </p:spPr>
      </p:sp>
      <p:sp>
        <p:nvSpPr>
          <p:cNvPr id="14" name="Text 12"/>
          <p:cNvSpPr/>
          <p:nvPr/>
        </p:nvSpPr>
        <p:spPr>
          <a:xfrm>
            <a:off x="7534656" y="1545336"/>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order_id</a:t>
            </a:r>
            <a:endParaRPr lang="en-US" sz="950" dirty="0"/>
          </a:p>
        </p:txBody>
      </p:sp>
      <p:sp>
        <p:nvSpPr>
          <p:cNvPr id="15" name="Text 13"/>
          <p:cNvSpPr/>
          <p:nvPr/>
        </p:nvSpPr>
        <p:spPr>
          <a:xfrm>
            <a:off x="9034272" y="1545336"/>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str</a:t>
            </a:r>
            <a:endParaRPr lang="en-US" sz="900" dirty="0"/>
          </a:p>
        </p:txBody>
      </p:sp>
      <p:sp>
        <p:nvSpPr>
          <p:cNvPr id="16" name="Text 14"/>
          <p:cNvSpPr/>
          <p:nvPr/>
        </p:nvSpPr>
        <p:spPr>
          <a:xfrm>
            <a:off x="10424160" y="1545336"/>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ORD-010001</a:t>
            </a:r>
            <a:endParaRPr lang="en-US" sz="900" dirty="0"/>
          </a:p>
        </p:txBody>
      </p:sp>
      <p:sp>
        <p:nvSpPr>
          <p:cNvPr id="17" name="Shape 15"/>
          <p:cNvSpPr/>
          <p:nvPr/>
        </p:nvSpPr>
        <p:spPr>
          <a:xfrm>
            <a:off x="7452360" y="1938528"/>
            <a:ext cx="4480560" cy="475488"/>
          </a:xfrm>
          <a:prstGeom prst="rect">
            <a:avLst/>
          </a:prstGeom>
          <a:solidFill>
            <a:srgbClr val="111827"/>
          </a:solidFill>
          <a:ln w="3810">
            <a:solidFill>
              <a:srgbClr val="E2E8F0"/>
            </a:solidFill>
            <a:prstDash val="solid"/>
          </a:ln>
        </p:spPr>
      </p:sp>
      <p:sp>
        <p:nvSpPr>
          <p:cNvPr id="18" name="Text 16"/>
          <p:cNvSpPr/>
          <p:nvPr/>
        </p:nvSpPr>
        <p:spPr>
          <a:xfrm>
            <a:off x="7534656" y="2057400"/>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date</a:t>
            </a:r>
            <a:endParaRPr lang="en-US" sz="950" dirty="0"/>
          </a:p>
        </p:txBody>
      </p:sp>
      <p:sp>
        <p:nvSpPr>
          <p:cNvPr id="19" name="Text 17"/>
          <p:cNvSpPr/>
          <p:nvPr/>
        </p:nvSpPr>
        <p:spPr>
          <a:xfrm>
            <a:off x="9034272" y="2057400"/>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str→datetime</a:t>
            </a:r>
            <a:endParaRPr lang="en-US" sz="900" dirty="0"/>
          </a:p>
        </p:txBody>
      </p:sp>
      <p:sp>
        <p:nvSpPr>
          <p:cNvPr id="20" name="Text 18"/>
          <p:cNvSpPr/>
          <p:nvPr/>
        </p:nvSpPr>
        <p:spPr>
          <a:xfrm>
            <a:off x="10424160" y="2057400"/>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2023-03-15</a:t>
            </a:r>
            <a:endParaRPr lang="en-US" sz="900" dirty="0"/>
          </a:p>
        </p:txBody>
      </p:sp>
      <p:sp>
        <p:nvSpPr>
          <p:cNvPr id="21" name="Shape 19"/>
          <p:cNvSpPr/>
          <p:nvPr/>
        </p:nvSpPr>
        <p:spPr>
          <a:xfrm>
            <a:off x="7452360" y="2450592"/>
            <a:ext cx="4480560" cy="475488"/>
          </a:xfrm>
          <a:prstGeom prst="rect">
            <a:avLst/>
          </a:prstGeom>
          <a:solidFill>
            <a:srgbClr val="131F38"/>
          </a:solidFill>
          <a:ln w="3810">
            <a:solidFill>
              <a:srgbClr val="E2E8F0"/>
            </a:solidFill>
            <a:prstDash val="solid"/>
          </a:ln>
        </p:spPr>
      </p:sp>
      <p:sp>
        <p:nvSpPr>
          <p:cNvPr id="22" name="Text 20"/>
          <p:cNvSpPr/>
          <p:nvPr/>
        </p:nvSpPr>
        <p:spPr>
          <a:xfrm>
            <a:off x="7534656" y="2569464"/>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product</a:t>
            </a:r>
            <a:endParaRPr lang="en-US" sz="950" dirty="0"/>
          </a:p>
        </p:txBody>
      </p:sp>
      <p:sp>
        <p:nvSpPr>
          <p:cNvPr id="23" name="Text 21"/>
          <p:cNvSpPr/>
          <p:nvPr/>
        </p:nvSpPr>
        <p:spPr>
          <a:xfrm>
            <a:off x="9034272" y="2569464"/>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str</a:t>
            </a:r>
            <a:endParaRPr lang="en-US" sz="900" dirty="0"/>
          </a:p>
        </p:txBody>
      </p:sp>
      <p:sp>
        <p:nvSpPr>
          <p:cNvPr id="24" name="Text 22"/>
          <p:cNvSpPr/>
          <p:nvPr/>
        </p:nvSpPr>
        <p:spPr>
          <a:xfrm>
            <a:off x="10424160" y="2569464"/>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Laptop Pro 15</a:t>
            </a:r>
            <a:endParaRPr lang="en-US" sz="900" dirty="0"/>
          </a:p>
        </p:txBody>
      </p:sp>
      <p:sp>
        <p:nvSpPr>
          <p:cNvPr id="25" name="Shape 23"/>
          <p:cNvSpPr/>
          <p:nvPr/>
        </p:nvSpPr>
        <p:spPr>
          <a:xfrm>
            <a:off x="7452360" y="2962656"/>
            <a:ext cx="4480560" cy="475488"/>
          </a:xfrm>
          <a:prstGeom prst="rect">
            <a:avLst/>
          </a:prstGeom>
          <a:solidFill>
            <a:srgbClr val="111827"/>
          </a:solidFill>
          <a:ln w="3810">
            <a:solidFill>
              <a:srgbClr val="E2E8F0"/>
            </a:solidFill>
            <a:prstDash val="solid"/>
          </a:ln>
        </p:spPr>
      </p:sp>
      <p:sp>
        <p:nvSpPr>
          <p:cNvPr id="26" name="Text 24"/>
          <p:cNvSpPr/>
          <p:nvPr/>
        </p:nvSpPr>
        <p:spPr>
          <a:xfrm>
            <a:off x="7534656" y="3081528"/>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category</a:t>
            </a:r>
            <a:endParaRPr lang="en-US" sz="950" dirty="0"/>
          </a:p>
        </p:txBody>
      </p:sp>
      <p:sp>
        <p:nvSpPr>
          <p:cNvPr id="27" name="Text 25"/>
          <p:cNvSpPr/>
          <p:nvPr/>
        </p:nvSpPr>
        <p:spPr>
          <a:xfrm>
            <a:off x="9034272" y="3081528"/>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str</a:t>
            </a:r>
            <a:endParaRPr lang="en-US" sz="900" dirty="0"/>
          </a:p>
        </p:txBody>
      </p:sp>
      <p:sp>
        <p:nvSpPr>
          <p:cNvPr id="28" name="Text 26"/>
          <p:cNvSpPr/>
          <p:nvPr/>
        </p:nvSpPr>
        <p:spPr>
          <a:xfrm>
            <a:off x="10424160" y="3081528"/>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Electronics</a:t>
            </a:r>
            <a:endParaRPr lang="en-US" sz="900" dirty="0"/>
          </a:p>
        </p:txBody>
      </p:sp>
      <p:sp>
        <p:nvSpPr>
          <p:cNvPr id="29" name="Shape 27"/>
          <p:cNvSpPr/>
          <p:nvPr/>
        </p:nvSpPr>
        <p:spPr>
          <a:xfrm>
            <a:off x="7452360" y="3474720"/>
            <a:ext cx="4480560" cy="475488"/>
          </a:xfrm>
          <a:prstGeom prst="rect">
            <a:avLst/>
          </a:prstGeom>
          <a:solidFill>
            <a:srgbClr val="131F38"/>
          </a:solidFill>
          <a:ln w="3810">
            <a:solidFill>
              <a:srgbClr val="E2E8F0"/>
            </a:solidFill>
            <a:prstDash val="solid"/>
          </a:ln>
        </p:spPr>
      </p:sp>
      <p:sp>
        <p:nvSpPr>
          <p:cNvPr id="30" name="Text 28"/>
          <p:cNvSpPr/>
          <p:nvPr/>
        </p:nvSpPr>
        <p:spPr>
          <a:xfrm>
            <a:off x="7534656" y="3593592"/>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region</a:t>
            </a:r>
            <a:endParaRPr lang="en-US" sz="950" dirty="0"/>
          </a:p>
        </p:txBody>
      </p:sp>
      <p:sp>
        <p:nvSpPr>
          <p:cNvPr id="31" name="Text 29"/>
          <p:cNvSpPr/>
          <p:nvPr/>
        </p:nvSpPr>
        <p:spPr>
          <a:xfrm>
            <a:off x="9034272" y="3593592"/>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str</a:t>
            </a:r>
            <a:endParaRPr lang="en-US" sz="900" dirty="0"/>
          </a:p>
        </p:txBody>
      </p:sp>
      <p:sp>
        <p:nvSpPr>
          <p:cNvPr id="32" name="Text 30"/>
          <p:cNvSpPr/>
          <p:nvPr/>
        </p:nvSpPr>
        <p:spPr>
          <a:xfrm>
            <a:off x="10424160" y="3593592"/>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Lagos</a:t>
            </a:r>
            <a:endParaRPr lang="en-US" sz="900" dirty="0"/>
          </a:p>
        </p:txBody>
      </p:sp>
      <p:sp>
        <p:nvSpPr>
          <p:cNvPr id="33" name="Shape 31"/>
          <p:cNvSpPr/>
          <p:nvPr/>
        </p:nvSpPr>
        <p:spPr>
          <a:xfrm>
            <a:off x="7452360" y="3986784"/>
            <a:ext cx="4480560" cy="475488"/>
          </a:xfrm>
          <a:prstGeom prst="rect">
            <a:avLst/>
          </a:prstGeom>
          <a:solidFill>
            <a:srgbClr val="111827"/>
          </a:solidFill>
          <a:ln w="3810">
            <a:solidFill>
              <a:srgbClr val="E2E8F0"/>
            </a:solidFill>
            <a:prstDash val="solid"/>
          </a:ln>
        </p:spPr>
      </p:sp>
      <p:sp>
        <p:nvSpPr>
          <p:cNvPr id="34" name="Text 32"/>
          <p:cNvSpPr/>
          <p:nvPr/>
        </p:nvSpPr>
        <p:spPr>
          <a:xfrm>
            <a:off x="7534656" y="4105656"/>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units</a:t>
            </a:r>
            <a:endParaRPr lang="en-US" sz="950" dirty="0"/>
          </a:p>
        </p:txBody>
      </p:sp>
      <p:sp>
        <p:nvSpPr>
          <p:cNvPr id="35" name="Text 33"/>
          <p:cNvSpPr/>
          <p:nvPr/>
        </p:nvSpPr>
        <p:spPr>
          <a:xfrm>
            <a:off x="9034272" y="4105656"/>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int (has nulls)</a:t>
            </a:r>
            <a:endParaRPr lang="en-US" sz="900" dirty="0"/>
          </a:p>
        </p:txBody>
      </p:sp>
      <p:sp>
        <p:nvSpPr>
          <p:cNvPr id="36" name="Text 34"/>
          <p:cNvSpPr/>
          <p:nvPr/>
        </p:nvSpPr>
        <p:spPr>
          <a:xfrm>
            <a:off x="10424160" y="4105656"/>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5</a:t>
            </a:r>
            <a:endParaRPr lang="en-US" sz="900" dirty="0"/>
          </a:p>
        </p:txBody>
      </p:sp>
      <p:sp>
        <p:nvSpPr>
          <p:cNvPr id="37" name="Shape 35"/>
          <p:cNvSpPr/>
          <p:nvPr/>
        </p:nvSpPr>
        <p:spPr>
          <a:xfrm>
            <a:off x="7452360" y="4498848"/>
            <a:ext cx="4480560" cy="475488"/>
          </a:xfrm>
          <a:prstGeom prst="rect">
            <a:avLst/>
          </a:prstGeom>
          <a:solidFill>
            <a:srgbClr val="131F38"/>
          </a:solidFill>
          <a:ln w="3810">
            <a:solidFill>
              <a:srgbClr val="E2E8F0"/>
            </a:solidFill>
            <a:prstDash val="solid"/>
          </a:ln>
        </p:spPr>
      </p:sp>
      <p:sp>
        <p:nvSpPr>
          <p:cNvPr id="38" name="Text 36"/>
          <p:cNvSpPr/>
          <p:nvPr/>
        </p:nvSpPr>
        <p:spPr>
          <a:xfrm>
            <a:off x="7534656" y="4617720"/>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unit_price</a:t>
            </a:r>
            <a:endParaRPr lang="en-US" sz="950" dirty="0"/>
          </a:p>
        </p:txBody>
      </p:sp>
      <p:sp>
        <p:nvSpPr>
          <p:cNvPr id="39" name="Text 37"/>
          <p:cNvSpPr/>
          <p:nvPr/>
        </p:nvSpPr>
        <p:spPr>
          <a:xfrm>
            <a:off x="9034272" y="4617720"/>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float (negatives)</a:t>
            </a:r>
            <a:endParaRPr lang="en-US" sz="900" dirty="0"/>
          </a:p>
        </p:txBody>
      </p:sp>
      <p:sp>
        <p:nvSpPr>
          <p:cNvPr id="40" name="Text 38"/>
          <p:cNvSpPr/>
          <p:nvPr/>
        </p:nvSpPr>
        <p:spPr>
          <a:xfrm>
            <a:off x="10424160" y="4617720"/>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450000.0</a:t>
            </a:r>
            <a:endParaRPr lang="en-US" sz="900" dirty="0"/>
          </a:p>
        </p:txBody>
      </p:sp>
      <p:sp>
        <p:nvSpPr>
          <p:cNvPr id="41" name="Shape 39"/>
          <p:cNvSpPr/>
          <p:nvPr/>
        </p:nvSpPr>
        <p:spPr>
          <a:xfrm>
            <a:off x="7452360" y="5010912"/>
            <a:ext cx="4480560" cy="475488"/>
          </a:xfrm>
          <a:prstGeom prst="rect">
            <a:avLst/>
          </a:prstGeom>
          <a:solidFill>
            <a:srgbClr val="111827"/>
          </a:solidFill>
          <a:ln w="3810">
            <a:solidFill>
              <a:srgbClr val="E2E8F0"/>
            </a:solidFill>
            <a:prstDash val="solid"/>
          </a:ln>
        </p:spPr>
      </p:sp>
      <p:sp>
        <p:nvSpPr>
          <p:cNvPr id="42" name="Text 40"/>
          <p:cNvSpPr/>
          <p:nvPr/>
        </p:nvSpPr>
        <p:spPr>
          <a:xfrm>
            <a:off x="7534656" y="5129784"/>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revenue</a:t>
            </a:r>
            <a:endParaRPr lang="en-US" sz="950" dirty="0"/>
          </a:p>
        </p:txBody>
      </p:sp>
      <p:sp>
        <p:nvSpPr>
          <p:cNvPr id="43" name="Text 41"/>
          <p:cNvSpPr/>
          <p:nvPr/>
        </p:nvSpPr>
        <p:spPr>
          <a:xfrm>
            <a:off x="9034272" y="5129784"/>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float</a:t>
            </a:r>
            <a:endParaRPr lang="en-US" sz="900" dirty="0"/>
          </a:p>
        </p:txBody>
      </p:sp>
      <p:sp>
        <p:nvSpPr>
          <p:cNvPr id="44" name="Text 42"/>
          <p:cNvSpPr/>
          <p:nvPr/>
        </p:nvSpPr>
        <p:spPr>
          <a:xfrm>
            <a:off x="10424160" y="5129784"/>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2250000.0</a:t>
            </a:r>
            <a:endParaRPr lang="en-US" sz="900" dirty="0"/>
          </a:p>
        </p:txBody>
      </p:sp>
      <p:sp>
        <p:nvSpPr>
          <p:cNvPr id="45" name="Shape 43"/>
          <p:cNvSpPr/>
          <p:nvPr/>
        </p:nvSpPr>
        <p:spPr>
          <a:xfrm>
            <a:off x="7452360" y="5522976"/>
            <a:ext cx="4480560" cy="475488"/>
          </a:xfrm>
          <a:prstGeom prst="rect">
            <a:avLst/>
          </a:prstGeom>
          <a:solidFill>
            <a:srgbClr val="131F38"/>
          </a:solidFill>
          <a:ln w="3810">
            <a:solidFill>
              <a:srgbClr val="E2E8F0"/>
            </a:solidFill>
            <a:prstDash val="solid"/>
          </a:ln>
        </p:spPr>
      </p:sp>
      <p:sp>
        <p:nvSpPr>
          <p:cNvPr id="46" name="Text 44"/>
          <p:cNvSpPr/>
          <p:nvPr/>
        </p:nvSpPr>
        <p:spPr>
          <a:xfrm>
            <a:off x="7534656" y="5641848"/>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profit</a:t>
            </a:r>
            <a:endParaRPr lang="en-US" sz="950" dirty="0"/>
          </a:p>
        </p:txBody>
      </p:sp>
      <p:sp>
        <p:nvSpPr>
          <p:cNvPr id="47" name="Text 45"/>
          <p:cNvSpPr/>
          <p:nvPr/>
        </p:nvSpPr>
        <p:spPr>
          <a:xfrm>
            <a:off x="9034272" y="5641848"/>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float</a:t>
            </a:r>
            <a:endParaRPr lang="en-US" sz="900" dirty="0"/>
          </a:p>
        </p:txBody>
      </p:sp>
      <p:sp>
        <p:nvSpPr>
          <p:cNvPr id="48" name="Text 46"/>
          <p:cNvSpPr/>
          <p:nvPr/>
        </p:nvSpPr>
        <p:spPr>
          <a:xfrm>
            <a:off x="10424160" y="5641848"/>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625000.0</a:t>
            </a:r>
            <a:endParaRPr lang="en-US" sz="900" dirty="0"/>
          </a:p>
        </p:txBody>
      </p:sp>
      <p:sp>
        <p:nvSpPr>
          <p:cNvPr id="49" name="Shape 47"/>
          <p:cNvSpPr/>
          <p:nvPr/>
        </p:nvSpPr>
        <p:spPr>
          <a:xfrm>
            <a:off x="7452360" y="6035040"/>
            <a:ext cx="4480560" cy="475488"/>
          </a:xfrm>
          <a:prstGeom prst="rect">
            <a:avLst/>
          </a:prstGeom>
          <a:solidFill>
            <a:srgbClr val="111827"/>
          </a:solidFill>
          <a:ln w="3810">
            <a:solidFill>
              <a:srgbClr val="E2E8F0"/>
            </a:solidFill>
            <a:prstDash val="solid"/>
          </a:ln>
        </p:spPr>
      </p:sp>
      <p:sp>
        <p:nvSpPr>
          <p:cNvPr id="50" name="Text 48"/>
          <p:cNvSpPr/>
          <p:nvPr/>
        </p:nvSpPr>
        <p:spPr>
          <a:xfrm>
            <a:off x="7534656" y="6153912"/>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margin_pct</a:t>
            </a:r>
            <a:endParaRPr lang="en-US" sz="950" dirty="0"/>
          </a:p>
        </p:txBody>
      </p:sp>
      <p:sp>
        <p:nvSpPr>
          <p:cNvPr id="51" name="Text 49"/>
          <p:cNvSpPr/>
          <p:nvPr/>
        </p:nvSpPr>
        <p:spPr>
          <a:xfrm>
            <a:off x="9034272" y="6153912"/>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float</a:t>
            </a:r>
            <a:endParaRPr lang="en-US" sz="900" dirty="0"/>
          </a:p>
        </p:txBody>
      </p:sp>
      <p:sp>
        <p:nvSpPr>
          <p:cNvPr id="52" name="Text 50"/>
          <p:cNvSpPr/>
          <p:nvPr/>
        </p:nvSpPr>
        <p:spPr>
          <a:xfrm>
            <a:off x="10424160" y="6153912"/>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27.78</a:t>
            </a:r>
            <a:endParaRPr lang="en-US" sz="900" dirty="0"/>
          </a:p>
        </p:txBody>
      </p:sp>
      <p:sp>
        <p:nvSpPr>
          <p:cNvPr id="53" name="Shape 51"/>
          <p:cNvSpPr/>
          <p:nvPr/>
        </p:nvSpPr>
        <p:spPr>
          <a:xfrm>
            <a:off x="7452360" y="6547104"/>
            <a:ext cx="4480560" cy="475488"/>
          </a:xfrm>
          <a:prstGeom prst="rect">
            <a:avLst/>
          </a:prstGeom>
          <a:solidFill>
            <a:srgbClr val="131F38"/>
          </a:solidFill>
          <a:ln w="3810">
            <a:solidFill>
              <a:srgbClr val="E2E8F0"/>
            </a:solidFill>
            <a:prstDash val="solid"/>
          </a:ln>
        </p:spPr>
      </p:sp>
      <p:sp>
        <p:nvSpPr>
          <p:cNvPr id="54" name="Text 52"/>
          <p:cNvSpPr/>
          <p:nvPr/>
        </p:nvSpPr>
        <p:spPr>
          <a:xfrm>
            <a:off x="7534656" y="6665976"/>
            <a:ext cx="1463040" cy="237744"/>
          </a:xfrm>
          <a:prstGeom prst="rect">
            <a:avLst/>
          </a:prstGeom>
          <a:noFill/>
          <a:ln/>
        </p:spPr>
        <p:txBody>
          <a:bodyPr wrap="square" lIns="0" tIns="0" rIns="0" bIns="0" rtlCol="0" anchor="ctr"/>
          <a:lstStyle/>
          <a:p>
            <a:pPr indent="0" marL="0">
              <a:buNone/>
            </a:pPr>
            <a:r>
              <a:rPr lang="en-US" sz="950" b="1" dirty="0">
                <a:solidFill>
                  <a:srgbClr val="0891B2"/>
                </a:solidFill>
                <a:latin typeface="Courier New" pitchFamily="34" charset="0"/>
                <a:ea typeface="Courier New" pitchFamily="34" charset="-122"/>
                <a:cs typeface="Courier New" pitchFamily="34" charset="-120"/>
              </a:rPr>
              <a:t>return_flag</a:t>
            </a:r>
            <a:endParaRPr lang="en-US" sz="950" dirty="0"/>
          </a:p>
        </p:txBody>
      </p:sp>
      <p:sp>
        <p:nvSpPr>
          <p:cNvPr id="55" name="Text 53"/>
          <p:cNvSpPr/>
          <p:nvPr/>
        </p:nvSpPr>
        <p:spPr>
          <a:xfrm>
            <a:off x="9034272" y="6665976"/>
            <a:ext cx="1371600" cy="237744"/>
          </a:xfrm>
          <a:prstGeom prst="rect">
            <a:avLst/>
          </a:prstGeom>
          <a:noFill/>
          <a:ln/>
        </p:spPr>
        <p:txBody>
          <a:bodyPr wrap="square" lIns="0" tIns="0" rIns="0" bIns="0" rtlCol="0" anchor="ctr"/>
          <a:lstStyle/>
          <a:p>
            <a:pPr indent="0" marL="0">
              <a:buNone/>
            </a:pPr>
            <a:r>
              <a:rPr lang="en-US" sz="900" dirty="0">
                <a:solidFill>
                  <a:srgbClr val="D97706"/>
                </a:solidFill>
                <a:latin typeface="Calibri" pitchFamily="34" charset="0"/>
                <a:ea typeface="Calibri" pitchFamily="34" charset="-122"/>
                <a:cs typeface="Calibri" pitchFamily="34" charset="-120"/>
              </a:rPr>
              <a:t>str</a:t>
            </a:r>
            <a:endParaRPr lang="en-US" sz="900" dirty="0"/>
          </a:p>
        </p:txBody>
      </p:sp>
      <p:sp>
        <p:nvSpPr>
          <p:cNvPr id="56" name="Text 54"/>
          <p:cNvSpPr/>
          <p:nvPr/>
        </p:nvSpPr>
        <p:spPr>
          <a:xfrm>
            <a:off x="10424160" y="6665976"/>
            <a:ext cx="1444752" cy="237744"/>
          </a:xfrm>
          <a:prstGeom prst="rect">
            <a:avLst/>
          </a:prstGeom>
          <a:noFill/>
          <a:ln/>
        </p:spPr>
        <p:txBody>
          <a:bodyPr wrap="square" lIns="0" tIns="0" rIns="0" bIns="0" rtlCol="0" anchor="ctr"/>
          <a:lstStyle/>
          <a:p>
            <a:pPr indent="0" marL="0">
              <a:buNone/>
            </a:pPr>
            <a:r>
              <a:rPr lang="en-US" sz="900" dirty="0">
                <a:solidFill>
                  <a:srgbClr val="FFFFFF"/>
                </a:solidFill>
                <a:latin typeface="Courier New" pitchFamily="34" charset="0"/>
                <a:ea typeface="Courier New" pitchFamily="34" charset="-122"/>
                <a:cs typeface="Courier New" pitchFamily="34" charset="-120"/>
              </a:rPr>
              <a:t>Yes / No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E11D48"/>
          </a:solidFill>
          <a:ln w="12700">
            <a:solidFill>
              <a:srgbClr val="E11D48"/>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01</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Why Data Cleaning?</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Garbage in — garbage out. No visualisation fixes bad data.</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8 TYPES OF DIRTY DATA YOU WILL ENCOUNTER</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02</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Inspect Before You Touch</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Know exactly what you're dealing with.</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STEP 1: FULL DATASET INSPECTION</a:t>
            </a:r>
            <a:endParaRPr lang="en-US" sz="2600" dirty="0"/>
          </a:p>
        </p:txBody>
      </p:sp>
      <p:sp>
        <p:nvSpPr>
          <p:cNvPr id="4" name="Shape 2"/>
          <p:cNvSpPr/>
          <p:nvPr/>
        </p:nvSpPr>
        <p:spPr>
          <a:xfrm>
            <a:off x="411480" y="1024128"/>
            <a:ext cx="594360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594360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594360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029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inspect.py</a:t>
            </a:r>
            <a:endParaRPr lang="en-US" sz="900" dirty="0"/>
          </a:p>
        </p:txBody>
      </p:sp>
      <p:sp>
        <p:nvSpPr>
          <p:cNvPr id="11" name="Text 9"/>
          <p:cNvSpPr/>
          <p:nvPr/>
        </p:nvSpPr>
        <p:spPr>
          <a:xfrm>
            <a:off x="557784" y="1426464"/>
            <a:ext cx="566928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SHAPE AND TYPES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df.shape          # (4500, 19)</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df.dtypes         # column data types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df.info()         # types + non-null counts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MISSING VALUES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df.isnull().sum()              # count per col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df.isnull().sum() / len(df)   # % missing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df.isnull().any(axis=1).sum() # rows with any null</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NUMERIC SUMMARY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df.describe()     # count,mean,std,min,quartiles,max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df.describe(include='all')  # include strings too</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VALUE COUNTS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df['category'].value_counts()</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df['region'].value_counts()    # spot 'UNKNOWN'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df['return_flag'].value_counts(normalize=True)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DUPLICATES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df.duplicated().sum()          # total dupes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df[df.duplicated()]            # view dupe rows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VISUAL MISSING MAP ───────────────</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missingno as msno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msno.matrix(df)    # heatmap of nulls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msno.bar(df)       # bar chart of completeness</a:t>
            </a:r>
            <a:endParaRPr lang="en-US" sz="1050" dirty="0"/>
          </a:p>
        </p:txBody>
      </p:sp>
      <p:pic>
        <p:nvPicPr>
          <p:cNvPr id="12" name="Image 0" descr="preencoded.png">    </p:cNvPr>
          <p:cNvPicPr>
            <a:picLocks noChangeAspect="1"/>
          </p:cNvPicPr>
          <p:nvPr/>
        </p:nvPicPr>
        <p:blipFill>
          <a:blip r:embed="rId1"/>
          <a:srcRect l="0" r="0" t="0" b="0"/>
          <a:stretch/>
        </p:blipFill>
        <p:spPr>
          <a:xfrm>
            <a:off x="6537960" y="1024128"/>
            <a:ext cx="5394960" cy="4572000"/>
          </a:xfrm>
          <a:prstGeom prst="rect">
            <a:avLst/>
          </a:prstGeom>
        </p:spPr>
      </p:pic>
      <p:sp>
        <p:nvSpPr>
          <p:cNvPr id="13" name="Shape 10"/>
          <p:cNvSpPr/>
          <p:nvPr/>
        </p:nvSpPr>
        <p:spPr>
          <a:xfrm>
            <a:off x="6537960" y="5687568"/>
            <a:ext cx="5394960" cy="987552"/>
          </a:xfrm>
          <a:prstGeom prst="roundRect">
            <a:avLst>
              <a:gd name="adj" fmla="val 9259"/>
            </a:avLst>
          </a:prstGeom>
          <a:solidFill>
            <a:srgbClr val="FFFFFF"/>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14" name="Text 11"/>
          <p:cNvSpPr/>
          <p:nvPr/>
        </p:nvSpPr>
        <p:spPr>
          <a:xfrm>
            <a:off x="6684264" y="5797296"/>
            <a:ext cx="5102352"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What to look for</a:t>
            </a:r>
            <a:endParaRPr lang="en-US" sz="1100" dirty="0"/>
          </a:p>
        </p:txBody>
      </p:sp>
      <p:sp>
        <p:nvSpPr>
          <p:cNvPr id="15" name="Text 12"/>
          <p:cNvSpPr/>
          <p:nvPr/>
        </p:nvSpPr>
        <p:spPr>
          <a:xfrm>
            <a:off x="6684264" y="6108192"/>
            <a:ext cx="5102352" cy="420624"/>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Missing pattern (random vs systematic?), suspicious min/max values in describe(), unexpected categories in value_counts(), date columns stored as object dtype.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D97706"/>
          </a:solidFill>
          <a:ln w="12700">
            <a:solidFill>
              <a:srgbClr val="D97706"/>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03</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Handling Missing Values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Every analyst's most common daily task.</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STEP 2: HANDLE MISSING VALUES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658368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missing.py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FIND THEM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nulls = df.isnull().sum()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null_pct = (nulls / len(df) * 100).round(2)</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print(null_pct[null_pct &gt; 0])</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payment_mode    3.4%</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units           4.2%</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 unit_price      2.0%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OPTION 1: DROP ROWS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df_drop = df.dropna()           # drop any null row</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df_drop2 = df.dropna(subset=['units','unit_price'])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Use when: &lt; 5% missing, rows are dispensable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OPTION 2: FILL WITH CONSTANT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df['payment_mode'].fillna('Unknown', inplace=True)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Use when: category column, 'Unknown' is valid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OPTION 3: FILL WITH STATISTIC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median_price = df['unit_price'].median()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df['unit_price'].fillna(median_price, inplace=True)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Use median, not mean, if outliers present</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OPTION 4: FILL WITH GROUP MEDIAN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df['units'] = df.groupby('category')['units']\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.transform(lambda x: x.fillna(x.median()))</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Best: fills with category's own typical value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VERIFY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df.isnull().sum()   # should all be 0 now</a:t>
            </a:r>
            <a:endParaRPr lang="en-US" sz="1050" dirty="0"/>
          </a:p>
        </p:txBody>
      </p:sp>
      <p:sp>
        <p:nvSpPr>
          <p:cNvPr id="12" name="Shape 10"/>
          <p:cNvSpPr/>
          <p:nvPr/>
        </p:nvSpPr>
        <p:spPr>
          <a:xfrm>
            <a:off x="7178040" y="1024128"/>
            <a:ext cx="4754880" cy="1042416"/>
          </a:xfrm>
          <a:prstGeom prst="roundRect">
            <a:avLst>
              <a:gd name="adj" fmla="val 8772"/>
            </a:avLst>
          </a:prstGeom>
          <a:solidFill>
            <a:srgbClr val="131F38"/>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Rule 1: Assess before acting</a:t>
            </a:r>
            <a:endParaRPr lang="en-US" sz="1100" dirty="0"/>
          </a:p>
        </p:txBody>
      </p:sp>
      <p:sp>
        <p:nvSpPr>
          <p:cNvPr id="14" name="Text 12"/>
          <p:cNvSpPr/>
          <p:nvPr/>
        </p:nvSpPr>
        <p:spPr>
          <a:xfrm>
            <a:off x="7324344" y="1444752"/>
            <a:ext cx="446227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Check the % missing first. Under 5%: drop or fill. 5-30%: fill with statistics. Over 30%: consider dropping the column entirely.</a:t>
            </a:r>
            <a:endParaRPr lang="en-US" sz="1000" dirty="0"/>
          </a:p>
        </p:txBody>
      </p:sp>
      <p:sp>
        <p:nvSpPr>
          <p:cNvPr id="15" name="Shape 13"/>
          <p:cNvSpPr/>
          <p:nvPr/>
        </p:nvSpPr>
        <p:spPr>
          <a:xfrm>
            <a:off x="7178040" y="2139696"/>
            <a:ext cx="4754880" cy="1042416"/>
          </a:xfrm>
          <a:prstGeom prst="roundRect">
            <a:avLst>
              <a:gd name="adj" fmla="val 8772"/>
            </a:avLst>
          </a:prstGeom>
          <a:solidFill>
            <a:srgbClr val="131F38"/>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249424"/>
            <a:ext cx="446227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Rule 2: Mean vs Median</a:t>
            </a:r>
            <a:endParaRPr lang="en-US" sz="1100" dirty="0"/>
          </a:p>
        </p:txBody>
      </p:sp>
      <p:sp>
        <p:nvSpPr>
          <p:cNvPr id="17" name="Text 15"/>
          <p:cNvSpPr/>
          <p:nvPr/>
        </p:nvSpPr>
        <p:spPr>
          <a:xfrm>
            <a:off x="7324344" y="2560320"/>
            <a:ext cx="446227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median for skewed data (prices, revenue). Use mean only if the distribution is symmetric. Our unit_price is right-skewed — use median.</a:t>
            </a:r>
            <a:endParaRPr lang="en-US" sz="1000" dirty="0"/>
          </a:p>
        </p:txBody>
      </p:sp>
      <p:sp>
        <p:nvSpPr>
          <p:cNvPr id="18" name="Shape 16"/>
          <p:cNvSpPr/>
          <p:nvPr/>
        </p:nvSpPr>
        <p:spPr>
          <a:xfrm>
            <a:off x="7178040" y="3255264"/>
            <a:ext cx="4754880" cy="1042416"/>
          </a:xfrm>
          <a:prstGeom prst="roundRect">
            <a:avLst>
              <a:gd name="adj" fmla="val 8772"/>
            </a:avLst>
          </a:prstGeom>
          <a:solidFill>
            <a:srgbClr val="131F38"/>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3364992"/>
            <a:ext cx="4462272"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Rule 3: Group-wise filling</a:t>
            </a:r>
            <a:endParaRPr lang="en-US" sz="1100" dirty="0"/>
          </a:p>
        </p:txBody>
      </p:sp>
      <p:sp>
        <p:nvSpPr>
          <p:cNvPr id="20" name="Text 18"/>
          <p:cNvSpPr/>
          <p:nvPr/>
        </p:nvSpPr>
        <p:spPr>
          <a:xfrm>
            <a:off x="7324344" y="3675888"/>
            <a:ext cx="446227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Filling units with the overall median ignores the fact that Electronics and Grocery have very different typical order sizes. Group by category first.</a:t>
            </a:r>
            <a:endParaRPr lang="en-US" sz="1000" dirty="0"/>
          </a:p>
        </p:txBody>
      </p:sp>
      <p:sp>
        <p:nvSpPr>
          <p:cNvPr id="21" name="Shape 19"/>
          <p:cNvSpPr/>
          <p:nvPr/>
        </p:nvSpPr>
        <p:spPr>
          <a:xfrm>
            <a:off x="7178040" y="4370832"/>
            <a:ext cx="4754880" cy="1042416"/>
          </a:xfrm>
          <a:prstGeom prst="roundRect">
            <a:avLst>
              <a:gd name="adj" fmla="val 8772"/>
            </a:avLst>
          </a:prstGeom>
          <a:solidFill>
            <a:srgbClr val="131F38"/>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4480560"/>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Rule 4: Document decisions</a:t>
            </a:r>
            <a:endParaRPr lang="en-US" sz="1100" dirty="0"/>
          </a:p>
        </p:txBody>
      </p:sp>
      <p:sp>
        <p:nvSpPr>
          <p:cNvPr id="23" name="Text 21"/>
          <p:cNvSpPr/>
          <p:nvPr/>
        </p:nvSpPr>
        <p:spPr>
          <a:xfrm>
            <a:off x="7324344" y="4791456"/>
            <a:ext cx="446227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Add a comment every time you fill or drop. Future-you needs to know why unit_price was filled with the category median, not the global median.</a:t>
            </a:r>
            <a:endParaRPr lang="en-US" sz="1000" dirty="0"/>
          </a:p>
        </p:txBody>
      </p:sp>
      <p:sp>
        <p:nvSpPr>
          <p:cNvPr id="24" name="Shape 22"/>
          <p:cNvSpPr/>
          <p:nvPr/>
        </p:nvSpPr>
        <p:spPr>
          <a:xfrm>
            <a:off x="7178040" y="5486400"/>
            <a:ext cx="4754880" cy="1042416"/>
          </a:xfrm>
          <a:prstGeom prst="roundRect">
            <a:avLst>
              <a:gd name="adj" fmla="val 8772"/>
            </a:avLst>
          </a:prstGeom>
          <a:solidFill>
            <a:srgbClr val="131F38"/>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25" name="Text 23"/>
          <p:cNvSpPr/>
          <p:nvPr/>
        </p:nvSpPr>
        <p:spPr>
          <a:xfrm>
            <a:off x="7324344" y="5596128"/>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Rule 5: Never impute the target</a:t>
            </a:r>
            <a:endParaRPr lang="en-US" sz="1100" dirty="0"/>
          </a:p>
        </p:txBody>
      </p:sp>
      <p:sp>
        <p:nvSpPr>
          <p:cNvPr id="26" name="Text 24"/>
          <p:cNvSpPr/>
          <p:nvPr/>
        </p:nvSpPr>
        <p:spPr>
          <a:xfrm>
            <a:off x="7324344" y="5907024"/>
            <a:ext cx="4462272" cy="475488"/>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In predictive models, never fill missing values in the column you're predicting. In EDA and visualisation, imputation is generally fine.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7C3AED"/>
          </a:solidFill>
          <a:ln w="12700">
            <a:solidFill>
              <a:srgbClr val="7C3AED"/>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04</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Fix Data Types and Invalid Values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Wrong types = silent errors in every calculation.</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STEP 3: FIX TYPES, NEGATIVES, ZEROS, AND BAD CATEGORIES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658368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fix_types.py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CONVERT DATE COLUMN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df['date'] = pd.to_datetime(df['date'])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df['year']  = df['date'].dt.year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df['month_num'] = df['date'].dt.month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df['day_of_week'] = df['date'].dt.day_name()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FIX NEGATIVE PRICES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neg_mask = df['unit_price'] &lt; 0</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print(f'Negative prices: {neg_mask.sum()}') # 44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df[~neg_mask]    # remove rows with neg price</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 OR: df.loc[neg_mask,'unit_price'] = df['unit_price'].abs()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REMOVE ZERO-UNIT ROWS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df[df['units'] &gt; 0]</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print(f'Rows remaining: {len(df)}')</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FIX BAD REGION VALUES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df['region'].value_counts()</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'UNKNOWN' appears — remove or map it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df[df['region'] != 'UNKNOWN']</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NORMALISE STRING COLUMNS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df['category'] = df['category'].str.strip().str.title()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df['region']   = df['region'].str.strip().str.title()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RECOMPUTE DERIVED COLUMNS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df['revenue'] = df['units'] * df['unit_price']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df['margin_pct'] = ((df['revenue']-df['units']*df['unit_cost'])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 df['revenue'] * 100).round(2)</a:t>
            </a:r>
            <a:endParaRPr lang="en-US" sz="1050" dirty="0"/>
          </a:p>
        </p:txBody>
      </p:sp>
      <p:sp>
        <p:nvSpPr>
          <p:cNvPr id="12" name="Shape 10"/>
          <p:cNvSpPr/>
          <p:nvPr/>
        </p:nvSpPr>
        <p:spPr>
          <a:xfrm>
            <a:off x="7178040" y="1024128"/>
            <a:ext cx="4754880" cy="1572768"/>
          </a:xfrm>
          <a:prstGeom prst="roundRect">
            <a:avLst>
              <a:gd name="adj" fmla="val 5814"/>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to_datetime() is essential</a:t>
            </a:r>
            <a:endParaRPr lang="en-US" sz="1100" dirty="0"/>
          </a:p>
        </p:txBody>
      </p:sp>
      <p:sp>
        <p:nvSpPr>
          <p:cNvPr id="14" name="Text 12"/>
          <p:cNvSpPr/>
          <p:nvPr/>
        </p:nvSpPr>
        <p:spPr>
          <a:xfrm>
            <a:off x="7324344" y="1444752"/>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 date stored as a string cannot be filtered, sorted by month, or plotted on a time axis. Always convert with pd.to_datetime().</a:t>
            </a:r>
            <a:endParaRPr lang="en-US" sz="1000" dirty="0"/>
          </a:p>
        </p:txBody>
      </p:sp>
      <p:sp>
        <p:nvSpPr>
          <p:cNvPr id="15" name="Shape 13"/>
          <p:cNvSpPr/>
          <p:nvPr/>
        </p:nvSpPr>
        <p:spPr>
          <a:xfrm>
            <a:off x="7178040" y="2706624"/>
            <a:ext cx="4754880" cy="1572768"/>
          </a:xfrm>
          <a:prstGeom prst="roundRect">
            <a:avLst>
              <a:gd name="adj" fmla="val 5814"/>
            </a:avLst>
          </a:prstGeom>
          <a:solidFill>
            <a:srgbClr val="FFFFFF"/>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816352"/>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Removing vs correcting</a:t>
            </a:r>
            <a:endParaRPr lang="en-US" sz="1100" dirty="0"/>
          </a:p>
        </p:txBody>
      </p:sp>
      <p:sp>
        <p:nvSpPr>
          <p:cNvPr id="17" name="Text 15"/>
          <p:cNvSpPr/>
          <p:nvPr/>
        </p:nvSpPr>
        <p:spPr>
          <a:xfrm>
            <a:off x="7324344" y="3127248"/>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Negative prices: remove the rows (only 44 of 4,500). If you had 1,000 negative prices, investigate — maybe there is a systematic data entry error.</a:t>
            </a:r>
            <a:endParaRPr lang="en-US" sz="1000" dirty="0"/>
          </a:p>
        </p:txBody>
      </p:sp>
      <p:sp>
        <p:nvSpPr>
          <p:cNvPr id="18" name="Shape 16"/>
          <p:cNvSpPr/>
          <p:nvPr/>
        </p:nvSpPr>
        <p:spPr>
          <a:xfrm>
            <a:off x="7178040" y="4389120"/>
            <a:ext cx="4754880" cy="1572768"/>
          </a:xfrm>
          <a:prstGeom prst="roundRect">
            <a:avLst>
              <a:gd name="adj" fmla="val 5814"/>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4498848"/>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.str.strip().str.title()</a:t>
            </a:r>
            <a:endParaRPr lang="en-US" sz="1100" dirty="0"/>
          </a:p>
        </p:txBody>
      </p:sp>
      <p:sp>
        <p:nvSpPr>
          <p:cNvPr id="20" name="Text 18"/>
          <p:cNvSpPr/>
          <p:nvPr/>
        </p:nvSpPr>
        <p:spPr>
          <a:xfrm>
            <a:off x="7324344" y="4809744"/>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two-method chain removes whitespace AND standardises case in one line. Apply to every string column used for grouping or filtering.</a:t>
            </a:r>
            <a:endParaRPr lang="en-US" sz="1000" dirty="0"/>
          </a:p>
        </p:txBody>
      </p:sp>
      <p:sp>
        <p:nvSpPr>
          <p:cNvPr id="21" name="Shape 19"/>
          <p:cNvSpPr/>
          <p:nvPr/>
        </p:nvSpPr>
        <p:spPr>
          <a:xfrm>
            <a:off x="7178040" y="6071616"/>
            <a:ext cx="4754880" cy="1572768"/>
          </a:xfrm>
          <a:prstGeom prst="roundRect">
            <a:avLst>
              <a:gd name="adj" fmla="val 5814"/>
            </a:avLst>
          </a:prstGeom>
          <a:solidFill>
            <a:srgbClr val="FFFFFF"/>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6181344"/>
            <a:ext cx="446227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Recompute after fixing</a:t>
            </a:r>
            <a:endParaRPr lang="en-US" sz="1100" dirty="0"/>
          </a:p>
        </p:txBody>
      </p:sp>
      <p:sp>
        <p:nvSpPr>
          <p:cNvPr id="23" name="Text 21"/>
          <p:cNvSpPr/>
          <p:nvPr/>
        </p:nvSpPr>
        <p:spPr>
          <a:xfrm>
            <a:off x="7324344" y="6492240"/>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Any column derived from a corrected column must be recomputed. Revenue = units * price. Fix price first, then recompute revenue.</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0891B2"/>
          </a:solidFill>
          <a:ln w="12700">
            <a:solidFill>
              <a:srgbClr val="0891B2"/>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05</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Duplicates and Outliers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The two issues most analysts miss until the chart looks wrong.</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STEP 4: REMOVE DUPLICATES AND HANDLE OUTLIERS</a:t>
            </a:r>
            <a:endParaRPr lang="en-US" sz="2600" dirty="0"/>
          </a:p>
        </p:txBody>
      </p:sp>
      <p:sp>
        <p:nvSpPr>
          <p:cNvPr id="4" name="Shape 2"/>
          <p:cNvSpPr/>
          <p:nvPr/>
        </p:nvSpPr>
        <p:spPr>
          <a:xfrm>
            <a:off x="411480" y="1024128"/>
            <a:ext cx="6583680" cy="5559552"/>
          </a:xfrm>
          <a:prstGeom prst="roundRect">
            <a:avLst>
              <a:gd name="adj" fmla="val 164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658368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658368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outliers.py</a:t>
            </a:r>
            <a:endParaRPr lang="en-US" sz="900" dirty="0"/>
          </a:p>
        </p:txBody>
      </p:sp>
      <p:sp>
        <p:nvSpPr>
          <p:cNvPr id="11" name="Text 9"/>
          <p:cNvSpPr/>
          <p:nvPr/>
        </p:nvSpPr>
        <p:spPr>
          <a:xfrm>
            <a:off x="557784" y="1426464"/>
            <a:ext cx="6309360" cy="504748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DUPLICATES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df.duplicated().sum()   # count exact dupes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df.duplicated(subset=['order_id']).sum()  # by ID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Keep first occurrence, drop the rest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df.drop_duplicates(subset=['order_id'])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df.drop_duplicates()    # exact row match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df.reset_index(drop=True, inplace=True)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print(f'Clean rows: {len(df)}')</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OUTLIER DETECTION: IQR METHOD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Q1 = df['revenue'].quantile(0.25)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Q3 = df['revenue'].quantile(0.75)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IQR = Q3 - Q1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lower = Q1 - 1.5 * IQR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upper = Q3 + 1.5 * IQR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outliers = df[(df['revenue']&lt;lower)|(df['revenue']&gt;upper)]</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print(f'Outliers: {len(outliers)}')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OUTLIER DETECTION: Z-SCORE ───────</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from scipy import stats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z = np.abs(stats.zscore(df['revenue'].dropna()))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df_clean = df[z &lt; 3]   # keep within 3 std devs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VISUALISE OUTLIERS ───────────────</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seaborn as sns, matplotlib.pyplot as plt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sns.boxplot(data=df, x='category', y='revenue')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plt.xticks(rotation=45)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plt.show()</a:t>
            </a:r>
            <a:endParaRPr lang="en-US" sz="1050" dirty="0"/>
          </a:p>
        </p:txBody>
      </p:sp>
      <p:sp>
        <p:nvSpPr>
          <p:cNvPr id="12" name="Shape 10"/>
          <p:cNvSpPr/>
          <p:nvPr/>
        </p:nvSpPr>
        <p:spPr>
          <a:xfrm>
            <a:off x="7178040" y="1024128"/>
            <a:ext cx="4754880" cy="1572768"/>
          </a:xfrm>
          <a:prstGeom prst="roundRect">
            <a:avLst>
              <a:gd name="adj" fmla="val 5814"/>
            </a:avLst>
          </a:prstGeom>
          <a:solidFill>
            <a:srgbClr val="131F38"/>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7324344" y="1133856"/>
            <a:ext cx="4462272"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IQR method: the standard</a:t>
            </a:r>
            <a:endParaRPr lang="en-US" sz="1100" dirty="0"/>
          </a:p>
        </p:txBody>
      </p:sp>
      <p:sp>
        <p:nvSpPr>
          <p:cNvPr id="14" name="Text 12"/>
          <p:cNvSpPr/>
          <p:nvPr/>
        </p:nvSpPr>
        <p:spPr>
          <a:xfrm>
            <a:off x="7324344" y="1444752"/>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The Tukey fence rule (Q1-1.5×IQR, Q3+1.5×IQR) is used in box plots and is the most interpretable outlier rule. Use it first.</a:t>
            </a:r>
            <a:endParaRPr lang="en-US" sz="1000" dirty="0"/>
          </a:p>
        </p:txBody>
      </p:sp>
      <p:sp>
        <p:nvSpPr>
          <p:cNvPr id="15" name="Shape 13"/>
          <p:cNvSpPr/>
          <p:nvPr/>
        </p:nvSpPr>
        <p:spPr>
          <a:xfrm>
            <a:off x="7178040" y="2706624"/>
            <a:ext cx="4754880" cy="1572768"/>
          </a:xfrm>
          <a:prstGeom prst="roundRect">
            <a:avLst>
              <a:gd name="adj" fmla="val 5814"/>
            </a:avLst>
          </a:prstGeom>
          <a:solidFill>
            <a:srgbClr val="131F38"/>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7324344" y="2816352"/>
            <a:ext cx="446227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Z-score: for normal distributions</a:t>
            </a:r>
            <a:endParaRPr lang="en-US" sz="1100" dirty="0"/>
          </a:p>
        </p:txBody>
      </p:sp>
      <p:sp>
        <p:nvSpPr>
          <p:cNvPr id="17" name="Text 15"/>
          <p:cNvSpPr/>
          <p:nvPr/>
        </p:nvSpPr>
        <p:spPr>
          <a:xfrm>
            <a:off x="7324344" y="3127248"/>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Z &gt; 3 means more than 3 standard deviations from the mean. Only works well when data is approximately normally distributed.</a:t>
            </a:r>
            <a:endParaRPr lang="en-US" sz="1000" dirty="0"/>
          </a:p>
        </p:txBody>
      </p:sp>
      <p:sp>
        <p:nvSpPr>
          <p:cNvPr id="18" name="Shape 16"/>
          <p:cNvSpPr/>
          <p:nvPr/>
        </p:nvSpPr>
        <p:spPr>
          <a:xfrm>
            <a:off x="7178040" y="4389120"/>
            <a:ext cx="4754880" cy="1572768"/>
          </a:xfrm>
          <a:prstGeom prst="roundRect">
            <a:avLst>
              <a:gd name="adj" fmla="val 5814"/>
            </a:avLst>
          </a:prstGeom>
          <a:solidFill>
            <a:srgbClr val="131F38"/>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7324344" y="4498848"/>
            <a:ext cx="446227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Remove vs cap</a:t>
            </a:r>
            <a:endParaRPr lang="en-US" sz="1100" dirty="0"/>
          </a:p>
        </p:txBody>
      </p:sp>
      <p:sp>
        <p:nvSpPr>
          <p:cNvPr id="20" name="Text 18"/>
          <p:cNvSpPr/>
          <p:nvPr/>
        </p:nvSpPr>
        <p:spPr>
          <a:xfrm>
            <a:off x="7324344" y="4809744"/>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Removing outliers is risky. Capping (winsorising) keeps the row but limits extreme values: df['revenue'].clip(lower, upper). Preferred in financial data.</a:t>
            </a:r>
            <a:endParaRPr lang="en-US" sz="1000" dirty="0"/>
          </a:p>
        </p:txBody>
      </p:sp>
      <p:sp>
        <p:nvSpPr>
          <p:cNvPr id="21" name="Shape 19"/>
          <p:cNvSpPr/>
          <p:nvPr/>
        </p:nvSpPr>
        <p:spPr>
          <a:xfrm>
            <a:off x="7178040" y="6071616"/>
            <a:ext cx="4754880" cy="1572768"/>
          </a:xfrm>
          <a:prstGeom prst="roundRect">
            <a:avLst>
              <a:gd name="adj" fmla="val 5814"/>
            </a:avLst>
          </a:prstGeom>
          <a:solidFill>
            <a:srgbClr val="131F38"/>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22" name="Text 20"/>
          <p:cNvSpPr/>
          <p:nvPr/>
        </p:nvSpPr>
        <p:spPr>
          <a:xfrm>
            <a:off x="7324344" y="6181344"/>
            <a:ext cx="4462272"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Investigate before removing</a:t>
            </a:r>
            <a:endParaRPr lang="en-US" sz="1100" dirty="0"/>
          </a:p>
        </p:txBody>
      </p:sp>
      <p:sp>
        <p:nvSpPr>
          <p:cNvPr id="23" name="Text 21"/>
          <p:cNvSpPr/>
          <p:nvPr/>
        </p:nvSpPr>
        <p:spPr>
          <a:xfrm>
            <a:off x="7324344" y="6492240"/>
            <a:ext cx="446227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An order of 200 laptops might look like an outlier but could be a legitimate B2B sale. Always understand why a value is extreme before deleting it.</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16A34A"/>
          </a:solidFill>
          <a:ln w="12700">
            <a:solidFill>
              <a:srgbClr val="16A34A"/>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06</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Validate and Export</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Prove the data is clean before you chart a single thing.</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COMPLETE CLEANING PIPELINE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029200"/>
          </a:xfrm>
          <a:prstGeom prst="rect">
            <a:avLst/>
          </a:prstGeom>
        </p:spPr>
      </p:pic>
      <p:sp>
        <p:nvSpPr>
          <p:cNvPr id="5" name="Shape 2"/>
          <p:cNvSpPr/>
          <p:nvPr/>
        </p:nvSpPr>
        <p:spPr>
          <a:xfrm>
            <a:off x="411480" y="6144768"/>
            <a:ext cx="11338560" cy="566928"/>
          </a:xfrm>
          <a:prstGeom prst="roundRect">
            <a:avLst>
              <a:gd name="adj" fmla="val 16129"/>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6144768"/>
            <a:ext cx="1133856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6345936"/>
            <a:ext cx="11338560" cy="146304"/>
          </a:xfrm>
          <a:prstGeom prst="rect">
            <a:avLst/>
          </a:prstGeom>
          <a:solidFill>
            <a:srgbClr val="131F38"/>
          </a:solidFill>
          <a:ln w="12700">
            <a:solidFill>
              <a:srgbClr val="131F38"/>
            </a:solidFill>
            <a:prstDash val="solid"/>
          </a:ln>
        </p:spPr>
      </p:sp>
      <p:sp>
        <p:nvSpPr>
          <p:cNvPr id="8" name="Shape 5"/>
          <p:cNvSpPr/>
          <p:nvPr/>
        </p:nvSpPr>
        <p:spPr>
          <a:xfrm>
            <a:off x="539496" y="6236208"/>
            <a:ext cx="164592" cy="164592"/>
          </a:xfrm>
          <a:prstGeom prst="ellipse">
            <a:avLst/>
          </a:prstGeom>
          <a:solidFill>
            <a:srgbClr val="E11D48"/>
          </a:solidFill>
          <a:ln w="12700">
            <a:solidFill>
              <a:srgbClr val="E11D48"/>
            </a:solidFill>
            <a:prstDash val="solid"/>
          </a:ln>
        </p:spPr>
      </p:sp>
      <p:sp>
        <p:nvSpPr>
          <p:cNvPr id="9" name="Shape 6"/>
          <p:cNvSpPr/>
          <p:nvPr/>
        </p:nvSpPr>
        <p:spPr>
          <a:xfrm>
            <a:off x="740664" y="6236208"/>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6236208"/>
            <a:ext cx="164592" cy="164592"/>
          </a:xfrm>
          <a:prstGeom prst="ellipse">
            <a:avLst/>
          </a:prstGeom>
          <a:solidFill>
            <a:srgbClr val="16A34A"/>
          </a:solidFill>
          <a:ln w="12700">
            <a:solidFill>
              <a:srgbClr val="16A34A"/>
            </a:solidFill>
            <a:prstDash val="solid"/>
          </a:ln>
        </p:spPr>
      </p:sp>
      <p:sp>
        <p:nvSpPr>
          <p:cNvPr id="11" name="Text 8"/>
          <p:cNvSpPr/>
          <p:nvPr/>
        </p:nvSpPr>
        <p:spPr>
          <a:xfrm>
            <a:off x="1143000" y="621792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export.py</a:t>
            </a:r>
            <a:endParaRPr lang="en-US" sz="900" dirty="0"/>
          </a:p>
        </p:txBody>
      </p:sp>
      <p:sp>
        <p:nvSpPr>
          <p:cNvPr id="12" name="Text 9"/>
          <p:cNvSpPr/>
          <p:nvPr/>
        </p:nvSpPr>
        <p:spPr>
          <a:xfrm>
            <a:off x="557784" y="6547104"/>
            <a:ext cx="11064240" cy="54864"/>
          </a:xfrm>
          <a:prstGeom prst="rect">
            <a:avLst/>
          </a:prstGeom>
          <a:noFill/>
          <a:ln/>
        </p:spPr>
        <p:txBody>
          <a:bodyPr wrap="square" lIns="0" tIns="0" rIns="0" bIns="0" rtlCol="0" anchor="t"/>
          <a:lstStyle/>
          <a:p>
            <a:pPr indent="0" marL="0">
              <a:buNone/>
            </a:pPr>
            <a:r>
              <a:rPr lang="en-US" sz="1050" dirty="0">
                <a:solidFill>
                  <a:srgbClr val="FFFFFF"/>
                </a:solidFill>
                <a:latin typeface="Courier New" pitchFamily="34" charset="0"/>
                <a:ea typeface="Courier New" pitchFamily="34" charset="-122"/>
                <a:cs typeface="Courier New" pitchFamily="34" charset="-120"/>
              </a:rPr>
              <a:t>df.to_csv('nigeria_retail_clean.csv', index=False)   # save clean version</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print(f'Final clean dataset: {df.shape[0]:,} rows, {df.shape[1]} columns')  # verify before charting</a:t>
            </a:r>
            <a:endParaRPr lang="en-US" sz="10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7C3AED"/>
          </a:solidFill>
          <a:ln w="12700">
            <a:solidFill>
              <a:srgbClr val="7C3AED"/>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07</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Visualisation Principles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The chart must communicate, not just exist.</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CHART SELECTION GUIDE — CHOOSE THE RIGHT CHART</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11338560" cy="557784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SETTING UP YOUR VISUALISATION ENVIRONMENT IN COLAB</a:t>
            </a:r>
            <a:endParaRPr lang="en-US" sz="2600" dirty="0"/>
          </a:p>
        </p:txBody>
      </p:sp>
      <p:sp>
        <p:nvSpPr>
          <p:cNvPr id="4" name="Shape 2"/>
          <p:cNvSpPr/>
          <p:nvPr/>
        </p:nvSpPr>
        <p:spPr>
          <a:xfrm>
            <a:off x="411480" y="1024128"/>
            <a:ext cx="11338560" cy="5029200"/>
          </a:xfrm>
          <a:prstGeom prst="roundRect">
            <a:avLst>
              <a:gd name="adj" fmla="val 1818"/>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1133856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1133856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setup_viz.py</a:t>
            </a:r>
            <a:endParaRPr lang="en-US" sz="900" dirty="0"/>
          </a:p>
        </p:txBody>
      </p:sp>
      <p:sp>
        <p:nvSpPr>
          <p:cNvPr id="11" name="Text 9"/>
          <p:cNvSpPr/>
          <p:nvPr/>
        </p:nvSpPr>
        <p:spPr>
          <a:xfrm>
            <a:off x="557784" y="1426464"/>
            <a:ext cx="11064240" cy="451713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ALL IMPORTS — Run this cell first ──────────────────────────────────────────</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pandas as pd</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numpy as np</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matplotlib.pyplot as plt</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matplotlib.ticker as mticker</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seaborn as sns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plotly.express as px</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plotly.graph_objects as go</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from plotly.subplots import make_subplots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GLOBAL STYLE SETTINGS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plt.style.use('seaborn-v0_8-darkgrid')   # clean professional theme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sns.set_theme(style='darkgrid', palette='tab10')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plt.rcParams.update({'figure.figsize':(12,6), 'font.size':12,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'axes.titlesize':14, 'axes.titleweight':'bold'})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LOAD CLEAN DATASET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pd.read_csv('nigeria_retail_clean.csv')</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df['date'] = pd.to_datetime(df['date'])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print(f'Ready: {df.shape[0]:,} clean rows loaded.')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COLOUR PALETTE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PALETTE = ['#2563EB','#16A34A','#CA8A04','#E11D48','#7C3AED']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CAT_COLORS = {'Electronics':'#2563EB','Groceries':'#16A34A',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'Furniture':'#CA8A04','Health':'#E11D48','Stationery':'#7C3AED'}</a:t>
            </a:r>
            <a:endParaRPr lang="en-US" sz="1050" dirty="0"/>
          </a:p>
        </p:txBody>
      </p:sp>
      <p:sp>
        <p:nvSpPr>
          <p:cNvPr id="12" name="Shape 10"/>
          <p:cNvSpPr/>
          <p:nvPr/>
        </p:nvSpPr>
        <p:spPr>
          <a:xfrm>
            <a:off x="411480" y="6144768"/>
            <a:ext cx="3749040" cy="640080"/>
          </a:xfrm>
          <a:prstGeom prst="roundRect">
            <a:avLst>
              <a:gd name="adj" fmla="val 14286"/>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557784" y="6254496"/>
            <a:ext cx="345643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plt.style.use()</a:t>
            </a:r>
            <a:endParaRPr lang="en-US" sz="1100" dirty="0"/>
          </a:p>
        </p:txBody>
      </p:sp>
      <p:sp>
        <p:nvSpPr>
          <p:cNvPr id="14" name="Text 12"/>
          <p:cNvSpPr/>
          <p:nvPr/>
        </p:nvSpPr>
        <p:spPr>
          <a:xfrm>
            <a:off x="557784" y="6565392"/>
            <a:ext cx="3456432" cy="731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Pick once, applies to all subsequent charts. 'seaborn-v0_8-darkgrid' is the most popular for data analysis.</a:t>
            </a:r>
            <a:endParaRPr lang="en-US" sz="1000" dirty="0"/>
          </a:p>
        </p:txBody>
      </p:sp>
      <p:sp>
        <p:nvSpPr>
          <p:cNvPr id="15" name="Shape 13"/>
          <p:cNvSpPr/>
          <p:nvPr/>
        </p:nvSpPr>
        <p:spPr>
          <a:xfrm>
            <a:off x="4343400" y="6144768"/>
            <a:ext cx="3749040" cy="640080"/>
          </a:xfrm>
          <a:prstGeom prst="roundRect">
            <a:avLst>
              <a:gd name="adj" fmla="val 14286"/>
            </a:avLst>
          </a:prstGeom>
          <a:solidFill>
            <a:srgbClr val="FFFFFF"/>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4489704" y="6254496"/>
            <a:ext cx="3456432"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rcParams.update()</a:t>
            </a:r>
            <a:endParaRPr lang="en-US" sz="1100" dirty="0"/>
          </a:p>
        </p:txBody>
      </p:sp>
      <p:sp>
        <p:nvSpPr>
          <p:cNvPr id="17" name="Text 15"/>
          <p:cNvSpPr/>
          <p:nvPr/>
        </p:nvSpPr>
        <p:spPr>
          <a:xfrm>
            <a:off x="4489704" y="6565392"/>
            <a:ext cx="3456432" cy="731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Set default figure size and font size globally. No need to specify them on every chart.</a:t>
            </a:r>
            <a:endParaRPr lang="en-US" sz="1000" dirty="0"/>
          </a:p>
        </p:txBody>
      </p:sp>
      <p:sp>
        <p:nvSpPr>
          <p:cNvPr id="18" name="Shape 16"/>
          <p:cNvSpPr/>
          <p:nvPr/>
        </p:nvSpPr>
        <p:spPr>
          <a:xfrm>
            <a:off x="8275320" y="6144768"/>
            <a:ext cx="3749040" cy="640080"/>
          </a:xfrm>
          <a:prstGeom prst="roundRect">
            <a:avLst>
              <a:gd name="adj" fmla="val 14286"/>
            </a:avLst>
          </a:prstGeom>
          <a:solidFill>
            <a:srgbClr val="FFFFFF"/>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8421624" y="6254496"/>
            <a:ext cx="3456432"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Three libraries, three strengths</a:t>
            </a:r>
            <a:endParaRPr lang="en-US" sz="1100" dirty="0"/>
          </a:p>
        </p:txBody>
      </p:sp>
      <p:sp>
        <p:nvSpPr>
          <p:cNvPr id="20" name="Text 18"/>
          <p:cNvSpPr/>
          <p:nvPr/>
        </p:nvSpPr>
        <p:spPr>
          <a:xfrm>
            <a:off x="8421624" y="6565392"/>
            <a:ext cx="3456432" cy="73152"/>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Matplotlib: full control, publication-quality. Seaborn: statistical charts in one line. Plotly: interactive HTML charts.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08</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Bar, Grouped Bar, and Stacked Bar</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Comparing things. The most used charts in business.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BAR CHART — WHEN AND HOW</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486400" cy="5120640"/>
          </a:xfrm>
          <a:prstGeom prst="rect">
            <a:avLst/>
          </a:prstGeom>
        </p:spPr>
      </p:pic>
      <p:sp>
        <p:nvSpPr>
          <p:cNvPr id="5" name="Shape 2"/>
          <p:cNvSpPr/>
          <p:nvPr/>
        </p:nvSpPr>
        <p:spPr>
          <a:xfrm>
            <a:off x="6126480" y="1024128"/>
            <a:ext cx="5806440" cy="3291840"/>
          </a:xfrm>
          <a:prstGeom prst="roundRect">
            <a:avLst>
              <a:gd name="adj" fmla="val 2778"/>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6126480" y="1024128"/>
            <a:ext cx="580644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6126480" y="1225296"/>
            <a:ext cx="5806440" cy="146304"/>
          </a:xfrm>
          <a:prstGeom prst="rect">
            <a:avLst/>
          </a:prstGeom>
          <a:solidFill>
            <a:srgbClr val="131F38"/>
          </a:solidFill>
          <a:ln w="12700">
            <a:solidFill>
              <a:srgbClr val="131F38"/>
            </a:solidFill>
            <a:prstDash val="solid"/>
          </a:ln>
        </p:spPr>
      </p:sp>
      <p:sp>
        <p:nvSpPr>
          <p:cNvPr id="8" name="Shape 5"/>
          <p:cNvSpPr/>
          <p:nvPr/>
        </p:nvSpPr>
        <p:spPr>
          <a:xfrm>
            <a:off x="6254496" y="1115568"/>
            <a:ext cx="164592" cy="164592"/>
          </a:xfrm>
          <a:prstGeom prst="ellipse">
            <a:avLst/>
          </a:prstGeom>
          <a:solidFill>
            <a:srgbClr val="E11D48"/>
          </a:solidFill>
          <a:ln w="12700">
            <a:solidFill>
              <a:srgbClr val="E11D48"/>
            </a:solidFill>
            <a:prstDash val="solid"/>
          </a:ln>
        </p:spPr>
      </p:sp>
      <p:sp>
        <p:nvSpPr>
          <p:cNvPr id="9" name="Shape 6"/>
          <p:cNvSpPr/>
          <p:nvPr/>
        </p:nvSpPr>
        <p:spPr>
          <a:xfrm>
            <a:off x="6455664" y="1115568"/>
            <a:ext cx="164592" cy="164592"/>
          </a:xfrm>
          <a:prstGeom prst="ellipse">
            <a:avLst/>
          </a:prstGeom>
          <a:solidFill>
            <a:srgbClr val="D97706"/>
          </a:solidFill>
          <a:ln w="12700">
            <a:solidFill>
              <a:srgbClr val="D97706"/>
            </a:solidFill>
            <a:prstDash val="solid"/>
          </a:ln>
        </p:spPr>
      </p:sp>
      <p:sp>
        <p:nvSpPr>
          <p:cNvPr id="10" name="Shape 7"/>
          <p:cNvSpPr/>
          <p:nvPr/>
        </p:nvSpPr>
        <p:spPr>
          <a:xfrm>
            <a:off x="6656832" y="1115568"/>
            <a:ext cx="164592" cy="164592"/>
          </a:xfrm>
          <a:prstGeom prst="ellipse">
            <a:avLst/>
          </a:prstGeom>
          <a:solidFill>
            <a:srgbClr val="16A34A"/>
          </a:solidFill>
          <a:ln w="12700">
            <a:solidFill>
              <a:srgbClr val="16A34A"/>
            </a:solidFill>
            <a:prstDash val="solid"/>
          </a:ln>
        </p:spPr>
      </p:sp>
      <p:sp>
        <p:nvSpPr>
          <p:cNvPr id="11" name="Text 8"/>
          <p:cNvSpPr/>
          <p:nvPr/>
        </p:nvSpPr>
        <p:spPr>
          <a:xfrm>
            <a:off x="6858000" y="1097280"/>
            <a:ext cx="489204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bar_chart.py</a:t>
            </a:r>
            <a:endParaRPr lang="en-US" sz="900" dirty="0"/>
          </a:p>
        </p:txBody>
      </p:sp>
      <p:sp>
        <p:nvSpPr>
          <p:cNvPr id="12" name="Text 9"/>
          <p:cNvSpPr/>
          <p:nvPr/>
        </p:nvSpPr>
        <p:spPr>
          <a:xfrm>
            <a:off x="6272784" y="1426464"/>
            <a:ext cx="5532120" cy="27797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WHY BAR CHART? ───────────────────</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Compare DISCRETE categories side by side.</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regional comparison, product ranking,</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channel performance, top-N lists.</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MATPLOTLIB BAR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rev_by_region = (df.groupby('region')['revenue']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.sum().sort_values(ascending=False))</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plt.subplots(figsize=(12,6))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colors = plt.cm.Blues_r(np.linspace(0.3,0.9,len(rev_by_region)))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bars = ax.bar(rev_by_region.index,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rev_by_region.values/1e6,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color=colors, edgecolor='white')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ax.bar_label(bars, fmt='NGN %.1fM', padding=4)</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ax.set_title('Revenue by Region', fontsize=16, fontweight='bold')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ax.set_ylabel('Revenue (NGN Millions)')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plt.tight_layout(); plt.show()</a:t>
            </a:r>
            <a:endParaRPr lang="en-US" sz="1050" dirty="0"/>
          </a:p>
        </p:txBody>
      </p:sp>
      <p:sp>
        <p:nvSpPr>
          <p:cNvPr id="13" name="Shape 10"/>
          <p:cNvSpPr/>
          <p:nvPr/>
        </p:nvSpPr>
        <p:spPr>
          <a:xfrm>
            <a:off x="6126480" y="4407408"/>
            <a:ext cx="5806440" cy="2176272"/>
          </a:xfrm>
          <a:prstGeom prst="roundRect">
            <a:avLst>
              <a:gd name="adj" fmla="val 4202"/>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4" name="Shape 11"/>
          <p:cNvSpPr/>
          <p:nvPr/>
        </p:nvSpPr>
        <p:spPr>
          <a:xfrm>
            <a:off x="6126480" y="4407408"/>
            <a:ext cx="5806440" cy="347472"/>
          </a:xfrm>
          <a:prstGeom prst="roundRect">
            <a:avLst>
              <a:gd name="adj" fmla="val 26316"/>
            </a:avLst>
          </a:prstGeom>
          <a:solidFill>
            <a:srgbClr val="131F38"/>
          </a:solidFill>
          <a:ln w="12700">
            <a:solidFill>
              <a:srgbClr val="131F38"/>
            </a:solidFill>
            <a:prstDash val="solid"/>
          </a:ln>
        </p:spPr>
      </p:sp>
      <p:sp>
        <p:nvSpPr>
          <p:cNvPr id="15" name="Shape 12"/>
          <p:cNvSpPr/>
          <p:nvPr/>
        </p:nvSpPr>
        <p:spPr>
          <a:xfrm>
            <a:off x="6126480" y="4608576"/>
            <a:ext cx="5806440" cy="146304"/>
          </a:xfrm>
          <a:prstGeom prst="rect">
            <a:avLst/>
          </a:prstGeom>
          <a:solidFill>
            <a:srgbClr val="131F38"/>
          </a:solidFill>
          <a:ln w="12700">
            <a:solidFill>
              <a:srgbClr val="131F38"/>
            </a:solidFill>
            <a:prstDash val="solid"/>
          </a:ln>
        </p:spPr>
      </p:sp>
      <p:sp>
        <p:nvSpPr>
          <p:cNvPr id="16" name="Shape 13"/>
          <p:cNvSpPr/>
          <p:nvPr/>
        </p:nvSpPr>
        <p:spPr>
          <a:xfrm>
            <a:off x="6254496" y="4498848"/>
            <a:ext cx="164592" cy="164592"/>
          </a:xfrm>
          <a:prstGeom prst="ellipse">
            <a:avLst/>
          </a:prstGeom>
          <a:solidFill>
            <a:srgbClr val="E11D48"/>
          </a:solidFill>
          <a:ln w="12700">
            <a:solidFill>
              <a:srgbClr val="E11D48"/>
            </a:solidFill>
            <a:prstDash val="solid"/>
          </a:ln>
        </p:spPr>
      </p:sp>
      <p:sp>
        <p:nvSpPr>
          <p:cNvPr id="17" name="Shape 14"/>
          <p:cNvSpPr/>
          <p:nvPr/>
        </p:nvSpPr>
        <p:spPr>
          <a:xfrm>
            <a:off x="6455664" y="4498848"/>
            <a:ext cx="164592" cy="164592"/>
          </a:xfrm>
          <a:prstGeom prst="ellipse">
            <a:avLst/>
          </a:prstGeom>
          <a:solidFill>
            <a:srgbClr val="D97706"/>
          </a:solidFill>
          <a:ln w="12700">
            <a:solidFill>
              <a:srgbClr val="D97706"/>
            </a:solidFill>
            <a:prstDash val="solid"/>
          </a:ln>
        </p:spPr>
      </p:sp>
      <p:sp>
        <p:nvSpPr>
          <p:cNvPr id="18" name="Shape 15"/>
          <p:cNvSpPr/>
          <p:nvPr/>
        </p:nvSpPr>
        <p:spPr>
          <a:xfrm>
            <a:off x="6656832" y="4498848"/>
            <a:ext cx="164592" cy="164592"/>
          </a:xfrm>
          <a:prstGeom prst="ellipse">
            <a:avLst/>
          </a:prstGeom>
          <a:solidFill>
            <a:srgbClr val="16A34A"/>
          </a:solidFill>
          <a:ln w="12700">
            <a:solidFill>
              <a:srgbClr val="16A34A"/>
            </a:solidFill>
            <a:prstDash val="solid"/>
          </a:ln>
        </p:spPr>
      </p:sp>
      <p:sp>
        <p:nvSpPr>
          <p:cNvPr id="19" name="Text 16"/>
          <p:cNvSpPr/>
          <p:nvPr/>
        </p:nvSpPr>
        <p:spPr>
          <a:xfrm>
            <a:off x="6858000" y="4480560"/>
            <a:ext cx="489204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bar_seaborn.py</a:t>
            </a:r>
            <a:endParaRPr lang="en-US" sz="900" dirty="0"/>
          </a:p>
        </p:txBody>
      </p:sp>
      <p:sp>
        <p:nvSpPr>
          <p:cNvPr id="20" name="Text 17"/>
          <p:cNvSpPr/>
          <p:nvPr/>
        </p:nvSpPr>
        <p:spPr>
          <a:xfrm>
            <a:off x="6272784" y="4809744"/>
            <a:ext cx="5532120" cy="1664208"/>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SEABORN BAR (EASIER)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sns.barplot(data=df, x='region', y='revenue',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estimator=sum,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order=rev_by_region.index,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palette='Blues_r')</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plt.title('Revenue by Region'); plt.show()</a:t>
            </a:r>
            <a:endParaRPr lang="en-US" sz="1050" dirty="0"/>
          </a:p>
        </p:txBody>
      </p:sp>
      <p:sp>
        <p:nvSpPr>
          <p:cNvPr id="21" name="Text 18"/>
          <p:cNvSpPr/>
          <p:nvPr/>
        </p:nvSpPr>
        <p:spPr>
          <a:xfrm>
            <a:off x="411480" y="6217920"/>
            <a:ext cx="5486400" cy="256032"/>
          </a:xfrm>
          <a:prstGeom prst="rect">
            <a:avLst/>
          </a:prstGeom>
          <a:noFill/>
          <a:ln/>
        </p:spPr>
        <p:txBody>
          <a:bodyPr wrap="square" lIns="0" tIns="0" rIns="0" bIns="0" rtlCol="0" anchor="ctr"/>
          <a:lstStyle/>
          <a:p>
            <a:pPr indent="0" marL="0">
              <a:buNone/>
            </a:pPr>
            <a:r>
              <a:rPr lang="en-US" sz="1000" b="1" dirty="0">
                <a:solidFill>
                  <a:srgbClr val="F9AB00"/>
                </a:solidFill>
                <a:latin typeface="Cambria" pitchFamily="34" charset="0"/>
                <a:ea typeface="Cambria" pitchFamily="34" charset="-122"/>
                <a:cs typeface="Cambria" pitchFamily="34" charset="-120"/>
              </a:rPr>
              <a:t>WHY USE A BAR CHART?</a:t>
            </a:r>
            <a:endParaRPr lang="en-US" sz="1000" dirty="0"/>
          </a:p>
        </p:txBody>
      </p:sp>
      <p:sp>
        <p:nvSpPr>
          <p:cNvPr id="22" name="Shape 19"/>
          <p:cNvSpPr/>
          <p:nvPr/>
        </p:nvSpPr>
        <p:spPr>
          <a:xfrm>
            <a:off x="457200" y="6510528"/>
            <a:ext cx="146304" cy="146304"/>
          </a:xfrm>
          <a:prstGeom prst="ellipse">
            <a:avLst/>
          </a:prstGeom>
          <a:solidFill>
            <a:srgbClr val="2563EB"/>
          </a:solidFill>
          <a:ln w="12700">
            <a:solidFill>
              <a:srgbClr val="2563EB"/>
            </a:solidFill>
            <a:prstDash val="solid"/>
          </a:ln>
        </p:spPr>
      </p:sp>
      <p:sp>
        <p:nvSpPr>
          <p:cNvPr id="23" name="Shape 20"/>
          <p:cNvSpPr/>
          <p:nvPr/>
        </p:nvSpPr>
        <p:spPr>
          <a:xfrm>
            <a:off x="457200" y="6510528"/>
            <a:ext cx="146304" cy="146304"/>
          </a:xfrm>
          <a:prstGeom prst="ellipse">
            <a:avLst/>
          </a:prstGeom>
          <a:solidFill>
            <a:srgbClr val="2563EB"/>
          </a:solidFill>
          <a:ln w="12700">
            <a:solidFill>
              <a:srgbClr val="2563EB"/>
            </a:solidFill>
            <a:prstDash val="solid"/>
          </a:ln>
        </p:spPr>
      </p:sp>
      <p:sp>
        <p:nvSpPr>
          <p:cNvPr id="24" name="Shape 21"/>
          <p:cNvSpPr/>
          <p:nvPr/>
        </p:nvSpPr>
        <p:spPr>
          <a:xfrm>
            <a:off x="457200" y="6510528"/>
            <a:ext cx="146304" cy="146304"/>
          </a:xfrm>
          <a:prstGeom prst="ellipse">
            <a:avLst/>
          </a:prstGeom>
          <a:solidFill>
            <a:srgbClr val="2563EB"/>
          </a:solidFill>
          <a:ln w="12700">
            <a:solidFill>
              <a:srgbClr val="2563EB"/>
            </a:solidFill>
            <a:prstDash val="solid"/>
          </a:ln>
        </p:spPr>
      </p:sp>
      <p:sp>
        <p:nvSpPr>
          <p:cNvPr id="25" name="Shape 22"/>
          <p:cNvSpPr/>
          <p:nvPr/>
        </p:nvSpPr>
        <p:spPr>
          <a:xfrm>
            <a:off x="457200" y="6510528"/>
            <a:ext cx="146304" cy="146304"/>
          </a:xfrm>
          <a:prstGeom prst="ellipse">
            <a:avLst/>
          </a:prstGeom>
          <a:solidFill>
            <a:srgbClr val="2563EB"/>
          </a:solidFill>
          <a:ln w="12700">
            <a:solidFill>
              <a:srgbClr val="2563EB"/>
            </a:solidFill>
            <a:prstDash val="solid"/>
          </a:ln>
        </p:spPr>
      </p:sp>
      <p:sp>
        <p:nvSpPr>
          <p:cNvPr id="26" name="Text 23"/>
          <p:cNvSpPr/>
          <p:nvPr/>
        </p:nvSpPr>
        <p:spPr>
          <a:xfrm>
            <a:off x="685800" y="6236208"/>
            <a:ext cx="5212080" cy="731520"/>
          </a:xfrm>
          <a:prstGeom prst="rect">
            <a:avLst/>
          </a:prstGeom>
          <a:noFill/>
          <a:ln/>
        </p:spPr>
        <p:txBody>
          <a:bodyPr wrap="square" lIns="0" tIns="0" rIns="0" bIns="0" rtlCol="0" anchor="ctr"/>
          <a:lstStyle/>
          <a:p>
            <a:pPr indent="0" marL="0">
              <a:buNone/>
            </a:pPr>
            <a:r>
              <a:rPr lang="en-US" sz="950" dirty="0">
                <a:solidFill>
                  <a:srgbClr val="FFFFFF"/>
                </a:solidFill>
                <a:latin typeface="Calibri" pitchFamily="34" charset="0"/>
                <a:ea typeface="Calibri" pitchFamily="34" charset="-122"/>
                <a:cs typeface="Calibri" pitchFamily="34" charset="-120"/>
              </a:rPr>
              <a:t>• Compare revenue across 8 regions instantly</a:t>
            </a:r>
            <a:endParaRPr lang="en-US" sz="950" dirty="0"/>
          </a:p>
          <a:p>
            <a:pPr indent="0" marL="0">
              <a:buNone/>
            </a:pPr>
            <a:r>
              <a:rPr lang="en-US" sz="950" dirty="0">
                <a:solidFill>
                  <a:srgbClr val="FFFFFF"/>
                </a:solidFill>
                <a:latin typeface="Calibri" pitchFamily="34" charset="0"/>
                <a:ea typeface="Calibri" pitchFamily="34" charset="-122"/>
                <a:cs typeface="Calibri" pitchFamily="34" charset="-120"/>
              </a:rPr>
              <a:t>• Rank products or reps from highest to lowest</a:t>
            </a:r>
            <a:endParaRPr lang="en-US" sz="950" dirty="0"/>
          </a:p>
          <a:p>
            <a:pPr indent="0" marL="0">
              <a:buNone/>
            </a:pPr>
            <a:r>
              <a:rPr lang="en-US" sz="950" dirty="0">
                <a:solidFill>
                  <a:srgbClr val="FFFFFF"/>
                </a:solidFill>
                <a:latin typeface="Calibri" pitchFamily="34" charset="0"/>
                <a:ea typeface="Calibri" pitchFamily="34" charset="-122"/>
                <a:cs typeface="Calibri" pitchFamily="34" charset="-120"/>
              </a:rPr>
              <a:t>• Show monthly targets vs actuals</a:t>
            </a:r>
            <a:endParaRPr lang="en-US" sz="950" dirty="0"/>
          </a:p>
          <a:p>
            <a:pPr indent="0" marL="0">
              <a:buNone/>
            </a:pPr>
            <a:r>
              <a:rPr lang="en-US" sz="950" dirty="0">
                <a:solidFill>
                  <a:srgbClr val="FFFFFF"/>
                </a:solidFill>
                <a:latin typeface="Calibri" pitchFamily="34" charset="0"/>
                <a:ea typeface="Calibri" pitchFamily="34" charset="-122"/>
                <a:cs typeface="Calibri" pitchFamily="34" charset="-120"/>
              </a:rPr>
              <a:t>• NOT for: time series (use line), proportions (use pie)</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GROUPED BAR AND STACKED BAR — COMPARING MULTIPLE SERIES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852160" cy="3840480"/>
          </a:xfrm>
          <a:prstGeom prst="rect">
            <a:avLst/>
          </a:prstGeom>
        </p:spPr>
      </p:pic>
      <p:pic>
        <p:nvPicPr>
          <p:cNvPr id="5" name="Image 1" descr="preencoded.png">    </p:cNvPr>
          <p:cNvPicPr>
            <a:picLocks noChangeAspect="1"/>
          </p:cNvPicPr>
          <p:nvPr/>
        </p:nvPicPr>
        <p:blipFill>
          <a:blip r:embed="rId2"/>
          <a:srcRect l="0" r="0" t="0" b="0"/>
          <a:stretch/>
        </p:blipFill>
        <p:spPr>
          <a:xfrm>
            <a:off x="6355080" y="1024128"/>
            <a:ext cx="5577840" cy="3840480"/>
          </a:xfrm>
          <a:prstGeom prst="rect">
            <a:avLst/>
          </a:prstGeom>
        </p:spPr>
      </p:pic>
      <p:sp>
        <p:nvSpPr>
          <p:cNvPr id="6" name="Shape 2"/>
          <p:cNvSpPr/>
          <p:nvPr/>
        </p:nvSpPr>
        <p:spPr>
          <a:xfrm>
            <a:off x="411480" y="4956048"/>
            <a:ext cx="5852160" cy="1691640"/>
          </a:xfrm>
          <a:prstGeom prst="roundRect">
            <a:avLst>
              <a:gd name="adj" fmla="val 540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7" name="Shape 3"/>
          <p:cNvSpPr/>
          <p:nvPr/>
        </p:nvSpPr>
        <p:spPr>
          <a:xfrm>
            <a:off x="411480" y="4956048"/>
            <a:ext cx="5852160" cy="347472"/>
          </a:xfrm>
          <a:prstGeom prst="roundRect">
            <a:avLst>
              <a:gd name="adj" fmla="val 26316"/>
            </a:avLst>
          </a:prstGeom>
          <a:solidFill>
            <a:srgbClr val="131F38"/>
          </a:solidFill>
          <a:ln w="12700">
            <a:solidFill>
              <a:srgbClr val="131F38"/>
            </a:solidFill>
            <a:prstDash val="solid"/>
          </a:ln>
        </p:spPr>
      </p:sp>
      <p:sp>
        <p:nvSpPr>
          <p:cNvPr id="8" name="Shape 4"/>
          <p:cNvSpPr/>
          <p:nvPr/>
        </p:nvSpPr>
        <p:spPr>
          <a:xfrm>
            <a:off x="411480" y="5157216"/>
            <a:ext cx="5852160" cy="146304"/>
          </a:xfrm>
          <a:prstGeom prst="rect">
            <a:avLst/>
          </a:prstGeom>
          <a:solidFill>
            <a:srgbClr val="131F38"/>
          </a:solidFill>
          <a:ln w="12700">
            <a:solidFill>
              <a:srgbClr val="131F38"/>
            </a:solidFill>
            <a:prstDash val="solid"/>
          </a:ln>
        </p:spPr>
      </p:sp>
      <p:sp>
        <p:nvSpPr>
          <p:cNvPr id="9" name="Shape 5"/>
          <p:cNvSpPr/>
          <p:nvPr/>
        </p:nvSpPr>
        <p:spPr>
          <a:xfrm>
            <a:off x="539496" y="5047488"/>
            <a:ext cx="164592" cy="164592"/>
          </a:xfrm>
          <a:prstGeom prst="ellipse">
            <a:avLst/>
          </a:prstGeom>
          <a:solidFill>
            <a:srgbClr val="E11D48"/>
          </a:solidFill>
          <a:ln w="12700">
            <a:solidFill>
              <a:srgbClr val="E11D48"/>
            </a:solidFill>
            <a:prstDash val="solid"/>
          </a:ln>
        </p:spPr>
      </p:sp>
      <p:sp>
        <p:nvSpPr>
          <p:cNvPr id="10" name="Shape 6"/>
          <p:cNvSpPr/>
          <p:nvPr/>
        </p:nvSpPr>
        <p:spPr>
          <a:xfrm>
            <a:off x="740664" y="5047488"/>
            <a:ext cx="164592" cy="164592"/>
          </a:xfrm>
          <a:prstGeom prst="ellipse">
            <a:avLst/>
          </a:prstGeom>
          <a:solidFill>
            <a:srgbClr val="D97706"/>
          </a:solidFill>
          <a:ln w="12700">
            <a:solidFill>
              <a:srgbClr val="D97706"/>
            </a:solidFill>
            <a:prstDash val="solid"/>
          </a:ln>
        </p:spPr>
      </p:sp>
      <p:sp>
        <p:nvSpPr>
          <p:cNvPr id="11" name="Shape 7"/>
          <p:cNvSpPr/>
          <p:nvPr/>
        </p:nvSpPr>
        <p:spPr>
          <a:xfrm>
            <a:off x="941832" y="5047488"/>
            <a:ext cx="164592" cy="164592"/>
          </a:xfrm>
          <a:prstGeom prst="ellipse">
            <a:avLst/>
          </a:prstGeom>
          <a:solidFill>
            <a:srgbClr val="16A34A"/>
          </a:solidFill>
          <a:ln w="12700">
            <a:solidFill>
              <a:srgbClr val="16A34A"/>
            </a:solidFill>
            <a:prstDash val="solid"/>
          </a:ln>
        </p:spPr>
      </p:sp>
      <p:sp>
        <p:nvSpPr>
          <p:cNvPr id="12" name="Text 8"/>
          <p:cNvSpPr/>
          <p:nvPr/>
        </p:nvSpPr>
        <p:spPr>
          <a:xfrm>
            <a:off x="1143000" y="5029200"/>
            <a:ext cx="49377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grouped.py</a:t>
            </a:r>
            <a:endParaRPr lang="en-US" sz="900" dirty="0"/>
          </a:p>
        </p:txBody>
      </p:sp>
      <p:sp>
        <p:nvSpPr>
          <p:cNvPr id="13" name="Text 9"/>
          <p:cNvSpPr/>
          <p:nvPr/>
        </p:nvSpPr>
        <p:spPr>
          <a:xfrm>
            <a:off x="557784" y="5358384"/>
            <a:ext cx="5577840" cy="11795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Grouped Bar — compare quarters per region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df_pivot = df.pivot_table(index='region',columns='quarter',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values='revenue',aggfunc='sum')/1e6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df_pivot.plot(kind='bar',figsize=(12,6),colormap='Set2')</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plt.title('Revenue by Region and Quarter'); plt.show()</a:t>
            </a:r>
            <a:endParaRPr lang="en-US" sz="1050" dirty="0"/>
          </a:p>
        </p:txBody>
      </p:sp>
      <p:sp>
        <p:nvSpPr>
          <p:cNvPr id="14" name="Shape 10"/>
          <p:cNvSpPr/>
          <p:nvPr/>
        </p:nvSpPr>
        <p:spPr>
          <a:xfrm>
            <a:off x="6355080" y="4956048"/>
            <a:ext cx="5577840" cy="1691640"/>
          </a:xfrm>
          <a:prstGeom prst="roundRect">
            <a:avLst>
              <a:gd name="adj" fmla="val 5405"/>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5" name="Shape 11"/>
          <p:cNvSpPr/>
          <p:nvPr/>
        </p:nvSpPr>
        <p:spPr>
          <a:xfrm>
            <a:off x="6355080" y="4956048"/>
            <a:ext cx="5577840" cy="347472"/>
          </a:xfrm>
          <a:prstGeom prst="roundRect">
            <a:avLst>
              <a:gd name="adj" fmla="val 26316"/>
            </a:avLst>
          </a:prstGeom>
          <a:solidFill>
            <a:srgbClr val="131F38"/>
          </a:solidFill>
          <a:ln w="12700">
            <a:solidFill>
              <a:srgbClr val="131F38"/>
            </a:solidFill>
            <a:prstDash val="solid"/>
          </a:ln>
        </p:spPr>
      </p:sp>
      <p:sp>
        <p:nvSpPr>
          <p:cNvPr id="16" name="Shape 12"/>
          <p:cNvSpPr/>
          <p:nvPr/>
        </p:nvSpPr>
        <p:spPr>
          <a:xfrm>
            <a:off x="6355080" y="5157216"/>
            <a:ext cx="5577840" cy="146304"/>
          </a:xfrm>
          <a:prstGeom prst="rect">
            <a:avLst/>
          </a:prstGeom>
          <a:solidFill>
            <a:srgbClr val="131F38"/>
          </a:solidFill>
          <a:ln w="12700">
            <a:solidFill>
              <a:srgbClr val="131F38"/>
            </a:solidFill>
            <a:prstDash val="solid"/>
          </a:ln>
        </p:spPr>
      </p:sp>
      <p:sp>
        <p:nvSpPr>
          <p:cNvPr id="17" name="Shape 13"/>
          <p:cNvSpPr/>
          <p:nvPr/>
        </p:nvSpPr>
        <p:spPr>
          <a:xfrm>
            <a:off x="6483096" y="5047488"/>
            <a:ext cx="164592" cy="164592"/>
          </a:xfrm>
          <a:prstGeom prst="ellipse">
            <a:avLst/>
          </a:prstGeom>
          <a:solidFill>
            <a:srgbClr val="E11D48"/>
          </a:solidFill>
          <a:ln w="12700">
            <a:solidFill>
              <a:srgbClr val="E11D48"/>
            </a:solidFill>
            <a:prstDash val="solid"/>
          </a:ln>
        </p:spPr>
      </p:sp>
      <p:sp>
        <p:nvSpPr>
          <p:cNvPr id="18" name="Shape 14"/>
          <p:cNvSpPr/>
          <p:nvPr/>
        </p:nvSpPr>
        <p:spPr>
          <a:xfrm>
            <a:off x="6684264" y="5047488"/>
            <a:ext cx="164592" cy="164592"/>
          </a:xfrm>
          <a:prstGeom prst="ellipse">
            <a:avLst/>
          </a:prstGeom>
          <a:solidFill>
            <a:srgbClr val="D97706"/>
          </a:solidFill>
          <a:ln w="12700">
            <a:solidFill>
              <a:srgbClr val="D97706"/>
            </a:solidFill>
            <a:prstDash val="solid"/>
          </a:ln>
        </p:spPr>
      </p:sp>
      <p:sp>
        <p:nvSpPr>
          <p:cNvPr id="19" name="Shape 15"/>
          <p:cNvSpPr/>
          <p:nvPr/>
        </p:nvSpPr>
        <p:spPr>
          <a:xfrm>
            <a:off x="6885432" y="5047488"/>
            <a:ext cx="164592" cy="164592"/>
          </a:xfrm>
          <a:prstGeom prst="ellipse">
            <a:avLst/>
          </a:prstGeom>
          <a:solidFill>
            <a:srgbClr val="16A34A"/>
          </a:solidFill>
          <a:ln w="12700">
            <a:solidFill>
              <a:srgbClr val="16A34A"/>
            </a:solidFill>
            <a:prstDash val="solid"/>
          </a:ln>
        </p:spPr>
      </p:sp>
      <p:sp>
        <p:nvSpPr>
          <p:cNvPr id="20" name="Text 16"/>
          <p:cNvSpPr/>
          <p:nvPr/>
        </p:nvSpPr>
        <p:spPr>
          <a:xfrm>
            <a:off x="7086600" y="5029200"/>
            <a:ext cx="466344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stacked.py</a:t>
            </a:r>
            <a:endParaRPr lang="en-US" sz="900" dirty="0"/>
          </a:p>
        </p:txBody>
      </p:sp>
      <p:sp>
        <p:nvSpPr>
          <p:cNvPr id="21" name="Text 17"/>
          <p:cNvSpPr/>
          <p:nvPr/>
        </p:nvSpPr>
        <p:spPr>
          <a:xfrm>
            <a:off x="6501384" y="5358384"/>
            <a:ext cx="5303520" cy="11795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Stacked Bar — category contribution per quarter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df_stack = df.pivot_table(index='quarter',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columns='category',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values='units',aggfunc='sum')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df_stack.plot(kind='bar',stacked=True,figsize=(10,6))</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plt.title('Units by Quarter — Stacked'); plt.show()</a:t>
            </a:r>
            <a:endParaRPr lang="en-US" sz="1050" dirty="0"/>
          </a:p>
        </p:txBody>
      </p:sp>
      <p:sp>
        <p:nvSpPr>
          <p:cNvPr id="22" name="Text 18"/>
          <p:cNvSpPr/>
          <p:nvPr/>
        </p:nvSpPr>
        <p:spPr>
          <a:xfrm>
            <a:off x="411480" y="6638544"/>
            <a:ext cx="11338560" cy="274320"/>
          </a:xfrm>
          <a:prstGeom prst="rect">
            <a:avLst/>
          </a:prstGeom>
          <a:noFill/>
          <a:ln/>
        </p:spPr>
        <p:txBody>
          <a:bodyPr wrap="square" lIns="0" tIns="0" rIns="0" bIns="0" rtlCol="0" anchor="ctr"/>
          <a:lstStyle/>
          <a:p>
            <a:pPr indent="0" marL="0">
              <a:buNone/>
            </a:pPr>
            <a:r>
              <a:rPr lang="en-US" sz="1000" i="1" dirty="0">
                <a:solidFill>
                  <a:srgbClr val="64748B"/>
                </a:solidFill>
                <a:latin typeface="Calibri" pitchFamily="34" charset="0"/>
                <a:ea typeface="Calibri" pitchFamily="34" charset="-122"/>
                <a:cs typeface="Calibri" pitchFamily="34" charset="-120"/>
              </a:rPr>
              <a:t>GROUPED: compare absolute values across groups  |  STACKED: show composition — what portion each part contributes to the total</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0891B2"/>
          </a:solidFill>
          <a:ln w="12700">
            <a:solidFill>
              <a:srgbClr val="0891B2"/>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09</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Line Charts and Area Charts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Time is on the X axis. Story is in the slope.</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LINE CHART — TRENDS OVER TIME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852160" cy="4389120"/>
          </a:xfrm>
          <a:prstGeom prst="rect">
            <a:avLst/>
          </a:prstGeom>
        </p:spPr>
      </p:pic>
      <p:sp>
        <p:nvSpPr>
          <p:cNvPr id="5" name="Shape 2"/>
          <p:cNvSpPr/>
          <p:nvPr/>
        </p:nvSpPr>
        <p:spPr>
          <a:xfrm>
            <a:off x="411480" y="5522976"/>
            <a:ext cx="5852160" cy="1508760"/>
          </a:xfrm>
          <a:prstGeom prst="roundRect">
            <a:avLst>
              <a:gd name="adj" fmla="val 6061"/>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522976"/>
            <a:ext cx="585216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5724144"/>
            <a:ext cx="5852160" cy="146304"/>
          </a:xfrm>
          <a:prstGeom prst="rect">
            <a:avLst/>
          </a:prstGeom>
          <a:solidFill>
            <a:srgbClr val="131F38"/>
          </a:solidFill>
          <a:ln w="12700">
            <a:solidFill>
              <a:srgbClr val="131F38"/>
            </a:solidFill>
            <a:prstDash val="solid"/>
          </a:ln>
        </p:spPr>
      </p:sp>
      <p:sp>
        <p:nvSpPr>
          <p:cNvPr id="8" name="Shape 5"/>
          <p:cNvSpPr/>
          <p:nvPr/>
        </p:nvSpPr>
        <p:spPr>
          <a:xfrm>
            <a:off x="539496" y="5614416"/>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614416"/>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614416"/>
            <a:ext cx="164592" cy="164592"/>
          </a:xfrm>
          <a:prstGeom prst="ellipse">
            <a:avLst/>
          </a:prstGeom>
          <a:solidFill>
            <a:srgbClr val="16A34A"/>
          </a:solidFill>
          <a:ln w="12700">
            <a:solidFill>
              <a:srgbClr val="16A34A"/>
            </a:solidFill>
            <a:prstDash val="solid"/>
          </a:ln>
        </p:spPr>
      </p:sp>
      <p:sp>
        <p:nvSpPr>
          <p:cNvPr id="11" name="Text 8"/>
          <p:cNvSpPr/>
          <p:nvPr/>
        </p:nvSpPr>
        <p:spPr>
          <a:xfrm>
            <a:off x="557784" y="5925312"/>
            <a:ext cx="5577840" cy="99669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X axis = time, Y axis = measured value.</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trend, growth, seasonality, comparison over time.</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NOT for: comparing discrete unordered categories.</a:t>
            </a:r>
            <a:endParaRPr lang="en-US" sz="1050" dirty="0"/>
          </a:p>
        </p:txBody>
      </p:sp>
      <p:sp>
        <p:nvSpPr>
          <p:cNvPr id="12" name="Shape 9"/>
          <p:cNvSpPr/>
          <p:nvPr/>
        </p:nvSpPr>
        <p:spPr>
          <a:xfrm>
            <a:off x="6400800" y="1024128"/>
            <a:ext cx="5532120" cy="6007608"/>
          </a:xfrm>
          <a:prstGeom prst="roundRect">
            <a:avLst>
              <a:gd name="adj" fmla="val 1653"/>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3" name="Shape 10"/>
          <p:cNvSpPr/>
          <p:nvPr/>
        </p:nvSpPr>
        <p:spPr>
          <a:xfrm>
            <a:off x="6400800" y="1024128"/>
            <a:ext cx="5532120" cy="347472"/>
          </a:xfrm>
          <a:prstGeom prst="roundRect">
            <a:avLst>
              <a:gd name="adj" fmla="val 26316"/>
            </a:avLst>
          </a:prstGeom>
          <a:solidFill>
            <a:srgbClr val="131F38"/>
          </a:solidFill>
          <a:ln w="12700">
            <a:solidFill>
              <a:srgbClr val="131F38"/>
            </a:solidFill>
            <a:prstDash val="solid"/>
          </a:ln>
        </p:spPr>
      </p:sp>
      <p:sp>
        <p:nvSpPr>
          <p:cNvPr id="14" name="Shape 11"/>
          <p:cNvSpPr/>
          <p:nvPr/>
        </p:nvSpPr>
        <p:spPr>
          <a:xfrm>
            <a:off x="6400800" y="1225296"/>
            <a:ext cx="5532120" cy="146304"/>
          </a:xfrm>
          <a:prstGeom prst="rect">
            <a:avLst/>
          </a:prstGeom>
          <a:solidFill>
            <a:srgbClr val="131F38"/>
          </a:solidFill>
          <a:ln w="12700">
            <a:solidFill>
              <a:srgbClr val="131F38"/>
            </a:solidFill>
            <a:prstDash val="solid"/>
          </a:ln>
        </p:spPr>
      </p:sp>
      <p:sp>
        <p:nvSpPr>
          <p:cNvPr id="15" name="Shape 12"/>
          <p:cNvSpPr/>
          <p:nvPr/>
        </p:nvSpPr>
        <p:spPr>
          <a:xfrm>
            <a:off x="6528816" y="1115568"/>
            <a:ext cx="164592" cy="164592"/>
          </a:xfrm>
          <a:prstGeom prst="ellipse">
            <a:avLst/>
          </a:prstGeom>
          <a:solidFill>
            <a:srgbClr val="E11D48"/>
          </a:solidFill>
          <a:ln w="12700">
            <a:solidFill>
              <a:srgbClr val="E11D48"/>
            </a:solidFill>
            <a:prstDash val="solid"/>
          </a:ln>
        </p:spPr>
      </p:sp>
      <p:sp>
        <p:nvSpPr>
          <p:cNvPr id="16" name="Shape 13"/>
          <p:cNvSpPr/>
          <p:nvPr/>
        </p:nvSpPr>
        <p:spPr>
          <a:xfrm>
            <a:off x="6729984" y="1115568"/>
            <a:ext cx="164592" cy="164592"/>
          </a:xfrm>
          <a:prstGeom prst="ellipse">
            <a:avLst/>
          </a:prstGeom>
          <a:solidFill>
            <a:srgbClr val="D97706"/>
          </a:solidFill>
          <a:ln w="12700">
            <a:solidFill>
              <a:srgbClr val="D97706"/>
            </a:solidFill>
            <a:prstDash val="solid"/>
          </a:ln>
        </p:spPr>
      </p:sp>
      <p:sp>
        <p:nvSpPr>
          <p:cNvPr id="17" name="Shape 14"/>
          <p:cNvSpPr/>
          <p:nvPr/>
        </p:nvSpPr>
        <p:spPr>
          <a:xfrm>
            <a:off x="6931152" y="1115568"/>
            <a:ext cx="164592" cy="164592"/>
          </a:xfrm>
          <a:prstGeom prst="ellipse">
            <a:avLst/>
          </a:prstGeom>
          <a:solidFill>
            <a:srgbClr val="16A34A"/>
          </a:solidFill>
          <a:ln w="12700">
            <a:solidFill>
              <a:srgbClr val="16A34A"/>
            </a:solidFill>
            <a:prstDash val="solid"/>
          </a:ln>
        </p:spPr>
      </p:sp>
      <p:sp>
        <p:nvSpPr>
          <p:cNvPr id="18" name="Text 15"/>
          <p:cNvSpPr/>
          <p:nvPr/>
        </p:nvSpPr>
        <p:spPr>
          <a:xfrm>
            <a:off x="7132320" y="1097280"/>
            <a:ext cx="4617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line_chart.py</a:t>
            </a:r>
            <a:endParaRPr lang="en-US" sz="900" dirty="0"/>
          </a:p>
        </p:txBody>
      </p:sp>
      <p:sp>
        <p:nvSpPr>
          <p:cNvPr id="19" name="Text 16"/>
          <p:cNvSpPr/>
          <p:nvPr/>
        </p:nvSpPr>
        <p:spPr>
          <a:xfrm>
            <a:off x="6547104" y="1426464"/>
            <a:ext cx="5257800" cy="5495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LINE CHART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monthly = (df.groupby(['month_num','category'])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['revenue'].sum().unstack() / 1e6)</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plt.subplots(figsize=(13,6))</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cat in monthly.columns: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ax.plot(monthly.index, monthly[cat],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marker='o', linewidth=2.5,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label=cat)</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ax.set_xticks(range(1,13))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ax.set_xticklabels(['Jan','Feb','Mar','Apr','May','Jun',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'Jul','Aug','Sep','Oct','Nov','Dec'])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ax.set_title('Monthly Revenue Trend by 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ax.set_ylabel('Revenue (NGN Millions)')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ax.legend(loc='upper left')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ax.yaxis.set_major_formatter(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mticker.FuncFormatter(lambda x,_: f'NGN{x:.0f}M'))</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Annotate peak month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peak_month = monthly.sum(axis=1).idxmax()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peak_val = monthly.sum(axis=1).max()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ax.annotate(f'Peak: NGN{peak_val:.1f}M',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xy=(peak_month, peak_val),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xytext=(peak_month-1, peak_val+0.5),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arrowprops=dict(arrowstyle='-&gt;'))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plt.tight_layout(); plt.show()</a:t>
            </a:r>
            <a:endParaRPr lang="en-US" sz="10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AREA CHART — CUMULATIVE VOLUME AND FILLED TRENDS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852160" cy="4114800"/>
          </a:xfrm>
          <a:prstGeom prst="rect">
            <a:avLst/>
          </a:prstGeom>
        </p:spPr>
      </p:pic>
      <p:sp>
        <p:nvSpPr>
          <p:cNvPr id="5" name="Shape 2"/>
          <p:cNvSpPr/>
          <p:nvPr/>
        </p:nvSpPr>
        <p:spPr>
          <a:xfrm>
            <a:off x="411480" y="5230368"/>
            <a:ext cx="5852160" cy="1389888"/>
          </a:xfrm>
          <a:prstGeom prst="roundRect">
            <a:avLst>
              <a:gd name="adj" fmla="val 6579"/>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230368"/>
            <a:ext cx="585216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5431536"/>
            <a:ext cx="5852160" cy="146304"/>
          </a:xfrm>
          <a:prstGeom prst="rect">
            <a:avLst/>
          </a:prstGeom>
          <a:solidFill>
            <a:srgbClr val="131F38"/>
          </a:solidFill>
          <a:ln w="12700">
            <a:solidFill>
              <a:srgbClr val="131F38"/>
            </a:solidFill>
            <a:prstDash val="solid"/>
          </a:ln>
        </p:spPr>
      </p:sp>
      <p:sp>
        <p:nvSpPr>
          <p:cNvPr id="8" name="Shape 5"/>
          <p:cNvSpPr/>
          <p:nvPr/>
        </p:nvSpPr>
        <p:spPr>
          <a:xfrm>
            <a:off x="539496" y="5321808"/>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321808"/>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321808"/>
            <a:ext cx="164592" cy="164592"/>
          </a:xfrm>
          <a:prstGeom prst="ellipse">
            <a:avLst/>
          </a:prstGeom>
          <a:solidFill>
            <a:srgbClr val="16A34A"/>
          </a:solidFill>
          <a:ln w="12700">
            <a:solidFill>
              <a:srgbClr val="16A34A"/>
            </a:solidFill>
            <a:prstDash val="solid"/>
          </a:ln>
        </p:spPr>
      </p:sp>
      <p:sp>
        <p:nvSpPr>
          <p:cNvPr id="11" name="Text 8"/>
          <p:cNvSpPr/>
          <p:nvPr/>
        </p:nvSpPr>
        <p:spPr>
          <a:xfrm>
            <a:off x="557784" y="5632704"/>
            <a:ext cx="5577840" cy="87782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AREA CHART?</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Same as line but filled below the line.</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Use when: emphasising VOLUME, comparing contributions,</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or showing cumulative growth over time.</a:t>
            </a:r>
            <a:endParaRPr lang="en-US" sz="1050" dirty="0"/>
          </a:p>
        </p:txBody>
      </p:sp>
      <p:sp>
        <p:nvSpPr>
          <p:cNvPr id="12" name="Shape 9"/>
          <p:cNvSpPr/>
          <p:nvPr/>
        </p:nvSpPr>
        <p:spPr>
          <a:xfrm>
            <a:off x="6400800" y="1024128"/>
            <a:ext cx="5532120" cy="2743200"/>
          </a:xfrm>
          <a:prstGeom prst="roundRect">
            <a:avLst>
              <a:gd name="adj" fmla="val 3333"/>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3" name="Shape 10"/>
          <p:cNvSpPr/>
          <p:nvPr/>
        </p:nvSpPr>
        <p:spPr>
          <a:xfrm>
            <a:off x="6400800" y="1024128"/>
            <a:ext cx="5532120" cy="347472"/>
          </a:xfrm>
          <a:prstGeom prst="roundRect">
            <a:avLst>
              <a:gd name="adj" fmla="val 26316"/>
            </a:avLst>
          </a:prstGeom>
          <a:solidFill>
            <a:srgbClr val="131F38"/>
          </a:solidFill>
          <a:ln w="12700">
            <a:solidFill>
              <a:srgbClr val="131F38"/>
            </a:solidFill>
            <a:prstDash val="solid"/>
          </a:ln>
        </p:spPr>
      </p:sp>
      <p:sp>
        <p:nvSpPr>
          <p:cNvPr id="14" name="Shape 11"/>
          <p:cNvSpPr/>
          <p:nvPr/>
        </p:nvSpPr>
        <p:spPr>
          <a:xfrm>
            <a:off x="6400800" y="1225296"/>
            <a:ext cx="5532120" cy="146304"/>
          </a:xfrm>
          <a:prstGeom prst="rect">
            <a:avLst/>
          </a:prstGeom>
          <a:solidFill>
            <a:srgbClr val="131F38"/>
          </a:solidFill>
          <a:ln w="12700">
            <a:solidFill>
              <a:srgbClr val="131F38"/>
            </a:solidFill>
            <a:prstDash val="solid"/>
          </a:ln>
        </p:spPr>
      </p:sp>
      <p:sp>
        <p:nvSpPr>
          <p:cNvPr id="15" name="Shape 12"/>
          <p:cNvSpPr/>
          <p:nvPr/>
        </p:nvSpPr>
        <p:spPr>
          <a:xfrm>
            <a:off x="6528816" y="1115568"/>
            <a:ext cx="164592" cy="164592"/>
          </a:xfrm>
          <a:prstGeom prst="ellipse">
            <a:avLst/>
          </a:prstGeom>
          <a:solidFill>
            <a:srgbClr val="E11D48"/>
          </a:solidFill>
          <a:ln w="12700">
            <a:solidFill>
              <a:srgbClr val="E11D48"/>
            </a:solidFill>
            <a:prstDash val="solid"/>
          </a:ln>
        </p:spPr>
      </p:sp>
      <p:sp>
        <p:nvSpPr>
          <p:cNvPr id="16" name="Shape 13"/>
          <p:cNvSpPr/>
          <p:nvPr/>
        </p:nvSpPr>
        <p:spPr>
          <a:xfrm>
            <a:off x="6729984" y="1115568"/>
            <a:ext cx="164592" cy="164592"/>
          </a:xfrm>
          <a:prstGeom prst="ellipse">
            <a:avLst/>
          </a:prstGeom>
          <a:solidFill>
            <a:srgbClr val="D97706"/>
          </a:solidFill>
          <a:ln w="12700">
            <a:solidFill>
              <a:srgbClr val="D97706"/>
            </a:solidFill>
            <a:prstDash val="solid"/>
          </a:ln>
        </p:spPr>
      </p:sp>
      <p:sp>
        <p:nvSpPr>
          <p:cNvPr id="17" name="Shape 14"/>
          <p:cNvSpPr/>
          <p:nvPr/>
        </p:nvSpPr>
        <p:spPr>
          <a:xfrm>
            <a:off x="6931152" y="1115568"/>
            <a:ext cx="164592" cy="164592"/>
          </a:xfrm>
          <a:prstGeom prst="ellipse">
            <a:avLst/>
          </a:prstGeom>
          <a:solidFill>
            <a:srgbClr val="16A34A"/>
          </a:solidFill>
          <a:ln w="12700">
            <a:solidFill>
              <a:srgbClr val="16A34A"/>
            </a:solidFill>
            <a:prstDash val="solid"/>
          </a:ln>
        </p:spPr>
      </p:sp>
      <p:sp>
        <p:nvSpPr>
          <p:cNvPr id="18" name="Text 15"/>
          <p:cNvSpPr/>
          <p:nvPr/>
        </p:nvSpPr>
        <p:spPr>
          <a:xfrm>
            <a:off x="7132320" y="1097280"/>
            <a:ext cx="4617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area_chart.py</a:t>
            </a:r>
            <a:endParaRPr lang="en-US" sz="900" dirty="0"/>
          </a:p>
        </p:txBody>
      </p:sp>
      <p:sp>
        <p:nvSpPr>
          <p:cNvPr id="19" name="Text 16"/>
          <p:cNvSpPr/>
          <p:nvPr/>
        </p:nvSpPr>
        <p:spPr>
          <a:xfrm>
            <a:off x="6547104" y="1426464"/>
            <a:ext cx="5257800" cy="223113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AREA CHART (Matplotlib)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monthly_total = df.groupby('month_num')['revenue'].sum()/1e6</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plt.subplots(figsize=(13,6))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ax.fill_between(monthly_total.index, monthly_total,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alpha=0.25, color='#2563EB')</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ax.plot(monthly_total.index, monthly_total,</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color='#2563EB', linewidth=2.5, marker='o')</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plt.title('Monthly Revenue — Area Chart'); plt.show()</a:t>
            </a:r>
            <a:endParaRPr lang="en-US" sz="1050" dirty="0"/>
          </a:p>
        </p:txBody>
      </p:sp>
      <p:sp>
        <p:nvSpPr>
          <p:cNvPr id="20" name="Shape 17"/>
          <p:cNvSpPr/>
          <p:nvPr/>
        </p:nvSpPr>
        <p:spPr>
          <a:xfrm>
            <a:off x="6400800" y="3858768"/>
            <a:ext cx="5532120" cy="2779776"/>
          </a:xfrm>
          <a:prstGeom prst="roundRect">
            <a:avLst>
              <a:gd name="adj" fmla="val 3289"/>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21" name="Shape 18"/>
          <p:cNvSpPr/>
          <p:nvPr/>
        </p:nvSpPr>
        <p:spPr>
          <a:xfrm>
            <a:off x="6400800" y="3858768"/>
            <a:ext cx="5532120" cy="347472"/>
          </a:xfrm>
          <a:prstGeom prst="roundRect">
            <a:avLst>
              <a:gd name="adj" fmla="val 26316"/>
            </a:avLst>
          </a:prstGeom>
          <a:solidFill>
            <a:srgbClr val="131F38"/>
          </a:solidFill>
          <a:ln w="12700">
            <a:solidFill>
              <a:srgbClr val="131F38"/>
            </a:solidFill>
            <a:prstDash val="solid"/>
          </a:ln>
        </p:spPr>
      </p:sp>
      <p:sp>
        <p:nvSpPr>
          <p:cNvPr id="22" name="Shape 19"/>
          <p:cNvSpPr/>
          <p:nvPr/>
        </p:nvSpPr>
        <p:spPr>
          <a:xfrm>
            <a:off x="6400800" y="4059936"/>
            <a:ext cx="5532120" cy="146304"/>
          </a:xfrm>
          <a:prstGeom prst="rect">
            <a:avLst/>
          </a:prstGeom>
          <a:solidFill>
            <a:srgbClr val="131F38"/>
          </a:solidFill>
          <a:ln w="12700">
            <a:solidFill>
              <a:srgbClr val="131F38"/>
            </a:solidFill>
            <a:prstDash val="solid"/>
          </a:ln>
        </p:spPr>
      </p:sp>
      <p:sp>
        <p:nvSpPr>
          <p:cNvPr id="23" name="Shape 20"/>
          <p:cNvSpPr/>
          <p:nvPr/>
        </p:nvSpPr>
        <p:spPr>
          <a:xfrm>
            <a:off x="6528816" y="3950208"/>
            <a:ext cx="164592" cy="164592"/>
          </a:xfrm>
          <a:prstGeom prst="ellipse">
            <a:avLst/>
          </a:prstGeom>
          <a:solidFill>
            <a:srgbClr val="E11D48"/>
          </a:solidFill>
          <a:ln w="12700">
            <a:solidFill>
              <a:srgbClr val="E11D48"/>
            </a:solidFill>
            <a:prstDash val="solid"/>
          </a:ln>
        </p:spPr>
      </p:sp>
      <p:sp>
        <p:nvSpPr>
          <p:cNvPr id="24" name="Shape 21"/>
          <p:cNvSpPr/>
          <p:nvPr/>
        </p:nvSpPr>
        <p:spPr>
          <a:xfrm>
            <a:off x="6729984" y="3950208"/>
            <a:ext cx="164592" cy="164592"/>
          </a:xfrm>
          <a:prstGeom prst="ellipse">
            <a:avLst/>
          </a:prstGeom>
          <a:solidFill>
            <a:srgbClr val="D97706"/>
          </a:solidFill>
          <a:ln w="12700">
            <a:solidFill>
              <a:srgbClr val="D97706"/>
            </a:solidFill>
            <a:prstDash val="solid"/>
          </a:ln>
        </p:spPr>
      </p:sp>
      <p:sp>
        <p:nvSpPr>
          <p:cNvPr id="25" name="Shape 22"/>
          <p:cNvSpPr/>
          <p:nvPr/>
        </p:nvSpPr>
        <p:spPr>
          <a:xfrm>
            <a:off x="6931152" y="3950208"/>
            <a:ext cx="164592" cy="164592"/>
          </a:xfrm>
          <a:prstGeom prst="ellipse">
            <a:avLst/>
          </a:prstGeom>
          <a:solidFill>
            <a:srgbClr val="16A34A"/>
          </a:solidFill>
          <a:ln w="12700">
            <a:solidFill>
              <a:srgbClr val="16A34A"/>
            </a:solidFill>
            <a:prstDash val="solid"/>
          </a:ln>
        </p:spPr>
      </p:sp>
      <p:sp>
        <p:nvSpPr>
          <p:cNvPr id="26" name="Text 23"/>
          <p:cNvSpPr/>
          <p:nvPr/>
        </p:nvSpPr>
        <p:spPr>
          <a:xfrm>
            <a:off x="7132320" y="3931920"/>
            <a:ext cx="4617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area_plotly.py</a:t>
            </a:r>
            <a:endParaRPr lang="en-US" sz="900" dirty="0"/>
          </a:p>
        </p:txBody>
      </p:sp>
      <p:sp>
        <p:nvSpPr>
          <p:cNvPr id="27" name="Text 24"/>
          <p:cNvSpPr/>
          <p:nvPr/>
        </p:nvSpPr>
        <p:spPr>
          <a:xfrm>
            <a:off x="6547104" y="4261104"/>
            <a:ext cx="5257800" cy="2267712"/>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STACKED AREA (Plotly)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monthly_cat = (df.groupby(['month_num','category'])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['revenue'].sum().reset_index())</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 px.area(monthly_cat, x='month_num',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y='revenue', color='category',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title='Monthly Revenue by 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fig.update_layout(hovermode='x unified')</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fig.show()   # interactive in Colab!</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E11D48"/>
          </a:solidFill>
          <a:ln w="12700">
            <a:solidFill>
              <a:srgbClr val="E11D48"/>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10</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Pie Charts and Donut Charts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Parts of a whole — used sparingly and correctly.</a:t>
            </a:r>
            <a:endParaRPr lang="en-US" sz="15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PIE CHART AND DONUT CHART — PARTS OF A WHOLE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3840480" cy="5029200"/>
          </a:xfrm>
          <a:prstGeom prst="rect">
            <a:avLst/>
          </a:prstGeom>
        </p:spPr>
      </p:pic>
      <p:pic>
        <p:nvPicPr>
          <p:cNvPr id="5" name="Image 1" descr="preencoded.png">    </p:cNvPr>
          <p:cNvPicPr>
            <a:picLocks noChangeAspect="1"/>
          </p:cNvPicPr>
          <p:nvPr/>
        </p:nvPicPr>
        <p:blipFill>
          <a:blip r:embed="rId2"/>
          <a:srcRect l="0" r="0" t="0" b="0"/>
          <a:stretch/>
        </p:blipFill>
        <p:spPr>
          <a:xfrm>
            <a:off x="4434840" y="1024128"/>
            <a:ext cx="3840480" cy="5029200"/>
          </a:xfrm>
          <a:prstGeom prst="rect">
            <a:avLst/>
          </a:prstGeom>
        </p:spPr>
      </p:pic>
      <p:sp>
        <p:nvSpPr>
          <p:cNvPr id="6" name="Shape 2"/>
          <p:cNvSpPr/>
          <p:nvPr/>
        </p:nvSpPr>
        <p:spPr>
          <a:xfrm>
            <a:off x="8366760" y="1024128"/>
            <a:ext cx="3657600" cy="2834640"/>
          </a:xfrm>
          <a:prstGeom prst="roundRect">
            <a:avLst>
              <a:gd name="adj" fmla="val 3226"/>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7" name="Shape 3"/>
          <p:cNvSpPr/>
          <p:nvPr/>
        </p:nvSpPr>
        <p:spPr>
          <a:xfrm>
            <a:off x="8366760" y="1024128"/>
            <a:ext cx="3657600" cy="347472"/>
          </a:xfrm>
          <a:prstGeom prst="roundRect">
            <a:avLst>
              <a:gd name="adj" fmla="val 26316"/>
            </a:avLst>
          </a:prstGeom>
          <a:solidFill>
            <a:srgbClr val="131F38"/>
          </a:solidFill>
          <a:ln w="12700">
            <a:solidFill>
              <a:srgbClr val="131F38"/>
            </a:solidFill>
            <a:prstDash val="solid"/>
          </a:ln>
        </p:spPr>
      </p:sp>
      <p:sp>
        <p:nvSpPr>
          <p:cNvPr id="8" name="Shape 4"/>
          <p:cNvSpPr/>
          <p:nvPr/>
        </p:nvSpPr>
        <p:spPr>
          <a:xfrm>
            <a:off x="8366760" y="1225296"/>
            <a:ext cx="3657600" cy="146304"/>
          </a:xfrm>
          <a:prstGeom prst="rect">
            <a:avLst/>
          </a:prstGeom>
          <a:solidFill>
            <a:srgbClr val="131F38"/>
          </a:solidFill>
          <a:ln w="12700">
            <a:solidFill>
              <a:srgbClr val="131F38"/>
            </a:solidFill>
            <a:prstDash val="solid"/>
          </a:ln>
        </p:spPr>
      </p:sp>
      <p:sp>
        <p:nvSpPr>
          <p:cNvPr id="9" name="Shape 5"/>
          <p:cNvSpPr/>
          <p:nvPr/>
        </p:nvSpPr>
        <p:spPr>
          <a:xfrm>
            <a:off x="8494776" y="1115568"/>
            <a:ext cx="164592" cy="164592"/>
          </a:xfrm>
          <a:prstGeom prst="ellipse">
            <a:avLst/>
          </a:prstGeom>
          <a:solidFill>
            <a:srgbClr val="E11D48"/>
          </a:solidFill>
          <a:ln w="12700">
            <a:solidFill>
              <a:srgbClr val="E11D48"/>
            </a:solidFill>
            <a:prstDash val="solid"/>
          </a:ln>
        </p:spPr>
      </p:sp>
      <p:sp>
        <p:nvSpPr>
          <p:cNvPr id="10" name="Shape 6"/>
          <p:cNvSpPr/>
          <p:nvPr/>
        </p:nvSpPr>
        <p:spPr>
          <a:xfrm>
            <a:off x="8695944" y="1115568"/>
            <a:ext cx="164592" cy="164592"/>
          </a:xfrm>
          <a:prstGeom prst="ellipse">
            <a:avLst/>
          </a:prstGeom>
          <a:solidFill>
            <a:srgbClr val="D97706"/>
          </a:solidFill>
          <a:ln w="12700">
            <a:solidFill>
              <a:srgbClr val="D97706"/>
            </a:solidFill>
            <a:prstDash val="solid"/>
          </a:ln>
        </p:spPr>
      </p:sp>
      <p:sp>
        <p:nvSpPr>
          <p:cNvPr id="11" name="Shape 7"/>
          <p:cNvSpPr/>
          <p:nvPr/>
        </p:nvSpPr>
        <p:spPr>
          <a:xfrm>
            <a:off x="8897112" y="1115568"/>
            <a:ext cx="164592" cy="164592"/>
          </a:xfrm>
          <a:prstGeom prst="ellipse">
            <a:avLst/>
          </a:prstGeom>
          <a:solidFill>
            <a:srgbClr val="16A34A"/>
          </a:solidFill>
          <a:ln w="12700">
            <a:solidFill>
              <a:srgbClr val="16A34A"/>
            </a:solidFill>
            <a:prstDash val="solid"/>
          </a:ln>
        </p:spPr>
      </p:sp>
      <p:sp>
        <p:nvSpPr>
          <p:cNvPr id="12" name="Text 8"/>
          <p:cNvSpPr/>
          <p:nvPr/>
        </p:nvSpPr>
        <p:spPr>
          <a:xfrm>
            <a:off x="9098280" y="1097280"/>
            <a:ext cx="2743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pie_chart.py</a:t>
            </a:r>
            <a:endParaRPr lang="en-US" sz="900" dirty="0"/>
          </a:p>
        </p:txBody>
      </p:sp>
      <p:sp>
        <p:nvSpPr>
          <p:cNvPr id="13" name="Text 9"/>
          <p:cNvSpPr/>
          <p:nvPr/>
        </p:nvSpPr>
        <p:spPr>
          <a:xfrm>
            <a:off x="8513064" y="1426464"/>
            <a:ext cx="3383280" cy="232257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PIE — only max 5-6 slices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cat_rev = df.groupby('category')['revenue'].sum()</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plt.subplots(figsize=(8,8))</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wedges, texts, autos = ax.pie(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cat_rev, labels=cat_rev.index,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autopct='%1.1f%%',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colors=PALETTE, startangle=90,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pctdistance=0.85)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ax.set_title('Revenue Share by Category')</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plt.show()</a:t>
            </a:r>
            <a:endParaRPr lang="en-US" sz="1050" dirty="0"/>
          </a:p>
        </p:txBody>
      </p:sp>
      <p:sp>
        <p:nvSpPr>
          <p:cNvPr id="14" name="Shape 10"/>
          <p:cNvSpPr/>
          <p:nvPr/>
        </p:nvSpPr>
        <p:spPr>
          <a:xfrm>
            <a:off x="8366760" y="3950208"/>
            <a:ext cx="3657600" cy="2706624"/>
          </a:xfrm>
          <a:prstGeom prst="roundRect">
            <a:avLst>
              <a:gd name="adj" fmla="val 3378"/>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5" name="Shape 11"/>
          <p:cNvSpPr/>
          <p:nvPr/>
        </p:nvSpPr>
        <p:spPr>
          <a:xfrm>
            <a:off x="8366760" y="3950208"/>
            <a:ext cx="3657600" cy="347472"/>
          </a:xfrm>
          <a:prstGeom prst="roundRect">
            <a:avLst>
              <a:gd name="adj" fmla="val 26316"/>
            </a:avLst>
          </a:prstGeom>
          <a:solidFill>
            <a:srgbClr val="131F38"/>
          </a:solidFill>
          <a:ln w="12700">
            <a:solidFill>
              <a:srgbClr val="131F38"/>
            </a:solidFill>
            <a:prstDash val="solid"/>
          </a:ln>
        </p:spPr>
      </p:sp>
      <p:sp>
        <p:nvSpPr>
          <p:cNvPr id="16" name="Shape 12"/>
          <p:cNvSpPr/>
          <p:nvPr/>
        </p:nvSpPr>
        <p:spPr>
          <a:xfrm>
            <a:off x="8366760" y="4151376"/>
            <a:ext cx="3657600" cy="146304"/>
          </a:xfrm>
          <a:prstGeom prst="rect">
            <a:avLst/>
          </a:prstGeom>
          <a:solidFill>
            <a:srgbClr val="131F38"/>
          </a:solidFill>
          <a:ln w="12700">
            <a:solidFill>
              <a:srgbClr val="131F38"/>
            </a:solidFill>
            <a:prstDash val="solid"/>
          </a:ln>
        </p:spPr>
      </p:sp>
      <p:sp>
        <p:nvSpPr>
          <p:cNvPr id="17" name="Shape 13"/>
          <p:cNvSpPr/>
          <p:nvPr/>
        </p:nvSpPr>
        <p:spPr>
          <a:xfrm>
            <a:off x="8494776" y="4041648"/>
            <a:ext cx="164592" cy="164592"/>
          </a:xfrm>
          <a:prstGeom prst="ellipse">
            <a:avLst/>
          </a:prstGeom>
          <a:solidFill>
            <a:srgbClr val="E11D48"/>
          </a:solidFill>
          <a:ln w="12700">
            <a:solidFill>
              <a:srgbClr val="E11D48"/>
            </a:solidFill>
            <a:prstDash val="solid"/>
          </a:ln>
        </p:spPr>
      </p:sp>
      <p:sp>
        <p:nvSpPr>
          <p:cNvPr id="18" name="Shape 14"/>
          <p:cNvSpPr/>
          <p:nvPr/>
        </p:nvSpPr>
        <p:spPr>
          <a:xfrm>
            <a:off x="8695944" y="4041648"/>
            <a:ext cx="164592" cy="164592"/>
          </a:xfrm>
          <a:prstGeom prst="ellipse">
            <a:avLst/>
          </a:prstGeom>
          <a:solidFill>
            <a:srgbClr val="D97706"/>
          </a:solidFill>
          <a:ln w="12700">
            <a:solidFill>
              <a:srgbClr val="D97706"/>
            </a:solidFill>
            <a:prstDash val="solid"/>
          </a:ln>
        </p:spPr>
      </p:sp>
      <p:sp>
        <p:nvSpPr>
          <p:cNvPr id="19" name="Shape 15"/>
          <p:cNvSpPr/>
          <p:nvPr/>
        </p:nvSpPr>
        <p:spPr>
          <a:xfrm>
            <a:off x="8897112" y="4041648"/>
            <a:ext cx="164592" cy="164592"/>
          </a:xfrm>
          <a:prstGeom prst="ellipse">
            <a:avLst/>
          </a:prstGeom>
          <a:solidFill>
            <a:srgbClr val="16A34A"/>
          </a:solidFill>
          <a:ln w="12700">
            <a:solidFill>
              <a:srgbClr val="16A34A"/>
            </a:solidFill>
            <a:prstDash val="solid"/>
          </a:ln>
        </p:spPr>
      </p:sp>
      <p:sp>
        <p:nvSpPr>
          <p:cNvPr id="20" name="Text 16"/>
          <p:cNvSpPr/>
          <p:nvPr/>
        </p:nvSpPr>
        <p:spPr>
          <a:xfrm>
            <a:off x="9098280" y="4023360"/>
            <a:ext cx="274320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donut_chart.py</a:t>
            </a:r>
            <a:endParaRPr lang="en-US" sz="900" dirty="0"/>
          </a:p>
        </p:txBody>
      </p:sp>
      <p:sp>
        <p:nvSpPr>
          <p:cNvPr id="21" name="Text 17"/>
          <p:cNvSpPr/>
          <p:nvPr/>
        </p:nvSpPr>
        <p:spPr>
          <a:xfrm>
            <a:off x="8513064" y="4352544"/>
            <a:ext cx="3383280" cy="2194560"/>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DONUT — add a hole in the centre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chan_rev = df.groupby('channel')['revenue'].sum()</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wedges,_,_ = ax.pie(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chan_rev, labels=None,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autopct='%1.0f%%',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wedgeprops={'width':0.55})  # makes donut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ax.text(0,0,'Channel\nMix',ha='center',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va='center', fontsize=12)</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plt.show()</a:t>
            </a:r>
            <a:endParaRPr lang="en-US" sz="1050" dirty="0"/>
          </a:p>
        </p:txBody>
      </p:sp>
      <p:sp>
        <p:nvSpPr>
          <p:cNvPr id="22" name="Shape 18"/>
          <p:cNvSpPr/>
          <p:nvPr/>
        </p:nvSpPr>
        <p:spPr>
          <a:xfrm>
            <a:off x="411480" y="6144768"/>
            <a:ext cx="7772400" cy="749808"/>
          </a:xfrm>
          <a:prstGeom prst="roundRect">
            <a:avLst>
              <a:gd name="adj" fmla="val 12195"/>
            </a:avLst>
          </a:prstGeom>
          <a:solidFill>
            <a:srgbClr val="FFFFFF"/>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23" name="Text 19"/>
          <p:cNvSpPr/>
          <p:nvPr/>
        </p:nvSpPr>
        <p:spPr>
          <a:xfrm>
            <a:off x="557784" y="6254496"/>
            <a:ext cx="747979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WHY PIE/DONUT? — AND WHEN NOT TO USE THEM</a:t>
            </a:r>
            <a:endParaRPr lang="en-US" sz="1100" dirty="0"/>
          </a:p>
        </p:txBody>
      </p:sp>
      <p:sp>
        <p:nvSpPr>
          <p:cNvPr id="24" name="Text 20"/>
          <p:cNvSpPr/>
          <p:nvPr/>
        </p:nvSpPr>
        <p:spPr>
          <a:xfrm>
            <a:off x="557784" y="6565392"/>
            <a:ext cx="7479792" cy="18288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USE: 5 or fewer slices, clear dominant segment, part-to-whole story (market share, budget allocation, channel mix). AVOID: many slices, comparing similar sizes, time series. Rule: if you need to label every slice, use a bar chart instead.</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16A34A"/>
          </a:solidFill>
          <a:ln w="12700">
            <a:solidFill>
              <a:srgbClr val="16A34A"/>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11</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Scatter, Histogram, and Box Plot</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Reveal relationships, distributions, and spread.</a:t>
            </a:r>
            <a:endParaRPr lang="en-US" sz="15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SCATTER PLOT — RELATIONSHIPS BETWEEN TWO NUMERIC VARIABLES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852160" cy="4572000"/>
          </a:xfrm>
          <a:prstGeom prst="rect">
            <a:avLst/>
          </a:prstGeom>
        </p:spPr>
      </p:pic>
      <p:sp>
        <p:nvSpPr>
          <p:cNvPr id="5" name="Shape 2"/>
          <p:cNvSpPr/>
          <p:nvPr/>
        </p:nvSpPr>
        <p:spPr>
          <a:xfrm>
            <a:off x="411480" y="5687568"/>
            <a:ext cx="5852160" cy="1389888"/>
          </a:xfrm>
          <a:prstGeom prst="roundRect">
            <a:avLst>
              <a:gd name="adj" fmla="val 6579"/>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687568"/>
            <a:ext cx="585216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5888736"/>
            <a:ext cx="5852160" cy="146304"/>
          </a:xfrm>
          <a:prstGeom prst="rect">
            <a:avLst/>
          </a:prstGeom>
          <a:solidFill>
            <a:srgbClr val="131F38"/>
          </a:solidFill>
          <a:ln w="12700">
            <a:solidFill>
              <a:srgbClr val="131F38"/>
            </a:solidFill>
            <a:prstDash val="solid"/>
          </a:ln>
        </p:spPr>
      </p:sp>
      <p:sp>
        <p:nvSpPr>
          <p:cNvPr id="8" name="Shape 5"/>
          <p:cNvSpPr/>
          <p:nvPr/>
        </p:nvSpPr>
        <p:spPr>
          <a:xfrm>
            <a:off x="539496" y="5779008"/>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779008"/>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779008"/>
            <a:ext cx="164592" cy="164592"/>
          </a:xfrm>
          <a:prstGeom prst="ellipse">
            <a:avLst/>
          </a:prstGeom>
          <a:solidFill>
            <a:srgbClr val="16A34A"/>
          </a:solidFill>
          <a:ln w="12700">
            <a:solidFill>
              <a:srgbClr val="16A34A"/>
            </a:solidFill>
            <a:prstDash val="solid"/>
          </a:ln>
        </p:spPr>
      </p:sp>
      <p:sp>
        <p:nvSpPr>
          <p:cNvPr id="11" name="Text 8"/>
          <p:cNvSpPr/>
          <p:nvPr/>
        </p:nvSpPr>
        <p:spPr>
          <a:xfrm>
            <a:off x="557784" y="6089904"/>
            <a:ext cx="5577840" cy="87782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reveals correlation, clusters, outliers.</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units vs revenue, price vs margin, experience vs rating.</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NOT for: categorical X axis or time series.</a:t>
            </a:r>
            <a:endParaRPr lang="en-US" sz="1050" dirty="0"/>
          </a:p>
        </p:txBody>
      </p:sp>
      <p:sp>
        <p:nvSpPr>
          <p:cNvPr id="12" name="Shape 9"/>
          <p:cNvSpPr/>
          <p:nvPr/>
        </p:nvSpPr>
        <p:spPr>
          <a:xfrm>
            <a:off x="6400800" y="1024128"/>
            <a:ext cx="5532120" cy="6007608"/>
          </a:xfrm>
          <a:prstGeom prst="roundRect">
            <a:avLst>
              <a:gd name="adj" fmla="val 1653"/>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3" name="Shape 10"/>
          <p:cNvSpPr/>
          <p:nvPr/>
        </p:nvSpPr>
        <p:spPr>
          <a:xfrm>
            <a:off x="6400800" y="1024128"/>
            <a:ext cx="5532120" cy="347472"/>
          </a:xfrm>
          <a:prstGeom prst="roundRect">
            <a:avLst>
              <a:gd name="adj" fmla="val 26316"/>
            </a:avLst>
          </a:prstGeom>
          <a:solidFill>
            <a:srgbClr val="131F38"/>
          </a:solidFill>
          <a:ln w="12700">
            <a:solidFill>
              <a:srgbClr val="131F38"/>
            </a:solidFill>
            <a:prstDash val="solid"/>
          </a:ln>
        </p:spPr>
      </p:sp>
      <p:sp>
        <p:nvSpPr>
          <p:cNvPr id="14" name="Shape 11"/>
          <p:cNvSpPr/>
          <p:nvPr/>
        </p:nvSpPr>
        <p:spPr>
          <a:xfrm>
            <a:off x="6400800" y="1225296"/>
            <a:ext cx="5532120" cy="146304"/>
          </a:xfrm>
          <a:prstGeom prst="rect">
            <a:avLst/>
          </a:prstGeom>
          <a:solidFill>
            <a:srgbClr val="131F38"/>
          </a:solidFill>
          <a:ln w="12700">
            <a:solidFill>
              <a:srgbClr val="131F38"/>
            </a:solidFill>
            <a:prstDash val="solid"/>
          </a:ln>
        </p:spPr>
      </p:sp>
      <p:sp>
        <p:nvSpPr>
          <p:cNvPr id="15" name="Shape 12"/>
          <p:cNvSpPr/>
          <p:nvPr/>
        </p:nvSpPr>
        <p:spPr>
          <a:xfrm>
            <a:off x="6528816" y="1115568"/>
            <a:ext cx="164592" cy="164592"/>
          </a:xfrm>
          <a:prstGeom prst="ellipse">
            <a:avLst/>
          </a:prstGeom>
          <a:solidFill>
            <a:srgbClr val="E11D48"/>
          </a:solidFill>
          <a:ln w="12700">
            <a:solidFill>
              <a:srgbClr val="E11D48"/>
            </a:solidFill>
            <a:prstDash val="solid"/>
          </a:ln>
        </p:spPr>
      </p:sp>
      <p:sp>
        <p:nvSpPr>
          <p:cNvPr id="16" name="Shape 13"/>
          <p:cNvSpPr/>
          <p:nvPr/>
        </p:nvSpPr>
        <p:spPr>
          <a:xfrm>
            <a:off x="6729984" y="1115568"/>
            <a:ext cx="164592" cy="164592"/>
          </a:xfrm>
          <a:prstGeom prst="ellipse">
            <a:avLst/>
          </a:prstGeom>
          <a:solidFill>
            <a:srgbClr val="D97706"/>
          </a:solidFill>
          <a:ln w="12700">
            <a:solidFill>
              <a:srgbClr val="D97706"/>
            </a:solidFill>
            <a:prstDash val="solid"/>
          </a:ln>
        </p:spPr>
      </p:sp>
      <p:sp>
        <p:nvSpPr>
          <p:cNvPr id="17" name="Shape 14"/>
          <p:cNvSpPr/>
          <p:nvPr/>
        </p:nvSpPr>
        <p:spPr>
          <a:xfrm>
            <a:off x="6931152" y="1115568"/>
            <a:ext cx="164592" cy="164592"/>
          </a:xfrm>
          <a:prstGeom prst="ellipse">
            <a:avLst/>
          </a:prstGeom>
          <a:solidFill>
            <a:srgbClr val="16A34A"/>
          </a:solidFill>
          <a:ln w="12700">
            <a:solidFill>
              <a:srgbClr val="16A34A"/>
            </a:solidFill>
            <a:prstDash val="solid"/>
          </a:ln>
        </p:spPr>
      </p:sp>
      <p:sp>
        <p:nvSpPr>
          <p:cNvPr id="18" name="Text 15"/>
          <p:cNvSpPr/>
          <p:nvPr/>
        </p:nvSpPr>
        <p:spPr>
          <a:xfrm>
            <a:off x="7132320" y="1097280"/>
            <a:ext cx="4617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scatter_chart.py</a:t>
            </a:r>
            <a:endParaRPr lang="en-US" sz="900" dirty="0"/>
          </a:p>
        </p:txBody>
      </p:sp>
      <p:sp>
        <p:nvSpPr>
          <p:cNvPr id="19" name="Text 16"/>
          <p:cNvSpPr/>
          <p:nvPr/>
        </p:nvSpPr>
        <p:spPr>
          <a:xfrm>
            <a:off x="6547104" y="1426464"/>
            <a:ext cx="5257800" cy="5495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SCATTER PLOT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plt.subplots(figsize=(11,7))</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cat, grp in df.groupby('category'):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ax.scatter(grp['units'], grp['revenue']/1e3,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label=cat, alpha=0.5, s=40)</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Add trend line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z = np.polyfit(df['units'], df['revenue']/1e3, 1)</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 = np.poly1d(z)</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ax.plot(sorted(df['units']),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p(sorted(df['units'])),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 linewidth=2, label='Trend')</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ax.set_xlabel('Units Sold')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ax.set_ylabel('Revenue (NGN Thousands)')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ax.set_title('Units Sold vs Revenue by 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ax.legend()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Print correlation coefficient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 = df['units'].corr(df['revenue'])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ax.text(0.05,0.95,f'r = {r:.3f}',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transform=ax.transAxes,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bbox=dict(boxstyle='round',facecolor='yellow',alpha=0.3))</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Plotly interactive version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fig2 = px.scatter(df, x='units', y='revenue',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color='category', hover_name='product',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trendline='ols')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fig2.show()  # hover over any dot!</a:t>
            </a:r>
            <a:endParaRPr lang="en-US" sz="10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HISTOGRAM — DISTRIBUTION OF A SINGLE NUMERIC VARIABLE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852160" cy="4206240"/>
          </a:xfrm>
          <a:prstGeom prst="rect">
            <a:avLst/>
          </a:prstGeom>
        </p:spPr>
      </p:pic>
      <p:sp>
        <p:nvSpPr>
          <p:cNvPr id="5" name="Shape 2"/>
          <p:cNvSpPr/>
          <p:nvPr/>
        </p:nvSpPr>
        <p:spPr>
          <a:xfrm>
            <a:off x="411480" y="5321808"/>
            <a:ext cx="5852160" cy="1298448"/>
          </a:xfrm>
          <a:prstGeom prst="roundRect">
            <a:avLst>
              <a:gd name="adj" fmla="val 7042"/>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321808"/>
            <a:ext cx="585216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5522976"/>
            <a:ext cx="5852160" cy="146304"/>
          </a:xfrm>
          <a:prstGeom prst="rect">
            <a:avLst/>
          </a:prstGeom>
          <a:solidFill>
            <a:srgbClr val="131F38"/>
          </a:solidFill>
          <a:ln w="12700">
            <a:solidFill>
              <a:srgbClr val="131F38"/>
            </a:solidFill>
            <a:prstDash val="solid"/>
          </a:ln>
        </p:spPr>
      </p:sp>
      <p:sp>
        <p:nvSpPr>
          <p:cNvPr id="8" name="Shape 5"/>
          <p:cNvSpPr/>
          <p:nvPr/>
        </p:nvSpPr>
        <p:spPr>
          <a:xfrm>
            <a:off x="539496" y="5413248"/>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413248"/>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413248"/>
            <a:ext cx="164592" cy="164592"/>
          </a:xfrm>
          <a:prstGeom prst="ellipse">
            <a:avLst/>
          </a:prstGeom>
          <a:solidFill>
            <a:srgbClr val="16A34A"/>
          </a:solidFill>
          <a:ln w="12700">
            <a:solidFill>
              <a:srgbClr val="16A34A"/>
            </a:solidFill>
            <a:prstDash val="solid"/>
          </a:ln>
        </p:spPr>
      </p:sp>
      <p:sp>
        <p:nvSpPr>
          <p:cNvPr id="11" name="Text 8"/>
          <p:cNvSpPr/>
          <p:nvPr/>
        </p:nvSpPr>
        <p:spPr>
          <a:xfrm>
            <a:off x="557784" y="5724144"/>
            <a:ext cx="5577840" cy="78638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see the SHAPE of data — normal, skewed, bimodal?</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margin %, price, age, salary distributions.</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NOT for: categorical data or time series.</a:t>
            </a:r>
            <a:endParaRPr lang="en-US" sz="1050" dirty="0"/>
          </a:p>
        </p:txBody>
      </p:sp>
      <p:sp>
        <p:nvSpPr>
          <p:cNvPr id="12" name="Shape 9"/>
          <p:cNvSpPr/>
          <p:nvPr/>
        </p:nvSpPr>
        <p:spPr>
          <a:xfrm>
            <a:off x="6400800" y="1024128"/>
            <a:ext cx="5532120" cy="6007608"/>
          </a:xfrm>
          <a:prstGeom prst="roundRect">
            <a:avLst>
              <a:gd name="adj" fmla="val 1653"/>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3" name="Shape 10"/>
          <p:cNvSpPr/>
          <p:nvPr/>
        </p:nvSpPr>
        <p:spPr>
          <a:xfrm>
            <a:off x="6400800" y="1024128"/>
            <a:ext cx="5532120" cy="347472"/>
          </a:xfrm>
          <a:prstGeom prst="roundRect">
            <a:avLst>
              <a:gd name="adj" fmla="val 26316"/>
            </a:avLst>
          </a:prstGeom>
          <a:solidFill>
            <a:srgbClr val="131F38"/>
          </a:solidFill>
          <a:ln w="12700">
            <a:solidFill>
              <a:srgbClr val="131F38"/>
            </a:solidFill>
            <a:prstDash val="solid"/>
          </a:ln>
        </p:spPr>
      </p:sp>
      <p:sp>
        <p:nvSpPr>
          <p:cNvPr id="14" name="Shape 11"/>
          <p:cNvSpPr/>
          <p:nvPr/>
        </p:nvSpPr>
        <p:spPr>
          <a:xfrm>
            <a:off x="6400800" y="1225296"/>
            <a:ext cx="5532120" cy="146304"/>
          </a:xfrm>
          <a:prstGeom prst="rect">
            <a:avLst/>
          </a:prstGeom>
          <a:solidFill>
            <a:srgbClr val="131F38"/>
          </a:solidFill>
          <a:ln w="12700">
            <a:solidFill>
              <a:srgbClr val="131F38"/>
            </a:solidFill>
            <a:prstDash val="solid"/>
          </a:ln>
        </p:spPr>
      </p:sp>
      <p:sp>
        <p:nvSpPr>
          <p:cNvPr id="15" name="Shape 12"/>
          <p:cNvSpPr/>
          <p:nvPr/>
        </p:nvSpPr>
        <p:spPr>
          <a:xfrm>
            <a:off x="6528816" y="1115568"/>
            <a:ext cx="164592" cy="164592"/>
          </a:xfrm>
          <a:prstGeom prst="ellipse">
            <a:avLst/>
          </a:prstGeom>
          <a:solidFill>
            <a:srgbClr val="E11D48"/>
          </a:solidFill>
          <a:ln w="12700">
            <a:solidFill>
              <a:srgbClr val="E11D48"/>
            </a:solidFill>
            <a:prstDash val="solid"/>
          </a:ln>
        </p:spPr>
      </p:sp>
      <p:sp>
        <p:nvSpPr>
          <p:cNvPr id="16" name="Shape 13"/>
          <p:cNvSpPr/>
          <p:nvPr/>
        </p:nvSpPr>
        <p:spPr>
          <a:xfrm>
            <a:off x="6729984" y="1115568"/>
            <a:ext cx="164592" cy="164592"/>
          </a:xfrm>
          <a:prstGeom prst="ellipse">
            <a:avLst/>
          </a:prstGeom>
          <a:solidFill>
            <a:srgbClr val="D97706"/>
          </a:solidFill>
          <a:ln w="12700">
            <a:solidFill>
              <a:srgbClr val="D97706"/>
            </a:solidFill>
            <a:prstDash val="solid"/>
          </a:ln>
        </p:spPr>
      </p:sp>
      <p:sp>
        <p:nvSpPr>
          <p:cNvPr id="17" name="Shape 14"/>
          <p:cNvSpPr/>
          <p:nvPr/>
        </p:nvSpPr>
        <p:spPr>
          <a:xfrm>
            <a:off x="6931152" y="1115568"/>
            <a:ext cx="164592" cy="164592"/>
          </a:xfrm>
          <a:prstGeom prst="ellipse">
            <a:avLst/>
          </a:prstGeom>
          <a:solidFill>
            <a:srgbClr val="16A34A"/>
          </a:solidFill>
          <a:ln w="12700">
            <a:solidFill>
              <a:srgbClr val="16A34A"/>
            </a:solidFill>
            <a:prstDash val="solid"/>
          </a:ln>
        </p:spPr>
      </p:sp>
      <p:sp>
        <p:nvSpPr>
          <p:cNvPr id="18" name="Text 15"/>
          <p:cNvSpPr/>
          <p:nvPr/>
        </p:nvSpPr>
        <p:spPr>
          <a:xfrm>
            <a:off x="7132320" y="1097280"/>
            <a:ext cx="4617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histogram.py</a:t>
            </a:r>
            <a:endParaRPr lang="en-US" sz="900" dirty="0"/>
          </a:p>
        </p:txBody>
      </p:sp>
      <p:sp>
        <p:nvSpPr>
          <p:cNvPr id="19" name="Text 16"/>
          <p:cNvSpPr/>
          <p:nvPr/>
        </p:nvSpPr>
        <p:spPr>
          <a:xfrm>
            <a:off x="6547104" y="1426464"/>
            <a:ext cx="5257800" cy="5495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HISTOGRAM (Matplotlib)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plt.subplots(figsize=(11,6))</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ax.hist(df['margin_pct'].dropna(), bins=40,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color='#2563EB', edgecolor='white',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alpha=0.85)</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Add mean and median lines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mean_val   = df['margin_pct'].mean()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median_val = df['margin_pct'].median()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ax.axvline(mean_val,   color='#E11D48',</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linestyle='--', label=f'Mean {mean_val:.1f}%')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ax.axvline(median_val, color='#F9AB00',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linestyle=':', label=f'Median {median_val:.1f}%')</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ax.set_xlabel('Profit Margin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ax.set_ylabel('Number of Transactions')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ax.set_title('Distribution of Profit Margin')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ax.legend()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SEABORN WITH KDE OVERLAY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plt.subplots(figsize=(11,6))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sns.histplot(data=df, x='margin_pct', bins=40,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kde=True, color='#2563EB')</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PLOTLY INTERACTIVE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 px.histogram(df, x='margin_pct',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barmode='overlay', opacity=0.7,</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title='Margin Distribution')</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fig.show()</a:t>
            </a:r>
            <a:endParaRPr lang="en-US" sz="10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BOX PLOT — SPREAD, QUARTILES, AND OUTLIERS AT A GLANCE</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5852160" cy="4389120"/>
          </a:xfrm>
          <a:prstGeom prst="rect">
            <a:avLst/>
          </a:prstGeom>
        </p:spPr>
      </p:pic>
      <p:sp>
        <p:nvSpPr>
          <p:cNvPr id="5" name="Shape 2"/>
          <p:cNvSpPr/>
          <p:nvPr/>
        </p:nvSpPr>
        <p:spPr>
          <a:xfrm>
            <a:off x="411480" y="5522976"/>
            <a:ext cx="5852160" cy="1097280"/>
          </a:xfrm>
          <a:prstGeom prst="roundRect">
            <a:avLst>
              <a:gd name="adj" fmla="val 8333"/>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522976"/>
            <a:ext cx="585216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5724144"/>
            <a:ext cx="5852160" cy="146304"/>
          </a:xfrm>
          <a:prstGeom prst="rect">
            <a:avLst/>
          </a:prstGeom>
          <a:solidFill>
            <a:srgbClr val="131F38"/>
          </a:solidFill>
          <a:ln w="12700">
            <a:solidFill>
              <a:srgbClr val="131F38"/>
            </a:solidFill>
            <a:prstDash val="solid"/>
          </a:ln>
        </p:spPr>
      </p:sp>
      <p:sp>
        <p:nvSpPr>
          <p:cNvPr id="8" name="Shape 5"/>
          <p:cNvSpPr/>
          <p:nvPr/>
        </p:nvSpPr>
        <p:spPr>
          <a:xfrm>
            <a:off x="539496" y="5614416"/>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614416"/>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614416"/>
            <a:ext cx="164592" cy="164592"/>
          </a:xfrm>
          <a:prstGeom prst="ellipse">
            <a:avLst/>
          </a:prstGeom>
          <a:solidFill>
            <a:srgbClr val="16A34A"/>
          </a:solidFill>
          <a:ln w="12700">
            <a:solidFill>
              <a:srgbClr val="16A34A"/>
            </a:solidFill>
            <a:prstDash val="solid"/>
          </a:ln>
        </p:spPr>
      </p:sp>
      <p:sp>
        <p:nvSpPr>
          <p:cNvPr id="11" name="Text 8"/>
          <p:cNvSpPr/>
          <p:nvPr/>
        </p:nvSpPr>
        <p:spPr>
          <a:xfrm>
            <a:off x="557784" y="5925312"/>
            <a:ext cx="5577840" cy="58521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5 statistics in one visual (min,Q1,median,Q3,max).</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comparing spread across groups, spotting outliers.</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Dots beyond whiskers = outliers (beyond 1.5×IQR).</a:t>
            </a:r>
            <a:endParaRPr lang="en-US" sz="1050" dirty="0"/>
          </a:p>
        </p:txBody>
      </p:sp>
      <p:sp>
        <p:nvSpPr>
          <p:cNvPr id="12" name="Shape 9"/>
          <p:cNvSpPr/>
          <p:nvPr/>
        </p:nvSpPr>
        <p:spPr>
          <a:xfrm>
            <a:off x="6400800" y="1024128"/>
            <a:ext cx="5532120" cy="5596128"/>
          </a:xfrm>
          <a:prstGeom prst="roundRect">
            <a:avLst>
              <a:gd name="adj" fmla="val 1653"/>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3" name="Shape 10"/>
          <p:cNvSpPr/>
          <p:nvPr/>
        </p:nvSpPr>
        <p:spPr>
          <a:xfrm>
            <a:off x="6400800" y="1024128"/>
            <a:ext cx="5532120" cy="347472"/>
          </a:xfrm>
          <a:prstGeom prst="roundRect">
            <a:avLst>
              <a:gd name="adj" fmla="val 26316"/>
            </a:avLst>
          </a:prstGeom>
          <a:solidFill>
            <a:srgbClr val="131F38"/>
          </a:solidFill>
          <a:ln w="12700">
            <a:solidFill>
              <a:srgbClr val="131F38"/>
            </a:solidFill>
            <a:prstDash val="solid"/>
          </a:ln>
        </p:spPr>
      </p:sp>
      <p:sp>
        <p:nvSpPr>
          <p:cNvPr id="14" name="Shape 11"/>
          <p:cNvSpPr/>
          <p:nvPr/>
        </p:nvSpPr>
        <p:spPr>
          <a:xfrm>
            <a:off x="6400800" y="1225296"/>
            <a:ext cx="5532120" cy="146304"/>
          </a:xfrm>
          <a:prstGeom prst="rect">
            <a:avLst/>
          </a:prstGeom>
          <a:solidFill>
            <a:srgbClr val="131F38"/>
          </a:solidFill>
          <a:ln w="12700">
            <a:solidFill>
              <a:srgbClr val="131F38"/>
            </a:solidFill>
            <a:prstDash val="solid"/>
          </a:ln>
        </p:spPr>
      </p:sp>
      <p:sp>
        <p:nvSpPr>
          <p:cNvPr id="15" name="Shape 12"/>
          <p:cNvSpPr/>
          <p:nvPr/>
        </p:nvSpPr>
        <p:spPr>
          <a:xfrm>
            <a:off x="6528816" y="1115568"/>
            <a:ext cx="164592" cy="164592"/>
          </a:xfrm>
          <a:prstGeom prst="ellipse">
            <a:avLst/>
          </a:prstGeom>
          <a:solidFill>
            <a:srgbClr val="E11D48"/>
          </a:solidFill>
          <a:ln w="12700">
            <a:solidFill>
              <a:srgbClr val="E11D48"/>
            </a:solidFill>
            <a:prstDash val="solid"/>
          </a:ln>
        </p:spPr>
      </p:sp>
      <p:sp>
        <p:nvSpPr>
          <p:cNvPr id="16" name="Shape 13"/>
          <p:cNvSpPr/>
          <p:nvPr/>
        </p:nvSpPr>
        <p:spPr>
          <a:xfrm>
            <a:off x="6729984" y="1115568"/>
            <a:ext cx="164592" cy="164592"/>
          </a:xfrm>
          <a:prstGeom prst="ellipse">
            <a:avLst/>
          </a:prstGeom>
          <a:solidFill>
            <a:srgbClr val="D97706"/>
          </a:solidFill>
          <a:ln w="12700">
            <a:solidFill>
              <a:srgbClr val="D97706"/>
            </a:solidFill>
            <a:prstDash val="solid"/>
          </a:ln>
        </p:spPr>
      </p:sp>
      <p:sp>
        <p:nvSpPr>
          <p:cNvPr id="17" name="Shape 14"/>
          <p:cNvSpPr/>
          <p:nvPr/>
        </p:nvSpPr>
        <p:spPr>
          <a:xfrm>
            <a:off x="6931152" y="1115568"/>
            <a:ext cx="164592" cy="164592"/>
          </a:xfrm>
          <a:prstGeom prst="ellipse">
            <a:avLst/>
          </a:prstGeom>
          <a:solidFill>
            <a:srgbClr val="16A34A"/>
          </a:solidFill>
          <a:ln w="12700">
            <a:solidFill>
              <a:srgbClr val="16A34A"/>
            </a:solidFill>
            <a:prstDash val="solid"/>
          </a:ln>
        </p:spPr>
      </p:sp>
      <p:sp>
        <p:nvSpPr>
          <p:cNvPr id="18" name="Text 15"/>
          <p:cNvSpPr/>
          <p:nvPr/>
        </p:nvSpPr>
        <p:spPr>
          <a:xfrm>
            <a:off x="7132320" y="1097280"/>
            <a:ext cx="46177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box_plot.py</a:t>
            </a:r>
            <a:endParaRPr lang="en-US" sz="900" dirty="0"/>
          </a:p>
        </p:txBody>
      </p:sp>
      <p:sp>
        <p:nvSpPr>
          <p:cNvPr id="19" name="Text 16"/>
          <p:cNvSpPr/>
          <p:nvPr/>
        </p:nvSpPr>
        <p:spPr>
          <a:xfrm>
            <a:off x="6547104" y="1426464"/>
            <a:ext cx="5257800" cy="508406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BOX PLOT (Seaborn)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plt.subplots(figsize=(13,7))</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sns.boxplot(data=df, x='category',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y='margin_pct',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palette=CAT_COLORS,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width=0.5,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flierprops={'marker':'o',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'color':'red',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'markersize':5})</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ax.set_title('Profit Margin Distribution by 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ax.set_xlabel('Category')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ax.set_ylabel('Margin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ax.axhline(df['margin_pct'].median(),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color='red', linestyle='--',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label='Overall Median')</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ax.legend(); plt.show()</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VIOLIN PLOT (richer version)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sns.violinplot(data=df, x='category',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y='margin_pct',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palette=CAT_COLORS)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plt.show()</a:t>
            </a:r>
            <a:endParaRPr lang="en-US" sz="1050" dirty="0"/>
          </a:p>
        </p:txBody>
      </p:sp>
      <p:sp>
        <p:nvSpPr>
          <p:cNvPr id="20" name="Text 17"/>
          <p:cNvSpPr/>
          <p:nvPr/>
        </p:nvSpPr>
        <p:spPr>
          <a:xfrm>
            <a:off x="6400800" y="6675120"/>
            <a:ext cx="5532120" cy="274320"/>
          </a:xfrm>
          <a:prstGeom prst="rect">
            <a:avLst/>
          </a:prstGeom>
          <a:noFill/>
          <a:ln/>
        </p:spPr>
        <p:txBody>
          <a:bodyPr wrap="square" lIns="0" tIns="0" rIns="0" bIns="0" rtlCol="0" anchor="ctr"/>
          <a:lstStyle/>
          <a:p>
            <a:pPr indent="0" marL="0">
              <a:buNone/>
            </a:pPr>
            <a:r>
              <a:rPr lang="en-US" sz="900" i="1" dirty="0">
                <a:solidFill>
                  <a:srgbClr val="64748B"/>
                </a:solidFill>
                <a:latin typeface="Calibri" pitchFamily="34" charset="0"/>
                <a:ea typeface="Calibri" pitchFamily="34" charset="-122"/>
                <a:cs typeface="Calibri" pitchFamily="34" charset="-120"/>
              </a:rPr>
              <a:t>Box plot anatomy: bottom whisker=min non-outlier  •  Q1=25th pct  •  median line=50th pct  •  Q3=75th pct  •  top whisker=max non-outlier  •  dots=outliers</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0891B2"/>
          </a:solidFill>
          <a:ln w="12700">
            <a:solidFill>
              <a:srgbClr val="0891B2"/>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12</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Heatmaps, Radar Charts, and Dashboards</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Pattern detection, profiling, and multi-chart layouts.</a:t>
            </a:r>
            <a:endParaRPr lang="en-US" sz="15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HEATMAP — MATRIX OF VALUES AS A COLOUR GRID</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035040" cy="4572000"/>
          </a:xfrm>
          <a:prstGeom prst="rect">
            <a:avLst/>
          </a:prstGeom>
        </p:spPr>
      </p:pic>
      <p:sp>
        <p:nvSpPr>
          <p:cNvPr id="5" name="Shape 2"/>
          <p:cNvSpPr/>
          <p:nvPr/>
        </p:nvSpPr>
        <p:spPr>
          <a:xfrm>
            <a:off x="411480" y="5669280"/>
            <a:ext cx="6035040" cy="960120"/>
          </a:xfrm>
          <a:prstGeom prst="roundRect">
            <a:avLst>
              <a:gd name="adj" fmla="val 9524"/>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411480" y="5669280"/>
            <a:ext cx="603504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411480" y="5870448"/>
            <a:ext cx="6035040" cy="146304"/>
          </a:xfrm>
          <a:prstGeom prst="rect">
            <a:avLst/>
          </a:prstGeom>
          <a:solidFill>
            <a:srgbClr val="131F38"/>
          </a:solidFill>
          <a:ln w="12700">
            <a:solidFill>
              <a:srgbClr val="131F38"/>
            </a:solidFill>
            <a:prstDash val="solid"/>
          </a:ln>
        </p:spPr>
      </p:sp>
      <p:sp>
        <p:nvSpPr>
          <p:cNvPr id="8" name="Shape 5"/>
          <p:cNvSpPr/>
          <p:nvPr/>
        </p:nvSpPr>
        <p:spPr>
          <a:xfrm>
            <a:off x="539496" y="5760720"/>
            <a:ext cx="164592" cy="164592"/>
          </a:xfrm>
          <a:prstGeom prst="ellipse">
            <a:avLst/>
          </a:prstGeom>
          <a:solidFill>
            <a:srgbClr val="E11D48"/>
          </a:solidFill>
          <a:ln w="12700">
            <a:solidFill>
              <a:srgbClr val="E11D48"/>
            </a:solidFill>
            <a:prstDash val="solid"/>
          </a:ln>
        </p:spPr>
      </p:sp>
      <p:sp>
        <p:nvSpPr>
          <p:cNvPr id="9" name="Shape 6"/>
          <p:cNvSpPr/>
          <p:nvPr/>
        </p:nvSpPr>
        <p:spPr>
          <a:xfrm>
            <a:off x="740664" y="5760720"/>
            <a:ext cx="164592" cy="164592"/>
          </a:xfrm>
          <a:prstGeom prst="ellipse">
            <a:avLst/>
          </a:prstGeom>
          <a:solidFill>
            <a:srgbClr val="D97706"/>
          </a:solidFill>
          <a:ln w="12700">
            <a:solidFill>
              <a:srgbClr val="D97706"/>
            </a:solidFill>
            <a:prstDash val="solid"/>
          </a:ln>
        </p:spPr>
      </p:sp>
      <p:sp>
        <p:nvSpPr>
          <p:cNvPr id="10" name="Shape 7"/>
          <p:cNvSpPr/>
          <p:nvPr/>
        </p:nvSpPr>
        <p:spPr>
          <a:xfrm>
            <a:off x="941832" y="5760720"/>
            <a:ext cx="164592" cy="164592"/>
          </a:xfrm>
          <a:prstGeom prst="ellipse">
            <a:avLst/>
          </a:prstGeom>
          <a:solidFill>
            <a:srgbClr val="16A34A"/>
          </a:solidFill>
          <a:ln w="12700">
            <a:solidFill>
              <a:srgbClr val="16A34A"/>
            </a:solidFill>
            <a:prstDash val="solid"/>
          </a:ln>
        </p:spPr>
      </p:sp>
      <p:sp>
        <p:nvSpPr>
          <p:cNvPr id="11" name="Text 8"/>
          <p:cNvSpPr/>
          <p:nvPr/>
        </p:nvSpPr>
        <p:spPr>
          <a:xfrm>
            <a:off x="557784" y="6071616"/>
            <a:ext cx="5760720" cy="44805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spot patterns in month×category or correlation matrix.</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seasonality, cross-tab analysis, correlation.</a:t>
            </a:r>
            <a:endParaRPr lang="en-US" sz="1050" dirty="0"/>
          </a:p>
        </p:txBody>
      </p:sp>
      <p:sp>
        <p:nvSpPr>
          <p:cNvPr id="12" name="Shape 9"/>
          <p:cNvSpPr/>
          <p:nvPr/>
        </p:nvSpPr>
        <p:spPr>
          <a:xfrm>
            <a:off x="6629400" y="1024128"/>
            <a:ext cx="5303520" cy="6007608"/>
          </a:xfrm>
          <a:prstGeom prst="roundRect">
            <a:avLst>
              <a:gd name="adj" fmla="val 1724"/>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3" name="Shape 10"/>
          <p:cNvSpPr/>
          <p:nvPr/>
        </p:nvSpPr>
        <p:spPr>
          <a:xfrm>
            <a:off x="6629400" y="1024128"/>
            <a:ext cx="5303520" cy="347472"/>
          </a:xfrm>
          <a:prstGeom prst="roundRect">
            <a:avLst>
              <a:gd name="adj" fmla="val 26316"/>
            </a:avLst>
          </a:prstGeom>
          <a:solidFill>
            <a:srgbClr val="131F38"/>
          </a:solidFill>
          <a:ln w="12700">
            <a:solidFill>
              <a:srgbClr val="131F38"/>
            </a:solidFill>
            <a:prstDash val="solid"/>
          </a:ln>
        </p:spPr>
      </p:sp>
      <p:sp>
        <p:nvSpPr>
          <p:cNvPr id="14" name="Shape 11"/>
          <p:cNvSpPr/>
          <p:nvPr/>
        </p:nvSpPr>
        <p:spPr>
          <a:xfrm>
            <a:off x="6629400" y="1225296"/>
            <a:ext cx="5303520" cy="146304"/>
          </a:xfrm>
          <a:prstGeom prst="rect">
            <a:avLst/>
          </a:prstGeom>
          <a:solidFill>
            <a:srgbClr val="131F38"/>
          </a:solidFill>
          <a:ln w="12700">
            <a:solidFill>
              <a:srgbClr val="131F38"/>
            </a:solidFill>
            <a:prstDash val="solid"/>
          </a:ln>
        </p:spPr>
      </p:sp>
      <p:sp>
        <p:nvSpPr>
          <p:cNvPr id="15" name="Shape 12"/>
          <p:cNvSpPr/>
          <p:nvPr/>
        </p:nvSpPr>
        <p:spPr>
          <a:xfrm>
            <a:off x="6757416" y="1115568"/>
            <a:ext cx="164592" cy="164592"/>
          </a:xfrm>
          <a:prstGeom prst="ellipse">
            <a:avLst/>
          </a:prstGeom>
          <a:solidFill>
            <a:srgbClr val="E11D48"/>
          </a:solidFill>
          <a:ln w="12700">
            <a:solidFill>
              <a:srgbClr val="E11D48"/>
            </a:solidFill>
            <a:prstDash val="solid"/>
          </a:ln>
        </p:spPr>
      </p:sp>
      <p:sp>
        <p:nvSpPr>
          <p:cNvPr id="16" name="Shape 13"/>
          <p:cNvSpPr/>
          <p:nvPr/>
        </p:nvSpPr>
        <p:spPr>
          <a:xfrm>
            <a:off x="6958584" y="1115568"/>
            <a:ext cx="164592" cy="164592"/>
          </a:xfrm>
          <a:prstGeom prst="ellipse">
            <a:avLst/>
          </a:prstGeom>
          <a:solidFill>
            <a:srgbClr val="D97706"/>
          </a:solidFill>
          <a:ln w="12700">
            <a:solidFill>
              <a:srgbClr val="D97706"/>
            </a:solidFill>
            <a:prstDash val="solid"/>
          </a:ln>
        </p:spPr>
      </p:sp>
      <p:sp>
        <p:nvSpPr>
          <p:cNvPr id="17" name="Shape 14"/>
          <p:cNvSpPr/>
          <p:nvPr/>
        </p:nvSpPr>
        <p:spPr>
          <a:xfrm>
            <a:off x="7159752" y="1115568"/>
            <a:ext cx="164592" cy="164592"/>
          </a:xfrm>
          <a:prstGeom prst="ellipse">
            <a:avLst/>
          </a:prstGeom>
          <a:solidFill>
            <a:srgbClr val="16A34A"/>
          </a:solidFill>
          <a:ln w="12700">
            <a:solidFill>
              <a:srgbClr val="16A34A"/>
            </a:solidFill>
            <a:prstDash val="solid"/>
          </a:ln>
        </p:spPr>
      </p:sp>
      <p:sp>
        <p:nvSpPr>
          <p:cNvPr id="18" name="Text 15"/>
          <p:cNvSpPr/>
          <p:nvPr/>
        </p:nvSpPr>
        <p:spPr>
          <a:xfrm>
            <a:off x="7360920" y="1097280"/>
            <a:ext cx="438912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heatmap.py</a:t>
            </a:r>
            <a:endParaRPr lang="en-US" sz="900" dirty="0"/>
          </a:p>
        </p:txBody>
      </p:sp>
      <p:sp>
        <p:nvSpPr>
          <p:cNvPr id="19" name="Text 16"/>
          <p:cNvSpPr/>
          <p:nvPr/>
        </p:nvSpPr>
        <p:spPr>
          <a:xfrm>
            <a:off x="6775704" y="1426464"/>
            <a:ext cx="5029200" cy="5495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HEATMAP (Seaborn)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heat_data = df.pivot_table(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index='category',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columns='month',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values='revenue',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aggfunc='sum') / 1e6</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Reorder months chronologically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month_order = ['Jan','Feb','Mar','Apr','May','Jun',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'Jul','Aug','Sep','Oct','Nov','Dec']</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heat_data = heat_data[month_order]</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 = plt.subplots(figsize=(14,5))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sns.heatmap(heat_data, annot=True,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fmt='.1f',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cmap='Blues',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linewidths=0.5,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cbar_kws={'label':'NGN 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ax=ax)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ax.set_title('Revenue Heatmap — Category x Month')</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plt.tight_layout(); plt.show()</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CORRELATION HEATMAP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num_cols = ['units','unit_price','revenue','profit','margin_pct']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corr = df[num_cols].corr()</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sns.heatmap(corr, annot=True, fmt='.2f',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cmap='coolwarm', center=0,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square=True)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plt.title('Correlation Matrix'); plt.show()</a:t>
            </a:r>
            <a:endParaRPr lang="en-US" sz="10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RADAR CHART — MULTI-ATTRIBUTE PROFILE IN ONE VISUAL</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4754880" cy="5577840"/>
          </a:xfrm>
          <a:prstGeom prst="rect">
            <a:avLst/>
          </a:prstGeom>
        </p:spPr>
      </p:pic>
      <p:sp>
        <p:nvSpPr>
          <p:cNvPr id="5" name="Shape 2"/>
          <p:cNvSpPr/>
          <p:nvPr/>
        </p:nvSpPr>
        <p:spPr>
          <a:xfrm>
            <a:off x="5349240" y="1024128"/>
            <a:ext cx="6583680" cy="6007608"/>
          </a:xfrm>
          <a:prstGeom prst="roundRect">
            <a:avLst>
              <a:gd name="adj" fmla="val 1522"/>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5349240" y="1024128"/>
            <a:ext cx="658368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5349240" y="1225296"/>
            <a:ext cx="6583680" cy="146304"/>
          </a:xfrm>
          <a:prstGeom prst="rect">
            <a:avLst/>
          </a:prstGeom>
          <a:solidFill>
            <a:srgbClr val="131F38"/>
          </a:solidFill>
          <a:ln w="12700">
            <a:solidFill>
              <a:srgbClr val="131F38"/>
            </a:solidFill>
            <a:prstDash val="solid"/>
          </a:ln>
        </p:spPr>
      </p:sp>
      <p:sp>
        <p:nvSpPr>
          <p:cNvPr id="8" name="Shape 5"/>
          <p:cNvSpPr/>
          <p:nvPr/>
        </p:nvSpPr>
        <p:spPr>
          <a:xfrm>
            <a:off x="5477256" y="1115568"/>
            <a:ext cx="164592" cy="164592"/>
          </a:xfrm>
          <a:prstGeom prst="ellipse">
            <a:avLst/>
          </a:prstGeom>
          <a:solidFill>
            <a:srgbClr val="E11D48"/>
          </a:solidFill>
          <a:ln w="12700">
            <a:solidFill>
              <a:srgbClr val="E11D48"/>
            </a:solidFill>
            <a:prstDash val="solid"/>
          </a:ln>
        </p:spPr>
      </p:sp>
      <p:sp>
        <p:nvSpPr>
          <p:cNvPr id="9" name="Shape 6"/>
          <p:cNvSpPr/>
          <p:nvPr/>
        </p:nvSpPr>
        <p:spPr>
          <a:xfrm>
            <a:off x="5678424" y="1115568"/>
            <a:ext cx="164592" cy="164592"/>
          </a:xfrm>
          <a:prstGeom prst="ellipse">
            <a:avLst/>
          </a:prstGeom>
          <a:solidFill>
            <a:srgbClr val="D97706"/>
          </a:solidFill>
          <a:ln w="12700">
            <a:solidFill>
              <a:srgbClr val="D97706"/>
            </a:solidFill>
            <a:prstDash val="solid"/>
          </a:ln>
        </p:spPr>
      </p:sp>
      <p:sp>
        <p:nvSpPr>
          <p:cNvPr id="10" name="Shape 7"/>
          <p:cNvSpPr/>
          <p:nvPr/>
        </p:nvSpPr>
        <p:spPr>
          <a:xfrm>
            <a:off x="5879592" y="1115568"/>
            <a:ext cx="164592" cy="164592"/>
          </a:xfrm>
          <a:prstGeom prst="ellipse">
            <a:avLst/>
          </a:prstGeom>
          <a:solidFill>
            <a:srgbClr val="16A34A"/>
          </a:solidFill>
          <a:ln w="12700">
            <a:solidFill>
              <a:srgbClr val="16A34A"/>
            </a:solidFill>
            <a:prstDash val="solid"/>
          </a:ln>
        </p:spPr>
      </p:sp>
      <p:sp>
        <p:nvSpPr>
          <p:cNvPr id="11" name="Text 8"/>
          <p:cNvSpPr/>
          <p:nvPr/>
        </p:nvSpPr>
        <p:spPr>
          <a:xfrm>
            <a:off x="6080760" y="1097280"/>
            <a:ext cx="56692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radar_chart.py</a:t>
            </a:r>
            <a:endParaRPr lang="en-US" sz="900" dirty="0"/>
          </a:p>
        </p:txBody>
      </p:sp>
      <p:sp>
        <p:nvSpPr>
          <p:cNvPr id="12" name="Text 9"/>
          <p:cNvSpPr/>
          <p:nvPr/>
        </p:nvSpPr>
        <p:spPr>
          <a:xfrm>
            <a:off x="5495544" y="1426464"/>
            <a:ext cx="6309360" cy="5495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WHY: compare an entity across multiple dimensions.</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Best for: comparing regions/products on 4-8 metrics.</a:t>
            </a:r>
            <a:endParaRPr lang="en-US" sz="1050" dirty="0"/>
          </a:p>
          <a:p>
            <a:pPr indent="0" marL="0">
              <a:buNone/>
            </a:pPr>
            <a:r>
              <a:rPr lang="en-US" sz="1050" dirty="0">
                <a:solidFill>
                  <a:srgbClr val="E11D48"/>
                </a:solidFill>
                <a:latin typeface="Courier New" pitchFamily="34" charset="0"/>
                <a:ea typeface="Courier New" pitchFamily="34" charset="-122"/>
                <a:cs typeface="Courier New" pitchFamily="34" charset="-120"/>
              </a:rPr>
              <a:t># NOT for: too many spokes (&gt;10) — gets unreadable.</a:t>
            </a:r>
            <a:endParaRPr lang="en-US" sz="1050" dirty="0"/>
          </a:p>
          <a:p>
            <a:pPr indent="0" marL="0">
              <a:buNone/>
            </a:pP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plotly.graph_objects as go</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Build per-region metrics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regions_metrics = df.groupby('region').agg(</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revenue   = ('revenue','sum'),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volume    = ('units','sum'),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margin    = ('margin_pct','mean'),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rating    = ('customer_rating','mean'),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orders    = ('order_id','count'),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).reset_index()</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Normalise 0-100 for radar</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col in ['revenue','volume','margin','rating','orders']: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mn = regions_metrics[col].min()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mx = regions_metrics[col].max()</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regions_metrics[col+'_n'] =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(regions_metrics[col]-mn)/(mx-mn)*100)</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categories = ['Revenue','Volume','Margin','Rating','Orders']</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 go.Figure()</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for _, row in regions_metrics.iterrows():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vals = [row[c+'_n'] for c in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['revenue','volume','margin','rating','orders']]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fig.add_trace(go.Scatterpolar(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r=vals+[vals[0]], theta=categories+[categories[0]],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name=row['region'], fill='toself', opacity=0.3))</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fig.update_layout(title='Region Performance Radar')</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fig.show()</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BUILDING A MULTI-CHART DASHBOARD WITH plt.subplots()</a:t>
            </a:r>
            <a:endParaRPr lang="en-US" sz="2600" dirty="0"/>
          </a:p>
        </p:txBody>
      </p:sp>
      <p:pic>
        <p:nvPicPr>
          <p:cNvPr id="4" name="Image 0" descr="preencoded.png">    </p:cNvPr>
          <p:cNvPicPr>
            <a:picLocks noChangeAspect="1"/>
          </p:cNvPicPr>
          <p:nvPr/>
        </p:nvPicPr>
        <p:blipFill>
          <a:blip r:embed="rId1"/>
          <a:srcRect l="0" r="0" t="0" b="0"/>
          <a:stretch/>
        </p:blipFill>
        <p:spPr>
          <a:xfrm>
            <a:off x="411480" y="1024128"/>
            <a:ext cx="6583680" cy="5029200"/>
          </a:xfrm>
          <a:prstGeom prst="rect">
            <a:avLst/>
          </a:prstGeom>
        </p:spPr>
      </p:pic>
      <p:sp>
        <p:nvSpPr>
          <p:cNvPr id="5" name="Shape 2"/>
          <p:cNvSpPr/>
          <p:nvPr/>
        </p:nvSpPr>
        <p:spPr>
          <a:xfrm>
            <a:off x="7178040" y="1024128"/>
            <a:ext cx="4754880" cy="4114800"/>
          </a:xfrm>
          <a:prstGeom prst="roundRect">
            <a:avLst>
              <a:gd name="adj" fmla="val 2222"/>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6" name="Shape 3"/>
          <p:cNvSpPr/>
          <p:nvPr/>
        </p:nvSpPr>
        <p:spPr>
          <a:xfrm>
            <a:off x="7178040" y="1024128"/>
            <a:ext cx="4754880" cy="347472"/>
          </a:xfrm>
          <a:prstGeom prst="roundRect">
            <a:avLst>
              <a:gd name="adj" fmla="val 26316"/>
            </a:avLst>
          </a:prstGeom>
          <a:solidFill>
            <a:srgbClr val="131F38"/>
          </a:solidFill>
          <a:ln w="12700">
            <a:solidFill>
              <a:srgbClr val="131F38"/>
            </a:solidFill>
            <a:prstDash val="solid"/>
          </a:ln>
        </p:spPr>
      </p:sp>
      <p:sp>
        <p:nvSpPr>
          <p:cNvPr id="7" name="Shape 4"/>
          <p:cNvSpPr/>
          <p:nvPr/>
        </p:nvSpPr>
        <p:spPr>
          <a:xfrm>
            <a:off x="7178040" y="1225296"/>
            <a:ext cx="4754880" cy="146304"/>
          </a:xfrm>
          <a:prstGeom prst="rect">
            <a:avLst/>
          </a:prstGeom>
          <a:solidFill>
            <a:srgbClr val="131F38"/>
          </a:solidFill>
          <a:ln w="12700">
            <a:solidFill>
              <a:srgbClr val="131F38"/>
            </a:solidFill>
            <a:prstDash val="solid"/>
          </a:ln>
        </p:spPr>
      </p:sp>
      <p:sp>
        <p:nvSpPr>
          <p:cNvPr id="8" name="Shape 5"/>
          <p:cNvSpPr/>
          <p:nvPr/>
        </p:nvSpPr>
        <p:spPr>
          <a:xfrm>
            <a:off x="7306056" y="1115568"/>
            <a:ext cx="164592" cy="164592"/>
          </a:xfrm>
          <a:prstGeom prst="ellipse">
            <a:avLst/>
          </a:prstGeom>
          <a:solidFill>
            <a:srgbClr val="E11D48"/>
          </a:solidFill>
          <a:ln w="12700">
            <a:solidFill>
              <a:srgbClr val="E11D48"/>
            </a:solidFill>
            <a:prstDash val="solid"/>
          </a:ln>
        </p:spPr>
      </p:sp>
      <p:sp>
        <p:nvSpPr>
          <p:cNvPr id="9" name="Shape 6"/>
          <p:cNvSpPr/>
          <p:nvPr/>
        </p:nvSpPr>
        <p:spPr>
          <a:xfrm>
            <a:off x="7507224" y="1115568"/>
            <a:ext cx="164592" cy="164592"/>
          </a:xfrm>
          <a:prstGeom prst="ellipse">
            <a:avLst/>
          </a:prstGeom>
          <a:solidFill>
            <a:srgbClr val="D97706"/>
          </a:solidFill>
          <a:ln w="12700">
            <a:solidFill>
              <a:srgbClr val="D97706"/>
            </a:solidFill>
            <a:prstDash val="solid"/>
          </a:ln>
        </p:spPr>
      </p:sp>
      <p:sp>
        <p:nvSpPr>
          <p:cNvPr id="10" name="Shape 7"/>
          <p:cNvSpPr/>
          <p:nvPr/>
        </p:nvSpPr>
        <p:spPr>
          <a:xfrm>
            <a:off x="7708392" y="1115568"/>
            <a:ext cx="164592" cy="164592"/>
          </a:xfrm>
          <a:prstGeom prst="ellipse">
            <a:avLst/>
          </a:prstGeom>
          <a:solidFill>
            <a:srgbClr val="16A34A"/>
          </a:solidFill>
          <a:ln w="12700">
            <a:solidFill>
              <a:srgbClr val="16A34A"/>
            </a:solidFill>
            <a:prstDash val="solid"/>
          </a:ln>
        </p:spPr>
      </p:sp>
      <p:sp>
        <p:nvSpPr>
          <p:cNvPr id="11" name="Text 8"/>
          <p:cNvSpPr/>
          <p:nvPr/>
        </p:nvSpPr>
        <p:spPr>
          <a:xfrm>
            <a:off x="7909560" y="1097280"/>
            <a:ext cx="38404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dashboard.py</a:t>
            </a:r>
            <a:endParaRPr lang="en-US" sz="900" dirty="0"/>
          </a:p>
        </p:txBody>
      </p:sp>
      <p:sp>
        <p:nvSpPr>
          <p:cNvPr id="12" name="Text 9"/>
          <p:cNvSpPr/>
          <p:nvPr/>
        </p:nvSpPr>
        <p:spPr>
          <a:xfrm>
            <a:off x="7324344" y="1426464"/>
            <a:ext cx="4480560" cy="360273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2×2 dashboard layout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axes = plt.subplots(2, 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figsize=(16, 10))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fig.suptitle('Nigeria Retail Sales Dashboard',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fontsize=18, fontweight='bold')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Top-left: bar chart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rev_r = df.groupby('region')['revenue'].sum()/1e6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axes[0,0].bar(rev_r.index, rev_r.values)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axes[0,0].set_title('Revenue by Region')</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Top-right: line chart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monthly = df.groupby('month_num')['revenue'].sum()/1e6</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axes[0,1].plot(monthly.index, monthly.values,'o-')</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axes[0,1].set_title('Monthly Revenue Trend')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Bottom-left: pie chart</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cat_r = df.groupby('category')['revenue'].sum()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axes[1,0].pie(cat_r, labels=cat_r.index, autopct='%1.0f%%')</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axes[1,0].set_title('Revenue by Category')</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Bottom-right: scatter</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axes[1,1].scatter(df['units'],df['revenue']/1e3,alpha=0.3)</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axes[1,1].set_title('Units vs Revenue')</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plt.tight_layout(rect=[0,0,1,0.95])</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plt.savefig('dashboard.png', dpi=150,</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            bbox_inches='tight')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plt.show()</a:t>
            </a:r>
            <a:endParaRPr lang="en-US" sz="1050" dirty="0"/>
          </a:p>
        </p:txBody>
      </p:sp>
      <p:sp>
        <p:nvSpPr>
          <p:cNvPr id="13" name="Shape 10"/>
          <p:cNvSpPr/>
          <p:nvPr/>
        </p:nvSpPr>
        <p:spPr>
          <a:xfrm>
            <a:off x="7178040" y="5230368"/>
            <a:ext cx="4754880" cy="1389888"/>
          </a:xfrm>
          <a:prstGeom prst="roundRect">
            <a:avLst>
              <a:gd name="adj" fmla="val 6579"/>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14" name="Shape 11"/>
          <p:cNvSpPr/>
          <p:nvPr/>
        </p:nvSpPr>
        <p:spPr>
          <a:xfrm>
            <a:off x="7178040" y="5230368"/>
            <a:ext cx="4754880" cy="347472"/>
          </a:xfrm>
          <a:prstGeom prst="roundRect">
            <a:avLst>
              <a:gd name="adj" fmla="val 26316"/>
            </a:avLst>
          </a:prstGeom>
          <a:solidFill>
            <a:srgbClr val="131F38"/>
          </a:solidFill>
          <a:ln w="12700">
            <a:solidFill>
              <a:srgbClr val="131F38"/>
            </a:solidFill>
            <a:prstDash val="solid"/>
          </a:ln>
        </p:spPr>
      </p:sp>
      <p:sp>
        <p:nvSpPr>
          <p:cNvPr id="15" name="Shape 12"/>
          <p:cNvSpPr/>
          <p:nvPr/>
        </p:nvSpPr>
        <p:spPr>
          <a:xfrm>
            <a:off x="7178040" y="5431536"/>
            <a:ext cx="4754880" cy="146304"/>
          </a:xfrm>
          <a:prstGeom prst="rect">
            <a:avLst/>
          </a:prstGeom>
          <a:solidFill>
            <a:srgbClr val="131F38"/>
          </a:solidFill>
          <a:ln w="12700">
            <a:solidFill>
              <a:srgbClr val="131F38"/>
            </a:solidFill>
            <a:prstDash val="solid"/>
          </a:ln>
        </p:spPr>
      </p:sp>
      <p:sp>
        <p:nvSpPr>
          <p:cNvPr id="16" name="Shape 13"/>
          <p:cNvSpPr/>
          <p:nvPr/>
        </p:nvSpPr>
        <p:spPr>
          <a:xfrm>
            <a:off x="7306056" y="5321808"/>
            <a:ext cx="164592" cy="164592"/>
          </a:xfrm>
          <a:prstGeom prst="ellipse">
            <a:avLst/>
          </a:prstGeom>
          <a:solidFill>
            <a:srgbClr val="E11D48"/>
          </a:solidFill>
          <a:ln w="12700">
            <a:solidFill>
              <a:srgbClr val="E11D48"/>
            </a:solidFill>
            <a:prstDash val="solid"/>
          </a:ln>
        </p:spPr>
      </p:sp>
      <p:sp>
        <p:nvSpPr>
          <p:cNvPr id="17" name="Shape 14"/>
          <p:cNvSpPr/>
          <p:nvPr/>
        </p:nvSpPr>
        <p:spPr>
          <a:xfrm>
            <a:off x="7507224" y="5321808"/>
            <a:ext cx="164592" cy="164592"/>
          </a:xfrm>
          <a:prstGeom prst="ellipse">
            <a:avLst/>
          </a:prstGeom>
          <a:solidFill>
            <a:srgbClr val="D97706"/>
          </a:solidFill>
          <a:ln w="12700">
            <a:solidFill>
              <a:srgbClr val="D97706"/>
            </a:solidFill>
            <a:prstDash val="solid"/>
          </a:ln>
        </p:spPr>
      </p:sp>
      <p:sp>
        <p:nvSpPr>
          <p:cNvPr id="18" name="Shape 15"/>
          <p:cNvSpPr/>
          <p:nvPr/>
        </p:nvSpPr>
        <p:spPr>
          <a:xfrm>
            <a:off x="7708392" y="5321808"/>
            <a:ext cx="164592" cy="164592"/>
          </a:xfrm>
          <a:prstGeom prst="ellipse">
            <a:avLst/>
          </a:prstGeom>
          <a:solidFill>
            <a:srgbClr val="16A34A"/>
          </a:solidFill>
          <a:ln w="12700">
            <a:solidFill>
              <a:srgbClr val="16A34A"/>
            </a:solidFill>
            <a:prstDash val="solid"/>
          </a:ln>
        </p:spPr>
      </p:sp>
      <p:sp>
        <p:nvSpPr>
          <p:cNvPr id="19" name="Text 16"/>
          <p:cNvSpPr/>
          <p:nvPr/>
        </p:nvSpPr>
        <p:spPr>
          <a:xfrm>
            <a:off x="7909560" y="5303520"/>
            <a:ext cx="384048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plotly_dash.py</a:t>
            </a:r>
            <a:endParaRPr lang="en-US" sz="900" dirty="0"/>
          </a:p>
        </p:txBody>
      </p:sp>
      <p:sp>
        <p:nvSpPr>
          <p:cNvPr id="20" name="Text 17"/>
          <p:cNvSpPr/>
          <p:nvPr/>
        </p:nvSpPr>
        <p:spPr>
          <a:xfrm>
            <a:off x="7324344" y="5632704"/>
            <a:ext cx="4480560" cy="87782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Full Plotly dashboard</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from plotly.subplots import make_subplots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fig = make_subplots(rows=2, cols=2,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subplot_titles=['By Region','Trend','Category','Units vs Rev'])</a:t>
            </a:r>
            <a:endParaRPr lang="en-US" sz="1050" dirty="0"/>
          </a:p>
          <a:p>
            <a:pPr indent="0" marL="0">
              <a:buNone/>
            </a:pPr>
            <a:r>
              <a:rPr lang="en-US" sz="1050" dirty="0">
                <a:solidFill>
                  <a:srgbClr val="94A3B8"/>
                </a:solidFill>
                <a:latin typeface="Courier New" pitchFamily="34" charset="0"/>
                <a:ea typeface="Courier New" pitchFamily="34" charset="-122"/>
                <a:cs typeface="Courier New" pitchFamily="34" charset="-120"/>
              </a:rPr>
              <a:t># ...add traces with row=1/2, col=1/2...</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fig.show()   # one interactive HTML page!</a:t>
            </a:r>
            <a:endParaRPr lang="en-US" sz="10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8FAFC"/>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SEABORN PAIRPLOT — EDA IN ONE LINE</a:t>
            </a:r>
            <a:endParaRPr lang="en-US" sz="2600" dirty="0"/>
          </a:p>
        </p:txBody>
      </p:sp>
      <p:sp>
        <p:nvSpPr>
          <p:cNvPr id="4" name="Shape 2"/>
          <p:cNvSpPr/>
          <p:nvPr/>
        </p:nvSpPr>
        <p:spPr>
          <a:xfrm>
            <a:off x="411480" y="1024128"/>
            <a:ext cx="11338560" cy="3931920"/>
          </a:xfrm>
          <a:prstGeom prst="roundRect">
            <a:avLst>
              <a:gd name="adj" fmla="val 2326"/>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1133856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1133856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pairplot.py</a:t>
            </a:r>
            <a:endParaRPr lang="en-US" sz="900" dirty="0"/>
          </a:p>
        </p:txBody>
      </p:sp>
      <p:sp>
        <p:nvSpPr>
          <p:cNvPr id="11" name="Text 9"/>
          <p:cNvSpPr/>
          <p:nvPr/>
        </p:nvSpPr>
        <p:spPr>
          <a:xfrm>
            <a:off x="557784" y="1426464"/>
            <a:ext cx="11064240" cy="3419856"/>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sns.pairplot() creates a grid of scatter plots for every pair of numeric columns</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plus histograms on the diagonal. Most powerful one-liner in EDA.</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cols_to_plot = ['units', 'unit_price', 'revenue', 'profit', 'margin_pct', 'customer_rating']</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sns.pairplot(df[cols_to_plot + ['category']],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hue='category',      # colour each category differently</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vars=cols_to_plot,   # only numeric columns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plot_kws={'alpha':0.4, 's':20},   # semi-transparent small dots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diag_kind='kde',     # kernel density on diagonal instead of histogram</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             corner=False)        # show full grid (not just lower triangle)</a:t>
            </a:r>
            <a:endParaRPr lang="en-US" sz="1050" dirty="0"/>
          </a:p>
          <a:p>
            <a:pPr indent="0" marL="0">
              <a:buNone/>
            </a:pP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plt.suptitle('Pairplot — Nigeria Retail Numeric Variables by Category', y=1.02)</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plt.savefig('pairplot.png', dpi=120, bbox_inches='tight')</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plt.show()  # takes ~10 seconds to render in Colab — wait for it!</a:t>
            </a:r>
            <a:endParaRPr lang="en-US" sz="1050" dirty="0"/>
          </a:p>
        </p:txBody>
      </p:sp>
      <p:sp>
        <p:nvSpPr>
          <p:cNvPr id="12" name="Shape 10"/>
          <p:cNvSpPr/>
          <p:nvPr/>
        </p:nvSpPr>
        <p:spPr>
          <a:xfrm>
            <a:off x="411480" y="5047488"/>
            <a:ext cx="3749040" cy="1572768"/>
          </a:xfrm>
          <a:prstGeom prst="roundRect">
            <a:avLst>
              <a:gd name="adj" fmla="val 5814"/>
            </a:avLst>
          </a:prstGeom>
          <a:solidFill>
            <a:srgbClr val="FFFFFF"/>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3" name="Text 11"/>
          <p:cNvSpPr/>
          <p:nvPr/>
        </p:nvSpPr>
        <p:spPr>
          <a:xfrm>
            <a:off x="557784" y="5157216"/>
            <a:ext cx="3456432"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Why pairplot?</a:t>
            </a:r>
            <a:endParaRPr lang="en-US" sz="1100" dirty="0"/>
          </a:p>
        </p:txBody>
      </p:sp>
      <p:sp>
        <p:nvSpPr>
          <p:cNvPr id="14" name="Text 12"/>
          <p:cNvSpPr/>
          <p:nvPr/>
        </p:nvSpPr>
        <p:spPr>
          <a:xfrm>
            <a:off x="557784" y="5468112"/>
            <a:ext cx="345643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Every scatter and every distribution in one command. Use at the start of EDA to see all relationships simultaneously. Look for: diagonal patterns (strong correlation), separated colour clusters (category differences), unusual shapes (bimodal distributions, outlier islands).</a:t>
            </a:r>
            <a:endParaRPr lang="en-US" sz="1000" dirty="0"/>
          </a:p>
        </p:txBody>
      </p:sp>
      <p:sp>
        <p:nvSpPr>
          <p:cNvPr id="15" name="Shape 13"/>
          <p:cNvSpPr/>
          <p:nvPr/>
        </p:nvSpPr>
        <p:spPr>
          <a:xfrm>
            <a:off x="4343400" y="5047488"/>
            <a:ext cx="3749040" cy="1572768"/>
          </a:xfrm>
          <a:prstGeom prst="roundRect">
            <a:avLst>
              <a:gd name="adj" fmla="val 5814"/>
            </a:avLst>
          </a:prstGeom>
          <a:solidFill>
            <a:srgbClr val="FFFFFF"/>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16" name="Text 14"/>
          <p:cNvSpPr/>
          <p:nvPr/>
        </p:nvSpPr>
        <p:spPr>
          <a:xfrm>
            <a:off x="4489704" y="5157216"/>
            <a:ext cx="3456432"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What to look for</a:t>
            </a:r>
            <a:endParaRPr lang="en-US" sz="1100" dirty="0"/>
          </a:p>
        </p:txBody>
      </p:sp>
      <p:sp>
        <p:nvSpPr>
          <p:cNvPr id="17" name="Text 15"/>
          <p:cNvSpPr/>
          <p:nvPr/>
        </p:nvSpPr>
        <p:spPr>
          <a:xfrm>
            <a:off x="4489704" y="5468112"/>
            <a:ext cx="345643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Revenue vs units: strong diagonal (expected). Margin vs price: scattered (price alone doesn't determine margin). Rating vs anything: weak correlation (product quality is independent of category sales performance).</a:t>
            </a:r>
            <a:endParaRPr lang="en-US" sz="1000" dirty="0"/>
          </a:p>
        </p:txBody>
      </p:sp>
      <p:sp>
        <p:nvSpPr>
          <p:cNvPr id="18" name="Shape 16"/>
          <p:cNvSpPr/>
          <p:nvPr/>
        </p:nvSpPr>
        <p:spPr>
          <a:xfrm>
            <a:off x="8275320" y="5047488"/>
            <a:ext cx="3749040" cy="1572768"/>
          </a:xfrm>
          <a:prstGeom prst="roundRect">
            <a:avLst>
              <a:gd name="adj" fmla="val 5814"/>
            </a:avLst>
          </a:prstGeom>
          <a:solidFill>
            <a:srgbClr val="FFFFFF"/>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19" name="Text 17"/>
          <p:cNvSpPr/>
          <p:nvPr/>
        </p:nvSpPr>
        <p:spPr>
          <a:xfrm>
            <a:off x="8421624" y="5157216"/>
            <a:ext cx="3456432"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Performance note</a:t>
            </a:r>
            <a:endParaRPr lang="en-US" sz="1100" dirty="0"/>
          </a:p>
        </p:txBody>
      </p:sp>
      <p:sp>
        <p:nvSpPr>
          <p:cNvPr id="20" name="Text 18"/>
          <p:cNvSpPr/>
          <p:nvPr/>
        </p:nvSpPr>
        <p:spPr>
          <a:xfrm>
            <a:off x="8421624" y="5468112"/>
            <a:ext cx="3456432" cy="1005840"/>
          </a:xfrm>
          <a:prstGeom prst="rect">
            <a:avLst/>
          </a:prstGeom>
          <a:noFill/>
          <a:ln/>
        </p:spPr>
        <p:txBody>
          <a:bodyPr wrap="square" lIns="0" tIns="0" rIns="0" bIns="0" rtlCol="0" anchor="ctr"/>
          <a:lstStyle/>
          <a:p>
            <a:pPr indent="0" marL="0">
              <a:buNone/>
            </a:pPr>
            <a:r>
              <a:rPr lang="en-US" sz="1000" dirty="0">
                <a:solidFill>
                  <a:srgbClr val="FFFFFF"/>
                </a:solidFill>
                <a:latin typeface="Calibri" pitchFamily="34" charset="0"/>
                <a:ea typeface="Calibri" pitchFamily="34" charset="-122"/>
                <a:cs typeface="Calibri" pitchFamily="34" charset="-120"/>
              </a:rPr>
              <a:t>With 4,500 rows × 6 variables, pairplot draws 30 scatter plots. It takes ~15-20 seconds in Colab. Tell students to run it and wait — do not double-click the cell. Save the output as a PNG for quick reference.</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457200" y="1005840"/>
            <a:ext cx="1920240" cy="1920240"/>
          </a:xfrm>
          <a:prstGeom prst="ellipse">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3" name="Text 1"/>
          <p:cNvSpPr/>
          <p:nvPr/>
        </p:nvSpPr>
        <p:spPr>
          <a:xfrm>
            <a:off x="457200" y="1005840"/>
            <a:ext cx="1920240" cy="1920240"/>
          </a:xfrm>
          <a:prstGeom prst="rect">
            <a:avLst/>
          </a:prstGeom>
          <a:noFill/>
          <a:ln/>
        </p:spPr>
        <p:txBody>
          <a:bodyPr wrap="square" lIns="0" tIns="0" rIns="0" bIns="0" rtlCol="0" anchor="ctr"/>
          <a:lstStyle/>
          <a:p>
            <a:pPr algn="ctr" indent="0" marL="0">
              <a:buNone/>
            </a:pPr>
            <a:r>
              <a:rPr lang="en-US" sz="5600" b="1" dirty="0">
                <a:solidFill>
                  <a:srgbClr val="FFFFFF"/>
                </a:solidFill>
                <a:latin typeface="Cambria" pitchFamily="34" charset="0"/>
                <a:ea typeface="Cambria" pitchFamily="34" charset="-122"/>
                <a:cs typeface="Cambria" pitchFamily="34" charset="-120"/>
              </a:rPr>
              <a:t>FINAL</a:t>
            </a:r>
            <a:endParaRPr lang="en-US" sz="5600" dirty="0"/>
          </a:p>
        </p:txBody>
      </p:sp>
      <p:sp>
        <p:nvSpPr>
          <p:cNvPr id="4" name="Text 2"/>
          <p:cNvSpPr/>
          <p:nvPr/>
        </p:nvSpPr>
        <p:spPr>
          <a:xfrm>
            <a:off x="2743200" y="1097280"/>
            <a:ext cx="9144000" cy="16459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Full End-to-End Project</a:t>
            </a:r>
            <a:endParaRPr lang="en-US" sz="4400" dirty="0"/>
          </a:p>
        </p:txBody>
      </p:sp>
      <p:sp>
        <p:nvSpPr>
          <p:cNvPr id="5" name="Text 3"/>
          <p:cNvSpPr/>
          <p:nvPr/>
        </p:nvSpPr>
        <p:spPr>
          <a:xfrm>
            <a:off x="2743200" y="2880360"/>
            <a:ext cx="9144000" cy="594360"/>
          </a:xfrm>
          <a:prstGeom prst="rect">
            <a:avLst/>
          </a:prstGeom>
          <a:noFill/>
          <a:ln/>
        </p:spPr>
        <p:txBody>
          <a:bodyPr wrap="square" lIns="0" tIns="0" rIns="0" bIns="0" rtlCol="0" anchor="ctr"/>
          <a:lstStyle/>
          <a:p>
            <a:pPr indent="0" marL="0">
              <a:buNone/>
            </a:pPr>
            <a:r>
              <a:rPr lang="en-US" sz="1500" i="1" dirty="0">
                <a:solidFill>
                  <a:srgbClr val="94A3B8"/>
                </a:solidFill>
                <a:latin typeface="Calibri" pitchFamily="34" charset="0"/>
                <a:ea typeface="Calibri" pitchFamily="34" charset="-122"/>
                <a:cs typeface="Calibri" pitchFamily="34" charset="-120"/>
              </a:rPr>
              <a:t>Load → Clean → Visualise → Present.</a:t>
            </a:r>
            <a:endParaRPr lang="en-US" sz="15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1D4ED8"/>
          </a:solidFill>
          <a:ln w="12700">
            <a:solidFill>
              <a:srgbClr val="1D4ED8"/>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THE END-TO-END NOTEBOOK — ALL IN ONE COLAB CELL SEQUENCE</a:t>
            </a:r>
            <a:endParaRPr lang="en-US" sz="2600" dirty="0"/>
          </a:p>
        </p:txBody>
      </p:sp>
      <p:sp>
        <p:nvSpPr>
          <p:cNvPr id="4" name="Shape 2"/>
          <p:cNvSpPr/>
          <p:nvPr/>
        </p:nvSpPr>
        <p:spPr>
          <a:xfrm>
            <a:off x="411480" y="1024128"/>
            <a:ext cx="11338560" cy="6007608"/>
          </a:xfrm>
          <a:prstGeom prst="roundRect">
            <a:avLst>
              <a:gd name="adj" fmla="val 1522"/>
            </a:avLst>
          </a:prstGeom>
          <a:solidFill>
            <a:srgbClr val="0D1117"/>
          </a:solidFill>
          <a:ln w="15240">
            <a:solidFill>
              <a:srgbClr val="0891B2"/>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11480" y="1024128"/>
            <a:ext cx="11338560" cy="347472"/>
          </a:xfrm>
          <a:prstGeom prst="roundRect">
            <a:avLst>
              <a:gd name="adj" fmla="val 26316"/>
            </a:avLst>
          </a:prstGeom>
          <a:solidFill>
            <a:srgbClr val="131F38"/>
          </a:solidFill>
          <a:ln w="12700">
            <a:solidFill>
              <a:srgbClr val="131F38"/>
            </a:solidFill>
            <a:prstDash val="solid"/>
          </a:ln>
        </p:spPr>
      </p:sp>
      <p:sp>
        <p:nvSpPr>
          <p:cNvPr id="6" name="Shape 4"/>
          <p:cNvSpPr/>
          <p:nvPr/>
        </p:nvSpPr>
        <p:spPr>
          <a:xfrm>
            <a:off x="411480" y="1225296"/>
            <a:ext cx="11338560" cy="146304"/>
          </a:xfrm>
          <a:prstGeom prst="rect">
            <a:avLst/>
          </a:prstGeom>
          <a:solidFill>
            <a:srgbClr val="131F38"/>
          </a:solidFill>
          <a:ln w="12700">
            <a:solidFill>
              <a:srgbClr val="131F38"/>
            </a:solidFill>
            <a:prstDash val="solid"/>
          </a:ln>
        </p:spPr>
      </p:sp>
      <p:sp>
        <p:nvSpPr>
          <p:cNvPr id="7" name="Shape 5"/>
          <p:cNvSpPr/>
          <p:nvPr/>
        </p:nvSpPr>
        <p:spPr>
          <a:xfrm>
            <a:off x="539496" y="1115568"/>
            <a:ext cx="164592" cy="164592"/>
          </a:xfrm>
          <a:prstGeom prst="ellipse">
            <a:avLst/>
          </a:prstGeom>
          <a:solidFill>
            <a:srgbClr val="E11D48"/>
          </a:solidFill>
          <a:ln w="12700">
            <a:solidFill>
              <a:srgbClr val="E11D48"/>
            </a:solidFill>
            <a:prstDash val="solid"/>
          </a:ln>
        </p:spPr>
      </p:sp>
      <p:sp>
        <p:nvSpPr>
          <p:cNvPr id="8" name="Shape 6"/>
          <p:cNvSpPr/>
          <p:nvPr/>
        </p:nvSpPr>
        <p:spPr>
          <a:xfrm>
            <a:off x="740664" y="1115568"/>
            <a:ext cx="164592" cy="164592"/>
          </a:xfrm>
          <a:prstGeom prst="ellipse">
            <a:avLst/>
          </a:prstGeom>
          <a:solidFill>
            <a:srgbClr val="D97706"/>
          </a:solidFill>
          <a:ln w="12700">
            <a:solidFill>
              <a:srgbClr val="D97706"/>
            </a:solidFill>
            <a:prstDash val="solid"/>
          </a:ln>
        </p:spPr>
      </p:sp>
      <p:sp>
        <p:nvSpPr>
          <p:cNvPr id="9" name="Shape 7"/>
          <p:cNvSpPr/>
          <p:nvPr/>
        </p:nvSpPr>
        <p:spPr>
          <a:xfrm>
            <a:off x="941832" y="1115568"/>
            <a:ext cx="164592" cy="164592"/>
          </a:xfrm>
          <a:prstGeom prst="ellipse">
            <a:avLst/>
          </a:prstGeom>
          <a:solidFill>
            <a:srgbClr val="16A34A"/>
          </a:solidFill>
          <a:ln w="12700">
            <a:solidFill>
              <a:srgbClr val="16A34A"/>
            </a:solidFill>
            <a:prstDash val="solid"/>
          </a:ln>
        </p:spPr>
      </p:sp>
      <p:sp>
        <p:nvSpPr>
          <p:cNvPr id="10" name="Text 8"/>
          <p:cNvSpPr/>
          <p:nvPr/>
        </p:nvSpPr>
        <p:spPr>
          <a:xfrm>
            <a:off x="1143000" y="1097280"/>
            <a:ext cx="10424160" cy="201168"/>
          </a:xfrm>
          <a:prstGeom prst="rect">
            <a:avLst/>
          </a:prstGeom>
          <a:noFill/>
          <a:ln/>
        </p:spPr>
        <p:txBody>
          <a:bodyPr wrap="square" lIns="0" tIns="0" rIns="0" bIns="0" rtlCol="0" anchor="ctr"/>
          <a:lstStyle/>
          <a:p>
            <a:pPr algn="ctr" indent="0" marL="0">
              <a:buNone/>
            </a:pPr>
            <a:r>
              <a:rPr lang="en-US" sz="900" dirty="0">
                <a:solidFill>
                  <a:srgbClr val="94A3B8"/>
                </a:solidFill>
                <a:latin typeface="Courier New" pitchFamily="34" charset="0"/>
                <a:ea typeface="Courier New" pitchFamily="34" charset="-122"/>
                <a:cs typeface="Courier New" pitchFamily="34" charset="-120"/>
              </a:rPr>
              <a:t>full_project.py</a:t>
            </a:r>
            <a:endParaRPr lang="en-US" sz="900" dirty="0"/>
          </a:p>
        </p:txBody>
      </p:sp>
      <p:sp>
        <p:nvSpPr>
          <p:cNvPr id="11" name="Text 9"/>
          <p:cNvSpPr/>
          <p:nvPr/>
        </p:nvSpPr>
        <p:spPr>
          <a:xfrm>
            <a:off x="557784" y="1426464"/>
            <a:ext cx="11064240" cy="5495544"/>
          </a:xfrm>
          <a:prstGeom prst="rect">
            <a:avLst/>
          </a:prstGeom>
          <a:noFill/>
          <a:ln/>
        </p:spPr>
        <p:txBody>
          <a:bodyPr wrap="square" lIns="0" tIns="0" rIns="0" bIns="0" rtlCol="0" anchor="t"/>
          <a:lstStyle/>
          <a:p>
            <a:pPr indent="0" marL="0">
              <a:buNone/>
            </a:pPr>
            <a:r>
              <a:rPr lang="en-US" sz="1050" dirty="0">
                <a:solidFill>
                  <a:srgbClr val="64748B"/>
                </a:solidFill>
                <a:latin typeface="Courier New" pitchFamily="34" charset="0"/>
                <a:ea typeface="Courier New" pitchFamily="34" charset="-122"/>
                <a:cs typeface="Courier New" pitchFamily="34" charset="-120"/>
              </a:rPr>
              <a:t># ═══ CELL 1: IMPORTS ══════════════════════════════════════════════════════════</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pandas as pd, numpy as np</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matplotlib.pyplot as plt, seaborn as sns</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import plotly.express as px</a:t>
            </a:r>
            <a:endParaRPr lang="en-US" sz="1050" dirty="0"/>
          </a:p>
          <a:p>
            <a:pPr indent="0" marL="0">
              <a:buNone/>
            </a:pPr>
            <a:r>
              <a:rPr lang="en-US" sz="1050" dirty="0">
                <a:solidFill>
                  <a:srgbClr val="2563EB"/>
                </a:solidFill>
                <a:latin typeface="Courier New" pitchFamily="34" charset="0"/>
                <a:ea typeface="Courier New" pitchFamily="34" charset="-122"/>
                <a:cs typeface="Courier New" pitchFamily="34" charset="-120"/>
              </a:rPr>
              <a:t>plt.style.use('seaborn-v0_8-darkgrid')</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CELL 2: LOAD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pd.read_csv('nigeria_retail_sales.csv')</a:t>
            </a:r>
            <a:endParaRPr lang="en-US" sz="1050" dirty="0"/>
          </a:p>
          <a:p>
            <a:pPr indent="0" marL="0">
              <a:buNone/>
            </a:pPr>
            <a:r>
              <a:rPr lang="en-US" sz="1050" dirty="0">
                <a:solidFill>
                  <a:srgbClr val="F9AB00"/>
                </a:solidFill>
                <a:latin typeface="Courier New" pitchFamily="34" charset="0"/>
                <a:ea typeface="Courier New" pitchFamily="34" charset="-122"/>
                <a:cs typeface="Courier New" pitchFamily="34" charset="-120"/>
              </a:rPr>
              <a:t>print(df.shape)                    # (4500, 19)</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CELL 3: INSPECT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print(df.isnull().sum()[df.isnull().sum()&gt;0])   # find nulls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print(df['region'].value_counts())              # spot UNKNOWN</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CELL 4: CLEAN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df['unit_price'] = df.groupby('category')['unit_price'].transform(lambda x: x.fillna(x.median()))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df['units']      = df.groupby('category')['units'].transform(lambda x: x.fillna(x.median()))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df['payment_mode'].fillna('Unknown', inplace=True)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df[df['unit_price'] &gt; 0]              # remove negatives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df[df['units'] &gt; 0]                   # remove zeros</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 = df[df['region'] != 'UNKNOWN']         # remove bad region</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df['date'] = pd.to_datetime(df['date'])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df['month_num'] = df['date'].dt.month</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df['category']  = df['category'].str.strip().str.title()</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df['revenue']   = df['units'] * df['unit_price']</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print(f'Clean shape: {df.shape}')</a:t>
            </a:r>
            <a:endParaRPr lang="en-US" sz="1050" dirty="0"/>
          </a:p>
          <a:p>
            <a:pPr indent="0" marL="0">
              <a:buNone/>
            </a:pP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CELL 5: VISUALISE — run each sub-cell independently ═══════════════════</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5a. Revenue by region (bar)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df.groupby('region')['revenue'].sum().sort_values(ascending=False).plot(kind='bar',color='#2563EB')</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plt.title('Revenue by Region'); plt.tight_layout(); plt.show()</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5b. Monthly trend (line)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df.groupby('month_num')['revenue'].sum().plot(kind='line',marker='o',color='#16A34A')</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plt.title('Monthly Revenue Trend'); plt.show()</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5c. Category share (pie)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df.groupby('category')['revenue'].sum().plot(kind='pie',autopct='%1.1f%%',startangle=90)</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plt.title('Revenue by Category'); plt.ylabel(''); plt.show()</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5d. Margin distribution (hist)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sns.histplot(df['margin_pct'], bins=40, kde=True, color='#7C3AED')</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plt.title('Profit Margin Distribution'); plt.show()</a:t>
            </a:r>
            <a:endParaRPr lang="en-US" sz="1050" dirty="0"/>
          </a:p>
          <a:p>
            <a:pPr indent="0" marL="0">
              <a:buNone/>
            </a:pPr>
            <a:r>
              <a:rPr lang="en-US" sz="1050" dirty="0">
                <a:solidFill>
                  <a:srgbClr val="64748B"/>
                </a:solidFill>
                <a:latin typeface="Courier New" pitchFamily="34" charset="0"/>
                <a:ea typeface="Courier New" pitchFamily="34" charset="-122"/>
                <a:cs typeface="Courier New" pitchFamily="34" charset="-120"/>
              </a:rPr>
              <a:t># ── 5e. Correlation heatmap ──────</a:t>
            </a:r>
            <a:endParaRPr lang="en-US" sz="1050" dirty="0"/>
          </a:p>
          <a:p>
            <a:pPr indent="0" marL="0">
              <a:buNone/>
            </a:pPr>
            <a:r>
              <a:rPr lang="en-US" sz="1050" dirty="0">
                <a:solidFill>
                  <a:srgbClr val="FFFFFF"/>
                </a:solidFill>
                <a:latin typeface="Courier New" pitchFamily="34" charset="0"/>
                <a:ea typeface="Courier New" pitchFamily="34" charset="-122"/>
                <a:cs typeface="Courier New" pitchFamily="34" charset="-120"/>
              </a:rPr>
              <a:t>sns.heatmap(df[['units','unit_price','revenue','profit','margin_pct']].corr(),annot=True,fmt='.2f',cmap='Blues')</a:t>
            </a:r>
            <a:endParaRPr lang="en-US" sz="1050" dirty="0"/>
          </a:p>
          <a:p>
            <a:pPr indent="0" marL="0">
              <a:buNone/>
            </a:pPr>
            <a:r>
              <a:rPr lang="en-US" sz="1050" dirty="0">
                <a:solidFill>
                  <a:srgbClr val="16A34A"/>
                </a:solidFill>
                <a:latin typeface="Courier New" pitchFamily="34" charset="0"/>
                <a:ea typeface="Courier New" pitchFamily="34" charset="-122"/>
                <a:cs typeface="Courier New" pitchFamily="34" charset="-120"/>
              </a:rPr>
              <a:t>plt.title('Correlation Matrix'); plt.show()</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960120"/>
          </a:xfrm>
          <a:prstGeom prst="rect">
            <a:avLst/>
          </a:prstGeom>
          <a:solidFill>
            <a:srgbClr val="0D1B3E"/>
          </a:solidFill>
          <a:ln w="12700">
            <a:solidFill>
              <a:srgbClr val="0D1B3E"/>
            </a:solidFill>
            <a:prstDash val="solid"/>
          </a:ln>
        </p:spPr>
      </p:sp>
      <p:sp>
        <p:nvSpPr>
          <p:cNvPr id="3" name="Text 1"/>
          <p:cNvSpPr/>
          <p:nvPr/>
        </p:nvSpPr>
        <p:spPr>
          <a:xfrm>
            <a:off x="411480" y="91440"/>
            <a:ext cx="11338560" cy="777240"/>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QUICK REFERENCE — DATA CLEANING AND VISUALISATION CHEAT SHEET</a:t>
            </a:r>
            <a:endParaRPr lang="en-US" sz="2600" dirty="0"/>
          </a:p>
        </p:txBody>
      </p:sp>
      <p:sp>
        <p:nvSpPr>
          <p:cNvPr id="4" name="Shape 2"/>
          <p:cNvSpPr/>
          <p:nvPr/>
        </p:nvSpPr>
        <p:spPr>
          <a:xfrm>
            <a:off x="411480" y="1051560"/>
            <a:ext cx="3639312" cy="1389888"/>
          </a:xfrm>
          <a:prstGeom prst="roundRect">
            <a:avLst>
              <a:gd name="adj" fmla="val 6579"/>
            </a:avLst>
          </a:prstGeom>
          <a:solidFill>
            <a:srgbClr val="F1F5F9"/>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5" name="Text 3"/>
          <p:cNvSpPr/>
          <p:nvPr/>
        </p:nvSpPr>
        <p:spPr>
          <a:xfrm>
            <a:off x="539496" y="1143000"/>
            <a:ext cx="3383280"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Load and inspect</a:t>
            </a:r>
            <a:endParaRPr lang="en-US" sz="1100" dirty="0"/>
          </a:p>
        </p:txBody>
      </p:sp>
      <p:sp>
        <p:nvSpPr>
          <p:cNvPr id="6" name="Text 4"/>
          <p:cNvSpPr/>
          <p:nvPr/>
        </p:nvSpPr>
        <p:spPr>
          <a:xfrm>
            <a:off x="539496" y="1453896"/>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pd.read_csv()  df.info()  df.describe()</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df.isnull().sum()  df.duplicated().sum()</a:t>
            </a:r>
            <a:endParaRPr lang="en-US" sz="950" dirty="0"/>
          </a:p>
        </p:txBody>
      </p:sp>
      <p:sp>
        <p:nvSpPr>
          <p:cNvPr id="7" name="Shape 5"/>
          <p:cNvSpPr/>
          <p:nvPr/>
        </p:nvSpPr>
        <p:spPr>
          <a:xfrm>
            <a:off x="4251960" y="1051560"/>
            <a:ext cx="3639312" cy="1389888"/>
          </a:xfrm>
          <a:prstGeom prst="roundRect">
            <a:avLst>
              <a:gd name="adj" fmla="val 6579"/>
            </a:avLst>
          </a:prstGeom>
          <a:solidFill>
            <a:srgbClr val="F1F5F9"/>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8" name="Text 6"/>
          <p:cNvSpPr/>
          <p:nvPr/>
        </p:nvSpPr>
        <p:spPr>
          <a:xfrm>
            <a:off x="4379976" y="1143000"/>
            <a:ext cx="3383280"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Handle missing</a:t>
            </a:r>
            <a:endParaRPr lang="en-US" sz="1100" dirty="0"/>
          </a:p>
        </p:txBody>
      </p:sp>
      <p:sp>
        <p:nvSpPr>
          <p:cNvPr id="9" name="Text 7"/>
          <p:cNvSpPr/>
          <p:nvPr/>
        </p:nvSpPr>
        <p:spPr>
          <a:xfrm>
            <a:off x="4379976" y="1453896"/>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df.fillna(value)  df.dropna(subset=[])</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df.groupby(col)[col2].transform('median')</a:t>
            </a:r>
            <a:endParaRPr lang="en-US" sz="950" dirty="0"/>
          </a:p>
        </p:txBody>
      </p:sp>
      <p:sp>
        <p:nvSpPr>
          <p:cNvPr id="10" name="Shape 8"/>
          <p:cNvSpPr/>
          <p:nvPr/>
        </p:nvSpPr>
        <p:spPr>
          <a:xfrm>
            <a:off x="8092440" y="1051560"/>
            <a:ext cx="3639312" cy="1389888"/>
          </a:xfrm>
          <a:prstGeom prst="roundRect">
            <a:avLst>
              <a:gd name="adj" fmla="val 6579"/>
            </a:avLst>
          </a:prstGeom>
          <a:solidFill>
            <a:srgbClr val="F1F5F9"/>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11" name="Text 9"/>
          <p:cNvSpPr/>
          <p:nvPr/>
        </p:nvSpPr>
        <p:spPr>
          <a:xfrm>
            <a:off x="8220456" y="1143000"/>
            <a:ext cx="3383280"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Fix types</a:t>
            </a:r>
            <a:endParaRPr lang="en-US" sz="1100" dirty="0"/>
          </a:p>
        </p:txBody>
      </p:sp>
      <p:sp>
        <p:nvSpPr>
          <p:cNvPr id="12" name="Text 10"/>
          <p:cNvSpPr/>
          <p:nvPr/>
        </p:nvSpPr>
        <p:spPr>
          <a:xfrm>
            <a:off x="8220456" y="1453896"/>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pd.to_datetime()  .astype('float')</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.str.strip().str.title()  .str.replace()</a:t>
            </a:r>
            <a:endParaRPr lang="en-US" sz="950" dirty="0"/>
          </a:p>
        </p:txBody>
      </p:sp>
      <p:sp>
        <p:nvSpPr>
          <p:cNvPr id="13" name="Shape 11"/>
          <p:cNvSpPr/>
          <p:nvPr/>
        </p:nvSpPr>
        <p:spPr>
          <a:xfrm>
            <a:off x="411480" y="2532888"/>
            <a:ext cx="3639312" cy="1389888"/>
          </a:xfrm>
          <a:prstGeom prst="roundRect">
            <a:avLst>
              <a:gd name="adj" fmla="val 6579"/>
            </a:avLst>
          </a:prstGeom>
          <a:solidFill>
            <a:srgbClr val="F1F5F9"/>
          </a:solidFill>
          <a:ln w="13970">
            <a:solidFill>
              <a:srgbClr val="D97706"/>
            </a:solidFill>
            <a:prstDash val="solid"/>
          </a:ln>
          <a:effectLst>
            <a:outerShdw sx="100000" sy="100000" kx="0" ky="0" algn="bl" rotWithShape="0" blurRad="63500" dist="25400" dir="2700000">
              <a:srgbClr val="000000">
                <a:alpha val="12000"/>
              </a:srgbClr>
            </a:outerShdw>
          </a:effectLst>
        </p:spPr>
      </p:sp>
      <p:sp>
        <p:nvSpPr>
          <p:cNvPr id="14" name="Text 12"/>
          <p:cNvSpPr/>
          <p:nvPr/>
        </p:nvSpPr>
        <p:spPr>
          <a:xfrm>
            <a:off x="539496" y="2624328"/>
            <a:ext cx="3383280" cy="274320"/>
          </a:xfrm>
          <a:prstGeom prst="rect">
            <a:avLst/>
          </a:prstGeom>
          <a:noFill/>
          <a:ln/>
        </p:spPr>
        <p:txBody>
          <a:bodyPr wrap="square" lIns="0" tIns="0" rIns="0" bIns="0" rtlCol="0" anchor="ctr"/>
          <a:lstStyle/>
          <a:p>
            <a:pPr indent="0" marL="0">
              <a:buNone/>
            </a:pPr>
            <a:r>
              <a:rPr lang="en-US" sz="1100" b="1" dirty="0">
                <a:solidFill>
                  <a:srgbClr val="D97706"/>
                </a:solidFill>
                <a:latin typeface="Cambria" pitchFamily="34" charset="0"/>
                <a:ea typeface="Cambria" pitchFamily="34" charset="-122"/>
                <a:cs typeface="Cambria" pitchFamily="34" charset="-120"/>
              </a:rPr>
              <a:t>Filter bad data</a:t>
            </a:r>
            <a:endParaRPr lang="en-US" sz="1100" dirty="0"/>
          </a:p>
        </p:txBody>
      </p:sp>
      <p:sp>
        <p:nvSpPr>
          <p:cNvPr id="15" name="Text 13"/>
          <p:cNvSpPr/>
          <p:nvPr/>
        </p:nvSpPr>
        <p:spPr>
          <a:xfrm>
            <a:off x="539496" y="2935224"/>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df[df['col'] &gt; 0]</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df[df['col'].isin(valid_list)]</a:t>
            </a:r>
            <a:endParaRPr lang="en-US" sz="950" dirty="0"/>
          </a:p>
        </p:txBody>
      </p:sp>
      <p:sp>
        <p:nvSpPr>
          <p:cNvPr id="16" name="Shape 14"/>
          <p:cNvSpPr/>
          <p:nvPr/>
        </p:nvSpPr>
        <p:spPr>
          <a:xfrm>
            <a:off x="4251960" y="2532888"/>
            <a:ext cx="3639312" cy="1389888"/>
          </a:xfrm>
          <a:prstGeom prst="roundRect">
            <a:avLst>
              <a:gd name="adj" fmla="val 6579"/>
            </a:avLst>
          </a:prstGeom>
          <a:solidFill>
            <a:srgbClr val="F1F5F9"/>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17" name="Text 15"/>
          <p:cNvSpPr/>
          <p:nvPr/>
        </p:nvSpPr>
        <p:spPr>
          <a:xfrm>
            <a:off x="4379976" y="2624328"/>
            <a:ext cx="3383280"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Outliers</a:t>
            </a:r>
            <a:endParaRPr lang="en-US" sz="1100" dirty="0"/>
          </a:p>
        </p:txBody>
      </p:sp>
      <p:sp>
        <p:nvSpPr>
          <p:cNvPr id="18" name="Text 16"/>
          <p:cNvSpPr/>
          <p:nvPr/>
        </p:nvSpPr>
        <p:spPr>
          <a:xfrm>
            <a:off x="4379976" y="2935224"/>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Q1=.quantile(0.25)  Q3=.quantile(0.75)</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df[(df&gt;Q1-1.5*(Q3-Q1))&amp;(df&lt;Q3+1.5*(Q3-Q1))]</a:t>
            </a:r>
            <a:endParaRPr lang="en-US" sz="950" dirty="0"/>
          </a:p>
        </p:txBody>
      </p:sp>
      <p:sp>
        <p:nvSpPr>
          <p:cNvPr id="19" name="Shape 17"/>
          <p:cNvSpPr/>
          <p:nvPr/>
        </p:nvSpPr>
        <p:spPr>
          <a:xfrm>
            <a:off x="8092440" y="2532888"/>
            <a:ext cx="3639312" cy="1389888"/>
          </a:xfrm>
          <a:prstGeom prst="roundRect">
            <a:avLst>
              <a:gd name="adj" fmla="val 6579"/>
            </a:avLst>
          </a:prstGeom>
          <a:solidFill>
            <a:srgbClr val="F1F5F9"/>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20" name="Text 18"/>
          <p:cNvSpPr/>
          <p:nvPr/>
        </p:nvSpPr>
        <p:spPr>
          <a:xfrm>
            <a:off x="8220456" y="2624328"/>
            <a:ext cx="3383280"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Aggregation</a:t>
            </a:r>
            <a:endParaRPr lang="en-US" sz="1100" dirty="0"/>
          </a:p>
        </p:txBody>
      </p:sp>
      <p:sp>
        <p:nvSpPr>
          <p:cNvPr id="21" name="Text 19"/>
          <p:cNvSpPr/>
          <p:nvPr/>
        </p:nvSpPr>
        <p:spPr>
          <a:xfrm>
            <a:off x="8220456" y="2935224"/>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df.groupby(col)[col2].sum()</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df.pivot_table(index,columns,values,aggfunc)</a:t>
            </a:r>
            <a:endParaRPr lang="en-US" sz="950" dirty="0"/>
          </a:p>
        </p:txBody>
      </p:sp>
      <p:sp>
        <p:nvSpPr>
          <p:cNvPr id="22" name="Shape 20"/>
          <p:cNvSpPr/>
          <p:nvPr/>
        </p:nvSpPr>
        <p:spPr>
          <a:xfrm>
            <a:off x="411480" y="4014216"/>
            <a:ext cx="3639312" cy="1389888"/>
          </a:xfrm>
          <a:prstGeom prst="roundRect">
            <a:avLst>
              <a:gd name="adj" fmla="val 6579"/>
            </a:avLst>
          </a:prstGeom>
          <a:solidFill>
            <a:srgbClr val="F1F5F9"/>
          </a:solidFill>
          <a:ln w="13970">
            <a:solidFill>
              <a:srgbClr val="2563EB"/>
            </a:solidFill>
            <a:prstDash val="solid"/>
          </a:ln>
          <a:effectLst>
            <a:outerShdw sx="100000" sy="100000" kx="0" ky="0" algn="bl" rotWithShape="0" blurRad="63500" dist="25400" dir="2700000">
              <a:srgbClr val="000000">
                <a:alpha val="12000"/>
              </a:srgbClr>
            </a:outerShdw>
          </a:effectLst>
        </p:spPr>
      </p:sp>
      <p:sp>
        <p:nvSpPr>
          <p:cNvPr id="23" name="Text 21"/>
          <p:cNvSpPr/>
          <p:nvPr/>
        </p:nvSpPr>
        <p:spPr>
          <a:xfrm>
            <a:off x="539496" y="4105656"/>
            <a:ext cx="3383280" cy="274320"/>
          </a:xfrm>
          <a:prstGeom prst="rect">
            <a:avLst/>
          </a:prstGeom>
          <a:noFill/>
          <a:ln/>
        </p:spPr>
        <p:txBody>
          <a:bodyPr wrap="square" lIns="0" tIns="0" rIns="0" bIns="0" rtlCol="0" anchor="ctr"/>
          <a:lstStyle/>
          <a:p>
            <a:pPr indent="0" marL="0">
              <a:buNone/>
            </a:pPr>
            <a:r>
              <a:rPr lang="en-US" sz="1100" b="1" dirty="0">
                <a:solidFill>
                  <a:srgbClr val="2563EB"/>
                </a:solidFill>
                <a:latin typeface="Cambria" pitchFamily="34" charset="0"/>
                <a:ea typeface="Cambria" pitchFamily="34" charset="-122"/>
                <a:cs typeface="Cambria" pitchFamily="34" charset="-120"/>
              </a:rPr>
              <a:t>Matplotlib</a:t>
            </a:r>
            <a:endParaRPr lang="en-US" sz="1100" dirty="0"/>
          </a:p>
        </p:txBody>
      </p:sp>
      <p:sp>
        <p:nvSpPr>
          <p:cNvPr id="24" name="Text 22"/>
          <p:cNvSpPr/>
          <p:nvPr/>
        </p:nvSpPr>
        <p:spPr>
          <a:xfrm>
            <a:off x="539496" y="4416552"/>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plt.subplots()  ax.bar()  ax.plot()</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ax.scatter()  ax.hist()  ax.set_title()</a:t>
            </a:r>
            <a:endParaRPr lang="en-US" sz="950" dirty="0"/>
          </a:p>
        </p:txBody>
      </p:sp>
      <p:sp>
        <p:nvSpPr>
          <p:cNvPr id="25" name="Shape 23"/>
          <p:cNvSpPr/>
          <p:nvPr/>
        </p:nvSpPr>
        <p:spPr>
          <a:xfrm>
            <a:off x="4251960" y="4014216"/>
            <a:ext cx="3639312" cy="1389888"/>
          </a:xfrm>
          <a:prstGeom prst="roundRect">
            <a:avLst>
              <a:gd name="adj" fmla="val 6579"/>
            </a:avLst>
          </a:prstGeom>
          <a:solidFill>
            <a:srgbClr val="F1F5F9"/>
          </a:solidFill>
          <a:ln w="13970">
            <a:solidFill>
              <a:srgbClr val="7C3AED"/>
            </a:solidFill>
            <a:prstDash val="solid"/>
          </a:ln>
          <a:effectLst>
            <a:outerShdw sx="100000" sy="100000" kx="0" ky="0" algn="bl" rotWithShape="0" blurRad="63500" dist="25400" dir="2700000">
              <a:srgbClr val="000000">
                <a:alpha val="12000"/>
              </a:srgbClr>
            </a:outerShdw>
          </a:effectLst>
        </p:spPr>
      </p:sp>
      <p:sp>
        <p:nvSpPr>
          <p:cNvPr id="26" name="Text 24"/>
          <p:cNvSpPr/>
          <p:nvPr/>
        </p:nvSpPr>
        <p:spPr>
          <a:xfrm>
            <a:off x="4379976" y="4105656"/>
            <a:ext cx="3383280" cy="274320"/>
          </a:xfrm>
          <a:prstGeom prst="rect">
            <a:avLst/>
          </a:prstGeom>
          <a:noFill/>
          <a:ln/>
        </p:spPr>
        <p:txBody>
          <a:bodyPr wrap="square" lIns="0" tIns="0" rIns="0" bIns="0" rtlCol="0" anchor="ctr"/>
          <a:lstStyle/>
          <a:p>
            <a:pPr indent="0" marL="0">
              <a:buNone/>
            </a:pPr>
            <a:r>
              <a:rPr lang="en-US" sz="1100" b="1" dirty="0">
                <a:solidFill>
                  <a:srgbClr val="7C3AED"/>
                </a:solidFill>
                <a:latin typeface="Cambria" pitchFamily="34" charset="0"/>
                <a:ea typeface="Cambria" pitchFamily="34" charset="-122"/>
                <a:cs typeface="Cambria" pitchFamily="34" charset="-120"/>
              </a:rPr>
              <a:t>Seaborn</a:t>
            </a:r>
            <a:endParaRPr lang="en-US" sz="1100" dirty="0"/>
          </a:p>
        </p:txBody>
      </p:sp>
      <p:sp>
        <p:nvSpPr>
          <p:cNvPr id="27" name="Text 25"/>
          <p:cNvSpPr/>
          <p:nvPr/>
        </p:nvSpPr>
        <p:spPr>
          <a:xfrm>
            <a:off x="4379976" y="4416552"/>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sns.barplot()  sns.lineplot()  sns.boxplot()</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sns.heatmap()  sns.histplot(kde=True)</a:t>
            </a:r>
            <a:endParaRPr lang="en-US" sz="950" dirty="0"/>
          </a:p>
        </p:txBody>
      </p:sp>
      <p:sp>
        <p:nvSpPr>
          <p:cNvPr id="28" name="Shape 26"/>
          <p:cNvSpPr/>
          <p:nvPr/>
        </p:nvSpPr>
        <p:spPr>
          <a:xfrm>
            <a:off x="8092440" y="4014216"/>
            <a:ext cx="3639312" cy="1389888"/>
          </a:xfrm>
          <a:prstGeom prst="roundRect">
            <a:avLst>
              <a:gd name="adj" fmla="val 6579"/>
            </a:avLst>
          </a:prstGeom>
          <a:solidFill>
            <a:srgbClr val="F1F5F9"/>
          </a:solidFill>
          <a:ln w="13970">
            <a:solidFill>
              <a:srgbClr val="F9AB00"/>
            </a:solidFill>
            <a:prstDash val="solid"/>
          </a:ln>
          <a:effectLst>
            <a:outerShdw sx="100000" sy="100000" kx="0" ky="0" algn="bl" rotWithShape="0" blurRad="63500" dist="25400" dir="2700000">
              <a:srgbClr val="000000">
                <a:alpha val="12000"/>
              </a:srgbClr>
            </a:outerShdw>
          </a:effectLst>
        </p:spPr>
      </p:sp>
      <p:sp>
        <p:nvSpPr>
          <p:cNvPr id="29" name="Text 27"/>
          <p:cNvSpPr/>
          <p:nvPr/>
        </p:nvSpPr>
        <p:spPr>
          <a:xfrm>
            <a:off x="8220456" y="4105656"/>
            <a:ext cx="3383280" cy="274320"/>
          </a:xfrm>
          <a:prstGeom prst="rect">
            <a:avLst/>
          </a:prstGeom>
          <a:noFill/>
          <a:ln/>
        </p:spPr>
        <p:txBody>
          <a:bodyPr wrap="square" lIns="0" tIns="0" rIns="0" bIns="0" rtlCol="0" anchor="ctr"/>
          <a:lstStyle/>
          <a:p>
            <a:pPr indent="0" marL="0">
              <a:buNone/>
            </a:pPr>
            <a:r>
              <a:rPr lang="en-US" sz="1100" b="1" dirty="0">
                <a:solidFill>
                  <a:srgbClr val="F9AB00"/>
                </a:solidFill>
                <a:latin typeface="Cambria" pitchFamily="34" charset="0"/>
                <a:ea typeface="Cambria" pitchFamily="34" charset="-122"/>
                <a:cs typeface="Cambria" pitchFamily="34" charset="-120"/>
              </a:rPr>
              <a:t>Plotly</a:t>
            </a:r>
            <a:endParaRPr lang="en-US" sz="1100" dirty="0"/>
          </a:p>
        </p:txBody>
      </p:sp>
      <p:sp>
        <p:nvSpPr>
          <p:cNvPr id="30" name="Text 28"/>
          <p:cNvSpPr/>
          <p:nvPr/>
        </p:nvSpPr>
        <p:spPr>
          <a:xfrm>
            <a:off x="8220456" y="4416552"/>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px.bar()  px.line()  px.pie()  px.scatter()</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px.area()  px.histogram()  fig.show()</a:t>
            </a:r>
            <a:endParaRPr lang="en-US" sz="950" dirty="0"/>
          </a:p>
        </p:txBody>
      </p:sp>
      <p:sp>
        <p:nvSpPr>
          <p:cNvPr id="31" name="Shape 29"/>
          <p:cNvSpPr/>
          <p:nvPr/>
        </p:nvSpPr>
        <p:spPr>
          <a:xfrm>
            <a:off x="411480" y="5495544"/>
            <a:ext cx="3639312" cy="1389888"/>
          </a:xfrm>
          <a:prstGeom prst="roundRect">
            <a:avLst>
              <a:gd name="adj" fmla="val 6579"/>
            </a:avLst>
          </a:prstGeom>
          <a:solidFill>
            <a:srgbClr val="F1F5F9"/>
          </a:solidFill>
          <a:ln w="13970">
            <a:solidFill>
              <a:srgbClr val="E11D48"/>
            </a:solidFill>
            <a:prstDash val="solid"/>
          </a:ln>
          <a:effectLst>
            <a:outerShdw sx="100000" sy="100000" kx="0" ky="0" algn="bl" rotWithShape="0" blurRad="63500" dist="25400" dir="2700000">
              <a:srgbClr val="000000">
                <a:alpha val="12000"/>
              </a:srgbClr>
            </a:outerShdw>
          </a:effectLst>
        </p:spPr>
      </p:sp>
      <p:sp>
        <p:nvSpPr>
          <p:cNvPr id="32" name="Text 30"/>
          <p:cNvSpPr/>
          <p:nvPr/>
        </p:nvSpPr>
        <p:spPr>
          <a:xfrm>
            <a:off x="539496" y="5586984"/>
            <a:ext cx="3383280" cy="274320"/>
          </a:xfrm>
          <a:prstGeom prst="rect">
            <a:avLst/>
          </a:prstGeom>
          <a:noFill/>
          <a:ln/>
        </p:spPr>
        <p:txBody>
          <a:bodyPr wrap="square" lIns="0" tIns="0" rIns="0" bIns="0" rtlCol="0" anchor="ctr"/>
          <a:lstStyle/>
          <a:p>
            <a:pPr indent="0" marL="0">
              <a:buNone/>
            </a:pPr>
            <a:r>
              <a:rPr lang="en-US" sz="1100" b="1" dirty="0">
                <a:solidFill>
                  <a:srgbClr val="E11D48"/>
                </a:solidFill>
                <a:latin typeface="Cambria" pitchFamily="34" charset="0"/>
                <a:ea typeface="Cambria" pitchFamily="34" charset="-122"/>
                <a:cs typeface="Cambria" pitchFamily="34" charset="-120"/>
              </a:rPr>
              <a:t>Chart guide</a:t>
            </a:r>
            <a:endParaRPr lang="en-US" sz="1100" dirty="0"/>
          </a:p>
        </p:txBody>
      </p:sp>
      <p:sp>
        <p:nvSpPr>
          <p:cNvPr id="33" name="Text 31"/>
          <p:cNvSpPr/>
          <p:nvPr/>
        </p:nvSpPr>
        <p:spPr>
          <a:xfrm>
            <a:off x="539496" y="5897880"/>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Compare categories → Bar</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Trend over time → Line</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Proportion → Pie/Donut</a:t>
            </a:r>
            <a:endParaRPr lang="en-US" sz="950" dirty="0"/>
          </a:p>
        </p:txBody>
      </p:sp>
      <p:sp>
        <p:nvSpPr>
          <p:cNvPr id="34" name="Shape 32"/>
          <p:cNvSpPr/>
          <p:nvPr/>
        </p:nvSpPr>
        <p:spPr>
          <a:xfrm>
            <a:off x="4251960" y="5495544"/>
            <a:ext cx="3639312" cy="1389888"/>
          </a:xfrm>
          <a:prstGeom prst="roundRect">
            <a:avLst>
              <a:gd name="adj" fmla="val 6579"/>
            </a:avLst>
          </a:prstGeom>
          <a:solidFill>
            <a:srgbClr val="F1F5F9"/>
          </a:solidFill>
          <a:ln w="13970">
            <a:solidFill>
              <a:srgbClr val="0891B2"/>
            </a:solidFill>
            <a:prstDash val="solid"/>
          </a:ln>
          <a:effectLst>
            <a:outerShdw sx="100000" sy="100000" kx="0" ky="0" algn="bl" rotWithShape="0" blurRad="63500" dist="25400" dir="2700000">
              <a:srgbClr val="000000">
                <a:alpha val="12000"/>
              </a:srgbClr>
            </a:outerShdw>
          </a:effectLst>
        </p:spPr>
      </p:sp>
      <p:sp>
        <p:nvSpPr>
          <p:cNvPr id="35" name="Text 33"/>
          <p:cNvSpPr/>
          <p:nvPr/>
        </p:nvSpPr>
        <p:spPr>
          <a:xfrm>
            <a:off x="4379976" y="5586984"/>
            <a:ext cx="3383280" cy="274320"/>
          </a:xfrm>
          <a:prstGeom prst="rect">
            <a:avLst/>
          </a:prstGeom>
          <a:noFill/>
          <a:ln/>
        </p:spPr>
        <p:txBody>
          <a:bodyPr wrap="square" lIns="0" tIns="0" rIns="0" bIns="0" rtlCol="0" anchor="ctr"/>
          <a:lstStyle/>
          <a:p>
            <a:pPr indent="0" marL="0">
              <a:buNone/>
            </a:pPr>
            <a:r>
              <a:rPr lang="en-US" sz="1100" b="1" dirty="0">
                <a:solidFill>
                  <a:srgbClr val="0891B2"/>
                </a:solidFill>
                <a:latin typeface="Cambria" pitchFamily="34" charset="0"/>
                <a:ea typeface="Cambria" pitchFamily="34" charset="-122"/>
                <a:cs typeface="Cambria" pitchFamily="34" charset="-120"/>
              </a:rPr>
              <a:t>Chart guide 2</a:t>
            </a:r>
            <a:endParaRPr lang="en-US" sz="1100" dirty="0"/>
          </a:p>
        </p:txBody>
      </p:sp>
      <p:sp>
        <p:nvSpPr>
          <p:cNvPr id="36" name="Text 34"/>
          <p:cNvSpPr/>
          <p:nvPr/>
        </p:nvSpPr>
        <p:spPr>
          <a:xfrm>
            <a:off x="4379976" y="5897880"/>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Relationship → Scatter</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Distribution → Histogram</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Spread + outliers → Box</a:t>
            </a:r>
            <a:endParaRPr lang="en-US" sz="950" dirty="0"/>
          </a:p>
        </p:txBody>
      </p:sp>
      <p:sp>
        <p:nvSpPr>
          <p:cNvPr id="37" name="Shape 35"/>
          <p:cNvSpPr/>
          <p:nvPr/>
        </p:nvSpPr>
        <p:spPr>
          <a:xfrm>
            <a:off x="8092440" y="5495544"/>
            <a:ext cx="3639312" cy="1389888"/>
          </a:xfrm>
          <a:prstGeom prst="roundRect">
            <a:avLst>
              <a:gd name="adj" fmla="val 6579"/>
            </a:avLst>
          </a:prstGeom>
          <a:solidFill>
            <a:srgbClr val="F1F5F9"/>
          </a:solidFill>
          <a:ln w="13970">
            <a:solidFill>
              <a:srgbClr val="16A34A"/>
            </a:solidFill>
            <a:prstDash val="solid"/>
          </a:ln>
          <a:effectLst>
            <a:outerShdw sx="100000" sy="100000" kx="0" ky="0" algn="bl" rotWithShape="0" blurRad="63500" dist="25400" dir="2700000">
              <a:srgbClr val="000000">
                <a:alpha val="12000"/>
              </a:srgbClr>
            </a:outerShdw>
          </a:effectLst>
        </p:spPr>
      </p:sp>
      <p:sp>
        <p:nvSpPr>
          <p:cNvPr id="38" name="Text 36"/>
          <p:cNvSpPr/>
          <p:nvPr/>
        </p:nvSpPr>
        <p:spPr>
          <a:xfrm>
            <a:off x="8220456" y="5586984"/>
            <a:ext cx="3383280" cy="274320"/>
          </a:xfrm>
          <a:prstGeom prst="rect">
            <a:avLst/>
          </a:prstGeom>
          <a:noFill/>
          <a:ln/>
        </p:spPr>
        <p:txBody>
          <a:bodyPr wrap="square" lIns="0" tIns="0" rIns="0" bIns="0" rtlCol="0" anchor="ctr"/>
          <a:lstStyle/>
          <a:p>
            <a:pPr indent="0" marL="0">
              <a:buNone/>
            </a:pPr>
            <a:r>
              <a:rPr lang="en-US" sz="1100" b="1" dirty="0">
                <a:solidFill>
                  <a:srgbClr val="16A34A"/>
                </a:solidFill>
                <a:latin typeface="Cambria" pitchFamily="34" charset="0"/>
                <a:ea typeface="Cambria" pitchFamily="34" charset="-122"/>
                <a:cs typeface="Cambria" pitchFamily="34" charset="-120"/>
              </a:rPr>
              <a:t>Style</a:t>
            </a:r>
            <a:endParaRPr lang="en-US" sz="1100" dirty="0"/>
          </a:p>
        </p:txBody>
      </p:sp>
      <p:sp>
        <p:nvSpPr>
          <p:cNvPr id="39" name="Text 37"/>
          <p:cNvSpPr/>
          <p:nvPr/>
        </p:nvSpPr>
        <p:spPr>
          <a:xfrm>
            <a:off x="8220456" y="5897880"/>
            <a:ext cx="3383280" cy="914400"/>
          </a:xfrm>
          <a:prstGeom prst="rect">
            <a:avLst/>
          </a:prstGeom>
          <a:noFill/>
          <a:ln/>
        </p:spPr>
        <p:txBody>
          <a:bodyPr wrap="square" lIns="0" tIns="0" rIns="0" bIns="0" rtlCol="0" anchor="ctr"/>
          <a:lstStyle/>
          <a:p>
            <a:pPr indent="0" marL="0">
              <a:buNone/>
            </a:pPr>
            <a:r>
              <a:rPr lang="en-US" sz="950" dirty="0">
                <a:solidFill>
                  <a:srgbClr val="0A1220"/>
                </a:solidFill>
                <a:latin typeface="Courier New" pitchFamily="34" charset="0"/>
                <a:ea typeface="Courier New" pitchFamily="34" charset="-122"/>
                <a:cs typeface="Courier New" pitchFamily="34" charset="-120"/>
              </a:rPr>
              <a:t>plt.style.use('seaborn-v0_8-darkgrid')</a:t>
            </a:r>
            <a:endParaRPr lang="en-US" sz="950" dirty="0"/>
          </a:p>
          <a:p>
            <a:pPr indent="0" marL="0">
              <a:buNone/>
            </a:pPr>
            <a:r>
              <a:rPr lang="en-US" sz="950" dirty="0">
                <a:solidFill>
                  <a:srgbClr val="0A1220"/>
                </a:solidFill>
                <a:latin typeface="Courier New" pitchFamily="34" charset="0"/>
                <a:ea typeface="Courier New" pitchFamily="34" charset="-122"/>
                <a:cs typeface="Courier New" pitchFamily="34" charset="-120"/>
              </a:rPr>
              <a:t>plt.rcParams.update({'figure.figsize':(12,6)})</a:t>
            </a:r>
            <a:endParaRPr lang="en-US" sz="9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70C18"/>
        </a:solidFill>
      </p:bgPr>
    </p:bg>
    <p:spTree>
      <p:nvGrpSpPr>
        <p:cNvPr id="1" name=""/>
        <p:cNvGrpSpPr/>
        <p:nvPr/>
      </p:nvGrpSpPr>
      <p:grpSpPr>
        <a:xfrm>
          <a:off x="0" y="0"/>
          <a:ext cx="0" cy="0"/>
          <a:chOff x="0" y="0"/>
          <a:chExt cx="0" cy="0"/>
        </a:xfrm>
      </p:grpSpPr>
      <p:sp>
        <p:nvSpPr>
          <p:cNvPr id="2" name="Shape 0"/>
          <p:cNvSpPr/>
          <p:nvPr/>
        </p:nvSpPr>
        <p:spPr>
          <a:xfrm>
            <a:off x="0" y="0"/>
            <a:ext cx="5029200" cy="6858000"/>
          </a:xfrm>
          <a:prstGeom prst="rect">
            <a:avLst/>
          </a:prstGeom>
          <a:solidFill>
            <a:srgbClr val="0D1B3E"/>
          </a:solidFill>
          <a:ln w="12700">
            <a:solidFill>
              <a:srgbClr val="0D1B3E"/>
            </a:solidFill>
            <a:prstDash val="solid"/>
          </a:ln>
        </p:spPr>
      </p:sp>
      <p:sp>
        <p:nvSpPr>
          <p:cNvPr id="3" name="Shape 1"/>
          <p:cNvSpPr/>
          <p:nvPr/>
        </p:nvSpPr>
        <p:spPr>
          <a:xfrm>
            <a:off x="402336" y="402336"/>
            <a:ext cx="1828800" cy="1828800"/>
          </a:xfrm>
          <a:prstGeom prst="roundRect">
            <a:avLst>
              <a:gd name="adj" fmla="val 7000"/>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4" name="Shape 2"/>
          <p:cNvSpPr/>
          <p:nvPr/>
        </p:nvSpPr>
        <p:spPr>
          <a:xfrm>
            <a:off x="2414016" y="402336"/>
            <a:ext cx="1828800" cy="1828800"/>
          </a:xfrm>
          <a:prstGeom prst="roundRect">
            <a:avLst>
              <a:gd name="adj" fmla="val 7000"/>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5" name="Shape 3"/>
          <p:cNvSpPr/>
          <p:nvPr/>
        </p:nvSpPr>
        <p:spPr>
          <a:xfrm>
            <a:off x="402336" y="2414016"/>
            <a:ext cx="1828800" cy="1828800"/>
          </a:xfrm>
          <a:prstGeom prst="roundRect">
            <a:avLst>
              <a:gd name="adj" fmla="val 7000"/>
            </a:avLst>
          </a:prstGeom>
          <a:solidFill>
            <a:srgbClr val="F9AB00"/>
          </a:solidFill>
          <a:ln w="12700">
            <a:solidFill>
              <a:srgbClr val="F9AB00"/>
            </a:solidFill>
            <a:prstDash val="solid"/>
          </a:ln>
          <a:effectLst>
            <a:outerShdw sx="100000" sy="100000" kx="0" ky="0" algn="bl" rotWithShape="0" blurRad="127000" dist="50800" dir="2700000">
              <a:srgbClr val="000000">
                <a:alpha val="18000"/>
              </a:srgbClr>
            </a:outerShdw>
          </a:effectLst>
        </p:spPr>
      </p:sp>
      <p:sp>
        <p:nvSpPr>
          <p:cNvPr id="6" name="Shape 4"/>
          <p:cNvSpPr/>
          <p:nvPr/>
        </p:nvSpPr>
        <p:spPr>
          <a:xfrm>
            <a:off x="2414016" y="2414016"/>
            <a:ext cx="1828800" cy="1828800"/>
          </a:xfrm>
          <a:prstGeom prst="roundRect">
            <a:avLst>
              <a:gd name="adj" fmla="val 7000"/>
            </a:avLst>
          </a:prstGeom>
          <a:solidFill>
            <a:srgbClr val="2563EB"/>
          </a:solidFill>
          <a:ln w="12700">
            <a:solidFill>
              <a:srgbClr val="2563EB"/>
            </a:solidFill>
            <a:prstDash val="solid"/>
          </a:ln>
          <a:effectLst>
            <a:outerShdw sx="100000" sy="100000" kx="0" ky="0" algn="bl" rotWithShape="0" blurRad="127000" dist="50800" dir="2700000">
              <a:srgbClr val="000000">
                <a:alpha val="18000"/>
              </a:srgbClr>
            </a:outerShdw>
          </a:effectLst>
        </p:spPr>
      </p:sp>
      <p:sp>
        <p:nvSpPr>
          <p:cNvPr id="7" name="Text 5"/>
          <p:cNvSpPr/>
          <p:nvPr/>
        </p:nvSpPr>
        <p:spPr>
          <a:xfrm>
            <a:off x="402336" y="402336"/>
            <a:ext cx="3840480" cy="3840480"/>
          </a:xfrm>
          <a:prstGeom prst="rect">
            <a:avLst/>
          </a:prstGeom>
          <a:noFill/>
          <a:ln/>
        </p:spPr>
        <p:txBody>
          <a:bodyPr wrap="square" lIns="0" tIns="0" rIns="0" bIns="0" rtlCol="0" anchor="ctr"/>
          <a:lstStyle/>
          <a:p>
            <a:pPr algn="ctr" indent="0" marL="0">
              <a:buNone/>
            </a:pPr>
            <a:r>
              <a:rPr lang="en-US" sz="9000" dirty="0">
                <a:solidFill>
                  <a:srgbClr val="000000"/>
                </a:solidFill>
              </a:rPr>
              <a:t>🐍</a:t>
            </a:r>
            <a:endParaRPr lang="en-US" sz="9000" dirty="0"/>
          </a:p>
        </p:txBody>
      </p:sp>
      <p:sp>
        <p:nvSpPr>
          <p:cNvPr id="8" name="Shape 6"/>
          <p:cNvSpPr/>
          <p:nvPr/>
        </p:nvSpPr>
        <p:spPr>
          <a:xfrm>
            <a:off x="0" y="4462272"/>
            <a:ext cx="5029200" cy="2395728"/>
          </a:xfrm>
          <a:prstGeom prst="rect">
            <a:avLst/>
          </a:prstGeom>
          <a:solidFill>
            <a:srgbClr val="0A1220"/>
          </a:solidFill>
          <a:ln w="12700">
            <a:solidFill>
              <a:srgbClr val="0A1220"/>
            </a:solidFill>
            <a:prstDash val="solid"/>
          </a:ln>
        </p:spPr>
      </p:sp>
      <p:sp>
        <p:nvSpPr>
          <p:cNvPr id="9" name="Text 7"/>
          <p:cNvSpPr/>
          <p:nvPr/>
        </p:nvSpPr>
        <p:spPr>
          <a:xfrm>
            <a:off x="274320" y="4590288"/>
            <a:ext cx="4572000" cy="731520"/>
          </a:xfrm>
          <a:prstGeom prst="rect">
            <a:avLst/>
          </a:prstGeom>
          <a:noFill/>
          <a:ln/>
        </p:spPr>
        <p:txBody>
          <a:bodyPr wrap="square" lIns="0" tIns="0" rIns="0" bIns="0" rtlCol="0" anchor="ctr"/>
          <a:lstStyle/>
          <a:p>
            <a:pPr algn="ctr" indent="0" marL="0">
              <a:buNone/>
            </a:pPr>
            <a:r>
              <a:rPr lang="en-US" sz="1100" i="1" dirty="0">
                <a:solidFill>
                  <a:srgbClr val="FFFFFF"/>
                </a:solidFill>
                <a:latin typeface="Calibri" pitchFamily="34" charset="0"/>
                <a:ea typeface="Calibri" pitchFamily="34" charset="-122"/>
                <a:cs typeface="Calibri" pitchFamily="34" charset="-120"/>
              </a:rPr>
              <a:t>You can now clean any dataset</a:t>
            </a:r>
            <a:endParaRPr lang="en-US" sz="1100" dirty="0"/>
          </a:p>
          <a:p>
            <a:pPr algn="ctr" indent="0" marL="0">
              <a:buNone/>
            </a:pPr>
            <a:r>
              <a:rPr lang="en-US" sz="1100" i="1" dirty="0">
                <a:solidFill>
                  <a:srgbClr val="FFFFFF"/>
                </a:solidFill>
                <a:latin typeface="Calibri" pitchFamily="34" charset="0"/>
                <a:ea typeface="Calibri" pitchFamily="34" charset="-122"/>
                <a:cs typeface="Calibri" pitchFamily="34" charset="-120"/>
              </a:rPr>
              <a:t>and tell its story with 12 chart types.</a:t>
            </a:r>
            <a:endParaRPr lang="en-US" sz="1100" dirty="0"/>
          </a:p>
        </p:txBody>
      </p:sp>
      <p:sp>
        <p:nvSpPr>
          <p:cNvPr id="10" name="Text 8"/>
          <p:cNvSpPr/>
          <p:nvPr/>
        </p:nvSpPr>
        <p:spPr>
          <a:xfrm>
            <a:off x="274320" y="5449824"/>
            <a:ext cx="4572000" cy="32918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Kajola Gbenga Adewale</a:t>
            </a:r>
            <a:endParaRPr lang="en-US" sz="1400" dirty="0"/>
          </a:p>
        </p:txBody>
      </p:sp>
      <p:sp>
        <p:nvSpPr>
          <p:cNvPr id="11" name="Text 9"/>
          <p:cNvSpPr/>
          <p:nvPr/>
        </p:nvSpPr>
        <p:spPr>
          <a:xfrm>
            <a:off x="274320" y="5833872"/>
            <a:ext cx="4572000" cy="274320"/>
          </a:xfrm>
          <a:prstGeom prst="rect">
            <a:avLst/>
          </a:prstGeom>
          <a:noFill/>
          <a:ln/>
        </p:spPr>
        <p:txBody>
          <a:bodyPr wrap="square" lIns="0" tIns="0" rIns="0" bIns="0" rtlCol="0" anchor="ctr"/>
          <a:lstStyle/>
          <a:p>
            <a:pPr algn="ctr" indent="0" marL="0">
              <a:buNone/>
            </a:pPr>
            <a:r>
              <a:rPr lang="en-US" sz="1100" i="1" dirty="0">
                <a:solidFill>
                  <a:srgbClr val="94A3B8"/>
                </a:solidFill>
                <a:latin typeface="Calibri" pitchFamily="34" charset="0"/>
                <a:ea typeface="Calibri" pitchFamily="34" charset="-122"/>
                <a:cs typeface="Calibri" pitchFamily="34" charset="-120"/>
              </a:rPr>
              <a:t>Data Analytics Expert</a:t>
            </a:r>
            <a:endParaRPr lang="en-US" sz="1100" dirty="0"/>
          </a:p>
        </p:txBody>
      </p:sp>
      <p:sp>
        <p:nvSpPr>
          <p:cNvPr id="12" name="Text 10"/>
          <p:cNvSpPr/>
          <p:nvPr/>
        </p:nvSpPr>
        <p:spPr>
          <a:xfrm>
            <a:off x="5349240" y="594360"/>
            <a:ext cx="6583680" cy="192024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Python Data Cleaning</a:t>
            </a:r>
            <a:endParaRPr lang="en-US" sz="3800" dirty="0"/>
          </a:p>
          <a:p>
            <a:pPr indent="0" marL="0">
              <a:buNone/>
            </a:pPr>
            <a:r>
              <a:rPr lang="en-US" sz="3800" b="1" dirty="0">
                <a:solidFill>
                  <a:srgbClr val="FFFFFF"/>
                </a:solidFill>
                <a:latin typeface="Cambria" pitchFamily="34" charset="0"/>
                <a:ea typeface="Cambria" pitchFamily="34" charset="-122"/>
                <a:cs typeface="Cambria" pitchFamily="34" charset="-120"/>
              </a:rPr>
              <a:t>and Visualisation</a:t>
            </a:r>
            <a:endParaRPr lang="en-US" sz="3800" dirty="0"/>
          </a:p>
        </p:txBody>
      </p:sp>
      <p:sp>
        <p:nvSpPr>
          <p:cNvPr id="13" name="Text 11"/>
          <p:cNvSpPr/>
          <p:nvPr/>
        </p:nvSpPr>
        <p:spPr>
          <a:xfrm>
            <a:off x="5349240" y="2606040"/>
            <a:ext cx="6583680" cy="402336"/>
          </a:xfrm>
          <a:prstGeom prst="rect">
            <a:avLst/>
          </a:prstGeom>
          <a:noFill/>
          <a:ln/>
        </p:spPr>
        <p:txBody>
          <a:bodyPr wrap="square" lIns="0" tIns="0" rIns="0" bIns="0" rtlCol="0" anchor="ctr"/>
          <a:lstStyle/>
          <a:p>
            <a:pPr indent="0" marL="0">
              <a:buNone/>
            </a:pPr>
            <a:r>
              <a:rPr lang="en-US" sz="1600" b="1" dirty="0">
                <a:solidFill>
                  <a:srgbClr val="F9AB00"/>
                </a:solidFill>
                <a:latin typeface="Calibri" pitchFamily="34" charset="0"/>
                <a:ea typeface="Calibri" pitchFamily="34" charset="-122"/>
                <a:cs typeface="Calibri" pitchFamily="34" charset="-120"/>
              </a:rPr>
              <a:t>3-Hour Session Complete</a:t>
            </a:r>
            <a:endParaRPr lang="en-US" sz="1600" dirty="0"/>
          </a:p>
        </p:txBody>
      </p:sp>
      <p:sp>
        <p:nvSpPr>
          <p:cNvPr id="14" name="Shape 12"/>
          <p:cNvSpPr/>
          <p:nvPr/>
        </p:nvSpPr>
        <p:spPr>
          <a:xfrm>
            <a:off x="5349240" y="3145536"/>
            <a:ext cx="6583680" cy="45720"/>
          </a:xfrm>
          <a:prstGeom prst="rect">
            <a:avLst/>
          </a:prstGeom>
          <a:solidFill>
            <a:srgbClr val="2563EB"/>
          </a:solidFill>
          <a:ln w="12700">
            <a:solidFill>
              <a:srgbClr val="2563EB"/>
            </a:solidFill>
            <a:prstDash val="solid"/>
          </a:ln>
        </p:spPr>
      </p:sp>
      <p:sp>
        <p:nvSpPr>
          <p:cNvPr id="15" name="Text 13"/>
          <p:cNvSpPr/>
          <p:nvPr/>
        </p:nvSpPr>
        <p:spPr>
          <a:xfrm>
            <a:off x="5349240" y="3310128"/>
            <a:ext cx="6583680" cy="292608"/>
          </a:xfrm>
          <a:prstGeom prst="rect">
            <a:avLst/>
          </a:prstGeom>
          <a:noFill/>
          <a:ln/>
        </p:spPr>
        <p:txBody>
          <a:bodyPr wrap="square" lIns="0" tIns="0" rIns="0" bIns="0" rtlCol="0" anchor="ctr"/>
          <a:lstStyle/>
          <a:p>
            <a:pPr indent="0" marL="0">
              <a:buNone/>
            </a:pPr>
            <a:r>
              <a:rPr lang="en-US" sz="1200" b="1" dirty="0">
                <a:solidFill>
                  <a:srgbClr val="FFFFFF"/>
                </a:solidFill>
                <a:latin typeface="Cambria" pitchFamily="34" charset="0"/>
                <a:ea typeface="Cambria" pitchFamily="34" charset="-122"/>
                <a:cs typeface="Cambria" pitchFamily="34" charset="-120"/>
              </a:rPr>
              <a:t>What you completed today:</a:t>
            </a:r>
            <a:endParaRPr lang="en-US" sz="1200" dirty="0"/>
          </a:p>
        </p:txBody>
      </p:sp>
      <p:sp>
        <p:nvSpPr>
          <p:cNvPr id="16" name="Shape 14"/>
          <p:cNvSpPr/>
          <p:nvPr/>
        </p:nvSpPr>
        <p:spPr>
          <a:xfrm>
            <a:off x="5349240" y="3712464"/>
            <a:ext cx="3200400" cy="438912"/>
          </a:xfrm>
          <a:prstGeom prst="roundRect">
            <a:avLst>
              <a:gd name="adj" fmla="val 14583"/>
            </a:avLst>
          </a:prstGeom>
          <a:solidFill>
            <a:srgbClr val="E11D48"/>
          </a:solidFill>
          <a:ln w="12700">
            <a:solidFill>
              <a:srgbClr val="E11D48"/>
            </a:solidFill>
            <a:prstDash val="solid"/>
          </a:ln>
        </p:spPr>
      </p:sp>
      <p:sp>
        <p:nvSpPr>
          <p:cNvPr id="17" name="Text 15"/>
          <p:cNvSpPr/>
          <p:nvPr/>
        </p:nvSpPr>
        <p:spPr>
          <a:xfrm>
            <a:off x="5422392" y="3749040"/>
            <a:ext cx="30906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Loaded and fully cleaned a 4,500-row real dataset</a:t>
            </a:r>
            <a:endParaRPr lang="en-US" sz="950" dirty="0"/>
          </a:p>
        </p:txBody>
      </p:sp>
      <p:sp>
        <p:nvSpPr>
          <p:cNvPr id="18" name="Shape 16"/>
          <p:cNvSpPr/>
          <p:nvPr/>
        </p:nvSpPr>
        <p:spPr>
          <a:xfrm>
            <a:off x="8686800" y="3712464"/>
            <a:ext cx="3200400" cy="438912"/>
          </a:xfrm>
          <a:prstGeom prst="roundRect">
            <a:avLst>
              <a:gd name="adj" fmla="val 14583"/>
            </a:avLst>
          </a:prstGeom>
          <a:solidFill>
            <a:srgbClr val="2563EB"/>
          </a:solidFill>
          <a:ln w="12700">
            <a:solidFill>
              <a:srgbClr val="2563EB"/>
            </a:solidFill>
            <a:prstDash val="solid"/>
          </a:ln>
        </p:spPr>
      </p:sp>
      <p:sp>
        <p:nvSpPr>
          <p:cNvPr id="19" name="Text 17"/>
          <p:cNvSpPr/>
          <p:nvPr/>
        </p:nvSpPr>
        <p:spPr>
          <a:xfrm>
            <a:off x="8759952" y="3749040"/>
            <a:ext cx="30906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Handled missing values, negatives, duplicates, outliers</a:t>
            </a:r>
            <a:endParaRPr lang="en-US" sz="950" dirty="0"/>
          </a:p>
        </p:txBody>
      </p:sp>
      <p:sp>
        <p:nvSpPr>
          <p:cNvPr id="20" name="Shape 18"/>
          <p:cNvSpPr/>
          <p:nvPr/>
        </p:nvSpPr>
        <p:spPr>
          <a:xfrm>
            <a:off x="5349240" y="4224528"/>
            <a:ext cx="3200400" cy="438912"/>
          </a:xfrm>
          <a:prstGeom prst="roundRect">
            <a:avLst>
              <a:gd name="adj" fmla="val 14583"/>
            </a:avLst>
          </a:prstGeom>
          <a:solidFill>
            <a:srgbClr val="16A34A"/>
          </a:solidFill>
          <a:ln w="12700">
            <a:solidFill>
              <a:srgbClr val="16A34A"/>
            </a:solidFill>
            <a:prstDash val="solid"/>
          </a:ln>
        </p:spPr>
      </p:sp>
      <p:sp>
        <p:nvSpPr>
          <p:cNvPr id="21" name="Text 19"/>
          <p:cNvSpPr/>
          <p:nvPr/>
        </p:nvSpPr>
        <p:spPr>
          <a:xfrm>
            <a:off x="5422392" y="4261104"/>
            <a:ext cx="30906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Built 12 different chart types with real business data</a:t>
            </a:r>
            <a:endParaRPr lang="en-US" sz="950" dirty="0"/>
          </a:p>
        </p:txBody>
      </p:sp>
      <p:sp>
        <p:nvSpPr>
          <p:cNvPr id="22" name="Shape 20"/>
          <p:cNvSpPr/>
          <p:nvPr/>
        </p:nvSpPr>
        <p:spPr>
          <a:xfrm>
            <a:off x="8686800" y="4224528"/>
            <a:ext cx="3200400" cy="438912"/>
          </a:xfrm>
          <a:prstGeom prst="roundRect">
            <a:avLst>
              <a:gd name="adj" fmla="val 14583"/>
            </a:avLst>
          </a:prstGeom>
          <a:solidFill>
            <a:srgbClr val="7C3AED"/>
          </a:solidFill>
          <a:ln w="12700">
            <a:solidFill>
              <a:srgbClr val="7C3AED"/>
            </a:solidFill>
            <a:prstDash val="solid"/>
          </a:ln>
        </p:spPr>
      </p:sp>
      <p:sp>
        <p:nvSpPr>
          <p:cNvPr id="23" name="Text 21"/>
          <p:cNvSpPr/>
          <p:nvPr/>
        </p:nvSpPr>
        <p:spPr>
          <a:xfrm>
            <a:off x="8759952" y="4261104"/>
            <a:ext cx="30906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Used Matplotlib, Seaborn, and Plotly</a:t>
            </a:r>
            <a:endParaRPr lang="en-US" sz="950" dirty="0"/>
          </a:p>
        </p:txBody>
      </p:sp>
      <p:sp>
        <p:nvSpPr>
          <p:cNvPr id="24" name="Shape 22"/>
          <p:cNvSpPr/>
          <p:nvPr/>
        </p:nvSpPr>
        <p:spPr>
          <a:xfrm>
            <a:off x="5349240" y="4736592"/>
            <a:ext cx="3200400" cy="438912"/>
          </a:xfrm>
          <a:prstGeom prst="roundRect">
            <a:avLst>
              <a:gd name="adj" fmla="val 14583"/>
            </a:avLst>
          </a:prstGeom>
          <a:solidFill>
            <a:srgbClr val="0891B2"/>
          </a:solidFill>
          <a:ln w="12700">
            <a:solidFill>
              <a:srgbClr val="0891B2"/>
            </a:solidFill>
            <a:prstDash val="solid"/>
          </a:ln>
        </p:spPr>
      </p:sp>
      <p:sp>
        <p:nvSpPr>
          <p:cNvPr id="25" name="Text 23"/>
          <p:cNvSpPr/>
          <p:nvPr/>
        </p:nvSpPr>
        <p:spPr>
          <a:xfrm>
            <a:off x="5422392" y="4773168"/>
            <a:ext cx="30906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Applied correct chart selection principles</a:t>
            </a:r>
            <a:endParaRPr lang="en-US" sz="950" dirty="0"/>
          </a:p>
        </p:txBody>
      </p:sp>
      <p:sp>
        <p:nvSpPr>
          <p:cNvPr id="26" name="Shape 24"/>
          <p:cNvSpPr/>
          <p:nvPr/>
        </p:nvSpPr>
        <p:spPr>
          <a:xfrm>
            <a:off x="8686800" y="4736592"/>
            <a:ext cx="3200400" cy="438912"/>
          </a:xfrm>
          <a:prstGeom prst="roundRect">
            <a:avLst>
              <a:gd name="adj" fmla="val 14583"/>
            </a:avLst>
          </a:prstGeom>
          <a:solidFill>
            <a:srgbClr val="F9AB00"/>
          </a:solidFill>
          <a:ln w="12700">
            <a:solidFill>
              <a:srgbClr val="F9AB00"/>
            </a:solidFill>
            <a:prstDash val="solid"/>
          </a:ln>
        </p:spPr>
      </p:sp>
      <p:sp>
        <p:nvSpPr>
          <p:cNvPr id="27" name="Text 25"/>
          <p:cNvSpPr/>
          <p:nvPr/>
        </p:nvSpPr>
        <p:spPr>
          <a:xfrm>
            <a:off x="8759952" y="4773168"/>
            <a:ext cx="3090672" cy="347472"/>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 Built and saved a multi-chart dashboard</a:t>
            </a:r>
            <a:endParaRPr lang="en-US" sz="950" dirty="0"/>
          </a:p>
        </p:txBody>
      </p:sp>
      <p:sp>
        <p:nvSpPr>
          <p:cNvPr id="28" name="Text 26"/>
          <p:cNvSpPr/>
          <p:nvPr/>
        </p:nvSpPr>
        <p:spPr>
          <a:xfrm>
            <a:off x="5349240" y="6035040"/>
            <a:ext cx="6583680" cy="329184"/>
          </a:xfrm>
          <a:prstGeom prst="rect">
            <a:avLst/>
          </a:prstGeom>
          <a:noFill/>
          <a:ln/>
        </p:spPr>
        <p:txBody>
          <a:bodyPr wrap="square" lIns="0" tIns="0" rIns="0" bIns="0" rtlCol="0" anchor="ctr"/>
          <a:lstStyle/>
          <a:p>
            <a:pPr indent="0" marL="0">
              <a:buNone/>
            </a:pPr>
            <a:r>
              <a:rPr lang="en-US" sz="1100" i="1" dirty="0">
                <a:solidFill>
                  <a:srgbClr val="94A3B8"/>
                </a:solidFill>
                <a:latin typeface="Calibri" pitchFamily="34" charset="0"/>
                <a:ea typeface="Calibri" pitchFamily="34" charset="-122"/>
                <a:cs typeface="Calibri" pitchFamily="34" charset="-120"/>
              </a:rPr>
              <a:t>Next: pandas advanced (groupby, merge, reshape) → then Machine Learning with Scikit-Learn.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39</Slides>
  <Notes>39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39</vt:i4>
      </vt:variant>
    </vt:vector>
  </HeadingPairs>
  <TitlesOfParts>
    <vt:vector size="4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Data Cleaning and Visualisation — Complete Session Deck</dc:title>
  <dc:subject>PptxGenJS Presentation</dc:subject>
  <dc:creator>Kajola Gbenga Adewale</dc:creator>
  <cp:lastModifiedBy>Kajola Gbenga Adewale</cp:lastModifiedBy>
  <cp:revision>1</cp:revision>
  <dcterms:created xsi:type="dcterms:W3CDTF">2026-06-24T09:10:47Z</dcterms:created>
  <dcterms:modified xsi:type="dcterms:W3CDTF">2026-06-24T09:10:47Z</dcterms:modified>
</cp:coreProperties>
</file>
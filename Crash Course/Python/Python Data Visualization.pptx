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converts the full Python Data Visualization notebook into teaching slides. Every chart type has its own dedicated slide with (1) the SVG chart visual, (2) the actual code, and (3) a line-by-line explanation table. All code runs in Google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libraries - three purposes. Matplotlib is the foundation and is always imported first. Seaborn wraps Matplotlib to make statistical charts with far less code. Plotly creates interactive charts that open in the browser. Students should run all three import lines before any chart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chart. The key concept: plt.plot() connects points in the order they appear in the list. If the x-axis is NOT in order, the line will zig-zag unexpectedly. Always sort your data before plotting a line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chart. plt.bar() is for vertical bars. Use plt.barh() for horizontal bars (better when category names are long). Always sort bars from highest to lowest for easier comparison - use sorted() on the data before plotting.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Histogram vs Bar chart: the most common confusion. A bar chart compares separate categories (Product A, B, C). A histogram shows ONE continuous variable divided into ranges (bins). The number of bins dramatically changes how the chart looks - always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Scatter plot. The red dashed trend line in the chart visual represents a linear regression line. Adding color parameter (c=category_list) turns a scatter into a bubble chart coloured by group - heavily used in EDA. Correlation: dots rising left to right = positive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plot. The box itself contains the middle 50% of the data. The line inside the box is the median. Outliers (220 in the second example) appear as dots beyond the whiskers. sns.boxplot() is from Seaborn - notice we import seaborn as sns and use sns.boxplot(), but still use plt.title() and plt.show().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Violin plot. The width of the violin at any height tells you how many data points exist at that value. The narrow parts have few data points. The widest part is where most data clusters. Use violin when you want to show the full story, not just summary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 chart rules. Only use pie when you have 5 or fewer categories and one slice is clearly dominant. If all slices look similar in size, switch to a bar chart - humans are poor at judging angles but good at comparing bar heights. Always use autopct to show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chart. fill_between() can also fill between two lines: fill_between(x, y1, y2) shades between the two curves. This is useful for showing a range or confidence interval. The alpha parameter controls transparency: fill_between(x, y, alpha=0.5).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 The most important Seaborn parameters: annot=True to show numbers, fmt='.2f' for 2 decimal places, cmap='Blues' or 'coolwarm' or 'viridis' for different colour schemes. pivot_table() reshapes a DataFrame from long format to a matrix - required before sns.heatmap().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plot. One of the most powerful single-line commands in data science. sns.pairplot() in one line does what would take 20+ lines with Matplotlib. It is the standard first chart a data scientist creates on a new dataset. The hue parameter (hue='species') adds colour by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plot. The simplest Seaborn chart. df['column'].value_counts() gives the same numbers as a table. sns.countplot() visualises them as bars automatically. Add hue='gender' to split bars by a second category (grouped count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Bubble chart. The s parameter takes either a single value (all bubbles same size) or a list (each bubble its own size). To make size proportional to a data column: s=df['column']*10. Always add a legend explaining what bubble size means - the audience cannot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Plotly vs Matplotlib. The key conceptual shift: Matplotlib returns a static image. Plotly returns a Figure object (fig) that you display with fig.show(). In Colab, fig.show() renders an interactive HTML chart directly in the cell output. Hover over any data point to see its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Donut chart. The ONLY difference between pie and donut is wedgeprops=dict(width=0.4). Everything else is the same as a pie chart. The centre text (ax.text) is at coordinate (0,0) because pie charts are drawn on a unit circle centred at the origin. startangle=90 starts the first slice at the top (12 o'clock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selection rule table. Print this slide for students. The question is always: what is my GOAL? Trend over time = Line. Compare categories = Bar. Distribution = Histogram. Outliers = Box Plot. Relationship = Scatter. Correlation = Heatmap. Multiple variables = Pair Plot. Category counts = Count Plot. Part of whole = Pie / Donut. 3 variables = Bubble. Interactive = Plotly.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essential charts for Data Science and ML. These are not just visualisation tools - they are diagnostic tools. Run all six on every new dataset before building any model. They reveal data quality issues, feature relationships, class imbalance, and outliers that would otherwise silently degrade model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cheat sheet. Print this and give to every student. The pattern is consistent: Matplotlib commands start with plt. Seaborn commands start with sns. Plotly Express commands start with px. Every chart ends with plt.show() for Matplotlib/Seaborn or fig.show() for Plotly.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Students have covered every chart type in the notebook with full code + line-by-line explanations. Remind them: the chart selection guide on Slide 17 is the reference to keep. The most common mistake is choosing a chart first and then finding data to fit it - always choose data goal first, then chart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4846320" cy="6858000"/>
          </a:xfrm>
          <a:prstGeom prst="rect">
            <a:avLst/>
          </a:prstGeom>
          <a:solidFill>
            <a:srgbClr val="0F1D3C"/>
          </a:solidFill>
          <a:ln w="12700">
            <a:solidFill>
              <a:srgbClr val="0F1D3C"/>
            </a:solidFill>
            <a:prstDash val="solid"/>
          </a:ln>
        </p:spPr>
      </p:sp>
      <p:sp>
        <p:nvSpPr>
          <p:cNvPr id="3" name="Shape 1"/>
          <p:cNvSpPr/>
          <p:nvPr/>
        </p:nvSpPr>
        <p:spPr>
          <a:xfrm>
            <a:off x="384048" y="384048"/>
            <a:ext cx="1783080" cy="1783080"/>
          </a:xfrm>
          <a:prstGeom prst="roundRect">
            <a:avLst>
              <a:gd name="adj" fmla="val 7179"/>
            </a:avLst>
          </a:prstGeom>
          <a:solidFill>
            <a:srgbClr val="3B82F6"/>
          </a:solidFill>
          <a:ln w="12700">
            <a:solidFill>
              <a:srgbClr val="3B82F6"/>
            </a:solidFill>
            <a:prstDash val="solid"/>
          </a:ln>
          <a:effectLst>
            <a:outerShdw sx="100000" sy="100000" kx="0" ky="0" algn="bl" rotWithShape="0" blurRad="127000" dist="50800" dir="2700000">
              <a:srgbClr val="000000">
                <a:alpha val="18000"/>
              </a:srgbClr>
            </a:outerShdw>
          </a:effectLst>
        </p:spPr>
      </p:sp>
      <p:sp>
        <p:nvSpPr>
          <p:cNvPr id="4" name="Shape 2"/>
          <p:cNvSpPr/>
          <p:nvPr/>
        </p:nvSpPr>
        <p:spPr>
          <a:xfrm>
            <a:off x="2331720" y="384048"/>
            <a:ext cx="1783080" cy="1783080"/>
          </a:xfrm>
          <a:prstGeom prst="roundRect">
            <a:avLst>
              <a:gd name="adj" fmla="val 7179"/>
            </a:avLst>
          </a:prstGeom>
          <a:solidFill>
            <a:srgbClr val="06B6D4"/>
          </a:solidFill>
          <a:ln w="12700">
            <a:solidFill>
              <a:srgbClr val="06B6D4"/>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384048" y="2331720"/>
            <a:ext cx="1783080" cy="1783080"/>
          </a:xfrm>
          <a:prstGeom prst="roundRect">
            <a:avLst>
              <a:gd name="adj" fmla="val 7179"/>
            </a:avLst>
          </a:prstGeom>
          <a:solidFill>
            <a:srgbClr val="22C55E"/>
          </a:solidFill>
          <a:ln w="12700">
            <a:solidFill>
              <a:srgbClr val="22C55E"/>
            </a:solidFill>
            <a:prstDash val="solid"/>
          </a:ln>
          <a:effectLst>
            <a:outerShdw sx="100000" sy="100000" kx="0" ky="0" algn="bl" rotWithShape="0" blurRad="127000" dist="50800" dir="2700000">
              <a:srgbClr val="000000">
                <a:alpha val="18000"/>
              </a:srgbClr>
            </a:outerShdw>
          </a:effectLst>
        </p:spPr>
      </p:sp>
      <p:sp>
        <p:nvSpPr>
          <p:cNvPr id="6" name="Shape 4"/>
          <p:cNvSpPr/>
          <p:nvPr/>
        </p:nvSpPr>
        <p:spPr>
          <a:xfrm>
            <a:off x="2331720" y="2331720"/>
            <a:ext cx="1783080" cy="1783080"/>
          </a:xfrm>
          <a:prstGeom prst="roundRect">
            <a:avLst>
              <a:gd name="adj" fmla="val 7179"/>
            </a:avLst>
          </a:prstGeom>
          <a:solidFill>
            <a:srgbClr val="8B5CF6"/>
          </a:solidFill>
          <a:ln w="12700">
            <a:solidFill>
              <a:srgbClr val="8B5CF6"/>
            </a:solidFill>
            <a:prstDash val="solid"/>
          </a:ln>
          <a:effectLst>
            <a:outerShdw sx="100000" sy="100000" kx="0" ky="0" algn="bl" rotWithShape="0" blurRad="127000" dist="50800" dir="2700000">
              <a:srgbClr val="000000">
                <a:alpha val="18000"/>
              </a:srgbClr>
            </a:outerShdw>
          </a:effectLst>
        </p:spPr>
      </p:sp>
      <p:sp>
        <p:nvSpPr>
          <p:cNvPr id="7" name="Text 5"/>
          <p:cNvSpPr/>
          <p:nvPr/>
        </p:nvSpPr>
        <p:spPr>
          <a:xfrm>
            <a:off x="384048" y="384048"/>
            <a:ext cx="3730752" cy="3730752"/>
          </a:xfrm>
          <a:prstGeom prst="rect">
            <a:avLst/>
          </a:prstGeom>
          <a:noFill/>
          <a:ln/>
        </p:spPr>
        <p:txBody>
          <a:bodyPr wrap="square" lIns="0" tIns="0" rIns="0" bIns="0" rtlCol="0" anchor="ctr"/>
          <a:lstStyle/>
          <a:p>
            <a:pPr algn="ctr" indent="0" marL="0">
              <a:buNone/>
            </a:pPr>
            <a:r>
              <a:rPr lang="en-US" sz="8000" dirty="0">
                <a:solidFill>
                  <a:srgbClr val="000000"/>
                </a:solidFill>
              </a:rPr>
              <a:t>📊</a:t>
            </a:r>
            <a:endParaRPr lang="en-US" sz="8000" dirty="0"/>
          </a:p>
        </p:txBody>
      </p:sp>
      <p:sp>
        <p:nvSpPr>
          <p:cNvPr id="8" name="Shape 6"/>
          <p:cNvSpPr/>
          <p:nvPr/>
        </p:nvSpPr>
        <p:spPr>
          <a:xfrm>
            <a:off x="0" y="4370832"/>
            <a:ext cx="4846320" cy="2487168"/>
          </a:xfrm>
          <a:prstGeom prst="rect">
            <a:avLst/>
          </a:prstGeom>
          <a:solidFill>
            <a:srgbClr val="1A2545"/>
          </a:solidFill>
          <a:ln w="12700">
            <a:solidFill>
              <a:srgbClr val="1A2545"/>
            </a:solidFill>
            <a:prstDash val="solid"/>
          </a:ln>
        </p:spPr>
      </p:sp>
      <p:sp>
        <p:nvSpPr>
          <p:cNvPr id="9" name="Text 7"/>
          <p:cNvSpPr/>
          <p:nvPr/>
        </p:nvSpPr>
        <p:spPr>
          <a:xfrm>
            <a:off x="0" y="4498848"/>
            <a:ext cx="4846320" cy="310896"/>
          </a:xfrm>
          <a:prstGeom prst="rect">
            <a:avLst/>
          </a:prstGeom>
          <a:noFill/>
          <a:ln/>
        </p:spPr>
        <p:txBody>
          <a:bodyPr wrap="square" lIns="0" tIns="0" rIns="0" bIns="0" rtlCol="0" anchor="ctr"/>
          <a:lstStyle/>
          <a:p>
            <a:pPr algn="ctr" indent="0" marL="0">
              <a:buNone/>
            </a:pPr>
            <a:r>
              <a:rPr lang="en-US" sz="950" b="1" spc="200" kern="0" dirty="0">
                <a:solidFill>
                  <a:srgbClr val="94A3B8"/>
                </a:solidFill>
                <a:latin typeface="Calibri" pitchFamily="34" charset="0"/>
                <a:ea typeface="Calibri" pitchFamily="34" charset="-122"/>
                <a:cs typeface="Calibri" pitchFamily="34" charset="-120"/>
              </a:rPr>
              <a:t>KAJOLA GBENGA ADEWALE</a:t>
            </a:r>
            <a:endParaRPr lang="en-US" sz="950" dirty="0"/>
          </a:p>
        </p:txBody>
      </p:sp>
      <p:sp>
        <p:nvSpPr>
          <p:cNvPr id="10" name="Text 8"/>
          <p:cNvSpPr/>
          <p:nvPr/>
        </p:nvSpPr>
        <p:spPr>
          <a:xfrm>
            <a:off x="0" y="4882896"/>
            <a:ext cx="484632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Data Analytics Expert</a:t>
            </a:r>
            <a:endParaRPr lang="en-US" sz="1100" dirty="0"/>
          </a:p>
        </p:txBody>
      </p:sp>
      <p:sp>
        <p:nvSpPr>
          <p:cNvPr id="11" name="Text 9"/>
          <p:cNvSpPr/>
          <p:nvPr/>
        </p:nvSpPr>
        <p:spPr>
          <a:xfrm>
            <a:off x="5120640" y="594360"/>
            <a:ext cx="68580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Python</a:t>
            </a:r>
            <a:endParaRPr lang="en-US" sz="5400" dirty="0"/>
          </a:p>
        </p:txBody>
      </p:sp>
      <p:sp>
        <p:nvSpPr>
          <p:cNvPr id="12" name="Text 10"/>
          <p:cNvSpPr/>
          <p:nvPr/>
        </p:nvSpPr>
        <p:spPr>
          <a:xfrm>
            <a:off x="5120640" y="1719072"/>
            <a:ext cx="6858000" cy="1005840"/>
          </a:xfrm>
          <a:prstGeom prst="rect">
            <a:avLst/>
          </a:prstGeom>
          <a:noFill/>
          <a:ln/>
        </p:spPr>
        <p:txBody>
          <a:bodyPr wrap="square" lIns="0" tIns="0" rIns="0" bIns="0" rtlCol="0" anchor="ctr"/>
          <a:lstStyle/>
          <a:p>
            <a:pPr indent="0" marL="0">
              <a:buNone/>
            </a:pPr>
            <a:r>
              <a:rPr lang="en-US" sz="4000" b="1" dirty="0">
                <a:solidFill>
                  <a:srgbClr val="F59E0B"/>
                </a:solidFill>
                <a:latin typeface="Cambria" pitchFamily="34" charset="0"/>
                <a:ea typeface="Cambria" pitchFamily="34" charset="-122"/>
                <a:cs typeface="Cambria" pitchFamily="34" charset="-120"/>
              </a:rPr>
              <a:t>Data Visualization</a:t>
            </a:r>
            <a:endParaRPr lang="en-US" sz="4000" dirty="0"/>
          </a:p>
        </p:txBody>
      </p:sp>
      <p:sp>
        <p:nvSpPr>
          <p:cNvPr id="13" name="Text 11"/>
          <p:cNvSpPr/>
          <p:nvPr/>
        </p:nvSpPr>
        <p:spPr>
          <a:xfrm>
            <a:off x="5120640" y="2816352"/>
            <a:ext cx="6858000" cy="45720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Complete Teaching Deck with Line-by-Line Code Explanations</a:t>
            </a:r>
            <a:endParaRPr lang="en-US" sz="1300" dirty="0"/>
          </a:p>
        </p:txBody>
      </p:sp>
      <p:sp>
        <p:nvSpPr>
          <p:cNvPr id="14" name="Text 12"/>
          <p:cNvSpPr/>
          <p:nvPr/>
        </p:nvSpPr>
        <p:spPr>
          <a:xfrm>
            <a:off x="5120640" y="3364992"/>
            <a:ext cx="6858000" cy="329184"/>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Platform: Google Colab  |  Libraries: Matplotlib - Seaborn - Plotly</a:t>
            </a:r>
            <a:endParaRPr lang="en-US" sz="1100" dirty="0"/>
          </a:p>
        </p:txBody>
      </p:sp>
      <p:sp>
        <p:nvSpPr>
          <p:cNvPr id="15" name="Shape 13"/>
          <p:cNvSpPr/>
          <p:nvPr/>
        </p:nvSpPr>
        <p:spPr>
          <a:xfrm>
            <a:off x="5120640" y="3822192"/>
            <a:ext cx="6766560" cy="36576"/>
          </a:xfrm>
          <a:prstGeom prst="rect">
            <a:avLst/>
          </a:prstGeom>
          <a:solidFill>
            <a:srgbClr val="3B82F6"/>
          </a:solidFill>
          <a:ln w="12700">
            <a:solidFill>
              <a:srgbClr val="3B82F6"/>
            </a:solidFill>
            <a:prstDash val="solid"/>
          </a:ln>
        </p:spPr>
      </p:sp>
      <p:sp>
        <p:nvSpPr>
          <p:cNvPr id="16" name="Shape 14"/>
          <p:cNvSpPr/>
          <p:nvPr/>
        </p:nvSpPr>
        <p:spPr>
          <a:xfrm>
            <a:off x="5120640" y="3931920"/>
            <a:ext cx="914400" cy="457200"/>
          </a:xfrm>
          <a:prstGeom prst="roundRect">
            <a:avLst>
              <a:gd name="adj" fmla="val 14000"/>
            </a:avLst>
          </a:prstGeom>
          <a:solidFill>
            <a:srgbClr val="3B82F6"/>
          </a:solidFill>
          <a:ln w="12700">
            <a:solidFill>
              <a:srgbClr val="3B82F6"/>
            </a:solidFill>
            <a:prstDash val="solid"/>
          </a:ln>
        </p:spPr>
      </p:sp>
      <p:sp>
        <p:nvSpPr>
          <p:cNvPr id="17" name="Text 15"/>
          <p:cNvSpPr/>
          <p:nvPr/>
        </p:nvSpPr>
        <p:spPr>
          <a:xfrm>
            <a:off x="5120640" y="3931920"/>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Line</a:t>
            </a:r>
            <a:endParaRPr lang="en-US" sz="1000" dirty="0"/>
          </a:p>
        </p:txBody>
      </p:sp>
      <p:sp>
        <p:nvSpPr>
          <p:cNvPr id="18" name="Shape 16"/>
          <p:cNvSpPr/>
          <p:nvPr/>
        </p:nvSpPr>
        <p:spPr>
          <a:xfrm>
            <a:off x="6089904" y="3931920"/>
            <a:ext cx="914400" cy="457200"/>
          </a:xfrm>
          <a:prstGeom prst="roundRect">
            <a:avLst>
              <a:gd name="adj" fmla="val 14000"/>
            </a:avLst>
          </a:prstGeom>
          <a:solidFill>
            <a:srgbClr val="22C55E"/>
          </a:solidFill>
          <a:ln w="12700">
            <a:solidFill>
              <a:srgbClr val="22C55E"/>
            </a:solidFill>
            <a:prstDash val="solid"/>
          </a:ln>
        </p:spPr>
      </p:sp>
      <p:sp>
        <p:nvSpPr>
          <p:cNvPr id="19" name="Text 17"/>
          <p:cNvSpPr/>
          <p:nvPr/>
        </p:nvSpPr>
        <p:spPr>
          <a:xfrm>
            <a:off x="6089904" y="3931920"/>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Bar</a:t>
            </a:r>
            <a:endParaRPr lang="en-US" sz="1000" dirty="0"/>
          </a:p>
        </p:txBody>
      </p:sp>
      <p:sp>
        <p:nvSpPr>
          <p:cNvPr id="20" name="Shape 18"/>
          <p:cNvSpPr/>
          <p:nvPr/>
        </p:nvSpPr>
        <p:spPr>
          <a:xfrm>
            <a:off x="7059168" y="3931920"/>
            <a:ext cx="914400" cy="457200"/>
          </a:xfrm>
          <a:prstGeom prst="roundRect">
            <a:avLst>
              <a:gd name="adj" fmla="val 14000"/>
            </a:avLst>
          </a:prstGeom>
          <a:solidFill>
            <a:srgbClr val="8B5CF6"/>
          </a:solidFill>
          <a:ln w="12700">
            <a:solidFill>
              <a:srgbClr val="8B5CF6"/>
            </a:solidFill>
            <a:prstDash val="solid"/>
          </a:ln>
        </p:spPr>
      </p:sp>
      <p:sp>
        <p:nvSpPr>
          <p:cNvPr id="21" name="Text 19"/>
          <p:cNvSpPr/>
          <p:nvPr/>
        </p:nvSpPr>
        <p:spPr>
          <a:xfrm>
            <a:off x="7059168" y="3931920"/>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Histogram</a:t>
            </a:r>
            <a:endParaRPr lang="en-US" sz="1000" dirty="0"/>
          </a:p>
        </p:txBody>
      </p:sp>
      <p:sp>
        <p:nvSpPr>
          <p:cNvPr id="22" name="Shape 20"/>
          <p:cNvSpPr/>
          <p:nvPr/>
        </p:nvSpPr>
        <p:spPr>
          <a:xfrm>
            <a:off x="8028432" y="3931920"/>
            <a:ext cx="914400" cy="457200"/>
          </a:xfrm>
          <a:prstGeom prst="roundRect">
            <a:avLst>
              <a:gd name="adj" fmla="val 14000"/>
            </a:avLst>
          </a:prstGeom>
          <a:solidFill>
            <a:srgbClr val="06B6D4"/>
          </a:solidFill>
          <a:ln w="12700">
            <a:solidFill>
              <a:srgbClr val="06B6D4"/>
            </a:solidFill>
            <a:prstDash val="solid"/>
          </a:ln>
        </p:spPr>
      </p:sp>
      <p:sp>
        <p:nvSpPr>
          <p:cNvPr id="23" name="Text 21"/>
          <p:cNvSpPr/>
          <p:nvPr/>
        </p:nvSpPr>
        <p:spPr>
          <a:xfrm>
            <a:off x="8028432" y="3931920"/>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Scatter</a:t>
            </a:r>
            <a:endParaRPr lang="en-US" sz="1000" dirty="0"/>
          </a:p>
        </p:txBody>
      </p:sp>
      <p:sp>
        <p:nvSpPr>
          <p:cNvPr id="24" name="Shape 22"/>
          <p:cNvSpPr/>
          <p:nvPr/>
        </p:nvSpPr>
        <p:spPr>
          <a:xfrm>
            <a:off x="8997696" y="3931920"/>
            <a:ext cx="914400" cy="457200"/>
          </a:xfrm>
          <a:prstGeom prst="roundRect">
            <a:avLst>
              <a:gd name="adj" fmla="val 14000"/>
            </a:avLst>
          </a:prstGeom>
          <a:solidFill>
            <a:srgbClr val="F43F5E"/>
          </a:solidFill>
          <a:ln w="12700">
            <a:solidFill>
              <a:srgbClr val="F43F5E"/>
            </a:solidFill>
            <a:prstDash val="solid"/>
          </a:ln>
        </p:spPr>
      </p:sp>
      <p:sp>
        <p:nvSpPr>
          <p:cNvPr id="25" name="Text 23"/>
          <p:cNvSpPr/>
          <p:nvPr/>
        </p:nvSpPr>
        <p:spPr>
          <a:xfrm>
            <a:off x="8997696" y="3931920"/>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Box Plot</a:t>
            </a:r>
            <a:endParaRPr lang="en-US" sz="1000" dirty="0"/>
          </a:p>
        </p:txBody>
      </p:sp>
      <p:sp>
        <p:nvSpPr>
          <p:cNvPr id="26" name="Shape 24"/>
          <p:cNvSpPr/>
          <p:nvPr/>
        </p:nvSpPr>
        <p:spPr>
          <a:xfrm>
            <a:off x="9966960" y="3931920"/>
            <a:ext cx="914400" cy="457200"/>
          </a:xfrm>
          <a:prstGeom prst="roundRect">
            <a:avLst>
              <a:gd name="adj" fmla="val 14000"/>
            </a:avLst>
          </a:prstGeom>
          <a:solidFill>
            <a:srgbClr val="EC4899"/>
          </a:solidFill>
          <a:ln w="12700">
            <a:solidFill>
              <a:srgbClr val="EC4899"/>
            </a:solidFill>
            <a:prstDash val="solid"/>
          </a:ln>
        </p:spPr>
      </p:sp>
      <p:sp>
        <p:nvSpPr>
          <p:cNvPr id="27" name="Text 25"/>
          <p:cNvSpPr/>
          <p:nvPr/>
        </p:nvSpPr>
        <p:spPr>
          <a:xfrm>
            <a:off x="9966960" y="3931920"/>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Violin</a:t>
            </a:r>
            <a:endParaRPr lang="en-US" sz="1000" dirty="0"/>
          </a:p>
        </p:txBody>
      </p:sp>
      <p:sp>
        <p:nvSpPr>
          <p:cNvPr id="28" name="Shape 26"/>
          <p:cNvSpPr/>
          <p:nvPr/>
        </p:nvSpPr>
        <p:spPr>
          <a:xfrm>
            <a:off x="10936224" y="3931920"/>
            <a:ext cx="914400" cy="457200"/>
          </a:xfrm>
          <a:prstGeom prst="roundRect">
            <a:avLst>
              <a:gd name="adj" fmla="val 14000"/>
            </a:avLst>
          </a:prstGeom>
          <a:solidFill>
            <a:srgbClr val="F59E0B"/>
          </a:solidFill>
          <a:ln w="12700">
            <a:solidFill>
              <a:srgbClr val="F59E0B"/>
            </a:solidFill>
            <a:prstDash val="solid"/>
          </a:ln>
        </p:spPr>
      </p:sp>
      <p:sp>
        <p:nvSpPr>
          <p:cNvPr id="29" name="Text 27"/>
          <p:cNvSpPr/>
          <p:nvPr/>
        </p:nvSpPr>
        <p:spPr>
          <a:xfrm>
            <a:off x="10936224" y="3931920"/>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Pie</a:t>
            </a:r>
            <a:endParaRPr lang="en-US" sz="1000" dirty="0"/>
          </a:p>
        </p:txBody>
      </p:sp>
      <p:sp>
        <p:nvSpPr>
          <p:cNvPr id="30" name="Shape 28"/>
          <p:cNvSpPr/>
          <p:nvPr/>
        </p:nvSpPr>
        <p:spPr>
          <a:xfrm>
            <a:off x="5120640" y="4462272"/>
            <a:ext cx="914400" cy="457200"/>
          </a:xfrm>
          <a:prstGeom prst="roundRect">
            <a:avLst>
              <a:gd name="adj" fmla="val 14000"/>
            </a:avLst>
          </a:prstGeom>
          <a:solidFill>
            <a:srgbClr val="F97316"/>
          </a:solidFill>
          <a:ln w="12700">
            <a:solidFill>
              <a:srgbClr val="F97316"/>
            </a:solidFill>
            <a:prstDash val="solid"/>
          </a:ln>
        </p:spPr>
      </p:sp>
      <p:sp>
        <p:nvSpPr>
          <p:cNvPr id="31" name="Text 29"/>
          <p:cNvSpPr/>
          <p:nvPr/>
        </p:nvSpPr>
        <p:spPr>
          <a:xfrm>
            <a:off x="5120640" y="4462272"/>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Area</a:t>
            </a:r>
            <a:endParaRPr lang="en-US" sz="1000" dirty="0"/>
          </a:p>
        </p:txBody>
      </p:sp>
      <p:sp>
        <p:nvSpPr>
          <p:cNvPr id="32" name="Shape 30"/>
          <p:cNvSpPr/>
          <p:nvPr/>
        </p:nvSpPr>
        <p:spPr>
          <a:xfrm>
            <a:off x="6089904" y="4462272"/>
            <a:ext cx="914400" cy="457200"/>
          </a:xfrm>
          <a:prstGeom prst="roundRect">
            <a:avLst>
              <a:gd name="adj" fmla="val 14000"/>
            </a:avLst>
          </a:prstGeom>
          <a:solidFill>
            <a:srgbClr val="EAB308"/>
          </a:solidFill>
          <a:ln w="12700">
            <a:solidFill>
              <a:srgbClr val="EAB308"/>
            </a:solidFill>
            <a:prstDash val="solid"/>
          </a:ln>
        </p:spPr>
      </p:sp>
      <p:sp>
        <p:nvSpPr>
          <p:cNvPr id="33" name="Text 31"/>
          <p:cNvSpPr/>
          <p:nvPr/>
        </p:nvSpPr>
        <p:spPr>
          <a:xfrm>
            <a:off x="6089904" y="4462272"/>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Heatmap</a:t>
            </a:r>
            <a:endParaRPr lang="en-US" sz="1000" dirty="0"/>
          </a:p>
        </p:txBody>
      </p:sp>
      <p:sp>
        <p:nvSpPr>
          <p:cNvPr id="34" name="Shape 32"/>
          <p:cNvSpPr/>
          <p:nvPr/>
        </p:nvSpPr>
        <p:spPr>
          <a:xfrm>
            <a:off x="7059168" y="4462272"/>
            <a:ext cx="914400" cy="457200"/>
          </a:xfrm>
          <a:prstGeom prst="roundRect">
            <a:avLst>
              <a:gd name="adj" fmla="val 14000"/>
            </a:avLst>
          </a:prstGeom>
          <a:solidFill>
            <a:srgbClr val="10B981"/>
          </a:solidFill>
          <a:ln w="12700">
            <a:solidFill>
              <a:srgbClr val="10B981"/>
            </a:solidFill>
            <a:prstDash val="solid"/>
          </a:ln>
        </p:spPr>
      </p:sp>
      <p:sp>
        <p:nvSpPr>
          <p:cNvPr id="35" name="Text 33"/>
          <p:cNvSpPr/>
          <p:nvPr/>
        </p:nvSpPr>
        <p:spPr>
          <a:xfrm>
            <a:off x="7059168" y="4462272"/>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Pair Plot</a:t>
            </a:r>
            <a:endParaRPr lang="en-US" sz="1000" dirty="0"/>
          </a:p>
        </p:txBody>
      </p:sp>
      <p:sp>
        <p:nvSpPr>
          <p:cNvPr id="36" name="Shape 34"/>
          <p:cNvSpPr/>
          <p:nvPr/>
        </p:nvSpPr>
        <p:spPr>
          <a:xfrm>
            <a:off x="8028432" y="4462272"/>
            <a:ext cx="914400" cy="457200"/>
          </a:xfrm>
          <a:prstGeom prst="roundRect">
            <a:avLst>
              <a:gd name="adj" fmla="val 14000"/>
            </a:avLst>
          </a:prstGeom>
          <a:solidFill>
            <a:srgbClr val="14B8A6"/>
          </a:solidFill>
          <a:ln w="12700">
            <a:solidFill>
              <a:srgbClr val="14B8A6"/>
            </a:solidFill>
            <a:prstDash val="solid"/>
          </a:ln>
        </p:spPr>
      </p:sp>
      <p:sp>
        <p:nvSpPr>
          <p:cNvPr id="37" name="Text 35"/>
          <p:cNvSpPr/>
          <p:nvPr/>
        </p:nvSpPr>
        <p:spPr>
          <a:xfrm>
            <a:off x="8028432" y="4462272"/>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Count</a:t>
            </a:r>
            <a:endParaRPr lang="en-US" sz="1000" dirty="0"/>
          </a:p>
        </p:txBody>
      </p:sp>
      <p:sp>
        <p:nvSpPr>
          <p:cNvPr id="38" name="Shape 36"/>
          <p:cNvSpPr/>
          <p:nvPr/>
        </p:nvSpPr>
        <p:spPr>
          <a:xfrm>
            <a:off x="8997696" y="4462272"/>
            <a:ext cx="914400" cy="457200"/>
          </a:xfrm>
          <a:prstGeom prst="roundRect">
            <a:avLst>
              <a:gd name="adj" fmla="val 14000"/>
            </a:avLst>
          </a:prstGeom>
          <a:solidFill>
            <a:srgbClr val="A855F7"/>
          </a:solidFill>
          <a:ln w="12700">
            <a:solidFill>
              <a:srgbClr val="A855F7"/>
            </a:solidFill>
            <a:prstDash val="solid"/>
          </a:ln>
        </p:spPr>
      </p:sp>
      <p:sp>
        <p:nvSpPr>
          <p:cNvPr id="39" name="Text 37"/>
          <p:cNvSpPr/>
          <p:nvPr/>
        </p:nvSpPr>
        <p:spPr>
          <a:xfrm>
            <a:off x="8997696" y="4462272"/>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Bubble</a:t>
            </a:r>
            <a:endParaRPr lang="en-US" sz="1000" dirty="0"/>
          </a:p>
        </p:txBody>
      </p:sp>
      <p:sp>
        <p:nvSpPr>
          <p:cNvPr id="40" name="Shape 38"/>
          <p:cNvSpPr/>
          <p:nvPr/>
        </p:nvSpPr>
        <p:spPr>
          <a:xfrm>
            <a:off x="9966960" y="4462272"/>
            <a:ext cx="914400" cy="457200"/>
          </a:xfrm>
          <a:prstGeom prst="roundRect">
            <a:avLst>
              <a:gd name="adj" fmla="val 14000"/>
            </a:avLst>
          </a:prstGeom>
          <a:solidFill>
            <a:srgbClr val="3B82F6"/>
          </a:solidFill>
          <a:ln w="12700">
            <a:solidFill>
              <a:srgbClr val="3B82F6"/>
            </a:solidFill>
            <a:prstDash val="solid"/>
          </a:ln>
        </p:spPr>
      </p:sp>
      <p:sp>
        <p:nvSpPr>
          <p:cNvPr id="41" name="Text 39"/>
          <p:cNvSpPr/>
          <p:nvPr/>
        </p:nvSpPr>
        <p:spPr>
          <a:xfrm>
            <a:off x="9966960" y="4462272"/>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Plotly</a:t>
            </a:r>
            <a:endParaRPr lang="en-US" sz="1000" dirty="0"/>
          </a:p>
        </p:txBody>
      </p:sp>
      <p:sp>
        <p:nvSpPr>
          <p:cNvPr id="42" name="Shape 40"/>
          <p:cNvSpPr/>
          <p:nvPr/>
        </p:nvSpPr>
        <p:spPr>
          <a:xfrm>
            <a:off x="10936224" y="4462272"/>
            <a:ext cx="914400" cy="457200"/>
          </a:xfrm>
          <a:prstGeom prst="roundRect">
            <a:avLst>
              <a:gd name="adj" fmla="val 14000"/>
            </a:avLst>
          </a:prstGeom>
          <a:solidFill>
            <a:srgbClr val="22C55E"/>
          </a:solidFill>
          <a:ln w="12700">
            <a:solidFill>
              <a:srgbClr val="22C55E"/>
            </a:solidFill>
            <a:prstDash val="solid"/>
          </a:ln>
        </p:spPr>
      </p:sp>
      <p:sp>
        <p:nvSpPr>
          <p:cNvPr id="43" name="Text 41"/>
          <p:cNvSpPr/>
          <p:nvPr/>
        </p:nvSpPr>
        <p:spPr>
          <a:xfrm>
            <a:off x="10936224" y="4462272"/>
            <a:ext cx="9144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Donut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 CORE PYTHON VISUALIZATION LIBRARIES</a:t>
            </a:r>
            <a:endParaRPr lang="en-US" sz="2600" dirty="0"/>
          </a:p>
        </p:txBody>
      </p:sp>
      <p:sp>
        <p:nvSpPr>
          <p:cNvPr id="4" name="Shape 2"/>
          <p:cNvSpPr/>
          <p:nvPr/>
        </p:nvSpPr>
        <p:spPr>
          <a:xfrm>
            <a:off x="411480" y="1078992"/>
            <a:ext cx="3749040" cy="5577840"/>
          </a:xfrm>
          <a:prstGeom prst="roundRect">
            <a:avLst>
              <a:gd name="adj" fmla="val 2927"/>
            </a:avLst>
          </a:prstGeom>
          <a:solidFill>
            <a:srgbClr val="FFFFFF"/>
          </a:solidFill>
          <a:ln w="17780">
            <a:solidFill>
              <a:srgbClr val="3B82F6"/>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78992"/>
            <a:ext cx="3749040" cy="685800"/>
          </a:xfrm>
          <a:prstGeom prst="roundRect">
            <a:avLst>
              <a:gd name="adj" fmla="val 16000"/>
            </a:avLst>
          </a:prstGeom>
          <a:solidFill>
            <a:srgbClr val="3B82F6"/>
          </a:solidFill>
          <a:ln w="12700">
            <a:solidFill>
              <a:srgbClr val="3B82F6"/>
            </a:solidFill>
            <a:prstDash val="solid"/>
          </a:ln>
        </p:spPr>
      </p:sp>
      <p:sp>
        <p:nvSpPr>
          <p:cNvPr id="6" name="Shape 4"/>
          <p:cNvSpPr/>
          <p:nvPr/>
        </p:nvSpPr>
        <p:spPr>
          <a:xfrm>
            <a:off x="411480" y="1426464"/>
            <a:ext cx="3749040" cy="338328"/>
          </a:xfrm>
          <a:prstGeom prst="rect">
            <a:avLst/>
          </a:prstGeom>
          <a:solidFill>
            <a:srgbClr val="3B82F6"/>
          </a:solidFill>
          <a:ln w="12700">
            <a:solidFill>
              <a:srgbClr val="3B82F6"/>
            </a:solidFill>
            <a:prstDash val="solid"/>
          </a:ln>
        </p:spPr>
      </p:sp>
      <p:sp>
        <p:nvSpPr>
          <p:cNvPr id="7" name="Text 5"/>
          <p:cNvSpPr/>
          <p:nvPr/>
        </p:nvSpPr>
        <p:spPr>
          <a:xfrm>
            <a:off x="539496" y="1152144"/>
            <a:ext cx="3493008" cy="51206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  Matplotlib</a:t>
            </a:r>
            <a:endParaRPr lang="en-US" sz="1600" dirty="0"/>
          </a:p>
        </p:txBody>
      </p:sp>
      <p:sp>
        <p:nvSpPr>
          <p:cNvPr id="8" name="Text 6"/>
          <p:cNvSpPr/>
          <p:nvPr/>
        </p:nvSpPr>
        <p:spPr>
          <a:xfrm>
            <a:off x="539496" y="1865376"/>
            <a:ext cx="3493008" cy="256032"/>
          </a:xfrm>
          <a:prstGeom prst="rect">
            <a:avLst/>
          </a:prstGeom>
          <a:noFill/>
          <a:ln/>
        </p:spPr>
        <p:txBody>
          <a:bodyPr wrap="square" lIns="0" tIns="0" rIns="0" bIns="0" rtlCol="0" anchor="ctr"/>
          <a:lstStyle/>
          <a:p>
            <a:pPr indent="0" marL="0">
              <a:buNone/>
            </a:pPr>
            <a:r>
              <a:rPr lang="en-US" sz="1000" b="1" dirty="0">
                <a:solidFill>
                  <a:srgbClr val="3B82F6"/>
                </a:solidFill>
                <a:latin typeface="Courier New" pitchFamily="34" charset="0"/>
                <a:ea typeface="Courier New" pitchFamily="34" charset="-122"/>
                <a:cs typeface="Courier New" pitchFamily="34" charset="-120"/>
              </a:rPr>
              <a:t>alias: plt</a:t>
            </a:r>
            <a:endParaRPr lang="en-US" sz="1000" dirty="0"/>
          </a:p>
        </p:txBody>
      </p:sp>
      <p:sp>
        <p:nvSpPr>
          <p:cNvPr id="9" name="Text 7"/>
          <p:cNvSpPr/>
          <p:nvPr/>
        </p:nvSpPr>
        <p:spPr>
          <a:xfrm>
            <a:off x="539496" y="2157984"/>
            <a:ext cx="3493008" cy="12801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Low-level and very flexible. Foundation of most Python visualization libraries. Best for learning fundamentals and full customisation.</a:t>
            </a:r>
            <a:endParaRPr lang="en-US" sz="1100" dirty="0"/>
          </a:p>
        </p:txBody>
      </p:sp>
      <p:sp>
        <p:nvSpPr>
          <p:cNvPr id="10" name="Shape 8"/>
          <p:cNvSpPr/>
          <p:nvPr/>
        </p:nvSpPr>
        <p:spPr>
          <a:xfrm>
            <a:off x="539496" y="3547872"/>
            <a:ext cx="3493008" cy="420624"/>
          </a:xfrm>
          <a:prstGeom prst="roundRect">
            <a:avLst>
              <a:gd name="adj" fmla="val 15217"/>
            </a:avLst>
          </a:prstGeom>
          <a:solidFill>
            <a:srgbClr val="1A2545"/>
          </a:solidFill>
          <a:ln w="12700">
            <a:solidFill>
              <a:srgbClr val="3B82F6"/>
            </a:solidFill>
            <a:prstDash val="solid"/>
          </a:ln>
        </p:spPr>
      </p:sp>
      <p:sp>
        <p:nvSpPr>
          <p:cNvPr id="11" name="Text 9"/>
          <p:cNvSpPr/>
          <p:nvPr/>
        </p:nvSpPr>
        <p:spPr>
          <a:xfrm>
            <a:off x="630936" y="3584448"/>
            <a:ext cx="3310128" cy="329184"/>
          </a:xfrm>
          <a:prstGeom prst="rect">
            <a:avLst/>
          </a:prstGeom>
          <a:noFill/>
          <a:ln/>
        </p:spPr>
        <p:txBody>
          <a:bodyPr wrap="square" lIns="0" tIns="0" rIns="0" bIns="0" rtlCol="0" anchor="ctr"/>
          <a:lstStyle/>
          <a:p>
            <a:pPr indent="0" marL="0">
              <a:buNone/>
            </a:pPr>
            <a:r>
              <a:rPr lang="en-US" sz="1050" dirty="0">
                <a:solidFill>
                  <a:srgbClr val="F59E0B"/>
                </a:solidFill>
                <a:latin typeface="Courier New" pitchFamily="34" charset="0"/>
                <a:ea typeface="Courier New" pitchFamily="34" charset="-122"/>
                <a:cs typeface="Courier New" pitchFamily="34" charset="-120"/>
              </a:rPr>
              <a:t>import matplotlib.pyplot as plt</a:t>
            </a:r>
            <a:endParaRPr lang="en-US" sz="1050" dirty="0"/>
          </a:p>
        </p:txBody>
      </p:sp>
      <p:sp>
        <p:nvSpPr>
          <p:cNvPr id="12" name="Shape 10"/>
          <p:cNvSpPr/>
          <p:nvPr/>
        </p:nvSpPr>
        <p:spPr>
          <a:xfrm>
            <a:off x="539496" y="4133088"/>
            <a:ext cx="3493008" cy="566928"/>
          </a:xfrm>
          <a:prstGeom prst="rect">
            <a:avLst/>
          </a:prstGeom>
          <a:solidFill>
            <a:srgbClr val="3B82F6"/>
          </a:solidFill>
          <a:ln w="3810">
            <a:solidFill>
              <a:srgbClr val="141E36"/>
            </a:solidFill>
            <a:prstDash val="solid"/>
          </a:ln>
        </p:spPr>
      </p:sp>
      <p:sp>
        <p:nvSpPr>
          <p:cNvPr id="13" name="Text 11"/>
          <p:cNvSpPr/>
          <p:nvPr/>
        </p:nvSpPr>
        <p:spPr>
          <a:xfrm>
            <a:off x="630936" y="4187952"/>
            <a:ext cx="1235903"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a:t>
            </a:r>
            <a:endParaRPr lang="en-US" sz="950" dirty="0"/>
          </a:p>
        </p:txBody>
      </p:sp>
      <p:sp>
        <p:nvSpPr>
          <p:cNvPr id="14" name="Text 12"/>
          <p:cNvSpPr/>
          <p:nvPr/>
        </p:nvSpPr>
        <p:spPr>
          <a:xfrm>
            <a:off x="1921703" y="4187952"/>
            <a:ext cx="2019361"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Explanation</a:t>
            </a:r>
            <a:endParaRPr lang="en-US" sz="950" dirty="0"/>
          </a:p>
        </p:txBody>
      </p:sp>
      <p:sp>
        <p:nvSpPr>
          <p:cNvPr id="15" name="Shape 13"/>
          <p:cNvSpPr/>
          <p:nvPr/>
        </p:nvSpPr>
        <p:spPr>
          <a:xfrm>
            <a:off x="1866839" y="4133088"/>
            <a:ext cx="18288" cy="566928"/>
          </a:xfrm>
          <a:prstGeom prst="rect">
            <a:avLst/>
          </a:prstGeom>
          <a:solidFill>
            <a:srgbClr val="FFFFFF"/>
          </a:solidFill>
          <a:ln w="12700">
            <a:solidFill>
              <a:srgbClr val="FFFFFF"/>
            </a:solidFill>
            <a:prstDash val="solid"/>
          </a:ln>
        </p:spPr>
      </p:sp>
      <p:sp>
        <p:nvSpPr>
          <p:cNvPr id="16" name="Shape 14"/>
          <p:cNvSpPr/>
          <p:nvPr/>
        </p:nvSpPr>
        <p:spPr>
          <a:xfrm>
            <a:off x="539496" y="4700016"/>
            <a:ext cx="3493008" cy="566928"/>
          </a:xfrm>
          <a:prstGeom prst="rect">
            <a:avLst/>
          </a:prstGeom>
          <a:solidFill>
            <a:srgbClr val="141E36"/>
          </a:solidFill>
          <a:ln w="3810">
            <a:solidFill>
              <a:srgbClr val="141E36"/>
            </a:solidFill>
            <a:prstDash val="solid"/>
          </a:ln>
        </p:spPr>
      </p:sp>
      <p:sp>
        <p:nvSpPr>
          <p:cNvPr id="17" name="Text 15"/>
          <p:cNvSpPr/>
          <p:nvPr/>
        </p:nvSpPr>
        <p:spPr>
          <a:xfrm>
            <a:off x="630936" y="4736592"/>
            <a:ext cx="1235903"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import matplotlib.pyplot as plt</a:t>
            </a:r>
            <a:endParaRPr lang="en-US" sz="900" dirty="0"/>
          </a:p>
        </p:txBody>
      </p:sp>
      <p:sp>
        <p:nvSpPr>
          <p:cNvPr id="18" name="Text 16"/>
          <p:cNvSpPr/>
          <p:nvPr/>
        </p:nvSpPr>
        <p:spPr>
          <a:xfrm>
            <a:off x="1921703" y="4736592"/>
            <a:ext cx="2019361"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Imports Matplotlib and gives it the short alias 'plt'. Using an alias means you type plt.plot() instead of Matplotlib.pyplot.plot() every time.</a:t>
            </a:r>
            <a:endParaRPr lang="en-US" sz="950" dirty="0"/>
          </a:p>
        </p:txBody>
      </p:sp>
      <p:sp>
        <p:nvSpPr>
          <p:cNvPr id="19" name="Shape 17"/>
          <p:cNvSpPr/>
          <p:nvPr/>
        </p:nvSpPr>
        <p:spPr>
          <a:xfrm>
            <a:off x="1866839" y="4700016"/>
            <a:ext cx="18288" cy="566928"/>
          </a:xfrm>
          <a:prstGeom prst="rect">
            <a:avLst/>
          </a:prstGeom>
          <a:solidFill>
            <a:srgbClr val="1E293B"/>
          </a:solidFill>
          <a:ln w="12700">
            <a:solidFill>
              <a:srgbClr val="1E293B"/>
            </a:solidFill>
            <a:prstDash val="solid"/>
          </a:ln>
        </p:spPr>
      </p:sp>
      <p:sp>
        <p:nvSpPr>
          <p:cNvPr id="20" name="Shape 18"/>
          <p:cNvSpPr/>
          <p:nvPr/>
        </p:nvSpPr>
        <p:spPr>
          <a:xfrm>
            <a:off x="4343400" y="1078992"/>
            <a:ext cx="3749040" cy="5577840"/>
          </a:xfrm>
          <a:prstGeom prst="roundRect">
            <a:avLst>
              <a:gd name="adj" fmla="val 2927"/>
            </a:avLst>
          </a:prstGeom>
          <a:solidFill>
            <a:srgbClr val="FFFFFF"/>
          </a:solidFill>
          <a:ln w="17780">
            <a:solidFill>
              <a:srgbClr val="22C55E"/>
            </a:solidFill>
            <a:prstDash val="solid"/>
          </a:ln>
          <a:effectLst>
            <a:outerShdw sx="100000" sy="100000" kx="0" ky="0" algn="bl" rotWithShape="0" blurRad="127000" dist="50800" dir="2700000">
              <a:srgbClr val="000000">
                <a:alpha val="18000"/>
              </a:srgbClr>
            </a:outerShdw>
          </a:effectLst>
        </p:spPr>
      </p:sp>
      <p:sp>
        <p:nvSpPr>
          <p:cNvPr id="21" name="Shape 19"/>
          <p:cNvSpPr/>
          <p:nvPr/>
        </p:nvSpPr>
        <p:spPr>
          <a:xfrm>
            <a:off x="4343400" y="1078992"/>
            <a:ext cx="3749040" cy="685800"/>
          </a:xfrm>
          <a:prstGeom prst="roundRect">
            <a:avLst>
              <a:gd name="adj" fmla="val 16000"/>
            </a:avLst>
          </a:prstGeom>
          <a:solidFill>
            <a:srgbClr val="22C55E"/>
          </a:solidFill>
          <a:ln w="12700">
            <a:solidFill>
              <a:srgbClr val="22C55E"/>
            </a:solidFill>
            <a:prstDash val="solid"/>
          </a:ln>
        </p:spPr>
      </p:sp>
      <p:sp>
        <p:nvSpPr>
          <p:cNvPr id="22" name="Shape 20"/>
          <p:cNvSpPr/>
          <p:nvPr/>
        </p:nvSpPr>
        <p:spPr>
          <a:xfrm>
            <a:off x="4343400" y="1426464"/>
            <a:ext cx="3749040" cy="338328"/>
          </a:xfrm>
          <a:prstGeom prst="rect">
            <a:avLst/>
          </a:prstGeom>
          <a:solidFill>
            <a:srgbClr val="22C55E"/>
          </a:solidFill>
          <a:ln w="12700">
            <a:solidFill>
              <a:srgbClr val="22C55E"/>
            </a:solidFill>
            <a:prstDash val="solid"/>
          </a:ln>
        </p:spPr>
      </p:sp>
      <p:sp>
        <p:nvSpPr>
          <p:cNvPr id="23" name="Text 21"/>
          <p:cNvSpPr/>
          <p:nvPr/>
        </p:nvSpPr>
        <p:spPr>
          <a:xfrm>
            <a:off x="4471416" y="1152144"/>
            <a:ext cx="3493008" cy="51206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  Seaborn</a:t>
            </a:r>
            <a:endParaRPr lang="en-US" sz="1600" dirty="0"/>
          </a:p>
        </p:txBody>
      </p:sp>
      <p:sp>
        <p:nvSpPr>
          <p:cNvPr id="24" name="Text 22"/>
          <p:cNvSpPr/>
          <p:nvPr/>
        </p:nvSpPr>
        <p:spPr>
          <a:xfrm>
            <a:off x="4471416" y="1865376"/>
            <a:ext cx="3493008" cy="256032"/>
          </a:xfrm>
          <a:prstGeom prst="rect">
            <a:avLst/>
          </a:prstGeom>
          <a:noFill/>
          <a:ln/>
        </p:spPr>
        <p:txBody>
          <a:bodyPr wrap="square" lIns="0" tIns="0" rIns="0" bIns="0" rtlCol="0" anchor="ctr"/>
          <a:lstStyle/>
          <a:p>
            <a:pPr indent="0" marL="0">
              <a:buNone/>
            </a:pPr>
            <a:r>
              <a:rPr lang="en-US" sz="1000" b="1" dirty="0">
                <a:solidFill>
                  <a:srgbClr val="22C55E"/>
                </a:solidFill>
                <a:latin typeface="Courier New" pitchFamily="34" charset="0"/>
                <a:ea typeface="Courier New" pitchFamily="34" charset="-122"/>
                <a:cs typeface="Courier New" pitchFamily="34" charset="-120"/>
              </a:rPr>
              <a:t>alias: sns</a:t>
            </a:r>
            <a:endParaRPr lang="en-US" sz="1000" dirty="0"/>
          </a:p>
        </p:txBody>
      </p:sp>
      <p:sp>
        <p:nvSpPr>
          <p:cNvPr id="25" name="Text 23"/>
          <p:cNvSpPr/>
          <p:nvPr/>
        </p:nvSpPr>
        <p:spPr>
          <a:xfrm>
            <a:off x="4471416" y="2157984"/>
            <a:ext cx="3493008" cy="12801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High-level statistical visualizations. Built on top of Matplotlib. Excellent for data analysis and teaching patterns with less code.</a:t>
            </a:r>
            <a:endParaRPr lang="en-US" sz="1100" dirty="0"/>
          </a:p>
        </p:txBody>
      </p:sp>
      <p:sp>
        <p:nvSpPr>
          <p:cNvPr id="26" name="Shape 24"/>
          <p:cNvSpPr/>
          <p:nvPr/>
        </p:nvSpPr>
        <p:spPr>
          <a:xfrm>
            <a:off x="4471416" y="3547872"/>
            <a:ext cx="3493008" cy="420624"/>
          </a:xfrm>
          <a:prstGeom prst="roundRect">
            <a:avLst>
              <a:gd name="adj" fmla="val 15217"/>
            </a:avLst>
          </a:prstGeom>
          <a:solidFill>
            <a:srgbClr val="1A2545"/>
          </a:solidFill>
          <a:ln w="12700">
            <a:solidFill>
              <a:srgbClr val="22C55E"/>
            </a:solidFill>
            <a:prstDash val="solid"/>
          </a:ln>
        </p:spPr>
      </p:sp>
      <p:sp>
        <p:nvSpPr>
          <p:cNvPr id="27" name="Text 25"/>
          <p:cNvSpPr/>
          <p:nvPr/>
        </p:nvSpPr>
        <p:spPr>
          <a:xfrm>
            <a:off x="4562856" y="3584448"/>
            <a:ext cx="3310128" cy="329184"/>
          </a:xfrm>
          <a:prstGeom prst="rect">
            <a:avLst/>
          </a:prstGeom>
          <a:noFill/>
          <a:ln/>
        </p:spPr>
        <p:txBody>
          <a:bodyPr wrap="square" lIns="0" tIns="0" rIns="0" bIns="0" rtlCol="0" anchor="ctr"/>
          <a:lstStyle/>
          <a:p>
            <a:pPr indent="0" marL="0">
              <a:buNone/>
            </a:pPr>
            <a:r>
              <a:rPr lang="en-US" sz="1050" dirty="0">
                <a:solidFill>
                  <a:srgbClr val="F59E0B"/>
                </a:solidFill>
                <a:latin typeface="Courier New" pitchFamily="34" charset="0"/>
                <a:ea typeface="Courier New" pitchFamily="34" charset="-122"/>
                <a:cs typeface="Courier New" pitchFamily="34" charset="-120"/>
              </a:rPr>
              <a:t>import seaborn as sns</a:t>
            </a:r>
            <a:endParaRPr lang="en-US" sz="1050" dirty="0"/>
          </a:p>
        </p:txBody>
      </p:sp>
      <p:sp>
        <p:nvSpPr>
          <p:cNvPr id="28" name="Shape 26"/>
          <p:cNvSpPr/>
          <p:nvPr/>
        </p:nvSpPr>
        <p:spPr>
          <a:xfrm>
            <a:off x="4471416" y="4133088"/>
            <a:ext cx="3493008" cy="566928"/>
          </a:xfrm>
          <a:prstGeom prst="rect">
            <a:avLst/>
          </a:prstGeom>
          <a:solidFill>
            <a:srgbClr val="22C55E"/>
          </a:solidFill>
          <a:ln w="3810">
            <a:solidFill>
              <a:srgbClr val="141E36"/>
            </a:solidFill>
            <a:prstDash val="solid"/>
          </a:ln>
        </p:spPr>
      </p:sp>
      <p:sp>
        <p:nvSpPr>
          <p:cNvPr id="29" name="Text 27"/>
          <p:cNvSpPr/>
          <p:nvPr/>
        </p:nvSpPr>
        <p:spPr>
          <a:xfrm>
            <a:off x="4562856" y="4187952"/>
            <a:ext cx="1235903"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a:t>
            </a:r>
            <a:endParaRPr lang="en-US" sz="950" dirty="0"/>
          </a:p>
        </p:txBody>
      </p:sp>
      <p:sp>
        <p:nvSpPr>
          <p:cNvPr id="30" name="Text 28"/>
          <p:cNvSpPr/>
          <p:nvPr/>
        </p:nvSpPr>
        <p:spPr>
          <a:xfrm>
            <a:off x="5853623" y="4187952"/>
            <a:ext cx="2019361"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Explanation</a:t>
            </a:r>
            <a:endParaRPr lang="en-US" sz="950" dirty="0"/>
          </a:p>
        </p:txBody>
      </p:sp>
      <p:sp>
        <p:nvSpPr>
          <p:cNvPr id="31" name="Shape 29"/>
          <p:cNvSpPr/>
          <p:nvPr/>
        </p:nvSpPr>
        <p:spPr>
          <a:xfrm>
            <a:off x="5798759" y="4133088"/>
            <a:ext cx="18288" cy="566928"/>
          </a:xfrm>
          <a:prstGeom prst="rect">
            <a:avLst/>
          </a:prstGeom>
          <a:solidFill>
            <a:srgbClr val="FFFFFF"/>
          </a:solidFill>
          <a:ln w="12700">
            <a:solidFill>
              <a:srgbClr val="FFFFFF"/>
            </a:solidFill>
            <a:prstDash val="solid"/>
          </a:ln>
        </p:spPr>
      </p:sp>
      <p:sp>
        <p:nvSpPr>
          <p:cNvPr id="32" name="Shape 30"/>
          <p:cNvSpPr/>
          <p:nvPr/>
        </p:nvSpPr>
        <p:spPr>
          <a:xfrm>
            <a:off x="4471416" y="4700016"/>
            <a:ext cx="3493008" cy="566928"/>
          </a:xfrm>
          <a:prstGeom prst="rect">
            <a:avLst/>
          </a:prstGeom>
          <a:solidFill>
            <a:srgbClr val="141E36"/>
          </a:solidFill>
          <a:ln w="3810">
            <a:solidFill>
              <a:srgbClr val="141E36"/>
            </a:solidFill>
            <a:prstDash val="solid"/>
          </a:ln>
        </p:spPr>
      </p:sp>
      <p:sp>
        <p:nvSpPr>
          <p:cNvPr id="33" name="Text 31"/>
          <p:cNvSpPr/>
          <p:nvPr/>
        </p:nvSpPr>
        <p:spPr>
          <a:xfrm>
            <a:off x="4562856" y="4736592"/>
            <a:ext cx="1235903"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import seaborn as sns</a:t>
            </a:r>
            <a:endParaRPr lang="en-US" sz="900" dirty="0"/>
          </a:p>
        </p:txBody>
      </p:sp>
      <p:sp>
        <p:nvSpPr>
          <p:cNvPr id="34" name="Text 32"/>
          <p:cNvSpPr/>
          <p:nvPr/>
        </p:nvSpPr>
        <p:spPr>
          <a:xfrm>
            <a:off x="5853623" y="4736592"/>
            <a:ext cx="2019361"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Imports Seaborn and gives it the short alias 'sns'. Using an alias means you type sns.plot() instead of Seaborn.pyplot.plot() every time.</a:t>
            </a:r>
            <a:endParaRPr lang="en-US" sz="950" dirty="0"/>
          </a:p>
        </p:txBody>
      </p:sp>
      <p:sp>
        <p:nvSpPr>
          <p:cNvPr id="35" name="Shape 33"/>
          <p:cNvSpPr/>
          <p:nvPr/>
        </p:nvSpPr>
        <p:spPr>
          <a:xfrm>
            <a:off x="5798759" y="4700016"/>
            <a:ext cx="18288" cy="566928"/>
          </a:xfrm>
          <a:prstGeom prst="rect">
            <a:avLst/>
          </a:prstGeom>
          <a:solidFill>
            <a:srgbClr val="1E293B"/>
          </a:solidFill>
          <a:ln w="12700">
            <a:solidFill>
              <a:srgbClr val="1E293B"/>
            </a:solidFill>
            <a:prstDash val="solid"/>
          </a:ln>
        </p:spPr>
      </p:sp>
      <p:sp>
        <p:nvSpPr>
          <p:cNvPr id="36" name="Shape 34"/>
          <p:cNvSpPr/>
          <p:nvPr/>
        </p:nvSpPr>
        <p:spPr>
          <a:xfrm>
            <a:off x="8275320" y="1078992"/>
            <a:ext cx="3749040" cy="5577840"/>
          </a:xfrm>
          <a:prstGeom prst="roundRect">
            <a:avLst>
              <a:gd name="adj" fmla="val 2927"/>
            </a:avLst>
          </a:prstGeom>
          <a:solidFill>
            <a:srgbClr val="FFFFFF"/>
          </a:solidFill>
          <a:ln w="17780">
            <a:solidFill>
              <a:srgbClr val="F43F5E"/>
            </a:solidFill>
            <a:prstDash val="solid"/>
          </a:ln>
          <a:effectLst>
            <a:outerShdw sx="100000" sy="100000" kx="0" ky="0" algn="bl" rotWithShape="0" blurRad="127000" dist="50800" dir="2700000">
              <a:srgbClr val="000000">
                <a:alpha val="18000"/>
              </a:srgbClr>
            </a:outerShdw>
          </a:effectLst>
        </p:spPr>
      </p:sp>
      <p:sp>
        <p:nvSpPr>
          <p:cNvPr id="37" name="Shape 35"/>
          <p:cNvSpPr/>
          <p:nvPr/>
        </p:nvSpPr>
        <p:spPr>
          <a:xfrm>
            <a:off x="8275320" y="1078992"/>
            <a:ext cx="3749040" cy="685800"/>
          </a:xfrm>
          <a:prstGeom prst="roundRect">
            <a:avLst>
              <a:gd name="adj" fmla="val 16000"/>
            </a:avLst>
          </a:prstGeom>
          <a:solidFill>
            <a:srgbClr val="F43F5E"/>
          </a:solidFill>
          <a:ln w="12700">
            <a:solidFill>
              <a:srgbClr val="F43F5E"/>
            </a:solidFill>
            <a:prstDash val="solid"/>
          </a:ln>
        </p:spPr>
      </p:sp>
      <p:sp>
        <p:nvSpPr>
          <p:cNvPr id="38" name="Shape 36"/>
          <p:cNvSpPr/>
          <p:nvPr/>
        </p:nvSpPr>
        <p:spPr>
          <a:xfrm>
            <a:off x="8275320" y="1426464"/>
            <a:ext cx="3749040" cy="338328"/>
          </a:xfrm>
          <a:prstGeom prst="rect">
            <a:avLst/>
          </a:prstGeom>
          <a:solidFill>
            <a:srgbClr val="F43F5E"/>
          </a:solidFill>
          <a:ln w="12700">
            <a:solidFill>
              <a:srgbClr val="F43F5E"/>
            </a:solidFill>
            <a:prstDash val="solid"/>
          </a:ln>
        </p:spPr>
      </p:sp>
      <p:sp>
        <p:nvSpPr>
          <p:cNvPr id="39" name="Text 37"/>
          <p:cNvSpPr/>
          <p:nvPr/>
        </p:nvSpPr>
        <p:spPr>
          <a:xfrm>
            <a:off x="8403336" y="1152144"/>
            <a:ext cx="3493008" cy="51206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  Plotly</a:t>
            </a:r>
            <a:endParaRPr lang="en-US" sz="1600" dirty="0"/>
          </a:p>
        </p:txBody>
      </p:sp>
      <p:sp>
        <p:nvSpPr>
          <p:cNvPr id="40" name="Text 38"/>
          <p:cNvSpPr/>
          <p:nvPr/>
        </p:nvSpPr>
        <p:spPr>
          <a:xfrm>
            <a:off x="8403336" y="1865376"/>
            <a:ext cx="3493008" cy="256032"/>
          </a:xfrm>
          <a:prstGeom prst="rect">
            <a:avLst/>
          </a:prstGeom>
          <a:noFill/>
          <a:ln/>
        </p:spPr>
        <p:txBody>
          <a:bodyPr wrap="square" lIns="0" tIns="0" rIns="0" bIns="0" rtlCol="0" anchor="ctr"/>
          <a:lstStyle/>
          <a:p>
            <a:pPr indent="0" marL="0">
              <a:buNone/>
            </a:pPr>
            <a:r>
              <a:rPr lang="en-US" sz="1000" b="1" dirty="0">
                <a:solidFill>
                  <a:srgbClr val="F43F5E"/>
                </a:solidFill>
                <a:latin typeface="Courier New" pitchFamily="34" charset="0"/>
                <a:ea typeface="Courier New" pitchFamily="34" charset="-122"/>
                <a:cs typeface="Courier New" pitchFamily="34" charset="-120"/>
              </a:rPr>
              <a:t>alias: px</a:t>
            </a:r>
            <a:endParaRPr lang="en-US" sz="1000" dirty="0"/>
          </a:p>
        </p:txBody>
      </p:sp>
      <p:sp>
        <p:nvSpPr>
          <p:cNvPr id="41" name="Text 39"/>
          <p:cNvSpPr/>
          <p:nvPr/>
        </p:nvSpPr>
        <p:spPr>
          <a:xfrm>
            <a:off x="8403336" y="2157984"/>
            <a:ext cx="3493008" cy="12801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Interactive and web-friendly charts. Great for dashboards and storytelling. Charts can be zoomed, hovered, and embedded in web apps.</a:t>
            </a:r>
            <a:endParaRPr lang="en-US" sz="1100" dirty="0"/>
          </a:p>
        </p:txBody>
      </p:sp>
      <p:sp>
        <p:nvSpPr>
          <p:cNvPr id="42" name="Shape 40"/>
          <p:cNvSpPr/>
          <p:nvPr/>
        </p:nvSpPr>
        <p:spPr>
          <a:xfrm>
            <a:off x="8403336" y="3547872"/>
            <a:ext cx="3493008" cy="420624"/>
          </a:xfrm>
          <a:prstGeom prst="roundRect">
            <a:avLst>
              <a:gd name="adj" fmla="val 15217"/>
            </a:avLst>
          </a:prstGeom>
          <a:solidFill>
            <a:srgbClr val="1A2545"/>
          </a:solidFill>
          <a:ln w="12700">
            <a:solidFill>
              <a:srgbClr val="F43F5E"/>
            </a:solidFill>
            <a:prstDash val="solid"/>
          </a:ln>
        </p:spPr>
      </p:sp>
      <p:sp>
        <p:nvSpPr>
          <p:cNvPr id="43" name="Text 41"/>
          <p:cNvSpPr/>
          <p:nvPr/>
        </p:nvSpPr>
        <p:spPr>
          <a:xfrm>
            <a:off x="8494776" y="3584448"/>
            <a:ext cx="3310128" cy="329184"/>
          </a:xfrm>
          <a:prstGeom prst="rect">
            <a:avLst/>
          </a:prstGeom>
          <a:noFill/>
          <a:ln/>
        </p:spPr>
        <p:txBody>
          <a:bodyPr wrap="square" lIns="0" tIns="0" rIns="0" bIns="0" rtlCol="0" anchor="ctr"/>
          <a:lstStyle/>
          <a:p>
            <a:pPr indent="0" marL="0">
              <a:buNone/>
            </a:pPr>
            <a:r>
              <a:rPr lang="en-US" sz="1050" dirty="0">
                <a:solidFill>
                  <a:srgbClr val="F59E0B"/>
                </a:solidFill>
                <a:latin typeface="Courier New" pitchFamily="34" charset="0"/>
                <a:ea typeface="Courier New" pitchFamily="34" charset="-122"/>
                <a:cs typeface="Courier New" pitchFamily="34" charset="-120"/>
              </a:rPr>
              <a:t>import plotly.express as px</a:t>
            </a:r>
            <a:endParaRPr lang="en-US" sz="1050" dirty="0"/>
          </a:p>
        </p:txBody>
      </p:sp>
      <p:sp>
        <p:nvSpPr>
          <p:cNvPr id="44" name="Shape 42"/>
          <p:cNvSpPr/>
          <p:nvPr/>
        </p:nvSpPr>
        <p:spPr>
          <a:xfrm>
            <a:off x="8403336" y="4133088"/>
            <a:ext cx="3493008" cy="566928"/>
          </a:xfrm>
          <a:prstGeom prst="rect">
            <a:avLst/>
          </a:prstGeom>
          <a:solidFill>
            <a:srgbClr val="F43F5E"/>
          </a:solidFill>
          <a:ln w="3810">
            <a:solidFill>
              <a:srgbClr val="141E36"/>
            </a:solidFill>
            <a:prstDash val="solid"/>
          </a:ln>
        </p:spPr>
      </p:sp>
      <p:sp>
        <p:nvSpPr>
          <p:cNvPr id="45" name="Text 43"/>
          <p:cNvSpPr/>
          <p:nvPr/>
        </p:nvSpPr>
        <p:spPr>
          <a:xfrm>
            <a:off x="8494776" y="4187952"/>
            <a:ext cx="1235903"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a:t>
            </a:r>
            <a:endParaRPr lang="en-US" sz="950" dirty="0"/>
          </a:p>
        </p:txBody>
      </p:sp>
      <p:sp>
        <p:nvSpPr>
          <p:cNvPr id="46" name="Text 44"/>
          <p:cNvSpPr/>
          <p:nvPr/>
        </p:nvSpPr>
        <p:spPr>
          <a:xfrm>
            <a:off x="9785543" y="4187952"/>
            <a:ext cx="2019361"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Explanation</a:t>
            </a:r>
            <a:endParaRPr lang="en-US" sz="950" dirty="0"/>
          </a:p>
        </p:txBody>
      </p:sp>
      <p:sp>
        <p:nvSpPr>
          <p:cNvPr id="47" name="Shape 45"/>
          <p:cNvSpPr/>
          <p:nvPr/>
        </p:nvSpPr>
        <p:spPr>
          <a:xfrm>
            <a:off x="9730679" y="4133088"/>
            <a:ext cx="18288" cy="566928"/>
          </a:xfrm>
          <a:prstGeom prst="rect">
            <a:avLst/>
          </a:prstGeom>
          <a:solidFill>
            <a:srgbClr val="FFFFFF"/>
          </a:solidFill>
          <a:ln w="12700">
            <a:solidFill>
              <a:srgbClr val="FFFFFF"/>
            </a:solidFill>
            <a:prstDash val="solid"/>
          </a:ln>
        </p:spPr>
      </p:sp>
      <p:sp>
        <p:nvSpPr>
          <p:cNvPr id="48" name="Shape 46"/>
          <p:cNvSpPr/>
          <p:nvPr/>
        </p:nvSpPr>
        <p:spPr>
          <a:xfrm>
            <a:off x="8403336" y="4700016"/>
            <a:ext cx="3493008" cy="566928"/>
          </a:xfrm>
          <a:prstGeom prst="rect">
            <a:avLst/>
          </a:prstGeom>
          <a:solidFill>
            <a:srgbClr val="141E36"/>
          </a:solidFill>
          <a:ln w="3810">
            <a:solidFill>
              <a:srgbClr val="141E36"/>
            </a:solidFill>
            <a:prstDash val="solid"/>
          </a:ln>
        </p:spPr>
      </p:sp>
      <p:sp>
        <p:nvSpPr>
          <p:cNvPr id="49" name="Text 47"/>
          <p:cNvSpPr/>
          <p:nvPr/>
        </p:nvSpPr>
        <p:spPr>
          <a:xfrm>
            <a:off x="8494776" y="4736592"/>
            <a:ext cx="1235903"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import plotly.express as px</a:t>
            </a:r>
            <a:endParaRPr lang="en-US" sz="900" dirty="0"/>
          </a:p>
        </p:txBody>
      </p:sp>
      <p:sp>
        <p:nvSpPr>
          <p:cNvPr id="50" name="Text 48"/>
          <p:cNvSpPr/>
          <p:nvPr/>
        </p:nvSpPr>
        <p:spPr>
          <a:xfrm>
            <a:off x="9785543" y="4736592"/>
            <a:ext cx="2019361"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Imports Plotly and gives it the short alias 'px'. Using an alias means you type px.plot() instead of Plotly.pyplot.plot() every time.</a:t>
            </a:r>
            <a:endParaRPr lang="en-US" sz="950" dirty="0"/>
          </a:p>
        </p:txBody>
      </p:sp>
      <p:sp>
        <p:nvSpPr>
          <p:cNvPr id="51" name="Shape 49"/>
          <p:cNvSpPr/>
          <p:nvPr/>
        </p:nvSpPr>
        <p:spPr>
          <a:xfrm>
            <a:off x="9730679" y="4700016"/>
            <a:ext cx="18288" cy="566928"/>
          </a:xfrm>
          <a:prstGeom prst="rect">
            <a:avLst/>
          </a:prstGeom>
          <a:solidFill>
            <a:srgbClr val="1E293B"/>
          </a:solidFill>
          <a:ln w="12700">
            <a:solidFill>
              <a:srgbClr val="1E293B"/>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 LINE CHART - Trends Over Time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303520" cy="4023360"/>
          </a:xfrm>
          <a:prstGeom prst="rect">
            <a:avLst/>
          </a:prstGeom>
        </p:spPr>
      </p:pic>
      <p:sp>
        <p:nvSpPr>
          <p:cNvPr id="5" name="Shape 2"/>
          <p:cNvSpPr/>
          <p:nvPr/>
        </p:nvSpPr>
        <p:spPr>
          <a:xfrm>
            <a:off x="411480" y="5120640"/>
            <a:ext cx="5303520" cy="1600200"/>
          </a:xfrm>
          <a:prstGeom prst="roundRect">
            <a:avLst>
              <a:gd name="adj" fmla="val 5714"/>
            </a:avLst>
          </a:prstGeom>
          <a:solidFill>
            <a:srgbClr val="0F1D3C"/>
          </a:solidFill>
          <a:ln w="15240">
            <a:solidFill>
              <a:srgbClr val="3B82F6"/>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230368"/>
            <a:ext cx="5047488" cy="292608"/>
          </a:xfrm>
          <a:prstGeom prst="rect">
            <a:avLst/>
          </a:prstGeom>
          <a:noFill/>
          <a:ln/>
        </p:spPr>
        <p:txBody>
          <a:bodyPr wrap="square" lIns="0" tIns="0" rIns="0" bIns="0" rtlCol="0" anchor="ctr"/>
          <a:lstStyle/>
          <a:p>
            <a:pPr indent="0" marL="0">
              <a:buNone/>
            </a:pPr>
            <a:r>
              <a:rPr lang="en-US" sz="1100" b="1" dirty="0">
                <a:solidFill>
                  <a:srgbClr val="3B82F6"/>
                </a:solidFill>
                <a:latin typeface="Cambria" pitchFamily="34" charset="0"/>
                <a:ea typeface="Cambria" pitchFamily="34" charset="-122"/>
                <a:cs typeface="Cambria" pitchFamily="34" charset="-120"/>
              </a:rPr>
              <a:t>Line Chart</a:t>
            </a:r>
            <a:endParaRPr lang="en-US" sz="1100" dirty="0"/>
          </a:p>
        </p:txBody>
      </p:sp>
      <p:sp>
        <p:nvSpPr>
          <p:cNvPr id="7" name="Text 4"/>
          <p:cNvSpPr/>
          <p:nvPr/>
        </p:nvSpPr>
        <p:spPr>
          <a:xfrm>
            <a:off x="539496" y="5559552"/>
            <a:ext cx="504748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5888736"/>
            <a:ext cx="164592" cy="164592"/>
          </a:xfrm>
          <a:prstGeom prst="ellipse">
            <a:avLst/>
          </a:prstGeom>
          <a:solidFill>
            <a:srgbClr val="3B82F6"/>
          </a:solidFill>
          <a:ln w="12700">
            <a:solidFill>
              <a:srgbClr val="3B82F6"/>
            </a:solidFill>
            <a:prstDash val="solid"/>
          </a:ln>
        </p:spPr>
      </p:sp>
      <p:sp>
        <p:nvSpPr>
          <p:cNvPr id="9" name="Text 6"/>
          <p:cNvSpPr/>
          <p:nvPr/>
        </p:nvSpPr>
        <p:spPr>
          <a:xfrm>
            <a:off x="758952" y="5815584"/>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Time series data</a:t>
            </a:r>
            <a:endParaRPr lang="en-US" sz="950" dirty="0"/>
          </a:p>
        </p:txBody>
      </p:sp>
      <p:sp>
        <p:nvSpPr>
          <p:cNvPr id="10" name="Shape 7"/>
          <p:cNvSpPr/>
          <p:nvPr/>
        </p:nvSpPr>
        <p:spPr>
          <a:xfrm>
            <a:off x="539496" y="6217920"/>
            <a:ext cx="164592" cy="164592"/>
          </a:xfrm>
          <a:prstGeom prst="ellipse">
            <a:avLst/>
          </a:prstGeom>
          <a:solidFill>
            <a:srgbClr val="3B82F6"/>
          </a:solidFill>
          <a:ln w="12700">
            <a:solidFill>
              <a:srgbClr val="3B82F6"/>
            </a:solidFill>
            <a:prstDash val="solid"/>
          </a:ln>
        </p:spPr>
      </p:sp>
      <p:sp>
        <p:nvSpPr>
          <p:cNvPr id="11" name="Text 8"/>
          <p:cNvSpPr/>
          <p:nvPr/>
        </p:nvSpPr>
        <p:spPr>
          <a:xfrm>
            <a:off x="758952" y="6144768"/>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Continuous data trends</a:t>
            </a:r>
            <a:endParaRPr lang="en-US" sz="950" dirty="0"/>
          </a:p>
        </p:txBody>
      </p:sp>
      <p:sp>
        <p:nvSpPr>
          <p:cNvPr id="12" name="Shape 9"/>
          <p:cNvSpPr/>
          <p:nvPr/>
        </p:nvSpPr>
        <p:spPr>
          <a:xfrm>
            <a:off x="539496" y="6547104"/>
            <a:ext cx="164592" cy="164592"/>
          </a:xfrm>
          <a:prstGeom prst="ellipse">
            <a:avLst/>
          </a:prstGeom>
          <a:solidFill>
            <a:srgbClr val="3B82F6"/>
          </a:solidFill>
          <a:ln w="12700">
            <a:solidFill>
              <a:srgbClr val="3B82F6"/>
            </a:solidFill>
            <a:prstDash val="solid"/>
          </a:ln>
        </p:spPr>
      </p:sp>
      <p:sp>
        <p:nvSpPr>
          <p:cNvPr id="13" name="Text 10"/>
          <p:cNvSpPr/>
          <p:nvPr/>
        </p:nvSpPr>
        <p:spPr>
          <a:xfrm>
            <a:off x="758952" y="6473952"/>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Change over days/months/years</a:t>
            </a:r>
            <a:endParaRPr lang="en-US" sz="950" dirty="0"/>
          </a:p>
        </p:txBody>
      </p:sp>
      <p:sp>
        <p:nvSpPr>
          <p:cNvPr id="14" name="Text 11"/>
          <p:cNvSpPr/>
          <p:nvPr/>
        </p:nvSpPr>
        <p:spPr>
          <a:xfrm>
            <a:off x="539496" y="6858000"/>
            <a:ext cx="5047488" cy="237744"/>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114032"/>
            <a:ext cx="5047488" cy="274320"/>
          </a:xfrm>
          <a:prstGeom prst="roundRect">
            <a:avLst>
              <a:gd name="adj" fmla="val 13333"/>
            </a:avLst>
          </a:prstGeom>
          <a:solidFill>
            <a:srgbClr val="3B82F6"/>
          </a:solidFill>
          <a:ln w="12700">
            <a:solidFill>
              <a:srgbClr val="3B82F6"/>
            </a:solidFill>
            <a:prstDash val="solid"/>
          </a:ln>
        </p:spPr>
      </p:sp>
      <p:sp>
        <p:nvSpPr>
          <p:cNvPr id="16" name="Text 13"/>
          <p:cNvSpPr/>
          <p:nvPr/>
        </p:nvSpPr>
        <p:spPr>
          <a:xfrm>
            <a:off x="594360" y="7132320"/>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Stock prices over time</a:t>
            </a:r>
            <a:endParaRPr lang="en-US" sz="950" dirty="0"/>
          </a:p>
        </p:txBody>
      </p:sp>
      <p:sp>
        <p:nvSpPr>
          <p:cNvPr id="17" name="Shape 14"/>
          <p:cNvSpPr/>
          <p:nvPr/>
        </p:nvSpPr>
        <p:spPr>
          <a:xfrm>
            <a:off x="539496" y="7443216"/>
            <a:ext cx="5047488" cy="274320"/>
          </a:xfrm>
          <a:prstGeom prst="roundRect">
            <a:avLst>
              <a:gd name="adj" fmla="val 13333"/>
            </a:avLst>
          </a:prstGeom>
          <a:solidFill>
            <a:srgbClr val="3B82F6"/>
          </a:solidFill>
          <a:ln w="12700">
            <a:solidFill>
              <a:srgbClr val="3B82F6"/>
            </a:solidFill>
            <a:prstDash val="solid"/>
          </a:ln>
        </p:spPr>
      </p:sp>
      <p:sp>
        <p:nvSpPr>
          <p:cNvPr id="18" name="Text 15"/>
          <p:cNvSpPr/>
          <p:nvPr/>
        </p:nvSpPr>
        <p:spPr>
          <a:xfrm>
            <a:off x="594360" y="7461504"/>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Monthly sales growth</a:t>
            </a:r>
            <a:endParaRPr lang="en-US" sz="950" dirty="0"/>
          </a:p>
        </p:txBody>
      </p:sp>
      <p:sp>
        <p:nvSpPr>
          <p:cNvPr id="19" name="Shape 16"/>
          <p:cNvSpPr/>
          <p:nvPr/>
        </p:nvSpPr>
        <p:spPr>
          <a:xfrm>
            <a:off x="539496" y="7772400"/>
            <a:ext cx="5047488" cy="274320"/>
          </a:xfrm>
          <a:prstGeom prst="roundRect">
            <a:avLst>
              <a:gd name="adj" fmla="val 13333"/>
            </a:avLst>
          </a:prstGeom>
          <a:solidFill>
            <a:srgbClr val="3B82F6"/>
          </a:solidFill>
          <a:ln w="12700">
            <a:solidFill>
              <a:srgbClr val="3B82F6"/>
            </a:solidFill>
            <a:prstDash val="solid"/>
          </a:ln>
        </p:spPr>
      </p:sp>
      <p:sp>
        <p:nvSpPr>
          <p:cNvPr id="20" name="Text 17"/>
          <p:cNvSpPr/>
          <p:nvPr/>
        </p:nvSpPr>
        <p:spPr>
          <a:xfrm>
            <a:off x="594360" y="7790688"/>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Temperature changes</a:t>
            </a:r>
            <a:endParaRPr lang="en-US" sz="950" dirty="0"/>
          </a:p>
        </p:txBody>
      </p:sp>
      <p:sp>
        <p:nvSpPr>
          <p:cNvPr id="21" name="Shape 18"/>
          <p:cNvSpPr/>
          <p:nvPr/>
        </p:nvSpPr>
        <p:spPr>
          <a:xfrm>
            <a:off x="5943600" y="1024128"/>
            <a:ext cx="5989320" cy="2633472"/>
          </a:xfrm>
          <a:prstGeom prst="roundRect">
            <a:avLst>
              <a:gd name="adj" fmla="val 3472"/>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5943600" y="1024128"/>
            <a:ext cx="598932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5943600" y="1207008"/>
            <a:ext cx="5989320" cy="146304"/>
          </a:xfrm>
          <a:prstGeom prst="rect">
            <a:avLst/>
          </a:prstGeom>
          <a:solidFill>
            <a:srgbClr val="141E36"/>
          </a:solidFill>
          <a:ln w="12700">
            <a:solidFill>
              <a:srgbClr val="141E36"/>
            </a:solidFill>
            <a:prstDash val="solid"/>
          </a:ln>
        </p:spPr>
      </p:sp>
      <p:sp>
        <p:nvSpPr>
          <p:cNvPr id="24" name="Shape 21"/>
          <p:cNvSpPr/>
          <p:nvPr/>
        </p:nvSpPr>
        <p:spPr>
          <a:xfrm>
            <a:off x="607161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627278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647395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6675120" y="1078992"/>
            <a:ext cx="50749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line_chart.py</a:t>
            </a:r>
            <a:endParaRPr lang="en-US" sz="900" dirty="0"/>
          </a:p>
        </p:txBody>
      </p:sp>
      <p:sp>
        <p:nvSpPr>
          <p:cNvPr id="28" name="Text 25"/>
          <p:cNvSpPr/>
          <p:nvPr/>
        </p:nvSpPr>
        <p:spPr>
          <a:xfrm>
            <a:off x="6089904" y="1408176"/>
            <a:ext cx="5715000" cy="213969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Sample Data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days  = [1, 2, 3, 4, 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sales = [200, 250, 300, 280, 350]</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plt.plot(days, sales)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plt.xlabel('Days')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plt.ylabel('Sales')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plt.title('Daily Sales Trend')</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9" name="Shape 26"/>
          <p:cNvSpPr/>
          <p:nvPr/>
        </p:nvSpPr>
        <p:spPr>
          <a:xfrm>
            <a:off x="5943600" y="3730752"/>
            <a:ext cx="5989320" cy="368046"/>
          </a:xfrm>
          <a:prstGeom prst="rect">
            <a:avLst/>
          </a:prstGeom>
          <a:solidFill>
            <a:srgbClr val="3B82F6"/>
          </a:solidFill>
          <a:ln w="3810">
            <a:solidFill>
              <a:srgbClr val="141E36"/>
            </a:solidFill>
            <a:prstDash val="solid"/>
          </a:ln>
        </p:spPr>
      </p:sp>
      <p:sp>
        <p:nvSpPr>
          <p:cNvPr id="30" name="Text 27"/>
          <p:cNvSpPr/>
          <p:nvPr/>
        </p:nvSpPr>
        <p:spPr>
          <a:xfrm>
            <a:off x="6035040" y="3785616"/>
            <a:ext cx="2184502" cy="27660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274406" y="3785616"/>
            <a:ext cx="3567074" cy="27660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219542" y="3730752"/>
            <a:ext cx="18288" cy="368046"/>
          </a:xfrm>
          <a:prstGeom prst="rect">
            <a:avLst/>
          </a:prstGeom>
          <a:solidFill>
            <a:srgbClr val="FFFFFF"/>
          </a:solidFill>
          <a:ln w="12700">
            <a:solidFill>
              <a:srgbClr val="FFFFFF"/>
            </a:solidFill>
            <a:prstDash val="solid"/>
          </a:ln>
        </p:spPr>
      </p:sp>
      <p:sp>
        <p:nvSpPr>
          <p:cNvPr id="33" name="Shape 30"/>
          <p:cNvSpPr/>
          <p:nvPr/>
        </p:nvSpPr>
        <p:spPr>
          <a:xfrm>
            <a:off x="5943600" y="4098798"/>
            <a:ext cx="5989320" cy="368046"/>
          </a:xfrm>
          <a:prstGeom prst="rect">
            <a:avLst/>
          </a:prstGeom>
          <a:solidFill>
            <a:srgbClr val="141E36"/>
          </a:solidFill>
          <a:ln w="3810">
            <a:solidFill>
              <a:srgbClr val="141E36"/>
            </a:solidFill>
            <a:prstDash val="solid"/>
          </a:ln>
        </p:spPr>
      </p:sp>
      <p:sp>
        <p:nvSpPr>
          <p:cNvPr id="34" name="Text 31"/>
          <p:cNvSpPr/>
          <p:nvPr/>
        </p:nvSpPr>
        <p:spPr>
          <a:xfrm>
            <a:off x="6035040" y="4135374"/>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days = [1, 2, 3, 4, 5]</a:t>
            </a:r>
            <a:endParaRPr lang="en-US" sz="900" dirty="0"/>
          </a:p>
        </p:txBody>
      </p:sp>
      <p:sp>
        <p:nvSpPr>
          <p:cNvPr id="35" name="Text 32"/>
          <p:cNvSpPr/>
          <p:nvPr/>
        </p:nvSpPr>
        <p:spPr>
          <a:xfrm>
            <a:off x="8274406" y="4135374"/>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Creates the x-axis values. Each number is a day (1 = Day 1, etc.).</a:t>
            </a:r>
            <a:endParaRPr lang="en-US" sz="950" dirty="0"/>
          </a:p>
        </p:txBody>
      </p:sp>
      <p:sp>
        <p:nvSpPr>
          <p:cNvPr id="36" name="Shape 33"/>
          <p:cNvSpPr/>
          <p:nvPr/>
        </p:nvSpPr>
        <p:spPr>
          <a:xfrm>
            <a:off x="8219542" y="4098798"/>
            <a:ext cx="18288" cy="368046"/>
          </a:xfrm>
          <a:prstGeom prst="rect">
            <a:avLst/>
          </a:prstGeom>
          <a:solidFill>
            <a:srgbClr val="1E293B"/>
          </a:solidFill>
          <a:ln w="12700">
            <a:solidFill>
              <a:srgbClr val="1E293B"/>
            </a:solidFill>
            <a:prstDash val="solid"/>
          </a:ln>
        </p:spPr>
      </p:sp>
      <p:sp>
        <p:nvSpPr>
          <p:cNvPr id="37" name="Shape 34"/>
          <p:cNvSpPr/>
          <p:nvPr/>
        </p:nvSpPr>
        <p:spPr>
          <a:xfrm>
            <a:off x="5943600" y="4466844"/>
            <a:ext cx="5989320" cy="368046"/>
          </a:xfrm>
          <a:prstGeom prst="rect">
            <a:avLst/>
          </a:prstGeom>
          <a:solidFill>
            <a:srgbClr val="0F1D3C"/>
          </a:solidFill>
          <a:ln w="3810">
            <a:solidFill>
              <a:srgbClr val="141E36"/>
            </a:solidFill>
            <a:prstDash val="solid"/>
          </a:ln>
        </p:spPr>
      </p:sp>
      <p:sp>
        <p:nvSpPr>
          <p:cNvPr id="38" name="Text 35"/>
          <p:cNvSpPr/>
          <p:nvPr/>
        </p:nvSpPr>
        <p:spPr>
          <a:xfrm>
            <a:off x="6035040" y="4503420"/>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sales = [200, 250, 300, 280, 350]</a:t>
            </a:r>
            <a:endParaRPr lang="en-US" sz="900" dirty="0"/>
          </a:p>
        </p:txBody>
      </p:sp>
      <p:sp>
        <p:nvSpPr>
          <p:cNvPr id="39" name="Text 36"/>
          <p:cNvSpPr/>
          <p:nvPr/>
        </p:nvSpPr>
        <p:spPr>
          <a:xfrm>
            <a:off x="8274406" y="4503420"/>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Creates the y-axis values. Each number is the sales amount for that day.</a:t>
            </a:r>
            <a:endParaRPr lang="en-US" sz="950" dirty="0"/>
          </a:p>
        </p:txBody>
      </p:sp>
      <p:sp>
        <p:nvSpPr>
          <p:cNvPr id="40" name="Shape 37"/>
          <p:cNvSpPr/>
          <p:nvPr/>
        </p:nvSpPr>
        <p:spPr>
          <a:xfrm>
            <a:off x="8219542" y="4466844"/>
            <a:ext cx="18288" cy="368046"/>
          </a:xfrm>
          <a:prstGeom prst="rect">
            <a:avLst/>
          </a:prstGeom>
          <a:solidFill>
            <a:srgbClr val="1E293B"/>
          </a:solidFill>
          <a:ln w="12700">
            <a:solidFill>
              <a:srgbClr val="1E293B"/>
            </a:solidFill>
            <a:prstDash val="solid"/>
          </a:ln>
        </p:spPr>
      </p:sp>
      <p:sp>
        <p:nvSpPr>
          <p:cNvPr id="41" name="Shape 38"/>
          <p:cNvSpPr/>
          <p:nvPr/>
        </p:nvSpPr>
        <p:spPr>
          <a:xfrm>
            <a:off x="5943600" y="4834890"/>
            <a:ext cx="5989320" cy="368046"/>
          </a:xfrm>
          <a:prstGeom prst="rect">
            <a:avLst/>
          </a:prstGeom>
          <a:solidFill>
            <a:srgbClr val="141E36"/>
          </a:solidFill>
          <a:ln w="3810">
            <a:solidFill>
              <a:srgbClr val="141E36"/>
            </a:solidFill>
            <a:prstDash val="solid"/>
          </a:ln>
        </p:spPr>
      </p:sp>
      <p:sp>
        <p:nvSpPr>
          <p:cNvPr id="42" name="Text 39"/>
          <p:cNvSpPr/>
          <p:nvPr/>
        </p:nvSpPr>
        <p:spPr>
          <a:xfrm>
            <a:off x="6035040" y="4871466"/>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plt.plot(days, sales)</a:t>
            </a:r>
            <a:endParaRPr lang="en-US" sz="900" dirty="0"/>
          </a:p>
        </p:txBody>
      </p:sp>
      <p:sp>
        <p:nvSpPr>
          <p:cNvPr id="43" name="Text 40"/>
          <p:cNvSpPr/>
          <p:nvPr/>
        </p:nvSpPr>
        <p:spPr>
          <a:xfrm>
            <a:off x="8274406" y="4871466"/>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Draws a line connecting each (day, sales) point in order.</a:t>
            </a:r>
            <a:endParaRPr lang="en-US" sz="950" dirty="0"/>
          </a:p>
        </p:txBody>
      </p:sp>
      <p:sp>
        <p:nvSpPr>
          <p:cNvPr id="44" name="Shape 41"/>
          <p:cNvSpPr/>
          <p:nvPr/>
        </p:nvSpPr>
        <p:spPr>
          <a:xfrm>
            <a:off x="8219542" y="4834890"/>
            <a:ext cx="18288" cy="368046"/>
          </a:xfrm>
          <a:prstGeom prst="rect">
            <a:avLst/>
          </a:prstGeom>
          <a:solidFill>
            <a:srgbClr val="1E293B"/>
          </a:solidFill>
          <a:ln w="12700">
            <a:solidFill>
              <a:srgbClr val="1E293B"/>
            </a:solidFill>
            <a:prstDash val="solid"/>
          </a:ln>
        </p:spPr>
      </p:sp>
      <p:sp>
        <p:nvSpPr>
          <p:cNvPr id="45" name="Shape 42"/>
          <p:cNvSpPr/>
          <p:nvPr/>
        </p:nvSpPr>
        <p:spPr>
          <a:xfrm>
            <a:off x="5943600" y="5202936"/>
            <a:ext cx="5989320" cy="368046"/>
          </a:xfrm>
          <a:prstGeom prst="rect">
            <a:avLst/>
          </a:prstGeom>
          <a:solidFill>
            <a:srgbClr val="0F1D3C"/>
          </a:solidFill>
          <a:ln w="3810">
            <a:solidFill>
              <a:srgbClr val="141E36"/>
            </a:solidFill>
            <a:prstDash val="solid"/>
          </a:ln>
        </p:spPr>
      </p:sp>
      <p:sp>
        <p:nvSpPr>
          <p:cNvPr id="46" name="Text 43"/>
          <p:cNvSpPr/>
          <p:nvPr/>
        </p:nvSpPr>
        <p:spPr>
          <a:xfrm>
            <a:off x="6035040" y="5239512"/>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plt.xlabel('Days')</a:t>
            </a:r>
            <a:endParaRPr lang="en-US" sz="900" dirty="0"/>
          </a:p>
        </p:txBody>
      </p:sp>
      <p:sp>
        <p:nvSpPr>
          <p:cNvPr id="47" name="Text 44"/>
          <p:cNvSpPr/>
          <p:nvPr/>
        </p:nvSpPr>
        <p:spPr>
          <a:xfrm>
            <a:off x="8274406" y="5239512"/>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Labels the x-axis so the reader knows what each value represents.</a:t>
            </a:r>
            <a:endParaRPr lang="en-US" sz="950" dirty="0"/>
          </a:p>
        </p:txBody>
      </p:sp>
      <p:sp>
        <p:nvSpPr>
          <p:cNvPr id="48" name="Shape 45"/>
          <p:cNvSpPr/>
          <p:nvPr/>
        </p:nvSpPr>
        <p:spPr>
          <a:xfrm>
            <a:off x="8219542" y="5202936"/>
            <a:ext cx="18288" cy="368046"/>
          </a:xfrm>
          <a:prstGeom prst="rect">
            <a:avLst/>
          </a:prstGeom>
          <a:solidFill>
            <a:srgbClr val="1E293B"/>
          </a:solidFill>
          <a:ln w="12700">
            <a:solidFill>
              <a:srgbClr val="1E293B"/>
            </a:solidFill>
            <a:prstDash val="solid"/>
          </a:ln>
        </p:spPr>
      </p:sp>
      <p:sp>
        <p:nvSpPr>
          <p:cNvPr id="49" name="Shape 46"/>
          <p:cNvSpPr/>
          <p:nvPr/>
        </p:nvSpPr>
        <p:spPr>
          <a:xfrm>
            <a:off x="5943600" y="5570982"/>
            <a:ext cx="5989320" cy="368046"/>
          </a:xfrm>
          <a:prstGeom prst="rect">
            <a:avLst/>
          </a:prstGeom>
          <a:solidFill>
            <a:srgbClr val="141E36"/>
          </a:solidFill>
          <a:ln w="3810">
            <a:solidFill>
              <a:srgbClr val="141E36"/>
            </a:solidFill>
            <a:prstDash val="solid"/>
          </a:ln>
        </p:spPr>
      </p:sp>
      <p:sp>
        <p:nvSpPr>
          <p:cNvPr id="50" name="Text 47"/>
          <p:cNvSpPr/>
          <p:nvPr/>
        </p:nvSpPr>
        <p:spPr>
          <a:xfrm>
            <a:off x="6035040" y="5607558"/>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plt.ylabel('Sales')</a:t>
            </a:r>
            <a:endParaRPr lang="en-US" sz="900" dirty="0"/>
          </a:p>
        </p:txBody>
      </p:sp>
      <p:sp>
        <p:nvSpPr>
          <p:cNvPr id="51" name="Text 48"/>
          <p:cNvSpPr/>
          <p:nvPr/>
        </p:nvSpPr>
        <p:spPr>
          <a:xfrm>
            <a:off x="8274406" y="5607558"/>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Labels the y-axis so the reader knows the unit of measurement.</a:t>
            </a:r>
            <a:endParaRPr lang="en-US" sz="950" dirty="0"/>
          </a:p>
        </p:txBody>
      </p:sp>
      <p:sp>
        <p:nvSpPr>
          <p:cNvPr id="52" name="Shape 49"/>
          <p:cNvSpPr/>
          <p:nvPr/>
        </p:nvSpPr>
        <p:spPr>
          <a:xfrm>
            <a:off x="8219542" y="5570982"/>
            <a:ext cx="18288" cy="368046"/>
          </a:xfrm>
          <a:prstGeom prst="rect">
            <a:avLst/>
          </a:prstGeom>
          <a:solidFill>
            <a:srgbClr val="1E293B"/>
          </a:solidFill>
          <a:ln w="12700">
            <a:solidFill>
              <a:srgbClr val="1E293B"/>
            </a:solidFill>
            <a:prstDash val="solid"/>
          </a:ln>
        </p:spPr>
      </p:sp>
      <p:sp>
        <p:nvSpPr>
          <p:cNvPr id="53" name="Shape 50"/>
          <p:cNvSpPr/>
          <p:nvPr/>
        </p:nvSpPr>
        <p:spPr>
          <a:xfrm>
            <a:off x="5943600" y="5939028"/>
            <a:ext cx="5989320" cy="368046"/>
          </a:xfrm>
          <a:prstGeom prst="rect">
            <a:avLst/>
          </a:prstGeom>
          <a:solidFill>
            <a:srgbClr val="0F1D3C"/>
          </a:solidFill>
          <a:ln w="3810">
            <a:solidFill>
              <a:srgbClr val="141E36"/>
            </a:solidFill>
            <a:prstDash val="solid"/>
          </a:ln>
        </p:spPr>
      </p:sp>
      <p:sp>
        <p:nvSpPr>
          <p:cNvPr id="54" name="Text 51"/>
          <p:cNvSpPr/>
          <p:nvPr/>
        </p:nvSpPr>
        <p:spPr>
          <a:xfrm>
            <a:off x="6035040" y="5975604"/>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plt.title('Daily Sales Trend')</a:t>
            </a:r>
            <a:endParaRPr lang="en-US" sz="900" dirty="0"/>
          </a:p>
        </p:txBody>
      </p:sp>
      <p:sp>
        <p:nvSpPr>
          <p:cNvPr id="55" name="Text 52"/>
          <p:cNvSpPr/>
          <p:nvPr/>
        </p:nvSpPr>
        <p:spPr>
          <a:xfrm>
            <a:off x="8274406" y="5975604"/>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Adds a title at the top of the chart.</a:t>
            </a:r>
            <a:endParaRPr lang="en-US" sz="950" dirty="0"/>
          </a:p>
        </p:txBody>
      </p:sp>
      <p:sp>
        <p:nvSpPr>
          <p:cNvPr id="56" name="Shape 53"/>
          <p:cNvSpPr/>
          <p:nvPr/>
        </p:nvSpPr>
        <p:spPr>
          <a:xfrm>
            <a:off x="8219542" y="5939028"/>
            <a:ext cx="18288" cy="368046"/>
          </a:xfrm>
          <a:prstGeom prst="rect">
            <a:avLst/>
          </a:prstGeom>
          <a:solidFill>
            <a:srgbClr val="1E293B"/>
          </a:solidFill>
          <a:ln w="12700">
            <a:solidFill>
              <a:srgbClr val="1E293B"/>
            </a:solidFill>
            <a:prstDash val="solid"/>
          </a:ln>
        </p:spPr>
      </p:sp>
      <p:sp>
        <p:nvSpPr>
          <p:cNvPr id="57" name="Shape 54"/>
          <p:cNvSpPr/>
          <p:nvPr/>
        </p:nvSpPr>
        <p:spPr>
          <a:xfrm>
            <a:off x="5943600" y="6307074"/>
            <a:ext cx="5989320" cy="368046"/>
          </a:xfrm>
          <a:prstGeom prst="rect">
            <a:avLst/>
          </a:prstGeom>
          <a:solidFill>
            <a:srgbClr val="141E36"/>
          </a:solidFill>
          <a:ln w="3810">
            <a:solidFill>
              <a:srgbClr val="141E36"/>
            </a:solidFill>
            <a:prstDash val="solid"/>
          </a:ln>
        </p:spPr>
      </p:sp>
      <p:sp>
        <p:nvSpPr>
          <p:cNvPr id="58" name="Text 55"/>
          <p:cNvSpPr/>
          <p:nvPr/>
        </p:nvSpPr>
        <p:spPr>
          <a:xfrm>
            <a:off x="6035040" y="6343650"/>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59" name="Text 56"/>
          <p:cNvSpPr/>
          <p:nvPr/>
        </p:nvSpPr>
        <p:spPr>
          <a:xfrm>
            <a:off x="8274406" y="6343650"/>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Renders and displays the chart in the output cell.</a:t>
            </a:r>
            <a:endParaRPr lang="en-US" sz="950" dirty="0"/>
          </a:p>
        </p:txBody>
      </p:sp>
      <p:sp>
        <p:nvSpPr>
          <p:cNvPr id="60" name="Shape 57"/>
          <p:cNvSpPr/>
          <p:nvPr/>
        </p:nvSpPr>
        <p:spPr>
          <a:xfrm>
            <a:off x="8219542" y="6307074"/>
            <a:ext cx="18288" cy="368046"/>
          </a:xfrm>
          <a:prstGeom prst="rect">
            <a:avLst/>
          </a:prstGeom>
          <a:solidFill>
            <a:srgbClr val="1E293B"/>
          </a:solidFill>
          <a:ln w="12700">
            <a:solidFill>
              <a:srgbClr val="1E293B"/>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3. BAR CHART - Comparing Categories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120640" cy="4023360"/>
          </a:xfrm>
          <a:prstGeom prst="rect">
            <a:avLst/>
          </a:prstGeom>
        </p:spPr>
      </p:pic>
      <p:sp>
        <p:nvSpPr>
          <p:cNvPr id="5" name="Shape 2"/>
          <p:cNvSpPr/>
          <p:nvPr/>
        </p:nvSpPr>
        <p:spPr>
          <a:xfrm>
            <a:off x="411480" y="5120640"/>
            <a:ext cx="5120640" cy="1600200"/>
          </a:xfrm>
          <a:prstGeom prst="roundRect">
            <a:avLst>
              <a:gd name="adj" fmla="val 5714"/>
            </a:avLst>
          </a:prstGeom>
          <a:solidFill>
            <a:srgbClr val="0F1D3C"/>
          </a:solidFill>
          <a:ln w="15240">
            <a:solidFill>
              <a:srgbClr val="22C55E"/>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230368"/>
            <a:ext cx="4864608" cy="292608"/>
          </a:xfrm>
          <a:prstGeom prst="rect">
            <a:avLst/>
          </a:prstGeom>
          <a:noFill/>
          <a:ln/>
        </p:spPr>
        <p:txBody>
          <a:bodyPr wrap="square" lIns="0" tIns="0" rIns="0" bIns="0" rtlCol="0" anchor="ctr"/>
          <a:lstStyle/>
          <a:p>
            <a:pPr indent="0" marL="0">
              <a:buNone/>
            </a:pPr>
            <a:r>
              <a:rPr lang="en-US" sz="1100" b="1" dirty="0">
                <a:solidFill>
                  <a:srgbClr val="22C55E"/>
                </a:solidFill>
                <a:latin typeface="Cambria" pitchFamily="34" charset="0"/>
                <a:ea typeface="Cambria" pitchFamily="34" charset="-122"/>
                <a:cs typeface="Cambria" pitchFamily="34" charset="-120"/>
              </a:rPr>
              <a:t>Bar Chart</a:t>
            </a:r>
            <a:endParaRPr lang="en-US" sz="1100" dirty="0"/>
          </a:p>
        </p:txBody>
      </p:sp>
      <p:sp>
        <p:nvSpPr>
          <p:cNvPr id="7" name="Text 4"/>
          <p:cNvSpPr/>
          <p:nvPr/>
        </p:nvSpPr>
        <p:spPr>
          <a:xfrm>
            <a:off x="539496" y="5559552"/>
            <a:ext cx="486460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5888736"/>
            <a:ext cx="164592" cy="164592"/>
          </a:xfrm>
          <a:prstGeom prst="ellipse">
            <a:avLst/>
          </a:prstGeom>
          <a:solidFill>
            <a:srgbClr val="22C55E"/>
          </a:solidFill>
          <a:ln w="12700">
            <a:solidFill>
              <a:srgbClr val="22C55E"/>
            </a:solidFill>
            <a:prstDash val="solid"/>
          </a:ln>
        </p:spPr>
      </p:sp>
      <p:sp>
        <p:nvSpPr>
          <p:cNvPr id="9" name="Text 6"/>
          <p:cNvSpPr/>
          <p:nvPr/>
        </p:nvSpPr>
        <p:spPr>
          <a:xfrm>
            <a:off x="758952" y="5815584"/>
            <a:ext cx="464515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Comparing discrete categories</a:t>
            </a:r>
            <a:endParaRPr lang="en-US" sz="950" dirty="0"/>
          </a:p>
        </p:txBody>
      </p:sp>
      <p:sp>
        <p:nvSpPr>
          <p:cNvPr id="10" name="Shape 7"/>
          <p:cNvSpPr/>
          <p:nvPr/>
        </p:nvSpPr>
        <p:spPr>
          <a:xfrm>
            <a:off x="539496" y="6217920"/>
            <a:ext cx="164592" cy="164592"/>
          </a:xfrm>
          <a:prstGeom prst="ellipse">
            <a:avLst/>
          </a:prstGeom>
          <a:solidFill>
            <a:srgbClr val="22C55E"/>
          </a:solidFill>
          <a:ln w="12700">
            <a:solidFill>
              <a:srgbClr val="22C55E"/>
            </a:solidFill>
            <a:prstDash val="solid"/>
          </a:ln>
        </p:spPr>
      </p:sp>
      <p:sp>
        <p:nvSpPr>
          <p:cNvPr id="11" name="Text 8"/>
          <p:cNvSpPr/>
          <p:nvPr/>
        </p:nvSpPr>
        <p:spPr>
          <a:xfrm>
            <a:off x="758952" y="6144768"/>
            <a:ext cx="464515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Ranked values side by side</a:t>
            </a:r>
            <a:endParaRPr lang="en-US" sz="950" dirty="0"/>
          </a:p>
        </p:txBody>
      </p:sp>
      <p:sp>
        <p:nvSpPr>
          <p:cNvPr id="12" name="Shape 9"/>
          <p:cNvSpPr/>
          <p:nvPr/>
        </p:nvSpPr>
        <p:spPr>
          <a:xfrm>
            <a:off x="539496" y="6547104"/>
            <a:ext cx="164592" cy="164592"/>
          </a:xfrm>
          <a:prstGeom prst="ellipse">
            <a:avLst/>
          </a:prstGeom>
          <a:solidFill>
            <a:srgbClr val="22C55E"/>
          </a:solidFill>
          <a:ln w="12700">
            <a:solidFill>
              <a:srgbClr val="22C55E"/>
            </a:solidFill>
            <a:prstDash val="solid"/>
          </a:ln>
        </p:spPr>
      </p:sp>
      <p:sp>
        <p:nvSpPr>
          <p:cNvPr id="13" name="Text 10"/>
          <p:cNvSpPr/>
          <p:nvPr/>
        </p:nvSpPr>
        <p:spPr>
          <a:xfrm>
            <a:off x="758952" y="6473952"/>
            <a:ext cx="464515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Discrete (non-continuous) data</a:t>
            </a:r>
            <a:endParaRPr lang="en-US" sz="950" dirty="0"/>
          </a:p>
        </p:txBody>
      </p:sp>
      <p:sp>
        <p:nvSpPr>
          <p:cNvPr id="14" name="Text 11"/>
          <p:cNvSpPr/>
          <p:nvPr/>
        </p:nvSpPr>
        <p:spPr>
          <a:xfrm>
            <a:off x="539496" y="6858000"/>
            <a:ext cx="4864608" cy="237744"/>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114032"/>
            <a:ext cx="4864608" cy="274320"/>
          </a:xfrm>
          <a:prstGeom prst="roundRect">
            <a:avLst>
              <a:gd name="adj" fmla="val 13333"/>
            </a:avLst>
          </a:prstGeom>
          <a:solidFill>
            <a:srgbClr val="22C55E"/>
          </a:solidFill>
          <a:ln w="12700">
            <a:solidFill>
              <a:srgbClr val="22C55E"/>
            </a:solidFill>
            <a:prstDash val="solid"/>
          </a:ln>
        </p:spPr>
      </p:sp>
      <p:sp>
        <p:nvSpPr>
          <p:cNvPr id="16" name="Text 13"/>
          <p:cNvSpPr/>
          <p:nvPr/>
        </p:nvSpPr>
        <p:spPr>
          <a:xfrm>
            <a:off x="594360" y="7132320"/>
            <a:ext cx="475488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Revenue by product</a:t>
            </a:r>
            <a:endParaRPr lang="en-US" sz="950" dirty="0"/>
          </a:p>
        </p:txBody>
      </p:sp>
      <p:sp>
        <p:nvSpPr>
          <p:cNvPr id="17" name="Shape 14"/>
          <p:cNvSpPr/>
          <p:nvPr/>
        </p:nvSpPr>
        <p:spPr>
          <a:xfrm>
            <a:off x="539496" y="7443216"/>
            <a:ext cx="4864608" cy="274320"/>
          </a:xfrm>
          <a:prstGeom prst="roundRect">
            <a:avLst>
              <a:gd name="adj" fmla="val 13333"/>
            </a:avLst>
          </a:prstGeom>
          <a:solidFill>
            <a:srgbClr val="22C55E"/>
          </a:solidFill>
          <a:ln w="12700">
            <a:solidFill>
              <a:srgbClr val="22C55E"/>
            </a:solidFill>
            <a:prstDash val="solid"/>
          </a:ln>
        </p:spPr>
      </p:sp>
      <p:sp>
        <p:nvSpPr>
          <p:cNvPr id="18" name="Text 15"/>
          <p:cNvSpPr/>
          <p:nvPr/>
        </p:nvSpPr>
        <p:spPr>
          <a:xfrm>
            <a:off x="594360" y="7461504"/>
            <a:ext cx="475488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Students per department</a:t>
            </a:r>
            <a:endParaRPr lang="en-US" sz="950" dirty="0"/>
          </a:p>
        </p:txBody>
      </p:sp>
      <p:sp>
        <p:nvSpPr>
          <p:cNvPr id="19" name="Shape 16"/>
          <p:cNvSpPr/>
          <p:nvPr/>
        </p:nvSpPr>
        <p:spPr>
          <a:xfrm>
            <a:off x="539496" y="7772400"/>
            <a:ext cx="4864608" cy="274320"/>
          </a:xfrm>
          <a:prstGeom prst="roundRect">
            <a:avLst>
              <a:gd name="adj" fmla="val 13333"/>
            </a:avLst>
          </a:prstGeom>
          <a:solidFill>
            <a:srgbClr val="22C55E"/>
          </a:solidFill>
          <a:ln w="12700">
            <a:solidFill>
              <a:srgbClr val="22C55E"/>
            </a:solidFill>
            <a:prstDash val="solid"/>
          </a:ln>
        </p:spPr>
      </p:sp>
      <p:sp>
        <p:nvSpPr>
          <p:cNvPr id="20" name="Text 17"/>
          <p:cNvSpPr/>
          <p:nvPr/>
        </p:nvSpPr>
        <p:spPr>
          <a:xfrm>
            <a:off x="594360" y="7790688"/>
            <a:ext cx="475488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Votes per candidate</a:t>
            </a:r>
            <a:endParaRPr lang="en-US" sz="950" dirty="0"/>
          </a:p>
        </p:txBody>
      </p:sp>
      <p:sp>
        <p:nvSpPr>
          <p:cNvPr id="21" name="Shape 18"/>
          <p:cNvSpPr/>
          <p:nvPr/>
        </p:nvSpPr>
        <p:spPr>
          <a:xfrm>
            <a:off x="5715000" y="1024128"/>
            <a:ext cx="6217920" cy="2487168"/>
          </a:xfrm>
          <a:prstGeom prst="roundRect">
            <a:avLst>
              <a:gd name="adj" fmla="val 3676"/>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5715000" y="1024128"/>
            <a:ext cx="621792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5715000" y="1207008"/>
            <a:ext cx="6217920" cy="146304"/>
          </a:xfrm>
          <a:prstGeom prst="rect">
            <a:avLst/>
          </a:prstGeom>
          <a:solidFill>
            <a:srgbClr val="141E36"/>
          </a:solidFill>
          <a:ln w="12700">
            <a:solidFill>
              <a:srgbClr val="141E36"/>
            </a:solidFill>
            <a:prstDash val="solid"/>
          </a:ln>
        </p:spPr>
      </p:sp>
      <p:sp>
        <p:nvSpPr>
          <p:cNvPr id="24" name="Shape 21"/>
          <p:cNvSpPr/>
          <p:nvPr/>
        </p:nvSpPr>
        <p:spPr>
          <a:xfrm>
            <a:off x="584301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604418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624535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6446520" y="1078992"/>
            <a:ext cx="53035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bar_chart.py</a:t>
            </a:r>
            <a:endParaRPr lang="en-US" sz="900" dirty="0"/>
          </a:p>
        </p:txBody>
      </p:sp>
      <p:sp>
        <p:nvSpPr>
          <p:cNvPr id="28" name="Text 25"/>
          <p:cNvSpPr/>
          <p:nvPr/>
        </p:nvSpPr>
        <p:spPr>
          <a:xfrm>
            <a:off x="5861304" y="1408176"/>
            <a:ext cx="5943600" cy="1993392"/>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products = ['A', 'B', 'C']</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revenue  = [5000, 7000, 6000]</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plt.bar(products, revenue)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plt.title('Revenue by Product')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plt.xlabel('Products')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plt.ylabel('Revenue')</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9" name="Shape 26"/>
          <p:cNvSpPr/>
          <p:nvPr/>
        </p:nvSpPr>
        <p:spPr>
          <a:xfrm>
            <a:off x="5715000" y="3584448"/>
            <a:ext cx="6217920" cy="386334"/>
          </a:xfrm>
          <a:prstGeom prst="rect">
            <a:avLst/>
          </a:prstGeom>
          <a:solidFill>
            <a:srgbClr val="22C55E"/>
          </a:solidFill>
          <a:ln w="3810">
            <a:solidFill>
              <a:srgbClr val="141E36"/>
            </a:solidFill>
            <a:prstDash val="solid"/>
          </a:ln>
        </p:spPr>
      </p:sp>
      <p:sp>
        <p:nvSpPr>
          <p:cNvPr id="30" name="Text 27"/>
          <p:cNvSpPr/>
          <p:nvPr/>
        </p:nvSpPr>
        <p:spPr>
          <a:xfrm>
            <a:off x="5806440" y="3639312"/>
            <a:ext cx="2271370" cy="294894"/>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132674" y="3639312"/>
            <a:ext cx="3708806" cy="294894"/>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077810" y="3584448"/>
            <a:ext cx="18288" cy="386334"/>
          </a:xfrm>
          <a:prstGeom prst="rect">
            <a:avLst/>
          </a:prstGeom>
          <a:solidFill>
            <a:srgbClr val="FFFFFF"/>
          </a:solidFill>
          <a:ln w="12700">
            <a:solidFill>
              <a:srgbClr val="FFFFFF"/>
            </a:solidFill>
            <a:prstDash val="solid"/>
          </a:ln>
        </p:spPr>
      </p:sp>
      <p:sp>
        <p:nvSpPr>
          <p:cNvPr id="33" name="Shape 30"/>
          <p:cNvSpPr/>
          <p:nvPr/>
        </p:nvSpPr>
        <p:spPr>
          <a:xfrm>
            <a:off x="5715000" y="3970782"/>
            <a:ext cx="6217920" cy="386334"/>
          </a:xfrm>
          <a:prstGeom prst="rect">
            <a:avLst/>
          </a:prstGeom>
          <a:solidFill>
            <a:srgbClr val="141E36"/>
          </a:solidFill>
          <a:ln w="3810">
            <a:solidFill>
              <a:srgbClr val="141E36"/>
            </a:solidFill>
            <a:prstDash val="solid"/>
          </a:ln>
        </p:spPr>
      </p:sp>
      <p:sp>
        <p:nvSpPr>
          <p:cNvPr id="34" name="Text 31"/>
          <p:cNvSpPr/>
          <p:nvPr/>
        </p:nvSpPr>
        <p:spPr>
          <a:xfrm>
            <a:off x="5806440" y="4007358"/>
            <a:ext cx="2271370" cy="313182"/>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products = ['A', 'B', 'C']</a:t>
            </a:r>
            <a:endParaRPr lang="en-US" sz="900" dirty="0"/>
          </a:p>
        </p:txBody>
      </p:sp>
      <p:sp>
        <p:nvSpPr>
          <p:cNvPr id="35" name="Text 32"/>
          <p:cNvSpPr/>
          <p:nvPr/>
        </p:nvSpPr>
        <p:spPr>
          <a:xfrm>
            <a:off x="8132674" y="4007358"/>
            <a:ext cx="3708806" cy="31318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Defines the categories to appear on the x-axis.</a:t>
            </a:r>
            <a:endParaRPr lang="en-US" sz="950" dirty="0"/>
          </a:p>
        </p:txBody>
      </p:sp>
      <p:sp>
        <p:nvSpPr>
          <p:cNvPr id="36" name="Shape 33"/>
          <p:cNvSpPr/>
          <p:nvPr/>
        </p:nvSpPr>
        <p:spPr>
          <a:xfrm>
            <a:off x="8077810" y="3970782"/>
            <a:ext cx="18288" cy="386334"/>
          </a:xfrm>
          <a:prstGeom prst="rect">
            <a:avLst/>
          </a:prstGeom>
          <a:solidFill>
            <a:srgbClr val="1E293B"/>
          </a:solidFill>
          <a:ln w="12700">
            <a:solidFill>
              <a:srgbClr val="1E293B"/>
            </a:solidFill>
            <a:prstDash val="solid"/>
          </a:ln>
        </p:spPr>
      </p:sp>
      <p:sp>
        <p:nvSpPr>
          <p:cNvPr id="37" name="Shape 34"/>
          <p:cNvSpPr/>
          <p:nvPr/>
        </p:nvSpPr>
        <p:spPr>
          <a:xfrm>
            <a:off x="5715000" y="4357116"/>
            <a:ext cx="6217920" cy="386334"/>
          </a:xfrm>
          <a:prstGeom prst="rect">
            <a:avLst/>
          </a:prstGeom>
          <a:solidFill>
            <a:srgbClr val="0F1D3C"/>
          </a:solidFill>
          <a:ln w="3810">
            <a:solidFill>
              <a:srgbClr val="141E36"/>
            </a:solidFill>
            <a:prstDash val="solid"/>
          </a:ln>
        </p:spPr>
      </p:sp>
      <p:sp>
        <p:nvSpPr>
          <p:cNvPr id="38" name="Text 35"/>
          <p:cNvSpPr/>
          <p:nvPr/>
        </p:nvSpPr>
        <p:spPr>
          <a:xfrm>
            <a:off x="5806440" y="4393692"/>
            <a:ext cx="2271370" cy="313182"/>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revenue = [5000, 7000, 6000]</a:t>
            </a:r>
            <a:endParaRPr lang="en-US" sz="900" dirty="0"/>
          </a:p>
        </p:txBody>
      </p:sp>
      <p:sp>
        <p:nvSpPr>
          <p:cNvPr id="39" name="Text 36"/>
          <p:cNvSpPr/>
          <p:nvPr/>
        </p:nvSpPr>
        <p:spPr>
          <a:xfrm>
            <a:off x="8132674" y="4393692"/>
            <a:ext cx="3708806" cy="31318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Defines the height of each bar (revenue per product).</a:t>
            </a:r>
            <a:endParaRPr lang="en-US" sz="950" dirty="0"/>
          </a:p>
        </p:txBody>
      </p:sp>
      <p:sp>
        <p:nvSpPr>
          <p:cNvPr id="40" name="Shape 37"/>
          <p:cNvSpPr/>
          <p:nvPr/>
        </p:nvSpPr>
        <p:spPr>
          <a:xfrm>
            <a:off x="8077810" y="4357116"/>
            <a:ext cx="18288" cy="386334"/>
          </a:xfrm>
          <a:prstGeom prst="rect">
            <a:avLst/>
          </a:prstGeom>
          <a:solidFill>
            <a:srgbClr val="1E293B"/>
          </a:solidFill>
          <a:ln w="12700">
            <a:solidFill>
              <a:srgbClr val="1E293B"/>
            </a:solidFill>
            <a:prstDash val="solid"/>
          </a:ln>
        </p:spPr>
      </p:sp>
      <p:sp>
        <p:nvSpPr>
          <p:cNvPr id="41" name="Shape 38"/>
          <p:cNvSpPr/>
          <p:nvPr/>
        </p:nvSpPr>
        <p:spPr>
          <a:xfrm>
            <a:off x="5715000" y="4743450"/>
            <a:ext cx="6217920" cy="386334"/>
          </a:xfrm>
          <a:prstGeom prst="rect">
            <a:avLst/>
          </a:prstGeom>
          <a:solidFill>
            <a:srgbClr val="141E36"/>
          </a:solidFill>
          <a:ln w="3810">
            <a:solidFill>
              <a:srgbClr val="141E36"/>
            </a:solidFill>
            <a:prstDash val="solid"/>
          </a:ln>
        </p:spPr>
      </p:sp>
      <p:sp>
        <p:nvSpPr>
          <p:cNvPr id="42" name="Text 39"/>
          <p:cNvSpPr/>
          <p:nvPr/>
        </p:nvSpPr>
        <p:spPr>
          <a:xfrm>
            <a:off x="5806440" y="4780026"/>
            <a:ext cx="2271370" cy="313182"/>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plt.bar(products, revenue)</a:t>
            </a:r>
            <a:endParaRPr lang="en-US" sz="900" dirty="0"/>
          </a:p>
        </p:txBody>
      </p:sp>
      <p:sp>
        <p:nvSpPr>
          <p:cNvPr id="43" name="Text 40"/>
          <p:cNvSpPr/>
          <p:nvPr/>
        </p:nvSpPr>
        <p:spPr>
          <a:xfrm>
            <a:off x="8132674" y="4780026"/>
            <a:ext cx="3708806" cy="31318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Creates vertical bars - one bar per product, height = revenue.</a:t>
            </a:r>
            <a:endParaRPr lang="en-US" sz="950" dirty="0"/>
          </a:p>
        </p:txBody>
      </p:sp>
      <p:sp>
        <p:nvSpPr>
          <p:cNvPr id="44" name="Shape 41"/>
          <p:cNvSpPr/>
          <p:nvPr/>
        </p:nvSpPr>
        <p:spPr>
          <a:xfrm>
            <a:off x="8077810" y="4743450"/>
            <a:ext cx="18288" cy="386334"/>
          </a:xfrm>
          <a:prstGeom prst="rect">
            <a:avLst/>
          </a:prstGeom>
          <a:solidFill>
            <a:srgbClr val="1E293B"/>
          </a:solidFill>
          <a:ln w="12700">
            <a:solidFill>
              <a:srgbClr val="1E293B"/>
            </a:solidFill>
            <a:prstDash val="solid"/>
          </a:ln>
        </p:spPr>
      </p:sp>
      <p:sp>
        <p:nvSpPr>
          <p:cNvPr id="45" name="Shape 42"/>
          <p:cNvSpPr/>
          <p:nvPr/>
        </p:nvSpPr>
        <p:spPr>
          <a:xfrm>
            <a:off x="5715000" y="5129784"/>
            <a:ext cx="6217920" cy="386334"/>
          </a:xfrm>
          <a:prstGeom prst="rect">
            <a:avLst/>
          </a:prstGeom>
          <a:solidFill>
            <a:srgbClr val="0F1D3C"/>
          </a:solidFill>
          <a:ln w="3810">
            <a:solidFill>
              <a:srgbClr val="141E36"/>
            </a:solidFill>
            <a:prstDash val="solid"/>
          </a:ln>
        </p:spPr>
      </p:sp>
      <p:sp>
        <p:nvSpPr>
          <p:cNvPr id="46" name="Text 43"/>
          <p:cNvSpPr/>
          <p:nvPr/>
        </p:nvSpPr>
        <p:spPr>
          <a:xfrm>
            <a:off x="5806440" y="5166360"/>
            <a:ext cx="2271370" cy="313182"/>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plt.title(...)</a:t>
            </a:r>
            <a:endParaRPr lang="en-US" sz="900" dirty="0"/>
          </a:p>
        </p:txBody>
      </p:sp>
      <p:sp>
        <p:nvSpPr>
          <p:cNvPr id="47" name="Text 44"/>
          <p:cNvSpPr/>
          <p:nvPr/>
        </p:nvSpPr>
        <p:spPr>
          <a:xfrm>
            <a:off x="8132674" y="5166360"/>
            <a:ext cx="3708806" cy="31318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Sets the chart title displayed at the top.</a:t>
            </a:r>
            <a:endParaRPr lang="en-US" sz="950" dirty="0"/>
          </a:p>
        </p:txBody>
      </p:sp>
      <p:sp>
        <p:nvSpPr>
          <p:cNvPr id="48" name="Shape 45"/>
          <p:cNvSpPr/>
          <p:nvPr/>
        </p:nvSpPr>
        <p:spPr>
          <a:xfrm>
            <a:off x="8077810" y="5129784"/>
            <a:ext cx="18288" cy="386334"/>
          </a:xfrm>
          <a:prstGeom prst="rect">
            <a:avLst/>
          </a:prstGeom>
          <a:solidFill>
            <a:srgbClr val="1E293B"/>
          </a:solidFill>
          <a:ln w="12700">
            <a:solidFill>
              <a:srgbClr val="1E293B"/>
            </a:solidFill>
            <a:prstDash val="solid"/>
          </a:ln>
        </p:spPr>
      </p:sp>
      <p:sp>
        <p:nvSpPr>
          <p:cNvPr id="49" name="Shape 46"/>
          <p:cNvSpPr/>
          <p:nvPr/>
        </p:nvSpPr>
        <p:spPr>
          <a:xfrm>
            <a:off x="5715000" y="5516118"/>
            <a:ext cx="6217920" cy="386334"/>
          </a:xfrm>
          <a:prstGeom prst="rect">
            <a:avLst/>
          </a:prstGeom>
          <a:solidFill>
            <a:srgbClr val="141E36"/>
          </a:solidFill>
          <a:ln w="3810">
            <a:solidFill>
              <a:srgbClr val="141E36"/>
            </a:solidFill>
            <a:prstDash val="solid"/>
          </a:ln>
        </p:spPr>
      </p:sp>
      <p:sp>
        <p:nvSpPr>
          <p:cNvPr id="50" name="Text 47"/>
          <p:cNvSpPr/>
          <p:nvPr/>
        </p:nvSpPr>
        <p:spPr>
          <a:xfrm>
            <a:off x="5806440" y="5552694"/>
            <a:ext cx="2271370" cy="313182"/>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plt.xlabel('Products')</a:t>
            </a:r>
            <a:endParaRPr lang="en-US" sz="900" dirty="0"/>
          </a:p>
        </p:txBody>
      </p:sp>
      <p:sp>
        <p:nvSpPr>
          <p:cNvPr id="51" name="Text 48"/>
          <p:cNvSpPr/>
          <p:nvPr/>
        </p:nvSpPr>
        <p:spPr>
          <a:xfrm>
            <a:off x="8132674" y="5552694"/>
            <a:ext cx="3708806" cy="31318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Labels the x-axis (the categories axis).</a:t>
            </a:r>
            <a:endParaRPr lang="en-US" sz="950" dirty="0"/>
          </a:p>
        </p:txBody>
      </p:sp>
      <p:sp>
        <p:nvSpPr>
          <p:cNvPr id="52" name="Shape 49"/>
          <p:cNvSpPr/>
          <p:nvPr/>
        </p:nvSpPr>
        <p:spPr>
          <a:xfrm>
            <a:off x="8077810" y="5516118"/>
            <a:ext cx="18288" cy="386334"/>
          </a:xfrm>
          <a:prstGeom prst="rect">
            <a:avLst/>
          </a:prstGeom>
          <a:solidFill>
            <a:srgbClr val="1E293B"/>
          </a:solidFill>
          <a:ln w="12700">
            <a:solidFill>
              <a:srgbClr val="1E293B"/>
            </a:solidFill>
            <a:prstDash val="solid"/>
          </a:ln>
        </p:spPr>
      </p:sp>
      <p:sp>
        <p:nvSpPr>
          <p:cNvPr id="53" name="Shape 50"/>
          <p:cNvSpPr/>
          <p:nvPr/>
        </p:nvSpPr>
        <p:spPr>
          <a:xfrm>
            <a:off x="5715000" y="5902452"/>
            <a:ext cx="6217920" cy="386334"/>
          </a:xfrm>
          <a:prstGeom prst="rect">
            <a:avLst/>
          </a:prstGeom>
          <a:solidFill>
            <a:srgbClr val="0F1D3C"/>
          </a:solidFill>
          <a:ln w="3810">
            <a:solidFill>
              <a:srgbClr val="141E36"/>
            </a:solidFill>
            <a:prstDash val="solid"/>
          </a:ln>
        </p:spPr>
      </p:sp>
      <p:sp>
        <p:nvSpPr>
          <p:cNvPr id="54" name="Text 51"/>
          <p:cNvSpPr/>
          <p:nvPr/>
        </p:nvSpPr>
        <p:spPr>
          <a:xfrm>
            <a:off x="5806440" y="5939028"/>
            <a:ext cx="2271370" cy="313182"/>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plt.ylabel('Revenue')</a:t>
            </a:r>
            <a:endParaRPr lang="en-US" sz="900" dirty="0"/>
          </a:p>
        </p:txBody>
      </p:sp>
      <p:sp>
        <p:nvSpPr>
          <p:cNvPr id="55" name="Text 52"/>
          <p:cNvSpPr/>
          <p:nvPr/>
        </p:nvSpPr>
        <p:spPr>
          <a:xfrm>
            <a:off x="8132674" y="5939028"/>
            <a:ext cx="3708806" cy="31318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Labels the y-axis (the values axis).</a:t>
            </a:r>
            <a:endParaRPr lang="en-US" sz="950" dirty="0"/>
          </a:p>
        </p:txBody>
      </p:sp>
      <p:sp>
        <p:nvSpPr>
          <p:cNvPr id="56" name="Shape 53"/>
          <p:cNvSpPr/>
          <p:nvPr/>
        </p:nvSpPr>
        <p:spPr>
          <a:xfrm>
            <a:off x="8077810" y="5902452"/>
            <a:ext cx="18288" cy="386334"/>
          </a:xfrm>
          <a:prstGeom prst="rect">
            <a:avLst/>
          </a:prstGeom>
          <a:solidFill>
            <a:srgbClr val="1E293B"/>
          </a:solidFill>
          <a:ln w="12700">
            <a:solidFill>
              <a:srgbClr val="1E293B"/>
            </a:solidFill>
            <a:prstDash val="solid"/>
          </a:ln>
        </p:spPr>
      </p:sp>
      <p:sp>
        <p:nvSpPr>
          <p:cNvPr id="57" name="Shape 54"/>
          <p:cNvSpPr/>
          <p:nvPr/>
        </p:nvSpPr>
        <p:spPr>
          <a:xfrm>
            <a:off x="5715000" y="6288786"/>
            <a:ext cx="6217920" cy="386334"/>
          </a:xfrm>
          <a:prstGeom prst="rect">
            <a:avLst/>
          </a:prstGeom>
          <a:solidFill>
            <a:srgbClr val="141E36"/>
          </a:solidFill>
          <a:ln w="3810">
            <a:solidFill>
              <a:srgbClr val="141E36"/>
            </a:solidFill>
            <a:prstDash val="solid"/>
          </a:ln>
        </p:spPr>
      </p:sp>
      <p:sp>
        <p:nvSpPr>
          <p:cNvPr id="58" name="Text 55"/>
          <p:cNvSpPr/>
          <p:nvPr/>
        </p:nvSpPr>
        <p:spPr>
          <a:xfrm>
            <a:off x="5806440" y="6325362"/>
            <a:ext cx="2271370" cy="313182"/>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59" name="Text 56"/>
          <p:cNvSpPr/>
          <p:nvPr/>
        </p:nvSpPr>
        <p:spPr>
          <a:xfrm>
            <a:off x="8132674" y="6325362"/>
            <a:ext cx="3708806" cy="31318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Renders and displays the chart.</a:t>
            </a:r>
            <a:endParaRPr lang="en-US" sz="950" dirty="0"/>
          </a:p>
        </p:txBody>
      </p:sp>
      <p:sp>
        <p:nvSpPr>
          <p:cNvPr id="60" name="Shape 57"/>
          <p:cNvSpPr/>
          <p:nvPr/>
        </p:nvSpPr>
        <p:spPr>
          <a:xfrm>
            <a:off x="8077810" y="6288786"/>
            <a:ext cx="18288" cy="386334"/>
          </a:xfrm>
          <a:prstGeom prst="rect">
            <a:avLst/>
          </a:prstGeom>
          <a:solidFill>
            <a:srgbClr val="1E293B"/>
          </a:solidFill>
          <a:ln w="12700">
            <a:solidFill>
              <a:srgbClr val="1E293B"/>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4. HISTOGRAM - Frequency Distribution</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303520" cy="4023360"/>
          </a:xfrm>
          <a:prstGeom prst="rect">
            <a:avLst/>
          </a:prstGeom>
        </p:spPr>
      </p:pic>
      <p:sp>
        <p:nvSpPr>
          <p:cNvPr id="5" name="Shape 2"/>
          <p:cNvSpPr/>
          <p:nvPr/>
        </p:nvSpPr>
        <p:spPr>
          <a:xfrm>
            <a:off x="411480" y="5120640"/>
            <a:ext cx="5303520" cy="1600200"/>
          </a:xfrm>
          <a:prstGeom prst="roundRect">
            <a:avLst>
              <a:gd name="adj" fmla="val 5714"/>
            </a:avLst>
          </a:prstGeom>
          <a:solidFill>
            <a:srgbClr val="0F1D3C"/>
          </a:solidFill>
          <a:ln w="15240">
            <a:solidFill>
              <a:srgbClr val="8B5CF6"/>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230368"/>
            <a:ext cx="5047488" cy="292608"/>
          </a:xfrm>
          <a:prstGeom prst="rect">
            <a:avLst/>
          </a:prstGeom>
          <a:noFill/>
          <a:ln/>
        </p:spPr>
        <p:txBody>
          <a:bodyPr wrap="square" lIns="0" tIns="0" rIns="0" bIns="0" rtlCol="0" anchor="ctr"/>
          <a:lstStyle/>
          <a:p>
            <a:pPr indent="0" marL="0">
              <a:buNone/>
            </a:pPr>
            <a:r>
              <a:rPr lang="en-US" sz="1100" b="1" dirty="0">
                <a:solidFill>
                  <a:srgbClr val="8B5CF6"/>
                </a:solidFill>
                <a:latin typeface="Cambria" pitchFamily="34" charset="0"/>
                <a:ea typeface="Cambria" pitchFamily="34" charset="-122"/>
                <a:cs typeface="Cambria" pitchFamily="34" charset="-120"/>
              </a:rPr>
              <a:t>Histogram</a:t>
            </a:r>
            <a:endParaRPr lang="en-US" sz="1100" dirty="0"/>
          </a:p>
        </p:txBody>
      </p:sp>
      <p:sp>
        <p:nvSpPr>
          <p:cNvPr id="7" name="Text 4"/>
          <p:cNvSpPr/>
          <p:nvPr/>
        </p:nvSpPr>
        <p:spPr>
          <a:xfrm>
            <a:off x="539496" y="5559552"/>
            <a:ext cx="504748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5888736"/>
            <a:ext cx="164592" cy="164592"/>
          </a:xfrm>
          <a:prstGeom prst="ellipse">
            <a:avLst/>
          </a:prstGeom>
          <a:solidFill>
            <a:srgbClr val="8B5CF6"/>
          </a:solidFill>
          <a:ln w="12700">
            <a:solidFill>
              <a:srgbClr val="8B5CF6"/>
            </a:solidFill>
            <a:prstDash val="solid"/>
          </a:ln>
        </p:spPr>
      </p:sp>
      <p:sp>
        <p:nvSpPr>
          <p:cNvPr id="9" name="Text 6"/>
          <p:cNvSpPr/>
          <p:nvPr/>
        </p:nvSpPr>
        <p:spPr>
          <a:xfrm>
            <a:off x="758952" y="5815584"/>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Distribution of a single variable</a:t>
            </a:r>
            <a:endParaRPr lang="en-US" sz="950" dirty="0"/>
          </a:p>
        </p:txBody>
      </p:sp>
      <p:sp>
        <p:nvSpPr>
          <p:cNvPr id="10" name="Shape 7"/>
          <p:cNvSpPr/>
          <p:nvPr/>
        </p:nvSpPr>
        <p:spPr>
          <a:xfrm>
            <a:off x="539496" y="6217920"/>
            <a:ext cx="164592" cy="164592"/>
          </a:xfrm>
          <a:prstGeom prst="ellipse">
            <a:avLst/>
          </a:prstGeom>
          <a:solidFill>
            <a:srgbClr val="8B5CF6"/>
          </a:solidFill>
          <a:ln w="12700">
            <a:solidFill>
              <a:srgbClr val="8B5CF6"/>
            </a:solidFill>
            <a:prstDash val="solid"/>
          </a:ln>
        </p:spPr>
      </p:sp>
      <p:sp>
        <p:nvSpPr>
          <p:cNvPr id="11" name="Text 8"/>
          <p:cNvSpPr/>
          <p:nvPr/>
        </p:nvSpPr>
        <p:spPr>
          <a:xfrm>
            <a:off x="758952" y="6144768"/>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Frequency analysis</a:t>
            </a:r>
            <a:endParaRPr lang="en-US" sz="950" dirty="0"/>
          </a:p>
        </p:txBody>
      </p:sp>
      <p:sp>
        <p:nvSpPr>
          <p:cNvPr id="12" name="Shape 9"/>
          <p:cNvSpPr/>
          <p:nvPr/>
        </p:nvSpPr>
        <p:spPr>
          <a:xfrm>
            <a:off x="539496" y="6547104"/>
            <a:ext cx="164592" cy="164592"/>
          </a:xfrm>
          <a:prstGeom prst="ellipse">
            <a:avLst/>
          </a:prstGeom>
          <a:solidFill>
            <a:srgbClr val="8B5CF6"/>
          </a:solidFill>
          <a:ln w="12700">
            <a:solidFill>
              <a:srgbClr val="8B5CF6"/>
            </a:solidFill>
            <a:prstDash val="solid"/>
          </a:ln>
        </p:spPr>
      </p:sp>
      <p:sp>
        <p:nvSpPr>
          <p:cNvPr id="13" name="Text 10"/>
          <p:cNvSpPr/>
          <p:nvPr/>
        </p:nvSpPr>
        <p:spPr>
          <a:xfrm>
            <a:off x="758952" y="6473952"/>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How often values appear in ranges</a:t>
            </a:r>
            <a:endParaRPr lang="en-US" sz="950" dirty="0"/>
          </a:p>
        </p:txBody>
      </p:sp>
      <p:sp>
        <p:nvSpPr>
          <p:cNvPr id="14" name="Text 11"/>
          <p:cNvSpPr/>
          <p:nvPr/>
        </p:nvSpPr>
        <p:spPr>
          <a:xfrm>
            <a:off x="539496" y="6858000"/>
            <a:ext cx="5047488" cy="237744"/>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114032"/>
            <a:ext cx="5047488" cy="274320"/>
          </a:xfrm>
          <a:prstGeom prst="roundRect">
            <a:avLst>
              <a:gd name="adj" fmla="val 13333"/>
            </a:avLst>
          </a:prstGeom>
          <a:solidFill>
            <a:srgbClr val="8B5CF6"/>
          </a:solidFill>
          <a:ln w="12700">
            <a:solidFill>
              <a:srgbClr val="8B5CF6"/>
            </a:solidFill>
            <a:prstDash val="solid"/>
          </a:ln>
        </p:spPr>
      </p:sp>
      <p:sp>
        <p:nvSpPr>
          <p:cNvPr id="16" name="Text 13"/>
          <p:cNvSpPr/>
          <p:nvPr/>
        </p:nvSpPr>
        <p:spPr>
          <a:xfrm>
            <a:off x="594360" y="7132320"/>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Exam scores distribution</a:t>
            </a:r>
            <a:endParaRPr lang="en-US" sz="950" dirty="0"/>
          </a:p>
        </p:txBody>
      </p:sp>
      <p:sp>
        <p:nvSpPr>
          <p:cNvPr id="17" name="Shape 14"/>
          <p:cNvSpPr/>
          <p:nvPr/>
        </p:nvSpPr>
        <p:spPr>
          <a:xfrm>
            <a:off x="539496" y="7443216"/>
            <a:ext cx="5047488" cy="274320"/>
          </a:xfrm>
          <a:prstGeom prst="roundRect">
            <a:avLst>
              <a:gd name="adj" fmla="val 13333"/>
            </a:avLst>
          </a:prstGeom>
          <a:solidFill>
            <a:srgbClr val="8B5CF6"/>
          </a:solidFill>
          <a:ln w="12700">
            <a:solidFill>
              <a:srgbClr val="8B5CF6"/>
            </a:solidFill>
            <a:prstDash val="solid"/>
          </a:ln>
        </p:spPr>
      </p:sp>
      <p:sp>
        <p:nvSpPr>
          <p:cNvPr id="18" name="Text 15"/>
          <p:cNvSpPr/>
          <p:nvPr/>
        </p:nvSpPr>
        <p:spPr>
          <a:xfrm>
            <a:off x="594360" y="7461504"/>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Age distribution of customers</a:t>
            </a:r>
            <a:endParaRPr lang="en-US" sz="950" dirty="0"/>
          </a:p>
        </p:txBody>
      </p:sp>
      <p:sp>
        <p:nvSpPr>
          <p:cNvPr id="19" name="Shape 16"/>
          <p:cNvSpPr/>
          <p:nvPr/>
        </p:nvSpPr>
        <p:spPr>
          <a:xfrm>
            <a:off x="539496" y="7772400"/>
            <a:ext cx="5047488" cy="274320"/>
          </a:xfrm>
          <a:prstGeom prst="roundRect">
            <a:avLst>
              <a:gd name="adj" fmla="val 13333"/>
            </a:avLst>
          </a:prstGeom>
          <a:solidFill>
            <a:srgbClr val="8B5CF6"/>
          </a:solidFill>
          <a:ln w="12700">
            <a:solidFill>
              <a:srgbClr val="8B5CF6"/>
            </a:solidFill>
            <a:prstDash val="solid"/>
          </a:ln>
        </p:spPr>
      </p:sp>
      <p:sp>
        <p:nvSpPr>
          <p:cNvPr id="20" name="Text 17"/>
          <p:cNvSpPr/>
          <p:nvPr/>
        </p:nvSpPr>
        <p:spPr>
          <a:xfrm>
            <a:off x="594360" y="7790688"/>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Income distribution analysis</a:t>
            </a:r>
            <a:endParaRPr lang="en-US" sz="950" dirty="0"/>
          </a:p>
        </p:txBody>
      </p:sp>
      <p:sp>
        <p:nvSpPr>
          <p:cNvPr id="21" name="Shape 18"/>
          <p:cNvSpPr/>
          <p:nvPr/>
        </p:nvSpPr>
        <p:spPr>
          <a:xfrm>
            <a:off x="5943600" y="1024128"/>
            <a:ext cx="5989320" cy="2340864"/>
          </a:xfrm>
          <a:prstGeom prst="roundRect">
            <a:avLst>
              <a:gd name="adj" fmla="val 3906"/>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5943600" y="1024128"/>
            <a:ext cx="598932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5943600" y="1207008"/>
            <a:ext cx="5989320" cy="146304"/>
          </a:xfrm>
          <a:prstGeom prst="rect">
            <a:avLst/>
          </a:prstGeom>
          <a:solidFill>
            <a:srgbClr val="141E36"/>
          </a:solidFill>
          <a:ln w="12700">
            <a:solidFill>
              <a:srgbClr val="141E36"/>
            </a:solidFill>
            <a:prstDash val="solid"/>
          </a:ln>
        </p:spPr>
      </p:sp>
      <p:sp>
        <p:nvSpPr>
          <p:cNvPr id="24" name="Shape 21"/>
          <p:cNvSpPr/>
          <p:nvPr/>
        </p:nvSpPr>
        <p:spPr>
          <a:xfrm>
            <a:off x="607161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627278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647395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6675120" y="1078992"/>
            <a:ext cx="50749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histogram.py</a:t>
            </a:r>
            <a:endParaRPr lang="en-US" sz="900" dirty="0"/>
          </a:p>
        </p:txBody>
      </p:sp>
      <p:sp>
        <p:nvSpPr>
          <p:cNvPr id="28" name="Text 25"/>
          <p:cNvSpPr/>
          <p:nvPr/>
        </p:nvSpPr>
        <p:spPr>
          <a:xfrm>
            <a:off x="6089904" y="1408176"/>
            <a:ext cx="5715000" cy="1847088"/>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scores = [45, 50, 55, 60, 65, 70, 75, 80, 85]</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plt.hist(scores, bins=5)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plt.title('Score Distribution')</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9" name="Shape 26"/>
          <p:cNvSpPr/>
          <p:nvPr/>
        </p:nvSpPr>
        <p:spPr>
          <a:xfrm>
            <a:off x="5943600" y="3438144"/>
            <a:ext cx="5989320" cy="539496"/>
          </a:xfrm>
          <a:prstGeom prst="rect">
            <a:avLst/>
          </a:prstGeom>
          <a:solidFill>
            <a:srgbClr val="8B5CF6"/>
          </a:solidFill>
          <a:ln w="3810">
            <a:solidFill>
              <a:srgbClr val="141E36"/>
            </a:solidFill>
            <a:prstDash val="solid"/>
          </a:ln>
        </p:spPr>
      </p:sp>
      <p:sp>
        <p:nvSpPr>
          <p:cNvPr id="30" name="Text 27"/>
          <p:cNvSpPr/>
          <p:nvPr/>
        </p:nvSpPr>
        <p:spPr>
          <a:xfrm>
            <a:off x="6035040" y="3493008"/>
            <a:ext cx="2184502" cy="44805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274406" y="3493008"/>
            <a:ext cx="3567074" cy="44805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219542" y="3438144"/>
            <a:ext cx="18288" cy="539496"/>
          </a:xfrm>
          <a:prstGeom prst="rect">
            <a:avLst/>
          </a:prstGeom>
          <a:solidFill>
            <a:srgbClr val="FFFFFF"/>
          </a:solidFill>
          <a:ln w="12700">
            <a:solidFill>
              <a:srgbClr val="FFFFFF"/>
            </a:solidFill>
            <a:prstDash val="solid"/>
          </a:ln>
        </p:spPr>
      </p:sp>
      <p:sp>
        <p:nvSpPr>
          <p:cNvPr id="33" name="Shape 30"/>
          <p:cNvSpPr/>
          <p:nvPr/>
        </p:nvSpPr>
        <p:spPr>
          <a:xfrm>
            <a:off x="5943600" y="3977640"/>
            <a:ext cx="5989320" cy="539496"/>
          </a:xfrm>
          <a:prstGeom prst="rect">
            <a:avLst/>
          </a:prstGeom>
          <a:solidFill>
            <a:srgbClr val="141E36"/>
          </a:solidFill>
          <a:ln w="3810">
            <a:solidFill>
              <a:srgbClr val="141E36"/>
            </a:solidFill>
            <a:prstDash val="solid"/>
          </a:ln>
        </p:spPr>
      </p:sp>
      <p:sp>
        <p:nvSpPr>
          <p:cNvPr id="34" name="Text 31"/>
          <p:cNvSpPr/>
          <p:nvPr/>
        </p:nvSpPr>
        <p:spPr>
          <a:xfrm>
            <a:off x="6035040" y="4014216"/>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scores = [45, 50, ... 85]</a:t>
            </a:r>
            <a:endParaRPr lang="en-US" sz="900" dirty="0"/>
          </a:p>
        </p:txBody>
      </p:sp>
      <p:sp>
        <p:nvSpPr>
          <p:cNvPr id="35" name="Text 32"/>
          <p:cNvSpPr/>
          <p:nvPr/>
        </p:nvSpPr>
        <p:spPr>
          <a:xfrm>
            <a:off x="8274406" y="4014216"/>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dataset - a list of exam scores to analyze.</a:t>
            </a:r>
            <a:endParaRPr lang="en-US" sz="950" dirty="0"/>
          </a:p>
        </p:txBody>
      </p:sp>
      <p:sp>
        <p:nvSpPr>
          <p:cNvPr id="36" name="Shape 33"/>
          <p:cNvSpPr/>
          <p:nvPr/>
        </p:nvSpPr>
        <p:spPr>
          <a:xfrm>
            <a:off x="8219542" y="3977640"/>
            <a:ext cx="18288" cy="539496"/>
          </a:xfrm>
          <a:prstGeom prst="rect">
            <a:avLst/>
          </a:prstGeom>
          <a:solidFill>
            <a:srgbClr val="1E293B"/>
          </a:solidFill>
          <a:ln w="12700">
            <a:solidFill>
              <a:srgbClr val="1E293B"/>
            </a:solidFill>
            <a:prstDash val="solid"/>
          </a:ln>
        </p:spPr>
      </p:sp>
      <p:sp>
        <p:nvSpPr>
          <p:cNvPr id="37" name="Shape 34"/>
          <p:cNvSpPr/>
          <p:nvPr/>
        </p:nvSpPr>
        <p:spPr>
          <a:xfrm>
            <a:off x="5943600" y="4517136"/>
            <a:ext cx="5989320" cy="539496"/>
          </a:xfrm>
          <a:prstGeom prst="rect">
            <a:avLst/>
          </a:prstGeom>
          <a:solidFill>
            <a:srgbClr val="0F1D3C"/>
          </a:solidFill>
          <a:ln w="3810">
            <a:solidFill>
              <a:srgbClr val="141E36"/>
            </a:solidFill>
            <a:prstDash val="solid"/>
          </a:ln>
        </p:spPr>
      </p:sp>
      <p:sp>
        <p:nvSpPr>
          <p:cNvPr id="38" name="Text 35"/>
          <p:cNvSpPr/>
          <p:nvPr/>
        </p:nvSpPr>
        <p:spPr>
          <a:xfrm>
            <a:off x="6035040" y="4553712"/>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plt.hist(scores, bins=5)</a:t>
            </a:r>
            <a:endParaRPr lang="en-US" sz="900" dirty="0"/>
          </a:p>
        </p:txBody>
      </p:sp>
      <p:sp>
        <p:nvSpPr>
          <p:cNvPr id="39" name="Text 36"/>
          <p:cNvSpPr/>
          <p:nvPr/>
        </p:nvSpPr>
        <p:spPr>
          <a:xfrm>
            <a:off x="8274406" y="4553712"/>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Creates a histogram. bins=5 divides the data range into 5 groups (buckets). Each bar shows how many scores fall in that group.</a:t>
            </a:r>
            <a:endParaRPr lang="en-US" sz="950" dirty="0"/>
          </a:p>
        </p:txBody>
      </p:sp>
      <p:sp>
        <p:nvSpPr>
          <p:cNvPr id="40" name="Shape 37"/>
          <p:cNvSpPr/>
          <p:nvPr/>
        </p:nvSpPr>
        <p:spPr>
          <a:xfrm>
            <a:off x="8219542" y="4517136"/>
            <a:ext cx="18288" cy="539496"/>
          </a:xfrm>
          <a:prstGeom prst="rect">
            <a:avLst/>
          </a:prstGeom>
          <a:solidFill>
            <a:srgbClr val="1E293B"/>
          </a:solidFill>
          <a:ln w="12700">
            <a:solidFill>
              <a:srgbClr val="1E293B"/>
            </a:solidFill>
            <a:prstDash val="solid"/>
          </a:ln>
        </p:spPr>
      </p:sp>
      <p:sp>
        <p:nvSpPr>
          <p:cNvPr id="41" name="Shape 38"/>
          <p:cNvSpPr/>
          <p:nvPr/>
        </p:nvSpPr>
        <p:spPr>
          <a:xfrm>
            <a:off x="5943600" y="5056632"/>
            <a:ext cx="5989320" cy="539496"/>
          </a:xfrm>
          <a:prstGeom prst="rect">
            <a:avLst/>
          </a:prstGeom>
          <a:solidFill>
            <a:srgbClr val="141E36"/>
          </a:solidFill>
          <a:ln w="3810">
            <a:solidFill>
              <a:srgbClr val="141E36"/>
            </a:solidFill>
            <a:prstDash val="solid"/>
          </a:ln>
        </p:spPr>
      </p:sp>
      <p:sp>
        <p:nvSpPr>
          <p:cNvPr id="42" name="Text 39"/>
          <p:cNvSpPr/>
          <p:nvPr/>
        </p:nvSpPr>
        <p:spPr>
          <a:xfrm>
            <a:off x="6035040" y="5093208"/>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bins=5</a:t>
            </a:r>
            <a:endParaRPr lang="en-US" sz="900" dirty="0"/>
          </a:p>
        </p:txBody>
      </p:sp>
      <p:sp>
        <p:nvSpPr>
          <p:cNvPr id="43" name="Text 40"/>
          <p:cNvSpPr/>
          <p:nvPr/>
        </p:nvSpPr>
        <p:spPr>
          <a:xfrm>
            <a:off x="8274406" y="5093208"/>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Controls how many groups the data is split into. More bins = more detail. Fewer bins = smoother shape. Try different values.</a:t>
            </a:r>
            <a:endParaRPr lang="en-US" sz="950" dirty="0"/>
          </a:p>
        </p:txBody>
      </p:sp>
      <p:sp>
        <p:nvSpPr>
          <p:cNvPr id="44" name="Shape 41"/>
          <p:cNvSpPr/>
          <p:nvPr/>
        </p:nvSpPr>
        <p:spPr>
          <a:xfrm>
            <a:off x="8219542" y="5056632"/>
            <a:ext cx="18288" cy="539496"/>
          </a:xfrm>
          <a:prstGeom prst="rect">
            <a:avLst/>
          </a:prstGeom>
          <a:solidFill>
            <a:srgbClr val="1E293B"/>
          </a:solidFill>
          <a:ln w="12700">
            <a:solidFill>
              <a:srgbClr val="1E293B"/>
            </a:solidFill>
            <a:prstDash val="solid"/>
          </a:ln>
        </p:spPr>
      </p:sp>
      <p:sp>
        <p:nvSpPr>
          <p:cNvPr id="45" name="Shape 42"/>
          <p:cNvSpPr/>
          <p:nvPr/>
        </p:nvSpPr>
        <p:spPr>
          <a:xfrm>
            <a:off x="5943600" y="5596128"/>
            <a:ext cx="5989320" cy="539496"/>
          </a:xfrm>
          <a:prstGeom prst="rect">
            <a:avLst/>
          </a:prstGeom>
          <a:solidFill>
            <a:srgbClr val="0F1D3C"/>
          </a:solidFill>
          <a:ln w="3810">
            <a:solidFill>
              <a:srgbClr val="141E36"/>
            </a:solidFill>
            <a:prstDash val="solid"/>
          </a:ln>
        </p:spPr>
      </p:sp>
      <p:sp>
        <p:nvSpPr>
          <p:cNvPr id="46" name="Text 43"/>
          <p:cNvSpPr/>
          <p:nvPr/>
        </p:nvSpPr>
        <p:spPr>
          <a:xfrm>
            <a:off x="6035040" y="5632704"/>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plt.title('Score Distribution')</a:t>
            </a:r>
            <a:endParaRPr lang="en-US" sz="900" dirty="0"/>
          </a:p>
        </p:txBody>
      </p:sp>
      <p:sp>
        <p:nvSpPr>
          <p:cNvPr id="47" name="Text 44"/>
          <p:cNvSpPr/>
          <p:nvPr/>
        </p:nvSpPr>
        <p:spPr>
          <a:xfrm>
            <a:off x="8274406" y="5632704"/>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Adds the chart title.</a:t>
            </a:r>
            <a:endParaRPr lang="en-US" sz="950" dirty="0"/>
          </a:p>
        </p:txBody>
      </p:sp>
      <p:sp>
        <p:nvSpPr>
          <p:cNvPr id="48" name="Shape 45"/>
          <p:cNvSpPr/>
          <p:nvPr/>
        </p:nvSpPr>
        <p:spPr>
          <a:xfrm>
            <a:off x="8219542" y="5596128"/>
            <a:ext cx="18288" cy="539496"/>
          </a:xfrm>
          <a:prstGeom prst="rect">
            <a:avLst/>
          </a:prstGeom>
          <a:solidFill>
            <a:srgbClr val="1E293B"/>
          </a:solidFill>
          <a:ln w="12700">
            <a:solidFill>
              <a:srgbClr val="1E293B"/>
            </a:solidFill>
            <a:prstDash val="solid"/>
          </a:ln>
        </p:spPr>
      </p:sp>
      <p:sp>
        <p:nvSpPr>
          <p:cNvPr id="49" name="Shape 46"/>
          <p:cNvSpPr/>
          <p:nvPr/>
        </p:nvSpPr>
        <p:spPr>
          <a:xfrm>
            <a:off x="5943600" y="6135624"/>
            <a:ext cx="5989320" cy="539496"/>
          </a:xfrm>
          <a:prstGeom prst="rect">
            <a:avLst/>
          </a:prstGeom>
          <a:solidFill>
            <a:srgbClr val="141E36"/>
          </a:solidFill>
          <a:ln w="3810">
            <a:solidFill>
              <a:srgbClr val="141E36"/>
            </a:solidFill>
            <a:prstDash val="solid"/>
          </a:ln>
        </p:spPr>
      </p:sp>
      <p:sp>
        <p:nvSpPr>
          <p:cNvPr id="50" name="Text 47"/>
          <p:cNvSpPr/>
          <p:nvPr/>
        </p:nvSpPr>
        <p:spPr>
          <a:xfrm>
            <a:off x="6035040" y="6172200"/>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51" name="Text 48"/>
          <p:cNvSpPr/>
          <p:nvPr/>
        </p:nvSpPr>
        <p:spPr>
          <a:xfrm>
            <a:off x="8274406" y="6172200"/>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Renders and displays the chart.</a:t>
            </a:r>
            <a:endParaRPr lang="en-US" sz="950" dirty="0"/>
          </a:p>
        </p:txBody>
      </p:sp>
      <p:sp>
        <p:nvSpPr>
          <p:cNvPr id="52" name="Shape 49"/>
          <p:cNvSpPr/>
          <p:nvPr/>
        </p:nvSpPr>
        <p:spPr>
          <a:xfrm>
            <a:off x="8219542" y="6135624"/>
            <a:ext cx="18288" cy="539496"/>
          </a:xfrm>
          <a:prstGeom prst="rect">
            <a:avLst/>
          </a:prstGeom>
          <a:solidFill>
            <a:srgbClr val="1E293B"/>
          </a:solidFill>
          <a:ln w="12700">
            <a:solidFill>
              <a:srgbClr val="1E293B"/>
            </a:solidFill>
            <a:prstDash val="solid"/>
          </a:ln>
        </p:spPr>
      </p:sp>
      <p:sp>
        <p:nvSpPr>
          <p:cNvPr id="53" name="Shape 50"/>
          <p:cNvSpPr/>
          <p:nvPr/>
        </p:nvSpPr>
        <p:spPr>
          <a:xfrm>
            <a:off x="5943600" y="6035040"/>
            <a:ext cx="5989320" cy="640080"/>
          </a:xfrm>
          <a:prstGeom prst="roundRect">
            <a:avLst>
              <a:gd name="adj" fmla="val 11429"/>
            </a:avLst>
          </a:prstGeom>
          <a:solidFill>
            <a:srgbClr val="FFFFFF"/>
          </a:solidFill>
          <a:ln w="12700">
            <a:solidFill>
              <a:srgbClr val="F59E0B"/>
            </a:solidFill>
            <a:prstDash val="solid"/>
          </a:ln>
          <a:effectLst>
            <a:outerShdw sx="100000" sy="100000" kx="0" ky="0" algn="bl" rotWithShape="0" blurRad="63500" dist="25400" dir="2700000">
              <a:srgbClr val="000000">
                <a:alpha val="12000"/>
              </a:srgbClr>
            </a:outerShdw>
          </a:effectLst>
        </p:spPr>
      </p:sp>
      <p:sp>
        <p:nvSpPr>
          <p:cNvPr id="54" name="Text 51"/>
          <p:cNvSpPr/>
          <p:nvPr/>
        </p:nvSpPr>
        <p:spPr>
          <a:xfrm>
            <a:off x="6053328" y="6126480"/>
            <a:ext cx="5769864" cy="237744"/>
          </a:xfrm>
          <a:prstGeom prst="rect">
            <a:avLst/>
          </a:prstGeom>
          <a:noFill/>
          <a:ln/>
        </p:spPr>
        <p:txBody>
          <a:bodyPr wrap="square" lIns="0" tIns="0" rIns="0" bIns="0" rtlCol="0" anchor="ctr"/>
          <a:lstStyle/>
          <a:p>
            <a:pPr indent="0" marL="0">
              <a:buNone/>
            </a:pPr>
            <a:r>
              <a:rPr lang="en-US" sz="1000" b="1" dirty="0">
                <a:solidFill>
                  <a:srgbClr val="F59E0B"/>
                </a:solidFill>
                <a:latin typeface="Cambria" pitchFamily="34" charset="0"/>
                <a:ea typeface="Cambria" pitchFamily="34" charset="-122"/>
                <a:cs typeface="Cambria" pitchFamily="34" charset="-120"/>
              </a:rPr>
              <a:t>Key difference from Bar Chart</a:t>
            </a:r>
            <a:endParaRPr lang="en-US" sz="1000" dirty="0"/>
          </a:p>
        </p:txBody>
      </p:sp>
      <p:sp>
        <p:nvSpPr>
          <p:cNvPr id="55" name="Text 52"/>
          <p:cNvSpPr/>
          <p:nvPr/>
        </p:nvSpPr>
        <p:spPr>
          <a:xfrm>
            <a:off x="6053328" y="6400800"/>
            <a:ext cx="5769864" cy="18288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Bar chart compares CATEGORIES. Histogram shows the DISTRIBUTION of a single numeric variable split into ranges.</a:t>
            </a:r>
            <a:endParaRPr lang="en-US" sz="950" dirty="0"/>
          </a:p>
        </p:txBody>
      </p:sp>
      <p:sp>
        <p:nvSpPr>
          <p:cNvPr id="57" name="Shape 53"/>
          <p:cNvSpPr/>
          <p:nvPr/>
        </p:nvSpPr>
        <p:spPr>
          <a:xfrm>
            <a:off x="5943600" y="6035040"/>
            <a:ext cx="5989320" cy="640080"/>
          </a:xfrm>
          <a:prstGeom prst="roundRect">
            <a:avLst>
              <a:gd name="adj" fmla="val 11429"/>
            </a:avLst>
          </a:prstGeom>
          <a:solidFill>
            <a:srgbClr val="FFFFFF"/>
          </a:solidFill>
          <a:ln w="12700">
            <a:solidFill>
              <a:srgbClr val="F59E0B"/>
            </a:solidFill>
            <a:prstDash val="solid"/>
          </a:ln>
          <a:effectLst>
            <a:outerShdw sx="100000" sy="100000" kx="0" ky="0" algn="bl" rotWithShape="0" blurRad="63500" dist="25400" dir="2700000">
              <a:srgbClr val="000000">
                <a:alpha val="12000"/>
              </a:srgbClr>
            </a:outerShdw>
          </a:effectLst>
        </p:spPr>
      </p:sp>
      <p:sp>
        <p:nvSpPr>
          <p:cNvPr id="58" name="Text 54"/>
          <p:cNvSpPr/>
          <p:nvPr/>
        </p:nvSpPr>
        <p:spPr>
          <a:xfrm>
            <a:off x="6053328" y="6126480"/>
            <a:ext cx="5769864" cy="237744"/>
          </a:xfrm>
          <a:prstGeom prst="rect">
            <a:avLst/>
          </a:prstGeom>
          <a:noFill/>
          <a:ln/>
        </p:spPr>
        <p:txBody>
          <a:bodyPr wrap="square" lIns="0" tIns="0" rIns="0" bIns="0" rtlCol="0" anchor="ctr"/>
          <a:lstStyle/>
          <a:p>
            <a:pPr indent="0" marL="0">
              <a:buNone/>
            </a:pPr>
            <a:r>
              <a:rPr lang="en-US" sz="1000" b="1" dirty="0">
                <a:solidFill>
                  <a:srgbClr val="F59E0B"/>
                </a:solidFill>
                <a:latin typeface="Cambria" pitchFamily="34" charset="0"/>
                <a:ea typeface="Cambria" pitchFamily="34" charset="-122"/>
                <a:cs typeface="Cambria" pitchFamily="34" charset="-120"/>
              </a:rPr>
              <a:t>Key difference from Bar Chart</a:t>
            </a:r>
            <a:endParaRPr lang="en-US" sz="1000" dirty="0"/>
          </a:p>
        </p:txBody>
      </p:sp>
      <p:sp>
        <p:nvSpPr>
          <p:cNvPr id="59" name="Text 55"/>
          <p:cNvSpPr/>
          <p:nvPr/>
        </p:nvSpPr>
        <p:spPr>
          <a:xfrm>
            <a:off x="6053328" y="6400800"/>
            <a:ext cx="5769864" cy="18288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Bar chart compares CATEGORIES. Histogram shows the DISTRIBUTION of a single numeric variable split into ranges.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 SCATTER PLOT - Relationship Between Two Variables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303520" cy="4023360"/>
          </a:xfrm>
          <a:prstGeom prst="rect">
            <a:avLst/>
          </a:prstGeom>
        </p:spPr>
      </p:pic>
      <p:sp>
        <p:nvSpPr>
          <p:cNvPr id="5" name="Shape 2"/>
          <p:cNvSpPr/>
          <p:nvPr/>
        </p:nvSpPr>
        <p:spPr>
          <a:xfrm>
            <a:off x="411480" y="5120640"/>
            <a:ext cx="5303520" cy="1600200"/>
          </a:xfrm>
          <a:prstGeom prst="roundRect">
            <a:avLst>
              <a:gd name="adj" fmla="val 5714"/>
            </a:avLst>
          </a:prstGeom>
          <a:solidFill>
            <a:srgbClr val="0F1D3C"/>
          </a:solidFill>
          <a:ln w="15240">
            <a:solidFill>
              <a:srgbClr val="06B6D4"/>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230368"/>
            <a:ext cx="5047488" cy="292608"/>
          </a:xfrm>
          <a:prstGeom prst="rect">
            <a:avLst/>
          </a:prstGeom>
          <a:noFill/>
          <a:ln/>
        </p:spPr>
        <p:txBody>
          <a:bodyPr wrap="square" lIns="0" tIns="0" rIns="0" bIns="0" rtlCol="0" anchor="ctr"/>
          <a:lstStyle/>
          <a:p>
            <a:pPr indent="0" marL="0">
              <a:buNone/>
            </a:pPr>
            <a:r>
              <a:rPr lang="en-US" sz="1100" b="1" dirty="0">
                <a:solidFill>
                  <a:srgbClr val="06B6D4"/>
                </a:solidFill>
                <a:latin typeface="Cambria" pitchFamily="34" charset="0"/>
                <a:ea typeface="Cambria" pitchFamily="34" charset="-122"/>
                <a:cs typeface="Cambria" pitchFamily="34" charset="-120"/>
              </a:rPr>
              <a:t>Scatter Plot</a:t>
            </a:r>
            <a:endParaRPr lang="en-US" sz="1100" dirty="0"/>
          </a:p>
        </p:txBody>
      </p:sp>
      <p:sp>
        <p:nvSpPr>
          <p:cNvPr id="7" name="Text 4"/>
          <p:cNvSpPr/>
          <p:nvPr/>
        </p:nvSpPr>
        <p:spPr>
          <a:xfrm>
            <a:off x="539496" y="5559552"/>
            <a:ext cx="504748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5888736"/>
            <a:ext cx="164592" cy="164592"/>
          </a:xfrm>
          <a:prstGeom prst="ellipse">
            <a:avLst/>
          </a:prstGeom>
          <a:solidFill>
            <a:srgbClr val="06B6D4"/>
          </a:solidFill>
          <a:ln w="12700">
            <a:solidFill>
              <a:srgbClr val="06B6D4"/>
            </a:solidFill>
            <a:prstDash val="solid"/>
          </a:ln>
        </p:spPr>
      </p:sp>
      <p:sp>
        <p:nvSpPr>
          <p:cNvPr id="9" name="Text 6"/>
          <p:cNvSpPr/>
          <p:nvPr/>
        </p:nvSpPr>
        <p:spPr>
          <a:xfrm>
            <a:off x="758952" y="5815584"/>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Relationship between 2 numeric variables</a:t>
            </a:r>
            <a:endParaRPr lang="en-US" sz="950" dirty="0"/>
          </a:p>
        </p:txBody>
      </p:sp>
      <p:sp>
        <p:nvSpPr>
          <p:cNvPr id="10" name="Shape 7"/>
          <p:cNvSpPr/>
          <p:nvPr/>
        </p:nvSpPr>
        <p:spPr>
          <a:xfrm>
            <a:off x="539496" y="6217920"/>
            <a:ext cx="164592" cy="164592"/>
          </a:xfrm>
          <a:prstGeom prst="ellipse">
            <a:avLst/>
          </a:prstGeom>
          <a:solidFill>
            <a:srgbClr val="06B6D4"/>
          </a:solidFill>
          <a:ln w="12700">
            <a:solidFill>
              <a:srgbClr val="06B6D4"/>
            </a:solidFill>
            <a:prstDash val="solid"/>
          </a:ln>
        </p:spPr>
      </p:sp>
      <p:sp>
        <p:nvSpPr>
          <p:cNvPr id="11" name="Text 8"/>
          <p:cNvSpPr/>
          <p:nvPr/>
        </p:nvSpPr>
        <p:spPr>
          <a:xfrm>
            <a:off x="758952" y="6144768"/>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Correlation detection (positive/negative/none)</a:t>
            </a:r>
            <a:endParaRPr lang="en-US" sz="950" dirty="0"/>
          </a:p>
        </p:txBody>
      </p:sp>
      <p:sp>
        <p:nvSpPr>
          <p:cNvPr id="12" name="Shape 9"/>
          <p:cNvSpPr/>
          <p:nvPr/>
        </p:nvSpPr>
        <p:spPr>
          <a:xfrm>
            <a:off x="539496" y="6547104"/>
            <a:ext cx="164592" cy="164592"/>
          </a:xfrm>
          <a:prstGeom prst="ellipse">
            <a:avLst/>
          </a:prstGeom>
          <a:solidFill>
            <a:srgbClr val="06B6D4"/>
          </a:solidFill>
          <a:ln w="12700">
            <a:solidFill>
              <a:srgbClr val="06B6D4"/>
            </a:solidFill>
            <a:prstDash val="solid"/>
          </a:ln>
        </p:spPr>
      </p:sp>
      <p:sp>
        <p:nvSpPr>
          <p:cNvPr id="13" name="Text 10"/>
          <p:cNvSpPr/>
          <p:nvPr/>
        </p:nvSpPr>
        <p:spPr>
          <a:xfrm>
            <a:off x="758952" y="6473952"/>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Identify clusters and outliers</a:t>
            </a:r>
            <a:endParaRPr lang="en-US" sz="950" dirty="0"/>
          </a:p>
        </p:txBody>
      </p:sp>
      <p:sp>
        <p:nvSpPr>
          <p:cNvPr id="14" name="Text 11"/>
          <p:cNvSpPr/>
          <p:nvPr/>
        </p:nvSpPr>
        <p:spPr>
          <a:xfrm>
            <a:off x="539496" y="6858000"/>
            <a:ext cx="5047488" cy="237744"/>
          </a:xfrm>
          <a:prstGeom prst="rect">
            <a:avLst/>
          </a:prstGeom>
          <a:noFill/>
          <a:ln/>
        </p:spPr>
        <p:txBody>
          <a:bodyPr wrap="square" lIns="0" tIns="0" rIns="0" bIns="0" rtlCol="0" anchor="ctr"/>
          <a:lstStyle/>
          <a:p>
            <a:pPr indent="0" marL="0">
              <a:buNone/>
            </a:pPr>
            <a:r>
              <a:rPr lang="en-US" sz="1000" b="1" dirty="0">
                <a:solidFill>
                  <a:srgbClr val="06B6D4"/>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114032"/>
            <a:ext cx="5047488" cy="274320"/>
          </a:xfrm>
          <a:prstGeom prst="roundRect">
            <a:avLst>
              <a:gd name="adj" fmla="val 13333"/>
            </a:avLst>
          </a:prstGeom>
          <a:solidFill>
            <a:srgbClr val="06B6D4"/>
          </a:solidFill>
          <a:ln w="12700">
            <a:solidFill>
              <a:srgbClr val="06B6D4"/>
            </a:solidFill>
            <a:prstDash val="solid"/>
          </a:ln>
        </p:spPr>
      </p:sp>
      <p:sp>
        <p:nvSpPr>
          <p:cNvPr id="16" name="Text 13"/>
          <p:cNvSpPr/>
          <p:nvPr/>
        </p:nvSpPr>
        <p:spPr>
          <a:xfrm>
            <a:off x="594360" y="7132320"/>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Height vs Weight</a:t>
            </a:r>
            <a:endParaRPr lang="en-US" sz="950" dirty="0"/>
          </a:p>
        </p:txBody>
      </p:sp>
      <p:sp>
        <p:nvSpPr>
          <p:cNvPr id="17" name="Shape 14"/>
          <p:cNvSpPr/>
          <p:nvPr/>
        </p:nvSpPr>
        <p:spPr>
          <a:xfrm>
            <a:off x="539496" y="7443216"/>
            <a:ext cx="5047488" cy="274320"/>
          </a:xfrm>
          <a:prstGeom prst="roundRect">
            <a:avLst>
              <a:gd name="adj" fmla="val 13333"/>
            </a:avLst>
          </a:prstGeom>
          <a:solidFill>
            <a:srgbClr val="06B6D4"/>
          </a:solidFill>
          <a:ln w="12700">
            <a:solidFill>
              <a:srgbClr val="06B6D4"/>
            </a:solidFill>
            <a:prstDash val="solid"/>
          </a:ln>
        </p:spPr>
      </p:sp>
      <p:sp>
        <p:nvSpPr>
          <p:cNvPr id="18" name="Text 15"/>
          <p:cNvSpPr/>
          <p:nvPr/>
        </p:nvSpPr>
        <p:spPr>
          <a:xfrm>
            <a:off x="594360" y="7461504"/>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Advertising spend vs Sales</a:t>
            </a:r>
            <a:endParaRPr lang="en-US" sz="950" dirty="0"/>
          </a:p>
        </p:txBody>
      </p:sp>
      <p:sp>
        <p:nvSpPr>
          <p:cNvPr id="19" name="Shape 16"/>
          <p:cNvSpPr/>
          <p:nvPr/>
        </p:nvSpPr>
        <p:spPr>
          <a:xfrm>
            <a:off x="539496" y="7772400"/>
            <a:ext cx="5047488" cy="274320"/>
          </a:xfrm>
          <a:prstGeom prst="roundRect">
            <a:avLst>
              <a:gd name="adj" fmla="val 13333"/>
            </a:avLst>
          </a:prstGeom>
          <a:solidFill>
            <a:srgbClr val="06B6D4"/>
          </a:solidFill>
          <a:ln w="12700">
            <a:solidFill>
              <a:srgbClr val="06B6D4"/>
            </a:solidFill>
            <a:prstDash val="solid"/>
          </a:ln>
        </p:spPr>
      </p:sp>
      <p:sp>
        <p:nvSpPr>
          <p:cNvPr id="20" name="Text 17"/>
          <p:cNvSpPr/>
          <p:nvPr/>
        </p:nvSpPr>
        <p:spPr>
          <a:xfrm>
            <a:off x="594360" y="7790688"/>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Study hours vs Exam scores</a:t>
            </a:r>
            <a:endParaRPr lang="en-US" sz="950" dirty="0"/>
          </a:p>
        </p:txBody>
      </p:sp>
      <p:sp>
        <p:nvSpPr>
          <p:cNvPr id="21" name="Shape 18"/>
          <p:cNvSpPr/>
          <p:nvPr/>
        </p:nvSpPr>
        <p:spPr>
          <a:xfrm>
            <a:off x="5943600" y="1024128"/>
            <a:ext cx="5989320" cy="2633472"/>
          </a:xfrm>
          <a:prstGeom prst="roundRect">
            <a:avLst>
              <a:gd name="adj" fmla="val 3472"/>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5943600" y="1024128"/>
            <a:ext cx="598932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5943600" y="1207008"/>
            <a:ext cx="5989320" cy="146304"/>
          </a:xfrm>
          <a:prstGeom prst="rect">
            <a:avLst/>
          </a:prstGeom>
          <a:solidFill>
            <a:srgbClr val="141E36"/>
          </a:solidFill>
          <a:ln w="12700">
            <a:solidFill>
              <a:srgbClr val="141E36"/>
            </a:solidFill>
            <a:prstDash val="solid"/>
          </a:ln>
        </p:spPr>
      </p:sp>
      <p:sp>
        <p:nvSpPr>
          <p:cNvPr id="24" name="Shape 21"/>
          <p:cNvSpPr/>
          <p:nvPr/>
        </p:nvSpPr>
        <p:spPr>
          <a:xfrm>
            <a:off x="607161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627278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647395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6675120" y="1078992"/>
            <a:ext cx="50749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scatter.py</a:t>
            </a:r>
            <a:endParaRPr lang="en-US" sz="900" dirty="0"/>
          </a:p>
        </p:txBody>
      </p:sp>
      <p:sp>
        <p:nvSpPr>
          <p:cNvPr id="28" name="Text 25"/>
          <p:cNvSpPr/>
          <p:nvPr/>
        </p:nvSpPr>
        <p:spPr>
          <a:xfrm>
            <a:off x="6089904" y="1408176"/>
            <a:ext cx="5715000" cy="2139696"/>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hours  = [1, 2, 3, 4, 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scores = [50, 55, 65, 70, 80]</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plt.scatter(hours, scores)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plt.xlabel('Study Hours')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plt.ylabel('Scores')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plt.title('Study Hours vs Scores')</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9" name="Shape 26"/>
          <p:cNvSpPr/>
          <p:nvPr/>
        </p:nvSpPr>
        <p:spPr>
          <a:xfrm>
            <a:off x="5943600" y="3730752"/>
            <a:ext cx="5989320" cy="368046"/>
          </a:xfrm>
          <a:prstGeom prst="rect">
            <a:avLst/>
          </a:prstGeom>
          <a:solidFill>
            <a:srgbClr val="06B6D4"/>
          </a:solidFill>
          <a:ln w="3810">
            <a:solidFill>
              <a:srgbClr val="141E36"/>
            </a:solidFill>
            <a:prstDash val="solid"/>
          </a:ln>
        </p:spPr>
      </p:sp>
      <p:sp>
        <p:nvSpPr>
          <p:cNvPr id="30" name="Text 27"/>
          <p:cNvSpPr/>
          <p:nvPr/>
        </p:nvSpPr>
        <p:spPr>
          <a:xfrm>
            <a:off x="6035040" y="3785616"/>
            <a:ext cx="2184502" cy="27660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274406" y="3785616"/>
            <a:ext cx="3567074" cy="27660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219542" y="3730752"/>
            <a:ext cx="18288" cy="368046"/>
          </a:xfrm>
          <a:prstGeom prst="rect">
            <a:avLst/>
          </a:prstGeom>
          <a:solidFill>
            <a:srgbClr val="FFFFFF"/>
          </a:solidFill>
          <a:ln w="12700">
            <a:solidFill>
              <a:srgbClr val="FFFFFF"/>
            </a:solidFill>
            <a:prstDash val="solid"/>
          </a:ln>
        </p:spPr>
      </p:sp>
      <p:sp>
        <p:nvSpPr>
          <p:cNvPr id="33" name="Shape 30"/>
          <p:cNvSpPr/>
          <p:nvPr/>
        </p:nvSpPr>
        <p:spPr>
          <a:xfrm>
            <a:off x="5943600" y="4098798"/>
            <a:ext cx="5989320" cy="368046"/>
          </a:xfrm>
          <a:prstGeom prst="rect">
            <a:avLst/>
          </a:prstGeom>
          <a:solidFill>
            <a:srgbClr val="141E36"/>
          </a:solidFill>
          <a:ln w="3810">
            <a:solidFill>
              <a:srgbClr val="141E36"/>
            </a:solidFill>
            <a:prstDash val="solid"/>
          </a:ln>
        </p:spPr>
      </p:sp>
      <p:sp>
        <p:nvSpPr>
          <p:cNvPr id="34" name="Text 31"/>
          <p:cNvSpPr/>
          <p:nvPr/>
        </p:nvSpPr>
        <p:spPr>
          <a:xfrm>
            <a:off x="6035040" y="4135374"/>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hours = [1, 2, 3, 4, 5]</a:t>
            </a:r>
            <a:endParaRPr lang="en-US" sz="900" dirty="0"/>
          </a:p>
        </p:txBody>
      </p:sp>
      <p:sp>
        <p:nvSpPr>
          <p:cNvPr id="35" name="Text 32"/>
          <p:cNvSpPr/>
          <p:nvPr/>
        </p:nvSpPr>
        <p:spPr>
          <a:xfrm>
            <a:off x="8274406" y="4135374"/>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X-axis values - number of hours studied.</a:t>
            </a:r>
            <a:endParaRPr lang="en-US" sz="950" dirty="0"/>
          </a:p>
        </p:txBody>
      </p:sp>
      <p:sp>
        <p:nvSpPr>
          <p:cNvPr id="36" name="Shape 33"/>
          <p:cNvSpPr/>
          <p:nvPr/>
        </p:nvSpPr>
        <p:spPr>
          <a:xfrm>
            <a:off x="8219542" y="4098798"/>
            <a:ext cx="18288" cy="368046"/>
          </a:xfrm>
          <a:prstGeom prst="rect">
            <a:avLst/>
          </a:prstGeom>
          <a:solidFill>
            <a:srgbClr val="1E293B"/>
          </a:solidFill>
          <a:ln w="12700">
            <a:solidFill>
              <a:srgbClr val="1E293B"/>
            </a:solidFill>
            <a:prstDash val="solid"/>
          </a:ln>
        </p:spPr>
      </p:sp>
      <p:sp>
        <p:nvSpPr>
          <p:cNvPr id="37" name="Shape 34"/>
          <p:cNvSpPr/>
          <p:nvPr/>
        </p:nvSpPr>
        <p:spPr>
          <a:xfrm>
            <a:off x="5943600" y="4466844"/>
            <a:ext cx="5989320" cy="368046"/>
          </a:xfrm>
          <a:prstGeom prst="rect">
            <a:avLst/>
          </a:prstGeom>
          <a:solidFill>
            <a:srgbClr val="0F1D3C"/>
          </a:solidFill>
          <a:ln w="3810">
            <a:solidFill>
              <a:srgbClr val="141E36"/>
            </a:solidFill>
            <a:prstDash val="solid"/>
          </a:ln>
        </p:spPr>
      </p:sp>
      <p:sp>
        <p:nvSpPr>
          <p:cNvPr id="38" name="Text 35"/>
          <p:cNvSpPr/>
          <p:nvPr/>
        </p:nvSpPr>
        <p:spPr>
          <a:xfrm>
            <a:off x="6035040" y="4503420"/>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scores = [50, 55, 65, 70, 80]</a:t>
            </a:r>
            <a:endParaRPr lang="en-US" sz="900" dirty="0"/>
          </a:p>
        </p:txBody>
      </p:sp>
      <p:sp>
        <p:nvSpPr>
          <p:cNvPr id="39" name="Text 36"/>
          <p:cNvSpPr/>
          <p:nvPr/>
        </p:nvSpPr>
        <p:spPr>
          <a:xfrm>
            <a:off x="8274406" y="4503420"/>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Y-axis values - exam score for each student.</a:t>
            </a:r>
            <a:endParaRPr lang="en-US" sz="950" dirty="0"/>
          </a:p>
        </p:txBody>
      </p:sp>
      <p:sp>
        <p:nvSpPr>
          <p:cNvPr id="40" name="Shape 37"/>
          <p:cNvSpPr/>
          <p:nvPr/>
        </p:nvSpPr>
        <p:spPr>
          <a:xfrm>
            <a:off x="8219542" y="4466844"/>
            <a:ext cx="18288" cy="368046"/>
          </a:xfrm>
          <a:prstGeom prst="rect">
            <a:avLst/>
          </a:prstGeom>
          <a:solidFill>
            <a:srgbClr val="1E293B"/>
          </a:solidFill>
          <a:ln w="12700">
            <a:solidFill>
              <a:srgbClr val="1E293B"/>
            </a:solidFill>
            <a:prstDash val="solid"/>
          </a:ln>
        </p:spPr>
      </p:sp>
      <p:sp>
        <p:nvSpPr>
          <p:cNvPr id="41" name="Shape 38"/>
          <p:cNvSpPr/>
          <p:nvPr/>
        </p:nvSpPr>
        <p:spPr>
          <a:xfrm>
            <a:off x="5943600" y="4834890"/>
            <a:ext cx="5989320" cy="368046"/>
          </a:xfrm>
          <a:prstGeom prst="rect">
            <a:avLst/>
          </a:prstGeom>
          <a:solidFill>
            <a:srgbClr val="141E36"/>
          </a:solidFill>
          <a:ln w="3810">
            <a:solidFill>
              <a:srgbClr val="141E36"/>
            </a:solidFill>
            <a:prstDash val="solid"/>
          </a:ln>
        </p:spPr>
      </p:sp>
      <p:sp>
        <p:nvSpPr>
          <p:cNvPr id="42" name="Text 39"/>
          <p:cNvSpPr/>
          <p:nvPr/>
        </p:nvSpPr>
        <p:spPr>
          <a:xfrm>
            <a:off x="6035040" y="4871466"/>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plt.scatter(hours, scores)</a:t>
            </a:r>
            <a:endParaRPr lang="en-US" sz="900" dirty="0"/>
          </a:p>
        </p:txBody>
      </p:sp>
      <p:sp>
        <p:nvSpPr>
          <p:cNvPr id="43" name="Text 40"/>
          <p:cNvSpPr/>
          <p:nvPr/>
        </p:nvSpPr>
        <p:spPr>
          <a:xfrm>
            <a:off x="8274406" y="4871466"/>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Plots one dot per student at position (hours, score). Does NOT connect dots - that is the key difference from a line chart.</a:t>
            </a:r>
            <a:endParaRPr lang="en-US" sz="950" dirty="0"/>
          </a:p>
        </p:txBody>
      </p:sp>
      <p:sp>
        <p:nvSpPr>
          <p:cNvPr id="44" name="Shape 41"/>
          <p:cNvSpPr/>
          <p:nvPr/>
        </p:nvSpPr>
        <p:spPr>
          <a:xfrm>
            <a:off x="8219542" y="4834890"/>
            <a:ext cx="18288" cy="368046"/>
          </a:xfrm>
          <a:prstGeom prst="rect">
            <a:avLst/>
          </a:prstGeom>
          <a:solidFill>
            <a:srgbClr val="1E293B"/>
          </a:solidFill>
          <a:ln w="12700">
            <a:solidFill>
              <a:srgbClr val="1E293B"/>
            </a:solidFill>
            <a:prstDash val="solid"/>
          </a:ln>
        </p:spPr>
      </p:sp>
      <p:sp>
        <p:nvSpPr>
          <p:cNvPr id="45" name="Shape 42"/>
          <p:cNvSpPr/>
          <p:nvPr/>
        </p:nvSpPr>
        <p:spPr>
          <a:xfrm>
            <a:off x="5943600" y="5202936"/>
            <a:ext cx="5989320" cy="368046"/>
          </a:xfrm>
          <a:prstGeom prst="rect">
            <a:avLst/>
          </a:prstGeom>
          <a:solidFill>
            <a:srgbClr val="0F1D3C"/>
          </a:solidFill>
          <a:ln w="3810">
            <a:solidFill>
              <a:srgbClr val="141E36"/>
            </a:solidFill>
            <a:prstDash val="solid"/>
          </a:ln>
        </p:spPr>
      </p:sp>
      <p:sp>
        <p:nvSpPr>
          <p:cNvPr id="46" name="Text 43"/>
          <p:cNvSpPr/>
          <p:nvPr/>
        </p:nvSpPr>
        <p:spPr>
          <a:xfrm>
            <a:off x="6035040" y="5239512"/>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plt.xlabel('Study Hours')</a:t>
            </a:r>
            <a:endParaRPr lang="en-US" sz="900" dirty="0"/>
          </a:p>
        </p:txBody>
      </p:sp>
      <p:sp>
        <p:nvSpPr>
          <p:cNvPr id="47" name="Text 44"/>
          <p:cNvSpPr/>
          <p:nvPr/>
        </p:nvSpPr>
        <p:spPr>
          <a:xfrm>
            <a:off x="8274406" y="5239512"/>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Labels the x-axis.</a:t>
            </a:r>
            <a:endParaRPr lang="en-US" sz="950" dirty="0"/>
          </a:p>
        </p:txBody>
      </p:sp>
      <p:sp>
        <p:nvSpPr>
          <p:cNvPr id="48" name="Shape 45"/>
          <p:cNvSpPr/>
          <p:nvPr/>
        </p:nvSpPr>
        <p:spPr>
          <a:xfrm>
            <a:off x="8219542" y="5202936"/>
            <a:ext cx="18288" cy="368046"/>
          </a:xfrm>
          <a:prstGeom prst="rect">
            <a:avLst/>
          </a:prstGeom>
          <a:solidFill>
            <a:srgbClr val="1E293B"/>
          </a:solidFill>
          <a:ln w="12700">
            <a:solidFill>
              <a:srgbClr val="1E293B"/>
            </a:solidFill>
            <a:prstDash val="solid"/>
          </a:ln>
        </p:spPr>
      </p:sp>
      <p:sp>
        <p:nvSpPr>
          <p:cNvPr id="49" name="Shape 46"/>
          <p:cNvSpPr/>
          <p:nvPr/>
        </p:nvSpPr>
        <p:spPr>
          <a:xfrm>
            <a:off x="5943600" y="5570982"/>
            <a:ext cx="5989320" cy="368046"/>
          </a:xfrm>
          <a:prstGeom prst="rect">
            <a:avLst/>
          </a:prstGeom>
          <a:solidFill>
            <a:srgbClr val="141E36"/>
          </a:solidFill>
          <a:ln w="3810">
            <a:solidFill>
              <a:srgbClr val="141E36"/>
            </a:solidFill>
            <a:prstDash val="solid"/>
          </a:ln>
        </p:spPr>
      </p:sp>
      <p:sp>
        <p:nvSpPr>
          <p:cNvPr id="50" name="Text 47"/>
          <p:cNvSpPr/>
          <p:nvPr/>
        </p:nvSpPr>
        <p:spPr>
          <a:xfrm>
            <a:off x="6035040" y="5607558"/>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plt.ylabel('Scores')</a:t>
            </a:r>
            <a:endParaRPr lang="en-US" sz="900" dirty="0"/>
          </a:p>
        </p:txBody>
      </p:sp>
      <p:sp>
        <p:nvSpPr>
          <p:cNvPr id="51" name="Text 48"/>
          <p:cNvSpPr/>
          <p:nvPr/>
        </p:nvSpPr>
        <p:spPr>
          <a:xfrm>
            <a:off x="8274406" y="5607558"/>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Labels the y-axis.</a:t>
            </a:r>
            <a:endParaRPr lang="en-US" sz="950" dirty="0"/>
          </a:p>
        </p:txBody>
      </p:sp>
      <p:sp>
        <p:nvSpPr>
          <p:cNvPr id="52" name="Shape 49"/>
          <p:cNvSpPr/>
          <p:nvPr/>
        </p:nvSpPr>
        <p:spPr>
          <a:xfrm>
            <a:off x="8219542" y="5570982"/>
            <a:ext cx="18288" cy="368046"/>
          </a:xfrm>
          <a:prstGeom prst="rect">
            <a:avLst/>
          </a:prstGeom>
          <a:solidFill>
            <a:srgbClr val="1E293B"/>
          </a:solidFill>
          <a:ln w="12700">
            <a:solidFill>
              <a:srgbClr val="1E293B"/>
            </a:solidFill>
            <a:prstDash val="solid"/>
          </a:ln>
        </p:spPr>
      </p:sp>
      <p:sp>
        <p:nvSpPr>
          <p:cNvPr id="53" name="Shape 50"/>
          <p:cNvSpPr/>
          <p:nvPr/>
        </p:nvSpPr>
        <p:spPr>
          <a:xfrm>
            <a:off x="5943600" y="5939028"/>
            <a:ext cx="5989320" cy="368046"/>
          </a:xfrm>
          <a:prstGeom prst="rect">
            <a:avLst/>
          </a:prstGeom>
          <a:solidFill>
            <a:srgbClr val="0F1D3C"/>
          </a:solidFill>
          <a:ln w="3810">
            <a:solidFill>
              <a:srgbClr val="141E36"/>
            </a:solidFill>
            <a:prstDash val="solid"/>
          </a:ln>
        </p:spPr>
      </p:sp>
      <p:sp>
        <p:nvSpPr>
          <p:cNvPr id="54" name="Text 51"/>
          <p:cNvSpPr/>
          <p:nvPr/>
        </p:nvSpPr>
        <p:spPr>
          <a:xfrm>
            <a:off x="6035040" y="5975604"/>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plt.title(...)</a:t>
            </a:r>
            <a:endParaRPr lang="en-US" sz="900" dirty="0"/>
          </a:p>
        </p:txBody>
      </p:sp>
      <p:sp>
        <p:nvSpPr>
          <p:cNvPr id="55" name="Text 52"/>
          <p:cNvSpPr/>
          <p:nvPr/>
        </p:nvSpPr>
        <p:spPr>
          <a:xfrm>
            <a:off x="8274406" y="5975604"/>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Sets the chart title.</a:t>
            </a:r>
            <a:endParaRPr lang="en-US" sz="950" dirty="0"/>
          </a:p>
        </p:txBody>
      </p:sp>
      <p:sp>
        <p:nvSpPr>
          <p:cNvPr id="56" name="Shape 53"/>
          <p:cNvSpPr/>
          <p:nvPr/>
        </p:nvSpPr>
        <p:spPr>
          <a:xfrm>
            <a:off x="8219542" y="5939028"/>
            <a:ext cx="18288" cy="368046"/>
          </a:xfrm>
          <a:prstGeom prst="rect">
            <a:avLst/>
          </a:prstGeom>
          <a:solidFill>
            <a:srgbClr val="1E293B"/>
          </a:solidFill>
          <a:ln w="12700">
            <a:solidFill>
              <a:srgbClr val="1E293B"/>
            </a:solidFill>
            <a:prstDash val="solid"/>
          </a:ln>
        </p:spPr>
      </p:sp>
      <p:sp>
        <p:nvSpPr>
          <p:cNvPr id="57" name="Shape 54"/>
          <p:cNvSpPr/>
          <p:nvPr/>
        </p:nvSpPr>
        <p:spPr>
          <a:xfrm>
            <a:off x="5943600" y="6307074"/>
            <a:ext cx="5989320" cy="368046"/>
          </a:xfrm>
          <a:prstGeom prst="rect">
            <a:avLst/>
          </a:prstGeom>
          <a:solidFill>
            <a:srgbClr val="141E36"/>
          </a:solidFill>
          <a:ln w="3810">
            <a:solidFill>
              <a:srgbClr val="141E36"/>
            </a:solidFill>
            <a:prstDash val="solid"/>
          </a:ln>
        </p:spPr>
      </p:sp>
      <p:sp>
        <p:nvSpPr>
          <p:cNvPr id="58" name="Text 55"/>
          <p:cNvSpPr/>
          <p:nvPr/>
        </p:nvSpPr>
        <p:spPr>
          <a:xfrm>
            <a:off x="6035040" y="6343650"/>
            <a:ext cx="2184502" cy="29489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59" name="Text 56"/>
          <p:cNvSpPr/>
          <p:nvPr/>
        </p:nvSpPr>
        <p:spPr>
          <a:xfrm>
            <a:off x="8274406" y="6343650"/>
            <a:ext cx="3567074" cy="29489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the chart.</a:t>
            </a:r>
            <a:endParaRPr lang="en-US" sz="950" dirty="0"/>
          </a:p>
        </p:txBody>
      </p:sp>
      <p:sp>
        <p:nvSpPr>
          <p:cNvPr id="60" name="Shape 57"/>
          <p:cNvSpPr/>
          <p:nvPr/>
        </p:nvSpPr>
        <p:spPr>
          <a:xfrm>
            <a:off x="8219542" y="6307074"/>
            <a:ext cx="18288" cy="368046"/>
          </a:xfrm>
          <a:prstGeom prst="rect">
            <a:avLst/>
          </a:prstGeom>
          <a:solidFill>
            <a:srgbClr val="1E293B"/>
          </a:solidFill>
          <a:ln w="12700">
            <a:solidFill>
              <a:srgbClr val="1E293B"/>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6. BOX PLOT - Spread, Quartiles, and Outliers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4389120" cy="3657600"/>
          </a:xfrm>
          <a:prstGeom prst="rect">
            <a:avLst/>
          </a:prstGeom>
        </p:spPr>
      </p:pic>
      <p:sp>
        <p:nvSpPr>
          <p:cNvPr id="5" name="Shape 2"/>
          <p:cNvSpPr/>
          <p:nvPr/>
        </p:nvSpPr>
        <p:spPr>
          <a:xfrm>
            <a:off x="411480" y="4754880"/>
            <a:ext cx="4389120" cy="1920240"/>
          </a:xfrm>
          <a:prstGeom prst="roundRect">
            <a:avLst>
              <a:gd name="adj" fmla="val 4762"/>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11480" y="4754880"/>
            <a:ext cx="4389120" cy="329184"/>
          </a:xfrm>
          <a:prstGeom prst="roundRect">
            <a:avLst>
              <a:gd name="adj" fmla="val 27778"/>
            </a:avLst>
          </a:prstGeom>
          <a:solidFill>
            <a:srgbClr val="141E36"/>
          </a:solidFill>
          <a:ln w="12700">
            <a:solidFill>
              <a:srgbClr val="141E36"/>
            </a:solidFill>
            <a:prstDash val="solid"/>
          </a:ln>
        </p:spPr>
      </p:sp>
      <p:sp>
        <p:nvSpPr>
          <p:cNvPr id="7" name="Shape 4"/>
          <p:cNvSpPr/>
          <p:nvPr/>
        </p:nvSpPr>
        <p:spPr>
          <a:xfrm>
            <a:off x="411480" y="4937760"/>
            <a:ext cx="4389120" cy="146304"/>
          </a:xfrm>
          <a:prstGeom prst="rect">
            <a:avLst/>
          </a:prstGeom>
          <a:solidFill>
            <a:srgbClr val="141E36"/>
          </a:solidFill>
          <a:ln w="12700">
            <a:solidFill>
              <a:srgbClr val="141E36"/>
            </a:solidFill>
            <a:prstDash val="solid"/>
          </a:ln>
        </p:spPr>
      </p:sp>
      <p:sp>
        <p:nvSpPr>
          <p:cNvPr id="8" name="Shape 5"/>
          <p:cNvSpPr/>
          <p:nvPr/>
        </p:nvSpPr>
        <p:spPr>
          <a:xfrm>
            <a:off x="539496" y="4846320"/>
            <a:ext cx="146304" cy="146304"/>
          </a:xfrm>
          <a:prstGeom prst="ellipse">
            <a:avLst/>
          </a:prstGeom>
          <a:solidFill>
            <a:srgbClr val="F43F5E"/>
          </a:solidFill>
          <a:ln w="12700">
            <a:solidFill>
              <a:srgbClr val="F43F5E"/>
            </a:solidFill>
            <a:prstDash val="solid"/>
          </a:ln>
        </p:spPr>
      </p:sp>
      <p:sp>
        <p:nvSpPr>
          <p:cNvPr id="9" name="Shape 6"/>
          <p:cNvSpPr/>
          <p:nvPr/>
        </p:nvSpPr>
        <p:spPr>
          <a:xfrm>
            <a:off x="740664" y="4846320"/>
            <a:ext cx="146304" cy="146304"/>
          </a:xfrm>
          <a:prstGeom prst="ellipse">
            <a:avLst/>
          </a:prstGeom>
          <a:solidFill>
            <a:srgbClr val="F59E0B"/>
          </a:solidFill>
          <a:ln w="12700">
            <a:solidFill>
              <a:srgbClr val="F59E0B"/>
            </a:solidFill>
            <a:prstDash val="solid"/>
          </a:ln>
        </p:spPr>
      </p:sp>
      <p:sp>
        <p:nvSpPr>
          <p:cNvPr id="10" name="Shape 7"/>
          <p:cNvSpPr/>
          <p:nvPr/>
        </p:nvSpPr>
        <p:spPr>
          <a:xfrm>
            <a:off x="941832" y="4846320"/>
            <a:ext cx="146304" cy="146304"/>
          </a:xfrm>
          <a:prstGeom prst="ellipse">
            <a:avLst/>
          </a:prstGeom>
          <a:solidFill>
            <a:srgbClr val="22C55E"/>
          </a:solidFill>
          <a:ln w="12700">
            <a:solidFill>
              <a:srgbClr val="22C55E"/>
            </a:solidFill>
            <a:prstDash val="solid"/>
          </a:ln>
        </p:spPr>
      </p:sp>
      <p:sp>
        <p:nvSpPr>
          <p:cNvPr id="11" name="Text 8"/>
          <p:cNvSpPr/>
          <p:nvPr/>
        </p:nvSpPr>
        <p:spPr>
          <a:xfrm>
            <a:off x="1143000" y="4809744"/>
            <a:ext cx="3474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box_plot.py</a:t>
            </a:r>
            <a:endParaRPr lang="en-US" sz="900" dirty="0"/>
          </a:p>
        </p:txBody>
      </p:sp>
      <p:sp>
        <p:nvSpPr>
          <p:cNvPr id="12" name="Text 9"/>
          <p:cNvSpPr/>
          <p:nvPr/>
        </p:nvSpPr>
        <p:spPr>
          <a:xfrm>
            <a:off x="557784" y="5138928"/>
            <a:ext cx="4114800" cy="1426464"/>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scores = [50, 55, 65, 70, 80]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sns.boxplot(data=[scores])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plt.title('Score Spread')</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pic>
        <p:nvPicPr>
          <p:cNvPr id="13" name="Image 1" descr="preencoded.png">    </p:cNvPr>
          <p:cNvPicPr>
            <a:picLocks noChangeAspect="1"/>
          </p:cNvPicPr>
          <p:nvPr/>
        </p:nvPicPr>
        <p:blipFill>
          <a:blip r:embed="rId2"/>
          <a:srcRect l="0" r="0" t="0" b="0"/>
          <a:stretch/>
        </p:blipFill>
        <p:spPr>
          <a:xfrm>
            <a:off x="4983480" y="1024128"/>
            <a:ext cx="4389120" cy="3657600"/>
          </a:xfrm>
          <a:prstGeom prst="rect">
            <a:avLst/>
          </a:prstGeom>
        </p:spPr>
      </p:pic>
      <p:sp>
        <p:nvSpPr>
          <p:cNvPr id="14" name="Shape 10"/>
          <p:cNvSpPr/>
          <p:nvPr/>
        </p:nvSpPr>
        <p:spPr>
          <a:xfrm>
            <a:off x="4983480" y="4754880"/>
            <a:ext cx="4389120" cy="1920240"/>
          </a:xfrm>
          <a:prstGeom prst="roundRect">
            <a:avLst>
              <a:gd name="adj" fmla="val 4762"/>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15" name="Shape 11"/>
          <p:cNvSpPr/>
          <p:nvPr/>
        </p:nvSpPr>
        <p:spPr>
          <a:xfrm>
            <a:off x="4983480" y="4754880"/>
            <a:ext cx="4389120" cy="329184"/>
          </a:xfrm>
          <a:prstGeom prst="roundRect">
            <a:avLst>
              <a:gd name="adj" fmla="val 27778"/>
            </a:avLst>
          </a:prstGeom>
          <a:solidFill>
            <a:srgbClr val="141E36"/>
          </a:solidFill>
          <a:ln w="12700">
            <a:solidFill>
              <a:srgbClr val="141E36"/>
            </a:solidFill>
            <a:prstDash val="solid"/>
          </a:ln>
        </p:spPr>
      </p:sp>
      <p:sp>
        <p:nvSpPr>
          <p:cNvPr id="16" name="Shape 12"/>
          <p:cNvSpPr/>
          <p:nvPr/>
        </p:nvSpPr>
        <p:spPr>
          <a:xfrm>
            <a:off x="4983480" y="4937760"/>
            <a:ext cx="4389120" cy="146304"/>
          </a:xfrm>
          <a:prstGeom prst="rect">
            <a:avLst/>
          </a:prstGeom>
          <a:solidFill>
            <a:srgbClr val="141E36"/>
          </a:solidFill>
          <a:ln w="12700">
            <a:solidFill>
              <a:srgbClr val="141E36"/>
            </a:solidFill>
            <a:prstDash val="solid"/>
          </a:ln>
        </p:spPr>
      </p:sp>
      <p:sp>
        <p:nvSpPr>
          <p:cNvPr id="17" name="Shape 13"/>
          <p:cNvSpPr/>
          <p:nvPr/>
        </p:nvSpPr>
        <p:spPr>
          <a:xfrm>
            <a:off x="5111496" y="4846320"/>
            <a:ext cx="146304" cy="146304"/>
          </a:xfrm>
          <a:prstGeom prst="ellipse">
            <a:avLst/>
          </a:prstGeom>
          <a:solidFill>
            <a:srgbClr val="F43F5E"/>
          </a:solidFill>
          <a:ln w="12700">
            <a:solidFill>
              <a:srgbClr val="F43F5E"/>
            </a:solidFill>
            <a:prstDash val="solid"/>
          </a:ln>
        </p:spPr>
      </p:sp>
      <p:sp>
        <p:nvSpPr>
          <p:cNvPr id="18" name="Shape 14"/>
          <p:cNvSpPr/>
          <p:nvPr/>
        </p:nvSpPr>
        <p:spPr>
          <a:xfrm>
            <a:off x="5312664" y="4846320"/>
            <a:ext cx="146304" cy="146304"/>
          </a:xfrm>
          <a:prstGeom prst="ellipse">
            <a:avLst/>
          </a:prstGeom>
          <a:solidFill>
            <a:srgbClr val="F59E0B"/>
          </a:solidFill>
          <a:ln w="12700">
            <a:solidFill>
              <a:srgbClr val="F59E0B"/>
            </a:solidFill>
            <a:prstDash val="solid"/>
          </a:ln>
        </p:spPr>
      </p:sp>
      <p:sp>
        <p:nvSpPr>
          <p:cNvPr id="19" name="Shape 15"/>
          <p:cNvSpPr/>
          <p:nvPr/>
        </p:nvSpPr>
        <p:spPr>
          <a:xfrm>
            <a:off x="5513832" y="4846320"/>
            <a:ext cx="146304" cy="146304"/>
          </a:xfrm>
          <a:prstGeom prst="ellipse">
            <a:avLst/>
          </a:prstGeom>
          <a:solidFill>
            <a:srgbClr val="22C55E"/>
          </a:solidFill>
          <a:ln w="12700">
            <a:solidFill>
              <a:srgbClr val="22C55E"/>
            </a:solidFill>
            <a:prstDash val="solid"/>
          </a:ln>
        </p:spPr>
      </p:sp>
      <p:sp>
        <p:nvSpPr>
          <p:cNvPr id="20" name="Text 16"/>
          <p:cNvSpPr/>
          <p:nvPr/>
        </p:nvSpPr>
        <p:spPr>
          <a:xfrm>
            <a:off x="5715000" y="4809744"/>
            <a:ext cx="3474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box_outliers.py</a:t>
            </a:r>
            <a:endParaRPr lang="en-US" sz="900" dirty="0"/>
          </a:p>
        </p:txBody>
      </p:sp>
      <p:sp>
        <p:nvSpPr>
          <p:cNvPr id="21" name="Text 17"/>
          <p:cNvSpPr/>
          <p:nvPr/>
        </p:nvSpPr>
        <p:spPr>
          <a:xfrm>
            <a:off x="5129784" y="5138928"/>
            <a:ext cx="4114800" cy="142646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With outliers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scores = [50,55,65,70,80,100,150,220]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sns.boxplot(data=[scores])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plt.title('Score Spread with Outliers')</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2" name="Shape 18"/>
          <p:cNvSpPr/>
          <p:nvPr/>
        </p:nvSpPr>
        <p:spPr>
          <a:xfrm>
            <a:off x="9555480" y="1024128"/>
            <a:ext cx="2468880" cy="566928"/>
          </a:xfrm>
          <a:prstGeom prst="rect">
            <a:avLst/>
          </a:prstGeom>
          <a:solidFill>
            <a:srgbClr val="F43F5E"/>
          </a:solidFill>
          <a:ln w="3810">
            <a:solidFill>
              <a:srgbClr val="141E36"/>
            </a:solidFill>
            <a:prstDash val="solid"/>
          </a:ln>
        </p:spPr>
      </p:sp>
      <p:sp>
        <p:nvSpPr>
          <p:cNvPr id="23" name="Text 19"/>
          <p:cNvSpPr/>
          <p:nvPr/>
        </p:nvSpPr>
        <p:spPr>
          <a:xfrm>
            <a:off x="9646920" y="1078992"/>
            <a:ext cx="846734"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Code</a:t>
            </a:r>
            <a:endParaRPr lang="en-US" sz="950" dirty="0"/>
          </a:p>
        </p:txBody>
      </p:sp>
      <p:sp>
        <p:nvSpPr>
          <p:cNvPr id="24" name="Text 20"/>
          <p:cNvSpPr/>
          <p:nvPr/>
        </p:nvSpPr>
        <p:spPr>
          <a:xfrm>
            <a:off x="10548518" y="1078992"/>
            <a:ext cx="1384402"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Explanation</a:t>
            </a:r>
            <a:endParaRPr lang="en-US" sz="950" dirty="0"/>
          </a:p>
        </p:txBody>
      </p:sp>
      <p:sp>
        <p:nvSpPr>
          <p:cNvPr id="25" name="Shape 21"/>
          <p:cNvSpPr/>
          <p:nvPr/>
        </p:nvSpPr>
        <p:spPr>
          <a:xfrm>
            <a:off x="10493654" y="1024128"/>
            <a:ext cx="18288" cy="566928"/>
          </a:xfrm>
          <a:prstGeom prst="rect">
            <a:avLst/>
          </a:prstGeom>
          <a:solidFill>
            <a:srgbClr val="FFFFFF"/>
          </a:solidFill>
          <a:ln w="12700">
            <a:solidFill>
              <a:srgbClr val="FFFFFF"/>
            </a:solidFill>
            <a:prstDash val="solid"/>
          </a:ln>
        </p:spPr>
      </p:sp>
      <p:sp>
        <p:nvSpPr>
          <p:cNvPr id="26" name="Shape 22"/>
          <p:cNvSpPr/>
          <p:nvPr/>
        </p:nvSpPr>
        <p:spPr>
          <a:xfrm>
            <a:off x="9555480" y="1591056"/>
            <a:ext cx="2468880" cy="566928"/>
          </a:xfrm>
          <a:prstGeom prst="rect">
            <a:avLst/>
          </a:prstGeom>
          <a:solidFill>
            <a:srgbClr val="141E36"/>
          </a:solidFill>
          <a:ln w="3810">
            <a:solidFill>
              <a:srgbClr val="141E36"/>
            </a:solidFill>
            <a:prstDash val="solid"/>
          </a:ln>
        </p:spPr>
      </p:sp>
      <p:sp>
        <p:nvSpPr>
          <p:cNvPr id="27" name="Text 23"/>
          <p:cNvSpPr/>
          <p:nvPr/>
        </p:nvSpPr>
        <p:spPr>
          <a:xfrm>
            <a:off x="9646920" y="1627632"/>
            <a:ext cx="846734"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scores = [...]</a:t>
            </a:r>
            <a:endParaRPr lang="en-US" sz="900" dirty="0"/>
          </a:p>
        </p:txBody>
      </p:sp>
      <p:sp>
        <p:nvSpPr>
          <p:cNvPr id="28" name="Text 24"/>
          <p:cNvSpPr/>
          <p:nvPr/>
        </p:nvSpPr>
        <p:spPr>
          <a:xfrm>
            <a:off x="10548518" y="1627632"/>
            <a:ext cx="1384402"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Your dataset.</a:t>
            </a:r>
            <a:endParaRPr lang="en-US" sz="950" dirty="0"/>
          </a:p>
        </p:txBody>
      </p:sp>
      <p:sp>
        <p:nvSpPr>
          <p:cNvPr id="29" name="Shape 25"/>
          <p:cNvSpPr/>
          <p:nvPr/>
        </p:nvSpPr>
        <p:spPr>
          <a:xfrm>
            <a:off x="10493654" y="1591056"/>
            <a:ext cx="18288" cy="566928"/>
          </a:xfrm>
          <a:prstGeom prst="rect">
            <a:avLst/>
          </a:prstGeom>
          <a:solidFill>
            <a:srgbClr val="1E293B"/>
          </a:solidFill>
          <a:ln w="12700">
            <a:solidFill>
              <a:srgbClr val="1E293B"/>
            </a:solidFill>
            <a:prstDash val="solid"/>
          </a:ln>
        </p:spPr>
      </p:sp>
      <p:sp>
        <p:nvSpPr>
          <p:cNvPr id="30" name="Shape 26"/>
          <p:cNvSpPr/>
          <p:nvPr/>
        </p:nvSpPr>
        <p:spPr>
          <a:xfrm>
            <a:off x="9555480" y="2157984"/>
            <a:ext cx="2468880" cy="566928"/>
          </a:xfrm>
          <a:prstGeom prst="rect">
            <a:avLst/>
          </a:prstGeom>
          <a:solidFill>
            <a:srgbClr val="0F1D3C"/>
          </a:solidFill>
          <a:ln w="3810">
            <a:solidFill>
              <a:srgbClr val="141E36"/>
            </a:solidFill>
            <a:prstDash val="solid"/>
          </a:ln>
        </p:spPr>
      </p:sp>
      <p:sp>
        <p:nvSpPr>
          <p:cNvPr id="31" name="Text 27"/>
          <p:cNvSpPr/>
          <p:nvPr/>
        </p:nvSpPr>
        <p:spPr>
          <a:xfrm>
            <a:off x="9646920" y="2194560"/>
            <a:ext cx="846734"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sns.boxplot()</a:t>
            </a:r>
            <a:endParaRPr lang="en-US" sz="900" dirty="0"/>
          </a:p>
        </p:txBody>
      </p:sp>
      <p:sp>
        <p:nvSpPr>
          <p:cNvPr id="32" name="Text 28"/>
          <p:cNvSpPr/>
          <p:nvPr/>
        </p:nvSpPr>
        <p:spPr>
          <a:xfrm>
            <a:off x="10548518" y="2194560"/>
            <a:ext cx="1384402"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Draws the box. Shows median, Q1, Q3, min, max.</a:t>
            </a:r>
            <a:endParaRPr lang="en-US" sz="950" dirty="0"/>
          </a:p>
        </p:txBody>
      </p:sp>
      <p:sp>
        <p:nvSpPr>
          <p:cNvPr id="33" name="Shape 29"/>
          <p:cNvSpPr/>
          <p:nvPr/>
        </p:nvSpPr>
        <p:spPr>
          <a:xfrm>
            <a:off x="10493654" y="2157984"/>
            <a:ext cx="18288" cy="566928"/>
          </a:xfrm>
          <a:prstGeom prst="rect">
            <a:avLst/>
          </a:prstGeom>
          <a:solidFill>
            <a:srgbClr val="1E293B"/>
          </a:solidFill>
          <a:ln w="12700">
            <a:solidFill>
              <a:srgbClr val="1E293B"/>
            </a:solidFill>
            <a:prstDash val="solid"/>
          </a:ln>
        </p:spPr>
      </p:sp>
      <p:sp>
        <p:nvSpPr>
          <p:cNvPr id="34" name="Shape 30"/>
          <p:cNvSpPr/>
          <p:nvPr/>
        </p:nvSpPr>
        <p:spPr>
          <a:xfrm>
            <a:off x="9555480" y="2724912"/>
            <a:ext cx="2468880" cy="566928"/>
          </a:xfrm>
          <a:prstGeom prst="rect">
            <a:avLst/>
          </a:prstGeom>
          <a:solidFill>
            <a:srgbClr val="141E36"/>
          </a:solidFill>
          <a:ln w="3810">
            <a:solidFill>
              <a:srgbClr val="141E36"/>
            </a:solidFill>
            <a:prstDash val="solid"/>
          </a:ln>
        </p:spPr>
      </p:sp>
      <p:sp>
        <p:nvSpPr>
          <p:cNvPr id="35" name="Text 31"/>
          <p:cNvSpPr/>
          <p:nvPr/>
        </p:nvSpPr>
        <p:spPr>
          <a:xfrm>
            <a:off x="9646920" y="2761488"/>
            <a:ext cx="846734"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data=[scores]</a:t>
            </a:r>
            <a:endParaRPr lang="en-US" sz="900" dirty="0"/>
          </a:p>
        </p:txBody>
      </p:sp>
      <p:sp>
        <p:nvSpPr>
          <p:cNvPr id="36" name="Text 32"/>
          <p:cNvSpPr/>
          <p:nvPr/>
        </p:nvSpPr>
        <p:spPr>
          <a:xfrm>
            <a:off x="10548518" y="2761488"/>
            <a:ext cx="1384402"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Wraps data in a list for Seaborn's expected format.</a:t>
            </a:r>
            <a:endParaRPr lang="en-US" sz="950" dirty="0"/>
          </a:p>
        </p:txBody>
      </p:sp>
      <p:sp>
        <p:nvSpPr>
          <p:cNvPr id="37" name="Shape 33"/>
          <p:cNvSpPr/>
          <p:nvPr/>
        </p:nvSpPr>
        <p:spPr>
          <a:xfrm>
            <a:off x="10493654" y="2724912"/>
            <a:ext cx="18288" cy="566928"/>
          </a:xfrm>
          <a:prstGeom prst="rect">
            <a:avLst/>
          </a:prstGeom>
          <a:solidFill>
            <a:srgbClr val="1E293B"/>
          </a:solidFill>
          <a:ln w="12700">
            <a:solidFill>
              <a:srgbClr val="1E293B"/>
            </a:solidFill>
            <a:prstDash val="solid"/>
          </a:ln>
        </p:spPr>
      </p:sp>
      <p:sp>
        <p:nvSpPr>
          <p:cNvPr id="38" name="Shape 34"/>
          <p:cNvSpPr/>
          <p:nvPr/>
        </p:nvSpPr>
        <p:spPr>
          <a:xfrm>
            <a:off x="9555480" y="3291840"/>
            <a:ext cx="2468880" cy="566928"/>
          </a:xfrm>
          <a:prstGeom prst="rect">
            <a:avLst/>
          </a:prstGeom>
          <a:solidFill>
            <a:srgbClr val="0F1D3C"/>
          </a:solidFill>
          <a:ln w="3810">
            <a:solidFill>
              <a:srgbClr val="141E36"/>
            </a:solidFill>
            <a:prstDash val="solid"/>
          </a:ln>
        </p:spPr>
      </p:sp>
      <p:sp>
        <p:nvSpPr>
          <p:cNvPr id="39" name="Text 35"/>
          <p:cNvSpPr/>
          <p:nvPr/>
        </p:nvSpPr>
        <p:spPr>
          <a:xfrm>
            <a:off x="9646920" y="3328416"/>
            <a:ext cx="846734"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plt.title(...)</a:t>
            </a:r>
            <a:endParaRPr lang="en-US" sz="900" dirty="0"/>
          </a:p>
        </p:txBody>
      </p:sp>
      <p:sp>
        <p:nvSpPr>
          <p:cNvPr id="40" name="Text 36"/>
          <p:cNvSpPr/>
          <p:nvPr/>
        </p:nvSpPr>
        <p:spPr>
          <a:xfrm>
            <a:off x="10548518" y="3328416"/>
            <a:ext cx="1384402"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Adds the chart title.</a:t>
            </a:r>
            <a:endParaRPr lang="en-US" sz="950" dirty="0"/>
          </a:p>
        </p:txBody>
      </p:sp>
      <p:sp>
        <p:nvSpPr>
          <p:cNvPr id="41" name="Shape 37"/>
          <p:cNvSpPr/>
          <p:nvPr/>
        </p:nvSpPr>
        <p:spPr>
          <a:xfrm>
            <a:off x="10493654" y="3291840"/>
            <a:ext cx="18288" cy="566928"/>
          </a:xfrm>
          <a:prstGeom prst="rect">
            <a:avLst/>
          </a:prstGeom>
          <a:solidFill>
            <a:srgbClr val="1E293B"/>
          </a:solidFill>
          <a:ln w="12700">
            <a:solidFill>
              <a:srgbClr val="1E293B"/>
            </a:solidFill>
            <a:prstDash val="solid"/>
          </a:ln>
        </p:spPr>
      </p:sp>
      <p:sp>
        <p:nvSpPr>
          <p:cNvPr id="42" name="Shape 38"/>
          <p:cNvSpPr/>
          <p:nvPr/>
        </p:nvSpPr>
        <p:spPr>
          <a:xfrm>
            <a:off x="9555480" y="3858768"/>
            <a:ext cx="2468880" cy="566928"/>
          </a:xfrm>
          <a:prstGeom prst="rect">
            <a:avLst/>
          </a:prstGeom>
          <a:solidFill>
            <a:srgbClr val="141E36"/>
          </a:solidFill>
          <a:ln w="3810">
            <a:solidFill>
              <a:srgbClr val="141E36"/>
            </a:solidFill>
            <a:prstDash val="solid"/>
          </a:ln>
        </p:spPr>
      </p:sp>
      <p:sp>
        <p:nvSpPr>
          <p:cNvPr id="43" name="Text 39"/>
          <p:cNvSpPr/>
          <p:nvPr/>
        </p:nvSpPr>
        <p:spPr>
          <a:xfrm>
            <a:off x="9646920" y="3895344"/>
            <a:ext cx="846734"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44" name="Text 40"/>
          <p:cNvSpPr/>
          <p:nvPr/>
        </p:nvSpPr>
        <p:spPr>
          <a:xfrm>
            <a:off x="10548518" y="3895344"/>
            <a:ext cx="1384402"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the chart.</a:t>
            </a:r>
            <a:endParaRPr lang="en-US" sz="950" dirty="0"/>
          </a:p>
        </p:txBody>
      </p:sp>
      <p:sp>
        <p:nvSpPr>
          <p:cNvPr id="45" name="Shape 41"/>
          <p:cNvSpPr/>
          <p:nvPr/>
        </p:nvSpPr>
        <p:spPr>
          <a:xfrm>
            <a:off x="10493654" y="3858768"/>
            <a:ext cx="18288" cy="566928"/>
          </a:xfrm>
          <a:prstGeom prst="rect">
            <a:avLst/>
          </a:prstGeom>
          <a:solidFill>
            <a:srgbClr val="1E293B"/>
          </a:solidFill>
          <a:ln w="12700">
            <a:solidFill>
              <a:srgbClr val="1E293B"/>
            </a:solidFill>
            <a:prstDash val="solid"/>
          </a:ln>
        </p:spPr>
      </p:sp>
      <p:sp>
        <p:nvSpPr>
          <p:cNvPr id="46" name="Shape 42"/>
          <p:cNvSpPr/>
          <p:nvPr/>
        </p:nvSpPr>
        <p:spPr>
          <a:xfrm>
            <a:off x="9555480" y="3072384"/>
            <a:ext cx="2468880" cy="3602736"/>
          </a:xfrm>
          <a:prstGeom prst="roundRect">
            <a:avLst>
              <a:gd name="adj" fmla="val 3704"/>
            </a:avLst>
          </a:prstGeom>
          <a:solidFill>
            <a:srgbClr val="141E36"/>
          </a:solidFill>
          <a:ln w="12700">
            <a:solidFill>
              <a:srgbClr val="F43F5E"/>
            </a:solidFill>
            <a:prstDash val="solid"/>
          </a:ln>
          <a:effectLst>
            <a:outerShdw sx="100000" sy="100000" kx="0" ky="0" algn="bl" rotWithShape="0" blurRad="63500" dist="25400" dir="2700000">
              <a:srgbClr val="000000">
                <a:alpha val="12000"/>
              </a:srgbClr>
            </a:outerShdw>
          </a:effectLst>
        </p:spPr>
      </p:sp>
      <p:sp>
        <p:nvSpPr>
          <p:cNvPr id="47" name="Text 43"/>
          <p:cNvSpPr/>
          <p:nvPr/>
        </p:nvSpPr>
        <p:spPr>
          <a:xfrm>
            <a:off x="9674352" y="3145536"/>
            <a:ext cx="2231136" cy="274320"/>
          </a:xfrm>
          <a:prstGeom prst="rect">
            <a:avLst/>
          </a:prstGeom>
          <a:noFill/>
          <a:ln/>
        </p:spPr>
        <p:txBody>
          <a:bodyPr wrap="square" lIns="0" tIns="0" rIns="0" bIns="0" rtlCol="0" anchor="ctr"/>
          <a:lstStyle/>
          <a:p>
            <a:pPr indent="0" marL="0">
              <a:buNone/>
            </a:pPr>
            <a:r>
              <a:rPr lang="en-US" sz="1000" b="1" dirty="0">
                <a:solidFill>
                  <a:srgbClr val="F43F5E"/>
                </a:solidFill>
                <a:latin typeface="Cambria" pitchFamily="34" charset="0"/>
                <a:ea typeface="Cambria" pitchFamily="34" charset="-122"/>
                <a:cs typeface="Cambria" pitchFamily="34" charset="-120"/>
              </a:rPr>
              <a:t>Box Plot Anatomy</a:t>
            </a:r>
            <a:endParaRPr lang="en-US" sz="1000" dirty="0"/>
          </a:p>
        </p:txBody>
      </p:sp>
      <p:sp>
        <p:nvSpPr>
          <p:cNvPr id="48" name="Text 44"/>
          <p:cNvSpPr/>
          <p:nvPr/>
        </p:nvSpPr>
        <p:spPr>
          <a:xfrm>
            <a:off x="9674352" y="3493008"/>
            <a:ext cx="1097280" cy="347472"/>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Top whisker:  </a:t>
            </a:r>
            <a:endParaRPr lang="en-US" sz="850" dirty="0"/>
          </a:p>
        </p:txBody>
      </p:sp>
      <p:sp>
        <p:nvSpPr>
          <p:cNvPr id="49" name="Text 45"/>
          <p:cNvSpPr/>
          <p:nvPr/>
        </p:nvSpPr>
        <p:spPr>
          <a:xfrm>
            <a:off x="10771632" y="3493008"/>
            <a:ext cx="1133856"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Max value (non-outlier)</a:t>
            </a:r>
            <a:endParaRPr lang="en-US" sz="850" dirty="0"/>
          </a:p>
        </p:txBody>
      </p:sp>
      <p:sp>
        <p:nvSpPr>
          <p:cNvPr id="50" name="Text 46"/>
          <p:cNvSpPr/>
          <p:nvPr/>
        </p:nvSpPr>
        <p:spPr>
          <a:xfrm>
            <a:off x="9674352" y="3931920"/>
            <a:ext cx="1097280" cy="347472"/>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Top of box:  </a:t>
            </a:r>
            <a:endParaRPr lang="en-US" sz="850" dirty="0"/>
          </a:p>
        </p:txBody>
      </p:sp>
      <p:sp>
        <p:nvSpPr>
          <p:cNvPr id="51" name="Text 47"/>
          <p:cNvSpPr/>
          <p:nvPr/>
        </p:nvSpPr>
        <p:spPr>
          <a:xfrm>
            <a:off x="10771632" y="3931920"/>
            <a:ext cx="1133856"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Q3 - 75th percentile</a:t>
            </a:r>
            <a:endParaRPr lang="en-US" sz="850" dirty="0"/>
          </a:p>
        </p:txBody>
      </p:sp>
      <p:sp>
        <p:nvSpPr>
          <p:cNvPr id="52" name="Text 48"/>
          <p:cNvSpPr/>
          <p:nvPr/>
        </p:nvSpPr>
        <p:spPr>
          <a:xfrm>
            <a:off x="9674352" y="4370832"/>
            <a:ext cx="1097280" cy="347472"/>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Middle line:  </a:t>
            </a:r>
            <a:endParaRPr lang="en-US" sz="850" dirty="0"/>
          </a:p>
        </p:txBody>
      </p:sp>
      <p:sp>
        <p:nvSpPr>
          <p:cNvPr id="53" name="Text 49"/>
          <p:cNvSpPr/>
          <p:nvPr/>
        </p:nvSpPr>
        <p:spPr>
          <a:xfrm>
            <a:off x="10771632" y="4370832"/>
            <a:ext cx="1133856"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Median (50th pct)</a:t>
            </a:r>
            <a:endParaRPr lang="en-US" sz="850" dirty="0"/>
          </a:p>
        </p:txBody>
      </p:sp>
      <p:sp>
        <p:nvSpPr>
          <p:cNvPr id="54" name="Text 50"/>
          <p:cNvSpPr/>
          <p:nvPr/>
        </p:nvSpPr>
        <p:spPr>
          <a:xfrm>
            <a:off x="9674352" y="4809744"/>
            <a:ext cx="1097280" cy="347472"/>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Bottom of box:  </a:t>
            </a:r>
            <a:endParaRPr lang="en-US" sz="850" dirty="0"/>
          </a:p>
        </p:txBody>
      </p:sp>
      <p:sp>
        <p:nvSpPr>
          <p:cNvPr id="55" name="Text 51"/>
          <p:cNvSpPr/>
          <p:nvPr/>
        </p:nvSpPr>
        <p:spPr>
          <a:xfrm>
            <a:off x="10771632" y="4809744"/>
            <a:ext cx="1133856"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Q1 - 25th percentile</a:t>
            </a:r>
            <a:endParaRPr lang="en-US" sz="850" dirty="0"/>
          </a:p>
        </p:txBody>
      </p:sp>
      <p:sp>
        <p:nvSpPr>
          <p:cNvPr id="56" name="Text 52"/>
          <p:cNvSpPr/>
          <p:nvPr/>
        </p:nvSpPr>
        <p:spPr>
          <a:xfrm>
            <a:off x="9674352" y="5248656"/>
            <a:ext cx="1097280" cy="347472"/>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Bottom whisker:  </a:t>
            </a:r>
            <a:endParaRPr lang="en-US" sz="850" dirty="0"/>
          </a:p>
        </p:txBody>
      </p:sp>
      <p:sp>
        <p:nvSpPr>
          <p:cNvPr id="57" name="Text 53"/>
          <p:cNvSpPr/>
          <p:nvPr/>
        </p:nvSpPr>
        <p:spPr>
          <a:xfrm>
            <a:off x="10771632" y="5248656"/>
            <a:ext cx="1133856"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Min value (non-outlier)</a:t>
            </a:r>
            <a:endParaRPr lang="en-US" sz="850" dirty="0"/>
          </a:p>
        </p:txBody>
      </p:sp>
      <p:sp>
        <p:nvSpPr>
          <p:cNvPr id="58" name="Text 54"/>
          <p:cNvSpPr/>
          <p:nvPr/>
        </p:nvSpPr>
        <p:spPr>
          <a:xfrm>
            <a:off x="9674352" y="5687568"/>
            <a:ext cx="1097280" cy="347472"/>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Dots beyond:  </a:t>
            </a:r>
            <a:endParaRPr lang="en-US" sz="850" dirty="0"/>
          </a:p>
        </p:txBody>
      </p:sp>
      <p:sp>
        <p:nvSpPr>
          <p:cNvPr id="59" name="Text 55"/>
          <p:cNvSpPr/>
          <p:nvPr/>
        </p:nvSpPr>
        <p:spPr>
          <a:xfrm>
            <a:off x="10771632" y="5687568"/>
            <a:ext cx="1133856" cy="34747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Outliers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7. VIOLIN PLOT - Distribution and Density Combined</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303520" cy="4114800"/>
          </a:xfrm>
          <a:prstGeom prst="rect">
            <a:avLst/>
          </a:prstGeom>
        </p:spPr>
      </p:pic>
      <p:sp>
        <p:nvSpPr>
          <p:cNvPr id="5" name="Shape 2"/>
          <p:cNvSpPr/>
          <p:nvPr/>
        </p:nvSpPr>
        <p:spPr>
          <a:xfrm>
            <a:off x="411480" y="5212080"/>
            <a:ext cx="5303520" cy="1508760"/>
          </a:xfrm>
          <a:prstGeom prst="roundRect">
            <a:avLst>
              <a:gd name="adj" fmla="val 6061"/>
            </a:avLst>
          </a:prstGeom>
          <a:solidFill>
            <a:srgbClr val="0F1D3C"/>
          </a:solidFill>
          <a:ln w="15240">
            <a:solidFill>
              <a:srgbClr val="8B5CF6"/>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321808"/>
            <a:ext cx="5047488" cy="292608"/>
          </a:xfrm>
          <a:prstGeom prst="rect">
            <a:avLst/>
          </a:prstGeom>
          <a:noFill/>
          <a:ln/>
        </p:spPr>
        <p:txBody>
          <a:bodyPr wrap="square" lIns="0" tIns="0" rIns="0" bIns="0" rtlCol="0" anchor="ctr"/>
          <a:lstStyle/>
          <a:p>
            <a:pPr indent="0" marL="0">
              <a:buNone/>
            </a:pPr>
            <a:r>
              <a:rPr lang="en-US" sz="1100" b="1" dirty="0">
                <a:solidFill>
                  <a:srgbClr val="8B5CF6"/>
                </a:solidFill>
                <a:latin typeface="Cambria" pitchFamily="34" charset="0"/>
                <a:ea typeface="Cambria" pitchFamily="34" charset="-122"/>
                <a:cs typeface="Cambria" pitchFamily="34" charset="-120"/>
              </a:rPr>
              <a:t>Violin Plot</a:t>
            </a:r>
            <a:endParaRPr lang="en-US" sz="1100" dirty="0"/>
          </a:p>
        </p:txBody>
      </p:sp>
      <p:sp>
        <p:nvSpPr>
          <p:cNvPr id="7" name="Text 4"/>
          <p:cNvSpPr/>
          <p:nvPr/>
        </p:nvSpPr>
        <p:spPr>
          <a:xfrm>
            <a:off x="539496" y="5650992"/>
            <a:ext cx="504748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5980176"/>
            <a:ext cx="164592" cy="164592"/>
          </a:xfrm>
          <a:prstGeom prst="ellipse">
            <a:avLst/>
          </a:prstGeom>
          <a:solidFill>
            <a:srgbClr val="8B5CF6"/>
          </a:solidFill>
          <a:ln w="12700">
            <a:solidFill>
              <a:srgbClr val="8B5CF6"/>
            </a:solidFill>
            <a:prstDash val="solid"/>
          </a:ln>
        </p:spPr>
      </p:sp>
      <p:sp>
        <p:nvSpPr>
          <p:cNvPr id="9" name="Text 6"/>
          <p:cNvSpPr/>
          <p:nvPr/>
        </p:nvSpPr>
        <p:spPr>
          <a:xfrm>
            <a:off x="758952" y="5907024"/>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Show distribution PLUS density in one chart</a:t>
            </a:r>
            <a:endParaRPr lang="en-US" sz="950" dirty="0"/>
          </a:p>
        </p:txBody>
      </p:sp>
      <p:sp>
        <p:nvSpPr>
          <p:cNvPr id="10" name="Shape 7"/>
          <p:cNvSpPr/>
          <p:nvPr/>
        </p:nvSpPr>
        <p:spPr>
          <a:xfrm>
            <a:off x="539496" y="6309360"/>
            <a:ext cx="164592" cy="164592"/>
          </a:xfrm>
          <a:prstGeom prst="ellipse">
            <a:avLst/>
          </a:prstGeom>
          <a:solidFill>
            <a:srgbClr val="8B5CF6"/>
          </a:solidFill>
          <a:ln w="12700">
            <a:solidFill>
              <a:srgbClr val="8B5CF6"/>
            </a:solidFill>
            <a:prstDash val="solid"/>
          </a:ln>
        </p:spPr>
      </p:sp>
      <p:sp>
        <p:nvSpPr>
          <p:cNvPr id="11" name="Text 8"/>
          <p:cNvSpPr/>
          <p:nvPr/>
        </p:nvSpPr>
        <p:spPr>
          <a:xfrm>
            <a:off x="758952" y="6236208"/>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More informative than a box plot</a:t>
            </a:r>
            <a:endParaRPr lang="en-US" sz="950" dirty="0"/>
          </a:p>
        </p:txBody>
      </p:sp>
      <p:sp>
        <p:nvSpPr>
          <p:cNvPr id="12" name="Shape 9"/>
          <p:cNvSpPr/>
          <p:nvPr/>
        </p:nvSpPr>
        <p:spPr>
          <a:xfrm>
            <a:off x="539496" y="6638544"/>
            <a:ext cx="164592" cy="164592"/>
          </a:xfrm>
          <a:prstGeom prst="ellipse">
            <a:avLst/>
          </a:prstGeom>
          <a:solidFill>
            <a:srgbClr val="8B5CF6"/>
          </a:solidFill>
          <a:ln w="12700">
            <a:solidFill>
              <a:srgbClr val="8B5CF6"/>
            </a:solidFill>
            <a:prstDash val="solid"/>
          </a:ln>
        </p:spPr>
      </p:sp>
      <p:sp>
        <p:nvSpPr>
          <p:cNvPr id="13" name="Text 10"/>
          <p:cNvSpPr/>
          <p:nvPr/>
        </p:nvSpPr>
        <p:spPr>
          <a:xfrm>
            <a:off x="758952" y="6565392"/>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Reveal bimodal (two-peaked) distributions</a:t>
            </a:r>
            <a:endParaRPr lang="en-US" sz="950" dirty="0"/>
          </a:p>
        </p:txBody>
      </p:sp>
      <p:sp>
        <p:nvSpPr>
          <p:cNvPr id="14" name="Text 11"/>
          <p:cNvSpPr/>
          <p:nvPr/>
        </p:nvSpPr>
        <p:spPr>
          <a:xfrm>
            <a:off x="539496" y="6949440"/>
            <a:ext cx="5047488" cy="237744"/>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205472"/>
            <a:ext cx="5047488" cy="274320"/>
          </a:xfrm>
          <a:prstGeom prst="roundRect">
            <a:avLst>
              <a:gd name="adj" fmla="val 13333"/>
            </a:avLst>
          </a:prstGeom>
          <a:solidFill>
            <a:srgbClr val="8B5CF6"/>
          </a:solidFill>
          <a:ln w="12700">
            <a:solidFill>
              <a:srgbClr val="8B5CF6"/>
            </a:solidFill>
            <a:prstDash val="solid"/>
          </a:ln>
        </p:spPr>
      </p:sp>
      <p:sp>
        <p:nvSpPr>
          <p:cNvPr id="16" name="Text 13"/>
          <p:cNvSpPr/>
          <p:nvPr/>
        </p:nvSpPr>
        <p:spPr>
          <a:xfrm>
            <a:off x="594360" y="7223760"/>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Customer spending patterns</a:t>
            </a:r>
            <a:endParaRPr lang="en-US" sz="950" dirty="0"/>
          </a:p>
        </p:txBody>
      </p:sp>
      <p:sp>
        <p:nvSpPr>
          <p:cNvPr id="17" name="Shape 14"/>
          <p:cNvSpPr/>
          <p:nvPr/>
        </p:nvSpPr>
        <p:spPr>
          <a:xfrm>
            <a:off x="539496" y="7534656"/>
            <a:ext cx="5047488" cy="274320"/>
          </a:xfrm>
          <a:prstGeom prst="roundRect">
            <a:avLst>
              <a:gd name="adj" fmla="val 13333"/>
            </a:avLst>
          </a:prstGeom>
          <a:solidFill>
            <a:srgbClr val="8B5CF6"/>
          </a:solidFill>
          <a:ln w="12700">
            <a:solidFill>
              <a:srgbClr val="8B5CF6"/>
            </a:solidFill>
            <a:prstDash val="solid"/>
          </a:ln>
        </p:spPr>
      </p:sp>
      <p:sp>
        <p:nvSpPr>
          <p:cNvPr id="18" name="Text 15"/>
          <p:cNvSpPr/>
          <p:nvPr/>
        </p:nvSpPr>
        <p:spPr>
          <a:xfrm>
            <a:off x="594360" y="7552944"/>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Exam score distributions by class</a:t>
            </a:r>
            <a:endParaRPr lang="en-US" sz="950" dirty="0"/>
          </a:p>
        </p:txBody>
      </p:sp>
      <p:sp>
        <p:nvSpPr>
          <p:cNvPr id="19" name="Shape 16"/>
          <p:cNvSpPr/>
          <p:nvPr/>
        </p:nvSpPr>
        <p:spPr>
          <a:xfrm>
            <a:off x="539496" y="7863840"/>
            <a:ext cx="5047488" cy="274320"/>
          </a:xfrm>
          <a:prstGeom prst="roundRect">
            <a:avLst>
              <a:gd name="adj" fmla="val 13333"/>
            </a:avLst>
          </a:prstGeom>
          <a:solidFill>
            <a:srgbClr val="8B5CF6"/>
          </a:solidFill>
          <a:ln w="12700">
            <a:solidFill>
              <a:srgbClr val="8B5CF6"/>
            </a:solidFill>
            <a:prstDash val="solid"/>
          </a:ln>
        </p:spPr>
      </p:sp>
      <p:sp>
        <p:nvSpPr>
          <p:cNvPr id="20" name="Text 17"/>
          <p:cNvSpPr/>
          <p:nvPr/>
        </p:nvSpPr>
        <p:spPr>
          <a:xfrm>
            <a:off x="594360" y="7882128"/>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Salary ranges across departments</a:t>
            </a:r>
            <a:endParaRPr lang="en-US" sz="950" dirty="0"/>
          </a:p>
        </p:txBody>
      </p:sp>
      <p:sp>
        <p:nvSpPr>
          <p:cNvPr id="21" name="Shape 18"/>
          <p:cNvSpPr/>
          <p:nvPr/>
        </p:nvSpPr>
        <p:spPr>
          <a:xfrm>
            <a:off x="5943600" y="1024128"/>
            <a:ext cx="5989320" cy="2048256"/>
          </a:xfrm>
          <a:prstGeom prst="roundRect">
            <a:avLst>
              <a:gd name="adj" fmla="val 4464"/>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5943600" y="1024128"/>
            <a:ext cx="598932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5943600" y="1207008"/>
            <a:ext cx="5989320" cy="146304"/>
          </a:xfrm>
          <a:prstGeom prst="rect">
            <a:avLst/>
          </a:prstGeom>
          <a:solidFill>
            <a:srgbClr val="141E36"/>
          </a:solidFill>
          <a:ln w="12700">
            <a:solidFill>
              <a:srgbClr val="141E36"/>
            </a:solidFill>
            <a:prstDash val="solid"/>
          </a:ln>
        </p:spPr>
      </p:sp>
      <p:sp>
        <p:nvSpPr>
          <p:cNvPr id="24" name="Shape 21"/>
          <p:cNvSpPr/>
          <p:nvPr/>
        </p:nvSpPr>
        <p:spPr>
          <a:xfrm>
            <a:off x="607161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627278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647395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6675120" y="1078992"/>
            <a:ext cx="50749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violin.py</a:t>
            </a:r>
            <a:endParaRPr lang="en-US" sz="900" dirty="0"/>
          </a:p>
        </p:txBody>
      </p:sp>
      <p:sp>
        <p:nvSpPr>
          <p:cNvPr id="28" name="Text 25"/>
          <p:cNvSpPr/>
          <p:nvPr/>
        </p:nvSpPr>
        <p:spPr>
          <a:xfrm>
            <a:off x="6089904" y="1408176"/>
            <a:ext cx="5715000" cy="1554480"/>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scores = [50, 55, 65, 70, 80]</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sns.violinplot(data=scores)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plt.title('Score Distribution Density')</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9" name="Shape 26"/>
          <p:cNvSpPr/>
          <p:nvPr/>
        </p:nvSpPr>
        <p:spPr>
          <a:xfrm>
            <a:off x="5943600" y="3145536"/>
            <a:ext cx="5989320" cy="566928"/>
          </a:xfrm>
          <a:prstGeom prst="rect">
            <a:avLst/>
          </a:prstGeom>
          <a:solidFill>
            <a:srgbClr val="8B5CF6"/>
          </a:solidFill>
          <a:ln w="3810">
            <a:solidFill>
              <a:srgbClr val="141E36"/>
            </a:solidFill>
            <a:prstDash val="solid"/>
          </a:ln>
        </p:spPr>
      </p:sp>
      <p:sp>
        <p:nvSpPr>
          <p:cNvPr id="30" name="Text 27"/>
          <p:cNvSpPr/>
          <p:nvPr/>
        </p:nvSpPr>
        <p:spPr>
          <a:xfrm>
            <a:off x="6035040" y="3200400"/>
            <a:ext cx="2184502"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274406" y="3200400"/>
            <a:ext cx="3567074"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219542" y="3145536"/>
            <a:ext cx="18288" cy="566928"/>
          </a:xfrm>
          <a:prstGeom prst="rect">
            <a:avLst/>
          </a:prstGeom>
          <a:solidFill>
            <a:srgbClr val="FFFFFF"/>
          </a:solidFill>
          <a:ln w="12700">
            <a:solidFill>
              <a:srgbClr val="FFFFFF"/>
            </a:solidFill>
            <a:prstDash val="solid"/>
          </a:ln>
        </p:spPr>
      </p:sp>
      <p:sp>
        <p:nvSpPr>
          <p:cNvPr id="33" name="Shape 30"/>
          <p:cNvSpPr/>
          <p:nvPr/>
        </p:nvSpPr>
        <p:spPr>
          <a:xfrm>
            <a:off x="5943600" y="3712464"/>
            <a:ext cx="5989320" cy="566928"/>
          </a:xfrm>
          <a:prstGeom prst="rect">
            <a:avLst/>
          </a:prstGeom>
          <a:solidFill>
            <a:srgbClr val="141E36"/>
          </a:solidFill>
          <a:ln w="3810">
            <a:solidFill>
              <a:srgbClr val="141E36"/>
            </a:solidFill>
            <a:prstDash val="solid"/>
          </a:ln>
        </p:spPr>
      </p:sp>
      <p:sp>
        <p:nvSpPr>
          <p:cNvPr id="34" name="Text 31"/>
          <p:cNvSpPr/>
          <p:nvPr/>
        </p:nvSpPr>
        <p:spPr>
          <a:xfrm>
            <a:off x="6035040" y="3749040"/>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scores = [...]</a:t>
            </a:r>
            <a:endParaRPr lang="en-US" sz="900" dirty="0"/>
          </a:p>
        </p:txBody>
      </p:sp>
      <p:sp>
        <p:nvSpPr>
          <p:cNvPr id="35" name="Text 32"/>
          <p:cNvSpPr/>
          <p:nvPr/>
        </p:nvSpPr>
        <p:spPr>
          <a:xfrm>
            <a:off x="8274406" y="3749040"/>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numeric dataset to visualize.</a:t>
            </a:r>
            <a:endParaRPr lang="en-US" sz="950" dirty="0"/>
          </a:p>
        </p:txBody>
      </p:sp>
      <p:sp>
        <p:nvSpPr>
          <p:cNvPr id="36" name="Shape 33"/>
          <p:cNvSpPr/>
          <p:nvPr/>
        </p:nvSpPr>
        <p:spPr>
          <a:xfrm>
            <a:off x="8219542" y="3712464"/>
            <a:ext cx="18288" cy="566928"/>
          </a:xfrm>
          <a:prstGeom prst="rect">
            <a:avLst/>
          </a:prstGeom>
          <a:solidFill>
            <a:srgbClr val="1E293B"/>
          </a:solidFill>
          <a:ln w="12700">
            <a:solidFill>
              <a:srgbClr val="1E293B"/>
            </a:solidFill>
            <a:prstDash val="solid"/>
          </a:ln>
        </p:spPr>
      </p:sp>
      <p:sp>
        <p:nvSpPr>
          <p:cNvPr id="37" name="Shape 34"/>
          <p:cNvSpPr/>
          <p:nvPr/>
        </p:nvSpPr>
        <p:spPr>
          <a:xfrm>
            <a:off x="5943600" y="4279392"/>
            <a:ext cx="5989320" cy="566928"/>
          </a:xfrm>
          <a:prstGeom prst="rect">
            <a:avLst/>
          </a:prstGeom>
          <a:solidFill>
            <a:srgbClr val="0F1D3C"/>
          </a:solidFill>
          <a:ln w="3810">
            <a:solidFill>
              <a:srgbClr val="141E36"/>
            </a:solidFill>
            <a:prstDash val="solid"/>
          </a:ln>
        </p:spPr>
      </p:sp>
      <p:sp>
        <p:nvSpPr>
          <p:cNvPr id="38" name="Text 35"/>
          <p:cNvSpPr/>
          <p:nvPr/>
        </p:nvSpPr>
        <p:spPr>
          <a:xfrm>
            <a:off x="6035040" y="4315968"/>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sns.violinplot(data=scores)</a:t>
            </a:r>
            <a:endParaRPr lang="en-US" sz="900" dirty="0"/>
          </a:p>
        </p:txBody>
      </p:sp>
      <p:sp>
        <p:nvSpPr>
          <p:cNvPr id="39" name="Text 36"/>
          <p:cNvSpPr/>
          <p:nvPr/>
        </p:nvSpPr>
        <p:spPr>
          <a:xfrm>
            <a:off x="8274406" y="4315968"/>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Creates the violin plot. The shape shows WHERE data is concentrated - wider sections have more data points.</a:t>
            </a:r>
            <a:endParaRPr lang="en-US" sz="950" dirty="0"/>
          </a:p>
        </p:txBody>
      </p:sp>
      <p:sp>
        <p:nvSpPr>
          <p:cNvPr id="40" name="Shape 37"/>
          <p:cNvSpPr/>
          <p:nvPr/>
        </p:nvSpPr>
        <p:spPr>
          <a:xfrm>
            <a:off x="8219542" y="4279392"/>
            <a:ext cx="18288" cy="566928"/>
          </a:xfrm>
          <a:prstGeom prst="rect">
            <a:avLst/>
          </a:prstGeom>
          <a:solidFill>
            <a:srgbClr val="1E293B"/>
          </a:solidFill>
          <a:ln w="12700">
            <a:solidFill>
              <a:srgbClr val="1E293B"/>
            </a:solidFill>
            <a:prstDash val="solid"/>
          </a:ln>
        </p:spPr>
      </p:sp>
      <p:sp>
        <p:nvSpPr>
          <p:cNvPr id="41" name="Shape 38"/>
          <p:cNvSpPr/>
          <p:nvPr/>
        </p:nvSpPr>
        <p:spPr>
          <a:xfrm>
            <a:off x="5943600" y="4846320"/>
            <a:ext cx="5989320" cy="566928"/>
          </a:xfrm>
          <a:prstGeom prst="rect">
            <a:avLst/>
          </a:prstGeom>
          <a:solidFill>
            <a:srgbClr val="141E36"/>
          </a:solidFill>
          <a:ln w="3810">
            <a:solidFill>
              <a:srgbClr val="141E36"/>
            </a:solidFill>
            <a:prstDash val="solid"/>
          </a:ln>
        </p:spPr>
      </p:sp>
      <p:sp>
        <p:nvSpPr>
          <p:cNvPr id="42" name="Text 39"/>
          <p:cNvSpPr/>
          <p:nvPr/>
        </p:nvSpPr>
        <p:spPr>
          <a:xfrm>
            <a:off x="6035040" y="4882896"/>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The violin shape</a:t>
            </a:r>
            <a:endParaRPr lang="en-US" sz="900" dirty="0"/>
          </a:p>
        </p:txBody>
      </p:sp>
      <p:sp>
        <p:nvSpPr>
          <p:cNvPr id="43" name="Text 40"/>
          <p:cNvSpPr/>
          <p:nvPr/>
        </p:nvSpPr>
        <p:spPr>
          <a:xfrm>
            <a:off x="8274406" y="4882896"/>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Outer edges = kernel density curve (KDE). Inside = a mini box plot. Wide middle = many values clustered there.</a:t>
            </a:r>
            <a:endParaRPr lang="en-US" sz="950" dirty="0"/>
          </a:p>
        </p:txBody>
      </p:sp>
      <p:sp>
        <p:nvSpPr>
          <p:cNvPr id="44" name="Shape 41"/>
          <p:cNvSpPr/>
          <p:nvPr/>
        </p:nvSpPr>
        <p:spPr>
          <a:xfrm>
            <a:off x="8219542" y="4846320"/>
            <a:ext cx="18288" cy="566928"/>
          </a:xfrm>
          <a:prstGeom prst="rect">
            <a:avLst/>
          </a:prstGeom>
          <a:solidFill>
            <a:srgbClr val="1E293B"/>
          </a:solidFill>
          <a:ln w="12700">
            <a:solidFill>
              <a:srgbClr val="1E293B"/>
            </a:solidFill>
            <a:prstDash val="solid"/>
          </a:ln>
        </p:spPr>
      </p:sp>
      <p:sp>
        <p:nvSpPr>
          <p:cNvPr id="45" name="Shape 42"/>
          <p:cNvSpPr/>
          <p:nvPr/>
        </p:nvSpPr>
        <p:spPr>
          <a:xfrm>
            <a:off x="5943600" y="5413248"/>
            <a:ext cx="5989320" cy="566928"/>
          </a:xfrm>
          <a:prstGeom prst="rect">
            <a:avLst/>
          </a:prstGeom>
          <a:solidFill>
            <a:srgbClr val="0F1D3C"/>
          </a:solidFill>
          <a:ln w="3810">
            <a:solidFill>
              <a:srgbClr val="141E36"/>
            </a:solidFill>
            <a:prstDash val="solid"/>
          </a:ln>
        </p:spPr>
      </p:sp>
      <p:sp>
        <p:nvSpPr>
          <p:cNvPr id="46" name="Text 43"/>
          <p:cNvSpPr/>
          <p:nvPr/>
        </p:nvSpPr>
        <p:spPr>
          <a:xfrm>
            <a:off x="6035040" y="5449824"/>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plt.title(...)</a:t>
            </a:r>
            <a:endParaRPr lang="en-US" sz="900" dirty="0"/>
          </a:p>
        </p:txBody>
      </p:sp>
      <p:sp>
        <p:nvSpPr>
          <p:cNvPr id="47" name="Text 44"/>
          <p:cNvSpPr/>
          <p:nvPr/>
        </p:nvSpPr>
        <p:spPr>
          <a:xfrm>
            <a:off x="8274406" y="5449824"/>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Adds the chart title.</a:t>
            </a:r>
            <a:endParaRPr lang="en-US" sz="950" dirty="0"/>
          </a:p>
        </p:txBody>
      </p:sp>
      <p:sp>
        <p:nvSpPr>
          <p:cNvPr id="48" name="Shape 45"/>
          <p:cNvSpPr/>
          <p:nvPr/>
        </p:nvSpPr>
        <p:spPr>
          <a:xfrm>
            <a:off x="8219542" y="5413248"/>
            <a:ext cx="18288" cy="566928"/>
          </a:xfrm>
          <a:prstGeom prst="rect">
            <a:avLst/>
          </a:prstGeom>
          <a:solidFill>
            <a:srgbClr val="1E293B"/>
          </a:solidFill>
          <a:ln w="12700">
            <a:solidFill>
              <a:srgbClr val="1E293B"/>
            </a:solidFill>
            <a:prstDash val="solid"/>
          </a:ln>
        </p:spPr>
      </p:sp>
      <p:sp>
        <p:nvSpPr>
          <p:cNvPr id="49" name="Shape 46"/>
          <p:cNvSpPr/>
          <p:nvPr/>
        </p:nvSpPr>
        <p:spPr>
          <a:xfrm>
            <a:off x="5943600" y="5980176"/>
            <a:ext cx="5989320" cy="566928"/>
          </a:xfrm>
          <a:prstGeom prst="rect">
            <a:avLst/>
          </a:prstGeom>
          <a:solidFill>
            <a:srgbClr val="141E36"/>
          </a:solidFill>
          <a:ln w="3810">
            <a:solidFill>
              <a:srgbClr val="141E36"/>
            </a:solidFill>
            <a:prstDash val="solid"/>
          </a:ln>
        </p:spPr>
      </p:sp>
      <p:sp>
        <p:nvSpPr>
          <p:cNvPr id="50" name="Text 47"/>
          <p:cNvSpPr/>
          <p:nvPr/>
        </p:nvSpPr>
        <p:spPr>
          <a:xfrm>
            <a:off x="6035040" y="6016752"/>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51" name="Text 48"/>
          <p:cNvSpPr/>
          <p:nvPr/>
        </p:nvSpPr>
        <p:spPr>
          <a:xfrm>
            <a:off x="8274406" y="6016752"/>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the chart.</a:t>
            </a:r>
            <a:endParaRPr lang="en-US" sz="950" dirty="0"/>
          </a:p>
        </p:txBody>
      </p:sp>
      <p:sp>
        <p:nvSpPr>
          <p:cNvPr id="52" name="Shape 49"/>
          <p:cNvSpPr/>
          <p:nvPr/>
        </p:nvSpPr>
        <p:spPr>
          <a:xfrm>
            <a:off x="8219542" y="5980176"/>
            <a:ext cx="18288" cy="566928"/>
          </a:xfrm>
          <a:prstGeom prst="rect">
            <a:avLst/>
          </a:prstGeom>
          <a:solidFill>
            <a:srgbClr val="1E293B"/>
          </a:solidFill>
          <a:ln w="12700">
            <a:solidFill>
              <a:srgbClr val="1E293B"/>
            </a:solidFill>
            <a:prstDash val="solid"/>
          </a:ln>
        </p:spPr>
      </p:sp>
      <p:sp>
        <p:nvSpPr>
          <p:cNvPr id="53" name="Shape 50"/>
          <p:cNvSpPr/>
          <p:nvPr/>
        </p:nvSpPr>
        <p:spPr>
          <a:xfrm>
            <a:off x="5943600" y="5760720"/>
            <a:ext cx="5989320" cy="877824"/>
          </a:xfrm>
          <a:prstGeom prst="roundRect">
            <a:avLst>
              <a:gd name="adj" fmla="val 10417"/>
            </a:avLst>
          </a:prstGeom>
          <a:solidFill>
            <a:srgbClr val="EDE9FE"/>
          </a:solidFill>
          <a:ln w="12700">
            <a:solidFill>
              <a:srgbClr val="8B5CF6"/>
            </a:solidFill>
            <a:prstDash val="solid"/>
          </a:ln>
          <a:effectLst>
            <a:outerShdw sx="100000" sy="100000" kx="0" ky="0" algn="bl" rotWithShape="0" blurRad="63500" dist="25400" dir="2700000">
              <a:srgbClr val="000000">
                <a:alpha val="12000"/>
              </a:srgbClr>
            </a:outerShdw>
          </a:effectLst>
        </p:spPr>
      </p:sp>
      <p:sp>
        <p:nvSpPr>
          <p:cNvPr id="54" name="Text 51"/>
          <p:cNvSpPr/>
          <p:nvPr/>
        </p:nvSpPr>
        <p:spPr>
          <a:xfrm>
            <a:off x="6080760" y="5815584"/>
            <a:ext cx="5705856" cy="256032"/>
          </a:xfrm>
          <a:prstGeom prst="rect">
            <a:avLst/>
          </a:prstGeom>
          <a:noFill/>
          <a:ln/>
        </p:spPr>
        <p:txBody>
          <a:bodyPr wrap="square" lIns="0" tIns="0" rIns="0" bIns="0" rtlCol="0" anchor="ctr"/>
          <a:lstStyle/>
          <a:p>
            <a:pPr indent="0" marL="0">
              <a:buNone/>
            </a:pPr>
            <a:r>
              <a:rPr lang="en-US" sz="1000" b="1" dirty="0">
                <a:solidFill>
                  <a:srgbClr val="8B5CF6"/>
                </a:solidFill>
                <a:latin typeface="Cambria" pitchFamily="34" charset="0"/>
                <a:ea typeface="Cambria" pitchFamily="34" charset="-122"/>
                <a:cs typeface="Cambria" pitchFamily="34" charset="-120"/>
              </a:rPr>
              <a:t>Violin vs Box Plot</a:t>
            </a:r>
            <a:endParaRPr lang="en-US" sz="1000" dirty="0"/>
          </a:p>
        </p:txBody>
      </p:sp>
      <p:sp>
        <p:nvSpPr>
          <p:cNvPr id="55" name="Text 52"/>
          <p:cNvSpPr/>
          <p:nvPr/>
        </p:nvSpPr>
        <p:spPr>
          <a:xfrm>
            <a:off x="6080760" y="6071616"/>
            <a:ext cx="5705856" cy="51206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Box plot shows 5 summary statistics. Violin shows the entire distribution shape. Violin is better when you suspect the data has multiple peaks (bimodal distribution).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8. PIE CHART - Parts of a Whole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029200" cy="4572000"/>
          </a:xfrm>
          <a:prstGeom prst="rect">
            <a:avLst/>
          </a:prstGeom>
        </p:spPr>
      </p:pic>
      <p:sp>
        <p:nvSpPr>
          <p:cNvPr id="5" name="Shape 2"/>
          <p:cNvSpPr/>
          <p:nvPr/>
        </p:nvSpPr>
        <p:spPr>
          <a:xfrm>
            <a:off x="411480" y="5650992"/>
            <a:ext cx="5029200" cy="1069848"/>
          </a:xfrm>
          <a:prstGeom prst="roundRect">
            <a:avLst>
              <a:gd name="adj" fmla="val 8547"/>
            </a:avLst>
          </a:prstGeom>
          <a:solidFill>
            <a:srgbClr val="0F1D3C"/>
          </a:solidFill>
          <a:ln w="15240">
            <a:solidFill>
              <a:srgbClr val="F59E0B"/>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760720"/>
            <a:ext cx="4773168" cy="292608"/>
          </a:xfrm>
          <a:prstGeom prst="rect">
            <a:avLst/>
          </a:prstGeom>
          <a:noFill/>
          <a:ln/>
        </p:spPr>
        <p:txBody>
          <a:bodyPr wrap="square" lIns="0" tIns="0" rIns="0" bIns="0" rtlCol="0" anchor="ctr"/>
          <a:lstStyle/>
          <a:p>
            <a:pPr indent="0" marL="0">
              <a:buNone/>
            </a:pPr>
            <a:r>
              <a:rPr lang="en-US" sz="1100" b="1" dirty="0">
                <a:solidFill>
                  <a:srgbClr val="F59E0B"/>
                </a:solidFill>
                <a:latin typeface="Cambria" pitchFamily="34" charset="0"/>
                <a:ea typeface="Cambria" pitchFamily="34" charset="-122"/>
                <a:cs typeface="Cambria" pitchFamily="34" charset="-120"/>
              </a:rPr>
              <a:t>Pie Chart</a:t>
            </a:r>
            <a:endParaRPr lang="en-US" sz="1100" dirty="0"/>
          </a:p>
        </p:txBody>
      </p:sp>
      <p:sp>
        <p:nvSpPr>
          <p:cNvPr id="7" name="Text 4"/>
          <p:cNvSpPr/>
          <p:nvPr/>
        </p:nvSpPr>
        <p:spPr>
          <a:xfrm>
            <a:off x="539496" y="6089904"/>
            <a:ext cx="477316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6419088"/>
            <a:ext cx="164592" cy="164592"/>
          </a:xfrm>
          <a:prstGeom prst="ellipse">
            <a:avLst/>
          </a:prstGeom>
          <a:solidFill>
            <a:srgbClr val="F59E0B"/>
          </a:solidFill>
          <a:ln w="12700">
            <a:solidFill>
              <a:srgbClr val="F59E0B"/>
            </a:solidFill>
            <a:prstDash val="solid"/>
          </a:ln>
        </p:spPr>
      </p:sp>
      <p:sp>
        <p:nvSpPr>
          <p:cNvPr id="9" name="Text 6"/>
          <p:cNvSpPr/>
          <p:nvPr/>
        </p:nvSpPr>
        <p:spPr>
          <a:xfrm>
            <a:off x="758952" y="6345936"/>
            <a:ext cx="45537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Part-to-whole relationship</a:t>
            </a:r>
            <a:endParaRPr lang="en-US" sz="950" dirty="0"/>
          </a:p>
        </p:txBody>
      </p:sp>
      <p:sp>
        <p:nvSpPr>
          <p:cNvPr id="10" name="Shape 7"/>
          <p:cNvSpPr/>
          <p:nvPr/>
        </p:nvSpPr>
        <p:spPr>
          <a:xfrm>
            <a:off x="539496" y="6748272"/>
            <a:ext cx="164592" cy="164592"/>
          </a:xfrm>
          <a:prstGeom prst="ellipse">
            <a:avLst/>
          </a:prstGeom>
          <a:solidFill>
            <a:srgbClr val="F59E0B"/>
          </a:solidFill>
          <a:ln w="12700">
            <a:solidFill>
              <a:srgbClr val="F59E0B"/>
            </a:solidFill>
            <a:prstDash val="solid"/>
          </a:ln>
        </p:spPr>
      </p:sp>
      <p:sp>
        <p:nvSpPr>
          <p:cNvPr id="11" name="Text 8"/>
          <p:cNvSpPr/>
          <p:nvPr/>
        </p:nvSpPr>
        <p:spPr>
          <a:xfrm>
            <a:off x="758952" y="6675120"/>
            <a:ext cx="45537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Small number of categories (max 5-6)</a:t>
            </a:r>
            <a:endParaRPr lang="en-US" sz="950" dirty="0"/>
          </a:p>
        </p:txBody>
      </p:sp>
      <p:sp>
        <p:nvSpPr>
          <p:cNvPr id="12" name="Shape 9"/>
          <p:cNvSpPr/>
          <p:nvPr/>
        </p:nvSpPr>
        <p:spPr>
          <a:xfrm>
            <a:off x="539496" y="7077456"/>
            <a:ext cx="164592" cy="164592"/>
          </a:xfrm>
          <a:prstGeom prst="ellipse">
            <a:avLst/>
          </a:prstGeom>
          <a:solidFill>
            <a:srgbClr val="F59E0B"/>
          </a:solidFill>
          <a:ln w="12700">
            <a:solidFill>
              <a:srgbClr val="F59E0B"/>
            </a:solidFill>
            <a:prstDash val="solid"/>
          </a:ln>
        </p:spPr>
      </p:sp>
      <p:sp>
        <p:nvSpPr>
          <p:cNvPr id="13" name="Text 10"/>
          <p:cNvSpPr/>
          <p:nvPr/>
        </p:nvSpPr>
        <p:spPr>
          <a:xfrm>
            <a:off x="758952" y="7004304"/>
            <a:ext cx="45537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One slice clearly dominates</a:t>
            </a:r>
            <a:endParaRPr lang="en-US" sz="950" dirty="0"/>
          </a:p>
        </p:txBody>
      </p:sp>
      <p:sp>
        <p:nvSpPr>
          <p:cNvPr id="14" name="Text 11"/>
          <p:cNvSpPr/>
          <p:nvPr/>
        </p:nvSpPr>
        <p:spPr>
          <a:xfrm>
            <a:off x="539496" y="7388352"/>
            <a:ext cx="4773168" cy="237744"/>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644384"/>
            <a:ext cx="4773168" cy="274320"/>
          </a:xfrm>
          <a:prstGeom prst="roundRect">
            <a:avLst>
              <a:gd name="adj" fmla="val 13333"/>
            </a:avLst>
          </a:prstGeom>
          <a:solidFill>
            <a:srgbClr val="F59E0B"/>
          </a:solidFill>
          <a:ln w="12700">
            <a:solidFill>
              <a:srgbClr val="F59E0B"/>
            </a:solidFill>
            <a:prstDash val="solid"/>
          </a:ln>
        </p:spPr>
      </p:sp>
      <p:sp>
        <p:nvSpPr>
          <p:cNvPr id="16" name="Text 13"/>
          <p:cNvSpPr/>
          <p:nvPr/>
        </p:nvSpPr>
        <p:spPr>
          <a:xfrm>
            <a:off x="594360" y="7662672"/>
            <a:ext cx="46634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Market share breakdown</a:t>
            </a:r>
            <a:endParaRPr lang="en-US" sz="950" dirty="0"/>
          </a:p>
        </p:txBody>
      </p:sp>
      <p:sp>
        <p:nvSpPr>
          <p:cNvPr id="17" name="Shape 14"/>
          <p:cNvSpPr/>
          <p:nvPr/>
        </p:nvSpPr>
        <p:spPr>
          <a:xfrm>
            <a:off x="539496" y="7973568"/>
            <a:ext cx="4773168" cy="274320"/>
          </a:xfrm>
          <a:prstGeom prst="roundRect">
            <a:avLst>
              <a:gd name="adj" fmla="val 13333"/>
            </a:avLst>
          </a:prstGeom>
          <a:solidFill>
            <a:srgbClr val="F59E0B"/>
          </a:solidFill>
          <a:ln w="12700">
            <a:solidFill>
              <a:srgbClr val="F59E0B"/>
            </a:solidFill>
            <a:prstDash val="solid"/>
          </a:ln>
        </p:spPr>
      </p:sp>
      <p:sp>
        <p:nvSpPr>
          <p:cNvPr id="18" name="Text 15"/>
          <p:cNvSpPr/>
          <p:nvPr/>
        </p:nvSpPr>
        <p:spPr>
          <a:xfrm>
            <a:off x="594360" y="7991856"/>
            <a:ext cx="46634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Monthly budget allocation</a:t>
            </a:r>
            <a:endParaRPr lang="en-US" sz="950" dirty="0"/>
          </a:p>
        </p:txBody>
      </p:sp>
      <p:sp>
        <p:nvSpPr>
          <p:cNvPr id="19" name="Shape 16"/>
          <p:cNvSpPr/>
          <p:nvPr/>
        </p:nvSpPr>
        <p:spPr>
          <a:xfrm>
            <a:off x="539496" y="8302752"/>
            <a:ext cx="4773168" cy="274320"/>
          </a:xfrm>
          <a:prstGeom prst="roundRect">
            <a:avLst>
              <a:gd name="adj" fmla="val 13333"/>
            </a:avLst>
          </a:prstGeom>
          <a:solidFill>
            <a:srgbClr val="F59E0B"/>
          </a:solidFill>
          <a:ln w="12700">
            <a:solidFill>
              <a:srgbClr val="F59E0B"/>
            </a:solidFill>
            <a:prstDash val="solid"/>
          </a:ln>
        </p:spPr>
      </p:sp>
      <p:sp>
        <p:nvSpPr>
          <p:cNvPr id="20" name="Text 17"/>
          <p:cNvSpPr/>
          <p:nvPr/>
        </p:nvSpPr>
        <p:spPr>
          <a:xfrm>
            <a:off x="594360" y="8321040"/>
            <a:ext cx="46634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Product sales proportion</a:t>
            </a:r>
            <a:endParaRPr lang="en-US" sz="950" dirty="0"/>
          </a:p>
        </p:txBody>
      </p:sp>
      <p:sp>
        <p:nvSpPr>
          <p:cNvPr id="21" name="Shape 18"/>
          <p:cNvSpPr/>
          <p:nvPr/>
        </p:nvSpPr>
        <p:spPr>
          <a:xfrm>
            <a:off x="5623560" y="1024128"/>
            <a:ext cx="6309360" cy="2743200"/>
          </a:xfrm>
          <a:prstGeom prst="roundRect">
            <a:avLst>
              <a:gd name="adj" fmla="val 3333"/>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5623560" y="1024128"/>
            <a:ext cx="630936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5623560" y="1207008"/>
            <a:ext cx="6309360" cy="146304"/>
          </a:xfrm>
          <a:prstGeom prst="rect">
            <a:avLst/>
          </a:prstGeom>
          <a:solidFill>
            <a:srgbClr val="141E36"/>
          </a:solidFill>
          <a:ln w="12700">
            <a:solidFill>
              <a:srgbClr val="141E36"/>
            </a:solidFill>
            <a:prstDash val="solid"/>
          </a:ln>
        </p:spPr>
      </p:sp>
      <p:sp>
        <p:nvSpPr>
          <p:cNvPr id="24" name="Shape 21"/>
          <p:cNvSpPr/>
          <p:nvPr/>
        </p:nvSpPr>
        <p:spPr>
          <a:xfrm>
            <a:off x="575157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595274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615391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6355080" y="1078992"/>
            <a:ext cx="53949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pie_chart.py</a:t>
            </a:r>
            <a:endParaRPr lang="en-US" sz="900" dirty="0"/>
          </a:p>
        </p:txBody>
      </p:sp>
      <p:sp>
        <p:nvSpPr>
          <p:cNvPr id="28" name="Text 25"/>
          <p:cNvSpPr/>
          <p:nvPr/>
        </p:nvSpPr>
        <p:spPr>
          <a:xfrm>
            <a:off x="5769864" y="1408176"/>
            <a:ext cx="6035040" cy="2249424"/>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items = ['Food', 'Rent', 'Transport']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sizes = [40, 35, 25]</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plt.pie(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sizes,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labels=items,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autopct='%1.1f%%'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plt.title('Monthly Expenses')</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9" name="Shape 26"/>
          <p:cNvSpPr/>
          <p:nvPr/>
        </p:nvSpPr>
        <p:spPr>
          <a:xfrm>
            <a:off x="5623560" y="3840480"/>
            <a:ext cx="6309360" cy="354330"/>
          </a:xfrm>
          <a:prstGeom prst="rect">
            <a:avLst/>
          </a:prstGeom>
          <a:solidFill>
            <a:srgbClr val="F59E0B"/>
          </a:solidFill>
          <a:ln w="3810">
            <a:solidFill>
              <a:srgbClr val="141E36"/>
            </a:solidFill>
            <a:prstDash val="solid"/>
          </a:ln>
        </p:spPr>
      </p:sp>
      <p:sp>
        <p:nvSpPr>
          <p:cNvPr id="30" name="Text 27"/>
          <p:cNvSpPr/>
          <p:nvPr/>
        </p:nvSpPr>
        <p:spPr>
          <a:xfrm>
            <a:off x="5715000" y="3895344"/>
            <a:ext cx="2306117" cy="262890"/>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075981" y="3895344"/>
            <a:ext cx="3765499" cy="262890"/>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021117" y="3840480"/>
            <a:ext cx="18288" cy="354330"/>
          </a:xfrm>
          <a:prstGeom prst="rect">
            <a:avLst/>
          </a:prstGeom>
          <a:solidFill>
            <a:srgbClr val="FFFFFF"/>
          </a:solidFill>
          <a:ln w="12700">
            <a:solidFill>
              <a:srgbClr val="FFFFFF"/>
            </a:solidFill>
            <a:prstDash val="solid"/>
          </a:ln>
        </p:spPr>
      </p:sp>
      <p:sp>
        <p:nvSpPr>
          <p:cNvPr id="33" name="Shape 30"/>
          <p:cNvSpPr/>
          <p:nvPr/>
        </p:nvSpPr>
        <p:spPr>
          <a:xfrm>
            <a:off x="5623560" y="4194810"/>
            <a:ext cx="6309360" cy="354330"/>
          </a:xfrm>
          <a:prstGeom prst="rect">
            <a:avLst/>
          </a:prstGeom>
          <a:solidFill>
            <a:srgbClr val="141E36"/>
          </a:solidFill>
          <a:ln w="3810">
            <a:solidFill>
              <a:srgbClr val="141E36"/>
            </a:solidFill>
            <a:prstDash val="solid"/>
          </a:ln>
        </p:spPr>
      </p:sp>
      <p:sp>
        <p:nvSpPr>
          <p:cNvPr id="34" name="Text 31"/>
          <p:cNvSpPr/>
          <p:nvPr/>
        </p:nvSpPr>
        <p:spPr>
          <a:xfrm>
            <a:off x="5715000" y="4231386"/>
            <a:ext cx="2306117" cy="28117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items = [...]</a:t>
            </a:r>
            <a:endParaRPr lang="en-US" sz="900" dirty="0"/>
          </a:p>
        </p:txBody>
      </p:sp>
      <p:sp>
        <p:nvSpPr>
          <p:cNvPr id="35" name="Text 32"/>
          <p:cNvSpPr/>
          <p:nvPr/>
        </p:nvSpPr>
        <p:spPr>
          <a:xfrm>
            <a:off x="8075981" y="4231386"/>
            <a:ext cx="3765499" cy="28117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Category names. Each item becomes a slice label.</a:t>
            </a:r>
            <a:endParaRPr lang="en-US" sz="950" dirty="0"/>
          </a:p>
        </p:txBody>
      </p:sp>
      <p:sp>
        <p:nvSpPr>
          <p:cNvPr id="36" name="Shape 33"/>
          <p:cNvSpPr/>
          <p:nvPr/>
        </p:nvSpPr>
        <p:spPr>
          <a:xfrm>
            <a:off x="8021117" y="4194810"/>
            <a:ext cx="18288" cy="354330"/>
          </a:xfrm>
          <a:prstGeom prst="rect">
            <a:avLst/>
          </a:prstGeom>
          <a:solidFill>
            <a:srgbClr val="1E293B"/>
          </a:solidFill>
          <a:ln w="12700">
            <a:solidFill>
              <a:srgbClr val="1E293B"/>
            </a:solidFill>
            <a:prstDash val="solid"/>
          </a:ln>
        </p:spPr>
      </p:sp>
      <p:sp>
        <p:nvSpPr>
          <p:cNvPr id="37" name="Shape 34"/>
          <p:cNvSpPr/>
          <p:nvPr/>
        </p:nvSpPr>
        <p:spPr>
          <a:xfrm>
            <a:off x="5623560" y="4549140"/>
            <a:ext cx="6309360" cy="354330"/>
          </a:xfrm>
          <a:prstGeom prst="rect">
            <a:avLst/>
          </a:prstGeom>
          <a:solidFill>
            <a:srgbClr val="0F1D3C"/>
          </a:solidFill>
          <a:ln w="3810">
            <a:solidFill>
              <a:srgbClr val="141E36"/>
            </a:solidFill>
            <a:prstDash val="solid"/>
          </a:ln>
        </p:spPr>
      </p:sp>
      <p:sp>
        <p:nvSpPr>
          <p:cNvPr id="38" name="Text 35"/>
          <p:cNvSpPr/>
          <p:nvPr/>
        </p:nvSpPr>
        <p:spPr>
          <a:xfrm>
            <a:off x="5715000" y="4585716"/>
            <a:ext cx="2306117" cy="28117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sizes = [40, 35, 25]</a:t>
            </a:r>
            <a:endParaRPr lang="en-US" sz="900" dirty="0"/>
          </a:p>
        </p:txBody>
      </p:sp>
      <p:sp>
        <p:nvSpPr>
          <p:cNvPr id="39" name="Text 36"/>
          <p:cNvSpPr/>
          <p:nvPr/>
        </p:nvSpPr>
        <p:spPr>
          <a:xfrm>
            <a:off x="8075981" y="4585716"/>
            <a:ext cx="3765499" cy="28117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size of each slice. These must add up to 100 (or any total - Matplotlib auto-calculates percentages).</a:t>
            </a:r>
            <a:endParaRPr lang="en-US" sz="950" dirty="0"/>
          </a:p>
        </p:txBody>
      </p:sp>
      <p:sp>
        <p:nvSpPr>
          <p:cNvPr id="40" name="Shape 37"/>
          <p:cNvSpPr/>
          <p:nvPr/>
        </p:nvSpPr>
        <p:spPr>
          <a:xfrm>
            <a:off x="8021117" y="4549140"/>
            <a:ext cx="18288" cy="354330"/>
          </a:xfrm>
          <a:prstGeom prst="rect">
            <a:avLst/>
          </a:prstGeom>
          <a:solidFill>
            <a:srgbClr val="1E293B"/>
          </a:solidFill>
          <a:ln w="12700">
            <a:solidFill>
              <a:srgbClr val="1E293B"/>
            </a:solidFill>
            <a:prstDash val="solid"/>
          </a:ln>
        </p:spPr>
      </p:sp>
      <p:sp>
        <p:nvSpPr>
          <p:cNvPr id="41" name="Shape 38"/>
          <p:cNvSpPr/>
          <p:nvPr/>
        </p:nvSpPr>
        <p:spPr>
          <a:xfrm>
            <a:off x="5623560" y="4903470"/>
            <a:ext cx="6309360" cy="354330"/>
          </a:xfrm>
          <a:prstGeom prst="rect">
            <a:avLst/>
          </a:prstGeom>
          <a:solidFill>
            <a:srgbClr val="141E36"/>
          </a:solidFill>
          <a:ln w="3810">
            <a:solidFill>
              <a:srgbClr val="141E36"/>
            </a:solidFill>
            <a:prstDash val="solid"/>
          </a:ln>
        </p:spPr>
      </p:sp>
      <p:sp>
        <p:nvSpPr>
          <p:cNvPr id="42" name="Text 39"/>
          <p:cNvSpPr/>
          <p:nvPr/>
        </p:nvSpPr>
        <p:spPr>
          <a:xfrm>
            <a:off x="5715000" y="4940046"/>
            <a:ext cx="2306117" cy="28117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plt.pie(sizes, ...)</a:t>
            </a:r>
            <a:endParaRPr lang="en-US" sz="900" dirty="0"/>
          </a:p>
        </p:txBody>
      </p:sp>
      <p:sp>
        <p:nvSpPr>
          <p:cNvPr id="43" name="Text 40"/>
          <p:cNvSpPr/>
          <p:nvPr/>
        </p:nvSpPr>
        <p:spPr>
          <a:xfrm>
            <a:off x="8075981" y="4940046"/>
            <a:ext cx="3765499" cy="28117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Creates the pie chart using the sizes list for slice proportions.</a:t>
            </a:r>
            <a:endParaRPr lang="en-US" sz="950" dirty="0"/>
          </a:p>
        </p:txBody>
      </p:sp>
      <p:sp>
        <p:nvSpPr>
          <p:cNvPr id="44" name="Shape 41"/>
          <p:cNvSpPr/>
          <p:nvPr/>
        </p:nvSpPr>
        <p:spPr>
          <a:xfrm>
            <a:off x="8021117" y="4903470"/>
            <a:ext cx="18288" cy="354330"/>
          </a:xfrm>
          <a:prstGeom prst="rect">
            <a:avLst/>
          </a:prstGeom>
          <a:solidFill>
            <a:srgbClr val="1E293B"/>
          </a:solidFill>
          <a:ln w="12700">
            <a:solidFill>
              <a:srgbClr val="1E293B"/>
            </a:solidFill>
            <a:prstDash val="solid"/>
          </a:ln>
        </p:spPr>
      </p:sp>
      <p:sp>
        <p:nvSpPr>
          <p:cNvPr id="45" name="Shape 42"/>
          <p:cNvSpPr/>
          <p:nvPr/>
        </p:nvSpPr>
        <p:spPr>
          <a:xfrm>
            <a:off x="5623560" y="5257800"/>
            <a:ext cx="6309360" cy="354330"/>
          </a:xfrm>
          <a:prstGeom prst="rect">
            <a:avLst/>
          </a:prstGeom>
          <a:solidFill>
            <a:srgbClr val="0F1D3C"/>
          </a:solidFill>
          <a:ln w="3810">
            <a:solidFill>
              <a:srgbClr val="141E36"/>
            </a:solidFill>
            <a:prstDash val="solid"/>
          </a:ln>
        </p:spPr>
      </p:sp>
      <p:sp>
        <p:nvSpPr>
          <p:cNvPr id="46" name="Text 43"/>
          <p:cNvSpPr/>
          <p:nvPr/>
        </p:nvSpPr>
        <p:spPr>
          <a:xfrm>
            <a:off x="5715000" y="5294376"/>
            <a:ext cx="2306117" cy="28117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labels=items</a:t>
            </a:r>
            <a:endParaRPr lang="en-US" sz="900" dirty="0"/>
          </a:p>
        </p:txBody>
      </p:sp>
      <p:sp>
        <p:nvSpPr>
          <p:cNvPr id="47" name="Text 44"/>
          <p:cNvSpPr/>
          <p:nvPr/>
        </p:nvSpPr>
        <p:spPr>
          <a:xfrm>
            <a:off x="8075981" y="5294376"/>
            <a:ext cx="3765499" cy="28117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each category name next to its slice.</a:t>
            </a:r>
            <a:endParaRPr lang="en-US" sz="950" dirty="0"/>
          </a:p>
        </p:txBody>
      </p:sp>
      <p:sp>
        <p:nvSpPr>
          <p:cNvPr id="48" name="Shape 45"/>
          <p:cNvSpPr/>
          <p:nvPr/>
        </p:nvSpPr>
        <p:spPr>
          <a:xfrm>
            <a:off x="8021117" y="5257800"/>
            <a:ext cx="18288" cy="354330"/>
          </a:xfrm>
          <a:prstGeom prst="rect">
            <a:avLst/>
          </a:prstGeom>
          <a:solidFill>
            <a:srgbClr val="1E293B"/>
          </a:solidFill>
          <a:ln w="12700">
            <a:solidFill>
              <a:srgbClr val="1E293B"/>
            </a:solidFill>
            <a:prstDash val="solid"/>
          </a:ln>
        </p:spPr>
      </p:sp>
      <p:sp>
        <p:nvSpPr>
          <p:cNvPr id="49" name="Shape 46"/>
          <p:cNvSpPr/>
          <p:nvPr/>
        </p:nvSpPr>
        <p:spPr>
          <a:xfrm>
            <a:off x="5623560" y="5612130"/>
            <a:ext cx="6309360" cy="354330"/>
          </a:xfrm>
          <a:prstGeom prst="rect">
            <a:avLst/>
          </a:prstGeom>
          <a:solidFill>
            <a:srgbClr val="141E36"/>
          </a:solidFill>
          <a:ln w="3810">
            <a:solidFill>
              <a:srgbClr val="141E36"/>
            </a:solidFill>
            <a:prstDash val="solid"/>
          </a:ln>
        </p:spPr>
      </p:sp>
      <p:sp>
        <p:nvSpPr>
          <p:cNvPr id="50" name="Text 47"/>
          <p:cNvSpPr/>
          <p:nvPr/>
        </p:nvSpPr>
        <p:spPr>
          <a:xfrm>
            <a:off x="5715000" y="5648706"/>
            <a:ext cx="2306117" cy="28117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autopct='%1.1f%%'</a:t>
            </a:r>
            <a:endParaRPr lang="en-US" sz="900" dirty="0"/>
          </a:p>
        </p:txBody>
      </p:sp>
      <p:sp>
        <p:nvSpPr>
          <p:cNvPr id="51" name="Text 48"/>
          <p:cNvSpPr/>
          <p:nvPr/>
        </p:nvSpPr>
        <p:spPr>
          <a:xfrm>
            <a:off x="8075981" y="5648706"/>
            <a:ext cx="3765499" cy="28117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Automatically adds percentages inside each slice. %1.1f means 1 decimal place.</a:t>
            </a:r>
            <a:endParaRPr lang="en-US" sz="950" dirty="0"/>
          </a:p>
        </p:txBody>
      </p:sp>
      <p:sp>
        <p:nvSpPr>
          <p:cNvPr id="52" name="Shape 49"/>
          <p:cNvSpPr/>
          <p:nvPr/>
        </p:nvSpPr>
        <p:spPr>
          <a:xfrm>
            <a:off x="8021117" y="5612130"/>
            <a:ext cx="18288" cy="354330"/>
          </a:xfrm>
          <a:prstGeom prst="rect">
            <a:avLst/>
          </a:prstGeom>
          <a:solidFill>
            <a:srgbClr val="1E293B"/>
          </a:solidFill>
          <a:ln w="12700">
            <a:solidFill>
              <a:srgbClr val="1E293B"/>
            </a:solidFill>
            <a:prstDash val="solid"/>
          </a:ln>
        </p:spPr>
      </p:sp>
      <p:sp>
        <p:nvSpPr>
          <p:cNvPr id="53" name="Shape 50"/>
          <p:cNvSpPr/>
          <p:nvPr/>
        </p:nvSpPr>
        <p:spPr>
          <a:xfrm>
            <a:off x="5623560" y="5966460"/>
            <a:ext cx="6309360" cy="354330"/>
          </a:xfrm>
          <a:prstGeom prst="rect">
            <a:avLst/>
          </a:prstGeom>
          <a:solidFill>
            <a:srgbClr val="0F1D3C"/>
          </a:solidFill>
          <a:ln w="3810">
            <a:solidFill>
              <a:srgbClr val="141E36"/>
            </a:solidFill>
            <a:prstDash val="solid"/>
          </a:ln>
        </p:spPr>
      </p:sp>
      <p:sp>
        <p:nvSpPr>
          <p:cNvPr id="54" name="Text 51"/>
          <p:cNvSpPr/>
          <p:nvPr/>
        </p:nvSpPr>
        <p:spPr>
          <a:xfrm>
            <a:off x="5715000" y="6003036"/>
            <a:ext cx="2306117" cy="28117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plt.title(...)</a:t>
            </a:r>
            <a:endParaRPr lang="en-US" sz="900" dirty="0"/>
          </a:p>
        </p:txBody>
      </p:sp>
      <p:sp>
        <p:nvSpPr>
          <p:cNvPr id="55" name="Text 52"/>
          <p:cNvSpPr/>
          <p:nvPr/>
        </p:nvSpPr>
        <p:spPr>
          <a:xfrm>
            <a:off x="8075981" y="6003036"/>
            <a:ext cx="3765499" cy="28117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Adds the chart title.</a:t>
            </a:r>
            <a:endParaRPr lang="en-US" sz="950" dirty="0"/>
          </a:p>
        </p:txBody>
      </p:sp>
      <p:sp>
        <p:nvSpPr>
          <p:cNvPr id="56" name="Shape 53"/>
          <p:cNvSpPr/>
          <p:nvPr/>
        </p:nvSpPr>
        <p:spPr>
          <a:xfrm>
            <a:off x="8021117" y="5966460"/>
            <a:ext cx="18288" cy="354330"/>
          </a:xfrm>
          <a:prstGeom prst="rect">
            <a:avLst/>
          </a:prstGeom>
          <a:solidFill>
            <a:srgbClr val="1E293B"/>
          </a:solidFill>
          <a:ln w="12700">
            <a:solidFill>
              <a:srgbClr val="1E293B"/>
            </a:solidFill>
            <a:prstDash val="solid"/>
          </a:ln>
        </p:spPr>
      </p:sp>
      <p:sp>
        <p:nvSpPr>
          <p:cNvPr id="57" name="Shape 54"/>
          <p:cNvSpPr/>
          <p:nvPr/>
        </p:nvSpPr>
        <p:spPr>
          <a:xfrm>
            <a:off x="5623560" y="6320790"/>
            <a:ext cx="6309360" cy="354330"/>
          </a:xfrm>
          <a:prstGeom prst="rect">
            <a:avLst/>
          </a:prstGeom>
          <a:solidFill>
            <a:srgbClr val="141E36"/>
          </a:solidFill>
          <a:ln w="3810">
            <a:solidFill>
              <a:srgbClr val="141E36"/>
            </a:solidFill>
            <a:prstDash val="solid"/>
          </a:ln>
        </p:spPr>
      </p:sp>
      <p:sp>
        <p:nvSpPr>
          <p:cNvPr id="58" name="Text 55"/>
          <p:cNvSpPr/>
          <p:nvPr/>
        </p:nvSpPr>
        <p:spPr>
          <a:xfrm>
            <a:off x="5715000" y="6357366"/>
            <a:ext cx="2306117" cy="28117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59" name="Text 56"/>
          <p:cNvSpPr/>
          <p:nvPr/>
        </p:nvSpPr>
        <p:spPr>
          <a:xfrm>
            <a:off x="8075981" y="6357366"/>
            <a:ext cx="3765499" cy="28117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the chart.</a:t>
            </a:r>
            <a:endParaRPr lang="en-US" sz="950" dirty="0"/>
          </a:p>
        </p:txBody>
      </p:sp>
      <p:sp>
        <p:nvSpPr>
          <p:cNvPr id="60" name="Shape 57"/>
          <p:cNvSpPr/>
          <p:nvPr/>
        </p:nvSpPr>
        <p:spPr>
          <a:xfrm>
            <a:off x="8021117" y="6320790"/>
            <a:ext cx="18288" cy="354330"/>
          </a:xfrm>
          <a:prstGeom prst="rect">
            <a:avLst/>
          </a:prstGeom>
          <a:solidFill>
            <a:srgbClr val="1E293B"/>
          </a:solidFill>
          <a:ln w="12700">
            <a:solidFill>
              <a:srgbClr val="1E293B"/>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9. AREA CHART - Cumulative Trends Over Time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486400" cy="4114800"/>
          </a:xfrm>
          <a:prstGeom prst="rect">
            <a:avLst/>
          </a:prstGeom>
        </p:spPr>
      </p:pic>
      <p:sp>
        <p:nvSpPr>
          <p:cNvPr id="5" name="Shape 2"/>
          <p:cNvSpPr/>
          <p:nvPr/>
        </p:nvSpPr>
        <p:spPr>
          <a:xfrm>
            <a:off x="411480" y="5212080"/>
            <a:ext cx="5486400" cy="1508760"/>
          </a:xfrm>
          <a:prstGeom prst="roundRect">
            <a:avLst>
              <a:gd name="adj" fmla="val 6061"/>
            </a:avLst>
          </a:prstGeom>
          <a:solidFill>
            <a:srgbClr val="0F1D3C"/>
          </a:solidFill>
          <a:ln w="15240">
            <a:solidFill>
              <a:srgbClr val="06B6D4"/>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321808"/>
            <a:ext cx="5230368" cy="292608"/>
          </a:xfrm>
          <a:prstGeom prst="rect">
            <a:avLst/>
          </a:prstGeom>
          <a:noFill/>
          <a:ln/>
        </p:spPr>
        <p:txBody>
          <a:bodyPr wrap="square" lIns="0" tIns="0" rIns="0" bIns="0" rtlCol="0" anchor="ctr"/>
          <a:lstStyle/>
          <a:p>
            <a:pPr indent="0" marL="0">
              <a:buNone/>
            </a:pPr>
            <a:r>
              <a:rPr lang="en-US" sz="1100" b="1" dirty="0">
                <a:solidFill>
                  <a:srgbClr val="06B6D4"/>
                </a:solidFill>
                <a:latin typeface="Cambria" pitchFamily="34" charset="0"/>
                <a:ea typeface="Cambria" pitchFamily="34" charset="-122"/>
                <a:cs typeface="Cambria" pitchFamily="34" charset="-120"/>
              </a:rPr>
              <a:t>Area Chart</a:t>
            </a:r>
            <a:endParaRPr lang="en-US" sz="1100" dirty="0"/>
          </a:p>
        </p:txBody>
      </p:sp>
      <p:sp>
        <p:nvSpPr>
          <p:cNvPr id="7" name="Text 4"/>
          <p:cNvSpPr/>
          <p:nvPr/>
        </p:nvSpPr>
        <p:spPr>
          <a:xfrm>
            <a:off x="539496" y="5650992"/>
            <a:ext cx="523036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5980176"/>
            <a:ext cx="164592" cy="164592"/>
          </a:xfrm>
          <a:prstGeom prst="ellipse">
            <a:avLst/>
          </a:prstGeom>
          <a:solidFill>
            <a:srgbClr val="06B6D4"/>
          </a:solidFill>
          <a:ln w="12700">
            <a:solidFill>
              <a:srgbClr val="06B6D4"/>
            </a:solidFill>
            <a:prstDash val="solid"/>
          </a:ln>
        </p:spPr>
      </p:sp>
      <p:sp>
        <p:nvSpPr>
          <p:cNvPr id="9" name="Text 6"/>
          <p:cNvSpPr/>
          <p:nvPr/>
        </p:nvSpPr>
        <p:spPr>
          <a:xfrm>
            <a:off x="758952" y="5907024"/>
            <a:ext cx="50109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Cumulative trends and totals</a:t>
            </a:r>
            <a:endParaRPr lang="en-US" sz="950" dirty="0"/>
          </a:p>
        </p:txBody>
      </p:sp>
      <p:sp>
        <p:nvSpPr>
          <p:cNvPr id="10" name="Shape 7"/>
          <p:cNvSpPr/>
          <p:nvPr/>
        </p:nvSpPr>
        <p:spPr>
          <a:xfrm>
            <a:off x="539496" y="6309360"/>
            <a:ext cx="164592" cy="164592"/>
          </a:xfrm>
          <a:prstGeom prst="ellipse">
            <a:avLst/>
          </a:prstGeom>
          <a:solidFill>
            <a:srgbClr val="06B6D4"/>
          </a:solidFill>
          <a:ln w="12700">
            <a:solidFill>
              <a:srgbClr val="06B6D4"/>
            </a:solidFill>
            <a:prstDash val="solid"/>
          </a:ln>
        </p:spPr>
      </p:sp>
      <p:sp>
        <p:nvSpPr>
          <p:cNvPr id="11" name="Text 8"/>
          <p:cNvSpPr/>
          <p:nvPr/>
        </p:nvSpPr>
        <p:spPr>
          <a:xfrm>
            <a:off x="758952" y="6236208"/>
            <a:ext cx="50109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Time-based comparisons</a:t>
            </a:r>
            <a:endParaRPr lang="en-US" sz="950" dirty="0"/>
          </a:p>
        </p:txBody>
      </p:sp>
      <p:sp>
        <p:nvSpPr>
          <p:cNvPr id="12" name="Shape 9"/>
          <p:cNvSpPr/>
          <p:nvPr/>
        </p:nvSpPr>
        <p:spPr>
          <a:xfrm>
            <a:off x="539496" y="6638544"/>
            <a:ext cx="164592" cy="164592"/>
          </a:xfrm>
          <a:prstGeom prst="ellipse">
            <a:avLst/>
          </a:prstGeom>
          <a:solidFill>
            <a:srgbClr val="06B6D4"/>
          </a:solidFill>
          <a:ln w="12700">
            <a:solidFill>
              <a:srgbClr val="06B6D4"/>
            </a:solidFill>
            <a:prstDash val="solid"/>
          </a:ln>
        </p:spPr>
      </p:sp>
      <p:sp>
        <p:nvSpPr>
          <p:cNvPr id="13" name="Text 10"/>
          <p:cNvSpPr/>
          <p:nvPr/>
        </p:nvSpPr>
        <p:spPr>
          <a:xfrm>
            <a:off x="758952" y="6565392"/>
            <a:ext cx="50109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Emphasise volume, not just direction</a:t>
            </a:r>
            <a:endParaRPr lang="en-US" sz="950" dirty="0"/>
          </a:p>
        </p:txBody>
      </p:sp>
      <p:sp>
        <p:nvSpPr>
          <p:cNvPr id="14" name="Text 11"/>
          <p:cNvSpPr/>
          <p:nvPr/>
        </p:nvSpPr>
        <p:spPr>
          <a:xfrm>
            <a:off x="539496" y="6949440"/>
            <a:ext cx="5230368" cy="237744"/>
          </a:xfrm>
          <a:prstGeom prst="rect">
            <a:avLst/>
          </a:prstGeom>
          <a:noFill/>
          <a:ln/>
        </p:spPr>
        <p:txBody>
          <a:bodyPr wrap="square" lIns="0" tIns="0" rIns="0" bIns="0" rtlCol="0" anchor="ctr"/>
          <a:lstStyle/>
          <a:p>
            <a:pPr indent="0" marL="0">
              <a:buNone/>
            </a:pPr>
            <a:r>
              <a:rPr lang="en-US" sz="1000" b="1" dirty="0">
                <a:solidFill>
                  <a:srgbClr val="06B6D4"/>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205472"/>
            <a:ext cx="5230368" cy="274320"/>
          </a:xfrm>
          <a:prstGeom prst="roundRect">
            <a:avLst>
              <a:gd name="adj" fmla="val 13333"/>
            </a:avLst>
          </a:prstGeom>
          <a:solidFill>
            <a:srgbClr val="06B6D4"/>
          </a:solidFill>
          <a:ln w="12700">
            <a:solidFill>
              <a:srgbClr val="06B6D4"/>
            </a:solidFill>
            <a:prstDash val="solid"/>
          </a:ln>
        </p:spPr>
      </p:sp>
      <p:sp>
        <p:nvSpPr>
          <p:cNvPr id="16" name="Text 13"/>
          <p:cNvSpPr/>
          <p:nvPr/>
        </p:nvSpPr>
        <p:spPr>
          <a:xfrm>
            <a:off x="594360" y="7223760"/>
            <a:ext cx="51206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Revenue growth over months</a:t>
            </a:r>
            <a:endParaRPr lang="en-US" sz="950" dirty="0"/>
          </a:p>
        </p:txBody>
      </p:sp>
      <p:sp>
        <p:nvSpPr>
          <p:cNvPr id="17" name="Shape 14"/>
          <p:cNvSpPr/>
          <p:nvPr/>
        </p:nvSpPr>
        <p:spPr>
          <a:xfrm>
            <a:off x="539496" y="7534656"/>
            <a:ext cx="5230368" cy="274320"/>
          </a:xfrm>
          <a:prstGeom prst="roundRect">
            <a:avLst>
              <a:gd name="adj" fmla="val 13333"/>
            </a:avLst>
          </a:prstGeom>
          <a:solidFill>
            <a:srgbClr val="06B6D4"/>
          </a:solidFill>
          <a:ln w="12700">
            <a:solidFill>
              <a:srgbClr val="06B6D4"/>
            </a:solidFill>
            <a:prstDash val="solid"/>
          </a:ln>
        </p:spPr>
      </p:sp>
      <p:sp>
        <p:nvSpPr>
          <p:cNvPr id="18" name="Text 15"/>
          <p:cNvSpPr/>
          <p:nvPr/>
        </p:nvSpPr>
        <p:spPr>
          <a:xfrm>
            <a:off x="594360" y="7552944"/>
            <a:ext cx="51206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Population growth over years</a:t>
            </a:r>
            <a:endParaRPr lang="en-US" sz="950" dirty="0"/>
          </a:p>
        </p:txBody>
      </p:sp>
      <p:sp>
        <p:nvSpPr>
          <p:cNvPr id="19" name="Shape 16"/>
          <p:cNvSpPr/>
          <p:nvPr/>
        </p:nvSpPr>
        <p:spPr>
          <a:xfrm>
            <a:off x="539496" y="7863840"/>
            <a:ext cx="5230368" cy="274320"/>
          </a:xfrm>
          <a:prstGeom prst="roundRect">
            <a:avLst>
              <a:gd name="adj" fmla="val 13333"/>
            </a:avLst>
          </a:prstGeom>
          <a:solidFill>
            <a:srgbClr val="06B6D4"/>
          </a:solidFill>
          <a:ln w="12700">
            <a:solidFill>
              <a:srgbClr val="06B6D4"/>
            </a:solidFill>
            <a:prstDash val="solid"/>
          </a:ln>
        </p:spPr>
      </p:sp>
      <p:sp>
        <p:nvSpPr>
          <p:cNvPr id="20" name="Text 17"/>
          <p:cNvSpPr/>
          <p:nvPr/>
        </p:nvSpPr>
        <p:spPr>
          <a:xfrm>
            <a:off x="594360" y="7882128"/>
            <a:ext cx="51206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Website traffic accumulation</a:t>
            </a:r>
            <a:endParaRPr lang="en-US" sz="950" dirty="0"/>
          </a:p>
        </p:txBody>
      </p:sp>
      <p:sp>
        <p:nvSpPr>
          <p:cNvPr id="21" name="Shape 18"/>
          <p:cNvSpPr/>
          <p:nvPr/>
        </p:nvSpPr>
        <p:spPr>
          <a:xfrm>
            <a:off x="6080760" y="1024128"/>
            <a:ext cx="5852160" cy="2487168"/>
          </a:xfrm>
          <a:prstGeom prst="roundRect">
            <a:avLst>
              <a:gd name="adj" fmla="val 3676"/>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6080760" y="1024128"/>
            <a:ext cx="585216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6080760" y="1207008"/>
            <a:ext cx="5852160" cy="146304"/>
          </a:xfrm>
          <a:prstGeom prst="rect">
            <a:avLst/>
          </a:prstGeom>
          <a:solidFill>
            <a:srgbClr val="141E36"/>
          </a:solidFill>
          <a:ln w="12700">
            <a:solidFill>
              <a:srgbClr val="141E36"/>
            </a:solidFill>
            <a:prstDash val="solid"/>
          </a:ln>
        </p:spPr>
      </p:sp>
      <p:sp>
        <p:nvSpPr>
          <p:cNvPr id="24" name="Shape 21"/>
          <p:cNvSpPr/>
          <p:nvPr/>
        </p:nvSpPr>
        <p:spPr>
          <a:xfrm>
            <a:off x="620877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640994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661111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6812280" y="1078992"/>
            <a:ext cx="49377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area_chart.py</a:t>
            </a:r>
            <a:endParaRPr lang="en-US" sz="900" dirty="0"/>
          </a:p>
        </p:txBody>
      </p:sp>
      <p:sp>
        <p:nvSpPr>
          <p:cNvPr id="28" name="Text 25"/>
          <p:cNvSpPr/>
          <p:nvPr/>
        </p:nvSpPr>
        <p:spPr>
          <a:xfrm>
            <a:off x="6227064" y="1408176"/>
            <a:ext cx="5577840" cy="1993392"/>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days  = [1, 2, 3, 4, 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sales = [200, 250, 300, 280, 350]</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plt.fill_between(days, sales)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plt.title('Sales Area Chart')</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9" name="Shape 26"/>
          <p:cNvSpPr/>
          <p:nvPr/>
        </p:nvSpPr>
        <p:spPr>
          <a:xfrm>
            <a:off x="6080760" y="3584448"/>
            <a:ext cx="5852160" cy="441525"/>
          </a:xfrm>
          <a:prstGeom prst="rect">
            <a:avLst/>
          </a:prstGeom>
          <a:solidFill>
            <a:srgbClr val="06B6D4"/>
          </a:solidFill>
          <a:ln w="3810">
            <a:solidFill>
              <a:srgbClr val="141E36"/>
            </a:solidFill>
            <a:prstDash val="solid"/>
          </a:ln>
        </p:spPr>
      </p:sp>
      <p:sp>
        <p:nvSpPr>
          <p:cNvPr id="30" name="Text 27"/>
          <p:cNvSpPr/>
          <p:nvPr/>
        </p:nvSpPr>
        <p:spPr>
          <a:xfrm>
            <a:off x="6172200" y="3639312"/>
            <a:ext cx="2132381" cy="350085"/>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359445" y="3639312"/>
            <a:ext cx="3482035" cy="350085"/>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304581" y="3584448"/>
            <a:ext cx="18288" cy="441525"/>
          </a:xfrm>
          <a:prstGeom prst="rect">
            <a:avLst/>
          </a:prstGeom>
          <a:solidFill>
            <a:srgbClr val="FFFFFF"/>
          </a:solidFill>
          <a:ln w="12700">
            <a:solidFill>
              <a:srgbClr val="FFFFFF"/>
            </a:solidFill>
            <a:prstDash val="solid"/>
          </a:ln>
        </p:spPr>
      </p:sp>
      <p:sp>
        <p:nvSpPr>
          <p:cNvPr id="33" name="Shape 30"/>
          <p:cNvSpPr/>
          <p:nvPr/>
        </p:nvSpPr>
        <p:spPr>
          <a:xfrm>
            <a:off x="6080760" y="4025973"/>
            <a:ext cx="5852160" cy="441525"/>
          </a:xfrm>
          <a:prstGeom prst="rect">
            <a:avLst/>
          </a:prstGeom>
          <a:solidFill>
            <a:srgbClr val="141E36"/>
          </a:solidFill>
          <a:ln w="3810">
            <a:solidFill>
              <a:srgbClr val="141E36"/>
            </a:solidFill>
            <a:prstDash val="solid"/>
          </a:ln>
        </p:spPr>
      </p:sp>
      <p:sp>
        <p:nvSpPr>
          <p:cNvPr id="34" name="Text 31"/>
          <p:cNvSpPr/>
          <p:nvPr/>
        </p:nvSpPr>
        <p:spPr>
          <a:xfrm>
            <a:off x="6172200" y="4062549"/>
            <a:ext cx="2132381" cy="368373"/>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days = [1, 2, 3, 4, 5]</a:t>
            </a:r>
            <a:endParaRPr lang="en-US" sz="900" dirty="0"/>
          </a:p>
        </p:txBody>
      </p:sp>
      <p:sp>
        <p:nvSpPr>
          <p:cNvPr id="35" name="Text 32"/>
          <p:cNvSpPr/>
          <p:nvPr/>
        </p:nvSpPr>
        <p:spPr>
          <a:xfrm>
            <a:off x="8359445" y="4062549"/>
            <a:ext cx="3482035" cy="368373"/>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X-axis values representing time points.</a:t>
            </a:r>
            <a:endParaRPr lang="en-US" sz="950" dirty="0"/>
          </a:p>
        </p:txBody>
      </p:sp>
      <p:sp>
        <p:nvSpPr>
          <p:cNvPr id="36" name="Shape 33"/>
          <p:cNvSpPr/>
          <p:nvPr/>
        </p:nvSpPr>
        <p:spPr>
          <a:xfrm>
            <a:off x="8304581" y="4025973"/>
            <a:ext cx="18288" cy="441525"/>
          </a:xfrm>
          <a:prstGeom prst="rect">
            <a:avLst/>
          </a:prstGeom>
          <a:solidFill>
            <a:srgbClr val="1E293B"/>
          </a:solidFill>
          <a:ln w="12700">
            <a:solidFill>
              <a:srgbClr val="1E293B"/>
            </a:solidFill>
            <a:prstDash val="solid"/>
          </a:ln>
        </p:spPr>
      </p:sp>
      <p:sp>
        <p:nvSpPr>
          <p:cNvPr id="37" name="Shape 34"/>
          <p:cNvSpPr/>
          <p:nvPr/>
        </p:nvSpPr>
        <p:spPr>
          <a:xfrm>
            <a:off x="6080760" y="4467497"/>
            <a:ext cx="5852160" cy="441525"/>
          </a:xfrm>
          <a:prstGeom prst="rect">
            <a:avLst/>
          </a:prstGeom>
          <a:solidFill>
            <a:srgbClr val="0F1D3C"/>
          </a:solidFill>
          <a:ln w="3810">
            <a:solidFill>
              <a:srgbClr val="141E36"/>
            </a:solidFill>
            <a:prstDash val="solid"/>
          </a:ln>
        </p:spPr>
      </p:sp>
      <p:sp>
        <p:nvSpPr>
          <p:cNvPr id="38" name="Text 35"/>
          <p:cNvSpPr/>
          <p:nvPr/>
        </p:nvSpPr>
        <p:spPr>
          <a:xfrm>
            <a:off x="6172200" y="4504073"/>
            <a:ext cx="2132381" cy="368373"/>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sales = [200, 250, 300, 280, 350]</a:t>
            </a:r>
            <a:endParaRPr lang="en-US" sz="900" dirty="0"/>
          </a:p>
        </p:txBody>
      </p:sp>
      <p:sp>
        <p:nvSpPr>
          <p:cNvPr id="39" name="Text 36"/>
          <p:cNvSpPr/>
          <p:nvPr/>
        </p:nvSpPr>
        <p:spPr>
          <a:xfrm>
            <a:off x="8359445" y="4504073"/>
            <a:ext cx="3482035" cy="368373"/>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Y-axis values - the sales amount at each time point.</a:t>
            </a:r>
            <a:endParaRPr lang="en-US" sz="950" dirty="0"/>
          </a:p>
        </p:txBody>
      </p:sp>
      <p:sp>
        <p:nvSpPr>
          <p:cNvPr id="40" name="Shape 37"/>
          <p:cNvSpPr/>
          <p:nvPr/>
        </p:nvSpPr>
        <p:spPr>
          <a:xfrm>
            <a:off x="8304581" y="4467497"/>
            <a:ext cx="18288" cy="441525"/>
          </a:xfrm>
          <a:prstGeom prst="rect">
            <a:avLst/>
          </a:prstGeom>
          <a:solidFill>
            <a:srgbClr val="1E293B"/>
          </a:solidFill>
          <a:ln w="12700">
            <a:solidFill>
              <a:srgbClr val="1E293B"/>
            </a:solidFill>
            <a:prstDash val="solid"/>
          </a:ln>
        </p:spPr>
      </p:sp>
      <p:sp>
        <p:nvSpPr>
          <p:cNvPr id="41" name="Shape 38"/>
          <p:cNvSpPr/>
          <p:nvPr/>
        </p:nvSpPr>
        <p:spPr>
          <a:xfrm>
            <a:off x="6080760" y="4909022"/>
            <a:ext cx="5852160" cy="441525"/>
          </a:xfrm>
          <a:prstGeom prst="rect">
            <a:avLst/>
          </a:prstGeom>
          <a:solidFill>
            <a:srgbClr val="141E36"/>
          </a:solidFill>
          <a:ln w="3810">
            <a:solidFill>
              <a:srgbClr val="141E36"/>
            </a:solidFill>
            <a:prstDash val="solid"/>
          </a:ln>
        </p:spPr>
      </p:sp>
      <p:sp>
        <p:nvSpPr>
          <p:cNvPr id="42" name="Text 39"/>
          <p:cNvSpPr/>
          <p:nvPr/>
        </p:nvSpPr>
        <p:spPr>
          <a:xfrm>
            <a:off x="6172200" y="4945598"/>
            <a:ext cx="2132381" cy="368373"/>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plt.fill_between(days, sales)</a:t>
            </a:r>
            <a:endParaRPr lang="en-US" sz="900" dirty="0"/>
          </a:p>
        </p:txBody>
      </p:sp>
      <p:sp>
        <p:nvSpPr>
          <p:cNvPr id="43" name="Text 40"/>
          <p:cNvSpPr/>
          <p:nvPr/>
        </p:nvSpPr>
        <p:spPr>
          <a:xfrm>
            <a:off x="8359445" y="4945598"/>
            <a:ext cx="3482035" cy="368373"/>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This is the KEY command. It fills the area between the line and the x-axis (y=0). Creates the shaded area effect.</a:t>
            </a:r>
            <a:endParaRPr lang="en-US" sz="950" dirty="0"/>
          </a:p>
        </p:txBody>
      </p:sp>
      <p:sp>
        <p:nvSpPr>
          <p:cNvPr id="44" name="Shape 41"/>
          <p:cNvSpPr/>
          <p:nvPr/>
        </p:nvSpPr>
        <p:spPr>
          <a:xfrm>
            <a:off x="8304581" y="4909022"/>
            <a:ext cx="18288" cy="441525"/>
          </a:xfrm>
          <a:prstGeom prst="rect">
            <a:avLst/>
          </a:prstGeom>
          <a:solidFill>
            <a:srgbClr val="1E293B"/>
          </a:solidFill>
          <a:ln w="12700">
            <a:solidFill>
              <a:srgbClr val="1E293B"/>
            </a:solidFill>
            <a:prstDash val="solid"/>
          </a:ln>
        </p:spPr>
      </p:sp>
      <p:sp>
        <p:nvSpPr>
          <p:cNvPr id="45" name="Shape 42"/>
          <p:cNvSpPr/>
          <p:nvPr/>
        </p:nvSpPr>
        <p:spPr>
          <a:xfrm>
            <a:off x="6080760" y="5350546"/>
            <a:ext cx="5852160" cy="441525"/>
          </a:xfrm>
          <a:prstGeom prst="rect">
            <a:avLst/>
          </a:prstGeom>
          <a:solidFill>
            <a:srgbClr val="0F1D3C"/>
          </a:solidFill>
          <a:ln w="3810">
            <a:solidFill>
              <a:srgbClr val="141E36"/>
            </a:solidFill>
            <a:prstDash val="solid"/>
          </a:ln>
        </p:spPr>
      </p:sp>
      <p:sp>
        <p:nvSpPr>
          <p:cNvPr id="46" name="Text 43"/>
          <p:cNvSpPr/>
          <p:nvPr/>
        </p:nvSpPr>
        <p:spPr>
          <a:xfrm>
            <a:off x="6172200" y="5387122"/>
            <a:ext cx="2132381" cy="368373"/>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plt.fill_between(x, y)</a:t>
            </a:r>
            <a:endParaRPr lang="en-US" sz="900" dirty="0"/>
          </a:p>
        </p:txBody>
      </p:sp>
      <p:sp>
        <p:nvSpPr>
          <p:cNvPr id="47" name="Text 44"/>
          <p:cNvSpPr/>
          <p:nvPr/>
        </p:nvSpPr>
        <p:spPr>
          <a:xfrm>
            <a:off x="8359445" y="5387122"/>
            <a:ext cx="3482035" cy="368373"/>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First argument: x values. Second argument: y values. Python fills from x-axis UP to the y values.</a:t>
            </a:r>
            <a:endParaRPr lang="en-US" sz="950" dirty="0"/>
          </a:p>
        </p:txBody>
      </p:sp>
      <p:sp>
        <p:nvSpPr>
          <p:cNvPr id="48" name="Shape 45"/>
          <p:cNvSpPr/>
          <p:nvPr/>
        </p:nvSpPr>
        <p:spPr>
          <a:xfrm>
            <a:off x="8304581" y="5350546"/>
            <a:ext cx="18288" cy="441525"/>
          </a:xfrm>
          <a:prstGeom prst="rect">
            <a:avLst/>
          </a:prstGeom>
          <a:solidFill>
            <a:srgbClr val="1E293B"/>
          </a:solidFill>
          <a:ln w="12700">
            <a:solidFill>
              <a:srgbClr val="1E293B"/>
            </a:solidFill>
            <a:prstDash val="solid"/>
          </a:ln>
        </p:spPr>
      </p:sp>
      <p:sp>
        <p:nvSpPr>
          <p:cNvPr id="49" name="Shape 46"/>
          <p:cNvSpPr/>
          <p:nvPr/>
        </p:nvSpPr>
        <p:spPr>
          <a:xfrm>
            <a:off x="6080760" y="5792071"/>
            <a:ext cx="5852160" cy="441525"/>
          </a:xfrm>
          <a:prstGeom prst="rect">
            <a:avLst/>
          </a:prstGeom>
          <a:solidFill>
            <a:srgbClr val="141E36"/>
          </a:solidFill>
          <a:ln w="3810">
            <a:solidFill>
              <a:srgbClr val="141E36"/>
            </a:solidFill>
            <a:prstDash val="solid"/>
          </a:ln>
        </p:spPr>
      </p:sp>
      <p:sp>
        <p:nvSpPr>
          <p:cNvPr id="50" name="Text 47"/>
          <p:cNvSpPr/>
          <p:nvPr/>
        </p:nvSpPr>
        <p:spPr>
          <a:xfrm>
            <a:off x="6172200" y="5828647"/>
            <a:ext cx="2132381" cy="368373"/>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plt.title(...)</a:t>
            </a:r>
            <a:endParaRPr lang="en-US" sz="900" dirty="0"/>
          </a:p>
        </p:txBody>
      </p:sp>
      <p:sp>
        <p:nvSpPr>
          <p:cNvPr id="51" name="Text 48"/>
          <p:cNvSpPr/>
          <p:nvPr/>
        </p:nvSpPr>
        <p:spPr>
          <a:xfrm>
            <a:off x="8359445" y="5828647"/>
            <a:ext cx="3482035" cy="368373"/>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Adds the chart title.</a:t>
            </a:r>
            <a:endParaRPr lang="en-US" sz="950" dirty="0"/>
          </a:p>
        </p:txBody>
      </p:sp>
      <p:sp>
        <p:nvSpPr>
          <p:cNvPr id="52" name="Shape 49"/>
          <p:cNvSpPr/>
          <p:nvPr/>
        </p:nvSpPr>
        <p:spPr>
          <a:xfrm>
            <a:off x="8304581" y="5792071"/>
            <a:ext cx="18288" cy="441525"/>
          </a:xfrm>
          <a:prstGeom prst="rect">
            <a:avLst/>
          </a:prstGeom>
          <a:solidFill>
            <a:srgbClr val="1E293B"/>
          </a:solidFill>
          <a:ln w="12700">
            <a:solidFill>
              <a:srgbClr val="1E293B"/>
            </a:solidFill>
            <a:prstDash val="solid"/>
          </a:ln>
        </p:spPr>
      </p:sp>
      <p:sp>
        <p:nvSpPr>
          <p:cNvPr id="53" name="Shape 50"/>
          <p:cNvSpPr/>
          <p:nvPr/>
        </p:nvSpPr>
        <p:spPr>
          <a:xfrm>
            <a:off x="6080760" y="6233595"/>
            <a:ext cx="5852160" cy="441525"/>
          </a:xfrm>
          <a:prstGeom prst="rect">
            <a:avLst/>
          </a:prstGeom>
          <a:solidFill>
            <a:srgbClr val="0F1D3C"/>
          </a:solidFill>
          <a:ln w="3810">
            <a:solidFill>
              <a:srgbClr val="141E36"/>
            </a:solidFill>
            <a:prstDash val="solid"/>
          </a:ln>
        </p:spPr>
      </p:sp>
      <p:sp>
        <p:nvSpPr>
          <p:cNvPr id="54" name="Text 51"/>
          <p:cNvSpPr/>
          <p:nvPr/>
        </p:nvSpPr>
        <p:spPr>
          <a:xfrm>
            <a:off x="6172200" y="6270171"/>
            <a:ext cx="2132381" cy="368373"/>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55" name="Text 52"/>
          <p:cNvSpPr/>
          <p:nvPr/>
        </p:nvSpPr>
        <p:spPr>
          <a:xfrm>
            <a:off x="8359445" y="6270171"/>
            <a:ext cx="3482035" cy="368373"/>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the filled area chart.</a:t>
            </a:r>
            <a:endParaRPr lang="en-US" sz="950" dirty="0"/>
          </a:p>
        </p:txBody>
      </p:sp>
      <p:sp>
        <p:nvSpPr>
          <p:cNvPr id="56" name="Shape 53"/>
          <p:cNvSpPr/>
          <p:nvPr/>
        </p:nvSpPr>
        <p:spPr>
          <a:xfrm>
            <a:off x="8304581" y="6233595"/>
            <a:ext cx="18288" cy="441525"/>
          </a:xfrm>
          <a:prstGeom prst="rect">
            <a:avLst/>
          </a:prstGeom>
          <a:solidFill>
            <a:srgbClr val="1E293B"/>
          </a:solidFill>
          <a:ln w="12700">
            <a:solidFill>
              <a:srgbClr val="1E293B"/>
            </a:solidFill>
            <a:prstDash val="solid"/>
          </a:ln>
        </p:spPr>
      </p:sp>
      <p:sp>
        <p:nvSpPr>
          <p:cNvPr id="57" name="Shape 54"/>
          <p:cNvSpPr/>
          <p:nvPr/>
        </p:nvSpPr>
        <p:spPr>
          <a:xfrm>
            <a:off x="6080760" y="6089904"/>
            <a:ext cx="5852160" cy="640080"/>
          </a:xfrm>
          <a:prstGeom prst="roundRect">
            <a:avLst>
              <a:gd name="adj" fmla="val 14286"/>
            </a:avLst>
          </a:prstGeom>
          <a:solidFill>
            <a:srgbClr val="CFFAFE"/>
          </a:solidFill>
          <a:ln w="12700">
            <a:solidFill>
              <a:srgbClr val="06B6D4"/>
            </a:solidFill>
            <a:prstDash val="solid"/>
          </a:ln>
          <a:effectLst>
            <a:outerShdw sx="100000" sy="100000" kx="0" ky="0" algn="bl" rotWithShape="0" blurRad="63500" dist="25400" dir="2700000">
              <a:srgbClr val="000000">
                <a:alpha val="12000"/>
              </a:srgbClr>
            </a:outerShdw>
          </a:effectLst>
        </p:spPr>
      </p:sp>
      <p:sp>
        <p:nvSpPr>
          <p:cNvPr id="58" name="Text 55"/>
          <p:cNvSpPr/>
          <p:nvPr/>
        </p:nvSpPr>
        <p:spPr>
          <a:xfrm>
            <a:off x="6217920" y="6144768"/>
            <a:ext cx="5577840" cy="237744"/>
          </a:xfrm>
          <a:prstGeom prst="rect">
            <a:avLst/>
          </a:prstGeom>
          <a:noFill/>
          <a:ln/>
        </p:spPr>
        <p:txBody>
          <a:bodyPr wrap="square" lIns="0" tIns="0" rIns="0" bIns="0" rtlCol="0" anchor="ctr"/>
          <a:lstStyle/>
          <a:p>
            <a:pPr indent="0" marL="0">
              <a:buNone/>
            </a:pPr>
            <a:r>
              <a:rPr lang="en-US" sz="1000" b="1" dirty="0">
                <a:solidFill>
                  <a:srgbClr val="06B6D4"/>
                </a:solidFill>
                <a:latin typeface="Cambria" pitchFamily="34" charset="0"/>
                <a:ea typeface="Cambria" pitchFamily="34" charset="-122"/>
                <a:cs typeface="Cambria" pitchFamily="34" charset="-120"/>
              </a:rPr>
              <a:t>Line Chart vs Area Chart</a:t>
            </a:r>
            <a:endParaRPr lang="en-US" sz="1000" dirty="0"/>
          </a:p>
        </p:txBody>
      </p:sp>
      <p:sp>
        <p:nvSpPr>
          <p:cNvPr id="59" name="Text 56"/>
          <p:cNvSpPr/>
          <p:nvPr/>
        </p:nvSpPr>
        <p:spPr>
          <a:xfrm>
            <a:off x="6217920" y="6382512"/>
            <a:ext cx="5577840"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Line chart: plt.plot(x, y). Area chart: plt.fill_between(x, y). Area emphasises VOLUME - how much total value exists, not just direction.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10. HEATMAP - Patterns in a Matrix of Values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4754880" cy="3931920"/>
          </a:xfrm>
          <a:prstGeom prst="rect">
            <a:avLst/>
          </a:prstGeom>
        </p:spPr>
      </p:pic>
      <p:pic>
        <p:nvPicPr>
          <p:cNvPr id="5" name="Image 1" descr="preencoded.png">    </p:cNvPr>
          <p:cNvPicPr>
            <a:picLocks noChangeAspect="1"/>
          </p:cNvPicPr>
          <p:nvPr/>
        </p:nvPicPr>
        <p:blipFill>
          <a:blip r:embed="rId2"/>
          <a:srcRect l="0" r="0" t="0" b="0"/>
          <a:stretch/>
        </p:blipFill>
        <p:spPr>
          <a:xfrm>
            <a:off x="411480" y="5029200"/>
            <a:ext cx="4754880" cy="1664208"/>
          </a:xfrm>
          <a:prstGeom prst="rect">
            <a:avLst/>
          </a:prstGeom>
        </p:spPr>
      </p:pic>
      <p:sp>
        <p:nvSpPr>
          <p:cNvPr id="6" name="Shape 2"/>
          <p:cNvSpPr/>
          <p:nvPr/>
        </p:nvSpPr>
        <p:spPr>
          <a:xfrm>
            <a:off x="5349240" y="1024128"/>
            <a:ext cx="6583680" cy="2194560"/>
          </a:xfrm>
          <a:prstGeom prst="roundRect">
            <a:avLst>
              <a:gd name="adj" fmla="val 4167"/>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7" name="Shape 3"/>
          <p:cNvSpPr/>
          <p:nvPr/>
        </p:nvSpPr>
        <p:spPr>
          <a:xfrm>
            <a:off x="5349240" y="1024128"/>
            <a:ext cx="6583680" cy="329184"/>
          </a:xfrm>
          <a:prstGeom prst="roundRect">
            <a:avLst>
              <a:gd name="adj" fmla="val 27778"/>
            </a:avLst>
          </a:prstGeom>
          <a:solidFill>
            <a:srgbClr val="141E36"/>
          </a:solidFill>
          <a:ln w="12700">
            <a:solidFill>
              <a:srgbClr val="141E36"/>
            </a:solidFill>
            <a:prstDash val="solid"/>
          </a:ln>
        </p:spPr>
      </p:sp>
      <p:sp>
        <p:nvSpPr>
          <p:cNvPr id="8" name="Shape 4"/>
          <p:cNvSpPr/>
          <p:nvPr/>
        </p:nvSpPr>
        <p:spPr>
          <a:xfrm>
            <a:off x="5349240" y="1207008"/>
            <a:ext cx="6583680" cy="146304"/>
          </a:xfrm>
          <a:prstGeom prst="rect">
            <a:avLst/>
          </a:prstGeom>
          <a:solidFill>
            <a:srgbClr val="141E36"/>
          </a:solidFill>
          <a:ln w="12700">
            <a:solidFill>
              <a:srgbClr val="141E36"/>
            </a:solidFill>
            <a:prstDash val="solid"/>
          </a:ln>
        </p:spPr>
      </p:sp>
      <p:sp>
        <p:nvSpPr>
          <p:cNvPr id="9" name="Shape 5"/>
          <p:cNvSpPr/>
          <p:nvPr/>
        </p:nvSpPr>
        <p:spPr>
          <a:xfrm>
            <a:off x="5477256" y="1115568"/>
            <a:ext cx="146304" cy="146304"/>
          </a:xfrm>
          <a:prstGeom prst="ellipse">
            <a:avLst/>
          </a:prstGeom>
          <a:solidFill>
            <a:srgbClr val="F43F5E"/>
          </a:solidFill>
          <a:ln w="12700">
            <a:solidFill>
              <a:srgbClr val="F43F5E"/>
            </a:solidFill>
            <a:prstDash val="solid"/>
          </a:ln>
        </p:spPr>
      </p:sp>
      <p:sp>
        <p:nvSpPr>
          <p:cNvPr id="10" name="Shape 6"/>
          <p:cNvSpPr/>
          <p:nvPr/>
        </p:nvSpPr>
        <p:spPr>
          <a:xfrm>
            <a:off x="5678424" y="1115568"/>
            <a:ext cx="146304" cy="146304"/>
          </a:xfrm>
          <a:prstGeom prst="ellipse">
            <a:avLst/>
          </a:prstGeom>
          <a:solidFill>
            <a:srgbClr val="F59E0B"/>
          </a:solidFill>
          <a:ln w="12700">
            <a:solidFill>
              <a:srgbClr val="F59E0B"/>
            </a:solidFill>
            <a:prstDash val="solid"/>
          </a:ln>
        </p:spPr>
      </p:sp>
      <p:sp>
        <p:nvSpPr>
          <p:cNvPr id="11" name="Shape 7"/>
          <p:cNvSpPr/>
          <p:nvPr/>
        </p:nvSpPr>
        <p:spPr>
          <a:xfrm>
            <a:off x="5879592" y="1115568"/>
            <a:ext cx="146304" cy="146304"/>
          </a:xfrm>
          <a:prstGeom prst="ellipse">
            <a:avLst/>
          </a:prstGeom>
          <a:solidFill>
            <a:srgbClr val="22C55E"/>
          </a:solidFill>
          <a:ln w="12700">
            <a:solidFill>
              <a:srgbClr val="22C55E"/>
            </a:solidFill>
            <a:prstDash val="solid"/>
          </a:ln>
        </p:spPr>
      </p:sp>
      <p:sp>
        <p:nvSpPr>
          <p:cNvPr id="12" name="Text 8"/>
          <p:cNvSpPr/>
          <p:nvPr/>
        </p:nvSpPr>
        <p:spPr>
          <a:xfrm>
            <a:off x="6080760" y="107899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heatmap_basic.py</a:t>
            </a:r>
            <a:endParaRPr lang="en-US" sz="900" dirty="0"/>
          </a:p>
        </p:txBody>
      </p:sp>
      <p:sp>
        <p:nvSpPr>
          <p:cNvPr id="13" name="Text 9"/>
          <p:cNvSpPr/>
          <p:nvPr/>
        </p:nvSpPr>
        <p:spPr>
          <a:xfrm>
            <a:off x="5495544" y="1408176"/>
            <a:ext cx="6309360" cy="170078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Basic heatmap</a:t>
            </a:r>
            <a:endParaRPr lang="en-US" sz="1050" dirty="0"/>
          </a:p>
          <a:p>
            <a:pPr indent="0" marL="0">
              <a:buNone/>
            </a:pPr>
            <a:r>
              <a:rPr lang="en-US" sz="1050" dirty="0">
                <a:solidFill>
                  <a:srgbClr val="3B82F6"/>
                </a:solidFill>
                <a:latin typeface="Courier New" pitchFamily="34" charset="0"/>
                <a:ea typeface="Courier New" pitchFamily="34" charset="-122"/>
                <a:cs typeface="Courier New" pitchFamily="34" charset="-120"/>
              </a:rPr>
              <a:t>import numpy as np</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data = np.random.rand(5, 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sns.heatmap(data, annot=True)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plt.title('Correlation Heatmap')</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14" name="Shape 10"/>
          <p:cNvSpPr/>
          <p:nvPr/>
        </p:nvSpPr>
        <p:spPr>
          <a:xfrm>
            <a:off x="5349240" y="3291840"/>
            <a:ext cx="6583680" cy="563880"/>
          </a:xfrm>
          <a:prstGeom prst="rect">
            <a:avLst/>
          </a:prstGeom>
          <a:solidFill>
            <a:srgbClr val="EC4899"/>
          </a:solidFill>
          <a:ln w="3810">
            <a:solidFill>
              <a:srgbClr val="141E36"/>
            </a:solidFill>
            <a:prstDash val="solid"/>
          </a:ln>
        </p:spPr>
      </p:sp>
      <p:sp>
        <p:nvSpPr>
          <p:cNvPr id="15" name="Text 11"/>
          <p:cNvSpPr/>
          <p:nvPr/>
        </p:nvSpPr>
        <p:spPr>
          <a:xfrm>
            <a:off x="5440680" y="3346704"/>
            <a:ext cx="2410358" cy="472440"/>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16" name="Text 12"/>
          <p:cNvSpPr/>
          <p:nvPr/>
        </p:nvSpPr>
        <p:spPr>
          <a:xfrm>
            <a:off x="7905902" y="3346704"/>
            <a:ext cx="3935578" cy="472440"/>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17" name="Shape 13"/>
          <p:cNvSpPr/>
          <p:nvPr/>
        </p:nvSpPr>
        <p:spPr>
          <a:xfrm>
            <a:off x="7851038" y="3291840"/>
            <a:ext cx="18288" cy="563880"/>
          </a:xfrm>
          <a:prstGeom prst="rect">
            <a:avLst/>
          </a:prstGeom>
          <a:solidFill>
            <a:srgbClr val="FFFFFF"/>
          </a:solidFill>
          <a:ln w="12700">
            <a:solidFill>
              <a:srgbClr val="FFFFFF"/>
            </a:solidFill>
            <a:prstDash val="solid"/>
          </a:ln>
        </p:spPr>
      </p:sp>
      <p:sp>
        <p:nvSpPr>
          <p:cNvPr id="18" name="Shape 14"/>
          <p:cNvSpPr/>
          <p:nvPr/>
        </p:nvSpPr>
        <p:spPr>
          <a:xfrm>
            <a:off x="5349240" y="3855720"/>
            <a:ext cx="6583680" cy="563880"/>
          </a:xfrm>
          <a:prstGeom prst="rect">
            <a:avLst/>
          </a:prstGeom>
          <a:solidFill>
            <a:srgbClr val="141E36"/>
          </a:solidFill>
          <a:ln w="3810">
            <a:solidFill>
              <a:srgbClr val="141E36"/>
            </a:solidFill>
            <a:prstDash val="solid"/>
          </a:ln>
        </p:spPr>
      </p:sp>
      <p:sp>
        <p:nvSpPr>
          <p:cNvPr id="19" name="Text 15"/>
          <p:cNvSpPr/>
          <p:nvPr/>
        </p:nvSpPr>
        <p:spPr>
          <a:xfrm>
            <a:off x="5440680" y="3892296"/>
            <a:ext cx="2410358" cy="49072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import numpy as np</a:t>
            </a:r>
            <a:endParaRPr lang="en-US" sz="900" dirty="0"/>
          </a:p>
        </p:txBody>
      </p:sp>
      <p:sp>
        <p:nvSpPr>
          <p:cNvPr id="20" name="Text 16"/>
          <p:cNvSpPr/>
          <p:nvPr/>
        </p:nvSpPr>
        <p:spPr>
          <a:xfrm>
            <a:off x="7905902" y="3892296"/>
            <a:ext cx="3935578" cy="49072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Imports NumPy for numerical computation.</a:t>
            </a:r>
            <a:endParaRPr lang="en-US" sz="950" dirty="0"/>
          </a:p>
        </p:txBody>
      </p:sp>
      <p:sp>
        <p:nvSpPr>
          <p:cNvPr id="21" name="Shape 17"/>
          <p:cNvSpPr/>
          <p:nvPr/>
        </p:nvSpPr>
        <p:spPr>
          <a:xfrm>
            <a:off x="7851038" y="3855720"/>
            <a:ext cx="18288" cy="563880"/>
          </a:xfrm>
          <a:prstGeom prst="rect">
            <a:avLst/>
          </a:prstGeom>
          <a:solidFill>
            <a:srgbClr val="1E293B"/>
          </a:solidFill>
          <a:ln w="12700">
            <a:solidFill>
              <a:srgbClr val="1E293B"/>
            </a:solidFill>
            <a:prstDash val="solid"/>
          </a:ln>
        </p:spPr>
      </p:sp>
      <p:sp>
        <p:nvSpPr>
          <p:cNvPr id="22" name="Shape 18"/>
          <p:cNvSpPr/>
          <p:nvPr/>
        </p:nvSpPr>
        <p:spPr>
          <a:xfrm>
            <a:off x="5349240" y="4419600"/>
            <a:ext cx="6583680" cy="563880"/>
          </a:xfrm>
          <a:prstGeom prst="rect">
            <a:avLst/>
          </a:prstGeom>
          <a:solidFill>
            <a:srgbClr val="0F1D3C"/>
          </a:solidFill>
          <a:ln w="3810">
            <a:solidFill>
              <a:srgbClr val="141E36"/>
            </a:solidFill>
            <a:prstDash val="solid"/>
          </a:ln>
        </p:spPr>
      </p:sp>
      <p:sp>
        <p:nvSpPr>
          <p:cNvPr id="23" name="Text 19"/>
          <p:cNvSpPr/>
          <p:nvPr/>
        </p:nvSpPr>
        <p:spPr>
          <a:xfrm>
            <a:off x="5440680" y="4456176"/>
            <a:ext cx="2410358" cy="49072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np.random.rand(5, 5)</a:t>
            </a:r>
            <a:endParaRPr lang="en-US" sz="900" dirty="0"/>
          </a:p>
        </p:txBody>
      </p:sp>
      <p:sp>
        <p:nvSpPr>
          <p:cNvPr id="24" name="Text 20"/>
          <p:cNvSpPr/>
          <p:nvPr/>
        </p:nvSpPr>
        <p:spPr>
          <a:xfrm>
            <a:off x="7905902" y="4456176"/>
            <a:ext cx="3935578" cy="49072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Generates a 5x5 matrix of random values between 0 and 1. In practice, this would be your real data or a correlation matrix.</a:t>
            </a:r>
            <a:endParaRPr lang="en-US" sz="950" dirty="0"/>
          </a:p>
        </p:txBody>
      </p:sp>
      <p:sp>
        <p:nvSpPr>
          <p:cNvPr id="25" name="Shape 21"/>
          <p:cNvSpPr/>
          <p:nvPr/>
        </p:nvSpPr>
        <p:spPr>
          <a:xfrm>
            <a:off x="7851038" y="4419600"/>
            <a:ext cx="18288" cy="563880"/>
          </a:xfrm>
          <a:prstGeom prst="rect">
            <a:avLst/>
          </a:prstGeom>
          <a:solidFill>
            <a:srgbClr val="1E293B"/>
          </a:solidFill>
          <a:ln w="12700">
            <a:solidFill>
              <a:srgbClr val="1E293B"/>
            </a:solidFill>
            <a:prstDash val="solid"/>
          </a:ln>
        </p:spPr>
      </p:sp>
      <p:sp>
        <p:nvSpPr>
          <p:cNvPr id="26" name="Shape 22"/>
          <p:cNvSpPr/>
          <p:nvPr/>
        </p:nvSpPr>
        <p:spPr>
          <a:xfrm>
            <a:off x="5349240" y="4983480"/>
            <a:ext cx="6583680" cy="563880"/>
          </a:xfrm>
          <a:prstGeom prst="rect">
            <a:avLst/>
          </a:prstGeom>
          <a:solidFill>
            <a:srgbClr val="141E36"/>
          </a:solidFill>
          <a:ln w="3810">
            <a:solidFill>
              <a:srgbClr val="141E36"/>
            </a:solidFill>
            <a:prstDash val="solid"/>
          </a:ln>
        </p:spPr>
      </p:sp>
      <p:sp>
        <p:nvSpPr>
          <p:cNvPr id="27" name="Text 23"/>
          <p:cNvSpPr/>
          <p:nvPr/>
        </p:nvSpPr>
        <p:spPr>
          <a:xfrm>
            <a:off x="5440680" y="5020056"/>
            <a:ext cx="2410358" cy="49072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sns.heatmap(data, annot=True)</a:t>
            </a:r>
            <a:endParaRPr lang="en-US" sz="900" dirty="0"/>
          </a:p>
        </p:txBody>
      </p:sp>
      <p:sp>
        <p:nvSpPr>
          <p:cNvPr id="28" name="Text 24"/>
          <p:cNvSpPr/>
          <p:nvPr/>
        </p:nvSpPr>
        <p:spPr>
          <a:xfrm>
            <a:off x="7905902" y="5020056"/>
            <a:ext cx="3935578" cy="49072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Creates the heatmap. annot=True prints the actual numeric value inside each cell so the reader does not have to guess from colour alone.</a:t>
            </a:r>
            <a:endParaRPr lang="en-US" sz="950" dirty="0"/>
          </a:p>
        </p:txBody>
      </p:sp>
      <p:sp>
        <p:nvSpPr>
          <p:cNvPr id="29" name="Shape 25"/>
          <p:cNvSpPr/>
          <p:nvPr/>
        </p:nvSpPr>
        <p:spPr>
          <a:xfrm>
            <a:off x="7851038" y="4983480"/>
            <a:ext cx="18288" cy="563880"/>
          </a:xfrm>
          <a:prstGeom prst="rect">
            <a:avLst/>
          </a:prstGeom>
          <a:solidFill>
            <a:srgbClr val="1E293B"/>
          </a:solidFill>
          <a:ln w="12700">
            <a:solidFill>
              <a:srgbClr val="1E293B"/>
            </a:solidFill>
            <a:prstDash val="solid"/>
          </a:ln>
        </p:spPr>
      </p:sp>
      <p:sp>
        <p:nvSpPr>
          <p:cNvPr id="30" name="Shape 26"/>
          <p:cNvSpPr/>
          <p:nvPr/>
        </p:nvSpPr>
        <p:spPr>
          <a:xfrm>
            <a:off x="5349240" y="5547360"/>
            <a:ext cx="6583680" cy="563880"/>
          </a:xfrm>
          <a:prstGeom prst="rect">
            <a:avLst/>
          </a:prstGeom>
          <a:solidFill>
            <a:srgbClr val="0F1D3C"/>
          </a:solidFill>
          <a:ln w="3810">
            <a:solidFill>
              <a:srgbClr val="141E36"/>
            </a:solidFill>
            <a:prstDash val="solid"/>
          </a:ln>
        </p:spPr>
      </p:sp>
      <p:sp>
        <p:nvSpPr>
          <p:cNvPr id="31" name="Text 27"/>
          <p:cNvSpPr/>
          <p:nvPr/>
        </p:nvSpPr>
        <p:spPr>
          <a:xfrm>
            <a:off x="5440680" y="5583936"/>
            <a:ext cx="2410358" cy="49072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Color = value</a:t>
            </a:r>
            <a:endParaRPr lang="en-US" sz="900" dirty="0"/>
          </a:p>
        </p:txBody>
      </p:sp>
      <p:sp>
        <p:nvSpPr>
          <p:cNvPr id="32" name="Text 28"/>
          <p:cNvSpPr/>
          <p:nvPr/>
        </p:nvSpPr>
        <p:spPr>
          <a:xfrm>
            <a:off x="7905902" y="5583936"/>
            <a:ext cx="3935578" cy="49072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Darker or brighter colors = higher or lower values, depending on the cmap (colour map) chosen.</a:t>
            </a:r>
            <a:endParaRPr lang="en-US" sz="950" dirty="0"/>
          </a:p>
        </p:txBody>
      </p:sp>
      <p:sp>
        <p:nvSpPr>
          <p:cNvPr id="33" name="Shape 29"/>
          <p:cNvSpPr/>
          <p:nvPr/>
        </p:nvSpPr>
        <p:spPr>
          <a:xfrm>
            <a:off x="7851038" y="5547360"/>
            <a:ext cx="18288" cy="563880"/>
          </a:xfrm>
          <a:prstGeom prst="rect">
            <a:avLst/>
          </a:prstGeom>
          <a:solidFill>
            <a:srgbClr val="1E293B"/>
          </a:solidFill>
          <a:ln w="12700">
            <a:solidFill>
              <a:srgbClr val="1E293B"/>
            </a:solidFill>
            <a:prstDash val="solid"/>
          </a:ln>
        </p:spPr>
      </p:sp>
      <p:sp>
        <p:nvSpPr>
          <p:cNvPr id="34" name="Shape 30"/>
          <p:cNvSpPr/>
          <p:nvPr/>
        </p:nvSpPr>
        <p:spPr>
          <a:xfrm>
            <a:off x="5349240" y="6111240"/>
            <a:ext cx="6583680" cy="563880"/>
          </a:xfrm>
          <a:prstGeom prst="rect">
            <a:avLst/>
          </a:prstGeom>
          <a:solidFill>
            <a:srgbClr val="141E36"/>
          </a:solidFill>
          <a:ln w="3810">
            <a:solidFill>
              <a:srgbClr val="141E36"/>
            </a:solidFill>
            <a:prstDash val="solid"/>
          </a:ln>
        </p:spPr>
      </p:sp>
      <p:sp>
        <p:nvSpPr>
          <p:cNvPr id="35" name="Text 31"/>
          <p:cNvSpPr/>
          <p:nvPr/>
        </p:nvSpPr>
        <p:spPr>
          <a:xfrm>
            <a:off x="5440680" y="6147816"/>
            <a:ext cx="2410358" cy="49072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36" name="Text 32"/>
          <p:cNvSpPr/>
          <p:nvPr/>
        </p:nvSpPr>
        <p:spPr>
          <a:xfrm>
            <a:off x="7905902" y="6147816"/>
            <a:ext cx="3935578" cy="49072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the chart.</a:t>
            </a:r>
            <a:endParaRPr lang="en-US" sz="950" dirty="0"/>
          </a:p>
        </p:txBody>
      </p:sp>
      <p:sp>
        <p:nvSpPr>
          <p:cNvPr id="37" name="Shape 33"/>
          <p:cNvSpPr/>
          <p:nvPr/>
        </p:nvSpPr>
        <p:spPr>
          <a:xfrm>
            <a:off x="7851038" y="6111240"/>
            <a:ext cx="18288" cy="563880"/>
          </a:xfrm>
          <a:prstGeom prst="rect">
            <a:avLst/>
          </a:prstGeom>
          <a:solidFill>
            <a:srgbClr val="1E293B"/>
          </a:solidFill>
          <a:ln w="12700">
            <a:solidFill>
              <a:srgbClr val="1E293B"/>
            </a:solidFill>
            <a:prstDash val="solid"/>
          </a:ln>
        </p:spPr>
      </p:sp>
      <p:sp>
        <p:nvSpPr>
          <p:cNvPr id="38" name="Shape 34"/>
          <p:cNvSpPr/>
          <p:nvPr/>
        </p:nvSpPr>
        <p:spPr>
          <a:xfrm>
            <a:off x="5349240" y="5687568"/>
            <a:ext cx="6583680" cy="969264"/>
          </a:xfrm>
          <a:prstGeom prst="roundRect">
            <a:avLst>
              <a:gd name="adj" fmla="val 9434"/>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39" name="Shape 35"/>
          <p:cNvSpPr/>
          <p:nvPr/>
        </p:nvSpPr>
        <p:spPr>
          <a:xfrm>
            <a:off x="5349240" y="5687568"/>
            <a:ext cx="6583680" cy="329184"/>
          </a:xfrm>
          <a:prstGeom prst="roundRect">
            <a:avLst>
              <a:gd name="adj" fmla="val 27778"/>
            </a:avLst>
          </a:prstGeom>
          <a:solidFill>
            <a:srgbClr val="141E36"/>
          </a:solidFill>
          <a:ln w="12700">
            <a:solidFill>
              <a:srgbClr val="141E36"/>
            </a:solidFill>
            <a:prstDash val="solid"/>
          </a:ln>
        </p:spPr>
      </p:sp>
      <p:sp>
        <p:nvSpPr>
          <p:cNvPr id="40" name="Shape 36"/>
          <p:cNvSpPr/>
          <p:nvPr/>
        </p:nvSpPr>
        <p:spPr>
          <a:xfrm>
            <a:off x="5349240" y="5870448"/>
            <a:ext cx="6583680" cy="146304"/>
          </a:xfrm>
          <a:prstGeom prst="rect">
            <a:avLst/>
          </a:prstGeom>
          <a:solidFill>
            <a:srgbClr val="141E36"/>
          </a:solidFill>
          <a:ln w="12700">
            <a:solidFill>
              <a:srgbClr val="141E36"/>
            </a:solidFill>
            <a:prstDash val="solid"/>
          </a:ln>
        </p:spPr>
      </p:sp>
      <p:sp>
        <p:nvSpPr>
          <p:cNvPr id="41" name="Shape 37"/>
          <p:cNvSpPr/>
          <p:nvPr/>
        </p:nvSpPr>
        <p:spPr>
          <a:xfrm>
            <a:off x="5477256" y="5779008"/>
            <a:ext cx="146304" cy="146304"/>
          </a:xfrm>
          <a:prstGeom prst="ellipse">
            <a:avLst/>
          </a:prstGeom>
          <a:solidFill>
            <a:srgbClr val="F43F5E"/>
          </a:solidFill>
          <a:ln w="12700">
            <a:solidFill>
              <a:srgbClr val="F43F5E"/>
            </a:solidFill>
            <a:prstDash val="solid"/>
          </a:ln>
        </p:spPr>
      </p:sp>
      <p:sp>
        <p:nvSpPr>
          <p:cNvPr id="42" name="Shape 38"/>
          <p:cNvSpPr/>
          <p:nvPr/>
        </p:nvSpPr>
        <p:spPr>
          <a:xfrm>
            <a:off x="5678424" y="5779008"/>
            <a:ext cx="146304" cy="146304"/>
          </a:xfrm>
          <a:prstGeom prst="ellipse">
            <a:avLst/>
          </a:prstGeom>
          <a:solidFill>
            <a:srgbClr val="F59E0B"/>
          </a:solidFill>
          <a:ln w="12700">
            <a:solidFill>
              <a:srgbClr val="F59E0B"/>
            </a:solidFill>
            <a:prstDash val="solid"/>
          </a:ln>
        </p:spPr>
      </p:sp>
      <p:sp>
        <p:nvSpPr>
          <p:cNvPr id="43" name="Shape 39"/>
          <p:cNvSpPr/>
          <p:nvPr/>
        </p:nvSpPr>
        <p:spPr>
          <a:xfrm>
            <a:off x="5879592" y="5779008"/>
            <a:ext cx="146304" cy="146304"/>
          </a:xfrm>
          <a:prstGeom prst="ellipse">
            <a:avLst/>
          </a:prstGeom>
          <a:solidFill>
            <a:srgbClr val="22C55E"/>
          </a:solidFill>
          <a:ln w="12700">
            <a:solidFill>
              <a:srgbClr val="22C55E"/>
            </a:solidFill>
            <a:prstDash val="solid"/>
          </a:ln>
        </p:spPr>
      </p:sp>
      <p:sp>
        <p:nvSpPr>
          <p:cNvPr id="44" name="Text 40"/>
          <p:cNvSpPr/>
          <p:nvPr/>
        </p:nvSpPr>
        <p:spPr>
          <a:xfrm>
            <a:off x="6080760" y="5742432"/>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heatmap_sales.py</a:t>
            </a:r>
            <a:endParaRPr lang="en-US" sz="900" dirty="0"/>
          </a:p>
        </p:txBody>
      </p:sp>
      <p:sp>
        <p:nvSpPr>
          <p:cNvPr id="45" name="Text 41"/>
          <p:cNvSpPr/>
          <p:nvPr/>
        </p:nvSpPr>
        <p:spPr>
          <a:xfrm>
            <a:off x="5495544" y="6071616"/>
            <a:ext cx="6309360" cy="475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Sales Age Segmentation Heatmap</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heat = df.pivot_table(index='Age_Group', columns='Product', values='Sales', aggfunc='sum')</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sns.heatmap(heat, annot=True, fmt='g', cmap='Blues')</a:t>
            </a:r>
            <a:endParaRPr lang="en-US" sz="1050" dirty="0"/>
          </a:p>
        </p:txBody>
      </p:sp>
      <p:sp>
        <p:nvSpPr>
          <p:cNvPr id="46" name="Shape 42"/>
          <p:cNvSpPr/>
          <p:nvPr/>
        </p:nvSpPr>
        <p:spPr>
          <a:xfrm>
            <a:off x="11932920" y="1024128"/>
            <a:ext cx="91440" cy="5696712"/>
          </a:xfrm>
          <a:prstGeom prst="roundRect">
            <a:avLst>
              <a:gd name="adj" fmla="val 100000"/>
            </a:avLst>
          </a:prstGeom>
          <a:solidFill>
            <a:srgbClr val="0F1D3C"/>
          </a:solidFill>
          <a:ln w="15240">
            <a:solidFill>
              <a:srgbClr val="EC4899"/>
            </a:solidFill>
            <a:prstDash val="solid"/>
          </a:ln>
          <a:effectLst>
            <a:outerShdw sx="100000" sy="100000" kx="0" ky="0" algn="bl" rotWithShape="0" blurRad="63500" dist="25400" dir="2700000">
              <a:srgbClr val="000000">
                <a:alpha val="12000"/>
              </a:srgbClr>
            </a:outerShdw>
          </a:effectLst>
        </p:spPr>
      </p:sp>
      <p:sp>
        <p:nvSpPr>
          <p:cNvPr id="47" name="Text 43"/>
          <p:cNvSpPr/>
          <p:nvPr/>
        </p:nvSpPr>
        <p:spPr>
          <a:xfrm>
            <a:off x="12060936" y="1133856"/>
            <a:ext cx="-164592" cy="292608"/>
          </a:xfrm>
          <a:prstGeom prst="rect">
            <a:avLst/>
          </a:prstGeom>
          <a:noFill/>
          <a:ln/>
        </p:spPr>
        <p:txBody>
          <a:bodyPr wrap="square" lIns="0" tIns="0" rIns="0" bIns="0" rtlCol="0" anchor="ctr"/>
          <a:lstStyle/>
          <a:p>
            <a:pPr indent="0" marL="0">
              <a:buNone/>
            </a:pPr>
            <a:endParaRPr lang="en-US" sz="1100" dirty="0"/>
          </a:p>
        </p:txBody>
      </p:sp>
      <p:sp>
        <p:nvSpPr>
          <p:cNvPr id="48" name="Text 44"/>
          <p:cNvSpPr/>
          <p:nvPr/>
        </p:nvSpPr>
        <p:spPr>
          <a:xfrm>
            <a:off x="12060936" y="1463040"/>
            <a:ext cx="-164592"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49" name="Text 45"/>
          <p:cNvSpPr/>
          <p:nvPr/>
        </p:nvSpPr>
        <p:spPr>
          <a:xfrm>
            <a:off x="12060936" y="1773936"/>
            <a:ext cx="-164592" cy="237744"/>
          </a:xfrm>
          <a:prstGeom prst="rect">
            <a:avLst/>
          </a:prstGeom>
          <a:noFill/>
          <a:ln/>
        </p:spPr>
        <p:txBody>
          <a:bodyPr wrap="square" lIns="0" tIns="0" rIns="0" bIns="0" rtlCol="0" anchor="ctr"/>
          <a:lstStyle/>
          <a:p>
            <a:pPr indent="0" marL="0">
              <a:buNone/>
            </a:pPr>
            <a:r>
              <a:rPr lang="en-US" sz="1000" b="1" dirty="0">
                <a:solidFill>
                  <a:srgbClr val="EC4899"/>
                </a:solidFill>
                <a:latin typeface="Calibri" pitchFamily="34" charset="0"/>
                <a:ea typeface="Calibri" pitchFamily="34" charset="-122"/>
                <a:cs typeface="Calibri" pitchFamily="34" charset="-120"/>
              </a:rPr>
              <a:t>Real use cases: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11. PAIR PLOT - All Variable Relationships at Once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303520" cy="5303520"/>
          </a:xfrm>
          <a:prstGeom prst="rect">
            <a:avLst/>
          </a:prstGeom>
        </p:spPr>
      </p:pic>
      <p:sp>
        <p:nvSpPr>
          <p:cNvPr id="5" name="Shape 2"/>
          <p:cNvSpPr/>
          <p:nvPr/>
        </p:nvSpPr>
        <p:spPr>
          <a:xfrm>
            <a:off x="5943600" y="1024128"/>
            <a:ext cx="5989320" cy="1627632"/>
          </a:xfrm>
          <a:prstGeom prst="roundRect">
            <a:avLst>
              <a:gd name="adj" fmla="val 5618"/>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5943600" y="1024128"/>
            <a:ext cx="5989320" cy="329184"/>
          </a:xfrm>
          <a:prstGeom prst="roundRect">
            <a:avLst>
              <a:gd name="adj" fmla="val 27778"/>
            </a:avLst>
          </a:prstGeom>
          <a:solidFill>
            <a:srgbClr val="141E36"/>
          </a:solidFill>
          <a:ln w="12700">
            <a:solidFill>
              <a:srgbClr val="141E36"/>
            </a:solidFill>
            <a:prstDash val="solid"/>
          </a:ln>
        </p:spPr>
      </p:sp>
      <p:sp>
        <p:nvSpPr>
          <p:cNvPr id="7" name="Shape 4"/>
          <p:cNvSpPr/>
          <p:nvPr/>
        </p:nvSpPr>
        <p:spPr>
          <a:xfrm>
            <a:off x="5943600" y="1207008"/>
            <a:ext cx="5989320" cy="146304"/>
          </a:xfrm>
          <a:prstGeom prst="rect">
            <a:avLst/>
          </a:prstGeom>
          <a:solidFill>
            <a:srgbClr val="141E36"/>
          </a:solidFill>
          <a:ln w="12700">
            <a:solidFill>
              <a:srgbClr val="141E36"/>
            </a:solidFill>
            <a:prstDash val="solid"/>
          </a:ln>
        </p:spPr>
      </p:sp>
      <p:sp>
        <p:nvSpPr>
          <p:cNvPr id="8" name="Shape 5"/>
          <p:cNvSpPr/>
          <p:nvPr/>
        </p:nvSpPr>
        <p:spPr>
          <a:xfrm>
            <a:off x="6071616" y="1115568"/>
            <a:ext cx="146304" cy="146304"/>
          </a:xfrm>
          <a:prstGeom prst="ellipse">
            <a:avLst/>
          </a:prstGeom>
          <a:solidFill>
            <a:srgbClr val="F43F5E"/>
          </a:solidFill>
          <a:ln w="12700">
            <a:solidFill>
              <a:srgbClr val="F43F5E"/>
            </a:solidFill>
            <a:prstDash val="solid"/>
          </a:ln>
        </p:spPr>
      </p:sp>
      <p:sp>
        <p:nvSpPr>
          <p:cNvPr id="9" name="Shape 6"/>
          <p:cNvSpPr/>
          <p:nvPr/>
        </p:nvSpPr>
        <p:spPr>
          <a:xfrm>
            <a:off x="6272784" y="1115568"/>
            <a:ext cx="146304" cy="146304"/>
          </a:xfrm>
          <a:prstGeom prst="ellipse">
            <a:avLst/>
          </a:prstGeom>
          <a:solidFill>
            <a:srgbClr val="F59E0B"/>
          </a:solidFill>
          <a:ln w="12700">
            <a:solidFill>
              <a:srgbClr val="F59E0B"/>
            </a:solidFill>
            <a:prstDash val="solid"/>
          </a:ln>
        </p:spPr>
      </p:sp>
      <p:sp>
        <p:nvSpPr>
          <p:cNvPr id="10" name="Shape 7"/>
          <p:cNvSpPr/>
          <p:nvPr/>
        </p:nvSpPr>
        <p:spPr>
          <a:xfrm>
            <a:off x="6473952" y="1115568"/>
            <a:ext cx="146304" cy="146304"/>
          </a:xfrm>
          <a:prstGeom prst="ellipse">
            <a:avLst/>
          </a:prstGeom>
          <a:solidFill>
            <a:srgbClr val="22C55E"/>
          </a:solidFill>
          <a:ln w="12700">
            <a:solidFill>
              <a:srgbClr val="22C55E"/>
            </a:solidFill>
            <a:prstDash val="solid"/>
          </a:ln>
        </p:spPr>
      </p:sp>
      <p:sp>
        <p:nvSpPr>
          <p:cNvPr id="11" name="Text 8"/>
          <p:cNvSpPr/>
          <p:nvPr/>
        </p:nvSpPr>
        <p:spPr>
          <a:xfrm>
            <a:off x="6675120" y="1078992"/>
            <a:ext cx="50749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pairplot.py</a:t>
            </a:r>
            <a:endParaRPr lang="en-US" sz="900" dirty="0"/>
          </a:p>
        </p:txBody>
      </p:sp>
      <p:sp>
        <p:nvSpPr>
          <p:cNvPr id="12" name="Text 9"/>
          <p:cNvSpPr/>
          <p:nvPr/>
        </p:nvSpPr>
        <p:spPr>
          <a:xfrm>
            <a:off x="6089904" y="1408176"/>
            <a:ext cx="5715000" cy="1133856"/>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sns.pairplot(sns.load_dataset('iris'))</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13" name="Shape 10"/>
          <p:cNvSpPr/>
          <p:nvPr/>
        </p:nvSpPr>
        <p:spPr>
          <a:xfrm>
            <a:off x="5943600" y="2724912"/>
            <a:ext cx="5989320" cy="566928"/>
          </a:xfrm>
          <a:prstGeom prst="rect">
            <a:avLst/>
          </a:prstGeom>
          <a:solidFill>
            <a:srgbClr val="F97316"/>
          </a:solidFill>
          <a:ln w="3810">
            <a:solidFill>
              <a:srgbClr val="141E36"/>
            </a:solidFill>
            <a:prstDash val="solid"/>
          </a:ln>
        </p:spPr>
      </p:sp>
      <p:sp>
        <p:nvSpPr>
          <p:cNvPr id="14" name="Text 11"/>
          <p:cNvSpPr/>
          <p:nvPr/>
        </p:nvSpPr>
        <p:spPr>
          <a:xfrm>
            <a:off x="6035040" y="2779776"/>
            <a:ext cx="2184502"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15" name="Text 12"/>
          <p:cNvSpPr/>
          <p:nvPr/>
        </p:nvSpPr>
        <p:spPr>
          <a:xfrm>
            <a:off x="8274406" y="2779776"/>
            <a:ext cx="3567074"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16" name="Shape 13"/>
          <p:cNvSpPr/>
          <p:nvPr/>
        </p:nvSpPr>
        <p:spPr>
          <a:xfrm>
            <a:off x="8219542" y="2724912"/>
            <a:ext cx="18288" cy="566928"/>
          </a:xfrm>
          <a:prstGeom prst="rect">
            <a:avLst/>
          </a:prstGeom>
          <a:solidFill>
            <a:srgbClr val="FFFFFF"/>
          </a:solidFill>
          <a:ln w="12700">
            <a:solidFill>
              <a:srgbClr val="FFFFFF"/>
            </a:solidFill>
            <a:prstDash val="solid"/>
          </a:ln>
        </p:spPr>
      </p:sp>
      <p:sp>
        <p:nvSpPr>
          <p:cNvPr id="17" name="Shape 14"/>
          <p:cNvSpPr/>
          <p:nvPr/>
        </p:nvSpPr>
        <p:spPr>
          <a:xfrm>
            <a:off x="5943600" y="3291840"/>
            <a:ext cx="5989320" cy="566928"/>
          </a:xfrm>
          <a:prstGeom prst="rect">
            <a:avLst/>
          </a:prstGeom>
          <a:solidFill>
            <a:srgbClr val="141E36"/>
          </a:solidFill>
          <a:ln w="3810">
            <a:solidFill>
              <a:srgbClr val="141E36"/>
            </a:solidFill>
            <a:prstDash val="solid"/>
          </a:ln>
        </p:spPr>
      </p:sp>
      <p:sp>
        <p:nvSpPr>
          <p:cNvPr id="18" name="Text 15"/>
          <p:cNvSpPr/>
          <p:nvPr/>
        </p:nvSpPr>
        <p:spPr>
          <a:xfrm>
            <a:off x="6035040" y="3328416"/>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sns.load_dataset('iris')</a:t>
            </a:r>
            <a:endParaRPr lang="en-US" sz="900" dirty="0"/>
          </a:p>
        </p:txBody>
      </p:sp>
      <p:sp>
        <p:nvSpPr>
          <p:cNvPr id="19" name="Text 16"/>
          <p:cNvSpPr/>
          <p:nvPr/>
        </p:nvSpPr>
        <p:spPr>
          <a:xfrm>
            <a:off x="8274406" y="3328416"/>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Loads the famous Iris dataset (150 flowers, 4 measurements + species). A built-in Seaborn example dataset.</a:t>
            </a:r>
            <a:endParaRPr lang="en-US" sz="950" dirty="0"/>
          </a:p>
        </p:txBody>
      </p:sp>
      <p:sp>
        <p:nvSpPr>
          <p:cNvPr id="20" name="Shape 17"/>
          <p:cNvSpPr/>
          <p:nvPr/>
        </p:nvSpPr>
        <p:spPr>
          <a:xfrm>
            <a:off x="8219542" y="3291840"/>
            <a:ext cx="18288" cy="566928"/>
          </a:xfrm>
          <a:prstGeom prst="rect">
            <a:avLst/>
          </a:prstGeom>
          <a:solidFill>
            <a:srgbClr val="1E293B"/>
          </a:solidFill>
          <a:ln w="12700">
            <a:solidFill>
              <a:srgbClr val="1E293B"/>
            </a:solidFill>
            <a:prstDash val="solid"/>
          </a:ln>
        </p:spPr>
      </p:sp>
      <p:sp>
        <p:nvSpPr>
          <p:cNvPr id="21" name="Shape 18"/>
          <p:cNvSpPr/>
          <p:nvPr/>
        </p:nvSpPr>
        <p:spPr>
          <a:xfrm>
            <a:off x="5943600" y="3858768"/>
            <a:ext cx="5989320" cy="566928"/>
          </a:xfrm>
          <a:prstGeom prst="rect">
            <a:avLst/>
          </a:prstGeom>
          <a:solidFill>
            <a:srgbClr val="0F1D3C"/>
          </a:solidFill>
          <a:ln w="3810">
            <a:solidFill>
              <a:srgbClr val="141E36"/>
            </a:solidFill>
            <a:prstDash val="solid"/>
          </a:ln>
        </p:spPr>
      </p:sp>
      <p:sp>
        <p:nvSpPr>
          <p:cNvPr id="22" name="Text 19"/>
          <p:cNvSpPr/>
          <p:nvPr/>
        </p:nvSpPr>
        <p:spPr>
          <a:xfrm>
            <a:off x="6035040" y="3895344"/>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sns.pairplot(...)</a:t>
            </a:r>
            <a:endParaRPr lang="en-US" sz="900" dirty="0"/>
          </a:p>
        </p:txBody>
      </p:sp>
      <p:sp>
        <p:nvSpPr>
          <p:cNvPr id="23" name="Text 20"/>
          <p:cNvSpPr/>
          <p:nvPr/>
        </p:nvSpPr>
        <p:spPr>
          <a:xfrm>
            <a:off x="8274406" y="3895344"/>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Creates an N x N grid of charts where N = number of numeric variables. The diagonal shows histograms. Every other cell shows a scatter plot of two variables.</a:t>
            </a:r>
            <a:endParaRPr lang="en-US" sz="950" dirty="0"/>
          </a:p>
        </p:txBody>
      </p:sp>
      <p:sp>
        <p:nvSpPr>
          <p:cNvPr id="24" name="Shape 21"/>
          <p:cNvSpPr/>
          <p:nvPr/>
        </p:nvSpPr>
        <p:spPr>
          <a:xfrm>
            <a:off x="8219542" y="3858768"/>
            <a:ext cx="18288" cy="566928"/>
          </a:xfrm>
          <a:prstGeom prst="rect">
            <a:avLst/>
          </a:prstGeom>
          <a:solidFill>
            <a:srgbClr val="1E293B"/>
          </a:solidFill>
          <a:ln w="12700">
            <a:solidFill>
              <a:srgbClr val="1E293B"/>
            </a:solidFill>
            <a:prstDash val="solid"/>
          </a:ln>
        </p:spPr>
      </p:sp>
      <p:sp>
        <p:nvSpPr>
          <p:cNvPr id="25" name="Shape 22"/>
          <p:cNvSpPr/>
          <p:nvPr/>
        </p:nvSpPr>
        <p:spPr>
          <a:xfrm>
            <a:off x="5943600" y="4425696"/>
            <a:ext cx="5989320" cy="566928"/>
          </a:xfrm>
          <a:prstGeom prst="rect">
            <a:avLst/>
          </a:prstGeom>
          <a:solidFill>
            <a:srgbClr val="141E36"/>
          </a:solidFill>
          <a:ln w="3810">
            <a:solidFill>
              <a:srgbClr val="141E36"/>
            </a:solidFill>
            <a:prstDash val="solid"/>
          </a:ln>
        </p:spPr>
      </p:sp>
      <p:sp>
        <p:nvSpPr>
          <p:cNvPr id="26" name="Text 23"/>
          <p:cNvSpPr/>
          <p:nvPr/>
        </p:nvSpPr>
        <p:spPr>
          <a:xfrm>
            <a:off x="6035040" y="4462272"/>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Why N x N grid</a:t>
            </a:r>
            <a:endParaRPr lang="en-US" sz="900" dirty="0"/>
          </a:p>
        </p:txBody>
      </p:sp>
      <p:sp>
        <p:nvSpPr>
          <p:cNvPr id="27" name="Text 24"/>
          <p:cNvSpPr/>
          <p:nvPr/>
        </p:nvSpPr>
        <p:spPr>
          <a:xfrm>
            <a:off x="8274406" y="4462272"/>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With 4 variables (Sepal L, Sepal W, Petal L, Petal W), pairplot creates 16 charts automatically - one for every variable combination.</a:t>
            </a:r>
            <a:endParaRPr lang="en-US" sz="950" dirty="0"/>
          </a:p>
        </p:txBody>
      </p:sp>
      <p:sp>
        <p:nvSpPr>
          <p:cNvPr id="28" name="Shape 25"/>
          <p:cNvSpPr/>
          <p:nvPr/>
        </p:nvSpPr>
        <p:spPr>
          <a:xfrm>
            <a:off x="8219542" y="4425696"/>
            <a:ext cx="18288" cy="566928"/>
          </a:xfrm>
          <a:prstGeom prst="rect">
            <a:avLst/>
          </a:prstGeom>
          <a:solidFill>
            <a:srgbClr val="1E293B"/>
          </a:solidFill>
          <a:ln w="12700">
            <a:solidFill>
              <a:srgbClr val="1E293B"/>
            </a:solidFill>
            <a:prstDash val="solid"/>
          </a:ln>
        </p:spPr>
      </p:sp>
      <p:sp>
        <p:nvSpPr>
          <p:cNvPr id="29" name="Shape 26"/>
          <p:cNvSpPr/>
          <p:nvPr/>
        </p:nvSpPr>
        <p:spPr>
          <a:xfrm>
            <a:off x="5943600" y="4992624"/>
            <a:ext cx="5989320" cy="566928"/>
          </a:xfrm>
          <a:prstGeom prst="rect">
            <a:avLst/>
          </a:prstGeom>
          <a:solidFill>
            <a:srgbClr val="0F1D3C"/>
          </a:solidFill>
          <a:ln w="3810">
            <a:solidFill>
              <a:srgbClr val="141E36"/>
            </a:solidFill>
            <a:prstDash val="solid"/>
          </a:ln>
        </p:spPr>
      </p:sp>
      <p:sp>
        <p:nvSpPr>
          <p:cNvPr id="30" name="Text 27"/>
          <p:cNvSpPr/>
          <p:nvPr/>
        </p:nvSpPr>
        <p:spPr>
          <a:xfrm>
            <a:off x="6035040" y="5029200"/>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Colors per species</a:t>
            </a:r>
            <a:endParaRPr lang="en-US" sz="900" dirty="0"/>
          </a:p>
        </p:txBody>
      </p:sp>
      <p:sp>
        <p:nvSpPr>
          <p:cNvPr id="31" name="Text 28"/>
          <p:cNvSpPr/>
          <p:nvPr/>
        </p:nvSpPr>
        <p:spPr>
          <a:xfrm>
            <a:off x="8274406" y="5029200"/>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Seaborn automatically assigns different colors to each species, making clusters instantly visible.</a:t>
            </a:r>
            <a:endParaRPr lang="en-US" sz="950" dirty="0"/>
          </a:p>
        </p:txBody>
      </p:sp>
      <p:sp>
        <p:nvSpPr>
          <p:cNvPr id="32" name="Shape 29"/>
          <p:cNvSpPr/>
          <p:nvPr/>
        </p:nvSpPr>
        <p:spPr>
          <a:xfrm>
            <a:off x="8219542" y="4992624"/>
            <a:ext cx="18288" cy="566928"/>
          </a:xfrm>
          <a:prstGeom prst="rect">
            <a:avLst/>
          </a:prstGeom>
          <a:solidFill>
            <a:srgbClr val="1E293B"/>
          </a:solidFill>
          <a:ln w="12700">
            <a:solidFill>
              <a:srgbClr val="1E293B"/>
            </a:solidFill>
            <a:prstDash val="solid"/>
          </a:ln>
        </p:spPr>
      </p:sp>
      <p:sp>
        <p:nvSpPr>
          <p:cNvPr id="33" name="Shape 30"/>
          <p:cNvSpPr/>
          <p:nvPr/>
        </p:nvSpPr>
        <p:spPr>
          <a:xfrm>
            <a:off x="5943600" y="5559552"/>
            <a:ext cx="5989320" cy="566928"/>
          </a:xfrm>
          <a:prstGeom prst="rect">
            <a:avLst/>
          </a:prstGeom>
          <a:solidFill>
            <a:srgbClr val="141E36"/>
          </a:solidFill>
          <a:ln w="3810">
            <a:solidFill>
              <a:srgbClr val="141E36"/>
            </a:solidFill>
            <a:prstDash val="solid"/>
          </a:ln>
        </p:spPr>
      </p:sp>
      <p:sp>
        <p:nvSpPr>
          <p:cNvPr id="34" name="Text 31"/>
          <p:cNvSpPr/>
          <p:nvPr/>
        </p:nvSpPr>
        <p:spPr>
          <a:xfrm>
            <a:off x="6035040" y="5596128"/>
            <a:ext cx="2184502"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35" name="Text 32"/>
          <p:cNvSpPr/>
          <p:nvPr/>
        </p:nvSpPr>
        <p:spPr>
          <a:xfrm>
            <a:off x="8274406" y="5596128"/>
            <a:ext cx="3567074"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all the sub-plots together.</a:t>
            </a:r>
            <a:endParaRPr lang="en-US" sz="950" dirty="0"/>
          </a:p>
        </p:txBody>
      </p:sp>
      <p:sp>
        <p:nvSpPr>
          <p:cNvPr id="36" name="Shape 33"/>
          <p:cNvSpPr/>
          <p:nvPr/>
        </p:nvSpPr>
        <p:spPr>
          <a:xfrm>
            <a:off x="8219542" y="5559552"/>
            <a:ext cx="18288" cy="566928"/>
          </a:xfrm>
          <a:prstGeom prst="rect">
            <a:avLst/>
          </a:prstGeom>
          <a:solidFill>
            <a:srgbClr val="1E293B"/>
          </a:solidFill>
          <a:ln w="12700">
            <a:solidFill>
              <a:srgbClr val="1E293B"/>
            </a:solidFill>
            <a:prstDash val="solid"/>
          </a:ln>
        </p:spPr>
      </p:sp>
      <p:sp>
        <p:nvSpPr>
          <p:cNvPr id="37" name="Shape 34"/>
          <p:cNvSpPr/>
          <p:nvPr/>
        </p:nvSpPr>
        <p:spPr>
          <a:xfrm>
            <a:off x="5943600" y="4919472"/>
            <a:ext cx="5989320" cy="1801368"/>
          </a:xfrm>
          <a:prstGeom prst="roundRect">
            <a:avLst>
              <a:gd name="adj" fmla="val 5076"/>
            </a:avLst>
          </a:prstGeom>
          <a:solidFill>
            <a:srgbClr val="0F1D3C"/>
          </a:solidFill>
          <a:ln w="15240">
            <a:solidFill>
              <a:srgbClr val="F97316"/>
            </a:solidFill>
            <a:prstDash val="solid"/>
          </a:ln>
          <a:effectLst>
            <a:outerShdw sx="100000" sy="100000" kx="0" ky="0" algn="bl" rotWithShape="0" blurRad="63500" dist="25400" dir="2700000">
              <a:srgbClr val="000000">
                <a:alpha val="12000"/>
              </a:srgbClr>
            </a:outerShdw>
          </a:effectLst>
        </p:spPr>
      </p:sp>
      <p:sp>
        <p:nvSpPr>
          <p:cNvPr id="38" name="Text 35"/>
          <p:cNvSpPr/>
          <p:nvPr/>
        </p:nvSpPr>
        <p:spPr>
          <a:xfrm>
            <a:off x="6071616" y="5029200"/>
            <a:ext cx="5733288" cy="292608"/>
          </a:xfrm>
          <a:prstGeom prst="rect">
            <a:avLst/>
          </a:prstGeom>
          <a:noFill/>
          <a:ln/>
        </p:spPr>
        <p:txBody>
          <a:bodyPr wrap="square" lIns="0" tIns="0" rIns="0" bIns="0" rtlCol="0" anchor="ctr"/>
          <a:lstStyle/>
          <a:p>
            <a:pPr indent="0" marL="0">
              <a:buNone/>
            </a:pPr>
            <a:r>
              <a:rPr lang="en-US" sz="1100" b="1" dirty="0">
                <a:solidFill>
                  <a:srgbClr val="F97316"/>
                </a:solidFill>
                <a:latin typeface="Cambria" pitchFamily="34" charset="0"/>
                <a:ea typeface="Cambria" pitchFamily="34" charset="-122"/>
                <a:cs typeface="Cambria" pitchFamily="34" charset="-120"/>
              </a:rPr>
              <a:t>Pair Plot</a:t>
            </a:r>
            <a:endParaRPr lang="en-US" sz="1100" dirty="0"/>
          </a:p>
        </p:txBody>
      </p:sp>
      <p:sp>
        <p:nvSpPr>
          <p:cNvPr id="39" name="Text 36"/>
          <p:cNvSpPr/>
          <p:nvPr/>
        </p:nvSpPr>
        <p:spPr>
          <a:xfrm>
            <a:off x="6071616" y="5358384"/>
            <a:ext cx="573328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40" name="Shape 37"/>
          <p:cNvSpPr/>
          <p:nvPr/>
        </p:nvSpPr>
        <p:spPr>
          <a:xfrm>
            <a:off x="6071616" y="5687568"/>
            <a:ext cx="164592" cy="164592"/>
          </a:xfrm>
          <a:prstGeom prst="ellipse">
            <a:avLst/>
          </a:prstGeom>
          <a:solidFill>
            <a:srgbClr val="F97316"/>
          </a:solidFill>
          <a:ln w="12700">
            <a:solidFill>
              <a:srgbClr val="F97316"/>
            </a:solidFill>
            <a:prstDash val="solid"/>
          </a:ln>
        </p:spPr>
      </p:sp>
      <p:sp>
        <p:nvSpPr>
          <p:cNvPr id="41" name="Text 38"/>
          <p:cNvSpPr/>
          <p:nvPr/>
        </p:nvSpPr>
        <p:spPr>
          <a:xfrm>
            <a:off x="6291072" y="5614416"/>
            <a:ext cx="55138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Multivariate Exploratory Data Analysis (EDA)</a:t>
            </a:r>
            <a:endParaRPr lang="en-US" sz="950" dirty="0"/>
          </a:p>
        </p:txBody>
      </p:sp>
      <p:sp>
        <p:nvSpPr>
          <p:cNvPr id="42" name="Shape 39"/>
          <p:cNvSpPr/>
          <p:nvPr/>
        </p:nvSpPr>
        <p:spPr>
          <a:xfrm>
            <a:off x="6071616" y="6016752"/>
            <a:ext cx="164592" cy="164592"/>
          </a:xfrm>
          <a:prstGeom prst="ellipse">
            <a:avLst/>
          </a:prstGeom>
          <a:solidFill>
            <a:srgbClr val="F97316"/>
          </a:solidFill>
          <a:ln w="12700">
            <a:solidFill>
              <a:srgbClr val="F97316"/>
            </a:solidFill>
            <a:prstDash val="solid"/>
          </a:ln>
        </p:spPr>
      </p:sp>
      <p:sp>
        <p:nvSpPr>
          <p:cNvPr id="43" name="Text 40"/>
          <p:cNvSpPr/>
          <p:nvPr/>
        </p:nvSpPr>
        <p:spPr>
          <a:xfrm>
            <a:off x="6291072" y="5943600"/>
            <a:ext cx="55138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Find which variables are correlated</a:t>
            </a:r>
            <a:endParaRPr lang="en-US" sz="950" dirty="0"/>
          </a:p>
        </p:txBody>
      </p:sp>
      <p:sp>
        <p:nvSpPr>
          <p:cNvPr id="44" name="Shape 41"/>
          <p:cNvSpPr/>
          <p:nvPr/>
        </p:nvSpPr>
        <p:spPr>
          <a:xfrm>
            <a:off x="6071616" y="6345936"/>
            <a:ext cx="164592" cy="164592"/>
          </a:xfrm>
          <a:prstGeom prst="ellipse">
            <a:avLst/>
          </a:prstGeom>
          <a:solidFill>
            <a:srgbClr val="F97316"/>
          </a:solidFill>
          <a:ln w="12700">
            <a:solidFill>
              <a:srgbClr val="F97316"/>
            </a:solidFill>
            <a:prstDash val="solid"/>
          </a:ln>
        </p:spPr>
      </p:sp>
      <p:sp>
        <p:nvSpPr>
          <p:cNvPr id="45" name="Text 42"/>
          <p:cNvSpPr/>
          <p:nvPr/>
        </p:nvSpPr>
        <p:spPr>
          <a:xfrm>
            <a:off x="6291072" y="6272784"/>
            <a:ext cx="55138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Spot clusters and class separation before ML</a:t>
            </a:r>
            <a:endParaRPr lang="en-US" sz="950" dirty="0"/>
          </a:p>
        </p:txBody>
      </p:sp>
      <p:sp>
        <p:nvSpPr>
          <p:cNvPr id="46" name="Text 43"/>
          <p:cNvSpPr/>
          <p:nvPr/>
        </p:nvSpPr>
        <p:spPr>
          <a:xfrm>
            <a:off x="6071616" y="6656832"/>
            <a:ext cx="5733288" cy="237744"/>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Real use cases:</a:t>
            </a:r>
            <a:endParaRPr lang="en-US" sz="1000" dirty="0"/>
          </a:p>
        </p:txBody>
      </p:sp>
      <p:sp>
        <p:nvSpPr>
          <p:cNvPr id="47" name="Shape 44"/>
          <p:cNvSpPr/>
          <p:nvPr/>
        </p:nvSpPr>
        <p:spPr>
          <a:xfrm>
            <a:off x="6071616" y="6912864"/>
            <a:ext cx="5733288" cy="274320"/>
          </a:xfrm>
          <a:prstGeom prst="roundRect">
            <a:avLst>
              <a:gd name="adj" fmla="val 13333"/>
            </a:avLst>
          </a:prstGeom>
          <a:solidFill>
            <a:srgbClr val="F97316"/>
          </a:solidFill>
          <a:ln w="12700">
            <a:solidFill>
              <a:srgbClr val="F97316"/>
            </a:solidFill>
            <a:prstDash val="solid"/>
          </a:ln>
        </p:spPr>
      </p:sp>
      <p:sp>
        <p:nvSpPr>
          <p:cNvPr id="48" name="Text 45"/>
          <p:cNvSpPr/>
          <p:nvPr/>
        </p:nvSpPr>
        <p:spPr>
          <a:xfrm>
            <a:off x="6126480" y="6931152"/>
            <a:ext cx="56235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Feature selection for Machine Learning</a:t>
            </a:r>
            <a:endParaRPr lang="en-US" sz="950" dirty="0"/>
          </a:p>
        </p:txBody>
      </p:sp>
      <p:sp>
        <p:nvSpPr>
          <p:cNvPr id="49" name="Shape 46"/>
          <p:cNvSpPr/>
          <p:nvPr/>
        </p:nvSpPr>
        <p:spPr>
          <a:xfrm>
            <a:off x="6071616" y="7242048"/>
            <a:ext cx="5733288" cy="274320"/>
          </a:xfrm>
          <a:prstGeom prst="roundRect">
            <a:avLst>
              <a:gd name="adj" fmla="val 13333"/>
            </a:avLst>
          </a:prstGeom>
          <a:solidFill>
            <a:srgbClr val="F97316"/>
          </a:solidFill>
          <a:ln w="12700">
            <a:solidFill>
              <a:srgbClr val="F97316"/>
            </a:solidFill>
            <a:prstDash val="solid"/>
          </a:ln>
        </p:spPr>
      </p:sp>
      <p:sp>
        <p:nvSpPr>
          <p:cNvPr id="50" name="Text 47"/>
          <p:cNvSpPr/>
          <p:nvPr/>
        </p:nvSpPr>
        <p:spPr>
          <a:xfrm>
            <a:off x="6126480" y="7260336"/>
            <a:ext cx="56235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Checking assumptions before regression</a:t>
            </a:r>
            <a:endParaRPr lang="en-US" sz="950" dirty="0"/>
          </a:p>
        </p:txBody>
      </p:sp>
      <p:sp>
        <p:nvSpPr>
          <p:cNvPr id="51" name="Shape 48"/>
          <p:cNvSpPr/>
          <p:nvPr/>
        </p:nvSpPr>
        <p:spPr>
          <a:xfrm>
            <a:off x="6071616" y="7571232"/>
            <a:ext cx="5733288" cy="274320"/>
          </a:xfrm>
          <a:prstGeom prst="roundRect">
            <a:avLst>
              <a:gd name="adj" fmla="val 13333"/>
            </a:avLst>
          </a:prstGeom>
          <a:solidFill>
            <a:srgbClr val="F97316"/>
          </a:solidFill>
          <a:ln w="12700">
            <a:solidFill>
              <a:srgbClr val="F97316"/>
            </a:solidFill>
            <a:prstDash val="solid"/>
          </a:ln>
        </p:spPr>
      </p:sp>
      <p:sp>
        <p:nvSpPr>
          <p:cNvPr id="52" name="Text 49"/>
          <p:cNvSpPr/>
          <p:nvPr/>
        </p:nvSpPr>
        <p:spPr>
          <a:xfrm>
            <a:off x="6126480" y="7589520"/>
            <a:ext cx="56235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Identifying key signals in the data</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12. COUNT PLOT - Frequency of Categorical Data</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029200" cy="4114800"/>
          </a:xfrm>
          <a:prstGeom prst="rect">
            <a:avLst/>
          </a:prstGeom>
        </p:spPr>
      </p:pic>
      <p:sp>
        <p:nvSpPr>
          <p:cNvPr id="5" name="Shape 2"/>
          <p:cNvSpPr/>
          <p:nvPr/>
        </p:nvSpPr>
        <p:spPr>
          <a:xfrm>
            <a:off x="411480" y="5212080"/>
            <a:ext cx="5029200" cy="1508760"/>
          </a:xfrm>
          <a:prstGeom prst="roundRect">
            <a:avLst>
              <a:gd name="adj" fmla="val 6061"/>
            </a:avLst>
          </a:prstGeom>
          <a:solidFill>
            <a:srgbClr val="0F1D3C"/>
          </a:solidFill>
          <a:ln w="15240">
            <a:solidFill>
              <a:srgbClr val="22C55E"/>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321808"/>
            <a:ext cx="4773168" cy="292608"/>
          </a:xfrm>
          <a:prstGeom prst="rect">
            <a:avLst/>
          </a:prstGeom>
          <a:noFill/>
          <a:ln/>
        </p:spPr>
        <p:txBody>
          <a:bodyPr wrap="square" lIns="0" tIns="0" rIns="0" bIns="0" rtlCol="0" anchor="ctr"/>
          <a:lstStyle/>
          <a:p>
            <a:pPr indent="0" marL="0">
              <a:buNone/>
            </a:pPr>
            <a:r>
              <a:rPr lang="en-US" sz="1100" b="1" dirty="0">
                <a:solidFill>
                  <a:srgbClr val="22C55E"/>
                </a:solidFill>
                <a:latin typeface="Cambria" pitchFamily="34" charset="0"/>
                <a:ea typeface="Cambria" pitchFamily="34" charset="-122"/>
                <a:cs typeface="Cambria" pitchFamily="34" charset="-120"/>
              </a:rPr>
              <a:t>Count Plot</a:t>
            </a:r>
            <a:endParaRPr lang="en-US" sz="1100" dirty="0"/>
          </a:p>
        </p:txBody>
      </p:sp>
      <p:sp>
        <p:nvSpPr>
          <p:cNvPr id="7" name="Text 4"/>
          <p:cNvSpPr/>
          <p:nvPr/>
        </p:nvSpPr>
        <p:spPr>
          <a:xfrm>
            <a:off x="539496" y="5650992"/>
            <a:ext cx="477316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5980176"/>
            <a:ext cx="164592" cy="164592"/>
          </a:xfrm>
          <a:prstGeom prst="ellipse">
            <a:avLst/>
          </a:prstGeom>
          <a:solidFill>
            <a:srgbClr val="22C55E"/>
          </a:solidFill>
          <a:ln w="12700">
            <a:solidFill>
              <a:srgbClr val="22C55E"/>
            </a:solidFill>
            <a:prstDash val="solid"/>
          </a:ln>
        </p:spPr>
      </p:sp>
      <p:sp>
        <p:nvSpPr>
          <p:cNvPr id="9" name="Text 6"/>
          <p:cNvSpPr/>
          <p:nvPr/>
        </p:nvSpPr>
        <p:spPr>
          <a:xfrm>
            <a:off x="758952" y="5907024"/>
            <a:ext cx="45537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Counting occurrences of each category</a:t>
            </a:r>
            <a:endParaRPr lang="en-US" sz="950" dirty="0"/>
          </a:p>
        </p:txBody>
      </p:sp>
      <p:sp>
        <p:nvSpPr>
          <p:cNvPr id="10" name="Shape 7"/>
          <p:cNvSpPr/>
          <p:nvPr/>
        </p:nvSpPr>
        <p:spPr>
          <a:xfrm>
            <a:off x="539496" y="6309360"/>
            <a:ext cx="164592" cy="164592"/>
          </a:xfrm>
          <a:prstGeom prst="ellipse">
            <a:avLst/>
          </a:prstGeom>
          <a:solidFill>
            <a:srgbClr val="22C55E"/>
          </a:solidFill>
          <a:ln w="12700">
            <a:solidFill>
              <a:srgbClr val="22C55E"/>
            </a:solidFill>
            <a:prstDash val="solid"/>
          </a:ln>
        </p:spPr>
      </p:sp>
      <p:sp>
        <p:nvSpPr>
          <p:cNvPr id="11" name="Text 8"/>
          <p:cNvSpPr/>
          <p:nvPr/>
        </p:nvSpPr>
        <p:spPr>
          <a:xfrm>
            <a:off x="758952" y="6236208"/>
            <a:ext cx="45537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Showing which category appears most</a:t>
            </a:r>
            <a:endParaRPr lang="en-US" sz="950" dirty="0"/>
          </a:p>
        </p:txBody>
      </p:sp>
      <p:sp>
        <p:nvSpPr>
          <p:cNvPr id="12" name="Shape 9"/>
          <p:cNvSpPr/>
          <p:nvPr/>
        </p:nvSpPr>
        <p:spPr>
          <a:xfrm>
            <a:off x="539496" y="6638544"/>
            <a:ext cx="164592" cy="164592"/>
          </a:xfrm>
          <a:prstGeom prst="ellipse">
            <a:avLst/>
          </a:prstGeom>
          <a:solidFill>
            <a:srgbClr val="22C55E"/>
          </a:solidFill>
          <a:ln w="12700">
            <a:solidFill>
              <a:srgbClr val="22C55E"/>
            </a:solidFill>
            <a:prstDash val="solid"/>
          </a:ln>
        </p:spPr>
      </p:sp>
      <p:sp>
        <p:nvSpPr>
          <p:cNvPr id="13" name="Text 10"/>
          <p:cNvSpPr/>
          <p:nvPr/>
        </p:nvSpPr>
        <p:spPr>
          <a:xfrm>
            <a:off x="758952" y="6565392"/>
            <a:ext cx="45537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Quick frequency analysis of text/label data</a:t>
            </a:r>
            <a:endParaRPr lang="en-US" sz="950" dirty="0"/>
          </a:p>
        </p:txBody>
      </p:sp>
      <p:sp>
        <p:nvSpPr>
          <p:cNvPr id="14" name="Text 11"/>
          <p:cNvSpPr/>
          <p:nvPr/>
        </p:nvSpPr>
        <p:spPr>
          <a:xfrm>
            <a:off x="539496" y="6949440"/>
            <a:ext cx="4773168" cy="237744"/>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205472"/>
            <a:ext cx="4773168" cy="274320"/>
          </a:xfrm>
          <a:prstGeom prst="roundRect">
            <a:avLst>
              <a:gd name="adj" fmla="val 13333"/>
            </a:avLst>
          </a:prstGeom>
          <a:solidFill>
            <a:srgbClr val="22C55E"/>
          </a:solidFill>
          <a:ln w="12700">
            <a:solidFill>
              <a:srgbClr val="22C55E"/>
            </a:solidFill>
            <a:prstDash val="solid"/>
          </a:ln>
        </p:spPr>
      </p:sp>
      <p:sp>
        <p:nvSpPr>
          <p:cNvPr id="16" name="Text 13"/>
          <p:cNvSpPr/>
          <p:nvPr/>
        </p:nvSpPr>
        <p:spPr>
          <a:xfrm>
            <a:off x="594360" y="7223760"/>
            <a:ext cx="46634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Gender distribution in a survey</a:t>
            </a:r>
            <a:endParaRPr lang="en-US" sz="950" dirty="0"/>
          </a:p>
        </p:txBody>
      </p:sp>
      <p:sp>
        <p:nvSpPr>
          <p:cNvPr id="17" name="Shape 14"/>
          <p:cNvSpPr/>
          <p:nvPr/>
        </p:nvSpPr>
        <p:spPr>
          <a:xfrm>
            <a:off x="539496" y="7534656"/>
            <a:ext cx="4773168" cy="274320"/>
          </a:xfrm>
          <a:prstGeom prst="roundRect">
            <a:avLst>
              <a:gd name="adj" fmla="val 13333"/>
            </a:avLst>
          </a:prstGeom>
          <a:solidFill>
            <a:srgbClr val="22C55E"/>
          </a:solidFill>
          <a:ln w="12700">
            <a:solidFill>
              <a:srgbClr val="22C55E"/>
            </a:solidFill>
            <a:prstDash val="solid"/>
          </a:ln>
        </p:spPr>
      </p:sp>
      <p:sp>
        <p:nvSpPr>
          <p:cNvPr id="18" name="Text 15"/>
          <p:cNvSpPr/>
          <p:nvPr/>
        </p:nvSpPr>
        <p:spPr>
          <a:xfrm>
            <a:off x="594360" y="7552944"/>
            <a:ext cx="46634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Most popular product category</a:t>
            </a:r>
            <a:endParaRPr lang="en-US" sz="950" dirty="0"/>
          </a:p>
        </p:txBody>
      </p:sp>
      <p:sp>
        <p:nvSpPr>
          <p:cNvPr id="19" name="Shape 16"/>
          <p:cNvSpPr/>
          <p:nvPr/>
        </p:nvSpPr>
        <p:spPr>
          <a:xfrm>
            <a:off x="539496" y="7863840"/>
            <a:ext cx="4773168" cy="274320"/>
          </a:xfrm>
          <a:prstGeom prst="roundRect">
            <a:avLst>
              <a:gd name="adj" fmla="val 13333"/>
            </a:avLst>
          </a:prstGeom>
          <a:solidFill>
            <a:srgbClr val="22C55E"/>
          </a:solidFill>
          <a:ln w="12700">
            <a:solidFill>
              <a:srgbClr val="22C55E"/>
            </a:solidFill>
            <a:prstDash val="solid"/>
          </a:ln>
        </p:spPr>
      </p:sp>
      <p:sp>
        <p:nvSpPr>
          <p:cNvPr id="20" name="Text 17"/>
          <p:cNvSpPr/>
          <p:nvPr/>
        </p:nvSpPr>
        <p:spPr>
          <a:xfrm>
            <a:off x="594360" y="7882128"/>
            <a:ext cx="46634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Count of customers per region</a:t>
            </a:r>
            <a:endParaRPr lang="en-US" sz="950" dirty="0"/>
          </a:p>
        </p:txBody>
      </p:sp>
      <p:sp>
        <p:nvSpPr>
          <p:cNvPr id="21" name="Shape 18"/>
          <p:cNvSpPr/>
          <p:nvPr/>
        </p:nvSpPr>
        <p:spPr>
          <a:xfrm>
            <a:off x="5623560" y="1024128"/>
            <a:ext cx="6309360" cy="2048256"/>
          </a:xfrm>
          <a:prstGeom prst="roundRect">
            <a:avLst>
              <a:gd name="adj" fmla="val 4464"/>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5623560" y="1024128"/>
            <a:ext cx="630936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5623560" y="1207008"/>
            <a:ext cx="6309360" cy="146304"/>
          </a:xfrm>
          <a:prstGeom prst="rect">
            <a:avLst/>
          </a:prstGeom>
          <a:solidFill>
            <a:srgbClr val="141E36"/>
          </a:solidFill>
          <a:ln w="12700">
            <a:solidFill>
              <a:srgbClr val="141E36"/>
            </a:solidFill>
            <a:prstDash val="solid"/>
          </a:ln>
        </p:spPr>
      </p:sp>
      <p:sp>
        <p:nvSpPr>
          <p:cNvPr id="24" name="Shape 21"/>
          <p:cNvSpPr/>
          <p:nvPr/>
        </p:nvSpPr>
        <p:spPr>
          <a:xfrm>
            <a:off x="575157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595274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615391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6355080" y="1078992"/>
            <a:ext cx="53949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countplot.py</a:t>
            </a:r>
            <a:endParaRPr lang="en-US" sz="900" dirty="0"/>
          </a:p>
        </p:txBody>
      </p:sp>
      <p:sp>
        <p:nvSpPr>
          <p:cNvPr id="28" name="Text 25"/>
          <p:cNvSpPr/>
          <p:nvPr/>
        </p:nvSpPr>
        <p:spPr>
          <a:xfrm>
            <a:off x="5769864" y="1408176"/>
            <a:ext cx="6035040" cy="1554480"/>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data = ['Male','Female','Male','Female','Male']</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sns.countplot(x=data)</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9" name="Shape 26"/>
          <p:cNvSpPr/>
          <p:nvPr/>
        </p:nvSpPr>
        <p:spPr>
          <a:xfrm>
            <a:off x="5623560" y="3145536"/>
            <a:ext cx="6309360" cy="566928"/>
          </a:xfrm>
          <a:prstGeom prst="rect">
            <a:avLst/>
          </a:prstGeom>
          <a:solidFill>
            <a:srgbClr val="22C55E"/>
          </a:solidFill>
          <a:ln w="3810">
            <a:solidFill>
              <a:srgbClr val="141E36"/>
            </a:solidFill>
            <a:prstDash val="solid"/>
          </a:ln>
        </p:spPr>
      </p:sp>
      <p:sp>
        <p:nvSpPr>
          <p:cNvPr id="30" name="Text 27"/>
          <p:cNvSpPr/>
          <p:nvPr/>
        </p:nvSpPr>
        <p:spPr>
          <a:xfrm>
            <a:off x="5715000" y="3200400"/>
            <a:ext cx="2306117"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075981" y="3200400"/>
            <a:ext cx="3765499" cy="475488"/>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021117" y="3145536"/>
            <a:ext cx="18288" cy="566928"/>
          </a:xfrm>
          <a:prstGeom prst="rect">
            <a:avLst/>
          </a:prstGeom>
          <a:solidFill>
            <a:srgbClr val="FFFFFF"/>
          </a:solidFill>
          <a:ln w="12700">
            <a:solidFill>
              <a:srgbClr val="FFFFFF"/>
            </a:solidFill>
            <a:prstDash val="solid"/>
          </a:ln>
        </p:spPr>
      </p:sp>
      <p:sp>
        <p:nvSpPr>
          <p:cNvPr id="33" name="Shape 30"/>
          <p:cNvSpPr/>
          <p:nvPr/>
        </p:nvSpPr>
        <p:spPr>
          <a:xfrm>
            <a:off x="5623560" y="3712464"/>
            <a:ext cx="6309360" cy="566928"/>
          </a:xfrm>
          <a:prstGeom prst="rect">
            <a:avLst/>
          </a:prstGeom>
          <a:solidFill>
            <a:srgbClr val="141E36"/>
          </a:solidFill>
          <a:ln w="3810">
            <a:solidFill>
              <a:srgbClr val="141E36"/>
            </a:solidFill>
            <a:prstDash val="solid"/>
          </a:ln>
        </p:spPr>
      </p:sp>
      <p:sp>
        <p:nvSpPr>
          <p:cNvPr id="34" name="Text 31"/>
          <p:cNvSpPr/>
          <p:nvPr/>
        </p:nvSpPr>
        <p:spPr>
          <a:xfrm>
            <a:off x="5715000" y="3749040"/>
            <a:ext cx="2306117"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data = ['Male','Female',...]</a:t>
            </a:r>
            <a:endParaRPr lang="en-US" sz="900" dirty="0"/>
          </a:p>
        </p:txBody>
      </p:sp>
      <p:sp>
        <p:nvSpPr>
          <p:cNvPr id="35" name="Text 32"/>
          <p:cNvSpPr/>
          <p:nvPr/>
        </p:nvSpPr>
        <p:spPr>
          <a:xfrm>
            <a:off x="8075981" y="3749040"/>
            <a:ext cx="3765499"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 list of categorical values. Can also be a DataFrame column: x=df['column'].</a:t>
            </a:r>
            <a:endParaRPr lang="en-US" sz="950" dirty="0"/>
          </a:p>
        </p:txBody>
      </p:sp>
      <p:sp>
        <p:nvSpPr>
          <p:cNvPr id="36" name="Shape 33"/>
          <p:cNvSpPr/>
          <p:nvPr/>
        </p:nvSpPr>
        <p:spPr>
          <a:xfrm>
            <a:off x="8021117" y="3712464"/>
            <a:ext cx="18288" cy="566928"/>
          </a:xfrm>
          <a:prstGeom prst="rect">
            <a:avLst/>
          </a:prstGeom>
          <a:solidFill>
            <a:srgbClr val="1E293B"/>
          </a:solidFill>
          <a:ln w="12700">
            <a:solidFill>
              <a:srgbClr val="1E293B"/>
            </a:solidFill>
            <a:prstDash val="solid"/>
          </a:ln>
        </p:spPr>
      </p:sp>
      <p:sp>
        <p:nvSpPr>
          <p:cNvPr id="37" name="Shape 34"/>
          <p:cNvSpPr/>
          <p:nvPr/>
        </p:nvSpPr>
        <p:spPr>
          <a:xfrm>
            <a:off x="5623560" y="4279392"/>
            <a:ext cx="6309360" cy="566928"/>
          </a:xfrm>
          <a:prstGeom prst="rect">
            <a:avLst/>
          </a:prstGeom>
          <a:solidFill>
            <a:srgbClr val="0F1D3C"/>
          </a:solidFill>
          <a:ln w="3810">
            <a:solidFill>
              <a:srgbClr val="141E36"/>
            </a:solidFill>
            <a:prstDash val="solid"/>
          </a:ln>
        </p:spPr>
      </p:sp>
      <p:sp>
        <p:nvSpPr>
          <p:cNvPr id="38" name="Text 35"/>
          <p:cNvSpPr/>
          <p:nvPr/>
        </p:nvSpPr>
        <p:spPr>
          <a:xfrm>
            <a:off x="5715000" y="4315968"/>
            <a:ext cx="2306117"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sns.countplot(x=data)</a:t>
            </a:r>
            <a:endParaRPr lang="en-US" sz="900" dirty="0"/>
          </a:p>
        </p:txBody>
      </p:sp>
      <p:sp>
        <p:nvSpPr>
          <p:cNvPr id="39" name="Text 36"/>
          <p:cNvSpPr/>
          <p:nvPr/>
        </p:nvSpPr>
        <p:spPr>
          <a:xfrm>
            <a:off x="8075981" y="4315968"/>
            <a:ext cx="3765499"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Counts how many times each unique value appears and draws a bar for each. No need to count manually - Seaborn does it automatically.</a:t>
            </a:r>
            <a:endParaRPr lang="en-US" sz="950" dirty="0"/>
          </a:p>
        </p:txBody>
      </p:sp>
      <p:sp>
        <p:nvSpPr>
          <p:cNvPr id="40" name="Shape 37"/>
          <p:cNvSpPr/>
          <p:nvPr/>
        </p:nvSpPr>
        <p:spPr>
          <a:xfrm>
            <a:off x="8021117" y="4279392"/>
            <a:ext cx="18288" cy="566928"/>
          </a:xfrm>
          <a:prstGeom prst="rect">
            <a:avLst/>
          </a:prstGeom>
          <a:solidFill>
            <a:srgbClr val="1E293B"/>
          </a:solidFill>
          <a:ln w="12700">
            <a:solidFill>
              <a:srgbClr val="1E293B"/>
            </a:solidFill>
            <a:prstDash val="solid"/>
          </a:ln>
        </p:spPr>
      </p:sp>
      <p:sp>
        <p:nvSpPr>
          <p:cNvPr id="41" name="Shape 38"/>
          <p:cNvSpPr/>
          <p:nvPr/>
        </p:nvSpPr>
        <p:spPr>
          <a:xfrm>
            <a:off x="5623560" y="4846320"/>
            <a:ext cx="6309360" cy="566928"/>
          </a:xfrm>
          <a:prstGeom prst="rect">
            <a:avLst/>
          </a:prstGeom>
          <a:solidFill>
            <a:srgbClr val="141E36"/>
          </a:solidFill>
          <a:ln w="3810">
            <a:solidFill>
              <a:srgbClr val="141E36"/>
            </a:solidFill>
            <a:prstDash val="solid"/>
          </a:ln>
        </p:spPr>
      </p:sp>
      <p:sp>
        <p:nvSpPr>
          <p:cNvPr id="42" name="Text 39"/>
          <p:cNvSpPr/>
          <p:nvPr/>
        </p:nvSpPr>
        <p:spPr>
          <a:xfrm>
            <a:off x="5715000" y="4882896"/>
            <a:ext cx="2306117"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x=data</a:t>
            </a:r>
            <a:endParaRPr lang="en-US" sz="900" dirty="0"/>
          </a:p>
        </p:txBody>
      </p:sp>
      <p:sp>
        <p:nvSpPr>
          <p:cNvPr id="43" name="Text 40"/>
          <p:cNvSpPr/>
          <p:nvPr/>
        </p:nvSpPr>
        <p:spPr>
          <a:xfrm>
            <a:off x="8075981" y="4882896"/>
            <a:ext cx="3765499"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Passing x= means the categories go on the x-axis (vertical bars). Use y=data for horizontal bars.</a:t>
            </a:r>
            <a:endParaRPr lang="en-US" sz="950" dirty="0"/>
          </a:p>
        </p:txBody>
      </p:sp>
      <p:sp>
        <p:nvSpPr>
          <p:cNvPr id="44" name="Shape 41"/>
          <p:cNvSpPr/>
          <p:nvPr/>
        </p:nvSpPr>
        <p:spPr>
          <a:xfrm>
            <a:off x="8021117" y="4846320"/>
            <a:ext cx="18288" cy="566928"/>
          </a:xfrm>
          <a:prstGeom prst="rect">
            <a:avLst/>
          </a:prstGeom>
          <a:solidFill>
            <a:srgbClr val="1E293B"/>
          </a:solidFill>
          <a:ln w="12700">
            <a:solidFill>
              <a:srgbClr val="1E293B"/>
            </a:solidFill>
            <a:prstDash val="solid"/>
          </a:ln>
        </p:spPr>
      </p:sp>
      <p:sp>
        <p:nvSpPr>
          <p:cNvPr id="45" name="Shape 42"/>
          <p:cNvSpPr/>
          <p:nvPr/>
        </p:nvSpPr>
        <p:spPr>
          <a:xfrm>
            <a:off x="5623560" y="5413248"/>
            <a:ext cx="6309360" cy="566928"/>
          </a:xfrm>
          <a:prstGeom prst="rect">
            <a:avLst/>
          </a:prstGeom>
          <a:solidFill>
            <a:srgbClr val="0F1D3C"/>
          </a:solidFill>
          <a:ln w="3810">
            <a:solidFill>
              <a:srgbClr val="141E36"/>
            </a:solidFill>
            <a:prstDash val="solid"/>
          </a:ln>
        </p:spPr>
      </p:sp>
      <p:sp>
        <p:nvSpPr>
          <p:cNvPr id="46" name="Text 43"/>
          <p:cNvSpPr/>
          <p:nvPr/>
        </p:nvSpPr>
        <p:spPr>
          <a:xfrm>
            <a:off x="5715000" y="5449824"/>
            <a:ext cx="2306117" cy="493776"/>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47" name="Text 44"/>
          <p:cNvSpPr/>
          <p:nvPr/>
        </p:nvSpPr>
        <p:spPr>
          <a:xfrm>
            <a:off x="8075981" y="5449824"/>
            <a:ext cx="3765499" cy="49377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the chart.</a:t>
            </a:r>
            <a:endParaRPr lang="en-US" sz="950" dirty="0"/>
          </a:p>
        </p:txBody>
      </p:sp>
      <p:sp>
        <p:nvSpPr>
          <p:cNvPr id="48" name="Shape 45"/>
          <p:cNvSpPr/>
          <p:nvPr/>
        </p:nvSpPr>
        <p:spPr>
          <a:xfrm>
            <a:off x="8021117" y="5413248"/>
            <a:ext cx="18288" cy="566928"/>
          </a:xfrm>
          <a:prstGeom prst="rect">
            <a:avLst/>
          </a:prstGeom>
          <a:solidFill>
            <a:srgbClr val="1E293B"/>
          </a:solidFill>
          <a:ln w="12700">
            <a:solidFill>
              <a:srgbClr val="1E293B"/>
            </a:solidFill>
            <a:prstDash val="solid"/>
          </a:ln>
        </p:spPr>
      </p:sp>
      <p:sp>
        <p:nvSpPr>
          <p:cNvPr id="49" name="Shape 46"/>
          <p:cNvSpPr/>
          <p:nvPr/>
        </p:nvSpPr>
        <p:spPr>
          <a:xfrm>
            <a:off x="5623560" y="5321808"/>
            <a:ext cx="6309360" cy="1371600"/>
          </a:xfrm>
          <a:prstGeom prst="roundRect">
            <a:avLst>
              <a:gd name="adj" fmla="val 6667"/>
            </a:avLst>
          </a:prstGeom>
          <a:solidFill>
            <a:srgbClr val="141E36"/>
          </a:solidFill>
          <a:ln w="12700">
            <a:solidFill>
              <a:srgbClr val="22C55E"/>
            </a:solidFill>
            <a:prstDash val="solid"/>
          </a:ln>
          <a:effectLst>
            <a:outerShdw sx="100000" sy="100000" kx="0" ky="0" algn="bl" rotWithShape="0" blurRad="63500" dist="25400" dir="2700000">
              <a:srgbClr val="000000">
                <a:alpha val="12000"/>
              </a:srgbClr>
            </a:outerShdw>
          </a:effectLst>
        </p:spPr>
      </p:sp>
      <p:sp>
        <p:nvSpPr>
          <p:cNvPr id="50" name="Text 47"/>
          <p:cNvSpPr/>
          <p:nvPr/>
        </p:nvSpPr>
        <p:spPr>
          <a:xfrm>
            <a:off x="5760720" y="5394960"/>
            <a:ext cx="6035040" cy="256032"/>
          </a:xfrm>
          <a:prstGeom prst="rect">
            <a:avLst/>
          </a:prstGeom>
          <a:noFill/>
          <a:ln/>
        </p:spPr>
        <p:txBody>
          <a:bodyPr wrap="square" lIns="0" tIns="0" rIns="0" bIns="0" rtlCol="0" anchor="ctr"/>
          <a:lstStyle/>
          <a:p>
            <a:pPr indent="0" marL="0">
              <a:buNone/>
            </a:pPr>
            <a:r>
              <a:rPr lang="en-US" sz="1000" b="1" dirty="0">
                <a:solidFill>
                  <a:srgbClr val="22C55E"/>
                </a:solidFill>
                <a:latin typeface="Cambria" pitchFamily="34" charset="0"/>
                <a:ea typeface="Cambria" pitchFamily="34" charset="-122"/>
                <a:cs typeface="Cambria" pitchFamily="34" charset="-120"/>
              </a:rPr>
              <a:t>Output the chart produces:</a:t>
            </a:r>
            <a:endParaRPr lang="en-US" sz="1000" dirty="0"/>
          </a:p>
        </p:txBody>
      </p:sp>
      <p:sp>
        <p:nvSpPr>
          <p:cNvPr id="51" name="Shape 48"/>
          <p:cNvSpPr/>
          <p:nvPr/>
        </p:nvSpPr>
        <p:spPr>
          <a:xfrm>
            <a:off x="5760720" y="5705856"/>
            <a:ext cx="2926080" cy="292608"/>
          </a:xfrm>
          <a:prstGeom prst="rect">
            <a:avLst/>
          </a:prstGeom>
          <a:solidFill>
            <a:srgbClr val="22C55E"/>
          </a:solidFill>
          <a:ln w="12700">
            <a:solidFill>
              <a:srgbClr val="141E36"/>
            </a:solidFill>
            <a:prstDash val="solid"/>
          </a:ln>
        </p:spPr>
      </p:sp>
      <p:sp>
        <p:nvSpPr>
          <p:cNvPr id="52" name="Shape 49"/>
          <p:cNvSpPr/>
          <p:nvPr/>
        </p:nvSpPr>
        <p:spPr>
          <a:xfrm>
            <a:off x="8723376" y="5705856"/>
            <a:ext cx="914400" cy="292608"/>
          </a:xfrm>
          <a:prstGeom prst="rect">
            <a:avLst/>
          </a:prstGeom>
          <a:solidFill>
            <a:srgbClr val="22C55E"/>
          </a:solidFill>
          <a:ln w="12700">
            <a:solidFill>
              <a:srgbClr val="141E36"/>
            </a:solidFill>
            <a:prstDash val="solid"/>
          </a:ln>
        </p:spPr>
      </p:sp>
      <p:sp>
        <p:nvSpPr>
          <p:cNvPr id="53" name="Text 50"/>
          <p:cNvSpPr/>
          <p:nvPr/>
        </p:nvSpPr>
        <p:spPr>
          <a:xfrm>
            <a:off x="5815584" y="5742432"/>
            <a:ext cx="2834640" cy="219456"/>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Category</a:t>
            </a:r>
            <a:endParaRPr lang="en-US" sz="1000" dirty="0"/>
          </a:p>
        </p:txBody>
      </p:sp>
      <p:sp>
        <p:nvSpPr>
          <p:cNvPr id="54" name="Text 51"/>
          <p:cNvSpPr/>
          <p:nvPr/>
        </p:nvSpPr>
        <p:spPr>
          <a:xfrm>
            <a:off x="8759952" y="5742432"/>
            <a:ext cx="8229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Count</a:t>
            </a:r>
            <a:endParaRPr lang="en-US" sz="1000" dirty="0"/>
          </a:p>
        </p:txBody>
      </p:sp>
      <p:sp>
        <p:nvSpPr>
          <p:cNvPr id="55" name="Shape 52"/>
          <p:cNvSpPr/>
          <p:nvPr/>
        </p:nvSpPr>
        <p:spPr>
          <a:xfrm>
            <a:off x="5760720" y="6016752"/>
            <a:ext cx="2926080" cy="292608"/>
          </a:xfrm>
          <a:prstGeom prst="rect">
            <a:avLst/>
          </a:prstGeom>
          <a:solidFill>
            <a:srgbClr val="1A2545"/>
          </a:solidFill>
          <a:ln w="12700">
            <a:solidFill>
              <a:srgbClr val="141E36"/>
            </a:solidFill>
            <a:prstDash val="solid"/>
          </a:ln>
        </p:spPr>
      </p:sp>
      <p:sp>
        <p:nvSpPr>
          <p:cNvPr id="56" name="Shape 53"/>
          <p:cNvSpPr/>
          <p:nvPr/>
        </p:nvSpPr>
        <p:spPr>
          <a:xfrm>
            <a:off x="8723376" y="6016752"/>
            <a:ext cx="914400" cy="292608"/>
          </a:xfrm>
          <a:prstGeom prst="rect">
            <a:avLst/>
          </a:prstGeom>
          <a:solidFill>
            <a:srgbClr val="1A2545"/>
          </a:solidFill>
          <a:ln w="12700">
            <a:solidFill>
              <a:srgbClr val="141E36"/>
            </a:solidFill>
            <a:prstDash val="solid"/>
          </a:ln>
        </p:spPr>
      </p:sp>
      <p:sp>
        <p:nvSpPr>
          <p:cNvPr id="57" name="Text 54"/>
          <p:cNvSpPr/>
          <p:nvPr/>
        </p:nvSpPr>
        <p:spPr>
          <a:xfrm>
            <a:off x="5815584" y="6053328"/>
            <a:ext cx="2834640" cy="21945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Male</a:t>
            </a:r>
            <a:endParaRPr lang="en-US" sz="1000" dirty="0"/>
          </a:p>
        </p:txBody>
      </p:sp>
      <p:sp>
        <p:nvSpPr>
          <p:cNvPr id="58" name="Text 55"/>
          <p:cNvSpPr/>
          <p:nvPr/>
        </p:nvSpPr>
        <p:spPr>
          <a:xfrm>
            <a:off x="8759952" y="6053328"/>
            <a:ext cx="822960" cy="21945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3</a:t>
            </a:r>
            <a:endParaRPr lang="en-US" sz="1000" dirty="0"/>
          </a:p>
        </p:txBody>
      </p:sp>
      <p:sp>
        <p:nvSpPr>
          <p:cNvPr id="59" name="Shape 56"/>
          <p:cNvSpPr/>
          <p:nvPr/>
        </p:nvSpPr>
        <p:spPr>
          <a:xfrm>
            <a:off x="5760720" y="6327648"/>
            <a:ext cx="2926080" cy="292608"/>
          </a:xfrm>
          <a:prstGeom prst="rect">
            <a:avLst/>
          </a:prstGeom>
          <a:solidFill>
            <a:srgbClr val="1A2545"/>
          </a:solidFill>
          <a:ln w="12700">
            <a:solidFill>
              <a:srgbClr val="141E36"/>
            </a:solidFill>
            <a:prstDash val="solid"/>
          </a:ln>
        </p:spPr>
      </p:sp>
      <p:sp>
        <p:nvSpPr>
          <p:cNvPr id="60" name="Shape 57"/>
          <p:cNvSpPr/>
          <p:nvPr/>
        </p:nvSpPr>
        <p:spPr>
          <a:xfrm>
            <a:off x="8723376" y="6327648"/>
            <a:ext cx="914400" cy="292608"/>
          </a:xfrm>
          <a:prstGeom prst="rect">
            <a:avLst/>
          </a:prstGeom>
          <a:solidFill>
            <a:srgbClr val="1A2545"/>
          </a:solidFill>
          <a:ln w="12700">
            <a:solidFill>
              <a:srgbClr val="141E36"/>
            </a:solidFill>
            <a:prstDash val="solid"/>
          </a:ln>
        </p:spPr>
      </p:sp>
      <p:sp>
        <p:nvSpPr>
          <p:cNvPr id="61" name="Text 58"/>
          <p:cNvSpPr/>
          <p:nvPr/>
        </p:nvSpPr>
        <p:spPr>
          <a:xfrm>
            <a:off x="5815584" y="6364224"/>
            <a:ext cx="2834640" cy="21945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Female</a:t>
            </a:r>
            <a:endParaRPr lang="en-US" sz="1000" dirty="0"/>
          </a:p>
        </p:txBody>
      </p:sp>
      <p:sp>
        <p:nvSpPr>
          <p:cNvPr id="62" name="Text 59"/>
          <p:cNvSpPr/>
          <p:nvPr/>
        </p:nvSpPr>
        <p:spPr>
          <a:xfrm>
            <a:off x="8759952" y="6364224"/>
            <a:ext cx="822960" cy="21945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13. BUBBLE CHART - Three Variables in One View</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303520" cy="4114800"/>
          </a:xfrm>
          <a:prstGeom prst="rect">
            <a:avLst/>
          </a:prstGeom>
        </p:spPr>
      </p:pic>
      <p:sp>
        <p:nvSpPr>
          <p:cNvPr id="5" name="Shape 2"/>
          <p:cNvSpPr/>
          <p:nvPr/>
        </p:nvSpPr>
        <p:spPr>
          <a:xfrm>
            <a:off x="411480" y="5212080"/>
            <a:ext cx="5303520" cy="1508760"/>
          </a:xfrm>
          <a:prstGeom prst="roundRect">
            <a:avLst>
              <a:gd name="adj" fmla="val 6061"/>
            </a:avLst>
          </a:prstGeom>
          <a:solidFill>
            <a:srgbClr val="0F1D3C"/>
          </a:solidFill>
          <a:ln w="15240">
            <a:solidFill>
              <a:srgbClr val="F97316"/>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321808"/>
            <a:ext cx="5047488" cy="292608"/>
          </a:xfrm>
          <a:prstGeom prst="rect">
            <a:avLst/>
          </a:prstGeom>
          <a:noFill/>
          <a:ln/>
        </p:spPr>
        <p:txBody>
          <a:bodyPr wrap="square" lIns="0" tIns="0" rIns="0" bIns="0" rtlCol="0" anchor="ctr"/>
          <a:lstStyle/>
          <a:p>
            <a:pPr indent="0" marL="0">
              <a:buNone/>
            </a:pPr>
            <a:r>
              <a:rPr lang="en-US" sz="1100" b="1" dirty="0">
                <a:solidFill>
                  <a:srgbClr val="F97316"/>
                </a:solidFill>
                <a:latin typeface="Cambria" pitchFamily="34" charset="0"/>
                <a:ea typeface="Cambria" pitchFamily="34" charset="-122"/>
                <a:cs typeface="Cambria" pitchFamily="34" charset="-120"/>
              </a:rPr>
              <a:t>Bubble Chart</a:t>
            </a:r>
            <a:endParaRPr lang="en-US" sz="1100" dirty="0"/>
          </a:p>
        </p:txBody>
      </p:sp>
      <p:sp>
        <p:nvSpPr>
          <p:cNvPr id="7" name="Text 4"/>
          <p:cNvSpPr/>
          <p:nvPr/>
        </p:nvSpPr>
        <p:spPr>
          <a:xfrm>
            <a:off x="539496" y="5650992"/>
            <a:ext cx="504748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5980176"/>
            <a:ext cx="164592" cy="164592"/>
          </a:xfrm>
          <a:prstGeom prst="ellipse">
            <a:avLst/>
          </a:prstGeom>
          <a:solidFill>
            <a:srgbClr val="F97316"/>
          </a:solidFill>
          <a:ln w="12700">
            <a:solidFill>
              <a:srgbClr val="F97316"/>
            </a:solidFill>
            <a:prstDash val="solid"/>
          </a:ln>
        </p:spPr>
      </p:sp>
      <p:sp>
        <p:nvSpPr>
          <p:cNvPr id="9" name="Text 6"/>
          <p:cNvSpPr/>
          <p:nvPr/>
        </p:nvSpPr>
        <p:spPr>
          <a:xfrm>
            <a:off x="758952" y="5907024"/>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3-variable relationship on one chart</a:t>
            </a:r>
            <a:endParaRPr lang="en-US" sz="950" dirty="0"/>
          </a:p>
        </p:txBody>
      </p:sp>
      <p:sp>
        <p:nvSpPr>
          <p:cNvPr id="10" name="Shape 7"/>
          <p:cNvSpPr/>
          <p:nvPr/>
        </p:nvSpPr>
        <p:spPr>
          <a:xfrm>
            <a:off x="539496" y="6309360"/>
            <a:ext cx="164592" cy="164592"/>
          </a:xfrm>
          <a:prstGeom prst="ellipse">
            <a:avLst/>
          </a:prstGeom>
          <a:solidFill>
            <a:srgbClr val="F97316"/>
          </a:solidFill>
          <a:ln w="12700">
            <a:solidFill>
              <a:srgbClr val="F97316"/>
            </a:solidFill>
            <a:prstDash val="solid"/>
          </a:ln>
        </p:spPr>
      </p:sp>
      <p:sp>
        <p:nvSpPr>
          <p:cNvPr id="11" name="Text 8"/>
          <p:cNvSpPr/>
          <p:nvPr/>
        </p:nvSpPr>
        <p:spPr>
          <a:xfrm>
            <a:off x="758952" y="6236208"/>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Show size as a third dimension</a:t>
            </a:r>
            <a:endParaRPr lang="en-US" sz="950" dirty="0"/>
          </a:p>
        </p:txBody>
      </p:sp>
      <p:sp>
        <p:nvSpPr>
          <p:cNvPr id="12" name="Shape 9"/>
          <p:cNvSpPr/>
          <p:nvPr/>
        </p:nvSpPr>
        <p:spPr>
          <a:xfrm>
            <a:off x="539496" y="6638544"/>
            <a:ext cx="164592" cy="164592"/>
          </a:xfrm>
          <a:prstGeom prst="ellipse">
            <a:avLst/>
          </a:prstGeom>
          <a:solidFill>
            <a:srgbClr val="F97316"/>
          </a:solidFill>
          <a:ln w="12700">
            <a:solidFill>
              <a:srgbClr val="F97316"/>
            </a:solidFill>
            <a:prstDash val="solid"/>
          </a:ln>
        </p:spPr>
      </p:sp>
      <p:sp>
        <p:nvSpPr>
          <p:cNvPr id="13" name="Text 10"/>
          <p:cNvSpPr/>
          <p:nvPr/>
        </p:nvSpPr>
        <p:spPr>
          <a:xfrm>
            <a:off x="758952" y="6565392"/>
            <a:ext cx="482803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Extend scatter plot with magnitude info</a:t>
            </a:r>
            <a:endParaRPr lang="en-US" sz="950" dirty="0"/>
          </a:p>
        </p:txBody>
      </p:sp>
      <p:sp>
        <p:nvSpPr>
          <p:cNvPr id="14" name="Text 11"/>
          <p:cNvSpPr/>
          <p:nvPr/>
        </p:nvSpPr>
        <p:spPr>
          <a:xfrm>
            <a:off x="539496" y="6949440"/>
            <a:ext cx="5047488" cy="237744"/>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205472"/>
            <a:ext cx="5047488" cy="274320"/>
          </a:xfrm>
          <a:prstGeom prst="roundRect">
            <a:avLst>
              <a:gd name="adj" fmla="val 13333"/>
            </a:avLst>
          </a:prstGeom>
          <a:solidFill>
            <a:srgbClr val="F97316"/>
          </a:solidFill>
          <a:ln w="12700">
            <a:solidFill>
              <a:srgbClr val="F97316"/>
            </a:solidFill>
            <a:prstDash val="solid"/>
          </a:ln>
        </p:spPr>
      </p:sp>
      <p:sp>
        <p:nvSpPr>
          <p:cNvPr id="16" name="Text 13"/>
          <p:cNvSpPr/>
          <p:nvPr/>
        </p:nvSpPr>
        <p:spPr>
          <a:xfrm>
            <a:off x="594360" y="7223760"/>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GDP vs Population vs Life Expectancy</a:t>
            </a:r>
            <a:endParaRPr lang="en-US" sz="950" dirty="0"/>
          </a:p>
        </p:txBody>
      </p:sp>
      <p:sp>
        <p:nvSpPr>
          <p:cNvPr id="17" name="Shape 14"/>
          <p:cNvSpPr/>
          <p:nvPr/>
        </p:nvSpPr>
        <p:spPr>
          <a:xfrm>
            <a:off x="539496" y="7534656"/>
            <a:ext cx="5047488" cy="274320"/>
          </a:xfrm>
          <a:prstGeom prst="roundRect">
            <a:avLst>
              <a:gd name="adj" fmla="val 13333"/>
            </a:avLst>
          </a:prstGeom>
          <a:solidFill>
            <a:srgbClr val="F97316"/>
          </a:solidFill>
          <a:ln w="12700">
            <a:solidFill>
              <a:srgbClr val="F97316"/>
            </a:solidFill>
            <a:prstDash val="solid"/>
          </a:ln>
        </p:spPr>
      </p:sp>
      <p:sp>
        <p:nvSpPr>
          <p:cNvPr id="18" name="Text 15"/>
          <p:cNvSpPr/>
          <p:nvPr/>
        </p:nvSpPr>
        <p:spPr>
          <a:xfrm>
            <a:off x="594360" y="7552944"/>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Hours vs Scores vs Number of Practice Tests</a:t>
            </a:r>
            <a:endParaRPr lang="en-US" sz="950" dirty="0"/>
          </a:p>
        </p:txBody>
      </p:sp>
      <p:sp>
        <p:nvSpPr>
          <p:cNvPr id="19" name="Shape 16"/>
          <p:cNvSpPr/>
          <p:nvPr/>
        </p:nvSpPr>
        <p:spPr>
          <a:xfrm>
            <a:off x="539496" y="7863840"/>
            <a:ext cx="5047488" cy="274320"/>
          </a:xfrm>
          <a:prstGeom prst="roundRect">
            <a:avLst>
              <a:gd name="adj" fmla="val 13333"/>
            </a:avLst>
          </a:prstGeom>
          <a:solidFill>
            <a:srgbClr val="F97316"/>
          </a:solidFill>
          <a:ln w="12700">
            <a:solidFill>
              <a:srgbClr val="F97316"/>
            </a:solidFill>
            <a:prstDash val="solid"/>
          </a:ln>
        </p:spPr>
      </p:sp>
      <p:sp>
        <p:nvSpPr>
          <p:cNvPr id="20" name="Text 17"/>
          <p:cNvSpPr/>
          <p:nvPr/>
        </p:nvSpPr>
        <p:spPr>
          <a:xfrm>
            <a:off x="594360" y="7882128"/>
            <a:ext cx="4937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 spend vs Clicks vs Conversion Rate</a:t>
            </a:r>
            <a:endParaRPr lang="en-US" sz="950" dirty="0"/>
          </a:p>
        </p:txBody>
      </p:sp>
      <p:sp>
        <p:nvSpPr>
          <p:cNvPr id="21" name="Shape 18"/>
          <p:cNvSpPr/>
          <p:nvPr/>
        </p:nvSpPr>
        <p:spPr>
          <a:xfrm>
            <a:off x="5943600" y="1024128"/>
            <a:ext cx="5989320" cy="2340864"/>
          </a:xfrm>
          <a:prstGeom prst="roundRect">
            <a:avLst>
              <a:gd name="adj" fmla="val 3906"/>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5943600" y="1024128"/>
            <a:ext cx="598932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5943600" y="1207008"/>
            <a:ext cx="5989320" cy="146304"/>
          </a:xfrm>
          <a:prstGeom prst="rect">
            <a:avLst/>
          </a:prstGeom>
          <a:solidFill>
            <a:srgbClr val="141E36"/>
          </a:solidFill>
          <a:ln w="12700">
            <a:solidFill>
              <a:srgbClr val="141E36"/>
            </a:solidFill>
            <a:prstDash val="solid"/>
          </a:ln>
        </p:spPr>
      </p:sp>
      <p:sp>
        <p:nvSpPr>
          <p:cNvPr id="24" name="Shape 21"/>
          <p:cNvSpPr/>
          <p:nvPr/>
        </p:nvSpPr>
        <p:spPr>
          <a:xfrm>
            <a:off x="607161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627278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647395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6675120" y="1078992"/>
            <a:ext cx="50749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bubble_chart.py</a:t>
            </a:r>
            <a:endParaRPr lang="en-US" sz="900" dirty="0"/>
          </a:p>
        </p:txBody>
      </p:sp>
      <p:sp>
        <p:nvSpPr>
          <p:cNvPr id="28" name="Text 25"/>
          <p:cNvSpPr/>
          <p:nvPr/>
        </p:nvSpPr>
        <p:spPr>
          <a:xfrm>
            <a:off x="6089904" y="1408176"/>
            <a:ext cx="5715000" cy="1847088"/>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hours  = [1, 2, 3, 4, 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scores = [50, 55, 65, 70, 80]</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plt.scatter(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hours,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scores,</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s=[50, 100, 200, 300, 400]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9" name="Shape 26"/>
          <p:cNvSpPr/>
          <p:nvPr/>
        </p:nvSpPr>
        <p:spPr>
          <a:xfrm>
            <a:off x="5943600" y="3438144"/>
            <a:ext cx="5989320" cy="539496"/>
          </a:xfrm>
          <a:prstGeom prst="rect">
            <a:avLst/>
          </a:prstGeom>
          <a:solidFill>
            <a:srgbClr val="F97316"/>
          </a:solidFill>
          <a:ln w="3810">
            <a:solidFill>
              <a:srgbClr val="141E36"/>
            </a:solidFill>
            <a:prstDash val="solid"/>
          </a:ln>
        </p:spPr>
      </p:sp>
      <p:sp>
        <p:nvSpPr>
          <p:cNvPr id="30" name="Text 27"/>
          <p:cNvSpPr/>
          <p:nvPr/>
        </p:nvSpPr>
        <p:spPr>
          <a:xfrm>
            <a:off x="6035040" y="3493008"/>
            <a:ext cx="2184502" cy="44805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274406" y="3493008"/>
            <a:ext cx="3567074" cy="44805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219542" y="3438144"/>
            <a:ext cx="18288" cy="539496"/>
          </a:xfrm>
          <a:prstGeom prst="rect">
            <a:avLst/>
          </a:prstGeom>
          <a:solidFill>
            <a:srgbClr val="FFFFFF"/>
          </a:solidFill>
          <a:ln w="12700">
            <a:solidFill>
              <a:srgbClr val="FFFFFF"/>
            </a:solidFill>
            <a:prstDash val="solid"/>
          </a:ln>
        </p:spPr>
      </p:sp>
      <p:sp>
        <p:nvSpPr>
          <p:cNvPr id="33" name="Shape 30"/>
          <p:cNvSpPr/>
          <p:nvPr/>
        </p:nvSpPr>
        <p:spPr>
          <a:xfrm>
            <a:off x="5943600" y="3977640"/>
            <a:ext cx="5989320" cy="539496"/>
          </a:xfrm>
          <a:prstGeom prst="rect">
            <a:avLst/>
          </a:prstGeom>
          <a:solidFill>
            <a:srgbClr val="141E36"/>
          </a:solidFill>
          <a:ln w="3810">
            <a:solidFill>
              <a:srgbClr val="141E36"/>
            </a:solidFill>
            <a:prstDash val="solid"/>
          </a:ln>
        </p:spPr>
      </p:sp>
      <p:sp>
        <p:nvSpPr>
          <p:cNvPr id="34" name="Text 31"/>
          <p:cNvSpPr/>
          <p:nvPr/>
        </p:nvSpPr>
        <p:spPr>
          <a:xfrm>
            <a:off x="6035040" y="4014216"/>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hours = [1, 2, 3, 4, 5]</a:t>
            </a:r>
            <a:endParaRPr lang="en-US" sz="900" dirty="0"/>
          </a:p>
        </p:txBody>
      </p:sp>
      <p:sp>
        <p:nvSpPr>
          <p:cNvPr id="35" name="Text 32"/>
          <p:cNvSpPr/>
          <p:nvPr/>
        </p:nvSpPr>
        <p:spPr>
          <a:xfrm>
            <a:off x="8274406" y="4014216"/>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X-axis values - first variable.</a:t>
            </a:r>
            <a:endParaRPr lang="en-US" sz="950" dirty="0"/>
          </a:p>
        </p:txBody>
      </p:sp>
      <p:sp>
        <p:nvSpPr>
          <p:cNvPr id="36" name="Shape 33"/>
          <p:cNvSpPr/>
          <p:nvPr/>
        </p:nvSpPr>
        <p:spPr>
          <a:xfrm>
            <a:off x="8219542" y="3977640"/>
            <a:ext cx="18288" cy="539496"/>
          </a:xfrm>
          <a:prstGeom prst="rect">
            <a:avLst/>
          </a:prstGeom>
          <a:solidFill>
            <a:srgbClr val="1E293B"/>
          </a:solidFill>
          <a:ln w="12700">
            <a:solidFill>
              <a:srgbClr val="1E293B"/>
            </a:solidFill>
            <a:prstDash val="solid"/>
          </a:ln>
        </p:spPr>
      </p:sp>
      <p:sp>
        <p:nvSpPr>
          <p:cNvPr id="37" name="Shape 34"/>
          <p:cNvSpPr/>
          <p:nvPr/>
        </p:nvSpPr>
        <p:spPr>
          <a:xfrm>
            <a:off x="5943600" y="4517136"/>
            <a:ext cx="5989320" cy="539496"/>
          </a:xfrm>
          <a:prstGeom prst="rect">
            <a:avLst/>
          </a:prstGeom>
          <a:solidFill>
            <a:srgbClr val="0F1D3C"/>
          </a:solidFill>
          <a:ln w="3810">
            <a:solidFill>
              <a:srgbClr val="141E36"/>
            </a:solidFill>
            <a:prstDash val="solid"/>
          </a:ln>
        </p:spPr>
      </p:sp>
      <p:sp>
        <p:nvSpPr>
          <p:cNvPr id="38" name="Text 35"/>
          <p:cNvSpPr/>
          <p:nvPr/>
        </p:nvSpPr>
        <p:spPr>
          <a:xfrm>
            <a:off x="6035040" y="4553712"/>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scores = [50, 55, 65, 70, 80]</a:t>
            </a:r>
            <a:endParaRPr lang="en-US" sz="900" dirty="0"/>
          </a:p>
        </p:txBody>
      </p:sp>
      <p:sp>
        <p:nvSpPr>
          <p:cNvPr id="39" name="Text 36"/>
          <p:cNvSpPr/>
          <p:nvPr/>
        </p:nvSpPr>
        <p:spPr>
          <a:xfrm>
            <a:off x="8274406" y="4553712"/>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Y-axis values - second variable.</a:t>
            </a:r>
            <a:endParaRPr lang="en-US" sz="950" dirty="0"/>
          </a:p>
        </p:txBody>
      </p:sp>
      <p:sp>
        <p:nvSpPr>
          <p:cNvPr id="40" name="Shape 37"/>
          <p:cNvSpPr/>
          <p:nvPr/>
        </p:nvSpPr>
        <p:spPr>
          <a:xfrm>
            <a:off x="8219542" y="4517136"/>
            <a:ext cx="18288" cy="539496"/>
          </a:xfrm>
          <a:prstGeom prst="rect">
            <a:avLst/>
          </a:prstGeom>
          <a:solidFill>
            <a:srgbClr val="1E293B"/>
          </a:solidFill>
          <a:ln w="12700">
            <a:solidFill>
              <a:srgbClr val="1E293B"/>
            </a:solidFill>
            <a:prstDash val="solid"/>
          </a:ln>
        </p:spPr>
      </p:sp>
      <p:sp>
        <p:nvSpPr>
          <p:cNvPr id="41" name="Shape 38"/>
          <p:cNvSpPr/>
          <p:nvPr/>
        </p:nvSpPr>
        <p:spPr>
          <a:xfrm>
            <a:off x="5943600" y="5056632"/>
            <a:ext cx="5989320" cy="539496"/>
          </a:xfrm>
          <a:prstGeom prst="rect">
            <a:avLst/>
          </a:prstGeom>
          <a:solidFill>
            <a:srgbClr val="141E36"/>
          </a:solidFill>
          <a:ln w="3810">
            <a:solidFill>
              <a:srgbClr val="141E36"/>
            </a:solidFill>
            <a:prstDash val="solid"/>
          </a:ln>
        </p:spPr>
      </p:sp>
      <p:sp>
        <p:nvSpPr>
          <p:cNvPr id="42" name="Text 39"/>
          <p:cNvSpPr/>
          <p:nvPr/>
        </p:nvSpPr>
        <p:spPr>
          <a:xfrm>
            <a:off x="6035040" y="5093208"/>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s=[50, 100, 200, 300, 400]</a:t>
            </a:r>
            <a:endParaRPr lang="en-US" sz="900" dirty="0"/>
          </a:p>
        </p:txBody>
      </p:sp>
      <p:sp>
        <p:nvSpPr>
          <p:cNvPr id="43" name="Text 40"/>
          <p:cNvSpPr/>
          <p:nvPr/>
        </p:nvSpPr>
        <p:spPr>
          <a:xfrm>
            <a:off x="8274406" y="5093208"/>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SIZE of each bubble - the third variable. Larger s value = larger circle. This is what makes it a bubble chart instead of a regular scatter plot.</a:t>
            </a:r>
            <a:endParaRPr lang="en-US" sz="950" dirty="0"/>
          </a:p>
        </p:txBody>
      </p:sp>
      <p:sp>
        <p:nvSpPr>
          <p:cNvPr id="44" name="Shape 41"/>
          <p:cNvSpPr/>
          <p:nvPr/>
        </p:nvSpPr>
        <p:spPr>
          <a:xfrm>
            <a:off x="8219542" y="5056632"/>
            <a:ext cx="18288" cy="539496"/>
          </a:xfrm>
          <a:prstGeom prst="rect">
            <a:avLst/>
          </a:prstGeom>
          <a:solidFill>
            <a:srgbClr val="1E293B"/>
          </a:solidFill>
          <a:ln w="12700">
            <a:solidFill>
              <a:srgbClr val="1E293B"/>
            </a:solidFill>
            <a:prstDash val="solid"/>
          </a:ln>
        </p:spPr>
      </p:sp>
      <p:sp>
        <p:nvSpPr>
          <p:cNvPr id="45" name="Shape 42"/>
          <p:cNvSpPr/>
          <p:nvPr/>
        </p:nvSpPr>
        <p:spPr>
          <a:xfrm>
            <a:off x="5943600" y="5596128"/>
            <a:ext cx="5989320" cy="539496"/>
          </a:xfrm>
          <a:prstGeom prst="rect">
            <a:avLst/>
          </a:prstGeom>
          <a:solidFill>
            <a:srgbClr val="0F1D3C"/>
          </a:solidFill>
          <a:ln w="3810">
            <a:solidFill>
              <a:srgbClr val="141E36"/>
            </a:solidFill>
            <a:prstDash val="solid"/>
          </a:ln>
        </p:spPr>
      </p:sp>
      <p:sp>
        <p:nvSpPr>
          <p:cNvPr id="46" name="Text 43"/>
          <p:cNvSpPr/>
          <p:nvPr/>
        </p:nvSpPr>
        <p:spPr>
          <a:xfrm>
            <a:off x="6035040" y="5632704"/>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plt.scatter(..., s=[...])</a:t>
            </a:r>
            <a:endParaRPr lang="en-US" sz="900" dirty="0"/>
          </a:p>
        </p:txBody>
      </p:sp>
      <p:sp>
        <p:nvSpPr>
          <p:cNvPr id="47" name="Text 44"/>
          <p:cNvSpPr/>
          <p:nvPr/>
        </p:nvSpPr>
        <p:spPr>
          <a:xfrm>
            <a:off x="8274406" y="5632704"/>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 bubble chart IS a scatter plot. The only difference is passing s= with different values per point so bubbles have different sizes.</a:t>
            </a:r>
            <a:endParaRPr lang="en-US" sz="950" dirty="0"/>
          </a:p>
        </p:txBody>
      </p:sp>
      <p:sp>
        <p:nvSpPr>
          <p:cNvPr id="48" name="Shape 45"/>
          <p:cNvSpPr/>
          <p:nvPr/>
        </p:nvSpPr>
        <p:spPr>
          <a:xfrm>
            <a:off x="8219542" y="5596128"/>
            <a:ext cx="18288" cy="539496"/>
          </a:xfrm>
          <a:prstGeom prst="rect">
            <a:avLst/>
          </a:prstGeom>
          <a:solidFill>
            <a:srgbClr val="1E293B"/>
          </a:solidFill>
          <a:ln w="12700">
            <a:solidFill>
              <a:srgbClr val="1E293B"/>
            </a:solidFill>
            <a:prstDash val="solid"/>
          </a:ln>
        </p:spPr>
      </p:sp>
      <p:sp>
        <p:nvSpPr>
          <p:cNvPr id="49" name="Shape 46"/>
          <p:cNvSpPr/>
          <p:nvPr/>
        </p:nvSpPr>
        <p:spPr>
          <a:xfrm>
            <a:off x="5943600" y="6135624"/>
            <a:ext cx="5989320" cy="539496"/>
          </a:xfrm>
          <a:prstGeom prst="rect">
            <a:avLst/>
          </a:prstGeom>
          <a:solidFill>
            <a:srgbClr val="141E36"/>
          </a:solidFill>
          <a:ln w="3810">
            <a:solidFill>
              <a:srgbClr val="141E36"/>
            </a:solidFill>
            <a:prstDash val="solid"/>
          </a:ln>
        </p:spPr>
      </p:sp>
      <p:sp>
        <p:nvSpPr>
          <p:cNvPr id="50" name="Text 47"/>
          <p:cNvSpPr/>
          <p:nvPr/>
        </p:nvSpPr>
        <p:spPr>
          <a:xfrm>
            <a:off x="6035040" y="6172200"/>
            <a:ext cx="2184502" cy="46634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plt.show()</a:t>
            </a:r>
            <a:endParaRPr lang="en-US" sz="900" dirty="0"/>
          </a:p>
        </p:txBody>
      </p:sp>
      <p:sp>
        <p:nvSpPr>
          <p:cNvPr id="51" name="Text 48"/>
          <p:cNvSpPr/>
          <p:nvPr/>
        </p:nvSpPr>
        <p:spPr>
          <a:xfrm>
            <a:off x="8274406" y="6172200"/>
            <a:ext cx="3567074" cy="46634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Displays the chart.</a:t>
            </a:r>
            <a:endParaRPr lang="en-US" sz="950" dirty="0"/>
          </a:p>
        </p:txBody>
      </p:sp>
      <p:sp>
        <p:nvSpPr>
          <p:cNvPr id="52" name="Shape 49"/>
          <p:cNvSpPr/>
          <p:nvPr/>
        </p:nvSpPr>
        <p:spPr>
          <a:xfrm>
            <a:off x="8219542" y="6135624"/>
            <a:ext cx="18288" cy="539496"/>
          </a:xfrm>
          <a:prstGeom prst="rect">
            <a:avLst/>
          </a:prstGeom>
          <a:solidFill>
            <a:srgbClr val="1E293B"/>
          </a:solidFill>
          <a:ln w="12700">
            <a:solidFill>
              <a:srgbClr val="1E293B"/>
            </a:solidFill>
            <a:prstDash val="solid"/>
          </a:ln>
        </p:spPr>
      </p:sp>
      <p:sp>
        <p:nvSpPr>
          <p:cNvPr id="53" name="Shape 50"/>
          <p:cNvSpPr/>
          <p:nvPr/>
        </p:nvSpPr>
        <p:spPr>
          <a:xfrm>
            <a:off x="5943600" y="6053328"/>
            <a:ext cx="5989320" cy="658368"/>
          </a:xfrm>
          <a:prstGeom prst="roundRect">
            <a:avLst>
              <a:gd name="adj" fmla="val 13889"/>
            </a:avLst>
          </a:prstGeom>
          <a:solidFill>
            <a:srgbClr val="FFF7ED"/>
          </a:solidFill>
          <a:ln w="12700">
            <a:solidFill>
              <a:srgbClr val="F97316"/>
            </a:solidFill>
            <a:prstDash val="solid"/>
          </a:ln>
          <a:effectLst>
            <a:outerShdw sx="100000" sy="100000" kx="0" ky="0" algn="bl" rotWithShape="0" blurRad="63500" dist="25400" dir="2700000">
              <a:srgbClr val="000000">
                <a:alpha val="12000"/>
              </a:srgbClr>
            </a:outerShdw>
          </a:effectLst>
        </p:spPr>
      </p:sp>
      <p:sp>
        <p:nvSpPr>
          <p:cNvPr id="54" name="Text 51"/>
          <p:cNvSpPr/>
          <p:nvPr/>
        </p:nvSpPr>
        <p:spPr>
          <a:xfrm>
            <a:off x="6080760" y="6108192"/>
            <a:ext cx="5760720" cy="237744"/>
          </a:xfrm>
          <a:prstGeom prst="rect">
            <a:avLst/>
          </a:prstGeom>
          <a:noFill/>
          <a:ln/>
        </p:spPr>
        <p:txBody>
          <a:bodyPr wrap="square" lIns="0" tIns="0" rIns="0" bIns="0" rtlCol="0" anchor="ctr"/>
          <a:lstStyle/>
          <a:p>
            <a:pPr indent="0" marL="0">
              <a:buNone/>
            </a:pPr>
            <a:r>
              <a:rPr lang="en-US" sz="1000" b="1" dirty="0">
                <a:solidFill>
                  <a:srgbClr val="F97316"/>
                </a:solidFill>
                <a:latin typeface="Cambria" pitchFamily="34" charset="0"/>
                <a:ea typeface="Cambria" pitchFamily="34" charset="-122"/>
                <a:cs typeface="Cambria" pitchFamily="34" charset="-120"/>
              </a:rPr>
              <a:t>The s parameter meaning</a:t>
            </a:r>
            <a:endParaRPr lang="en-US" sz="1000" dirty="0"/>
          </a:p>
        </p:txBody>
      </p:sp>
      <p:sp>
        <p:nvSpPr>
          <p:cNvPr id="55" name="Text 52"/>
          <p:cNvSpPr/>
          <p:nvPr/>
        </p:nvSpPr>
        <p:spPr>
          <a:xfrm>
            <a:off x="6080760" y="6345936"/>
            <a:ext cx="5760720" cy="310896"/>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 usually represents a third variable. Example: Hours studied (x) vs Scores (y) vs Number of practice tests taken (s). Bigger bubble = more practice tests.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14. INTERACTIVE CHARTS WITH PLOTLY</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943600" cy="4389120"/>
          </a:xfrm>
          <a:prstGeom prst="rect">
            <a:avLst/>
          </a:prstGeom>
        </p:spPr>
      </p:pic>
      <p:sp>
        <p:nvSpPr>
          <p:cNvPr id="5" name="Shape 2"/>
          <p:cNvSpPr/>
          <p:nvPr/>
        </p:nvSpPr>
        <p:spPr>
          <a:xfrm>
            <a:off x="411480" y="5486400"/>
            <a:ext cx="5943600" cy="1234440"/>
          </a:xfrm>
          <a:prstGeom prst="roundRect">
            <a:avLst>
              <a:gd name="adj" fmla="val 7407"/>
            </a:avLst>
          </a:prstGeom>
          <a:solidFill>
            <a:srgbClr val="0F1D3C"/>
          </a:solidFill>
          <a:ln w="15240">
            <a:solidFill>
              <a:srgbClr val="3B82F6"/>
            </a:solidFill>
            <a:prstDash val="solid"/>
          </a:ln>
          <a:effectLst>
            <a:outerShdw sx="100000" sy="100000" kx="0" ky="0" algn="bl" rotWithShape="0" blurRad="63500" dist="25400" dir="2700000">
              <a:srgbClr val="000000">
                <a:alpha val="12000"/>
              </a:srgbClr>
            </a:outerShdw>
          </a:effectLst>
        </p:spPr>
      </p:sp>
      <p:sp>
        <p:nvSpPr>
          <p:cNvPr id="6" name="Text 3"/>
          <p:cNvSpPr/>
          <p:nvPr/>
        </p:nvSpPr>
        <p:spPr>
          <a:xfrm>
            <a:off x="539496" y="5596128"/>
            <a:ext cx="5687568" cy="292608"/>
          </a:xfrm>
          <a:prstGeom prst="rect">
            <a:avLst/>
          </a:prstGeom>
          <a:noFill/>
          <a:ln/>
        </p:spPr>
        <p:txBody>
          <a:bodyPr wrap="square" lIns="0" tIns="0" rIns="0" bIns="0" rtlCol="0" anchor="ctr"/>
          <a:lstStyle/>
          <a:p>
            <a:pPr indent="0" marL="0">
              <a:buNone/>
            </a:pPr>
            <a:r>
              <a:rPr lang="en-US" sz="1100" b="1" dirty="0">
                <a:solidFill>
                  <a:srgbClr val="3B82F6"/>
                </a:solidFill>
                <a:latin typeface="Cambria" pitchFamily="34" charset="0"/>
                <a:ea typeface="Cambria" pitchFamily="34" charset="-122"/>
                <a:cs typeface="Cambria" pitchFamily="34" charset="-120"/>
              </a:rPr>
              <a:t>Plotly Interactive Charts</a:t>
            </a:r>
            <a:endParaRPr lang="en-US" sz="1100" dirty="0"/>
          </a:p>
        </p:txBody>
      </p:sp>
      <p:sp>
        <p:nvSpPr>
          <p:cNvPr id="7" name="Text 4"/>
          <p:cNvSpPr/>
          <p:nvPr/>
        </p:nvSpPr>
        <p:spPr>
          <a:xfrm>
            <a:off x="539496" y="5925312"/>
            <a:ext cx="5687568"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p>
        </p:txBody>
      </p:sp>
      <p:sp>
        <p:nvSpPr>
          <p:cNvPr id="8" name="Shape 5"/>
          <p:cNvSpPr/>
          <p:nvPr/>
        </p:nvSpPr>
        <p:spPr>
          <a:xfrm>
            <a:off x="539496" y="6254496"/>
            <a:ext cx="164592" cy="164592"/>
          </a:xfrm>
          <a:prstGeom prst="ellipse">
            <a:avLst/>
          </a:prstGeom>
          <a:solidFill>
            <a:srgbClr val="3B82F6"/>
          </a:solidFill>
          <a:ln w="12700">
            <a:solidFill>
              <a:srgbClr val="3B82F6"/>
            </a:solidFill>
            <a:prstDash val="solid"/>
          </a:ln>
        </p:spPr>
      </p:sp>
      <p:sp>
        <p:nvSpPr>
          <p:cNvPr id="9" name="Text 6"/>
          <p:cNvSpPr/>
          <p:nvPr/>
        </p:nvSpPr>
        <p:spPr>
          <a:xfrm>
            <a:off x="758952" y="6181344"/>
            <a:ext cx="54681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Need zoom, pan, and hover tooltips</a:t>
            </a:r>
            <a:endParaRPr lang="en-US" sz="950" dirty="0"/>
          </a:p>
        </p:txBody>
      </p:sp>
      <p:sp>
        <p:nvSpPr>
          <p:cNvPr id="10" name="Shape 7"/>
          <p:cNvSpPr/>
          <p:nvPr/>
        </p:nvSpPr>
        <p:spPr>
          <a:xfrm>
            <a:off x="539496" y="6583680"/>
            <a:ext cx="164592" cy="164592"/>
          </a:xfrm>
          <a:prstGeom prst="ellipse">
            <a:avLst/>
          </a:prstGeom>
          <a:solidFill>
            <a:srgbClr val="3B82F6"/>
          </a:solidFill>
          <a:ln w="12700">
            <a:solidFill>
              <a:srgbClr val="3B82F6"/>
            </a:solidFill>
            <a:prstDash val="solid"/>
          </a:ln>
        </p:spPr>
      </p:sp>
      <p:sp>
        <p:nvSpPr>
          <p:cNvPr id="11" name="Text 8"/>
          <p:cNvSpPr/>
          <p:nvPr/>
        </p:nvSpPr>
        <p:spPr>
          <a:xfrm>
            <a:off x="758952" y="6510528"/>
            <a:ext cx="54681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Presenting to non-technical stakeholders</a:t>
            </a:r>
            <a:endParaRPr lang="en-US" sz="950" dirty="0"/>
          </a:p>
        </p:txBody>
      </p:sp>
      <p:sp>
        <p:nvSpPr>
          <p:cNvPr id="12" name="Shape 9"/>
          <p:cNvSpPr/>
          <p:nvPr/>
        </p:nvSpPr>
        <p:spPr>
          <a:xfrm>
            <a:off x="539496" y="6912864"/>
            <a:ext cx="164592" cy="164592"/>
          </a:xfrm>
          <a:prstGeom prst="ellipse">
            <a:avLst/>
          </a:prstGeom>
          <a:solidFill>
            <a:srgbClr val="3B82F6"/>
          </a:solidFill>
          <a:ln w="12700">
            <a:solidFill>
              <a:srgbClr val="3B82F6"/>
            </a:solidFill>
            <a:prstDash val="solid"/>
          </a:ln>
        </p:spPr>
      </p:sp>
      <p:sp>
        <p:nvSpPr>
          <p:cNvPr id="13" name="Text 10"/>
          <p:cNvSpPr/>
          <p:nvPr/>
        </p:nvSpPr>
        <p:spPr>
          <a:xfrm>
            <a:off x="758952" y="6839712"/>
            <a:ext cx="5468112" cy="29260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Embedding in web dashboards and reports</a:t>
            </a:r>
            <a:endParaRPr lang="en-US" sz="950" dirty="0"/>
          </a:p>
        </p:txBody>
      </p:sp>
      <p:sp>
        <p:nvSpPr>
          <p:cNvPr id="14" name="Text 11"/>
          <p:cNvSpPr/>
          <p:nvPr/>
        </p:nvSpPr>
        <p:spPr>
          <a:xfrm>
            <a:off x="539496" y="7223760"/>
            <a:ext cx="5687568" cy="237744"/>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Real use cases:</a:t>
            </a:r>
            <a:endParaRPr lang="en-US" sz="1000" dirty="0"/>
          </a:p>
        </p:txBody>
      </p:sp>
      <p:sp>
        <p:nvSpPr>
          <p:cNvPr id="15" name="Shape 12"/>
          <p:cNvSpPr/>
          <p:nvPr/>
        </p:nvSpPr>
        <p:spPr>
          <a:xfrm>
            <a:off x="539496" y="7479792"/>
            <a:ext cx="5687568" cy="274320"/>
          </a:xfrm>
          <a:prstGeom prst="roundRect">
            <a:avLst>
              <a:gd name="adj" fmla="val 13333"/>
            </a:avLst>
          </a:prstGeom>
          <a:solidFill>
            <a:srgbClr val="3B82F6"/>
          </a:solidFill>
          <a:ln w="12700">
            <a:solidFill>
              <a:srgbClr val="3B82F6"/>
            </a:solidFill>
            <a:prstDash val="solid"/>
          </a:ln>
        </p:spPr>
      </p:sp>
      <p:sp>
        <p:nvSpPr>
          <p:cNvPr id="16" name="Text 13"/>
          <p:cNvSpPr/>
          <p:nvPr/>
        </p:nvSpPr>
        <p:spPr>
          <a:xfrm>
            <a:off x="594360" y="7498080"/>
            <a:ext cx="55778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Interactive EDA in Jupyter / Colab</a:t>
            </a:r>
            <a:endParaRPr lang="en-US" sz="950" dirty="0"/>
          </a:p>
        </p:txBody>
      </p:sp>
      <p:sp>
        <p:nvSpPr>
          <p:cNvPr id="17" name="Shape 14"/>
          <p:cNvSpPr/>
          <p:nvPr/>
        </p:nvSpPr>
        <p:spPr>
          <a:xfrm>
            <a:off x="539496" y="7808976"/>
            <a:ext cx="5687568" cy="274320"/>
          </a:xfrm>
          <a:prstGeom prst="roundRect">
            <a:avLst>
              <a:gd name="adj" fmla="val 13333"/>
            </a:avLst>
          </a:prstGeom>
          <a:solidFill>
            <a:srgbClr val="3B82F6"/>
          </a:solidFill>
          <a:ln w="12700">
            <a:solidFill>
              <a:srgbClr val="3B82F6"/>
            </a:solidFill>
            <a:prstDash val="solid"/>
          </a:ln>
        </p:spPr>
      </p:sp>
      <p:sp>
        <p:nvSpPr>
          <p:cNvPr id="18" name="Text 15"/>
          <p:cNvSpPr/>
          <p:nvPr/>
        </p:nvSpPr>
        <p:spPr>
          <a:xfrm>
            <a:off x="594360" y="7827264"/>
            <a:ext cx="55778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Sales dashboards with hover data</a:t>
            </a:r>
            <a:endParaRPr lang="en-US" sz="950" dirty="0"/>
          </a:p>
        </p:txBody>
      </p:sp>
      <p:sp>
        <p:nvSpPr>
          <p:cNvPr id="19" name="Shape 16"/>
          <p:cNvSpPr/>
          <p:nvPr/>
        </p:nvSpPr>
        <p:spPr>
          <a:xfrm>
            <a:off x="539496" y="8138160"/>
            <a:ext cx="5687568" cy="274320"/>
          </a:xfrm>
          <a:prstGeom prst="roundRect">
            <a:avLst>
              <a:gd name="adj" fmla="val 13333"/>
            </a:avLst>
          </a:prstGeom>
          <a:solidFill>
            <a:srgbClr val="3B82F6"/>
          </a:solidFill>
          <a:ln w="12700">
            <a:solidFill>
              <a:srgbClr val="3B82F6"/>
            </a:solidFill>
            <a:prstDash val="solid"/>
          </a:ln>
        </p:spPr>
      </p:sp>
      <p:sp>
        <p:nvSpPr>
          <p:cNvPr id="20" name="Text 17"/>
          <p:cNvSpPr/>
          <p:nvPr/>
        </p:nvSpPr>
        <p:spPr>
          <a:xfrm>
            <a:off x="594360" y="8156448"/>
            <a:ext cx="557784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Presenting findings to management</a:t>
            </a:r>
            <a:endParaRPr lang="en-US" sz="950" dirty="0"/>
          </a:p>
        </p:txBody>
      </p:sp>
      <p:sp>
        <p:nvSpPr>
          <p:cNvPr id="21" name="Shape 18"/>
          <p:cNvSpPr/>
          <p:nvPr/>
        </p:nvSpPr>
        <p:spPr>
          <a:xfrm>
            <a:off x="6537960" y="1024128"/>
            <a:ext cx="5394960" cy="2194560"/>
          </a:xfrm>
          <a:prstGeom prst="roundRect">
            <a:avLst>
              <a:gd name="adj" fmla="val 4167"/>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22" name="Shape 19"/>
          <p:cNvSpPr/>
          <p:nvPr/>
        </p:nvSpPr>
        <p:spPr>
          <a:xfrm>
            <a:off x="6537960" y="1024128"/>
            <a:ext cx="5394960" cy="329184"/>
          </a:xfrm>
          <a:prstGeom prst="roundRect">
            <a:avLst>
              <a:gd name="adj" fmla="val 27778"/>
            </a:avLst>
          </a:prstGeom>
          <a:solidFill>
            <a:srgbClr val="141E36"/>
          </a:solidFill>
          <a:ln w="12700">
            <a:solidFill>
              <a:srgbClr val="141E36"/>
            </a:solidFill>
            <a:prstDash val="solid"/>
          </a:ln>
        </p:spPr>
      </p:sp>
      <p:sp>
        <p:nvSpPr>
          <p:cNvPr id="23" name="Shape 20"/>
          <p:cNvSpPr/>
          <p:nvPr/>
        </p:nvSpPr>
        <p:spPr>
          <a:xfrm>
            <a:off x="6537960" y="1207008"/>
            <a:ext cx="5394960" cy="146304"/>
          </a:xfrm>
          <a:prstGeom prst="rect">
            <a:avLst/>
          </a:prstGeom>
          <a:solidFill>
            <a:srgbClr val="141E36"/>
          </a:solidFill>
          <a:ln w="12700">
            <a:solidFill>
              <a:srgbClr val="141E36"/>
            </a:solidFill>
            <a:prstDash val="solid"/>
          </a:ln>
        </p:spPr>
      </p:sp>
      <p:sp>
        <p:nvSpPr>
          <p:cNvPr id="24" name="Shape 21"/>
          <p:cNvSpPr/>
          <p:nvPr/>
        </p:nvSpPr>
        <p:spPr>
          <a:xfrm>
            <a:off x="6665976" y="1115568"/>
            <a:ext cx="146304" cy="146304"/>
          </a:xfrm>
          <a:prstGeom prst="ellipse">
            <a:avLst/>
          </a:prstGeom>
          <a:solidFill>
            <a:srgbClr val="F43F5E"/>
          </a:solidFill>
          <a:ln w="12700">
            <a:solidFill>
              <a:srgbClr val="F43F5E"/>
            </a:solidFill>
            <a:prstDash val="solid"/>
          </a:ln>
        </p:spPr>
      </p:sp>
      <p:sp>
        <p:nvSpPr>
          <p:cNvPr id="25" name="Shape 22"/>
          <p:cNvSpPr/>
          <p:nvPr/>
        </p:nvSpPr>
        <p:spPr>
          <a:xfrm>
            <a:off x="6867144" y="1115568"/>
            <a:ext cx="146304" cy="146304"/>
          </a:xfrm>
          <a:prstGeom prst="ellipse">
            <a:avLst/>
          </a:prstGeom>
          <a:solidFill>
            <a:srgbClr val="F59E0B"/>
          </a:solidFill>
          <a:ln w="12700">
            <a:solidFill>
              <a:srgbClr val="F59E0B"/>
            </a:solidFill>
            <a:prstDash val="solid"/>
          </a:ln>
        </p:spPr>
      </p:sp>
      <p:sp>
        <p:nvSpPr>
          <p:cNvPr id="26" name="Shape 23"/>
          <p:cNvSpPr/>
          <p:nvPr/>
        </p:nvSpPr>
        <p:spPr>
          <a:xfrm>
            <a:off x="7068312" y="1115568"/>
            <a:ext cx="146304" cy="146304"/>
          </a:xfrm>
          <a:prstGeom prst="ellipse">
            <a:avLst/>
          </a:prstGeom>
          <a:solidFill>
            <a:srgbClr val="22C55E"/>
          </a:solidFill>
          <a:ln w="12700">
            <a:solidFill>
              <a:srgbClr val="22C55E"/>
            </a:solidFill>
            <a:prstDash val="solid"/>
          </a:ln>
        </p:spPr>
      </p:sp>
      <p:sp>
        <p:nvSpPr>
          <p:cNvPr id="27" name="Text 24"/>
          <p:cNvSpPr/>
          <p:nvPr/>
        </p:nvSpPr>
        <p:spPr>
          <a:xfrm>
            <a:off x="7269480" y="1078992"/>
            <a:ext cx="44805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plotly_scatter.py</a:t>
            </a:r>
            <a:endParaRPr lang="en-US" sz="900" dirty="0"/>
          </a:p>
        </p:txBody>
      </p:sp>
      <p:sp>
        <p:nvSpPr>
          <p:cNvPr id="28" name="Text 25"/>
          <p:cNvSpPr/>
          <p:nvPr/>
        </p:nvSpPr>
        <p:spPr>
          <a:xfrm>
            <a:off x="6684264" y="1408176"/>
            <a:ext cx="5120640" cy="1700784"/>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df  = px.data.iris()</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 px.scatter(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df,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x='sepal_width',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y='sepal_length',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color='species'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fig.show()</a:t>
            </a:r>
            <a:endParaRPr lang="en-US" sz="1050" dirty="0"/>
          </a:p>
        </p:txBody>
      </p:sp>
      <p:sp>
        <p:nvSpPr>
          <p:cNvPr id="29" name="Shape 26"/>
          <p:cNvSpPr/>
          <p:nvPr/>
        </p:nvSpPr>
        <p:spPr>
          <a:xfrm>
            <a:off x="6537960" y="3291840"/>
            <a:ext cx="5394960" cy="483326"/>
          </a:xfrm>
          <a:prstGeom prst="rect">
            <a:avLst/>
          </a:prstGeom>
          <a:solidFill>
            <a:srgbClr val="3B82F6"/>
          </a:solidFill>
          <a:ln w="3810">
            <a:solidFill>
              <a:srgbClr val="141E36"/>
            </a:solidFill>
            <a:prstDash val="solid"/>
          </a:ln>
        </p:spPr>
      </p:sp>
      <p:sp>
        <p:nvSpPr>
          <p:cNvPr id="30" name="Text 27"/>
          <p:cNvSpPr/>
          <p:nvPr/>
        </p:nvSpPr>
        <p:spPr>
          <a:xfrm>
            <a:off x="6629400" y="3346704"/>
            <a:ext cx="1958645" cy="39188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Line of Code</a:t>
            </a:r>
            <a:endParaRPr lang="en-US" sz="950" dirty="0"/>
          </a:p>
        </p:txBody>
      </p:sp>
      <p:sp>
        <p:nvSpPr>
          <p:cNvPr id="31" name="Text 28"/>
          <p:cNvSpPr/>
          <p:nvPr/>
        </p:nvSpPr>
        <p:spPr>
          <a:xfrm>
            <a:off x="8642909" y="3346704"/>
            <a:ext cx="3198571" cy="39188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32" name="Shape 29"/>
          <p:cNvSpPr/>
          <p:nvPr/>
        </p:nvSpPr>
        <p:spPr>
          <a:xfrm>
            <a:off x="8588045" y="3291840"/>
            <a:ext cx="18288" cy="483326"/>
          </a:xfrm>
          <a:prstGeom prst="rect">
            <a:avLst/>
          </a:prstGeom>
          <a:solidFill>
            <a:srgbClr val="FFFFFF"/>
          </a:solidFill>
          <a:ln w="12700">
            <a:solidFill>
              <a:srgbClr val="FFFFFF"/>
            </a:solidFill>
            <a:prstDash val="solid"/>
          </a:ln>
        </p:spPr>
      </p:sp>
      <p:sp>
        <p:nvSpPr>
          <p:cNvPr id="33" name="Shape 30"/>
          <p:cNvSpPr/>
          <p:nvPr/>
        </p:nvSpPr>
        <p:spPr>
          <a:xfrm>
            <a:off x="6537960" y="3775166"/>
            <a:ext cx="5394960" cy="483326"/>
          </a:xfrm>
          <a:prstGeom prst="rect">
            <a:avLst/>
          </a:prstGeom>
          <a:solidFill>
            <a:srgbClr val="141E36"/>
          </a:solidFill>
          <a:ln w="3810">
            <a:solidFill>
              <a:srgbClr val="141E36"/>
            </a:solidFill>
            <a:prstDash val="solid"/>
          </a:ln>
        </p:spPr>
      </p:sp>
      <p:sp>
        <p:nvSpPr>
          <p:cNvPr id="34" name="Text 31"/>
          <p:cNvSpPr/>
          <p:nvPr/>
        </p:nvSpPr>
        <p:spPr>
          <a:xfrm>
            <a:off x="6629400" y="3811742"/>
            <a:ext cx="1958645" cy="41017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df = px.data.iris()</a:t>
            </a:r>
            <a:endParaRPr lang="en-US" sz="900" dirty="0"/>
          </a:p>
        </p:txBody>
      </p:sp>
      <p:sp>
        <p:nvSpPr>
          <p:cNvPr id="35" name="Text 32"/>
          <p:cNvSpPr/>
          <p:nvPr/>
        </p:nvSpPr>
        <p:spPr>
          <a:xfrm>
            <a:off x="8642909" y="3811742"/>
            <a:ext cx="3198571" cy="41017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Loads the built-in Iris dataset into a Pandas DataFrame. px.data has several built-in sample datasets.</a:t>
            </a:r>
            <a:endParaRPr lang="en-US" sz="950" dirty="0"/>
          </a:p>
        </p:txBody>
      </p:sp>
      <p:sp>
        <p:nvSpPr>
          <p:cNvPr id="36" name="Shape 33"/>
          <p:cNvSpPr/>
          <p:nvPr/>
        </p:nvSpPr>
        <p:spPr>
          <a:xfrm>
            <a:off x="8588045" y="3775166"/>
            <a:ext cx="18288" cy="483326"/>
          </a:xfrm>
          <a:prstGeom prst="rect">
            <a:avLst/>
          </a:prstGeom>
          <a:solidFill>
            <a:srgbClr val="1E293B"/>
          </a:solidFill>
          <a:ln w="12700">
            <a:solidFill>
              <a:srgbClr val="1E293B"/>
            </a:solidFill>
            <a:prstDash val="solid"/>
          </a:ln>
        </p:spPr>
      </p:sp>
      <p:sp>
        <p:nvSpPr>
          <p:cNvPr id="37" name="Shape 34"/>
          <p:cNvSpPr/>
          <p:nvPr/>
        </p:nvSpPr>
        <p:spPr>
          <a:xfrm>
            <a:off x="6537960" y="4258491"/>
            <a:ext cx="5394960" cy="483326"/>
          </a:xfrm>
          <a:prstGeom prst="rect">
            <a:avLst/>
          </a:prstGeom>
          <a:solidFill>
            <a:srgbClr val="0F1D3C"/>
          </a:solidFill>
          <a:ln w="3810">
            <a:solidFill>
              <a:srgbClr val="141E36"/>
            </a:solidFill>
            <a:prstDash val="solid"/>
          </a:ln>
        </p:spPr>
      </p:sp>
      <p:sp>
        <p:nvSpPr>
          <p:cNvPr id="38" name="Text 35"/>
          <p:cNvSpPr/>
          <p:nvPr/>
        </p:nvSpPr>
        <p:spPr>
          <a:xfrm>
            <a:off x="6629400" y="4295067"/>
            <a:ext cx="1958645" cy="41017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px.scatter(df, ...)</a:t>
            </a:r>
            <a:endParaRPr lang="en-US" sz="900" dirty="0"/>
          </a:p>
        </p:txBody>
      </p:sp>
      <p:sp>
        <p:nvSpPr>
          <p:cNvPr id="39" name="Text 36"/>
          <p:cNvSpPr/>
          <p:nvPr/>
        </p:nvSpPr>
        <p:spPr>
          <a:xfrm>
            <a:off x="8642909" y="4295067"/>
            <a:ext cx="3198571" cy="41017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Creates an interactive scatter plot using Plotly Express. Returns a Figure object stored in fig.</a:t>
            </a:r>
            <a:endParaRPr lang="en-US" sz="950" dirty="0"/>
          </a:p>
        </p:txBody>
      </p:sp>
      <p:sp>
        <p:nvSpPr>
          <p:cNvPr id="40" name="Shape 37"/>
          <p:cNvSpPr/>
          <p:nvPr/>
        </p:nvSpPr>
        <p:spPr>
          <a:xfrm>
            <a:off x="8588045" y="4258491"/>
            <a:ext cx="18288" cy="483326"/>
          </a:xfrm>
          <a:prstGeom prst="rect">
            <a:avLst/>
          </a:prstGeom>
          <a:solidFill>
            <a:srgbClr val="1E293B"/>
          </a:solidFill>
          <a:ln w="12700">
            <a:solidFill>
              <a:srgbClr val="1E293B"/>
            </a:solidFill>
            <a:prstDash val="solid"/>
          </a:ln>
        </p:spPr>
      </p:sp>
      <p:sp>
        <p:nvSpPr>
          <p:cNvPr id="41" name="Shape 38"/>
          <p:cNvSpPr/>
          <p:nvPr/>
        </p:nvSpPr>
        <p:spPr>
          <a:xfrm>
            <a:off x="6537960" y="4741817"/>
            <a:ext cx="5394960" cy="483326"/>
          </a:xfrm>
          <a:prstGeom prst="rect">
            <a:avLst/>
          </a:prstGeom>
          <a:solidFill>
            <a:srgbClr val="141E36"/>
          </a:solidFill>
          <a:ln w="3810">
            <a:solidFill>
              <a:srgbClr val="141E36"/>
            </a:solidFill>
            <a:prstDash val="solid"/>
          </a:ln>
        </p:spPr>
      </p:sp>
      <p:sp>
        <p:nvSpPr>
          <p:cNvPr id="42" name="Text 39"/>
          <p:cNvSpPr/>
          <p:nvPr/>
        </p:nvSpPr>
        <p:spPr>
          <a:xfrm>
            <a:off x="6629400" y="4778393"/>
            <a:ext cx="1958645" cy="41017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x='sepal_width'</a:t>
            </a:r>
            <a:endParaRPr lang="en-US" sz="900" dirty="0"/>
          </a:p>
        </p:txBody>
      </p:sp>
      <p:sp>
        <p:nvSpPr>
          <p:cNvPr id="43" name="Text 40"/>
          <p:cNvSpPr/>
          <p:nvPr/>
        </p:nvSpPr>
        <p:spPr>
          <a:xfrm>
            <a:off x="8642909" y="4778393"/>
            <a:ext cx="3198571" cy="41017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Specifies the DataFrame column to use on the x-axis.</a:t>
            </a:r>
            <a:endParaRPr lang="en-US" sz="950" dirty="0"/>
          </a:p>
        </p:txBody>
      </p:sp>
      <p:sp>
        <p:nvSpPr>
          <p:cNvPr id="44" name="Shape 41"/>
          <p:cNvSpPr/>
          <p:nvPr/>
        </p:nvSpPr>
        <p:spPr>
          <a:xfrm>
            <a:off x="8588045" y="4741817"/>
            <a:ext cx="18288" cy="483326"/>
          </a:xfrm>
          <a:prstGeom prst="rect">
            <a:avLst/>
          </a:prstGeom>
          <a:solidFill>
            <a:srgbClr val="1E293B"/>
          </a:solidFill>
          <a:ln w="12700">
            <a:solidFill>
              <a:srgbClr val="1E293B"/>
            </a:solidFill>
            <a:prstDash val="solid"/>
          </a:ln>
        </p:spPr>
      </p:sp>
      <p:sp>
        <p:nvSpPr>
          <p:cNvPr id="45" name="Shape 42"/>
          <p:cNvSpPr/>
          <p:nvPr/>
        </p:nvSpPr>
        <p:spPr>
          <a:xfrm>
            <a:off x="6537960" y="5225143"/>
            <a:ext cx="5394960" cy="483326"/>
          </a:xfrm>
          <a:prstGeom prst="rect">
            <a:avLst/>
          </a:prstGeom>
          <a:solidFill>
            <a:srgbClr val="0F1D3C"/>
          </a:solidFill>
          <a:ln w="3810">
            <a:solidFill>
              <a:srgbClr val="141E36"/>
            </a:solidFill>
            <a:prstDash val="solid"/>
          </a:ln>
        </p:spPr>
      </p:sp>
      <p:sp>
        <p:nvSpPr>
          <p:cNvPr id="46" name="Text 43"/>
          <p:cNvSpPr/>
          <p:nvPr/>
        </p:nvSpPr>
        <p:spPr>
          <a:xfrm>
            <a:off x="6629400" y="5261719"/>
            <a:ext cx="1958645" cy="41017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y='sepal_length'</a:t>
            </a:r>
            <a:endParaRPr lang="en-US" sz="900" dirty="0"/>
          </a:p>
        </p:txBody>
      </p:sp>
      <p:sp>
        <p:nvSpPr>
          <p:cNvPr id="47" name="Text 44"/>
          <p:cNvSpPr/>
          <p:nvPr/>
        </p:nvSpPr>
        <p:spPr>
          <a:xfrm>
            <a:off x="8642909" y="5261719"/>
            <a:ext cx="3198571" cy="41017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Specifies the DataFrame column to use on the y-axis.</a:t>
            </a:r>
            <a:endParaRPr lang="en-US" sz="950" dirty="0"/>
          </a:p>
        </p:txBody>
      </p:sp>
      <p:sp>
        <p:nvSpPr>
          <p:cNvPr id="48" name="Shape 45"/>
          <p:cNvSpPr/>
          <p:nvPr/>
        </p:nvSpPr>
        <p:spPr>
          <a:xfrm>
            <a:off x="8588045" y="5225143"/>
            <a:ext cx="18288" cy="483326"/>
          </a:xfrm>
          <a:prstGeom prst="rect">
            <a:avLst/>
          </a:prstGeom>
          <a:solidFill>
            <a:srgbClr val="1E293B"/>
          </a:solidFill>
          <a:ln w="12700">
            <a:solidFill>
              <a:srgbClr val="1E293B"/>
            </a:solidFill>
            <a:prstDash val="solid"/>
          </a:ln>
        </p:spPr>
      </p:sp>
      <p:sp>
        <p:nvSpPr>
          <p:cNvPr id="49" name="Shape 46"/>
          <p:cNvSpPr/>
          <p:nvPr/>
        </p:nvSpPr>
        <p:spPr>
          <a:xfrm>
            <a:off x="6537960" y="5708469"/>
            <a:ext cx="5394960" cy="483326"/>
          </a:xfrm>
          <a:prstGeom prst="rect">
            <a:avLst/>
          </a:prstGeom>
          <a:solidFill>
            <a:srgbClr val="141E36"/>
          </a:solidFill>
          <a:ln w="3810">
            <a:solidFill>
              <a:srgbClr val="141E36"/>
            </a:solidFill>
            <a:prstDash val="solid"/>
          </a:ln>
        </p:spPr>
      </p:sp>
      <p:sp>
        <p:nvSpPr>
          <p:cNvPr id="50" name="Text 47"/>
          <p:cNvSpPr/>
          <p:nvPr/>
        </p:nvSpPr>
        <p:spPr>
          <a:xfrm>
            <a:off x="6629400" y="5745045"/>
            <a:ext cx="1958645" cy="41017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color='species'</a:t>
            </a:r>
            <a:endParaRPr lang="en-US" sz="900" dirty="0"/>
          </a:p>
        </p:txBody>
      </p:sp>
      <p:sp>
        <p:nvSpPr>
          <p:cNvPr id="51" name="Text 48"/>
          <p:cNvSpPr/>
          <p:nvPr/>
        </p:nvSpPr>
        <p:spPr>
          <a:xfrm>
            <a:off x="8642909" y="5745045"/>
            <a:ext cx="3198571" cy="41017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Colours each dot by the species column. Automatically adds a legend. Each species gets a unique colour.</a:t>
            </a:r>
            <a:endParaRPr lang="en-US" sz="950" dirty="0"/>
          </a:p>
        </p:txBody>
      </p:sp>
      <p:sp>
        <p:nvSpPr>
          <p:cNvPr id="52" name="Shape 49"/>
          <p:cNvSpPr/>
          <p:nvPr/>
        </p:nvSpPr>
        <p:spPr>
          <a:xfrm>
            <a:off x="8588045" y="5708469"/>
            <a:ext cx="18288" cy="483326"/>
          </a:xfrm>
          <a:prstGeom prst="rect">
            <a:avLst/>
          </a:prstGeom>
          <a:solidFill>
            <a:srgbClr val="1E293B"/>
          </a:solidFill>
          <a:ln w="12700">
            <a:solidFill>
              <a:srgbClr val="1E293B"/>
            </a:solidFill>
            <a:prstDash val="solid"/>
          </a:ln>
        </p:spPr>
      </p:sp>
      <p:sp>
        <p:nvSpPr>
          <p:cNvPr id="53" name="Shape 50"/>
          <p:cNvSpPr/>
          <p:nvPr/>
        </p:nvSpPr>
        <p:spPr>
          <a:xfrm>
            <a:off x="6537960" y="6191794"/>
            <a:ext cx="5394960" cy="483326"/>
          </a:xfrm>
          <a:prstGeom prst="rect">
            <a:avLst/>
          </a:prstGeom>
          <a:solidFill>
            <a:srgbClr val="0F1D3C"/>
          </a:solidFill>
          <a:ln w="3810">
            <a:solidFill>
              <a:srgbClr val="141E36"/>
            </a:solidFill>
            <a:prstDash val="solid"/>
          </a:ln>
        </p:spPr>
      </p:sp>
      <p:sp>
        <p:nvSpPr>
          <p:cNvPr id="54" name="Text 51"/>
          <p:cNvSpPr/>
          <p:nvPr/>
        </p:nvSpPr>
        <p:spPr>
          <a:xfrm>
            <a:off x="6629400" y="6228370"/>
            <a:ext cx="1958645" cy="410174"/>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fig.show()</a:t>
            </a:r>
            <a:endParaRPr lang="en-US" sz="900" dirty="0"/>
          </a:p>
        </p:txBody>
      </p:sp>
      <p:sp>
        <p:nvSpPr>
          <p:cNvPr id="55" name="Text 52"/>
          <p:cNvSpPr/>
          <p:nvPr/>
        </p:nvSpPr>
        <p:spPr>
          <a:xfrm>
            <a:off x="8642909" y="6228370"/>
            <a:ext cx="3198571" cy="41017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Renders the interactive chart in the Colab output. You can hover, zoom, and pan the chart.</a:t>
            </a:r>
            <a:endParaRPr lang="en-US" sz="950" dirty="0"/>
          </a:p>
        </p:txBody>
      </p:sp>
      <p:sp>
        <p:nvSpPr>
          <p:cNvPr id="56" name="Shape 53"/>
          <p:cNvSpPr/>
          <p:nvPr/>
        </p:nvSpPr>
        <p:spPr>
          <a:xfrm>
            <a:off x="8588045" y="6191794"/>
            <a:ext cx="18288" cy="483326"/>
          </a:xfrm>
          <a:prstGeom prst="rect">
            <a:avLst/>
          </a:prstGeom>
          <a:solidFill>
            <a:srgbClr val="1E293B"/>
          </a:solidFill>
          <a:ln w="12700">
            <a:solidFill>
              <a:srgbClr val="1E293B"/>
            </a:solidFill>
            <a:prstDash val="solid"/>
          </a:ln>
        </p:spPr>
      </p:sp>
      <p:sp>
        <p:nvSpPr>
          <p:cNvPr id="57" name="Shape 54"/>
          <p:cNvSpPr/>
          <p:nvPr/>
        </p:nvSpPr>
        <p:spPr>
          <a:xfrm>
            <a:off x="6537960" y="6217920"/>
            <a:ext cx="5394960" cy="512064"/>
          </a:xfrm>
          <a:prstGeom prst="roundRect">
            <a:avLst>
              <a:gd name="adj" fmla="val 14286"/>
            </a:avLst>
          </a:prstGeom>
          <a:solidFill>
            <a:srgbClr val="141E36"/>
          </a:solidFill>
          <a:ln w="12700">
            <a:solidFill>
              <a:srgbClr val="F59E0B"/>
            </a:solidFill>
            <a:prstDash val="solid"/>
          </a:ln>
          <a:effectLst>
            <a:outerShdw sx="100000" sy="100000" kx="0" ky="0" algn="bl" rotWithShape="0" blurRad="63500" dist="25400" dir="2700000">
              <a:srgbClr val="000000">
                <a:alpha val="12000"/>
              </a:srgbClr>
            </a:outerShdw>
          </a:effectLst>
        </p:spPr>
      </p:sp>
      <p:sp>
        <p:nvSpPr>
          <p:cNvPr id="58" name="Text 55"/>
          <p:cNvSpPr/>
          <p:nvPr/>
        </p:nvSpPr>
        <p:spPr>
          <a:xfrm>
            <a:off x="6656832" y="6272784"/>
            <a:ext cx="5166360" cy="40233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Matplotlib vs Plotly: plt.show() shows a static image. fig.show() shows an interactive chart you can click and explore.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15. DONUT CHART - Pie with a Centre Label</a:t>
            </a:r>
            <a:endParaRPr lang="en-US" sz="2600" dirty="0"/>
          </a:p>
        </p:txBody>
      </p:sp>
      <p:sp>
        <p:nvSpPr>
          <p:cNvPr id="4" name="Text 2"/>
          <p:cNvSpPr/>
          <p:nvPr/>
        </p:nvSpPr>
        <p:spPr>
          <a:xfrm>
            <a:off x="411480" y="1024128"/>
            <a:ext cx="5669280" cy="310896"/>
          </a:xfrm>
          <a:prstGeom prst="rect">
            <a:avLst/>
          </a:prstGeom>
          <a:noFill/>
          <a:ln/>
        </p:spPr>
        <p:txBody>
          <a:bodyPr wrap="square" lIns="0" tIns="0" rIns="0" bIns="0" rtlCol="0" anchor="ctr"/>
          <a:lstStyle/>
          <a:p>
            <a:pPr indent="0" marL="0">
              <a:buNone/>
            </a:pPr>
            <a:r>
              <a:rPr lang="en-US" sz="1200" b="1" dirty="0">
                <a:solidFill>
                  <a:srgbClr val="3B82F6"/>
                </a:solidFill>
                <a:latin typeface="Cambria" pitchFamily="34" charset="0"/>
                <a:ea typeface="Cambria" pitchFamily="34" charset="-122"/>
                <a:cs typeface="Cambria" pitchFamily="34" charset="-120"/>
              </a:rPr>
              <a:t>15a. Basic Donut Chart</a:t>
            </a:r>
            <a:endParaRPr lang="en-US" sz="1200" dirty="0"/>
          </a:p>
        </p:txBody>
      </p:sp>
      <p:pic>
        <p:nvPicPr>
          <p:cNvPr id="5" name="Image 0" descr="preencoded.png">    </p:cNvPr>
          <p:cNvPicPr>
            <a:picLocks noChangeAspect="1"/>
          </p:cNvPicPr>
          <p:nvPr/>
        </p:nvPicPr>
        <p:blipFill>
          <a:blip r:embed="rId1"/>
          <a:srcRect l="0" r="0" t="0" b="0"/>
          <a:stretch/>
        </p:blipFill>
        <p:spPr>
          <a:xfrm>
            <a:off x="411480" y="1389888"/>
            <a:ext cx="5029200" cy="3474720"/>
          </a:xfrm>
          <a:prstGeom prst="rect">
            <a:avLst/>
          </a:prstGeom>
        </p:spPr>
      </p:pic>
      <p:sp>
        <p:nvSpPr>
          <p:cNvPr id="6" name="Shape 3"/>
          <p:cNvSpPr/>
          <p:nvPr/>
        </p:nvSpPr>
        <p:spPr>
          <a:xfrm>
            <a:off x="411480" y="4937760"/>
            <a:ext cx="5486400" cy="1783080"/>
          </a:xfrm>
          <a:prstGeom prst="roundRect">
            <a:avLst>
              <a:gd name="adj" fmla="val 5128"/>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7" name="Shape 4"/>
          <p:cNvSpPr/>
          <p:nvPr/>
        </p:nvSpPr>
        <p:spPr>
          <a:xfrm>
            <a:off x="411480" y="4937760"/>
            <a:ext cx="5486400" cy="329184"/>
          </a:xfrm>
          <a:prstGeom prst="roundRect">
            <a:avLst>
              <a:gd name="adj" fmla="val 27778"/>
            </a:avLst>
          </a:prstGeom>
          <a:solidFill>
            <a:srgbClr val="141E36"/>
          </a:solidFill>
          <a:ln w="12700">
            <a:solidFill>
              <a:srgbClr val="141E36"/>
            </a:solidFill>
            <a:prstDash val="solid"/>
          </a:ln>
        </p:spPr>
      </p:sp>
      <p:sp>
        <p:nvSpPr>
          <p:cNvPr id="8" name="Shape 5"/>
          <p:cNvSpPr/>
          <p:nvPr/>
        </p:nvSpPr>
        <p:spPr>
          <a:xfrm>
            <a:off x="411480" y="5120640"/>
            <a:ext cx="5486400" cy="146304"/>
          </a:xfrm>
          <a:prstGeom prst="rect">
            <a:avLst/>
          </a:prstGeom>
          <a:solidFill>
            <a:srgbClr val="141E36"/>
          </a:solidFill>
          <a:ln w="12700">
            <a:solidFill>
              <a:srgbClr val="141E36"/>
            </a:solidFill>
            <a:prstDash val="solid"/>
          </a:ln>
        </p:spPr>
      </p:sp>
      <p:sp>
        <p:nvSpPr>
          <p:cNvPr id="9" name="Shape 6"/>
          <p:cNvSpPr/>
          <p:nvPr/>
        </p:nvSpPr>
        <p:spPr>
          <a:xfrm>
            <a:off x="539496" y="5029200"/>
            <a:ext cx="146304" cy="146304"/>
          </a:xfrm>
          <a:prstGeom prst="ellipse">
            <a:avLst/>
          </a:prstGeom>
          <a:solidFill>
            <a:srgbClr val="F43F5E"/>
          </a:solidFill>
          <a:ln w="12700">
            <a:solidFill>
              <a:srgbClr val="F43F5E"/>
            </a:solidFill>
            <a:prstDash val="solid"/>
          </a:ln>
        </p:spPr>
      </p:sp>
      <p:sp>
        <p:nvSpPr>
          <p:cNvPr id="10" name="Shape 7"/>
          <p:cNvSpPr/>
          <p:nvPr/>
        </p:nvSpPr>
        <p:spPr>
          <a:xfrm>
            <a:off x="740664" y="5029200"/>
            <a:ext cx="146304" cy="146304"/>
          </a:xfrm>
          <a:prstGeom prst="ellipse">
            <a:avLst/>
          </a:prstGeom>
          <a:solidFill>
            <a:srgbClr val="F59E0B"/>
          </a:solidFill>
          <a:ln w="12700">
            <a:solidFill>
              <a:srgbClr val="F59E0B"/>
            </a:solidFill>
            <a:prstDash val="solid"/>
          </a:ln>
        </p:spPr>
      </p:sp>
      <p:sp>
        <p:nvSpPr>
          <p:cNvPr id="11" name="Shape 8"/>
          <p:cNvSpPr/>
          <p:nvPr/>
        </p:nvSpPr>
        <p:spPr>
          <a:xfrm>
            <a:off x="941832" y="5029200"/>
            <a:ext cx="146304" cy="146304"/>
          </a:xfrm>
          <a:prstGeom prst="ellipse">
            <a:avLst/>
          </a:prstGeom>
          <a:solidFill>
            <a:srgbClr val="22C55E"/>
          </a:solidFill>
          <a:ln w="12700">
            <a:solidFill>
              <a:srgbClr val="22C55E"/>
            </a:solidFill>
            <a:prstDash val="solid"/>
          </a:ln>
        </p:spPr>
      </p:sp>
      <p:sp>
        <p:nvSpPr>
          <p:cNvPr id="12" name="Text 9"/>
          <p:cNvSpPr/>
          <p:nvPr/>
        </p:nvSpPr>
        <p:spPr>
          <a:xfrm>
            <a:off x="1143000" y="4992624"/>
            <a:ext cx="45720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donut_basic.py</a:t>
            </a:r>
            <a:endParaRPr lang="en-US" sz="900" dirty="0"/>
          </a:p>
        </p:txBody>
      </p:sp>
      <p:sp>
        <p:nvSpPr>
          <p:cNvPr id="13" name="Text 10"/>
          <p:cNvSpPr/>
          <p:nvPr/>
        </p:nvSpPr>
        <p:spPr>
          <a:xfrm>
            <a:off x="557784" y="5321808"/>
            <a:ext cx="5212080" cy="1289304"/>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plt.figure(figsize=(6, 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plt.pie(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revenue,   labels=products,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autopct='%1.1f%%',  startangle=90,</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    wedgeprops=dict(width=0.4)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plt.axis('equal'); plt.show()</a:t>
            </a:r>
            <a:endParaRPr lang="en-US" sz="1050" dirty="0"/>
          </a:p>
        </p:txBody>
      </p:sp>
      <p:sp>
        <p:nvSpPr>
          <p:cNvPr id="14" name="Text 11"/>
          <p:cNvSpPr/>
          <p:nvPr/>
        </p:nvSpPr>
        <p:spPr>
          <a:xfrm>
            <a:off x="6080760" y="1024128"/>
            <a:ext cx="5852160" cy="310896"/>
          </a:xfrm>
          <a:prstGeom prst="rect">
            <a:avLst/>
          </a:prstGeom>
          <a:noFill/>
          <a:ln/>
        </p:spPr>
        <p:txBody>
          <a:bodyPr wrap="square" lIns="0" tIns="0" rIns="0" bIns="0" rtlCol="0" anchor="ctr"/>
          <a:lstStyle/>
          <a:p>
            <a:pPr indent="0" marL="0">
              <a:buNone/>
            </a:pPr>
            <a:r>
              <a:rPr lang="en-US" sz="1200" b="1" dirty="0">
                <a:solidFill>
                  <a:srgbClr val="22C55E"/>
                </a:solidFill>
                <a:latin typeface="Cambria" pitchFamily="34" charset="0"/>
                <a:ea typeface="Cambria" pitchFamily="34" charset="-122"/>
                <a:cs typeface="Cambria" pitchFamily="34" charset="-120"/>
              </a:rPr>
              <a:t>15b. Professional Donut with Centre Text</a:t>
            </a:r>
            <a:endParaRPr lang="en-US" sz="1200" dirty="0"/>
          </a:p>
        </p:txBody>
      </p:sp>
      <p:pic>
        <p:nvPicPr>
          <p:cNvPr id="15" name="Image 1" descr="preencoded.png">    </p:cNvPr>
          <p:cNvPicPr>
            <a:picLocks noChangeAspect="1"/>
          </p:cNvPicPr>
          <p:nvPr/>
        </p:nvPicPr>
        <p:blipFill>
          <a:blip r:embed="rId2"/>
          <a:srcRect l="0" r="0" t="0" b="0"/>
          <a:stretch/>
        </p:blipFill>
        <p:spPr>
          <a:xfrm>
            <a:off x="6080760" y="1389888"/>
            <a:ext cx="5029200" cy="3474720"/>
          </a:xfrm>
          <a:prstGeom prst="rect">
            <a:avLst/>
          </a:prstGeom>
        </p:spPr>
      </p:pic>
      <p:sp>
        <p:nvSpPr>
          <p:cNvPr id="16" name="Shape 12"/>
          <p:cNvSpPr/>
          <p:nvPr/>
        </p:nvSpPr>
        <p:spPr>
          <a:xfrm>
            <a:off x="6080760" y="4937760"/>
            <a:ext cx="5852160" cy="1783080"/>
          </a:xfrm>
          <a:prstGeom prst="roundRect">
            <a:avLst>
              <a:gd name="adj" fmla="val 5128"/>
            </a:avLst>
          </a:prstGeom>
          <a:solidFill>
            <a:srgbClr val="0D1117"/>
          </a:solidFill>
          <a:ln w="15240">
            <a:solidFill>
              <a:srgbClr val="06B6D4"/>
            </a:solidFill>
            <a:prstDash val="solid"/>
          </a:ln>
          <a:effectLst>
            <a:outerShdw sx="100000" sy="100000" kx="0" ky="0" algn="bl" rotWithShape="0" blurRad="127000" dist="50800" dir="2700000">
              <a:srgbClr val="000000">
                <a:alpha val="18000"/>
              </a:srgbClr>
            </a:outerShdw>
          </a:effectLst>
        </p:spPr>
      </p:sp>
      <p:sp>
        <p:nvSpPr>
          <p:cNvPr id="17" name="Shape 13"/>
          <p:cNvSpPr/>
          <p:nvPr/>
        </p:nvSpPr>
        <p:spPr>
          <a:xfrm>
            <a:off x="6080760" y="4937760"/>
            <a:ext cx="5852160" cy="329184"/>
          </a:xfrm>
          <a:prstGeom prst="roundRect">
            <a:avLst>
              <a:gd name="adj" fmla="val 27778"/>
            </a:avLst>
          </a:prstGeom>
          <a:solidFill>
            <a:srgbClr val="141E36"/>
          </a:solidFill>
          <a:ln w="12700">
            <a:solidFill>
              <a:srgbClr val="141E36"/>
            </a:solidFill>
            <a:prstDash val="solid"/>
          </a:ln>
        </p:spPr>
      </p:sp>
      <p:sp>
        <p:nvSpPr>
          <p:cNvPr id="18" name="Shape 14"/>
          <p:cNvSpPr/>
          <p:nvPr/>
        </p:nvSpPr>
        <p:spPr>
          <a:xfrm>
            <a:off x="6080760" y="5120640"/>
            <a:ext cx="5852160" cy="146304"/>
          </a:xfrm>
          <a:prstGeom prst="rect">
            <a:avLst/>
          </a:prstGeom>
          <a:solidFill>
            <a:srgbClr val="141E36"/>
          </a:solidFill>
          <a:ln w="12700">
            <a:solidFill>
              <a:srgbClr val="141E36"/>
            </a:solidFill>
            <a:prstDash val="solid"/>
          </a:ln>
        </p:spPr>
      </p:sp>
      <p:sp>
        <p:nvSpPr>
          <p:cNvPr id="19" name="Shape 15"/>
          <p:cNvSpPr/>
          <p:nvPr/>
        </p:nvSpPr>
        <p:spPr>
          <a:xfrm>
            <a:off x="6208776" y="5029200"/>
            <a:ext cx="146304" cy="146304"/>
          </a:xfrm>
          <a:prstGeom prst="ellipse">
            <a:avLst/>
          </a:prstGeom>
          <a:solidFill>
            <a:srgbClr val="F43F5E"/>
          </a:solidFill>
          <a:ln w="12700">
            <a:solidFill>
              <a:srgbClr val="F43F5E"/>
            </a:solidFill>
            <a:prstDash val="solid"/>
          </a:ln>
        </p:spPr>
      </p:sp>
      <p:sp>
        <p:nvSpPr>
          <p:cNvPr id="20" name="Shape 16"/>
          <p:cNvSpPr/>
          <p:nvPr/>
        </p:nvSpPr>
        <p:spPr>
          <a:xfrm>
            <a:off x="6409944" y="5029200"/>
            <a:ext cx="146304" cy="146304"/>
          </a:xfrm>
          <a:prstGeom prst="ellipse">
            <a:avLst/>
          </a:prstGeom>
          <a:solidFill>
            <a:srgbClr val="F59E0B"/>
          </a:solidFill>
          <a:ln w="12700">
            <a:solidFill>
              <a:srgbClr val="F59E0B"/>
            </a:solidFill>
            <a:prstDash val="solid"/>
          </a:ln>
        </p:spPr>
      </p:sp>
      <p:sp>
        <p:nvSpPr>
          <p:cNvPr id="21" name="Shape 17"/>
          <p:cNvSpPr/>
          <p:nvPr/>
        </p:nvSpPr>
        <p:spPr>
          <a:xfrm>
            <a:off x="6611112" y="5029200"/>
            <a:ext cx="146304" cy="146304"/>
          </a:xfrm>
          <a:prstGeom prst="ellipse">
            <a:avLst/>
          </a:prstGeom>
          <a:solidFill>
            <a:srgbClr val="22C55E"/>
          </a:solidFill>
          <a:ln w="12700">
            <a:solidFill>
              <a:srgbClr val="22C55E"/>
            </a:solidFill>
            <a:prstDash val="solid"/>
          </a:ln>
        </p:spPr>
      </p:sp>
      <p:sp>
        <p:nvSpPr>
          <p:cNvPr id="22" name="Text 18"/>
          <p:cNvSpPr/>
          <p:nvPr/>
        </p:nvSpPr>
        <p:spPr>
          <a:xfrm>
            <a:off x="6812280" y="4992624"/>
            <a:ext cx="49377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donut_pro.py</a:t>
            </a:r>
            <a:endParaRPr lang="en-US" sz="900" dirty="0"/>
          </a:p>
        </p:txBody>
      </p:sp>
      <p:sp>
        <p:nvSpPr>
          <p:cNvPr id="23" name="Text 19"/>
          <p:cNvSpPr/>
          <p:nvPr/>
        </p:nvSpPr>
        <p:spPr>
          <a:xfrm>
            <a:off x="6227064" y="5321808"/>
            <a:ext cx="5577840" cy="1289304"/>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plt.subplots(figsize=(7, 7))</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ax.pie(revenue, labels=products,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autopct='%1.1f%%', startangle=90,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wedgeprops=dict(width=0.4))</a:t>
            </a:r>
            <a:endParaRPr lang="en-US" sz="1050" dirty="0"/>
          </a:p>
          <a:p>
            <a:pPr indent="0" marL="0">
              <a:buNone/>
            </a:pPr>
            <a:r>
              <a:rPr lang="en-US" sz="1050" dirty="0">
                <a:solidFill>
                  <a:srgbClr val="F59E0B"/>
                </a:solidFill>
                <a:latin typeface="Courier New" pitchFamily="34" charset="0"/>
                <a:ea typeface="Courier New" pitchFamily="34" charset="-122"/>
                <a:cs typeface="Courier New" pitchFamily="34" charset="-120"/>
              </a:rPr>
              <a:t>ax.text(0, 0, 'Revenue\n18,000',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ha='center', va='center',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fontsize=14, fontweight='bold')</a:t>
            </a:r>
            <a:endParaRPr lang="en-US" sz="1050" dirty="0"/>
          </a:p>
          <a:p>
            <a:pPr indent="0" marL="0">
              <a:buNone/>
            </a:pPr>
            <a:r>
              <a:rPr lang="en-US" sz="1050" dirty="0">
                <a:solidFill>
                  <a:srgbClr val="22C55E"/>
                </a:solidFill>
                <a:latin typeface="Courier New" pitchFamily="34" charset="0"/>
                <a:ea typeface="Courier New" pitchFamily="34" charset="-122"/>
                <a:cs typeface="Courier New" pitchFamily="34" charset="-120"/>
              </a:rPr>
              <a:t>plt.show()</a:t>
            </a:r>
            <a:endParaRPr lang="en-US" sz="1050" dirty="0"/>
          </a:p>
        </p:txBody>
      </p:sp>
      <p:sp>
        <p:nvSpPr>
          <p:cNvPr id="24" name="Shape 20"/>
          <p:cNvSpPr/>
          <p:nvPr/>
        </p:nvSpPr>
        <p:spPr>
          <a:xfrm>
            <a:off x="411480" y="6784848"/>
            <a:ext cx="11521440" cy="-21946"/>
          </a:xfrm>
          <a:prstGeom prst="rect">
            <a:avLst/>
          </a:prstGeom>
          <a:solidFill>
            <a:srgbClr val="3B82F6"/>
          </a:solidFill>
          <a:ln w="3810">
            <a:solidFill>
              <a:srgbClr val="141E36"/>
            </a:solidFill>
            <a:prstDash val="solid"/>
          </a:ln>
        </p:spPr>
      </p:sp>
      <p:sp>
        <p:nvSpPr>
          <p:cNvPr id="25" name="Text 21"/>
          <p:cNvSpPr/>
          <p:nvPr/>
        </p:nvSpPr>
        <p:spPr>
          <a:xfrm>
            <a:off x="502920" y="6839712"/>
            <a:ext cx="4286707" cy="-11338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Key Parameter</a:t>
            </a:r>
            <a:endParaRPr lang="en-US" sz="950" dirty="0"/>
          </a:p>
        </p:txBody>
      </p:sp>
      <p:sp>
        <p:nvSpPr>
          <p:cNvPr id="26" name="Text 22"/>
          <p:cNvSpPr/>
          <p:nvPr/>
        </p:nvSpPr>
        <p:spPr>
          <a:xfrm>
            <a:off x="4844491" y="6839712"/>
            <a:ext cx="6996989" cy="-113386"/>
          </a:xfrm>
          <a:prstGeom prst="rect">
            <a:avLst/>
          </a:prstGeom>
          <a:noFill/>
          <a:ln/>
        </p:spPr>
        <p:txBody>
          <a:bodyPr wrap="square" lIns="0" tIns="0" rIns="0" bIns="0" rtlCol="0" anchor="ctr"/>
          <a:lstStyle/>
          <a:p>
            <a:pPr indent="0" marL="0">
              <a:buNone/>
            </a:pPr>
            <a:r>
              <a:rPr lang="en-US" sz="950" b="1" dirty="0">
                <a:solidFill>
                  <a:srgbClr val="FFFFFF"/>
                </a:solidFill>
                <a:latin typeface="Cambria" pitchFamily="34" charset="0"/>
                <a:ea typeface="Cambria" pitchFamily="34" charset="-122"/>
                <a:cs typeface="Cambria" pitchFamily="34" charset="-120"/>
              </a:rPr>
              <a:t>What It Does</a:t>
            </a:r>
            <a:endParaRPr lang="en-US" sz="950" dirty="0"/>
          </a:p>
        </p:txBody>
      </p:sp>
      <p:sp>
        <p:nvSpPr>
          <p:cNvPr id="27" name="Shape 23"/>
          <p:cNvSpPr/>
          <p:nvPr/>
        </p:nvSpPr>
        <p:spPr>
          <a:xfrm>
            <a:off x="4789627" y="6784848"/>
            <a:ext cx="18288" cy="-21946"/>
          </a:xfrm>
          <a:prstGeom prst="rect">
            <a:avLst/>
          </a:prstGeom>
          <a:solidFill>
            <a:srgbClr val="FFFFFF"/>
          </a:solidFill>
          <a:ln w="12700">
            <a:solidFill>
              <a:srgbClr val="FFFFFF"/>
            </a:solidFill>
            <a:prstDash val="solid"/>
          </a:ln>
        </p:spPr>
      </p:sp>
      <p:sp>
        <p:nvSpPr>
          <p:cNvPr id="28" name="Shape 24"/>
          <p:cNvSpPr/>
          <p:nvPr/>
        </p:nvSpPr>
        <p:spPr>
          <a:xfrm>
            <a:off x="411480" y="6762902"/>
            <a:ext cx="11521440" cy="-21946"/>
          </a:xfrm>
          <a:prstGeom prst="rect">
            <a:avLst/>
          </a:prstGeom>
          <a:solidFill>
            <a:srgbClr val="141E36"/>
          </a:solidFill>
          <a:ln w="3810">
            <a:solidFill>
              <a:srgbClr val="141E36"/>
            </a:solidFill>
            <a:prstDash val="solid"/>
          </a:ln>
        </p:spPr>
      </p:sp>
      <p:sp>
        <p:nvSpPr>
          <p:cNvPr id="29" name="Text 25"/>
          <p:cNvSpPr/>
          <p:nvPr/>
        </p:nvSpPr>
        <p:spPr>
          <a:xfrm>
            <a:off x="502920" y="6799478"/>
            <a:ext cx="4286707" cy="-9509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wedgeprops=dict(width=0.4)</a:t>
            </a:r>
            <a:endParaRPr lang="en-US" sz="900" dirty="0"/>
          </a:p>
        </p:txBody>
      </p:sp>
      <p:sp>
        <p:nvSpPr>
          <p:cNvPr id="30" name="Text 26"/>
          <p:cNvSpPr/>
          <p:nvPr/>
        </p:nvSpPr>
        <p:spPr>
          <a:xfrm>
            <a:off x="4844491" y="6799478"/>
            <a:ext cx="6996989" cy="-9509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THIS creates the donut hole. width controls ring thickness: 0.0 = full hole (nothing), 1.0 = full pie (no hole). 0.4 is a common value.</a:t>
            </a:r>
            <a:endParaRPr lang="en-US" sz="950" dirty="0"/>
          </a:p>
        </p:txBody>
      </p:sp>
      <p:sp>
        <p:nvSpPr>
          <p:cNvPr id="31" name="Shape 27"/>
          <p:cNvSpPr/>
          <p:nvPr/>
        </p:nvSpPr>
        <p:spPr>
          <a:xfrm>
            <a:off x="4789627" y="6762902"/>
            <a:ext cx="18288" cy="-21946"/>
          </a:xfrm>
          <a:prstGeom prst="rect">
            <a:avLst/>
          </a:prstGeom>
          <a:solidFill>
            <a:srgbClr val="1E293B"/>
          </a:solidFill>
          <a:ln w="12700">
            <a:solidFill>
              <a:srgbClr val="1E293B"/>
            </a:solidFill>
            <a:prstDash val="solid"/>
          </a:ln>
        </p:spPr>
      </p:sp>
      <p:sp>
        <p:nvSpPr>
          <p:cNvPr id="32" name="Shape 28"/>
          <p:cNvSpPr/>
          <p:nvPr/>
        </p:nvSpPr>
        <p:spPr>
          <a:xfrm>
            <a:off x="411480" y="6740957"/>
            <a:ext cx="11521440" cy="-21946"/>
          </a:xfrm>
          <a:prstGeom prst="rect">
            <a:avLst/>
          </a:prstGeom>
          <a:solidFill>
            <a:srgbClr val="0F1D3C"/>
          </a:solidFill>
          <a:ln w="3810">
            <a:solidFill>
              <a:srgbClr val="141E36"/>
            </a:solidFill>
            <a:prstDash val="solid"/>
          </a:ln>
        </p:spPr>
      </p:sp>
      <p:sp>
        <p:nvSpPr>
          <p:cNvPr id="33" name="Text 29"/>
          <p:cNvSpPr/>
          <p:nvPr/>
        </p:nvSpPr>
        <p:spPr>
          <a:xfrm>
            <a:off x="502920" y="6777533"/>
            <a:ext cx="4286707" cy="-9509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plt.axis('equal')</a:t>
            </a:r>
            <a:endParaRPr lang="en-US" sz="900" dirty="0"/>
          </a:p>
        </p:txBody>
      </p:sp>
      <p:sp>
        <p:nvSpPr>
          <p:cNvPr id="34" name="Text 30"/>
          <p:cNvSpPr/>
          <p:nvPr/>
        </p:nvSpPr>
        <p:spPr>
          <a:xfrm>
            <a:off x="4844491" y="6777533"/>
            <a:ext cx="6996989" cy="-9509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Ensures the chart stays a circle, not an oval.</a:t>
            </a:r>
            <a:endParaRPr lang="en-US" sz="950" dirty="0"/>
          </a:p>
        </p:txBody>
      </p:sp>
      <p:sp>
        <p:nvSpPr>
          <p:cNvPr id="35" name="Shape 31"/>
          <p:cNvSpPr/>
          <p:nvPr/>
        </p:nvSpPr>
        <p:spPr>
          <a:xfrm>
            <a:off x="4789627" y="6740957"/>
            <a:ext cx="18288" cy="-21946"/>
          </a:xfrm>
          <a:prstGeom prst="rect">
            <a:avLst/>
          </a:prstGeom>
          <a:solidFill>
            <a:srgbClr val="1E293B"/>
          </a:solidFill>
          <a:ln w="12700">
            <a:solidFill>
              <a:srgbClr val="1E293B"/>
            </a:solidFill>
            <a:prstDash val="solid"/>
          </a:ln>
        </p:spPr>
      </p:sp>
      <p:sp>
        <p:nvSpPr>
          <p:cNvPr id="36" name="Shape 32"/>
          <p:cNvSpPr/>
          <p:nvPr/>
        </p:nvSpPr>
        <p:spPr>
          <a:xfrm>
            <a:off x="411480" y="6719011"/>
            <a:ext cx="11521440" cy="-21946"/>
          </a:xfrm>
          <a:prstGeom prst="rect">
            <a:avLst/>
          </a:prstGeom>
          <a:solidFill>
            <a:srgbClr val="141E36"/>
          </a:solidFill>
          <a:ln w="3810">
            <a:solidFill>
              <a:srgbClr val="141E36"/>
            </a:solidFill>
            <a:prstDash val="solid"/>
          </a:ln>
        </p:spPr>
      </p:sp>
      <p:sp>
        <p:nvSpPr>
          <p:cNvPr id="37" name="Text 33"/>
          <p:cNvSpPr/>
          <p:nvPr/>
        </p:nvSpPr>
        <p:spPr>
          <a:xfrm>
            <a:off x="502920" y="6755587"/>
            <a:ext cx="4286707" cy="-9509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ax.text(0, 0, 'text')</a:t>
            </a:r>
            <a:endParaRPr lang="en-US" sz="900" dirty="0"/>
          </a:p>
        </p:txBody>
      </p:sp>
      <p:sp>
        <p:nvSpPr>
          <p:cNvPr id="38" name="Text 34"/>
          <p:cNvSpPr/>
          <p:nvPr/>
        </p:nvSpPr>
        <p:spPr>
          <a:xfrm>
            <a:off x="4844491" y="6755587"/>
            <a:ext cx="6996989" cy="-9509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Adds text at the center of the donut (x=0, y=0 is the center of the pie coordinate system).</a:t>
            </a:r>
            <a:endParaRPr lang="en-US" sz="950" dirty="0"/>
          </a:p>
        </p:txBody>
      </p:sp>
      <p:sp>
        <p:nvSpPr>
          <p:cNvPr id="39" name="Shape 35"/>
          <p:cNvSpPr/>
          <p:nvPr/>
        </p:nvSpPr>
        <p:spPr>
          <a:xfrm>
            <a:off x="4789627" y="6719011"/>
            <a:ext cx="18288" cy="-21946"/>
          </a:xfrm>
          <a:prstGeom prst="rect">
            <a:avLst/>
          </a:prstGeom>
          <a:solidFill>
            <a:srgbClr val="1E293B"/>
          </a:solidFill>
          <a:ln w="12700">
            <a:solidFill>
              <a:srgbClr val="1E293B"/>
            </a:solidFill>
            <a:prstDash val="solid"/>
          </a:ln>
        </p:spPr>
      </p:sp>
      <p:sp>
        <p:nvSpPr>
          <p:cNvPr id="40" name="Shape 36"/>
          <p:cNvSpPr/>
          <p:nvPr/>
        </p:nvSpPr>
        <p:spPr>
          <a:xfrm>
            <a:off x="411480" y="6697066"/>
            <a:ext cx="11521440" cy="-21946"/>
          </a:xfrm>
          <a:prstGeom prst="rect">
            <a:avLst/>
          </a:prstGeom>
          <a:solidFill>
            <a:srgbClr val="0F1D3C"/>
          </a:solidFill>
          <a:ln w="3810">
            <a:solidFill>
              <a:srgbClr val="141E36"/>
            </a:solidFill>
            <a:prstDash val="solid"/>
          </a:ln>
        </p:spPr>
      </p:sp>
      <p:sp>
        <p:nvSpPr>
          <p:cNvPr id="41" name="Text 37"/>
          <p:cNvSpPr/>
          <p:nvPr/>
        </p:nvSpPr>
        <p:spPr>
          <a:xfrm>
            <a:off x="502920" y="6733642"/>
            <a:ext cx="4286707" cy="-9509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fig, ax = plt.subplots()</a:t>
            </a:r>
            <a:endParaRPr lang="en-US" sz="900" dirty="0"/>
          </a:p>
        </p:txBody>
      </p:sp>
      <p:sp>
        <p:nvSpPr>
          <p:cNvPr id="42" name="Text 38"/>
          <p:cNvSpPr/>
          <p:nvPr/>
        </p:nvSpPr>
        <p:spPr>
          <a:xfrm>
            <a:off x="4844491" y="6733642"/>
            <a:ext cx="6996989" cy="-9509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professional way to create Matplotlib charts. Returns a Figure and Axes object so you have full control.</a:t>
            </a:r>
            <a:endParaRPr lang="en-US" sz="950" dirty="0"/>
          </a:p>
        </p:txBody>
      </p:sp>
      <p:sp>
        <p:nvSpPr>
          <p:cNvPr id="43" name="Shape 39"/>
          <p:cNvSpPr/>
          <p:nvPr/>
        </p:nvSpPr>
        <p:spPr>
          <a:xfrm>
            <a:off x="4789627" y="6697066"/>
            <a:ext cx="18288" cy="-21946"/>
          </a:xfrm>
          <a:prstGeom prst="rect">
            <a:avLst/>
          </a:prstGeom>
          <a:solidFill>
            <a:srgbClr val="1E293B"/>
          </a:solidFill>
          <a:ln w="12700">
            <a:solidFill>
              <a:srgbClr val="1E293B"/>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KEY VISUALIZATION RULE - Choose the Right Chart</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3949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NOTE - Most Important Charts for Data Science and ML</a:t>
            </a:r>
            <a:endParaRPr lang="en-US" sz="2600" dirty="0"/>
          </a:p>
        </p:txBody>
      </p:sp>
      <p:sp>
        <p:nvSpPr>
          <p:cNvPr id="4" name="Shape 2"/>
          <p:cNvSpPr/>
          <p:nvPr/>
        </p:nvSpPr>
        <p:spPr>
          <a:xfrm>
            <a:off x="411480" y="1097280"/>
            <a:ext cx="5650992" cy="1755648"/>
          </a:xfrm>
          <a:prstGeom prst="roundRect">
            <a:avLst>
              <a:gd name="adj" fmla="val 5208"/>
            </a:avLst>
          </a:prstGeom>
          <a:solidFill>
            <a:srgbClr val="FFFFFF"/>
          </a:solidFill>
          <a:ln w="16510">
            <a:solidFill>
              <a:srgbClr val="8B5CF6"/>
            </a:solidFill>
            <a:prstDash val="solid"/>
          </a:ln>
          <a:effectLst>
            <a:outerShdw sx="100000" sy="100000" kx="0" ky="0" algn="bl" rotWithShape="0" blurRad="63500" dist="25400" dir="2700000">
              <a:srgbClr val="000000">
                <a:alpha val="12000"/>
              </a:srgbClr>
            </a:outerShdw>
          </a:effectLst>
        </p:spPr>
      </p:sp>
      <p:sp>
        <p:nvSpPr>
          <p:cNvPr id="5" name="Shape 3"/>
          <p:cNvSpPr/>
          <p:nvPr/>
        </p:nvSpPr>
        <p:spPr>
          <a:xfrm>
            <a:off x="411480" y="1097280"/>
            <a:ext cx="5650992" cy="475488"/>
          </a:xfrm>
          <a:prstGeom prst="roundRect">
            <a:avLst>
              <a:gd name="adj" fmla="val 19231"/>
            </a:avLst>
          </a:prstGeom>
          <a:solidFill>
            <a:srgbClr val="8B5CF6"/>
          </a:solidFill>
          <a:ln w="12700">
            <a:solidFill>
              <a:srgbClr val="8B5CF6"/>
            </a:solidFill>
            <a:prstDash val="solid"/>
          </a:ln>
        </p:spPr>
      </p:sp>
      <p:sp>
        <p:nvSpPr>
          <p:cNvPr id="6" name="Shape 4"/>
          <p:cNvSpPr/>
          <p:nvPr/>
        </p:nvSpPr>
        <p:spPr>
          <a:xfrm>
            <a:off x="411480" y="1389888"/>
            <a:ext cx="5650992" cy="182880"/>
          </a:xfrm>
          <a:prstGeom prst="rect">
            <a:avLst/>
          </a:prstGeom>
          <a:solidFill>
            <a:srgbClr val="8B5CF6"/>
          </a:solidFill>
          <a:ln w="12700">
            <a:solidFill>
              <a:srgbClr val="8B5CF6"/>
            </a:solidFill>
            <a:prstDash val="solid"/>
          </a:ln>
        </p:spPr>
      </p:sp>
      <p:sp>
        <p:nvSpPr>
          <p:cNvPr id="7" name="Text 5"/>
          <p:cNvSpPr/>
          <p:nvPr/>
        </p:nvSpPr>
        <p:spPr>
          <a:xfrm>
            <a:off x="539496" y="1188720"/>
            <a:ext cx="5394960" cy="32918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Histogram</a:t>
            </a:r>
            <a:endParaRPr lang="en-US" sz="1400" dirty="0"/>
          </a:p>
        </p:txBody>
      </p:sp>
      <p:sp>
        <p:nvSpPr>
          <p:cNvPr id="8" name="Text 6"/>
          <p:cNvSpPr/>
          <p:nvPr/>
        </p:nvSpPr>
        <p:spPr>
          <a:xfrm>
            <a:off x="539496" y="1682496"/>
            <a:ext cx="5394960" cy="256032"/>
          </a:xfrm>
          <a:prstGeom prst="rect">
            <a:avLst/>
          </a:prstGeom>
          <a:noFill/>
          <a:ln/>
        </p:spPr>
        <p:txBody>
          <a:bodyPr wrap="square" lIns="0" tIns="0" rIns="0" bIns="0" rtlCol="0" anchor="ctr"/>
          <a:lstStyle/>
          <a:p>
            <a:pPr indent="0" marL="0">
              <a:buNone/>
            </a:pPr>
            <a:r>
              <a:rPr lang="en-US" sz="950" b="1" dirty="0">
                <a:solidFill>
                  <a:srgbClr val="8B5CF6"/>
                </a:solidFill>
                <a:latin typeface="Cambria" pitchFamily="34" charset="0"/>
                <a:ea typeface="Cambria" pitchFamily="34" charset="-122"/>
                <a:cs typeface="Cambria" pitchFamily="34" charset="-120"/>
              </a:rPr>
              <a:t>Why essential for Data Science:</a:t>
            </a:r>
            <a:endParaRPr lang="en-US" sz="950" dirty="0"/>
          </a:p>
        </p:txBody>
      </p:sp>
      <p:sp>
        <p:nvSpPr>
          <p:cNvPr id="9" name="Text 7"/>
          <p:cNvSpPr/>
          <p:nvPr/>
        </p:nvSpPr>
        <p:spPr>
          <a:xfrm>
            <a:off x="539496" y="1956816"/>
            <a:ext cx="5394960" cy="8046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Understand the distribution of each feature before modelling. Is it normal? Skewed? Bimodal?</a:t>
            </a:r>
            <a:endParaRPr lang="en-US" sz="1050" dirty="0"/>
          </a:p>
        </p:txBody>
      </p:sp>
      <p:sp>
        <p:nvSpPr>
          <p:cNvPr id="10" name="Shape 8"/>
          <p:cNvSpPr/>
          <p:nvPr/>
        </p:nvSpPr>
        <p:spPr>
          <a:xfrm>
            <a:off x="6309360" y="1097280"/>
            <a:ext cx="5650992" cy="1755648"/>
          </a:xfrm>
          <a:prstGeom prst="roundRect">
            <a:avLst>
              <a:gd name="adj" fmla="val 5208"/>
            </a:avLst>
          </a:prstGeom>
          <a:solidFill>
            <a:srgbClr val="FFFFFF"/>
          </a:solidFill>
          <a:ln w="16510">
            <a:solidFill>
              <a:srgbClr val="06B6D4"/>
            </a:solidFill>
            <a:prstDash val="solid"/>
          </a:ln>
          <a:effectLst>
            <a:outerShdw sx="100000" sy="100000" kx="0" ky="0" algn="bl" rotWithShape="0" blurRad="63500" dist="25400" dir="2700000">
              <a:srgbClr val="000000">
                <a:alpha val="12000"/>
              </a:srgbClr>
            </a:outerShdw>
          </a:effectLst>
        </p:spPr>
      </p:sp>
      <p:sp>
        <p:nvSpPr>
          <p:cNvPr id="11" name="Shape 9"/>
          <p:cNvSpPr/>
          <p:nvPr/>
        </p:nvSpPr>
        <p:spPr>
          <a:xfrm>
            <a:off x="6309360" y="1097280"/>
            <a:ext cx="5650992" cy="475488"/>
          </a:xfrm>
          <a:prstGeom prst="roundRect">
            <a:avLst>
              <a:gd name="adj" fmla="val 19231"/>
            </a:avLst>
          </a:prstGeom>
          <a:solidFill>
            <a:srgbClr val="06B6D4"/>
          </a:solidFill>
          <a:ln w="12700">
            <a:solidFill>
              <a:srgbClr val="06B6D4"/>
            </a:solidFill>
            <a:prstDash val="solid"/>
          </a:ln>
        </p:spPr>
      </p:sp>
      <p:sp>
        <p:nvSpPr>
          <p:cNvPr id="12" name="Shape 10"/>
          <p:cNvSpPr/>
          <p:nvPr/>
        </p:nvSpPr>
        <p:spPr>
          <a:xfrm>
            <a:off x="6309360" y="1389888"/>
            <a:ext cx="5650992" cy="182880"/>
          </a:xfrm>
          <a:prstGeom prst="rect">
            <a:avLst/>
          </a:prstGeom>
          <a:solidFill>
            <a:srgbClr val="06B6D4"/>
          </a:solidFill>
          <a:ln w="12700">
            <a:solidFill>
              <a:srgbClr val="06B6D4"/>
            </a:solidFill>
            <a:prstDash val="solid"/>
          </a:ln>
        </p:spPr>
      </p:sp>
      <p:sp>
        <p:nvSpPr>
          <p:cNvPr id="13" name="Text 11"/>
          <p:cNvSpPr/>
          <p:nvPr/>
        </p:nvSpPr>
        <p:spPr>
          <a:xfrm>
            <a:off x="6437376" y="1188720"/>
            <a:ext cx="5394960" cy="32918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Scatter Plot</a:t>
            </a:r>
            <a:endParaRPr lang="en-US" sz="1400" dirty="0"/>
          </a:p>
        </p:txBody>
      </p:sp>
      <p:sp>
        <p:nvSpPr>
          <p:cNvPr id="14" name="Text 12"/>
          <p:cNvSpPr/>
          <p:nvPr/>
        </p:nvSpPr>
        <p:spPr>
          <a:xfrm>
            <a:off x="6437376" y="1682496"/>
            <a:ext cx="5394960" cy="256032"/>
          </a:xfrm>
          <a:prstGeom prst="rect">
            <a:avLst/>
          </a:prstGeom>
          <a:noFill/>
          <a:ln/>
        </p:spPr>
        <p:txBody>
          <a:bodyPr wrap="square" lIns="0" tIns="0" rIns="0" bIns="0" rtlCol="0" anchor="ctr"/>
          <a:lstStyle/>
          <a:p>
            <a:pPr indent="0" marL="0">
              <a:buNone/>
            </a:pPr>
            <a:r>
              <a:rPr lang="en-US" sz="950" b="1" dirty="0">
                <a:solidFill>
                  <a:srgbClr val="06B6D4"/>
                </a:solidFill>
                <a:latin typeface="Cambria" pitchFamily="34" charset="0"/>
                <a:ea typeface="Cambria" pitchFamily="34" charset="-122"/>
                <a:cs typeface="Cambria" pitchFamily="34" charset="-120"/>
              </a:rPr>
              <a:t>Why essential for Data Science:</a:t>
            </a:r>
            <a:endParaRPr lang="en-US" sz="950" dirty="0"/>
          </a:p>
        </p:txBody>
      </p:sp>
      <p:sp>
        <p:nvSpPr>
          <p:cNvPr id="15" name="Text 13"/>
          <p:cNvSpPr/>
          <p:nvPr/>
        </p:nvSpPr>
        <p:spPr>
          <a:xfrm>
            <a:off x="6437376" y="1956816"/>
            <a:ext cx="5394960" cy="8046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Visualise relationships between two numerical variables. Used to detect correlation and clusters before applying regression.</a:t>
            </a:r>
            <a:endParaRPr lang="en-US" sz="1050" dirty="0"/>
          </a:p>
        </p:txBody>
      </p:sp>
      <p:sp>
        <p:nvSpPr>
          <p:cNvPr id="16" name="Shape 14"/>
          <p:cNvSpPr/>
          <p:nvPr/>
        </p:nvSpPr>
        <p:spPr>
          <a:xfrm>
            <a:off x="411480" y="2980944"/>
            <a:ext cx="5650992" cy="1755648"/>
          </a:xfrm>
          <a:prstGeom prst="roundRect">
            <a:avLst>
              <a:gd name="adj" fmla="val 5208"/>
            </a:avLst>
          </a:prstGeom>
          <a:solidFill>
            <a:srgbClr val="FFFFFF"/>
          </a:solidFill>
          <a:ln w="16510">
            <a:solidFill>
              <a:srgbClr val="F43F5E"/>
            </a:solidFill>
            <a:prstDash val="solid"/>
          </a:ln>
          <a:effectLst>
            <a:outerShdw sx="100000" sy="100000" kx="0" ky="0" algn="bl" rotWithShape="0" blurRad="63500" dist="25400" dir="2700000">
              <a:srgbClr val="000000">
                <a:alpha val="12000"/>
              </a:srgbClr>
            </a:outerShdw>
          </a:effectLst>
        </p:spPr>
      </p:sp>
      <p:sp>
        <p:nvSpPr>
          <p:cNvPr id="17" name="Shape 15"/>
          <p:cNvSpPr/>
          <p:nvPr/>
        </p:nvSpPr>
        <p:spPr>
          <a:xfrm>
            <a:off x="411480" y="2980944"/>
            <a:ext cx="5650992" cy="475488"/>
          </a:xfrm>
          <a:prstGeom prst="roundRect">
            <a:avLst>
              <a:gd name="adj" fmla="val 19231"/>
            </a:avLst>
          </a:prstGeom>
          <a:solidFill>
            <a:srgbClr val="F43F5E"/>
          </a:solidFill>
          <a:ln w="12700">
            <a:solidFill>
              <a:srgbClr val="F43F5E"/>
            </a:solidFill>
            <a:prstDash val="solid"/>
          </a:ln>
        </p:spPr>
      </p:sp>
      <p:sp>
        <p:nvSpPr>
          <p:cNvPr id="18" name="Shape 16"/>
          <p:cNvSpPr/>
          <p:nvPr/>
        </p:nvSpPr>
        <p:spPr>
          <a:xfrm>
            <a:off x="411480" y="3273552"/>
            <a:ext cx="5650992" cy="182880"/>
          </a:xfrm>
          <a:prstGeom prst="rect">
            <a:avLst/>
          </a:prstGeom>
          <a:solidFill>
            <a:srgbClr val="F43F5E"/>
          </a:solidFill>
          <a:ln w="12700">
            <a:solidFill>
              <a:srgbClr val="F43F5E"/>
            </a:solidFill>
            <a:prstDash val="solid"/>
          </a:ln>
        </p:spPr>
      </p:sp>
      <p:sp>
        <p:nvSpPr>
          <p:cNvPr id="19" name="Text 17"/>
          <p:cNvSpPr/>
          <p:nvPr/>
        </p:nvSpPr>
        <p:spPr>
          <a:xfrm>
            <a:off x="539496" y="3072384"/>
            <a:ext cx="5394960" cy="32918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Box Plot</a:t>
            </a:r>
            <a:endParaRPr lang="en-US" sz="1400" dirty="0"/>
          </a:p>
        </p:txBody>
      </p:sp>
      <p:sp>
        <p:nvSpPr>
          <p:cNvPr id="20" name="Text 18"/>
          <p:cNvSpPr/>
          <p:nvPr/>
        </p:nvSpPr>
        <p:spPr>
          <a:xfrm>
            <a:off x="539496" y="3566160"/>
            <a:ext cx="5394960" cy="256032"/>
          </a:xfrm>
          <a:prstGeom prst="rect">
            <a:avLst/>
          </a:prstGeom>
          <a:noFill/>
          <a:ln/>
        </p:spPr>
        <p:txBody>
          <a:bodyPr wrap="square" lIns="0" tIns="0" rIns="0" bIns="0" rtlCol="0" anchor="ctr"/>
          <a:lstStyle/>
          <a:p>
            <a:pPr indent="0" marL="0">
              <a:buNone/>
            </a:pPr>
            <a:r>
              <a:rPr lang="en-US" sz="950" b="1" dirty="0">
                <a:solidFill>
                  <a:srgbClr val="F43F5E"/>
                </a:solidFill>
                <a:latin typeface="Cambria" pitchFamily="34" charset="0"/>
                <a:ea typeface="Cambria" pitchFamily="34" charset="-122"/>
                <a:cs typeface="Cambria" pitchFamily="34" charset="-120"/>
              </a:rPr>
              <a:t>Why essential for Data Science:</a:t>
            </a:r>
            <a:endParaRPr lang="en-US" sz="950" dirty="0"/>
          </a:p>
        </p:txBody>
      </p:sp>
      <p:sp>
        <p:nvSpPr>
          <p:cNvPr id="21" name="Text 19"/>
          <p:cNvSpPr/>
          <p:nvPr/>
        </p:nvSpPr>
        <p:spPr>
          <a:xfrm>
            <a:off x="539496" y="3840480"/>
            <a:ext cx="5394960" cy="8046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Detect and visualise outliers in each feature. Outliers must be handled before training ML models.</a:t>
            </a:r>
            <a:endParaRPr lang="en-US" sz="1050" dirty="0"/>
          </a:p>
        </p:txBody>
      </p:sp>
      <p:sp>
        <p:nvSpPr>
          <p:cNvPr id="22" name="Shape 20"/>
          <p:cNvSpPr/>
          <p:nvPr/>
        </p:nvSpPr>
        <p:spPr>
          <a:xfrm>
            <a:off x="6309360" y="2980944"/>
            <a:ext cx="5650992" cy="1755648"/>
          </a:xfrm>
          <a:prstGeom prst="roundRect">
            <a:avLst>
              <a:gd name="adj" fmla="val 5208"/>
            </a:avLst>
          </a:prstGeom>
          <a:solidFill>
            <a:srgbClr val="FFFFFF"/>
          </a:solidFill>
          <a:ln w="16510">
            <a:solidFill>
              <a:srgbClr val="EC4899"/>
            </a:solidFill>
            <a:prstDash val="solid"/>
          </a:ln>
          <a:effectLst>
            <a:outerShdw sx="100000" sy="100000" kx="0" ky="0" algn="bl" rotWithShape="0" blurRad="63500" dist="25400" dir="2700000">
              <a:srgbClr val="000000">
                <a:alpha val="12000"/>
              </a:srgbClr>
            </a:outerShdw>
          </a:effectLst>
        </p:spPr>
      </p:sp>
      <p:sp>
        <p:nvSpPr>
          <p:cNvPr id="23" name="Shape 21"/>
          <p:cNvSpPr/>
          <p:nvPr/>
        </p:nvSpPr>
        <p:spPr>
          <a:xfrm>
            <a:off x="6309360" y="2980944"/>
            <a:ext cx="5650992" cy="475488"/>
          </a:xfrm>
          <a:prstGeom prst="roundRect">
            <a:avLst>
              <a:gd name="adj" fmla="val 19231"/>
            </a:avLst>
          </a:prstGeom>
          <a:solidFill>
            <a:srgbClr val="EC4899"/>
          </a:solidFill>
          <a:ln w="12700">
            <a:solidFill>
              <a:srgbClr val="EC4899"/>
            </a:solidFill>
            <a:prstDash val="solid"/>
          </a:ln>
        </p:spPr>
      </p:sp>
      <p:sp>
        <p:nvSpPr>
          <p:cNvPr id="24" name="Shape 22"/>
          <p:cNvSpPr/>
          <p:nvPr/>
        </p:nvSpPr>
        <p:spPr>
          <a:xfrm>
            <a:off x="6309360" y="3273552"/>
            <a:ext cx="5650992" cy="182880"/>
          </a:xfrm>
          <a:prstGeom prst="rect">
            <a:avLst/>
          </a:prstGeom>
          <a:solidFill>
            <a:srgbClr val="EC4899"/>
          </a:solidFill>
          <a:ln w="12700">
            <a:solidFill>
              <a:srgbClr val="EC4899"/>
            </a:solidFill>
            <a:prstDash val="solid"/>
          </a:ln>
        </p:spPr>
      </p:sp>
      <p:sp>
        <p:nvSpPr>
          <p:cNvPr id="25" name="Text 23"/>
          <p:cNvSpPr/>
          <p:nvPr/>
        </p:nvSpPr>
        <p:spPr>
          <a:xfrm>
            <a:off x="6437376" y="3072384"/>
            <a:ext cx="5394960" cy="32918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Heatmap</a:t>
            </a:r>
            <a:endParaRPr lang="en-US" sz="1400" dirty="0"/>
          </a:p>
        </p:txBody>
      </p:sp>
      <p:sp>
        <p:nvSpPr>
          <p:cNvPr id="26" name="Text 24"/>
          <p:cNvSpPr/>
          <p:nvPr/>
        </p:nvSpPr>
        <p:spPr>
          <a:xfrm>
            <a:off x="6437376" y="3566160"/>
            <a:ext cx="5394960" cy="256032"/>
          </a:xfrm>
          <a:prstGeom prst="rect">
            <a:avLst/>
          </a:prstGeom>
          <a:noFill/>
          <a:ln/>
        </p:spPr>
        <p:txBody>
          <a:bodyPr wrap="square" lIns="0" tIns="0" rIns="0" bIns="0" rtlCol="0" anchor="ctr"/>
          <a:lstStyle/>
          <a:p>
            <a:pPr indent="0" marL="0">
              <a:buNone/>
            </a:pPr>
            <a:r>
              <a:rPr lang="en-US" sz="950" b="1" dirty="0">
                <a:solidFill>
                  <a:srgbClr val="EC4899"/>
                </a:solidFill>
                <a:latin typeface="Cambria" pitchFamily="34" charset="0"/>
                <a:ea typeface="Cambria" pitchFamily="34" charset="-122"/>
                <a:cs typeface="Cambria" pitchFamily="34" charset="-120"/>
              </a:rPr>
              <a:t>Why essential for Data Science:</a:t>
            </a:r>
            <a:endParaRPr lang="en-US" sz="950" dirty="0"/>
          </a:p>
        </p:txBody>
      </p:sp>
      <p:sp>
        <p:nvSpPr>
          <p:cNvPr id="27" name="Text 25"/>
          <p:cNvSpPr/>
          <p:nvPr/>
        </p:nvSpPr>
        <p:spPr>
          <a:xfrm>
            <a:off x="6437376" y="3840480"/>
            <a:ext cx="5394960" cy="8046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Show the correlation matrix of all numeric features. High correlation between features (multicollinearity) affects regression models.</a:t>
            </a:r>
            <a:endParaRPr lang="en-US" sz="1050" dirty="0"/>
          </a:p>
        </p:txBody>
      </p:sp>
      <p:sp>
        <p:nvSpPr>
          <p:cNvPr id="28" name="Shape 26"/>
          <p:cNvSpPr/>
          <p:nvPr/>
        </p:nvSpPr>
        <p:spPr>
          <a:xfrm>
            <a:off x="411480" y="4864608"/>
            <a:ext cx="5650992" cy="1755648"/>
          </a:xfrm>
          <a:prstGeom prst="roundRect">
            <a:avLst>
              <a:gd name="adj" fmla="val 5208"/>
            </a:avLst>
          </a:prstGeom>
          <a:solidFill>
            <a:srgbClr val="FFFFFF"/>
          </a:solidFill>
          <a:ln w="16510">
            <a:solidFill>
              <a:srgbClr val="F97316"/>
            </a:solidFill>
            <a:prstDash val="solid"/>
          </a:ln>
          <a:effectLst>
            <a:outerShdw sx="100000" sy="100000" kx="0" ky="0" algn="bl" rotWithShape="0" blurRad="63500" dist="25400" dir="2700000">
              <a:srgbClr val="000000">
                <a:alpha val="12000"/>
              </a:srgbClr>
            </a:outerShdw>
          </a:effectLst>
        </p:spPr>
      </p:sp>
      <p:sp>
        <p:nvSpPr>
          <p:cNvPr id="29" name="Shape 27"/>
          <p:cNvSpPr/>
          <p:nvPr/>
        </p:nvSpPr>
        <p:spPr>
          <a:xfrm>
            <a:off x="411480" y="4864608"/>
            <a:ext cx="5650992" cy="475488"/>
          </a:xfrm>
          <a:prstGeom prst="roundRect">
            <a:avLst>
              <a:gd name="adj" fmla="val 19231"/>
            </a:avLst>
          </a:prstGeom>
          <a:solidFill>
            <a:srgbClr val="F97316"/>
          </a:solidFill>
          <a:ln w="12700">
            <a:solidFill>
              <a:srgbClr val="F97316"/>
            </a:solidFill>
            <a:prstDash val="solid"/>
          </a:ln>
        </p:spPr>
      </p:sp>
      <p:sp>
        <p:nvSpPr>
          <p:cNvPr id="30" name="Shape 28"/>
          <p:cNvSpPr/>
          <p:nvPr/>
        </p:nvSpPr>
        <p:spPr>
          <a:xfrm>
            <a:off x="411480" y="5157216"/>
            <a:ext cx="5650992" cy="182880"/>
          </a:xfrm>
          <a:prstGeom prst="rect">
            <a:avLst/>
          </a:prstGeom>
          <a:solidFill>
            <a:srgbClr val="F97316"/>
          </a:solidFill>
          <a:ln w="12700">
            <a:solidFill>
              <a:srgbClr val="F97316"/>
            </a:solidFill>
            <a:prstDash val="solid"/>
          </a:ln>
        </p:spPr>
      </p:sp>
      <p:sp>
        <p:nvSpPr>
          <p:cNvPr id="31" name="Text 29"/>
          <p:cNvSpPr/>
          <p:nvPr/>
        </p:nvSpPr>
        <p:spPr>
          <a:xfrm>
            <a:off x="539496" y="4956048"/>
            <a:ext cx="5394960" cy="32918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Pair Plot</a:t>
            </a:r>
            <a:endParaRPr lang="en-US" sz="1400" dirty="0"/>
          </a:p>
        </p:txBody>
      </p:sp>
      <p:sp>
        <p:nvSpPr>
          <p:cNvPr id="32" name="Text 30"/>
          <p:cNvSpPr/>
          <p:nvPr/>
        </p:nvSpPr>
        <p:spPr>
          <a:xfrm>
            <a:off x="539496" y="5449824"/>
            <a:ext cx="5394960" cy="256032"/>
          </a:xfrm>
          <a:prstGeom prst="rect">
            <a:avLst/>
          </a:prstGeom>
          <a:noFill/>
          <a:ln/>
        </p:spPr>
        <p:txBody>
          <a:bodyPr wrap="square" lIns="0" tIns="0" rIns="0" bIns="0" rtlCol="0" anchor="ctr"/>
          <a:lstStyle/>
          <a:p>
            <a:pPr indent="0" marL="0">
              <a:buNone/>
            </a:pPr>
            <a:r>
              <a:rPr lang="en-US" sz="950" b="1" dirty="0">
                <a:solidFill>
                  <a:srgbClr val="F97316"/>
                </a:solidFill>
                <a:latin typeface="Cambria" pitchFamily="34" charset="0"/>
                <a:ea typeface="Cambria" pitchFamily="34" charset="-122"/>
                <a:cs typeface="Cambria" pitchFamily="34" charset="-120"/>
              </a:rPr>
              <a:t>Why essential for Data Science:</a:t>
            </a:r>
            <a:endParaRPr lang="en-US" sz="950" dirty="0"/>
          </a:p>
        </p:txBody>
      </p:sp>
      <p:sp>
        <p:nvSpPr>
          <p:cNvPr id="33" name="Text 31"/>
          <p:cNvSpPr/>
          <p:nvPr/>
        </p:nvSpPr>
        <p:spPr>
          <a:xfrm>
            <a:off x="539496" y="5724144"/>
            <a:ext cx="5394960" cy="8046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The ultimate EDA tool. Shows all variable relationships in one command. Used to identify which features are predictive.</a:t>
            </a:r>
            <a:endParaRPr lang="en-US" sz="1050" dirty="0"/>
          </a:p>
        </p:txBody>
      </p:sp>
      <p:sp>
        <p:nvSpPr>
          <p:cNvPr id="34" name="Shape 32"/>
          <p:cNvSpPr/>
          <p:nvPr/>
        </p:nvSpPr>
        <p:spPr>
          <a:xfrm>
            <a:off x="6309360" y="4864608"/>
            <a:ext cx="5650992" cy="1755648"/>
          </a:xfrm>
          <a:prstGeom prst="roundRect">
            <a:avLst>
              <a:gd name="adj" fmla="val 5208"/>
            </a:avLst>
          </a:prstGeom>
          <a:solidFill>
            <a:srgbClr val="FFFFFF"/>
          </a:solidFill>
          <a:ln w="16510">
            <a:solidFill>
              <a:srgbClr val="22C55E"/>
            </a:solidFill>
            <a:prstDash val="solid"/>
          </a:ln>
          <a:effectLst>
            <a:outerShdw sx="100000" sy="100000" kx="0" ky="0" algn="bl" rotWithShape="0" blurRad="63500" dist="25400" dir="2700000">
              <a:srgbClr val="000000">
                <a:alpha val="12000"/>
              </a:srgbClr>
            </a:outerShdw>
          </a:effectLst>
        </p:spPr>
      </p:sp>
      <p:sp>
        <p:nvSpPr>
          <p:cNvPr id="35" name="Shape 33"/>
          <p:cNvSpPr/>
          <p:nvPr/>
        </p:nvSpPr>
        <p:spPr>
          <a:xfrm>
            <a:off x="6309360" y="4864608"/>
            <a:ext cx="5650992" cy="475488"/>
          </a:xfrm>
          <a:prstGeom prst="roundRect">
            <a:avLst>
              <a:gd name="adj" fmla="val 19231"/>
            </a:avLst>
          </a:prstGeom>
          <a:solidFill>
            <a:srgbClr val="22C55E"/>
          </a:solidFill>
          <a:ln w="12700">
            <a:solidFill>
              <a:srgbClr val="22C55E"/>
            </a:solidFill>
            <a:prstDash val="solid"/>
          </a:ln>
        </p:spPr>
      </p:sp>
      <p:sp>
        <p:nvSpPr>
          <p:cNvPr id="36" name="Shape 34"/>
          <p:cNvSpPr/>
          <p:nvPr/>
        </p:nvSpPr>
        <p:spPr>
          <a:xfrm>
            <a:off x="6309360" y="5157216"/>
            <a:ext cx="5650992" cy="182880"/>
          </a:xfrm>
          <a:prstGeom prst="rect">
            <a:avLst/>
          </a:prstGeom>
          <a:solidFill>
            <a:srgbClr val="22C55E"/>
          </a:solidFill>
          <a:ln w="12700">
            <a:solidFill>
              <a:srgbClr val="22C55E"/>
            </a:solidFill>
            <a:prstDash val="solid"/>
          </a:ln>
        </p:spPr>
      </p:sp>
      <p:sp>
        <p:nvSpPr>
          <p:cNvPr id="37" name="Text 35"/>
          <p:cNvSpPr/>
          <p:nvPr/>
        </p:nvSpPr>
        <p:spPr>
          <a:xfrm>
            <a:off x="6437376" y="4956048"/>
            <a:ext cx="5394960" cy="32918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  Count Plot</a:t>
            </a:r>
            <a:endParaRPr lang="en-US" sz="1400" dirty="0"/>
          </a:p>
        </p:txBody>
      </p:sp>
      <p:sp>
        <p:nvSpPr>
          <p:cNvPr id="38" name="Text 36"/>
          <p:cNvSpPr/>
          <p:nvPr/>
        </p:nvSpPr>
        <p:spPr>
          <a:xfrm>
            <a:off x="6437376" y="5449824"/>
            <a:ext cx="5394960" cy="256032"/>
          </a:xfrm>
          <a:prstGeom prst="rect">
            <a:avLst/>
          </a:prstGeom>
          <a:noFill/>
          <a:ln/>
        </p:spPr>
        <p:txBody>
          <a:bodyPr wrap="square" lIns="0" tIns="0" rIns="0" bIns="0" rtlCol="0" anchor="ctr"/>
          <a:lstStyle/>
          <a:p>
            <a:pPr indent="0" marL="0">
              <a:buNone/>
            </a:pPr>
            <a:r>
              <a:rPr lang="en-US" sz="950" b="1" dirty="0">
                <a:solidFill>
                  <a:srgbClr val="22C55E"/>
                </a:solidFill>
                <a:latin typeface="Cambria" pitchFamily="34" charset="0"/>
                <a:ea typeface="Cambria" pitchFamily="34" charset="-122"/>
                <a:cs typeface="Cambria" pitchFamily="34" charset="-120"/>
              </a:rPr>
              <a:t>Why essential for Data Science:</a:t>
            </a:r>
            <a:endParaRPr lang="en-US" sz="950" dirty="0"/>
          </a:p>
        </p:txBody>
      </p:sp>
      <p:sp>
        <p:nvSpPr>
          <p:cNvPr id="39" name="Text 37"/>
          <p:cNvSpPr/>
          <p:nvPr/>
        </p:nvSpPr>
        <p:spPr>
          <a:xfrm>
            <a:off x="6437376" y="5724144"/>
            <a:ext cx="5394960" cy="8046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Check class imbalance in the target variable. If one class has far more samples than others, the ML model will be biased.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F1D3C"/>
          </a:solidFill>
          <a:ln w="12700">
            <a:solidFill>
              <a:srgbClr val="0F1D3C"/>
            </a:solidFill>
            <a:prstDash val="solid"/>
          </a:ln>
        </p:spPr>
      </p:sp>
      <p:sp>
        <p:nvSpPr>
          <p:cNvPr id="3" name="Text 1"/>
          <p:cNvSpPr/>
          <p:nvPr/>
        </p:nvSpPr>
        <p:spPr>
          <a:xfrm>
            <a:off x="411480" y="91440"/>
            <a:ext cx="11338560" cy="786384"/>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QUICK REFERENCE - All Chart Commands</a:t>
            </a:r>
            <a:endParaRPr lang="en-US" sz="2600" dirty="0"/>
          </a:p>
        </p:txBody>
      </p:sp>
      <p:sp>
        <p:nvSpPr>
          <p:cNvPr id="4" name="Shape 2"/>
          <p:cNvSpPr/>
          <p:nvPr/>
        </p:nvSpPr>
        <p:spPr>
          <a:xfrm>
            <a:off x="411480" y="1097280"/>
            <a:ext cx="3657600" cy="731520"/>
          </a:xfrm>
          <a:prstGeom prst="roundRect">
            <a:avLst>
              <a:gd name="adj" fmla="val 10000"/>
            </a:avLst>
          </a:prstGeom>
          <a:solidFill>
            <a:srgbClr val="141E36"/>
          </a:solidFill>
          <a:ln w="10160">
            <a:solidFill>
              <a:srgbClr val="3B82F6"/>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521208" y="1170432"/>
            <a:ext cx="3438144" cy="256032"/>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Line Chart</a:t>
            </a:r>
            <a:endParaRPr lang="en-US" sz="1050" dirty="0"/>
          </a:p>
        </p:txBody>
      </p:sp>
      <p:sp>
        <p:nvSpPr>
          <p:cNvPr id="6" name="Text 4"/>
          <p:cNvSpPr/>
          <p:nvPr/>
        </p:nvSpPr>
        <p:spPr>
          <a:xfrm>
            <a:off x="521208" y="1463040"/>
            <a:ext cx="34381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plt.plot(x, y)</a:t>
            </a:r>
            <a:endParaRPr lang="en-US" sz="900" dirty="0"/>
          </a:p>
        </p:txBody>
      </p:sp>
      <p:sp>
        <p:nvSpPr>
          <p:cNvPr id="7" name="Shape 5"/>
          <p:cNvSpPr/>
          <p:nvPr/>
        </p:nvSpPr>
        <p:spPr>
          <a:xfrm>
            <a:off x="411480" y="1901952"/>
            <a:ext cx="3657600" cy="731520"/>
          </a:xfrm>
          <a:prstGeom prst="roundRect">
            <a:avLst>
              <a:gd name="adj" fmla="val 10000"/>
            </a:avLst>
          </a:prstGeom>
          <a:solidFill>
            <a:srgbClr val="141E36"/>
          </a:solidFill>
          <a:ln w="10160">
            <a:solidFill>
              <a:srgbClr val="3B82F6"/>
            </a:solidFill>
            <a:prstDash val="solid"/>
          </a:ln>
          <a:effectLst>
            <a:outerShdw sx="100000" sy="100000" kx="0" ky="0" algn="bl" rotWithShape="0" blurRad="63500" dist="25400" dir="2700000">
              <a:srgbClr val="000000">
                <a:alpha val="12000"/>
              </a:srgbClr>
            </a:outerShdw>
          </a:effectLst>
        </p:spPr>
      </p:sp>
      <p:sp>
        <p:nvSpPr>
          <p:cNvPr id="8" name="Text 6"/>
          <p:cNvSpPr/>
          <p:nvPr/>
        </p:nvSpPr>
        <p:spPr>
          <a:xfrm>
            <a:off x="521208" y="1975104"/>
            <a:ext cx="3438144" cy="256032"/>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Bar Chart</a:t>
            </a:r>
            <a:endParaRPr lang="en-US" sz="1050" dirty="0"/>
          </a:p>
        </p:txBody>
      </p:sp>
      <p:sp>
        <p:nvSpPr>
          <p:cNvPr id="9" name="Text 7"/>
          <p:cNvSpPr/>
          <p:nvPr/>
        </p:nvSpPr>
        <p:spPr>
          <a:xfrm>
            <a:off x="521208" y="2267712"/>
            <a:ext cx="34381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plt.bar(x, y)</a:t>
            </a:r>
            <a:endParaRPr lang="en-US" sz="900" dirty="0"/>
          </a:p>
        </p:txBody>
      </p:sp>
      <p:sp>
        <p:nvSpPr>
          <p:cNvPr id="10" name="Shape 8"/>
          <p:cNvSpPr/>
          <p:nvPr/>
        </p:nvSpPr>
        <p:spPr>
          <a:xfrm>
            <a:off x="411480" y="2706624"/>
            <a:ext cx="3657600" cy="731520"/>
          </a:xfrm>
          <a:prstGeom prst="roundRect">
            <a:avLst>
              <a:gd name="adj" fmla="val 10000"/>
            </a:avLst>
          </a:prstGeom>
          <a:solidFill>
            <a:srgbClr val="141E36"/>
          </a:solidFill>
          <a:ln w="10160">
            <a:solidFill>
              <a:srgbClr val="3B82F6"/>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521208" y="2779776"/>
            <a:ext cx="3438144" cy="256032"/>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Histogram</a:t>
            </a:r>
            <a:endParaRPr lang="en-US" sz="1050" dirty="0"/>
          </a:p>
        </p:txBody>
      </p:sp>
      <p:sp>
        <p:nvSpPr>
          <p:cNvPr id="12" name="Text 10"/>
          <p:cNvSpPr/>
          <p:nvPr/>
        </p:nvSpPr>
        <p:spPr>
          <a:xfrm>
            <a:off x="521208" y="3072384"/>
            <a:ext cx="34381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plt.hist(data, bins=n)</a:t>
            </a:r>
            <a:endParaRPr lang="en-US" sz="900" dirty="0"/>
          </a:p>
        </p:txBody>
      </p:sp>
      <p:sp>
        <p:nvSpPr>
          <p:cNvPr id="13" name="Shape 11"/>
          <p:cNvSpPr/>
          <p:nvPr/>
        </p:nvSpPr>
        <p:spPr>
          <a:xfrm>
            <a:off x="411480" y="3511296"/>
            <a:ext cx="3657600" cy="731520"/>
          </a:xfrm>
          <a:prstGeom prst="roundRect">
            <a:avLst>
              <a:gd name="adj" fmla="val 10000"/>
            </a:avLst>
          </a:prstGeom>
          <a:solidFill>
            <a:srgbClr val="141E36"/>
          </a:solidFill>
          <a:ln w="10160">
            <a:solidFill>
              <a:srgbClr val="3B82F6"/>
            </a:solidFill>
            <a:prstDash val="solid"/>
          </a:ln>
          <a:effectLst>
            <a:outerShdw sx="100000" sy="100000" kx="0" ky="0" algn="bl" rotWithShape="0" blurRad="63500" dist="25400" dir="2700000">
              <a:srgbClr val="000000">
                <a:alpha val="12000"/>
              </a:srgbClr>
            </a:outerShdw>
          </a:effectLst>
        </p:spPr>
      </p:sp>
      <p:sp>
        <p:nvSpPr>
          <p:cNvPr id="14" name="Text 12"/>
          <p:cNvSpPr/>
          <p:nvPr/>
        </p:nvSpPr>
        <p:spPr>
          <a:xfrm>
            <a:off x="521208" y="3584448"/>
            <a:ext cx="3438144" cy="256032"/>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Scatter Plot</a:t>
            </a:r>
            <a:endParaRPr lang="en-US" sz="1050" dirty="0"/>
          </a:p>
        </p:txBody>
      </p:sp>
      <p:sp>
        <p:nvSpPr>
          <p:cNvPr id="15" name="Text 13"/>
          <p:cNvSpPr/>
          <p:nvPr/>
        </p:nvSpPr>
        <p:spPr>
          <a:xfrm>
            <a:off x="521208" y="3877056"/>
            <a:ext cx="34381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plt.scatter(x, y)</a:t>
            </a:r>
            <a:endParaRPr lang="en-US" sz="900" dirty="0"/>
          </a:p>
        </p:txBody>
      </p:sp>
      <p:sp>
        <p:nvSpPr>
          <p:cNvPr id="16" name="Shape 14"/>
          <p:cNvSpPr/>
          <p:nvPr/>
        </p:nvSpPr>
        <p:spPr>
          <a:xfrm>
            <a:off x="411480" y="4315968"/>
            <a:ext cx="3657600" cy="731520"/>
          </a:xfrm>
          <a:prstGeom prst="roundRect">
            <a:avLst>
              <a:gd name="adj" fmla="val 10000"/>
            </a:avLst>
          </a:prstGeom>
          <a:solidFill>
            <a:srgbClr val="141E36"/>
          </a:solidFill>
          <a:ln w="10160">
            <a:solidFill>
              <a:srgbClr val="3B82F6"/>
            </a:solidFill>
            <a:prstDash val="solid"/>
          </a:ln>
          <a:effectLst>
            <a:outerShdw sx="100000" sy="100000" kx="0" ky="0" algn="bl" rotWithShape="0" blurRad="63500" dist="25400" dir="2700000">
              <a:srgbClr val="000000">
                <a:alpha val="12000"/>
              </a:srgbClr>
            </a:outerShdw>
          </a:effectLst>
        </p:spPr>
      </p:sp>
      <p:sp>
        <p:nvSpPr>
          <p:cNvPr id="17" name="Text 15"/>
          <p:cNvSpPr/>
          <p:nvPr/>
        </p:nvSpPr>
        <p:spPr>
          <a:xfrm>
            <a:off x="521208" y="4389120"/>
            <a:ext cx="3438144" cy="256032"/>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Pie Chart</a:t>
            </a:r>
            <a:endParaRPr lang="en-US" sz="1050" dirty="0"/>
          </a:p>
        </p:txBody>
      </p:sp>
      <p:sp>
        <p:nvSpPr>
          <p:cNvPr id="18" name="Text 16"/>
          <p:cNvSpPr/>
          <p:nvPr/>
        </p:nvSpPr>
        <p:spPr>
          <a:xfrm>
            <a:off x="521208" y="4681728"/>
            <a:ext cx="34381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plt.pie(sizes, labels=..., autopct=...)</a:t>
            </a:r>
            <a:endParaRPr lang="en-US" sz="900" dirty="0"/>
          </a:p>
        </p:txBody>
      </p:sp>
      <p:sp>
        <p:nvSpPr>
          <p:cNvPr id="19" name="Shape 17"/>
          <p:cNvSpPr/>
          <p:nvPr/>
        </p:nvSpPr>
        <p:spPr>
          <a:xfrm>
            <a:off x="411480" y="5120640"/>
            <a:ext cx="3657600" cy="731520"/>
          </a:xfrm>
          <a:prstGeom prst="roundRect">
            <a:avLst>
              <a:gd name="adj" fmla="val 10000"/>
            </a:avLst>
          </a:prstGeom>
          <a:solidFill>
            <a:srgbClr val="141E36"/>
          </a:solidFill>
          <a:ln w="10160">
            <a:solidFill>
              <a:srgbClr val="3B82F6"/>
            </a:solidFill>
            <a:prstDash val="solid"/>
          </a:ln>
          <a:effectLst>
            <a:outerShdw sx="100000" sy="100000" kx="0" ky="0" algn="bl" rotWithShape="0" blurRad="63500" dist="25400" dir="2700000">
              <a:srgbClr val="000000">
                <a:alpha val="12000"/>
              </a:srgbClr>
            </a:outerShdw>
          </a:effectLst>
        </p:spPr>
      </p:sp>
      <p:sp>
        <p:nvSpPr>
          <p:cNvPr id="20" name="Text 18"/>
          <p:cNvSpPr/>
          <p:nvPr/>
        </p:nvSpPr>
        <p:spPr>
          <a:xfrm>
            <a:off x="521208" y="5193792"/>
            <a:ext cx="3438144" cy="256032"/>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Area Chart</a:t>
            </a:r>
            <a:endParaRPr lang="en-US" sz="1050" dirty="0"/>
          </a:p>
        </p:txBody>
      </p:sp>
      <p:sp>
        <p:nvSpPr>
          <p:cNvPr id="21" name="Text 19"/>
          <p:cNvSpPr/>
          <p:nvPr/>
        </p:nvSpPr>
        <p:spPr>
          <a:xfrm>
            <a:off x="521208" y="5486400"/>
            <a:ext cx="34381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plt.fill_between(x, y)</a:t>
            </a:r>
            <a:endParaRPr lang="en-US" sz="900" dirty="0"/>
          </a:p>
        </p:txBody>
      </p:sp>
      <p:sp>
        <p:nvSpPr>
          <p:cNvPr id="22" name="Shape 20"/>
          <p:cNvSpPr/>
          <p:nvPr/>
        </p:nvSpPr>
        <p:spPr>
          <a:xfrm>
            <a:off x="411480" y="5925312"/>
            <a:ext cx="3657600" cy="731520"/>
          </a:xfrm>
          <a:prstGeom prst="roundRect">
            <a:avLst>
              <a:gd name="adj" fmla="val 10000"/>
            </a:avLst>
          </a:prstGeom>
          <a:solidFill>
            <a:srgbClr val="141E36"/>
          </a:solidFill>
          <a:ln w="10160">
            <a:solidFill>
              <a:srgbClr val="3B82F6"/>
            </a:solidFill>
            <a:prstDash val="solid"/>
          </a:ln>
          <a:effectLst>
            <a:outerShdw sx="100000" sy="100000" kx="0" ky="0" algn="bl" rotWithShape="0" blurRad="63500" dist="25400" dir="2700000">
              <a:srgbClr val="000000">
                <a:alpha val="12000"/>
              </a:srgbClr>
            </a:outerShdw>
          </a:effectLst>
        </p:spPr>
      </p:sp>
      <p:sp>
        <p:nvSpPr>
          <p:cNvPr id="23" name="Text 21"/>
          <p:cNvSpPr/>
          <p:nvPr/>
        </p:nvSpPr>
        <p:spPr>
          <a:xfrm>
            <a:off x="521208" y="5998464"/>
            <a:ext cx="3438144" cy="256032"/>
          </a:xfrm>
          <a:prstGeom prst="rect">
            <a:avLst/>
          </a:prstGeom>
          <a:noFill/>
          <a:ln/>
        </p:spPr>
        <p:txBody>
          <a:bodyPr wrap="square" lIns="0" tIns="0" rIns="0" bIns="0" rtlCol="0" anchor="ctr"/>
          <a:lstStyle/>
          <a:p>
            <a:pPr indent="0" marL="0">
              <a:buNone/>
            </a:pPr>
            <a:r>
              <a:rPr lang="en-US" sz="1050" b="1" dirty="0">
                <a:solidFill>
                  <a:srgbClr val="3B82F6"/>
                </a:solidFill>
                <a:latin typeface="Cambria" pitchFamily="34" charset="0"/>
                <a:ea typeface="Cambria" pitchFamily="34" charset="-122"/>
                <a:cs typeface="Cambria" pitchFamily="34" charset="-120"/>
              </a:rPr>
              <a:t>Bubble Chart</a:t>
            </a:r>
            <a:endParaRPr lang="en-US" sz="1050" dirty="0"/>
          </a:p>
        </p:txBody>
      </p:sp>
      <p:sp>
        <p:nvSpPr>
          <p:cNvPr id="24" name="Text 22"/>
          <p:cNvSpPr/>
          <p:nvPr/>
        </p:nvSpPr>
        <p:spPr>
          <a:xfrm>
            <a:off x="521208" y="6291072"/>
            <a:ext cx="34381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plt.scatter(x, y, s=[...])</a:t>
            </a:r>
            <a:endParaRPr lang="en-US" sz="900" dirty="0"/>
          </a:p>
        </p:txBody>
      </p:sp>
      <p:sp>
        <p:nvSpPr>
          <p:cNvPr id="25" name="Shape 23"/>
          <p:cNvSpPr/>
          <p:nvPr/>
        </p:nvSpPr>
        <p:spPr>
          <a:xfrm>
            <a:off x="4251960" y="1097280"/>
            <a:ext cx="3886200" cy="731520"/>
          </a:xfrm>
          <a:prstGeom prst="roundRect">
            <a:avLst>
              <a:gd name="adj" fmla="val 10000"/>
            </a:avLst>
          </a:prstGeom>
          <a:solidFill>
            <a:srgbClr val="141E36"/>
          </a:solidFill>
          <a:ln w="10160">
            <a:solidFill>
              <a:srgbClr val="22C55E"/>
            </a:solidFill>
            <a:prstDash val="solid"/>
          </a:ln>
          <a:effectLst>
            <a:outerShdw sx="100000" sy="100000" kx="0" ky="0" algn="bl" rotWithShape="0" blurRad="63500" dist="25400" dir="2700000">
              <a:srgbClr val="000000">
                <a:alpha val="12000"/>
              </a:srgbClr>
            </a:outerShdw>
          </a:effectLst>
        </p:spPr>
      </p:sp>
      <p:sp>
        <p:nvSpPr>
          <p:cNvPr id="26" name="Text 24"/>
          <p:cNvSpPr/>
          <p:nvPr/>
        </p:nvSpPr>
        <p:spPr>
          <a:xfrm>
            <a:off x="4361688" y="1170432"/>
            <a:ext cx="3666744" cy="256032"/>
          </a:xfrm>
          <a:prstGeom prst="rect">
            <a:avLst/>
          </a:prstGeom>
          <a:noFill/>
          <a:ln/>
        </p:spPr>
        <p:txBody>
          <a:bodyPr wrap="square" lIns="0" tIns="0" rIns="0" bIns="0" rtlCol="0" anchor="ctr"/>
          <a:lstStyle/>
          <a:p>
            <a:pPr indent="0" marL="0">
              <a:buNone/>
            </a:pPr>
            <a:r>
              <a:rPr lang="en-US" sz="1050" b="1" dirty="0">
                <a:solidFill>
                  <a:srgbClr val="22C55E"/>
                </a:solidFill>
                <a:latin typeface="Cambria" pitchFamily="34" charset="0"/>
                <a:ea typeface="Cambria" pitchFamily="34" charset="-122"/>
                <a:cs typeface="Cambria" pitchFamily="34" charset="-120"/>
              </a:rPr>
              <a:t>Box Plot</a:t>
            </a:r>
            <a:endParaRPr lang="en-US" sz="1050" dirty="0"/>
          </a:p>
        </p:txBody>
      </p:sp>
      <p:sp>
        <p:nvSpPr>
          <p:cNvPr id="27" name="Text 25"/>
          <p:cNvSpPr/>
          <p:nvPr/>
        </p:nvSpPr>
        <p:spPr>
          <a:xfrm>
            <a:off x="4361688" y="1463040"/>
            <a:ext cx="36667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sns.boxplot(data=[scores])</a:t>
            </a:r>
            <a:endParaRPr lang="en-US" sz="900" dirty="0"/>
          </a:p>
        </p:txBody>
      </p:sp>
      <p:sp>
        <p:nvSpPr>
          <p:cNvPr id="28" name="Shape 26"/>
          <p:cNvSpPr/>
          <p:nvPr/>
        </p:nvSpPr>
        <p:spPr>
          <a:xfrm>
            <a:off x="4251960" y="1901952"/>
            <a:ext cx="3886200" cy="731520"/>
          </a:xfrm>
          <a:prstGeom prst="roundRect">
            <a:avLst>
              <a:gd name="adj" fmla="val 10000"/>
            </a:avLst>
          </a:prstGeom>
          <a:solidFill>
            <a:srgbClr val="141E36"/>
          </a:solidFill>
          <a:ln w="10160">
            <a:solidFill>
              <a:srgbClr val="22C55E"/>
            </a:solidFill>
            <a:prstDash val="solid"/>
          </a:ln>
          <a:effectLst>
            <a:outerShdw sx="100000" sy="100000" kx="0" ky="0" algn="bl" rotWithShape="0" blurRad="63500" dist="25400" dir="2700000">
              <a:srgbClr val="000000">
                <a:alpha val="12000"/>
              </a:srgbClr>
            </a:outerShdw>
          </a:effectLst>
        </p:spPr>
      </p:sp>
      <p:sp>
        <p:nvSpPr>
          <p:cNvPr id="29" name="Text 27"/>
          <p:cNvSpPr/>
          <p:nvPr/>
        </p:nvSpPr>
        <p:spPr>
          <a:xfrm>
            <a:off x="4361688" y="1975104"/>
            <a:ext cx="3666744" cy="256032"/>
          </a:xfrm>
          <a:prstGeom prst="rect">
            <a:avLst/>
          </a:prstGeom>
          <a:noFill/>
          <a:ln/>
        </p:spPr>
        <p:txBody>
          <a:bodyPr wrap="square" lIns="0" tIns="0" rIns="0" bIns="0" rtlCol="0" anchor="ctr"/>
          <a:lstStyle/>
          <a:p>
            <a:pPr indent="0" marL="0">
              <a:buNone/>
            </a:pPr>
            <a:r>
              <a:rPr lang="en-US" sz="1050" b="1" dirty="0">
                <a:solidFill>
                  <a:srgbClr val="22C55E"/>
                </a:solidFill>
                <a:latin typeface="Cambria" pitchFamily="34" charset="0"/>
                <a:ea typeface="Cambria" pitchFamily="34" charset="-122"/>
                <a:cs typeface="Cambria" pitchFamily="34" charset="-120"/>
              </a:rPr>
              <a:t>Violin Plot</a:t>
            </a:r>
            <a:endParaRPr lang="en-US" sz="1050" dirty="0"/>
          </a:p>
        </p:txBody>
      </p:sp>
      <p:sp>
        <p:nvSpPr>
          <p:cNvPr id="30" name="Text 28"/>
          <p:cNvSpPr/>
          <p:nvPr/>
        </p:nvSpPr>
        <p:spPr>
          <a:xfrm>
            <a:off x="4361688" y="2267712"/>
            <a:ext cx="36667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sns.violinplot(data=scores)</a:t>
            </a:r>
            <a:endParaRPr lang="en-US" sz="900" dirty="0"/>
          </a:p>
        </p:txBody>
      </p:sp>
      <p:sp>
        <p:nvSpPr>
          <p:cNvPr id="31" name="Shape 29"/>
          <p:cNvSpPr/>
          <p:nvPr/>
        </p:nvSpPr>
        <p:spPr>
          <a:xfrm>
            <a:off x="4251960" y="2706624"/>
            <a:ext cx="3886200" cy="731520"/>
          </a:xfrm>
          <a:prstGeom prst="roundRect">
            <a:avLst>
              <a:gd name="adj" fmla="val 10000"/>
            </a:avLst>
          </a:prstGeom>
          <a:solidFill>
            <a:srgbClr val="141E36"/>
          </a:solidFill>
          <a:ln w="10160">
            <a:solidFill>
              <a:srgbClr val="22C55E"/>
            </a:solidFill>
            <a:prstDash val="solid"/>
          </a:ln>
          <a:effectLst>
            <a:outerShdw sx="100000" sy="100000" kx="0" ky="0" algn="bl" rotWithShape="0" blurRad="63500" dist="25400" dir="2700000">
              <a:srgbClr val="000000">
                <a:alpha val="12000"/>
              </a:srgbClr>
            </a:outerShdw>
          </a:effectLst>
        </p:spPr>
      </p:sp>
      <p:sp>
        <p:nvSpPr>
          <p:cNvPr id="32" name="Text 30"/>
          <p:cNvSpPr/>
          <p:nvPr/>
        </p:nvSpPr>
        <p:spPr>
          <a:xfrm>
            <a:off x="4361688" y="2779776"/>
            <a:ext cx="3666744" cy="256032"/>
          </a:xfrm>
          <a:prstGeom prst="rect">
            <a:avLst/>
          </a:prstGeom>
          <a:noFill/>
          <a:ln/>
        </p:spPr>
        <p:txBody>
          <a:bodyPr wrap="square" lIns="0" tIns="0" rIns="0" bIns="0" rtlCol="0" anchor="ctr"/>
          <a:lstStyle/>
          <a:p>
            <a:pPr indent="0" marL="0">
              <a:buNone/>
            </a:pPr>
            <a:r>
              <a:rPr lang="en-US" sz="1050" b="1" dirty="0">
                <a:solidFill>
                  <a:srgbClr val="22C55E"/>
                </a:solidFill>
                <a:latin typeface="Cambria" pitchFamily="34" charset="0"/>
                <a:ea typeface="Cambria" pitchFamily="34" charset="-122"/>
                <a:cs typeface="Cambria" pitchFamily="34" charset="-120"/>
              </a:rPr>
              <a:t>Heatmap</a:t>
            </a:r>
            <a:endParaRPr lang="en-US" sz="1050" dirty="0"/>
          </a:p>
        </p:txBody>
      </p:sp>
      <p:sp>
        <p:nvSpPr>
          <p:cNvPr id="33" name="Text 31"/>
          <p:cNvSpPr/>
          <p:nvPr/>
        </p:nvSpPr>
        <p:spPr>
          <a:xfrm>
            <a:off x="4361688" y="3072384"/>
            <a:ext cx="36667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sns.heatmap(data, annot=True)</a:t>
            </a:r>
            <a:endParaRPr lang="en-US" sz="900" dirty="0"/>
          </a:p>
        </p:txBody>
      </p:sp>
      <p:sp>
        <p:nvSpPr>
          <p:cNvPr id="34" name="Shape 32"/>
          <p:cNvSpPr/>
          <p:nvPr/>
        </p:nvSpPr>
        <p:spPr>
          <a:xfrm>
            <a:off x="4251960" y="3511296"/>
            <a:ext cx="3886200" cy="731520"/>
          </a:xfrm>
          <a:prstGeom prst="roundRect">
            <a:avLst>
              <a:gd name="adj" fmla="val 10000"/>
            </a:avLst>
          </a:prstGeom>
          <a:solidFill>
            <a:srgbClr val="141E36"/>
          </a:solidFill>
          <a:ln w="10160">
            <a:solidFill>
              <a:srgbClr val="22C55E"/>
            </a:solidFill>
            <a:prstDash val="solid"/>
          </a:ln>
          <a:effectLst>
            <a:outerShdw sx="100000" sy="100000" kx="0" ky="0" algn="bl" rotWithShape="0" blurRad="63500" dist="25400" dir="2700000">
              <a:srgbClr val="000000">
                <a:alpha val="12000"/>
              </a:srgbClr>
            </a:outerShdw>
          </a:effectLst>
        </p:spPr>
      </p:sp>
      <p:sp>
        <p:nvSpPr>
          <p:cNvPr id="35" name="Text 33"/>
          <p:cNvSpPr/>
          <p:nvPr/>
        </p:nvSpPr>
        <p:spPr>
          <a:xfrm>
            <a:off x="4361688" y="3584448"/>
            <a:ext cx="3666744" cy="256032"/>
          </a:xfrm>
          <a:prstGeom prst="rect">
            <a:avLst/>
          </a:prstGeom>
          <a:noFill/>
          <a:ln/>
        </p:spPr>
        <p:txBody>
          <a:bodyPr wrap="square" lIns="0" tIns="0" rIns="0" bIns="0" rtlCol="0" anchor="ctr"/>
          <a:lstStyle/>
          <a:p>
            <a:pPr indent="0" marL="0">
              <a:buNone/>
            </a:pPr>
            <a:r>
              <a:rPr lang="en-US" sz="1050" b="1" dirty="0">
                <a:solidFill>
                  <a:srgbClr val="22C55E"/>
                </a:solidFill>
                <a:latin typeface="Cambria" pitchFamily="34" charset="0"/>
                <a:ea typeface="Cambria" pitchFamily="34" charset="-122"/>
                <a:cs typeface="Cambria" pitchFamily="34" charset="-120"/>
              </a:rPr>
              <a:t>Pair Plot</a:t>
            </a:r>
            <a:endParaRPr lang="en-US" sz="1050" dirty="0"/>
          </a:p>
        </p:txBody>
      </p:sp>
      <p:sp>
        <p:nvSpPr>
          <p:cNvPr id="36" name="Text 34"/>
          <p:cNvSpPr/>
          <p:nvPr/>
        </p:nvSpPr>
        <p:spPr>
          <a:xfrm>
            <a:off x="4361688" y="3877056"/>
            <a:ext cx="36667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sns.pairplot(df)</a:t>
            </a:r>
            <a:endParaRPr lang="en-US" sz="900" dirty="0"/>
          </a:p>
        </p:txBody>
      </p:sp>
      <p:sp>
        <p:nvSpPr>
          <p:cNvPr id="37" name="Shape 35"/>
          <p:cNvSpPr/>
          <p:nvPr/>
        </p:nvSpPr>
        <p:spPr>
          <a:xfrm>
            <a:off x="4251960" y="4315968"/>
            <a:ext cx="3886200" cy="731520"/>
          </a:xfrm>
          <a:prstGeom prst="roundRect">
            <a:avLst>
              <a:gd name="adj" fmla="val 10000"/>
            </a:avLst>
          </a:prstGeom>
          <a:solidFill>
            <a:srgbClr val="141E36"/>
          </a:solidFill>
          <a:ln w="10160">
            <a:solidFill>
              <a:srgbClr val="22C55E"/>
            </a:solidFill>
            <a:prstDash val="solid"/>
          </a:ln>
          <a:effectLst>
            <a:outerShdw sx="100000" sy="100000" kx="0" ky="0" algn="bl" rotWithShape="0" blurRad="63500" dist="25400" dir="2700000">
              <a:srgbClr val="000000">
                <a:alpha val="12000"/>
              </a:srgbClr>
            </a:outerShdw>
          </a:effectLst>
        </p:spPr>
      </p:sp>
      <p:sp>
        <p:nvSpPr>
          <p:cNvPr id="38" name="Text 36"/>
          <p:cNvSpPr/>
          <p:nvPr/>
        </p:nvSpPr>
        <p:spPr>
          <a:xfrm>
            <a:off x="4361688" y="4389120"/>
            <a:ext cx="3666744" cy="256032"/>
          </a:xfrm>
          <a:prstGeom prst="rect">
            <a:avLst/>
          </a:prstGeom>
          <a:noFill/>
          <a:ln/>
        </p:spPr>
        <p:txBody>
          <a:bodyPr wrap="square" lIns="0" tIns="0" rIns="0" bIns="0" rtlCol="0" anchor="ctr"/>
          <a:lstStyle/>
          <a:p>
            <a:pPr indent="0" marL="0">
              <a:buNone/>
            </a:pPr>
            <a:r>
              <a:rPr lang="en-US" sz="1050" b="1" dirty="0">
                <a:solidFill>
                  <a:srgbClr val="22C55E"/>
                </a:solidFill>
                <a:latin typeface="Cambria" pitchFamily="34" charset="0"/>
                <a:ea typeface="Cambria" pitchFamily="34" charset="-122"/>
                <a:cs typeface="Cambria" pitchFamily="34" charset="-120"/>
              </a:rPr>
              <a:t>Count Plot</a:t>
            </a:r>
            <a:endParaRPr lang="en-US" sz="1050" dirty="0"/>
          </a:p>
        </p:txBody>
      </p:sp>
      <p:sp>
        <p:nvSpPr>
          <p:cNvPr id="39" name="Text 37"/>
          <p:cNvSpPr/>
          <p:nvPr/>
        </p:nvSpPr>
        <p:spPr>
          <a:xfrm>
            <a:off x="4361688" y="4681728"/>
            <a:ext cx="366674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sns.countplot(x=data)</a:t>
            </a:r>
            <a:endParaRPr lang="en-US" sz="900" dirty="0"/>
          </a:p>
        </p:txBody>
      </p:sp>
      <p:sp>
        <p:nvSpPr>
          <p:cNvPr id="40" name="Shape 38"/>
          <p:cNvSpPr/>
          <p:nvPr/>
        </p:nvSpPr>
        <p:spPr>
          <a:xfrm>
            <a:off x="8321040" y="1097280"/>
            <a:ext cx="3703320" cy="731520"/>
          </a:xfrm>
          <a:prstGeom prst="roundRect">
            <a:avLst>
              <a:gd name="adj" fmla="val 10000"/>
            </a:avLst>
          </a:prstGeom>
          <a:solidFill>
            <a:srgbClr val="141E36"/>
          </a:solidFill>
          <a:ln w="10160">
            <a:solidFill>
              <a:srgbClr val="F43F5E"/>
            </a:solidFill>
            <a:prstDash val="solid"/>
          </a:ln>
          <a:effectLst>
            <a:outerShdw sx="100000" sy="100000" kx="0" ky="0" algn="bl" rotWithShape="0" blurRad="63500" dist="25400" dir="2700000">
              <a:srgbClr val="000000">
                <a:alpha val="12000"/>
              </a:srgbClr>
            </a:outerShdw>
          </a:effectLst>
        </p:spPr>
      </p:sp>
      <p:sp>
        <p:nvSpPr>
          <p:cNvPr id="41" name="Text 39"/>
          <p:cNvSpPr/>
          <p:nvPr/>
        </p:nvSpPr>
        <p:spPr>
          <a:xfrm>
            <a:off x="8430768" y="1170432"/>
            <a:ext cx="3483864" cy="256032"/>
          </a:xfrm>
          <a:prstGeom prst="rect">
            <a:avLst/>
          </a:prstGeom>
          <a:noFill/>
          <a:ln/>
        </p:spPr>
        <p:txBody>
          <a:bodyPr wrap="square" lIns="0" tIns="0" rIns="0" bIns="0" rtlCol="0" anchor="ctr"/>
          <a:lstStyle/>
          <a:p>
            <a:pPr indent="0" marL="0">
              <a:buNone/>
            </a:pPr>
            <a:r>
              <a:rPr lang="en-US" sz="1050" b="1" dirty="0">
                <a:solidFill>
                  <a:srgbClr val="F43F5E"/>
                </a:solidFill>
                <a:latin typeface="Cambria" pitchFamily="34" charset="0"/>
                <a:ea typeface="Cambria" pitchFamily="34" charset="-122"/>
                <a:cs typeface="Cambria" pitchFamily="34" charset="-120"/>
              </a:rPr>
              <a:t>Interactive Scatter</a:t>
            </a:r>
            <a:endParaRPr lang="en-US" sz="1050" dirty="0"/>
          </a:p>
        </p:txBody>
      </p:sp>
      <p:sp>
        <p:nvSpPr>
          <p:cNvPr id="42" name="Text 40"/>
          <p:cNvSpPr/>
          <p:nvPr/>
        </p:nvSpPr>
        <p:spPr>
          <a:xfrm>
            <a:off x="8430768" y="1463040"/>
            <a:ext cx="348386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px.scatter(df, x=..., y=..., color=...)</a:t>
            </a:r>
            <a:endParaRPr lang="en-US" sz="900" dirty="0"/>
          </a:p>
        </p:txBody>
      </p:sp>
      <p:sp>
        <p:nvSpPr>
          <p:cNvPr id="43" name="Shape 41"/>
          <p:cNvSpPr/>
          <p:nvPr/>
        </p:nvSpPr>
        <p:spPr>
          <a:xfrm>
            <a:off x="8321040" y="1901952"/>
            <a:ext cx="3703320" cy="731520"/>
          </a:xfrm>
          <a:prstGeom prst="roundRect">
            <a:avLst>
              <a:gd name="adj" fmla="val 10000"/>
            </a:avLst>
          </a:prstGeom>
          <a:solidFill>
            <a:srgbClr val="141E36"/>
          </a:solidFill>
          <a:ln w="10160">
            <a:solidFill>
              <a:srgbClr val="F59E0B"/>
            </a:solidFill>
            <a:prstDash val="solid"/>
          </a:ln>
          <a:effectLst>
            <a:outerShdw sx="100000" sy="100000" kx="0" ky="0" algn="bl" rotWithShape="0" blurRad="63500" dist="25400" dir="2700000">
              <a:srgbClr val="000000">
                <a:alpha val="12000"/>
              </a:srgbClr>
            </a:outerShdw>
          </a:effectLst>
        </p:spPr>
      </p:sp>
      <p:sp>
        <p:nvSpPr>
          <p:cNvPr id="44" name="Text 42"/>
          <p:cNvSpPr/>
          <p:nvPr/>
        </p:nvSpPr>
        <p:spPr>
          <a:xfrm>
            <a:off x="8430768" y="1975104"/>
            <a:ext cx="3483864" cy="256032"/>
          </a:xfrm>
          <a:prstGeom prst="rect">
            <a:avLst/>
          </a:prstGeom>
          <a:noFill/>
          <a:ln/>
        </p:spPr>
        <p:txBody>
          <a:bodyPr wrap="square" lIns="0" tIns="0" rIns="0" bIns="0" rtlCol="0" anchor="ctr"/>
          <a:lstStyle/>
          <a:p>
            <a:pPr indent="0" marL="0">
              <a:buNone/>
            </a:pPr>
            <a:r>
              <a:rPr lang="en-US" sz="1050" b="1" dirty="0">
                <a:solidFill>
                  <a:srgbClr val="F59E0B"/>
                </a:solidFill>
                <a:latin typeface="Cambria" pitchFamily="34" charset="0"/>
                <a:ea typeface="Cambria" pitchFamily="34" charset="-122"/>
                <a:cs typeface="Cambria" pitchFamily="34" charset="-120"/>
              </a:rPr>
              <a:t>Donut Chart</a:t>
            </a:r>
            <a:endParaRPr lang="en-US" sz="1050" dirty="0"/>
          </a:p>
        </p:txBody>
      </p:sp>
      <p:sp>
        <p:nvSpPr>
          <p:cNvPr id="45" name="Text 43"/>
          <p:cNvSpPr/>
          <p:nvPr/>
        </p:nvSpPr>
        <p:spPr>
          <a:xfrm>
            <a:off x="8430768" y="2267712"/>
            <a:ext cx="3483864" cy="29260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plt.pie(..., wedgeprops=dict(width=0.4))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0F1D3C"/>
          </a:solidFill>
          <a:ln w="12700">
            <a:solidFill>
              <a:srgbClr val="0F1D3C"/>
            </a:solidFill>
            <a:prstDash val="solid"/>
          </a:ln>
        </p:spPr>
      </p:sp>
      <p:sp>
        <p:nvSpPr>
          <p:cNvPr id="3" name="Shape 1"/>
          <p:cNvSpPr/>
          <p:nvPr/>
        </p:nvSpPr>
        <p:spPr>
          <a:xfrm>
            <a:off x="384048" y="384048"/>
            <a:ext cx="1792224" cy="1792224"/>
          </a:xfrm>
          <a:prstGeom prst="roundRect">
            <a:avLst>
              <a:gd name="adj" fmla="val 7143"/>
            </a:avLst>
          </a:prstGeom>
          <a:solidFill>
            <a:srgbClr val="3B82F6"/>
          </a:solidFill>
          <a:ln w="12700">
            <a:solidFill>
              <a:srgbClr val="3B82F6"/>
            </a:solidFill>
            <a:prstDash val="solid"/>
          </a:ln>
          <a:effectLst>
            <a:outerShdw sx="100000" sy="100000" kx="0" ky="0" algn="bl" rotWithShape="0" blurRad="127000" dist="50800" dir="2700000">
              <a:srgbClr val="000000">
                <a:alpha val="18000"/>
              </a:srgbClr>
            </a:outerShdw>
          </a:effectLst>
        </p:spPr>
      </p:sp>
      <p:sp>
        <p:nvSpPr>
          <p:cNvPr id="4" name="Shape 2"/>
          <p:cNvSpPr/>
          <p:nvPr/>
        </p:nvSpPr>
        <p:spPr>
          <a:xfrm>
            <a:off x="2359152" y="384048"/>
            <a:ext cx="1792224" cy="1792224"/>
          </a:xfrm>
          <a:prstGeom prst="roundRect">
            <a:avLst>
              <a:gd name="adj" fmla="val 7143"/>
            </a:avLst>
          </a:prstGeom>
          <a:solidFill>
            <a:srgbClr val="06B6D4"/>
          </a:solidFill>
          <a:ln w="12700">
            <a:solidFill>
              <a:srgbClr val="06B6D4"/>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384048" y="2359152"/>
            <a:ext cx="1792224" cy="1792224"/>
          </a:xfrm>
          <a:prstGeom prst="roundRect">
            <a:avLst>
              <a:gd name="adj" fmla="val 7143"/>
            </a:avLst>
          </a:prstGeom>
          <a:solidFill>
            <a:srgbClr val="22C55E"/>
          </a:solidFill>
          <a:ln w="12700">
            <a:solidFill>
              <a:srgbClr val="22C55E"/>
            </a:solidFill>
            <a:prstDash val="solid"/>
          </a:ln>
          <a:effectLst>
            <a:outerShdw sx="100000" sy="100000" kx="0" ky="0" algn="bl" rotWithShape="0" blurRad="127000" dist="50800" dir="2700000">
              <a:srgbClr val="000000">
                <a:alpha val="18000"/>
              </a:srgbClr>
            </a:outerShdw>
          </a:effectLst>
        </p:spPr>
      </p:sp>
      <p:sp>
        <p:nvSpPr>
          <p:cNvPr id="6" name="Shape 4"/>
          <p:cNvSpPr/>
          <p:nvPr/>
        </p:nvSpPr>
        <p:spPr>
          <a:xfrm>
            <a:off x="2359152" y="2359152"/>
            <a:ext cx="1792224" cy="1792224"/>
          </a:xfrm>
          <a:prstGeom prst="roundRect">
            <a:avLst>
              <a:gd name="adj" fmla="val 7143"/>
            </a:avLst>
          </a:prstGeom>
          <a:solidFill>
            <a:srgbClr val="8B5CF6"/>
          </a:solidFill>
          <a:ln w="12700">
            <a:solidFill>
              <a:srgbClr val="8B5CF6"/>
            </a:solidFill>
            <a:prstDash val="solid"/>
          </a:ln>
          <a:effectLst>
            <a:outerShdw sx="100000" sy="100000" kx="0" ky="0" algn="bl" rotWithShape="0" blurRad="127000" dist="50800" dir="2700000">
              <a:srgbClr val="000000">
                <a:alpha val="18000"/>
              </a:srgbClr>
            </a:outerShdw>
          </a:effectLst>
        </p:spPr>
      </p:sp>
      <p:sp>
        <p:nvSpPr>
          <p:cNvPr id="7" name="Text 5"/>
          <p:cNvSpPr/>
          <p:nvPr/>
        </p:nvSpPr>
        <p:spPr>
          <a:xfrm>
            <a:off x="384048" y="384048"/>
            <a:ext cx="3767328" cy="3767328"/>
          </a:xfrm>
          <a:prstGeom prst="rect">
            <a:avLst/>
          </a:prstGeom>
          <a:noFill/>
          <a:ln/>
        </p:spPr>
        <p:txBody>
          <a:bodyPr wrap="square" lIns="0" tIns="0" rIns="0" bIns="0" rtlCol="0" anchor="ctr"/>
          <a:lstStyle/>
          <a:p>
            <a:pPr algn="ctr" indent="0" marL="0">
              <a:buNone/>
            </a:pPr>
            <a:r>
              <a:rPr lang="en-US" sz="8000" dirty="0">
                <a:solidFill>
                  <a:srgbClr val="000000"/>
                </a:solidFill>
              </a:rPr>
              <a:t>📊</a:t>
            </a:r>
            <a:endParaRPr lang="en-US" sz="8000" dirty="0"/>
          </a:p>
        </p:txBody>
      </p:sp>
      <p:sp>
        <p:nvSpPr>
          <p:cNvPr id="8" name="Shape 6"/>
          <p:cNvSpPr/>
          <p:nvPr/>
        </p:nvSpPr>
        <p:spPr>
          <a:xfrm>
            <a:off x="0" y="4407408"/>
            <a:ext cx="4937760" cy="2450592"/>
          </a:xfrm>
          <a:prstGeom prst="rect">
            <a:avLst/>
          </a:prstGeom>
          <a:solidFill>
            <a:srgbClr val="1A2545"/>
          </a:solidFill>
          <a:ln w="12700">
            <a:solidFill>
              <a:srgbClr val="1A2545"/>
            </a:solidFill>
            <a:prstDash val="solid"/>
          </a:ln>
        </p:spPr>
      </p:sp>
      <p:sp>
        <p:nvSpPr>
          <p:cNvPr id="9" name="Text 7"/>
          <p:cNvSpPr/>
          <p:nvPr/>
        </p:nvSpPr>
        <p:spPr>
          <a:xfrm>
            <a:off x="274320" y="4535424"/>
            <a:ext cx="4480560" cy="73152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You can now build 14 chart types using Matplotlib, Seaborn, and Plotly.</a:t>
            </a:r>
            <a:endParaRPr lang="en-US" sz="1100" dirty="0"/>
          </a:p>
        </p:txBody>
      </p:sp>
      <p:sp>
        <p:nvSpPr>
          <p:cNvPr id="10" name="Text 8"/>
          <p:cNvSpPr/>
          <p:nvPr/>
        </p:nvSpPr>
        <p:spPr>
          <a:xfrm>
            <a:off x="274320" y="5413248"/>
            <a:ext cx="44805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Kajola Gbenga Adewale</a:t>
            </a:r>
            <a:endParaRPr lang="en-US" sz="1400" dirty="0"/>
          </a:p>
        </p:txBody>
      </p:sp>
      <p:sp>
        <p:nvSpPr>
          <p:cNvPr id="11" name="Text 9"/>
          <p:cNvSpPr/>
          <p:nvPr/>
        </p:nvSpPr>
        <p:spPr>
          <a:xfrm>
            <a:off x="274320" y="5852160"/>
            <a:ext cx="448056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Data Analytics Expert</a:t>
            </a:r>
            <a:endParaRPr lang="en-US" sz="1100" dirty="0"/>
          </a:p>
        </p:txBody>
      </p:sp>
      <p:sp>
        <p:nvSpPr>
          <p:cNvPr id="12" name="Text 10"/>
          <p:cNvSpPr/>
          <p:nvPr/>
        </p:nvSpPr>
        <p:spPr>
          <a:xfrm>
            <a:off x="5212080" y="640080"/>
            <a:ext cx="6766560"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Python Data Visualization</a:t>
            </a:r>
            <a:endParaRPr lang="en-US" sz="3800" dirty="0"/>
          </a:p>
        </p:txBody>
      </p:sp>
      <p:sp>
        <p:nvSpPr>
          <p:cNvPr id="13" name="Text 11"/>
          <p:cNvSpPr/>
          <p:nvPr/>
        </p:nvSpPr>
        <p:spPr>
          <a:xfrm>
            <a:off x="5212080" y="2194560"/>
            <a:ext cx="6766560" cy="438912"/>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Teaching Deck Complete</a:t>
            </a:r>
            <a:endParaRPr lang="en-US" sz="1600" dirty="0"/>
          </a:p>
        </p:txBody>
      </p:sp>
      <p:sp>
        <p:nvSpPr>
          <p:cNvPr id="14" name="Shape 12"/>
          <p:cNvSpPr/>
          <p:nvPr/>
        </p:nvSpPr>
        <p:spPr>
          <a:xfrm>
            <a:off x="5212080" y="2743200"/>
            <a:ext cx="6766560" cy="45720"/>
          </a:xfrm>
          <a:prstGeom prst="rect">
            <a:avLst/>
          </a:prstGeom>
          <a:solidFill>
            <a:srgbClr val="3B82F6"/>
          </a:solidFill>
          <a:ln w="12700">
            <a:solidFill>
              <a:srgbClr val="3B82F6"/>
            </a:solidFill>
            <a:prstDash val="solid"/>
          </a:ln>
        </p:spPr>
      </p:sp>
      <p:sp>
        <p:nvSpPr>
          <p:cNvPr id="15" name="Text 13"/>
          <p:cNvSpPr/>
          <p:nvPr/>
        </p:nvSpPr>
        <p:spPr>
          <a:xfrm>
            <a:off x="5212080" y="2907792"/>
            <a:ext cx="6766560"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14 chart types covered:</a:t>
            </a:r>
            <a:endParaRPr lang="en-US" sz="1200" dirty="0"/>
          </a:p>
        </p:txBody>
      </p:sp>
      <p:sp>
        <p:nvSpPr>
          <p:cNvPr id="16" name="Shape 14"/>
          <p:cNvSpPr/>
          <p:nvPr/>
        </p:nvSpPr>
        <p:spPr>
          <a:xfrm>
            <a:off x="5212080" y="3273552"/>
            <a:ext cx="914400" cy="438912"/>
          </a:xfrm>
          <a:prstGeom prst="roundRect">
            <a:avLst>
              <a:gd name="adj" fmla="val 14583"/>
            </a:avLst>
          </a:prstGeom>
          <a:solidFill>
            <a:srgbClr val="3B82F6"/>
          </a:solidFill>
          <a:ln w="12700">
            <a:solidFill>
              <a:srgbClr val="3B82F6"/>
            </a:solidFill>
            <a:prstDash val="solid"/>
          </a:ln>
        </p:spPr>
      </p:sp>
      <p:sp>
        <p:nvSpPr>
          <p:cNvPr id="17" name="Text 15"/>
          <p:cNvSpPr/>
          <p:nvPr/>
        </p:nvSpPr>
        <p:spPr>
          <a:xfrm>
            <a:off x="5212080" y="3273552"/>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Line</a:t>
            </a:r>
            <a:endParaRPr lang="en-US" sz="1000" dirty="0"/>
          </a:p>
        </p:txBody>
      </p:sp>
      <p:sp>
        <p:nvSpPr>
          <p:cNvPr id="18" name="Shape 16"/>
          <p:cNvSpPr/>
          <p:nvPr/>
        </p:nvSpPr>
        <p:spPr>
          <a:xfrm>
            <a:off x="6181344" y="3273552"/>
            <a:ext cx="914400" cy="438912"/>
          </a:xfrm>
          <a:prstGeom prst="roundRect">
            <a:avLst>
              <a:gd name="adj" fmla="val 14583"/>
            </a:avLst>
          </a:prstGeom>
          <a:solidFill>
            <a:srgbClr val="22C55E"/>
          </a:solidFill>
          <a:ln w="12700">
            <a:solidFill>
              <a:srgbClr val="22C55E"/>
            </a:solidFill>
            <a:prstDash val="solid"/>
          </a:ln>
        </p:spPr>
      </p:sp>
      <p:sp>
        <p:nvSpPr>
          <p:cNvPr id="19" name="Text 17"/>
          <p:cNvSpPr/>
          <p:nvPr/>
        </p:nvSpPr>
        <p:spPr>
          <a:xfrm>
            <a:off x="6181344" y="3273552"/>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Bar</a:t>
            </a:r>
            <a:endParaRPr lang="en-US" sz="1000" dirty="0"/>
          </a:p>
        </p:txBody>
      </p:sp>
      <p:sp>
        <p:nvSpPr>
          <p:cNvPr id="20" name="Shape 18"/>
          <p:cNvSpPr/>
          <p:nvPr/>
        </p:nvSpPr>
        <p:spPr>
          <a:xfrm>
            <a:off x="7150608" y="3273552"/>
            <a:ext cx="914400" cy="438912"/>
          </a:xfrm>
          <a:prstGeom prst="roundRect">
            <a:avLst>
              <a:gd name="adj" fmla="val 14583"/>
            </a:avLst>
          </a:prstGeom>
          <a:solidFill>
            <a:srgbClr val="8B5CF6"/>
          </a:solidFill>
          <a:ln w="12700">
            <a:solidFill>
              <a:srgbClr val="8B5CF6"/>
            </a:solidFill>
            <a:prstDash val="solid"/>
          </a:ln>
        </p:spPr>
      </p:sp>
      <p:sp>
        <p:nvSpPr>
          <p:cNvPr id="21" name="Text 19"/>
          <p:cNvSpPr/>
          <p:nvPr/>
        </p:nvSpPr>
        <p:spPr>
          <a:xfrm>
            <a:off x="7150608" y="3273552"/>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Histogram</a:t>
            </a:r>
            <a:endParaRPr lang="en-US" sz="1000" dirty="0"/>
          </a:p>
        </p:txBody>
      </p:sp>
      <p:sp>
        <p:nvSpPr>
          <p:cNvPr id="22" name="Shape 20"/>
          <p:cNvSpPr/>
          <p:nvPr/>
        </p:nvSpPr>
        <p:spPr>
          <a:xfrm>
            <a:off x="8119872" y="3273552"/>
            <a:ext cx="914400" cy="438912"/>
          </a:xfrm>
          <a:prstGeom prst="roundRect">
            <a:avLst>
              <a:gd name="adj" fmla="val 14583"/>
            </a:avLst>
          </a:prstGeom>
          <a:solidFill>
            <a:srgbClr val="06B6D4"/>
          </a:solidFill>
          <a:ln w="12700">
            <a:solidFill>
              <a:srgbClr val="06B6D4"/>
            </a:solidFill>
            <a:prstDash val="solid"/>
          </a:ln>
        </p:spPr>
      </p:sp>
      <p:sp>
        <p:nvSpPr>
          <p:cNvPr id="23" name="Text 21"/>
          <p:cNvSpPr/>
          <p:nvPr/>
        </p:nvSpPr>
        <p:spPr>
          <a:xfrm>
            <a:off x="8119872" y="3273552"/>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Scatter</a:t>
            </a:r>
            <a:endParaRPr lang="en-US" sz="1000" dirty="0"/>
          </a:p>
        </p:txBody>
      </p:sp>
      <p:sp>
        <p:nvSpPr>
          <p:cNvPr id="24" name="Shape 22"/>
          <p:cNvSpPr/>
          <p:nvPr/>
        </p:nvSpPr>
        <p:spPr>
          <a:xfrm>
            <a:off x="9089136" y="3273552"/>
            <a:ext cx="914400" cy="438912"/>
          </a:xfrm>
          <a:prstGeom prst="roundRect">
            <a:avLst>
              <a:gd name="adj" fmla="val 14583"/>
            </a:avLst>
          </a:prstGeom>
          <a:solidFill>
            <a:srgbClr val="F43F5E"/>
          </a:solidFill>
          <a:ln w="12700">
            <a:solidFill>
              <a:srgbClr val="F43F5E"/>
            </a:solidFill>
            <a:prstDash val="solid"/>
          </a:ln>
        </p:spPr>
      </p:sp>
      <p:sp>
        <p:nvSpPr>
          <p:cNvPr id="25" name="Text 23"/>
          <p:cNvSpPr/>
          <p:nvPr/>
        </p:nvSpPr>
        <p:spPr>
          <a:xfrm>
            <a:off x="9089136" y="3273552"/>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Box Plot</a:t>
            </a:r>
            <a:endParaRPr lang="en-US" sz="1000" dirty="0"/>
          </a:p>
        </p:txBody>
      </p:sp>
      <p:sp>
        <p:nvSpPr>
          <p:cNvPr id="26" name="Shape 24"/>
          <p:cNvSpPr/>
          <p:nvPr/>
        </p:nvSpPr>
        <p:spPr>
          <a:xfrm>
            <a:off x="10058400" y="3273552"/>
            <a:ext cx="914400" cy="438912"/>
          </a:xfrm>
          <a:prstGeom prst="roundRect">
            <a:avLst>
              <a:gd name="adj" fmla="val 14583"/>
            </a:avLst>
          </a:prstGeom>
          <a:solidFill>
            <a:srgbClr val="EC4899"/>
          </a:solidFill>
          <a:ln w="12700">
            <a:solidFill>
              <a:srgbClr val="EC4899"/>
            </a:solidFill>
            <a:prstDash val="solid"/>
          </a:ln>
        </p:spPr>
      </p:sp>
      <p:sp>
        <p:nvSpPr>
          <p:cNvPr id="27" name="Text 25"/>
          <p:cNvSpPr/>
          <p:nvPr/>
        </p:nvSpPr>
        <p:spPr>
          <a:xfrm>
            <a:off x="10058400" y="3273552"/>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Violin</a:t>
            </a:r>
            <a:endParaRPr lang="en-US" sz="1000" dirty="0"/>
          </a:p>
        </p:txBody>
      </p:sp>
      <p:sp>
        <p:nvSpPr>
          <p:cNvPr id="28" name="Shape 26"/>
          <p:cNvSpPr/>
          <p:nvPr/>
        </p:nvSpPr>
        <p:spPr>
          <a:xfrm>
            <a:off x="11027664" y="3273552"/>
            <a:ext cx="914400" cy="438912"/>
          </a:xfrm>
          <a:prstGeom prst="roundRect">
            <a:avLst>
              <a:gd name="adj" fmla="val 14583"/>
            </a:avLst>
          </a:prstGeom>
          <a:solidFill>
            <a:srgbClr val="F59E0B"/>
          </a:solidFill>
          <a:ln w="12700">
            <a:solidFill>
              <a:srgbClr val="F59E0B"/>
            </a:solidFill>
            <a:prstDash val="solid"/>
          </a:ln>
        </p:spPr>
      </p:sp>
      <p:sp>
        <p:nvSpPr>
          <p:cNvPr id="29" name="Text 27"/>
          <p:cNvSpPr/>
          <p:nvPr/>
        </p:nvSpPr>
        <p:spPr>
          <a:xfrm>
            <a:off x="11027664" y="3273552"/>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Pie</a:t>
            </a:r>
            <a:endParaRPr lang="en-US" sz="1000" dirty="0"/>
          </a:p>
        </p:txBody>
      </p:sp>
      <p:sp>
        <p:nvSpPr>
          <p:cNvPr id="30" name="Shape 28"/>
          <p:cNvSpPr/>
          <p:nvPr/>
        </p:nvSpPr>
        <p:spPr>
          <a:xfrm>
            <a:off x="5212080" y="3785616"/>
            <a:ext cx="914400" cy="438912"/>
          </a:xfrm>
          <a:prstGeom prst="roundRect">
            <a:avLst>
              <a:gd name="adj" fmla="val 14583"/>
            </a:avLst>
          </a:prstGeom>
          <a:solidFill>
            <a:srgbClr val="F97316"/>
          </a:solidFill>
          <a:ln w="12700">
            <a:solidFill>
              <a:srgbClr val="F97316"/>
            </a:solidFill>
            <a:prstDash val="solid"/>
          </a:ln>
        </p:spPr>
      </p:sp>
      <p:sp>
        <p:nvSpPr>
          <p:cNvPr id="31" name="Text 29"/>
          <p:cNvSpPr/>
          <p:nvPr/>
        </p:nvSpPr>
        <p:spPr>
          <a:xfrm>
            <a:off x="5212080" y="3785616"/>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Area</a:t>
            </a:r>
            <a:endParaRPr lang="en-US" sz="1000" dirty="0"/>
          </a:p>
        </p:txBody>
      </p:sp>
      <p:sp>
        <p:nvSpPr>
          <p:cNvPr id="32" name="Shape 30"/>
          <p:cNvSpPr/>
          <p:nvPr/>
        </p:nvSpPr>
        <p:spPr>
          <a:xfrm>
            <a:off x="6181344" y="3785616"/>
            <a:ext cx="914400" cy="438912"/>
          </a:xfrm>
          <a:prstGeom prst="roundRect">
            <a:avLst>
              <a:gd name="adj" fmla="val 14583"/>
            </a:avLst>
          </a:prstGeom>
          <a:solidFill>
            <a:srgbClr val="EAB308"/>
          </a:solidFill>
          <a:ln w="12700">
            <a:solidFill>
              <a:srgbClr val="EAB308"/>
            </a:solidFill>
            <a:prstDash val="solid"/>
          </a:ln>
        </p:spPr>
      </p:sp>
      <p:sp>
        <p:nvSpPr>
          <p:cNvPr id="33" name="Text 31"/>
          <p:cNvSpPr/>
          <p:nvPr/>
        </p:nvSpPr>
        <p:spPr>
          <a:xfrm>
            <a:off x="6181344" y="3785616"/>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Heatmap</a:t>
            </a:r>
            <a:endParaRPr lang="en-US" sz="1000" dirty="0"/>
          </a:p>
        </p:txBody>
      </p:sp>
      <p:sp>
        <p:nvSpPr>
          <p:cNvPr id="34" name="Shape 32"/>
          <p:cNvSpPr/>
          <p:nvPr/>
        </p:nvSpPr>
        <p:spPr>
          <a:xfrm>
            <a:off x="7150608" y="3785616"/>
            <a:ext cx="914400" cy="438912"/>
          </a:xfrm>
          <a:prstGeom prst="roundRect">
            <a:avLst>
              <a:gd name="adj" fmla="val 14583"/>
            </a:avLst>
          </a:prstGeom>
          <a:solidFill>
            <a:srgbClr val="10B981"/>
          </a:solidFill>
          <a:ln w="12700">
            <a:solidFill>
              <a:srgbClr val="10B981"/>
            </a:solidFill>
            <a:prstDash val="solid"/>
          </a:ln>
        </p:spPr>
      </p:sp>
      <p:sp>
        <p:nvSpPr>
          <p:cNvPr id="35" name="Text 33"/>
          <p:cNvSpPr/>
          <p:nvPr/>
        </p:nvSpPr>
        <p:spPr>
          <a:xfrm>
            <a:off x="7150608" y="3785616"/>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Pair Plot</a:t>
            </a:r>
            <a:endParaRPr lang="en-US" sz="1000" dirty="0"/>
          </a:p>
        </p:txBody>
      </p:sp>
      <p:sp>
        <p:nvSpPr>
          <p:cNvPr id="36" name="Shape 34"/>
          <p:cNvSpPr/>
          <p:nvPr/>
        </p:nvSpPr>
        <p:spPr>
          <a:xfrm>
            <a:off x="8119872" y="3785616"/>
            <a:ext cx="914400" cy="438912"/>
          </a:xfrm>
          <a:prstGeom prst="roundRect">
            <a:avLst>
              <a:gd name="adj" fmla="val 14583"/>
            </a:avLst>
          </a:prstGeom>
          <a:solidFill>
            <a:srgbClr val="14B8A6"/>
          </a:solidFill>
          <a:ln w="12700">
            <a:solidFill>
              <a:srgbClr val="14B8A6"/>
            </a:solidFill>
            <a:prstDash val="solid"/>
          </a:ln>
        </p:spPr>
      </p:sp>
      <p:sp>
        <p:nvSpPr>
          <p:cNvPr id="37" name="Text 35"/>
          <p:cNvSpPr/>
          <p:nvPr/>
        </p:nvSpPr>
        <p:spPr>
          <a:xfrm>
            <a:off x="8119872" y="3785616"/>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Count Plot</a:t>
            </a:r>
            <a:endParaRPr lang="en-US" sz="1000" dirty="0"/>
          </a:p>
        </p:txBody>
      </p:sp>
      <p:sp>
        <p:nvSpPr>
          <p:cNvPr id="38" name="Shape 36"/>
          <p:cNvSpPr/>
          <p:nvPr/>
        </p:nvSpPr>
        <p:spPr>
          <a:xfrm>
            <a:off x="9089136" y="3785616"/>
            <a:ext cx="914400" cy="438912"/>
          </a:xfrm>
          <a:prstGeom prst="roundRect">
            <a:avLst>
              <a:gd name="adj" fmla="val 14583"/>
            </a:avLst>
          </a:prstGeom>
          <a:solidFill>
            <a:srgbClr val="A855F7"/>
          </a:solidFill>
          <a:ln w="12700">
            <a:solidFill>
              <a:srgbClr val="A855F7"/>
            </a:solidFill>
            <a:prstDash val="solid"/>
          </a:ln>
        </p:spPr>
      </p:sp>
      <p:sp>
        <p:nvSpPr>
          <p:cNvPr id="39" name="Text 37"/>
          <p:cNvSpPr/>
          <p:nvPr/>
        </p:nvSpPr>
        <p:spPr>
          <a:xfrm>
            <a:off x="9089136" y="3785616"/>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Bubble</a:t>
            </a:r>
            <a:endParaRPr lang="en-US" sz="1000" dirty="0"/>
          </a:p>
        </p:txBody>
      </p:sp>
      <p:sp>
        <p:nvSpPr>
          <p:cNvPr id="40" name="Shape 38"/>
          <p:cNvSpPr/>
          <p:nvPr/>
        </p:nvSpPr>
        <p:spPr>
          <a:xfrm>
            <a:off x="10058400" y="3785616"/>
            <a:ext cx="914400" cy="438912"/>
          </a:xfrm>
          <a:prstGeom prst="roundRect">
            <a:avLst>
              <a:gd name="adj" fmla="val 14583"/>
            </a:avLst>
          </a:prstGeom>
          <a:solidFill>
            <a:srgbClr val="3B82F6"/>
          </a:solidFill>
          <a:ln w="12700">
            <a:solidFill>
              <a:srgbClr val="3B82F6"/>
            </a:solidFill>
            <a:prstDash val="solid"/>
          </a:ln>
        </p:spPr>
      </p:sp>
      <p:sp>
        <p:nvSpPr>
          <p:cNvPr id="41" name="Text 39"/>
          <p:cNvSpPr/>
          <p:nvPr/>
        </p:nvSpPr>
        <p:spPr>
          <a:xfrm>
            <a:off x="10058400" y="3785616"/>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Plotly</a:t>
            </a:r>
            <a:endParaRPr lang="en-US" sz="1000" dirty="0"/>
          </a:p>
        </p:txBody>
      </p:sp>
      <p:sp>
        <p:nvSpPr>
          <p:cNvPr id="42" name="Shape 40"/>
          <p:cNvSpPr/>
          <p:nvPr/>
        </p:nvSpPr>
        <p:spPr>
          <a:xfrm>
            <a:off x="11027664" y="3785616"/>
            <a:ext cx="914400" cy="438912"/>
          </a:xfrm>
          <a:prstGeom prst="roundRect">
            <a:avLst>
              <a:gd name="adj" fmla="val 14583"/>
            </a:avLst>
          </a:prstGeom>
          <a:solidFill>
            <a:srgbClr val="22C55E"/>
          </a:solidFill>
          <a:ln w="12700">
            <a:solidFill>
              <a:srgbClr val="22C55E"/>
            </a:solidFill>
            <a:prstDash val="solid"/>
          </a:ln>
        </p:spPr>
      </p:sp>
      <p:sp>
        <p:nvSpPr>
          <p:cNvPr id="43" name="Text 41"/>
          <p:cNvSpPr/>
          <p:nvPr/>
        </p:nvSpPr>
        <p:spPr>
          <a:xfrm>
            <a:off x="11027664" y="3785616"/>
            <a:ext cx="91440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Donut</a:t>
            </a:r>
            <a:endParaRPr lang="en-US" sz="1000" dirty="0"/>
          </a:p>
        </p:txBody>
      </p:sp>
      <p:sp>
        <p:nvSpPr>
          <p:cNvPr id="44" name="Text 42"/>
          <p:cNvSpPr/>
          <p:nvPr/>
        </p:nvSpPr>
        <p:spPr>
          <a:xfrm>
            <a:off x="5212080" y="6089904"/>
            <a:ext cx="6766560" cy="329184"/>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Next: Data Cleaning + Advanced EDA + Machine Learning with Scikit-Learn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Data Visualization - Complete Teaching Deck</dc:title>
  <dc:subject>PptxGenJS Presentation</dc:subject>
  <dc:creator>Kajola Gbenga Adewale</dc:creator>
  <cp:lastModifiedBy>Kajola Gbenga Adewale</cp:lastModifiedBy>
  <cp:revision>1</cp:revision>
  <dcterms:created xsi:type="dcterms:W3CDTF">2026-06-24T12:28:41Z</dcterms:created>
  <dcterms:modified xsi:type="dcterms:W3CDTF">2026-06-24T12:28:41Z</dcterms:modified>
</cp:coreProperties>
</file>
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Introduce yourself: Kajola Gbenga Adewale, Data Analytics Expert. Tell students: everything we do today is on Google Colab — no installation, no setup, works on any device including your phone. This deck covers every Python fundamental needed to start working with real data. We also show real business applications for every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every student through opening Colab live. Have them create a new notebook. Run a first cell: print('Hello, class!'). Confirm all outputs show correctly before proceeding. This is the most important setup step — everyone must have a running cell before we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roadmap. All eight sections build on each other. Tell students to follow in order on their first pass. Section 08 has 30 exercises graded by difficulty — beginners do Q1-10, intermediate Q11-20, advanced Q21-30.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All examples use generic business variables — product, price, units, region, etc. No personal names or ages in code examples. Walk each cell slowly. Have every student run Cell 4 first to see the comma-formatted revenue. This always gets a positive reaction.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type map. Focus on the top row (primitive types) and middle row (collection types). The bottom row (abstract base classes) is for reference. Tell students: every piece of data in Python has a type. The type determines what you can do with the data — add numbers, slice strings, look up dict keys, etc.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Numeric types. The critical distinction: 7/2 gives 3.5 (float), while 7//2 gives 3 (floor division). Show the NGN revenue calculation running live in Colab. The {:,.2f} format specifier for comma-separated NGN values is immediately 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Strings. All examples use business context: company names, product codes, addresses. The product code slicing example (PROD-2024-001) is realistic — analysts often need to extract year, category, or sequence number from coded fields. .zfill() is used for invoice numbers, employee IDs, etc.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Bool and None. The truthy/falsy concept has massive practical importance. In data work: 'if customer_list:' is cleaner than 'if len(customer_list) &gt; 0:'. None is the most common value for missing data before Pandas NaN is introduced. Demonstrate each case in Colab.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types use cases. Point out: in healthcare, storing weight as int vs float matters (80 kg vs 80.5 kg). In banking, float rounding errors can cause compliance issues — always round financial values. In HR, using bool for on_leave is cleaner than storing 'yes'/'no' strings.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 1. Give 6 minutes. Q3 (truthy/falsy) is the one that surprises most students. Q4 is the most practically important — input() returning a string is a common beginner 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Operators grid. Every example uses business context: revenue + tax, sales - returns, units * price, profit / sales, days // 7 for weeks, rows % batch_size for remainder after batching. The % operator is used heavily in data pipelines to split datasets into batches. ** is used in compound interest calculations.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Operators in practice. The compound interest formula is immediately recognisable to finance students. Run it live in Colab. Also show the stock reorder logic — this is a real retail automation pattern. The eligibility check (age AND income) mirrors loan approval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 2. Q1 forces correct operator precedence with parentheses. Q3 introduces Python's chained comparison (21 &lt;= age &lt;= 60) which is unique and elegant. Q4 is a real financial formula students in banking and finance will appreciate.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grid. Print this for students — it is the most referenced single slide. The decision rule: need to change items? If No → tuple. Need to look up by name? Yes → dict. Need uniqueness guaranteed? Yes → set. Otherwise →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Lists. Business context throughout. sorted(revenues, reverse=True) gives a sales leaderboard. 'Phone' in products is a stock check. pop(0) removes and returns the first item — used in queue patterns for processing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comprehensions. The business pattern 'apply discount if condition else keep original' is the ternary expression inside a comprehension — a very common ETL pattern. .strip().title() is the standard string normalisation pattern for cleaning user-entered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Tuples. The unpacking pattern is everywhere in real data code. The (region, quarter) composite dict key is a real pattern used in financial dashboards where you need to look up values by two dimensions. Named tuples bridge tuples and classes — mention it briefly for advanced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Dictionaries. The customer record is a realistic CRM structure. .get() is critical — use it whenever a key might be absent (optional fields, user-entered data). The dict comprehension for price updates is a real ETL pattern. dict(zip(keys,values)) builds a dict from two parallel lists — very common.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Sets. The region operations are immediately recognisable in CRM and sales territory analysis. The O(1) membership check is critical for large datasets — checking if an ID is in a set of 1 million items takes the same time as checking a set of 10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structure use cases. Each structure has a natural fit: list for ordered transaction history, tuple for geographic coordinates and fixed records, dict for customer records and inventory lookup, set for deduplication and territory analysis. The wrong choice causes bugs — mutable tuple attempts, KeyError crashes, duplicate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structures challenge. Q2 uses dict(zip()) — a common interview question. Q3 uses set operations on customer IDs — this is exactly how CRM analysts find churned vs retained customers. Q4 uses dict comprehension for price updates — standard for seasonal repricing or tax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Conditionals. All examples are business-realistic: stock reorder point, customer tier based on balance, credit score rating, active/inactive account. The credit score elif chain is a direct analogue of real credit bureau rating systems used by Nigerian banks.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Compound conditions. The fraud detection rule at the bottom is a real pattern used in payment systems. Walk through it slowly: flag if amount exceeds one million, OR if it's a foreign transaction exceeding 100k. The 'in' membership check for payment modes is a pattern worth emphasising.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Conditional use cases. These six industries all depend on if/elif/else at their core. Loan approval, e-commerce discounting, leave eligibility, shipping routing, fraud flagging, and clinical triage — all are decision trees implemented as conditional logic. Python conditionals ARE business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Conditionals challenge. Q2 (tiered discounts) is important — students must order conditions from highest to lowest threshold, otherwise wrong discounts get applied. Q3 (predict without running) tests genuine understanding of logical operators. Q4 reinforces the ternary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comparison diagram. Rule of thumb: if you know in advance how many times to iterate, use for. If you repeat until something changes (user input, API response, error retry), use while. In data analytics, for loops dominate — iterating over rows, columns, files, and dictionary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loops. The zip(regions, revenues) example is immediately practical — this is exactly how analysts iterate over parallel columns before loading into Pandas. enumerate with start=1 produces ranked output. dict.items() is the correct way to iterate a report dictionary.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loops. The loan repayment simulation is excellent — run it live in Colab and let students watch the balance drop month by month. The retry pattern for API calls is a real production pattern every developer uses. The break on success avoids wasting retries.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 use cases. Every business process that repeats is a loop: batch invoice generation, inventory scanning, interest compounding, payroll processing. The while loop handles loan repayment simulation and retry-on-failure patterns. Loops are the engine of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 challenges. Q1 combines enumerate and zip — both in one line. Q2 builds two separate lists from one scan — the data validation pattern. Q3 (loan simulation) should be run live in Colab with students tracking the balance. Q4 uses f-string zero-padding (:03d) for professional invoice numbering.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 anatomy. Walk every labelled part: def keyword, function name (should be a verb describing what it does), parameters, default values, colon, docstring, body (indented 4 spaces), return value. A function without a return statement returns None. The example is calculate_revenue — a real business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 parameters. The default vat_rate=0.075 example is immediately practical. *args for total_sales allows passing any number of amounts. **kwargs for build_report allows flexible metric names. Mention: Pandas and Matplotlib use **kwargs everywhere to pass optional styling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values and lambdas. The print vs return confusion causes more bugs in student code than anything else. Live demo: write log_transaction, call it, try to store the result and add to it — TypeError: 'NoneType'. Then fix with return. Lambda + sorted is the most common real-world lambda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LEGB = Local, Enclosing, Global, Built-in. The key message: avoid global. Global variables make code hard to test and debug. Instead, pass values in as arguments and return results. The convention ALL_CAPS for constants (TAX_RATE, MAX_LOAN_AMOUNT) is important for readability.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 use cases. Every business calculation that runs more than once should be a function. Tax calculation, discount engine, performance grading, compound interest — all become one-line calls after the function is defined. Functions also make testing possible: test with known inputs, verify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 challenges. Q1 (classify_customer) is a real CRM segmentation function. Q2 (*args with dict return) is a common data summary utility. Q3 (scope) — the output is always 0.15, surprising many students who expect 0.20. Q4 (lambda sort) is the most practically used lambda pattern in data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Project 1. This synthesises everything: a classify() function, a list of dicts as the data source, a for loop to process each region, f-string column alignment, lambda for finding the max. Run this live in Colab step by step. Let students extend it: add a chart using matplotlib (one extra line: plt.bar(regions, totals)).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Project 2. The invoice generator demonstrates real-world function design: a pure calculation function (generate_invoice) separated from a display function (print_invoice). This separation of concerns is the first professional programming habit students should develop.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bank introduction. Q1-10 are suitable for in-class timed exercises (3-5 minutes each). Q11-20 work well as homework. Q21-30 are take-home projects or assessment tasks. All have context in the Nigerian business environment. All run in Google Colab with zero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 exercises — all business-themed. Q2 tests type conversion and f-string formatting. Q3 tests string slicing with a real product code. Q8 tests function with multiple default parameters. Q9 tests while loop accumulation. Q10 tests set deduplication.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Intermediate exercises — real business logic. Q12 (running balance) is a bank statement simulation. Q14 (frequency counter) is regional sales breakdown. Q16 (loan amortisation) is a real finance function. Q18 (bracket tax) mirrors PAYE tax calculation systems used in Nigerian payroll.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exercises — these are real-world systems, each requiring 45-90 minutes. Q22 (payroll) directly mirrors Nigerian PAYE tax structure. Q23 (RFM segmentation) is a standard CRM technique used by banks and telecoms. Q25 (CSV parser) bridges pure Python to Pandas. Q30 (discount engine) is a complete pricing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Cheat sheet. Recommend printing this for students. It covers all essential syntax in a compact reference. One A4 page, both sides, laminated — a physical coding reference card students can keep at their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End with energy and specificity. Every concept covered today is a building block for data analytics. When they open Pandas next week, they will recognise: DataFrames are dictionaries of lists. Groupby returns dictionary-like objects. Filtering is conditional logic. Everything connects.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0" y="0"/>
            <a:ext cx="4389120" cy="6858000"/>
          </a:xfrm>
          <a:prstGeom prst="rect">
            <a:avLst/>
          </a:prstGeom>
          <a:solidFill>
            <a:srgbClr val="0F1E3C"/>
          </a:solidFill>
          <a:ln w="12700">
            <a:solidFill>
              <a:srgbClr val="0F1E3C"/>
            </a:solidFill>
            <a:prstDash val="solid"/>
          </a:ln>
        </p:spPr>
      </p:sp>
      <p:sp>
        <p:nvSpPr>
          <p:cNvPr id="3" name="Shape 1"/>
          <p:cNvSpPr/>
          <p:nvPr/>
        </p:nvSpPr>
        <p:spPr>
          <a:xfrm>
            <a:off x="411480" y="411480"/>
            <a:ext cx="1691640" cy="1691640"/>
          </a:xfrm>
          <a:prstGeom prst="roundRect">
            <a:avLst>
              <a:gd name="adj" fmla="val 7568"/>
            </a:avLst>
          </a:prstGeom>
          <a:solidFill>
            <a:srgbClr val="2563EB"/>
          </a:solidFill>
          <a:ln w="12700">
            <a:solidFill>
              <a:srgbClr val="2563EB"/>
            </a:solidFill>
            <a:prstDash val="solid"/>
          </a:ln>
          <a:effectLst>
            <a:outerShdw sx="100000" sy="100000" kx="0" ky="0" algn="bl" rotWithShape="0" blurRad="127000" dist="50800" dir="2700000">
              <a:srgbClr val="000000">
                <a:alpha val="18000"/>
              </a:srgbClr>
            </a:outerShdw>
          </a:effectLst>
        </p:spPr>
      </p:sp>
      <p:sp>
        <p:nvSpPr>
          <p:cNvPr id="4" name="Shape 2"/>
          <p:cNvSpPr/>
          <p:nvPr/>
        </p:nvSpPr>
        <p:spPr>
          <a:xfrm>
            <a:off x="2286000" y="411480"/>
            <a:ext cx="1691640" cy="1691640"/>
          </a:xfrm>
          <a:prstGeom prst="roundRect">
            <a:avLst>
              <a:gd name="adj" fmla="val 7568"/>
            </a:avLst>
          </a:prstGeom>
          <a:solidFill>
            <a:srgbClr val="F9AB00"/>
          </a:solidFill>
          <a:ln w="12700">
            <a:solidFill>
              <a:srgbClr val="F9AB00"/>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2286000"/>
            <a:ext cx="1691640" cy="1691640"/>
          </a:xfrm>
          <a:prstGeom prst="roundRect">
            <a:avLst>
              <a:gd name="adj" fmla="val 7568"/>
            </a:avLst>
          </a:prstGeom>
          <a:solidFill>
            <a:srgbClr val="F9AB00"/>
          </a:solidFill>
          <a:ln w="12700">
            <a:solidFill>
              <a:srgbClr val="F9AB00"/>
            </a:solidFill>
            <a:prstDash val="solid"/>
          </a:ln>
          <a:effectLst>
            <a:outerShdw sx="100000" sy="100000" kx="0" ky="0" algn="bl" rotWithShape="0" blurRad="127000" dist="50800" dir="2700000">
              <a:srgbClr val="000000">
                <a:alpha val="18000"/>
              </a:srgbClr>
            </a:outerShdw>
          </a:effectLst>
        </p:spPr>
      </p:sp>
      <p:sp>
        <p:nvSpPr>
          <p:cNvPr id="6" name="Shape 4"/>
          <p:cNvSpPr/>
          <p:nvPr/>
        </p:nvSpPr>
        <p:spPr>
          <a:xfrm>
            <a:off x="2286000" y="2286000"/>
            <a:ext cx="1691640" cy="1691640"/>
          </a:xfrm>
          <a:prstGeom prst="roundRect">
            <a:avLst>
              <a:gd name="adj" fmla="val 7568"/>
            </a:avLst>
          </a:prstGeom>
          <a:solidFill>
            <a:srgbClr val="2563EB"/>
          </a:solidFill>
          <a:ln w="12700">
            <a:solidFill>
              <a:srgbClr val="2563EB"/>
            </a:solidFill>
            <a:prstDash val="solid"/>
          </a:ln>
          <a:effectLst>
            <a:outerShdw sx="100000" sy="100000" kx="0" ky="0" algn="bl" rotWithShape="0" blurRad="127000" dist="50800" dir="2700000">
              <a:srgbClr val="000000">
                <a:alpha val="18000"/>
              </a:srgbClr>
            </a:outerShdw>
          </a:effectLst>
        </p:spPr>
      </p:sp>
      <p:sp>
        <p:nvSpPr>
          <p:cNvPr id="7" name="Text 5"/>
          <p:cNvSpPr/>
          <p:nvPr/>
        </p:nvSpPr>
        <p:spPr>
          <a:xfrm>
            <a:off x="411480" y="411480"/>
            <a:ext cx="3566160" cy="3566160"/>
          </a:xfrm>
          <a:prstGeom prst="rect">
            <a:avLst/>
          </a:prstGeom>
          <a:noFill/>
          <a:ln/>
        </p:spPr>
        <p:txBody>
          <a:bodyPr wrap="square" lIns="0" tIns="0" rIns="0" bIns="0" rtlCol="0" anchor="ctr"/>
          <a:lstStyle/>
          <a:p>
            <a:pPr algn="ctr" indent="0" marL="0">
              <a:buNone/>
            </a:pPr>
            <a:r>
              <a:rPr lang="en-US" sz="8800" dirty="0">
                <a:solidFill>
                  <a:srgbClr val="000000"/>
                </a:solidFill>
              </a:rPr>
              <a:t>🐍</a:t>
            </a:r>
            <a:endParaRPr lang="en-US" sz="8800" dirty="0"/>
          </a:p>
        </p:txBody>
      </p:sp>
      <p:sp>
        <p:nvSpPr>
          <p:cNvPr id="8" name="Shape 6"/>
          <p:cNvSpPr/>
          <p:nvPr/>
        </p:nvSpPr>
        <p:spPr>
          <a:xfrm>
            <a:off x="0" y="4160520"/>
            <a:ext cx="4389120" cy="2697480"/>
          </a:xfrm>
          <a:prstGeom prst="rect">
            <a:avLst/>
          </a:prstGeom>
          <a:solidFill>
            <a:srgbClr val="0D1526"/>
          </a:solidFill>
          <a:ln w="12700">
            <a:solidFill>
              <a:srgbClr val="0D1526"/>
            </a:solidFill>
            <a:prstDash val="solid"/>
          </a:ln>
        </p:spPr>
      </p:sp>
      <p:sp>
        <p:nvSpPr>
          <p:cNvPr id="9" name="Text 7"/>
          <p:cNvSpPr/>
          <p:nvPr/>
        </p:nvSpPr>
        <p:spPr>
          <a:xfrm>
            <a:off x="0" y="4297680"/>
            <a:ext cx="4389120" cy="329184"/>
          </a:xfrm>
          <a:prstGeom prst="rect">
            <a:avLst/>
          </a:prstGeom>
          <a:noFill/>
          <a:ln/>
        </p:spPr>
        <p:txBody>
          <a:bodyPr wrap="square" lIns="0" tIns="0" rIns="0" bIns="0" rtlCol="0" anchor="ctr"/>
          <a:lstStyle/>
          <a:p>
            <a:pPr algn="ctr" indent="0" marL="0">
              <a:buNone/>
            </a:pPr>
            <a:r>
              <a:rPr lang="en-US" sz="950" b="1" spc="200" kern="0" dirty="0">
                <a:solidFill>
                  <a:srgbClr val="94A3B8"/>
                </a:solidFill>
                <a:latin typeface="Calibri" pitchFamily="34" charset="0"/>
                <a:ea typeface="Calibri" pitchFamily="34" charset="-122"/>
                <a:cs typeface="Calibri" pitchFamily="34" charset="-120"/>
              </a:rPr>
              <a:t>KAJOLA GBENGA ADEWALE</a:t>
            </a:r>
            <a:endParaRPr lang="en-US" sz="950" dirty="0"/>
          </a:p>
        </p:txBody>
      </p:sp>
      <p:sp>
        <p:nvSpPr>
          <p:cNvPr id="10" name="Text 8"/>
          <p:cNvSpPr/>
          <p:nvPr/>
        </p:nvSpPr>
        <p:spPr>
          <a:xfrm>
            <a:off x="0" y="4681728"/>
            <a:ext cx="4389120" cy="292608"/>
          </a:xfrm>
          <a:prstGeom prst="rect">
            <a:avLst/>
          </a:prstGeom>
          <a:noFill/>
          <a:ln/>
        </p:spPr>
        <p:txBody>
          <a:bodyPr wrap="square" lIns="0" tIns="0" rIns="0" bIns="0"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Data Analytics Expert</a:t>
            </a:r>
            <a:endParaRPr lang="en-US" sz="1100" dirty="0"/>
          </a:p>
        </p:txBody>
      </p:sp>
      <p:sp>
        <p:nvSpPr>
          <p:cNvPr id="11" name="Shape 9"/>
          <p:cNvSpPr/>
          <p:nvPr/>
        </p:nvSpPr>
        <p:spPr>
          <a:xfrm>
            <a:off x="1316736" y="5138928"/>
            <a:ext cx="201168" cy="201168"/>
          </a:xfrm>
          <a:prstGeom prst="ellipse">
            <a:avLst/>
          </a:prstGeom>
          <a:solidFill>
            <a:srgbClr val="2563EB"/>
          </a:solidFill>
          <a:ln w="12700">
            <a:solidFill>
              <a:srgbClr val="2563EB"/>
            </a:solidFill>
            <a:prstDash val="solid"/>
          </a:ln>
        </p:spPr>
      </p:sp>
      <p:sp>
        <p:nvSpPr>
          <p:cNvPr id="12" name="Shape 10"/>
          <p:cNvSpPr/>
          <p:nvPr/>
        </p:nvSpPr>
        <p:spPr>
          <a:xfrm>
            <a:off x="2029968" y="5138928"/>
            <a:ext cx="201168" cy="201168"/>
          </a:xfrm>
          <a:prstGeom prst="ellipse">
            <a:avLst/>
          </a:prstGeom>
          <a:solidFill>
            <a:srgbClr val="F9AB00"/>
          </a:solidFill>
          <a:ln w="12700">
            <a:solidFill>
              <a:srgbClr val="F9AB00"/>
            </a:solidFill>
            <a:prstDash val="solid"/>
          </a:ln>
        </p:spPr>
      </p:sp>
      <p:sp>
        <p:nvSpPr>
          <p:cNvPr id="13" name="Shape 11"/>
          <p:cNvSpPr/>
          <p:nvPr/>
        </p:nvSpPr>
        <p:spPr>
          <a:xfrm>
            <a:off x="2743200" y="5138928"/>
            <a:ext cx="201168" cy="201168"/>
          </a:xfrm>
          <a:prstGeom prst="ellipse">
            <a:avLst/>
          </a:prstGeom>
          <a:solidFill>
            <a:srgbClr val="16A34A"/>
          </a:solidFill>
          <a:ln w="12700">
            <a:solidFill>
              <a:srgbClr val="16A34A"/>
            </a:solidFill>
            <a:prstDash val="solid"/>
          </a:ln>
        </p:spPr>
      </p:sp>
      <p:sp>
        <p:nvSpPr>
          <p:cNvPr id="14" name="Text 12"/>
          <p:cNvSpPr/>
          <p:nvPr/>
        </p:nvSpPr>
        <p:spPr>
          <a:xfrm>
            <a:off x="4754880" y="685800"/>
            <a:ext cx="7223760" cy="1234440"/>
          </a:xfrm>
          <a:prstGeom prst="rect">
            <a:avLst/>
          </a:prstGeom>
          <a:noFill/>
          <a:ln/>
        </p:spPr>
        <p:txBody>
          <a:bodyPr wrap="square" lIns="0" tIns="0" rIns="0" bIns="0" rtlCol="0" anchor="ctr"/>
          <a:lstStyle/>
          <a:p>
            <a:pPr indent="0" marL="0">
              <a:buNone/>
            </a:pPr>
            <a:r>
              <a:rPr lang="en-US" sz="5600" b="1" dirty="0">
                <a:solidFill>
                  <a:srgbClr val="FFFFFF"/>
                </a:solidFill>
                <a:latin typeface="Cambria" pitchFamily="34" charset="0"/>
                <a:ea typeface="Cambria" pitchFamily="34" charset="-122"/>
                <a:cs typeface="Cambria" pitchFamily="34" charset="-120"/>
              </a:rPr>
              <a:t>Python</a:t>
            </a:r>
            <a:endParaRPr lang="en-US" sz="5600" dirty="0"/>
          </a:p>
        </p:txBody>
      </p:sp>
      <p:sp>
        <p:nvSpPr>
          <p:cNvPr id="15" name="Text 13"/>
          <p:cNvSpPr/>
          <p:nvPr/>
        </p:nvSpPr>
        <p:spPr>
          <a:xfrm>
            <a:off x="4754880" y="1828800"/>
            <a:ext cx="7223760" cy="1005840"/>
          </a:xfrm>
          <a:prstGeom prst="rect">
            <a:avLst/>
          </a:prstGeom>
          <a:noFill/>
          <a:ln/>
        </p:spPr>
        <p:txBody>
          <a:bodyPr wrap="square" lIns="0" tIns="0" rIns="0" bIns="0" rtlCol="0" anchor="ctr"/>
          <a:lstStyle/>
          <a:p>
            <a:pPr indent="0" marL="0">
              <a:buNone/>
            </a:pPr>
            <a:r>
              <a:rPr lang="en-US" sz="4000" b="1" dirty="0">
                <a:solidFill>
                  <a:srgbClr val="F9AB00"/>
                </a:solidFill>
                <a:latin typeface="Cambria" pitchFamily="34" charset="0"/>
                <a:ea typeface="Cambria" pitchFamily="34" charset="-122"/>
                <a:cs typeface="Cambria" pitchFamily="34" charset="-120"/>
              </a:rPr>
              <a:t>Data Fundamentals</a:t>
            </a:r>
            <a:endParaRPr lang="en-US" sz="4000" dirty="0"/>
          </a:p>
        </p:txBody>
      </p:sp>
      <p:sp>
        <p:nvSpPr>
          <p:cNvPr id="16" name="Text 14"/>
          <p:cNvSpPr/>
          <p:nvPr/>
        </p:nvSpPr>
        <p:spPr>
          <a:xfrm>
            <a:off x="4754880" y="2926080"/>
            <a:ext cx="7223760" cy="438912"/>
          </a:xfrm>
          <a:prstGeom prst="rect">
            <a:avLst/>
          </a:prstGeom>
          <a:noFill/>
          <a:ln/>
        </p:spPr>
        <p:txBody>
          <a:bodyPr wrap="square" lIns="0" tIns="0" rIns="0" bIns="0"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Complete Beginner-to-Practitioner Teaching Deck</a:t>
            </a:r>
            <a:endParaRPr lang="en-US" sz="1500" dirty="0"/>
          </a:p>
        </p:txBody>
      </p:sp>
      <p:sp>
        <p:nvSpPr>
          <p:cNvPr id="17" name="Text 15"/>
          <p:cNvSpPr/>
          <p:nvPr/>
        </p:nvSpPr>
        <p:spPr>
          <a:xfrm>
            <a:off x="4754880" y="3456432"/>
            <a:ext cx="7223760" cy="329184"/>
          </a:xfrm>
          <a:prstGeom prst="rect">
            <a:avLst/>
          </a:prstGeom>
          <a:noFill/>
          <a:ln/>
        </p:spPr>
        <p:txBody>
          <a:bodyPr wrap="square" lIns="0" tIns="0" rIns="0" bIns="0" rtlCol="0" anchor="ctr"/>
          <a:lstStyle/>
          <a:p>
            <a:pPr indent="0" marL="0">
              <a:buNone/>
            </a:pPr>
            <a:r>
              <a:rPr lang="en-US" sz="1200" b="1" dirty="0">
                <a:solidFill>
                  <a:srgbClr val="F9AB00"/>
                </a:solidFill>
                <a:latin typeface="Calibri" pitchFamily="34" charset="0"/>
                <a:ea typeface="Calibri" pitchFamily="34" charset="-122"/>
                <a:cs typeface="Calibri" pitchFamily="34" charset="-120"/>
              </a:rPr>
              <a:t>Platform: Google Colab  |  No installation required</a:t>
            </a:r>
            <a:endParaRPr lang="en-US" sz="1200" dirty="0"/>
          </a:p>
        </p:txBody>
      </p:sp>
      <p:sp>
        <p:nvSpPr>
          <p:cNvPr id="18" name="Shape 16"/>
          <p:cNvSpPr/>
          <p:nvPr/>
        </p:nvSpPr>
        <p:spPr>
          <a:xfrm>
            <a:off x="4754880" y="3913632"/>
            <a:ext cx="7040880" cy="45720"/>
          </a:xfrm>
          <a:prstGeom prst="rect">
            <a:avLst/>
          </a:prstGeom>
          <a:solidFill>
            <a:srgbClr val="2563EB"/>
          </a:solidFill>
          <a:ln w="12700">
            <a:solidFill>
              <a:srgbClr val="2563EB"/>
            </a:solidFill>
            <a:prstDash val="solid"/>
          </a:ln>
        </p:spPr>
      </p:sp>
      <p:sp>
        <p:nvSpPr>
          <p:cNvPr id="19" name="Shape 17"/>
          <p:cNvSpPr/>
          <p:nvPr/>
        </p:nvSpPr>
        <p:spPr>
          <a:xfrm>
            <a:off x="4754880" y="4069080"/>
            <a:ext cx="2286000" cy="457200"/>
          </a:xfrm>
          <a:prstGeom prst="roundRect">
            <a:avLst>
              <a:gd name="adj" fmla="val 16000"/>
            </a:avLst>
          </a:prstGeom>
          <a:solidFill>
            <a:srgbClr val="2563EB"/>
          </a:solidFill>
          <a:ln w="12700">
            <a:solidFill>
              <a:srgbClr val="2563EB"/>
            </a:solidFill>
            <a:prstDash val="solid"/>
          </a:ln>
        </p:spPr>
      </p:sp>
      <p:sp>
        <p:nvSpPr>
          <p:cNvPr id="20" name="Text 18"/>
          <p:cNvSpPr/>
          <p:nvPr/>
        </p:nvSpPr>
        <p:spPr>
          <a:xfrm>
            <a:off x="4754880" y="4069080"/>
            <a:ext cx="22860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Data Types</a:t>
            </a:r>
            <a:endParaRPr lang="en-US" sz="1100" dirty="0"/>
          </a:p>
        </p:txBody>
      </p:sp>
      <p:sp>
        <p:nvSpPr>
          <p:cNvPr id="21" name="Shape 19"/>
          <p:cNvSpPr/>
          <p:nvPr/>
        </p:nvSpPr>
        <p:spPr>
          <a:xfrm>
            <a:off x="7150608" y="4069080"/>
            <a:ext cx="2286000" cy="457200"/>
          </a:xfrm>
          <a:prstGeom prst="roundRect">
            <a:avLst>
              <a:gd name="adj" fmla="val 16000"/>
            </a:avLst>
          </a:prstGeom>
          <a:solidFill>
            <a:srgbClr val="0891B2"/>
          </a:solidFill>
          <a:ln w="12700">
            <a:solidFill>
              <a:srgbClr val="0891B2"/>
            </a:solidFill>
            <a:prstDash val="solid"/>
          </a:ln>
        </p:spPr>
      </p:sp>
      <p:sp>
        <p:nvSpPr>
          <p:cNvPr id="22" name="Text 20"/>
          <p:cNvSpPr/>
          <p:nvPr/>
        </p:nvSpPr>
        <p:spPr>
          <a:xfrm>
            <a:off x="7150608" y="4069080"/>
            <a:ext cx="22860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Operators</a:t>
            </a:r>
            <a:endParaRPr lang="en-US" sz="1100" dirty="0"/>
          </a:p>
        </p:txBody>
      </p:sp>
      <p:sp>
        <p:nvSpPr>
          <p:cNvPr id="23" name="Shape 21"/>
          <p:cNvSpPr/>
          <p:nvPr/>
        </p:nvSpPr>
        <p:spPr>
          <a:xfrm>
            <a:off x="9546336" y="4069080"/>
            <a:ext cx="2286000" cy="457200"/>
          </a:xfrm>
          <a:prstGeom prst="roundRect">
            <a:avLst>
              <a:gd name="adj" fmla="val 16000"/>
            </a:avLst>
          </a:prstGeom>
          <a:solidFill>
            <a:srgbClr val="16A34A"/>
          </a:solidFill>
          <a:ln w="12700">
            <a:solidFill>
              <a:srgbClr val="16A34A"/>
            </a:solidFill>
            <a:prstDash val="solid"/>
          </a:ln>
        </p:spPr>
      </p:sp>
      <p:sp>
        <p:nvSpPr>
          <p:cNvPr id="24" name="Text 22"/>
          <p:cNvSpPr/>
          <p:nvPr/>
        </p:nvSpPr>
        <p:spPr>
          <a:xfrm>
            <a:off x="9546336" y="4069080"/>
            <a:ext cx="22860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Data Structures</a:t>
            </a:r>
            <a:endParaRPr lang="en-US" sz="1100" dirty="0"/>
          </a:p>
        </p:txBody>
      </p:sp>
      <p:sp>
        <p:nvSpPr>
          <p:cNvPr id="25" name="Shape 23"/>
          <p:cNvSpPr/>
          <p:nvPr/>
        </p:nvSpPr>
        <p:spPr>
          <a:xfrm>
            <a:off x="4754880" y="4599432"/>
            <a:ext cx="2286000" cy="457200"/>
          </a:xfrm>
          <a:prstGeom prst="roundRect">
            <a:avLst>
              <a:gd name="adj" fmla="val 16000"/>
            </a:avLst>
          </a:prstGeom>
          <a:solidFill>
            <a:srgbClr val="7C3AED"/>
          </a:solidFill>
          <a:ln w="12700">
            <a:solidFill>
              <a:srgbClr val="7C3AED"/>
            </a:solidFill>
            <a:prstDash val="solid"/>
          </a:ln>
        </p:spPr>
      </p:sp>
      <p:sp>
        <p:nvSpPr>
          <p:cNvPr id="26" name="Text 24"/>
          <p:cNvSpPr/>
          <p:nvPr/>
        </p:nvSpPr>
        <p:spPr>
          <a:xfrm>
            <a:off x="4754880" y="4599432"/>
            <a:ext cx="22860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if / elif / else</a:t>
            </a:r>
            <a:endParaRPr lang="en-US" sz="1100" dirty="0"/>
          </a:p>
        </p:txBody>
      </p:sp>
      <p:sp>
        <p:nvSpPr>
          <p:cNvPr id="27" name="Shape 25"/>
          <p:cNvSpPr/>
          <p:nvPr/>
        </p:nvSpPr>
        <p:spPr>
          <a:xfrm>
            <a:off x="7150608" y="4599432"/>
            <a:ext cx="2286000" cy="457200"/>
          </a:xfrm>
          <a:prstGeom prst="roundRect">
            <a:avLst>
              <a:gd name="adj" fmla="val 16000"/>
            </a:avLst>
          </a:prstGeom>
          <a:solidFill>
            <a:srgbClr val="0891B2"/>
          </a:solidFill>
          <a:ln w="12700">
            <a:solidFill>
              <a:srgbClr val="0891B2"/>
            </a:solidFill>
            <a:prstDash val="solid"/>
          </a:ln>
        </p:spPr>
      </p:sp>
      <p:sp>
        <p:nvSpPr>
          <p:cNvPr id="28" name="Text 26"/>
          <p:cNvSpPr/>
          <p:nvPr/>
        </p:nvSpPr>
        <p:spPr>
          <a:xfrm>
            <a:off x="7150608" y="4599432"/>
            <a:ext cx="22860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 Loops</a:t>
            </a:r>
            <a:endParaRPr lang="en-US" sz="1100" dirty="0"/>
          </a:p>
        </p:txBody>
      </p:sp>
      <p:sp>
        <p:nvSpPr>
          <p:cNvPr id="29" name="Shape 27"/>
          <p:cNvSpPr/>
          <p:nvPr/>
        </p:nvSpPr>
        <p:spPr>
          <a:xfrm>
            <a:off x="9546336" y="4599432"/>
            <a:ext cx="2286000" cy="457200"/>
          </a:xfrm>
          <a:prstGeom prst="roundRect">
            <a:avLst>
              <a:gd name="adj" fmla="val 16000"/>
            </a:avLst>
          </a:prstGeom>
          <a:solidFill>
            <a:srgbClr val="EA580C"/>
          </a:solidFill>
          <a:ln w="12700">
            <a:solidFill>
              <a:srgbClr val="EA580C"/>
            </a:solidFill>
            <a:prstDash val="solid"/>
          </a:ln>
        </p:spPr>
      </p:sp>
      <p:sp>
        <p:nvSpPr>
          <p:cNvPr id="30" name="Text 28"/>
          <p:cNvSpPr/>
          <p:nvPr/>
        </p:nvSpPr>
        <p:spPr>
          <a:xfrm>
            <a:off x="9546336" y="4599432"/>
            <a:ext cx="22860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while Loops</a:t>
            </a:r>
            <a:endParaRPr lang="en-US" sz="1100" dirty="0"/>
          </a:p>
        </p:txBody>
      </p:sp>
      <p:sp>
        <p:nvSpPr>
          <p:cNvPr id="31" name="Shape 29"/>
          <p:cNvSpPr/>
          <p:nvPr/>
        </p:nvSpPr>
        <p:spPr>
          <a:xfrm>
            <a:off x="4754880" y="5129784"/>
            <a:ext cx="2286000" cy="457200"/>
          </a:xfrm>
          <a:prstGeom prst="roundRect">
            <a:avLst>
              <a:gd name="adj" fmla="val 16000"/>
            </a:avLst>
          </a:prstGeom>
          <a:solidFill>
            <a:srgbClr val="D97706"/>
          </a:solidFill>
          <a:ln w="12700">
            <a:solidFill>
              <a:srgbClr val="D97706"/>
            </a:solidFill>
            <a:prstDash val="solid"/>
          </a:ln>
        </p:spPr>
      </p:sp>
      <p:sp>
        <p:nvSpPr>
          <p:cNvPr id="32" name="Text 30"/>
          <p:cNvSpPr/>
          <p:nvPr/>
        </p:nvSpPr>
        <p:spPr>
          <a:xfrm>
            <a:off x="4754880" y="5129784"/>
            <a:ext cx="22860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Functions</a:t>
            </a:r>
            <a:endParaRPr lang="en-US" sz="1100" dirty="0"/>
          </a:p>
        </p:txBody>
      </p:sp>
      <p:sp>
        <p:nvSpPr>
          <p:cNvPr id="33" name="Shape 31"/>
          <p:cNvSpPr/>
          <p:nvPr/>
        </p:nvSpPr>
        <p:spPr>
          <a:xfrm>
            <a:off x="7150608" y="5129784"/>
            <a:ext cx="2286000" cy="457200"/>
          </a:xfrm>
          <a:prstGeom prst="roundRect">
            <a:avLst>
              <a:gd name="adj" fmla="val 16000"/>
            </a:avLst>
          </a:prstGeom>
          <a:solidFill>
            <a:srgbClr val="E11D48"/>
          </a:solidFill>
          <a:ln w="12700">
            <a:solidFill>
              <a:srgbClr val="E11D48"/>
            </a:solidFill>
            <a:prstDash val="solid"/>
          </a:ln>
        </p:spPr>
      </p:sp>
      <p:sp>
        <p:nvSpPr>
          <p:cNvPr id="34" name="Text 32"/>
          <p:cNvSpPr/>
          <p:nvPr/>
        </p:nvSpPr>
        <p:spPr>
          <a:xfrm>
            <a:off x="7150608" y="5129784"/>
            <a:ext cx="22860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Business Use Cases</a:t>
            </a:r>
            <a:endParaRPr lang="en-US" sz="1100" dirty="0"/>
          </a:p>
        </p:txBody>
      </p:sp>
      <p:sp>
        <p:nvSpPr>
          <p:cNvPr id="35" name="Shape 33"/>
          <p:cNvSpPr/>
          <p:nvPr/>
        </p:nvSpPr>
        <p:spPr>
          <a:xfrm>
            <a:off x="9546336" y="5129784"/>
            <a:ext cx="2286000" cy="457200"/>
          </a:xfrm>
          <a:prstGeom prst="roundRect">
            <a:avLst>
              <a:gd name="adj" fmla="val 16000"/>
            </a:avLst>
          </a:prstGeom>
          <a:solidFill>
            <a:srgbClr val="F9AB00"/>
          </a:solidFill>
          <a:ln w="12700">
            <a:solidFill>
              <a:srgbClr val="F9AB00"/>
            </a:solidFill>
            <a:prstDash val="solid"/>
          </a:ln>
        </p:spPr>
      </p:sp>
      <p:sp>
        <p:nvSpPr>
          <p:cNvPr id="36" name="Text 34"/>
          <p:cNvSpPr/>
          <p:nvPr/>
        </p:nvSpPr>
        <p:spPr>
          <a:xfrm>
            <a:off x="9546336" y="5129784"/>
            <a:ext cx="22860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30 Challenges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E3C"/>
          </a:solidFill>
          <a:ln w="12700">
            <a:solidFill>
              <a:srgbClr val="0F1E3C"/>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GOOGLE COLAB — YOUR FREE PYTHON ENVIRONMENT</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6583680" cy="5577840"/>
          </a:xfrm>
          <a:prstGeom prst="rect">
            <a:avLst/>
          </a:prstGeom>
        </p:spPr>
      </p:pic>
      <p:sp>
        <p:nvSpPr>
          <p:cNvPr id="5" name="Shape 2"/>
          <p:cNvSpPr/>
          <p:nvPr/>
        </p:nvSpPr>
        <p:spPr>
          <a:xfrm>
            <a:off x="7178040" y="1024128"/>
            <a:ext cx="4754880" cy="1024128"/>
          </a:xfrm>
          <a:prstGeom prst="roundRect">
            <a:avLst>
              <a:gd name="adj" fmla="val 8929"/>
            </a:avLst>
          </a:prstGeom>
          <a:solidFill>
            <a:srgbClr val="FFFFFF"/>
          </a:solidFill>
          <a:ln w="13970">
            <a:solidFill>
              <a:srgbClr val="2563EB"/>
            </a:solidFill>
            <a:prstDash val="solid"/>
          </a:ln>
          <a:effectLst>
            <a:outerShdw sx="100000" sy="100000" kx="0" ky="0" algn="bl" rotWithShape="0" blurRad="63500" dist="25400" dir="2700000">
              <a:srgbClr val="000000">
                <a:alpha val="12000"/>
              </a:srgbClr>
            </a:outerShdw>
          </a:effectLst>
        </p:spPr>
      </p:sp>
      <p:sp>
        <p:nvSpPr>
          <p:cNvPr id="6" name="Text 3"/>
          <p:cNvSpPr/>
          <p:nvPr/>
        </p:nvSpPr>
        <p:spPr>
          <a:xfrm>
            <a:off x="7324344" y="1133856"/>
            <a:ext cx="4462272" cy="274320"/>
          </a:xfrm>
          <a:prstGeom prst="rect">
            <a:avLst/>
          </a:prstGeom>
          <a:noFill/>
          <a:ln/>
        </p:spPr>
        <p:txBody>
          <a:bodyPr wrap="square" lIns="0" tIns="0" rIns="0" bIns="0" rtlCol="0" anchor="ctr"/>
          <a:lstStyle/>
          <a:p>
            <a:pPr indent="0" marL="0">
              <a:buNone/>
            </a:pPr>
            <a:r>
              <a:rPr lang="en-US" sz="1100" b="1" dirty="0">
                <a:solidFill>
                  <a:srgbClr val="2563EB"/>
                </a:solidFill>
                <a:latin typeface="Cambria" pitchFamily="34" charset="0"/>
                <a:ea typeface="Cambria" pitchFamily="34" charset="-122"/>
                <a:cs typeface="Cambria" pitchFamily="34" charset="-120"/>
              </a:rPr>
              <a:t>Step 1: Open Colab</a:t>
            </a:r>
            <a:endParaRPr lang="en-US" sz="1100" dirty="0"/>
          </a:p>
        </p:txBody>
      </p:sp>
      <p:sp>
        <p:nvSpPr>
          <p:cNvPr id="7" name="Text 4"/>
          <p:cNvSpPr/>
          <p:nvPr/>
        </p:nvSpPr>
        <p:spPr>
          <a:xfrm>
            <a:off x="7324344" y="1444752"/>
            <a:ext cx="4462272"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Go to colab.research.google.com. Sign in with any Google account. It is completely free.</a:t>
            </a:r>
            <a:endParaRPr lang="en-US" sz="1000" dirty="0"/>
          </a:p>
        </p:txBody>
      </p:sp>
      <p:sp>
        <p:nvSpPr>
          <p:cNvPr id="8" name="Shape 5"/>
          <p:cNvSpPr/>
          <p:nvPr/>
        </p:nvSpPr>
        <p:spPr>
          <a:xfrm>
            <a:off x="7178040" y="2103120"/>
            <a:ext cx="4754880" cy="1024128"/>
          </a:xfrm>
          <a:prstGeom prst="roundRect">
            <a:avLst>
              <a:gd name="adj" fmla="val 8929"/>
            </a:avLst>
          </a:prstGeom>
          <a:solidFill>
            <a:srgbClr val="FFFFFF"/>
          </a:solidFill>
          <a:ln w="13970">
            <a:solidFill>
              <a:srgbClr val="16A34A"/>
            </a:solidFill>
            <a:prstDash val="solid"/>
          </a:ln>
          <a:effectLst>
            <a:outerShdw sx="100000" sy="100000" kx="0" ky="0" algn="bl" rotWithShape="0" blurRad="63500" dist="25400" dir="2700000">
              <a:srgbClr val="000000">
                <a:alpha val="12000"/>
              </a:srgbClr>
            </a:outerShdw>
          </a:effectLst>
        </p:spPr>
      </p:sp>
      <p:sp>
        <p:nvSpPr>
          <p:cNvPr id="9" name="Text 6"/>
          <p:cNvSpPr/>
          <p:nvPr/>
        </p:nvSpPr>
        <p:spPr>
          <a:xfrm>
            <a:off x="7324344" y="2212848"/>
            <a:ext cx="4462272" cy="274320"/>
          </a:xfrm>
          <a:prstGeom prst="rect">
            <a:avLst/>
          </a:prstGeom>
          <a:noFill/>
          <a:ln/>
        </p:spPr>
        <p:txBody>
          <a:bodyPr wrap="square" lIns="0" tIns="0" rIns="0" bIns="0" rtlCol="0" anchor="ctr"/>
          <a:lstStyle/>
          <a:p>
            <a:pPr indent="0" marL="0">
              <a:buNone/>
            </a:pPr>
            <a:r>
              <a:rPr lang="en-US" sz="1100" b="1" dirty="0">
                <a:solidFill>
                  <a:srgbClr val="16A34A"/>
                </a:solidFill>
                <a:latin typeface="Cambria" pitchFamily="34" charset="0"/>
                <a:ea typeface="Cambria" pitchFamily="34" charset="-122"/>
                <a:cs typeface="Cambria" pitchFamily="34" charset="-120"/>
              </a:rPr>
              <a:t>Step 2: New Notebook</a:t>
            </a:r>
            <a:endParaRPr lang="en-US" sz="1100" dirty="0"/>
          </a:p>
        </p:txBody>
      </p:sp>
      <p:sp>
        <p:nvSpPr>
          <p:cNvPr id="10" name="Text 7"/>
          <p:cNvSpPr/>
          <p:nvPr/>
        </p:nvSpPr>
        <p:spPr>
          <a:xfrm>
            <a:off x="7324344" y="2523744"/>
            <a:ext cx="4462272"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Click "File → New Notebook". A blank .ipynb file opens instantly.</a:t>
            </a:r>
            <a:endParaRPr lang="en-US" sz="1000" dirty="0"/>
          </a:p>
        </p:txBody>
      </p:sp>
      <p:sp>
        <p:nvSpPr>
          <p:cNvPr id="11" name="Shape 8"/>
          <p:cNvSpPr/>
          <p:nvPr/>
        </p:nvSpPr>
        <p:spPr>
          <a:xfrm>
            <a:off x="7178040" y="3182112"/>
            <a:ext cx="4754880" cy="1024128"/>
          </a:xfrm>
          <a:prstGeom prst="roundRect">
            <a:avLst>
              <a:gd name="adj" fmla="val 8929"/>
            </a:avLst>
          </a:prstGeom>
          <a:solidFill>
            <a:srgbClr val="FFFFFF"/>
          </a:solidFill>
          <a:ln w="13970">
            <a:solidFill>
              <a:srgbClr val="7C3AED"/>
            </a:solidFill>
            <a:prstDash val="solid"/>
          </a:ln>
          <a:effectLst>
            <a:outerShdw sx="100000" sy="100000" kx="0" ky="0" algn="bl" rotWithShape="0" blurRad="63500" dist="25400" dir="2700000">
              <a:srgbClr val="000000">
                <a:alpha val="12000"/>
              </a:srgbClr>
            </a:outerShdw>
          </a:effectLst>
        </p:spPr>
      </p:sp>
      <p:sp>
        <p:nvSpPr>
          <p:cNvPr id="12" name="Text 9"/>
          <p:cNvSpPr/>
          <p:nvPr/>
        </p:nvSpPr>
        <p:spPr>
          <a:xfrm>
            <a:off x="7324344" y="3291840"/>
            <a:ext cx="4462272" cy="274320"/>
          </a:xfrm>
          <a:prstGeom prst="rect">
            <a:avLst/>
          </a:prstGeom>
          <a:noFill/>
          <a:ln/>
        </p:spPr>
        <p:txBody>
          <a:bodyPr wrap="square" lIns="0" tIns="0" rIns="0" bIns="0" rtlCol="0" anchor="ctr"/>
          <a:lstStyle/>
          <a:p>
            <a:pPr indent="0" marL="0">
              <a:buNone/>
            </a:pPr>
            <a:r>
              <a:rPr lang="en-US" sz="1100" b="1" dirty="0">
                <a:solidFill>
                  <a:srgbClr val="7C3AED"/>
                </a:solidFill>
                <a:latin typeface="Cambria" pitchFamily="34" charset="0"/>
                <a:ea typeface="Cambria" pitchFamily="34" charset="-122"/>
                <a:cs typeface="Cambria" pitchFamily="34" charset="-120"/>
              </a:rPr>
              <a:t>Step 3: Write Code</a:t>
            </a:r>
            <a:endParaRPr lang="en-US" sz="1100" dirty="0"/>
          </a:p>
        </p:txBody>
      </p:sp>
      <p:sp>
        <p:nvSpPr>
          <p:cNvPr id="13" name="Text 10"/>
          <p:cNvSpPr/>
          <p:nvPr/>
        </p:nvSpPr>
        <p:spPr>
          <a:xfrm>
            <a:off x="7324344" y="3602736"/>
            <a:ext cx="4462272"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Click any cell. Type your Python code. Press Shift+Enter to run it.</a:t>
            </a:r>
            <a:endParaRPr lang="en-US" sz="1000" dirty="0"/>
          </a:p>
        </p:txBody>
      </p:sp>
      <p:sp>
        <p:nvSpPr>
          <p:cNvPr id="14" name="Shape 11"/>
          <p:cNvSpPr/>
          <p:nvPr/>
        </p:nvSpPr>
        <p:spPr>
          <a:xfrm>
            <a:off x="7178040" y="4261104"/>
            <a:ext cx="4754880" cy="1024128"/>
          </a:xfrm>
          <a:prstGeom prst="roundRect">
            <a:avLst>
              <a:gd name="adj" fmla="val 8929"/>
            </a:avLst>
          </a:prstGeom>
          <a:solidFill>
            <a:srgbClr val="FFFFFF"/>
          </a:solidFill>
          <a:ln w="13970">
            <a:solidFill>
              <a:srgbClr val="F9AB00"/>
            </a:solidFill>
            <a:prstDash val="solid"/>
          </a:ln>
          <a:effectLst>
            <a:outerShdw sx="100000" sy="100000" kx="0" ky="0" algn="bl" rotWithShape="0" blurRad="63500" dist="25400" dir="2700000">
              <a:srgbClr val="000000">
                <a:alpha val="12000"/>
              </a:srgbClr>
            </a:outerShdw>
          </a:effectLst>
        </p:spPr>
      </p:sp>
      <p:sp>
        <p:nvSpPr>
          <p:cNvPr id="15" name="Text 12"/>
          <p:cNvSpPr/>
          <p:nvPr/>
        </p:nvSpPr>
        <p:spPr>
          <a:xfrm>
            <a:off x="7324344" y="4370832"/>
            <a:ext cx="4462272" cy="274320"/>
          </a:xfrm>
          <a:prstGeom prst="rect">
            <a:avLst/>
          </a:prstGeom>
          <a:noFill/>
          <a:ln/>
        </p:spPr>
        <p:txBody>
          <a:bodyPr wrap="square" lIns="0" tIns="0" rIns="0" bIns="0" rtlCol="0" anchor="ctr"/>
          <a:lstStyle/>
          <a:p>
            <a:pPr indent="0" marL="0">
              <a:buNone/>
            </a:pPr>
            <a:r>
              <a:rPr lang="en-US" sz="1100" b="1" dirty="0">
                <a:solidFill>
                  <a:srgbClr val="F9AB00"/>
                </a:solidFill>
                <a:latin typeface="Cambria" pitchFamily="34" charset="0"/>
                <a:ea typeface="Cambria" pitchFamily="34" charset="-122"/>
                <a:cs typeface="Cambria" pitchFamily="34" charset="-120"/>
              </a:rPr>
              <a:t>Step 4: See Results</a:t>
            </a:r>
            <a:endParaRPr lang="en-US" sz="1100" dirty="0"/>
          </a:p>
        </p:txBody>
      </p:sp>
      <p:sp>
        <p:nvSpPr>
          <p:cNvPr id="16" name="Text 13"/>
          <p:cNvSpPr/>
          <p:nvPr/>
        </p:nvSpPr>
        <p:spPr>
          <a:xfrm>
            <a:off x="7324344" y="4681728"/>
            <a:ext cx="4462272"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Output appears directly below the cell. Errors show in red with explanations.</a:t>
            </a:r>
            <a:endParaRPr lang="en-US" sz="1000" dirty="0"/>
          </a:p>
        </p:txBody>
      </p:sp>
      <p:sp>
        <p:nvSpPr>
          <p:cNvPr id="17" name="Shape 14"/>
          <p:cNvSpPr/>
          <p:nvPr/>
        </p:nvSpPr>
        <p:spPr>
          <a:xfrm>
            <a:off x="7178040" y="5340096"/>
            <a:ext cx="4754880" cy="1024128"/>
          </a:xfrm>
          <a:prstGeom prst="roundRect">
            <a:avLst>
              <a:gd name="adj" fmla="val 8929"/>
            </a:avLst>
          </a:prstGeom>
          <a:solidFill>
            <a:srgbClr val="FFFFFF"/>
          </a:solidFill>
          <a:ln w="13970">
            <a:solidFill>
              <a:srgbClr val="E11D48"/>
            </a:solidFill>
            <a:prstDash val="solid"/>
          </a:ln>
          <a:effectLst>
            <a:outerShdw sx="100000" sy="100000" kx="0" ky="0" algn="bl" rotWithShape="0" blurRad="63500" dist="25400" dir="2700000">
              <a:srgbClr val="000000">
                <a:alpha val="12000"/>
              </a:srgbClr>
            </a:outerShdw>
          </a:effectLst>
        </p:spPr>
      </p:sp>
      <p:sp>
        <p:nvSpPr>
          <p:cNvPr id="18" name="Text 15"/>
          <p:cNvSpPr/>
          <p:nvPr/>
        </p:nvSpPr>
        <p:spPr>
          <a:xfrm>
            <a:off x="7324344" y="5449824"/>
            <a:ext cx="4462272" cy="274320"/>
          </a:xfrm>
          <a:prstGeom prst="rect">
            <a:avLst/>
          </a:prstGeom>
          <a:noFill/>
          <a:ln/>
        </p:spPr>
        <p:txBody>
          <a:bodyPr wrap="square" lIns="0" tIns="0" rIns="0" bIns="0" rtlCol="0" anchor="ctr"/>
          <a:lstStyle/>
          <a:p>
            <a:pPr indent="0" marL="0">
              <a:buNone/>
            </a:pPr>
            <a:r>
              <a:rPr lang="en-US" sz="1100" b="1" dirty="0">
                <a:solidFill>
                  <a:srgbClr val="E11D48"/>
                </a:solidFill>
                <a:latin typeface="Cambria" pitchFamily="34" charset="0"/>
                <a:ea typeface="Cambria" pitchFamily="34" charset="-122"/>
                <a:cs typeface="Cambria" pitchFamily="34" charset="-120"/>
              </a:rPr>
              <a:t>Step 5: Save + Share</a:t>
            </a:r>
            <a:endParaRPr lang="en-US" sz="1100" dirty="0"/>
          </a:p>
        </p:txBody>
      </p:sp>
      <p:sp>
        <p:nvSpPr>
          <p:cNvPr id="19" name="Text 16"/>
          <p:cNvSpPr/>
          <p:nvPr/>
        </p:nvSpPr>
        <p:spPr>
          <a:xfrm>
            <a:off x="7324344" y="5760720"/>
            <a:ext cx="4462272"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Saves automatically to Google Drive. Share link with teammates instantly.</a:t>
            </a:r>
            <a:endParaRPr lang="en-US" sz="1000" dirty="0"/>
          </a:p>
        </p:txBody>
      </p:sp>
      <p:sp>
        <p:nvSpPr>
          <p:cNvPr id="20" name="Shape 17"/>
          <p:cNvSpPr/>
          <p:nvPr/>
        </p:nvSpPr>
        <p:spPr>
          <a:xfrm>
            <a:off x="7178040" y="6419088"/>
            <a:ext cx="4754880" cy="1024128"/>
          </a:xfrm>
          <a:prstGeom prst="roundRect">
            <a:avLst>
              <a:gd name="adj" fmla="val 8929"/>
            </a:avLst>
          </a:prstGeom>
          <a:solidFill>
            <a:srgbClr val="FFFFFF"/>
          </a:solidFill>
          <a:ln w="13970">
            <a:solidFill>
              <a:srgbClr val="D97706"/>
            </a:solidFill>
            <a:prstDash val="solid"/>
          </a:ln>
          <a:effectLst>
            <a:outerShdw sx="100000" sy="100000" kx="0" ky="0" algn="bl" rotWithShape="0" blurRad="63500" dist="25400" dir="2700000">
              <a:srgbClr val="000000">
                <a:alpha val="12000"/>
              </a:srgbClr>
            </a:outerShdw>
          </a:effectLst>
        </p:spPr>
      </p:sp>
      <p:sp>
        <p:nvSpPr>
          <p:cNvPr id="21" name="Text 18"/>
          <p:cNvSpPr/>
          <p:nvPr/>
        </p:nvSpPr>
        <p:spPr>
          <a:xfrm>
            <a:off x="7324344" y="6528816"/>
            <a:ext cx="4462272" cy="274320"/>
          </a:xfrm>
          <a:prstGeom prst="rect">
            <a:avLst/>
          </a:prstGeom>
          <a:noFill/>
          <a:ln/>
        </p:spPr>
        <p:txBody>
          <a:bodyPr wrap="square" lIns="0" tIns="0" rIns="0" bIns="0" rtlCol="0" anchor="ctr"/>
          <a:lstStyle/>
          <a:p>
            <a:pPr indent="0" marL="0">
              <a:buNone/>
            </a:pPr>
            <a:r>
              <a:rPr lang="en-US" sz="1100" b="1" dirty="0">
                <a:solidFill>
                  <a:srgbClr val="D97706"/>
                </a:solidFill>
                <a:latin typeface="Cambria" pitchFamily="34" charset="0"/>
                <a:ea typeface="Cambria" pitchFamily="34" charset="-122"/>
                <a:cs typeface="Cambria" pitchFamily="34" charset="-120"/>
              </a:rPr>
              <a:t>What is pre-installed</a:t>
            </a:r>
            <a:endParaRPr lang="en-US" sz="1100" dirty="0"/>
          </a:p>
        </p:txBody>
      </p:sp>
      <p:sp>
        <p:nvSpPr>
          <p:cNvPr id="22" name="Text 19"/>
          <p:cNvSpPr/>
          <p:nvPr/>
        </p:nvSpPr>
        <p:spPr>
          <a:xfrm>
            <a:off x="7324344" y="6839712"/>
            <a:ext cx="4462272"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NumPy, Pandas, Matplotlib, Seaborn, Scikit-Learn, TensorFlow — all ready to use.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526"/>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D4ED8"/>
          </a:solidFill>
          <a:ln w="12700">
            <a:solidFill>
              <a:srgbClr val="1D4ED8"/>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SESSION CONTENTS — WHAT WE COVER TODAY</a:t>
            </a:r>
            <a:endParaRPr lang="en-US" sz="2600" dirty="0"/>
          </a:p>
        </p:txBody>
      </p:sp>
      <p:sp>
        <p:nvSpPr>
          <p:cNvPr id="4" name="Shape 2"/>
          <p:cNvSpPr/>
          <p:nvPr/>
        </p:nvSpPr>
        <p:spPr>
          <a:xfrm>
            <a:off x="411480" y="1051560"/>
            <a:ext cx="5669280" cy="786384"/>
          </a:xfrm>
          <a:prstGeom prst="roundRect">
            <a:avLst>
              <a:gd name="adj" fmla="val 9302"/>
            </a:avLst>
          </a:prstGeom>
          <a:solidFill>
            <a:srgbClr val="1A2540"/>
          </a:solidFill>
          <a:ln w="13970">
            <a:solidFill>
              <a:srgbClr val="2563EB"/>
            </a:solidFill>
            <a:prstDash val="solid"/>
          </a:ln>
          <a:effectLst>
            <a:outerShdw sx="100000" sy="100000" kx="0" ky="0" algn="bl" rotWithShape="0" blurRad="63500" dist="25400" dir="2700000">
              <a:srgbClr val="000000">
                <a:alpha val="12000"/>
              </a:srgbClr>
            </a:outerShdw>
          </a:effectLst>
        </p:spPr>
      </p:sp>
      <p:sp>
        <p:nvSpPr>
          <p:cNvPr id="5" name="Shape 3"/>
          <p:cNvSpPr/>
          <p:nvPr/>
        </p:nvSpPr>
        <p:spPr>
          <a:xfrm>
            <a:off x="521208" y="1225296"/>
            <a:ext cx="438912" cy="438912"/>
          </a:xfrm>
          <a:prstGeom prst="ellipse">
            <a:avLst/>
          </a:prstGeom>
          <a:solidFill>
            <a:srgbClr val="2563EB"/>
          </a:solidFill>
          <a:ln w="12700">
            <a:solidFill>
              <a:srgbClr val="2563EB"/>
            </a:solidFill>
            <a:prstDash val="solid"/>
          </a:ln>
        </p:spPr>
      </p:sp>
      <p:sp>
        <p:nvSpPr>
          <p:cNvPr id="6" name="Text 4"/>
          <p:cNvSpPr/>
          <p:nvPr/>
        </p:nvSpPr>
        <p:spPr>
          <a:xfrm>
            <a:off x="521208" y="1225296"/>
            <a:ext cx="438912" cy="438912"/>
          </a:xfrm>
          <a:prstGeom prst="rect">
            <a:avLst/>
          </a:prstGeom>
          <a:noFill/>
          <a:ln/>
        </p:spPr>
        <p:txBody>
          <a:bodyPr wrap="square" lIns="0" tIns="0" rIns="0" bIns="0" rtlCol="0" anchor="ctr"/>
          <a:lstStyle/>
          <a:p>
            <a:pPr algn="ctr" indent="0" marL="0">
              <a:buNone/>
            </a:pPr>
            <a:r>
              <a:rPr lang="en-US" sz="1100" b="1" dirty="0">
                <a:solidFill>
                  <a:srgbClr val="080D18"/>
                </a:solidFill>
                <a:latin typeface="Cambria" pitchFamily="34" charset="0"/>
                <a:ea typeface="Cambria" pitchFamily="34" charset="-122"/>
                <a:cs typeface="Cambria" pitchFamily="34" charset="-120"/>
              </a:rPr>
              <a:t>01</a:t>
            </a:r>
            <a:endParaRPr lang="en-US" sz="1100" dirty="0"/>
          </a:p>
        </p:txBody>
      </p:sp>
      <p:sp>
        <p:nvSpPr>
          <p:cNvPr id="7" name="Text 5"/>
          <p:cNvSpPr/>
          <p:nvPr/>
        </p:nvSpPr>
        <p:spPr>
          <a:xfrm>
            <a:off x="1088136" y="1307592"/>
            <a:ext cx="4882896" cy="274320"/>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Setup — Google Colab and Your First Cell</a:t>
            </a:r>
            <a:endParaRPr lang="en-US" sz="1200" dirty="0"/>
          </a:p>
        </p:txBody>
      </p:sp>
      <p:sp>
        <p:nvSpPr>
          <p:cNvPr id="8" name="Shape 6"/>
          <p:cNvSpPr/>
          <p:nvPr/>
        </p:nvSpPr>
        <p:spPr>
          <a:xfrm>
            <a:off x="411480" y="1965960"/>
            <a:ext cx="5669280" cy="786384"/>
          </a:xfrm>
          <a:prstGeom prst="roundRect">
            <a:avLst>
              <a:gd name="adj" fmla="val 9302"/>
            </a:avLst>
          </a:prstGeom>
          <a:solidFill>
            <a:srgbClr val="1A2540"/>
          </a:solidFill>
          <a:ln w="13970">
            <a:solidFill>
              <a:srgbClr val="F9AB00"/>
            </a:solidFill>
            <a:prstDash val="solid"/>
          </a:ln>
          <a:effectLst>
            <a:outerShdw sx="100000" sy="100000" kx="0" ky="0" algn="bl" rotWithShape="0" blurRad="63500" dist="25400" dir="2700000">
              <a:srgbClr val="000000">
                <a:alpha val="12000"/>
              </a:srgbClr>
            </a:outerShdw>
          </a:effectLst>
        </p:spPr>
      </p:sp>
      <p:sp>
        <p:nvSpPr>
          <p:cNvPr id="9" name="Shape 7"/>
          <p:cNvSpPr/>
          <p:nvPr/>
        </p:nvSpPr>
        <p:spPr>
          <a:xfrm>
            <a:off x="521208" y="2139696"/>
            <a:ext cx="438912" cy="438912"/>
          </a:xfrm>
          <a:prstGeom prst="ellipse">
            <a:avLst/>
          </a:prstGeom>
          <a:solidFill>
            <a:srgbClr val="F9AB00"/>
          </a:solidFill>
          <a:ln w="12700">
            <a:solidFill>
              <a:srgbClr val="F9AB00"/>
            </a:solidFill>
            <a:prstDash val="solid"/>
          </a:ln>
        </p:spPr>
      </p:sp>
      <p:sp>
        <p:nvSpPr>
          <p:cNvPr id="10" name="Text 8"/>
          <p:cNvSpPr/>
          <p:nvPr/>
        </p:nvSpPr>
        <p:spPr>
          <a:xfrm>
            <a:off x="521208" y="2139696"/>
            <a:ext cx="438912" cy="438912"/>
          </a:xfrm>
          <a:prstGeom prst="rect">
            <a:avLst/>
          </a:prstGeom>
          <a:noFill/>
          <a:ln/>
        </p:spPr>
        <p:txBody>
          <a:bodyPr wrap="square" lIns="0" tIns="0" rIns="0" bIns="0" rtlCol="0" anchor="ctr"/>
          <a:lstStyle/>
          <a:p>
            <a:pPr algn="ctr" indent="0" marL="0">
              <a:buNone/>
            </a:pPr>
            <a:r>
              <a:rPr lang="en-US" sz="1100" b="1" dirty="0">
                <a:solidFill>
                  <a:srgbClr val="080D18"/>
                </a:solidFill>
                <a:latin typeface="Cambria" pitchFamily="34" charset="0"/>
                <a:ea typeface="Cambria" pitchFamily="34" charset="-122"/>
                <a:cs typeface="Cambria" pitchFamily="34" charset="-120"/>
              </a:rPr>
              <a:t>02</a:t>
            </a:r>
            <a:endParaRPr lang="en-US" sz="1100" dirty="0"/>
          </a:p>
        </p:txBody>
      </p:sp>
      <p:sp>
        <p:nvSpPr>
          <p:cNvPr id="11" name="Text 9"/>
          <p:cNvSpPr/>
          <p:nvPr/>
        </p:nvSpPr>
        <p:spPr>
          <a:xfrm>
            <a:off x="1088136" y="2221992"/>
            <a:ext cx="4882896" cy="274320"/>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Data Types — int, float, str, bool, None</a:t>
            </a:r>
            <a:endParaRPr lang="en-US" sz="1200" dirty="0"/>
          </a:p>
        </p:txBody>
      </p:sp>
      <p:sp>
        <p:nvSpPr>
          <p:cNvPr id="12" name="Shape 10"/>
          <p:cNvSpPr/>
          <p:nvPr/>
        </p:nvSpPr>
        <p:spPr>
          <a:xfrm>
            <a:off x="411480" y="2880360"/>
            <a:ext cx="5669280" cy="786384"/>
          </a:xfrm>
          <a:prstGeom prst="roundRect">
            <a:avLst>
              <a:gd name="adj" fmla="val 9302"/>
            </a:avLst>
          </a:prstGeom>
          <a:solidFill>
            <a:srgbClr val="1A2540"/>
          </a:solidFill>
          <a:ln w="13970">
            <a:solidFill>
              <a:srgbClr val="16A34A"/>
            </a:solidFill>
            <a:prstDash val="solid"/>
          </a:ln>
          <a:effectLst>
            <a:outerShdw sx="100000" sy="100000" kx="0" ky="0" algn="bl" rotWithShape="0" blurRad="63500" dist="25400" dir="2700000">
              <a:srgbClr val="000000">
                <a:alpha val="12000"/>
              </a:srgbClr>
            </a:outerShdw>
          </a:effectLst>
        </p:spPr>
      </p:sp>
      <p:sp>
        <p:nvSpPr>
          <p:cNvPr id="13" name="Shape 11"/>
          <p:cNvSpPr/>
          <p:nvPr/>
        </p:nvSpPr>
        <p:spPr>
          <a:xfrm>
            <a:off x="521208" y="3054096"/>
            <a:ext cx="438912" cy="438912"/>
          </a:xfrm>
          <a:prstGeom prst="ellipse">
            <a:avLst/>
          </a:prstGeom>
          <a:solidFill>
            <a:srgbClr val="16A34A"/>
          </a:solidFill>
          <a:ln w="12700">
            <a:solidFill>
              <a:srgbClr val="16A34A"/>
            </a:solidFill>
            <a:prstDash val="solid"/>
          </a:ln>
        </p:spPr>
      </p:sp>
      <p:sp>
        <p:nvSpPr>
          <p:cNvPr id="14" name="Text 12"/>
          <p:cNvSpPr/>
          <p:nvPr/>
        </p:nvSpPr>
        <p:spPr>
          <a:xfrm>
            <a:off x="521208" y="3054096"/>
            <a:ext cx="438912" cy="438912"/>
          </a:xfrm>
          <a:prstGeom prst="rect">
            <a:avLst/>
          </a:prstGeom>
          <a:noFill/>
          <a:ln/>
        </p:spPr>
        <p:txBody>
          <a:bodyPr wrap="square" lIns="0" tIns="0" rIns="0" bIns="0" rtlCol="0" anchor="ctr"/>
          <a:lstStyle/>
          <a:p>
            <a:pPr algn="ctr" indent="0" marL="0">
              <a:buNone/>
            </a:pPr>
            <a:r>
              <a:rPr lang="en-US" sz="1100" b="1" dirty="0">
                <a:solidFill>
                  <a:srgbClr val="080D18"/>
                </a:solidFill>
                <a:latin typeface="Cambria" pitchFamily="34" charset="0"/>
                <a:ea typeface="Cambria" pitchFamily="34" charset="-122"/>
                <a:cs typeface="Cambria" pitchFamily="34" charset="-120"/>
              </a:rPr>
              <a:t>03</a:t>
            </a:r>
            <a:endParaRPr lang="en-US" sz="1100" dirty="0"/>
          </a:p>
        </p:txBody>
      </p:sp>
      <p:sp>
        <p:nvSpPr>
          <p:cNvPr id="15" name="Text 13"/>
          <p:cNvSpPr/>
          <p:nvPr/>
        </p:nvSpPr>
        <p:spPr>
          <a:xfrm>
            <a:off x="1088136" y="3136392"/>
            <a:ext cx="4882896" cy="274320"/>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Operators — Arithmetic, Comparison, Logical</a:t>
            </a:r>
            <a:endParaRPr lang="en-US" sz="1200" dirty="0"/>
          </a:p>
        </p:txBody>
      </p:sp>
      <p:sp>
        <p:nvSpPr>
          <p:cNvPr id="16" name="Shape 14"/>
          <p:cNvSpPr/>
          <p:nvPr/>
        </p:nvSpPr>
        <p:spPr>
          <a:xfrm>
            <a:off x="411480" y="3794760"/>
            <a:ext cx="5669280" cy="786384"/>
          </a:xfrm>
          <a:prstGeom prst="roundRect">
            <a:avLst>
              <a:gd name="adj" fmla="val 9302"/>
            </a:avLst>
          </a:prstGeom>
          <a:solidFill>
            <a:srgbClr val="1A2540"/>
          </a:solidFill>
          <a:ln w="13970">
            <a:solidFill>
              <a:srgbClr val="E11D48"/>
            </a:solidFill>
            <a:prstDash val="solid"/>
          </a:ln>
          <a:effectLst>
            <a:outerShdw sx="100000" sy="100000" kx="0" ky="0" algn="bl" rotWithShape="0" blurRad="63500" dist="25400" dir="2700000">
              <a:srgbClr val="000000">
                <a:alpha val="12000"/>
              </a:srgbClr>
            </a:outerShdw>
          </a:effectLst>
        </p:spPr>
      </p:sp>
      <p:sp>
        <p:nvSpPr>
          <p:cNvPr id="17" name="Shape 15"/>
          <p:cNvSpPr/>
          <p:nvPr/>
        </p:nvSpPr>
        <p:spPr>
          <a:xfrm>
            <a:off x="521208" y="3968496"/>
            <a:ext cx="438912" cy="438912"/>
          </a:xfrm>
          <a:prstGeom prst="ellipse">
            <a:avLst/>
          </a:prstGeom>
          <a:solidFill>
            <a:srgbClr val="E11D48"/>
          </a:solidFill>
          <a:ln w="12700">
            <a:solidFill>
              <a:srgbClr val="E11D48"/>
            </a:solidFill>
            <a:prstDash val="solid"/>
          </a:ln>
        </p:spPr>
      </p:sp>
      <p:sp>
        <p:nvSpPr>
          <p:cNvPr id="18" name="Text 16"/>
          <p:cNvSpPr/>
          <p:nvPr/>
        </p:nvSpPr>
        <p:spPr>
          <a:xfrm>
            <a:off x="521208" y="3968496"/>
            <a:ext cx="438912" cy="438912"/>
          </a:xfrm>
          <a:prstGeom prst="rect">
            <a:avLst/>
          </a:prstGeom>
          <a:noFill/>
          <a:ln/>
        </p:spPr>
        <p:txBody>
          <a:bodyPr wrap="square" lIns="0" tIns="0" rIns="0" bIns="0" rtlCol="0" anchor="ctr"/>
          <a:lstStyle/>
          <a:p>
            <a:pPr algn="ctr" indent="0" marL="0">
              <a:buNone/>
            </a:pPr>
            <a:r>
              <a:rPr lang="en-US" sz="1100" b="1" dirty="0">
                <a:solidFill>
                  <a:srgbClr val="080D18"/>
                </a:solidFill>
                <a:latin typeface="Cambria" pitchFamily="34" charset="0"/>
                <a:ea typeface="Cambria" pitchFamily="34" charset="-122"/>
                <a:cs typeface="Cambria" pitchFamily="34" charset="-120"/>
              </a:rPr>
              <a:t>04</a:t>
            </a:r>
            <a:endParaRPr lang="en-US" sz="1100" dirty="0"/>
          </a:p>
        </p:txBody>
      </p:sp>
      <p:sp>
        <p:nvSpPr>
          <p:cNvPr id="19" name="Text 17"/>
          <p:cNvSpPr/>
          <p:nvPr/>
        </p:nvSpPr>
        <p:spPr>
          <a:xfrm>
            <a:off x="1088136" y="4050792"/>
            <a:ext cx="4882896" cy="274320"/>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Data Structures — list, tuple, dict, set</a:t>
            </a:r>
            <a:endParaRPr lang="en-US" sz="1200" dirty="0"/>
          </a:p>
        </p:txBody>
      </p:sp>
      <p:sp>
        <p:nvSpPr>
          <p:cNvPr id="20" name="Shape 18"/>
          <p:cNvSpPr/>
          <p:nvPr/>
        </p:nvSpPr>
        <p:spPr>
          <a:xfrm>
            <a:off x="6400800" y="1051560"/>
            <a:ext cx="5669280" cy="786384"/>
          </a:xfrm>
          <a:prstGeom prst="roundRect">
            <a:avLst>
              <a:gd name="adj" fmla="val 9302"/>
            </a:avLst>
          </a:prstGeom>
          <a:solidFill>
            <a:srgbClr val="1A2540"/>
          </a:solidFill>
          <a:ln w="13970">
            <a:solidFill>
              <a:srgbClr val="7C3AED"/>
            </a:solidFill>
            <a:prstDash val="solid"/>
          </a:ln>
          <a:effectLst>
            <a:outerShdw sx="100000" sy="100000" kx="0" ky="0" algn="bl" rotWithShape="0" blurRad="63500" dist="25400" dir="2700000">
              <a:srgbClr val="000000">
                <a:alpha val="12000"/>
              </a:srgbClr>
            </a:outerShdw>
          </a:effectLst>
        </p:spPr>
      </p:sp>
      <p:sp>
        <p:nvSpPr>
          <p:cNvPr id="21" name="Shape 19"/>
          <p:cNvSpPr/>
          <p:nvPr/>
        </p:nvSpPr>
        <p:spPr>
          <a:xfrm>
            <a:off x="6510528" y="1225296"/>
            <a:ext cx="438912" cy="438912"/>
          </a:xfrm>
          <a:prstGeom prst="ellipse">
            <a:avLst/>
          </a:prstGeom>
          <a:solidFill>
            <a:srgbClr val="7C3AED"/>
          </a:solidFill>
          <a:ln w="12700">
            <a:solidFill>
              <a:srgbClr val="7C3AED"/>
            </a:solidFill>
            <a:prstDash val="solid"/>
          </a:ln>
        </p:spPr>
      </p:sp>
      <p:sp>
        <p:nvSpPr>
          <p:cNvPr id="22" name="Text 20"/>
          <p:cNvSpPr/>
          <p:nvPr/>
        </p:nvSpPr>
        <p:spPr>
          <a:xfrm>
            <a:off x="6510528" y="1225296"/>
            <a:ext cx="438912" cy="438912"/>
          </a:xfrm>
          <a:prstGeom prst="rect">
            <a:avLst/>
          </a:prstGeom>
          <a:noFill/>
          <a:ln/>
        </p:spPr>
        <p:txBody>
          <a:bodyPr wrap="square" lIns="0" tIns="0" rIns="0" bIns="0" rtlCol="0" anchor="ctr"/>
          <a:lstStyle/>
          <a:p>
            <a:pPr algn="ctr" indent="0" marL="0">
              <a:buNone/>
            </a:pPr>
            <a:r>
              <a:rPr lang="en-US" sz="1100" b="1" dirty="0">
                <a:solidFill>
                  <a:srgbClr val="080D18"/>
                </a:solidFill>
                <a:latin typeface="Cambria" pitchFamily="34" charset="0"/>
                <a:ea typeface="Cambria" pitchFamily="34" charset="-122"/>
                <a:cs typeface="Cambria" pitchFamily="34" charset="-120"/>
              </a:rPr>
              <a:t>05</a:t>
            </a:r>
            <a:endParaRPr lang="en-US" sz="1100" dirty="0"/>
          </a:p>
        </p:txBody>
      </p:sp>
      <p:sp>
        <p:nvSpPr>
          <p:cNvPr id="23" name="Text 21"/>
          <p:cNvSpPr/>
          <p:nvPr/>
        </p:nvSpPr>
        <p:spPr>
          <a:xfrm>
            <a:off x="7077456" y="1307592"/>
            <a:ext cx="4882896" cy="274320"/>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if / elif / else — Conditional Logic</a:t>
            </a:r>
            <a:endParaRPr lang="en-US" sz="1200" dirty="0"/>
          </a:p>
        </p:txBody>
      </p:sp>
      <p:sp>
        <p:nvSpPr>
          <p:cNvPr id="24" name="Shape 22"/>
          <p:cNvSpPr/>
          <p:nvPr/>
        </p:nvSpPr>
        <p:spPr>
          <a:xfrm>
            <a:off x="6400800" y="1965960"/>
            <a:ext cx="5669280" cy="786384"/>
          </a:xfrm>
          <a:prstGeom prst="roundRect">
            <a:avLst>
              <a:gd name="adj" fmla="val 9302"/>
            </a:avLst>
          </a:prstGeom>
          <a:solidFill>
            <a:srgbClr val="1A2540"/>
          </a:solidFill>
          <a:ln w="13970">
            <a:solidFill>
              <a:srgbClr val="0891B2"/>
            </a:solidFill>
            <a:prstDash val="solid"/>
          </a:ln>
          <a:effectLst>
            <a:outerShdw sx="100000" sy="100000" kx="0" ky="0" algn="bl" rotWithShape="0" blurRad="63500" dist="25400" dir="2700000">
              <a:srgbClr val="000000">
                <a:alpha val="12000"/>
              </a:srgbClr>
            </a:outerShdw>
          </a:effectLst>
        </p:spPr>
      </p:sp>
      <p:sp>
        <p:nvSpPr>
          <p:cNvPr id="25" name="Shape 23"/>
          <p:cNvSpPr/>
          <p:nvPr/>
        </p:nvSpPr>
        <p:spPr>
          <a:xfrm>
            <a:off x="6510528" y="2139696"/>
            <a:ext cx="438912" cy="438912"/>
          </a:xfrm>
          <a:prstGeom prst="ellipse">
            <a:avLst/>
          </a:prstGeom>
          <a:solidFill>
            <a:srgbClr val="0891B2"/>
          </a:solidFill>
          <a:ln w="12700">
            <a:solidFill>
              <a:srgbClr val="0891B2"/>
            </a:solidFill>
            <a:prstDash val="solid"/>
          </a:ln>
        </p:spPr>
      </p:sp>
      <p:sp>
        <p:nvSpPr>
          <p:cNvPr id="26" name="Text 24"/>
          <p:cNvSpPr/>
          <p:nvPr/>
        </p:nvSpPr>
        <p:spPr>
          <a:xfrm>
            <a:off x="6510528" y="2139696"/>
            <a:ext cx="438912" cy="438912"/>
          </a:xfrm>
          <a:prstGeom prst="rect">
            <a:avLst/>
          </a:prstGeom>
          <a:noFill/>
          <a:ln/>
        </p:spPr>
        <p:txBody>
          <a:bodyPr wrap="square" lIns="0" tIns="0" rIns="0" bIns="0" rtlCol="0" anchor="ctr"/>
          <a:lstStyle/>
          <a:p>
            <a:pPr algn="ctr" indent="0" marL="0">
              <a:buNone/>
            </a:pPr>
            <a:r>
              <a:rPr lang="en-US" sz="1100" b="1" dirty="0">
                <a:solidFill>
                  <a:srgbClr val="080D18"/>
                </a:solidFill>
                <a:latin typeface="Cambria" pitchFamily="34" charset="0"/>
                <a:ea typeface="Cambria" pitchFamily="34" charset="-122"/>
                <a:cs typeface="Cambria" pitchFamily="34" charset="-120"/>
              </a:rPr>
              <a:t>06</a:t>
            </a:r>
            <a:endParaRPr lang="en-US" sz="1100" dirty="0"/>
          </a:p>
        </p:txBody>
      </p:sp>
      <p:sp>
        <p:nvSpPr>
          <p:cNvPr id="27" name="Text 25"/>
          <p:cNvSpPr/>
          <p:nvPr/>
        </p:nvSpPr>
        <p:spPr>
          <a:xfrm>
            <a:off x="7077456" y="2221992"/>
            <a:ext cx="4882896" cy="274320"/>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Loops — for, while, break, continue</a:t>
            </a:r>
            <a:endParaRPr lang="en-US" sz="1200" dirty="0"/>
          </a:p>
        </p:txBody>
      </p:sp>
      <p:sp>
        <p:nvSpPr>
          <p:cNvPr id="28" name="Shape 26"/>
          <p:cNvSpPr/>
          <p:nvPr/>
        </p:nvSpPr>
        <p:spPr>
          <a:xfrm>
            <a:off x="6400800" y="2880360"/>
            <a:ext cx="5669280" cy="786384"/>
          </a:xfrm>
          <a:prstGeom prst="roundRect">
            <a:avLst>
              <a:gd name="adj" fmla="val 9302"/>
            </a:avLst>
          </a:prstGeom>
          <a:solidFill>
            <a:srgbClr val="1A2540"/>
          </a:solidFill>
          <a:ln w="13970">
            <a:solidFill>
              <a:srgbClr val="D97706"/>
            </a:solidFill>
            <a:prstDash val="solid"/>
          </a:ln>
          <a:effectLst>
            <a:outerShdw sx="100000" sy="100000" kx="0" ky="0" algn="bl" rotWithShape="0" blurRad="63500" dist="25400" dir="2700000">
              <a:srgbClr val="000000">
                <a:alpha val="12000"/>
              </a:srgbClr>
            </a:outerShdw>
          </a:effectLst>
        </p:spPr>
      </p:sp>
      <p:sp>
        <p:nvSpPr>
          <p:cNvPr id="29" name="Shape 27"/>
          <p:cNvSpPr/>
          <p:nvPr/>
        </p:nvSpPr>
        <p:spPr>
          <a:xfrm>
            <a:off x="6510528" y="3054096"/>
            <a:ext cx="438912" cy="438912"/>
          </a:xfrm>
          <a:prstGeom prst="ellipse">
            <a:avLst/>
          </a:prstGeom>
          <a:solidFill>
            <a:srgbClr val="D97706"/>
          </a:solidFill>
          <a:ln w="12700">
            <a:solidFill>
              <a:srgbClr val="D97706"/>
            </a:solidFill>
            <a:prstDash val="solid"/>
          </a:ln>
        </p:spPr>
      </p:sp>
      <p:sp>
        <p:nvSpPr>
          <p:cNvPr id="30" name="Text 28"/>
          <p:cNvSpPr/>
          <p:nvPr/>
        </p:nvSpPr>
        <p:spPr>
          <a:xfrm>
            <a:off x="6510528" y="3054096"/>
            <a:ext cx="438912" cy="438912"/>
          </a:xfrm>
          <a:prstGeom prst="rect">
            <a:avLst/>
          </a:prstGeom>
          <a:noFill/>
          <a:ln/>
        </p:spPr>
        <p:txBody>
          <a:bodyPr wrap="square" lIns="0" tIns="0" rIns="0" bIns="0" rtlCol="0" anchor="ctr"/>
          <a:lstStyle/>
          <a:p>
            <a:pPr algn="ctr" indent="0" marL="0">
              <a:buNone/>
            </a:pPr>
            <a:r>
              <a:rPr lang="en-US" sz="1100" b="1" dirty="0">
                <a:solidFill>
                  <a:srgbClr val="080D18"/>
                </a:solidFill>
                <a:latin typeface="Cambria" pitchFamily="34" charset="0"/>
                <a:ea typeface="Cambria" pitchFamily="34" charset="-122"/>
                <a:cs typeface="Cambria" pitchFamily="34" charset="-120"/>
              </a:rPr>
              <a:t>07</a:t>
            </a:r>
            <a:endParaRPr lang="en-US" sz="1100" dirty="0"/>
          </a:p>
        </p:txBody>
      </p:sp>
      <p:sp>
        <p:nvSpPr>
          <p:cNvPr id="31" name="Text 29"/>
          <p:cNvSpPr/>
          <p:nvPr/>
        </p:nvSpPr>
        <p:spPr>
          <a:xfrm>
            <a:off x="7077456" y="3136392"/>
            <a:ext cx="4882896" cy="274320"/>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Functions — def, parameters, scope, lambda</a:t>
            </a:r>
            <a:endParaRPr lang="en-US" sz="1200" dirty="0"/>
          </a:p>
        </p:txBody>
      </p:sp>
      <p:sp>
        <p:nvSpPr>
          <p:cNvPr id="32" name="Shape 30"/>
          <p:cNvSpPr/>
          <p:nvPr/>
        </p:nvSpPr>
        <p:spPr>
          <a:xfrm>
            <a:off x="6400800" y="3794760"/>
            <a:ext cx="5669280" cy="786384"/>
          </a:xfrm>
          <a:prstGeom prst="roundRect">
            <a:avLst>
              <a:gd name="adj" fmla="val 9302"/>
            </a:avLst>
          </a:prstGeom>
          <a:solidFill>
            <a:srgbClr val="1A2540"/>
          </a:solidFill>
          <a:ln w="13970">
            <a:solidFill>
              <a:srgbClr val="EA580C"/>
            </a:solidFill>
            <a:prstDash val="solid"/>
          </a:ln>
          <a:effectLst>
            <a:outerShdw sx="100000" sy="100000" kx="0" ky="0" algn="bl" rotWithShape="0" blurRad="63500" dist="25400" dir="2700000">
              <a:srgbClr val="000000">
                <a:alpha val="12000"/>
              </a:srgbClr>
            </a:outerShdw>
          </a:effectLst>
        </p:spPr>
      </p:sp>
      <p:sp>
        <p:nvSpPr>
          <p:cNvPr id="33" name="Shape 31"/>
          <p:cNvSpPr/>
          <p:nvPr/>
        </p:nvSpPr>
        <p:spPr>
          <a:xfrm>
            <a:off x="6510528" y="3968496"/>
            <a:ext cx="438912" cy="438912"/>
          </a:xfrm>
          <a:prstGeom prst="ellipse">
            <a:avLst/>
          </a:prstGeom>
          <a:solidFill>
            <a:srgbClr val="EA580C"/>
          </a:solidFill>
          <a:ln w="12700">
            <a:solidFill>
              <a:srgbClr val="EA580C"/>
            </a:solidFill>
            <a:prstDash val="solid"/>
          </a:ln>
        </p:spPr>
      </p:sp>
      <p:sp>
        <p:nvSpPr>
          <p:cNvPr id="34" name="Text 32"/>
          <p:cNvSpPr/>
          <p:nvPr/>
        </p:nvSpPr>
        <p:spPr>
          <a:xfrm>
            <a:off x="6510528" y="3968496"/>
            <a:ext cx="438912" cy="438912"/>
          </a:xfrm>
          <a:prstGeom prst="rect">
            <a:avLst/>
          </a:prstGeom>
          <a:noFill/>
          <a:ln/>
        </p:spPr>
        <p:txBody>
          <a:bodyPr wrap="square" lIns="0" tIns="0" rIns="0" bIns="0" rtlCol="0" anchor="ctr"/>
          <a:lstStyle/>
          <a:p>
            <a:pPr algn="ctr" indent="0" marL="0">
              <a:buNone/>
            </a:pPr>
            <a:r>
              <a:rPr lang="en-US" sz="1100" b="1" dirty="0">
                <a:solidFill>
                  <a:srgbClr val="080D18"/>
                </a:solidFill>
                <a:latin typeface="Cambria" pitchFamily="34" charset="0"/>
                <a:ea typeface="Cambria" pitchFamily="34" charset="-122"/>
                <a:cs typeface="Cambria" pitchFamily="34" charset="-120"/>
              </a:rPr>
              <a:t>08</a:t>
            </a:r>
            <a:endParaRPr lang="en-US" sz="1100" dirty="0"/>
          </a:p>
        </p:txBody>
      </p:sp>
      <p:sp>
        <p:nvSpPr>
          <p:cNvPr id="35" name="Text 33"/>
          <p:cNvSpPr/>
          <p:nvPr/>
        </p:nvSpPr>
        <p:spPr>
          <a:xfrm>
            <a:off x="7077456" y="4050792"/>
            <a:ext cx="4882896" cy="274320"/>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Practical Projects and 30-Question Exercise Bank</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457200" y="1005840"/>
            <a:ext cx="1920240" cy="1920240"/>
          </a:xfrm>
          <a:prstGeom prst="ellipse">
            <a:avLst/>
          </a:prstGeom>
          <a:solidFill>
            <a:srgbClr val="2563EB"/>
          </a:solidFill>
          <a:ln w="12700">
            <a:solidFill>
              <a:srgbClr val="2563EB"/>
            </a:solidFill>
            <a:prstDash val="solid"/>
          </a:ln>
          <a:effectLst>
            <a:outerShdw sx="100000" sy="100000" kx="0" ky="0" algn="bl" rotWithShape="0" blurRad="127000" dist="50800" dir="2700000">
              <a:srgbClr val="000000">
                <a:alpha val="18000"/>
              </a:srgbClr>
            </a:outerShdw>
          </a:effectLst>
        </p:spPr>
      </p:sp>
      <p:sp>
        <p:nvSpPr>
          <p:cNvPr id="3" name="Text 1"/>
          <p:cNvSpPr/>
          <p:nvPr/>
        </p:nvSpPr>
        <p:spPr>
          <a:xfrm>
            <a:off x="457200" y="1005840"/>
            <a:ext cx="1920240" cy="1920240"/>
          </a:xfrm>
          <a:prstGeom prst="rect">
            <a:avLst/>
          </a:prstGeom>
          <a:noFill/>
          <a:ln/>
        </p:spPr>
        <p:txBody>
          <a:bodyPr wrap="square" lIns="0" tIns="0" rIns="0" bIns="0" rtlCol="0" anchor="ctr"/>
          <a:lstStyle/>
          <a:p>
            <a:pPr algn="ctr" indent="0" marL="0">
              <a:buNone/>
            </a:pPr>
            <a:r>
              <a:rPr lang="en-US" sz="5800" b="1" dirty="0">
                <a:solidFill>
                  <a:srgbClr val="FFFFFF"/>
                </a:solidFill>
                <a:latin typeface="Cambria" pitchFamily="34" charset="0"/>
                <a:ea typeface="Cambria" pitchFamily="34" charset="-122"/>
                <a:cs typeface="Cambria" pitchFamily="34" charset="-120"/>
              </a:rPr>
              <a:t>01</a:t>
            </a:r>
            <a:endParaRPr lang="en-US" sz="5800" dirty="0"/>
          </a:p>
        </p:txBody>
      </p:sp>
      <p:sp>
        <p:nvSpPr>
          <p:cNvPr id="4" name="Text 2"/>
          <p:cNvSpPr/>
          <p:nvPr/>
        </p:nvSpPr>
        <p:spPr>
          <a:xfrm>
            <a:off x="2743200" y="1097280"/>
            <a:ext cx="9144000" cy="16459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Setup and First Program</a:t>
            </a:r>
            <a:endParaRPr lang="en-US" sz="4400" dirty="0"/>
          </a:p>
        </p:txBody>
      </p:sp>
      <p:sp>
        <p:nvSpPr>
          <p:cNvPr id="5" name="Text 3"/>
          <p:cNvSpPr/>
          <p:nvPr/>
        </p:nvSpPr>
        <p:spPr>
          <a:xfrm>
            <a:off x="2743200" y="2880360"/>
            <a:ext cx="9144000" cy="594360"/>
          </a:xfrm>
          <a:prstGeom prst="rect">
            <a:avLst/>
          </a:prstGeom>
          <a:noFill/>
          <a:ln/>
        </p:spPr>
        <p:txBody>
          <a:bodyPr wrap="square" lIns="0" tIns="0" rIns="0" bIns="0"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Everything runs in Google Colab. Zero installation.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D4ED8"/>
          </a:solidFill>
          <a:ln w="12700">
            <a:solidFill>
              <a:srgbClr val="1D4ED8"/>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YOUR FIRST PYTHON CELL IN GOOGLE COLAB</a:t>
            </a:r>
            <a:endParaRPr lang="en-US" sz="2600" dirty="0"/>
          </a:p>
        </p:txBody>
      </p:sp>
      <p:sp>
        <p:nvSpPr>
          <p:cNvPr id="4" name="Shape 2"/>
          <p:cNvSpPr/>
          <p:nvPr/>
        </p:nvSpPr>
        <p:spPr>
          <a:xfrm>
            <a:off x="411480" y="1024128"/>
            <a:ext cx="6583680" cy="5559552"/>
          </a:xfrm>
          <a:prstGeom prst="roundRect">
            <a:avLst>
              <a:gd name="adj" fmla="val 1645"/>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1024128"/>
            <a:ext cx="6583680" cy="347472"/>
          </a:xfrm>
          <a:prstGeom prst="roundRect">
            <a:avLst>
              <a:gd name="adj" fmla="val 26316"/>
            </a:avLst>
          </a:prstGeom>
          <a:solidFill>
            <a:srgbClr val="1A2540"/>
          </a:solidFill>
          <a:ln w="12700">
            <a:solidFill>
              <a:srgbClr val="1A2540"/>
            </a:solidFill>
            <a:prstDash val="solid"/>
          </a:ln>
        </p:spPr>
      </p:sp>
      <p:sp>
        <p:nvSpPr>
          <p:cNvPr id="6" name="Shape 4"/>
          <p:cNvSpPr/>
          <p:nvPr/>
        </p:nvSpPr>
        <p:spPr>
          <a:xfrm>
            <a:off x="411480" y="1225296"/>
            <a:ext cx="6583680" cy="146304"/>
          </a:xfrm>
          <a:prstGeom prst="rect">
            <a:avLst/>
          </a:prstGeom>
          <a:solidFill>
            <a:srgbClr val="1A2540"/>
          </a:solidFill>
          <a:ln w="12700">
            <a:solidFill>
              <a:srgbClr val="1A2540"/>
            </a:solidFill>
            <a:prstDash val="solid"/>
          </a:ln>
        </p:spPr>
      </p:sp>
      <p:sp>
        <p:nvSpPr>
          <p:cNvPr id="7" name="Shape 5"/>
          <p:cNvSpPr/>
          <p:nvPr/>
        </p:nvSpPr>
        <p:spPr>
          <a:xfrm>
            <a:off x="539496" y="1115568"/>
            <a:ext cx="164592" cy="164592"/>
          </a:xfrm>
          <a:prstGeom prst="ellipse">
            <a:avLst/>
          </a:prstGeom>
          <a:solidFill>
            <a:srgbClr val="E11D48"/>
          </a:solidFill>
          <a:ln w="12700">
            <a:solidFill>
              <a:srgbClr val="E11D48"/>
            </a:solidFill>
            <a:prstDash val="solid"/>
          </a:ln>
        </p:spPr>
      </p:sp>
      <p:sp>
        <p:nvSpPr>
          <p:cNvPr id="8" name="Shape 6"/>
          <p:cNvSpPr/>
          <p:nvPr/>
        </p:nvSpPr>
        <p:spPr>
          <a:xfrm>
            <a:off x="740664" y="1115568"/>
            <a:ext cx="164592" cy="164592"/>
          </a:xfrm>
          <a:prstGeom prst="ellipse">
            <a:avLst/>
          </a:prstGeom>
          <a:solidFill>
            <a:srgbClr val="D97706"/>
          </a:solidFill>
          <a:ln w="12700">
            <a:solidFill>
              <a:srgbClr val="D97706"/>
            </a:solidFill>
            <a:prstDash val="solid"/>
          </a:ln>
        </p:spPr>
      </p:sp>
      <p:sp>
        <p:nvSpPr>
          <p:cNvPr id="9" name="Shape 7"/>
          <p:cNvSpPr/>
          <p:nvPr/>
        </p:nvSpPr>
        <p:spPr>
          <a:xfrm>
            <a:off x="941832" y="1115568"/>
            <a:ext cx="164592" cy="164592"/>
          </a:xfrm>
          <a:prstGeom prst="ellipse">
            <a:avLst/>
          </a:prstGeom>
          <a:solidFill>
            <a:srgbClr val="16A34A"/>
          </a:solidFill>
          <a:ln w="12700">
            <a:solidFill>
              <a:srgbClr val="16A34A"/>
            </a:solidFill>
            <a:prstDash val="solid"/>
          </a:ln>
        </p:spPr>
      </p:sp>
      <p:sp>
        <p:nvSpPr>
          <p:cNvPr id="10" name="Text 8"/>
          <p:cNvSpPr/>
          <p:nvPr/>
        </p:nvSpPr>
        <p:spPr>
          <a:xfrm>
            <a:off x="1143000" y="1097280"/>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first_program.py</a:t>
            </a:r>
            <a:endParaRPr lang="en-US" sz="900" dirty="0"/>
          </a:p>
        </p:txBody>
      </p:sp>
      <p:sp>
        <p:nvSpPr>
          <p:cNvPr id="11" name="Text 9"/>
          <p:cNvSpPr/>
          <p:nvPr/>
        </p:nvSpPr>
        <p:spPr>
          <a:xfrm>
            <a:off x="557784" y="1426464"/>
            <a:ext cx="6309360" cy="504748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CELL 1 — Type this. Press Shift+Enter to run.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print("Hello, World!")</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 Output: Hello, World!</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CELL 2 — Variables store data</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product    = 'Laptop Pro'      # text (str)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units_sold = 250               # whole number (int)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unit_price = 450_000.00        # decimal (float)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in_stock   = True              # yes/no (bool)</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discount   = None              # not set yet (NoneType)</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CELL 3 — Print with context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print("Product:", product)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print("Units:", units_sold)</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print("Revenue:", units_sold * unit_price)</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 Output: Revenue: 112500000.0</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CELL 4 — f-strings (modern way)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print(f"Product: {product}")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print(f"Revenue: NGN {units_sold * unit_price:,.0f}")</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 Output: Revenue: NGN 112,500,000</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CELL 5 — Check the type of any variable</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print(type(product))     # &lt;class "str"&gt;</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print(type(units_sold))  # &lt;class "int"&gt;</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print(type(in_stock))    # &lt;class "bool"&gt;</a:t>
            </a:r>
            <a:endParaRPr lang="en-US" sz="1050" dirty="0"/>
          </a:p>
        </p:txBody>
      </p:sp>
      <p:sp>
        <p:nvSpPr>
          <p:cNvPr id="12" name="Shape 10"/>
          <p:cNvSpPr/>
          <p:nvPr/>
        </p:nvSpPr>
        <p:spPr>
          <a:xfrm>
            <a:off x="7178040" y="1024128"/>
            <a:ext cx="4754880" cy="1060704"/>
          </a:xfrm>
          <a:prstGeom prst="roundRect">
            <a:avLst>
              <a:gd name="adj" fmla="val 8621"/>
            </a:avLst>
          </a:prstGeom>
          <a:solidFill>
            <a:srgbClr val="FFFFFF"/>
          </a:solidFill>
          <a:ln w="13970">
            <a:solidFill>
              <a:srgbClr val="2563EB"/>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7324344" y="1133856"/>
            <a:ext cx="4462272" cy="274320"/>
          </a:xfrm>
          <a:prstGeom prst="rect">
            <a:avLst/>
          </a:prstGeom>
          <a:noFill/>
          <a:ln/>
        </p:spPr>
        <p:txBody>
          <a:bodyPr wrap="square" lIns="0" tIns="0" rIns="0" bIns="0" rtlCol="0" anchor="ctr"/>
          <a:lstStyle/>
          <a:p>
            <a:pPr indent="0" marL="0">
              <a:buNone/>
            </a:pPr>
            <a:r>
              <a:rPr lang="en-US" sz="1100" b="1" dirty="0">
                <a:solidFill>
                  <a:srgbClr val="2563EB"/>
                </a:solidFill>
                <a:latin typeface="Cambria" pitchFamily="34" charset="0"/>
                <a:ea typeface="Cambria" pitchFamily="34" charset="-122"/>
                <a:cs typeface="Cambria" pitchFamily="34" charset="-120"/>
              </a:rPr>
              <a:t>No semicolons</a:t>
            </a:r>
            <a:endParaRPr lang="en-US" sz="1100" dirty="0"/>
          </a:p>
        </p:txBody>
      </p:sp>
      <p:sp>
        <p:nvSpPr>
          <p:cNvPr id="14" name="Text 12"/>
          <p:cNvSpPr/>
          <p:nvPr/>
        </p:nvSpPr>
        <p:spPr>
          <a:xfrm>
            <a:off x="7324344" y="1444752"/>
            <a:ext cx="4462272"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Lines end at the newline. No ; needed. Whitespace is the structure.</a:t>
            </a:r>
            <a:endParaRPr lang="en-US" sz="1000" dirty="0"/>
          </a:p>
        </p:txBody>
      </p:sp>
      <p:sp>
        <p:nvSpPr>
          <p:cNvPr id="15" name="Shape 13"/>
          <p:cNvSpPr/>
          <p:nvPr/>
        </p:nvSpPr>
        <p:spPr>
          <a:xfrm>
            <a:off x="7178040" y="2157984"/>
            <a:ext cx="4754880" cy="1060704"/>
          </a:xfrm>
          <a:prstGeom prst="roundRect">
            <a:avLst>
              <a:gd name="adj" fmla="val 8621"/>
            </a:avLst>
          </a:prstGeom>
          <a:solidFill>
            <a:srgbClr val="FFFFFF"/>
          </a:solidFill>
          <a:ln w="13970">
            <a:solidFill>
              <a:srgbClr val="F9AB00"/>
            </a:solidFill>
            <a:prstDash val="solid"/>
          </a:ln>
          <a:effectLst>
            <a:outerShdw sx="100000" sy="100000" kx="0" ky="0" algn="bl" rotWithShape="0" blurRad="63500" dist="25400" dir="2700000">
              <a:srgbClr val="000000">
                <a:alpha val="12000"/>
              </a:srgbClr>
            </a:outerShdw>
          </a:effectLst>
        </p:spPr>
      </p:sp>
      <p:sp>
        <p:nvSpPr>
          <p:cNvPr id="16" name="Text 14"/>
          <p:cNvSpPr/>
          <p:nvPr/>
        </p:nvSpPr>
        <p:spPr>
          <a:xfrm>
            <a:off x="7324344" y="2267712"/>
            <a:ext cx="4462272" cy="274320"/>
          </a:xfrm>
          <a:prstGeom prst="rect">
            <a:avLst/>
          </a:prstGeom>
          <a:noFill/>
          <a:ln/>
        </p:spPr>
        <p:txBody>
          <a:bodyPr wrap="square" lIns="0" tIns="0" rIns="0" bIns="0" rtlCol="0" anchor="ctr"/>
          <a:lstStyle/>
          <a:p>
            <a:pPr indent="0" marL="0">
              <a:buNone/>
            </a:pPr>
            <a:r>
              <a:rPr lang="en-US" sz="1100" b="1" dirty="0">
                <a:solidFill>
                  <a:srgbClr val="F9AB00"/>
                </a:solidFill>
                <a:latin typeface="Cambria" pitchFamily="34" charset="0"/>
                <a:ea typeface="Cambria" pitchFamily="34" charset="-122"/>
                <a:cs typeface="Cambria" pitchFamily="34" charset="-120"/>
              </a:rPr>
              <a:t>Case-sensitive</a:t>
            </a:r>
            <a:endParaRPr lang="en-US" sz="1100" dirty="0"/>
          </a:p>
        </p:txBody>
      </p:sp>
      <p:sp>
        <p:nvSpPr>
          <p:cNvPr id="17" name="Text 15"/>
          <p:cNvSpPr/>
          <p:nvPr/>
        </p:nvSpPr>
        <p:spPr>
          <a:xfrm>
            <a:off x="7324344" y="2578608"/>
            <a:ext cx="4462272"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product, Product, PRODUCT are three different variables.</a:t>
            </a:r>
            <a:endParaRPr lang="en-US" sz="1000" dirty="0"/>
          </a:p>
        </p:txBody>
      </p:sp>
      <p:sp>
        <p:nvSpPr>
          <p:cNvPr id="18" name="Shape 16"/>
          <p:cNvSpPr/>
          <p:nvPr/>
        </p:nvSpPr>
        <p:spPr>
          <a:xfrm>
            <a:off x="7178040" y="3291840"/>
            <a:ext cx="4754880" cy="1060704"/>
          </a:xfrm>
          <a:prstGeom prst="roundRect">
            <a:avLst>
              <a:gd name="adj" fmla="val 8621"/>
            </a:avLst>
          </a:prstGeom>
          <a:solidFill>
            <a:srgbClr val="FFFFFF"/>
          </a:solidFill>
          <a:ln w="13970">
            <a:solidFill>
              <a:srgbClr val="16A34A"/>
            </a:solidFill>
            <a:prstDash val="solid"/>
          </a:ln>
          <a:effectLst>
            <a:outerShdw sx="100000" sy="100000" kx="0" ky="0" algn="bl" rotWithShape="0" blurRad="63500" dist="25400" dir="2700000">
              <a:srgbClr val="000000">
                <a:alpha val="12000"/>
              </a:srgbClr>
            </a:outerShdw>
          </a:effectLst>
        </p:spPr>
      </p:sp>
      <p:sp>
        <p:nvSpPr>
          <p:cNvPr id="19" name="Text 17"/>
          <p:cNvSpPr/>
          <p:nvPr/>
        </p:nvSpPr>
        <p:spPr>
          <a:xfrm>
            <a:off x="7324344" y="3401568"/>
            <a:ext cx="4462272" cy="274320"/>
          </a:xfrm>
          <a:prstGeom prst="rect">
            <a:avLst/>
          </a:prstGeom>
          <a:noFill/>
          <a:ln/>
        </p:spPr>
        <p:txBody>
          <a:bodyPr wrap="square" lIns="0" tIns="0" rIns="0" bIns="0" rtlCol="0" anchor="ctr"/>
          <a:lstStyle/>
          <a:p>
            <a:pPr indent="0" marL="0">
              <a:buNone/>
            </a:pPr>
            <a:r>
              <a:rPr lang="en-US" sz="1100" b="1" dirty="0">
                <a:solidFill>
                  <a:srgbClr val="16A34A"/>
                </a:solidFill>
                <a:latin typeface="Cambria" pitchFamily="34" charset="0"/>
                <a:ea typeface="Cambria" pitchFamily="34" charset="-122"/>
                <a:cs typeface="Cambria" pitchFamily="34" charset="-120"/>
              </a:rPr>
              <a:t>Indentation = structure</a:t>
            </a:r>
            <a:endParaRPr lang="en-US" sz="1100" dirty="0"/>
          </a:p>
        </p:txBody>
      </p:sp>
      <p:sp>
        <p:nvSpPr>
          <p:cNvPr id="20" name="Text 18"/>
          <p:cNvSpPr/>
          <p:nvPr/>
        </p:nvSpPr>
        <p:spPr>
          <a:xfrm>
            <a:off x="7324344" y="3712464"/>
            <a:ext cx="4462272"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4 spaces (or 1 Tab) define code blocks. Inconsistency causes IndentationError.</a:t>
            </a:r>
            <a:endParaRPr lang="en-US" sz="1000" dirty="0"/>
          </a:p>
        </p:txBody>
      </p:sp>
      <p:sp>
        <p:nvSpPr>
          <p:cNvPr id="21" name="Shape 19"/>
          <p:cNvSpPr/>
          <p:nvPr/>
        </p:nvSpPr>
        <p:spPr>
          <a:xfrm>
            <a:off x="7178040" y="4425696"/>
            <a:ext cx="4754880" cy="1060704"/>
          </a:xfrm>
          <a:prstGeom prst="roundRect">
            <a:avLst>
              <a:gd name="adj" fmla="val 8621"/>
            </a:avLst>
          </a:prstGeom>
          <a:solidFill>
            <a:srgbClr val="FFFFFF"/>
          </a:solidFill>
          <a:ln w="13970">
            <a:solidFill>
              <a:srgbClr val="7C3AED"/>
            </a:solidFill>
            <a:prstDash val="solid"/>
          </a:ln>
          <a:effectLst>
            <a:outerShdw sx="100000" sy="100000" kx="0" ky="0" algn="bl" rotWithShape="0" blurRad="63500" dist="25400" dir="2700000">
              <a:srgbClr val="000000">
                <a:alpha val="12000"/>
              </a:srgbClr>
            </a:outerShdw>
          </a:effectLst>
        </p:spPr>
      </p:sp>
      <p:sp>
        <p:nvSpPr>
          <p:cNvPr id="22" name="Text 20"/>
          <p:cNvSpPr/>
          <p:nvPr/>
        </p:nvSpPr>
        <p:spPr>
          <a:xfrm>
            <a:off x="7324344" y="4535424"/>
            <a:ext cx="4462272" cy="274320"/>
          </a:xfrm>
          <a:prstGeom prst="rect">
            <a:avLst/>
          </a:prstGeom>
          <a:noFill/>
          <a:ln/>
        </p:spPr>
        <p:txBody>
          <a:bodyPr wrap="square" lIns="0" tIns="0" rIns="0" bIns="0" rtlCol="0" anchor="ctr"/>
          <a:lstStyle/>
          <a:p>
            <a:pPr indent="0" marL="0">
              <a:buNone/>
            </a:pPr>
            <a:r>
              <a:rPr lang="en-US" sz="1100" b="1" dirty="0">
                <a:solidFill>
                  <a:srgbClr val="7C3AED"/>
                </a:solidFill>
                <a:latin typeface="Cambria" pitchFamily="34" charset="0"/>
                <a:ea typeface="Cambria" pitchFamily="34" charset="-122"/>
                <a:cs typeface="Cambria" pitchFamily="34" charset="-120"/>
              </a:rPr>
              <a:t># is a comment</a:t>
            </a:r>
            <a:endParaRPr lang="en-US" sz="1100" dirty="0"/>
          </a:p>
        </p:txBody>
      </p:sp>
      <p:sp>
        <p:nvSpPr>
          <p:cNvPr id="23" name="Text 21"/>
          <p:cNvSpPr/>
          <p:nvPr/>
        </p:nvSpPr>
        <p:spPr>
          <a:xfrm>
            <a:off x="7324344" y="4846320"/>
            <a:ext cx="4462272"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Python ignores everything after # on a line. Use comments to explain.</a:t>
            </a:r>
            <a:endParaRPr lang="en-US" sz="1000" dirty="0"/>
          </a:p>
        </p:txBody>
      </p:sp>
      <p:sp>
        <p:nvSpPr>
          <p:cNvPr id="24" name="Shape 22"/>
          <p:cNvSpPr/>
          <p:nvPr/>
        </p:nvSpPr>
        <p:spPr>
          <a:xfrm>
            <a:off x="7178040" y="5559552"/>
            <a:ext cx="4754880" cy="1060704"/>
          </a:xfrm>
          <a:prstGeom prst="roundRect">
            <a:avLst>
              <a:gd name="adj" fmla="val 8621"/>
            </a:avLst>
          </a:prstGeom>
          <a:solidFill>
            <a:srgbClr val="FFFFFF"/>
          </a:solidFill>
          <a:ln w="13970">
            <a:solidFill>
              <a:srgbClr val="E11D48"/>
            </a:solidFill>
            <a:prstDash val="solid"/>
          </a:ln>
          <a:effectLst>
            <a:outerShdw sx="100000" sy="100000" kx="0" ky="0" algn="bl" rotWithShape="0" blurRad="63500" dist="25400" dir="2700000">
              <a:srgbClr val="000000">
                <a:alpha val="12000"/>
              </a:srgbClr>
            </a:outerShdw>
          </a:effectLst>
        </p:spPr>
      </p:sp>
      <p:sp>
        <p:nvSpPr>
          <p:cNvPr id="25" name="Text 23"/>
          <p:cNvSpPr/>
          <p:nvPr/>
        </p:nvSpPr>
        <p:spPr>
          <a:xfrm>
            <a:off x="7324344" y="5669280"/>
            <a:ext cx="4462272" cy="274320"/>
          </a:xfrm>
          <a:prstGeom prst="rect">
            <a:avLst/>
          </a:prstGeom>
          <a:noFill/>
          <a:ln/>
        </p:spPr>
        <p:txBody>
          <a:bodyPr wrap="square" lIns="0" tIns="0" rIns="0" bIns="0" rtlCol="0" anchor="ctr"/>
          <a:lstStyle/>
          <a:p>
            <a:pPr indent="0" marL="0">
              <a:buNone/>
            </a:pPr>
            <a:r>
              <a:rPr lang="en-US" sz="1100" b="1" dirty="0">
                <a:solidFill>
                  <a:srgbClr val="E11D48"/>
                </a:solidFill>
                <a:latin typeface="Cambria" pitchFamily="34" charset="0"/>
                <a:ea typeface="Cambria" pitchFamily="34" charset="-122"/>
                <a:cs typeface="Cambria" pitchFamily="34" charset="-120"/>
              </a:rPr>
              <a:t>Shift+Enter to run</a:t>
            </a:r>
            <a:endParaRPr lang="en-US" sz="1100" dirty="0"/>
          </a:p>
        </p:txBody>
      </p:sp>
      <p:sp>
        <p:nvSpPr>
          <p:cNvPr id="26" name="Text 24"/>
          <p:cNvSpPr/>
          <p:nvPr/>
        </p:nvSpPr>
        <p:spPr>
          <a:xfrm>
            <a:off x="7324344" y="5980176"/>
            <a:ext cx="4462272"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In Colab, Shift+Enter runs the current cell and moves to the next.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457200" y="1005840"/>
            <a:ext cx="1920240" cy="1920240"/>
          </a:xfrm>
          <a:prstGeom prst="ellipse">
            <a:avLst/>
          </a:prstGeom>
          <a:solidFill>
            <a:srgbClr val="F9AB00"/>
          </a:solidFill>
          <a:ln w="12700">
            <a:solidFill>
              <a:srgbClr val="F9AB00"/>
            </a:solidFill>
            <a:prstDash val="solid"/>
          </a:ln>
          <a:effectLst>
            <a:outerShdw sx="100000" sy="100000" kx="0" ky="0" algn="bl" rotWithShape="0" blurRad="127000" dist="50800" dir="2700000">
              <a:srgbClr val="000000">
                <a:alpha val="18000"/>
              </a:srgbClr>
            </a:outerShdw>
          </a:effectLst>
        </p:spPr>
      </p:sp>
      <p:sp>
        <p:nvSpPr>
          <p:cNvPr id="3" name="Text 1"/>
          <p:cNvSpPr/>
          <p:nvPr/>
        </p:nvSpPr>
        <p:spPr>
          <a:xfrm>
            <a:off x="457200" y="1005840"/>
            <a:ext cx="1920240" cy="1920240"/>
          </a:xfrm>
          <a:prstGeom prst="rect">
            <a:avLst/>
          </a:prstGeom>
          <a:noFill/>
          <a:ln/>
        </p:spPr>
        <p:txBody>
          <a:bodyPr wrap="square" lIns="0" tIns="0" rIns="0" bIns="0" rtlCol="0" anchor="ctr"/>
          <a:lstStyle/>
          <a:p>
            <a:pPr algn="ctr" indent="0" marL="0">
              <a:buNone/>
            </a:pPr>
            <a:r>
              <a:rPr lang="en-US" sz="5800" b="1" dirty="0">
                <a:solidFill>
                  <a:srgbClr val="FFFFFF"/>
                </a:solidFill>
                <a:latin typeface="Cambria" pitchFamily="34" charset="0"/>
                <a:ea typeface="Cambria" pitchFamily="34" charset="-122"/>
                <a:cs typeface="Cambria" pitchFamily="34" charset="-120"/>
              </a:rPr>
              <a:t>02</a:t>
            </a:r>
            <a:endParaRPr lang="en-US" sz="5800" dirty="0"/>
          </a:p>
        </p:txBody>
      </p:sp>
      <p:sp>
        <p:nvSpPr>
          <p:cNvPr id="4" name="Text 2"/>
          <p:cNvSpPr/>
          <p:nvPr/>
        </p:nvSpPr>
        <p:spPr>
          <a:xfrm>
            <a:off x="2743200" y="1097280"/>
            <a:ext cx="9144000" cy="16459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Data Types</a:t>
            </a:r>
            <a:endParaRPr lang="en-US" sz="4400" dirty="0"/>
          </a:p>
        </p:txBody>
      </p:sp>
      <p:sp>
        <p:nvSpPr>
          <p:cNvPr id="5" name="Text 3"/>
          <p:cNvSpPr/>
          <p:nvPr/>
        </p:nvSpPr>
        <p:spPr>
          <a:xfrm>
            <a:off x="2743200" y="2880360"/>
            <a:ext cx="9144000" cy="594360"/>
          </a:xfrm>
          <a:prstGeom prst="rect">
            <a:avLst/>
          </a:prstGeom>
          <a:noFill/>
          <a:ln/>
        </p:spPr>
        <p:txBody>
          <a:bodyPr wrap="square" lIns="0" tIns="0" rIns="0" bIns="0"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What kind of information is this — and what can we do with it?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E3C"/>
          </a:solidFill>
          <a:ln w="12700">
            <a:solidFill>
              <a:srgbClr val="0F1E3C"/>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PYTHON DATA TYPES — THE COMPLETE PICTURE</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11338560" cy="56235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E3C"/>
          </a:solidFill>
          <a:ln w="12700">
            <a:solidFill>
              <a:srgbClr val="0F1E3C"/>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int AND float — WORKING WITH NUMBERS</a:t>
            </a:r>
            <a:endParaRPr lang="en-US" sz="2600" dirty="0"/>
          </a:p>
        </p:txBody>
      </p:sp>
      <p:sp>
        <p:nvSpPr>
          <p:cNvPr id="4" name="Shape 2"/>
          <p:cNvSpPr/>
          <p:nvPr/>
        </p:nvSpPr>
        <p:spPr>
          <a:xfrm>
            <a:off x="411480" y="1024128"/>
            <a:ext cx="5943600" cy="5559552"/>
          </a:xfrm>
          <a:prstGeom prst="roundRect">
            <a:avLst>
              <a:gd name="adj" fmla="val 1645"/>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1024128"/>
            <a:ext cx="5943600" cy="347472"/>
          </a:xfrm>
          <a:prstGeom prst="roundRect">
            <a:avLst>
              <a:gd name="adj" fmla="val 26316"/>
            </a:avLst>
          </a:prstGeom>
          <a:solidFill>
            <a:srgbClr val="1A2540"/>
          </a:solidFill>
          <a:ln w="12700">
            <a:solidFill>
              <a:srgbClr val="1A2540"/>
            </a:solidFill>
            <a:prstDash val="solid"/>
          </a:ln>
        </p:spPr>
      </p:sp>
      <p:sp>
        <p:nvSpPr>
          <p:cNvPr id="6" name="Shape 4"/>
          <p:cNvSpPr/>
          <p:nvPr/>
        </p:nvSpPr>
        <p:spPr>
          <a:xfrm>
            <a:off x="411480" y="1225296"/>
            <a:ext cx="5943600" cy="146304"/>
          </a:xfrm>
          <a:prstGeom prst="rect">
            <a:avLst/>
          </a:prstGeom>
          <a:solidFill>
            <a:srgbClr val="1A2540"/>
          </a:solidFill>
          <a:ln w="12700">
            <a:solidFill>
              <a:srgbClr val="1A2540"/>
            </a:solidFill>
            <a:prstDash val="solid"/>
          </a:ln>
        </p:spPr>
      </p:sp>
      <p:sp>
        <p:nvSpPr>
          <p:cNvPr id="7" name="Shape 5"/>
          <p:cNvSpPr/>
          <p:nvPr/>
        </p:nvSpPr>
        <p:spPr>
          <a:xfrm>
            <a:off x="539496" y="1115568"/>
            <a:ext cx="164592" cy="164592"/>
          </a:xfrm>
          <a:prstGeom prst="ellipse">
            <a:avLst/>
          </a:prstGeom>
          <a:solidFill>
            <a:srgbClr val="E11D48"/>
          </a:solidFill>
          <a:ln w="12700">
            <a:solidFill>
              <a:srgbClr val="E11D48"/>
            </a:solidFill>
            <a:prstDash val="solid"/>
          </a:ln>
        </p:spPr>
      </p:sp>
      <p:sp>
        <p:nvSpPr>
          <p:cNvPr id="8" name="Shape 6"/>
          <p:cNvSpPr/>
          <p:nvPr/>
        </p:nvSpPr>
        <p:spPr>
          <a:xfrm>
            <a:off x="740664" y="1115568"/>
            <a:ext cx="164592" cy="164592"/>
          </a:xfrm>
          <a:prstGeom prst="ellipse">
            <a:avLst/>
          </a:prstGeom>
          <a:solidFill>
            <a:srgbClr val="D97706"/>
          </a:solidFill>
          <a:ln w="12700">
            <a:solidFill>
              <a:srgbClr val="D97706"/>
            </a:solidFill>
            <a:prstDash val="solid"/>
          </a:ln>
        </p:spPr>
      </p:sp>
      <p:sp>
        <p:nvSpPr>
          <p:cNvPr id="9" name="Shape 7"/>
          <p:cNvSpPr/>
          <p:nvPr/>
        </p:nvSpPr>
        <p:spPr>
          <a:xfrm>
            <a:off x="941832" y="1115568"/>
            <a:ext cx="164592" cy="164592"/>
          </a:xfrm>
          <a:prstGeom prst="ellipse">
            <a:avLst/>
          </a:prstGeom>
          <a:solidFill>
            <a:srgbClr val="16A34A"/>
          </a:solidFill>
          <a:ln w="12700">
            <a:solidFill>
              <a:srgbClr val="16A34A"/>
            </a:solidFill>
            <a:prstDash val="solid"/>
          </a:ln>
        </p:spPr>
      </p:sp>
      <p:sp>
        <p:nvSpPr>
          <p:cNvPr id="10" name="Text 8"/>
          <p:cNvSpPr/>
          <p:nvPr/>
        </p:nvSpPr>
        <p:spPr>
          <a:xfrm>
            <a:off x="1143000" y="1097280"/>
            <a:ext cx="50292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numeric.py</a:t>
            </a:r>
            <a:endParaRPr lang="en-US" sz="900" dirty="0"/>
          </a:p>
        </p:txBody>
      </p:sp>
      <p:sp>
        <p:nvSpPr>
          <p:cNvPr id="11" name="Text 9"/>
          <p:cNvSpPr/>
          <p:nvPr/>
        </p:nvSpPr>
        <p:spPr>
          <a:xfrm>
            <a:off x="557784" y="1426464"/>
            <a:ext cx="5669280" cy="504748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INTEGER — whole numbers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quantity    = 500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tax_percent = 7</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population  = 216_000_000   # underscores OK</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FLOAT — decimal numbers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unit_price  = 2_500.50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vat_rate    = 0.075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exchange    = 1_580.25</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Arithmetic — all division types</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200 / 3      # 66.666... (float div)</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200 // 3     # 66 (integer division)</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200 % 3      # 2 (remainder)</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2 ** 10      # 1024 (power)</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Type casting</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int(3.9)       # 3  (truncates, not rounds!)</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float(500)     # 500.0</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round(3.14159, 2) # 3.14</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Business calculation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revenue = quantity * unit_price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tax     = revenue * vat_rate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total   = revenue + tax</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print(f"Total: NGN {total:,.2f}")</a:t>
            </a:r>
            <a:endParaRPr lang="en-US" sz="1050" dirty="0"/>
          </a:p>
        </p:txBody>
      </p:sp>
      <p:sp>
        <p:nvSpPr>
          <p:cNvPr id="12" name="Shape 10"/>
          <p:cNvSpPr/>
          <p:nvPr/>
        </p:nvSpPr>
        <p:spPr>
          <a:xfrm>
            <a:off x="6537960" y="1024128"/>
            <a:ext cx="5394960" cy="1060704"/>
          </a:xfrm>
          <a:prstGeom prst="roundRect">
            <a:avLst>
              <a:gd name="adj" fmla="val 8621"/>
            </a:avLst>
          </a:prstGeom>
          <a:solidFill>
            <a:srgbClr val="FFFFFF"/>
          </a:solidFill>
          <a:ln w="13970">
            <a:solidFill>
              <a:srgbClr val="2563EB"/>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6684264" y="1133856"/>
            <a:ext cx="5102352" cy="274320"/>
          </a:xfrm>
          <a:prstGeom prst="rect">
            <a:avLst/>
          </a:prstGeom>
          <a:noFill/>
          <a:ln/>
        </p:spPr>
        <p:txBody>
          <a:bodyPr wrap="square" lIns="0" tIns="0" rIns="0" bIns="0" rtlCol="0" anchor="ctr"/>
          <a:lstStyle/>
          <a:p>
            <a:pPr indent="0" marL="0">
              <a:buNone/>
            </a:pPr>
            <a:r>
              <a:rPr lang="en-US" sz="1100" b="1" dirty="0">
                <a:solidFill>
                  <a:srgbClr val="2563EB"/>
                </a:solidFill>
                <a:latin typeface="Cambria" pitchFamily="34" charset="0"/>
                <a:ea typeface="Cambria" pitchFamily="34" charset="-122"/>
                <a:cs typeface="Cambria" pitchFamily="34" charset="-120"/>
              </a:rPr>
              <a:t>Division always returns float</a:t>
            </a:r>
            <a:endParaRPr lang="en-US" sz="1100" dirty="0"/>
          </a:p>
        </p:txBody>
      </p:sp>
      <p:sp>
        <p:nvSpPr>
          <p:cNvPr id="14" name="Text 12"/>
          <p:cNvSpPr/>
          <p:nvPr/>
        </p:nvSpPr>
        <p:spPr>
          <a:xfrm>
            <a:off x="6684264" y="1444752"/>
            <a:ext cx="5102352"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7 / 2 = 3.5 not 3. Use // if you want integer division.</a:t>
            </a:r>
            <a:endParaRPr lang="en-US" sz="1000" dirty="0"/>
          </a:p>
        </p:txBody>
      </p:sp>
      <p:sp>
        <p:nvSpPr>
          <p:cNvPr id="15" name="Shape 13"/>
          <p:cNvSpPr/>
          <p:nvPr/>
        </p:nvSpPr>
        <p:spPr>
          <a:xfrm>
            <a:off x="6537960" y="2157984"/>
            <a:ext cx="5394960" cy="1060704"/>
          </a:xfrm>
          <a:prstGeom prst="roundRect">
            <a:avLst>
              <a:gd name="adj" fmla="val 8621"/>
            </a:avLst>
          </a:prstGeom>
          <a:solidFill>
            <a:srgbClr val="FFFFFF"/>
          </a:solidFill>
          <a:ln w="13970">
            <a:solidFill>
              <a:srgbClr val="E11D48"/>
            </a:solidFill>
            <a:prstDash val="solid"/>
          </a:ln>
          <a:effectLst>
            <a:outerShdw sx="100000" sy="100000" kx="0" ky="0" algn="bl" rotWithShape="0" blurRad="63500" dist="25400" dir="2700000">
              <a:srgbClr val="000000">
                <a:alpha val="12000"/>
              </a:srgbClr>
            </a:outerShdw>
          </a:effectLst>
        </p:spPr>
      </p:sp>
      <p:sp>
        <p:nvSpPr>
          <p:cNvPr id="16" name="Text 14"/>
          <p:cNvSpPr/>
          <p:nvPr/>
        </p:nvSpPr>
        <p:spPr>
          <a:xfrm>
            <a:off x="6684264" y="2267712"/>
            <a:ext cx="5102352" cy="274320"/>
          </a:xfrm>
          <a:prstGeom prst="rect">
            <a:avLst/>
          </a:prstGeom>
          <a:noFill/>
          <a:ln/>
        </p:spPr>
        <p:txBody>
          <a:bodyPr wrap="square" lIns="0" tIns="0" rIns="0" bIns="0" rtlCol="0" anchor="ctr"/>
          <a:lstStyle/>
          <a:p>
            <a:pPr indent="0" marL="0">
              <a:buNone/>
            </a:pPr>
            <a:r>
              <a:rPr lang="en-US" sz="1100" b="1" dirty="0">
                <a:solidFill>
                  <a:srgbClr val="E11D48"/>
                </a:solidFill>
                <a:latin typeface="Cambria" pitchFamily="34" charset="0"/>
                <a:ea typeface="Cambria" pitchFamily="34" charset="-122"/>
                <a:cs typeface="Cambria" pitchFamily="34" charset="-120"/>
              </a:rPr>
              <a:t>int() truncates</a:t>
            </a:r>
            <a:endParaRPr lang="en-US" sz="1100" dirty="0"/>
          </a:p>
        </p:txBody>
      </p:sp>
      <p:sp>
        <p:nvSpPr>
          <p:cNvPr id="17" name="Text 15"/>
          <p:cNvSpPr/>
          <p:nvPr/>
        </p:nvSpPr>
        <p:spPr>
          <a:xfrm>
            <a:off x="6684264" y="2578608"/>
            <a:ext cx="5102352"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int(3.9) is 3, not 4. Use round() to round to nearest integer.</a:t>
            </a:r>
            <a:endParaRPr lang="en-US" sz="1000" dirty="0"/>
          </a:p>
        </p:txBody>
      </p:sp>
      <p:sp>
        <p:nvSpPr>
          <p:cNvPr id="18" name="Shape 16"/>
          <p:cNvSpPr/>
          <p:nvPr/>
        </p:nvSpPr>
        <p:spPr>
          <a:xfrm>
            <a:off x="6537960" y="3291840"/>
            <a:ext cx="5394960" cy="1060704"/>
          </a:xfrm>
          <a:prstGeom prst="roundRect">
            <a:avLst>
              <a:gd name="adj" fmla="val 8621"/>
            </a:avLst>
          </a:prstGeom>
          <a:solidFill>
            <a:srgbClr val="FFFFFF"/>
          </a:solidFill>
          <a:ln w="13970">
            <a:solidFill>
              <a:srgbClr val="16A34A"/>
            </a:solidFill>
            <a:prstDash val="solid"/>
          </a:ln>
          <a:effectLst>
            <a:outerShdw sx="100000" sy="100000" kx="0" ky="0" algn="bl" rotWithShape="0" blurRad="63500" dist="25400" dir="2700000">
              <a:srgbClr val="000000">
                <a:alpha val="12000"/>
              </a:srgbClr>
            </a:outerShdw>
          </a:effectLst>
        </p:spPr>
      </p:sp>
      <p:sp>
        <p:nvSpPr>
          <p:cNvPr id="19" name="Text 17"/>
          <p:cNvSpPr/>
          <p:nvPr/>
        </p:nvSpPr>
        <p:spPr>
          <a:xfrm>
            <a:off x="6684264" y="3401568"/>
            <a:ext cx="5102352" cy="274320"/>
          </a:xfrm>
          <a:prstGeom prst="rect">
            <a:avLst/>
          </a:prstGeom>
          <a:noFill/>
          <a:ln/>
        </p:spPr>
        <p:txBody>
          <a:bodyPr wrap="square" lIns="0" tIns="0" rIns="0" bIns="0" rtlCol="0" anchor="ctr"/>
          <a:lstStyle/>
          <a:p>
            <a:pPr indent="0" marL="0">
              <a:buNone/>
            </a:pPr>
            <a:r>
              <a:rPr lang="en-US" sz="1100" b="1" dirty="0">
                <a:solidFill>
                  <a:srgbClr val="16A34A"/>
                </a:solidFill>
                <a:latin typeface="Cambria" pitchFamily="34" charset="0"/>
                <a:ea typeface="Cambria" pitchFamily="34" charset="-122"/>
                <a:cs typeface="Cambria" pitchFamily="34" charset="-120"/>
              </a:rPr>
              <a:t>Underscores in numbers</a:t>
            </a:r>
            <a:endParaRPr lang="en-US" sz="1100" dirty="0"/>
          </a:p>
        </p:txBody>
      </p:sp>
      <p:sp>
        <p:nvSpPr>
          <p:cNvPr id="20" name="Text 18"/>
          <p:cNvSpPr/>
          <p:nvPr/>
        </p:nvSpPr>
        <p:spPr>
          <a:xfrm>
            <a:off x="6684264" y="3712464"/>
            <a:ext cx="5102352"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1_000_000 is cleaner than 1000000. Python ignores the underscores.</a:t>
            </a:r>
            <a:endParaRPr lang="en-US" sz="1000" dirty="0"/>
          </a:p>
        </p:txBody>
      </p:sp>
      <p:sp>
        <p:nvSpPr>
          <p:cNvPr id="21" name="Shape 19"/>
          <p:cNvSpPr/>
          <p:nvPr/>
        </p:nvSpPr>
        <p:spPr>
          <a:xfrm>
            <a:off x="6537960" y="4425696"/>
            <a:ext cx="5394960" cy="1060704"/>
          </a:xfrm>
          <a:prstGeom prst="roundRect">
            <a:avLst>
              <a:gd name="adj" fmla="val 8621"/>
            </a:avLst>
          </a:prstGeom>
          <a:solidFill>
            <a:srgbClr val="FFFFFF"/>
          </a:solidFill>
          <a:ln w="13970">
            <a:solidFill>
              <a:srgbClr val="D97706"/>
            </a:solidFill>
            <a:prstDash val="solid"/>
          </a:ln>
          <a:effectLst>
            <a:outerShdw sx="100000" sy="100000" kx="0" ky="0" algn="bl" rotWithShape="0" blurRad="63500" dist="25400" dir="2700000">
              <a:srgbClr val="000000">
                <a:alpha val="12000"/>
              </a:srgbClr>
            </a:outerShdw>
          </a:effectLst>
        </p:spPr>
      </p:sp>
      <p:sp>
        <p:nvSpPr>
          <p:cNvPr id="22" name="Text 20"/>
          <p:cNvSpPr/>
          <p:nvPr/>
        </p:nvSpPr>
        <p:spPr>
          <a:xfrm>
            <a:off x="6684264" y="4535424"/>
            <a:ext cx="5102352" cy="274320"/>
          </a:xfrm>
          <a:prstGeom prst="rect">
            <a:avLst/>
          </a:prstGeom>
          <a:noFill/>
          <a:ln/>
        </p:spPr>
        <p:txBody>
          <a:bodyPr wrap="square" lIns="0" tIns="0" rIns="0" bIns="0" rtlCol="0" anchor="ctr"/>
          <a:lstStyle/>
          <a:p>
            <a:pPr indent="0" marL="0">
              <a:buNone/>
            </a:pPr>
            <a:r>
              <a:rPr lang="en-US" sz="1100" b="1" dirty="0">
                <a:solidFill>
                  <a:srgbClr val="D97706"/>
                </a:solidFill>
                <a:latin typeface="Cambria" pitchFamily="34" charset="0"/>
                <a:ea typeface="Cambria" pitchFamily="34" charset="-122"/>
                <a:cs typeface="Cambria" pitchFamily="34" charset="-120"/>
              </a:rPr>
              <a:t>Float precision</a:t>
            </a:r>
            <a:endParaRPr lang="en-US" sz="1100" dirty="0"/>
          </a:p>
        </p:txBody>
      </p:sp>
      <p:sp>
        <p:nvSpPr>
          <p:cNvPr id="23" name="Text 21"/>
          <p:cNvSpPr/>
          <p:nvPr/>
        </p:nvSpPr>
        <p:spPr>
          <a:xfrm>
            <a:off x="6684264" y="4846320"/>
            <a:ext cx="5102352"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0.1 + 0.2 is NOT exactly 0.3 (binary arithmetic). Use round() for money.</a:t>
            </a:r>
            <a:endParaRPr lang="en-US" sz="1000" dirty="0"/>
          </a:p>
        </p:txBody>
      </p:sp>
      <p:sp>
        <p:nvSpPr>
          <p:cNvPr id="24" name="Shape 22"/>
          <p:cNvSpPr/>
          <p:nvPr/>
        </p:nvSpPr>
        <p:spPr>
          <a:xfrm>
            <a:off x="6537960" y="5559552"/>
            <a:ext cx="5394960" cy="1060704"/>
          </a:xfrm>
          <a:prstGeom prst="roundRect">
            <a:avLst>
              <a:gd name="adj" fmla="val 8621"/>
            </a:avLst>
          </a:prstGeom>
          <a:solidFill>
            <a:srgbClr val="FFFFFF"/>
          </a:solidFill>
          <a:ln w="13970">
            <a:solidFill>
              <a:srgbClr val="7C3AED"/>
            </a:solidFill>
            <a:prstDash val="solid"/>
          </a:ln>
          <a:effectLst>
            <a:outerShdw sx="100000" sy="100000" kx="0" ky="0" algn="bl" rotWithShape="0" blurRad="63500" dist="25400" dir="2700000">
              <a:srgbClr val="000000">
                <a:alpha val="12000"/>
              </a:srgbClr>
            </a:outerShdw>
          </a:effectLst>
        </p:spPr>
      </p:sp>
      <p:sp>
        <p:nvSpPr>
          <p:cNvPr id="25" name="Text 23"/>
          <p:cNvSpPr/>
          <p:nvPr/>
        </p:nvSpPr>
        <p:spPr>
          <a:xfrm>
            <a:off x="6684264" y="5669280"/>
            <a:ext cx="5102352" cy="274320"/>
          </a:xfrm>
          <a:prstGeom prst="rect">
            <a:avLst/>
          </a:prstGeom>
          <a:noFill/>
          <a:ln/>
        </p:spPr>
        <p:txBody>
          <a:bodyPr wrap="square" lIns="0" tIns="0" rIns="0" bIns="0" rtlCol="0" anchor="ctr"/>
          <a:lstStyle/>
          <a:p>
            <a:pPr indent="0" marL="0">
              <a:buNone/>
            </a:pPr>
            <a:r>
              <a:rPr lang="en-US" sz="1100" b="1" dirty="0">
                <a:solidFill>
                  <a:srgbClr val="7C3AED"/>
                </a:solidFill>
                <a:latin typeface="Cambria" pitchFamily="34" charset="0"/>
                <a:ea typeface="Cambria" pitchFamily="34" charset="-122"/>
                <a:cs typeface="Cambria" pitchFamily="34" charset="-120"/>
              </a:rPr>
              <a:t>abs() min() max() sum()</a:t>
            </a:r>
            <a:endParaRPr lang="en-US" sz="1100" dirty="0"/>
          </a:p>
        </p:txBody>
      </p:sp>
      <p:sp>
        <p:nvSpPr>
          <p:cNvPr id="26" name="Text 24"/>
          <p:cNvSpPr/>
          <p:nvPr/>
        </p:nvSpPr>
        <p:spPr>
          <a:xfrm>
            <a:off x="6684264" y="5980176"/>
            <a:ext cx="5102352"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Built-in functions that work on numbers: abs(-5)=5, max(3,7,2)=7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D4ED8"/>
          </a:solidFill>
          <a:ln w="12700">
            <a:solidFill>
              <a:srgbClr val="1D4ED8"/>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str — TEXT DATA AND STRING MANIPULATION</a:t>
            </a:r>
            <a:endParaRPr lang="en-US" sz="2600" dirty="0"/>
          </a:p>
        </p:txBody>
      </p:sp>
      <p:sp>
        <p:nvSpPr>
          <p:cNvPr id="4" name="Shape 2"/>
          <p:cNvSpPr/>
          <p:nvPr/>
        </p:nvSpPr>
        <p:spPr>
          <a:xfrm>
            <a:off x="411480" y="1024128"/>
            <a:ext cx="5943600" cy="5559552"/>
          </a:xfrm>
          <a:prstGeom prst="roundRect">
            <a:avLst>
              <a:gd name="adj" fmla="val 1645"/>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1024128"/>
            <a:ext cx="5943600" cy="347472"/>
          </a:xfrm>
          <a:prstGeom prst="roundRect">
            <a:avLst>
              <a:gd name="adj" fmla="val 26316"/>
            </a:avLst>
          </a:prstGeom>
          <a:solidFill>
            <a:srgbClr val="1A2540"/>
          </a:solidFill>
          <a:ln w="12700">
            <a:solidFill>
              <a:srgbClr val="1A2540"/>
            </a:solidFill>
            <a:prstDash val="solid"/>
          </a:ln>
        </p:spPr>
      </p:sp>
      <p:sp>
        <p:nvSpPr>
          <p:cNvPr id="6" name="Shape 4"/>
          <p:cNvSpPr/>
          <p:nvPr/>
        </p:nvSpPr>
        <p:spPr>
          <a:xfrm>
            <a:off x="411480" y="1225296"/>
            <a:ext cx="5943600" cy="146304"/>
          </a:xfrm>
          <a:prstGeom prst="rect">
            <a:avLst/>
          </a:prstGeom>
          <a:solidFill>
            <a:srgbClr val="1A2540"/>
          </a:solidFill>
          <a:ln w="12700">
            <a:solidFill>
              <a:srgbClr val="1A2540"/>
            </a:solidFill>
            <a:prstDash val="solid"/>
          </a:ln>
        </p:spPr>
      </p:sp>
      <p:sp>
        <p:nvSpPr>
          <p:cNvPr id="7" name="Shape 5"/>
          <p:cNvSpPr/>
          <p:nvPr/>
        </p:nvSpPr>
        <p:spPr>
          <a:xfrm>
            <a:off x="539496" y="1115568"/>
            <a:ext cx="164592" cy="164592"/>
          </a:xfrm>
          <a:prstGeom prst="ellipse">
            <a:avLst/>
          </a:prstGeom>
          <a:solidFill>
            <a:srgbClr val="E11D48"/>
          </a:solidFill>
          <a:ln w="12700">
            <a:solidFill>
              <a:srgbClr val="E11D48"/>
            </a:solidFill>
            <a:prstDash val="solid"/>
          </a:ln>
        </p:spPr>
      </p:sp>
      <p:sp>
        <p:nvSpPr>
          <p:cNvPr id="8" name="Shape 6"/>
          <p:cNvSpPr/>
          <p:nvPr/>
        </p:nvSpPr>
        <p:spPr>
          <a:xfrm>
            <a:off x="740664" y="1115568"/>
            <a:ext cx="164592" cy="164592"/>
          </a:xfrm>
          <a:prstGeom prst="ellipse">
            <a:avLst/>
          </a:prstGeom>
          <a:solidFill>
            <a:srgbClr val="D97706"/>
          </a:solidFill>
          <a:ln w="12700">
            <a:solidFill>
              <a:srgbClr val="D97706"/>
            </a:solidFill>
            <a:prstDash val="solid"/>
          </a:ln>
        </p:spPr>
      </p:sp>
      <p:sp>
        <p:nvSpPr>
          <p:cNvPr id="9" name="Shape 7"/>
          <p:cNvSpPr/>
          <p:nvPr/>
        </p:nvSpPr>
        <p:spPr>
          <a:xfrm>
            <a:off x="941832" y="1115568"/>
            <a:ext cx="164592" cy="164592"/>
          </a:xfrm>
          <a:prstGeom prst="ellipse">
            <a:avLst/>
          </a:prstGeom>
          <a:solidFill>
            <a:srgbClr val="16A34A"/>
          </a:solidFill>
          <a:ln w="12700">
            <a:solidFill>
              <a:srgbClr val="16A34A"/>
            </a:solidFill>
            <a:prstDash val="solid"/>
          </a:ln>
        </p:spPr>
      </p:sp>
      <p:sp>
        <p:nvSpPr>
          <p:cNvPr id="10" name="Text 8"/>
          <p:cNvSpPr/>
          <p:nvPr/>
        </p:nvSpPr>
        <p:spPr>
          <a:xfrm>
            <a:off x="1143000" y="1097280"/>
            <a:ext cx="50292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strings.py</a:t>
            </a:r>
            <a:endParaRPr lang="en-US" sz="900" dirty="0"/>
          </a:p>
        </p:txBody>
      </p:sp>
      <p:sp>
        <p:nvSpPr>
          <p:cNvPr id="11" name="Text 9"/>
          <p:cNvSpPr/>
          <p:nvPr/>
        </p:nvSpPr>
        <p:spPr>
          <a:xfrm>
            <a:off x="557784" y="1426464"/>
            <a:ext cx="5669280" cy="504748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Creating strings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company   = 'TechVentures Ltd'</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address   = "14 Broad Street, Lagos"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report    = """Q4 Analysis: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Revenue up 18%. Costs stable."""</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f-strings — best practice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region  = 'South-West'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revenue = 4_500_000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print(f"{region}: NGN {revenue:,}")</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 South-West: NGN 4,500,000</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Indexing and slicing</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code = 'PROD-2024-001'</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code[0]      # 'P'  (first character)</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code[-1]     # '1'  (last character)</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code[5:9]    # '2024' (slice: chars 5-8)</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code[:4]     # 'PROD' (from start to 4)</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code[::-1]   # '100-4202-DORP' (reversed)</a:t>
            </a:r>
            <a:endParaRPr lang="en-US" sz="1050" dirty="0"/>
          </a:p>
          <a:p>
            <a:pPr indent="0" marL="0">
              <a:buNone/>
            </a:pPr>
            <a:endParaRPr lang="en-US" sz="1050" dirty="0"/>
          </a:p>
          <a:p>
            <a:pPr indent="0" marL="0">
              <a:buNone/>
            </a:pPr>
            <a:r>
              <a:rPr lang="en-US" sz="1050" dirty="0">
                <a:solidFill>
                  <a:srgbClr val="E11D48"/>
                </a:solidFill>
                <a:latin typeface="Courier New" pitchFamily="34" charset="0"/>
                <a:ea typeface="Courier New" pitchFamily="34" charset="-122"/>
                <a:cs typeface="Courier New" pitchFamily="34" charset="-120"/>
              </a:rPr>
              <a:t># Strings are immutable</a:t>
            </a:r>
            <a:endParaRPr lang="en-US" sz="1050" dirty="0"/>
          </a:p>
          <a:p>
            <a:pPr indent="0" marL="0">
              <a:buNone/>
            </a:pPr>
            <a:r>
              <a:rPr lang="en-US" sz="1050" dirty="0">
                <a:solidFill>
                  <a:srgbClr val="E11D48"/>
                </a:solidFill>
                <a:latin typeface="Courier New" pitchFamily="34" charset="0"/>
                <a:ea typeface="Courier New" pitchFamily="34" charset="-122"/>
                <a:cs typeface="Courier New" pitchFamily="34" charset="-120"/>
              </a:rPr>
              <a:t>code[0] = 'X'  # TypeError — cannot change!</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new = 'X' + code[1:]  # correct: build new</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Common methods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company.upper()         # 'TECHVENTURES LTD'</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company.replace('Ltd','Plc')  # update name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address.split(',')      # ['14 Broad Street',' Lagos']</a:t>
            </a:r>
            <a:endParaRPr lang="en-US" sz="1050" dirty="0"/>
          </a:p>
        </p:txBody>
      </p:sp>
      <p:sp>
        <p:nvSpPr>
          <p:cNvPr id="12" name="Text 10"/>
          <p:cNvSpPr/>
          <p:nvPr/>
        </p:nvSpPr>
        <p:spPr>
          <a:xfrm>
            <a:off x="6537960" y="1097280"/>
            <a:ext cx="5394960" cy="274320"/>
          </a:xfrm>
          <a:prstGeom prst="rect">
            <a:avLst/>
          </a:prstGeom>
          <a:noFill/>
          <a:ln/>
        </p:spPr>
        <p:txBody>
          <a:bodyPr wrap="square" lIns="0" tIns="0" rIns="0" bIns="0" rtlCol="0" anchor="ctr"/>
          <a:lstStyle/>
          <a:p>
            <a:pPr indent="0" marL="0">
              <a:buNone/>
            </a:pPr>
            <a:r>
              <a:rPr lang="en-US" sz="1100" b="1" dirty="0">
                <a:solidFill>
                  <a:srgbClr val="0891B2"/>
                </a:solidFill>
                <a:latin typeface="Cambria" pitchFamily="34" charset="0"/>
                <a:ea typeface="Cambria" pitchFamily="34" charset="-122"/>
                <a:cs typeface="Cambria" pitchFamily="34" charset="-120"/>
              </a:rPr>
              <a:t>Key String Methods</a:t>
            </a:r>
            <a:endParaRPr lang="en-US" sz="1100" dirty="0"/>
          </a:p>
        </p:txBody>
      </p:sp>
      <p:sp>
        <p:nvSpPr>
          <p:cNvPr id="13" name="Shape 11"/>
          <p:cNvSpPr/>
          <p:nvPr/>
        </p:nvSpPr>
        <p:spPr>
          <a:xfrm>
            <a:off x="6537960" y="1463040"/>
            <a:ext cx="5394960" cy="502920"/>
          </a:xfrm>
          <a:prstGeom prst="rect">
            <a:avLst/>
          </a:prstGeom>
          <a:solidFill>
            <a:srgbClr val="1A2540"/>
          </a:solidFill>
          <a:ln w="3810">
            <a:solidFill>
              <a:srgbClr val="E2E8F0"/>
            </a:solidFill>
            <a:prstDash val="solid"/>
          </a:ln>
        </p:spPr>
      </p:sp>
      <p:sp>
        <p:nvSpPr>
          <p:cNvPr id="14" name="Text 12"/>
          <p:cNvSpPr/>
          <p:nvPr/>
        </p:nvSpPr>
        <p:spPr>
          <a:xfrm>
            <a:off x="6638544" y="1591056"/>
            <a:ext cx="2194560" cy="256032"/>
          </a:xfrm>
          <a:prstGeom prst="rect">
            <a:avLst/>
          </a:prstGeom>
          <a:noFill/>
          <a:ln/>
        </p:spPr>
        <p:txBody>
          <a:bodyPr wrap="square" lIns="0" tIns="0" rIns="0" bIns="0" rtlCol="0" anchor="ctr"/>
          <a:lstStyle/>
          <a:p>
            <a:pPr indent="0" marL="0">
              <a:buNone/>
            </a:pPr>
            <a:r>
              <a:rPr lang="en-US" sz="1000" b="1" dirty="0">
                <a:solidFill>
                  <a:srgbClr val="0891B2"/>
                </a:solidFill>
                <a:latin typeface="Courier New" pitchFamily="34" charset="0"/>
                <a:ea typeface="Courier New" pitchFamily="34" charset="-122"/>
                <a:cs typeface="Courier New" pitchFamily="34" charset="-120"/>
              </a:rPr>
              <a:t>.upper() / .lower()</a:t>
            </a:r>
            <a:endParaRPr lang="en-US" sz="1000" dirty="0"/>
          </a:p>
        </p:txBody>
      </p:sp>
      <p:sp>
        <p:nvSpPr>
          <p:cNvPr id="15" name="Text 13"/>
          <p:cNvSpPr/>
          <p:nvPr/>
        </p:nvSpPr>
        <p:spPr>
          <a:xfrm>
            <a:off x="8869680" y="1591056"/>
            <a:ext cx="301752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Case conversion for normalising data</a:t>
            </a:r>
            <a:endParaRPr lang="en-US" sz="950" dirty="0"/>
          </a:p>
        </p:txBody>
      </p:sp>
      <p:sp>
        <p:nvSpPr>
          <p:cNvPr id="16" name="Shape 14"/>
          <p:cNvSpPr/>
          <p:nvPr/>
        </p:nvSpPr>
        <p:spPr>
          <a:xfrm>
            <a:off x="6537960" y="2002536"/>
            <a:ext cx="5394960" cy="502920"/>
          </a:xfrm>
          <a:prstGeom prst="rect">
            <a:avLst/>
          </a:prstGeom>
          <a:solidFill>
            <a:srgbClr val="111827"/>
          </a:solidFill>
          <a:ln w="3810">
            <a:solidFill>
              <a:srgbClr val="E2E8F0"/>
            </a:solidFill>
            <a:prstDash val="solid"/>
          </a:ln>
        </p:spPr>
      </p:sp>
      <p:sp>
        <p:nvSpPr>
          <p:cNvPr id="17" name="Text 15"/>
          <p:cNvSpPr/>
          <p:nvPr/>
        </p:nvSpPr>
        <p:spPr>
          <a:xfrm>
            <a:off x="6638544" y="2130552"/>
            <a:ext cx="2194560" cy="256032"/>
          </a:xfrm>
          <a:prstGeom prst="rect">
            <a:avLst/>
          </a:prstGeom>
          <a:noFill/>
          <a:ln/>
        </p:spPr>
        <p:txBody>
          <a:bodyPr wrap="square" lIns="0" tIns="0" rIns="0" bIns="0" rtlCol="0" anchor="ctr"/>
          <a:lstStyle/>
          <a:p>
            <a:pPr indent="0" marL="0">
              <a:buNone/>
            </a:pPr>
            <a:r>
              <a:rPr lang="en-US" sz="1000" b="1" dirty="0">
                <a:solidFill>
                  <a:srgbClr val="0891B2"/>
                </a:solidFill>
                <a:latin typeface="Courier New" pitchFamily="34" charset="0"/>
                <a:ea typeface="Courier New" pitchFamily="34" charset="-122"/>
                <a:cs typeface="Courier New" pitchFamily="34" charset="-120"/>
              </a:rPr>
              <a:t>.strip()</a:t>
            </a:r>
            <a:endParaRPr lang="en-US" sz="1000" dirty="0"/>
          </a:p>
        </p:txBody>
      </p:sp>
      <p:sp>
        <p:nvSpPr>
          <p:cNvPr id="18" name="Text 16"/>
          <p:cNvSpPr/>
          <p:nvPr/>
        </p:nvSpPr>
        <p:spPr>
          <a:xfrm>
            <a:off x="8869680" y="2130552"/>
            <a:ext cx="301752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Remove leading/trailing whitespace from inputs</a:t>
            </a:r>
            <a:endParaRPr lang="en-US" sz="950" dirty="0"/>
          </a:p>
        </p:txBody>
      </p:sp>
      <p:sp>
        <p:nvSpPr>
          <p:cNvPr id="19" name="Shape 17"/>
          <p:cNvSpPr/>
          <p:nvPr/>
        </p:nvSpPr>
        <p:spPr>
          <a:xfrm>
            <a:off x="6537960" y="2542032"/>
            <a:ext cx="5394960" cy="502920"/>
          </a:xfrm>
          <a:prstGeom prst="rect">
            <a:avLst/>
          </a:prstGeom>
          <a:solidFill>
            <a:srgbClr val="1A2540"/>
          </a:solidFill>
          <a:ln w="3810">
            <a:solidFill>
              <a:srgbClr val="E2E8F0"/>
            </a:solidFill>
            <a:prstDash val="solid"/>
          </a:ln>
        </p:spPr>
      </p:sp>
      <p:sp>
        <p:nvSpPr>
          <p:cNvPr id="20" name="Text 18"/>
          <p:cNvSpPr/>
          <p:nvPr/>
        </p:nvSpPr>
        <p:spPr>
          <a:xfrm>
            <a:off x="6638544" y="2670048"/>
            <a:ext cx="2194560" cy="256032"/>
          </a:xfrm>
          <a:prstGeom prst="rect">
            <a:avLst/>
          </a:prstGeom>
          <a:noFill/>
          <a:ln/>
        </p:spPr>
        <p:txBody>
          <a:bodyPr wrap="square" lIns="0" tIns="0" rIns="0" bIns="0" rtlCol="0" anchor="ctr"/>
          <a:lstStyle/>
          <a:p>
            <a:pPr indent="0" marL="0">
              <a:buNone/>
            </a:pPr>
            <a:r>
              <a:rPr lang="en-US" sz="1000" b="1" dirty="0">
                <a:solidFill>
                  <a:srgbClr val="0891B2"/>
                </a:solidFill>
                <a:latin typeface="Courier New" pitchFamily="34" charset="0"/>
                <a:ea typeface="Courier New" pitchFamily="34" charset="-122"/>
                <a:cs typeface="Courier New" pitchFamily="34" charset="-120"/>
              </a:rPr>
              <a:t>.split(delim)</a:t>
            </a:r>
            <a:endParaRPr lang="en-US" sz="1000" dirty="0"/>
          </a:p>
        </p:txBody>
      </p:sp>
      <p:sp>
        <p:nvSpPr>
          <p:cNvPr id="21" name="Text 19"/>
          <p:cNvSpPr/>
          <p:nvPr/>
        </p:nvSpPr>
        <p:spPr>
          <a:xfrm>
            <a:off x="8869680" y="2670048"/>
            <a:ext cx="301752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Split CSV row into fields by delimiter</a:t>
            </a:r>
            <a:endParaRPr lang="en-US" sz="950" dirty="0"/>
          </a:p>
        </p:txBody>
      </p:sp>
      <p:sp>
        <p:nvSpPr>
          <p:cNvPr id="22" name="Shape 20"/>
          <p:cNvSpPr/>
          <p:nvPr/>
        </p:nvSpPr>
        <p:spPr>
          <a:xfrm>
            <a:off x="6537960" y="3081528"/>
            <a:ext cx="5394960" cy="502920"/>
          </a:xfrm>
          <a:prstGeom prst="rect">
            <a:avLst/>
          </a:prstGeom>
          <a:solidFill>
            <a:srgbClr val="111827"/>
          </a:solidFill>
          <a:ln w="3810">
            <a:solidFill>
              <a:srgbClr val="E2E8F0"/>
            </a:solidFill>
            <a:prstDash val="solid"/>
          </a:ln>
        </p:spPr>
      </p:sp>
      <p:sp>
        <p:nvSpPr>
          <p:cNvPr id="23" name="Text 21"/>
          <p:cNvSpPr/>
          <p:nvPr/>
        </p:nvSpPr>
        <p:spPr>
          <a:xfrm>
            <a:off x="6638544" y="3209544"/>
            <a:ext cx="2194560" cy="256032"/>
          </a:xfrm>
          <a:prstGeom prst="rect">
            <a:avLst/>
          </a:prstGeom>
          <a:noFill/>
          <a:ln/>
        </p:spPr>
        <p:txBody>
          <a:bodyPr wrap="square" lIns="0" tIns="0" rIns="0" bIns="0" rtlCol="0" anchor="ctr"/>
          <a:lstStyle/>
          <a:p>
            <a:pPr indent="0" marL="0">
              <a:buNone/>
            </a:pPr>
            <a:r>
              <a:rPr lang="en-US" sz="1000" b="1" dirty="0">
                <a:solidFill>
                  <a:srgbClr val="0891B2"/>
                </a:solidFill>
                <a:latin typeface="Courier New" pitchFamily="34" charset="0"/>
                <a:ea typeface="Courier New" pitchFamily="34" charset="-122"/>
                <a:cs typeface="Courier New" pitchFamily="34" charset="-120"/>
              </a:rPr>
              <a:t>.replace(old,new)</a:t>
            </a:r>
            <a:endParaRPr lang="en-US" sz="1000" dirty="0"/>
          </a:p>
        </p:txBody>
      </p:sp>
      <p:sp>
        <p:nvSpPr>
          <p:cNvPr id="24" name="Text 22"/>
          <p:cNvSpPr/>
          <p:nvPr/>
        </p:nvSpPr>
        <p:spPr>
          <a:xfrm>
            <a:off x="8869680" y="3209544"/>
            <a:ext cx="301752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Find-and-replace in text fields</a:t>
            </a:r>
            <a:endParaRPr lang="en-US" sz="950" dirty="0"/>
          </a:p>
        </p:txBody>
      </p:sp>
      <p:sp>
        <p:nvSpPr>
          <p:cNvPr id="25" name="Shape 23"/>
          <p:cNvSpPr/>
          <p:nvPr/>
        </p:nvSpPr>
        <p:spPr>
          <a:xfrm>
            <a:off x="6537960" y="3621024"/>
            <a:ext cx="5394960" cy="502920"/>
          </a:xfrm>
          <a:prstGeom prst="rect">
            <a:avLst/>
          </a:prstGeom>
          <a:solidFill>
            <a:srgbClr val="1A2540"/>
          </a:solidFill>
          <a:ln w="3810">
            <a:solidFill>
              <a:srgbClr val="E2E8F0"/>
            </a:solidFill>
            <a:prstDash val="solid"/>
          </a:ln>
        </p:spPr>
      </p:sp>
      <p:sp>
        <p:nvSpPr>
          <p:cNvPr id="26" name="Text 24"/>
          <p:cNvSpPr/>
          <p:nvPr/>
        </p:nvSpPr>
        <p:spPr>
          <a:xfrm>
            <a:off x="6638544" y="3749040"/>
            <a:ext cx="2194560" cy="256032"/>
          </a:xfrm>
          <a:prstGeom prst="rect">
            <a:avLst/>
          </a:prstGeom>
          <a:noFill/>
          <a:ln/>
        </p:spPr>
        <p:txBody>
          <a:bodyPr wrap="square" lIns="0" tIns="0" rIns="0" bIns="0" rtlCol="0" anchor="ctr"/>
          <a:lstStyle/>
          <a:p>
            <a:pPr indent="0" marL="0">
              <a:buNone/>
            </a:pPr>
            <a:r>
              <a:rPr lang="en-US" sz="1000" b="1" dirty="0">
                <a:solidFill>
                  <a:srgbClr val="0891B2"/>
                </a:solidFill>
                <a:latin typeface="Courier New" pitchFamily="34" charset="0"/>
                <a:ea typeface="Courier New" pitchFamily="34" charset="-122"/>
                <a:cs typeface="Courier New" pitchFamily="34" charset="-120"/>
              </a:rPr>
              <a:t>.startswith()/endswith()</a:t>
            </a:r>
            <a:endParaRPr lang="en-US" sz="1000" dirty="0"/>
          </a:p>
        </p:txBody>
      </p:sp>
      <p:sp>
        <p:nvSpPr>
          <p:cNvPr id="27" name="Text 25"/>
          <p:cNvSpPr/>
          <p:nvPr/>
        </p:nvSpPr>
        <p:spPr>
          <a:xfrm>
            <a:off x="8869680" y="3749040"/>
            <a:ext cx="301752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Check prefix/suffix (file types, IDs)</a:t>
            </a:r>
            <a:endParaRPr lang="en-US" sz="950" dirty="0"/>
          </a:p>
        </p:txBody>
      </p:sp>
      <p:sp>
        <p:nvSpPr>
          <p:cNvPr id="28" name="Shape 26"/>
          <p:cNvSpPr/>
          <p:nvPr/>
        </p:nvSpPr>
        <p:spPr>
          <a:xfrm>
            <a:off x="6537960" y="4160520"/>
            <a:ext cx="5394960" cy="502920"/>
          </a:xfrm>
          <a:prstGeom prst="rect">
            <a:avLst/>
          </a:prstGeom>
          <a:solidFill>
            <a:srgbClr val="111827"/>
          </a:solidFill>
          <a:ln w="3810">
            <a:solidFill>
              <a:srgbClr val="E2E8F0"/>
            </a:solidFill>
            <a:prstDash val="solid"/>
          </a:ln>
        </p:spPr>
      </p:sp>
      <p:sp>
        <p:nvSpPr>
          <p:cNvPr id="29" name="Text 27"/>
          <p:cNvSpPr/>
          <p:nvPr/>
        </p:nvSpPr>
        <p:spPr>
          <a:xfrm>
            <a:off x="6638544" y="4288536"/>
            <a:ext cx="2194560" cy="256032"/>
          </a:xfrm>
          <a:prstGeom prst="rect">
            <a:avLst/>
          </a:prstGeom>
          <a:noFill/>
          <a:ln/>
        </p:spPr>
        <p:txBody>
          <a:bodyPr wrap="square" lIns="0" tIns="0" rIns="0" bIns="0" rtlCol="0" anchor="ctr"/>
          <a:lstStyle/>
          <a:p>
            <a:pPr indent="0" marL="0">
              <a:buNone/>
            </a:pPr>
            <a:r>
              <a:rPr lang="en-US" sz="1000" b="1" dirty="0">
                <a:solidFill>
                  <a:srgbClr val="0891B2"/>
                </a:solidFill>
                <a:latin typeface="Courier New" pitchFamily="34" charset="0"/>
                <a:ea typeface="Courier New" pitchFamily="34" charset="-122"/>
                <a:cs typeface="Courier New" pitchFamily="34" charset="-120"/>
              </a:rPr>
              <a:t>.find(sub)</a:t>
            </a:r>
            <a:endParaRPr lang="en-US" sz="1000" dirty="0"/>
          </a:p>
        </p:txBody>
      </p:sp>
      <p:sp>
        <p:nvSpPr>
          <p:cNvPr id="30" name="Text 28"/>
          <p:cNvSpPr/>
          <p:nvPr/>
        </p:nvSpPr>
        <p:spPr>
          <a:xfrm>
            <a:off x="8869680" y="4288536"/>
            <a:ext cx="301752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Returns index of substring, -1 if absent</a:t>
            </a:r>
            <a:endParaRPr lang="en-US" sz="950" dirty="0"/>
          </a:p>
        </p:txBody>
      </p:sp>
      <p:sp>
        <p:nvSpPr>
          <p:cNvPr id="31" name="Shape 29"/>
          <p:cNvSpPr/>
          <p:nvPr/>
        </p:nvSpPr>
        <p:spPr>
          <a:xfrm>
            <a:off x="6537960" y="4700016"/>
            <a:ext cx="5394960" cy="502920"/>
          </a:xfrm>
          <a:prstGeom prst="rect">
            <a:avLst/>
          </a:prstGeom>
          <a:solidFill>
            <a:srgbClr val="1A2540"/>
          </a:solidFill>
          <a:ln w="3810">
            <a:solidFill>
              <a:srgbClr val="E2E8F0"/>
            </a:solidFill>
            <a:prstDash val="solid"/>
          </a:ln>
        </p:spPr>
      </p:sp>
      <p:sp>
        <p:nvSpPr>
          <p:cNvPr id="32" name="Text 30"/>
          <p:cNvSpPr/>
          <p:nvPr/>
        </p:nvSpPr>
        <p:spPr>
          <a:xfrm>
            <a:off x="6638544" y="4828032"/>
            <a:ext cx="2194560" cy="256032"/>
          </a:xfrm>
          <a:prstGeom prst="rect">
            <a:avLst/>
          </a:prstGeom>
          <a:noFill/>
          <a:ln/>
        </p:spPr>
        <p:txBody>
          <a:bodyPr wrap="square" lIns="0" tIns="0" rIns="0" bIns="0" rtlCol="0" anchor="ctr"/>
          <a:lstStyle/>
          <a:p>
            <a:pPr indent="0" marL="0">
              <a:buNone/>
            </a:pPr>
            <a:r>
              <a:rPr lang="en-US" sz="1000" b="1" dirty="0">
                <a:solidFill>
                  <a:srgbClr val="0891B2"/>
                </a:solidFill>
                <a:latin typeface="Courier New" pitchFamily="34" charset="0"/>
                <a:ea typeface="Courier New" pitchFamily="34" charset="-122"/>
                <a:cs typeface="Courier New" pitchFamily="34" charset="-120"/>
              </a:rPr>
              <a:t>len(string)</a:t>
            </a:r>
            <a:endParaRPr lang="en-US" sz="1000" dirty="0"/>
          </a:p>
        </p:txBody>
      </p:sp>
      <p:sp>
        <p:nvSpPr>
          <p:cNvPr id="33" name="Text 31"/>
          <p:cNvSpPr/>
          <p:nvPr/>
        </p:nvSpPr>
        <p:spPr>
          <a:xfrm>
            <a:off x="8869680" y="4828032"/>
            <a:ext cx="301752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Count characters — validate field length</a:t>
            </a:r>
            <a:endParaRPr lang="en-US" sz="950" dirty="0"/>
          </a:p>
        </p:txBody>
      </p:sp>
      <p:sp>
        <p:nvSpPr>
          <p:cNvPr id="34" name="Shape 32"/>
          <p:cNvSpPr/>
          <p:nvPr/>
        </p:nvSpPr>
        <p:spPr>
          <a:xfrm>
            <a:off x="6537960" y="5239512"/>
            <a:ext cx="5394960" cy="502920"/>
          </a:xfrm>
          <a:prstGeom prst="rect">
            <a:avLst/>
          </a:prstGeom>
          <a:solidFill>
            <a:srgbClr val="111827"/>
          </a:solidFill>
          <a:ln w="3810">
            <a:solidFill>
              <a:srgbClr val="E2E8F0"/>
            </a:solidFill>
            <a:prstDash val="solid"/>
          </a:ln>
        </p:spPr>
      </p:sp>
      <p:sp>
        <p:nvSpPr>
          <p:cNvPr id="35" name="Text 33"/>
          <p:cNvSpPr/>
          <p:nvPr/>
        </p:nvSpPr>
        <p:spPr>
          <a:xfrm>
            <a:off x="6638544" y="5367528"/>
            <a:ext cx="2194560" cy="256032"/>
          </a:xfrm>
          <a:prstGeom prst="rect">
            <a:avLst/>
          </a:prstGeom>
          <a:noFill/>
          <a:ln/>
        </p:spPr>
        <p:txBody>
          <a:bodyPr wrap="square" lIns="0" tIns="0" rIns="0" bIns="0" rtlCol="0" anchor="ctr"/>
          <a:lstStyle/>
          <a:p>
            <a:pPr indent="0" marL="0">
              <a:buNone/>
            </a:pPr>
            <a:r>
              <a:rPr lang="en-US" sz="1000" b="1" dirty="0">
                <a:solidFill>
                  <a:srgbClr val="0891B2"/>
                </a:solidFill>
                <a:latin typeface="Courier New" pitchFamily="34" charset="0"/>
                <a:ea typeface="Courier New" pitchFamily="34" charset="-122"/>
                <a:cs typeface="Courier New" pitchFamily="34" charset="-120"/>
              </a:rPr>
              <a:t>f'{var:.2f}'</a:t>
            </a:r>
            <a:endParaRPr lang="en-US" sz="1000" dirty="0"/>
          </a:p>
        </p:txBody>
      </p:sp>
      <p:sp>
        <p:nvSpPr>
          <p:cNvPr id="36" name="Text 34"/>
          <p:cNvSpPr/>
          <p:nvPr/>
        </p:nvSpPr>
        <p:spPr>
          <a:xfrm>
            <a:off x="8869680" y="5367528"/>
            <a:ext cx="301752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Format float in f-string to 2 decimal places</a:t>
            </a:r>
            <a:endParaRPr lang="en-US" sz="950" dirty="0"/>
          </a:p>
        </p:txBody>
      </p:sp>
      <p:sp>
        <p:nvSpPr>
          <p:cNvPr id="37" name="Shape 35"/>
          <p:cNvSpPr/>
          <p:nvPr/>
        </p:nvSpPr>
        <p:spPr>
          <a:xfrm>
            <a:off x="6537960" y="5779008"/>
            <a:ext cx="5394960" cy="502920"/>
          </a:xfrm>
          <a:prstGeom prst="rect">
            <a:avLst/>
          </a:prstGeom>
          <a:solidFill>
            <a:srgbClr val="1A2540"/>
          </a:solidFill>
          <a:ln w="3810">
            <a:solidFill>
              <a:srgbClr val="E2E8F0"/>
            </a:solidFill>
            <a:prstDash val="solid"/>
          </a:ln>
        </p:spPr>
      </p:sp>
      <p:sp>
        <p:nvSpPr>
          <p:cNvPr id="38" name="Text 36"/>
          <p:cNvSpPr/>
          <p:nvPr/>
        </p:nvSpPr>
        <p:spPr>
          <a:xfrm>
            <a:off x="6638544" y="5907024"/>
            <a:ext cx="2194560" cy="256032"/>
          </a:xfrm>
          <a:prstGeom prst="rect">
            <a:avLst/>
          </a:prstGeom>
          <a:noFill/>
          <a:ln/>
        </p:spPr>
        <p:txBody>
          <a:bodyPr wrap="square" lIns="0" tIns="0" rIns="0" bIns="0" rtlCol="0" anchor="ctr"/>
          <a:lstStyle/>
          <a:p>
            <a:pPr indent="0" marL="0">
              <a:buNone/>
            </a:pPr>
            <a:r>
              <a:rPr lang="en-US" sz="1000" b="1" dirty="0">
                <a:solidFill>
                  <a:srgbClr val="0891B2"/>
                </a:solidFill>
                <a:latin typeface="Courier New" pitchFamily="34" charset="0"/>
                <a:ea typeface="Courier New" pitchFamily="34" charset="-122"/>
                <a:cs typeface="Courier New" pitchFamily="34" charset="-120"/>
              </a:rPr>
              <a:t>','.join(lst)</a:t>
            </a:r>
            <a:endParaRPr lang="en-US" sz="1000" dirty="0"/>
          </a:p>
        </p:txBody>
      </p:sp>
      <p:sp>
        <p:nvSpPr>
          <p:cNvPr id="39" name="Text 37"/>
          <p:cNvSpPr/>
          <p:nvPr/>
        </p:nvSpPr>
        <p:spPr>
          <a:xfrm>
            <a:off x="8869680" y="5907024"/>
            <a:ext cx="301752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Join list back into comma-separated string</a:t>
            </a:r>
            <a:endParaRPr lang="en-US" sz="950" dirty="0"/>
          </a:p>
        </p:txBody>
      </p:sp>
      <p:sp>
        <p:nvSpPr>
          <p:cNvPr id="40" name="Shape 38"/>
          <p:cNvSpPr/>
          <p:nvPr/>
        </p:nvSpPr>
        <p:spPr>
          <a:xfrm>
            <a:off x="6537960" y="6318504"/>
            <a:ext cx="5394960" cy="502920"/>
          </a:xfrm>
          <a:prstGeom prst="rect">
            <a:avLst/>
          </a:prstGeom>
          <a:solidFill>
            <a:srgbClr val="111827"/>
          </a:solidFill>
          <a:ln w="3810">
            <a:solidFill>
              <a:srgbClr val="E2E8F0"/>
            </a:solidFill>
            <a:prstDash val="solid"/>
          </a:ln>
        </p:spPr>
      </p:sp>
      <p:sp>
        <p:nvSpPr>
          <p:cNvPr id="41" name="Text 39"/>
          <p:cNvSpPr/>
          <p:nvPr/>
        </p:nvSpPr>
        <p:spPr>
          <a:xfrm>
            <a:off x="6638544" y="6446520"/>
            <a:ext cx="2194560" cy="256032"/>
          </a:xfrm>
          <a:prstGeom prst="rect">
            <a:avLst/>
          </a:prstGeom>
          <a:noFill/>
          <a:ln/>
        </p:spPr>
        <p:txBody>
          <a:bodyPr wrap="square" lIns="0" tIns="0" rIns="0" bIns="0" rtlCol="0" anchor="ctr"/>
          <a:lstStyle/>
          <a:p>
            <a:pPr indent="0" marL="0">
              <a:buNone/>
            </a:pPr>
            <a:r>
              <a:rPr lang="en-US" sz="1000" b="1" dirty="0">
                <a:solidFill>
                  <a:srgbClr val="0891B2"/>
                </a:solidFill>
                <a:latin typeface="Courier New" pitchFamily="34" charset="0"/>
                <a:ea typeface="Courier New" pitchFamily="34" charset="-122"/>
                <a:cs typeface="Courier New" pitchFamily="34" charset="-120"/>
              </a:rPr>
              <a:t>.zfill(n)</a:t>
            </a:r>
            <a:endParaRPr lang="en-US" sz="1000" dirty="0"/>
          </a:p>
        </p:txBody>
      </p:sp>
      <p:sp>
        <p:nvSpPr>
          <p:cNvPr id="42" name="Text 40"/>
          <p:cNvSpPr/>
          <p:nvPr/>
        </p:nvSpPr>
        <p:spPr>
          <a:xfrm>
            <a:off x="8869680" y="6446520"/>
            <a:ext cx="301752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Pad with zeros: '7'.zfill(5) = '00007'</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E3C"/>
          </a:solidFill>
          <a:ln w="12700">
            <a:solidFill>
              <a:srgbClr val="0F1E3C"/>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bool AND None — TRUE/FALSE AND ABSENT VALUES</a:t>
            </a:r>
            <a:endParaRPr lang="en-US" sz="2600" dirty="0"/>
          </a:p>
        </p:txBody>
      </p:sp>
      <p:sp>
        <p:nvSpPr>
          <p:cNvPr id="4" name="Shape 2"/>
          <p:cNvSpPr/>
          <p:nvPr/>
        </p:nvSpPr>
        <p:spPr>
          <a:xfrm>
            <a:off x="411480" y="1024128"/>
            <a:ext cx="5943600" cy="4846320"/>
          </a:xfrm>
          <a:prstGeom prst="roundRect">
            <a:avLst>
              <a:gd name="adj" fmla="val 1887"/>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1024128"/>
            <a:ext cx="5943600" cy="347472"/>
          </a:xfrm>
          <a:prstGeom prst="roundRect">
            <a:avLst>
              <a:gd name="adj" fmla="val 26316"/>
            </a:avLst>
          </a:prstGeom>
          <a:solidFill>
            <a:srgbClr val="1A2540"/>
          </a:solidFill>
          <a:ln w="12700">
            <a:solidFill>
              <a:srgbClr val="1A2540"/>
            </a:solidFill>
            <a:prstDash val="solid"/>
          </a:ln>
        </p:spPr>
      </p:sp>
      <p:sp>
        <p:nvSpPr>
          <p:cNvPr id="6" name="Shape 4"/>
          <p:cNvSpPr/>
          <p:nvPr/>
        </p:nvSpPr>
        <p:spPr>
          <a:xfrm>
            <a:off x="411480" y="1225296"/>
            <a:ext cx="5943600" cy="146304"/>
          </a:xfrm>
          <a:prstGeom prst="rect">
            <a:avLst/>
          </a:prstGeom>
          <a:solidFill>
            <a:srgbClr val="1A2540"/>
          </a:solidFill>
          <a:ln w="12700">
            <a:solidFill>
              <a:srgbClr val="1A2540"/>
            </a:solidFill>
            <a:prstDash val="solid"/>
          </a:ln>
        </p:spPr>
      </p:sp>
      <p:sp>
        <p:nvSpPr>
          <p:cNvPr id="7" name="Shape 5"/>
          <p:cNvSpPr/>
          <p:nvPr/>
        </p:nvSpPr>
        <p:spPr>
          <a:xfrm>
            <a:off x="539496" y="1115568"/>
            <a:ext cx="164592" cy="164592"/>
          </a:xfrm>
          <a:prstGeom prst="ellipse">
            <a:avLst/>
          </a:prstGeom>
          <a:solidFill>
            <a:srgbClr val="E11D48"/>
          </a:solidFill>
          <a:ln w="12700">
            <a:solidFill>
              <a:srgbClr val="E11D48"/>
            </a:solidFill>
            <a:prstDash val="solid"/>
          </a:ln>
        </p:spPr>
      </p:sp>
      <p:sp>
        <p:nvSpPr>
          <p:cNvPr id="8" name="Shape 6"/>
          <p:cNvSpPr/>
          <p:nvPr/>
        </p:nvSpPr>
        <p:spPr>
          <a:xfrm>
            <a:off x="740664" y="1115568"/>
            <a:ext cx="164592" cy="164592"/>
          </a:xfrm>
          <a:prstGeom prst="ellipse">
            <a:avLst/>
          </a:prstGeom>
          <a:solidFill>
            <a:srgbClr val="D97706"/>
          </a:solidFill>
          <a:ln w="12700">
            <a:solidFill>
              <a:srgbClr val="D97706"/>
            </a:solidFill>
            <a:prstDash val="solid"/>
          </a:ln>
        </p:spPr>
      </p:sp>
      <p:sp>
        <p:nvSpPr>
          <p:cNvPr id="9" name="Shape 7"/>
          <p:cNvSpPr/>
          <p:nvPr/>
        </p:nvSpPr>
        <p:spPr>
          <a:xfrm>
            <a:off x="941832" y="1115568"/>
            <a:ext cx="164592" cy="164592"/>
          </a:xfrm>
          <a:prstGeom prst="ellipse">
            <a:avLst/>
          </a:prstGeom>
          <a:solidFill>
            <a:srgbClr val="16A34A"/>
          </a:solidFill>
          <a:ln w="12700">
            <a:solidFill>
              <a:srgbClr val="16A34A"/>
            </a:solidFill>
            <a:prstDash val="solid"/>
          </a:ln>
        </p:spPr>
      </p:sp>
      <p:sp>
        <p:nvSpPr>
          <p:cNvPr id="10" name="Text 8"/>
          <p:cNvSpPr/>
          <p:nvPr/>
        </p:nvSpPr>
        <p:spPr>
          <a:xfrm>
            <a:off x="1143000" y="1097280"/>
            <a:ext cx="50292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booleans.py</a:t>
            </a:r>
            <a:endParaRPr lang="en-US" sz="900" dirty="0"/>
          </a:p>
        </p:txBody>
      </p:sp>
      <p:sp>
        <p:nvSpPr>
          <p:cNvPr id="11" name="Text 9"/>
          <p:cNvSpPr/>
          <p:nvPr/>
        </p:nvSpPr>
        <p:spPr>
          <a:xfrm>
            <a:off x="557784" y="1426464"/>
            <a:ext cx="5669280" cy="4334256"/>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Boolean — only True or False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is_active     = True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is_overdue    = False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has_paid      = True</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Booleans from comparisons</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500 &gt; 300          # True</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revenue == target   # True or False</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stock == 0         # True when out of stock</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Truthy and Falsy (critical!)</a:t>
            </a:r>
            <a:endParaRPr lang="en-US" sz="1050" dirty="0"/>
          </a:p>
          <a:p>
            <a:pPr indent="0" marL="0">
              <a:buNone/>
            </a:pPr>
            <a:r>
              <a:rPr lang="en-US" sz="1050" dirty="0">
                <a:solidFill>
                  <a:srgbClr val="E11D48"/>
                </a:solidFill>
                <a:latin typeface="Courier New" pitchFamily="34" charset="0"/>
                <a:ea typeface="Courier New" pitchFamily="34" charset="-122"/>
                <a:cs typeface="Courier New" pitchFamily="34" charset="-120"/>
              </a:rPr>
              <a:t>bool(0)            # False  (zero is falsy)</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bool(100)          # True</a:t>
            </a:r>
            <a:endParaRPr lang="en-US" sz="1050" dirty="0"/>
          </a:p>
          <a:p>
            <a:pPr indent="0" marL="0">
              <a:buNone/>
            </a:pPr>
            <a:r>
              <a:rPr lang="en-US" sz="1050" dirty="0">
                <a:solidFill>
                  <a:srgbClr val="E11D48"/>
                </a:solidFill>
                <a:latin typeface="Courier New" pitchFamily="34" charset="0"/>
                <a:ea typeface="Courier New" pitchFamily="34" charset="-122"/>
                <a:cs typeface="Courier New" pitchFamily="34" charset="-120"/>
              </a:rPr>
              <a:t>bool("")           # False  (empty string)</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bool("pending")    # True</a:t>
            </a:r>
            <a:endParaRPr lang="en-US" sz="1050" dirty="0"/>
          </a:p>
          <a:p>
            <a:pPr indent="0" marL="0">
              <a:buNone/>
            </a:pPr>
            <a:r>
              <a:rPr lang="en-US" sz="1050" dirty="0">
                <a:solidFill>
                  <a:srgbClr val="E11D48"/>
                </a:solidFill>
                <a:latin typeface="Courier New" pitchFamily="34" charset="0"/>
                <a:ea typeface="Courier New" pitchFamily="34" charset="-122"/>
                <a:cs typeface="Courier New" pitchFamily="34" charset="-120"/>
              </a:rPr>
              <a:t>bool([])           # False  (empty list)</a:t>
            </a:r>
            <a:endParaRPr lang="en-US" sz="1050" dirty="0"/>
          </a:p>
          <a:p>
            <a:pPr indent="0" marL="0">
              <a:buNone/>
            </a:pPr>
            <a:r>
              <a:rPr lang="en-US" sz="1050" dirty="0">
                <a:solidFill>
                  <a:srgbClr val="E11D48"/>
                </a:solidFill>
                <a:latin typeface="Courier New" pitchFamily="34" charset="0"/>
                <a:ea typeface="Courier New" pitchFamily="34" charset="-122"/>
                <a:cs typeface="Courier New" pitchFamily="34" charset="-120"/>
              </a:rPr>
              <a:t>bool(None)         # False</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None — represents no value / missing</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approval_date = None   # not approved yet</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if approval_date is None: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print("Pending approval")</a:t>
            </a:r>
            <a:endParaRPr lang="en-US" sz="1050" dirty="0"/>
          </a:p>
        </p:txBody>
      </p:sp>
      <p:sp>
        <p:nvSpPr>
          <p:cNvPr id="12" name="Shape 10"/>
          <p:cNvSpPr/>
          <p:nvPr/>
        </p:nvSpPr>
        <p:spPr>
          <a:xfrm>
            <a:off x="6537960" y="1024128"/>
            <a:ext cx="2670048" cy="5669280"/>
          </a:xfrm>
          <a:prstGeom prst="roundRect">
            <a:avLst>
              <a:gd name="adj" fmla="val 3425"/>
            </a:avLst>
          </a:prstGeom>
          <a:solidFill>
            <a:srgbClr val="FFFFFF"/>
          </a:solidFill>
          <a:ln w="17780">
            <a:solidFill>
              <a:srgbClr val="E11D48"/>
            </a:solidFill>
            <a:prstDash val="solid"/>
          </a:ln>
          <a:effectLst>
            <a:outerShdw sx="100000" sy="100000" kx="0" ky="0" algn="bl" rotWithShape="0" blurRad="63500" dist="25400" dir="2700000">
              <a:srgbClr val="000000">
                <a:alpha val="12000"/>
              </a:srgbClr>
            </a:outerShdw>
          </a:effectLst>
        </p:spPr>
      </p:sp>
      <p:sp>
        <p:nvSpPr>
          <p:cNvPr id="13" name="Shape 11"/>
          <p:cNvSpPr/>
          <p:nvPr/>
        </p:nvSpPr>
        <p:spPr>
          <a:xfrm>
            <a:off x="6537960" y="1024128"/>
            <a:ext cx="2670048" cy="475488"/>
          </a:xfrm>
          <a:prstGeom prst="roundRect">
            <a:avLst>
              <a:gd name="adj" fmla="val 19231"/>
            </a:avLst>
          </a:prstGeom>
          <a:solidFill>
            <a:srgbClr val="E11D48"/>
          </a:solidFill>
          <a:ln w="12700">
            <a:solidFill>
              <a:srgbClr val="E11D48"/>
            </a:solidFill>
            <a:prstDash val="solid"/>
          </a:ln>
        </p:spPr>
      </p:sp>
      <p:sp>
        <p:nvSpPr>
          <p:cNvPr id="14" name="Shape 12"/>
          <p:cNvSpPr/>
          <p:nvPr/>
        </p:nvSpPr>
        <p:spPr>
          <a:xfrm>
            <a:off x="6537960" y="1298448"/>
            <a:ext cx="2670048" cy="201168"/>
          </a:xfrm>
          <a:prstGeom prst="rect">
            <a:avLst/>
          </a:prstGeom>
          <a:solidFill>
            <a:srgbClr val="E11D48"/>
          </a:solidFill>
          <a:ln w="12700">
            <a:solidFill>
              <a:srgbClr val="E11D48"/>
            </a:solidFill>
            <a:prstDash val="solid"/>
          </a:ln>
        </p:spPr>
      </p:sp>
      <p:sp>
        <p:nvSpPr>
          <p:cNvPr id="15" name="Text 13"/>
          <p:cNvSpPr/>
          <p:nvPr/>
        </p:nvSpPr>
        <p:spPr>
          <a:xfrm>
            <a:off x="6647688" y="1078992"/>
            <a:ext cx="2450592" cy="347472"/>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FALSY — evaluates to False</a:t>
            </a:r>
            <a:endParaRPr lang="en-US" sz="1000" dirty="0"/>
          </a:p>
        </p:txBody>
      </p:sp>
      <p:sp>
        <p:nvSpPr>
          <p:cNvPr id="16" name="Shape 14"/>
          <p:cNvSpPr/>
          <p:nvPr/>
        </p:nvSpPr>
        <p:spPr>
          <a:xfrm>
            <a:off x="6665976" y="1709928"/>
            <a:ext cx="182880" cy="182880"/>
          </a:xfrm>
          <a:prstGeom prst="ellipse">
            <a:avLst/>
          </a:prstGeom>
          <a:solidFill>
            <a:srgbClr val="E11D48"/>
          </a:solidFill>
          <a:ln w="12700">
            <a:solidFill>
              <a:srgbClr val="E11D48"/>
            </a:solidFill>
            <a:prstDash val="solid"/>
          </a:ln>
        </p:spPr>
      </p:sp>
      <p:sp>
        <p:nvSpPr>
          <p:cNvPr id="17" name="Text 15"/>
          <p:cNvSpPr/>
          <p:nvPr/>
        </p:nvSpPr>
        <p:spPr>
          <a:xfrm>
            <a:off x="6922008" y="1627632"/>
            <a:ext cx="2176272" cy="329184"/>
          </a:xfrm>
          <a:prstGeom prst="rect">
            <a:avLst/>
          </a:prstGeom>
          <a:noFill/>
          <a:ln/>
        </p:spPr>
        <p:txBody>
          <a:bodyPr wrap="square" lIns="0" tIns="0" rIns="0" bIns="0" rtlCol="0" anchor="ctr"/>
          <a:lstStyle/>
          <a:p>
            <a:pPr indent="0" marL="0">
              <a:buNone/>
            </a:pPr>
            <a:r>
              <a:rPr lang="en-US" sz="1050" dirty="0">
                <a:solidFill>
                  <a:srgbClr val="0D1526"/>
                </a:solidFill>
                <a:latin typeface="Courier New" pitchFamily="34" charset="0"/>
                <a:ea typeface="Courier New" pitchFamily="34" charset="-122"/>
                <a:cs typeface="Courier New" pitchFamily="34" charset="-120"/>
              </a:rPr>
              <a:t>0  (zero integer)</a:t>
            </a:r>
            <a:endParaRPr lang="en-US" sz="1050" dirty="0"/>
          </a:p>
        </p:txBody>
      </p:sp>
      <p:sp>
        <p:nvSpPr>
          <p:cNvPr id="18" name="Shape 16"/>
          <p:cNvSpPr/>
          <p:nvPr/>
        </p:nvSpPr>
        <p:spPr>
          <a:xfrm>
            <a:off x="6665976" y="2130552"/>
            <a:ext cx="182880" cy="182880"/>
          </a:xfrm>
          <a:prstGeom prst="ellipse">
            <a:avLst/>
          </a:prstGeom>
          <a:solidFill>
            <a:srgbClr val="E11D48"/>
          </a:solidFill>
          <a:ln w="12700">
            <a:solidFill>
              <a:srgbClr val="E11D48"/>
            </a:solidFill>
            <a:prstDash val="solid"/>
          </a:ln>
        </p:spPr>
      </p:sp>
      <p:sp>
        <p:nvSpPr>
          <p:cNvPr id="19" name="Text 17"/>
          <p:cNvSpPr/>
          <p:nvPr/>
        </p:nvSpPr>
        <p:spPr>
          <a:xfrm>
            <a:off x="6922008" y="2048256"/>
            <a:ext cx="2176272" cy="329184"/>
          </a:xfrm>
          <a:prstGeom prst="rect">
            <a:avLst/>
          </a:prstGeom>
          <a:noFill/>
          <a:ln/>
        </p:spPr>
        <p:txBody>
          <a:bodyPr wrap="square" lIns="0" tIns="0" rIns="0" bIns="0" rtlCol="0" anchor="ctr"/>
          <a:lstStyle/>
          <a:p>
            <a:pPr indent="0" marL="0">
              <a:buNone/>
            </a:pPr>
            <a:r>
              <a:rPr lang="en-US" sz="1050" dirty="0">
                <a:solidFill>
                  <a:srgbClr val="0D1526"/>
                </a:solidFill>
                <a:latin typeface="Courier New" pitchFamily="34" charset="0"/>
                <a:ea typeface="Courier New" pitchFamily="34" charset="-122"/>
                <a:cs typeface="Courier New" pitchFamily="34" charset="-120"/>
              </a:rPr>
              <a:t>0.0  (zero float)</a:t>
            </a:r>
            <a:endParaRPr lang="en-US" sz="1050" dirty="0"/>
          </a:p>
        </p:txBody>
      </p:sp>
      <p:sp>
        <p:nvSpPr>
          <p:cNvPr id="20" name="Shape 18"/>
          <p:cNvSpPr/>
          <p:nvPr/>
        </p:nvSpPr>
        <p:spPr>
          <a:xfrm>
            <a:off x="6665976" y="2551176"/>
            <a:ext cx="182880" cy="182880"/>
          </a:xfrm>
          <a:prstGeom prst="ellipse">
            <a:avLst/>
          </a:prstGeom>
          <a:solidFill>
            <a:srgbClr val="E11D48"/>
          </a:solidFill>
          <a:ln w="12700">
            <a:solidFill>
              <a:srgbClr val="E11D48"/>
            </a:solidFill>
            <a:prstDash val="solid"/>
          </a:ln>
        </p:spPr>
      </p:sp>
      <p:sp>
        <p:nvSpPr>
          <p:cNvPr id="21" name="Text 19"/>
          <p:cNvSpPr/>
          <p:nvPr/>
        </p:nvSpPr>
        <p:spPr>
          <a:xfrm>
            <a:off x="6922008" y="2468880"/>
            <a:ext cx="2176272" cy="329184"/>
          </a:xfrm>
          <a:prstGeom prst="rect">
            <a:avLst/>
          </a:prstGeom>
          <a:noFill/>
          <a:ln/>
        </p:spPr>
        <p:txBody>
          <a:bodyPr wrap="square" lIns="0" tIns="0" rIns="0" bIns="0" rtlCol="0" anchor="ctr"/>
          <a:lstStyle/>
          <a:p>
            <a:pPr indent="0" marL="0">
              <a:buNone/>
            </a:pPr>
            <a:r>
              <a:rPr lang="en-US" sz="1050" dirty="0">
                <a:solidFill>
                  <a:srgbClr val="0D1526"/>
                </a:solidFill>
                <a:latin typeface="Courier New" pitchFamily="34" charset="0"/>
                <a:ea typeface="Courier New" pitchFamily="34" charset="-122"/>
                <a:cs typeface="Courier New" pitchFamily="34" charset="-120"/>
              </a:rPr>
              <a:t>""  (empty string)</a:t>
            </a:r>
            <a:endParaRPr lang="en-US" sz="1050" dirty="0"/>
          </a:p>
        </p:txBody>
      </p:sp>
      <p:sp>
        <p:nvSpPr>
          <p:cNvPr id="22" name="Shape 20"/>
          <p:cNvSpPr/>
          <p:nvPr/>
        </p:nvSpPr>
        <p:spPr>
          <a:xfrm>
            <a:off x="6665976" y="2971800"/>
            <a:ext cx="182880" cy="182880"/>
          </a:xfrm>
          <a:prstGeom prst="ellipse">
            <a:avLst/>
          </a:prstGeom>
          <a:solidFill>
            <a:srgbClr val="E11D48"/>
          </a:solidFill>
          <a:ln w="12700">
            <a:solidFill>
              <a:srgbClr val="E11D48"/>
            </a:solidFill>
            <a:prstDash val="solid"/>
          </a:ln>
        </p:spPr>
      </p:sp>
      <p:sp>
        <p:nvSpPr>
          <p:cNvPr id="23" name="Text 21"/>
          <p:cNvSpPr/>
          <p:nvPr/>
        </p:nvSpPr>
        <p:spPr>
          <a:xfrm>
            <a:off x="6922008" y="2889504"/>
            <a:ext cx="2176272" cy="329184"/>
          </a:xfrm>
          <a:prstGeom prst="rect">
            <a:avLst/>
          </a:prstGeom>
          <a:noFill/>
          <a:ln/>
        </p:spPr>
        <p:txBody>
          <a:bodyPr wrap="square" lIns="0" tIns="0" rIns="0" bIns="0" rtlCol="0" anchor="ctr"/>
          <a:lstStyle/>
          <a:p>
            <a:pPr indent="0" marL="0">
              <a:buNone/>
            </a:pPr>
            <a:r>
              <a:rPr lang="en-US" sz="1050" dirty="0">
                <a:solidFill>
                  <a:srgbClr val="0D1526"/>
                </a:solidFill>
                <a:latin typeface="Courier New" pitchFamily="34" charset="0"/>
                <a:ea typeface="Courier New" pitchFamily="34" charset="-122"/>
                <a:cs typeface="Courier New" pitchFamily="34" charset="-120"/>
              </a:rPr>
              <a:t>[]  (empty list)</a:t>
            </a:r>
            <a:endParaRPr lang="en-US" sz="1050" dirty="0"/>
          </a:p>
        </p:txBody>
      </p:sp>
      <p:sp>
        <p:nvSpPr>
          <p:cNvPr id="24" name="Shape 22"/>
          <p:cNvSpPr/>
          <p:nvPr/>
        </p:nvSpPr>
        <p:spPr>
          <a:xfrm>
            <a:off x="6665976" y="3392424"/>
            <a:ext cx="182880" cy="182880"/>
          </a:xfrm>
          <a:prstGeom prst="ellipse">
            <a:avLst/>
          </a:prstGeom>
          <a:solidFill>
            <a:srgbClr val="E11D48"/>
          </a:solidFill>
          <a:ln w="12700">
            <a:solidFill>
              <a:srgbClr val="E11D48"/>
            </a:solidFill>
            <a:prstDash val="solid"/>
          </a:ln>
        </p:spPr>
      </p:sp>
      <p:sp>
        <p:nvSpPr>
          <p:cNvPr id="25" name="Text 23"/>
          <p:cNvSpPr/>
          <p:nvPr/>
        </p:nvSpPr>
        <p:spPr>
          <a:xfrm>
            <a:off x="6922008" y="3310128"/>
            <a:ext cx="2176272" cy="329184"/>
          </a:xfrm>
          <a:prstGeom prst="rect">
            <a:avLst/>
          </a:prstGeom>
          <a:noFill/>
          <a:ln/>
        </p:spPr>
        <p:txBody>
          <a:bodyPr wrap="square" lIns="0" tIns="0" rIns="0" bIns="0" rtlCol="0" anchor="ctr"/>
          <a:lstStyle/>
          <a:p>
            <a:pPr indent="0" marL="0">
              <a:buNone/>
            </a:pPr>
            <a:r>
              <a:rPr lang="en-US" sz="1050" dirty="0">
                <a:solidFill>
                  <a:srgbClr val="0D1526"/>
                </a:solidFill>
                <a:latin typeface="Courier New" pitchFamily="34" charset="0"/>
                <a:ea typeface="Courier New" pitchFamily="34" charset="-122"/>
                <a:cs typeface="Courier New" pitchFamily="34" charset="-120"/>
              </a:rPr>
              <a:t>{}  (empty dict)</a:t>
            </a:r>
            <a:endParaRPr lang="en-US" sz="1050" dirty="0"/>
          </a:p>
        </p:txBody>
      </p:sp>
      <p:sp>
        <p:nvSpPr>
          <p:cNvPr id="26" name="Shape 24"/>
          <p:cNvSpPr/>
          <p:nvPr/>
        </p:nvSpPr>
        <p:spPr>
          <a:xfrm>
            <a:off x="6665976" y="3813048"/>
            <a:ext cx="182880" cy="182880"/>
          </a:xfrm>
          <a:prstGeom prst="ellipse">
            <a:avLst/>
          </a:prstGeom>
          <a:solidFill>
            <a:srgbClr val="E11D48"/>
          </a:solidFill>
          <a:ln w="12700">
            <a:solidFill>
              <a:srgbClr val="E11D48"/>
            </a:solidFill>
            <a:prstDash val="solid"/>
          </a:ln>
        </p:spPr>
      </p:sp>
      <p:sp>
        <p:nvSpPr>
          <p:cNvPr id="27" name="Text 25"/>
          <p:cNvSpPr/>
          <p:nvPr/>
        </p:nvSpPr>
        <p:spPr>
          <a:xfrm>
            <a:off x="6922008" y="3730752"/>
            <a:ext cx="2176272" cy="329184"/>
          </a:xfrm>
          <a:prstGeom prst="rect">
            <a:avLst/>
          </a:prstGeom>
          <a:noFill/>
          <a:ln/>
        </p:spPr>
        <p:txBody>
          <a:bodyPr wrap="square" lIns="0" tIns="0" rIns="0" bIns="0" rtlCol="0" anchor="ctr"/>
          <a:lstStyle/>
          <a:p>
            <a:pPr indent="0" marL="0">
              <a:buNone/>
            </a:pPr>
            <a:r>
              <a:rPr lang="en-US" sz="1050" dirty="0">
                <a:solidFill>
                  <a:srgbClr val="0D1526"/>
                </a:solidFill>
                <a:latin typeface="Courier New" pitchFamily="34" charset="0"/>
                <a:ea typeface="Courier New" pitchFamily="34" charset="-122"/>
                <a:cs typeface="Courier New" pitchFamily="34" charset="-120"/>
              </a:rPr>
              <a:t>()  (empty tuple)</a:t>
            </a:r>
            <a:endParaRPr lang="en-US" sz="1050" dirty="0"/>
          </a:p>
        </p:txBody>
      </p:sp>
      <p:sp>
        <p:nvSpPr>
          <p:cNvPr id="28" name="Shape 26"/>
          <p:cNvSpPr/>
          <p:nvPr/>
        </p:nvSpPr>
        <p:spPr>
          <a:xfrm>
            <a:off x="6665976" y="4233672"/>
            <a:ext cx="182880" cy="182880"/>
          </a:xfrm>
          <a:prstGeom prst="ellipse">
            <a:avLst/>
          </a:prstGeom>
          <a:solidFill>
            <a:srgbClr val="E11D48"/>
          </a:solidFill>
          <a:ln w="12700">
            <a:solidFill>
              <a:srgbClr val="E11D48"/>
            </a:solidFill>
            <a:prstDash val="solid"/>
          </a:ln>
        </p:spPr>
      </p:sp>
      <p:sp>
        <p:nvSpPr>
          <p:cNvPr id="29" name="Text 27"/>
          <p:cNvSpPr/>
          <p:nvPr/>
        </p:nvSpPr>
        <p:spPr>
          <a:xfrm>
            <a:off x="6922008" y="4151376"/>
            <a:ext cx="2176272" cy="329184"/>
          </a:xfrm>
          <a:prstGeom prst="rect">
            <a:avLst/>
          </a:prstGeom>
          <a:noFill/>
          <a:ln/>
        </p:spPr>
        <p:txBody>
          <a:bodyPr wrap="square" lIns="0" tIns="0" rIns="0" bIns="0" rtlCol="0" anchor="ctr"/>
          <a:lstStyle/>
          <a:p>
            <a:pPr indent="0" marL="0">
              <a:buNone/>
            </a:pPr>
            <a:r>
              <a:rPr lang="en-US" sz="1050" dirty="0">
                <a:solidFill>
                  <a:srgbClr val="0D1526"/>
                </a:solidFill>
                <a:latin typeface="Courier New" pitchFamily="34" charset="0"/>
                <a:ea typeface="Courier New" pitchFamily="34" charset="-122"/>
                <a:cs typeface="Courier New" pitchFamily="34" charset="-120"/>
              </a:rPr>
              <a:t>None</a:t>
            </a:r>
            <a:endParaRPr lang="en-US" sz="1050" dirty="0"/>
          </a:p>
        </p:txBody>
      </p:sp>
      <p:sp>
        <p:nvSpPr>
          <p:cNvPr id="30" name="Shape 28"/>
          <p:cNvSpPr/>
          <p:nvPr/>
        </p:nvSpPr>
        <p:spPr>
          <a:xfrm>
            <a:off x="6665976" y="4654296"/>
            <a:ext cx="182880" cy="182880"/>
          </a:xfrm>
          <a:prstGeom prst="ellipse">
            <a:avLst/>
          </a:prstGeom>
          <a:solidFill>
            <a:srgbClr val="E11D48"/>
          </a:solidFill>
          <a:ln w="12700">
            <a:solidFill>
              <a:srgbClr val="E11D48"/>
            </a:solidFill>
            <a:prstDash val="solid"/>
          </a:ln>
        </p:spPr>
      </p:sp>
      <p:sp>
        <p:nvSpPr>
          <p:cNvPr id="31" name="Text 29"/>
          <p:cNvSpPr/>
          <p:nvPr/>
        </p:nvSpPr>
        <p:spPr>
          <a:xfrm>
            <a:off x="6922008" y="4572000"/>
            <a:ext cx="2176272" cy="329184"/>
          </a:xfrm>
          <a:prstGeom prst="rect">
            <a:avLst/>
          </a:prstGeom>
          <a:noFill/>
          <a:ln/>
        </p:spPr>
        <p:txBody>
          <a:bodyPr wrap="square" lIns="0" tIns="0" rIns="0" bIns="0" rtlCol="0" anchor="ctr"/>
          <a:lstStyle/>
          <a:p>
            <a:pPr indent="0" marL="0">
              <a:buNone/>
            </a:pPr>
            <a:r>
              <a:rPr lang="en-US" sz="1050" dirty="0">
                <a:solidFill>
                  <a:srgbClr val="0D1526"/>
                </a:solidFill>
                <a:latin typeface="Courier New" pitchFamily="34" charset="0"/>
                <a:ea typeface="Courier New" pitchFamily="34" charset="-122"/>
                <a:cs typeface="Courier New" pitchFamily="34" charset="-120"/>
              </a:rPr>
              <a:t>False</a:t>
            </a:r>
            <a:endParaRPr lang="en-US" sz="1050" dirty="0"/>
          </a:p>
        </p:txBody>
      </p:sp>
      <p:sp>
        <p:nvSpPr>
          <p:cNvPr id="32" name="Shape 30"/>
          <p:cNvSpPr/>
          <p:nvPr/>
        </p:nvSpPr>
        <p:spPr>
          <a:xfrm>
            <a:off x="9372600" y="1024128"/>
            <a:ext cx="2670048" cy="5669280"/>
          </a:xfrm>
          <a:prstGeom prst="roundRect">
            <a:avLst>
              <a:gd name="adj" fmla="val 3425"/>
            </a:avLst>
          </a:prstGeom>
          <a:solidFill>
            <a:srgbClr val="FFFFFF"/>
          </a:solidFill>
          <a:ln w="17780">
            <a:solidFill>
              <a:srgbClr val="16A34A"/>
            </a:solidFill>
            <a:prstDash val="solid"/>
          </a:ln>
          <a:effectLst>
            <a:outerShdw sx="100000" sy="100000" kx="0" ky="0" algn="bl" rotWithShape="0" blurRad="63500" dist="25400" dir="2700000">
              <a:srgbClr val="000000">
                <a:alpha val="12000"/>
              </a:srgbClr>
            </a:outerShdw>
          </a:effectLst>
        </p:spPr>
      </p:sp>
      <p:sp>
        <p:nvSpPr>
          <p:cNvPr id="33" name="Shape 31"/>
          <p:cNvSpPr/>
          <p:nvPr/>
        </p:nvSpPr>
        <p:spPr>
          <a:xfrm>
            <a:off x="9372600" y="1024128"/>
            <a:ext cx="2670048" cy="475488"/>
          </a:xfrm>
          <a:prstGeom prst="roundRect">
            <a:avLst>
              <a:gd name="adj" fmla="val 19231"/>
            </a:avLst>
          </a:prstGeom>
          <a:solidFill>
            <a:srgbClr val="16A34A"/>
          </a:solidFill>
          <a:ln w="12700">
            <a:solidFill>
              <a:srgbClr val="16A34A"/>
            </a:solidFill>
            <a:prstDash val="solid"/>
          </a:ln>
        </p:spPr>
      </p:sp>
      <p:sp>
        <p:nvSpPr>
          <p:cNvPr id="34" name="Shape 32"/>
          <p:cNvSpPr/>
          <p:nvPr/>
        </p:nvSpPr>
        <p:spPr>
          <a:xfrm>
            <a:off x="9372600" y="1298448"/>
            <a:ext cx="2670048" cy="201168"/>
          </a:xfrm>
          <a:prstGeom prst="rect">
            <a:avLst/>
          </a:prstGeom>
          <a:solidFill>
            <a:srgbClr val="16A34A"/>
          </a:solidFill>
          <a:ln w="12700">
            <a:solidFill>
              <a:srgbClr val="16A34A"/>
            </a:solidFill>
            <a:prstDash val="solid"/>
          </a:ln>
        </p:spPr>
      </p:sp>
      <p:sp>
        <p:nvSpPr>
          <p:cNvPr id="35" name="Text 33"/>
          <p:cNvSpPr/>
          <p:nvPr/>
        </p:nvSpPr>
        <p:spPr>
          <a:xfrm>
            <a:off x="9482328" y="1078992"/>
            <a:ext cx="2450592" cy="347472"/>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TRUTHY — evaluates to True</a:t>
            </a:r>
            <a:endParaRPr lang="en-US" sz="1000" dirty="0"/>
          </a:p>
        </p:txBody>
      </p:sp>
      <p:sp>
        <p:nvSpPr>
          <p:cNvPr id="36" name="Shape 34"/>
          <p:cNvSpPr/>
          <p:nvPr/>
        </p:nvSpPr>
        <p:spPr>
          <a:xfrm>
            <a:off x="9500616" y="1709928"/>
            <a:ext cx="182880" cy="182880"/>
          </a:xfrm>
          <a:prstGeom prst="ellipse">
            <a:avLst/>
          </a:prstGeom>
          <a:solidFill>
            <a:srgbClr val="16A34A"/>
          </a:solidFill>
          <a:ln w="12700">
            <a:solidFill>
              <a:srgbClr val="16A34A"/>
            </a:solidFill>
            <a:prstDash val="solid"/>
          </a:ln>
        </p:spPr>
      </p:sp>
      <p:sp>
        <p:nvSpPr>
          <p:cNvPr id="37" name="Text 35"/>
          <p:cNvSpPr/>
          <p:nvPr/>
        </p:nvSpPr>
        <p:spPr>
          <a:xfrm>
            <a:off x="9756648" y="1627632"/>
            <a:ext cx="2176272" cy="329184"/>
          </a:xfrm>
          <a:prstGeom prst="rect">
            <a:avLst/>
          </a:prstGeom>
          <a:noFill/>
          <a:ln/>
        </p:spPr>
        <p:txBody>
          <a:bodyPr wrap="square" lIns="0" tIns="0" rIns="0" bIns="0" rtlCol="0" anchor="ctr"/>
          <a:lstStyle/>
          <a:p>
            <a:pPr indent="0" marL="0">
              <a:buNone/>
            </a:pPr>
            <a:r>
              <a:rPr lang="en-US" sz="1050" dirty="0">
                <a:solidFill>
                  <a:srgbClr val="0D1526"/>
                </a:solidFill>
                <a:latin typeface="Courier New" pitchFamily="34" charset="0"/>
                <a:ea typeface="Courier New" pitchFamily="34" charset="-122"/>
                <a:cs typeface="Courier New" pitchFamily="34" charset="-120"/>
              </a:rPr>
              <a:t>Any non-zero number</a:t>
            </a:r>
            <a:endParaRPr lang="en-US" sz="1050" dirty="0"/>
          </a:p>
        </p:txBody>
      </p:sp>
      <p:sp>
        <p:nvSpPr>
          <p:cNvPr id="38" name="Shape 36"/>
          <p:cNvSpPr/>
          <p:nvPr/>
        </p:nvSpPr>
        <p:spPr>
          <a:xfrm>
            <a:off x="9500616" y="2130552"/>
            <a:ext cx="182880" cy="182880"/>
          </a:xfrm>
          <a:prstGeom prst="ellipse">
            <a:avLst/>
          </a:prstGeom>
          <a:solidFill>
            <a:srgbClr val="16A34A"/>
          </a:solidFill>
          <a:ln w="12700">
            <a:solidFill>
              <a:srgbClr val="16A34A"/>
            </a:solidFill>
            <a:prstDash val="solid"/>
          </a:ln>
        </p:spPr>
      </p:sp>
      <p:sp>
        <p:nvSpPr>
          <p:cNvPr id="39" name="Text 37"/>
          <p:cNvSpPr/>
          <p:nvPr/>
        </p:nvSpPr>
        <p:spPr>
          <a:xfrm>
            <a:off x="9756648" y="2048256"/>
            <a:ext cx="2176272" cy="329184"/>
          </a:xfrm>
          <a:prstGeom prst="rect">
            <a:avLst/>
          </a:prstGeom>
          <a:noFill/>
          <a:ln/>
        </p:spPr>
        <p:txBody>
          <a:bodyPr wrap="square" lIns="0" tIns="0" rIns="0" bIns="0" rtlCol="0" anchor="ctr"/>
          <a:lstStyle/>
          <a:p>
            <a:pPr indent="0" marL="0">
              <a:buNone/>
            </a:pPr>
            <a:r>
              <a:rPr lang="en-US" sz="1050" dirty="0">
                <a:solidFill>
                  <a:srgbClr val="0D1526"/>
                </a:solidFill>
                <a:latin typeface="Courier New" pitchFamily="34" charset="0"/>
                <a:ea typeface="Courier New" pitchFamily="34" charset="-122"/>
                <a:cs typeface="Courier New" pitchFamily="34" charset="-120"/>
              </a:rPr>
              <a:t>Any non-empty string</a:t>
            </a:r>
            <a:endParaRPr lang="en-US" sz="1050" dirty="0"/>
          </a:p>
        </p:txBody>
      </p:sp>
      <p:sp>
        <p:nvSpPr>
          <p:cNvPr id="40" name="Shape 38"/>
          <p:cNvSpPr/>
          <p:nvPr/>
        </p:nvSpPr>
        <p:spPr>
          <a:xfrm>
            <a:off x="9500616" y="2551176"/>
            <a:ext cx="182880" cy="182880"/>
          </a:xfrm>
          <a:prstGeom prst="ellipse">
            <a:avLst/>
          </a:prstGeom>
          <a:solidFill>
            <a:srgbClr val="16A34A"/>
          </a:solidFill>
          <a:ln w="12700">
            <a:solidFill>
              <a:srgbClr val="16A34A"/>
            </a:solidFill>
            <a:prstDash val="solid"/>
          </a:ln>
        </p:spPr>
      </p:sp>
      <p:sp>
        <p:nvSpPr>
          <p:cNvPr id="41" name="Text 39"/>
          <p:cNvSpPr/>
          <p:nvPr/>
        </p:nvSpPr>
        <p:spPr>
          <a:xfrm>
            <a:off x="9756648" y="2468880"/>
            <a:ext cx="2176272" cy="329184"/>
          </a:xfrm>
          <a:prstGeom prst="rect">
            <a:avLst/>
          </a:prstGeom>
          <a:noFill/>
          <a:ln/>
        </p:spPr>
        <p:txBody>
          <a:bodyPr wrap="square" lIns="0" tIns="0" rIns="0" bIns="0" rtlCol="0" anchor="ctr"/>
          <a:lstStyle/>
          <a:p>
            <a:pPr indent="0" marL="0">
              <a:buNone/>
            </a:pPr>
            <a:r>
              <a:rPr lang="en-US" sz="1050" dirty="0">
                <a:solidFill>
                  <a:srgbClr val="0D1526"/>
                </a:solidFill>
                <a:latin typeface="Courier New" pitchFamily="34" charset="0"/>
                <a:ea typeface="Courier New" pitchFamily="34" charset="-122"/>
                <a:cs typeface="Courier New" pitchFamily="34" charset="-120"/>
              </a:rPr>
              <a:t>Non-empty list or dict</a:t>
            </a:r>
            <a:endParaRPr lang="en-US" sz="1050" dirty="0"/>
          </a:p>
        </p:txBody>
      </p:sp>
      <p:sp>
        <p:nvSpPr>
          <p:cNvPr id="42" name="Shape 40"/>
          <p:cNvSpPr/>
          <p:nvPr/>
        </p:nvSpPr>
        <p:spPr>
          <a:xfrm>
            <a:off x="9500616" y="2971800"/>
            <a:ext cx="182880" cy="182880"/>
          </a:xfrm>
          <a:prstGeom prst="ellipse">
            <a:avLst/>
          </a:prstGeom>
          <a:solidFill>
            <a:srgbClr val="16A34A"/>
          </a:solidFill>
          <a:ln w="12700">
            <a:solidFill>
              <a:srgbClr val="16A34A"/>
            </a:solidFill>
            <a:prstDash val="solid"/>
          </a:ln>
        </p:spPr>
      </p:sp>
      <p:sp>
        <p:nvSpPr>
          <p:cNvPr id="43" name="Text 41"/>
          <p:cNvSpPr/>
          <p:nvPr/>
        </p:nvSpPr>
        <p:spPr>
          <a:xfrm>
            <a:off x="9756648" y="2889504"/>
            <a:ext cx="2176272" cy="329184"/>
          </a:xfrm>
          <a:prstGeom prst="rect">
            <a:avLst/>
          </a:prstGeom>
          <a:noFill/>
          <a:ln/>
        </p:spPr>
        <p:txBody>
          <a:bodyPr wrap="square" lIns="0" tIns="0" rIns="0" bIns="0" rtlCol="0" anchor="ctr"/>
          <a:lstStyle/>
          <a:p>
            <a:pPr indent="0" marL="0">
              <a:buNone/>
            </a:pPr>
            <a:r>
              <a:rPr lang="en-US" sz="1050" dirty="0">
                <a:solidFill>
                  <a:srgbClr val="0D1526"/>
                </a:solidFill>
                <a:latin typeface="Courier New" pitchFamily="34" charset="0"/>
                <a:ea typeface="Courier New" pitchFamily="34" charset="-122"/>
                <a:cs typeface="Courier New" pitchFamily="34" charset="-120"/>
              </a:rPr>
              <a:t>Non-empty set or tuple</a:t>
            </a:r>
            <a:endParaRPr lang="en-US" sz="1050" dirty="0"/>
          </a:p>
        </p:txBody>
      </p:sp>
      <p:sp>
        <p:nvSpPr>
          <p:cNvPr id="44" name="Shape 42"/>
          <p:cNvSpPr/>
          <p:nvPr/>
        </p:nvSpPr>
        <p:spPr>
          <a:xfrm>
            <a:off x="9500616" y="3392424"/>
            <a:ext cx="182880" cy="182880"/>
          </a:xfrm>
          <a:prstGeom prst="ellipse">
            <a:avLst/>
          </a:prstGeom>
          <a:solidFill>
            <a:srgbClr val="16A34A"/>
          </a:solidFill>
          <a:ln w="12700">
            <a:solidFill>
              <a:srgbClr val="16A34A"/>
            </a:solidFill>
            <a:prstDash val="solid"/>
          </a:ln>
        </p:spPr>
      </p:sp>
      <p:sp>
        <p:nvSpPr>
          <p:cNvPr id="45" name="Text 43"/>
          <p:cNvSpPr/>
          <p:nvPr/>
        </p:nvSpPr>
        <p:spPr>
          <a:xfrm>
            <a:off x="9756648" y="3310128"/>
            <a:ext cx="2176272" cy="329184"/>
          </a:xfrm>
          <a:prstGeom prst="rect">
            <a:avLst/>
          </a:prstGeom>
          <a:noFill/>
          <a:ln/>
        </p:spPr>
        <p:txBody>
          <a:bodyPr wrap="square" lIns="0" tIns="0" rIns="0" bIns="0" rtlCol="0" anchor="ctr"/>
          <a:lstStyle/>
          <a:p>
            <a:pPr indent="0" marL="0">
              <a:buNone/>
            </a:pPr>
            <a:r>
              <a:rPr lang="en-US" sz="1050" dirty="0">
                <a:solidFill>
                  <a:srgbClr val="0D1526"/>
                </a:solidFill>
                <a:latin typeface="Courier New" pitchFamily="34" charset="0"/>
                <a:ea typeface="Courier New" pitchFamily="34" charset="-122"/>
                <a:cs typeface="Courier New" pitchFamily="34" charset="-120"/>
              </a:rPr>
              <a:t>True</a:t>
            </a:r>
            <a:endParaRPr lang="en-US" sz="1050" dirty="0"/>
          </a:p>
        </p:txBody>
      </p:sp>
      <p:sp>
        <p:nvSpPr>
          <p:cNvPr id="46" name="Shape 44"/>
          <p:cNvSpPr/>
          <p:nvPr/>
        </p:nvSpPr>
        <p:spPr>
          <a:xfrm>
            <a:off x="9500616" y="3813048"/>
            <a:ext cx="182880" cy="182880"/>
          </a:xfrm>
          <a:prstGeom prst="ellipse">
            <a:avLst/>
          </a:prstGeom>
          <a:solidFill>
            <a:srgbClr val="16A34A"/>
          </a:solidFill>
          <a:ln w="12700">
            <a:solidFill>
              <a:srgbClr val="16A34A"/>
            </a:solidFill>
            <a:prstDash val="solid"/>
          </a:ln>
        </p:spPr>
      </p:sp>
      <p:sp>
        <p:nvSpPr>
          <p:cNvPr id="47" name="Text 45"/>
          <p:cNvSpPr/>
          <p:nvPr/>
        </p:nvSpPr>
        <p:spPr>
          <a:xfrm>
            <a:off x="9756648" y="3730752"/>
            <a:ext cx="2176272" cy="329184"/>
          </a:xfrm>
          <a:prstGeom prst="rect">
            <a:avLst/>
          </a:prstGeom>
          <a:noFill/>
          <a:ln/>
        </p:spPr>
        <p:txBody>
          <a:bodyPr wrap="square" lIns="0" tIns="0" rIns="0" bIns="0" rtlCol="0" anchor="ctr"/>
          <a:lstStyle/>
          <a:p>
            <a:pPr indent="0" marL="0">
              <a:buNone/>
            </a:pPr>
            <a:r>
              <a:rPr lang="en-US" sz="1050" dirty="0">
                <a:solidFill>
                  <a:srgbClr val="0D1526"/>
                </a:solidFill>
                <a:latin typeface="Courier New" pitchFamily="34" charset="0"/>
                <a:ea typeface="Courier New" pitchFamily="34" charset="-122"/>
                <a:cs typeface="Courier New" pitchFamily="34" charset="-120"/>
              </a:rPr>
              <a:t>Any object by default</a:t>
            </a:r>
            <a:endParaRPr lang="en-US" sz="1050" dirty="0"/>
          </a:p>
        </p:txBody>
      </p:sp>
      <p:sp>
        <p:nvSpPr>
          <p:cNvPr id="48" name="Shape 46"/>
          <p:cNvSpPr/>
          <p:nvPr/>
        </p:nvSpPr>
        <p:spPr>
          <a:xfrm>
            <a:off x="6537960" y="5961888"/>
            <a:ext cx="5394960" cy="731520"/>
          </a:xfrm>
          <a:prstGeom prst="roundRect">
            <a:avLst>
              <a:gd name="adj" fmla="val 12500"/>
            </a:avLst>
          </a:prstGeom>
          <a:solidFill>
            <a:srgbClr val="FFFFFF"/>
          </a:solidFill>
          <a:ln w="13970">
            <a:solidFill>
              <a:srgbClr val="D97706"/>
            </a:solidFill>
            <a:prstDash val="solid"/>
          </a:ln>
          <a:effectLst>
            <a:outerShdw sx="100000" sy="100000" kx="0" ky="0" algn="bl" rotWithShape="0" blurRad="63500" dist="25400" dir="2700000">
              <a:srgbClr val="000000">
                <a:alpha val="12000"/>
              </a:srgbClr>
            </a:outerShdw>
          </a:effectLst>
        </p:spPr>
      </p:sp>
      <p:sp>
        <p:nvSpPr>
          <p:cNvPr id="49" name="Text 47"/>
          <p:cNvSpPr/>
          <p:nvPr/>
        </p:nvSpPr>
        <p:spPr>
          <a:xfrm>
            <a:off x="6684264" y="6071616"/>
            <a:ext cx="5102352" cy="274320"/>
          </a:xfrm>
          <a:prstGeom prst="rect">
            <a:avLst/>
          </a:prstGeom>
          <a:noFill/>
          <a:ln/>
        </p:spPr>
        <p:txBody>
          <a:bodyPr wrap="square" lIns="0" tIns="0" rIns="0" bIns="0" rtlCol="0" anchor="ctr"/>
          <a:lstStyle/>
          <a:p>
            <a:pPr indent="0" marL="0">
              <a:buNone/>
            </a:pPr>
            <a:r>
              <a:rPr lang="en-US" sz="1100" b="1" dirty="0">
                <a:solidFill>
                  <a:srgbClr val="D97706"/>
                </a:solidFill>
                <a:latin typeface="Cambria" pitchFamily="34" charset="0"/>
                <a:ea typeface="Cambria" pitchFamily="34" charset="-122"/>
                <a:cs typeface="Cambria" pitchFamily="34" charset="-120"/>
              </a:rPr>
              <a:t>Important: use 'is None' not '== None'</a:t>
            </a:r>
            <a:endParaRPr lang="en-US" sz="1100" dirty="0"/>
          </a:p>
        </p:txBody>
      </p:sp>
      <p:sp>
        <p:nvSpPr>
          <p:cNvPr id="50" name="Text 48"/>
          <p:cNvSpPr/>
          <p:nvPr/>
        </p:nvSpPr>
        <p:spPr>
          <a:xfrm>
            <a:off x="6684264" y="6382512"/>
            <a:ext cx="5102352" cy="16459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'is None' checks identity (same object). '== None' checks equality. Both work but 'is None' is the professional Python style.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E3C"/>
          </a:solidFill>
          <a:ln w="12700">
            <a:solidFill>
              <a:srgbClr val="0F1E3C"/>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DATA TYPES IN BUSINESS — REAL APPLICATIONS</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11338560" cy="55778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526"/>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D97706"/>
          </a:solidFill>
          <a:ln w="12700">
            <a:solidFill>
              <a:srgbClr val="D97706"/>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SECTION 02 CHALLENGE — DATA TYPES</a:t>
            </a:r>
            <a:endParaRPr lang="en-US" sz="2600" dirty="0"/>
          </a:p>
        </p:txBody>
      </p:sp>
      <p:sp>
        <p:nvSpPr>
          <p:cNvPr id="4" name="Shape 2"/>
          <p:cNvSpPr/>
          <p:nvPr/>
        </p:nvSpPr>
        <p:spPr>
          <a:xfrm>
            <a:off x="411480" y="1097280"/>
            <a:ext cx="5577840" cy="3383280"/>
          </a:xfrm>
          <a:prstGeom prst="roundRect">
            <a:avLst>
              <a:gd name="adj" fmla="val 2703"/>
            </a:avLst>
          </a:prstGeom>
          <a:solidFill>
            <a:srgbClr val="1A2540"/>
          </a:solidFill>
          <a:ln w="17780">
            <a:solidFill>
              <a:srgbClr val="2563EB"/>
            </a:solidFill>
            <a:prstDash val="solid"/>
          </a:ln>
          <a:effectLst>
            <a:outerShdw sx="100000" sy="100000" kx="0" ky="0" algn="bl" rotWithShape="0" blurRad="63500" dist="25400" dir="2700000">
              <a:srgbClr val="000000">
                <a:alpha val="12000"/>
              </a:srgbClr>
            </a:outerShdw>
          </a:effectLst>
        </p:spPr>
      </p:sp>
      <p:sp>
        <p:nvSpPr>
          <p:cNvPr id="5" name="Shape 3"/>
          <p:cNvSpPr/>
          <p:nvPr/>
        </p:nvSpPr>
        <p:spPr>
          <a:xfrm>
            <a:off x="411480" y="1097280"/>
            <a:ext cx="5577840" cy="457200"/>
          </a:xfrm>
          <a:prstGeom prst="roundRect">
            <a:avLst>
              <a:gd name="adj" fmla="val 20000"/>
            </a:avLst>
          </a:prstGeom>
          <a:solidFill>
            <a:srgbClr val="2563EB"/>
          </a:solidFill>
          <a:ln w="12700">
            <a:solidFill>
              <a:srgbClr val="2563EB"/>
            </a:solidFill>
            <a:prstDash val="solid"/>
          </a:ln>
        </p:spPr>
      </p:sp>
      <p:sp>
        <p:nvSpPr>
          <p:cNvPr id="6" name="Shape 4"/>
          <p:cNvSpPr/>
          <p:nvPr/>
        </p:nvSpPr>
        <p:spPr>
          <a:xfrm>
            <a:off x="411480" y="1389888"/>
            <a:ext cx="5577840" cy="164592"/>
          </a:xfrm>
          <a:prstGeom prst="rect">
            <a:avLst/>
          </a:prstGeom>
          <a:solidFill>
            <a:srgbClr val="2563EB"/>
          </a:solidFill>
          <a:ln w="12700">
            <a:solidFill>
              <a:srgbClr val="2563EB"/>
            </a:solidFill>
            <a:prstDash val="solid"/>
          </a:ln>
        </p:spPr>
      </p:sp>
      <p:sp>
        <p:nvSpPr>
          <p:cNvPr id="7" name="Text 5"/>
          <p:cNvSpPr/>
          <p:nvPr/>
        </p:nvSpPr>
        <p:spPr>
          <a:xfrm>
            <a:off x="521208" y="1170432"/>
            <a:ext cx="5358384" cy="292608"/>
          </a:xfrm>
          <a:prstGeom prst="rect">
            <a:avLst/>
          </a:prstGeom>
          <a:noFill/>
          <a:ln/>
        </p:spPr>
        <p:txBody>
          <a:bodyPr wrap="square" lIns="0" tIns="0" rIns="0" bIns="0" rtlCol="0" anchor="ctr"/>
          <a:lstStyle/>
          <a:p>
            <a:pPr indent="0" marL="0">
              <a:buNone/>
            </a:pPr>
            <a:r>
              <a:rPr lang="en-US" sz="1100" b="1" dirty="0">
                <a:solidFill>
                  <a:srgbClr val="080D18"/>
                </a:solidFill>
                <a:latin typeface="Calibri" pitchFamily="34" charset="0"/>
                <a:ea typeface="Calibri" pitchFamily="34" charset="-122"/>
                <a:cs typeface="Calibri" pitchFamily="34" charset="-120"/>
              </a:rPr>
              <a:t>⚡  CHALLENGE</a:t>
            </a:r>
            <a:endParaRPr lang="en-US" sz="1100" dirty="0"/>
          </a:p>
        </p:txBody>
      </p:sp>
      <p:sp>
        <p:nvSpPr>
          <p:cNvPr id="8" name="Text 6"/>
          <p:cNvSpPr/>
          <p:nvPr/>
        </p:nvSpPr>
        <p:spPr>
          <a:xfrm>
            <a:off x="539496" y="1645920"/>
            <a:ext cx="5321808" cy="1389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Q1. Create variables for a product record:</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name (str), quantity (int), price (float), available (bool), last_sold (None)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Print each with its type().</a:t>
            </a:r>
            <a:endParaRPr lang="en-US" sz="1100" dirty="0"/>
          </a:p>
        </p:txBody>
      </p:sp>
      <p:sp>
        <p:nvSpPr>
          <p:cNvPr id="9" name="Shape 7"/>
          <p:cNvSpPr/>
          <p:nvPr/>
        </p:nvSpPr>
        <p:spPr>
          <a:xfrm>
            <a:off x="539496" y="3145536"/>
            <a:ext cx="5321808" cy="18288"/>
          </a:xfrm>
          <a:prstGeom prst="rect">
            <a:avLst/>
          </a:prstGeom>
          <a:solidFill>
            <a:srgbClr val="64748B"/>
          </a:solidFill>
          <a:ln w="12700">
            <a:solidFill>
              <a:srgbClr val="64748B"/>
            </a:solidFill>
            <a:prstDash val="solid"/>
          </a:ln>
        </p:spPr>
      </p:sp>
      <p:sp>
        <p:nvSpPr>
          <p:cNvPr id="10" name="Text 8"/>
          <p:cNvSpPr/>
          <p:nvPr/>
        </p:nvSpPr>
        <p:spPr>
          <a:xfrm>
            <a:off x="539496" y="3236976"/>
            <a:ext cx="5321808" cy="256032"/>
          </a:xfrm>
          <a:prstGeom prst="rect">
            <a:avLst/>
          </a:prstGeom>
          <a:noFill/>
          <a:ln/>
        </p:spPr>
        <p:txBody>
          <a:bodyPr wrap="square" lIns="0" tIns="0" rIns="0" bIns="0" rtlCol="0" anchor="ctr"/>
          <a:lstStyle/>
          <a:p>
            <a:pPr indent="0" marL="0">
              <a:buNone/>
            </a:pPr>
            <a:r>
              <a:rPr lang="en-US" sz="1000" b="1" dirty="0">
                <a:solidFill>
                  <a:srgbClr val="2563EB"/>
                </a:solidFill>
                <a:latin typeface="Cambria" pitchFamily="34" charset="0"/>
                <a:ea typeface="Cambria" pitchFamily="34" charset="-122"/>
                <a:cs typeface="Cambria" pitchFamily="34" charset="-120"/>
              </a:rPr>
              <a:t>Answer:</a:t>
            </a:r>
            <a:endParaRPr lang="en-US" sz="1000" dirty="0"/>
          </a:p>
        </p:txBody>
      </p:sp>
      <p:sp>
        <p:nvSpPr>
          <p:cNvPr id="11" name="Text 9"/>
          <p:cNvSpPr/>
          <p:nvPr/>
        </p:nvSpPr>
        <p:spPr>
          <a:xfrm>
            <a:off x="539496" y="3529584"/>
            <a:ext cx="5321808" cy="822960"/>
          </a:xfrm>
          <a:prstGeom prst="rect">
            <a:avLst/>
          </a:prstGeom>
          <a:noFill/>
          <a:ln/>
        </p:spPr>
        <p:txBody>
          <a:bodyPr wrap="square" lIns="0" tIns="0" rIns="0" bIns="0" rtlCol="0" anchor="ctr"/>
          <a:lstStyle/>
          <a:p>
            <a:pPr indent="0" marL="0">
              <a:buNone/>
            </a:pPr>
            <a:r>
              <a:rPr lang="en-US" sz="1000" dirty="0">
                <a:solidFill>
                  <a:srgbClr val="16A34A"/>
                </a:solidFill>
                <a:latin typeface="Courier New" pitchFamily="34" charset="0"/>
                <a:ea typeface="Courier New" pitchFamily="34" charset="-122"/>
                <a:cs typeface="Courier New" pitchFamily="34" charset="-120"/>
              </a:rPr>
              <a:t>name='Laptop'; qty=50; price=450000.0</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available=True; last_sold=None</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print(type(name), type(qty), type(price))</a:t>
            </a:r>
            <a:endParaRPr lang="en-US" sz="1000" dirty="0"/>
          </a:p>
        </p:txBody>
      </p:sp>
      <p:sp>
        <p:nvSpPr>
          <p:cNvPr id="12" name="Shape 10"/>
          <p:cNvSpPr/>
          <p:nvPr/>
        </p:nvSpPr>
        <p:spPr>
          <a:xfrm>
            <a:off x="6172200" y="1097280"/>
            <a:ext cx="5760720" cy="3383280"/>
          </a:xfrm>
          <a:prstGeom prst="roundRect">
            <a:avLst>
              <a:gd name="adj" fmla="val 2703"/>
            </a:avLst>
          </a:prstGeom>
          <a:solidFill>
            <a:srgbClr val="1A2540"/>
          </a:solidFill>
          <a:ln w="17780">
            <a:solidFill>
              <a:srgbClr val="16A34A"/>
            </a:solidFill>
            <a:prstDash val="solid"/>
          </a:ln>
          <a:effectLst>
            <a:outerShdw sx="100000" sy="100000" kx="0" ky="0" algn="bl" rotWithShape="0" blurRad="63500" dist="25400" dir="2700000">
              <a:srgbClr val="000000">
                <a:alpha val="12000"/>
              </a:srgbClr>
            </a:outerShdw>
          </a:effectLst>
        </p:spPr>
      </p:sp>
      <p:sp>
        <p:nvSpPr>
          <p:cNvPr id="13" name="Shape 11"/>
          <p:cNvSpPr/>
          <p:nvPr/>
        </p:nvSpPr>
        <p:spPr>
          <a:xfrm>
            <a:off x="6172200" y="1097280"/>
            <a:ext cx="5760720" cy="457200"/>
          </a:xfrm>
          <a:prstGeom prst="roundRect">
            <a:avLst>
              <a:gd name="adj" fmla="val 20000"/>
            </a:avLst>
          </a:prstGeom>
          <a:solidFill>
            <a:srgbClr val="16A34A"/>
          </a:solidFill>
          <a:ln w="12700">
            <a:solidFill>
              <a:srgbClr val="16A34A"/>
            </a:solidFill>
            <a:prstDash val="solid"/>
          </a:ln>
        </p:spPr>
      </p:sp>
      <p:sp>
        <p:nvSpPr>
          <p:cNvPr id="14" name="Shape 12"/>
          <p:cNvSpPr/>
          <p:nvPr/>
        </p:nvSpPr>
        <p:spPr>
          <a:xfrm>
            <a:off x="6172200" y="1389888"/>
            <a:ext cx="5760720" cy="164592"/>
          </a:xfrm>
          <a:prstGeom prst="rect">
            <a:avLst/>
          </a:prstGeom>
          <a:solidFill>
            <a:srgbClr val="16A34A"/>
          </a:solidFill>
          <a:ln w="12700">
            <a:solidFill>
              <a:srgbClr val="16A34A"/>
            </a:solidFill>
            <a:prstDash val="solid"/>
          </a:ln>
        </p:spPr>
      </p:sp>
      <p:sp>
        <p:nvSpPr>
          <p:cNvPr id="15" name="Text 13"/>
          <p:cNvSpPr/>
          <p:nvPr/>
        </p:nvSpPr>
        <p:spPr>
          <a:xfrm>
            <a:off x="6281928" y="1170432"/>
            <a:ext cx="5541264" cy="292608"/>
          </a:xfrm>
          <a:prstGeom prst="rect">
            <a:avLst/>
          </a:prstGeom>
          <a:noFill/>
          <a:ln/>
        </p:spPr>
        <p:txBody>
          <a:bodyPr wrap="square" lIns="0" tIns="0" rIns="0" bIns="0" rtlCol="0" anchor="ctr"/>
          <a:lstStyle/>
          <a:p>
            <a:pPr indent="0" marL="0">
              <a:buNone/>
            </a:pPr>
            <a:r>
              <a:rPr lang="en-US" sz="1100" b="1" dirty="0">
                <a:solidFill>
                  <a:srgbClr val="080D18"/>
                </a:solidFill>
                <a:latin typeface="Calibri" pitchFamily="34" charset="0"/>
                <a:ea typeface="Calibri" pitchFamily="34" charset="-122"/>
                <a:cs typeface="Calibri" pitchFamily="34" charset="-120"/>
              </a:rPr>
              <a:t>⚡  CHALLENGE</a:t>
            </a:r>
            <a:endParaRPr lang="en-US" sz="1100" dirty="0"/>
          </a:p>
        </p:txBody>
      </p:sp>
      <p:sp>
        <p:nvSpPr>
          <p:cNvPr id="16" name="Text 14"/>
          <p:cNvSpPr/>
          <p:nvPr/>
        </p:nvSpPr>
        <p:spPr>
          <a:xfrm>
            <a:off x="6300216" y="1645920"/>
            <a:ext cx="5504688" cy="1389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Q2. What does int(7.9) return?</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What about int(-7.9)?</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How do you round 7.9 to the nearest integer?</a:t>
            </a:r>
            <a:endParaRPr lang="en-US" sz="1100" dirty="0"/>
          </a:p>
        </p:txBody>
      </p:sp>
      <p:sp>
        <p:nvSpPr>
          <p:cNvPr id="17" name="Shape 15"/>
          <p:cNvSpPr/>
          <p:nvPr/>
        </p:nvSpPr>
        <p:spPr>
          <a:xfrm>
            <a:off x="6300216" y="3145536"/>
            <a:ext cx="5504688" cy="18288"/>
          </a:xfrm>
          <a:prstGeom prst="rect">
            <a:avLst/>
          </a:prstGeom>
          <a:solidFill>
            <a:srgbClr val="64748B"/>
          </a:solidFill>
          <a:ln w="12700">
            <a:solidFill>
              <a:srgbClr val="64748B"/>
            </a:solidFill>
            <a:prstDash val="solid"/>
          </a:ln>
        </p:spPr>
      </p:sp>
      <p:sp>
        <p:nvSpPr>
          <p:cNvPr id="18" name="Text 16"/>
          <p:cNvSpPr/>
          <p:nvPr/>
        </p:nvSpPr>
        <p:spPr>
          <a:xfrm>
            <a:off x="6300216" y="3236976"/>
            <a:ext cx="5504688" cy="256032"/>
          </a:xfrm>
          <a:prstGeom prst="rect">
            <a:avLst/>
          </a:prstGeom>
          <a:noFill/>
          <a:ln/>
        </p:spPr>
        <p:txBody>
          <a:bodyPr wrap="square" lIns="0" tIns="0" rIns="0" bIns="0" rtlCol="0" anchor="ctr"/>
          <a:lstStyle/>
          <a:p>
            <a:pPr indent="0" marL="0">
              <a:buNone/>
            </a:pPr>
            <a:r>
              <a:rPr lang="en-US" sz="1000" b="1" dirty="0">
                <a:solidFill>
                  <a:srgbClr val="16A34A"/>
                </a:solidFill>
                <a:latin typeface="Cambria" pitchFamily="34" charset="0"/>
                <a:ea typeface="Cambria" pitchFamily="34" charset="-122"/>
                <a:cs typeface="Cambria" pitchFamily="34" charset="-120"/>
              </a:rPr>
              <a:t>Answer:</a:t>
            </a:r>
            <a:endParaRPr lang="en-US" sz="1000" dirty="0"/>
          </a:p>
        </p:txBody>
      </p:sp>
      <p:sp>
        <p:nvSpPr>
          <p:cNvPr id="19" name="Text 17"/>
          <p:cNvSpPr/>
          <p:nvPr/>
        </p:nvSpPr>
        <p:spPr>
          <a:xfrm>
            <a:off x="6300216" y="3529584"/>
            <a:ext cx="5504688" cy="822960"/>
          </a:xfrm>
          <a:prstGeom prst="rect">
            <a:avLst/>
          </a:prstGeom>
          <a:noFill/>
          <a:ln/>
        </p:spPr>
        <p:txBody>
          <a:bodyPr wrap="square" lIns="0" tIns="0" rIns="0" bIns="0" rtlCol="0" anchor="ctr"/>
          <a:lstStyle/>
          <a:p>
            <a:pPr indent="0" marL="0">
              <a:buNone/>
            </a:pPr>
            <a:r>
              <a:rPr lang="en-US" sz="1000" dirty="0">
                <a:solidFill>
                  <a:srgbClr val="16A34A"/>
                </a:solidFill>
                <a:latin typeface="Courier New" pitchFamily="34" charset="0"/>
                <a:ea typeface="Courier New" pitchFamily="34" charset="-122"/>
                <a:cs typeface="Courier New" pitchFamily="34" charset="-120"/>
              </a:rPr>
              <a:t>int(7.9)  = 7   (truncates down)</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int(-7.9) = -7  (truncates toward zero)</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round(7.9) = 8  (nearest integer)</a:t>
            </a:r>
            <a:endParaRPr lang="en-US" sz="1000" dirty="0"/>
          </a:p>
        </p:txBody>
      </p:sp>
      <p:sp>
        <p:nvSpPr>
          <p:cNvPr id="20" name="Shape 18"/>
          <p:cNvSpPr/>
          <p:nvPr/>
        </p:nvSpPr>
        <p:spPr>
          <a:xfrm>
            <a:off x="411480" y="4535424"/>
            <a:ext cx="5577840" cy="3383280"/>
          </a:xfrm>
          <a:prstGeom prst="roundRect">
            <a:avLst>
              <a:gd name="adj" fmla="val 2703"/>
            </a:avLst>
          </a:prstGeom>
          <a:solidFill>
            <a:srgbClr val="1A2540"/>
          </a:solidFill>
          <a:ln w="17780">
            <a:solidFill>
              <a:srgbClr val="E11D48"/>
            </a:solidFill>
            <a:prstDash val="solid"/>
          </a:ln>
          <a:effectLst>
            <a:outerShdw sx="100000" sy="100000" kx="0" ky="0" algn="bl" rotWithShape="0" blurRad="63500" dist="25400" dir="2700000">
              <a:srgbClr val="000000">
                <a:alpha val="12000"/>
              </a:srgbClr>
            </a:outerShdw>
          </a:effectLst>
        </p:spPr>
      </p:sp>
      <p:sp>
        <p:nvSpPr>
          <p:cNvPr id="21" name="Shape 19"/>
          <p:cNvSpPr/>
          <p:nvPr/>
        </p:nvSpPr>
        <p:spPr>
          <a:xfrm>
            <a:off x="411480" y="4535424"/>
            <a:ext cx="5577840" cy="457200"/>
          </a:xfrm>
          <a:prstGeom prst="roundRect">
            <a:avLst>
              <a:gd name="adj" fmla="val 20000"/>
            </a:avLst>
          </a:prstGeom>
          <a:solidFill>
            <a:srgbClr val="E11D48"/>
          </a:solidFill>
          <a:ln w="12700">
            <a:solidFill>
              <a:srgbClr val="E11D48"/>
            </a:solidFill>
            <a:prstDash val="solid"/>
          </a:ln>
        </p:spPr>
      </p:sp>
      <p:sp>
        <p:nvSpPr>
          <p:cNvPr id="22" name="Shape 20"/>
          <p:cNvSpPr/>
          <p:nvPr/>
        </p:nvSpPr>
        <p:spPr>
          <a:xfrm>
            <a:off x="411480" y="4828032"/>
            <a:ext cx="5577840" cy="164592"/>
          </a:xfrm>
          <a:prstGeom prst="rect">
            <a:avLst/>
          </a:prstGeom>
          <a:solidFill>
            <a:srgbClr val="E11D48"/>
          </a:solidFill>
          <a:ln w="12700">
            <a:solidFill>
              <a:srgbClr val="E11D48"/>
            </a:solidFill>
            <a:prstDash val="solid"/>
          </a:ln>
        </p:spPr>
      </p:sp>
      <p:sp>
        <p:nvSpPr>
          <p:cNvPr id="23" name="Text 21"/>
          <p:cNvSpPr/>
          <p:nvPr/>
        </p:nvSpPr>
        <p:spPr>
          <a:xfrm>
            <a:off x="521208" y="4608576"/>
            <a:ext cx="5358384" cy="292608"/>
          </a:xfrm>
          <a:prstGeom prst="rect">
            <a:avLst/>
          </a:prstGeom>
          <a:noFill/>
          <a:ln/>
        </p:spPr>
        <p:txBody>
          <a:bodyPr wrap="square" lIns="0" tIns="0" rIns="0" bIns="0" rtlCol="0" anchor="ctr"/>
          <a:lstStyle/>
          <a:p>
            <a:pPr indent="0" marL="0">
              <a:buNone/>
            </a:pPr>
            <a:r>
              <a:rPr lang="en-US" sz="1100" b="1" dirty="0">
                <a:solidFill>
                  <a:srgbClr val="080D18"/>
                </a:solidFill>
                <a:latin typeface="Calibri" pitchFamily="34" charset="0"/>
                <a:ea typeface="Calibri" pitchFamily="34" charset="-122"/>
                <a:cs typeface="Calibri" pitchFamily="34" charset="-120"/>
              </a:rPr>
              <a:t>⚡  CHALLENGE</a:t>
            </a:r>
            <a:endParaRPr lang="en-US" sz="1100" dirty="0"/>
          </a:p>
        </p:txBody>
      </p:sp>
      <p:sp>
        <p:nvSpPr>
          <p:cNvPr id="24" name="Text 22"/>
          <p:cNvSpPr/>
          <p:nvPr/>
        </p:nvSpPr>
        <p:spPr>
          <a:xfrm>
            <a:off x="539496" y="5084064"/>
            <a:ext cx="5321808" cy="1389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Q3. Which of these evaluate to False?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500, 0, '', 'False', [], None, 0.0, [0]</a:t>
            </a:r>
            <a:endParaRPr lang="en-US" sz="1100" dirty="0"/>
          </a:p>
        </p:txBody>
      </p:sp>
      <p:sp>
        <p:nvSpPr>
          <p:cNvPr id="25" name="Shape 23"/>
          <p:cNvSpPr/>
          <p:nvPr/>
        </p:nvSpPr>
        <p:spPr>
          <a:xfrm>
            <a:off x="539496" y="6583680"/>
            <a:ext cx="5321808" cy="18288"/>
          </a:xfrm>
          <a:prstGeom prst="rect">
            <a:avLst/>
          </a:prstGeom>
          <a:solidFill>
            <a:srgbClr val="64748B"/>
          </a:solidFill>
          <a:ln w="12700">
            <a:solidFill>
              <a:srgbClr val="64748B"/>
            </a:solidFill>
            <a:prstDash val="solid"/>
          </a:ln>
        </p:spPr>
      </p:sp>
      <p:sp>
        <p:nvSpPr>
          <p:cNvPr id="26" name="Text 24"/>
          <p:cNvSpPr/>
          <p:nvPr/>
        </p:nvSpPr>
        <p:spPr>
          <a:xfrm>
            <a:off x="539496" y="6675120"/>
            <a:ext cx="5321808" cy="256032"/>
          </a:xfrm>
          <a:prstGeom prst="rect">
            <a:avLst/>
          </a:prstGeom>
          <a:noFill/>
          <a:ln/>
        </p:spPr>
        <p:txBody>
          <a:bodyPr wrap="square" lIns="0" tIns="0" rIns="0" bIns="0" rtlCol="0" anchor="ctr"/>
          <a:lstStyle/>
          <a:p>
            <a:pPr indent="0" marL="0">
              <a:buNone/>
            </a:pPr>
            <a:r>
              <a:rPr lang="en-US" sz="1000" b="1" dirty="0">
                <a:solidFill>
                  <a:srgbClr val="E11D48"/>
                </a:solidFill>
                <a:latin typeface="Cambria" pitchFamily="34" charset="0"/>
                <a:ea typeface="Cambria" pitchFamily="34" charset="-122"/>
                <a:cs typeface="Cambria" pitchFamily="34" charset="-120"/>
              </a:rPr>
              <a:t>Answer:</a:t>
            </a:r>
            <a:endParaRPr lang="en-US" sz="1000" dirty="0"/>
          </a:p>
        </p:txBody>
      </p:sp>
      <p:sp>
        <p:nvSpPr>
          <p:cNvPr id="27" name="Text 25"/>
          <p:cNvSpPr/>
          <p:nvPr/>
        </p:nvSpPr>
        <p:spPr>
          <a:xfrm>
            <a:off x="539496" y="6967728"/>
            <a:ext cx="5321808" cy="822960"/>
          </a:xfrm>
          <a:prstGeom prst="rect">
            <a:avLst/>
          </a:prstGeom>
          <a:noFill/>
          <a:ln/>
        </p:spPr>
        <p:txBody>
          <a:bodyPr wrap="square" lIns="0" tIns="0" rIns="0" bIns="0" rtlCol="0" anchor="ctr"/>
          <a:lstStyle/>
          <a:p>
            <a:pPr indent="0" marL="0">
              <a:buNone/>
            </a:pPr>
            <a:r>
              <a:rPr lang="en-US" sz="1000" dirty="0">
                <a:solidFill>
                  <a:srgbClr val="16A34A"/>
                </a:solidFill>
                <a:latin typeface="Courier New" pitchFamily="34" charset="0"/>
                <a:ea typeface="Courier New" pitchFamily="34" charset="-122"/>
                <a:cs typeface="Courier New" pitchFamily="34" charset="-120"/>
              </a:rPr>
              <a:t>Falsy: 0, '', [], None, 0.0</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Truthy: 500, 'False', [0]</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Remember: any non-empty container is truthy!</a:t>
            </a:r>
            <a:endParaRPr lang="en-US" sz="1000" dirty="0"/>
          </a:p>
        </p:txBody>
      </p:sp>
      <p:sp>
        <p:nvSpPr>
          <p:cNvPr id="28" name="Shape 26"/>
          <p:cNvSpPr/>
          <p:nvPr/>
        </p:nvSpPr>
        <p:spPr>
          <a:xfrm>
            <a:off x="6172200" y="4535424"/>
            <a:ext cx="5760720" cy="3383280"/>
          </a:xfrm>
          <a:prstGeom prst="roundRect">
            <a:avLst>
              <a:gd name="adj" fmla="val 2703"/>
            </a:avLst>
          </a:prstGeom>
          <a:solidFill>
            <a:srgbClr val="1A2540"/>
          </a:solidFill>
          <a:ln w="17780">
            <a:solidFill>
              <a:srgbClr val="7C3AED"/>
            </a:solidFill>
            <a:prstDash val="solid"/>
          </a:ln>
          <a:effectLst>
            <a:outerShdw sx="100000" sy="100000" kx="0" ky="0" algn="bl" rotWithShape="0" blurRad="63500" dist="25400" dir="2700000">
              <a:srgbClr val="000000">
                <a:alpha val="12000"/>
              </a:srgbClr>
            </a:outerShdw>
          </a:effectLst>
        </p:spPr>
      </p:sp>
      <p:sp>
        <p:nvSpPr>
          <p:cNvPr id="29" name="Shape 27"/>
          <p:cNvSpPr/>
          <p:nvPr/>
        </p:nvSpPr>
        <p:spPr>
          <a:xfrm>
            <a:off x="6172200" y="4535424"/>
            <a:ext cx="5760720" cy="457200"/>
          </a:xfrm>
          <a:prstGeom prst="roundRect">
            <a:avLst>
              <a:gd name="adj" fmla="val 20000"/>
            </a:avLst>
          </a:prstGeom>
          <a:solidFill>
            <a:srgbClr val="7C3AED"/>
          </a:solidFill>
          <a:ln w="12700">
            <a:solidFill>
              <a:srgbClr val="7C3AED"/>
            </a:solidFill>
            <a:prstDash val="solid"/>
          </a:ln>
        </p:spPr>
      </p:sp>
      <p:sp>
        <p:nvSpPr>
          <p:cNvPr id="30" name="Shape 28"/>
          <p:cNvSpPr/>
          <p:nvPr/>
        </p:nvSpPr>
        <p:spPr>
          <a:xfrm>
            <a:off x="6172200" y="4828032"/>
            <a:ext cx="5760720" cy="164592"/>
          </a:xfrm>
          <a:prstGeom prst="rect">
            <a:avLst/>
          </a:prstGeom>
          <a:solidFill>
            <a:srgbClr val="7C3AED"/>
          </a:solidFill>
          <a:ln w="12700">
            <a:solidFill>
              <a:srgbClr val="7C3AED"/>
            </a:solidFill>
            <a:prstDash val="solid"/>
          </a:ln>
        </p:spPr>
      </p:sp>
      <p:sp>
        <p:nvSpPr>
          <p:cNvPr id="31" name="Text 29"/>
          <p:cNvSpPr/>
          <p:nvPr/>
        </p:nvSpPr>
        <p:spPr>
          <a:xfrm>
            <a:off x="6281928" y="4608576"/>
            <a:ext cx="5541264" cy="292608"/>
          </a:xfrm>
          <a:prstGeom prst="rect">
            <a:avLst/>
          </a:prstGeom>
          <a:noFill/>
          <a:ln/>
        </p:spPr>
        <p:txBody>
          <a:bodyPr wrap="square" lIns="0" tIns="0" rIns="0" bIns="0" rtlCol="0" anchor="ctr"/>
          <a:lstStyle/>
          <a:p>
            <a:pPr indent="0" marL="0">
              <a:buNone/>
            </a:pPr>
            <a:r>
              <a:rPr lang="en-US" sz="1100" b="1" dirty="0">
                <a:solidFill>
                  <a:srgbClr val="080D18"/>
                </a:solidFill>
                <a:latin typeface="Calibri" pitchFamily="34" charset="0"/>
                <a:ea typeface="Calibri" pitchFamily="34" charset="-122"/>
                <a:cs typeface="Calibri" pitchFamily="34" charset="-120"/>
              </a:rPr>
              <a:t>⚡  CHALLENGE</a:t>
            </a:r>
            <a:endParaRPr lang="en-US" sz="1100" dirty="0"/>
          </a:p>
        </p:txBody>
      </p:sp>
      <p:sp>
        <p:nvSpPr>
          <p:cNvPr id="32" name="Text 30"/>
          <p:cNvSpPr/>
          <p:nvPr/>
        </p:nvSpPr>
        <p:spPr>
          <a:xfrm>
            <a:off x="6300216" y="5084064"/>
            <a:ext cx="5504688" cy="1389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Q4. A cashier types the total as input.</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Write ONE LINE that stores it as a float.</a:t>
            </a:r>
            <a:endParaRPr lang="en-US" sz="1100" dirty="0"/>
          </a:p>
        </p:txBody>
      </p:sp>
      <p:sp>
        <p:nvSpPr>
          <p:cNvPr id="33" name="Shape 31"/>
          <p:cNvSpPr/>
          <p:nvPr/>
        </p:nvSpPr>
        <p:spPr>
          <a:xfrm>
            <a:off x="6300216" y="6583680"/>
            <a:ext cx="5504688" cy="18288"/>
          </a:xfrm>
          <a:prstGeom prst="rect">
            <a:avLst/>
          </a:prstGeom>
          <a:solidFill>
            <a:srgbClr val="64748B"/>
          </a:solidFill>
          <a:ln w="12700">
            <a:solidFill>
              <a:srgbClr val="64748B"/>
            </a:solidFill>
            <a:prstDash val="solid"/>
          </a:ln>
        </p:spPr>
      </p:sp>
      <p:sp>
        <p:nvSpPr>
          <p:cNvPr id="34" name="Text 32"/>
          <p:cNvSpPr/>
          <p:nvPr/>
        </p:nvSpPr>
        <p:spPr>
          <a:xfrm>
            <a:off x="6300216" y="6675120"/>
            <a:ext cx="5504688" cy="256032"/>
          </a:xfrm>
          <a:prstGeom prst="rect">
            <a:avLst/>
          </a:prstGeom>
          <a:noFill/>
          <a:ln/>
        </p:spPr>
        <p:txBody>
          <a:bodyPr wrap="square" lIns="0" tIns="0" rIns="0" bIns="0" rtlCol="0" anchor="ctr"/>
          <a:lstStyle/>
          <a:p>
            <a:pPr indent="0" marL="0">
              <a:buNone/>
            </a:pPr>
            <a:r>
              <a:rPr lang="en-US" sz="1000" b="1" dirty="0">
                <a:solidFill>
                  <a:srgbClr val="7C3AED"/>
                </a:solidFill>
                <a:latin typeface="Cambria" pitchFamily="34" charset="0"/>
                <a:ea typeface="Cambria" pitchFamily="34" charset="-122"/>
                <a:cs typeface="Cambria" pitchFamily="34" charset="-120"/>
              </a:rPr>
              <a:t>Answer:</a:t>
            </a:r>
            <a:endParaRPr lang="en-US" sz="1000" dirty="0"/>
          </a:p>
        </p:txBody>
      </p:sp>
      <p:sp>
        <p:nvSpPr>
          <p:cNvPr id="35" name="Text 33"/>
          <p:cNvSpPr/>
          <p:nvPr/>
        </p:nvSpPr>
        <p:spPr>
          <a:xfrm>
            <a:off x="6300216" y="6967728"/>
            <a:ext cx="5504688" cy="822960"/>
          </a:xfrm>
          <a:prstGeom prst="rect">
            <a:avLst/>
          </a:prstGeom>
          <a:noFill/>
          <a:ln/>
        </p:spPr>
        <p:txBody>
          <a:bodyPr wrap="square" lIns="0" tIns="0" rIns="0" bIns="0" rtlCol="0" anchor="ctr"/>
          <a:lstStyle/>
          <a:p>
            <a:pPr indent="0" marL="0">
              <a:buNone/>
            </a:pPr>
            <a:r>
              <a:rPr lang="en-US" sz="1000" dirty="0">
                <a:solidFill>
                  <a:srgbClr val="16A34A"/>
                </a:solidFill>
                <a:latin typeface="Courier New" pitchFamily="34" charset="0"/>
                <a:ea typeface="Courier New" pitchFamily="34" charset="-122"/>
                <a:cs typeface="Courier New" pitchFamily="34" charset="-120"/>
              </a:rPr>
              <a:t>total = float(input('Enter total: '))</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 input() always returns str</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 float() converts it to decimal</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457200" y="1005840"/>
            <a:ext cx="1920240" cy="1920240"/>
          </a:xfrm>
          <a:prstGeom prst="ellipse">
            <a:avLst/>
          </a:prstGeom>
          <a:solidFill>
            <a:srgbClr val="16A34A"/>
          </a:solidFill>
          <a:ln w="12700">
            <a:solidFill>
              <a:srgbClr val="16A34A"/>
            </a:solidFill>
            <a:prstDash val="solid"/>
          </a:ln>
          <a:effectLst>
            <a:outerShdw sx="100000" sy="100000" kx="0" ky="0" algn="bl" rotWithShape="0" blurRad="127000" dist="50800" dir="2700000">
              <a:srgbClr val="000000">
                <a:alpha val="18000"/>
              </a:srgbClr>
            </a:outerShdw>
          </a:effectLst>
        </p:spPr>
      </p:sp>
      <p:sp>
        <p:nvSpPr>
          <p:cNvPr id="3" name="Text 1"/>
          <p:cNvSpPr/>
          <p:nvPr/>
        </p:nvSpPr>
        <p:spPr>
          <a:xfrm>
            <a:off x="457200" y="1005840"/>
            <a:ext cx="1920240" cy="1920240"/>
          </a:xfrm>
          <a:prstGeom prst="rect">
            <a:avLst/>
          </a:prstGeom>
          <a:noFill/>
          <a:ln/>
        </p:spPr>
        <p:txBody>
          <a:bodyPr wrap="square" lIns="0" tIns="0" rIns="0" bIns="0" rtlCol="0" anchor="ctr"/>
          <a:lstStyle/>
          <a:p>
            <a:pPr algn="ctr" indent="0" marL="0">
              <a:buNone/>
            </a:pPr>
            <a:r>
              <a:rPr lang="en-US" sz="5800" b="1" dirty="0">
                <a:solidFill>
                  <a:srgbClr val="FFFFFF"/>
                </a:solidFill>
                <a:latin typeface="Cambria" pitchFamily="34" charset="0"/>
                <a:ea typeface="Cambria" pitchFamily="34" charset="-122"/>
                <a:cs typeface="Cambria" pitchFamily="34" charset="-120"/>
              </a:rPr>
              <a:t>03</a:t>
            </a:r>
            <a:endParaRPr lang="en-US" sz="5800" dirty="0"/>
          </a:p>
        </p:txBody>
      </p:sp>
      <p:sp>
        <p:nvSpPr>
          <p:cNvPr id="4" name="Text 2"/>
          <p:cNvSpPr/>
          <p:nvPr/>
        </p:nvSpPr>
        <p:spPr>
          <a:xfrm>
            <a:off x="2743200" y="1097280"/>
            <a:ext cx="9144000" cy="16459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Operators</a:t>
            </a:r>
            <a:endParaRPr lang="en-US" sz="4400" dirty="0"/>
          </a:p>
        </p:txBody>
      </p:sp>
      <p:sp>
        <p:nvSpPr>
          <p:cNvPr id="5" name="Text 3"/>
          <p:cNvSpPr/>
          <p:nvPr/>
        </p:nvSpPr>
        <p:spPr>
          <a:xfrm>
            <a:off x="2743200" y="2880360"/>
            <a:ext cx="9144000" cy="594360"/>
          </a:xfrm>
          <a:prstGeom prst="rect">
            <a:avLst/>
          </a:prstGeom>
          <a:noFill/>
          <a:ln/>
        </p:spPr>
        <p:txBody>
          <a:bodyPr wrap="square" lIns="0" tIns="0" rIns="0" bIns="0"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How Python computes, compares, and combines values.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E3C"/>
          </a:solidFill>
          <a:ln w="12700">
            <a:solidFill>
              <a:srgbClr val="0F1E3C"/>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ALL PYTHON OPERATORS — WITH BUSINESS EXAMPLES</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11338560" cy="55778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E3C"/>
          </a:solidFill>
          <a:ln w="12700">
            <a:solidFill>
              <a:srgbClr val="0F1E3C"/>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OPERATORS IN PRACTICE — BUSINESS CALCULATIONS</a:t>
            </a:r>
            <a:endParaRPr lang="en-US" sz="2600" dirty="0"/>
          </a:p>
        </p:txBody>
      </p:sp>
      <p:sp>
        <p:nvSpPr>
          <p:cNvPr id="4" name="Shape 2"/>
          <p:cNvSpPr/>
          <p:nvPr/>
        </p:nvSpPr>
        <p:spPr>
          <a:xfrm>
            <a:off x="411480" y="1024128"/>
            <a:ext cx="6583680" cy="5559552"/>
          </a:xfrm>
          <a:prstGeom prst="roundRect">
            <a:avLst>
              <a:gd name="adj" fmla="val 1645"/>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1024128"/>
            <a:ext cx="6583680" cy="347472"/>
          </a:xfrm>
          <a:prstGeom prst="roundRect">
            <a:avLst>
              <a:gd name="adj" fmla="val 26316"/>
            </a:avLst>
          </a:prstGeom>
          <a:solidFill>
            <a:srgbClr val="1A2540"/>
          </a:solidFill>
          <a:ln w="12700">
            <a:solidFill>
              <a:srgbClr val="1A2540"/>
            </a:solidFill>
            <a:prstDash val="solid"/>
          </a:ln>
        </p:spPr>
      </p:sp>
      <p:sp>
        <p:nvSpPr>
          <p:cNvPr id="6" name="Shape 4"/>
          <p:cNvSpPr/>
          <p:nvPr/>
        </p:nvSpPr>
        <p:spPr>
          <a:xfrm>
            <a:off x="411480" y="1225296"/>
            <a:ext cx="6583680" cy="146304"/>
          </a:xfrm>
          <a:prstGeom prst="rect">
            <a:avLst/>
          </a:prstGeom>
          <a:solidFill>
            <a:srgbClr val="1A2540"/>
          </a:solidFill>
          <a:ln w="12700">
            <a:solidFill>
              <a:srgbClr val="1A2540"/>
            </a:solidFill>
            <a:prstDash val="solid"/>
          </a:ln>
        </p:spPr>
      </p:sp>
      <p:sp>
        <p:nvSpPr>
          <p:cNvPr id="7" name="Shape 5"/>
          <p:cNvSpPr/>
          <p:nvPr/>
        </p:nvSpPr>
        <p:spPr>
          <a:xfrm>
            <a:off x="539496" y="1115568"/>
            <a:ext cx="164592" cy="164592"/>
          </a:xfrm>
          <a:prstGeom prst="ellipse">
            <a:avLst/>
          </a:prstGeom>
          <a:solidFill>
            <a:srgbClr val="E11D48"/>
          </a:solidFill>
          <a:ln w="12700">
            <a:solidFill>
              <a:srgbClr val="E11D48"/>
            </a:solidFill>
            <a:prstDash val="solid"/>
          </a:ln>
        </p:spPr>
      </p:sp>
      <p:sp>
        <p:nvSpPr>
          <p:cNvPr id="8" name="Shape 6"/>
          <p:cNvSpPr/>
          <p:nvPr/>
        </p:nvSpPr>
        <p:spPr>
          <a:xfrm>
            <a:off x="740664" y="1115568"/>
            <a:ext cx="164592" cy="164592"/>
          </a:xfrm>
          <a:prstGeom prst="ellipse">
            <a:avLst/>
          </a:prstGeom>
          <a:solidFill>
            <a:srgbClr val="D97706"/>
          </a:solidFill>
          <a:ln w="12700">
            <a:solidFill>
              <a:srgbClr val="D97706"/>
            </a:solidFill>
            <a:prstDash val="solid"/>
          </a:ln>
        </p:spPr>
      </p:sp>
      <p:sp>
        <p:nvSpPr>
          <p:cNvPr id="9" name="Shape 7"/>
          <p:cNvSpPr/>
          <p:nvPr/>
        </p:nvSpPr>
        <p:spPr>
          <a:xfrm>
            <a:off x="941832" y="1115568"/>
            <a:ext cx="164592" cy="164592"/>
          </a:xfrm>
          <a:prstGeom prst="ellipse">
            <a:avLst/>
          </a:prstGeom>
          <a:solidFill>
            <a:srgbClr val="16A34A"/>
          </a:solidFill>
          <a:ln w="12700">
            <a:solidFill>
              <a:srgbClr val="16A34A"/>
            </a:solidFill>
            <a:prstDash val="solid"/>
          </a:ln>
        </p:spPr>
      </p:sp>
      <p:sp>
        <p:nvSpPr>
          <p:cNvPr id="10" name="Text 8"/>
          <p:cNvSpPr/>
          <p:nvPr/>
        </p:nvSpPr>
        <p:spPr>
          <a:xfrm>
            <a:off x="1143000" y="1097280"/>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operators_business.py</a:t>
            </a:r>
            <a:endParaRPr lang="en-US" sz="900" dirty="0"/>
          </a:p>
        </p:txBody>
      </p:sp>
      <p:sp>
        <p:nvSpPr>
          <p:cNvPr id="11" name="Text 9"/>
          <p:cNvSpPr/>
          <p:nvPr/>
        </p:nvSpPr>
        <p:spPr>
          <a:xfrm>
            <a:off x="557784" y="1426464"/>
            <a:ext cx="6309360" cy="504748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Financial calculations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revenue  = 5_000_000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costs    = 3_200_000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vat_rate = 0.075</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profit      = revenue - costs       # 1,800,000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margin_pct  = (profit/revenue)*100  # 36.0%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vat_amount  = revenue * vat_rate    # 375,000</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Compound interest: A = P(1+r/n)^(nt)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principal = 1_000_000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rate      = 0.12   # 12% annual</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periods   = 12     # monthly compounding</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years     = 3</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final = principal * (1 + rate/periods)**(periods*years)</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print(f"After 3 years: NGN {final:,.0f}")</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Comparison in conditions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stock = 15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reorder_point = 20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needs_reorder = stock &lt;= reorder_point  # True</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Logical operators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eligible = age &gt;= 21 and income &gt;= 50_000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pay_method = card_valid or cash_available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is_new = not has_account</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Membership operator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region = 'South-West'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allowed = region in ['South-West','North-Central']</a:t>
            </a:r>
            <a:endParaRPr lang="en-US" sz="1050" dirty="0"/>
          </a:p>
        </p:txBody>
      </p:sp>
      <p:sp>
        <p:nvSpPr>
          <p:cNvPr id="12" name="Text 10"/>
          <p:cNvSpPr/>
          <p:nvPr/>
        </p:nvSpPr>
        <p:spPr>
          <a:xfrm>
            <a:off x="7178040" y="1078992"/>
            <a:ext cx="4754880" cy="292608"/>
          </a:xfrm>
          <a:prstGeom prst="rect">
            <a:avLst/>
          </a:prstGeom>
          <a:noFill/>
          <a:ln/>
        </p:spPr>
        <p:txBody>
          <a:bodyPr wrap="square" lIns="0" tIns="0" rIns="0" bIns="0" rtlCol="0" anchor="ctr"/>
          <a:lstStyle/>
          <a:p>
            <a:pPr indent="0" marL="0">
              <a:buNone/>
            </a:pPr>
            <a:r>
              <a:rPr lang="en-US" sz="1100" b="1" dirty="0">
                <a:solidFill>
                  <a:srgbClr val="0F1E3C"/>
                </a:solidFill>
                <a:latin typeface="Cambria" pitchFamily="34" charset="0"/>
                <a:ea typeface="Cambria" pitchFamily="34" charset="-122"/>
                <a:cs typeface="Cambria" pitchFamily="34" charset="-120"/>
              </a:rPr>
              <a:t>Operator Precedence</a:t>
            </a:r>
            <a:endParaRPr lang="en-US" sz="1100" dirty="0"/>
          </a:p>
        </p:txBody>
      </p:sp>
      <p:sp>
        <p:nvSpPr>
          <p:cNvPr id="13" name="Shape 11"/>
          <p:cNvSpPr/>
          <p:nvPr/>
        </p:nvSpPr>
        <p:spPr>
          <a:xfrm>
            <a:off x="7178040" y="1444752"/>
            <a:ext cx="4754880" cy="548640"/>
          </a:xfrm>
          <a:prstGeom prst="rect">
            <a:avLst/>
          </a:prstGeom>
          <a:solidFill>
            <a:srgbClr val="F1F5F9"/>
          </a:solidFill>
          <a:ln w="12700">
            <a:solidFill>
              <a:srgbClr val="E2E8F0"/>
            </a:solidFill>
            <a:prstDash val="solid"/>
          </a:ln>
        </p:spPr>
      </p:sp>
      <p:sp>
        <p:nvSpPr>
          <p:cNvPr id="14" name="Text 12"/>
          <p:cNvSpPr/>
          <p:nvPr/>
        </p:nvSpPr>
        <p:spPr>
          <a:xfrm>
            <a:off x="7242048" y="1591056"/>
            <a:ext cx="118872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1 (first)</a:t>
            </a:r>
            <a:endParaRPr lang="en-US" sz="950" dirty="0"/>
          </a:p>
        </p:txBody>
      </p:sp>
      <p:sp>
        <p:nvSpPr>
          <p:cNvPr id="15" name="Text 13"/>
          <p:cNvSpPr/>
          <p:nvPr/>
        </p:nvSpPr>
        <p:spPr>
          <a:xfrm>
            <a:off x="8485632" y="1591056"/>
            <a:ext cx="1371600" cy="256032"/>
          </a:xfrm>
          <a:prstGeom prst="rect">
            <a:avLst/>
          </a:prstGeom>
          <a:noFill/>
          <a:ln/>
        </p:spPr>
        <p:txBody>
          <a:bodyPr wrap="square" lIns="0" tIns="0" rIns="0" bIns="0" rtlCol="0" anchor="ctr"/>
          <a:lstStyle/>
          <a:p>
            <a:pPr indent="0" marL="0">
              <a:buNone/>
            </a:pPr>
            <a:r>
              <a:rPr lang="en-US" sz="1000" b="1" dirty="0">
                <a:solidFill>
                  <a:srgbClr val="2563EB"/>
                </a:solidFill>
                <a:latin typeface="Courier New" pitchFamily="34" charset="0"/>
                <a:ea typeface="Courier New" pitchFamily="34" charset="-122"/>
                <a:cs typeface="Courier New" pitchFamily="34" charset="-120"/>
              </a:rPr>
              <a:t>( )</a:t>
            </a:r>
            <a:endParaRPr lang="en-US" sz="1000" dirty="0"/>
          </a:p>
        </p:txBody>
      </p:sp>
      <p:sp>
        <p:nvSpPr>
          <p:cNvPr id="16" name="Text 14"/>
          <p:cNvSpPr/>
          <p:nvPr/>
        </p:nvSpPr>
        <p:spPr>
          <a:xfrm>
            <a:off x="9893808" y="1591056"/>
            <a:ext cx="1975104" cy="256032"/>
          </a:xfrm>
          <a:prstGeom prst="rect">
            <a:avLst/>
          </a:prstGeom>
          <a:noFill/>
          <a:ln/>
        </p:spPr>
        <p:txBody>
          <a:bodyPr wrap="square" lIns="0" tIns="0" rIns="0" bIns="0" rtlCol="0" anchor="ctr"/>
          <a:lstStyle/>
          <a:p>
            <a:pPr indent="0" marL="0">
              <a:buNone/>
            </a:pPr>
            <a:r>
              <a:rPr lang="en-US" sz="950" dirty="0">
                <a:solidFill>
                  <a:srgbClr val="0D1526"/>
                </a:solidFill>
                <a:latin typeface="Calibri" pitchFamily="34" charset="0"/>
                <a:ea typeface="Calibri" pitchFamily="34" charset="-122"/>
                <a:cs typeface="Calibri" pitchFamily="34" charset="-120"/>
              </a:rPr>
              <a:t>Parentheses — always first</a:t>
            </a:r>
            <a:endParaRPr lang="en-US" sz="950" dirty="0"/>
          </a:p>
        </p:txBody>
      </p:sp>
      <p:sp>
        <p:nvSpPr>
          <p:cNvPr id="17" name="Shape 15"/>
          <p:cNvSpPr/>
          <p:nvPr/>
        </p:nvSpPr>
        <p:spPr>
          <a:xfrm>
            <a:off x="7178040" y="2029968"/>
            <a:ext cx="4754880" cy="548640"/>
          </a:xfrm>
          <a:prstGeom prst="rect">
            <a:avLst/>
          </a:prstGeom>
          <a:solidFill>
            <a:srgbClr val="FFFFFF"/>
          </a:solidFill>
          <a:ln w="12700">
            <a:solidFill>
              <a:srgbClr val="E2E8F0"/>
            </a:solidFill>
            <a:prstDash val="solid"/>
          </a:ln>
        </p:spPr>
      </p:sp>
      <p:sp>
        <p:nvSpPr>
          <p:cNvPr id="18" name="Text 16"/>
          <p:cNvSpPr/>
          <p:nvPr/>
        </p:nvSpPr>
        <p:spPr>
          <a:xfrm>
            <a:off x="7242048" y="2176272"/>
            <a:ext cx="118872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2</a:t>
            </a:r>
            <a:endParaRPr lang="en-US" sz="950" dirty="0"/>
          </a:p>
        </p:txBody>
      </p:sp>
      <p:sp>
        <p:nvSpPr>
          <p:cNvPr id="19" name="Text 17"/>
          <p:cNvSpPr/>
          <p:nvPr/>
        </p:nvSpPr>
        <p:spPr>
          <a:xfrm>
            <a:off x="8485632" y="2176272"/>
            <a:ext cx="1371600" cy="256032"/>
          </a:xfrm>
          <a:prstGeom prst="rect">
            <a:avLst/>
          </a:prstGeom>
          <a:noFill/>
          <a:ln/>
        </p:spPr>
        <p:txBody>
          <a:bodyPr wrap="square" lIns="0" tIns="0" rIns="0" bIns="0" rtlCol="0" anchor="ctr"/>
          <a:lstStyle/>
          <a:p>
            <a:pPr indent="0" marL="0">
              <a:buNone/>
            </a:pPr>
            <a:r>
              <a:rPr lang="en-US" sz="1000" b="1" dirty="0">
                <a:solidFill>
                  <a:srgbClr val="2563EB"/>
                </a:solidFill>
                <a:latin typeface="Courier New" pitchFamily="34" charset="0"/>
                <a:ea typeface="Courier New" pitchFamily="34" charset="-122"/>
                <a:cs typeface="Courier New" pitchFamily="34" charset="-120"/>
              </a:rPr>
              <a:t>**</a:t>
            </a:r>
            <a:endParaRPr lang="en-US" sz="1000" dirty="0"/>
          </a:p>
        </p:txBody>
      </p:sp>
      <p:sp>
        <p:nvSpPr>
          <p:cNvPr id="20" name="Text 18"/>
          <p:cNvSpPr/>
          <p:nvPr/>
        </p:nvSpPr>
        <p:spPr>
          <a:xfrm>
            <a:off x="9893808" y="2176272"/>
            <a:ext cx="1975104" cy="256032"/>
          </a:xfrm>
          <a:prstGeom prst="rect">
            <a:avLst/>
          </a:prstGeom>
          <a:noFill/>
          <a:ln/>
        </p:spPr>
        <p:txBody>
          <a:bodyPr wrap="square" lIns="0" tIns="0" rIns="0" bIns="0" rtlCol="0" anchor="ctr"/>
          <a:lstStyle/>
          <a:p>
            <a:pPr indent="0" marL="0">
              <a:buNone/>
            </a:pPr>
            <a:r>
              <a:rPr lang="en-US" sz="950" dirty="0">
                <a:solidFill>
                  <a:srgbClr val="0D1526"/>
                </a:solidFill>
                <a:latin typeface="Calibri" pitchFamily="34" charset="0"/>
                <a:ea typeface="Calibri" pitchFamily="34" charset="-122"/>
                <a:cs typeface="Calibri" pitchFamily="34" charset="-120"/>
              </a:rPr>
              <a:t>Exponentiation — right to left</a:t>
            </a:r>
            <a:endParaRPr lang="en-US" sz="950" dirty="0"/>
          </a:p>
        </p:txBody>
      </p:sp>
      <p:sp>
        <p:nvSpPr>
          <p:cNvPr id="21" name="Shape 19"/>
          <p:cNvSpPr/>
          <p:nvPr/>
        </p:nvSpPr>
        <p:spPr>
          <a:xfrm>
            <a:off x="7178040" y="2615184"/>
            <a:ext cx="4754880" cy="548640"/>
          </a:xfrm>
          <a:prstGeom prst="rect">
            <a:avLst/>
          </a:prstGeom>
          <a:solidFill>
            <a:srgbClr val="F1F5F9"/>
          </a:solidFill>
          <a:ln w="12700">
            <a:solidFill>
              <a:srgbClr val="E2E8F0"/>
            </a:solidFill>
            <a:prstDash val="solid"/>
          </a:ln>
        </p:spPr>
      </p:sp>
      <p:sp>
        <p:nvSpPr>
          <p:cNvPr id="22" name="Text 20"/>
          <p:cNvSpPr/>
          <p:nvPr/>
        </p:nvSpPr>
        <p:spPr>
          <a:xfrm>
            <a:off x="7242048" y="2761488"/>
            <a:ext cx="118872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3</a:t>
            </a:r>
            <a:endParaRPr lang="en-US" sz="950" dirty="0"/>
          </a:p>
        </p:txBody>
      </p:sp>
      <p:sp>
        <p:nvSpPr>
          <p:cNvPr id="23" name="Text 21"/>
          <p:cNvSpPr/>
          <p:nvPr/>
        </p:nvSpPr>
        <p:spPr>
          <a:xfrm>
            <a:off x="8485632" y="2761488"/>
            <a:ext cx="1371600" cy="256032"/>
          </a:xfrm>
          <a:prstGeom prst="rect">
            <a:avLst/>
          </a:prstGeom>
          <a:noFill/>
          <a:ln/>
        </p:spPr>
        <p:txBody>
          <a:bodyPr wrap="square" lIns="0" tIns="0" rIns="0" bIns="0" rtlCol="0" anchor="ctr"/>
          <a:lstStyle/>
          <a:p>
            <a:pPr indent="0" marL="0">
              <a:buNone/>
            </a:pPr>
            <a:r>
              <a:rPr lang="en-US" sz="1000" b="1" dirty="0">
                <a:solidFill>
                  <a:srgbClr val="2563EB"/>
                </a:solidFill>
                <a:latin typeface="Courier New" pitchFamily="34" charset="0"/>
                <a:ea typeface="Courier New" pitchFamily="34" charset="-122"/>
                <a:cs typeface="Courier New" pitchFamily="34" charset="-120"/>
              </a:rPr>
              <a:t>* / // %</a:t>
            </a:r>
            <a:endParaRPr lang="en-US" sz="1000" dirty="0"/>
          </a:p>
        </p:txBody>
      </p:sp>
      <p:sp>
        <p:nvSpPr>
          <p:cNvPr id="24" name="Text 22"/>
          <p:cNvSpPr/>
          <p:nvPr/>
        </p:nvSpPr>
        <p:spPr>
          <a:xfrm>
            <a:off x="9893808" y="2761488"/>
            <a:ext cx="1975104" cy="256032"/>
          </a:xfrm>
          <a:prstGeom prst="rect">
            <a:avLst/>
          </a:prstGeom>
          <a:noFill/>
          <a:ln/>
        </p:spPr>
        <p:txBody>
          <a:bodyPr wrap="square" lIns="0" tIns="0" rIns="0" bIns="0" rtlCol="0" anchor="ctr"/>
          <a:lstStyle/>
          <a:p>
            <a:pPr indent="0" marL="0">
              <a:buNone/>
            </a:pPr>
            <a:r>
              <a:rPr lang="en-US" sz="950" dirty="0">
                <a:solidFill>
                  <a:srgbClr val="0D1526"/>
                </a:solidFill>
                <a:latin typeface="Calibri" pitchFamily="34" charset="0"/>
                <a:ea typeface="Calibri" pitchFamily="34" charset="-122"/>
                <a:cs typeface="Calibri" pitchFamily="34" charset="-120"/>
              </a:rPr>
              <a:t>Multiply, divide, floor, remainder</a:t>
            </a:r>
            <a:endParaRPr lang="en-US" sz="950" dirty="0"/>
          </a:p>
        </p:txBody>
      </p:sp>
      <p:sp>
        <p:nvSpPr>
          <p:cNvPr id="25" name="Shape 23"/>
          <p:cNvSpPr/>
          <p:nvPr/>
        </p:nvSpPr>
        <p:spPr>
          <a:xfrm>
            <a:off x="7178040" y="3200400"/>
            <a:ext cx="4754880" cy="548640"/>
          </a:xfrm>
          <a:prstGeom prst="rect">
            <a:avLst/>
          </a:prstGeom>
          <a:solidFill>
            <a:srgbClr val="FFFFFF"/>
          </a:solidFill>
          <a:ln w="12700">
            <a:solidFill>
              <a:srgbClr val="E2E8F0"/>
            </a:solidFill>
            <a:prstDash val="solid"/>
          </a:ln>
        </p:spPr>
      </p:sp>
      <p:sp>
        <p:nvSpPr>
          <p:cNvPr id="26" name="Text 24"/>
          <p:cNvSpPr/>
          <p:nvPr/>
        </p:nvSpPr>
        <p:spPr>
          <a:xfrm>
            <a:off x="7242048" y="3346704"/>
            <a:ext cx="118872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4</a:t>
            </a:r>
            <a:endParaRPr lang="en-US" sz="950" dirty="0"/>
          </a:p>
        </p:txBody>
      </p:sp>
      <p:sp>
        <p:nvSpPr>
          <p:cNvPr id="27" name="Text 25"/>
          <p:cNvSpPr/>
          <p:nvPr/>
        </p:nvSpPr>
        <p:spPr>
          <a:xfrm>
            <a:off x="8485632" y="3346704"/>
            <a:ext cx="1371600" cy="256032"/>
          </a:xfrm>
          <a:prstGeom prst="rect">
            <a:avLst/>
          </a:prstGeom>
          <a:noFill/>
          <a:ln/>
        </p:spPr>
        <p:txBody>
          <a:bodyPr wrap="square" lIns="0" tIns="0" rIns="0" bIns="0" rtlCol="0" anchor="ctr"/>
          <a:lstStyle/>
          <a:p>
            <a:pPr indent="0" marL="0">
              <a:buNone/>
            </a:pPr>
            <a:r>
              <a:rPr lang="en-US" sz="1000" b="1" dirty="0">
                <a:solidFill>
                  <a:srgbClr val="2563EB"/>
                </a:solidFill>
                <a:latin typeface="Courier New" pitchFamily="34" charset="0"/>
                <a:ea typeface="Courier New" pitchFamily="34" charset="-122"/>
                <a:cs typeface="Courier New" pitchFamily="34" charset="-120"/>
              </a:rPr>
              <a:t>+ -</a:t>
            </a:r>
            <a:endParaRPr lang="en-US" sz="1000" dirty="0"/>
          </a:p>
        </p:txBody>
      </p:sp>
      <p:sp>
        <p:nvSpPr>
          <p:cNvPr id="28" name="Text 26"/>
          <p:cNvSpPr/>
          <p:nvPr/>
        </p:nvSpPr>
        <p:spPr>
          <a:xfrm>
            <a:off x="9893808" y="3346704"/>
            <a:ext cx="1975104" cy="256032"/>
          </a:xfrm>
          <a:prstGeom prst="rect">
            <a:avLst/>
          </a:prstGeom>
          <a:noFill/>
          <a:ln/>
        </p:spPr>
        <p:txBody>
          <a:bodyPr wrap="square" lIns="0" tIns="0" rIns="0" bIns="0" rtlCol="0" anchor="ctr"/>
          <a:lstStyle/>
          <a:p>
            <a:pPr indent="0" marL="0">
              <a:buNone/>
            </a:pPr>
            <a:r>
              <a:rPr lang="en-US" sz="950" dirty="0">
                <a:solidFill>
                  <a:srgbClr val="0D1526"/>
                </a:solidFill>
                <a:latin typeface="Calibri" pitchFamily="34" charset="0"/>
                <a:ea typeface="Calibri" pitchFamily="34" charset="-122"/>
                <a:cs typeface="Calibri" pitchFamily="34" charset="-120"/>
              </a:rPr>
              <a:t>Addition and subtraction</a:t>
            </a:r>
            <a:endParaRPr lang="en-US" sz="950" dirty="0"/>
          </a:p>
        </p:txBody>
      </p:sp>
      <p:sp>
        <p:nvSpPr>
          <p:cNvPr id="29" name="Shape 27"/>
          <p:cNvSpPr/>
          <p:nvPr/>
        </p:nvSpPr>
        <p:spPr>
          <a:xfrm>
            <a:off x="7178040" y="3785616"/>
            <a:ext cx="4754880" cy="548640"/>
          </a:xfrm>
          <a:prstGeom prst="rect">
            <a:avLst/>
          </a:prstGeom>
          <a:solidFill>
            <a:srgbClr val="F1F5F9"/>
          </a:solidFill>
          <a:ln w="12700">
            <a:solidFill>
              <a:srgbClr val="E2E8F0"/>
            </a:solidFill>
            <a:prstDash val="solid"/>
          </a:ln>
        </p:spPr>
      </p:sp>
      <p:sp>
        <p:nvSpPr>
          <p:cNvPr id="30" name="Text 28"/>
          <p:cNvSpPr/>
          <p:nvPr/>
        </p:nvSpPr>
        <p:spPr>
          <a:xfrm>
            <a:off x="7242048" y="3931920"/>
            <a:ext cx="118872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5</a:t>
            </a:r>
            <a:endParaRPr lang="en-US" sz="950" dirty="0"/>
          </a:p>
        </p:txBody>
      </p:sp>
      <p:sp>
        <p:nvSpPr>
          <p:cNvPr id="31" name="Text 29"/>
          <p:cNvSpPr/>
          <p:nvPr/>
        </p:nvSpPr>
        <p:spPr>
          <a:xfrm>
            <a:off x="8485632" y="3931920"/>
            <a:ext cx="1371600" cy="256032"/>
          </a:xfrm>
          <a:prstGeom prst="rect">
            <a:avLst/>
          </a:prstGeom>
          <a:noFill/>
          <a:ln/>
        </p:spPr>
        <p:txBody>
          <a:bodyPr wrap="square" lIns="0" tIns="0" rIns="0" bIns="0" rtlCol="0" anchor="ctr"/>
          <a:lstStyle/>
          <a:p>
            <a:pPr indent="0" marL="0">
              <a:buNone/>
            </a:pPr>
            <a:r>
              <a:rPr lang="en-US" sz="1000" b="1" dirty="0">
                <a:solidFill>
                  <a:srgbClr val="2563EB"/>
                </a:solidFill>
                <a:latin typeface="Courier New" pitchFamily="34" charset="0"/>
                <a:ea typeface="Courier New" pitchFamily="34" charset="-122"/>
                <a:cs typeface="Courier New" pitchFamily="34" charset="-120"/>
              </a:rPr>
              <a:t>&lt; &lt;= &gt; &gt;= == !=</a:t>
            </a:r>
            <a:endParaRPr lang="en-US" sz="1000" dirty="0"/>
          </a:p>
        </p:txBody>
      </p:sp>
      <p:sp>
        <p:nvSpPr>
          <p:cNvPr id="32" name="Text 30"/>
          <p:cNvSpPr/>
          <p:nvPr/>
        </p:nvSpPr>
        <p:spPr>
          <a:xfrm>
            <a:off x="9893808" y="3931920"/>
            <a:ext cx="1975104" cy="256032"/>
          </a:xfrm>
          <a:prstGeom prst="rect">
            <a:avLst/>
          </a:prstGeom>
          <a:noFill/>
          <a:ln/>
        </p:spPr>
        <p:txBody>
          <a:bodyPr wrap="square" lIns="0" tIns="0" rIns="0" bIns="0" rtlCol="0" anchor="ctr"/>
          <a:lstStyle/>
          <a:p>
            <a:pPr indent="0" marL="0">
              <a:buNone/>
            </a:pPr>
            <a:r>
              <a:rPr lang="en-US" sz="950" dirty="0">
                <a:solidFill>
                  <a:srgbClr val="0D1526"/>
                </a:solidFill>
                <a:latin typeface="Calibri" pitchFamily="34" charset="0"/>
                <a:ea typeface="Calibri" pitchFamily="34" charset="-122"/>
                <a:cs typeface="Calibri" pitchFamily="34" charset="-120"/>
              </a:rPr>
              <a:t>Comparisons</a:t>
            </a:r>
            <a:endParaRPr lang="en-US" sz="950" dirty="0"/>
          </a:p>
        </p:txBody>
      </p:sp>
      <p:sp>
        <p:nvSpPr>
          <p:cNvPr id="33" name="Shape 31"/>
          <p:cNvSpPr/>
          <p:nvPr/>
        </p:nvSpPr>
        <p:spPr>
          <a:xfrm>
            <a:off x="7178040" y="4370832"/>
            <a:ext cx="4754880" cy="548640"/>
          </a:xfrm>
          <a:prstGeom prst="rect">
            <a:avLst/>
          </a:prstGeom>
          <a:solidFill>
            <a:srgbClr val="FFFFFF"/>
          </a:solidFill>
          <a:ln w="12700">
            <a:solidFill>
              <a:srgbClr val="E2E8F0"/>
            </a:solidFill>
            <a:prstDash val="solid"/>
          </a:ln>
        </p:spPr>
      </p:sp>
      <p:sp>
        <p:nvSpPr>
          <p:cNvPr id="34" name="Text 32"/>
          <p:cNvSpPr/>
          <p:nvPr/>
        </p:nvSpPr>
        <p:spPr>
          <a:xfrm>
            <a:off x="7242048" y="4517136"/>
            <a:ext cx="118872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6</a:t>
            </a:r>
            <a:endParaRPr lang="en-US" sz="950" dirty="0"/>
          </a:p>
        </p:txBody>
      </p:sp>
      <p:sp>
        <p:nvSpPr>
          <p:cNvPr id="35" name="Text 33"/>
          <p:cNvSpPr/>
          <p:nvPr/>
        </p:nvSpPr>
        <p:spPr>
          <a:xfrm>
            <a:off x="8485632" y="4517136"/>
            <a:ext cx="1371600" cy="256032"/>
          </a:xfrm>
          <a:prstGeom prst="rect">
            <a:avLst/>
          </a:prstGeom>
          <a:noFill/>
          <a:ln/>
        </p:spPr>
        <p:txBody>
          <a:bodyPr wrap="square" lIns="0" tIns="0" rIns="0" bIns="0" rtlCol="0" anchor="ctr"/>
          <a:lstStyle/>
          <a:p>
            <a:pPr indent="0" marL="0">
              <a:buNone/>
            </a:pPr>
            <a:r>
              <a:rPr lang="en-US" sz="1000" b="1" dirty="0">
                <a:solidFill>
                  <a:srgbClr val="2563EB"/>
                </a:solidFill>
                <a:latin typeface="Courier New" pitchFamily="34" charset="0"/>
                <a:ea typeface="Courier New" pitchFamily="34" charset="-122"/>
                <a:cs typeface="Courier New" pitchFamily="34" charset="-120"/>
              </a:rPr>
              <a:t>not</a:t>
            </a:r>
            <a:endParaRPr lang="en-US" sz="1000" dirty="0"/>
          </a:p>
        </p:txBody>
      </p:sp>
      <p:sp>
        <p:nvSpPr>
          <p:cNvPr id="36" name="Text 34"/>
          <p:cNvSpPr/>
          <p:nvPr/>
        </p:nvSpPr>
        <p:spPr>
          <a:xfrm>
            <a:off x="9893808" y="4517136"/>
            <a:ext cx="1975104" cy="256032"/>
          </a:xfrm>
          <a:prstGeom prst="rect">
            <a:avLst/>
          </a:prstGeom>
          <a:noFill/>
          <a:ln/>
        </p:spPr>
        <p:txBody>
          <a:bodyPr wrap="square" lIns="0" tIns="0" rIns="0" bIns="0" rtlCol="0" anchor="ctr"/>
          <a:lstStyle/>
          <a:p>
            <a:pPr indent="0" marL="0">
              <a:buNone/>
            </a:pPr>
            <a:r>
              <a:rPr lang="en-US" sz="950" dirty="0">
                <a:solidFill>
                  <a:srgbClr val="0D1526"/>
                </a:solidFill>
                <a:latin typeface="Calibri" pitchFamily="34" charset="0"/>
                <a:ea typeface="Calibri" pitchFamily="34" charset="-122"/>
                <a:cs typeface="Calibri" pitchFamily="34" charset="-120"/>
              </a:rPr>
              <a:t>Boolean NOT</a:t>
            </a:r>
            <a:endParaRPr lang="en-US" sz="950" dirty="0"/>
          </a:p>
        </p:txBody>
      </p:sp>
      <p:sp>
        <p:nvSpPr>
          <p:cNvPr id="37" name="Shape 35"/>
          <p:cNvSpPr/>
          <p:nvPr/>
        </p:nvSpPr>
        <p:spPr>
          <a:xfrm>
            <a:off x="7178040" y="4956048"/>
            <a:ext cx="4754880" cy="548640"/>
          </a:xfrm>
          <a:prstGeom prst="rect">
            <a:avLst/>
          </a:prstGeom>
          <a:solidFill>
            <a:srgbClr val="F1F5F9"/>
          </a:solidFill>
          <a:ln w="12700">
            <a:solidFill>
              <a:srgbClr val="E2E8F0"/>
            </a:solidFill>
            <a:prstDash val="solid"/>
          </a:ln>
        </p:spPr>
      </p:sp>
      <p:sp>
        <p:nvSpPr>
          <p:cNvPr id="38" name="Text 36"/>
          <p:cNvSpPr/>
          <p:nvPr/>
        </p:nvSpPr>
        <p:spPr>
          <a:xfrm>
            <a:off x="7242048" y="5102352"/>
            <a:ext cx="118872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7</a:t>
            </a:r>
            <a:endParaRPr lang="en-US" sz="950" dirty="0"/>
          </a:p>
        </p:txBody>
      </p:sp>
      <p:sp>
        <p:nvSpPr>
          <p:cNvPr id="39" name="Text 37"/>
          <p:cNvSpPr/>
          <p:nvPr/>
        </p:nvSpPr>
        <p:spPr>
          <a:xfrm>
            <a:off x="8485632" y="5102352"/>
            <a:ext cx="1371600" cy="256032"/>
          </a:xfrm>
          <a:prstGeom prst="rect">
            <a:avLst/>
          </a:prstGeom>
          <a:noFill/>
          <a:ln/>
        </p:spPr>
        <p:txBody>
          <a:bodyPr wrap="square" lIns="0" tIns="0" rIns="0" bIns="0" rtlCol="0" anchor="ctr"/>
          <a:lstStyle/>
          <a:p>
            <a:pPr indent="0" marL="0">
              <a:buNone/>
            </a:pPr>
            <a:r>
              <a:rPr lang="en-US" sz="1000" b="1" dirty="0">
                <a:solidFill>
                  <a:srgbClr val="2563EB"/>
                </a:solidFill>
                <a:latin typeface="Courier New" pitchFamily="34" charset="0"/>
                <a:ea typeface="Courier New" pitchFamily="34" charset="-122"/>
                <a:cs typeface="Courier New" pitchFamily="34" charset="-120"/>
              </a:rPr>
              <a:t>and</a:t>
            </a:r>
            <a:endParaRPr lang="en-US" sz="1000" dirty="0"/>
          </a:p>
        </p:txBody>
      </p:sp>
      <p:sp>
        <p:nvSpPr>
          <p:cNvPr id="40" name="Text 38"/>
          <p:cNvSpPr/>
          <p:nvPr/>
        </p:nvSpPr>
        <p:spPr>
          <a:xfrm>
            <a:off x="9893808" y="5102352"/>
            <a:ext cx="1975104" cy="256032"/>
          </a:xfrm>
          <a:prstGeom prst="rect">
            <a:avLst/>
          </a:prstGeom>
          <a:noFill/>
          <a:ln/>
        </p:spPr>
        <p:txBody>
          <a:bodyPr wrap="square" lIns="0" tIns="0" rIns="0" bIns="0" rtlCol="0" anchor="ctr"/>
          <a:lstStyle/>
          <a:p>
            <a:pPr indent="0" marL="0">
              <a:buNone/>
            </a:pPr>
            <a:r>
              <a:rPr lang="en-US" sz="950" dirty="0">
                <a:solidFill>
                  <a:srgbClr val="0D1526"/>
                </a:solidFill>
                <a:latin typeface="Calibri" pitchFamily="34" charset="0"/>
                <a:ea typeface="Calibri" pitchFamily="34" charset="-122"/>
                <a:cs typeface="Calibri" pitchFamily="34" charset="-120"/>
              </a:rPr>
              <a:t>Boolean AND</a:t>
            </a:r>
            <a:endParaRPr lang="en-US" sz="950" dirty="0"/>
          </a:p>
        </p:txBody>
      </p:sp>
      <p:sp>
        <p:nvSpPr>
          <p:cNvPr id="41" name="Shape 39"/>
          <p:cNvSpPr/>
          <p:nvPr/>
        </p:nvSpPr>
        <p:spPr>
          <a:xfrm>
            <a:off x="7178040" y="5541264"/>
            <a:ext cx="4754880" cy="548640"/>
          </a:xfrm>
          <a:prstGeom prst="rect">
            <a:avLst/>
          </a:prstGeom>
          <a:solidFill>
            <a:srgbClr val="FFFFFF"/>
          </a:solidFill>
          <a:ln w="12700">
            <a:solidFill>
              <a:srgbClr val="E2E8F0"/>
            </a:solidFill>
            <a:prstDash val="solid"/>
          </a:ln>
        </p:spPr>
      </p:sp>
      <p:sp>
        <p:nvSpPr>
          <p:cNvPr id="42" name="Text 40"/>
          <p:cNvSpPr/>
          <p:nvPr/>
        </p:nvSpPr>
        <p:spPr>
          <a:xfrm>
            <a:off x="7242048" y="5687568"/>
            <a:ext cx="118872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8 (last)</a:t>
            </a:r>
            <a:endParaRPr lang="en-US" sz="950" dirty="0"/>
          </a:p>
        </p:txBody>
      </p:sp>
      <p:sp>
        <p:nvSpPr>
          <p:cNvPr id="43" name="Text 41"/>
          <p:cNvSpPr/>
          <p:nvPr/>
        </p:nvSpPr>
        <p:spPr>
          <a:xfrm>
            <a:off x="8485632" y="5687568"/>
            <a:ext cx="1371600" cy="256032"/>
          </a:xfrm>
          <a:prstGeom prst="rect">
            <a:avLst/>
          </a:prstGeom>
          <a:noFill/>
          <a:ln/>
        </p:spPr>
        <p:txBody>
          <a:bodyPr wrap="square" lIns="0" tIns="0" rIns="0" bIns="0" rtlCol="0" anchor="ctr"/>
          <a:lstStyle/>
          <a:p>
            <a:pPr indent="0" marL="0">
              <a:buNone/>
            </a:pPr>
            <a:r>
              <a:rPr lang="en-US" sz="1000" b="1" dirty="0">
                <a:solidFill>
                  <a:srgbClr val="2563EB"/>
                </a:solidFill>
                <a:latin typeface="Courier New" pitchFamily="34" charset="0"/>
                <a:ea typeface="Courier New" pitchFamily="34" charset="-122"/>
                <a:cs typeface="Courier New" pitchFamily="34" charset="-120"/>
              </a:rPr>
              <a:t>or</a:t>
            </a:r>
            <a:endParaRPr lang="en-US" sz="1000" dirty="0"/>
          </a:p>
        </p:txBody>
      </p:sp>
      <p:sp>
        <p:nvSpPr>
          <p:cNvPr id="44" name="Text 42"/>
          <p:cNvSpPr/>
          <p:nvPr/>
        </p:nvSpPr>
        <p:spPr>
          <a:xfrm>
            <a:off x="9893808" y="5687568"/>
            <a:ext cx="1975104" cy="256032"/>
          </a:xfrm>
          <a:prstGeom prst="rect">
            <a:avLst/>
          </a:prstGeom>
          <a:noFill/>
          <a:ln/>
        </p:spPr>
        <p:txBody>
          <a:bodyPr wrap="square" lIns="0" tIns="0" rIns="0" bIns="0" rtlCol="0" anchor="ctr"/>
          <a:lstStyle/>
          <a:p>
            <a:pPr indent="0" marL="0">
              <a:buNone/>
            </a:pPr>
            <a:r>
              <a:rPr lang="en-US" sz="950" dirty="0">
                <a:solidFill>
                  <a:srgbClr val="0D1526"/>
                </a:solidFill>
                <a:latin typeface="Calibri" pitchFamily="34" charset="0"/>
                <a:ea typeface="Calibri" pitchFamily="34" charset="-122"/>
                <a:cs typeface="Calibri" pitchFamily="34" charset="-120"/>
              </a:rPr>
              <a:t>Boolean OR</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526"/>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6A34A"/>
          </a:solidFill>
          <a:ln w="12700">
            <a:solidFill>
              <a:srgbClr val="16A34A"/>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SECTION 03 CHALLENGE — OPERATORS</a:t>
            </a:r>
            <a:endParaRPr lang="en-US" sz="2600" dirty="0"/>
          </a:p>
        </p:txBody>
      </p:sp>
      <p:sp>
        <p:nvSpPr>
          <p:cNvPr id="4" name="Shape 2"/>
          <p:cNvSpPr/>
          <p:nvPr/>
        </p:nvSpPr>
        <p:spPr>
          <a:xfrm>
            <a:off x="411480" y="1097280"/>
            <a:ext cx="5577840" cy="3383280"/>
          </a:xfrm>
          <a:prstGeom prst="roundRect">
            <a:avLst>
              <a:gd name="adj" fmla="val 2703"/>
            </a:avLst>
          </a:prstGeom>
          <a:solidFill>
            <a:srgbClr val="1A2540"/>
          </a:solidFill>
          <a:ln w="17780">
            <a:solidFill>
              <a:srgbClr val="2563EB"/>
            </a:solidFill>
            <a:prstDash val="solid"/>
          </a:ln>
          <a:effectLst>
            <a:outerShdw sx="100000" sy="100000" kx="0" ky="0" algn="bl" rotWithShape="0" blurRad="63500" dist="25400" dir="2700000">
              <a:srgbClr val="000000">
                <a:alpha val="12000"/>
              </a:srgbClr>
            </a:outerShdw>
          </a:effectLst>
        </p:spPr>
      </p:sp>
      <p:sp>
        <p:nvSpPr>
          <p:cNvPr id="5" name="Shape 3"/>
          <p:cNvSpPr/>
          <p:nvPr/>
        </p:nvSpPr>
        <p:spPr>
          <a:xfrm>
            <a:off x="411480" y="1097280"/>
            <a:ext cx="5577840" cy="457200"/>
          </a:xfrm>
          <a:prstGeom prst="roundRect">
            <a:avLst>
              <a:gd name="adj" fmla="val 20000"/>
            </a:avLst>
          </a:prstGeom>
          <a:solidFill>
            <a:srgbClr val="2563EB"/>
          </a:solidFill>
          <a:ln w="12700">
            <a:solidFill>
              <a:srgbClr val="2563EB"/>
            </a:solidFill>
            <a:prstDash val="solid"/>
          </a:ln>
        </p:spPr>
      </p:sp>
      <p:sp>
        <p:nvSpPr>
          <p:cNvPr id="6" name="Shape 4"/>
          <p:cNvSpPr/>
          <p:nvPr/>
        </p:nvSpPr>
        <p:spPr>
          <a:xfrm>
            <a:off x="411480" y="1389888"/>
            <a:ext cx="5577840" cy="164592"/>
          </a:xfrm>
          <a:prstGeom prst="rect">
            <a:avLst/>
          </a:prstGeom>
          <a:solidFill>
            <a:srgbClr val="2563EB"/>
          </a:solidFill>
          <a:ln w="12700">
            <a:solidFill>
              <a:srgbClr val="2563EB"/>
            </a:solidFill>
            <a:prstDash val="solid"/>
          </a:ln>
        </p:spPr>
      </p:sp>
      <p:sp>
        <p:nvSpPr>
          <p:cNvPr id="7" name="Text 5"/>
          <p:cNvSpPr/>
          <p:nvPr/>
        </p:nvSpPr>
        <p:spPr>
          <a:xfrm>
            <a:off x="521208" y="1170432"/>
            <a:ext cx="5358384" cy="292608"/>
          </a:xfrm>
          <a:prstGeom prst="rect">
            <a:avLst/>
          </a:prstGeom>
          <a:noFill/>
          <a:ln/>
        </p:spPr>
        <p:txBody>
          <a:bodyPr wrap="square" lIns="0" tIns="0" rIns="0" bIns="0" rtlCol="0" anchor="ctr"/>
          <a:lstStyle/>
          <a:p>
            <a:pPr indent="0" marL="0">
              <a:buNone/>
            </a:pPr>
            <a:r>
              <a:rPr lang="en-US" sz="1100" b="1" dirty="0">
                <a:solidFill>
                  <a:srgbClr val="080D18"/>
                </a:solidFill>
                <a:latin typeface="Calibri" pitchFamily="34" charset="0"/>
                <a:ea typeface="Calibri" pitchFamily="34" charset="-122"/>
                <a:cs typeface="Calibri" pitchFamily="34" charset="-120"/>
              </a:rPr>
              <a:t>⚡  CHALLENGE</a:t>
            </a:r>
            <a:endParaRPr lang="en-US" sz="1100" dirty="0"/>
          </a:p>
        </p:txBody>
      </p:sp>
      <p:sp>
        <p:nvSpPr>
          <p:cNvPr id="8" name="Text 6"/>
          <p:cNvSpPr/>
          <p:nvPr/>
        </p:nvSpPr>
        <p:spPr>
          <a:xfrm>
            <a:off x="539496" y="1645920"/>
            <a:ext cx="5321808" cy="1389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Q1. A store buys 200 units at NGN 3,500 each.</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VAT is 7.5%. Shipping is NGN 15,000.</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Calculate total cost in one expression.</a:t>
            </a:r>
            <a:endParaRPr lang="en-US" sz="1100" dirty="0"/>
          </a:p>
        </p:txBody>
      </p:sp>
      <p:sp>
        <p:nvSpPr>
          <p:cNvPr id="9" name="Shape 7"/>
          <p:cNvSpPr/>
          <p:nvPr/>
        </p:nvSpPr>
        <p:spPr>
          <a:xfrm>
            <a:off x="539496" y="3145536"/>
            <a:ext cx="5321808" cy="18288"/>
          </a:xfrm>
          <a:prstGeom prst="rect">
            <a:avLst/>
          </a:prstGeom>
          <a:solidFill>
            <a:srgbClr val="64748B"/>
          </a:solidFill>
          <a:ln w="12700">
            <a:solidFill>
              <a:srgbClr val="64748B"/>
            </a:solidFill>
            <a:prstDash val="solid"/>
          </a:ln>
        </p:spPr>
      </p:sp>
      <p:sp>
        <p:nvSpPr>
          <p:cNvPr id="10" name="Text 8"/>
          <p:cNvSpPr/>
          <p:nvPr/>
        </p:nvSpPr>
        <p:spPr>
          <a:xfrm>
            <a:off x="539496" y="3236976"/>
            <a:ext cx="5321808" cy="256032"/>
          </a:xfrm>
          <a:prstGeom prst="rect">
            <a:avLst/>
          </a:prstGeom>
          <a:noFill/>
          <a:ln/>
        </p:spPr>
        <p:txBody>
          <a:bodyPr wrap="square" lIns="0" tIns="0" rIns="0" bIns="0" rtlCol="0" anchor="ctr"/>
          <a:lstStyle/>
          <a:p>
            <a:pPr indent="0" marL="0">
              <a:buNone/>
            </a:pPr>
            <a:r>
              <a:rPr lang="en-US" sz="1000" b="1" dirty="0">
                <a:solidFill>
                  <a:srgbClr val="2563EB"/>
                </a:solidFill>
                <a:latin typeface="Cambria" pitchFamily="34" charset="0"/>
                <a:ea typeface="Cambria" pitchFamily="34" charset="-122"/>
                <a:cs typeface="Cambria" pitchFamily="34" charset="-120"/>
              </a:rPr>
              <a:t>Answer:</a:t>
            </a:r>
            <a:endParaRPr lang="en-US" sz="1000" dirty="0"/>
          </a:p>
        </p:txBody>
      </p:sp>
      <p:sp>
        <p:nvSpPr>
          <p:cNvPr id="11" name="Text 9"/>
          <p:cNvSpPr/>
          <p:nvPr/>
        </p:nvSpPr>
        <p:spPr>
          <a:xfrm>
            <a:off x="539496" y="3529584"/>
            <a:ext cx="5321808" cy="822960"/>
          </a:xfrm>
          <a:prstGeom prst="rect">
            <a:avLst/>
          </a:prstGeom>
          <a:noFill/>
          <a:ln/>
        </p:spPr>
        <p:txBody>
          <a:bodyPr wrap="square" lIns="0" tIns="0" rIns="0" bIns="0" rtlCol="0" anchor="ctr"/>
          <a:lstStyle/>
          <a:p>
            <a:pPr indent="0" marL="0">
              <a:buNone/>
            </a:pPr>
            <a:r>
              <a:rPr lang="en-US" sz="1000" dirty="0">
                <a:solidFill>
                  <a:srgbClr val="16A34A"/>
                </a:solidFill>
                <a:latin typeface="Courier New" pitchFamily="34" charset="0"/>
                <a:ea typeface="Courier New" pitchFamily="34" charset="-122"/>
                <a:cs typeface="Courier New" pitchFamily="34" charset="-120"/>
              </a:rPr>
              <a:t>total = 200 * 3500 * 1.075 + 15000</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 = 752,500 + 15,000 = 767,500</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print(f'NGN {total:,.0f}')</a:t>
            </a:r>
            <a:endParaRPr lang="en-US" sz="1000" dirty="0"/>
          </a:p>
        </p:txBody>
      </p:sp>
      <p:sp>
        <p:nvSpPr>
          <p:cNvPr id="12" name="Shape 10"/>
          <p:cNvSpPr/>
          <p:nvPr/>
        </p:nvSpPr>
        <p:spPr>
          <a:xfrm>
            <a:off x="6172200" y="1097280"/>
            <a:ext cx="5760720" cy="3383280"/>
          </a:xfrm>
          <a:prstGeom prst="roundRect">
            <a:avLst>
              <a:gd name="adj" fmla="val 2703"/>
            </a:avLst>
          </a:prstGeom>
          <a:solidFill>
            <a:srgbClr val="1A2540"/>
          </a:solidFill>
          <a:ln w="17780">
            <a:solidFill>
              <a:srgbClr val="16A34A"/>
            </a:solidFill>
            <a:prstDash val="solid"/>
          </a:ln>
          <a:effectLst>
            <a:outerShdw sx="100000" sy="100000" kx="0" ky="0" algn="bl" rotWithShape="0" blurRad="63500" dist="25400" dir="2700000">
              <a:srgbClr val="000000">
                <a:alpha val="12000"/>
              </a:srgbClr>
            </a:outerShdw>
          </a:effectLst>
        </p:spPr>
      </p:sp>
      <p:sp>
        <p:nvSpPr>
          <p:cNvPr id="13" name="Shape 11"/>
          <p:cNvSpPr/>
          <p:nvPr/>
        </p:nvSpPr>
        <p:spPr>
          <a:xfrm>
            <a:off x="6172200" y="1097280"/>
            <a:ext cx="5760720" cy="457200"/>
          </a:xfrm>
          <a:prstGeom prst="roundRect">
            <a:avLst>
              <a:gd name="adj" fmla="val 20000"/>
            </a:avLst>
          </a:prstGeom>
          <a:solidFill>
            <a:srgbClr val="16A34A"/>
          </a:solidFill>
          <a:ln w="12700">
            <a:solidFill>
              <a:srgbClr val="16A34A"/>
            </a:solidFill>
            <a:prstDash val="solid"/>
          </a:ln>
        </p:spPr>
      </p:sp>
      <p:sp>
        <p:nvSpPr>
          <p:cNvPr id="14" name="Shape 12"/>
          <p:cNvSpPr/>
          <p:nvPr/>
        </p:nvSpPr>
        <p:spPr>
          <a:xfrm>
            <a:off x="6172200" y="1389888"/>
            <a:ext cx="5760720" cy="164592"/>
          </a:xfrm>
          <a:prstGeom prst="rect">
            <a:avLst/>
          </a:prstGeom>
          <a:solidFill>
            <a:srgbClr val="16A34A"/>
          </a:solidFill>
          <a:ln w="12700">
            <a:solidFill>
              <a:srgbClr val="16A34A"/>
            </a:solidFill>
            <a:prstDash val="solid"/>
          </a:ln>
        </p:spPr>
      </p:sp>
      <p:sp>
        <p:nvSpPr>
          <p:cNvPr id="15" name="Text 13"/>
          <p:cNvSpPr/>
          <p:nvPr/>
        </p:nvSpPr>
        <p:spPr>
          <a:xfrm>
            <a:off x="6281928" y="1170432"/>
            <a:ext cx="5541264" cy="292608"/>
          </a:xfrm>
          <a:prstGeom prst="rect">
            <a:avLst/>
          </a:prstGeom>
          <a:noFill/>
          <a:ln/>
        </p:spPr>
        <p:txBody>
          <a:bodyPr wrap="square" lIns="0" tIns="0" rIns="0" bIns="0" rtlCol="0" anchor="ctr"/>
          <a:lstStyle/>
          <a:p>
            <a:pPr indent="0" marL="0">
              <a:buNone/>
            </a:pPr>
            <a:r>
              <a:rPr lang="en-US" sz="1100" b="1" dirty="0">
                <a:solidFill>
                  <a:srgbClr val="080D18"/>
                </a:solidFill>
                <a:latin typeface="Calibri" pitchFamily="34" charset="0"/>
                <a:ea typeface="Calibri" pitchFamily="34" charset="-122"/>
                <a:cs typeface="Calibri" pitchFamily="34" charset="-120"/>
              </a:rPr>
              <a:t>⚡  CHALLENGE</a:t>
            </a:r>
            <a:endParaRPr lang="en-US" sz="1100" dirty="0"/>
          </a:p>
        </p:txBody>
      </p:sp>
      <p:sp>
        <p:nvSpPr>
          <p:cNvPr id="16" name="Text 14"/>
          <p:cNvSpPr/>
          <p:nvPr/>
        </p:nvSpPr>
        <p:spPr>
          <a:xfrm>
            <a:off x="6300216" y="1645920"/>
            <a:ext cx="5504688" cy="1389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Q2. What is the output?</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x = 17</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print(x // 5)</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print(x % 5)</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print(x / 5)</a:t>
            </a:r>
            <a:endParaRPr lang="en-US" sz="1100" dirty="0"/>
          </a:p>
        </p:txBody>
      </p:sp>
      <p:sp>
        <p:nvSpPr>
          <p:cNvPr id="17" name="Shape 15"/>
          <p:cNvSpPr/>
          <p:nvPr/>
        </p:nvSpPr>
        <p:spPr>
          <a:xfrm>
            <a:off x="6300216" y="3145536"/>
            <a:ext cx="5504688" cy="18288"/>
          </a:xfrm>
          <a:prstGeom prst="rect">
            <a:avLst/>
          </a:prstGeom>
          <a:solidFill>
            <a:srgbClr val="64748B"/>
          </a:solidFill>
          <a:ln w="12700">
            <a:solidFill>
              <a:srgbClr val="64748B"/>
            </a:solidFill>
            <a:prstDash val="solid"/>
          </a:ln>
        </p:spPr>
      </p:sp>
      <p:sp>
        <p:nvSpPr>
          <p:cNvPr id="18" name="Text 16"/>
          <p:cNvSpPr/>
          <p:nvPr/>
        </p:nvSpPr>
        <p:spPr>
          <a:xfrm>
            <a:off x="6300216" y="3236976"/>
            <a:ext cx="5504688" cy="256032"/>
          </a:xfrm>
          <a:prstGeom prst="rect">
            <a:avLst/>
          </a:prstGeom>
          <a:noFill/>
          <a:ln/>
        </p:spPr>
        <p:txBody>
          <a:bodyPr wrap="square" lIns="0" tIns="0" rIns="0" bIns="0" rtlCol="0" anchor="ctr"/>
          <a:lstStyle/>
          <a:p>
            <a:pPr indent="0" marL="0">
              <a:buNone/>
            </a:pPr>
            <a:r>
              <a:rPr lang="en-US" sz="1000" b="1" dirty="0">
                <a:solidFill>
                  <a:srgbClr val="16A34A"/>
                </a:solidFill>
                <a:latin typeface="Cambria" pitchFamily="34" charset="0"/>
                <a:ea typeface="Cambria" pitchFamily="34" charset="-122"/>
                <a:cs typeface="Cambria" pitchFamily="34" charset="-120"/>
              </a:rPr>
              <a:t>Answer:</a:t>
            </a:r>
            <a:endParaRPr lang="en-US" sz="1000" dirty="0"/>
          </a:p>
        </p:txBody>
      </p:sp>
      <p:sp>
        <p:nvSpPr>
          <p:cNvPr id="19" name="Text 17"/>
          <p:cNvSpPr/>
          <p:nvPr/>
        </p:nvSpPr>
        <p:spPr>
          <a:xfrm>
            <a:off x="6300216" y="3529584"/>
            <a:ext cx="5504688" cy="822960"/>
          </a:xfrm>
          <a:prstGeom prst="rect">
            <a:avLst/>
          </a:prstGeom>
          <a:noFill/>
          <a:ln/>
        </p:spPr>
        <p:txBody>
          <a:bodyPr wrap="square" lIns="0" tIns="0" rIns="0" bIns="0" rtlCol="0" anchor="ctr"/>
          <a:lstStyle/>
          <a:p>
            <a:pPr indent="0" marL="0">
              <a:buNone/>
            </a:pPr>
            <a:r>
              <a:rPr lang="en-US" sz="1000" dirty="0">
                <a:solidFill>
                  <a:srgbClr val="16A34A"/>
                </a:solidFill>
                <a:latin typeface="Courier New" pitchFamily="34" charset="0"/>
                <a:ea typeface="Courier New" pitchFamily="34" charset="-122"/>
                <a:cs typeface="Courier New" pitchFamily="34" charset="-120"/>
              </a:rPr>
              <a:t>x // 5 = 3   (17 divided by 5 = 3 remainder)</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x % 5  = 2   (the remainder is 2)</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x / 5  = 3.4 (float division)</a:t>
            </a:r>
            <a:endParaRPr lang="en-US" sz="1000" dirty="0"/>
          </a:p>
        </p:txBody>
      </p:sp>
      <p:sp>
        <p:nvSpPr>
          <p:cNvPr id="20" name="Shape 18"/>
          <p:cNvSpPr/>
          <p:nvPr/>
        </p:nvSpPr>
        <p:spPr>
          <a:xfrm>
            <a:off x="411480" y="4535424"/>
            <a:ext cx="5577840" cy="3383280"/>
          </a:xfrm>
          <a:prstGeom prst="roundRect">
            <a:avLst>
              <a:gd name="adj" fmla="val 2703"/>
            </a:avLst>
          </a:prstGeom>
          <a:solidFill>
            <a:srgbClr val="1A2540"/>
          </a:solidFill>
          <a:ln w="17780">
            <a:solidFill>
              <a:srgbClr val="7C3AED"/>
            </a:solidFill>
            <a:prstDash val="solid"/>
          </a:ln>
          <a:effectLst>
            <a:outerShdw sx="100000" sy="100000" kx="0" ky="0" algn="bl" rotWithShape="0" blurRad="63500" dist="25400" dir="2700000">
              <a:srgbClr val="000000">
                <a:alpha val="12000"/>
              </a:srgbClr>
            </a:outerShdw>
          </a:effectLst>
        </p:spPr>
      </p:sp>
      <p:sp>
        <p:nvSpPr>
          <p:cNvPr id="21" name="Shape 19"/>
          <p:cNvSpPr/>
          <p:nvPr/>
        </p:nvSpPr>
        <p:spPr>
          <a:xfrm>
            <a:off x="411480" y="4535424"/>
            <a:ext cx="5577840" cy="457200"/>
          </a:xfrm>
          <a:prstGeom prst="roundRect">
            <a:avLst>
              <a:gd name="adj" fmla="val 20000"/>
            </a:avLst>
          </a:prstGeom>
          <a:solidFill>
            <a:srgbClr val="7C3AED"/>
          </a:solidFill>
          <a:ln w="12700">
            <a:solidFill>
              <a:srgbClr val="7C3AED"/>
            </a:solidFill>
            <a:prstDash val="solid"/>
          </a:ln>
        </p:spPr>
      </p:sp>
      <p:sp>
        <p:nvSpPr>
          <p:cNvPr id="22" name="Shape 20"/>
          <p:cNvSpPr/>
          <p:nvPr/>
        </p:nvSpPr>
        <p:spPr>
          <a:xfrm>
            <a:off x="411480" y="4828032"/>
            <a:ext cx="5577840" cy="164592"/>
          </a:xfrm>
          <a:prstGeom prst="rect">
            <a:avLst/>
          </a:prstGeom>
          <a:solidFill>
            <a:srgbClr val="7C3AED"/>
          </a:solidFill>
          <a:ln w="12700">
            <a:solidFill>
              <a:srgbClr val="7C3AED"/>
            </a:solidFill>
            <a:prstDash val="solid"/>
          </a:ln>
        </p:spPr>
      </p:sp>
      <p:sp>
        <p:nvSpPr>
          <p:cNvPr id="23" name="Text 21"/>
          <p:cNvSpPr/>
          <p:nvPr/>
        </p:nvSpPr>
        <p:spPr>
          <a:xfrm>
            <a:off x="521208" y="4608576"/>
            <a:ext cx="5358384" cy="292608"/>
          </a:xfrm>
          <a:prstGeom prst="rect">
            <a:avLst/>
          </a:prstGeom>
          <a:noFill/>
          <a:ln/>
        </p:spPr>
        <p:txBody>
          <a:bodyPr wrap="square" lIns="0" tIns="0" rIns="0" bIns="0" rtlCol="0" anchor="ctr"/>
          <a:lstStyle/>
          <a:p>
            <a:pPr indent="0" marL="0">
              <a:buNone/>
            </a:pPr>
            <a:r>
              <a:rPr lang="en-US" sz="1100" b="1" dirty="0">
                <a:solidFill>
                  <a:srgbClr val="080D18"/>
                </a:solidFill>
                <a:latin typeface="Calibri" pitchFamily="34" charset="0"/>
                <a:ea typeface="Calibri" pitchFamily="34" charset="-122"/>
                <a:cs typeface="Calibri" pitchFamily="34" charset="-120"/>
              </a:rPr>
              <a:t>⚡  CHALLENGE</a:t>
            </a:r>
            <a:endParaRPr lang="en-US" sz="1100" dirty="0"/>
          </a:p>
        </p:txBody>
      </p:sp>
      <p:sp>
        <p:nvSpPr>
          <p:cNvPr id="24" name="Text 22"/>
          <p:cNvSpPr/>
          <p:nvPr/>
        </p:nvSpPr>
        <p:spPr>
          <a:xfrm>
            <a:off x="539496" y="5084064"/>
            <a:ext cx="5321808" cy="1389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Q3. A loan is approved if:</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 Age is between 21 and 60 AND</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 Monthly income &gt; 50,000</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Write the condition for age=35, income=75000.</a:t>
            </a:r>
            <a:endParaRPr lang="en-US" sz="1100" dirty="0"/>
          </a:p>
        </p:txBody>
      </p:sp>
      <p:sp>
        <p:nvSpPr>
          <p:cNvPr id="25" name="Shape 23"/>
          <p:cNvSpPr/>
          <p:nvPr/>
        </p:nvSpPr>
        <p:spPr>
          <a:xfrm>
            <a:off x="539496" y="6583680"/>
            <a:ext cx="5321808" cy="18288"/>
          </a:xfrm>
          <a:prstGeom prst="rect">
            <a:avLst/>
          </a:prstGeom>
          <a:solidFill>
            <a:srgbClr val="64748B"/>
          </a:solidFill>
          <a:ln w="12700">
            <a:solidFill>
              <a:srgbClr val="64748B"/>
            </a:solidFill>
            <a:prstDash val="solid"/>
          </a:ln>
        </p:spPr>
      </p:sp>
      <p:sp>
        <p:nvSpPr>
          <p:cNvPr id="26" name="Text 24"/>
          <p:cNvSpPr/>
          <p:nvPr/>
        </p:nvSpPr>
        <p:spPr>
          <a:xfrm>
            <a:off x="539496" y="6675120"/>
            <a:ext cx="5321808" cy="256032"/>
          </a:xfrm>
          <a:prstGeom prst="rect">
            <a:avLst/>
          </a:prstGeom>
          <a:noFill/>
          <a:ln/>
        </p:spPr>
        <p:txBody>
          <a:bodyPr wrap="square" lIns="0" tIns="0" rIns="0" bIns="0" rtlCol="0" anchor="ctr"/>
          <a:lstStyle/>
          <a:p>
            <a:pPr indent="0" marL="0">
              <a:buNone/>
            </a:pPr>
            <a:r>
              <a:rPr lang="en-US" sz="1000" b="1" dirty="0">
                <a:solidFill>
                  <a:srgbClr val="7C3AED"/>
                </a:solidFill>
                <a:latin typeface="Cambria" pitchFamily="34" charset="0"/>
                <a:ea typeface="Cambria" pitchFamily="34" charset="-122"/>
                <a:cs typeface="Cambria" pitchFamily="34" charset="-120"/>
              </a:rPr>
              <a:t>Answer:</a:t>
            </a:r>
            <a:endParaRPr lang="en-US" sz="1000" dirty="0"/>
          </a:p>
        </p:txBody>
      </p:sp>
      <p:sp>
        <p:nvSpPr>
          <p:cNvPr id="27" name="Text 25"/>
          <p:cNvSpPr/>
          <p:nvPr/>
        </p:nvSpPr>
        <p:spPr>
          <a:xfrm>
            <a:off x="539496" y="6967728"/>
            <a:ext cx="5321808" cy="822960"/>
          </a:xfrm>
          <a:prstGeom prst="rect">
            <a:avLst/>
          </a:prstGeom>
          <a:noFill/>
          <a:ln/>
        </p:spPr>
        <p:txBody>
          <a:bodyPr wrap="square" lIns="0" tIns="0" rIns="0" bIns="0" rtlCol="0" anchor="ctr"/>
          <a:lstStyle/>
          <a:p>
            <a:pPr indent="0" marL="0">
              <a:buNone/>
            </a:pPr>
            <a:r>
              <a:rPr lang="en-US" sz="1000" dirty="0">
                <a:solidFill>
                  <a:srgbClr val="16A34A"/>
                </a:solidFill>
                <a:latin typeface="Courier New" pitchFamily="34" charset="0"/>
                <a:ea typeface="Courier New" pitchFamily="34" charset="-122"/>
                <a:cs typeface="Courier New" pitchFamily="34" charset="-120"/>
              </a:rPr>
              <a:t>approved = (21 &lt;= age &lt;= 60) and income &gt; 50000</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 True — age chaining works in Python!</a:t>
            </a:r>
            <a:endParaRPr lang="en-US" sz="1000" dirty="0"/>
          </a:p>
        </p:txBody>
      </p:sp>
      <p:sp>
        <p:nvSpPr>
          <p:cNvPr id="28" name="Shape 26"/>
          <p:cNvSpPr/>
          <p:nvPr/>
        </p:nvSpPr>
        <p:spPr>
          <a:xfrm>
            <a:off x="6172200" y="4535424"/>
            <a:ext cx="5760720" cy="3383280"/>
          </a:xfrm>
          <a:prstGeom prst="roundRect">
            <a:avLst>
              <a:gd name="adj" fmla="val 2703"/>
            </a:avLst>
          </a:prstGeom>
          <a:solidFill>
            <a:srgbClr val="1A2540"/>
          </a:solidFill>
          <a:ln w="17780">
            <a:solidFill>
              <a:srgbClr val="D97706"/>
            </a:solidFill>
            <a:prstDash val="solid"/>
          </a:ln>
          <a:effectLst>
            <a:outerShdw sx="100000" sy="100000" kx="0" ky="0" algn="bl" rotWithShape="0" blurRad="63500" dist="25400" dir="2700000">
              <a:srgbClr val="000000">
                <a:alpha val="12000"/>
              </a:srgbClr>
            </a:outerShdw>
          </a:effectLst>
        </p:spPr>
      </p:sp>
      <p:sp>
        <p:nvSpPr>
          <p:cNvPr id="29" name="Shape 27"/>
          <p:cNvSpPr/>
          <p:nvPr/>
        </p:nvSpPr>
        <p:spPr>
          <a:xfrm>
            <a:off x="6172200" y="4535424"/>
            <a:ext cx="5760720" cy="457200"/>
          </a:xfrm>
          <a:prstGeom prst="roundRect">
            <a:avLst>
              <a:gd name="adj" fmla="val 20000"/>
            </a:avLst>
          </a:prstGeom>
          <a:solidFill>
            <a:srgbClr val="D97706"/>
          </a:solidFill>
          <a:ln w="12700">
            <a:solidFill>
              <a:srgbClr val="D97706"/>
            </a:solidFill>
            <a:prstDash val="solid"/>
          </a:ln>
        </p:spPr>
      </p:sp>
      <p:sp>
        <p:nvSpPr>
          <p:cNvPr id="30" name="Shape 28"/>
          <p:cNvSpPr/>
          <p:nvPr/>
        </p:nvSpPr>
        <p:spPr>
          <a:xfrm>
            <a:off x="6172200" y="4828032"/>
            <a:ext cx="5760720" cy="164592"/>
          </a:xfrm>
          <a:prstGeom prst="rect">
            <a:avLst/>
          </a:prstGeom>
          <a:solidFill>
            <a:srgbClr val="D97706"/>
          </a:solidFill>
          <a:ln w="12700">
            <a:solidFill>
              <a:srgbClr val="D97706"/>
            </a:solidFill>
            <a:prstDash val="solid"/>
          </a:ln>
        </p:spPr>
      </p:sp>
      <p:sp>
        <p:nvSpPr>
          <p:cNvPr id="31" name="Text 29"/>
          <p:cNvSpPr/>
          <p:nvPr/>
        </p:nvSpPr>
        <p:spPr>
          <a:xfrm>
            <a:off x="6281928" y="4608576"/>
            <a:ext cx="5541264" cy="292608"/>
          </a:xfrm>
          <a:prstGeom prst="rect">
            <a:avLst/>
          </a:prstGeom>
          <a:noFill/>
          <a:ln/>
        </p:spPr>
        <p:txBody>
          <a:bodyPr wrap="square" lIns="0" tIns="0" rIns="0" bIns="0" rtlCol="0" anchor="ctr"/>
          <a:lstStyle/>
          <a:p>
            <a:pPr indent="0" marL="0">
              <a:buNone/>
            </a:pPr>
            <a:r>
              <a:rPr lang="en-US" sz="1100" b="1" dirty="0">
                <a:solidFill>
                  <a:srgbClr val="080D18"/>
                </a:solidFill>
                <a:latin typeface="Calibri" pitchFamily="34" charset="0"/>
                <a:ea typeface="Calibri" pitchFamily="34" charset="-122"/>
                <a:cs typeface="Calibri" pitchFamily="34" charset="-120"/>
              </a:rPr>
              <a:t>⚡  CHALLENGE</a:t>
            </a:r>
            <a:endParaRPr lang="en-US" sz="1100" dirty="0"/>
          </a:p>
        </p:txBody>
      </p:sp>
      <p:sp>
        <p:nvSpPr>
          <p:cNvPr id="32" name="Text 30"/>
          <p:cNvSpPr/>
          <p:nvPr/>
        </p:nvSpPr>
        <p:spPr>
          <a:xfrm>
            <a:off x="6300216" y="5084064"/>
            <a:ext cx="5504688" cy="1389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Q4. NGN 1,000,000 is invested at 15% per year,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compounded monthly. What is it worth after 2 years?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Use: A = P * (1 + r/n)**(n*t)</a:t>
            </a:r>
            <a:endParaRPr lang="en-US" sz="1100" dirty="0"/>
          </a:p>
        </p:txBody>
      </p:sp>
      <p:sp>
        <p:nvSpPr>
          <p:cNvPr id="33" name="Shape 31"/>
          <p:cNvSpPr/>
          <p:nvPr/>
        </p:nvSpPr>
        <p:spPr>
          <a:xfrm>
            <a:off x="6300216" y="6583680"/>
            <a:ext cx="5504688" cy="18288"/>
          </a:xfrm>
          <a:prstGeom prst="rect">
            <a:avLst/>
          </a:prstGeom>
          <a:solidFill>
            <a:srgbClr val="64748B"/>
          </a:solidFill>
          <a:ln w="12700">
            <a:solidFill>
              <a:srgbClr val="64748B"/>
            </a:solidFill>
            <a:prstDash val="solid"/>
          </a:ln>
        </p:spPr>
      </p:sp>
      <p:sp>
        <p:nvSpPr>
          <p:cNvPr id="34" name="Text 32"/>
          <p:cNvSpPr/>
          <p:nvPr/>
        </p:nvSpPr>
        <p:spPr>
          <a:xfrm>
            <a:off x="6300216" y="6675120"/>
            <a:ext cx="5504688" cy="256032"/>
          </a:xfrm>
          <a:prstGeom prst="rect">
            <a:avLst/>
          </a:prstGeom>
          <a:noFill/>
          <a:ln/>
        </p:spPr>
        <p:txBody>
          <a:bodyPr wrap="square" lIns="0" tIns="0" rIns="0" bIns="0" rtlCol="0" anchor="ctr"/>
          <a:lstStyle/>
          <a:p>
            <a:pPr indent="0" marL="0">
              <a:buNone/>
            </a:pPr>
            <a:r>
              <a:rPr lang="en-US" sz="1000" b="1" dirty="0">
                <a:solidFill>
                  <a:srgbClr val="D97706"/>
                </a:solidFill>
                <a:latin typeface="Cambria" pitchFamily="34" charset="0"/>
                <a:ea typeface="Cambria" pitchFamily="34" charset="-122"/>
                <a:cs typeface="Cambria" pitchFamily="34" charset="-120"/>
              </a:rPr>
              <a:t>Answer:</a:t>
            </a:r>
            <a:endParaRPr lang="en-US" sz="1000" dirty="0"/>
          </a:p>
        </p:txBody>
      </p:sp>
      <p:sp>
        <p:nvSpPr>
          <p:cNvPr id="35" name="Text 33"/>
          <p:cNvSpPr/>
          <p:nvPr/>
        </p:nvSpPr>
        <p:spPr>
          <a:xfrm>
            <a:off x="6300216" y="6967728"/>
            <a:ext cx="5504688" cy="822960"/>
          </a:xfrm>
          <a:prstGeom prst="rect">
            <a:avLst/>
          </a:prstGeom>
          <a:noFill/>
          <a:ln/>
        </p:spPr>
        <p:txBody>
          <a:bodyPr wrap="square" lIns="0" tIns="0" rIns="0" bIns="0" rtlCol="0" anchor="ctr"/>
          <a:lstStyle/>
          <a:p>
            <a:pPr indent="0" marL="0">
              <a:buNone/>
            </a:pPr>
            <a:r>
              <a:rPr lang="en-US" sz="1000" dirty="0">
                <a:solidFill>
                  <a:srgbClr val="16A34A"/>
                </a:solidFill>
                <a:latin typeface="Courier New" pitchFamily="34" charset="0"/>
                <a:ea typeface="Courier New" pitchFamily="34" charset="-122"/>
                <a:cs typeface="Courier New" pitchFamily="34" charset="-120"/>
              </a:rPr>
              <a:t>P=1_000_000; r=0.15; n=12; t=2</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A = P * (1 + r/n)**(n*t)</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print(f'NGN {A:,.0f}')  # NGN 1,347,351</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457200" y="1005840"/>
            <a:ext cx="1920240" cy="1920240"/>
          </a:xfrm>
          <a:prstGeom prst="ellipse">
            <a:avLst/>
          </a:prstGeom>
          <a:solidFill>
            <a:srgbClr val="E11D48"/>
          </a:solidFill>
          <a:ln w="12700">
            <a:solidFill>
              <a:srgbClr val="E11D48"/>
            </a:solidFill>
            <a:prstDash val="solid"/>
          </a:ln>
          <a:effectLst>
            <a:outerShdw sx="100000" sy="100000" kx="0" ky="0" algn="bl" rotWithShape="0" blurRad="127000" dist="50800" dir="2700000">
              <a:srgbClr val="000000">
                <a:alpha val="18000"/>
              </a:srgbClr>
            </a:outerShdw>
          </a:effectLst>
        </p:spPr>
      </p:sp>
      <p:sp>
        <p:nvSpPr>
          <p:cNvPr id="3" name="Text 1"/>
          <p:cNvSpPr/>
          <p:nvPr/>
        </p:nvSpPr>
        <p:spPr>
          <a:xfrm>
            <a:off x="457200" y="1005840"/>
            <a:ext cx="1920240" cy="1920240"/>
          </a:xfrm>
          <a:prstGeom prst="rect">
            <a:avLst/>
          </a:prstGeom>
          <a:noFill/>
          <a:ln/>
        </p:spPr>
        <p:txBody>
          <a:bodyPr wrap="square" lIns="0" tIns="0" rIns="0" bIns="0" rtlCol="0" anchor="ctr"/>
          <a:lstStyle/>
          <a:p>
            <a:pPr algn="ctr" indent="0" marL="0">
              <a:buNone/>
            </a:pPr>
            <a:r>
              <a:rPr lang="en-US" sz="5800" b="1" dirty="0">
                <a:solidFill>
                  <a:srgbClr val="FFFFFF"/>
                </a:solidFill>
                <a:latin typeface="Cambria" pitchFamily="34" charset="0"/>
                <a:ea typeface="Cambria" pitchFamily="34" charset="-122"/>
                <a:cs typeface="Cambria" pitchFamily="34" charset="-120"/>
              </a:rPr>
              <a:t>04</a:t>
            </a:r>
            <a:endParaRPr lang="en-US" sz="5800" dirty="0"/>
          </a:p>
        </p:txBody>
      </p:sp>
      <p:sp>
        <p:nvSpPr>
          <p:cNvPr id="4" name="Text 2"/>
          <p:cNvSpPr/>
          <p:nvPr/>
        </p:nvSpPr>
        <p:spPr>
          <a:xfrm>
            <a:off x="2743200" y="1097280"/>
            <a:ext cx="9144000" cy="16459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Data Structures</a:t>
            </a:r>
            <a:endParaRPr lang="en-US" sz="4400" dirty="0"/>
          </a:p>
        </p:txBody>
      </p:sp>
      <p:sp>
        <p:nvSpPr>
          <p:cNvPr id="5" name="Text 3"/>
          <p:cNvSpPr/>
          <p:nvPr/>
        </p:nvSpPr>
        <p:spPr>
          <a:xfrm>
            <a:off x="2743200" y="2880360"/>
            <a:ext cx="9144000" cy="594360"/>
          </a:xfrm>
          <a:prstGeom prst="rect">
            <a:avLst/>
          </a:prstGeom>
          <a:noFill/>
          <a:ln/>
        </p:spPr>
        <p:txBody>
          <a:bodyPr wrap="square" lIns="0" tIns="0" rIns="0" bIns="0"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list  |  tuple  |  dict  |  set</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E3C"/>
          </a:solidFill>
          <a:ln w="12700">
            <a:solidFill>
              <a:srgbClr val="0F1E3C"/>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FOUR STRUCTURES — SIDE BY SIDE</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11338560" cy="55778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E3C"/>
          </a:solidFill>
          <a:ln w="12700">
            <a:solidFill>
              <a:srgbClr val="0F1E3C"/>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list — ORDERED, CHANGEABLE COLLECTIONS</a:t>
            </a:r>
            <a:endParaRPr lang="en-US" sz="2600" dirty="0"/>
          </a:p>
        </p:txBody>
      </p:sp>
      <p:sp>
        <p:nvSpPr>
          <p:cNvPr id="4" name="Shape 2"/>
          <p:cNvSpPr/>
          <p:nvPr/>
        </p:nvSpPr>
        <p:spPr>
          <a:xfrm>
            <a:off x="411480" y="1024128"/>
            <a:ext cx="5943600" cy="5559552"/>
          </a:xfrm>
          <a:prstGeom prst="roundRect">
            <a:avLst>
              <a:gd name="adj" fmla="val 1645"/>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1024128"/>
            <a:ext cx="5943600" cy="347472"/>
          </a:xfrm>
          <a:prstGeom prst="roundRect">
            <a:avLst>
              <a:gd name="adj" fmla="val 26316"/>
            </a:avLst>
          </a:prstGeom>
          <a:solidFill>
            <a:srgbClr val="1A2540"/>
          </a:solidFill>
          <a:ln w="12700">
            <a:solidFill>
              <a:srgbClr val="1A2540"/>
            </a:solidFill>
            <a:prstDash val="solid"/>
          </a:ln>
        </p:spPr>
      </p:sp>
      <p:sp>
        <p:nvSpPr>
          <p:cNvPr id="6" name="Shape 4"/>
          <p:cNvSpPr/>
          <p:nvPr/>
        </p:nvSpPr>
        <p:spPr>
          <a:xfrm>
            <a:off x="411480" y="1225296"/>
            <a:ext cx="5943600" cy="146304"/>
          </a:xfrm>
          <a:prstGeom prst="rect">
            <a:avLst/>
          </a:prstGeom>
          <a:solidFill>
            <a:srgbClr val="1A2540"/>
          </a:solidFill>
          <a:ln w="12700">
            <a:solidFill>
              <a:srgbClr val="1A2540"/>
            </a:solidFill>
            <a:prstDash val="solid"/>
          </a:ln>
        </p:spPr>
      </p:sp>
      <p:sp>
        <p:nvSpPr>
          <p:cNvPr id="7" name="Shape 5"/>
          <p:cNvSpPr/>
          <p:nvPr/>
        </p:nvSpPr>
        <p:spPr>
          <a:xfrm>
            <a:off x="539496" y="1115568"/>
            <a:ext cx="164592" cy="164592"/>
          </a:xfrm>
          <a:prstGeom prst="ellipse">
            <a:avLst/>
          </a:prstGeom>
          <a:solidFill>
            <a:srgbClr val="E11D48"/>
          </a:solidFill>
          <a:ln w="12700">
            <a:solidFill>
              <a:srgbClr val="E11D48"/>
            </a:solidFill>
            <a:prstDash val="solid"/>
          </a:ln>
        </p:spPr>
      </p:sp>
      <p:sp>
        <p:nvSpPr>
          <p:cNvPr id="8" name="Shape 6"/>
          <p:cNvSpPr/>
          <p:nvPr/>
        </p:nvSpPr>
        <p:spPr>
          <a:xfrm>
            <a:off x="740664" y="1115568"/>
            <a:ext cx="164592" cy="164592"/>
          </a:xfrm>
          <a:prstGeom prst="ellipse">
            <a:avLst/>
          </a:prstGeom>
          <a:solidFill>
            <a:srgbClr val="D97706"/>
          </a:solidFill>
          <a:ln w="12700">
            <a:solidFill>
              <a:srgbClr val="D97706"/>
            </a:solidFill>
            <a:prstDash val="solid"/>
          </a:ln>
        </p:spPr>
      </p:sp>
      <p:sp>
        <p:nvSpPr>
          <p:cNvPr id="9" name="Shape 7"/>
          <p:cNvSpPr/>
          <p:nvPr/>
        </p:nvSpPr>
        <p:spPr>
          <a:xfrm>
            <a:off x="941832" y="1115568"/>
            <a:ext cx="164592" cy="164592"/>
          </a:xfrm>
          <a:prstGeom prst="ellipse">
            <a:avLst/>
          </a:prstGeom>
          <a:solidFill>
            <a:srgbClr val="16A34A"/>
          </a:solidFill>
          <a:ln w="12700">
            <a:solidFill>
              <a:srgbClr val="16A34A"/>
            </a:solidFill>
            <a:prstDash val="solid"/>
          </a:ln>
        </p:spPr>
      </p:sp>
      <p:sp>
        <p:nvSpPr>
          <p:cNvPr id="10" name="Text 8"/>
          <p:cNvSpPr/>
          <p:nvPr/>
        </p:nvSpPr>
        <p:spPr>
          <a:xfrm>
            <a:off x="1143000" y="1097280"/>
            <a:ext cx="50292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lists.py</a:t>
            </a:r>
            <a:endParaRPr lang="en-US" sz="900" dirty="0"/>
          </a:p>
        </p:txBody>
      </p:sp>
      <p:sp>
        <p:nvSpPr>
          <p:cNvPr id="11" name="Text 9"/>
          <p:cNvSpPr/>
          <p:nvPr/>
        </p:nvSpPr>
        <p:spPr>
          <a:xfrm>
            <a:off x="557784" y="1426464"/>
            <a:ext cx="5669280" cy="504748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Creating lists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products  = ['Laptop','Phone','Tablet','Monitor']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revenues  = [450_000, 120_000, 85_000, 200_000]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mixed     = ['Q1', 45, True, None]  # mixed OK</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Indexing and slicing</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products[0]      # 'Laptop'  (first item)</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products[-1]     # 'Monitor' (last item)</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products[1:3]    # ['Phone','Tablet']</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products[::-1]   # reversed list</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Modifying lists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products.append('Router')         # add to end</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products.insert(1, 'Speaker')     # insert at 1</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products.remove('Tablet')         # remove by value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sold = products.pop(0)            # remove first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products[0] = 'Gaming Laptop'     # update in place</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Useful operations</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len(products)                     # count</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'Phone' in products               # True/False</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sum(revenues)                     # total</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max(revenues)                     # highest</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sorted(revenues, reverse=True)    # ranked</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revenues.sort()                   # sort in-place</a:t>
            </a:r>
            <a:endParaRPr lang="en-US" sz="1050" dirty="0"/>
          </a:p>
        </p:txBody>
      </p:sp>
      <p:sp>
        <p:nvSpPr>
          <p:cNvPr id="12" name="Text 10"/>
          <p:cNvSpPr/>
          <p:nvPr/>
        </p:nvSpPr>
        <p:spPr>
          <a:xfrm>
            <a:off x="6537960" y="1078992"/>
            <a:ext cx="5394960" cy="274320"/>
          </a:xfrm>
          <a:prstGeom prst="rect">
            <a:avLst/>
          </a:prstGeom>
          <a:noFill/>
          <a:ln/>
        </p:spPr>
        <p:txBody>
          <a:bodyPr wrap="square" lIns="0" tIns="0" rIns="0" bIns="0" rtlCol="0" anchor="ctr"/>
          <a:lstStyle/>
          <a:p>
            <a:pPr indent="0" marL="0">
              <a:buNone/>
            </a:pPr>
            <a:r>
              <a:rPr lang="en-US" sz="1100" b="1" dirty="0">
                <a:solidFill>
                  <a:srgbClr val="2563EB"/>
                </a:solidFill>
                <a:latin typeface="Cambria" pitchFamily="34" charset="0"/>
                <a:ea typeface="Cambria" pitchFamily="34" charset="-122"/>
                <a:cs typeface="Cambria" pitchFamily="34" charset="-120"/>
              </a:rPr>
              <a:t>List Methods Quick Reference</a:t>
            </a:r>
            <a:endParaRPr lang="en-US" sz="1100" dirty="0"/>
          </a:p>
        </p:txBody>
      </p:sp>
      <p:sp>
        <p:nvSpPr>
          <p:cNvPr id="13" name="Shape 11"/>
          <p:cNvSpPr/>
          <p:nvPr/>
        </p:nvSpPr>
        <p:spPr>
          <a:xfrm>
            <a:off x="6537960" y="1426464"/>
            <a:ext cx="5394960" cy="420624"/>
          </a:xfrm>
          <a:prstGeom prst="rect">
            <a:avLst/>
          </a:prstGeom>
          <a:solidFill>
            <a:srgbClr val="F1F5F9"/>
          </a:solidFill>
          <a:ln w="3810">
            <a:solidFill>
              <a:srgbClr val="E2E8F0"/>
            </a:solidFill>
            <a:prstDash val="solid"/>
          </a:ln>
        </p:spPr>
      </p:sp>
      <p:sp>
        <p:nvSpPr>
          <p:cNvPr id="14" name="Text 12"/>
          <p:cNvSpPr/>
          <p:nvPr/>
        </p:nvSpPr>
        <p:spPr>
          <a:xfrm>
            <a:off x="6620256" y="1517904"/>
            <a:ext cx="2103120" cy="256032"/>
          </a:xfrm>
          <a:prstGeom prst="rect">
            <a:avLst/>
          </a:prstGeom>
          <a:noFill/>
          <a:ln/>
        </p:spPr>
        <p:txBody>
          <a:bodyPr wrap="square" lIns="0" tIns="0" rIns="0" bIns="0" rtlCol="0" anchor="ctr"/>
          <a:lstStyle/>
          <a:p>
            <a:pPr indent="0" marL="0">
              <a:buNone/>
            </a:pPr>
            <a:r>
              <a:rPr lang="en-US" sz="1000" b="1" dirty="0">
                <a:solidFill>
                  <a:srgbClr val="2563EB"/>
                </a:solidFill>
                <a:latin typeface="Courier New" pitchFamily="34" charset="0"/>
                <a:ea typeface="Courier New" pitchFamily="34" charset="-122"/>
                <a:cs typeface="Courier New" pitchFamily="34" charset="-120"/>
              </a:rPr>
              <a:t>.append(x)</a:t>
            </a:r>
            <a:endParaRPr lang="en-US" sz="1000" dirty="0"/>
          </a:p>
        </p:txBody>
      </p:sp>
      <p:sp>
        <p:nvSpPr>
          <p:cNvPr id="15" name="Text 13"/>
          <p:cNvSpPr/>
          <p:nvPr/>
        </p:nvSpPr>
        <p:spPr>
          <a:xfrm>
            <a:off x="8759952" y="1517904"/>
            <a:ext cx="3127248" cy="256032"/>
          </a:xfrm>
          <a:prstGeom prst="rect">
            <a:avLst/>
          </a:prstGeom>
          <a:noFill/>
          <a:ln/>
        </p:spPr>
        <p:txBody>
          <a:bodyPr wrap="square" lIns="0" tIns="0" rIns="0" bIns="0" rtlCol="0" anchor="ctr"/>
          <a:lstStyle/>
          <a:p>
            <a:pPr indent="0" marL="0">
              <a:buNone/>
            </a:pPr>
            <a:r>
              <a:rPr lang="en-US" sz="1000" dirty="0">
                <a:solidFill>
                  <a:srgbClr val="0D1526"/>
                </a:solidFill>
                <a:latin typeface="Calibri" pitchFamily="34" charset="0"/>
                <a:ea typeface="Calibri" pitchFamily="34" charset="-122"/>
                <a:cs typeface="Calibri" pitchFamily="34" charset="-120"/>
              </a:rPr>
              <a:t>Add x to end</a:t>
            </a:r>
            <a:endParaRPr lang="en-US" sz="1000" dirty="0"/>
          </a:p>
        </p:txBody>
      </p:sp>
      <p:sp>
        <p:nvSpPr>
          <p:cNvPr id="16" name="Shape 14"/>
          <p:cNvSpPr/>
          <p:nvPr/>
        </p:nvSpPr>
        <p:spPr>
          <a:xfrm>
            <a:off x="6537960" y="1883664"/>
            <a:ext cx="5394960" cy="420624"/>
          </a:xfrm>
          <a:prstGeom prst="rect">
            <a:avLst/>
          </a:prstGeom>
          <a:solidFill>
            <a:srgbClr val="FFFFFF"/>
          </a:solidFill>
          <a:ln w="3810">
            <a:solidFill>
              <a:srgbClr val="E2E8F0"/>
            </a:solidFill>
            <a:prstDash val="solid"/>
          </a:ln>
        </p:spPr>
      </p:sp>
      <p:sp>
        <p:nvSpPr>
          <p:cNvPr id="17" name="Text 15"/>
          <p:cNvSpPr/>
          <p:nvPr/>
        </p:nvSpPr>
        <p:spPr>
          <a:xfrm>
            <a:off x="6620256" y="1975104"/>
            <a:ext cx="2103120" cy="256032"/>
          </a:xfrm>
          <a:prstGeom prst="rect">
            <a:avLst/>
          </a:prstGeom>
          <a:noFill/>
          <a:ln/>
        </p:spPr>
        <p:txBody>
          <a:bodyPr wrap="square" lIns="0" tIns="0" rIns="0" bIns="0" rtlCol="0" anchor="ctr"/>
          <a:lstStyle/>
          <a:p>
            <a:pPr indent="0" marL="0">
              <a:buNone/>
            </a:pPr>
            <a:r>
              <a:rPr lang="en-US" sz="1000" b="1" dirty="0">
                <a:solidFill>
                  <a:srgbClr val="2563EB"/>
                </a:solidFill>
                <a:latin typeface="Courier New" pitchFamily="34" charset="0"/>
                <a:ea typeface="Courier New" pitchFamily="34" charset="-122"/>
                <a:cs typeface="Courier New" pitchFamily="34" charset="-120"/>
              </a:rPr>
              <a:t>.extend([a,b])</a:t>
            </a:r>
            <a:endParaRPr lang="en-US" sz="1000" dirty="0"/>
          </a:p>
        </p:txBody>
      </p:sp>
      <p:sp>
        <p:nvSpPr>
          <p:cNvPr id="18" name="Text 16"/>
          <p:cNvSpPr/>
          <p:nvPr/>
        </p:nvSpPr>
        <p:spPr>
          <a:xfrm>
            <a:off x="8759952" y="1975104"/>
            <a:ext cx="3127248" cy="256032"/>
          </a:xfrm>
          <a:prstGeom prst="rect">
            <a:avLst/>
          </a:prstGeom>
          <a:noFill/>
          <a:ln/>
        </p:spPr>
        <p:txBody>
          <a:bodyPr wrap="square" lIns="0" tIns="0" rIns="0" bIns="0" rtlCol="0" anchor="ctr"/>
          <a:lstStyle/>
          <a:p>
            <a:pPr indent="0" marL="0">
              <a:buNone/>
            </a:pPr>
            <a:r>
              <a:rPr lang="en-US" sz="1000" dirty="0">
                <a:solidFill>
                  <a:srgbClr val="0D1526"/>
                </a:solidFill>
                <a:latin typeface="Calibri" pitchFamily="34" charset="0"/>
                <a:ea typeface="Calibri" pitchFamily="34" charset="-122"/>
                <a:cs typeface="Calibri" pitchFamily="34" charset="-120"/>
              </a:rPr>
              <a:t>Add all items from another list</a:t>
            </a:r>
            <a:endParaRPr lang="en-US" sz="1000" dirty="0"/>
          </a:p>
        </p:txBody>
      </p:sp>
      <p:sp>
        <p:nvSpPr>
          <p:cNvPr id="19" name="Shape 17"/>
          <p:cNvSpPr/>
          <p:nvPr/>
        </p:nvSpPr>
        <p:spPr>
          <a:xfrm>
            <a:off x="6537960" y="2340864"/>
            <a:ext cx="5394960" cy="420624"/>
          </a:xfrm>
          <a:prstGeom prst="rect">
            <a:avLst/>
          </a:prstGeom>
          <a:solidFill>
            <a:srgbClr val="F1F5F9"/>
          </a:solidFill>
          <a:ln w="3810">
            <a:solidFill>
              <a:srgbClr val="E2E8F0"/>
            </a:solidFill>
            <a:prstDash val="solid"/>
          </a:ln>
        </p:spPr>
      </p:sp>
      <p:sp>
        <p:nvSpPr>
          <p:cNvPr id="20" name="Text 18"/>
          <p:cNvSpPr/>
          <p:nvPr/>
        </p:nvSpPr>
        <p:spPr>
          <a:xfrm>
            <a:off x="6620256" y="2432304"/>
            <a:ext cx="2103120" cy="256032"/>
          </a:xfrm>
          <a:prstGeom prst="rect">
            <a:avLst/>
          </a:prstGeom>
          <a:noFill/>
          <a:ln/>
        </p:spPr>
        <p:txBody>
          <a:bodyPr wrap="square" lIns="0" tIns="0" rIns="0" bIns="0" rtlCol="0" anchor="ctr"/>
          <a:lstStyle/>
          <a:p>
            <a:pPr indent="0" marL="0">
              <a:buNone/>
            </a:pPr>
            <a:r>
              <a:rPr lang="en-US" sz="1000" b="1" dirty="0">
                <a:solidFill>
                  <a:srgbClr val="2563EB"/>
                </a:solidFill>
                <a:latin typeface="Courier New" pitchFamily="34" charset="0"/>
                <a:ea typeface="Courier New" pitchFamily="34" charset="-122"/>
                <a:cs typeface="Courier New" pitchFamily="34" charset="-120"/>
              </a:rPr>
              <a:t>.insert(i, x)</a:t>
            </a:r>
            <a:endParaRPr lang="en-US" sz="1000" dirty="0"/>
          </a:p>
        </p:txBody>
      </p:sp>
      <p:sp>
        <p:nvSpPr>
          <p:cNvPr id="21" name="Text 19"/>
          <p:cNvSpPr/>
          <p:nvPr/>
        </p:nvSpPr>
        <p:spPr>
          <a:xfrm>
            <a:off x="8759952" y="2432304"/>
            <a:ext cx="3127248" cy="256032"/>
          </a:xfrm>
          <a:prstGeom prst="rect">
            <a:avLst/>
          </a:prstGeom>
          <a:noFill/>
          <a:ln/>
        </p:spPr>
        <p:txBody>
          <a:bodyPr wrap="square" lIns="0" tIns="0" rIns="0" bIns="0" rtlCol="0" anchor="ctr"/>
          <a:lstStyle/>
          <a:p>
            <a:pPr indent="0" marL="0">
              <a:buNone/>
            </a:pPr>
            <a:r>
              <a:rPr lang="en-US" sz="1000" dirty="0">
                <a:solidFill>
                  <a:srgbClr val="0D1526"/>
                </a:solidFill>
                <a:latin typeface="Calibri" pitchFamily="34" charset="0"/>
                <a:ea typeface="Calibri" pitchFamily="34" charset="-122"/>
                <a:cs typeface="Calibri" pitchFamily="34" charset="-120"/>
              </a:rPr>
              <a:t>Insert x at position i</a:t>
            </a:r>
            <a:endParaRPr lang="en-US" sz="1000" dirty="0"/>
          </a:p>
        </p:txBody>
      </p:sp>
      <p:sp>
        <p:nvSpPr>
          <p:cNvPr id="22" name="Shape 20"/>
          <p:cNvSpPr/>
          <p:nvPr/>
        </p:nvSpPr>
        <p:spPr>
          <a:xfrm>
            <a:off x="6537960" y="2798064"/>
            <a:ext cx="5394960" cy="420624"/>
          </a:xfrm>
          <a:prstGeom prst="rect">
            <a:avLst/>
          </a:prstGeom>
          <a:solidFill>
            <a:srgbClr val="FFFFFF"/>
          </a:solidFill>
          <a:ln w="3810">
            <a:solidFill>
              <a:srgbClr val="E2E8F0"/>
            </a:solidFill>
            <a:prstDash val="solid"/>
          </a:ln>
        </p:spPr>
      </p:sp>
      <p:sp>
        <p:nvSpPr>
          <p:cNvPr id="23" name="Text 21"/>
          <p:cNvSpPr/>
          <p:nvPr/>
        </p:nvSpPr>
        <p:spPr>
          <a:xfrm>
            <a:off x="6620256" y="2889504"/>
            <a:ext cx="2103120" cy="256032"/>
          </a:xfrm>
          <a:prstGeom prst="rect">
            <a:avLst/>
          </a:prstGeom>
          <a:noFill/>
          <a:ln/>
        </p:spPr>
        <p:txBody>
          <a:bodyPr wrap="square" lIns="0" tIns="0" rIns="0" bIns="0" rtlCol="0" anchor="ctr"/>
          <a:lstStyle/>
          <a:p>
            <a:pPr indent="0" marL="0">
              <a:buNone/>
            </a:pPr>
            <a:r>
              <a:rPr lang="en-US" sz="1000" b="1" dirty="0">
                <a:solidFill>
                  <a:srgbClr val="2563EB"/>
                </a:solidFill>
                <a:latin typeface="Courier New" pitchFamily="34" charset="0"/>
                <a:ea typeface="Courier New" pitchFamily="34" charset="-122"/>
                <a:cs typeface="Courier New" pitchFamily="34" charset="-120"/>
              </a:rPr>
              <a:t>.remove(x)</a:t>
            </a:r>
            <a:endParaRPr lang="en-US" sz="1000" dirty="0"/>
          </a:p>
        </p:txBody>
      </p:sp>
      <p:sp>
        <p:nvSpPr>
          <p:cNvPr id="24" name="Text 22"/>
          <p:cNvSpPr/>
          <p:nvPr/>
        </p:nvSpPr>
        <p:spPr>
          <a:xfrm>
            <a:off x="8759952" y="2889504"/>
            <a:ext cx="3127248" cy="256032"/>
          </a:xfrm>
          <a:prstGeom prst="rect">
            <a:avLst/>
          </a:prstGeom>
          <a:noFill/>
          <a:ln/>
        </p:spPr>
        <p:txBody>
          <a:bodyPr wrap="square" lIns="0" tIns="0" rIns="0" bIns="0" rtlCol="0" anchor="ctr"/>
          <a:lstStyle/>
          <a:p>
            <a:pPr indent="0" marL="0">
              <a:buNone/>
            </a:pPr>
            <a:r>
              <a:rPr lang="en-US" sz="1000" dirty="0">
                <a:solidFill>
                  <a:srgbClr val="0D1526"/>
                </a:solidFill>
                <a:latin typeface="Calibri" pitchFamily="34" charset="0"/>
                <a:ea typeface="Calibri" pitchFamily="34" charset="-122"/>
                <a:cs typeface="Calibri" pitchFamily="34" charset="-120"/>
              </a:rPr>
              <a:t>Remove first occurrence of x</a:t>
            </a:r>
            <a:endParaRPr lang="en-US" sz="1000" dirty="0"/>
          </a:p>
        </p:txBody>
      </p:sp>
      <p:sp>
        <p:nvSpPr>
          <p:cNvPr id="25" name="Shape 23"/>
          <p:cNvSpPr/>
          <p:nvPr/>
        </p:nvSpPr>
        <p:spPr>
          <a:xfrm>
            <a:off x="6537960" y="3255264"/>
            <a:ext cx="5394960" cy="420624"/>
          </a:xfrm>
          <a:prstGeom prst="rect">
            <a:avLst/>
          </a:prstGeom>
          <a:solidFill>
            <a:srgbClr val="F1F5F9"/>
          </a:solidFill>
          <a:ln w="3810">
            <a:solidFill>
              <a:srgbClr val="E2E8F0"/>
            </a:solidFill>
            <a:prstDash val="solid"/>
          </a:ln>
        </p:spPr>
      </p:sp>
      <p:sp>
        <p:nvSpPr>
          <p:cNvPr id="26" name="Text 24"/>
          <p:cNvSpPr/>
          <p:nvPr/>
        </p:nvSpPr>
        <p:spPr>
          <a:xfrm>
            <a:off x="6620256" y="3346704"/>
            <a:ext cx="2103120" cy="256032"/>
          </a:xfrm>
          <a:prstGeom prst="rect">
            <a:avLst/>
          </a:prstGeom>
          <a:noFill/>
          <a:ln/>
        </p:spPr>
        <p:txBody>
          <a:bodyPr wrap="square" lIns="0" tIns="0" rIns="0" bIns="0" rtlCol="0" anchor="ctr"/>
          <a:lstStyle/>
          <a:p>
            <a:pPr indent="0" marL="0">
              <a:buNone/>
            </a:pPr>
            <a:r>
              <a:rPr lang="en-US" sz="1000" b="1" dirty="0">
                <a:solidFill>
                  <a:srgbClr val="2563EB"/>
                </a:solidFill>
                <a:latin typeface="Courier New" pitchFamily="34" charset="0"/>
                <a:ea typeface="Courier New" pitchFamily="34" charset="-122"/>
                <a:cs typeface="Courier New" pitchFamily="34" charset="-120"/>
              </a:rPr>
              <a:t>.pop(i)</a:t>
            </a:r>
            <a:endParaRPr lang="en-US" sz="1000" dirty="0"/>
          </a:p>
        </p:txBody>
      </p:sp>
      <p:sp>
        <p:nvSpPr>
          <p:cNvPr id="27" name="Text 25"/>
          <p:cNvSpPr/>
          <p:nvPr/>
        </p:nvSpPr>
        <p:spPr>
          <a:xfrm>
            <a:off x="8759952" y="3346704"/>
            <a:ext cx="3127248" cy="256032"/>
          </a:xfrm>
          <a:prstGeom prst="rect">
            <a:avLst/>
          </a:prstGeom>
          <a:noFill/>
          <a:ln/>
        </p:spPr>
        <p:txBody>
          <a:bodyPr wrap="square" lIns="0" tIns="0" rIns="0" bIns="0" rtlCol="0" anchor="ctr"/>
          <a:lstStyle/>
          <a:p>
            <a:pPr indent="0" marL="0">
              <a:buNone/>
            </a:pPr>
            <a:r>
              <a:rPr lang="en-US" sz="1000" dirty="0">
                <a:solidFill>
                  <a:srgbClr val="0D1526"/>
                </a:solidFill>
                <a:latin typeface="Calibri" pitchFamily="34" charset="0"/>
                <a:ea typeface="Calibri" pitchFamily="34" charset="-122"/>
                <a:cs typeface="Calibri" pitchFamily="34" charset="-120"/>
              </a:rPr>
              <a:t>Remove and return item at index i</a:t>
            </a:r>
            <a:endParaRPr lang="en-US" sz="1000" dirty="0"/>
          </a:p>
        </p:txBody>
      </p:sp>
      <p:sp>
        <p:nvSpPr>
          <p:cNvPr id="28" name="Shape 26"/>
          <p:cNvSpPr/>
          <p:nvPr/>
        </p:nvSpPr>
        <p:spPr>
          <a:xfrm>
            <a:off x="6537960" y="3712464"/>
            <a:ext cx="5394960" cy="420624"/>
          </a:xfrm>
          <a:prstGeom prst="rect">
            <a:avLst/>
          </a:prstGeom>
          <a:solidFill>
            <a:srgbClr val="FFFFFF"/>
          </a:solidFill>
          <a:ln w="3810">
            <a:solidFill>
              <a:srgbClr val="E2E8F0"/>
            </a:solidFill>
            <a:prstDash val="solid"/>
          </a:ln>
        </p:spPr>
      </p:sp>
      <p:sp>
        <p:nvSpPr>
          <p:cNvPr id="29" name="Text 27"/>
          <p:cNvSpPr/>
          <p:nvPr/>
        </p:nvSpPr>
        <p:spPr>
          <a:xfrm>
            <a:off x="6620256" y="3803904"/>
            <a:ext cx="2103120" cy="256032"/>
          </a:xfrm>
          <a:prstGeom prst="rect">
            <a:avLst/>
          </a:prstGeom>
          <a:noFill/>
          <a:ln/>
        </p:spPr>
        <p:txBody>
          <a:bodyPr wrap="square" lIns="0" tIns="0" rIns="0" bIns="0" rtlCol="0" anchor="ctr"/>
          <a:lstStyle/>
          <a:p>
            <a:pPr indent="0" marL="0">
              <a:buNone/>
            </a:pPr>
            <a:r>
              <a:rPr lang="en-US" sz="1000" b="1" dirty="0">
                <a:solidFill>
                  <a:srgbClr val="2563EB"/>
                </a:solidFill>
                <a:latin typeface="Courier New" pitchFamily="34" charset="0"/>
                <a:ea typeface="Courier New" pitchFamily="34" charset="-122"/>
                <a:cs typeface="Courier New" pitchFamily="34" charset="-120"/>
              </a:rPr>
              <a:t>.sort()</a:t>
            </a:r>
            <a:endParaRPr lang="en-US" sz="1000" dirty="0"/>
          </a:p>
        </p:txBody>
      </p:sp>
      <p:sp>
        <p:nvSpPr>
          <p:cNvPr id="30" name="Text 28"/>
          <p:cNvSpPr/>
          <p:nvPr/>
        </p:nvSpPr>
        <p:spPr>
          <a:xfrm>
            <a:off x="8759952" y="3803904"/>
            <a:ext cx="3127248" cy="256032"/>
          </a:xfrm>
          <a:prstGeom prst="rect">
            <a:avLst/>
          </a:prstGeom>
          <a:noFill/>
          <a:ln/>
        </p:spPr>
        <p:txBody>
          <a:bodyPr wrap="square" lIns="0" tIns="0" rIns="0" bIns="0" rtlCol="0" anchor="ctr"/>
          <a:lstStyle/>
          <a:p>
            <a:pPr indent="0" marL="0">
              <a:buNone/>
            </a:pPr>
            <a:r>
              <a:rPr lang="en-US" sz="1000" dirty="0">
                <a:solidFill>
                  <a:srgbClr val="0D1526"/>
                </a:solidFill>
                <a:latin typeface="Calibri" pitchFamily="34" charset="0"/>
                <a:ea typeface="Calibri" pitchFamily="34" charset="-122"/>
                <a:cs typeface="Calibri" pitchFamily="34" charset="-120"/>
              </a:rPr>
              <a:t>Sort in place (ascending)</a:t>
            </a:r>
            <a:endParaRPr lang="en-US" sz="1000" dirty="0"/>
          </a:p>
        </p:txBody>
      </p:sp>
      <p:sp>
        <p:nvSpPr>
          <p:cNvPr id="31" name="Shape 29"/>
          <p:cNvSpPr/>
          <p:nvPr/>
        </p:nvSpPr>
        <p:spPr>
          <a:xfrm>
            <a:off x="6537960" y="4169664"/>
            <a:ext cx="5394960" cy="420624"/>
          </a:xfrm>
          <a:prstGeom prst="rect">
            <a:avLst/>
          </a:prstGeom>
          <a:solidFill>
            <a:srgbClr val="F1F5F9"/>
          </a:solidFill>
          <a:ln w="3810">
            <a:solidFill>
              <a:srgbClr val="E2E8F0"/>
            </a:solidFill>
            <a:prstDash val="solid"/>
          </a:ln>
        </p:spPr>
      </p:sp>
      <p:sp>
        <p:nvSpPr>
          <p:cNvPr id="32" name="Text 30"/>
          <p:cNvSpPr/>
          <p:nvPr/>
        </p:nvSpPr>
        <p:spPr>
          <a:xfrm>
            <a:off x="6620256" y="4261104"/>
            <a:ext cx="2103120" cy="256032"/>
          </a:xfrm>
          <a:prstGeom prst="rect">
            <a:avLst/>
          </a:prstGeom>
          <a:noFill/>
          <a:ln/>
        </p:spPr>
        <p:txBody>
          <a:bodyPr wrap="square" lIns="0" tIns="0" rIns="0" bIns="0" rtlCol="0" anchor="ctr"/>
          <a:lstStyle/>
          <a:p>
            <a:pPr indent="0" marL="0">
              <a:buNone/>
            </a:pPr>
            <a:r>
              <a:rPr lang="en-US" sz="1000" b="1" dirty="0">
                <a:solidFill>
                  <a:srgbClr val="2563EB"/>
                </a:solidFill>
                <a:latin typeface="Courier New" pitchFamily="34" charset="0"/>
                <a:ea typeface="Courier New" pitchFamily="34" charset="-122"/>
                <a:cs typeface="Courier New" pitchFamily="34" charset="-120"/>
              </a:rPr>
              <a:t>.reverse()</a:t>
            </a:r>
            <a:endParaRPr lang="en-US" sz="1000" dirty="0"/>
          </a:p>
        </p:txBody>
      </p:sp>
      <p:sp>
        <p:nvSpPr>
          <p:cNvPr id="33" name="Text 31"/>
          <p:cNvSpPr/>
          <p:nvPr/>
        </p:nvSpPr>
        <p:spPr>
          <a:xfrm>
            <a:off x="8759952" y="4261104"/>
            <a:ext cx="3127248" cy="256032"/>
          </a:xfrm>
          <a:prstGeom prst="rect">
            <a:avLst/>
          </a:prstGeom>
          <a:noFill/>
          <a:ln/>
        </p:spPr>
        <p:txBody>
          <a:bodyPr wrap="square" lIns="0" tIns="0" rIns="0" bIns="0" rtlCol="0" anchor="ctr"/>
          <a:lstStyle/>
          <a:p>
            <a:pPr indent="0" marL="0">
              <a:buNone/>
            </a:pPr>
            <a:r>
              <a:rPr lang="en-US" sz="1000" dirty="0">
                <a:solidFill>
                  <a:srgbClr val="0D1526"/>
                </a:solidFill>
                <a:latin typeface="Calibri" pitchFamily="34" charset="0"/>
                <a:ea typeface="Calibri" pitchFamily="34" charset="-122"/>
                <a:cs typeface="Calibri" pitchFamily="34" charset="-120"/>
              </a:rPr>
              <a:t>Reverse in place</a:t>
            </a:r>
            <a:endParaRPr lang="en-US" sz="1000" dirty="0"/>
          </a:p>
        </p:txBody>
      </p:sp>
      <p:sp>
        <p:nvSpPr>
          <p:cNvPr id="34" name="Shape 32"/>
          <p:cNvSpPr/>
          <p:nvPr/>
        </p:nvSpPr>
        <p:spPr>
          <a:xfrm>
            <a:off x="6537960" y="4626864"/>
            <a:ext cx="5394960" cy="420624"/>
          </a:xfrm>
          <a:prstGeom prst="rect">
            <a:avLst/>
          </a:prstGeom>
          <a:solidFill>
            <a:srgbClr val="FFFFFF"/>
          </a:solidFill>
          <a:ln w="3810">
            <a:solidFill>
              <a:srgbClr val="E2E8F0"/>
            </a:solidFill>
            <a:prstDash val="solid"/>
          </a:ln>
        </p:spPr>
      </p:sp>
      <p:sp>
        <p:nvSpPr>
          <p:cNvPr id="35" name="Text 33"/>
          <p:cNvSpPr/>
          <p:nvPr/>
        </p:nvSpPr>
        <p:spPr>
          <a:xfrm>
            <a:off x="6620256" y="4718304"/>
            <a:ext cx="2103120" cy="256032"/>
          </a:xfrm>
          <a:prstGeom prst="rect">
            <a:avLst/>
          </a:prstGeom>
          <a:noFill/>
          <a:ln/>
        </p:spPr>
        <p:txBody>
          <a:bodyPr wrap="square" lIns="0" tIns="0" rIns="0" bIns="0" rtlCol="0" anchor="ctr"/>
          <a:lstStyle/>
          <a:p>
            <a:pPr indent="0" marL="0">
              <a:buNone/>
            </a:pPr>
            <a:r>
              <a:rPr lang="en-US" sz="1000" b="1" dirty="0">
                <a:solidFill>
                  <a:srgbClr val="2563EB"/>
                </a:solidFill>
                <a:latin typeface="Courier New" pitchFamily="34" charset="0"/>
                <a:ea typeface="Courier New" pitchFamily="34" charset="-122"/>
                <a:cs typeface="Courier New" pitchFamily="34" charset="-120"/>
              </a:rPr>
              <a:t>.index(x)</a:t>
            </a:r>
            <a:endParaRPr lang="en-US" sz="1000" dirty="0"/>
          </a:p>
        </p:txBody>
      </p:sp>
      <p:sp>
        <p:nvSpPr>
          <p:cNvPr id="36" name="Text 34"/>
          <p:cNvSpPr/>
          <p:nvPr/>
        </p:nvSpPr>
        <p:spPr>
          <a:xfrm>
            <a:off x="8759952" y="4718304"/>
            <a:ext cx="3127248" cy="256032"/>
          </a:xfrm>
          <a:prstGeom prst="rect">
            <a:avLst/>
          </a:prstGeom>
          <a:noFill/>
          <a:ln/>
        </p:spPr>
        <p:txBody>
          <a:bodyPr wrap="square" lIns="0" tIns="0" rIns="0" bIns="0" rtlCol="0" anchor="ctr"/>
          <a:lstStyle/>
          <a:p>
            <a:pPr indent="0" marL="0">
              <a:buNone/>
            </a:pPr>
            <a:r>
              <a:rPr lang="en-US" sz="1000" dirty="0">
                <a:solidFill>
                  <a:srgbClr val="0D1526"/>
                </a:solidFill>
                <a:latin typeface="Calibri" pitchFamily="34" charset="0"/>
                <a:ea typeface="Calibri" pitchFamily="34" charset="-122"/>
                <a:cs typeface="Calibri" pitchFamily="34" charset="-120"/>
              </a:rPr>
              <a:t>Return index of first x</a:t>
            </a:r>
            <a:endParaRPr lang="en-US" sz="1000" dirty="0"/>
          </a:p>
        </p:txBody>
      </p:sp>
      <p:sp>
        <p:nvSpPr>
          <p:cNvPr id="37" name="Shape 35"/>
          <p:cNvSpPr/>
          <p:nvPr/>
        </p:nvSpPr>
        <p:spPr>
          <a:xfrm>
            <a:off x="6537960" y="5084064"/>
            <a:ext cx="5394960" cy="420624"/>
          </a:xfrm>
          <a:prstGeom prst="rect">
            <a:avLst/>
          </a:prstGeom>
          <a:solidFill>
            <a:srgbClr val="F1F5F9"/>
          </a:solidFill>
          <a:ln w="3810">
            <a:solidFill>
              <a:srgbClr val="E2E8F0"/>
            </a:solidFill>
            <a:prstDash val="solid"/>
          </a:ln>
        </p:spPr>
      </p:sp>
      <p:sp>
        <p:nvSpPr>
          <p:cNvPr id="38" name="Text 36"/>
          <p:cNvSpPr/>
          <p:nvPr/>
        </p:nvSpPr>
        <p:spPr>
          <a:xfrm>
            <a:off x="6620256" y="5175504"/>
            <a:ext cx="2103120" cy="256032"/>
          </a:xfrm>
          <a:prstGeom prst="rect">
            <a:avLst/>
          </a:prstGeom>
          <a:noFill/>
          <a:ln/>
        </p:spPr>
        <p:txBody>
          <a:bodyPr wrap="square" lIns="0" tIns="0" rIns="0" bIns="0" rtlCol="0" anchor="ctr"/>
          <a:lstStyle/>
          <a:p>
            <a:pPr indent="0" marL="0">
              <a:buNone/>
            </a:pPr>
            <a:r>
              <a:rPr lang="en-US" sz="1000" b="1" dirty="0">
                <a:solidFill>
                  <a:srgbClr val="2563EB"/>
                </a:solidFill>
                <a:latin typeface="Courier New" pitchFamily="34" charset="0"/>
                <a:ea typeface="Courier New" pitchFamily="34" charset="-122"/>
                <a:cs typeface="Courier New" pitchFamily="34" charset="-120"/>
              </a:rPr>
              <a:t>.count(x)</a:t>
            </a:r>
            <a:endParaRPr lang="en-US" sz="1000" dirty="0"/>
          </a:p>
        </p:txBody>
      </p:sp>
      <p:sp>
        <p:nvSpPr>
          <p:cNvPr id="39" name="Text 37"/>
          <p:cNvSpPr/>
          <p:nvPr/>
        </p:nvSpPr>
        <p:spPr>
          <a:xfrm>
            <a:off x="8759952" y="5175504"/>
            <a:ext cx="3127248" cy="256032"/>
          </a:xfrm>
          <a:prstGeom prst="rect">
            <a:avLst/>
          </a:prstGeom>
          <a:noFill/>
          <a:ln/>
        </p:spPr>
        <p:txBody>
          <a:bodyPr wrap="square" lIns="0" tIns="0" rIns="0" bIns="0" rtlCol="0" anchor="ctr"/>
          <a:lstStyle/>
          <a:p>
            <a:pPr indent="0" marL="0">
              <a:buNone/>
            </a:pPr>
            <a:r>
              <a:rPr lang="en-US" sz="1000" dirty="0">
                <a:solidFill>
                  <a:srgbClr val="0D1526"/>
                </a:solidFill>
                <a:latin typeface="Calibri" pitchFamily="34" charset="0"/>
                <a:ea typeface="Calibri" pitchFamily="34" charset="-122"/>
                <a:cs typeface="Calibri" pitchFamily="34" charset="-120"/>
              </a:rPr>
              <a:t>Count occurrences of x</a:t>
            </a:r>
            <a:endParaRPr lang="en-US" sz="1000" dirty="0"/>
          </a:p>
        </p:txBody>
      </p:sp>
      <p:sp>
        <p:nvSpPr>
          <p:cNvPr id="40" name="Shape 38"/>
          <p:cNvSpPr/>
          <p:nvPr/>
        </p:nvSpPr>
        <p:spPr>
          <a:xfrm>
            <a:off x="6537960" y="5541264"/>
            <a:ext cx="5394960" cy="420624"/>
          </a:xfrm>
          <a:prstGeom prst="rect">
            <a:avLst/>
          </a:prstGeom>
          <a:solidFill>
            <a:srgbClr val="FFFFFF"/>
          </a:solidFill>
          <a:ln w="3810">
            <a:solidFill>
              <a:srgbClr val="E2E8F0"/>
            </a:solidFill>
            <a:prstDash val="solid"/>
          </a:ln>
        </p:spPr>
      </p:sp>
      <p:sp>
        <p:nvSpPr>
          <p:cNvPr id="41" name="Text 39"/>
          <p:cNvSpPr/>
          <p:nvPr/>
        </p:nvSpPr>
        <p:spPr>
          <a:xfrm>
            <a:off x="6620256" y="5632704"/>
            <a:ext cx="2103120" cy="256032"/>
          </a:xfrm>
          <a:prstGeom prst="rect">
            <a:avLst/>
          </a:prstGeom>
          <a:noFill/>
          <a:ln/>
        </p:spPr>
        <p:txBody>
          <a:bodyPr wrap="square" lIns="0" tIns="0" rIns="0" bIns="0" rtlCol="0" anchor="ctr"/>
          <a:lstStyle/>
          <a:p>
            <a:pPr indent="0" marL="0">
              <a:buNone/>
            </a:pPr>
            <a:r>
              <a:rPr lang="en-US" sz="1000" b="1" dirty="0">
                <a:solidFill>
                  <a:srgbClr val="2563EB"/>
                </a:solidFill>
                <a:latin typeface="Courier New" pitchFamily="34" charset="0"/>
                <a:ea typeface="Courier New" pitchFamily="34" charset="-122"/>
                <a:cs typeface="Courier New" pitchFamily="34" charset="-120"/>
              </a:rPr>
              <a:t>.copy()</a:t>
            </a:r>
            <a:endParaRPr lang="en-US" sz="1000" dirty="0"/>
          </a:p>
        </p:txBody>
      </p:sp>
      <p:sp>
        <p:nvSpPr>
          <p:cNvPr id="42" name="Text 40"/>
          <p:cNvSpPr/>
          <p:nvPr/>
        </p:nvSpPr>
        <p:spPr>
          <a:xfrm>
            <a:off x="8759952" y="5632704"/>
            <a:ext cx="3127248" cy="256032"/>
          </a:xfrm>
          <a:prstGeom prst="rect">
            <a:avLst/>
          </a:prstGeom>
          <a:noFill/>
          <a:ln/>
        </p:spPr>
        <p:txBody>
          <a:bodyPr wrap="square" lIns="0" tIns="0" rIns="0" bIns="0" rtlCol="0" anchor="ctr"/>
          <a:lstStyle/>
          <a:p>
            <a:pPr indent="0" marL="0">
              <a:buNone/>
            </a:pPr>
            <a:r>
              <a:rPr lang="en-US" sz="1000" dirty="0">
                <a:solidFill>
                  <a:srgbClr val="0D1526"/>
                </a:solidFill>
                <a:latin typeface="Calibri" pitchFamily="34" charset="0"/>
                <a:ea typeface="Calibri" pitchFamily="34" charset="-122"/>
                <a:cs typeface="Calibri" pitchFamily="34" charset="-120"/>
              </a:rPr>
              <a:t>Return shallow copy</a:t>
            </a:r>
            <a:endParaRPr lang="en-US" sz="1000" dirty="0"/>
          </a:p>
        </p:txBody>
      </p:sp>
      <p:sp>
        <p:nvSpPr>
          <p:cNvPr id="43" name="Shape 41"/>
          <p:cNvSpPr/>
          <p:nvPr/>
        </p:nvSpPr>
        <p:spPr>
          <a:xfrm>
            <a:off x="6537960" y="5998464"/>
            <a:ext cx="5394960" cy="420624"/>
          </a:xfrm>
          <a:prstGeom prst="rect">
            <a:avLst/>
          </a:prstGeom>
          <a:solidFill>
            <a:srgbClr val="F1F5F9"/>
          </a:solidFill>
          <a:ln w="3810">
            <a:solidFill>
              <a:srgbClr val="E2E8F0"/>
            </a:solidFill>
            <a:prstDash val="solid"/>
          </a:ln>
        </p:spPr>
      </p:sp>
      <p:sp>
        <p:nvSpPr>
          <p:cNvPr id="44" name="Text 42"/>
          <p:cNvSpPr/>
          <p:nvPr/>
        </p:nvSpPr>
        <p:spPr>
          <a:xfrm>
            <a:off x="6620256" y="6089904"/>
            <a:ext cx="2103120" cy="256032"/>
          </a:xfrm>
          <a:prstGeom prst="rect">
            <a:avLst/>
          </a:prstGeom>
          <a:noFill/>
          <a:ln/>
        </p:spPr>
        <p:txBody>
          <a:bodyPr wrap="square" lIns="0" tIns="0" rIns="0" bIns="0" rtlCol="0" anchor="ctr"/>
          <a:lstStyle/>
          <a:p>
            <a:pPr indent="0" marL="0">
              <a:buNone/>
            </a:pPr>
            <a:r>
              <a:rPr lang="en-US" sz="1000" b="1" dirty="0">
                <a:solidFill>
                  <a:srgbClr val="2563EB"/>
                </a:solidFill>
                <a:latin typeface="Courier New" pitchFamily="34" charset="0"/>
                <a:ea typeface="Courier New" pitchFamily="34" charset="-122"/>
                <a:cs typeface="Courier New" pitchFamily="34" charset="-120"/>
              </a:rPr>
              <a:t>.clear()</a:t>
            </a:r>
            <a:endParaRPr lang="en-US" sz="1000" dirty="0"/>
          </a:p>
        </p:txBody>
      </p:sp>
      <p:sp>
        <p:nvSpPr>
          <p:cNvPr id="45" name="Text 43"/>
          <p:cNvSpPr/>
          <p:nvPr/>
        </p:nvSpPr>
        <p:spPr>
          <a:xfrm>
            <a:off x="8759952" y="6089904"/>
            <a:ext cx="3127248" cy="256032"/>
          </a:xfrm>
          <a:prstGeom prst="rect">
            <a:avLst/>
          </a:prstGeom>
          <a:noFill/>
          <a:ln/>
        </p:spPr>
        <p:txBody>
          <a:bodyPr wrap="square" lIns="0" tIns="0" rIns="0" bIns="0" rtlCol="0" anchor="ctr"/>
          <a:lstStyle/>
          <a:p>
            <a:pPr indent="0" marL="0">
              <a:buNone/>
            </a:pPr>
            <a:r>
              <a:rPr lang="en-US" sz="1000" dirty="0">
                <a:solidFill>
                  <a:srgbClr val="0D1526"/>
                </a:solidFill>
                <a:latin typeface="Calibri" pitchFamily="34" charset="0"/>
                <a:ea typeface="Calibri" pitchFamily="34" charset="-122"/>
                <a:cs typeface="Calibri" pitchFamily="34" charset="-120"/>
              </a:rPr>
              <a:t>Remove all items</a:t>
            </a:r>
            <a:endParaRPr lang="en-US" sz="1000" dirty="0"/>
          </a:p>
        </p:txBody>
      </p:sp>
      <p:sp>
        <p:nvSpPr>
          <p:cNvPr id="46" name="Shape 44"/>
          <p:cNvSpPr/>
          <p:nvPr/>
        </p:nvSpPr>
        <p:spPr>
          <a:xfrm>
            <a:off x="6537960" y="6455664"/>
            <a:ext cx="5394960" cy="420624"/>
          </a:xfrm>
          <a:prstGeom prst="rect">
            <a:avLst/>
          </a:prstGeom>
          <a:solidFill>
            <a:srgbClr val="FFFFFF"/>
          </a:solidFill>
          <a:ln w="3810">
            <a:solidFill>
              <a:srgbClr val="E2E8F0"/>
            </a:solidFill>
            <a:prstDash val="solid"/>
          </a:ln>
        </p:spPr>
      </p:sp>
      <p:sp>
        <p:nvSpPr>
          <p:cNvPr id="47" name="Text 45"/>
          <p:cNvSpPr/>
          <p:nvPr/>
        </p:nvSpPr>
        <p:spPr>
          <a:xfrm>
            <a:off x="6620256" y="6547104"/>
            <a:ext cx="2103120" cy="256032"/>
          </a:xfrm>
          <a:prstGeom prst="rect">
            <a:avLst/>
          </a:prstGeom>
          <a:noFill/>
          <a:ln/>
        </p:spPr>
        <p:txBody>
          <a:bodyPr wrap="square" lIns="0" tIns="0" rIns="0" bIns="0" rtlCol="0" anchor="ctr"/>
          <a:lstStyle/>
          <a:p>
            <a:pPr indent="0" marL="0">
              <a:buNone/>
            </a:pPr>
            <a:r>
              <a:rPr lang="en-US" sz="1000" b="1" dirty="0">
                <a:solidFill>
                  <a:srgbClr val="2563EB"/>
                </a:solidFill>
                <a:latin typeface="Courier New" pitchFamily="34" charset="0"/>
                <a:ea typeface="Courier New" pitchFamily="34" charset="-122"/>
                <a:cs typeface="Courier New" pitchFamily="34" charset="-120"/>
              </a:rPr>
              <a:t>sorted(lst)</a:t>
            </a:r>
            <a:endParaRPr lang="en-US" sz="1000" dirty="0"/>
          </a:p>
        </p:txBody>
      </p:sp>
      <p:sp>
        <p:nvSpPr>
          <p:cNvPr id="48" name="Text 46"/>
          <p:cNvSpPr/>
          <p:nvPr/>
        </p:nvSpPr>
        <p:spPr>
          <a:xfrm>
            <a:off x="8759952" y="6547104"/>
            <a:ext cx="3127248" cy="256032"/>
          </a:xfrm>
          <a:prstGeom prst="rect">
            <a:avLst/>
          </a:prstGeom>
          <a:noFill/>
          <a:ln/>
        </p:spPr>
        <p:txBody>
          <a:bodyPr wrap="square" lIns="0" tIns="0" rIns="0" bIns="0" rtlCol="0" anchor="ctr"/>
          <a:lstStyle/>
          <a:p>
            <a:pPr indent="0" marL="0">
              <a:buNone/>
            </a:pPr>
            <a:r>
              <a:rPr lang="en-US" sz="1000" dirty="0">
                <a:solidFill>
                  <a:srgbClr val="0D1526"/>
                </a:solidFill>
                <a:latin typeface="Calibri" pitchFamily="34" charset="0"/>
                <a:ea typeface="Calibri" pitchFamily="34" charset="-122"/>
                <a:cs typeface="Calibri" pitchFamily="34" charset="-120"/>
              </a:rPr>
              <a:t>Return new sorted list (non-destructive)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D4ED8"/>
          </a:solidFill>
          <a:ln w="12700">
            <a:solidFill>
              <a:srgbClr val="1D4ED8"/>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LIST COMPREHENSIONS — PYTHONIC DATA TRANSFORMATION</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11338560" cy="4023360"/>
          </a:xfrm>
          <a:prstGeom prst="rect">
            <a:avLst/>
          </a:prstGeom>
        </p:spPr>
      </p:pic>
      <p:sp>
        <p:nvSpPr>
          <p:cNvPr id="5" name="Shape 2"/>
          <p:cNvSpPr/>
          <p:nvPr/>
        </p:nvSpPr>
        <p:spPr>
          <a:xfrm>
            <a:off x="411480" y="5193792"/>
            <a:ext cx="11338560" cy="1463040"/>
          </a:xfrm>
          <a:prstGeom prst="roundRect">
            <a:avLst>
              <a:gd name="adj" fmla="val 6250"/>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6" name="Shape 3"/>
          <p:cNvSpPr/>
          <p:nvPr/>
        </p:nvSpPr>
        <p:spPr>
          <a:xfrm>
            <a:off x="411480" y="5193792"/>
            <a:ext cx="11338560" cy="347472"/>
          </a:xfrm>
          <a:prstGeom prst="roundRect">
            <a:avLst>
              <a:gd name="adj" fmla="val 26316"/>
            </a:avLst>
          </a:prstGeom>
          <a:solidFill>
            <a:srgbClr val="1A2540"/>
          </a:solidFill>
          <a:ln w="12700">
            <a:solidFill>
              <a:srgbClr val="1A2540"/>
            </a:solidFill>
            <a:prstDash val="solid"/>
          </a:ln>
        </p:spPr>
      </p:sp>
      <p:sp>
        <p:nvSpPr>
          <p:cNvPr id="7" name="Shape 4"/>
          <p:cNvSpPr/>
          <p:nvPr/>
        </p:nvSpPr>
        <p:spPr>
          <a:xfrm>
            <a:off x="411480" y="5394960"/>
            <a:ext cx="11338560" cy="146304"/>
          </a:xfrm>
          <a:prstGeom prst="rect">
            <a:avLst/>
          </a:prstGeom>
          <a:solidFill>
            <a:srgbClr val="1A2540"/>
          </a:solidFill>
          <a:ln w="12700">
            <a:solidFill>
              <a:srgbClr val="1A2540"/>
            </a:solidFill>
            <a:prstDash val="solid"/>
          </a:ln>
        </p:spPr>
      </p:sp>
      <p:sp>
        <p:nvSpPr>
          <p:cNvPr id="8" name="Shape 5"/>
          <p:cNvSpPr/>
          <p:nvPr/>
        </p:nvSpPr>
        <p:spPr>
          <a:xfrm>
            <a:off x="539496" y="5285232"/>
            <a:ext cx="164592" cy="164592"/>
          </a:xfrm>
          <a:prstGeom prst="ellipse">
            <a:avLst/>
          </a:prstGeom>
          <a:solidFill>
            <a:srgbClr val="E11D48"/>
          </a:solidFill>
          <a:ln w="12700">
            <a:solidFill>
              <a:srgbClr val="E11D48"/>
            </a:solidFill>
            <a:prstDash val="solid"/>
          </a:ln>
        </p:spPr>
      </p:sp>
      <p:sp>
        <p:nvSpPr>
          <p:cNvPr id="9" name="Shape 6"/>
          <p:cNvSpPr/>
          <p:nvPr/>
        </p:nvSpPr>
        <p:spPr>
          <a:xfrm>
            <a:off x="740664" y="5285232"/>
            <a:ext cx="164592" cy="164592"/>
          </a:xfrm>
          <a:prstGeom prst="ellipse">
            <a:avLst/>
          </a:prstGeom>
          <a:solidFill>
            <a:srgbClr val="D97706"/>
          </a:solidFill>
          <a:ln w="12700">
            <a:solidFill>
              <a:srgbClr val="D97706"/>
            </a:solidFill>
            <a:prstDash val="solid"/>
          </a:ln>
        </p:spPr>
      </p:sp>
      <p:sp>
        <p:nvSpPr>
          <p:cNvPr id="10" name="Shape 7"/>
          <p:cNvSpPr/>
          <p:nvPr/>
        </p:nvSpPr>
        <p:spPr>
          <a:xfrm>
            <a:off x="941832" y="5285232"/>
            <a:ext cx="164592" cy="164592"/>
          </a:xfrm>
          <a:prstGeom prst="ellipse">
            <a:avLst/>
          </a:prstGeom>
          <a:solidFill>
            <a:srgbClr val="16A34A"/>
          </a:solidFill>
          <a:ln w="12700">
            <a:solidFill>
              <a:srgbClr val="16A34A"/>
            </a:solidFill>
            <a:prstDash val="solid"/>
          </a:ln>
        </p:spPr>
      </p:sp>
      <p:sp>
        <p:nvSpPr>
          <p:cNvPr id="11" name="Text 8"/>
          <p:cNvSpPr/>
          <p:nvPr/>
        </p:nvSpPr>
        <p:spPr>
          <a:xfrm>
            <a:off x="1143000" y="5266944"/>
            <a:ext cx="1042416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comprehensions.py</a:t>
            </a:r>
            <a:endParaRPr lang="en-US" sz="900" dirty="0"/>
          </a:p>
        </p:txBody>
      </p:sp>
      <p:sp>
        <p:nvSpPr>
          <p:cNvPr id="12" name="Text 9"/>
          <p:cNvSpPr/>
          <p:nvPr/>
        </p:nvSpPr>
        <p:spPr>
          <a:xfrm>
            <a:off x="557784" y="5596128"/>
            <a:ext cx="11064240" cy="950976"/>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Practical examples in Colab</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prices = [12000, 35000, 8500, 42000, 5000]</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Apply 10% discount to items over 10,000</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discounted = [p*0.9 if p&gt;10000 else p for p in prices]</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Normalise product names to title case</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clean_names = [n.strip().title() for n in raw_names]</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E3C"/>
          </a:solidFill>
          <a:ln w="12700">
            <a:solidFill>
              <a:srgbClr val="0F1E3C"/>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tuple — ORDERED AND IMMUTABLE (FIXED DATA)</a:t>
            </a:r>
            <a:endParaRPr lang="en-US" sz="2600" dirty="0"/>
          </a:p>
        </p:txBody>
      </p:sp>
      <p:sp>
        <p:nvSpPr>
          <p:cNvPr id="4" name="Shape 2"/>
          <p:cNvSpPr/>
          <p:nvPr/>
        </p:nvSpPr>
        <p:spPr>
          <a:xfrm>
            <a:off x="411480" y="1024128"/>
            <a:ext cx="5943600" cy="5559552"/>
          </a:xfrm>
          <a:prstGeom prst="roundRect">
            <a:avLst>
              <a:gd name="adj" fmla="val 1645"/>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1024128"/>
            <a:ext cx="5943600" cy="347472"/>
          </a:xfrm>
          <a:prstGeom prst="roundRect">
            <a:avLst>
              <a:gd name="adj" fmla="val 26316"/>
            </a:avLst>
          </a:prstGeom>
          <a:solidFill>
            <a:srgbClr val="1A2540"/>
          </a:solidFill>
          <a:ln w="12700">
            <a:solidFill>
              <a:srgbClr val="1A2540"/>
            </a:solidFill>
            <a:prstDash val="solid"/>
          </a:ln>
        </p:spPr>
      </p:sp>
      <p:sp>
        <p:nvSpPr>
          <p:cNvPr id="6" name="Shape 4"/>
          <p:cNvSpPr/>
          <p:nvPr/>
        </p:nvSpPr>
        <p:spPr>
          <a:xfrm>
            <a:off x="411480" y="1225296"/>
            <a:ext cx="5943600" cy="146304"/>
          </a:xfrm>
          <a:prstGeom prst="rect">
            <a:avLst/>
          </a:prstGeom>
          <a:solidFill>
            <a:srgbClr val="1A2540"/>
          </a:solidFill>
          <a:ln w="12700">
            <a:solidFill>
              <a:srgbClr val="1A2540"/>
            </a:solidFill>
            <a:prstDash val="solid"/>
          </a:ln>
        </p:spPr>
      </p:sp>
      <p:sp>
        <p:nvSpPr>
          <p:cNvPr id="7" name="Shape 5"/>
          <p:cNvSpPr/>
          <p:nvPr/>
        </p:nvSpPr>
        <p:spPr>
          <a:xfrm>
            <a:off x="539496" y="1115568"/>
            <a:ext cx="164592" cy="164592"/>
          </a:xfrm>
          <a:prstGeom prst="ellipse">
            <a:avLst/>
          </a:prstGeom>
          <a:solidFill>
            <a:srgbClr val="E11D48"/>
          </a:solidFill>
          <a:ln w="12700">
            <a:solidFill>
              <a:srgbClr val="E11D48"/>
            </a:solidFill>
            <a:prstDash val="solid"/>
          </a:ln>
        </p:spPr>
      </p:sp>
      <p:sp>
        <p:nvSpPr>
          <p:cNvPr id="8" name="Shape 6"/>
          <p:cNvSpPr/>
          <p:nvPr/>
        </p:nvSpPr>
        <p:spPr>
          <a:xfrm>
            <a:off x="740664" y="1115568"/>
            <a:ext cx="164592" cy="164592"/>
          </a:xfrm>
          <a:prstGeom prst="ellipse">
            <a:avLst/>
          </a:prstGeom>
          <a:solidFill>
            <a:srgbClr val="D97706"/>
          </a:solidFill>
          <a:ln w="12700">
            <a:solidFill>
              <a:srgbClr val="D97706"/>
            </a:solidFill>
            <a:prstDash val="solid"/>
          </a:ln>
        </p:spPr>
      </p:sp>
      <p:sp>
        <p:nvSpPr>
          <p:cNvPr id="9" name="Shape 7"/>
          <p:cNvSpPr/>
          <p:nvPr/>
        </p:nvSpPr>
        <p:spPr>
          <a:xfrm>
            <a:off x="941832" y="1115568"/>
            <a:ext cx="164592" cy="164592"/>
          </a:xfrm>
          <a:prstGeom prst="ellipse">
            <a:avLst/>
          </a:prstGeom>
          <a:solidFill>
            <a:srgbClr val="16A34A"/>
          </a:solidFill>
          <a:ln w="12700">
            <a:solidFill>
              <a:srgbClr val="16A34A"/>
            </a:solidFill>
            <a:prstDash val="solid"/>
          </a:ln>
        </p:spPr>
      </p:sp>
      <p:sp>
        <p:nvSpPr>
          <p:cNvPr id="10" name="Text 8"/>
          <p:cNvSpPr/>
          <p:nvPr/>
        </p:nvSpPr>
        <p:spPr>
          <a:xfrm>
            <a:off x="1143000" y="1097280"/>
            <a:ext cx="50292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tuples.py</a:t>
            </a:r>
            <a:endParaRPr lang="en-US" sz="900" dirty="0"/>
          </a:p>
        </p:txBody>
      </p:sp>
      <p:sp>
        <p:nvSpPr>
          <p:cNvPr id="11" name="Text 9"/>
          <p:cNvSpPr/>
          <p:nvPr/>
        </p:nvSpPr>
        <p:spPr>
          <a:xfrm>
            <a:off x="557784" y="1426464"/>
            <a:ext cx="5669280" cy="504748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Creating tuples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coordinates = (6.4541, 3.3947)    # Lagos lat/lon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rgb_colour  = (255, 165, 0)       # orange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quarter     = ('Q1', 2024, 'Jan')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single      = (42,)               # need the comma!</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Cannot modify — immutable</a:t>
            </a:r>
            <a:endParaRPr lang="en-US" sz="1050" dirty="0"/>
          </a:p>
          <a:p>
            <a:pPr indent="0" marL="0">
              <a:buNone/>
            </a:pPr>
            <a:r>
              <a:rPr lang="en-US" sz="1050" dirty="0">
                <a:solidFill>
                  <a:srgbClr val="E11D48"/>
                </a:solidFill>
                <a:latin typeface="Courier New" pitchFamily="34" charset="0"/>
                <a:ea typeface="Courier New" pitchFamily="34" charset="-122"/>
                <a:cs typeface="Courier New" pitchFamily="34" charset="-120"/>
              </a:rPr>
              <a:t>coordinates[0] = 7.0  # TypeError!</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Tuple unpacking — very powerful</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lat, lon = coordinates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q, year, month = quarter</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Functions often return tuples</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def min_max_revenue(data):</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return min(data), max(data)</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lo, hi = min_max_revenue(revenues)</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 lo = 5000, hi = 450000</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Pythonic swap</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 b = 100, 200</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a, b = b, a    # a=200, b=100</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Tuples as dict keys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sales = {('Lagos','Q1'): 4_500_000,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('Abuja','Q1'): 2_100_000}</a:t>
            </a:r>
            <a:endParaRPr lang="en-US" sz="1050" dirty="0"/>
          </a:p>
        </p:txBody>
      </p:sp>
      <p:sp>
        <p:nvSpPr>
          <p:cNvPr id="12" name="Shape 10"/>
          <p:cNvSpPr/>
          <p:nvPr/>
        </p:nvSpPr>
        <p:spPr>
          <a:xfrm>
            <a:off x="6537960" y="1024128"/>
            <a:ext cx="5394960" cy="1517904"/>
          </a:xfrm>
          <a:prstGeom prst="roundRect">
            <a:avLst>
              <a:gd name="adj" fmla="val 6024"/>
            </a:avLst>
          </a:prstGeom>
          <a:solidFill>
            <a:srgbClr val="FFFFFF"/>
          </a:solidFill>
          <a:ln w="13970">
            <a:solidFill>
              <a:srgbClr val="7C3AED"/>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6684264" y="1133856"/>
            <a:ext cx="5102352" cy="274320"/>
          </a:xfrm>
          <a:prstGeom prst="rect">
            <a:avLst/>
          </a:prstGeom>
          <a:noFill/>
          <a:ln/>
        </p:spPr>
        <p:txBody>
          <a:bodyPr wrap="square" lIns="0" tIns="0" rIns="0" bIns="0" rtlCol="0" anchor="ctr"/>
          <a:lstStyle/>
          <a:p>
            <a:pPr indent="0" marL="0">
              <a:buNone/>
            </a:pPr>
            <a:r>
              <a:rPr lang="en-US" sz="1100" b="1" dirty="0">
                <a:solidFill>
                  <a:srgbClr val="7C3AED"/>
                </a:solidFill>
                <a:latin typeface="Cambria" pitchFamily="34" charset="0"/>
                <a:ea typeface="Cambria" pitchFamily="34" charset="-122"/>
                <a:cs typeface="Cambria" pitchFamily="34" charset="-120"/>
              </a:rPr>
              <a:t>Why tuples, not lists?</a:t>
            </a:r>
            <a:endParaRPr lang="en-US" sz="1100" dirty="0"/>
          </a:p>
        </p:txBody>
      </p:sp>
      <p:sp>
        <p:nvSpPr>
          <p:cNvPr id="14" name="Text 12"/>
          <p:cNvSpPr/>
          <p:nvPr/>
        </p:nvSpPr>
        <p:spPr>
          <a:xfrm>
            <a:off x="6684264" y="1444752"/>
            <a:ext cx="5102352" cy="9509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Tuples signal 'this data will not change'. Faster to iterate. Can be used as dictionary keys (lists cannot). Protects fixed records from accidental mutation.</a:t>
            </a:r>
            <a:endParaRPr lang="en-US" sz="1000" dirty="0"/>
          </a:p>
        </p:txBody>
      </p:sp>
      <p:sp>
        <p:nvSpPr>
          <p:cNvPr id="15" name="Shape 13"/>
          <p:cNvSpPr/>
          <p:nvPr/>
        </p:nvSpPr>
        <p:spPr>
          <a:xfrm>
            <a:off x="6537960" y="2651760"/>
            <a:ext cx="5394960" cy="1517904"/>
          </a:xfrm>
          <a:prstGeom prst="roundRect">
            <a:avLst>
              <a:gd name="adj" fmla="val 6024"/>
            </a:avLst>
          </a:prstGeom>
          <a:solidFill>
            <a:srgbClr val="FFFFFF"/>
          </a:solidFill>
          <a:ln w="13970">
            <a:solidFill>
              <a:srgbClr val="2563EB"/>
            </a:solidFill>
            <a:prstDash val="solid"/>
          </a:ln>
          <a:effectLst>
            <a:outerShdw sx="100000" sy="100000" kx="0" ky="0" algn="bl" rotWithShape="0" blurRad="63500" dist="25400" dir="2700000">
              <a:srgbClr val="000000">
                <a:alpha val="12000"/>
              </a:srgbClr>
            </a:outerShdw>
          </a:effectLst>
        </p:spPr>
      </p:sp>
      <p:sp>
        <p:nvSpPr>
          <p:cNvPr id="16" name="Text 14"/>
          <p:cNvSpPr/>
          <p:nvPr/>
        </p:nvSpPr>
        <p:spPr>
          <a:xfrm>
            <a:off x="6684264" y="2761488"/>
            <a:ext cx="5102352" cy="274320"/>
          </a:xfrm>
          <a:prstGeom prst="rect">
            <a:avLst/>
          </a:prstGeom>
          <a:noFill/>
          <a:ln/>
        </p:spPr>
        <p:txBody>
          <a:bodyPr wrap="square" lIns="0" tIns="0" rIns="0" bIns="0" rtlCol="0" anchor="ctr"/>
          <a:lstStyle/>
          <a:p>
            <a:pPr indent="0" marL="0">
              <a:buNone/>
            </a:pPr>
            <a:r>
              <a:rPr lang="en-US" sz="1100" b="1" dirty="0">
                <a:solidFill>
                  <a:srgbClr val="2563EB"/>
                </a:solidFill>
                <a:latin typeface="Cambria" pitchFamily="34" charset="0"/>
                <a:ea typeface="Cambria" pitchFamily="34" charset="-122"/>
                <a:cs typeface="Cambria" pitchFamily="34" charset="-120"/>
              </a:rPr>
              <a:t>Unpacking in loops</a:t>
            </a:r>
            <a:endParaRPr lang="en-US" sz="1100" dirty="0"/>
          </a:p>
        </p:txBody>
      </p:sp>
      <p:sp>
        <p:nvSpPr>
          <p:cNvPr id="17" name="Text 15"/>
          <p:cNvSpPr/>
          <p:nvPr/>
        </p:nvSpPr>
        <p:spPr>
          <a:xfrm>
            <a:off x="6684264" y="3072384"/>
            <a:ext cx="5102352" cy="9509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for region, revenue in region_data:</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    print(f'{region}: {revenue:,}')</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Unpacking multiple return values at once.</a:t>
            </a:r>
            <a:endParaRPr lang="en-US" sz="1000" dirty="0"/>
          </a:p>
        </p:txBody>
      </p:sp>
      <p:sp>
        <p:nvSpPr>
          <p:cNvPr id="18" name="Shape 16"/>
          <p:cNvSpPr/>
          <p:nvPr/>
        </p:nvSpPr>
        <p:spPr>
          <a:xfrm>
            <a:off x="6537960" y="4279392"/>
            <a:ext cx="5394960" cy="1517904"/>
          </a:xfrm>
          <a:prstGeom prst="roundRect">
            <a:avLst>
              <a:gd name="adj" fmla="val 6024"/>
            </a:avLst>
          </a:prstGeom>
          <a:solidFill>
            <a:srgbClr val="FFFFFF"/>
          </a:solidFill>
          <a:ln w="13970">
            <a:solidFill>
              <a:srgbClr val="16A34A"/>
            </a:solidFill>
            <a:prstDash val="solid"/>
          </a:ln>
          <a:effectLst>
            <a:outerShdw sx="100000" sy="100000" kx="0" ky="0" algn="bl" rotWithShape="0" blurRad="63500" dist="25400" dir="2700000">
              <a:srgbClr val="000000">
                <a:alpha val="12000"/>
              </a:srgbClr>
            </a:outerShdw>
          </a:effectLst>
        </p:spPr>
      </p:sp>
      <p:sp>
        <p:nvSpPr>
          <p:cNvPr id="19" name="Text 17"/>
          <p:cNvSpPr/>
          <p:nvPr/>
        </p:nvSpPr>
        <p:spPr>
          <a:xfrm>
            <a:off x="6684264" y="4389120"/>
            <a:ext cx="5102352" cy="274320"/>
          </a:xfrm>
          <a:prstGeom prst="rect">
            <a:avLst/>
          </a:prstGeom>
          <a:noFill/>
          <a:ln/>
        </p:spPr>
        <p:txBody>
          <a:bodyPr wrap="square" lIns="0" tIns="0" rIns="0" bIns="0" rtlCol="0" anchor="ctr"/>
          <a:lstStyle/>
          <a:p>
            <a:pPr indent="0" marL="0">
              <a:buNone/>
            </a:pPr>
            <a:r>
              <a:rPr lang="en-US" sz="1100" b="1" dirty="0">
                <a:solidFill>
                  <a:srgbClr val="16A34A"/>
                </a:solidFill>
                <a:latin typeface="Cambria" pitchFamily="34" charset="0"/>
                <a:ea typeface="Cambria" pitchFamily="34" charset="-122"/>
                <a:cs typeface="Cambria" pitchFamily="34" charset="-120"/>
              </a:rPr>
              <a:t>Named tuples</a:t>
            </a:r>
            <a:endParaRPr lang="en-US" sz="1100" dirty="0"/>
          </a:p>
        </p:txBody>
      </p:sp>
      <p:sp>
        <p:nvSpPr>
          <p:cNvPr id="20" name="Text 18"/>
          <p:cNvSpPr/>
          <p:nvPr/>
        </p:nvSpPr>
        <p:spPr>
          <a:xfrm>
            <a:off x="6684264" y="4700016"/>
            <a:ext cx="5102352" cy="9509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from collections import namedtuple</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Product = namedtuple('Product',['name','price'])</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p = Product('Laptop',450000)</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p.price  # 450000</a:t>
            </a:r>
            <a:endParaRPr lang="en-US" sz="1000" dirty="0"/>
          </a:p>
        </p:txBody>
      </p:sp>
      <p:sp>
        <p:nvSpPr>
          <p:cNvPr id="21" name="Shape 19"/>
          <p:cNvSpPr/>
          <p:nvPr/>
        </p:nvSpPr>
        <p:spPr>
          <a:xfrm>
            <a:off x="6537960" y="5907024"/>
            <a:ext cx="5394960" cy="1517904"/>
          </a:xfrm>
          <a:prstGeom prst="roundRect">
            <a:avLst>
              <a:gd name="adj" fmla="val 6024"/>
            </a:avLst>
          </a:prstGeom>
          <a:solidFill>
            <a:srgbClr val="FFFFFF"/>
          </a:solidFill>
          <a:ln w="13970">
            <a:solidFill>
              <a:srgbClr val="F9AB00"/>
            </a:solidFill>
            <a:prstDash val="solid"/>
          </a:ln>
          <a:effectLst>
            <a:outerShdw sx="100000" sy="100000" kx="0" ky="0" algn="bl" rotWithShape="0" blurRad="63500" dist="25400" dir="2700000">
              <a:srgbClr val="000000">
                <a:alpha val="12000"/>
              </a:srgbClr>
            </a:outerShdw>
          </a:effectLst>
        </p:spPr>
      </p:sp>
      <p:sp>
        <p:nvSpPr>
          <p:cNvPr id="22" name="Text 20"/>
          <p:cNvSpPr/>
          <p:nvPr/>
        </p:nvSpPr>
        <p:spPr>
          <a:xfrm>
            <a:off x="6684264" y="6016752"/>
            <a:ext cx="5102352" cy="274320"/>
          </a:xfrm>
          <a:prstGeom prst="rect">
            <a:avLst/>
          </a:prstGeom>
          <a:noFill/>
          <a:ln/>
        </p:spPr>
        <p:txBody>
          <a:bodyPr wrap="square" lIns="0" tIns="0" rIns="0" bIns="0" rtlCol="0" anchor="ctr"/>
          <a:lstStyle/>
          <a:p>
            <a:pPr indent="0" marL="0">
              <a:buNone/>
            </a:pPr>
            <a:r>
              <a:rPr lang="en-US" sz="1100" b="1" dirty="0">
                <a:solidFill>
                  <a:srgbClr val="F9AB00"/>
                </a:solidFill>
                <a:latin typeface="Cambria" pitchFamily="34" charset="0"/>
                <a:ea typeface="Cambria" pitchFamily="34" charset="-122"/>
                <a:cs typeface="Cambria" pitchFamily="34" charset="-120"/>
              </a:rPr>
              <a:t>Common in data work</a:t>
            </a:r>
            <a:endParaRPr lang="en-US" sz="1100" dirty="0"/>
          </a:p>
        </p:txBody>
      </p:sp>
      <p:sp>
        <p:nvSpPr>
          <p:cNvPr id="23" name="Text 21"/>
          <p:cNvSpPr/>
          <p:nvPr/>
        </p:nvSpPr>
        <p:spPr>
          <a:xfrm>
            <a:off x="6684264" y="6327648"/>
            <a:ext cx="5102352" cy="9509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pd.DataFrame.itertuples() returns rows as named tuples. min_max, divmod(), and many Pandas/NumPy functions return tuples.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E3C"/>
          </a:solidFill>
          <a:ln w="12700">
            <a:solidFill>
              <a:srgbClr val="0F1E3C"/>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dict — KEY-VALUE PAIRS FOR STRUCTURED DATA</a:t>
            </a:r>
            <a:endParaRPr lang="en-US" sz="2600" dirty="0"/>
          </a:p>
        </p:txBody>
      </p:sp>
      <p:sp>
        <p:nvSpPr>
          <p:cNvPr id="4" name="Shape 2"/>
          <p:cNvSpPr/>
          <p:nvPr/>
        </p:nvSpPr>
        <p:spPr>
          <a:xfrm>
            <a:off x="411480" y="1024128"/>
            <a:ext cx="5943600" cy="5559552"/>
          </a:xfrm>
          <a:prstGeom prst="roundRect">
            <a:avLst>
              <a:gd name="adj" fmla="val 1645"/>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1024128"/>
            <a:ext cx="5943600" cy="347472"/>
          </a:xfrm>
          <a:prstGeom prst="roundRect">
            <a:avLst>
              <a:gd name="adj" fmla="val 26316"/>
            </a:avLst>
          </a:prstGeom>
          <a:solidFill>
            <a:srgbClr val="1A2540"/>
          </a:solidFill>
          <a:ln w="12700">
            <a:solidFill>
              <a:srgbClr val="1A2540"/>
            </a:solidFill>
            <a:prstDash val="solid"/>
          </a:ln>
        </p:spPr>
      </p:sp>
      <p:sp>
        <p:nvSpPr>
          <p:cNvPr id="6" name="Shape 4"/>
          <p:cNvSpPr/>
          <p:nvPr/>
        </p:nvSpPr>
        <p:spPr>
          <a:xfrm>
            <a:off x="411480" y="1225296"/>
            <a:ext cx="5943600" cy="146304"/>
          </a:xfrm>
          <a:prstGeom prst="rect">
            <a:avLst/>
          </a:prstGeom>
          <a:solidFill>
            <a:srgbClr val="1A2540"/>
          </a:solidFill>
          <a:ln w="12700">
            <a:solidFill>
              <a:srgbClr val="1A2540"/>
            </a:solidFill>
            <a:prstDash val="solid"/>
          </a:ln>
        </p:spPr>
      </p:sp>
      <p:sp>
        <p:nvSpPr>
          <p:cNvPr id="7" name="Shape 5"/>
          <p:cNvSpPr/>
          <p:nvPr/>
        </p:nvSpPr>
        <p:spPr>
          <a:xfrm>
            <a:off x="539496" y="1115568"/>
            <a:ext cx="164592" cy="164592"/>
          </a:xfrm>
          <a:prstGeom prst="ellipse">
            <a:avLst/>
          </a:prstGeom>
          <a:solidFill>
            <a:srgbClr val="E11D48"/>
          </a:solidFill>
          <a:ln w="12700">
            <a:solidFill>
              <a:srgbClr val="E11D48"/>
            </a:solidFill>
            <a:prstDash val="solid"/>
          </a:ln>
        </p:spPr>
      </p:sp>
      <p:sp>
        <p:nvSpPr>
          <p:cNvPr id="8" name="Shape 6"/>
          <p:cNvSpPr/>
          <p:nvPr/>
        </p:nvSpPr>
        <p:spPr>
          <a:xfrm>
            <a:off x="740664" y="1115568"/>
            <a:ext cx="164592" cy="164592"/>
          </a:xfrm>
          <a:prstGeom prst="ellipse">
            <a:avLst/>
          </a:prstGeom>
          <a:solidFill>
            <a:srgbClr val="D97706"/>
          </a:solidFill>
          <a:ln w="12700">
            <a:solidFill>
              <a:srgbClr val="D97706"/>
            </a:solidFill>
            <a:prstDash val="solid"/>
          </a:ln>
        </p:spPr>
      </p:sp>
      <p:sp>
        <p:nvSpPr>
          <p:cNvPr id="9" name="Shape 7"/>
          <p:cNvSpPr/>
          <p:nvPr/>
        </p:nvSpPr>
        <p:spPr>
          <a:xfrm>
            <a:off x="941832" y="1115568"/>
            <a:ext cx="164592" cy="164592"/>
          </a:xfrm>
          <a:prstGeom prst="ellipse">
            <a:avLst/>
          </a:prstGeom>
          <a:solidFill>
            <a:srgbClr val="16A34A"/>
          </a:solidFill>
          <a:ln w="12700">
            <a:solidFill>
              <a:srgbClr val="16A34A"/>
            </a:solidFill>
            <a:prstDash val="solid"/>
          </a:ln>
        </p:spPr>
      </p:sp>
      <p:sp>
        <p:nvSpPr>
          <p:cNvPr id="10" name="Text 8"/>
          <p:cNvSpPr/>
          <p:nvPr/>
        </p:nvSpPr>
        <p:spPr>
          <a:xfrm>
            <a:off x="1143000" y="1097280"/>
            <a:ext cx="50292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dicts.py</a:t>
            </a:r>
            <a:endParaRPr lang="en-US" sz="900" dirty="0"/>
          </a:p>
        </p:txBody>
      </p:sp>
      <p:sp>
        <p:nvSpPr>
          <p:cNvPr id="11" name="Text 9"/>
          <p:cNvSpPr/>
          <p:nvPr/>
        </p:nvSpPr>
        <p:spPr>
          <a:xfrm>
            <a:off x="557784" y="1426464"/>
            <a:ext cx="5669280" cy="504748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Creating dictionaries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customer =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"id":        "CUST-00142",</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"company":   "Allied Foods Ltd",</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"region":    "South-West",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"balance":   1_250_000.00,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"overdue":   False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Access values</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customer["company"]               # "Allied Foods Ltd"</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customer.get("rating", "N/A")     # default value</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Modify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customer["balance"] = 980_000     # update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customer["credit_limit"] = 2_000_000  # add key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del customer["overdue"]           # remove key</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Iterate</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for key, value in customer.items():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print(f"  {key}: {value}")</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Dict comprehension — transform all values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prices = {'Laptop':400000,'Phone':120000}</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Apply 5% increase to all prices</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new_prices = {k: v*1.05 for k,v in prices.items()}</a:t>
            </a:r>
            <a:endParaRPr lang="en-US" sz="1050" dirty="0"/>
          </a:p>
        </p:txBody>
      </p:sp>
      <p:sp>
        <p:nvSpPr>
          <p:cNvPr id="12" name="Text 10"/>
          <p:cNvSpPr/>
          <p:nvPr/>
        </p:nvSpPr>
        <p:spPr>
          <a:xfrm>
            <a:off x="6537960" y="1078992"/>
            <a:ext cx="5394960" cy="274320"/>
          </a:xfrm>
          <a:prstGeom prst="rect">
            <a:avLst/>
          </a:prstGeom>
          <a:noFill/>
          <a:ln/>
        </p:spPr>
        <p:txBody>
          <a:bodyPr wrap="square" lIns="0" tIns="0" rIns="0" bIns="0" rtlCol="0" anchor="ctr"/>
          <a:lstStyle/>
          <a:p>
            <a:pPr indent="0" marL="0">
              <a:buNone/>
            </a:pPr>
            <a:r>
              <a:rPr lang="en-US" sz="1100" b="1" dirty="0">
                <a:solidFill>
                  <a:srgbClr val="16A34A"/>
                </a:solidFill>
                <a:latin typeface="Cambria" pitchFamily="34" charset="0"/>
                <a:ea typeface="Cambria" pitchFamily="34" charset="-122"/>
                <a:cs typeface="Cambria" pitchFamily="34" charset="-120"/>
              </a:rPr>
              <a:t>Dictionary Methods</a:t>
            </a:r>
            <a:endParaRPr lang="en-US" sz="1100" dirty="0"/>
          </a:p>
        </p:txBody>
      </p:sp>
      <p:sp>
        <p:nvSpPr>
          <p:cNvPr id="13" name="Shape 11"/>
          <p:cNvSpPr/>
          <p:nvPr/>
        </p:nvSpPr>
        <p:spPr>
          <a:xfrm>
            <a:off x="6537960" y="1426464"/>
            <a:ext cx="5394960" cy="512064"/>
          </a:xfrm>
          <a:prstGeom prst="rect">
            <a:avLst/>
          </a:prstGeom>
          <a:solidFill>
            <a:srgbClr val="1A2540"/>
          </a:solidFill>
          <a:ln w="3810">
            <a:solidFill>
              <a:srgbClr val="E2E8F0"/>
            </a:solidFill>
            <a:prstDash val="solid"/>
          </a:ln>
        </p:spPr>
      </p:sp>
      <p:sp>
        <p:nvSpPr>
          <p:cNvPr id="14" name="Text 12"/>
          <p:cNvSpPr/>
          <p:nvPr/>
        </p:nvSpPr>
        <p:spPr>
          <a:xfrm>
            <a:off x="6620256" y="1554480"/>
            <a:ext cx="2103120" cy="256032"/>
          </a:xfrm>
          <a:prstGeom prst="rect">
            <a:avLst/>
          </a:prstGeom>
          <a:noFill/>
          <a:ln/>
        </p:spPr>
        <p:txBody>
          <a:bodyPr wrap="square" lIns="0" tIns="0" rIns="0" bIns="0" rtlCol="0" anchor="ctr"/>
          <a:lstStyle/>
          <a:p>
            <a:pPr indent="0" marL="0">
              <a:buNone/>
            </a:pPr>
            <a:r>
              <a:rPr lang="en-US" sz="1000" b="1" dirty="0">
                <a:solidFill>
                  <a:srgbClr val="16A34A"/>
                </a:solidFill>
                <a:latin typeface="Courier New" pitchFamily="34" charset="0"/>
                <a:ea typeface="Courier New" pitchFamily="34" charset="-122"/>
                <a:cs typeface="Courier New" pitchFamily="34" charset="-120"/>
              </a:rPr>
              <a:t>.keys()</a:t>
            </a:r>
            <a:endParaRPr lang="en-US" sz="1000" dirty="0"/>
          </a:p>
        </p:txBody>
      </p:sp>
      <p:sp>
        <p:nvSpPr>
          <p:cNvPr id="15" name="Text 13"/>
          <p:cNvSpPr/>
          <p:nvPr/>
        </p:nvSpPr>
        <p:spPr>
          <a:xfrm>
            <a:off x="8759952" y="1554480"/>
            <a:ext cx="3127248"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All keys as a view</a:t>
            </a:r>
            <a:endParaRPr lang="en-US" sz="1000" dirty="0"/>
          </a:p>
        </p:txBody>
      </p:sp>
      <p:sp>
        <p:nvSpPr>
          <p:cNvPr id="16" name="Shape 14"/>
          <p:cNvSpPr/>
          <p:nvPr/>
        </p:nvSpPr>
        <p:spPr>
          <a:xfrm>
            <a:off x="6537960" y="1975104"/>
            <a:ext cx="5394960" cy="512064"/>
          </a:xfrm>
          <a:prstGeom prst="rect">
            <a:avLst/>
          </a:prstGeom>
          <a:solidFill>
            <a:srgbClr val="111827"/>
          </a:solidFill>
          <a:ln w="3810">
            <a:solidFill>
              <a:srgbClr val="E2E8F0"/>
            </a:solidFill>
            <a:prstDash val="solid"/>
          </a:ln>
        </p:spPr>
      </p:sp>
      <p:sp>
        <p:nvSpPr>
          <p:cNvPr id="17" name="Text 15"/>
          <p:cNvSpPr/>
          <p:nvPr/>
        </p:nvSpPr>
        <p:spPr>
          <a:xfrm>
            <a:off x="6620256" y="2103120"/>
            <a:ext cx="2103120" cy="256032"/>
          </a:xfrm>
          <a:prstGeom prst="rect">
            <a:avLst/>
          </a:prstGeom>
          <a:noFill/>
          <a:ln/>
        </p:spPr>
        <p:txBody>
          <a:bodyPr wrap="square" lIns="0" tIns="0" rIns="0" bIns="0" rtlCol="0" anchor="ctr"/>
          <a:lstStyle/>
          <a:p>
            <a:pPr indent="0" marL="0">
              <a:buNone/>
            </a:pPr>
            <a:r>
              <a:rPr lang="en-US" sz="1000" b="1" dirty="0">
                <a:solidFill>
                  <a:srgbClr val="16A34A"/>
                </a:solidFill>
                <a:latin typeface="Courier New" pitchFamily="34" charset="0"/>
                <a:ea typeface="Courier New" pitchFamily="34" charset="-122"/>
                <a:cs typeface="Courier New" pitchFamily="34" charset="-120"/>
              </a:rPr>
              <a:t>.values()</a:t>
            </a:r>
            <a:endParaRPr lang="en-US" sz="1000" dirty="0"/>
          </a:p>
        </p:txBody>
      </p:sp>
      <p:sp>
        <p:nvSpPr>
          <p:cNvPr id="18" name="Text 16"/>
          <p:cNvSpPr/>
          <p:nvPr/>
        </p:nvSpPr>
        <p:spPr>
          <a:xfrm>
            <a:off x="8759952" y="2103120"/>
            <a:ext cx="3127248"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All values as a view</a:t>
            </a:r>
            <a:endParaRPr lang="en-US" sz="1000" dirty="0"/>
          </a:p>
        </p:txBody>
      </p:sp>
      <p:sp>
        <p:nvSpPr>
          <p:cNvPr id="19" name="Shape 17"/>
          <p:cNvSpPr/>
          <p:nvPr/>
        </p:nvSpPr>
        <p:spPr>
          <a:xfrm>
            <a:off x="6537960" y="2523744"/>
            <a:ext cx="5394960" cy="512064"/>
          </a:xfrm>
          <a:prstGeom prst="rect">
            <a:avLst/>
          </a:prstGeom>
          <a:solidFill>
            <a:srgbClr val="1A2540"/>
          </a:solidFill>
          <a:ln w="3810">
            <a:solidFill>
              <a:srgbClr val="E2E8F0"/>
            </a:solidFill>
            <a:prstDash val="solid"/>
          </a:ln>
        </p:spPr>
      </p:sp>
      <p:sp>
        <p:nvSpPr>
          <p:cNvPr id="20" name="Text 18"/>
          <p:cNvSpPr/>
          <p:nvPr/>
        </p:nvSpPr>
        <p:spPr>
          <a:xfrm>
            <a:off x="6620256" y="2651760"/>
            <a:ext cx="2103120" cy="256032"/>
          </a:xfrm>
          <a:prstGeom prst="rect">
            <a:avLst/>
          </a:prstGeom>
          <a:noFill/>
          <a:ln/>
        </p:spPr>
        <p:txBody>
          <a:bodyPr wrap="square" lIns="0" tIns="0" rIns="0" bIns="0" rtlCol="0" anchor="ctr"/>
          <a:lstStyle/>
          <a:p>
            <a:pPr indent="0" marL="0">
              <a:buNone/>
            </a:pPr>
            <a:r>
              <a:rPr lang="en-US" sz="1000" b="1" dirty="0">
                <a:solidFill>
                  <a:srgbClr val="16A34A"/>
                </a:solidFill>
                <a:latin typeface="Courier New" pitchFamily="34" charset="0"/>
                <a:ea typeface="Courier New" pitchFamily="34" charset="-122"/>
                <a:cs typeface="Courier New" pitchFamily="34" charset="-120"/>
              </a:rPr>
              <a:t>.items()</a:t>
            </a:r>
            <a:endParaRPr lang="en-US" sz="1000" dirty="0"/>
          </a:p>
        </p:txBody>
      </p:sp>
      <p:sp>
        <p:nvSpPr>
          <p:cNvPr id="21" name="Text 19"/>
          <p:cNvSpPr/>
          <p:nvPr/>
        </p:nvSpPr>
        <p:spPr>
          <a:xfrm>
            <a:off x="8759952" y="2651760"/>
            <a:ext cx="3127248"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(key, value) pairs — for loops</a:t>
            </a:r>
            <a:endParaRPr lang="en-US" sz="1000" dirty="0"/>
          </a:p>
        </p:txBody>
      </p:sp>
      <p:sp>
        <p:nvSpPr>
          <p:cNvPr id="22" name="Shape 20"/>
          <p:cNvSpPr/>
          <p:nvPr/>
        </p:nvSpPr>
        <p:spPr>
          <a:xfrm>
            <a:off x="6537960" y="3072384"/>
            <a:ext cx="5394960" cy="512064"/>
          </a:xfrm>
          <a:prstGeom prst="rect">
            <a:avLst/>
          </a:prstGeom>
          <a:solidFill>
            <a:srgbClr val="111827"/>
          </a:solidFill>
          <a:ln w="3810">
            <a:solidFill>
              <a:srgbClr val="E2E8F0"/>
            </a:solidFill>
            <a:prstDash val="solid"/>
          </a:ln>
        </p:spPr>
      </p:sp>
      <p:sp>
        <p:nvSpPr>
          <p:cNvPr id="23" name="Text 21"/>
          <p:cNvSpPr/>
          <p:nvPr/>
        </p:nvSpPr>
        <p:spPr>
          <a:xfrm>
            <a:off x="6620256" y="3200400"/>
            <a:ext cx="2103120" cy="256032"/>
          </a:xfrm>
          <a:prstGeom prst="rect">
            <a:avLst/>
          </a:prstGeom>
          <a:noFill/>
          <a:ln/>
        </p:spPr>
        <p:txBody>
          <a:bodyPr wrap="square" lIns="0" tIns="0" rIns="0" bIns="0" rtlCol="0" anchor="ctr"/>
          <a:lstStyle/>
          <a:p>
            <a:pPr indent="0" marL="0">
              <a:buNone/>
            </a:pPr>
            <a:r>
              <a:rPr lang="en-US" sz="1000" b="1" dirty="0">
                <a:solidFill>
                  <a:srgbClr val="16A34A"/>
                </a:solidFill>
                <a:latin typeface="Courier New" pitchFamily="34" charset="0"/>
                <a:ea typeface="Courier New" pitchFamily="34" charset="-122"/>
                <a:cs typeface="Courier New" pitchFamily="34" charset="-120"/>
              </a:rPr>
              <a:t>.get(k, default)</a:t>
            </a:r>
            <a:endParaRPr lang="en-US" sz="1000" dirty="0"/>
          </a:p>
        </p:txBody>
      </p:sp>
      <p:sp>
        <p:nvSpPr>
          <p:cNvPr id="24" name="Text 22"/>
          <p:cNvSpPr/>
          <p:nvPr/>
        </p:nvSpPr>
        <p:spPr>
          <a:xfrm>
            <a:off x="8759952" y="3200400"/>
            <a:ext cx="3127248"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Safe access — never KeyError</a:t>
            </a:r>
            <a:endParaRPr lang="en-US" sz="1000" dirty="0"/>
          </a:p>
        </p:txBody>
      </p:sp>
      <p:sp>
        <p:nvSpPr>
          <p:cNvPr id="25" name="Shape 23"/>
          <p:cNvSpPr/>
          <p:nvPr/>
        </p:nvSpPr>
        <p:spPr>
          <a:xfrm>
            <a:off x="6537960" y="3621024"/>
            <a:ext cx="5394960" cy="512064"/>
          </a:xfrm>
          <a:prstGeom prst="rect">
            <a:avLst/>
          </a:prstGeom>
          <a:solidFill>
            <a:srgbClr val="1A2540"/>
          </a:solidFill>
          <a:ln w="3810">
            <a:solidFill>
              <a:srgbClr val="E2E8F0"/>
            </a:solidFill>
            <a:prstDash val="solid"/>
          </a:ln>
        </p:spPr>
      </p:sp>
      <p:sp>
        <p:nvSpPr>
          <p:cNvPr id="26" name="Text 24"/>
          <p:cNvSpPr/>
          <p:nvPr/>
        </p:nvSpPr>
        <p:spPr>
          <a:xfrm>
            <a:off x="6620256" y="3749040"/>
            <a:ext cx="2103120" cy="256032"/>
          </a:xfrm>
          <a:prstGeom prst="rect">
            <a:avLst/>
          </a:prstGeom>
          <a:noFill/>
          <a:ln/>
        </p:spPr>
        <p:txBody>
          <a:bodyPr wrap="square" lIns="0" tIns="0" rIns="0" bIns="0" rtlCol="0" anchor="ctr"/>
          <a:lstStyle/>
          <a:p>
            <a:pPr indent="0" marL="0">
              <a:buNone/>
            </a:pPr>
            <a:r>
              <a:rPr lang="en-US" sz="1000" b="1" dirty="0">
                <a:solidFill>
                  <a:srgbClr val="16A34A"/>
                </a:solidFill>
                <a:latin typeface="Courier New" pitchFamily="34" charset="0"/>
                <a:ea typeface="Courier New" pitchFamily="34" charset="-122"/>
                <a:cs typeface="Courier New" pitchFamily="34" charset="-120"/>
              </a:rPr>
              <a:t>.update(other)</a:t>
            </a:r>
            <a:endParaRPr lang="en-US" sz="1000" dirty="0"/>
          </a:p>
        </p:txBody>
      </p:sp>
      <p:sp>
        <p:nvSpPr>
          <p:cNvPr id="27" name="Text 25"/>
          <p:cNvSpPr/>
          <p:nvPr/>
        </p:nvSpPr>
        <p:spPr>
          <a:xfrm>
            <a:off x="8759952" y="3749040"/>
            <a:ext cx="3127248"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Merge another dict</a:t>
            </a:r>
            <a:endParaRPr lang="en-US" sz="1000" dirty="0"/>
          </a:p>
        </p:txBody>
      </p:sp>
      <p:sp>
        <p:nvSpPr>
          <p:cNvPr id="28" name="Shape 26"/>
          <p:cNvSpPr/>
          <p:nvPr/>
        </p:nvSpPr>
        <p:spPr>
          <a:xfrm>
            <a:off x="6537960" y="4169664"/>
            <a:ext cx="5394960" cy="512064"/>
          </a:xfrm>
          <a:prstGeom prst="rect">
            <a:avLst/>
          </a:prstGeom>
          <a:solidFill>
            <a:srgbClr val="111827"/>
          </a:solidFill>
          <a:ln w="3810">
            <a:solidFill>
              <a:srgbClr val="E2E8F0"/>
            </a:solidFill>
            <a:prstDash val="solid"/>
          </a:ln>
        </p:spPr>
      </p:sp>
      <p:sp>
        <p:nvSpPr>
          <p:cNvPr id="29" name="Text 27"/>
          <p:cNvSpPr/>
          <p:nvPr/>
        </p:nvSpPr>
        <p:spPr>
          <a:xfrm>
            <a:off x="6620256" y="4297680"/>
            <a:ext cx="2103120" cy="256032"/>
          </a:xfrm>
          <a:prstGeom prst="rect">
            <a:avLst/>
          </a:prstGeom>
          <a:noFill/>
          <a:ln/>
        </p:spPr>
        <p:txBody>
          <a:bodyPr wrap="square" lIns="0" tIns="0" rIns="0" bIns="0" rtlCol="0" anchor="ctr"/>
          <a:lstStyle/>
          <a:p>
            <a:pPr indent="0" marL="0">
              <a:buNone/>
            </a:pPr>
            <a:r>
              <a:rPr lang="en-US" sz="1000" b="1" dirty="0">
                <a:solidFill>
                  <a:srgbClr val="16A34A"/>
                </a:solidFill>
                <a:latin typeface="Courier New" pitchFamily="34" charset="0"/>
                <a:ea typeface="Courier New" pitchFamily="34" charset="-122"/>
                <a:cs typeface="Courier New" pitchFamily="34" charset="-120"/>
              </a:rPr>
              <a:t>.pop(k)</a:t>
            </a:r>
            <a:endParaRPr lang="en-US" sz="1000" dirty="0"/>
          </a:p>
        </p:txBody>
      </p:sp>
      <p:sp>
        <p:nvSpPr>
          <p:cNvPr id="30" name="Text 28"/>
          <p:cNvSpPr/>
          <p:nvPr/>
        </p:nvSpPr>
        <p:spPr>
          <a:xfrm>
            <a:off x="8759952" y="4297680"/>
            <a:ext cx="3127248"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Remove and return value</a:t>
            </a:r>
            <a:endParaRPr lang="en-US" sz="1000" dirty="0"/>
          </a:p>
        </p:txBody>
      </p:sp>
      <p:sp>
        <p:nvSpPr>
          <p:cNvPr id="31" name="Shape 29"/>
          <p:cNvSpPr/>
          <p:nvPr/>
        </p:nvSpPr>
        <p:spPr>
          <a:xfrm>
            <a:off x="6537960" y="4718304"/>
            <a:ext cx="5394960" cy="512064"/>
          </a:xfrm>
          <a:prstGeom prst="rect">
            <a:avLst/>
          </a:prstGeom>
          <a:solidFill>
            <a:srgbClr val="1A2540"/>
          </a:solidFill>
          <a:ln w="3810">
            <a:solidFill>
              <a:srgbClr val="E2E8F0"/>
            </a:solidFill>
            <a:prstDash val="solid"/>
          </a:ln>
        </p:spPr>
      </p:sp>
      <p:sp>
        <p:nvSpPr>
          <p:cNvPr id="32" name="Text 30"/>
          <p:cNvSpPr/>
          <p:nvPr/>
        </p:nvSpPr>
        <p:spPr>
          <a:xfrm>
            <a:off x="6620256" y="4846320"/>
            <a:ext cx="2103120" cy="256032"/>
          </a:xfrm>
          <a:prstGeom prst="rect">
            <a:avLst/>
          </a:prstGeom>
          <a:noFill/>
          <a:ln/>
        </p:spPr>
        <p:txBody>
          <a:bodyPr wrap="square" lIns="0" tIns="0" rIns="0" bIns="0" rtlCol="0" anchor="ctr"/>
          <a:lstStyle/>
          <a:p>
            <a:pPr indent="0" marL="0">
              <a:buNone/>
            </a:pPr>
            <a:r>
              <a:rPr lang="en-US" sz="1000" b="1" dirty="0">
                <a:solidFill>
                  <a:srgbClr val="16A34A"/>
                </a:solidFill>
                <a:latin typeface="Courier New" pitchFamily="34" charset="0"/>
                <a:ea typeface="Courier New" pitchFamily="34" charset="-122"/>
                <a:cs typeface="Courier New" pitchFamily="34" charset="-120"/>
              </a:rPr>
              <a:t>.setdefault(k,v)</a:t>
            </a:r>
            <a:endParaRPr lang="en-US" sz="1000" dirty="0"/>
          </a:p>
        </p:txBody>
      </p:sp>
      <p:sp>
        <p:nvSpPr>
          <p:cNvPr id="33" name="Text 31"/>
          <p:cNvSpPr/>
          <p:nvPr/>
        </p:nvSpPr>
        <p:spPr>
          <a:xfrm>
            <a:off x="8759952" y="4846320"/>
            <a:ext cx="3127248"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Set only if key absent</a:t>
            </a:r>
            <a:endParaRPr lang="en-US" sz="1000" dirty="0"/>
          </a:p>
        </p:txBody>
      </p:sp>
      <p:sp>
        <p:nvSpPr>
          <p:cNvPr id="34" name="Shape 32"/>
          <p:cNvSpPr/>
          <p:nvPr/>
        </p:nvSpPr>
        <p:spPr>
          <a:xfrm>
            <a:off x="6537960" y="5266944"/>
            <a:ext cx="5394960" cy="512064"/>
          </a:xfrm>
          <a:prstGeom prst="rect">
            <a:avLst/>
          </a:prstGeom>
          <a:solidFill>
            <a:srgbClr val="111827"/>
          </a:solidFill>
          <a:ln w="3810">
            <a:solidFill>
              <a:srgbClr val="E2E8F0"/>
            </a:solidFill>
            <a:prstDash val="solid"/>
          </a:ln>
        </p:spPr>
      </p:sp>
      <p:sp>
        <p:nvSpPr>
          <p:cNvPr id="35" name="Text 33"/>
          <p:cNvSpPr/>
          <p:nvPr/>
        </p:nvSpPr>
        <p:spPr>
          <a:xfrm>
            <a:off x="6620256" y="5394960"/>
            <a:ext cx="2103120" cy="256032"/>
          </a:xfrm>
          <a:prstGeom prst="rect">
            <a:avLst/>
          </a:prstGeom>
          <a:noFill/>
          <a:ln/>
        </p:spPr>
        <p:txBody>
          <a:bodyPr wrap="square" lIns="0" tIns="0" rIns="0" bIns="0" rtlCol="0" anchor="ctr"/>
          <a:lstStyle/>
          <a:p>
            <a:pPr indent="0" marL="0">
              <a:buNone/>
            </a:pPr>
            <a:r>
              <a:rPr lang="en-US" sz="1000" b="1" dirty="0">
                <a:solidFill>
                  <a:srgbClr val="16A34A"/>
                </a:solidFill>
                <a:latin typeface="Courier New" pitchFamily="34" charset="0"/>
                <a:ea typeface="Courier New" pitchFamily="34" charset="-122"/>
                <a:cs typeface="Courier New" pitchFamily="34" charset="-120"/>
              </a:rPr>
              <a:t>k in d</a:t>
            </a:r>
            <a:endParaRPr lang="en-US" sz="1000" dirty="0"/>
          </a:p>
        </p:txBody>
      </p:sp>
      <p:sp>
        <p:nvSpPr>
          <p:cNvPr id="36" name="Text 34"/>
          <p:cNvSpPr/>
          <p:nvPr/>
        </p:nvSpPr>
        <p:spPr>
          <a:xfrm>
            <a:off x="8759952" y="5394960"/>
            <a:ext cx="3127248"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Check if key exists</a:t>
            </a:r>
            <a:endParaRPr lang="en-US" sz="1000" dirty="0"/>
          </a:p>
        </p:txBody>
      </p:sp>
      <p:sp>
        <p:nvSpPr>
          <p:cNvPr id="37" name="Shape 35"/>
          <p:cNvSpPr/>
          <p:nvPr/>
        </p:nvSpPr>
        <p:spPr>
          <a:xfrm>
            <a:off x="6537960" y="5815584"/>
            <a:ext cx="5394960" cy="512064"/>
          </a:xfrm>
          <a:prstGeom prst="rect">
            <a:avLst/>
          </a:prstGeom>
          <a:solidFill>
            <a:srgbClr val="1A2540"/>
          </a:solidFill>
          <a:ln w="3810">
            <a:solidFill>
              <a:srgbClr val="E2E8F0"/>
            </a:solidFill>
            <a:prstDash val="solid"/>
          </a:ln>
        </p:spPr>
      </p:sp>
      <p:sp>
        <p:nvSpPr>
          <p:cNvPr id="38" name="Text 36"/>
          <p:cNvSpPr/>
          <p:nvPr/>
        </p:nvSpPr>
        <p:spPr>
          <a:xfrm>
            <a:off x="6620256" y="5943600"/>
            <a:ext cx="2103120" cy="256032"/>
          </a:xfrm>
          <a:prstGeom prst="rect">
            <a:avLst/>
          </a:prstGeom>
          <a:noFill/>
          <a:ln/>
        </p:spPr>
        <p:txBody>
          <a:bodyPr wrap="square" lIns="0" tIns="0" rIns="0" bIns="0" rtlCol="0" anchor="ctr"/>
          <a:lstStyle/>
          <a:p>
            <a:pPr indent="0" marL="0">
              <a:buNone/>
            </a:pPr>
            <a:r>
              <a:rPr lang="en-US" sz="1000" b="1" dirty="0">
                <a:solidFill>
                  <a:srgbClr val="16A34A"/>
                </a:solidFill>
                <a:latin typeface="Courier New" pitchFamily="34" charset="0"/>
                <a:ea typeface="Courier New" pitchFamily="34" charset="-122"/>
                <a:cs typeface="Courier New" pitchFamily="34" charset="-120"/>
              </a:rPr>
              <a:t>len(d)</a:t>
            </a:r>
            <a:endParaRPr lang="en-US" sz="1000" dirty="0"/>
          </a:p>
        </p:txBody>
      </p:sp>
      <p:sp>
        <p:nvSpPr>
          <p:cNvPr id="39" name="Text 37"/>
          <p:cNvSpPr/>
          <p:nvPr/>
        </p:nvSpPr>
        <p:spPr>
          <a:xfrm>
            <a:off x="8759952" y="5943600"/>
            <a:ext cx="3127248"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Number of key-value pairs</a:t>
            </a:r>
            <a:endParaRPr lang="en-US" sz="1000" dirty="0"/>
          </a:p>
        </p:txBody>
      </p:sp>
      <p:sp>
        <p:nvSpPr>
          <p:cNvPr id="40" name="Shape 38"/>
          <p:cNvSpPr/>
          <p:nvPr/>
        </p:nvSpPr>
        <p:spPr>
          <a:xfrm>
            <a:off x="6537960" y="6364224"/>
            <a:ext cx="5394960" cy="512064"/>
          </a:xfrm>
          <a:prstGeom prst="rect">
            <a:avLst/>
          </a:prstGeom>
          <a:solidFill>
            <a:srgbClr val="111827"/>
          </a:solidFill>
          <a:ln w="3810">
            <a:solidFill>
              <a:srgbClr val="E2E8F0"/>
            </a:solidFill>
            <a:prstDash val="solid"/>
          </a:ln>
        </p:spPr>
      </p:sp>
      <p:sp>
        <p:nvSpPr>
          <p:cNvPr id="41" name="Text 39"/>
          <p:cNvSpPr/>
          <p:nvPr/>
        </p:nvSpPr>
        <p:spPr>
          <a:xfrm>
            <a:off x="6620256" y="6492240"/>
            <a:ext cx="2103120" cy="256032"/>
          </a:xfrm>
          <a:prstGeom prst="rect">
            <a:avLst/>
          </a:prstGeom>
          <a:noFill/>
          <a:ln/>
        </p:spPr>
        <p:txBody>
          <a:bodyPr wrap="square" lIns="0" tIns="0" rIns="0" bIns="0" rtlCol="0" anchor="ctr"/>
          <a:lstStyle/>
          <a:p>
            <a:pPr indent="0" marL="0">
              <a:buNone/>
            </a:pPr>
            <a:r>
              <a:rPr lang="en-US" sz="1000" b="1" dirty="0">
                <a:solidFill>
                  <a:srgbClr val="16A34A"/>
                </a:solidFill>
                <a:latin typeface="Courier New" pitchFamily="34" charset="0"/>
                <a:ea typeface="Courier New" pitchFamily="34" charset="-122"/>
                <a:cs typeface="Courier New" pitchFamily="34" charset="-120"/>
              </a:rPr>
              <a:t>dict(zip(k,v))</a:t>
            </a:r>
            <a:endParaRPr lang="en-US" sz="1000" dirty="0"/>
          </a:p>
        </p:txBody>
      </p:sp>
      <p:sp>
        <p:nvSpPr>
          <p:cNvPr id="42" name="Text 40"/>
          <p:cNvSpPr/>
          <p:nvPr/>
        </p:nvSpPr>
        <p:spPr>
          <a:xfrm>
            <a:off x="8759952" y="6492240"/>
            <a:ext cx="3127248"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Build dict from two lists</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E3C"/>
          </a:solidFill>
          <a:ln w="12700">
            <a:solidFill>
              <a:srgbClr val="0F1E3C"/>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set — UNIQUE ITEMS AND SET OPERATIONS</a:t>
            </a:r>
            <a:endParaRPr lang="en-US" sz="2600" dirty="0"/>
          </a:p>
        </p:txBody>
      </p:sp>
      <p:sp>
        <p:nvSpPr>
          <p:cNvPr id="4" name="Shape 2"/>
          <p:cNvSpPr/>
          <p:nvPr/>
        </p:nvSpPr>
        <p:spPr>
          <a:xfrm>
            <a:off x="411480" y="1024128"/>
            <a:ext cx="5943600" cy="5120640"/>
          </a:xfrm>
          <a:prstGeom prst="roundRect">
            <a:avLst>
              <a:gd name="adj" fmla="val 1786"/>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1024128"/>
            <a:ext cx="5943600" cy="347472"/>
          </a:xfrm>
          <a:prstGeom prst="roundRect">
            <a:avLst>
              <a:gd name="adj" fmla="val 26316"/>
            </a:avLst>
          </a:prstGeom>
          <a:solidFill>
            <a:srgbClr val="1A2540"/>
          </a:solidFill>
          <a:ln w="12700">
            <a:solidFill>
              <a:srgbClr val="1A2540"/>
            </a:solidFill>
            <a:prstDash val="solid"/>
          </a:ln>
        </p:spPr>
      </p:sp>
      <p:sp>
        <p:nvSpPr>
          <p:cNvPr id="6" name="Shape 4"/>
          <p:cNvSpPr/>
          <p:nvPr/>
        </p:nvSpPr>
        <p:spPr>
          <a:xfrm>
            <a:off x="411480" y="1225296"/>
            <a:ext cx="5943600" cy="146304"/>
          </a:xfrm>
          <a:prstGeom prst="rect">
            <a:avLst/>
          </a:prstGeom>
          <a:solidFill>
            <a:srgbClr val="1A2540"/>
          </a:solidFill>
          <a:ln w="12700">
            <a:solidFill>
              <a:srgbClr val="1A2540"/>
            </a:solidFill>
            <a:prstDash val="solid"/>
          </a:ln>
        </p:spPr>
      </p:sp>
      <p:sp>
        <p:nvSpPr>
          <p:cNvPr id="7" name="Shape 5"/>
          <p:cNvSpPr/>
          <p:nvPr/>
        </p:nvSpPr>
        <p:spPr>
          <a:xfrm>
            <a:off x="539496" y="1115568"/>
            <a:ext cx="164592" cy="164592"/>
          </a:xfrm>
          <a:prstGeom prst="ellipse">
            <a:avLst/>
          </a:prstGeom>
          <a:solidFill>
            <a:srgbClr val="E11D48"/>
          </a:solidFill>
          <a:ln w="12700">
            <a:solidFill>
              <a:srgbClr val="E11D48"/>
            </a:solidFill>
            <a:prstDash val="solid"/>
          </a:ln>
        </p:spPr>
      </p:sp>
      <p:sp>
        <p:nvSpPr>
          <p:cNvPr id="8" name="Shape 6"/>
          <p:cNvSpPr/>
          <p:nvPr/>
        </p:nvSpPr>
        <p:spPr>
          <a:xfrm>
            <a:off x="740664" y="1115568"/>
            <a:ext cx="164592" cy="164592"/>
          </a:xfrm>
          <a:prstGeom prst="ellipse">
            <a:avLst/>
          </a:prstGeom>
          <a:solidFill>
            <a:srgbClr val="D97706"/>
          </a:solidFill>
          <a:ln w="12700">
            <a:solidFill>
              <a:srgbClr val="D97706"/>
            </a:solidFill>
            <a:prstDash val="solid"/>
          </a:ln>
        </p:spPr>
      </p:sp>
      <p:sp>
        <p:nvSpPr>
          <p:cNvPr id="9" name="Shape 7"/>
          <p:cNvSpPr/>
          <p:nvPr/>
        </p:nvSpPr>
        <p:spPr>
          <a:xfrm>
            <a:off x="941832" y="1115568"/>
            <a:ext cx="164592" cy="164592"/>
          </a:xfrm>
          <a:prstGeom prst="ellipse">
            <a:avLst/>
          </a:prstGeom>
          <a:solidFill>
            <a:srgbClr val="16A34A"/>
          </a:solidFill>
          <a:ln w="12700">
            <a:solidFill>
              <a:srgbClr val="16A34A"/>
            </a:solidFill>
            <a:prstDash val="solid"/>
          </a:ln>
        </p:spPr>
      </p:sp>
      <p:sp>
        <p:nvSpPr>
          <p:cNvPr id="10" name="Text 8"/>
          <p:cNvSpPr/>
          <p:nvPr/>
        </p:nvSpPr>
        <p:spPr>
          <a:xfrm>
            <a:off x="1143000" y="1097280"/>
            <a:ext cx="50292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sets.py</a:t>
            </a:r>
            <a:endParaRPr lang="en-US" sz="900" dirty="0"/>
          </a:p>
        </p:txBody>
      </p:sp>
      <p:sp>
        <p:nvSpPr>
          <p:cNvPr id="11" name="Text 9"/>
          <p:cNvSpPr/>
          <p:nvPr/>
        </p:nvSpPr>
        <p:spPr>
          <a:xfrm>
            <a:off x="557784" y="1426464"/>
            <a:ext cx="5669280" cy="4608576"/>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Creating sets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active_regions = {'Lagos','Abuja','Kano','Ibadan'}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visited        = {'Lagos','Kano','Port Harcourt'}</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Duplicates are removed automatically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items = [1, 2, 2, 3, 3, 3, 4]</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unique_items = set(items)   # {1, 2, 3, 4}</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Set operations — very powerful</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Regions in BOTH lists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in_both = active_regions and visited</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both = active_regions &amp; visited  # {'Lagos','Kano'}</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Active but NOT yet visited</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not_visited = active_regions - visited</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 {'Abuja','Ibadan'}</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Either or both (union)</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all_regions = active_regions | visited</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Fast membership check</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'Lagos' in active_regions   # O(1) — instant</a:t>
            </a:r>
            <a:endParaRPr lang="en-US" sz="1050" dirty="0"/>
          </a:p>
        </p:txBody>
      </p:sp>
      <p:pic>
        <p:nvPicPr>
          <p:cNvPr id="12" name="Image 0" descr="preencoded.png">    </p:cNvPr>
          <p:cNvPicPr>
            <a:picLocks noChangeAspect="1"/>
          </p:cNvPicPr>
          <p:nvPr/>
        </p:nvPicPr>
        <p:blipFill>
          <a:blip r:embed="rId1"/>
          <a:srcRect l="0" r="0" t="0" b="0"/>
          <a:stretch/>
        </p:blipFill>
        <p:spPr>
          <a:xfrm>
            <a:off x="6537960" y="1024128"/>
            <a:ext cx="5394960" cy="4114800"/>
          </a:xfrm>
          <a:prstGeom prst="rect">
            <a:avLst/>
          </a:prstGeom>
        </p:spPr>
      </p:pic>
      <p:sp>
        <p:nvSpPr>
          <p:cNvPr id="13" name="Shape 10"/>
          <p:cNvSpPr/>
          <p:nvPr/>
        </p:nvSpPr>
        <p:spPr>
          <a:xfrm>
            <a:off x="6537960" y="5285232"/>
            <a:ext cx="5394960" cy="1335024"/>
          </a:xfrm>
          <a:prstGeom prst="roundRect">
            <a:avLst>
              <a:gd name="adj" fmla="val 6849"/>
            </a:avLst>
          </a:prstGeom>
          <a:solidFill>
            <a:srgbClr val="FFFFFF"/>
          </a:solidFill>
          <a:ln w="13970">
            <a:solidFill>
              <a:srgbClr val="7C3AED"/>
            </a:solidFill>
            <a:prstDash val="solid"/>
          </a:ln>
          <a:effectLst>
            <a:outerShdw sx="100000" sy="100000" kx="0" ky="0" algn="bl" rotWithShape="0" blurRad="63500" dist="25400" dir="2700000">
              <a:srgbClr val="000000">
                <a:alpha val="12000"/>
              </a:srgbClr>
            </a:outerShdw>
          </a:effectLst>
        </p:spPr>
      </p:sp>
      <p:sp>
        <p:nvSpPr>
          <p:cNvPr id="14" name="Text 11"/>
          <p:cNvSpPr/>
          <p:nvPr/>
        </p:nvSpPr>
        <p:spPr>
          <a:xfrm>
            <a:off x="6684264" y="5394960"/>
            <a:ext cx="5102352" cy="274320"/>
          </a:xfrm>
          <a:prstGeom prst="rect">
            <a:avLst/>
          </a:prstGeom>
          <a:noFill/>
          <a:ln/>
        </p:spPr>
        <p:txBody>
          <a:bodyPr wrap="square" lIns="0" tIns="0" rIns="0" bIns="0" rtlCol="0" anchor="ctr"/>
          <a:lstStyle/>
          <a:p>
            <a:pPr indent="0" marL="0">
              <a:buNone/>
            </a:pPr>
            <a:r>
              <a:rPr lang="en-US" sz="1100" b="1" dirty="0">
                <a:solidFill>
                  <a:srgbClr val="7C3AED"/>
                </a:solidFill>
                <a:latin typeface="Cambria" pitchFamily="34" charset="0"/>
                <a:ea typeface="Cambria" pitchFamily="34" charset="-122"/>
                <a:cs typeface="Cambria" pitchFamily="34" charset="-120"/>
              </a:rPr>
              <a:t>When to use sets in data work</a:t>
            </a:r>
            <a:endParaRPr lang="en-US" sz="1100" dirty="0"/>
          </a:p>
        </p:txBody>
      </p:sp>
      <p:sp>
        <p:nvSpPr>
          <p:cNvPr id="15" name="Text 12"/>
          <p:cNvSpPr/>
          <p:nvPr/>
        </p:nvSpPr>
        <p:spPr>
          <a:xfrm>
            <a:off x="6684264" y="5705856"/>
            <a:ext cx="5102352" cy="76809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Remove duplicates from a list: list(set(my_list))</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Find common customers in two datasets: set_a &amp; set_b</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Find customers who lapsed: previous - current</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Fast membership check (O(1) vs O(n) for lists)</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E3C"/>
          </a:solidFill>
          <a:ln w="12700">
            <a:solidFill>
              <a:srgbClr val="0F1E3C"/>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DATA STRUCTURES IN BUSINESS — REAL APPLICATIONS</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11338560" cy="557784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526"/>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E11D48"/>
          </a:solidFill>
          <a:ln w="12700">
            <a:solidFill>
              <a:srgbClr val="E11D48"/>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SECTION 04 CHALLENGE — DATA STRUCTURES</a:t>
            </a:r>
            <a:endParaRPr lang="en-US" sz="2600" dirty="0"/>
          </a:p>
        </p:txBody>
      </p:sp>
      <p:sp>
        <p:nvSpPr>
          <p:cNvPr id="4" name="Shape 2"/>
          <p:cNvSpPr/>
          <p:nvPr/>
        </p:nvSpPr>
        <p:spPr>
          <a:xfrm>
            <a:off x="411480" y="1097280"/>
            <a:ext cx="5577840" cy="3383280"/>
          </a:xfrm>
          <a:prstGeom prst="roundRect">
            <a:avLst>
              <a:gd name="adj" fmla="val 2703"/>
            </a:avLst>
          </a:prstGeom>
          <a:solidFill>
            <a:srgbClr val="1A2540"/>
          </a:solidFill>
          <a:ln w="17780">
            <a:solidFill>
              <a:srgbClr val="2563EB"/>
            </a:solidFill>
            <a:prstDash val="solid"/>
          </a:ln>
          <a:effectLst>
            <a:outerShdw sx="100000" sy="100000" kx="0" ky="0" algn="bl" rotWithShape="0" blurRad="63500" dist="25400" dir="2700000">
              <a:srgbClr val="000000">
                <a:alpha val="12000"/>
              </a:srgbClr>
            </a:outerShdw>
          </a:effectLst>
        </p:spPr>
      </p:sp>
      <p:sp>
        <p:nvSpPr>
          <p:cNvPr id="5" name="Shape 3"/>
          <p:cNvSpPr/>
          <p:nvPr/>
        </p:nvSpPr>
        <p:spPr>
          <a:xfrm>
            <a:off x="411480" y="1097280"/>
            <a:ext cx="5577840" cy="457200"/>
          </a:xfrm>
          <a:prstGeom prst="roundRect">
            <a:avLst>
              <a:gd name="adj" fmla="val 20000"/>
            </a:avLst>
          </a:prstGeom>
          <a:solidFill>
            <a:srgbClr val="2563EB"/>
          </a:solidFill>
          <a:ln w="12700">
            <a:solidFill>
              <a:srgbClr val="2563EB"/>
            </a:solidFill>
            <a:prstDash val="solid"/>
          </a:ln>
        </p:spPr>
      </p:sp>
      <p:sp>
        <p:nvSpPr>
          <p:cNvPr id="6" name="Shape 4"/>
          <p:cNvSpPr/>
          <p:nvPr/>
        </p:nvSpPr>
        <p:spPr>
          <a:xfrm>
            <a:off x="411480" y="1389888"/>
            <a:ext cx="5577840" cy="164592"/>
          </a:xfrm>
          <a:prstGeom prst="rect">
            <a:avLst/>
          </a:prstGeom>
          <a:solidFill>
            <a:srgbClr val="2563EB"/>
          </a:solidFill>
          <a:ln w="12700">
            <a:solidFill>
              <a:srgbClr val="2563EB"/>
            </a:solidFill>
            <a:prstDash val="solid"/>
          </a:ln>
        </p:spPr>
      </p:sp>
      <p:sp>
        <p:nvSpPr>
          <p:cNvPr id="7" name="Text 5"/>
          <p:cNvSpPr/>
          <p:nvPr/>
        </p:nvSpPr>
        <p:spPr>
          <a:xfrm>
            <a:off x="521208" y="1170432"/>
            <a:ext cx="5358384" cy="292608"/>
          </a:xfrm>
          <a:prstGeom prst="rect">
            <a:avLst/>
          </a:prstGeom>
          <a:noFill/>
          <a:ln/>
        </p:spPr>
        <p:txBody>
          <a:bodyPr wrap="square" lIns="0" tIns="0" rIns="0" bIns="0" rtlCol="0" anchor="ctr"/>
          <a:lstStyle/>
          <a:p>
            <a:pPr indent="0" marL="0">
              <a:buNone/>
            </a:pPr>
            <a:r>
              <a:rPr lang="en-US" sz="1100" b="1" dirty="0">
                <a:solidFill>
                  <a:srgbClr val="080D18"/>
                </a:solidFill>
                <a:latin typeface="Calibri" pitchFamily="34" charset="0"/>
                <a:ea typeface="Calibri" pitchFamily="34" charset="-122"/>
                <a:cs typeface="Calibri" pitchFamily="34" charset="-120"/>
              </a:rPr>
              <a:t>⚡  CHALLENGE</a:t>
            </a:r>
            <a:endParaRPr lang="en-US" sz="1100" dirty="0"/>
          </a:p>
        </p:txBody>
      </p:sp>
      <p:sp>
        <p:nvSpPr>
          <p:cNvPr id="8" name="Text 6"/>
          <p:cNvSpPr/>
          <p:nvPr/>
        </p:nvSpPr>
        <p:spPr>
          <a:xfrm>
            <a:off x="539496" y="1645920"/>
            <a:ext cx="5321808" cy="1389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Q1. Given:</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scores = [45,78,32,91,65,50,88]</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Use a list comprehension to return ONLY the scores above 60, each increased by 5% bonus.</a:t>
            </a:r>
            <a:endParaRPr lang="en-US" sz="1100" dirty="0"/>
          </a:p>
        </p:txBody>
      </p:sp>
      <p:sp>
        <p:nvSpPr>
          <p:cNvPr id="9" name="Shape 7"/>
          <p:cNvSpPr/>
          <p:nvPr/>
        </p:nvSpPr>
        <p:spPr>
          <a:xfrm>
            <a:off x="539496" y="3145536"/>
            <a:ext cx="5321808" cy="18288"/>
          </a:xfrm>
          <a:prstGeom prst="rect">
            <a:avLst/>
          </a:prstGeom>
          <a:solidFill>
            <a:srgbClr val="64748B"/>
          </a:solidFill>
          <a:ln w="12700">
            <a:solidFill>
              <a:srgbClr val="64748B"/>
            </a:solidFill>
            <a:prstDash val="solid"/>
          </a:ln>
        </p:spPr>
      </p:sp>
      <p:sp>
        <p:nvSpPr>
          <p:cNvPr id="10" name="Text 8"/>
          <p:cNvSpPr/>
          <p:nvPr/>
        </p:nvSpPr>
        <p:spPr>
          <a:xfrm>
            <a:off x="539496" y="3236976"/>
            <a:ext cx="5321808" cy="256032"/>
          </a:xfrm>
          <a:prstGeom prst="rect">
            <a:avLst/>
          </a:prstGeom>
          <a:noFill/>
          <a:ln/>
        </p:spPr>
        <p:txBody>
          <a:bodyPr wrap="square" lIns="0" tIns="0" rIns="0" bIns="0" rtlCol="0" anchor="ctr"/>
          <a:lstStyle/>
          <a:p>
            <a:pPr indent="0" marL="0">
              <a:buNone/>
            </a:pPr>
            <a:r>
              <a:rPr lang="en-US" sz="1000" b="1" dirty="0">
                <a:solidFill>
                  <a:srgbClr val="2563EB"/>
                </a:solidFill>
                <a:latin typeface="Cambria" pitchFamily="34" charset="0"/>
                <a:ea typeface="Cambria" pitchFamily="34" charset="-122"/>
                <a:cs typeface="Cambria" pitchFamily="34" charset="-120"/>
              </a:rPr>
              <a:t>Answer:</a:t>
            </a:r>
            <a:endParaRPr lang="en-US" sz="1000" dirty="0"/>
          </a:p>
        </p:txBody>
      </p:sp>
      <p:sp>
        <p:nvSpPr>
          <p:cNvPr id="11" name="Text 9"/>
          <p:cNvSpPr/>
          <p:nvPr/>
        </p:nvSpPr>
        <p:spPr>
          <a:xfrm>
            <a:off x="539496" y="3529584"/>
            <a:ext cx="5321808" cy="822960"/>
          </a:xfrm>
          <a:prstGeom prst="rect">
            <a:avLst/>
          </a:prstGeom>
          <a:noFill/>
          <a:ln/>
        </p:spPr>
        <p:txBody>
          <a:bodyPr wrap="square" lIns="0" tIns="0" rIns="0" bIns="0" rtlCol="0" anchor="ctr"/>
          <a:lstStyle/>
          <a:p>
            <a:pPr indent="0" marL="0">
              <a:buNone/>
            </a:pPr>
            <a:r>
              <a:rPr lang="en-US" sz="1000" dirty="0">
                <a:solidFill>
                  <a:srgbClr val="16A34A"/>
                </a:solidFill>
                <a:latin typeface="Courier New" pitchFamily="34" charset="0"/>
                <a:ea typeface="Courier New" pitchFamily="34" charset="-122"/>
                <a:cs typeface="Courier New" pitchFamily="34" charset="-120"/>
              </a:rPr>
              <a:t>[round(s*1.05,1) for s in scores if s &gt; 60]</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 [81.9, 95.55, 68.25, 92.4]</a:t>
            </a:r>
            <a:endParaRPr lang="en-US" sz="1000" dirty="0"/>
          </a:p>
        </p:txBody>
      </p:sp>
      <p:sp>
        <p:nvSpPr>
          <p:cNvPr id="12" name="Shape 10"/>
          <p:cNvSpPr/>
          <p:nvPr/>
        </p:nvSpPr>
        <p:spPr>
          <a:xfrm>
            <a:off x="6172200" y="1097280"/>
            <a:ext cx="5760720" cy="3383280"/>
          </a:xfrm>
          <a:prstGeom prst="roundRect">
            <a:avLst>
              <a:gd name="adj" fmla="val 2703"/>
            </a:avLst>
          </a:prstGeom>
          <a:solidFill>
            <a:srgbClr val="1A2540"/>
          </a:solidFill>
          <a:ln w="17780">
            <a:solidFill>
              <a:srgbClr val="16A34A"/>
            </a:solidFill>
            <a:prstDash val="solid"/>
          </a:ln>
          <a:effectLst>
            <a:outerShdw sx="100000" sy="100000" kx="0" ky="0" algn="bl" rotWithShape="0" blurRad="63500" dist="25400" dir="2700000">
              <a:srgbClr val="000000">
                <a:alpha val="12000"/>
              </a:srgbClr>
            </a:outerShdw>
          </a:effectLst>
        </p:spPr>
      </p:sp>
      <p:sp>
        <p:nvSpPr>
          <p:cNvPr id="13" name="Shape 11"/>
          <p:cNvSpPr/>
          <p:nvPr/>
        </p:nvSpPr>
        <p:spPr>
          <a:xfrm>
            <a:off x="6172200" y="1097280"/>
            <a:ext cx="5760720" cy="457200"/>
          </a:xfrm>
          <a:prstGeom prst="roundRect">
            <a:avLst>
              <a:gd name="adj" fmla="val 20000"/>
            </a:avLst>
          </a:prstGeom>
          <a:solidFill>
            <a:srgbClr val="16A34A"/>
          </a:solidFill>
          <a:ln w="12700">
            <a:solidFill>
              <a:srgbClr val="16A34A"/>
            </a:solidFill>
            <a:prstDash val="solid"/>
          </a:ln>
        </p:spPr>
      </p:sp>
      <p:sp>
        <p:nvSpPr>
          <p:cNvPr id="14" name="Shape 12"/>
          <p:cNvSpPr/>
          <p:nvPr/>
        </p:nvSpPr>
        <p:spPr>
          <a:xfrm>
            <a:off x="6172200" y="1389888"/>
            <a:ext cx="5760720" cy="164592"/>
          </a:xfrm>
          <a:prstGeom prst="rect">
            <a:avLst/>
          </a:prstGeom>
          <a:solidFill>
            <a:srgbClr val="16A34A"/>
          </a:solidFill>
          <a:ln w="12700">
            <a:solidFill>
              <a:srgbClr val="16A34A"/>
            </a:solidFill>
            <a:prstDash val="solid"/>
          </a:ln>
        </p:spPr>
      </p:sp>
      <p:sp>
        <p:nvSpPr>
          <p:cNvPr id="15" name="Text 13"/>
          <p:cNvSpPr/>
          <p:nvPr/>
        </p:nvSpPr>
        <p:spPr>
          <a:xfrm>
            <a:off x="6281928" y="1170432"/>
            <a:ext cx="5541264" cy="292608"/>
          </a:xfrm>
          <a:prstGeom prst="rect">
            <a:avLst/>
          </a:prstGeom>
          <a:noFill/>
          <a:ln/>
        </p:spPr>
        <p:txBody>
          <a:bodyPr wrap="square" lIns="0" tIns="0" rIns="0" bIns="0" rtlCol="0" anchor="ctr"/>
          <a:lstStyle/>
          <a:p>
            <a:pPr indent="0" marL="0">
              <a:buNone/>
            </a:pPr>
            <a:r>
              <a:rPr lang="en-US" sz="1100" b="1" dirty="0">
                <a:solidFill>
                  <a:srgbClr val="080D18"/>
                </a:solidFill>
                <a:latin typeface="Calibri" pitchFamily="34" charset="0"/>
                <a:ea typeface="Calibri" pitchFamily="34" charset="-122"/>
                <a:cs typeface="Calibri" pitchFamily="34" charset="-120"/>
              </a:rPr>
              <a:t>⚡  CHALLENGE</a:t>
            </a:r>
            <a:endParaRPr lang="en-US" sz="1100" dirty="0"/>
          </a:p>
        </p:txBody>
      </p:sp>
      <p:sp>
        <p:nvSpPr>
          <p:cNvPr id="16" name="Text 14"/>
          <p:cNvSpPr/>
          <p:nvPr/>
        </p:nvSpPr>
        <p:spPr>
          <a:xfrm>
            <a:off x="6300216" y="1645920"/>
            <a:ext cx="5504688" cy="1389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Q2. You have: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product_names = ['laptop','phone','tablet']</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prices = [450000, 120000, 85000]</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Build a dictionary mapping each name to its price.</a:t>
            </a:r>
            <a:endParaRPr lang="en-US" sz="1100" dirty="0"/>
          </a:p>
        </p:txBody>
      </p:sp>
      <p:sp>
        <p:nvSpPr>
          <p:cNvPr id="17" name="Shape 15"/>
          <p:cNvSpPr/>
          <p:nvPr/>
        </p:nvSpPr>
        <p:spPr>
          <a:xfrm>
            <a:off x="6300216" y="3145536"/>
            <a:ext cx="5504688" cy="18288"/>
          </a:xfrm>
          <a:prstGeom prst="rect">
            <a:avLst/>
          </a:prstGeom>
          <a:solidFill>
            <a:srgbClr val="64748B"/>
          </a:solidFill>
          <a:ln w="12700">
            <a:solidFill>
              <a:srgbClr val="64748B"/>
            </a:solidFill>
            <a:prstDash val="solid"/>
          </a:ln>
        </p:spPr>
      </p:sp>
      <p:sp>
        <p:nvSpPr>
          <p:cNvPr id="18" name="Text 16"/>
          <p:cNvSpPr/>
          <p:nvPr/>
        </p:nvSpPr>
        <p:spPr>
          <a:xfrm>
            <a:off x="6300216" y="3236976"/>
            <a:ext cx="5504688" cy="256032"/>
          </a:xfrm>
          <a:prstGeom prst="rect">
            <a:avLst/>
          </a:prstGeom>
          <a:noFill/>
          <a:ln/>
        </p:spPr>
        <p:txBody>
          <a:bodyPr wrap="square" lIns="0" tIns="0" rIns="0" bIns="0" rtlCol="0" anchor="ctr"/>
          <a:lstStyle/>
          <a:p>
            <a:pPr indent="0" marL="0">
              <a:buNone/>
            </a:pPr>
            <a:r>
              <a:rPr lang="en-US" sz="1000" b="1" dirty="0">
                <a:solidFill>
                  <a:srgbClr val="16A34A"/>
                </a:solidFill>
                <a:latin typeface="Cambria" pitchFamily="34" charset="0"/>
                <a:ea typeface="Cambria" pitchFamily="34" charset="-122"/>
                <a:cs typeface="Cambria" pitchFamily="34" charset="-120"/>
              </a:rPr>
              <a:t>Answer:</a:t>
            </a:r>
            <a:endParaRPr lang="en-US" sz="1000" dirty="0"/>
          </a:p>
        </p:txBody>
      </p:sp>
      <p:sp>
        <p:nvSpPr>
          <p:cNvPr id="19" name="Text 17"/>
          <p:cNvSpPr/>
          <p:nvPr/>
        </p:nvSpPr>
        <p:spPr>
          <a:xfrm>
            <a:off x="6300216" y="3529584"/>
            <a:ext cx="5504688" cy="822960"/>
          </a:xfrm>
          <a:prstGeom prst="rect">
            <a:avLst/>
          </a:prstGeom>
          <a:noFill/>
          <a:ln/>
        </p:spPr>
        <p:txBody>
          <a:bodyPr wrap="square" lIns="0" tIns="0" rIns="0" bIns="0" rtlCol="0" anchor="ctr"/>
          <a:lstStyle/>
          <a:p>
            <a:pPr indent="0" marL="0">
              <a:buNone/>
            </a:pPr>
            <a:r>
              <a:rPr lang="en-US" sz="1000" dirty="0">
                <a:solidFill>
                  <a:srgbClr val="16A34A"/>
                </a:solidFill>
                <a:latin typeface="Courier New" pitchFamily="34" charset="0"/>
                <a:ea typeface="Courier New" pitchFamily="34" charset="-122"/>
                <a:cs typeface="Courier New" pitchFamily="34" charset="-120"/>
              </a:rPr>
              <a:t>catalogue = dict(zip(product_names, prices))</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 {'laptop':450000,'phone':120000,'tablet':85000}</a:t>
            </a:r>
            <a:endParaRPr lang="en-US" sz="1000" dirty="0"/>
          </a:p>
        </p:txBody>
      </p:sp>
      <p:sp>
        <p:nvSpPr>
          <p:cNvPr id="20" name="Shape 18"/>
          <p:cNvSpPr/>
          <p:nvPr/>
        </p:nvSpPr>
        <p:spPr>
          <a:xfrm>
            <a:off x="411480" y="4535424"/>
            <a:ext cx="5577840" cy="3383280"/>
          </a:xfrm>
          <a:prstGeom prst="roundRect">
            <a:avLst>
              <a:gd name="adj" fmla="val 2703"/>
            </a:avLst>
          </a:prstGeom>
          <a:solidFill>
            <a:srgbClr val="1A2540"/>
          </a:solidFill>
          <a:ln w="17780">
            <a:solidFill>
              <a:srgbClr val="7C3AED"/>
            </a:solidFill>
            <a:prstDash val="solid"/>
          </a:ln>
          <a:effectLst>
            <a:outerShdw sx="100000" sy="100000" kx="0" ky="0" algn="bl" rotWithShape="0" blurRad="63500" dist="25400" dir="2700000">
              <a:srgbClr val="000000">
                <a:alpha val="12000"/>
              </a:srgbClr>
            </a:outerShdw>
          </a:effectLst>
        </p:spPr>
      </p:sp>
      <p:sp>
        <p:nvSpPr>
          <p:cNvPr id="21" name="Shape 19"/>
          <p:cNvSpPr/>
          <p:nvPr/>
        </p:nvSpPr>
        <p:spPr>
          <a:xfrm>
            <a:off x="411480" y="4535424"/>
            <a:ext cx="5577840" cy="457200"/>
          </a:xfrm>
          <a:prstGeom prst="roundRect">
            <a:avLst>
              <a:gd name="adj" fmla="val 20000"/>
            </a:avLst>
          </a:prstGeom>
          <a:solidFill>
            <a:srgbClr val="7C3AED"/>
          </a:solidFill>
          <a:ln w="12700">
            <a:solidFill>
              <a:srgbClr val="7C3AED"/>
            </a:solidFill>
            <a:prstDash val="solid"/>
          </a:ln>
        </p:spPr>
      </p:sp>
      <p:sp>
        <p:nvSpPr>
          <p:cNvPr id="22" name="Shape 20"/>
          <p:cNvSpPr/>
          <p:nvPr/>
        </p:nvSpPr>
        <p:spPr>
          <a:xfrm>
            <a:off x="411480" y="4828032"/>
            <a:ext cx="5577840" cy="164592"/>
          </a:xfrm>
          <a:prstGeom prst="rect">
            <a:avLst/>
          </a:prstGeom>
          <a:solidFill>
            <a:srgbClr val="7C3AED"/>
          </a:solidFill>
          <a:ln w="12700">
            <a:solidFill>
              <a:srgbClr val="7C3AED"/>
            </a:solidFill>
            <a:prstDash val="solid"/>
          </a:ln>
        </p:spPr>
      </p:sp>
      <p:sp>
        <p:nvSpPr>
          <p:cNvPr id="23" name="Text 21"/>
          <p:cNvSpPr/>
          <p:nvPr/>
        </p:nvSpPr>
        <p:spPr>
          <a:xfrm>
            <a:off x="521208" y="4608576"/>
            <a:ext cx="5358384" cy="292608"/>
          </a:xfrm>
          <a:prstGeom prst="rect">
            <a:avLst/>
          </a:prstGeom>
          <a:noFill/>
          <a:ln/>
        </p:spPr>
        <p:txBody>
          <a:bodyPr wrap="square" lIns="0" tIns="0" rIns="0" bIns="0" rtlCol="0" anchor="ctr"/>
          <a:lstStyle/>
          <a:p>
            <a:pPr indent="0" marL="0">
              <a:buNone/>
            </a:pPr>
            <a:r>
              <a:rPr lang="en-US" sz="1100" b="1" dirty="0">
                <a:solidFill>
                  <a:srgbClr val="080D18"/>
                </a:solidFill>
                <a:latin typeface="Calibri" pitchFamily="34" charset="0"/>
                <a:ea typeface="Calibri" pitchFamily="34" charset="-122"/>
                <a:cs typeface="Calibri" pitchFamily="34" charset="-120"/>
              </a:rPr>
              <a:t>⚡  CHALLENGE</a:t>
            </a:r>
            <a:endParaRPr lang="en-US" sz="1100" dirty="0"/>
          </a:p>
        </p:txBody>
      </p:sp>
      <p:sp>
        <p:nvSpPr>
          <p:cNvPr id="24" name="Text 22"/>
          <p:cNvSpPr/>
          <p:nvPr/>
        </p:nvSpPr>
        <p:spPr>
          <a:xfrm>
            <a:off x="539496" y="5084064"/>
            <a:ext cx="5321808" cy="1389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Q3. You have two customer lists: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batch_jan = ['C001','C002','C003','C004']</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batch_feb = ['C003','C004','C005','C006']</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Find: (a) customers in both months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(b) customers only in January</a:t>
            </a:r>
            <a:endParaRPr lang="en-US" sz="1100" dirty="0"/>
          </a:p>
        </p:txBody>
      </p:sp>
      <p:sp>
        <p:nvSpPr>
          <p:cNvPr id="25" name="Shape 23"/>
          <p:cNvSpPr/>
          <p:nvPr/>
        </p:nvSpPr>
        <p:spPr>
          <a:xfrm>
            <a:off x="539496" y="6583680"/>
            <a:ext cx="5321808" cy="18288"/>
          </a:xfrm>
          <a:prstGeom prst="rect">
            <a:avLst/>
          </a:prstGeom>
          <a:solidFill>
            <a:srgbClr val="64748B"/>
          </a:solidFill>
          <a:ln w="12700">
            <a:solidFill>
              <a:srgbClr val="64748B"/>
            </a:solidFill>
            <a:prstDash val="solid"/>
          </a:ln>
        </p:spPr>
      </p:sp>
      <p:sp>
        <p:nvSpPr>
          <p:cNvPr id="26" name="Text 24"/>
          <p:cNvSpPr/>
          <p:nvPr/>
        </p:nvSpPr>
        <p:spPr>
          <a:xfrm>
            <a:off x="539496" y="6675120"/>
            <a:ext cx="5321808" cy="256032"/>
          </a:xfrm>
          <a:prstGeom prst="rect">
            <a:avLst/>
          </a:prstGeom>
          <a:noFill/>
          <a:ln/>
        </p:spPr>
        <p:txBody>
          <a:bodyPr wrap="square" lIns="0" tIns="0" rIns="0" bIns="0" rtlCol="0" anchor="ctr"/>
          <a:lstStyle/>
          <a:p>
            <a:pPr indent="0" marL="0">
              <a:buNone/>
            </a:pPr>
            <a:r>
              <a:rPr lang="en-US" sz="1000" b="1" dirty="0">
                <a:solidFill>
                  <a:srgbClr val="7C3AED"/>
                </a:solidFill>
                <a:latin typeface="Cambria" pitchFamily="34" charset="0"/>
                <a:ea typeface="Cambria" pitchFamily="34" charset="-122"/>
                <a:cs typeface="Cambria" pitchFamily="34" charset="-120"/>
              </a:rPr>
              <a:t>Answer:</a:t>
            </a:r>
            <a:endParaRPr lang="en-US" sz="1000" dirty="0"/>
          </a:p>
        </p:txBody>
      </p:sp>
      <p:sp>
        <p:nvSpPr>
          <p:cNvPr id="27" name="Text 25"/>
          <p:cNvSpPr/>
          <p:nvPr/>
        </p:nvSpPr>
        <p:spPr>
          <a:xfrm>
            <a:off x="539496" y="6967728"/>
            <a:ext cx="5321808" cy="822960"/>
          </a:xfrm>
          <a:prstGeom prst="rect">
            <a:avLst/>
          </a:prstGeom>
          <a:noFill/>
          <a:ln/>
        </p:spPr>
        <p:txBody>
          <a:bodyPr wrap="square" lIns="0" tIns="0" rIns="0" bIns="0" rtlCol="0" anchor="ctr"/>
          <a:lstStyle/>
          <a:p>
            <a:pPr indent="0" marL="0">
              <a:buNone/>
            </a:pPr>
            <a:r>
              <a:rPr lang="en-US" sz="1000" dirty="0">
                <a:solidFill>
                  <a:srgbClr val="16A34A"/>
                </a:solidFill>
                <a:latin typeface="Courier New" pitchFamily="34" charset="0"/>
                <a:ea typeface="Courier New" pitchFamily="34" charset="-122"/>
                <a:cs typeface="Courier New" pitchFamily="34" charset="-120"/>
              </a:rPr>
              <a:t>both = set(batch_jan) &amp; set(batch_feb)  # {C003,C004}</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june_only = set(batch_jan) - set(batch_feb)  # {C001,C002}</a:t>
            </a:r>
            <a:endParaRPr lang="en-US" sz="1000" dirty="0"/>
          </a:p>
        </p:txBody>
      </p:sp>
      <p:sp>
        <p:nvSpPr>
          <p:cNvPr id="28" name="Shape 26"/>
          <p:cNvSpPr/>
          <p:nvPr/>
        </p:nvSpPr>
        <p:spPr>
          <a:xfrm>
            <a:off x="6172200" y="4535424"/>
            <a:ext cx="5760720" cy="3383280"/>
          </a:xfrm>
          <a:prstGeom prst="roundRect">
            <a:avLst>
              <a:gd name="adj" fmla="val 2703"/>
            </a:avLst>
          </a:prstGeom>
          <a:solidFill>
            <a:srgbClr val="1A2540"/>
          </a:solidFill>
          <a:ln w="17780">
            <a:solidFill>
              <a:srgbClr val="D97706"/>
            </a:solidFill>
            <a:prstDash val="solid"/>
          </a:ln>
          <a:effectLst>
            <a:outerShdw sx="100000" sy="100000" kx="0" ky="0" algn="bl" rotWithShape="0" blurRad="63500" dist="25400" dir="2700000">
              <a:srgbClr val="000000">
                <a:alpha val="12000"/>
              </a:srgbClr>
            </a:outerShdw>
          </a:effectLst>
        </p:spPr>
      </p:sp>
      <p:sp>
        <p:nvSpPr>
          <p:cNvPr id="29" name="Shape 27"/>
          <p:cNvSpPr/>
          <p:nvPr/>
        </p:nvSpPr>
        <p:spPr>
          <a:xfrm>
            <a:off x="6172200" y="4535424"/>
            <a:ext cx="5760720" cy="457200"/>
          </a:xfrm>
          <a:prstGeom prst="roundRect">
            <a:avLst>
              <a:gd name="adj" fmla="val 20000"/>
            </a:avLst>
          </a:prstGeom>
          <a:solidFill>
            <a:srgbClr val="D97706"/>
          </a:solidFill>
          <a:ln w="12700">
            <a:solidFill>
              <a:srgbClr val="D97706"/>
            </a:solidFill>
            <a:prstDash val="solid"/>
          </a:ln>
        </p:spPr>
      </p:sp>
      <p:sp>
        <p:nvSpPr>
          <p:cNvPr id="30" name="Shape 28"/>
          <p:cNvSpPr/>
          <p:nvPr/>
        </p:nvSpPr>
        <p:spPr>
          <a:xfrm>
            <a:off x="6172200" y="4828032"/>
            <a:ext cx="5760720" cy="164592"/>
          </a:xfrm>
          <a:prstGeom prst="rect">
            <a:avLst/>
          </a:prstGeom>
          <a:solidFill>
            <a:srgbClr val="D97706"/>
          </a:solidFill>
          <a:ln w="12700">
            <a:solidFill>
              <a:srgbClr val="D97706"/>
            </a:solidFill>
            <a:prstDash val="solid"/>
          </a:ln>
        </p:spPr>
      </p:sp>
      <p:sp>
        <p:nvSpPr>
          <p:cNvPr id="31" name="Text 29"/>
          <p:cNvSpPr/>
          <p:nvPr/>
        </p:nvSpPr>
        <p:spPr>
          <a:xfrm>
            <a:off x="6281928" y="4608576"/>
            <a:ext cx="5541264" cy="292608"/>
          </a:xfrm>
          <a:prstGeom prst="rect">
            <a:avLst/>
          </a:prstGeom>
          <a:noFill/>
          <a:ln/>
        </p:spPr>
        <p:txBody>
          <a:bodyPr wrap="square" lIns="0" tIns="0" rIns="0" bIns="0" rtlCol="0" anchor="ctr"/>
          <a:lstStyle/>
          <a:p>
            <a:pPr indent="0" marL="0">
              <a:buNone/>
            </a:pPr>
            <a:r>
              <a:rPr lang="en-US" sz="1100" b="1" dirty="0">
                <a:solidFill>
                  <a:srgbClr val="080D18"/>
                </a:solidFill>
                <a:latin typeface="Calibri" pitchFamily="34" charset="0"/>
                <a:ea typeface="Calibri" pitchFamily="34" charset="-122"/>
                <a:cs typeface="Calibri" pitchFamily="34" charset="-120"/>
              </a:rPr>
              <a:t>⚡  CHALLENGE</a:t>
            </a:r>
            <a:endParaRPr lang="en-US" sz="1100" dirty="0"/>
          </a:p>
        </p:txBody>
      </p:sp>
      <p:sp>
        <p:nvSpPr>
          <p:cNvPr id="32" name="Text 30"/>
          <p:cNvSpPr/>
          <p:nvPr/>
        </p:nvSpPr>
        <p:spPr>
          <a:xfrm>
            <a:off x="6300216" y="5084064"/>
            <a:ext cx="5504688" cy="1389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Q4. Build a dict comprehension that takes: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prices = {'Rice':3000,'Beans':2500,'Yam':1800}</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and returns a new dict with all prices increased by 12% VAT.</a:t>
            </a:r>
            <a:endParaRPr lang="en-US" sz="1100" dirty="0"/>
          </a:p>
        </p:txBody>
      </p:sp>
      <p:sp>
        <p:nvSpPr>
          <p:cNvPr id="33" name="Shape 31"/>
          <p:cNvSpPr/>
          <p:nvPr/>
        </p:nvSpPr>
        <p:spPr>
          <a:xfrm>
            <a:off x="6300216" y="6583680"/>
            <a:ext cx="5504688" cy="18288"/>
          </a:xfrm>
          <a:prstGeom prst="rect">
            <a:avLst/>
          </a:prstGeom>
          <a:solidFill>
            <a:srgbClr val="64748B"/>
          </a:solidFill>
          <a:ln w="12700">
            <a:solidFill>
              <a:srgbClr val="64748B"/>
            </a:solidFill>
            <a:prstDash val="solid"/>
          </a:ln>
        </p:spPr>
      </p:sp>
      <p:sp>
        <p:nvSpPr>
          <p:cNvPr id="34" name="Text 32"/>
          <p:cNvSpPr/>
          <p:nvPr/>
        </p:nvSpPr>
        <p:spPr>
          <a:xfrm>
            <a:off x="6300216" y="6675120"/>
            <a:ext cx="5504688" cy="256032"/>
          </a:xfrm>
          <a:prstGeom prst="rect">
            <a:avLst/>
          </a:prstGeom>
          <a:noFill/>
          <a:ln/>
        </p:spPr>
        <p:txBody>
          <a:bodyPr wrap="square" lIns="0" tIns="0" rIns="0" bIns="0" rtlCol="0" anchor="ctr"/>
          <a:lstStyle/>
          <a:p>
            <a:pPr indent="0" marL="0">
              <a:buNone/>
            </a:pPr>
            <a:r>
              <a:rPr lang="en-US" sz="1000" b="1" dirty="0">
                <a:solidFill>
                  <a:srgbClr val="D97706"/>
                </a:solidFill>
                <a:latin typeface="Cambria" pitchFamily="34" charset="0"/>
                <a:ea typeface="Cambria" pitchFamily="34" charset="-122"/>
                <a:cs typeface="Cambria" pitchFamily="34" charset="-120"/>
              </a:rPr>
              <a:t>Answer:</a:t>
            </a:r>
            <a:endParaRPr lang="en-US" sz="1000" dirty="0"/>
          </a:p>
        </p:txBody>
      </p:sp>
      <p:sp>
        <p:nvSpPr>
          <p:cNvPr id="35" name="Text 33"/>
          <p:cNvSpPr/>
          <p:nvPr/>
        </p:nvSpPr>
        <p:spPr>
          <a:xfrm>
            <a:off x="6300216" y="6967728"/>
            <a:ext cx="5504688" cy="822960"/>
          </a:xfrm>
          <a:prstGeom prst="rect">
            <a:avLst/>
          </a:prstGeom>
          <a:noFill/>
          <a:ln/>
        </p:spPr>
        <p:txBody>
          <a:bodyPr wrap="square" lIns="0" tIns="0" rIns="0" bIns="0" rtlCol="0" anchor="ctr"/>
          <a:lstStyle/>
          <a:p>
            <a:pPr indent="0" marL="0">
              <a:buNone/>
            </a:pPr>
            <a:r>
              <a:rPr lang="en-US" sz="1000" dirty="0">
                <a:solidFill>
                  <a:srgbClr val="16A34A"/>
                </a:solidFill>
                <a:latin typeface="Courier New" pitchFamily="34" charset="0"/>
                <a:ea typeface="Courier New" pitchFamily="34" charset="-122"/>
                <a:cs typeface="Courier New" pitchFamily="34" charset="-120"/>
              </a:rPr>
              <a:t>{item: round(p*1.12,2) for item,p in prices.items()}</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 {'Rice':3360.0,'Beans':2800.0,'Yam':2016.0}</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457200" y="1005840"/>
            <a:ext cx="1920240" cy="1920240"/>
          </a:xfrm>
          <a:prstGeom prst="ellipse">
            <a:avLst/>
          </a:prstGeom>
          <a:solidFill>
            <a:srgbClr val="7C3AED"/>
          </a:solidFill>
          <a:ln w="12700">
            <a:solidFill>
              <a:srgbClr val="7C3AED"/>
            </a:solidFill>
            <a:prstDash val="solid"/>
          </a:ln>
          <a:effectLst>
            <a:outerShdw sx="100000" sy="100000" kx="0" ky="0" algn="bl" rotWithShape="0" blurRad="127000" dist="50800" dir="2700000">
              <a:srgbClr val="000000">
                <a:alpha val="18000"/>
              </a:srgbClr>
            </a:outerShdw>
          </a:effectLst>
        </p:spPr>
      </p:sp>
      <p:sp>
        <p:nvSpPr>
          <p:cNvPr id="3" name="Text 1"/>
          <p:cNvSpPr/>
          <p:nvPr/>
        </p:nvSpPr>
        <p:spPr>
          <a:xfrm>
            <a:off x="457200" y="1005840"/>
            <a:ext cx="1920240" cy="1920240"/>
          </a:xfrm>
          <a:prstGeom prst="rect">
            <a:avLst/>
          </a:prstGeom>
          <a:noFill/>
          <a:ln/>
        </p:spPr>
        <p:txBody>
          <a:bodyPr wrap="square" lIns="0" tIns="0" rIns="0" bIns="0" rtlCol="0" anchor="ctr"/>
          <a:lstStyle/>
          <a:p>
            <a:pPr algn="ctr" indent="0" marL="0">
              <a:buNone/>
            </a:pPr>
            <a:r>
              <a:rPr lang="en-US" sz="5800" b="1" dirty="0">
                <a:solidFill>
                  <a:srgbClr val="FFFFFF"/>
                </a:solidFill>
                <a:latin typeface="Cambria" pitchFamily="34" charset="0"/>
                <a:ea typeface="Cambria" pitchFamily="34" charset="-122"/>
                <a:cs typeface="Cambria" pitchFamily="34" charset="-120"/>
              </a:rPr>
              <a:t>05</a:t>
            </a:r>
            <a:endParaRPr lang="en-US" sz="5800" dirty="0"/>
          </a:p>
        </p:txBody>
      </p:sp>
      <p:sp>
        <p:nvSpPr>
          <p:cNvPr id="4" name="Text 2"/>
          <p:cNvSpPr/>
          <p:nvPr/>
        </p:nvSpPr>
        <p:spPr>
          <a:xfrm>
            <a:off x="2743200" y="1097280"/>
            <a:ext cx="9144000" cy="16459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if / elif / else</a:t>
            </a:r>
            <a:endParaRPr lang="en-US" sz="4400" dirty="0"/>
          </a:p>
        </p:txBody>
      </p:sp>
      <p:sp>
        <p:nvSpPr>
          <p:cNvPr id="5" name="Text 3"/>
          <p:cNvSpPr/>
          <p:nvPr/>
        </p:nvSpPr>
        <p:spPr>
          <a:xfrm>
            <a:off x="2743200" y="2880360"/>
            <a:ext cx="9144000" cy="594360"/>
          </a:xfrm>
          <a:prstGeom prst="rect">
            <a:avLst/>
          </a:prstGeom>
          <a:noFill/>
          <a:ln/>
        </p:spPr>
        <p:txBody>
          <a:bodyPr wrap="square" lIns="0" tIns="0" rIns="0" bIns="0"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Making your code respond to different situations.</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E3C"/>
          </a:solidFill>
          <a:ln w="12700">
            <a:solidFill>
              <a:srgbClr val="0F1E3C"/>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IF / ELIF / ELSE — HOW CONDITIONAL LOGIC FLOWS</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4114800" cy="5577840"/>
          </a:xfrm>
          <a:prstGeom prst="rect">
            <a:avLst/>
          </a:prstGeom>
        </p:spPr>
      </p:pic>
      <p:sp>
        <p:nvSpPr>
          <p:cNvPr id="5" name="Shape 2"/>
          <p:cNvSpPr/>
          <p:nvPr/>
        </p:nvSpPr>
        <p:spPr>
          <a:xfrm>
            <a:off x="4754880" y="1024128"/>
            <a:ext cx="7178040" cy="5559552"/>
          </a:xfrm>
          <a:prstGeom prst="roundRect">
            <a:avLst>
              <a:gd name="adj" fmla="val 1645"/>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6" name="Shape 3"/>
          <p:cNvSpPr/>
          <p:nvPr/>
        </p:nvSpPr>
        <p:spPr>
          <a:xfrm>
            <a:off x="4754880" y="1024128"/>
            <a:ext cx="7178040" cy="347472"/>
          </a:xfrm>
          <a:prstGeom prst="roundRect">
            <a:avLst>
              <a:gd name="adj" fmla="val 26316"/>
            </a:avLst>
          </a:prstGeom>
          <a:solidFill>
            <a:srgbClr val="1A2540"/>
          </a:solidFill>
          <a:ln w="12700">
            <a:solidFill>
              <a:srgbClr val="1A2540"/>
            </a:solidFill>
            <a:prstDash val="solid"/>
          </a:ln>
        </p:spPr>
      </p:sp>
      <p:sp>
        <p:nvSpPr>
          <p:cNvPr id="7" name="Shape 4"/>
          <p:cNvSpPr/>
          <p:nvPr/>
        </p:nvSpPr>
        <p:spPr>
          <a:xfrm>
            <a:off x="4754880" y="1225296"/>
            <a:ext cx="7178040" cy="146304"/>
          </a:xfrm>
          <a:prstGeom prst="rect">
            <a:avLst/>
          </a:prstGeom>
          <a:solidFill>
            <a:srgbClr val="1A2540"/>
          </a:solidFill>
          <a:ln w="12700">
            <a:solidFill>
              <a:srgbClr val="1A2540"/>
            </a:solidFill>
            <a:prstDash val="solid"/>
          </a:ln>
        </p:spPr>
      </p:sp>
      <p:sp>
        <p:nvSpPr>
          <p:cNvPr id="8" name="Shape 5"/>
          <p:cNvSpPr/>
          <p:nvPr/>
        </p:nvSpPr>
        <p:spPr>
          <a:xfrm>
            <a:off x="4882896" y="1115568"/>
            <a:ext cx="164592" cy="164592"/>
          </a:xfrm>
          <a:prstGeom prst="ellipse">
            <a:avLst/>
          </a:prstGeom>
          <a:solidFill>
            <a:srgbClr val="E11D48"/>
          </a:solidFill>
          <a:ln w="12700">
            <a:solidFill>
              <a:srgbClr val="E11D48"/>
            </a:solidFill>
            <a:prstDash val="solid"/>
          </a:ln>
        </p:spPr>
      </p:sp>
      <p:sp>
        <p:nvSpPr>
          <p:cNvPr id="9" name="Shape 6"/>
          <p:cNvSpPr/>
          <p:nvPr/>
        </p:nvSpPr>
        <p:spPr>
          <a:xfrm>
            <a:off x="5084064" y="1115568"/>
            <a:ext cx="164592" cy="164592"/>
          </a:xfrm>
          <a:prstGeom prst="ellipse">
            <a:avLst/>
          </a:prstGeom>
          <a:solidFill>
            <a:srgbClr val="D97706"/>
          </a:solidFill>
          <a:ln w="12700">
            <a:solidFill>
              <a:srgbClr val="D97706"/>
            </a:solidFill>
            <a:prstDash val="solid"/>
          </a:ln>
        </p:spPr>
      </p:sp>
      <p:sp>
        <p:nvSpPr>
          <p:cNvPr id="10" name="Shape 7"/>
          <p:cNvSpPr/>
          <p:nvPr/>
        </p:nvSpPr>
        <p:spPr>
          <a:xfrm>
            <a:off x="5285232" y="1115568"/>
            <a:ext cx="164592" cy="164592"/>
          </a:xfrm>
          <a:prstGeom prst="ellipse">
            <a:avLst/>
          </a:prstGeom>
          <a:solidFill>
            <a:srgbClr val="16A34A"/>
          </a:solidFill>
          <a:ln w="12700">
            <a:solidFill>
              <a:srgbClr val="16A34A"/>
            </a:solidFill>
            <a:prstDash val="solid"/>
          </a:ln>
        </p:spPr>
      </p:sp>
      <p:sp>
        <p:nvSpPr>
          <p:cNvPr id="11" name="Text 8"/>
          <p:cNvSpPr/>
          <p:nvPr/>
        </p:nvSpPr>
        <p:spPr>
          <a:xfrm>
            <a:off x="5486400" y="1097280"/>
            <a:ext cx="626364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conditionals.py</a:t>
            </a:r>
            <a:endParaRPr lang="en-US" sz="900" dirty="0"/>
          </a:p>
        </p:txBody>
      </p:sp>
      <p:sp>
        <p:nvSpPr>
          <p:cNvPr id="12" name="Text 9"/>
          <p:cNvSpPr/>
          <p:nvPr/>
        </p:nvSpPr>
        <p:spPr>
          <a:xfrm>
            <a:off x="4901184" y="1426464"/>
            <a:ext cx="6903720" cy="504748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Simple if</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stock = 8</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if stock &lt;= 10: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print("Reorder needed")</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if / else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balance = 250_000</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if balance &gt;= 500_000: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tier = "Platinum"</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else: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tier = "Standard"</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if / elif / else — credit rating</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score = 720</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if score &gt;= 750: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rating = "Excellent"</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elif score &gt;= 700: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rating = "Good"</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elif score &gt;= 650: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rating = "Fair"</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else: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rating = "Poor"</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print(f"Score {score}: {rating}")</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Ternary — one-line if/else</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status = 'Active' if balance &gt; 0 else 'Inactive'</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Nested</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if score &gt;= 700:</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    if income &gt;= 100_000:</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        print("Premium loan approved")</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    else: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print("Standard loan approved")</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E3C"/>
          </a:solidFill>
          <a:ln w="12700">
            <a:solidFill>
              <a:srgbClr val="0F1E3C"/>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COMPOUND CONDITIONS — and, or, not</a:t>
            </a:r>
            <a:endParaRPr lang="en-US" sz="2600" dirty="0"/>
          </a:p>
        </p:txBody>
      </p:sp>
      <p:sp>
        <p:nvSpPr>
          <p:cNvPr id="4" name="Shape 2"/>
          <p:cNvSpPr/>
          <p:nvPr/>
        </p:nvSpPr>
        <p:spPr>
          <a:xfrm>
            <a:off x="411480" y="1024128"/>
            <a:ext cx="7132320" cy="5559552"/>
          </a:xfrm>
          <a:prstGeom prst="roundRect">
            <a:avLst>
              <a:gd name="adj" fmla="val 1645"/>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1024128"/>
            <a:ext cx="7132320" cy="347472"/>
          </a:xfrm>
          <a:prstGeom prst="roundRect">
            <a:avLst>
              <a:gd name="adj" fmla="val 26316"/>
            </a:avLst>
          </a:prstGeom>
          <a:solidFill>
            <a:srgbClr val="1A2540"/>
          </a:solidFill>
          <a:ln w="12700">
            <a:solidFill>
              <a:srgbClr val="1A2540"/>
            </a:solidFill>
            <a:prstDash val="solid"/>
          </a:ln>
        </p:spPr>
      </p:sp>
      <p:sp>
        <p:nvSpPr>
          <p:cNvPr id="6" name="Shape 4"/>
          <p:cNvSpPr/>
          <p:nvPr/>
        </p:nvSpPr>
        <p:spPr>
          <a:xfrm>
            <a:off x="411480" y="1225296"/>
            <a:ext cx="7132320" cy="146304"/>
          </a:xfrm>
          <a:prstGeom prst="rect">
            <a:avLst/>
          </a:prstGeom>
          <a:solidFill>
            <a:srgbClr val="1A2540"/>
          </a:solidFill>
          <a:ln w="12700">
            <a:solidFill>
              <a:srgbClr val="1A2540"/>
            </a:solidFill>
            <a:prstDash val="solid"/>
          </a:ln>
        </p:spPr>
      </p:sp>
      <p:sp>
        <p:nvSpPr>
          <p:cNvPr id="7" name="Shape 5"/>
          <p:cNvSpPr/>
          <p:nvPr/>
        </p:nvSpPr>
        <p:spPr>
          <a:xfrm>
            <a:off x="539496" y="1115568"/>
            <a:ext cx="164592" cy="164592"/>
          </a:xfrm>
          <a:prstGeom prst="ellipse">
            <a:avLst/>
          </a:prstGeom>
          <a:solidFill>
            <a:srgbClr val="E11D48"/>
          </a:solidFill>
          <a:ln w="12700">
            <a:solidFill>
              <a:srgbClr val="E11D48"/>
            </a:solidFill>
            <a:prstDash val="solid"/>
          </a:ln>
        </p:spPr>
      </p:sp>
      <p:sp>
        <p:nvSpPr>
          <p:cNvPr id="8" name="Shape 6"/>
          <p:cNvSpPr/>
          <p:nvPr/>
        </p:nvSpPr>
        <p:spPr>
          <a:xfrm>
            <a:off x="740664" y="1115568"/>
            <a:ext cx="164592" cy="164592"/>
          </a:xfrm>
          <a:prstGeom prst="ellipse">
            <a:avLst/>
          </a:prstGeom>
          <a:solidFill>
            <a:srgbClr val="D97706"/>
          </a:solidFill>
          <a:ln w="12700">
            <a:solidFill>
              <a:srgbClr val="D97706"/>
            </a:solidFill>
            <a:prstDash val="solid"/>
          </a:ln>
        </p:spPr>
      </p:sp>
      <p:sp>
        <p:nvSpPr>
          <p:cNvPr id="9" name="Shape 7"/>
          <p:cNvSpPr/>
          <p:nvPr/>
        </p:nvSpPr>
        <p:spPr>
          <a:xfrm>
            <a:off x="941832" y="1115568"/>
            <a:ext cx="164592" cy="164592"/>
          </a:xfrm>
          <a:prstGeom prst="ellipse">
            <a:avLst/>
          </a:prstGeom>
          <a:solidFill>
            <a:srgbClr val="16A34A"/>
          </a:solidFill>
          <a:ln w="12700">
            <a:solidFill>
              <a:srgbClr val="16A34A"/>
            </a:solidFill>
            <a:prstDash val="solid"/>
          </a:ln>
        </p:spPr>
      </p:sp>
      <p:sp>
        <p:nvSpPr>
          <p:cNvPr id="10" name="Text 8"/>
          <p:cNvSpPr/>
          <p:nvPr/>
        </p:nvSpPr>
        <p:spPr>
          <a:xfrm>
            <a:off x="1143000" y="1097280"/>
            <a:ext cx="621792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compound_conditions.py</a:t>
            </a:r>
            <a:endParaRPr lang="en-US" sz="900" dirty="0"/>
          </a:p>
        </p:txBody>
      </p:sp>
      <p:sp>
        <p:nvSpPr>
          <p:cNvPr id="11" name="Text 9"/>
          <p:cNvSpPr/>
          <p:nvPr/>
        </p:nvSpPr>
        <p:spPr>
          <a:xfrm>
            <a:off x="557784" y="1426464"/>
            <a:ext cx="6858000" cy="504748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and — ALL conditions must be True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age    = 35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income = 120_000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credit = 710</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if age &gt;= 21 and income &gt;= 50_000 and credit &gt;= 700:</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    print("Loan APPROVED")</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or — ANY condition being True is enough</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payment_mode = 'transfer'</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if payment_mode == 'cash' or payment_mode == 'transfer':</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    print("Payment accepted")</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Cleaner version:</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if payment_mode in ('cash','transfer','POS','USSD'):</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    print("Payment accepted")</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not — reverse the boolean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account_verified = False</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if not account_verified:</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print("Please verify your account first")</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Chained comparison — Pythonic!</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if 18 &lt;= age &lt;= 65:</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    print("Eligible")</a:t>
            </a:r>
            <a:endParaRPr lang="en-US" sz="1050" dirty="0"/>
          </a:p>
          <a:p>
            <a:pPr indent="0" marL="0">
              <a:buNone/>
            </a:pPr>
            <a:r>
              <a:rPr lang="en-US" sz="1050" dirty="0">
                <a:solidFill>
                  <a:srgbClr val="94A3B8"/>
                </a:solidFill>
                <a:latin typeface="Courier New" pitchFamily="34" charset="0"/>
                <a:ea typeface="Courier New" pitchFamily="34" charset="-122"/>
                <a:cs typeface="Courier New" pitchFamily="34" charset="-120"/>
              </a:rPr>
              <a:t># Equivalent to: age &gt;= 18 and age &lt;= 65</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Real fraud detection rule</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if amount &gt; 1_000_000 or (foreign and amount &gt; 100_000):</a:t>
            </a:r>
            <a:endParaRPr lang="en-US" sz="1050" dirty="0"/>
          </a:p>
          <a:p>
            <a:pPr indent="0" marL="0">
              <a:buNone/>
            </a:pPr>
            <a:r>
              <a:rPr lang="en-US" sz="1050" dirty="0">
                <a:solidFill>
                  <a:srgbClr val="E11D48"/>
                </a:solidFill>
                <a:latin typeface="Courier New" pitchFamily="34" charset="0"/>
                <a:ea typeface="Courier New" pitchFamily="34" charset="-122"/>
                <a:cs typeface="Courier New" pitchFamily="34" charset="-120"/>
              </a:rPr>
              <a:t>    flag_for_review(transaction)</a:t>
            </a:r>
            <a:endParaRPr lang="en-US" sz="1050" dirty="0"/>
          </a:p>
        </p:txBody>
      </p:sp>
      <p:sp>
        <p:nvSpPr>
          <p:cNvPr id="12" name="Text 10"/>
          <p:cNvSpPr/>
          <p:nvPr/>
        </p:nvSpPr>
        <p:spPr>
          <a:xfrm>
            <a:off x="7726680" y="1078992"/>
            <a:ext cx="4251960" cy="274320"/>
          </a:xfrm>
          <a:prstGeom prst="rect">
            <a:avLst/>
          </a:prstGeom>
          <a:noFill/>
          <a:ln/>
        </p:spPr>
        <p:txBody>
          <a:bodyPr wrap="square" lIns="0" tIns="0" rIns="0" bIns="0" rtlCol="0" anchor="ctr"/>
          <a:lstStyle/>
          <a:p>
            <a:pPr indent="0" marL="0">
              <a:buNone/>
            </a:pPr>
            <a:r>
              <a:rPr lang="en-US" sz="1100" b="1" dirty="0">
                <a:solidFill>
                  <a:srgbClr val="0F1E3C"/>
                </a:solidFill>
                <a:latin typeface="Cambria" pitchFamily="34" charset="0"/>
                <a:ea typeface="Cambria" pitchFamily="34" charset="-122"/>
                <a:cs typeface="Cambria" pitchFamily="34" charset="-120"/>
              </a:rPr>
              <a:t>Truth Tables</a:t>
            </a:r>
            <a:endParaRPr lang="en-US" sz="1100" dirty="0"/>
          </a:p>
        </p:txBody>
      </p:sp>
      <p:sp>
        <p:nvSpPr>
          <p:cNvPr id="13" name="Shape 11"/>
          <p:cNvSpPr/>
          <p:nvPr/>
        </p:nvSpPr>
        <p:spPr>
          <a:xfrm>
            <a:off x="7726680" y="1444752"/>
            <a:ext cx="822960" cy="475488"/>
          </a:xfrm>
          <a:prstGeom prst="rect">
            <a:avLst/>
          </a:prstGeom>
          <a:solidFill>
            <a:srgbClr val="0F1E3C"/>
          </a:solidFill>
          <a:ln w="12700">
            <a:solidFill>
              <a:srgbClr val="E2E8F0"/>
            </a:solidFill>
            <a:prstDash val="solid"/>
          </a:ln>
        </p:spPr>
      </p:sp>
      <p:sp>
        <p:nvSpPr>
          <p:cNvPr id="14" name="Text 12"/>
          <p:cNvSpPr/>
          <p:nvPr/>
        </p:nvSpPr>
        <p:spPr>
          <a:xfrm>
            <a:off x="7763256" y="1554480"/>
            <a:ext cx="74980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15" name="Shape 13"/>
          <p:cNvSpPr/>
          <p:nvPr/>
        </p:nvSpPr>
        <p:spPr>
          <a:xfrm>
            <a:off x="8549640" y="1444752"/>
            <a:ext cx="822960" cy="475488"/>
          </a:xfrm>
          <a:prstGeom prst="rect">
            <a:avLst/>
          </a:prstGeom>
          <a:solidFill>
            <a:srgbClr val="0F1E3C"/>
          </a:solidFill>
          <a:ln w="12700">
            <a:solidFill>
              <a:srgbClr val="E2E8F0"/>
            </a:solidFill>
            <a:prstDash val="solid"/>
          </a:ln>
        </p:spPr>
      </p:sp>
      <p:sp>
        <p:nvSpPr>
          <p:cNvPr id="16" name="Text 14"/>
          <p:cNvSpPr/>
          <p:nvPr/>
        </p:nvSpPr>
        <p:spPr>
          <a:xfrm>
            <a:off x="8586216" y="1554480"/>
            <a:ext cx="74980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17" name="Shape 15"/>
          <p:cNvSpPr/>
          <p:nvPr/>
        </p:nvSpPr>
        <p:spPr>
          <a:xfrm>
            <a:off x="9372600" y="1444752"/>
            <a:ext cx="914400" cy="475488"/>
          </a:xfrm>
          <a:prstGeom prst="rect">
            <a:avLst/>
          </a:prstGeom>
          <a:solidFill>
            <a:srgbClr val="0F1E3C"/>
          </a:solidFill>
          <a:ln w="12700">
            <a:solidFill>
              <a:srgbClr val="E2E8F0"/>
            </a:solidFill>
            <a:prstDash val="solid"/>
          </a:ln>
        </p:spPr>
      </p:sp>
      <p:sp>
        <p:nvSpPr>
          <p:cNvPr id="18" name="Text 16"/>
          <p:cNvSpPr/>
          <p:nvPr/>
        </p:nvSpPr>
        <p:spPr>
          <a:xfrm>
            <a:off x="9409176" y="1554480"/>
            <a:ext cx="8412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 and B</a:t>
            </a:r>
            <a:endParaRPr lang="en-US" sz="900" dirty="0"/>
          </a:p>
        </p:txBody>
      </p:sp>
      <p:sp>
        <p:nvSpPr>
          <p:cNvPr id="19" name="Shape 17"/>
          <p:cNvSpPr/>
          <p:nvPr/>
        </p:nvSpPr>
        <p:spPr>
          <a:xfrm>
            <a:off x="10287000" y="1444752"/>
            <a:ext cx="914400" cy="475488"/>
          </a:xfrm>
          <a:prstGeom prst="rect">
            <a:avLst/>
          </a:prstGeom>
          <a:solidFill>
            <a:srgbClr val="0F1E3C"/>
          </a:solidFill>
          <a:ln w="12700">
            <a:solidFill>
              <a:srgbClr val="E2E8F0"/>
            </a:solidFill>
            <a:prstDash val="solid"/>
          </a:ln>
        </p:spPr>
      </p:sp>
      <p:sp>
        <p:nvSpPr>
          <p:cNvPr id="20" name="Text 18"/>
          <p:cNvSpPr/>
          <p:nvPr/>
        </p:nvSpPr>
        <p:spPr>
          <a:xfrm>
            <a:off x="10323576" y="1554480"/>
            <a:ext cx="8412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 or B</a:t>
            </a:r>
            <a:endParaRPr lang="en-US" sz="900" dirty="0"/>
          </a:p>
        </p:txBody>
      </p:sp>
      <p:sp>
        <p:nvSpPr>
          <p:cNvPr id="21" name="Shape 19"/>
          <p:cNvSpPr/>
          <p:nvPr/>
        </p:nvSpPr>
        <p:spPr>
          <a:xfrm>
            <a:off x="11201400" y="1444752"/>
            <a:ext cx="914400" cy="475488"/>
          </a:xfrm>
          <a:prstGeom prst="rect">
            <a:avLst/>
          </a:prstGeom>
          <a:solidFill>
            <a:srgbClr val="0F1E3C"/>
          </a:solidFill>
          <a:ln w="12700">
            <a:solidFill>
              <a:srgbClr val="E2E8F0"/>
            </a:solidFill>
            <a:prstDash val="solid"/>
          </a:ln>
        </p:spPr>
      </p:sp>
      <p:sp>
        <p:nvSpPr>
          <p:cNvPr id="22" name="Text 20"/>
          <p:cNvSpPr/>
          <p:nvPr/>
        </p:nvSpPr>
        <p:spPr>
          <a:xfrm>
            <a:off x="11237976" y="1554480"/>
            <a:ext cx="8412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not A</a:t>
            </a:r>
            <a:endParaRPr lang="en-US" sz="900" dirty="0"/>
          </a:p>
        </p:txBody>
      </p:sp>
      <p:sp>
        <p:nvSpPr>
          <p:cNvPr id="23" name="Shape 21"/>
          <p:cNvSpPr/>
          <p:nvPr/>
        </p:nvSpPr>
        <p:spPr>
          <a:xfrm>
            <a:off x="7726680" y="1920240"/>
            <a:ext cx="822960" cy="475488"/>
          </a:xfrm>
          <a:prstGeom prst="rect">
            <a:avLst/>
          </a:prstGeom>
          <a:solidFill>
            <a:srgbClr val="F1F5F9"/>
          </a:solidFill>
          <a:ln w="12700">
            <a:solidFill>
              <a:srgbClr val="E2E8F0"/>
            </a:solidFill>
            <a:prstDash val="solid"/>
          </a:ln>
        </p:spPr>
      </p:sp>
      <p:sp>
        <p:nvSpPr>
          <p:cNvPr id="24" name="Text 22"/>
          <p:cNvSpPr/>
          <p:nvPr/>
        </p:nvSpPr>
        <p:spPr>
          <a:xfrm>
            <a:off x="7763256" y="2029968"/>
            <a:ext cx="749808" cy="256032"/>
          </a:xfrm>
          <a:prstGeom prst="rect">
            <a:avLst/>
          </a:prstGeom>
          <a:noFill/>
          <a:ln/>
        </p:spPr>
        <p:txBody>
          <a:bodyPr wrap="square" lIns="0" tIns="0" rIns="0" bIns="0" rtlCol="0" anchor="ctr"/>
          <a:lstStyle/>
          <a:p>
            <a:pPr algn="ctr" indent="0" marL="0">
              <a:buNone/>
            </a:pPr>
            <a:r>
              <a:rPr lang="en-US" sz="1000" dirty="0">
                <a:solidFill>
                  <a:srgbClr val="16A34A"/>
                </a:solidFill>
                <a:latin typeface="Calibri" pitchFamily="34" charset="0"/>
                <a:ea typeface="Calibri" pitchFamily="34" charset="-122"/>
                <a:cs typeface="Calibri" pitchFamily="34" charset="-120"/>
              </a:rPr>
              <a:t>True</a:t>
            </a:r>
            <a:endParaRPr lang="en-US" sz="1000" dirty="0"/>
          </a:p>
        </p:txBody>
      </p:sp>
      <p:sp>
        <p:nvSpPr>
          <p:cNvPr id="25" name="Shape 23"/>
          <p:cNvSpPr/>
          <p:nvPr/>
        </p:nvSpPr>
        <p:spPr>
          <a:xfrm>
            <a:off x="8549640" y="1920240"/>
            <a:ext cx="822960" cy="475488"/>
          </a:xfrm>
          <a:prstGeom prst="rect">
            <a:avLst/>
          </a:prstGeom>
          <a:solidFill>
            <a:srgbClr val="F1F5F9"/>
          </a:solidFill>
          <a:ln w="12700">
            <a:solidFill>
              <a:srgbClr val="E2E8F0"/>
            </a:solidFill>
            <a:prstDash val="solid"/>
          </a:ln>
        </p:spPr>
      </p:sp>
      <p:sp>
        <p:nvSpPr>
          <p:cNvPr id="26" name="Text 24"/>
          <p:cNvSpPr/>
          <p:nvPr/>
        </p:nvSpPr>
        <p:spPr>
          <a:xfrm>
            <a:off x="8586216" y="2029968"/>
            <a:ext cx="749808" cy="256032"/>
          </a:xfrm>
          <a:prstGeom prst="rect">
            <a:avLst/>
          </a:prstGeom>
          <a:noFill/>
          <a:ln/>
        </p:spPr>
        <p:txBody>
          <a:bodyPr wrap="square" lIns="0" tIns="0" rIns="0" bIns="0" rtlCol="0" anchor="ctr"/>
          <a:lstStyle/>
          <a:p>
            <a:pPr algn="ctr" indent="0" marL="0">
              <a:buNone/>
            </a:pPr>
            <a:r>
              <a:rPr lang="en-US" sz="1000" dirty="0">
                <a:solidFill>
                  <a:srgbClr val="16A34A"/>
                </a:solidFill>
                <a:latin typeface="Calibri" pitchFamily="34" charset="0"/>
                <a:ea typeface="Calibri" pitchFamily="34" charset="-122"/>
                <a:cs typeface="Calibri" pitchFamily="34" charset="-120"/>
              </a:rPr>
              <a:t>True</a:t>
            </a:r>
            <a:endParaRPr lang="en-US" sz="1000" dirty="0"/>
          </a:p>
        </p:txBody>
      </p:sp>
      <p:sp>
        <p:nvSpPr>
          <p:cNvPr id="27" name="Shape 25"/>
          <p:cNvSpPr/>
          <p:nvPr/>
        </p:nvSpPr>
        <p:spPr>
          <a:xfrm>
            <a:off x="9372600" y="1920240"/>
            <a:ext cx="914400" cy="475488"/>
          </a:xfrm>
          <a:prstGeom prst="rect">
            <a:avLst/>
          </a:prstGeom>
          <a:solidFill>
            <a:srgbClr val="F1F5F9"/>
          </a:solidFill>
          <a:ln w="12700">
            <a:solidFill>
              <a:srgbClr val="E2E8F0"/>
            </a:solidFill>
            <a:prstDash val="solid"/>
          </a:ln>
        </p:spPr>
      </p:sp>
      <p:sp>
        <p:nvSpPr>
          <p:cNvPr id="28" name="Text 26"/>
          <p:cNvSpPr/>
          <p:nvPr/>
        </p:nvSpPr>
        <p:spPr>
          <a:xfrm>
            <a:off x="9409176" y="2029968"/>
            <a:ext cx="841248" cy="256032"/>
          </a:xfrm>
          <a:prstGeom prst="rect">
            <a:avLst/>
          </a:prstGeom>
          <a:noFill/>
          <a:ln/>
        </p:spPr>
        <p:txBody>
          <a:bodyPr wrap="square" lIns="0" tIns="0" rIns="0" bIns="0" rtlCol="0" anchor="ctr"/>
          <a:lstStyle/>
          <a:p>
            <a:pPr algn="ctr" indent="0" marL="0">
              <a:buNone/>
            </a:pPr>
            <a:r>
              <a:rPr lang="en-US" sz="1000" dirty="0">
                <a:solidFill>
                  <a:srgbClr val="16A34A"/>
                </a:solidFill>
                <a:latin typeface="Calibri" pitchFamily="34" charset="0"/>
                <a:ea typeface="Calibri" pitchFamily="34" charset="-122"/>
                <a:cs typeface="Calibri" pitchFamily="34" charset="-120"/>
              </a:rPr>
              <a:t>True</a:t>
            </a:r>
            <a:endParaRPr lang="en-US" sz="1000" dirty="0"/>
          </a:p>
        </p:txBody>
      </p:sp>
      <p:sp>
        <p:nvSpPr>
          <p:cNvPr id="29" name="Shape 27"/>
          <p:cNvSpPr/>
          <p:nvPr/>
        </p:nvSpPr>
        <p:spPr>
          <a:xfrm>
            <a:off x="10287000" y="1920240"/>
            <a:ext cx="914400" cy="475488"/>
          </a:xfrm>
          <a:prstGeom prst="rect">
            <a:avLst/>
          </a:prstGeom>
          <a:solidFill>
            <a:srgbClr val="F1F5F9"/>
          </a:solidFill>
          <a:ln w="12700">
            <a:solidFill>
              <a:srgbClr val="E2E8F0"/>
            </a:solidFill>
            <a:prstDash val="solid"/>
          </a:ln>
        </p:spPr>
      </p:sp>
      <p:sp>
        <p:nvSpPr>
          <p:cNvPr id="30" name="Text 28"/>
          <p:cNvSpPr/>
          <p:nvPr/>
        </p:nvSpPr>
        <p:spPr>
          <a:xfrm>
            <a:off x="10323576" y="2029968"/>
            <a:ext cx="841248" cy="256032"/>
          </a:xfrm>
          <a:prstGeom prst="rect">
            <a:avLst/>
          </a:prstGeom>
          <a:noFill/>
          <a:ln/>
        </p:spPr>
        <p:txBody>
          <a:bodyPr wrap="square" lIns="0" tIns="0" rIns="0" bIns="0" rtlCol="0" anchor="ctr"/>
          <a:lstStyle/>
          <a:p>
            <a:pPr algn="ctr" indent="0" marL="0">
              <a:buNone/>
            </a:pPr>
            <a:r>
              <a:rPr lang="en-US" sz="1000" dirty="0">
                <a:solidFill>
                  <a:srgbClr val="16A34A"/>
                </a:solidFill>
                <a:latin typeface="Calibri" pitchFamily="34" charset="0"/>
                <a:ea typeface="Calibri" pitchFamily="34" charset="-122"/>
                <a:cs typeface="Calibri" pitchFamily="34" charset="-120"/>
              </a:rPr>
              <a:t>True</a:t>
            </a:r>
            <a:endParaRPr lang="en-US" sz="1000" dirty="0"/>
          </a:p>
        </p:txBody>
      </p:sp>
      <p:sp>
        <p:nvSpPr>
          <p:cNvPr id="31" name="Shape 29"/>
          <p:cNvSpPr/>
          <p:nvPr/>
        </p:nvSpPr>
        <p:spPr>
          <a:xfrm>
            <a:off x="11201400" y="1920240"/>
            <a:ext cx="914400" cy="475488"/>
          </a:xfrm>
          <a:prstGeom prst="rect">
            <a:avLst/>
          </a:prstGeom>
          <a:solidFill>
            <a:srgbClr val="F1F5F9"/>
          </a:solidFill>
          <a:ln w="12700">
            <a:solidFill>
              <a:srgbClr val="E2E8F0"/>
            </a:solidFill>
            <a:prstDash val="solid"/>
          </a:ln>
        </p:spPr>
      </p:sp>
      <p:sp>
        <p:nvSpPr>
          <p:cNvPr id="32" name="Text 30"/>
          <p:cNvSpPr/>
          <p:nvPr/>
        </p:nvSpPr>
        <p:spPr>
          <a:xfrm>
            <a:off x="11237976" y="2029968"/>
            <a:ext cx="841248" cy="256032"/>
          </a:xfrm>
          <a:prstGeom prst="rect">
            <a:avLst/>
          </a:prstGeom>
          <a:noFill/>
          <a:ln/>
        </p:spPr>
        <p:txBody>
          <a:bodyPr wrap="square" lIns="0" tIns="0" rIns="0" bIns="0" rtlCol="0" anchor="ctr"/>
          <a:lstStyle/>
          <a:p>
            <a:pPr algn="ctr" indent="0" marL="0">
              <a:buNone/>
            </a:pPr>
            <a:r>
              <a:rPr lang="en-US" sz="1000" dirty="0">
                <a:solidFill>
                  <a:srgbClr val="E11D48"/>
                </a:solidFill>
                <a:latin typeface="Calibri" pitchFamily="34" charset="0"/>
                <a:ea typeface="Calibri" pitchFamily="34" charset="-122"/>
                <a:cs typeface="Calibri" pitchFamily="34" charset="-120"/>
              </a:rPr>
              <a:t>False</a:t>
            </a:r>
            <a:endParaRPr lang="en-US" sz="1000" dirty="0"/>
          </a:p>
        </p:txBody>
      </p:sp>
      <p:sp>
        <p:nvSpPr>
          <p:cNvPr id="33" name="Shape 31"/>
          <p:cNvSpPr/>
          <p:nvPr/>
        </p:nvSpPr>
        <p:spPr>
          <a:xfrm>
            <a:off x="7726680" y="2395728"/>
            <a:ext cx="822960" cy="475488"/>
          </a:xfrm>
          <a:prstGeom prst="rect">
            <a:avLst/>
          </a:prstGeom>
          <a:solidFill>
            <a:srgbClr val="FFFFFF"/>
          </a:solidFill>
          <a:ln w="12700">
            <a:solidFill>
              <a:srgbClr val="E2E8F0"/>
            </a:solidFill>
            <a:prstDash val="solid"/>
          </a:ln>
        </p:spPr>
      </p:sp>
      <p:sp>
        <p:nvSpPr>
          <p:cNvPr id="34" name="Text 32"/>
          <p:cNvSpPr/>
          <p:nvPr/>
        </p:nvSpPr>
        <p:spPr>
          <a:xfrm>
            <a:off x="7763256" y="2505456"/>
            <a:ext cx="749808" cy="256032"/>
          </a:xfrm>
          <a:prstGeom prst="rect">
            <a:avLst/>
          </a:prstGeom>
          <a:noFill/>
          <a:ln/>
        </p:spPr>
        <p:txBody>
          <a:bodyPr wrap="square" lIns="0" tIns="0" rIns="0" bIns="0" rtlCol="0" anchor="ctr"/>
          <a:lstStyle/>
          <a:p>
            <a:pPr algn="ctr" indent="0" marL="0">
              <a:buNone/>
            </a:pPr>
            <a:r>
              <a:rPr lang="en-US" sz="1000" dirty="0">
                <a:solidFill>
                  <a:srgbClr val="16A34A"/>
                </a:solidFill>
                <a:latin typeface="Calibri" pitchFamily="34" charset="0"/>
                <a:ea typeface="Calibri" pitchFamily="34" charset="-122"/>
                <a:cs typeface="Calibri" pitchFamily="34" charset="-120"/>
              </a:rPr>
              <a:t>True</a:t>
            </a:r>
            <a:endParaRPr lang="en-US" sz="1000" dirty="0"/>
          </a:p>
        </p:txBody>
      </p:sp>
      <p:sp>
        <p:nvSpPr>
          <p:cNvPr id="35" name="Shape 33"/>
          <p:cNvSpPr/>
          <p:nvPr/>
        </p:nvSpPr>
        <p:spPr>
          <a:xfrm>
            <a:off x="8549640" y="2395728"/>
            <a:ext cx="822960" cy="475488"/>
          </a:xfrm>
          <a:prstGeom prst="rect">
            <a:avLst/>
          </a:prstGeom>
          <a:solidFill>
            <a:srgbClr val="FFFFFF"/>
          </a:solidFill>
          <a:ln w="12700">
            <a:solidFill>
              <a:srgbClr val="E2E8F0"/>
            </a:solidFill>
            <a:prstDash val="solid"/>
          </a:ln>
        </p:spPr>
      </p:sp>
      <p:sp>
        <p:nvSpPr>
          <p:cNvPr id="36" name="Text 34"/>
          <p:cNvSpPr/>
          <p:nvPr/>
        </p:nvSpPr>
        <p:spPr>
          <a:xfrm>
            <a:off x="8586216" y="2505456"/>
            <a:ext cx="749808" cy="256032"/>
          </a:xfrm>
          <a:prstGeom prst="rect">
            <a:avLst/>
          </a:prstGeom>
          <a:noFill/>
          <a:ln/>
        </p:spPr>
        <p:txBody>
          <a:bodyPr wrap="square" lIns="0" tIns="0" rIns="0" bIns="0" rtlCol="0" anchor="ctr"/>
          <a:lstStyle/>
          <a:p>
            <a:pPr algn="ctr" indent="0" marL="0">
              <a:buNone/>
            </a:pPr>
            <a:r>
              <a:rPr lang="en-US" sz="1000" dirty="0">
                <a:solidFill>
                  <a:srgbClr val="E11D48"/>
                </a:solidFill>
                <a:latin typeface="Calibri" pitchFamily="34" charset="0"/>
                <a:ea typeface="Calibri" pitchFamily="34" charset="-122"/>
                <a:cs typeface="Calibri" pitchFamily="34" charset="-120"/>
              </a:rPr>
              <a:t>False</a:t>
            </a:r>
            <a:endParaRPr lang="en-US" sz="1000" dirty="0"/>
          </a:p>
        </p:txBody>
      </p:sp>
      <p:sp>
        <p:nvSpPr>
          <p:cNvPr id="37" name="Shape 35"/>
          <p:cNvSpPr/>
          <p:nvPr/>
        </p:nvSpPr>
        <p:spPr>
          <a:xfrm>
            <a:off x="9372600" y="2395728"/>
            <a:ext cx="914400" cy="475488"/>
          </a:xfrm>
          <a:prstGeom prst="rect">
            <a:avLst/>
          </a:prstGeom>
          <a:solidFill>
            <a:srgbClr val="FFFFFF"/>
          </a:solidFill>
          <a:ln w="12700">
            <a:solidFill>
              <a:srgbClr val="E2E8F0"/>
            </a:solidFill>
            <a:prstDash val="solid"/>
          </a:ln>
        </p:spPr>
      </p:sp>
      <p:sp>
        <p:nvSpPr>
          <p:cNvPr id="38" name="Text 36"/>
          <p:cNvSpPr/>
          <p:nvPr/>
        </p:nvSpPr>
        <p:spPr>
          <a:xfrm>
            <a:off x="9409176" y="2505456"/>
            <a:ext cx="841248" cy="256032"/>
          </a:xfrm>
          <a:prstGeom prst="rect">
            <a:avLst/>
          </a:prstGeom>
          <a:noFill/>
          <a:ln/>
        </p:spPr>
        <p:txBody>
          <a:bodyPr wrap="square" lIns="0" tIns="0" rIns="0" bIns="0" rtlCol="0" anchor="ctr"/>
          <a:lstStyle/>
          <a:p>
            <a:pPr algn="ctr" indent="0" marL="0">
              <a:buNone/>
            </a:pPr>
            <a:r>
              <a:rPr lang="en-US" sz="1000" dirty="0">
                <a:solidFill>
                  <a:srgbClr val="E11D48"/>
                </a:solidFill>
                <a:latin typeface="Calibri" pitchFamily="34" charset="0"/>
                <a:ea typeface="Calibri" pitchFamily="34" charset="-122"/>
                <a:cs typeface="Calibri" pitchFamily="34" charset="-120"/>
              </a:rPr>
              <a:t>False</a:t>
            </a:r>
            <a:endParaRPr lang="en-US" sz="1000" dirty="0"/>
          </a:p>
        </p:txBody>
      </p:sp>
      <p:sp>
        <p:nvSpPr>
          <p:cNvPr id="39" name="Shape 37"/>
          <p:cNvSpPr/>
          <p:nvPr/>
        </p:nvSpPr>
        <p:spPr>
          <a:xfrm>
            <a:off x="10287000" y="2395728"/>
            <a:ext cx="914400" cy="475488"/>
          </a:xfrm>
          <a:prstGeom prst="rect">
            <a:avLst/>
          </a:prstGeom>
          <a:solidFill>
            <a:srgbClr val="FFFFFF"/>
          </a:solidFill>
          <a:ln w="12700">
            <a:solidFill>
              <a:srgbClr val="E2E8F0"/>
            </a:solidFill>
            <a:prstDash val="solid"/>
          </a:ln>
        </p:spPr>
      </p:sp>
      <p:sp>
        <p:nvSpPr>
          <p:cNvPr id="40" name="Text 38"/>
          <p:cNvSpPr/>
          <p:nvPr/>
        </p:nvSpPr>
        <p:spPr>
          <a:xfrm>
            <a:off x="10323576" y="2505456"/>
            <a:ext cx="841248" cy="256032"/>
          </a:xfrm>
          <a:prstGeom prst="rect">
            <a:avLst/>
          </a:prstGeom>
          <a:noFill/>
          <a:ln/>
        </p:spPr>
        <p:txBody>
          <a:bodyPr wrap="square" lIns="0" tIns="0" rIns="0" bIns="0" rtlCol="0" anchor="ctr"/>
          <a:lstStyle/>
          <a:p>
            <a:pPr algn="ctr" indent="0" marL="0">
              <a:buNone/>
            </a:pPr>
            <a:r>
              <a:rPr lang="en-US" sz="1000" dirty="0">
                <a:solidFill>
                  <a:srgbClr val="16A34A"/>
                </a:solidFill>
                <a:latin typeface="Calibri" pitchFamily="34" charset="0"/>
                <a:ea typeface="Calibri" pitchFamily="34" charset="-122"/>
                <a:cs typeface="Calibri" pitchFamily="34" charset="-120"/>
              </a:rPr>
              <a:t>True</a:t>
            </a:r>
            <a:endParaRPr lang="en-US" sz="1000" dirty="0"/>
          </a:p>
        </p:txBody>
      </p:sp>
      <p:sp>
        <p:nvSpPr>
          <p:cNvPr id="41" name="Shape 39"/>
          <p:cNvSpPr/>
          <p:nvPr/>
        </p:nvSpPr>
        <p:spPr>
          <a:xfrm>
            <a:off x="11201400" y="2395728"/>
            <a:ext cx="914400" cy="475488"/>
          </a:xfrm>
          <a:prstGeom prst="rect">
            <a:avLst/>
          </a:prstGeom>
          <a:solidFill>
            <a:srgbClr val="FFFFFF"/>
          </a:solidFill>
          <a:ln w="12700">
            <a:solidFill>
              <a:srgbClr val="E2E8F0"/>
            </a:solidFill>
            <a:prstDash val="solid"/>
          </a:ln>
        </p:spPr>
      </p:sp>
      <p:sp>
        <p:nvSpPr>
          <p:cNvPr id="42" name="Text 40"/>
          <p:cNvSpPr/>
          <p:nvPr/>
        </p:nvSpPr>
        <p:spPr>
          <a:xfrm>
            <a:off x="11237976" y="2505456"/>
            <a:ext cx="841248" cy="256032"/>
          </a:xfrm>
          <a:prstGeom prst="rect">
            <a:avLst/>
          </a:prstGeom>
          <a:noFill/>
          <a:ln/>
        </p:spPr>
        <p:txBody>
          <a:bodyPr wrap="square" lIns="0" tIns="0" rIns="0" bIns="0" rtlCol="0" anchor="ctr"/>
          <a:lstStyle/>
          <a:p>
            <a:pPr algn="ctr" indent="0" marL="0">
              <a:buNone/>
            </a:pPr>
            <a:r>
              <a:rPr lang="en-US" sz="1000" dirty="0">
                <a:solidFill>
                  <a:srgbClr val="E11D48"/>
                </a:solidFill>
                <a:latin typeface="Calibri" pitchFamily="34" charset="0"/>
                <a:ea typeface="Calibri" pitchFamily="34" charset="-122"/>
                <a:cs typeface="Calibri" pitchFamily="34" charset="-120"/>
              </a:rPr>
              <a:t>False</a:t>
            </a:r>
            <a:endParaRPr lang="en-US" sz="1000" dirty="0"/>
          </a:p>
        </p:txBody>
      </p:sp>
      <p:sp>
        <p:nvSpPr>
          <p:cNvPr id="43" name="Shape 41"/>
          <p:cNvSpPr/>
          <p:nvPr/>
        </p:nvSpPr>
        <p:spPr>
          <a:xfrm>
            <a:off x="7726680" y="2871216"/>
            <a:ext cx="822960" cy="475488"/>
          </a:xfrm>
          <a:prstGeom prst="rect">
            <a:avLst/>
          </a:prstGeom>
          <a:solidFill>
            <a:srgbClr val="F1F5F9"/>
          </a:solidFill>
          <a:ln w="12700">
            <a:solidFill>
              <a:srgbClr val="E2E8F0"/>
            </a:solidFill>
            <a:prstDash val="solid"/>
          </a:ln>
        </p:spPr>
      </p:sp>
      <p:sp>
        <p:nvSpPr>
          <p:cNvPr id="44" name="Text 42"/>
          <p:cNvSpPr/>
          <p:nvPr/>
        </p:nvSpPr>
        <p:spPr>
          <a:xfrm>
            <a:off x="7763256" y="2980944"/>
            <a:ext cx="749808" cy="256032"/>
          </a:xfrm>
          <a:prstGeom prst="rect">
            <a:avLst/>
          </a:prstGeom>
          <a:noFill/>
          <a:ln/>
        </p:spPr>
        <p:txBody>
          <a:bodyPr wrap="square" lIns="0" tIns="0" rIns="0" bIns="0" rtlCol="0" anchor="ctr"/>
          <a:lstStyle/>
          <a:p>
            <a:pPr algn="ctr" indent="0" marL="0">
              <a:buNone/>
            </a:pPr>
            <a:r>
              <a:rPr lang="en-US" sz="1000" dirty="0">
                <a:solidFill>
                  <a:srgbClr val="E11D48"/>
                </a:solidFill>
                <a:latin typeface="Calibri" pitchFamily="34" charset="0"/>
                <a:ea typeface="Calibri" pitchFamily="34" charset="-122"/>
                <a:cs typeface="Calibri" pitchFamily="34" charset="-120"/>
              </a:rPr>
              <a:t>False</a:t>
            </a:r>
            <a:endParaRPr lang="en-US" sz="1000" dirty="0"/>
          </a:p>
        </p:txBody>
      </p:sp>
      <p:sp>
        <p:nvSpPr>
          <p:cNvPr id="45" name="Shape 43"/>
          <p:cNvSpPr/>
          <p:nvPr/>
        </p:nvSpPr>
        <p:spPr>
          <a:xfrm>
            <a:off x="8549640" y="2871216"/>
            <a:ext cx="822960" cy="475488"/>
          </a:xfrm>
          <a:prstGeom prst="rect">
            <a:avLst/>
          </a:prstGeom>
          <a:solidFill>
            <a:srgbClr val="F1F5F9"/>
          </a:solidFill>
          <a:ln w="12700">
            <a:solidFill>
              <a:srgbClr val="E2E8F0"/>
            </a:solidFill>
            <a:prstDash val="solid"/>
          </a:ln>
        </p:spPr>
      </p:sp>
      <p:sp>
        <p:nvSpPr>
          <p:cNvPr id="46" name="Text 44"/>
          <p:cNvSpPr/>
          <p:nvPr/>
        </p:nvSpPr>
        <p:spPr>
          <a:xfrm>
            <a:off x="8586216" y="2980944"/>
            <a:ext cx="749808" cy="256032"/>
          </a:xfrm>
          <a:prstGeom prst="rect">
            <a:avLst/>
          </a:prstGeom>
          <a:noFill/>
          <a:ln/>
        </p:spPr>
        <p:txBody>
          <a:bodyPr wrap="square" lIns="0" tIns="0" rIns="0" bIns="0" rtlCol="0" anchor="ctr"/>
          <a:lstStyle/>
          <a:p>
            <a:pPr algn="ctr" indent="0" marL="0">
              <a:buNone/>
            </a:pPr>
            <a:r>
              <a:rPr lang="en-US" sz="1000" dirty="0">
                <a:solidFill>
                  <a:srgbClr val="16A34A"/>
                </a:solidFill>
                <a:latin typeface="Calibri" pitchFamily="34" charset="0"/>
                <a:ea typeface="Calibri" pitchFamily="34" charset="-122"/>
                <a:cs typeface="Calibri" pitchFamily="34" charset="-120"/>
              </a:rPr>
              <a:t>True</a:t>
            </a:r>
            <a:endParaRPr lang="en-US" sz="1000" dirty="0"/>
          </a:p>
        </p:txBody>
      </p:sp>
      <p:sp>
        <p:nvSpPr>
          <p:cNvPr id="47" name="Shape 45"/>
          <p:cNvSpPr/>
          <p:nvPr/>
        </p:nvSpPr>
        <p:spPr>
          <a:xfrm>
            <a:off x="9372600" y="2871216"/>
            <a:ext cx="914400" cy="475488"/>
          </a:xfrm>
          <a:prstGeom prst="rect">
            <a:avLst/>
          </a:prstGeom>
          <a:solidFill>
            <a:srgbClr val="F1F5F9"/>
          </a:solidFill>
          <a:ln w="12700">
            <a:solidFill>
              <a:srgbClr val="E2E8F0"/>
            </a:solidFill>
            <a:prstDash val="solid"/>
          </a:ln>
        </p:spPr>
      </p:sp>
      <p:sp>
        <p:nvSpPr>
          <p:cNvPr id="48" name="Text 46"/>
          <p:cNvSpPr/>
          <p:nvPr/>
        </p:nvSpPr>
        <p:spPr>
          <a:xfrm>
            <a:off x="9409176" y="2980944"/>
            <a:ext cx="841248" cy="256032"/>
          </a:xfrm>
          <a:prstGeom prst="rect">
            <a:avLst/>
          </a:prstGeom>
          <a:noFill/>
          <a:ln/>
        </p:spPr>
        <p:txBody>
          <a:bodyPr wrap="square" lIns="0" tIns="0" rIns="0" bIns="0" rtlCol="0" anchor="ctr"/>
          <a:lstStyle/>
          <a:p>
            <a:pPr algn="ctr" indent="0" marL="0">
              <a:buNone/>
            </a:pPr>
            <a:r>
              <a:rPr lang="en-US" sz="1000" dirty="0">
                <a:solidFill>
                  <a:srgbClr val="E11D48"/>
                </a:solidFill>
                <a:latin typeface="Calibri" pitchFamily="34" charset="0"/>
                <a:ea typeface="Calibri" pitchFamily="34" charset="-122"/>
                <a:cs typeface="Calibri" pitchFamily="34" charset="-120"/>
              </a:rPr>
              <a:t>False</a:t>
            </a:r>
            <a:endParaRPr lang="en-US" sz="1000" dirty="0"/>
          </a:p>
        </p:txBody>
      </p:sp>
      <p:sp>
        <p:nvSpPr>
          <p:cNvPr id="49" name="Shape 47"/>
          <p:cNvSpPr/>
          <p:nvPr/>
        </p:nvSpPr>
        <p:spPr>
          <a:xfrm>
            <a:off x="10287000" y="2871216"/>
            <a:ext cx="914400" cy="475488"/>
          </a:xfrm>
          <a:prstGeom prst="rect">
            <a:avLst/>
          </a:prstGeom>
          <a:solidFill>
            <a:srgbClr val="F1F5F9"/>
          </a:solidFill>
          <a:ln w="12700">
            <a:solidFill>
              <a:srgbClr val="E2E8F0"/>
            </a:solidFill>
            <a:prstDash val="solid"/>
          </a:ln>
        </p:spPr>
      </p:sp>
      <p:sp>
        <p:nvSpPr>
          <p:cNvPr id="50" name="Text 48"/>
          <p:cNvSpPr/>
          <p:nvPr/>
        </p:nvSpPr>
        <p:spPr>
          <a:xfrm>
            <a:off x="10323576" y="2980944"/>
            <a:ext cx="841248" cy="256032"/>
          </a:xfrm>
          <a:prstGeom prst="rect">
            <a:avLst/>
          </a:prstGeom>
          <a:noFill/>
          <a:ln/>
        </p:spPr>
        <p:txBody>
          <a:bodyPr wrap="square" lIns="0" tIns="0" rIns="0" bIns="0" rtlCol="0" anchor="ctr"/>
          <a:lstStyle/>
          <a:p>
            <a:pPr algn="ctr" indent="0" marL="0">
              <a:buNone/>
            </a:pPr>
            <a:r>
              <a:rPr lang="en-US" sz="1000" dirty="0">
                <a:solidFill>
                  <a:srgbClr val="16A34A"/>
                </a:solidFill>
                <a:latin typeface="Calibri" pitchFamily="34" charset="0"/>
                <a:ea typeface="Calibri" pitchFamily="34" charset="-122"/>
                <a:cs typeface="Calibri" pitchFamily="34" charset="-120"/>
              </a:rPr>
              <a:t>True</a:t>
            </a:r>
            <a:endParaRPr lang="en-US" sz="1000" dirty="0"/>
          </a:p>
        </p:txBody>
      </p:sp>
      <p:sp>
        <p:nvSpPr>
          <p:cNvPr id="51" name="Shape 49"/>
          <p:cNvSpPr/>
          <p:nvPr/>
        </p:nvSpPr>
        <p:spPr>
          <a:xfrm>
            <a:off x="11201400" y="2871216"/>
            <a:ext cx="914400" cy="475488"/>
          </a:xfrm>
          <a:prstGeom prst="rect">
            <a:avLst/>
          </a:prstGeom>
          <a:solidFill>
            <a:srgbClr val="F1F5F9"/>
          </a:solidFill>
          <a:ln w="12700">
            <a:solidFill>
              <a:srgbClr val="E2E8F0"/>
            </a:solidFill>
            <a:prstDash val="solid"/>
          </a:ln>
        </p:spPr>
      </p:sp>
      <p:sp>
        <p:nvSpPr>
          <p:cNvPr id="52" name="Text 50"/>
          <p:cNvSpPr/>
          <p:nvPr/>
        </p:nvSpPr>
        <p:spPr>
          <a:xfrm>
            <a:off x="11237976" y="2980944"/>
            <a:ext cx="841248" cy="256032"/>
          </a:xfrm>
          <a:prstGeom prst="rect">
            <a:avLst/>
          </a:prstGeom>
          <a:noFill/>
          <a:ln/>
        </p:spPr>
        <p:txBody>
          <a:bodyPr wrap="square" lIns="0" tIns="0" rIns="0" bIns="0" rtlCol="0" anchor="ctr"/>
          <a:lstStyle/>
          <a:p>
            <a:pPr algn="ctr" indent="0" marL="0">
              <a:buNone/>
            </a:pPr>
            <a:r>
              <a:rPr lang="en-US" sz="1000" dirty="0">
                <a:solidFill>
                  <a:srgbClr val="16A34A"/>
                </a:solidFill>
                <a:latin typeface="Calibri" pitchFamily="34" charset="0"/>
                <a:ea typeface="Calibri" pitchFamily="34" charset="-122"/>
                <a:cs typeface="Calibri" pitchFamily="34" charset="-120"/>
              </a:rPr>
              <a:t>True</a:t>
            </a:r>
            <a:endParaRPr lang="en-US" sz="1000" dirty="0"/>
          </a:p>
        </p:txBody>
      </p:sp>
      <p:sp>
        <p:nvSpPr>
          <p:cNvPr id="53" name="Shape 51"/>
          <p:cNvSpPr/>
          <p:nvPr/>
        </p:nvSpPr>
        <p:spPr>
          <a:xfrm>
            <a:off x="7726680" y="3346704"/>
            <a:ext cx="822960" cy="475488"/>
          </a:xfrm>
          <a:prstGeom prst="rect">
            <a:avLst/>
          </a:prstGeom>
          <a:solidFill>
            <a:srgbClr val="FFFFFF"/>
          </a:solidFill>
          <a:ln w="12700">
            <a:solidFill>
              <a:srgbClr val="E2E8F0"/>
            </a:solidFill>
            <a:prstDash val="solid"/>
          </a:ln>
        </p:spPr>
      </p:sp>
      <p:sp>
        <p:nvSpPr>
          <p:cNvPr id="54" name="Text 52"/>
          <p:cNvSpPr/>
          <p:nvPr/>
        </p:nvSpPr>
        <p:spPr>
          <a:xfrm>
            <a:off x="7763256" y="3456432"/>
            <a:ext cx="749808" cy="256032"/>
          </a:xfrm>
          <a:prstGeom prst="rect">
            <a:avLst/>
          </a:prstGeom>
          <a:noFill/>
          <a:ln/>
        </p:spPr>
        <p:txBody>
          <a:bodyPr wrap="square" lIns="0" tIns="0" rIns="0" bIns="0" rtlCol="0" anchor="ctr"/>
          <a:lstStyle/>
          <a:p>
            <a:pPr algn="ctr" indent="0" marL="0">
              <a:buNone/>
            </a:pPr>
            <a:r>
              <a:rPr lang="en-US" sz="1000" dirty="0">
                <a:solidFill>
                  <a:srgbClr val="E11D48"/>
                </a:solidFill>
                <a:latin typeface="Calibri" pitchFamily="34" charset="0"/>
                <a:ea typeface="Calibri" pitchFamily="34" charset="-122"/>
                <a:cs typeface="Calibri" pitchFamily="34" charset="-120"/>
              </a:rPr>
              <a:t>False</a:t>
            </a:r>
            <a:endParaRPr lang="en-US" sz="1000" dirty="0"/>
          </a:p>
        </p:txBody>
      </p:sp>
      <p:sp>
        <p:nvSpPr>
          <p:cNvPr id="55" name="Shape 53"/>
          <p:cNvSpPr/>
          <p:nvPr/>
        </p:nvSpPr>
        <p:spPr>
          <a:xfrm>
            <a:off x="8549640" y="3346704"/>
            <a:ext cx="822960" cy="475488"/>
          </a:xfrm>
          <a:prstGeom prst="rect">
            <a:avLst/>
          </a:prstGeom>
          <a:solidFill>
            <a:srgbClr val="FFFFFF"/>
          </a:solidFill>
          <a:ln w="12700">
            <a:solidFill>
              <a:srgbClr val="E2E8F0"/>
            </a:solidFill>
            <a:prstDash val="solid"/>
          </a:ln>
        </p:spPr>
      </p:sp>
      <p:sp>
        <p:nvSpPr>
          <p:cNvPr id="56" name="Text 54"/>
          <p:cNvSpPr/>
          <p:nvPr/>
        </p:nvSpPr>
        <p:spPr>
          <a:xfrm>
            <a:off x="8586216" y="3456432"/>
            <a:ext cx="749808" cy="256032"/>
          </a:xfrm>
          <a:prstGeom prst="rect">
            <a:avLst/>
          </a:prstGeom>
          <a:noFill/>
          <a:ln/>
        </p:spPr>
        <p:txBody>
          <a:bodyPr wrap="square" lIns="0" tIns="0" rIns="0" bIns="0" rtlCol="0" anchor="ctr"/>
          <a:lstStyle/>
          <a:p>
            <a:pPr algn="ctr" indent="0" marL="0">
              <a:buNone/>
            </a:pPr>
            <a:r>
              <a:rPr lang="en-US" sz="1000" dirty="0">
                <a:solidFill>
                  <a:srgbClr val="E11D48"/>
                </a:solidFill>
                <a:latin typeface="Calibri" pitchFamily="34" charset="0"/>
                <a:ea typeface="Calibri" pitchFamily="34" charset="-122"/>
                <a:cs typeface="Calibri" pitchFamily="34" charset="-120"/>
              </a:rPr>
              <a:t>False</a:t>
            </a:r>
            <a:endParaRPr lang="en-US" sz="1000" dirty="0"/>
          </a:p>
        </p:txBody>
      </p:sp>
      <p:sp>
        <p:nvSpPr>
          <p:cNvPr id="57" name="Shape 55"/>
          <p:cNvSpPr/>
          <p:nvPr/>
        </p:nvSpPr>
        <p:spPr>
          <a:xfrm>
            <a:off x="9372600" y="3346704"/>
            <a:ext cx="914400" cy="475488"/>
          </a:xfrm>
          <a:prstGeom prst="rect">
            <a:avLst/>
          </a:prstGeom>
          <a:solidFill>
            <a:srgbClr val="FFFFFF"/>
          </a:solidFill>
          <a:ln w="12700">
            <a:solidFill>
              <a:srgbClr val="E2E8F0"/>
            </a:solidFill>
            <a:prstDash val="solid"/>
          </a:ln>
        </p:spPr>
      </p:sp>
      <p:sp>
        <p:nvSpPr>
          <p:cNvPr id="58" name="Text 56"/>
          <p:cNvSpPr/>
          <p:nvPr/>
        </p:nvSpPr>
        <p:spPr>
          <a:xfrm>
            <a:off x="9409176" y="3456432"/>
            <a:ext cx="841248" cy="256032"/>
          </a:xfrm>
          <a:prstGeom prst="rect">
            <a:avLst/>
          </a:prstGeom>
          <a:noFill/>
          <a:ln/>
        </p:spPr>
        <p:txBody>
          <a:bodyPr wrap="square" lIns="0" tIns="0" rIns="0" bIns="0" rtlCol="0" anchor="ctr"/>
          <a:lstStyle/>
          <a:p>
            <a:pPr algn="ctr" indent="0" marL="0">
              <a:buNone/>
            </a:pPr>
            <a:r>
              <a:rPr lang="en-US" sz="1000" dirty="0">
                <a:solidFill>
                  <a:srgbClr val="E11D48"/>
                </a:solidFill>
                <a:latin typeface="Calibri" pitchFamily="34" charset="0"/>
                <a:ea typeface="Calibri" pitchFamily="34" charset="-122"/>
                <a:cs typeface="Calibri" pitchFamily="34" charset="-120"/>
              </a:rPr>
              <a:t>False</a:t>
            </a:r>
            <a:endParaRPr lang="en-US" sz="1000" dirty="0"/>
          </a:p>
        </p:txBody>
      </p:sp>
      <p:sp>
        <p:nvSpPr>
          <p:cNvPr id="59" name="Shape 57"/>
          <p:cNvSpPr/>
          <p:nvPr/>
        </p:nvSpPr>
        <p:spPr>
          <a:xfrm>
            <a:off x="10287000" y="3346704"/>
            <a:ext cx="914400" cy="475488"/>
          </a:xfrm>
          <a:prstGeom prst="rect">
            <a:avLst/>
          </a:prstGeom>
          <a:solidFill>
            <a:srgbClr val="FFFFFF"/>
          </a:solidFill>
          <a:ln w="12700">
            <a:solidFill>
              <a:srgbClr val="E2E8F0"/>
            </a:solidFill>
            <a:prstDash val="solid"/>
          </a:ln>
        </p:spPr>
      </p:sp>
      <p:sp>
        <p:nvSpPr>
          <p:cNvPr id="60" name="Text 58"/>
          <p:cNvSpPr/>
          <p:nvPr/>
        </p:nvSpPr>
        <p:spPr>
          <a:xfrm>
            <a:off x="10323576" y="3456432"/>
            <a:ext cx="841248" cy="256032"/>
          </a:xfrm>
          <a:prstGeom prst="rect">
            <a:avLst/>
          </a:prstGeom>
          <a:noFill/>
          <a:ln/>
        </p:spPr>
        <p:txBody>
          <a:bodyPr wrap="square" lIns="0" tIns="0" rIns="0" bIns="0" rtlCol="0" anchor="ctr"/>
          <a:lstStyle/>
          <a:p>
            <a:pPr algn="ctr" indent="0" marL="0">
              <a:buNone/>
            </a:pPr>
            <a:r>
              <a:rPr lang="en-US" sz="1000" dirty="0">
                <a:solidFill>
                  <a:srgbClr val="E11D48"/>
                </a:solidFill>
                <a:latin typeface="Calibri" pitchFamily="34" charset="0"/>
                <a:ea typeface="Calibri" pitchFamily="34" charset="-122"/>
                <a:cs typeface="Calibri" pitchFamily="34" charset="-120"/>
              </a:rPr>
              <a:t>False</a:t>
            </a:r>
            <a:endParaRPr lang="en-US" sz="1000" dirty="0"/>
          </a:p>
        </p:txBody>
      </p:sp>
      <p:sp>
        <p:nvSpPr>
          <p:cNvPr id="61" name="Shape 59"/>
          <p:cNvSpPr/>
          <p:nvPr/>
        </p:nvSpPr>
        <p:spPr>
          <a:xfrm>
            <a:off x="11201400" y="3346704"/>
            <a:ext cx="914400" cy="475488"/>
          </a:xfrm>
          <a:prstGeom prst="rect">
            <a:avLst/>
          </a:prstGeom>
          <a:solidFill>
            <a:srgbClr val="FFFFFF"/>
          </a:solidFill>
          <a:ln w="12700">
            <a:solidFill>
              <a:srgbClr val="E2E8F0"/>
            </a:solidFill>
            <a:prstDash val="solid"/>
          </a:ln>
        </p:spPr>
      </p:sp>
      <p:sp>
        <p:nvSpPr>
          <p:cNvPr id="62" name="Text 60"/>
          <p:cNvSpPr/>
          <p:nvPr/>
        </p:nvSpPr>
        <p:spPr>
          <a:xfrm>
            <a:off x="11237976" y="3456432"/>
            <a:ext cx="841248" cy="256032"/>
          </a:xfrm>
          <a:prstGeom prst="rect">
            <a:avLst/>
          </a:prstGeom>
          <a:noFill/>
          <a:ln/>
        </p:spPr>
        <p:txBody>
          <a:bodyPr wrap="square" lIns="0" tIns="0" rIns="0" bIns="0" rtlCol="0" anchor="ctr"/>
          <a:lstStyle/>
          <a:p>
            <a:pPr algn="ctr" indent="0" marL="0">
              <a:buNone/>
            </a:pPr>
            <a:r>
              <a:rPr lang="en-US" sz="1000" dirty="0">
                <a:solidFill>
                  <a:srgbClr val="16A34A"/>
                </a:solidFill>
                <a:latin typeface="Calibri" pitchFamily="34" charset="0"/>
                <a:ea typeface="Calibri" pitchFamily="34" charset="-122"/>
                <a:cs typeface="Calibri" pitchFamily="34" charset="-120"/>
              </a:rPr>
              <a:t>True</a:t>
            </a:r>
            <a:endParaRPr lang="en-US" sz="1000" dirty="0"/>
          </a:p>
        </p:txBody>
      </p:sp>
      <p:sp>
        <p:nvSpPr>
          <p:cNvPr id="63" name="Shape 61"/>
          <p:cNvSpPr/>
          <p:nvPr/>
        </p:nvSpPr>
        <p:spPr>
          <a:xfrm>
            <a:off x="7726680" y="3913632"/>
            <a:ext cx="4251960" cy="1143000"/>
          </a:xfrm>
          <a:prstGeom prst="roundRect">
            <a:avLst>
              <a:gd name="adj" fmla="val 8000"/>
            </a:avLst>
          </a:prstGeom>
          <a:solidFill>
            <a:srgbClr val="FFFFFF"/>
          </a:solidFill>
          <a:ln w="13970">
            <a:solidFill>
              <a:srgbClr val="E11D48"/>
            </a:solidFill>
            <a:prstDash val="solid"/>
          </a:ln>
          <a:effectLst>
            <a:outerShdw sx="100000" sy="100000" kx="0" ky="0" algn="bl" rotWithShape="0" blurRad="63500" dist="25400" dir="2700000">
              <a:srgbClr val="000000">
                <a:alpha val="12000"/>
              </a:srgbClr>
            </a:outerShdw>
          </a:effectLst>
        </p:spPr>
      </p:sp>
      <p:sp>
        <p:nvSpPr>
          <p:cNvPr id="64" name="Text 62"/>
          <p:cNvSpPr/>
          <p:nvPr/>
        </p:nvSpPr>
        <p:spPr>
          <a:xfrm>
            <a:off x="7872984" y="4023360"/>
            <a:ext cx="3959352" cy="274320"/>
          </a:xfrm>
          <a:prstGeom prst="rect">
            <a:avLst/>
          </a:prstGeom>
          <a:noFill/>
          <a:ln/>
        </p:spPr>
        <p:txBody>
          <a:bodyPr wrap="square" lIns="0" tIns="0" rIns="0" bIns="0" rtlCol="0" anchor="ctr"/>
          <a:lstStyle/>
          <a:p>
            <a:pPr indent="0" marL="0">
              <a:buNone/>
            </a:pPr>
            <a:r>
              <a:rPr lang="en-US" sz="1100" b="1" dirty="0">
                <a:solidFill>
                  <a:srgbClr val="E11D48"/>
                </a:solidFill>
                <a:latin typeface="Cambria" pitchFamily="34" charset="0"/>
                <a:ea typeface="Cambria" pitchFamily="34" charset="-122"/>
                <a:cs typeface="Cambria" pitchFamily="34" charset="-120"/>
              </a:rPr>
              <a:t>Fraud detection pattern</a:t>
            </a:r>
            <a:endParaRPr lang="en-US" sz="1100" dirty="0"/>
          </a:p>
        </p:txBody>
      </p:sp>
      <p:sp>
        <p:nvSpPr>
          <p:cNvPr id="65" name="Text 63"/>
          <p:cNvSpPr/>
          <p:nvPr/>
        </p:nvSpPr>
        <p:spPr>
          <a:xfrm>
            <a:off x="7872984" y="4334256"/>
            <a:ext cx="3959352" cy="57607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Combining amount threshold with a foreign transaction flag is exactly how many Nigerian fintech companies implement their first fraud rules.</a:t>
            </a:r>
            <a:endParaRPr lang="en-US" sz="1000" dirty="0"/>
          </a:p>
        </p:txBody>
      </p:sp>
      <p:sp>
        <p:nvSpPr>
          <p:cNvPr id="66" name="Shape 64"/>
          <p:cNvSpPr/>
          <p:nvPr/>
        </p:nvSpPr>
        <p:spPr>
          <a:xfrm>
            <a:off x="7726680" y="5138928"/>
            <a:ext cx="4251960" cy="1143000"/>
          </a:xfrm>
          <a:prstGeom prst="roundRect">
            <a:avLst>
              <a:gd name="adj" fmla="val 8000"/>
            </a:avLst>
          </a:prstGeom>
          <a:solidFill>
            <a:srgbClr val="FFFFFF"/>
          </a:solidFill>
          <a:ln w="13970">
            <a:solidFill>
              <a:srgbClr val="2563EB"/>
            </a:solidFill>
            <a:prstDash val="solid"/>
          </a:ln>
          <a:effectLst>
            <a:outerShdw sx="100000" sy="100000" kx="0" ky="0" algn="bl" rotWithShape="0" blurRad="63500" dist="25400" dir="2700000">
              <a:srgbClr val="000000">
                <a:alpha val="12000"/>
              </a:srgbClr>
            </a:outerShdw>
          </a:effectLst>
        </p:spPr>
      </p:sp>
      <p:sp>
        <p:nvSpPr>
          <p:cNvPr id="67" name="Text 65"/>
          <p:cNvSpPr/>
          <p:nvPr/>
        </p:nvSpPr>
        <p:spPr>
          <a:xfrm>
            <a:off x="7872984" y="5248656"/>
            <a:ext cx="3959352" cy="274320"/>
          </a:xfrm>
          <a:prstGeom prst="rect">
            <a:avLst/>
          </a:prstGeom>
          <a:noFill/>
          <a:ln/>
        </p:spPr>
        <p:txBody>
          <a:bodyPr wrap="square" lIns="0" tIns="0" rIns="0" bIns="0" rtlCol="0" anchor="ctr"/>
          <a:lstStyle/>
          <a:p>
            <a:pPr indent="0" marL="0">
              <a:buNone/>
            </a:pPr>
            <a:r>
              <a:rPr lang="en-US" sz="1100" b="1" dirty="0">
                <a:solidFill>
                  <a:srgbClr val="2563EB"/>
                </a:solidFill>
                <a:latin typeface="Cambria" pitchFamily="34" charset="0"/>
                <a:ea typeface="Cambria" pitchFamily="34" charset="-122"/>
                <a:cs typeface="Cambria" pitchFamily="34" charset="-120"/>
              </a:rPr>
              <a:t>Membership check beats 'or' chains</a:t>
            </a:r>
            <a:endParaRPr lang="en-US" sz="1100" dirty="0"/>
          </a:p>
        </p:txBody>
      </p:sp>
      <p:sp>
        <p:nvSpPr>
          <p:cNvPr id="68" name="Text 66"/>
          <p:cNvSpPr/>
          <p:nvPr/>
        </p:nvSpPr>
        <p:spPr>
          <a:xfrm>
            <a:off x="7872984" y="5559552"/>
            <a:ext cx="3959352" cy="57607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'Lagos' in allowed_regions is cleaner than region=='Lagos' or region=='Kano'. Easier to maintain — just update the list.</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E3C"/>
          </a:solidFill>
          <a:ln w="12700">
            <a:solidFill>
              <a:srgbClr val="0F1E3C"/>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CONDITIONALS IN BUSINESS — REAL APPLICATIONS</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11338560" cy="557784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526"/>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7C3AED"/>
          </a:solidFill>
          <a:ln w="12700">
            <a:solidFill>
              <a:srgbClr val="7C3AED"/>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SECTION 05 CHALLENGE — CONDITIONALS</a:t>
            </a:r>
            <a:endParaRPr lang="en-US" sz="2600" dirty="0"/>
          </a:p>
        </p:txBody>
      </p:sp>
      <p:sp>
        <p:nvSpPr>
          <p:cNvPr id="4" name="Shape 2"/>
          <p:cNvSpPr/>
          <p:nvPr/>
        </p:nvSpPr>
        <p:spPr>
          <a:xfrm>
            <a:off x="411480" y="1097280"/>
            <a:ext cx="5577840" cy="3383280"/>
          </a:xfrm>
          <a:prstGeom prst="roundRect">
            <a:avLst>
              <a:gd name="adj" fmla="val 2703"/>
            </a:avLst>
          </a:prstGeom>
          <a:solidFill>
            <a:srgbClr val="1A2540"/>
          </a:solidFill>
          <a:ln w="17780">
            <a:solidFill>
              <a:srgbClr val="2563EB"/>
            </a:solidFill>
            <a:prstDash val="solid"/>
          </a:ln>
          <a:effectLst>
            <a:outerShdw sx="100000" sy="100000" kx="0" ky="0" algn="bl" rotWithShape="0" blurRad="63500" dist="25400" dir="2700000">
              <a:srgbClr val="000000">
                <a:alpha val="12000"/>
              </a:srgbClr>
            </a:outerShdw>
          </a:effectLst>
        </p:spPr>
      </p:sp>
      <p:sp>
        <p:nvSpPr>
          <p:cNvPr id="5" name="Shape 3"/>
          <p:cNvSpPr/>
          <p:nvPr/>
        </p:nvSpPr>
        <p:spPr>
          <a:xfrm>
            <a:off x="411480" y="1097280"/>
            <a:ext cx="5577840" cy="457200"/>
          </a:xfrm>
          <a:prstGeom prst="roundRect">
            <a:avLst>
              <a:gd name="adj" fmla="val 20000"/>
            </a:avLst>
          </a:prstGeom>
          <a:solidFill>
            <a:srgbClr val="2563EB"/>
          </a:solidFill>
          <a:ln w="12700">
            <a:solidFill>
              <a:srgbClr val="2563EB"/>
            </a:solidFill>
            <a:prstDash val="solid"/>
          </a:ln>
        </p:spPr>
      </p:sp>
      <p:sp>
        <p:nvSpPr>
          <p:cNvPr id="6" name="Shape 4"/>
          <p:cNvSpPr/>
          <p:nvPr/>
        </p:nvSpPr>
        <p:spPr>
          <a:xfrm>
            <a:off x="411480" y="1389888"/>
            <a:ext cx="5577840" cy="164592"/>
          </a:xfrm>
          <a:prstGeom prst="rect">
            <a:avLst/>
          </a:prstGeom>
          <a:solidFill>
            <a:srgbClr val="2563EB"/>
          </a:solidFill>
          <a:ln w="12700">
            <a:solidFill>
              <a:srgbClr val="2563EB"/>
            </a:solidFill>
            <a:prstDash val="solid"/>
          </a:ln>
        </p:spPr>
      </p:sp>
      <p:sp>
        <p:nvSpPr>
          <p:cNvPr id="7" name="Text 5"/>
          <p:cNvSpPr/>
          <p:nvPr/>
        </p:nvSpPr>
        <p:spPr>
          <a:xfrm>
            <a:off x="521208" y="1170432"/>
            <a:ext cx="5358384" cy="292608"/>
          </a:xfrm>
          <a:prstGeom prst="rect">
            <a:avLst/>
          </a:prstGeom>
          <a:noFill/>
          <a:ln/>
        </p:spPr>
        <p:txBody>
          <a:bodyPr wrap="square" lIns="0" tIns="0" rIns="0" bIns="0" rtlCol="0" anchor="ctr"/>
          <a:lstStyle/>
          <a:p>
            <a:pPr indent="0" marL="0">
              <a:buNone/>
            </a:pPr>
            <a:r>
              <a:rPr lang="en-US" sz="1100" b="1" dirty="0">
                <a:solidFill>
                  <a:srgbClr val="080D18"/>
                </a:solidFill>
                <a:latin typeface="Calibri" pitchFamily="34" charset="0"/>
                <a:ea typeface="Calibri" pitchFamily="34" charset="-122"/>
                <a:cs typeface="Calibri" pitchFamily="34" charset="-120"/>
              </a:rPr>
              <a:t>⚡  CHALLENGE</a:t>
            </a:r>
            <a:endParaRPr lang="en-US" sz="1100" dirty="0"/>
          </a:p>
        </p:txBody>
      </p:sp>
      <p:sp>
        <p:nvSpPr>
          <p:cNvPr id="8" name="Text 6"/>
          <p:cNvSpPr/>
          <p:nvPr/>
        </p:nvSpPr>
        <p:spPr>
          <a:xfrm>
            <a:off x="539496" y="1645920"/>
            <a:ext cx="5321808" cy="1389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Q1. Write a grade classifier: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90+ = A, 80-89 = B, 70-79 = C</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60-69 = D, below 60 = F</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Test with score = 77.</a:t>
            </a:r>
            <a:endParaRPr lang="en-US" sz="1100" dirty="0"/>
          </a:p>
        </p:txBody>
      </p:sp>
      <p:sp>
        <p:nvSpPr>
          <p:cNvPr id="9" name="Shape 7"/>
          <p:cNvSpPr/>
          <p:nvPr/>
        </p:nvSpPr>
        <p:spPr>
          <a:xfrm>
            <a:off x="539496" y="3145536"/>
            <a:ext cx="5321808" cy="18288"/>
          </a:xfrm>
          <a:prstGeom prst="rect">
            <a:avLst/>
          </a:prstGeom>
          <a:solidFill>
            <a:srgbClr val="64748B"/>
          </a:solidFill>
          <a:ln w="12700">
            <a:solidFill>
              <a:srgbClr val="64748B"/>
            </a:solidFill>
            <a:prstDash val="solid"/>
          </a:ln>
        </p:spPr>
      </p:sp>
      <p:sp>
        <p:nvSpPr>
          <p:cNvPr id="10" name="Text 8"/>
          <p:cNvSpPr/>
          <p:nvPr/>
        </p:nvSpPr>
        <p:spPr>
          <a:xfrm>
            <a:off x="539496" y="3236976"/>
            <a:ext cx="5321808" cy="256032"/>
          </a:xfrm>
          <a:prstGeom prst="rect">
            <a:avLst/>
          </a:prstGeom>
          <a:noFill/>
          <a:ln/>
        </p:spPr>
        <p:txBody>
          <a:bodyPr wrap="square" lIns="0" tIns="0" rIns="0" bIns="0" rtlCol="0" anchor="ctr"/>
          <a:lstStyle/>
          <a:p>
            <a:pPr indent="0" marL="0">
              <a:buNone/>
            </a:pPr>
            <a:r>
              <a:rPr lang="en-US" sz="1000" b="1" dirty="0">
                <a:solidFill>
                  <a:srgbClr val="2563EB"/>
                </a:solidFill>
                <a:latin typeface="Cambria" pitchFamily="34" charset="0"/>
                <a:ea typeface="Cambria" pitchFamily="34" charset="-122"/>
                <a:cs typeface="Cambria" pitchFamily="34" charset="-120"/>
              </a:rPr>
              <a:t>Answer:</a:t>
            </a:r>
            <a:endParaRPr lang="en-US" sz="1000" dirty="0"/>
          </a:p>
        </p:txBody>
      </p:sp>
      <p:sp>
        <p:nvSpPr>
          <p:cNvPr id="11" name="Text 9"/>
          <p:cNvSpPr/>
          <p:nvPr/>
        </p:nvSpPr>
        <p:spPr>
          <a:xfrm>
            <a:off x="539496" y="3529584"/>
            <a:ext cx="5321808" cy="822960"/>
          </a:xfrm>
          <a:prstGeom prst="rect">
            <a:avLst/>
          </a:prstGeom>
          <a:noFill/>
          <a:ln/>
        </p:spPr>
        <p:txBody>
          <a:bodyPr wrap="square" lIns="0" tIns="0" rIns="0" bIns="0" rtlCol="0" anchor="ctr"/>
          <a:lstStyle/>
          <a:p>
            <a:pPr indent="0" marL="0">
              <a:buNone/>
            </a:pPr>
            <a:r>
              <a:rPr lang="en-US" sz="1000" dirty="0">
                <a:solidFill>
                  <a:srgbClr val="16A34A"/>
                </a:solidFill>
                <a:latin typeface="Courier New" pitchFamily="34" charset="0"/>
                <a:ea typeface="Courier New" pitchFamily="34" charset="-122"/>
                <a:cs typeface="Courier New" pitchFamily="34" charset="-120"/>
              </a:rPr>
              <a:t>if score&gt;=90:   grade='A'</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elif score&gt;=80: grade='B'</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elif score&gt;=70: grade='C'</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elif score&gt;=60: grade='D'</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else:           grade='F'   # output: C</a:t>
            </a:r>
            <a:endParaRPr lang="en-US" sz="1000" dirty="0"/>
          </a:p>
        </p:txBody>
      </p:sp>
      <p:sp>
        <p:nvSpPr>
          <p:cNvPr id="12" name="Shape 10"/>
          <p:cNvSpPr/>
          <p:nvPr/>
        </p:nvSpPr>
        <p:spPr>
          <a:xfrm>
            <a:off x="6172200" y="1097280"/>
            <a:ext cx="5760720" cy="3383280"/>
          </a:xfrm>
          <a:prstGeom prst="roundRect">
            <a:avLst>
              <a:gd name="adj" fmla="val 2703"/>
            </a:avLst>
          </a:prstGeom>
          <a:solidFill>
            <a:srgbClr val="1A2540"/>
          </a:solidFill>
          <a:ln w="17780">
            <a:solidFill>
              <a:srgbClr val="16A34A"/>
            </a:solidFill>
            <a:prstDash val="solid"/>
          </a:ln>
          <a:effectLst>
            <a:outerShdw sx="100000" sy="100000" kx="0" ky="0" algn="bl" rotWithShape="0" blurRad="63500" dist="25400" dir="2700000">
              <a:srgbClr val="000000">
                <a:alpha val="12000"/>
              </a:srgbClr>
            </a:outerShdw>
          </a:effectLst>
        </p:spPr>
      </p:sp>
      <p:sp>
        <p:nvSpPr>
          <p:cNvPr id="13" name="Shape 11"/>
          <p:cNvSpPr/>
          <p:nvPr/>
        </p:nvSpPr>
        <p:spPr>
          <a:xfrm>
            <a:off x="6172200" y="1097280"/>
            <a:ext cx="5760720" cy="457200"/>
          </a:xfrm>
          <a:prstGeom prst="roundRect">
            <a:avLst>
              <a:gd name="adj" fmla="val 20000"/>
            </a:avLst>
          </a:prstGeom>
          <a:solidFill>
            <a:srgbClr val="16A34A"/>
          </a:solidFill>
          <a:ln w="12700">
            <a:solidFill>
              <a:srgbClr val="16A34A"/>
            </a:solidFill>
            <a:prstDash val="solid"/>
          </a:ln>
        </p:spPr>
      </p:sp>
      <p:sp>
        <p:nvSpPr>
          <p:cNvPr id="14" name="Shape 12"/>
          <p:cNvSpPr/>
          <p:nvPr/>
        </p:nvSpPr>
        <p:spPr>
          <a:xfrm>
            <a:off x="6172200" y="1389888"/>
            <a:ext cx="5760720" cy="164592"/>
          </a:xfrm>
          <a:prstGeom prst="rect">
            <a:avLst/>
          </a:prstGeom>
          <a:solidFill>
            <a:srgbClr val="16A34A"/>
          </a:solidFill>
          <a:ln w="12700">
            <a:solidFill>
              <a:srgbClr val="16A34A"/>
            </a:solidFill>
            <a:prstDash val="solid"/>
          </a:ln>
        </p:spPr>
      </p:sp>
      <p:sp>
        <p:nvSpPr>
          <p:cNvPr id="15" name="Text 13"/>
          <p:cNvSpPr/>
          <p:nvPr/>
        </p:nvSpPr>
        <p:spPr>
          <a:xfrm>
            <a:off x="6281928" y="1170432"/>
            <a:ext cx="5541264" cy="292608"/>
          </a:xfrm>
          <a:prstGeom prst="rect">
            <a:avLst/>
          </a:prstGeom>
          <a:noFill/>
          <a:ln/>
        </p:spPr>
        <p:txBody>
          <a:bodyPr wrap="square" lIns="0" tIns="0" rIns="0" bIns="0" rtlCol="0" anchor="ctr"/>
          <a:lstStyle/>
          <a:p>
            <a:pPr indent="0" marL="0">
              <a:buNone/>
            </a:pPr>
            <a:r>
              <a:rPr lang="en-US" sz="1100" b="1" dirty="0">
                <a:solidFill>
                  <a:srgbClr val="080D18"/>
                </a:solidFill>
                <a:latin typeface="Calibri" pitchFamily="34" charset="0"/>
                <a:ea typeface="Calibri" pitchFamily="34" charset="-122"/>
                <a:cs typeface="Calibri" pitchFamily="34" charset="-120"/>
              </a:rPr>
              <a:t>⚡  CHALLENGE</a:t>
            </a:r>
            <a:endParaRPr lang="en-US" sz="1100" dirty="0"/>
          </a:p>
        </p:txBody>
      </p:sp>
      <p:sp>
        <p:nvSpPr>
          <p:cNvPr id="16" name="Text 14"/>
          <p:cNvSpPr/>
          <p:nvPr/>
        </p:nvSpPr>
        <p:spPr>
          <a:xfrm>
            <a:off x="6300216" y="1645920"/>
            <a:ext cx="5504688" cy="1389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Q2. A store offers tiered discounts: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Spend over 100,000 → 15% off</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Spend over 50,000 → 10% off</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Spend over 20,000 → 5% off</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Otherwise → no discount</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Calculate for spend = 67,500.</a:t>
            </a:r>
            <a:endParaRPr lang="en-US" sz="1100" dirty="0"/>
          </a:p>
        </p:txBody>
      </p:sp>
      <p:sp>
        <p:nvSpPr>
          <p:cNvPr id="17" name="Shape 15"/>
          <p:cNvSpPr/>
          <p:nvPr/>
        </p:nvSpPr>
        <p:spPr>
          <a:xfrm>
            <a:off x="6300216" y="3145536"/>
            <a:ext cx="5504688" cy="18288"/>
          </a:xfrm>
          <a:prstGeom prst="rect">
            <a:avLst/>
          </a:prstGeom>
          <a:solidFill>
            <a:srgbClr val="64748B"/>
          </a:solidFill>
          <a:ln w="12700">
            <a:solidFill>
              <a:srgbClr val="64748B"/>
            </a:solidFill>
            <a:prstDash val="solid"/>
          </a:ln>
        </p:spPr>
      </p:sp>
      <p:sp>
        <p:nvSpPr>
          <p:cNvPr id="18" name="Text 16"/>
          <p:cNvSpPr/>
          <p:nvPr/>
        </p:nvSpPr>
        <p:spPr>
          <a:xfrm>
            <a:off x="6300216" y="3236976"/>
            <a:ext cx="5504688" cy="256032"/>
          </a:xfrm>
          <a:prstGeom prst="rect">
            <a:avLst/>
          </a:prstGeom>
          <a:noFill/>
          <a:ln/>
        </p:spPr>
        <p:txBody>
          <a:bodyPr wrap="square" lIns="0" tIns="0" rIns="0" bIns="0" rtlCol="0" anchor="ctr"/>
          <a:lstStyle/>
          <a:p>
            <a:pPr indent="0" marL="0">
              <a:buNone/>
            </a:pPr>
            <a:r>
              <a:rPr lang="en-US" sz="1000" b="1" dirty="0">
                <a:solidFill>
                  <a:srgbClr val="16A34A"/>
                </a:solidFill>
                <a:latin typeface="Cambria" pitchFamily="34" charset="0"/>
                <a:ea typeface="Cambria" pitchFamily="34" charset="-122"/>
                <a:cs typeface="Cambria" pitchFamily="34" charset="-120"/>
              </a:rPr>
              <a:t>Answer:</a:t>
            </a:r>
            <a:endParaRPr lang="en-US" sz="1000" dirty="0"/>
          </a:p>
        </p:txBody>
      </p:sp>
      <p:sp>
        <p:nvSpPr>
          <p:cNvPr id="19" name="Text 17"/>
          <p:cNvSpPr/>
          <p:nvPr/>
        </p:nvSpPr>
        <p:spPr>
          <a:xfrm>
            <a:off x="6300216" y="3529584"/>
            <a:ext cx="5504688" cy="822960"/>
          </a:xfrm>
          <a:prstGeom prst="rect">
            <a:avLst/>
          </a:prstGeom>
          <a:noFill/>
          <a:ln/>
        </p:spPr>
        <p:txBody>
          <a:bodyPr wrap="square" lIns="0" tIns="0" rIns="0" bIns="0" rtlCol="0" anchor="ctr"/>
          <a:lstStyle/>
          <a:p>
            <a:pPr indent="0" marL="0">
              <a:buNone/>
            </a:pPr>
            <a:r>
              <a:rPr lang="en-US" sz="1000" dirty="0">
                <a:solidFill>
                  <a:srgbClr val="16A34A"/>
                </a:solidFill>
                <a:latin typeface="Courier New" pitchFamily="34" charset="0"/>
                <a:ea typeface="Courier New" pitchFamily="34" charset="-122"/>
                <a:cs typeface="Courier New" pitchFamily="34" charset="-120"/>
              </a:rPr>
              <a:t>if spend&gt;100000:   disc=0.15</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elif spend&gt;50000:  disc=0.10</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elif spend&gt;20000:  disc=0.05</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else:              disc=0.0</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final = spend*(1-disc)  # 60,750</a:t>
            </a:r>
            <a:endParaRPr lang="en-US" sz="1000" dirty="0"/>
          </a:p>
        </p:txBody>
      </p:sp>
      <p:sp>
        <p:nvSpPr>
          <p:cNvPr id="20" name="Shape 18"/>
          <p:cNvSpPr/>
          <p:nvPr/>
        </p:nvSpPr>
        <p:spPr>
          <a:xfrm>
            <a:off x="411480" y="4535424"/>
            <a:ext cx="5577840" cy="3383280"/>
          </a:xfrm>
          <a:prstGeom prst="roundRect">
            <a:avLst>
              <a:gd name="adj" fmla="val 2703"/>
            </a:avLst>
          </a:prstGeom>
          <a:solidFill>
            <a:srgbClr val="1A2540"/>
          </a:solidFill>
          <a:ln w="17780">
            <a:solidFill>
              <a:srgbClr val="E11D48"/>
            </a:solidFill>
            <a:prstDash val="solid"/>
          </a:ln>
          <a:effectLst>
            <a:outerShdw sx="100000" sy="100000" kx="0" ky="0" algn="bl" rotWithShape="0" blurRad="63500" dist="25400" dir="2700000">
              <a:srgbClr val="000000">
                <a:alpha val="12000"/>
              </a:srgbClr>
            </a:outerShdw>
          </a:effectLst>
        </p:spPr>
      </p:sp>
      <p:sp>
        <p:nvSpPr>
          <p:cNvPr id="21" name="Shape 19"/>
          <p:cNvSpPr/>
          <p:nvPr/>
        </p:nvSpPr>
        <p:spPr>
          <a:xfrm>
            <a:off x="411480" y="4535424"/>
            <a:ext cx="5577840" cy="457200"/>
          </a:xfrm>
          <a:prstGeom prst="roundRect">
            <a:avLst>
              <a:gd name="adj" fmla="val 20000"/>
            </a:avLst>
          </a:prstGeom>
          <a:solidFill>
            <a:srgbClr val="E11D48"/>
          </a:solidFill>
          <a:ln w="12700">
            <a:solidFill>
              <a:srgbClr val="E11D48"/>
            </a:solidFill>
            <a:prstDash val="solid"/>
          </a:ln>
        </p:spPr>
      </p:sp>
      <p:sp>
        <p:nvSpPr>
          <p:cNvPr id="22" name="Shape 20"/>
          <p:cNvSpPr/>
          <p:nvPr/>
        </p:nvSpPr>
        <p:spPr>
          <a:xfrm>
            <a:off x="411480" y="4828032"/>
            <a:ext cx="5577840" cy="164592"/>
          </a:xfrm>
          <a:prstGeom prst="rect">
            <a:avLst/>
          </a:prstGeom>
          <a:solidFill>
            <a:srgbClr val="E11D48"/>
          </a:solidFill>
          <a:ln w="12700">
            <a:solidFill>
              <a:srgbClr val="E11D48"/>
            </a:solidFill>
            <a:prstDash val="solid"/>
          </a:ln>
        </p:spPr>
      </p:sp>
      <p:sp>
        <p:nvSpPr>
          <p:cNvPr id="23" name="Text 21"/>
          <p:cNvSpPr/>
          <p:nvPr/>
        </p:nvSpPr>
        <p:spPr>
          <a:xfrm>
            <a:off x="521208" y="4608576"/>
            <a:ext cx="5358384" cy="292608"/>
          </a:xfrm>
          <a:prstGeom prst="rect">
            <a:avLst/>
          </a:prstGeom>
          <a:noFill/>
          <a:ln/>
        </p:spPr>
        <p:txBody>
          <a:bodyPr wrap="square" lIns="0" tIns="0" rIns="0" bIns="0" rtlCol="0" anchor="ctr"/>
          <a:lstStyle/>
          <a:p>
            <a:pPr indent="0" marL="0">
              <a:buNone/>
            </a:pPr>
            <a:r>
              <a:rPr lang="en-US" sz="1100" b="1" dirty="0">
                <a:solidFill>
                  <a:srgbClr val="080D18"/>
                </a:solidFill>
                <a:latin typeface="Calibri" pitchFamily="34" charset="0"/>
                <a:ea typeface="Calibri" pitchFamily="34" charset="-122"/>
                <a:cs typeface="Calibri" pitchFamily="34" charset="-120"/>
              </a:rPr>
              <a:t>⚡  CHALLENGE</a:t>
            </a:r>
            <a:endParaRPr lang="en-US" sz="1100" dirty="0"/>
          </a:p>
        </p:txBody>
      </p:sp>
      <p:sp>
        <p:nvSpPr>
          <p:cNvPr id="24" name="Text 22"/>
          <p:cNvSpPr/>
          <p:nvPr/>
        </p:nvSpPr>
        <p:spPr>
          <a:xfrm>
            <a:off x="539496" y="5084064"/>
            <a:ext cx="5321808" cy="1389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Q3. Without running it, predict the output:</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transaction = 850_000</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foreign = False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if transaction &gt; 1_000_000 or (foreign and transaction &gt; 100_000):</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print('Flagged')</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else: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print('Cleared')</a:t>
            </a:r>
            <a:endParaRPr lang="en-US" sz="1100" dirty="0"/>
          </a:p>
        </p:txBody>
      </p:sp>
      <p:sp>
        <p:nvSpPr>
          <p:cNvPr id="25" name="Shape 23"/>
          <p:cNvSpPr/>
          <p:nvPr/>
        </p:nvSpPr>
        <p:spPr>
          <a:xfrm>
            <a:off x="539496" y="6583680"/>
            <a:ext cx="5321808" cy="18288"/>
          </a:xfrm>
          <a:prstGeom prst="rect">
            <a:avLst/>
          </a:prstGeom>
          <a:solidFill>
            <a:srgbClr val="64748B"/>
          </a:solidFill>
          <a:ln w="12700">
            <a:solidFill>
              <a:srgbClr val="64748B"/>
            </a:solidFill>
            <a:prstDash val="solid"/>
          </a:ln>
        </p:spPr>
      </p:sp>
      <p:sp>
        <p:nvSpPr>
          <p:cNvPr id="26" name="Text 24"/>
          <p:cNvSpPr/>
          <p:nvPr/>
        </p:nvSpPr>
        <p:spPr>
          <a:xfrm>
            <a:off x="539496" y="6675120"/>
            <a:ext cx="5321808" cy="256032"/>
          </a:xfrm>
          <a:prstGeom prst="rect">
            <a:avLst/>
          </a:prstGeom>
          <a:noFill/>
          <a:ln/>
        </p:spPr>
        <p:txBody>
          <a:bodyPr wrap="square" lIns="0" tIns="0" rIns="0" bIns="0" rtlCol="0" anchor="ctr"/>
          <a:lstStyle/>
          <a:p>
            <a:pPr indent="0" marL="0">
              <a:buNone/>
            </a:pPr>
            <a:r>
              <a:rPr lang="en-US" sz="1000" b="1" dirty="0">
                <a:solidFill>
                  <a:srgbClr val="E11D48"/>
                </a:solidFill>
                <a:latin typeface="Cambria" pitchFamily="34" charset="0"/>
                <a:ea typeface="Cambria" pitchFamily="34" charset="-122"/>
                <a:cs typeface="Cambria" pitchFamily="34" charset="-120"/>
              </a:rPr>
              <a:t>Answer:</a:t>
            </a:r>
            <a:endParaRPr lang="en-US" sz="1000" dirty="0"/>
          </a:p>
        </p:txBody>
      </p:sp>
      <p:sp>
        <p:nvSpPr>
          <p:cNvPr id="27" name="Text 25"/>
          <p:cNvSpPr/>
          <p:nvPr/>
        </p:nvSpPr>
        <p:spPr>
          <a:xfrm>
            <a:off x="539496" y="6967728"/>
            <a:ext cx="5321808" cy="822960"/>
          </a:xfrm>
          <a:prstGeom prst="rect">
            <a:avLst/>
          </a:prstGeom>
          <a:noFill/>
          <a:ln/>
        </p:spPr>
        <p:txBody>
          <a:bodyPr wrap="square" lIns="0" tIns="0" rIns="0" bIns="0" rtlCol="0" anchor="ctr"/>
          <a:lstStyle/>
          <a:p>
            <a:pPr indent="0" marL="0">
              <a:buNone/>
            </a:pPr>
            <a:r>
              <a:rPr lang="en-US" sz="1000" dirty="0">
                <a:solidFill>
                  <a:srgbClr val="16A34A"/>
                </a:solidFill>
                <a:latin typeface="Courier New" pitchFamily="34" charset="0"/>
                <a:ea typeface="Courier New" pitchFamily="34" charset="-122"/>
                <a:cs typeface="Courier New" pitchFamily="34" charset="-120"/>
              </a:rPr>
              <a:t>Output: Cleared</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850,000 &lt; 1,000,000 (first condition False)</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foreign is False so second condition skips</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Neither True, so else runs.</a:t>
            </a:r>
            <a:endParaRPr lang="en-US" sz="1000" dirty="0"/>
          </a:p>
        </p:txBody>
      </p:sp>
      <p:sp>
        <p:nvSpPr>
          <p:cNvPr id="28" name="Shape 26"/>
          <p:cNvSpPr/>
          <p:nvPr/>
        </p:nvSpPr>
        <p:spPr>
          <a:xfrm>
            <a:off x="6172200" y="4535424"/>
            <a:ext cx="5760720" cy="3383280"/>
          </a:xfrm>
          <a:prstGeom prst="roundRect">
            <a:avLst>
              <a:gd name="adj" fmla="val 2703"/>
            </a:avLst>
          </a:prstGeom>
          <a:solidFill>
            <a:srgbClr val="1A2540"/>
          </a:solidFill>
          <a:ln w="17780">
            <a:solidFill>
              <a:srgbClr val="D97706"/>
            </a:solidFill>
            <a:prstDash val="solid"/>
          </a:ln>
          <a:effectLst>
            <a:outerShdw sx="100000" sy="100000" kx="0" ky="0" algn="bl" rotWithShape="0" blurRad="63500" dist="25400" dir="2700000">
              <a:srgbClr val="000000">
                <a:alpha val="12000"/>
              </a:srgbClr>
            </a:outerShdw>
          </a:effectLst>
        </p:spPr>
      </p:sp>
      <p:sp>
        <p:nvSpPr>
          <p:cNvPr id="29" name="Shape 27"/>
          <p:cNvSpPr/>
          <p:nvPr/>
        </p:nvSpPr>
        <p:spPr>
          <a:xfrm>
            <a:off x="6172200" y="4535424"/>
            <a:ext cx="5760720" cy="457200"/>
          </a:xfrm>
          <a:prstGeom prst="roundRect">
            <a:avLst>
              <a:gd name="adj" fmla="val 20000"/>
            </a:avLst>
          </a:prstGeom>
          <a:solidFill>
            <a:srgbClr val="D97706"/>
          </a:solidFill>
          <a:ln w="12700">
            <a:solidFill>
              <a:srgbClr val="D97706"/>
            </a:solidFill>
            <a:prstDash val="solid"/>
          </a:ln>
        </p:spPr>
      </p:sp>
      <p:sp>
        <p:nvSpPr>
          <p:cNvPr id="30" name="Shape 28"/>
          <p:cNvSpPr/>
          <p:nvPr/>
        </p:nvSpPr>
        <p:spPr>
          <a:xfrm>
            <a:off x="6172200" y="4828032"/>
            <a:ext cx="5760720" cy="164592"/>
          </a:xfrm>
          <a:prstGeom prst="rect">
            <a:avLst/>
          </a:prstGeom>
          <a:solidFill>
            <a:srgbClr val="D97706"/>
          </a:solidFill>
          <a:ln w="12700">
            <a:solidFill>
              <a:srgbClr val="D97706"/>
            </a:solidFill>
            <a:prstDash val="solid"/>
          </a:ln>
        </p:spPr>
      </p:sp>
      <p:sp>
        <p:nvSpPr>
          <p:cNvPr id="31" name="Text 29"/>
          <p:cNvSpPr/>
          <p:nvPr/>
        </p:nvSpPr>
        <p:spPr>
          <a:xfrm>
            <a:off x="6281928" y="4608576"/>
            <a:ext cx="5541264" cy="292608"/>
          </a:xfrm>
          <a:prstGeom prst="rect">
            <a:avLst/>
          </a:prstGeom>
          <a:noFill/>
          <a:ln/>
        </p:spPr>
        <p:txBody>
          <a:bodyPr wrap="square" lIns="0" tIns="0" rIns="0" bIns="0" rtlCol="0" anchor="ctr"/>
          <a:lstStyle/>
          <a:p>
            <a:pPr indent="0" marL="0">
              <a:buNone/>
            </a:pPr>
            <a:r>
              <a:rPr lang="en-US" sz="1100" b="1" dirty="0">
                <a:solidFill>
                  <a:srgbClr val="080D18"/>
                </a:solidFill>
                <a:latin typeface="Calibri" pitchFamily="34" charset="0"/>
                <a:ea typeface="Calibri" pitchFamily="34" charset="-122"/>
                <a:cs typeface="Calibri" pitchFamily="34" charset="-120"/>
              </a:rPr>
              <a:t>⚡  CHALLENGE</a:t>
            </a:r>
            <a:endParaRPr lang="en-US" sz="1100" dirty="0"/>
          </a:p>
        </p:txBody>
      </p:sp>
      <p:sp>
        <p:nvSpPr>
          <p:cNvPr id="32" name="Text 30"/>
          <p:cNvSpPr/>
          <p:nvPr/>
        </p:nvSpPr>
        <p:spPr>
          <a:xfrm>
            <a:off x="6300216" y="5084064"/>
            <a:ext cx="5504688" cy="1389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Q4. Rewrite this as a ternary:</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if account_balance &gt;= 100_000:</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risk_level = 'Low'</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else: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risk_level = 'High'</a:t>
            </a:r>
            <a:endParaRPr lang="en-US" sz="1100" dirty="0"/>
          </a:p>
        </p:txBody>
      </p:sp>
      <p:sp>
        <p:nvSpPr>
          <p:cNvPr id="33" name="Shape 31"/>
          <p:cNvSpPr/>
          <p:nvPr/>
        </p:nvSpPr>
        <p:spPr>
          <a:xfrm>
            <a:off x="6300216" y="6583680"/>
            <a:ext cx="5504688" cy="18288"/>
          </a:xfrm>
          <a:prstGeom prst="rect">
            <a:avLst/>
          </a:prstGeom>
          <a:solidFill>
            <a:srgbClr val="64748B"/>
          </a:solidFill>
          <a:ln w="12700">
            <a:solidFill>
              <a:srgbClr val="64748B"/>
            </a:solidFill>
            <a:prstDash val="solid"/>
          </a:ln>
        </p:spPr>
      </p:sp>
      <p:sp>
        <p:nvSpPr>
          <p:cNvPr id="34" name="Text 32"/>
          <p:cNvSpPr/>
          <p:nvPr/>
        </p:nvSpPr>
        <p:spPr>
          <a:xfrm>
            <a:off x="6300216" y="6675120"/>
            <a:ext cx="5504688" cy="256032"/>
          </a:xfrm>
          <a:prstGeom prst="rect">
            <a:avLst/>
          </a:prstGeom>
          <a:noFill/>
          <a:ln/>
        </p:spPr>
        <p:txBody>
          <a:bodyPr wrap="square" lIns="0" tIns="0" rIns="0" bIns="0" rtlCol="0" anchor="ctr"/>
          <a:lstStyle/>
          <a:p>
            <a:pPr indent="0" marL="0">
              <a:buNone/>
            </a:pPr>
            <a:r>
              <a:rPr lang="en-US" sz="1000" b="1" dirty="0">
                <a:solidFill>
                  <a:srgbClr val="D97706"/>
                </a:solidFill>
                <a:latin typeface="Cambria" pitchFamily="34" charset="0"/>
                <a:ea typeface="Cambria" pitchFamily="34" charset="-122"/>
                <a:cs typeface="Cambria" pitchFamily="34" charset="-120"/>
              </a:rPr>
              <a:t>Answer:</a:t>
            </a:r>
            <a:endParaRPr lang="en-US" sz="1000" dirty="0"/>
          </a:p>
        </p:txBody>
      </p:sp>
      <p:sp>
        <p:nvSpPr>
          <p:cNvPr id="35" name="Text 33"/>
          <p:cNvSpPr/>
          <p:nvPr/>
        </p:nvSpPr>
        <p:spPr>
          <a:xfrm>
            <a:off x="6300216" y="6967728"/>
            <a:ext cx="5504688" cy="822960"/>
          </a:xfrm>
          <a:prstGeom prst="rect">
            <a:avLst/>
          </a:prstGeom>
          <a:noFill/>
          <a:ln/>
        </p:spPr>
        <p:txBody>
          <a:bodyPr wrap="square" lIns="0" tIns="0" rIns="0" bIns="0" rtlCol="0" anchor="ctr"/>
          <a:lstStyle/>
          <a:p>
            <a:pPr indent="0" marL="0">
              <a:buNone/>
            </a:pPr>
            <a:r>
              <a:rPr lang="en-US" sz="1000" dirty="0">
                <a:solidFill>
                  <a:srgbClr val="16A34A"/>
                </a:solidFill>
                <a:latin typeface="Courier New" pitchFamily="34" charset="0"/>
                <a:ea typeface="Courier New" pitchFamily="34" charset="-122"/>
                <a:cs typeface="Courier New" pitchFamily="34" charset="-120"/>
              </a:rPr>
              <a:t>risk_level = 'Low' if account_balance &gt;= 100_000 else 'High'</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 One line, same result — very readable.</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457200" y="1005840"/>
            <a:ext cx="1920240" cy="1920240"/>
          </a:xfrm>
          <a:prstGeom prst="ellipse">
            <a:avLst/>
          </a:prstGeom>
          <a:solidFill>
            <a:srgbClr val="0891B2"/>
          </a:solidFill>
          <a:ln w="12700">
            <a:solidFill>
              <a:srgbClr val="0891B2"/>
            </a:solidFill>
            <a:prstDash val="solid"/>
          </a:ln>
          <a:effectLst>
            <a:outerShdw sx="100000" sy="100000" kx="0" ky="0" algn="bl" rotWithShape="0" blurRad="127000" dist="50800" dir="2700000">
              <a:srgbClr val="000000">
                <a:alpha val="18000"/>
              </a:srgbClr>
            </a:outerShdw>
          </a:effectLst>
        </p:spPr>
      </p:sp>
      <p:sp>
        <p:nvSpPr>
          <p:cNvPr id="3" name="Text 1"/>
          <p:cNvSpPr/>
          <p:nvPr/>
        </p:nvSpPr>
        <p:spPr>
          <a:xfrm>
            <a:off x="457200" y="1005840"/>
            <a:ext cx="1920240" cy="1920240"/>
          </a:xfrm>
          <a:prstGeom prst="rect">
            <a:avLst/>
          </a:prstGeom>
          <a:noFill/>
          <a:ln/>
        </p:spPr>
        <p:txBody>
          <a:bodyPr wrap="square" lIns="0" tIns="0" rIns="0" bIns="0" rtlCol="0" anchor="ctr"/>
          <a:lstStyle/>
          <a:p>
            <a:pPr algn="ctr" indent="0" marL="0">
              <a:buNone/>
            </a:pPr>
            <a:r>
              <a:rPr lang="en-US" sz="5800" b="1" dirty="0">
                <a:solidFill>
                  <a:srgbClr val="FFFFFF"/>
                </a:solidFill>
                <a:latin typeface="Cambria" pitchFamily="34" charset="0"/>
                <a:ea typeface="Cambria" pitchFamily="34" charset="-122"/>
                <a:cs typeface="Cambria" pitchFamily="34" charset="-120"/>
              </a:rPr>
              <a:t>06</a:t>
            </a:r>
            <a:endParaRPr lang="en-US" sz="5800" dirty="0"/>
          </a:p>
        </p:txBody>
      </p:sp>
      <p:sp>
        <p:nvSpPr>
          <p:cNvPr id="4" name="Text 2"/>
          <p:cNvSpPr/>
          <p:nvPr/>
        </p:nvSpPr>
        <p:spPr>
          <a:xfrm>
            <a:off x="2743200" y="1097280"/>
            <a:ext cx="9144000" cy="16459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Loops</a:t>
            </a:r>
            <a:endParaRPr lang="en-US" sz="4400" dirty="0"/>
          </a:p>
        </p:txBody>
      </p:sp>
      <p:sp>
        <p:nvSpPr>
          <p:cNvPr id="5" name="Text 3"/>
          <p:cNvSpPr/>
          <p:nvPr/>
        </p:nvSpPr>
        <p:spPr>
          <a:xfrm>
            <a:off x="2743200" y="2880360"/>
            <a:ext cx="9144000" cy="594360"/>
          </a:xfrm>
          <a:prstGeom prst="rect">
            <a:avLst/>
          </a:prstGeom>
          <a:noFill/>
          <a:ln/>
        </p:spPr>
        <p:txBody>
          <a:bodyPr wrap="square" lIns="0" tIns="0" rIns="0" bIns="0"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Process hundreds of thousands of records in seconds.</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E3C"/>
          </a:solidFill>
          <a:ln w="12700">
            <a:solidFill>
              <a:srgbClr val="0F1E3C"/>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FOR LOOP vs WHILE LOOP</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11338560" cy="557784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E3C"/>
          </a:solidFill>
          <a:ln w="12700">
            <a:solidFill>
              <a:srgbClr val="0F1E3C"/>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for LOOP — EVERY PATTERN YOU NEED</a:t>
            </a:r>
            <a:endParaRPr lang="en-US" sz="2600" dirty="0"/>
          </a:p>
        </p:txBody>
      </p:sp>
      <p:sp>
        <p:nvSpPr>
          <p:cNvPr id="4" name="Shape 2"/>
          <p:cNvSpPr/>
          <p:nvPr/>
        </p:nvSpPr>
        <p:spPr>
          <a:xfrm>
            <a:off x="411480" y="1024128"/>
            <a:ext cx="6583680" cy="5559552"/>
          </a:xfrm>
          <a:prstGeom prst="roundRect">
            <a:avLst>
              <a:gd name="adj" fmla="val 1645"/>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1024128"/>
            <a:ext cx="6583680" cy="347472"/>
          </a:xfrm>
          <a:prstGeom prst="roundRect">
            <a:avLst>
              <a:gd name="adj" fmla="val 26316"/>
            </a:avLst>
          </a:prstGeom>
          <a:solidFill>
            <a:srgbClr val="1A2540"/>
          </a:solidFill>
          <a:ln w="12700">
            <a:solidFill>
              <a:srgbClr val="1A2540"/>
            </a:solidFill>
            <a:prstDash val="solid"/>
          </a:ln>
        </p:spPr>
      </p:sp>
      <p:sp>
        <p:nvSpPr>
          <p:cNvPr id="6" name="Shape 4"/>
          <p:cNvSpPr/>
          <p:nvPr/>
        </p:nvSpPr>
        <p:spPr>
          <a:xfrm>
            <a:off x="411480" y="1225296"/>
            <a:ext cx="6583680" cy="146304"/>
          </a:xfrm>
          <a:prstGeom prst="rect">
            <a:avLst/>
          </a:prstGeom>
          <a:solidFill>
            <a:srgbClr val="1A2540"/>
          </a:solidFill>
          <a:ln w="12700">
            <a:solidFill>
              <a:srgbClr val="1A2540"/>
            </a:solidFill>
            <a:prstDash val="solid"/>
          </a:ln>
        </p:spPr>
      </p:sp>
      <p:sp>
        <p:nvSpPr>
          <p:cNvPr id="7" name="Shape 5"/>
          <p:cNvSpPr/>
          <p:nvPr/>
        </p:nvSpPr>
        <p:spPr>
          <a:xfrm>
            <a:off x="539496" y="1115568"/>
            <a:ext cx="164592" cy="164592"/>
          </a:xfrm>
          <a:prstGeom prst="ellipse">
            <a:avLst/>
          </a:prstGeom>
          <a:solidFill>
            <a:srgbClr val="E11D48"/>
          </a:solidFill>
          <a:ln w="12700">
            <a:solidFill>
              <a:srgbClr val="E11D48"/>
            </a:solidFill>
            <a:prstDash val="solid"/>
          </a:ln>
        </p:spPr>
      </p:sp>
      <p:sp>
        <p:nvSpPr>
          <p:cNvPr id="8" name="Shape 6"/>
          <p:cNvSpPr/>
          <p:nvPr/>
        </p:nvSpPr>
        <p:spPr>
          <a:xfrm>
            <a:off x="740664" y="1115568"/>
            <a:ext cx="164592" cy="164592"/>
          </a:xfrm>
          <a:prstGeom prst="ellipse">
            <a:avLst/>
          </a:prstGeom>
          <a:solidFill>
            <a:srgbClr val="D97706"/>
          </a:solidFill>
          <a:ln w="12700">
            <a:solidFill>
              <a:srgbClr val="D97706"/>
            </a:solidFill>
            <a:prstDash val="solid"/>
          </a:ln>
        </p:spPr>
      </p:sp>
      <p:sp>
        <p:nvSpPr>
          <p:cNvPr id="9" name="Shape 7"/>
          <p:cNvSpPr/>
          <p:nvPr/>
        </p:nvSpPr>
        <p:spPr>
          <a:xfrm>
            <a:off x="941832" y="1115568"/>
            <a:ext cx="164592" cy="164592"/>
          </a:xfrm>
          <a:prstGeom prst="ellipse">
            <a:avLst/>
          </a:prstGeom>
          <a:solidFill>
            <a:srgbClr val="16A34A"/>
          </a:solidFill>
          <a:ln w="12700">
            <a:solidFill>
              <a:srgbClr val="16A34A"/>
            </a:solidFill>
            <a:prstDash val="solid"/>
          </a:ln>
        </p:spPr>
      </p:sp>
      <p:sp>
        <p:nvSpPr>
          <p:cNvPr id="10" name="Text 8"/>
          <p:cNvSpPr/>
          <p:nvPr/>
        </p:nvSpPr>
        <p:spPr>
          <a:xfrm>
            <a:off x="1143000" y="1097280"/>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for_loops.py</a:t>
            </a:r>
            <a:endParaRPr lang="en-US" sz="900" dirty="0"/>
          </a:p>
        </p:txBody>
      </p:sp>
      <p:sp>
        <p:nvSpPr>
          <p:cNvPr id="11" name="Text 9"/>
          <p:cNvSpPr/>
          <p:nvPr/>
        </p:nvSpPr>
        <p:spPr>
          <a:xfrm>
            <a:off x="557784" y="1426464"/>
            <a:ext cx="6309360" cy="504748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Iterate over a list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products = ['Laptop','Phone','Tablet','Monitor']</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for product in products: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print(f"Processing: {product}")</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range — generate numbers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for i in range(5):       # 0 1 2 3 4</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for i in range(1, 6):    # 1 2 3 4 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for i in range(0,10,2):  # 0 2 4 6 8 (step=2)</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for i in range(10,0,-1): # 10 9 8 ... 1</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enumerate — get index AND value</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for rank, product in enumerate(products, 1):</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print(f"#{rank}: {product}")</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zip — iterate two lists in sync</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regions  = ['Lagos','Abuja','Kano']</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revenues = [4_500_000, 2_100_000, 1_800_000]</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for region, rev in zip(regions, revenues):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print(f"{region}: NGN {rev:,}")</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Iterate over dict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report = {'Q1':4.2,'Q2':5.1,'Q3':3.8,'Q4':6.0}</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for quarter, revenue in report.items():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print(f"{quarter}: NGN {revenue}M")</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Accumulate with a loop</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total = 0</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for rev in revenues: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total += rev</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print(f"Total: NGN {total:,}")</a:t>
            </a:r>
            <a:endParaRPr lang="en-US" sz="1050" dirty="0"/>
          </a:p>
        </p:txBody>
      </p:sp>
      <p:sp>
        <p:nvSpPr>
          <p:cNvPr id="12" name="Shape 10"/>
          <p:cNvSpPr/>
          <p:nvPr/>
        </p:nvSpPr>
        <p:spPr>
          <a:xfrm>
            <a:off x="7178040" y="1024128"/>
            <a:ext cx="4754880" cy="1554480"/>
          </a:xfrm>
          <a:prstGeom prst="roundRect">
            <a:avLst>
              <a:gd name="adj" fmla="val 5882"/>
            </a:avLst>
          </a:prstGeom>
          <a:solidFill>
            <a:srgbClr val="FFFFFF"/>
          </a:solidFill>
          <a:ln w="13970">
            <a:solidFill>
              <a:srgbClr val="2563EB"/>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7324344" y="1133856"/>
            <a:ext cx="4462272" cy="274320"/>
          </a:xfrm>
          <a:prstGeom prst="rect">
            <a:avLst/>
          </a:prstGeom>
          <a:noFill/>
          <a:ln/>
        </p:spPr>
        <p:txBody>
          <a:bodyPr wrap="square" lIns="0" tIns="0" rIns="0" bIns="0" rtlCol="0" anchor="ctr"/>
          <a:lstStyle/>
          <a:p>
            <a:pPr indent="0" marL="0">
              <a:buNone/>
            </a:pPr>
            <a:r>
              <a:rPr lang="en-US" sz="1100" b="1" dirty="0">
                <a:solidFill>
                  <a:srgbClr val="2563EB"/>
                </a:solidFill>
                <a:latin typeface="Cambria" pitchFamily="34" charset="0"/>
                <a:ea typeface="Cambria" pitchFamily="34" charset="-122"/>
                <a:cs typeface="Cambria" pitchFamily="34" charset="-120"/>
              </a:rPr>
              <a:t>range(start, stop, step)</a:t>
            </a:r>
            <a:endParaRPr lang="en-US" sz="1100" dirty="0"/>
          </a:p>
        </p:txBody>
      </p:sp>
      <p:sp>
        <p:nvSpPr>
          <p:cNvPr id="14" name="Text 12"/>
          <p:cNvSpPr/>
          <p:nvPr/>
        </p:nvSpPr>
        <p:spPr>
          <a:xfrm>
            <a:off x="7324344" y="1444752"/>
            <a:ext cx="4462272" cy="98755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Generates numbers from start up to (not including) stop, jumping by step. range(1,13) gives months 1-12.</a:t>
            </a:r>
            <a:endParaRPr lang="en-US" sz="1000" dirty="0"/>
          </a:p>
        </p:txBody>
      </p:sp>
      <p:sp>
        <p:nvSpPr>
          <p:cNvPr id="15" name="Shape 13"/>
          <p:cNvSpPr/>
          <p:nvPr/>
        </p:nvSpPr>
        <p:spPr>
          <a:xfrm>
            <a:off x="7178040" y="2688336"/>
            <a:ext cx="4754880" cy="1554480"/>
          </a:xfrm>
          <a:prstGeom prst="roundRect">
            <a:avLst>
              <a:gd name="adj" fmla="val 5882"/>
            </a:avLst>
          </a:prstGeom>
          <a:solidFill>
            <a:srgbClr val="FFFFFF"/>
          </a:solidFill>
          <a:ln w="13970">
            <a:solidFill>
              <a:srgbClr val="16A34A"/>
            </a:solidFill>
            <a:prstDash val="solid"/>
          </a:ln>
          <a:effectLst>
            <a:outerShdw sx="100000" sy="100000" kx="0" ky="0" algn="bl" rotWithShape="0" blurRad="63500" dist="25400" dir="2700000">
              <a:srgbClr val="000000">
                <a:alpha val="12000"/>
              </a:srgbClr>
            </a:outerShdw>
          </a:effectLst>
        </p:spPr>
      </p:sp>
      <p:sp>
        <p:nvSpPr>
          <p:cNvPr id="16" name="Text 14"/>
          <p:cNvSpPr/>
          <p:nvPr/>
        </p:nvSpPr>
        <p:spPr>
          <a:xfrm>
            <a:off x="7324344" y="2798064"/>
            <a:ext cx="4462272" cy="274320"/>
          </a:xfrm>
          <a:prstGeom prst="rect">
            <a:avLst/>
          </a:prstGeom>
          <a:noFill/>
          <a:ln/>
        </p:spPr>
        <p:txBody>
          <a:bodyPr wrap="square" lIns="0" tIns="0" rIns="0" bIns="0" rtlCol="0" anchor="ctr"/>
          <a:lstStyle/>
          <a:p>
            <a:pPr indent="0" marL="0">
              <a:buNone/>
            </a:pPr>
            <a:r>
              <a:rPr lang="en-US" sz="1100" b="1" dirty="0">
                <a:solidFill>
                  <a:srgbClr val="16A34A"/>
                </a:solidFill>
                <a:latin typeface="Cambria" pitchFamily="34" charset="0"/>
                <a:ea typeface="Cambria" pitchFamily="34" charset="-122"/>
                <a:cs typeface="Cambria" pitchFamily="34" charset="-120"/>
              </a:rPr>
              <a:t>enumerate(iterable, start=0)</a:t>
            </a:r>
            <a:endParaRPr lang="en-US" sz="1100" dirty="0"/>
          </a:p>
        </p:txBody>
      </p:sp>
      <p:sp>
        <p:nvSpPr>
          <p:cNvPr id="17" name="Text 15"/>
          <p:cNvSpPr/>
          <p:nvPr/>
        </p:nvSpPr>
        <p:spPr>
          <a:xfrm>
            <a:off x="7324344" y="3108960"/>
            <a:ext cx="4462272" cy="98755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Yields (index, value) pairs. Cleaner than range(len(lst)). Use start=1 for human-readable ranking.</a:t>
            </a:r>
            <a:endParaRPr lang="en-US" sz="1000" dirty="0"/>
          </a:p>
        </p:txBody>
      </p:sp>
      <p:sp>
        <p:nvSpPr>
          <p:cNvPr id="18" name="Shape 16"/>
          <p:cNvSpPr/>
          <p:nvPr/>
        </p:nvSpPr>
        <p:spPr>
          <a:xfrm>
            <a:off x="7178040" y="4352544"/>
            <a:ext cx="4754880" cy="1554480"/>
          </a:xfrm>
          <a:prstGeom prst="roundRect">
            <a:avLst>
              <a:gd name="adj" fmla="val 5882"/>
            </a:avLst>
          </a:prstGeom>
          <a:solidFill>
            <a:srgbClr val="FFFFFF"/>
          </a:solidFill>
          <a:ln w="13970">
            <a:solidFill>
              <a:srgbClr val="F9AB00"/>
            </a:solidFill>
            <a:prstDash val="solid"/>
          </a:ln>
          <a:effectLst>
            <a:outerShdw sx="100000" sy="100000" kx="0" ky="0" algn="bl" rotWithShape="0" blurRad="63500" dist="25400" dir="2700000">
              <a:srgbClr val="000000">
                <a:alpha val="12000"/>
              </a:srgbClr>
            </a:outerShdw>
          </a:effectLst>
        </p:spPr>
      </p:sp>
      <p:sp>
        <p:nvSpPr>
          <p:cNvPr id="19" name="Text 17"/>
          <p:cNvSpPr/>
          <p:nvPr/>
        </p:nvSpPr>
        <p:spPr>
          <a:xfrm>
            <a:off x="7324344" y="4462272"/>
            <a:ext cx="4462272" cy="274320"/>
          </a:xfrm>
          <a:prstGeom prst="rect">
            <a:avLst/>
          </a:prstGeom>
          <a:noFill/>
          <a:ln/>
        </p:spPr>
        <p:txBody>
          <a:bodyPr wrap="square" lIns="0" tIns="0" rIns="0" bIns="0" rtlCol="0" anchor="ctr"/>
          <a:lstStyle/>
          <a:p>
            <a:pPr indent="0" marL="0">
              <a:buNone/>
            </a:pPr>
            <a:r>
              <a:rPr lang="en-US" sz="1100" b="1" dirty="0">
                <a:solidFill>
                  <a:srgbClr val="F9AB00"/>
                </a:solidFill>
                <a:latin typeface="Cambria" pitchFamily="34" charset="0"/>
                <a:ea typeface="Cambria" pitchFamily="34" charset="-122"/>
                <a:cs typeface="Cambria" pitchFamily="34" charset="-120"/>
              </a:rPr>
              <a:t>zip(list1, list2)</a:t>
            </a:r>
            <a:endParaRPr lang="en-US" sz="1100" dirty="0"/>
          </a:p>
        </p:txBody>
      </p:sp>
      <p:sp>
        <p:nvSpPr>
          <p:cNvPr id="20" name="Text 18"/>
          <p:cNvSpPr/>
          <p:nvPr/>
        </p:nvSpPr>
        <p:spPr>
          <a:xfrm>
            <a:off x="7324344" y="4773168"/>
            <a:ext cx="4462272" cy="98755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Pairs items from two lists. Stops at the shorter one. Use for parallel columns of data.</a:t>
            </a:r>
            <a:endParaRPr lang="en-US" sz="1000" dirty="0"/>
          </a:p>
        </p:txBody>
      </p:sp>
      <p:sp>
        <p:nvSpPr>
          <p:cNvPr id="21" name="Shape 19"/>
          <p:cNvSpPr/>
          <p:nvPr/>
        </p:nvSpPr>
        <p:spPr>
          <a:xfrm>
            <a:off x="7178040" y="6016752"/>
            <a:ext cx="4754880" cy="1554480"/>
          </a:xfrm>
          <a:prstGeom prst="roundRect">
            <a:avLst>
              <a:gd name="adj" fmla="val 5882"/>
            </a:avLst>
          </a:prstGeom>
          <a:solidFill>
            <a:srgbClr val="FFFFFF"/>
          </a:solidFill>
          <a:ln w="13970">
            <a:solidFill>
              <a:srgbClr val="7C3AED"/>
            </a:solidFill>
            <a:prstDash val="solid"/>
          </a:ln>
          <a:effectLst>
            <a:outerShdw sx="100000" sy="100000" kx="0" ky="0" algn="bl" rotWithShape="0" blurRad="63500" dist="25400" dir="2700000">
              <a:srgbClr val="000000">
                <a:alpha val="12000"/>
              </a:srgbClr>
            </a:outerShdw>
          </a:effectLst>
        </p:spPr>
      </p:sp>
      <p:sp>
        <p:nvSpPr>
          <p:cNvPr id="22" name="Text 20"/>
          <p:cNvSpPr/>
          <p:nvPr/>
        </p:nvSpPr>
        <p:spPr>
          <a:xfrm>
            <a:off x="7324344" y="6126480"/>
            <a:ext cx="4462272" cy="274320"/>
          </a:xfrm>
          <a:prstGeom prst="rect">
            <a:avLst/>
          </a:prstGeom>
          <a:noFill/>
          <a:ln/>
        </p:spPr>
        <p:txBody>
          <a:bodyPr wrap="square" lIns="0" tIns="0" rIns="0" bIns="0" rtlCol="0" anchor="ctr"/>
          <a:lstStyle/>
          <a:p>
            <a:pPr indent="0" marL="0">
              <a:buNone/>
            </a:pPr>
            <a:r>
              <a:rPr lang="en-US" sz="1100" b="1" dirty="0">
                <a:solidFill>
                  <a:srgbClr val="7C3AED"/>
                </a:solidFill>
                <a:latin typeface="Cambria" pitchFamily="34" charset="0"/>
                <a:ea typeface="Cambria" pitchFamily="34" charset="-122"/>
                <a:cs typeface="Cambria" pitchFamily="34" charset="-120"/>
              </a:rPr>
              <a:t>dict.items()</a:t>
            </a:r>
            <a:endParaRPr lang="en-US" sz="1100" dirty="0"/>
          </a:p>
        </p:txBody>
      </p:sp>
      <p:sp>
        <p:nvSpPr>
          <p:cNvPr id="23" name="Text 21"/>
          <p:cNvSpPr/>
          <p:nvPr/>
        </p:nvSpPr>
        <p:spPr>
          <a:xfrm>
            <a:off x="7324344" y="6437376"/>
            <a:ext cx="4462272" cy="98755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Returns (key, value) pairs for iteration. The standard way to loop over every field in a record.</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E3C"/>
          </a:solidFill>
          <a:ln w="12700">
            <a:solidFill>
              <a:srgbClr val="0F1E3C"/>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while LOOP — RUN UNTIL A CONDITION IS MET</a:t>
            </a:r>
            <a:endParaRPr lang="en-US" sz="2600" dirty="0"/>
          </a:p>
        </p:txBody>
      </p:sp>
      <p:sp>
        <p:nvSpPr>
          <p:cNvPr id="4" name="Shape 2"/>
          <p:cNvSpPr/>
          <p:nvPr/>
        </p:nvSpPr>
        <p:spPr>
          <a:xfrm>
            <a:off x="411480" y="1024128"/>
            <a:ext cx="6583680" cy="5559552"/>
          </a:xfrm>
          <a:prstGeom prst="roundRect">
            <a:avLst>
              <a:gd name="adj" fmla="val 1645"/>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1024128"/>
            <a:ext cx="6583680" cy="347472"/>
          </a:xfrm>
          <a:prstGeom prst="roundRect">
            <a:avLst>
              <a:gd name="adj" fmla="val 26316"/>
            </a:avLst>
          </a:prstGeom>
          <a:solidFill>
            <a:srgbClr val="1A2540"/>
          </a:solidFill>
          <a:ln w="12700">
            <a:solidFill>
              <a:srgbClr val="1A2540"/>
            </a:solidFill>
            <a:prstDash val="solid"/>
          </a:ln>
        </p:spPr>
      </p:sp>
      <p:sp>
        <p:nvSpPr>
          <p:cNvPr id="6" name="Shape 4"/>
          <p:cNvSpPr/>
          <p:nvPr/>
        </p:nvSpPr>
        <p:spPr>
          <a:xfrm>
            <a:off x="411480" y="1225296"/>
            <a:ext cx="6583680" cy="146304"/>
          </a:xfrm>
          <a:prstGeom prst="rect">
            <a:avLst/>
          </a:prstGeom>
          <a:solidFill>
            <a:srgbClr val="1A2540"/>
          </a:solidFill>
          <a:ln w="12700">
            <a:solidFill>
              <a:srgbClr val="1A2540"/>
            </a:solidFill>
            <a:prstDash val="solid"/>
          </a:ln>
        </p:spPr>
      </p:sp>
      <p:sp>
        <p:nvSpPr>
          <p:cNvPr id="7" name="Shape 5"/>
          <p:cNvSpPr/>
          <p:nvPr/>
        </p:nvSpPr>
        <p:spPr>
          <a:xfrm>
            <a:off x="539496" y="1115568"/>
            <a:ext cx="164592" cy="164592"/>
          </a:xfrm>
          <a:prstGeom prst="ellipse">
            <a:avLst/>
          </a:prstGeom>
          <a:solidFill>
            <a:srgbClr val="E11D48"/>
          </a:solidFill>
          <a:ln w="12700">
            <a:solidFill>
              <a:srgbClr val="E11D48"/>
            </a:solidFill>
            <a:prstDash val="solid"/>
          </a:ln>
        </p:spPr>
      </p:sp>
      <p:sp>
        <p:nvSpPr>
          <p:cNvPr id="8" name="Shape 6"/>
          <p:cNvSpPr/>
          <p:nvPr/>
        </p:nvSpPr>
        <p:spPr>
          <a:xfrm>
            <a:off x="740664" y="1115568"/>
            <a:ext cx="164592" cy="164592"/>
          </a:xfrm>
          <a:prstGeom prst="ellipse">
            <a:avLst/>
          </a:prstGeom>
          <a:solidFill>
            <a:srgbClr val="D97706"/>
          </a:solidFill>
          <a:ln w="12700">
            <a:solidFill>
              <a:srgbClr val="D97706"/>
            </a:solidFill>
            <a:prstDash val="solid"/>
          </a:ln>
        </p:spPr>
      </p:sp>
      <p:sp>
        <p:nvSpPr>
          <p:cNvPr id="9" name="Shape 7"/>
          <p:cNvSpPr/>
          <p:nvPr/>
        </p:nvSpPr>
        <p:spPr>
          <a:xfrm>
            <a:off x="941832" y="1115568"/>
            <a:ext cx="164592" cy="164592"/>
          </a:xfrm>
          <a:prstGeom prst="ellipse">
            <a:avLst/>
          </a:prstGeom>
          <a:solidFill>
            <a:srgbClr val="16A34A"/>
          </a:solidFill>
          <a:ln w="12700">
            <a:solidFill>
              <a:srgbClr val="16A34A"/>
            </a:solidFill>
            <a:prstDash val="solid"/>
          </a:ln>
        </p:spPr>
      </p:sp>
      <p:sp>
        <p:nvSpPr>
          <p:cNvPr id="10" name="Text 8"/>
          <p:cNvSpPr/>
          <p:nvPr/>
        </p:nvSpPr>
        <p:spPr>
          <a:xfrm>
            <a:off x="1143000" y="1097280"/>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while_loops.py</a:t>
            </a:r>
            <a:endParaRPr lang="en-US" sz="900" dirty="0"/>
          </a:p>
        </p:txBody>
      </p:sp>
      <p:sp>
        <p:nvSpPr>
          <p:cNvPr id="11" name="Text 9"/>
          <p:cNvSpPr/>
          <p:nvPr/>
        </p:nvSpPr>
        <p:spPr>
          <a:xfrm>
            <a:off x="557784" y="1426464"/>
            <a:ext cx="6309360" cy="504748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Basic while loop</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invoice_num = 1000</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while invoice_num &lt;= 1010: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print(f"Processing INV-{invoice_num}")</a:t>
            </a:r>
            <a:endParaRPr lang="en-US" sz="1050" dirty="0"/>
          </a:p>
          <a:p>
            <a:pPr indent="0" marL="0">
              <a:buNone/>
            </a:pPr>
            <a:r>
              <a:rPr lang="en-US" sz="1050" dirty="0">
                <a:solidFill>
                  <a:srgbClr val="E11D48"/>
                </a:solidFill>
                <a:latin typeface="Courier New" pitchFamily="34" charset="0"/>
                <a:ea typeface="Courier New" pitchFamily="34" charset="-122"/>
                <a:cs typeface="Courier New" pitchFamily="34" charset="-120"/>
              </a:rPr>
              <a:t>    invoice_num += 1   # must update!</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Loan repayment simulation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balance   = 5_000_000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rate      = 0.02     # 2% monthly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payment   = 200_000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month     = 0</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while balance &gt; 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interest = balance * rate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balance  = balance + interest - payment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month   += 1</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print(f"Month {month}: Balance NGN {balance:,.0f}")</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print(f"Loan paid in {month} months")</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Retry pattern (API / database)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retries = 0</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while retries &lt; 3:</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result = call_api(endpoint)</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    if result.ok:</a:t>
            </a:r>
            <a:endParaRPr lang="en-US" sz="1050" dirty="0"/>
          </a:p>
          <a:p>
            <a:pPr indent="0" marL="0">
              <a:buNone/>
            </a:pPr>
            <a:r>
              <a:rPr lang="en-US" sz="1050" dirty="0">
                <a:solidFill>
                  <a:srgbClr val="E11D48"/>
                </a:solidFill>
                <a:latin typeface="Courier New" pitchFamily="34" charset="0"/>
                <a:ea typeface="Courier New" pitchFamily="34" charset="-122"/>
                <a:cs typeface="Courier New" pitchFamily="34" charset="-120"/>
              </a:rPr>
              <a:t>        break              # success: exit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retries += 1</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continue — skip current iteration</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for amount in transactions:</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    if amount &lt;= 0:</a:t>
            </a:r>
            <a:endParaRPr lang="en-US" sz="1050" dirty="0"/>
          </a:p>
          <a:p>
            <a:pPr indent="0" marL="0">
              <a:buNone/>
            </a:pPr>
            <a:r>
              <a:rPr lang="en-US" sz="1050" dirty="0">
                <a:solidFill>
                  <a:srgbClr val="7C3AED"/>
                </a:solidFill>
                <a:latin typeface="Courier New" pitchFamily="34" charset="0"/>
                <a:ea typeface="Courier New" pitchFamily="34" charset="-122"/>
                <a:cs typeface="Courier New" pitchFamily="34" charset="-120"/>
              </a:rPr>
              <a:t>        continue           # skip negatives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process_payment(amount)</a:t>
            </a:r>
            <a:endParaRPr lang="en-US" sz="1050" dirty="0"/>
          </a:p>
        </p:txBody>
      </p:sp>
      <p:sp>
        <p:nvSpPr>
          <p:cNvPr id="12" name="Shape 10"/>
          <p:cNvSpPr/>
          <p:nvPr/>
        </p:nvSpPr>
        <p:spPr>
          <a:xfrm>
            <a:off x="7178040" y="1024128"/>
            <a:ext cx="4754880" cy="1554480"/>
          </a:xfrm>
          <a:prstGeom prst="roundRect">
            <a:avLst>
              <a:gd name="adj" fmla="val 5882"/>
            </a:avLst>
          </a:prstGeom>
          <a:solidFill>
            <a:srgbClr val="1A2540"/>
          </a:solidFill>
          <a:ln w="13970">
            <a:solidFill>
              <a:srgbClr val="E11D48"/>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7324344" y="1133856"/>
            <a:ext cx="4462272" cy="274320"/>
          </a:xfrm>
          <a:prstGeom prst="rect">
            <a:avLst/>
          </a:prstGeom>
          <a:noFill/>
          <a:ln/>
        </p:spPr>
        <p:txBody>
          <a:bodyPr wrap="square" lIns="0" tIns="0" rIns="0" bIns="0" rtlCol="0" anchor="ctr"/>
          <a:lstStyle/>
          <a:p>
            <a:pPr indent="0" marL="0">
              <a:buNone/>
            </a:pPr>
            <a:r>
              <a:rPr lang="en-US" sz="1100" b="1" dirty="0">
                <a:solidFill>
                  <a:srgbClr val="E11D48"/>
                </a:solidFill>
                <a:latin typeface="Cambria" pitchFamily="34" charset="0"/>
                <a:ea typeface="Cambria" pitchFamily="34" charset="-122"/>
                <a:cs typeface="Cambria" pitchFamily="34" charset="-120"/>
              </a:rPr>
              <a:t>break</a:t>
            </a:r>
            <a:endParaRPr lang="en-US" sz="1100" dirty="0"/>
          </a:p>
        </p:txBody>
      </p:sp>
      <p:sp>
        <p:nvSpPr>
          <p:cNvPr id="14" name="Text 12"/>
          <p:cNvSpPr/>
          <p:nvPr/>
        </p:nvSpPr>
        <p:spPr>
          <a:xfrm>
            <a:off x="7324344" y="1444752"/>
            <a:ext cx="4462272" cy="98755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Exit the loop immediately. Use when you found what you need and there is no point continuing.</a:t>
            </a:r>
            <a:endParaRPr lang="en-US" sz="1000" dirty="0"/>
          </a:p>
        </p:txBody>
      </p:sp>
      <p:sp>
        <p:nvSpPr>
          <p:cNvPr id="15" name="Shape 13"/>
          <p:cNvSpPr/>
          <p:nvPr/>
        </p:nvSpPr>
        <p:spPr>
          <a:xfrm>
            <a:off x="7178040" y="2688336"/>
            <a:ext cx="4754880" cy="1554480"/>
          </a:xfrm>
          <a:prstGeom prst="roundRect">
            <a:avLst>
              <a:gd name="adj" fmla="val 5882"/>
            </a:avLst>
          </a:prstGeom>
          <a:solidFill>
            <a:srgbClr val="1A2540"/>
          </a:solidFill>
          <a:ln w="13970">
            <a:solidFill>
              <a:srgbClr val="7C3AED"/>
            </a:solidFill>
            <a:prstDash val="solid"/>
          </a:ln>
          <a:effectLst>
            <a:outerShdw sx="100000" sy="100000" kx="0" ky="0" algn="bl" rotWithShape="0" blurRad="63500" dist="25400" dir="2700000">
              <a:srgbClr val="000000">
                <a:alpha val="12000"/>
              </a:srgbClr>
            </a:outerShdw>
          </a:effectLst>
        </p:spPr>
      </p:sp>
      <p:sp>
        <p:nvSpPr>
          <p:cNvPr id="16" name="Text 14"/>
          <p:cNvSpPr/>
          <p:nvPr/>
        </p:nvSpPr>
        <p:spPr>
          <a:xfrm>
            <a:off x="7324344" y="2798064"/>
            <a:ext cx="4462272" cy="274320"/>
          </a:xfrm>
          <a:prstGeom prst="rect">
            <a:avLst/>
          </a:prstGeom>
          <a:noFill/>
          <a:ln/>
        </p:spPr>
        <p:txBody>
          <a:bodyPr wrap="square" lIns="0" tIns="0" rIns="0" bIns="0" rtlCol="0" anchor="ctr"/>
          <a:lstStyle/>
          <a:p>
            <a:pPr indent="0" marL="0">
              <a:buNone/>
            </a:pPr>
            <a:r>
              <a:rPr lang="en-US" sz="1100" b="1" dirty="0">
                <a:solidFill>
                  <a:srgbClr val="7C3AED"/>
                </a:solidFill>
                <a:latin typeface="Cambria" pitchFamily="34" charset="0"/>
                <a:ea typeface="Cambria" pitchFamily="34" charset="-122"/>
                <a:cs typeface="Cambria" pitchFamily="34" charset="-120"/>
              </a:rPr>
              <a:t>continue</a:t>
            </a:r>
            <a:endParaRPr lang="en-US" sz="1100" dirty="0"/>
          </a:p>
        </p:txBody>
      </p:sp>
      <p:sp>
        <p:nvSpPr>
          <p:cNvPr id="17" name="Text 15"/>
          <p:cNvSpPr/>
          <p:nvPr/>
        </p:nvSpPr>
        <p:spPr>
          <a:xfrm>
            <a:off x="7324344" y="3108960"/>
            <a:ext cx="4462272" cy="98755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Skip the rest of this iteration and move to the next one. Use to filter out invalid items inside a loop.</a:t>
            </a:r>
            <a:endParaRPr lang="en-US" sz="1000" dirty="0"/>
          </a:p>
        </p:txBody>
      </p:sp>
      <p:sp>
        <p:nvSpPr>
          <p:cNvPr id="18" name="Shape 16"/>
          <p:cNvSpPr/>
          <p:nvPr/>
        </p:nvSpPr>
        <p:spPr>
          <a:xfrm>
            <a:off x="7178040" y="4352544"/>
            <a:ext cx="4754880" cy="1554480"/>
          </a:xfrm>
          <a:prstGeom prst="roundRect">
            <a:avLst>
              <a:gd name="adj" fmla="val 5882"/>
            </a:avLst>
          </a:prstGeom>
          <a:solidFill>
            <a:srgbClr val="1A2540"/>
          </a:solidFill>
          <a:ln w="13970">
            <a:solidFill>
              <a:srgbClr val="2563EB"/>
            </a:solidFill>
            <a:prstDash val="solid"/>
          </a:ln>
          <a:effectLst>
            <a:outerShdw sx="100000" sy="100000" kx="0" ky="0" algn="bl" rotWithShape="0" blurRad="63500" dist="25400" dir="2700000">
              <a:srgbClr val="000000">
                <a:alpha val="12000"/>
              </a:srgbClr>
            </a:outerShdw>
          </a:effectLst>
        </p:spPr>
      </p:sp>
      <p:sp>
        <p:nvSpPr>
          <p:cNvPr id="19" name="Text 17"/>
          <p:cNvSpPr/>
          <p:nvPr/>
        </p:nvSpPr>
        <p:spPr>
          <a:xfrm>
            <a:off x="7324344" y="4462272"/>
            <a:ext cx="4462272" cy="274320"/>
          </a:xfrm>
          <a:prstGeom prst="rect">
            <a:avLst/>
          </a:prstGeom>
          <a:noFill/>
          <a:ln/>
        </p:spPr>
        <p:txBody>
          <a:bodyPr wrap="square" lIns="0" tIns="0" rIns="0" bIns="0" rtlCol="0" anchor="ctr"/>
          <a:lstStyle/>
          <a:p>
            <a:pPr indent="0" marL="0">
              <a:buNone/>
            </a:pPr>
            <a:r>
              <a:rPr lang="en-US" sz="1100" b="1" dirty="0">
                <a:solidFill>
                  <a:srgbClr val="2563EB"/>
                </a:solidFill>
                <a:latin typeface="Cambria" pitchFamily="34" charset="0"/>
                <a:ea typeface="Cambria" pitchFamily="34" charset="-122"/>
                <a:cs typeface="Cambria" pitchFamily="34" charset="-120"/>
              </a:rPr>
              <a:t>else on a loop</a:t>
            </a:r>
            <a:endParaRPr lang="en-US" sz="1100" dirty="0"/>
          </a:p>
        </p:txBody>
      </p:sp>
      <p:sp>
        <p:nvSpPr>
          <p:cNvPr id="20" name="Text 18"/>
          <p:cNvSpPr/>
          <p:nvPr/>
        </p:nvSpPr>
        <p:spPr>
          <a:xfrm>
            <a:off x="7324344" y="4773168"/>
            <a:ext cx="4462272" cy="98755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Runs ONLY if loop completed without break.</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for item in data:</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    if match: break</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else: print('Not found')</a:t>
            </a:r>
            <a:endParaRPr lang="en-US" sz="1000" dirty="0"/>
          </a:p>
        </p:txBody>
      </p:sp>
      <p:sp>
        <p:nvSpPr>
          <p:cNvPr id="21" name="Shape 19"/>
          <p:cNvSpPr/>
          <p:nvPr/>
        </p:nvSpPr>
        <p:spPr>
          <a:xfrm>
            <a:off x="7178040" y="6016752"/>
            <a:ext cx="4754880" cy="1554480"/>
          </a:xfrm>
          <a:prstGeom prst="roundRect">
            <a:avLst>
              <a:gd name="adj" fmla="val 5882"/>
            </a:avLst>
          </a:prstGeom>
          <a:solidFill>
            <a:srgbClr val="1A2540"/>
          </a:solidFill>
          <a:ln w="13970">
            <a:solidFill>
              <a:srgbClr val="E11D48"/>
            </a:solidFill>
            <a:prstDash val="solid"/>
          </a:ln>
          <a:effectLst>
            <a:outerShdw sx="100000" sy="100000" kx="0" ky="0" algn="bl" rotWithShape="0" blurRad="63500" dist="25400" dir="2700000">
              <a:srgbClr val="000000">
                <a:alpha val="12000"/>
              </a:srgbClr>
            </a:outerShdw>
          </a:effectLst>
        </p:spPr>
      </p:sp>
      <p:sp>
        <p:nvSpPr>
          <p:cNvPr id="22" name="Text 20"/>
          <p:cNvSpPr/>
          <p:nvPr/>
        </p:nvSpPr>
        <p:spPr>
          <a:xfrm>
            <a:off x="7324344" y="6126480"/>
            <a:ext cx="4462272" cy="274320"/>
          </a:xfrm>
          <a:prstGeom prst="rect">
            <a:avLst/>
          </a:prstGeom>
          <a:noFill/>
          <a:ln/>
        </p:spPr>
        <p:txBody>
          <a:bodyPr wrap="square" lIns="0" tIns="0" rIns="0" bIns="0" rtlCol="0" anchor="ctr"/>
          <a:lstStyle/>
          <a:p>
            <a:pPr indent="0" marL="0">
              <a:buNone/>
            </a:pPr>
            <a:r>
              <a:rPr lang="en-US" sz="1100" b="1" dirty="0">
                <a:solidFill>
                  <a:srgbClr val="E11D48"/>
                </a:solidFill>
                <a:latin typeface="Cambria" pitchFamily="34" charset="0"/>
                <a:ea typeface="Cambria" pitchFamily="34" charset="-122"/>
                <a:cs typeface="Cambria" pitchFamily="34" charset="-120"/>
              </a:rPr>
              <a:t>Infinite loop danger</a:t>
            </a:r>
            <a:endParaRPr lang="en-US" sz="1100" dirty="0"/>
          </a:p>
        </p:txBody>
      </p:sp>
      <p:sp>
        <p:nvSpPr>
          <p:cNvPr id="23" name="Text 21"/>
          <p:cNvSpPr/>
          <p:nvPr/>
        </p:nvSpPr>
        <p:spPr>
          <a:xfrm>
            <a:off x="7324344" y="6437376"/>
            <a:ext cx="4462272" cy="98755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while True: without break runs forever and crashes Colab. Always ensure a guaranteed exit condition or a break statement.</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E3C"/>
          </a:solidFill>
          <a:ln w="12700">
            <a:solidFill>
              <a:srgbClr val="0F1E3C"/>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LOOPS IN BUSINESS — REAL APPLICATIONS</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11338560" cy="557784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526"/>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891B2"/>
          </a:solidFill>
          <a:ln w="12700">
            <a:solidFill>
              <a:srgbClr val="0891B2"/>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SECTION 06 CHALLENGE — LOOPS</a:t>
            </a:r>
            <a:endParaRPr lang="en-US" sz="2600" dirty="0"/>
          </a:p>
        </p:txBody>
      </p:sp>
      <p:sp>
        <p:nvSpPr>
          <p:cNvPr id="4" name="Shape 2"/>
          <p:cNvSpPr/>
          <p:nvPr/>
        </p:nvSpPr>
        <p:spPr>
          <a:xfrm>
            <a:off x="411480" y="1097280"/>
            <a:ext cx="5577840" cy="3383280"/>
          </a:xfrm>
          <a:prstGeom prst="roundRect">
            <a:avLst>
              <a:gd name="adj" fmla="val 2703"/>
            </a:avLst>
          </a:prstGeom>
          <a:solidFill>
            <a:srgbClr val="1A2540"/>
          </a:solidFill>
          <a:ln w="17780">
            <a:solidFill>
              <a:srgbClr val="2563EB"/>
            </a:solidFill>
            <a:prstDash val="solid"/>
          </a:ln>
          <a:effectLst>
            <a:outerShdw sx="100000" sy="100000" kx="0" ky="0" algn="bl" rotWithShape="0" blurRad="63500" dist="25400" dir="2700000">
              <a:srgbClr val="000000">
                <a:alpha val="12000"/>
              </a:srgbClr>
            </a:outerShdw>
          </a:effectLst>
        </p:spPr>
      </p:sp>
      <p:sp>
        <p:nvSpPr>
          <p:cNvPr id="5" name="Shape 3"/>
          <p:cNvSpPr/>
          <p:nvPr/>
        </p:nvSpPr>
        <p:spPr>
          <a:xfrm>
            <a:off x="411480" y="1097280"/>
            <a:ext cx="5577840" cy="457200"/>
          </a:xfrm>
          <a:prstGeom prst="roundRect">
            <a:avLst>
              <a:gd name="adj" fmla="val 20000"/>
            </a:avLst>
          </a:prstGeom>
          <a:solidFill>
            <a:srgbClr val="2563EB"/>
          </a:solidFill>
          <a:ln w="12700">
            <a:solidFill>
              <a:srgbClr val="2563EB"/>
            </a:solidFill>
            <a:prstDash val="solid"/>
          </a:ln>
        </p:spPr>
      </p:sp>
      <p:sp>
        <p:nvSpPr>
          <p:cNvPr id="6" name="Shape 4"/>
          <p:cNvSpPr/>
          <p:nvPr/>
        </p:nvSpPr>
        <p:spPr>
          <a:xfrm>
            <a:off x="411480" y="1389888"/>
            <a:ext cx="5577840" cy="164592"/>
          </a:xfrm>
          <a:prstGeom prst="rect">
            <a:avLst/>
          </a:prstGeom>
          <a:solidFill>
            <a:srgbClr val="2563EB"/>
          </a:solidFill>
          <a:ln w="12700">
            <a:solidFill>
              <a:srgbClr val="2563EB"/>
            </a:solidFill>
            <a:prstDash val="solid"/>
          </a:ln>
        </p:spPr>
      </p:sp>
      <p:sp>
        <p:nvSpPr>
          <p:cNvPr id="7" name="Text 5"/>
          <p:cNvSpPr/>
          <p:nvPr/>
        </p:nvSpPr>
        <p:spPr>
          <a:xfrm>
            <a:off x="521208" y="1170432"/>
            <a:ext cx="5358384" cy="292608"/>
          </a:xfrm>
          <a:prstGeom prst="rect">
            <a:avLst/>
          </a:prstGeom>
          <a:noFill/>
          <a:ln/>
        </p:spPr>
        <p:txBody>
          <a:bodyPr wrap="square" lIns="0" tIns="0" rIns="0" bIns="0" rtlCol="0" anchor="ctr"/>
          <a:lstStyle/>
          <a:p>
            <a:pPr indent="0" marL="0">
              <a:buNone/>
            </a:pPr>
            <a:r>
              <a:rPr lang="en-US" sz="1100" b="1" dirty="0">
                <a:solidFill>
                  <a:srgbClr val="080D18"/>
                </a:solidFill>
                <a:latin typeface="Calibri" pitchFamily="34" charset="0"/>
                <a:ea typeface="Calibri" pitchFamily="34" charset="-122"/>
                <a:cs typeface="Calibri" pitchFamily="34" charset="-120"/>
              </a:rPr>
              <a:t>⚡  CHALLENGE</a:t>
            </a:r>
            <a:endParaRPr lang="en-US" sz="1100" dirty="0"/>
          </a:p>
        </p:txBody>
      </p:sp>
      <p:sp>
        <p:nvSpPr>
          <p:cNvPr id="8" name="Text 6"/>
          <p:cNvSpPr/>
          <p:nvPr/>
        </p:nvSpPr>
        <p:spPr>
          <a:xfrm>
            <a:off x="539496" y="1645920"/>
            <a:ext cx="5321808" cy="1389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Q1. Given:</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regions = ['Lagos','Abuja','Kano','Rivers']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revenues = [4500000,2100000,1800000,1600000]</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Print each as: '#1. Lagos: NGN 4,500,000'</a:t>
            </a:r>
            <a:endParaRPr lang="en-US" sz="1100" dirty="0"/>
          </a:p>
        </p:txBody>
      </p:sp>
      <p:sp>
        <p:nvSpPr>
          <p:cNvPr id="9" name="Shape 7"/>
          <p:cNvSpPr/>
          <p:nvPr/>
        </p:nvSpPr>
        <p:spPr>
          <a:xfrm>
            <a:off x="539496" y="3145536"/>
            <a:ext cx="5321808" cy="18288"/>
          </a:xfrm>
          <a:prstGeom prst="rect">
            <a:avLst/>
          </a:prstGeom>
          <a:solidFill>
            <a:srgbClr val="64748B"/>
          </a:solidFill>
          <a:ln w="12700">
            <a:solidFill>
              <a:srgbClr val="64748B"/>
            </a:solidFill>
            <a:prstDash val="solid"/>
          </a:ln>
        </p:spPr>
      </p:sp>
      <p:sp>
        <p:nvSpPr>
          <p:cNvPr id="10" name="Text 8"/>
          <p:cNvSpPr/>
          <p:nvPr/>
        </p:nvSpPr>
        <p:spPr>
          <a:xfrm>
            <a:off x="539496" y="3236976"/>
            <a:ext cx="5321808" cy="256032"/>
          </a:xfrm>
          <a:prstGeom prst="rect">
            <a:avLst/>
          </a:prstGeom>
          <a:noFill/>
          <a:ln/>
        </p:spPr>
        <p:txBody>
          <a:bodyPr wrap="square" lIns="0" tIns="0" rIns="0" bIns="0" rtlCol="0" anchor="ctr"/>
          <a:lstStyle/>
          <a:p>
            <a:pPr indent="0" marL="0">
              <a:buNone/>
            </a:pPr>
            <a:r>
              <a:rPr lang="en-US" sz="1000" b="1" dirty="0">
                <a:solidFill>
                  <a:srgbClr val="2563EB"/>
                </a:solidFill>
                <a:latin typeface="Cambria" pitchFamily="34" charset="0"/>
                <a:ea typeface="Cambria" pitchFamily="34" charset="-122"/>
                <a:cs typeface="Cambria" pitchFamily="34" charset="-120"/>
              </a:rPr>
              <a:t>Answer:</a:t>
            </a:r>
            <a:endParaRPr lang="en-US" sz="1000" dirty="0"/>
          </a:p>
        </p:txBody>
      </p:sp>
      <p:sp>
        <p:nvSpPr>
          <p:cNvPr id="11" name="Text 9"/>
          <p:cNvSpPr/>
          <p:nvPr/>
        </p:nvSpPr>
        <p:spPr>
          <a:xfrm>
            <a:off x="539496" y="3529584"/>
            <a:ext cx="5321808" cy="822960"/>
          </a:xfrm>
          <a:prstGeom prst="rect">
            <a:avLst/>
          </a:prstGeom>
          <a:noFill/>
          <a:ln/>
        </p:spPr>
        <p:txBody>
          <a:bodyPr wrap="square" lIns="0" tIns="0" rIns="0" bIns="0" rtlCol="0" anchor="ctr"/>
          <a:lstStyle/>
          <a:p>
            <a:pPr indent="0" marL="0">
              <a:buNone/>
            </a:pPr>
            <a:r>
              <a:rPr lang="en-US" sz="1000" dirty="0">
                <a:solidFill>
                  <a:srgbClr val="16A34A"/>
                </a:solidFill>
                <a:latin typeface="Courier New" pitchFamily="34" charset="0"/>
                <a:ea typeface="Courier New" pitchFamily="34" charset="-122"/>
                <a:cs typeface="Courier New" pitchFamily="34" charset="-120"/>
              </a:rPr>
              <a:t>for i,(r,v) in enumerate(zip(regions,revenues),1):</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    print(f'#{i}. {r}: NGN {v:,}')</a:t>
            </a:r>
            <a:endParaRPr lang="en-US" sz="1000" dirty="0"/>
          </a:p>
        </p:txBody>
      </p:sp>
      <p:sp>
        <p:nvSpPr>
          <p:cNvPr id="12" name="Shape 10"/>
          <p:cNvSpPr/>
          <p:nvPr/>
        </p:nvSpPr>
        <p:spPr>
          <a:xfrm>
            <a:off x="6172200" y="1097280"/>
            <a:ext cx="5760720" cy="3383280"/>
          </a:xfrm>
          <a:prstGeom prst="roundRect">
            <a:avLst>
              <a:gd name="adj" fmla="val 2703"/>
            </a:avLst>
          </a:prstGeom>
          <a:solidFill>
            <a:srgbClr val="1A2540"/>
          </a:solidFill>
          <a:ln w="17780">
            <a:solidFill>
              <a:srgbClr val="16A34A"/>
            </a:solidFill>
            <a:prstDash val="solid"/>
          </a:ln>
          <a:effectLst>
            <a:outerShdw sx="100000" sy="100000" kx="0" ky="0" algn="bl" rotWithShape="0" blurRad="63500" dist="25400" dir="2700000">
              <a:srgbClr val="000000">
                <a:alpha val="12000"/>
              </a:srgbClr>
            </a:outerShdw>
          </a:effectLst>
        </p:spPr>
      </p:sp>
      <p:sp>
        <p:nvSpPr>
          <p:cNvPr id="13" name="Shape 11"/>
          <p:cNvSpPr/>
          <p:nvPr/>
        </p:nvSpPr>
        <p:spPr>
          <a:xfrm>
            <a:off x="6172200" y="1097280"/>
            <a:ext cx="5760720" cy="457200"/>
          </a:xfrm>
          <a:prstGeom prst="roundRect">
            <a:avLst>
              <a:gd name="adj" fmla="val 20000"/>
            </a:avLst>
          </a:prstGeom>
          <a:solidFill>
            <a:srgbClr val="16A34A"/>
          </a:solidFill>
          <a:ln w="12700">
            <a:solidFill>
              <a:srgbClr val="16A34A"/>
            </a:solidFill>
            <a:prstDash val="solid"/>
          </a:ln>
        </p:spPr>
      </p:sp>
      <p:sp>
        <p:nvSpPr>
          <p:cNvPr id="14" name="Shape 12"/>
          <p:cNvSpPr/>
          <p:nvPr/>
        </p:nvSpPr>
        <p:spPr>
          <a:xfrm>
            <a:off x="6172200" y="1389888"/>
            <a:ext cx="5760720" cy="164592"/>
          </a:xfrm>
          <a:prstGeom prst="rect">
            <a:avLst/>
          </a:prstGeom>
          <a:solidFill>
            <a:srgbClr val="16A34A"/>
          </a:solidFill>
          <a:ln w="12700">
            <a:solidFill>
              <a:srgbClr val="16A34A"/>
            </a:solidFill>
            <a:prstDash val="solid"/>
          </a:ln>
        </p:spPr>
      </p:sp>
      <p:sp>
        <p:nvSpPr>
          <p:cNvPr id="15" name="Text 13"/>
          <p:cNvSpPr/>
          <p:nvPr/>
        </p:nvSpPr>
        <p:spPr>
          <a:xfrm>
            <a:off x="6281928" y="1170432"/>
            <a:ext cx="5541264" cy="292608"/>
          </a:xfrm>
          <a:prstGeom prst="rect">
            <a:avLst/>
          </a:prstGeom>
          <a:noFill/>
          <a:ln/>
        </p:spPr>
        <p:txBody>
          <a:bodyPr wrap="square" lIns="0" tIns="0" rIns="0" bIns="0" rtlCol="0" anchor="ctr"/>
          <a:lstStyle/>
          <a:p>
            <a:pPr indent="0" marL="0">
              <a:buNone/>
            </a:pPr>
            <a:r>
              <a:rPr lang="en-US" sz="1100" b="1" dirty="0">
                <a:solidFill>
                  <a:srgbClr val="080D18"/>
                </a:solidFill>
                <a:latin typeface="Calibri" pitchFamily="34" charset="0"/>
                <a:ea typeface="Calibri" pitchFamily="34" charset="-122"/>
                <a:cs typeface="Calibri" pitchFamily="34" charset="-120"/>
              </a:rPr>
              <a:t>⚡  CHALLENGE</a:t>
            </a:r>
            <a:endParaRPr lang="en-US" sz="1100" dirty="0"/>
          </a:p>
        </p:txBody>
      </p:sp>
      <p:sp>
        <p:nvSpPr>
          <p:cNvPr id="16" name="Text 14"/>
          <p:cNvSpPr/>
          <p:nvPr/>
        </p:nvSpPr>
        <p:spPr>
          <a:xfrm>
            <a:off x="6300216" y="1645920"/>
            <a:ext cx="5504688" cy="1389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Q2. Write a for loop that processes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scores = [45,78,0,91,-5,65,50,88]</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and builds two lists: valid_scores (0-100)</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and invalid_scores (out of range).</a:t>
            </a:r>
            <a:endParaRPr lang="en-US" sz="1100" dirty="0"/>
          </a:p>
        </p:txBody>
      </p:sp>
      <p:sp>
        <p:nvSpPr>
          <p:cNvPr id="17" name="Shape 15"/>
          <p:cNvSpPr/>
          <p:nvPr/>
        </p:nvSpPr>
        <p:spPr>
          <a:xfrm>
            <a:off x="6300216" y="3145536"/>
            <a:ext cx="5504688" cy="18288"/>
          </a:xfrm>
          <a:prstGeom prst="rect">
            <a:avLst/>
          </a:prstGeom>
          <a:solidFill>
            <a:srgbClr val="64748B"/>
          </a:solidFill>
          <a:ln w="12700">
            <a:solidFill>
              <a:srgbClr val="64748B"/>
            </a:solidFill>
            <a:prstDash val="solid"/>
          </a:ln>
        </p:spPr>
      </p:sp>
      <p:sp>
        <p:nvSpPr>
          <p:cNvPr id="18" name="Text 16"/>
          <p:cNvSpPr/>
          <p:nvPr/>
        </p:nvSpPr>
        <p:spPr>
          <a:xfrm>
            <a:off x="6300216" y="3236976"/>
            <a:ext cx="5504688" cy="256032"/>
          </a:xfrm>
          <a:prstGeom prst="rect">
            <a:avLst/>
          </a:prstGeom>
          <a:noFill/>
          <a:ln/>
        </p:spPr>
        <p:txBody>
          <a:bodyPr wrap="square" lIns="0" tIns="0" rIns="0" bIns="0" rtlCol="0" anchor="ctr"/>
          <a:lstStyle/>
          <a:p>
            <a:pPr indent="0" marL="0">
              <a:buNone/>
            </a:pPr>
            <a:r>
              <a:rPr lang="en-US" sz="1000" b="1" dirty="0">
                <a:solidFill>
                  <a:srgbClr val="16A34A"/>
                </a:solidFill>
                <a:latin typeface="Cambria" pitchFamily="34" charset="0"/>
                <a:ea typeface="Cambria" pitchFamily="34" charset="-122"/>
                <a:cs typeface="Cambria" pitchFamily="34" charset="-120"/>
              </a:rPr>
              <a:t>Answer:</a:t>
            </a:r>
            <a:endParaRPr lang="en-US" sz="1000" dirty="0"/>
          </a:p>
        </p:txBody>
      </p:sp>
      <p:sp>
        <p:nvSpPr>
          <p:cNvPr id="19" name="Text 17"/>
          <p:cNvSpPr/>
          <p:nvPr/>
        </p:nvSpPr>
        <p:spPr>
          <a:xfrm>
            <a:off x="6300216" y="3529584"/>
            <a:ext cx="5504688" cy="822960"/>
          </a:xfrm>
          <a:prstGeom prst="rect">
            <a:avLst/>
          </a:prstGeom>
          <a:noFill/>
          <a:ln/>
        </p:spPr>
        <p:txBody>
          <a:bodyPr wrap="square" lIns="0" tIns="0" rIns="0" bIns="0" rtlCol="0" anchor="ctr"/>
          <a:lstStyle/>
          <a:p>
            <a:pPr indent="0" marL="0">
              <a:buNone/>
            </a:pPr>
            <a:r>
              <a:rPr lang="en-US" sz="1000" dirty="0">
                <a:solidFill>
                  <a:srgbClr val="16A34A"/>
                </a:solidFill>
                <a:latin typeface="Courier New" pitchFamily="34" charset="0"/>
                <a:ea typeface="Courier New" pitchFamily="34" charset="-122"/>
                <a:cs typeface="Courier New" pitchFamily="34" charset="-120"/>
              </a:rPr>
              <a:t>valid=[]; invalid=[]</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for s in scores:</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    if 0 &lt;= s &lt;= 100: valid.append(s)</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    else: invalid.append(s)</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 invalid: [0 is valid — range is 0 to 100]</a:t>
            </a:r>
            <a:endParaRPr lang="en-US" sz="1000" dirty="0"/>
          </a:p>
        </p:txBody>
      </p:sp>
      <p:sp>
        <p:nvSpPr>
          <p:cNvPr id="20" name="Shape 18"/>
          <p:cNvSpPr/>
          <p:nvPr/>
        </p:nvSpPr>
        <p:spPr>
          <a:xfrm>
            <a:off x="411480" y="4535424"/>
            <a:ext cx="5577840" cy="3383280"/>
          </a:xfrm>
          <a:prstGeom prst="roundRect">
            <a:avLst>
              <a:gd name="adj" fmla="val 2703"/>
            </a:avLst>
          </a:prstGeom>
          <a:solidFill>
            <a:srgbClr val="1A2540"/>
          </a:solidFill>
          <a:ln w="17780">
            <a:solidFill>
              <a:srgbClr val="7C3AED"/>
            </a:solidFill>
            <a:prstDash val="solid"/>
          </a:ln>
          <a:effectLst>
            <a:outerShdw sx="100000" sy="100000" kx="0" ky="0" algn="bl" rotWithShape="0" blurRad="63500" dist="25400" dir="2700000">
              <a:srgbClr val="000000">
                <a:alpha val="12000"/>
              </a:srgbClr>
            </a:outerShdw>
          </a:effectLst>
        </p:spPr>
      </p:sp>
      <p:sp>
        <p:nvSpPr>
          <p:cNvPr id="21" name="Shape 19"/>
          <p:cNvSpPr/>
          <p:nvPr/>
        </p:nvSpPr>
        <p:spPr>
          <a:xfrm>
            <a:off x="411480" y="4535424"/>
            <a:ext cx="5577840" cy="457200"/>
          </a:xfrm>
          <a:prstGeom prst="roundRect">
            <a:avLst>
              <a:gd name="adj" fmla="val 20000"/>
            </a:avLst>
          </a:prstGeom>
          <a:solidFill>
            <a:srgbClr val="7C3AED"/>
          </a:solidFill>
          <a:ln w="12700">
            <a:solidFill>
              <a:srgbClr val="7C3AED"/>
            </a:solidFill>
            <a:prstDash val="solid"/>
          </a:ln>
        </p:spPr>
      </p:sp>
      <p:sp>
        <p:nvSpPr>
          <p:cNvPr id="22" name="Shape 20"/>
          <p:cNvSpPr/>
          <p:nvPr/>
        </p:nvSpPr>
        <p:spPr>
          <a:xfrm>
            <a:off x="411480" y="4828032"/>
            <a:ext cx="5577840" cy="164592"/>
          </a:xfrm>
          <a:prstGeom prst="rect">
            <a:avLst/>
          </a:prstGeom>
          <a:solidFill>
            <a:srgbClr val="7C3AED"/>
          </a:solidFill>
          <a:ln w="12700">
            <a:solidFill>
              <a:srgbClr val="7C3AED"/>
            </a:solidFill>
            <a:prstDash val="solid"/>
          </a:ln>
        </p:spPr>
      </p:sp>
      <p:sp>
        <p:nvSpPr>
          <p:cNvPr id="23" name="Text 21"/>
          <p:cNvSpPr/>
          <p:nvPr/>
        </p:nvSpPr>
        <p:spPr>
          <a:xfrm>
            <a:off x="521208" y="4608576"/>
            <a:ext cx="5358384" cy="292608"/>
          </a:xfrm>
          <a:prstGeom prst="rect">
            <a:avLst/>
          </a:prstGeom>
          <a:noFill/>
          <a:ln/>
        </p:spPr>
        <p:txBody>
          <a:bodyPr wrap="square" lIns="0" tIns="0" rIns="0" bIns="0" rtlCol="0" anchor="ctr"/>
          <a:lstStyle/>
          <a:p>
            <a:pPr indent="0" marL="0">
              <a:buNone/>
            </a:pPr>
            <a:r>
              <a:rPr lang="en-US" sz="1100" b="1" dirty="0">
                <a:solidFill>
                  <a:srgbClr val="080D18"/>
                </a:solidFill>
                <a:latin typeface="Calibri" pitchFamily="34" charset="0"/>
                <a:ea typeface="Calibri" pitchFamily="34" charset="-122"/>
                <a:cs typeface="Calibri" pitchFamily="34" charset="-120"/>
              </a:rPr>
              <a:t>⚡  CHALLENGE</a:t>
            </a:r>
            <a:endParaRPr lang="en-US" sz="1100" dirty="0"/>
          </a:p>
        </p:txBody>
      </p:sp>
      <p:sp>
        <p:nvSpPr>
          <p:cNvPr id="24" name="Text 22"/>
          <p:cNvSpPr/>
          <p:nvPr/>
        </p:nvSpPr>
        <p:spPr>
          <a:xfrm>
            <a:off x="539496" y="5084064"/>
            <a:ext cx="5321808" cy="1389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Q3. Simulate a loan:</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balance = 1,000,000</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monthly rate = 1.5%, monthly payment = 50,000</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How many months to pay off?</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Print final month count.</a:t>
            </a:r>
            <a:endParaRPr lang="en-US" sz="1100" dirty="0"/>
          </a:p>
        </p:txBody>
      </p:sp>
      <p:sp>
        <p:nvSpPr>
          <p:cNvPr id="25" name="Shape 23"/>
          <p:cNvSpPr/>
          <p:nvPr/>
        </p:nvSpPr>
        <p:spPr>
          <a:xfrm>
            <a:off x="539496" y="6583680"/>
            <a:ext cx="5321808" cy="18288"/>
          </a:xfrm>
          <a:prstGeom prst="rect">
            <a:avLst/>
          </a:prstGeom>
          <a:solidFill>
            <a:srgbClr val="64748B"/>
          </a:solidFill>
          <a:ln w="12700">
            <a:solidFill>
              <a:srgbClr val="64748B"/>
            </a:solidFill>
            <a:prstDash val="solid"/>
          </a:ln>
        </p:spPr>
      </p:sp>
      <p:sp>
        <p:nvSpPr>
          <p:cNvPr id="26" name="Text 24"/>
          <p:cNvSpPr/>
          <p:nvPr/>
        </p:nvSpPr>
        <p:spPr>
          <a:xfrm>
            <a:off x="539496" y="6675120"/>
            <a:ext cx="5321808" cy="256032"/>
          </a:xfrm>
          <a:prstGeom prst="rect">
            <a:avLst/>
          </a:prstGeom>
          <a:noFill/>
          <a:ln/>
        </p:spPr>
        <p:txBody>
          <a:bodyPr wrap="square" lIns="0" tIns="0" rIns="0" bIns="0" rtlCol="0" anchor="ctr"/>
          <a:lstStyle/>
          <a:p>
            <a:pPr indent="0" marL="0">
              <a:buNone/>
            </a:pPr>
            <a:r>
              <a:rPr lang="en-US" sz="1000" b="1" dirty="0">
                <a:solidFill>
                  <a:srgbClr val="7C3AED"/>
                </a:solidFill>
                <a:latin typeface="Cambria" pitchFamily="34" charset="0"/>
                <a:ea typeface="Cambria" pitchFamily="34" charset="-122"/>
                <a:cs typeface="Cambria" pitchFamily="34" charset="-120"/>
              </a:rPr>
              <a:t>Answer:</a:t>
            </a:r>
            <a:endParaRPr lang="en-US" sz="1000" dirty="0"/>
          </a:p>
        </p:txBody>
      </p:sp>
      <p:sp>
        <p:nvSpPr>
          <p:cNvPr id="27" name="Text 25"/>
          <p:cNvSpPr/>
          <p:nvPr/>
        </p:nvSpPr>
        <p:spPr>
          <a:xfrm>
            <a:off x="539496" y="6967728"/>
            <a:ext cx="5321808" cy="822960"/>
          </a:xfrm>
          <a:prstGeom prst="rect">
            <a:avLst/>
          </a:prstGeom>
          <a:noFill/>
          <a:ln/>
        </p:spPr>
        <p:txBody>
          <a:bodyPr wrap="square" lIns="0" tIns="0" rIns="0" bIns="0" rtlCol="0" anchor="ctr"/>
          <a:lstStyle/>
          <a:p>
            <a:pPr indent="0" marL="0">
              <a:buNone/>
            </a:pPr>
            <a:r>
              <a:rPr lang="en-US" sz="1000" dirty="0">
                <a:solidFill>
                  <a:srgbClr val="16A34A"/>
                </a:solidFill>
                <a:latin typeface="Courier New" pitchFamily="34" charset="0"/>
                <a:ea typeface="Courier New" pitchFamily="34" charset="-122"/>
                <a:cs typeface="Courier New" pitchFamily="34" charset="-120"/>
              </a:rPr>
              <a:t>bal=1_000_000; rate=0.015; pmt=50_000; m=0</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while bal &gt; 0:</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    bal = bal*(1+rate) - pmt</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    m += 1</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print(m, 'months')  # approx 25 months</a:t>
            </a:r>
            <a:endParaRPr lang="en-US" sz="1000" dirty="0"/>
          </a:p>
        </p:txBody>
      </p:sp>
      <p:sp>
        <p:nvSpPr>
          <p:cNvPr id="28" name="Shape 26"/>
          <p:cNvSpPr/>
          <p:nvPr/>
        </p:nvSpPr>
        <p:spPr>
          <a:xfrm>
            <a:off x="6172200" y="4535424"/>
            <a:ext cx="5760720" cy="3383280"/>
          </a:xfrm>
          <a:prstGeom prst="roundRect">
            <a:avLst>
              <a:gd name="adj" fmla="val 2703"/>
            </a:avLst>
          </a:prstGeom>
          <a:solidFill>
            <a:srgbClr val="1A2540"/>
          </a:solidFill>
          <a:ln w="17780">
            <a:solidFill>
              <a:srgbClr val="D97706"/>
            </a:solidFill>
            <a:prstDash val="solid"/>
          </a:ln>
          <a:effectLst>
            <a:outerShdw sx="100000" sy="100000" kx="0" ky="0" algn="bl" rotWithShape="0" blurRad="63500" dist="25400" dir="2700000">
              <a:srgbClr val="000000">
                <a:alpha val="12000"/>
              </a:srgbClr>
            </a:outerShdw>
          </a:effectLst>
        </p:spPr>
      </p:sp>
      <p:sp>
        <p:nvSpPr>
          <p:cNvPr id="29" name="Shape 27"/>
          <p:cNvSpPr/>
          <p:nvPr/>
        </p:nvSpPr>
        <p:spPr>
          <a:xfrm>
            <a:off x="6172200" y="4535424"/>
            <a:ext cx="5760720" cy="457200"/>
          </a:xfrm>
          <a:prstGeom prst="roundRect">
            <a:avLst>
              <a:gd name="adj" fmla="val 20000"/>
            </a:avLst>
          </a:prstGeom>
          <a:solidFill>
            <a:srgbClr val="D97706"/>
          </a:solidFill>
          <a:ln w="12700">
            <a:solidFill>
              <a:srgbClr val="D97706"/>
            </a:solidFill>
            <a:prstDash val="solid"/>
          </a:ln>
        </p:spPr>
      </p:sp>
      <p:sp>
        <p:nvSpPr>
          <p:cNvPr id="30" name="Shape 28"/>
          <p:cNvSpPr/>
          <p:nvPr/>
        </p:nvSpPr>
        <p:spPr>
          <a:xfrm>
            <a:off x="6172200" y="4828032"/>
            <a:ext cx="5760720" cy="164592"/>
          </a:xfrm>
          <a:prstGeom prst="rect">
            <a:avLst/>
          </a:prstGeom>
          <a:solidFill>
            <a:srgbClr val="D97706"/>
          </a:solidFill>
          <a:ln w="12700">
            <a:solidFill>
              <a:srgbClr val="D97706"/>
            </a:solidFill>
            <a:prstDash val="solid"/>
          </a:ln>
        </p:spPr>
      </p:sp>
      <p:sp>
        <p:nvSpPr>
          <p:cNvPr id="31" name="Text 29"/>
          <p:cNvSpPr/>
          <p:nvPr/>
        </p:nvSpPr>
        <p:spPr>
          <a:xfrm>
            <a:off x="6281928" y="4608576"/>
            <a:ext cx="5541264" cy="292608"/>
          </a:xfrm>
          <a:prstGeom prst="rect">
            <a:avLst/>
          </a:prstGeom>
          <a:noFill/>
          <a:ln/>
        </p:spPr>
        <p:txBody>
          <a:bodyPr wrap="square" lIns="0" tIns="0" rIns="0" bIns="0" rtlCol="0" anchor="ctr"/>
          <a:lstStyle/>
          <a:p>
            <a:pPr indent="0" marL="0">
              <a:buNone/>
            </a:pPr>
            <a:r>
              <a:rPr lang="en-US" sz="1100" b="1" dirty="0">
                <a:solidFill>
                  <a:srgbClr val="080D18"/>
                </a:solidFill>
                <a:latin typeface="Calibri" pitchFamily="34" charset="0"/>
                <a:ea typeface="Calibri" pitchFamily="34" charset="-122"/>
                <a:cs typeface="Calibri" pitchFamily="34" charset="-120"/>
              </a:rPr>
              <a:t>⚡  CHALLENGE</a:t>
            </a:r>
            <a:endParaRPr lang="en-US" sz="1100" dirty="0"/>
          </a:p>
        </p:txBody>
      </p:sp>
      <p:sp>
        <p:nvSpPr>
          <p:cNvPr id="32" name="Text 30"/>
          <p:cNvSpPr/>
          <p:nvPr/>
        </p:nvSpPr>
        <p:spPr>
          <a:xfrm>
            <a:off x="6300216" y="5084064"/>
            <a:ext cx="5504688" cy="1389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Q4. Use a list comprehension to generate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invoice IDs from 1 to 20 in format:</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['INV-001','INV-002',...,'INV-020']</a:t>
            </a:r>
            <a:endParaRPr lang="en-US" sz="1100" dirty="0"/>
          </a:p>
        </p:txBody>
      </p:sp>
      <p:sp>
        <p:nvSpPr>
          <p:cNvPr id="33" name="Shape 31"/>
          <p:cNvSpPr/>
          <p:nvPr/>
        </p:nvSpPr>
        <p:spPr>
          <a:xfrm>
            <a:off x="6300216" y="6583680"/>
            <a:ext cx="5504688" cy="18288"/>
          </a:xfrm>
          <a:prstGeom prst="rect">
            <a:avLst/>
          </a:prstGeom>
          <a:solidFill>
            <a:srgbClr val="64748B"/>
          </a:solidFill>
          <a:ln w="12700">
            <a:solidFill>
              <a:srgbClr val="64748B"/>
            </a:solidFill>
            <a:prstDash val="solid"/>
          </a:ln>
        </p:spPr>
      </p:sp>
      <p:sp>
        <p:nvSpPr>
          <p:cNvPr id="34" name="Text 32"/>
          <p:cNvSpPr/>
          <p:nvPr/>
        </p:nvSpPr>
        <p:spPr>
          <a:xfrm>
            <a:off x="6300216" y="6675120"/>
            <a:ext cx="5504688" cy="256032"/>
          </a:xfrm>
          <a:prstGeom prst="rect">
            <a:avLst/>
          </a:prstGeom>
          <a:noFill/>
          <a:ln/>
        </p:spPr>
        <p:txBody>
          <a:bodyPr wrap="square" lIns="0" tIns="0" rIns="0" bIns="0" rtlCol="0" anchor="ctr"/>
          <a:lstStyle/>
          <a:p>
            <a:pPr indent="0" marL="0">
              <a:buNone/>
            </a:pPr>
            <a:r>
              <a:rPr lang="en-US" sz="1000" b="1" dirty="0">
                <a:solidFill>
                  <a:srgbClr val="D97706"/>
                </a:solidFill>
                <a:latin typeface="Cambria" pitchFamily="34" charset="0"/>
                <a:ea typeface="Cambria" pitchFamily="34" charset="-122"/>
                <a:cs typeface="Cambria" pitchFamily="34" charset="-120"/>
              </a:rPr>
              <a:t>Answer:</a:t>
            </a:r>
            <a:endParaRPr lang="en-US" sz="1000" dirty="0"/>
          </a:p>
        </p:txBody>
      </p:sp>
      <p:sp>
        <p:nvSpPr>
          <p:cNvPr id="35" name="Text 33"/>
          <p:cNvSpPr/>
          <p:nvPr/>
        </p:nvSpPr>
        <p:spPr>
          <a:xfrm>
            <a:off x="6300216" y="6967728"/>
            <a:ext cx="5504688" cy="822960"/>
          </a:xfrm>
          <a:prstGeom prst="rect">
            <a:avLst/>
          </a:prstGeom>
          <a:noFill/>
          <a:ln/>
        </p:spPr>
        <p:txBody>
          <a:bodyPr wrap="square" lIns="0" tIns="0" rIns="0" bIns="0" rtlCol="0" anchor="ctr"/>
          <a:lstStyle/>
          <a:p>
            <a:pPr indent="0" marL="0">
              <a:buNone/>
            </a:pPr>
            <a:r>
              <a:rPr lang="en-US" sz="1000" dirty="0">
                <a:solidFill>
                  <a:srgbClr val="16A34A"/>
                </a:solidFill>
                <a:latin typeface="Courier New" pitchFamily="34" charset="0"/>
                <a:ea typeface="Courier New" pitchFamily="34" charset="-122"/>
                <a:cs typeface="Courier New" pitchFamily="34" charset="-120"/>
              </a:rPr>
              <a:t>[f'INV-{n:03d}' for n in range(1, 21)]</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 :03d zero-pads to 3 digits</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 ['INV-001','INV-002',...,'INV-020']</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457200" y="1005840"/>
            <a:ext cx="1920240" cy="1920240"/>
          </a:xfrm>
          <a:prstGeom prst="ellipse">
            <a:avLst/>
          </a:prstGeom>
          <a:solidFill>
            <a:srgbClr val="D97706"/>
          </a:solidFill>
          <a:ln w="12700">
            <a:solidFill>
              <a:srgbClr val="D97706"/>
            </a:solidFill>
            <a:prstDash val="solid"/>
          </a:ln>
          <a:effectLst>
            <a:outerShdw sx="100000" sy="100000" kx="0" ky="0" algn="bl" rotWithShape="0" blurRad="127000" dist="50800" dir="2700000">
              <a:srgbClr val="000000">
                <a:alpha val="18000"/>
              </a:srgbClr>
            </a:outerShdw>
          </a:effectLst>
        </p:spPr>
      </p:sp>
      <p:sp>
        <p:nvSpPr>
          <p:cNvPr id="3" name="Text 1"/>
          <p:cNvSpPr/>
          <p:nvPr/>
        </p:nvSpPr>
        <p:spPr>
          <a:xfrm>
            <a:off x="457200" y="1005840"/>
            <a:ext cx="1920240" cy="1920240"/>
          </a:xfrm>
          <a:prstGeom prst="rect">
            <a:avLst/>
          </a:prstGeom>
          <a:noFill/>
          <a:ln/>
        </p:spPr>
        <p:txBody>
          <a:bodyPr wrap="square" lIns="0" tIns="0" rIns="0" bIns="0" rtlCol="0" anchor="ctr"/>
          <a:lstStyle/>
          <a:p>
            <a:pPr algn="ctr" indent="0" marL="0">
              <a:buNone/>
            </a:pPr>
            <a:r>
              <a:rPr lang="en-US" sz="5800" b="1" dirty="0">
                <a:solidFill>
                  <a:srgbClr val="FFFFFF"/>
                </a:solidFill>
                <a:latin typeface="Cambria" pitchFamily="34" charset="0"/>
                <a:ea typeface="Cambria" pitchFamily="34" charset="-122"/>
                <a:cs typeface="Cambria" pitchFamily="34" charset="-120"/>
              </a:rPr>
              <a:t>07</a:t>
            </a:r>
            <a:endParaRPr lang="en-US" sz="5800" dirty="0"/>
          </a:p>
        </p:txBody>
      </p:sp>
      <p:sp>
        <p:nvSpPr>
          <p:cNvPr id="4" name="Text 2"/>
          <p:cNvSpPr/>
          <p:nvPr/>
        </p:nvSpPr>
        <p:spPr>
          <a:xfrm>
            <a:off x="2743200" y="1097280"/>
            <a:ext cx="9144000" cy="16459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Functions</a:t>
            </a:r>
            <a:endParaRPr lang="en-US" sz="4400" dirty="0"/>
          </a:p>
        </p:txBody>
      </p:sp>
      <p:sp>
        <p:nvSpPr>
          <p:cNvPr id="5" name="Text 3"/>
          <p:cNvSpPr/>
          <p:nvPr/>
        </p:nvSpPr>
        <p:spPr>
          <a:xfrm>
            <a:off x="2743200" y="2880360"/>
            <a:ext cx="9144000" cy="594360"/>
          </a:xfrm>
          <a:prstGeom prst="rect">
            <a:avLst/>
          </a:prstGeom>
          <a:noFill/>
          <a:ln/>
        </p:spPr>
        <p:txBody>
          <a:bodyPr wrap="square" lIns="0" tIns="0" rIns="0" bIns="0"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Write once. Reuse everywhere. Test independently.</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E3C"/>
          </a:solidFill>
          <a:ln w="12700">
            <a:solidFill>
              <a:srgbClr val="0F1E3C"/>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ANATOMY OF A PYTHON FUNCTION</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11338560" cy="557784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E3C"/>
          </a:solidFill>
          <a:ln w="12700">
            <a:solidFill>
              <a:srgbClr val="0F1E3C"/>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FUNCTION PARAMETERS — ALL FIVE TYPES</a:t>
            </a:r>
            <a:endParaRPr lang="en-US" sz="2600" dirty="0"/>
          </a:p>
        </p:txBody>
      </p:sp>
      <p:sp>
        <p:nvSpPr>
          <p:cNvPr id="4" name="Shape 2"/>
          <p:cNvSpPr/>
          <p:nvPr/>
        </p:nvSpPr>
        <p:spPr>
          <a:xfrm>
            <a:off x="411480" y="1024128"/>
            <a:ext cx="6583680" cy="5559552"/>
          </a:xfrm>
          <a:prstGeom prst="roundRect">
            <a:avLst>
              <a:gd name="adj" fmla="val 1645"/>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1024128"/>
            <a:ext cx="6583680" cy="347472"/>
          </a:xfrm>
          <a:prstGeom prst="roundRect">
            <a:avLst>
              <a:gd name="adj" fmla="val 26316"/>
            </a:avLst>
          </a:prstGeom>
          <a:solidFill>
            <a:srgbClr val="1A2540"/>
          </a:solidFill>
          <a:ln w="12700">
            <a:solidFill>
              <a:srgbClr val="1A2540"/>
            </a:solidFill>
            <a:prstDash val="solid"/>
          </a:ln>
        </p:spPr>
      </p:sp>
      <p:sp>
        <p:nvSpPr>
          <p:cNvPr id="6" name="Shape 4"/>
          <p:cNvSpPr/>
          <p:nvPr/>
        </p:nvSpPr>
        <p:spPr>
          <a:xfrm>
            <a:off x="411480" y="1225296"/>
            <a:ext cx="6583680" cy="146304"/>
          </a:xfrm>
          <a:prstGeom prst="rect">
            <a:avLst/>
          </a:prstGeom>
          <a:solidFill>
            <a:srgbClr val="1A2540"/>
          </a:solidFill>
          <a:ln w="12700">
            <a:solidFill>
              <a:srgbClr val="1A2540"/>
            </a:solidFill>
            <a:prstDash val="solid"/>
          </a:ln>
        </p:spPr>
      </p:sp>
      <p:sp>
        <p:nvSpPr>
          <p:cNvPr id="7" name="Shape 5"/>
          <p:cNvSpPr/>
          <p:nvPr/>
        </p:nvSpPr>
        <p:spPr>
          <a:xfrm>
            <a:off x="539496" y="1115568"/>
            <a:ext cx="164592" cy="164592"/>
          </a:xfrm>
          <a:prstGeom prst="ellipse">
            <a:avLst/>
          </a:prstGeom>
          <a:solidFill>
            <a:srgbClr val="E11D48"/>
          </a:solidFill>
          <a:ln w="12700">
            <a:solidFill>
              <a:srgbClr val="E11D48"/>
            </a:solidFill>
            <a:prstDash val="solid"/>
          </a:ln>
        </p:spPr>
      </p:sp>
      <p:sp>
        <p:nvSpPr>
          <p:cNvPr id="8" name="Shape 6"/>
          <p:cNvSpPr/>
          <p:nvPr/>
        </p:nvSpPr>
        <p:spPr>
          <a:xfrm>
            <a:off x="740664" y="1115568"/>
            <a:ext cx="164592" cy="164592"/>
          </a:xfrm>
          <a:prstGeom prst="ellipse">
            <a:avLst/>
          </a:prstGeom>
          <a:solidFill>
            <a:srgbClr val="D97706"/>
          </a:solidFill>
          <a:ln w="12700">
            <a:solidFill>
              <a:srgbClr val="D97706"/>
            </a:solidFill>
            <a:prstDash val="solid"/>
          </a:ln>
        </p:spPr>
      </p:sp>
      <p:sp>
        <p:nvSpPr>
          <p:cNvPr id="9" name="Shape 7"/>
          <p:cNvSpPr/>
          <p:nvPr/>
        </p:nvSpPr>
        <p:spPr>
          <a:xfrm>
            <a:off x="941832" y="1115568"/>
            <a:ext cx="164592" cy="164592"/>
          </a:xfrm>
          <a:prstGeom prst="ellipse">
            <a:avLst/>
          </a:prstGeom>
          <a:solidFill>
            <a:srgbClr val="16A34A"/>
          </a:solidFill>
          <a:ln w="12700">
            <a:solidFill>
              <a:srgbClr val="16A34A"/>
            </a:solidFill>
            <a:prstDash val="solid"/>
          </a:ln>
        </p:spPr>
      </p:sp>
      <p:sp>
        <p:nvSpPr>
          <p:cNvPr id="10" name="Text 8"/>
          <p:cNvSpPr/>
          <p:nvPr/>
        </p:nvSpPr>
        <p:spPr>
          <a:xfrm>
            <a:off x="1143000" y="1097280"/>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parameters.py</a:t>
            </a:r>
            <a:endParaRPr lang="en-US" sz="900" dirty="0"/>
          </a:p>
        </p:txBody>
      </p:sp>
      <p:sp>
        <p:nvSpPr>
          <p:cNvPr id="11" name="Text 9"/>
          <p:cNvSpPr/>
          <p:nvPr/>
        </p:nvSpPr>
        <p:spPr>
          <a:xfrm>
            <a:off x="557784" y="1426464"/>
            <a:ext cx="6309360" cy="504748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1. Positional parameters (order matters)</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def transfer(from_acct, to_acct, amount):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return f'Moved {amount} from {from_acct}'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transfer('ACC-001','ACC-002',50000)  # positional</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2. Default parameters</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def apply_tax(amount, vat_rate=0.075):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return amount * (1 + vat_rate)</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apply_tax(100_000)           # uses 7.5% default</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apply_tax(100_000, 0.05)     # override to 5%</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3. Keyword arguments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apply_tax(vat_rate=0.10, amount=200_000)</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4. *args — any number of positionals</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def total_sales(*amounts):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return sum(amounts)</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total_sales(50000, 120000, 85000)  # 255,000</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5. **kwargs — any number of keyword args</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def build_report(**metrics):</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    for name, value in metrics.items():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print(f"  {name}: {value}")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build_report(revenue=5000000, profit=1200000,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margin_pct=24.0, customers=342)</a:t>
            </a:r>
            <a:endParaRPr lang="en-US" sz="1050" dirty="0"/>
          </a:p>
        </p:txBody>
      </p:sp>
      <p:sp>
        <p:nvSpPr>
          <p:cNvPr id="12" name="Shape 10"/>
          <p:cNvSpPr/>
          <p:nvPr/>
        </p:nvSpPr>
        <p:spPr>
          <a:xfrm>
            <a:off x="7178040" y="1024128"/>
            <a:ext cx="4754880" cy="1554480"/>
          </a:xfrm>
          <a:prstGeom prst="roundRect">
            <a:avLst>
              <a:gd name="adj" fmla="val 5882"/>
            </a:avLst>
          </a:prstGeom>
          <a:solidFill>
            <a:srgbClr val="FFFFFF"/>
          </a:solidFill>
          <a:ln w="13970">
            <a:solidFill>
              <a:srgbClr val="E11D48"/>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7324344" y="1133856"/>
            <a:ext cx="4462272" cy="274320"/>
          </a:xfrm>
          <a:prstGeom prst="rect">
            <a:avLst/>
          </a:prstGeom>
          <a:noFill/>
          <a:ln/>
        </p:spPr>
        <p:txBody>
          <a:bodyPr wrap="square" lIns="0" tIns="0" rIns="0" bIns="0" rtlCol="0" anchor="ctr"/>
          <a:lstStyle/>
          <a:p>
            <a:pPr indent="0" marL="0">
              <a:buNone/>
            </a:pPr>
            <a:r>
              <a:rPr lang="en-US" sz="1100" b="1" dirty="0">
                <a:solidFill>
                  <a:srgbClr val="E11D48"/>
                </a:solidFill>
                <a:latin typeface="Cambria" pitchFamily="34" charset="0"/>
                <a:ea typeface="Cambria" pitchFamily="34" charset="-122"/>
                <a:cs typeface="Cambria" pitchFamily="34" charset="-120"/>
              </a:rPr>
              <a:t>Positional first, defaults after</a:t>
            </a:r>
            <a:endParaRPr lang="en-US" sz="1100" dirty="0"/>
          </a:p>
        </p:txBody>
      </p:sp>
      <p:sp>
        <p:nvSpPr>
          <p:cNvPr id="14" name="Text 12"/>
          <p:cNvSpPr/>
          <p:nvPr/>
        </p:nvSpPr>
        <p:spPr>
          <a:xfrm>
            <a:off x="7324344" y="1444752"/>
            <a:ext cx="4462272" cy="98755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def f(a, b=1, c=2) correct</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def f(a=1, b) SyntaxError!</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Default params must always come after positional.</a:t>
            </a:r>
            <a:endParaRPr lang="en-US" sz="1000" dirty="0"/>
          </a:p>
        </p:txBody>
      </p:sp>
      <p:sp>
        <p:nvSpPr>
          <p:cNvPr id="15" name="Shape 13"/>
          <p:cNvSpPr/>
          <p:nvPr/>
        </p:nvSpPr>
        <p:spPr>
          <a:xfrm>
            <a:off x="7178040" y="2688336"/>
            <a:ext cx="4754880" cy="1554480"/>
          </a:xfrm>
          <a:prstGeom prst="roundRect">
            <a:avLst>
              <a:gd name="adj" fmla="val 5882"/>
            </a:avLst>
          </a:prstGeom>
          <a:solidFill>
            <a:srgbClr val="FFFFFF"/>
          </a:solidFill>
          <a:ln w="13970">
            <a:solidFill>
              <a:srgbClr val="2563EB"/>
            </a:solidFill>
            <a:prstDash val="solid"/>
          </a:ln>
          <a:effectLst>
            <a:outerShdw sx="100000" sy="100000" kx="0" ky="0" algn="bl" rotWithShape="0" blurRad="63500" dist="25400" dir="2700000">
              <a:srgbClr val="000000">
                <a:alpha val="12000"/>
              </a:srgbClr>
            </a:outerShdw>
          </a:effectLst>
        </p:spPr>
      </p:sp>
      <p:sp>
        <p:nvSpPr>
          <p:cNvPr id="16" name="Text 14"/>
          <p:cNvSpPr/>
          <p:nvPr/>
        </p:nvSpPr>
        <p:spPr>
          <a:xfrm>
            <a:off x="7324344" y="2798064"/>
            <a:ext cx="4462272" cy="274320"/>
          </a:xfrm>
          <a:prstGeom prst="rect">
            <a:avLst/>
          </a:prstGeom>
          <a:noFill/>
          <a:ln/>
        </p:spPr>
        <p:txBody>
          <a:bodyPr wrap="square" lIns="0" tIns="0" rIns="0" bIns="0" rtlCol="0" anchor="ctr"/>
          <a:lstStyle/>
          <a:p>
            <a:pPr indent="0" marL="0">
              <a:buNone/>
            </a:pPr>
            <a:r>
              <a:rPr lang="en-US" sz="1100" b="1" dirty="0">
                <a:solidFill>
                  <a:srgbClr val="2563EB"/>
                </a:solidFill>
                <a:latin typeface="Cambria" pitchFamily="34" charset="0"/>
                <a:ea typeface="Cambria" pitchFamily="34" charset="-122"/>
                <a:cs typeface="Cambria" pitchFamily="34" charset="-120"/>
              </a:rPr>
              <a:t>*args gives a tuple</a:t>
            </a:r>
            <a:endParaRPr lang="en-US" sz="1100" dirty="0"/>
          </a:p>
        </p:txBody>
      </p:sp>
      <p:sp>
        <p:nvSpPr>
          <p:cNvPr id="17" name="Text 15"/>
          <p:cNvSpPr/>
          <p:nvPr/>
        </p:nvSpPr>
        <p:spPr>
          <a:xfrm>
            <a:off x="7324344" y="3108960"/>
            <a:ext cx="4462272" cy="98755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*amounts collects extra positional args into a tuple. You can loop over it or pass to sum().</a:t>
            </a:r>
            <a:endParaRPr lang="en-US" sz="1000" dirty="0"/>
          </a:p>
        </p:txBody>
      </p:sp>
      <p:sp>
        <p:nvSpPr>
          <p:cNvPr id="18" name="Shape 16"/>
          <p:cNvSpPr/>
          <p:nvPr/>
        </p:nvSpPr>
        <p:spPr>
          <a:xfrm>
            <a:off x="7178040" y="4352544"/>
            <a:ext cx="4754880" cy="1554480"/>
          </a:xfrm>
          <a:prstGeom prst="roundRect">
            <a:avLst>
              <a:gd name="adj" fmla="val 5882"/>
            </a:avLst>
          </a:prstGeom>
          <a:solidFill>
            <a:srgbClr val="FFFFFF"/>
          </a:solidFill>
          <a:ln w="13970">
            <a:solidFill>
              <a:srgbClr val="16A34A"/>
            </a:solidFill>
            <a:prstDash val="solid"/>
          </a:ln>
          <a:effectLst>
            <a:outerShdw sx="100000" sy="100000" kx="0" ky="0" algn="bl" rotWithShape="0" blurRad="63500" dist="25400" dir="2700000">
              <a:srgbClr val="000000">
                <a:alpha val="12000"/>
              </a:srgbClr>
            </a:outerShdw>
          </a:effectLst>
        </p:spPr>
      </p:sp>
      <p:sp>
        <p:nvSpPr>
          <p:cNvPr id="19" name="Text 17"/>
          <p:cNvSpPr/>
          <p:nvPr/>
        </p:nvSpPr>
        <p:spPr>
          <a:xfrm>
            <a:off x="7324344" y="4462272"/>
            <a:ext cx="4462272" cy="274320"/>
          </a:xfrm>
          <a:prstGeom prst="rect">
            <a:avLst/>
          </a:prstGeom>
          <a:noFill/>
          <a:ln/>
        </p:spPr>
        <p:txBody>
          <a:bodyPr wrap="square" lIns="0" tIns="0" rIns="0" bIns="0" rtlCol="0" anchor="ctr"/>
          <a:lstStyle/>
          <a:p>
            <a:pPr indent="0" marL="0">
              <a:buNone/>
            </a:pPr>
            <a:r>
              <a:rPr lang="en-US" sz="1100" b="1" dirty="0">
                <a:solidFill>
                  <a:srgbClr val="16A34A"/>
                </a:solidFill>
                <a:latin typeface="Cambria" pitchFamily="34" charset="0"/>
                <a:ea typeface="Cambria" pitchFamily="34" charset="-122"/>
                <a:cs typeface="Cambria" pitchFamily="34" charset="-120"/>
              </a:rPr>
              <a:t>**kwargs gives a dict</a:t>
            </a:r>
            <a:endParaRPr lang="en-US" sz="1100" dirty="0"/>
          </a:p>
        </p:txBody>
      </p:sp>
      <p:sp>
        <p:nvSpPr>
          <p:cNvPr id="20" name="Text 18"/>
          <p:cNvSpPr/>
          <p:nvPr/>
        </p:nvSpPr>
        <p:spPr>
          <a:xfrm>
            <a:off x="7324344" y="4773168"/>
            <a:ext cx="4462272" cy="98755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**metrics collects keyword args into a dictionary. Perfect for flexible report builders.</a:t>
            </a:r>
            <a:endParaRPr lang="en-US" sz="1000" dirty="0"/>
          </a:p>
        </p:txBody>
      </p:sp>
      <p:sp>
        <p:nvSpPr>
          <p:cNvPr id="21" name="Shape 19"/>
          <p:cNvSpPr/>
          <p:nvPr/>
        </p:nvSpPr>
        <p:spPr>
          <a:xfrm>
            <a:off x="7178040" y="6016752"/>
            <a:ext cx="4754880" cy="1554480"/>
          </a:xfrm>
          <a:prstGeom prst="roundRect">
            <a:avLst>
              <a:gd name="adj" fmla="val 5882"/>
            </a:avLst>
          </a:prstGeom>
          <a:solidFill>
            <a:srgbClr val="FFFFFF"/>
          </a:solidFill>
          <a:ln w="13970">
            <a:solidFill>
              <a:srgbClr val="7C3AED"/>
            </a:solidFill>
            <a:prstDash val="solid"/>
          </a:ln>
          <a:effectLst>
            <a:outerShdw sx="100000" sy="100000" kx="0" ky="0" algn="bl" rotWithShape="0" blurRad="63500" dist="25400" dir="2700000">
              <a:srgbClr val="000000">
                <a:alpha val="12000"/>
              </a:srgbClr>
            </a:outerShdw>
          </a:effectLst>
        </p:spPr>
      </p:sp>
      <p:sp>
        <p:nvSpPr>
          <p:cNvPr id="22" name="Text 20"/>
          <p:cNvSpPr/>
          <p:nvPr/>
        </p:nvSpPr>
        <p:spPr>
          <a:xfrm>
            <a:off x="7324344" y="6126480"/>
            <a:ext cx="4462272" cy="274320"/>
          </a:xfrm>
          <a:prstGeom prst="rect">
            <a:avLst/>
          </a:prstGeom>
          <a:noFill/>
          <a:ln/>
        </p:spPr>
        <p:txBody>
          <a:bodyPr wrap="square" lIns="0" tIns="0" rIns="0" bIns="0" rtlCol="0" anchor="ctr"/>
          <a:lstStyle/>
          <a:p>
            <a:pPr indent="0" marL="0">
              <a:buNone/>
            </a:pPr>
            <a:r>
              <a:rPr lang="en-US" sz="1100" b="1" dirty="0">
                <a:solidFill>
                  <a:srgbClr val="7C3AED"/>
                </a:solidFill>
                <a:latin typeface="Cambria" pitchFamily="34" charset="0"/>
                <a:ea typeface="Cambria" pitchFamily="34" charset="-122"/>
                <a:cs typeface="Cambria" pitchFamily="34" charset="-120"/>
              </a:rPr>
              <a:t>Call order</a:t>
            </a:r>
            <a:endParaRPr lang="en-US" sz="1100" dirty="0"/>
          </a:p>
        </p:txBody>
      </p:sp>
      <p:sp>
        <p:nvSpPr>
          <p:cNvPr id="23" name="Text 21"/>
          <p:cNvSpPr/>
          <p:nvPr/>
        </p:nvSpPr>
        <p:spPr>
          <a:xfrm>
            <a:off x="7324344" y="6437376"/>
            <a:ext cx="4462272" cy="98755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f(positional, keyword=value, *extras)</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Keyword args can be in any order. Positional must match the function signature.</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D4ED8"/>
          </a:solidFill>
          <a:ln w="12700">
            <a:solidFill>
              <a:srgbClr val="1D4ED8"/>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RETURN VALUES, LAMBDA, AND HIGHER-ORDER FUNCTIONS</a:t>
            </a:r>
            <a:endParaRPr lang="en-US" sz="2600" dirty="0"/>
          </a:p>
        </p:txBody>
      </p:sp>
      <p:sp>
        <p:nvSpPr>
          <p:cNvPr id="4" name="Shape 2"/>
          <p:cNvSpPr/>
          <p:nvPr/>
        </p:nvSpPr>
        <p:spPr>
          <a:xfrm>
            <a:off x="411480" y="1024128"/>
            <a:ext cx="6583680" cy="5559552"/>
          </a:xfrm>
          <a:prstGeom prst="roundRect">
            <a:avLst>
              <a:gd name="adj" fmla="val 1645"/>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1024128"/>
            <a:ext cx="6583680" cy="347472"/>
          </a:xfrm>
          <a:prstGeom prst="roundRect">
            <a:avLst>
              <a:gd name="adj" fmla="val 26316"/>
            </a:avLst>
          </a:prstGeom>
          <a:solidFill>
            <a:srgbClr val="1A2540"/>
          </a:solidFill>
          <a:ln w="12700">
            <a:solidFill>
              <a:srgbClr val="1A2540"/>
            </a:solidFill>
            <a:prstDash val="solid"/>
          </a:ln>
        </p:spPr>
      </p:sp>
      <p:sp>
        <p:nvSpPr>
          <p:cNvPr id="6" name="Shape 4"/>
          <p:cNvSpPr/>
          <p:nvPr/>
        </p:nvSpPr>
        <p:spPr>
          <a:xfrm>
            <a:off x="411480" y="1225296"/>
            <a:ext cx="6583680" cy="146304"/>
          </a:xfrm>
          <a:prstGeom prst="rect">
            <a:avLst/>
          </a:prstGeom>
          <a:solidFill>
            <a:srgbClr val="1A2540"/>
          </a:solidFill>
          <a:ln w="12700">
            <a:solidFill>
              <a:srgbClr val="1A2540"/>
            </a:solidFill>
            <a:prstDash val="solid"/>
          </a:ln>
        </p:spPr>
      </p:sp>
      <p:sp>
        <p:nvSpPr>
          <p:cNvPr id="7" name="Shape 5"/>
          <p:cNvSpPr/>
          <p:nvPr/>
        </p:nvSpPr>
        <p:spPr>
          <a:xfrm>
            <a:off x="539496" y="1115568"/>
            <a:ext cx="164592" cy="164592"/>
          </a:xfrm>
          <a:prstGeom prst="ellipse">
            <a:avLst/>
          </a:prstGeom>
          <a:solidFill>
            <a:srgbClr val="E11D48"/>
          </a:solidFill>
          <a:ln w="12700">
            <a:solidFill>
              <a:srgbClr val="E11D48"/>
            </a:solidFill>
            <a:prstDash val="solid"/>
          </a:ln>
        </p:spPr>
      </p:sp>
      <p:sp>
        <p:nvSpPr>
          <p:cNvPr id="8" name="Shape 6"/>
          <p:cNvSpPr/>
          <p:nvPr/>
        </p:nvSpPr>
        <p:spPr>
          <a:xfrm>
            <a:off x="740664" y="1115568"/>
            <a:ext cx="164592" cy="164592"/>
          </a:xfrm>
          <a:prstGeom prst="ellipse">
            <a:avLst/>
          </a:prstGeom>
          <a:solidFill>
            <a:srgbClr val="D97706"/>
          </a:solidFill>
          <a:ln w="12700">
            <a:solidFill>
              <a:srgbClr val="D97706"/>
            </a:solidFill>
            <a:prstDash val="solid"/>
          </a:ln>
        </p:spPr>
      </p:sp>
      <p:sp>
        <p:nvSpPr>
          <p:cNvPr id="9" name="Shape 7"/>
          <p:cNvSpPr/>
          <p:nvPr/>
        </p:nvSpPr>
        <p:spPr>
          <a:xfrm>
            <a:off x="941832" y="1115568"/>
            <a:ext cx="164592" cy="164592"/>
          </a:xfrm>
          <a:prstGeom prst="ellipse">
            <a:avLst/>
          </a:prstGeom>
          <a:solidFill>
            <a:srgbClr val="16A34A"/>
          </a:solidFill>
          <a:ln w="12700">
            <a:solidFill>
              <a:srgbClr val="16A34A"/>
            </a:solidFill>
            <a:prstDash val="solid"/>
          </a:ln>
        </p:spPr>
      </p:sp>
      <p:sp>
        <p:nvSpPr>
          <p:cNvPr id="10" name="Text 8"/>
          <p:cNvSpPr/>
          <p:nvPr/>
        </p:nvSpPr>
        <p:spPr>
          <a:xfrm>
            <a:off x="1143000" y="1097280"/>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lambdas.py</a:t>
            </a:r>
            <a:endParaRPr lang="en-US" sz="900" dirty="0"/>
          </a:p>
        </p:txBody>
      </p:sp>
      <p:sp>
        <p:nvSpPr>
          <p:cNvPr id="11" name="Text 9"/>
          <p:cNvSpPr/>
          <p:nvPr/>
        </p:nvSpPr>
        <p:spPr>
          <a:xfrm>
            <a:off x="557784" y="1426464"/>
            <a:ext cx="6309360" cy="504748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Multiple return values (tuple)</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def revenue_summary(sales):</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    """Return min, max, total and average."""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return min(sales), max(sales), sum(sales)</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lo, hi, total = revenue_summary(revenues)</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print(f"Range: {lo:,} - {hi:,}, Total: {total:,}")</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None return — side-effect only</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def log_transaction(txn_id, amount):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print(f"[LOG] TXN-{txn_id}: NGN {amount:,}")</a:t>
            </a:r>
            <a:endParaRPr lang="en-US" sz="1050" dirty="0"/>
          </a:p>
          <a:p>
            <a:pPr indent="0" marL="0">
              <a:buNone/>
            </a:pPr>
            <a:r>
              <a:rPr lang="en-US" sz="1050" dirty="0">
                <a:solidFill>
                  <a:srgbClr val="94A3B8"/>
                </a:solidFill>
                <a:latin typeface="Courier New" pitchFamily="34" charset="0"/>
                <a:ea typeface="Courier New" pitchFamily="34" charset="-122"/>
                <a:cs typeface="Courier New" pitchFamily="34" charset="-120"/>
              </a:rPr>
              <a:t>    # No return → implicitly returns None</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Lambda — anonymous one-line function</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get_tax    = lambda amount: amount * 0.075</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get_margin = lambda rev, cost: (rev-cost)/rev*100</a:t>
            </a:r>
            <a:endParaRPr lang="en-US" sz="1050" dirty="0"/>
          </a:p>
          <a:p>
            <a:pPr indent="0" marL="0">
              <a:buNone/>
            </a:pP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get_tax(500_000)       # 37,500</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get_margin(500_000, 320_000)  # 36.0</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Lambda in sorted() — sort by revenue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data = [('Lagos',4.5M),('Abuja',2.1M),('Kano',1.8M)]</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ranked = sorted(data, key=lambda x: x[1], reverse=True)</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map() — apply function to every item</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gross_amounts = [100000, 250000, 85000]</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after_tax = list(map(lambda x: x*1.075, gross_amounts))</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 [107500.0, 268750.0, 91375.0]</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filter() — keep items matching condition</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high_value = list(filter(lambda x: x&gt;100000, gross_amounts))</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 [250000]</a:t>
            </a:r>
            <a:endParaRPr lang="en-US" sz="1050" dirty="0"/>
          </a:p>
        </p:txBody>
      </p:sp>
      <p:sp>
        <p:nvSpPr>
          <p:cNvPr id="12" name="Shape 10"/>
          <p:cNvSpPr/>
          <p:nvPr/>
        </p:nvSpPr>
        <p:spPr>
          <a:xfrm>
            <a:off x="7178040" y="1024128"/>
            <a:ext cx="4754880" cy="1517904"/>
          </a:xfrm>
          <a:prstGeom prst="roundRect">
            <a:avLst>
              <a:gd name="adj" fmla="val 6024"/>
            </a:avLst>
          </a:prstGeom>
          <a:solidFill>
            <a:srgbClr val="1A2540"/>
          </a:solidFill>
          <a:ln w="13970">
            <a:solidFill>
              <a:srgbClr val="F9AB00"/>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7324344" y="1133856"/>
            <a:ext cx="4462272" cy="274320"/>
          </a:xfrm>
          <a:prstGeom prst="rect">
            <a:avLst/>
          </a:prstGeom>
          <a:noFill/>
          <a:ln/>
        </p:spPr>
        <p:txBody>
          <a:bodyPr wrap="square" lIns="0" tIns="0" rIns="0" bIns="0" rtlCol="0" anchor="ctr"/>
          <a:lstStyle/>
          <a:p>
            <a:pPr indent="0" marL="0">
              <a:buNone/>
            </a:pPr>
            <a:r>
              <a:rPr lang="en-US" sz="1100" b="1" dirty="0">
                <a:solidFill>
                  <a:srgbClr val="F9AB00"/>
                </a:solidFill>
                <a:latin typeface="Cambria" pitchFamily="34" charset="0"/>
                <a:ea typeface="Cambria" pitchFamily="34" charset="-122"/>
                <a:cs typeface="Cambria" pitchFamily="34" charset="-120"/>
              </a:rPr>
              <a:t>print vs return</a:t>
            </a:r>
            <a:endParaRPr lang="en-US" sz="1100" dirty="0"/>
          </a:p>
        </p:txBody>
      </p:sp>
      <p:sp>
        <p:nvSpPr>
          <p:cNvPr id="14" name="Text 12"/>
          <p:cNvSpPr/>
          <p:nvPr/>
        </p:nvSpPr>
        <p:spPr>
          <a:xfrm>
            <a:off x="7324344" y="1444752"/>
            <a:ext cx="4462272" cy="9509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print() shows output on screen but the caller gets nothing back. return sends a value that can be stored, computed with, or passed to another function.</a:t>
            </a:r>
            <a:endParaRPr lang="en-US" sz="1000" dirty="0"/>
          </a:p>
        </p:txBody>
      </p:sp>
      <p:sp>
        <p:nvSpPr>
          <p:cNvPr id="15" name="Shape 13"/>
          <p:cNvSpPr/>
          <p:nvPr/>
        </p:nvSpPr>
        <p:spPr>
          <a:xfrm>
            <a:off x="7178040" y="2651760"/>
            <a:ext cx="4754880" cy="1517904"/>
          </a:xfrm>
          <a:prstGeom prst="roundRect">
            <a:avLst>
              <a:gd name="adj" fmla="val 6024"/>
            </a:avLst>
          </a:prstGeom>
          <a:solidFill>
            <a:srgbClr val="1A2540"/>
          </a:solidFill>
          <a:ln w="13970">
            <a:solidFill>
              <a:srgbClr val="2563EB"/>
            </a:solidFill>
            <a:prstDash val="solid"/>
          </a:ln>
          <a:effectLst>
            <a:outerShdw sx="100000" sy="100000" kx="0" ky="0" algn="bl" rotWithShape="0" blurRad="63500" dist="25400" dir="2700000">
              <a:srgbClr val="000000">
                <a:alpha val="12000"/>
              </a:srgbClr>
            </a:outerShdw>
          </a:effectLst>
        </p:spPr>
      </p:sp>
      <p:sp>
        <p:nvSpPr>
          <p:cNvPr id="16" name="Text 14"/>
          <p:cNvSpPr/>
          <p:nvPr/>
        </p:nvSpPr>
        <p:spPr>
          <a:xfrm>
            <a:off x="7324344" y="2761488"/>
            <a:ext cx="4462272" cy="274320"/>
          </a:xfrm>
          <a:prstGeom prst="rect">
            <a:avLst/>
          </a:prstGeom>
          <a:noFill/>
          <a:ln/>
        </p:spPr>
        <p:txBody>
          <a:bodyPr wrap="square" lIns="0" tIns="0" rIns="0" bIns="0" rtlCol="0" anchor="ctr"/>
          <a:lstStyle/>
          <a:p>
            <a:pPr indent="0" marL="0">
              <a:buNone/>
            </a:pPr>
            <a:r>
              <a:rPr lang="en-US" sz="1100" b="1" dirty="0">
                <a:solidFill>
                  <a:srgbClr val="2563EB"/>
                </a:solidFill>
                <a:latin typeface="Cambria" pitchFamily="34" charset="0"/>
                <a:ea typeface="Cambria" pitchFamily="34" charset="-122"/>
                <a:cs typeface="Cambria" pitchFamily="34" charset="-120"/>
              </a:rPr>
              <a:t>Functions are objects</a:t>
            </a:r>
            <a:endParaRPr lang="en-US" sz="1100" dirty="0"/>
          </a:p>
        </p:txBody>
      </p:sp>
      <p:sp>
        <p:nvSpPr>
          <p:cNvPr id="17" name="Text 15"/>
          <p:cNvSpPr/>
          <p:nvPr/>
        </p:nvSpPr>
        <p:spPr>
          <a:xfrm>
            <a:off x="7324344" y="3072384"/>
            <a:ext cx="4462272" cy="9509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You can store functions in variables, pass them as arguments (key=lambda), and return them from other functions.</a:t>
            </a:r>
            <a:endParaRPr lang="en-US" sz="1000" dirty="0"/>
          </a:p>
        </p:txBody>
      </p:sp>
      <p:sp>
        <p:nvSpPr>
          <p:cNvPr id="18" name="Shape 16"/>
          <p:cNvSpPr/>
          <p:nvPr/>
        </p:nvSpPr>
        <p:spPr>
          <a:xfrm>
            <a:off x="7178040" y="4279392"/>
            <a:ext cx="4754880" cy="1517904"/>
          </a:xfrm>
          <a:prstGeom prst="roundRect">
            <a:avLst>
              <a:gd name="adj" fmla="val 6024"/>
            </a:avLst>
          </a:prstGeom>
          <a:solidFill>
            <a:srgbClr val="1A2540"/>
          </a:solidFill>
          <a:ln w="13970">
            <a:solidFill>
              <a:srgbClr val="16A34A"/>
            </a:solidFill>
            <a:prstDash val="solid"/>
          </a:ln>
          <a:effectLst>
            <a:outerShdw sx="100000" sy="100000" kx="0" ky="0" algn="bl" rotWithShape="0" blurRad="63500" dist="25400" dir="2700000">
              <a:srgbClr val="000000">
                <a:alpha val="12000"/>
              </a:srgbClr>
            </a:outerShdw>
          </a:effectLst>
        </p:spPr>
      </p:sp>
      <p:sp>
        <p:nvSpPr>
          <p:cNvPr id="19" name="Text 17"/>
          <p:cNvSpPr/>
          <p:nvPr/>
        </p:nvSpPr>
        <p:spPr>
          <a:xfrm>
            <a:off x="7324344" y="4389120"/>
            <a:ext cx="4462272" cy="274320"/>
          </a:xfrm>
          <a:prstGeom prst="rect">
            <a:avLst/>
          </a:prstGeom>
          <a:noFill/>
          <a:ln/>
        </p:spPr>
        <p:txBody>
          <a:bodyPr wrap="square" lIns="0" tIns="0" rIns="0" bIns="0" rtlCol="0" anchor="ctr"/>
          <a:lstStyle/>
          <a:p>
            <a:pPr indent="0" marL="0">
              <a:buNone/>
            </a:pPr>
            <a:r>
              <a:rPr lang="en-US" sz="1100" b="1" dirty="0">
                <a:solidFill>
                  <a:srgbClr val="16A34A"/>
                </a:solidFill>
                <a:latin typeface="Cambria" pitchFamily="34" charset="0"/>
                <a:ea typeface="Cambria" pitchFamily="34" charset="-122"/>
                <a:cs typeface="Cambria" pitchFamily="34" charset="-120"/>
              </a:rPr>
              <a:t>Docstrings</a:t>
            </a:r>
            <a:endParaRPr lang="en-US" sz="1100" dirty="0"/>
          </a:p>
        </p:txBody>
      </p:sp>
      <p:sp>
        <p:nvSpPr>
          <p:cNvPr id="20" name="Text 18"/>
          <p:cNvSpPr/>
          <p:nvPr/>
        </p:nvSpPr>
        <p:spPr>
          <a:xfrm>
            <a:off x="7324344" y="4700016"/>
            <a:ext cx="4462272" cy="9509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Add a """description""" as the first line inside every function. It becomes help text: help(my_function) in Colab shows it instantly.</a:t>
            </a:r>
            <a:endParaRPr lang="en-US" sz="1000" dirty="0"/>
          </a:p>
        </p:txBody>
      </p:sp>
      <p:sp>
        <p:nvSpPr>
          <p:cNvPr id="21" name="Shape 19"/>
          <p:cNvSpPr/>
          <p:nvPr/>
        </p:nvSpPr>
        <p:spPr>
          <a:xfrm>
            <a:off x="7178040" y="5907024"/>
            <a:ext cx="4754880" cy="1517904"/>
          </a:xfrm>
          <a:prstGeom prst="roundRect">
            <a:avLst>
              <a:gd name="adj" fmla="val 6024"/>
            </a:avLst>
          </a:prstGeom>
          <a:solidFill>
            <a:srgbClr val="1A2540"/>
          </a:solidFill>
          <a:ln w="13970">
            <a:solidFill>
              <a:srgbClr val="7C3AED"/>
            </a:solidFill>
            <a:prstDash val="solid"/>
          </a:ln>
          <a:effectLst>
            <a:outerShdw sx="100000" sy="100000" kx="0" ky="0" algn="bl" rotWithShape="0" blurRad="63500" dist="25400" dir="2700000">
              <a:srgbClr val="000000">
                <a:alpha val="12000"/>
              </a:srgbClr>
            </a:outerShdw>
          </a:effectLst>
        </p:spPr>
      </p:sp>
      <p:sp>
        <p:nvSpPr>
          <p:cNvPr id="22" name="Text 20"/>
          <p:cNvSpPr/>
          <p:nvPr/>
        </p:nvSpPr>
        <p:spPr>
          <a:xfrm>
            <a:off x="7324344" y="6016752"/>
            <a:ext cx="4462272" cy="274320"/>
          </a:xfrm>
          <a:prstGeom prst="rect">
            <a:avLst/>
          </a:prstGeom>
          <a:noFill/>
          <a:ln/>
        </p:spPr>
        <p:txBody>
          <a:bodyPr wrap="square" lIns="0" tIns="0" rIns="0" bIns="0" rtlCol="0" anchor="ctr"/>
          <a:lstStyle/>
          <a:p>
            <a:pPr indent="0" marL="0">
              <a:buNone/>
            </a:pPr>
            <a:r>
              <a:rPr lang="en-US" sz="1100" b="1" dirty="0">
                <a:solidFill>
                  <a:srgbClr val="7C3AED"/>
                </a:solidFill>
                <a:latin typeface="Cambria" pitchFamily="34" charset="0"/>
                <a:ea typeface="Cambria" pitchFamily="34" charset="-122"/>
                <a:cs typeface="Cambria" pitchFamily="34" charset="-120"/>
              </a:rPr>
              <a:t>sorted() key parameter</a:t>
            </a:r>
            <a:endParaRPr lang="en-US" sz="1100" dirty="0"/>
          </a:p>
        </p:txBody>
      </p:sp>
      <p:sp>
        <p:nvSpPr>
          <p:cNvPr id="23" name="Text 21"/>
          <p:cNvSpPr/>
          <p:nvPr/>
        </p:nvSpPr>
        <p:spPr>
          <a:xfrm>
            <a:off x="7324344" y="6327648"/>
            <a:ext cx="4462272" cy="9509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The key= argument takes any function (often lambda) to extract the value to sort by. Used constantly in data ranking tasks.</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E3C"/>
          </a:solidFill>
          <a:ln w="12700">
            <a:solidFill>
              <a:srgbClr val="0F1E3C"/>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SCOPE — WHERE VARIABLES LIVE (LEGB RULE)</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6400800" cy="5303520"/>
          </a:xfrm>
          <a:prstGeom prst="rect">
            <a:avLst/>
          </a:prstGeom>
        </p:spPr>
      </p:pic>
      <p:sp>
        <p:nvSpPr>
          <p:cNvPr id="5" name="Shape 2"/>
          <p:cNvSpPr/>
          <p:nvPr/>
        </p:nvSpPr>
        <p:spPr>
          <a:xfrm>
            <a:off x="6995160" y="1024128"/>
            <a:ext cx="4937760" cy="5303520"/>
          </a:xfrm>
          <a:prstGeom prst="roundRect">
            <a:avLst>
              <a:gd name="adj" fmla="val 1852"/>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6" name="Shape 3"/>
          <p:cNvSpPr/>
          <p:nvPr/>
        </p:nvSpPr>
        <p:spPr>
          <a:xfrm>
            <a:off x="6995160" y="1024128"/>
            <a:ext cx="4937760" cy="347472"/>
          </a:xfrm>
          <a:prstGeom prst="roundRect">
            <a:avLst>
              <a:gd name="adj" fmla="val 26316"/>
            </a:avLst>
          </a:prstGeom>
          <a:solidFill>
            <a:srgbClr val="1A2540"/>
          </a:solidFill>
          <a:ln w="12700">
            <a:solidFill>
              <a:srgbClr val="1A2540"/>
            </a:solidFill>
            <a:prstDash val="solid"/>
          </a:ln>
        </p:spPr>
      </p:sp>
      <p:sp>
        <p:nvSpPr>
          <p:cNvPr id="7" name="Shape 4"/>
          <p:cNvSpPr/>
          <p:nvPr/>
        </p:nvSpPr>
        <p:spPr>
          <a:xfrm>
            <a:off x="6995160" y="1225296"/>
            <a:ext cx="4937760" cy="146304"/>
          </a:xfrm>
          <a:prstGeom prst="rect">
            <a:avLst/>
          </a:prstGeom>
          <a:solidFill>
            <a:srgbClr val="1A2540"/>
          </a:solidFill>
          <a:ln w="12700">
            <a:solidFill>
              <a:srgbClr val="1A2540"/>
            </a:solidFill>
            <a:prstDash val="solid"/>
          </a:ln>
        </p:spPr>
      </p:sp>
      <p:sp>
        <p:nvSpPr>
          <p:cNvPr id="8" name="Shape 5"/>
          <p:cNvSpPr/>
          <p:nvPr/>
        </p:nvSpPr>
        <p:spPr>
          <a:xfrm>
            <a:off x="7123176" y="1115568"/>
            <a:ext cx="164592" cy="164592"/>
          </a:xfrm>
          <a:prstGeom prst="ellipse">
            <a:avLst/>
          </a:prstGeom>
          <a:solidFill>
            <a:srgbClr val="E11D48"/>
          </a:solidFill>
          <a:ln w="12700">
            <a:solidFill>
              <a:srgbClr val="E11D48"/>
            </a:solidFill>
            <a:prstDash val="solid"/>
          </a:ln>
        </p:spPr>
      </p:sp>
      <p:sp>
        <p:nvSpPr>
          <p:cNvPr id="9" name="Shape 6"/>
          <p:cNvSpPr/>
          <p:nvPr/>
        </p:nvSpPr>
        <p:spPr>
          <a:xfrm>
            <a:off x="7324344" y="1115568"/>
            <a:ext cx="164592" cy="164592"/>
          </a:xfrm>
          <a:prstGeom prst="ellipse">
            <a:avLst/>
          </a:prstGeom>
          <a:solidFill>
            <a:srgbClr val="D97706"/>
          </a:solidFill>
          <a:ln w="12700">
            <a:solidFill>
              <a:srgbClr val="D97706"/>
            </a:solidFill>
            <a:prstDash val="solid"/>
          </a:ln>
        </p:spPr>
      </p:sp>
      <p:sp>
        <p:nvSpPr>
          <p:cNvPr id="10" name="Shape 7"/>
          <p:cNvSpPr/>
          <p:nvPr/>
        </p:nvSpPr>
        <p:spPr>
          <a:xfrm>
            <a:off x="7525512" y="1115568"/>
            <a:ext cx="164592" cy="164592"/>
          </a:xfrm>
          <a:prstGeom prst="ellipse">
            <a:avLst/>
          </a:prstGeom>
          <a:solidFill>
            <a:srgbClr val="16A34A"/>
          </a:solidFill>
          <a:ln w="12700">
            <a:solidFill>
              <a:srgbClr val="16A34A"/>
            </a:solidFill>
            <a:prstDash val="solid"/>
          </a:ln>
        </p:spPr>
      </p:sp>
      <p:sp>
        <p:nvSpPr>
          <p:cNvPr id="11" name="Text 8"/>
          <p:cNvSpPr/>
          <p:nvPr/>
        </p:nvSpPr>
        <p:spPr>
          <a:xfrm>
            <a:off x="7726680" y="1097280"/>
            <a:ext cx="402336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scope.py</a:t>
            </a:r>
            <a:endParaRPr lang="en-US" sz="900" dirty="0"/>
          </a:p>
        </p:txBody>
      </p:sp>
      <p:sp>
        <p:nvSpPr>
          <p:cNvPr id="12" name="Text 9"/>
          <p:cNvSpPr/>
          <p:nvPr/>
        </p:nvSpPr>
        <p:spPr>
          <a:xfrm>
            <a:off x="7141464" y="1426464"/>
            <a:ext cx="4663440" cy="4791456"/>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Global vs Local</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TAX_RATE = 0.075   # global constant</a:t>
            </a:r>
            <a:endParaRPr lang="en-US" sz="1050" dirty="0"/>
          </a:p>
          <a:p>
            <a:pPr indent="0" marL="0">
              <a:buNone/>
            </a:pP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def calculate_total(amount):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vat = amount * TAX_RATE  # reads global</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return amount + vat</a:t>
            </a:r>
            <a:endParaRPr lang="en-US" sz="1050" dirty="0"/>
          </a:p>
          <a:p>
            <a:pPr indent="0" marL="0">
              <a:buNone/>
            </a:pPr>
            <a:endParaRPr lang="en-US" sz="1050" dirty="0"/>
          </a:p>
          <a:p>
            <a:pPr indent="0" marL="0">
              <a:buNone/>
            </a:pPr>
            <a:r>
              <a:rPr lang="en-US" sz="1050" dirty="0">
                <a:solidFill>
                  <a:srgbClr val="E11D48"/>
                </a:solidFill>
                <a:latin typeface="Courier New" pitchFamily="34" charset="0"/>
                <a:ea typeface="Courier New" pitchFamily="34" charset="-122"/>
                <a:cs typeface="Courier New" pitchFamily="34" charset="-120"/>
              </a:rPr>
              <a:t>print(vat)   # NameError: vat is LOCAL</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global keyword (avoid — use return instead)</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total_revenue = 0</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def add_sale(amount):</a:t>
            </a:r>
            <a:endParaRPr lang="en-US" sz="1050" dirty="0"/>
          </a:p>
          <a:p>
            <a:pPr indent="0" marL="0">
              <a:buNone/>
            </a:pPr>
            <a:r>
              <a:rPr lang="en-US" sz="1050" dirty="0">
                <a:solidFill>
                  <a:srgbClr val="7C3AED"/>
                </a:solidFill>
                <a:latin typeface="Courier New" pitchFamily="34" charset="0"/>
                <a:ea typeface="Courier New" pitchFamily="34" charset="-122"/>
                <a:cs typeface="Courier New" pitchFamily="34" charset="-120"/>
              </a:rPr>
              <a:t>    global total_revenue  # declare intent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total_revenue += amount</a:t>
            </a:r>
            <a:endParaRPr lang="en-US" sz="1050" dirty="0"/>
          </a:p>
          <a:p>
            <a:pPr indent="0" marL="0">
              <a:buNone/>
            </a:pP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 BETTER APPROACH: return and update</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def add_sale(current, amount):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return current + amount</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total = add_sale(total, 50_000)</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Constants: ALL_CAPS signals global</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MAX_LOAN_AMOUNT = 10_000_000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MIN_CREDIT_SCORE = 650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DEFAULT_VAT = 0.075</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E3C"/>
          </a:solidFill>
          <a:ln w="12700">
            <a:solidFill>
              <a:srgbClr val="0F1E3C"/>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FUNCTIONS IN BUSINESS — REAL APPLICATIONS</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11338560" cy="557784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D1526"/>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D97706"/>
          </a:solidFill>
          <a:ln w="12700">
            <a:solidFill>
              <a:srgbClr val="D97706"/>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SECTION 07 CHALLENGE — FUNCTIONS</a:t>
            </a:r>
            <a:endParaRPr lang="en-US" sz="2600" dirty="0"/>
          </a:p>
        </p:txBody>
      </p:sp>
      <p:sp>
        <p:nvSpPr>
          <p:cNvPr id="4" name="Shape 2"/>
          <p:cNvSpPr/>
          <p:nvPr/>
        </p:nvSpPr>
        <p:spPr>
          <a:xfrm>
            <a:off x="411480" y="1097280"/>
            <a:ext cx="5577840" cy="3383280"/>
          </a:xfrm>
          <a:prstGeom prst="roundRect">
            <a:avLst>
              <a:gd name="adj" fmla="val 2703"/>
            </a:avLst>
          </a:prstGeom>
          <a:solidFill>
            <a:srgbClr val="1A2540"/>
          </a:solidFill>
          <a:ln w="17780">
            <a:solidFill>
              <a:srgbClr val="2563EB"/>
            </a:solidFill>
            <a:prstDash val="solid"/>
          </a:ln>
          <a:effectLst>
            <a:outerShdw sx="100000" sy="100000" kx="0" ky="0" algn="bl" rotWithShape="0" blurRad="63500" dist="25400" dir="2700000">
              <a:srgbClr val="000000">
                <a:alpha val="12000"/>
              </a:srgbClr>
            </a:outerShdw>
          </a:effectLst>
        </p:spPr>
      </p:sp>
      <p:sp>
        <p:nvSpPr>
          <p:cNvPr id="5" name="Shape 3"/>
          <p:cNvSpPr/>
          <p:nvPr/>
        </p:nvSpPr>
        <p:spPr>
          <a:xfrm>
            <a:off x="411480" y="1097280"/>
            <a:ext cx="5577840" cy="457200"/>
          </a:xfrm>
          <a:prstGeom prst="roundRect">
            <a:avLst>
              <a:gd name="adj" fmla="val 20000"/>
            </a:avLst>
          </a:prstGeom>
          <a:solidFill>
            <a:srgbClr val="2563EB"/>
          </a:solidFill>
          <a:ln w="12700">
            <a:solidFill>
              <a:srgbClr val="2563EB"/>
            </a:solidFill>
            <a:prstDash val="solid"/>
          </a:ln>
        </p:spPr>
      </p:sp>
      <p:sp>
        <p:nvSpPr>
          <p:cNvPr id="6" name="Shape 4"/>
          <p:cNvSpPr/>
          <p:nvPr/>
        </p:nvSpPr>
        <p:spPr>
          <a:xfrm>
            <a:off x="411480" y="1389888"/>
            <a:ext cx="5577840" cy="164592"/>
          </a:xfrm>
          <a:prstGeom prst="rect">
            <a:avLst/>
          </a:prstGeom>
          <a:solidFill>
            <a:srgbClr val="2563EB"/>
          </a:solidFill>
          <a:ln w="12700">
            <a:solidFill>
              <a:srgbClr val="2563EB"/>
            </a:solidFill>
            <a:prstDash val="solid"/>
          </a:ln>
        </p:spPr>
      </p:sp>
      <p:sp>
        <p:nvSpPr>
          <p:cNvPr id="7" name="Text 5"/>
          <p:cNvSpPr/>
          <p:nvPr/>
        </p:nvSpPr>
        <p:spPr>
          <a:xfrm>
            <a:off x="521208" y="1170432"/>
            <a:ext cx="5358384" cy="292608"/>
          </a:xfrm>
          <a:prstGeom prst="rect">
            <a:avLst/>
          </a:prstGeom>
          <a:noFill/>
          <a:ln/>
        </p:spPr>
        <p:txBody>
          <a:bodyPr wrap="square" lIns="0" tIns="0" rIns="0" bIns="0" rtlCol="0" anchor="ctr"/>
          <a:lstStyle/>
          <a:p>
            <a:pPr indent="0" marL="0">
              <a:buNone/>
            </a:pPr>
            <a:r>
              <a:rPr lang="en-US" sz="1100" b="1" dirty="0">
                <a:solidFill>
                  <a:srgbClr val="080D18"/>
                </a:solidFill>
                <a:latin typeface="Calibri" pitchFamily="34" charset="0"/>
                <a:ea typeface="Calibri" pitchFamily="34" charset="-122"/>
                <a:cs typeface="Calibri" pitchFamily="34" charset="-120"/>
              </a:rPr>
              <a:t>⚡  CHALLENGE</a:t>
            </a:r>
            <a:endParaRPr lang="en-US" sz="1100" dirty="0"/>
          </a:p>
        </p:txBody>
      </p:sp>
      <p:sp>
        <p:nvSpPr>
          <p:cNvPr id="8" name="Text 6"/>
          <p:cNvSpPr/>
          <p:nvPr/>
        </p:nvSpPr>
        <p:spPr>
          <a:xfrm>
            <a:off x="539496" y="1645920"/>
            <a:ext cx="5321808" cy="1389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Q1. Write a function 'classify_customer'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 takes (balance, months_active) and returns: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'VIP' if balance&gt;=500,000 and months&gt;=12</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'Active' if balance&gt;0</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'Inactive' otherwise</a:t>
            </a:r>
            <a:endParaRPr lang="en-US" sz="1100" dirty="0"/>
          </a:p>
        </p:txBody>
      </p:sp>
      <p:sp>
        <p:nvSpPr>
          <p:cNvPr id="9" name="Shape 7"/>
          <p:cNvSpPr/>
          <p:nvPr/>
        </p:nvSpPr>
        <p:spPr>
          <a:xfrm>
            <a:off x="539496" y="3145536"/>
            <a:ext cx="5321808" cy="18288"/>
          </a:xfrm>
          <a:prstGeom prst="rect">
            <a:avLst/>
          </a:prstGeom>
          <a:solidFill>
            <a:srgbClr val="64748B"/>
          </a:solidFill>
          <a:ln w="12700">
            <a:solidFill>
              <a:srgbClr val="64748B"/>
            </a:solidFill>
            <a:prstDash val="solid"/>
          </a:ln>
        </p:spPr>
      </p:sp>
      <p:sp>
        <p:nvSpPr>
          <p:cNvPr id="10" name="Text 8"/>
          <p:cNvSpPr/>
          <p:nvPr/>
        </p:nvSpPr>
        <p:spPr>
          <a:xfrm>
            <a:off x="539496" y="3236976"/>
            <a:ext cx="5321808" cy="256032"/>
          </a:xfrm>
          <a:prstGeom prst="rect">
            <a:avLst/>
          </a:prstGeom>
          <a:noFill/>
          <a:ln/>
        </p:spPr>
        <p:txBody>
          <a:bodyPr wrap="square" lIns="0" tIns="0" rIns="0" bIns="0" rtlCol="0" anchor="ctr"/>
          <a:lstStyle/>
          <a:p>
            <a:pPr indent="0" marL="0">
              <a:buNone/>
            </a:pPr>
            <a:r>
              <a:rPr lang="en-US" sz="1000" b="1" dirty="0">
                <a:solidFill>
                  <a:srgbClr val="2563EB"/>
                </a:solidFill>
                <a:latin typeface="Cambria" pitchFamily="34" charset="0"/>
                <a:ea typeface="Cambria" pitchFamily="34" charset="-122"/>
                <a:cs typeface="Cambria" pitchFamily="34" charset="-120"/>
              </a:rPr>
              <a:t>Answer:</a:t>
            </a:r>
            <a:endParaRPr lang="en-US" sz="1000" dirty="0"/>
          </a:p>
        </p:txBody>
      </p:sp>
      <p:sp>
        <p:nvSpPr>
          <p:cNvPr id="11" name="Text 9"/>
          <p:cNvSpPr/>
          <p:nvPr/>
        </p:nvSpPr>
        <p:spPr>
          <a:xfrm>
            <a:off x="539496" y="3529584"/>
            <a:ext cx="5321808" cy="822960"/>
          </a:xfrm>
          <a:prstGeom prst="rect">
            <a:avLst/>
          </a:prstGeom>
          <a:noFill/>
          <a:ln/>
        </p:spPr>
        <p:txBody>
          <a:bodyPr wrap="square" lIns="0" tIns="0" rIns="0" bIns="0" rtlCol="0" anchor="ctr"/>
          <a:lstStyle/>
          <a:p>
            <a:pPr indent="0" marL="0">
              <a:buNone/>
            </a:pPr>
            <a:r>
              <a:rPr lang="en-US" sz="1000" dirty="0">
                <a:solidFill>
                  <a:srgbClr val="16A34A"/>
                </a:solidFill>
                <a:latin typeface="Courier New" pitchFamily="34" charset="0"/>
                <a:ea typeface="Courier New" pitchFamily="34" charset="-122"/>
                <a:cs typeface="Courier New" pitchFamily="34" charset="-120"/>
              </a:rPr>
              <a:t>def classify_customer(balance, months_active):</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    if balance&gt;=500_000 and months_active&gt;=12:</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        return 'VIP'</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    elif balance &gt; 0:</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        return 'Active'</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    return 'Inactive'</a:t>
            </a:r>
            <a:endParaRPr lang="en-US" sz="1000" dirty="0"/>
          </a:p>
        </p:txBody>
      </p:sp>
      <p:sp>
        <p:nvSpPr>
          <p:cNvPr id="12" name="Shape 10"/>
          <p:cNvSpPr/>
          <p:nvPr/>
        </p:nvSpPr>
        <p:spPr>
          <a:xfrm>
            <a:off x="6172200" y="1097280"/>
            <a:ext cx="5760720" cy="3383280"/>
          </a:xfrm>
          <a:prstGeom prst="roundRect">
            <a:avLst>
              <a:gd name="adj" fmla="val 2703"/>
            </a:avLst>
          </a:prstGeom>
          <a:solidFill>
            <a:srgbClr val="1A2540"/>
          </a:solidFill>
          <a:ln w="17780">
            <a:solidFill>
              <a:srgbClr val="16A34A"/>
            </a:solidFill>
            <a:prstDash val="solid"/>
          </a:ln>
          <a:effectLst>
            <a:outerShdw sx="100000" sy="100000" kx="0" ky="0" algn="bl" rotWithShape="0" blurRad="63500" dist="25400" dir="2700000">
              <a:srgbClr val="000000">
                <a:alpha val="12000"/>
              </a:srgbClr>
            </a:outerShdw>
          </a:effectLst>
        </p:spPr>
      </p:sp>
      <p:sp>
        <p:nvSpPr>
          <p:cNvPr id="13" name="Shape 11"/>
          <p:cNvSpPr/>
          <p:nvPr/>
        </p:nvSpPr>
        <p:spPr>
          <a:xfrm>
            <a:off x="6172200" y="1097280"/>
            <a:ext cx="5760720" cy="457200"/>
          </a:xfrm>
          <a:prstGeom prst="roundRect">
            <a:avLst>
              <a:gd name="adj" fmla="val 20000"/>
            </a:avLst>
          </a:prstGeom>
          <a:solidFill>
            <a:srgbClr val="16A34A"/>
          </a:solidFill>
          <a:ln w="12700">
            <a:solidFill>
              <a:srgbClr val="16A34A"/>
            </a:solidFill>
            <a:prstDash val="solid"/>
          </a:ln>
        </p:spPr>
      </p:sp>
      <p:sp>
        <p:nvSpPr>
          <p:cNvPr id="14" name="Shape 12"/>
          <p:cNvSpPr/>
          <p:nvPr/>
        </p:nvSpPr>
        <p:spPr>
          <a:xfrm>
            <a:off x="6172200" y="1389888"/>
            <a:ext cx="5760720" cy="164592"/>
          </a:xfrm>
          <a:prstGeom prst="rect">
            <a:avLst/>
          </a:prstGeom>
          <a:solidFill>
            <a:srgbClr val="16A34A"/>
          </a:solidFill>
          <a:ln w="12700">
            <a:solidFill>
              <a:srgbClr val="16A34A"/>
            </a:solidFill>
            <a:prstDash val="solid"/>
          </a:ln>
        </p:spPr>
      </p:sp>
      <p:sp>
        <p:nvSpPr>
          <p:cNvPr id="15" name="Text 13"/>
          <p:cNvSpPr/>
          <p:nvPr/>
        </p:nvSpPr>
        <p:spPr>
          <a:xfrm>
            <a:off x="6281928" y="1170432"/>
            <a:ext cx="5541264" cy="292608"/>
          </a:xfrm>
          <a:prstGeom prst="rect">
            <a:avLst/>
          </a:prstGeom>
          <a:noFill/>
          <a:ln/>
        </p:spPr>
        <p:txBody>
          <a:bodyPr wrap="square" lIns="0" tIns="0" rIns="0" bIns="0" rtlCol="0" anchor="ctr"/>
          <a:lstStyle/>
          <a:p>
            <a:pPr indent="0" marL="0">
              <a:buNone/>
            </a:pPr>
            <a:r>
              <a:rPr lang="en-US" sz="1100" b="1" dirty="0">
                <a:solidFill>
                  <a:srgbClr val="080D18"/>
                </a:solidFill>
                <a:latin typeface="Calibri" pitchFamily="34" charset="0"/>
                <a:ea typeface="Calibri" pitchFamily="34" charset="-122"/>
                <a:cs typeface="Calibri" pitchFamily="34" charset="-120"/>
              </a:rPr>
              <a:t>⚡  CHALLENGE</a:t>
            </a:r>
            <a:endParaRPr lang="en-US" sz="1100" dirty="0"/>
          </a:p>
        </p:txBody>
      </p:sp>
      <p:sp>
        <p:nvSpPr>
          <p:cNvPr id="16" name="Text 14"/>
          <p:cNvSpPr/>
          <p:nvPr/>
        </p:nvSpPr>
        <p:spPr>
          <a:xfrm>
            <a:off x="6300216" y="1645920"/>
            <a:ext cx="5504688" cy="1389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Q2. Write a function 'summarise_sales(*amounts)'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 accepts any number of sales amounts and returns a dict with total, average, minimum, maximum.</a:t>
            </a:r>
            <a:endParaRPr lang="en-US" sz="1100" dirty="0"/>
          </a:p>
        </p:txBody>
      </p:sp>
      <p:sp>
        <p:nvSpPr>
          <p:cNvPr id="17" name="Shape 15"/>
          <p:cNvSpPr/>
          <p:nvPr/>
        </p:nvSpPr>
        <p:spPr>
          <a:xfrm>
            <a:off x="6300216" y="3145536"/>
            <a:ext cx="5504688" cy="18288"/>
          </a:xfrm>
          <a:prstGeom prst="rect">
            <a:avLst/>
          </a:prstGeom>
          <a:solidFill>
            <a:srgbClr val="64748B"/>
          </a:solidFill>
          <a:ln w="12700">
            <a:solidFill>
              <a:srgbClr val="64748B"/>
            </a:solidFill>
            <a:prstDash val="solid"/>
          </a:ln>
        </p:spPr>
      </p:sp>
      <p:sp>
        <p:nvSpPr>
          <p:cNvPr id="18" name="Text 16"/>
          <p:cNvSpPr/>
          <p:nvPr/>
        </p:nvSpPr>
        <p:spPr>
          <a:xfrm>
            <a:off x="6300216" y="3236976"/>
            <a:ext cx="5504688" cy="256032"/>
          </a:xfrm>
          <a:prstGeom prst="rect">
            <a:avLst/>
          </a:prstGeom>
          <a:noFill/>
          <a:ln/>
        </p:spPr>
        <p:txBody>
          <a:bodyPr wrap="square" lIns="0" tIns="0" rIns="0" bIns="0" rtlCol="0" anchor="ctr"/>
          <a:lstStyle/>
          <a:p>
            <a:pPr indent="0" marL="0">
              <a:buNone/>
            </a:pPr>
            <a:r>
              <a:rPr lang="en-US" sz="1000" b="1" dirty="0">
                <a:solidFill>
                  <a:srgbClr val="16A34A"/>
                </a:solidFill>
                <a:latin typeface="Cambria" pitchFamily="34" charset="0"/>
                <a:ea typeface="Cambria" pitchFamily="34" charset="-122"/>
                <a:cs typeface="Cambria" pitchFamily="34" charset="-120"/>
              </a:rPr>
              <a:t>Answer:</a:t>
            </a:r>
            <a:endParaRPr lang="en-US" sz="1000" dirty="0"/>
          </a:p>
        </p:txBody>
      </p:sp>
      <p:sp>
        <p:nvSpPr>
          <p:cNvPr id="19" name="Text 17"/>
          <p:cNvSpPr/>
          <p:nvPr/>
        </p:nvSpPr>
        <p:spPr>
          <a:xfrm>
            <a:off x="6300216" y="3529584"/>
            <a:ext cx="5504688" cy="822960"/>
          </a:xfrm>
          <a:prstGeom prst="rect">
            <a:avLst/>
          </a:prstGeom>
          <a:noFill/>
          <a:ln/>
        </p:spPr>
        <p:txBody>
          <a:bodyPr wrap="square" lIns="0" tIns="0" rIns="0" bIns="0" rtlCol="0" anchor="ctr"/>
          <a:lstStyle/>
          <a:p>
            <a:pPr indent="0" marL="0">
              <a:buNone/>
            </a:pPr>
            <a:r>
              <a:rPr lang="en-US" sz="1000" dirty="0">
                <a:solidFill>
                  <a:srgbClr val="16A34A"/>
                </a:solidFill>
                <a:latin typeface="Courier New" pitchFamily="34" charset="0"/>
                <a:ea typeface="Courier New" pitchFamily="34" charset="-122"/>
                <a:cs typeface="Courier New" pitchFamily="34" charset="-120"/>
              </a:rPr>
              <a:t>def summarise_sales(*amounts):</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    return {'total':sum(amounts),</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            'avg':sum(amounts)/len(amounts),</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            'min':min(amounts),'max':max(amounts)}</a:t>
            </a:r>
            <a:endParaRPr lang="en-US" sz="1000" dirty="0"/>
          </a:p>
        </p:txBody>
      </p:sp>
      <p:sp>
        <p:nvSpPr>
          <p:cNvPr id="20" name="Shape 18"/>
          <p:cNvSpPr/>
          <p:nvPr/>
        </p:nvSpPr>
        <p:spPr>
          <a:xfrm>
            <a:off x="411480" y="4535424"/>
            <a:ext cx="5577840" cy="3383280"/>
          </a:xfrm>
          <a:prstGeom prst="roundRect">
            <a:avLst>
              <a:gd name="adj" fmla="val 2703"/>
            </a:avLst>
          </a:prstGeom>
          <a:solidFill>
            <a:srgbClr val="1A2540"/>
          </a:solidFill>
          <a:ln w="17780">
            <a:solidFill>
              <a:srgbClr val="E11D48"/>
            </a:solidFill>
            <a:prstDash val="solid"/>
          </a:ln>
          <a:effectLst>
            <a:outerShdw sx="100000" sy="100000" kx="0" ky="0" algn="bl" rotWithShape="0" blurRad="63500" dist="25400" dir="2700000">
              <a:srgbClr val="000000">
                <a:alpha val="12000"/>
              </a:srgbClr>
            </a:outerShdw>
          </a:effectLst>
        </p:spPr>
      </p:sp>
      <p:sp>
        <p:nvSpPr>
          <p:cNvPr id="21" name="Shape 19"/>
          <p:cNvSpPr/>
          <p:nvPr/>
        </p:nvSpPr>
        <p:spPr>
          <a:xfrm>
            <a:off x="411480" y="4535424"/>
            <a:ext cx="5577840" cy="457200"/>
          </a:xfrm>
          <a:prstGeom prst="roundRect">
            <a:avLst>
              <a:gd name="adj" fmla="val 20000"/>
            </a:avLst>
          </a:prstGeom>
          <a:solidFill>
            <a:srgbClr val="E11D48"/>
          </a:solidFill>
          <a:ln w="12700">
            <a:solidFill>
              <a:srgbClr val="E11D48"/>
            </a:solidFill>
            <a:prstDash val="solid"/>
          </a:ln>
        </p:spPr>
      </p:sp>
      <p:sp>
        <p:nvSpPr>
          <p:cNvPr id="22" name="Shape 20"/>
          <p:cNvSpPr/>
          <p:nvPr/>
        </p:nvSpPr>
        <p:spPr>
          <a:xfrm>
            <a:off x="411480" y="4828032"/>
            <a:ext cx="5577840" cy="164592"/>
          </a:xfrm>
          <a:prstGeom prst="rect">
            <a:avLst/>
          </a:prstGeom>
          <a:solidFill>
            <a:srgbClr val="E11D48"/>
          </a:solidFill>
          <a:ln w="12700">
            <a:solidFill>
              <a:srgbClr val="E11D48"/>
            </a:solidFill>
            <a:prstDash val="solid"/>
          </a:ln>
        </p:spPr>
      </p:sp>
      <p:sp>
        <p:nvSpPr>
          <p:cNvPr id="23" name="Text 21"/>
          <p:cNvSpPr/>
          <p:nvPr/>
        </p:nvSpPr>
        <p:spPr>
          <a:xfrm>
            <a:off x="521208" y="4608576"/>
            <a:ext cx="5358384" cy="292608"/>
          </a:xfrm>
          <a:prstGeom prst="rect">
            <a:avLst/>
          </a:prstGeom>
          <a:noFill/>
          <a:ln/>
        </p:spPr>
        <p:txBody>
          <a:bodyPr wrap="square" lIns="0" tIns="0" rIns="0" bIns="0" rtlCol="0" anchor="ctr"/>
          <a:lstStyle/>
          <a:p>
            <a:pPr indent="0" marL="0">
              <a:buNone/>
            </a:pPr>
            <a:r>
              <a:rPr lang="en-US" sz="1100" b="1" dirty="0">
                <a:solidFill>
                  <a:srgbClr val="080D18"/>
                </a:solidFill>
                <a:latin typeface="Calibri" pitchFamily="34" charset="0"/>
                <a:ea typeface="Calibri" pitchFamily="34" charset="-122"/>
                <a:cs typeface="Calibri" pitchFamily="34" charset="-120"/>
              </a:rPr>
              <a:t>⚡  CHALLENGE</a:t>
            </a:r>
            <a:endParaRPr lang="en-US" sz="1100" dirty="0"/>
          </a:p>
        </p:txBody>
      </p:sp>
      <p:sp>
        <p:nvSpPr>
          <p:cNvPr id="24" name="Text 22"/>
          <p:cNvSpPr/>
          <p:nvPr/>
        </p:nvSpPr>
        <p:spPr>
          <a:xfrm>
            <a:off x="539496" y="5084064"/>
            <a:ext cx="5321808" cy="1389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Q3. What is the output and why?</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rate = 0.15</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def update_rate():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rate = 0.20</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return rate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update_rate()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print(rate)</a:t>
            </a:r>
            <a:endParaRPr lang="en-US" sz="1100" dirty="0"/>
          </a:p>
        </p:txBody>
      </p:sp>
      <p:sp>
        <p:nvSpPr>
          <p:cNvPr id="25" name="Shape 23"/>
          <p:cNvSpPr/>
          <p:nvPr/>
        </p:nvSpPr>
        <p:spPr>
          <a:xfrm>
            <a:off x="539496" y="6583680"/>
            <a:ext cx="5321808" cy="18288"/>
          </a:xfrm>
          <a:prstGeom prst="rect">
            <a:avLst/>
          </a:prstGeom>
          <a:solidFill>
            <a:srgbClr val="64748B"/>
          </a:solidFill>
          <a:ln w="12700">
            <a:solidFill>
              <a:srgbClr val="64748B"/>
            </a:solidFill>
            <a:prstDash val="solid"/>
          </a:ln>
        </p:spPr>
      </p:sp>
      <p:sp>
        <p:nvSpPr>
          <p:cNvPr id="26" name="Text 24"/>
          <p:cNvSpPr/>
          <p:nvPr/>
        </p:nvSpPr>
        <p:spPr>
          <a:xfrm>
            <a:off x="539496" y="6675120"/>
            <a:ext cx="5321808" cy="256032"/>
          </a:xfrm>
          <a:prstGeom prst="rect">
            <a:avLst/>
          </a:prstGeom>
          <a:noFill/>
          <a:ln/>
        </p:spPr>
        <p:txBody>
          <a:bodyPr wrap="square" lIns="0" tIns="0" rIns="0" bIns="0" rtlCol="0" anchor="ctr"/>
          <a:lstStyle/>
          <a:p>
            <a:pPr indent="0" marL="0">
              <a:buNone/>
            </a:pPr>
            <a:r>
              <a:rPr lang="en-US" sz="1000" b="1" dirty="0">
                <a:solidFill>
                  <a:srgbClr val="E11D48"/>
                </a:solidFill>
                <a:latin typeface="Cambria" pitchFamily="34" charset="0"/>
                <a:ea typeface="Cambria" pitchFamily="34" charset="-122"/>
                <a:cs typeface="Cambria" pitchFamily="34" charset="-120"/>
              </a:rPr>
              <a:t>Answer:</a:t>
            </a:r>
            <a:endParaRPr lang="en-US" sz="1000" dirty="0"/>
          </a:p>
        </p:txBody>
      </p:sp>
      <p:sp>
        <p:nvSpPr>
          <p:cNvPr id="27" name="Text 25"/>
          <p:cNvSpPr/>
          <p:nvPr/>
        </p:nvSpPr>
        <p:spPr>
          <a:xfrm>
            <a:off x="539496" y="6967728"/>
            <a:ext cx="5321808" cy="822960"/>
          </a:xfrm>
          <a:prstGeom prst="rect">
            <a:avLst/>
          </a:prstGeom>
          <a:noFill/>
          <a:ln/>
        </p:spPr>
        <p:txBody>
          <a:bodyPr wrap="square" lIns="0" tIns="0" rIns="0" bIns="0" rtlCol="0" anchor="ctr"/>
          <a:lstStyle/>
          <a:p>
            <a:pPr indent="0" marL="0">
              <a:buNone/>
            </a:pPr>
            <a:r>
              <a:rPr lang="en-US" sz="1000" dirty="0">
                <a:solidFill>
                  <a:srgbClr val="16A34A"/>
                </a:solidFill>
                <a:latin typeface="Courier New" pitchFamily="34" charset="0"/>
                <a:ea typeface="Courier New" pitchFamily="34" charset="-122"/>
                <a:cs typeface="Courier New" pitchFamily="34" charset="-120"/>
              </a:rPr>
              <a:t>Output: 0.15</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The function creates a LOCAL rate=0.20.</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The global rate is never changed.</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To update global: use 'global rate' or return and reassign.</a:t>
            </a:r>
            <a:endParaRPr lang="en-US" sz="1000" dirty="0"/>
          </a:p>
        </p:txBody>
      </p:sp>
      <p:sp>
        <p:nvSpPr>
          <p:cNvPr id="28" name="Shape 26"/>
          <p:cNvSpPr/>
          <p:nvPr/>
        </p:nvSpPr>
        <p:spPr>
          <a:xfrm>
            <a:off x="6172200" y="4535424"/>
            <a:ext cx="5760720" cy="3383280"/>
          </a:xfrm>
          <a:prstGeom prst="roundRect">
            <a:avLst>
              <a:gd name="adj" fmla="val 2703"/>
            </a:avLst>
          </a:prstGeom>
          <a:solidFill>
            <a:srgbClr val="1A2540"/>
          </a:solidFill>
          <a:ln w="17780">
            <a:solidFill>
              <a:srgbClr val="7C3AED"/>
            </a:solidFill>
            <a:prstDash val="solid"/>
          </a:ln>
          <a:effectLst>
            <a:outerShdw sx="100000" sy="100000" kx="0" ky="0" algn="bl" rotWithShape="0" blurRad="63500" dist="25400" dir="2700000">
              <a:srgbClr val="000000">
                <a:alpha val="12000"/>
              </a:srgbClr>
            </a:outerShdw>
          </a:effectLst>
        </p:spPr>
      </p:sp>
      <p:sp>
        <p:nvSpPr>
          <p:cNvPr id="29" name="Shape 27"/>
          <p:cNvSpPr/>
          <p:nvPr/>
        </p:nvSpPr>
        <p:spPr>
          <a:xfrm>
            <a:off x="6172200" y="4535424"/>
            <a:ext cx="5760720" cy="457200"/>
          </a:xfrm>
          <a:prstGeom prst="roundRect">
            <a:avLst>
              <a:gd name="adj" fmla="val 20000"/>
            </a:avLst>
          </a:prstGeom>
          <a:solidFill>
            <a:srgbClr val="7C3AED"/>
          </a:solidFill>
          <a:ln w="12700">
            <a:solidFill>
              <a:srgbClr val="7C3AED"/>
            </a:solidFill>
            <a:prstDash val="solid"/>
          </a:ln>
        </p:spPr>
      </p:sp>
      <p:sp>
        <p:nvSpPr>
          <p:cNvPr id="30" name="Shape 28"/>
          <p:cNvSpPr/>
          <p:nvPr/>
        </p:nvSpPr>
        <p:spPr>
          <a:xfrm>
            <a:off x="6172200" y="4828032"/>
            <a:ext cx="5760720" cy="164592"/>
          </a:xfrm>
          <a:prstGeom prst="rect">
            <a:avLst/>
          </a:prstGeom>
          <a:solidFill>
            <a:srgbClr val="7C3AED"/>
          </a:solidFill>
          <a:ln w="12700">
            <a:solidFill>
              <a:srgbClr val="7C3AED"/>
            </a:solidFill>
            <a:prstDash val="solid"/>
          </a:ln>
        </p:spPr>
      </p:sp>
      <p:sp>
        <p:nvSpPr>
          <p:cNvPr id="31" name="Text 29"/>
          <p:cNvSpPr/>
          <p:nvPr/>
        </p:nvSpPr>
        <p:spPr>
          <a:xfrm>
            <a:off x="6281928" y="4608576"/>
            <a:ext cx="5541264" cy="292608"/>
          </a:xfrm>
          <a:prstGeom prst="rect">
            <a:avLst/>
          </a:prstGeom>
          <a:noFill/>
          <a:ln/>
        </p:spPr>
        <p:txBody>
          <a:bodyPr wrap="square" lIns="0" tIns="0" rIns="0" bIns="0" rtlCol="0" anchor="ctr"/>
          <a:lstStyle/>
          <a:p>
            <a:pPr indent="0" marL="0">
              <a:buNone/>
            </a:pPr>
            <a:r>
              <a:rPr lang="en-US" sz="1100" b="1" dirty="0">
                <a:solidFill>
                  <a:srgbClr val="080D18"/>
                </a:solidFill>
                <a:latin typeface="Calibri" pitchFamily="34" charset="0"/>
                <a:ea typeface="Calibri" pitchFamily="34" charset="-122"/>
                <a:cs typeface="Calibri" pitchFamily="34" charset="-120"/>
              </a:rPr>
              <a:t>⚡  CHALLENGE</a:t>
            </a:r>
            <a:endParaRPr lang="en-US" sz="1100" dirty="0"/>
          </a:p>
        </p:txBody>
      </p:sp>
      <p:sp>
        <p:nvSpPr>
          <p:cNvPr id="32" name="Text 30"/>
          <p:cNvSpPr/>
          <p:nvPr/>
        </p:nvSpPr>
        <p:spPr>
          <a:xfrm>
            <a:off x="6300216" y="5084064"/>
            <a:ext cx="5504688" cy="1389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Q4. Sort this list of tuples by revenue (index 1) descending:</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regions = [('Kano',1.8),('Lagos',4.5),('Abuja',2.1)]</a:t>
            </a:r>
            <a:endParaRPr lang="en-US" sz="1100" dirty="0"/>
          </a:p>
        </p:txBody>
      </p:sp>
      <p:sp>
        <p:nvSpPr>
          <p:cNvPr id="33" name="Shape 31"/>
          <p:cNvSpPr/>
          <p:nvPr/>
        </p:nvSpPr>
        <p:spPr>
          <a:xfrm>
            <a:off x="6300216" y="6583680"/>
            <a:ext cx="5504688" cy="18288"/>
          </a:xfrm>
          <a:prstGeom prst="rect">
            <a:avLst/>
          </a:prstGeom>
          <a:solidFill>
            <a:srgbClr val="64748B"/>
          </a:solidFill>
          <a:ln w="12700">
            <a:solidFill>
              <a:srgbClr val="64748B"/>
            </a:solidFill>
            <a:prstDash val="solid"/>
          </a:ln>
        </p:spPr>
      </p:sp>
      <p:sp>
        <p:nvSpPr>
          <p:cNvPr id="34" name="Text 32"/>
          <p:cNvSpPr/>
          <p:nvPr/>
        </p:nvSpPr>
        <p:spPr>
          <a:xfrm>
            <a:off x="6300216" y="6675120"/>
            <a:ext cx="5504688" cy="256032"/>
          </a:xfrm>
          <a:prstGeom prst="rect">
            <a:avLst/>
          </a:prstGeom>
          <a:noFill/>
          <a:ln/>
        </p:spPr>
        <p:txBody>
          <a:bodyPr wrap="square" lIns="0" tIns="0" rIns="0" bIns="0" rtlCol="0" anchor="ctr"/>
          <a:lstStyle/>
          <a:p>
            <a:pPr indent="0" marL="0">
              <a:buNone/>
            </a:pPr>
            <a:r>
              <a:rPr lang="en-US" sz="1000" b="1" dirty="0">
                <a:solidFill>
                  <a:srgbClr val="7C3AED"/>
                </a:solidFill>
                <a:latin typeface="Cambria" pitchFamily="34" charset="0"/>
                <a:ea typeface="Cambria" pitchFamily="34" charset="-122"/>
                <a:cs typeface="Cambria" pitchFamily="34" charset="-120"/>
              </a:rPr>
              <a:t>Answer:</a:t>
            </a:r>
            <a:endParaRPr lang="en-US" sz="1000" dirty="0"/>
          </a:p>
        </p:txBody>
      </p:sp>
      <p:sp>
        <p:nvSpPr>
          <p:cNvPr id="35" name="Text 33"/>
          <p:cNvSpPr/>
          <p:nvPr/>
        </p:nvSpPr>
        <p:spPr>
          <a:xfrm>
            <a:off x="6300216" y="6967728"/>
            <a:ext cx="5504688" cy="822960"/>
          </a:xfrm>
          <a:prstGeom prst="rect">
            <a:avLst/>
          </a:prstGeom>
          <a:noFill/>
          <a:ln/>
        </p:spPr>
        <p:txBody>
          <a:bodyPr wrap="square" lIns="0" tIns="0" rIns="0" bIns="0" rtlCol="0" anchor="ctr"/>
          <a:lstStyle/>
          <a:p>
            <a:pPr indent="0" marL="0">
              <a:buNone/>
            </a:pPr>
            <a:r>
              <a:rPr lang="en-US" sz="1000" dirty="0">
                <a:solidFill>
                  <a:srgbClr val="16A34A"/>
                </a:solidFill>
                <a:latin typeface="Courier New" pitchFamily="34" charset="0"/>
                <a:ea typeface="Courier New" pitchFamily="34" charset="-122"/>
                <a:cs typeface="Courier New" pitchFamily="34" charset="-120"/>
              </a:rPr>
              <a:t>sorted(regions, key=lambda r: r[1], reverse=True)</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 [('Lagos',4.5),('Abuja',2.1),('Kano',1.8)]</a:t>
            </a:r>
            <a:endParaRPr lang="en-US" sz="1000" dirty="0"/>
          </a:p>
          <a:p>
            <a:pPr indent="0" marL="0">
              <a:buNone/>
            </a:pPr>
            <a:r>
              <a:rPr lang="en-US" sz="1000" dirty="0">
                <a:solidFill>
                  <a:srgbClr val="16A34A"/>
                </a:solidFill>
                <a:latin typeface="Courier New" pitchFamily="34" charset="0"/>
                <a:ea typeface="Courier New" pitchFamily="34" charset="-122"/>
                <a:cs typeface="Courier New" pitchFamily="34" charset="-120"/>
              </a:rPr>
              <a:t># lambda extracts the revenue for comparison</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457200" y="1005840"/>
            <a:ext cx="1920240" cy="1920240"/>
          </a:xfrm>
          <a:prstGeom prst="ellipse">
            <a:avLst/>
          </a:prstGeom>
          <a:solidFill>
            <a:srgbClr val="EA580C"/>
          </a:solidFill>
          <a:ln w="12700">
            <a:solidFill>
              <a:srgbClr val="EA580C"/>
            </a:solidFill>
            <a:prstDash val="solid"/>
          </a:ln>
          <a:effectLst>
            <a:outerShdw sx="100000" sy="100000" kx="0" ky="0" algn="bl" rotWithShape="0" blurRad="127000" dist="50800" dir="2700000">
              <a:srgbClr val="000000">
                <a:alpha val="18000"/>
              </a:srgbClr>
            </a:outerShdw>
          </a:effectLst>
        </p:spPr>
      </p:sp>
      <p:sp>
        <p:nvSpPr>
          <p:cNvPr id="3" name="Text 1"/>
          <p:cNvSpPr/>
          <p:nvPr/>
        </p:nvSpPr>
        <p:spPr>
          <a:xfrm>
            <a:off x="457200" y="1005840"/>
            <a:ext cx="1920240" cy="1920240"/>
          </a:xfrm>
          <a:prstGeom prst="rect">
            <a:avLst/>
          </a:prstGeom>
          <a:noFill/>
          <a:ln/>
        </p:spPr>
        <p:txBody>
          <a:bodyPr wrap="square" lIns="0" tIns="0" rIns="0" bIns="0" rtlCol="0" anchor="ctr"/>
          <a:lstStyle/>
          <a:p>
            <a:pPr algn="ctr" indent="0" marL="0">
              <a:buNone/>
            </a:pPr>
            <a:r>
              <a:rPr lang="en-US" sz="5800" b="1" dirty="0">
                <a:solidFill>
                  <a:srgbClr val="FFFFFF"/>
                </a:solidFill>
                <a:latin typeface="Cambria" pitchFamily="34" charset="0"/>
                <a:ea typeface="Cambria" pitchFamily="34" charset="-122"/>
                <a:cs typeface="Cambria" pitchFamily="34" charset="-120"/>
              </a:rPr>
              <a:t>08</a:t>
            </a:r>
            <a:endParaRPr lang="en-US" sz="5800" dirty="0"/>
          </a:p>
        </p:txBody>
      </p:sp>
      <p:sp>
        <p:nvSpPr>
          <p:cNvPr id="4" name="Text 2"/>
          <p:cNvSpPr/>
          <p:nvPr/>
        </p:nvSpPr>
        <p:spPr>
          <a:xfrm>
            <a:off x="2743200" y="1097280"/>
            <a:ext cx="9144000" cy="16459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Practical Projects and Exercise Bank</a:t>
            </a:r>
            <a:endParaRPr lang="en-US" sz="4400" dirty="0"/>
          </a:p>
        </p:txBody>
      </p:sp>
      <p:sp>
        <p:nvSpPr>
          <p:cNvPr id="5" name="Text 3"/>
          <p:cNvSpPr/>
          <p:nvPr/>
        </p:nvSpPr>
        <p:spPr>
          <a:xfrm>
            <a:off x="2743200" y="2880360"/>
            <a:ext cx="9144000" cy="594360"/>
          </a:xfrm>
          <a:prstGeom prst="rect">
            <a:avLst/>
          </a:prstGeom>
          <a:noFill/>
          <a:ln/>
        </p:spPr>
        <p:txBody>
          <a:bodyPr wrap="square" lIns="0" tIns="0" rIns="0" bIns="0"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Apply everything. Build real programs.</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D4ED8"/>
          </a:solidFill>
          <a:ln w="12700">
            <a:solidFill>
              <a:srgbClr val="1D4ED8"/>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PRACTICAL PROJECT 1 — SALES PERFORMANCE REPORT</a:t>
            </a:r>
            <a:endParaRPr lang="en-US" sz="2600" dirty="0"/>
          </a:p>
        </p:txBody>
      </p:sp>
      <p:sp>
        <p:nvSpPr>
          <p:cNvPr id="4" name="Shape 2"/>
          <p:cNvSpPr/>
          <p:nvPr/>
        </p:nvSpPr>
        <p:spPr>
          <a:xfrm>
            <a:off x="411480" y="1024128"/>
            <a:ext cx="11338560" cy="5559552"/>
          </a:xfrm>
          <a:prstGeom prst="roundRect">
            <a:avLst>
              <a:gd name="adj" fmla="val 1645"/>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1024128"/>
            <a:ext cx="11338560" cy="347472"/>
          </a:xfrm>
          <a:prstGeom prst="roundRect">
            <a:avLst>
              <a:gd name="adj" fmla="val 26316"/>
            </a:avLst>
          </a:prstGeom>
          <a:solidFill>
            <a:srgbClr val="1A2540"/>
          </a:solidFill>
          <a:ln w="12700">
            <a:solidFill>
              <a:srgbClr val="1A2540"/>
            </a:solidFill>
            <a:prstDash val="solid"/>
          </a:ln>
        </p:spPr>
      </p:sp>
      <p:sp>
        <p:nvSpPr>
          <p:cNvPr id="6" name="Shape 4"/>
          <p:cNvSpPr/>
          <p:nvPr/>
        </p:nvSpPr>
        <p:spPr>
          <a:xfrm>
            <a:off x="411480" y="1225296"/>
            <a:ext cx="11338560" cy="146304"/>
          </a:xfrm>
          <a:prstGeom prst="rect">
            <a:avLst/>
          </a:prstGeom>
          <a:solidFill>
            <a:srgbClr val="1A2540"/>
          </a:solidFill>
          <a:ln w="12700">
            <a:solidFill>
              <a:srgbClr val="1A2540"/>
            </a:solidFill>
            <a:prstDash val="solid"/>
          </a:ln>
        </p:spPr>
      </p:sp>
      <p:sp>
        <p:nvSpPr>
          <p:cNvPr id="7" name="Shape 5"/>
          <p:cNvSpPr/>
          <p:nvPr/>
        </p:nvSpPr>
        <p:spPr>
          <a:xfrm>
            <a:off x="539496" y="1115568"/>
            <a:ext cx="164592" cy="164592"/>
          </a:xfrm>
          <a:prstGeom prst="ellipse">
            <a:avLst/>
          </a:prstGeom>
          <a:solidFill>
            <a:srgbClr val="E11D48"/>
          </a:solidFill>
          <a:ln w="12700">
            <a:solidFill>
              <a:srgbClr val="E11D48"/>
            </a:solidFill>
            <a:prstDash val="solid"/>
          </a:ln>
        </p:spPr>
      </p:sp>
      <p:sp>
        <p:nvSpPr>
          <p:cNvPr id="8" name="Shape 6"/>
          <p:cNvSpPr/>
          <p:nvPr/>
        </p:nvSpPr>
        <p:spPr>
          <a:xfrm>
            <a:off x="740664" y="1115568"/>
            <a:ext cx="164592" cy="164592"/>
          </a:xfrm>
          <a:prstGeom prst="ellipse">
            <a:avLst/>
          </a:prstGeom>
          <a:solidFill>
            <a:srgbClr val="D97706"/>
          </a:solidFill>
          <a:ln w="12700">
            <a:solidFill>
              <a:srgbClr val="D97706"/>
            </a:solidFill>
            <a:prstDash val="solid"/>
          </a:ln>
        </p:spPr>
      </p:sp>
      <p:sp>
        <p:nvSpPr>
          <p:cNvPr id="9" name="Shape 7"/>
          <p:cNvSpPr/>
          <p:nvPr/>
        </p:nvSpPr>
        <p:spPr>
          <a:xfrm>
            <a:off x="941832" y="1115568"/>
            <a:ext cx="164592" cy="164592"/>
          </a:xfrm>
          <a:prstGeom prst="ellipse">
            <a:avLst/>
          </a:prstGeom>
          <a:solidFill>
            <a:srgbClr val="16A34A"/>
          </a:solidFill>
          <a:ln w="12700">
            <a:solidFill>
              <a:srgbClr val="16A34A"/>
            </a:solidFill>
            <a:prstDash val="solid"/>
          </a:ln>
        </p:spPr>
      </p:sp>
      <p:sp>
        <p:nvSpPr>
          <p:cNvPr id="10" name="Text 8"/>
          <p:cNvSpPr/>
          <p:nvPr/>
        </p:nvSpPr>
        <p:spPr>
          <a:xfrm>
            <a:off x="1143000" y="1097280"/>
            <a:ext cx="1042416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sales_report.py</a:t>
            </a:r>
            <a:endParaRPr lang="en-US" sz="900" dirty="0"/>
          </a:p>
        </p:txBody>
      </p:sp>
      <p:sp>
        <p:nvSpPr>
          <p:cNvPr id="11" name="Text 9"/>
          <p:cNvSpPr/>
          <p:nvPr/>
        </p:nvSpPr>
        <p:spPr>
          <a:xfrm>
            <a:off x="557784" y="1426464"/>
            <a:ext cx="11064240" cy="504748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SALES PERFORMANCE REPORT — combines types, dicts, lists, loops, functions, conditionals</a:t>
            </a:r>
            <a:endParaRPr lang="en-US" sz="1050" dirty="0"/>
          </a:p>
          <a:p>
            <a:pPr indent="0" marL="0">
              <a:buNone/>
            </a:pP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def classify(revenue):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if revenue &gt;= 5_000_000: return "Excellent"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elif revenue &gt;= 2_000_000: return "Good"</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elif revenue &gt;= 1_000_000: return "Average"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else: return "Below Target"</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sales_data =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{"region":"Lagos",         "q1":4.5, "q2":5.2, "q3":4.8, "q4":6.1},</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{"region":"Abuja",         "q1":2.1, "q2":2.4, "q3":2.0, "q4":2.8},</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{"region":"Kano",          "q1":1.8, "q2":1.6, "q3":2.1, "q4":1.9},</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{"region":"Port Harcourt", "q1":1.6, "q2":1.9, "q3":1.5, "q4":2.2},</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{"region":"Enugu",         "q1":0.9, "q2":1.1, "q3":0.8, "q4":1.4},</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print(f"{'REGION':&lt;18}{'Q1':&gt;6}{'Q2':&gt;6}{'Q3':&gt;6}{'Q4':&gt;6}{'TOTAL':&gt;9}{'RATING':&gt;14}")</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print('='*65)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all_totals = []</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for row in sales_data:</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q_total = row['q1']+row['q2']+row['q3']+row['q4']</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rating  = classify(q_total * 1_000_000)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all_totals.append(q_total)</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print(f"{row['region']:&lt;18}{row['q1']:&gt;6.1f}{row['q2']:&gt;6.1f}{row['q3']:&gt;6.1f}{row['q4']:&gt;6.1f}{q_total:&gt;9.1f}{rating:&gt;14}")</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print('='*65)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top = max(sales_data, key=lambda x: x['q1']+x['q2']+x['q3']+x['q4'])</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print(f"Top Region: {top['region']} | Grand Total: {sum(all_totals):.1f}M")</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E3C"/>
          </a:solidFill>
          <a:ln w="12700">
            <a:solidFill>
              <a:srgbClr val="0F1E3C"/>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PRACTICAL PROJECT 2 — INVOICE GENERATOR</a:t>
            </a:r>
            <a:endParaRPr lang="en-US" sz="2600" dirty="0"/>
          </a:p>
        </p:txBody>
      </p:sp>
      <p:sp>
        <p:nvSpPr>
          <p:cNvPr id="4" name="Shape 2"/>
          <p:cNvSpPr/>
          <p:nvPr/>
        </p:nvSpPr>
        <p:spPr>
          <a:xfrm>
            <a:off x="411480" y="1024128"/>
            <a:ext cx="11338560" cy="5559552"/>
          </a:xfrm>
          <a:prstGeom prst="roundRect">
            <a:avLst>
              <a:gd name="adj" fmla="val 1645"/>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1024128"/>
            <a:ext cx="11338560" cy="347472"/>
          </a:xfrm>
          <a:prstGeom prst="roundRect">
            <a:avLst>
              <a:gd name="adj" fmla="val 26316"/>
            </a:avLst>
          </a:prstGeom>
          <a:solidFill>
            <a:srgbClr val="1A2540"/>
          </a:solidFill>
          <a:ln w="12700">
            <a:solidFill>
              <a:srgbClr val="1A2540"/>
            </a:solidFill>
            <a:prstDash val="solid"/>
          </a:ln>
        </p:spPr>
      </p:sp>
      <p:sp>
        <p:nvSpPr>
          <p:cNvPr id="6" name="Shape 4"/>
          <p:cNvSpPr/>
          <p:nvPr/>
        </p:nvSpPr>
        <p:spPr>
          <a:xfrm>
            <a:off x="411480" y="1225296"/>
            <a:ext cx="11338560" cy="146304"/>
          </a:xfrm>
          <a:prstGeom prst="rect">
            <a:avLst/>
          </a:prstGeom>
          <a:solidFill>
            <a:srgbClr val="1A2540"/>
          </a:solidFill>
          <a:ln w="12700">
            <a:solidFill>
              <a:srgbClr val="1A2540"/>
            </a:solidFill>
            <a:prstDash val="solid"/>
          </a:ln>
        </p:spPr>
      </p:sp>
      <p:sp>
        <p:nvSpPr>
          <p:cNvPr id="7" name="Shape 5"/>
          <p:cNvSpPr/>
          <p:nvPr/>
        </p:nvSpPr>
        <p:spPr>
          <a:xfrm>
            <a:off x="539496" y="1115568"/>
            <a:ext cx="164592" cy="164592"/>
          </a:xfrm>
          <a:prstGeom prst="ellipse">
            <a:avLst/>
          </a:prstGeom>
          <a:solidFill>
            <a:srgbClr val="E11D48"/>
          </a:solidFill>
          <a:ln w="12700">
            <a:solidFill>
              <a:srgbClr val="E11D48"/>
            </a:solidFill>
            <a:prstDash val="solid"/>
          </a:ln>
        </p:spPr>
      </p:sp>
      <p:sp>
        <p:nvSpPr>
          <p:cNvPr id="8" name="Shape 6"/>
          <p:cNvSpPr/>
          <p:nvPr/>
        </p:nvSpPr>
        <p:spPr>
          <a:xfrm>
            <a:off x="740664" y="1115568"/>
            <a:ext cx="164592" cy="164592"/>
          </a:xfrm>
          <a:prstGeom prst="ellipse">
            <a:avLst/>
          </a:prstGeom>
          <a:solidFill>
            <a:srgbClr val="D97706"/>
          </a:solidFill>
          <a:ln w="12700">
            <a:solidFill>
              <a:srgbClr val="D97706"/>
            </a:solidFill>
            <a:prstDash val="solid"/>
          </a:ln>
        </p:spPr>
      </p:sp>
      <p:sp>
        <p:nvSpPr>
          <p:cNvPr id="9" name="Shape 7"/>
          <p:cNvSpPr/>
          <p:nvPr/>
        </p:nvSpPr>
        <p:spPr>
          <a:xfrm>
            <a:off x="941832" y="1115568"/>
            <a:ext cx="164592" cy="164592"/>
          </a:xfrm>
          <a:prstGeom prst="ellipse">
            <a:avLst/>
          </a:prstGeom>
          <a:solidFill>
            <a:srgbClr val="16A34A"/>
          </a:solidFill>
          <a:ln w="12700">
            <a:solidFill>
              <a:srgbClr val="16A34A"/>
            </a:solidFill>
            <a:prstDash val="solid"/>
          </a:ln>
        </p:spPr>
      </p:sp>
      <p:sp>
        <p:nvSpPr>
          <p:cNvPr id="10" name="Text 8"/>
          <p:cNvSpPr/>
          <p:nvPr/>
        </p:nvSpPr>
        <p:spPr>
          <a:xfrm>
            <a:off x="1143000" y="1097280"/>
            <a:ext cx="1042416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invoice_generator.py</a:t>
            </a:r>
            <a:endParaRPr lang="en-US" sz="900" dirty="0"/>
          </a:p>
        </p:txBody>
      </p:sp>
      <p:sp>
        <p:nvSpPr>
          <p:cNvPr id="11" name="Text 9"/>
          <p:cNvSpPr/>
          <p:nvPr/>
        </p:nvSpPr>
        <p:spPr>
          <a:xfrm>
            <a:off x="557784" y="1426464"/>
            <a:ext cx="11064240" cy="504748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INVOICE GENERATOR — complete business tool</a:t>
            </a:r>
            <a:endParaRPr lang="en-US" sz="1050" dirty="0"/>
          </a:p>
          <a:p>
            <a:pPr indent="0" marL="0">
              <a:buNone/>
            </a:pP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def generate_invoice(client, items, vat_rate=0.075, discount_pct=0.0):</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    """Generate a formatted invoice dict for a client."""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subtotal = sum(qty * price for qty, _, price in items)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discount = subtotal * discount_pct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net      = subtotal - discount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vat      = net * vat_rate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total    = net + vat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return {"client":client,"subtotal":subtotal,"discount":discount,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"net":net,"vat":vat,"total":total,"items":items}</a:t>
            </a:r>
            <a:endParaRPr lang="en-US" sz="1050" dirty="0"/>
          </a:p>
          <a:p>
            <a:pPr indent="0" marL="0">
              <a:buNone/>
            </a:pP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def print_invoice(inv):</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print(f"\n{"="*50}")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print(f"  INVOICE — {inv['client']}")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print(f"{"="*50}")</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    for qty, desc, price in inv['items']: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print(f"  {qty}x {desc:&lt;20} @ {price:&gt;10,} = {qty*price:&gt;12,}")</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print(f"  {"-"*48}")</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print(f"  {"Subtotal:":&lt;30} NGN {inv['subtotal']:&gt;12,.0f}")</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print(f"  {"Discount:":&lt;30} NGN {inv['discount']:&gt;12,.0f}")</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print(f"  {"VAT (7.5%):":&lt;30} NGN {inv['vat']:&gt;12,.0f}")</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    print(f"  {"TOTAL PAYABLE:":&lt;30} NGN {inv['total']:&gt;12,.0f}")</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Run it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order = [(5,'Laptop Pro 15',450_000),(10,'USB-C Hub',15_000),(3,'Monitor 27in',200_000)]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inv = generate_invoice('TechVentures Ltd', order, discount_pct=0.05)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print_invoice(inv)</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457200" y="914400"/>
            <a:ext cx="2286000" cy="2286000"/>
          </a:xfrm>
          <a:prstGeom prst="ellipse">
            <a:avLst/>
          </a:prstGeom>
          <a:solidFill>
            <a:srgbClr val="EA580C"/>
          </a:solidFill>
          <a:ln w="12700">
            <a:solidFill>
              <a:srgbClr val="EA580C"/>
            </a:solidFill>
            <a:prstDash val="solid"/>
          </a:ln>
        </p:spPr>
      </p:sp>
      <p:sp>
        <p:nvSpPr>
          <p:cNvPr id="3" name="Text 1"/>
          <p:cNvSpPr/>
          <p:nvPr/>
        </p:nvSpPr>
        <p:spPr>
          <a:xfrm>
            <a:off x="457200" y="914400"/>
            <a:ext cx="2286000" cy="22860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30</a:t>
            </a:r>
            <a:endParaRPr lang="en-US" sz="2400" dirty="0"/>
          </a:p>
          <a:p>
            <a:pPr algn="ctr" indent="0" marL="0">
              <a:buNone/>
            </a:pPr>
            <a:r>
              <a:rPr lang="en-US" sz="2400" b="1" dirty="0">
                <a:solidFill>
                  <a:srgbClr val="FFFFFF"/>
                </a:solidFill>
                <a:latin typeface="Cambria" pitchFamily="34" charset="0"/>
                <a:ea typeface="Cambria" pitchFamily="34" charset="-122"/>
                <a:cs typeface="Cambria" pitchFamily="34" charset="-120"/>
              </a:rPr>
              <a:t>EXERCISES</a:t>
            </a:r>
            <a:endParaRPr lang="en-US" sz="2400" dirty="0"/>
          </a:p>
        </p:txBody>
      </p:sp>
      <p:sp>
        <p:nvSpPr>
          <p:cNvPr id="4" name="Text 2"/>
          <p:cNvSpPr/>
          <p:nvPr/>
        </p:nvSpPr>
        <p:spPr>
          <a:xfrm>
            <a:off x="3108960" y="1005840"/>
            <a:ext cx="86868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Exercise Bank</a:t>
            </a:r>
            <a:endParaRPr lang="en-US" sz="4400" dirty="0"/>
          </a:p>
        </p:txBody>
      </p:sp>
      <p:sp>
        <p:nvSpPr>
          <p:cNvPr id="5" name="Text 3"/>
          <p:cNvSpPr/>
          <p:nvPr/>
        </p:nvSpPr>
        <p:spPr>
          <a:xfrm>
            <a:off x="3108960" y="2103120"/>
            <a:ext cx="8686800" cy="45720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All exercises run in Google Colab. Cover the answer box and attempt each one independently.</a:t>
            </a:r>
            <a:endParaRPr lang="en-US" sz="1400" dirty="0"/>
          </a:p>
        </p:txBody>
      </p:sp>
      <p:sp>
        <p:nvSpPr>
          <p:cNvPr id="6" name="Shape 4"/>
          <p:cNvSpPr/>
          <p:nvPr/>
        </p:nvSpPr>
        <p:spPr>
          <a:xfrm>
            <a:off x="457200" y="2907792"/>
            <a:ext cx="11292840" cy="1115568"/>
          </a:xfrm>
          <a:prstGeom prst="roundRect">
            <a:avLst>
              <a:gd name="adj" fmla="val 8197"/>
            </a:avLst>
          </a:prstGeom>
          <a:solidFill>
            <a:srgbClr val="1A2540"/>
          </a:solidFill>
          <a:ln w="15240">
            <a:solidFill>
              <a:srgbClr val="16A34A"/>
            </a:solidFill>
            <a:prstDash val="solid"/>
          </a:ln>
          <a:effectLst>
            <a:outerShdw sx="100000" sy="100000" kx="0" ky="0" algn="bl" rotWithShape="0" blurRad="63500" dist="25400" dir="2700000">
              <a:srgbClr val="000000">
                <a:alpha val="12000"/>
              </a:srgbClr>
            </a:outerShdw>
          </a:effectLst>
        </p:spPr>
      </p:sp>
      <p:sp>
        <p:nvSpPr>
          <p:cNvPr id="7" name="Shape 5"/>
          <p:cNvSpPr/>
          <p:nvPr/>
        </p:nvSpPr>
        <p:spPr>
          <a:xfrm>
            <a:off x="457200" y="2907792"/>
            <a:ext cx="2103120" cy="1115568"/>
          </a:xfrm>
          <a:prstGeom prst="roundRect">
            <a:avLst>
              <a:gd name="adj" fmla="val 8197"/>
            </a:avLst>
          </a:prstGeom>
          <a:solidFill>
            <a:srgbClr val="16A34A"/>
          </a:solidFill>
          <a:ln w="12700">
            <a:solidFill>
              <a:srgbClr val="16A34A"/>
            </a:solidFill>
            <a:prstDash val="solid"/>
          </a:ln>
        </p:spPr>
      </p:sp>
      <p:sp>
        <p:nvSpPr>
          <p:cNvPr id="8" name="Shape 6"/>
          <p:cNvSpPr/>
          <p:nvPr/>
        </p:nvSpPr>
        <p:spPr>
          <a:xfrm>
            <a:off x="2286000" y="2907792"/>
            <a:ext cx="274320" cy="1115568"/>
          </a:xfrm>
          <a:prstGeom prst="rect">
            <a:avLst/>
          </a:prstGeom>
          <a:solidFill>
            <a:srgbClr val="16A34A"/>
          </a:solidFill>
          <a:ln w="12700">
            <a:solidFill>
              <a:srgbClr val="16A34A"/>
            </a:solidFill>
            <a:prstDash val="solid"/>
          </a:ln>
        </p:spPr>
      </p:sp>
      <p:sp>
        <p:nvSpPr>
          <p:cNvPr id="9" name="Text 7"/>
          <p:cNvSpPr/>
          <p:nvPr/>
        </p:nvSpPr>
        <p:spPr>
          <a:xfrm>
            <a:off x="457200" y="2907792"/>
            <a:ext cx="2103120" cy="111556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Beginner</a:t>
            </a:r>
            <a:endParaRPr lang="en-US" sz="1400" dirty="0"/>
          </a:p>
          <a:p>
            <a:pPr algn="ctr" indent="0" marL="0">
              <a:buNone/>
            </a:pPr>
            <a:r>
              <a:rPr lang="en-US" sz="1400" b="1" dirty="0">
                <a:solidFill>
                  <a:srgbClr val="FFFFFF"/>
                </a:solidFill>
                <a:latin typeface="Cambria" pitchFamily="34" charset="0"/>
                <a:ea typeface="Cambria" pitchFamily="34" charset="-122"/>
                <a:cs typeface="Cambria" pitchFamily="34" charset="-120"/>
              </a:rPr>
              <a:t>Q1-Q10</a:t>
            </a:r>
            <a:endParaRPr lang="en-US" sz="1400" dirty="0"/>
          </a:p>
        </p:txBody>
      </p:sp>
      <p:sp>
        <p:nvSpPr>
          <p:cNvPr id="10" name="Text 8"/>
          <p:cNvSpPr/>
          <p:nvPr/>
        </p:nvSpPr>
        <p:spPr>
          <a:xfrm>
            <a:off x="2743200" y="3310128"/>
            <a:ext cx="88696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Single-concept questions. Each tests one idea from one section.</a:t>
            </a:r>
            <a:endParaRPr lang="en-US" sz="1100" dirty="0"/>
          </a:p>
        </p:txBody>
      </p:sp>
      <p:sp>
        <p:nvSpPr>
          <p:cNvPr id="11" name="Shape 9"/>
          <p:cNvSpPr/>
          <p:nvPr/>
        </p:nvSpPr>
        <p:spPr>
          <a:xfrm>
            <a:off x="457200" y="4133088"/>
            <a:ext cx="11292840" cy="1115568"/>
          </a:xfrm>
          <a:prstGeom prst="roundRect">
            <a:avLst>
              <a:gd name="adj" fmla="val 8197"/>
            </a:avLst>
          </a:prstGeom>
          <a:solidFill>
            <a:srgbClr val="1A2540"/>
          </a:solidFill>
          <a:ln w="15240">
            <a:solidFill>
              <a:srgbClr val="F9AB00"/>
            </a:solidFill>
            <a:prstDash val="solid"/>
          </a:ln>
          <a:effectLst>
            <a:outerShdw sx="100000" sy="100000" kx="0" ky="0" algn="bl" rotWithShape="0" blurRad="63500" dist="25400" dir="2700000">
              <a:srgbClr val="000000">
                <a:alpha val="12000"/>
              </a:srgbClr>
            </a:outerShdw>
          </a:effectLst>
        </p:spPr>
      </p:sp>
      <p:sp>
        <p:nvSpPr>
          <p:cNvPr id="12" name="Shape 10"/>
          <p:cNvSpPr/>
          <p:nvPr/>
        </p:nvSpPr>
        <p:spPr>
          <a:xfrm>
            <a:off x="457200" y="4133088"/>
            <a:ext cx="2103120" cy="1115568"/>
          </a:xfrm>
          <a:prstGeom prst="roundRect">
            <a:avLst>
              <a:gd name="adj" fmla="val 8197"/>
            </a:avLst>
          </a:prstGeom>
          <a:solidFill>
            <a:srgbClr val="F9AB00"/>
          </a:solidFill>
          <a:ln w="12700">
            <a:solidFill>
              <a:srgbClr val="F9AB00"/>
            </a:solidFill>
            <a:prstDash val="solid"/>
          </a:ln>
        </p:spPr>
      </p:sp>
      <p:sp>
        <p:nvSpPr>
          <p:cNvPr id="13" name="Shape 11"/>
          <p:cNvSpPr/>
          <p:nvPr/>
        </p:nvSpPr>
        <p:spPr>
          <a:xfrm>
            <a:off x="2286000" y="4133088"/>
            <a:ext cx="274320" cy="1115568"/>
          </a:xfrm>
          <a:prstGeom prst="rect">
            <a:avLst/>
          </a:prstGeom>
          <a:solidFill>
            <a:srgbClr val="F9AB00"/>
          </a:solidFill>
          <a:ln w="12700">
            <a:solidFill>
              <a:srgbClr val="F9AB00"/>
            </a:solidFill>
            <a:prstDash val="solid"/>
          </a:ln>
        </p:spPr>
      </p:sp>
      <p:sp>
        <p:nvSpPr>
          <p:cNvPr id="14" name="Text 12"/>
          <p:cNvSpPr/>
          <p:nvPr/>
        </p:nvSpPr>
        <p:spPr>
          <a:xfrm>
            <a:off x="457200" y="4133088"/>
            <a:ext cx="2103120" cy="111556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Intermediate</a:t>
            </a:r>
            <a:endParaRPr lang="en-US" sz="1400" dirty="0"/>
          </a:p>
          <a:p>
            <a:pPr algn="ctr" indent="0" marL="0">
              <a:buNone/>
            </a:pPr>
            <a:r>
              <a:rPr lang="en-US" sz="1400" b="1" dirty="0">
                <a:solidFill>
                  <a:srgbClr val="FFFFFF"/>
                </a:solidFill>
                <a:latin typeface="Cambria" pitchFamily="34" charset="0"/>
                <a:ea typeface="Cambria" pitchFamily="34" charset="-122"/>
                <a:cs typeface="Cambria" pitchFamily="34" charset="-120"/>
              </a:rPr>
              <a:t>Q11-Q20</a:t>
            </a:r>
            <a:endParaRPr lang="en-US" sz="1400" dirty="0"/>
          </a:p>
        </p:txBody>
      </p:sp>
      <p:sp>
        <p:nvSpPr>
          <p:cNvPr id="15" name="Text 13"/>
          <p:cNvSpPr/>
          <p:nvPr/>
        </p:nvSpPr>
        <p:spPr>
          <a:xfrm>
            <a:off x="2743200" y="4535424"/>
            <a:ext cx="88696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Multi-concept. Combine two or more topics per problem.</a:t>
            </a:r>
            <a:endParaRPr lang="en-US" sz="1100" dirty="0"/>
          </a:p>
        </p:txBody>
      </p:sp>
      <p:sp>
        <p:nvSpPr>
          <p:cNvPr id="16" name="Shape 14"/>
          <p:cNvSpPr/>
          <p:nvPr/>
        </p:nvSpPr>
        <p:spPr>
          <a:xfrm>
            <a:off x="457200" y="5358384"/>
            <a:ext cx="11292840" cy="1115568"/>
          </a:xfrm>
          <a:prstGeom prst="roundRect">
            <a:avLst>
              <a:gd name="adj" fmla="val 8197"/>
            </a:avLst>
          </a:prstGeom>
          <a:solidFill>
            <a:srgbClr val="1A2540"/>
          </a:solidFill>
          <a:ln w="15240">
            <a:solidFill>
              <a:srgbClr val="E11D48"/>
            </a:solidFill>
            <a:prstDash val="solid"/>
          </a:ln>
          <a:effectLst>
            <a:outerShdw sx="100000" sy="100000" kx="0" ky="0" algn="bl" rotWithShape="0" blurRad="63500" dist="25400" dir="2700000">
              <a:srgbClr val="000000">
                <a:alpha val="12000"/>
              </a:srgbClr>
            </a:outerShdw>
          </a:effectLst>
        </p:spPr>
      </p:sp>
      <p:sp>
        <p:nvSpPr>
          <p:cNvPr id="17" name="Shape 15"/>
          <p:cNvSpPr/>
          <p:nvPr/>
        </p:nvSpPr>
        <p:spPr>
          <a:xfrm>
            <a:off x="457200" y="5358384"/>
            <a:ext cx="2103120" cy="1115568"/>
          </a:xfrm>
          <a:prstGeom prst="roundRect">
            <a:avLst>
              <a:gd name="adj" fmla="val 8197"/>
            </a:avLst>
          </a:prstGeom>
          <a:solidFill>
            <a:srgbClr val="E11D48"/>
          </a:solidFill>
          <a:ln w="12700">
            <a:solidFill>
              <a:srgbClr val="E11D48"/>
            </a:solidFill>
            <a:prstDash val="solid"/>
          </a:ln>
        </p:spPr>
      </p:sp>
      <p:sp>
        <p:nvSpPr>
          <p:cNvPr id="18" name="Shape 16"/>
          <p:cNvSpPr/>
          <p:nvPr/>
        </p:nvSpPr>
        <p:spPr>
          <a:xfrm>
            <a:off x="2286000" y="5358384"/>
            <a:ext cx="274320" cy="1115568"/>
          </a:xfrm>
          <a:prstGeom prst="rect">
            <a:avLst/>
          </a:prstGeom>
          <a:solidFill>
            <a:srgbClr val="E11D48"/>
          </a:solidFill>
          <a:ln w="12700">
            <a:solidFill>
              <a:srgbClr val="E11D48"/>
            </a:solidFill>
            <a:prstDash val="solid"/>
          </a:ln>
        </p:spPr>
      </p:sp>
      <p:sp>
        <p:nvSpPr>
          <p:cNvPr id="19" name="Text 17"/>
          <p:cNvSpPr/>
          <p:nvPr/>
        </p:nvSpPr>
        <p:spPr>
          <a:xfrm>
            <a:off x="457200" y="5358384"/>
            <a:ext cx="2103120" cy="111556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Advanced</a:t>
            </a:r>
            <a:endParaRPr lang="en-US" sz="1400" dirty="0"/>
          </a:p>
          <a:p>
            <a:pPr algn="ctr" indent="0" marL="0">
              <a:buNone/>
            </a:pPr>
            <a:r>
              <a:rPr lang="en-US" sz="1400" b="1" dirty="0">
                <a:solidFill>
                  <a:srgbClr val="FFFFFF"/>
                </a:solidFill>
                <a:latin typeface="Cambria" pitchFamily="34" charset="0"/>
                <a:ea typeface="Cambria" pitchFamily="34" charset="-122"/>
                <a:cs typeface="Cambria" pitchFamily="34" charset="-120"/>
              </a:rPr>
              <a:t>Q21-Q30</a:t>
            </a:r>
            <a:endParaRPr lang="en-US" sz="1400" dirty="0"/>
          </a:p>
        </p:txBody>
      </p:sp>
      <p:sp>
        <p:nvSpPr>
          <p:cNvPr id="20" name="Text 18"/>
          <p:cNvSpPr/>
          <p:nvPr/>
        </p:nvSpPr>
        <p:spPr>
          <a:xfrm>
            <a:off x="2743200" y="5760720"/>
            <a:ext cx="88696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Full programs. Design and build a complete solution from scratch.</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6A34A"/>
          </a:solidFill>
          <a:ln w="12700">
            <a:solidFill>
              <a:srgbClr val="16A34A"/>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BEGINNER EXERCISES  Q1 – Q10</a:t>
            </a:r>
            <a:endParaRPr lang="en-US" sz="2600" dirty="0"/>
          </a:p>
        </p:txBody>
      </p:sp>
      <p:sp>
        <p:nvSpPr>
          <p:cNvPr id="4" name="Shape 2"/>
          <p:cNvSpPr/>
          <p:nvPr/>
        </p:nvSpPr>
        <p:spPr>
          <a:xfrm>
            <a:off x="411480" y="1051560"/>
            <a:ext cx="11338560" cy="512064"/>
          </a:xfrm>
          <a:prstGeom prst="roundRect">
            <a:avLst>
              <a:gd name="adj" fmla="val 14286"/>
            </a:avLst>
          </a:prstGeom>
          <a:solidFill>
            <a:srgbClr val="FFFFFF"/>
          </a:solidFill>
          <a:ln w="10160">
            <a:solidFill>
              <a:srgbClr val="2563EB"/>
            </a:solidFill>
            <a:prstDash val="solid"/>
          </a:ln>
          <a:effectLst>
            <a:outerShdw sx="100000" sy="100000" kx="0" ky="0" algn="bl" rotWithShape="0" blurRad="63500" dist="25400" dir="2700000">
              <a:srgbClr val="000000">
                <a:alpha val="12000"/>
              </a:srgbClr>
            </a:outerShdw>
          </a:effectLst>
        </p:spPr>
      </p:sp>
      <p:sp>
        <p:nvSpPr>
          <p:cNvPr id="5" name="Shape 3"/>
          <p:cNvSpPr/>
          <p:nvPr/>
        </p:nvSpPr>
        <p:spPr>
          <a:xfrm>
            <a:off x="411480" y="1051560"/>
            <a:ext cx="566928" cy="512064"/>
          </a:xfrm>
          <a:prstGeom prst="roundRect">
            <a:avLst>
              <a:gd name="adj" fmla="val 14286"/>
            </a:avLst>
          </a:prstGeom>
          <a:solidFill>
            <a:srgbClr val="2563EB"/>
          </a:solidFill>
          <a:ln w="12700">
            <a:solidFill>
              <a:srgbClr val="2563EB"/>
            </a:solidFill>
            <a:prstDash val="solid"/>
          </a:ln>
        </p:spPr>
      </p:sp>
      <p:sp>
        <p:nvSpPr>
          <p:cNvPr id="6" name="Shape 4"/>
          <p:cNvSpPr/>
          <p:nvPr/>
        </p:nvSpPr>
        <p:spPr>
          <a:xfrm>
            <a:off x="731520" y="1051560"/>
            <a:ext cx="246888" cy="512064"/>
          </a:xfrm>
          <a:prstGeom prst="rect">
            <a:avLst/>
          </a:prstGeom>
          <a:solidFill>
            <a:srgbClr val="2563EB"/>
          </a:solidFill>
          <a:ln w="12700">
            <a:solidFill>
              <a:srgbClr val="2563EB"/>
            </a:solidFill>
            <a:prstDash val="solid"/>
          </a:ln>
        </p:spPr>
      </p:sp>
      <p:sp>
        <p:nvSpPr>
          <p:cNvPr id="7" name="Text 5"/>
          <p:cNvSpPr/>
          <p:nvPr/>
        </p:nvSpPr>
        <p:spPr>
          <a:xfrm>
            <a:off x="411480" y="1051560"/>
            <a:ext cx="566928"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Q1</a:t>
            </a:r>
            <a:endParaRPr lang="en-US" sz="1050" dirty="0"/>
          </a:p>
        </p:txBody>
      </p:sp>
      <p:sp>
        <p:nvSpPr>
          <p:cNvPr id="8" name="Text 6"/>
          <p:cNvSpPr/>
          <p:nvPr/>
        </p:nvSpPr>
        <p:spPr>
          <a:xfrm>
            <a:off x="1097280" y="1078992"/>
            <a:ext cx="10588752" cy="457200"/>
          </a:xfrm>
          <a:prstGeom prst="rect">
            <a:avLst/>
          </a:prstGeom>
          <a:noFill/>
          <a:ln/>
        </p:spPr>
        <p:txBody>
          <a:bodyPr wrap="square" lIns="0" tIns="0" rIns="0" bIns="0" rtlCol="0" anchor="ctr"/>
          <a:lstStyle/>
          <a:p>
            <a:pPr indent="0" marL="0">
              <a:buNone/>
            </a:pPr>
            <a:r>
              <a:rPr lang="en-US" sz="1000" dirty="0">
                <a:solidFill>
                  <a:srgbClr val="0D1526"/>
                </a:solidFill>
                <a:latin typeface="Calibri" pitchFamily="34" charset="0"/>
                <a:ea typeface="Calibri" pitchFamily="34" charset="-122"/>
                <a:cs typeface="Calibri" pitchFamily="34" charset="-120"/>
              </a:rPr>
              <a:t>Create 5 variables: a product name (str), quantity (int), unit price (float), in_stock (bool), and last_order (None). Print each with type().</a:t>
            </a:r>
            <a:endParaRPr lang="en-US" sz="1000" dirty="0"/>
          </a:p>
        </p:txBody>
      </p:sp>
      <p:sp>
        <p:nvSpPr>
          <p:cNvPr id="9" name="Shape 7"/>
          <p:cNvSpPr/>
          <p:nvPr/>
        </p:nvSpPr>
        <p:spPr>
          <a:xfrm>
            <a:off x="411480" y="1613916"/>
            <a:ext cx="11338560" cy="512064"/>
          </a:xfrm>
          <a:prstGeom prst="roundRect">
            <a:avLst>
              <a:gd name="adj" fmla="val 14286"/>
            </a:avLst>
          </a:prstGeom>
          <a:solidFill>
            <a:srgbClr val="FFFFFF"/>
          </a:solidFill>
          <a:ln w="10160">
            <a:solidFill>
              <a:srgbClr val="2563EB"/>
            </a:solidFill>
            <a:prstDash val="solid"/>
          </a:ln>
          <a:effectLst>
            <a:outerShdw sx="100000" sy="100000" kx="0" ky="0" algn="bl" rotWithShape="0" blurRad="63500" dist="25400" dir="2700000">
              <a:srgbClr val="000000">
                <a:alpha val="12000"/>
              </a:srgbClr>
            </a:outerShdw>
          </a:effectLst>
        </p:spPr>
      </p:sp>
      <p:sp>
        <p:nvSpPr>
          <p:cNvPr id="10" name="Shape 8"/>
          <p:cNvSpPr/>
          <p:nvPr/>
        </p:nvSpPr>
        <p:spPr>
          <a:xfrm>
            <a:off x="411480" y="1613916"/>
            <a:ext cx="566928" cy="512064"/>
          </a:xfrm>
          <a:prstGeom prst="roundRect">
            <a:avLst>
              <a:gd name="adj" fmla="val 14286"/>
            </a:avLst>
          </a:prstGeom>
          <a:solidFill>
            <a:srgbClr val="2563EB"/>
          </a:solidFill>
          <a:ln w="12700">
            <a:solidFill>
              <a:srgbClr val="2563EB"/>
            </a:solidFill>
            <a:prstDash val="solid"/>
          </a:ln>
        </p:spPr>
      </p:sp>
      <p:sp>
        <p:nvSpPr>
          <p:cNvPr id="11" name="Shape 9"/>
          <p:cNvSpPr/>
          <p:nvPr/>
        </p:nvSpPr>
        <p:spPr>
          <a:xfrm>
            <a:off x="731520" y="1613916"/>
            <a:ext cx="246888" cy="512064"/>
          </a:xfrm>
          <a:prstGeom prst="rect">
            <a:avLst/>
          </a:prstGeom>
          <a:solidFill>
            <a:srgbClr val="2563EB"/>
          </a:solidFill>
          <a:ln w="12700">
            <a:solidFill>
              <a:srgbClr val="2563EB"/>
            </a:solidFill>
            <a:prstDash val="solid"/>
          </a:ln>
        </p:spPr>
      </p:sp>
      <p:sp>
        <p:nvSpPr>
          <p:cNvPr id="12" name="Text 10"/>
          <p:cNvSpPr/>
          <p:nvPr/>
        </p:nvSpPr>
        <p:spPr>
          <a:xfrm>
            <a:off x="411480" y="1613916"/>
            <a:ext cx="566928"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Q2</a:t>
            </a:r>
            <a:endParaRPr lang="en-US" sz="1050" dirty="0"/>
          </a:p>
        </p:txBody>
      </p:sp>
      <p:sp>
        <p:nvSpPr>
          <p:cNvPr id="13" name="Text 11"/>
          <p:cNvSpPr/>
          <p:nvPr/>
        </p:nvSpPr>
        <p:spPr>
          <a:xfrm>
            <a:off x="1097280" y="1641348"/>
            <a:ext cx="10588752" cy="457200"/>
          </a:xfrm>
          <a:prstGeom prst="rect">
            <a:avLst/>
          </a:prstGeom>
          <a:noFill/>
          <a:ln/>
        </p:spPr>
        <p:txBody>
          <a:bodyPr wrap="square" lIns="0" tIns="0" rIns="0" bIns="0" rtlCol="0" anchor="ctr"/>
          <a:lstStyle/>
          <a:p>
            <a:pPr indent="0" marL="0">
              <a:buNone/>
            </a:pPr>
            <a:r>
              <a:rPr lang="en-US" sz="1000" dirty="0">
                <a:solidFill>
                  <a:srgbClr val="0D1526"/>
                </a:solidFill>
                <a:latin typeface="Calibri" pitchFamily="34" charset="0"/>
                <a:ea typeface="Calibri" pitchFamily="34" charset="-122"/>
                <a:cs typeface="Calibri" pitchFamily="34" charset="-120"/>
              </a:rPr>
              <a:t>A store sells 350 units at NGN 8,500 each. VAT is 7.5%. Calculate and print the total revenue after VAT using f-string with comma formatting.</a:t>
            </a:r>
            <a:endParaRPr lang="en-US" sz="1000" dirty="0"/>
          </a:p>
        </p:txBody>
      </p:sp>
      <p:sp>
        <p:nvSpPr>
          <p:cNvPr id="14" name="Shape 12"/>
          <p:cNvSpPr/>
          <p:nvPr/>
        </p:nvSpPr>
        <p:spPr>
          <a:xfrm>
            <a:off x="411480" y="2176272"/>
            <a:ext cx="11338560" cy="512064"/>
          </a:xfrm>
          <a:prstGeom prst="roundRect">
            <a:avLst>
              <a:gd name="adj" fmla="val 14286"/>
            </a:avLst>
          </a:prstGeom>
          <a:solidFill>
            <a:srgbClr val="FFFFFF"/>
          </a:solidFill>
          <a:ln w="10160">
            <a:solidFill>
              <a:srgbClr val="16A34A"/>
            </a:solidFill>
            <a:prstDash val="solid"/>
          </a:ln>
          <a:effectLst>
            <a:outerShdw sx="100000" sy="100000" kx="0" ky="0" algn="bl" rotWithShape="0" blurRad="63500" dist="25400" dir="2700000">
              <a:srgbClr val="000000">
                <a:alpha val="12000"/>
              </a:srgbClr>
            </a:outerShdw>
          </a:effectLst>
        </p:spPr>
      </p:sp>
      <p:sp>
        <p:nvSpPr>
          <p:cNvPr id="15" name="Shape 13"/>
          <p:cNvSpPr/>
          <p:nvPr/>
        </p:nvSpPr>
        <p:spPr>
          <a:xfrm>
            <a:off x="411480" y="2176272"/>
            <a:ext cx="566928" cy="512064"/>
          </a:xfrm>
          <a:prstGeom prst="roundRect">
            <a:avLst>
              <a:gd name="adj" fmla="val 14286"/>
            </a:avLst>
          </a:prstGeom>
          <a:solidFill>
            <a:srgbClr val="16A34A"/>
          </a:solidFill>
          <a:ln w="12700">
            <a:solidFill>
              <a:srgbClr val="16A34A"/>
            </a:solidFill>
            <a:prstDash val="solid"/>
          </a:ln>
        </p:spPr>
      </p:sp>
      <p:sp>
        <p:nvSpPr>
          <p:cNvPr id="16" name="Shape 14"/>
          <p:cNvSpPr/>
          <p:nvPr/>
        </p:nvSpPr>
        <p:spPr>
          <a:xfrm>
            <a:off x="731520" y="2176272"/>
            <a:ext cx="246888" cy="512064"/>
          </a:xfrm>
          <a:prstGeom prst="rect">
            <a:avLst/>
          </a:prstGeom>
          <a:solidFill>
            <a:srgbClr val="16A34A"/>
          </a:solidFill>
          <a:ln w="12700">
            <a:solidFill>
              <a:srgbClr val="16A34A"/>
            </a:solidFill>
            <a:prstDash val="solid"/>
          </a:ln>
        </p:spPr>
      </p:sp>
      <p:sp>
        <p:nvSpPr>
          <p:cNvPr id="17" name="Text 15"/>
          <p:cNvSpPr/>
          <p:nvPr/>
        </p:nvSpPr>
        <p:spPr>
          <a:xfrm>
            <a:off x="411480" y="2176272"/>
            <a:ext cx="566928"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Q3</a:t>
            </a:r>
            <a:endParaRPr lang="en-US" sz="1050" dirty="0"/>
          </a:p>
        </p:txBody>
      </p:sp>
      <p:sp>
        <p:nvSpPr>
          <p:cNvPr id="18" name="Text 16"/>
          <p:cNvSpPr/>
          <p:nvPr/>
        </p:nvSpPr>
        <p:spPr>
          <a:xfrm>
            <a:off x="1097280" y="2203704"/>
            <a:ext cx="10588752" cy="457200"/>
          </a:xfrm>
          <a:prstGeom prst="rect">
            <a:avLst/>
          </a:prstGeom>
          <a:noFill/>
          <a:ln/>
        </p:spPr>
        <p:txBody>
          <a:bodyPr wrap="square" lIns="0" tIns="0" rIns="0" bIns="0" rtlCol="0" anchor="ctr"/>
          <a:lstStyle/>
          <a:p>
            <a:pPr indent="0" marL="0">
              <a:buNone/>
            </a:pPr>
            <a:r>
              <a:rPr lang="en-US" sz="1000" dirty="0">
                <a:solidFill>
                  <a:srgbClr val="0D1526"/>
                </a:solidFill>
                <a:latin typeface="Calibri" pitchFamily="34" charset="0"/>
                <a:ea typeface="Calibri" pitchFamily="34" charset="-122"/>
                <a:cs typeface="Calibri" pitchFamily="34" charset="-120"/>
              </a:rPr>
              <a:t>Take a product code string 'SKU-2024-00142'. Extract and print: the prefix (SKU), the year (2024), and the sequence number (00142) using slicing.</a:t>
            </a:r>
            <a:endParaRPr lang="en-US" sz="1000" dirty="0"/>
          </a:p>
        </p:txBody>
      </p:sp>
      <p:sp>
        <p:nvSpPr>
          <p:cNvPr id="19" name="Shape 17"/>
          <p:cNvSpPr/>
          <p:nvPr/>
        </p:nvSpPr>
        <p:spPr>
          <a:xfrm>
            <a:off x="411480" y="2738628"/>
            <a:ext cx="11338560" cy="512064"/>
          </a:xfrm>
          <a:prstGeom prst="roundRect">
            <a:avLst>
              <a:gd name="adj" fmla="val 14286"/>
            </a:avLst>
          </a:prstGeom>
          <a:solidFill>
            <a:srgbClr val="FFFFFF"/>
          </a:solidFill>
          <a:ln w="10160">
            <a:solidFill>
              <a:srgbClr val="16A34A"/>
            </a:solidFill>
            <a:prstDash val="solid"/>
          </a:ln>
          <a:effectLst>
            <a:outerShdw sx="100000" sy="100000" kx="0" ky="0" algn="bl" rotWithShape="0" blurRad="63500" dist="25400" dir="2700000">
              <a:srgbClr val="000000">
                <a:alpha val="12000"/>
              </a:srgbClr>
            </a:outerShdw>
          </a:effectLst>
        </p:spPr>
      </p:sp>
      <p:sp>
        <p:nvSpPr>
          <p:cNvPr id="20" name="Shape 18"/>
          <p:cNvSpPr/>
          <p:nvPr/>
        </p:nvSpPr>
        <p:spPr>
          <a:xfrm>
            <a:off x="411480" y="2738628"/>
            <a:ext cx="566928" cy="512064"/>
          </a:xfrm>
          <a:prstGeom prst="roundRect">
            <a:avLst>
              <a:gd name="adj" fmla="val 14286"/>
            </a:avLst>
          </a:prstGeom>
          <a:solidFill>
            <a:srgbClr val="16A34A"/>
          </a:solidFill>
          <a:ln w="12700">
            <a:solidFill>
              <a:srgbClr val="16A34A"/>
            </a:solidFill>
            <a:prstDash val="solid"/>
          </a:ln>
        </p:spPr>
      </p:sp>
      <p:sp>
        <p:nvSpPr>
          <p:cNvPr id="21" name="Shape 19"/>
          <p:cNvSpPr/>
          <p:nvPr/>
        </p:nvSpPr>
        <p:spPr>
          <a:xfrm>
            <a:off x="731520" y="2738628"/>
            <a:ext cx="246888" cy="512064"/>
          </a:xfrm>
          <a:prstGeom prst="rect">
            <a:avLst/>
          </a:prstGeom>
          <a:solidFill>
            <a:srgbClr val="16A34A"/>
          </a:solidFill>
          <a:ln w="12700">
            <a:solidFill>
              <a:srgbClr val="16A34A"/>
            </a:solidFill>
            <a:prstDash val="solid"/>
          </a:ln>
        </p:spPr>
      </p:sp>
      <p:sp>
        <p:nvSpPr>
          <p:cNvPr id="22" name="Text 20"/>
          <p:cNvSpPr/>
          <p:nvPr/>
        </p:nvSpPr>
        <p:spPr>
          <a:xfrm>
            <a:off x="411480" y="2738628"/>
            <a:ext cx="566928"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Q4</a:t>
            </a:r>
            <a:endParaRPr lang="en-US" sz="1050" dirty="0"/>
          </a:p>
        </p:txBody>
      </p:sp>
      <p:sp>
        <p:nvSpPr>
          <p:cNvPr id="23" name="Text 21"/>
          <p:cNvSpPr/>
          <p:nvPr/>
        </p:nvSpPr>
        <p:spPr>
          <a:xfrm>
            <a:off x="1097280" y="2766060"/>
            <a:ext cx="10588752" cy="457200"/>
          </a:xfrm>
          <a:prstGeom prst="rect">
            <a:avLst/>
          </a:prstGeom>
          <a:noFill/>
          <a:ln/>
        </p:spPr>
        <p:txBody>
          <a:bodyPr wrap="square" lIns="0" tIns="0" rIns="0" bIns="0" rtlCol="0" anchor="ctr"/>
          <a:lstStyle/>
          <a:p>
            <a:pPr indent="0" marL="0">
              <a:buNone/>
            </a:pPr>
            <a:r>
              <a:rPr lang="en-US" sz="1000" dirty="0">
                <a:solidFill>
                  <a:srgbClr val="0D1526"/>
                </a:solidFill>
                <a:latin typeface="Calibri" pitchFamily="34" charset="0"/>
                <a:ea typeface="Calibri" pitchFamily="34" charset="-122"/>
                <a:cs typeface="Calibri" pitchFamily="34" charset="-120"/>
              </a:rPr>
              <a:t>Create a list of 6 product names. Print the first, the last, and reverse the list using slicing. Add one item to the end and remove the third item.</a:t>
            </a:r>
            <a:endParaRPr lang="en-US" sz="1000" dirty="0"/>
          </a:p>
        </p:txBody>
      </p:sp>
      <p:sp>
        <p:nvSpPr>
          <p:cNvPr id="24" name="Shape 22"/>
          <p:cNvSpPr/>
          <p:nvPr/>
        </p:nvSpPr>
        <p:spPr>
          <a:xfrm>
            <a:off x="411480" y="3300984"/>
            <a:ext cx="11338560" cy="512064"/>
          </a:xfrm>
          <a:prstGeom prst="roundRect">
            <a:avLst>
              <a:gd name="adj" fmla="val 14286"/>
            </a:avLst>
          </a:prstGeom>
          <a:solidFill>
            <a:srgbClr val="FFFFFF"/>
          </a:solidFill>
          <a:ln w="10160">
            <a:solidFill>
              <a:srgbClr val="7C3AED"/>
            </a:solidFill>
            <a:prstDash val="solid"/>
          </a:ln>
          <a:effectLst>
            <a:outerShdw sx="100000" sy="100000" kx="0" ky="0" algn="bl" rotWithShape="0" blurRad="63500" dist="25400" dir="2700000">
              <a:srgbClr val="000000">
                <a:alpha val="12000"/>
              </a:srgbClr>
            </a:outerShdw>
          </a:effectLst>
        </p:spPr>
      </p:sp>
      <p:sp>
        <p:nvSpPr>
          <p:cNvPr id="25" name="Shape 23"/>
          <p:cNvSpPr/>
          <p:nvPr/>
        </p:nvSpPr>
        <p:spPr>
          <a:xfrm>
            <a:off x="411480" y="3300984"/>
            <a:ext cx="566928" cy="512064"/>
          </a:xfrm>
          <a:prstGeom prst="roundRect">
            <a:avLst>
              <a:gd name="adj" fmla="val 14286"/>
            </a:avLst>
          </a:prstGeom>
          <a:solidFill>
            <a:srgbClr val="7C3AED"/>
          </a:solidFill>
          <a:ln w="12700">
            <a:solidFill>
              <a:srgbClr val="7C3AED"/>
            </a:solidFill>
            <a:prstDash val="solid"/>
          </a:ln>
        </p:spPr>
      </p:sp>
      <p:sp>
        <p:nvSpPr>
          <p:cNvPr id="26" name="Shape 24"/>
          <p:cNvSpPr/>
          <p:nvPr/>
        </p:nvSpPr>
        <p:spPr>
          <a:xfrm>
            <a:off x="731520" y="3300984"/>
            <a:ext cx="246888" cy="512064"/>
          </a:xfrm>
          <a:prstGeom prst="rect">
            <a:avLst/>
          </a:prstGeom>
          <a:solidFill>
            <a:srgbClr val="7C3AED"/>
          </a:solidFill>
          <a:ln w="12700">
            <a:solidFill>
              <a:srgbClr val="7C3AED"/>
            </a:solidFill>
            <a:prstDash val="solid"/>
          </a:ln>
        </p:spPr>
      </p:sp>
      <p:sp>
        <p:nvSpPr>
          <p:cNvPr id="27" name="Text 25"/>
          <p:cNvSpPr/>
          <p:nvPr/>
        </p:nvSpPr>
        <p:spPr>
          <a:xfrm>
            <a:off x="411480" y="3300984"/>
            <a:ext cx="566928"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Q5</a:t>
            </a:r>
            <a:endParaRPr lang="en-US" sz="1050" dirty="0"/>
          </a:p>
        </p:txBody>
      </p:sp>
      <p:sp>
        <p:nvSpPr>
          <p:cNvPr id="28" name="Text 26"/>
          <p:cNvSpPr/>
          <p:nvPr/>
        </p:nvSpPr>
        <p:spPr>
          <a:xfrm>
            <a:off x="1097280" y="3328416"/>
            <a:ext cx="10588752" cy="457200"/>
          </a:xfrm>
          <a:prstGeom prst="rect">
            <a:avLst/>
          </a:prstGeom>
          <a:noFill/>
          <a:ln/>
        </p:spPr>
        <p:txBody>
          <a:bodyPr wrap="square" lIns="0" tIns="0" rIns="0" bIns="0" rtlCol="0" anchor="ctr"/>
          <a:lstStyle/>
          <a:p>
            <a:pPr indent="0" marL="0">
              <a:buNone/>
            </a:pPr>
            <a:r>
              <a:rPr lang="en-US" sz="1000" dirty="0">
                <a:solidFill>
                  <a:srgbClr val="0D1526"/>
                </a:solidFill>
                <a:latin typeface="Calibri" pitchFamily="34" charset="0"/>
                <a:ea typeface="Calibri" pitchFamily="34" charset="-122"/>
                <a:cs typeface="Calibri" pitchFamily="34" charset="-120"/>
              </a:rPr>
              <a:t>Create a dict for one customer: id, name, region, balance, active. Print every key-value pair using a for loop and .items().</a:t>
            </a:r>
            <a:endParaRPr lang="en-US" sz="1000" dirty="0"/>
          </a:p>
        </p:txBody>
      </p:sp>
      <p:sp>
        <p:nvSpPr>
          <p:cNvPr id="29" name="Shape 27"/>
          <p:cNvSpPr/>
          <p:nvPr/>
        </p:nvSpPr>
        <p:spPr>
          <a:xfrm>
            <a:off x="411480" y="3863340"/>
            <a:ext cx="11338560" cy="512064"/>
          </a:xfrm>
          <a:prstGeom prst="roundRect">
            <a:avLst>
              <a:gd name="adj" fmla="val 14286"/>
            </a:avLst>
          </a:prstGeom>
          <a:solidFill>
            <a:srgbClr val="FFFFFF"/>
          </a:solidFill>
          <a:ln w="10160">
            <a:solidFill>
              <a:srgbClr val="7C3AED"/>
            </a:solidFill>
            <a:prstDash val="solid"/>
          </a:ln>
          <a:effectLst>
            <a:outerShdw sx="100000" sy="100000" kx="0" ky="0" algn="bl" rotWithShape="0" blurRad="63500" dist="25400" dir="2700000">
              <a:srgbClr val="000000">
                <a:alpha val="12000"/>
              </a:srgbClr>
            </a:outerShdw>
          </a:effectLst>
        </p:spPr>
      </p:sp>
      <p:sp>
        <p:nvSpPr>
          <p:cNvPr id="30" name="Shape 28"/>
          <p:cNvSpPr/>
          <p:nvPr/>
        </p:nvSpPr>
        <p:spPr>
          <a:xfrm>
            <a:off x="411480" y="3863340"/>
            <a:ext cx="566928" cy="512064"/>
          </a:xfrm>
          <a:prstGeom prst="roundRect">
            <a:avLst>
              <a:gd name="adj" fmla="val 14286"/>
            </a:avLst>
          </a:prstGeom>
          <a:solidFill>
            <a:srgbClr val="7C3AED"/>
          </a:solidFill>
          <a:ln w="12700">
            <a:solidFill>
              <a:srgbClr val="7C3AED"/>
            </a:solidFill>
            <a:prstDash val="solid"/>
          </a:ln>
        </p:spPr>
      </p:sp>
      <p:sp>
        <p:nvSpPr>
          <p:cNvPr id="31" name="Shape 29"/>
          <p:cNvSpPr/>
          <p:nvPr/>
        </p:nvSpPr>
        <p:spPr>
          <a:xfrm>
            <a:off x="731520" y="3863340"/>
            <a:ext cx="246888" cy="512064"/>
          </a:xfrm>
          <a:prstGeom prst="rect">
            <a:avLst/>
          </a:prstGeom>
          <a:solidFill>
            <a:srgbClr val="7C3AED"/>
          </a:solidFill>
          <a:ln w="12700">
            <a:solidFill>
              <a:srgbClr val="7C3AED"/>
            </a:solidFill>
            <a:prstDash val="solid"/>
          </a:ln>
        </p:spPr>
      </p:sp>
      <p:sp>
        <p:nvSpPr>
          <p:cNvPr id="32" name="Text 30"/>
          <p:cNvSpPr/>
          <p:nvPr/>
        </p:nvSpPr>
        <p:spPr>
          <a:xfrm>
            <a:off x="411480" y="3863340"/>
            <a:ext cx="566928"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Q6</a:t>
            </a:r>
            <a:endParaRPr lang="en-US" sz="1050" dirty="0"/>
          </a:p>
        </p:txBody>
      </p:sp>
      <p:sp>
        <p:nvSpPr>
          <p:cNvPr id="33" name="Text 31"/>
          <p:cNvSpPr/>
          <p:nvPr/>
        </p:nvSpPr>
        <p:spPr>
          <a:xfrm>
            <a:off x="1097280" y="3890772"/>
            <a:ext cx="10588752" cy="457200"/>
          </a:xfrm>
          <a:prstGeom prst="rect">
            <a:avLst/>
          </a:prstGeom>
          <a:noFill/>
          <a:ln/>
        </p:spPr>
        <p:txBody>
          <a:bodyPr wrap="square" lIns="0" tIns="0" rIns="0" bIns="0" rtlCol="0" anchor="ctr"/>
          <a:lstStyle/>
          <a:p>
            <a:pPr indent="0" marL="0">
              <a:buNone/>
            </a:pPr>
            <a:r>
              <a:rPr lang="en-US" sz="1000" dirty="0">
                <a:solidFill>
                  <a:srgbClr val="0D1526"/>
                </a:solidFill>
                <a:latin typeface="Calibri" pitchFamily="34" charset="0"/>
                <a:ea typeface="Calibri" pitchFamily="34" charset="-122"/>
                <a:cs typeface="Calibri" pitchFamily="34" charset="-120"/>
              </a:rPr>
              <a:t>Write an if/elif/else block that classifies credit score into: 750+ Excellent, 700-749 Good, 650-699 Fair, below 650 Poor. Test with score=715.</a:t>
            </a:r>
            <a:endParaRPr lang="en-US" sz="1000" dirty="0"/>
          </a:p>
        </p:txBody>
      </p:sp>
      <p:sp>
        <p:nvSpPr>
          <p:cNvPr id="34" name="Shape 32"/>
          <p:cNvSpPr/>
          <p:nvPr/>
        </p:nvSpPr>
        <p:spPr>
          <a:xfrm>
            <a:off x="411480" y="4425696"/>
            <a:ext cx="11338560" cy="512064"/>
          </a:xfrm>
          <a:prstGeom prst="roundRect">
            <a:avLst>
              <a:gd name="adj" fmla="val 14286"/>
            </a:avLst>
          </a:prstGeom>
          <a:solidFill>
            <a:srgbClr val="FFFFFF"/>
          </a:solidFill>
          <a:ln w="10160">
            <a:solidFill>
              <a:srgbClr val="0891B2"/>
            </a:solidFill>
            <a:prstDash val="solid"/>
          </a:ln>
          <a:effectLst>
            <a:outerShdw sx="100000" sy="100000" kx="0" ky="0" algn="bl" rotWithShape="0" blurRad="63500" dist="25400" dir="2700000">
              <a:srgbClr val="000000">
                <a:alpha val="12000"/>
              </a:srgbClr>
            </a:outerShdw>
          </a:effectLst>
        </p:spPr>
      </p:sp>
      <p:sp>
        <p:nvSpPr>
          <p:cNvPr id="35" name="Shape 33"/>
          <p:cNvSpPr/>
          <p:nvPr/>
        </p:nvSpPr>
        <p:spPr>
          <a:xfrm>
            <a:off x="411480" y="4425696"/>
            <a:ext cx="566928" cy="512064"/>
          </a:xfrm>
          <a:prstGeom prst="roundRect">
            <a:avLst>
              <a:gd name="adj" fmla="val 14286"/>
            </a:avLst>
          </a:prstGeom>
          <a:solidFill>
            <a:srgbClr val="0891B2"/>
          </a:solidFill>
          <a:ln w="12700">
            <a:solidFill>
              <a:srgbClr val="0891B2"/>
            </a:solidFill>
            <a:prstDash val="solid"/>
          </a:ln>
        </p:spPr>
      </p:sp>
      <p:sp>
        <p:nvSpPr>
          <p:cNvPr id="36" name="Shape 34"/>
          <p:cNvSpPr/>
          <p:nvPr/>
        </p:nvSpPr>
        <p:spPr>
          <a:xfrm>
            <a:off x="731520" y="4425696"/>
            <a:ext cx="246888" cy="512064"/>
          </a:xfrm>
          <a:prstGeom prst="rect">
            <a:avLst/>
          </a:prstGeom>
          <a:solidFill>
            <a:srgbClr val="0891B2"/>
          </a:solidFill>
          <a:ln w="12700">
            <a:solidFill>
              <a:srgbClr val="0891B2"/>
            </a:solidFill>
            <a:prstDash val="solid"/>
          </a:ln>
        </p:spPr>
      </p:sp>
      <p:sp>
        <p:nvSpPr>
          <p:cNvPr id="37" name="Text 35"/>
          <p:cNvSpPr/>
          <p:nvPr/>
        </p:nvSpPr>
        <p:spPr>
          <a:xfrm>
            <a:off x="411480" y="4425696"/>
            <a:ext cx="566928"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Q7</a:t>
            </a:r>
            <a:endParaRPr lang="en-US" sz="1050" dirty="0"/>
          </a:p>
        </p:txBody>
      </p:sp>
      <p:sp>
        <p:nvSpPr>
          <p:cNvPr id="38" name="Text 36"/>
          <p:cNvSpPr/>
          <p:nvPr/>
        </p:nvSpPr>
        <p:spPr>
          <a:xfrm>
            <a:off x="1097280" y="4453128"/>
            <a:ext cx="10588752" cy="457200"/>
          </a:xfrm>
          <a:prstGeom prst="rect">
            <a:avLst/>
          </a:prstGeom>
          <a:noFill/>
          <a:ln/>
        </p:spPr>
        <p:txBody>
          <a:bodyPr wrap="square" lIns="0" tIns="0" rIns="0" bIns="0" rtlCol="0" anchor="ctr"/>
          <a:lstStyle/>
          <a:p>
            <a:pPr indent="0" marL="0">
              <a:buNone/>
            </a:pPr>
            <a:r>
              <a:rPr lang="en-US" sz="1000" dirty="0">
                <a:solidFill>
                  <a:srgbClr val="0D1526"/>
                </a:solidFill>
                <a:latin typeface="Calibri" pitchFamily="34" charset="0"/>
                <a:ea typeface="Calibri" pitchFamily="34" charset="-122"/>
                <a:cs typeface="Calibri" pitchFamily="34" charset="-120"/>
              </a:rPr>
              <a:t>Use a for loop with range to print a 9-times multiplication table (9x1=9 through 9x12=108).</a:t>
            </a:r>
            <a:endParaRPr lang="en-US" sz="1000" dirty="0"/>
          </a:p>
        </p:txBody>
      </p:sp>
      <p:sp>
        <p:nvSpPr>
          <p:cNvPr id="39" name="Shape 37"/>
          <p:cNvSpPr/>
          <p:nvPr/>
        </p:nvSpPr>
        <p:spPr>
          <a:xfrm>
            <a:off x="411480" y="4988052"/>
            <a:ext cx="11338560" cy="512064"/>
          </a:xfrm>
          <a:prstGeom prst="roundRect">
            <a:avLst>
              <a:gd name="adj" fmla="val 14286"/>
            </a:avLst>
          </a:prstGeom>
          <a:solidFill>
            <a:srgbClr val="FFFFFF"/>
          </a:solidFill>
          <a:ln w="10160">
            <a:solidFill>
              <a:srgbClr val="0891B2"/>
            </a:solidFill>
            <a:prstDash val="solid"/>
          </a:ln>
          <a:effectLst>
            <a:outerShdw sx="100000" sy="100000" kx="0" ky="0" algn="bl" rotWithShape="0" blurRad="63500" dist="25400" dir="2700000">
              <a:srgbClr val="000000">
                <a:alpha val="12000"/>
              </a:srgbClr>
            </a:outerShdw>
          </a:effectLst>
        </p:spPr>
      </p:sp>
      <p:sp>
        <p:nvSpPr>
          <p:cNvPr id="40" name="Shape 38"/>
          <p:cNvSpPr/>
          <p:nvPr/>
        </p:nvSpPr>
        <p:spPr>
          <a:xfrm>
            <a:off x="411480" y="4988052"/>
            <a:ext cx="566928" cy="512064"/>
          </a:xfrm>
          <a:prstGeom prst="roundRect">
            <a:avLst>
              <a:gd name="adj" fmla="val 14286"/>
            </a:avLst>
          </a:prstGeom>
          <a:solidFill>
            <a:srgbClr val="0891B2"/>
          </a:solidFill>
          <a:ln w="12700">
            <a:solidFill>
              <a:srgbClr val="0891B2"/>
            </a:solidFill>
            <a:prstDash val="solid"/>
          </a:ln>
        </p:spPr>
      </p:sp>
      <p:sp>
        <p:nvSpPr>
          <p:cNvPr id="41" name="Shape 39"/>
          <p:cNvSpPr/>
          <p:nvPr/>
        </p:nvSpPr>
        <p:spPr>
          <a:xfrm>
            <a:off x="731520" y="4988052"/>
            <a:ext cx="246888" cy="512064"/>
          </a:xfrm>
          <a:prstGeom prst="rect">
            <a:avLst/>
          </a:prstGeom>
          <a:solidFill>
            <a:srgbClr val="0891B2"/>
          </a:solidFill>
          <a:ln w="12700">
            <a:solidFill>
              <a:srgbClr val="0891B2"/>
            </a:solidFill>
            <a:prstDash val="solid"/>
          </a:ln>
        </p:spPr>
      </p:sp>
      <p:sp>
        <p:nvSpPr>
          <p:cNvPr id="42" name="Text 40"/>
          <p:cNvSpPr/>
          <p:nvPr/>
        </p:nvSpPr>
        <p:spPr>
          <a:xfrm>
            <a:off x="411480" y="4988052"/>
            <a:ext cx="566928"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Q8</a:t>
            </a:r>
            <a:endParaRPr lang="en-US" sz="1050" dirty="0"/>
          </a:p>
        </p:txBody>
      </p:sp>
      <p:sp>
        <p:nvSpPr>
          <p:cNvPr id="43" name="Text 41"/>
          <p:cNvSpPr/>
          <p:nvPr/>
        </p:nvSpPr>
        <p:spPr>
          <a:xfrm>
            <a:off x="1097280" y="5015484"/>
            <a:ext cx="10588752" cy="457200"/>
          </a:xfrm>
          <a:prstGeom prst="rect">
            <a:avLst/>
          </a:prstGeom>
          <a:noFill/>
          <a:ln/>
        </p:spPr>
        <p:txBody>
          <a:bodyPr wrap="square" lIns="0" tIns="0" rIns="0" bIns="0" rtlCol="0" anchor="ctr"/>
          <a:lstStyle/>
          <a:p>
            <a:pPr indent="0" marL="0">
              <a:buNone/>
            </a:pPr>
            <a:r>
              <a:rPr lang="en-US" sz="1000" dirty="0">
                <a:solidFill>
                  <a:srgbClr val="0D1526"/>
                </a:solidFill>
                <a:latin typeface="Calibri" pitchFamily="34" charset="0"/>
                <a:ea typeface="Calibri" pitchFamily="34" charset="-122"/>
                <a:cs typeface="Calibri" pitchFamily="34" charset="-120"/>
              </a:rPr>
              <a:t>Write a function 'net_pay(gross, tax_rate=0.15, pension=0.08)' that returns the net pay. Test with gross=450,000.</a:t>
            </a:r>
            <a:endParaRPr lang="en-US" sz="1000" dirty="0"/>
          </a:p>
        </p:txBody>
      </p:sp>
      <p:sp>
        <p:nvSpPr>
          <p:cNvPr id="44" name="Shape 42"/>
          <p:cNvSpPr/>
          <p:nvPr/>
        </p:nvSpPr>
        <p:spPr>
          <a:xfrm>
            <a:off x="411480" y="5550408"/>
            <a:ext cx="11338560" cy="512064"/>
          </a:xfrm>
          <a:prstGeom prst="roundRect">
            <a:avLst>
              <a:gd name="adj" fmla="val 14286"/>
            </a:avLst>
          </a:prstGeom>
          <a:solidFill>
            <a:srgbClr val="FFFFFF"/>
          </a:solidFill>
          <a:ln w="10160">
            <a:solidFill>
              <a:srgbClr val="E11D48"/>
            </a:solidFill>
            <a:prstDash val="solid"/>
          </a:ln>
          <a:effectLst>
            <a:outerShdw sx="100000" sy="100000" kx="0" ky="0" algn="bl" rotWithShape="0" blurRad="63500" dist="25400" dir="2700000">
              <a:srgbClr val="000000">
                <a:alpha val="12000"/>
              </a:srgbClr>
            </a:outerShdw>
          </a:effectLst>
        </p:spPr>
      </p:sp>
      <p:sp>
        <p:nvSpPr>
          <p:cNvPr id="45" name="Shape 43"/>
          <p:cNvSpPr/>
          <p:nvPr/>
        </p:nvSpPr>
        <p:spPr>
          <a:xfrm>
            <a:off x="411480" y="5550408"/>
            <a:ext cx="566928" cy="512064"/>
          </a:xfrm>
          <a:prstGeom prst="roundRect">
            <a:avLst>
              <a:gd name="adj" fmla="val 14286"/>
            </a:avLst>
          </a:prstGeom>
          <a:solidFill>
            <a:srgbClr val="E11D48"/>
          </a:solidFill>
          <a:ln w="12700">
            <a:solidFill>
              <a:srgbClr val="E11D48"/>
            </a:solidFill>
            <a:prstDash val="solid"/>
          </a:ln>
        </p:spPr>
      </p:sp>
      <p:sp>
        <p:nvSpPr>
          <p:cNvPr id="46" name="Shape 44"/>
          <p:cNvSpPr/>
          <p:nvPr/>
        </p:nvSpPr>
        <p:spPr>
          <a:xfrm>
            <a:off x="731520" y="5550408"/>
            <a:ext cx="246888" cy="512064"/>
          </a:xfrm>
          <a:prstGeom prst="rect">
            <a:avLst/>
          </a:prstGeom>
          <a:solidFill>
            <a:srgbClr val="E11D48"/>
          </a:solidFill>
          <a:ln w="12700">
            <a:solidFill>
              <a:srgbClr val="E11D48"/>
            </a:solidFill>
            <a:prstDash val="solid"/>
          </a:ln>
        </p:spPr>
      </p:sp>
      <p:sp>
        <p:nvSpPr>
          <p:cNvPr id="47" name="Text 45"/>
          <p:cNvSpPr/>
          <p:nvPr/>
        </p:nvSpPr>
        <p:spPr>
          <a:xfrm>
            <a:off x="411480" y="5550408"/>
            <a:ext cx="566928"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Q9</a:t>
            </a:r>
            <a:endParaRPr lang="en-US" sz="1050" dirty="0"/>
          </a:p>
        </p:txBody>
      </p:sp>
      <p:sp>
        <p:nvSpPr>
          <p:cNvPr id="48" name="Text 46"/>
          <p:cNvSpPr/>
          <p:nvPr/>
        </p:nvSpPr>
        <p:spPr>
          <a:xfrm>
            <a:off x="1097280" y="5577840"/>
            <a:ext cx="10588752" cy="457200"/>
          </a:xfrm>
          <a:prstGeom prst="rect">
            <a:avLst/>
          </a:prstGeom>
          <a:noFill/>
          <a:ln/>
        </p:spPr>
        <p:txBody>
          <a:bodyPr wrap="square" lIns="0" tIns="0" rIns="0" bIns="0" rtlCol="0" anchor="ctr"/>
          <a:lstStyle/>
          <a:p>
            <a:pPr indent="0" marL="0">
              <a:buNone/>
            </a:pPr>
            <a:r>
              <a:rPr lang="en-US" sz="1000" dirty="0">
                <a:solidFill>
                  <a:srgbClr val="0D1526"/>
                </a:solidFill>
                <a:latin typeface="Calibri" pitchFamily="34" charset="0"/>
                <a:ea typeface="Calibri" pitchFamily="34" charset="-122"/>
                <a:cs typeface="Calibri" pitchFamily="34" charset="-120"/>
              </a:rPr>
              <a:t>Use a while loop to simulate depositing NGN 10,000 per month into an account until the balance reaches 200,000. Print how many months it takes.</a:t>
            </a:r>
            <a:endParaRPr lang="en-US" sz="1000" dirty="0"/>
          </a:p>
        </p:txBody>
      </p:sp>
      <p:sp>
        <p:nvSpPr>
          <p:cNvPr id="49" name="Shape 47"/>
          <p:cNvSpPr/>
          <p:nvPr/>
        </p:nvSpPr>
        <p:spPr>
          <a:xfrm>
            <a:off x="411480" y="6112764"/>
            <a:ext cx="11338560" cy="512064"/>
          </a:xfrm>
          <a:prstGeom prst="roundRect">
            <a:avLst>
              <a:gd name="adj" fmla="val 14286"/>
            </a:avLst>
          </a:prstGeom>
          <a:solidFill>
            <a:srgbClr val="FFFFFF"/>
          </a:solidFill>
          <a:ln w="10160">
            <a:solidFill>
              <a:srgbClr val="EA580C"/>
            </a:solidFill>
            <a:prstDash val="solid"/>
          </a:ln>
          <a:effectLst>
            <a:outerShdw sx="100000" sy="100000" kx="0" ky="0" algn="bl" rotWithShape="0" blurRad="63500" dist="25400" dir="2700000">
              <a:srgbClr val="000000">
                <a:alpha val="12000"/>
              </a:srgbClr>
            </a:outerShdw>
          </a:effectLst>
        </p:spPr>
      </p:sp>
      <p:sp>
        <p:nvSpPr>
          <p:cNvPr id="50" name="Shape 48"/>
          <p:cNvSpPr/>
          <p:nvPr/>
        </p:nvSpPr>
        <p:spPr>
          <a:xfrm>
            <a:off x="411480" y="6112764"/>
            <a:ext cx="566928" cy="512064"/>
          </a:xfrm>
          <a:prstGeom prst="roundRect">
            <a:avLst>
              <a:gd name="adj" fmla="val 14286"/>
            </a:avLst>
          </a:prstGeom>
          <a:solidFill>
            <a:srgbClr val="EA580C"/>
          </a:solidFill>
          <a:ln w="12700">
            <a:solidFill>
              <a:srgbClr val="EA580C"/>
            </a:solidFill>
            <a:prstDash val="solid"/>
          </a:ln>
        </p:spPr>
      </p:sp>
      <p:sp>
        <p:nvSpPr>
          <p:cNvPr id="51" name="Shape 49"/>
          <p:cNvSpPr/>
          <p:nvPr/>
        </p:nvSpPr>
        <p:spPr>
          <a:xfrm>
            <a:off x="731520" y="6112764"/>
            <a:ext cx="246888" cy="512064"/>
          </a:xfrm>
          <a:prstGeom prst="rect">
            <a:avLst/>
          </a:prstGeom>
          <a:solidFill>
            <a:srgbClr val="EA580C"/>
          </a:solidFill>
          <a:ln w="12700">
            <a:solidFill>
              <a:srgbClr val="EA580C"/>
            </a:solidFill>
            <a:prstDash val="solid"/>
          </a:ln>
        </p:spPr>
      </p:sp>
      <p:sp>
        <p:nvSpPr>
          <p:cNvPr id="52" name="Text 50"/>
          <p:cNvSpPr/>
          <p:nvPr/>
        </p:nvSpPr>
        <p:spPr>
          <a:xfrm>
            <a:off x="411480" y="6112764"/>
            <a:ext cx="566928"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Q10</a:t>
            </a:r>
            <a:endParaRPr lang="en-US" sz="1050" dirty="0"/>
          </a:p>
        </p:txBody>
      </p:sp>
      <p:sp>
        <p:nvSpPr>
          <p:cNvPr id="53" name="Text 51"/>
          <p:cNvSpPr/>
          <p:nvPr/>
        </p:nvSpPr>
        <p:spPr>
          <a:xfrm>
            <a:off x="1097280" y="6140196"/>
            <a:ext cx="10588752" cy="457200"/>
          </a:xfrm>
          <a:prstGeom prst="rect">
            <a:avLst/>
          </a:prstGeom>
          <a:noFill/>
          <a:ln/>
        </p:spPr>
        <p:txBody>
          <a:bodyPr wrap="square" lIns="0" tIns="0" rIns="0" bIns="0" rtlCol="0" anchor="ctr"/>
          <a:lstStyle/>
          <a:p>
            <a:pPr indent="0" marL="0">
              <a:buNone/>
            </a:pPr>
            <a:r>
              <a:rPr lang="en-US" sz="1000" dirty="0">
                <a:solidFill>
                  <a:srgbClr val="0D1526"/>
                </a:solidFill>
                <a:latin typeface="Calibri" pitchFamily="34" charset="0"/>
                <a:ea typeface="Calibri" pitchFamily="34" charset="-122"/>
                <a:cs typeface="Calibri" pitchFamily="34" charset="-120"/>
              </a:rPr>
              <a:t>Given a list of region names with duplicates, use a set to find the unique regions, then convert back to a sorted list.</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526"/>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F9AB00"/>
          </a:solidFill>
          <a:ln w="12700">
            <a:solidFill>
              <a:srgbClr val="F9AB00"/>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INTERMEDIATE EXERCISES  Q11 – Q20</a:t>
            </a:r>
            <a:endParaRPr lang="en-US" sz="2600" dirty="0"/>
          </a:p>
        </p:txBody>
      </p:sp>
      <p:sp>
        <p:nvSpPr>
          <p:cNvPr id="4" name="Shape 2"/>
          <p:cNvSpPr/>
          <p:nvPr/>
        </p:nvSpPr>
        <p:spPr>
          <a:xfrm>
            <a:off x="411480" y="1051560"/>
            <a:ext cx="11338560" cy="512064"/>
          </a:xfrm>
          <a:prstGeom prst="roundRect">
            <a:avLst>
              <a:gd name="adj" fmla="val 14286"/>
            </a:avLst>
          </a:prstGeom>
          <a:solidFill>
            <a:srgbClr val="1A2540"/>
          </a:solidFill>
          <a:ln w="10160">
            <a:solidFill>
              <a:srgbClr val="F9AB00"/>
            </a:solidFill>
            <a:prstDash val="solid"/>
          </a:ln>
          <a:effectLst>
            <a:outerShdw sx="100000" sy="100000" kx="0" ky="0" algn="bl" rotWithShape="0" blurRad="63500" dist="25400" dir="2700000">
              <a:srgbClr val="000000">
                <a:alpha val="12000"/>
              </a:srgbClr>
            </a:outerShdw>
          </a:effectLst>
        </p:spPr>
      </p:sp>
      <p:sp>
        <p:nvSpPr>
          <p:cNvPr id="5" name="Shape 3"/>
          <p:cNvSpPr/>
          <p:nvPr/>
        </p:nvSpPr>
        <p:spPr>
          <a:xfrm>
            <a:off x="411480" y="1051560"/>
            <a:ext cx="640080" cy="512064"/>
          </a:xfrm>
          <a:prstGeom prst="roundRect">
            <a:avLst>
              <a:gd name="adj" fmla="val 14286"/>
            </a:avLst>
          </a:prstGeom>
          <a:solidFill>
            <a:srgbClr val="F9AB00"/>
          </a:solidFill>
          <a:ln w="12700">
            <a:solidFill>
              <a:srgbClr val="F9AB00"/>
            </a:solidFill>
            <a:prstDash val="solid"/>
          </a:ln>
        </p:spPr>
      </p:sp>
      <p:sp>
        <p:nvSpPr>
          <p:cNvPr id="6" name="Shape 4"/>
          <p:cNvSpPr/>
          <p:nvPr/>
        </p:nvSpPr>
        <p:spPr>
          <a:xfrm>
            <a:off x="768096" y="1051560"/>
            <a:ext cx="283464" cy="512064"/>
          </a:xfrm>
          <a:prstGeom prst="rect">
            <a:avLst/>
          </a:prstGeom>
          <a:solidFill>
            <a:srgbClr val="F9AB00"/>
          </a:solidFill>
          <a:ln w="12700">
            <a:solidFill>
              <a:srgbClr val="F9AB00"/>
            </a:solidFill>
            <a:prstDash val="solid"/>
          </a:ln>
        </p:spPr>
      </p:sp>
      <p:sp>
        <p:nvSpPr>
          <p:cNvPr id="7" name="Text 5"/>
          <p:cNvSpPr/>
          <p:nvPr/>
        </p:nvSpPr>
        <p:spPr>
          <a:xfrm>
            <a:off x="411480" y="1051560"/>
            <a:ext cx="640080" cy="512064"/>
          </a:xfrm>
          <a:prstGeom prst="rect">
            <a:avLst/>
          </a:prstGeom>
          <a:noFill/>
          <a:ln/>
        </p:spPr>
        <p:txBody>
          <a:bodyPr wrap="square" lIns="0" tIns="0" rIns="0" bIns="0" rtlCol="0" anchor="ctr"/>
          <a:lstStyle/>
          <a:p>
            <a:pPr algn="ctr" indent="0" marL="0">
              <a:buNone/>
            </a:pPr>
            <a:r>
              <a:rPr lang="en-US" sz="1000" b="1" dirty="0">
                <a:solidFill>
                  <a:srgbClr val="080D18"/>
                </a:solidFill>
                <a:latin typeface="Cambria" pitchFamily="34" charset="0"/>
                <a:ea typeface="Cambria" pitchFamily="34" charset="-122"/>
                <a:cs typeface="Cambria" pitchFamily="34" charset="-120"/>
              </a:rPr>
              <a:t>Q11</a:t>
            </a:r>
            <a:endParaRPr lang="en-US" sz="1000" dirty="0"/>
          </a:p>
        </p:txBody>
      </p:sp>
      <p:sp>
        <p:nvSpPr>
          <p:cNvPr id="8" name="Text 6"/>
          <p:cNvSpPr/>
          <p:nvPr/>
        </p:nvSpPr>
        <p:spPr>
          <a:xfrm>
            <a:off x="1170432" y="1078992"/>
            <a:ext cx="105156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Write a function that takes a list of sale amounts and returns a dict with total, average, minimum, maximum, and count.</a:t>
            </a:r>
            <a:endParaRPr lang="en-US" sz="1000" dirty="0"/>
          </a:p>
        </p:txBody>
      </p:sp>
      <p:sp>
        <p:nvSpPr>
          <p:cNvPr id="9" name="Shape 7"/>
          <p:cNvSpPr/>
          <p:nvPr/>
        </p:nvSpPr>
        <p:spPr>
          <a:xfrm>
            <a:off x="411480" y="1613916"/>
            <a:ext cx="11338560" cy="512064"/>
          </a:xfrm>
          <a:prstGeom prst="roundRect">
            <a:avLst>
              <a:gd name="adj" fmla="val 14286"/>
            </a:avLst>
          </a:prstGeom>
          <a:solidFill>
            <a:srgbClr val="1A2540"/>
          </a:solidFill>
          <a:ln w="10160">
            <a:solidFill>
              <a:srgbClr val="2563EB"/>
            </a:solidFill>
            <a:prstDash val="solid"/>
          </a:ln>
          <a:effectLst>
            <a:outerShdw sx="100000" sy="100000" kx="0" ky="0" algn="bl" rotWithShape="0" blurRad="63500" dist="25400" dir="2700000">
              <a:srgbClr val="000000">
                <a:alpha val="12000"/>
              </a:srgbClr>
            </a:outerShdw>
          </a:effectLst>
        </p:spPr>
      </p:sp>
      <p:sp>
        <p:nvSpPr>
          <p:cNvPr id="10" name="Shape 8"/>
          <p:cNvSpPr/>
          <p:nvPr/>
        </p:nvSpPr>
        <p:spPr>
          <a:xfrm>
            <a:off x="411480" y="1613916"/>
            <a:ext cx="640080" cy="512064"/>
          </a:xfrm>
          <a:prstGeom prst="roundRect">
            <a:avLst>
              <a:gd name="adj" fmla="val 14286"/>
            </a:avLst>
          </a:prstGeom>
          <a:solidFill>
            <a:srgbClr val="2563EB"/>
          </a:solidFill>
          <a:ln w="12700">
            <a:solidFill>
              <a:srgbClr val="2563EB"/>
            </a:solidFill>
            <a:prstDash val="solid"/>
          </a:ln>
        </p:spPr>
      </p:sp>
      <p:sp>
        <p:nvSpPr>
          <p:cNvPr id="11" name="Shape 9"/>
          <p:cNvSpPr/>
          <p:nvPr/>
        </p:nvSpPr>
        <p:spPr>
          <a:xfrm>
            <a:off x="768096" y="1613916"/>
            <a:ext cx="283464" cy="512064"/>
          </a:xfrm>
          <a:prstGeom prst="rect">
            <a:avLst/>
          </a:prstGeom>
          <a:solidFill>
            <a:srgbClr val="2563EB"/>
          </a:solidFill>
          <a:ln w="12700">
            <a:solidFill>
              <a:srgbClr val="2563EB"/>
            </a:solidFill>
            <a:prstDash val="solid"/>
          </a:ln>
        </p:spPr>
      </p:sp>
      <p:sp>
        <p:nvSpPr>
          <p:cNvPr id="12" name="Text 10"/>
          <p:cNvSpPr/>
          <p:nvPr/>
        </p:nvSpPr>
        <p:spPr>
          <a:xfrm>
            <a:off x="411480" y="1613916"/>
            <a:ext cx="640080" cy="512064"/>
          </a:xfrm>
          <a:prstGeom prst="rect">
            <a:avLst/>
          </a:prstGeom>
          <a:noFill/>
          <a:ln/>
        </p:spPr>
        <p:txBody>
          <a:bodyPr wrap="square" lIns="0" tIns="0" rIns="0" bIns="0" rtlCol="0" anchor="ctr"/>
          <a:lstStyle/>
          <a:p>
            <a:pPr algn="ctr" indent="0" marL="0">
              <a:buNone/>
            </a:pPr>
            <a:r>
              <a:rPr lang="en-US" sz="1000" b="1" dirty="0">
                <a:solidFill>
                  <a:srgbClr val="080D18"/>
                </a:solidFill>
                <a:latin typeface="Cambria" pitchFamily="34" charset="0"/>
                <a:ea typeface="Cambria" pitchFamily="34" charset="-122"/>
                <a:cs typeface="Cambria" pitchFamily="34" charset="-120"/>
              </a:rPr>
              <a:t>Q12</a:t>
            </a:r>
            <a:endParaRPr lang="en-US" sz="1000" dirty="0"/>
          </a:p>
        </p:txBody>
      </p:sp>
      <p:sp>
        <p:nvSpPr>
          <p:cNvPr id="13" name="Text 11"/>
          <p:cNvSpPr/>
          <p:nvPr/>
        </p:nvSpPr>
        <p:spPr>
          <a:xfrm>
            <a:off x="1170432" y="1641348"/>
            <a:ext cx="105156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Given a list of transaction dicts (each with 'amount' and 'type': 'credit' or 'debit'), compute the closing balance starting from 0.</a:t>
            </a:r>
            <a:endParaRPr lang="en-US" sz="1000" dirty="0"/>
          </a:p>
        </p:txBody>
      </p:sp>
      <p:sp>
        <p:nvSpPr>
          <p:cNvPr id="14" name="Shape 12"/>
          <p:cNvSpPr/>
          <p:nvPr/>
        </p:nvSpPr>
        <p:spPr>
          <a:xfrm>
            <a:off x="411480" y="2176272"/>
            <a:ext cx="11338560" cy="512064"/>
          </a:xfrm>
          <a:prstGeom prst="roundRect">
            <a:avLst>
              <a:gd name="adj" fmla="val 14286"/>
            </a:avLst>
          </a:prstGeom>
          <a:solidFill>
            <a:srgbClr val="1A2540"/>
          </a:solidFill>
          <a:ln w="10160">
            <a:solidFill>
              <a:srgbClr val="16A34A"/>
            </a:solidFill>
            <a:prstDash val="solid"/>
          </a:ln>
          <a:effectLst>
            <a:outerShdw sx="100000" sy="100000" kx="0" ky="0" algn="bl" rotWithShape="0" blurRad="63500" dist="25400" dir="2700000">
              <a:srgbClr val="000000">
                <a:alpha val="12000"/>
              </a:srgbClr>
            </a:outerShdw>
          </a:effectLst>
        </p:spPr>
      </p:sp>
      <p:sp>
        <p:nvSpPr>
          <p:cNvPr id="15" name="Shape 13"/>
          <p:cNvSpPr/>
          <p:nvPr/>
        </p:nvSpPr>
        <p:spPr>
          <a:xfrm>
            <a:off x="411480" y="2176272"/>
            <a:ext cx="640080" cy="512064"/>
          </a:xfrm>
          <a:prstGeom prst="roundRect">
            <a:avLst>
              <a:gd name="adj" fmla="val 14286"/>
            </a:avLst>
          </a:prstGeom>
          <a:solidFill>
            <a:srgbClr val="16A34A"/>
          </a:solidFill>
          <a:ln w="12700">
            <a:solidFill>
              <a:srgbClr val="16A34A"/>
            </a:solidFill>
            <a:prstDash val="solid"/>
          </a:ln>
        </p:spPr>
      </p:sp>
      <p:sp>
        <p:nvSpPr>
          <p:cNvPr id="16" name="Shape 14"/>
          <p:cNvSpPr/>
          <p:nvPr/>
        </p:nvSpPr>
        <p:spPr>
          <a:xfrm>
            <a:off x="768096" y="2176272"/>
            <a:ext cx="283464" cy="512064"/>
          </a:xfrm>
          <a:prstGeom prst="rect">
            <a:avLst/>
          </a:prstGeom>
          <a:solidFill>
            <a:srgbClr val="16A34A"/>
          </a:solidFill>
          <a:ln w="12700">
            <a:solidFill>
              <a:srgbClr val="16A34A"/>
            </a:solidFill>
            <a:prstDash val="solid"/>
          </a:ln>
        </p:spPr>
      </p:sp>
      <p:sp>
        <p:nvSpPr>
          <p:cNvPr id="17" name="Text 15"/>
          <p:cNvSpPr/>
          <p:nvPr/>
        </p:nvSpPr>
        <p:spPr>
          <a:xfrm>
            <a:off x="411480" y="2176272"/>
            <a:ext cx="640080" cy="512064"/>
          </a:xfrm>
          <a:prstGeom prst="rect">
            <a:avLst/>
          </a:prstGeom>
          <a:noFill/>
          <a:ln/>
        </p:spPr>
        <p:txBody>
          <a:bodyPr wrap="square" lIns="0" tIns="0" rIns="0" bIns="0" rtlCol="0" anchor="ctr"/>
          <a:lstStyle/>
          <a:p>
            <a:pPr algn="ctr" indent="0" marL="0">
              <a:buNone/>
            </a:pPr>
            <a:r>
              <a:rPr lang="en-US" sz="1000" b="1" dirty="0">
                <a:solidFill>
                  <a:srgbClr val="080D18"/>
                </a:solidFill>
                <a:latin typeface="Cambria" pitchFamily="34" charset="0"/>
                <a:ea typeface="Cambria" pitchFamily="34" charset="-122"/>
                <a:cs typeface="Cambria" pitchFamily="34" charset="-120"/>
              </a:rPr>
              <a:t>Q13</a:t>
            </a:r>
            <a:endParaRPr lang="en-US" sz="1000" dirty="0"/>
          </a:p>
        </p:txBody>
      </p:sp>
      <p:sp>
        <p:nvSpPr>
          <p:cNvPr id="18" name="Text 16"/>
          <p:cNvSpPr/>
          <p:nvPr/>
        </p:nvSpPr>
        <p:spPr>
          <a:xfrm>
            <a:off x="1170432" y="2203704"/>
            <a:ext cx="105156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Use a list comprehension to extract the 4-digit year from a list of product codes like ['SKU-2024-001','SKU-2023-042','SKU-2022-108'].</a:t>
            </a:r>
            <a:endParaRPr lang="en-US" sz="1000" dirty="0"/>
          </a:p>
        </p:txBody>
      </p:sp>
      <p:sp>
        <p:nvSpPr>
          <p:cNvPr id="19" name="Shape 17"/>
          <p:cNvSpPr/>
          <p:nvPr/>
        </p:nvSpPr>
        <p:spPr>
          <a:xfrm>
            <a:off x="411480" y="2738628"/>
            <a:ext cx="11338560" cy="512064"/>
          </a:xfrm>
          <a:prstGeom prst="roundRect">
            <a:avLst>
              <a:gd name="adj" fmla="val 14286"/>
            </a:avLst>
          </a:prstGeom>
          <a:solidFill>
            <a:srgbClr val="1A2540"/>
          </a:solidFill>
          <a:ln w="10160">
            <a:solidFill>
              <a:srgbClr val="7C3AED"/>
            </a:solidFill>
            <a:prstDash val="solid"/>
          </a:ln>
          <a:effectLst>
            <a:outerShdw sx="100000" sy="100000" kx="0" ky="0" algn="bl" rotWithShape="0" blurRad="63500" dist="25400" dir="2700000">
              <a:srgbClr val="000000">
                <a:alpha val="12000"/>
              </a:srgbClr>
            </a:outerShdw>
          </a:effectLst>
        </p:spPr>
      </p:sp>
      <p:sp>
        <p:nvSpPr>
          <p:cNvPr id="20" name="Shape 18"/>
          <p:cNvSpPr/>
          <p:nvPr/>
        </p:nvSpPr>
        <p:spPr>
          <a:xfrm>
            <a:off x="411480" y="2738628"/>
            <a:ext cx="640080" cy="512064"/>
          </a:xfrm>
          <a:prstGeom prst="roundRect">
            <a:avLst>
              <a:gd name="adj" fmla="val 14286"/>
            </a:avLst>
          </a:prstGeom>
          <a:solidFill>
            <a:srgbClr val="7C3AED"/>
          </a:solidFill>
          <a:ln w="12700">
            <a:solidFill>
              <a:srgbClr val="7C3AED"/>
            </a:solidFill>
            <a:prstDash val="solid"/>
          </a:ln>
        </p:spPr>
      </p:sp>
      <p:sp>
        <p:nvSpPr>
          <p:cNvPr id="21" name="Shape 19"/>
          <p:cNvSpPr/>
          <p:nvPr/>
        </p:nvSpPr>
        <p:spPr>
          <a:xfrm>
            <a:off x="768096" y="2738628"/>
            <a:ext cx="283464" cy="512064"/>
          </a:xfrm>
          <a:prstGeom prst="rect">
            <a:avLst/>
          </a:prstGeom>
          <a:solidFill>
            <a:srgbClr val="7C3AED"/>
          </a:solidFill>
          <a:ln w="12700">
            <a:solidFill>
              <a:srgbClr val="7C3AED"/>
            </a:solidFill>
            <a:prstDash val="solid"/>
          </a:ln>
        </p:spPr>
      </p:sp>
      <p:sp>
        <p:nvSpPr>
          <p:cNvPr id="22" name="Text 20"/>
          <p:cNvSpPr/>
          <p:nvPr/>
        </p:nvSpPr>
        <p:spPr>
          <a:xfrm>
            <a:off x="411480" y="2738628"/>
            <a:ext cx="640080" cy="512064"/>
          </a:xfrm>
          <a:prstGeom prst="rect">
            <a:avLst/>
          </a:prstGeom>
          <a:noFill/>
          <a:ln/>
        </p:spPr>
        <p:txBody>
          <a:bodyPr wrap="square" lIns="0" tIns="0" rIns="0" bIns="0" rtlCol="0" anchor="ctr"/>
          <a:lstStyle/>
          <a:p>
            <a:pPr algn="ctr" indent="0" marL="0">
              <a:buNone/>
            </a:pPr>
            <a:r>
              <a:rPr lang="en-US" sz="1000" b="1" dirty="0">
                <a:solidFill>
                  <a:srgbClr val="080D18"/>
                </a:solidFill>
                <a:latin typeface="Cambria" pitchFamily="34" charset="0"/>
                <a:ea typeface="Cambria" pitchFamily="34" charset="-122"/>
                <a:cs typeface="Cambria" pitchFamily="34" charset="-120"/>
              </a:rPr>
              <a:t>Q14</a:t>
            </a:r>
            <a:endParaRPr lang="en-US" sz="1000" dirty="0"/>
          </a:p>
        </p:txBody>
      </p:sp>
      <p:sp>
        <p:nvSpPr>
          <p:cNvPr id="23" name="Text 21"/>
          <p:cNvSpPr/>
          <p:nvPr/>
        </p:nvSpPr>
        <p:spPr>
          <a:xfrm>
            <a:off x="1170432" y="2766060"/>
            <a:ext cx="105156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Build a frequency counter: given a list of region names, return a dict showing how many times each region appears.</a:t>
            </a:r>
            <a:endParaRPr lang="en-US" sz="1000" dirty="0"/>
          </a:p>
        </p:txBody>
      </p:sp>
      <p:sp>
        <p:nvSpPr>
          <p:cNvPr id="24" name="Shape 22"/>
          <p:cNvSpPr/>
          <p:nvPr/>
        </p:nvSpPr>
        <p:spPr>
          <a:xfrm>
            <a:off x="411480" y="3300984"/>
            <a:ext cx="11338560" cy="512064"/>
          </a:xfrm>
          <a:prstGeom prst="roundRect">
            <a:avLst>
              <a:gd name="adj" fmla="val 14286"/>
            </a:avLst>
          </a:prstGeom>
          <a:solidFill>
            <a:srgbClr val="1A2540"/>
          </a:solidFill>
          <a:ln w="10160">
            <a:solidFill>
              <a:srgbClr val="0891B2"/>
            </a:solidFill>
            <a:prstDash val="solid"/>
          </a:ln>
          <a:effectLst>
            <a:outerShdw sx="100000" sy="100000" kx="0" ky="0" algn="bl" rotWithShape="0" blurRad="63500" dist="25400" dir="2700000">
              <a:srgbClr val="000000">
                <a:alpha val="12000"/>
              </a:srgbClr>
            </a:outerShdw>
          </a:effectLst>
        </p:spPr>
      </p:sp>
      <p:sp>
        <p:nvSpPr>
          <p:cNvPr id="25" name="Shape 23"/>
          <p:cNvSpPr/>
          <p:nvPr/>
        </p:nvSpPr>
        <p:spPr>
          <a:xfrm>
            <a:off x="411480" y="3300984"/>
            <a:ext cx="640080" cy="512064"/>
          </a:xfrm>
          <a:prstGeom prst="roundRect">
            <a:avLst>
              <a:gd name="adj" fmla="val 14286"/>
            </a:avLst>
          </a:prstGeom>
          <a:solidFill>
            <a:srgbClr val="0891B2"/>
          </a:solidFill>
          <a:ln w="12700">
            <a:solidFill>
              <a:srgbClr val="0891B2"/>
            </a:solidFill>
            <a:prstDash val="solid"/>
          </a:ln>
        </p:spPr>
      </p:sp>
      <p:sp>
        <p:nvSpPr>
          <p:cNvPr id="26" name="Shape 24"/>
          <p:cNvSpPr/>
          <p:nvPr/>
        </p:nvSpPr>
        <p:spPr>
          <a:xfrm>
            <a:off x="768096" y="3300984"/>
            <a:ext cx="283464" cy="512064"/>
          </a:xfrm>
          <a:prstGeom prst="rect">
            <a:avLst/>
          </a:prstGeom>
          <a:solidFill>
            <a:srgbClr val="0891B2"/>
          </a:solidFill>
          <a:ln w="12700">
            <a:solidFill>
              <a:srgbClr val="0891B2"/>
            </a:solidFill>
            <a:prstDash val="solid"/>
          </a:ln>
        </p:spPr>
      </p:sp>
      <p:sp>
        <p:nvSpPr>
          <p:cNvPr id="27" name="Text 25"/>
          <p:cNvSpPr/>
          <p:nvPr/>
        </p:nvSpPr>
        <p:spPr>
          <a:xfrm>
            <a:off x="411480" y="3300984"/>
            <a:ext cx="640080" cy="512064"/>
          </a:xfrm>
          <a:prstGeom prst="rect">
            <a:avLst/>
          </a:prstGeom>
          <a:noFill/>
          <a:ln/>
        </p:spPr>
        <p:txBody>
          <a:bodyPr wrap="square" lIns="0" tIns="0" rIns="0" bIns="0" rtlCol="0" anchor="ctr"/>
          <a:lstStyle/>
          <a:p>
            <a:pPr algn="ctr" indent="0" marL="0">
              <a:buNone/>
            </a:pPr>
            <a:r>
              <a:rPr lang="en-US" sz="1000" b="1" dirty="0">
                <a:solidFill>
                  <a:srgbClr val="080D18"/>
                </a:solidFill>
                <a:latin typeface="Cambria" pitchFamily="34" charset="0"/>
                <a:ea typeface="Cambria" pitchFamily="34" charset="-122"/>
                <a:cs typeface="Cambria" pitchFamily="34" charset="-120"/>
              </a:rPr>
              <a:t>Q15</a:t>
            </a:r>
            <a:endParaRPr lang="en-US" sz="1000" dirty="0"/>
          </a:p>
        </p:txBody>
      </p:sp>
      <p:sp>
        <p:nvSpPr>
          <p:cNvPr id="28" name="Text 26"/>
          <p:cNvSpPr/>
          <p:nvPr/>
        </p:nvSpPr>
        <p:spPr>
          <a:xfrm>
            <a:off x="1170432" y="3328416"/>
            <a:ext cx="105156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Write 'is_valid_id(emp_id)' that returns True only if the string has exactly 8 characters, starts with 'E', and ends with a digit.</a:t>
            </a:r>
            <a:endParaRPr lang="en-US" sz="1000" dirty="0"/>
          </a:p>
        </p:txBody>
      </p:sp>
      <p:sp>
        <p:nvSpPr>
          <p:cNvPr id="29" name="Shape 27"/>
          <p:cNvSpPr/>
          <p:nvPr/>
        </p:nvSpPr>
        <p:spPr>
          <a:xfrm>
            <a:off x="411480" y="3863340"/>
            <a:ext cx="11338560" cy="512064"/>
          </a:xfrm>
          <a:prstGeom prst="roundRect">
            <a:avLst>
              <a:gd name="adj" fmla="val 14286"/>
            </a:avLst>
          </a:prstGeom>
          <a:solidFill>
            <a:srgbClr val="1A2540"/>
          </a:solidFill>
          <a:ln w="10160">
            <a:solidFill>
              <a:srgbClr val="E11D48"/>
            </a:solidFill>
            <a:prstDash val="solid"/>
          </a:ln>
          <a:effectLst>
            <a:outerShdw sx="100000" sy="100000" kx="0" ky="0" algn="bl" rotWithShape="0" blurRad="63500" dist="25400" dir="2700000">
              <a:srgbClr val="000000">
                <a:alpha val="12000"/>
              </a:srgbClr>
            </a:outerShdw>
          </a:effectLst>
        </p:spPr>
      </p:sp>
      <p:sp>
        <p:nvSpPr>
          <p:cNvPr id="30" name="Shape 28"/>
          <p:cNvSpPr/>
          <p:nvPr/>
        </p:nvSpPr>
        <p:spPr>
          <a:xfrm>
            <a:off x="411480" y="3863340"/>
            <a:ext cx="640080" cy="512064"/>
          </a:xfrm>
          <a:prstGeom prst="roundRect">
            <a:avLst>
              <a:gd name="adj" fmla="val 14286"/>
            </a:avLst>
          </a:prstGeom>
          <a:solidFill>
            <a:srgbClr val="E11D48"/>
          </a:solidFill>
          <a:ln w="12700">
            <a:solidFill>
              <a:srgbClr val="E11D48"/>
            </a:solidFill>
            <a:prstDash val="solid"/>
          </a:ln>
        </p:spPr>
      </p:sp>
      <p:sp>
        <p:nvSpPr>
          <p:cNvPr id="31" name="Shape 29"/>
          <p:cNvSpPr/>
          <p:nvPr/>
        </p:nvSpPr>
        <p:spPr>
          <a:xfrm>
            <a:off x="768096" y="3863340"/>
            <a:ext cx="283464" cy="512064"/>
          </a:xfrm>
          <a:prstGeom prst="rect">
            <a:avLst/>
          </a:prstGeom>
          <a:solidFill>
            <a:srgbClr val="E11D48"/>
          </a:solidFill>
          <a:ln w="12700">
            <a:solidFill>
              <a:srgbClr val="E11D48"/>
            </a:solidFill>
            <a:prstDash val="solid"/>
          </a:ln>
        </p:spPr>
      </p:sp>
      <p:sp>
        <p:nvSpPr>
          <p:cNvPr id="32" name="Text 30"/>
          <p:cNvSpPr/>
          <p:nvPr/>
        </p:nvSpPr>
        <p:spPr>
          <a:xfrm>
            <a:off x="411480" y="3863340"/>
            <a:ext cx="640080" cy="512064"/>
          </a:xfrm>
          <a:prstGeom prst="rect">
            <a:avLst/>
          </a:prstGeom>
          <a:noFill/>
          <a:ln/>
        </p:spPr>
        <p:txBody>
          <a:bodyPr wrap="square" lIns="0" tIns="0" rIns="0" bIns="0" rtlCol="0" anchor="ctr"/>
          <a:lstStyle/>
          <a:p>
            <a:pPr algn="ctr" indent="0" marL="0">
              <a:buNone/>
            </a:pPr>
            <a:r>
              <a:rPr lang="en-US" sz="1000" b="1" dirty="0">
                <a:solidFill>
                  <a:srgbClr val="080D18"/>
                </a:solidFill>
                <a:latin typeface="Cambria" pitchFamily="34" charset="0"/>
                <a:ea typeface="Cambria" pitchFamily="34" charset="-122"/>
                <a:cs typeface="Cambria" pitchFamily="34" charset="-120"/>
              </a:rPr>
              <a:t>Q16</a:t>
            </a:r>
            <a:endParaRPr lang="en-US" sz="1000" dirty="0"/>
          </a:p>
        </p:txBody>
      </p:sp>
      <p:sp>
        <p:nvSpPr>
          <p:cNvPr id="33" name="Text 31"/>
          <p:cNvSpPr/>
          <p:nvPr/>
        </p:nvSpPr>
        <p:spPr>
          <a:xfrm>
            <a:off x="1170432" y="3890772"/>
            <a:ext cx="105156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Write a loan amortisation function: loan_schedule(principal, monthly_rate, payment) that returns the number of months to payoff.</a:t>
            </a:r>
            <a:endParaRPr lang="en-US" sz="1000" dirty="0"/>
          </a:p>
        </p:txBody>
      </p:sp>
      <p:sp>
        <p:nvSpPr>
          <p:cNvPr id="34" name="Shape 32"/>
          <p:cNvSpPr/>
          <p:nvPr/>
        </p:nvSpPr>
        <p:spPr>
          <a:xfrm>
            <a:off x="411480" y="4425696"/>
            <a:ext cx="11338560" cy="512064"/>
          </a:xfrm>
          <a:prstGeom prst="roundRect">
            <a:avLst>
              <a:gd name="adj" fmla="val 14286"/>
            </a:avLst>
          </a:prstGeom>
          <a:solidFill>
            <a:srgbClr val="1A2540"/>
          </a:solidFill>
          <a:ln w="10160">
            <a:solidFill>
              <a:srgbClr val="D97706"/>
            </a:solidFill>
            <a:prstDash val="solid"/>
          </a:ln>
          <a:effectLst>
            <a:outerShdw sx="100000" sy="100000" kx="0" ky="0" algn="bl" rotWithShape="0" blurRad="63500" dist="25400" dir="2700000">
              <a:srgbClr val="000000">
                <a:alpha val="12000"/>
              </a:srgbClr>
            </a:outerShdw>
          </a:effectLst>
        </p:spPr>
      </p:sp>
      <p:sp>
        <p:nvSpPr>
          <p:cNvPr id="35" name="Shape 33"/>
          <p:cNvSpPr/>
          <p:nvPr/>
        </p:nvSpPr>
        <p:spPr>
          <a:xfrm>
            <a:off x="411480" y="4425696"/>
            <a:ext cx="640080" cy="512064"/>
          </a:xfrm>
          <a:prstGeom prst="roundRect">
            <a:avLst>
              <a:gd name="adj" fmla="val 14286"/>
            </a:avLst>
          </a:prstGeom>
          <a:solidFill>
            <a:srgbClr val="D97706"/>
          </a:solidFill>
          <a:ln w="12700">
            <a:solidFill>
              <a:srgbClr val="D97706"/>
            </a:solidFill>
            <a:prstDash val="solid"/>
          </a:ln>
        </p:spPr>
      </p:sp>
      <p:sp>
        <p:nvSpPr>
          <p:cNvPr id="36" name="Shape 34"/>
          <p:cNvSpPr/>
          <p:nvPr/>
        </p:nvSpPr>
        <p:spPr>
          <a:xfrm>
            <a:off x="768096" y="4425696"/>
            <a:ext cx="283464" cy="512064"/>
          </a:xfrm>
          <a:prstGeom prst="rect">
            <a:avLst/>
          </a:prstGeom>
          <a:solidFill>
            <a:srgbClr val="D97706"/>
          </a:solidFill>
          <a:ln w="12700">
            <a:solidFill>
              <a:srgbClr val="D97706"/>
            </a:solidFill>
            <a:prstDash val="solid"/>
          </a:ln>
        </p:spPr>
      </p:sp>
      <p:sp>
        <p:nvSpPr>
          <p:cNvPr id="37" name="Text 35"/>
          <p:cNvSpPr/>
          <p:nvPr/>
        </p:nvSpPr>
        <p:spPr>
          <a:xfrm>
            <a:off x="411480" y="4425696"/>
            <a:ext cx="640080" cy="512064"/>
          </a:xfrm>
          <a:prstGeom prst="rect">
            <a:avLst/>
          </a:prstGeom>
          <a:noFill/>
          <a:ln/>
        </p:spPr>
        <p:txBody>
          <a:bodyPr wrap="square" lIns="0" tIns="0" rIns="0" bIns="0" rtlCol="0" anchor="ctr"/>
          <a:lstStyle/>
          <a:p>
            <a:pPr algn="ctr" indent="0" marL="0">
              <a:buNone/>
            </a:pPr>
            <a:r>
              <a:rPr lang="en-US" sz="1000" b="1" dirty="0">
                <a:solidFill>
                  <a:srgbClr val="080D18"/>
                </a:solidFill>
                <a:latin typeface="Cambria" pitchFamily="34" charset="0"/>
                <a:ea typeface="Cambria" pitchFamily="34" charset="-122"/>
                <a:cs typeface="Cambria" pitchFamily="34" charset="-120"/>
              </a:rPr>
              <a:t>Q17</a:t>
            </a:r>
            <a:endParaRPr lang="en-US" sz="1000" dirty="0"/>
          </a:p>
        </p:txBody>
      </p:sp>
      <p:sp>
        <p:nvSpPr>
          <p:cNvPr id="38" name="Text 36"/>
          <p:cNvSpPr/>
          <p:nvPr/>
        </p:nvSpPr>
        <p:spPr>
          <a:xfrm>
            <a:off x="1170432" y="4453128"/>
            <a:ext cx="105156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Given a list of dicts with 'name' and 'revenue', sort by revenue descending without modifying the original list.</a:t>
            </a:r>
            <a:endParaRPr lang="en-US" sz="1000" dirty="0"/>
          </a:p>
        </p:txBody>
      </p:sp>
      <p:sp>
        <p:nvSpPr>
          <p:cNvPr id="39" name="Shape 37"/>
          <p:cNvSpPr/>
          <p:nvPr/>
        </p:nvSpPr>
        <p:spPr>
          <a:xfrm>
            <a:off x="411480" y="4988052"/>
            <a:ext cx="11338560" cy="512064"/>
          </a:xfrm>
          <a:prstGeom prst="roundRect">
            <a:avLst>
              <a:gd name="adj" fmla="val 14286"/>
            </a:avLst>
          </a:prstGeom>
          <a:solidFill>
            <a:srgbClr val="1A2540"/>
          </a:solidFill>
          <a:ln w="10160">
            <a:solidFill>
              <a:srgbClr val="2563EB"/>
            </a:solidFill>
            <a:prstDash val="solid"/>
          </a:ln>
          <a:effectLst>
            <a:outerShdw sx="100000" sy="100000" kx="0" ky="0" algn="bl" rotWithShape="0" blurRad="63500" dist="25400" dir="2700000">
              <a:srgbClr val="000000">
                <a:alpha val="12000"/>
              </a:srgbClr>
            </a:outerShdw>
          </a:effectLst>
        </p:spPr>
      </p:sp>
      <p:sp>
        <p:nvSpPr>
          <p:cNvPr id="40" name="Shape 38"/>
          <p:cNvSpPr/>
          <p:nvPr/>
        </p:nvSpPr>
        <p:spPr>
          <a:xfrm>
            <a:off x="411480" y="4988052"/>
            <a:ext cx="640080" cy="512064"/>
          </a:xfrm>
          <a:prstGeom prst="roundRect">
            <a:avLst>
              <a:gd name="adj" fmla="val 14286"/>
            </a:avLst>
          </a:prstGeom>
          <a:solidFill>
            <a:srgbClr val="2563EB"/>
          </a:solidFill>
          <a:ln w="12700">
            <a:solidFill>
              <a:srgbClr val="2563EB"/>
            </a:solidFill>
            <a:prstDash val="solid"/>
          </a:ln>
        </p:spPr>
      </p:sp>
      <p:sp>
        <p:nvSpPr>
          <p:cNvPr id="41" name="Shape 39"/>
          <p:cNvSpPr/>
          <p:nvPr/>
        </p:nvSpPr>
        <p:spPr>
          <a:xfrm>
            <a:off x="768096" y="4988052"/>
            <a:ext cx="283464" cy="512064"/>
          </a:xfrm>
          <a:prstGeom prst="rect">
            <a:avLst/>
          </a:prstGeom>
          <a:solidFill>
            <a:srgbClr val="2563EB"/>
          </a:solidFill>
          <a:ln w="12700">
            <a:solidFill>
              <a:srgbClr val="2563EB"/>
            </a:solidFill>
            <a:prstDash val="solid"/>
          </a:ln>
        </p:spPr>
      </p:sp>
      <p:sp>
        <p:nvSpPr>
          <p:cNvPr id="42" name="Text 40"/>
          <p:cNvSpPr/>
          <p:nvPr/>
        </p:nvSpPr>
        <p:spPr>
          <a:xfrm>
            <a:off x="411480" y="4988052"/>
            <a:ext cx="640080" cy="512064"/>
          </a:xfrm>
          <a:prstGeom prst="rect">
            <a:avLst/>
          </a:prstGeom>
          <a:noFill/>
          <a:ln/>
        </p:spPr>
        <p:txBody>
          <a:bodyPr wrap="square" lIns="0" tIns="0" rIns="0" bIns="0" rtlCol="0" anchor="ctr"/>
          <a:lstStyle/>
          <a:p>
            <a:pPr algn="ctr" indent="0" marL="0">
              <a:buNone/>
            </a:pPr>
            <a:r>
              <a:rPr lang="en-US" sz="1000" b="1" dirty="0">
                <a:solidFill>
                  <a:srgbClr val="080D18"/>
                </a:solidFill>
                <a:latin typeface="Cambria" pitchFamily="34" charset="0"/>
                <a:ea typeface="Cambria" pitchFamily="34" charset="-122"/>
                <a:cs typeface="Cambria" pitchFamily="34" charset="-120"/>
              </a:rPr>
              <a:t>Q18</a:t>
            </a:r>
            <a:endParaRPr lang="en-US" sz="1000" dirty="0"/>
          </a:p>
        </p:txBody>
      </p:sp>
      <p:sp>
        <p:nvSpPr>
          <p:cNvPr id="43" name="Text 41"/>
          <p:cNvSpPr/>
          <p:nvPr/>
        </p:nvSpPr>
        <p:spPr>
          <a:xfrm>
            <a:off x="1170432" y="5015484"/>
            <a:ext cx="105156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Write a function 'apply_bracket_tax(income)': 0-300k=0%, 300k-1M=7.5%, 1M-5M=15%, above 5M=22.5%. Return the tax amount.</a:t>
            </a:r>
            <a:endParaRPr lang="en-US" sz="1000" dirty="0"/>
          </a:p>
        </p:txBody>
      </p:sp>
      <p:sp>
        <p:nvSpPr>
          <p:cNvPr id="44" name="Shape 42"/>
          <p:cNvSpPr/>
          <p:nvPr/>
        </p:nvSpPr>
        <p:spPr>
          <a:xfrm>
            <a:off x="411480" y="5550408"/>
            <a:ext cx="11338560" cy="512064"/>
          </a:xfrm>
          <a:prstGeom prst="roundRect">
            <a:avLst>
              <a:gd name="adj" fmla="val 14286"/>
            </a:avLst>
          </a:prstGeom>
          <a:solidFill>
            <a:srgbClr val="1A2540"/>
          </a:solidFill>
          <a:ln w="10160">
            <a:solidFill>
              <a:srgbClr val="16A34A"/>
            </a:solidFill>
            <a:prstDash val="solid"/>
          </a:ln>
          <a:effectLst>
            <a:outerShdw sx="100000" sy="100000" kx="0" ky="0" algn="bl" rotWithShape="0" blurRad="63500" dist="25400" dir="2700000">
              <a:srgbClr val="000000">
                <a:alpha val="12000"/>
              </a:srgbClr>
            </a:outerShdw>
          </a:effectLst>
        </p:spPr>
      </p:sp>
      <p:sp>
        <p:nvSpPr>
          <p:cNvPr id="45" name="Shape 43"/>
          <p:cNvSpPr/>
          <p:nvPr/>
        </p:nvSpPr>
        <p:spPr>
          <a:xfrm>
            <a:off x="411480" y="5550408"/>
            <a:ext cx="640080" cy="512064"/>
          </a:xfrm>
          <a:prstGeom prst="roundRect">
            <a:avLst>
              <a:gd name="adj" fmla="val 14286"/>
            </a:avLst>
          </a:prstGeom>
          <a:solidFill>
            <a:srgbClr val="16A34A"/>
          </a:solidFill>
          <a:ln w="12700">
            <a:solidFill>
              <a:srgbClr val="16A34A"/>
            </a:solidFill>
            <a:prstDash val="solid"/>
          </a:ln>
        </p:spPr>
      </p:sp>
      <p:sp>
        <p:nvSpPr>
          <p:cNvPr id="46" name="Shape 44"/>
          <p:cNvSpPr/>
          <p:nvPr/>
        </p:nvSpPr>
        <p:spPr>
          <a:xfrm>
            <a:off x="768096" y="5550408"/>
            <a:ext cx="283464" cy="512064"/>
          </a:xfrm>
          <a:prstGeom prst="rect">
            <a:avLst/>
          </a:prstGeom>
          <a:solidFill>
            <a:srgbClr val="16A34A"/>
          </a:solidFill>
          <a:ln w="12700">
            <a:solidFill>
              <a:srgbClr val="16A34A"/>
            </a:solidFill>
            <a:prstDash val="solid"/>
          </a:ln>
        </p:spPr>
      </p:sp>
      <p:sp>
        <p:nvSpPr>
          <p:cNvPr id="47" name="Text 45"/>
          <p:cNvSpPr/>
          <p:nvPr/>
        </p:nvSpPr>
        <p:spPr>
          <a:xfrm>
            <a:off x="411480" y="5550408"/>
            <a:ext cx="640080" cy="512064"/>
          </a:xfrm>
          <a:prstGeom prst="rect">
            <a:avLst/>
          </a:prstGeom>
          <a:noFill/>
          <a:ln/>
        </p:spPr>
        <p:txBody>
          <a:bodyPr wrap="square" lIns="0" tIns="0" rIns="0" bIns="0" rtlCol="0" anchor="ctr"/>
          <a:lstStyle/>
          <a:p>
            <a:pPr algn="ctr" indent="0" marL="0">
              <a:buNone/>
            </a:pPr>
            <a:r>
              <a:rPr lang="en-US" sz="1000" b="1" dirty="0">
                <a:solidFill>
                  <a:srgbClr val="080D18"/>
                </a:solidFill>
                <a:latin typeface="Cambria" pitchFamily="34" charset="0"/>
                <a:ea typeface="Cambria" pitchFamily="34" charset="-122"/>
                <a:cs typeface="Cambria" pitchFamily="34" charset="-120"/>
              </a:rPr>
              <a:t>Q19</a:t>
            </a:r>
            <a:endParaRPr lang="en-US" sz="1000" dirty="0"/>
          </a:p>
        </p:txBody>
      </p:sp>
      <p:sp>
        <p:nvSpPr>
          <p:cNvPr id="48" name="Text 46"/>
          <p:cNvSpPr/>
          <p:nvPr/>
        </p:nvSpPr>
        <p:spPr>
          <a:xfrm>
            <a:off x="1170432" y="5577840"/>
            <a:ext cx="105156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Use filter() and lambda to return only products with price above 50,000 from a list of (product, price) tuples.</a:t>
            </a:r>
            <a:endParaRPr lang="en-US" sz="1000" dirty="0"/>
          </a:p>
        </p:txBody>
      </p:sp>
      <p:sp>
        <p:nvSpPr>
          <p:cNvPr id="49" name="Shape 47"/>
          <p:cNvSpPr/>
          <p:nvPr/>
        </p:nvSpPr>
        <p:spPr>
          <a:xfrm>
            <a:off x="411480" y="6112764"/>
            <a:ext cx="11338560" cy="512064"/>
          </a:xfrm>
          <a:prstGeom prst="roundRect">
            <a:avLst>
              <a:gd name="adj" fmla="val 14286"/>
            </a:avLst>
          </a:prstGeom>
          <a:solidFill>
            <a:srgbClr val="1A2540"/>
          </a:solidFill>
          <a:ln w="10160">
            <a:solidFill>
              <a:srgbClr val="7C3AED"/>
            </a:solidFill>
            <a:prstDash val="solid"/>
          </a:ln>
          <a:effectLst>
            <a:outerShdw sx="100000" sy="100000" kx="0" ky="0" algn="bl" rotWithShape="0" blurRad="63500" dist="25400" dir="2700000">
              <a:srgbClr val="000000">
                <a:alpha val="12000"/>
              </a:srgbClr>
            </a:outerShdw>
          </a:effectLst>
        </p:spPr>
      </p:sp>
      <p:sp>
        <p:nvSpPr>
          <p:cNvPr id="50" name="Shape 48"/>
          <p:cNvSpPr/>
          <p:nvPr/>
        </p:nvSpPr>
        <p:spPr>
          <a:xfrm>
            <a:off x="411480" y="6112764"/>
            <a:ext cx="640080" cy="512064"/>
          </a:xfrm>
          <a:prstGeom prst="roundRect">
            <a:avLst>
              <a:gd name="adj" fmla="val 14286"/>
            </a:avLst>
          </a:prstGeom>
          <a:solidFill>
            <a:srgbClr val="7C3AED"/>
          </a:solidFill>
          <a:ln w="12700">
            <a:solidFill>
              <a:srgbClr val="7C3AED"/>
            </a:solidFill>
            <a:prstDash val="solid"/>
          </a:ln>
        </p:spPr>
      </p:sp>
      <p:sp>
        <p:nvSpPr>
          <p:cNvPr id="51" name="Shape 49"/>
          <p:cNvSpPr/>
          <p:nvPr/>
        </p:nvSpPr>
        <p:spPr>
          <a:xfrm>
            <a:off x="768096" y="6112764"/>
            <a:ext cx="283464" cy="512064"/>
          </a:xfrm>
          <a:prstGeom prst="rect">
            <a:avLst/>
          </a:prstGeom>
          <a:solidFill>
            <a:srgbClr val="7C3AED"/>
          </a:solidFill>
          <a:ln w="12700">
            <a:solidFill>
              <a:srgbClr val="7C3AED"/>
            </a:solidFill>
            <a:prstDash val="solid"/>
          </a:ln>
        </p:spPr>
      </p:sp>
      <p:sp>
        <p:nvSpPr>
          <p:cNvPr id="52" name="Text 50"/>
          <p:cNvSpPr/>
          <p:nvPr/>
        </p:nvSpPr>
        <p:spPr>
          <a:xfrm>
            <a:off x="411480" y="6112764"/>
            <a:ext cx="640080" cy="512064"/>
          </a:xfrm>
          <a:prstGeom prst="rect">
            <a:avLst/>
          </a:prstGeom>
          <a:noFill/>
          <a:ln/>
        </p:spPr>
        <p:txBody>
          <a:bodyPr wrap="square" lIns="0" tIns="0" rIns="0" bIns="0" rtlCol="0" anchor="ctr"/>
          <a:lstStyle/>
          <a:p>
            <a:pPr algn="ctr" indent="0" marL="0">
              <a:buNone/>
            </a:pPr>
            <a:r>
              <a:rPr lang="en-US" sz="1000" b="1" dirty="0">
                <a:solidFill>
                  <a:srgbClr val="080D18"/>
                </a:solidFill>
                <a:latin typeface="Cambria" pitchFamily="34" charset="0"/>
                <a:ea typeface="Cambria" pitchFamily="34" charset="-122"/>
                <a:cs typeface="Cambria" pitchFamily="34" charset="-120"/>
              </a:rPr>
              <a:t>Q20</a:t>
            </a:r>
            <a:endParaRPr lang="en-US" sz="1000" dirty="0"/>
          </a:p>
        </p:txBody>
      </p:sp>
      <p:sp>
        <p:nvSpPr>
          <p:cNvPr id="53" name="Text 51"/>
          <p:cNvSpPr/>
          <p:nvPr/>
        </p:nvSpPr>
        <p:spPr>
          <a:xfrm>
            <a:off x="1170432" y="6140196"/>
            <a:ext cx="105156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Write a function 'deduplicate_orders(orders)' that removes duplicate order IDs from a list and returns the sorted unique list.</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E11D48"/>
          </a:solidFill>
          <a:ln w="12700">
            <a:solidFill>
              <a:srgbClr val="E11D48"/>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ADVANCED EXERCISES  Q21 – Q30</a:t>
            </a:r>
            <a:endParaRPr lang="en-US" sz="2600" dirty="0"/>
          </a:p>
        </p:txBody>
      </p:sp>
      <p:sp>
        <p:nvSpPr>
          <p:cNvPr id="4" name="Shape 2"/>
          <p:cNvSpPr/>
          <p:nvPr/>
        </p:nvSpPr>
        <p:spPr>
          <a:xfrm>
            <a:off x="411480" y="1051560"/>
            <a:ext cx="11338560" cy="512064"/>
          </a:xfrm>
          <a:prstGeom prst="roundRect">
            <a:avLst>
              <a:gd name="adj" fmla="val 14286"/>
            </a:avLst>
          </a:prstGeom>
          <a:solidFill>
            <a:srgbClr val="1A2540"/>
          </a:solidFill>
          <a:ln w="10160">
            <a:solidFill>
              <a:srgbClr val="E11D48"/>
            </a:solidFill>
            <a:prstDash val="solid"/>
          </a:ln>
          <a:effectLst>
            <a:outerShdw sx="100000" sy="100000" kx="0" ky="0" algn="bl" rotWithShape="0" blurRad="63500" dist="25400" dir="2700000">
              <a:srgbClr val="000000">
                <a:alpha val="12000"/>
              </a:srgbClr>
            </a:outerShdw>
          </a:effectLst>
        </p:spPr>
      </p:sp>
      <p:sp>
        <p:nvSpPr>
          <p:cNvPr id="5" name="Shape 3"/>
          <p:cNvSpPr/>
          <p:nvPr/>
        </p:nvSpPr>
        <p:spPr>
          <a:xfrm>
            <a:off x="411480" y="1051560"/>
            <a:ext cx="640080" cy="512064"/>
          </a:xfrm>
          <a:prstGeom prst="roundRect">
            <a:avLst>
              <a:gd name="adj" fmla="val 14286"/>
            </a:avLst>
          </a:prstGeom>
          <a:solidFill>
            <a:srgbClr val="E11D48"/>
          </a:solidFill>
          <a:ln w="12700">
            <a:solidFill>
              <a:srgbClr val="E11D48"/>
            </a:solidFill>
            <a:prstDash val="solid"/>
          </a:ln>
        </p:spPr>
      </p:sp>
      <p:sp>
        <p:nvSpPr>
          <p:cNvPr id="6" name="Shape 4"/>
          <p:cNvSpPr/>
          <p:nvPr/>
        </p:nvSpPr>
        <p:spPr>
          <a:xfrm>
            <a:off x="768096" y="1051560"/>
            <a:ext cx="283464" cy="512064"/>
          </a:xfrm>
          <a:prstGeom prst="rect">
            <a:avLst/>
          </a:prstGeom>
          <a:solidFill>
            <a:srgbClr val="E11D48"/>
          </a:solidFill>
          <a:ln w="12700">
            <a:solidFill>
              <a:srgbClr val="E11D48"/>
            </a:solidFill>
            <a:prstDash val="solid"/>
          </a:ln>
        </p:spPr>
      </p:sp>
      <p:sp>
        <p:nvSpPr>
          <p:cNvPr id="7" name="Text 5"/>
          <p:cNvSpPr/>
          <p:nvPr/>
        </p:nvSpPr>
        <p:spPr>
          <a:xfrm>
            <a:off x="411480" y="1051560"/>
            <a:ext cx="640080" cy="512064"/>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Q21</a:t>
            </a:r>
            <a:endParaRPr lang="en-US" sz="1000" dirty="0"/>
          </a:p>
        </p:txBody>
      </p:sp>
      <p:sp>
        <p:nvSpPr>
          <p:cNvPr id="8" name="Text 6"/>
          <p:cNvSpPr/>
          <p:nvPr/>
        </p:nvSpPr>
        <p:spPr>
          <a:xfrm>
            <a:off x="1170432" y="1078992"/>
            <a:ext cx="105156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Build a complete INVENTORY SYSTEM with functions: add_product, remove_product, update_stock, check_reorder, generate_reorder_list. Use a dict of dicts.</a:t>
            </a:r>
            <a:endParaRPr lang="en-US" sz="1000" dirty="0"/>
          </a:p>
        </p:txBody>
      </p:sp>
      <p:sp>
        <p:nvSpPr>
          <p:cNvPr id="9" name="Shape 7"/>
          <p:cNvSpPr/>
          <p:nvPr/>
        </p:nvSpPr>
        <p:spPr>
          <a:xfrm>
            <a:off x="411480" y="1613916"/>
            <a:ext cx="11338560" cy="512064"/>
          </a:xfrm>
          <a:prstGeom prst="roundRect">
            <a:avLst>
              <a:gd name="adj" fmla="val 14286"/>
            </a:avLst>
          </a:prstGeom>
          <a:solidFill>
            <a:srgbClr val="1A2540"/>
          </a:solidFill>
          <a:ln w="10160">
            <a:solidFill>
              <a:srgbClr val="7C3AED"/>
            </a:solidFill>
            <a:prstDash val="solid"/>
          </a:ln>
          <a:effectLst>
            <a:outerShdw sx="100000" sy="100000" kx="0" ky="0" algn="bl" rotWithShape="0" blurRad="63500" dist="25400" dir="2700000">
              <a:srgbClr val="000000">
                <a:alpha val="12000"/>
              </a:srgbClr>
            </a:outerShdw>
          </a:effectLst>
        </p:spPr>
      </p:sp>
      <p:sp>
        <p:nvSpPr>
          <p:cNvPr id="10" name="Shape 8"/>
          <p:cNvSpPr/>
          <p:nvPr/>
        </p:nvSpPr>
        <p:spPr>
          <a:xfrm>
            <a:off x="411480" y="1613916"/>
            <a:ext cx="640080" cy="512064"/>
          </a:xfrm>
          <a:prstGeom prst="roundRect">
            <a:avLst>
              <a:gd name="adj" fmla="val 14286"/>
            </a:avLst>
          </a:prstGeom>
          <a:solidFill>
            <a:srgbClr val="7C3AED"/>
          </a:solidFill>
          <a:ln w="12700">
            <a:solidFill>
              <a:srgbClr val="7C3AED"/>
            </a:solidFill>
            <a:prstDash val="solid"/>
          </a:ln>
        </p:spPr>
      </p:sp>
      <p:sp>
        <p:nvSpPr>
          <p:cNvPr id="11" name="Shape 9"/>
          <p:cNvSpPr/>
          <p:nvPr/>
        </p:nvSpPr>
        <p:spPr>
          <a:xfrm>
            <a:off x="768096" y="1613916"/>
            <a:ext cx="283464" cy="512064"/>
          </a:xfrm>
          <a:prstGeom prst="rect">
            <a:avLst/>
          </a:prstGeom>
          <a:solidFill>
            <a:srgbClr val="7C3AED"/>
          </a:solidFill>
          <a:ln w="12700">
            <a:solidFill>
              <a:srgbClr val="7C3AED"/>
            </a:solidFill>
            <a:prstDash val="solid"/>
          </a:ln>
        </p:spPr>
      </p:sp>
      <p:sp>
        <p:nvSpPr>
          <p:cNvPr id="12" name="Text 10"/>
          <p:cNvSpPr/>
          <p:nvPr/>
        </p:nvSpPr>
        <p:spPr>
          <a:xfrm>
            <a:off x="411480" y="1613916"/>
            <a:ext cx="640080" cy="512064"/>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Q22</a:t>
            </a:r>
            <a:endParaRPr lang="en-US" sz="1000" dirty="0"/>
          </a:p>
        </p:txBody>
      </p:sp>
      <p:sp>
        <p:nvSpPr>
          <p:cNvPr id="13" name="Text 11"/>
          <p:cNvSpPr/>
          <p:nvPr/>
        </p:nvSpPr>
        <p:spPr>
          <a:xfrm>
            <a:off x="1170432" y="1641348"/>
            <a:ext cx="105156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Build a PAYROLL CALCULATOR: for each employee dict (name, gross, grade, years), calculate net pay with PAYE bracket tax, pension 8%, NHF 2.5%, and generate a payslip.</a:t>
            </a:r>
            <a:endParaRPr lang="en-US" sz="1000" dirty="0"/>
          </a:p>
        </p:txBody>
      </p:sp>
      <p:sp>
        <p:nvSpPr>
          <p:cNvPr id="14" name="Shape 12"/>
          <p:cNvSpPr/>
          <p:nvPr/>
        </p:nvSpPr>
        <p:spPr>
          <a:xfrm>
            <a:off x="411480" y="2176272"/>
            <a:ext cx="11338560" cy="512064"/>
          </a:xfrm>
          <a:prstGeom prst="roundRect">
            <a:avLst>
              <a:gd name="adj" fmla="val 14286"/>
            </a:avLst>
          </a:prstGeom>
          <a:solidFill>
            <a:srgbClr val="1A2540"/>
          </a:solidFill>
          <a:ln w="10160">
            <a:solidFill>
              <a:srgbClr val="2563EB"/>
            </a:solidFill>
            <a:prstDash val="solid"/>
          </a:ln>
          <a:effectLst>
            <a:outerShdw sx="100000" sy="100000" kx="0" ky="0" algn="bl" rotWithShape="0" blurRad="63500" dist="25400" dir="2700000">
              <a:srgbClr val="000000">
                <a:alpha val="12000"/>
              </a:srgbClr>
            </a:outerShdw>
          </a:effectLst>
        </p:spPr>
      </p:sp>
      <p:sp>
        <p:nvSpPr>
          <p:cNvPr id="15" name="Shape 13"/>
          <p:cNvSpPr/>
          <p:nvPr/>
        </p:nvSpPr>
        <p:spPr>
          <a:xfrm>
            <a:off x="411480" y="2176272"/>
            <a:ext cx="640080" cy="512064"/>
          </a:xfrm>
          <a:prstGeom prst="roundRect">
            <a:avLst>
              <a:gd name="adj" fmla="val 14286"/>
            </a:avLst>
          </a:prstGeom>
          <a:solidFill>
            <a:srgbClr val="2563EB"/>
          </a:solidFill>
          <a:ln w="12700">
            <a:solidFill>
              <a:srgbClr val="2563EB"/>
            </a:solidFill>
            <a:prstDash val="solid"/>
          </a:ln>
        </p:spPr>
      </p:sp>
      <p:sp>
        <p:nvSpPr>
          <p:cNvPr id="16" name="Shape 14"/>
          <p:cNvSpPr/>
          <p:nvPr/>
        </p:nvSpPr>
        <p:spPr>
          <a:xfrm>
            <a:off x="768096" y="2176272"/>
            <a:ext cx="283464" cy="512064"/>
          </a:xfrm>
          <a:prstGeom prst="rect">
            <a:avLst/>
          </a:prstGeom>
          <a:solidFill>
            <a:srgbClr val="2563EB"/>
          </a:solidFill>
          <a:ln w="12700">
            <a:solidFill>
              <a:srgbClr val="2563EB"/>
            </a:solidFill>
            <a:prstDash val="solid"/>
          </a:ln>
        </p:spPr>
      </p:sp>
      <p:sp>
        <p:nvSpPr>
          <p:cNvPr id="17" name="Text 15"/>
          <p:cNvSpPr/>
          <p:nvPr/>
        </p:nvSpPr>
        <p:spPr>
          <a:xfrm>
            <a:off x="411480" y="2176272"/>
            <a:ext cx="640080" cy="512064"/>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Q23</a:t>
            </a:r>
            <a:endParaRPr lang="en-US" sz="1000" dirty="0"/>
          </a:p>
        </p:txBody>
      </p:sp>
      <p:sp>
        <p:nvSpPr>
          <p:cNvPr id="18" name="Text 16"/>
          <p:cNvSpPr/>
          <p:nvPr/>
        </p:nvSpPr>
        <p:spPr>
          <a:xfrm>
            <a:off x="1170432" y="2203704"/>
            <a:ext cx="105156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Write a CUSTOMER SEGMENTATION system: classify each customer by RFM (Recency, Frequency, Monetary) scoring into VIP, Active, At-Risk, or Lapsed.</a:t>
            </a:r>
            <a:endParaRPr lang="en-US" sz="1000" dirty="0"/>
          </a:p>
        </p:txBody>
      </p:sp>
      <p:sp>
        <p:nvSpPr>
          <p:cNvPr id="19" name="Shape 17"/>
          <p:cNvSpPr/>
          <p:nvPr/>
        </p:nvSpPr>
        <p:spPr>
          <a:xfrm>
            <a:off x="411480" y="2738628"/>
            <a:ext cx="11338560" cy="512064"/>
          </a:xfrm>
          <a:prstGeom prst="roundRect">
            <a:avLst>
              <a:gd name="adj" fmla="val 14286"/>
            </a:avLst>
          </a:prstGeom>
          <a:solidFill>
            <a:srgbClr val="1A2540"/>
          </a:solidFill>
          <a:ln w="10160">
            <a:solidFill>
              <a:srgbClr val="16A34A"/>
            </a:solidFill>
            <a:prstDash val="solid"/>
          </a:ln>
          <a:effectLst>
            <a:outerShdw sx="100000" sy="100000" kx="0" ky="0" algn="bl" rotWithShape="0" blurRad="63500" dist="25400" dir="2700000">
              <a:srgbClr val="000000">
                <a:alpha val="12000"/>
              </a:srgbClr>
            </a:outerShdw>
          </a:effectLst>
        </p:spPr>
      </p:sp>
      <p:sp>
        <p:nvSpPr>
          <p:cNvPr id="20" name="Shape 18"/>
          <p:cNvSpPr/>
          <p:nvPr/>
        </p:nvSpPr>
        <p:spPr>
          <a:xfrm>
            <a:off x="411480" y="2738628"/>
            <a:ext cx="640080" cy="512064"/>
          </a:xfrm>
          <a:prstGeom prst="roundRect">
            <a:avLst>
              <a:gd name="adj" fmla="val 14286"/>
            </a:avLst>
          </a:prstGeom>
          <a:solidFill>
            <a:srgbClr val="16A34A"/>
          </a:solidFill>
          <a:ln w="12700">
            <a:solidFill>
              <a:srgbClr val="16A34A"/>
            </a:solidFill>
            <a:prstDash val="solid"/>
          </a:ln>
        </p:spPr>
      </p:sp>
      <p:sp>
        <p:nvSpPr>
          <p:cNvPr id="21" name="Shape 19"/>
          <p:cNvSpPr/>
          <p:nvPr/>
        </p:nvSpPr>
        <p:spPr>
          <a:xfrm>
            <a:off x="768096" y="2738628"/>
            <a:ext cx="283464" cy="512064"/>
          </a:xfrm>
          <a:prstGeom prst="rect">
            <a:avLst/>
          </a:prstGeom>
          <a:solidFill>
            <a:srgbClr val="16A34A"/>
          </a:solidFill>
          <a:ln w="12700">
            <a:solidFill>
              <a:srgbClr val="16A34A"/>
            </a:solidFill>
            <a:prstDash val="solid"/>
          </a:ln>
        </p:spPr>
      </p:sp>
      <p:sp>
        <p:nvSpPr>
          <p:cNvPr id="22" name="Text 20"/>
          <p:cNvSpPr/>
          <p:nvPr/>
        </p:nvSpPr>
        <p:spPr>
          <a:xfrm>
            <a:off x="411480" y="2738628"/>
            <a:ext cx="640080" cy="512064"/>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Q24</a:t>
            </a:r>
            <a:endParaRPr lang="en-US" sz="1000" dirty="0"/>
          </a:p>
        </p:txBody>
      </p:sp>
      <p:sp>
        <p:nvSpPr>
          <p:cNvPr id="23" name="Text 21"/>
          <p:cNvSpPr/>
          <p:nvPr/>
        </p:nvSpPr>
        <p:spPr>
          <a:xfrm>
            <a:off x="1170432" y="2766060"/>
            <a:ext cx="105156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Build a LOAN COMPARISON TOOL: given principal, compare 3 loan options (different rates and tenors) — show total cost and monthly payment for each.</a:t>
            </a:r>
            <a:endParaRPr lang="en-US" sz="1000" dirty="0"/>
          </a:p>
        </p:txBody>
      </p:sp>
      <p:sp>
        <p:nvSpPr>
          <p:cNvPr id="24" name="Shape 22"/>
          <p:cNvSpPr/>
          <p:nvPr/>
        </p:nvSpPr>
        <p:spPr>
          <a:xfrm>
            <a:off x="411480" y="3300984"/>
            <a:ext cx="11338560" cy="512064"/>
          </a:xfrm>
          <a:prstGeom prst="roundRect">
            <a:avLst>
              <a:gd name="adj" fmla="val 14286"/>
            </a:avLst>
          </a:prstGeom>
          <a:solidFill>
            <a:srgbClr val="1A2540"/>
          </a:solidFill>
          <a:ln w="10160">
            <a:solidFill>
              <a:srgbClr val="D97706"/>
            </a:solidFill>
            <a:prstDash val="solid"/>
          </a:ln>
          <a:effectLst>
            <a:outerShdw sx="100000" sy="100000" kx="0" ky="0" algn="bl" rotWithShape="0" blurRad="63500" dist="25400" dir="2700000">
              <a:srgbClr val="000000">
                <a:alpha val="12000"/>
              </a:srgbClr>
            </a:outerShdw>
          </a:effectLst>
        </p:spPr>
      </p:sp>
      <p:sp>
        <p:nvSpPr>
          <p:cNvPr id="25" name="Shape 23"/>
          <p:cNvSpPr/>
          <p:nvPr/>
        </p:nvSpPr>
        <p:spPr>
          <a:xfrm>
            <a:off x="411480" y="3300984"/>
            <a:ext cx="640080" cy="512064"/>
          </a:xfrm>
          <a:prstGeom prst="roundRect">
            <a:avLst>
              <a:gd name="adj" fmla="val 14286"/>
            </a:avLst>
          </a:prstGeom>
          <a:solidFill>
            <a:srgbClr val="D97706"/>
          </a:solidFill>
          <a:ln w="12700">
            <a:solidFill>
              <a:srgbClr val="D97706"/>
            </a:solidFill>
            <a:prstDash val="solid"/>
          </a:ln>
        </p:spPr>
      </p:sp>
      <p:sp>
        <p:nvSpPr>
          <p:cNvPr id="26" name="Shape 24"/>
          <p:cNvSpPr/>
          <p:nvPr/>
        </p:nvSpPr>
        <p:spPr>
          <a:xfrm>
            <a:off x="768096" y="3300984"/>
            <a:ext cx="283464" cy="512064"/>
          </a:xfrm>
          <a:prstGeom prst="rect">
            <a:avLst/>
          </a:prstGeom>
          <a:solidFill>
            <a:srgbClr val="D97706"/>
          </a:solidFill>
          <a:ln w="12700">
            <a:solidFill>
              <a:srgbClr val="D97706"/>
            </a:solidFill>
            <a:prstDash val="solid"/>
          </a:ln>
        </p:spPr>
      </p:sp>
      <p:sp>
        <p:nvSpPr>
          <p:cNvPr id="27" name="Text 25"/>
          <p:cNvSpPr/>
          <p:nvPr/>
        </p:nvSpPr>
        <p:spPr>
          <a:xfrm>
            <a:off x="411480" y="3300984"/>
            <a:ext cx="640080" cy="512064"/>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Q25</a:t>
            </a:r>
            <a:endParaRPr lang="en-US" sz="1000" dirty="0"/>
          </a:p>
        </p:txBody>
      </p:sp>
      <p:sp>
        <p:nvSpPr>
          <p:cNvPr id="28" name="Text 26"/>
          <p:cNvSpPr/>
          <p:nvPr/>
        </p:nvSpPr>
        <p:spPr>
          <a:xfrm>
            <a:off x="1170432" y="3328416"/>
            <a:ext cx="105156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Write a CSV PARSER: given a multi-line string in CSV format (first line = headers), parse into a list of dicts and compute summary stats per numeric column.</a:t>
            </a:r>
            <a:endParaRPr lang="en-US" sz="1000" dirty="0"/>
          </a:p>
        </p:txBody>
      </p:sp>
      <p:sp>
        <p:nvSpPr>
          <p:cNvPr id="29" name="Shape 27"/>
          <p:cNvSpPr/>
          <p:nvPr/>
        </p:nvSpPr>
        <p:spPr>
          <a:xfrm>
            <a:off x="411480" y="3863340"/>
            <a:ext cx="11338560" cy="512064"/>
          </a:xfrm>
          <a:prstGeom prst="roundRect">
            <a:avLst>
              <a:gd name="adj" fmla="val 14286"/>
            </a:avLst>
          </a:prstGeom>
          <a:solidFill>
            <a:srgbClr val="1A2540"/>
          </a:solidFill>
          <a:ln w="10160">
            <a:solidFill>
              <a:srgbClr val="EA580C"/>
            </a:solidFill>
            <a:prstDash val="solid"/>
          </a:ln>
          <a:effectLst>
            <a:outerShdw sx="100000" sy="100000" kx="0" ky="0" algn="bl" rotWithShape="0" blurRad="63500" dist="25400" dir="2700000">
              <a:srgbClr val="000000">
                <a:alpha val="12000"/>
              </a:srgbClr>
            </a:outerShdw>
          </a:effectLst>
        </p:spPr>
      </p:sp>
      <p:sp>
        <p:nvSpPr>
          <p:cNvPr id="30" name="Shape 28"/>
          <p:cNvSpPr/>
          <p:nvPr/>
        </p:nvSpPr>
        <p:spPr>
          <a:xfrm>
            <a:off x="411480" y="3863340"/>
            <a:ext cx="640080" cy="512064"/>
          </a:xfrm>
          <a:prstGeom prst="roundRect">
            <a:avLst>
              <a:gd name="adj" fmla="val 14286"/>
            </a:avLst>
          </a:prstGeom>
          <a:solidFill>
            <a:srgbClr val="EA580C"/>
          </a:solidFill>
          <a:ln w="12700">
            <a:solidFill>
              <a:srgbClr val="EA580C"/>
            </a:solidFill>
            <a:prstDash val="solid"/>
          </a:ln>
        </p:spPr>
      </p:sp>
      <p:sp>
        <p:nvSpPr>
          <p:cNvPr id="31" name="Shape 29"/>
          <p:cNvSpPr/>
          <p:nvPr/>
        </p:nvSpPr>
        <p:spPr>
          <a:xfrm>
            <a:off x="768096" y="3863340"/>
            <a:ext cx="283464" cy="512064"/>
          </a:xfrm>
          <a:prstGeom prst="rect">
            <a:avLst/>
          </a:prstGeom>
          <a:solidFill>
            <a:srgbClr val="EA580C"/>
          </a:solidFill>
          <a:ln w="12700">
            <a:solidFill>
              <a:srgbClr val="EA580C"/>
            </a:solidFill>
            <a:prstDash val="solid"/>
          </a:ln>
        </p:spPr>
      </p:sp>
      <p:sp>
        <p:nvSpPr>
          <p:cNvPr id="32" name="Text 30"/>
          <p:cNvSpPr/>
          <p:nvPr/>
        </p:nvSpPr>
        <p:spPr>
          <a:xfrm>
            <a:off x="411480" y="3863340"/>
            <a:ext cx="640080" cy="512064"/>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Q26</a:t>
            </a:r>
            <a:endParaRPr lang="en-US" sz="1000" dirty="0"/>
          </a:p>
        </p:txBody>
      </p:sp>
      <p:sp>
        <p:nvSpPr>
          <p:cNvPr id="33" name="Text 31"/>
          <p:cNvSpPr/>
          <p:nvPr/>
        </p:nvSpPr>
        <p:spPr>
          <a:xfrm>
            <a:off x="1170432" y="3890772"/>
            <a:ext cx="105156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Build a GRADE BOOK SYSTEM: register students, record marks per subject, compute GPA, rank students, and identify those at risk (GPA &lt; 2.0).</a:t>
            </a:r>
            <a:endParaRPr lang="en-US" sz="1000" dirty="0"/>
          </a:p>
        </p:txBody>
      </p:sp>
      <p:sp>
        <p:nvSpPr>
          <p:cNvPr id="34" name="Shape 32"/>
          <p:cNvSpPr/>
          <p:nvPr/>
        </p:nvSpPr>
        <p:spPr>
          <a:xfrm>
            <a:off x="411480" y="4425696"/>
            <a:ext cx="11338560" cy="512064"/>
          </a:xfrm>
          <a:prstGeom prst="roundRect">
            <a:avLst>
              <a:gd name="adj" fmla="val 14286"/>
            </a:avLst>
          </a:prstGeom>
          <a:solidFill>
            <a:srgbClr val="1A2540"/>
          </a:solidFill>
          <a:ln w="10160">
            <a:solidFill>
              <a:srgbClr val="0891B2"/>
            </a:solidFill>
            <a:prstDash val="solid"/>
          </a:ln>
          <a:effectLst>
            <a:outerShdw sx="100000" sy="100000" kx="0" ky="0" algn="bl" rotWithShape="0" blurRad="63500" dist="25400" dir="2700000">
              <a:srgbClr val="000000">
                <a:alpha val="12000"/>
              </a:srgbClr>
            </a:outerShdw>
          </a:effectLst>
        </p:spPr>
      </p:sp>
      <p:sp>
        <p:nvSpPr>
          <p:cNvPr id="35" name="Shape 33"/>
          <p:cNvSpPr/>
          <p:nvPr/>
        </p:nvSpPr>
        <p:spPr>
          <a:xfrm>
            <a:off x="411480" y="4425696"/>
            <a:ext cx="640080" cy="512064"/>
          </a:xfrm>
          <a:prstGeom prst="roundRect">
            <a:avLst>
              <a:gd name="adj" fmla="val 14286"/>
            </a:avLst>
          </a:prstGeom>
          <a:solidFill>
            <a:srgbClr val="0891B2"/>
          </a:solidFill>
          <a:ln w="12700">
            <a:solidFill>
              <a:srgbClr val="0891B2"/>
            </a:solidFill>
            <a:prstDash val="solid"/>
          </a:ln>
        </p:spPr>
      </p:sp>
      <p:sp>
        <p:nvSpPr>
          <p:cNvPr id="36" name="Shape 34"/>
          <p:cNvSpPr/>
          <p:nvPr/>
        </p:nvSpPr>
        <p:spPr>
          <a:xfrm>
            <a:off x="768096" y="4425696"/>
            <a:ext cx="283464" cy="512064"/>
          </a:xfrm>
          <a:prstGeom prst="rect">
            <a:avLst/>
          </a:prstGeom>
          <a:solidFill>
            <a:srgbClr val="0891B2"/>
          </a:solidFill>
          <a:ln w="12700">
            <a:solidFill>
              <a:srgbClr val="0891B2"/>
            </a:solidFill>
            <a:prstDash val="solid"/>
          </a:ln>
        </p:spPr>
      </p:sp>
      <p:sp>
        <p:nvSpPr>
          <p:cNvPr id="37" name="Text 35"/>
          <p:cNvSpPr/>
          <p:nvPr/>
        </p:nvSpPr>
        <p:spPr>
          <a:xfrm>
            <a:off x="411480" y="4425696"/>
            <a:ext cx="640080" cy="512064"/>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Q27</a:t>
            </a:r>
            <a:endParaRPr lang="en-US" sz="1000" dirty="0"/>
          </a:p>
        </p:txBody>
      </p:sp>
      <p:sp>
        <p:nvSpPr>
          <p:cNvPr id="38" name="Text 36"/>
          <p:cNvSpPr/>
          <p:nvPr/>
        </p:nvSpPr>
        <p:spPr>
          <a:xfrm>
            <a:off x="1170432" y="4453128"/>
            <a:ext cx="105156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Implement a SIMPLE LEDGER: post debit and credit entries, compute running balance, detect anomalies (single entry &gt; 10% of total), print statement.</a:t>
            </a:r>
            <a:endParaRPr lang="en-US" sz="1000" dirty="0"/>
          </a:p>
        </p:txBody>
      </p:sp>
      <p:sp>
        <p:nvSpPr>
          <p:cNvPr id="39" name="Shape 37"/>
          <p:cNvSpPr/>
          <p:nvPr/>
        </p:nvSpPr>
        <p:spPr>
          <a:xfrm>
            <a:off x="411480" y="4988052"/>
            <a:ext cx="11338560" cy="512064"/>
          </a:xfrm>
          <a:prstGeom prst="roundRect">
            <a:avLst>
              <a:gd name="adj" fmla="val 14286"/>
            </a:avLst>
          </a:prstGeom>
          <a:solidFill>
            <a:srgbClr val="1A2540"/>
          </a:solidFill>
          <a:ln w="10160">
            <a:solidFill>
              <a:srgbClr val="2563EB"/>
            </a:solidFill>
            <a:prstDash val="solid"/>
          </a:ln>
          <a:effectLst>
            <a:outerShdw sx="100000" sy="100000" kx="0" ky="0" algn="bl" rotWithShape="0" blurRad="63500" dist="25400" dir="2700000">
              <a:srgbClr val="000000">
                <a:alpha val="12000"/>
              </a:srgbClr>
            </a:outerShdw>
          </a:effectLst>
        </p:spPr>
      </p:sp>
      <p:sp>
        <p:nvSpPr>
          <p:cNvPr id="40" name="Shape 38"/>
          <p:cNvSpPr/>
          <p:nvPr/>
        </p:nvSpPr>
        <p:spPr>
          <a:xfrm>
            <a:off x="411480" y="4988052"/>
            <a:ext cx="640080" cy="512064"/>
          </a:xfrm>
          <a:prstGeom prst="roundRect">
            <a:avLst>
              <a:gd name="adj" fmla="val 14286"/>
            </a:avLst>
          </a:prstGeom>
          <a:solidFill>
            <a:srgbClr val="2563EB"/>
          </a:solidFill>
          <a:ln w="12700">
            <a:solidFill>
              <a:srgbClr val="2563EB"/>
            </a:solidFill>
            <a:prstDash val="solid"/>
          </a:ln>
        </p:spPr>
      </p:sp>
      <p:sp>
        <p:nvSpPr>
          <p:cNvPr id="41" name="Shape 39"/>
          <p:cNvSpPr/>
          <p:nvPr/>
        </p:nvSpPr>
        <p:spPr>
          <a:xfrm>
            <a:off x="768096" y="4988052"/>
            <a:ext cx="283464" cy="512064"/>
          </a:xfrm>
          <a:prstGeom prst="rect">
            <a:avLst/>
          </a:prstGeom>
          <a:solidFill>
            <a:srgbClr val="2563EB"/>
          </a:solidFill>
          <a:ln w="12700">
            <a:solidFill>
              <a:srgbClr val="2563EB"/>
            </a:solidFill>
            <a:prstDash val="solid"/>
          </a:ln>
        </p:spPr>
      </p:sp>
      <p:sp>
        <p:nvSpPr>
          <p:cNvPr id="42" name="Text 40"/>
          <p:cNvSpPr/>
          <p:nvPr/>
        </p:nvSpPr>
        <p:spPr>
          <a:xfrm>
            <a:off x="411480" y="4988052"/>
            <a:ext cx="640080" cy="512064"/>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Q28</a:t>
            </a:r>
            <a:endParaRPr lang="en-US" sz="1000" dirty="0"/>
          </a:p>
        </p:txBody>
      </p:sp>
      <p:sp>
        <p:nvSpPr>
          <p:cNvPr id="43" name="Text 41"/>
          <p:cNvSpPr/>
          <p:nvPr/>
        </p:nvSpPr>
        <p:spPr>
          <a:xfrm>
            <a:off x="1170432" y="5015484"/>
            <a:ext cx="105156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Write a BUDGET TRACKER: add income and expense categories, compare actual vs budget, flag overspent categories, calculate savings rate.</a:t>
            </a:r>
            <a:endParaRPr lang="en-US" sz="1000" dirty="0"/>
          </a:p>
        </p:txBody>
      </p:sp>
      <p:sp>
        <p:nvSpPr>
          <p:cNvPr id="44" name="Shape 42"/>
          <p:cNvSpPr/>
          <p:nvPr/>
        </p:nvSpPr>
        <p:spPr>
          <a:xfrm>
            <a:off x="411480" y="5550408"/>
            <a:ext cx="11338560" cy="512064"/>
          </a:xfrm>
          <a:prstGeom prst="roundRect">
            <a:avLst>
              <a:gd name="adj" fmla="val 14286"/>
            </a:avLst>
          </a:prstGeom>
          <a:solidFill>
            <a:srgbClr val="1A2540"/>
          </a:solidFill>
          <a:ln w="10160">
            <a:solidFill>
              <a:srgbClr val="7C3AED"/>
            </a:solidFill>
            <a:prstDash val="solid"/>
          </a:ln>
          <a:effectLst>
            <a:outerShdw sx="100000" sy="100000" kx="0" ky="0" algn="bl" rotWithShape="0" blurRad="63500" dist="25400" dir="2700000">
              <a:srgbClr val="000000">
                <a:alpha val="12000"/>
              </a:srgbClr>
            </a:outerShdw>
          </a:effectLst>
        </p:spPr>
      </p:sp>
      <p:sp>
        <p:nvSpPr>
          <p:cNvPr id="45" name="Shape 43"/>
          <p:cNvSpPr/>
          <p:nvPr/>
        </p:nvSpPr>
        <p:spPr>
          <a:xfrm>
            <a:off x="411480" y="5550408"/>
            <a:ext cx="640080" cy="512064"/>
          </a:xfrm>
          <a:prstGeom prst="roundRect">
            <a:avLst>
              <a:gd name="adj" fmla="val 14286"/>
            </a:avLst>
          </a:prstGeom>
          <a:solidFill>
            <a:srgbClr val="7C3AED"/>
          </a:solidFill>
          <a:ln w="12700">
            <a:solidFill>
              <a:srgbClr val="7C3AED"/>
            </a:solidFill>
            <a:prstDash val="solid"/>
          </a:ln>
        </p:spPr>
      </p:sp>
      <p:sp>
        <p:nvSpPr>
          <p:cNvPr id="46" name="Shape 44"/>
          <p:cNvSpPr/>
          <p:nvPr/>
        </p:nvSpPr>
        <p:spPr>
          <a:xfrm>
            <a:off x="768096" y="5550408"/>
            <a:ext cx="283464" cy="512064"/>
          </a:xfrm>
          <a:prstGeom prst="rect">
            <a:avLst/>
          </a:prstGeom>
          <a:solidFill>
            <a:srgbClr val="7C3AED"/>
          </a:solidFill>
          <a:ln w="12700">
            <a:solidFill>
              <a:srgbClr val="7C3AED"/>
            </a:solidFill>
            <a:prstDash val="solid"/>
          </a:ln>
        </p:spPr>
      </p:sp>
      <p:sp>
        <p:nvSpPr>
          <p:cNvPr id="47" name="Text 45"/>
          <p:cNvSpPr/>
          <p:nvPr/>
        </p:nvSpPr>
        <p:spPr>
          <a:xfrm>
            <a:off x="411480" y="5550408"/>
            <a:ext cx="640080" cy="512064"/>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Q29</a:t>
            </a:r>
            <a:endParaRPr lang="en-US" sz="1000" dirty="0"/>
          </a:p>
        </p:txBody>
      </p:sp>
      <p:sp>
        <p:nvSpPr>
          <p:cNvPr id="48" name="Text 46"/>
          <p:cNvSpPr/>
          <p:nvPr/>
        </p:nvSpPr>
        <p:spPr>
          <a:xfrm>
            <a:off x="1170432" y="5577840"/>
            <a:ext cx="105156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Build a TEXT ANALYTICS tool: given a business report as a string, count word frequency, find the top 10 words (excluding stop words), compute average sentence length.</a:t>
            </a:r>
            <a:endParaRPr lang="en-US" sz="1000" dirty="0"/>
          </a:p>
        </p:txBody>
      </p:sp>
      <p:sp>
        <p:nvSpPr>
          <p:cNvPr id="49" name="Shape 47"/>
          <p:cNvSpPr/>
          <p:nvPr/>
        </p:nvSpPr>
        <p:spPr>
          <a:xfrm>
            <a:off x="411480" y="6112764"/>
            <a:ext cx="11338560" cy="512064"/>
          </a:xfrm>
          <a:prstGeom prst="roundRect">
            <a:avLst>
              <a:gd name="adj" fmla="val 14286"/>
            </a:avLst>
          </a:prstGeom>
          <a:solidFill>
            <a:srgbClr val="1A2540"/>
          </a:solidFill>
          <a:ln w="10160">
            <a:solidFill>
              <a:srgbClr val="E11D48"/>
            </a:solidFill>
            <a:prstDash val="solid"/>
          </a:ln>
          <a:effectLst>
            <a:outerShdw sx="100000" sy="100000" kx="0" ky="0" algn="bl" rotWithShape="0" blurRad="63500" dist="25400" dir="2700000">
              <a:srgbClr val="000000">
                <a:alpha val="12000"/>
              </a:srgbClr>
            </a:outerShdw>
          </a:effectLst>
        </p:spPr>
      </p:sp>
      <p:sp>
        <p:nvSpPr>
          <p:cNvPr id="50" name="Shape 48"/>
          <p:cNvSpPr/>
          <p:nvPr/>
        </p:nvSpPr>
        <p:spPr>
          <a:xfrm>
            <a:off x="411480" y="6112764"/>
            <a:ext cx="640080" cy="512064"/>
          </a:xfrm>
          <a:prstGeom prst="roundRect">
            <a:avLst>
              <a:gd name="adj" fmla="val 14286"/>
            </a:avLst>
          </a:prstGeom>
          <a:solidFill>
            <a:srgbClr val="E11D48"/>
          </a:solidFill>
          <a:ln w="12700">
            <a:solidFill>
              <a:srgbClr val="E11D48"/>
            </a:solidFill>
            <a:prstDash val="solid"/>
          </a:ln>
        </p:spPr>
      </p:sp>
      <p:sp>
        <p:nvSpPr>
          <p:cNvPr id="51" name="Shape 49"/>
          <p:cNvSpPr/>
          <p:nvPr/>
        </p:nvSpPr>
        <p:spPr>
          <a:xfrm>
            <a:off x="768096" y="6112764"/>
            <a:ext cx="283464" cy="512064"/>
          </a:xfrm>
          <a:prstGeom prst="rect">
            <a:avLst/>
          </a:prstGeom>
          <a:solidFill>
            <a:srgbClr val="E11D48"/>
          </a:solidFill>
          <a:ln w="12700">
            <a:solidFill>
              <a:srgbClr val="E11D48"/>
            </a:solidFill>
            <a:prstDash val="solid"/>
          </a:ln>
        </p:spPr>
      </p:sp>
      <p:sp>
        <p:nvSpPr>
          <p:cNvPr id="52" name="Text 50"/>
          <p:cNvSpPr/>
          <p:nvPr/>
        </p:nvSpPr>
        <p:spPr>
          <a:xfrm>
            <a:off x="411480" y="6112764"/>
            <a:ext cx="640080" cy="512064"/>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Q30</a:t>
            </a:r>
            <a:endParaRPr lang="en-US" sz="1000" dirty="0"/>
          </a:p>
        </p:txBody>
      </p:sp>
      <p:sp>
        <p:nvSpPr>
          <p:cNvPr id="53" name="Text 51"/>
          <p:cNvSpPr/>
          <p:nvPr/>
        </p:nvSpPr>
        <p:spPr>
          <a:xfrm>
            <a:off x="1170432" y="6140196"/>
            <a:ext cx="10515600" cy="4572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Write a DISCOUNT ENGINE: given product catalogue and customer tier (Bronze/Silver/Gold/Platinum), apply tiered discounts, apply bulk quantity discounts, and print a final order summary.</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E3C"/>
          </a:solidFill>
          <a:ln w="12700">
            <a:solidFill>
              <a:srgbClr val="0F1E3C"/>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PYTHON FUNDAMENTALS — QUICK REFERENCE CHEAT SHEET</a:t>
            </a:r>
            <a:endParaRPr lang="en-US" sz="2600" dirty="0"/>
          </a:p>
        </p:txBody>
      </p:sp>
      <p:sp>
        <p:nvSpPr>
          <p:cNvPr id="4" name="Shape 2"/>
          <p:cNvSpPr/>
          <p:nvPr/>
        </p:nvSpPr>
        <p:spPr>
          <a:xfrm>
            <a:off x="411480" y="1051560"/>
            <a:ext cx="3639312" cy="1389888"/>
          </a:xfrm>
          <a:prstGeom prst="roundRect">
            <a:avLst>
              <a:gd name="adj" fmla="val 6579"/>
            </a:avLst>
          </a:prstGeom>
          <a:solidFill>
            <a:srgbClr val="F1F5F9"/>
          </a:solidFill>
          <a:ln w="13970">
            <a:solidFill>
              <a:srgbClr val="2563EB"/>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539496" y="1143000"/>
            <a:ext cx="3383280" cy="274320"/>
          </a:xfrm>
          <a:prstGeom prst="rect">
            <a:avLst/>
          </a:prstGeom>
          <a:noFill/>
          <a:ln/>
        </p:spPr>
        <p:txBody>
          <a:bodyPr wrap="square" lIns="0" tIns="0" rIns="0" bIns="0" rtlCol="0" anchor="ctr"/>
          <a:lstStyle/>
          <a:p>
            <a:pPr indent="0" marL="0">
              <a:buNone/>
            </a:pPr>
            <a:r>
              <a:rPr lang="en-US" sz="1100" b="1" dirty="0">
                <a:solidFill>
                  <a:srgbClr val="2563EB"/>
                </a:solidFill>
                <a:latin typeface="Cambria" pitchFamily="34" charset="0"/>
                <a:ea typeface="Cambria" pitchFamily="34" charset="-122"/>
                <a:cs typeface="Cambria" pitchFamily="34" charset="-120"/>
              </a:rPr>
              <a:t>Data Types</a:t>
            </a:r>
            <a:endParaRPr lang="en-US" sz="1100" dirty="0"/>
          </a:p>
        </p:txBody>
      </p:sp>
      <p:sp>
        <p:nvSpPr>
          <p:cNvPr id="6" name="Text 4"/>
          <p:cNvSpPr/>
          <p:nvPr/>
        </p:nvSpPr>
        <p:spPr>
          <a:xfrm>
            <a:off x="539496" y="1453896"/>
            <a:ext cx="3383280" cy="914400"/>
          </a:xfrm>
          <a:prstGeom prst="rect">
            <a:avLst/>
          </a:prstGeom>
          <a:noFill/>
          <a:ln/>
        </p:spPr>
        <p:txBody>
          <a:bodyPr wrap="square" lIns="0" tIns="0" rIns="0" bIns="0" rtlCol="0" anchor="ctr"/>
          <a:lstStyle/>
          <a:p>
            <a:pPr indent="0" marL="0">
              <a:buNone/>
            </a:pPr>
            <a:r>
              <a:rPr lang="en-US" sz="950" dirty="0">
                <a:solidFill>
                  <a:srgbClr val="0D1526"/>
                </a:solidFill>
                <a:latin typeface="Courier New" pitchFamily="34" charset="0"/>
                <a:ea typeface="Courier New" pitchFamily="34" charset="-122"/>
                <a:cs typeface="Courier New" pitchFamily="34" charset="-120"/>
              </a:rPr>
              <a:t>int  float  str  bool  None</a:t>
            </a:r>
            <a:endParaRPr lang="en-US" sz="950" dirty="0"/>
          </a:p>
          <a:p>
            <a:pPr indent="0" marL="0">
              <a:buNone/>
            </a:pPr>
            <a:r>
              <a:rPr lang="en-US" sz="950" dirty="0">
                <a:solidFill>
                  <a:srgbClr val="0D1526"/>
                </a:solidFill>
                <a:latin typeface="Courier New" pitchFamily="34" charset="0"/>
                <a:ea typeface="Courier New" pitchFamily="34" charset="-122"/>
                <a:cs typeface="Courier New" pitchFamily="34" charset="-120"/>
              </a:rPr>
              <a:t>type(x)  int()  float()  str()  bool()</a:t>
            </a:r>
            <a:endParaRPr lang="en-US" sz="950" dirty="0"/>
          </a:p>
        </p:txBody>
      </p:sp>
      <p:sp>
        <p:nvSpPr>
          <p:cNvPr id="7" name="Shape 5"/>
          <p:cNvSpPr/>
          <p:nvPr/>
        </p:nvSpPr>
        <p:spPr>
          <a:xfrm>
            <a:off x="4251960" y="1051560"/>
            <a:ext cx="3639312" cy="1389888"/>
          </a:xfrm>
          <a:prstGeom prst="roundRect">
            <a:avLst>
              <a:gd name="adj" fmla="val 6579"/>
            </a:avLst>
          </a:prstGeom>
          <a:solidFill>
            <a:srgbClr val="F1F5F9"/>
          </a:solidFill>
          <a:ln w="13970">
            <a:solidFill>
              <a:srgbClr val="7C3AED"/>
            </a:solidFill>
            <a:prstDash val="solid"/>
          </a:ln>
          <a:effectLst>
            <a:outerShdw sx="100000" sy="100000" kx="0" ky="0" algn="bl" rotWithShape="0" blurRad="63500" dist="25400" dir="2700000">
              <a:srgbClr val="000000">
                <a:alpha val="12000"/>
              </a:srgbClr>
            </a:outerShdw>
          </a:effectLst>
        </p:spPr>
      </p:sp>
      <p:sp>
        <p:nvSpPr>
          <p:cNvPr id="8" name="Text 6"/>
          <p:cNvSpPr/>
          <p:nvPr/>
        </p:nvSpPr>
        <p:spPr>
          <a:xfrm>
            <a:off x="4379976" y="1143000"/>
            <a:ext cx="3383280" cy="274320"/>
          </a:xfrm>
          <a:prstGeom prst="rect">
            <a:avLst/>
          </a:prstGeom>
          <a:noFill/>
          <a:ln/>
        </p:spPr>
        <p:txBody>
          <a:bodyPr wrap="square" lIns="0" tIns="0" rIns="0" bIns="0" rtlCol="0" anchor="ctr"/>
          <a:lstStyle/>
          <a:p>
            <a:pPr indent="0" marL="0">
              <a:buNone/>
            </a:pPr>
            <a:r>
              <a:rPr lang="en-US" sz="1100" b="1" dirty="0">
                <a:solidFill>
                  <a:srgbClr val="7C3AED"/>
                </a:solidFill>
                <a:latin typeface="Cambria" pitchFamily="34" charset="0"/>
                <a:ea typeface="Cambria" pitchFamily="34" charset="-122"/>
                <a:cs typeface="Cambria" pitchFamily="34" charset="-120"/>
              </a:rPr>
              <a:t>String ops</a:t>
            </a:r>
            <a:endParaRPr lang="en-US" sz="1100" dirty="0"/>
          </a:p>
        </p:txBody>
      </p:sp>
      <p:sp>
        <p:nvSpPr>
          <p:cNvPr id="9" name="Text 7"/>
          <p:cNvSpPr/>
          <p:nvPr/>
        </p:nvSpPr>
        <p:spPr>
          <a:xfrm>
            <a:off x="4379976" y="1453896"/>
            <a:ext cx="3383280" cy="914400"/>
          </a:xfrm>
          <a:prstGeom prst="rect">
            <a:avLst/>
          </a:prstGeom>
          <a:noFill/>
          <a:ln/>
        </p:spPr>
        <p:txBody>
          <a:bodyPr wrap="square" lIns="0" tIns="0" rIns="0" bIns="0" rtlCol="0" anchor="ctr"/>
          <a:lstStyle/>
          <a:p>
            <a:pPr indent="0" marL="0">
              <a:buNone/>
            </a:pPr>
            <a:r>
              <a:rPr lang="en-US" sz="950" dirty="0">
                <a:solidFill>
                  <a:srgbClr val="0D1526"/>
                </a:solidFill>
                <a:latin typeface="Courier New" pitchFamily="34" charset="0"/>
                <a:ea typeface="Courier New" pitchFamily="34" charset="-122"/>
                <a:cs typeface="Courier New" pitchFamily="34" charset="-120"/>
              </a:rPr>
              <a:t>"str"[0]  [1:4]  [::-1]  len(s)</a:t>
            </a:r>
            <a:endParaRPr lang="en-US" sz="950" dirty="0"/>
          </a:p>
          <a:p>
            <a:pPr indent="0" marL="0">
              <a:buNone/>
            </a:pPr>
            <a:r>
              <a:rPr lang="en-US" sz="950" dirty="0">
                <a:solidFill>
                  <a:srgbClr val="0D1526"/>
                </a:solidFill>
                <a:latin typeface="Courier New" pitchFamily="34" charset="0"/>
                <a:ea typeface="Courier New" pitchFamily="34" charset="-122"/>
                <a:cs typeface="Courier New" pitchFamily="34" charset="-120"/>
              </a:rPr>
              <a:t>.upper()  .split()  .strip()  f"{var}"</a:t>
            </a:r>
            <a:endParaRPr lang="en-US" sz="950" dirty="0"/>
          </a:p>
        </p:txBody>
      </p:sp>
      <p:sp>
        <p:nvSpPr>
          <p:cNvPr id="10" name="Shape 8"/>
          <p:cNvSpPr/>
          <p:nvPr/>
        </p:nvSpPr>
        <p:spPr>
          <a:xfrm>
            <a:off x="8092440" y="1051560"/>
            <a:ext cx="3639312" cy="1389888"/>
          </a:xfrm>
          <a:prstGeom prst="roundRect">
            <a:avLst>
              <a:gd name="adj" fmla="val 6579"/>
            </a:avLst>
          </a:prstGeom>
          <a:solidFill>
            <a:srgbClr val="F1F5F9"/>
          </a:solidFill>
          <a:ln w="13970">
            <a:solidFill>
              <a:srgbClr val="E11D48"/>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8220456" y="1143000"/>
            <a:ext cx="3383280" cy="274320"/>
          </a:xfrm>
          <a:prstGeom prst="rect">
            <a:avLst/>
          </a:prstGeom>
          <a:noFill/>
          <a:ln/>
        </p:spPr>
        <p:txBody>
          <a:bodyPr wrap="square" lIns="0" tIns="0" rIns="0" bIns="0" rtlCol="0" anchor="ctr"/>
          <a:lstStyle/>
          <a:p>
            <a:pPr indent="0" marL="0">
              <a:buNone/>
            </a:pPr>
            <a:r>
              <a:rPr lang="en-US" sz="1100" b="1" dirty="0">
                <a:solidFill>
                  <a:srgbClr val="E11D48"/>
                </a:solidFill>
                <a:latin typeface="Cambria" pitchFamily="34" charset="0"/>
                <a:ea typeface="Cambria" pitchFamily="34" charset="-122"/>
                <a:cs typeface="Cambria" pitchFamily="34" charset="-120"/>
              </a:rPr>
              <a:t>List ops</a:t>
            </a:r>
            <a:endParaRPr lang="en-US" sz="1100" dirty="0"/>
          </a:p>
        </p:txBody>
      </p:sp>
      <p:sp>
        <p:nvSpPr>
          <p:cNvPr id="12" name="Text 10"/>
          <p:cNvSpPr/>
          <p:nvPr/>
        </p:nvSpPr>
        <p:spPr>
          <a:xfrm>
            <a:off x="8220456" y="1453896"/>
            <a:ext cx="3383280" cy="914400"/>
          </a:xfrm>
          <a:prstGeom prst="rect">
            <a:avLst/>
          </a:prstGeom>
          <a:noFill/>
          <a:ln/>
        </p:spPr>
        <p:txBody>
          <a:bodyPr wrap="square" lIns="0" tIns="0" rIns="0" bIns="0" rtlCol="0" anchor="ctr"/>
          <a:lstStyle/>
          <a:p>
            <a:pPr indent="0" marL="0">
              <a:buNone/>
            </a:pPr>
            <a:r>
              <a:rPr lang="en-US" sz="950" dirty="0">
                <a:solidFill>
                  <a:srgbClr val="0D1526"/>
                </a:solidFill>
                <a:latin typeface="Courier New" pitchFamily="34" charset="0"/>
                <a:ea typeface="Courier New" pitchFamily="34" charset="-122"/>
                <a:cs typeface="Courier New" pitchFamily="34" charset="-120"/>
              </a:rPr>
              <a:t>[].append()  .pop()  .sort()  .index()</a:t>
            </a:r>
            <a:endParaRPr lang="en-US" sz="950" dirty="0"/>
          </a:p>
          <a:p>
            <a:pPr indent="0" marL="0">
              <a:buNone/>
            </a:pPr>
            <a:r>
              <a:rPr lang="en-US" sz="950" dirty="0">
                <a:solidFill>
                  <a:srgbClr val="0D1526"/>
                </a:solidFill>
                <a:latin typeface="Courier New" pitchFamily="34" charset="0"/>
                <a:ea typeface="Courier New" pitchFamily="34" charset="-122"/>
                <a:cs typeface="Courier New" pitchFamily="34" charset="-120"/>
              </a:rPr>
              <a:t>sorted(lst)  len(lst)  x in lst</a:t>
            </a:r>
            <a:endParaRPr lang="en-US" sz="950" dirty="0"/>
          </a:p>
        </p:txBody>
      </p:sp>
      <p:sp>
        <p:nvSpPr>
          <p:cNvPr id="13" name="Shape 11"/>
          <p:cNvSpPr/>
          <p:nvPr/>
        </p:nvSpPr>
        <p:spPr>
          <a:xfrm>
            <a:off x="411480" y="2532888"/>
            <a:ext cx="3639312" cy="1389888"/>
          </a:xfrm>
          <a:prstGeom prst="roundRect">
            <a:avLst>
              <a:gd name="adj" fmla="val 6579"/>
            </a:avLst>
          </a:prstGeom>
          <a:solidFill>
            <a:srgbClr val="F1F5F9"/>
          </a:solidFill>
          <a:ln w="13970">
            <a:solidFill>
              <a:srgbClr val="16A34A"/>
            </a:solidFill>
            <a:prstDash val="solid"/>
          </a:ln>
          <a:effectLst>
            <a:outerShdw sx="100000" sy="100000" kx="0" ky="0" algn="bl" rotWithShape="0" blurRad="63500" dist="25400" dir="2700000">
              <a:srgbClr val="000000">
                <a:alpha val="12000"/>
              </a:srgbClr>
            </a:outerShdw>
          </a:effectLst>
        </p:spPr>
      </p:sp>
      <p:sp>
        <p:nvSpPr>
          <p:cNvPr id="14" name="Text 12"/>
          <p:cNvSpPr/>
          <p:nvPr/>
        </p:nvSpPr>
        <p:spPr>
          <a:xfrm>
            <a:off x="539496" y="2624328"/>
            <a:ext cx="3383280" cy="274320"/>
          </a:xfrm>
          <a:prstGeom prst="rect">
            <a:avLst/>
          </a:prstGeom>
          <a:noFill/>
          <a:ln/>
        </p:spPr>
        <p:txBody>
          <a:bodyPr wrap="square" lIns="0" tIns="0" rIns="0" bIns="0" rtlCol="0" anchor="ctr"/>
          <a:lstStyle/>
          <a:p>
            <a:pPr indent="0" marL="0">
              <a:buNone/>
            </a:pPr>
            <a:r>
              <a:rPr lang="en-US" sz="1100" b="1" dirty="0">
                <a:solidFill>
                  <a:srgbClr val="16A34A"/>
                </a:solidFill>
                <a:latin typeface="Cambria" pitchFamily="34" charset="0"/>
                <a:ea typeface="Cambria" pitchFamily="34" charset="-122"/>
                <a:cs typeface="Cambria" pitchFamily="34" charset="-120"/>
              </a:rPr>
              <a:t>Dict ops</a:t>
            </a:r>
            <a:endParaRPr lang="en-US" sz="1100" dirty="0"/>
          </a:p>
        </p:txBody>
      </p:sp>
      <p:sp>
        <p:nvSpPr>
          <p:cNvPr id="15" name="Text 13"/>
          <p:cNvSpPr/>
          <p:nvPr/>
        </p:nvSpPr>
        <p:spPr>
          <a:xfrm>
            <a:off x="539496" y="2935224"/>
            <a:ext cx="3383280" cy="914400"/>
          </a:xfrm>
          <a:prstGeom prst="rect">
            <a:avLst/>
          </a:prstGeom>
          <a:noFill/>
          <a:ln/>
        </p:spPr>
        <p:txBody>
          <a:bodyPr wrap="square" lIns="0" tIns="0" rIns="0" bIns="0" rtlCol="0" anchor="ctr"/>
          <a:lstStyle/>
          <a:p>
            <a:pPr indent="0" marL="0">
              <a:buNone/>
            </a:pPr>
            <a:r>
              <a:rPr lang="en-US" sz="950" dirty="0">
                <a:solidFill>
                  <a:srgbClr val="0D1526"/>
                </a:solidFill>
                <a:latin typeface="Courier New" pitchFamily="34" charset="0"/>
                <a:ea typeface="Courier New" pitchFamily="34" charset="-122"/>
                <a:cs typeface="Courier New" pitchFamily="34" charset="-120"/>
              </a:rPr>
              <a:t>{}.get(k,def)  .items()  .keys()</a:t>
            </a:r>
            <a:endParaRPr lang="en-US" sz="950" dirty="0"/>
          </a:p>
          <a:p>
            <a:pPr indent="0" marL="0">
              <a:buNone/>
            </a:pPr>
            <a:r>
              <a:rPr lang="en-US" sz="950" dirty="0">
                <a:solidFill>
                  <a:srgbClr val="0D1526"/>
                </a:solidFill>
                <a:latin typeface="Courier New" pitchFamily="34" charset="0"/>
                <a:ea typeface="Courier New" pitchFamily="34" charset="-122"/>
                <a:cs typeface="Courier New" pitchFamily="34" charset="-120"/>
              </a:rPr>
              <a:t>del d[k]  k in d  len(d)</a:t>
            </a:r>
            <a:endParaRPr lang="en-US" sz="950" dirty="0"/>
          </a:p>
        </p:txBody>
      </p:sp>
      <p:sp>
        <p:nvSpPr>
          <p:cNvPr id="16" name="Shape 14"/>
          <p:cNvSpPr/>
          <p:nvPr/>
        </p:nvSpPr>
        <p:spPr>
          <a:xfrm>
            <a:off x="4251960" y="2532888"/>
            <a:ext cx="3639312" cy="1389888"/>
          </a:xfrm>
          <a:prstGeom prst="roundRect">
            <a:avLst>
              <a:gd name="adj" fmla="val 6579"/>
            </a:avLst>
          </a:prstGeom>
          <a:solidFill>
            <a:srgbClr val="F1F5F9"/>
          </a:solidFill>
          <a:ln w="13970">
            <a:solidFill>
              <a:srgbClr val="0891B2"/>
            </a:solidFill>
            <a:prstDash val="solid"/>
          </a:ln>
          <a:effectLst>
            <a:outerShdw sx="100000" sy="100000" kx="0" ky="0" algn="bl" rotWithShape="0" blurRad="63500" dist="25400" dir="2700000">
              <a:srgbClr val="000000">
                <a:alpha val="12000"/>
              </a:srgbClr>
            </a:outerShdw>
          </a:effectLst>
        </p:spPr>
      </p:sp>
      <p:sp>
        <p:nvSpPr>
          <p:cNvPr id="17" name="Text 15"/>
          <p:cNvSpPr/>
          <p:nvPr/>
        </p:nvSpPr>
        <p:spPr>
          <a:xfrm>
            <a:off x="4379976" y="2624328"/>
            <a:ext cx="3383280" cy="274320"/>
          </a:xfrm>
          <a:prstGeom prst="rect">
            <a:avLst/>
          </a:prstGeom>
          <a:noFill/>
          <a:ln/>
        </p:spPr>
        <p:txBody>
          <a:bodyPr wrap="square" lIns="0" tIns="0" rIns="0" bIns="0" rtlCol="0" anchor="ctr"/>
          <a:lstStyle/>
          <a:p>
            <a:pPr indent="0" marL="0">
              <a:buNone/>
            </a:pPr>
            <a:r>
              <a:rPr lang="en-US" sz="1100" b="1" dirty="0">
                <a:solidFill>
                  <a:srgbClr val="0891B2"/>
                </a:solidFill>
                <a:latin typeface="Cambria" pitchFamily="34" charset="0"/>
                <a:ea typeface="Cambria" pitchFamily="34" charset="-122"/>
                <a:cs typeface="Cambria" pitchFamily="34" charset="-120"/>
              </a:rPr>
              <a:t>Set ops</a:t>
            </a:r>
            <a:endParaRPr lang="en-US" sz="1100" dirty="0"/>
          </a:p>
        </p:txBody>
      </p:sp>
      <p:sp>
        <p:nvSpPr>
          <p:cNvPr id="18" name="Text 16"/>
          <p:cNvSpPr/>
          <p:nvPr/>
        </p:nvSpPr>
        <p:spPr>
          <a:xfrm>
            <a:off x="4379976" y="2935224"/>
            <a:ext cx="3383280" cy="914400"/>
          </a:xfrm>
          <a:prstGeom prst="rect">
            <a:avLst/>
          </a:prstGeom>
          <a:noFill/>
          <a:ln/>
        </p:spPr>
        <p:txBody>
          <a:bodyPr wrap="square" lIns="0" tIns="0" rIns="0" bIns="0" rtlCol="0" anchor="ctr"/>
          <a:lstStyle/>
          <a:p>
            <a:pPr indent="0" marL="0">
              <a:buNone/>
            </a:pPr>
            <a:r>
              <a:rPr lang="en-US" sz="950" dirty="0">
                <a:solidFill>
                  <a:srgbClr val="0D1526"/>
                </a:solidFill>
                <a:latin typeface="Courier New" pitchFamily="34" charset="0"/>
                <a:ea typeface="Courier New" pitchFamily="34" charset="-122"/>
                <a:cs typeface="Courier New" pitchFamily="34" charset="-120"/>
              </a:rPr>
              <a:t>set()  .add()  | &amp; - ^</a:t>
            </a:r>
            <a:endParaRPr lang="en-US" sz="950" dirty="0"/>
          </a:p>
          <a:p>
            <a:pPr indent="0" marL="0">
              <a:buNone/>
            </a:pPr>
            <a:r>
              <a:rPr lang="en-US" sz="950" dirty="0">
                <a:solidFill>
                  <a:srgbClr val="0D1526"/>
                </a:solidFill>
                <a:latin typeface="Courier New" pitchFamily="34" charset="0"/>
                <a:ea typeface="Courier New" pitchFamily="34" charset="-122"/>
                <a:cs typeface="Courier New" pitchFamily="34" charset="-120"/>
              </a:rPr>
              <a:t>x in s  len(s)  frozenset()</a:t>
            </a:r>
            <a:endParaRPr lang="en-US" sz="950" dirty="0"/>
          </a:p>
        </p:txBody>
      </p:sp>
      <p:sp>
        <p:nvSpPr>
          <p:cNvPr id="19" name="Shape 17"/>
          <p:cNvSpPr/>
          <p:nvPr/>
        </p:nvSpPr>
        <p:spPr>
          <a:xfrm>
            <a:off x="8092440" y="2532888"/>
            <a:ext cx="3639312" cy="1389888"/>
          </a:xfrm>
          <a:prstGeom prst="roundRect">
            <a:avLst>
              <a:gd name="adj" fmla="val 6579"/>
            </a:avLst>
          </a:prstGeom>
          <a:solidFill>
            <a:srgbClr val="F1F5F9"/>
          </a:solidFill>
          <a:ln w="13970">
            <a:solidFill>
              <a:srgbClr val="D97706"/>
            </a:solidFill>
            <a:prstDash val="solid"/>
          </a:ln>
          <a:effectLst>
            <a:outerShdw sx="100000" sy="100000" kx="0" ky="0" algn="bl" rotWithShape="0" blurRad="63500" dist="25400" dir="2700000">
              <a:srgbClr val="000000">
                <a:alpha val="12000"/>
              </a:srgbClr>
            </a:outerShdw>
          </a:effectLst>
        </p:spPr>
      </p:sp>
      <p:sp>
        <p:nvSpPr>
          <p:cNvPr id="20" name="Text 18"/>
          <p:cNvSpPr/>
          <p:nvPr/>
        </p:nvSpPr>
        <p:spPr>
          <a:xfrm>
            <a:off x="8220456" y="2624328"/>
            <a:ext cx="3383280" cy="274320"/>
          </a:xfrm>
          <a:prstGeom prst="rect">
            <a:avLst/>
          </a:prstGeom>
          <a:noFill/>
          <a:ln/>
        </p:spPr>
        <p:txBody>
          <a:bodyPr wrap="square" lIns="0" tIns="0" rIns="0" bIns="0" rtlCol="0" anchor="ctr"/>
          <a:lstStyle/>
          <a:p>
            <a:pPr indent="0" marL="0">
              <a:buNone/>
            </a:pPr>
            <a:r>
              <a:rPr lang="en-US" sz="1100" b="1" dirty="0">
                <a:solidFill>
                  <a:srgbClr val="D97706"/>
                </a:solidFill>
                <a:latin typeface="Cambria" pitchFamily="34" charset="0"/>
                <a:ea typeface="Cambria" pitchFamily="34" charset="-122"/>
                <a:cs typeface="Cambria" pitchFamily="34" charset="-120"/>
              </a:rPr>
              <a:t>if / elif / else</a:t>
            </a:r>
            <a:endParaRPr lang="en-US" sz="1100" dirty="0"/>
          </a:p>
        </p:txBody>
      </p:sp>
      <p:sp>
        <p:nvSpPr>
          <p:cNvPr id="21" name="Text 19"/>
          <p:cNvSpPr/>
          <p:nvPr/>
        </p:nvSpPr>
        <p:spPr>
          <a:xfrm>
            <a:off x="8220456" y="2935224"/>
            <a:ext cx="3383280" cy="914400"/>
          </a:xfrm>
          <a:prstGeom prst="rect">
            <a:avLst/>
          </a:prstGeom>
          <a:noFill/>
          <a:ln/>
        </p:spPr>
        <p:txBody>
          <a:bodyPr wrap="square" lIns="0" tIns="0" rIns="0" bIns="0" rtlCol="0" anchor="ctr"/>
          <a:lstStyle/>
          <a:p>
            <a:pPr indent="0" marL="0">
              <a:buNone/>
            </a:pPr>
            <a:r>
              <a:rPr lang="en-US" sz="950" dirty="0">
                <a:solidFill>
                  <a:srgbClr val="0D1526"/>
                </a:solidFill>
                <a:latin typeface="Courier New" pitchFamily="34" charset="0"/>
                <a:ea typeface="Courier New" pitchFamily="34" charset="-122"/>
                <a:cs typeface="Courier New" pitchFamily="34" charset="-120"/>
              </a:rPr>
              <a:t>if cond:</a:t>
            </a:r>
            <a:endParaRPr lang="en-US" sz="950" dirty="0"/>
          </a:p>
          <a:p>
            <a:pPr indent="0" marL="0">
              <a:buNone/>
            </a:pPr>
            <a:r>
              <a:rPr lang="en-US" sz="950" dirty="0">
                <a:solidFill>
                  <a:srgbClr val="0D1526"/>
                </a:solidFill>
                <a:latin typeface="Courier New" pitchFamily="34" charset="0"/>
                <a:ea typeface="Courier New" pitchFamily="34" charset="-122"/>
                <a:cs typeface="Courier New" pitchFamily="34" charset="-120"/>
              </a:rPr>
              <a:t>    block</a:t>
            </a:r>
            <a:endParaRPr lang="en-US" sz="950" dirty="0"/>
          </a:p>
          <a:p>
            <a:pPr indent="0" marL="0">
              <a:buNone/>
            </a:pPr>
            <a:r>
              <a:rPr lang="en-US" sz="950" dirty="0">
                <a:solidFill>
                  <a:srgbClr val="0D1526"/>
                </a:solidFill>
                <a:latin typeface="Courier New" pitchFamily="34" charset="0"/>
                <a:ea typeface="Courier New" pitchFamily="34" charset="-122"/>
                <a:cs typeface="Courier New" pitchFamily="34" charset="-120"/>
              </a:rPr>
              <a:t>elif cond:</a:t>
            </a:r>
            <a:endParaRPr lang="en-US" sz="950" dirty="0"/>
          </a:p>
          <a:p>
            <a:pPr indent="0" marL="0">
              <a:buNone/>
            </a:pPr>
            <a:r>
              <a:rPr lang="en-US" sz="950" dirty="0">
                <a:solidFill>
                  <a:srgbClr val="0D1526"/>
                </a:solidFill>
                <a:latin typeface="Courier New" pitchFamily="34" charset="0"/>
                <a:ea typeface="Courier New" pitchFamily="34" charset="-122"/>
                <a:cs typeface="Courier New" pitchFamily="34" charset="-120"/>
              </a:rPr>
              <a:t>    block</a:t>
            </a:r>
            <a:endParaRPr lang="en-US" sz="950" dirty="0"/>
          </a:p>
          <a:p>
            <a:pPr indent="0" marL="0">
              <a:buNone/>
            </a:pPr>
            <a:r>
              <a:rPr lang="en-US" sz="950" dirty="0">
                <a:solidFill>
                  <a:srgbClr val="0D1526"/>
                </a:solidFill>
                <a:latin typeface="Courier New" pitchFamily="34" charset="0"/>
                <a:ea typeface="Courier New" pitchFamily="34" charset="-122"/>
                <a:cs typeface="Courier New" pitchFamily="34" charset="-120"/>
              </a:rPr>
              <a:t>else:</a:t>
            </a:r>
            <a:endParaRPr lang="en-US" sz="950" dirty="0"/>
          </a:p>
          <a:p>
            <a:pPr indent="0" marL="0">
              <a:buNone/>
            </a:pPr>
            <a:r>
              <a:rPr lang="en-US" sz="950" dirty="0">
                <a:solidFill>
                  <a:srgbClr val="0D1526"/>
                </a:solidFill>
                <a:latin typeface="Courier New" pitchFamily="34" charset="0"/>
                <a:ea typeface="Courier New" pitchFamily="34" charset="-122"/>
                <a:cs typeface="Courier New" pitchFamily="34" charset="-120"/>
              </a:rPr>
              <a:t>    block</a:t>
            </a:r>
            <a:endParaRPr lang="en-US" sz="950" dirty="0"/>
          </a:p>
        </p:txBody>
      </p:sp>
      <p:sp>
        <p:nvSpPr>
          <p:cNvPr id="22" name="Shape 20"/>
          <p:cNvSpPr/>
          <p:nvPr/>
        </p:nvSpPr>
        <p:spPr>
          <a:xfrm>
            <a:off x="411480" y="4014216"/>
            <a:ext cx="3639312" cy="1389888"/>
          </a:xfrm>
          <a:prstGeom prst="roundRect">
            <a:avLst>
              <a:gd name="adj" fmla="val 6579"/>
            </a:avLst>
          </a:prstGeom>
          <a:solidFill>
            <a:srgbClr val="F1F5F9"/>
          </a:solidFill>
          <a:ln w="13970">
            <a:solidFill>
              <a:srgbClr val="2563EB"/>
            </a:solidFill>
            <a:prstDash val="solid"/>
          </a:ln>
          <a:effectLst>
            <a:outerShdw sx="100000" sy="100000" kx="0" ky="0" algn="bl" rotWithShape="0" blurRad="63500" dist="25400" dir="2700000">
              <a:srgbClr val="000000">
                <a:alpha val="12000"/>
              </a:srgbClr>
            </a:outerShdw>
          </a:effectLst>
        </p:spPr>
      </p:sp>
      <p:sp>
        <p:nvSpPr>
          <p:cNvPr id="23" name="Text 21"/>
          <p:cNvSpPr/>
          <p:nvPr/>
        </p:nvSpPr>
        <p:spPr>
          <a:xfrm>
            <a:off x="539496" y="4105656"/>
            <a:ext cx="3383280" cy="274320"/>
          </a:xfrm>
          <a:prstGeom prst="rect">
            <a:avLst/>
          </a:prstGeom>
          <a:noFill/>
          <a:ln/>
        </p:spPr>
        <p:txBody>
          <a:bodyPr wrap="square" lIns="0" tIns="0" rIns="0" bIns="0" rtlCol="0" anchor="ctr"/>
          <a:lstStyle/>
          <a:p>
            <a:pPr indent="0" marL="0">
              <a:buNone/>
            </a:pPr>
            <a:r>
              <a:rPr lang="en-US" sz="1100" b="1" dirty="0">
                <a:solidFill>
                  <a:srgbClr val="2563EB"/>
                </a:solidFill>
                <a:latin typeface="Cambria" pitchFamily="34" charset="0"/>
                <a:ea typeface="Cambria" pitchFamily="34" charset="-122"/>
                <a:cs typeface="Cambria" pitchFamily="34" charset="-120"/>
              </a:rPr>
              <a:t>for loop</a:t>
            </a:r>
            <a:endParaRPr lang="en-US" sz="1100" dirty="0"/>
          </a:p>
        </p:txBody>
      </p:sp>
      <p:sp>
        <p:nvSpPr>
          <p:cNvPr id="24" name="Text 22"/>
          <p:cNvSpPr/>
          <p:nvPr/>
        </p:nvSpPr>
        <p:spPr>
          <a:xfrm>
            <a:off x="539496" y="4416552"/>
            <a:ext cx="3383280" cy="914400"/>
          </a:xfrm>
          <a:prstGeom prst="rect">
            <a:avLst/>
          </a:prstGeom>
          <a:noFill/>
          <a:ln/>
        </p:spPr>
        <p:txBody>
          <a:bodyPr wrap="square" lIns="0" tIns="0" rIns="0" bIns="0" rtlCol="0" anchor="ctr"/>
          <a:lstStyle/>
          <a:p>
            <a:pPr indent="0" marL="0">
              <a:buNone/>
            </a:pPr>
            <a:r>
              <a:rPr lang="en-US" sz="950" dirty="0">
                <a:solidFill>
                  <a:srgbClr val="0D1526"/>
                </a:solidFill>
                <a:latin typeface="Courier New" pitchFamily="34" charset="0"/>
                <a:ea typeface="Courier New" pitchFamily="34" charset="-122"/>
                <a:cs typeface="Courier New" pitchFamily="34" charset="-120"/>
              </a:rPr>
              <a:t>for x in lst:</a:t>
            </a:r>
            <a:endParaRPr lang="en-US" sz="950" dirty="0"/>
          </a:p>
          <a:p>
            <a:pPr indent="0" marL="0">
              <a:buNone/>
            </a:pPr>
            <a:r>
              <a:rPr lang="en-US" sz="950" dirty="0">
                <a:solidFill>
                  <a:srgbClr val="0D1526"/>
                </a:solidFill>
                <a:latin typeface="Courier New" pitchFamily="34" charset="0"/>
                <a:ea typeface="Courier New" pitchFamily="34" charset="-122"/>
                <a:cs typeface="Courier New" pitchFamily="34" charset="-120"/>
              </a:rPr>
              <a:t>for i,v in enumerate(lst,1):</a:t>
            </a:r>
            <a:endParaRPr lang="en-US" sz="950" dirty="0"/>
          </a:p>
          <a:p>
            <a:pPr indent="0" marL="0">
              <a:buNone/>
            </a:pPr>
            <a:r>
              <a:rPr lang="en-US" sz="950" dirty="0">
                <a:solidFill>
                  <a:srgbClr val="0D1526"/>
                </a:solidFill>
                <a:latin typeface="Courier New" pitchFamily="34" charset="0"/>
                <a:ea typeface="Courier New" pitchFamily="34" charset="-122"/>
                <a:cs typeface="Courier New" pitchFamily="34" charset="-120"/>
              </a:rPr>
              <a:t>for a,b in zip(lst1,lst2):</a:t>
            </a:r>
            <a:endParaRPr lang="en-US" sz="950" dirty="0"/>
          </a:p>
        </p:txBody>
      </p:sp>
      <p:sp>
        <p:nvSpPr>
          <p:cNvPr id="25" name="Shape 23"/>
          <p:cNvSpPr/>
          <p:nvPr/>
        </p:nvSpPr>
        <p:spPr>
          <a:xfrm>
            <a:off x="4251960" y="4014216"/>
            <a:ext cx="3639312" cy="1389888"/>
          </a:xfrm>
          <a:prstGeom prst="roundRect">
            <a:avLst>
              <a:gd name="adj" fmla="val 6579"/>
            </a:avLst>
          </a:prstGeom>
          <a:solidFill>
            <a:srgbClr val="F1F5F9"/>
          </a:solidFill>
          <a:ln w="13970">
            <a:solidFill>
              <a:srgbClr val="16A34A"/>
            </a:solidFill>
            <a:prstDash val="solid"/>
          </a:ln>
          <a:effectLst>
            <a:outerShdw sx="100000" sy="100000" kx="0" ky="0" algn="bl" rotWithShape="0" blurRad="63500" dist="25400" dir="2700000">
              <a:srgbClr val="000000">
                <a:alpha val="12000"/>
              </a:srgbClr>
            </a:outerShdw>
          </a:effectLst>
        </p:spPr>
      </p:sp>
      <p:sp>
        <p:nvSpPr>
          <p:cNvPr id="26" name="Text 24"/>
          <p:cNvSpPr/>
          <p:nvPr/>
        </p:nvSpPr>
        <p:spPr>
          <a:xfrm>
            <a:off x="4379976" y="4105656"/>
            <a:ext cx="3383280" cy="274320"/>
          </a:xfrm>
          <a:prstGeom prst="rect">
            <a:avLst/>
          </a:prstGeom>
          <a:noFill/>
          <a:ln/>
        </p:spPr>
        <p:txBody>
          <a:bodyPr wrap="square" lIns="0" tIns="0" rIns="0" bIns="0" rtlCol="0" anchor="ctr"/>
          <a:lstStyle/>
          <a:p>
            <a:pPr indent="0" marL="0">
              <a:buNone/>
            </a:pPr>
            <a:r>
              <a:rPr lang="en-US" sz="1100" b="1" dirty="0">
                <a:solidFill>
                  <a:srgbClr val="16A34A"/>
                </a:solidFill>
                <a:latin typeface="Cambria" pitchFamily="34" charset="0"/>
                <a:ea typeface="Cambria" pitchFamily="34" charset="-122"/>
                <a:cs typeface="Cambria" pitchFamily="34" charset="-120"/>
              </a:rPr>
              <a:t>while loop</a:t>
            </a:r>
            <a:endParaRPr lang="en-US" sz="1100" dirty="0"/>
          </a:p>
        </p:txBody>
      </p:sp>
      <p:sp>
        <p:nvSpPr>
          <p:cNvPr id="27" name="Text 25"/>
          <p:cNvSpPr/>
          <p:nvPr/>
        </p:nvSpPr>
        <p:spPr>
          <a:xfrm>
            <a:off x="4379976" y="4416552"/>
            <a:ext cx="3383280" cy="914400"/>
          </a:xfrm>
          <a:prstGeom prst="rect">
            <a:avLst/>
          </a:prstGeom>
          <a:noFill/>
          <a:ln/>
        </p:spPr>
        <p:txBody>
          <a:bodyPr wrap="square" lIns="0" tIns="0" rIns="0" bIns="0" rtlCol="0" anchor="ctr"/>
          <a:lstStyle/>
          <a:p>
            <a:pPr indent="0" marL="0">
              <a:buNone/>
            </a:pPr>
            <a:r>
              <a:rPr lang="en-US" sz="950" dirty="0">
                <a:solidFill>
                  <a:srgbClr val="0D1526"/>
                </a:solidFill>
                <a:latin typeface="Courier New" pitchFamily="34" charset="0"/>
                <a:ea typeface="Courier New" pitchFamily="34" charset="-122"/>
                <a:cs typeface="Courier New" pitchFamily="34" charset="-120"/>
              </a:rPr>
              <a:t>while cond:</a:t>
            </a:r>
            <a:endParaRPr lang="en-US" sz="950" dirty="0"/>
          </a:p>
          <a:p>
            <a:pPr indent="0" marL="0">
              <a:buNone/>
            </a:pPr>
            <a:r>
              <a:rPr lang="en-US" sz="950" dirty="0">
                <a:solidFill>
                  <a:srgbClr val="0D1526"/>
                </a:solidFill>
                <a:latin typeface="Courier New" pitchFamily="34" charset="0"/>
                <a:ea typeface="Courier New" pitchFamily="34" charset="-122"/>
                <a:cs typeface="Courier New" pitchFamily="34" charset="-120"/>
              </a:rPr>
              <a:t>    block</a:t>
            </a:r>
            <a:endParaRPr lang="en-US" sz="950" dirty="0"/>
          </a:p>
          <a:p>
            <a:pPr indent="0" marL="0">
              <a:buNone/>
            </a:pPr>
            <a:r>
              <a:rPr lang="en-US" sz="950" dirty="0">
                <a:solidFill>
                  <a:srgbClr val="0D1526"/>
                </a:solidFill>
                <a:latin typeface="Courier New" pitchFamily="34" charset="0"/>
                <a:ea typeface="Courier New" pitchFamily="34" charset="-122"/>
                <a:cs typeface="Courier New" pitchFamily="34" charset="-120"/>
              </a:rPr>
              <a:t>    break / continue</a:t>
            </a:r>
            <a:endParaRPr lang="en-US" sz="950" dirty="0"/>
          </a:p>
        </p:txBody>
      </p:sp>
      <p:sp>
        <p:nvSpPr>
          <p:cNvPr id="28" name="Shape 26"/>
          <p:cNvSpPr/>
          <p:nvPr/>
        </p:nvSpPr>
        <p:spPr>
          <a:xfrm>
            <a:off x="8092440" y="4014216"/>
            <a:ext cx="3639312" cy="1389888"/>
          </a:xfrm>
          <a:prstGeom prst="roundRect">
            <a:avLst>
              <a:gd name="adj" fmla="val 6579"/>
            </a:avLst>
          </a:prstGeom>
          <a:solidFill>
            <a:srgbClr val="F1F5F9"/>
          </a:solidFill>
          <a:ln w="13970">
            <a:solidFill>
              <a:srgbClr val="F9AB00"/>
            </a:solidFill>
            <a:prstDash val="solid"/>
          </a:ln>
          <a:effectLst>
            <a:outerShdw sx="100000" sy="100000" kx="0" ky="0" algn="bl" rotWithShape="0" blurRad="63500" dist="25400" dir="2700000">
              <a:srgbClr val="000000">
                <a:alpha val="12000"/>
              </a:srgbClr>
            </a:outerShdw>
          </a:effectLst>
        </p:spPr>
      </p:sp>
      <p:sp>
        <p:nvSpPr>
          <p:cNvPr id="29" name="Text 27"/>
          <p:cNvSpPr/>
          <p:nvPr/>
        </p:nvSpPr>
        <p:spPr>
          <a:xfrm>
            <a:off x="8220456" y="4105656"/>
            <a:ext cx="3383280" cy="274320"/>
          </a:xfrm>
          <a:prstGeom prst="rect">
            <a:avLst/>
          </a:prstGeom>
          <a:noFill/>
          <a:ln/>
        </p:spPr>
        <p:txBody>
          <a:bodyPr wrap="square" lIns="0" tIns="0" rIns="0" bIns="0" rtlCol="0" anchor="ctr"/>
          <a:lstStyle/>
          <a:p>
            <a:pPr indent="0" marL="0">
              <a:buNone/>
            </a:pPr>
            <a:r>
              <a:rPr lang="en-US" sz="1100" b="1" dirty="0">
                <a:solidFill>
                  <a:srgbClr val="F9AB00"/>
                </a:solidFill>
                <a:latin typeface="Cambria" pitchFamily="34" charset="0"/>
                <a:ea typeface="Cambria" pitchFamily="34" charset="-122"/>
                <a:cs typeface="Cambria" pitchFamily="34" charset="-120"/>
              </a:rPr>
              <a:t>Function</a:t>
            </a:r>
            <a:endParaRPr lang="en-US" sz="1100" dirty="0"/>
          </a:p>
        </p:txBody>
      </p:sp>
      <p:sp>
        <p:nvSpPr>
          <p:cNvPr id="30" name="Text 28"/>
          <p:cNvSpPr/>
          <p:nvPr/>
        </p:nvSpPr>
        <p:spPr>
          <a:xfrm>
            <a:off x="8220456" y="4416552"/>
            <a:ext cx="3383280" cy="914400"/>
          </a:xfrm>
          <a:prstGeom prst="rect">
            <a:avLst/>
          </a:prstGeom>
          <a:noFill/>
          <a:ln/>
        </p:spPr>
        <p:txBody>
          <a:bodyPr wrap="square" lIns="0" tIns="0" rIns="0" bIns="0" rtlCol="0" anchor="ctr"/>
          <a:lstStyle/>
          <a:p>
            <a:pPr indent="0" marL="0">
              <a:buNone/>
            </a:pPr>
            <a:r>
              <a:rPr lang="en-US" sz="950" dirty="0">
                <a:solidFill>
                  <a:srgbClr val="0D1526"/>
                </a:solidFill>
                <a:latin typeface="Courier New" pitchFamily="34" charset="0"/>
                <a:ea typeface="Courier New" pitchFamily="34" charset="-122"/>
                <a:cs typeface="Courier New" pitchFamily="34" charset="-120"/>
              </a:rPr>
              <a:t>def name(a, b=default, *args, **kw):</a:t>
            </a:r>
            <a:endParaRPr lang="en-US" sz="950" dirty="0"/>
          </a:p>
          <a:p>
            <a:pPr indent="0" marL="0">
              <a:buNone/>
            </a:pPr>
            <a:r>
              <a:rPr lang="en-US" sz="950" dirty="0">
                <a:solidFill>
                  <a:srgbClr val="0D1526"/>
                </a:solidFill>
                <a:latin typeface="Courier New" pitchFamily="34" charset="0"/>
                <a:ea typeface="Courier New" pitchFamily="34" charset="-122"/>
                <a:cs typeface="Courier New" pitchFamily="34" charset="-120"/>
              </a:rPr>
              <a:t>    """docstring"""</a:t>
            </a:r>
            <a:endParaRPr lang="en-US" sz="950" dirty="0"/>
          </a:p>
          <a:p>
            <a:pPr indent="0" marL="0">
              <a:buNone/>
            </a:pPr>
            <a:r>
              <a:rPr lang="en-US" sz="950" dirty="0">
                <a:solidFill>
                  <a:srgbClr val="0D1526"/>
                </a:solidFill>
                <a:latin typeface="Courier New" pitchFamily="34" charset="0"/>
                <a:ea typeface="Courier New" pitchFamily="34" charset="-122"/>
                <a:cs typeface="Courier New" pitchFamily="34" charset="-120"/>
              </a:rPr>
              <a:t>    return value</a:t>
            </a:r>
            <a:endParaRPr lang="en-US" sz="950" dirty="0"/>
          </a:p>
        </p:txBody>
      </p:sp>
      <p:sp>
        <p:nvSpPr>
          <p:cNvPr id="31" name="Shape 29"/>
          <p:cNvSpPr/>
          <p:nvPr/>
        </p:nvSpPr>
        <p:spPr>
          <a:xfrm>
            <a:off x="411480" y="5495544"/>
            <a:ext cx="3639312" cy="1389888"/>
          </a:xfrm>
          <a:prstGeom prst="roundRect">
            <a:avLst>
              <a:gd name="adj" fmla="val 6579"/>
            </a:avLst>
          </a:prstGeom>
          <a:solidFill>
            <a:srgbClr val="F1F5F9"/>
          </a:solidFill>
          <a:ln w="13970">
            <a:solidFill>
              <a:srgbClr val="7C3AED"/>
            </a:solidFill>
            <a:prstDash val="solid"/>
          </a:ln>
          <a:effectLst>
            <a:outerShdw sx="100000" sy="100000" kx="0" ky="0" algn="bl" rotWithShape="0" blurRad="63500" dist="25400" dir="2700000">
              <a:srgbClr val="000000">
                <a:alpha val="12000"/>
              </a:srgbClr>
            </a:outerShdw>
          </a:effectLst>
        </p:spPr>
      </p:sp>
      <p:sp>
        <p:nvSpPr>
          <p:cNvPr id="32" name="Text 30"/>
          <p:cNvSpPr/>
          <p:nvPr/>
        </p:nvSpPr>
        <p:spPr>
          <a:xfrm>
            <a:off x="539496" y="5586984"/>
            <a:ext cx="3383280" cy="274320"/>
          </a:xfrm>
          <a:prstGeom prst="rect">
            <a:avLst/>
          </a:prstGeom>
          <a:noFill/>
          <a:ln/>
        </p:spPr>
        <p:txBody>
          <a:bodyPr wrap="square" lIns="0" tIns="0" rIns="0" bIns="0" rtlCol="0" anchor="ctr"/>
          <a:lstStyle/>
          <a:p>
            <a:pPr indent="0" marL="0">
              <a:buNone/>
            </a:pPr>
            <a:r>
              <a:rPr lang="en-US" sz="1100" b="1" dirty="0">
                <a:solidFill>
                  <a:srgbClr val="7C3AED"/>
                </a:solidFill>
                <a:latin typeface="Cambria" pitchFamily="34" charset="0"/>
                <a:ea typeface="Cambria" pitchFamily="34" charset="-122"/>
                <a:cs typeface="Cambria" pitchFamily="34" charset="-120"/>
              </a:rPr>
              <a:t>Lambda</a:t>
            </a:r>
            <a:endParaRPr lang="en-US" sz="1100" dirty="0"/>
          </a:p>
        </p:txBody>
      </p:sp>
      <p:sp>
        <p:nvSpPr>
          <p:cNvPr id="33" name="Text 31"/>
          <p:cNvSpPr/>
          <p:nvPr/>
        </p:nvSpPr>
        <p:spPr>
          <a:xfrm>
            <a:off x="539496" y="5897880"/>
            <a:ext cx="3383280" cy="914400"/>
          </a:xfrm>
          <a:prstGeom prst="rect">
            <a:avLst/>
          </a:prstGeom>
          <a:noFill/>
          <a:ln/>
        </p:spPr>
        <p:txBody>
          <a:bodyPr wrap="square" lIns="0" tIns="0" rIns="0" bIns="0" rtlCol="0" anchor="ctr"/>
          <a:lstStyle/>
          <a:p>
            <a:pPr indent="0" marL="0">
              <a:buNone/>
            </a:pPr>
            <a:r>
              <a:rPr lang="en-US" sz="950" dirty="0">
                <a:solidFill>
                  <a:srgbClr val="0D1526"/>
                </a:solidFill>
                <a:latin typeface="Courier New" pitchFamily="34" charset="0"/>
                <a:ea typeface="Courier New" pitchFamily="34" charset="-122"/>
                <a:cs typeface="Courier New" pitchFamily="34" charset="-120"/>
              </a:rPr>
              <a:t>f = lambda x: x * 2</a:t>
            </a:r>
            <a:endParaRPr lang="en-US" sz="950" dirty="0"/>
          </a:p>
          <a:p>
            <a:pPr indent="0" marL="0">
              <a:buNone/>
            </a:pPr>
            <a:r>
              <a:rPr lang="en-US" sz="950" dirty="0">
                <a:solidFill>
                  <a:srgbClr val="0D1526"/>
                </a:solidFill>
                <a:latin typeface="Courier New" pitchFamily="34" charset="0"/>
                <a:ea typeface="Courier New" pitchFamily="34" charset="-122"/>
                <a:cs typeface="Courier New" pitchFamily="34" charset="-120"/>
              </a:rPr>
              <a:t>sorted(lst, key=lambda x: x[1])</a:t>
            </a:r>
            <a:endParaRPr lang="en-US" sz="950" dirty="0"/>
          </a:p>
        </p:txBody>
      </p:sp>
      <p:sp>
        <p:nvSpPr>
          <p:cNvPr id="34" name="Shape 32"/>
          <p:cNvSpPr/>
          <p:nvPr/>
        </p:nvSpPr>
        <p:spPr>
          <a:xfrm>
            <a:off x="4251960" y="5495544"/>
            <a:ext cx="3639312" cy="1389888"/>
          </a:xfrm>
          <a:prstGeom prst="roundRect">
            <a:avLst>
              <a:gd name="adj" fmla="val 6579"/>
            </a:avLst>
          </a:prstGeom>
          <a:solidFill>
            <a:srgbClr val="F1F5F9"/>
          </a:solidFill>
          <a:ln w="13970">
            <a:solidFill>
              <a:srgbClr val="E11D48"/>
            </a:solidFill>
            <a:prstDash val="solid"/>
          </a:ln>
          <a:effectLst>
            <a:outerShdw sx="100000" sy="100000" kx="0" ky="0" algn="bl" rotWithShape="0" blurRad="63500" dist="25400" dir="2700000">
              <a:srgbClr val="000000">
                <a:alpha val="12000"/>
              </a:srgbClr>
            </a:outerShdw>
          </a:effectLst>
        </p:spPr>
      </p:sp>
      <p:sp>
        <p:nvSpPr>
          <p:cNvPr id="35" name="Text 33"/>
          <p:cNvSpPr/>
          <p:nvPr/>
        </p:nvSpPr>
        <p:spPr>
          <a:xfrm>
            <a:off x="4379976" y="5586984"/>
            <a:ext cx="3383280" cy="274320"/>
          </a:xfrm>
          <a:prstGeom prst="rect">
            <a:avLst/>
          </a:prstGeom>
          <a:noFill/>
          <a:ln/>
        </p:spPr>
        <p:txBody>
          <a:bodyPr wrap="square" lIns="0" tIns="0" rIns="0" bIns="0" rtlCol="0" anchor="ctr"/>
          <a:lstStyle/>
          <a:p>
            <a:pPr indent="0" marL="0">
              <a:buNone/>
            </a:pPr>
            <a:r>
              <a:rPr lang="en-US" sz="1100" b="1" dirty="0">
                <a:solidFill>
                  <a:srgbClr val="E11D48"/>
                </a:solidFill>
                <a:latin typeface="Cambria" pitchFamily="34" charset="0"/>
                <a:ea typeface="Cambria" pitchFamily="34" charset="-122"/>
                <a:cs typeface="Cambria" pitchFamily="34" charset="-120"/>
              </a:rPr>
              <a:t>Comprehension</a:t>
            </a:r>
            <a:endParaRPr lang="en-US" sz="1100" dirty="0"/>
          </a:p>
        </p:txBody>
      </p:sp>
      <p:sp>
        <p:nvSpPr>
          <p:cNvPr id="36" name="Text 34"/>
          <p:cNvSpPr/>
          <p:nvPr/>
        </p:nvSpPr>
        <p:spPr>
          <a:xfrm>
            <a:off x="4379976" y="5897880"/>
            <a:ext cx="3383280" cy="914400"/>
          </a:xfrm>
          <a:prstGeom prst="rect">
            <a:avLst/>
          </a:prstGeom>
          <a:noFill/>
          <a:ln/>
        </p:spPr>
        <p:txBody>
          <a:bodyPr wrap="square" lIns="0" tIns="0" rIns="0" bIns="0" rtlCol="0" anchor="ctr"/>
          <a:lstStyle/>
          <a:p>
            <a:pPr indent="0" marL="0">
              <a:buNone/>
            </a:pPr>
            <a:r>
              <a:rPr lang="en-US" sz="950" dirty="0">
                <a:solidFill>
                  <a:srgbClr val="0D1526"/>
                </a:solidFill>
                <a:latin typeface="Courier New" pitchFamily="34" charset="0"/>
                <a:ea typeface="Courier New" pitchFamily="34" charset="-122"/>
                <a:cs typeface="Courier New" pitchFamily="34" charset="-120"/>
              </a:rPr>
              <a:t>[expr for x in lst if cond]</a:t>
            </a:r>
            <a:endParaRPr lang="en-US" sz="950" dirty="0"/>
          </a:p>
          <a:p>
            <a:pPr indent="0" marL="0">
              <a:buNone/>
            </a:pPr>
            <a:r>
              <a:rPr lang="en-US" sz="950" dirty="0">
                <a:solidFill>
                  <a:srgbClr val="0D1526"/>
                </a:solidFill>
                <a:latin typeface="Courier New" pitchFamily="34" charset="0"/>
                <a:ea typeface="Courier New" pitchFamily="34" charset="-122"/>
                <a:cs typeface="Courier New" pitchFamily="34" charset="-120"/>
              </a:rPr>
              <a:t>{k:v for k,v in d.items()}</a:t>
            </a:r>
            <a:endParaRPr lang="en-US" sz="950" dirty="0"/>
          </a:p>
        </p:txBody>
      </p:sp>
      <p:sp>
        <p:nvSpPr>
          <p:cNvPr id="37" name="Shape 35"/>
          <p:cNvSpPr/>
          <p:nvPr/>
        </p:nvSpPr>
        <p:spPr>
          <a:xfrm>
            <a:off x="8092440" y="5495544"/>
            <a:ext cx="3639312" cy="1389888"/>
          </a:xfrm>
          <a:prstGeom prst="roundRect">
            <a:avLst>
              <a:gd name="adj" fmla="val 6579"/>
            </a:avLst>
          </a:prstGeom>
          <a:solidFill>
            <a:srgbClr val="F1F5F9"/>
          </a:solidFill>
          <a:ln w="13970">
            <a:solidFill>
              <a:srgbClr val="0891B2"/>
            </a:solidFill>
            <a:prstDash val="solid"/>
          </a:ln>
          <a:effectLst>
            <a:outerShdw sx="100000" sy="100000" kx="0" ky="0" algn="bl" rotWithShape="0" blurRad="63500" dist="25400" dir="2700000">
              <a:srgbClr val="000000">
                <a:alpha val="12000"/>
              </a:srgbClr>
            </a:outerShdw>
          </a:effectLst>
        </p:spPr>
      </p:sp>
      <p:sp>
        <p:nvSpPr>
          <p:cNvPr id="38" name="Text 36"/>
          <p:cNvSpPr/>
          <p:nvPr/>
        </p:nvSpPr>
        <p:spPr>
          <a:xfrm>
            <a:off x="8220456" y="5586984"/>
            <a:ext cx="3383280" cy="274320"/>
          </a:xfrm>
          <a:prstGeom prst="rect">
            <a:avLst/>
          </a:prstGeom>
          <a:noFill/>
          <a:ln/>
        </p:spPr>
        <p:txBody>
          <a:bodyPr wrap="square" lIns="0" tIns="0" rIns="0" bIns="0" rtlCol="0" anchor="ctr"/>
          <a:lstStyle/>
          <a:p>
            <a:pPr indent="0" marL="0">
              <a:buNone/>
            </a:pPr>
            <a:r>
              <a:rPr lang="en-US" sz="1100" b="1" dirty="0">
                <a:solidFill>
                  <a:srgbClr val="0891B2"/>
                </a:solidFill>
                <a:latin typeface="Cambria" pitchFamily="34" charset="0"/>
                <a:ea typeface="Cambria" pitchFamily="34" charset="-122"/>
                <a:cs typeface="Cambria" pitchFamily="34" charset="-120"/>
              </a:rPr>
              <a:t>Scope</a:t>
            </a:r>
            <a:endParaRPr lang="en-US" sz="1100" dirty="0"/>
          </a:p>
        </p:txBody>
      </p:sp>
      <p:sp>
        <p:nvSpPr>
          <p:cNvPr id="39" name="Text 37"/>
          <p:cNvSpPr/>
          <p:nvPr/>
        </p:nvSpPr>
        <p:spPr>
          <a:xfrm>
            <a:off x="8220456" y="5897880"/>
            <a:ext cx="3383280" cy="914400"/>
          </a:xfrm>
          <a:prstGeom prst="rect">
            <a:avLst/>
          </a:prstGeom>
          <a:noFill/>
          <a:ln/>
        </p:spPr>
        <p:txBody>
          <a:bodyPr wrap="square" lIns="0" tIns="0" rIns="0" bIns="0" rtlCol="0" anchor="ctr"/>
          <a:lstStyle/>
          <a:p>
            <a:pPr indent="0" marL="0">
              <a:buNone/>
            </a:pPr>
            <a:r>
              <a:rPr lang="en-US" sz="950" dirty="0">
                <a:solidFill>
                  <a:srgbClr val="0D1526"/>
                </a:solidFill>
                <a:latin typeface="Courier New" pitchFamily="34" charset="0"/>
                <a:ea typeface="Courier New" pitchFamily="34" charset="-122"/>
                <a:cs typeface="Courier New" pitchFamily="34" charset="-120"/>
              </a:rPr>
              <a:t>L → E → G → B  (LEGB)</a:t>
            </a:r>
            <a:endParaRPr lang="en-US" sz="950" dirty="0"/>
          </a:p>
          <a:p>
            <a:pPr indent="0" marL="0">
              <a:buNone/>
            </a:pPr>
            <a:r>
              <a:rPr lang="en-US" sz="950" dirty="0">
                <a:solidFill>
                  <a:srgbClr val="0D1526"/>
                </a:solidFill>
                <a:latin typeface="Courier New" pitchFamily="34" charset="0"/>
                <a:ea typeface="Courier New" pitchFamily="34" charset="-122"/>
                <a:cs typeface="Courier New" pitchFamily="34" charset="-120"/>
              </a:rPr>
              <a:t>global x  (avoid — use return)</a:t>
            </a:r>
            <a:endParaRPr lang="en-US" sz="9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80D18"/>
        </a:solidFill>
      </p:bgPr>
    </p:bg>
    <p:spTree>
      <p:nvGrpSpPr>
        <p:cNvPr id="1" name=""/>
        <p:cNvGrpSpPr/>
        <p:nvPr/>
      </p:nvGrpSpPr>
      <p:grpSpPr>
        <a:xfrm>
          <a:off x="0" y="0"/>
          <a:ext cx="0" cy="0"/>
          <a:chOff x="0" y="0"/>
          <a:chExt cx="0" cy="0"/>
        </a:xfrm>
      </p:grpSpPr>
      <p:sp>
        <p:nvSpPr>
          <p:cNvPr id="2" name="Shape 0"/>
          <p:cNvSpPr/>
          <p:nvPr/>
        </p:nvSpPr>
        <p:spPr>
          <a:xfrm>
            <a:off x="0" y="0"/>
            <a:ext cx="5029200" cy="6858000"/>
          </a:xfrm>
          <a:prstGeom prst="rect">
            <a:avLst/>
          </a:prstGeom>
          <a:solidFill>
            <a:srgbClr val="0F1E3C"/>
          </a:solidFill>
          <a:ln w="12700">
            <a:solidFill>
              <a:srgbClr val="0F1E3C"/>
            </a:solidFill>
            <a:prstDash val="solid"/>
          </a:ln>
        </p:spPr>
      </p:sp>
      <p:sp>
        <p:nvSpPr>
          <p:cNvPr id="3" name="Shape 1"/>
          <p:cNvSpPr/>
          <p:nvPr/>
        </p:nvSpPr>
        <p:spPr>
          <a:xfrm>
            <a:off x="411480" y="457200"/>
            <a:ext cx="1828800" cy="1828800"/>
          </a:xfrm>
          <a:prstGeom prst="roundRect">
            <a:avLst>
              <a:gd name="adj" fmla="val 6000"/>
            </a:avLst>
          </a:prstGeom>
          <a:solidFill>
            <a:srgbClr val="2563EB"/>
          </a:solidFill>
          <a:ln w="12700">
            <a:solidFill>
              <a:srgbClr val="2563EB"/>
            </a:solidFill>
            <a:prstDash val="solid"/>
          </a:ln>
          <a:effectLst>
            <a:outerShdw sx="100000" sy="100000" kx="0" ky="0" algn="bl" rotWithShape="0" blurRad="127000" dist="50800" dir="2700000">
              <a:srgbClr val="000000">
                <a:alpha val="18000"/>
              </a:srgbClr>
            </a:outerShdw>
          </a:effectLst>
        </p:spPr>
      </p:sp>
      <p:sp>
        <p:nvSpPr>
          <p:cNvPr id="4" name="Shape 2"/>
          <p:cNvSpPr/>
          <p:nvPr/>
        </p:nvSpPr>
        <p:spPr>
          <a:xfrm>
            <a:off x="2423160" y="457200"/>
            <a:ext cx="1828800" cy="1828800"/>
          </a:xfrm>
          <a:prstGeom prst="roundRect">
            <a:avLst>
              <a:gd name="adj" fmla="val 6000"/>
            </a:avLst>
          </a:prstGeom>
          <a:solidFill>
            <a:srgbClr val="F9AB00"/>
          </a:solidFill>
          <a:ln w="12700">
            <a:solidFill>
              <a:srgbClr val="F9AB00"/>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2468880"/>
            <a:ext cx="1828800" cy="1828800"/>
          </a:xfrm>
          <a:prstGeom prst="roundRect">
            <a:avLst>
              <a:gd name="adj" fmla="val 6000"/>
            </a:avLst>
          </a:prstGeom>
          <a:solidFill>
            <a:srgbClr val="F9AB00"/>
          </a:solidFill>
          <a:ln w="12700">
            <a:solidFill>
              <a:srgbClr val="F9AB00"/>
            </a:solidFill>
            <a:prstDash val="solid"/>
          </a:ln>
          <a:effectLst>
            <a:outerShdw sx="100000" sy="100000" kx="0" ky="0" algn="bl" rotWithShape="0" blurRad="127000" dist="50800" dir="2700000">
              <a:srgbClr val="000000">
                <a:alpha val="18000"/>
              </a:srgbClr>
            </a:outerShdw>
          </a:effectLst>
        </p:spPr>
      </p:sp>
      <p:sp>
        <p:nvSpPr>
          <p:cNvPr id="6" name="Shape 4"/>
          <p:cNvSpPr/>
          <p:nvPr/>
        </p:nvSpPr>
        <p:spPr>
          <a:xfrm>
            <a:off x="2423160" y="2468880"/>
            <a:ext cx="1828800" cy="1828800"/>
          </a:xfrm>
          <a:prstGeom prst="roundRect">
            <a:avLst>
              <a:gd name="adj" fmla="val 6000"/>
            </a:avLst>
          </a:prstGeom>
          <a:solidFill>
            <a:srgbClr val="2563EB"/>
          </a:solidFill>
          <a:ln w="12700">
            <a:solidFill>
              <a:srgbClr val="2563EB"/>
            </a:solidFill>
            <a:prstDash val="solid"/>
          </a:ln>
          <a:effectLst>
            <a:outerShdw sx="100000" sy="100000" kx="0" ky="0" algn="bl" rotWithShape="0" blurRad="127000" dist="50800" dir="2700000">
              <a:srgbClr val="000000">
                <a:alpha val="18000"/>
              </a:srgbClr>
            </a:outerShdw>
          </a:effectLst>
        </p:spPr>
      </p:sp>
      <p:sp>
        <p:nvSpPr>
          <p:cNvPr id="7" name="Text 5"/>
          <p:cNvSpPr/>
          <p:nvPr/>
        </p:nvSpPr>
        <p:spPr>
          <a:xfrm>
            <a:off x="411480" y="457200"/>
            <a:ext cx="3840480" cy="3840480"/>
          </a:xfrm>
          <a:prstGeom prst="rect">
            <a:avLst/>
          </a:prstGeom>
          <a:noFill/>
          <a:ln/>
        </p:spPr>
        <p:txBody>
          <a:bodyPr wrap="square" lIns="0" tIns="0" rIns="0" bIns="0" rtlCol="0" anchor="ctr"/>
          <a:lstStyle/>
          <a:p>
            <a:pPr algn="ctr" indent="0" marL="0">
              <a:buNone/>
            </a:pPr>
            <a:r>
              <a:rPr lang="en-US" sz="9000" dirty="0">
                <a:solidFill>
                  <a:srgbClr val="000000"/>
                </a:solidFill>
              </a:rPr>
              <a:t>🐍</a:t>
            </a:r>
            <a:endParaRPr lang="en-US" sz="9000" dirty="0"/>
          </a:p>
        </p:txBody>
      </p:sp>
      <p:sp>
        <p:nvSpPr>
          <p:cNvPr id="8" name="Shape 6"/>
          <p:cNvSpPr/>
          <p:nvPr/>
        </p:nvSpPr>
        <p:spPr>
          <a:xfrm>
            <a:off x="0" y="4480560"/>
            <a:ext cx="5029200" cy="2377440"/>
          </a:xfrm>
          <a:prstGeom prst="rect">
            <a:avLst/>
          </a:prstGeom>
          <a:solidFill>
            <a:srgbClr val="0D1526"/>
          </a:solidFill>
          <a:ln w="12700">
            <a:solidFill>
              <a:srgbClr val="0D1526"/>
            </a:solidFill>
            <a:prstDash val="solid"/>
          </a:ln>
        </p:spPr>
      </p:sp>
      <p:sp>
        <p:nvSpPr>
          <p:cNvPr id="9" name="Text 7"/>
          <p:cNvSpPr/>
          <p:nvPr/>
        </p:nvSpPr>
        <p:spPr>
          <a:xfrm>
            <a:off x="411480" y="4617720"/>
            <a:ext cx="4572000" cy="29260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You can now:</a:t>
            </a:r>
            <a:endParaRPr lang="en-US" sz="1300" dirty="0"/>
          </a:p>
        </p:txBody>
      </p:sp>
      <p:sp>
        <p:nvSpPr>
          <p:cNvPr id="10" name="Shape 8"/>
          <p:cNvSpPr/>
          <p:nvPr/>
        </p:nvSpPr>
        <p:spPr>
          <a:xfrm>
            <a:off x="438912" y="5056632"/>
            <a:ext cx="164592" cy="164592"/>
          </a:xfrm>
          <a:prstGeom prst="ellipse">
            <a:avLst/>
          </a:prstGeom>
          <a:solidFill>
            <a:srgbClr val="F9AB00"/>
          </a:solidFill>
          <a:ln w="12700">
            <a:solidFill>
              <a:srgbClr val="F9AB00"/>
            </a:solidFill>
            <a:prstDash val="solid"/>
          </a:ln>
        </p:spPr>
      </p:sp>
      <p:sp>
        <p:nvSpPr>
          <p:cNvPr id="11" name="Text 9"/>
          <p:cNvSpPr/>
          <p:nvPr/>
        </p:nvSpPr>
        <p:spPr>
          <a:xfrm>
            <a:off x="676656" y="4992624"/>
            <a:ext cx="4206240" cy="2743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Work with all Python data types</a:t>
            </a:r>
            <a:endParaRPr lang="en-US" sz="1050" dirty="0"/>
          </a:p>
        </p:txBody>
      </p:sp>
      <p:sp>
        <p:nvSpPr>
          <p:cNvPr id="12" name="Shape 10"/>
          <p:cNvSpPr/>
          <p:nvPr/>
        </p:nvSpPr>
        <p:spPr>
          <a:xfrm>
            <a:off x="438912" y="5349240"/>
            <a:ext cx="164592" cy="164592"/>
          </a:xfrm>
          <a:prstGeom prst="ellipse">
            <a:avLst/>
          </a:prstGeom>
          <a:solidFill>
            <a:srgbClr val="F9AB00"/>
          </a:solidFill>
          <a:ln w="12700">
            <a:solidFill>
              <a:srgbClr val="F9AB00"/>
            </a:solidFill>
            <a:prstDash val="solid"/>
          </a:ln>
        </p:spPr>
      </p:sp>
      <p:sp>
        <p:nvSpPr>
          <p:cNvPr id="13" name="Text 11"/>
          <p:cNvSpPr/>
          <p:nvPr/>
        </p:nvSpPr>
        <p:spPr>
          <a:xfrm>
            <a:off x="676656" y="5285232"/>
            <a:ext cx="4206240" cy="2743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Operate on numbers, text, booleans</a:t>
            </a:r>
            <a:endParaRPr lang="en-US" sz="1050" dirty="0"/>
          </a:p>
        </p:txBody>
      </p:sp>
      <p:sp>
        <p:nvSpPr>
          <p:cNvPr id="14" name="Shape 12"/>
          <p:cNvSpPr/>
          <p:nvPr/>
        </p:nvSpPr>
        <p:spPr>
          <a:xfrm>
            <a:off x="438912" y="5641848"/>
            <a:ext cx="164592" cy="164592"/>
          </a:xfrm>
          <a:prstGeom prst="ellipse">
            <a:avLst/>
          </a:prstGeom>
          <a:solidFill>
            <a:srgbClr val="F9AB00"/>
          </a:solidFill>
          <a:ln w="12700">
            <a:solidFill>
              <a:srgbClr val="F9AB00"/>
            </a:solidFill>
            <a:prstDash val="solid"/>
          </a:ln>
        </p:spPr>
      </p:sp>
      <p:sp>
        <p:nvSpPr>
          <p:cNvPr id="15" name="Text 13"/>
          <p:cNvSpPr/>
          <p:nvPr/>
        </p:nvSpPr>
        <p:spPr>
          <a:xfrm>
            <a:off x="676656" y="5577840"/>
            <a:ext cx="4206240" cy="2743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Build and query lists, dicts, sets</a:t>
            </a:r>
            <a:endParaRPr lang="en-US" sz="1050" dirty="0"/>
          </a:p>
        </p:txBody>
      </p:sp>
      <p:sp>
        <p:nvSpPr>
          <p:cNvPr id="16" name="Shape 14"/>
          <p:cNvSpPr/>
          <p:nvPr/>
        </p:nvSpPr>
        <p:spPr>
          <a:xfrm>
            <a:off x="438912" y="5934456"/>
            <a:ext cx="164592" cy="164592"/>
          </a:xfrm>
          <a:prstGeom prst="ellipse">
            <a:avLst/>
          </a:prstGeom>
          <a:solidFill>
            <a:srgbClr val="F9AB00"/>
          </a:solidFill>
          <a:ln w="12700">
            <a:solidFill>
              <a:srgbClr val="F9AB00"/>
            </a:solidFill>
            <a:prstDash val="solid"/>
          </a:ln>
        </p:spPr>
      </p:sp>
      <p:sp>
        <p:nvSpPr>
          <p:cNvPr id="17" name="Text 15"/>
          <p:cNvSpPr/>
          <p:nvPr/>
        </p:nvSpPr>
        <p:spPr>
          <a:xfrm>
            <a:off x="676656" y="5870448"/>
            <a:ext cx="4206240" cy="2743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Write conditional business logic</a:t>
            </a:r>
            <a:endParaRPr lang="en-US" sz="1050" dirty="0"/>
          </a:p>
        </p:txBody>
      </p:sp>
      <p:sp>
        <p:nvSpPr>
          <p:cNvPr id="18" name="Shape 16"/>
          <p:cNvSpPr/>
          <p:nvPr/>
        </p:nvSpPr>
        <p:spPr>
          <a:xfrm>
            <a:off x="438912" y="6227064"/>
            <a:ext cx="164592" cy="164592"/>
          </a:xfrm>
          <a:prstGeom prst="ellipse">
            <a:avLst/>
          </a:prstGeom>
          <a:solidFill>
            <a:srgbClr val="F9AB00"/>
          </a:solidFill>
          <a:ln w="12700">
            <a:solidFill>
              <a:srgbClr val="F9AB00"/>
            </a:solidFill>
            <a:prstDash val="solid"/>
          </a:ln>
        </p:spPr>
      </p:sp>
      <p:sp>
        <p:nvSpPr>
          <p:cNvPr id="19" name="Text 17"/>
          <p:cNvSpPr/>
          <p:nvPr/>
        </p:nvSpPr>
        <p:spPr>
          <a:xfrm>
            <a:off x="676656" y="6163056"/>
            <a:ext cx="4206240" cy="2743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Automate with for and while loops</a:t>
            </a:r>
            <a:endParaRPr lang="en-US" sz="1050" dirty="0"/>
          </a:p>
        </p:txBody>
      </p:sp>
      <p:sp>
        <p:nvSpPr>
          <p:cNvPr id="20" name="Shape 18"/>
          <p:cNvSpPr/>
          <p:nvPr/>
        </p:nvSpPr>
        <p:spPr>
          <a:xfrm>
            <a:off x="438912" y="6519672"/>
            <a:ext cx="164592" cy="164592"/>
          </a:xfrm>
          <a:prstGeom prst="ellipse">
            <a:avLst/>
          </a:prstGeom>
          <a:solidFill>
            <a:srgbClr val="F9AB00"/>
          </a:solidFill>
          <a:ln w="12700">
            <a:solidFill>
              <a:srgbClr val="F9AB00"/>
            </a:solidFill>
            <a:prstDash val="solid"/>
          </a:ln>
        </p:spPr>
      </p:sp>
      <p:sp>
        <p:nvSpPr>
          <p:cNvPr id="21" name="Text 19"/>
          <p:cNvSpPr/>
          <p:nvPr/>
        </p:nvSpPr>
        <p:spPr>
          <a:xfrm>
            <a:off x="676656" y="6455664"/>
            <a:ext cx="4206240" cy="2743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Write reusable, testable functions</a:t>
            </a:r>
            <a:endParaRPr lang="en-US" sz="1050" dirty="0"/>
          </a:p>
        </p:txBody>
      </p:sp>
      <p:sp>
        <p:nvSpPr>
          <p:cNvPr id="22" name="Text 20"/>
          <p:cNvSpPr/>
          <p:nvPr/>
        </p:nvSpPr>
        <p:spPr>
          <a:xfrm>
            <a:off x="5349240" y="548640"/>
            <a:ext cx="6583680" cy="18288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Python Data</a:t>
            </a:r>
            <a:endParaRPr lang="en-US" sz="4200" dirty="0"/>
          </a:p>
          <a:p>
            <a:pPr indent="0" marL="0">
              <a:buNone/>
            </a:pPr>
            <a:r>
              <a:rPr lang="en-US" sz="4200" b="1" dirty="0">
                <a:solidFill>
                  <a:srgbClr val="FFFFFF"/>
                </a:solidFill>
                <a:latin typeface="Cambria" pitchFamily="34" charset="0"/>
                <a:ea typeface="Cambria" pitchFamily="34" charset="-122"/>
                <a:cs typeface="Cambria" pitchFamily="34" charset="-120"/>
              </a:rPr>
              <a:t>Fundamentals</a:t>
            </a:r>
            <a:endParaRPr lang="en-US" sz="4200" dirty="0"/>
          </a:p>
        </p:txBody>
      </p:sp>
      <p:sp>
        <p:nvSpPr>
          <p:cNvPr id="23" name="Text 21"/>
          <p:cNvSpPr/>
          <p:nvPr/>
        </p:nvSpPr>
        <p:spPr>
          <a:xfrm>
            <a:off x="5349240" y="2468880"/>
            <a:ext cx="6583680" cy="402336"/>
          </a:xfrm>
          <a:prstGeom prst="rect">
            <a:avLst/>
          </a:prstGeom>
          <a:noFill/>
          <a:ln/>
        </p:spPr>
        <p:txBody>
          <a:bodyPr wrap="square" lIns="0" tIns="0" rIns="0" bIns="0" rtlCol="0" anchor="ctr"/>
          <a:lstStyle/>
          <a:p>
            <a:pPr indent="0" marL="0">
              <a:buNone/>
            </a:pPr>
            <a:r>
              <a:rPr lang="en-US" sz="1400" b="1" dirty="0">
                <a:solidFill>
                  <a:srgbClr val="F9AB00"/>
                </a:solidFill>
                <a:latin typeface="Calibri" pitchFamily="34" charset="0"/>
                <a:ea typeface="Calibri" pitchFamily="34" charset="-122"/>
                <a:cs typeface="Calibri" pitchFamily="34" charset="-120"/>
              </a:rPr>
              <a:t>Complete Teaching Deck  |  Google Colab</a:t>
            </a:r>
            <a:endParaRPr lang="en-US" sz="1400" dirty="0"/>
          </a:p>
        </p:txBody>
      </p:sp>
      <p:sp>
        <p:nvSpPr>
          <p:cNvPr id="24" name="Shape 22"/>
          <p:cNvSpPr/>
          <p:nvPr/>
        </p:nvSpPr>
        <p:spPr>
          <a:xfrm>
            <a:off x="5349240" y="2999232"/>
            <a:ext cx="4572000" cy="45720"/>
          </a:xfrm>
          <a:prstGeom prst="rect">
            <a:avLst/>
          </a:prstGeom>
          <a:solidFill>
            <a:srgbClr val="2563EB"/>
          </a:solidFill>
          <a:ln w="12700">
            <a:solidFill>
              <a:srgbClr val="2563EB"/>
            </a:solidFill>
            <a:prstDash val="solid"/>
          </a:ln>
        </p:spPr>
      </p:sp>
      <p:sp>
        <p:nvSpPr>
          <p:cNvPr id="25" name="Text 23"/>
          <p:cNvSpPr/>
          <p:nvPr/>
        </p:nvSpPr>
        <p:spPr>
          <a:xfrm>
            <a:off x="5349240" y="3218688"/>
            <a:ext cx="6583680" cy="475488"/>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Kajola Gbenga Adewale</a:t>
            </a:r>
            <a:endParaRPr lang="en-US" sz="2200" dirty="0"/>
          </a:p>
        </p:txBody>
      </p:sp>
      <p:sp>
        <p:nvSpPr>
          <p:cNvPr id="26" name="Text 24"/>
          <p:cNvSpPr/>
          <p:nvPr/>
        </p:nvSpPr>
        <p:spPr>
          <a:xfrm>
            <a:off x="5349240" y="3749040"/>
            <a:ext cx="6583680" cy="292608"/>
          </a:xfrm>
          <a:prstGeom prst="rect">
            <a:avLst/>
          </a:prstGeom>
          <a:noFill/>
          <a:ln/>
        </p:spPr>
        <p:txBody>
          <a:bodyPr wrap="square" lIns="0" tIns="0" rIns="0" bIns="0"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Data Analytics Expert</a:t>
            </a:r>
            <a:endParaRPr lang="en-US" sz="1300" dirty="0"/>
          </a:p>
        </p:txBody>
      </p:sp>
      <p:sp>
        <p:nvSpPr>
          <p:cNvPr id="27" name="Text 25"/>
          <p:cNvSpPr/>
          <p:nvPr/>
        </p:nvSpPr>
        <p:spPr>
          <a:xfrm>
            <a:off x="5349240" y="4224528"/>
            <a:ext cx="6583680" cy="713232"/>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Next step: Work through the 30 exercises in Colab,</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then move to NumPy, Pandas, and Matplotlib for data analysis.</a:t>
            </a:r>
            <a:endParaRPr lang="en-US" sz="1300" dirty="0"/>
          </a:p>
        </p:txBody>
      </p:sp>
      <p:sp>
        <p:nvSpPr>
          <p:cNvPr id="28" name="Shape 26"/>
          <p:cNvSpPr/>
          <p:nvPr/>
        </p:nvSpPr>
        <p:spPr>
          <a:xfrm>
            <a:off x="5349240" y="5074920"/>
            <a:ext cx="2176272" cy="365760"/>
          </a:xfrm>
          <a:prstGeom prst="roundRect">
            <a:avLst>
              <a:gd name="adj" fmla="val 15000"/>
            </a:avLst>
          </a:prstGeom>
          <a:solidFill>
            <a:srgbClr val="2563EB"/>
          </a:solidFill>
          <a:ln w="12700">
            <a:solidFill>
              <a:srgbClr val="2563EB"/>
            </a:solidFill>
            <a:prstDash val="solid"/>
          </a:ln>
        </p:spPr>
      </p:sp>
      <p:sp>
        <p:nvSpPr>
          <p:cNvPr id="29" name="Text 27"/>
          <p:cNvSpPr/>
          <p:nvPr/>
        </p:nvSpPr>
        <p:spPr>
          <a:xfrm>
            <a:off x="5349240" y="5074920"/>
            <a:ext cx="2176272"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Types</a:t>
            </a:r>
            <a:endParaRPr lang="en-US" sz="1100" dirty="0"/>
          </a:p>
        </p:txBody>
      </p:sp>
      <p:sp>
        <p:nvSpPr>
          <p:cNvPr id="30" name="Shape 28"/>
          <p:cNvSpPr/>
          <p:nvPr/>
        </p:nvSpPr>
        <p:spPr>
          <a:xfrm>
            <a:off x="7653528" y="5074920"/>
            <a:ext cx="2176272" cy="365760"/>
          </a:xfrm>
          <a:prstGeom prst="roundRect">
            <a:avLst>
              <a:gd name="adj" fmla="val 15000"/>
            </a:avLst>
          </a:prstGeom>
          <a:solidFill>
            <a:srgbClr val="F9AB00"/>
          </a:solidFill>
          <a:ln w="12700">
            <a:solidFill>
              <a:srgbClr val="F9AB00"/>
            </a:solidFill>
            <a:prstDash val="solid"/>
          </a:ln>
        </p:spPr>
      </p:sp>
      <p:sp>
        <p:nvSpPr>
          <p:cNvPr id="31" name="Text 29"/>
          <p:cNvSpPr/>
          <p:nvPr/>
        </p:nvSpPr>
        <p:spPr>
          <a:xfrm>
            <a:off x="7653528" y="5074920"/>
            <a:ext cx="2176272"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Operators</a:t>
            </a:r>
            <a:endParaRPr lang="en-US" sz="1100" dirty="0"/>
          </a:p>
        </p:txBody>
      </p:sp>
      <p:sp>
        <p:nvSpPr>
          <p:cNvPr id="32" name="Shape 30"/>
          <p:cNvSpPr/>
          <p:nvPr/>
        </p:nvSpPr>
        <p:spPr>
          <a:xfrm>
            <a:off x="9957816" y="5513832"/>
            <a:ext cx="2176272" cy="365760"/>
          </a:xfrm>
          <a:prstGeom prst="roundRect">
            <a:avLst>
              <a:gd name="adj" fmla="val 15000"/>
            </a:avLst>
          </a:prstGeom>
          <a:solidFill>
            <a:srgbClr val="16A34A"/>
          </a:solidFill>
          <a:ln w="12700">
            <a:solidFill>
              <a:srgbClr val="16A34A"/>
            </a:solidFill>
            <a:prstDash val="solid"/>
          </a:ln>
        </p:spPr>
      </p:sp>
      <p:sp>
        <p:nvSpPr>
          <p:cNvPr id="33" name="Text 31"/>
          <p:cNvSpPr/>
          <p:nvPr/>
        </p:nvSpPr>
        <p:spPr>
          <a:xfrm>
            <a:off x="9957816" y="5513832"/>
            <a:ext cx="2176272"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Structures</a:t>
            </a:r>
            <a:endParaRPr lang="en-US" sz="1100" dirty="0"/>
          </a:p>
        </p:txBody>
      </p:sp>
      <p:sp>
        <p:nvSpPr>
          <p:cNvPr id="34" name="Shape 32"/>
          <p:cNvSpPr/>
          <p:nvPr/>
        </p:nvSpPr>
        <p:spPr>
          <a:xfrm>
            <a:off x="5349240" y="5513832"/>
            <a:ext cx="2176272" cy="365760"/>
          </a:xfrm>
          <a:prstGeom prst="roundRect">
            <a:avLst>
              <a:gd name="adj" fmla="val 15000"/>
            </a:avLst>
          </a:prstGeom>
          <a:solidFill>
            <a:srgbClr val="7C3AED"/>
          </a:solidFill>
          <a:ln w="12700">
            <a:solidFill>
              <a:srgbClr val="7C3AED"/>
            </a:solidFill>
            <a:prstDash val="solid"/>
          </a:ln>
        </p:spPr>
      </p:sp>
      <p:sp>
        <p:nvSpPr>
          <p:cNvPr id="35" name="Text 33"/>
          <p:cNvSpPr/>
          <p:nvPr/>
        </p:nvSpPr>
        <p:spPr>
          <a:xfrm>
            <a:off x="5349240" y="5513832"/>
            <a:ext cx="2176272"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Conditionals</a:t>
            </a:r>
            <a:endParaRPr lang="en-US" sz="1100" dirty="0"/>
          </a:p>
        </p:txBody>
      </p:sp>
      <p:sp>
        <p:nvSpPr>
          <p:cNvPr id="36" name="Shape 34"/>
          <p:cNvSpPr/>
          <p:nvPr/>
        </p:nvSpPr>
        <p:spPr>
          <a:xfrm>
            <a:off x="7653528" y="5952744"/>
            <a:ext cx="2176272" cy="365760"/>
          </a:xfrm>
          <a:prstGeom prst="roundRect">
            <a:avLst>
              <a:gd name="adj" fmla="val 15000"/>
            </a:avLst>
          </a:prstGeom>
          <a:solidFill>
            <a:srgbClr val="0891B2"/>
          </a:solidFill>
          <a:ln w="12700">
            <a:solidFill>
              <a:srgbClr val="0891B2"/>
            </a:solidFill>
            <a:prstDash val="solid"/>
          </a:ln>
        </p:spPr>
      </p:sp>
      <p:sp>
        <p:nvSpPr>
          <p:cNvPr id="37" name="Text 35"/>
          <p:cNvSpPr/>
          <p:nvPr/>
        </p:nvSpPr>
        <p:spPr>
          <a:xfrm>
            <a:off x="7653528" y="5952744"/>
            <a:ext cx="2176272"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Loops</a:t>
            </a:r>
            <a:endParaRPr lang="en-US" sz="1100" dirty="0"/>
          </a:p>
        </p:txBody>
      </p:sp>
      <p:sp>
        <p:nvSpPr>
          <p:cNvPr id="38" name="Shape 36"/>
          <p:cNvSpPr/>
          <p:nvPr/>
        </p:nvSpPr>
        <p:spPr>
          <a:xfrm>
            <a:off x="9957816" y="5952744"/>
            <a:ext cx="2176272" cy="365760"/>
          </a:xfrm>
          <a:prstGeom prst="roundRect">
            <a:avLst>
              <a:gd name="adj" fmla="val 15000"/>
            </a:avLst>
          </a:prstGeom>
          <a:solidFill>
            <a:srgbClr val="D97706"/>
          </a:solidFill>
          <a:ln w="12700">
            <a:solidFill>
              <a:srgbClr val="D97706"/>
            </a:solidFill>
            <a:prstDash val="solid"/>
          </a:ln>
        </p:spPr>
      </p:sp>
      <p:sp>
        <p:nvSpPr>
          <p:cNvPr id="39" name="Text 37"/>
          <p:cNvSpPr/>
          <p:nvPr/>
        </p:nvSpPr>
        <p:spPr>
          <a:xfrm>
            <a:off x="9957816" y="5952744"/>
            <a:ext cx="2176272"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Functions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Data Fundamentals — Complete Teaching Deck</dc:title>
  <dc:subject>PptxGenJS Presentation</dc:subject>
  <dc:creator>Kajola Gbenga Adewale</dc:creator>
  <cp:lastModifiedBy>Kajola Gbenga Adewale</cp:lastModifiedBy>
  <cp:revision>1</cp:revision>
  <dcterms:created xsi:type="dcterms:W3CDTF">2026-06-24T08:50:16Z</dcterms:created>
  <dcterms:modified xsi:type="dcterms:W3CDTF">2026-06-24T08:50:16Z</dcterms:modified>
</cp:coreProperties>
</file>
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EDA is the process of examining a dataset to understand its structure, patterns, relationships, and anomalies BEFORE building models or creating dashboards. Every slide in this deck uses the eda_fintech_dataset.csv - a Nigerian FinTech customer transaction dataset with 5,000 rows and 23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introduction. Emphasise that EDA is not just 'looking at charts'. It is a systematic investigation. For every chart you draw, you should be asking: What does this shape tell me? Where are the outliers? Does this distribution make business sense? What would I expect to see and what do I actually see?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8-stage roadmap. Each stage has a purpose: Stage 1 prevents wasting time charting wrong dtypes. Stage 2-3 reveal distributions and relationships. Stage 4 reveals multivariate patterns. Stage 5 reveals temporal patterns. Stage 6-7 reveal outliers and correlations. Stage 8 reveals which features predict the target (churned).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overview. 23 columns cover every EDA technique in this deck. Amount column is the key numeric column - right-skewed distribution. Churned is the target variable for group analysis. Date/month/day_of_week enable time series analysis. Segment and region enable categorical grouping. Correlation analysis uses the 9 numeric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1. The key output from df.describe() on this dataset: amount mean (1,036,994) is far greater than amount median (188,000) - immediately revealing right-skew before drawing any chart. This is the first EDA insight. credit_score ranges 300-850. satisfaction ranges 1-10.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Histogram. The most important insight: when mean is much greater than median, the distribution is right-skewed. For the amount column: most customers (Student, Retail) transact NGN 5,000-200,000. But a few Corporate customers transact NGN 5M-50M. These few rows drag the mean to NGN 1.04M. This affects every average calculation in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KDE and skewness. The log transformation is one of the most important data transformations in analytics. After np.log1p(), the amount distribution changes from skewness 8.5 (extremely right-skewed) to approximately 0.3 (near symmetric). This matters for correlation analysis, regression modelling, and any analysis that assumes normality.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univariate analysis. The 6-subplot grid pattern is a professional EDA technique for rapidly surveying all categorical columns. Key findings: region is near-uniform (good - no sampling bias). Segment skews toward Retail and Student. Churn is 24% (meaningful minority class for prediction). Channel skews toward Mobile App (matches modern banking trend).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All-numeric loop pattern. This is the standard first EDA action for numeric columns. In one block of code it produces 9 charts. Key observations: age is roughly normal (mean=38). amount and fees_paid are extremely right-skewed. credit_score is roughly uniform. satisfaction is slightly left-skewed (mode=8). These observations guide the rest of the 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Scatter plot. Using np.log1p on the y-axis (amount) is critical - without it, Corporate points cluster at the top and all other segments appear flat at the bottom. The log scale reveals the relative differences within each segment. The correlation coefficient r on the chart quantifies what the visual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plot by segment. This is one of the most powerful bivariate charts in EDA. The 5 boxes show immediately that 'average amount' means completely different things for different segments. Corporate customers have a median of NGN 2.5M with outliers reaching 50M. Student customers have a median of NGN 15,000. Any model trained on all segments combined without this knowledge would be severely misleading.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bar chart. The pandas groupby on two columns is the key step. groupby(['channel','gender']) creates all channel-gender combinations. Seaborn's sns.barplot with hue='gender' is a simpler alternative: sns.barplot(data=df, x='channel', y='amount', hue='gender'). Both produce the same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heatmap. Three key findings: (1) amount-fees: 0.95 - expected since fees are derived from amount. (2) amount-balance: 0.72 - high transactors keep high balances. (3) monthly_txn-num_products: 0.55 - customers with more products transact more frequently. The mask=np.triu hides the upper triangle which is a mirror of the lower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plot. The hue='churned' is the key parameter. It transforms a simple exploratory chart into a feature importance visualization. Separation between red and blue clouds on any scatter indicates that variable is predictive of churn. Strong separation on satisfaction and credit_score diagonals confirms these as key churn predictors.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series section. Key findings from the dataset: December has the highest transaction count (471) and revenue - holiday spending peak. Friday has the highest weekday count (842) - people transact before the weekend. Sunday is lowest (403) - minimal banking activity. These patterns would drive decisions about when to run promotions, when to expect high server load, and when to schedule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 detection. The critical lesson: outliers are not always errors. In this dataset, amounts above NGN 1.535M are flagged by IQR as outliers, but 680 of them belong to Corporate customers - legitimate large transactions. Always investigate outliers before removing them. Ask: is this a data entry error or a real extreme value?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analysis. Key findings: (1) amount-fees correlation of 0.95 is a perfect example of a derived column relationship - ignore this, it is mathematical. (2) The churn correlation table is the most actionable: satisfaction (-0.35) and num_products (-0.28) are the strongest predictors. These directly suggest business actions: improve satisfaction scores and cross-sell more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analysis. This stage is the payoff of all the previous EDA work. The churn by segment chart immediately shows where the business problem is concentrated: Students (38%) and Branch channel (31%). The satisfaction overlap histogram shows churned customers cluster at scores 1-5 while retained customers cluster at 6-10. This is the most actionable slide in the entire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Summary. These 6 insights drive all subsequent decisions: model features (satisfaction, num_products), business strategy (Student retention programme, cross-sell campaign), engineering decisions (December capacity), and data science decisions (remove fees_paid before modelling - it leaks information about amount). EDA is done when you have insights that drive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cheat sheet. Print and distribute to students. The pattern across all EDA techniques: understand the data type -&gt; choose the right chart -&gt; compute the right statistic -&gt; interpret the result -&gt; derive an insight. Every technique in this sheet is covered in the accompanying notebook with the fintech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Three files for this session. The EDA findings directly feed the next session: satisfaction and num_products are the top features to include in a churn prediction model. The log-transformed amount column is the right format for regression. The Student segment is the priority business problem to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77440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402336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0" y="4352544"/>
            <a:ext cx="4846320" cy="2505456"/>
          </a:xfrm>
          <a:prstGeom prst="rect">
            <a:avLst/>
          </a:prstGeom>
          <a:solidFill>
            <a:srgbClr val="172041"/>
          </a:solidFill>
          <a:ln w="12700">
            <a:solidFill>
              <a:srgbClr val="172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4805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0" y="4864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457200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074920" y="2395728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74920" y="3072384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Teaching Deck - All Techniques with Code and Line-by-Line Explanations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3529584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eda_fintech_dataset.csv  |  5,000 rows x 23 columns  |  Google Colab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3950208"/>
            <a:ext cx="67665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405993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EDA Stages covered: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4964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87000" y="4370832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0" y="4370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4964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287000" y="4882896"/>
            <a:ext cx="1664208" cy="438912"/>
          </a:xfrm>
          <a:prstGeom prst="roundRect">
            <a:avLst>
              <a:gd name="adj" fmla="val 1458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87000" y="488289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EDA AND WHY DOES IT MATTER?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650992" cy="179222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778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78992"/>
            <a:ext cx="56509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08176"/>
            <a:ext cx="56509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1704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is a detective 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" y="1755648"/>
            <a:ext cx="5394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build a model first and then look at the data. You look at the data FIRST. EDA reveals what is in the dataset before you commit to any modelling or dashboard approach.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78992"/>
            <a:ext cx="5650992" cy="179222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078992"/>
            <a:ext cx="5650992" cy="493776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08176"/>
            <a:ext cx="56509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1704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Coined by John Tukey (1977)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7376" y="1755648"/>
            <a:ext cx="5394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Tukey introduced EDA in statistics. He said: 'Exploratory data analysis can never be the whole story, but nothing else can serve as the foundation stone.'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5650992" cy="179222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99232"/>
            <a:ext cx="5650992" cy="493776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328416"/>
            <a:ext cx="56509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30906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answers 5 questions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" y="3675888"/>
            <a:ext cx="5394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What are the distributions? (2) Are there outliers? (3) Are there correlations? (4) Are there time patterns? (5) How does the target variable differ across groups?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999232"/>
            <a:ext cx="5650992" cy="179222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778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2999232"/>
            <a:ext cx="5650992" cy="493776"/>
          </a:xfrm>
          <a:prstGeom prst="roundRect">
            <a:avLst>
              <a:gd name="adj" fmla="val 22222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328416"/>
            <a:ext cx="56509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0906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before modelling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37376" y="3675888"/>
            <a:ext cx="5394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EDA and your ML model learns from noise, outliers, and hidden biases. EDA surfaces these problems so you can fix them first.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974336"/>
            <a:ext cx="11338560" cy="1737360"/>
          </a:xfrm>
          <a:prstGeom prst="roundRect">
            <a:avLst>
              <a:gd name="adj" fmla="val 5263"/>
            </a:avLst>
          </a:prstGeom>
          <a:solidFill>
            <a:srgbClr val="FEF9C3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50474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Dataset: eda_fintech_dataset.csv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358384"/>
            <a:ext cx="11064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Nigerian FinTech customer transactions | 23 columns covering demographics, transaction behaviour, products, channels, credit scores, satisfaction, and churn | Date range: Jan - Dec 2024 | Target variable: churned (Yes/No) - 24% churn rate | Right-skewed amount column (median NGN 188K vs mean NGN 1.04M)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8-STAGE EDA ROADMAP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1133856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6236208"/>
            <a:ext cx="11338560" cy="512064"/>
          </a:xfrm>
          <a:prstGeom prst="roundRect">
            <a:avLst>
              <a:gd name="adj" fmla="val 14286"/>
            </a:avLst>
          </a:prstGeom>
          <a:solidFill>
            <a:srgbClr val="111E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629107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Always complete Stage 1 (Understand) before any other stage. Never draw a chart without first knowing your column types, missing values, and basic statistics.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- eda_fintech_dataset.csv (5,000 rows x 23 cols)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113385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1 - Understand the Data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dataset structure before drawing a single chart.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1 - Loading and Profiling eda_fintech_dataset.csv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559552"/>
          </a:xfrm>
          <a:prstGeom prst="roundRect">
            <a:avLst>
              <a:gd name="adj" fmla="val 1645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stage1.py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dataset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pd.read_csv('eda_fintech_dataset.csv')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# (5000, 23)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Structure check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# dtypes and null counts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Statistical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            # numeric cols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df.describe(include='object')    # text cols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# No nulls - clean dataset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Unique value counts per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df.nunique()       # see cardinality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Category distributions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df['region'].value_counts()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df['segment'].value_counts()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df['channel'].value_counts()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df['churned'].value_counts(normalize=True)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Yes: 0.24  No: 0.76  &amp;lt;- 24% churn rate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Separate numeric and categorical 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df.select_dtypes(include='number').columns.tolist()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cat_cols = df.select_dtypes(include='object').columns.tolist()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print(f'Numeric: {len(num_cols)}  Categorical: {len(cat_cols)}')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3B82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(5000, 23) - confirms 5,000 rows and 23 columns were loaded correctly.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column name, dtype, and non-null count. All 5,000 rows are non-null in this clean dataset.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count, mean, std, min, quartiles, max for all 9 numeric columns. amount min=2000, max=50,000,000 already shows the wide range.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NaN per column. This dataset is pre-cleaned so all return 0. In a raw dataset this would find problems.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df.nunique()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unique values per column. customer_id has 5000 unique values. gender has 2. region has 6. amount may have many unique values.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value_counts(normalize=True)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proportions instead of counts. churned: Yes=0.24, No=0.76 shows 24% churn rate immediately.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select_dtypes(include='number')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numeric columns. Returns a DataFrame with 9 columns: age, amount, balance, tenure_months, num_products, monthly_txn, credit_score, satisfaction, fees_paid.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5705856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509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575157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select_dtypes(include='object')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66530" y="575157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text/categorical columns. Returns 14 columns including customer_id, region, segment, channel, churned etc.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2 - Univariate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time. Understand each column individually.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2A - Histogram and KDE: Distribution of amount Column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8521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212080"/>
            <a:ext cx="5852160" cy="1536192"/>
          </a:xfrm>
          <a:prstGeom prst="roundRect">
            <a:avLst>
              <a:gd name="adj" fmla="val 5952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212080"/>
            <a:ext cx="58521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394960"/>
            <a:ext cx="58521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30352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3035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30352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2669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5596128"/>
            <a:ext cx="5577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 insight from shape: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Median (188K) &amp;lt;&amp;lt; Mean (1.04M)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 RIGHT SKEWED distribution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 customers transact small amounts, a few transact millions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46520" y="1024128"/>
            <a:ext cx="548640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1024128"/>
            <a:ext cx="54864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1207008"/>
            <a:ext cx="54864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745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757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768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8040" y="1078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hist_code.py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92824" y="1408176"/>
            <a:ext cx="52120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 of amount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plt.subplots(figsize=(12,6))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ax.hist(df['amount'], bins=50,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color='#3B82F6',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edgecolor='white',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alpha=0.85)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mean and median lines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ax.axvline(df['amount'].mean(),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color='#F43F5E',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linestyle='--',linewidth=2,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label=f'Mean: {df["amount"].mean():,.0f}')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ax.axvline(df['amount'].median(),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color='#F9AB00',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linestyle=':',linewidth=2,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label=f'Median: {df["amount"].median():,.0f}')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ax.set_title('Transaction Amount Distribution')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ax.set_xlabel('Amount (NGN)')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46520" y="4956048"/>
            <a:ext cx="5486400" cy="352958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50808" y="4956048"/>
            <a:ext cx="18288" cy="3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5001768"/>
            <a:ext cx="217627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842248" y="5001768"/>
            <a:ext cx="299923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46520" y="5309006"/>
            <a:ext cx="5486400" cy="352958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50808" y="5309006"/>
            <a:ext cx="18288" cy="35295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37960" y="5354726"/>
            <a:ext cx="217627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bins=50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842248" y="5354726"/>
            <a:ext cx="299923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data range into 50 equal-width buckets. More bins reveal more detail. Try 20, 50, 100 and compare.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46520" y="5661965"/>
            <a:ext cx="5486400" cy="352958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750808" y="5661965"/>
            <a:ext cx="18288" cy="35295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7960" y="5707685"/>
            <a:ext cx="217627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ax.axvline(mean)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842248" y="5707685"/>
            <a:ext cx="299923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vertical line at the mean value. Red dashed line shows where the average is.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46520" y="6014923"/>
            <a:ext cx="5486400" cy="352958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750808" y="6014923"/>
            <a:ext cx="18288" cy="35295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37960" y="6060643"/>
            <a:ext cx="217627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ax.axvline(median)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842248" y="6060643"/>
            <a:ext cx="299923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vertical line at the median. Yellow dotted line. When mean &amp;gt;&amp;gt; median, data is right-skewed.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446520" y="6367882"/>
            <a:ext cx="5486400" cy="352958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750808" y="6367882"/>
            <a:ext cx="18288" cy="35295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37960" y="6413602"/>
            <a:ext cx="217627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&amp;gt;&amp;gt; Median = right-skew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842248" y="6413602"/>
            <a:ext cx="299923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amount: mean=1.04M, median=188K. The right tail (a few very large Corporate transactions) pulls the mean far right.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2A - KDE Plot and Log Transformation for Skewed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943600" cy="4023360"/>
          </a:xfrm>
          <a:prstGeom prst="roundRect">
            <a:avLst>
              <a:gd name="adj" fmla="val 227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kde_log.py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566928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KDE (Kernel Density Estimate) - smoother than histogram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figsize=(14,6))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 plot: raw amount (skewed)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sns.histplot(df['amount'], kde=True,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ax=axes[0],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color='#3B82F6')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axes[0].set_title('amount - Raw (Right Skewed)')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 plot: log-transformed (symmetric)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df['log_amount'] = np.log1p(df['amount'])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sns.histplot(df['log_amount'], kde=True,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ax=axes[1],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color='#22C55E')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axes[1].set_title('log_amount - After np.log1p() (Symmetric)')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Skewness measurement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print(f'amount skewness:     {df["amount"].skew():.2f}')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amount skewness: ~8.5 (very right skewed)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print(f'log_amount skewness: {df["log_amount"].skew():.2f}')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log_amount skewness: ~0.3 (near symmetric)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024128"/>
            <a:ext cx="5394960" cy="585216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03843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06984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95283" y="106984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609344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3843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655064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sns.histplot(kde=True)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95283" y="1655064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histogram with a KDE (smooth curve) overlaid. kde=True adds the density curve. Shows the shape more clearly than bars alone.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194560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03843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240280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plt.subplots(1, 2)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95283" y="2240280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figure with 1 row and 2 columns of subplots. Returns (fig, axes). axes[0] is left plot, axes[1] is right plot.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779776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3843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825496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np.log1p(df['amount'])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95283" y="2825496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log(1+x) transformation. log1p is used instead of log to handle 0 values. Compresses the right tail - makes right-skewed data more symmetric.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3364992"/>
            <a:ext cx="539496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03843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410712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df.skew()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895283" y="3410712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skewness. 0 = perfectly symmetric. Positive = right-skewed (our amount = ~8.5). Negative = left-skewed. Rule: abs &amp;gt; 1 is significantly skewed.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3950208"/>
            <a:ext cx="539496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3843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995928"/>
            <a:ext cx="21378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log transform?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95283" y="3995928"/>
            <a:ext cx="29461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assume normally distributed features. Log-transforming a right-skewed numeric column improves model performance.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5138928"/>
            <a:ext cx="5943600" cy="1572768"/>
          </a:xfrm>
          <a:prstGeom prst="roundRect">
            <a:avLst>
              <a:gd name="adj" fmla="val 5814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513892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532180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" y="52303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" y="52303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832" y="52303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51937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skew.py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" y="5522976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Skewness for ALL numeric columns at once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df[num_cols].skew().sort_values(ascending=False)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amount        8.52  &amp;lt;- extremely skewed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fees_paid     8.50  &amp;lt;- same (fees = amount * rate)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balance       5.20  &amp;lt;- heavily skewed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satisfaction -0.42  &amp;lt;- slight left skew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           0.18  &amp;lt;- near normal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37960" y="5138928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37960" y="5138928"/>
            <a:ext cx="53949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5321808"/>
            <a:ext cx="53949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65976" y="52303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7144" y="52303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68312" y="52303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51937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kurt.py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84264" y="5522976"/>
            <a:ext cx="5120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Kurtosis - peakedness of the distribution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df['amount'].kurtosis()  # ~90 - very peaked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 kurtosis = heavy tails (many extreme values)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 plot - visualise skew and outliers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x='amount')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plt.title('Amount Box Plot'); plt.show()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2B - Univariate Analysis of Categorical Columns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4754880" cy="35661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4663440"/>
            <a:ext cx="4754880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49240" y="1024128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34924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4924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7725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7842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7959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8076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cat_count.py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95544" y="1408176"/>
            <a:ext cx="63093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plot - categorical frequency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plt.subplots(2,3,figsize=(16,10))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cat_to_plot = ['region','segment','channel','gender','product','churned']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col in enumerate(cat_to_plot):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 = axes[i//3][i%3]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= df[col].value_counts().index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sns.countplot(data=df, x=col,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order=order,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palette='Set2',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ax=ax)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ax.set_title(f'{col} Distribution')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ax.set_xlabel('')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ax.tick_params(axis='x',rotation=30)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349240" y="4133088"/>
            <a:ext cx="6583680" cy="323469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14386" y="4133088"/>
            <a:ext cx="18288" cy="3234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40680" y="4178808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05826" y="4178808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49240" y="4456557"/>
            <a:ext cx="6583680" cy="323469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14386" y="4456557"/>
            <a:ext cx="18288" cy="32346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40680" y="4502277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plt.subplots(2,3)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205826" y="4502277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2-row by 3-column grid of subplots. Perfect for comparing 6 categorical columns side by side.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349240" y="4780026"/>
            <a:ext cx="6583680" cy="323469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14386" y="4780026"/>
            <a:ext cx="18288" cy="32346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40680" y="4825746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axes[i//3][i%3]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205826" y="4825746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chart to the correct subplot cell. i//3 is the row (0 or 1). i%3 is the column (0, 1, or 2).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349240" y="5103495"/>
            <a:ext cx="6583680" cy="323469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14386" y="5103495"/>
            <a:ext cx="18288" cy="32346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440680" y="5149215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value_counts().index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8205826" y="5149215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category names sorted by frequency (most common first). Passing to order= sorts the bars from tallest to shortest.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349240" y="5426964"/>
            <a:ext cx="6583680" cy="323469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114386" y="5426964"/>
            <a:ext cx="18288" cy="32346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40680" y="5472684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sns.countplot()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8205826" y="5472684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bar chart where each bar height = count of that category. Does not require pre-aggregation - counts automatically.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349240" y="5750433"/>
            <a:ext cx="6583680" cy="323469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114386" y="5750433"/>
            <a:ext cx="18288" cy="32346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440680" y="5796153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ax.tick_params(rotation=30)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8205826" y="5796153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x-axis labels by 30 degrees so long category names like 'Port Harcourt' do not overlap.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5349240" y="6073902"/>
            <a:ext cx="6583680" cy="323469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114386" y="6073902"/>
            <a:ext cx="18288" cy="32346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40680" y="6119622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finding: region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8205826" y="6119622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regions are roughly equal (~800-860 each). No region is dramatically underrepresented.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5349240" y="6397371"/>
            <a:ext cx="6583680" cy="323469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14386" y="6397371"/>
            <a:ext cx="18288" cy="32346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40680" y="6443091"/>
            <a:ext cx="263713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finding: segment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8205826" y="6443091"/>
            <a:ext cx="3635654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(1,551) and Student (1,144) dominate. Corporate (734) and Premium (716) are smaller but high-value segments.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2B - Plotting All Numeric Columns in a Loop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943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590288"/>
            <a:ext cx="5943600" cy="2157984"/>
          </a:xfrm>
          <a:prstGeom prst="roundRect">
            <a:avLst>
              <a:gd name="adj" fmla="val 4237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459028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477316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468172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46817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46817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46451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sat_note.py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4974336"/>
            <a:ext cx="56692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satisfaction: near-normal, slight left skew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Mean=7.2  Median=7.5  Mode=8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Customers generally satisfied but low-end 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(scores 1-4) are the churn risk group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37960" y="1024128"/>
            <a:ext cx="5394960" cy="4151376"/>
          </a:xfrm>
          <a:prstGeom prst="roundRect">
            <a:avLst>
              <a:gd name="adj" fmla="val 220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1024128"/>
            <a:ext cx="53949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207008"/>
            <a:ext cx="53949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6597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6714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6831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10789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all_numeric.py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84264" y="1408176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Plot histograms for ALL numeric cols at once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['age','amount','balance','tenure_months',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'num_products','monthly_txn',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'credit_score','satisfaction','fees_paid']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plt.subplots(3, 3, figsize=(16,12))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col in enumerate(num_cols):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 = axes[i//3][i%3]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sns.histplot(df[col], kde=True,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ax=ax,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color='#3B82F6')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ax.set_title(f'{col}')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ax.axvline(df[col].mean(), color='red',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linestyle='--', linewidth=1.5)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ax.axvline(df[col].median(), color='orange',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linestyle=':', linewidth=1.5)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plt.suptitle('All Numeric Column Distributions',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fontsize=16, fontweight='bold')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537960" y="5248656"/>
            <a:ext cx="5394960" cy="245364"/>
          </a:xfrm>
          <a:prstGeom prst="rect">
            <a:avLst/>
          </a:prstGeom>
          <a:solidFill>
            <a:srgbClr val="22C5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03843" y="5248656"/>
            <a:ext cx="18288" cy="245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5294376"/>
            <a:ext cx="213786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895283" y="5294376"/>
            <a:ext cx="294619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37960" y="5494020"/>
            <a:ext cx="5394960" cy="245364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03843" y="5494020"/>
            <a:ext cx="18288" cy="2453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5539740"/>
            <a:ext cx="213786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plt.subplots(3, 3)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895283" y="5539740"/>
            <a:ext cx="294619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9 subplots in a 3x3 grid. Perfect for 9 numeric columns - one per subplot.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37960" y="5739384"/>
            <a:ext cx="5394960" cy="245364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03843" y="5739384"/>
            <a:ext cx="18288" cy="2453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5785104"/>
            <a:ext cx="213786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col in enumerate(num_cols)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895283" y="5785104"/>
            <a:ext cx="294619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each column with its index. i goes 0,1,2,...8 for 9 columns.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37960" y="5984748"/>
            <a:ext cx="5394960" cy="245364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03843" y="5984748"/>
            <a:ext cx="18288" cy="2453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29400" y="6030468"/>
            <a:ext cx="213786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kde=True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895283" y="6030468"/>
            <a:ext cx="294619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smoothed density curve over the histogram. Reveals the shape (normal, skewed, bimodal) more clearly.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37960" y="6230112"/>
            <a:ext cx="5394960" cy="245364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803843" y="6230112"/>
            <a:ext cx="18288" cy="2453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9400" y="6275832"/>
            <a:ext cx="213786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plt.suptitle()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895283" y="6275832"/>
            <a:ext cx="294619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overall title above all subplots. Different from ax.set_title() which titles individual subplots.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6475476"/>
            <a:ext cx="5394960" cy="245364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03843" y="6475476"/>
            <a:ext cx="18288" cy="2453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9400" y="6521196"/>
            <a:ext cx="213786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look for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895283" y="6521196"/>
            <a:ext cx="2946197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 are normal? Which are skewed? Any bimodal distributions? Any columns with suspicious spikes?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3 - Bivariate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at a time. Discover relationships.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3A - Scatter Plot: credit_score vs amount by Segment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85216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687568"/>
            <a:ext cx="5852160" cy="1024128"/>
          </a:xfrm>
          <a:prstGeom prst="roundRect">
            <a:avLst>
              <a:gd name="adj" fmla="val 8929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687568"/>
            <a:ext cx="58521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870448"/>
            <a:ext cx="58521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77900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7790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77900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" y="607161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 insight: Corporate (blue) clusters top-right.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Students (red) cluster bottom-left.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Higher credit score correlates with higher amount.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46520" y="1024128"/>
            <a:ext cx="5486400" cy="3749040"/>
          </a:xfrm>
          <a:prstGeom prst="roundRect">
            <a:avLst>
              <a:gd name="adj" fmla="val 2439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024128"/>
            <a:ext cx="54864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1207008"/>
            <a:ext cx="54864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745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757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768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1078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92824" y="1408176"/>
            <a:ext cx="521208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 plot coloured by segment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plt.subplots(figsize=(12,7))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{'Corporate':'#3B82F6','Premium':'#8B5CF6',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'SME':'#F59E0B','Retail':'#22C55E','Student':'#F43F5E'}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seg, grp in df.groupby('segment'):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ax.scatter(grp['credit_score'],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np.log1p(grp['amount']),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label=seg,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alpha=0.4, s=30,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color=colors[seg])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ax.set_xlabel('Credit Score')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ax.set_ylabel('log(Amount + 1)')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ax.set_title('Credit Score vs Transaction Amount')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ax.legend(title='Segment')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correlation annotation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df['credit_score'].corr(np.log1p(df['amount']))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ax.text(0.05, 0.95, f'r = {r:.3f}',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transform=ax.transAxes,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bbox=dict(boxstyle='round',facecolor='yellow',alpha=0.3))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46520" y="4846320"/>
            <a:ext cx="5486400" cy="267789"/>
          </a:xfrm>
          <a:prstGeom prst="rect">
            <a:avLst/>
          </a:prstGeom>
          <a:solidFill>
            <a:srgbClr val="F59E0B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50808" y="4846320"/>
            <a:ext cx="18288" cy="26778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4892040"/>
            <a:ext cx="217627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842248" y="4892040"/>
            <a:ext cx="299923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46520" y="5114109"/>
            <a:ext cx="5486400" cy="267789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50808" y="5114109"/>
            <a:ext cx="18288" cy="26778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5159829"/>
            <a:ext cx="217627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df.groupby('segment')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842248" y="5159829"/>
            <a:ext cx="299923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DataFrame into 5 groups by segment. Each group has its own colour, allowing visual separation of clusters.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46520" y="5381897"/>
            <a:ext cx="5486400" cy="267789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50808" y="5381897"/>
            <a:ext cx="18288" cy="26778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5427617"/>
            <a:ext cx="217627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np.log1p(grp['amount'])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842248" y="5427617"/>
            <a:ext cx="299923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Log-transforms the y-axis. Without this, Corporate transactions (50M) would squash all Retail/Student points to the bottom.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46520" y="5649686"/>
            <a:ext cx="5486400" cy="267789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50808" y="5649686"/>
            <a:ext cx="18288" cy="26778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5695406"/>
            <a:ext cx="217627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alpha=0.4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842248" y="5695406"/>
            <a:ext cx="299923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point transparency to 40%. Overlapping points are visible as darker areas. alpha=1.0 would hide overlap.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46520" y="5917474"/>
            <a:ext cx="5486400" cy="267789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750808" y="5917474"/>
            <a:ext cx="18288" cy="26778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37960" y="5963194"/>
            <a:ext cx="217627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s=30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842248" y="5963194"/>
            <a:ext cx="299923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scatter point. Larger s = bigger dots. Can be set to a variable: s=df['num_products']*10 for bubble chart.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446520" y="6185263"/>
            <a:ext cx="5486400" cy="267789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750808" y="6185263"/>
            <a:ext cx="18288" cy="26778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37960" y="6230983"/>
            <a:ext cx="217627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df['a'].corr(df['b'])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842248" y="6230983"/>
            <a:ext cx="299923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 between two columns. r=0.45 means moderate positive correlation.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446520" y="6453051"/>
            <a:ext cx="5486400" cy="267789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750808" y="6453051"/>
            <a:ext cx="18288" cy="26778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37960" y="6498771"/>
            <a:ext cx="217627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ax.transAxes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842248" y="6498771"/>
            <a:ext cx="2999232" cy="1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relative to the axes (0.05, 0.95 = 5% from left, 95% from bottom). Keeps the annotation inside the chart.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3B - Box Plot by Group: amount Across Segments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21792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6035040"/>
            <a:ext cx="6217920" cy="713232"/>
          </a:xfrm>
          <a:prstGeom prst="roundRect">
            <a:avLst>
              <a:gd name="adj" fmla="val 1282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6035040"/>
            <a:ext cx="621792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17920"/>
            <a:ext cx="621792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612648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61264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61264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" y="6419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Corporate median: 2.5M  |  Student median: 15K  |  50x difference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12280" y="1024128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12280" y="1024128"/>
            <a:ext cx="51206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1207008"/>
            <a:ext cx="51206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02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414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426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10789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box_seg.py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58584" y="1408176"/>
            <a:ext cx="4846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 plot of amount by segment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plt.subplots(figsize=(12,7))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['Corporate','Premium','SME',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'Retail','Student']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data=df,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x='segment',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y='amount',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order=order,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palette='Set2',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width=0.5,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flierprops={'marker':'o',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'color':'red',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'markersize':4}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ax.set_title('Transaction Amount by Segment')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ax.set_ylabel('Amount (NGN)')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Y-axis formatting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matplotlib.ticker as mticker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ax.yaxis.set_major_formatter(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mticker.FuncFormatter(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lambda x,_: f'NGN {x/1e6:.1f}M' if x&amp;gt;=1e6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f'NGN {x/1e3:.0f}K'))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12280" y="4937760"/>
            <a:ext cx="5120640" cy="297180"/>
          </a:xfrm>
          <a:prstGeom prst="rect">
            <a:avLst/>
          </a:prstGeom>
          <a:solidFill>
            <a:srgbClr val="F59E0B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62949" y="4937760"/>
            <a:ext cx="18288" cy="2971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4983480"/>
            <a:ext cx="20226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054389" y="4983480"/>
            <a:ext cx="278709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12280" y="5234940"/>
            <a:ext cx="5120640" cy="29718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62949" y="5234940"/>
            <a:ext cx="18288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03720" y="5280660"/>
            <a:ext cx="20226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order=['Corporate',...]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054389" y="5280660"/>
            <a:ext cx="278709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x-axis order of boxes. Without this, seaborn uses alphabetical order. Ordered from highest to lowest makes the comparison clearer.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12280" y="5532120"/>
            <a:ext cx="5120640" cy="29718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62949" y="5532120"/>
            <a:ext cx="18288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03720" y="5577840"/>
            <a:ext cx="20226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flierprops={'color':'red'}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054389" y="5577840"/>
            <a:ext cx="278709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the outlier dots beyond the whiskers. Setting color='red' makes outliers immediately visible.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12280" y="5829300"/>
            <a:ext cx="5120640" cy="29718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62949" y="5829300"/>
            <a:ext cx="18288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03720" y="5875020"/>
            <a:ext cx="20226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width=0.5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9054389" y="5875020"/>
            <a:ext cx="278709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wide each box is. 0.5 = half the available space. Narrower boxes with more white space look professional.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12280" y="6126480"/>
            <a:ext cx="5120640" cy="29718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962949" y="6126480"/>
            <a:ext cx="18288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6172200"/>
            <a:ext cx="20226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FuncFormatter(lambda)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9054389" y="6172200"/>
            <a:ext cx="278709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y-axis label formatter. Converts 2000000 to 'NGN 2.0M'. Makes financial charts readable.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812280" y="6423660"/>
            <a:ext cx="5120640" cy="29718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962949" y="6423660"/>
            <a:ext cx="18288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03720" y="6469380"/>
            <a:ext cx="20226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9054389" y="6469380"/>
            <a:ext cx="278709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segments span 3 orders of magnitude in amount. A single global average (NGN 1.04M) is meaningless - you must always report segment-level statistics.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3C - Grouped Bar Chart: Amount by Channel and Gender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85216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760720"/>
            <a:ext cx="5852160" cy="987552"/>
          </a:xfrm>
          <a:prstGeom prst="roundRect">
            <a:avLst>
              <a:gd name="adj" fmla="val 9259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760720"/>
            <a:ext cx="58521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943600"/>
            <a:ext cx="58521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85216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8521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85216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" y="6144768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Insight: Branch channel has highest amounts (in-person large transactions)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Gender gap is small (~5%) across all channels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46520" y="1024128"/>
            <a:ext cx="5486400" cy="3255264"/>
          </a:xfrm>
          <a:prstGeom prst="roundRect">
            <a:avLst>
              <a:gd name="adj" fmla="val 2809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024128"/>
            <a:ext cx="54864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1207008"/>
            <a:ext cx="54864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7453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7570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7687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1078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92824" y="1408176"/>
            <a:ext cx="52120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Grouped bar - two categorical variables vs numeric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channel_gender = (df.groupby(['channel','gender'])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['amount'].mean()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.reset_index())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plt.subplots(figsize=(12,6))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 = df['channel'].unique()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np.arange(len(channels))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= 0.35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  = channel_gender[channel_gender['gender']=='Male']['amount']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= channel_gender[channel_gender['gender']=='Female']['amount']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ax.bar(x - width/2, male,   width, label='Male',   color='#3B82F6')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ax.bar(x + width/2, female, width, label='Female', color='#EC4899')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ax.set_xticks(x); ax.set_xticklabels(channels, rotation=30)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ax.legend(); ax.set_title('Avg Amount by Channel and Gender')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46520" y="4352544"/>
            <a:ext cx="5486400" cy="394716"/>
          </a:xfrm>
          <a:prstGeom prst="rect">
            <a:avLst/>
          </a:prstGeom>
          <a:solidFill>
            <a:srgbClr val="F59E0B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50808" y="4352544"/>
            <a:ext cx="18288" cy="3947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4398264"/>
            <a:ext cx="217627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842248" y="4398264"/>
            <a:ext cx="299923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46520" y="4747260"/>
            <a:ext cx="5486400" cy="3947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50808" y="4747260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4792980"/>
            <a:ext cx="217627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groupby(['channel','gender'])['amount'].mean()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842248" y="4792980"/>
            <a:ext cx="299923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by BOTH channel and gender simultaneously, then computes the mean amount for each combination. Returns a multi-indexed result.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46520" y="5141976"/>
            <a:ext cx="5486400" cy="3947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50808" y="5141976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5187696"/>
            <a:ext cx="217627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842248" y="5187696"/>
            <a:ext cx="299923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multi-index back to regular columns. Needed to filter by gender in the next step.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46520" y="5536692"/>
            <a:ext cx="5486400" cy="3947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50808" y="5536692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5582412"/>
            <a:ext cx="217627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np.arange(len(channels))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842248" y="5582412"/>
            <a:ext cx="299923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numeric positions [0,1,2,3,4] for the 5 channels. Used for bar placement.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46520" y="5931408"/>
            <a:ext cx="5486400" cy="3947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750808" y="5931408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37960" y="5977128"/>
            <a:ext cx="217627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ax.bar(x - width/2, male)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842248" y="5977128"/>
            <a:ext cx="299923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bars are placed at x-0.175 (slightly left of center). Female bars at x+0.175 (slightly right). This creates the grouped effect.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446520" y="6326124"/>
            <a:ext cx="5486400" cy="3947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750808" y="6326124"/>
            <a:ext cx="18288" cy="394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37960" y="6371844"/>
            <a:ext cx="217627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set_xticks(x) + set_xticklabels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842248" y="6371844"/>
            <a:ext cx="2999232" cy="30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numeric positions back to channel names for the x-axis labels.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4 - Multivariate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variables together. Reveal hidden patterns.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4A - Correlation Heatmap: All Numeric Columns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53035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024128"/>
            <a:ext cx="603504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1024128"/>
            <a:ext cx="60350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97880" y="1207008"/>
            <a:ext cx="60350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258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270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10789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44184" y="1408176"/>
            <a:ext cx="57607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 heatmap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df.select_dtypes(include='number').columns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corr_matrix = df[num_cols].corr()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plt.subplots(figsize=(11,9))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np.triu(np.ones_like(corr_matrix, dtype=bool))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corr_matrix,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annot=True,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fmt='.2f',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cmap='coolwarm',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center=0,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mask=mask,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square=True,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linewidths=0.5,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ax=ax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ax.set_title('Correlation Matrix - Numeric Columns')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97880" y="4297680"/>
            <a:ext cx="6035040" cy="269240"/>
          </a:xfrm>
          <a:prstGeom prst="rect">
            <a:avLst/>
          </a:prstGeom>
          <a:solidFill>
            <a:srgbClr val="8B5C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32597" y="4297680"/>
            <a:ext cx="18288" cy="26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434340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24037" y="434340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97880" y="4566920"/>
            <a:ext cx="6035040" cy="26924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32597" y="456692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461264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df[num_cols].corr()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524037" y="461264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pairwise Pearson correlation between all numeric columns. Returns an NxN matrix where N = number of numeric columns.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97880" y="4836160"/>
            <a:ext cx="6035040" cy="26924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32597" y="483616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488188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np.triu(np.ones_like())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524037" y="488188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mask for the upper triangle. Applied to heatmap so only the lower triangle is shown (avoiding duplicate information).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97880" y="5105400"/>
            <a:ext cx="6035040" cy="26924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32597" y="510540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515112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cmap='coolwarm'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24037" y="515112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negative correlation. White = near zero. Red = positive correlation. 'viridis' and 'Blues' are other popular choices.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97880" y="5374640"/>
            <a:ext cx="6035040" cy="26924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32597" y="537464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9320" y="542036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center=0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524037" y="542036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the colour scale at 0. Ensures white = no correlation, red = positive, blue = negative.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97880" y="5643880"/>
            <a:ext cx="6035040" cy="26924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32597" y="564388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9320" y="568960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fmt='.2f'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524037" y="568960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annotation numbers to 2 decimal places. '.2f' means 2 decimal fixed-point format.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97880" y="5913120"/>
            <a:ext cx="6035040" cy="26924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32597" y="591312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89320" y="595884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insight: amount-fees (0.95)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24037" y="595884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fees_paid = amount * fee_rate, so near-perfect correlation. This is expected. High correlation between derived columns is normal.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897880" y="6182360"/>
            <a:ext cx="6035040" cy="26924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432597" y="618236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89320" y="622808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insight: amount-balance (0.72)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524037" y="622808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transaction amounts tend to maintain higher balances. Strong positive relationship.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897880" y="6451600"/>
            <a:ext cx="6035040" cy="26924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432597" y="6451600"/>
            <a:ext cx="18288" cy="26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89320" y="6497320"/>
            <a:ext cx="240670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insight: age-amount (0.05)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524037" y="6497320"/>
            <a:ext cx="33174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correlation. Age alone does not predict transaction size in this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4B - Pair Plot: All Numeric Relationships at Once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943600" cy="4663440"/>
          </a:xfrm>
          <a:prstGeom prst="roundRect">
            <a:avLst>
              <a:gd name="adj" fmla="val 196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59436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59436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pairplot.py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5669280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 plot - the ultimate EDA multivariate tool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WARNING: slow with many columns - select key ones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key_cols = ['amount','credit_score','satisfaction',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'tenure_months','num_products','churned']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df[key_cols],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hue='churned',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vars=['amount','credit_score',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'satisfaction','tenure_months'],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plot_kws={'alpha':0.3, 's':20},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diag_kind='kde',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palette={'Yes':'#F43F5E','No':'#3B82F6'}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plt.suptitle('Pair Plot Coloured by Churn',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y=1.02, fontsize=14)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plt.savefig('pairplot_churn.png',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dpi=120, bbox_inches='tight')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5760720"/>
            <a:ext cx="5943600" cy="240030"/>
          </a:xfrm>
          <a:prstGeom prst="rect">
            <a:avLst/>
          </a:prstGeom>
          <a:solidFill>
            <a:srgbClr val="8B5C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7792" y="5760720"/>
            <a:ext cx="18288" cy="2400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806440"/>
            <a:ext cx="2368296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5806440"/>
            <a:ext cx="3264408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6000750"/>
            <a:ext cx="5943600" cy="24003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07792" y="6000750"/>
            <a:ext cx="18288" cy="24003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046470"/>
            <a:ext cx="2368296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hue='churned'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99232" y="6046470"/>
            <a:ext cx="3264408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points by the churned column. Red=Yes (churned), Blue=No (retained). Immediately shows which features separate churned from retained customers.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6240780"/>
            <a:ext cx="5943600" cy="24003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07792" y="6240780"/>
            <a:ext cx="18288" cy="24003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286500"/>
            <a:ext cx="2368296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vars=[...]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99232" y="6286500"/>
            <a:ext cx="3264408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which columns to include. With 9 numeric columns, pairplot creates an 81-chart grid. Selecting 4 creates a manageable 16-chart grid.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6480810"/>
            <a:ext cx="5943600" cy="24003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7792" y="6480810"/>
            <a:ext cx="18288" cy="24003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26530"/>
            <a:ext cx="2368296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diag_kind='kde'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99232" y="6526530"/>
            <a:ext cx="3264408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curves on the diagonal instead of histograms. Better for comparing churned vs retained distributions on the diagonal.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1024128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7960" y="1024128"/>
            <a:ext cx="53949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1207008"/>
            <a:ext cx="53949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6597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6714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6831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10789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84264" y="1408176"/>
            <a:ext cx="5120640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Pivot table - multivariate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= pd.pivot_table(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index='segment',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columns='channel',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values='amount',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aggfunc='mean',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fill_value=0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1e6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print(pivot.round(2))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 output: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    Mobile App  Branch  Web  USSD  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segment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Corporate   2.8        3.1     2.9  2.5   2.3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Premium     0.9        1.0     0.8  0.7   0.7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SME         0.4        0.5     0.4  0.3   0.3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Retail      0.1        0.1     0.1  0.1   0.1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    0.02       0.02    0.02 0.02  0.02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Heatmap of the pivot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sns.heatmap(pivot, annot=True, fmt='.2f',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cmap='YlOrRd')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plt.title('Avg Amount (NGN M): Segment x Channel')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5760720"/>
            <a:ext cx="5394960" cy="240030"/>
          </a:xfrm>
          <a:prstGeom prst="rect">
            <a:avLst/>
          </a:prstGeom>
          <a:solidFill>
            <a:srgbClr val="8B5CF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03843" y="5760720"/>
            <a:ext cx="18288" cy="2400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5806440"/>
            <a:ext cx="213786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895283" y="5806440"/>
            <a:ext cx="294619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37960" y="6000750"/>
            <a:ext cx="5394960" cy="24003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3843" y="6000750"/>
            <a:ext cx="18288" cy="24003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6046470"/>
            <a:ext cx="213786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pd.pivot_table(index,columns,values,aggfunc)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895283" y="6046470"/>
            <a:ext cx="294619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cross-tabulation matrix. Rows = segments (5), Columns = channels (5), Values = mean amount. Result: 5x5 matrix.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7960" y="6240780"/>
            <a:ext cx="5394960" cy="24003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3843" y="6240780"/>
            <a:ext cx="18288" cy="24003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6286500"/>
            <a:ext cx="213786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1e6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895283" y="6286500"/>
            <a:ext cx="294619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all values by 1,000,000 to convert NGN to NGN Millions. Makes the numbers in the heatmap readable.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37960" y="6480810"/>
            <a:ext cx="5394960" cy="24003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3843" y="6480810"/>
            <a:ext cx="18288" cy="24003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9400" y="6526530"/>
            <a:ext cx="213786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 on pivot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895283" y="6526530"/>
            <a:ext cx="294619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the cross-tab as a colour grid. Darker = higher average amount. Immediately shows Corporate+Branch as highest combination.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5 - Time Series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over time. Seasonality. Day-of-week effects.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5 - Monthly Trends and Day-of-Week Patterns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217920" cy="35661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4663440"/>
            <a:ext cx="6217920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12280" y="1024128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812280" y="1024128"/>
            <a:ext cx="51206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12280" y="1207008"/>
            <a:ext cx="51206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402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414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426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43800" y="10789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time_series.py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958584" y="1408176"/>
            <a:ext cx="4846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date and extract time parts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pd.to_datetime(df['date'])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Monthly transaction 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= df.groupby('month_num').agg(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  =('customer_id','count'),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revenue =('amount','sum'),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avg_amt =('amount','mean')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plt.subplots(1,2,figsize=(16,6))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trend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axes[0].plot(monthly['month_num'],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monthly['count'],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marker='o',color='#06B6D4',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linewidth=2.5)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axes[0].set_title('Monthly Transaction Count')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axes[0].set_xticks(range(1,13))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axes[0].set_xticklabels(['Jan','Feb','Mar','Apr','May','Jun',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'Jul','Aug','Sep','Oct','Nov','Dec'])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Revenue trend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axes[1].fill_between(monthly['month_num'],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monthly['revenue']/1e6,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alpha=0.3,color='#22C55E')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axes[1].plot(monthly['month_num'],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monthly['revenue']/1e6,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color='#22C55E',linewidth=2.5)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axes[1].set_title('Monthly Revenue (NGN Millions)')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812280" y="4206240"/>
            <a:ext cx="5120640" cy="502920"/>
          </a:xfrm>
          <a:prstGeom prst="rect">
            <a:avLst/>
          </a:prstGeom>
          <a:solidFill>
            <a:srgbClr val="06B6D4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62949" y="420624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03720" y="4251960"/>
            <a:ext cx="20226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054389" y="4251960"/>
            <a:ext cx="278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812280" y="4709160"/>
            <a:ext cx="5120640" cy="50292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2949" y="4709160"/>
            <a:ext cx="1828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03720" y="4754880"/>
            <a:ext cx="20226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df.groupby('month_num').agg(...)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054389" y="4754880"/>
            <a:ext cx="278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all rows by month number (1-12) and computes count, sum, and mean for each month.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12280" y="5212080"/>
            <a:ext cx="5120640" cy="50292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962949" y="5212080"/>
            <a:ext cx="1828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03720" y="5257800"/>
            <a:ext cx="20226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plt.subplots(1,2)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054389" y="5257800"/>
            <a:ext cx="278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time series: left shows count trend, right shows revenue trend. Both use the same x-axis (months).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812280" y="5715000"/>
            <a:ext cx="5120640" cy="50292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962949" y="5715000"/>
            <a:ext cx="1828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03720" y="5760720"/>
            <a:ext cx="20226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fill_between(x, y, alpha=0.3)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9054389" y="5760720"/>
            <a:ext cx="278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area under the line with transparent colour. Creates an area chart effect for the revenue trend.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812280" y="6217920"/>
            <a:ext cx="5120640" cy="50292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962949" y="6217920"/>
            <a:ext cx="1828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903720" y="6263640"/>
            <a:ext cx="20226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set_xticks + set_xticklabels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9054389" y="6263640"/>
            <a:ext cx="27870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month numbers (1,2,...12) with month names (Jan,Feb,...Dec) on the x-axis.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812280" y="6035040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812280" y="6035040"/>
            <a:ext cx="51206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812280" y="6217920"/>
            <a:ext cx="51206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940296" y="6126480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141464" y="61264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342632" y="61264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543800" y="60899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dow.py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958584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Day-of-week pattern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 = df.groupby('day_of_week')['customer_id'].count().reset_index()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order=['Monday','Tuesday','Wednesday','Thursday','Friday','Saturday','Sunday']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sns.barplot(data=dow,x='day_of_week',y='customer_id',order=order,palette='Set2')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6 - Outlier 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extreme values that distort your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6 - IQR and Z-Score Outlier Detection on amount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4008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321808"/>
            <a:ext cx="6400800" cy="1426464"/>
          </a:xfrm>
          <a:prstGeom prst="roundRect">
            <a:avLst>
              <a:gd name="adj" fmla="val 6410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5321808"/>
            <a:ext cx="640080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5504688"/>
            <a:ext cx="640080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541324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54132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541324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53766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iqr_note.py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" y="5705856"/>
            <a:ext cx="6126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amount: Q1=60K  Q3=650K  IQR=590K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Upper fence = 650,000 + 1.5*590,000 = 1,535,000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Corporate transactions above 1.535M are flagged as outliers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BUT: they are legitimate! Corporate customers DO spend millions.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95160" y="1024128"/>
            <a:ext cx="4937760" cy="4169664"/>
          </a:xfrm>
          <a:prstGeom prst="roundRect">
            <a:avLst>
              <a:gd name="adj" fmla="val 2193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95160" y="1024128"/>
            <a:ext cx="493776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95160" y="1207008"/>
            <a:ext cx="493776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2317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2434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2551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10789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outlier_code.py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41464" y="1408176"/>
            <a:ext cx="466344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IQR method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df['amount'].quantile(0.25)  # ~60,000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df['amount'].quantile(0.75)  # ~650,000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                     # ~590,000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Q1 - 1.5 * IQR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= Q3 + 1.5 * IQR  # ~1,535,000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df[(df['amount']&amp;lt;lower)|(df['amount']&amp;gt;upper)]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print(f'Outliers: {len(outliers)}')  # ~800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print(outliers['segment'].value_counts())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Corporate: 680  Premium: 120  &amp;lt;- makes sense!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Z-Score method (use on log-transformed)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log_amt = np.log1p(df['amount'])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np.abs(stats.zscore(log_amt))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outliers_z = df[z &amp;gt; 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print(f'Z-score outliers: {len(outliers_z)}')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Capping - do not remove, just limit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df['amount_capped'] = df['amount'].clip(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upper=upper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95160" y="5266944"/>
            <a:ext cx="4937760" cy="242316"/>
          </a:xfrm>
          <a:prstGeom prst="rect">
            <a:avLst/>
          </a:prstGeom>
          <a:solidFill>
            <a:srgbClr val="F43F5E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69019" y="5266944"/>
            <a:ext cx="18288" cy="2423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6600" y="5312664"/>
            <a:ext cx="1945843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60459" y="5312664"/>
            <a:ext cx="2681021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95160" y="5509260"/>
            <a:ext cx="4937760" cy="2423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69019" y="5509260"/>
            <a:ext cx="18288" cy="2423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86600" y="5554980"/>
            <a:ext cx="1945843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quantile(0.25/0.75)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160459" y="5554980"/>
            <a:ext cx="2681021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Q1 and Q3 values. 25% of amounts fall below Q1 (60K). 75% fall below Q3 (650K).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95160" y="5751576"/>
            <a:ext cx="4937760" cy="2423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69019" y="5751576"/>
            <a:ext cx="18288" cy="2423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86600" y="5797296"/>
            <a:ext cx="1945843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+ 1.5 * IQR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60459" y="5797296"/>
            <a:ext cx="2681021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fence. Amounts above NGN 1,535,000 are statistical outliers. In this dataset these are mostly legitimate Corporate transactions.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995160" y="5993892"/>
            <a:ext cx="4937760" cy="2423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69019" y="5993892"/>
            <a:ext cx="18288" cy="2423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86600" y="6039612"/>
            <a:ext cx="1945843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outliers['segment'].value_counts()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160459" y="6039612"/>
            <a:ext cx="2681021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which segments the outliers belong to. Revealing 'Corporate: 680' confirms these are expected large transactions, not data errors.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995160" y="6236208"/>
            <a:ext cx="4937760" cy="2423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069019" y="6236208"/>
            <a:ext cx="18288" cy="2423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86600" y="6281928"/>
            <a:ext cx="1945843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stats.zscore(log_amt)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160459" y="6281928"/>
            <a:ext cx="2681021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the log-transformed amount. Z &amp;gt; 3 means the value is more than 3 standard deviations from the log mean - a stricter outlier definition.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995160" y="6478524"/>
            <a:ext cx="4937760" cy="2423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069019" y="6478524"/>
            <a:ext cx="18288" cy="2423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86600" y="6524244"/>
            <a:ext cx="1945843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.clip(upper=upper)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9160459" y="6524244"/>
            <a:ext cx="2681021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values at the upper fence instead of removing rows. Safer than deletion - keeps the row but limits extreme values.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7 - Correlation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numeric variables move together - and how strongly?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7 - Pearson, Spearman, and Correlation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583680" cy="5175504"/>
          </a:xfrm>
          <a:prstGeom prst="roundRect">
            <a:avLst>
              <a:gd name="adj" fmla="val 1767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658368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658368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corr_code.py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408176"/>
            <a:ext cx="6309360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Pearson correlation - linear relationships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corr_pearson = df[num_cols].corr(method='pearson')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Spearman correlation - monotonic (handles skew)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corr_spearman = df[num_cols].corr(method='spearman')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 correlating pairs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corr_pairs = (corr_pearson.abs()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.unstack()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.sort_values(ascending=False)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.drop_duplicates())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print(corr_pairs[corr_pairs &amp;lt; 1.0].head(10))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amount  - fees_paid      0.95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amount  - balance        0.72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amount  - credit_score   0.45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monthly - num_products   0.55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 with churn (encode first)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df['churned_num'] = (df['churned']=='Yes').astype(int)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churn_corr = df[num_cols+['churned_num']].corr()['churned_num']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print(churn_corr.sort_values())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churned_num     1.00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satisfaction   -0.35  &amp;lt;- higher sat = less churn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num_products   -0.28  &amp;lt;- more products = less churn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tenure_months  -0.22  &amp;lt;- longer tenure = less churn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monthly_txn    -0.18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credit_score   -0.12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amount         -0.08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Pairwise scatter of top correlated pairs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plt.subplots(figsize=(10,6))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ax.scatter(df['amount'],df['fees_paid'],alpha=0.1)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ax.set_xlabel('Amount'); ax.set_ylabel('Fees')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plt.title(f'amount vs fees_paid  r=0.95'); plt.show()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24128"/>
            <a:ext cx="4754880" cy="585216"/>
          </a:xfrm>
          <a:prstGeom prst="rect">
            <a:avLst/>
          </a:prstGeom>
          <a:solidFill>
            <a:srgbClr val="EC4899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5090" y="1024128"/>
            <a:ext cx="182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06984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6530" y="106984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09344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75090" y="160934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5506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corr(method='pearson')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6530" y="165506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assumes linear relationship. Best for normally distributed data. Values range from -1 to +1.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94560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5090" y="219456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24028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corr(method='spearman')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6530" y="224028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 measures monotonic (rank-based) relationships. Better for skewed data like amount. Does not assume linearity.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2779776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5090" y="277977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82549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corr.abs().unstack().sort_values()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6530" y="282549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the correlation matrix into a list of pairs sorted by absolute correlation strength. Finds the strongest correlations quickly.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364992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75090" y="3364992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410712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66530" y="3410712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mirror pairs (A-B and B-A appear twice). Keeps only one of each pair.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50208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5090" y="3950208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995928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(df['churned']=='Yes').astype(int)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6530" y="3995928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binary churned column as 0/1 integers so it can be included in the numeric correlation matrix.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4535424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5090" y="4535424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81144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corr()['churned_num']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66530" y="4581144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just the churned column from the full correlation matrix. Shows which numeric features correlate most with churn.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78040" y="5120640"/>
            <a:ext cx="4754880" cy="585216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5090" y="5120640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166360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satisfaction: -0.35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66530" y="5166360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- higher satisfaction scores are associated with LOWER churn. The strongest churn predictor in the dataset.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5705856"/>
            <a:ext cx="4754880" cy="585216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5090" y="5705856"/>
            <a:ext cx="18288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5751576"/>
            <a:ext cx="18690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num_products: -0.28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66530" y="5751576"/>
            <a:ext cx="25749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products churn less. This is the 'product stickiness' effect - a key metric in banking.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1920240" cy="192024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0058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8 - Target Variable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2880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customers churn? What separates churned from retained?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8 - Churn Analysis: Who Churns and Why?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24128"/>
            <a:ext cx="667512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6144768"/>
            <a:ext cx="6675120" cy="603504"/>
          </a:xfrm>
          <a:prstGeom prst="roundRect">
            <a:avLst>
              <a:gd name="adj" fmla="val 15152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6144768"/>
            <a:ext cx="667512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327648"/>
            <a:ext cx="667512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496" y="623620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62362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623620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" y="6528816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Key: Student 38%, Branch 31%, Corporate 12% - action required for student segment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69480" y="1024128"/>
            <a:ext cx="466344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69480" y="1024128"/>
            <a:ext cx="4663440" cy="329184"/>
          </a:xfrm>
          <a:prstGeom prst="roundRect">
            <a:avLst>
              <a:gd name="adj" fmla="val 27778"/>
            </a:avLst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69480" y="1207008"/>
            <a:ext cx="4663440" cy="14630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97496" y="111556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9866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99832" y="111556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1078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churn.py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15784" y="1408176"/>
            <a:ext cx="43891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Churn rate by segment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churn_by_seg = (df.groupby('segment')['churned']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.apply(lambda x: (x=='Yes').mean()*100)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.reset_index()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.rename(columns={'churned':'churn_rate'}))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sns.barplot(data=churn_by_seg,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x='segment', y='churn_rate',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palette='Reds_r')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plt.axhline(y=24, color='black', linestyle='--',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label='Overall 24% churn')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plt.title('Churn Rate by Segment')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Satisfaction distribution: churned vs retained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plt.subplots(figsize=(10,6))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df[df['churned']=='Yes']['satisfaction'].hist(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ax=ax,bins=20,alpha=0.6,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color='#F43F5E',label='Churned')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df[df['churned']=='No']['satisfaction'].hist(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ax=ax,bins=20,alpha=0.6,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color='#3B82F6',label='Retained')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ax.legend(); ax.set_xlabel('Satisfaction')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plt.title('Satisfaction: Churned vs Retained')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69480" y="5303520"/>
            <a:ext cx="4663440" cy="236220"/>
          </a:xfrm>
          <a:prstGeom prst="rect">
            <a:avLst/>
          </a:prstGeom>
          <a:solidFill>
            <a:srgbClr val="84CC1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28125" y="5303520"/>
            <a:ext cx="18288" cy="2362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60920" y="5349240"/>
            <a:ext cx="183062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19565" y="5349240"/>
            <a:ext cx="252191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69480" y="5539740"/>
            <a:ext cx="4663440" cy="23622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28125" y="5539740"/>
            <a:ext cx="18288" cy="2362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5585460"/>
            <a:ext cx="183062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groupby('segment')['churned'].apply(lambda)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319565" y="5585460"/>
            <a:ext cx="252191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by segment, then for each group applies a function that counts 'Yes' values as a percentage.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69480" y="5775960"/>
            <a:ext cx="4663440" cy="23622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28125" y="5775960"/>
            <a:ext cx="18288" cy="2362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60920" y="5821680"/>
            <a:ext cx="183062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(x=='Yes').mean()*100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319565" y="5821680"/>
            <a:ext cx="252191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group: x=='Yes' creates True/False. .mean() computes the fraction of True. *100 converts to percentage.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269480" y="6012180"/>
            <a:ext cx="4663440" cy="23622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228125" y="6012180"/>
            <a:ext cx="18288" cy="2362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60920" y="6057900"/>
            <a:ext cx="183062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plt.axhline(y=24)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9319565" y="6057900"/>
            <a:ext cx="252191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horizontal reference line at the overall churn rate (24%). Bars above this line are worse than average.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69480" y="6248400"/>
            <a:ext cx="4663440" cy="236220"/>
          </a:xfrm>
          <a:prstGeom prst="rect">
            <a:avLst/>
          </a:prstGeom>
          <a:solidFill>
            <a:srgbClr val="0F1D3C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228125" y="6248400"/>
            <a:ext cx="18288" cy="2362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60920" y="6294120"/>
            <a:ext cx="183062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histograms on same axes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9319565" y="6294120"/>
            <a:ext cx="252191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Overlaying two histograms with alpha=0.6 (transparency) shows the distribution overlap. Clear separation = the variable is a good churn predictor.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269480" y="6484620"/>
            <a:ext cx="4663440" cy="236220"/>
          </a:xfrm>
          <a:prstGeom prst="rect">
            <a:avLst/>
          </a:prstGeom>
          <a:solidFill>
            <a:srgbClr val="141E36"/>
          </a:solidFill>
          <a:ln w="3810">
            <a:solidFill>
              <a:srgbClr val="1A284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228125" y="6484620"/>
            <a:ext cx="18288" cy="2362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60920" y="6530340"/>
            <a:ext cx="183062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action: Students 38%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9319565" y="6530340"/>
            <a:ext cx="2521915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segment has 38% churn vs 24% overall. Requires targeted retention programmes: financial literacy content, student account benefits, reduced fees.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SUMMARY - Key Findings from eda_fintech_dataset.csv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65099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778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78992"/>
            <a:ext cx="5650992" cy="45720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56509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1704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Amount is highly right-skewed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" y="1664208"/>
            <a:ext cx="5394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(NGN 1.04M) &amp;gt;&amp;gt; Median (NGN 188K). The 734 Corporate customers drive most of the revenue despite being 15% of customers. Always segment before computing averages.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078992"/>
            <a:ext cx="565099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778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078992"/>
            <a:ext cx="5650992" cy="457200"/>
          </a:xfrm>
          <a:prstGeom prst="roundRect">
            <a:avLst>
              <a:gd name="adj" fmla="val 24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371600"/>
            <a:ext cx="56509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1704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Student segment has 38% churn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37376" y="1664208"/>
            <a:ext cx="5394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double the overall rate (24%). Students transact small amounts but are the future customer base. Retention investment here has long-term value.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565099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26080"/>
            <a:ext cx="5650992" cy="457200"/>
          </a:xfrm>
          <a:prstGeom prst="roundRect">
            <a:avLst>
              <a:gd name="adj" fmla="val 2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218688"/>
            <a:ext cx="56509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3017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Satisfaction is top churn predictor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" y="3511296"/>
            <a:ext cx="5394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-0.35. Customers with scores 1-4 churn at over 50%. Scores 8-10 churn at under 10%. Improving NPS by 1 point reduces churn materially.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65099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2926080"/>
            <a:ext cx="5650992" cy="457200"/>
          </a:xfrm>
          <a:prstGeom prst="roundRect">
            <a:avLst>
              <a:gd name="adj" fmla="val 24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218688"/>
            <a:ext cx="56509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017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Product stickiness effect confirmed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3511296"/>
            <a:ext cx="5394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num_products vs churn correlation: -0.28. Single-product customers churn at 34%. Five-product customers churn at under 8%. Cross-selling is retention.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773168"/>
            <a:ext cx="565099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778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773168"/>
            <a:ext cx="5650992" cy="457200"/>
          </a:xfrm>
          <a:prstGeom prst="roundRect">
            <a:avLst>
              <a:gd name="adj" fmla="val 24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5065776"/>
            <a:ext cx="56509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4864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December is peak month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" y="5358384"/>
            <a:ext cx="5394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 transactions in December - 23% above the monthly average. Revenue also peaks. Ensure system capacity and promotional offers are ready by November.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773168"/>
            <a:ext cx="565099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773168"/>
            <a:ext cx="5650992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5065776"/>
            <a:ext cx="56509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4864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amount-fees correlation 0.95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37376" y="5358384"/>
            <a:ext cx="5394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fees_paid is mathematically derived from amount. This is not a useful correlation for prediction. Always remove derived columns before modelling to prevent data leakage.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11338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QUICK REFERENCE - All Techniques and Commands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1704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1208" y="1463040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df.info()  df.describe()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df.nunique()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df.select_dtypes(include='number')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64992" y="1078992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704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Numeric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1463040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sns.histplot(df['col'], kde=True)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plt.hist(df['col'], bins=50)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df['col'].skew()  df['col'].kurtosis()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18504" y="1078992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1704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Categorical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28232" y="1463040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df['col'].value_counts()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sns.countplot(data=df, x='col')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df['col'].value_counts(normalize=True)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72016" y="1078992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81744" y="11704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Transform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81744" y="1463040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np.log1p(df['col'])  # skewed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df['col_log'] = np.log1p(df['col'])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df['col'].skew()  # measure skewness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" y="2706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Scatter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1208" y="2999232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sns.scatterplot(data=df, x='a', y='b', hue='cat')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plt.scatter(df['a'], df['b'], alpha=0.4)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df['a'].corr(df['b'])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2615184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2706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Box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2999232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x='cat', y='num')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sns.violinplot(data=df, x='cat', y='num')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df.groupby('cat')['num'].describe()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18504" y="2615184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EC48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28232" y="2706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28232" y="2999232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df[num_cols].corr()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df[num_cols].corr(method='spearman')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annot=True, cmap='coolwarm')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72016" y="2615184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EC4899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81744" y="2706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Pairplot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81744" y="2999232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sns.pairplot(df, hue='target', vars=[...])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df[num_cols].corr().abs().unstack().sort_values()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4151376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" y="4242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" y="453542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df.groupby('month_num')['col'].sum()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y, marker='o')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df.groupby('day_of_week')['col'].count()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64992" y="4151376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4242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IQR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74720" y="453542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Q1=df['col'].quantile(0.25)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Q3=df['col'].quantile(0.75)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IQR=Q3-Q1; upper=Q3+1.5*IQR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18504" y="4151376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84CC1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28232" y="4242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4C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Analysis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28232" y="453542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df.groupby('cat')['target'].apply(lambda x: (x=='Yes').mean())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df[df['target']=='Yes']['num'].hist(alpha=0.6)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272016" y="4151376"/>
            <a:ext cx="2816352" cy="1426464"/>
          </a:xfrm>
          <a:prstGeom prst="roundRect">
            <a:avLst>
              <a:gd name="adj" fmla="val 6410"/>
            </a:avLst>
          </a:prstGeom>
          <a:solidFill>
            <a:srgbClr val="111E35"/>
          </a:solidFill>
          <a:ln w="13970">
            <a:solidFill>
              <a:srgbClr val="22D3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81744" y="4242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81744" y="453542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pd.pivot_table(df,index='a',columns='b',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values='c',aggfunc='mean',fill_value=0)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C1A38"/>
          </a:solidFill>
          <a:ln w="12700">
            <a:solidFill>
              <a:srgbClr val="0C1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77440" y="402336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2377440"/>
            <a:ext cx="1773936" cy="1773936"/>
          </a:xfrm>
          <a:prstGeom prst="roundRect">
            <a:avLst>
              <a:gd name="adj" fmla="val 72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402336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0" y="4370832"/>
            <a:ext cx="4937760" cy="2487168"/>
          </a:xfrm>
          <a:prstGeom prst="rect">
            <a:avLst/>
          </a:prstGeom>
          <a:solidFill>
            <a:srgbClr val="172041"/>
          </a:solidFill>
          <a:ln w="12700">
            <a:solidFill>
              <a:srgbClr val="172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80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done when data answers questions that drive decisions.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53400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Kajola Gbenga Adewale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5779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159105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eda_fintech_dataset.csv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4920" y="2157984"/>
            <a:ext cx="67665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3225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stages of EDA completed: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2670048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6700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Understand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2670048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6700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Univariate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3182112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18211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Bivariate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3182112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18211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Multivariate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3694176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69417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Time Series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3694176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69417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Outliers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4206240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20624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Correlation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206240"/>
            <a:ext cx="3273552" cy="438912"/>
          </a:xfrm>
          <a:prstGeom prst="roundRect">
            <a:avLst>
              <a:gd name="adj" fmla="val 1458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20624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Target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74920" y="4773168"/>
            <a:ext cx="6766560" cy="1645920"/>
          </a:xfrm>
          <a:prstGeom prst="roundRect">
            <a:avLst>
              <a:gd name="adj" fmla="val 5556"/>
            </a:avLst>
          </a:prstGeom>
          <a:solidFill>
            <a:srgbClr val="111E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12080" y="48463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for this session: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5138928"/>
            <a:ext cx="6492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eda_fintech_dataset.csv         - upload to Colab (5,000 rows, 23 cols)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eda_notebook.ipynb               - run cell by cell alongside these slides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Next: Feature Engineering and Machine Learning with Scikit-Learn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- Complete Teaching Deck</dc:title>
  <dc:subject>PptxGenJS Presentation</dc:subject>
  <dc:creator>Kajola Gbenga Adewale</dc:creator>
  <cp:lastModifiedBy>Kajola Gbenga Adewale</cp:lastModifiedBy>
  <cp:revision>1</cp:revision>
  <dcterms:created xsi:type="dcterms:W3CDTF">2026-06-24T23:26:31Z</dcterms:created>
  <dcterms:modified xsi:type="dcterms:W3CDTF">2026-06-24T23:26:31Z</dcterms:modified>
</cp:coreProperties>
</file>
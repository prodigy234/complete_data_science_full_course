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Functions complete reference deck. 12 categories covering 300+ functions. Every slide has the function syntax, a real business example output, and a line-by-line explanation table. Use alongside the Excel teaching deck or as a standalone function reference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categories overview. The most used categories in business are: Math/Trig (SUM, SUMIF, SUMIFS), Statistical (AVERAGE, COUNT, MAX), Logical (IF, IFS, IFERROR), Lookup (VLOOKUP, XLOOKUP, INDEX-MATCH), and Text (TRIM, PROPER, LEFT, RIGHT). Array functions (FILTER, SORT, UNIQUE) require Excel 365 or Excel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functions work. The anatomy slide is the foundation. Every student must understand: equals sign starts formula, parentheses enclose arguments, commas separate arguments, quotes around text. The Shift+F3 tip (Insert Function) is invaluable because it shows each argument with its description while you build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SUMIF vs SUMIFS. The argument order difference is the most common source of errors. SUMIF: range to check FIRST, then criteria, then range to sum LAST. SUMIFS: range to SUM FIRST, then pairs of (range, criteria). Also: criteria operators must be in quotes including the number: "&gt;50000" not &gt;50000.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functions. SUBTOTAL is critically important for filtered lists. =SUM(B2:B100) will sum ALL rows even if rows are hidden by a filter. =SUBTOTAL(9,B2:B100) sums only VISIBLE rows. This is the correct function to use in filtered dashboards. Same for SUBTOTAL(2,...) for COUNT and SUBTOTAL(1,...) for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functions. The RANK function is extremely useful for creating leaderboards. LARGE and SMALL pair well with RANK to build Top N lists. PERCENTILE is used in HR compensation analysis (above the 75th percentile salary). CORREL is the Excel equivalent of the r coefficient in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functions. The IFS function requires Excel 2016 or later. For compatibility with older Excel, use nested IF. The critical rule for IFS: always end with TRUE as the last condition to catch any row that does not match the earlier conditions. Without it, IFS returns #N/A when no condition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and CHOOSE. SWITCH requires Excel 2016 or later. For older Excel, use nested IF or CHOOSE. The CHOOSE with MONTH(TODAY()) trick for quarters is very elegant - it maps 12 month numbers directly to 4 quarter labels. CHOOSE with WEEKDAY is the classic way to display day names in all Excel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VLOOKUP. Despite its limitations, VLOOKUP is still the most widely used lookup function because it is available in ALL Excel versions. Key teaching moment: demonstrate the column number problem live - insert a column into the lookup table and show how VLOOKUP returns wrong data silently. This always convinces students to learn INDEX-MATCH or XLOOKUP.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XLOOKUP and INDEX-MATCH. XLOOKUP is available Excel 365 and Excel 2021 only. For maximum compatibility (shared with Excel 2016/2019 users), use INDEX-MATCH. The INDEX-MATCH combination with MAX is one of the most powerful patterns: find the category/name/region that has the highest/lowest value - something that requires a very complex workaround in VLOOKUP.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INDEX-MATCH deep dive. The two-way lookup is the most powerful application: look up a value at the intersection of a row label and a column label. This creates a dynamic cross-reference table. The multi-criteria MATCH uses array logic: multiplying two TRUE/FALSE arrays gives 1 only where BOTH conditions are true, then MATCH finds the first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OFFSET and INDIRECT are advanced functions. INDIRECT is particularly useful for building multi-sheet reports where the sheet name changes based on a dropdown selection. OFFSET is used in legacy dynamic named ranges (before Excel Tables became standard). Both are volatile functions - they recalculate on every sheet change which can slow down large workbooks.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functions. The FIND-based extraction is the most important advanced text technique. =LEFT(A1,FIND("-",A1)-1) extracts everything before the first hyphen. This adapts to different lengths, unlike =LEFT(A1,3) which would only work for fixed-length prefixes. SUBSTITUTE is faster than Find &amp; Replace for automated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functions part 2. The REPT star rating is a fun and useful trick for dashboards. =REPT(CHAR(9733),ROUND(A1,0)) creates star characters. TEXT() format codes are the same as custom number formats in Format Cells. The combination TEXT(value, format)&amp;" "&amp;other_text is used constantly in report headings and dashboard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functions. DATEDIF is a hidden function - it does not appear in autocomplete but works in all Excel versions. The YM unit gives months excluding complete years, and YD gives days excluding complete years. These are used for 'Age: 35 years, 8 months' type displays. EOMONTH is essential for financial month-end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part 2. The quarter formula using CHOOSE is the cleanest approach. The INT((MONTH-1)/3)+1 formula is a mathematical alternative. For time elapsed, remember that Excel stores time as a fraction of a day (0.5 = noon). To convert time difference to hours, multiply by 24. Format duration with [h]:mm format to show hours greater than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functions. ISBLANK is critical for data validation and avoiding blank-cell errors. Note: ISBLANK returns FALSE for cells that contain a space (' ') - the cell looks empty but is not. Always use TRIM first: =ISBLANK(TRIM(A1)) is unreliable because TRIM returns a text result. Better: =LEN(TRIM(A1))=0 to test for truly blank or space-only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functions. The sign convention trips up beginners. In PMT, PV, and FV: money you RECEIVE is positive, money you PAY OUT is negative. So a loan amount you RECEIVE is positive PV, but you enter it as negative in PMT (because you are committing to pay). Or use negative PV: PMT(rate,nper,-5000000) to get a positive monthly payment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array functions. These require Excel 365 or Excel 2021. In Excel 2019 and earlier, FILTER, SORT, and UNIQUE do not exist. The key concept: these functions SPILL their results into multiple cells automatically. You enter the formula in ONE cell and results fill neighbouring cells. If another value is in those cells, you get a #SPILL! error - clear the cells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array functions. LAMBDA and LET are game-changers for complex formulas. LET is particularly useful when you have a formula that computes the same intermediate value multiple times. Instead of =IF(SUMIF(...)&gt;1000,SUMIF(...)*0.9,SUMIF(...)), use LET to compute SUMIF once, store it, then use the name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statistics. FORECAST.ETS (Excel 2016+) is powerful for business forecasting because it handles seasonality automatically. It detects whether your data has monthly, quarterly, or annual patterns and incorporates them. CORREL is the most practical - used to justify (or disprove) assumptions about cause-and-effect relationships 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functions. These are often overlooked but powerful. The criteria range approach makes them highly user-friendly in dashboard contexts - users can type criteria into visible cells without modifying formulas. DSUM with an OR criteria range (multiple rows for the same field) is cleaner than summing multiple SUMIFS.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errors. The golden rule: wrap EVERY lookup function with IFERROR as a habit. #DIV/0! and #N/A are the most common. A simple habit: after writing a VLOOKUP, immediately wrap it: =IFERROR(VLOOKUP(...),'Not found'). The #### 'error' is not a real error - it just means the column is too narrow to display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cheat sheet. Print this slide and give to every student. Color-coded by category. All 70+ most-used functions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80/20 rule of Excel functions: SUM, SUMIFS, IF, IFERROR, VLOOKUP/XLOOKUP, INDEX+MATCH, COUNTIF, TRIM+PROPER, TEXT, TODAY+DATEDIF. Mastering these 10 will handle the vast majority of real-world Excel tasks. Everything else builds on top of these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185C38"/>
          </a:solidFill>
          <a:ln w="12700">
            <a:solidFill>
              <a:srgbClr val="185C38"/>
            </a:solidFill>
            <a:prstDash val="solid"/>
          </a:ln>
        </p:spPr>
      </p:sp>
      <p:sp>
        <p:nvSpPr>
          <p:cNvPr id="3" name="Shape 1"/>
          <p:cNvSpPr/>
          <p:nvPr/>
        </p:nvSpPr>
        <p:spPr>
          <a:xfrm>
            <a:off x="402336" y="402336"/>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4" name="Shape 2"/>
          <p:cNvSpPr/>
          <p:nvPr/>
        </p:nvSpPr>
        <p:spPr>
          <a:xfrm>
            <a:off x="2377440" y="402336"/>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02336" y="2377440"/>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6" name="Shape 4"/>
          <p:cNvSpPr/>
          <p:nvPr/>
        </p:nvSpPr>
        <p:spPr>
          <a:xfrm>
            <a:off x="2377440" y="2377440"/>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7" name="Text 5"/>
          <p:cNvSpPr/>
          <p:nvPr/>
        </p:nvSpPr>
        <p:spPr>
          <a:xfrm>
            <a:off x="402336" y="402336"/>
            <a:ext cx="3749040" cy="3749040"/>
          </a:xfrm>
          <a:prstGeom prst="rect">
            <a:avLst/>
          </a:prstGeom>
          <a:noFill/>
          <a:ln/>
        </p:spPr>
        <p:txBody>
          <a:bodyPr wrap="square" lIns="0" tIns="0" rIns="0" bIns="0" rtlCol="0" anchor="ctr"/>
          <a:lstStyle/>
          <a:p>
            <a:pPr algn="ctr" indent="0" marL="0">
              <a:buNone/>
            </a:pPr>
            <a:r>
              <a:rPr lang="en-US" sz="8800" b="1" dirty="0">
                <a:solidFill>
                  <a:srgbClr val="FFFFFF"/>
                </a:solidFill>
                <a:latin typeface="Courier New" pitchFamily="34" charset="0"/>
                <a:ea typeface="Courier New" pitchFamily="34" charset="-122"/>
                <a:cs typeface="Courier New" pitchFamily="34" charset="-120"/>
              </a:rPr>
              <a:t>fx</a:t>
            </a:r>
            <a:endParaRPr lang="en-US" sz="8800" dirty="0"/>
          </a:p>
        </p:txBody>
      </p:sp>
      <p:sp>
        <p:nvSpPr>
          <p:cNvPr id="8" name="Shape 6"/>
          <p:cNvSpPr/>
          <p:nvPr/>
        </p:nvSpPr>
        <p:spPr>
          <a:xfrm>
            <a:off x="0" y="4352544"/>
            <a:ext cx="4846320" cy="2505456"/>
          </a:xfrm>
          <a:prstGeom prst="rect">
            <a:avLst/>
          </a:prstGeom>
          <a:solidFill>
            <a:srgbClr val="0A1E12"/>
          </a:solidFill>
          <a:ln w="12700">
            <a:solidFill>
              <a:srgbClr val="0A1E12"/>
            </a:solidFill>
            <a:prstDash val="solid"/>
          </a:ln>
        </p:spPr>
      </p:sp>
      <p:sp>
        <p:nvSpPr>
          <p:cNvPr id="9" name="Text 7"/>
          <p:cNvSpPr/>
          <p:nvPr/>
        </p:nvSpPr>
        <p:spPr>
          <a:xfrm>
            <a:off x="0" y="4480560"/>
            <a:ext cx="4846320" cy="310896"/>
          </a:xfrm>
          <a:prstGeom prst="rect">
            <a:avLst/>
          </a:prstGeom>
          <a:noFill/>
          <a:ln/>
        </p:spPr>
        <p:txBody>
          <a:bodyPr wrap="square" lIns="0" tIns="0" rIns="0" bIns="0" rtlCol="0" anchor="ctr"/>
          <a:lstStyle/>
          <a:p>
            <a:pPr algn="ctr" indent="0" marL="0">
              <a:buNone/>
            </a:pPr>
            <a:r>
              <a:rPr lang="en-US" sz="950" b="1" spc="200" kern="0" dirty="0">
                <a:solidFill>
                  <a:srgbClr val="94A3B8"/>
                </a:solidFill>
                <a:latin typeface="Calibri" pitchFamily="34" charset="0"/>
                <a:ea typeface="Calibri" pitchFamily="34" charset="-122"/>
                <a:cs typeface="Calibri" pitchFamily="34" charset="-120"/>
              </a:rPr>
              <a:t>KAJOLA GBENGA ADEWALE</a:t>
            </a:r>
            <a:endParaRPr lang="en-US" sz="950" dirty="0"/>
          </a:p>
        </p:txBody>
      </p:sp>
      <p:sp>
        <p:nvSpPr>
          <p:cNvPr id="10" name="Text 8"/>
          <p:cNvSpPr/>
          <p:nvPr/>
        </p:nvSpPr>
        <p:spPr>
          <a:xfrm>
            <a:off x="0" y="4864608"/>
            <a:ext cx="484632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1" name="Text 9"/>
          <p:cNvSpPr/>
          <p:nvPr/>
        </p:nvSpPr>
        <p:spPr>
          <a:xfrm>
            <a:off x="5074920" y="457200"/>
            <a:ext cx="690372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Excel</a:t>
            </a:r>
            <a:endParaRPr lang="en-US" sz="5200" dirty="0"/>
          </a:p>
        </p:txBody>
      </p:sp>
      <p:sp>
        <p:nvSpPr>
          <p:cNvPr id="12" name="Text 10"/>
          <p:cNvSpPr/>
          <p:nvPr/>
        </p:nvSpPr>
        <p:spPr>
          <a:xfrm>
            <a:off x="5074920" y="1408176"/>
            <a:ext cx="6903720" cy="1005840"/>
          </a:xfrm>
          <a:prstGeom prst="rect">
            <a:avLst/>
          </a:prstGeom>
          <a:noFill/>
          <a:ln/>
        </p:spPr>
        <p:txBody>
          <a:bodyPr wrap="square" lIns="0" tIns="0" rIns="0" bIns="0" rtlCol="0" anchor="ctr"/>
          <a:lstStyle/>
          <a:p>
            <a:pPr indent="0" marL="0">
              <a:buNone/>
            </a:pPr>
            <a:r>
              <a:rPr lang="en-US" sz="5600" b="1" dirty="0">
                <a:solidFill>
                  <a:srgbClr val="70AD47"/>
                </a:solidFill>
                <a:latin typeface="Cambria" pitchFamily="34" charset="0"/>
                <a:ea typeface="Cambria" pitchFamily="34" charset="-122"/>
                <a:cs typeface="Cambria" pitchFamily="34" charset="-120"/>
              </a:rPr>
              <a:t>Functions</a:t>
            </a:r>
            <a:endParaRPr lang="en-US" sz="5600" dirty="0"/>
          </a:p>
        </p:txBody>
      </p:sp>
      <p:sp>
        <p:nvSpPr>
          <p:cNvPr id="13" name="Text 11"/>
          <p:cNvSpPr/>
          <p:nvPr/>
        </p:nvSpPr>
        <p:spPr>
          <a:xfrm>
            <a:off x="5074920" y="2487168"/>
            <a:ext cx="6903720" cy="402336"/>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Complete Reference - Every Category with Examples and Explanations</a:t>
            </a:r>
            <a:endParaRPr lang="en-US" sz="1300" dirty="0"/>
          </a:p>
        </p:txBody>
      </p:sp>
      <p:sp>
        <p:nvSpPr>
          <p:cNvPr id="14" name="Text 12"/>
          <p:cNvSpPr/>
          <p:nvPr/>
        </p:nvSpPr>
        <p:spPr>
          <a:xfrm>
            <a:off x="5074920" y="2962656"/>
            <a:ext cx="6903720" cy="329184"/>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300+ Functions  |  12 Categories  |  Nigerian Business Examples  |  Line-by-Line Explanations</a:t>
            </a:r>
            <a:endParaRPr lang="en-US" sz="1100" dirty="0"/>
          </a:p>
        </p:txBody>
      </p:sp>
      <p:sp>
        <p:nvSpPr>
          <p:cNvPr id="15" name="Shape 13"/>
          <p:cNvSpPr/>
          <p:nvPr/>
        </p:nvSpPr>
        <p:spPr>
          <a:xfrm>
            <a:off x="5074920" y="3401568"/>
            <a:ext cx="6766560" cy="36576"/>
          </a:xfrm>
          <a:prstGeom prst="rect">
            <a:avLst/>
          </a:prstGeom>
          <a:solidFill>
            <a:srgbClr val="217346"/>
          </a:solidFill>
          <a:ln w="12700">
            <a:solidFill>
              <a:srgbClr val="217346"/>
            </a:solidFill>
            <a:prstDash val="solid"/>
          </a:ln>
        </p:spPr>
      </p:sp>
      <p:sp>
        <p:nvSpPr>
          <p:cNvPr id="16" name="Shape 14"/>
          <p:cNvSpPr/>
          <p:nvPr/>
        </p:nvSpPr>
        <p:spPr>
          <a:xfrm>
            <a:off x="5074920" y="3529584"/>
            <a:ext cx="1664208" cy="438912"/>
          </a:xfrm>
          <a:prstGeom prst="roundRect">
            <a:avLst>
              <a:gd name="adj" fmla="val 14583"/>
            </a:avLst>
          </a:prstGeom>
          <a:solidFill>
            <a:srgbClr val="217346"/>
          </a:solidFill>
          <a:ln w="12700">
            <a:solidFill>
              <a:srgbClr val="217346"/>
            </a:solidFill>
            <a:prstDash val="solid"/>
          </a:ln>
        </p:spPr>
      </p:sp>
      <p:sp>
        <p:nvSpPr>
          <p:cNvPr id="17" name="Text 15"/>
          <p:cNvSpPr/>
          <p:nvPr/>
        </p:nvSpPr>
        <p:spPr>
          <a:xfrm>
            <a:off x="5074920" y="3529584"/>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Math and Trig</a:t>
            </a:r>
            <a:endParaRPr lang="en-US" sz="950" dirty="0"/>
          </a:p>
        </p:txBody>
      </p:sp>
      <p:sp>
        <p:nvSpPr>
          <p:cNvPr id="18" name="Shape 16"/>
          <p:cNvSpPr/>
          <p:nvPr/>
        </p:nvSpPr>
        <p:spPr>
          <a:xfrm>
            <a:off x="6812280" y="3529584"/>
            <a:ext cx="1664208" cy="438912"/>
          </a:xfrm>
          <a:prstGeom prst="roundRect">
            <a:avLst>
              <a:gd name="adj" fmla="val 14583"/>
            </a:avLst>
          </a:prstGeom>
          <a:solidFill>
            <a:srgbClr val="3B82F6"/>
          </a:solidFill>
          <a:ln w="12700">
            <a:solidFill>
              <a:srgbClr val="3B82F6"/>
            </a:solidFill>
            <a:prstDash val="solid"/>
          </a:ln>
        </p:spPr>
      </p:sp>
      <p:sp>
        <p:nvSpPr>
          <p:cNvPr id="19" name="Text 17"/>
          <p:cNvSpPr/>
          <p:nvPr/>
        </p:nvSpPr>
        <p:spPr>
          <a:xfrm>
            <a:off x="6812280" y="3529584"/>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Statistical</a:t>
            </a:r>
            <a:endParaRPr lang="en-US" sz="950" dirty="0"/>
          </a:p>
        </p:txBody>
      </p:sp>
      <p:sp>
        <p:nvSpPr>
          <p:cNvPr id="20" name="Shape 18"/>
          <p:cNvSpPr/>
          <p:nvPr/>
        </p:nvSpPr>
        <p:spPr>
          <a:xfrm>
            <a:off x="8549640" y="3529584"/>
            <a:ext cx="1664208" cy="438912"/>
          </a:xfrm>
          <a:prstGeom prst="roundRect">
            <a:avLst>
              <a:gd name="adj" fmla="val 14583"/>
            </a:avLst>
          </a:prstGeom>
          <a:solidFill>
            <a:srgbClr val="8B5CF6"/>
          </a:solidFill>
          <a:ln w="12700">
            <a:solidFill>
              <a:srgbClr val="8B5CF6"/>
            </a:solidFill>
            <a:prstDash val="solid"/>
          </a:ln>
        </p:spPr>
      </p:sp>
      <p:sp>
        <p:nvSpPr>
          <p:cNvPr id="21" name="Text 19"/>
          <p:cNvSpPr/>
          <p:nvPr/>
        </p:nvSpPr>
        <p:spPr>
          <a:xfrm>
            <a:off x="8549640" y="3529584"/>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Logical</a:t>
            </a:r>
            <a:endParaRPr lang="en-US" sz="950" dirty="0"/>
          </a:p>
        </p:txBody>
      </p:sp>
      <p:sp>
        <p:nvSpPr>
          <p:cNvPr id="22" name="Shape 20"/>
          <p:cNvSpPr/>
          <p:nvPr/>
        </p:nvSpPr>
        <p:spPr>
          <a:xfrm>
            <a:off x="10287000" y="3529584"/>
            <a:ext cx="1664208" cy="438912"/>
          </a:xfrm>
          <a:prstGeom prst="roundRect">
            <a:avLst>
              <a:gd name="adj" fmla="val 14583"/>
            </a:avLst>
          </a:prstGeom>
          <a:solidFill>
            <a:srgbClr val="F59E0B"/>
          </a:solidFill>
          <a:ln w="12700">
            <a:solidFill>
              <a:srgbClr val="F59E0B"/>
            </a:solidFill>
            <a:prstDash val="solid"/>
          </a:ln>
        </p:spPr>
      </p:sp>
      <p:sp>
        <p:nvSpPr>
          <p:cNvPr id="23" name="Text 21"/>
          <p:cNvSpPr/>
          <p:nvPr/>
        </p:nvSpPr>
        <p:spPr>
          <a:xfrm>
            <a:off x="10287000" y="3529584"/>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Lookup and Ref</a:t>
            </a:r>
            <a:endParaRPr lang="en-US" sz="950" dirty="0"/>
          </a:p>
        </p:txBody>
      </p:sp>
      <p:sp>
        <p:nvSpPr>
          <p:cNvPr id="24" name="Shape 22"/>
          <p:cNvSpPr/>
          <p:nvPr/>
        </p:nvSpPr>
        <p:spPr>
          <a:xfrm>
            <a:off x="5074920" y="4023360"/>
            <a:ext cx="1664208" cy="438912"/>
          </a:xfrm>
          <a:prstGeom prst="roundRect">
            <a:avLst>
              <a:gd name="adj" fmla="val 14583"/>
            </a:avLst>
          </a:prstGeom>
          <a:solidFill>
            <a:srgbClr val="06B6D4"/>
          </a:solidFill>
          <a:ln w="12700">
            <a:solidFill>
              <a:srgbClr val="06B6D4"/>
            </a:solidFill>
            <a:prstDash val="solid"/>
          </a:ln>
        </p:spPr>
      </p:sp>
      <p:sp>
        <p:nvSpPr>
          <p:cNvPr id="25" name="Text 23"/>
          <p:cNvSpPr/>
          <p:nvPr/>
        </p:nvSpPr>
        <p:spPr>
          <a:xfrm>
            <a:off x="5074920" y="4023360"/>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Text Functions</a:t>
            </a:r>
            <a:endParaRPr lang="en-US" sz="950" dirty="0"/>
          </a:p>
        </p:txBody>
      </p:sp>
      <p:sp>
        <p:nvSpPr>
          <p:cNvPr id="26" name="Shape 24"/>
          <p:cNvSpPr/>
          <p:nvPr/>
        </p:nvSpPr>
        <p:spPr>
          <a:xfrm>
            <a:off x="6812280" y="4023360"/>
            <a:ext cx="1664208" cy="438912"/>
          </a:xfrm>
          <a:prstGeom prst="roundRect">
            <a:avLst>
              <a:gd name="adj" fmla="val 14583"/>
            </a:avLst>
          </a:prstGeom>
          <a:solidFill>
            <a:srgbClr val="F43F5E"/>
          </a:solidFill>
          <a:ln w="12700">
            <a:solidFill>
              <a:srgbClr val="F43F5E"/>
            </a:solidFill>
            <a:prstDash val="solid"/>
          </a:ln>
        </p:spPr>
      </p:sp>
      <p:sp>
        <p:nvSpPr>
          <p:cNvPr id="27" name="Text 25"/>
          <p:cNvSpPr/>
          <p:nvPr/>
        </p:nvSpPr>
        <p:spPr>
          <a:xfrm>
            <a:off x="6812280" y="4023360"/>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Date and Time</a:t>
            </a:r>
            <a:endParaRPr lang="en-US" sz="950" dirty="0"/>
          </a:p>
        </p:txBody>
      </p:sp>
      <p:sp>
        <p:nvSpPr>
          <p:cNvPr id="28" name="Shape 26"/>
          <p:cNvSpPr/>
          <p:nvPr/>
        </p:nvSpPr>
        <p:spPr>
          <a:xfrm>
            <a:off x="8549640" y="4023360"/>
            <a:ext cx="1664208" cy="438912"/>
          </a:xfrm>
          <a:prstGeom prst="roundRect">
            <a:avLst>
              <a:gd name="adj" fmla="val 14583"/>
            </a:avLst>
          </a:prstGeom>
          <a:solidFill>
            <a:srgbClr val="EC4899"/>
          </a:solidFill>
          <a:ln w="12700">
            <a:solidFill>
              <a:srgbClr val="EC4899"/>
            </a:solidFill>
            <a:prstDash val="solid"/>
          </a:ln>
        </p:spPr>
      </p:sp>
      <p:sp>
        <p:nvSpPr>
          <p:cNvPr id="29" name="Text 27"/>
          <p:cNvSpPr/>
          <p:nvPr/>
        </p:nvSpPr>
        <p:spPr>
          <a:xfrm>
            <a:off x="8549640" y="4023360"/>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Information</a:t>
            </a:r>
            <a:endParaRPr lang="en-US" sz="950" dirty="0"/>
          </a:p>
        </p:txBody>
      </p:sp>
      <p:sp>
        <p:nvSpPr>
          <p:cNvPr id="30" name="Shape 28"/>
          <p:cNvSpPr/>
          <p:nvPr/>
        </p:nvSpPr>
        <p:spPr>
          <a:xfrm>
            <a:off x="10287000" y="4023360"/>
            <a:ext cx="1664208" cy="438912"/>
          </a:xfrm>
          <a:prstGeom prst="roundRect">
            <a:avLst>
              <a:gd name="adj" fmla="val 14583"/>
            </a:avLst>
          </a:prstGeom>
          <a:solidFill>
            <a:srgbClr val="EAB308"/>
          </a:solidFill>
          <a:ln w="12700">
            <a:solidFill>
              <a:srgbClr val="EAB308"/>
            </a:solidFill>
            <a:prstDash val="solid"/>
          </a:ln>
        </p:spPr>
      </p:sp>
      <p:sp>
        <p:nvSpPr>
          <p:cNvPr id="31" name="Text 29"/>
          <p:cNvSpPr/>
          <p:nvPr/>
        </p:nvSpPr>
        <p:spPr>
          <a:xfrm>
            <a:off x="10287000" y="4023360"/>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Financial</a:t>
            </a:r>
            <a:endParaRPr lang="en-US" sz="950" dirty="0"/>
          </a:p>
        </p:txBody>
      </p:sp>
      <p:sp>
        <p:nvSpPr>
          <p:cNvPr id="32" name="Shape 30"/>
          <p:cNvSpPr/>
          <p:nvPr/>
        </p:nvSpPr>
        <p:spPr>
          <a:xfrm>
            <a:off x="5074920" y="4517136"/>
            <a:ext cx="1664208" cy="438912"/>
          </a:xfrm>
          <a:prstGeom prst="roundRect">
            <a:avLst>
              <a:gd name="adj" fmla="val 14583"/>
            </a:avLst>
          </a:prstGeom>
          <a:solidFill>
            <a:srgbClr val="22D3EE"/>
          </a:solidFill>
          <a:ln w="12700">
            <a:solidFill>
              <a:srgbClr val="22D3EE"/>
            </a:solidFill>
            <a:prstDash val="solid"/>
          </a:ln>
        </p:spPr>
      </p:sp>
      <p:sp>
        <p:nvSpPr>
          <p:cNvPr id="33" name="Text 31"/>
          <p:cNvSpPr/>
          <p:nvPr/>
        </p:nvSpPr>
        <p:spPr>
          <a:xfrm>
            <a:off x="5074920" y="4517136"/>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Array (365)</a:t>
            </a:r>
            <a:endParaRPr lang="en-US" sz="950" dirty="0"/>
          </a:p>
        </p:txBody>
      </p:sp>
      <p:sp>
        <p:nvSpPr>
          <p:cNvPr id="34" name="Shape 32"/>
          <p:cNvSpPr/>
          <p:nvPr/>
        </p:nvSpPr>
        <p:spPr>
          <a:xfrm>
            <a:off x="6812280" y="4517136"/>
            <a:ext cx="1664208" cy="438912"/>
          </a:xfrm>
          <a:prstGeom prst="roundRect">
            <a:avLst>
              <a:gd name="adj" fmla="val 14583"/>
            </a:avLst>
          </a:prstGeom>
          <a:solidFill>
            <a:srgbClr val="A855F7"/>
          </a:solidFill>
          <a:ln w="12700">
            <a:solidFill>
              <a:srgbClr val="A855F7"/>
            </a:solidFill>
            <a:prstDash val="solid"/>
          </a:ln>
        </p:spPr>
      </p:sp>
      <p:sp>
        <p:nvSpPr>
          <p:cNvPr id="35" name="Text 33"/>
          <p:cNvSpPr/>
          <p:nvPr/>
        </p:nvSpPr>
        <p:spPr>
          <a:xfrm>
            <a:off x="6812280" y="4517136"/>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Database</a:t>
            </a:r>
            <a:endParaRPr lang="en-US" sz="950" dirty="0"/>
          </a:p>
        </p:txBody>
      </p:sp>
      <p:sp>
        <p:nvSpPr>
          <p:cNvPr id="36" name="Shape 34"/>
          <p:cNvSpPr/>
          <p:nvPr/>
        </p:nvSpPr>
        <p:spPr>
          <a:xfrm>
            <a:off x="8549640" y="4517136"/>
            <a:ext cx="1664208" cy="438912"/>
          </a:xfrm>
          <a:prstGeom prst="roundRect">
            <a:avLst>
              <a:gd name="adj" fmla="val 14583"/>
            </a:avLst>
          </a:prstGeom>
          <a:solidFill>
            <a:srgbClr val="F97316"/>
          </a:solidFill>
          <a:ln w="12700">
            <a:solidFill>
              <a:srgbClr val="F97316"/>
            </a:solidFill>
            <a:prstDash val="solid"/>
          </a:ln>
        </p:spPr>
      </p:sp>
      <p:sp>
        <p:nvSpPr>
          <p:cNvPr id="37" name="Text 35"/>
          <p:cNvSpPr/>
          <p:nvPr/>
        </p:nvSpPr>
        <p:spPr>
          <a:xfrm>
            <a:off x="8549640" y="4517136"/>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Switch/Choose</a:t>
            </a:r>
            <a:endParaRPr lang="en-US" sz="950" dirty="0"/>
          </a:p>
        </p:txBody>
      </p:sp>
      <p:sp>
        <p:nvSpPr>
          <p:cNvPr id="38" name="Shape 36"/>
          <p:cNvSpPr/>
          <p:nvPr/>
        </p:nvSpPr>
        <p:spPr>
          <a:xfrm>
            <a:off x="10287000" y="4517136"/>
            <a:ext cx="1664208" cy="438912"/>
          </a:xfrm>
          <a:prstGeom prst="roundRect">
            <a:avLst>
              <a:gd name="adj" fmla="val 14583"/>
            </a:avLst>
          </a:prstGeom>
          <a:solidFill>
            <a:srgbClr val="84CC16"/>
          </a:solidFill>
          <a:ln w="12700">
            <a:solidFill>
              <a:srgbClr val="84CC16"/>
            </a:solidFill>
            <a:prstDash val="solid"/>
          </a:ln>
        </p:spPr>
      </p:sp>
      <p:sp>
        <p:nvSpPr>
          <p:cNvPr id="39" name="Text 37"/>
          <p:cNvSpPr/>
          <p:nvPr/>
        </p:nvSpPr>
        <p:spPr>
          <a:xfrm>
            <a:off x="10287000" y="4517136"/>
            <a:ext cx="1664208"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Engineering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ALL EXCEL FUNCTION CATEGORIES - 300+ Functions Overview</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EXCEL FUNCTIONS WORK - Anatomy of a Formula</a:t>
            </a:r>
            <a:endParaRPr lang="en-US" sz="2600" dirty="0"/>
          </a:p>
        </p:txBody>
      </p:sp>
      <p:sp>
        <p:nvSpPr>
          <p:cNvPr id="4" name="Shape 2"/>
          <p:cNvSpPr/>
          <p:nvPr/>
        </p:nvSpPr>
        <p:spPr>
          <a:xfrm>
            <a:off x="411480" y="1024128"/>
            <a:ext cx="1362456" cy="1335024"/>
          </a:xfrm>
          <a:prstGeom prst="roundRect">
            <a:avLst>
              <a:gd name="adj" fmla="val 4110"/>
            </a:avLst>
          </a:prstGeom>
          <a:solidFill>
            <a:srgbClr val="F43F5E"/>
          </a:solidFill>
          <a:ln w="12700">
            <a:solidFill>
              <a:srgbClr val="F43F5E"/>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41148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1828800" y="1024128"/>
            <a:ext cx="1362456" cy="1335024"/>
          </a:xfrm>
          <a:prstGeom prst="roundRect">
            <a:avLst>
              <a:gd name="adj" fmla="val 4110"/>
            </a:avLst>
          </a:prstGeom>
          <a:solidFill>
            <a:srgbClr val="217346"/>
          </a:solidFill>
          <a:ln w="12700">
            <a:solidFill>
              <a:srgbClr val="217346"/>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182880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SUMIFS</a:t>
            </a:r>
            <a:endParaRPr lang="en-US" sz="1100" dirty="0"/>
          </a:p>
        </p:txBody>
      </p:sp>
      <p:sp>
        <p:nvSpPr>
          <p:cNvPr id="8" name="Shape 6"/>
          <p:cNvSpPr/>
          <p:nvPr/>
        </p:nvSpPr>
        <p:spPr>
          <a:xfrm>
            <a:off x="3246120" y="1024128"/>
            <a:ext cx="1362456" cy="1335024"/>
          </a:xfrm>
          <a:prstGeom prst="roundRect">
            <a:avLst>
              <a:gd name="adj" fmla="val 4110"/>
            </a:avLst>
          </a:prstGeom>
          <a:solidFill>
            <a:srgbClr val="64748B"/>
          </a:solidFill>
          <a:ln w="12700">
            <a:solidFill>
              <a:srgbClr val="64748B"/>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24612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4663440" y="1024128"/>
            <a:ext cx="1362456" cy="1335024"/>
          </a:xfrm>
          <a:prstGeom prst="roundRect">
            <a:avLst>
              <a:gd name="adj" fmla="val 4110"/>
            </a:avLst>
          </a:prstGeom>
          <a:solidFill>
            <a:srgbClr val="3B82F6"/>
          </a:solidFill>
          <a:ln w="12700">
            <a:solidFill>
              <a:srgbClr val="3B82F6"/>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466344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C2:C100</a:t>
            </a:r>
            <a:endParaRPr lang="en-US" sz="1100" dirty="0"/>
          </a:p>
        </p:txBody>
      </p:sp>
      <p:sp>
        <p:nvSpPr>
          <p:cNvPr id="12" name="Shape 10"/>
          <p:cNvSpPr/>
          <p:nvPr/>
        </p:nvSpPr>
        <p:spPr>
          <a:xfrm>
            <a:off x="6080760" y="1024128"/>
            <a:ext cx="1362456" cy="1335024"/>
          </a:xfrm>
          <a:prstGeom prst="roundRect">
            <a:avLst>
              <a:gd name="adj" fmla="val 4110"/>
            </a:avLst>
          </a:prstGeom>
          <a:solidFill>
            <a:srgbClr val="8B5CF6"/>
          </a:solidFill>
          <a:ln w="12700">
            <a:solidFill>
              <a:srgbClr val="8B5CF6"/>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608076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A2:A100</a:t>
            </a:r>
            <a:endParaRPr lang="en-US" sz="1100" dirty="0"/>
          </a:p>
        </p:txBody>
      </p:sp>
      <p:sp>
        <p:nvSpPr>
          <p:cNvPr id="14" name="Shape 12"/>
          <p:cNvSpPr/>
          <p:nvPr/>
        </p:nvSpPr>
        <p:spPr>
          <a:xfrm>
            <a:off x="7498080" y="1024128"/>
            <a:ext cx="1362456" cy="1335024"/>
          </a:xfrm>
          <a:prstGeom prst="roundRect">
            <a:avLst>
              <a:gd name="adj" fmla="val 4110"/>
            </a:avLst>
          </a:prstGeom>
          <a:solidFill>
            <a:srgbClr val="F59E0B"/>
          </a:solidFill>
          <a:ln w="12700">
            <a:solidFill>
              <a:srgbClr val="F59E0B"/>
            </a:solidFill>
            <a:prstDash val="solid"/>
          </a:ln>
          <a:effectLst>
            <a:outerShdw sx="100000" sy="100000" kx="0" ky="0" algn="bl" rotWithShape="0" blurRad="63500" dist="25400" dir="2700000">
              <a:srgbClr val="000000">
                <a:alpha val="12000"/>
              </a:srgbClr>
            </a:outerShdw>
          </a:effectLst>
        </p:spPr>
      </p:sp>
      <p:sp>
        <p:nvSpPr>
          <p:cNvPr id="15" name="Text 13"/>
          <p:cNvSpPr/>
          <p:nvPr/>
        </p:nvSpPr>
        <p:spPr>
          <a:xfrm>
            <a:off x="749808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"Lagos"</a:t>
            </a:r>
            <a:endParaRPr lang="en-US" sz="1100" dirty="0"/>
          </a:p>
        </p:txBody>
      </p:sp>
      <p:sp>
        <p:nvSpPr>
          <p:cNvPr id="16" name="Shape 14"/>
          <p:cNvSpPr/>
          <p:nvPr/>
        </p:nvSpPr>
        <p:spPr>
          <a:xfrm>
            <a:off x="8915400" y="1024128"/>
            <a:ext cx="1362456" cy="1335024"/>
          </a:xfrm>
          <a:prstGeom prst="roundRect">
            <a:avLst>
              <a:gd name="adj" fmla="val 4110"/>
            </a:avLst>
          </a:prstGeom>
          <a:solidFill>
            <a:srgbClr val="06B6D4"/>
          </a:solidFill>
          <a:ln w="12700">
            <a:solidFill>
              <a:srgbClr val="06B6D4"/>
            </a:solidFill>
            <a:prstDash val="solid"/>
          </a:ln>
          <a:effectLst>
            <a:outerShdw sx="100000" sy="100000" kx="0" ky="0" algn="bl" rotWithShape="0" blurRad="63500" dist="25400" dir="2700000">
              <a:srgbClr val="000000">
                <a:alpha val="12000"/>
              </a:srgbClr>
            </a:outerShdw>
          </a:effectLst>
        </p:spPr>
      </p:sp>
      <p:sp>
        <p:nvSpPr>
          <p:cNvPr id="17" name="Text 15"/>
          <p:cNvSpPr/>
          <p:nvPr/>
        </p:nvSpPr>
        <p:spPr>
          <a:xfrm>
            <a:off x="891540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B2:B100</a:t>
            </a:r>
            <a:endParaRPr lang="en-US" sz="1100" dirty="0"/>
          </a:p>
        </p:txBody>
      </p:sp>
      <p:sp>
        <p:nvSpPr>
          <p:cNvPr id="18" name="Shape 16"/>
          <p:cNvSpPr/>
          <p:nvPr/>
        </p:nvSpPr>
        <p:spPr>
          <a:xfrm>
            <a:off x="10332720" y="1024128"/>
            <a:ext cx="1362456" cy="1335024"/>
          </a:xfrm>
          <a:prstGeom prst="roundRect">
            <a:avLst>
              <a:gd name="adj" fmla="val 4110"/>
            </a:avLst>
          </a:prstGeom>
          <a:solidFill>
            <a:srgbClr val="F43F5E"/>
          </a:solidFill>
          <a:ln w="12700">
            <a:solidFill>
              <a:srgbClr val="F43F5E"/>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10332720" y="1024128"/>
            <a:ext cx="1362456" cy="13350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"&amp;gt;50000"</a:t>
            </a:r>
            <a:endParaRPr lang="en-US" sz="1100" dirty="0"/>
          </a:p>
        </p:txBody>
      </p:sp>
      <p:sp>
        <p:nvSpPr>
          <p:cNvPr id="20" name="Shape 18"/>
          <p:cNvSpPr/>
          <p:nvPr/>
        </p:nvSpPr>
        <p:spPr>
          <a:xfrm>
            <a:off x="411480" y="2432304"/>
            <a:ext cx="11338560" cy="36576"/>
          </a:xfrm>
          <a:prstGeom prst="rect">
            <a:avLst/>
          </a:prstGeom>
          <a:solidFill>
            <a:srgbClr val="1E293B"/>
          </a:solidFill>
          <a:ln w="12700">
            <a:solidFill>
              <a:srgbClr val="1E293B"/>
            </a:solidFill>
            <a:prstDash val="solid"/>
          </a:ln>
        </p:spPr>
      </p:sp>
      <p:sp>
        <p:nvSpPr>
          <p:cNvPr id="21" name="Shape 19"/>
          <p:cNvSpPr/>
          <p:nvPr/>
        </p:nvSpPr>
        <p:spPr>
          <a:xfrm>
            <a:off x="411480" y="2487168"/>
            <a:ext cx="1362456" cy="1444752"/>
          </a:xfrm>
          <a:prstGeom prst="roundRect">
            <a:avLst>
              <a:gd name="adj" fmla="val 5369"/>
            </a:avLst>
          </a:prstGeom>
          <a:solidFill>
            <a:srgbClr val="111E35"/>
          </a:solidFill>
          <a:ln w="12700">
            <a:solidFill>
              <a:srgbClr val="F43F5E"/>
            </a:solidFill>
            <a:prstDash val="solid"/>
          </a:ln>
        </p:spPr>
      </p:sp>
      <p:sp>
        <p:nvSpPr>
          <p:cNvPr id="22" name="Text 20"/>
          <p:cNvSpPr/>
          <p:nvPr/>
        </p:nvSpPr>
        <p:spPr>
          <a:xfrm>
            <a:off x="466344" y="2542032"/>
            <a:ext cx="1252728" cy="256032"/>
          </a:xfrm>
          <a:prstGeom prst="rect">
            <a:avLst/>
          </a:prstGeom>
          <a:noFill/>
          <a:ln/>
        </p:spPr>
        <p:txBody>
          <a:bodyPr wrap="square" lIns="0" tIns="0" rIns="0" bIns="0" rtlCol="0" anchor="ctr"/>
          <a:lstStyle/>
          <a:p>
            <a:pPr indent="0" marL="0">
              <a:buNone/>
            </a:pPr>
            <a:r>
              <a:rPr lang="en-US" sz="900" b="1" dirty="0">
                <a:solidFill>
                  <a:srgbClr val="F43F5E"/>
                </a:solidFill>
                <a:latin typeface="Cambria" pitchFamily="34" charset="0"/>
                <a:ea typeface="Cambria" pitchFamily="34" charset="-122"/>
                <a:cs typeface="Cambria" pitchFamily="34" charset="-120"/>
              </a:rPr>
              <a:t>Equals sign</a:t>
            </a:r>
            <a:endParaRPr lang="en-US" sz="900" dirty="0"/>
          </a:p>
        </p:txBody>
      </p:sp>
      <p:sp>
        <p:nvSpPr>
          <p:cNvPr id="23" name="Text 21"/>
          <p:cNvSpPr/>
          <p:nvPr/>
        </p:nvSpPr>
        <p:spPr>
          <a:xfrm>
            <a:off x="46634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Every formula must start with = to tell Excel this is a formula, not plain text.</a:t>
            </a:r>
            <a:endParaRPr lang="en-US" sz="850" dirty="0"/>
          </a:p>
        </p:txBody>
      </p:sp>
      <p:sp>
        <p:nvSpPr>
          <p:cNvPr id="24" name="Shape 22"/>
          <p:cNvSpPr/>
          <p:nvPr/>
        </p:nvSpPr>
        <p:spPr>
          <a:xfrm>
            <a:off x="1828800" y="2487168"/>
            <a:ext cx="1362456" cy="1444752"/>
          </a:xfrm>
          <a:prstGeom prst="roundRect">
            <a:avLst>
              <a:gd name="adj" fmla="val 5369"/>
            </a:avLst>
          </a:prstGeom>
          <a:solidFill>
            <a:srgbClr val="111E35"/>
          </a:solidFill>
          <a:ln w="12700">
            <a:solidFill>
              <a:srgbClr val="217346"/>
            </a:solidFill>
            <a:prstDash val="solid"/>
          </a:ln>
        </p:spPr>
      </p:sp>
      <p:sp>
        <p:nvSpPr>
          <p:cNvPr id="25" name="Text 23"/>
          <p:cNvSpPr/>
          <p:nvPr/>
        </p:nvSpPr>
        <p:spPr>
          <a:xfrm>
            <a:off x="1883664" y="2542032"/>
            <a:ext cx="1252728" cy="256032"/>
          </a:xfrm>
          <a:prstGeom prst="rect">
            <a:avLst/>
          </a:prstGeom>
          <a:noFill/>
          <a:ln/>
        </p:spPr>
        <p:txBody>
          <a:bodyPr wrap="square" lIns="0" tIns="0" rIns="0" bIns="0" rtlCol="0" anchor="ctr"/>
          <a:lstStyle/>
          <a:p>
            <a:pPr indent="0" marL="0">
              <a:buNone/>
            </a:pPr>
            <a:r>
              <a:rPr lang="en-US" sz="900" b="1" dirty="0">
                <a:solidFill>
                  <a:srgbClr val="217346"/>
                </a:solidFill>
                <a:latin typeface="Cambria" pitchFamily="34" charset="0"/>
                <a:ea typeface="Cambria" pitchFamily="34" charset="-122"/>
                <a:cs typeface="Cambria" pitchFamily="34" charset="-120"/>
              </a:rPr>
              <a:t>Function name</a:t>
            </a:r>
            <a:endParaRPr lang="en-US" sz="900" dirty="0"/>
          </a:p>
        </p:txBody>
      </p:sp>
      <p:sp>
        <p:nvSpPr>
          <p:cNvPr id="26" name="Text 24"/>
          <p:cNvSpPr/>
          <p:nvPr/>
        </p:nvSpPr>
        <p:spPr>
          <a:xfrm>
            <a:off x="188366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The Excel function being called. Not case-sensitive. SUMIFS = SUMIFS = sumifs.</a:t>
            </a:r>
            <a:endParaRPr lang="en-US" sz="850" dirty="0"/>
          </a:p>
        </p:txBody>
      </p:sp>
      <p:sp>
        <p:nvSpPr>
          <p:cNvPr id="27" name="Shape 25"/>
          <p:cNvSpPr/>
          <p:nvPr/>
        </p:nvSpPr>
        <p:spPr>
          <a:xfrm>
            <a:off x="3246120" y="2487168"/>
            <a:ext cx="1362456" cy="1444752"/>
          </a:xfrm>
          <a:prstGeom prst="roundRect">
            <a:avLst>
              <a:gd name="adj" fmla="val 5369"/>
            </a:avLst>
          </a:prstGeom>
          <a:solidFill>
            <a:srgbClr val="111E35"/>
          </a:solidFill>
          <a:ln w="12700">
            <a:solidFill>
              <a:srgbClr val="64748B"/>
            </a:solidFill>
            <a:prstDash val="solid"/>
          </a:ln>
        </p:spPr>
      </p:sp>
      <p:sp>
        <p:nvSpPr>
          <p:cNvPr id="28" name="Text 26"/>
          <p:cNvSpPr/>
          <p:nvPr/>
        </p:nvSpPr>
        <p:spPr>
          <a:xfrm>
            <a:off x="3300984" y="2542032"/>
            <a:ext cx="1252728" cy="256032"/>
          </a:xfrm>
          <a:prstGeom prst="rect">
            <a:avLst/>
          </a:prstGeom>
          <a:noFill/>
          <a:ln/>
        </p:spPr>
        <p:txBody>
          <a:bodyPr wrap="square" lIns="0" tIns="0" rIns="0" bIns="0" rtlCol="0" anchor="ctr"/>
          <a:lstStyle/>
          <a:p>
            <a:pPr indent="0" marL="0">
              <a:buNone/>
            </a:pPr>
            <a:r>
              <a:rPr lang="en-US" sz="900" b="1" dirty="0">
                <a:solidFill>
                  <a:srgbClr val="64748B"/>
                </a:solidFill>
                <a:latin typeface="Cambria" pitchFamily="34" charset="0"/>
                <a:ea typeface="Cambria" pitchFamily="34" charset="-122"/>
                <a:cs typeface="Cambria" pitchFamily="34" charset="-120"/>
              </a:rPr>
              <a:t>Opening bracket</a:t>
            </a:r>
            <a:endParaRPr lang="en-US" sz="900" dirty="0"/>
          </a:p>
        </p:txBody>
      </p:sp>
      <p:sp>
        <p:nvSpPr>
          <p:cNvPr id="29" name="Text 27"/>
          <p:cNvSpPr/>
          <p:nvPr/>
        </p:nvSpPr>
        <p:spPr>
          <a:xfrm>
            <a:off x="330098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Always required after function name. Encloses the arguments.</a:t>
            </a:r>
            <a:endParaRPr lang="en-US" sz="850" dirty="0"/>
          </a:p>
        </p:txBody>
      </p:sp>
      <p:sp>
        <p:nvSpPr>
          <p:cNvPr id="30" name="Shape 28"/>
          <p:cNvSpPr/>
          <p:nvPr/>
        </p:nvSpPr>
        <p:spPr>
          <a:xfrm>
            <a:off x="4663440" y="2487168"/>
            <a:ext cx="1362456" cy="1444752"/>
          </a:xfrm>
          <a:prstGeom prst="roundRect">
            <a:avLst>
              <a:gd name="adj" fmla="val 5369"/>
            </a:avLst>
          </a:prstGeom>
          <a:solidFill>
            <a:srgbClr val="111E35"/>
          </a:solidFill>
          <a:ln w="12700">
            <a:solidFill>
              <a:srgbClr val="3B82F6"/>
            </a:solidFill>
            <a:prstDash val="solid"/>
          </a:ln>
        </p:spPr>
      </p:sp>
      <p:sp>
        <p:nvSpPr>
          <p:cNvPr id="31" name="Text 29"/>
          <p:cNvSpPr/>
          <p:nvPr/>
        </p:nvSpPr>
        <p:spPr>
          <a:xfrm>
            <a:off x="4718304" y="2542032"/>
            <a:ext cx="1252728" cy="256032"/>
          </a:xfrm>
          <a:prstGeom prst="rect">
            <a:avLst/>
          </a:prstGeom>
          <a:noFill/>
          <a:ln/>
        </p:spPr>
        <p:txBody>
          <a:bodyPr wrap="square" lIns="0" tIns="0" rIns="0" bIns="0" rtlCol="0" anchor="ctr"/>
          <a:lstStyle/>
          <a:p>
            <a:pPr indent="0" marL="0">
              <a:buNone/>
            </a:pPr>
            <a:r>
              <a:rPr lang="en-US" sz="900" b="1" dirty="0">
                <a:solidFill>
                  <a:srgbClr val="3B82F6"/>
                </a:solidFill>
                <a:latin typeface="Cambria" pitchFamily="34" charset="0"/>
                <a:ea typeface="Cambria" pitchFamily="34" charset="-122"/>
                <a:cs typeface="Cambria" pitchFamily="34" charset="-120"/>
              </a:rPr>
              <a:t>sum_range</a:t>
            </a:r>
            <a:endParaRPr lang="en-US" sz="900" dirty="0"/>
          </a:p>
        </p:txBody>
      </p:sp>
      <p:sp>
        <p:nvSpPr>
          <p:cNvPr id="32" name="Text 30"/>
          <p:cNvSpPr/>
          <p:nvPr/>
        </p:nvSpPr>
        <p:spPr>
          <a:xfrm>
            <a:off x="471830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The range to ADD UP. For SUMIFS this comes FIRST (different from SUMIF).</a:t>
            </a:r>
            <a:endParaRPr lang="en-US" sz="850" dirty="0"/>
          </a:p>
        </p:txBody>
      </p:sp>
      <p:sp>
        <p:nvSpPr>
          <p:cNvPr id="33" name="Shape 31"/>
          <p:cNvSpPr/>
          <p:nvPr/>
        </p:nvSpPr>
        <p:spPr>
          <a:xfrm>
            <a:off x="6080760" y="2487168"/>
            <a:ext cx="1362456" cy="1444752"/>
          </a:xfrm>
          <a:prstGeom prst="roundRect">
            <a:avLst>
              <a:gd name="adj" fmla="val 5369"/>
            </a:avLst>
          </a:prstGeom>
          <a:solidFill>
            <a:srgbClr val="111E35"/>
          </a:solidFill>
          <a:ln w="12700">
            <a:solidFill>
              <a:srgbClr val="8B5CF6"/>
            </a:solidFill>
            <a:prstDash val="solid"/>
          </a:ln>
        </p:spPr>
      </p:sp>
      <p:sp>
        <p:nvSpPr>
          <p:cNvPr id="34" name="Text 32"/>
          <p:cNvSpPr/>
          <p:nvPr/>
        </p:nvSpPr>
        <p:spPr>
          <a:xfrm>
            <a:off x="6135624" y="2542032"/>
            <a:ext cx="1252728" cy="256032"/>
          </a:xfrm>
          <a:prstGeom prst="rect">
            <a:avLst/>
          </a:prstGeom>
          <a:noFill/>
          <a:ln/>
        </p:spPr>
        <p:txBody>
          <a:bodyPr wrap="square" lIns="0" tIns="0" rIns="0" bIns="0" rtlCol="0" anchor="ctr"/>
          <a:lstStyle/>
          <a:p>
            <a:pPr indent="0" marL="0">
              <a:buNone/>
            </a:pPr>
            <a:r>
              <a:rPr lang="en-US" sz="900" b="1" dirty="0">
                <a:solidFill>
                  <a:srgbClr val="8B5CF6"/>
                </a:solidFill>
                <a:latin typeface="Cambria" pitchFamily="34" charset="0"/>
                <a:ea typeface="Cambria" pitchFamily="34" charset="-122"/>
                <a:cs typeface="Cambria" pitchFamily="34" charset="-120"/>
              </a:rPr>
              <a:t>criteria_range1</a:t>
            </a:r>
            <a:endParaRPr lang="en-US" sz="900" dirty="0"/>
          </a:p>
        </p:txBody>
      </p:sp>
      <p:sp>
        <p:nvSpPr>
          <p:cNvPr id="35" name="Text 33"/>
          <p:cNvSpPr/>
          <p:nvPr/>
        </p:nvSpPr>
        <p:spPr>
          <a:xfrm>
            <a:off x="613562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The range to CHECK. Excel compares each cell here against the criteria.</a:t>
            </a:r>
            <a:endParaRPr lang="en-US" sz="850" dirty="0"/>
          </a:p>
        </p:txBody>
      </p:sp>
      <p:sp>
        <p:nvSpPr>
          <p:cNvPr id="36" name="Shape 34"/>
          <p:cNvSpPr/>
          <p:nvPr/>
        </p:nvSpPr>
        <p:spPr>
          <a:xfrm>
            <a:off x="7498080" y="2487168"/>
            <a:ext cx="1362456" cy="1444752"/>
          </a:xfrm>
          <a:prstGeom prst="roundRect">
            <a:avLst>
              <a:gd name="adj" fmla="val 5369"/>
            </a:avLst>
          </a:prstGeom>
          <a:solidFill>
            <a:srgbClr val="111E35"/>
          </a:solidFill>
          <a:ln w="12700">
            <a:solidFill>
              <a:srgbClr val="F59E0B"/>
            </a:solidFill>
            <a:prstDash val="solid"/>
          </a:ln>
        </p:spPr>
      </p:sp>
      <p:sp>
        <p:nvSpPr>
          <p:cNvPr id="37" name="Text 35"/>
          <p:cNvSpPr/>
          <p:nvPr/>
        </p:nvSpPr>
        <p:spPr>
          <a:xfrm>
            <a:off x="7552944" y="2542032"/>
            <a:ext cx="1252728" cy="256032"/>
          </a:xfrm>
          <a:prstGeom prst="rect">
            <a:avLst/>
          </a:prstGeom>
          <a:noFill/>
          <a:ln/>
        </p:spPr>
        <p:txBody>
          <a:bodyPr wrap="square" lIns="0" tIns="0" rIns="0" bIns="0" rtlCol="0" anchor="ctr"/>
          <a:lstStyle/>
          <a:p>
            <a:pPr indent="0" marL="0">
              <a:buNone/>
            </a:pPr>
            <a:r>
              <a:rPr lang="en-US" sz="900" b="1" dirty="0">
                <a:solidFill>
                  <a:srgbClr val="F59E0B"/>
                </a:solidFill>
                <a:latin typeface="Cambria" pitchFamily="34" charset="0"/>
                <a:ea typeface="Cambria" pitchFamily="34" charset="-122"/>
                <a:cs typeface="Cambria" pitchFamily="34" charset="-120"/>
              </a:rPr>
              <a:t>criteria1</a:t>
            </a:r>
            <a:endParaRPr lang="en-US" sz="900" dirty="0"/>
          </a:p>
        </p:txBody>
      </p:sp>
      <p:sp>
        <p:nvSpPr>
          <p:cNvPr id="38" name="Text 36"/>
          <p:cNvSpPr/>
          <p:nvPr/>
        </p:nvSpPr>
        <p:spPr>
          <a:xfrm>
            <a:off x="755294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What to look for in criteria_range1. Text must be in quotes. Numbers do not need quotes.</a:t>
            </a:r>
            <a:endParaRPr lang="en-US" sz="850" dirty="0"/>
          </a:p>
        </p:txBody>
      </p:sp>
      <p:sp>
        <p:nvSpPr>
          <p:cNvPr id="39" name="Shape 37"/>
          <p:cNvSpPr/>
          <p:nvPr/>
        </p:nvSpPr>
        <p:spPr>
          <a:xfrm>
            <a:off x="8915400" y="2487168"/>
            <a:ext cx="1362456" cy="1444752"/>
          </a:xfrm>
          <a:prstGeom prst="roundRect">
            <a:avLst>
              <a:gd name="adj" fmla="val 5369"/>
            </a:avLst>
          </a:prstGeom>
          <a:solidFill>
            <a:srgbClr val="111E35"/>
          </a:solidFill>
          <a:ln w="12700">
            <a:solidFill>
              <a:srgbClr val="06B6D4"/>
            </a:solidFill>
            <a:prstDash val="solid"/>
          </a:ln>
        </p:spPr>
      </p:sp>
      <p:sp>
        <p:nvSpPr>
          <p:cNvPr id="40" name="Text 38"/>
          <p:cNvSpPr/>
          <p:nvPr/>
        </p:nvSpPr>
        <p:spPr>
          <a:xfrm>
            <a:off x="8970264" y="2542032"/>
            <a:ext cx="1252728" cy="256032"/>
          </a:xfrm>
          <a:prstGeom prst="rect">
            <a:avLst/>
          </a:prstGeom>
          <a:noFill/>
          <a:ln/>
        </p:spPr>
        <p:txBody>
          <a:bodyPr wrap="square" lIns="0" tIns="0" rIns="0" bIns="0" rtlCol="0" anchor="ctr"/>
          <a:lstStyle/>
          <a:p>
            <a:pPr indent="0" marL="0">
              <a:buNone/>
            </a:pPr>
            <a:r>
              <a:rPr lang="en-US" sz="900" b="1" dirty="0">
                <a:solidFill>
                  <a:srgbClr val="06B6D4"/>
                </a:solidFill>
                <a:latin typeface="Cambria" pitchFamily="34" charset="0"/>
                <a:ea typeface="Cambria" pitchFamily="34" charset="-122"/>
                <a:cs typeface="Cambria" pitchFamily="34" charset="-120"/>
              </a:rPr>
              <a:t>criteria_range2</a:t>
            </a:r>
            <a:endParaRPr lang="en-US" sz="900" dirty="0"/>
          </a:p>
        </p:txBody>
      </p:sp>
      <p:sp>
        <p:nvSpPr>
          <p:cNvPr id="41" name="Text 39"/>
          <p:cNvSpPr/>
          <p:nvPr/>
        </p:nvSpPr>
        <p:spPr>
          <a:xfrm>
            <a:off x="897026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Second range to check. Can add up to 127 criteria_range/criteria pairs.</a:t>
            </a:r>
            <a:endParaRPr lang="en-US" sz="850" dirty="0"/>
          </a:p>
        </p:txBody>
      </p:sp>
      <p:sp>
        <p:nvSpPr>
          <p:cNvPr id="42" name="Shape 40"/>
          <p:cNvSpPr/>
          <p:nvPr/>
        </p:nvSpPr>
        <p:spPr>
          <a:xfrm>
            <a:off x="10332720" y="2487168"/>
            <a:ext cx="1362456" cy="1444752"/>
          </a:xfrm>
          <a:prstGeom prst="roundRect">
            <a:avLst>
              <a:gd name="adj" fmla="val 5369"/>
            </a:avLst>
          </a:prstGeom>
          <a:solidFill>
            <a:srgbClr val="111E35"/>
          </a:solidFill>
          <a:ln w="12700">
            <a:solidFill>
              <a:srgbClr val="F43F5E"/>
            </a:solidFill>
            <a:prstDash val="solid"/>
          </a:ln>
        </p:spPr>
      </p:sp>
      <p:sp>
        <p:nvSpPr>
          <p:cNvPr id="43" name="Text 41"/>
          <p:cNvSpPr/>
          <p:nvPr/>
        </p:nvSpPr>
        <p:spPr>
          <a:xfrm>
            <a:off x="10387584" y="2542032"/>
            <a:ext cx="1252728" cy="256032"/>
          </a:xfrm>
          <a:prstGeom prst="rect">
            <a:avLst/>
          </a:prstGeom>
          <a:noFill/>
          <a:ln/>
        </p:spPr>
        <p:txBody>
          <a:bodyPr wrap="square" lIns="0" tIns="0" rIns="0" bIns="0" rtlCol="0" anchor="ctr"/>
          <a:lstStyle/>
          <a:p>
            <a:pPr indent="0" marL="0">
              <a:buNone/>
            </a:pPr>
            <a:r>
              <a:rPr lang="en-US" sz="900" b="1" dirty="0">
                <a:solidFill>
                  <a:srgbClr val="F43F5E"/>
                </a:solidFill>
                <a:latin typeface="Cambria" pitchFamily="34" charset="0"/>
                <a:ea typeface="Cambria" pitchFamily="34" charset="-122"/>
                <a:cs typeface="Cambria" pitchFamily="34" charset="-120"/>
              </a:rPr>
              <a:t>criteria2</a:t>
            </a:r>
            <a:endParaRPr lang="en-US" sz="900" dirty="0"/>
          </a:p>
        </p:txBody>
      </p:sp>
      <p:sp>
        <p:nvSpPr>
          <p:cNvPr id="44" name="Text 42"/>
          <p:cNvSpPr/>
          <p:nvPr/>
        </p:nvSpPr>
        <p:spPr>
          <a:xfrm>
            <a:off x="10387584" y="2816352"/>
            <a:ext cx="1252728" cy="106070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Operator + value in quotes. Operators: &amp;gt; &amp;lt; &amp;gt;= &amp;lt;= &amp;lt;&amp;gt; (not equal). E.g. "&amp;gt;50000".</a:t>
            </a:r>
            <a:endParaRPr lang="en-US" sz="850" dirty="0"/>
          </a:p>
        </p:txBody>
      </p:sp>
      <p:sp>
        <p:nvSpPr>
          <p:cNvPr id="45" name="Shape 43"/>
          <p:cNvSpPr/>
          <p:nvPr/>
        </p:nvSpPr>
        <p:spPr>
          <a:xfrm>
            <a:off x="411480" y="4005072"/>
            <a:ext cx="11338560" cy="475488"/>
          </a:xfrm>
          <a:prstGeom prst="roundRect">
            <a:avLst>
              <a:gd name="adj" fmla="val 15385"/>
            </a:avLst>
          </a:prstGeom>
          <a:solidFill>
            <a:srgbClr val="0D1117"/>
          </a:solidFill>
          <a:ln w="15240">
            <a:solidFill>
              <a:srgbClr val="70AD47"/>
            </a:solidFill>
            <a:prstDash val="solid"/>
          </a:ln>
        </p:spPr>
      </p:sp>
      <p:sp>
        <p:nvSpPr>
          <p:cNvPr id="46" name="Text 44"/>
          <p:cNvSpPr/>
          <p:nvPr/>
        </p:nvSpPr>
        <p:spPr>
          <a:xfrm>
            <a:off x="548640" y="4059936"/>
            <a:ext cx="11064240" cy="365760"/>
          </a:xfrm>
          <a:prstGeom prst="rect">
            <a:avLst/>
          </a:prstGeom>
          <a:noFill/>
          <a:ln/>
        </p:spPr>
        <p:txBody>
          <a:bodyPr wrap="square" lIns="0" tIns="0" rIns="0" bIns="0" rtlCol="0" anchor="ctr"/>
          <a:lstStyle/>
          <a:p>
            <a:pPr indent="0" marL="0">
              <a:buNone/>
            </a:pPr>
            <a:r>
              <a:rPr lang="en-US" sz="1200" b="1" dirty="0">
                <a:solidFill>
                  <a:srgbClr val="22C55E"/>
                </a:solidFill>
                <a:latin typeface="Courier New" pitchFamily="34" charset="0"/>
                <a:ea typeface="Courier New" pitchFamily="34" charset="-122"/>
                <a:cs typeface="Courier New" pitchFamily="34" charset="-120"/>
              </a:rPr>
              <a:t>=SUMIFS( C2:C100, A2:A100, "Lagos", B2:B100, "&amp;gt;50000" )</a:t>
            </a:r>
            <a:endParaRPr lang="en-US" sz="1200" dirty="0"/>
          </a:p>
        </p:txBody>
      </p:sp>
      <p:sp>
        <p:nvSpPr>
          <p:cNvPr id="47" name="Shape 45"/>
          <p:cNvSpPr/>
          <p:nvPr/>
        </p:nvSpPr>
        <p:spPr>
          <a:xfrm>
            <a:off x="411480" y="4572000"/>
            <a:ext cx="11338560" cy="2157984"/>
          </a:xfrm>
          <a:prstGeom prst="roundRect">
            <a:avLst>
              <a:gd name="adj" fmla="val 4237"/>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8" name="Shape 46"/>
          <p:cNvSpPr/>
          <p:nvPr/>
        </p:nvSpPr>
        <p:spPr>
          <a:xfrm>
            <a:off x="411480" y="4572000"/>
            <a:ext cx="11338560" cy="329184"/>
          </a:xfrm>
          <a:prstGeom prst="roundRect">
            <a:avLst>
              <a:gd name="adj" fmla="val 27778"/>
            </a:avLst>
          </a:prstGeom>
          <a:solidFill>
            <a:srgbClr val="111E35"/>
          </a:solidFill>
          <a:ln w="12700">
            <a:solidFill>
              <a:srgbClr val="111E35"/>
            </a:solidFill>
            <a:prstDash val="solid"/>
          </a:ln>
        </p:spPr>
      </p:sp>
      <p:sp>
        <p:nvSpPr>
          <p:cNvPr id="49" name="Shape 47"/>
          <p:cNvSpPr/>
          <p:nvPr/>
        </p:nvSpPr>
        <p:spPr>
          <a:xfrm>
            <a:off x="411480" y="4754880"/>
            <a:ext cx="11338560" cy="146304"/>
          </a:xfrm>
          <a:prstGeom prst="rect">
            <a:avLst/>
          </a:prstGeom>
          <a:solidFill>
            <a:srgbClr val="111E35"/>
          </a:solidFill>
          <a:ln w="12700">
            <a:solidFill>
              <a:srgbClr val="111E35"/>
            </a:solidFill>
            <a:prstDash val="solid"/>
          </a:ln>
        </p:spPr>
      </p:sp>
      <p:sp>
        <p:nvSpPr>
          <p:cNvPr id="50" name="Shape 48"/>
          <p:cNvSpPr/>
          <p:nvPr/>
        </p:nvSpPr>
        <p:spPr>
          <a:xfrm>
            <a:off x="539496" y="4663440"/>
            <a:ext cx="146304" cy="146304"/>
          </a:xfrm>
          <a:prstGeom prst="ellipse">
            <a:avLst/>
          </a:prstGeom>
          <a:solidFill>
            <a:srgbClr val="F43F5E"/>
          </a:solidFill>
          <a:ln w="12700">
            <a:solidFill>
              <a:srgbClr val="F43F5E"/>
            </a:solidFill>
            <a:prstDash val="solid"/>
          </a:ln>
        </p:spPr>
      </p:sp>
      <p:sp>
        <p:nvSpPr>
          <p:cNvPr id="51" name="Shape 49"/>
          <p:cNvSpPr/>
          <p:nvPr/>
        </p:nvSpPr>
        <p:spPr>
          <a:xfrm>
            <a:off x="740664" y="4663440"/>
            <a:ext cx="146304" cy="146304"/>
          </a:xfrm>
          <a:prstGeom prst="ellipse">
            <a:avLst/>
          </a:prstGeom>
          <a:solidFill>
            <a:srgbClr val="F59E0B"/>
          </a:solidFill>
          <a:ln w="12700">
            <a:solidFill>
              <a:srgbClr val="F59E0B"/>
            </a:solidFill>
            <a:prstDash val="solid"/>
          </a:ln>
        </p:spPr>
      </p:sp>
      <p:sp>
        <p:nvSpPr>
          <p:cNvPr id="52" name="Shape 50"/>
          <p:cNvSpPr/>
          <p:nvPr/>
        </p:nvSpPr>
        <p:spPr>
          <a:xfrm>
            <a:off x="941832" y="4663440"/>
            <a:ext cx="146304" cy="146304"/>
          </a:xfrm>
          <a:prstGeom prst="ellipse">
            <a:avLst/>
          </a:prstGeom>
          <a:solidFill>
            <a:srgbClr val="70AD47"/>
          </a:solidFill>
          <a:ln w="12700">
            <a:solidFill>
              <a:srgbClr val="70AD47"/>
            </a:solidFill>
            <a:prstDash val="solid"/>
          </a:ln>
        </p:spPr>
      </p:sp>
      <p:sp>
        <p:nvSpPr>
          <p:cNvPr id="53" name="Text 51"/>
          <p:cNvSpPr/>
          <p:nvPr/>
        </p:nvSpPr>
        <p:spPr>
          <a:xfrm>
            <a:off x="1143000" y="4626864"/>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rules.xlsx</a:t>
            </a:r>
            <a:endParaRPr lang="en-US" sz="900" dirty="0"/>
          </a:p>
        </p:txBody>
      </p:sp>
      <p:sp>
        <p:nvSpPr>
          <p:cNvPr id="54" name="Text 52"/>
          <p:cNvSpPr/>
          <p:nvPr/>
        </p:nvSpPr>
        <p:spPr>
          <a:xfrm>
            <a:off x="557784" y="4956048"/>
            <a:ext cx="11064240" cy="16642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Golden Rules for Excel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1.  Every formula starts with  =  (equals sign)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2.  Arguments are separated by  ,  (comma)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3.  Text values must be in  "quotes"  -  numbers do not need quotes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4.  Ranges use  :  (colon):  A1:A100  means A1 through A100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5.  Press  Shift+F3  to open Insert Function dialog with argument helper</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6.  Press  Ctrl+`  to show all formulas instead of results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7.  F4  inside a cell reference toggles  $  to make it absolute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8.  Wrap any formula with  =IFERROR(formula, "error message")  to handle errors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217346"/>
                </a:solidFill>
                <a:latin typeface="Calibri" pitchFamily="34" charset="0"/>
                <a:ea typeface="Calibri" pitchFamily="34" charset="-122"/>
                <a:cs typeface="Calibri" pitchFamily="34" charset="-120"/>
              </a:rPr>
              <a:t>CATEGORY 01</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Math and Trig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SUM, SUMIF, SUMIFS, ROUND, INT, MOD, POWER, SQRT, ABS and more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MATH 01 - SUM, SUMIF, SUMIFS - The Most Used Functions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675120" cy="5029200"/>
          </a:xfrm>
          <a:prstGeom prst="rect">
            <a:avLst/>
          </a:prstGeom>
        </p:spPr>
      </p:pic>
      <p:sp>
        <p:nvSpPr>
          <p:cNvPr id="5" name="Shape 2"/>
          <p:cNvSpPr/>
          <p:nvPr/>
        </p:nvSpPr>
        <p:spPr>
          <a:xfrm>
            <a:off x="7269480" y="1024128"/>
            <a:ext cx="4663440" cy="548640"/>
          </a:xfrm>
          <a:prstGeom prst="rect">
            <a:avLst/>
          </a:prstGeom>
          <a:solidFill>
            <a:srgbClr val="217346"/>
          </a:solidFill>
          <a:ln w="3810">
            <a:solidFill>
              <a:srgbClr val="1A2845"/>
            </a:solidFill>
            <a:prstDash val="solid"/>
          </a:ln>
        </p:spPr>
      </p:sp>
      <p:sp>
        <p:nvSpPr>
          <p:cNvPr id="6" name="Shape 3"/>
          <p:cNvSpPr/>
          <p:nvPr/>
        </p:nvSpPr>
        <p:spPr>
          <a:xfrm>
            <a:off x="9134856" y="1024128"/>
            <a:ext cx="18288" cy="548640"/>
          </a:xfrm>
          <a:prstGeom prst="rect">
            <a:avLst/>
          </a:prstGeom>
          <a:solidFill>
            <a:srgbClr val="FFFFFF"/>
          </a:solidFill>
          <a:ln w="12700">
            <a:solidFill>
              <a:srgbClr val="FFFFFF"/>
            </a:solidFill>
            <a:prstDash val="solid"/>
          </a:ln>
        </p:spPr>
      </p:sp>
      <p:sp>
        <p:nvSpPr>
          <p:cNvPr id="7" name="Text 4"/>
          <p:cNvSpPr/>
          <p:nvPr/>
        </p:nvSpPr>
        <p:spPr>
          <a:xfrm>
            <a:off x="7360920" y="1060704"/>
            <a:ext cx="1737360"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26296" y="1060704"/>
            <a:ext cx="2615184"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p>
        </p:txBody>
      </p:sp>
      <p:sp>
        <p:nvSpPr>
          <p:cNvPr id="9" name="Shape 6"/>
          <p:cNvSpPr/>
          <p:nvPr/>
        </p:nvSpPr>
        <p:spPr>
          <a:xfrm>
            <a:off x="7269480" y="1572768"/>
            <a:ext cx="4663440" cy="548640"/>
          </a:xfrm>
          <a:prstGeom prst="rect">
            <a:avLst/>
          </a:prstGeom>
          <a:solidFill>
            <a:srgbClr val="141E36"/>
          </a:solidFill>
          <a:ln w="3810">
            <a:solidFill>
              <a:srgbClr val="1A2845"/>
            </a:solidFill>
            <a:prstDash val="solid"/>
          </a:ln>
        </p:spPr>
      </p:sp>
      <p:sp>
        <p:nvSpPr>
          <p:cNvPr id="10" name="Shape 7"/>
          <p:cNvSpPr/>
          <p:nvPr/>
        </p:nvSpPr>
        <p:spPr>
          <a:xfrm>
            <a:off x="9134856" y="1572768"/>
            <a:ext cx="18288" cy="548640"/>
          </a:xfrm>
          <a:prstGeom prst="rect">
            <a:avLst/>
          </a:prstGeom>
          <a:solidFill>
            <a:srgbClr val="1E293B"/>
          </a:solidFill>
          <a:ln w="12700">
            <a:solidFill>
              <a:srgbClr val="1E293B"/>
            </a:solidFill>
            <a:prstDash val="solid"/>
          </a:ln>
        </p:spPr>
      </p:sp>
      <p:sp>
        <p:nvSpPr>
          <p:cNvPr id="11" name="Text 8"/>
          <p:cNvSpPr/>
          <p:nvPr/>
        </p:nvSpPr>
        <p:spPr>
          <a:xfrm>
            <a:off x="7360920" y="160934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=SUM(B2:B100)</a:t>
            </a:r>
            <a:endParaRPr lang="en-US" sz="950" dirty="0"/>
          </a:p>
        </p:txBody>
      </p:sp>
      <p:sp>
        <p:nvSpPr>
          <p:cNvPr id="12" name="Text 9"/>
          <p:cNvSpPr/>
          <p:nvPr/>
        </p:nvSpPr>
        <p:spPr>
          <a:xfrm>
            <a:off x="9226296" y="160934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all numeric values in B2 through B100. Ignores text and blanks.</a:t>
            </a:r>
            <a:endParaRPr lang="en-US" sz="1000" dirty="0"/>
          </a:p>
        </p:txBody>
      </p:sp>
      <p:sp>
        <p:nvSpPr>
          <p:cNvPr id="13" name="Shape 10"/>
          <p:cNvSpPr/>
          <p:nvPr/>
        </p:nvSpPr>
        <p:spPr>
          <a:xfrm>
            <a:off x="7269480" y="2121408"/>
            <a:ext cx="4663440" cy="548640"/>
          </a:xfrm>
          <a:prstGeom prst="rect">
            <a:avLst/>
          </a:prstGeom>
          <a:solidFill>
            <a:srgbClr val="0F1D3C"/>
          </a:solidFill>
          <a:ln w="3810">
            <a:solidFill>
              <a:srgbClr val="1A2845"/>
            </a:solidFill>
            <a:prstDash val="solid"/>
          </a:ln>
        </p:spPr>
      </p:sp>
      <p:sp>
        <p:nvSpPr>
          <p:cNvPr id="14" name="Shape 11"/>
          <p:cNvSpPr/>
          <p:nvPr/>
        </p:nvSpPr>
        <p:spPr>
          <a:xfrm>
            <a:off x="9134856" y="2121408"/>
            <a:ext cx="18288" cy="548640"/>
          </a:xfrm>
          <a:prstGeom prst="rect">
            <a:avLst/>
          </a:prstGeom>
          <a:solidFill>
            <a:srgbClr val="1E293B"/>
          </a:solidFill>
          <a:ln w="12700">
            <a:solidFill>
              <a:srgbClr val="1E293B"/>
            </a:solidFill>
            <a:prstDash val="solid"/>
          </a:ln>
        </p:spPr>
      </p:sp>
      <p:sp>
        <p:nvSpPr>
          <p:cNvPr id="15" name="Text 12"/>
          <p:cNvSpPr/>
          <p:nvPr/>
        </p:nvSpPr>
        <p:spPr>
          <a:xfrm>
            <a:off x="7360920" y="215798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=SUMIF(range, criteria, sum_range)</a:t>
            </a:r>
            <a:endParaRPr lang="en-US" sz="950" dirty="0"/>
          </a:p>
        </p:txBody>
      </p:sp>
      <p:sp>
        <p:nvSpPr>
          <p:cNvPr id="16" name="Text 13"/>
          <p:cNvSpPr/>
          <p:nvPr/>
        </p:nvSpPr>
        <p:spPr>
          <a:xfrm>
            <a:off x="9226296" y="215798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Sums sum_range only for rows where range matches criteria. Three arguments.</a:t>
            </a:r>
            <a:endParaRPr lang="en-US" sz="1000" dirty="0"/>
          </a:p>
        </p:txBody>
      </p:sp>
      <p:sp>
        <p:nvSpPr>
          <p:cNvPr id="17" name="Shape 14"/>
          <p:cNvSpPr/>
          <p:nvPr/>
        </p:nvSpPr>
        <p:spPr>
          <a:xfrm>
            <a:off x="7269480" y="2670048"/>
            <a:ext cx="4663440" cy="548640"/>
          </a:xfrm>
          <a:prstGeom prst="rect">
            <a:avLst/>
          </a:prstGeom>
          <a:solidFill>
            <a:srgbClr val="141E36"/>
          </a:solidFill>
          <a:ln w="3810">
            <a:solidFill>
              <a:srgbClr val="1A2845"/>
            </a:solidFill>
            <a:prstDash val="solid"/>
          </a:ln>
        </p:spPr>
      </p:sp>
      <p:sp>
        <p:nvSpPr>
          <p:cNvPr id="18" name="Shape 15"/>
          <p:cNvSpPr/>
          <p:nvPr/>
        </p:nvSpPr>
        <p:spPr>
          <a:xfrm>
            <a:off x="9134856" y="2670048"/>
            <a:ext cx="18288" cy="548640"/>
          </a:xfrm>
          <a:prstGeom prst="rect">
            <a:avLst/>
          </a:prstGeom>
          <a:solidFill>
            <a:srgbClr val="1E293B"/>
          </a:solidFill>
          <a:ln w="12700">
            <a:solidFill>
              <a:srgbClr val="1E293B"/>
            </a:solidFill>
            <a:prstDash val="solid"/>
          </a:ln>
        </p:spPr>
      </p:sp>
      <p:sp>
        <p:nvSpPr>
          <p:cNvPr id="19" name="Text 16"/>
          <p:cNvSpPr/>
          <p:nvPr/>
        </p:nvSpPr>
        <p:spPr>
          <a:xfrm>
            <a:off x="7360920" y="270662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=SUMIF(A:A,"Lagos",B:B)</a:t>
            </a:r>
            <a:endParaRPr lang="en-US" sz="950" dirty="0"/>
          </a:p>
        </p:txBody>
      </p:sp>
      <p:sp>
        <p:nvSpPr>
          <p:cNvPr id="20" name="Text 17"/>
          <p:cNvSpPr/>
          <p:nvPr/>
        </p:nvSpPr>
        <p:spPr>
          <a:xfrm>
            <a:off x="9226296" y="270662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 column B where column A = 'Lagos'. Most common usage.</a:t>
            </a:r>
            <a:endParaRPr lang="en-US" sz="1000" dirty="0"/>
          </a:p>
        </p:txBody>
      </p:sp>
      <p:sp>
        <p:nvSpPr>
          <p:cNvPr id="21" name="Shape 18"/>
          <p:cNvSpPr/>
          <p:nvPr/>
        </p:nvSpPr>
        <p:spPr>
          <a:xfrm>
            <a:off x="7269480" y="3218688"/>
            <a:ext cx="4663440" cy="548640"/>
          </a:xfrm>
          <a:prstGeom prst="rect">
            <a:avLst/>
          </a:prstGeom>
          <a:solidFill>
            <a:srgbClr val="0F1D3C"/>
          </a:solidFill>
          <a:ln w="3810">
            <a:solidFill>
              <a:srgbClr val="1A2845"/>
            </a:solidFill>
            <a:prstDash val="solid"/>
          </a:ln>
        </p:spPr>
      </p:sp>
      <p:sp>
        <p:nvSpPr>
          <p:cNvPr id="22" name="Shape 19"/>
          <p:cNvSpPr/>
          <p:nvPr/>
        </p:nvSpPr>
        <p:spPr>
          <a:xfrm>
            <a:off x="9134856" y="3218688"/>
            <a:ext cx="18288" cy="548640"/>
          </a:xfrm>
          <a:prstGeom prst="rect">
            <a:avLst/>
          </a:prstGeom>
          <a:solidFill>
            <a:srgbClr val="1E293B"/>
          </a:solidFill>
          <a:ln w="12700">
            <a:solidFill>
              <a:srgbClr val="1E293B"/>
            </a:solidFill>
            <a:prstDash val="solid"/>
          </a:ln>
        </p:spPr>
      </p:sp>
      <p:sp>
        <p:nvSpPr>
          <p:cNvPr id="23" name="Text 20"/>
          <p:cNvSpPr/>
          <p:nvPr/>
        </p:nvSpPr>
        <p:spPr>
          <a:xfrm>
            <a:off x="7360920" y="325526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=SUMIF(A:A,"&amp;gt;50000",A:A)</a:t>
            </a:r>
            <a:endParaRPr lang="en-US" sz="950" dirty="0"/>
          </a:p>
        </p:txBody>
      </p:sp>
      <p:sp>
        <p:nvSpPr>
          <p:cNvPr id="24" name="Text 21"/>
          <p:cNvSpPr/>
          <p:nvPr/>
        </p:nvSpPr>
        <p:spPr>
          <a:xfrm>
            <a:off x="9226296" y="325526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 A where A &amp;gt; 50,000. Range and sum_range are the same column.</a:t>
            </a:r>
            <a:endParaRPr lang="en-US" sz="1000" dirty="0"/>
          </a:p>
        </p:txBody>
      </p:sp>
      <p:sp>
        <p:nvSpPr>
          <p:cNvPr id="25" name="Shape 22"/>
          <p:cNvSpPr/>
          <p:nvPr/>
        </p:nvSpPr>
        <p:spPr>
          <a:xfrm>
            <a:off x="7269480" y="3767328"/>
            <a:ext cx="4663440" cy="548640"/>
          </a:xfrm>
          <a:prstGeom prst="rect">
            <a:avLst/>
          </a:prstGeom>
          <a:solidFill>
            <a:srgbClr val="141E36"/>
          </a:solidFill>
          <a:ln w="3810">
            <a:solidFill>
              <a:srgbClr val="1A2845"/>
            </a:solidFill>
            <a:prstDash val="solid"/>
          </a:ln>
        </p:spPr>
      </p:sp>
      <p:sp>
        <p:nvSpPr>
          <p:cNvPr id="26" name="Shape 23"/>
          <p:cNvSpPr/>
          <p:nvPr/>
        </p:nvSpPr>
        <p:spPr>
          <a:xfrm>
            <a:off x="9134856" y="3767328"/>
            <a:ext cx="18288" cy="548640"/>
          </a:xfrm>
          <a:prstGeom prst="rect">
            <a:avLst/>
          </a:prstGeom>
          <a:solidFill>
            <a:srgbClr val="1E293B"/>
          </a:solidFill>
          <a:ln w="12700">
            <a:solidFill>
              <a:srgbClr val="1E293B"/>
            </a:solidFill>
            <a:prstDash val="solid"/>
          </a:ln>
        </p:spPr>
      </p:sp>
      <p:sp>
        <p:nvSpPr>
          <p:cNvPr id="27" name="Text 24"/>
          <p:cNvSpPr/>
          <p:nvPr/>
        </p:nvSpPr>
        <p:spPr>
          <a:xfrm>
            <a:off x="7360920" y="380390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=SUMIF(A:A,"*Lagos*",B:B)</a:t>
            </a:r>
            <a:endParaRPr lang="en-US" sz="950" dirty="0"/>
          </a:p>
        </p:txBody>
      </p:sp>
      <p:sp>
        <p:nvSpPr>
          <p:cNvPr id="28" name="Text 25"/>
          <p:cNvSpPr/>
          <p:nvPr/>
        </p:nvSpPr>
        <p:spPr>
          <a:xfrm>
            <a:off x="9226296" y="380390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Wildcard * matches any characters before or after Lagos.</a:t>
            </a:r>
            <a:endParaRPr lang="en-US" sz="1000" dirty="0"/>
          </a:p>
        </p:txBody>
      </p:sp>
      <p:sp>
        <p:nvSpPr>
          <p:cNvPr id="29" name="Shape 26"/>
          <p:cNvSpPr/>
          <p:nvPr/>
        </p:nvSpPr>
        <p:spPr>
          <a:xfrm>
            <a:off x="7269480" y="4315968"/>
            <a:ext cx="4663440" cy="548640"/>
          </a:xfrm>
          <a:prstGeom prst="rect">
            <a:avLst/>
          </a:prstGeom>
          <a:solidFill>
            <a:srgbClr val="0F1D3C"/>
          </a:solidFill>
          <a:ln w="3810">
            <a:solidFill>
              <a:srgbClr val="1A2845"/>
            </a:solidFill>
            <a:prstDash val="solid"/>
          </a:ln>
        </p:spPr>
      </p:sp>
      <p:sp>
        <p:nvSpPr>
          <p:cNvPr id="30" name="Shape 27"/>
          <p:cNvSpPr/>
          <p:nvPr/>
        </p:nvSpPr>
        <p:spPr>
          <a:xfrm>
            <a:off x="9134856" y="4315968"/>
            <a:ext cx="18288" cy="548640"/>
          </a:xfrm>
          <a:prstGeom prst="rect">
            <a:avLst/>
          </a:prstGeom>
          <a:solidFill>
            <a:srgbClr val="1E293B"/>
          </a:solidFill>
          <a:ln w="12700">
            <a:solidFill>
              <a:srgbClr val="1E293B"/>
            </a:solidFill>
            <a:prstDash val="solid"/>
          </a:ln>
        </p:spPr>
      </p:sp>
      <p:sp>
        <p:nvSpPr>
          <p:cNvPr id="31" name="Text 28"/>
          <p:cNvSpPr/>
          <p:nvPr/>
        </p:nvSpPr>
        <p:spPr>
          <a:xfrm>
            <a:off x="7360920" y="435254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=SUMIFS(C:C,A:A,"X",B:B,"Y")</a:t>
            </a:r>
            <a:endParaRPr lang="en-US" sz="950" dirty="0"/>
          </a:p>
        </p:txBody>
      </p:sp>
      <p:sp>
        <p:nvSpPr>
          <p:cNvPr id="32" name="Text 29"/>
          <p:cNvSpPr/>
          <p:nvPr/>
        </p:nvSpPr>
        <p:spPr>
          <a:xfrm>
            <a:off x="9226296" y="435254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SUMIFS: sum_range comes FIRST. Then criteria pairs. Multiple AND conditions.</a:t>
            </a:r>
            <a:endParaRPr lang="en-US" sz="1000" dirty="0"/>
          </a:p>
        </p:txBody>
      </p:sp>
      <p:sp>
        <p:nvSpPr>
          <p:cNvPr id="33" name="Shape 30"/>
          <p:cNvSpPr/>
          <p:nvPr/>
        </p:nvSpPr>
        <p:spPr>
          <a:xfrm>
            <a:off x="7269480" y="4864608"/>
            <a:ext cx="4663440" cy="548640"/>
          </a:xfrm>
          <a:prstGeom prst="rect">
            <a:avLst/>
          </a:prstGeom>
          <a:solidFill>
            <a:srgbClr val="141E36"/>
          </a:solidFill>
          <a:ln w="3810">
            <a:solidFill>
              <a:srgbClr val="1A2845"/>
            </a:solidFill>
            <a:prstDash val="solid"/>
          </a:ln>
        </p:spPr>
      </p:sp>
      <p:sp>
        <p:nvSpPr>
          <p:cNvPr id="34" name="Shape 31"/>
          <p:cNvSpPr/>
          <p:nvPr/>
        </p:nvSpPr>
        <p:spPr>
          <a:xfrm>
            <a:off x="9134856" y="4864608"/>
            <a:ext cx="18288" cy="548640"/>
          </a:xfrm>
          <a:prstGeom prst="rect">
            <a:avLst/>
          </a:prstGeom>
          <a:solidFill>
            <a:srgbClr val="1E293B"/>
          </a:solidFill>
          <a:ln w="12700">
            <a:solidFill>
              <a:srgbClr val="1E293B"/>
            </a:solidFill>
            <a:prstDash val="solid"/>
          </a:ln>
        </p:spPr>
      </p:sp>
      <p:sp>
        <p:nvSpPr>
          <p:cNvPr id="35" name="Text 32"/>
          <p:cNvSpPr/>
          <p:nvPr/>
        </p:nvSpPr>
        <p:spPr>
          <a:xfrm>
            <a:off x="7360920" y="490118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=SUMIFS(C:C,A:A,"Lagos",B:B,"&amp;gt;50000")</a:t>
            </a:r>
            <a:endParaRPr lang="en-US" sz="950" dirty="0"/>
          </a:p>
        </p:txBody>
      </p:sp>
      <p:sp>
        <p:nvSpPr>
          <p:cNvPr id="36" name="Text 33"/>
          <p:cNvSpPr/>
          <p:nvPr/>
        </p:nvSpPr>
        <p:spPr>
          <a:xfrm>
            <a:off x="9226296" y="490118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Sum C where A=Lagos AND B&amp;gt;50000. Both must be true.</a:t>
            </a:r>
            <a:endParaRPr lang="en-US" sz="1000" dirty="0"/>
          </a:p>
        </p:txBody>
      </p:sp>
      <p:sp>
        <p:nvSpPr>
          <p:cNvPr id="37" name="Shape 34"/>
          <p:cNvSpPr/>
          <p:nvPr/>
        </p:nvSpPr>
        <p:spPr>
          <a:xfrm>
            <a:off x="7269480" y="5413248"/>
            <a:ext cx="4663440" cy="548640"/>
          </a:xfrm>
          <a:prstGeom prst="rect">
            <a:avLst/>
          </a:prstGeom>
          <a:solidFill>
            <a:srgbClr val="0F1D3C"/>
          </a:solidFill>
          <a:ln w="3810">
            <a:solidFill>
              <a:srgbClr val="1A2845"/>
            </a:solidFill>
            <a:prstDash val="solid"/>
          </a:ln>
        </p:spPr>
      </p:sp>
      <p:sp>
        <p:nvSpPr>
          <p:cNvPr id="38" name="Shape 35"/>
          <p:cNvSpPr/>
          <p:nvPr/>
        </p:nvSpPr>
        <p:spPr>
          <a:xfrm>
            <a:off x="9134856" y="5413248"/>
            <a:ext cx="18288" cy="548640"/>
          </a:xfrm>
          <a:prstGeom prst="rect">
            <a:avLst/>
          </a:prstGeom>
          <a:solidFill>
            <a:srgbClr val="1E293B"/>
          </a:solidFill>
          <a:ln w="12700">
            <a:solidFill>
              <a:srgbClr val="1E293B"/>
            </a:solidFill>
            <a:prstDash val="solid"/>
          </a:ln>
        </p:spPr>
      </p:sp>
      <p:sp>
        <p:nvSpPr>
          <p:cNvPr id="39" name="Text 36"/>
          <p:cNvSpPr/>
          <p:nvPr/>
        </p:nvSpPr>
        <p:spPr>
          <a:xfrm>
            <a:off x="7360920" y="544982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=AVERAGEIF(A:A,"Lagos",B:B)</a:t>
            </a:r>
            <a:endParaRPr lang="en-US" sz="950" dirty="0"/>
          </a:p>
        </p:txBody>
      </p:sp>
      <p:sp>
        <p:nvSpPr>
          <p:cNvPr id="40" name="Text 37"/>
          <p:cNvSpPr/>
          <p:nvPr/>
        </p:nvSpPr>
        <p:spPr>
          <a:xfrm>
            <a:off x="9226296" y="544982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Average of B where A = Lagos. Same structure as SUMIF.</a:t>
            </a:r>
            <a:endParaRPr lang="en-US" sz="1000" dirty="0"/>
          </a:p>
        </p:txBody>
      </p:sp>
      <p:sp>
        <p:nvSpPr>
          <p:cNvPr id="41" name="Shape 38"/>
          <p:cNvSpPr/>
          <p:nvPr/>
        </p:nvSpPr>
        <p:spPr>
          <a:xfrm>
            <a:off x="7269480" y="5961888"/>
            <a:ext cx="4663440" cy="548640"/>
          </a:xfrm>
          <a:prstGeom prst="rect">
            <a:avLst/>
          </a:prstGeom>
          <a:solidFill>
            <a:srgbClr val="141E36"/>
          </a:solidFill>
          <a:ln w="3810">
            <a:solidFill>
              <a:srgbClr val="1A2845"/>
            </a:solidFill>
            <a:prstDash val="solid"/>
          </a:ln>
        </p:spPr>
      </p:sp>
      <p:sp>
        <p:nvSpPr>
          <p:cNvPr id="42" name="Shape 39"/>
          <p:cNvSpPr/>
          <p:nvPr/>
        </p:nvSpPr>
        <p:spPr>
          <a:xfrm>
            <a:off x="9134856" y="5961888"/>
            <a:ext cx="18288" cy="548640"/>
          </a:xfrm>
          <a:prstGeom prst="rect">
            <a:avLst/>
          </a:prstGeom>
          <a:solidFill>
            <a:srgbClr val="1E293B"/>
          </a:solidFill>
          <a:ln w="12700">
            <a:solidFill>
              <a:srgbClr val="1E293B"/>
            </a:solidFill>
            <a:prstDash val="solid"/>
          </a:ln>
        </p:spPr>
      </p:sp>
      <p:sp>
        <p:nvSpPr>
          <p:cNvPr id="43" name="Text 40"/>
          <p:cNvSpPr/>
          <p:nvPr/>
        </p:nvSpPr>
        <p:spPr>
          <a:xfrm>
            <a:off x="7360920" y="5998464"/>
            <a:ext cx="1737360"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=AVERAGEIFS(C:C,A:A,"X",B:B,"&amp;gt;0")</a:t>
            </a:r>
            <a:endParaRPr lang="en-US" sz="950" dirty="0"/>
          </a:p>
        </p:txBody>
      </p:sp>
      <p:sp>
        <p:nvSpPr>
          <p:cNvPr id="44" name="Text 41"/>
          <p:cNvSpPr/>
          <p:nvPr/>
        </p:nvSpPr>
        <p:spPr>
          <a:xfrm>
            <a:off x="9226296" y="5998464"/>
            <a:ext cx="2615184"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Average with multiple conditions. Same structure as SUMIFS.</a:t>
            </a:r>
            <a:endParaRPr lang="en-US" sz="1000" dirty="0"/>
          </a:p>
        </p:txBody>
      </p:sp>
      <p:sp>
        <p:nvSpPr>
          <p:cNvPr id="45" name="Shape 42"/>
          <p:cNvSpPr/>
          <p:nvPr/>
        </p:nvSpPr>
        <p:spPr>
          <a:xfrm>
            <a:off x="7269480" y="5084064"/>
            <a:ext cx="4663440" cy="1664208"/>
          </a:xfrm>
          <a:prstGeom prst="roundRect">
            <a:avLst>
              <a:gd name="adj" fmla="val 5495"/>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6" name="Shape 43"/>
          <p:cNvSpPr/>
          <p:nvPr/>
        </p:nvSpPr>
        <p:spPr>
          <a:xfrm>
            <a:off x="7269480" y="5084064"/>
            <a:ext cx="4663440" cy="329184"/>
          </a:xfrm>
          <a:prstGeom prst="roundRect">
            <a:avLst>
              <a:gd name="adj" fmla="val 27778"/>
            </a:avLst>
          </a:prstGeom>
          <a:solidFill>
            <a:srgbClr val="111E35"/>
          </a:solidFill>
          <a:ln w="12700">
            <a:solidFill>
              <a:srgbClr val="111E35"/>
            </a:solidFill>
            <a:prstDash val="solid"/>
          </a:ln>
        </p:spPr>
      </p:sp>
      <p:sp>
        <p:nvSpPr>
          <p:cNvPr id="47" name="Shape 44"/>
          <p:cNvSpPr/>
          <p:nvPr/>
        </p:nvSpPr>
        <p:spPr>
          <a:xfrm>
            <a:off x="7269480" y="5266944"/>
            <a:ext cx="4663440" cy="146304"/>
          </a:xfrm>
          <a:prstGeom prst="rect">
            <a:avLst/>
          </a:prstGeom>
          <a:solidFill>
            <a:srgbClr val="111E35"/>
          </a:solidFill>
          <a:ln w="12700">
            <a:solidFill>
              <a:srgbClr val="111E35"/>
            </a:solidFill>
            <a:prstDash val="solid"/>
          </a:ln>
        </p:spPr>
      </p:sp>
      <p:sp>
        <p:nvSpPr>
          <p:cNvPr id="48" name="Shape 45"/>
          <p:cNvSpPr/>
          <p:nvPr/>
        </p:nvSpPr>
        <p:spPr>
          <a:xfrm>
            <a:off x="7397496" y="5175504"/>
            <a:ext cx="146304" cy="146304"/>
          </a:xfrm>
          <a:prstGeom prst="ellipse">
            <a:avLst/>
          </a:prstGeom>
          <a:solidFill>
            <a:srgbClr val="F43F5E"/>
          </a:solidFill>
          <a:ln w="12700">
            <a:solidFill>
              <a:srgbClr val="F43F5E"/>
            </a:solidFill>
            <a:prstDash val="solid"/>
          </a:ln>
        </p:spPr>
      </p:sp>
      <p:sp>
        <p:nvSpPr>
          <p:cNvPr id="49" name="Shape 46"/>
          <p:cNvSpPr/>
          <p:nvPr/>
        </p:nvSpPr>
        <p:spPr>
          <a:xfrm>
            <a:off x="7598664" y="5175504"/>
            <a:ext cx="146304" cy="146304"/>
          </a:xfrm>
          <a:prstGeom prst="ellipse">
            <a:avLst/>
          </a:prstGeom>
          <a:solidFill>
            <a:srgbClr val="F59E0B"/>
          </a:solidFill>
          <a:ln w="12700">
            <a:solidFill>
              <a:srgbClr val="F59E0B"/>
            </a:solidFill>
            <a:prstDash val="solid"/>
          </a:ln>
        </p:spPr>
      </p:sp>
      <p:sp>
        <p:nvSpPr>
          <p:cNvPr id="50" name="Shape 47"/>
          <p:cNvSpPr/>
          <p:nvPr/>
        </p:nvSpPr>
        <p:spPr>
          <a:xfrm>
            <a:off x="7799832" y="5175504"/>
            <a:ext cx="146304" cy="146304"/>
          </a:xfrm>
          <a:prstGeom prst="ellipse">
            <a:avLst/>
          </a:prstGeom>
          <a:solidFill>
            <a:srgbClr val="70AD47"/>
          </a:solidFill>
          <a:ln w="12700">
            <a:solidFill>
              <a:srgbClr val="70AD47"/>
            </a:solidFill>
            <a:prstDash val="solid"/>
          </a:ln>
        </p:spPr>
      </p:sp>
      <p:sp>
        <p:nvSpPr>
          <p:cNvPr id="51" name="Text 48"/>
          <p:cNvSpPr/>
          <p:nvPr/>
        </p:nvSpPr>
        <p:spPr>
          <a:xfrm>
            <a:off x="8001000" y="5138928"/>
            <a:ext cx="374904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sumif.xlsx</a:t>
            </a:r>
            <a:endParaRPr lang="en-US" sz="900" dirty="0"/>
          </a:p>
        </p:txBody>
      </p:sp>
      <p:sp>
        <p:nvSpPr>
          <p:cNvPr id="52" name="Text 49"/>
          <p:cNvSpPr/>
          <p:nvPr/>
        </p:nvSpPr>
        <p:spPr>
          <a:xfrm>
            <a:off x="7415784" y="5468112"/>
            <a:ext cx="4389120" cy="11704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Key Difference: SUMIF vs SUMIFS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SUMIF:  (range, criteria, sum_range)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SUMIFS: (sum_range, range1, criteria1, ...)</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Notice: in SUMIFS, sum_range comes FIRST!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Criteria operators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"&amp;gt;50000"  "&amp;gt;=100"  "&amp;lt;&amp;gt;Lagos"  "*Lap*"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MATH 02 - ROUND, INT, MOD, POWER, SQRT, CEILING, FLOOR</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594360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594360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math2.xlsx</a:t>
            </a:r>
            <a:endParaRPr lang="en-US" sz="900" dirty="0"/>
          </a:p>
        </p:txBody>
      </p:sp>
      <p:sp>
        <p:nvSpPr>
          <p:cNvPr id="11" name="Text 9"/>
          <p:cNvSpPr/>
          <p:nvPr/>
        </p:nvSpPr>
        <p:spPr>
          <a:xfrm>
            <a:off x="557784" y="1408176"/>
            <a:ext cx="566928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Rounding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=ROUND(3.14159, 2)     -&amp;gt; 3.14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=ROUND(2456, -2)       -&amp;gt; 2500  (round to 100s)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=ROUNDUP(3.001, 0)     -&amp;gt; 4     (always up)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=ROUNDDOWN(3.999, 0)   -&amp;gt; 3     (always down)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=INT(3.9)              -&amp;gt; 3     (truncate down)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=INT(-3.2)             -&amp;gt; -4    (towards -inf)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=TRUNC(3.9)            -&amp;gt; 3     (towards zero)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=CEILING(4.2, 0.5)     -&amp;gt; 4.5   (up to nearest 0.5)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=FLOOR(4.9, 0.5)       -&amp;gt; 4.5   (down to nearest 0.5)</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=MROUND(17, 5)         -&amp;gt; 15    (nearest multiple of 5)</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Other Math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=MOD(17, 5)            -&amp;gt; 2     (remainder)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=MOD(100, 7)           -&amp;gt; 2     (remainder of 100/7)</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=POWER(2, 10)          -&amp;gt; 1024  (2 to the 10th)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=SQRT(144)             -&amp;gt; 12    (square root)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=ABS(-450000)          -&amp;gt; 450000 (absolute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=PI()                  -&amp;gt; 3.14159... (pi constant)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=EXP(1)                -&amp;gt; 2.718 (e constant)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=LN(100)               -&amp;gt; 4.605 (natural log)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=LOG(1000, 10)         -&amp;gt; 3     (log base 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=FACT(5)               -&amp;gt; 120   (5! factorial)</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=COMBIN(10, 3)         -&amp;gt; 120   (combinations)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=PERMUT(10, 3)         -&amp;gt; 720   (permutations)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=RAND()                -&amp;gt; 0.734 (random 0 to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=RANDBETWEEN(1, 100)   -&amp;gt; 47    (random integer)</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=SUBTOTAL(9, B2:B100)  Sum ignoring hidden rows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=AGGREGATE(9,5,B2:B100) Sum ignoring hidden+errors</a:t>
            </a:r>
            <a:endParaRPr lang="en-US" sz="1050" dirty="0"/>
          </a:p>
        </p:txBody>
      </p:sp>
      <p:sp>
        <p:nvSpPr>
          <p:cNvPr id="12" name="Shape 10"/>
          <p:cNvSpPr/>
          <p:nvPr/>
        </p:nvSpPr>
        <p:spPr>
          <a:xfrm>
            <a:off x="6537960" y="1024128"/>
            <a:ext cx="5394960" cy="548640"/>
          </a:xfrm>
          <a:prstGeom prst="rect">
            <a:avLst/>
          </a:prstGeom>
          <a:solidFill>
            <a:srgbClr val="217346"/>
          </a:solidFill>
          <a:ln w="3810">
            <a:solidFill>
              <a:srgbClr val="1A2845"/>
            </a:solidFill>
            <a:prstDash val="solid"/>
          </a:ln>
        </p:spPr>
      </p:sp>
      <p:sp>
        <p:nvSpPr>
          <p:cNvPr id="13" name="Shape 11"/>
          <p:cNvSpPr/>
          <p:nvPr/>
        </p:nvSpPr>
        <p:spPr>
          <a:xfrm>
            <a:off x="8695944" y="1024128"/>
            <a:ext cx="18288" cy="548640"/>
          </a:xfrm>
          <a:prstGeom prst="rect">
            <a:avLst/>
          </a:prstGeom>
          <a:solidFill>
            <a:srgbClr val="FFFFFF"/>
          </a:solidFill>
          <a:ln w="12700">
            <a:solidFill>
              <a:srgbClr val="FFFFFF"/>
            </a:solidFill>
            <a:prstDash val="solid"/>
          </a:ln>
        </p:spPr>
      </p:sp>
      <p:sp>
        <p:nvSpPr>
          <p:cNvPr id="14" name="Text 12"/>
          <p:cNvSpPr/>
          <p:nvPr/>
        </p:nvSpPr>
        <p:spPr>
          <a:xfrm>
            <a:off x="6629400" y="1060704"/>
            <a:ext cx="2029968"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8787384" y="1060704"/>
            <a:ext cx="3054096"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 When to Use</a:t>
            </a:r>
            <a:endParaRPr lang="en-US" sz="1000" dirty="0"/>
          </a:p>
        </p:txBody>
      </p:sp>
      <p:sp>
        <p:nvSpPr>
          <p:cNvPr id="16" name="Shape 14"/>
          <p:cNvSpPr/>
          <p:nvPr/>
        </p:nvSpPr>
        <p:spPr>
          <a:xfrm>
            <a:off x="6537960" y="1572768"/>
            <a:ext cx="5394960" cy="548640"/>
          </a:xfrm>
          <a:prstGeom prst="rect">
            <a:avLst/>
          </a:prstGeom>
          <a:solidFill>
            <a:srgbClr val="141E36"/>
          </a:solidFill>
          <a:ln w="3810">
            <a:solidFill>
              <a:srgbClr val="1A2845"/>
            </a:solidFill>
            <a:prstDash val="solid"/>
          </a:ln>
        </p:spPr>
      </p:sp>
      <p:sp>
        <p:nvSpPr>
          <p:cNvPr id="17" name="Shape 15"/>
          <p:cNvSpPr/>
          <p:nvPr/>
        </p:nvSpPr>
        <p:spPr>
          <a:xfrm>
            <a:off x="8695944" y="1572768"/>
            <a:ext cx="18288" cy="548640"/>
          </a:xfrm>
          <a:prstGeom prst="rect">
            <a:avLst/>
          </a:prstGeom>
          <a:solidFill>
            <a:srgbClr val="1E293B"/>
          </a:solidFill>
          <a:ln w="12700">
            <a:solidFill>
              <a:srgbClr val="1E293B"/>
            </a:solidFill>
            <a:prstDash val="solid"/>
          </a:ln>
        </p:spPr>
      </p:sp>
      <p:sp>
        <p:nvSpPr>
          <p:cNvPr id="18" name="Text 16"/>
          <p:cNvSpPr/>
          <p:nvPr/>
        </p:nvSpPr>
        <p:spPr>
          <a:xfrm>
            <a:off x="6629400" y="160934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=ROUND(num, digits)</a:t>
            </a:r>
            <a:endParaRPr lang="en-US" sz="950" dirty="0"/>
          </a:p>
        </p:txBody>
      </p:sp>
      <p:sp>
        <p:nvSpPr>
          <p:cNvPr id="19" name="Text 17"/>
          <p:cNvSpPr/>
          <p:nvPr/>
        </p:nvSpPr>
        <p:spPr>
          <a:xfrm>
            <a:off x="8787384" y="160934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Rounds to specified decimal places. digits=0: whole number. digits=-2: round to hundreds. Most commonly used rounding.</a:t>
            </a:r>
            <a:endParaRPr lang="en-US" sz="1000" dirty="0"/>
          </a:p>
        </p:txBody>
      </p:sp>
      <p:sp>
        <p:nvSpPr>
          <p:cNvPr id="20" name="Shape 18"/>
          <p:cNvSpPr/>
          <p:nvPr/>
        </p:nvSpPr>
        <p:spPr>
          <a:xfrm>
            <a:off x="6537960" y="2121408"/>
            <a:ext cx="5394960" cy="548640"/>
          </a:xfrm>
          <a:prstGeom prst="rect">
            <a:avLst/>
          </a:prstGeom>
          <a:solidFill>
            <a:srgbClr val="0F1D3C"/>
          </a:solidFill>
          <a:ln w="3810">
            <a:solidFill>
              <a:srgbClr val="1A2845"/>
            </a:solidFill>
            <a:prstDash val="solid"/>
          </a:ln>
        </p:spPr>
      </p:sp>
      <p:sp>
        <p:nvSpPr>
          <p:cNvPr id="21" name="Shape 19"/>
          <p:cNvSpPr/>
          <p:nvPr/>
        </p:nvSpPr>
        <p:spPr>
          <a:xfrm>
            <a:off x="8695944" y="2121408"/>
            <a:ext cx="18288" cy="548640"/>
          </a:xfrm>
          <a:prstGeom prst="rect">
            <a:avLst/>
          </a:prstGeom>
          <a:solidFill>
            <a:srgbClr val="1E293B"/>
          </a:solidFill>
          <a:ln w="12700">
            <a:solidFill>
              <a:srgbClr val="1E293B"/>
            </a:solidFill>
            <a:prstDash val="solid"/>
          </a:ln>
        </p:spPr>
      </p:sp>
      <p:sp>
        <p:nvSpPr>
          <p:cNvPr id="22" name="Text 20"/>
          <p:cNvSpPr/>
          <p:nvPr/>
        </p:nvSpPr>
        <p:spPr>
          <a:xfrm>
            <a:off x="6629400" y="215798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=ROUNDUP(num, digits)</a:t>
            </a:r>
            <a:endParaRPr lang="en-US" sz="950" dirty="0"/>
          </a:p>
        </p:txBody>
      </p:sp>
      <p:sp>
        <p:nvSpPr>
          <p:cNvPr id="23" name="Text 21"/>
          <p:cNvSpPr/>
          <p:nvPr/>
        </p:nvSpPr>
        <p:spPr>
          <a:xfrm>
            <a:off x="8787384" y="215798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Always rounds AWAY from zero. 3.001 becomes 4 with digits=0. Use for tax calculations where you always round up.</a:t>
            </a:r>
            <a:endParaRPr lang="en-US" sz="1000" dirty="0"/>
          </a:p>
        </p:txBody>
      </p:sp>
      <p:sp>
        <p:nvSpPr>
          <p:cNvPr id="24" name="Shape 22"/>
          <p:cNvSpPr/>
          <p:nvPr/>
        </p:nvSpPr>
        <p:spPr>
          <a:xfrm>
            <a:off x="6537960" y="2670048"/>
            <a:ext cx="5394960" cy="548640"/>
          </a:xfrm>
          <a:prstGeom prst="rect">
            <a:avLst/>
          </a:prstGeom>
          <a:solidFill>
            <a:srgbClr val="141E36"/>
          </a:solidFill>
          <a:ln w="3810">
            <a:solidFill>
              <a:srgbClr val="1A2845"/>
            </a:solidFill>
            <a:prstDash val="solid"/>
          </a:ln>
        </p:spPr>
      </p:sp>
      <p:sp>
        <p:nvSpPr>
          <p:cNvPr id="25" name="Shape 23"/>
          <p:cNvSpPr/>
          <p:nvPr/>
        </p:nvSpPr>
        <p:spPr>
          <a:xfrm>
            <a:off x="8695944" y="2670048"/>
            <a:ext cx="18288" cy="548640"/>
          </a:xfrm>
          <a:prstGeom prst="rect">
            <a:avLst/>
          </a:prstGeom>
          <a:solidFill>
            <a:srgbClr val="1E293B"/>
          </a:solidFill>
          <a:ln w="12700">
            <a:solidFill>
              <a:srgbClr val="1E293B"/>
            </a:solidFill>
            <a:prstDash val="solid"/>
          </a:ln>
        </p:spPr>
      </p:sp>
      <p:sp>
        <p:nvSpPr>
          <p:cNvPr id="26" name="Text 24"/>
          <p:cNvSpPr/>
          <p:nvPr/>
        </p:nvSpPr>
        <p:spPr>
          <a:xfrm>
            <a:off x="6629400" y="270662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=CEILING(num, significance)</a:t>
            </a:r>
            <a:endParaRPr lang="en-US" sz="950" dirty="0"/>
          </a:p>
        </p:txBody>
      </p:sp>
      <p:sp>
        <p:nvSpPr>
          <p:cNvPr id="27" name="Text 25"/>
          <p:cNvSpPr/>
          <p:nvPr/>
        </p:nvSpPr>
        <p:spPr>
          <a:xfrm>
            <a:off x="8787384" y="270662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Rounds UP to nearest multiple of significance. CEILING(4.2, 0.5) = 4.5. Use for time rounding (15-minute slots).</a:t>
            </a:r>
            <a:endParaRPr lang="en-US" sz="1000" dirty="0"/>
          </a:p>
        </p:txBody>
      </p:sp>
      <p:sp>
        <p:nvSpPr>
          <p:cNvPr id="28" name="Shape 26"/>
          <p:cNvSpPr/>
          <p:nvPr/>
        </p:nvSpPr>
        <p:spPr>
          <a:xfrm>
            <a:off x="6537960" y="3218688"/>
            <a:ext cx="5394960" cy="548640"/>
          </a:xfrm>
          <a:prstGeom prst="rect">
            <a:avLst/>
          </a:prstGeom>
          <a:solidFill>
            <a:srgbClr val="0F1D3C"/>
          </a:solidFill>
          <a:ln w="3810">
            <a:solidFill>
              <a:srgbClr val="1A2845"/>
            </a:solidFill>
            <a:prstDash val="solid"/>
          </a:ln>
        </p:spPr>
      </p:sp>
      <p:sp>
        <p:nvSpPr>
          <p:cNvPr id="29" name="Shape 27"/>
          <p:cNvSpPr/>
          <p:nvPr/>
        </p:nvSpPr>
        <p:spPr>
          <a:xfrm>
            <a:off x="8695944" y="3218688"/>
            <a:ext cx="18288" cy="548640"/>
          </a:xfrm>
          <a:prstGeom prst="rect">
            <a:avLst/>
          </a:prstGeom>
          <a:solidFill>
            <a:srgbClr val="1E293B"/>
          </a:solidFill>
          <a:ln w="12700">
            <a:solidFill>
              <a:srgbClr val="1E293B"/>
            </a:solidFill>
            <a:prstDash val="solid"/>
          </a:ln>
        </p:spPr>
      </p:sp>
      <p:sp>
        <p:nvSpPr>
          <p:cNvPr id="30" name="Text 28"/>
          <p:cNvSpPr/>
          <p:nvPr/>
        </p:nvSpPr>
        <p:spPr>
          <a:xfrm>
            <a:off x="6629400" y="325526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=FLOOR(num, significance)</a:t>
            </a:r>
            <a:endParaRPr lang="en-US" sz="950" dirty="0"/>
          </a:p>
        </p:txBody>
      </p:sp>
      <p:sp>
        <p:nvSpPr>
          <p:cNvPr id="31" name="Text 29"/>
          <p:cNvSpPr/>
          <p:nvPr/>
        </p:nvSpPr>
        <p:spPr>
          <a:xfrm>
            <a:off x="8787384" y="325526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Rounds DOWN to nearest multiple. FLOOR(4.9, 0.5) = 4.5. Use for price rounding to nearest 50 Naira.</a:t>
            </a:r>
            <a:endParaRPr lang="en-US" sz="1000" dirty="0"/>
          </a:p>
        </p:txBody>
      </p:sp>
      <p:sp>
        <p:nvSpPr>
          <p:cNvPr id="32" name="Shape 30"/>
          <p:cNvSpPr/>
          <p:nvPr/>
        </p:nvSpPr>
        <p:spPr>
          <a:xfrm>
            <a:off x="6537960" y="3767328"/>
            <a:ext cx="5394960" cy="548640"/>
          </a:xfrm>
          <a:prstGeom prst="rect">
            <a:avLst/>
          </a:prstGeom>
          <a:solidFill>
            <a:srgbClr val="141E36"/>
          </a:solidFill>
          <a:ln w="3810">
            <a:solidFill>
              <a:srgbClr val="1A2845"/>
            </a:solidFill>
            <a:prstDash val="solid"/>
          </a:ln>
        </p:spPr>
      </p:sp>
      <p:sp>
        <p:nvSpPr>
          <p:cNvPr id="33" name="Shape 31"/>
          <p:cNvSpPr/>
          <p:nvPr/>
        </p:nvSpPr>
        <p:spPr>
          <a:xfrm>
            <a:off x="8695944" y="3767328"/>
            <a:ext cx="18288" cy="548640"/>
          </a:xfrm>
          <a:prstGeom prst="rect">
            <a:avLst/>
          </a:prstGeom>
          <a:solidFill>
            <a:srgbClr val="1E293B"/>
          </a:solidFill>
          <a:ln w="12700">
            <a:solidFill>
              <a:srgbClr val="1E293B"/>
            </a:solidFill>
            <a:prstDash val="solid"/>
          </a:ln>
        </p:spPr>
      </p:sp>
      <p:sp>
        <p:nvSpPr>
          <p:cNvPr id="34" name="Text 32"/>
          <p:cNvSpPr/>
          <p:nvPr/>
        </p:nvSpPr>
        <p:spPr>
          <a:xfrm>
            <a:off x="6629400" y="380390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=MOD(number, divisor)</a:t>
            </a:r>
            <a:endParaRPr lang="en-US" sz="950" dirty="0"/>
          </a:p>
        </p:txBody>
      </p:sp>
      <p:sp>
        <p:nvSpPr>
          <p:cNvPr id="35" name="Text 33"/>
          <p:cNvSpPr/>
          <p:nvPr/>
        </p:nvSpPr>
        <p:spPr>
          <a:xfrm>
            <a:off x="8787384" y="380390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REMAINDER after division. MOD(17,5)=2 because 17/5 = 3 remainder 2. Use to identify odd/even rows.</a:t>
            </a:r>
            <a:endParaRPr lang="en-US" sz="1000" dirty="0"/>
          </a:p>
        </p:txBody>
      </p:sp>
      <p:sp>
        <p:nvSpPr>
          <p:cNvPr id="36" name="Shape 34"/>
          <p:cNvSpPr/>
          <p:nvPr/>
        </p:nvSpPr>
        <p:spPr>
          <a:xfrm>
            <a:off x="6537960" y="4315968"/>
            <a:ext cx="5394960" cy="548640"/>
          </a:xfrm>
          <a:prstGeom prst="rect">
            <a:avLst/>
          </a:prstGeom>
          <a:solidFill>
            <a:srgbClr val="0F1D3C"/>
          </a:solidFill>
          <a:ln w="3810">
            <a:solidFill>
              <a:srgbClr val="1A2845"/>
            </a:solidFill>
            <a:prstDash val="solid"/>
          </a:ln>
        </p:spPr>
      </p:sp>
      <p:sp>
        <p:nvSpPr>
          <p:cNvPr id="37" name="Shape 35"/>
          <p:cNvSpPr/>
          <p:nvPr/>
        </p:nvSpPr>
        <p:spPr>
          <a:xfrm>
            <a:off x="8695944" y="4315968"/>
            <a:ext cx="18288" cy="548640"/>
          </a:xfrm>
          <a:prstGeom prst="rect">
            <a:avLst/>
          </a:prstGeom>
          <a:solidFill>
            <a:srgbClr val="1E293B"/>
          </a:solidFill>
          <a:ln w="12700">
            <a:solidFill>
              <a:srgbClr val="1E293B"/>
            </a:solidFill>
            <a:prstDash val="solid"/>
          </a:ln>
        </p:spPr>
      </p:sp>
      <p:sp>
        <p:nvSpPr>
          <p:cNvPr id="38" name="Text 36"/>
          <p:cNvSpPr/>
          <p:nvPr/>
        </p:nvSpPr>
        <p:spPr>
          <a:xfrm>
            <a:off x="6629400" y="435254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=INT(number)</a:t>
            </a:r>
            <a:endParaRPr lang="en-US" sz="950" dirty="0"/>
          </a:p>
        </p:txBody>
      </p:sp>
      <p:sp>
        <p:nvSpPr>
          <p:cNvPr id="39" name="Text 37"/>
          <p:cNvSpPr/>
          <p:nvPr/>
        </p:nvSpPr>
        <p:spPr>
          <a:xfrm>
            <a:off x="8787384" y="435254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Drops the decimal portion, always towards -infinity. INT(3.9)=3. INT(-3.2)=-4. Different from TRUNC for negatives.</a:t>
            </a:r>
            <a:endParaRPr lang="en-US" sz="1000" dirty="0"/>
          </a:p>
        </p:txBody>
      </p:sp>
      <p:sp>
        <p:nvSpPr>
          <p:cNvPr id="40" name="Shape 38"/>
          <p:cNvSpPr/>
          <p:nvPr/>
        </p:nvSpPr>
        <p:spPr>
          <a:xfrm>
            <a:off x="6537960" y="4864608"/>
            <a:ext cx="5394960" cy="548640"/>
          </a:xfrm>
          <a:prstGeom prst="rect">
            <a:avLst/>
          </a:prstGeom>
          <a:solidFill>
            <a:srgbClr val="141E36"/>
          </a:solidFill>
          <a:ln w="3810">
            <a:solidFill>
              <a:srgbClr val="1A2845"/>
            </a:solidFill>
            <a:prstDash val="solid"/>
          </a:ln>
        </p:spPr>
      </p:sp>
      <p:sp>
        <p:nvSpPr>
          <p:cNvPr id="41" name="Shape 39"/>
          <p:cNvSpPr/>
          <p:nvPr/>
        </p:nvSpPr>
        <p:spPr>
          <a:xfrm>
            <a:off x="8695944" y="4864608"/>
            <a:ext cx="18288" cy="548640"/>
          </a:xfrm>
          <a:prstGeom prst="rect">
            <a:avLst/>
          </a:prstGeom>
          <a:solidFill>
            <a:srgbClr val="1E293B"/>
          </a:solidFill>
          <a:ln w="12700">
            <a:solidFill>
              <a:srgbClr val="1E293B"/>
            </a:solidFill>
            <a:prstDash val="solid"/>
          </a:ln>
        </p:spPr>
      </p:sp>
      <p:sp>
        <p:nvSpPr>
          <p:cNvPr id="42" name="Text 40"/>
          <p:cNvSpPr/>
          <p:nvPr/>
        </p:nvSpPr>
        <p:spPr>
          <a:xfrm>
            <a:off x="6629400" y="490118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=RANDBETWEEN(low, high)</a:t>
            </a:r>
            <a:endParaRPr lang="en-US" sz="950" dirty="0"/>
          </a:p>
        </p:txBody>
      </p:sp>
      <p:sp>
        <p:nvSpPr>
          <p:cNvPr id="43" name="Text 41"/>
          <p:cNvSpPr/>
          <p:nvPr/>
        </p:nvSpPr>
        <p:spPr>
          <a:xfrm>
            <a:off x="8787384" y="490118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Random integer between low and high. Recalculates every time sheet changes. Press F9 to force recalculation.</a:t>
            </a:r>
            <a:endParaRPr lang="en-US" sz="1000" dirty="0"/>
          </a:p>
        </p:txBody>
      </p:sp>
      <p:sp>
        <p:nvSpPr>
          <p:cNvPr id="44" name="Shape 42"/>
          <p:cNvSpPr/>
          <p:nvPr/>
        </p:nvSpPr>
        <p:spPr>
          <a:xfrm>
            <a:off x="6537960" y="5413248"/>
            <a:ext cx="5394960" cy="548640"/>
          </a:xfrm>
          <a:prstGeom prst="rect">
            <a:avLst/>
          </a:prstGeom>
          <a:solidFill>
            <a:srgbClr val="0F1D3C"/>
          </a:solidFill>
          <a:ln w="3810">
            <a:solidFill>
              <a:srgbClr val="1A2845"/>
            </a:solidFill>
            <a:prstDash val="solid"/>
          </a:ln>
        </p:spPr>
      </p:sp>
      <p:sp>
        <p:nvSpPr>
          <p:cNvPr id="45" name="Shape 43"/>
          <p:cNvSpPr/>
          <p:nvPr/>
        </p:nvSpPr>
        <p:spPr>
          <a:xfrm>
            <a:off x="8695944" y="5413248"/>
            <a:ext cx="18288" cy="548640"/>
          </a:xfrm>
          <a:prstGeom prst="rect">
            <a:avLst/>
          </a:prstGeom>
          <a:solidFill>
            <a:srgbClr val="1E293B"/>
          </a:solidFill>
          <a:ln w="12700">
            <a:solidFill>
              <a:srgbClr val="1E293B"/>
            </a:solidFill>
            <a:prstDash val="solid"/>
          </a:ln>
        </p:spPr>
      </p:sp>
      <p:sp>
        <p:nvSpPr>
          <p:cNvPr id="46" name="Text 44"/>
          <p:cNvSpPr/>
          <p:nvPr/>
        </p:nvSpPr>
        <p:spPr>
          <a:xfrm>
            <a:off x="6629400" y="544982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=SUBTOTAL(function_num, range)</a:t>
            </a:r>
            <a:endParaRPr lang="en-US" sz="950" dirty="0"/>
          </a:p>
        </p:txBody>
      </p:sp>
      <p:sp>
        <p:nvSpPr>
          <p:cNvPr id="47" name="Text 45"/>
          <p:cNvSpPr/>
          <p:nvPr/>
        </p:nvSpPr>
        <p:spPr>
          <a:xfrm>
            <a:off x="8787384" y="544982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Performs calculation ignoring hidden rows. function_num: 1=AVERAGE, 9=SUM, 2=COUNT. Essential with filtered data.</a:t>
            </a:r>
            <a:endParaRPr lang="en-US" sz="1000" dirty="0"/>
          </a:p>
        </p:txBody>
      </p:sp>
      <p:sp>
        <p:nvSpPr>
          <p:cNvPr id="48" name="Shape 46"/>
          <p:cNvSpPr/>
          <p:nvPr/>
        </p:nvSpPr>
        <p:spPr>
          <a:xfrm>
            <a:off x="6537960" y="5961888"/>
            <a:ext cx="5394960" cy="548640"/>
          </a:xfrm>
          <a:prstGeom prst="rect">
            <a:avLst/>
          </a:prstGeom>
          <a:solidFill>
            <a:srgbClr val="141E36"/>
          </a:solidFill>
          <a:ln w="3810">
            <a:solidFill>
              <a:srgbClr val="1A2845"/>
            </a:solidFill>
            <a:prstDash val="solid"/>
          </a:ln>
        </p:spPr>
      </p:sp>
      <p:sp>
        <p:nvSpPr>
          <p:cNvPr id="49" name="Shape 47"/>
          <p:cNvSpPr/>
          <p:nvPr/>
        </p:nvSpPr>
        <p:spPr>
          <a:xfrm>
            <a:off x="8695944" y="5961888"/>
            <a:ext cx="18288" cy="548640"/>
          </a:xfrm>
          <a:prstGeom prst="rect">
            <a:avLst/>
          </a:prstGeom>
          <a:solidFill>
            <a:srgbClr val="1E293B"/>
          </a:solidFill>
          <a:ln w="12700">
            <a:solidFill>
              <a:srgbClr val="1E293B"/>
            </a:solidFill>
            <a:prstDash val="solid"/>
          </a:ln>
        </p:spPr>
      </p:sp>
      <p:sp>
        <p:nvSpPr>
          <p:cNvPr id="50" name="Text 48"/>
          <p:cNvSpPr/>
          <p:nvPr/>
        </p:nvSpPr>
        <p:spPr>
          <a:xfrm>
            <a:off x="6629400" y="5998464"/>
            <a:ext cx="2029968"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=AGGREGATE(function, options, range)</a:t>
            </a:r>
            <a:endParaRPr lang="en-US" sz="950" dirty="0"/>
          </a:p>
        </p:txBody>
      </p:sp>
      <p:sp>
        <p:nvSpPr>
          <p:cNvPr id="51" name="Text 49"/>
          <p:cNvSpPr/>
          <p:nvPr/>
        </p:nvSpPr>
        <p:spPr>
          <a:xfrm>
            <a:off x="8787384" y="5998464"/>
            <a:ext cx="3054096"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Like SUBTOTAL but also ignores error values. More flexible with 19 function types.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3B82F6"/>
          </a:solidFill>
          <a:ln w="12700">
            <a:solidFill>
              <a:srgbClr val="3B82F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3B82F6"/>
                </a:solidFill>
                <a:latin typeface="Calibri" pitchFamily="34" charset="0"/>
                <a:ea typeface="Calibri" pitchFamily="34" charset="-122"/>
                <a:cs typeface="Calibri" pitchFamily="34" charset="-120"/>
              </a:rPr>
              <a:t>CATEGORY 02</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Statistical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AVERAGE, COUNT, MAX, MIN, LARGE, MEDIAN, STDEV, PERCENTILE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STATISTICAL - COUNT, AVERAGE, MAX, MIN, RANK, PERCENTILE</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stats.xlsx</a:t>
            </a:r>
            <a:endParaRPr lang="en-US" sz="900" dirty="0"/>
          </a:p>
        </p:txBody>
      </p:sp>
      <p:sp>
        <p:nvSpPr>
          <p:cNvPr id="11" name="Text 9"/>
          <p:cNvSpPr/>
          <p:nvPr/>
        </p:nvSpPr>
        <p:spPr>
          <a:xfrm>
            <a:off x="557784" y="1408176"/>
            <a:ext cx="630936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Counting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=COUNT(A1:A100)       Count numeric cells only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=COUNTA(A1:A100)      Count non-empty cells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=COUNTBLANK(A1:A100)  Count empty cells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=COUNTIF(A:A,"Lagos")  Count cells =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=COUNTIF(A:A,"&amp;gt;50000") Count cells &amp;gt; 50000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=COUNTIFS(A:A,"Lagos",B:B,"Laptop")</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Average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=AVERAGE(B2:B100)     Mean of numeric 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=AVERAGEIF(A:A,"Lagos",B:B)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=AVERAGEIFS(C:C,A:A,"Lagos",B:B,"&amp;gt;0")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=MEDIAN(B2:B100)      Middle value (50th 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=MODE(B2:B100)        Most frequent value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=GEOMEAN(B2:B10)      Geometric mean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=HARMEAN(B2:B10)      Harmonic mean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=TRIMMEAN(B2:B100,0.1) Mean excluding top/bottom 10%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Max, Min, Rank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=MAX(B2:B100)         Highest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=MIN(B2:B100)         Lowest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=LARGE(B2:B100, 2)    2nd highest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=SMALL(B2:B100, 3)    3rd lowest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=RANK(A1,B:B,0)       Rank of A1 in B:B desc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=RANK.EQ(A1,B:B,1)    Rank ascending (ties=same)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=PERCENTILE(B:B,0.75) 75th percentile value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=QUARTILE(B:B,1)      Q1 (25th percentile)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=FREQUENCY(data,bins) Frequency distribution</a:t>
            </a:r>
            <a:endParaRPr lang="en-US" sz="1050" dirty="0"/>
          </a:p>
        </p:txBody>
      </p:sp>
      <p:sp>
        <p:nvSpPr>
          <p:cNvPr id="12" name="Shape 10"/>
          <p:cNvSpPr/>
          <p:nvPr/>
        </p:nvSpPr>
        <p:spPr>
          <a:xfrm>
            <a:off x="7178040" y="1024128"/>
            <a:ext cx="4754880" cy="548640"/>
          </a:xfrm>
          <a:prstGeom prst="rect">
            <a:avLst/>
          </a:prstGeom>
          <a:solidFill>
            <a:srgbClr val="3B82F6"/>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Explanation</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=COUNT vs COUNTA</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COUNT only counts numeric cells. COUNTA counts ALL non-empty cells including text. Use COUNTA to count text columns like names or regions.</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=MEDIAN vs AVERAGE</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Median is the middle value when sorted. For skewed data (like salaries or sales), median is more representative than mean.</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=LARGE(range, k)</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kth largest value. LARGE(B:B,1) = MAX. LARGE(B:B,2) = 2nd highest. Use for Top 5 analysis.</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=RANK(value, ref, order)</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Ranks a value within a list. order=0 descends (1st=highest). order=1 ascends (1st=lowest). Same values get same rank.</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=PERCENTILE(range, k)</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value at the kth percentile. k=0.5 = median. k=0.9 = 90th percentile (90% of values are below this).</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=STDEV(range)</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Standard deviation - how spread out values are. Low = consistent. High = variable. STDEV assumes sample data.</a:t>
            </a:r>
            <a:endParaRPr lang="en-US" sz="1000" dirty="0"/>
          </a:p>
        </p:txBody>
      </p:sp>
      <p:sp>
        <p:nvSpPr>
          <p:cNvPr id="40" name="Shape 38"/>
          <p:cNvSpPr/>
          <p:nvPr/>
        </p:nvSpPr>
        <p:spPr>
          <a:xfrm>
            <a:off x="7178040" y="4864608"/>
            <a:ext cx="4754880" cy="548640"/>
          </a:xfrm>
          <a:prstGeom prst="rect">
            <a:avLst/>
          </a:prstGeom>
          <a:solidFill>
            <a:srgbClr val="141E36"/>
          </a:solidFill>
          <a:ln w="3810">
            <a:solidFill>
              <a:srgbClr val="1A2845"/>
            </a:solidFill>
            <a:prstDash val="solid"/>
          </a:ln>
        </p:spPr>
      </p:sp>
      <p:sp>
        <p:nvSpPr>
          <p:cNvPr id="41" name="Shape 39"/>
          <p:cNvSpPr/>
          <p:nvPr/>
        </p:nvSpPr>
        <p:spPr>
          <a:xfrm>
            <a:off x="9079992" y="4864608"/>
            <a:ext cx="18288" cy="548640"/>
          </a:xfrm>
          <a:prstGeom prst="rect">
            <a:avLst/>
          </a:prstGeom>
          <a:solidFill>
            <a:srgbClr val="1E293B"/>
          </a:solidFill>
          <a:ln w="12700">
            <a:solidFill>
              <a:srgbClr val="1E293B"/>
            </a:solidFill>
            <a:prstDash val="solid"/>
          </a:ln>
        </p:spPr>
      </p:sp>
      <p:sp>
        <p:nvSpPr>
          <p:cNvPr id="42" name="Text 40"/>
          <p:cNvSpPr/>
          <p:nvPr/>
        </p:nvSpPr>
        <p:spPr>
          <a:xfrm>
            <a:off x="7269480" y="49011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=VAR(range)</a:t>
            </a:r>
            <a:endParaRPr lang="en-US" sz="950" dirty="0"/>
          </a:p>
        </p:txBody>
      </p:sp>
      <p:sp>
        <p:nvSpPr>
          <p:cNvPr id="43" name="Text 41"/>
          <p:cNvSpPr/>
          <p:nvPr/>
        </p:nvSpPr>
        <p:spPr>
          <a:xfrm>
            <a:off x="9171432" y="49011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Variance = standard deviation squared. Rarely used directly. Used in statistics.</a:t>
            </a:r>
            <a:endParaRPr lang="en-US" sz="1000" dirty="0"/>
          </a:p>
        </p:txBody>
      </p:sp>
      <p:sp>
        <p:nvSpPr>
          <p:cNvPr id="44" name="Shape 42"/>
          <p:cNvSpPr/>
          <p:nvPr/>
        </p:nvSpPr>
        <p:spPr>
          <a:xfrm>
            <a:off x="7178040" y="5413248"/>
            <a:ext cx="4754880" cy="548640"/>
          </a:xfrm>
          <a:prstGeom prst="rect">
            <a:avLst/>
          </a:prstGeom>
          <a:solidFill>
            <a:srgbClr val="0F1D3C"/>
          </a:solidFill>
          <a:ln w="3810">
            <a:solidFill>
              <a:srgbClr val="1A2845"/>
            </a:solidFill>
            <a:prstDash val="solid"/>
          </a:ln>
        </p:spPr>
      </p:sp>
      <p:sp>
        <p:nvSpPr>
          <p:cNvPr id="45" name="Shape 43"/>
          <p:cNvSpPr/>
          <p:nvPr/>
        </p:nvSpPr>
        <p:spPr>
          <a:xfrm>
            <a:off x="9079992" y="5413248"/>
            <a:ext cx="18288" cy="548640"/>
          </a:xfrm>
          <a:prstGeom prst="rect">
            <a:avLst/>
          </a:prstGeom>
          <a:solidFill>
            <a:srgbClr val="1E293B"/>
          </a:solidFill>
          <a:ln w="12700">
            <a:solidFill>
              <a:srgbClr val="1E293B"/>
            </a:solidFill>
            <a:prstDash val="solid"/>
          </a:ln>
        </p:spPr>
      </p:sp>
      <p:sp>
        <p:nvSpPr>
          <p:cNvPr id="46" name="Text 44"/>
          <p:cNvSpPr/>
          <p:nvPr/>
        </p:nvSpPr>
        <p:spPr>
          <a:xfrm>
            <a:off x="7269480" y="54498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=CORREL(range1, range2)</a:t>
            </a:r>
            <a:endParaRPr lang="en-US" sz="950" dirty="0"/>
          </a:p>
        </p:txBody>
      </p:sp>
      <p:sp>
        <p:nvSpPr>
          <p:cNvPr id="47" name="Text 45"/>
          <p:cNvSpPr/>
          <p:nvPr/>
        </p:nvSpPr>
        <p:spPr>
          <a:xfrm>
            <a:off x="9171432" y="54498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Correlation coefficient between two ranges. -1 to 1. Near 1 = strong positive. Near -1 = strong negative. Near 0 = no relationship.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8B5CF6"/>
          </a:solidFill>
          <a:ln w="12700">
            <a:solidFill>
              <a:srgbClr val="8B5CF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8B5CF6"/>
                </a:solidFill>
                <a:latin typeface="Calibri" pitchFamily="34" charset="0"/>
                <a:ea typeface="Calibri" pitchFamily="34" charset="-122"/>
                <a:cs typeface="Calibri" pitchFamily="34" charset="-120"/>
              </a:rPr>
              <a:t>CATEGORY 03</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Logical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IF, IFS, AND, OR, NOT, IFERROR, IFNA, SWITCH, CHOOSE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LOGICAL 01 - IF, IFS, AND, OR, NOT, IFERROR</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8B5CF6"/>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Explanation</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=IF(cond, true_val, false_val)</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condition. Returns true_val if TRUE, false_val if FALSE. Both return values can be text, numbers, or other formulas.</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Nested IF</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=IF(A1&amp;gt;90, "A", IF(A1&amp;gt;70, "B", "C")). One IF inside another. Limit to 3-4 levels of nesting - use IFS for more.</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=IFS(c1,v1,c2,v2,...,TRUE,vN)</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Tests conditions in order. Returns value for first TRUE. Always end with TRUE as catch-all or IFS returns #N/A.</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=AND(cond1, cond2, ...)</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only if ALL conditions are TRUE. Use inside IF: =IF(AND(A1&amp;gt;0, B1&amp;lt;100), "OK", "No").</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=OR(cond1, cond2, ...)</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if ANY condition is TRUE. =IF(OR(A1="VIP", B1&amp;gt;1000000), "Priority", "Standard").</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=NOT(condition)</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Reverses TRUE to FALSE and vice versa. =NOT(ISBLANK(A1)) = TRUE when cell has content.</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=IFERROR(formula, value_if_error)</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Catches ANY error (#DIV/0!, #N/A, #REF!, #VALUE!). Returns value_if_error instead. Wrap all lookups with this.</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=IFNA(formula, value_if_na)</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Only catches #N/A errors (not other error types). Use with VLOOKUP/XLOOKUP where #N/A means not found.</a:t>
            </a:r>
            <a:endParaRPr lang="en-US" sz="1000" dirty="0"/>
          </a:p>
        </p:txBody>
      </p:sp>
      <p:sp>
        <p:nvSpPr>
          <p:cNvPr id="41" name="Shape 38"/>
          <p:cNvSpPr/>
          <p:nvPr/>
        </p:nvSpPr>
        <p:spPr>
          <a:xfrm>
            <a:off x="7360920" y="5084064"/>
            <a:ext cx="4572000" cy="1664208"/>
          </a:xfrm>
          <a:prstGeom prst="roundRect">
            <a:avLst>
              <a:gd name="adj" fmla="val 5495"/>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84064"/>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66944"/>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75504"/>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75504"/>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75504"/>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38928"/>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logic.xlsx</a:t>
            </a:r>
            <a:endParaRPr lang="en-US" sz="900" dirty="0"/>
          </a:p>
        </p:txBody>
      </p:sp>
      <p:sp>
        <p:nvSpPr>
          <p:cNvPr id="48" name="Text 45"/>
          <p:cNvSpPr/>
          <p:nvPr/>
        </p:nvSpPr>
        <p:spPr>
          <a:xfrm>
            <a:off x="7507224" y="5468112"/>
            <a:ext cx="4297680" cy="117043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Real Business Examples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=IF(C2&amp;lt;0, "Loss", IF(C2=0, "Break Even", "Profit"))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=IFS(D2="A","Excellent",D2="B","Good",TRUE,"Review")</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=IFERROR(C2/D2, 0)       safe division</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=IF(AND(E2&amp;gt;50000,F2&amp;lt;10),"Bonus","No bonus")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LOGICAL 02 - SWITCH and CHOOSE - Cleaner Alternatives to Nested IF</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8B5CF6"/>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Explanation</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=SWITCH(value, v1, r1, v2, r2, ..., default)</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Compares value against a list. Returns result for the first match. Optional default at the end.</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=SWITCH(A1,1,"Jan",2,"Feb",3,"Mar")</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Month number to name. Cleaner than nested IF for value matching.</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=SWITCH(TRUE, cond1, r1, cond2, r2)</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Boolean SWITCH. Set first arg to TRUE, then use conditions. Like IFS but SWITCH syntax.</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=CHOOSE(index, v1, v2, v3, ...)</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Nth item from a list. index=1 returns v1, index=2 returns v2, etc.</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=CHOOSE(WEEKDAY(TODAY()),"Sun","Mon","Tue","Wed","Thu","Fri","Sat")</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today's day name. WEEKDAY returns 1=Sun in default mode.</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=CHOOSE(A1,"Bronze","Silver","Gold")</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If A1=1: Bronze. A1=2: Silver. A1=3: Gold. Clean award level logic.</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SWITCH vs IFS</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SWITCH: compares one value against many equals-checks. IFS: tests independent conditions. Use SWITCH for value matching, IFS for range comparisons.</a:t>
            </a:r>
            <a:endParaRPr lang="en-US" sz="1000" dirty="0"/>
          </a:p>
        </p:txBody>
      </p:sp>
      <p:sp>
        <p:nvSpPr>
          <p:cNvPr id="37" name="Shape 34"/>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38" name="Shape 35"/>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39" name="Shape 36"/>
          <p:cNvSpPr/>
          <p:nvPr/>
        </p:nvSpPr>
        <p:spPr>
          <a:xfrm>
            <a:off x="7360920" y="5230368"/>
            <a:ext cx="4572000" cy="146304"/>
          </a:xfrm>
          <a:prstGeom prst="rect">
            <a:avLst/>
          </a:prstGeom>
          <a:solidFill>
            <a:srgbClr val="111E35"/>
          </a:solidFill>
          <a:ln w="12700">
            <a:solidFill>
              <a:srgbClr val="111E35"/>
            </a:solidFill>
            <a:prstDash val="solid"/>
          </a:ln>
        </p:spPr>
      </p:sp>
      <p:sp>
        <p:nvSpPr>
          <p:cNvPr id="40" name="Shape 37"/>
          <p:cNvSpPr/>
          <p:nvPr/>
        </p:nvSpPr>
        <p:spPr>
          <a:xfrm>
            <a:off x="7488936" y="5138928"/>
            <a:ext cx="146304" cy="146304"/>
          </a:xfrm>
          <a:prstGeom prst="ellipse">
            <a:avLst/>
          </a:prstGeom>
          <a:solidFill>
            <a:srgbClr val="F43F5E"/>
          </a:solidFill>
          <a:ln w="12700">
            <a:solidFill>
              <a:srgbClr val="F43F5E"/>
            </a:solidFill>
            <a:prstDash val="solid"/>
          </a:ln>
        </p:spPr>
      </p:sp>
      <p:sp>
        <p:nvSpPr>
          <p:cNvPr id="41" name="Shape 38"/>
          <p:cNvSpPr/>
          <p:nvPr/>
        </p:nvSpPr>
        <p:spPr>
          <a:xfrm>
            <a:off x="7690104" y="5138928"/>
            <a:ext cx="146304" cy="146304"/>
          </a:xfrm>
          <a:prstGeom prst="ellipse">
            <a:avLst/>
          </a:prstGeom>
          <a:solidFill>
            <a:srgbClr val="F59E0B"/>
          </a:solidFill>
          <a:ln w="12700">
            <a:solidFill>
              <a:srgbClr val="F59E0B"/>
            </a:solidFill>
            <a:prstDash val="solid"/>
          </a:ln>
        </p:spPr>
      </p:sp>
      <p:sp>
        <p:nvSpPr>
          <p:cNvPr id="42" name="Shape 39"/>
          <p:cNvSpPr/>
          <p:nvPr/>
        </p:nvSpPr>
        <p:spPr>
          <a:xfrm>
            <a:off x="7891272" y="5138928"/>
            <a:ext cx="146304" cy="146304"/>
          </a:xfrm>
          <a:prstGeom prst="ellipse">
            <a:avLst/>
          </a:prstGeom>
          <a:solidFill>
            <a:srgbClr val="70AD47"/>
          </a:solidFill>
          <a:ln w="12700">
            <a:solidFill>
              <a:srgbClr val="70AD47"/>
            </a:solidFill>
            <a:prstDash val="solid"/>
          </a:ln>
        </p:spPr>
      </p:sp>
      <p:sp>
        <p:nvSpPr>
          <p:cNvPr id="43" name="Text 40"/>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switch.xlsx</a:t>
            </a:r>
            <a:endParaRPr lang="en-US" sz="900" dirty="0"/>
          </a:p>
        </p:txBody>
      </p:sp>
      <p:sp>
        <p:nvSpPr>
          <p:cNvPr id="44" name="Text 41"/>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SWITCH examples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=SWITCH(A2,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"NG", "Nigeria",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"GH", "Ghana",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"KE", "Kenya",</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"Unknown country")</a:t>
            </a:r>
            <a:endParaRPr lang="en-US" sz="1050" dirty="0"/>
          </a:p>
          <a:p>
            <a:pPr indent="0" marL="0">
              <a:buNone/>
            </a:pP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=CHOOSE(MONTH(TODAY()),"Q1","Q1","Q1","Q2","Q2","Q2","Q3","Q3","Q3","Q4","Q4","Q4")</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F59E0B"/>
          </a:solidFill>
          <a:ln w="12700">
            <a:solidFill>
              <a:srgbClr val="F59E0B"/>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F59E0B"/>
                </a:solidFill>
                <a:latin typeface="Calibri" pitchFamily="34" charset="0"/>
                <a:ea typeface="Calibri" pitchFamily="34" charset="-122"/>
                <a:cs typeface="Calibri" pitchFamily="34" charset="-120"/>
              </a:rPr>
              <a:t>CATEGORY 04</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Lookup and Reference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VLOOKUP, XLOOKUP, INDEX, MATCH, OFFSET, INDIRECT, CHOOSE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LOOKUP 01 - VLOOKUP - The Classic Lookup Function</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F59E0B"/>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Argument</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lookup_value</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value to search FOR. Usually a cell reference like A2. Must exist in the leftmost column of your table.</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table_array</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table to search IN. Must start with the lookup column on the left. Always use $ to lock: $F$1:$H$100.</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col_index_num</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Which column to return. 1=first column, 2=second, 3=third. Breaks if you insert columns between.</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range_lookup</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ALWAYS use 0 (or FALSE) for exact match. 1 (TRUE) = approximate - only for sorted data and is dangerous.</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#N/A error</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Value not found in lookup column. Check spelling, trailing spaces. Wrap with IFERROR to handle gracefully.</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VLOOKUP limitation 1</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Lookup column MUST be the leftmost column. Cannot look left. Use INDEX-MATCH or XLOOKUP instead.</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VLOOKUP limitation 2</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Column number is fragile - inserts a column and your number is wrong. INDEX-MATCH or XLOOKUP reference column by name.</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VLOOKUP vs XLOOKUP</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XLOOKUP has no column number. Returns the column you reference directly. Available Excel 365/2021 only.</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vlookup.xlsx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VLOOKUP Common Patterns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=VLOOKUP(A2,$F$1:$H$100,3,0)   basic</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=IFERROR(VLOOKUP(A2,T,2,0),"") safe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=VLOOKUP(A2andB2,$F$1:$H$100,3,0) two keys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Concatenate keys to create a unique join key</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=VLOOKUP(A2,INDIRECT("Sheet"andB2and"!A:C"),3,0)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LOOKUP 02 - XLOOKUP vs INDEX-MATCH - The Modern Lookups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F59E0B"/>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Technique</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and How to Use</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=XLOOKUP(val, lookup_arr, return_arr)</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Simplest syntax. lookup_arr is the search column. return_arr is the column to return. No column numbers.</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=XLOOKUP(val, lookup, return, 'Not found')</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4th argument = what to show if not found. Built-in error handling - no IFERROR needed.</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=XLOOKUP(val, lookup, return, ,-1)</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5th argument = match mode: 0=exact, -1=exact or smaller, 1=exact or larger, 2=wildcard.</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=XLOOKUP(val, lookup, return, ,, -1)</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6th argument = search mode: 1=first to last, -1=last to first (reverse). Returns last match.</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=XLOOKUP(val, lookup, full_table_range)</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 MULTIPLE columns at once. XLOOKUP spills the results across columns automatically.</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=INDEX(return_col, MATCH(val, lookup_col, 0))</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Classic INDEX-MATCH. Works in ALL Excel versions. Can look in any direction.</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MATCH(val, range, 0)</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ROW NUMBER (position) where val is found in range. 0=exact. 1=ascending approx. -1=descending approx.</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=INDEX(arr, MATCH(MAX(B:B), B:B, 0))</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Find the name/value associated with the maximum - impossible with VLOOKUP alone.</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xlookup.xlsx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XLOOKUP with multiple columns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=XLOOKUP(A2,Products[Code],Products[A:C])</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Returns code, name AND price in one formula</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INDEX-MATCH with MAX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=INDEX(A:A, MATCH(MAX(B:B), B:B, 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Name of the highest-value transaction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LOOKUP 03 - INDEX and MATCH - Deep Dive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F59E0B"/>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=MATCH(val, range, 0)</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Finds WHERE a value is in a range. Returns position number. 0=exact. Use as row number input for INDEX.</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=INDEX(array, row, col)</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the value AT a specific position. INDEX(A:C, 3, 2) = value in row 3, column 2 of columns A to C.</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Why combine them?</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MATCH gives you the position. INDEX uses the position to return a value. Together: find and return any data in any direction.</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=INDEX(B:B, MATCH(A2,C:C,0))</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 from B where C matches A2. Looking LEFT (B is left of C). VLOOKUP cannot do this.</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Two-way lookup</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=INDEX(B2:E10, MATCH(G1,A2:A10,0), MATCH(H1,B1:E1,0)). Find intersection of row and column headers.</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=XMATCH(val, range)</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Excel 365: cleaner MATCH. Returns position. Has wildcard and binary search modes built in.</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Array MATCH</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=MATCH(1, (A:A="Lagos")*(B:B="Laptop"), 0). Multiply two conditions to find multi-criteria position.</a:t>
            </a:r>
            <a:endParaRPr lang="en-US" sz="1000" dirty="0"/>
          </a:p>
        </p:txBody>
      </p:sp>
      <p:sp>
        <p:nvSpPr>
          <p:cNvPr id="37" name="Shape 34"/>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38" name="Shape 35"/>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39" name="Shape 36"/>
          <p:cNvSpPr/>
          <p:nvPr/>
        </p:nvSpPr>
        <p:spPr>
          <a:xfrm>
            <a:off x="7360920" y="5230368"/>
            <a:ext cx="4572000" cy="146304"/>
          </a:xfrm>
          <a:prstGeom prst="rect">
            <a:avLst/>
          </a:prstGeom>
          <a:solidFill>
            <a:srgbClr val="111E35"/>
          </a:solidFill>
          <a:ln w="12700">
            <a:solidFill>
              <a:srgbClr val="111E35"/>
            </a:solidFill>
            <a:prstDash val="solid"/>
          </a:ln>
        </p:spPr>
      </p:sp>
      <p:sp>
        <p:nvSpPr>
          <p:cNvPr id="40" name="Shape 37"/>
          <p:cNvSpPr/>
          <p:nvPr/>
        </p:nvSpPr>
        <p:spPr>
          <a:xfrm>
            <a:off x="7488936" y="5138928"/>
            <a:ext cx="146304" cy="146304"/>
          </a:xfrm>
          <a:prstGeom prst="ellipse">
            <a:avLst/>
          </a:prstGeom>
          <a:solidFill>
            <a:srgbClr val="F43F5E"/>
          </a:solidFill>
          <a:ln w="12700">
            <a:solidFill>
              <a:srgbClr val="F43F5E"/>
            </a:solidFill>
            <a:prstDash val="solid"/>
          </a:ln>
        </p:spPr>
      </p:sp>
      <p:sp>
        <p:nvSpPr>
          <p:cNvPr id="41" name="Shape 38"/>
          <p:cNvSpPr/>
          <p:nvPr/>
        </p:nvSpPr>
        <p:spPr>
          <a:xfrm>
            <a:off x="7690104" y="5138928"/>
            <a:ext cx="146304" cy="146304"/>
          </a:xfrm>
          <a:prstGeom prst="ellipse">
            <a:avLst/>
          </a:prstGeom>
          <a:solidFill>
            <a:srgbClr val="F59E0B"/>
          </a:solidFill>
          <a:ln w="12700">
            <a:solidFill>
              <a:srgbClr val="F59E0B"/>
            </a:solidFill>
            <a:prstDash val="solid"/>
          </a:ln>
        </p:spPr>
      </p:sp>
      <p:sp>
        <p:nvSpPr>
          <p:cNvPr id="42" name="Shape 39"/>
          <p:cNvSpPr/>
          <p:nvPr/>
        </p:nvSpPr>
        <p:spPr>
          <a:xfrm>
            <a:off x="7891272" y="5138928"/>
            <a:ext cx="146304" cy="146304"/>
          </a:xfrm>
          <a:prstGeom prst="ellipse">
            <a:avLst/>
          </a:prstGeom>
          <a:solidFill>
            <a:srgbClr val="70AD47"/>
          </a:solidFill>
          <a:ln w="12700">
            <a:solidFill>
              <a:srgbClr val="70AD47"/>
            </a:solidFill>
            <a:prstDash val="solid"/>
          </a:ln>
        </p:spPr>
      </p:sp>
      <p:sp>
        <p:nvSpPr>
          <p:cNvPr id="43" name="Text 40"/>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indexmatch.xlsx</a:t>
            </a:r>
            <a:endParaRPr lang="en-US" sz="900" dirty="0"/>
          </a:p>
        </p:txBody>
      </p:sp>
      <p:sp>
        <p:nvSpPr>
          <p:cNvPr id="44" name="Text 41"/>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Two-way lookup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=INDEX(B2:E10,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MATCH(H1, A2:A10, 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MATCH(H2, B1:E1, 0))</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Find value at intersection of Row and Column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Multi-criteria INDEX-MATCH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=INDEX(C:C, MATCH(1, (A:A="Lagos")*(B:B="Laptop"), 0))</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LOOKUP 04 - OFFSET, INDIRECT, ADDRESS, HYPERLINK</a:t>
            </a:r>
            <a:endParaRPr lang="en-US" sz="2600" dirty="0"/>
          </a:p>
        </p:txBody>
      </p:sp>
      <p:sp>
        <p:nvSpPr>
          <p:cNvPr id="4" name="Shape 2"/>
          <p:cNvSpPr/>
          <p:nvPr/>
        </p:nvSpPr>
        <p:spPr>
          <a:xfrm>
            <a:off x="411480" y="1024128"/>
            <a:ext cx="6583680" cy="4846320"/>
          </a:xfrm>
          <a:prstGeom prst="roundRect">
            <a:avLst>
              <a:gd name="adj" fmla="val 1887"/>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lookup4.xlsx</a:t>
            </a:r>
            <a:endParaRPr lang="en-US" sz="900" dirty="0"/>
          </a:p>
        </p:txBody>
      </p:sp>
      <p:sp>
        <p:nvSpPr>
          <p:cNvPr id="11" name="Text 9"/>
          <p:cNvSpPr/>
          <p:nvPr/>
        </p:nvSpPr>
        <p:spPr>
          <a:xfrm>
            <a:off x="557784" y="1408176"/>
            <a:ext cx="6309360" cy="4352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OFFSET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=OFFSET(reference, rows, cols, height, width)</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=OFFSET(A1, 2, 3)    -&amp;gt; value in D3</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Start at A1, move 2 rows down, 3 cols right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=OFFSET(A1, 0, 0, COUNTA(A:A), 1)</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Dynamic range that expands with data</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INDIRECT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=INDIRECT("A1")       -&amp;gt; value of 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=INDIRECT("Sheet2!B3") -&amp;gt; B3 on Sheet2</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=INDIRECT(A1)          -&amp;gt; value of cell in A1's text</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If A1 = "B5", returns value in B5</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=SUMIF(INDIRECT(A1and"!B:B"),"X",INDIRECT(A1and"!C:C"))</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Dynamic sheet reference for multi-sheet SUMIF</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ADDRESS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=ADDRESS(3, 2)         -&amp;gt; "$B$3"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=ADDRESS(3, 2, 4)      -&amp;gt; "B3" (relative)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=INDIRECT(ADDRESS(MATCH(MAX(B:B),B:B,0), 1))</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Cell address of the maximum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ROW and COLUMN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=ROW()               Row number of current cell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=ROW(A5)             -&amp;gt; 5 (row number of A5)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=COLUMN(D1)          -&amp;gt; 4 (D is 4th column)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=ROWS(A1:A100)       -&amp;gt; 100 (count of rows)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=COLUMNS(A1:Z1)      -&amp;gt; 26 (count of columns)</a:t>
            </a:r>
            <a:endParaRPr lang="en-US" sz="1050" dirty="0"/>
          </a:p>
        </p:txBody>
      </p:sp>
      <p:sp>
        <p:nvSpPr>
          <p:cNvPr id="12" name="Shape 10"/>
          <p:cNvSpPr/>
          <p:nvPr/>
        </p:nvSpPr>
        <p:spPr>
          <a:xfrm>
            <a:off x="7178040" y="1024128"/>
            <a:ext cx="4754880" cy="548640"/>
          </a:xfrm>
          <a:prstGeom prst="rect">
            <a:avLst/>
          </a:prstGeom>
          <a:solidFill>
            <a:srgbClr val="F59E0B"/>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 It</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=OFFSET(ref, rows, cols)</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Navigate relative to a starting cell. Used in dynamic named ranges. Volatile - recalculates every time.</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=INDIRECT(text)</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text to a cell reference. Use to build dynamic sheet references: =INDIRECT(A1and"!B:B") where A1 contains a sheet name.</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INDIRECT for dependent dropdowns</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Name ranges by country. =INDIRECT(A2) in Data Validation reads A2's value as a range name, enabling country-city dependent dropdowns.</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=ADDRESS(row, col)</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a cell address as text. ADDRESS(3,2) = "$B$3". Combine with INDIRECT: =INDIRECT(ADDRESS(r,c)) to navigate dynamically.</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=ROW() and COLUMN()</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ROW() returns current row number. ROW(A5) returns 5. Use =ROW()-1 to create sequential numbers that renumber when rows deleted.</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=ROWS(array) and COLUMNS(array)</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Count rows or columns in a range. ROWS(A1:A100)=100. Use in dynamic formulas: =SUM(OFFSET(A1,0,0,ROWS(B:B),1)).</a:t>
            </a:r>
            <a:endParaRPr lang="en-US" sz="1000" dirty="0"/>
          </a:p>
        </p:txBody>
      </p:sp>
      <p:sp>
        <p:nvSpPr>
          <p:cNvPr id="40" name="Shape 38"/>
          <p:cNvSpPr/>
          <p:nvPr/>
        </p:nvSpPr>
        <p:spPr>
          <a:xfrm>
            <a:off x="7178040" y="4864608"/>
            <a:ext cx="4754880" cy="548640"/>
          </a:xfrm>
          <a:prstGeom prst="rect">
            <a:avLst/>
          </a:prstGeom>
          <a:solidFill>
            <a:srgbClr val="141E36"/>
          </a:solidFill>
          <a:ln w="3810">
            <a:solidFill>
              <a:srgbClr val="1A2845"/>
            </a:solidFill>
            <a:prstDash val="solid"/>
          </a:ln>
        </p:spPr>
      </p:sp>
      <p:sp>
        <p:nvSpPr>
          <p:cNvPr id="41" name="Shape 39"/>
          <p:cNvSpPr/>
          <p:nvPr/>
        </p:nvSpPr>
        <p:spPr>
          <a:xfrm>
            <a:off x="9079992" y="4864608"/>
            <a:ext cx="18288" cy="548640"/>
          </a:xfrm>
          <a:prstGeom prst="rect">
            <a:avLst/>
          </a:prstGeom>
          <a:solidFill>
            <a:srgbClr val="1E293B"/>
          </a:solidFill>
          <a:ln w="12700">
            <a:solidFill>
              <a:srgbClr val="1E293B"/>
            </a:solidFill>
            <a:prstDash val="solid"/>
          </a:ln>
        </p:spPr>
      </p:sp>
      <p:sp>
        <p:nvSpPr>
          <p:cNvPr id="42" name="Text 40"/>
          <p:cNvSpPr/>
          <p:nvPr/>
        </p:nvSpPr>
        <p:spPr>
          <a:xfrm>
            <a:off x="7269480" y="49011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=CHOOSE with OFFSET</a:t>
            </a:r>
            <a:endParaRPr lang="en-US" sz="950" dirty="0"/>
          </a:p>
        </p:txBody>
      </p:sp>
      <p:sp>
        <p:nvSpPr>
          <p:cNvPr id="43" name="Text 41"/>
          <p:cNvSpPr/>
          <p:nvPr/>
        </p:nvSpPr>
        <p:spPr>
          <a:xfrm>
            <a:off x="9171432" y="49011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=CHOOSE(A1, OFFSET(data,0,0), OFFSET(data,0,1)) selects different column ranges based on a dropdown value.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06B6D4"/>
          </a:solidFill>
          <a:ln w="12700">
            <a:solidFill>
              <a:srgbClr val="06B6D4"/>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Aa</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06B6D4"/>
                </a:solidFill>
                <a:latin typeface="Calibri" pitchFamily="34" charset="0"/>
                <a:ea typeface="Calibri" pitchFamily="34" charset="-122"/>
                <a:cs typeface="Calibri" pitchFamily="34" charset="-120"/>
              </a:rPr>
              <a:t>CATEGORY 05</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Text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TRIM, LEFT, RIGHT, MID, LEN, FIND, SUBSTITUTE, TEXTJOIN, TEXT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TEXT 01 - Extract, Clean, Join, and Format Text</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06B6D4"/>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=LEFT(text, n)</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first n characters. =LEFT("LAGOS-001",5) = 'LAGOS'. Use to extract prefixes.</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=RIGHT(text, n)</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last n characters. =RIGHT("ORD-001",3) = '001'. Use to extract suffixes.</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=MID(text, start, n)</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n chars starting at position start. =MID("ORD-2024-001",5,4) = '2024'.</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=LEN(text)</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number of characters. =LEN("Lagos") = 5. Use to validate field lengths.</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=TRIM(text)</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Removes ALL leading, trailing, and EXTRA interior spaces. '  Lagos  ' becomes 'Lagos'.</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=CLEAN(text)</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Removes non-printable characters. Use on data copied from web pages or PDFs.</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=FIND(find, within, start)</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Position of text - CASE SENSITIVE. =FIND("a","Lagos") = 2.</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=SEARCH(find, within)</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Position of text - NOT case sensitive. =SEARCH("lagos","A Lagos B") = 3.</a:t>
            </a:r>
            <a:endParaRPr lang="en-US" sz="1000" dirty="0"/>
          </a:p>
        </p:txBody>
      </p:sp>
      <p:sp>
        <p:nvSpPr>
          <p:cNvPr id="41" name="Shape 38"/>
          <p:cNvSpPr/>
          <p:nvPr/>
        </p:nvSpPr>
        <p:spPr>
          <a:xfrm>
            <a:off x="7360920" y="5961888"/>
            <a:ext cx="4572000" cy="548640"/>
          </a:xfrm>
          <a:prstGeom prst="rect">
            <a:avLst/>
          </a:prstGeom>
          <a:solidFill>
            <a:srgbClr val="141E36"/>
          </a:solidFill>
          <a:ln w="3810">
            <a:solidFill>
              <a:srgbClr val="1A2845"/>
            </a:solidFill>
            <a:prstDash val="solid"/>
          </a:ln>
        </p:spPr>
      </p:sp>
      <p:sp>
        <p:nvSpPr>
          <p:cNvPr id="42" name="Shape 39"/>
          <p:cNvSpPr/>
          <p:nvPr/>
        </p:nvSpPr>
        <p:spPr>
          <a:xfrm>
            <a:off x="9189720" y="5961888"/>
            <a:ext cx="18288" cy="548640"/>
          </a:xfrm>
          <a:prstGeom prst="rect">
            <a:avLst/>
          </a:prstGeom>
          <a:solidFill>
            <a:srgbClr val="1E293B"/>
          </a:solidFill>
          <a:ln w="12700">
            <a:solidFill>
              <a:srgbClr val="1E293B"/>
            </a:solidFill>
            <a:prstDash val="solid"/>
          </a:ln>
        </p:spPr>
      </p:sp>
      <p:sp>
        <p:nvSpPr>
          <p:cNvPr id="43" name="Text 40"/>
          <p:cNvSpPr/>
          <p:nvPr/>
        </p:nvSpPr>
        <p:spPr>
          <a:xfrm>
            <a:off x="7452360" y="59984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=SUBSTITUTE(text,old,new,n)</a:t>
            </a:r>
            <a:endParaRPr lang="en-US" sz="950" dirty="0"/>
          </a:p>
        </p:txBody>
      </p:sp>
      <p:sp>
        <p:nvSpPr>
          <p:cNvPr id="44" name="Text 41"/>
          <p:cNvSpPr/>
          <p:nvPr/>
        </p:nvSpPr>
        <p:spPr>
          <a:xfrm>
            <a:off x="9281160" y="59984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Replaces text. 4th argument n: which occurrence (optional). =SUBSTITUTE(A1,"-","/") replaces all hyphens.</a:t>
            </a:r>
            <a:endParaRPr lang="en-US" sz="1000" dirty="0"/>
          </a:p>
        </p:txBody>
      </p:sp>
      <p:sp>
        <p:nvSpPr>
          <p:cNvPr id="45" name="Shape 42"/>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6" name="Shape 43"/>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7" name="Shape 44"/>
          <p:cNvSpPr/>
          <p:nvPr/>
        </p:nvSpPr>
        <p:spPr>
          <a:xfrm>
            <a:off x="7360920" y="5230368"/>
            <a:ext cx="4572000" cy="146304"/>
          </a:xfrm>
          <a:prstGeom prst="rect">
            <a:avLst/>
          </a:prstGeom>
          <a:solidFill>
            <a:srgbClr val="111E35"/>
          </a:solidFill>
          <a:ln w="12700">
            <a:solidFill>
              <a:srgbClr val="111E35"/>
            </a:solidFill>
            <a:prstDash val="solid"/>
          </a:ln>
        </p:spPr>
      </p:sp>
      <p:sp>
        <p:nvSpPr>
          <p:cNvPr id="48" name="Shape 45"/>
          <p:cNvSpPr/>
          <p:nvPr/>
        </p:nvSpPr>
        <p:spPr>
          <a:xfrm>
            <a:off x="7488936" y="5138928"/>
            <a:ext cx="146304" cy="146304"/>
          </a:xfrm>
          <a:prstGeom prst="ellipse">
            <a:avLst/>
          </a:prstGeom>
          <a:solidFill>
            <a:srgbClr val="F43F5E"/>
          </a:solidFill>
          <a:ln w="12700">
            <a:solidFill>
              <a:srgbClr val="F43F5E"/>
            </a:solidFill>
            <a:prstDash val="solid"/>
          </a:ln>
        </p:spPr>
      </p:sp>
      <p:sp>
        <p:nvSpPr>
          <p:cNvPr id="49" name="Shape 46"/>
          <p:cNvSpPr/>
          <p:nvPr/>
        </p:nvSpPr>
        <p:spPr>
          <a:xfrm>
            <a:off x="7690104" y="5138928"/>
            <a:ext cx="146304" cy="146304"/>
          </a:xfrm>
          <a:prstGeom prst="ellipse">
            <a:avLst/>
          </a:prstGeom>
          <a:solidFill>
            <a:srgbClr val="F59E0B"/>
          </a:solidFill>
          <a:ln w="12700">
            <a:solidFill>
              <a:srgbClr val="F59E0B"/>
            </a:solidFill>
            <a:prstDash val="solid"/>
          </a:ln>
        </p:spPr>
      </p:sp>
      <p:sp>
        <p:nvSpPr>
          <p:cNvPr id="50" name="Shape 47"/>
          <p:cNvSpPr/>
          <p:nvPr/>
        </p:nvSpPr>
        <p:spPr>
          <a:xfrm>
            <a:off x="7891272" y="5138928"/>
            <a:ext cx="146304" cy="146304"/>
          </a:xfrm>
          <a:prstGeom prst="ellipse">
            <a:avLst/>
          </a:prstGeom>
          <a:solidFill>
            <a:srgbClr val="70AD47"/>
          </a:solidFill>
          <a:ln w="12700">
            <a:solidFill>
              <a:srgbClr val="70AD47"/>
            </a:solidFill>
            <a:prstDash val="solid"/>
          </a:ln>
        </p:spPr>
      </p:sp>
      <p:sp>
        <p:nvSpPr>
          <p:cNvPr id="51" name="Text 48"/>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text.xlsx</a:t>
            </a:r>
            <a:endParaRPr lang="en-US" sz="900" dirty="0"/>
          </a:p>
        </p:txBody>
      </p:sp>
      <p:sp>
        <p:nvSpPr>
          <p:cNvPr id="52" name="Text 49"/>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Extract between delimiters --</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A1 = "ORD-2024-00145"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Year = =MID(A1,5,4)               -&amp;gt; 2024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Num  = =RIGHT(A1,5)               -&amp;gt; 00145</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Prefix=LEFT(A1,FIND("-",A1)-1)  -&amp;gt; ORD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TEXT 02 - CONCAT, TEXTJOIN, TEXT, VALUE, REPT, UPPER, LOWER</a:t>
            </a:r>
            <a:endParaRPr lang="en-US" sz="2600" dirty="0"/>
          </a:p>
        </p:txBody>
      </p:sp>
      <p:sp>
        <p:nvSpPr>
          <p:cNvPr id="4" name="Shape 2"/>
          <p:cNvSpPr/>
          <p:nvPr/>
        </p:nvSpPr>
        <p:spPr>
          <a:xfrm>
            <a:off x="411480" y="1024128"/>
            <a:ext cx="6583680" cy="5230368"/>
          </a:xfrm>
          <a:prstGeom prst="roundRect">
            <a:avLst>
              <a:gd name="adj" fmla="val 1748"/>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text2.xlsx</a:t>
            </a:r>
            <a:endParaRPr lang="en-US" sz="900" dirty="0"/>
          </a:p>
        </p:txBody>
      </p:sp>
      <p:sp>
        <p:nvSpPr>
          <p:cNvPr id="11" name="Text 9"/>
          <p:cNvSpPr/>
          <p:nvPr/>
        </p:nvSpPr>
        <p:spPr>
          <a:xfrm>
            <a:off x="557784" y="1408176"/>
            <a:ext cx="6309360" cy="47365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Joining Text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=A1and" "andB1            Ampersand join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=CONCAT(A1," ",B1)   Excel 2016+ concat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=CONCATENATE(A1," ",B1) Old version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=TEXTJOIN(", ",TRUE,A1:A5) Join with separator, skip blanks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=TEXTJOIN(" | ",FALSE,A1:A5) Include blanks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Number/Date Formatting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=TEXT(45000,"NGN #,##0")     -&amp;gt; NGN 45,000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=TEXT(0.245,"0.0%")          -&amp;gt; 24.5%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=TEXT(TODAY(),"DD MMM YYYY") -&amp;gt; 25 Jun 2026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=TEXT(TODAY(),"DDDD")        -&amp;gt; Thursday</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=TEXT(A1,"000000")           -&amp;gt; 000045 (pad)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Convert Types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=VALUE("45000")       -&amp;gt; 45000 (text to number)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=VALUE("24.5%")       -&amp;gt; 0.245 (percent to decimal)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=N(TRUE)              -&amp;gt; 1  (logical to number)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=T(45000)             -&amp;gt; "" (number to text: empty if number)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Case Conversion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=UPPER("lagos")       -&amp;gt;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=LOWER("LAGOS")       -&amp;gt;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=PROPER("lagos state")-&amp;gt; Lagos State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Repeat and Pad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=REPT("*",5)         -&amp;gt;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=REPT("*",ROUND(A1/10000,0)) Star rating bar in cell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=TEXT(A1,"@"andREPT(" ",10-LEN(A1))) Pad to 10 chars</a:t>
            </a:r>
            <a:endParaRPr lang="en-US" sz="1050" dirty="0"/>
          </a:p>
        </p:txBody>
      </p:sp>
      <p:sp>
        <p:nvSpPr>
          <p:cNvPr id="12" name="Shape 10"/>
          <p:cNvSpPr/>
          <p:nvPr/>
        </p:nvSpPr>
        <p:spPr>
          <a:xfrm>
            <a:off x="7178040" y="1024128"/>
            <a:ext cx="4754880" cy="548640"/>
          </a:xfrm>
          <a:prstGeom prst="rect">
            <a:avLst/>
          </a:prstGeom>
          <a:solidFill>
            <a:srgbClr val="06B6D4"/>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=TEXTJOIN(",", TRUE, A1:A5)</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Joins all values with a comma separator. TRUE skips blank cells. Available Excel 2016+. Best for creating comma-separated lists.</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=TEXT(number, format)</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a number to a formatted text string. Format codes same as custom number formats. Unlike cell formatting, this creates TEXT that can be concatenated.</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=VALUE(text)</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Converts text that looks like a number to an actual number. Fixes numbers stored as text (left-aligned numbers). =VALUE(TRIM(A1)) handles spaces too.</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=REPT(text, n)</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Repeats text n times. =REPT("*", ROUND(A1/10000,0)) creates a visual star bar based on a value - a sparkline within text.</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=PROPER(text)</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Capitalises first letter of each word. =PROPER(TRIM(A1)) is the standard data cleaning combination for name columns.</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=SUBSTITUTE(A1,CHAR(10),", ")</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CHAR(10) is the newline character (Alt+Enter). Replace line breaks with comma-space to join multi-line cell content.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F43F5E"/>
          </a:solidFill>
          <a:ln w="12700">
            <a:solidFill>
              <a:srgbClr val="F43F5E"/>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F43F5E"/>
                </a:solidFill>
                <a:latin typeface="Calibri" pitchFamily="34" charset="0"/>
                <a:ea typeface="Calibri" pitchFamily="34" charset="-122"/>
                <a:cs typeface="Calibri" pitchFamily="34" charset="-120"/>
              </a:rPr>
              <a:t>CATEGORY 06</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Date and Time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TODAY, DATE, DATEDIF, EDATE, EOMONTH, WORKDAY, NETWORKDAYS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DATE 01 - Date Creation, Extraction, and Arithmetic</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F43F5E"/>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=TODAY()</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today's date. Volatile - updates every time worksheet recalculates. Format: 25/06/2026.</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=NOW()</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current date AND time. Also volatile. Use =INT(NOW()) to get today's date without time.</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=DATE(year, month, day)</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Constructs a date from three numbers. =DATE(2024,12,31) = 31 December 2024. Handles roll-over: DATE(2024,13,1) = 01 Jan 2025.</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=DATEDIF(start, end, unit)</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Calculates date differences. Units: D=days, M=months, Y=years, YM=months excluding years, YD=days excluding years.</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=EDATE(start_date, months)</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Adds/subtracts months from a date. Handles month-end correctly: EDATE(31/01/2024,1) = 29/02/2024 (not 31st Feb).</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=EOMONTH(start_date, months)</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last day of a month. EOMONTH(A1,0) = last day of A1's month. EOMONTH(A1,-1)+1 = first day of A1's month.</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=NETWORKDAYS(start,end,holidays)</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Business days between two dates, excluding weekends. Add optional holidays range: a list of public holiday dates.</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=WORKDAY(start_date, days)</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a date N working days after start. WORKDAY(TODAY(),30) = date 30 working days from now.</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dates.xlsx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Age and Tenure Calculator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Years = =DATEDIF(B2,TODAY(),"Y")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Months= =DATEDIF(B2,TODAY(),"YM")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Full  = =DATEDIF(B2,TODAY(),"Y")and" yrs "and</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DATEDIF(B2,TODAY(),"YM")and" mths"</a:t>
            </a:r>
            <a:endParaRPr lang="en-US" sz="1050" dirty="0"/>
          </a:p>
          <a:p>
            <a:pPr indent="0" marL="0">
              <a:buNone/>
            </a:pP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Invoice Overdue: =TODAY()-A2 &amp;gt; 30</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DATE 02 - Date Parts, Week Numbers, and Time Functions</a:t>
            </a:r>
            <a:endParaRPr lang="en-US" sz="2600" dirty="0"/>
          </a:p>
        </p:txBody>
      </p:sp>
      <p:sp>
        <p:nvSpPr>
          <p:cNvPr id="4" name="Shape 2"/>
          <p:cNvSpPr/>
          <p:nvPr/>
        </p:nvSpPr>
        <p:spPr>
          <a:xfrm>
            <a:off x="411480" y="1024128"/>
            <a:ext cx="6583680" cy="4846320"/>
          </a:xfrm>
          <a:prstGeom prst="roundRect">
            <a:avLst>
              <a:gd name="adj" fmla="val 1887"/>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date2.xlsx</a:t>
            </a:r>
            <a:endParaRPr lang="en-US" sz="900" dirty="0"/>
          </a:p>
        </p:txBody>
      </p:sp>
      <p:sp>
        <p:nvSpPr>
          <p:cNvPr id="11" name="Text 9"/>
          <p:cNvSpPr/>
          <p:nvPr/>
        </p:nvSpPr>
        <p:spPr>
          <a:xfrm>
            <a:off x="557784" y="1408176"/>
            <a:ext cx="6309360" cy="4352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Extract Date Parts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=YEAR(A1)             Extract year: 2024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=MONTH(A1)            Extract month: 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=DAY(A1)              Extract day: 25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=WEEKDAY(A1)          Day of week: 1=Sun default</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=WEEKDAY(A1,2)        Day of week: 1=Mon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=WEEKNUM(A1)          Week number of year: 26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=ISOWEEKNUM(A1)       ISO week number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=TEXT(A1,"MMMM")   Month name: June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=TEXT(A1,"MMM")    Short: Jun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=TEXT(A1,"DDDD")   Day name: Thursday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=TEXT(A1,"DDD")    Short: Thu</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Quarter Calculation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=CHOOSE(MONTH(A1),"Q1","Q1","Q1","Q2","Q2","Q2","Q3","Q3","Q3","Q4","Q4","Q4")</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=INT((MONTH(A1)-1)/3)+1  Quarter number 1-4</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Time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=HOUR(A1)             Extract hour (0-23)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=MINUTE(A1)           Extract minutes (0-59)</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=SECOND(A1)           Extract seconds (0-59)</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=TIME(9, 30, 0)       Build time: 9:30 AM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=NOW()-INT(NOW())      Current time only</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=A2-A1                Time elapsed (format as [h]:mm)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=MOD(A1,1)            Extract time from datetime</a:t>
            </a:r>
            <a:endParaRPr lang="en-US" sz="1050" dirty="0"/>
          </a:p>
        </p:txBody>
      </p:sp>
      <p:sp>
        <p:nvSpPr>
          <p:cNvPr id="12" name="Shape 10"/>
          <p:cNvSpPr/>
          <p:nvPr/>
        </p:nvSpPr>
        <p:spPr>
          <a:xfrm>
            <a:off x="7178040" y="1024128"/>
            <a:ext cx="4754880" cy="548640"/>
          </a:xfrm>
          <a:prstGeom prst="rect">
            <a:avLst/>
          </a:prstGeom>
          <a:solidFill>
            <a:srgbClr val="F43F5E"/>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Scenario</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Formula Solution</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Age display: 35 years, 8 months</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=DATEDIF(DOB,TODAY(),"Y")and" years, "andDATEDIF(DOB,TODAY(),"YM")and" months"</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First day of a month</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=EOMONTH(A1,-1)+1  or  =DATE(YEAR(A1),MONTH(A1),1)</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Last day of a month</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=EOMONTH(A1,0)</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Same date next year</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=DATE(YEAR(A1)+1,MONTH(A1),DAY(A1))</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Days remaining until deadline</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=DEADLINE-TODAY(). Format as Number, not Date.</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 weekend? (TRUE/FALSE)</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=OR(WEEKDAY(A1,2)=6, WEEKDAY(A1,2)=7)</a:t>
            </a:r>
            <a:endParaRPr lang="en-US" sz="1000" dirty="0"/>
          </a:p>
        </p:txBody>
      </p:sp>
      <p:sp>
        <p:nvSpPr>
          <p:cNvPr id="40" name="Shape 38"/>
          <p:cNvSpPr/>
          <p:nvPr/>
        </p:nvSpPr>
        <p:spPr>
          <a:xfrm>
            <a:off x="7178040" y="4864608"/>
            <a:ext cx="4754880" cy="548640"/>
          </a:xfrm>
          <a:prstGeom prst="rect">
            <a:avLst/>
          </a:prstGeom>
          <a:solidFill>
            <a:srgbClr val="141E36"/>
          </a:solidFill>
          <a:ln w="3810">
            <a:solidFill>
              <a:srgbClr val="1A2845"/>
            </a:solidFill>
            <a:prstDash val="solid"/>
          </a:ln>
        </p:spPr>
      </p:sp>
      <p:sp>
        <p:nvSpPr>
          <p:cNvPr id="41" name="Shape 39"/>
          <p:cNvSpPr/>
          <p:nvPr/>
        </p:nvSpPr>
        <p:spPr>
          <a:xfrm>
            <a:off x="9079992" y="4864608"/>
            <a:ext cx="18288" cy="548640"/>
          </a:xfrm>
          <a:prstGeom prst="rect">
            <a:avLst/>
          </a:prstGeom>
          <a:solidFill>
            <a:srgbClr val="1E293B"/>
          </a:solidFill>
          <a:ln w="12700">
            <a:solidFill>
              <a:srgbClr val="1E293B"/>
            </a:solidFill>
            <a:prstDash val="solid"/>
          </a:ln>
        </p:spPr>
      </p:sp>
      <p:sp>
        <p:nvSpPr>
          <p:cNvPr id="42" name="Text 40"/>
          <p:cNvSpPr/>
          <p:nvPr/>
        </p:nvSpPr>
        <p:spPr>
          <a:xfrm>
            <a:off x="7269480" y="49011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Quarter label Q1/Q2/Q3/Q4</a:t>
            </a:r>
            <a:endParaRPr lang="en-US" sz="950" dirty="0"/>
          </a:p>
        </p:txBody>
      </p:sp>
      <p:sp>
        <p:nvSpPr>
          <p:cNvPr id="43" name="Text 41"/>
          <p:cNvSpPr/>
          <p:nvPr/>
        </p:nvSpPr>
        <p:spPr>
          <a:xfrm>
            <a:off x="9171432" y="49011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=CHOOSE(MONTH(A1),"Q1","Q1","Q1","Q2","Q2","Q2","Q3","Q3","Q3","Q4","Q4","Q4")</a:t>
            </a:r>
            <a:endParaRPr lang="en-US" sz="1000" dirty="0"/>
          </a:p>
        </p:txBody>
      </p:sp>
      <p:sp>
        <p:nvSpPr>
          <p:cNvPr id="44" name="Shape 42"/>
          <p:cNvSpPr/>
          <p:nvPr/>
        </p:nvSpPr>
        <p:spPr>
          <a:xfrm>
            <a:off x="7178040" y="5413248"/>
            <a:ext cx="4754880" cy="548640"/>
          </a:xfrm>
          <a:prstGeom prst="rect">
            <a:avLst/>
          </a:prstGeom>
          <a:solidFill>
            <a:srgbClr val="0F1D3C"/>
          </a:solidFill>
          <a:ln w="3810">
            <a:solidFill>
              <a:srgbClr val="1A2845"/>
            </a:solidFill>
            <a:prstDash val="solid"/>
          </a:ln>
        </p:spPr>
      </p:sp>
      <p:sp>
        <p:nvSpPr>
          <p:cNvPr id="45" name="Shape 43"/>
          <p:cNvSpPr/>
          <p:nvPr/>
        </p:nvSpPr>
        <p:spPr>
          <a:xfrm>
            <a:off x="9079992" y="5413248"/>
            <a:ext cx="18288" cy="548640"/>
          </a:xfrm>
          <a:prstGeom prst="rect">
            <a:avLst/>
          </a:prstGeom>
          <a:solidFill>
            <a:srgbClr val="1E293B"/>
          </a:solidFill>
          <a:ln w="12700">
            <a:solidFill>
              <a:srgbClr val="1E293B"/>
            </a:solidFill>
            <a:prstDash val="solid"/>
          </a:ln>
        </p:spPr>
      </p:sp>
      <p:sp>
        <p:nvSpPr>
          <p:cNvPr id="46" name="Text 44"/>
          <p:cNvSpPr/>
          <p:nvPr/>
        </p:nvSpPr>
        <p:spPr>
          <a:xfrm>
            <a:off x="7269480" y="54498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Time between two times as hours</a:t>
            </a:r>
            <a:endParaRPr lang="en-US" sz="950" dirty="0"/>
          </a:p>
        </p:txBody>
      </p:sp>
      <p:sp>
        <p:nvSpPr>
          <p:cNvPr id="47" name="Text 45"/>
          <p:cNvSpPr/>
          <p:nvPr/>
        </p:nvSpPr>
        <p:spPr>
          <a:xfrm>
            <a:off x="9171432" y="54498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=(B1-A1)*24. Multiply by 24 converts Excel time fraction to hours.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EC4899"/>
          </a:solidFill>
          <a:ln w="12700">
            <a:solidFill>
              <a:srgbClr val="EC4899"/>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ℹ</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EC4899"/>
                </a:solidFill>
                <a:latin typeface="Calibri" pitchFamily="34" charset="0"/>
                <a:ea typeface="Calibri" pitchFamily="34" charset="-122"/>
                <a:cs typeface="Calibri" pitchFamily="34" charset="-120"/>
              </a:rPr>
              <a:t>CATEGORY 07</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Information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ISBLANK, ISNUMBER, ISTEXT, ISERROR, ISNA, TYPE, CELL, 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INFORMATION - IS Functions, CELL, TYPE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EC4899"/>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Returns and When to Use</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=ISBLANK(A1)</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if cell is completely empty. FALSE if has any value including spaces. Pair with IF: =IF(ISBLANK(A1),"Empty",A1).</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=ISNUMBER(A1)</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if cell contains a numeric value. Use to validate inputs or debug why SUM is not working (text numbers).</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=ISTEXT(A1)</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if cell contains text. Numbers left-aligned are often text - ISTEXT(A1) reveals this.</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=ISERROR(A1)</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for ANY error: #DIV/0!, #N/A, #REF!, #VALUE!, #NAME!, #NUM!. Use in conditional formatting to highlight error cells.</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=ISERR(A1)</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for all errors EXCEPT #N/A. Use when you want #N/A to pass through (e.g. during a deliberate not-found).</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=ISNA(A1)</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specifically for #N/A errors. Use to detect when a lookup did not find a match.</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=ISODD(number)</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TRUE if number is odd. =ISODD(ROW()) inside conditional formatting creates alternating row colours.</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=TYPE(A1)</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1=number, 2=text, 4=logical, 16=error, 64=array. More detailed than IS functions.</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info.xlsx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Practical IS function patterns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Validate input: =IF(ISBLANK(B2),"Required","OK")</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Fix text numbers: =IF(ISNUMBER(A1),A1,VALUE(A1))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Alternating rows in CF: =ISODD(ROW())</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Error check: =IF(ISERROR(formula),"",formula)</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NA check: =IF(ISNA(VLOOKUP(...)),"Missing","OK")</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EAB308"/>
          </a:solidFill>
          <a:ln w="12700">
            <a:solidFill>
              <a:srgbClr val="EAB308"/>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EAB308"/>
                </a:solidFill>
                <a:latin typeface="Calibri" pitchFamily="34" charset="0"/>
                <a:ea typeface="Calibri" pitchFamily="34" charset="-122"/>
                <a:cs typeface="Calibri" pitchFamily="34" charset="-120"/>
              </a:rPr>
              <a:t>CATEGORY 08</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Financial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PMT, PV, FV, RATE, NPER, NPV, IRR, XIRR, XNPV</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FINANCIAL - Loan, Investment, and Valuation Functions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EAB308"/>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Calculates</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=PMT(rate, nper, pv)</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Monthly loan payment. rate=monthly rate (annual%/12). nper=total payments. pv=loan amount (negative PV convention).</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=PV(rate, nper, pmt)</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Present value of a series of payments. How much is a stream of future payments worth today?</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=FV(rate, nper, pmt)</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Future value of regular savings. How much will NGN 5,000/month grow to in 10 years at 10%?</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=RATE(nper, pmt, pv)*12</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Annual interest rate given loan details. Multiply monthly result by 12 for annual rate.</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=NPER(rate, pmt, pv)</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Number of payment periods needed. How many months to pay off a loan?</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=NPV(discount_rate, cashflows)</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Net present value of future cash flows. Add initial investment separately: =NPV(10%,B2:B7)+A1.</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=IRR(cashflows)</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Internal rate of return. First value should be negative (initial outlay). Returns period rate.</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=XIRR(cashflows, dates)</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IRR when cash flows happen at irregular intervals. More accurate than IRR for real investments.</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financial.xlsx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Loan Calculator Example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Loan amount:  NGN 5,000,000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Annual rate:  18% (bank rate Nigeria)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Term:         36 months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=PMT(18%/12, 36, -5000000) -&amp;gt; NGN 180,734/mo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=PMT(18%/12, 36, -5000000)*36 -&amp;gt; Total paid</a:t>
            </a:r>
            <a:endParaRPr lang="en-US" sz="1050" dirty="0"/>
          </a:p>
          <a:p>
            <a:pPr indent="0" marL="0">
              <a:buNone/>
            </a:pPr>
            <a:r>
              <a:rPr lang="en-US" sz="1050" dirty="0">
                <a:solidFill>
                  <a:srgbClr val="F43F5E"/>
                </a:solidFill>
                <a:latin typeface="Courier New" pitchFamily="34" charset="0"/>
                <a:ea typeface="Courier New" pitchFamily="34" charset="-122"/>
                <a:cs typeface="Courier New" pitchFamily="34" charset="-120"/>
              </a:rPr>
              <a:t>Total interest = Total paid - 5,000,000</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22D3EE"/>
          </a:solidFill>
          <a:ln w="12700">
            <a:solidFill>
              <a:srgbClr val="22D3EE"/>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22D3EE"/>
                </a:solidFill>
                <a:latin typeface="Calibri" pitchFamily="34" charset="0"/>
                <a:ea typeface="Calibri" pitchFamily="34" charset="-122"/>
                <a:cs typeface="Calibri" pitchFamily="34" charset="-120"/>
              </a:rPr>
              <a:t>CATEGORY 09</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Dynamic Array Functions (Excel 365)</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FILTER, SORT, UNIQUE, SEQUENCE, TEXTSPLIT, TOCOL, TOROW</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ARRAY 01 - FILTER, SORT, UNIQUE, SEQUENCE - Dynamic Results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766560" cy="5029200"/>
          </a:xfrm>
          <a:prstGeom prst="rect">
            <a:avLst/>
          </a:prstGeom>
        </p:spPr>
      </p:pic>
      <p:sp>
        <p:nvSpPr>
          <p:cNvPr id="5" name="Shape 2"/>
          <p:cNvSpPr/>
          <p:nvPr/>
        </p:nvSpPr>
        <p:spPr>
          <a:xfrm>
            <a:off x="7360920" y="1024128"/>
            <a:ext cx="4572000" cy="548640"/>
          </a:xfrm>
          <a:prstGeom prst="rect">
            <a:avLst/>
          </a:prstGeom>
          <a:solidFill>
            <a:srgbClr val="22D3EE"/>
          </a:solidFill>
          <a:ln w="3810">
            <a:solidFill>
              <a:srgbClr val="1A2845"/>
            </a:solidFill>
            <a:prstDash val="solid"/>
          </a:ln>
        </p:spPr>
      </p:sp>
      <p:sp>
        <p:nvSpPr>
          <p:cNvPr id="6" name="Shape 3"/>
          <p:cNvSpPr/>
          <p:nvPr/>
        </p:nvSpPr>
        <p:spPr>
          <a:xfrm>
            <a:off x="9189720" y="1024128"/>
            <a:ext cx="18288" cy="548640"/>
          </a:xfrm>
          <a:prstGeom prst="rect">
            <a:avLst/>
          </a:prstGeom>
          <a:solidFill>
            <a:srgbClr val="FFFFFF"/>
          </a:solidFill>
          <a:ln w="12700">
            <a:solidFill>
              <a:srgbClr val="FFFFFF"/>
            </a:solidFill>
            <a:prstDash val="solid"/>
          </a:ln>
        </p:spPr>
      </p:sp>
      <p:sp>
        <p:nvSpPr>
          <p:cNvPr id="7" name="Text 4"/>
          <p:cNvSpPr/>
          <p:nvPr/>
        </p:nvSpPr>
        <p:spPr>
          <a:xfrm>
            <a:off x="7452360" y="1060704"/>
            <a:ext cx="1700784"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8" name="Text 5"/>
          <p:cNvSpPr/>
          <p:nvPr/>
        </p:nvSpPr>
        <p:spPr>
          <a:xfrm>
            <a:off x="9281160" y="1060704"/>
            <a:ext cx="2560320"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 - Excel 365/2021 Only</a:t>
            </a:r>
            <a:endParaRPr lang="en-US" sz="1000" dirty="0"/>
          </a:p>
        </p:txBody>
      </p:sp>
      <p:sp>
        <p:nvSpPr>
          <p:cNvPr id="9" name="Shape 6"/>
          <p:cNvSpPr/>
          <p:nvPr/>
        </p:nvSpPr>
        <p:spPr>
          <a:xfrm>
            <a:off x="7360920" y="1572768"/>
            <a:ext cx="4572000" cy="548640"/>
          </a:xfrm>
          <a:prstGeom prst="rect">
            <a:avLst/>
          </a:prstGeom>
          <a:solidFill>
            <a:srgbClr val="141E36"/>
          </a:solidFill>
          <a:ln w="3810">
            <a:solidFill>
              <a:srgbClr val="1A2845"/>
            </a:solidFill>
            <a:prstDash val="solid"/>
          </a:ln>
        </p:spPr>
      </p:sp>
      <p:sp>
        <p:nvSpPr>
          <p:cNvPr id="10" name="Shape 7"/>
          <p:cNvSpPr/>
          <p:nvPr/>
        </p:nvSpPr>
        <p:spPr>
          <a:xfrm>
            <a:off x="9189720" y="1572768"/>
            <a:ext cx="18288" cy="548640"/>
          </a:xfrm>
          <a:prstGeom prst="rect">
            <a:avLst/>
          </a:prstGeom>
          <a:solidFill>
            <a:srgbClr val="1E293B"/>
          </a:solidFill>
          <a:ln w="12700">
            <a:solidFill>
              <a:srgbClr val="1E293B"/>
            </a:solidFill>
            <a:prstDash val="solid"/>
          </a:ln>
        </p:spPr>
      </p:sp>
      <p:sp>
        <p:nvSpPr>
          <p:cNvPr id="11" name="Text 8"/>
          <p:cNvSpPr/>
          <p:nvPr/>
        </p:nvSpPr>
        <p:spPr>
          <a:xfrm>
            <a:off x="7452360" y="16093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=FILTER(array, include)</a:t>
            </a:r>
            <a:endParaRPr lang="en-US" sz="950" dirty="0"/>
          </a:p>
        </p:txBody>
      </p:sp>
      <p:sp>
        <p:nvSpPr>
          <p:cNvPr id="12" name="Text 9"/>
          <p:cNvSpPr/>
          <p:nvPr/>
        </p:nvSpPr>
        <p:spPr>
          <a:xfrm>
            <a:off x="9281160" y="16093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only the rows where include is TRUE. Spills results downward. =FILTER(A:C, B:B="Lagos") returns all Lagos rows.</a:t>
            </a:r>
            <a:endParaRPr lang="en-US" sz="1000" dirty="0"/>
          </a:p>
        </p:txBody>
      </p:sp>
      <p:sp>
        <p:nvSpPr>
          <p:cNvPr id="13" name="Shape 10"/>
          <p:cNvSpPr/>
          <p:nvPr/>
        </p:nvSpPr>
        <p:spPr>
          <a:xfrm>
            <a:off x="7360920" y="2121408"/>
            <a:ext cx="4572000" cy="548640"/>
          </a:xfrm>
          <a:prstGeom prst="rect">
            <a:avLst/>
          </a:prstGeom>
          <a:solidFill>
            <a:srgbClr val="0F1D3C"/>
          </a:solidFill>
          <a:ln w="3810">
            <a:solidFill>
              <a:srgbClr val="1A2845"/>
            </a:solidFill>
            <a:prstDash val="solid"/>
          </a:ln>
        </p:spPr>
      </p:sp>
      <p:sp>
        <p:nvSpPr>
          <p:cNvPr id="14" name="Shape 11"/>
          <p:cNvSpPr/>
          <p:nvPr/>
        </p:nvSpPr>
        <p:spPr>
          <a:xfrm>
            <a:off x="9189720" y="2121408"/>
            <a:ext cx="18288" cy="548640"/>
          </a:xfrm>
          <a:prstGeom prst="rect">
            <a:avLst/>
          </a:prstGeom>
          <a:solidFill>
            <a:srgbClr val="1E293B"/>
          </a:solidFill>
          <a:ln w="12700">
            <a:solidFill>
              <a:srgbClr val="1E293B"/>
            </a:solidFill>
            <a:prstDash val="solid"/>
          </a:ln>
        </p:spPr>
      </p:sp>
      <p:sp>
        <p:nvSpPr>
          <p:cNvPr id="15" name="Text 12"/>
          <p:cNvSpPr/>
          <p:nvPr/>
        </p:nvSpPr>
        <p:spPr>
          <a:xfrm>
            <a:off x="7452360" y="21579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=FILTER(arr, include, empty_msg)</a:t>
            </a:r>
            <a:endParaRPr lang="en-US" sz="950" dirty="0"/>
          </a:p>
        </p:txBody>
      </p:sp>
      <p:sp>
        <p:nvSpPr>
          <p:cNvPr id="16" name="Text 13"/>
          <p:cNvSpPr/>
          <p:nvPr/>
        </p:nvSpPr>
        <p:spPr>
          <a:xfrm>
            <a:off x="9281160" y="21579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Third argument: what to show if no rows match. =FILTER(A:C, B:B="Abuja", "No Abuja data").</a:t>
            </a:r>
            <a:endParaRPr lang="en-US" sz="1000" dirty="0"/>
          </a:p>
        </p:txBody>
      </p:sp>
      <p:sp>
        <p:nvSpPr>
          <p:cNvPr id="17" name="Shape 14"/>
          <p:cNvSpPr/>
          <p:nvPr/>
        </p:nvSpPr>
        <p:spPr>
          <a:xfrm>
            <a:off x="7360920" y="2670048"/>
            <a:ext cx="4572000" cy="548640"/>
          </a:xfrm>
          <a:prstGeom prst="rect">
            <a:avLst/>
          </a:prstGeom>
          <a:solidFill>
            <a:srgbClr val="141E36"/>
          </a:solidFill>
          <a:ln w="3810">
            <a:solidFill>
              <a:srgbClr val="1A2845"/>
            </a:solidFill>
            <a:prstDash val="solid"/>
          </a:ln>
        </p:spPr>
      </p:sp>
      <p:sp>
        <p:nvSpPr>
          <p:cNvPr id="18" name="Shape 15"/>
          <p:cNvSpPr/>
          <p:nvPr/>
        </p:nvSpPr>
        <p:spPr>
          <a:xfrm>
            <a:off x="9189720" y="2670048"/>
            <a:ext cx="18288" cy="548640"/>
          </a:xfrm>
          <a:prstGeom prst="rect">
            <a:avLst/>
          </a:prstGeom>
          <a:solidFill>
            <a:srgbClr val="1E293B"/>
          </a:solidFill>
          <a:ln w="12700">
            <a:solidFill>
              <a:srgbClr val="1E293B"/>
            </a:solidFill>
            <a:prstDash val="solid"/>
          </a:ln>
        </p:spPr>
      </p:sp>
      <p:sp>
        <p:nvSpPr>
          <p:cNvPr id="19" name="Text 16"/>
          <p:cNvSpPr/>
          <p:nvPr/>
        </p:nvSpPr>
        <p:spPr>
          <a:xfrm>
            <a:off x="7452360" y="27066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=SORT(array, sort_index, order)</a:t>
            </a:r>
            <a:endParaRPr lang="en-US" sz="950" dirty="0"/>
          </a:p>
        </p:txBody>
      </p:sp>
      <p:sp>
        <p:nvSpPr>
          <p:cNvPr id="20" name="Text 17"/>
          <p:cNvSpPr/>
          <p:nvPr/>
        </p:nvSpPr>
        <p:spPr>
          <a:xfrm>
            <a:off x="9281160" y="27066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Sorts an array. sort_index=column to sort by. order: 1=ascending, -1=descending. Spills sorted result.</a:t>
            </a:r>
            <a:endParaRPr lang="en-US" sz="1000" dirty="0"/>
          </a:p>
        </p:txBody>
      </p:sp>
      <p:sp>
        <p:nvSpPr>
          <p:cNvPr id="21" name="Shape 18"/>
          <p:cNvSpPr/>
          <p:nvPr/>
        </p:nvSpPr>
        <p:spPr>
          <a:xfrm>
            <a:off x="7360920" y="3218688"/>
            <a:ext cx="4572000" cy="548640"/>
          </a:xfrm>
          <a:prstGeom prst="rect">
            <a:avLst/>
          </a:prstGeom>
          <a:solidFill>
            <a:srgbClr val="0F1D3C"/>
          </a:solidFill>
          <a:ln w="3810">
            <a:solidFill>
              <a:srgbClr val="1A2845"/>
            </a:solidFill>
            <a:prstDash val="solid"/>
          </a:ln>
        </p:spPr>
      </p:sp>
      <p:sp>
        <p:nvSpPr>
          <p:cNvPr id="22" name="Shape 19"/>
          <p:cNvSpPr/>
          <p:nvPr/>
        </p:nvSpPr>
        <p:spPr>
          <a:xfrm>
            <a:off x="9189720" y="3218688"/>
            <a:ext cx="18288" cy="548640"/>
          </a:xfrm>
          <a:prstGeom prst="rect">
            <a:avLst/>
          </a:prstGeom>
          <a:solidFill>
            <a:srgbClr val="1E293B"/>
          </a:solidFill>
          <a:ln w="12700">
            <a:solidFill>
              <a:srgbClr val="1E293B"/>
            </a:solidFill>
            <a:prstDash val="solid"/>
          </a:ln>
        </p:spPr>
      </p:sp>
      <p:sp>
        <p:nvSpPr>
          <p:cNvPr id="23" name="Text 20"/>
          <p:cNvSpPr/>
          <p:nvPr/>
        </p:nvSpPr>
        <p:spPr>
          <a:xfrm>
            <a:off x="7452360" y="325526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=SORT(A2:C100, 3, -1)</a:t>
            </a:r>
            <a:endParaRPr lang="en-US" sz="950" dirty="0"/>
          </a:p>
        </p:txBody>
      </p:sp>
      <p:sp>
        <p:nvSpPr>
          <p:cNvPr id="24" name="Text 21"/>
          <p:cNvSpPr/>
          <p:nvPr/>
        </p:nvSpPr>
        <p:spPr>
          <a:xfrm>
            <a:off x="9281160" y="325526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Sorts A2:C100 by column 3, descending. Highest values first.</a:t>
            </a:r>
            <a:endParaRPr lang="en-US" sz="1000" dirty="0"/>
          </a:p>
        </p:txBody>
      </p:sp>
      <p:sp>
        <p:nvSpPr>
          <p:cNvPr id="25" name="Shape 22"/>
          <p:cNvSpPr/>
          <p:nvPr/>
        </p:nvSpPr>
        <p:spPr>
          <a:xfrm>
            <a:off x="7360920" y="3767328"/>
            <a:ext cx="4572000" cy="548640"/>
          </a:xfrm>
          <a:prstGeom prst="rect">
            <a:avLst/>
          </a:prstGeom>
          <a:solidFill>
            <a:srgbClr val="141E36"/>
          </a:solidFill>
          <a:ln w="3810">
            <a:solidFill>
              <a:srgbClr val="1A2845"/>
            </a:solidFill>
            <a:prstDash val="solid"/>
          </a:ln>
        </p:spPr>
      </p:sp>
      <p:sp>
        <p:nvSpPr>
          <p:cNvPr id="26" name="Shape 23"/>
          <p:cNvSpPr/>
          <p:nvPr/>
        </p:nvSpPr>
        <p:spPr>
          <a:xfrm>
            <a:off x="9189720" y="3767328"/>
            <a:ext cx="18288" cy="548640"/>
          </a:xfrm>
          <a:prstGeom prst="rect">
            <a:avLst/>
          </a:prstGeom>
          <a:solidFill>
            <a:srgbClr val="1E293B"/>
          </a:solidFill>
          <a:ln w="12700">
            <a:solidFill>
              <a:srgbClr val="1E293B"/>
            </a:solidFill>
            <a:prstDash val="solid"/>
          </a:ln>
        </p:spPr>
      </p:sp>
      <p:sp>
        <p:nvSpPr>
          <p:cNvPr id="27" name="Text 24"/>
          <p:cNvSpPr/>
          <p:nvPr/>
        </p:nvSpPr>
        <p:spPr>
          <a:xfrm>
            <a:off x="7452360" y="380390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=UNIQUE(array)</a:t>
            </a:r>
            <a:endParaRPr lang="en-US" sz="950" dirty="0"/>
          </a:p>
        </p:txBody>
      </p:sp>
      <p:sp>
        <p:nvSpPr>
          <p:cNvPr id="28" name="Text 25"/>
          <p:cNvSpPr/>
          <p:nvPr/>
        </p:nvSpPr>
        <p:spPr>
          <a:xfrm>
            <a:off x="9281160" y="380390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unique values from an array. Removes duplicates automatically. Spills downward.</a:t>
            </a:r>
            <a:endParaRPr lang="en-US" sz="1000" dirty="0"/>
          </a:p>
        </p:txBody>
      </p:sp>
      <p:sp>
        <p:nvSpPr>
          <p:cNvPr id="29" name="Shape 26"/>
          <p:cNvSpPr/>
          <p:nvPr/>
        </p:nvSpPr>
        <p:spPr>
          <a:xfrm>
            <a:off x="7360920" y="4315968"/>
            <a:ext cx="4572000" cy="548640"/>
          </a:xfrm>
          <a:prstGeom prst="rect">
            <a:avLst/>
          </a:prstGeom>
          <a:solidFill>
            <a:srgbClr val="0F1D3C"/>
          </a:solidFill>
          <a:ln w="3810">
            <a:solidFill>
              <a:srgbClr val="1A2845"/>
            </a:solidFill>
            <a:prstDash val="solid"/>
          </a:ln>
        </p:spPr>
      </p:sp>
      <p:sp>
        <p:nvSpPr>
          <p:cNvPr id="30" name="Shape 27"/>
          <p:cNvSpPr/>
          <p:nvPr/>
        </p:nvSpPr>
        <p:spPr>
          <a:xfrm>
            <a:off x="9189720" y="4315968"/>
            <a:ext cx="18288" cy="548640"/>
          </a:xfrm>
          <a:prstGeom prst="rect">
            <a:avLst/>
          </a:prstGeom>
          <a:solidFill>
            <a:srgbClr val="1E293B"/>
          </a:solidFill>
          <a:ln w="12700">
            <a:solidFill>
              <a:srgbClr val="1E293B"/>
            </a:solidFill>
            <a:prstDash val="solid"/>
          </a:ln>
        </p:spPr>
      </p:sp>
      <p:sp>
        <p:nvSpPr>
          <p:cNvPr id="31" name="Text 28"/>
          <p:cNvSpPr/>
          <p:nvPr/>
        </p:nvSpPr>
        <p:spPr>
          <a:xfrm>
            <a:off x="7452360" y="435254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=UNIQUE(A2:A100, FALSE, TRUE)</a:t>
            </a:r>
            <a:endParaRPr lang="en-US" sz="950" dirty="0"/>
          </a:p>
        </p:txBody>
      </p:sp>
      <p:sp>
        <p:nvSpPr>
          <p:cNvPr id="32" name="Text 29"/>
          <p:cNvSpPr/>
          <p:nvPr/>
        </p:nvSpPr>
        <p:spPr>
          <a:xfrm>
            <a:off x="9281160" y="435254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3rd argument TRUE: return values that appear EXACTLY ONCE (not just unique list).</a:t>
            </a:r>
            <a:endParaRPr lang="en-US" sz="1000" dirty="0"/>
          </a:p>
        </p:txBody>
      </p:sp>
      <p:sp>
        <p:nvSpPr>
          <p:cNvPr id="33" name="Shape 30"/>
          <p:cNvSpPr/>
          <p:nvPr/>
        </p:nvSpPr>
        <p:spPr>
          <a:xfrm>
            <a:off x="7360920" y="4864608"/>
            <a:ext cx="4572000" cy="548640"/>
          </a:xfrm>
          <a:prstGeom prst="rect">
            <a:avLst/>
          </a:prstGeom>
          <a:solidFill>
            <a:srgbClr val="141E36"/>
          </a:solidFill>
          <a:ln w="3810">
            <a:solidFill>
              <a:srgbClr val="1A2845"/>
            </a:solidFill>
            <a:prstDash val="solid"/>
          </a:ln>
        </p:spPr>
      </p:sp>
      <p:sp>
        <p:nvSpPr>
          <p:cNvPr id="34" name="Shape 31"/>
          <p:cNvSpPr/>
          <p:nvPr/>
        </p:nvSpPr>
        <p:spPr>
          <a:xfrm>
            <a:off x="9189720" y="4864608"/>
            <a:ext cx="18288" cy="548640"/>
          </a:xfrm>
          <a:prstGeom prst="rect">
            <a:avLst/>
          </a:prstGeom>
          <a:solidFill>
            <a:srgbClr val="1E293B"/>
          </a:solidFill>
          <a:ln w="12700">
            <a:solidFill>
              <a:srgbClr val="1E293B"/>
            </a:solidFill>
            <a:prstDash val="solid"/>
          </a:ln>
        </p:spPr>
      </p:sp>
      <p:sp>
        <p:nvSpPr>
          <p:cNvPr id="35" name="Text 32"/>
          <p:cNvSpPr/>
          <p:nvPr/>
        </p:nvSpPr>
        <p:spPr>
          <a:xfrm>
            <a:off x="7452360" y="490118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=SEQUENCE(rows, cols, start, step)</a:t>
            </a:r>
            <a:endParaRPr lang="en-US" sz="950" dirty="0"/>
          </a:p>
        </p:txBody>
      </p:sp>
      <p:sp>
        <p:nvSpPr>
          <p:cNvPr id="36" name="Text 33"/>
          <p:cNvSpPr/>
          <p:nvPr/>
        </p:nvSpPr>
        <p:spPr>
          <a:xfrm>
            <a:off x="9281160" y="490118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Generates a number sequence. SEQUENCE(5,1,1,1) = 1,2,3,4,5. SEQUENCE(1,12,1,1) = 1 through 12 across.</a:t>
            </a:r>
            <a:endParaRPr lang="en-US" sz="1000" dirty="0"/>
          </a:p>
        </p:txBody>
      </p:sp>
      <p:sp>
        <p:nvSpPr>
          <p:cNvPr id="37" name="Shape 34"/>
          <p:cNvSpPr/>
          <p:nvPr/>
        </p:nvSpPr>
        <p:spPr>
          <a:xfrm>
            <a:off x="7360920" y="5413248"/>
            <a:ext cx="4572000" cy="548640"/>
          </a:xfrm>
          <a:prstGeom prst="rect">
            <a:avLst/>
          </a:prstGeom>
          <a:solidFill>
            <a:srgbClr val="0F1D3C"/>
          </a:solidFill>
          <a:ln w="3810">
            <a:solidFill>
              <a:srgbClr val="1A2845"/>
            </a:solidFill>
            <a:prstDash val="solid"/>
          </a:ln>
        </p:spPr>
      </p:sp>
      <p:sp>
        <p:nvSpPr>
          <p:cNvPr id="38" name="Shape 35"/>
          <p:cNvSpPr/>
          <p:nvPr/>
        </p:nvSpPr>
        <p:spPr>
          <a:xfrm>
            <a:off x="9189720" y="5413248"/>
            <a:ext cx="18288" cy="548640"/>
          </a:xfrm>
          <a:prstGeom prst="rect">
            <a:avLst/>
          </a:prstGeom>
          <a:solidFill>
            <a:srgbClr val="1E293B"/>
          </a:solidFill>
          <a:ln w="12700">
            <a:solidFill>
              <a:srgbClr val="1E293B"/>
            </a:solidFill>
            <a:prstDash val="solid"/>
          </a:ln>
        </p:spPr>
      </p:sp>
      <p:sp>
        <p:nvSpPr>
          <p:cNvPr id="39" name="Text 36"/>
          <p:cNvSpPr/>
          <p:nvPr/>
        </p:nvSpPr>
        <p:spPr>
          <a:xfrm>
            <a:off x="7452360" y="5449824"/>
            <a:ext cx="1700784"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=TEXTSPLIT(text, col_delim)</a:t>
            </a:r>
            <a:endParaRPr lang="en-US" sz="950" dirty="0"/>
          </a:p>
        </p:txBody>
      </p:sp>
      <p:sp>
        <p:nvSpPr>
          <p:cNvPr id="40" name="Text 37"/>
          <p:cNvSpPr/>
          <p:nvPr/>
        </p:nvSpPr>
        <p:spPr>
          <a:xfrm>
            <a:off x="9281160" y="5449824"/>
            <a:ext cx="2560320"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Splits text into cells. =TEXTSPLIT("Lagos,Abuja,Kano",",") = three cells across.</a:t>
            </a:r>
            <a:endParaRPr lang="en-US" sz="1000" dirty="0"/>
          </a:p>
        </p:txBody>
      </p:sp>
      <p:sp>
        <p:nvSpPr>
          <p:cNvPr id="41" name="Shape 38"/>
          <p:cNvSpPr/>
          <p:nvPr/>
        </p:nvSpPr>
        <p:spPr>
          <a:xfrm>
            <a:off x="7360920" y="5047488"/>
            <a:ext cx="4572000" cy="1700784"/>
          </a:xfrm>
          <a:prstGeom prst="roundRect">
            <a:avLst>
              <a:gd name="adj" fmla="val 5376"/>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42" name="Shape 39"/>
          <p:cNvSpPr/>
          <p:nvPr/>
        </p:nvSpPr>
        <p:spPr>
          <a:xfrm>
            <a:off x="7360920" y="5047488"/>
            <a:ext cx="4572000" cy="329184"/>
          </a:xfrm>
          <a:prstGeom prst="roundRect">
            <a:avLst>
              <a:gd name="adj" fmla="val 27778"/>
            </a:avLst>
          </a:prstGeom>
          <a:solidFill>
            <a:srgbClr val="111E35"/>
          </a:solidFill>
          <a:ln w="12700">
            <a:solidFill>
              <a:srgbClr val="111E35"/>
            </a:solidFill>
            <a:prstDash val="solid"/>
          </a:ln>
        </p:spPr>
      </p:sp>
      <p:sp>
        <p:nvSpPr>
          <p:cNvPr id="43" name="Shape 40"/>
          <p:cNvSpPr/>
          <p:nvPr/>
        </p:nvSpPr>
        <p:spPr>
          <a:xfrm>
            <a:off x="7360920" y="5230368"/>
            <a:ext cx="4572000" cy="146304"/>
          </a:xfrm>
          <a:prstGeom prst="rect">
            <a:avLst/>
          </a:prstGeom>
          <a:solidFill>
            <a:srgbClr val="111E35"/>
          </a:solidFill>
          <a:ln w="12700">
            <a:solidFill>
              <a:srgbClr val="111E35"/>
            </a:solidFill>
            <a:prstDash val="solid"/>
          </a:ln>
        </p:spPr>
      </p:sp>
      <p:sp>
        <p:nvSpPr>
          <p:cNvPr id="44" name="Shape 41"/>
          <p:cNvSpPr/>
          <p:nvPr/>
        </p:nvSpPr>
        <p:spPr>
          <a:xfrm>
            <a:off x="7488936" y="5138928"/>
            <a:ext cx="146304" cy="146304"/>
          </a:xfrm>
          <a:prstGeom prst="ellipse">
            <a:avLst/>
          </a:prstGeom>
          <a:solidFill>
            <a:srgbClr val="F43F5E"/>
          </a:solidFill>
          <a:ln w="12700">
            <a:solidFill>
              <a:srgbClr val="F43F5E"/>
            </a:solidFill>
            <a:prstDash val="solid"/>
          </a:ln>
        </p:spPr>
      </p:sp>
      <p:sp>
        <p:nvSpPr>
          <p:cNvPr id="45" name="Shape 42"/>
          <p:cNvSpPr/>
          <p:nvPr/>
        </p:nvSpPr>
        <p:spPr>
          <a:xfrm>
            <a:off x="7690104" y="5138928"/>
            <a:ext cx="146304" cy="146304"/>
          </a:xfrm>
          <a:prstGeom prst="ellipse">
            <a:avLst/>
          </a:prstGeom>
          <a:solidFill>
            <a:srgbClr val="F59E0B"/>
          </a:solidFill>
          <a:ln w="12700">
            <a:solidFill>
              <a:srgbClr val="F59E0B"/>
            </a:solidFill>
            <a:prstDash val="solid"/>
          </a:ln>
        </p:spPr>
      </p:sp>
      <p:sp>
        <p:nvSpPr>
          <p:cNvPr id="46" name="Shape 43"/>
          <p:cNvSpPr/>
          <p:nvPr/>
        </p:nvSpPr>
        <p:spPr>
          <a:xfrm>
            <a:off x="7891272" y="5138928"/>
            <a:ext cx="146304" cy="146304"/>
          </a:xfrm>
          <a:prstGeom prst="ellipse">
            <a:avLst/>
          </a:prstGeom>
          <a:solidFill>
            <a:srgbClr val="70AD47"/>
          </a:solidFill>
          <a:ln w="12700">
            <a:solidFill>
              <a:srgbClr val="70AD47"/>
            </a:solidFill>
            <a:prstDash val="solid"/>
          </a:ln>
        </p:spPr>
      </p:sp>
      <p:sp>
        <p:nvSpPr>
          <p:cNvPr id="47" name="Text 44"/>
          <p:cNvSpPr/>
          <p:nvPr/>
        </p:nvSpPr>
        <p:spPr>
          <a:xfrm>
            <a:off x="8092440" y="5102352"/>
            <a:ext cx="3657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array.xlsx</a:t>
            </a:r>
            <a:endParaRPr lang="en-US" sz="900" dirty="0"/>
          </a:p>
        </p:txBody>
      </p:sp>
      <p:sp>
        <p:nvSpPr>
          <p:cNvPr id="48" name="Text 45"/>
          <p:cNvSpPr/>
          <p:nvPr/>
        </p:nvSpPr>
        <p:spPr>
          <a:xfrm>
            <a:off x="7507224" y="5431536"/>
            <a:ext cx="4297680" cy="12070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Combining Array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=SORT(FILTER(A:C,B:B="Lagos"),3,-1)</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Filter to Lagos, then sort by col 3 desc</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=UNIQUE(FILTER(A:A,B:B&amp;gt;50000))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Unique regions where sales &amp;gt; 50,000</a:t>
            </a:r>
            <a:endParaRPr lang="en-US" sz="1050" dirty="0"/>
          </a:p>
          <a:p>
            <a:pPr indent="0" marL="0">
              <a:buNone/>
            </a:pP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=SEQUENCE(12,1,DATE(2024,1,1),30)</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ARRAY 02 - TOCOL, TOROW, VSTACK, HSTACK, BYROW, BYCOL</a:t>
            </a:r>
            <a:endParaRPr lang="en-US" sz="2600" dirty="0"/>
          </a:p>
        </p:txBody>
      </p:sp>
      <p:sp>
        <p:nvSpPr>
          <p:cNvPr id="4" name="Shape 2"/>
          <p:cNvSpPr/>
          <p:nvPr/>
        </p:nvSpPr>
        <p:spPr>
          <a:xfrm>
            <a:off x="411480" y="1024128"/>
            <a:ext cx="6583680" cy="5230368"/>
          </a:xfrm>
          <a:prstGeom prst="roundRect">
            <a:avLst>
              <a:gd name="adj" fmla="val 1748"/>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array2.xlsx</a:t>
            </a:r>
            <a:endParaRPr lang="en-US" sz="900" dirty="0"/>
          </a:p>
        </p:txBody>
      </p:sp>
      <p:sp>
        <p:nvSpPr>
          <p:cNvPr id="11" name="Text 9"/>
          <p:cNvSpPr/>
          <p:nvPr/>
        </p:nvSpPr>
        <p:spPr>
          <a:xfrm>
            <a:off x="557784" y="1408176"/>
            <a:ext cx="6309360" cy="47365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Stack Arrays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=VSTACK(A1:C5, A1:C5)  Stack vertically</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Appends second array below first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=HSTACK(A1:C5, E1:G5)  Stack horizontally</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Appends second array to right of first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Reshape Arrays --</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=TOCOL(A1:C5)          Make one tall column</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Reads A1:C5 left-to-right, top-to-bottom</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=TOROW(A1:A10)         Make one wide row</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=WRAPROWS(A1:A24,4)    Wrap into 4-col array</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=WRAPCOLS(A1:A24,4)    Wrap into 4-row array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Apply Functions to Each Row/Col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=BYROW(A2:C10, LAMBDA(r, SUM(r)))</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Sum each row across columns A-C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=BYCOL(A2:C10, LAMBDA(c, MAX(c)))</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Max of each column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LAMBDA - Custom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Name Manager -&amp;gt; New -&amp;gt; Name: CircleArea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Refers to: =LAMBDA(r, PI()*r^2)</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Use: =CircleArea(5) -&amp;gt; 78.54</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LET - Named Variables in Formula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=LET(tax_rate, 0.075,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amount, B2,</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amount + amount * tax_rate)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LET stores intermediate results for readability</a:t>
            </a:r>
            <a:endParaRPr lang="en-US" sz="1050" dirty="0"/>
          </a:p>
        </p:txBody>
      </p:sp>
      <p:sp>
        <p:nvSpPr>
          <p:cNvPr id="12" name="Shape 10"/>
          <p:cNvSpPr/>
          <p:nvPr/>
        </p:nvSpPr>
        <p:spPr>
          <a:xfrm>
            <a:off x="7178040" y="1024128"/>
            <a:ext cx="4754880" cy="548640"/>
          </a:xfrm>
          <a:prstGeom prst="rect">
            <a:avLst/>
          </a:prstGeom>
          <a:solidFill>
            <a:srgbClr val="22D3EE"/>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=VSTACK(arr1, arr2)</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Stacks arrays vertically. Use to combine Jan, Feb, Mar tables: =VSTACK(Jan,Feb,Mar). Excel 365 only.</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=HSTACK(arr1, arr2)</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Stacks arrays horizontally (side by side). Adds columns. Excel 365 only.</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=TOCOL(array)</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Flattens a 2D array into a single column. Used with UNIQUE to get all unique values across multiple columns.</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=BYROW(arr, LAMBDA(r,fn))</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Applies a function to each ROW. The LAMBDA defines what to do with each row r.</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=BYCOL(arr, LAMBDA(c,fn))</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Applies a function to each COLUMN. The LAMBDA defines what to do with each column c.</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LAMBDA function</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Creates a reusable custom function within Excel (no VBA). Define in Name Manager, use like any built-in function.</a:t>
            </a:r>
            <a:endParaRPr lang="en-US" sz="1000" dirty="0"/>
          </a:p>
        </p:txBody>
      </p:sp>
      <p:sp>
        <p:nvSpPr>
          <p:cNvPr id="40" name="Shape 38"/>
          <p:cNvSpPr/>
          <p:nvPr/>
        </p:nvSpPr>
        <p:spPr>
          <a:xfrm>
            <a:off x="7178040" y="4864608"/>
            <a:ext cx="4754880" cy="548640"/>
          </a:xfrm>
          <a:prstGeom prst="rect">
            <a:avLst/>
          </a:prstGeom>
          <a:solidFill>
            <a:srgbClr val="141E36"/>
          </a:solidFill>
          <a:ln w="3810">
            <a:solidFill>
              <a:srgbClr val="1A2845"/>
            </a:solidFill>
            <a:prstDash val="solid"/>
          </a:ln>
        </p:spPr>
      </p:sp>
      <p:sp>
        <p:nvSpPr>
          <p:cNvPr id="41" name="Shape 39"/>
          <p:cNvSpPr/>
          <p:nvPr/>
        </p:nvSpPr>
        <p:spPr>
          <a:xfrm>
            <a:off x="9079992" y="4864608"/>
            <a:ext cx="18288" cy="548640"/>
          </a:xfrm>
          <a:prstGeom prst="rect">
            <a:avLst/>
          </a:prstGeom>
          <a:solidFill>
            <a:srgbClr val="1E293B"/>
          </a:solidFill>
          <a:ln w="12700">
            <a:solidFill>
              <a:srgbClr val="1E293B"/>
            </a:solidFill>
            <a:prstDash val="solid"/>
          </a:ln>
        </p:spPr>
      </p:sp>
      <p:sp>
        <p:nvSpPr>
          <p:cNvPr id="42" name="Text 40"/>
          <p:cNvSpPr/>
          <p:nvPr/>
        </p:nvSpPr>
        <p:spPr>
          <a:xfrm>
            <a:off x="7269480" y="49011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LET function</a:t>
            </a:r>
            <a:endParaRPr lang="en-US" sz="950" dirty="0"/>
          </a:p>
        </p:txBody>
      </p:sp>
      <p:sp>
        <p:nvSpPr>
          <p:cNvPr id="43" name="Text 41"/>
          <p:cNvSpPr/>
          <p:nvPr/>
        </p:nvSpPr>
        <p:spPr>
          <a:xfrm>
            <a:off x="9171432" y="49011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Names intermediate calculations within a formula. Avoids repeating the same complex sub-formula multiple times.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3B82F6"/>
          </a:solidFill>
          <a:ln w="12700">
            <a:solidFill>
              <a:srgbClr val="3B82F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3B82F6"/>
                </a:solidFill>
                <a:latin typeface="Calibri" pitchFamily="34" charset="0"/>
                <a:ea typeface="Calibri" pitchFamily="34" charset="-122"/>
                <a:cs typeface="Calibri" pitchFamily="34" charset="-120"/>
              </a:rPr>
              <a:t>CATEGORY 10</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Advanced Statistical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STDEV, VAR, CORREL, FORECAST, LINEST, NORM.DIST, PERCENTILE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ADVANCED STATISTICAL - Forecasting, Distribution, Regression</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adv_stats.xlsx</a:t>
            </a:r>
            <a:endParaRPr lang="en-US" sz="900" dirty="0"/>
          </a:p>
        </p:txBody>
      </p:sp>
      <p:sp>
        <p:nvSpPr>
          <p:cNvPr id="11" name="Text 9"/>
          <p:cNvSpPr/>
          <p:nvPr/>
        </p:nvSpPr>
        <p:spPr>
          <a:xfrm>
            <a:off x="557784" y="1408176"/>
            <a:ext cx="6309360" cy="5065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Variability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=STDEV(B2:B100)    Sample std deviation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=STDEVP(B2:B100)   Population std deviation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=VAR(B2:B100)      Sample variance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=VARP(B2:B100)     Population variance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=KURT(B2:B100)     Kurtosis (peak vs normal)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=SKEW(B2:B100)     Skewness (distribution tail)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Correlation and Regression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=CORREL(B2:B100, C2:C100)  Pearson correlation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=PEARSON(B2:B100, C2:C100) Same as CORREL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=COVARIANCE.S(B:B, C:C)    Sample covariance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=RSQ(B2:B100, C2:C100)     R-squared</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=SLOPE(y_values, x_values) Regression slope</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=INTERCEPT(y_vals,x_vals)  Y-intercept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Forecasting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=FORECAST.LINEAR(x, y_range, x_range)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Predict y-value for given x using linear</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=FORECAST.ETS(target_date, values, timeline)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  Exponential smoothing forecast with seasonality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=TREND(known_y, known_x, new_x)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Returns array of trend values (Ctrl+Shift+Enter)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=GROWTH(known_y, known_x, new_x)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Exponential growth trend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Distribution Functions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=NORM.DIST(x,mean,stdev,TRUE)  Cumulative prob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=NORM.INV(0.95,mean,stdev)     95th pct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=T.DIST(t_stat,df,TRUE)        t-distribution</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=CONFIDENCE.T(0.05,stdev,n)    Confidence interval</a:t>
            </a:r>
            <a:endParaRPr lang="en-US" sz="1050" dirty="0"/>
          </a:p>
        </p:txBody>
      </p:sp>
      <p:sp>
        <p:nvSpPr>
          <p:cNvPr id="12" name="Shape 10"/>
          <p:cNvSpPr/>
          <p:nvPr/>
        </p:nvSpPr>
        <p:spPr>
          <a:xfrm>
            <a:off x="7178040" y="1024128"/>
            <a:ext cx="4754880" cy="548640"/>
          </a:xfrm>
          <a:prstGeom prst="rect">
            <a:avLst/>
          </a:prstGeom>
          <a:solidFill>
            <a:srgbClr val="3B82F6"/>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Business Application</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=STDEV(range)</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Measures spread. Low STDEV = consistent quality. High STDEV = variable performance. Use in quality control.</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=CORREL(x_range, y_range)</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Measures how strongly two variables move together. CORREL(advertising,sales) shows if spending drives revenue.</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=FORECAST.LINEAR(x,y,x_data)</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Predicts a value based on historical trend. Forecast next month's sales given historical data.</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=FORECAST.ETS(date,values,timeline)</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More advanced forecast that detects seasonal patterns. Better for data with regular seasonal cycles.</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=PERCENTILE(range, k)</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value at kth percentile. PERCENTILE(salaries, 0.75) = 75th percentile salary for benchmarking.</a:t>
            </a:r>
            <a:endParaRPr lang="en-US" sz="1000" dirty="0"/>
          </a:p>
        </p:txBody>
      </p:sp>
      <p:sp>
        <p:nvSpPr>
          <p:cNvPr id="36" name="Shape 34"/>
          <p:cNvSpPr/>
          <p:nvPr/>
        </p:nvSpPr>
        <p:spPr>
          <a:xfrm>
            <a:off x="7178040" y="4315968"/>
            <a:ext cx="4754880" cy="548640"/>
          </a:xfrm>
          <a:prstGeom prst="rect">
            <a:avLst/>
          </a:prstGeom>
          <a:solidFill>
            <a:srgbClr val="0F1D3C"/>
          </a:solidFill>
          <a:ln w="3810">
            <a:solidFill>
              <a:srgbClr val="1A2845"/>
            </a:solidFill>
            <a:prstDash val="solid"/>
          </a:ln>
        </p:spPr>
      </p:sp>
      <p:sp>
        <p:nvSpPr>
          <p:cNvPr id="37" name="Shape 35"/>
          <p:cNvSpPr/>
          <p:nvPr/>
        </p:nvSpPr>
        <p:spPr>
          <a:xfrm>
            <a:off x="9079992" y="4315968"/>
            <a:ext cx="18288" cy="548640"/>
          </a:xfrm>
          <a:prstGeom prst="rect">
            <a:avLst/>
          </a:prstGeom>
          <a:solidFill>
            <a:srgbClr val="1E293B"/>
          </a:solidFill>
          <a:ln w="12700">
            <a:solidFill>
              <a:srgbClr val="1E293B"/>
            </a:solidFill>
            <a:prstDash val="solid"/>
          </a:ln>
        </p:spPr>
      </p:sp>
      <p:sp>
        <p:nvSpPr>
          <p:cNvPr id="38" name="Text 36"/>
          <p:cNvSpPr/>
          <p:nvPr/>
        </p:nvSpPr>
        <p:spPr>
          <a:xfrm>
            <a:off x="7269480" y="43525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=CONFIDENCE.T(alpha, stdev, n)</a:t>
            </a:r>
            <a:endParaRPr lang="en-US" sz="950" dirty="0"/>
          </a:p>
        </p:txBody>
      </p:sp>
      <p:sp>
        <p:nvSpPr>
          <p:cNvPr id="39" name="Text 37"/>
          <p:cNvSpPr/>
          <p:nvPr/>
        </p:nvSpPr>
        <p:spPr>
          <a:xfrm>
            <a:off x="9171432" y="43525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margin of error for a confidence interval. alpha=0.05 for 95% confidence. Add/subtract from mean.</a:t>
            </a:r>
            <a:endParaRPr lang="en-US" sz="1000" dirty="0"/>
          </a:p>
        </p:txBody>
      </p:sp>
      <p:sp>
        <p:nvSpPr>
          <p:cNvPr id="40" name="Shape 38"/>
          <p:cNvSpPr/>
          <p:nvPr/>
        </p:nvSpPr>
        <p:spPr>
          <a:xfrm>
            <a:off x="7178040" y="4864608"/>
            <a:ext cx="4754880" cy="548640"/>
          </a:xfrm>
          <a:prstGeom prst="rect">
            <a:avLst/>
          </a:prstGeom>
          <a:solidFill>
            <a:srgbClr val="141E36"/>
          </a:solidFill>
          <a:ln w="3810">
            <a:solidFill>
              <a:srgbClr val="1A2845"/>
            </a:solidFill>
            <a:prstDash val="solid"/>
          </a:ln>
        </p:spPr>
      </p:sp>
      <p:sp>
        <p:nvSpPr>
          <p:cNvPr id="41" name="Shape 39"/>
          <p:cNvSpPr/>
          <p:nvPr/>
        </p:nvSpPr>
        <p:spPr>
          <a:xfrm>
            <a:off x="9079992" y="4864608"/>
            <a:ext cx="18288" cy="548640"/>
          </a:xfrm>
          <a:prstGeom prst="rect">
            <a:avLst/>
          </a:prstGeom>
          <a:solidFill>
            <a:srgbClr val="1E293B"/>
          </a:solidFill>
          <a:ln w="12700">
            <a:solidFill>
              <a:srgbClr val="1E293B"/>
            </a:solidFill>
            <a:prstDash val="solid"/>
          </a:ln>
        </p:spPr>
      </p:sp>
      <p:sp>
        <p:nvSpPr>
          <p:cNvPr id="42" name="Text 40"/>
          <p:cNvSpPr/>
          <p:nvPr/>
        </p:nvSpPr>
        <p:spPr>
          <a:xfrm>
            <a:off x="7269480" y="49011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=LINEST(y_vals, x_vals, TRUE, TRUE)</a:t>
            </a:r>
            <a:endParaRPr lang="en-US" sz="950" dirty="0"/>
          </a:p>
        </p:txBody>
      </p:sp>
      <p:sp>
        <p:nvSpPr>
          <p:cNvPr id="43" name="Text 41"/>
          <p:cNvSpPr/>
          <p:nvPr/>
        </p:nvSpPr>
        <p:spPr>
          <a:xfrm>
            <a:off x="9171432" y="49011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regression statistics as array. Enter with Ctrl+Shift+Enter for full output including R^2 and F statistic.</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457200" y="914400"/>
            <a:ext cx="2194560" cy="2194560"/>
          </a:xfrm>
          <a:prstGeom prst="roundRect">
            <a:avLst>
              <a:gd name="adj" fmla="val 8333"/>
            </a:avLst>
          </a:prstGeom>
          <a:solidFill>
            <a:srgbClr val="8B5CF6"/>
          </a:solidFill>
          <a:ln w="12700">
            <a:solidFill>
              <a:srgbClr val="8B5CF6"/>
            </a:solidFill>
            <a:prstDash val="solid"/>
          </a:ln>
          <a:effectLst>
            <a:outerShdw sx="100000" sy="100000" kx="0" ky="0" algn="bl" rotWithShape="0" blurRad="127000" dist="50800" dir="2700000">
              <a:srgbClr val="000000">
                <a:alpha val="20000"/>
              </a:srgbClr>
            </a:outerShdw>
          </a:effectLst>
        </p:spPr>
      </p:sp>
      <p:sp>
        <p:nvSpPr>
          <p:cNvPr id="3" name="Text 1"/>
          <p:cNvSpPr/>
          <p:nvPr/>
        </p:nvSpPr>
        <p:spPr>
          <a:xfrm>
            <a:off x="457200" y="914400"/>
            <a:ext cx="2194560" cy="2194560"/>
          </a:xfrm>
          <a:prstGeom prst="rect">
            <a:avLst/>
          </a:prstGeom>
          <a:noFill/>
          <a:ln/>
        </p:spPr>
        <p:txBody>
          <a:bodyPr wrap="square" lIns="0" tIns="0" rIns="0" bIns="0" rtlCol="0" anchor="ctr"/>
          <a:lstStyle/>
          <a:p>
            <a:pPr algn="ctr" indent="0" marL="0">
              <a:buNone/>
            </a:pPr>
            <a:r>
              <a:rPr lang="en-US" sz="6600" dirty="0">
                <a:solidFill>
                  <a:srgbClr val="000000"/>
                </a:solidFill>
              </a:rPr>
              <a:t>🗄</a:t>
            </a:r>
            <a:endParaRPr lang="en-US" sz="6600" dirty="0"/>
          </a:p>
        </p:txBody>
      </p:sp>
      <p:sp>
        <p:nvSpPr>
          <p:cNvPr id="4" name="Text 2"/>
          <p:cNvSpPr/>
          <p:nvPr/>
        </p:nvSpPr>
        <p:spPr>
          <a:xfrm>
            <a:off x="2926080" y="1005840"/>
            <a:ext cx="8961120" cy="457200"/>
          </a:xfrm>
          <a:prstGeom prst="rect">
            <a:avLst/>
          </a:prstGeom>
          <a:noFill/>
          <a:ln/>
        </p:spPr>
        <p:txBody>
          <a:bodyPr wrap="square" lIns="0" tIns="0" rIns="0" bIns="0" rtlCol="0" anchor="ctr"/>
          <a:lstStyle/>
          <a:p>
            <a:pPr indent="0" marL="0">
              <a:buNone/>
            </a:pPr>
            <a:r>
              <a:rPr lang="en-US" sz="1400" b="1" spc="300" kern="0" dirty="0">
                <a:solidFill>
                  <a:srgbClr val="8B5CF6"/>
                </a:solidFill>
                <a:latin typeface="Calibri" pitchFamily="34" charset="0"/>
                <a:ea typeface="Calibri" pitchFamily="34" charset="-122"/>
                <a:cs typeface="Calibri" pitchFamily="34" charset="-120"/>
              </a:rPr>
              <a:t>CATEGORY 11</a:t>
            </a:r>
            <a:endParaRPr lang="en-US" sz="1400" dirty="0"/>
          </a:p>
        </p:txBody>
      </p:sp>
      <p:sp>
        <p:nvSpPr>
          <p:cNvPr id="5" name="Text 3"/>
          <p:cNvSpPr/>
          <p:nvPr/>
        </p:nvSpPr>
        <p:spPr>
          <a:xfrm>
            <a:off x="2926080" y="1463040"/>
            <a:ext cx="896112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Database Functions</a:t>
            </a:r>
            <a:endParaRPr lang="en-US" sz="4200" dirty="0"/>
          </a:p>
        </p:txBody>
      </p:sp>
      <p:sp>
        <p:nvSpPr>
          <p:cNvPr id="6" name="Text 4"/>
          <p:cNvSpPr/>
          <p:nvPr/>
        </p:nvSpPr>
        <p:spPr>
          <a:xfrm>
            <a:off x="2926080" y="2999232"/>
            <a:ext cx="8961120" cy="54864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DSUM, DCOUNT, DAVERAGE, DMAX, DMIN, DGET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DATABASE FUNCTIONS - Criteria-Based Calculations with Headers</a:t>
            </a:r>
            <a:endParaRPr lang="en-US" sz="2600" dirty="0"/>
          </a:p>
        </p:txBody>
      </p:sp>
      <p:sp>
        <p:nvSpPr>
          <p:cNvPr id="4" name="Shape 2"/>
          <p:cNvSpPr/>
          <p:nvPr/>
        </p:nvSpPr>
        <p:spPr>
          <a:xfrm>
            <a:off x="411480" y="1024128"/>
            <a:ext cx="6583680" cy="5230368"/>
          </a:xfrm>
          <a:prstGeom prst="roundRect">
            <a:avLst>
              <a:gd name="adj" fmla="val 1748"/>
            </a:avLst>
          </a:prstGeom>
          <a:solidFill>
            <a:srgbClr val="0D1117"/>
          </a:solidFill>
          <a:ln w="1651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11480" y="1024128"/>
            <a:ext cx="6583680" cy="329184"/>
          </a:xfrm>
          <a:prstGeom prst="roundRect">
            <a:avLst>
              <a:gd name="adj" fmla="val 27778"/>
            </a:avLst>
          </a:prstGeom>
          <a:solidFill>
            <a:srgbClr val="111E35"/>
          </a:solidFill>
          <a:ln w="12700">
            <a:solidFill>
              <a:srgbClr val="111E35"/>
            </a:solidFill>
            <a:prstDash val="solid"/>
          </a:ln>
        </p:spPr>
      </p:sp>
      <p:sp>
        <p:nvSpPr>
          <p:cNvPr id="6" name="Shape 4"/>
          <p:cNvSpPr/>
          <p:nvPr/>
        </p:nvSpPr>
        <p:spPr>
          <a:xfrm>
            <a:off x="411480" y="1207008"/>
            <a:ext cx="6583680" cy="146304"/>
          </a:xfrm>
          <a:prstGeom prst="rect">
            <a:avLst/>
          </a:prstGeom>
          <a:solidFill>
            <a:srgbClr val="111E35"/>
          </a:solidFill>
          <a:ln w="12700">
            <a:solidFill>
              <a:srgbClr val="111E35"/>
            </a:solidFill>
            <a:prstDash val="solid"/>
          </a:ln>
        </p:spPr>
      </p:sp>
      <p:sp>
        <p:nvSpPr>
          <p:cNvPr id="7" name="Shape 5"/>
          <p:cNvSpPr/>
          <p:nvPr/>
        </p:nvSpPr>
        <p:spPr>
          <a:xfrm>
            <a:off x="539496" y="1115568"/>
            <a:ext cx="146304" cy="146304"/>
          </a:xfrm>
          <a:prstGeom prst="ellipse">
            <a:avLst/>
          </a:prstGeom>
          <a:solidFill>
            <a:srgbClr val="F43F5E"/>
          </a:solidFill>
          <a:ln w="12700">
            <a:solidFill>
              <a:srgbClr val="F43F5E"/>
            </a:solidFill>
            <a:prstDash val="solid"/>
          </a:ln>
        </p:spPr>
      </p:sp>
      <p:sp>
        <p:nvSpPr>
          <p:cNvPr id="8" name="Shape 6"/>
          <p:cNvSpPr/>
          <p:nvPr/>
        </p:nvSpPr>
        <p:spPr>
          <a:xfrm>
            <a:off x="740664" y="1115568"/>
            <a:ext cx="146304" cy="146304"/>
          </a:xfrm>
          <a:prstGeom prst="ellipse">
            <a:avLst/>
          </a:prstGeom>
          <a:solidFill>
            <a:srgbClr val="F59E0B"/>
          </a:solidFill>
          <a:ln w="12700">
            <a:solidFill>
              <a:srgbClr val="F59E0B"/>
            </a:solidFill>
            <a:prstDash val="solid"/>
          </a:ln>
        </p:spPr>
      </p:sp>
      <p:sp>
        <p:nvSpPr>
          <p:cNvPr id="9" name="Shape 7"/>
          <p:cNvSpPr/>
          <p:nvPr/>
        </p:nvSpPr>
        <p:spPr>
          <a:xfrm>
            <a:off x="941832" y="1115568"/>
            <a:ext cx="146304" cy="146304"/>
          </a:xfrm>
          <a:prstGeom prst="ellipse">
            <a:avLst/>
          </a:prstGeom>
          <a:solidFill>
            <a:srgbClr val="70AD47"/>
          </a:solidFill>
          <a:ln w="12700">
            <a:solidFill>
              <a:srgbClr val="70AD47"/>
            </a:solidFill>
            <a:prstDash val="solid"/>
          </a:ln>
        </p:spPr>
      </p:sp>
      <p:sp>
        <p:nvSpPr>
          <p:cNvPr id="10" name="Text 8"/>
          <p:cNvSpPr/>
          <p:nvPr/>
        </p:nvSpPr>
        <p:spPr>
          <a:xfrm>
            <a:off x="114300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database.xlsx</a:t>
            </a:r>
            <a:endParaRPr lang="en-US" sz="900" dirty="0"/>
          </a:p>
        </p:txBody>
      </p:sp>
      <p:sp>
        <p:nvSpPr>
          <p:cNvPr id="11" name="Text 9"/>
          <p:cNvSpPr/>
          <p:nvPr/>
        </p:nvSpPr>
        <p:spPr>
          <a:xfrm>
            <a:off x="557784" y="1408176"/>
            <a:ext cx="6309360" cy="473659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Database Functions Structure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=DSUM(database, field, criteria)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=DCOUNT(database, field, criteria)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=DAVERAGE(database, field, criteria)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=DMAX(database, field, criteria)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=DMIN(database, field, criteria)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=DGET(database, field, criteria)</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Arguments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database: full table including headers A1:E100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field:    column name in quotes "Sales"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or column number 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criteria: a separate range with headers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and criteria values below</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Criteria Range Setup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H1: Region   I1: 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H2: Lagos    I2: &amp;gt;50000</a:t>
            </a:r>
            <a:endParaRPr lang="en-US" sz="1050" dirty="0"/>
          </a:p>
          <a:p>
            <a:pPr indent="0" marL="0">
              <a:buNone/>
            </a:pP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=DSUM(A1:E100, "Sales", H1:I2)</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Sum Sales where Region=Lagos AND Sales&amp;gt;50000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OR Criteria (multiple rows)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H1: Region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H2: Lagos     &amp;lt;- OR condition 1</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H3: Abuja     &amp;lt;- OR condition 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=DSUM(A1:E100, "Sales", H1:H3)</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Sum where Region=Lagos OR Region=Abuja</a:t>
            </a:r>
            <a:endParaRPr lang="en-US" sz="1050" dirty="0"/>
          </a:p>
        </p:txBody>
      </p:sp>
      <p:sp>
        <p:nvSpPr>
          <p:cNvPr id="12" name="Shape 10"/>
          <p:cNvSpPr/>
          <p:nvPr/>
        </p:nvSpPr>
        <p:spPr>
          <a:xfrm>
            <a:off x="7178040" y="1024128"/>
            <a:ext cx="4754880" cy="548640"/>
          </a:xfrm>
          <a:prstGeom prst="rect">
            <a:avLst/>
          </a:prstGeom>
          <a:solidFill>
            <a:srgbClr val="8B5CF6"/>
          </a:solidFill>
          <a:ln w="3810">
            <a:solidFill>
              <a:srgbClr val="1A2845"/>
            </a:solidFill>
            <a:prstDash val="solid"/>
          </a:ln>
        </p:spPr>
      </p:sp>
      <p:sp>
        <p:nvSpPr>
          <p:cNvPr id="13" name="Shape 11"/>
          <p:cNvSpPr/>
          <p:nvPr/>
        </p:nvSpPr>
        <p:spPr>
          <a:xfrm>
            <a:off x="9079992" y="1024128"/>
            <a:ext cx="18288" cy="548640"/>
          </a:xfrm>
          <a:prstGeom prst="rect">
            <a:avLst/>
          </a:prstGeom>
          <a:solidFill>
            <a:srgbClr val="FFFFFF"/>
          </a:solidFill>
          <a:ln w="12700">
            <a:solidFill>
              <a:srgbClr val="FFFFFF"/>
            </a:solidFill>
            <a:prstDash val="solid"/>
          </a:ln>
        </p:spPr>
      </p:sp>
      <p:sp>
        <p:nvSpPr>
          <p:cNvPr id="14" name="Text 12"/>
          <p:cNvSpPr/>
          <p:nvPr/>
        </p:nvSpPr>
        <p:spPr>
          <a:xfrm>
            <a:off x="7269480" y="1060704"/>
            <a:ext cx="1773936" cy="475488"/>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Function vs SUMIFS</a:t>
            </a:r>
            <a:endParaRPr lang="en-US" sz="1000" dirty="0"/>
          </a:p>
        </p:txBody>
      </p:sp>
      <p:sp>
        <p:nvSpPr>
          <p:cNvPr id="15" name="Text 13"/>
          <p:cNvSpPr/>
          <p:nvPr/>
        </p:nvSpPr>
        <p:spPr>
          <a:xfrm>
            <a:off x="9171432" y="1060704"/>
            <a:ext cx="2670048" cy="4754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Database functions use a separate criteria RANGE on the worksheet, making them easy to see and change. SUMIFS embeds criteria in the formula. Both are valid - use whichever is clearer.</a:t>
            </a:r>
            <a:endParaRPr lang="en-US" sz="1000" dirty="0"/>
          </a:p>
        </p:txBody>
      </p:sp>
      <p:sp>
        <p:nvSpPr>
          <p:cNvPr id="16" name="Shape 14"/>
          <p:cNvSpPr/>
          <p:nvPr/>
        </p:nvSpPr>
        <p:spPr>
          <a:xfrm>
            <a:off x="7178040" y="1572768"/>
            <a:ext cx="4754880" cy="548640"/>
          </a:xfrm>
          <a:prstGeom prst="rect">
            <a:avLst/>
          </a:prstGeom>
          <a:solidFill>
            <a:srgbClr val="141E36"/>
          </a:solidFill>
          <a:ln w="3810">
            <a:solidFill>
              <a:srgbClr val="1A2845"/>
            </a:solidFill>
            <a:prstDash val="solid"/>
          </a:ln>
        </p:spPr>
      </p:sp>
      <p:sp>
        <p:nvSpPr>
          <p:cNvPr id="17" name="Shape 15"/>
          <p:cNvSpPr/>
          <p:nvPr/>
        </p:nvSpPr>
        <p:spPr>
          <a:xfrm>
            <a:off x="9079992" y="1572768"/>
            <a:ext cx="18288" cy="548640"/>
          </a:xfrm>
          <a:prstGeom prst="rect">
            <a:avLst/>
          </a:prstGeom>
          <a:solidFill>
            <a:srgbClr val="1E293B"/>
          </a:solidFill>
          <a:ln w="12700">
            <a:solidFill>
              <a:srgbClr val="1E293B"/>
            </a:solidFill>
            <a:prstDash val="solid"/>
          </a:ln>
        </p:spPr>
      </p:sp>
      <p:sp>
        <p:nvSpPr>
          <p:cNvPr id="18" name="Text 16"/>
          <p:cNvSpPr/>
          <p:nvPr/>
        </p:nvSpPr>
        <p:spPr>
          <a:xfrm>
            <a:off x="7269480" y="160934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=DSUM advantage</a:t>
            </a:r>
            <a:endParaRPr lang="en-US" sz="950" dirty="0"/>
          </a:p>
        </p:txBody>
      </p:sp>
      <p:sp>
        <p:nvSpPr>
          <p:cNvPr id="19" name="Text 17"/>
          <p:cNvSpPr/>
          <p:nvPr/>
        </p:nvSpPr>
        <p:spPr>
          <a:xfrm>
            <a:off x="9171432" y="160934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Complex OR conditions are cleaner with DSUM - just add more rows to the criteria range. SUMIFS requires separate SUMIFS formulas added together.</a:t>
            </a:r>
            <a:endParaRPr lang="en-US" sz="1000" dirty="0"/>
          </a:p>
        </p:txBody>
      </p:sp>
      <p:sp>
        <p:nvSpPr>
          <p:cNvPr id="20" name="Shape 18"/>
          <p:cNvSpPr/>
          <p:nvPr/>
        </p:nvSpPr>
        <p:spPr>
          <a:xfrm>
            <a:off x="7178040" y="2121408"/>
            <a:ext cx="4754880" cy="548640"/>
          </a:xfrm>
          <a:prstGeom prst="rect">
            <a:avLst/>
          </a:prstGeom>
          <a:solidFill>
            <a:srgbClr val="0F1D3C"/>
          </a:solidFill>
          <a:ln w="3810">
            <a:solidFill>
              <a:srgbClr val="1A2845"/>
            </a:solidFill>
            <a:prstDash val="solid"/>
          </a:ln>
        </p:spPr>
      </p:sp>
      <p:sp>
        <p:nvSpPr>
          <p:cNvPr id="21" name="Shape 19"/>
          <p:cNvSpPr/>
          <p:nvPr/>
        </p:nvSpPr>
        <p:spPr>
          <a:xfrm>
            <a:off x="9079992" y="2121408"/>
            <a:ext cx="18288" cy="548640"/>
          </a:xfrm>
          <a:prstGeom prst="rect">
            <a:avLst/>
          </a:prstGeom>
          <a:solidFill>
            <a:srgbClr val="1E293B"/>
          </a:solidFill>
          <a:ln w="12700">
            <a:solidFill>
              <a:srgbClr val="1E293B"/>
            </a:solidFill>
            <a:prstDash val="solid"/>
          </a:ln>
        </p:spPr>
      </p:sp>
      <p:sp>
        <p:nvSpPr>
          <p:cNvPr id="22" name="Text 20"/>
          <p:cNvSpPr/>
          <p:nvPr/>
        </p:nvSpPr>
        <p:spPr>
          <a:xfrm>
            <a:off x="7269480" y="215798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=DGET</a:t>
            </a:r>
            <a:endParaRPr lang="en-US" sz="950" dirty="0"/>
          </a:p>
        </p:txBody>
      </p:sp>
      <p:sp>
        <p:nvSpPr>
          <p:cNvPr id="23" name="Text 21"/>
          <p:cNvSpPr/>
          <p:nvPr/>
        </p:nvSpPr>
        <p:spPr>
          <a:xfrm>
            <a:off x="9171432" y="215798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a SINGLE matching value (like VLOOKUP but with criteria range). Returns #VALUE! if multiple rows match. Returns #VALUE! if no match.</a:t>
            </a:r>
            <a:endParaRPr lang="en-US" sz="1000" dirty="0"/>
          </a:p>
        </p:txBody>
      </p:sp>
      <p:sp>
        <p:nvSpPr>
          <p:cNvPr id="24" name="Shape 22"/>
          <p:cNvSpPr/>
          <p:nvPr/>
        </p:nvSpPr>
        <p:spPr>
          <a:xfrm>
            <a:off x="7178040" y="2670048"/>
            <a:ext cx="4754880" cy="548640"/>
          </a:xfrm>
          <a:prstGeom prst="rect">
            <a:avLst/>
          </a:prstGeom>
          <a:solidFill>
            <a:srgbClr val="141E36"/>
          </a:solidFill>
          <a:ln w="3810">
            <a:solidFill>
              <a:srgbClr val="1A2845"/>
            </a:solidFill>
            <a:prstDash val="solid"/>
          </a:ln>
        </p:spPr>
      </p:sp>
      <p:sp>
        <p:nvSpPr>
          <p:cNvPr id="25" name="Shape 23"/>
          <p:cNvSpPr/>
          <p:nvPr/>
        </p:nvSpPr>
        <p:spPr>
          <a:xfrm>
            <a:off x="9079992" y="2670048"/>
            <a:ext cx="18288" cy="548640"/>
          </a:xfrm>
          <a:prstGeom prst="rect">
            <a:avLst/>
          </a:prstGeom>
          <a:solidFill>
            <a:srgbClr val="1E293B"/>
          </a:solidFill>
          <a:ln w="12700">
            <a:solidFill>
              <a:srgbClr val="1E293B"/>
            </a:solidFill>
            <a:prstDash val="solid"/>
          </a:ln>
        </p:spPr>
      </p:sp>
      <p:sp>
        <p:nvSpPr>
          <p:cNvPr id="26" name="Text 24"/>
          <p:cNvSpPr/>
          <p:nvPr/>
        </p:nvSpPr>
        <p:spPr>
          <a:xfrm>
            <a:off x="7269480" y="270662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Criteria range rules</a:t>
            </a:r>
            <a:endParaRPr lang="en-US" sz="950" dirty="0"/>
          </a:p>
        </p:txBody>
      </p:sp>
      <p:sp>
        <p:nvSpPr>
          <p:cNvPr id="27" name="Text 25"/>
          <p:cNvSpPr/>
          <p:nvPr/>
        </p:nvSpPr>
        <p:spPr>
          <a:xfrm>
            <a:off x="9171432" y="270662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Must have the same column headers as the database. Criteria in the same row = AND. Criteria in different rows = OR.</a:t>
            </a:r>
            <a:endParaRPr lang="en-US" sz="1000" dirty="0"/>
          </a:p>
        </p:txBody>
      </p:sp>
      <p:sp>
        <p:nvSpPr>
          <p:cNvPr id="28" name="Shape 26"/>
          <p:cNvSpPr/>
          <p:nvPr/>
        </p:nvSpPr>
        <p:spPr>
          <a:xfrm>
            <a:off x="7178040" y="3218688"/>
            <a:ext cx="4754880" cy="548640"/>
          </a:xfrm>
          <a:prstGeom prst="rect">
            <a:avLst/>
          </a:prstGeom>
          <a:solidFill>
            <a:srgbClr val="0F1D3C"/>
          </a:solidFill>
          <a:ln w="3810">
            <a:solidFill>
              <a:srgbClr val="1A2845"/>
            </a:solidFill>
            <a:prstDash val="solid"/>
          </a:ln>
        </p:spPr>
      </p:sp>
      <p:sp>
        <p:nvSpPr>
          <p:cNvPr id="29" name="Shape 27"/>
          <p:cNvSpPr/>
          <p:nvPr/>
        </p:nvSpPr>
        <p:spPr>
          <a:xfrm>
            <a:off x="9079992" y="3218688"/>
            <a:ext cx="18288" cy="548640"/>
          </a:xfrm>
          <a:prstGeom prst="rect">
            <a:avLst/>
          </a:prstGeom>
          <a:solidFill>
            <a:srgbClr val="1E293B"/>
          </a:solidFill>
          <a:ln w="12700">
            <a:solidFill>
              <a:srgbClr val="1E293B"/>
            </a:solidFill>
            <a:prstDash val="solid"/>
          </a:ln>
        </p:spPr>
      </p:sp>
      <p:sp>
        <p:nvSpPr>
          <p:cNvPr id="30" name="Text 28"/>
          <p:cNvSpPr/>
          <p:nvPr/>
        </p:nvSpPr>
        <p:spPr>
          <a:xfrm>
            <a:off x="7269480" y="325526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Wildcard in criteria</a:t>
            </a:r>
            <a:endParaRPr lang="en-US" sz="950" dirty="0"/>
          </a:p>
        </p:txBody>
      </p:sp>
      <p:sp>
        <p:nvSpPr>
          <p:cNvPr id="31" name="Text 29"/>
          <p:cNvSpPr/>
          <p:nvPr/>
        </p:nvSpPr>
        <p:spPr>
          <a:xfrm>
            <a:off x="9171432" y="325526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Put wildcards in the criteria range: *Lagos* matches any cell containing Lagos. Works in all D-functions.</a:t>
            </a:r>
            <a:endParaRPr lang="en-US" sz="1000" dirty="0"/>
          </a:p>
        </p:txBody>
      </p:sp>
      <p:sp>
        <p:nvSpPr>
          <p:cNvPr id="32" name="Shape 30"/>
          <p:cNvSpPr/>
          <p:nvPr/>
        </p:nvSpPr>
        <p:spPr>
          <a:xfrm>
            <a:off x="7178040" y="3767328"/>
            <a:ext cx="4754880" cy="548640"/>
          </a:xfrm>
          <a:prstGeom prst="rect">
            <a:avLst/>
          </a:prstGeom>
          <a:solidFill>
            <a:srgbClr val="141E36"/>
          </a:solidFill>
          <a:ln w="3810">
            <a:solidFill>
              <a:srgbClr val="1A2845"/>
            </a:solidFill>
            <a:prstDash val="solid"/>
          </a:ln>
        </p:spPr>
      </p:sp>
      <p:sp>
        <p:nvSpPr>
          <p:cNvPr id="33" name="Shape 31"/>
          <p:cNvSpPr/>
          <p:nvPr/>
        </p:nvSpPr>
        <p:spPr>
          <a:xfrm>
            <a:off x="9079992" y="3767328"/>
            <a:ext cx="18288" cy="548640"/>
          </a:xfrm>
          <a:prstGeom prst="rect">
            <a:avLst/>
          </a:prstGeom>
          <a:solidFill>
            <a:srgbClr val="1E293B"/>
          </a:solidFill>
          <a:ln w="12700">
            <a:solidFill>
              <a:srgbClr val="1E293B"/>
            </a:solidFill>
            <a:prstDash val="solid"/>
          </a:ln>
        </p:spPr>
      </p:sp>
      <p:sp>
        <p:nvSpPr>
          <p:cNvPr id="34" name="Text 32"/>
          <p:cNvSpPr/>
          <p:nvPr/>
        </p:nvSpPr>
        <p:spPr>
          <a:xfrm>
            <a:off x="7269480" y="3803904"/>
            <a:ext cx="1773936" cy="475488"/>
          </a:xfrm>
          <a:prstGeom prst="rect">
            <a:avLst/>
          </a:prstGeom>
          <a:noFill/>
          <a:ln/>
        </p:spPr>
        <p:txBody>
          <a:bodyPr wrap="square" lIns="0" tIns="0" rIns="0" bIns="0" rtlCol="0" anchor="ctr"/>
          <a:lstStyle/>
          <a:p>
            <a:pPr indent="0" marL="0">
              <a:buNone/>
            </a:pPr>
            <a:r>
              <a:rPr lang="en-US" sz="950" dirty="0">
                <a:solidFill>
                  <a:srgbClr val="F59E0B"/>
                </a:solidFill>
                <a:latin typeface="Courier New" pitchFamily="34" charset="0"/>
                <a:ea typeface="Courier New" pitchFamily="34" charset="-122"/>
                <a:cs typeface="Courier New" pitchFamily="34" charset="-120"/>
              </a:rPr>
              <a:t>When to use</a:t>
            </a:r>
            <a:endParaRPr lang="en-US" sz="950" dirty="0"/>
          </a:p>
        </p:txBody>
      </p:sp>
      <p:sp>
        <p:nvSpPr>
          <p:cNvPr id="35" name="Text 33"/>
          <p:cNvSpPr/>
          <p:nvPr/>
        </p:nvSpPr>
        <p:spPr>
          <a:xfrm>
            <a:off x="9171432" y="3803904"/>
            <a:ext cx="2670048"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Database functions when you have complex criteria that users need to see and change easily, or when you need OR conditions across the same field.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FORMULA ERRORS - Understanding and Fixing Every Error Type</a:t>
            </a:r>
            <a:endParaRPr lang="en-US" sz="2600" dirty="0"/>
          </a:p>
        </p:txBody>
      </p:sp>
      <p:sp>
        <p:nvSpPr>
          <p:cNvPr id="4" name="Shape 2"/>
          <p:cNvSpPr/>
          <p:nvPr/>
        </p:nvSpPr>
        <p:spPr>
          <a:xfrm>
            <a:off x="411480" y="1042416"/>
            <a:ext cx="5650992" cy="1261872"/>
          </a:xfrm>
          <a:prstGeom prst="roundRect">
            <a:avLst>
              <a:gd name="adj" fmla="val 7246"/>
            </a:avLst>
          </a:prstGeom>
          <a:solidFill>
            <a:srgbClr val="FFFFFF"/>
          </a:solidFill>
          <a:ln w="16510">
            <a:solidFill>
              <a:srgbClr val="F43F5E"/>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42416"/>
            <a:ext cx="1280160" cy="1261872"/>
          </a:xfrm>
          <a:prstGeom prst="roundRect">
            <a:avLst>
              <a:gd name="adj" fmla="val 7246"/>
            </a:avLst>
          </a:prstGeom>
          <a:solidFill>
            <a:srgbClr val="F43F5E"/>
          </a:solidFill>
          <a:ln w="12700">
            <a:solidFill>
              <a:srgbClr val="F43F5E"/>
            </a:solidFill>
            <a:prstDash val="solid"/>
          </a:ln>
        </p:spPr>
      </p:sp>
      <p:sp>
        <p:nvSpPr>
          <p:cNvPr id="6" name="Shape 4"/>
          <p:cNvSpPr/>
          <p:nvPr/>
        </p:nvSpPr>
        <p:spPr>
          <a:xfrm>
            <a:off x="1563624" y="1042416"/>
            <a:ext cx="128016" cy="1261872"/>
          </a:xfrm>
          <a:prstGeom prst="rect">
            <a:avLst/>
          </a:prstGeom>
          <a:solidFill>
            <a:srgbClr val="F43F5E"/>
          </a:solidFill>
          <a:ln w="12700">
            <a:solidFill>
              <a:srgbClr val="F43F5E"/>
            </a:solidFill>
            <a:prstDash val="solid"/>
          </a:ln>
        </p:spPr>
      </p:sp>
      <p:sp>
        <p:nvSpPr>
          <p:cNvPr id="7" name="Text 5"/>
          <p:cNvSpPr/>
          <p:nvPr/>
        </p:nvSpPr>
        <p:spPr>
          <a:xfrm>
            <a:off x="411480" y="1042416"/>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#DIV/0!</a:t>
            </a:r>
            <a:endParaRPr lang="en-US" sz="1300" dirty="0"/>
          </a:p>
        </p:txBody>
      </p:sp>
      <p:sp>
        <p:nvSpPr>
          <p:cNvPr id="8" name="Text 6"/>
          <p:cNvSpPr/>
          <p:nvPr/>
        </p:nvSpPr>
        <p:spPr>
          <a:xfrm>
            <a:off x="1837944" y="1133856"/>
            <a:ext cx="4096512" cy="274320"/>
          </a:xfrm>
          <a:prstGeom prst="rect">
            <a:avLst/>
          </a:prstGeom>
          <a:noFill/>
          <a:ln/>
        </p:spPr>
        <p:txBody>
          <a:bodyPr wrap="square" lIns="0" tIns="0" rIns="0" bIns="0" rtlCol="0" anchor="ctr"/>
          <a:lstStyle/>
          <a:p>
            <a:pPr indent="0" marL="0">
              <a:buNone/>
            </a:pPr>
            <a:r>
              <a:rPr lang="en-US" sz="1050" b="1" dirty="0">
                <a:solidFill>
                  <a:srgbClr val="F43F5E"/>
                </a:solidFill>
                <a:latin typeface="Cambria" pitchFamily="34" charset="0"/>
                <a:ea typeface="Cambria" pitchFamily="34" charset="-122"/>
                <a:cs typeface="Cambria" pitchFamily="34" charset="-120"/>
              </a:rPr>
              <a:t>Cause: Dividing by zero or empty cell</a:t>
            </a:r>
            <a:endParaRPr lang="en-US" sz="1050" dirty="0"/>
          </a:p>
        </p:txBody>
      </p:sp>
      <p:sp>
        <p:nvSpPr>
          <p:cNvPr id="9" name="Text 7"/>
          <p:cNvSpPr/>
          <p:nvPr/>
        </p:nvSpPr>
        <p:spPr>
          <a:xfrm>
            <a:off x="1837944" y="1481328"/>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=IFERROR(A1/B1,0)  or  =IF(B1=0,0,A1/B1)</a:t>
            </a:r>
            <a:endParaRPr lang="en-US" sz="950" dirty="0"/>
          </a:p>
        </p:txBody>
      </p:sp>
      <p:sp>
        <p:nvSpPr>
          <p:cNvPr id="10" name="Shape 8"/>
          <p:cNvSpPr/>
          <p:nvPr/>
        </p:nvSpPr>
        <p:spPr>
          <a:xfrm>
            <a:off x="6309360" y="1042416"/>
            <a:ext cx="5650992" cy="1261872"/>
          </a:xfrm>
          <a:prstGeom prst="roundRect">
            <a:avLst>
              <a:gd name="adj" fmla="val 7246"/>
            </a:avLst>
          </a:prstGeom>
          <a:solidFill>
            <a:srgbClr val="FFFFFF"/>
          </a:solidFill>
          <a:ln w="16510">
            <a:solidFill>
              <a:srgbClr val="F59E0B"/>
            </a:solidFill>
            <a:prstDash val="solid"/>
          </a:ln>
          <a:effectLst>
            <a:outerShdw sx="100000" sy="100000" kx="0" ky="0" algn="bl" rotWithShape="0" blurRad="63500" dist="25400" dir="2700000">
              <a:srgbClr val="000000">
                <a:alpha val="12000"/>
              </a:srgbClr>
            </a:outerShdw>
          </a:effectLst>
        </p:spPr>
      </p:sp>
      <p:sp>
        <p:nvSpPr>
          <p:cNvPr id="11" name="Shape 9"/>
          <p:cNvSpPr/>
          <p:nvPr/>
        </p:nvSpPr>
        <p:spPr>
          <a:xfrm>
            <a:off x="6309360" y="1042416"/>
            <a:ext cx="1280160" cy="1261872"/>
          </a:xfrm>
          <a:prstGeom prst="roundRect">
            <a:avLst>
              <a:gd name="adj" fmla="val 7246"/>
            </a:avLst>
          </a:prstGeom>
          <a:solidFill>
            <a:srgbClr val="F59E0B"/>
          </a:solidFill>
          <a:ln w="12700">
            <a:solidFill>
              <a:srgbClr val="F59E0B"/>
            </a:solidFill>
            <a:prstDash val="solid"/>
          </a:ln>
        </p:spPr>
      </p:sp>
      <p:sp>
        <p:nvSpPr>
          <p:cNvPr id="12" name="Shape 10"/>
          <p:cNvSpPr/>
          <p:nvPr/>
        </p:nvSpPr>
        <p:spPr>
          <a:xfrm>
            <a:off x="7461504" y="1042416"/>
            <a:ext cx="128016" cy="1261872"/>
          </a:xfrm>
          <a:prstGeom prst="rect">
            <a:avLst/>
          </a:prstGeom>
          <a:solidFill>
            <a:srgbClr val="F59E0B"/>
          </a:solidFill>
          <a:ln w="12700">
            <a:solidFill>
              <a:srgbClr val="F59E0B"/>
            </a:solidFill>
            <a:prstDash val="solid"/>
          </a:ln>
        </p:spPr>
      </p:sp>
      <p:sp>
        <p:nvSpPr>
          <p:cNvPr id="13" name="Text 11"/>
          <p:cNvSpPr/>
          <p:nvPr/>
        </p:nvSpPr>
        <p:spPr>
          <a:xfrm>
            <a:off x="6309360" y="1042416"/>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#N/A</a:t>
            </a:r>
            <a:endParaRPr lang="en-US" sz="1300" dirty="0"/>
          </a:p>
        </p:txBody>
      </p:sp>
      <p:sp>
        <p:nvSpPr>
          <p:cNvPr id="14" name="Text 12"/>
          <p:cNvSpPr/>
          <p:nvPr/>
        </p:nvSpPr>
        <p:spPr>
          <a:xfrm>
            <a:off x="7735824" y="1133856"/>
            <a:ext cx="4096512" cy="274320"/>
          </a:xfrm>
          <a:prstGeom prst="rect">
            <a:avLst/>
          </a:prstGeom>
          <a:noFill/>
          <a:ln/>
        </p:spPr>
        <p:txBody>
          <a:bodyPr wrap="square" lIns="0" tIns="0" rIns="0" bIns="0" rtlCol="0" anchor="ctr"/>
          <a:lstStyle/>
          <a:p>
            <a:pPr indent="0" marL="0">
              <a:buNone/>
            </a:pPr>
            <a:r>
              <a:rPr lang="en-US" sz="1050" b="1" dirty="0">
                <a:solidFill>
                  <a:srgbClr val="F59E0B"/>
                </a:solidFill>
                <a:latin typeface="Cambria" pitchFamily="34" charset="0"/>
                <a:ea typeface="Cambria" pitchFamily="34" charset="-122"/>
                <a:cs typeface="Cambria" pitchFamily="34" charset="-120"/>
              </a:rPr>
              <a:t>Cause: Lookup value not found in table</a:t>
            </a:r>
            <a:endParaRPr lang="en-US" sz="1050" dirty="0"/>
          </a:p>
        </p:txBody>
      </p:sp>
      <p:sp>
        <p:nvSpPr>
          <p:cNvPr id="15" name="Text 13"/>
          <p:cNvSpPr/>
          <p:nvPr/>
        </p:nvSpPr>
        <p:spPr>
          <a:xfrm>
            <a:off x="7735824" y="1481328"/>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=IFERROR(VLOOKUP(...),"Not found")  or use XLOOKUP's 4th arg</a:t>
            </a:r>
            <a:endParaRPr lang="en-US" sz="950" dirty="0"/>
          </a:p>
        </p:txBody>
      </p:sp>
      <p:sp>
        <p:nvSpPr>
          <p:cNvPr id="16" name="Shape 14"/>
          <p:cNvSpPr/>
          <p:nvPr/>
        </p:nvSpPr>
        <p:spPr>
          <a:xfrm>
            <a:off x="411480" y="2432304"/>
            <a:ext cx="5650992" cy="1261872"/>
          </a:xfrm>
          <a:prstGeom prst="roundRect">
            <a:avLst>
              <a:gd name="adj" fmla="val 7246"/>
            </a:avLst>
          </a:prstGeom>
          <a:solidFill>
            <a:srgbClr val="FFFFFF"/>
          </a:solidFill>
          <a:ln w="16510">
            <a:solidFill>
              <a:srgbClr val="3B82F6"/>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411480" y="2432304"/>
            <a:ext cx="1280160" cy="1261872"/>
          </a:xfrm>
          <a:prstGeom prst="roundRect">
            <a:avLst>
              <a:gd name="adj" fmla="val 7246"/>
            </a:avLst>
          </a:prstGeom>
          <a:solidFill>
            <a:srgbClr val="3B82F6"/>
          </a:solidFill>
          <a:ln w="12700">
            <a:solidFill>
              <a:srgbClr val="3B82F6"/>
            </a:solidFill>
            <a:prstDash val="solid"/>
          </a:ln>
        </p:spPr>
      </p:sp>
      <p:sp>
        <p:nvSpPr>
          <p:cNvPr id="18" name="Shape 16"/>
          <p:cNvSpPr/>
          <p:nvPr/>
        </p:nvSpPr>
        <p:spPr>
          <a:xfrm>
            <a:off x="1563624" y="2432304"/>
            <a:ext cx="128016" cy="1261872"/>
          </a:xfrm>
          <a:prstGeom prst="rect">
            <a:avLst/>
          </a:prstGeom>
          <a:solidFill>
            <a:srgbClr val="3B82F6"/>
          </a:solidFill>
          <a:ln w="12700">
            <a:solidFill>
              <a:srgbClr val="3B82F6"/>
            </a:solidFill>
            <a:prstDash val="solid"/>
          </a:ln>
        </p:spPr>
      </p:sp>
      <p:sp>
        <p:nvSpPr>
          <p:cNvPr id="19" name="Text 17"/>
          <p:cNvSpPr/>
          <p:nvPr/>
        </p:nvSpPr>
        <p:spPr>
          <a:xfrm>
            <a:off x="411480" y="2432304"/>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#REF!</a:t>
            </a:r>
            <a:endParaRPr lang="en-US" sz="1300" dirty="0"/>
          </a:p>
        </p:txBody>
      </p:sp>
      <p:sp>
        <p:nvSpPr>
          <p:cNvPr id="20" name="Text 18"/>
          <p:cNvSpPr/>
          <p:nvPr/>
        </p:nvSpPr>
        <p:spPr>
          <a:xfrm>
            <a:off x="1837944" y="2523744"/>
            <a:ext cx="4096512" cy="274320"/>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Cause: Referenced cells were deleted</a:t>
            </a:r>
            <a:endParaRPr lang="en-US" sz="1050" dirty="0"/>
          </a:p>
        </p:txBody>
      </p:sp>
      <p:sp>
        <p:nvSpPr>
          <p:cNvPr id="21" name="Text 19"/>
          <p:cNvSpPr/>
          <p:nvPr/>
        </p:nvSpPr>
        <p:spPr>
          <a:xfrm>
            <a:off x="1837944" y="2871216"/>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Check formula. The range being referenced was removed. Update formula to valid range.</a:t>
            </a:r>
            <a:endParaRPr lang="en-US" sz="950" dirty="0"/>
          </a:p>
        </p:txBody>
      </p:sp>
      <p:sp>
        <p:nvSpPr>
          <p:cNvPr id="22" name="Shape 20"/>
          <p:cNvSpPr/>
          <p:nvPr/>
        </p:nvSpPr>
        <p:spPr>
          <a:xfrm>
            <a:off x="6309360" y="2432304"/>
            <a:ext cx="5650992" cy="1261872"/>
          </a:xfrm>
          <a:prstGeom prst="roundRect">
            <a:avLst>
              <a:gd name="adj" fmla="val 7246"/>
            </a:avLst>
          </a:prstGeom>
          <a:solidFill>
            <a:srgbClr val="FFFFFF"/>
          </a:solidFill>
          <a:ln w="16510">
            <a:solidFill>
              <a:srgbClr val="8B5CF6"/>
            </a:solidFill>
            <a:prstDash val="solid"/>
          </a:ln>
          <a:effectLst>
            <a:outerShdw sx="100000" sy="100000" kx="0" ky="0" algn="bl" rotWithShape="0" blurRad="63500" dist="25400" dir="2700000">
              <a:srgbClr val="000000">
                <a:alpha val="12000"/>
              </a:srgbClr>
            </a:outerShdw>
          </a:effectLst>
        </p:spPr>
      </p:sp>
      <p:sp>
        <p:nvSpPr>
          <p:cNvPr id="23" name="Shape 21"/>
          <p:cNvSpPr/>
          <p:nvPr/>
        </p:nvSpPr>
        <p:spPr>
          <a:xfrm>
            <a:off x="6309360" y="2432304"/>
            <a:ext cx="1280160" cy="1261872"/>
          </a:xfrm>
          <a:prstGeom prst="roundRect">
            <a:avLst>
              <a:gd name="adj" fmla="val 7246"/>
            </a:avLst>
          </a:prstGeom>
          <a:solidFill>
            <a:srgbClr val="8B5CF6"/>
          </a:solidFill>
          <a:ln w="12700">
            <a:solidFill>
              <a:srgbClr val="8B5CF6"/>
            </a:solidFill>
            <a:prstDash val="solid"/>
          </a:ln>
        </p:spPr>
      </p:sp>
      <p:sp>
        <p:nvSpPr>
          <p:cNvPr id="24" name="Shape 22"/>
          <p:cNvSpPr/>
          <p:nvPr/>
        </p:nvSpPr>
        <p:spPr>
          <a:xfrm>
            <a:off x="7461504" y="2432304"/>
            <a:ext cx="128016" cy="1261872"/>
          </a:xfrm>
          <a:prstGeom prst="rect">
            <a:avLst/>
          </a:prstGeom>
          <a:solidFill>
            <a:srgbClr val="8B5CF6"/>
          </a:solidFill>
          <a:ln w="12700">
            <a:solidFill>
              <a:srgbClr val="8B5CF6"/>
            </a:solidFill>
            <a:prstDash val="solid"/>
          </a:ln>
        </p:spPr>
      </p:sp>
      <p:sp>
        <p:nvSpPr>
          <p:cNvPr id="25" name="Text 23"/>
          <p:cNvSpPr/>
          <p:nvPr/>
        </p:nvSpPr>
        <p:spPr>
          <a:xfrm>
            <a:off x="6309360" y="2432304"/>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#VALUE!</a:t>
            </a:r>
            <a:endParaRPr lang="en-US" sz="1300" dirty="0"/>
          </a:p>
        </p:txBody>
      </p:sp>
      <p:sp>
        <p:nvSpPr>
          <p:cNvPr id="26" name="Text 24"/>
          <p:cNvSpPr/>
          <p:nvPr/>
        </p:nvSpPr>
        <p:spPr>
          <a:xfrm>
            <a:off x="7735824" y="2523744"/>
            <a:ext cx="4096512" cy="274320"/>
          </a:xfrm>
          <a:prstGeom prst="rect">
            <a:avLst/>
          </a:prstGeom>
          <a:noFill/>
          <a:ln/>
        </p:spPr>
        <p:txBody>
          <a:bodyPr wrap="square" lIns="0" tIns="0" rIns="0" bIns="0" rtlCol="0" anchor="ctr"/>
          <a:lstStyle/>
          <a:p>
            <a:pPr indent="0" marL="0">
              <a:buNone/>
            </a:pPr>
            <a:r>
              <a:rPr lang="en-US" sz="1050" b="1" dirty="0">
                <a:solidFill>
                  <a:srgbClr val="8B5CF6"/>
                </a:solidFill>
                <a:latin typeface="Cambria" pitchFamily="34" charset="0"/>
                <a:ea typeface="Cambria" pitchFamily="34" charset="-122"/>
                <a:cs typeface="Cambria" pitchFamily="34" charset="-120"/>
              </a:rPr>
              <a:t>Cause: Wrong data type in formula</a:t>
            </a:r>
            <a:endParaRPr lang="en-US" sz="1050" dirty="0"/>
          </a:p>
        </p:txBody>
      </p:sp>
      <p:sp>
        <p:nvSpPr>
          <p:cNvPr id="27" name="Text 25"/>
          <p:cNvSpPr/>
          <p:nvPr/>
        </p:nvSpPr>
        <p:spPr>
          <a:xfrm>
            <a:off x="7735824" y="2871216"/>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Text where number expected. =VALUE(A1) to convert. Check for spaces in numeric cells.</a:t>
            </a:r>
            <a:endParaRPr lang="en-US" sz="950" dirty="0"/>
          </a:p>
        </p:txBody>
      </p:sp>
      <p:sp>
        <p:nvSpPr>
          <p:cNvPr id="28" name="Shape 26"/>
          <p:cNvSpPr/>
          <p:nvPr/>
        </p:nvSpPr>
        <p:spPr>
          <a:xfrm>
            <a:off x="411480" y="3822192"/>
            <a:ext cx="5650992" cy="1261872"/>
          </a:xfrm>
          <a:prstGeom prst="roundRect">
            <a:avLst>
              <a:gd name="adj" fmla="val 7246"/>
            </a:avLst>
          </a:prstGeom>
          <a:solidFill>
            <a:srgbClr val="FFFFFF"/>
          </a:solidFill>
          <a:ln w="16510">
            <a:solidFill>
              <a:srgbClr val="06B6D4"/>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411480" y="3822192"/>
            <a:ext cx="1280160" cy="1261872"/>
          </a:xfrm>
          <a:prstGeom prst="roundRect">
            <a:avLst>
              <a:gd name="adj" fmla="val 7246"/>
            </a:avLst>
          </a:prstGeom>
          <a:solidFill>
            <a:srgbClr val="06B6D4"/>
          </a:solidFill>
          <a:ln w="12700">
            <a:solidFill>
              <a:srgbClr val="06B6D4"/>
            </a:solidFill>
            <a:prstDash val="solid"/>
          </a:ln>
        </p:spPr>
      </p:sp>
      <p:sp>
        <p:nvSpPr>
          <p:cNvPr id="30" name="Shape 28"/>
          <p:cNvSpPr/>
          <p:nvPr/>
        </p:nvSpPr>
        <p:spPr>
          <a:xfrm>
            <a:off x="1563624" y="3822192"/>
            <a:ext cx="128016" cy="1261872"/>
          </a:xfrm>
          <a:prstGeom prst="rect">
            <a:avLst/>
          </a:prstGeom>
          <a:solidFill>
            <a:srgbClr val="06B6D4"/>
          </a:solidFill>
          <a:ln w="12700">
            <a:solidFill>
              <a:srgbClr val="06B6D4"/>
            </a:solidFill>
            <a:prstDash val="solid"/>
          </a:ln>
        </p:spPr>
      </p:sp>
      <p:sp>
        <p:nvSpPr>
          <p:cNvPr id="31" name="Text 29"/>
          <p:cNvSpPr/>
          <p:nvPr/>
        </p:nvSpPr>
        <p:spPr>
          <a:xfrm>
            <a:off x="411480" y="3822192"/>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#NAME?</a:t>
            </a:r>
            <a:endParaRPr lang="en-US" sz="1300" dirty="0"/>
          </a:p>
        </p:txBody>
      </p:sp>
      <p:sp>
        <p:nvSpPr>
          <p:cNvPr id="32" name="Text 30"/>
          <p:cNvSpPr/>
          <p:nvPr/>
        </p:nvSpPr>
        <p:spPr>
          <a:xfrm>
            <a:off x="1837944" y="3913632"/>
            <a:ext cx="4096512" cy="274320"/>
          </a:xfrm>
          <a:prstGeom prst="rect">
            <a:avLst/>
          </a:prstGeom>
          <a:noFill/>
          <a:ln/>
        </p:spPr>
        <p:txBody>
          <a:bodyPr wrap="square" lIns="0" tIns="0" rIns="0" bIns="0" rtlCol="0" anchor="ctr"/>
          <a:lstStyle/>
          <a:p>
            <a:pPr indent="0" marL="0">
              <a:buNone/>
            </a:pPr>
            <a:r>
              <a:rPr lang="en-US" sz="1050" b="1" dirty="0">
                <a:solidFill>
                  <a:srgbClr val="06B6D4"/>
                </a:solidFill>
                <a:latin typeface="Cambria" pitchFamily="34" charset="0"/>
                <a:ea typeface="Cambria" pitchFamily="34" charset="-122"/>
                <a:cs typeface="Cambria" pitchFamily="34" charset="-120"/>
              </a:rPr>
              <a:t>Cause: Function name is misspelled</a:t>
            </a:r>
            <a:endParaRPr lang="en-US" sz="1050" dirty="0"/>
          </a:p>
        </p:txBody>
      </p:sp>
      <p:sp>
        <p:nvSpPr>
          <p:cNvPr id="33" name="Text 31"/>
          <p:cNvSpPr/>
          <p:nvPr/>
        </p:nvSpPr>
        <p:spPr>
          <a:xfrm>
            <a:off x="1837944" y="4261104"/>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Check spelling. Type =SU and press Tab to autocomplete. Missing quotes around text criteria.</a:t>
            </a:r>
            <a:endParaRPr lang="en-US" sz="950" dirty="0"/>
          </a:p>
        </p:txBody>
      </p:sp>
      <p:sp>
        <p:nvSpPr>
          <p:cNvPr id="34" name="Shape 32"/>
          <p:cNvSpPr/>
          <p:nvPr/>
        </p:nvSpPr>
        <p:spPr>
          <a:xfrm>
            <a:off x="6309360" y="3822192"/>
            <a:ext cx="5650992" cy="1261872"/>
          </a:xfrm>
          <a:prstGeom prst="roundRect">
            <a:avLst>
              <a:gd name="adj" fmla="val 7246"/>
            </a:avLst>
          </a:prstGeom>
          <a:solidFill>
            <a:srgbClr val="FFFFFF"/>
          </a:solidFill>
          <a:ln w="16510">
            <a:solidFill>
              <a:srgbClr val="EC4899"/>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6309360" y="3822192"/>
            <a:ext cx="1280160" cy="1261872"/>
          </a:xfrm>
          <a:prstGeom prst="roundRect">
            <a:avLst>
              <a:gd name="adj" fmla="val 7246"/>
            </a:avLst>
          </a:prstGeom>
          <a:solidFill>
            <a:srgbClr val="EC4899"/>
          </a:solidFill>
          <a:ln w="12700">
            <a:solidFill>
              <a:srgbClr val="EC4899"/>
            </a:solidFill>
            <a:prstDash val="solid"/>
          </a:ln>
        </p:spPr>
      </p:sp>
      <p:sp>
        <p:nvSpPr>
          <p:cNvPr id="36" name="Shape 34"/>
          <p:cNvSpPr/>
          <p:nvPr/>
        </p:nvSpPr>
        <p:spPr>
          <a:xfrm>
            <a:off x="7461504" y="3822192"/>
            <a:ext cx="128016" cy="1261872"/>
          </a:xfrm>
          <a:prstGeom prst="rect">
            <a:avLst/>
          </a:prstGeom>
          <a:solidFill>
            <a:srgbClr val="EC4899"/>
          </a:solidFill>
          <a:ln w="12700">
            <a:solidFill>
              <a:srgbClr val="EC4899"/>
            </a:solidFill>
            <a:prstDash val="solid"/>
          </a:ln>
        </p:spPr>
      </p:sp>
      <p:sp>
        <p:nvSpPr>
          <p:cNvPr id="37" name="Text 35"/>
          <p:cNvSpPr/>
          <p:nvPr/>
        </p:nvSpPr>
        <p:spPr>
          <a:xfrm>
            <a:off x="6309360" y="3822192"/>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#NUM!</a:t>
            </a:r>
            <a:endParaRPr lang="en-US" sz="1300" dirty="0"/>
          </a:p>
        </p:txBody>
      </p:sp>
      <p:sp>
        <p:nvSpPr>
          <p:cNvPr id="38" name="Text 36"/>
          <p:cNvSpPr/>
          <p:nvPr/>
        </p:nvSpPr>
        <p:spPr>
          <a:xfrm>
            <a:off x="7735824" y="3913632"/>
            <a:ext cx="4096512" cy="274320"/>
          </a:xfrm>
          <a:prstGeom prst="rect">
            <a:avLst/>
          </a:prstGeom>
          <a:noFill/>
          <a:ln/>
        </p:spPr>
        <p:txBody>
          <a:bodyPr wrap="square" lIns="0" tIns="0" rIns="0" bIns="0" rtlCol="0" anchor="ctr"/>
          <a:lstStyle/>
          <a:p>
            <a:pPr indent="0" marL="0">
              <a:buNone/>
            </a:pPr>
            <a:r>
              <a:rPr lang="en-US" sz="1050" b="1" dirty="0">
                <a:solidFill>
                  <a:srgbClr val="EC4899"/>
                </a:solidFill>
                <a:latin typeface="Cambria" pitchFamily="34" charset="0"/>
                <a:ea typeface="Cambria" pitchFamily="34" charset="-122"/>
                <a:cs typeface="Cambria" pitchFamily="34" charset="-120"/>
              </a:rPr>
              <a:t>Cause: Invalid numeric value</a:t>
            </a:r>
            <a:endParaRPr lang="en-US" sz="1050" dirty="0"/>
          </a:p>
        </p:txBody>
      </p:sp>
      <p:sp>
        <p:nvSpPr>
          <p:cNvPr id="39" name="Text 37"/>
          <p:cNvSpPr/>
          <p:nvPr/>
        </p:nvSpPr>
        <p:spPr>
          <a:xfrm>
            <a:off x="7735824" y="4261104"/>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=SQRT(-1) returns #NUM! Square root of negative. Or result is too large/small for Excel.</a:t>
            </a:r>
            <a:endParaRPr lang="en-US" sz="950" dirty="0"/>
          </a:p>
        </p:txBody>
      </p:sp>
      <p:sp>
        <p:nvSpPr>
          <p:cNvPr id="40" name="Shape 38"/>
          <p:cNvSpPr/>
          <p:nvPr/>
        </p:nvSpPr>
        <p:spPr>
          <a:xfrm>
            <a:off x="411480" y="5212080"/>
            <a:ext cx="5650992" cy="1261872"/>
          </a:xfrm>
          <a:prstGeom prst="roundRect">
            <a:avLst>
              <a:gd name="adj" fmla="val 7246"/>
            </a:avLst>
          </a:prstGeom>
          <a:solidFill>
            <a:srgbClr val="FFFFFF"/>
          </a:solidFill>
          <a:ln w="16510">
            <a:solidFill>
              <a:srgbClr val="F97316"/>
            </a:solidFill>
            <a:prstDash val="solid"/>
          </a:ln>
          <a:effectLst>
            <a:outerShdw sx="100000" sy="100000" kx="0" ky="0" algn="bl" rotWithShape="0" blurRad="63500" dist="25400" dir="2700000">
              <a:srgbClr val="000000">
                <a:alpha val="12000"/>
              </a:srgbClr>
            </a:outerShdw>
          </a:effectLst>
        </p:spPr>
      </p:sp>
      <p:sp>
        <p:nvSpPr>
          <p:cNvPr id="41" name="Shape 39"/>
          <p:cNvSpPr/>
          <p:nvPr/>
        </p:nvSpPr>
        <p:spPr>
          <a:xfrm>
            <a:off x="411480" y="5212080"/>
            <a:ext cx="1280160" cy="1261872"/>
          </a:xfrm>
          <a:prstGeom prst="roundRect">
            <a:avLst>
              <a:gd name="adj" fmla="val 7246"/>
            </a:avLst>
          </a:prstGeom>
          <a:solidFill>
            <a:srgbClr val="F97316"/>
          </a:solidFill>
          <a:ln w="12700">
            <a:solidFill>
              <a:srgbClr val="F97316"/>
            </a:solidFill>
            <a:prstDash val="solid"/>
          </a:ln>
        </p:spPr>
      </p:sp>
      <p:sp>
        <p:nvSpPr>
          <p:cNvPr id="42" name="Shape 40"/>
          <p:cNvSpPr/>
          <p:nvPr/>
        </p:nvSpPr>
        <p:spPr>
          <a:xfrm>
            <a:off x="1563624" y="5212080"/>
            <a:ext cx="128016" cy="1261872"/>
          </a:xfrm>
          <a:prstGeom prst="rect">
            <a:avLst/>
          </a:prstGeom>
          <a:solidFill>
            <a:srgbClr val="F97316"/>
          </a:solidFill>
          <a:ln w="12700">
            <a:solidFill>
              <a:srgbClr val="F97316"/>
            </a:solidFill>
            <a:prstDash val="solid"/>
          </a:ln>
        </p:spPr>
      </p:sp>
      <p:sp>
        <p:nvSpPr>
          <p:cNvPr id="43" name="Text 41"/>
          <p:cNvSpPr/>
          <p:nvPr/>
        </p:nvSpPr>
        <p:spPr>
          <a:xfrm>
            <a:off x="411480" y="5212080"/>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#NULL!</a:t>
            </a:r>
            <a:endParaRPr lang="en-US" sz="1300" dirty="0"/>
          </a:p>
        </p:txBody>
      </p:sp>
      <p:sp>
        <p:nvSpPr>
          <p:cNvPr id="44" name="Text 42"/>
          <p:cNvSpPr/>
          <p:nvPr/>
        </p:nvSpPr>
        <p:spPr>
          <a:xfrm>
            <a:off x="1837944" y="5303520"/>
            <a:ext cx="4096512" cy="274320"/>
          </a:xfrm>
          <a:prstGeom prst="rect">
            <a:avLst/>
          </a:prstGeom>
          <a:noFill/>
          <a:ln/>
        </p:spPr>
        <p:txBody>
          <a:bodyPr wrap="square" lIns="0" tIns="0" rIns="0" bIns="0" rtlCol="0" anchor="ctr"/>
          <a:lstStyle/>
          <a:p>
            <a:pPr indent="0" marL="0">
              <a:buNone/>
            </a:pPr>
            <a:r>
              <a:rPr lang="en-US" sz="1050" b="1" dirty="0">
                <a:solidFill>
                  <a:srgbClr val="F97316"/>
                </a:solidFill>
                <a:latin typeface="Cambria" pitchFamily="34" charset="0"/>
                <a:ea typeface="Cambria" pitchFamily="34" charset="-122"/>
                <a:cs typeface="Cambria" pitchFamily="34" charset="-120"/>
              </a:rPr>
              <a:t>Cause: Invalid range operator</a:t>
            </a:r>
            <a:endParaRPr lang="en-US" sz="1050" dirty="0"/>
          </a:p>
        </p:txBody>
      </p:sp>
      <p:sp>
        <p:nvSpPr>
          <p:cNvPr id="45" name="Text 43"/>
          <p:cNvSpPr/>
          <p:nvPr/>
        </p:nvSpPr>
        <p:spPr>
          <a:xfrm>
            <a:off x="1837944" y="5650992"/>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=SUM(A1 B1) - space between ranges means intersection. Should be =SUM(A1,B1) with comma.</a:t>
            </a:r>
            <a:endParaRPr lang="en-US" sz="950" dirty="0"/>
          </a:p>
        </p:txBody>
      </p:sp>
      <p:sp>
        <p:nvSpPr>
          <p:cNvPr id="46" name="Shape 44"/>
          <p:cNvSpPr/>
          <p:nvPr/>
        </p:nvSpPr>
        <p:spPr>
          <a:xfrm>
            <a:off x="6309360" y="5212080"/>
            <a:ext cx="5650992" cy="1261872"/>
          </a:xfrm>
          <a:prstGeom prst="roundRect">
            <a:avLst>
              <a:gd name="adj" fmla="val 7246"/>
            </a:avLst>
          </a:prstGeom>
          <a:solidFill>
            <a:srgbClr val="FFFFFF"/>
          </a:solidFill>
          <a:ln w="16510">
            <a:solidFill>
              <a:srgbClr val="217346"/>
            </a:solidFill>
            <a:prstDash val="solid"/>
          </a:ln>
          <a:effectLst>
            <a:outerShdw sx="100000" sy="100000" kx="0" ky="0" algn="bl" rotWithShape="0" blurRad="63500" dist="25400" dir="2700000">
              <a:srgbClr val="000000">
                <a:alpha val="12000"/>
              </a:srgbClr>
            </a:outerShdw>
          </a:effectLst>
        </p:spPr>
      </p:sp>
      <p:sp>
        <p:nvSpPr>
          <p:cNvPr id="47" name="Shape 45"/>
          <p:cNvSpPr/>
          <p:nvPr/>
        </p:nvSpPr>
        <p:spPr>
          <a:xfrm>
            <a:off x="6309360" y="5212080"/>
            <a:ext cx="1280160" cy="1261872"/>
          </a:xfrm>
          <a:prstGeom prst="roundRect">
            <a:avLst>
              <a:gd name="adj" fmla="val 7246"/>
            </a:avLst>
          </a:prstGeom>
          <a:solidFill>
            <a:srgbClr val="217346"/>
          </a:solidFill>
          <a:ln w="12700">
            <a:solidFill>
              <a:srgbClr val="217346"/>
            </a:solidFill>
            <a:prstDash val="solid"/>
          </a:ln>
        </p:spPr>
      </p:sp>
      <p:sp>
        <p:nvSpPr>
          <p:cNvPr id="48" name="Shape 46"/>
          <p:cNvSpPr/>
          <p:nvPr/>
        </p:nvSpPr>
        <p:spPr>
          <a:xfrm>
            <a:off x="7461504" y="5212080"/>
            <a:ext cx="128016" cy="1261872"/>
          </a:xfrm>
          <a:prstGeom prst="rect">
            <a:avLst/>
          </a:prstGeom>
          <a:solidFill>
            <a:srgbClr val="217346"/>
          </a:solidFill>
          <a:ln w="12700">
            <a:solidFill>
              <a:srgbClr val="217346"/>
            </a:solidFill>
            <a:prstDash val="solid"/>
          </a:ln>
        </p:spPr>
      </p:sp>
      <p:sp>
        <p:nvSpPr>
          <p:cNvPr id="49" name="Text 47"/>
          <p:cNvSpPr/>
          <p:nvPr/>
        </p:nvSpPr>
        <p:spPr>
          <a:xfrm>
            <a:off x="6309360" y="5212080"/>
            <a:ext cx="1280160" cy="12618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50" name="Text 48"/>
          <p:cNvSpPr/>
          <p:nvPr/>
        </p:nvSpPr>
        <p:spPr>
          <a:xfrm>
            <a:off x="7735824" y="5303520"/>
            <a:ext cx="4096512" cy="274320"/>
          </a:xfrm>
          <a:prstGeom prst="rect">
            <a:avLst/>
          </a:prstGeom>
          <a:noFill/>
          <a:ln/>
        </p:spPr>
        <p:txBody>
          <a:bodyPr wrap="square" lIns="0" tIns="0" rIns="0" bIns="0" rtlCol="0" anchor="ctr"/>
          <a:lstStyle/>
          <a:p>
            <a:pPr indent="0" marL="0">
              <a:buNone/>
            </a:pPr>
            <a:r>
              <a:rPr lang="en-US" sz="1050" b="1" dirty="0">
                <a:solidFill>
                  <a:srgbClr val="217346"/>
                </a:solidFill>
                <a:latin typeface="Cambria" pitchFamily="34" charset="0"/>
                <a:ea typeface="Cambria" pitchFamily="34" charset="-122"/>
                <a:cs typeface="Cambria" pitchFamily="34" charset="-120"/>
              </a:rPr>
              <a:t>Cause: Column too narrow to display</a:t>
            </a:r>
            <a:endParaRPr lang="en-US" sz="1050" dirty="0"/>
          </a:p>
        </p:txBody>
      </p:sp>
      <p:sp>
        <p:nvSpPr>
          <p:cNvPr id="51" name="Text 49"/>
          <p:cNvSpPr/>
          <p:nvPr/>
        </p:nvSpPr>
        <p:spPr>
          <a:xfrm>
            <a:off x="7735824" y="5650992"/>
            <a:ext cx="4096512" cy="7498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Fix: Not an error. Double-click column border to auto-fit. Or value is a negative date.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85C38"/>
          </a:solidFill>
          <a:ln w="12700">
            <a:solidFill>
              <a:srgbClr val="185C3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EXCEL FUNCTIONS - THE ULTIMATE QUICK REFERENCE</a:t>
            </a:r>
            <a:endParaRPr lang="en-US" sz="2600" dirty="0"/>
          </a:p>
        </p:txBody>
      </p:sp>
      <p:sp>
        <p:nvSpPr>
          <p:cNvPr id="4" name="Shape 2"/>
          <p:cNvSpPr/>
          <p:nvPr/>
        </p:nvSpPr>
        <p:spPr>
          <a:xfrm>
            <a:off x="411480" y="1042416"/>
            <a:ext cx="54864" cy="173736"/>
          </a:xfrm>
          <a:prstGeom prst="rect">
            <a:avLst/>
          </a:prstGeom>
          <a:solidFill>
            <a:srgbClr val="217346"/>
          </a:solidFill>
          <a:ln w="12700">
            <a:solidFill>
              <a:srgbClr val="217346"/>
            </a:solidFill>
            <a:prstDash val="solid"/>
          </a:ln>
        </p:spPr>
      </p:sp>
      <p:sp>
        <p:nvSpPr>
          <p:cNvPr id="5" name="Text 3"/>
          <p:cNvSpPr/>
          <p:nvPr/>
        </p:nvSpPr>
        <p:spPr>
          <a:xfrm>
            <a:off x="502920" y="10515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=SUM(range)</a:t>
            </a:r>
            <a:endParaRPr lang="en-US" sz="750" dirty="0"/>
          </a:p>
        </p:txBody>
      </p:sp>
      <p:sp>
        <p:nvSpPr>
          <p:cNvPr id="6" name="Shape 4"/>
          <p:cNvSpPr/>
          <p:nvPr/>
        </p:nvSpPr>
        <p:spPr>
          <a:xfrm>
            <a:off x="411480" y="1225296"/>
            <a:ext cx="54864" cy="173736"/>
          </a:xfrm>
          <a:prstGeom prst="rect">
            <a:avLst/>
          </a:prstGeom>
          <a:solidFill>
            <a:srgbClr val="217346"/>
          </a:solidFill>
          <a:ln w="12700">
            <a:solidFill>
              <a:srgbClr val="217346"/>
            </a:solidFill>
            <a:prstDash val="solid"/>
          </a:ln>
        </p:spPr>
      </p:sp>
      <p:sp>
        <p:nvSpPr>
          <p:cNvPr id="7" name="Text 5"/>
          <p:cNvSpPr/>
          <p:nvPr/>
        </p:nvSpPr>
        <p:spPr>
          <a:xfrm>
            <a:off x="502920" y="12344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=SUMIF(range,criteria,sum_r)</a:t>
            </a:r>
            <a:endParaRPr lang="en-US" sz="750" dirty="0"/>
          </a:p>
        </p:txBody>
      </p:sp>
      <p:sp>
        <p:nvSpPr>
          <p:cNvPr id="8" name="Shape 6"/>
          <p:cNvSpPr/>
          <p:nvPr/>
        </p:nvSpPr>
        <p:spPr>
          <a:xfrm>
            <a:off x="411480" y="1408176"/>
            <a:ext cx="54864" cy="173736"/>
          </a:xfrm>
          <a:prstGeom prst="rect">
            <a:avLst/>
          </a:prstGeom>
          <a:solidFill>
            <a:srgbClr val="217346"/>
          </a:solidFill>
          <a:ln w="12700">
            <a:solidFill>
              <a:srgbClr val="217346"/>
            </a:solidFill>
            <a:prstDash val="solid"/>
          </a:ln>
        </p:spPr>
      </p:sp>
      <p:sp>
        <p:nvSpPr>
          <p:cNvPr id="9" name="Text 7"/>
          <p:cNvSpPr/>
          <p:nvPr/>
        </p:nvSpPr>
        <p:spPr>
          <a:xfrm>
            <a:off x="502920" y="14173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=SUMIFS(sum_r,r1,c1,r2,c2)</a:t>
            </a:r>
            <a:endParaRPr lang="en-US" sz="750" dirty="0"/>
          </a:p>
        </p:txBody>
      </p:sp>
      <p:sp>
        <p:nvSpPr>
          <p:cNvPr id="10" name="Shape 8"/>
          <p:cNvSpPr/>
          <p:nvPr/>
        </p:nvSpPr>
        <p:spPr>
          <a:xfrm>
            <a:off x="411480" y="1591056"/>
            <a:ext cx="54864" cy="173736"/>
          </a:xfrm>
          <a:prstGeom prst="rect">
            <a:avLst/>
          </a:prstGeom>
          <a:solidFill>
            <a:srgbClr val="217346"/>
          </a:solidFill>
          <a:ln w="12700">
            <a:solidFill>
              <a:srgbClr val="217346"/>
            </a:solidFill>
            <a:prstDash val="solid"/>
          </a:ln>
        </p:spPr>
      </p:sp>
      <p:sp>
        <p:nvSpPr>
          <p:cNvPr id="11" name="Text 9"/>
          <p:cNvSpPr/>
          <p:nvPr/>
        </p:nvSpPr>
        <p:spPr>
          <a:xfrm>
            <a:off x="502920" y="16002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=ROUND(num,digits)</a:t>
            </a:r>
            <a:endParaRPr lang="en-US" sz="750" dirty="0"/>
          </a:p>
        </p:txBody>
      </p:sp>
      <p:sp>
        <p:nvSpPr>
          <p:cNvPr id="12" name="Shape 10"/>
          <p:cNvSpPr/>
          <p:nvPr/>
        </p:nvSpPr>
        <p:spPr>
          <a:xfrm>
            <a:off x="411480" y="1773936"/>
            <a:ext cx="54864" cy="173736"/>
          </a:xfrm>
          <a:prstGeom prst="rect">
            <a:avLst/>
          </a:prstGeom>
          <a:solidFill>
            <a:srgbClr val="217346"/>
          </a:solidFill>
          <a:ln w="12700">
            <a:solidFill>
              <a:srgbClr val="217346"/>
            </a:solidFill>
            <a:prstDash val="solid"/>
          </a:ln>
        </p:spPr>
      </p:sp>
      <p:sp>
        <p:nvSpPr>
          <p:cNvPr id="13" name="Text 11"/>
          <p:cNvSpPr/>
          <p:nvPr/>
        </p:nvSpPr>
        <p:spPr>
          <a:xfrm>
            <a:off x="502920" y="17830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=ROUNDUP/DOWN(num,d)</a:t>
            </a:r>
            <a:endParaRPr lang="en-US" sz="750" dirty="0"/>
          </a:p>
        </p:txBody>
      </p:sp>
      <p:sp>
        <p:nvSpPr>
          <p:cNvPr id="14" name="Shape 12"/>
          <p:cNvSpPr/>
          <p:nvPr/>
        </p:nvSpPr>
        <p:spPr>
          <a:xfrm>
            <a:off x="411480" y="1956816"/>
            <a:ext cx="54864" cy="173736"/>
          </a:xfrm>
          <a:prstGeom prst="rect">
            <a:avLst/>
          </a:prstGeom>
          <a:solidFill>
            <a:srgbClr val="217346"/>
          </a:solidFill>
          <a:ln w="12700">
            <a:solidFill>
              <a:srgbClr val="217346"/>
            </a:solidFill>
            <a:prstDash val="solid"/>
          </a:ln>
        </p:spPr>
      </p:sp>
      <p:sp>
        <p:nvSpPr>
          <p:cNvPr id="15" name="Text 13"/>
          <p:cNvSpPr/>
          <p:nvPr/>
        </p:nvSpPr>
        <p:spPr>
          <a:xfrm>
            <a:off x="502920" y="19659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=INT(num)</a:t>
            </a:r>
            <a:endParaRPr lang="en-US" sz="750" dirty="0"/>
          </a:p>
        </p:txBody>
      </p:sp>
      <p:sp>
        <p:nvSpPr>
          <p:cNvPr id="16" name="Shape 14"/>
          <p:cNvSpPr/>
          <p:nvPr/>
        </p:nvSpPr>
        <p:spPr>
          <a:xfrm>
            <a:off x="411480" y="2139696"/>
            <a:ext cx="54864" cy="173736"/>
          </a:xfrm>
          <a:prstGeom prst="rect">
            <a:avLst/>
          </a:prstGeom>
          <a:solidFill>
            <a:srgbClr val="217346"/>
          </a:solidFill>
          <a:ln w="12700">
            <a:solidFill>
              <a:srgbClr val="217346"/>
            </a:solidFill>
            <a:prstDash val="solid"/>
          </a:ln>
        </p:spPr>
      </p:sp>
      <p:sp>
        <p:nvSpPr>
          <p:cNvPr id="17" name="Text 15"/>
          <p:cNvSpPr/>
          <p:nvPr/>
        </p:nvSpPr>
        <p:spPr>
          <a:xfrm>
            <a:off x="502920" y="21488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=MOD(num,divisor)</a:t>
            </a:r>
            <a:endParaRPr lang="en-US" sz="750" dirty="0"/>
          </a:p>
        </p:txBody>
      </p:sp>
      <p:sp>
        <p:nvSpPr>
          <p:cNvPr id="18" name="Shape 16"/>
          <p:cNvSpPr/>
          <p:nvPr/>
        </p:nvSpPr>
        <p:spPr>
          <a:xfrm>
            <a:off x="411480" y="2322576"/>
            <a:ext cx="54864" cy="173736"/>
          </a:xfrm>
          <a:prstGeom prst="rect">
            <a:avLst/>
          </a:prstGeom>
          <a:solidFill>
            <a:srgbClr val="217346"/>
          </a:solidFill>
          <a:ln w="12700">
            <a:solidFill>
              <a:srgbClr val="217346"/>
            </a:solidFill>
            <a:prstDash val="solid"/>
          </a:ln>
        </p:spPr>
      </p:sp>
      <p:sp>
        <p:nvSpPr>
          <p:cNvPr id="19" name="Text 17"/>
          <p:cNvSpPr/>
          <p:nvPr/>
        </p:nvSpPr>
        <p:spPr>
          <a:xfrm>
            <a:off x="502920" y="23317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=ABS(num)</a:t>
            </a:r>
            <a:endParaRPr lang="en-US" sz="750" dirty="0"/>
          </a:p>
        </p:txBody>
      </p:sp>
      <p:sp>
        <p:nvSpPr>
          <p:cNvPr id="20" name="Shape 18"/>
          <p:cNvSpPr/>
          <p:nvPr/>
        </p:nvSpPr>
        <p:spPr>
          <a:xfrm>
            <a:off x="411480" y="2505456"/>
            <a:ext cx="54864" cy="173736"/>
          </a:xfrm>
          <a:prstGeom prst="rect">
            <a:avLst/>
          </a:prstGeom>
          <a:solidFill>
            <a:srgbClr val="217346"/>
          </a:solidFill>
          <a:ln w="12700">
            <a:solidFill>
              <a:srgbClr val="217346"/>
            </a:solidFill>
            <a:prstDash val="solid"/>
          </a:ln>
        </p:spPr>
      </p:sp>
      <p:sp>
        <p:nvSpPr>
          <p:cNvPr id="21" name="Text 19"/>
          <p:cNvSpPr/>
          <p:nvPr/>
        </p:nvSpPr>
        <p:spPr>
          <a:xfrm>
            <a:off x="502920" y="25146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=POWER(num,power)</a:t>
            </a:r>
            <a:endParaRPr lang="en-US" sz="750" dirty="0"/>
          </a:p>
        </p:txBody>
      </p:sp>
      <p:sp>
        <p:nvSpPr>
          <p:cNvPr id="22" name="Shape 20"/>
          <p:cNvSpPr/>
          <p:nvPr/>
        </p:nvSpPr>
        <p:spPr>
          <a:xfrm>
            <a:off x="411480" y="2688336"/>
            <a:ext cx="54864" cy="173736"/>
          </a:xfrm>
          <a:prstGeom prst="rect">
            <a:avLst/>
          </a:prstGeom>
          <a:solidFill>
            <a:srgbClr val="217346"/>
          </a:solidFill>
          <a:ln w="12700">
            <a:solidFill>
              <a:srgbClr val="217346"/>
            </a:solidFill>
            <a:prstDash val="solid"/>
          </a:ln>
        </p:spPr>
      </p:sp>
      <p:sp>
        <p:nvSpPr>
          <p:cNvPr id="23" name="Text 21"/>
          <p:cNvSpPr/>
          <p:nvPr/>
        </p:nvSpPr>
        <p:spPr>
          <a:xfrm>
            <a:off x="502920" y="26974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=SQRT(num)</a:t>
            </a:r>
            <a:endParaRPr lang="en-US" sz="750" dirty="0"/>
          </a:p>
        </p:txBody>
      </p:sp>
      <p:sp>
        <p:nvSpPr>
          <p:cNvPr id="24" name="Shape 22"/>
          <p:cNvSpPr/>
          <p:nvPr/>
        </p:nvSpPr>
        <p:spPr>
          <a:xfrm>
            <a:off x="411480" y="2871216"/>
            <a:ext cx="54864" cy="173736"/>
          </a:xfrm>
          <a:prstGeom prst="rect">
            <a:avLst/>
          </a:prstGeom>
          <a:solidFill>
            <a:srgbClr val="217346"/>
          </a:solidFill>
          <a:ln w="12700">
            <a:solidFill>
              <a:srgbClr val="217346"/>
            </a:solidFill>
            <a:prstDash val="solid"/>
          </a:ln>
        </p:spPr>
      </p:sp>
      <p:sp>
        <p:nvSpPr>
          <p:cNvPr id="25" name="Text 23"/>
          <p:cNvSpPr/>
          <p:nvPr/>
        </p:nvSpPr>
        <p:spPr>
          <a:xfrm>
            <a:off x="502920" y="28803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=RAND()  =RANDBETWEEN(l,h)</a:t>
            </a:r>
            <a:endParaRPr lang="en-US" sz="750" dirty="0"/>
          </a:p>
        </p:txBody>
      </p:sp>
      <p:sp>
        <p:nvSpPr>
          <p:cNvPr id="26" name="Shape 24"/>
          <p:cNvSpPr/>
          <p:nvPr/>
        </p:nvSpPr>
        <p:spPr>
          <a:xfrm>
            <a:off x="411480" y="3054096"/>
            <a:ext cx="54864" cy="173736"/>
          </a:xfrm>
          <a:prstGeom prst="rect">
            <a:avLst/>
          </a:prstGeom>
          <a:solidFill>
            <a:srgbClr val="217346"/>
          </a:solidFill>
          <a:ln w="12700">
            <a:solidFill>
              <a:srgbClr val="217346"/>
            </a:solidFill>
            <a:prstDash val="solid"/>
          </a:ln>
        </p:spPr>
      </p:sp>
      <p:sp>
        <p:nvSpPr>
          <p:cNvPr id="27" name="Text 25"/>
          <p:cNvSpPr/>
          <p:nvPr/>
        </p:nvSpPr>
        <p:spPr>
          <a:xfrm>
            <a:off x="502920" y="30632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=SUBTOTAL(9,range)</a:t>
            </a:r>
            <a:endParaRPr lang="en-US" sz="750" dirty="0"/>
          </a:p>
        </p:txBody>
      </p:sp>
      <p:sp>
        <p:nvSpPr>
          <p:cNvPr id="28" name="Shape 26"/>
          <p:cNvSpPr/>
          <p:nvPr/>
        </p:nvSpPr>
        <p:spPr>
          <a:xfrm>
            <a:off x="411480" y="3236976"/>
            <a:ext cx="54864" cy="173736"/>
          </a:xfrm>
          <a:prstGeom prst="rect">
            <a:avLst/>
          </a:prstGeom>
          <a:solidFill>
            <a:srgbClr val="3B82F6"/>
          </a:solidFill>
          <a:ln w="12700">
            <a:solidFill>
              <a:srgbClr val="3B82F6"/>
            </a:solidFill>
            <a:prstDash val="solid"/>
          </a:ln>
        </p:spPr>
      </p:sp>
      <p:sp>
        <p:nvSpPr>
          <p:cNvPr id="29" name="Text 27"/>
          <p:cNvSpPr/>
          <p:nvPr/>
        </p:nvSpPr>
        <p:spPr>
          <a:xfrm>
            <a:off x="502920" y="32461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=AVERAGE(range)</a:t>
            </a:r>
            <a:endParaRPr lang="en-US" sz="750" dirty="0"/>
          </a:p>
        </p:txBody>
      </p:sp>
      <p:sp>
        <p:nvSpPr>
          <p:cNvPr id="30" name="Shape 28"/>
          <p:cNvSpPr/>
          <p:nvPr/>
        </p:nvSpPr>
        <p:spPr>
          <a:xfrm>
            <a:off x="411480" y="3419856"/>
            <a:ext cx="54864" cy="173736"/>
          </a:xfrm>
          <a:prstGeom prst="rect">
            <a:avLst/>
          </a:prstGeom>
          <a:solidFill>
            <a:srgbClr val="3B82F6"/>
          </a:solidFill>
          <a:ln w="12700">
            <a:solidFill>
              <a:srgbClr val="3B82F6"/>
            </a:solidFill>
            <a:prstDash val="solid"/>
          </a:ln>
        </p:spPr>
      </p:sp>
      <p:sp>
        <p:nvSpPr>
          <p:cNvPr id="31" name="Text 29"/>
          <p:cNvSpPr/>
          <p:nvPr/>
        </p:nvSpPr>
        <p:spPr>
          <a:xfrm>
            <a:off x="502920" y="34290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=AVERAGEIF(r,crit,avg_r)</a:t>
            </a:r>
            <a:endParaRPr lang="en-US" sz="750" dirty="0"/>
          </a:p>
        </p:txBody>
      </p:sp>
      <p:sp>
        <p:nvSpPr>
          <p:cNvPr id="32" name="Shape 30"/>
          <p:cNvSpPr/>
          <p:nvPr/>
        </p:nvSpPr>
        <p:spPr>
          <a:xfrm>
            <a:off x="411480" y="3602736"/>
            <a:ext cx="54864" cy="173736"/>
          </a:xfrm>
          <a:prstGeom prst="rect">
            <a:avLst/>
          </a:prstGeom>
          <a:solidFill>
            <a:srgbClr val="3B82F6"/>
          </a:solidFill>
          <a:ln w="12700">
            <a:solidFill>
              <a:srgbClr val="3B82F6"/>
            </a:solidFill>
            <a:prstDash val="solid"/>
          </a:ln>
        </p:spPr>
      </p:sp>
      <p:sp>
        <p:nvSpPr>
          <p:cNvPr id="33" name="Text 31"/>
          <p:cNvSpPr/>
          <p:nvPr/>
        </p:nvSpPr>
        <p:spPr>
          <a:xfrm>
            <a:off x="502920" y="36118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=COUNT(r)  =COUNTA(r)</a:t>
            </a:r>
            <a:endParaRPr lang="en-US" sz="750" dirty="0"/>
          </a:p>
        </p:txBody>
      </p:sp>
      <p:sp>
        <p:nvSpPr>
          <p:cNvPr id="34" name="Shape 32"/>
          <p:cNvSpPr/>
          <p:nvPr/>
        </p:nvSpPr>
        <p:spPr>
          <a:xfrm>
            <a:off x="3246120" y="1042416"/>
            <a:ext cx="54864" cy="173736"/>
          </a:xfrm>
          <a:prstGeom prst="rect">
            <a:avLst/>
          </a:prstGeom>
          <a:solidFill>
            <a:srgbClr val="3B82F6"/>
          </a:solidFill>
          <a:ln w="12700">
            <a:solidFill>
              <a:srgbClr val="3B82F6"/>
            </a:solidFill>
            <a:prstDash val="solid"/>
          </a:ln>
        </p:spPr>
      </p:sp>
      <p:sp>
        <p:nvSpPr>
          <p:cNvPr id="35" name="Text 33"/>
          <p:cNvSpPr/>
          <p:nvPr/>
        </p:nvSpPr>
        <p:spPr>
          <a:xfrm>
            <a:off x="3337560" y="10515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=COUNTIF(r,crit)</a:t>
            </a:r>
            <a:endParaRPr lang="en-US" sz="750" dirty="0"/>
          </a:p>
        </p:txBody>
      </p:sp>
      <p:sp>
        <p:nvSpPr>
          <p:cNvPr id="36" name="Shape 34"/>
          <p:cNvSpPr/>
          <p:nvPr/>
        </p:nvSpPr>
        <p:spPr>
          <a:xfrm>
            <a:off x="3246120" y="1225296"/>
            <a:ext cx="54864" cy="173736"/>
          </a:xfrm>
          <a:prstGeom prst="rect">
            <a:avLst/>
          </a:prstGeom>
          <a:solidFill>
            <a:srgbClr val="3B82F6"/>
          </a:solidFill>
          <a:ln w="12700">
            <a:solidFill>
              <a:srgbClr val="3B82F6"/>
            </a:solidFill>
            <a:prstDash val="solid"/>
          </a:ln>
        </p:spPr>
      </p:sp>
      <p:sp>
        <p:nvSpPr>
          <p:cNvPr id="37" name="Text 35"/>
          <p:cNvSpPr/>
          <p:nvPr/>
        </p:nvSpPr>
        <p:spPr>
          <a:xfrm>
            <a:off x="3337560" y="12344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=COUNTIFS(r1,c1,r2,c2)</a:t>
            </a:r>
            <a:endParaRPr lang="en-US" sz="750" dirty="0"/>
          </a:p>
        </p:txBody>
      </p:sp>
      <p:sp>
        <p:nvSpPr>
          <p:cNvPr id="38" name="Shape 36"/>
          <p:cNvSpPr/>
          <p:nvPr/>
        </p:nvSpPr>
        <p:spPr>
          <a:xfrm>
            <a:off x="3246120" y="1408176"/>
            <a:ext cx="54864" cy="173736"/>
          </a:xfrm>
          <a:prstGeom prst="rect">
            <a:avLst/>
          </a:prstGeom>
          <a:solidFill>
            <a:srgbClr val="3B82F6"/>
          </a:solidFill>
          <a:ln w="12700">
            <a:solidFill>
              <a:srgbClr val="3B82F6"/>
            </a:solidFill>
            <a:prstDash val="solid"/>
          </a:ln>
        </p:spPr>
      </p:sp>
      <p:sp>
        <p:nvSpPr>
          <p:cNvPr id="39" name="Text 37"/>
          <p:cNvSpPr/>
          <p:nvPr/>
        </p:nvSpPr>
        <p:spPr>
          <a:xfrm>
            <a:off x="3337560" y="14173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=MAX(r)  =MIN(r)</a:t>
            </a:r>
            <a:endParaRPr lang="en-US" sz="750" dirty="0"/>
          </a:p>
        </p:txBody>
      </p:sp>
      <p:sp>
        <p:nvSpPr>
          <p:cNvPr id="40" name="Shape 38"/>
          <p:cNvSpPr/>
          <p:nvPr/>
        </p:nvSpPr>
        <p:spPr>
          <a:xfrm>
            <a:off x="3246120" y="1591056"/>
            <a:ext cx="54864" cy="173736"/>
          </a:xfrm>
          <a:prstGeom prst="rect">
            <a:avLst/>
          </a:prstGeom>
          <a:solidFill>
            <a:srgbClr val="3B82F6"/>
          </a:solidFill>
          <a:ln w="12700">
            <a:solidFill>
              <a:srgbClr val="3B82F6"/>
            </a:solidFill>
            <a:prstDash val="solid"/>
          </a:ln>
        </p:spPr>
      </p:sp>
      <p:sp>
        <p:nvSpPr>
          <p:cNvPr id="41" name="Text 39"/>
          <p:cNvSpPr/>
          <p:nvPr/>
        </p:nvSpPr>
        <p:spPr>
          <a:xfrm>
            <a:off x="3337560" y="16002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=LARGE(r,k)  =SMALL(r,k)</a:t>
            </a:r>
            <a:endParaRPr lang="en-US" sz="750" dirty="0"/>
          </a:p>
        </p:txBody>
      </p:sp>
      <p:sp>
        <p:nvSpPr>
          <p:cNvPr id="42" name="Shape 40"/>
          <p:cNvSpPr/>
          <p:nvPr/>
        </p:nvSpPr>
        <p:spPr>
          <a:xfrm>
            <a:off x="3246120" y="1773936"/>
            <a:ext cx="54864" cy="173736"/>
          </a:xfrm>
          <a:prstGeom prst="rect">
            <a:avLst/>
          </a:prstGeom>
          <a:solidFill>
            <a:srgbClr val="3B82F6"/>
          </a:solidFill>
          <a:ln w="12700">
            <a:solidFill>
              <a:srgbClr val="3B82F6"/>
            </a:solidFill>
            <a:prstDash val="solid"/>
          </a:ln>
        </p:spPr>
      </p:sp>
      <p:sp>
        <p:nvSpPr>
          <p:cNvPr id="43" name="Text 41"/>
          <p:cNvSpPr/>
          <p:nvPr/>
        </p:nvSpPr>
        <p:spPr>
          <a:xfrm>
            <a:off x="3337560" y="17830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=MEDIAN(r)  =MODE(r)</a:t>
            </a:r>
            <a:endParaRPr lang="en-US" sz="750" dirty="0"/>
          </a:p>
        </p:txBody>
      </p:sp>
      <p:sp>
        <p:nvSpPr>
          <p:cNvPr id="44" name="Shape 42"/>
          <p:cNvSpPr/>
          <p:nvPr/>
        </p:nvSpPr>
        <p:spPr>
          <a:xfrm>
            <a:off x="3246120" y="1956816"/>
            <a:ext cx="54864" cy="173736"/>
          </a:xfrm>
          <a:prstGeom prst="rect">
            <a:avLst/>
          </a:prstGeom>
          <a:solidFill>
            <a:srgbClr val="3B82F6"/>
          </a:solidFill>
          <a:ln w="12700">
            <a:solidFill>
              <a:srgbClr val="3B82F6"/>
            </a:solidFill>
            <a:prstDash val="solid"/>
          </a:ln>
        </p:spPr>
      </p:sp>
      <p:sp>
        <p:nvSpPr>
          <p:cNvPr id="45" name="Text 43"/>
          <p:cNvSpPr/>
          <p:nvPr/>
        </p:nvSpPr>
        <p:spPr>
          <a:xfrm>
            <a:off x="3337560" y="19659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=STDEV(r)  =VAR(r)</a:t>
            </a:r>
            <a:endParaRPr lang="en-US" sz="750" dirty="0"/>
          </a:p>
        </p:txBody>
      </p:sp>
      <p:sp>
        <p:nvSpPr>
          <p:cNvPr id="46" name="Shape 44"/>
          <p:cNvSpPr/>
          <p:nvPr/>
        </p:nvSpPr>
        <p:spPr>
          <a:xfrm>
            <a:off x="3246120" y="2139696"/>
            <a:ext cx="54864" cy="173736"/>
          </a:xfrm>
          <a:prstGeom prst="rect">
            <a:avLst/>
          </a:prstGeom>
          <a:solidFill>
            <a:srgbClr val="3B82F6"/>
          </a:solidFill>
          <a:ln w="12700">
            <a:solidFill>
              <a:srgbClr val="3B82F6"/>
            </a:solidFill>
            <a:prstDash val="solid"/>
          </a:ln>
        </p:spPr>
      </p:sp>
      <p:sp>
        <p:nvSpPr>
          <p:cNvPr id="47" name="Text 45"/>
          <p:cNvSpPr/>
          <p:nvPr/>
        </p:nvSpPr>
        <p:spPr>
          <a:xfrm>
            <a:off x="3337560" y="21488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=RANK(v,r,0)</a:t>
            </a:r>
            <a:endParaRPr lang="en-US" sz="750" dirty="0"/>
          </a:p>
        </p:txBody>
      </p:sp>
      <p:sp>
        <p:nvSpPr>
          <p:cNvPr id="48" name="Shape 46"/>
          <p:cNvSpPr/>
          <p:nvPr/>
        </p:nvSpPr>
        <p:spPr>
          <a:xfrm>
            <a:off x="3246120" y="2322576"/>
            <a:ext cx="54864" cy="173736"/>
          </a:xfrm>
          <a:prstGeom prst="rect">
            <a:avLst/>
          </a:prstGeom>
          <a:solidFill>
            <a:srgbClr val="3B82F6"/>
          </a:solidFill>
          <a:ln w="12700">
            <a:solidFill>
              <a:srgbClr val="3B82F6"/>
            </a:solidFill>
            <a:prstDash val="solid"/>
          </a:ln>
        </p:spPr>
      </p:sp>
      <p:sp>
        <p:nvSpPr>
          <p:cNvPr id="49" name="Text 47"/>
          <p:cNvSpPr/>
          <p:nvPr/>
        </p:nvSpPr>
        <p:spPr>
          <a:xfrm>
            <a:off x="3337560" y="23317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=PERCENTILE(r,k)</a:t>
            </a:r>
            <a:endParaRPr lang="en-US" sz="750" dirty="0"/>
          </a:p>
        </p:txBody>
      </p:sp>
      <p:sp>
        <p:nvSpPr>
          <p:cNvPr id="50" name="Shape 48"/>
          <p:cNvSpPr/>
          <p:nvPr/>
        </p:nvSpPr>
        <p:spPr>
          <a:xfrm>
            <a:off x="3246120" y="2505456"/>
            <a:ext cx="54864" cy="173736"/>
          </a:xfrm>
          <a:prstGeom prst="rect">
            <a:avLst/>
          </a:prstGeom>
          <a:solidFill>
            <a:srgbClr val="3B82F6"/>
          </a:solidFill>
          <a:ln w="12700">
            <a:solidFill>
              <a:srgbClr val="3B82F6"/>
            </a:solidFill>
            <a:prstDash val="solid"/>
          </a:ln>
        </p:spPr>
      </p:sp>
      <p:sp>
        <p:nvSpPr>
          <p:cNvPr id="51" name="Text 49"/>
          <p:cNvSpPr/>
          <p:nvPr/>
        </p:nvSpPr>
        <p:spPr>
          <a:xfrm>
            <a:off x="3337560" y="25146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=CORREL(r1,r2)</a:t>
            </a:r>
            <a:endParaRPr lang="en-US" sz="750" dirty="0"/>
          </a:p>
        </p:txBody>
      </p:sp>
      <p:sp>
        <p:nvSpPr>
          <p:cNvPr id="52" name="Shape 50"/>
          <p:cNvSpPr/>
          <p:nvPr/>
        </p:nvSpPr>
        <p:spPr>
          <a:xfrm>
            <a:off x="3246120" y="2688336"/>
            <a:ext cx="54864" cy="173736"/>
          </a:xfrm>
          <a:prstGeom prst="rect">
            <a:avLst/>
          </a:prstGeom>
          <a:solidFill>
            <a:srgbClr val="8B5CF6"/>
          </a:solidFill>
          <a:ln w="12700">
            <a:solidFill>
              <a:srgbClr val="8B5CF6"/>
            </a:solidFill>
            <a:prstDash val="solid"/>
          </a:ln>
        </p:spPr>
      </p:sp>
      <p:sp>
        <p:nvSpPr>
          <p:cNvPr id="53" name="Text 51"/>
          <p:cNvSpPr/>
          <p:nvPr/>
        </p:nvSpPr>
        <p:spPr>
          <a:xfrm>
            <a:off x="3337560" y="26974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=IF(cond,true,false)</a:t>
            </a:r>
            <a:endParaRPr lang="en-US" sz="750" dirty="0"/>
          </a:p>
        </p:txBody>
      </p:sp>
      <p:sp>
        <p:nvSpPr>
          <p:cNvPr id="54" name="Shape 52"/>
          <p:cNvSpPr/>
          <p:nvPr/>
        </p:nvSpPr>
        <p:spPr>
          <a:xfrm>
            <a:off x="3246120" y="2871216"/>
            <a:ext cx="54864" cy="173736"/>
          </a:xfrm>
          <a:prstGeom prst="rect">
            <a:avLst/>
          </a:prstGeom>
          <a:solidFill>
            <a:srgbClr val="8B5CF6"/>
          </a:solidFill>
          <a:ln w="12700">
            <a:solidFill>
              <a:srgbClr val="8B5CF6"/>
            </a:solidFill>
            <a:prstDash val="solid"/>
          </a:ln>
        </p:spPr>
      </p:sp>
      <p:sp>
        <p:nvSpPr>
          <p:cNvPr id="55" name="Text 53"/>
          <p:cNvSpPr/>
          <p:nvPr/>
        </p:nvSpPr>
        <p:spPr>
          <a:xfrm>
            <a:off x="3337560" y="28803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=IFS(c1,v1,c2,v2,TRUE,v)</a:t>
            </a:r>
            <a:endParaRPr lang="en-US" sz="750" dirty="0"/>
          </a:p>
        </p:txBody>
      </p:sp>
      <p:sp>
        <p:nvSpPr>
          <p:cNvPr id="56" name="Shape 54"/>
          <p:cNvSpPr/>
          <p:nvPr/>
        </p:nvSpPr>
        <p:spPr>
          <a:xfrm>
            <a:off x="3246120" y="3054096"/>
            <a:ext cx="54864" cy="173736"/>
          </a:xfrm>
          <a:prstGeom prst="rect">
            <a:avLst/>
          </a:prstGeom>
          <a:solidFill>
            <a:srgbClr val="8B5CF6"/>
          </a:solidFill>
          <a:ln w="12700">
            <a:solidFill>
              <a:srgbClr val="8B5CF6"/>
            </a:solidFill>
            <a:prstDash val="solid"/>
          </a:ln>
        </p:spPr>
      </p:sp>
      <p:sp>
        <p:nvSpPr>
          <p:cNvPr id="57" name="Text 55"/>
          <p:cNvSpPr/>
          <p:nvPr/>
        </p:nvSpPr>
        <p:spPr>
          <a:xfrm>
            <a:off x="3337560" y="30632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=AND(c1,c2)  =OR(c1,c2)</a:t>
            </a:r>
            <a:endParaRPr lang="en-US" sz="750" dirty="0"/>
          </a:p>
        </p:txBody>
      </p:sp>
      <p:sp>
        <p:nvSpPr>
          <p:cNvPr id="58" name="Shape 56"/>
          <p:cNvSpPr/>
          <p:nvPr/>
        </p:nvSpPr>
        <p:spPr>
          <a:xfrm>
            <a:off x="3246120" y="3236976"/>
            <a:ext cx="54864" cy="173736"/>
          </a:xfrm>
          <a:prstGeom prst="rect">
            <a:avLst/>
          </a:prstGeom>
          <a:solidFill>
            <a:srgbClr val="8B5CF6"/>
          </a:solidFill>
          <a:ln w="12700">
            <a:solidFill>
              <a:srgbClr val="8B5CF6"/>
            </a:solidFill>
            <a:prstDash val="solid"/>
          </a:ln>
        </p:spPr>
      </p:sp>
      <p:sp>
        <p:nvSpPr>
          <p:cNvPr id="59" name="Text 57"/>
          <p:cNvSpPr/>
          <p:nvPr/>
        </p:nvSpPr>
        <p:spPr>
          <a:xfrm>
            <a:off x="3337560" y="32461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=NOT(condition)</a:t>
            </a:r>
            <a:endParaRPr lang="en-US" sz="750" dirty="0"/>
          </a:p>
        </p:txBody>
      </p:sp>
      <p:sp>
        <p:nvSpPr>
          <p:cNvPr id="60" name="Shape 58"/>
          <p:cNvSpPr/>
          <p:nvPr/>
        </p:nvSpPr>
        <p:spPr>
          <a:xfrm>
            <a:off x="3246120" y="3419856"/>
            <a:ext cx="54864" cy="173736"/>
          </a:xfrm>
          <a:prstGeom prst="rect">
            <a:avLst/>
          </a:prstGeom>
          <a:solidFill>
            <a:srgbClr val="8B5CF6"/>
          </a:solidFill>
          <a:ln w="12700">
            <a:solidFill>
              <a:srgbClr val="8B5CF6"/>
            </a:solidFill>
            <a:prstDash val="solid"/>
          </a:ln>
        </p:spPr>
      </p:sp>
      <p:sp>
        <p:nvSpPr>
          <p:cNvPr id="61" name="Text 59"/>
          <p:cNvSpPr/>
          <p:nvPr/>
        </p:nvSpPr>
        <p:spPr>
          <a:xfrm>
            <a:off x="3337560" y="34290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=IFERROR(formula,val)</a:t>
            </a:r>
            <a:endParaRPr lang="en-US" sz="750" dirty="0"/>
          </a:p>
        </p:txBody>
      </p:sp>
      <p:sp>
        <p:nvSpPr>
          <p:cNvPr id="62" name="Shape 60"/>
          <p:cNvSpPr/>
          <p:nvPr/>
        </p:nvSpPr>
        <p:spPr>
          <a:xfrm>
            <a:off x="3246120" y="3602736"/>
            <a:ext cx="54864" cy="173736"/>
          </a:xfrm>
          <a:prstGeom prst="rect">
            <a:avLst/>
          </a:prstGeom>
          <a:solidFill>
            <a:srgbClr val="8B5CF6"/>
          </a:solidFill>
          <a:ln w="12700">
            <a:solidFill>
              <a:srgbClr val="8B5CF6"/>
            </a:solidFill>
            <a:prstDash val="solid"/>
          </a:ln>
        </p:spPr>
      </p:sp>
      <p:sp>
        <p:nvSpPr>
          <p:cNvPr id="63" name="Text 61"/>
          <p:cNvSpPr/>
          <p:nvPr/>
        </p:nvSpPr>
        <p:spPr>
          <a:xfrm>
            <a:off x="3337560" y="36118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=IFNA(formula,val)</a:t>
            </a:r>
            <a:endParaRPr lang="en-US" sz="750" dirty="0"/>
          </a:p>
        </p:txBody>
      </p:sp>
      <p:sp>
        <p:nvSpPr>
          <p:cNvPr id="64" name="Shape 62"/>
          <p:cNvSpPr/>
          <p:nvPr/>
        </p:nvSpPr>
        <p:spPr>
          <a:xfrm>
            <a:off x="6080760" y="1042416"/>
            <a:ext cx="54864" cy="173736"/>
          </a:xfrm>
          <a:prstGeom prst="rect">
            <a:avLst/>
          </a:prstGeom>
          <a:solidFill>
            <a:srgbClr val="8B5CF6"/>
          </a:solidFill>
          <a:ln w="12700">
            <a:solidFill>
              <a:srgbClr val="8B5CF6"/>
            </a:solidFill>
            <a:prstDash val="solid"/>
          </a:ln>
        </p:spPr>
      </p:sp>
      <p:sp>
        <p:nvSpPr>
          <p:cNvPr id="65" name="Text 63"/>
          <p:cNvSpPr/>
          <p:nvPr/>
        </p:nvSpPr>
        <p:spPr>
          <a:xfrm>
            <a:off x="6172200" y="10515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=SWITCH(val,v1,r1,...,def)</a:t>
            </a:r>
            <a:endParaRPr lang="en-US" sz="750" dirty="0"/>
          </a:p>
        </p:txBody>
      </p:sp>
      <p:sp>
        <p:nvSpPr>
          <p:cNvPr id="66" name="Shape 64"/>
          <p:cNvSpPr/>
          <p:nvPr/>
        </p:nvSpPr>
        <p:spPr>
          <a:xfrm>
            <a:off x="6080760" y="1225296"/>
            <a:ext cx="54864" cy="173736"/>
          </a:xfrm>
          <a:prstGeom prst="rect">
            <a:avLst/>
          </a:prstGeom>
          <a:solidFill>
            <a:srgbClr val="8B5CF6"/>
          </a:solidFill>
          <a:ln w="12700">
            <a:solidFill>
              <a:srgbClr val="8B5CF6"/>
            </a:solidFill>
            <a:prstDash val="solid"/>
          </a:ln>
        </p:spPr>
      </p:sp>
      <p:sp>
        <p:nvSpPr>
          <p:cNvPr id="67" name="Text 65"/>
          <p:cNvSpPr/>
          <p:nvPr/>
        </p:nvSpPr>
        <p:spPr>
          <a:xfrm>
            <a:off x="6172200" y="12344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=CHOOSE(idx,v1,v2,v3)</a:t>
            </a:r>
            <a:endParaRPr lang="en-US" sz="750" dirty="0"/>
          </a:p>
        </p:txBody>
      </p:sp>
      <p:sp>
        <p:nvSpPr>
          <p:cNvPr id="68" name="Shape 66"/>
          <p:cNvSpPr/>
          <p:nvPr/>
        </p:nvSpPr>
        <p:spPr>
          <a:xfrm>
            <a:off x="6080760" y="1408176"/>
            <a:ext cx="54864" cy="173736"/>
          </a:xfrm>
          <a:prstGeom prst="rect">
            <a:avLst/>
          </a:prstGeom>
          <a:solidFill>
            <a:srgbClr val="F59E0B"/>
          </a:solidFill>
          <a:ln w="12700">
            <a:solidFill>
              <a:srgbClr val="F59E0B"/>
            </a:solidFill>
            <a:prstDash val="solid"/>
          </a:ln>
        </p:spPr>
      </p:sp>
      <p:sp>
        <p:nvSpPr>
          <p:cNvPr id="69" name="Text 67"/>
          <p:cNvSpPr/>
          <p:nvPr/>
        </p:nvSpPr>
        <p:spPr>
          <a:xfrm>
            <a:off x="6172200" y="14173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=VLOOKUP(v,tbl,col,0)</a:t>
            </a:r>
            <a:endParaRPr lang="en-US" sz="750" dirty="0"/>
          </a:p>
        </p:txBody>
      </p:sp>
      <p:sp>
        <p:nvSpPr>
          <p:cNvPr id="70" name="Shape 68"/>
          <p:cNvSpPr/>
          <p:nvPr/>
        </p:nvSpPr>
        <p:spPr>
          <a:xfrm>
            <a:off x="6080760" y="1591056"/>
            <a:ext cx="54864" cy="173736"/>
          </a:xfrm>
          <a:prstGeom prst="rect">
            <a:avLst/>
          </a:prstGeom>
          <a:solidFill>
            <a:srgbClr val="F59E0B"/>
          </a:solidFill>
          <a:ln w="12700">
            <a:solidFill>
              <a:srgbClr val="F59E0B"/>
            </a:solidFill>
            <a:prstDash val="solid"/>
          </a:ln>
        </p:spPr>
      </p:sp>
      <p:sp>
        <p:nvSpPr>
          <p:cNvPr id="71" name="Text 69"/>
          <p:cNvSpPr/>
          <p:nvPr/>
        </p:nvSpPr>
        <p:spPr>
          <a:xfrm>
            <a:off x="6172200" y="16002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=XLOOKUP(v,lkp,ret,"NF")</a:t>
            </a:r>
            <a:endParaRPr lang="en-US" sz="750" dirty="0"/>
          </a:p>
        </p:txBody>
      </p:sp>
      <p:sp>
        <p:nvSpPr>
          <p:cNvPr id="72" name="Shape 70"/>
          <p:cNvSpPr/>
          <p:nvPr/>
        </p:nvSpPr>
        <p:spPr>
          <a:xfrm>
            <a:off x="6080760" y="1773936"/>
            <a:ext cx="54864" cy="173736"/>
          </a:xfrm>
          <a:prstGeom prst="rect">
            <a:avLst/>
          </a:prstGeom>
          <a:solidFill>
            <a:srgbClr val="F59E0B"/>
          </a:solidFill>
          <a:ln w="12700">
            <a:solidFill>
              <a:srgbClr val="F59E0B"/>
            </a:solidFill>
            <a:prstDash val="solid"/>
          </a:ln>
        </p:spPr>
      </p:sp>
      <p:sp>
        <p:nvSpPr>
          <p:cNvPr id="73" name="Text 71"/>
          <p:cNvSpPr/>
          <p:nvPr/>
        </p:nvSpPr>
        <p:spPr>
          <a:xfrm>
            <a:off x="6172200" y="17830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=INDEX(arr,row,col)</a:t>
            </a:r>
            <a:endParaRPr lang="en-US" sz="750" dirty="0"/>
          </a:p>
        </p:txBody>
      </p:sp>
      <p:sp>
        <p:nvSpPr>
          <p:cNvPr id="74" name="Shape 72"/>
          <p:cNvSpPr/>
          <p:nvPr/>
        </p:nvSpPr>
        <p:spPr>
          <a:xfrm>
            <a:off x="6080760" y="1956816"/>
            <a:ext cx="54864" cy="173736"/>
          </a:xfrm>
          <a:prstGeom prst="rect">
            <a:avLst/>
          </a:prstGeom>
          <a:solidFill>
            <a:srgbClr val="F59E0B"/>
          </a:solidFill>
          <a:ln w="12700">
            <a:solidFill>
              <a:srgbClr val="F59E0B"/>
            </a:solidFill>
            <a:prstDash val="solid"/>
          </a:ln>
        </p:spPr>
      </p:sp>
      <p:sp>
        <p:nvSpPr>
          <p:cNvPr id="75" name="Text 73"/>
          <p:cNvSpPr/>
          <p:nvPr/>
        </p:nvSpPr>
        <p:spPr>
          <a:xfrm>
            <a:off x="6172200" y="19659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=MATCH(v,range,0)</a:t>
            </a:r>
            <a:endParaRPr lang="en-US" sz="750" dirty="0"/>
          </a:p>
        </p:txBody>
      </p:sp>
      <p:sp>
        <p:nvSpPr>
          <p:cNvPr id="76" name="Shape 74"/>
          <p:cNvSpPr/>
          <p:nvPr/>
        </p:nvSpPr>
        <p:spPr>
          <a:xfrm>
            <a:off x="6080760" y="2139696"/>
            <a:ext cx="54864" cy="173736"/>
          </a:xfrm>
          <a:prstGeom prst="rect">
            <a:avLst/>
          </a:prstGeom>
          <a:solidFill>
            <a:srgbClr val="F59E0B"/>
          </a:solidFill>
          <a:ln w="12700">
            <a:solidFill>
              <a:srgbClr val="F59E0B"/>
            </a:solidFill>
            <a:prstDash val="solid"/>
          </a:ln>
        </p:spPr>
      </p:sp>
      <p:sp>
        <p:nvSpPr>
          <p:cNvPr id="77" name="Text 75"/>
          <p:cNvSpPr/>
          <p:nvPr/>
        </p:nvSpPr>
        <p:spPr>
          <a:xfrm>
            <a:off x="6172200" y="21488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=OFFSET(ref,rows,cols)</a:t>
            </a:r>
            <a:endParaRPr lang="en-US" sz="750" dirty="0"/>
          </a:p>
        </p:txBody>
      </p:sp>
      <p:sp>
        <p:nvSpPr>
          <p:cNvPr id="78" name="Shape 76"/>
          <p:cNvSpPr/>
          <p:nvPr/>
        </p:nvSpPr>
        <p:spPr>
          <a:xfrm>
            <a:off x="6080760" y="2322576"/>
            <a:ext cx="54864" cy="173736"/>
          </a:xfrm>
          <a:prstGeom prst="rect">
            <a:avLst/>
          </a:prstGeom>
          <a:solidFill>
            <a:srgbClr val="F59E0B"/>
          </a:solidFill>
          <a:ln w="12700">
            <a:solidFill>
              <a:srgbClr val="F59E0B"/>
            </a:solidFill>
            <a:prstDash val="solid"/>
          </a:ln>
        </p:spPr>
      </p:sp>
      <p:sp>
        <p:nvSpPr>
          <p:cNvPr id="79" name="Text 77"/>
          <p:cNvSpPr/>
          <p:nvPr/>
        </p:nvSpPr>
        <p:spPr>
          <a:xfrm>
            <a:off x="6172200" y="23317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=INDIRECT(text_ref)</a:t>
            </a:r>
            <a:endParaRPr lang="en-US" sz="750" dirty="0"/>
          </a:p>
        </p:txBody>
      </p:sp>
      <p:sp>
        <p:nvSpPr>
          <p:cNvPr id="80" name="Shape 78"/>
          <p:cNvSpPr/>
          <p:nvPr/>
        </p:nvSpPr>
        <p:spPr>
          <a:xfrm>
            <a:off x="6080760" y="2505456"/>
            <a:ext cx="54864" cy="173736"/>
          </a:xfrm>
          <a:prstGeom prst="rect">
            <a:avLst/>
          </a:prstGeom>
          <a:solidFill>
            <a:srgbClr val="06B6D4"/>
          </a:solidFill>
          <a:ln w="12700">
            <a:solidFill>
              <a:srgbClr val="06B6D4"/>
            </a:solidFill>
            <a:prstDash val="solid"/>
          </a:ln>
        </p:spPr>
      </p:sp>
      <p:sp>
        <p:nvSpPr>
          <p:cNvPr id="81" name="Text 79"/>
          <p:cNvSpPr/>
          <p:nvPr/>
        </p:nvSpPr>
        <p:spPr>
          <a:xfrm>
            <a:off x="6172200" y="25146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=LEFT(t,n) =RIGHT(t,n)</a:t>
            </a:r>
            <a:endParaRPr lang="en-US" sz="750" dirty="0"/>
          </a:p>
        </p:txBody>
      </p:sp>
      <p:sp>
        <p:nvSpPr>
          <p:cNvPr id="82" name="Shape 80"/>
          <p:cNvSpPr/>
          <p:nvPr/>
        </p:nvSpPr>
        <p:spPr>
          <a:xfrm>
            <a:off x="6080760" y="2688336"/>
            <a:ext cx="54864" cy="173736"/>
          </a:xfrm>
          <a:prstGeom prst="rect">
            <a:avLst/>
          </a:prstGeom>
          <a:solidFill>
            <a:srgbClr val="06B6D4"/>
          </a:solidFill>
          <a:ln w="12700">
            <a:solidFill>
              <a:srgbClr val="06B6D4"/>
            </a:solidFill>
            <a:prstDash val="solid"/>
          </a:ln>
        </p:spPr>
      </p:sp>
      <p:sp>
        <p:nvSpPr>
          <p:cNvPr id="83" name="Text 81"/>
          <p:cNvSpPr/>
          <p:nvPr/>
        </p:nvSpPr>
        <p:spPr>
          <a:xfrm>
            <a:off x="6172200" y="26974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=MID(t,start,n)</a:t>
            </a:r>
            <a:endParaRPr lang="en-US" sz="750" dirty="0"/>
          </a:p>
        </p:txBody>
      </p:sp>
      <p:sp>
        <p:nvSpPr>
          <p:cNvPr id="84" name="Shape 82"/>
          <p:cNvSpPr/>
          <p:nvPr/>
        </p:nvSpPr>
        <p:spPr>
          <a:xfrm>
            <a:off x="6080760" y="2871216"/>
            <a:ext cx="54864" cy="173736"/>
          </a:xfrm>
          <a:prstGeom prst="rect">
            <a:avLst/>
          </a:prstGeom>
          <a:solidFill>
            <a:srgbClr val="06B6D4"/>
          </a:solidFill>
          <a:ln w="12700">
            <a:solidFill>
              <a:srgbClr val="06B6D4"/>
            </a:solidFill>
            <a:prstDash val="solid"/>
          </a:ln>
        </p:spPr>
      </p:sp>
      <p:sp>
        <p:nvSpPr>
          <p:cNvPr id="85" name="Text 83"/>
          <p:cNvSpPr/>
          <p:nvPr/>
        </p:nvSpPr>
        <p:spPr>
          <a:xfrm>
            <a:off x="6172200" y="28803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=LEN(text)</a:t>
            </a:r>
            <a:endParaRPr lang="en-US" sz="750" dirty="0"/>
          </a:p>
        </p:txBody>
      </p:sp>
      <p:sp>
        <p:nvSpPr>
          <p:cNvPr id="86" name="Shape 84"/>
          <p:cNvSpPr/>
          <p:nvPr/>
        </p:nvSpPr>
        <p:spPr>
          <a:xfrm>
            <a:off x="6080760" y="3054096"/>
            <a:ext cx="54864" cy="173736"/>
          </a:xfrm>
          <a:prstGeom prst="rect">
            <a:avLst/>
          </a:prstGeom>
          <a:solidFill>
            <a:srgbClr val="06B6D4"/>
          </a:solidFill>
          <a:ln w="12700">
            <a:solidFill>
              <a:srgbClr val="06B6D4"/>
            </a:solidFill>
            <a:prstDash val="solid"/>
          </a:ln>
        </p:spPr>
      </p:sp>
      <p:sp>
        <p:nvSpPr>
          <p:cNvPr id="87" name="Text 85"/>
          <p:cNvSpPr/>
          <p:nvPr/>
        </p:nvSpPr>
        <p:spPr>
          <a:xfrm>
            <a:off x="6172200" y="30632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=TRIM(t) =CLEAN(t)</a:t>
            </a:r>
            <a:endParaRPr lang="en-US" sz="750" dirty="0"/>
          </a:p>
        </p:txBody>
      </p:sp>
      <p:sp>
        <p:nvSpPr>
          <p:cNvPr id="88" name="Shape 86"/>
          <p:cNvSpPr/>
          <p:nvPr/>
        </p:nvSpPr>
        <p:spPr>
          <a:xfrm>
            <a:off x="6080760" y="3236976"/>
            <a:ext cx="54864" cy="173736"/>
          </a:xfrm>
          <a:prstGeom prst="rect">
            <a:avLst/>
          </a:prstGeom>
          <a:solidFill>
            <a:srgbClr val="06B6D4"/>
          </a:solidFill>
          <a:ln w="12700">
            <a:solidFill>
              <a:srgbClr val="06B6D4"/>
            </a:solidFill>
            <a:prstDash val="solid"/>
          </a:ln>
        </p:spPr>
      </p:sp>
      <p:sp>
        <p:nvSpPr>
          <p:cNvPr id="89" name="Text 87"/>
          <p:cNvSpPr/>
          <p:nvPr/>
        </p:nvSpPr>
        <p:spPr>
          <a:xfrm>
            <a:off x="6172200" y="32461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=UPPER(t) =LOWER(t) =PROPER(t)</a:t>
            </a:r>
            <a:endParaRPr lang="en-US" sz="750" dirty="0"/>
          </a:p>
        </p:txBody>
      </p:sp>
      <p:sp>
        <p:nvSpPr>
          <p:cNvPr id="90" name="Shape 88"/>
          <p:cNvSpPr/>
          <p:nvPr/>
        </p:nvSpPr>
        <p:spPr>
          <a:xfrm>
            <a:off x="6080760" y="3419856"/>
            <a:ext cx="54864" cy="173736"/>
          </a:xfrm>
          <a:prstGeom prst="rect">
            <a:avLst/>
          </a:prstGeom>
          <a:solidFill>
            <a:srgbClr val="06B6D4"/>
          </a:solidFill>
          <a:ln w="12700">
            <a:solidFill>
              <a:srgbClr val="06B6D4"/>
            </a:solidFill>
            <a:prstDash val="solid"/>
          </a:ln>
        </p:spPr>
      </p:sp>
      <p:sp>
        <p:nvSpPr>
          <p:cNvPr id="91" name="Text 89"/>
          <p:cNvSpPr/>
          <p:nvPr/>
        </p:nvSpPr>
        <p:spPr>
          <a:xfrm>
            <a:off x="6172200" y="34290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=SUBSTITUTE(t,old,new)</a:t>
            </a:r>
            <a:endParaRPr lang="en-US" sz="750" dirty="0"/>
          </a:p>
        </p:txBody>
      </p:sp>
      <p:sp>
        <p:nvSpPr>
          <p:cNvPr id="92" name="Shape 90"/>
          <p:cNvSpPr/>
          <p:nvPr/>
        </p:nvSpPr>
        <p:spPr>
          <a:xfrm>
            <a:off x="6080760" y="3602736"/>
            <a:ext cx="54864" cy="173736"/>
          </a:xfrm>
          <a:prstGeom prst="rect">
            <a:avLst/>
          </a:prstGeom>
          <a:solidFill>
            <a:srgbClr val="06B6D4"/>
          </a:solidFill>
          <a:ln w="12700">
            <a:solidFill>
              <a:srgbClr val="06B6D4"/>
            </a:solidFill>
            <a:prstDash val="solid"/>
          </a:ln>
        </p:spPr>
      </p:sp>
      <p:sp>
        <p:nvSpPr>
          <p:cNvPr id="93" name="Text 91"/>
          <p:cNvSpPr/>
          <p:nvPr/>
        </p:nvSpPr>
        <p:spPr>
          <a:xfrm>
            <a:off x="6172200" y="36118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=TEXT(num,format)</a:t>
            </a:r>
            <a:endParaRPr lang="en-US" sz="750" dirty="0"/>
          </a:p>
        </p:txBody>
      </p:sp>
      <p:sp>
        <p:nvSpPr>
          <p:cNvPr id="94" name="Shape 92"/>
          <p:cNvSpPr/>
          <p:nvPr/>
        </p:nvSpPr>
        <p:spPr>
          <a:xfrm>
            <a:off x="8915400" y="1042416"/>
            <a:ext cx="54864" cy="173736"/>
          </a:xfrm>
          <a:prstGeom prst="rect">
            <a:avLst/>
          </a:prstGeom>
          <a:solidFill>
            <a:srgbClr val="06B6D4"/>
          </a:solidFill>
          <a:ln w="12700">
            <a:solidFill>
              <a:srgbClr val="06B6D4"/>
            </a:solidFill>
            <a:prstDash val="solid"/>
          </a:ln>
        </p:spPr>
      </p:sp>
      <p:sp>
        <p:nvSpPr>
          <p:cNvPr id="95" name="Text 93"/>
          <p:cNvSpPr/>
          <p:nvPr/>
        </p:nvSpPr>
        <p:spPr>
          <a:xfrm>
            <a:off x="9006840" y="10515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=TEXTJOIN(delim,skip,range)</a:t>
            </a:r>
            <a:endParaRPr lang="en-US" sz="750" dirty="0"/>
          </a:p>
        </p:txBody>
      </p:sp>
      <p:sp>
        <p:nvSpPr>
          <p:cNvPr id="96" name="Shape 94"/>
          <p:cNvSpPr/>
          <p:nvPr/>
        </p:nvSpPr>
        <p:spPr>
          <a:xfrm>
            <a:off x="8915400" y="1225296"/>
            <a:ext cx="54864" cy="173736"/>
          </a:xfrm>
          <a:prstGeom prst="rect">
            <a:avLst/>
          </a:prstGeom>
          <a:solidFill>
            <a:srgbClr val="06B6D4"/>
          </a:solidFill>
          <a:ln w="12700">
            <a:solidFill>
              <a:srgbClr val="06B6D4"/>
            </a:solidFill>
            <a:prstDash val="solid"/>
          </a:ln>
        </p:spPr>
      </p:sp>
      <p:sp>
        <p:nvSpPr>
          <p:cNvPr id="97" name="Text 95"/>
          <p:cNvSpPr/>
          <p:nvPr/>
        </p:nvSpPr>
        <p:spPr>
          <a:xfrm>
            <a:off x="9006840" y="12344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=FIND(find,within)</a:t>
            </a:r>
            <a:endParaRPr lang="en-US" sz="750" dirty="0"/>
          </a:p>
        </p:txBody>
      </p:sp>
      <p:sp>
        <p:nvSpPr>
          <p:cNvPr id="98" name="Shape 96"/>
          <p:cNvSpPr/>
          <p:nvPr/>
        </p:nvSpPr>
        <p:spPr>
          <a:xfrm>
            <a:off x="8915400" y="1408176"/>
            <a:ext cx="54864" cy="173736"/>
          </a:xfrm>
          <a:prstGeom prst="rect">
            <a:avLst/>
          </a:prstGeom>
          <a:solidFill>
            <a:srgbClr val="06B6D4"/>
          </a:solidFill>
          <a:ln w="12700">
            <a:solidFill>
              <a:srgbClr val="06B6D4"/>
            </a:solidFill>
            <a:prstDash val="solid"/>
          </a:ln>
        </p:spPr>
      </p:sp>
      <p:sp>
        <p:nvSpPr>
          <p:cNvPr id="99" name="Text 97"/>
          <p:cNvSpPr/>
          <p:nvPr/>
        </p:nvSpPr>
        <p:spPr>
          <a:xfrm>
            <a:off x="9006840" y="14173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=VALUE(text)</a:t>
            </a:r>
            <a:endParaRPr lang="en-US" sz="750" dirty="0"/>
          </a:p>
        </p:txBody>
      </p:sp>
      <p:sp>
        <p:nvSpPr>
          <p:cNvPr id="100" name="Shape 98"/>
          <p:cNvSpPr/>
          <p:nvPr/>
        </p:nvSpPr>
        <p:spPr>
          <a:xfrm>
            <a:off x="8915400" y="1591056"/>
            <a:ext cx="54864" cy="173736"/>
          </a:xfrm>
          <a:prstGeom prst="rect">
            <a:avLst/>
          </a:prstGeom>
          <a:solidFill>
            <a:srgbClr val="F43F5E"/>
          </a:solidFill>
          <a:ln w="12700">
            <a:solidFill>
              <a:srgbClr val="F43F5E"/>
            </a:solidFill>
            <a:prstDash val="solid"/>
          </a:ln>
        </p:spPr>
      </p:sp>
      <p:sp>
        <p:nvSpPr>
          <p:cNvPr id="101" name="Text 99"/>
          <p:cNvSpPr/>
          <p:nvPr/>
        </p:nvSpPr>
        <p:spPr>
          <a:xfrm>
            <a:off x="9006840" y="16002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=TODAY()  =NOW()</a:t>
            </a:r>
            <a:endParaRPr lang="en-US" sz="750" dirty="0"/>
          </a:p>
        </p:txBody>
      </p:sp>
      <p:sp>
        <p:nvSpPr>
          <p:cNvPr id="102" name="Shape 100"/>
          <p:cNvSpPr/>
          <p:nvPr/>
        </p:nvSpPr>
        <p:spPr>
          <a:xfrm>
            <a:off x="8915400" y="1773936"/>
            <a:ext cx="54864" cy="173736"/>
          </a:xfrm>
          <a:prstGeom prst="rect">
            <a:avLst/>
          </a:prstGeom>
          <a:solidFill>
            <a:srgbClr val="F43F5E"/>
          </a:solidFill>
          <a:ln w="12700">
            <a:solidFill>
              <a:srgbClr val="F43F5E"/>
            </a:solidFill>
            <a:prstDash val="solid"/>
          </a:ln>
        </p:spPr>
      </p:sp>
      <p:sp>
        <p:nvSpPr>
          <p:cNvPr id="103" name="Text 101"/>
          <p:cNvSpPr/>
          <p:nvPr/>
        </p:nvSpPr>
        <p:spPr>
          <a:xfrm>
            <a:off x="9006840" y="17830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=DATE(y,m,d)</a:t>
            </a:r>
            <a:endParaRPr lang="en-US" sz="750" dirty="0"/>
          </a:p>
        </p:txBody>
      </p:sp>
      <p:sp>
        <p:nvSpPr>
          <p:cNvPr id="104" name="Shape 102"/>
          <p:cNvSpPr/>
          <p:nvPr/>
        </p:nvSpPr>
        <p:spPr>
          <a:xfrm>
            <a:off x="8915400" y="1956816"/>
            <a:ext cx="54864" cy="173736"/>
          </a:xfrm>
          <a:prstGeom prst="rect">
            <a:avLst/>
          </a:prstGeom>
          <a:solidFill>
            <a:srgbClr val="F43F5E"/>
          </a:solidFill>
          <a:ln w="12700">
            <a:solidFill>
              <a:srgbClr val="F43F5E"/>
            </a:solidFill>
            <a:prstDash val="solid"/>
          </a:ln>
        </p:spPr>
      </p:sp>
      <p:sp>
        <p:nvSpPr>
          <p:cNvPr id="105" name="Text 103"/>
          <p:cNvSpPr/>
          <p:nvPr/>
        </p:nvSpPr>
        <p:spPr>
          <a:xfrm>
            <a:off x="9006840" y="19659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=YEAR(d) =MONTH(d) =DAY(d)</a:t>
            </a:r>
            <a:endParaRPr lang="en-US" sz="750" dirty="0"/>
          </a:p>
        </p:txBody>
      </p:sp>
      <p:sp>
        <p:nvSpPr>
          <p:cNvPr id="106" name="Shape 104"/>
          <p:cNvSpPr/>
          <p:nvPr/>
        </p:nvSpPr>
        <p:spPr>
          <a:xfrm>
            <a:off x="8915400" y="2139696"/>
            <a:ext cx="54864" cy="173736"/>
          </a:xfrm>
          <a:prstGeom prst="rect">
            <a:avLst/>
          </a:prstGeom>
          <a:solidFill>
            <a:srgbClr val="F43F5E"/>
          </a:solidFill>
          <a:ln w="12700">
            <a:solidFill>
              <a:srgbClr val="F43F5E"/>
            </a:solidFill>
            <a:prstDash val="solid"/>
          </a:ln>
        </p:spPr>
      </p:sp>
      <p:sp>
        <p:nvSpPr>
          <p:cNvPr id="107" name="Text 105"/>
          <p:cNvSpPr/>
          <p:nvPr/>
        </p:nvSpPr>
        <p:spPr>
          <a:xfrm>
            <a:off x="9006840" y="21488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=DATEDIF(s,e,unit)</a:t>
            </a:r>
            <a:endParaRPr lang="en-US" sz="750" dirty="0"/>
          </a:p>
        </p:txBody>
      </p:sp>
      <p:sp>
        <p:nvSpPr>
          <p:cNvPr id="108" name="Shape 106"/>
          <p:cNvSpPr/>
          <p:nvPr/>
        </p:nvSpPr>
        <p:spPr>
          <a:xfrm>
            <a:off x="8915400" y="2322576"/>
            <a:ext cx="54864" cy="173736"/>
          </a:xfrm>
          <a:prstGeom prst="rect">
            <a:avLst/>
          </a:prstGeom>
          <a:solidFill>
            <a:srgbClr val="F43F5E"/>
          </a:solidFill>
          <a:ln w="12700">
            <a:solidFill>
              <a:srgbClr val="F43F5E"/>
            </a:solidFill>
            <a:prstDash val="solid"/>
          </a:ln>
        </p:spPr>
      </p:sp>
      <p:sp>
        <p:nvSpPr>
          <p:cNvPr id="109" name="Text 107"/>
          <p:cNvSpPr/>
          <p:nvPr/>
        </p:nvSpPr>
        <p:spPr>
          <a:xfrm>
            <a:off x="9006840" y="23317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=EDATE(d,months)</a:t>
            </a:r>
            <a:endParaRPr lang="en-US" sz="750" dirty="0"/>
          </a:p>
        </p:txBody>
      </p:sp>
      <p:sp>
        <p:nvSpPr>
          <p:cNvPr id="110" name="Shape 108"/>
          <p:cNvSpPr/>
          <p:nvPr/>
        </p:nvSpPr>
        <p:spPr>
          <a:xfrm>
            <a:off x="8915400" y="2505456"/>
            <a:ext cx="54864" cy="173736"/>
          </a:xfrm>
          <a:prstGeom prst="rect">
            <a:avLst/>
          </a:prstGeom>
          <a:solidFill>
            <a:srgbClr val="F43F5E"/>
          </a:solidFill>
          <a:ln w="12700">
            <a:solidFill>
              <a:srgbClr val="F43F5E"/>
            </a:solidFill>
            <a:prstDash val="solid"/>
          </a:ln>
        </p:spPr>
      </p:sp>
      <p:sp>
        <p:nvSpPr>
          <p:cNvPr id="111" name="Text 109"/>
          <p:cNvSpPr/>
          <p:nvPr/>
        </p:nvSpPr>
        <p:spPr>
          <a:xfrm>
            <a:off x="9006840" y="25146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=EOMONTH(d,months)</a:t>
            </a:r>
            <a:endParaRPr lang="en-US" sz="750" dirty="0"/>
          </a:p>
        </p:txBody>
      </p:sp>
      <p:sp>
        <p:nvSpPr>
          <p:cNvPr id="112" name="Shape 110"/>
          <p:cNvSpPr/>
          <p:nvPr/>
        </p:nvSpPr>
        <p:spPr>
          <a:xfrm>
            <a:off x="8915400" y="2688336"/>
            <a:ext cx="54864" cy="173736"/>
          </a:xfrm>
          <a:prstGeom prst="rect">
            <a:avLst/>
          </a:prstGeom>
          <a:solidFill>
            <a:srgbClr val="F43F5E"/>
          </a:solidFill>
          <a:ln w="12700">
            <a:solidFill>
              <a:srgbClr val="F43F5E"/>
            </a:solidFill>
            <a:prstDash val="solid"/>
          </a:ln>
        </p:spPr>
      </p:sp>
      <p:sp>
        <p:nvSpPr>
          <p:cNvPr id="113" name="Text 111"/>
          <p:cNvSpPr/>
          <p:nvPr/>
        </p:nvSpPr>
        <p:spPr>
          <a:xfrm>
            <a:off x="9006840" y="269748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=NETWORKDAYS(s,e)</a:t>
            </a:r>
            <a:endParaRPr lang="en-US" sz="750" dirty="0"/>
          </a:p>
        </p:txBody>
      </p:sp>
      <p:sp>
        <p:nvSpPr>
          <p:cNvPr id="114" name="Shape 112"/>
          <p:cNvSpPr/>
          <p:nvPr/>
        </p:nvSpPr>
        <p:spPr>
          <a:xfrm>
            <a:off x="8915400" y="2871216"/>
            <a:ext cx="54864" cy="173736"/>
          </a:xfrm>
          <a:prstGeom prst="rect">
            <a:avLst/>
          </a:prstGeom>
          <a:solidFill>
            <a:srgbClr val="F43F5E"/>
          </a:solidFill>
          <a:ln w="12700">
            <a:solidFill>
              <a:srgbClr val="F43F5E"/>
            </a:solidFill>
            <a:prstDash val="solid"/>
          </a:ln>
        </p:spPr>
      </p:sp>
      <p:sp>
        <p:nvSpPr>
          <p:cNvPr id="115" name="Text 113"/>
          <p:cNvSpPr/>
          <p:nvPr/>
        </p:nvSpPr>
        <p:spPr>
          <a:xfrm>
            <a:off x="9006840" y="288036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=WEEKDAY(d,2)</a:t>
            </a:r>
            <a:endParaRPr lang="en-US" sz="750" dirty="0"/>
          </a:p>
        </p:txBody>
      </p:sp>
      <p:sp>
        <p:nvSpPr>
          <p:cNvPr id="116" name="Shape 114"/>
          <p:cNvSpPr/>
          <p:nvPr/>
        </p:nvSpPr>
        <p:spPr>
          <a:xfrm>
            <a:off x="8915400" y="3054096"/>
            <a:ext cx="54864" cy="173736"/>
          </a:xfrm>
          <a:prstGeom prst="rect">
            <a:avLst/>
          </a:prstGeom>
          <a:solidFill>
            <a:srgbClr val="EC4899"/>
          </a:solidFill>
          <a:ln w="12700">
            <a:solidFill>
              <a:srgbClr val="EC4899"/>
            </a:solidFill>
            <a:prstDash val="solid"/>
          </a:ln>
        </p:spPr>
      </p:sp>
      <p:sp>
        <p:nvSpPr>
          <p:cNvPr id="117" name="Text 115"/>
          <p:cNvSpPr/>
          <p:nvPr/>
        </p:nvSpPr>
        <p:spPr>
          <a:xfrm>
            <a:off x="9006840" y="306324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=ISBLANK(A1) =ISNUMBER(A1)</a:t>
            </a:r>
            <a:endParaRPr lang="en-US" sz="750" dirty="0"/>
          </a:p>
        </p:txBody>
      </p:sp>
      <p:sp>
        <p:nvSpPr>
          <p:cNvPr id="118" name="Shape 116"/>
          <p:cNvSpPr/>
          <p:nvPr/>
        </p:nvSpPr>
        <p:spPr>
          <a:xfrm>
            <a:off x="8915400" y="3236976"/>
            <a:ext cx="54864" cy="173736"/>
          </a:xfrm>
          <a:prstGeom prst="rect">
            <a:avLst/>
          </a:prstGeom>
          <a:solidFill>
            <a:srgbClr val="EC4899"/>
          </a:solidFill>
          <a:ln w="12700">
            <a:solidFill>
              <a:srgbClr val="EC4899"/>
            </a:solidFill>
            <a:prstDash val="solid"/>
          </a:ln>
        </p:spPr>
      </p:sp>
      <p:sp>
        <p:nvSpPr>
          <p:cNvPr id="119" name="Text 117"/>
          <p:cNvSpPr/>
          <p:nvPr/>
        </p:nvSpPr>
        <p:spPr>
          <a:xfrm>
            <a:off x="9006840" y="324612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=ISTEXT(A1) =ISERROR(A1)</a:t>
            </a:r>
            <a:endParaRPr lang="en-US" sz="750" dirty="0"/>
          </a:p>
        </p:txBody>
      </p:sp>
      <p:sp>
        <p:nvSpPr>
          <p:cNvPr id="120" name="Shape 118"/>
          <p:cNvSpPr/>
          <p:nvPr/>
        </p:nvSpPr>
        <p:spPr>
          <a:xfrm>
            <a:off x="8915400" y="3419856"/>
            <a:ext cx="54864" cy="173736"/>
          </a:xfrm>
          <a:prstGeom prst="rect">
            <a:avLst/>
          </a:prstGeom>
          <a:solidFill>
            <a:srgbClr val="EC4899"/>
          </a:solidFill>
          <a:ln w="12700">
            <a:solidFill>
              <a:srgbClr val="EC4899"/>
            </a:solidFill>
            <a:prstDash val="solid"/>
          </a:ln>
        </p:spPr>
      </p:sp>
      <p:sp>
        <p:nvSpPr>
          <p:cNvPr id="121" name="Text 119"/>
          <p:cNvSpPr/>
          <p:nvPr/>
        </p:nvSpPr>
        <p:spPr>
          <a:xfrm>
            <a:off x="9006840" y="3429000"/>
            <a:ext cx="2706624" cy="164592"/>
          </a:xfrm>
          <a:prstGeom prst="rect">
            <a:avLst/>
          </a:prstGeom>
          <a:noFill/>
          <a:ln/>
        </p:spPr>
        <p:txBody>
          <a:bodyPr wrap="square" lIns="0" tIns="0" rIns="0" bIns="0" rtlCol="0" anchor="ctr"/>
          <a:lstStyle/>
          <a:p>
            <a:pPr indent="0" marL="0">
              <a:buNone/>
            </a:pPr>
            <a:r>
              <a:rPr lang="en-US" sz="750" dirty="0">
                <a:solidFill>
                  <a:srgbClr val="FFFFFF"/>
                </a:solidFill>
                <a:latin typeface="Courier New" pitchFamily="34" charset="0"/>
                <a:ea typeface="Courier New" pitchFamily="34" charset="-122"/>
                <a:cs typeface="Courier New" pitchFamily="34" charset="-120"/>
              </a:rPr>
              <a:t>=ISNA(A1) =ISODD(n)</a:t>
            </a:r>
            <a:endParaRPr lang="en-US" sz="750" dirty="0"/>
          </a:p>
        </p:txBody>
      </p:sp>
      <p:sp>
        <p:nvSpPr>
          <p:cNvPr id="122" name="Shape 120"/>
          <p:cNvSpPr/>
          <p:nvPr/>
        </p:nvSpPr>
        <p:spPr>
          <a:xfrm>
            <a:off x="411480" y="6492240"/>
            <a:ext cx="1591056" cy="256032"/>
          </a:xfrm>
          <a:prstGeom prst="roundRect">
            <a:avLst>
              <a:gd name="adj" fmla="val 14286"/>
            </a:avLst>
          </a:prstGeom>
          <a:solidFill>
            <a:srgbClr val="217346"/>
          </a:solidFill>
          <a:ln w="12700">
            <a:solidFill>
              <a:srgbClr val="217346"/>
            </a:solidFill>
            <a:prstDash val="solid"/>
          </a:ln>
        </p:spPr>
      </p:sp>
      <p:sp>
        <p:nvSpPr>
          <p:cNvPr id="123" name="Text 121"/>
          <p:cNvSpPr/>
          <p:nvPr/>
        </p:nvSpPr>
        <p:spPr>
          <a:xfrm>
            <a:off x="411480"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Math</a:t>
            </a:r>
            <a:endParaRPr lang="en-US" sz="850" dirty="0"/>
          </a:p>
        </p:txBody>
      </p:sp>
      <p:sp>
        <p:nvSpPr>
          <p:cNvPr id="124" name="Shape 122"/>
          <p:cNvSpPr/>
          <p:nvPr/>
        </p:nvSpPr>
        <p:spPr>
          <a:xfrm>
            <a:off x="2075688" y="6492240"/>
            <a:ext cx="1591056" cy="256032"/>
          </a:xfrm>
          <a:prstGeom prst="roundRect">
            <a:avLst>
              <a:gd name="adj" fmla="val 14286"/>
            </a:avLst>
          </a:prstGeom>
          <a:solidFill>
            <a:srgbClr val="3B82F6"/>
          </a:solidFill>
          <a:ln w="12700">
            <a:solidFill>
              <a:srgbClr val="3B82F6"/>
            </a:solidFill>
            <a:prstDash val="solid"/>
          </a:ln>
        </p:spPr>
      </p:sp>
      <p:sp>
        <p:nvSpPr>
          <p:cNvPr id="125" name="Text 123"/>
          <p:cNvSpPr/>
          <p:nvPr/>
        </p:nvSpPr>
        <p:spPr>
          <a:xfrm>
            <a:off x="2075688"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Stats</a:t>
            </a:r>
            <a:endParaRPr lang="en-US" sz="850" dirty="0"/>
          </a:p>
        </p:txBody>
      </p:sp>
      <p:sp>
        <p:nvSpPr>
          <p:cNvPr id="126" name="Shape 124"/>
          <p:cNvSpPr/>
          <p:nvPr/>
        </p:nvSpPr>
        <p:spPr>
          <a:xfrm>
            <a:off x="3739896" y="6492240"/>
            <a:ext cx="1591056" cy="256032"/>
          </a:xfrm>
          <a:prstGeom prst="roundRect">
            <a:avLst>
              <a:gd name="adj" fmla="val 14286"/>
            </a:avLst>
          </a:prstGeom>
          <a:solidFill>
            <a:srgbClr val="8B5CF6"/>
          </a:solidFill>
          <a:ln w="12700">
            <a:solidFill>
              <a:srgbClr val="8B5CF6"/>
            </a:solidFill>
            <a:prstDash val="solid"/>
          </a:ln>
        </p:spPr>
      </p:sp>
      <p:sp>
        <p:nvSpPr>
          <p:cNvPr id="127" name="Text 125"/>
          <p:cNvSpPr/>
          <p:nvPr/>
        </p:nvSpPr>
        <p:spPr>
          <a:xfrm>
            <a:off x="3739896"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Logic</a:t>
            </a:r>
            <a:endParaRPr lang="en-US" sz="850" dirty="0"/>
          </a:p>
        </p:txBody>
      </p:sp>
      <p:sp>
        <p:nvSpPr>
          <p:cNvPr id="128" name="Shape 126"/>
          <p:cNvSpPr/>
          <p:nvPr/>
        </p:nvSpPr>
        <p:spPr>
          <a:xfrm>
            <a:off x="5404104" y="6492240"/>
            <a:ext cx="1591056" cy="256032"/>
          </a:xfrm>
          <a:prstGeom prst="roundRect">
            <a:avLst>
              <a:gd name="adj" fmla="val 14286"/>
            </a:avLst>
          </a:prstGeom>
          <a:solidFill>
            <a:srgbClr val="F59E0B"/>
          </a:solidFill>
          <a:ln w="12700">
            <a:solidFill>
              <a:srgbClr val="F59E0B"/>
            </a:solidFill>
            <a:prstDash val="solid"/>
          </a:ln>
        </p:spPr>
      </p:sp>
      <p:sp>
        <p:nvSpPr>
          <p:cNvPr id="129" name="Text 127"/>
          <p:cNvSpPr/>
          <p:nvPr/>
        </p:nvSpPr>
        <p:spPr>
          <a:xfrm>
            <a:off x="5404104"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Lookup</a:t>
            </a:r>
            <a:endParaRPr lang="en-US" sz="850" dirty="0"/>
          </a:p>
        </p:txBody>
      </p:sp>
      <p:sp>
        <p:nvSpPr>
          <p:cNvPr id="130" name="Shape 128"/>
          <p:cNvSpPr/>
          <p:nvPr/>
        </p:nvSpPr>
        <p:spPr>
          <a:xfrm>
            <a:off x="7068312" y="6492240"/>
            <a:ext cx="1591056" cy="256032"/>
          </a:xfrm>
          <a:prstGeom prst="roundRect">
            <a:avLst>
              <a:gd name="adj" fmla="val 14286"/>
            </a:avLst>
          </a:prstGeom>
          <a:solidFill>
            <a:srgbClr val="06B6D4"/>
          </a:solidFill>
          <a:ln w="12700">
            <a:solidFill>
              <a:srgbClr val="06B6D4"/>
            </a:solidFill>
            <a:prstDash val="solid"/>
          </a:ln>
        </p:spPr>
      </p:sp>
      <p:sp>
        <p:nvSpPr>
          <p:cNvPr id="131" name="Text 129"/>
          <p:cNvSpPr/>
          <p:nvPr/>
        </p:nvSpPr>
        <p:spPr>
          <a:xfrm>
            <a:off x="7068312"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Text</a:t>
            </a:r>
            <a:endParaRPr lang="en-US" sz="850" dirty="0"/>
          </a:p>
        </p:txBody>
      </p:sp>
      <p:sp>
        <p:nvSpPr>
          <p:cNvPr id="132" name="Shape 130"/>
          <p:cNvSpPr/>
          <p:nvPr/>
        </p:nvSpPr>
        <p:spPr>
          <a:xfrm>
            <a:off x="8732520" y="6492240"/>
            <a:ext cx="1591056" cy="256032"/>
          </a:xfrm>
          <a:prstGeom prst="roundRect">
            <a:avLst>
              <a:gd name="adj" fmla="val 14286"/>
            </a:avLst>
          </a:prstGeom>
          <a:solidFill>
            <a:srgbClr val="F43F5E"/>
          </a:solidFill>
          <a:ln w="12700">
            <a:solidFill>
              <a:srgbClr val="F43F5E"/>
            </a:solidFill>
            <a:prstDash val="solid"/>
          </a:ln>
        </p:spPr>
      </p:sp>
      <p:sp>
        <p:nvSpPr>
          <p:cNvPr id="133" name="Text 131"/>
          <p:cNvSpPr/>
          <p:nvPr/>
        </p:nvSpPr>
        <p:spPr>
          <a:xfrm>
            <a:off x="8732520"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Date</a:t>
            </a:r>
            <a:endParaRPr lang="en-US" sz="850" dirty="0"/>
          </a:p>
        </p:txBody>
      </p:sp>
      <p:sp>
        <p:nvSpPr>
          <p:cNvPr id="134" name="Shape 132"/>
          <p:cNvSpPr/>
          <p:nvPr/>
        </p:nvSpPr>
        <p:spPr>
          <a:xfrm>
            <a:off x="10396728" y="6492240"/>
            <a:ext cx="1591056" cy="256032"/>
          </a:xfrm>
          <a:prstGeom prst="roundRect">
            <a:avLst>
              <a:gd name="adj" fmla="val 14286"/>
            </a:avLst>
          </a:prstGeom>
          <a:solidFill>
            <a:srgbClr val="EC4899"/>
          </a:solidFill>
          <a:ln w="12700">
            <a:solidFill>
              <a:srgbClr val="EC4899"/>
            </a:solidFill>
            <a:prstDash val="solid"/>
          </a:ln>
        </p:spPr>
      </p:sp>
      <p:sp>
        <p:nvSpPr>
          <p:cNvPr id="135" name="Text 133"/>
          <p:cNvSpPr/>
          <p:nvPr/>
        </p:nvSpPr>
        <p:spPr>
          <a:xfrm>
            <a:off x="10396728" y="6492240"/>
            <a:ext cx="159105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Info</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60A14"/>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185C38"/>
          </a:solidFill>
          <a:ln w="12700">
            <a:solidFill>
              <a:srgbClr val="185C38"/>
            </a:solidFill>
            <a:prstDash val="solid"/>
          </a:ln>
        </p:spPr>
      </p:sp>
      <p:sp>
        <p:nvSpPr>
          <p:cNvPr id="3" name="Shape 1"/>
          <p:cNvSpPr/>
          <p:nvPr/>
        </p:nvSpPr>
        <p:spPr>
          <a:xfrm>
            <a:off x="402336" y="402336"/>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4" name="Shape 2"/>
          <p:cNvSpPr/>
          <p:nvPr/>
        </p:nvSpPr>
        <p:spPr>
          <a:xfrm>
            <a:off x="2377440" y="402336"/>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5" name="Shape 3"/>
          <p:cNvSpPr/>
          <p:nvPr/>
        </p:nvSpPr>
        <p:spPr>
          <a:xfrm>
            <a:off x="402336" y="2377440"/>
            <a:ext cx="1773936" cy="1773936"/>
          </a:xfrm>
          <a:prstGeom prst="roundRect">
            <a:avLst>
              <a:gd name="adj" fmla="val 7216"/>
            </a:avLst>
          </a:prstGeom>
          <a:solidFill>
            <a:srgbClr val="70AD47"/>
          </a:solidFill>
          <a:ln w="12700">
            <a:solidFill>
              <a:srgbClr val="70AD47"/>
            </a:solidFill>
            <a:prstDash val="solid"/>
          </a:ln>
          <a:effectLst>
            <a:outerShdw sx="100000" sy="100000" kx="0" ky="0" algn="bl" rotWithShape="0" blurRad="127000" dist="50800" dir="2700000">
              <a:srgbClr val="000000">
                <a:alpha val="20000"/>
              </a:srgbClr>
            </a:outerShdw>
          </a:effectLst>
        </p:spPr>
      </p:sp>
      <p:sp>
        <p:nvSpPr>
          <p:cNvPr id="6" name="Shape 4"/>
          <p:cNvSpPr/>
          <p:nvPr/>
        </p:nvSpPr>
        <p:spPr>
          <a:xfrm>
            <a:off x="2377440" y="2377440"/>
            <a:ext cx="1773936" cy="1773936"/>
          </a:xfrm>
          <a:prstGeom prst="roundRect">
            <a:avLst>
              <a:gd name="adj" fmla="val 7216"/>
            </a:avLst>
          </a:prstGeom>
          <a:solidFill>
            <a:srgbClr val="217346"/>
          </a:solidFill>
          <a:ln w="12700">
            <a:solidFill>
              <a:srgbClr val="217346"/>
            </a:solidFill>
            <a:prstDash val="solid"/>
          </a:ln>
          <a:effectLst>
            <a:outerShdw sx="100000" sy="100000" kx="0" ky="0" algn="bl" rotWithShape="0" blurRad="127000" dist="50800" dir="2700000">
              <a:srgbClr val="000000">
                <a:alpha val="20000"/>
              </a:srgbClr>
            </a:outerShdw>
          </a:effectLst>
        </p:spPr>
      </p:sp>
      <p:sp>
        <p:nvSpPr>
          <p:cNvPr id="7" name="Text 5"/>
          <p:cNvSpPr/>
          <p:nvPr/>
        </p:nvSpPr>
        <p:spPr>
          <a:xfrm>
            <a:off x="402336" y="402336"/>
            <a:ext cx="3749040" cy="3749040"/>
          </a:xfrm>
          <a:prstGeom prst="rect">
            <a:avLst/>
          </a:prstGeom>
          <a:noFill/>
          <a:ln/>
        </p:spPr>
        <p:txBody>
          <a:bodyPr wrap="square" lIns="0" tIns="0" rIns="0" bIns="0" rtlCol="0" anchor="ctr"/>
          <a:lstStyle/>
          <a:p>
            <a:pPr algn="ctr" indent="0" marL="0">
              <a:buNone/>
            </a:pPr>
            <a:r>
              <a:rPr lang="en-US" sz="8800" b="1" dirty="0">
                <a:solidFill>
                  <a:srgbClr val="FFFFFF"/>
                </a:solidFill>
                <a:latin typeface="Courier New" pitchFamily="34" charset="0"/>
                <a:ea typeface="Courier New" pitchFamily="34" charset="-122"/>
                <a:cs typeface="Courier New" pitchFamily="34" charset="-120"/>
              </a:rPr>
              <a:t>fx</a:t>
            </a:r>
            <a:endParaRPr lang="en-US" sz="8800" dirty="0"/>
          </a:p>
        </p:txBody>
      </p:sp>
      <p:sp>
        <p:nvSpPr>
          <p:cNvPr id="8" name="Shape 6"/>
          <p:cNvSpPr/>
          <p:nvPr/>
        </p:nvSpPr>
        <p:spPr>
          <a:xfrm>
            <a:off x="0" y="4370832"/>
            <a:ext cx="4937760" cy="2487168"/>
          </a:xfrm>
          <a:prstGeom prst="rect">
            <a:avLst/>
          </a:prstGeom>
          <a:solidFill>
            <a:srgbClr val="0A1E12"/>
          </a:solidFill>
          <a:ln w="12700">
            <a:solidFill>
              <a:srgbClr val="0A1E12"/>
            </a:solidFill>
            <a:prstDash val="solid"/>
          </a:ln>
        </p:spPr>
      </p:sp>
      <p:sp>
        <p:nvSpPr>
          <p:cNvPr id="9" name="Text 7"/>
          <p:cNvSpPr/>
          <p:nvPr/>
        </p:nvSpPr>
        <p:spPr>
          <a:xfrm>
            <a:off x="274320" y="4480560"/>
            <a:ext cx="4480560" cy="82296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Master 10 functions and you can solve 80% of Excel problems.</a:t>
            </a:r>
            <a:endParaRPr lang="en-US" sz="1100" dirty="0"/>
          </a:p>
        </p:txBody>
      </p:sp>
      <p:sp>
        <p:nvSpPr>
          <p:cNvPr id="10" name="Text 8"/>
          <p:cNvSpPr/>
          <p:nvPr/>
        </p:nvSpPr>
        <p:spPr>
          <a:xfrm>
            <a:off x="274320" y="5431536"/>
            <a:ext cx="44805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Kajola Gbenga Adewale</a:t>
            </a:r>
            <a:endParaRPr lang="en-US" sz="1400" dirty="0"/>
          </a:p>
        </p:txBody>
      </p:sp>
      <p:sp>
        <p:nvSpPr>
          <p:cNvPr id="11" name="Text 9"/>
          <p:cNvSpPr/>
          <p:nvPr/>
        </p:nvSpPr>
        <p:spPr>
          <a:xfrm>
            <a:off x="274320" y="5870448"/>
            <a:ext cx="448056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2" name="Text 10"/>
          <p:cNvSpPr/>
          <p:nvPr/>
        </p:nvSpPr>
        <p:spPr>
          <a:xfrm>
            <a:off x="5074920" y="457200"/>
            <a:ext cx="68580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Excel Functions</a:t>
            </a:r>
            <a:endParaRPr lang="en-US" sz="4600" dirty="0"/>
          </a:p>
        </p:txBody>
      </p:sp>
      <p:sp>
        <p:nvSpPr>
          <p:cNvPr id="13" name="Text 11"/>
          <p:cNvSpPr/>
          <p:nvPr/>
        </p:nvSpPr>
        <p:spPr>
          <a:xfrm>
            <a:off x="5074920" y="1536192"/>
            <a:ext cx="6858000" cy="585216"/>
          </a:xfrm>
          <a:prstGeom prst="rect">
            <a:avLst/>
          </a:prstGeom>
          <a:noFill/>
          <a:ln/>
        </p:spPr>
        <p:txBody>
          <a:bodyPr wrap="square" lIns="0" tIns="0" rIns="0" bIns="0" rtlCol="0" anchor="ctr"/>
          <a:lstStyle/>
          <a:p>
            <a:pPr indent="0" marL="0">
              <a:buNone/>
            </a:pPr>
            <a:r>
              <a:rPr lang="en-US" sz="2400" b="1" dirty="0">
                <a:solidFill>
                  <a:srgbClr val="70AD47"/>
                </a:solidFill>
                <a:latin typeface="Cambria" pitchFamily="34" charset="0"/>
                <a:ea typeface="Cambria" pitchFamily="34" charset="-122"/>
                <a:cs typeface="Cambria" pitchFamily="34" charset="-120"/>
              </a:rPr>
              <a:t>Complete Reference</a:t>
            </a:r>
            <a:endParaRPr lang="en-US" sz="2400" dirty="0"/>
          </a:p>
        </p:txBody>
      </p:sp>
      <p:sp>
        <p:nvSpPr>
          <p:cNvPr id="14" name="Shape 12"/>
          <p:cNvSpPr/>
          <p:nvPr/>
        </p:nvSpPr>
        <p:spPr>
          <a:xfrm>
            <a:off x="5074920" y="2231136"/>
            <a:ext cx="6766560" cy="36576"/>
          </a:xfrm>
          <a:prstGeom prst="rect">
            <a:avLst/>
          </a:prstGeom>
          <a:solidFill>
            <a:srgbClr val="217346"/>
          </a:solidFill>
          <a:ln w="12700">
            <a:solidFill>
              <a:srgbClr val="217346"/>
            </a:solidFill>
            <a:prstDash val="solid"/>
          </a:ln>
        </p:spPr>
      </p:sp>
      <p:sp>
        <p:nvSpPr>
          <p:cNvPr id="15" name="Text 13"/>
          <p:cNvSpPr/>
          <p:nvPr/>
        </p:nvSpPr>
        <p:spPr>
          <a:xfrm>
            <a:off x="5074920" y="2359152"/>
            <a:ext cx="6766560"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11 Categories covered:</a:t>
            </a:r>
            <a:endParaRPr lang="en-US" sz="1200" dirty="0"/>
          </a:p>
        </p:txBody>
      </p:sp>
      <p:sp>
        <p:nvSpPr>
          <p:cNvPr id="16" name="Shape 14"/>
          <p:cNvSpPr/>
          <p:nvPr/>
        </p:nvSpPr>
        <p:spPr>
          <a:xfrm>
            <a:off x="5074920" y="2706624"/>
            <a:ext cx="1645920" cy="438912"/>
          </a:xfrm>
          <a:prstGeom prst="roundRect">
            <a:avLst>
              <a:gd name="adj" fmla="val 14583"/>
            </a:avLst>
          </a:prstGeom>
          <a:solidFill>
            <a:srgbClr val="217346"/>
          </a:solidFill>
          <a:ln w="12700">
            <a:solidFill>
              <a:srgbClr val="217346"/>
            </a:solidFill>
            <a:prstDash val="solid"/>
          </a:ln>
        </p:spPr>
      </p:sp>
      <p:sp>
        <p:nvSpPr>
          <p:cNvPr id="17" name="Text 15"/>
          <p:cNvSpPr/>
          <p:nvPr/>
        </p:nvSpPr>
        <p:spPr>
          <a:xfrm>
            <a:off x="5074920" y="2706624"/>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Math and Trig</a:t>
            </a:r>
            <a:endParaRPr lang="en-US" sz="900" dirty="0"/>
          </a:p>
        </p:txBody>
      </p:sp>
      <p:sp>
        <p:nvSpPr>
          <p:cNvPr id="18" name="Shape 16"/>
          <p:cNvSpPr/>
          <p:nvPr/>
        </p:nvSpPr>
        <p:spPr>
          <a:xfrm>
            <a:off x="6793992" y="2706624"/>
            <a:ext cx="1645920" cy="438912"/>
          </a:xfrm>
          <a:prstGeom prst="roundRect">
            <a:avLst>
              <a:gd name="adj" fmla="val 14583"/>
            </a:avLst>
          </a:prstGeom>
          <a:solidFill>
            <a:srgbClr val="3B82F6"/>
          </a:solidFill>
          <a:ln w="12700">
            <a:solidFill>
              <a:srgbClr val="3B82F6"/>
            </a:solidFill>
            <a:prstDash val="solid"/>
          </a:ln>
        </p:spPr>
      </p:sp>
      <p:sp>
        <p:nvSpPr>
          <p:cNvPr id="19" name="Text 17"/>
          <p:cNvSpPr/>
          <p:nvPr/>
        </p:nvSpPr>
        <p:spPr>
          <a:xfrm>
            <a:off x="6793992" y="2706624"/>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Statistical</a:t>
            </a:r>
            <a:endParaRPr lang="en-US" sz="900" dirty="0"/>
          </a:p>
        </p:txBody>
      </p:sp>
      <p:sp>
        <p:nvSpPr>
          <p:cNvPr id="20" name="Shape 18"/>
          <p:cNvSpPr/>
          <p:nvPr/>
        </p:nvSpPr>
        <p:spPr>
          <a:xfrm>
            <a:off x="8513064" y="2706624"/>
            <a:ext cx="1645920" cy="438912"/>
          </a:xfrm>
          <a:prstGeom prst="roundRect">
            <a:avLst>
              <a:gd name="adj" fmla="val 14583"/>
            </a:avLst>
          </a:prstGeom>
          <a:solidFill>
            <a:srgbClr val="8B5CF6"/>
          </a:solidFill>
          <a:ln w="12700">
            <a:solidFill>
              <a:srgbClr val="8B5CF6"/>
            </a:solidFill>
            <a:prstDash val="solid"/>
          </a:ln>
        </p:spPr>
      </p:sp>
      <p:sp>
        <p:nvSpPr>
          <p:cNvPr id="21" name="Text 19"/>
          <p:cNvSpPr/>
          <p:nvPr/>
        </p:nvSpPr>
        <p:spPr>
          <a:xfrm>
            <a:off x="8513064" y="2706624"/>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Logical</a:t>
            </a:r>
            <a:endParaRPr lang="en-US" sz="900" dirty="0"/>
          </a:p>
        </p:txBody>
      </p:sp>
      <p:sp>
        <p:nvSpPr>
          <p:cNvPr id="22" name="Shape 20"/>
          <p:cNvSpPr/>
          <p:nvPr/>
        </p:nvSpPr>
        <p:spPr>
          <a:xfrm>
            <a:off x="10232136" y="2706624"/>
            <a:ext cx="1645920" cy="438912"/>
          </a:xfrm>
          <a:prstGeom prst="roundRect">
            <a:avLst>
              <a:gd name="adj" fmla="val 14583"/>
            </a:avLst>
          </a:prstGeom>
          <a:solidFill>
            <a:srgbClr val="F59E0B"/>
          </a:solidFill>
          <a:ln w="12700">
            <a:solidFill>
              <a:srgbClr val="F59E0B"/>
            </a:solidFill>
            <a:prstDash val="solid"/>
          </a:ln>
        </p:spPr>
      </p:sp>
      <p:sp>
        <p:nvSpPr>
          <p:cNvPr id="23" name="Text 21"/>
          <p:cNvSpPr/>
          <p:nvPr/>
        </p:nvSpPr>
        <p:spPr>
          <a:xfrm>
            <a:off x="10232136" y="2706624"/>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Lookup and Ref</a:t>
            </a:r>
            <a:endParaRPr lang="en-US" sz="900" dirty="0"/>
          </a:p>
        </p:txBody>
      </p:sp>
      <p:sp>
        <p:nvSpPr>
          <p:cNvPr id="24" name="Shape 22"/>
          <p:cNvSpPr/>
          <p:nvPr/>
        </p:nvSpPr>
        <p:spPr>
          <a:xfrm>
            <a:off x="5074920" y="3200400"/>
            <a:ext cx="1645920" cy="438912"/>
          </a:xfrm>
          <a:prstGeom prst="roundRect">
            <a:avLst>
              <a:gd name="adj" fmla="val 14583"/>
            </a:avLst>
          </a:prstGeom>
          <a:solidFill>
            <a:srgbClr val="06B6D4"/>
          </a:solidFill>
          <a:ln w="12700">
            <a:solidFill>
              <a:srgbClr val="06B6D4"/>
            </a:solidFill>
            <a:prstDash val="solid"/>
          </a:ln>
        </p:spPr>
      </p:sp>
      <p:sp>
        <p:nvSpPr>
          <p:cNvPr id="25" name="Text 23"/>
          <p:cNvSpPr/>
          <p:nvPr/>
        </p:nvSpPr>
        <p:spPr>
          <a:xfrm>
            <a:off x="5074920" y="3200400"/>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Text Functions</a:t>
            </a:r>
            <a:endParaRPr lang="en-US" sz="900" dirty="0"/>
          </a:p>
        </p:txBody>
      </p:sp>
      <p:sp>
        <p:nvSpPr>
          <p:cNvPr id="26" name="Shape 24"/>
          <p:cNvSpPr/>
          <p:nvPr/>
        </p:nvSpPr>
        <p:spPr>
          <a:xfrm>
            <a:off x="6793992" y="3200400"/>
            <a:ext cx="1645920" cy="438912"/>
          </a:xfrm>
          <a:prstGeom prst="roundRect">
            <a:avLst>
              <a:gd name="adj" fmla="val 14583"/>
            </a:avLst>
          </a:prstGeom>
          <a:solidFill>
            <a:srgbClr val="F43F5E"/>
          </a:solidFill>
          <a:ln w="12700">
            <a:solidFill>
              <a:srgbClr val="F43F5E"/>
            </a:solidFill>
            <a:prstDash val="solid"/>
          </a:ln>
        </p:spPr>
      </p:sp>
      <p:sp>
        <p:nvSpPr>
          <p:cNvPr id="27" name="Text 25"/>
          <p:cNvSpPr/>
          <p:nvPr/>
        </p:nvSpPr>
        <p:spPr>
          <a:xfrm>
            <a:off x="6793992" y="3200400"/>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Date and Time</a:t>
            </a:r>
            <a:endParaRPr lang="en-US" sz="900" dirty="0"/>
          </a:p>
        </p:txBody>
      </p:sp>
      <p:sp>
        <p:nvSpPr>
          <p:cNvPr id="28" name="Shape 26"/>
          <p:cNvSpPr/>
          <p:nvPr/>
        </p:nvSpPr>
        <p:spPr>
          <a:xfrm>
            <a:off x="8513064" y="3200400"/>
            <a:ext cx="1645920" cy="438912"/>
          </a:xfrm>
          <a:prstGeom prst="roundRect">
            <a:avLst>
              <a:gd name="adj" fmla="val 14583"/>
            </a:avLst>
          </a:prstGeom>
          <a:solidFill>
            <a:srgbClr val="EC4899"/>
          </a:solidFill>
          <a:ln w="12700">
            <a:solidFill>
              <a:srgbClr val="EC4899"/>
            </a:solidFill>
            <a:prstDash val="solid"/>
          </a:ln>
        </p:spPr>
      </p:sp>
      <p:sp>
        <p:nvSpPr>
          <p:cNvPr id="29" name="Text 27"/>
          <p:cNvSpPr/>
          <p:nvPr/>
        </p:nvSpPr>
        <p:spPr>
          <a:xfrm>
            <a:off x="8513064" y="3200400"/>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Information</a:t>
            </a:r>
            <a:endParaRPr lang="en-US" sz="900" dirty="0"/>
          </a:p>
        </p:txBody>
      </p:sp>
      <p:sp>
        <p:nvSpPr>
          <p:cNvPr id="30" name="Shape 28"/>
          <p:cNvSpPr/>
          <p:nvPr/>
        </p:nvSpPr>
        <p:spPr>
          <a:xfrm>
            <a:off x="10232136" y="3200400"/>
            <a:ext cx="1645920" cy="438912"/>
          </a:xfrm>
          <a:prstGeom prst="roundRect">
            <a:avLst>
              <a:gd name="adj" fmla="val 14583"/>
            </a:avLst>
          </a:prstGeom>
          <a:solidFill>
            <a:srgbClr val="EAB308"/>
          </a:solidFill>
          <a:ln w="12700">
            <a:solidFill>
              <a:srgbClr val="EAB308"/>
            </a:solidFill>
            <a:prstDash val="solid"/>
          </a:ln>
        </p:spPr>
      </p:sp>
      <p:sp>
        <p:nvSpPr>
          <p:cNvPr id="31" name="Text 29"/>
          <p:cNvSpPr/>
          <p:nvPr/>
        </p:nvSpPr>
        <p:spPr>
          <a:xfrm>
            <a:off x="10232136" y="3200400"/>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Financial</a:t>
            </a:r>
            <a:endParaRPr lang="en-US" sz="900" dirty="0"/>
          </a:p>
        </p:txBody>
      </p:sp>
      <p:sp>
        <p:nvSpPr>
          <p:cNvPr id="32" name="Shape 30"/>
          <p:cNvSpPr/>
          <p:nvPr/>
        </p:nvSpPr>
        <p:spPr>
          <a:xfrm>
            <a:off x="5074920" y="3694176"/>
            <a:ext cx="1645920" cy="438912"/>
          </a:xfrm>
          <a:prstGeom prst="roundRect">
            <a:avLst>
              <a:gd name="adj" fmla="val 14583"/>
            </a:avLst>
          </a:prstGeom>
          <a:solidFill>
            <a:srgbClr val="22D3EE"/>
          </a:solidFill>
          <a:ln w="12700">
            <a:solidFill>
              <a:srgbClr val="22D3EE"/>
            </a:solidFill>
            <a:prstDash val="solid"/>
          </a:ln>
        </p:spPr>
      </p:sp>
      <p:sp>
        <p:nvSpPr>
          <p:cNvPr id="33" name="Text 31"/>
          <p:cNvSpPr/>
          <p:nvPr/>
        </p:nvSpPr>
        <p:spPr>
          <a:xfrm>
            <a:off x="5074920" y="3694176"/>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Array (365)</a:t>
            </a:r>
            <a:endParaRPr lang="en-US" sz="900" dirty="0"/>
          </a:p>
        </p:txBody>
      </p:sp>
      <p:sp>
        <p:nvSpPr>
          <p:cNvPr id="34" name="Shape 32"/>
          <p:cNvSpPr/>
          <p:nvPr/>
        </p:nvSpPr>
        <p:spPr>
          <a:xfrm>
            <a:off x="6793992" y="3694176"/>
            <a:ext cx="1645920" cy="438912"/>
          </a:xfrm>
          <a:prstGeom prst="roundRect">
            <a:avLst>
              <a:gd name="adj" fmla="val 14583"/>
            </a:avLst>
          </a:prstGeom>
          <a:solidFill>
            <a:srgbClr val="3B82F6"/>
          </a:solidFill>
          <a:ln w="12700">
            <a:solidFill>
              <a:srgbClr val="3B82F6"/>
            </a:solidFill>
            <a:prstDash val="solid"/>
          </a:ln>
        </p:spPr>
      </p:sp>
      <p:sp>
        <p:nvSpPr>
          <p:cNvPr id="35" name="Text 33"/>
          <p:cNvSpPr/>
          <p:nvPr/>
        </p:nvSpPr>
        <p:spPr>
          <a:xfrm>
            <a:off x="6793992" y="3694176"/>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Adv Statistical</a:t>
            </a:r>
            <a:endParaRPr lang="en-US" sz="900" dirty="0"/>
          </a:p>
        </p:txBody>
      </p:sp>
      <p:sp>
        <p:nvSpPr>
          <p:cNvPr id="36" name="Shape 34"/>
          <p:cNvSpPr/>
          <p:nvPr/>
        </p:nvSpPr>
        <p:spPr>
          <a:xfrm>
            <a:off x="8513064" y="3694176"/>
            <a:ext cx="1645920" cy="438912"/>
          </a:xfrm>
          <a:prstGeom prst="roundRect">
            <a:avLst>
              <a:gd name="adj" fmla="val 14583"/>
            </a:avLst>
          </a:prstGeom>
          <a:solidFill>
            <a:srgbClr val="A855F7"/>
          </a:solidFill>
          <a:ln w="12700">
            <a:solidFill>
              <a:srgbClr val="A855F7"/>
            </a:solidFill>
            <a:prstDash val="solid"/>
          </a:ln>
        </p:spPr>
      </p:sp>
      <p:sp>
        <p:nvSpPr>
          <p:cNvPr id="37" name="Text 35"/>
          <p:cNvSpPr/>
          <p:nvPr/>
        </p:nvSpPr>
        <p:spPr>
          <a:xfrm>
            <a:off x="8513064" y="3694176"/>
            <a:ext cx="1645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Database</a:t>
            </a:r>
            <a:endParaRPr lang="en-US" sz="900" dirty="0"/>
          </a:p>
        </p:txBody>
      </p:sp>
      <p:sp>
        <p:nvSpPr>
          <p:cNvPr id="38" name="Text 36"/>
          <p:cNvSpPr/>
          <p:nvPr/>
        </p:nvSpPr>
        <p:spPr>
          <a:xfrm>
            <a:off x="5074920" y="4736592"/>
            <a:ext cx="6766560" cy="274320"/>
          </a:xfrm>
          <a:prstGeom prst="rect">
            <a:avLst/>
          </a:prstGeom>
          <a:noFill/>
          <a:ln/>
        </p:spPr>
        <p:txBody>
          <a:bodyPr wrap="square" lIns="0" tIns="0" rIns="0" bIns="0" rtlCol="0" anchor="ctr"/>
          <a:lstStyle/>
          <a:p>
            <a:pPr indent="0" marL="0">
              <a:buNone/>
            </a:pPr>
            <a:r>
              <a:rPr lang="en-US" sz="1100" b="1" dirty="0">
                <a:solidFill>
                  <a:srgbClr val="F59E0B"/>
                </a:solidFill>
                <a:latin typeface="Cambria" pitchFamily="34" charset="0"/>
                <a:ea typeface="Cambria" pitchFamily="34" charset="-122"/>
                <a:cs typeface="Cambria" pitchFamily="34" charset="-120"/>
              </a:rPr>
              <a:t>The 10 Functions That Solve 80% of Problems:</a:t>
            </a:r>
            <a:endParaRPr lang="en-US" sz="1100" dirty="0"/>
          </a:p>
        </p:txBody>
      </p:sp>
      <p:sp>
        <p:nvSpPr>
          <p:cNvPr id="39" name="Shape 37"/>
          <p:cNvSpPr/>
          <p:nvPr/>
        </p:nvSpPr>
        <p:spPr>
          <a:xfrm>
            <a:off x="5074920" y="5065776"/>
            <a:ext cx="1298448" cy="384048"/>
          </a:xfrm>
          <a:prstGeom prst="roundRect">
            <a:avLst>
              <a:gd name="adj" fmla="val 14286"/>
            </a:avLst>
          </a:prstGeom>
          <a:solidFill>
            <a:srgbClr val="111E35"/>
          </a:solidFill>
          <a:ln w="10160">
            <a:solidFill>
              <a:srgbClr val="217346"/>
            </a:solidFill>
            <a:prstDash val="solid"/>
          </a:ln>
        </p:spPr>
      </p:sp>
      <p:sp>
        <p:nvSpPr>
          <p:cNvPr id="40" name="Text 38"/>
          <p:cNvSpPr/>
          <p:nvPr/>
        </p:nvSpPr>
        <p:spPr>
          <a:xfrm>
            <a:off x="5074920" y="50657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=SUM</a:t>
            </a:r>
            <a:endParaRPr lang="en-US" sz="850" dirty="0"/>
          </a:p>
        </p:txBody>
      </p:sp>
      <p:sp>
        <p:nvSpPr>
          <p:cNvPr id="41" name="Shape 39"/>
          <p:cNvSpPr/>
          <p:nvPr/>
        </p:nvSpPr>
        <p:spPr>
          <a:xfrm>
            <a:off x="6446520" y="5065776"/>
            <a:ext cx="1298448" cy="384048"/>
          </a:xfrm>
          <a:prstGeom prst="roundRect">
            <a:avLst>
              <a:gd name="adj" fmla="val 14286"/>
            </a:avLst>
          </a:prstGeom>
          <a:solidFill>
            <a:srgbClr val="111E35"/>
          </a:solidFill>
          <a:ln w="10160">
            <a:solidFill>
              <a:srgbClr val="217346"/>
            </a:solidFill>
            <a:prstDash val="solid"/>
          </a:ln>
        </p:spPr>
      </p:sp>
      <p:sp>
        <p:nvSpPr>
          <p:cNvPr id="42" name="Text 40"/>
          <p:cNvSpPr/>
          <p:nvPr/>
        </p:nvSpPr>
        <p:spPr>
          <a:xfrm>
            <a:off x="6446520" y="50657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=SUMIFS</a:t>
            </a:r>
            <a:endParaRPr lang="en-US" sz="850" dirty="0"/>
          </a:p>
        </p:txBody>
      </p:sp>
      <p:sp>
        <p:nvSpPr>
          <p:cNvPr id="43" name="Shape 41"/>
          <p:cNvSpPr/>
          <p:nvPr/>
        </p:nvSpPr>
        <p:spPr>
          <a:xfrm>
            <a:off x="7818120" y="5065776"/>
            <a:ext cx="1298448" cy="384048"/>
          </a:xfrm>
          <a:prstGeom prst="roundRect">
            <a:avLst>
              <a:gd name="adj" fmla="val 14286"/>
            </a:avLst>
          </a:prstGeom>
          <a:solidFill>
            <a:srgbClr val="111E35"/>
          </a:solidFill>
          <a:ln w="10160">
            <a:solidFill>
              <a:srgbClr val="217346"/>
            </a:solidFill>
            <a:prstDash val="solid"/>
          </a:ln>
        </p:spPr>
      </p:sp>
      <p:sp>
        <p:nvSpPr>
          <p:cNvPr id="44" name="Text 42"/>
          <p:cNvSpPr/>
          <p:nvPr/>
        </p:nvSpPr>
        <p:spPr>
          <a:xfrm>
            <a:off x="7818120" y="50657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=IF</a:t>
            </a:r>
            <a:endParaRPr lang="en-US" sz="850" dirty="0"/>
          </a:p>
        </p:txBody>
      </p:sp>
      <p:sp>
        <p:nvSpPr>
          <p:cNvPr id="45" name="Shape 43"/>
          <p:cNvSpPr/>
          <p:nvPr/>
        </p:nvSpPr>
        <p:spPr>
          <a:xfrm>
            <a:off x="9189720" y="5065776"/>
            <a:ext cx="1298448" cy="384048"/>
          </a:xfrm>
          <a:prstGeom prst="roundRect">
            <a:avLst>
              <a:gd name="adj" fmla="val 14286"/>
            </a:avLst>
          </a:prstGeom>
          <a:solidFill>
            <a:srgbClr val="111E35"/>
          </a:solidFill>
          <a:ln w="10160">
            <a:solidFill>
              <a:srgbClr val="217346"/>
            </a:solidFill>
            <a:prstDash val="solid"/>
          </a:ln>
        </p:spPr>
      </p:sp>
      <p:sp>
        <p:nvSpPr>
          <p:cNvPr id="46" name="Text 44"/>
          <p:cNvSpPr/>
          <p:nvPr/>
        </p:nvSpPr>
        <p:spPr>
          <a:xfrm>
            <a:off x="9189720" y="50657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=IFERROR</a:t>
            </a:r>
            <a:endParaRPr lang="en-US" sz="850" dirty="0"/>
          </a:p>
        </p:txBody>
      </p:sp>
      <p:sp>
        <p:nvSpPr>
          <p:cNvPr id="47" name="Shape 45"/>
          <p:cNvSpPr/>
          <p:nvPr/>
        </p:nvSpPr>
        <p:spPr>
          <a:xfrm>
            <a:off x="10561320" y="5065776"/>
            <a:ext cx="1298448" cy="384048"/>
          </a:xfrm>
          <a:prstGeom prst="roundRect">
            <a:avLst>
              <a:gd name="adj" fmla="val 14286"/>
            </a:avLst>
          </a:prstGeom>
          <a:solidFill>
            <a:srgbClr val="111E35"/>
          </a:solidFill>
          <a:ln w="10160">
            <a:solidFill>
              <a:srgbClr val="217346"/>
            </a:solidFill>
            <a:prstDash val="solid"/>
          </a:ln>
        </p:spPr>
      </p:sp>
      <p:sp>
        <p:nvSpPr>
          <p:cNvPr id="48" name="Text 46"/>
          <p:cNvSpPr/>
          <p:nvPr/>
        </p:nvSpPr>
        <p:spPr>
          <a:xfrm>
            <a:off x="10561320" y="50657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=VLOOKUP / XLOOKUP</a:t>
            </a:r>
            <a:endParaRPr lang="en-US" sz="850" dirty="0"/>
          </a:p>
        </p:txBody>
      </p:sp>
      <p:sp>
        <p:nvSpPr>
          <p:cNvPr id="49" name="Shape 47"/>
          <p:cNvSpPr/>
          <p:nvPr/>
        </p:nvSpPr>
        <p:spPr>
          <a:xfrm>
            <a:off x="5074920" y="5522976"/>
            <a:ext cx="1298448" cy="384048"/>
          </a:xfrm>
          <a:prstGeom prst="roundRect">
            <a:avLst>
              <a:gd name="adj" fmla="val 14286"/>
            </a:avLst>
          </a:prstGeom>
          <a:solidFill>
            <a:srgbClr val="111E35"/>
          </a:solidFill>
          <a:ln w="10160">
            <a:solidFill>
              <a:srgbClr val="217346"/>
            </a:solidFill>
            <a:prstDash val="solid"/>
          </a:ln>
        </p:spPr>
      </p:sp>
      <p:sp>
        <p:nvSpPr>
          <p:cNvPr id="50" name="Text 48"/>
          <p:cNvSpPr/>
          <p:nvPr/>
        </p:nvSpPr>
        <p:spPr>
          <a:xfrm>
            <a:off x="5074920" y="55229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=INDEX + MATCH</a:t>
            </a:r>
            <a:endParaRPr lang="en-US" sz="850" dirty="0"/>
          </a:p>
        </p:txBody>
      </p:sp>
      <p:sp>
        <p:nvSpPr>
          <p:cNvPr id="51" name="Shape 49"/>
          <p:cNvSpPr/>
          <p:nvPr/>
        </p:nvSpPr>
        <p:spPr>
          <a:xfrm>
            <a:off x="6446520" y="5522976"/>
            <a:ext cx="1298448" cy="384048"/>
          </a:xfrm>
          <a:prstGeom prst="roundRect">
            <a:avLst>
              <a:gd name="adj" fmla="val 14286"/>
            </a:avLst>
          </a:prstGeom>
          <a:solidFill>
            <a:srgbClr val="111E35"/>
          </a:solidFill>
          <a:ln w="10160">
            <a:solidFill>
              <a:srgbClr val="217346"/>
            </a:solidFill>
            <a:prstDash val="solid"/>
          </a:ln>
        </p:spPr>
      </p:sp>
      <p:sp>
        <p:nvSpPr>
          <p:cNvPr id="52" name="Text 50"/>
          <p:cNvSpPr/>
          <p:nvPr/>
        </p:nvSpPr>
        <p:spPr>
          <a:xfrm>
            <a:off x="6446520" y="55229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=COUNTIF</a:t>
            </a:r>
            <a:endParaRPr lang="en-US" sz="850" dirty="0"/>
          </a:p>
        </p:txBody>
      </p:sp>
      <p:sp>
        <p:nvSpPr>
          <p:cNvPr id="53" name="Shape 51"/>
          <p:cNvSpPr/>
          <p:nvPr/>
        </p:nvSpPr>
        <p:spPr>
          <a:xfrm>
            <a:off x="7818120" y="5522976"/>
            <a:ext cx="1298448" cy="384048"/>
          </a:xfrm>
          <a:prstGeom prst="roundRect">
            <a:avLst>
              <a:gd name="adj" fmla="val 14286"/>
            </a:avLst>
          </a:prstGeom>
          <a:solidFill>
            <a:srgbClr val="111E35"/>
          </a:solidFill>
          <a:ln w="10160">
            <a:solidFill>
              <a:srgbClr val="217346"/>
            </a:solidFill>
            <a:prstDash val="solid"/>
          </a:ln>
        </p:spPr>
      </p:sp>
      <p:sp>
        <p:nvSpPr>
          <p:cNvPr id="54" name="Text 52"/>
          <p:cNvSpPr/>
          <p:nvPr/>
        </p:nvSpPr>
        <p:spPr>
          <a:xfrm>
            <a:off x="7818120" y="55229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=TRIM + PROPER</a:t>
            </a:r>
            <a:endParaRPr lang="en-US" sz="850" dirty="0"/>
          </a:p>
        </p:txBody>
      </p:sp>
      <p:sp>
        <p:nvSpPr>
          <p:cNvPr id="55" name="Shape 53"/>
          <p:cNvSpPr/>
          <p:nvPr/>
        </p:nvSpPr>
        <p:spPr>
          <a:xfrm>
            <a:off x="9189720" y="5522976"/>
            <a:ext cx="1298448" cy="384048"/>
          </a:xfrm>
          <a:prstGeom prst="roundRect">
            <a:avLst>
              <a:gd name="adj" fmla="val 14286"/>
            </a:avLst>
          </a:prstGeom>
          <a:solidFill>
            <a:srgbClr val="111E35"/>
          </a:solidFill>
          <a:ln w="10160">
            <a:solidFill>
              <a:srgbClr val="217346"/>
            </a:solidFill>
            <a:prstDash val="solid"/>
          </a:ln>
        </p:spPr>
      </p:sp>
      <p:sp>
        <p:nvSpPr>
          <p:cNvPr id="56" name="Text 54"/>
          <p:cNvSpPr/>
          <p:nvPr/>
        </p:nvSpPr>
        <p:spPr>
          <a:xfrm>
            <a:off x="9189720" y="55229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=TEXT</a:t>
            </a:r>
            <a:endParaRPr lang="en-US" sz="850" dirty="0"/>
          </a:p>
        </p:txBody>
      </p:sp>
      <p:sp>
        <p:nvSpPr>
          <p:cNvPr id="57" name="Shape 55"/>
          <p:cNvSpPr/>
          <p:nvPr/>
        </p:nvSpPr>
        <p:spPr>
          <a:xfrm>
            <a:off x="10561320" y="5522976"/>
            <a:ext cx="1298448" cy="384048"/>
          </a:xfrm>
          <a:prstGeom prst="roundRect">
            <a:avLst>
              <a:gd name="adj" fmla="val 14286"/>
            </a:avLst>
          </a:prstGeom>
          <a:solidFill>
            <a:srgbClr val="111E35"/>
          </a:solidFill>
          <a:ln w="10160">
            <a:solidFill>
              <a:srgbClr val="217346"/>
            </a:solidFill>
            <a:prstDash val="solid"/>
          </a:ln>
        </p:spPr>
      </p:sp>
      <p:sp>
        <p:nvSpPr>
          <p:cNvPr id="58" name="Text 56"/>
          <p:cNvSpPr/>
          <p:nvPr/>
        </p:nvSpPr>
        <p:spPr>
          <a:xfrm>
            <a:off x="10561320" y="5522976"/>
            <a:ext cx="1298448" cy="384048"/>
          </a:xfrm>
          <a:prstGeom prst="rect">
            <a:avLst/>
          </a:prstGeom>
          <a:noFill/>
          <a:ln/>
        </p:spPr>
        <p:txBody>
          <a:bodyPr wrap="square" lIns="0" tIns="0" rIns="0" bIns="0" rtlCol="0" anchor="ctr"/>
          <a:lstStyle/>
          <a:p>
            <a:pPr algn="ctr" indent="0" marL="0">
              <a:buNone/>
            </a:pPr>
            <a:r>
              <a:rPr lang="en-US" sz="850" b="1" dirty="0">
                <a:solidFill>
                  <a:srgbClr val="70AD47"/>
                </a:solidFill>
                <a:latin typeface="Courier New" pitchFamily="34" charset="0"/>
                <a:ea typeface="Courier New" pitchFamily="34" charset="-122"/>
                <a:cs typeface="Courier New" pitchFamily="34" charset="-120"/>
              </a:rPr>
              <a:t>=TODAY + DATEDIF</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Functions - Complete Reference Deck</dc:title>
  <dc:subject>PptxGenJS Presentation</dc:subject>
  <dc:creator>Kajola Gbenga Adewale</dc:creator>
  <cp:lastModifiedBy>Kajola Gbenga Adewale</cp:lastModifiedBy>
  <cp:revision>1</cp:revision>
  <dcterms:created xsi:type="dcterms:W3CDTF">2026-06-25T12:56:45Z</dcterms:created>
  <dcterms:modified xsi:type="dcterms:W3CDTF">2026-06-25T12:56:45Z</dcterms:modified>
</cp:coreProperties>
</file>
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This deck covers Microsoft Excel from the basics of navigation through to advanced techniques including Power Query, PivotTables, XLOOKUP, conditional formatting, and data validation. All examples use Nigerian business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Excel interface. Key areas: (1) Title Bar - shows workbook name. (2) Ribbon - 8 tabs, each with groups of commands. (3) Name Box - shows cell address (B3). (4) Formula Bar - shows the formula or value in the active cell. (5) Column Headers - A through XFD (16,384 columns). (6) Row Numbers - 1 through 1,048,576 rows. (7) Sheet Tabs - navigate between sheets. (8) Status Bar - shows Sum, Count, Average of selected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Navigation fundamentals. The most important shortcut to teach first: Ctrl+End (jump to last used cell) and Ctrl+Home (jump back to A1). These two shortcuts alone save enormous time when working with large spreadsheets. Also emphasise freeze panes for data with many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entry. The critical teaching point: Excel is right-aligns numbers and left-aligns text automatically. If a number is left-aligned, it is stored as text and CANNOT be used in calculations. This is the most common data entry problem. Fix with: select cells -&gt; Data -&gt; Text to Columns -&gt;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Formula overview. All formulas start with = (equals sign). Arguments are separated by commas. Range references use colon: A1:A10 means A1 through A10. Key principle: formulas are RELATIVE by default - they adjust when copied. Use $ to make references ABSOLUTE: $A$1 never changes. $A1 fixes column only. A$1 fixes row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Cell references. This is the most important concept in Excel after understanding formulas. The $ sign is not a currency symbol - it LOCKS the reference. The best way to teach this: build a tax calculator table where D1 has the tax rate, and show how $D$1 keeps pointing to D1 regardless of where the formula is copied.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 functions. The SUMIFS family (SUMIFS, COUNTIFS, AVERAGEIFS) is the most important group for business analysis. Key difference from SUMIF: SUMIFS puts the sum_range FIRST, then criteria pairs. Many students confuse this. Also: COUNTIFS has no sum_range - just criteria ranges.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and logic. The most common mistake: forgetting the last TRUE catchall in IFS. Without it, IFS throws an error if none of the conditions match. Also teach: the text in IF results MUST be in quotes. IF(B2&gt;50, High, Low) fails. IF(B2&gt;50, "High", "Low")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Lookup functions. VLOOKUP limitation: the lookup column MUST be the leftmost column in the table. You cannot look left. INDEX+MATCH solves this. XLOOKUP is the modern replacement for both. Key: always use 0 or FALSE as last argument for exact match. 1 or TRUE does approximate match (requires sorted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VLOOKUP detailed. The three most common errors: (1) Forgetting exact match - leaving last argument as TRUE or empty returns wrong results on unsorted data. (2) Relative reference on the table - when copied down, F1:H5 becomes F2:H6, missing data. Always lock with $. (3) Column number changes when columns are inserted - use INDEX-MATCH or XLOOKUP to avoid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functions. The TRIM+PROPER combination is the standard first-clean for any text column: =PROPER(TRIM(A1)). This removes spaces and standardises capitalisation in one step. TEXTJOIN is extremely powerful for creating summary strings. The &amp; operator for concatenation is the most portable as it works in all Excel 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 functions. DATEDIF is a hidden function - it does not appear in autocomplete but it works. The three unit arguments: D=days, M=complete months, Y=complete years. YM=months ignoring years, YD=days ignoring years. Perfect for 'you are 34 years, 8 months old' displays.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Charts overview. The chart selection rule: if you are comparing categories use Column (vertical) or Bar (horizontal). If you are showing trend over time use Line. If you are showing proportion use Pie (max 5 categories). If you are showing two numeric variables use Scatter. If you are showing composition over time use Stacked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 creation. The most professional tip: always convert data to an Excel Table before creating a chart. When the table grows (new rows added), the chart automatically includes the new data. Without this, you must manually expand the chart data range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PivotTables. The golden rule: your source data must be in tabular format (one header row, no blank rows, no merged cells, no totals row in the data). PivotTable is the single most powerful data analysis tool in Excel. A task that takes hours of formulas takes 30 seconds with a PivotTable.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PivotTable detail. The Slicer connected to multiple PivotTables is the foundation of interactive Excel dashboards. You can have one Slicer button panel control 4-5 different PivotTables (and their PivotCharts) on the same sheet. This gives users the ability to filter the entire dashboard by clicking buttons - no VBA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Conditional formatting. The custom formula with an absolute column reference ($F2) is the most powerful technique. By fixing the column but not the row, the formula checks column F for each row. This highlights entire rows based on one column's value - the most requested technique in professional Excel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validation. The most impactful use: dropdown lists on data entry forms ensure consistent categories. Without this, one person types 'Lagos', another types 'LAGOS', another types 'lagos ' (with trailing space). Three values, three different groups in a SUMIF. Data validation prevents this entirely. The INDIRECT dependent dropdown technique creates a city list that changes based on the country selected.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Excel Tables. Every professional Excel analyst converts data to a Table immediately on loading. The biggest advantage: when you add rows, every formula, chart, and PivotTable that references the table automatically includes the new data. Without a Table, you must manually expand every reference every time data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Named ranges. The biggest benefit: when a cell reference changes (data moved to a different column), you update the name definition in one place (Name Manager) and ALL formulas using that name automatically update. Without names, you would update dozens of formulas one by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Keyboard shortcuts. The 5 most impactful shortcuts to memorise first: (1) Ctrl+Z = Undo - saves you when you make a mistake. (2) Ctrl+S = Save - do this constantly. (3) Ctrl+End = jump to last cell - navigate large sheets instantly. (4) F4 = toggle $ reference - essential for formula writing. (5) Ctrl+1 = Format Cells - faster than right-click. Master these five before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tools. Flash Fill (Ctrl+E) is the most impressive tool to demonstrate live. Show: Full Name column has 'Chidi Okonkwo'. In the next column type 'Okonkwo, Chidi'. Press Ctrl+E. Excel fills the entire column with the same pattern. Students are always surprised by this. It also works for extracting domain names from email addresses, formatting phone numbers, and combining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Power Query. The Append Queries feature is the most popular Power Query technique for analysts: combining 12 monthly files into one annual table with one click. Set it up once: get the January file, append all other months, load to table. Next year: change the file path for January, re-run, reload all 12 months. Saves 2 hours of manual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What-If Analysis. Goal Seek is the most frequently used: 'What price gives NGN 1M profit?' is a question every business analyst is asked. Scenario Manager is excellent for budget presentations: create Base/Optimistic/Pessimistic scenarios and present the Summary table to management. The Data Table is the most powerful but least taught - it creates a full sensitivity analysis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Best practices. The most important rule to enforce: no merged cells in data ranges. Every time a student uses merged cells in a data table, they create problems in every downstream analysis. Center Across Selection gives the same visual result with none of the problems. Show both side by side to prove they look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Cheat sheet. Print and give to every student. The most valuable reference card covers all 16 topic areas. Green = Excel core functions. Blue = navigation and lookup. Amber = logic and formatting. Teal = text, dates, Power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0A14"/>
        </a:solidFill>
      </p:bgPr>
    </p:bg>
    <p:spTree>
      <p:nvGrpSpPr>
        <p:cNvPr id="1" name=""/>
        <p:cNvGrpSpPr/>
        <p:nvPr/>
      </p:nvGrpSpPr>
      <p:grpSpPr>
        <a:xfrm>
          <a:off x="0" y="0"/>
          <a:ext cx="0" cy="0"/>
          <a:chOff x="0" y="0"/>
          <a:chExt cx="0" cy="0"/>
        </a:xfrm>
      </p:grpSpPr>
      <p:sp>
        <p:nvSpPr>
          <p:cNvPr id="2" name="Shape 0"/>
          <p:cNvSpPr/>
          <p:nvPr/>
        </p:nvSpPr>
        <p:spPr>
          <a:xfrm>
            <a:off x="0" y="0"/>
            <a:ext cx="4846320" cy="6858000"/>
          </a:xfrm>
          <a:prstGeom prst="rect">
            <a:avLst/>
          </a:prstGeom>
          <a:solidFill>
            <a:srgbClr val="185C38"/>
          </a:solidFill>
          <a:ln w="12700">
            <a:solidFill>
              <a:srgbClr val="185C38"/>
            </a:solidFill>
            <a:prstDash val="solid"/>
          </a:ln>
        </p:spPr>
      </p:sp>
      <p:sp>
        <p:nvSpPr>
          <p:cNvPr id="3" name="Shape 1"/>
          <p:cNvSpPr/>
          <p:nvPr/>
        </p:nvSpPr>
        <p:spPr>
          <a:xfrm>
            <a:off x="402336" y="402336"/>
            <a:ext cx="1773936" cy="1773936"/>
          </a:xfrm>
          <a:prstGeom prst="roundRect">
            <a:avLst>
              <a:gd name="adj" fmla="val 7216"/>
            </a:avLst>
          </a:prstGeom>
          <a:solidFill>
            <a:srgbClr val="217346"/>
          </a:solidFill>
          <a:ln w="12700">
            <a:solidFill>
              <a:srgbClr val="217346"/>
            </a:solidFill>
            <a:prstDash val="solid"/>
          </a:ln>
          <a:effectLst>
            <a:outerShdw sx="100000" sy="100000" kx="0" ky="0" algn="bl" rotWithShape="0" blurRad="127000" dist="50800" dir="2700000">
              <a:srgbClr val="000000">
                <a:alpha val="20000"/>
              </a:srgbClr>
            </a:outerShdw>
          </a:effectLst>
        </p:spPr>
      </p:sp>
      <p:sp>
        <p:nvSpPr>
          <p:cNvPr id="4" name="Shape 2"/>
          <p:cNvSpPr/>
          <p:nvPr/>
        </p:nvSpPr>
        <p:spPr>
          <a:xfrm>
            <a:off x="2377440" y="402336"/>
            <a:ext cx="1773936" cy="1773936"/>
          </a:xfrm>
          <a:prstGeom prst="roundRect">
            <a:avLst>
              <a:gd name="adj" fmla="val 7216"/>
            </a:avLst>
          </a:prstGeom>
          <a:solidFill>
            <a:srgbClr val="70AD47"/>
          </a:solidFill>
          <a:ln w="12700">
            <a:solidFill>
              <a:srgbClr val="70AD47"/>
            </a:solidFill>
            <a:prstDash val="solid"/>
          </a:ln>
          <a:effectLst>
            <a:outerShdw sx="100000" sy="100000" kx="0" ky="0" algn="bl" rotWithShape="0" blurRad="127000" dist="50800" dir="2700000">
              <a:srgbClr val="000000">
                <a:alpha val="20000"/>
              </a:srgbClr>
            </a:outerShdw>
          </a:effectLst>
        </p:spPr>
      </p:sp>
      <p:sp>
        <p:nvSpPr>
          <p:cNvPr id="5" name="Shape 3"/>
          <p:cNvSpPr/>
          <p:nvPr/>
        </p:nvSpPr>
        <p:spPr>
          <a:xfrm>
            <a:off x="402336" y="2377440"/>
            <a:ext cx="1773936" cy="1773936"/>
          </a:xfrm>
          <a:prstGeom prst="roundRect">
            <a:avLst>
              <a:gd name="adj" fmla="val 7216"/>
            </a:avLst>
          </a:prstGeom>
          <a:solidFill>
            <a:srgbClr val="70AD47"/>
          </a:solidFill>
          <a:ln w="12700">
            <a:solidFill>
              <a:srgbClr val="70AD47"/>
            </a:solidFill>
            <a:prstDash val="solid"/>
          </a:ln>
          <a:effectLst>
            <a:outerShdw sx="100000" sy="100000" kx="0" ky="0" algn="bl" rotWithShape="0" blurRad="127000" dist="50800" dir="2700000">
              <a:srgbClr val="000000">
                <a:alpha val="20000"/>
              </a:srgbClr>
            </a:outerShdw>
          </a:effectLst>
        </p:spPr>
      </p:sp>
      <p:sp>
        <p:nvSpPr>
          <p:cNvPr id="6" name="Shape 4"/>
          <p:cNvSpPr/>
          <p:nvPr/>
        </p:nvSpPr>
        <p:spPr>
          <a:xfrm>
            <a:off x="2377440" y="2377440"/>
            <a:ext cx="1773936" cy="1773936"/>
          </a:xfrm>
          <a:prstGeom prst="roundRect">
            <a:avLst>
              <a:gd name="adj" fmla="val 7216"/>
            </a:avLst>
          </a:prstGeom>
          <a:solidFill>
            <a:srgbClr val="217346"/>
          </a:solidFill>
          <a:ln w="12700">
            <a:solidFill>
              <a:srgbClr val="217346"/>
            </a:solidFill>
            <a:prstDash val="solid"/>
          </a:ln>
          <a:effectLst>
            <a:outerShdw sx="100000" sy="100000" kx="0" ky="0" algn="bl" rotWithShape="0" blurRad="127000" dist="50800" dir="2700000">
              <a:srgbClr val="000000">
                <a:alpha val="20000"/>
              </a:srgbClr>
            </a:outerShdw>
          </a:effectLst>
        </p:spPr>
      </p:sp>
      <p:sp>
        <p:nvSpPr>
          <p:cNvPr id="7" name="Text 5"/>
          <p:cNvSpPr/>
          <p:nvPr/>
        </p:nvSpPr>
        <p:spPr>
          <a:xfrm>
            <a:off x="402336" y="402336"/>
            <a:ext cx="3749040" cy="3749040"/>
          </a:xfrm>
          <a:prstGeom prst="rect">
            <a:avLst/>
          </a:prstGeom>
          <a:noFill/>
          <a:ln/>
        </p:spPr>
        <p:txBody>
          <a:bodyPr wrap="square" lIns="0" tIns="0" rIns="0" bIns="0" rtlCol="0" anchor="ctr"/>
          <a:lstStyle/>
          <a:p>
            <a:pPr algn="ctr" indent="0" marL="0">
              <a:buNone/>
            </a:pPr>
            <a:r>
              <a:rPr lang="en-US" sz="8200" dirty="0">
                <a:solidFill>
                  <a:srgbClr val="000000"/>
                </a:solidFill>
              </a:rPr>
              <a:t>📊</a:t>
            </a:r>
            <a:endParaRPr lang="en-US" sz="8200" dirty="0"/>
          </a:p>
        </p:txBody>
      </p:sp>
      <p:sp>
        <p:nvSpPr>
          <p:cNvPr id="8" name="Shape 6"/>
          <p:cNvSpPr/>
          <p:nvPr/>
        </p:nvSpPr>
        <p:spPr>
          <a:xfrm>
            <a:off x="0" y="4352544"/>
            <a:ext cx="4846320" cy="2505456"/>
          </a:xfrm>
          <a:prstGeom prst="rect">
            <a:avLst/>
          </a:prstGeom>
          <a:solidFill>
            <a:srgbClr val="0A1E12"/>
          </a:solidFill>
          <a:ln w="12700">
            <a:solidFill>
              <a:srgbClr val="0A1E12"/>
            </a:solidFill>
            <a:prstDash val="solid"/>
          </a:ln>
        </p:spPr>
      </p:sp>
      <p:sp>
        <p:nvSpPr>
          <p:cNvPr id="9" name="Text 7"/>
          <p:cNvSpPr/>
          <p:nvPr/>
        </p:nvSpPr>
        <p:spPr>
          <a:xfrm>
            <a:off x="0" y="4480560"/>
            <a:ext cx="4846320" cy="310896"/>
          </a:xfrm>
          <a:prstGeom prst="rect">
            <a:avLst/>
          </a:prstGeom>
          <a:noFill/>
          <a:ln/>
        </p:spPr>
        <p:txBody>
          <a:bodyPr wrap="square" lIns="0" tIns="0" rIns="0" bIns="0" rtlCol="0" anchor="ctr"/>
          <a:lstStyle/>
          <a:p>
            <a:pPr algn="ctr" indent="0" marL="0">
              <a:buNone/>
            </a:pPr>
            <a:r>
              <a:rPr lang="en-US" sz="950" b="1" spc="200" kern="0" dirty="0">
                <a:solidFill>
                  <a:srgbClr val="94A3B8"/>
                </a:solidFill>
                <a:latin typeface="Calibri" pitchFamily="34" charset="0"/>
                <a:ea typeface="Calibri" pitchFamily="34" charset="-122"/>
                <a:cs typeface="Calibri" pitchFamily="34" charset="-120"/>
              </a:rPr>
              <a:t>KAJOLA GBENGA ADEWALE</a:t>
            </a:r>
            <a:endParaRPr lang="en-US" sz="950" dirty="0"/>
          </a:p>
        </p:txBody>
      </p:sp>
      <p:sp>
        <p:nvSpPr>
          <p:cNvPr id="10" name="Text 8"/>
          <p:cNvSpPr/>
          <p:nvPr/>
        </p:nvSpPr>
        <p:spPr>
          <a:xfrm>
            <a:off x="0" y="4864608"/>
            <a:ext cx="4846320" cy="274320"/>
          </a:xfrm>
          <a:prstGeom prst="rect">
            <a:avLst/>
          </a:prstGeom>
          <a:noFill/>
          <a:ln/>
        </p:spPr>
        <p:txBody>
          <a:bodyPr wrap="square" lIns="0" tIns="0" rIns="0" bIns="0"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Data Analytics Expert</a:t>
            </a:r>
            <a:endParaRPr lang="en-US" sz="1100" dirty="0"/>
          </a:p>
        </p:txBody>
      </p:sp>
      <p:sp>
        <p:nvSpPr>
          <p:cNvPr id="11" name="Text 9"/>
          <p:cNvSpPr/>
          <p:nvPr/>
        </p:nvSpPr>
        <p:spPr>
          <a:xfrm>
            <a:off x="5074920" y="457200"/>
            <a:ext cx="6903720" cy="105156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Microsoft</a:t>
            </a:r>
            <a:endParaRPr lang="en-US" sz="5200" dirty="0"/>
          </a:p>
        </p:txBody>
      </p:sp>
      <p:sp>
        <p:nvSpPr>
          <p:cNvPr id="12" name="Text 10"/>
          <p:cNvSpPr/>
          <p:nvPr/>
        </p:nvSpPr>
        <p:spPr>
          <a:xfrm>
            <a:off x="5074920" y="1444752"/>
            <a:ext cx="6903720" cy="1097280"/>
          </a:xfrm>
          <a:prstGeom prst="rect">
            <a:avLst/>
          </a:prstGeom>
          <a:noFill/>
          <a:ln/>
        </p:spPr>
        <p:txBody>
          <a:bodyPr wrap="square" lIns="0" tIns="0" rIns="0" bIns="0" rtlCol="0" anchor="ctr"/>
          <a:lstStyle/>
          <a:p>
            <a:pPr indent="0" marL="0">
              <a:buNone/>
            </a:pPr>
            <a:r>
              <a:rPr lang="en-US" sz="6600" b="1" dirty="0">
                <a:solidFill>
                  <a:srgbClr val="70AD47"/>
                </a:solidFill>
                <a:latin typeface="Cambria" pitchFamily="34" charset="0"/>
                <a:ea typeface="Cambria" pitchFamily="34" charset="-122"/>
                <a:cs typeface="Cambria" pitchFamily="34" charset="-120"/>
              </a:rPr>
              <a:t>Excel</a:t>
            </a:r>
            <a:endParaRPr lang="en-US" sz="6600" dirty="0"/>
          </a:p>
        </p:txBody>
      </p:sp>
      <p:sp>
        <p:nvSpPr>
          <p:cNvPr id="13" name="Text 11"/>
          <p:cNvSpPr/>
          <p:nvPr/>
        </p:nvSpPr>
        <p:spPr>
          <a:xfrm>
            <a:off x="5074920" y="2615184"/>
            <a:ext cx="6903720" cy="402336"/>
          </a:xfrm>
          <a:prstGeom prst="rect">
            <a:avLst/>
          </a:prstGeom>
          <a:noFill/>
          <a:ln/>
        </p:spPr>
        <p:txBody>
          <a:bodyPr wrap="square" lIns="0" tIns="0" rIns="0" bIns="0" rtlCol="0" anchor="ctr"/>
          <a:lstStyle/>
          <a:p>
            <a:pPr indent="0" marL="0">
              <a:buNone/>
            </a:pPr>
            <a:r>
              <a:rPr lang="en-US" sz="1300" i="1" dirty="0">
                <a:solidFill>
                  <a:srgbClr val="94A3B8"/>
                </a:solidFill>
                <a:latin typeface="Calibri" pitchFamily="34" charset="0"/>
                <a:ea typeface="Calibri" pitchFamily="34" charset="-122"/>
                <a:cs typeface="Calibri" pitchFamily="34" charset="-120"/>
              </a:rPr>
              <a:t>Complete Teaching Deck - All Topics with Practical Examples</a:t>
            </a:r>
            <a:endParaRPr lang="en-US" sz="1300" dirty="0"/>
          </a:p>
        </p:txBody>
      </p:sp>
      <p:sp>
        <p:nvSpPr>
          <p:cNvPr id="14" name="Text 12"/>
          <p:cNvSpPr/>
          <p:nvPr/>
        </p:nvSpPr>
        <p:spPr>
          <a:xfrm>
            <a:off x="5074920" y="3090672"/>
            <a:ext cx="6903720" cy="329184"/>
          </a:xfrm>
          <a:prstGeom prst="rect">
            <a:avLst/>
          </a:prstGeom>
          <a:noFill/>
          <a:ln/>
        </p:spPr>
        <p:txBody>
          <a:bodyPr wrap="square" lIns="0" tIns="0" rIns="0" bIns="0" rtlCol="0" anchor="ctr"/>
          <a:lstStyle/>
          <a:p>
            <a:pPr indent="0" marL="0">
              <a:buNone/>
            </a:pPr>
            <a:r>
              <a:rPr lang="en-US" sz="1100" b="1" dirty="0">
                <a:solidFill>
                  <a:srgbClr val="06B6D4"/>
                </a:solidFill>
                <a:latin typeface="Calibri" pitchFamily="34" charset="0"/>
                <a:ea typeface="Calibri" pitchFamily="34" charset="-122"/>
                <a:cs typeface="Calibri" pitchFamily="34" charset="-120"/>
              </a:rPr>
              <a:t>From Basics to Advanced  |  Formulas  |  Charts  |  PivotTables  |  Shortcuts</a:t>
            </a:r>
            <a:endParaRPr lang="en-US" sz="1100" dirty="0"/>
          </a:p>
        </p:txBody>
      </p:sp>
      <p:sp>
        <p:nvSpPr>
          <p:cNvPr id="15" name="Shape 13"/>
          <p:cNvSpPr/>
          <p:nvPr/>
        </p:nvSpPr>
        <p:spPr>
          <a:xfrm>
            <a:off x="5074920" y="3529584"/>
            <a:ext cx="6766560" cy="36576"/>
          </a:xfrm>
          <a:prstGeom prst="rect">
            <a:avLst/>
          </a:prstGeom>
          <a:solidFill>
            <a:srgbClr val="217346"/>
          </a:solidFill>
          <a:ln w="12700">
            <a:solidFill>
              <a:srgbClr val="217346"/>
            </a:solidFill>
            <a:prstDash val="solid"/>
          </a:ln>
        </p:spPr>
      </p:sp>
      <p:sp>
        <p:nvSpPr>
          <p:cNvPr id="16" name="Shape 14"/>
          <p:cNvSpPr/>
          <p:nvPr/>
        </p:nvSpPr>
        <p:spPr>
          <a:xfrm>
            <a:off x="5074920" y="3657600"/>
            <a:ext cx="804672" cy="420624"/>
          </a:xfrm>
          <a:prstGeom prst="roundRect">
            <a:avLst>
              <a:gd name="adj" fmla="val 13043"/>
            </a:avLst>
          </a:prstGeom>
          <a:solidFill>
            <a:srgbClr val="217346"/>
          </a:solidFill>
          <a:ln w="12700">
            <a:solidFill>
              <a:srgbClr val="217346"/>
            </a:solidFill>
            <a:prstDash val="solid"/>
          </a:ln>
        </p:spPr>
      </p:sp>
      <p:sp>
        <p:nvSpPr>
          <p:cNvPr id="17" name="Text 15"/>
          <p:cNvSpPr/>
          <p:nvPr/>
        </p:nvSpPr>
        <p:spPr>
          <a:xfrm>
            <a:off x="5074920" y="3657600"/>
            <a:ext cx="804672" cy="42062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Interface</a:t>
            </a:r>
            <a:endParaRPr lang="en-US" sz="850" dirty="0"/>
          </a:p>
        </p:txBody>
      </p:sp>
      <p:sp>
        <p:nvSpPr>
          <p:cNvPr id="18" name="Shape 16"/>
          <p:cNvSpPr/>
          <p:nvPr/>
        </p:nvSpPr>
        <p:spPr>
          <a:xfrm>
            <a:off x="5943600" y="3657600"/>
            <a:ext cx="804672" cy="420624"/>
          </a:xfrm>
          <a:prstGeom prst="roundRect">
            <a:avLst>
              <a:gd name="adj" fmla="val 13043"/>
            </a:avLst>
          </a:prstGeom>
          <a:solidFill>
            <a:srgbClr val="1D4ED8"/>
          </a:solidFill>
          <a:ln w="12700">
            <a:solidFill>
              <a:srgbClr val="1D4ED8"/>
            </a:solidFill>
            <a:prstDash val="solid"/>
          </a:ln>
        </p:spPr>
      </p:sp>
      <p:sp>
        <p:nvSpPr>
          <p:cNvPr id="19" name="Text 17"/>
          <p:cNvSpPr/>
          <p:nvPr/>
        </p:nvSpPr>
        <p:spPr>
          <a:xfrm>
            <a:off x="5943600" y="3657600"/>
            <a:ext cx="804672" cy="42062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Formulas</a:t>
            </a:r>
            <a:endParaRPr lang="en-US" sz="850" dirty="0"/>
          </a:p>
        </p:txBody>
      </p:sp>
      <p:sp>
        <p:nvSpPr>
          <p:cNvPr id="20" name="Shape 18"/>
          <p:cNvSpPr/>
          <p:nvPr/>
        </p:nvSpPr>
        <p:spPr>
          <a:xfrm>
            <a:off x="6812280" y="3657600"/>
            <a:ext cx="804672" cy="420624"/>
          </a:xfrm>
          <a:prstGeom prst="roundRect">
            <a:avLst>
              <a:gd name="adj" fmla="val 13043"/>
            </a:avLst>
          </a:prstGeom>
          <a:solidFill>
            <a:srgbClr val="8B5CF6"/>
          </a:solidFill>
          <a:ln w="12700">
            <a:solidFill>
              <a:srgbClr val="8B5CF6"/>
            </a:solidFill>
            <a:prstDash val="solid"/>
          </a:ln>
        </p:spPr>
      </p:sp>
      <p:sp>
        <p:nvSpPr>
          <p:cNvPr id="21" name="Text 19"/>
          <p:cNvSpPr/>
          <p:nvPr/>
        </p:nvSpPr>
        <p:spPr>
          <a:xfrm>
            <a:off x="6812280" y="3657600"/>
            <a:ext cx="804672" cy="42062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IF and Logic</a:t>
            </a:r>
            <a:endParaRPr lang="en-US" sz="850" dirty="0"/>
          </a:p>
        </p:txBody>
      </p:sp>
      <p:sp>
        <p:nvSpPr>
          <p:cNvPr id="22" name="Shape 20"/>
          <p:cNvSpPr/>
          <p:nvPr/>
        </p:nvSpPr>
        <p:spPr>
          <a:xfrm>
            <a:off x="7680960" y="3657600"/>
            <a:ext cx="804672" cy="420624"/>
          </a:xfrm>
          <a:prstGeom prst="roundRect">
            <a:avLst>
              <a:gd name="adj" fmla="val 13043"/>
            </a:avLst>
          </a:prstGeom>
          <a:solidFill>
            <a:srgbClr val="F59E0B"/>
          </a:solidFill>
          <a:ln w="12700">
            <a:solidFill>
              <a:srgbClr val="F59E0B"/>
            </a:solidFill>
            <a:prstDash val="solid"/>
          </a:ln>
        </p:spPr>
      </p:sp>
      <p:sp>
        <p:nvSpPr>
          <p:cNvPr id="23" name="Text 21"/>
          <p:cNvSpPr/>
          <p:nvPr/>
        </p:nvSpPr>
        <p:spPr>
          <a:xfrm>
            <a:off x="7680960" y="3657600"/>
            <a:ext cx="804672" cy="42062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Lookup Functions</a:t>
            </a:r>
            <a:endParaRPr lang="en-US" sz="850" dirty="0"/>
          </a:p>
        </p:txBody>
      </p:sp>
      <p:sp>
        <p:nvSpPr>
          <p:cNvPr id="24" name="Shape 22"/>
          <p:cNvSpPr/>
          <p:nvPr/>
        </p:nvSpPr>
        <p:spPr>
          <a:xfrm>
            <a:off x="8549640" y="3657600"/>
            <a:ext cx="804672" cy="420624"/>
          </a:xfrm>
          <a:prstGeom prst="roundRect">
            <a:avLst>
              <a:gd name="adj" fmla="val 13043"/>
            </a:avLst>
          </a:prstGeom>
          <a:solidFill>
            <a:srgbClr val="F97316"/>
          </a:solidFill>
          <a:ln w="12700">
            <a:solidFill>
              <a:srgbClr val="F97316"/>
            </a:solidFill>
            <a:prstDash val="solid"/>
          </a:ln>
        </p:spPr>
      </p:sp>
      <p:sp>
        <p:nvSpPr>
          <p:cNvPr id="25" name="Text 23"/>
          <p:cNvSpPr/>
          <p:nvPr/>
        </p:nvSpPr>
        <p:spPr>
          <a:xfrm>
            <a:off x="8549640" y="3657600"/>
            <a:ext cx="804672" cy="42062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Text Functions</a:t>
            </a:r>
            <a:endParaRPr lang="en-US" sz="850" dirty="0"/>
          </a:p>
        </p:txBody>
      </p:sp>
      <p:sp>
        <p:nvSpPr>
          <p:cNvPr id="26" name="Shape 24"/>
          <p:cNvSpPr/>
          <p:nvPr/>
        </p:nvSpPr>
        <p:spPr>
          <a:xfrm>
            <a:off x="9418320" y="3657600"/>
            <a:ext cx="804672" cy="420624"/>
          </a:xfrm>
          <a:prstGeom prst="roundRect">
            <a:avLst>
              <a:gd name="adj" fmla="val 13043"/>
            </a:avLst>
          </a:prstGeom>
          <a:solidFill>
            <a:srgbClr val="06B6D4"/>
          </a:solidFill>
          <a:ln w="12700">
            <a:solidFill>
              <a:srgbClr val="06B6D4"/>
            </a:solidFill>
            <a:prstDash val="solid"/>
          </a:ln>
        </p:spPr>
      </p:sp>
      <p:sp>
        <p:nvSpPr>
          <p:cNvPr id="27" name="Text 25"/>
          <p:cNvSpPr/>
          <p:nvPr/>
        </p:nvSpPr>
        <p:spPr>
          <a:xfrm>
            <a:off x="9418320" y="3657600"/>
            <a:ext cx="804672" cy="42062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Date Functions</a:t>
            </a:r>
            <a:endParaRPr lang="en-US" sz="850" dirty="0"/>
          </a:p>
        </p:txBody>
      </p:sp>
      <p:sp>
        <p:nvSpPr>
          <p:cNvPr id="28" name="Shape 26"/>
          <p:cNvSpPr/>
          <p:nvPr/>
        </p:nvSpPr>
        <p:spPr>
          <a:xfrm>
            <a:off x="10287000" y="3657600"/>
            <a:ext cx="804672" cy="420624"/>
          </a:xfrm>
          <a:prstGeom prst="roundRect">
            <a:avLst>
              <a:gd name="adj" fmla="val 13043"/>
            </a:avLst>
          </a:prstGeom>
          <a:solidFill>
            <a:srgbClr val="F43F5E"/>
          </a:solidFill>
          <a:ln w="12700">
            <a:solidFill>
              <a:srgbClr val="F43F5E"/>
            </a:solidFill>
            <a:prstDash val="solid"/>
          </a:ln>
        </p:spPr>
      </p:sp>
      <p:sp>
        <p:nvSpPr>
          <p:cNvPr id="29" name="Text 27"/>
          <p:cNvSpPr/>
          <p:nvPr/>
        </p:nvSpPr>
        <p:spPr>
          <a:xfrm>
            <a:off x="10287000" y="3657600"/>
            <a:ext cx="804672" cy="42062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Charts</a:t>
            </a:r>
            <a:endParaRPr lang="en-US" sz="850" dirty="0"/>
          </a:p>
        </p:txBody>
      </p:sp>
      <p:sp>
        <p:nvSpPr>
          <p:cNvPr id="30" name="Shape 28"/>
          <p:cNvSpPr/>
          <p:nvPr/>
        </p:nvSpPr>
        <p:spPr>
          <a:xfrm>
            <a:off x="11155680" y="3657600"/>
            <a:ext cx="804672" cy="420624"/>
          </a:xfrm>
          <a:prstGeom prst="roundRect">
            <a:avLst>
              <a:gd name="adj" fmla="val 13043"/>
            </a:avLst>
          </a:prstGeom>
          <a:solidFill>
            <a:srgbClr val="EC4899"/>
          </a:solidFill>
          <a:ln w="12700">
            <a:solidFill>
              <a:srgbClr val="EC4899"/>
            </a:solidFill>
            <a:prstDash val="solid"/>
          </a:ln>
        </p:spPr>
      </p:sp>
      <p:sp>
        <p:nvSpPr>
          <p:cNvPr id="31" name="Text 29"/>
          <p:cNvSpPr/>
          <p:nvPr/>
        </p:nvSpPr>
        <p:spPr>
          <a:xfrm>
            <a:off x="11155680" y="3657600"/>
            <a:ext cx="804672" cy="42062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PivotTables</a:t>
            </a:r>
            <a:endParaRPr lang="en-US" sz="850" dirty="0"/>
          </a:p>
        </p:txBody>
      </p:sp>
      <p:sp>
        <p:nvSpPr>
          <p:cNvPr id="32" name="Shape 30"/>
          <p:cNvSpPr/>
          <p:nvPr/>
        </p:nvSpPr>
        <p:spPr>
          <a:xfrm>
            <a:off x="5074920" y="4151376"/>
            <a:ext cx="804672" cy="420624"/>
          </a:xfrm>
          <a:prstGeom prst="roundRect">
            <a:avLst>
              <a:gd name="adj" fmla="val 13043"/>
            </a:avLst>
          </a:prstGeom>
          <a:solidFill>
            <a:srgbClr val="EAB308"/>
          </a:solidFill>
          <a:ln w="12700">
            <a:solidFill>
              <a:srgbClr val="EAB308"/>
            </a:solidFill>
            <a:prstDash val="solid"/>
          </a:ln>
        </p:spPr>
      </p:sp>
      <p:sp>
        <p:nvSpPr>
          <p:cNvPr id="33" name="Text 31"/>
          <p:cNvSpPr/>
          <p:nvPr/>
        </p:nvSpPr>
        <p:spPr>
          <a:xfrm>
            <a:off x="5074920" y="4151376"/>
            <a:ext cx="804672" cy="42062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Conditional Format</a:t>
            </a:r>
            <a:endParaRPr lang="en-US" sz="850" dirty="0"/>
          </a:p>
        </p:txBody>
      </p:sp>
      <p:sp>
        <p:nvSpPr>
          <p:cNvPr id="34" name="Shape 32"/>
          <p:cNvSpPr/>
          <p:nvPr/>
        </p:nvSpPr>
        <p:spPr>
          <a:xfrm>
            <a:off x="5943600" y="4151376"/>
            <a:ext cx="804672" cy="420624"/>
          </a:xfrm>
          <a:prstGeom prst="roundRect">
            <a:avLst>
              <a:gd name="adj" fmla="val 13043"/>
            </a:avLst>
          </a:prstGeom>
          <a:solidFill>
            <a:srgbClr val="84CC16"/>
          </a:solidFill>
          <a:ln w="12700">
            <a:solidFill>
              <a:srgbClr val="84CC16"/>
            </a:solidFill>
            <a:prstDash val="solid"/>
          </a:ln>
        </p:spPr>
      </p:sp>
      <p:sp>
        <p:nvSpPr>
          <p:cNvPr id="35" name="Text 33"/>
          <p:cNvSpPr/>
          <p:nvPr/>
        </p:nvSpPr>
        <p:spPr>
          <a:xfrm>
            <a:off x="5943600" y="4151376"/>
            <a:ext cx="804672" cy="42062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Data Validation</a:t>
            </a:r>
            <a:endParaRPr lang="en-US" sz="850" dirty="0"/>
          </a:p>
        </p:txBody>
      </p:sp>
      <p:sp>
        <p:nvSpPr>
          <p:cNvPr id="36" name="Shape 34"/>
          <p:cNvSpPr/>
          <p:nvPr/>
        </p:nvSpPr>
        <p:spPr>
          <a:xfrm>
            <a:off x="6812280" y="4151376"/>
            <a:ext cx="804672" cy="420624"/>
          </a:xfrm>
          <a:prstGeom prst="roundRect">
            <a:avLst>
              <a:gd name="adj" fmla="val 13043"/>
            </a:avLst>
          </a:prstGeom>
          <a:solidFill>
            <a:srgbClr val="217346"/>
          </a:solidFill>
          <a:ln w="12700">
            <a:solidFill>
              <a:srgbClr val="217346"/>
            </a:solidFill>
            <a:prstDash val="solid"/>
          </a:ln>
        </p:spPr>
      </p:sp>
      <p:sp>
        <p:nvSpPr>
          <p:cNvPr id="37" name="Text 35"/>
          <p:cNvSpPr/>
          <p:nvPr/>
        </p:nvSpPr>
        <p:spPr>
          <a:xfrm>
            <a:off x="6812280" y="4151376"/>
            <a:ext cx="804672" cy="42062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Excel Tables</a:t>
            </a:r>
            <a:endParaRPr lang="en-US" sz="850" dirty="0"/>
          </a:p>
        </p:txBody>
      </p:sp>
      <p:sp>
        <p:nvSpPr>
          <p:cNvPr id="38" name="Shape 36"/>
          <p:cNvSpPr/>
          <p:nvPr/>
        </p:nvSpPr>
        <p:spPr>
          <a:xfrm>
            <a:off x="7680960" y="4151376"/>
            <a:ext cx="804672" cy="420624"/>
          </a:xfrm>
          <a:prstGeom prst="roundRect">
            <a:avLst>
              <a:gd name="adj" fmla="val 13043"/>
            </a:avLst>
          </a:prstGeom>
          <a:solidFill>
            <a:srgbClr val="22D3EE"/>
          </a:solidFill>
          <a:ln w="12700">
            <a:solidFill>
              <a:srgbClr val="22D3EE"/>
            </a:solidFill>
            <a:prstDash val="solid"/>
          </a:ln>
        </p:spPr>
      </p:sp>
      <p:sp>
        <p:nvSpPr>
          <p:cNvPr id="39" name="Text 37"/>
          <p:cNvSpPr/>
          <p:nvPr/>
        </p:nvSpPr>
        <p:spPr>
          <a:xfrm>
            <a:off x="7680960" y="4151376"/>
            <a:ext cx="804672" cy="42062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Shortcuts</a:t>
            </a:r>
            <a:endParaRPr lang="en-US" sz="850" dirty="0"/>
          </a:p>
        </p:txBody>
      </p:sp>
      <p:sp>
        <p:nvSpPr>
          <p:cNvPr id="40" name="Shape 38"/>
          <p:cNvSpPr/>
          <p:nvPr/>
        </p:nvSpPr>
        <p:spPr>
          <a:xfrm>
            <a:off x="8549640" y="4151376"/>
            <a:ext cx="804672" cy="420624"/>
          </a:xfrm>
          <a:prstGeom prst="roundRect">
            <a:avLst>
              <a:gd name="adj" fmla="val 13043"/>
            </a:avLst>
          </a:prstGeom>
          <a:solidFill>
            <a:srgbClr val="F43F5E"/>
          </a:solidFill>
          <a:ln w="12700">
            <a:solidFill>
              <a:srgbClr val="F43F5E"/>
            </a:solidFill>
            <a:prstDash val="solid"/>
          </a:ln>
        </p:spPr>
      </p:sp>
      <p:sp>
        <p:nvSpPr>
          <p:cNvPr id="41" name="Text 39"/>
          <p:cNvSpPr/>
          <p:nvPr/>
        </p:nvSpPr>
        <p:spPr>
          <a:xfrm>
            <a:off x="8549640" y="4151376"/>
            <a:ext cx="804672" cy="42062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Data Tools</a:t>
            </a:r>
            <a:endParaRPr lang="en-US" sz="850" dirty="0"/>
          </a:p>
        </p:txBody>
      </p:sp>
      <p:sp>
        <p:nvSpPr>
          <p:cNvPr id="42" name="Shape 40"/>
          <p:cNvSpPr/>
          <p:nvPr/>
        </p:nvSpPr>
        <p:spPr>
          <a:xfrm>
            <a:off x="9418320" y="4151376"/>
            <a:ext cx="804672" cy="420624"/>
          </a:xfrm>
          <a:prstGeom prst="roundRect">
            <a:avLst>
              <a:gd name="adj" fmla="val 13043"/>
            </a:avLst>
          </a:prstGeom>
          <a:solidFill>
            <a:srgbClr val="8B5CF6"/>
          </a:solidFill>
          <a:ln w="12700">
            <a:solidFill>
              <a:srgbClr val="8B5CF6"/>
            </a:solidFill>
            <a:prstDash val="solid"/>
          </a:ln>
        </p:spPr>
      </p:sp>
      <p:sp>
        <p:nvSpPr>
          <p:cNvPr id="43" name="Text 41"/>
          <p:cNvSpPr/>
          <p:nvPr/>
        </p:nvSpPr>
        <p:spPr>
          <a:xfrm>
            <a:off x="9418320" y="4151376"/>
            <a:ext cx="804672" cy="42062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Named Ranges</a:t>
            </a:r>
            <a:endParaRPr lang="en-US" sz="850" dirty="0"/>
          </a:p>
        </p:txBody>
      </p:sp>
      <p:sp>
        <p:nvSpPr>
          <p:cNvPr id="44" name="Shape 42"/>
          <p:cNvSpPr/>
          <p:nvPr/>
        </p:nvSpPr>
        <p:spPr>
          <a:xfrm>
            <a:off x="10287000" y="4151376"/>
            <a:ext cx="804672" cy="420624"/>
          </a:xfrm>
          <a:prstGeom prst="roundRect">
            <a:avLst>
              <a:gd name="adj" fmla="val 13043"/>
            </a:avLst>
          </a:prstGeom>
          <a:solidFill>
            <a:srgbClr val="217346"/>
          </a:solidFill>
          <a:ln w="12700">
            <a:solidFill>
              <a:srgbClr val="217346"/>
            </a:solidFill>
            <a:prstDash val="solid"/>
          </a:ln>
        </p:spPr>
      </p:sp>
      <p:sp>
        <p:nvSpPr>
          <p:cNvPr id="45" name="Text 43"/>
          <p:cNvSpPr/>
          <p:nvPr/>
        </p:nvSpPr>
        <p:spPr>
          <a:xfrm>
            <a:off x="10287000" y="4151376"/>
            <a:ext cx="804672" cy="42062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Power Query</a:t>
            </a:r>
            <a:endParaRPr lang="en-US" sz="850" dirty="0"/>
          </a:p>
        </p:txBody>
      </p:sp>
      <p:sp>
        <p:nvSpPr>
          <p:cNvPr id="46" name="Shape 44"/>
          <p:cNvSpPr/>
          <p:nvPr/>
        </p:nvSpPr>
        <p:spPr>
          <a:xfrm>
            <a:off x="11155680" y="4151376"/>
            <a:ext cx="804672" cy="420624"/>
          </a:xfrm>
          <a:prstGeom prst="roundRect">
            <a:avLst>
              <a:gd name="adj" fmla="val 13043"/>
            </a:avLst>
          </a:prstGeom>
          <a:solidFill>
            <a:srgbClr val="F59E0B"/>
          </a:solidFill>
          <a:ln w="12700">
            <a:solidFill>
              <a:srgbClr val="F59E0B"/>
            </a:solidFill>
            <a:prstDash val="solid"/>
          </a:ln>
        </p:spPr>
      </p:sp>
      <p:sp>
        <p:nvSpPr>
          <p:cNvPr id="47" name="Text 45"/>
          <p:cNvSpPr/>
          <p:nvPr/>
        </p:nvSpPr>
        <p:spPr>
          <a:xfrm>
            <a:off x="11155680" y="4151376"/>
            <a:ext cx="804672" cy="42062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Best Practices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0A14"/>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85C38"/>
          </a:solidFill>
          <a:ln w="12700">
            <a:solidFill>
              <a:srgbClr val="185C3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01. THE EXCEL INTERFACE - Know Your Way Around</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11338560" cy="51206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C1A38"/>
          </a:solidFill>
          <a:ln w="12700">
            <a:solidFill>
              <a:srgbClr val="0C1A3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02. NAVIGATING EXCEL - Cells, Rows, Columns, Sheets</a:t>
            </a:r>
            <a:endParaRPr lang="en-US" sz="2600" dirty="0"/>
          </a:p>
        </p:txBody>
      </p:sp>
      <p:sp>
        <p:nvSpPr>
          <p:cNvPr id="4" name="Shape 2"/>
          <p:cNvSpPr/>
          <p:nvPr/>
        </p:nvSpPr>
        <p:spPr>
          <a:xfrm>
            <a:off x="411480" y="1078992"/>
            <a:ext cx="5650992" cy="1719072"/>
          </a:xfrm>
          <a:prstGeom prst="roundRect">
            <a:avLst>
              <a:gd name="adj" fmla="val 6383"/>
            </a:avLst>
          </a:prstGeom>
          <a:solidFill>
            <a:srgbClr val="FFFFFF"/>
          </a:solidFill>
          <a:ln w="17780">
            <a:solidFill>
              <a:srgbClr val="217346"/>
            </a:solidFill>
            <a:prstDash val="solid"/>
          </a:ln>
          <a:effectLst>
            <a:outerShdw sx="100000" sy="100000" kx="0" ky="0" algn="bl" rotWithShape="0" blurRad="63500" dist="25400" dir="2700000">
              <a:srgbClr val="000000">
                <a:alpha val="12000"/>
              </a:srgbClr>
            </a:outerShdw>
          </a:effectLst>
        </p:spPr>
      </p:sp>
      <p:sp>
        <p:nvSpPr>
          <p:cNvPr id="5" name="Shape 3"/>
          <p:cNvSpPr/>
          <p:nvPr/>
        </p:nvSpPr>
        <p:spPr>
          <a:xfrm>
            <a:off x="411480" y="1078992"/>
            <a:ext cx="5650992" cy="475488"/>
          </a:xfrm>
          <a:prstGeom prst="roundRect">
            <a:avLst>
              <a:gd name="adj" fmla="val 23077"/>
            </a:avLst>
          </a:prstGeom>
          <a:solidFill>
            <a:srgbClr val="217346"/>
          </a:solidFill>
          <a:ln w="12700">
            <a:solidFill>
              <a:srgbClr val="217346"/>
            </a:solidFill>
            <a:prstDash val="solid"/>
          </a:ln>
        </p:spPr>
      </p:sp>
      <p:sp>
        <p:nvSpPr>
          <p:cNvPr id="6" name="Shape 4"/>
          <p:cNvSpPr/>
          <p:nvPr/>
        </p:nvSpPr>
        <p:spPr>
          <a:xfrm>
            <a:off x="411480" y="1389888"/>
            <a:ext cx="5650992" cy="164592"/>
          </a:xfrm>
          <a:prstGeom prst="rect">
            <a:avLst/>
          </a:prstGeom>
          <a:solidFill>
            <a:srgbClr val="217346"/>
          </a:solidFill>
          <a:ln w="12700">
            <a:solidFill>
              <a:srgbClr val="217346"/>
            </a:solidFill>
            <a:prstDash val="solid"/>
          </a:ln>
        </p:spPr>
      </p:sp>
      <p:sp>
        <p:nvSpPr>
          <p:cNvPr id="7" name="Text 5"/>
          <p:cNvSpPr/>
          <p:nvPr/>
        </p:nvSpPr>
        <p:spPr>
          <a:xfrm>
            <a:off x="539496" y="1170432"/>
            <a:ext cx="5394960" cy="329184"/>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Cell References</a:t>
            </a:r>
            <a:endParaRPr lang="en-US" sz="1300" dirty="0"/>
          </a:p>
        </p:txBody>
      </p:sp>
      <p:sp>
        <p:nvSpPr>
          <p:cNvPr id="8" name="Text 6"/>
          <p:cNvSpPr/>
          <p:nvPr/>
        </p:nvSpPr>
        <p:spPr>
          <a:xfrm>
            <a:off x="539496" y="1700784"/>
            <a:ext cx="5394960" cy="102412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Every cell has an address: Column letter + Row number. B3 = Column B, Row 3. Excel has 1,048,576 rows and 16,384 columns.</a:t>
            </a:r>
            <a:endParaRPr lang="en-US" sz="1100" dirty="0"/>
          </a:p>
        </p:txBody>
      </p:sp>
      <p:sp>
        <p:nvSpPr>
          <p:cNvPr id="9" name="Shape 7"/>
          <p:cNvSpPr/>
          <p:nvPr/>
        </p:nvSpPr>
        <p:spPr>
          <a:xfrm>
            <a:off x="6309360" y="1078992"/>
            <a:ext cx="5650992" cy="1719072"/>
          </a:xfrm>
          <a:prstGeom prst="roundRect">
            <a:avLst>
              <a:gd name="adj" fmla="val 6383"/>
            </a:avLst>
          </a:prstGeom>
          <a:solidFill>
            <a:srgbClr val="FFFFFF"/>
          </a:solidFill>
          <a:ln w="17780">
            <a:solidFill>
              <a:srgbClr val="3B82F6"/>
            </a:solidFill>
            <a:prstDash val="solid"/>
          </a:ln>
          <a:effectLst>
            <a:outerShdw sx="100000" sy="100000" kx="0" ky="0" algn="bl" rotWithShape="0" blurRad="63500" dist="25400" dir="2700000">
              <a:srgbClr val="000000">
                <a:alpha val="12000"/>
              </a:srgbClr>
            </a:outerShdw>
          </a:effectLst>
        </p:spPr>
      </p:sp>
      <p:sp>
        <p:nvSpPr>
          <p:cNvPr id="10" name="Shape 8"/>
          <p:cNvSpPr/>
          <p:nvPr/>
        </p:nvSpPr>
        <p:spPr>
          <a:xfrm>
            <a:off x="6309360" y="1078992"/>
            <a:ext cx="5650992" cy="475488"/>
          </a:xfrm>
          <a:prstGeom prst="roundRect">
            <a:avLst>
              <a:gd name="adj" fmla="val 23077"/>
            </a:avLst>
          </a:prstGeom>
          <a:solidFill>
            <a:srgbClr val="3B82F6"/>
          </a:solidFill>
          <a:ln w="12700">
            <a:solidFill>
              <a:srgbClr val="3B82F6"/>
            </a:solidFill>
            <a:prstDash val="solid"/>
          </a:ln>
        </p:spPr>
      </p:sp>
      <p:sp>
        <p:nvSpPr>
          <p:cNvPr id="11" name="Shape 9"/>
          <p:cNvSpPr/>
          <p:nvPr/>
        </p:nvSpPr>
        <p:spPr>
          <a:xfrm>
            <a:off x="6309360" y="1389888"/>
            <a:ext cx="5650992" cy="164592"/>
          </a:xfrm>
          <a:prstGeom prst="rect">
            <a:avLst/>
          </a:prstGeom>
          <a:solidFill>
            <a:srgbClr val="3B82F6"/>
          </a:solidFill>
          <a:ln w="12700">
            <a:solidFill>
              <a:srgbClr val="3B82F6"/>
            </a:solidFill>
            <a:prstDash val="solid"/>
          </a:ln>
        </p:spPr>
      </p:sp>
      <p:sp>
        <p:nvSpPr>
          <p:cNvPr id="12" name="Text 10"/>
          <p:cNvSpPr/>
          <p:nvPr/>
        </p:nvSpPr>
        <p:spPr>
          <a:xfrm>
            <a:off x="6437376" y="1170432"/>
            <a:ext cx="5394960" cy="329184"/>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Workbook vs Worksheet</a:t>
            </a:r>
            <a:endParaRPr lang="en-US" sz="1300" dirty="0"/>
          </a:p>
        </p:txBody>
      </p:sp>
      <p:sp>
        <p:nvSpPr>
          <p:cNvPr id="13" name="Text 11"/>
          <p:cNvSpPr/>
          <p:nvPr/>
        </p:nvSpPr>
        <p:spPr>
          <a:xfrm>
            <a:off x="6437376" y="1700784"/>
            <a:ext cx="5394960" cy="102412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A Workbook is the .xlsx file. Each workbook contains Worksheets (tabs at the bottom). Right-click a tab to rename, add, delete, or move.</a:t>
            </a:r>
            <a:endParaRPr lang="en-US" sz="1100" dirty="0"/>
          </a:p>
        </p:txBody>
      </p:sp>
      <p:sp>
        <p:nvSpPr>
          <p:cNvPr id="14" name="Shape 12"/>
          <p:cNvSpPr/>
          <p:nvPr/>
        </p:nvSpPr>
        <p:spPr>
          <a:xfrm>
            <a:off x="411480" y="2926080"/>
            <a:ext cx="5650992" cy="1719072"/>
          </a:xfrm>
          <a:prstGeom prst="roundRect">
            <a:avLst>
              <a:gd name="adj" fmla="val 6383"/>
            </a:avLst>
          </a:prstGeom>
          <a:solidFill>
            <a:srgbClr val="FFFFFF"/>
          </a:solidFill>
          <a:ln w="17780">
            <a:solidFill>
              <a:srgbClr val="8B5CF6"/>
            </a:solidFill>
            <a:prstDash val="solid"/>
          </a:ln>
          <a:effectLst>
            <a:outerShdw sx="100000" sy="100000" kx="0" ky="0" algn="bl" rotWithShape="0" blurRad="63500" dist="25400" dir="2700000">
              <a:srgbClr val="000000">
                <a:alpha val="12000"/>
              </a:srgbClr>
            </a:outerShdw>
          </a:effectLst>
        </p:spPr>
      </p:sp>
      <p:sp>
        <p:nvSpPr>
          <p:cNvPr id="15" name="Shape 13"/>
          <p:cNvSpPr/>
          <p:nvPr/>
        </p:nvSpPr>
        <p:spPr>
          <a:xfrm>
            <a:off x="411480" y="2926080"/>
            <a:ext cx="5650992" cy="475488"/>
          </a:xfrm>
          <a:prstGeom prst="roundRect">
            <a:avLst>
              <a:gd name="adj" fmla="val 23077"/>
            </a:avLst>
          </a:prstGeom>
          <a:solidFill>
            <a:srgbClr val="8B5CF6"/>
          </a:solidFill>
          <a:ln w="12700">
            <a:solidFill>
              <a:srgbClr val="8B5CF6"/>
            </a:solidFill>
            <a:prstDash val="solid"/>
          </a:ln>
        </p:spPr>
      </p:sp>
      <p:sp>
        <p:nvSpPr>
          <p:cNvPr id="16" name="Shape 14"/>
          <p:cNvSpPr/>
          <p:nvPr/>
        </p:nvSpPr>
        <p:spPr>
          <a:xfrm>
            <a:off x="411480" y="3236976"/>
            <a:ext cx="5650992" cy="164592"/>
          </a:xfrm>
          <a:prstGeom prst="rect">
            <a:avLst/>
          </a:prstGeom>
          <a:solidFill>
            <a:srgbClr val="8B5CF6"/>
          </a:solidFill>
          <a:ln w="12700">
            <a:solidFill>
              <a:srgbClr val="8B5CF6"/>
            </a:solidFill>
            <a:prstDash val="solid"/>
          </a:ln>
        </p:spPr>
      </p:sp>
      <p:sp>
        <p:nvSpPr>
          <p:cNvPr id="17" name="Text 15"/>
          <p:cNvSpPr/>
          <p:nvPr/>
        </p:nvSpPr>
        <p:spPr>
          <a:xfrm>
            <a:off x="539496" y="3017520"/>
            <a:ext cx="5394960" cy="329184"/>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Select Multiple Cells</a:t>
            </a:r>
            <a:endParaRPr lang="en-US" sz="1300" dirty="0"/>
          </a:p>
        </p:txBody>
      </p:sp>
      <p:sp>
        <p:nvSpPr>
          <p:cNvPr id="18" name="Text 16"/>
          <p:cNvSpPr/>
          <p:nvPr/>
        </p:nvSpPr>
        <p:spPr>
          <a:xfrm>
            <a:off x="539496" y="3547872"/>
            <a:ext cx="5394960" cy="102412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Click and drag to select a range. Ctrl+Click for non-adjacent cells. Shift+Click for a block. Ctrl+A to select all data.</a:t>
            </a:r>
            <a:endParaRPr lang="en-US" sz="1100" dirty="0"/>
          </a:p>
        </p:txBody>
      </p:sp>
      <p:sp>
        <p:nvSpPr>
          <p:cNvPr id="19" name="Shape 17"/>
          <p:cNvSpPr/>
          <p:nvPr/>
        </p:nvSpPr>
        <p:spPr>
          <a:xfrm>
            <a:off x="6309360" y="2926080"/>
            <a:ext cx="5650992" cy="1719072"/>
          </a:xfrm>
          <a:prstGeom prst="roundRect">
            <a:avLst>
              <a:gd name="adj" fmla="val 6383"/>
            </a:avLst>
          </a:prstGeom>
          <a:solidFill>
            <a:srgbClr val="FFFFFF"/>
          </a:solidFill>
          <a:ln w="17780">
            <a:solidFill>
              <a:srgbClr val="F59E0B"/>
            </a:solidFill>
            <a:prstDash val="solid"/>
          </a:ln>
          <a:effectLst>
            <a:outerShdw sx="100000" sy="100000" kx="0" ky="0" algn="bl" rotWithShape="0" blurRad="63500" dist="25400" dir="2700000">
              <a:srgbClr val="000000">
                <a:alpha val="12000"/>
              </a:srgbClr>
            </a:outerShdw>
          </a:effectLst>
        </p:spPr>
      </p:sp>
      <p:sp>
        <p:nvSpPr>
          <p:cNvPr id="20" name="Shape 18"/>
          <p:cNvSpPr/>
          <p:nvPr/>
        </p:nvSpPr>
        <p:spPr>
          <a:xfrm>
            <a:off x="6309360" y="2926080"/>
            <a:ext cx="5650992" cy="475488"/>
          </a:xfrm>
          <a:prstGeom prst="roundRect">
            <a:avLst>
              <a:gd name="adj" fmla="val 23077"/>
            </a:avLst>
          </a:prstGeom>
          <a:solidFill>
            <a:srgbClr val="F59E0B"/>
          </a:solidFill>
          <a:ln w="12700">
            <a:solidFill>
              <a:srgbClr val="F59E0B"/>
            </a:solidFill>
            <a:prstDash val="solid"/>
          </a:ln>
        </p:spPr>
      </p:sp>
      <p:sp>
        <p:nvSpPr>
          <p:cNvPr id="21" name="Shape 19"/>
          <p:cNvSpPr/>
          <p:nvPr/>
        </p:nvSpPr>
        <p:spPr>
          <a:xfrm>
            <a:off x="6309360" y="3236976"/>
            <a:ext cx="5650992" cy="164592"/>
          </a:xfrm>
          <a:prstGeom prst="rect">
            <a:avLst/>
          </a:prstGeom>
          <a:solidFill>
            <a:srgbClr val="F59E0B"/>
          </a:solidFill>
          <a:ln w="12700">
            <a:solidFill>
              <a:srgbClr val="F59E0B"/>
            </a:solidFill>
            <a:prstDash val="solid"/>
          </a:ln>
        </p:spPr>
      </p:sp>
      <p:sp>
        <p:nvSpPr>
          <p:cNvPr id="22" name="Text 20"/>
          <p:cNvSpPr/>
          <p:nvPr/>
        </p:nvSpPr>
        <p:spPr>
          <a:xfrm>
            <a:off x="6437376" y="3017520"/>
            <a:ext cx="5394960" cy="329184"/>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Freeze Panes</a:t>
            </a:r>
            <a:endParaRPr lang="en-US" sz="1300" dirty="0"/>
          </a:p>
        </p:txBody>
      </p:sp>
      <p:sp>
        <p:nvSpPr>
          <p:cNvPr id="23" name="Text 21"/>
          <p:cNvSpPr/>
          <p:nvPr/>
        </p:nvSpPr>
        <p:spPr>
          <a:xfrm>
            <a:off x="6437376" y="3547872"/>
            <a:ext cx="5394960" cy="102412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View tab -&amp;gt; Freeze Panes. Freezes rows/columns so they stay visible when scrolling. Essential for large datasets.</a:t>
            </a:r>
            <a:endParaRPr lang="en-US" sz="1100" dirty="0"/>
          </a:p>
        </p:txBody>
      </p:sp>
      <p:sp>
        <p:nvSpPr>
          <p:cNvPr id="24" name="Shape 22"/>
          <p:cNvSpPr/>
          <p:nvPr/>
        </p:nvSpPr>
        <p:spPr>
          <a:xfrm>
            <a:off x="411480" y="4773168"/>
            <a:ext cx="5650992" cy="1719072"/>
          </a:xfrm>
          <a:prstGeom prst="roundRect">
            <a:avLst>
              <a:gd name="adj" fmla="val 6383"/>
            </a:avLst>
          </a:prstGeom>
          <a:solidFill>
            <a:srgbClr val="FFFFFF"/>
          </a:solidFill>
          <a:ln w="17780">
            <a:solidFill>
              <a:srgbClr val="06B6D4"/>
            </a:solidFill>
            <a:prstDash val="solid"/>
          </a:ln>
          <a:effectLst>
            <a:outerShdw sx="100000" sy="100000" kx="0" ky="0" algn="bl" rotWithShape="0" blurRad="63500" dist="25400" dir="2700000">
              <a:srgbClr val="000000">
                <a:alpha val="12000"/>
              </a:srgbClr>
            </a:outerShdw>
          </a:effectLst>
        </p:spPr>
      </p:sp>
      <p:sp>
        <p:nvSpPr>
          <p:cNvPr id="25" name="Shape 23"/>
          <p:cNvSpPr/>
          <p:nvPr/>
        </p:nvSpPr>
        <p:spPr>
          <a:xfrm>
            <a:off x="411480" y="4773168"/>
            <a:ext cx="5650992" cy="475488"/>
          </a:xfrm>
          <a:prstGeom prst="roundRect">
            <a:avLst>
              <a:gd name="adj" fmla="val 23077"/>
            </a:avLst>
          </a:prstGeom>
          <a:solidFill>
            <a:srgbClr val="06B6D4"/>
          </a:solidFill>
          <a:ln w="12700">
            <a:solidFill>
              <a:srgbClr val="06B6D4"/>
            </a:solidFill>
            <a:prstDash val="solid"/>
          </a:ln>
        </p:spPr>
      </p:sp>
      <p:sp>
        <p:nvSpPr>
          <p:cNvPr id="26" name="Shape 24"/>
          <p:cNvSpPr/>
          <p:nvPr/>
        </p:nvSpPr>
        <p:spPr>
          <a:xfrm>
            <a:off x="411480" y="5084064"/>
            <a:ext cx="5650992" cy="164592"/>
          </a:xfrm>
          <a:prstGeom prst="rect">
            <a:avLst/>
          </a:prstGeom>
          <a:solidFill>
            <a:srgbClr val="06B6D4"/>
          </a:solidFill>
          <a:ln w="12700">
            <a:solidFill>
              <a:srgbClr val="06B6D4"/>
            </a:solidFill>
            <a:prstDash val="solid"/>
          </a:ln>
        </p:spPr>
      </p:sp>
      <p:sp>
        <p:nvSpPr>
          <p:cNvPr id="27" name="Text 25"/>
          <p:cNvSpPr/>
          <p:nvPr/>
        </p:nvSpPr>
        <p:spPr>
          <a:xfrm>
            <a:off x="539496" y="4864608"/>
            <a:ext cx="5394960" cy="329184"/>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Go To (Ctrl+G)</a:t>
            </a:r>
            <a:endParaRPr lang="en-US" sz="1300" dirty="0"/>
          </a:p>
        </p:txBody>
      </p:sp>
      <p:sp>
        <p:nvSpPr>
          <p:cNvPr id="28" name="Text 26"/>
          <p:cNvSpPr/>
          <p:nvPr/>
        </p:nvSpPr>
        <p:spPr>
          <a:xfrm>
            <a:off x="539496" y="5394960"/>
            <a:ext cx="5394960" cy="102412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Jumps to any cell, range, or named range instantly. Use Special to find blanks, formulas, or constants.</a:t>
            </a:r>
            <a:endParaRPr lang="en-US" sz="1100" dirty="0"/>
          </a:p>
        </p:txBody>
      </p:sp>
      <p:sp>
        <p:nvSpPr>
          <p:cNvPr id="29" name="Shape 27"/>
          <p:cNvSpPr/>
          <p:nvPr/>
        </p:nvSpPr>
        <p:spPr>
          <a:xfrm>
            <a:off x="6309360" y="4773168"/>
            <a:ext cx="5650992" cy="1719072"/>
          </a:xfrm>
          <a:prstGeom prst="roundRect">
            <a:avLst>
              <a:gd name="adj" fmla="val 6383"/>
            </a:avLst>
          </a:prstGeom>
          <a:solidFill>
            <a:srgbClr val="FFFFFF"/>
          </a:solidFill>
          <a:ln w="17780">
            <a:solidFill>
              <a:srgbClr val="F43F5E"/>
            </a:solidFill>
            <a:prstDash val="solid"/>
          </a:ln>
          <a:effectLst>
            <a:outerShdw sx="100000" sy="100000" kx="0" ky="0" algn="bl" rotWithShape="0" blurRad="63500" dist="25400" dir="2700000">
              <a:srgbClr val="000000">
                <a:alpha val="12000"/>
              </a:srgbClr>
            </a:outerShdw>
          </a:effectLst>
        </p:spPr>
      </p:sp>
      <p:sp>
        <p:nvSpPr>
          <p:cNvPr id="30" name="Shape 28"/>
          <p:cNvSpPr/>
          <p:nvPr/>
        </p:nvSpPr>
        <p:spPr>
          <a:xfrm>
            <a:off x="6309360" y="4773168"/>
            <a:ext cx="5650992" cy="475488"/>
          </a:xfrm>
          <a:prstGeom prst="roundRect">
            <a:avLst>
              <a:gd name="adj" fmla="val 23077"/>
            </a:avLst>
          </a:prstGeom>
          <a:solidFill>
            <a:srgbClr val="F43F5E"/>
          </a:solidFill>
          <a:ln w="12700">
            <a:solidFill>
              <a:srgbClr val="F43F5E"/>
            </a:solidFill>
            <a:prstDash val="solid"/>
          </a:ln>
        </p:spPr>
      </p:sp>
      <p:sp>
        <p:nvSpPr>
          <p:cNvPr id="31" name="Shape 29"/>
          <p:cNvSpPr/>
          <p:nvPr/>
        </p:nvSpPr>
        <p:spPr>
          <a:xfrm>
            <a:off x="6309360" y="5084064"/>
            <a:ext cx="5650992" cy="164592"/>
          </a:xfrm>
          <a:prstGeom prst="rect">
            <a:avLst/>
          </a:prstGeom>
          <a:solidFill>
            <a:srgbClr val="F43F5E"/>
          </a:solidFill>
          <a:ln w="12700">
            <a:solidFill>
              <a:srgbClr val="F43F5E"/>
            </a:solidFill>
            <a:prstDash val="solid"/>
          </a:ln>
        </p:spPr>
      </p:sp>
      <p:sp>
        <p:nvSpPr>
          <p:cNvPr id="32" name="Text 30"/>
          <p:cNvSpPr/>
          <p:nvPr/>
        </p:nvSpPr>
        <p:spPr>
          <a:xfrm>
            <a:off x="6437376" y="4864608"/>
            <a:ext cx="5394960" cy="329184"/>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Name Box</a:t>
            </a:r>
            <a:endParaRPr lang="en-US" sz="1300" dirty="0"/>
          </a:p>
        </p:txBody>
      </p:sp>
      <p:sp>
        <p:nvSpPr>
          <p:cNvPr id="33" name="Text 31"/>
          <p:cNvSpPr/>
          <p:nvPr/>
        </p:nvSpPr>
        <p:spPr>
          <a:xfrm>
            <a:off x="6437376" y="5394960"/>
            <a:ext cx="5394960" cy="102412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Type any cell address (e.g. D500) and press Enter to jump there. Or type a range name to navigate to named ranges.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0A14"/>
        </a:solidFill>
      </p:bgPr>
    </p:bg>
    <p:spTree>
      <p:nvGrpSpPr>
        <p:cNvPr id="1" name=""/>
        <p:cNvGrpSpPr/>
        <p:nvPr/>
      </p:nvGrpSpPr>
      <p:grpSpPr>
        <a:xfrm>
          <a:off x="0" y="0"/>
          <a:ext cx="0" cy="0"/>
          <a:chOff x="0" y="0"/>
          <a:chExt cx="0" cy="0"/>
        </a:xfrm>
      </p:grpSpPr>
      <p:sp>
        <p:nvSpPr>
          <p:cNvPr id="2" name="Shape 0"/>
          <p:cNvSpPr/>
          <p:nvPr/>
        </p:nvSpPr>
        <p:spPr>
          <a:xfrm>
            <a:off x="457200" y="1005840"/>
            <a:ext cx="1920240" cy="1920240"/>
          </a:xfrm>
          <a:prstGeom prst="ellipse">
            <a:avLst/>
          </a:prstGeom>
          <a:solidFill>
            <a:srgbClr val="217346"/>
          </a:solidFill>
          <a:ln w="12700">
            <a:solidFill>
              <a:srgbClr val="217346"/>
            </a:solidFill>
            <a:prstDash val="solid"/>
          </a:ln>
          <a:effectLst>
            <a:outerShdw sx="100000" sy="100000" kx="0" ky="0" algn="bl" rotWithShape="0" blurRad="127000" dist="50800" dir="2700000">
              <a:srgbClr val="000000">
                <a:alpha val="20000"/>
              </a:srgbClr>
            </a:outerShdw>
          </a:effectLst>
        </p:spPr>
      </p:sp>
      <p:sp>
        <p:nvSpPr>
          <p:cNvPr id="3" name="Text 1"/>
          <p:cNvSpPr/>
          <p:nvPr/>
        </p:nvSpPr>
        <p:spPr>
          <a:xfrm>
            <a:off x="457200" y="1005840"/>
            <a:ext cx="1920240" cy="1920240"/>
          </a:xfrm>
          <a:prstGeom prst="rect">
            <a:avLst/>
          </a:prstGeom>
          <a:noFill/>
          <a:ln/>
        </p:spPr>
        <p:txBody>
          <a:bodyPr wrap="square" lIns="0" tIns="0" rIns="0" bIns="0" rtlCol="0" anchor="ctr"/>
          <a:lstStyle/>
          <a:p>
            <a:pPr algn="ctr" indent="0" marL="0">
              <a:buNone/>
            </a:pPr>
            <a:r>
              <a:rPr lang="en-US" sz="5800" b="1" dirty="0">
                <a:solidFill>
                  <a:srgbClr val="FFFFFF"/>
                </a:solidFill>
                <a:latin typeface="Cambria" pitchFamily="34" charset="0"/>
                <a:ea typeface="Cambria" pitchFamily="34" charset="-122"/>
                <a:cs typeface="Cambria" pitchFamily="34" charset="-120"/>
              </a:rPr>
              <a:t>03</a:t>
            </a:r>
            <a:endParaRPr lang="en-US" sz="5800" dirty="0"/>
          </a:p>
        </p:txBody>
      </p:sp>
      <p:sp>
        <p:nvSpPr>
          <p:cNvPr id="4" name="Text 2"/>
          <p:cNvSpPr/>
          <p:nvPr/>
        </p:nvSpPr>
        <p:spPr>
          <a:xfrm>
            <a:off x="2743200" y="1097280"/>
            <a:ext cx="9144000" cy="16459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Data Entry and Formatting</a:t>
            </a:r>
            <a:endParaRPr lang="en-US" sz="4400" dirty="0"/>
          </a:p>
        </p:txBody>
      </p:sp>
      <p:sp>
        <p:nvSpPr>
          <p:cNvPr id="5" name="Text 3"/>
          <p:cNvSpPr/>
          <p:nvPr/>
        </p:nvSpPr>
        <p:spPr>
          <a:xfrm>
            <a:off x="2743200" y="2880360"/>
            <a:ext cx="9144000" cy="594360"/>
          </a:xfrm>
          <a:prstGeom prst="rect">
            <a:avLst/>
          </a:prstGeom>
          <a:noFill/>
          <a:ln/>
        </p:spPr>
        <p:txBody>
          <a:bodyPr wrap="square" lIns="0" tIns="0" rIns="0" bIns="0" rtlCol="0" anchor="ctr"/>
          <a:lstStyle/>
          <a:p>
            <a:pPr indent="0" marL="0">
              <a:buNone/>
            </a:pPr>
            <a:r>
              <a:rPr lang="en-US" sz="1500" i="1" dirty="0">
                <a:solidFill>
                  <a:srgbClr val="94A3B8"/>
                </a:solidFill>
                <a:latin typeface="Calibri" pitchFamily="34" charset="0"/>
                <a:ea typeface="Calibri" pitchFamily="34" charset="-122"/>
                <a:cs typeface="Calibri" pitchFamily="34" charset="-120"/>
              </a:rPr>
              <a:t>Getting data in and making it look professional.</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60A14"/>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85C38"/>
          </a:solidFill>
          <a:ln w="12700">
            <a:solidFill>
              <a:srgbClr val="185C3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03. DATA ENTRY, TYPES, AND BASIC FORMATTING</a:t>
            </a:r>
            <a:endParaRPr lang="en-US" sz="2600" dirty="0"/>
          </a:p>
        </p:txBody>
      </p:sp>
      <p:sp>
        <p:nvSpPr>
          <p:cNvPr id="4" name="Shape 2"/>
          <p:cNvSpPr/>
          <p:nvPr/>
        </p:nvSpPr>
        <p:spPr>
          <a:xfrm>
            <a:off x="411480" y="1024128"/>
            <a:ext cx="5943600" cy="4773168"/>
          </a:xfrm>
          <a:prstGeom prst="roundRect">
            <a:avLst>
              <a:gd name="adj" fmla="val 1916"/>
            </a:avLst>
          </a:prstGeom>
          <a:solidFill>
            <a:srgbClr val="0D1117"/>
          </a:solidFill>
          <a:ln w="16510">
            <a:solidFill>
              <a:srgbClr val="217346"/>
            </a:solidFill>
            <a:prstDash val="solid"/>
          </a:ln>
          <a:effectLst>
            <a:outerShdw sx="100000" sy="100000" kx="0" ky="0" algn="bl" rotWithShape="0" blurRad="127000" dist="50800" dir="2700000">
              <a:srgbClr val="000000">
                <a:alpha val="20000"/>
              </a:srgbClr>
            </a:outerShdw>
          </a:effectLst>
        </p:spPr>
      </p:sp>
      <p:sp>
        <p:nvSpPr>
          <p:cNvPr id="5" name="Shape 3"/>
          <p:cNvSpPr/>
          <p:nvPr/>
        </p:nvSpPr>
        <p:spPr>
          <a:xfrm>
            <a:off x="411480" y="1024128"/>
            <a:ext cx="5943600" cy="329184"/>
          </a:xfrm>
          <a:prstGeom prst="roundRect">
            <a:avLst>
              <a:gd name="adj" fmla="val 27778"/>
            </a:avLst>
          </a:prstGeom>
          <a:solidFill>
            <a:srgbClr val="111E35"/>
          </a:solidFill>
          <a:ln w="12700">
            <a:solidFill>
              <a:srgbClr val="111E35"/>
            </a:solidFill>
            <a:prstDash val="solid"/>
          </a:ln>
        </p:spPr>
      </p:sp>
      <p:sp>
        <p:nvSpPr>
          <p:cNvPr id="6" name="Shape 4"/>
          <p:cNvSpPr/>
          <p:nvPr/>
        </p:nvSpPr>
        <p:spPr>
          <a:xfrm>
            <a:off x="411480" y="1207008"/>
            <a:ext cx="5943600" cy="146304"/>
          </a:xfrm>
          <a:prstGeom prst="rect">
            <a:avLst/>
          </a:prstGeom>
          <a:solidFill>
            <a:srgbClr val="111E35"/>
          </a:solidFill>
          <a:ln w="12700">
            <a:solidFill>
              <a:srgbClr val="111E35"/>
            </a:solidFill>
            <a:prstDash val="solid"/>
          </a:ln>
        </p:spPr>
      </p:sp>
      <p:sp>
        <p:nvSpPr>
          <p:cNvPr id="7" name="Shape 5"/>
          <p:cNvSpPr/>
          <p:nvPr/>
        </p:nvSpPr>
        <p:spPr>
          <a:xfrm>
            <a:off x="539496" y="1115568"/>
            <a:ext cx="146304" cy="146304"/>
          </a:xfrm>
          <a:prstGeom prst="ellipse">
            <a:avLst/>
          </a:prstGeom>
          <a:solidFill>
            <a:srgbClr val="F43F5E"/>
          </a:solidFill>
          <a:ln w="12700">
            <a:solidFill>
              <a:srgbClr val="F43F5E"/>
            </a:solidFill>
            <a:prstDash val="solid"/>
          </a:ln>
        </p:spPr>
      </p:sp>
      <p:sp>
        <p:nvSpPr>
          <p:cNvPr id="8" name="Shape 6"/>
          <p:cNvSpPr/>
          <p:nvPr/>
        </p:nvSpPr>
        <p:spPr>
          <a:xfrm>
            <a:off x="740664" y="1115568"/>
            <a:ext cx="146304" cy="146304"/>
          </a:xfrm>
          <a:prstGeom prst="ellipse">
            <a:avLst/>
          </a:prstGeom>
          <a:solidFill>
            <a:srgbClr val="F59E0B"/>
          </a:solidFill>
          <a:ln w="12700">
            <a:solidFill>
              <a:srgbClr val="F59E0B"/>
            </a:solidFill>
            <a:prstDash val="solid"/>
          </a:ln>
        </p:spPr>
      </p:sp>
      <p:sp>
        <p:nvSpPr>
          <p:cNvPr id="9" name="Shape 7"/>
          <p:cNvSpPr/>
          <p:nvPr/>
        </p:nvSpPr>
        <p:spPr>
          <a:xfrm>
            <a:off x="941832" y="1115568"/>
            <a:ext cx="146304" cy="146304"/>
          </a:xfrm>
          <a:prstGeom prst="ellipse">
            <a:avLst/>
          </a:prstGeom>
          <a:solidFill>
            <a:srgbClr val="70AD47"/>
          </a:solidFill>
          <a:ln w="12700">
            <a:solidFill>
              <a:srgbClr val="70AD47"/>
            </a:solidFill>
            <a:prstDash val="solid"/>
          </a:ln>
        </p:spPr>
      </p:sp>
      <p:sp>
        <p:nvSpPr>
          <p:cNvPr id="10" name="Text 8"/>
          <p:cNvSpPr/>
          <p:nvPr/>
        </p:nvSpPr>
        <p:spPr>
          <a:xfrm>
            <a:off x="1143000" y="1078992"/>
            <a:ext cx="502920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data_entry.xlsx</a:t>
            </a:r>
            <a:endParaRPr lang="en-US" sz="900" dirty="0"/>
          </a:p>
        </p:txBody>
      </p:sp>
      <p:sp>
        <p:nvSpPr>
          <p:cNvPr id="11" name="Text 9"/>
          <p:cNvSpPr/>
          <p:nvPr/>
        </p:nvSpPr>
        <p:spPr>
          <a:xfrm>
            <a:off x="557784" y="1408176"/>
            <a:ext cx="5669280" cy="4279392"/>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Data Types in Excel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Numbers:   45000  3.14  -200  1.5E6</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Text:      Lagos  Product A  'Enter as Text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Dates:     15/01/2024  Jan 15 2024  01-15-24</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Logical:   TRUE  FALSE</a:t>
            </a:r>
            <a:endParaRPr lang="en-US" sz="1050" dirty="0"/>
          </a:p>
          <a:p>
            <a:pPr indent="0" marL="0">
              <a:buNone/>
            </a:pPr>
            <a:r>
              <a:rPr lang="en-US" sz="1050" dirty="0">
                <a:solidFill>
                  <a:srgbClr val="F43F5E"/>
                </a:solidFill>
                <a:latin typeface="Courier New" pitchFamily="34" charset="0"/>
                <a:ea typeface="Courier New" pitchFamily="34" charset="-122"/>
                <a:cs typeface="Courier New" pitchFamily="34" charset="-120"/>
              </a:rPr>
              <a:t>Errors:    #DIV/0!  #N/A  #REF!  #VALUE!</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Number Formats (Ctrl+1 -&amp;gt; Format Cells)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General:     45000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Number:      45,000.00</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Currency:    NGN 45,000.00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Percentage:  24.5%</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Date:        15 January 2024</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Custom:      NGN #,##0   0.00%   DD/MM/YYYY</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Useful Entry Shortcuts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Ctrl+;      Insert today's date: 25/06/2026</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Ctrl+Shift+: Insert current time: 09:30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Alt+Enter   New line within a cell</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Ctrl+D      Fill formula/value DOWN</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Ctrl+R      Fill formula/value RIGHT</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F4          Repeat last action</a:t>
            </a:r>
            <a:endParaRPr lang="en-US" sz="1050" dirty="0"/>
          </a:p>
        </p:txBody>
      </p:sp>
      <p:sp>
        <p:nvSpPr>
          <p:cNvPr id="12" name="Shape 10"/>
          <p:cNvSpPr/>
          <p:nvPr/>
        </p:nvSpPr>
        <p:spPr>
          <a:xfrm>
            <a:off x="6537960" y="1024128"/>
            <a:ext cx="5394960" cy="585216"/>
          </a:xfrm>
          <a:prstGeom prst="rect">
            <a:avLst/>
          </a:prstGeom>
          <a:solidFill>
            <a:srgbClr val="217346"/>
          </a:solidFill>
          <a:ln w="3810">
            <a:solidFill>
              <a:srgbClr val="1A2845"/>
            </a:solidFill>
            <a:prstDash val="solid"/>
          </a:ln>
        </p:spPr>
      </p:sp>
      <p:sp>
        <p:nvSpPr>
          <p:cNvPr id="13" name="Shape 11"/>
          <p:cNvSpPr/>
          <p:nvPr/>
        </p:nvSpPr>
        <p:spPr>
          <a:xfrm>
            <a:off x="8803843" y="1024128"/>
            <a:ext cx="18288" cy="585216"/>
          </a:xfrm>
          <a:prstGeom prst="rect">
            <a:avLst/>
          </a:prstGeom>
          <a:solidFill>
            <a:srgbClr val="FFFFFF"/>
          </a:solidFill>
          <a:ln w="12700">
            <a:solidFill>
              <a:srgbClr val="FFFFFF"/>
            </a:solidFill>
            <a:prstDash val="solid"/>
          </a:ln>
        </p:spPr>
      </p:sp>
      <p:sp>
        <p:nvSpPr>
          <p:cNvPr id="14" name="Text 12"/>
          <p:cNvSpPr/>
          <p:nvPr/>
        </p:nvSpPr>
        <p:spPr>
          <a:xfrm>
            <a:off x="6629400" y="1069848"/>
            <a:ext cx="2137867" cy="493776"/>
          </a:xfrm>
          <a:prstGeom prst="rect">
            <a:avLst/>
          </a:prstGeom>
          <a:noFill/>
          <a:ln/>
        </p:spPr>
        <p:txBody>
          <a:bodyPr wrap="square" lIns="0" tIns="0" rIns="0" bIns="0" rtlCol="0" anchor="ctr"/>
          <a:lstStyle/>
          <a:p>
            <a:pPr indent="0" marL="0">
              <a:buNone/>
            </a:pPr>
            <a:r>
              <a:rPr lang="en-US" sz="1000" b="1" dirty="0">
                <a:solidFill>
                  <a:srgbClr val="FFFFFF"/>
                </a:solidFill>
                <a:latin typeface="Cambria" pitchFamily="34" charset="0"/>
                <a:ea typeface="Cambria" pitchFamily="34" charset="-122"/>
                <a:cs typeface="Cambria" pitchFamily="34" charset="-120"/>
              </a:rPr>
              <a:t>Topic</a:t>
            </a:r>
            <a:endParaRPr lang="en-US" sz="1000" dirty="0"/>
          </a:p>
        </p:txBody>
      </p:sp>
      <p:sp>
        <p:nvSpPr>
          <p:cNvPr id="15" name="Text 13"/>
          <p:cNvSpPr/>
          <p:nvPr/>
        </p:nvSpPr>
        <p:spPr>
          <a:xfrm>
            <a:off x="8895283" y="1069848"/>
            <a:ext cx="2946197" cy="49377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Explanation</a:t>
            </a:r>
            <a:endParaRPr lang="en-US" sz="1000" dirty="0"/>
          </a:p>
        </p:txBody>
      </p:sp>
      <p:sp>
        <p:nvSpPr>
          <p:cNvPr id="16" name="Shape 14"/>
          <p:cNvSpPr/>
          <p:nvPr/>
        </p:nvSpPr>
        <p:spPr>
          <a:xfrm>
            <a:off x="6537960" y="1609344"/>
            <a:ext cx="5394960" cy="585216"/>
          </a:xfrm>
          <a:prstGeom prst="rect">
            <a:avLst/>
          </a:prstGeom>
          <a:solidFill>
            <a:srgbClr val="141E36"/>
          </a:solidFill>
          <a:ln w="3810">
            <a:solidFill>
              <a:srgbClr val="1A2845"/>
            </a:solidFill>
            <a:prstDash val="solid"/>
          </a:ln>
        </p:spPr>
      </p:sp>
      <p:sp>
        <p:nvSpPr>
          <p:cNvPr id="17" name="Shape 15"/>
          <p:cNvSpPr/>
          <p:nvPr/>
        </p:nvSpPr>
        <p:spPr>
          <a:xfrm>
            <a:off x="8803843" y="1609344"/>
            <a:ext cx="18288" cy="585216"/>
          </a:xfrm>
          <a:prstGeom prst="rect">
            <a:avLst/>
          </a:prstGeom>
          <a:solidFill>
            <a:srgbClr val="1E293B"/>
          </a:solidFill>
          <a:ln w="12700">
            <a:solidFill>
              <a:srgbClr val="1E293B"/>
            </a:solidFill>
            <a:prstDash val="solid"/>
          </a:ln>
        </p:spPr>
      </p:sp>
      <p:sp>
        <p:nvSpPr>
          <p:cNvPr id="18" name="Text 16"/>
          <p:cNvSpPr/>
          <p:nvPr/>
        </p:nvSpPr>
        <p:spPr>
          <a:xfrm>
            <a:off x="6629400" y="1655064"/>
            <a:ext cx="2137867"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Numbers</a:t>
            </a:r>
            <a:endParaRPr lang="en-US" sz="950" dirty="0"/>
          </a:p>
        </p:txBody>
      </p:sp>
      <p:sp>
        <p:nvSpPr>
          <p:cNvPr id="19" name="Text 17"/>
          <p:cNvSpPr/>
          <p:nvPr/>
        </p:nvSpPr>
        <p:spPr>
          <a:xfrm>
            <a:off x="8895283" y="1655064"/>
            <a:ext cx="2946197"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Excel stores numbers as numeric values. Never type commas yourself (45,000) - use number format. Excel right-aligns numbers.</a:t>
            </a:r>
            <a:endParaRPr lang="en-US" sz="1000" dirty="0"/>
          </a:p>
        </p:txBody>
      </p:sp>
      <p:sp>
        <p:nvSpPr>
          <p:cNvPr id="20" name="Shape 18"/>
          <p:cNvSpPr/>
          <p:nvPr/>
        </p:nvSpPr>
        <p:spPr>
          <a:xfrm>
            <a:off x="6537960" y="2194560"/>
            <a:ext cx="5394960" cy="585216"/>
          </a:xfrm>
          <a:prstGeom prst="rect">
            <a:avLst/>
          </a:prstGeom>
          <a:solidFill>
            <a:srgbClr val="0F1D3C"/>
          </a:solidFill>
          <a:ln w="3810">
            <a:solidFill>
              <a:srgbClr val="1A2845"/>
            </a:solidFill>
            <a:prstDash val="solid"/>
          </a:ln>
        </p:spPr>
      </p:sp>
      <p:sp>
        <p:nvSpPr>
          <p:cNvPr id="21" name="Shape 19"/>
          <p:cNvSpPr/>
          <p:nvPr/>
        </p:nvSpPr>
        <p:spPr>
          <a:xfrm>
            <a:off x="8803843" y="2194560"/>
            <a:ext cx="18288" cy="585216"/>
          </a:xfrm>
          <a:prstGeom prst="rect">
            <a:avLst/>
          </a:prstGeom>
          <a:solidFill>
            <a:srgbClr val="1E293B"/>
          </a:solidFill>
          <a:ln w="12700">
            <a:solidFill>
              <a:srgbClr val="1E293B"/>
            </a:solidFill>
            <a:prstDash val="solid"/>
          </a:ln>
        </p:spPr>
      </p:sp>
      <p:sp>
        <p:nvSpPr>
          <p:cNvPr id="22" name="Text 20"/>
          <p:cNvSpPr/>
          <p:nvPr/>
        </p:nvSpPr>
        <p:spPr>
          <a:xfrm>
            <a:off x="6629400" y="2240280"/>
            <a:ext cx="2137867"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Text</a:t>
            </a:r>
            <a:endParaRPr lang="en-US" sz="950" dirty="0"/>
          </a:p>
        </p:txBody>
      </p:sp>
      <p:sp>
        <p:nvSpPr>
          <p:cNvPr id="23" name="Text 21"/>
          <p:cNvSpPr/>
          <p:nvPr/>
        </p:nvSpPr>
        <p:spPr>
          <a:xfrm>
            <a:off x="8895283" y="2240280"/>
            <a:ext cx="2946197"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Excel left-aligns text. To force a number to be stored as text, type an apostrophe first: '001234. Used for IDs and codes.</a:t>
            </a:r>
            <a:endParaRPr lang="en-US" sz="1000" dirty="0"/>
          </a:p>
        </p:txBody>
      </p:sp>
      <p:sp>
        <p:nvSpPr>
          <p:cNvPr id="24" name="Shape 22"/>
          <p:cNvSpPr/>
          <p:nvPr/>
        </p:nvSpPr>
        <p:spPr>
          <a:xfrm>
            <a:off x="6537960" y="2779776"/>
            <a:ext cx="5394960" cy="585216"/>
          </a:xfrm>
          <a:prstGeom prst="rect">
            <a:avLst/>
          </a:prstGeom>
          <a:solidFill>
            <a:srgbClr val="141E36"/>
          </a:solidFill>
          <a:ln w="3810">
            <a:solidFill>
              <a:srgbClr val="1A2845"/>
            </a:solidFill>
            <a:prstDash val="solid"/>
          </a:ln>
        </p:spPr>
      </p:sp>
      <p:sp>
        <p:nvSpPr>
          <p:cNvPr id="25" name="Shape 23"/>
          <p:cNvSpPr/>
          <p:nvPr/>
        </p:nvSpPr>
        <p:spPr>
          <a:xfrm>
            <a:off x="8803843" y="2779776"/>
            <a:ext cx="18288" cy="585216"/>
          </a:xfrm>
          <a:prstGeom prst="rect">
            <a:avLst/>
          </a:prstGeom>
          <a:solidFill>
            <a:srgbClr val="1E293B"/>
          </a:solidFill>
          <a:ln w="12700">
            <a:solidFill>
              <a:srgbClr val="1E293B"/>
            </a:solidFill>
            <a:prstDash val="solid"/>
          </a:ln>
        </p:spPr>
      </p:sp>
      <p:sp>
        <p:nvSpPr>
          <p:cNvPr id="26" name="Text 24"/>
          <p:cNvSpPr/>
          <p:nvPr/>
        </p:nvSpPr>
        <p:spPr>
          <a:xfrm>
            <a:off x="6629400" y="2825496"/>
            <a:ext cx="2137867"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Dates</a:t>
            </a:r>
            <a:endParaRPr lang="en-US" sz="950" dirty="0"/>
          </a:p>
        </p:txBody>
      </p:sp>
      <p:sp>
        <p:nvSpPr>
          <p:cNvPr id="27" name="Text 25"/>
          <p:cNvSpPr/>
          <p:nvPr/>
        </p:nvSpPr>
        <p:spPr>
          <a:xfrm>
            <a:off x="8895283" y="2825496"/>
            <a:ext cx="2946197"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Internally stored as numbers (days since 01/01/1900). This enables date arithmetic: =B2-A2 gives days between two dates.</a:t>
            </a:r>
            <a:endParaRPr lang="en-US" sz="1000" dirty="0"/>
          </a:p>
        </p:txBody>
      </p:sp>
      <p:sp>
        <p:nvSpPr>
          <p:cNvPr id="28" name="Shape 26"/>
          <p:cNvSpPr/>
          <p:nvPr/>
        </p:nvSpPr>
        <p:spPr>
          <a:xfrm>
            <a:off x="6537960" y="3364992"/>
            <a:ext cx="5394960" cy="585216"/>
          </a:xfrm>
          <a:prstGeom prst="rect">
            <a:avLst/>
          </a:prstGeom>
          <a:solidFill>
            <a:srgbClr val="0F1D3C"/>
          </a:solidFill>
          <a:ln w="3810">
            <a:solidFill>
              <a:srgbClr val="1A2845"/>
            </a:solidFill>
            <a:prstDash val="solid"/>
          </a:ln>
        </p:spPr>
      </p:sp>
      <p:sp>
        <p:nvSpPr>
          <p:cNvPr id="29" name="Shape 27"/>
          <p:cNvSpPr/>
          <p:nvPr/>
        </p:nvSpPr>
        <p:spPr>
          <a:xfrm>
            <a:off x="8803843" y="3364992"/>
            <a:ext cx="18288" cy="585216"/>
          </a:xfrm>
          <a:prstGeom prst="rect">
            <a:avLst/>
          </a:prstGeom>
          <a:solidFill>
            <a:srgbClr val="1E293B"/>
          </a:solidFill>
          <a:ln w="12700">
            <a:solidFill>
              <a:srgbClr val="1E293B"/>
            </a:solidFill>
            <a:prstDash val="solid"/>
          </a:ln>
        </p:spPr>
      </p:sp>
      <p:sp>
        <p:nvSpPr>
          <p:cNvPr id="30" name="Text 28"/>
          <p:cNvSpPr/>
          <p:nvPr/>
        </p:nvSpPr>
        <p:spPr>
          <a:xfrm>
            <a:off x="6629400" y="3410712"/>
            <a:ext cx="2137867"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#DIV/0! error</a:t>
            </a:r>
            <a:endParaRPr lang="en-US" sz="950" dirty="0"/>
          </a:p>
        </p:txBody>
      </p:sp>
      <p:sp>
        <p:nvSpPr>
          <p:cNvPr id="31" name="Text 29"/>
          <p:cNvSpPr/>
          <p:nvPr/>
        </p:nvSpPr>
        <p:spPr>
          <a:xfrm>
            <a:off x="8895283" y="3410712"/>
            <a:ext cx="2946197"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Occurs when dividing by zero. Wrap with: =IFERROR(A1/B1, 0) to show 0 instead.</a:t>
            </a:r>
            <a:endParaRPr lang="en-US" sz="1000" dirty="0"/>
          </a:p>
        </p:txBody>
      </p:sp>
      <p:sp>
        <p:nvSpPr>
          <p:cNvPr id="32" name="Shape 30"/>
          <p:cNvSpPr/>
          <p:nvPr/>
        </p:nvSpPr>
        <p:spPr>
          <a:xfrm>
            <a:off x="6537960" y="3950208"/>
            <a:ext cx="5394960" cy="585216"/>
          </a:xfrm>
          <a:prstGeom prst="rect">
            <a:avLst/>
          </a:prstGeom>
          <a:solidFill>
            <a:srgbClr val="141E36"/>
          </a:solidFill>
          <a:ln w="3810">
            <a:solidFill>
              <a:srgbClr val="1A2845"/>
            </a:solidFill>
            <a:prstDash val="solid"/>
          </a:ln>
        </p:spPr>
      </p:sp>
      <p:sp>
        <p:nvSpPr>
          <p:cNvPr id="33" name="Shape 31"/>
          <p:cNvSpPr/>
          <p:nvPr/>
        </p:nvSpPr>
        <p:spPr>
          <a:xfrm>
            <a:off x="8803843" y="3950208"/>
            <a:ext cx="18288" cy="585216"/>
          </a:xfrm>
          <a:prstGeom prst="rect">
            <a:avLst/>
          </a:prstGeom>
          <a:solidFill>
            <a:srgbClr val="1E293B"/>
          </a:solidFill>
          <a:ln w="12700">
            <a:solidFill>
              <a:srgbClr val="1E293B"/>
            </a:solidFill>
            <a:prstDash val="solid"/>
          </a:ln>
        </p:spPr>
      </p:sp>
      <p:sp>
        <p:nvSpPr>
          <p:cNvPr id="34" name="Text 32"/>
          <p:cNvSpPr/>
          <p:nvPr/>
        </p:nvSpPr>
        <p:spPr>
          <a:xfrm>
            <a:off x="6629400" y="3995928"/>
            <a:ext cx="2137867"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#N/A error</a:t>
            </a:r>
            <a:endParaRPr lang="en-US" sz="950" dirty="0"/>
          </a:p>
        </p:txBody>
      </p:sp>
      <p:sp>
        <p:nvSpPr>
          <p:cNvPr id="35" name="Text 33"/>
          <p:cNvSpPr/>
          <p:nvPr/>
        </p:nvSpPr>
        <p:spPr>
          <a:xfrm>
            <a:off x="8895283" y="3995928"/>
            <a:ext cx="2946197"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Lookup function could not find the value. Wrap with IFERROR or use XLOOKUP's [if_not_found] parameter.</a:t>
            </a:r>
            <a:endParaRPr lang="en-US" sz="1000" dirty="0"/>
          </a:p>
        </p:txBody>
      </p:sp>
      <p:sp>
        <p:nvSpPr>
          <p:cNvPr id="36" name="Shape 34"/>
          <p:cNvSpPr/>
          <p:nvPr/>
        </p:nvSpPr>
        <p:spPr>
          <a:xfrm>
            <a:off x="6537960" y="4535424"/>
            <a:ext cx="5394960" cy="585216"/>
          </a:xfrm>
          <a:prstGeom prst="rect">
            <a:avLst/>
          </a:prstGeom>
          <a:solidFill>
            <a:srgbClr val="0F1D3C"/>
          </a:solidFill>
          <a:ln w="3810">
            <a:solidFill>
              <a:srgbClr val="1A2845"/>
            </a:solidFill>
            <a:prstDash val="solid"/>
          </a:ln>
        </p:spPr>
      </p:sp>
      <p:sp>
        <p:nvSpPr>
          <p:cNvPr id="37" name="Shape 35"/>
          <p:cNvSpPr/>
          <p:nvPr/>
        </p:nvSpPr>
        <p:spPr>
          <a:xfrm>
            <a:off x="8803843" y="4535424"/>
            <a:ext cx="18288" cy="585216"/>
          </a:xfrm>
          <a:prstGeom prst="rect">
            <a:avLst/>
          </a:prstGeom>
          <a:solidFill>
            <a:srgbClr val="1E293B"/>
          </a:solidFill>
          <a:ln w="12700">
            <a:solidFill>
              <a:srgbClr val="1E293B"/>
            </a:solidFill>
            <a:prstDash val="solid"/>
          </a:ln>
        </p:spPr>
      </p:sp>
      <p:sp>
        <p:nvSpPr>
          <p:cNvPr id="38" name="Text 36"/>
          <p:cNvSpPr/>
          <p:nvPr/>
        </p:nvSpPr>
        <p:spPr>
          <a:xfrm>
            <a:off x="6629400" y="4581144"/>
            <a:ext cx="2137867"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#REF! error</a:t>
            </a:r>
            <a:endParaRPr lang="en-US" sz="950" dirty="0"/>
          </a:p>
        </p:txBody>
      </p:sp>
      <p:sp>
        <p:nvSpPr>
          <p:cNvPr id="39" name="Text 37"/>
          <p:cNvSpPr/>
          <p:nvPr/>
        </p:nvSpPr>
        <p:spPr>
          <a:xfrm>
            <a:off x="8895283" y="4581144"/>
            <a:ext cx="2946197"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 referenced cell was deleted. The formula lost its reference. Update the formula to point to valid cells.</a:t>
            </a:r>
            <a:endParaRPr lang="en-US" sz="1000" dirty="0"/>
          </a:p>
        </p:txBody>
      </p:sp>
      <p:sp>
        <p:nvSpPr>
          <p:cNvPr id="40" name="Shape 38"/>
          <p:cNvSpPr/>
          <p:nvPr/>
        </p:nvSpPr>
        <p:spPr>
          <a:xfrm>
            <a:off x="6537960" y="5120640"/>
            <a:ext cx="5394960" cy="585216"/>
          </a:xfrm>
          <a:prstGeom prst="rect">
            <a:avLst/>
          </a:prstGeom>
          <a:solidFill>
            <a:srgbClr val="141E36"/>
          </a:solidFill>
          <a:ln w="3810">
            <a:solidFill>
              <a:srgbClr val="1A2845"/>
            </a:solidFill>
            <a:prstDash val="solid"/>
          </a:ln>
        </p:spPr>
      </p:sp>
      <p:sp>
        <p:nvSpPr>
          <p:cNvPr id="41" name="Shape 39"/>
          <p:cNvSpPr/>
          <p:nvPr/>
        </p:nvSpPr>
        <p:spPr>
          <a:xfrm>
            <a:off x="8803843" y="5120640"/>
            <a:ext cx="18288" cy="585216"/>
          </a:xfrm>
          <a:prstGeom prst="rect">
            <a:avLst/>
          </a:prstGeom>
          <a:solidFill>
            <a:srgbClr val="1E293B"/>
          </a:solidFill>
          <a:ln w="12700">
            <a:solidFill>
              <a:srgbClr val="1E293B"/>
            </a:solidFill>
            <a:prstDash val="solid"/>
          </a:ln>
        </p:spPr>
      </p:sp>
      <p:sp>
        <p:nvSpPr>
          <p:cNvPr id="42" name="Text 40"/>
          <p:cNvSpPr/>
          <p:nvPr/>
        </p:nvSpPr>
        <p:spPr>
          <a:xfrm>
            <a:off x="6629400" y="5166360"/>
            <a:ext cx="2137867"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#VALUE! error</a:t>
            </a:r>
            <a:endParaRPr lang="en-US" sz="950" dirty="0"/>
          </a:p>
        </p:txBody>
      </p:sp>
      <p:sp>
        <p:nvSpPr>
          <p:cNvPr id="43" name="Text 41"/>
          <p:cNvSpPr/>
          <p:nvPr/>
        </p:nvSpPr>
        <p:spPr>
          <a:xfrm>
            <a:off x="8895283" y="5166360"/>
            <a:ext cx="2946197"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Wrong data type in formula. Usually means text in a cell where a number is expected.</a:t>
            </a:r>
            <a:endParaRPr lang="en-US" sz="1000" dirty="0"/>
          </a:p>
        </p:txBody>
      </p:sp>
      <p:sp>
        <p:nvSpPr>
          <p:cNvPr id="44" name="Shape 42"/>
          <p:cNvSpPr/>
          <p:nvPr/>
        </p:nvSpPr>
        <p:spPr>
          <a:xfrm>
            <a:off x="6537960" y="5705856"/>
            <a:ext cx="5394960" cy="585216"/>
          </a:xfrm>
          <a:prstGeom prst="rect">
            <a:avLst/>
          </a:prstGeom>
          <a:solidFill>
            <a:srgbClr val="0F1D3C"/>
          </a:solidFill>
          <a:ln w="3810">
            <a:solidFill>
              <a:srgbClr val="1A2845"/>
            </a:solidFill>
            <a:prstDash val="solid"/>
          </a:ln>
        </p:spPr>
      </p:sp>
      <p:sp>
        <p:nvSpPr>
          <p:cNvPr id="45" name="Shape 43"/>
          <p:cNvSpPr/>
          <p:nvPr/>
        </p:nvSpPr>
        <p:spPr>
          <a:xfrm>
            <a:off x="8803843" y="5705856"/>
            <a:ext cx="18288" cy="585216"/>
          </a:xfrm>
          <a:prstGeom prst="rect">
            <a:avLst/>
          </a:prstGeom>
          <a:solidFill>
            <a:srgbClr val="1E293B"/>
          </a:solidFill>
          <a:ln w="12700">
            <a:solidFill>
              <a:srgbClr val="1E293B"/>
            </a:solidFill>
            <a:prstDash val="solid"/>
          </a:ln>
        </p:spPr>
      </p:sp>
      <p:sp>
        <p:nvSpPr>
          <p:cNvPr id="46" name="Text 44"/>
          <p:cNvSpPr/>
          <p:nvPr/>
        </p:nvSpPr>
        <p:spPr>
          <a:xfrm>
            <a:off x="6629400" y="5751576"/>
            <a:ext cx="2137867"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Custom format NGN #,##0</a:t>
            </a:r>
            <a:endParaRPr lang="en-US" sz="950" dirty="0"/>
          </a:p>
        </p:txBody>
      </p:sp>
      <p:sp>
        <p:nvSpPr>
          <p:cNvPr id="47" name="Text 45"/>
          <p:cNvSpPr/>
          <p:nvPr/>
        </p:nvSpPr>
        <p:spPr>
          <a:xfrm>
            <a:off x="8895283" y="5751576"/>
            <a:ext cx="2946197"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Creates a Nigerian Naira currency display: NGN 45,000. Does not change the underlying value.</a:t>
            </a:r>
            <a:endParaRPr lang="en-US" sz="1000" dirty="0"/>
          </a:p>
        </p:txBody>
      </p:sp>
      <p:sp>
        <p:nvSpPr>
          <p:cNvPr id="48" name="Shape 46"/>
          <p:cNvSpPr/>
          <p:nvPr/>
        </p:nvSpPr>
        <p:spPr>
          <a:xfrm>
            <a:off x="6537960" y="5047488"/>
            <a:ext cx="5394960" cy="1664208"/>
          </a:xfrm>
          <a:prstGeom prst="roundRect">
            <a:avLst>
              <a:gd name="adj" fmla="val 5495"/>
            </a:avLst>
          </a:prstGeom>
          <a:solidFill>
            <a:srgbClr val="0D1117"/>
          </a:solidFill>
          <a:ln w="16510">
            <a:solidFill>
              <a:srgbClr val="217346"/>
            </a:solidFill>
            <a:prstDash val="solid"/>
          </a:ln>
          <a:effectLst>
            <a:outerShdw sx="100000" sy="100000" kx="0" ky="0" algn="bl" rotWithShape="0" blurRad="127000" dist="50800" dir="2700000">
              <a:srgbClr val="000000">
                <a:alpha val="20000"/>
              </a:srgbClr>
            </a:outerShdw>
          </a:effectLst>
        </p:spPr>
      </p:sp>
      <p:sp>
        <p:nvSpPr>
          <p:cNvPr id="49" name="Shape 47"/>
          <p:cNvSpPr/>
          <p:nvPr/>
        </p:nvSpPr>
        <p:spPr>
          <a:xfrm>
            <a:off x="6537960" y="5047488"/>
            <a:ext cx="5394960" cy="329184"/>
          </a:xfrm>
          <a:prstGeom prst="roundRect">
            <a:avLst>
              <a:gd name="adj" fmla="val 27778"/>
            </a:avLst>
          </a:prstGeom>
          <a:solidFill>
            <a:srgbClr val="111E35"/>
          </a:solidFill>
          <a:ln w="12700">
            <a:solidFill>
              <a:srgbClr val="111E35"/>
            </a:solidFill>
            <a:prstDash val="solid"/>
          </a:ln>
        </p:spPr>
      </p:sp>
      <p:sp>
        <p:nvSpPr>
          <p:cNvPr id="50" name="Shape 48"/>
          <p:cNvSpPr/>
          <p:nvPr/>
        </p:nvSpPr>
        <p:spPr>
          <a:xfrm>
            <a:off x="6537960" y="5230368"/>
            <a:ext cx="5394960" cy="146304"/>
          </a:xfrm>
          <a:prstGeom prst="rect">
            <a:avLst/>
          </a:prstGeom>
          <a:solidFill>
            <a:srgbClr val="111E35"/>
          </a:solidFill>
          <a:ln w="12700">
            <a:solidFill>
              <a:srgbClr val="111E35"/>
            </a:solidFill>
            <a:prstDash val="solid"/>
          </a:ln>
        </p:spPr>
      </p:sp>
      <p:sp>
        <p:nvSpPr>
          <p:cNvPr id="51" name="Shape 49"/>
          <p:cNvSpPr/>
          <p:nvPr/>
        </p:nvSpPr>
        <p:spPr>
          <a:xfrm>
            <a:off x="6665976" y="5138928"/>
            <a:ext cx="146304" cy="146304"/>
          </a:xfrm>
          <a:prstGeom prst="ellipse">
            <a:avLst/>
          </a:prstGeom>
          <a:solidFill>
            <a:srgbClr val="F43F5E"/>
          </a:solidFill>
          <a:ln w="12700">
            <a:solidFill>
              <a:srgbClr val="F43F5E"/>
            </a:solidFill>
            <a:prstDash val="solid"/>
          </a:ln>
        </p:spPr>
      </p:sp>
      <p:sp>
        <p:nvSpPr>
          <p:cNvPr id="52" name="Shape 50"/>
          <p:cNvSpPr/>
          <p:nvPr/>
        </p:nvSpPr>
        <p:spPr>
          <a:xfrm>
            <a:off x="6867144" y="5138928"/>
            <a:ext cx="146304" cy="146304"/>
          </a:xfrm>
          <a:prstGeom prst="ellipse">
            <a:avLst/>
          </a:prstGeom>
          <a:solidFill>
            <a:srgbClr val="F59E0B"/>
          </a:solidFill>
          <a:ln w="12700">
            <a:solidFill>
              <a:srgbClr val="F59E0B"/>
            </a:solidFill>
            <a:prstDash val="solid"/>
          </a:ln>
        </p:spPr>
      </p:sp>
      <p:sp>
        <p:nvSpPr>
          <p:cNvPr id="53" name="Shape 51"/>
          <p:cNvSpPr/>
          <p:nvPr/>
        </p:nvSpPr>
        <p:spPr>
          <a:xfrm>
            <a:off x="7068312" y="5138928"/>
            <a:ext cx="146304" cy="146304"/>
          </a:xfrm>
          <a:prstGeom prst="ellipse">
            <a:avLst/>
          </a:prstGeom>
          <a:solidFill>
            <a:srgbClr val="70AD47"/>
          </a:solidFill>
          <a:ln w="12700">
            <a:solidFill>
              <a:srgbClr val="70AD47"/>
            </a:solidFill>
            <a:prstDash val="solid"/>
          </a:ln>
        </p:spPr>
      </p:sp>
      <p:sp>
        <p:nvSpPr>
          <p:cNvPr id="54" name="Text 52"/>
          <p:cNvSpPr/>
          <p:nvPr/>
        </p:nvSpPr>
        <p:spPr>
          <a:xfrm>
            <a:off x="7269480" y="5102352"/>
            <a:ext cx="448056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errors.xlsx</a:t>
            </a:r>
            <a:endParaRPr lang="en-US" sz="900" dirty="0"/>
          </a:p>
        </p:txBody>
      </p:sp>
      <p:sp>
        <p:nvSpPr>
          <p:cNvPr id="55" name="Text 53"/>
          <p:cNvSpPr/>
          <p:nvPr/>
        </p:nvSpPr>
        <p:spPr>
          <a:xfrm>
            <a:off x="6684264" y="5431536"/>
            <a:ext cx="5120640" cy="1170432"/>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Error Handling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=IFERROR(A1/B1, 0)    &amp;lt;- show 0 if error</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=IFERROR(A1/B1, "-") &amp;lt;- show dash if error</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=IF(B1=0, "N/A", A1/B1)  &amp;lt;- check before divide</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=IFNA(VLOOKUP(...),'Not found') &amp;lt;- for #N/A</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60A14"/>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85C38"/>
          </a:solidFill>
          <a:ln w="12700">
            <a:solidFill>
              <a:srgbClr val="185C3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04. FORMULAS - The Engine of Excel</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11338560" cy="53949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C1A38"/>
          </a:solidFill>
          <a:ln w="12700">
            <a:solidFill>
              <a:srgbClr val="0C1A3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04A. CELL REFERENCES - Relative, Absolute, and Mixed</a:t>
            </a:r>
            <a:endParaRPr lang="en-US" sz="2600" dirty="0"/>
          </a:p>
        </p:txBody>
      </p:sp>
      <p:sp>
        <p:nvSpPr>
          <p:cNvPr id="4" name="Shape 2"/>
          <p:cNvSpPr/>
          <p:nvPr/>
        </p:nvSpPr>
        <p:spPr>
          <a:xfrm>
            <a:off x="411480" y="1024128"/>
            <a:ext cx="6400800" cy="4297680"/>
          </a:xfrm>
          <a:prstGeom prst="roundRect">
            <a:avLst>
              <a:gd name="adj" fmla="val 2128"/>
            </a:avLst>
          </a:prstGeom>
          <a:solidFill>
            <a:srgbClr val="0D1117"/>
          </a:solidFill>
          <a:ln w="16510">
            <a:solidFill>
              <a:srgbClr val="217346"/>
            </a:solidFill>
            <a:prstDash val="solid"/>
          </a:ln>
          <a:effectLst>
            <a:outerShdw sx="100000" sy="100000" kx="0" ky="0" algn="bl" rotWithShape="0" blurRad="127000" dist="50800" dir="2700000">
              <a:srgbClr val="000000">
                <a:alpha val="20000"/>
              </a:srgbClr>
            </a:outerShdw>
          </a:effectLst>
        </p:spPr>
      </p:sp>
      <p:sp>
        <p:nvSpPr>
          <p:cNvPr id="5" name="Shape 3"/>
          <p:cNvSpPr/>
          <p:nvPr/>
        </p:nvSpPr>
        <p:spPr>
          <a:xfrm>
            <a:off x="411480" y="1024128"/>
            <a:ext cx="6400800" cy="329184"/>
          </a:xfrm>
          <a:prstGeom prst="roundRect">
            <a:avLst>
              <a:gd name="adj" fmla="val 27778"/>
            </a:avLst>
          </a:prstGeom>
          <a:solidFill>
            <a:srgbClr val="111E35"/>
          </a:solidFill>
          <a:ln w="12700">
            <a:solidFill>
              <a:srgbClr val="111E35"/>
            </a:solidFill>
            <a:prstDash val="solid"/>
          </a:ln>
        </p:spPr>
      </p:sp>
      <p:sp>
        <p:nvSpPr>
          <p:cNvPr id="6" name="Shape 4"/>
          <p:cNvSpPr/>
          <p:nvPr/>
        </p:nvSpPr>
        <p:spPr>
          <a:xfrm>
            <a:off x="411480" y="1207008"/>
            <a:ext cx="6400800" cy="146304"/>
          </a:xfrm>
          <a:prstGeom prst="rect">
            <a:avLst/>
          </a:prstGeom>
          <a:solidFill>
            <a:srgbClr val="111E35"/>
          </a:solidFill>
          <a:ln w="12700">
            <a:solidFill>
              <a:srgbClr val="111E35"/>
            </a:solidFill>
            <a:prstDash val="solid"/>
          </a:ln>
        </p:spPr>
      </p:sp>
      <p:sp>
        <p:nvSpPr>
          <p:cNvPr id="7" name="Shape 5"/>
          <p:cNvSpPr/>
          <p:nvPr/>
        </p:nvSpPr>
        <p:spPr>
          <a:xfrm>
            <a:off x="539496" y="1115568"/>
            <a:ext cx="146304" cy="146304"/>
          </a:xfrm>
          <a:prstGeom prst="ellipse">
            <a:avLst/>
          </a:prstGeom>
          <a:solidFill>
            <a:srgbClr val="F43F5E"/>
          </a:solidFill>
          <a:ln w="12700">
            <a:solidFill>
              <a:srgbClr val="F43F5E"/>
            </a:solidFill>
            <a:prstDash val="solid"/>
          </a:ln>
        </p:spPr>
      </p:sp>
      <p:sp>
        <p:nvSpPr>
          <p:cNvPr id="8" name="Shape 6"/>
          <p:cNvSpPr/>
          <p:nvPr/>
        </p:nvSpPr>
        <p:spPr>
          <a:xfrm>
            <a:off x="740664" y="1115568"/>
            <a:ext cx="146304" cy="146304"/>
          </a:xfrm>
          <a:prstGeom prst="ellipse">
            <a:avLst/>
          </a:prstGeom>
          <a:solidFill>
            <a:srgbClr val="F59E0B"/>
          </a:solidFill>
          <a:ln w="12700">
            <a:solidFill>
              <a:srgbClr val="F59E0B"/>
            </a:solidFill>
            <a:prstDash val="solid"/>
          </a:ln>
        </p:spPr>
      </p:sp>
      <p:sp>
        <p:nvSpPr>
          <p:cNvPr id="9" name="Shape 7"/>
          <p:cNvSpPr/>
          <p:nvPr/>
        </p:nvSpPr>
        <p:spPr>
          <a:xfrm>
            <a:off x="941832" y="1115568"/>
            <a:ext cx="146304" cy="146304"/>
          </a:xfrm>
          <a:prstGeom prst="ellipse">
            <a:avLst/>
          </a:prstGeom>
          <a:solidFill>
            <a:srgbClr val="70AD47"/>
          </a:solidFill>
          <a:ln w="12700">
            <a:solidFill>
              <a:srgbClr val="70AD47"/>
            </a:solidFill>
            <a:prstDash val="solid"/>
          </a:ln>
        </p:spPr>
      </p:sp>
      <p:sp>
        <p:nvSpPr>
          <p:cNvPr id="10" name="Text 8"/>
          <p:cNvSpPr/>
          <p:nvPr/>
        </p:nvSpPr>
        <p:spPr>
          <a:xfrm>
            <a:off x="1143000" y="1078992"/>
            <a:ext cx="548640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references.xlsx</a:t>
            </a:r>
            <a:endParaRPr lang="en-US" sz="900" dirty="0"/>
          </a:p>
        </p:txBody>
      </p:sp>
      <p:sp>
        <p:nvSpPr>
          <p:cNvPr id="11" name="Text 9"/>
          <p:cNvSpPr/>
          <p:nvPr/>
        </p:nvSpPr>
        <p:spPr>
          <a:xfrm>
            <a:off x="557784" y="1408176"/>
            <a:ext cx="6126480" cy="3803904"/>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Relative Reference (default)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=A1+B1    When copied to next row: =A2+B2</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=SUM(B2:B10)  Adjusts row numbers when copied</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Use when: copying same formula across rows/cols</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Absolute Reference (use $ sign) --</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=$A$1+B1  $A$1 NEVER changes when copied</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=B2*$D$1  D1 stays fixed (e.g. tax rate cell)</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Shortcut: Press F4 to toggle $ on a reference</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Mixed References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=$A1   Column A fixed, row changes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=A$1   Row 1 fixed, column changes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Use when: building multiplication tables</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Real Example (Tax Calculator) --</a:t>
            </a: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Tax Rate is in D1 = 0.075  (7.5%)</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B2: Sales = 500,000</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C2: Tax   = =B2*$D$1    &amp;lt;- D1 stays fixed</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C3: Tax   = =B3*$D$1    &amp;lt;- copied down: B3*D1</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If D1 changes, ALL tax calculations update</a:t>
            </a:r>
            <a:endParaRPr lang="en-US" sz="1050" dirty="0"/>
          </a:p>
        </p:txBody>
      </p:sp>
      <p:sp>
        <p:nvSpPr>
          <p:cNvPr id="12" name="Shape 10"/>
          <p:cNvSpPr/>
          <p:nvPr/>
        </p:nvSpPr>
        <p:spPr>
          <a:xfrm>
            <a:off x="6995160" y="1024128"/>
            <a:ext cx="4937760" cy="585216"/>
          </a:xfrm>
          <a:prstGeom prst="rect">
            <a:avLst/>
          </a:prstGeom>
          <a:solidFill>
            <a:srgbClr val="217346"/>
          </a:solidFill>
          <a:ln w="3810">
            <a:solidFill>
              <a:srgbClr val="1A2845"/>
            </a:solidFill>
            <a:prstDash val="solid"/>
          </a:ln>
        </p:spPr>
      </p:sp>
      <p:sp>
        <p:nvSpPr>
          <p:cNvPr id="13" name="Shape 11"/>
          <p:cNvSpPr/>
          <p:nvPr/>
        </p:nvSpPr>
        <p:spPr>
          <a:xfrm>
            <a:off x="9069019" y="1024128"/>
            <a:ext cx="18288" cy="585216"/>
          </a:xfrm>
          <a:prstGeom prst="rect">
            <a:avLst/>
          </a:prstGeom>
          <a:solidFill>
            <a:srgbClr val="FFFFFF"/>
          </a:solidFill>
          <a:ln w="12700">
            <a:solidFill>
              <a:srgbClr val="FFFFFF"/>
            </a:solidFill>
            <a:prstDash val="solid"/>
          </a:ln>
        </p:spPr>
      </p:sp>
      <p:sp>
        <p:nvSpPr>
          <p:cNvPr id="14" name="Text 12"/>
          <p:cNvSpPr/>
          <p:nvPr/>
        </p:nvSpPr>
        <p:spPr>
          <a:xfrm>
            <a:off x="7086600" y="1069848"/>
            <a:ext cx="1945843" cy="493776"/>
          </a:xfrm>
          <a:prstGeom prst="rect">
            <a:avLst/>
          </a:prstGeom>
          <a:noFill/>
          <a:ln/>
        </p:spPr>
        <p:txBody>
          <a:bodyPr wrap="square" lIns="0" tIns="0" rIns="0" bIns="0" rtlCol="0" anchor="ctr"/>
          <a:lstStyle/>
          <a:p>
            <a:pPr indent="0" marL="0">
              <a:buNone/>
            </a:pPr>
            <a:r>
              <a:rPr lang="en-US" sz="1000" b="1" dirty="0">
                <a:solidFill>
                  <a:srgbClr val="FFFFFF"/>
                </a:solidFill>
                <a:latin typeface="Cambria" pitchFamily="34" charset="0"/>
                <a:ea typeface="Cambria" pitchFamily="34" charset="-122"/>
                <a:cs typeface="Cambria" pitchFamily="34" charset="-120"/>
              </a:rPr>
              <a:t>Reference Type</a:t>
            </a:r>
            <a:endParaRPr lang="en-US" sz="1000" dirty="0"/>
          </a:p>
        </p:txBody>
      </p:sp>
      <p:sp>
        <p:nvSpPr>
          <p:cNvPr id="15" name="Text 13"/>
          <p:cNvSpPr/>
          <p:nvPr/>
        </p:nvSpPr>
        <p:spPr>
          <a:xfrm>
            <a:off x="9160459" y="1069848"/>
            <a:ext cx="2681021" cy="49377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Explanation and When to Use</a:t>
            </a:r>
            <a:endParaRPr lang="en-US" sz="1000" dirty="0"/>
          </a:p>
        </p:txBody>
      </p:sp>
      <p:sp>
        <p:nvSpPr>
          <p:cNvPr id="16" name="Shape 14"/>
          <p:cNvSpPr/>
          <p:nvPr/>
        </p:nvSpPr>
        <p:spPr>
          <a:xfrm>
            <a:off x="6995160" y="1609344"/>
            <a:ext cx="4937760" cy="585216"/>
          </a:xfrm>
          <a:prstGeom prst="rect">
            <a:avLst/>
          </a:prstGeom>
          <a:solidFill>
            <a:srgbClr val="141E36"/>
          </a:solidFill>
          <a:ln w="3810">
            <a:solidFill>
              <a:srgbClr val="1A2845"/>
            </a:solidFill>
            <a:prstDash val="solid"/>
          </a:ln>
        </p:spPr>
      </p:sp>
      <p:sp>
        <p:nvSpPr>
          <p:cNvPr id="17" name="Shape 15"/>
          <p:cNvSpPr/>
          <p:nvPr/>
        </p:nvSpPr>
        <p:spPr>
          <a:xfrm>
            <a:off x="9069019" y="1609344"/>
            <a:ext cx="18288" cy="585216"/>
          </a:xfrm>
          <a:prstGeom prst="rect">
            <a:avLst/>
          </a:prstGeom>
          <a:solidFill>
            <a:srgbClr val="1E293B"/>
          </a:solidFill>
          <a:ln w="12700">
            <a:solidFill>
              <a:srgbClr val="1E293B"/>
            </a:solidFill>
            <a:prstDash val="solid"/>
          </a:ln>
        </p:spPr>
      </p:sp>
      <p:sp>
        <p:nvSpPr>
          <p:cNvPr id="18" name="Text 16"/>
          <p:cNvSpPr/>
          <p:nvPr/>
        </p:nvSpPr>
        <p:spPr>
          <a:xfrm>
            <a:off x="7086600" y="1655064"/>
            <a:ext cx="1945843"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A1 (Relative)</a:t>
            </a:r>
            <a:endParaRPr lang="en-US" sz="950" dirty="0"/>
          </a:p>
        </p:txBody>
      </p:sp>
      <p:sp>
        <p:nvSpPr>
          <p:cNvPr id="19" name="Text 17"/>
          <p:cNvSpPr/>
          <p:nvPr/>
        </p:nvSpPr>
        <p:spPr>
          <a:xfrm>
            <a:off x="9160459" y="1655064"/>
            <a:ext cx="2681021"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Both column and row adjust when copied. Use in most standard formulas that repeat down a dataset.</a:t>
            </a:r>
            <a:endParaRPr lang="en-US" sz="1000" dirty="0"/>
          </a:p>
        </p:txBody>
      </p:sp>
      <p:sp>
        <p:nvSpPr>
          <p:cNvPr id="20" name="Shape 18"/>
          <p:cNvSpPr/>
          <p:nvPr/>
        </p:nvSpPr>
        <p:spPr>
          <a:xfrm>
            <a:off x="6995160" y="2194560"/>
            <a:ext cx="4937760" cy="585216"/>
          </a:xfrm>
          <a:prstGeom prst="rect">
            <a:avLst/>
          </a:prstGeom>
          <a:solidFill>
            <a:srgbClr val="0F1D3C"/>
          </a:solidFill>
          <a:ln w="3810">
            <a:solidFill>
              <a:srgbClr val="1A2845"/>
            </a:solidFill>
            <a:prstDash val="solid"/>
          </a:ln>
        </p:spPr>
      </p:sp>
      <p:sp>
        <p:nvSpPr>
          <p:cNvPr id="21" name="Shape 19"/>
          <p:cNvSpPr/>
          <p:nvPr/>
        </p:nvSpPr>
        <p:spPr>
          <a:xfrm>
            <a:off x="9069019" y="2194560"/>
            <a:ext cx="18288" cy="585216"/>
          </a:xfrm>
          <a:prstGeom prst="rect">
            <a:avLst/>
          </a:prstGeom>
          <a:solidFill>
            <a:srgbClr val="1E293B"/>
          </a:solidFill>
          <a:ln w="12700">
            <a:solidFill>
              <a:srgbClr val="1E293B"/>
            </a:solidFill>
            <a:prstDash val="solid"/>
          </a:ln>
        </p:spPr>
      </p:sp>
      <p:sp>
        <p:nvSpPr>
          <p:cNvPr id="22" name="Text 20"/>
          <p:cNvSpPr/>
          <p:nvPr/>
        </p:nvSpPr>
        <p:spPr>
          <a:xfrm>
            <a:off x="7086600" y="2240280"/>
            <a:ext cx="1945843"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$A$1 (Absolute)</a:t>
            </a:r>
            <a:endParaRPr lang="en-US" sz="950" dirty="0"/>
          </a:p>
        </p:txBody>
      </p:sp>
      <p:sp>
        <p:nvSpPr>
          <p:cNvPr id="23" name="Text 21"/>
          <p:cNvSpPr/>
          <p:nvPr/>
        </p:nvSpPr>
        <p:spPr>
          <a:xfrm>
            <a:off x="9160459" y="2240280"/>
            <a:ext cx="2681021"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Both column and row are FIXED. Use when referencing a single config cell (tax rate, target, exchange rate).</a:t>
            </a:r>
            <a:endParaRPr lang="en-US" sz="1000" dirty="0"/>
          </a:p>
        </p:txBody>
      </p:sp>
      <p:sp>
        <p:nvSpPr>
          <p:cNvPr id="24" name="Shape 22"/>
          <p:cNvSpPr/>
          <p:nvPr/>
        </p:nvSpPr>
        <p:spPr>
          <a:xfrm>
            <a:off x="6995160" y="2779776"/>
            <a:ext cx="4937760" cy="585216"/>
          </a:xfrm>
          <a:prstGeom prst="rect">
            <a:avLst/>
          </a:prstGeom>
          <a:solidFill>
            <a:srgbClr val="141E36"/>
          </a:solidFill>
          <a:ln w="3810">
            <a:solidFill>
              <a:srgbClr val="1A2845"/>
            </a:solidFill>
            <a:prstDash val="solid"/>
          </a:ln>
        </p:spPr>
      </p:sp>
      <p:sp>
        <p:nvSpPr>
          <p:cNvPr id="25" name="Shape 23"/>
          <p:cNvSpPr/>
          <p:nvPr/>
        </p:nvSpPr>
        <p:spPr>
          <a:xfrm>
            <a:off x="9069019" y="2779776"/>
            <a:ext cx="18288" cy="585216"/>
          </a:xfrm>
          <a:prstGeom prst="rect">
            <a:avLst/>
          </a:prstGeom>
          <a:solidFill>
            <a:srgbClr val="1E293B"/>
          </a:solidFill>
          <a:ln w="12700">
            <a:solidFill>
              <a:srgbClr val="1E293B"/>
            </a:solidFill>
            <a:prstDash val="solid"/>
          </a:ln>
        </p:spPr>
      </p:sp>
      <p:sp>
        <p:nvSpPr>
          <p:cNvPr id="26" name="Text 24"/>
          <p:cNvSpPr/>
          <p:nvPr/>
        </p:nvSpPr>
        <p:spPr>
          <a:xfrm>
            <a:off x="7086600" y="2825496"/>
            <a:ext cx="1945843"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$A1 (Column fixed)</a:t>
            </a:r>
            <a:endParaRPr lang="en-US" sz="950" dirty="0"/>
          </a:p>
        </p:txBody>
      </p:sp>
      <p:sp>
        <p:nvSpPr>
          <p:cNvPr id="27" name="Text 25"/>
          <p:cNvSpPr/>
          <p:nvPr/>
        </p:nvSpPr>
        <p:spPr>
          <a:xfrm>
            <a:off x="9160459" y="2825496"/>
            <a:ext cx="2681021"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Column A is fixed but row changes. Use in a cross-reference table where rows change but the column is fixed.</a:t>
            </a:r>
            <a:endParaRPr lang="en-US" sz="1000" dirty="0"/>
          </a:p>
        </p:txBody>
      </p:sp>
      <p:sp>
        <p:nvSpPr>
          <p:cNvPr id="28" name="Shape 26"/>
          <p:cNvSpPr/>
          <p:nvPr/>
        </p:nvSpPr>
        <p:spPr>
          <a:xfrm>
            <a:off x="6995160" y="3364992"/>
            <a:ext cx="4937760" cy="585216"/>
          </a:xfrm>
          <a:prstGeom prst="rect">
            <a:avLst/>
          </a:prstGeom>
          <a:solidFill>
            <a:srgbClr val="0F1D3C"/>
          </a:solidFill>
          <a:ln w="3810">
            <a:solidFill>
              <a:srgbClr val="1A2845"/>
            </a:solidFill>
            <a:prstDash val="solid"/>
          </a:ln>
        </p:spPr>
      </p:sp>
      <p:sp>
        <p:nvSpPr>
          <p:cNvPr id="29" name="Shape 27"/>
          <p:cNvSpPr/>
          <p:nvPr/>
        </p:nvSpPr>
        <p:spPr>
          <a:xfrm>
            <a:off x="9069019" y="3364992"/>
            <a:ext cx="18288" cy="585216"/>
          </a:xfrm>
          <a:prstGeom prst="rect">
            <a:avLst/>
          </a:prstGeom>
          <a:solidFill>
            <a:srgbClr val="1E293B"/>
          </a:solidFill>
          <a:ln w="12700">
            <a:solidFill>
              <a:srgbClr val="1E293B"/>
            </a:solidFill>
            <a:prstDash val="solid"/>
          </a:ln>
        </p:spPr>
      </p:sp>
      <p:sp>
        <p:nvSpPr>
          <p:cNvPr id="30" name="Text 28"/>
          <p:cNvSpPr/>
          <p:nvPr/>
        </p:nvSpPr>
        <p:spPr>
          <a:xfrm>
            <a:off x="7086600" y="3410712"/>
            <a:ext cx="1945843"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A$1 (Row fixed)</a:t>
            </a:r>
            <a:endParaRPr lang="en-US" sz="950" dirty="0"/>
          </a:p>
        </p:txBody>
      </p:sp>
      <p:sp>
        <p:nvSpPr>
          <p:cNvPr id="31" name="Text 29"/>
          <p:cNvSpPr/>
          <p:nvPr/>
        </p:nvSpPr>
        <p:spPr>
          <a:xfrm>
            <a:off x="9160459" y="3410712"/>
            <a:ext cx="2681021"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Row 1 is fixed but column changes. Use in multiplication tables where you move right but the row stays.</a:t>
            </a:r>
            <a:endParaRPr lang="en-US" sz="1000" dirty="0"/>
          </a:p>
        </p:txBody>
      </p:sp>
      <p:sp>
        <p:nvSpPr>
          <p:cNvPr id="32" name="Shape 30"/>
          <p:cNvSpPr/>
          <p:nvPr/>
        </p:nvSpPr>
        <p:spPr>
          <a:xfrm>
            <a:off x="6995160" y="3950208"/>
            <a:ext cx="4937760" cy="585216"/>
          </a:xfrm>
          <a:prstGeom prst="rect">
            <a:avLst/>
          </a:prstGeom>
          <a:solidFill>
            <a:srgbClr val="141E36"/>
          </a:solidFill>
          <a:ln w="3810">
            <a:solidFill>
              <a:srgbClr val="1A2845"/>
            </a:solidFill>
            <a:prstDash val="solid"/>
          </a:ln>
        </p:spPr>
      </p:sp>
      <p:sp>
        <p:nvSpPr>
          <p:cNvPr id="33" name="Shape 31"/>
          <p:cNvSpPr/>
          <p:nvPr/>
        </p:nvSpPr>
        <p:spPr>
          <a:xfrm>
            <a:off x="9069019" y="3950208"/>
            <a:ext cx="18288" cy="585216"/>
          </a:xfrm>
          <a:prstGeom prst="rect">
            <a:avLst/>
          </a:prstGeom>
          <a:solidFill>
            <a:srgbClr val="1E293B"/>
          </a:solidFill>
          <a:ln w="12700">
            <a:solidFill>
              <a:srgbClr val="1E293B"/>
            </a:solidFill>
            <a:prstDash val="solid"/>
          </a:ln>
        </p:spPr>
      </p:sp>
      <p:sp>
        <p:nvSpPr>
          <p:cNvPr id="34" name="Text 32"/>
          <p:cNvSpPr/>
          <p:nvPr/>
        </p:nvSpPr>
        <p:spPr>
          <a:xfrm>
            <a:off x="7086600" y="3995928"/>
            <a:ext cx="1945843"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F4 key</a:t>
            </a:r>
            <a:endParaRPr lang="en-US" sz="950" dirty="0"/>
          </a:p>
        </p:txBody>
      </p:sp>
      <p:sp>
        <p:nvSpPr>
          <p:cNvPr id="35" name="Text 33"/>
          <p:cNvSpPr/>
          <p:nvPr/>
        </p:nvSpPr>
        <p:spPr>
          <a:xfrm>
            <a:off x="9160459" y="3995928"/>
            <a:ext cx="2681021"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Cycles through A1 -&amp;gt; $A$1 -&amp;gt; A$1 -&amp;gt; $A1 -&amp;gt; A1. Press while the cursor is on a reference in the formula bar.</a:t>
            </a:r>
            <a:endParaRPr lang="en-US" sz="1000" dirty="0"/>
          </a:p>
        </p:txBody>
      </p:sp>
      <p:sp>
        <p:nvSpPr>
          <p:cNvPr id="36" name="Shape 34"/>
          <p:cNvSpPr/>
          <p:nvPr/>
        </p:nvSpPr>
        <p:spPr>
          <a:xfrm>
            <a:off x="6995160" y="4535424"/>
            <a:ext cx="4937760" cy="585216"/>
          </a:xfrm>
          <a:prstGeom prst="rect">
            <a:avLst/>
          </a:prstGeom>
          <a:solidFill>
            <a:srgbClr val="0F1D3C"/>
          </a:solidFill>
          <a:ln w="3810">
            <a:solidFill>
              <a:srgbClr val="1A2845"/>
            </a:solidFill>
            <a:prstDash val="solid"/>
          </a:ln>
        </p:spPr>
      </p:sp>
      <p:sp>
        <p:nvSpPr>
          <p:cNvPr id="37" name="Shape 35"/>
          <p:cNvSpPr/>
          <p:nvPr/>
        </p:nvSpPr>
        <p:spPr>
          <a:xfrm>
            <a:off x="9069019" y="4535424"/>
            <a:ext cx="18288" cy="585216"/>
          </a:xfrm>
          <a:prstGeom prst="rect">
            <a:avLst/>
          </a:prstGeom>
          <a:solidFill>
            <a:srgbClr val="1E293B"/>
          </a:solidFill>
          <a:ln w="12700">
            <a:solidFill>
              <a:srgbClr val="1E293B"/>
            </a:solidFill>
            <a:prstDash val="solid"/>
          </a:ln>
        </p:spPr>
      </p:sp>
      <p:sp>
        <p:nvSpPr>
          <p:cNvPr id="38" name="Text 36"/>
          <p:cNvSpPr/>
          <p:nvPr/>
        </p:nvSpPr>
        <p:spPr>
          <a:xfrm>
            <a:off x="7086600" y="4581144"/>
            <a:ext cx="1945843"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Best practice</a:t>
            </a:r>
            <a:endParaRPr lang="en-US" sz="950" dirty="0"/>
          </a:p>
        </p:txBody>
      </p:sp>
      <p:sp>
        <p:nvSpPr>
          <p:cNvPr id="39" name="Text 37"/>
          <p:cNvSpPr/>
          <p:nvPr/>
        </p:nvSpPr>
        <p:spPr>
          <a:xfrm>
            <a:off x="9160459" y="4581144"/>
            <a:ext cx="2681021"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Put all configurable values (rates, targets, dates) in a dedicated area and reference them absolutely. Change one cell to update the whole model.</a:t>
            </a:r>
            <a:endParaRPr lang="en-US" sz="1000" dirty="0"/>
          </a:p>
        </p:txBody>
      </p:sp>
      <p:sp>
        <p:nvSpPr>
          <p:cNvPr id="40" name="Shape 38"/>
          <p:cNvSpPr/>
          <p:nvPr/>
        </p:nvSpPr>
        <p:spPr>
          <a:xfrm>
            <a:off x="6995160" y="5065776"/>
            <a:ext cx="4937760" cy="1645920"/>
          </a:xfrm>
          <a:prstGeom prst="roundRect">
            <a:avLst>
              <a:gd name="adj" fmla="val 5556"/>
            </a:avLst>
          </a:prstGeom>
          <a:solidFill>
            <a:srgbClr val="0D1117"/>
          </a:solidFill>
          <a:ln w="16510">
            <a:solidFill>
              <a:srgbClr val="217346"/>
            </a:solidFill>
            <a:prstDash val="solid"/>
          </a:ln>
          <a:effectLst>
            <a:outerShdw sx="100000" sy="100000" kx="0" ky="0" algn="bl" rotWithShape="0" blurRad="127000" dist="50800" dir="2700000">
              <a:srgbClr val="000000">
                <a:alpha val="20000"/>
              </a:srgbClr>
            </a:outerShdw>
          </a:effectLst>
        </p:spPr>
      </p:sp>
      <p:sp>
        <p:nvSpPr>
          <p:cNvPr id="41" name="Shape 39"/>
          <p:cNvSpPr/>
          <p:nvPr/>
        </p:nvSpPr>
        <p:spPr>
          <a:xfrm>
            <a:off x="6995160" y="5065776"/>
            <a:ext cx="4937760" cy="329184"/>
          </a:xfrm>
          <a:prstGeom prst="roundRect">
            <a:avLst>
              <a:gd name="adj" fmla="val 27778"/>
            </a:avLst>
          </a:prstGeom>
          <a:solidFill>
            <a:srgbClr val="111E35"/>
          </a:solidFill>
          <a:ln w="12700">
            <a:solidFill>
              <a:srgbClr val="111E35"/>
            </a:solidFill>
            <a:prstDash val="solid"/>
          </a:ln>
        </p:spPr>
      </p:sp>
      <p:sp>
        <p:nvSpPr>
          <p:cNvPr id="42" name="Shape 40"/>
          <p:cNvSpPr/>
          <p:nvPr/>
        </p:nvSpPr>
        <p:spPr>
          <a:xfrm>
            <a:off x="6995160" y="5248656"/>
            <a:ext cx="4937760" cy="146304"/>
          </a:xfrm>
          <a:prstGeom prst="rect">
            <a:avLst/>
          </a:prstGeom>
          <a:solidFill>
            <a:srgbClr val="111E35"/>
          </a:solidFill>
          <a:ln w="12700">
            <a:solidFill>
              <a:srgbClr val="111E35"/>
            </a:solidFill>
            <a:prstDash val="solid"/>
          </a:ln>
        </p:spPr>
      </p:sp>
      <p:sp>
        <p:nvSpPr>
          <p:cNvPr id="43" name="Shape 41"/>
          <p:cNvSpPr/>
          <p:nvPr/>
        </p:nvSpPr>
        <p:spPr>
          <a:xfrm>
            <a:off x="7123176" y="5157216"/>
            <a:ext cx="146304" cy="146304"/>
          </a:xfrm>
          <a:prstGeom prst="ellipse">
            <a:avLst/>
          </a:prstGeom>
          <a:solidFill>
            <a:srgbClr val="F43F5E"/>
          </a:solidFill>
          <a:ln w="12700">
            <a:solidFill>
              <a:srgbClr val="F43F5E"/>
            </a:solidFill>
            <a:prstDash val="solid"/>
          </a:ln>
        </p:spPr>
      </p:sp>
      <p:sp>
        <p:nvSpPr>
          <p:cNvPr id="44" name="Shape 42"/>
          <p:cNvSpPr/>
          <p:nvPr/>
        </p:nvSpPr>
        <p:spPr>
          <a:xfrm>
            <a:off x="7324344" y="5157216"/>
            <a:ext cx="146304" cy="146304"/>
          </a:xfrm>
          <a:prstGeom prst="ellipse">
            <a:avLst/>
          </a:prstGeom>
          <a:solidFill>
            <a:srgbClr val="F59E0B"/>
          </a:solidFill>
          <a:ln w="12700">
            <a:solidFill>
              <a:srgbClr val="F59E0B"/>
            </a:solidFill>
            <a:prstDash val="solid"/>
          </a:ln>
        </p:spPr>
      </p:sp>
      <p:sp>
        <p:nvSpPr>
          <p:cNvPr id="45" name="Shape 43"/>
          <p:cNvSpPr/>
          <p:nvPr/>
        </p:nvSpPr>
        <p:spPr>
          <a:xfrm>
            <a:off x="7525512" y="5157216"/>
            <a:ext cx="146304" cy="146304"/>
          </a:xfrm>
          <a:prstGeom prst="ellipse">
            <a:avLst/>
          </a:prstGeom>
          <a:solidFill>
            <a:srgbClr val="70AD47"/>
          </a:solidFill>
          <a:ln w="12700">
            <a:solidFill>
              <a:srgbClr val="70AD47"/>
            </a:solidFill>
            <a:prstDash val="solid"/>
          </a:ln>
        </p:spPr>
      </p:sp>
      <p:sp>
        <p:nvSpPr>
          <p:cNvPr id="46" name="Text 44"/>
          <p:cNvSpPr/>
          <p:nvPr/>
        </p:nvSpPr>
        <p:spPr>
          <a:xfrm>
            <a:off x="7726680" y="5120640"/>
            <a:ext cx="402336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f4.xlsx</a:t>
            </a:r>
            <a:endParaRPr lang="en-US" sz="900" dirty="0"/>
          </a:p>
        </p:txBody>
      </p:sp>
      <p:sp>
        <p:nvSpPr>
          <p:cNvPr id="47" name="Text 45"/>
          <p:cNvSpPr/>
          <p:nvPr/>
        </p:nvSpPr>
        <p:spPr>
          <a:xfrm>
            <a:off x="7141464" y="5449824"/>
            <a:ext cx="4663440" cy="1152144"/>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F4 Shortcut Cycles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A1    (press F4) -&amp;gt;  $A$1</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$A$1  (press F4) -&amp;gt;  A$1</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A$1   (press F4) -&amp;gt;  $A1</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$A1   (press F4) -&amp;gt;  A1</a:t>
            </a:r>
            <a:endParaRPr lang="en-US" sz="1050" dirty="0"/>
          </a:p>
          <a:p>
            <a:pPr indent="0" marL="0">
              <a:buNone/>
            </a:pP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=B2*$D$1 &amp;lt;- classic absolute usage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60A14"/>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85C38"/>
          </a:solidFill>
          <a:ln w="12700">
            <a:solidFill>
              <a:srgbClr val="185C3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05. MATH AND STATISTICAL FUNCTIONS</a:t>
            </a:r>
            <a:endParaRPr lang="en-US" sz="2600" dirty="0"/>
          </a:p>
        </p:txBody>
      </p:sp>
      <p:sp>
        <p:nvSpPr>
          <p:cNvPr id="4" name="Shape 2"/>
          <p:cNvSpPr/>
          <p:nvPr/>
        </p:nvSpPr>
        <p:spPr>
          <a:xfrm>
            <a:off x="411480" y="1024128"/>
            <a:ext cx="6583680" cy="5559552"/>
          </a:xfrm>
          <a:prstGeom prst="roundRect">
            <a:avLst>
              <a:gd name="adj" fmla="val 1645"/>
            </a:avLst>
          </a:prstGeom>
          <a:solidFill>
            <a:srgbClr val="0D1117"/>
          </a:solidFill>
          <a:ln w="16510">
            <a:solidFill>
              <a:srgbClr val="217346"/>
            </a:solidFill>
            <a:prstDash val="solid"/>
          </a:ln>
          <a:effectLst>
            <a:outerShdw sx="100000" sy="100000" kx="0" ky="0" algn="bl" rotWithShape="0" blurRad="127000" dist="50800" dir="2700000">
              <a:srgbClr val="000000">
                <a:alpha val="20000"/>
              </a:srgbClr>
            </a:outerShdw>
          </a:effectLst>
        </p:spPr>
      </p:sp>
      <p:sp>
        <p:nvSpPr>
          <p:cNvPr id="5" name="Shape 3"/>
          <p:cNvSpPr/>
          <p:nvPr/>
        </p:nvSpPr>
        <p:spPr>
          <a:xfrm>
            <a:off x="411480" y="1024128"/>
            <a:ext cx="6583680" cy="329184"/>
          </a:xfrm>
          <a:prstGeom prst="roundRect">
            <a:avLst>
              <a:gd name="adj" fmla="val 27778"/>
            </a:avLst>
          </a:prstGeom>
          <a:solidFill>
            <a:srgbClr val="111E35"/>
          </a:solidFill>
          <a:ln w="12700">
            <a:solidFill>
              <a:srgbClr val="111E35"/>
            </a:solidFill>
            <a:prstDash val="solid"/>
          </a:ln>
        </p:spPr>
      </p:sp>
      <p:sp>
        <p:nvSpPr>
          <p:cNvPr id="6" name="Shape 4"/>
          <p:cNvSpPr/>
          <p:nvPr/>
        </p:nvSpPr>
        <p:spPr>
          <a:xfrm>
            <a:off x="411480" y="1207008"/>
            <a:ext cx="6583680" cy="146304"/>
          </a:xfrm>
          <a:prstGeom prst="rect">
            <a:avLst/>
          </a:prstGeom>
          <a:solidFill>
            <a:srgbClr val="111E35"/>
          </a:solidFill>
          <a:ln w="12700">
            <a:solidFill>
              <a:srgbClr val="111E35"/>
            </a:solidFill>
            <a:prstDash val="solid"/>
          </a:ln>
        </p:spPr>
      </p:sp>
      <p:sp>
        <p:nvSpPr>
          <p:cNvPr id="7" name="Shape 5"/>
          <p:cNvSpPr/>
          <p:nvPr/>
        </p:nvSpPr>
        <p:spPr>
          <a:xfrm>
            <a:off x="539496" y="1115568"/>
            <a:ext cx="146304" cy="146304"/>
          </a:xfrm>
          <a:prstGeom prst="ellipse">
            <a:avLst/>
          </a:prstGeom>
          <a:solidFill>
            <a:srgbClr val="F43F5E"/>
          </a:solidFill>
          <a:ln w="12700">
            <a:solidFill>
              <a:srgbClr val="F43F5E"/>
            </a:solidFill>
            <a:prstDash val="solid"/>
          </a:ln>
        </p:spPr>
      </p:sp>
      <p:sp>
        <p:nvSpPr>
          <p:cNvPr id="8" name="Shape 6"/>
          <p:cNvSpPr/>
          <p:nvPr/>
        </p:nvSpPr>
        <p:spPr>
          <a:xfrm>
            <a:off x="740664" y="1115568"/>
            <a:ext cx="146304" cy="146304"/>
          </a:xfrm>
          <a:prstGeom prst="ellipse">
            <a:avLst/>
          </a:prstGeom>
          <a:solidFill>
            <a:srgbClr val="F59E0B"/>
          </a:solidFill>
          <a:ln w="12700">
            <a:solidFill>
              <a:srgbClr val="F59E0B"/>
            </a:solidFill>
            <a:prstDash val="solid"/>
          </a:ln>
        </p:spPr>
      </p:sp>
      <p:sp>
        <p:nvSpPr>
          <p:cNvPr id="9" name="Shape 7"/>
          <p:cNvSpPr/>
          <p:nvPr/>
        </p:nvSpPr>
        <p:spPr>
          <a:xfrm>
            <a:off x="941832" y="1115568"/>
            <a:ext cx="146304" cy="146304"/>
          </a:xfrm>
          <a:prstGeom prst="ellipse">
            <a:avLst/>
          </a:prstGeom>
          <a:solidFill>
            <a:srgbClr val="70AD47"/>
          </a:solidFill>
          <a:ln w="12700">
            <a:solidFill>
              <a:srgbClr val="70AD47"/>
            </a:solidFill>
            <a:prstDash val="solid"/>
          </a:ln>
        </p:spPr>
      </p:sp>
      <p:sp>
        <p:nvSpPr>
          <p:cNvPr id="10" name="Text 8"/>
          <p:cNvSpPr/>
          <p:nvPr/>
        </p:nvSpPr>
        <p:spPr>
          <a:xfrm>
            <a:off x="1143000" y="1078992"/>
            <a:ext cx="566928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math_fns.xlsx</a:t>
            </a:r>
            <a:endParaRPr lang="en-US" sz="900" dirty="0"/>
          </a:p>
        </p:txBody>
      </p:sp>
      <p:sp>
        <p:nvSpPr>
          <p:cNvPr id="11" name="Text 9"/>
          <p:cNvSpPr/>
          <p:nvPr/>
        </p:nvSpPr>
        <p:spPr>
          <a:xfrm>
            <a:off x="557784" y="1408176"/>
            <a:ext cx="6309360" cy="5065776"/>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Basic Aggregation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=SUM(B2:B100)        Sum of all values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=AVERAGE(C2:C100)    Mean of all values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=COUNT(D2:D100)      Count of numbers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=COUNTA(A2:A100)     Count of non-empty cells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=MAX(B2:B100)        Highest value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=MIN(B2:B100)        Lowest value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=MEDIAN(B2:B100)     Middle value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=STDEV(B2:B100)      Standard deviation</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=LARGE(B2:B100, 2)   2nd largest value</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=SMALL(B2:B100, 3)   3rd smallest value</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Conditional Aggregation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=SUMIF(A:A, "Lagos", B:B)</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  Sum B where A = 'Lagos'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=COUNTIF(A:A, "&amp;gt;50000")</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  Count cells in A greater than 50,000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=AVERAGEIF(A:A, "Lagos", B:B)</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  Average of B where A = 'Lagos'</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Multiple Conditions (SUMIFS) --</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=SUMIFS(C:C, A:A, "Lagos", B:B, "Laptop")</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  Sum C where A=Lagos AND B=Laptop</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=COUNTIFS(A:A,"Lagos",B:B,"&amp;gt;50000")</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  Count rows where A=Lagos AND B&amp;gt;50000</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Rounding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=ROUND(3.14159, 2)   -&amp;gt; 3.14</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=ROUNDUP(3.1, 0)     -&amp;gt; 4</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=ROUNDDOWN(3.9, 0)   -&amp;gt; 3</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=INT(3.9)            -&amp;gt; 3  (drop decimal)</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=MOD(17, 5)          -&amp;gt; 2  (remainder)</a:t>
            </a:r>
            <a:endParaRPr lang="en-US" sz="1050" dirty="0"/>
          </a:p>
        </p:txBody>
      </p:sp>
      <p:sp>
        <p:nvSpPr>
          <p:cNvPr id="12" name="Shape 10"/>
          <p:cNvSpPr/>
          <p:nvPr/>
        </p:nvSpPr>
        <p:spPr>
          <a:xfrm>
            <a:off x="7178040" y="1024128"/>
            <a:ext cx="4754880" cy="585216"/>
          </a:xfrm>
          <a:prstGeom prst="rect">
            <a:avLst/>
          </a:prstGeom>
          <a:solidFill>
            <a:srgbClr val="217346"/>
          </a:solidFill>
          <a:ln w="3810">
            <a:solidFill>
              <a:srgbClr val="1A2845"/>
            </a:solidFill>
            <a:prstDash val="solid"/>
          </a:ln>
        </p:spPr>
      </p:sp>
      <p:sp>
        <p:nvSpPr>
          <p:cNvPr id="13" name="Shape 11"/>
          <p:cNvSpPr/>
          <p:nvPr/>
        </p:nvSpPr>
        <p:spPr>
          <a:xfrm>
            <a:off x="9175090" y="1024128"/>
            <a:ext cx="18288" cy="585216"/>
          </a:xfrm>
          <a:prstGeom prst="rect">
            <a:avLst/>
          </a:prstGeom>
          <a:solidFill>
            <a:srgbClr val="FFFFFF"/>
          </a:solidFill>
          <a:ln w="12700">
            <a:solidFill>
              <a:srgbClr val="FFFFFF"/>
            </a:solidFill>
            <a:prstDash val="solid"/>
          </a:ln>
        </p:spPr>
      </p:sp>
      <p:sp>
        <p:nvSpPr>
          <p:cNvPr id="14" name="Text 12"/>
          <p:cNvSpPr/>
          <p:nvPr/>
        </p:nvSpPr>
        <p:spPr>
          <a:xfrm>
            <a:off x="7269480" y="1069848"/>
            <a:ext cx="1869034" cy="493776"/>
          </a:xfrm>
          <a:prstGeom prst="rect">
            <a:avLst/>
          </a:prstGeom>
          <a:noFill/>
          <a:ln/>
        </p:spPr>
        <p:txBody>
          <a:bodyPr wrap="square" lIns="0" tIns="0" rIns="0" bIns="0" rtlCol="0" anchor="ctr"/>
          <a:lstStyle/>
          <a:p>
            <a:pPr indent="0" marL="0">
              <a:buNone/>
            </a:pPr>
            <a:r>
              <a:rPr lang="en-US" sz="1000" b="1" dirty="0">
                <a:solidFill>
                  <a:srgbClr val="FFFFFF"/>
                </a:solidFill>
                <a:latin typeface="Cambria" pitchFamily="34" charset="0"/>
                <a:ea typeface="Cambria" pitchFamily="34" charset="-122"/>
                <a:cs typeface="Cambria" pitchFamily="34" charset="-120"/>
              </a:rPr>
              <a:t>Function</a:t>
            </a:r>
            <a:endParaRPr lang="en-US" sz="1000" dirty="0"/>
          </a:p>
        </p:txBody>
      </p:sp>
      <p:sp>
        <p:nvSpPr>
          <p:cNvPr id="15" name="Text 13"/>
          <p:cNvSpPr/>
          <p:nvPr/>
        </p:nvSpPr>
        <p:spPr>
          <a:xfrm>
            <a:off x="9266530" y="1069848"/>
            <a:ext cx="2574950" cy="49377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What It Does - Real Business Example</a:t>
            </a:r>
            <a:endParaRPr lang="en-US" sz="1000" dirty="0"/>
          </a:p>
        </p:txBody>
      </p:sp>
      <p:sp>
        <p:nvSpPr>
          <p:cNvPr id="16" name="Shape 14"/>
          <p:cNvSpPr/>
          <p:nvPr/>
        </p:nvSpPr>
        <p:spPr>
          <a:xfrm>
            <a:off x="7178040" y="1609344"/>
            <a:ext cx="4754880" cy="585216"/>
          </a:xfrm>
          <a:prstGeom prst="rect">
            <a:avLst/>
          </a:prstGeom>
          <a:solidFill>
            <a:srgbClr val="141E36"/>
          </a:solidFill>
          <a:ln w="3810">
            <a:solidFill>
              <a:srgbClr val="1A2845"/>
            </a:solidFill>
            <a:prstDash val="solid"/>
          </a:ln>
        </p:spPr>
      </p:sp>
      <p:sp>
        <p:nvSpPr>
          <p:cNvPr id="17" name="Shape 15"/>
          <p:cNvSpPr/>
          <p:nvPr/>
        </p:nvSpPr>
        <p:spPr>
          <a:xfrm>
            <a:off x="9175090" y="1609344"/>
            <a:ext cx="18288" cy="585216"/>
          </a:xfrm>
          <a:prstGeom prst="rect">
            <a:avLst/>
          </a:prstGeom>
          <a:solidFill>
            <a:srgbClr val="1E293B"/>
          </a:solidFill>
          <a:ln w="12700">
            <a:solidFill>
              <a:srgbClr val="1E293B"/>
            </a:solidFill>
            <a:prstDash val="solid"/>
          </a:ln>
        </p:spPr>
      </p:sp>
      <p:sp>
        <p:nvSpPr>
          <p:cNvPr id="18" name="Text 16"/>
          <p:cNvSpPr/>
          <p:nvPr/>
        </p:nvSpPr>
        <p:spPr>
          <a:xfrm>
            <a:off x="7269480" y="1655064"/>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=SUM(B2:B100)</a:t>
            </a:r>
            <a:endParaRPr lang="en-US" sz="950" dirty="0"/>
          </a:p>
        </p:txBody>
      </p:sp>
      <p:sp>
        <p:nvSpPr>
          <p:cNvPr id="19" name="Text 17"/>
          <p:cNvSpPr/>
          <p:nvPr/>
        </p:nvSpPr>
        <p:spPr>
          <a:xfrm>
            <a:off x="9266530" y="1655064"/>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Adds all values in B2 through B100. Use for total revenue, total units, total expenses.</a:t>
            </a:r>
            <a:endParaRPr lang="en-US" sz="1000" dirty="0"/>
          </a:p>
        </p:txBody>
      </p:sp>
      <p:sp>
        <p:nvSpPr>
          <p:cNvPr id="20" name="Shape 18"/>
          <p:cNvSpPr/>
          <p:nvPr/>
        </p:nvSpPr>
        <p:spPr>
          <a:xfrm>
            <a:off x="7178040" y="2194560"/>
            <a:ext cx="4754880" cy="585216"/>
          </a:xfrm>
          <a:prstGeom prst="rect">
            <a:avLst/>
          </a:prstGeom>
          <a:solidFill>
            <a:srgbClr val="0F1D3C"/>
          </a:solidFill>
          <a:ln w="3810">
            <a:solidFill>
              <a:srgbClr val="1A2845"/>
            </a:solidFill>
            <a:prstDash val="solid"/>
          </a:ln>
        </p:spPr>
      </p:sp>
      <p:sp>
        <p:nvSpPr>
          <p:cNvPr id="21" name="Shape 19"/>
          <p:cNvSpPr/>
          <p:nvPr/>
        </p:nvSpPr>
        <p:spPr>
          <a:xfrm>
            <a:off x="9175090" y="2194560"/>
            <a:ext cx="18288" cy="585216"/>
          </a:xfrm>
          <a:prstGeom prst="rect">
            <a:avLst/>
          </a:prstGeom>
          <a:solidFill>
            <a:srgbClr val="1E293B"/>
          </a:solidFill>
          <a:ln w="12700">
            <a:solidFill>
              <a:srgbClr val="1E293B"/>
            </a:solidFill>
            <a:prstDash val="solid"/>
          </a:ln>
        </p:spPr>
      </p:sp>
      <p:sp>
        <p:nvSpPr>
          <p:cNvPr id="22" name="Text 20"/>
          <p:cNvSpPr/>
          <p:nvPr/>
        </p:nvSpPr>
        <p:spPr>
          <a:xfrm>
            <a:off x="7269480" y="2240280"/>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=SUMIF(A:A,"Lagos",B:B)</a:t>
            </a:r>
            <a:endParaRPr lang="en-US" sz="950" dirty="0"/>
          </a:p>
        </p:txBody>
      </p:sp>
      <p:sp>
        <p:nvSpPr>
          <p:cNvPr id="23" name="Text 21"/>
          <p:cNvSpPr/>
          <p:nvPr/>
        </p:nvSpPr>
        <p:spPr>
          <a:xfrm>
            <a:off x="9266530" y="2240280"/>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Sums column B only where column A equals 'Lagos'. Three arguments: Range to check, Criteria, Range to sum.</a:t>
            </a:r>
            <a:endParaRPr lang="en-US" sz="1000" dirty="0"/>
          </a:p>
        </p:txBody>
      </p:sp>
      <p:sp>
        <p:nvSpPr>
          <p:cNvPr id="24" name="Shape 22"/>
          <p:cNvSpPr/>
          <p:nvPr/>
        </p:nvSpPr>
        <p:spPr>
          <a:xfrm>
            <a:off x="7178040" y="2779776"/>
            <a:ext cx="4754880" cy="585216"/>
          </a:xfrm>
          <a:prstGeom prst="rect">
            <a:avLst/>
          </a:prstGeom>
          <a:solidFill>
            <a:srgbClr val="141E36"/>
          </a:solidFill>
          <a:ln w="3810">
            <a:solidFill>
              <a:srgbClr val="1A2845"/>
            </a:solidFill>
            <a:prstDash val="solid"/>
          </a:ln>
        </p:spPr>
      </p:sp>
      <p:sp>
        <p:nvSpPr>
          <p:cNvPr id="25" name="Shape 23"/>
          <p:cNvSpPr/>
          <p:nvPr/>
        </p:nvSpPr>
        <p:spPr>
          <a:xfrm>
            <a:off x="9175090" y="2779776"/>
            <a:ext cx="18288" cy="585216"/>
          </a:xfrm>
          <a:prstGeom prst="rect">
            <a:avLst/>
          </a:prstGeom>
          <a:solidFill>
            <a:srgbClr val="1E293B"/>
          </a:solidFill>
          <a:ln w="12700">
            <a:solidFill>
              <a:srgbClr val="1E293B"/>
            </a:solidFill>
            <a:prstDash val="solid"/>
          </a:ln>
        </p:spPr>
      </p:sp>
      <p:sp>
        <p:nvSpPr>
          <p:cNvPr id="26" name="Text 24"/>
          <p:cNvSpPr/>
          <p:nvPr/>
        </p:nvSpPr>
        <p:spPr>
          <a:xfrm>
            <a:off x="7269480" y="2825496"/>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=SUMIFS(C:C,A:A,"X",B:B,"Y")</a:t>
            </a:r>
            <a:endParaRPr lang="en-US" sz="950" dirty="0"/>
          </a:p>
        </p:txBody>
      </p:sp>
      <p:sp>
        <p:nvSpPr>
          <p:cNvPr id="27" name="Text 25"/>
          <p:cNvSpPr/>
          <p:nvPr/>
        </p:nvSpPr>
        <p:spPr>
          <a:xfrm>
            <a:off x="9266530" y="2825496"/>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Like SUMIF but multiple conditions. Sum C where A='X' AND B='Y'. Note: arguments come in pairs after the sum range.</a:t>
            </a:r>
            <a:endParaRPr lang="en-US" sz="1000" dirty="0"/>
          </a:p>
        </p:txBody>
      </p:sp>
      <p:sp>
        <p:nvSpPr>
          <p:cNvPr id="28" name="Shape 26"/>
          <p:cNvSpPr/>
          <p:nvPr/>
        </p:nvSpPr>
        <p:spPr>
          <a:xfrm>
            <a:off x="7178040" y="3364992"/>
            <a:ext cx="4754880" cy="585216"/>
          </a:xfrm>
          <a:prstGeom prst="rect">
            <a:avLst/>
          </a:prstGeom>
          <a:solidFill>
            <a:srgbClr val="0F1D3C"/>
          </a:solidFill>
          <a:ln w="3810">
            <a:solidFill>
              <a:srgbClr val="1A2845"/>
            </a:solidFill>
            <a:prstDash val="solid"/>
          </a:ln>
        </p:spPr>
      </p:sp>
      <p:sp>
        <p:nvSpPr>
          <p:cNvPr id="29" name="Shape 27"/>
          <p:cNvSpPr/>
          <p:nvPr/>
        </p:nvSpPr>
        <p:spPr>
          <a:xfrm>
            <a:off x="9175090" y="3364992"/>
            <a:ext cx="18288" cy="585216"/>
          </a:xfrm>
          <a:prstGeom prst="rect">
            <a:avLst/>
          </a:prstGeom>
          <a:solidFill>
            <a:srgbClr val="1E293B"/>
          </a:solidFill>
          <a:ln w="12700">
            <a:solidFill>
              <a:srgbClr val="1E293B"/>
            </a:solidFill>
            <a:prstDash val="solid"/>
          </a:ln>
        </p:spPr>
      </p:sp>
      <p:sp>
        <p:nvSpPr>
          <p:cNvPr id="30" name="Text 28"/>
          <p:cNvSpPr/>
          <p:nvPr/>
        </p:nvSpPr>
        <p:spPr>
          <a:xfrm>
            <a:off x="7269480" y="3410712"/>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=COUNTIF(A:A,"&amp;gt;50000")</a:t>
            </a:r>
            <a:endParaRPr lang="en-US" sz="950" dirty="0"/>
          </a:p>
        </p:txBody>
      </p:sp>
      <p:sp>
        <p:nvSpPr>
          <p:cNvPr id="31" name="Text 29"/>
          <p:cNvSpPr/>
          <p:nvPr/>
        </p:nvSpPr>
        <p:spPr>
          <a:xfrm>
            <a:off x="9266530" y="3410712"/>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Counts cells in column A that are greater than 50,000. For text: COUNTIF(A:A,"Lagos"). Wildcard: COUNTIF(A:A,"Lag*").</a:t>
            </a:r>
            <a:endParaRPr lang="en-US" sz="1000" dirty="0"/>
          </a:p>
        </p:txBody>
      </p:sp>
      <p:sp>
        <p:nvSpPr>
          <p:cNvPr id="32" name="Shape 30"/>
          <p:cNvSpPr/>
          <p:nvPr/>
        </p:nvSpPr>
        <p:spPr>
          <a:xfrm>
            <a:off x="7178040" y="3950208"/>
            <a:ext cx="4754880" cy="585216"/>
          </a:xfrm>
          <a:prstGeom prst="rect">
            <a:avLst/>
          </a:prstGeom>
          <a:solidFill>
            <a:srgbClr val="141E36"/>
          </a:solidFill>
          <a:ln w="3810">
            <a:solidFill>
              <a:srgbClr val="1A2845"/>
            </a:solidFill>
            <a:prstDash val="solid"/>
          </a:ln>
        </p:spPr>
      </p:sp>
      <p:sp>
        <p:nvSpPr>
          <p:cNvPr id="33" name="Shape 31"/>
          <p:cNvSpPr/>
          <p:nvPr/>
        </p:nvSpPr>
        <p:spPr>
          <a:xfrm>
            <a:off x="9175090" y="3950208"/>
            <a:ext cx="18288" cy="585216"/>
          </a:xfrm>
          <a:prstGeom prst="rect">
            <a:avLst/>
          </a:prstGeom>
          <a:solidFill>
            <a:srgbClr val="1E293B"/>
          </a:solidFill>
          <a:ln w="12700">
            <a:solidFill>
              <a:srgbClr val="1E293B"/>
            </a:solidFill>
            <a:prstDash val="solid"/>
          </a:ln>
        </p:spPr>
      </p:sp>
      <p:sp>
        <p:nvSpPr>
          <p:cNvPr id="34" name="Text 32"/>
          <p:cNvSpPr/>
          <p:nvPr/>
        </p:nvSpPr>
        <p:spPr>
          <a:xfrm>
            <a:off x="7269480" y="3995928"/>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=LARGE(B2:B100, 2)</a:t>
            </a:r>
            <a:endParaRPr lang="en-US" sz="950" dirty="0"/>
          </a:p>
        </p:txBody>
      </p:sp>
      <p:sp>
        <p:nvSpPr>
          <p:cNvPr id="35" name="Text 33"/>
          <p:cNvSpPr/>
          <p:nvPr/>
        </p:nvSpPr>
        <p:spPr>
          <a:xfrm>
            <a:off x="9266530" y="3995928"/>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Returns the 2nd largest value. Change 2 to 3 for 3rd largest. Useful for Top N analysis.</a:t>
            </a:r>
            <a:endParaRPr lang="en-US" sz="1000" dirty="0"/>
          </a:p>
        </p:txBody>
      </p:sp>
      <p:sp>
        <p:nvSpPr>
          <p:cNvPr id="36" name="Shape 34"/>
          <p:cNvSpPr/>
          <p:nvPr/>
        </p:nvSpPr>
        <p:spPr>
          <a:xfrm>
            <a:off x="7178040" y="4535424"/>
            <a:ext cx="4754880" cy="585216"/>
          </a:xfrm>
          <a:prstGeom prst="rect">
            <a:avLst/>
          </a:prstGeom>
          <a:solidFill>
            <a:srgbClr val="0F1D3C"/>
          </a:solidFill>
          <a:ln w="3810">
            <a:solidFill>
              <a:srgbClr val="1A2845"/>
            </a:solidFill>
            <a:prstDash val="solid"/>
          </a:ln>
        </p:spPr>
      </p:sp>
      <p:sp>
        <p:nvSpPr>
          <p:cNvPr id="37" name="Shape 35"/>
          <p:cNvSpPr/>
          <p:nvPr/>
        </p:nvSpPr>
        <p:spPr>
          <a:xfrm>
            <a:off x="9175090" y="4535424"/>
            <a:ext cx="18288" cy="585216"/>
          </a:xfrm>
          <a:prstGeom prst="rect">
            <a:avLst/>
          </a:prstGeom>
          <a:solidFill>
            <a:srgbClr val="1E293B"/>
          </a:solidFill>
          <a:ln w="12700">
            <a:solidFill>
              <a:srgbClr val="1E293B"/>
            </a:solidFill>
            <a:prstDash val="solid"/>
          </a:ln>
        </p:spPr>
      </p:sp>
      <p:sp>
        <p:nvSpPr>
          <p:cNvPr id="38" name="Text 36"/>
          <p:cNvSpPr/>
          <p:nvPr/>
        </p:nvSpPr>
        <p:spPr>
          <a:xfrm>
            <a:off x="7269480" y="4581144"/>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=STDEV(B2:B100)</a:t>
            </a:r>
            <a:endParaRPr lang="en-US" sz="950" dirty="0"/>
          </a:p>
        </p:txBody>
      </p:sp>
      <p:sp>
        <p:nvSpPr>
          <p:cNvPr id="39" name="Text 37"/>
          <p:cNvSpPr/>
          <p:nvPr/>
        </p:nvSpPr>
        <p:spPr>
          <a:xfrm>
            <a:off x="9266530" y="4581144"/>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Standard deviation - measures how spread out values are. Low stdev = consistent. High stdev = variable.</a:t>
            </a:r>
            <a:endParaRPr lang="en-US" sz="1000" dirty="0"/>
          </a:p>
        </p:txBody>
      </p:sp>
      <p:sp>
        <p:nvSpPr>
          <p:cNvPr id="40" name="Shape 38"/>
          <p:cNvSpPr/>
          <p:nvPr/>
        </p:nvSpPr>
        <p:spPr>
          <a:xfrm>
            <a:off x="7178040" y="5120640"/>
            <a:ext cx="4754880" cy="585216"/>
          </a:xfrm>
          <a:prstGeom prst="rect">
            <a:avLst/>
          </a:prstGeom>
          <a:solidFill>
            <a:srgbClr val="141E36"/>
          </a:solidFill>
          <a:ln w="3810">
            <a:solidFill>
              <a:srgbClr val="1A2845"/>
            </a:solidFill>
            <a:prstDash val="solid"/>
          </a:ln>
        </p:spPr>
      </p:sp>
      <p:sp>
        <p:nvSpPr>
          <p:cNvPr id="41" name="Shape 39"/>
          <p:cNvSpPr/>
          <p:nvPr/>
        </p:nvSpPr>
        <p:spPr>
          <a:xfrm>
            <a:off x="9175090" y="5120640"/>
            <a:ext cx="18288" cy="585216"/>
          </a:xfrm>
          <a:prstGeom prst="rect">
            <a:avLst/>
          </a:prstGeom>
          <a:solidFill>
            <a:srgbClr val="1E293B"/>
          </a:solidFill>
          <a:ln w="12700">
            <a:solidFill>
              <a:srgbClr val="1E293B"/>
            </a:solidFill>
            <a:prstDash val="solid"/>
          </a:ln>
        </p:spPr>
      </p:sp>
      <p:sp>
        <p:nvSpPr>
          <p:cNvPr id="42" name="Text 40"/>
          <p:cNvSpPr/>
          <p:nvPr/>
        </p:nvSpPr>
        <p:spPr>
          <a:xfrm>
            <a:off x="7269480" y="5166360"/>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=ROUND(A1, 2)</a:t>
            </a:r>
            <a:endParaRPr lang="en-US" sz="950" dirty="0"/>
          </a:p>
        </p:txBody>
      </p:sp>
      <p:sp>
        <p:nvSpPr>
          <p:cNvPr id="43" name="Text 41"/>
          <p:cNvSpPr/>
          <p:nvPr/>
        </p:nvSpPr>
        <p:spPr>
          <a:xfrm>
            <a:off x="9266530" y="5166360"/>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Rounds to 2 decimal places. Second argument is decimals: 0 = whole number, -1 = round to 10s, -2 = round to 100s.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C1A38"/>
          </a:solidFill>
          <a:ln w="12700">
            <a:solidFill>
              <a:srgbClr val="0C1A3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06. IF, AND, OR - Logical Functions</a:t>
            </a:r>
            <a:endParaRPr lang="en-US" sz="2600" dirty="0"/>
          </a:p>
        </p:txBody>
      </p:sp>
      <p:sp>
        <p:nvSpPr>
          <p:cNvPr id="4" name="Shape 2"/>
          <p:cNvSpPr/>
          <p:nvPr/>
        </p:nvSpPr>
        <p:spPr>
          <a:xfrm>
            <a:off x="411480" y="1024128"/>
            <a:ext cx="6583680" cy="5559552"/>
          </a:xfrm>
          <a:prstGeom prst="roundRect">
            <a:avLst>
              <a:gd name="adj" fmla="val 1645"/>
            </a:avLst>
          </a:prstGeom>
          <a:solidFill>
            <a:srgbClr val="0D1117"/>
          </a:solidFill>
          <a:ln w="16510">
            <a:solidFill>
              <a:srgbClr val="217346"/>
            </a:solidFill>
            <a:prstDash val="solid"/>
          </a:ln>
          <a:effectLst>
            <a:outerShdw sx="100000" sy="100000" kx="0" ky="0" algn="bl" rotWithShape="0" blurRad="127000" dist="50800" dir="2700000">
              <a:srgbClr val="000000">
                <a:alpha val="20000"/>
              </a:srgbClr>
            </a:outerShdw>
          </a:effectLst>
        </p:spPr>
      </p:sp>
      <p:sp>
        <p:nvSpPr>
          <p:cNvPr id="5" name="Shape 3"/>
          <p:cNvSpPr/>
          <p:nvPr/>
        </p:nvSpPr>
        <p:spPr>
          <a:xfrm>
            <a:off x="411480" y="1024128"/>
            <a:ext cx="6583680" cy="329184"/>
          </a:xfrm>
          <a:prstGeom prst="roundRect">
            <a:avLst>
              <a:gd name="adj" fmla="val 27778"/>
            </a:avLst>
          </a:prstGeom>
          <a:solidFill>
            <a:srgbClr val="111E35"/>
          </a:solidFill>
          <a:ln w="12700">
            <a:solidFill>
              <a:srgbClr val="111E35"/>
            </a:solidFill>
            <a:prstDash val="solid"/>
          </a:ln>
        </p:spPr>
      </p:sp>
      <p:sp>
        <p:nvSpPr>
          <p:cNvPr id="6" name="Shape 4"/>
          <p:cNvSpPr/>
          <p:nvPr/>
        </p:nvSpPr>
        <p:spPr>
          <a:xfrm>
            <a:off x="411480" y="1207008"/>
            <a:ext cx="6583680" cy="146304"/>
          </a:xfrm>
          <a:prstGeom prst="rect">
            <a:avLst/>
          </a:prstGeom>
          <a:solidFill>
            <a:srgbClr val="111E35"/>
          </a:solidFill>
          <a:ln w="12700">
            <a:solidFill>
              <a:srgbClr val="111E35"/>
            </a:solidFill>
            <a:prstDash val="solid"/>
          </a:ln>
        </p:spPr>
      </p:sp>
      <p:sp>
        <p:nvSpPr>
          <p:cNvPr id="7" name="Shape 5"/>
          <p:cNvSpPr/>
          <p:nvPr/>
        </p:nvSpPr>
        <p:spPr>
          <a:xfrm>
            <a:off x="539496" y="1115568"/>
            <a:ext cx="146304" cy="146304"/>
          </a:xfrm>
          <a:prstGeom prst="ellipse">
            <a:avLst/>
          </a:prstGeom>
          <a:solidFill>
            <a:srgbClr val="F43F5E"/>
          </a:solidFill>
          <a:ln w="12700">
            <a:solidFill>
              <a:srgbClr val="F43F5E"/>
            </a:solidFill>
            <a:prstDash val="solid"/>
          </a:ln>
        </p:spPr>
      </p:sp>
      <p:sp>
        <p:nvSpPr>
          <p:cNvPr id="8" name="Shape 6"/>
          <p:cNvSpPr/>
          <p:nvPr/>
        </p:nvSpPr>
        <p:spPr>
          <a:xfrm>
            <a:off x="740664" y="1115568"/>
            <a:ext cx="146304" cy="146304"/>
          </a:xfrm>
          <a:prstGeom prst="ellipse">
            <a:avLst/>
          </a:prstGeom>
          <a:solidFill>
            <a:srgbClr val="F59E0B"/>
          </a:solidFill>
          <a:ln w="12700">
            <a:solidFill>
              <a:srgbClr val="F59E0B"/>
            </a:solidFill>
            <a:prstDash val="solid"/>
          </a:ln>
        </p:spPr>
      </p:sp>
      <p:sp>
        <p:nvSpPr>
          <p:cNvPr id="9" name="Shape 7"/>
          <p:cNvSpPr/>
          <p:nvPr/>
        </p:nvSpPr>
        <p:spPr>
          <a:xfrm>
            <a:off x="941832" y="1115568"/>
            <a:ext cx="146304" cy="146304"/>
          </a:xfrm>
          <a:prstGeom prst="ellipse">
            <a:avLst/>
          </a:prstGeom>
          <a:solidFill>
            <a:srgbClr val="70AD47"/>
          </a:solidFill>
          <a:ln w="12700">
            <a:solidFill>
              <a:srgbClr val="70AD47"/>
            </a:solidFill>
            <a:prstDash val="solid"/>
          </a:ln>
        </p:spPr>
      </p:sp>
      <p:sp>
        <p:nvSpPr>
          <p:cNvPr id="10" name="Text 8"/>
          <p:cNvSpPr/>
          <p:nvPr/>
        </p:nvSpPr>
        <p:spPr>
          <a:xfrm>
            <a:off x="1143000" y="1078992"/>
            <a:ext cx="566928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logic_fns.xlsx</a:t>
            </a:r>
            <a:endParaRPr lang="en-US" sz="900" dirty="0"/>
          </a:p>
        </p:txBody>
      </p:sp>
      <p:sp>
        <p:nvSpPr>
          <p:cNvPr id="11" name="Text 9"/>
          <p:cNvSpPr/>
          <p:nvPr/>
        </p:nvSpPr>
        <p:spPr>
          <a:xfrm>
            <a:off x="557784" y="1408176"/>
            <a:ext cx="6309360" cy="5065776"/>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Basic IF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=IF(condition, value_if_true, value_if_false)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=IF(B2&amp;gt;50000, "High", "Low")</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=IF(C3="Lagos", "Local", "Upcountry")</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Nested IF (up to 64 levels)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=IF(B2&amp;gt;=90, "Excellent",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IF(B2&amp;gt;=70, "Good",</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IF(B2&amp;gt;=50, "Average", "Poor")))</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IFS (cleaner multiple conditions)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=IFS(B2&amp;gt;=90, "Excellent",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B2&amp;gt;=70, "Good",</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B2&amp;gt;=50, "Average",</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     TRUE,   "Poor")</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Note: Last condition TRUE catches everything else</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AND, OR with IF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=IF(AND(B2&amp;gt;50000, C2="Lagos"),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"Priority", "Standard")</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Both must be TRUE for Priority</a:t>
            </a:r>
            <a:endParaRPr lang="en-US" sz="1050" dirty="0"/>
          </a:p>
          <a:p>
            <a:pPr indent="0" marL="0">
              <a:buNone/>
            </a:pP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=IF(OR(D2="VIP", B2&amp;gt;500000),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"Priority", "Standard")</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Either one being TRUE gives Priority</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IFERROR and IFNA --</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=IFERROR(A1/B1, 0)</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=IFERROR(VLOOKUP(A1,Table,2,0), "Not found")</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=IFNA(VLOOKUP(...), "Missing")</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IFNA only catches #N/A. IFERROR catches all.</a:t>
            </a:r>
            <a:endParaRPr lang="en-US" sz="1050" dirty="0"/>
          </a:p>
        </p:txBody>
      </p:sp>
      <p:sp>
        <p:nvSpPr>
          <p:cNvPr id="12" name="Shape 10"/>
          <p:cNvSpPr/>
          <p:nvPr/>
        </p:nvSpPr>
        <p:spPr>
          <a:xfrm>
            <a:off x="7178040" y="1024128"/>
            <a:ext cx="4754880" cy="585216"/>
          </a:xfrm>
          <a:prstGeom prst="rect">
            <a:avLst/>
          </a:prstGeom>
          <a:solidFill>
            <a:srgbClr val="217346"/>
          </a:solidFill>
          <a:ln w="3810">
            <a:solidFill>
              <a:srgbClr val="1A2845"/>
            </a:solidFill>
            <a:prstDash val="solid"/>
          </a:ln>
        </p:spPr>
      </p:sp>
      <p:sp>
        <p:nvSpPr>
          <p:cNvPr id="13" name="Shape 11"/>
          <p:cNvSpPr/>
          <p:nvPr/>
        </p:nvSpPr>
        <p:spPr>
          <a:xfrm>
            <a:off x="9175090" y="1024128"/>
            <a:ext cx="18288" cy="585216"/>
          </a:xfrm>
          <a:prstGeom prst="rect">
            <a:avLst/>
          </a:prstGeom>
          <a:solidFill>
            <a:srgbClr val="FFFFFF"/>
          </a:solidFill>
          <a:ln w="12700">
            <a:solidFill>
              <a:srgbClr val="FFFFFF"/>
            </a:solidFill>
            <a:prstDash val="solid"/>
          </a:ln>
        </p:spPr>
      </p:sp>
      <p:sp>
        <p:nvSpPr>
          <p:cNvPr id="14" name="Text 12"/>
          <p:cNvSpPr/>
          <p:nvPr/>
        </p:nvSpPr>
        <p:spPr>
          <a:xfrm>
            <a:off x="7269480" y="1069848"/>
            <a:ext cx="1869034" cy="493776"/>
          </a:xfrm>
          <a:prstGeom prst="rect">
            <a:avLst/>
          </a:prstGeom>
          <a:noFill/>
          <a:ln/>
        </p:spPr>
        <p:txBody>
          <a:bodyPr wrap="square" lIns="0" tIns="0" rIns="0" bIns="0" rtlCol="0" anchor="ctr"/>
          <a:lstStyle/>
          <a:p>
            <a:pPr indent="0" marL="0">
              <a:buNone/>
            </a:pPr>
            <a:r>
              <a:rPr lang="en-US" sz="1000" b="1" dirty="0">
                <a:solidFill>
                  <a:srgbClr val="FFFFFF"/>
                </a:solidFill>
                <a:latin typeface="Cambria" pitchFamily="34" charset="0"/>
                <a:ea typeface="Cambria" pitchFamily="34" charset="-122"/>
                <a:cs typeface="Cambria" pitchFamily="34" charset="-120"/>
              </a:rPr>
              <a:t>Function</a:t>
            </a:r>
            <a:endParaRPr lang="en-US" sz="1000" dirty="0"/>
          </a:p>
        </p:txBody>
      </p:sp>
      <p:sp>
        <p:nvSpPr>
          <p:cNvPr id="15" name="Text 13"/>
          <p:cNvSpPr/>
          <p:nvPr/>
        </p:nvSpPr>
        <p:spPr>
          <a:xfrm>
            <a:off x="9266530" y="1069848"/>
            <a:ext cx="2574950" cy="49377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What It Does</a:t>
            </a:r>
            <a:endParaRPr lang="en-US" sz="1000" dirty="0"/>
          </a:p>
        </p:txBody>
      </p:sp>
      <p:sp>
        <p:nvSpPr>
          <p:cNvPr id="16" name="Shape 14"/>
          <p:cNvSpPr/>
          <p:nvPr/>
        </p:nvSpPr>
        <p:spPr>
          <a:xfrm>
            <a:off x="7178040" y="1609344"/>
            <a:ext cx="4754880" cy="585216"/>
          </a:xfrm>
          <a:prstGeom prst="rect">
            <a:avLst/>
          </a:prstGeom>
          <a:solidFill>
            <a:srgbClr val="141E36"/>
          </a:solidFill>
          <a:ln w="3810">
            <a:solidFill>
              <a:srgbClr val="1A2845"/>
            </a:solidFill>
            <a:prstDash val="solid"/>
          </a:ln>
        </p:spPr>
      </p:sp>
      <p:sp>
        <p:nvSpPr>
          <p:cNvPr id="17" name="Shape 15"/>
          <p:cNvSpPr/>
          <p:nvPr/>
        </p:nvSpPr>
        <p:spPr>
          <a:xfrm>
            <a:off x="9175090" y="1609344"/>
            <a:ext cx="18288" cy="585216"/>
          </a:xfrm>
          <a:prstGeom prst="rect">
            <a:avLst/>
          </a:prstGeom>
          <a:solidFill>
            <a:srgbClr val="1E293B"/>
          </a:solidFill>
          <a:ln w="12700">
            <a:solidFill>
              <a:srgbClr val="1E293B"/>
            </a:solidFill>
            <a:prstDash val="solid"/>
          </a:ln>
        </p:spPr>
      </p:sp>
      <p:sp>
        <p:nvSpPr>
          <p:cNvPr id="18" name="Text 16"/>
          <p:cNvSpPr/>
          <p:nvPr/>
        </p:nvSpPr>
        <p:spPr>
          <a:xfrm>
            <a:off x="7269480" y="1655064"/>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=IF(cond, true, false)</a:t>
            </a:r>
            <a:endParaRPr lang="en-US" sz="950" dirty="0"/>
          </a:p>
        </p:txBody>
      </p:sp>
      <p:sp>
        <p:nvSpPr>
          <p:cNvPr id="19" name="Text 17"/>
          <p:cNvSpPr/>
          <p:nvPr/>
        </p:nvSpPr>
        <p:spPr>
          <a:xfrm>
            <a:off x="9266530" y="1655064"/>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Tests a condition. If TRUE returns first value. If FALSE returns second. Both text and number results are valid.</a:t>
            </a:r>
            <a:endParaRPr lang="en-US" sz="1000" dirty="0"/>
          </a:p>
        </p:txBody>
      </p:sp>
      <p:sp>
        <p:nvSpPr>
          <p:cNvPr id="20" name="Shape 18"/>
          <p:cNvSpPr/>
          <p:nvPr/>
        </p:nvSpPr>
        <p:spPr>
          <a:xfrm>
            <a:off x="7178040" y="2194560"/>
            <a:ext cx="4754880" cy="585216"/>
          </a:xfrm>
          <a:prstGeom prst="rect">
            <a:avLst/>
          </a:prstGeom>
          <a:solidFill>
            <a:srgbClr val="0F1D3C"/>
          </a:solidFill>
          <a:ln w="3810">
            <a:solidFill>
              <a:srgbClr val="1A2845"/>
            </a:solidFill>
            <a:prstDash val="solid"/>
          </a:ln>
        </p:spPr>
      </p:sp>
      <p:sp>
        <p:nvSpPr>
          <p:cNvPr id="21" name="Shape 19"/>
          <p:cNvSpPr/>
          <p:nvPr/>
        </p:nvSpPr>
        <p:spPr>
          <a:xfrm>
            <a:off x="9175090" y="2194560"/>
            <a:ext cx="18288" cy="585216"/>
          </a:xfrm>
          <a:prstGeom prst="rect">
            <a:avLst/>
          </a:prstGeom>
          <a:solidFill>
            <a:srgbClr val="1E293B"/>
          </a:solidFill>
          <a:ln w="12700">
            <a:solidFill>
              <a:srgbClr val="1E293B"/>
            </a:solidFill>
            <a:prstDash val="solid"/>
          </a:ln>
        </p:spPr>
      </p:sp>
      <p:sp>
        <p:nvSpPr>
          <p:cNvPr id="22" name="Text 20"/>
          <p:cNvSpPr/>
          <p:nvPr/>
        </p:nvSpPr>
        <p:spPr>
          <a:xfrm>
            <a:off x="7269480" y="2240280"/>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Nested IF</a:t>
            </a:r>
            <a:endParaRPr lang="en-US" sz="950" dirty="0"/>
          </a:p>
        </p:txBody>
      </p:sp>
      <p:sp>
        <p:nvSpPr>
          <p:cNvPr id="23" name="Text 21"/>
          <p:cNvSpPr/>
          <p:nvPr/>
        </p:nvSpPr>
        <p:spPr>
          <a:xfrm>
            <a:off x="9266530" y="2240280"/>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An IF inside another IF. Excel evaluates the outer IF first. If FALSE, it evaluates the nested IF. Limit nesting to 3-4 levels - use IFS beyond that.</a:t>
            </a:r>
            <a:endParaRPr lang="en-US" sz="1000" dirty="0"/>
          </a:p>
        </p:txBody>
      </p:sp>
      <p:sp>
        <p:nvSpPr>
          <p:cNvPr id="24" name="Shape 22"/>
          <p:cNvSpPr/>
          <p:nvPr/>
        </p:nvSpPr>
        <p:spPr>
          <a:xfrm>
            <a:off x="7178040" y="2779776"/>
            <a:ext cx="4754880" cy="585216"/>
          </a:xfrm>
          <a:prstGeom prst="rect">
            <a:avLst/>
          </a:prstGeom>
          <a:solidFill>
            <a:srgbClr val="141E36"/>
          </a:solidFill>
          <a:ln w="3810">
            <a:solidFill>
              <a:srgbClr val="1A2845"/>
            </a:solidFill>
            <a:prstDash val="solid"/>
          </a:ln>
        </p:spPr>
      </p:sp>
      <p:sp>
        <p:nvSpPr>
          <p:cNvPr id="25" name="Shape 23"/>
          <p:cNvSpPr/>
          <p:nvPr/>
        </p:nvSpPr>
        <p:spPr>
          <a:xfrm>
            <a:off x="9175090" y="2779776"/>
            <a:ext cx="18288" cy="585216"/>
          </a:xfrm>
          <a:prstGeom prst="rect">
            <a:avLst/>
          </a:prstGeom>
          <a:solidFill>
            <a:srgbClr val="1E293B"/>
          </a:solidFill>
          <a:ln w="12700">
            <a:solidFill>
              <a:srgbClr val="1E293B"/>
            </a:solidFill>
            <a:prstDash val="solid"/>
          </a:ln>
        </p:spPr>
      </p:sp>
      <p:sp>
        <p:nvSpPr>
          <p:cNvPr id="26" name="Text 24"/>
          <p:cNvSpPr/>
          <p:nvPr/>
        </p:nvSpPr>
        <p:spPr>
          <a:xfrm>
            <a:off x="7269480" y="2825496"/>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=IFS(cond1,val1,cond2,val2)</a:t>
            </a:r>
            <a:endParaRPr lang="en-US" sz="950" dirty="0"/>
          </a:p>
        </p:txBody>
      </p:sp>
      <p:sp>
        <p:nvSpPr>
          <p:cNvPr id="27" name="Text 25"/>
          <p:cNvSpPr/>
          <p:nvPr/>
        </p:nvSpPr>
        <p:spPr>
          <a:xfrm>
            <a:off x="9266530" y="2825496"/>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Tests multiple conditions in order. Returns the value for the first TRUE condition. Always end with TRUE as a catch-all.</a:t>
            </a:r>
            <a:endParaRPr lang="en-US" sz="1000" dirty="0"/>
          </a:p>
        </p:txBody>
      </p:sp>
      <p:sp>
        <p:nvSpPr>
          <p:cNvPr id="28" name="Shape 26"/>
          <p:cNvSpPr/>
          <p:nvPr/>
        </p:nvSpPr>
        <p:spPr>
          <a:xfrm>
            <a:off x="7178040" y="3364992"/>
            <a:ext cx="4754880" cy="585216"/>
          </a:xfrm>
          <a:prstGeom prst="rect">
            <a:avLst/>
          </a:prstGeom>
          <a:solidFill>
            <a:srgbClr val="0F1D3C"/>
          </a:solidFill>
          <a:ln w="3810">
            <a:solidFill>
              <a:srgbClr val="1A2845"/>
            </a:solidFill>
            <a:prstDash val="solid"/>
          </a:ln>
        </p:spPr>
      </p:sp>
      <p:sp>
        <p:nvSpPr>
          <p:cNvPr id="29" name="Shape 27"/>
          <p:cNvSpPr/>
          <p:nvPr/>
        </p:nvSpPr>
        <p:spPr>
          <a:xfrm>
            <a:off x="9175090" y="3364992"/>
            <a:ext cx="18288" cy="585216"/>
          </a:xfrm>
          <a:prstGeom prst="rect">
            <a:avLst/>
          </a:prstGeom>
          <a:solidFill>
            <a:srgbClr val="1E293B"/>
          </a:solidFill>
          <a:ln w="12700">
            <a:solidFill>
              <a:srgbClr val="1E293B"/>
            </a:solidFill>
            <a:prstDash val="solid"/>
          </a:ln>
        </p:spPr>
      </p:sp>
      <p:sp>
        <p:nvSpPr>
          <p:cNvPr id="30" name="Text 28"/>
          <p:cNvSpPr/>
          <p:nvPr/>
        </p:nvSpPr>
        <p:spPr>
          <a:xfrm>
            <a:off x="7269480" y="3410712"/>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=AND(cond1, cond2)</a:t>
            </a:r>
            <a:endParaRPr lang="en-US" sz="950" dirty="0"/>
          </a:p>
        </p:txBody>
      </p:sp>
      <p:sp>
        <p:nvSpPr>
          <p:cNvPr id="31" name="Text 29"/>
          <p:cNvSpPr/>
          <p:nvPr/>
        </p:nvSpPr>
        <p:spPr>
          <a:xfrm>
            <a:off x="9266530" y="3410712"/>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Returns TRUE only if ALL conditions are TRUE. Inside IF: IF(AND(A&amp;gt;0,B&amp;gt;0),"Both positive","No").</a:t>
            </a:r>
            <a:endParaRPr lang="en-US" sz="1000" dirty="0"/>
          </a:p>
        </p:txBody>
      </p:sp>
      <p:sp>
        <p:nvSpPr>
          <p:cNvPr id="32" name="Shape 30"/>
          <p:cNvSpPr/>
          <p:nvPr/>
        </p:nvSpPr>
        <p:spPr>
          <a:xfrm>
            <a:off x="7178040" y="3950208"/>
            <a:ext cx="4754880" cy="585216"/>
          </a:xfrm>
          <a:prstGeom prst="rect">
            <a:avLst/>
          </a:prstGeom>
          <a:solidFill>
            <a:srgbClr val="141E36"/>
          </a:solidFill>
          <a:ln w="3810">
            <a:solidFill>
              <a:srgbClr val="1A2845"/>
            </a:solidFill>
            <a:prstDash val="solid"/>
          </a:ln>
        </p:spPr>
      </p:sp>
      <p:sp>
        <p:nvSpPr>
          <p:cNvPr id="33" name="Shape 31"/>
          <p:cNvSpPr/>
          <p:nvPr/>
        </p:nvSpPr>
        <p:spPr>
          <a:xfrm>
            <a:off x="9175090" y="3950208"/>
            <a:ext cx="18288" cy="585216"/>
          </a:xfrm>
          <a:prstGeom prst="rect">
            <a:avLst/>
          </a:prstGeom>
          <a:solidFill>
            <a:srgbClr val="1E293B"/>
          </a:solidFill>
          <a:ln w="12700">
            <a:solidFill>
              <a:srgbClr val="1E293B"/>
            </a:solidFill>
            <a:prstDash val="solid"/>
          </a:ln>
        </p:spPr>
      </p:sp>
      <p:sp>
        <p:nvSpPr>
          <p:cNvPr id="34" name="Text 32"/>
          <p:cNvSpPr/>
          <p:nvPr/>
        </p:nvSpPr>
        <p:spPr>
          <a:xfrm>
            <a:off x="7269480" y="3995928"/>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=OR(cond1, cond2)</a:t>
            </a:r>
            <a:endParaRPr lang="en-US" sz="950" dirty="0"/>
          </a:p>
        </p:txBody>
      </p:sp>
      <p:sp>
        <p:nvSpPr>
          <p:cNvPr id="35" name="Text 33"/>
          <p:cNvSpPr/>
          <p:nvPr/>
        </p:nvSpPr>
        <p:spPr>
          <a:xfrm>
            <a:off x="9266530" y="3995928"/>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Returns TRUE if ANY condition is TRUE. Inside IF: IF(OR(A="VIP",B&amp;gt;1M),"Priority","Standard").</a:t>
            </a:r>
            <a:endParaRPr lang="en-US" sz="1000" dirty="0"/>
          </a:p>
        </p:txBody>
      </p:sp>
      <p:sp>
        <p:nvSpPr>
          <p:cNvPr id="36" name="Shape 34"/>
          <p:cNvSpPr/>
          <p:nvPr/>
        </p:nvSpPr>
        <p:spPr>
          <a:xfrm>
            <a:off x="7178040" y="4535424"/>
            <a:ext cx="4754880" cy="585216"/>
          </a:xfrm>
          <a:prstGeom prst="rect">
            <a:avLst/>
          </a:prstGeom>
          <a:solidFill>
            <a:srgbClr val="0F1D3C"/>
          </a:solidFill>
          <a:ln w="3810">
            <a:solidFill>
              <a:srgbClr val="1A2845"/>
            </a:solidFill>
            <a:prstDash val="solid"/>
          </a:ln>
        </p:spPr>
      </p:sp>
      <p:sp>
        <p:nvSpPr>
          <p:cNvPr id="37" name="Shape 35"/>
          <p:cNvSpPr/>
          <p:nvPr/>
        </p:nvSpPr>
        <p:spPr>
          <a:xfrm>
            <a:off x="9175090" y="4535424"/>
            <a:ext cx="18288" cy="585216"/>
          </a:xfrm>
          <a:prstGeom prst="rect">
            <a:avLst/>
          </a:prstGeom>
          <a:solidFill>
            <a:srgbClr val="1E293B"/>
          </a:solidFill>
          <a:ln w="12700">
            <a:solidFill>
              <a:srgbClr val="1E293B"/>
            </a:solidFill>
            <a:prstDash val="solid"/>
          </a:ln>
        </p:spPr>
      </p:sp>
      <p:sp>
        <p:nvSpPr>
          <p:cNvPr id="38" name="Text 36"/>
          <p:cNvSpPr/>
          <p:nvPr/>
        </p:nvSpPr>
        <p:spPr>
          <a:xfrm>
            <a:off x="7269480" y="4581144"/>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=IFERROR(formula, val)</a:t>
            </a:r>
            <a:endParaRPr lang="en-US" sz="950" dirty="0"/>
          </a:p>
        </p:txBody>
      </p:sp>
      <p:sp>
        <p:nvSpPr>
          <p:cNvPr id="39" name="Text 37"/>
          <p:cNvSpPr/>
          <p:nvPr/>
        </p:nvSpPr>
        <p:spPr>
          <a:xfrm>
            <a:off x="9266530" y="4581144"/>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Evaluates formula. If any error occurs, returns val instead. Wrap ALL lookups and divisions with IFERROR.</a:t>
            </a:r>
            <a:endParaRPr lang="en-US" sz="1000" dirty="0"/>
          </a:p>
        </p:txBody>
      </p:sp>
      <p:sp>
        <p:nvSpPr>
          <p:cNvPr id="40" name="Shape 38"/>
          <p:cNvSpPr/>
          <p:nvPr/>
        </p:nvSpPr>
        <p:spPr>
          <a:xfrm>
            <a:off x="7178040" y="5120640"/>
            <a:ext cx="4754880" cy="585216"/>
          </a:xfrm>
          <a:prstGeom prst="rect">
            <a:avLst/>
          </a:prstGeom>
          <a:solidFill>
            <a:srgbClr val="141E36"/>
          </a:solidFill>
          <a:ln w="3810">
            <a:solidFill>
              <a:srgbClr val="1A2845"/>
            </a:solidFill>
            <a:prstDash val="solid"/>
          </a:ln>
        </p:spPr>
      </p:sp>
      <p:sp>
        <p:nvSpPr>
          <p:cNvPr id="41" name="Shape 39"/>
          <p:cNvSpPr/>
          <p:nvPr/>
        </p:nvSpPr>
        <p:spPr>
          <a:xfrm>
            <a:off x="9175090" y="5120640"/>
            <a:ext cx="18288" cy="585216"/>
          </a:xfrm>
          <a:prstGeom prst="rect">
            <a:avLst/>
          </a:prstGeom>
          <a:solidFill>
            <a:srgbClr val="1E293B"/>
          </a:solidFill>
          <a:ln w="12700">
            <a:solidFill>
              <a:srgbClr val="1E293B"/>
            </a:solidFill>
            <a:prstDash val="solid"/>
          </a:ln>
        </p:spPr>
      </p:sp>
      <p:sp>
        <p:nvSpPr>
          <p:cNvPr id="42" name="Text 40"/>
          <p:cNvSpPr/>
          <p:nvPr/>
        </p:nvSpPr>
        <p:spPr>
          <a:xfrm>
            <a:off x="7269480" y="5166360"/>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=NOT(condition)</a:t>
            </a:r>
            <a:endParaRPr lang="en-US" sz="950" dirty="0"/>
          </a:p>
        </p:txBody>
      </p:sp>
      <p:sp>
        <p:nvSpPr>
          <p:cNvPr id="43" name="Text 41"/>
          <p:cNvSpPr/>
          <p:nvPr/>
        </p:nvSpPr>
        <p:spPr>
          <a:xfrm>
            <a:off x="9266530" y="5166360"/>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Reverses TRUE to FALSE and FALSE to TRUE. IF(NOT(A1=0),...) is same as IF(A1&amp;lt;&amp;gt;0,...).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60A14"/>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85C38"/>
          </a:solidFill>
          <a:ln w="12700">
            <a:solidFill>
              <a:srgbClr val="185C3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07. LOOKUP FUNCTIONS - VLOOKUP, INDEX-MATCH, XLOOKUP</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11338560" cy="4846320"/>
          </a:xfrm>
          <a:prstGeom prst="rect">
            <a:avLst/>
          </a:prstGeom>
        </p:spPr>
      </p:pic>
      <p:sp>
        <p:nvSpPr>
          <p:cNvPr id="5" name="Shape 2"/>
          <p:cNvSpPr/>
          <p:nvPr/>
        </p:nvSpPr>
        <p:spPr>
          <a:xfrm>
            <a:off x="411480" y="5961888"/>
            <a:ext cx="11338560" cy="749808"/>
          </a:xfrm>
          <a:prstGeom prst="roundRect">
            <a:avLst>
              <a:gd name="adj" fmla="val 12195"/>
            </a:avLst>
          </a:prstGeom>
          <a:solidFill>
            <a:srgbClr val="0D1117"/>
          </a:solidFill>
          <a:ln w="16510">
            <a:solidFill>
              <a:srgbClr val="217346"/>
            </a:solidFill>
            <a:prstDash val="solid"/>
          </a:ln>
          <a:effectLst>
            <a:outerShdw sx="100000" sy="100000" kx="0" ky="0" algn="bl" rotWithShape="0" blurRad="127000" dist="50800" dir="2700000">
              <a:srgbClr val="000000">
                <a:alpha val="20000"/>
              </a:srgbClr>
            </a:outerShdw>
          </a:effectLst>
        </p:spPr>
      </p:sp>
      <p:sp>
        <p:nvSpPr>
          <p:cNvPr id="6" name="Shape 3"/>
          <p:cNvSpPr/>
          <p:nvPr/>
        </p:nvSpPr>
        <p:spPr>
          <a:xfrm>
            <a:off x="411480" y="5961888"/>
            <a:ext cx="11338560" cy="329184"/>
          </a:xfrm>
          <a:prstGeom prst="roundRect">
            <a:avLst>
              <a:gd name="adj" fmla="val 27778"/>
            </a:avLst>
          </a:prstGeom>
          <a:solidFill>
            <a:srgbClr val="111E35"/>
          </a:solidFill>
          <a:ln w="12700">
            <a:solidFill>
              <a:srgbClr val="111E35"/>
            </a:solidFill>
            <a:prstDash val="solid"/>
          </a:ln>
        </p:spPr>
      </p:sp>
      <p:sp>
        <p:nvSpPr>
          <p:cNvPr id="7" name="Shape 4"/>
          <p:cNvSpPr/>
          <p:nvPr/>
        </p:nvSpPr>
        <p:spPr>
          <a:xfrm>
            <a:off x="411480" y="6144768"/>
            <a:ext cx="11338560" cy="146304"/>
          </a:xfrm>
          <a:prstGeom prst="rect">
            <a:avLst/>
          </a:prstGeom>
          <a:solidFill>
            <a:srgbClr val="111E35"/>
          </a:solidFill>
          <a:ln w="12700">
            <a:solidFill>
              <a:srgbClr val="111E35"/>
            </a:solidFill>
            <a:prstDash val="solid"/>
          </a:ln>
        </p:spPr>
      </p:sp>
      <p:sp>
        <p:nvSpPr>
          <p:cNvPr id="8" name="Shape 5"/>
          <p:cNvSpPr/>
          <p:nvPr/>
        </p:nvSpPr>
        <p:spPr>
          <a:xfrm>
            <a:off x="539496" y="6053328"/>
            <a:ext cx="146304" cy="146304"/>
          </a:xfrm>
          <a:prstGeom prst="ellipse">
            <a:avLst/>
          </a:prstGeom>
          <a:solidFill>
            <a:srgbClr val="F43F5E"/>
          </a:solidFill>
          <a:ln w="12700">
            <a:solidFill>
              <a:srgbClr val="F43F5E"/>
            </a:solidFill>
            <a:prstDash val="solid"/>
          </a:ln>
        </p:spPr>
      </p:sp>
      <p:sp>
        <p:nvSpPr>
          <p:cNvPr id="9" name="Shape 6"/>
          <p:cNvSpPr/>
          <p:nvPr/>
        </p:nvSpPr>
        <p:spPr>
          <a:xfrm>
            <a:off x="740664" y="6053328"/>
            <a:ext cx="146304" cy="146304"/>
          </a:xfrm>
          <a:prstGeom prst="ellipse">
            <a:avLst/>
          </a:prstGeom>
          <a:solidFill>
            <a:srgbClr val="F59E0B"/>
          </a:solidFill>
          <a:ln w="12700">
            <a:solidFill>
              <a:srgbClr val="F59E0B"/>
            </a:solidFill>
            <a:prstDash val="solid"/>
          </a:ln>
        </p:spPr>
      </p:sp>
      <p:sp>
        <p:nvSpPr>
          <p:cNvPr id="10" name="Shape 7"/>
          <p:cNvSpPr/>
          <p:nvPr/>
        </p:nvSpPr>
        <p:spPr>
          <a:xfrm>
            <a:off x="941832" y="6053328"/>
            <a:ext cx="146304" cy="146304"/>
          </a:xfrm>
          <a:prstGeom prst="ellipse">
            <a:avLst/>
          </a:prstGeom>
          <a:solidFill>
            <a:srgbClr val="70AD47"/>
          </a:solidFill>
          <a:ln w="12700">
            <a:solidFill>
              <a:srgbClr val="70AD47"/>
            </a:solidFill>
            <a:prstDash val="solid"/>
          </a:ln>
        </p:spPr>
      </p:sp>
      <p:sp>
        <p:nvSpPr>
          <p:cNvPr id="11" name="Text 8"/>
          <p:cNvSpPr/>
          <p:nvPr/>
        </p:nvSpPr>
        <p:spPr>
          <a:xfrm>
            <a:off x="1143000" y="6016752"/>
            <a:ext cx="1042416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lookup.xlsx</a:t>
            </a:r>
            <a:endParaRPr lang="en-US" sz="900" dirty="0"/>
          </a:p>
        </p:txBody>
      </p:sp>
      <p:sp>
        <p:nvSpPr>
          <p:cNvPr id="12" name="Text 9"/>
          <p:cNvSpPr/>
          <p:nvPr/>
        </p:nvSpPr>
        <p:spPr>
          <a:xfrm>
            <a:off x="557784" y="6345936"/>
            <a:ext cx="11064240" cy="256032"/>
          </a:xfrm>
          <a:prstGeom prst="rect">
            <a:avLst/>
          </a:prstGeom>
          <a:noFill/>
          <a:ln/>
        </p:spPr>
        <p:txBody>
          <a:bodyPr wrap="square" lIns="0" tIns="0" rIns="0" bIns="0" rtlCol="0" anchor="t"/>
          <a:lstStyle/>
          <a:p>
            <a:pPr indent="0" marL="0">
              <a:buNone/>
            </a:pPr>
            <a:r>
              <a:rPr lang="en-US" sz="1050" dirty="0">
                <a:solidFill>
                  <a:srgbClr val="F59E0B"/>
                </a:solidFill>
                <a:latin typeface="Courier New" pitchFamily="34" charset="0"/>
                <a:ea typeface="Courier New" pitchFamily="34" charset="-122"/>
                <a:cs typeface="Courier New" pitchFamily="34" charset="-120"/>
              </a:rPr>
              <a:t>VLOOKUP: =VLOOKUP(A2, ProductTable, 3, 0)  |  3 = return column 3  |  0 = exact match</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XLOOKUP: =XLOOKUP(A2, Products[Code], Products[Price], "Not found")  |  No column number needed!</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C1A38"/>
          </a:solidFill>
          <a:ln w="12700">
            <a:solidFill>
              <a:srgbClr val="0C1A3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07A. VLOOKUP - Step by Step with Real Example</a:t>
            </a:r>
            <a:endParaRPr lang="en-US" sz="2600" dirty="0"/>
          </a:p>
        </p:txBody>
      </p:sp>
      <p:sp>
        <p:nvSpPr>
          <p:cNvPr id="4" name="Shape 2"/>
          <p:cNvSpPr/>
          <p:nvPr/>
        </p:nvSpPr>
        <p:spPr>
          <a:xfrm>
            <a:off x="411480" y="1024128"/>
            <a:ext cx="6583680" cy="4023360"/>
          </a:xfrm>
          <a:prstGeom prst="roundRect">
            <a:avLst>
              <a:gd name="adj" fmla="val 2273"/>
            </a:avLst>
          </a:prstGeom>
          <a:solidFill>
            <a:srgbClr val="0D1117"/>
          </a:solidFill>
          <a:ln w="16510">
            <a:solidFill>
              <a:srgbClr val="217346"/>
            </a:solidFill>
            <a:prstDash val="solid"/>
          </a:ln>
          <a:effectLst>
            <a:outerShdw sx="100000" sy="100000" kx="0" ky="0" algn="bl" rotWithShape="0" blurRad="127000" dist="50800" dir="2700000">
              <a:srgbClr val="000000">
                <a:alpha val="20000"/>
              </a:srgbClr>
            </a:outerShdw>
          </a:effectLst>
        </p:spPr>
      </p:sp>
      <p:sp>
        <p:nvSpPr>
          <p:cNvPr id="5" name="Shape 3"/>
          <p:cNvSpPr/>
          <p:nvPr/>
        </p:nvSpPr>
        <p:spPr>
          <a:xfrm>
            <a:off x="411480" y="1024128"/>
            <a:ext cx="6583680" cy="329184"/>
          </a:xfrm>
          <a:prstGeom prst="roundRect">
            <a:avLst>
              <a:gd name="adj" fmla="val 27778"/>
            </a:avLst>
          </a:prstGeom>
          <a:solidFill>
            <a:srgbClr val="111E35"/>
          </a:solidFill>
          <a:ln w="12700">
            <a:solidFill>
              <a:srgbClr val="111E35"/>
            </a:solidFill>
            <a:prstDash val="solid"/>
          </a:ln>
        </p:spPr>
      </p:sp>
      <p:sp>
        <p:nvSpPr>
          <p:cNvPr id="6" name="Shape 4"/>
          <p:cNvSpPr/>
          <p:nvPr/>
        </p:nvSpPr>
        <p:spPr>
          <a:xfrm>
            <a:off x="411480" y="1207008"/>
            <a:ext cx="6583680" cy="146304"/>
          </a:xfrm>
          <a:prstGeom prst="rect">
            <a:avLst/>
          </a:prstGeom>
          <a:solidFill>
            <a:srgbClr val="111E35"/>
          </a:solidFill>
          <a:ln w="12700">
            <a:solidFill>
              <a:srgbClr val="111E35"/>
            </a:solidFill>
            <a:prstDash val="solid"/>
          </a:ln>
        </p:spPr>
      </p:sp>
      <p:sp>
        <p:nvSpPr>
          <p:cNvPr id="7" name="Shape 5"/>
          <p:cNvSpPr/>
          <p:nvPr/>
        </p:nvSpPr>
        <p:spPr>
          <a:xfrm>
            <a:off x="539496" y="1115568"/>
            <a:ext cx="146304" cy="146304"/>
          </a:xfrm>
          <a:prstGeom prst="ellipse">
            <a:avLst/>
          </a:prstGeom>
          <a:solidFill>
            <a:srgbClr val="F43F5E"/>
          </a:solidFill>
          <a:ln w="12700">
            <a:solidFill>
              <a:srgbClr val="F43F5E"/>
            </a:solidFill>
            <a:prstDash val="solid"/>
          </a:ln>
        </p:spPr>
      </p:sp>
      <p:sp>
        <p:nvSpPr>
          <p:cNvPr id="8" name="Shape 6"/>
          <p:cNvSpPr/>
          <p:nvPr/>
        </p:nvSpPr>
        <p:spPr>
          <a:xfrm>
            <a:off x="740664" y="1115568"/>
            <a:ext cx="146304" cy="146304"/>
          </a:xfrm>
          <a:prstGeom prst="ellipse">
            <a:avLst/>
          </a:prstGeom>
          <a:solidFill>
            <a:srgbClr val="F59E0B"/>
          </a:solidFill>
          <a:ln w="12700">
            <a:solidFill>
              <a:srgbClr val="F59E0B"/>
            </a:solidFill>
            <a:prstDash val="solid"/>
          </a:ln>
        </p:spPr>
      </p:sp>
      <p:sp>
        <p:nvSpPr>
          <p:cNvPr id="9" name="Shape 7"/>
          <p:cNvSpPr/>
          <p:nvPr/>
        </p:nvSpPr>
        <p:spPr>
          <a:xfrm>
            <a:off x="941832" y="1115568"/>
            <a:ext cx="146304" cy="146304"/>
          </a:xfrm>
          <a:prstGeom prst="ellipse">
            <a:avLst/>
          </a:prstGeom>
          <a:solidFill>
            <a:srgbClr val="70AD47"/>
          </a:solidFill>
          <a:ln w="12700">
            <a:solidFill>
              <a:srgbClr val="70AD47"/>
            </a:solidFill>
            <a:prstDash val="solid"/>
          </a:ln>
        </p:spPr>
      </p:sp>
      <p:sp>
        <p:nvSpPr>
          <p:cNvPr id="10" name="Text 8"/>
          <p:cNvSpPr/>
          <p:nvPr/>
        </p:nvSpPr>
        <p:spPr>
          <a:xfrm>
            <a:off x="1143000" y="1078992"/>
            <a:ext cx="566928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vlookup_eg.xlsx</a:t>
            </a:r>
            <a:endParaRPr lang="en-US" sz="900" dirty="0"/>
          </a:p>
        </p:txBody>
      </p:sp>
      <p:sp>
        <p:nvSpPr>
          <p:cNvPr id="11" name="Text 9"/>
          <p:cNvSpPr/>
          <p:nvPr/>
        </p:nvSpPr>
        <p:spPr>
          <a:xfrm>
            <a:off x="557784" y="1408176"/>
            <a:ext cx="6309360" cy="3529584"/>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Scenario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You have an Orders table and a Products table.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You need the Price from Products for each order.</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Products Table (F1:H5):</a:t>
            </a:r>
            <a:endParaRPr lang="en-US" sz="1050" dirty="0"/>
          </a:p>
          <a:p>
            <a:pPr indent="0" marL="0">
              <a:buNone/>
            </a:pPr>
            <a:r>
              <a:rPr lang="en-US" sz="1050" dirty="0">
                <a:solidFill>
                  <a:srgbClr val="94A3B8"/>
                </a:solidFill>
                <a:latin typeface="Courier New" pitchFamily="34" charset="0"/>
                <a:ea typeface="Courier New" pitchFamily="34" charset="-122"/>
                <a:cs typeface="Courier New" pitchFamily="34" charset="-120"/>
              </a:rPr>
              <a:t>F        G           H</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Code     Product     Price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LAP001   Laptop      450000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PHN001   Phone       120000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TAB001   Tablet      180000</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Orders Table:</a:t>
            </a:r>
            <a:endParaRPr lang="en-US" sz="1050" dirty="0"/>
          </a:p>
          <a:p>
            <a:pPr indent="0" marL="0">
              <a:buNone/>
            </a:pPr>
            <a:r>
              <a:rPr lang="en-US" sz="1050" dirty="0">
                <a:solidFill>
                  <a:srgbClr val="94A3B8"/>
                </a:solidFill>
                <a:latin typeface="Courier New" pitchFamily="34" charset="0"/>
                <a:ea typeface="Courier New" pitchFamily="34" charset="-122"/>
                <a:cs typeface="Courier New" pitchFamily="34" charset="-120"/>
              </a:rPr>
              <a:t>A        B        C (formula here)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OrderID  ProdCode Price</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ORD-001  LAP001   =VLOOKUP(B2, $F$1:$H$5, 3, 0)</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ORD-002  PHN001   =VLOOKUP(B3, $F$1:$H$5, 3, 0)</a:t>
            </a:r>
            <a:endParaRPr lang="en-US" sz="1050" dirty="0"/>
          </a:p>
          <a:p>
            <a:pPr indent="0" marL="0">
              <a:buNone/>
            </a:pP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Result: C2 = 450,000  (Laptop price)</a:t>
            </a:r>
            <a:endParaRPr lang="en-US" sz="1050" dirty="0"/>
          </a:p>
        </p:txBody>
      </p:sp>
      <p:sp>
        <p:nvSpPr>
          <p:cNvPr id="12" name="Shape 10"/>
          <p:cNvSpPr/>
          <p:nvPr/>
        </p:nvSpPr>
        <p:spPr>
          <a:xfrm>
            <a:off x="411480" y="5138928"/>
            <a:ext cx="6583680" cy="1572768"/>
          </a:xfrm>
          <a:prstGeom prst="roundRect">
            <a:avLst>
              <a:gd name="adj" fmla="val 5814"/>
            </a:avLst>
          </a:prstGeom>
          <a:solidFill>
            <a:srgbClr val="0D1117"/>
          </a:solidFill>
          <a:ln w="16510">
            <a:solidFill>
              <a:srgbClr val="217346"/>
            </a:solidFill>
            <a:prstDash val="solid"/>
          </a:ln>
          <a:effectLst>
            <a:outerShdw sx="100000" sy="100000" kx="0" ky="0" algn="bl" rotWithShape="0" blurRad="127000" dist="50800" dir="2700000">
              <a:srgbClr val="000000">
                <a:alpha val="20000"/>
              </a:srgbClr>
            </a:outerShdw>
          </a:effectLst>
        </p:spPr>
      </p:sp>
      <p:sp>
        <p:nvSpPr>
          <p:cNvPr id="13" name="Shape 11"/>
          <p:cNvSpPr/>
          <p:nvPr/>
        </p:nvSpPr>
        <p:spPr>
          <a:xfrm>
            <a:off x="411480" y="5138928"/>
            <a:ext cx="6583680" cy="329184"/>
          </a:xfrm>
          <a:prstGeom prst="roundRect">
            <a:avLst>
              <a:gd name="adj" fmla="val 27778"/>
            </a:avLst>
          </a:prstGeom>
          <a:solidFill>
            <a:srgbClr val="111E35"/>
          </a:solidFill>
          <a:ln w="12700">
            <a:solidFill>
              <a:srgbClr val="111E35"/>
            </a:solidFill>
            <a:prstDash val="solid"/>
          </a:ln>
        </p:spPr>
      </p:sp>
      <p:sp>
        <p:nvSpPr>
          <p:cNvPr id="14" name="Shape 12"/>
          <p:cNvSpPr/>
          <p:nvPr/>
        </p:nvSpPr>
        <p:spPr>
          <a:xfrm>
            <a:off x="411480" y="5321808"/>
            <a:ext cx="6583680" cy="146304"/>
          </a:xfrm>
          <a:prstGeom prst="rect">
            <a:avLst/>
          </a:prstGeom>
          <a:solidFill>
            <a:srgbClr val="111E35"/>
          </a:solidFill>
          <a:ln w="12700">
            <a:solidFill>
              <a:srgbClr val="111E35"/>
            </a:solidFill>
            <a:prstDash val="solid"/>
          </a:ln>
        </p:spPr>
      </p:sp>
      <p:sp>
        <p:nvSpPr>
          <p:cNvPr id="15" name="Shape 13"/>
          <p:cNvSpPr/>
          <p:nvPr/>
        </p:nvSpPr>
        <p:spPr>
          <a:xfrm>
            <a:off x="539496" y="5230368"/>
            <a:ext cx="146304" cy="146304"/>
          </a:xfrm>
          <a:prstGeom prst="ellipse">
            <a:avLst/>
          </a:prstGeom>
          <a:solidFill>
            <a:srgbClr val="F43F5E"/>
          </a:solidFill>
          <a:ln w="12700">
            <a:solidFill>
              <a:srgbClr val="F43F5E"/>
            </a:solidFill>
            <a:prstDash val="solid"/>
          </a:ln>
        </p:spPr>
      </p:sp>
      <p:sp>
        <p:nvSpPr>
          <p:cNvPr id="16" name="Shape 14"/>
          <p:cNvSpPr/>
          <p:nvPr/>
        </p:nvSpPr>
        <p:spPr>
          <a:xfrm>
            <a:off x="740664" y="5230368"/>
            <a:ext cx="146304" cy="146304"/>
          </a:xfrm>
          <a:prstGeom prst="ellipse">
            <a:avLst/>
          </a:prstGeom>
          <a:solidFill>
            <a:srgbClr val="F59E0B"/>
          </a:solidFill>
          <a:ln w="12700">
            <a:solidFill>
              <a:srgbClr val="F59E0B"/>
            </a:solidFill>
            <a:prstDash val="solid"/>
          </a:ln>
        </p:spPr>
      </p:sp>
      <p:sp>
        <p:nvSpPr>
          <p:cNvPr id="17" name="Shape 15"/>
          <p:cNvSpPr/>
          <p:nvPr/>
        </p:nvSpPr>
        <p:spPr>
          <a:xfrm>
            <a:off x="941832" y="5230368"/>
            <a:ext cx="146304" cy="146304"/>
          </a:xfrm>
          <a:prstGeom prst="ellipse">
            <a:avLst/>
          </a:prstGeom>
          <a:solidFill>
            <a:srgbClr val="70AD47"/>
          </a:solidFill>
          <a:ln w="12700">
            <a:solidFill>
              <a:srgbClr val="70AD47"/>
            </a:solidFill>
            <a:prstDash val="solid"/>
          </a:ln>
        </p:spPr>
      </p:sp>
      <p:sp>
        <p:nvSpPr>
          <p:cNvPr id="18" name="Text 16"/>
          <p:cNvSpPr/>
          <p:nvPr/>
        </p:nvSpPr>
        <p:spPr>
          <a:xfrm>
            <a:off x="1143000" y="5193792"/>
            <a:ext cx="566928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vlookup_err.xlsx</a:t>
            </a:r>
            <a:endParaRPr lang="en-US" sz="900" dirty="0"/>
          </a:p>
        </p:txBody>
      </p:sp>
      <p:sp>
        <p:nvSpPr>
          <p:cNvPr id="19" name="Text 17"/>
          <p:cNvSpPr/>
          <p:nvPr/>
        </p:nvSpPr>
        <p:spPr>
          <a:xfrm>
            <a:off x="557784" y="5522976"/>
            <a:ext cx="6309360" cy="1078992"/>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Common VLOOKUP Errors --</a:t>
            </a:r>
            <a:endParaRPr lang="en-US" sz="1050" dirty="0"/>
          </a:p>
          <a:p>
            <a:pPr indent="0" marL="0">
              <a:buNone/>
            </a:pPr>
            <a:r>
              <a:rPr lang="en-US" sz="1050" dirty="0">
                <a:solidFill>
                  <a:srgbClr val="F43F5E"/>
                </a:solidFill>
                <a:latin typeface="Courier New" pitchFamily="34" charset="0"/>
                <a:ea typeface="Courier New" pitchFamily="34" charset="-122"/>
                <a:cs typeface="Courier New" pitchFamily="34" charset="-120"/>
              </a:rPr>
              <a:t>#N/A -&amp;gt; value not in lookup table (check spelling)</a:t>
            </a:r>
            <a:endParaRPr lang="en-US" sz="1050" dirty="0"/>
          </a:p>
          <a:p>
            <a:pPr indent="0" marL="0">
              <a:buNone/>
            </a:pPr>
            <a:r>
              <a:rPr lang="en-US" sz="1050" dirty="0">
                <a:solidFill>
                  <a:srgbClr val="F43F5E"/>
                </a:solidFill>
                <a:latin typeface="Courier New" pitchFamily="34" charset="0"/>
                <a:ea typeface="Courier New" pitchFamily="34" charset="-122"/>
                <a:cs typeface="Courier New" pitchFamily="34" charset="-120"/>
              </a:rPr>
              <a:t>#REF! -&amp;gt; col_index_num too large for table</a:t>
            </a:r>
            <a:endParaRPr lang="en-US" sz="1050" dirty="0"/>
          </a:p>
          <a:p>
            <a:pPr indent="0" marL="0">
              <a:buNone/>
            </a:pPr>
            <a:r>
              <a:rPr lang="en-US" sz="1050" dirty="0">
                <a:solidFill>
                  <a:srgbClr val="F43F5E"/>
                </a:solidFill>
                <a:latin typeface="Courier New" pitchFamily="34" charset="0"/>
                <a:ea typeface="Courier New" pitchFamily="34" charset="-122"/>
                <a:cs typeface="Courier New" pitchFamily="34" charset="-120"/>
              </a:rPr>
              <a:t>Wrong result -&amp;gt; last arg is TRUE not 0/FALSE</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Fix: =IFERROR(VLOOKUP(B2,$F$1:$H$5,3,0),"?")</a:t>
            </a:r>
            <a:endParaRPr lang="en-US" sz="1050" dirty="0"/>
          </a:p>
        </p:txBody>
      </p:sp>
      <p:sp>
        <p:nvSpPr>
          <p:cNvPr id="20" name="Shape 18"/>
          <p:cNvSpPr/>
          <p:nvPr/>
        </p:nvSpPr>
        <p:spPr>
          <a:xfrm>
            <a:off x="7178040" y="1024128"/>
            <a:ext cx="4754880" cy="585216"/>
          </a:xfrm>
          <a:prstGeom prst="rect">
            <a:avLst/>
          </a:prstGeom>
          <a:solidFill>
            <a:srgbClr val="217346"/>
          </a:solidFill>
          <a:ln w="3810">
            <a:solidFill>
              <a:srgbClr val="1A2845"/>
            </a:solidFill>
            <a:prstDash val="solid"/>
          </a:ln>
        </p:spPr>
      </p:sp>
      <p:sp>
        <p:nvSpPr>
          <p:cNvPr id="21" name="Shape 19"/>
          <p:cNvSpPr/>
          <p:nvPr/>
        </p:nvSpPr>
        <p:spPr>
          <a:xfrm>
            <a:off x="9175090" y="1024128"/>
            <a:ext cx="18288" cy="585216"/>
          </a:xfrm>
          <a:prstGeom prst="rect">
            <a:avLst/>
          </a:prstGeom>
          <a:solidFill>
            <a:srgbClr val="FFFFFF"/>
          </a:solidFill>
          <a:ln w="12700">
            <a:solidFill>
              <a:srgbClr val="FFFFFF"/>
            </a:solidFill>
            <a:prstDash val="solid"/>
          </a:ln>
        </p:spPr>
      </p:sp>
      <p:sp>
        <p:nvSpPr>
          <p:cNvPr id="22" name="Text 20"/>
          <p:cNvSpPr/>
          <p:nvPr/>
        </p:nvSpPr>
        <p:spPr>
          <a:xfrm>
            <a:off x="7269480" y="1069848"/>
            <a:ext cx="1869034" cy="493776"/>
          </a:xfrm>
          <a:prstGeom prst="rect">
            <a:avLst/>
          </a:prstGeom>
          <a:noFill/>
          <a:ln/>
        </p:spPr>
        <p:txBody>
          <a:bodyPr wrap="square" lIns="0" tIns="0" rIns="0" bIns="0" rtlCol="0" anchor="ctr"/>
          <a:lstStyle/>
          <a:p>
            <a:pPr indent="0" marL="0">
              <a:buNone/>
            </a:pPr>
            <a:r>
              <a:rPr lang="en-US" sz="1000" b="1" dirty="0">
                <a:solidFill>
                  <a:srgbClr val="FFFFFF"/>
                </a:solidFill>
                <a:latin typeface="Cambria" pitchFamily="34" charset="0"/>
                <a:ea typeface="Cambria" pitchFamily="34" charset="-122"/>
                <a:cs typeface="Cambria" pitchFamily="34" charset="-120"/>
              </a:rPr>
              <a:t>Argument</a:t>
            </a:r>
            <a:endParaRPr lang="en-US" sz="1000" dirty="0"/>
          </a:p>
        </p:txBody>
      </p:sp>
      <p:sp>
        <p:nvSpPr>
          <p:cNvPr id="23" name="Text 21"/>
          <p:cNvSpPr/>
          <p:nvPr/>
        </p:nvSpPr>
        <p:spPr>
          <a:xfrm>
            <a:off x="9266530" y="1069848"/>
            <a:ext cx="2574950" cy="49377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What It Means</a:t>
            </a:r>
            <a:endParaRPr lang="en-US" sz="1000" dirty="0"/>
          </a:p>
        </p:txBody>
      </p:sp>
      <p:sp>
        <p:nvSpPr>
          <p:cNvPr id="24" name="Shape 22"/>
          <p:cNvSpPr/>
          <p:nvPr/>
        </p:nvSpPr>
        <p:spPr>
          <a:xfrm>
            <a:off x="7178040" y="1609344"/>
            <a:ext cx="4754880" cy="585216"/>
          </a:xfrm>
          <a:prstGeom prst="rect">
            <a:avLst/>
          </a:prstGeom>
          <a:solidFill>
            <a:srgbClr val="141E36"/>
          </a:solidFill>
          <a:ln w="3810">
            <a:solidFill>
              <a:srgbClr val="1A2845"/>
            </a:solidFill>
            <a:prstDash val="solid"/>
          </a:ln>
        </p:spPr>
      </p:sp>
      <p:sp>
        <p:nvSpPr>
          <p:cNvPr id="25" name="Shape 23"/>
          <p:cNvSpPr/>
          <p:nvPr/>
        </p:nvSpPr>
        <p:spPr>
          <a:xfrm>
            <a:off x="9175090" y="1609344"/>
            <a:ext cx="18288" cy="585216"/>
          </a:xfrm>
          <a:prstGeom prst="rect">
            <a:avLst/>
          </a:prstGeom>
          <a:solidFill>
            <a:srgbClr val="1E293B"/>
          </a:solidFill>
          <a:ln w="12700">
            <a:solidFill>
              <a:srgbClr val="1E293B"/>
            </a:solidFill>
            <a:prstDash val="solid"/>
          </a:ln>
        </p:spPr>
      </p:sp>
      <p:sp>
        <p:nvSpPr>
          <p:cNvPr id="26" name="Text 24"/>
          <p:cNvSpPr/>
          <p:nvPr/>
        </p:nvSpPr>
        <p:spPr>
          <a:xfrm>
            <a:off x="7269480" y="1655064"/>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lookup_value (B2)</a:t>
            </a:r>
            <a:endParaRPr lang="en-US" sz="950" dirty="0"/>
          </a:p>
        </p:txBody>
      </p:sp>
      <p:sp>
        <p:nvSpPr>
          <p:cNvPr id="27" name="Text 25"/>
          <p:cNvSpPr/>
          <p:nvPr/>
        </p:nvSpPr>
        <p:spPr>
          <a:xfrm>
            <a:off x="9266530" y="1655064"/>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The value you are searching FOR. In our example: the product code from column B of the orders table.</a:t>
            </a:r>
            <a:endParaRPr lang="en-US" sz="1000" dirty="0"/>
          </a:p>
        </p:txBody>
      </p:sp>
      <p:sp>
        <p:nvSpPr>
          <p:cNvPr id="28" name="Shape 26"/>
          <p:cNvSpPr/>
          <p:nvPr/>
        </p:nvSpPr>
        <p:spPr>
          <a:xfrm>
            <a:off x="7178040" y="2194560"/>
            <a:ext cx="4754880" cy="585216"/>
          </a:xfrm>
          <a:prstGeom prst="rect">
            <a:avLst/>
          </a:prstGeom>
          <a:solidFill>
            <a:srgbClr val="0F1D3C"/>
          </a:solidFill>
          <a:ln w="3810">
            <a:solidFill>
              <a:srgbClr val="1A2845"/>
            </a:solidFill>
            <a:prstDash val="solid"/>
          </a:ln>
        </p:spPr>
      </p:sp>
      <p:sp>
        <p:nvSpPr>
          <p:cNvPr id="29" name="Shape 27"/>
          <p:cNvSpPr/>
          <p:nvPr/>
        </p:nvSpPr>
        <p:spPr>
          <a:xfrm>
            <a:off x="9175090" y="2194560"/>
            <a:ext cx="18288" cy="585216"/>
          </a:xfrm>
          <a:prstGeom prst="rect">
            <a:avLst/>
          </a:prstGeom>
          <a:solidFill>
            <a:srgbClr val="1E293B"/>
          </a:solidFill>
          <a:ln w="12700">
            <a:solidFill>
              <a:srgbClr val="1E293B"/>
            </a:solidFill>
            <a:prstDash val="solid"/>
          </a:ln>
        </p:spPr>
      </p:sp>
      <p:sp>
        <p:nvSpPr>
          <p:cNvPr id="30" name="Text 28"/>
          <p:cNvSpPr/>
          <p:nvPr/>
        </p:nvSpPr>
        <p:spPr>
          <a:xfrm>
            <a:off x="7269480" y="2240280"/>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table_array ($F$1:$H$5)</a:t>
            </a:r>
            <a:endParaRPr lang="en-US" sz="950" dirty="0"/>
          </a:p>
        </p:txBody>
      </p:sp>
      <p:sp>
        <p:nvSpPr>
          <p:cNvPr id="31" name="Text 29"/>
          <p:cNvSpPr/>
          <p:nvPr/>
        </p:nvSpPr>
        <p:spPr>
          <a:xfrm>
            <a:off x="9266530" y="2240280"/>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The table containing the data you want. Must include the lookup column as the FIRST column. Use $ to make it absolute.</a:t>
            </a:r>
            <a:endParaRPr lang="en-US" sz="1000" dirty="0"/>
          </a:p>
        </p:txBody>
      </p:sp>
      <p:sp>
        <p:nvSpPr>
          <p:cNvPr id="32" name="Shape 30"/>
          <p:cNvSpPr/>
          <p:nvPr/>
        </p:nvSpPr>
        <p:spPr>
          <a:xfrm>
            <a:off x="7178040" y="2779776"/>
            <a:ext cx="4754880" cy="585216"/>
          </a:xfrm>
          <a:prstGeom prst="rect">
            <a:avLst/>
          </a:prstGeom>
          <a:solidFill>
            <a:srgbClr val="141E36"/>
          </a:solidFill>
          <a:ln w="3810">
            <a:solidFill>
              <a:srgbClr val="1A2845"/>
            </a:solidFill>
            <a:prstDash val="solid"/>
          </a:ln>
        </p:spPr>
      </p:sp>
      <p:sp>
        <p:nvSpPr>
          <p:cNvPr id="33" name="Shape 31"/>
          <p:cNvSpPr/>
          <p:nvPr/>
        </p:nvSpPr>
        <p:spPr>
          <a:xfrm>
            <a:off x="9175090" y="2779776"/>
            <a:ext cx="18288" cy="585216"/>
          </a:xfrm>
          <a:prstGeom prst="rect">
            <a:avLst/>
          </a:prstGeom>
          <a:solidFill>
            <a:srgbClr val="1E293B"/>
          </a:solidFill>
          <a:ln w="12700">
            <a:solidFill>
              <a:srgbClr val="1E293B"/>
            </a:solidFill>
            <a:prstDash val="solid"/>
          </a:ln>
        </p:spPr>
      </p:sp>
      <p:sp>
        <p:nvSpPr>
          <p:cNvPr id="34" name="Text 32"/>
          <p:cNvSpPr/>
          <p:nvPr/>
        </p:nvSpPr>
        <p:spPr>
          <a:xfrm>
            <a:off x="7269480" y="2825496"/>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col_index_num (3)</a:t>
            </a:r>
            <a:endParaRPr lang="en-US" sz="950" dirty="0"/>
          </a:p>
        </p:txBody>
      </p:sp>
      <p:sp>
        <p:nvSpPr>
          <p:cNvPr id="35" name="Text 33"/>
          <p:cNvSpPr/>
          <p:nvPr/>
        </p:nvSpPr>
        <p:spPr>
          <a:xfrm>
            <a:off x="9266530" y="2825496"/>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Which column of the table to return. 1=first column, 2=second, 3=third. We want Price which is the 3rd column.</a:t>
            </a:r>
            <a:endParaRPr lang="en-US" sz="1000" dirty="0"/>
          </a:p>
        </p:txBody>
      </p:sp>
      <p:sp>
        <p:nvSpPr>
          <p:cNvPr id="36" name="Shape 34"/>
          <p:cNvSpPr/>
          <p:nvPr/>
        </p:nvSpPr>
        <p:spPr>
          <a:xfrm>
            <a:off x="7178040" y="3364992"/>
            <a:ext cx="4754880" cy="585216"/>
          </a:xfrm>
          <a:prstGeom prst="rect">
            <a:avLst/>
          </a:prstGeom>
          <a:solidFill>
            <a:srgbClr val="0F1D3C"/>
          </a:solidFill>
          <a:ln w="3810">
            <a:solidFill>
              <a:srgbClr val="1A2845"/>
            </a:solidFill>
            <a:prstDash val="solid"/>
          </a:ln>
        </p:spPr>
      </p:sp>
      <p:sp>
        <p:nvSpPr>
          <p:cNvPr id="37" name="Shape 35"/>
          <p:cNvSpPr/>
          <p:nvPr/>
        </p:nvSpPr>
        <p:spPr>
          <a:xfrm>
            <a:off x="9175090" y="3364992"/>
            <a:ext cx="18288" cy="585216"/>
          </a:xfrm>
          <a:prstGeom prst="rect">
            <a:avLst/>
          </a:prstGeom>
          <a:solidFill>
            <a:srgbClr val="1E293B"/>
          </a:solidFill>
          <a:ln w="12700">
            <a:solidFill>
              <a:srgbClr val="1E293B"/>
            </a:solidFill>
            <a:prstDash val="solid"/>
          </a:ln>
        </p:spPr>
      </p:sp>
      <p:sp>
        <p:nvSpPr>
          <p:cNvPr id="38" name="Text 36"/>
          <p:cNvSpPr/>
          <p:nvPr/>
        </p:nvSpPr>
        <p:spPr>
          <a:xfrm>
            <a:off x="7269480" y="3410712"/>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range_lookup (0 or FALSE)</a:t>
            </a:r>
            <a:endParaRPr lang="en-US" sz="950" dirty="0"/>
          </a:p>
        </p:txBody>
      </p:sp>
      <p:sp>
        <p:nvSpPr>
          <p:cNvPr id="39" name="Text 37"/>
          <p:cNvSpPr/>
          <p:nvPr/>
        </p:nvSpPr>
        <p:spPr>
          <a:xfrm>
            <a:off x="9266530" y="3410712"/>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ALWAYS use 0 (exact match) in business use. 1 (approximate) only works with sorted data and is dangerous.</a:t>
            </a:r>
            <a:endParaRPr lang="en-US" sz="1000" dirty="0"/>
          </a:p>
        </p:txBody>
      </p:sp>
      <p:sp>
        <p:nvSpPr>
          <p:cNvPr id="40" name="Shape 38"/>
          <p:cNvSpPr/>
          <p:nvPr/>
        </p:nvSpPr>
        <p:spPr>
          <a:xfrm>
            <a:off x="7178040" y="3950208"/>
            <a:ext cx="4754880" cy="585216"/>
          </a:xfrm>
          <a:prstGeom prst="rect">
            <a:avLst/>
          </a:prstGeom>
          <a:solidFill>
            <a:srgbClr val="141E36"/>
          </a:solidFill>
          <a:ln w="3810">
            <a:solidFill>
              <a:srgbClr val="1A2845"/>
            </a:solidFill>
            <a:prstDash val="solid"/>
          </a:ln>
        </p:spPr>
      </p:sp>
      <p:sp>
        <p:nvSpPr>
          <p:cNvPr id="41" name="Shape 39"/>
          <p:cNvSpPr/>
          <p:nvPr/>
        </p:nvSpPr>
        <p:spPr>
          <a:xfrm>
            <a:off x="9175090" y="3950208"/>
            <a:ext cx="18288" cy="585216"/>
          </a:xfrm>
          <a:prstGeom prst="rect">
            <a:avLst/>
          </a:prstGeom>
          <a:solidFill>
            <a:srgbClr val="1E293B"/>
          </a:solidFill>
          <a:ln w="12700">
            <a:solidFill>
              <a:srgbClr val="1E293B"/>
            </a:solidFill>
            <a:prstDash val="solid"/>
          </a:ln>
        </p:spPr>
      </p:sp>
      <p:sp>
        <p:nvSpPr>
          <p:cNvPr id="42" name="Text 40"/>
          <p:cNvSpPr/>
          <p:nvPr/>
        </p:nvSpPr>
        <p:spPr>
          <a:xfrm>
            <a:off x="7269480" y="3995928"/>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Why $F$1:$H$5 not F1:H5</a:t>
            </a:r>
            <a:endParaRPr lang="en-US" sz="950" dirty="0"/>
          </a:p>
        </p:txBody>
      </p:sp>
      <p:sp>
        <p:nvSpPr>
          <p:cNvPr id="43" name="Text 41"/>
          <p:cNvSpPr/>
          <p:nvPr/>
        </p:nvSpPr>
        <p:spPr>
          <a:xfrm>
            <a:off x="9266530" y="3995928"/>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When you copy the formula down to other rows, a relative reference would shift. $ locks the table location.</a:t>
            </a:r>
            <a:endParaRPr lang="en-US" sz="1000" dirty="0"/>
          </a:p>
        </p:txBody>
      </p:sp>
      <p:sp>
        <p:nvSpPr>
          <p:cNvPr id="44" name="Shape 42"/>
          <p:cNvSpPr/>
          <p:nvPr/>
        </p:nvSpPr>
        <p:spPr>
          <a:xfrm>
            <a:off x="7178040" y="4535424"/>
            <a:ext cx="4754880" cy="585216"/>
          </a:xfrm>
          <a:prstGeom prst="rect">
            <a:avLst/>
          </a:prstGeom>
          <a:solidFill>
            <a:srgbClr val="0F1D3C"/>
          </a:solidFill>
          <a:ln w="3810">
            <a:solidFill>
              <a:srgbClr val="1A2845"/>
            </a:solidFill>
            <a:prstDash val="solid"/>
          </a:ln>
        </p:spPr>
      </p:sp>
      <p:sp>
        <p:nvSpPr>
          <p:cNvPr id="45" name="Shape 43"/>
          <p:cNvSpPr/>
          <p:nvPr/>
        </p:nvSpPr>
        <p:spPr>
          <a:xfrm>
            <a:off x="9175090" y="4535424"/>
            <a:ext cx="18288" cy="585216"/>
          </a:xfrm>
          <a:prstGeom prst="rect">
            <a:avLst/>
          </a:prstGeom>
          <a:solidFill>
            <a:srgbClr val="1E293B"/>
          </a:solidFill>
          <a:ln w="12700">
            <a:solidFill>
              <a:srgbClr val="1E293B"/>
            </a:solidFill>
            <a:prstDash val="solid"/>
          </a:ln>
        </p:spPr>
      </p:sp>
      <p:sp>
        <p:nvSpPr>
          <p:cNvPr id="46" name="Text 44"/>
          <p:cNvSpPr/>
          <p:nvPr/>
        </p:nvSpPr>
        <p:spPr>
          <a:xfrm>
            <a:off x="7269480" y="4581144"/>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VLOOKUP limitation</a:t>
            </a:r>
            <a:endParaRPr lang="en-US" sz="950" dirty="0"/>
          </a:p>
        </p:txBody>
      </p:sp>
      <p:sp>
        <p:nvSpPr>
          <p:cNvPr id="47" name="Text 45"/>
          <p:cNvSpPr/>
          <p:nvPr/>
        </p:nvSpPr>
        <p:spPr>
          <a:xfrm>
            <a:off x="9266530" y="4581144"/>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The lookup column MUST be the leftmost column. Cannot look LEFT. Cannot return data from a column to the LEFT of the lookup column.</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60A14"/>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85C38"/>
          </a:solidFill>
          <a:ln w="12700">
            <a:solidFill>
              <a:srgbClr val="185C3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08. TEXT FUNCTIONS - Clean, Split, Join Text</a:t>
            </a:r>
            <a:endParaRPr lang="en-US" sz="2600" dirty="0"/>
          </a:p>
        </p:txBody>
      </p:sp>
      <p:sp>
        <p:nvSpPr>
          <p:cNvPr id="4" name="Shape 2"/>
          <p:cNvSpPr/>
          <p:nvPr/>
        </p:nvSpPr>
        <p:spPr>
          <a:xfrm>
            <a:off x="411480" y="1024128"/>
            <a:ext cx="6583680" cy="5559552"/>
          </a:xfrm>
          <a:prstGeom prst="roundRect">
            <a:avLst>
              <a:gd name="adj" fmla="val 1645"/>
            </a:avLst>
          </a:prstGeom>
          <a:solidFill>
            <a:srgbClr val="0D1117"/>
          </a:solidFill>
          <a:ln w="16510">
            <a:solidFill>
              <a:srgbClr val="217346"/>
            </a:solidFill>
            <a:prstDash val="solid"/>
          </a:ln>
          <a:effectLst>
            <a:outerShdw sx="100000" sy="100000" kx="0" ky="0" algn="bl" rotWithShape="0" blurRad="127000" dist="50800" dir="2700000">
              <a:srgbClr val="000000">
                <a:alpha val="20000"/>
              </a:srgbClr>
            </a:outerShdw>
          </a:effectLst>
        </p:spPr>
      </p:sp>
      <p:sp>
        <p:nvSpPr>
          <p:cNvPr id="5" name="Shape 3"/>
          <p:cNvSpPr/>
          <p:nvPr/>
        </p:nvSpPr>
        <p:spPr>
          <a:xfrm>
            <a:off x="411480" y="1024128"/>
            <a:ext cx="6583680" cy="329184"/>
          </a:xfrm>
          <a:prstGeom prst="roundRect">
            <a:avLst>
              <a:gd name="adj" fmla="val 27778"/>
            </a:avLst>
          </a:prstGeom>
          <a:solidFill>
            <a:srgbClr val="111E35"/>
          </a:solidFill>
          <a:ln w="12700">
            <a:solidFill>
              <a:srgbClr val="111E35"/>
            </a:solidFill>
            <a:prstDash val="solid"/>
          </a:ln>
        </p:spPr>
      </p:sp>
      <p:sp>
        <p:nvSpPr>
          <p:cNvPr id="6" name="Shape 4"/>
          <p:cNvSpPr/>
          <p:nvPr/>
        </p:nvSpPr>
        <p:spPr>
          <a:xfrm>
            <a:off x="411480" y="1207008"/>
            <a:ext cx="6583680" cy="146304"/>
          </a:xfrm>
          <a:prstGeom prst="rect">
            <a:avLst/>
          </a:prstGeom>
          <a:solidFill>
            <a:srgbClr val="111E35"/>
          </a:solidFill>
          <a:ln w="12700">
            <a:solidFill>
              <a:srgbClr val="111E35"/>
            </a:solidFill>
            <a:prstDash val="solid"/>
          </a:ln>
        </p:spPr>
      </p:sp>
      <p:sp>
        <p:nvSpPr>
          <p:cNvPr id="7" name="Shape 5"/>
          <p:cNvSpPr/>
          <p:nvPr/>
        </p:nvSpPr>
        <p:spPr>
          <a:xfrm>
            <a:off x="539496" y="1115568"/>
            <a:ext cx="146304" cy="146304"/>
          </a:xfrm>
          <a:prstGeom prst="ellipse">
            <a:avLst/>
          </a:prstGeom>
          <a:solidFill>
            <a:srgbClr val="F43F5E"/>
          </a:solidFill>
          <a:ln w="12700">
            <a:solidFill>
              <a:srgbClr val="F43F5E"/>
            </a:solidFill>
            <a:prstDash val="solid"/>
          </a:ln>
        </p:spPr>
      </p:sp>
      <p:sp>
        <p:nvSpPr>
          <p:cNvPr id="8" name="Shape 6"/>
          <p:cNvSpPr/>
          <p:nvPr/>
        </p:nvSpPr>
        <p:spPr>
          <a:xfrm>
            <a:off x="740664" y="1115568"/>
            <a:ext cx="146304" cy="146304"/>
          </a:xfrm>
          <a:prstGeom prst="ellipse">
            <a:avLst/>
          </a:prstGeom>
          <a:solidFill>
            <a:srgbClr val="F59E0B"/>
          </a:solidFill>
          <a:ln w="12700">
            <a:solidFill>
              <a:srgbClr val="F59E0B"/>
            </a:solidFill>
            <a:prstDash val="solid"/>
          </a:ln>
        </p:spPr>
      </p:sp>
      <p:sp>
        <p:nvSpPr>
          <p:cNvPr id="9" name="Shape 7"/>
          <p:cNvSpPr/>
          <p:nvPr/>
        </p:nvSpPr>
        <p:spPr>
          <a:xfrm>
            <a:off x="941832" y="1115568"/>
            <a:ext cx="146304" cy="146304"/>
          </a:xfrm>
          <a:prstGeom prst="ellipse">
            <a:avLst/>
          </a:prstGeom>
          <a:solidFill>
            <a:srgbClr val="70AD47"/>
          </a:solidFill>
          <a:ln w="12700">
            <a:solidFill>
              <a:srgbClr val="70AD47"/>
            </a:solidFill>
            <a:prstDash val="solid"/>
          </a:ln>
        </p:spPr>
      </p:sp>
      <p:sp>
        <p:nvSpPr>
          <p:cNvPr id="10" name="Text 8"/>
          <p:cNvSpPr/>
          <p:nvPr/>
        </p:nvSpPr>
        <p:spPr>
          <a:xfrm>
            <a:off x="1143000" y="1078992"/>
            <a:ext cx="566928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text_fns.xlsx</a:t>
            </a:r>
            <a:endParaRPr lang="en-US" sz="900" dirty="0"/>
          </a:p>
        </p:txBody>
      </p:sp>
      <p:sp>
        <p:nvSpPr>
          <p:cNvPr id="11" name="Text 9"/>
          <p:cNvSpPr/>
          <p:nvPr/>
        </p:nvSpPr>
        <p:spPr>
          <a:xfrm>
            <a:off x="557784" y="1408176"/>
            <a:ext cx="6309360" cy="5065776"/>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Extract Text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=LEFT("LAGOS-001", 5)      -&amp;gt; "LAGOS"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=RIGHT("LAGOS-001", 3)     -&amp;gt; "001"</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=MID("LAGOS-001", 7, 3)   -&amp;gt; "001"</a:t>
            </a:r>
            <a:endParaRPr lang="en-US" sz="1050" dirty="0"/>
          </a:p>
          <a:p>
            <a:pPr indent="0" marL="0">
              <a:buNone/>
            </a:pPr>
            <a:r>
              <a:rPr lang="en-US" sz="1050" dirty="0">
                <a:solidFill>
                  <a:srgbClr val="94A3B8"/>
                </a:solidFill>
                <a:latin typeface="Courier New" pitchFamily="34" charset="0"/>
                <a:ea typeface="Courier New" pitchFamily="34" charset="-122"/>
                <a:cs typeface="Courier New" pitchFamily="34" charset="-120"/>
              </a:rPr>
              <a:t>                 ^start ^chars</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Clean Text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=TRIM("  Lagos  ")         -&amp;gt; "Lagos"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=CLEAN(A1)                  Remove non-printable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=PROPER("lagos state")     -&amp;gt; "Lagos State"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=UPPER("lagos")            -&amp;gt; "LAGOS"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=LOWER("LAGOS")            -&amp;gt; "lagos"</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Join Text (Concatenate)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=A1and" "andB1                 Ampersand join</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=CONCAT(A1, " ", B1)      Excel 2016+</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=TEXTJOIN(", ",TRUE,A1:A5) Join with delimiter</a:t>
            </a:r>
            <a:endParaRPr lang="en-US" sz="1050" dirty="0"/>
          </a:p>
          <a:p>
            <a:pPr indent="0" marL="0">
              <a:buNone/>
            </a:pPr>
            <a:r>
              <a:rPr lang="en-US" sz="1050" dirty="0">
                <a:solidFill>
                  <a:srgbClr val="94A3B8"/>
                </a:solidFill>
                <a:latin typeface="Courier New" pitchFamily="34" charset="0"/>
                <a:ea typeface="Courier New" pitchFamily="34" charset="-122"/>
                <a:cs typeface="Courier New" pitchFamily="34" charset="-120"/>
              </a:rPr>
              <a:t>     delimiter--^  ^ignore blanks</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Find and Replace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=FIND("Lagos", A1)         Position (case-sensitive)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=SEARCH("lagos", A1)       Position (NOT case-sensitive)</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=SUBSTITUTE(A1,"NGN","$") Replace all NGN with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=REPLACE(A1, 1, 3, "XXX") Replace chars 1-3 with XXX</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Number to Text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=TEXT(45000, "NGN #,##0")  -&amp;gt; "NGN 45,000"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=TEXT(TODAY(), "DD MMM YYYY") -&amp;gt; "25 Jun 2026"</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=LEN(A1)                   Character count</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=VALUE("45000")            Text to number</a:t>
            </a:r>
            <a:endParaRPr lang="en-US" sz="1050" dirty="0"/>
          </a:p>
        </p:txBody>
      </p:sp>
      <p:sp>
        <p:nvSpPr>
          <p:cNvPr id="12" name="Shape 10"/>
          <p:cNvSpPr/>
          <p:nvPr/>
        </p:nvSpPr>
        <p:spPr>
          <a:xfrm>
            <a:off x="7178040" y="1024128"/>
            <a:ext cx="4754880" cy="585216"/>
          </a:xfrm>
          <a:prstGeom prst="rect">
            <a:avLst/>
          </a:prstGeom>
          <a:solidFill>
            <a:srgbClr val="217346"/>
          </a:solidFill>
          <a:ln w="3810">
            <a:solidFill>
              <a:srgbClr val="1A2845"/>
            </a:solidFill>
            <a:prstDash val="solid"/>
          </a:ln>
        </p:spPr>
      </p:sp>
      <p:sp>
        <p:nvSpPr>
          <p:cNvPr id="13" name="Shape 11"/>
          <p:cNvSpPr/>
          <p:nvPr/>
        </p:nvSpPr>
        <p:spPr>
          <a:xfrm>
            <a:off x="9175090" y="1024128"/>
            <a:ext cx="18288" cy="585216"/>
          </a:xfrm>
          <a:prstGeom prst="rect">
            <a:avLst/>
          </a:prstGeom>
          <a:solidFill>
            <a:srgbClr val="FFFFFF"/>
          </a:solidFill>
          <a:ln w="12700">
            <a:solidFill>
              <a:srgbClr val="FFFFFF"/>
            </a:solidFill>
            <a:prstDash val="solid"/>
          </a:ln>
        </p:spPr>
      </p:sp>
      <p:sp>
        <p:nvSpPr>
          <p:cNvPr id="14" name="Text 12"/>
          <p:cNvSpPr/>
          <p:nvPr/>
        </p:nvSpPr>
        <p:spPr>
          <a:xfrm>
            <a:off x="7269480" y="1069848"/>
            <a:ext cx="1869034" cy="493776"/>
          </a:xfrm>
          <a:prstGeom prst="rect">
            <a:avLst/>
          </a:prstGeom>
          <a:noFill/>
          <a:ln/>
        </p:spPr>
        <p:txBody>
          <a:bodyPr wrap="square" lIns="0" tIns="0" rIns="0" bIns="0" rtlCol="0" anchor="ctr"/>
          <a:lstStyle/>
          <a:p>
            <a:pPr indent="0" marL="0">
              <a:buNone/>
            </a:pPr>
            <a:r>
              <a:rPr lang="en-US" sz="1000" b="1" dirty="0">
                <a:solidFill>
                  <a:srgbClr val="FFFFFF"/>
                </a:solidFill>
                <a:latin typeface="Cambria" pitchFamily="34" charset="0"/>
                <a:ea typeface="Cambria" pitchFamily="34" charset="-122"/>
                <a:cs typeface="Cambria" pitchFamily="34" charset="-120"/>
              </a:rPr>
              <a:t>Function</a:t>
            </a:r>
            <a:endParaRPr lang="en-US" sz="1000" dirty="0"/>
          </a:p>
        </p:txBody>
      </p:sp>
      <p:sp>
        <p:nvSpPr>
          <p:cNvPr id="15" name="Text 13"/>
          <p:cNvSpPr/>
          <p:nvPr/>
        </p:nvSpPr>
        <p:spPr>
          <a:xfrm>
            <a:off x="9266530" y="1069848"/>
            <a:ext cx="2574950" cy="49377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What It Does - Business Use</a:t>
            </a:r>
            <a:endParaRPr lang="en-US" sz="1000" dirty="0"/>
          </a:p>
        </p:txBody>
      </p:sp>
      <p:sp>
        <p:nvSpPr>
          <p:cNvPr id="16" name="Shape 14"/>
          <p:cNvSpPr/>
          <p:nvPr/>
        </p:nvSpPr>
        <p:spPr>
          <a:xfrm>
            <a:off x="7178040" y="1609344"/>
            <a:ext cx="4754880" cy="585216"/>
          </a:xfrm>
          <a:prstGeom prst="rect">
            <a:avLst/>
          </a:prstGeom>
          <a:solidFill>
            <a:srgbClr val="141E36"/>
          </a:solidFill>
          <a:ln w="3810">
            <a:solidFill>
              <a:srgbClr val="1A2845"/>
            </a:solidFill>
            <a:prstDash val="solid"/>
          </a:ln>
        </p:spPr>
      </p:sp>
      <p:sp>
        <p:nvSpPr>
          <p:cNvPr id="17" name="Shape 15"/>
          <p:cNvSpPr/>
          <p:nvPr/>
        </p:nvSpPr>
        <p:spPr>
          <a:xfrm>
            <a:off x="9175090" y="1609344"/>
            <a:ext cx="18288" cy="585216"/>
          </a:xfrm>
          <a:prstGeom prst="rect">
            <a:avLst/>
          </a:prstGeom>
          <a:solidFill>
            <a:srgbClr val="1E293B"/>
          </a:solidFill>
          <a:ln w="12700">
            <a:solidFill>
              <a:srgbClr val="1E293B"/>
            </a:solidFill>
            <a:prstDash val="solid"/>
          </a:ln>
        </p:spPr>
      </p:sp>
      <p:sp>
        <p:nvSpPr>
          <p:cNvPr id="18" name="Text 16"/>
          <p:cNvSpPr/>
          <p:nvPr/>
        </p:nvSpPr>
        <p:spPr>
          <a:xfrm>
            <a:off x="7269480" y="1655064"/>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=TRIM(A1)</a:t>
            </a:r>
            <a:endParaRPr lang="en-US" sz="950" dirty="0"/>
          </a:p>
        </p:txBody>
      </p:sp>
      <p:sp>
        <p:nvSpPr>
          <p:cNvPr id="19" name="Text 17"/>
          <p:cNvSpPr/>
          <p:nvPr/>
        </p:nvSpPr>
        <p:spPr>
          <a:xfrm>
            <a:off x="9266530" y="1655064"/>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Removes all leading, trailing, and extra internal spaces. Run on every text column imported from another system.</a:t>
            </a:r>
            <a:endParaRPr lang="en-US" sz="1000" dirty="0"/>
          </a:p>
        </p:txBody>
      </p:sp>
      <p:sp>
        <p:nvSpPr>
          <p:cNvPr id="20" name="Shape 18"/>
          <p:cNvSpPr/>
          <p:nvPr/>
        </p:nvSpPr>
        <p:spPr>
          <a:xfrm>
            <a:off x="7178040" y="2194560"/>
            <a:ext cx="4754880" cy="585216"/>
          </a:xfrm>
          <a:prstGeom prst="rect">
            <a:avLst/>
          </a:prstGeom>
          <a:solidFill>
            <a:srgbClr val="0F1D3C"/>
          </a:solidFill>
          <a:ln w="3810">
            <a:solidFill>
              <a:srgbClr val="1A2845"/>
            </a:solidFill>
            <a:prstDash val="solid"/>
          </a:ln>
        </p:spPr>
      </p:sp>
      <p:sp>
        <p:nvSpPr>
          <p:cNvPr id="21" name="Shape 19"/>
          <p:cNvSpPr/>
          <p:nvPr/>
        </p:nvSpPr>
        <p:spPr>
          <a:xfrm>
            <a:off x="9175090" y="2194560"/>
            <a:ext cx="18288" cy="585216"/>
          </a:xfrm>
          <a:prstGeom prst="rect">
            <a:avLst/>
          </a:prstGeom>
          <a:solidFill>
            <a:srgbClr val="1E293B"/>
          </a:solidFill>
          <a:ln w="12700">
            <a:solidFill>
              <a:srgbClr val="1E293B"/>
            </a:solidFill>
            <a:prstDash val="solid"/>
          </a:ln>
        </p:spPr>
      </p:sp>
      <p:sp>
        <p:nvSpPr>
          <p:cNvPr id="22" name="Text 20"/>
          <p:cNvSpPr/>
          <p:nvPr/>
        </p:nvSpPr>
        <p:spPr>
          <a:xfrm>
            <a:off x="7269480" y="2240280"/>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=LEFT(A1,5)</a:t>
            </a:r>
            <a:endParaRPr lang="en-US" sz="950" dirty="0"/>
          </a:p>
        </p:txBody>
      </p:sp>
      <p:sp>
        <p:nvSpPr>
          <p:cNvPr id="23" name="Text 21"/>
          <p:cNvSpPr/>
          <p:nvPr/>
        </p:nvSpPr>
        <p:spPr>
          <a:xfrm>
            <a:off x="9266530" y="2240280"/>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Returns first 5 characters. Use to extract product category codes, region prefixes from combined codes.</a:t>
            </a:r>
            <a:endParaRPr lang="en-US" sz="1000" dirty="0"/>
          </a:p>
        </p:txBody>
      </p:sp>
      <p:sp>
        <p:nvSpPr>
          <p:cNvPr id="24" name="Shape 22"/>
          <p:cNvSpPr/>
          <p:nvPr/>
        </p:nvSpPr>
        <p:spPr>
          <a:xfrm>
            <a:off x="7178040" y="2779776"/>
            <a:ext cx="4754880" cy="585216"/>
          </a:xfrm>
          <a:prstGeom prst="rect">
            <a:avLst/>
          </a:prstGeom>
          <a:solidFill>
            <a:srgbClr val="141E36"/>
          </a:solidFill>
          <a:ln w="3810">
            <a:solidFill>
              <a:srgbClr val="1A2845"/>
            </a:solidFill>
            <a:prstDash val="solid"/>
          </a:ln>
        </p:spPr>
      </p:sp>
      <p:sp>
        <p:nvSpPr>
          <p:cNvPr id="25" name="Shape 23"/>
          <p:cNvSpPr/>
          <p:nvPr/>
        </p:nvSpPr>
        <p:spPr>
          <a:xfrm>
            <a:off x="9175090" y="2779776"/>
            <a:ext cx="18288" cy="585216"/>
          </a:xfrm>
          <a:prstGeom prst="rect">
            <a:avLst/>
          </a:prstGeom>
          <a:solidFill>
            <a:srgbClr val="1E293B"/>
          </a:solidFill>
          <a:ln w="12700">
            <a:solidFill>
              <a:srgbClr val="1E293B"/>
            </a:solidFill>
            <a:prstDash val="solid"/>
          </a:ln>
        </p:spPr>
      </p:sp>
      <p:sp>
        <p:nvSpPr>
          <p:cNvPr id="26" name="Text 24"/>
          <p:cNvSpPr/>
          <p:nvPr/>
        </p:nvSpPr>
        <p:spPr>
          <a:xfrm>
            <a:off x="7269480" y="2825496"/>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=MID(A1,7,3)</a:t>
            </a:r>
            <a:endParaRPr lang="en-US" sz="950" dirty="0"/>
          </a:p>
        </p:txBody>
      </p:sp>
      <p:sp>
        <p:nvSpPr>
          <p:cNvPr id="27" name="Text 25"/>
          <p:cNvSpPr/>
          <p:nvPr/>
        </p:nvSpPr>
        <p:spPr>
          <a:xfrm>
            <a:off x="9266530" y="2825496"/>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Returns 3 characters starting at position 7. Essential for extracting segments of structured codes like ORD-2024-001.</a:t>
            </a:r>
            <a:endParaRPr lang="en-US" sz="1000" dirty="0"/>
          </a:p>
        </p:txBody>
      </p:sp>
      <p:sp>
        <p:nvSpPr>
          <p:cNvPr id="28" name="Shape 26"/>
          <p:cNvSpPr/>
          <p:nvPr/>
        </p:nvSpPr>
        <p:spPr>
          <a:xfrm>
            <a:off x="7178040" y="3364992"/>
            <a:ext cx="4754880" cy="585216"/>
          </a:xfrm>
          <a:prstGeom prst="rect">
            <a:avLst/>
          </a:prstGeom>
          <a:solidFill>
            <a:srgbClr val="0F1D3C"/>
          </a:solidFill>
          <a:ln w="3810">
            <a:solidFill>
              <a:srgbClr val="1A2845"/>
            </a:solidFill>
            <a:prstDash val="solid"/>
          </a:ln>
        </p:spPr>
      </p:sp>
      <p:sp>
        <p:nvSpPr>
          <p:cNvPr id="29" name="Shape 27"/>
          <p:cNvSpPr/>
          <p:nvPr/>
        </p:nvSpPr>
        <p:spPr>
          <a:xfrm>
            <a:off x="9175090" y="3364992"/>
            <a:ext cx="18288" cy="585216"/>
          </a:xfrm>
          <a:prstGeom prst="rect">
            <a:avLst/>
          </a:prstGeom>
          <a:solidFill>
            <a:srgbClr val="1E293B"/>
          </a:solidFill>
          <a:ln w="12700">
            <a:solidFill>
              <a:srgbClr val="1E293B"/>
            </a:solidFill>
            <a:prstDash val="solid"/>
          </a:ln>
        </p:spPr>
      </p:sp>
      <p:sp>
        <p:nvSpPr>
          <p:cNvPr id="30" name="Text 28"/>
          <p:cNvSpPr/>
          <p:nvPr/>
        </p:nvSpPr>
        <p:spPr>
          <a:xfrm>
            <a:off x="7269480" y="3410712"/>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=SUBSTITUTE(A1,"old","new")</a:t>
            </a:r>
            <a:endParaRPr lang="en-US" sz="950" dirty="0"/>
          </a:p>
        </p:txBody>
      </p:sp>
      <p:sp>
        <p:nvSpPr>
          <p:cNvPr id="31" name="Text 29"/>
          <p:cNvSpPr/>
          <p:nvPr/>
        </p:nvSpPr>
        <p:spPr>
          <a:xfrm>
            <a:off x="9266530" y="3410712"/>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Replaces all occurrences of 'old' with 'new'. Use to clean currency symbols: SUBSTITUTE(A1,"NGN ","").</a:t>
            </a:r>
            <a:endParaRPr lang="en-US" sz="1000" dirty="0"/>
          </a:p>
        </p:txBody>
      </p:sp>
      <p:sp>
        <p:nvSpPr>
          <p:cNvPr id="32" name="Shape 30"/>
          <p:cNvSpPr/>
          <p:nvPr/>
        </p:nvSpPr>
        <p:spPr>
          <a:xfrm>
            <a:off x="7178040" y="3950208"/>
            <a:ext cx="4754880" cy="585216"/>
          </a:xfrm>
          <a:prstGeom prst="rect">
            <a:avLst/>
          </a:prstGeom>
          <a:solidFill>
            <a:srgbClr val="141E36"/>
          </a:solidFill>
          <a:ln w="3810">
            <a:solidFill>
              <a:srgbClr val="1A2845"/>
            </a:solidFill>
            <a:prstDash val="solid"/>
          </a:ln>
        </p:spPr>
      </p:sp>
      <p:sp>
        <p:nvSpPr>
          <p:cNvPr id="33" name="Shape 31"/>
          <p:cNvSpPr/>
          <p:nvPr/>
        </p:nvSpPr>
        <p:spPr>
          <a:xfrm>
            <a:off x="9175090" y="3950208"/>
            <a:ext cx="18288" cy="585216"/>
          </a:xfrm>
          <a:prstGeom prst="rect">
            <a:avLst/>
          </a:prstGeom>
          <a:solidFill>
            <a:srgbClr val="1E293B"/>
          </a:solidFill>
          <a:ln w="12700">
            <a:solidFill>
              <a:srgbClr val="1E293B"/>
            </a:solidFill>
            <a:prstDash val="solid"/>
          </a:ln>
        </p:spPr>
      </p:sp>
      <p:sp>
        <p:nvSpPr>
          <p:cNvPr id="34" name="Text 32"/>
          <p:cNvSpPr/>
          <p:nvPr/>
        </p:nvSpPr>
        <p:spPr>
          <a:xfrm>
            <a:off x="7269480" y="3995928"/>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=TEXT(number,"format")</a:t>
            </a:r>
            <a:endParaRPr lang="en-US" sz="950" dirty="0"/>
          </a:p>
        </p:txBody>
      </p:sp>
      <p:sp>
        <p:nvSpPr>
          <p:cNvPr id="35" name="Text 33"/>
          <p:cNvSpPr/>
          <p:nvPr/>
        </p:nvSpPr>
        <p:spPr>
          <a:xfrm>
            <a:off x="9266530" y="3995928"/>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Converts a number to formatted text. =TEXT(45000,"NGN #,##0") returns 'NGN 45,000'. Different from number formatting - this creates TEXT.</a:t>
            </a:r>
            <a:endParaRPr lang="en-US" sz="1000" dirty="0"/>
          </a:p>
        </p:txBody>
      </p:sp>
      <p:sp>
        <p:nvSpPr>
          <p:cNvPr id="36" name="Shape 34"/>
          <p:cNvSpPr/>
          <p:nvPr/>
        </p:nvSpPr>
        <p:spPr>
          <a:xfrm>
            <a:off x="7178040" y="4535424"/>
            <a:ext cx="4754880" cy="585216"/>
          </a:xfrm>
          <a:prstGeom prst="rect">
            <a:avLst/>
          </a:prstGeom>
          <a:solidFill>
            <a:srgbClr val="0F1D3C"/>
          </a:solidFill>
          <a:ln w="3810">
            <a:solidFill>
              <a:srgbClr val="1A2845"/>
            </a:solidFill>
            <a:prstDash val="solid"/>
          </a:ln>
        </p:spPr>
      </p:sp>
      <p:sp>
        <p:nvSpPr>
          <p:cNvPr id="37" name="Shape 35"/>
          <p:cNvSpPr/>
          <p:nvPr/>
        </p:nvSpPr>
        <p:spPr>
          <a:xfrm>
            <a:off x="9175090" y="4535424"/>
            <a:ext cx="18288" cy="585216"/>
          </a:xfrm>
          <a:prstGeom prst="rect">
            <a:avLst/>
          </a:prstGeom>
          <a:solidFill>
            <a:srgbClr val="1E293B"/>
          </a:solidFill>
          <a:ln w="12700">
            <a:solidFill>
              <a:srgbClr val="1E293B"/>
            </a:solidFill>
            <a:prstDash val="solid"/>
          </a:ln>
        </p:spPr>
      </p:sp>
      <p:sp>
        <p:nvSpPr>
          <p:cNvPr id="38" name="Text 36"/>
          <p:cNvSpPr/>
          <p:nvPr/>
        </p:nvSpPr>
        <p:spPr>
          <a:xfrm>
            <a:off x="7269480" y="4581144"/>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=TEXTJOIN(", ",TRUE,A1:A5)</a:t>
            </a:r>
            <a:endParaRPr lang="en-US" sz="950" dirty="0"/>
          </a:p>
        </p:txBody>
      </p:sp>
      <p:sp>
        <p:nvSpPr>
          <p:cNvPr id="39" name="Text 37"/>
          <p:cNvSpPr/>
          <p:nvPr/>
        </p:nvSpPr>
        <p:spPr>
          <a:xfrm>
            <a:off x="9266530" y="4581144"/>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Joins all values in A1:A5 with a comma-space separator. TRUE means ignore blank cells. Perfect for creating comma-separated lists.</a:t>
            </a:r>
            <a:endParaRPr lang="en-US" sz="1000" dirty="0"/>
          </a:p>
        </p:txBody>
      </p:sp>
      <p:sp>
        <p:nvSpPr>
          <p:cNvPr id="40" name="Shape 38"/>
          <p:cNvSpPr/>
          <p:nvPr/>
        </p:nvSpPr>
        <p:spPr>
          <a:xfrm>
            <a:off x="7178040" y="5120640"/>
            <a:ext cx="4754880" cy="585216"/>
          </a:xfrm>
          <a:prstGeom prst="rect">
            <a:avLst/>
          </a:prstGeom>
          <a:solidFill>
            <a:srgbClr val="141E36"/>
          </a:solidFill>
          <a:ln w="3810">
            <a:solidFill>
              <a:srgbClr val="1A2845"/>
            </a:solidFill>
            <a:prstDash val="solid"/>
          </a:ln>
        </p:spPr>
      </p:sp>
      <p:sp>
        <p:nvSpPr>
          <p:cNvPr id="41" name="Shape 39"/>
          <p:cNvSpPr/>
          <p:nvPr/>
        </p:nvSpPr>
        <p:spPr>
          <a:xfrm>
            <a:off x="9175090" y="5120640"/>
            <a:ext cx="18288" cy="585216"/>
          </a:xfrm>
          <a:prstGeom prst="rect">
            <a:avLst/>
          </a:prstGeom>
          <a:solidFill>
            <a:srgbClr val="1E293B"/>
          </a:solidFill>
          <a:ln w="12700">
            <a:solidFill>
              <a:srgbClr val="1E293B"/>
            </a:solidFill>
            <a:prstDash val="solid"/>
          </a:ln>
        </p:spPr>
      </p:sp>
      <p:sp>
        <p:nvSpPr>
          <p:cNvPr id="42" name="Text 40"/>
          <p:cNvSpPr/>
          <p:nvPr/>
        </p:nvSpPr>
        <p:spPr>
          <a:xfrm>
            <a:off x="7269480" y="5166360"/>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=VALUE("45000")</a:t>
            </a:r>
            <a:endParaRPr lang="en-US" sz="950" dirty="0"/>
          </a:p>
        </p:txBody>
      </p:sp>
      <p:sp>
        <p:nvSpPr>
          <p:cNvPr id="43" name="Text 41"/>
          <p:cNvSpPr/>
          <p:nvPr/>
        </p:nvSpPr>
        <p:spPr>
          <a:xfrm>
            <a:off x="9266530" y="5166360"/>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Converts text that looks like a number into an actual number. Use when imported data has numbers stored as text.</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C1A38"/>
          </a:solidFill>
          <a:ln w="12700">
            <a:solidFill>
              <a:srgbClr val="0C1A3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09. DATE AND TIME FUNCTIONS</a:t>
            </a:r>
            <a:endParaRPr lang="en-US" sz="2600" dirty="0"/>
          </a:p>
        </p:txBody>
      </p:sp>
      <p:sp>
        <p:nvSpPr>
          <p:cNvPr id="4" name="Shape 2"/>
          <p:cNvSpPr/>
          <p:nvPr/>
        </p:nvSpPr>
        <p:spPr>
          <a:xfrm>
            <a:off x="411480" y="1024128"/>
            <a:ext cx="6583680" cy="4864608"/>
          </a:xfrm>
          <a:prstGeom prst="roundRect">
            <a:avLst>
              <a:gd name="adj" fmla="val 1880"/>
            </a:avLst>
          </a:prstGeom>
          <a:solidFill>
            <a:srgbClr val="0D1117"/>
          </a:solidFill>
          <a:ln w="16510">
            <a:solidFill>
              <a:srgbClr val="217346"/>
            </a:solidFill>
            <a:prstDash val="solid"/>
          </a:ln>
          <a:effectLst>
            <a:outerShdw sx="100000" sy="100000" kx="0" ky="0" algn="bl" rotWithShape="0" blurRad="127000" dist="50800" dir="2700000">
              <a:srgbClr val="000000">
                <a:alpha val="20000"/>
              </a:srgbClr>
            </a:outerShdw>
          </a:effectLst>
        </p:spPr>
      </p:sp>
      <p:sp>
        <p:nvSpPr>
          <p:cNvPr id="5" name="Shape 3"/>
          <p:cNvSpPr/>
          <p:nvPr/>
        </p:nvSpPr>
        <p:spPr>
          <a:xfrm>
            <a:off x="411480" y="1024128"/>
            <a:ext cx="6583680" cy="329184"/>
          </a:xfrm>
          <a:prstGeom prst="roundRect">
            <a:avLst>
              <a:gd name="adj" fmla="val 27778"/>
            </a:avLst>
          </a:prstGeom>
          <a:solidFill>
            <a:srgbClr val="111E35"/>
          </a:solidFill>
          <a:ln w="12700">
            <a:solidFill>
              <a:srgbClr val="111E35"/>
            </a:solidFill>
            <a:prstDash val="solid"/>
          </a:ln>
        </p:spPr>
      </p:sp>
      <p:sp>
        <p:nvSpPr>
          <p:cNvPr id="6" name="Shape 4"/>
          <p:cNvSpPr/>
          <p:nvPr/>
        </p:nvSpPr>
        <p:spPr>
          <a:xfrm>
            <a:off x="411480" y="1207008"/>
            <a:ext cx="6583680" cy="146304"/>
          </a:xfrm>
          <a:prstGeom prst="rect">
            <a:avLst/>
          </a:prstGeom>
          <a:solidFill>
            <a:srgbClr val="111E35"/>
          </a:solidFill>
          <a:ln w="12700">
            <a:solidFill>
              <a:srgbClr val="111E35"/>
            </a:solidFill>
            <a:prstDash val="solid"/>
          </a:ln>
        </p:spPr>
      </p:sp>
      <p:sp>
        <p:nvSpPr>
          <p:cNvPr id="7" name="Shape 5"/>
          <p:cNvSpPr/>
          <p:nvPr/>
        </p:nvSpPr>
        <p:spPr>
          <a:xfrm>
            <a:off x="539496" y="1115568"/>
            <a:ext cx="146304" cy="146304"/>
          </a:xfrm>
          <a:prstGeom prst="ellipse">
            <a:avLst/>
          </a:prstGeom>
          <a:solidFill>
            <a:srgbClr val="F43F5E"/>
          </a:solidFill>
          <a:ln w="12700">
            <a:solidFill>
              <a:srgbClr val="F43F5E"/>
            </a:solidFill>
            <a:prstDash val="solid"/>
          </a:ln>
        </p:spPr>
      </p:sp>
      <p:sp>
        <p:nvSpPr>
          <p:cNvPr id="8" name="Shape 6"/>
          <p:cNvSpPr/>
          <p:nvPr/>
        </p:nvSpPr>
        <p:spPr>
          <a:xfrm>
            <a:off x="740664" y="1115568"/>
            <a:ext cx="146304" cy="146304"/>
          </a:xfrm>
          <a:prstGeom prst="ellipse">
            <a:avLst/>
          </a:prstGeom>
          <a:solidFill>
            <a:srgbClr val="F59E0B"/>
          </a:solidFill>
          <a:ln w="12700">
            <a:solidFill>
              <a:srgbClr val="F59E0B"/>
            </a:solidFill>
            <a:prstDash val="solid"/>
          </a:ln>
        </p:spPr>
      </p:sp>
      <p:sp>
        <p:nvSpPr>
          <p:cNvPr id="9" name="Shape 7"/>
          <p:cNvSpPr/>
          <p:nvPr/>
        </p:nvSpPr>
        <p:spPr>
          <a:xfrm>
            <a:off x="941832" y="1115568"/>
            <a:ext cx="146304" cy="146304"/>
          </a:xfrm>
          <a:prstGeom prst="ellipse">
            <a:avLst/>
          </a:prstGeom>
          <a:solidFill>
            <a:srgbClr val="70AD47"/>
          </a:solidFill>
          <a:ln w="12700">
            <a:solidFill>
              <a:srgbClr val="70AD47"/>
            </a:solidFill>
            <a:prstDash val="solid"/>
          </a:ln>
        </p:spPr>
      </p:sp>
      <p:sp>
        <p:nvSpPr>
          <p:cNvPr id="10" name="Text 8"/>
          <p:cNvSpPr/>
          <p:nvPr/>
        </p:nvSpPr>
        <p:spPr>
          <a:xfrm>
            <a:off x="1143000" y="1078992"/>
            <a:ext cx="566928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date_fns.xlsx</a:t>
            </a:r>
            <a:endParaRPr lang="en-US" sz="900" dirty="0"/>
          </a:p>
        </p:txBody>
      </p:sp>
      <p:sp>
        <p:nvSpPr>
          <p:cNvPr id="11" name="Text 9"/>
          <p:cNvSpPr/>
          <p:nvPr/>
        </p:nvSpPr>
        <p:spPr>
          <a:xfrm>
            <a:off x="557784" y="1408176"/>
            <a:ext cx="6309360" cy="4370832"/>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Getting the Current Date/Time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=TODAY()      Today: 25/06/2026 (updates daily)</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=NOW()        25/06/2026 09:30 (updates each calc)</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Extracting Date Parts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=YEAR(A1)     Extract year:    2024</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=MONTH(A1)    Extract month:   6</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=DAY(A1)      Extract day:     25</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=WEEKDAY(A1)  Day of week:     2 (Mon=2)</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=TEXT(A1,"MMMM") Month name: June</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=TEXT(A1,"DDDD") Day name:   Tuesday</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Building Dates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=DATE(2024, 12, 31)  -&amp;gt; 31/12/2024</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=EDATE(A1, 3)        -&amp;gt; 3 months after A1</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=EOMONTH(A1, 0)      -&amp;gt; Last day of A1's month</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=EOMONTH(A1, 1)      -&amp;gt; Last day of next month</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Date Arithmetic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=B1 - A1            Days between two dates</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=DATEDIF(A1,B1,"D") Days between (more control)</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=DATEDIF(A1,B1,"M") Months between</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=DATEDIF(A1,B1,"Y") Full years between</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=NETWORKDAYS(A1,B1)  Working days (excl weekends)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=A1+30              30 days after date in A1</a:t>
            </a:r>
            <a:endParaRPr lang="en-US" sz="1050" dirty="0"/>
          </a:p>
        </p:txBody>
      </p:sp>
      <p:sp>
        <p:nvSpPr>
          <p:cNvPr id="12" name="Shape 10"/>
          <p:cNvSpPr/>
          <p:nvPr/>
        </p:nvSpPr>
        <p:spPr>
          <a:xfrm>
            <a:off x="7178040" y="1024128"/>
            <a:ext cx="4754880" cy="585216"/>
          </a:xfrm>
          <a:prstGeom prst="rect">
            <a:avLst/>
          </a:prstGeom>
          <a:solidFill>
            <a:srgbClr val="217346"/>
          </a:solidFill>
          <a:ln w="3810">
            <a:solidFill>
              <a:srgbClr val="1A2845"/>
            </a:solidFill>
            <a:prstDash val="solid"/>
          </a:ln>
        </p:spPr>
      </p:sp>
      <p:sp>
        <p:nvSpPr>
          <p:cNvPr id="13" name="Shape 11"/>
          <p:cNvSpPr/>
          <p:nvPr/>
        </p:nvSpPr>
        <p:spPr>
          <a:xfrm>
            <a:off x="9175090" y="1024128"/>
            <a:ext cx="18288" cy="585216"/>
          </a:xfrm>
          <a:prstGeom prst="rect">
            <a:avLst/>
          </a:prstGeom>
          <a:solidFill>
            <a:srgbClr val="FFFFFF"/>
          </a:solidFill>
          <a:ln w="12700">
            <a:solidFill>
              <a:srgbClr val="FFFFFF"/>
            </a:solidFill>
            <a:prstDash val="solid"/>
          </a:ln>
        </p:spPr>
      </p:sp>
      <p:sp>
        <p:nvSpPr>
          <p:cNvPr id="14" name="Text 12"/>
          <p:cNvSpPr/>
          <p:nvPr/>
        </p:nvSpPr>
        <p:spPr>
          <a:xfrm>
            <a:off x="7269480" y="1069848"/>
            <a:ext cx="1869034" cy="493776"/>
          </a:xfrm>
          <a:prstGeom prst="rect">
            <a:avLst/>
          </a:prstGeom>
          <a:noFill/>
          <a:ln/>
        </p:spPr>
        <p:txBody>
          <a:bodyPr wrap="square" lIns="0" tIns="0" rIns="0" bIns="0" rtlCol="0" anchor="ctr"/>
          <a:lstStyle/>
          <a:p>
            <a:pPr indent="0" marL="0">
              <a:buNone/>
            </a:pPr>
            <a:r>
              <a:rPr lang="en-US" sz="1000" b="1" dirty="0">
                <a:solidFill>
                  <a:srgbClr val="FFFFFF"/>
                </a:solidFill>
                <a:latin typeface="Cambria" pitchFamily="34" charset="0"/>
                <a:ea typeface="Cambria" pitchFamily="34" charset="-122"/>
                <a:cs typeface="Cambria" pitchFamily="34" charset="-120"/>
              </a:rPr>
              <a:t>Function</a:t>
            </a:r>
            <a:endParaRPr lang="en-US" sz="1000" dirty="0"/>
          </a:p>
        </p:txBody>
      </p:sp>
      <p:sp>
        <p:nvSpPr>
          <p:cNvPr id="15" name="Text 13"/>
          <p:cNvSpPr/>
          <p:nvPr/>
        </p:nvSpPr>
        <p:spPr>
          <a:xfrm>
            <a:off x="9266530" y="1069848"/>
            <a:ext cx="2574950" cy="49377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Business Use</a:t>
            </a:r>
            <a:endParaRPr lang="en-US" sz="1000" dirty="0"/>
          </a:p>
        </p:txBody>
      </p:sp>
      <p:sp>
        <p:nvSpPr>
          <p:cNvPr id="16" name="Shape 14"/>
          <p:cNvSpPr/>
          <p:nvPr/>
        </p:nvSpPr>
        <p:spPr>
          <a:xfrm>
            <a:off x="7178040" y="1609344"/>
            <a:ext cx="4754880" cy="585216"/>
          </a:xfrm>
          <a:prstGeom prst="rect">
            <a:avLst/>
          </a:prstGeom>
          <a:solidFill>
            <a:srgbClr val="141E36"/>
          </a:solidFill>
          <a:ln w="3810">
            <a:solidFill>
              <a:srgbClr val="1A2845"/>
            </a:solidFill>
            <a:prstDash val="solid"/>
          </a:ln>
        </p:spPr>
      </p:sp>
      <p:sp>
        <p:nvSpPr>
          <p:cNvPr id="17" name="Shape 15"/>
          <p:cNvSpPr/>
          <p:nvPr/>
        </p:nvSpPr>
        <p:spPr>
          <a:xfrm>
            <a:off x="9175090" y="1609344"/>
            <a:ext cx="18288" cy="585216"/>
          </a:xfrm>
          <a:prstGeom prst="rect">
            <a:avLst/>
          </a:prstGeom>
          <a:solidFill>
            <a:srgbClr val="1E293B"/>
          </a:solidFill>
          <a:ln w="12700">
            <a:solidFill>
              <a:srgbClr val="1E293B"/>
            </a:solidFill>
            <a:prstDash val="solid"/>
          </a:ln>
        </p:spPr>
      </p:sp>
      <p:sp>
        <p:nvSpPr>
          <p:cNvPr id="18" name="Text 16"/>
          <p:cNvSpPr/>
          <p:nvPr/>
        </p:nvSpPr>
        <p:spPr>
          <a:xfrm>
            <a:off x="7269480" y="1655064"/>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=TODAY()</a:t>
            </a:r>
            <a:endParaRPr lang="en-US" sz="950" dirty="0"/>
          </a:p>
        </p:txBody>
      </p:sp>
      <p:sp>
        <p:nvSpPr>
          <p:cNvPr id="19" name="Text 17"/>
          <p:cNvSpPr/>
          <p:nvPr/>
        </p:nvSpPr>
        <p:spPr>
          <a:xfrm>
            <a:off x="9266530" y="1655064"/>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Used in formulas like =TODAY()-A1 to calculate age of an invoice. Volatile: recalculates every time Excel opens.</a:t>
            </a:r>
            <a:endParaRPr lang="en-US" sz="1000" dirty="0"/>
          </a:p>
        </p:txBody>
      </p:sp>
      <p:sp>
        <p:nvSpPr>
          <p:cNvPr id="20" name="Shape 18"/>
          <p:cNvSpPr/>
          <p:nvPr/>
        </p:nvSpPr>
        <p:spPr>
          <a:xfrm>
            <a:off x="7178040" y="2194560"/>
            <a:ext cx="4754880" cy="585216"/>
          </a:xfrm>
          <a:prstGeom prst="rect">
            <a:avLst/>
          </a:prstGeom>
          <a:solidFill>
            <a:srgbClr val="0F1D3C"/>
          </a:solidFill>
          <a:ln w="3810">
            <a:solidFill>
              <a:srgbClr val="1A2845"/>
            </a:solidFill>
            <a:prstDash val="solid"/>
          </a:ln>
        </p:spPr>
      </p:sp>
      <p:sp>
        <p:nvSpPr>
          <p:cNvPr id="21" name="Shape 19"/>
          <p:cNvSpPr/>
          <p:nvPr/>
        </p:nvSpPr>
        <p:spPr>
          <a:xfrm>
            <a:off x="9175090" y="2194560"/>
            <a:ext cx="18288" cy="585216"/>
          </a:xfrm>
          <a:prstGeom prst="rect">
            <a:avLst/>
          </a:prstGeom>
          <a:solidFill>
            <a:srgbClr val="1E293B"/>
          </a:solidFill>
          <a:ln w="12700">
            <a:solidFill>
              <a:srgbClr val="1E293B"/>
            </a:solidFill>
            <a:prstDash val="solid"/>
          </a:ln>
        </p:spPr>
      </p:sp>
      <p:sp>
        <p:nvSpPr>
          <p:cNvPr id="22" name="Text 20"/>
          <p:cNvSpPr/>
          <p:nvPr/>
        </p:nvSpPr>
        <p:spPr>
          <a:xfrm>
            <a:off x="7269480" y="2240280"/>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=DATEDIF(start,end,"D")</a:t>
            </a:r>
            <a:endParaRPr lang="en-US" sz="950" dirty="0"/>
          </a:p>
        </p:txBody>
      </p:sp>
      <p:sp>
        <p:nvSpPr>
          <p:cNvPr id="23" name="Text 21"/>
          <p:cNvSpPr/>
          <p:nvPr/>
        </p:nvSpPr>
        <p:spPr>
          <a:xfrm>
            <a:off x="9266530" y="2240280"/>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Best for date difference. 'D'=days, 'M'=months, 'Y'=years. Use 'YM' for months ignoring years (age calculation: years and months).</a:t>
            </a:r>
            <a:endParaRPr lang="en-US" sz="1000" dirty="0"/>
          </a:p>
        </p:txBody>
      </p:sp>
      <p:sp>
        <p:nvSpPr>
          <p:cNvPr id="24" name="Shape 22"/>
          <p:cNvSpPr/>
          <p:nvPr/>
        </p:nvSpPr>
        <p:spPr>
          <a:xfrm>
            <a:off x="7178040" y="2779776"/>
            <a:ext cx="4754880" cy="585216"/>
          </a:xfrm>
          <a:prstGeom prst="rect">
            <a:avLst/>
          </a:prstGeom>
          <a:solidFill>
            <a:srgbClr val="141E36"/>
          </a:solidFill>
          <a:ln w="3810">
            <a:solidFill>
              <a:srgbClr val="1A2845"/>
            </a:solidFill>
            <a:prstDash val="solid"/>
          </a:ln>
        </p:spPr>
      </p:sp>
      <p:sp>
        <p:nvSpPr>
          <p:cNvPr id="25" name="Shape 23"/>
          <p:cNvSpPr/>
          <p:nvPr/>
        </p:nvSpPr>
        <p:spPr>
          <a:xfrm>
            <a:off x="9175090" y="2779776"/>
            <a:ext cx="18288" cy="585216"/>
          </a:xfrm>
          <a:prstGeom prst="rect">
            <a:avLst/>
          </a:prstGeom>
          <a:solidFill>
            <a:srgbClr val="1E293B"/>
          </a:solidFill>
          <a:ln w="12700">
            <a:solidFill>
              <a:srgbClr val="1E293B"/>
            </a:solidFill>
            <a:prstDash val="solid"/>
          </a:ln>
        </p:spPr>
      </p:sp>
      <p:sp>
        <p:nvSpPr>
          <p:cNvPr id="26" name="Text 24"/>
          <p:cNvSpPr/>
          <p:nvPr/>
        </p:nvSpPr>
        <p:spPr>
          <a:xfrm>
            <a:off x="7269480" y="2825496"/>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=EDATE(A1, 3)</a:t>
            </a:r>
            <a:endParaRPr lang="en-US" sz="950" dirty="0"/>
          </a:p>
        </p:txBody>
      </p:sp>
      <p:sp>
        <p:nvSpPr>
          <p:cNvPr id="27" name="Text 25"/>
          <p:cNvSpPr/>
          <p:nvPr/>
        </p:nvSpPr>
        <p:spPr>
          <a:xfrm>
            <a:off x="9266530" y="2825496"/>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Returns date exactly 3 months after A1. Handles month-end correctly: March 31 + 1 month = April 30, not April 31.</a:t>
            </a:r>
            <a:endParaRPr lang="en-US" sz="1000" dirty="0"/>
          </a:p>
        </p:txBody>
      </p:sp>
      <p:sp>
        <p:nvSpPr>
          <p:cNvPr id="28" name="Shape 26"/>
          <p:cNvSpPr/>
          <p:nvPr/>
        </p:nvSpPr>
        <p:spPr>
          <a:xfrm>
            <a:off x="7178040" y="3364992"/>
            <a:ext cx="4754880" cy="585216"/>
          </a:xfrm>
          <a:prstGeom prst="rect">
            <a:avLst/>
          </a:prstGeom>
          <a:solidFill>
            <a:srgbClr val="0F1D3C"/>
          </a:solidFill>
          <a:ln w="3810">
            <a:solidFill>
              <a:srgbClr val="1A2845"/>
            </a:solidFill>
            <a:prstDash val="solid"/>
          </a:ln>
        </p:spPr>
      </p:sp>
      <p:sp>
        <p:nvSpPr>
          <p:cNvPr id="29" name="Shape 27"/>
          <p:cNvSpPr/>
          <p:nvPr/>
        </p:nvSpPr>
        <p:spPr>
          <a:xfrm>
            <a:off x="9175090" y="3364992"/>
            <a:ext cx="18288" cy="585216"/>
          </a:xfrm>
          <a:prstGeom prst="rect">
            <a:avLst/>
          </a:prstGeom>
          <a:solidFill>
            <a:srgbClr val="1E293B"/>
          </a:solidFill>
          <a:ln w="12700">
            <a:solidFill>
              <a:srgbClr val="1E293B"/>
            </a:solidFill>
            <a:prstDash val="solid"/>
          </a:ln>
        </p:spPr>
      </p:sp>
      <p:sp>
        <p:nvSpPr>
          <p:cNvPr id="30" name="Text 28"/>
          <p:cNvSpPr/>
          <p:nvPr/>
        </p:nvSpPr>
        <p:spPr>
          <a:xfrm>
            <a:off x="7269480" y="3410712"/>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=EOMONTH(A1, 0)</a:t>
            </a:r>
            <a:endParaRPr lang="en-US" sz="950" dirty="0"/>
          </a:p>
        </p:txBody>
      </p:sp>
      <p:sp>
        <p:nvSpPr>
          <p:cNvPr id="31" name="Text 29"/>
          <p:cNvSpPr/>
          <p:nvPr/>
        </p:nvSpPr>
        <p:spPr>
          <a:xfrm>
            <a:off x="9266530" y="3410712"/>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Last day of the month in A1. Great for billing periods: EOMONTH(A1,-1)+1 = first day of A1's month.</a:t>
            </a:r>
            <a:endParaRPr lang="en-US" sz="1000" dirty="0"/>
          </a:p>
        </p:txBody>
      </p:sp>
      <p:sp>
        <p:nvSpPr>
          <p:cNvPr id="32" name="Shape 30"/>
          <p:cNvSpPr/>
          <p:nvPr/>
        </p:nvSpPr>
        <p:spPr>
          <a:xfrm>
            <a:off x="7178040" y="3950208"/>
            <a:ext cx="4754880" cy="585216"/>
          </a:xfrm>
          <a:prstGeom prst="rect">
            <a:avLst/>
          </a:prstGeom>
          <a:solidFill>
            <a:srgbClr val="141E36"/>
          </a:solidFill>
          <a:ln w="3810">
            <a:solidFill>
              <a:srgbClr val="1A2845"/>
            </a:solidFill>
            <a:prstDash val="solid"/>
          </a:ln>
        </p:spPr>
      </p:sp>
      <p:sp>
        <p:nvSpPr>
          <p:cNvPr id="33" name="Shape 31"/>
          <p:cNvSpPr/>
          <p:nvPr/>
        </p:nvSpPr>
        <p:spPr>
          <a:xfrm>
            <a:off x="9175090" y="3950208"/>
            <a:ext cx="18288" cy="585216"/>
          </a:xfrm>
          <a:prstGeom prst="rect">
            <a:avLst/>
          </a:prstGeom>
          <a:solidFill>
            <a:srgbClr val="1E293B"/>
          </a:solidFill>
          <a:ln w="12700">
            <a:solidFill>
              <a:srgbClr val="1E293B"/>
            </a:solidFill>
            <a:prstDash val="solid"/>
          </a:ln>
        </p:spPr>
      </p:sp>
      <p:sp>
        <p:nvSpPr>
          <p:cNvPr id="34" name="Text 32"/>
          <p:cNvSpPr/>
          <p:nvPr/>
        </p:nvSpPr>
        <p:spPr>
          <a:xfrm>
            <a:off x="7269480" y="3995928"/>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=NETWORKDAYS(A1,B1)</a:t>
            </a:r>
            <a:endParaRPr lang="en-US" sz="950" dirty="0"/>
          </a:p>
        </p:txBody>
      </p:sp>
      <p:sp>
        <p:nvSpPr>
          <p:cNvPr id="35" name="Text 33"/>
          <p:cNvSpPr/>
          <p:nvPr/>
        </p:nvSpPr>
        <p:spPr>
          <a:xfrm>
            <a:off x="9266530" y="3995928"/>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Business days between two dates, excluding weekends. Add holidays range: NETWORKDAYS(A1,B1,Holidays).</a:t>
            </a:r>
            <a:endParaRPr lang="en-US" sz="1000" dirty="0"/>
          </a:p>
        </p:txBody>
      </p:sp>
      <p:sp>
        <p:nvSpPr>
          <p:cNvPr id="36" name="Shape 34"/>
          <p:cNvSpPr/>
          <p:nvPr/>
        </p:nvSpPr>
        <p:spPr>
          <a:xfrm>
            <a:off x="7178040" y="4535424"/>
            <a:ext cx="4754880" cy="585216"/>
          </a:xfrm>
          <a:prstGeom prst="rect">
            <a:avLst/>
          </a:prstGeom>
          <a:solidFill>
            <a:srgbClr val="0F1D3C"/>
          </a:solidFill>
          <a:ln w="3810">
            <a:solidFill>
              <a:srgbClr val="1A2845"/>
            </a:solidFill>
            <a:prstDash val="solid"/>
          </a:ln>
        </p:spPr>
      </p:sp>
      <p:sp>
        <p:nvSpPr>
          <p:cNvPr id="37" name="Shape 35"/>
          <p:cNvSpPr/>
          <p:nvPr/>
        </p:nvSpPr>
        <p:spPr>
          <a:xfrm>
            <a:off x="9175090" y="4535424"/>
            <a:ext cx="18288" cy="585216"/>
          </a:xfrm>
          <a:prstGeom prst="rect">
            <a:avLst/>
          </a:prstGeom>
          <a:solidFill>
            <a:srgbClr val="1E293B"/>
          </a:solidFill>
          <a:ln w="12700">
            <a:solidFill>
              <a:srgbClr val="1E293B"/>
            </a:solidFill>
            <a:prstDash val="solid"/>
          </a:ln>
        </p:spPr>
      </p:sp>
      <p:sp>
        <p:nvSpPr>
          <p:cNvPr id="38" name="Text 36"/>
          <p:cNvSpPr/>
          <p:nvPr/>
        </p:nvSpPr>
        <p:spPr>
          <a:xfrm>
            <a:off x="7269480" y="4581144"/>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=TEXT(A1,"MMMM YYYY")</a:t>
            </a:r>
            <a:endParaRPr lang="en-US" sz="950" dirty="0"/>
          </a:p>
        </p:txBody>
      </p:sp>
      <p:sp>
        <p:nvSpPr>
          <p:cNvPr id="39" name="Text 37"/>
          <p:cNvSpPr/>
          <p:nvPr/>
        </p:nvSpPr>
        <p:spPr>
          <a:xfrm>
            <a:off x="9266530" y="4581144"/>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Converts a date to text like 'January 2024'. Used in reports and chart labels where you want readable month names.</a:t>
            </a:r>
            <a:endParaRPr lang="en-US" sz="1000" dirty="0"/>
          </a:p>
        </p:txBody>
      </p:sp>
      <p:sp>
        <p:nvSpPr>
          <p:cNvPr id="40" name="Shape 38"/>
          <p:cNvSpPr/>
          <p:nvPr/>
        </p:nvSpPr>
        <p:spPr>
          <a:xfrm>
            <a:off x="7178040" y="5120640"/>
            <a:ext cx="4754880" cy="585216"/>
          </a:xfrm>
          <a:prstGeom prst="rect">
            <a:avLst/>
          </a:prstGeom>
          <a:solidFill>
            <a:srgbClr val="141E36"/>
          </a:solidFill>
          <a:ln w="3810">
            <a:solidFill>
              <a:srgbClr val="1A2845"/>
            </a:solidFill>
            <a:prstDash val="solid"/>
          </a:ln>
        </p:spPr>
      </p:sp>
      <p:sp>
        <p:nvSpPr>
          <p:cNvPr id="41" name="Shape 39"/>
          <p:cNvSpPr/>
          <p:nvPr/>
        </p:nvSpPr>
        <p:spPr>
          <a:xfrm>
            <a:off x="9175090" y="5120640"/>
            <a:ext cx="18288" cy="585216"/>
          </a:xfrm>
          <a:prstGeom prst="rect">
            <a:avLst/>
          </a:prstGeom>
          <a:solidFill>
            <a:srgbClr val="1E293B"/>
          </a:solidFill>
          <a:ln w="12700">
            <a:solidFill>
              <a:srgbClr val="1E293B"/>
            </a:solidFill>
            <a:prstDash val="solid"/>
          </a:ln>
        </p:spPr>
      </p:sp>
      <p:sp>
        <p:nvSpPr>
          <p:cNvPr id="42" name="Text 40"/>
          <p:cNvSpPr/>
          <p:nvPr/>
        </p:nvSpPr>
        <p:spPr>
          <a:xfrm>
            <a:off x="7269480" y="5166360"/>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Date arithmetic tip</a:t>
            </a:r>
            <a:endParaRPr lang="en-US" sz="950" dirty="0"/>
          </a:p>
        </p:txBody>
      </p:sp>
      <p:sp>
        <p:nvSpPr>
          <p:cNvPr id="43" name="Text 41"/>
          <p:cNvSpPr/>
          <p:nvPr/>
        </p:nvSpPr>
        <p:spPr>
          <a:xfrm>
            <a:off x="9266530" y="5166360"/>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Excel stores dates as numbers so you can add/subtract days directly: =A1+7 gives one week after A1. =A1-TODAY() gives days until a deadline.</a:t>
            </a:r>
            <a:endParaRPr lang="en-US" sz="1000" dirty="0"/>
          </a:p>
        </p:txBody>
      </p:sp>
      <p:sp>
        <p:nvSpPr>
          <p:cNvPr id="44" name="Shape 42"/>
          <p:cNvSpPr/>
          <p:nvPr/>
        </p:nvSpPr>
        <p:spPr>
          <a:xfrm>
            <a:off x="411480" y="5980176"/>
            <a:ext cx="6583680" cy="768096"/>
          </a:xfrm>
          <a:prstGeom prst="roundRect">
            <a:avLst>
              <a:gd name="adj" fmla="val 11905"/>
            </a:avLst>
          </a:prstGeom>
          <a:solidFill>
            <a:srgbClr val="0D1117"/>
          </a:solidFill>
          <a:ln w="16510">
            <a:solidFill>
              <a:srgbClr val="217346"/>
            </a:solidFill>
            <a:prstDash val="solid"/>
          </a:ln>
          <a:effectLst>
            <a:outerShdw sx="100000" sy="100000" kx="0" ky="0" algn="bl" rotWithShape="0" blurRad="127000" dist="50800" dir="2700000">
              <a:srgbClr val="000000">
                <a:alpha val="20000"/>
              </a:srgbClr>
            </a:outerShdw>
          </a:effectLst>
        </p:spPr>
      </p:sp>
      <p:sp>
        <p:nvSpPr>
          <p:cNvPr id="45" name="Shape 43"/>
          <p:cNvSpPr/>
          <p:nvPr/>
        </p:nvSpPr>
        <p:spPr>
          <a:xfrm>
            <a:off x="411480" y="5980176"/>
            <a:ext cx="6583680" cy="329184"/>
          </a:xfrm>
          <a:prstGeom prst="roundRect">
            <a:avLst>
              <a:gd name="adj" fmla="val 27778"/>
            </a:avLst>
          </a:prstGeom>
          <a:solidFill>
            <a:srgbClr val="111E35"/>
          </a:solidFill>
          <a:ln w="12700">
            <a:solidFill>
              <a:srgbClr val="111E35"/>
            </a:solidFill>
            <a:prstDash val="solid"/>
          </a:ln>
        </p:spPr>
      </p:sp>
      <p:sp>
        <p:nvSpPr>
          <p:cNvPr id="46" name="Shape 44"/>
          <p:cNvSpPr/>
          <p:nvPr/>
        </p:nvSpPr>
        <p:spPr>
          <a:xfrm>
            <a:off x="411480" y="6163056"/>
            <a:ext cx="6583680" cy="146304"/>
          </a:xfrm>
          <a:prstGeom prst="rect">
            <a:avLst/>
          </a:prstGeom>
          <a:solidFill>
            <a:srgbClr val="111E35"/>
          </a:solidFill>
          <a:ln w="12700">
            <a:solidFill>
              <a:srgbClr val="111E35"/>
            </a:solidFill>
            <a:prstDash val="solid"/>
          </a:ln>
        </p:spPr>
      </p:sp>
      <p:sp>
        <p:nvSpPr>
          <p:cNvPr id="47" name="Shape 45"/>
          <p:cNvSpPr/>
          <p:nvPr/>
        </p:nvSpPr>
        <p:spPr>
          <a:xfrm>
            <a:off x="539496" y="6071616"/>
            <a:ext cx="146304" cy="146304"/>
          </a:xfrm>
          <a:prstGeom prst="ellipse">
            <a:avLst/>
          </a:prstGeom>
          <a:solidFill>
            <a:srgbClr val="F43F5E"/>
          </a:solidFill>
          <a:ln w="12700">
            <a:solidFill>
              <a:srgbClr val="F43F5E"/>
            </a:solidFill>
            <a:prstDash val="solid"/>
          </a:ln>
        </p:spPr>
      </p:sp>
      <p:sp>
        <p:nvSpPr>
          <p:cNvPr id="48" name="Shape 46"/>
          <p:cNvSpPr/>
          <p:nvPr/>
        </p:nvSpPr>
        <p:spPr>
          <a:xfrm>
            <a:off x="740664" y="6071616"/>
            <a:ext cx="146304" cy="146304"/>
          </a:xfrm>
          <a:prstGeom prst="ellipse">
            <a:avLst/>
          </a:prstGeom>
          <a:solidFill>
            <a:srgbClr val="F59E0B"/>
          </a:solidFill>
          <a:ln w="12700">
            <a:solidFill>
              <a:srgbClr val="F59E0B"/>
            </a:solidFill>
            <a:prstDash val="solid"/>
          </a:ln>
        </p:spPr>
      </p:sp>
      <p:sp>
        <p:nvSpPr>
          <p:cNvPr id="49" name="Shape 47"/>
          <p:cNvSpPr/>
          <p:nvPr/>
        </p:nvSpPr>
        <p:spPr>
          <a:xfrm>
            <a:off x="941832" y="6071616"/>
            <a:ext cx="146304" cy="146304"/>
          </a:xfrm>
          <a:prstGeom prst="ellipse">
            <a:avLst/>
          </a:prstGeom>
          <a:solidFill>
            <a:srgbClr val="70AD47"/>
          </a:solidFill>
          <a:ln w="12700">
            <a:solidFill>
              <a:srgbClr val="70AD47"/>
            </a:solidFill>
            <a:prstDash val="solid"/>
          </a:ln>
        </p:spPr>
      </p:sp>
      <p:sp>
        <p:nvSpPr>
          <p:cNvPr id="50" name="Text 48"/>
          <p:cNvSpPr/>
          <p:nvPr/>
        </p:nvSpPr>
        <p:spPr>
          <a:xfrm>
            <a:off x="1143000" y="6035040"/>
            <a:ext cx="566928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age.xlsx</a:t>
            </a:r>
            <a:endParaRPr lang="en-US" sz="900" dirty="0"/>
          </a:p>
        </p:txBody>
      </p:sp>
      <p:sp>
        <p:nvSpPr>
          <p:cNvPr id="51" name="Text 49"/>
          <p:cNvSpPr/>
          <p:nvPr/>
        </p:nvSpPr>
        <p:spPr>
          <a:xfrm>
            <a:off x="557784" y="6364224"/>
            <a:ext cx="6309360" cy="274320"/>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Age Calculator --</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=DATEDIF(B2, TODAY(), "Y")and" years, "andDATEDIF(B2,TODAY(),"YM")and" months"</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60A14"/>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85C38"/>
          </a:solidFill>
          <a:ln w="12700">
            <a:solidFill>
              <a:srgbClr val="185C3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10. CHARTS AND VISUALISATION</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11338560" cy="5120640"/>
          </a:xfrm>
          <a:prstGeom prst="rect">
            <a:avLst/>
          </a:prstGeom>
        </p:spPr>
      </p:pic>
      <p:sp>
        <p:nvSpPr>
          <p:cNvPr id="5" name="Shape 2"/>
          <p:cNvSpPr/>
          <p:nvPr/>
        </p:nvSpPr>
        <p:spPr>
          <a:xfrm>
            <a:off x="411480" y="6236208"/>
            <a:ext cx="11338560" cy="512064"/>
          </a:xfrm>
          <a:prstGeom prst="roundRect">
            <a:avLst>
              <a:gd name="adj" fmla="val 14286"/>
            </a:avLst>
          </a:prstGeom>
          <a:solidFill>
            <a:srgbClr val="111E35"/>
          </a:solidFill>
          <a:ln w="12700">
            <a:solidFill>
              <a:srgbClr val="217346"/>
            </a:solidFill>
            <a:prstDash val="solid"/>
          </a:ln>
          <a:effectLst>
            <a:outerShdw sx="100000" sy="100000" kx="0" ky="0" algn="bl" rotWithShape="0" blurRad="63500" dist="25400" dir="2700000">
              <a:srgbClr val="000000">
                <a:alpha val="12000"/>
              </a:srgbClr>
            </a:outerShdw>
          </a:effectLst>
        </p:spPr>
      </p:sp>
      <p:sp>
        <p:nvSpPr>
          <p:cNvPr id="6" name="Text 3"/>
          <p:cNvSpPr/>
          <p:nvPr/>
        </p:nvSpPr>
        <p:spPr>
          <a:xfrm>
            <a:off x="548640" y="6291072"/>
            <a:ext cx="11064240" cy="402336"/>
          </a:xfrm>
          <a:prstGeom prst="rect">
            <a:avLst/>
          </a:prstGeom>
          <a:noFill/>
          <a:ln/>
        </p:spPr>
        <p:txBody>
          <a:bodyPr wrap="square" lIns="0" tIns="0" rIns="0" bIns="0" rtlCol="0" anchor="ctr"/>
          <a:lstStyle/>
          <a:p>
            <a:pPr indent="0" marL="0">
              <a:buNone/>
            </a:pPr>
            <a:r>
              <a:rPr lang="en-US" sz="1100" b="1" dirty="0">
                <a:solidFill>
                  <a:srgbClr val="70AD47"/>
                </a:solidFill>
                <a:latin typeface="Calibri" pitchFamily="34" charset="0"/>
                <a:ea typeface="Calibri" pitchFamily="34" charset="-122"/>
                <a:cs typeface="Calibri" pitchFamily="34" charset="-120"/>
              </a:rPr>
              <a:t>How to create: Select data -&gt; Insert tab -&gt; Charts group -&gt; Choose type. Right-click chart for Format, Change Type, Add Labels. Use Alt+F1 for instant column chart.</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C1A38"/>
          </a:solidFill>
          <a:ln w="12700">
            <a:solidFill>
              <a:srgbClr val="0C1A3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10A. CREATING AND FORMATTING CHARTS</a:t>
            </a:r>
            <a:endParaRPr lang="en-US" sz="2600" dirty="0"/>
          </a:p>
        </p:txBody>
      </p:sp>
      <p:sp>
        <p:nvSpPr>
          <p:cNvPr id="4" name="Shape 2"/>
          <p:cNvSpPr/>
          <p:nvPr/>
        </p:nvSpPr>
        <p:spPr>
          <a:xfrm>
            <a:off x="411480" y="1078992"/>
            <a:ext cx="3749040" cy="1810512"/>
          </a:xfrm>
          <a:prstGeom prst="roundRect">
            <a:avLst>
              <a:gd name="adj" fmla="val 6061"/>
            </a:avLst>
          </a:prstGeom>
          <a:solidFill>
            <a:srgbClr val="FFFFFF"/>
          </a:solidFill>
          <a:ln w="17780">
            <a:solidFill>
              <a:srgbClr val="217346"/>
            </a:solidFill>
            <a:prstDash val="solid"/>
          </a:ln>
          <a:effectLst>
            <a:outerShdw sx="100000" sy="100000" kx="0" ky="0" algn="bl" rotWithShape="0" blurRad="63500" dist="25400" dir="2700000">
              <a:srgbClr val="000000">
                <a:alpha val="12000"/>
              </a:srgbClr>
            </a:outerShdw>
          </a:effectLst>
        </p:spPr>
      </p:sp>
      <p:sp>
        <p:nvSpPr>
          <p:cNvPr id="5" name="Shape 3"/>
          <p:cNvSpPr/>
          <p:nvPr/>
        </p:nvSpPr>
        <p:spPr>
          <a:xfrm>
            <a:off x="539496" y="1207008"/>
            <a:ext cx="402336" cy="402336"/>
          </a:xfrm>
          <a:prstGeom prst="ellipse">
            <a:avLst/>
          </a:prstGeom>
          <a:solidFill>
            <a:srgbClr val="217346"/>
          </a:solidFill>
          <a:ln w="12700">
            <a:solidFill>
              <a:srgbClr val="217346"/>
            </a:solidFill>
            <a:prstDash val="solid"/>
          </a:ln>
        </p:spPr>
      </p:sp>
      <p:sp>
        <p:nvSpPr>
          <p:cNvPr id="6" name="Text 4"/>
          <p:cNvSpPr/>
          <p:nvPr/>
        </p:nvSpPr>
        <p:spPr>
          <a:xfrm>
            <a:off x="539496" y="120700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5"/>
          <p:cNvSpPr/>
          <p:nvPr/>
        </p:nvSpPr>
        <p:spPr>
          <a:xfrm>
            <a:off x="1033272" y="1243584"/>
            <a:ext cx="2999232" cy="329184"/>
          </a:xfrm>
          <a:prstGeom prst="rect">
            <a:avLst/>
          </a:prstGeom>
          <a:noFill/>
          <a:ln/>
        </p:spPr>
        <p:txBody>
          <a:bodyPr wrap="square" lIns="0" tIns="0" rIns="0" bIns="0" rtlCol="0" anchor="ctr"/>
          <a:lstStyle/>
          <a:p>
            <a:pPr indent="0" marL="0">
              <a:buNone/>
            </a:pPr>
            <a:r>
              <a:rPr lang="en-US" sz="1200" b="1" dirty="0">
                <a:solidFill>
                  <a:srgbClr val="217346"/>
                </a:solidFill>
                <a:latin typeface="Cambria" pitchFamily="34" charset="0"/>
                <a:ea typeface="Cambria" pitchFamily="34" charset="-122"/>
                <a:cs typeface="Cambria" pitchFamily="34" charset="-120"/>
              </a:rPr>
              <a:t>Select Your Data</a:t>
            </a:r>
            <a:endParaRPr lang="en-US" sz="1200" dirty="0"/>
          </a:p>
        </p:txBody>
      </p:sp>
      <p:sp>
        <p:nvSpPr>
          <p:cNvPr id="8" name="Text 6"/>
          <p:cNvSpPr/>
          <p:nvPr/>
        </p:nvSpPr>
        <p:spPr>
          <a:xfrm>
            <a:off x="539496" y="1700784"/>
            <a:ext cx="3493008" cy="111556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Select the cells including headers. Non-adjacent: hold Ctrl while selecting.</a:t>
            </a:r>
            <a:endParaRPr lang="en-US" sz="1000" dirty="0"/>
          </a:p>
        </p:txBody>
      </p:sp>
      <p:sp>
        <p:nvSpPr>
          <p:cNvPr id="9" name="Shape 7"/>
          <p:cNvSpPr/>
          <p:nvPr/>
        </p:nvSpPr>
        <p:spPr>
          <a:xfrm>
            <a:off x="4343400" y="1078992"/>
            <a:ext cx="3749040" cy="1810512"/>
          </a:xfrm>
          <a:prstGeom prst="roundRect">
            <a:avLst>
              <a:gd name="adj" fmla="val 6061"/>
            </a:avLst>
          </a:prstGeom>
          <a:solidFill>
            <a:srgbClr val="FFFFFF"/>
          </a:solidFill>
          <a:ln w="17780">
            <a:solidFill>
              <a:srgbClr val="3B82F6"/>
            </a:solidFill>
            <a:prstDash val="solid"/>
          </a:ln>
          <a:effectLst>
            <a:outerShdw sx="100000" sy="100000" kx="0" ky="0" algn="bl" rotWithShape="0" blurRad="63500" dist="25400" dir="2700000">
              <a:srgbClr val="000000">
                <a:alpha val="12000"/>
              </a:srgbClr>
            </a:outerShdw>
          </a:effectLst>
        </p:spPr>
      </p:sp>
      <p:sp>
        <p:nvSpPr>
          <p:cNvPr id="10" name="Shape 8"/>
          <p:cNvSpPr/>
          <p:nvPr/>
        </p:nvSpPr>
        <p:spPr>
          <a:xfrm>
            <a:off x="4471416" y="1207008"/>
            <a:ext cx="402336" cy="402336"/>
          </a:xfrm>
          <a:prstGeom prst="ellipse">
            <a:avLst/>
          </a:prstGeom>
          <a:solidFill>
            <a:srgbClr val="3B82F6"/>
          </a:solidFill>
          <a:ln w="12700">
            <a:solidFill>
              <a:srgbClr val="3B82F6"/>
            </a:solidFill>
            <a:prstDash val="solid"/>
          </a:ln>
        </p:spPr>
      </p:sp>
      <p:sp>
        <p:nvSpPr>
          <p:cNvPr id="11" name="Text 9"/>
          <p:cNvSpPr/>
          <p:nvPr/>
        </p:nvSpPr>
        <p:spPr>
          <a:xfrm>
            <a:off x="4471416" y="120700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2" name="Text 10"/>
          <p:cNvSpPr/>
          <p:nvPr/>
        </p:nvSpPr>
        <p:spPr>
          <a:xfrm>
            <a:off x="4965192" y="1243584"/>
            <a:ext cx="2999232" cy="329184"/>
          </a:xfrm>
          <a:prstGeom prst="rect">
            <a:avLst/>
          </a:prstGeom>
          <a:noFill/>
          <a:ln/>
        </p:spPr>
        <p:txBody>
          <a:bodyPr wrap="square" lIns="0" tIns="0" rIns="0" bIns="0" rtlCol="0" anchor="ctr"/>
          <a:lstStyle/>
          <a:p>
            <a:pPr indent="0" marL="0">
              <a:buNone/>
            </a:pPr>
            <a:r>
              <a:rPr lang="en-US" sz="1200" b="1" dirty="0">
                <a:solidFill>
                  <a:srgbClr val="3B82F6"/>
                </a:solidFill>
                <a:latin typeface="Cambria" pitchFamily="34" charset="0"/>
                <a:ea typeface="Cambria" pitchFamily="34" charset="-122"/>
                <a:cs typeface="Cambria" pitchFamily="34" charset="-120"/>
              </a:rPr>
              <a:t>Insert Chart</a:t>
            </a:r>
            <a:endParaRPr lang="en-US" sz="1200" dirty="0"/>
          </a:p>
        </p:txBody>
      </p:sp>
      <p:sp>
        <p:nvSpPr>
          <p:cNvPr id="13" name="Text 11"/>
          <p:cNvSpPr/>
          <p:nvPr/>
        </p:nvSpPr>
        <p:spPr>
          <a:xfrm>
            <a:off x="4471416" y="1700784"/>
            <a:ext cx="3493008" cy="111556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Insert tab -&amp;gt; Charts group -&amp;gt; Choose chart type. Or press Alt+F1 for instant column chart.</a:t>
            </a:r>
            <a:endParaRPr lang="en-US" sz="1000" dirty="0"/>
          </a:p>
        </p:txBody>
      </p:sp>
      <p:sp>
        <p:nvSpPr>
          <p:cNvPr id="14" name="Shape 12"/>
          <p:cNvSpPr/>
          <p:nvPr/>
        </p:nvSpPr>
        <p:spPr>
          <a:xfrm>
            <a:off x="8275320" y="3017520"/>
            <a:ext cx="3749040" cy="1810512"/>
          </a:xfrm>
          <a:prstGeom prst="roundRect">
            <a:avLst>
              <a:gd name="adj" fmla="val 6061"/>
            </a:avLst>
          </a:prstGeom>
          <a:solidFill>
            <a:srgbClr val="FFFFFF"/>
          </a:solidFill>
          <a:ln w="17780">
            <a:solidFill>
              <a:srgbClr val="8B5CF6"/>
            </a:solidFill>
            <a:prstDash val="solid"/>
          </a:ln>
          <a:effectLst>
            <a:outerShdw sx="100000" sy="100000" kx="0" ky="0" algn="bl" rotWithShape="0" blurRad="63500" dist="25400" dir="2700000">
              <a:srgbClr val="000000">
                <a:alpha val="12000"/>
              </a:srgbClr>
            </a:outerShdw>
          </a:effectLst>
        </p:spPr>
      </p:sp>
      <p:sp>
        <p:nvSpPr>
          <p:cNvPr id="15" name="Shape 13"/>
          <p:cNvSpPr/>
          <p:nvPr/>
        </p:nvSpPr>
        <p:spPr>
          <a:xfrm>
            <a:off x="8403336" y="3145536"/>
            <a:ext cx="402336" cy="402336"/>
          </a:xfrm>
          <a:prstGeom prst="ellipse">
            <a:avLst/>
          </a:prstGeom>
          <a:solidFill>
            <a:srgbClr val="8B5CF6"/>
          </a:solidFill>
          <a:ln w="12700">
            <a:solidFill>
              <a:srgbClr val="8B5CF6"/>
            </a:solidFill>
            <a:prstDash val="solid"/>
          </a:ln>
        </p:spPr>
      </p:sp>
      <p:sp>
        <p:nvSpPr>
          <p:cNvPr id="16" name="Text 14"/>
          <p:cNvSpPr/>
          <p:nvPr/>
        </p:nvSpPr>
        <p:spPr>
          <a:xfrm>
            <a:off x="8403336" y="3145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7" name="Text 15"/>
          <p:cNvSpPr/>
          <p:nvPr/>
        </p:nvSpPr>
        <p:spPr>
          <a:xfrm>
            <a:off x="8897112" y="3182112"/>
            <a:ext cx="2999232" cy="329184"/>
          </a:xfrm>
          <a:prstGeom prst="rect">
            <a:avLst/>
          </a:prstGeom>
          <a:noFill/>
          <a:ln/>
        </p:spPr>
        <p:txBody>
          <a:bodyPr wrap="square" lIns="0" tIns="0" rIns="0" bIns="0" rtlCol="0" anchor="ctr"/>
          <a:lstStyle/>
          <a:p>
            <a:pPr indent="0" marL="0">
              <a:buNone/>
            </a:pPr>
            <a:r>
              <a:rPr lang="en-US" sz="1200" b="1" dirty="0">
                <a:solidFill>
                  <a:srgbClr val="8B5CF6"/>
                </a:solidFill>
                <a:latin typeface="Cambria" pitchFamily="34" charset="0"/>
                <a:ea typeface="Cambria" pitchFamily="34" charset="-122"/>
                <a:cs typeface="Cambria" pitchFamily="34" charset="-120"/>
              </a:rPr>
              <a:t>Chart Design Tab</a:t>
            </a:r>
            <a:endParaRPr lang="en-US" sz="1200" dirty="0"/>
          </a:p>
        </p:txBody>
      </p:sp>
      <p:sp>
        <p:nvSpPr>
          <p:cNvPr id="18" name="Text 16"/>
          <p:cNvSpPr/>
          <p:nvPr/>
        </p:nvSpPr>
        <p:spPr>
          <a:xfrm>
            <a:off x="8403336" y="3639312"/>
            <a:ext cx="3493008" cy="111556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Appears when chart is selected. Change colours, apply styles, switch rows/columns.</a:t>
            </a:r>
            <a:endParaRPr lang="en-US" sz="1000" dirty="0"/>
          </a:p>
        </p:txBody>
      </p:sp>
      <p:sp>
        <p:nvSpPr>
          <p:cNvPr id="19" name="Shape 17"/>
          <p:cNvSpPr/>
          <p:nvPr/>
        </p:nvSpPr>
        <p:spPr>
          <a:xfrm>
            <a:off x="411480" y="3017520"/>
            <a:ext cx="3749040" cy="1810512"/>
          </a:xfrm>
          <a:prstGeom prst="roundRect">
            <a:avLst>
              <a:gd name="adj" fmla="val 6061"/>
            </a:avLst>
          </a:prstGeom>
          <a:solidFill>
            <a:srgbClr val="FFFFFF"/>
          </a:solidFill>
          <a:ln w="17780">
            <a:solidFill>
              <a:srgbClr val="F59E0B"/>
            </a:solidFill>
            <a:prstDash val="solid"/>
          </a:ln>
          <a:effectLst>
            <a:outerShdw sx="100000" sy="100000" kx="0" ky="0" algn="bl" rotWithShape="0" blurRad="63500" dist="25400" dir="2700000">
              <a:srgbClr val="000000">
                <a:alpha val="12000"/>
              </a:srgbClr>
            </a:outerShdw>
          </a:effectLst>
        </p:spPr>
      </p:sp>
      <p:sp>
        <p:nvSpPr>
          <p:cNvPr id="20" name="Shape 18"/>
          <p:cNvSpPr/>
          <p:nvPr/>
        </p:nvSpPr>
        <p:spPr>
          <a:xfrm>
            <a:off x="539496" y="3145536"/>
            <a:ext cx="402336" cy="402336"/>
          </a:xfrm>
          <a:prstGeom prst="ellipse">
            <a:avLst/>
          </a:prstGeom>
          <a:solidFill>
            <a:srgbClr val="F59E0B"/>
          </a:solidFill>
          <a:ln w="12700">
            <a:solidFill>
              <a:srgbClr val="F59E0B"/>
            </a:solidFill>
            <a:prstDash val="solid"/>
          </a:ln>
        </p:spPr>
      </p:sp>
      <p:sp>
        <p:nvSpPr>
          <p:cNvPr id="21" name="Text 19"/>
          <p:cNvSpPr/>
          <p:nvPr/>
        </p:nvSpPr>
        <p:spPr>
          <a:xfrm>
            <a:off x="539496" y="3145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2" name="Text 20"/>
          <p:cNvSpPr/>
          <p:nvPr/>
        </p:nvSpPr>
        <p:spPr>
          <a:xfrm>
            <a:off x="1033272" y="3182112"/>
            <a:ext cx="2999232" cy="329184"/>
          </a:xfrm>
          <a:prstGeom prst="rect">
            <a:avLst/>
          </a:prstGeom>
          <a:noFill/>
          <a:ln/>
        </p:spPr>
        <p:txBody>
          <a:bodyPr wrap="square" lIns="0" tIns="0" rIns="0" bIns="0" rtlCol="0" anchor="ctr"/>
          <a:lstStyle/>
          <a:p>
            <a:pPr indent="0" marL="0">
              <a:buNone/>
            </a:pPr>
            <a:r>
              <a:rPr lang="en-US" sz="1200" b="1" dirty="0">
                <a:solidFill>
                  <a:srgbClr val="F59E0B"/>
                </a:solidFill>
                <a:latin typeface="Cambria" pitchFamily="34" charset="0"/>
                <a:ea typeface="Cambria" pitchFamily="34" charset="-122"/>
                <a:cs typeface="Cambria" pitchFamily="34" charset="-120"/>
              </a:rPr>
              <a:t>Add Chart Elements</a:t>
            </a:r>
            <a:endParaRPr lang="en-US" sz="1200" dirty="0"/>
          </a:p>
        </p:txBody>
      </p:sp>
      <p:sp>
        <p:nvSpPr>
          <p:cNvPr id="23" name="Text 21"/>
          <p:cNvSpPr/>
          <p:nvPr/>
        </p:nvSpPr>
        <p:spPr>
          <a:xfrm>
            <a:off x="539496" y="3639312"/>
            <a:ext cx="3493008" cy="111556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Click the + button on chart edge. Add: Title, Axis Titles, Data Labels, Legend, Gridlines, Trendline.</a:t>
            </a:r>
            <a:endParaRPr lang="en-US" sz="1000" dirty="0"/>
          </a:p>
        </p:txBody>
      </p:sp>
      <p:sp>
        <p:nvSpPr>
          <p:cNvPr id="24" name="Shape 22"/>
          <p:cNvSpPr/>
          <p:nvPr/>
        </p:nvSpPr>
        <p:spPr>
          <a:xfrm>
            <a:off x="4343400" y="4956048"/>
            <a:ext cx="3749040" cy="1810512"/>
          </a:xfrm>
          <a:prstGeom prst="roundRect">
            <a:avLst>
              <a:gd name="adj" fmla="val 6061"/>
            </a:avLst>
          </a:prstGeom>
          <a:solidFill>
            <a:srgbClr val="FFFFFF"/>
          </a:solidFill>
          <a:ln w="17780">
            <a:solidFill>
              <a:srgbClr val="F97316"/>
            </a:solidFill>
            <a:prstDash val="solid"/>
          </a:ln>
          <a:effectLst>
            <a:outerShdw sx="100000" sy="100000" kx="0" ky="0" algn="bl" rotWithShape="0" blurRad="63500" dist="25400" dir="2700000">
              <a:srgbClr val="000000">
                <a:alpha val="12000"/>
              </a:srgbClr>
            </a:outerShdw>
          </a:effectLst>
        </p:spPr>
      </p:sp>
      <p:sp>
        <p:nvSpPr>
          <p:cNvPr id="25" name="Shape 23"/>
          <p:cNvSpPr/>
          <p:nvPr/>
        </p:nvSpPr>
        <p:spPr>
          <a:xfrm>
            <a:off x="4471416" y="5084064"/>
            <a:ext cx="402336" cy="402336"/>
          </a:xfrm>
          <a:prstGeom prst="ellipse">
            <a:avLst/>
          </a:prstGeom>
          <a:solidFill>
            <a:srgbClr val="F97316"/>
          </a:solidFill>
          <a:ln w="12700">
            <a:solidFill>
              <a:srgbClr val="F97316"/>
            </a:solidFill>
            <a:prstDash val="solid"/>
          </a:ln>
        </p:spPr>
      </p:sp>
      <p:sp>
        <p:nvSpPr>
          <p:cNvPr id="26" name="Text 24"/>
          <p:cNvSpPr/>
          <p:nvPr/>
        </p:nvSpPr>
        <p:spPr>
          <a:xfrm>
            <a:off x="4471416" y="508406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7" name="Text 25"/>
          <p:cNvSpPr/>
          <p:nvPr/>
        </p:nvSpPr>
        <p:spPr>
          <a:xfrm>
            <a:off x="4965192" y="5120640"/>
            <a:ext cx="2999232" cy="329184"/>
          </a:xfrm>
          <a:prstGeom prst="rect">
            <a:avLst/>
          </a:prstGeom>
          <a:noFill/>
          <a:ln/>
        </p:spPr>
        <p:txBody>
          <a:bodyPr wrap="square" lIns="0" tIns="0" rIns="0" bIns="0" rtlCol="0" anchor="ctr"/>
          <a:lstStyle/>
          <a:p>
            <a:pPr indent="0" marL="0">
              <a:buNone/>
            </a:pPr>
            <a:r>
              <a:rPr lang="en-US" sz="1200" b="1" dirty="0">
                <a:solidFill>
                  <a:srgbClr val="F97316"/>
                </a:solidFill>
                <a:latin typeface="Cambria" pitchFamily="34" charset="0"/>
                <a:ea typeface="Cambria" pitchFamily="34" charset="-122"/>
                <a:cs typeface="Cambria" pitchFamily="34" charset="-120"/>
              </a:rPr>
              <a:t>Format Axis</a:t>
            </a:r>
            <a:endParaRPr lang="en-US" sz="1200" dirty="0"/>
          </a:p>
        </p:txBody>
      </p:sp>
      <p:sp>
        <p:nvSpPr>
          <p:cNvPr id="28" name="Text 26"/>
          <p:cNvSpPr/>
          <p:nvPr/>
        </p:nvSpPr>
        <p:spPr>
          <a:xfrm>
            <a:off x="4471416" y="5577840"/>
            <a:ext cx="3493008" cy="111556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Double-click an axis. Set min/max, number format, tick marks, labels.</a:t>
            </a:r>
            <a:endParaRPr lang="en-US" sz="1000" dirty="0"/>
          </a:p>
        </p:txBody>
      </p:sp>
      <p:sp>
        <p:nvSpPr>
          <p:cNvPr id="29" name="Shape 27"/>
          <p:cNvSpPr/>
          <p:nvPr/>
        </p:nvSpPr>
        <p:spPr>
          <a:xfrm>
            <a:off x="8275320" y="4956048"/>
            <a:ext cx="3749040" cy="1810512"/>
          </a:xfrm>
          <a:prstGeom prst="roundRect">
            <a:avLst>
              <a:gd name="adj" fmla="val 6061"/>
            </a:avLst>
          </a:prstGeom>
          <a:solidFill>
            <a:srgbClr val="FFFFFF"/>
          </a:solidFill>
          <a:ln w="17780">
            <a:solidFill>
              <a:srgbClr val="06B6D4"/>
            </a:solidFill>
            <a:prstDash val="solid"/>
          </a:ln>
          <a:effectLst>
            <a:outerShdw sx="100000" sy="100000" kx="0" ky="0" algn="bl" rotWithShape="0" blurRad="63500" dist="25400" dir="2700000">
              <a:srgbClr val="000000">
                <a:alpha val="12000"/>
              </a:srgbClr>
            </a:outerShdw>
          </a:effectLst>
        </p:spPr>
      </p:sp>
      <p:sp>
        <p:nvSpPr>
          <p:cNvPr id="30" name="Shape 28"/>
          <p:cNvSpPr/>
          <p:nvPr/>
        </p:nvSpPr>
        <p:spPr>
          <a:xfrm>
            <a:off x="8403336" y="5084064"/>
            <a:ext cx="402336" cy="402336"/>
          </a:xfrm>
          <a:prstGeom prst="ellipse">
            <a:avLst/>
          </a:prstGeom>
          <a:solidFill>
            <a:srgbClr val="06B6D4"/>
          </a:solidFill>
          <a:ln w="12700">
            <a:solidFill>
              <a:srgbClr val="06B6D4"/>
            </a:solidFill>
            <a:prstDash val="solid"/>
          </a:ln>
        </p:spPr>
      </p:sp>
      <p:sp>
        <p:nvSpPr>
          <p:cNvPr id="31" name="Text 29"/>
          <p:cNvSpPr/>
          <p:nvPr/>
        </p:nvSpPr>
        <p:spPr>
          <a:xfrm>
            <a:off x="8403336" y="508406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32" name="Text 30"/>
          <p:cNvSpPr/>
          <p:nvPr/>
        </p:nvSpPr>
        <p:spPr>
          <a:xfrm>
            <a:off x="8897112" y="5120640"/>
            <a:ext cx="2999232" cy="329184"/>
          </a:xfrm>
          <a:prstGeom prst="rect">
            <a:avLst/>
          </a:prstGeom>
          <a:noFill/>
          <a:ln/>
        </p:spPr>
        <p:txBody>
          <a:bodyPr wrap="square" lIns="0" tIns="0" rIns="0" bIns="0" rtlCol="0" anchor="ctr"/>
          <a:lstStyle/>
          <a:p>
            <a:pPr indent="0" marL="0">
              <a:buNone/>
            </a:pPr>
            <a:r>
              <a:rPr lang="en-US" sz="1200" b="1" dirty="0">
                <a:solidFill>
                  <a:srgbClr val="06B6D4"/>
                </a:solidFill>
                <a:latin typeface="Cambria" pitchFamily="34" charset="0"/>
                <a:ea typeface="Cambria" pitchFamily="34" charset="-122"/>
                <a:cs typeface="Cambria" pitchFamily="34" charset="-120"/>
              </a:rPr>
              <a:t>Move and Resize</a:t>
            </a:r>
            <a:endParaRPr lang="en-US" sz="1200" dirty="0"/>
          </a:p>
        </p:txBody>
      </p:sp>
      <p:sp>
        <p:nvSpPr>
          <p:cNvPr id="33" name="Text 31"/>
          <p:cNvSpPr/>
          <p:nvPr/>
        </p:nvSpPr>
        <p:spPr>
          <a:xfrm>
            <a:off x="8403336" y="5577840"/>
            <a:ext cx="3493008" cy="111556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Drag chart to move. Drag handles to resize. Right-click -&amp;gt; Move Chart to put on separate sheet.</a:t>
            </a:r>
            <a:endParaRPr lang="en-US" sz="1000" dirty="0"/>
          </a:p>
        </p:txBody>
      </p:sp>
      <p:sp>
        <p:nvSpPr>
          <p:cNvPr id="34" name="Shape 32"/>
          <p:cNvSpPr/>
          <p:nvPr/>
        </p:nvSpPr>
        <p:spPr>
          <a:xfrm>
            <a:off x="411480" y="4974336"/>
            <a:ext cx="11338560" cy="1755648"/>
          </a:xfrm>
          <a:prstGeom prst="roundRect">
            <a:avLst>
              <a:gd name="adj" fmla="val 5208"/>
            </a:avLst>
          </a:prstGeom>
          <a:solidFill>
            <a:srgbClr val="0D1117"/>
          </a:solidFill>
          <a:ln w="16510">
            <a:solidFill>
              <a:srgbClr val="217346"/>
            </a:solidFill>
            <a:prstDash val="solid"/>
          </a:ln>
          <a:effectLst>
            <a:outerShdw sx="100000" sy="100000" kx="0" ky="0" algn="bl" rotWithShape="0" blurRad="127000" dist="50800" dir="2700000">
              <a:srgbClr val="000000">
                <a:alpha val="20000"/>
              </a:srgbClr>
            </a:outerShdw>
          </a:effectLst>
        </p:spPr>
      </p:sp>
      <p:sp>
        <p:nvSpPr>
          <p:cNvPr id="35" name="Shape 33"/>
          <p:cNvSpPr/>
          <p:nvPr/>
        </p:nvSpPr>
        <p:spPr>
          <a:xfrm>
            <a:off x="411480" y="4974336"/>
            <a:ext cx="11338560" cy="329184"/>
          </a:xfrm>
          <a:prstGeom prst="roundRect">
            <a:avLst>
              <a:gd name="adj" fmla="val 27778"/>
            </a:avLst>
          </a:prstGeom>
          <a:solidFill>
            <a:srgbClr val="111E35"/>
          </a:solidFill>
          <a:ln w="12700">
            <a:solidFill>
              <a:srgbClr val="111E35"/>
            </a:solidFill>
            <a:prstDash val="solid"/>
          </a:ln>
        </p:spPr>
      </p:sp>
      <p:sp>
        <p:nvSpPr>
          <p:cNvPr id="36" name="Shape 34"/>
          <p:cNvSpPr/>
          <p:nvPr/>
        </p:nvSpPr>
        <p:spPr>
          <a:xfrm>
            <a:off x="411480" y="5157216"/>
            <a:ext cx="11338560" cy="146304"/>
          </a:xfrm>
          <a:prstGeom prst="rect">
            <a:avLst/>
          </a:prstGeom>
          <a:solidFill>
            <a:srgbClr val="111E35"/>
          </a:solidFill>
          <a:ln w="12700">
            <a:solidFill>
              <a:srgbClr val="111E35"/>
            </a:solidFill>
            <a:prstDash val="solid"/>
          </a:ln>
        </p:spPr>
      </p:sp>
      <p:sp>
        <p:nvSpPr>
          <p:cNvPr id="37" name="Shape 35"/>
          <p:cNvSpPr/>
          <p:nvPr/>
        </p:nvSpPr>
        <p:spPr>
          <a:xfrm>
            <a:off x="539496" y="5065776"/>
            <a:ext cx="146304" cy="146304"/>
          </a:xfrm>
          <a:prstGeom prst="ellipse">
            <a:avLst/>
          </a:prstGeom>
          <a:solidFill>
            <a:srgbClr val="F43F5E"/>
          </a:solidFill>
          <a:ln w="12700">
            <a:solidFill>
              <a:srgbClr val="F43F5E"/>
            </a:solidFill>
            <a:prstDash val="solid"/>
          </a:ln>
        </p:spPr>
      </p:sp>
      <p:sp>
        <p:nvSpPr>
          <p:cNvPr id="38" name="Shape 36"/>
          <p:cNvSpPr/>
          <p:nvPr/>
        </p:nvSpPr>
        <p:spPr>
          <a:xfrm>
            <a:off x="740664" y="5065776"/>
            <a:ext cx="146304" cy="146304"/>
          </a:xfrm>
          <a:prstGeom prst="ellipse">
            <a:avLst/>
          </a:prstGeom>
          <a:solidFill>
            <a:srgbClr val="F59E0B"/>
          </a:solidFill>
          <a:ln w="12700">
            <a:solidFill>
              <a:srgbClr val="F59E0B"/>
            </a:solidFill>
            <a:prstDash val="solid"/>
          </a:ln>
        </p:spPr>
      </p:sp>
      <p:sp>
        <p:nvSpPr>
          <p:cNvPr id="39" name="Shape 37"/>
          <p:cNvSpPr/>
          <p:nvPr/>
        </p:nvSpPr>
        <p:spPr>
          <a:xfrm>
            <a:off x="941832" y="5065776"/>
            <a:ext cx="146304" cy="146304"/>
          </a:xfrm>
          <a:prstGeom prst="ellipse">
            <a:avLst/>
          </a:prstGeom>
          <a:solidFill>
            <a:srgbClr val="70AD47"/>
          </a:solidFill>
          <a:ln w="12700">
            <a:solidFill>
              <a:srgbClr val="70AD47"/>
            </a:solidFill>
            <a:prstDash val="solid"/>
          </a:ln>
        </p:spPr>
      </p:sp>
      <p:sp>
        <p:nvSpPr>
          <p:cNvPr id="40" name="Text 38"/>
          <p:cNvSpPr/>
          <p:nvPr/>
        </p:nvSpPr>
        <p:spPr>
          <a:xfrm>
            <a:off x="1143000" y="5029200"/>
            <a:ext cx="1042416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charts.xlsx</a:t>
            </a:r>
            <a:endParaRPr lang="en-US" sz="900" dirty="0"/>
          </a:p>
        </p:txBody>
      </p:sp>
      <p:sp>
        <p:nvSpPr>
          <p:cNvPr id="41" name="Text 39"/>
          <p:cNvSpPr/>
          <p:nvPr/>
        </p:nvSpPr>
        <p:spPr>
          <a:xfrm>
            <a:off x="557784" y="5358384"/>
            <a:ext cx="11064240" cy="1261872"/>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Sparklines: Tiny in-cell charts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Select empty cells -&amp;gt; Insert -&amp;gt; Sparklines -&amp;gt; Choose Line/Column/Win-Loss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Set Data Range: B2:M2 (12 months of data). Place sparkline in N2. Copy down for all rows.</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Dynamic Chart with Table --</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Convert data to Table (Ctrl+T) first. Chart auto-updates when rows added. No need to expand chart range manually.</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60A14"/>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85C38"/>
          </a:solidFill>
          <a:ln w="12700">
            <a:solidFill>
              <a:srgbClr val="185C3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11. PIVOTTABLES - Summarise Thousands of Rows Instantly</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11338560" cy="5120640"/>
          </a:xfrm>
          <a:prstGeom prst="rect">
            <a:avLst/>
          </a:prstGeom>
        </p:spPr>
      </p:pic>
      <p:sp>
        <p:nvSpPr>
          <p:cNvPr id="5" name="Shape 2"/>
          <p:cNvSpPr/>
          <p:nvPr/>
        </p:nvSpPr>
        <p:spPr>
          <a:xfrm>
            <a:off x="411480" y="6236208"/>
            <a:ext cx="11338560" cy="512064"/>
          </a:xfrm>
          <a:prstGeom prst="roundRect">
            <a:avLst>
              <a:gd name="adj" fmla="val 14286"/>
            </a:avLst>
          </a:prstGeom>
          <a:solidFill>
            <a:srgbClr val="111E35"/>
          </a:solidFill>
          <a:ln w="12700">
            <a:solidFill>
              <a:srgbClr val="3B82F6"/>
            </a:solidFill>
            <a:prstDash val="solid"/>
          </a:ln>
          <a:effectLst>
            <a:outerShdw sx="100000" sy="100000" kx="0" ky="0" algn="bl" rotWithShape="0" blurRad="63500" dist="25400" dir="2700000">
              <a:srgbClr val="000000">
                <a:alpha val="12000"/>
              </a:srgbClr>
            </a:outerShdw>
          </a:effectLst>
        </p:spPr>
      </p:sp>
      <p:sp>
        <p:nvSpPr>
          <p:cNvPr id="6" name="Text 3"/>
          <p:cNvSpPr/>
          <p:nvPr/>
        </p:nvSpPr>
        <p:spPr>
          <a:xfrm>
            <a:off x="548640" y="6291072"/>
            <a:ext cx="11064240" cy="402336"/>
          </a:xfrm>
          <a:prstGeom prst="rect">
            <a:avLst/>
          </a:prstGeom>
          <a:noFill/>
          <a:ln/>
        </p:spPr>
        <p:txBody>
          <a:bodyPr wrap="square" lIns="0" tIns="0" rIns="0" bIns="0" rtlCol="0" anchor="ctr"/>
          <a:lstStyle/>
          <a:p>
            <a:pPr indent="0" marL="0">
              <a:buNone/>
            </a:pPr>
            <a:r>
              <a:rPr lang="en-US" sz="1100" b="1" dirty="0">
                <a:solidFill>
                  <a:srgbClr val="06B6D4"/>
                </a:solidFill>
                <a:latin typeface="Calibri" pitchFamily="34" charset="0"/>
                <a:ea typeface="Calibri" pitchFamily="34" charset="-122"/>
                <a:cs typeface="Calibri" pitchFamily="34" charset="-120"/>
              </a:rPr>
              <a:t>PivotTable Field List areas: ROWS = categories down the left. COLUMNS = categories across the top. VALUES = numbers being calculated. FILTERS = dropdown filter at the top.</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C1A38"/>
          </a:solidFill>
          <a:ln w="12700">
            <a:solidFill>
              <a:srgbClr val="0C1A3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11A. PIVOTTABLE - Grouping, Slicers, and Calculated Fields</a:t>
            </a:r>
            <a:endParaRPr lang="en-US" sz="2600" dirty="0"/>
          </a:p>
        </p:txBody>
      </p:sp>
      <p:sp>
        <p:nvSpPr>
          <p:cNvPr id="4" name="Shape 2"/>
          <p:cNvSpPr/>
          <p:nvPr/>
        </p:nvSpPr>
        <p:spPr>
          <a:xfrm>
            <a:off x="411480" y="1024128"/>
            <a:ext cx="6583680" cy="4663440"/>
          </a:xfrm>
          <a:prstGeom prst="roundRect">
            <a:avLst>
              <a:gd name="adj" fmla="val 1961"/>
            </a:avLst>
          </a:prstGeom>
          <a:solidFill>
            <a:srgbClr val="0D1117"/>
          </a:solidFill>
          <a:ln w="16510">
            <a:solidFill>
              <a:srgbClr val="217346"/>
            </a:solidFill>
            <a:prstDash val="solid"/>
          </a:ln>
          <a:effectLst>
            <a:outerShdw sx="100000" sy="100000" kx="0" ky="0" algn="bl" rotWithShape="0" blurRad="127000" dist="50800" dir="2700000">
              <a:srgbClr val="000000">
                <a:alpha val="20000"/>
              </a:srgbClr>
            </a:outerShdw>
          </a:effectLst>
        </p:spPr>
      </p:sp>
      <p:sp>
        <p:nvSpPr>
          <p:cNvPr id="5" name="Shape 3"/>
          <p:cNvSpPr/>
          <p:nvPr/>
        </p:nvSpPr>
        <p:spPr>
          <a:xfrm>
            <a:off x="411480" y="1024128"/>
            <a:ext cx="6583680" cy="329184"/>
          </a:xfrm>
          <a:prstGeom prst="roundRect">
            <a:avLst>
              <a:gd name="adj" fmla="val 27778"/>
            </a:avLst>
          </a:prstGeom>
          <a:solidFill>
            <a:srgbClr val="111E35"/>
          </a:solidFill>
          <a:ln w="12700">
            <a:solidFill>
              <a:srgbClr val="111E35"/>
            </a:solidFill>
            <a:prstDash val="solid"/>
          </a:ln>
        </p:spPr>
      </p:sp>
      <p:sp>
        <p:nvSpPr>
          <p:cNvPr id="6" name="Shape 4"/>
          <p:cNvSpPr/>
          <p:nvPr/>
        </p:nvSpPr>
        <p:spPr>
          <a:xfrm>
            <a:off x="411480" y="1207008"/>
            <a:ext cx="6583680" cy="146304"/>
          </a:xfrm>
          <a:prstGeom prst="rect">
            <a:avLst/>
          </a:prstGeom>
          <a:solidFill>
            <a:srgbClr val="111E35"/>
          </a:solidFill>
          <a:ln w="12700">
            <a:solidFill>
              <a:srgbClr val="111E35"/>
            </a:solidFill>
            <a:prstDash val="solid"/>
          </a:ln>
        </p:spPr>
      </p:sp>
      <p:sp>
        <p:nvSpPr>
          <p:cNvPr id="7" name="Shape 5"/>
          <p:cNvSpPr/>
          <p:nvPr/>
        </p:nvSpPr>
        <p:spPr>
          <a:xfrm>
            <a:off x="539496" y="1115568"/>
            <a:ext cx="146304" cy="146304"/>
          </a:xfrm>
          <a:prstGeom prst="ellipse">
            <a:avLst/>
          </a:prstGeom>
          <a:solidFill>
            <a:srgbClr val="F43F5E"/>
          </a:solidFill>
          <a:ln w="12700">
            <a:solidFill>
              <a:srgbClr val="F43F5E"/>
            </a:solidFill>
            <a:prstDash val="solid"/>
          </a:ln>
        </p:spPr>
      </p:sp>
      <p:sp>
        <p:nvSpPr>
          <p:cNvPr id="8" name="Shape 6"/>
          <p:cNvSpPr/>
          <p:nvPr/>
        </p:nvSpPr>
        <p:spPr>
          <a:xfrm>
            <a:off x="740664" y="1115568"/>
            <a:ext cx="146304" cy="146304"/>
          </a:xfrm>
          <a:prstGeom prst="ellipse">
            <a:avLst/>
          </a:prstGeom>
          <a:solidFill>
            <a:srgbClr val="F59E0B"/>
          </a:solidFill>
          <a:ln w="12700">
            <a:solidFill>
              <a:srgbClr val="F59E0B"/>
            </a:solidFill>
            <a:prstDash val="solid"/>
          </a:ln>
        </p:spPr>
      </p:sp>
      <p:sp>
        <p:nvSpPr>
          <p:cNvPr id="9" name="Shape 7"/>
          <p:cNvSpPr/>
          <p:nvPr/>
        </p:nvSpPr>
        <p:spPr>
          <a:xfrm>
            <a:off x="941832" y="1115568"/>
            <a:ext cx="146304" cy="146304"/>
          </a:xfrm>
          <a:prstGeom prst="ellipse">
            <a:avLst/>
          </a:prstGeom>
          <a:solidFill>
            <a:srgbClr val="70AD47"/>
          </a:solidFill>
          <a:ln w="12700">
            <a:solidFill>
              <a:srgbClr val="70AD47"/>
            </a:solidFill>
            <a:prstDash val="solid"/>
          </a:ln>
        </p:spPr>
      </p:sp>
      <p:sp>
        <p:nvSpPr>
          <p:cNvPr id="10" name="Text 8"/>
          <p:cNvSpPr/>
          <p:nvPr/>
        </p:nvSpPr>
        <p:spPr>
          <a:xfrm>
            <a:off x="1143000" y="1078992"/>
            <a:ext cx="566928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pivot_detail.xlsx</a:t>
            </a:r>
            <a:endParaRPr lang="en-US" sz="900" dirty="0"/>
          </a:p>
        </p:txBody>
      </p:sp>
      <p:sp>
        <p:nvSpPr>
          <p:cNvPr id="11" name="Text 9"/>
          <p:cNvSpPr/>
          <p:nvPr/>
        </p:nvSpPr>
        <p:spPr>
          <a:xfrm>
            <a:off x="557784" y="1408176"/>
            <a:ext cx="6309360" cy="4169664"/>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PivotTable Creation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1. Click anywhere in your data</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2. Insert -&amp;gt; PivotTable -&amp;gt; New Worksheet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3. Drag fields to areas: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ROWS:    Region  (categories down left)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COLUMNS: Product  (categories across top)</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   VALUES:  Sales  -&amp;gt; Sum of Sales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FILTERS: Year   (optional dropdown filter)</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Change Value Calculation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Right-click a value -&amp;gt; Value Field Settings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Options: Sum, Count, Average, Max, Min, %</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Show Values As -&amp;gt; % of Grand Total</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Show Values As -&amp;gt; % of Row Total</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Show Values As -&amp;gt; Running Total</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Group Dates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Right-click a date in ROWS -&amp;gt; Group</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Select: Years, Quarters, Months simultaneously</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Creates automatic date hierarchy</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Slicers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PivotTable Analyze -&amp;gt; Insert Slicer</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Creates visual filter buttons</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Can control MULTIPLE PivotTables at once!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(Slicer -&amp;gt; Report Connections -&amp;gt; select tables)</a:t>
            </a:r>
            <a:endParaRPr lang="en-US" sz="1050" dirty="0"/>
          </a:p>
        </p:txBody>
      </p:sp>
      <p:sp>
        <p:nvSpPr>
          <p:cNvPr id="12" name="Shape 10"/>
          <p:cNvSpPr/>
          <p:nvPr/>
        </p:nvSpPr>
        <p:spPr>
          <a:xfrm>
            <a:off x="7178040" y="1024128"/>
            <a:ext cx="4754880" cy="585216"/>
          </a:xfrm>
          <a:prstGeom prst="rect">
            <a:avLst/>
          </a:prstGeom>
          <a:solidFill>
            <a:srgbClr val="3B82F6"/>
          </a:solidFill>
          <a:ln w="3810">
            <a:solidFill>
              <a:srgbClr val="1A2845"/>
            </a:solidFill>
            <a:prstDash val="solid"/>
          </a:ln>
        </p:spPr>
      </p:sp>
      <p:sp>
        <p:nvSpPr>
          <p:cNvPr id="13" name="Shape 11"/>
          <p:cNvSpPr/>
          <p:nvPr/>
        </p:nvSpPr>
        <p:spPr>
          <a:xfrm>
            <a:off x="9175090" y="1024128"/>
            <a:ext cx="18288" cy="585216"/>
          </a:xfrm>
          <a:prstGeom prst="rect">
            <a:avLst/>
          </a:prstGeom>
          <a:solidFill>
            <a:srgbClr val="FFFFFF"/>
          </a:solidFill>
          <a:ln w="12700">
            <a:solidFill>
              <a:srgbClr val="FFFFFF"/>
            </a:solidFill>
            <a:prstDash val="solid"/>
          </a:ln>
        </p:spPr>
      </p:sp>
      <p:sp>
        <p:nvSpPr>
          <p:cNvPr id="14" name="Text 12"/>
          <p:cNvSpPr/>
          <p:nvPr/>
        </p:nvSpPr>
        <p:spPr>
          <a:xfrm>
            <a:off x="7269480" y="1069848"/>
            <a:ext cx="1869034" cy="493776"/>
          </a:xfrm>
          <a:prstGeom prst="rect">
            <a:avLst/>
          </a:prstGeom>
          <a:noFill/>
          <a:ln/>
        </p:spPr>
        <p:txBody>
          <a:bodyPr wrap="square" lIns="0" tIns="0" rIns="0" bIns="0" rtlCol="0" anchor="ctr"/>
          <a:lstStyle/>
          <a:p>
            <a:pPr indent="0" marL="0">
              <a:buNone/>
            </a:pPr>
            <a:r>
              <a:rPr lang="en-US" sz="1000" b="1" dirty="0">
                <a:solidFill>
                  <a:srgbClr val="FFFFFF"/>
                </a:solidFill>
                <a:latin typeface="Cambria" pitchFamily="34" charset="0"/>
                <a:ea typeface="Cambria" pitchFamily="34" charset="-122"/>
                <a:cs typeface="Cambria" pitchFamily="34" charset="-120"/>
              </a:rPr>
              <a:t>Technique</a:t>
            </a:r>
            <a:endParaRPr lang="en-US" sz="1000" dirty="0"/>
          </a:p>
        </p:txBody>
      </p:sp>
      <p:sp>
        <p:nvSpPr>
          <p:cNvPr id="15" name="Text 13"/>
          <p:cNvSpPr/>
          <p:nvPr/>
        </p:nvSpPr>
        <p:spPr>
          <a:xfrm>
            <a:off x="9266530" y="1069848"/>
            <a:ext cx="2574950" cy="49377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How to Do It and Why</a:t>
            </a:r>
            <a:endParaRPr lang="en-US" sz="1000" dirty="0"/>
          </a:p>
        </p:txBody>
      </p:sp>
      <p:sp>
        <p:nvSpPr>
          <p:cNvPr id="16" name="Shape 14"/>
          <p:cNvSpPr/>
          <p:nvPr/>
        </p:nvSpPr>
        <p:spPr>
          <a:xfrm>
            <a:off x="7178040" y="1609344"/>
            <a:ext cx="4754880" cy="585216"/>
          </a:xfrm>
          <a:prstGeom prst="rect">
            <a:avLst/>
          </a:prstGeom>
          <a:solidFill>
            <a:srgbClr val="141E36"/>
          </a:solidFill>
          <a:ln w="3810">
            <a:solidFill>
              <a:srgbClr val="1A2845"/>
            </a:solidFill>
            <a:prstDash val="solid"/>
          </a:ln>
        </p:spPr>
      </p:sp>
      <p:sp>
        <p:nvSpPr>
          <p:cNvPr id="17" name="Shape 15"/>
          <p:cNvSpPr/>
          <p:nvPr/>
        </p:nvSpPr>
        <p:spPr>
          <a:xfrm>
            <a:off x="9175090" y="1609344"/>
            <a:ext cx="18288" cy="585216"/>
          </a:xfrm>
          <a:prstGeom prst="rect">
            <a:avLst/>
          </a:prstGeom>
          <a:solidFill>
            <a:srgbClr val="1E293B"/>
          </a:solidFill>
          <a:ln w="12700">
            <a:solidFill>
              <a:srgbClr val="1E293B"/>
            </a:solidFill>
            <a:prstDash val="solid"/>
          </a:ln>
        </p:spPr>
      </p:sp>
      <p:sp>
        <p:nvSpPr>
          <p:cNvPr id="18" name="Text 16"/>
          <p:cNvSpPr/>
          <p:nvPr/>
        </p:nvSpPr>
        <p:spPr>
          <a:xfrm>
            <a:off x="7269480" y="1655064"/>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Refresh PivotTable</a:t>
            </a:r>
            <a:endParaRPr lang="en-US" sz="950" dirty="0"/>
          </a:p>
        </p:txBody>
      </p:sp>
      <p:sp>
        <p:nvSpPr>
          <p:cNvPr id="19" name="Text 17"/>
          <p:cNvSpPr/>
          <p:nvPr/>
        </p:nvSpPr>
        <p:spPr>
          <a:xfrm>
            <a:off x="9266530" y="1655064"/>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Ctrl+Alt+F5 refreshes all. Or right-click PivotTable -&amp;gt; Refresh. MUST do this when source data changes. Does not auto-update.</a:t>
            </a:r>
            <a:endParaRPr lang="en-US" sz="1000" dirty="0"/>
          </a:p>
        </p:txBody>
      </p:sp>
      <p:sp>
        <p:nvSpPr>
          <p:cNvPr id="20" name="Shape 18"/>
          <p:cNvSpPr/>
          <p:nvPr/>
        </p:nvSpPr>
        <p:spPr>
          <a:xfrm>
            <a:off x="7178040" y="2194560"/>
            <a:ext cx="4754880" cy="585216"/>
          </a:xfrm>
          <a:prstGeom prst="rect">
            <a:avLst/>
          </a:prstGeom>
          <a:solidFill>
            <a:srgbClr val="0F1D3C"/>
          </a:solidFill>
          <a:ln w="3810">
            <a:solidFill>
              <a:srgbClr val="1A2845"/>
            </a:solidFill>
            <a:prstDash val="solid"/>
          </a:ln>
        </p:spPr>
      </p:sp>
      <p:sp>
        <p:nvSpPr>
          <p:cNvPr id="21" name="Shape 19"/>
          <p:cNvSpPr/>
          <p:nvPr/>
        </p:nvSpPr>
        <p:spPr>
          <a:xfrm>
            <a:off x="9175090" y="2194560"/>
            <a:ext cx="18288" cy="585216"/>
          </a:xfrm>
          <a:prstGeom prst="rect">
            <a:avLst/>
          </a:prstGeom>
          <a:solidFill>
            <a:srgbClr val="1E293B"/>
          </a:solidFill>
          <a:ln w="12700">
            <a:solidFill>
              <a:srgbClr val="1E293B"/>
            </a:solidFill>
            <a:prstDash val="solid"/>
          </a:ln>
        </p:spPr>
      </p:sp>
      <p:sp>
        <p:nvSpPr>
          <p:cNvPr id="22" name="Text 20"/>
          <p:cNvSpPr/>
          <p:nvPr/>
        </p:nvSpPr>
        <p:spPr>
          <a:xfrm>
            <a:off x="7269480" y="2240280"/>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Calculated Field</a:t>
            </a:r>
            <a:endParaRPr lang="en-US" sz="950" dirty="0"/>
          </a:p>
        </p:txBody>
      </p:sp>
      <p:sp>
        <p:nvSpPr>
          <p:cNvPr id="23" name="Text 21"/>
          <p:cNvSpPr/>
          <p:nvPr/>
        </p:nvSpPr>
        <p:spPr>
          <a:xfrm>
            <a:off x="9266530" y="2240280"/>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PivotTable Analyze -&amp;gt; Fields Items Sets -&amp;gt; Calculated Field. Add formulas using field names: =Sales / Units gives Avg Price.</a:t>
            </a:r>
            <a:endParaRPr lang="en-US" sz="1000" dirty="0"/>
          </a:p>
        </p:txBody>
      </p:sp>
      <p:sp>
        <p:nvSpPr>
          <p:cNvPr id="24" name="Shape 22"/>
          <p:cNvSpPr/>
          <p:nvPr/>
        </p:nvSpPr>
        <p:spPr>
          <a:xfrm>
            <a:off x="7178040" y="2779776"/>
            <a:ext cx="4754880" cy="585216"/>
          </a:xfrm>
          <a:prstGeom prst="rect">
            <a:avLst/>
          </a:prstGeom>
          <a:solidFill>
            <a:srgbClr val="141E36"/>
          </a:solidFill>
          <a:ln w="3810">
            <a:solidFill>
              <a:srgbClr val="1A2845"/>
            </a:solidFill>
            <a:prstDash val="solid"/>
          </a:ln>
        </p:spPr>
      </p:sp>
      <p:sp>
        <p:nvSpPr>
          <p:cNvPr id="25" name="Shape 23"/>
          <p:cNvSpPr/>
          <p:nvPr/>
        </p:nvSpPr>
        <p:spPr>
          <a:xfrm>
            <a:off x="9175090" y="2779776"/>
            <a:ext cx="18288" cy="585216"/>
          </a:xfrm>
          <a:prstGeom prst="rect">
            <a:avLst/>
          </a:prstGeom>
          <a:solidFill>
            <a:srgbClr val="1E293B"/>
          </a:solidFill>
          <a:ln w="12700">
            <a:solidFill>
              <a:srgbClr val="1E293B"/>
            </a:solidFill>
            <a:prstDash val="solid"/>
          </a:ln>
        </p:spPr>
      </p:sp>
      <p:sp>
        <p:nvSpPr>
          <p:cNvPr id="26" name="Text 24"/>
          <p:cNvSpPr/>
          <p:nvPr/>
        </p:nvSpPr>
        <p:spPr>
          <a:xfrm>
            <a:off x="7269480" y="2825496"/>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Group by Month</a:t>
            </a:r>
            <a:endParaRPr lang="en-US" sz="950" dirty="0"/>
          </a:p>
        </p:txBody>
      </p:sp>
      <p:sp>
        <p:nvSpPr>
          <p:cNvPr id="27" name="Text 25"/>
          <p:cNvSpPr/>
          <p:nvPr/>
        </p:nvSpPr>
        <p:spPr>
          <a:xfrm>
            <a:off x="9266530" y="2825496"/>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Right-click a date value in Rows area -&amp;gt; Group -&amp;gt; Select Months AND Years. Both must be selected for clear display.</a:t>
            </a:r>
            <a:endParaRPr lang="en-US" sz="1000" dirty="0"/>
          </a:p>
        </p:txBody>
      </p:sp>
      <p:sp>
        <p:nvSpPr>
          <p:cNvPr id="28" name="Shape 26"/>
          <p:cNvSpPr/>
          <p:nvPr/>
        </p:nvSpPr>
        <p:spPr>
          <a:xfrm>
            <a:off x="7178040" y="3364992"/>
            <a:ext cx="4754880" cy="585216"/>
          </a:xfrm>
          <a:prstGeom prst="rect">
            <a:avLst/>
          </a:prstGeom>
          <a:solidFill>
            <a:srgbClr val="0F1D3C"/>
          </a:solidFill>
          <a:ln w="3810">
            <a:solidFill>
              <a:srgbClr val="1A2845"/>
            </a:solidFill>
            <a:prstDash val="solid"/>
          </a:ln>
        </p:spPr>
      </p:sp>
      <p:sp>
        <p:nvSpPr>
          <p:cNvPr id="29" name="Shape 27"/>
          <p:cNvSpPr/>
          <p:nvPr/>
        </p:nvSpPr>
        <p:spPr>
          <a:xfrm>
            <a:off x="9175090" y="3364992"/>
            <a:ext cx="18288" cy="585216"/>
          </a:xfrm>
          <a:prstGeom prst="rect">
            <a:avLst/>
          </a:prstGeom>
          <a:solidFill>
            <a:srgbClr val="1E293B"/>
          </a:solidFill>
          <a:ln w="12700">
            <a:solidFill>
              <a:srgbClr val="1E293B"/>
            </a:solidFill>
            <a:prstDash val="solid"/>
          </a:ln>
        </p:spPr>
      </p:sp>
      <p:sp>
        <p:nvSpPr>
          <p:cNvPr id="30" name="Text 28"/>
          <p:cNvSpPr/>
          <p:nvPr/>
        </p:nvSpPr>
        <p:spPr>
          <a:xfrm>
            <a:off x="7269480" y="3410712"/>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Slicer</a:t>
            </a:r>
            <a:endParaRPr lang="en-US" sz="950" dirty="0"/>
          </a:p>
        </p:txBody>
      </p:sp>
      <p:sp>
        <p:nvSpPr>
          <p:cNvPr id="31" name="Text 29"/>
          <p:cNvSpPr/>
          <p:nvPr/>
        </p:nvSpPr>
        <p:spPr>
          <a:xfrm>
            <a:off x="9266530" y="3410712"/>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 visual filter button panel. Multiple PivotTables can share one Slicer via Report Connections. Creates interactive dashboards without VBA.</a:t>
            </a:r>
            <a:endParaRPr lang="en-US" sz="1000" dirty="0"/>
          </a:p>
        </p:txBody>
      </p:sp>
      <p:sp>
        <p:nvSpPr>
          <p:cNvPr id="32" name="Shape 30"/>
          <p:cNvSpPr/>
          <p:nvPr/>
        </p:nvSpPr>
        <p:spPr>
          <a:xfrm>
            <a:off x="7178040" y="3950208"/>
            <a:ext cx="4754880" cy="585216"/>
          </a:xfrm>
          <a:prstGeom prst="rect">
            <a:avLst/>
          </a:prstGeom>
          <a:solidFill>
            <a:srgbClr val="141E36"/>
          </a:solidFill>
          <a:ln w="3810">
            <a:solidFill>
              <a:srgbClr val="1A2845"/>
            </a:solidFill>
            <a:prstDash val="solid"/>
          </a:ln>
        </p:spPr>
      </p:sp>
      <p:sp>
        <p:nvSpPr>
          <p:cNvPr id="33" name="Shape 31"/>
          <p:cNvSpPr/>
          <p:nvPr/>
        </p:nvSpPr>
        <p:spPr>
          <a:xfrm>
            <a:off x="9175090" y="3950208"/>
            <a:ext cx="18288" cy="585216"/>
          </a:xfrm>
          <a:prstGeom prst="rect">
            <a:avLst/>
          </a:prstGeom>
          <a:solidFill>
            <a:srgbClr val="1E293B"/>
          </a:solidFill>
          <a:ln w="12700">
            <a:solidFill>
              <a:srgbClr val="1E293B"/>
            </a:solidFill>
            <a:prstDash val="solid"/>
          </a:ln>
        </p:spPr>
      </p:sp>
      <p:sp>
        <p:nvSpPr>
          <p:cNvPr id="34" name="Text 32"/>
          <p:cNvSpPr/>
          <p:nvPr/>
        </p:nvSpPr>
        <p:spPr>
          <a:xfrm>
            <a:off x="7269480" y="3995928"/>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 of Total</a:t>
            </a:r>
            <a:endParaRPr lang="en-US" sz="950" dirty="0"/>
          </a:p>
        </p:txBody>
      </p:sp>
      <p:sp>
        <p:nvSpPr>
          <p:cNvPr id="35" name="Text 33"/>
          <p:cNvSpPr/>
          <p:nvPr/>
        </p:nvSpPr>
        <p:spPr>
          <a:xfrm>
            <a:off x="9266530" y="3995928"/>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In Value Field Settings -&amp;gt; Show Values As -&amp;gt; % of Grand Total. Converts absolute numbers to percentages instantly.</a:t>
            </a:r>
            <a:endParaRPr lang="en-US" sz="1000" dirty="0"/>
          </a:p>
        </p:txBody>
      </p:sp>
      <p:sp>
        <p:nvSpPr>
          <p:cNvPr id="36" name="Shape 34"/>
          <p:cNvSpPr/>
          <p:nvPr/>
        </p:nvSpPr>
        <p:spPr>
          <a:xfrm>
            <a:off x="7178040" y="4535424"/>
            <a:ext cx="4754880" cy="585216"/>
          </a:xfrm>
          <a:prstGeom prst="rect">
            <a:avLst/>
          </a:prstGeom>
          <a:solidFill>
            <a:srgbClr val="0F1D3C"/>
          </a:solidFill>
          <a:ln w="3810">
            <a:solidFill>
              <a:srgbClr val="1A2845"/>
            </a:solidFill>
            <a:prstDash val="solid"/>
          </a:ln>
        </p:spPr>
      </p:sp>
      <p:sp>
        <p:nvSpPr>
          <p:cNvPr id="37" name="Shape 35"/>
          <p:cNvSpPr/>
          <p:nvPr/>
        </p:nvSpPr>
        <p:spPr>
          <a:xfrm>
            <a:off x="9175090" y="4535424"/>
            <a:ext cx="18288" cy="585216"/>
          </a:xfrm>
          <a:prstGeom prst="rect">
            <a:avLst/>
          </a:prstGeom>
          <a:solidFill>
            <a:srgbClr val="1E293B"/>
          </a:solidFill>
          <a:ln w="12700">
            <a:solidFill>
              <a:srgbClr val="1E293B"/>
            </a:solidFill>
            <a:prstDash val="solid"/>
          </a:ln>
        </p:spPr>
      </p:sp>
      <p:sp>
        <p:nvSpPr>
          <p:cNvPr id="38" name="Text 36"/>
          <p:cNvSpPr/>
          <p:nvPr/>
        </p:nvSpPr>
        <p:spPr>
          <a:xfrm>
            <a:off x="7269480" y="4581144"/>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Compact vs Tabular layout</a:t>
            </a:r>
            <a:endParaRPr lang="en-US" sz="950" dirty="0"/>
          </a:p>
        </p:txBody>
      </p:sp>
      <p:sp>
        <p:nvSpPr>
          <p:cNvPr id="39" name="Text 37"/>
          <p:cNvSpPr/>
          <p:nvPr/>
        </p:nvSpPr>
        <p:spPr>
          <a:xfrm>
            <a:off x="9266530" y="4581144"/>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PivotTable Analyze -&amp;gt; Report Layout -&amp;gt; Show in Tabular Form. Tabular puts each field in its own column - much easier to copy to regular data.</a:t>
            </a:r>
            <a:endParaRPr lang="en-US" sz="1000" dirty="0"/>
          </a:p>
        </p:txBody>
      </p:sp>
      <p:sp>
        <p:nvSpPr>
          <p:cNvPr id="40" name="Shape 38"/>
          <p:cNvSpPr/>
          <p:nvPr/>
        </p:nvSpPr>
        <p:spPr>
          <a:xfrm>
            <a:off x="7178040" y="5120640"/>
            <a:ext cx="4754880" cy="585216"/>
          </a:xfrm>
          <a:prstGeom prst="rect">
            <a:avLst/>
          </a:prstGeom>
          <a:solidFill>
            <a:srgbClr val="141E36"/>
          </a:solidFill>
          <a:ln w="3810">
            <a:solidFill>
              <a:srgbClr val="1A2845"/>
            </a:solidFill>
            <a:prstDash val="solid"/>
          </a:ln>
        </p:spPr>
      </p:sp>
      <p:sp>
        <p:nvSpPr>
          <p:cNvPr id="41" name="Shape 39"/>
          <p:cNvSpPr/>
          <p:nvPr/>
        </p:nvSpPr>
        <p:spPr>
          <a:xfrm>
            <a:off x="9175090" y="5120640"/>
            <a:ext cx="18288" cy="585216"/>
          </a:xfrm>
          <a:prstGeom prst="rect">
            <a:avLst/>
          </a:prstGeom>
          <a:solidFill>
            <a:srgbClr val="1E293B"/>
          </a:solidFill>
          <a:ln w="12700">
            <a:solidFill>
              <a:srgbClr val="1E293B"/>
            </a:solidFill>
            <a:prstDash val="solid"/>
          </a:ln>
        </p:spPr>
      </p:sp>
      <p:sp>
        <p:nvSpPr>
          <p:cNvPr id="42" name="Text 40"/>
          <p:cNvSpPr/>
          <p:nvPr/>
        </p:nvSpPr>
        <p:spPr>
          <a:xfrm>
            <a:off x="7269480" y="5166360"/>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Conditional Format on Pivot</a:t>
            </a:r>
            <a:endParaRPr lang="en-US" sz="950" dirty="0"/>
          </a:p>
        </p:txBody>
      </p:sp>
      <p:sp>
        <p:nvSpPr>
          <p:cNvPr id="43" name="Text 41"/>
          <p:cNvSpPr/>
          <p:nvPr/>
        </p:nvSpPr>
        <p:spPr>
          <a:xfrm>
            <a:off x="9266530" y="5166360"/>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Select pivot values -&amp;gt; Home -&amp;gt; Conditional Formatting -&amp;gt; Data Bars. Refreshes automatically with pivot data.</a:t>
            </a:r>
            <a:endParaRPr lang="en-US" sz="1000" dirty="0"/>
          </a:p>
        </p:txBody>
      </p:sp>
      <p:sp>
        <p:nvSpPr>
          <p:cNvPr id="44" name="Shape 42"/>
          <p:cNvSpPr/>
          <p:nvPr/>
        </p:nvSpPr>
        <p:spPr>
          <a:xfrm>
            <a:off x="7178040" y="5029200"/>
            <a:ext cx="4754880" cy="1682496"/>
          </a:xfrm>
          <a:prstGeom prst="roundRect">
            <a:avLst>
              <a:gd name="adj" fmla="val 5435"/>
            </a:avLst>
          </a:prstGeom>
          <a:solidFill>
            <a:srgbClr val="0D1117"/>
          </a:solidFill>
          <a:ln w="16510">
            <a:solidFill>
              <a:srgbClr val="217346"/>
            </a:solidFill>
            <a:prstDash val="solid"/>
          </a:ln>
          <a:effectLst>
            <a:outerShdw sx="100000" sy="100000" kx="0" ky="0" algn="bl" rotWithShape="0" blurRad="127000" dist="50800" dir="2700000">
              <a:srgbClr val="000000">
                <a:alpha val="20000"/>
              </a:srgbClr>
            </a:outerShdw>
          </a:effectLst>
        </p:spPr>
      </p:sp>
      <p:sp>
        <p:nvSpPr>
          <p:cNvPr id="45" name="Shape 43"/>
          <p:cNvSpPr/>
          <p:nvPr/>
        </p:nvSpPr>
        <p:spPr>
          <a:xfrm>
            <a:off x="7178040" y="5029200"/>
            <a:ext cx="4754880" cy="329184"/>
          </a:xfrm>
          <a:prstGeom prst="roundRect">
            <a:avLst>
              <a:gd name="adj" fmla="val 27778"/>
            </a:avLst>
          </a:prstGeom>
          <a:solidFill>
            <a:srgbClr val="111E35"/>
          </a:solidFill>
          <a:ln w="12700">
            <a:solidFill>
              <a:srgbClr val="111E35"/>
            </a:solidFill>
            <a:prstDash val="solid"/>
          </a:ln>
        </p:spPr>
      </p:sp>
      <p:sp>
        <p:nvSpPr>
          <p:cNvPr id="46" name="Shape 44"/>
          <p:cNvSpPr/>
          <p:nvPr/>
        </p:nvSpPr>
        <p:spPr>
          <a:xfrm>
            <a:off x="7178040" y="5212080"/>
            <a:ext cx="4754880" cy="146304"/>
          </a:xfrm>
          <a:prstGeom prst="rect">
            <a:avLst/>
          </a:prstGeom>
          <a:solidFill>
            <a:srgbClr val="111E35"/>
          </a:solidFill>
          <a:ln w="12700">
            <a:solidFill>
              <a:srgbClr val="111E35"/>
            </a:solidFill>
            <a:prstDash val="solid"/>
          </a:ln>
        </p:spPr>
      </p:sp>
      <p:sp>
        <p:nvSpPr>
          <p:cNvPr id="47" name="Shape 45"/>
          <p:cNvSpPr/>
          <p:nvPr/>
        </p:nvSpPr>
        <p:spPr>
          <a:xfrm>
            <a:off x="7306056" y="5120640"/>
            <a:ext cx="146304" cy="146304"/>
          </a:xfrm>
          <a:prstGeom prst="ellipse">
            <a:avLst/>
          </a:prstGeom>
          <a:solidFill>
            <a:srgbClr val="F43F5E"/>
          </a:solidFill>
          <a:ln w="12700">
            <a:solidFill>
              <a:srgbClr val="F43F5E"/>
            </a:solidFill>
            <a:prstDash val="solid"/>
          </a:ln>
        </p:spPr>
      </p:sp>
      <p:sp>
        <p:nvSpPr>
          <p:cNvPr id="48" name="Shape 46"/>
          <p:cNvSpPr/>
          <p:nvPr/>
        </p:nvSpPr>
        <p:spPr>
          <a:xfrm>
            <a:off x="7507224" y="5120640"/>
            <a:ext cx="146304" cy="146304"/>
          </a:xfrm>
          <a:prstGeom prst="ellipse">
            <a:avLst/>
          </a:prstGeom>
          <a:solidFill>
            <a:srgbClr val="F59E0B"/>
          </a:solidFill>
          <a:ln w="12700">
            <a:solidFill>
              <a:srgbClr val="F59E0B"/>
            </a:solidFill>
            <a:prstDash val="solid"/>
          </a:ln>
        </p:spPr>
      </p:sp>
      <p:sp>
        <p:nvSpPr>
          <p:cNvPr id="49" name="Shape 47"/>
          <p:cNvSpPr/>
          <p:nvPr/>
        </p:nvSpPr>
        <p:spPr>
          <a:xfrm>
            <a:off x="7708392" y="5120640"/>
            <a:ext cx="146304" cy="146304"/>
          </a:xfrm>
          <a:prstGeom prst="ellipse">
            <a:avLst/>
          </a:prstGeom>
          <a:solidFill>
            <a:srgbClr val="70AD47"/>
          </a:solidFill>
          <a:ln w="12700">
            <a:solidFill>
              <a:srgbClr val="70AD47"/>
            </a:solidFill>
            <a:prstDash val="solid"/>
          </a:ln>
        </p:spPr>
      </p:sp>
      <p:sp>
        <p:nvSpPr>
          <p:cNvPr id="50" name="Text 48"/>
          <p:cNvSpPr/>
          <p:nvPr/>
        </p:nvSpPr>
        <p:spPr>
          <a:xfrm>
            <a:off x="7909560" y="5084064"/>
            <a:ext cx="384048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pivot2.xlsx</a:t>
            </a:r>
            <a:endParaRPr lang="en-US" sz="900" dirty="0"/>
          </a:p>
        </p:txBody>
      </p:sp>
      <p:sp>
        <p:nvSpPr>
          <p:cNvPr id="51" name="Text 49"/>
          <p:cNvSpPr/>
          <p:nvPr/>
        </p:nvSpPr>
        <p:spPr>
          <a:xfrm>
            <a:off x="7324344" y="5413248"/>
            <a:ext cx="4480560" cy="1188720"/>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PivotChart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PivotTable Analyze -&amp;gt; PivotChart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Chart updates when PivotTable is filtered</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Use Slicer + PivotChart = interactive dashboard</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Timeline (Date Slicer)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PivotTable Analyze -&amp;gt; Insert Timeline</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Drag to select date ranges visually</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60A14"/>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85C38"/>
          </a:solidFill>
          <a:ln w="12700">
            <a:solidFill>
              <a:srgbClr val="185C3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12. CONDITIONAL FORMATTING - Make Data Tell Its Own Story</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6583680" cy="5029200"/>
          </a:xfrm>
          <a:prstGeom prst="rect">
            <a:avLst/>
          </a:prstGeom>
        </p:spPr>
      </p:pic>
      <p:sp>
        <p:nvSpPr>
          <p:cNvPr id="5" name="Shape 2"/>
          <p:cNvSpPr/>
          <p:nvPr/>
        </p:nvSpPr>
        <p:spPr>
          <a:xfrm>
            <a:off x="411480" y="6144768"/>
            <a:ext cx="6583680" cy="603504"/>
          </a:xfrm>
          <a:prstGeom prst="roundRect">
            <a:avLst>
              <a:gd name="adj" fmla="val 15152"/>
            </a:avLst>
          </a:prstGeom>
          <a:solidFill>
            <a:srgbClr val="0D1117"/>
          </a:solidFill>
          <a:ln w="16510">
            <a:solidFill>
              <a:srgbClr val="217346"/>
            </a:solidFill>
            <a:prstDash val="solid"/>
          </a:ln>
          <a:effectLst>
            <a:outerShdw sx="100000" sy="100000" kx="0" ky="0" algn="bl" rotWithShape="0" blurRad="127000" dist="50800" dir="2700000">
              <a:srgbClr val="000000">
                <a:alpha val="20000"/>
              </a:srgbClr>
            </a:outerShdw>
          </a:effectLst>
        </p:spPr>
      </p:sp>
      <p:sp>
        <p:nvSpPr>
          <p:cNvPr id="6" name="Shape 3"/>
          <p:cNvSpPr/>
          <p:nvPr/>
        </p:nvSpPr>
        <p:spPr>
          <a:xfrm>
            <a:off x="411480" y="6144768"/>
            <a:ext cx="6583680" cy="329184"/>
          </a:xfrm>
          <a:prstGeom prst="roundRect">
            <a:avLst>
              <a:gd name="adj" fmla="val 27778"/>
            </a:avLst>
          </a:prstGeom>
          <a:solidFill>
            <a:srgbClr val="111E35"/>
          </a:solidFill>
          <a:ln w="12700">
            <a:solidFill>
              <a:srgbClr val="111E35"/>
            </a:solidFill>
            <a:prstDash val="solid"/>
          </a:ln>
        </p:spPr>
      </p:sp>
      <p:sp>
        <p:nvSpPr>
          <p:cNvPr id="7" name="Shape 4"/>
          <p:cNvSpPr/>
          <p:nvPr/>
        </p:nvSpPr>
        <p:spPr>
          <a:xfrm>
            <a:off x="411480" y="6327648"/>
            <a:ext cx="6583680" cy="146304"/>
          </a:xfrm>
          <a:prstGeom prst="rect">
            <a:avLst/>
          </a:prstGeom>
          <a:solidFill>
            <a:srgbClr val="111E35"/>
          </a:solidFill>
          <a:ln w="12700">
            <a:solidFill>
              <a:srgbClr val="111E35"/>
            </a:solidFill>
            <a:prstDash val="solid"/>
          </a:ln>
        </p:spPr>
      </p:sp>
      <p:sp>
        <p:nvSpPr>
          <p:cNvPr id="8" name="Shape 5"/>
          <p:cNvSpPr/>
          <p:nvPr/>
        </p:nvSpPr>
        <p:spPr>
          <a:xfrm>
            <a:off x="539496" y="6236208"/>
            <a:ext cx="146304" cy="146304"/>
          </a:xfrm>
          <a:prstGeom prst="ellipse">
            <a:avLst/>
          </a:prstGeom>
          <a:solidFill>
            <a:srgbClr val="F43F5E"/>
          </a:solidFill>
          <a:ln w="12700">
            <a:solidFill>
              <a:srgbClr val="F43F5E"/>
            </a:solidFill>
            <a:prstDash val="solid"/>
          </a:ln>
        </p:spPr>
      </p:sp>
      <p:sp>
        <p:nvSpPr>
          <p:cNvPr id="9" name="Shape 6"/>
          <p:cNvSpPr/>
          <p:nvPr/>
        </p:nvSpPr>
        <p:spPr>
          <a:xfrm>
            <a:off x="740664" y="6236208"/>
            <a:ext cx="146304" cy="146304"/>
          </a:xfrm>
          <a:prstGeom prst="ellipse">
            <a:avLst/>
          </a:prstGeom>
          <a:solidFill>
            <a:srgbClr val="F59E0B"/>
          </a:solidFill>
          <a:ln w="12700">
            <a:solidFill>
              <a:srgbClr val="F59E0B"/>
            </a:solidFill>
            <a:prstDash val="solid"/>
          </a:ln>
        </p:spPr>
      </p:sp>
      <p:sp>
        <p:nvSpPr>
          <p:cNvPr id="10" name="Shape 7"/>
          <p:cNvSpPr/>
          <p:nvPr/>
        </p:nvSpPr>
        <p:spPr>
          <a:xfrm>
            <a:off x="941832" y="6236208"/>
            <a:ext cx="146304" cy="146304"/>
          </a:xfrm>
          <a:prstGeom prst="ellipse">
            <a:avLst/>
          </a:prstGeom>
          <a:solidFill>
            <a:srgbClr val="70AD47"/>
          </a:solidFill>
          <a:ln w="12700">
            <a:solidFill>
              <a:srgbClr val="70AD47"/>
            </a:solidFill>
            <a:prstDash val="solid"/>
          </a:ln>
        </p:spPr>
      </p:sp>
      <p:sp>
        <p:nvSpPr>
          <p:cNvPr id="11" name="Text 8"/>
          <p:cNvSpPr/>
          <p:nvPr/>
        </p:nvSpPr>
        <p:spPr>
          <a:xfrm>
            <a:off x="557784" y="6528816"/>
            <a:ext cx="6309360" cy="109728"/>
          </a:xfrm>
          <a:prstGeom prst="rect">
            <a:avLst/>
          </a:prstGeom>
          <a:noFill/>
          <a:ln/>
        </p:spPr>
        <p:txBody>
          <a:bodyPr wrap="square" lIns="0" tIns="0" rIns="0" bIns="0" rtlCol="0" anchor="t"/>
          <a:lstStyle/>
          <a:p>
            <a:pPr indent="0" marL="0">
              <a:buNone/>
            </a:pPr>
            <a:r>
              <a:rPr lang="en-US" sz="1050" dirty="0">
                <a:solidFill>
                  <a:srgbClr val="FFFFFF"/>
                </a:solidFill>
                <a:latin typeface="Courier New" pitchFamily="34" charset="0"/>
                <a:ea typeface="Courier New" pitchFamily="34" charset="-122"/>
                <a:cs typeface="Courier New" pitchFamily="34" charset="-120"/>
              </a:rPr>
              <a:t>Home tab -&amp;gt; Conditional Formatting -&amp;gt; Choose rule type -&amp;gt; Set format -&amp;gt; OK</a:t>
            </a:r>
            <a:endParaRPr lang="en-US" sz="1050" dirty="0"/>
          </a:p>
        </p:txBody>
      </p:sp>
      <p:sp>
        <p:nvSpPr>
          <p:cNvPr id="12" name="Shape 9"/>
          <p:cNvSpPr/>
          <p:nvPr/>
        </p:nvSpPr>
        <p:spPr>
          <a:xfrm>
            <a:off x="7178040" y="1024128"/>
            <a:ext cx="4754880" cy="585216"/>
          </a:xfrm>
          <a:prstGeom prst="rect">
            <a:avLst/>
          </a:prstGeom>
          <a:solidFill>
            <a:srgbClr val="F59E0B"/>
          </a:solidFill>
          <a:ln w="3810">
            <a:solidFill>
              <a:srgbClr val="1A2845"/>
            </a:solidFill>
            <a:prstDash val="solid"/>
          </a:ln>
        </p:spPr>
      </p:sp>
      <p:sp>
        <p:nvSpPr>
          <p:cNvPr id="13" name="Shape 10"/>
          <p:cNvSpPr/>
          <p:nvPr/>
        </p:nvSpPr>
        <p:spPr>
          <a:xfrm>
            <a:off x="9175090" y="1024128"/>
            <a:ext cx="18288" cy="585216"/>
          </a:xfrm>
          <a:prstGeom prst="rect">
            <a:avLst/>
          </a:prstGeom>
          <a:solidFill>
            <a:srgbClr val="FFFFFF"/>
          </a:solidFill>
          <a:ln w="12700">
            <a:solidFill>
              <a:srgbClr val="FFFFFF"/>
            </a:solidFill>
            <a:prstDash val="solid"/>
          </a:ln>
        </p:spPr>
      </p:sp>
      <p:sp>
        <p:nvSpPr>
          <p:cNvPr id="14" name="Text 11"/>
          <p:cNvSpPr/>
          <p:nvPr/>
        </p:nvSpPr>
        <p:spPr>
          <a:xfrm>
            <a:off x="7269480" y="1069848"/>
            <a:ext cx="1869034" cy="493776"/>
          </a:xfrm>
          <a:prstGeom prst="rect">
            <a:avLst/>
          </a:prstGeom>
          <a:noFill/>
          <a:ln/>
        </p:spPr>
        <p:txBody>
          <a:bodyPr wrap="square" lIns="0" tIns="0" rIns="0" bIns="0" rtlCol="0" anchor="ctr"/>
          <a:lstStyle/>
          <a:p>
            <a:pPr indent="0" marL="0">
              <a:buNone/>
            </a:pPr>
            <a:r>
              <a:rPr lang="en-US" sz="1000" b="1" dirty="0">
                <a:solidFill>
                  <a:srgbClr val="FFFFFF"/>
                </a:solidFill>
                <a:latin typeface="Cambria" pitchFamily="34" charset="0"/>
                <a:ea typeface="Cambria" pitchFamily="34" charset="-122"/>
                <a:cs typeface="Cambria" pitchFamily="34" charset="-120"/>
              </a:rPr>
              <a:t>Rule Type</a:t>
            </a:r>
            <a:endParaRPr lang="en-US" sz="1000" dirty="0"/>
          </a:p>
        </p:txBody>
      </p:sp>
      <p:sp>
        <p:nvSpPr>
          <p:cNvPr id="15" name="Text 12"/>
          <p:cNvSpPr/>
          <p:nvPr/>
        </p:nvSpPr>
        <p:spPr>
          <a:xfrm>
            <a:off x="9266530" y="1069848"/>
            <a:ext cx="2574950" cy="49377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What It Does and When to Use</a:t>
            </a:r>
            <a:endParaRPr lang="en-US" sz="1000" dirty="0"/>
          </a:p>
        </p:txBody>
      </p:sp>
      <p:sp>
        <p:nvSpPr>
          <p:cNvPr id="16" name="Shape 13"/>
          <p:cNvSpPr/>
          <p:nvPr/>
        </p:nvSpPr>
        <p:spPr>
          <a:xfrm>
            <a:off x="7178040" y="1609344"/>
            <a:ext cx="4754880" cy="585216"/>
          </a:xfrm>
          <a:prstGeom prst="rect">
            <a:avLst/>
          </a:prstGeom>
          <a:solidFill>
            <a:srgbClr val="141E36"/>
          </a:solidFill>
          <a:ln w="3810">
            <a:solidFill>
              <a:srgbClr val="1A2845"/>
            </a:solidFill>
            <a:prstDash val="solid"/>
          </a:ln>
        </p:spPr>
      </p:sp>
      <p:sp>
        <p:nvSpPr>
          <p:cNvPr id="17" name="Shape 14"/>
          <p:cNvSpPr/>
          <p:nvPr/>
        </p:nvSpPr>
        <p:spPr>
          <a:xfrm>
            <a:off x="9175090" y="1609344"/>
            <a:ext cx="18288" cy="585216"/>
          </a:xfrm>
          <a:prstGeom prst="rect">
            <a:avLst/>
          </a:prstGeom>
          <a:solidFill>
            <a:srgbClr val="1E293B"/>
          </a:solidFill>
          <a:ln w="12700">
            <a:solidFill>
              <a:srgbClr val="1E293B"/>
            </a:solidFill>
            <a:prstDash val="solid"/>
          </a:ln>
        </p:spPr>
      </p:sp>
      <p:sp>
        <p:nvSpPr>
          <p:cNvPr id="18" name="Text 15"/>
          <p:cNvSpPr/>
          <p:nvPr/>
        </p:nvSpPr>
        <p:spPr>
          <a:xfrm>
            <a:off x="7269480" y="1655064"/>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Highlight Cell Rules</a:t>
            </a:r>
            <a:endParaRPr lang="en-US" sz="950" dirty="0"/>
          </a:p>
        </p:txBody>
      </p:sp>
      <p:sp>
        <p:nvSpPr>
          <p:cNvPr id="19" name="Text 16"/>
          <p:cNvSpPr/>
          <p:nvPr/>
        </p:nvSpPr>
        <p:spPr>
          <a:xfrm>
            <a:off x="9266530" y="1655064"/>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Colour cells based on value: Greater Than, Less Than, Between, Equal To, Duplicate Values, Top/Bottom 10. Use for KPI dashboards.</a:t>
            </a:r>
            <a:endParaRPr lang="en-US" sz="1000" dirty="0"/>
          </a:p>
        </p:txBody>
      </p:sp>
      <p:sp>
        <p:nvSpPr>
          <p:cNvPr id="20" name="Shape 17"/>
          <p:cNvSpPr/>
          <p:nvPr/>
        </p:nvSpPr>
        <p:spPr>
          <a:xfrm>
            <a:off x="7178040" y="2194560"/>
            <a:ext cx="4754880" cy="585216"/>
          </a:xfrm>
          <a:prstGeom prst="rect">
            <a:avLst/>
          </a:prstGeom>
          <a:solidFill>
            <a:srgbClr val="0F1D3C"/>
          </a:solidFill>
          <a:ln w="3810">
            <a:solidFill>
              <a:srgbClr val="1A2845"/>
            </a:solidFill>
            <a:prstDash val="solid"/>
          </a:ln>
        </p:spPr>
      </p:sp>
      <p:sp>
        <p:nvSpPr>
          <p:cNvPr id="21" name="Shape 18"/>
          <p:cNvSpPr/>
          <p:nvPr/>
        </p:nvSpPr>
        <p:spPr>
          <a:xfrm>
            <a:off x="9175090" y="2194560"/>
            <a:ext cx="18288" cy="585216"/>
          </a:xfrm>
          <a:prstGeom prst="rect">
            <a:avLst/>
          </a:prstGeom>
          <a:solidFill>
            <a:srgbClr val="1E293B"/>
          </a:solidFill>
          <a:ln w="12700">
            <a:solidFill>
              <a:srgbClr val="1E293B"/>
            </a:solidFill>
            <a:prstDash val="solid"/>
          </a:ln>
        </p:spPr>
      </p:sp>
      <p:sp>
        <p:nvSpPr>
          <p:cNvPr id="22" name="Text 19"/>
          <p:cNvSpPr/>
          <p:nvPr/>
        </p:nvSpPr>
        <p:spPr>
          <a:xfrm>
            <a:off x="7269480" y="2240280"/>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Data Bars</a:t>
            </a:r>
            <a:endParaRPr lang="en-US" sz="950" dirty="0"/>
          </a:p>
        </p:txBody>
      </p:sp>
      <p:sp>
        <p:nvSpPr>
          <p:cNvPr id="23" name="Text 20"/>
          <p:cNvSpPr/>
          <p:nvPr/>
        </p:nvSpPr>
        <p:spPr>
          <a:xfrm>
            <a:off x="9266530" y="2240280"/>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Adds a coloured bar inside each cell proportional to the value. Readers can compare values visually without reading numbers.</a:t>
            </a:r>
            <a:endParaRPr lang="en-US" sz="1000" dirty="0"/>
          </a:p>
        </p:txBody>
      </p:sp>
      <p:sp>
        <p:nvSpPr>
          <p:cNvPr id="24" name="Shape 21"/>
          <p:cNvSpPr/>
          <p:nvPr/>
        </p:nvSpPr>
        <p:spPr>
          <a:xfrm>
            <a:off x="7178040" y="2779776"/>
            <a:ext cx="4754880" cy="585216"/>
          </a:xfrm>
          <a:prstGeom prst="rect">
            <a:avLst/>
          </a:prstGeom>
          <a:solidFill>
            <a:srgbClr val="141E36"/>
          </a:solidFill>
          <a:ln w="3810">
            <a:solidFill>
              <a:srgbClr val="1A2845"/>
            </a:solidFill>
            <a:prstDash val="solid"/>
          </a:ln>
        </p:spPr>
      </p:sp>
      <p:sp>
        <p:nvSpPr>
          <p:cNvPr id="25" name="Shape 22"/>
          <p:cNvSpPr/>
          <p:nvPr/>
        </p:nvSpPr>
        <p:spPr>
          <a:xfrm>
            <a:off x="9175090" y="2779776"/>
            <a:ext cx="18288" cy="585216"/>
          </a:xfrm>
          <a:prstGeom prst="rect">
            <a:avLst/>
          </a:prstGeom>
          <a:solidFill>
            <a:srgbClr val="1E293B"/>
          </a:solidFill>
          <a:ln w="12700">
            <a:solidFill>
              <a:srgbClr val="1E293B"/>
            </a:solidFill>
            <a:prstDash val="solid"/>
          </a:ln>
        </p:spPr>
      </p:sp>
      <p:sp>
        <p:nvSpPr>
          <p:cNvPr id="26" name="Text 23"/>
          <p:cNvSpPr/>
          <p:nvPr/>
        </p:nvSpPr>
        <p:spPr>
          <a:xfrm>
            <a:off x="7269480" y="2825496"/>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Colour Scales</a:t>
            </a:r>
            <a:endParaRPr lang="en-US" sz="950" dirty="0"/>
          </a:p>
        </p:txBody>
      </p:sp>
      <p:sp>
        <p:nvSpPr>
          <p:cNvPr id="27" name="Text 24"/>
          <p:cNvSpPr/>
          <p:nvPr/>
        </p:nvSpPr>
        <p:spPr>
          <a:xfrm>
            <a:off x="9266530" y="2825496"/>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Gradients from one colour to another based on value. Red-Yellow-Green is most intuitive: red=bad, green=good.</a:t>
            </a:r>
            <a:endParaRPr lang="en-US" sz="1000" dirty="0"/>
          </a:p>
        </p:txBody>
      </p:sp>
      <p:sp>
        <p:nvSpPr>
          <p:cNvPr id="28" name="Shape 25"/>
          <p:cNvSpPr/>
          <p:nvPr/>
        </p:nvSpPr>
        <p:spPr>
          <a:xfrm>
            <a:off x="7178040" y="3364992"/>
            <a:ext cx="4754880" cy="585216"/>
          </a:xfrm>
          <a:prstGeom prst="rect">
            <a:avLst/>
          </a:prstGeom>
          <a:solidFill>
            <a:srgbClr val="0F1D3C"/>
          </a:solidFill>
          <a:ln w="3810">
            <a:solidFill>
              <a:srgbClr val="1A2845"/>
            </a:solidFill>
            <a:prstDash val="solid"/>
          </a:ln>
        </p:spPr>
      </p:sp>
      <p:sp>
        <p:nvSpPr>
          <p:cNvPr id="29" name="Shape 26"/>
          <p:cNvSpPr/>
          <p:nvPr/>
        </p:nvSpPr>
        <p:spPr>
          <a:xfrm>
            <a:off x="9175090" y="3364992"/>
            <a:ext cx="18288" cy="585216"/>
          </a:xfrm>
          <a:prstGeom prst="rect">
            <a:avLst/>
          </a:prstGeom>
          <a:solidFill>
            <a:srgbClr val="1E293B"/>
          </a:solidFill>
          <a:ln w="12700">
            <a:solidFill>
              <a:srgbClr val="1E293B"/>
            </a:solidFill>
            <a:prstDash val="solid"/>
          </a:ln>
        </p:spPr>
      </p:sp>
      <p:sp>
        <p:nvSpPr>
          <p:cNvPr id="30" name="Text 27"/>
          <p:cNvSpPr/>
          <p:nvPr/>
        </p:nvSpPr>
        <p:spPr>
          <a:xfrm>
            <a:off x="7269480" y="3410712"/>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Icon Sets</a:t>
            </a:r>
            <a:endParaRPr lang="en-US" sz="950" dirty="0"/>
          </a:p>
        </p:txBody>
      </p:sp>
      <p:sp>
        <p:nvSpPr>
          <p:cNvPr id="31" name="Text 28"/>
          <p:cNvSpPr/>
          <p:nvPr/>
        </p:nvSpPr>
        <p:spPr>
          <a:xfrm>
            <a:off x="9266530" y="3410712"/>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Adds small icons (arrows, traffic lights, stars) inside cells. Excellent for status columns: up/down/neutral trend arrows.</a:t>
            </a:r>
            <a:endParaRPr lang="en-US" sz="1000" dirty="0"/>
          </a:p>
        </p:txBody>
      </p:sp>
      <p:sp>
        <p:nvSpPr>
          <p:cNvPr id="32" name="Shape 29"/>
          <p:cNvSpPr/>
          <p:nvPr/>
        </p:nvSpPr>
        <p:spPr>
          <a:xfrm>
            <a:off x="7178040" y="3950208"/>
            <a:ext cx="4754880" cy="585216"/>
          </a:xfrm>
          <a:prstGeom prst="rect">
            <a:avLst/>
          </a:prstGeom>
          <a:solidFill>
            <a:srgbClr val="141E36"/>
          </a:solidFill>
          <a:ln w="3810">
            <a:solidFill>
              <a:srgbClr val="1A2845"/>
            </a:solidFill>
            <a:prstDash val="solid"/>
          </a:ln>
        </p:spPr>
      </p:sp>
      <p:sp>
        <p:nvSpPr>
          <p:cNvPr id="33" name="Shape 30"/>
          <p:cNvSpPr/>
          <p:nvPr/>
        </p:nvSpPr>
        <p:spPr>
          <a:xfrm>
            <a:off x="9175090" y="3950208"/>
            <a:ext cx="18288" cy="585216"/>
          </a:xfrm>
          <a:prstGeom prst="rect">
            <a:avLst/>
          </a:prstGeom>
          <a:solidFill>
            <a:srgbClr val="1E293B"/>
          </a:solidFill>
          <a:ln w="12700">
            <a:solidFill>
              <a:srgbClr val="1E293B"/>
            </a:solidFill>
            <a:prstDash val="solid"/>
          </a:ln>
        </p:spPr>
      </p:sp>
      <p:sp>
        <p:nvSpPr>
          <p:cNvPr id="34" name="Text 31"/>
          <p:cNvSpPr/>
          <p:nvPr/>
        </p:nvSpPr>
        <p:spPr>
          <a:xfrm>
            <a:off x="7269480" y="3995928"/>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Top/Bottom Rules</a:t>
            </a:r>
            <a:endParaRPr lang="en-US" sz="950" dirty="0"/>
          </a:p>
        </p:txBody>
      </p:sp>
      <p:sp>
        <p:nvSpPr>
          <p:cNvPr id="35" name="Text 32"/>
          <p:cNvSpPr/>
          <p:nvPr/>
        </p:nvSpPr>
        <p:spPr>
          <a:xfrm>
            <a:off x="9266530" y="3995928"/>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Automatically highlights the Top 10, Bottom 10, Above Average, or Below Average values. Dynamic - updates as data changes.</a:t>
            </a:r>
            <a:endParaRPr lang="en-US" sz="1000" dirty="0"/>
          </a:p>
        </p:txBody>
      </p:sp>
      <p:sp>
        <p:nvSpPr>
          <p:cNvPr id="36" name="Shape 33"/>
          <p:cNvSpPr/>
          <p:nvPr/>
        </p:nvSpPr>
        <p:spPr>
          <a:xfrm>
            <a:off x="7178040" y="4535424"/>
            <a:ext cx="4754880" cy="585216"/>
          </a:xfrm>
          <a:prstGeom prst="rect">
            <a:avLst/>
          </a:prstGeom>
          <a:solidFill>
            <a:srgbClr val="0F1D3C"/>
          </a:solidFill>
          <a:ln w="3810">
            <a:solidFill>
              <a:srgbClr val="1A2845"/>
            </a:solidFill>
            <a:prstDash val="solid"/>
          </a:ln>
        </p:spPr>
      </p:sp>
      <p:sp>
        <p:nvSpPr>
          <p:cNvPr id="37" name="Shape 34"/>
          <p:cNvSpPr/>
          <p:nvPr/>
        </p:nvSpPr>
        <p:spPr>
          <a:xfrm>
            <a:off x="9175090" y="4535424"/>
            <a:ext cx="18288" cy="585216"/>
          </a:xfrm>
          <a:prstGeom prst="rect">
            <a:avLst/>
          </a:prstGeom>
          <a:solidFill>
            <a:srgbClr val="1E293B"/>
          </a:solidFill>
          <a:ln w="12700">
            <a:solidFill>
              <a:srgbClr val="1E293B"/>
            </a:solidFill>
            <a:prstDash val="solid"/>
          </a:ln>
        </p:spPr>
      </p:sp>
      <p:sp>
        <p:nvSpPr>
          <p:cNvPr id="38" name="Text 35"/>
          <p:cNvSpPr/>
          <p:nvPr/>
        </p:nvSpPr>
        <p:spPr>
          <a:xfrm>
            <a:off x="7269480" y="4581144"/>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Custom Formula Rule</a:t>
            </a:r>
            <a:endParaRPr lang="en-US" sz="950" dirty="0"/>
          </a:p>
        </p:txBody>
      </p:sp>
      <p:sp>
        <p:nvSpPr>
          <p:cNvPr id="39" name="Text 36"/>
          <p:cNvSpPr/>
          <p:nvPr/>
        </p:nvSpPr>
        <p:spPr>
          <a:xfrm>
            <a:off x="9266530" y="4581144"/>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Select range -&amp;gt; New Rule -&amp;gt; Use formula -&amp;gt; Enter =B2&amp;lt;50000. Format applies where formula returns TRUE. Most powerful option.</a:t>
            </a:r>
            <a:endParaRPr lang="en-US" sz="1000" dirty="0"/>
          </a:p>
        </p:txBody>
      </p:sp>
      <p:sp>
        <p:nvSpPr>
          <p:cNvPr id="40" name="Shape 37"/>
          <p:cNvSpPr/>
          <p:nvPr/>
        </p:nvSpPr>
        <p:spPr>
          <a:xfrm>
            <a:off x="7178040" y="5120640"/>
            <a:ext cx="4754880" cy="585216"/>
          </a:xfrm>
          <a:prstGeom prst="rect">
            <a:avLst/>
          </a:prstGeom>
          <a:solidFill>
            <a:srgbClr val="141E36"/>
          </a:solidFill>
          <a:ln w="3810">
            <a:solidFill>
              <a:srgbClr val="1A2845"/>
            </a:solidFill>
            <a:prstDash val="solid"/>
          </a:ln>
        </p:spPr>
      </p:sp>
      <p:sp>
        <p:nvSpPr>
          <p:cNvPr id="41" name="Shape 38"/>
          <p:cNvSpPr/>
          <p:nvPr/>
        </p:nvSpPr>
        <p:spPr>
          <a:xfrm>
            <a:off x="9175090" y="5120640"/>
            <a:ext cx="18288" cy="585216"/>
          </a:xfrm>
          <a:prstGeom prst="rect">
            <a:avLst/>
          </a:prstGeom>
          <a:solidFill>
            <a:srgbClr val="1E293B"/>
          </a:solidFill>
          <a:ln w="12700">
            <a:solidFill>
              <a:srgbClr val="1E293B"/>
            </a:solidFill>
            <a:prstDash val="solid"/>
          </a:ln>
        </p:spPr>
      </p:sp>
      <p:sp>
        <p:nvSpPr>
          <p:cNvPr id="42" name="Text 39"/>
          <p:cNvSpPr/>
          <p:nvPr/>
        </p:nvSpPr>
        <p:spPr>
          <a:xfrm>
            <a:off x="7269480" y="5166360"/>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Manage Rules</a:t>
            </a:r>
            <a:endParaRPr lang="en-US" sz="950" dirty="0"/>
          </a:p>
        </p:txBody>
      </p:sp>
      <p:sp>
        <p:nvSpPr>
          <p:cNvPr id="43" name="Text 40"/>
          <p:cNvSpPr/>
          <p:nvPr/>
        </p:nvSpPr>
        <p:spPr>
          <a:xfrm>
            <a:off x="9266530" y="5166360"/>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Home -&amp;gt; Conditional Formatting -&amp;gt; Manage Rules. View, edit, delete, and reorder rules. Rules apply in order - check priority.</a:t>
            </a:r>
            <a:endParaRPr lang="en-US" sz="1000" dirty="0"/>
          </a:p>
        </p:txBody>
      </p:sp>
      <p:sp>
        <p:nvSpPr>
          <p:cNvPr id="44" name="Shape 41"/>
          <p:cNvSpPr/>
          <p:nvPr/>
        </p:nvSpPr>
        <p:spPr>
          <a:xfrm>
            <a:off x="7178040" y="4992624"/>
            <a:ext cx="4754880" cy="1719072"/>
          </a:xfrm>
          <a:prstGeom prst="roundRect">
            <a:avLst>
              <a:gd name="adj" fmla="val 5319"/>
            </a:avLst>
          </a:prstGeom>
          <a:solidFill>
            <a:srgbClr val="0D1117"/>
          </a:solidFill>
          <a:ln w="16510">
            <a:solidFill>
              <a:srgbClr val="217346"/>
            </a:solidFill>
            <a:prstDash val="solid"/>
          </a:ln>
          <a:effectLst>
            <a:outerShdw sx="100000" sy="100000" kx="0" ky="0" algn="bl" rotWithShape="0" blurRad="127000" dist="50800" dir="2700000">
              <a:srgbClr val="000000">
                <a:alpha val="20000"/>
              </a:srgbClr>
            </a:outerShdw>
          </a:effectLst>
        </p:spPr>
      </p:sp>
      <p:sp>
        <p:nvSpPr>
          <p:cNvPr id="45" name="Shape 42"/>
          <p:cNvSpPr/>
          <p:nvPr/>
        </p:nvSpPr>
        <p:spPr>
          <a:xfrm>
            <a:off x="7178040" y="4992624"/>
            <a:ext cx="4754880" cy="329184"/>
          </a:xfrm>
          <a:prstGeom prst="roundRect">
            <a:avLst>
              <a:gd name="adj" fmla="val 27778"/>
            </a:avLst>
          </a:prstGeom>
          <a:solidFill>
            <a:srgbClr val="111E35"/>
          </a:solidFill>
          <a:ln w="12700">
            <a:solidFill>
              <a:srgbClr val="111E35"/>
            </a:solidFill>
            <a:prstDash val="solid"/>
          </a:ln>
        </p:spPr>
      </p:sp>
      <p:sp>
        <p:nvSpPr>
          <p:cNvPr id="46" name="Shape 43"/>
          <p:cNvSpPr/>
          <p:nvPr/>
        </p:nvSpPr>
        <p:spPr>
          <a:xfrm>
            <a:off x="7178040" y="5175504"/>
            <a:ext cx="4754880" cy="146304"/>
          </a:xfrm>
          <a:prstGeom prst="rect">
            <a:avLst/>
          </a:prstGeom>
          <a:solidFill>
            <a:srgbClr val="111E35"/>
          </a:solidFill>
          <a:ln w="12700">
            <a:solidFill>
              <a:srgbClr val="111E35"/>
            </a:solidFill>
            <a:prstDash val="solid"/>
          </a:ln>
        </p:spPr>
      </p:sp>
      <p:sp>
        <p:nvSpPr>
          <p:cNvPr id="47" name="Shape 44"/>
          <p:cNvSpPr/>
          <p:nvPr/>
        </p:nvSpPr>
        <p:spPr>
          <a:xfrm>
            <a:off x="7306056" y="5084064"/>
            <a:ext cx="146304" cy="146304"/>
          </a:xfrm>
          <a:prstGeom prst="ellipse">
            <a:avLst/>
          </a:prstGeom>
          <a:solidFill>
            <a:srgbClr val="F43F5E"/>
          </a:solidFill>
          <a:ln w="12700">
            <a:solidFill>
              <a:srgbClr val="F43F5E"/>
            </a:solidFill>
            <a:prstDash val="solid"/>
          </a:ln>
        </p:spPr>
      </p:sp>
      <p:sp>
        <p:nvSpPr>
          <p:cNvPr id="48" name="Shape 45"/>
          <p:cNvSpPr/>
          <p:nvPr/>
        </p:nvSpPr>
        <p:spPr>
          <a:xfrm>
            <a:off x="7507224" y="5084064"/>
            <a:ext cx="146304" cy="146304"/>
          </a:xfrm>
          <a:prstGeom prst="ellipse">
            <a:avLst/>
          </a:prstGeom>
          <a:solidFill>
            <a:srgbClr val="F59E0B"/>
          </a:solidFill>
          <a:ln w="12700">
            <a:solidFill>
              <a:srgbClr val="F59E0B"/>
            </a:solidFill>
            <a:prstDash val="solid"/>
          </a:ln>
        </p:spPr>
      </p:sp>
      <p:sp>
        <p:nvSpPr>
          <p:cNvPr id="49" name="Shape 46"/>
          <p:cNvSpPr/>
          <p:nvPr/>
        </p:nvSpPr>
        <p:spPr>
          <a:xfrm>
            <a:off x="7708392" y="5084064"/>
            <a:ext cx="146304" cy="146304"/>
          </a:xfrm>
          <a:prstGeom prst="ellipse">
            <a:avLst/>
          </a:prstGeom>
          <a:solidFill>
            <a:srgbClr val="70AD47"/>
          </a:solidFill>
          <a:ln w="12700">
            <a:solidFill>
              <a:srgbClr val="70AD47"/>
            </a:solidFill>
            <a:prstDash val="solid"/>
          </a:ln>
        </p:spPr>
      </p:sp>
      <p:sp>
        <p:nvSpPr>
          <p:cNvPr id="50" name="Text 47"/>
          <p:cNvSpPr/>
          <p:nvPr/>
        </p:nvSpPr>
        <p:spPr>
          <a:xfrm>
            <a:off x="7909560" y="5047488"/>
            <a:ext cx="384048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condformat.xlsx</a:t>
            </a:r>
            <a:endParaRPr lang="en-US" sz="900" dirty="0"/>
          </a:p>
        </p:txBody>
      </p:sp>
      <p:sp>
        <p:nvSpPr>
          <p:cNvPr id="51" name="Text 48"/>
          <p:cNvSpPr/>
          <p:nvPr/>
        </p:nvSpPr>
        <p:spPr>
          <a:xfrm>
            <a:off x="7324344" y="5376672"/>
            <a:ext cx="4480560" cy="1225296"/>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Custom Formula Examples --</a:t>
            </a: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Highlight entire row where Status=Done: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Select A2:F100 -&amp;gt; New Rule -&amp;gt; Formula:</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=$F2="Done"  &amp;lt;- $ on F only, not 2</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Highlight cells below target:</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=B2&amp;lt;$B$1  &amp;lt;- B1 is the target (absolute)</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C1A38"/>
          </a:solidFill>
          <a:ln w="12700">
            <a:solidFill>
              <a:srgbClr val="0C1A3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13. DATA VALIDATION - Control Input, Prevent Errors</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6766560" cy="4846320"/>
          </a:xfrm>
          <a:prstGeom prst="rect">
            <a:avLst/>
          </a:prstGeom>
        </p:spPr>
      </p:pic>
      <p:sp>
        <p:nvSpPr>
          <p:cNvPr id="5" name="Shape 2"/>
          <p:cNvSpPr/>
          <p:nvPr/>
        </p:nvSpPr>
        <p:spPr>
          <a:xfrm>
            <a:off x="411480" y="5961888"/>
            <a:ext cx="6766560" cy="786384"/>
          </a:xfrm>
          <a:prstGeom prst="roundRect">
            <a:avLst>
              <a:gd name="adj" fmla="val 11628"/>
            </a:avLst>
          </a:prstGeom>
          <a:solidFill>
            <a:srgbClr val="0D1117"/>
          </a:solidFill>
          <a:ln w="16510">
            <a:solidFill>
              <a:srgbClr val="217346"/>
            </a:solidFill>
            <a:prstDash val="solid"/>
          </a:ln>
          <a:effectLst>
            <a:outerShdw sx="100000" sy="100000" kx="0" ky="0" algn="bl" rotWithShape="0" blurRad="127000" dist="50800" dir="2700000">
              <a:srgbClr val="000000">
                <a:alpha val="20000"/>
              </a:srgbClr>
            </a:outerShdw>
          </a:effectLst>
        </p:spPr>
      </p:sp>
      <p:sp>
        <p:nvSpPr>
          <p:cNvPr id="6" name="Shape 3"/>
          <p:cNvSpPr/>
          <p:nvPr/>
        </p:nvSpPr>
        <p:spPr>
          <a:xfrm>
            <a:off x="411480" y="5961888"/>
            <a:ext cx="6766560" cy="329184"/>
          </a:xfrm>
          <a:prstGeom prst="roundRect">
            <a:avLst>
              <a:gd name="adj" fmla="val 27778"/>
            </a:avLst>
          </a:prstGeom>
          <a:solidFill>
            <a:srgbClr val="111E35"/>
          </a:solidFill>
          <a:ln w="12700">
            <a:solidFill>
              <a:srgbClr val="111E35"/>
            </a:solidFill>
            <a:prstDash val="solid"/>
          </a:ln>
        </p:spPr>
      </p:sp>
      <p:sp>
        <p:nvSpPr>
          <p:cNvPr id="7" name="Shape 4"/>
          <p:cNvSpPr/>
          <p:nvPr/>
        </p:nvSpPr>
        <p:spPr>
          <a:xfrm>
            <a:off x="411480" y="6144768"/>
            <a:ext cx="6766560" cy="146304"/>
          </a:xfrm>
          <a:prstGeom prst="rect">
            <a:avLst/>
          </a:prstGeom>
          <a:solidFill>
            <a:srgbClr val="111E35"/>
          </a:solidFill>
          <a:ln w="12700">
            <a:solidFill>
              <a:srgbClr val="111E35"/>
            </a:solidFill>
            <a:prstDash val="solid"/>
          </a:ln>
        </p:spPr>
      </p:sp>
      <p:sp>
        <p:nvSpPr>
          <p:cNvPr id="8" name="Shape 5"/>
          <p:cNvSpPr/>
          <p:nvPr/>
        </p:nvSpPr>
        <p:spPr>
          <a:xfrm>
            <a:off x="539496" y="6053328"/>
            <a:ext cx="146304" cy="146304"/>
          </a:xfrm>
          <a:prstGeom prst="ellipse">
            <a:avLst/>
          </a:prstGeom>
          <a:solidFill>
            <a:srgbClr val="F43F5E"/>
          </a:solidFill>
          <a:ln w="12700">
            <a:solidFill>
              <a:srgbClr val="F43F5E"/>
            </a:solidFill>
            <a:prstDash val="solid"/>
          </a:ln>
        </p:spPr>
      </p:sp>
      <p:sp>
        <p:nvSpPr>
          <p:cNvPr id="9" name="Shape 6"/>
          <p:cNvSpPr/>
          <p:nvPr/>
        </p:nvSpPr>
        <p:spPr>
          <a:xfrm>
            <a:off x="740664" y="6053328"/>
            <a:ext cx="146304" cy="146304"/>
          </a:xfrm>
          <a:prstGeom prst="ellipse">
            <a:avLst/>
          </a:prstGeom>
          <a:solidFill>
            <a:srgbClr val="F59E0B"/>
          </a:solidFill>
          <a:ln w="12700">
            <a:solidFill>
              <a:srgbClr val="F59E0B"/>
            </a:solidFill>
            <a:prstDash val="solid"/>
          </a:ln>
        </p:spPr>
      </p:sp>
      <p:sp>
        <p:nvSpPr>
          <p:cNvPr id="10" name="Shape 7"/>
          <p:cNvSpPr/>
          <p:nvPr/>
        </p:nvSpPr>
        <p:spPr>
          <a:xfrm>
            <a:off x="941832" y="6053328"/>
            <a:ext cx="146304" cy="146304"/>
          </a:xfrm>
          <a:prstGeom prst="ellipse">
            <a:avLst/>
          </a:prstGeom>
          <a:solidFill>
            <a:srgbClr val="70AD47"/>
          </a:solidFill>
          <a:ln w="12700">
            <a:solidFill>
              <a:srgbClr val="70AD47"/>
            </a:solidFill>
            <a:prstDash val="solid"/>
          </a:ln>
        </p:spPr>
      </p:sp>
      <p:sp>
        <p:nvSpPr>
          <p:cNvPr id="11" name="Text 8"/>
          <p:cNvSpPr/>
          <p:nvPr/>
        </p:nvSpPr>
        <p:spPr>
          <a:xfrm>
            <a:off x="557784" y="6345936"/>
            <a:ext cx="6492240" cy="292608"/>
          </a:xfrm>
          <a:prstGeom prst="rect">
            <a:avLst/>
          </a:prstGeom>
          <a:noFill/>
          <a:ln/>
        </p:spPr>
        <p:txBody>
          <a:bodyPr wrap="square" lIns="0" tIns="0" rIns="0" bIns="0" rtlCol="0" anchor="t"/>
          <a:lstStyle/>
          <a:p>
            <a:pPr indent="0" marL="0">
              <a:buNone/>
            </a:pPr>
            <a:r>
              <a:rPr lang="en-US" sz="1050" dirty="0">
                <a:solidFill>
                  <a:srgbClr val="FFFFFF"/>
                </a:solidFill>
                <a:latin typeface="Courier New" pitchFamily="34" charset="0"/>
                <a:ea typeface="Courier New" pitchFamily="34" charset="-122"/>
                <a:cs typeface="Courier New" pitchFamily="34" charset="-120"/>
              </a:rPr>
              <a:t>Data tab -&amp;gt; Data Validation -&amp;gt; Settings tab -&amp;gt; Allow: List -&amp;gt; Source: Lagos,Abuja,Kano,Port Harcourt</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For dynamic list: Source: =$H$2:$H$10  (a range). Changes to the range auto-update the dropdown.</a:t>
            </a:r>
            <a:endParaRPr lang="en-US" sz="1050" dirty="0"/>
          </a:p>
        </p:txBody>
      </p:sp>
      <p:sp>
        <p:nvSpPr>
          <p:cNvPr id="12" name="Shape 9"/>
          <p:cNvSpPr/>
          <p:nvPr/>
        </p:nvSpPr>
        <p:spPr>
          <a:xfrm>
            <a:off x="7360920" y="1024128"/>
            <a:ext cx="4572000" cy="585216"/>
          </a:xfrm>
          <a:prstGeom prst="rect">
            <a:avLst/>
          </a:prstGeom>
          <a:solidFill>
            <a:srgbClr val="06B6D4"/>
          </a:solidFill>
          <a:ln w="3810">
            <a:solidFill>
              <a:srgbClr val="1A2845"/>
            </a:solidFill>
            <a:prstDash val="solid"/>
          </a:ln>
        </p:spPr>
      </p:sp>
      <p:sp>
        <p:nvSpPr>
          <p:cNvPr id="13" name="Shape 10"/>
          <p:cNvSpPr/>
          <p:nvPr/>
        </p:nvSpPr>
        <p:spPr>
          <a:xfrm>
            <a:off x="9281160" y="1024128"/>
            <a:ext cx="18288" cy="585216"/>
          </a:xfrm>
          <a:prstGeom prst="rect">
            <a:avLst/>
          </a:prstGeom>
          <a:solidFill>
            <a:srgbClr val="FFFFFF"/>
          </a:solidFill>
          <a:ln w="12700">
            <a:solidFill>
              <a:srgbClr val="FFFFFF"/>
            </a:solidFill>
            <a:prstDash val="solid"/>
          </a:ln>
        </p:spPr>
      </p:sp>
      <p:sp>
        <p:nvSpPr>
          <p:cNvPr id="14" name="Text 11"/>
          <p:cNvSpPr/>
          <p:nvPr/>
        </p:nvSpPr>
        <p:spPr>
          <a:xfrm>
            <a:off x="7452360" y="1069848"/>
            <a:ext cx="1792224" cy="493776"/>
          </a:xfrm>
          <a:prstGeom prst="rect">
            <a:avLst/>
          </a:prstGeom>
          <a:noFill/>
          <a:ln/>
        </p:spPr>
        <p:txBody>
          <a:bodyPr wrap="square" lIns="0" tIns="0" rIns="0" bIns="0" rtlCol="0" anchor="ctr"/>
          <a:lstStyle/>
          <a:p>
            <a:pPr indent="0" marL="0">
              <a:buNone/>
            </a:pPr>
            <a:r>
              <a:rPr lang="en-US" sz="1000" b="1" dirty="0">
                <a:solidFill>
                  <a:srgbClr val="FFFFFF"/>
                </a:solidFill>
                <a:latin typeface="Cambria" pitchFamily="34" charset="0"/>
                <a:ea typeface="Cambria" pitchFamily="34" charset="-122"/>
                <a:cs typeface="Cambria" pitchFamily="34" charset="-120"/>
              </a:rPr>
              <a:t>Tab</a:t>
            </a:r>
            <a:endParaRPr lang="en-US" sz="1000" dirty="0"/>
          </a:p>
        </p:txBody>
      </p:sp>
      <p:sp>
        <p:nvSpPr>
          <p:cNvPr id="15" name="Text 12"/>
          <p:cNvSpPr/>
          <p:nvPr/>
        </p:nvSpPr>
        <p:spPr>
          <a:xfrm>
            <a:off x="9372600" y="1069848"/>
            <a:ext cx="2468880" cy="49377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What to Configure</a:t>
            </a:r>
            <a:endParaRPr lang="en-US" sz="1000" dirty="0"/>
          </a:p>
        </p:txBody>
      </p:sp>
      <p:sp>
        <p:nvSpPr>
          <p:cNvPr id="16" name="Shape 13"/>
          <p:cNvSpPr/>
          <p:nvPr/>
        </p:nvSpPr>
        <p:spPr>
          <a:xfrm>
            <a:off x="7360920" y="1609344"/>
            <a:ext cx="4572000" cy="585216"/>
          </a:xfrm>
          <a:prstGeom prst="rect">
            <a:avLst/>
          </a:prstGeom>
          <a:solidFill>
            <a:srgbClr val="141E36"/>
          </a:solidFill>
          <a:ln w="3810">
            <a:solidFill>
              <a:srgbClr val="1A2845"/>
            </a:solidFill>
            <a:prstDash val="solid"/>
          </a:ln>
        </p:spPr>
      </p:sp>
      <p:sp>
        <p:nvSpPr>
          <p:cNvPr id="17" name="Shape 14"/>
          <p:cNvSpPr/>
          <p:nvPr/>
        </p:nvSpPr>
        <p:spPr>
          <a:xfrm>
            <a:off x="9281160" y="1609344"/>
            <a:ext cx="18288" cy="585216"/>
          </a:xfrm>
          <a:prstGeom prst="rect">
            <a:avLst/>
          </a:prstGeom>
          <a:solidFill>
            <a:srgbClr val="1E293B"/>
          </a:solidFill>
          <a:ln w="12700">
            <a:solidFill>
              <a:srgbClr val="1E293B"/>
            </a:solidFill>
            <a:prstDash val="solid"/>
          </a:ln>
        </p:spPr>
      </p:sp>
      <p:sp>
        <p:nvSpPr>
          <p:cNvPr id="18" name="Text 15"/>
          <p:cNvSpPr/>
          <p:nvPr/>
        </p:nvSpPr>
        <p:spPr>
          <a:xfrm>
            <a:off x="7452360" y="1655064"/>
            <a:ext cx="179222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Settings</a:t>
            </a:r>
            <a:endParaRPr lang="en-US" sz="950" dirty="0"/>
          </a:p>
        </p:txBody>
      </p:sp>
      <p:sp>
        <p:nvSpPr>
          <p:cNvPr id="19" name="Text 16"/>
          <p:cNvSpPr/>
          <p:nvPr/>
        </p:nvSpPr>
        <p:spPr>
          <a:xfrm>
            <a:off x="9372600" y="1655064"/>
            <a:ext cx="246888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Choose the Allow type (List, Whole Number, Decimal, Date, Text Length, Custom). Set the criteria and values.</a:t>
            </a:r>
            <a:endParaRPr lang="en-US" sz="1000" dirty="0"/>
          </a:p>
        </p:txBody>
      </p:sp>
      <p:sp>
        <p:nvSpPr>
          <p:cNvPr id="20" name="Shape 17"/>
          <p:cNvSpPr/>
          <p:nvPr/>
        </p:nvSpPr>
        <p:spPr>
          <a:xfrm>
            <a:off x="7360920" y="2194560"/>
            <a:ext cx="4572000" cy="585216"/>
          </a:xfrm>
          <a:prstGeom prst="rect">
            <a:avLst/>
          </a:prstGeom>
          <a:solidFill>
            <a:srgbClr val="0F1D3C"/>
          </a:solidFill>
          <a:ln w="3810">
            <a:solidFill>
              <a:srgbClr val="1A2845"/>
            </a:solidFill>
            <a:prstDash val="solid"/>
          </a:ln>
        </p:spPr>
      </p:sp>
      <p:sp>
        <p:nvSpPr>
          <p:cNvPr id="21" name="Shape 18"/>
          <p:cNvSpPr/>
          <p:nvPr/>
        </p:nvSpPr>
        <p:spPr>
          <a:xfrm>
            <a:off x="9281160" y="2194560"/>
            <a:ext cx="18288" cy="585216"/>
          </a:xfrm>
          <a:prstGeom prst="rect">
            <a:avLst/>
          </a:prstGeom>
          <a:solidFill>
            <a:srgbClr val="1E293B"/>
          </a:solidFill>
          <a:ln w="12700">
            <a:solidFill>
              <a:srgbClr val="1E293B"/>
            </a:solidFill>
            <a:prstDash val="solid"/>
          </a:ln>
        </p:spPr>
      </p:sp>
      <p:sp>
        <p:nvSpPr>
          <p:cNvPr id="22" name="Text 19"/>
          <p:cNvSpPr/>
          <p:nvPr/>
        </p:nvSpPr>
        <p:spPr>
          <a:xfrm>
            <a:off x="7452360" y="2240280"/>
            <a:ext cx="179222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Input Message</a:t>
            </a:r>
            <a:endParaRPr lang="en-US" sz="950" dirty="0"/>
          </a:p>
        </p:txBody>
      </p:sp>
      <p:sp>
        <p:nvSpPr>
          <p:cNvPr id="23" name="Text 20"/>
          <p:cNvSpPr/>
          <p:nvPr/>
        </p:nvSpPr>
        <p:spPr>
          <a:xfrm>
            <a:off x="9372600" y="2240280"/>
            <a:ext cx="246888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Message shown when user clicks the cell. Title + message text. Use as instructions: 'Select a region from the list'.</a:t>
            </a:r>
            <a:endParaRPr lang="en-US" sz="1000" dirty="0"/>
          </a:p>
        </p:txBody>
      </p:sp>
      <p:sp>
        <p:nvSpPr>
          <p:cNvPr id="24" name="Shape 21"/>
          <p:cNvSpPr/>
          <p:nvPr/>
        </p:nvSpPr>
        <p:spPr>
          <a:xfrm>
            <a:off x="7360920" y="2779776"/>
            <a:ext cx="4572000" cy="585216"/>
          </a:xfrm>
          <a:prstGeom prst="rect">
            <a:avLst/>
          </a:prstGeom>
          <a:solidFill>
            <a:srgbClr val="141E36"/>
          </a:solidFill>
          <a:ln w="3810">
            <a:solidFill>
              <a:srgbClr val="1A2845"/>
            </a:solidFill>
            <a:prstDash val="solid"/>
          </a:ln>
        </p:spPr>
      </p:sp>
      <p:sp>
        <p:nvSpPr>
          <p:cNvPr id="25" name="Shape 22"/>
          <p:cNvSpPr/>
          <p:nvPr/>
        </p:nvSpPr>
        <p:spPr>
          <a:xfrm>
            <a:off x="9281160" y="2779776"/>
            <a:ext cx="18288" cy="585216"/>
          </a:xfrm>
          <a:prstGeom prst="rect">
            <a:avLst/>
          </a:prstGeom>
          <a:solidFill>
            <a:srgbClr val="1E293B"/>
          </a:solidFill>
          <a:ln w="12700">
            <a:solidFill>
              <a:srgbClr val="1E293B"/>
            </a:solidFill>
            <a:prstDash val="solid"/>
          </a:ln>
        </p:spPr>
      </p:sp>
      <p:sp>
        <p:nvSpPr>
          <p:cNvPr id="26" name="Text 23"/>
          <p:cNvSpPr/>
          <p:nvPr/>
        </p:nvSpPr>
        <p:spPr>
          <a:xfrm>
            <a:off x="7452360" y="2825496"/>
            <a:ext cx="179222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Error Alert</a:t>
            </a:r>
            <a:endParaRPr lang="en-US" sz="950" dirty="0"/>
          </a:p>
        </p:txBody>
      </p:sp>
      <p:sp>
        <p:nvSpPr>
          <p:cNvPr id="27" name="Text 24"/>
          <p:cNvSpPr/>
          <p:nvPr/>
        </p:nvSpPr>
        <p:spPr>
          <a:xfrm>
            <a:off x="9372600" y="2825496"/>
            <a:ext cx="246888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Shown when user enters invalid data. Style: Stop=prevents entry, Warning=allows but warns, Information=shows info only.</a:t>
            </a:r>
            <a:endParaRPr lang="en-US" sz="1000" dirty="0"/>
          </a:p>
        </p:txBody>
      </p:sp>
      <p:sp>
        <p:nvSpPr>
          <p:cNvPr id="28" name="Shape 25"/>
          <p:cNvSpPr/>
          <p:nvPr/>
        </p:nvSpPr>
        <p:spPr>
          <a:xfrm>
            <a:off x="7360920" y="3364992"/>
            <a:ext cx="4572000" cy="585216"/>
          </a:xfrm>
          <a:prstGeom prst="rect">
            <a:avLst/>
          </a:prstGeom>
          <a:solidFill>
            <a:srgbClr val="0F1D3C"/>
          </a:solidFill>
          <a:ln w="3810">
            <a:solidFill>
              <a:srgbClr val="1A2845"/>
            </a:solidFill>
            <a:prstDash val="solid"/>
          </a:ln>
        </p:spPr>
      </p:sp>
      <p:sp>
        <p:nvSpPr>
          <p:cNvPr id="29" name="Shape 26"/>
          <p:cNvSpPr/>
          <p:nvPr/>
        </p:nvSpPr>
        <p:spPr>
          <a:xfrm>
            <a:off x="9281160" y="3364992"/>
            <a:ext cx="18288" cy="585216"/>
          </a:xfrm>
          <a:prstGeom prst="rect">
            <a:avLst/>
          </a:prstGeom>
          <a:solidFill>
            <a:srgbClr val="1E293B"/>
          </a:solidFill>
          <a:ln w="12700">
            <a:solidFill>
              <a:srgbClr val="1E293B"/>
            </a:solidFill>
            <a:prstDash val="solid"/>
          </a:ln>
        </p:spPr>
      </p:sp>
      <p:sp>
        <p:nvSpPr>
          <p:cNvPr id="30" name="Text 27"/>
          <p:cNvSpPr/>
          <p:nvPr/>
        </p:nvSpPr>
        <p:spPr>
          <a:xfrm>
            <a:off x="7452360" y="3410712"/>
            <a:ext cx="179222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Dropdown from range</a:t>
            </a:r>
            <a:endParaRPr lang="en-US" sz="950" dirty="0"/>
          </a:p>
        </p:txBody>
      </p:sp>
      <p:sp>
        <p:nvSpPr>
          <p:cNvPr id="31" name="Text 28"/>
          <p:cNvSpPr/>
          <p:nvPr/>
        </p:nvSpPr>
        <p:spPr>
          <a:xfrm>
            <a:off x="9372600" y="3410712"/>
            <a:ext cx="246888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Set Source to a range: =$H$2:$H$10. Put your valid values in that range. Easier to update than a comma-separated list.</a:t>
            </a:r>
            <a:endParaRPr lang="en-US" sz="1000" dirty="0"/>
          </a:p>
        </p:txBody>
      </p:sp>
      <p:sp>
        <p:nvSpPr>
          <p:cNvPr id="32" name="Shape 29"/>
          <p:cNvSpPr/>
          <p:nvPr/>
        </p:nvSpPr>
        <p:spPr>
          <a:xfrm>
            <a:off x="7360920" y="3950208"/>
            <a:ext cx="4572000" cy="585216"/>
          </a:xfrm>
          <a:prstGeom prst="rect">
            <a:avLst/>
          </a:prstGeom>
          <a:solidFill>
            <a:srgbClr val="141E36"/>
          </a:solidFill>
          <a:ln w="3810">
            <a:solidFill>
              <a:srgbClr val="1A2845"/>
            </a:solidFill>
            <a:prstDash val="solid"/>
          </a:ln>
        </p:spPr>
      </p:sp>
      <p:sp>
        <p:nvSpPr>
          <p:cNvPr id="33" name="Shape 30"/>
          <p:cNvSpPr/>
          <p:nvPr/>
        </p:nvSpPr>
        <p:spPr>
          <a:xfrm>
            <a:off x="9281160" y="3950208"/>
            <a:ext cx="18288" cy="585216"/>
          </a:xfrm>
          <a:prstGeom prst="rect">
            <a:avLst/>
          </a:prstGeom>
          <a:solidFill>
            <a:srgbClr val="1E293B"/>
          </a:solidFill>
          <a:ln w="12700">
            <a:solidFill>
              <a:srgbClr val="1E293B"/>
            </a:solidFill>
            <a:prstDash val="solid"/>
          </a:ln>
        </p:spPr>
      </p:sp>
      <p:sp>
        <p:nvSpPr>
          <p:cNvPr id="34" name="Text 31"/>
          <p:cNvSpPr/>
          <p:nvPr/>
        </p:nvSpPr>
        <p:spPr>
          <a:xfrm>
            <a:off x="7452360" y="3995928"/>
            <a:ext cx="179222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Circle Invalid Data</a:t>
            </a:r>
            <a:endParaRPr lang="en-US" sz="950" dirty="0"/>
          </a:p>
        </p:txBody>
      </p:sp>
      <p:sp>
        <p:nvSpPr>
          <p:cNvPr id="35" name="Text 32"/>
          <p:cNvSpPr/>
          <p:nvPr/>
        </p:nvSpPr>
        <p:spPr>
          <a:xfrm>
            <a:off x="9372600" y="3995928"/>
            <a:ext cx="246888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Data tab -&amp;gt; Data Validation -&amp;gt; Circle Invalid Data. Draws red circles around cells that violate the validation rule.</a:t>
            </a:r>
            <a:endParaRPr lang="en-US" sz="1000" dirty="0"/>
          </a:p>
        </p:txBody>
      </p:sp>
      <p:sp>
        <p:nvSpPr>
          <p:cNvPr id="36" name="Shape 33"/>
          <p:cNvSpPr/>
          <p:nvPr/>
        </p:nvSpPr>
        <p:spPr>
          <a:xfrm>
            <a:off x="7360920" y="4535424"/>
            <a:ext cx="4572000" cy="585216"/>
          </a:xfrm>
          <a:prstGeom prst="rect">
            <a:avLst/>
          </a:prstGeom>
          <a:solidFill>
            <a:srgbClr val="0F1D3C"/>
          </a:solidFill>
          <a:ln w="3810">
            <a:solidFill>
              <a:srgbClr val="1A2845"/>
            </a:solidFill>
            <a:prstDash val="solid"/>
          </a:ln>
        </p:spPr>
      </p:sp>
      <p:sp>
        <p:nvSpPr>
          <p:cNvPr id="37" name="Shape 34"/>
          <p:cNvSpPr/>
          <p:nvPr/>
        </p:nvSpPr>
        <p:spPr>
          <a:xfrm>
            <a:off x="9281160" y="4535424"/>
            <a:ext cx="18288" cy="585216"/>
          </a:xfrm>
          <a:prstGeom prst="rect">
            <a:avLst/>
          </a:prstGeom>
          <a:solidFill>
            <a:srgbClr val="1E293B"/>
          </a:solidFill>
          <a:ln w="12700">
            <a:solidFill>
              <a:srgbClr val="1E293B"/>
            </a:solidFill>
            <a:prstDash val="solid"/>
          </a:ln>
        </p:spPr>
      </p:sp>
      <p:sp>
        <p:nvSpPr>
          <p:cNvPr id="38" name="Text 35"/>
          <p:cNvSpPr/>
          <p:nvPr/>
        </p:nvSpPr>
        <p:spPr>
          <a:xfrm>
            <a:off x="7452360" y="4581144"/>
            <a:ext cx="179222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Custom formula</a:t>
            </a:r>
            <a:endParaRPr lang="en-US" sz="950" dirty="0"/>
          </a:p>
        </p:txBody>
      </p:sp>
      <p:sp>
        <p:nvSpPr>
          <p:cNvPr id="39" name="Text 36"/>
          <p:cNvSpPr/>
          <p:nvPr/>
        </p:nvSpPr>
        <p:spPr>
          <a:xfrm>
            <a:off x="9372600" y="4581144"/>
            <a:ext cx="246888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Allow: Custom -&amp;gt; Formula: =AND(A1&amp;gt;0,MOD(A1,1)=0) ensures positive whole numbers. =LEN(A1)=6 ensures exactly 6 characters.</a:t>
            </a:r>
            <a:endParaRPr lang="en-US" sz="1000" dirty="0"/>
          </a:p>
        </p:txBody>
      </p:sp>
      <p:sp>
        <p:nvSpPr>
          <p:cNvPr id="40" name="Shape 37"/>
          <p:cNvSpPr/>
          <p:nvPr/>
        </p:nvSpPr>
        <p:spPr>
          <a:xfrm>
            <a:off x="7360920" y="5065776"/>
            <a:ext cx="4572000" cy="1664208"/>
          </a:xfrm>
          <a:prstGeom prst="roundRect">
            <a:avLst>
              <a:gd name="adj" fmla="val 5495"/>
            </a:avLst>
          </a:prstGeom>
          <a:solidFill>
            <a:srgbClr val="0D1117"/>
          </a:solidFill>
          <a:ln w="16510">
            <a:solidFill>
              <a:srgbClr val="217346"/>
            </a:solidFill>
            <a:prstDash val="solid"/>
          </a:ln>
          <a:effectLst>
            <a:outerShdw sx="100000" sy="100000" kx="0" ky="0" algn="bl" rotWithShape="0" blurRad="127000" dist="50800" dir="2700000">
              <a:srgbClr val="000000">
                <a:alpha val="20000"/>
              </a:srgbClr>
            </a:outerShdw>
          </a:effectLst>
        </p:spPr>
      </p:sp>
      <p:sp>
        <p:nvSpPr>
          <p:cNvPr id="41" name="Shape 38"/>
          <p:cNvSpPr/>
          <p:nvPr/>
        </p:nvSpPr>
        <p:spPr>
          <a:xfrm>
            <a:off x="7360920" y="5065776"/>
            <a:ext cx="4572000" cy="329184"/>
          </a:xfrm>
          <a:prstGeom prst="roundRect">
            <a:avLst>
              <a:gd name="adj" fmla="val 27778"/>
            </a:avLst>
          </a:prstGeom>
          <a:solidFill>
            <a:srgbClr val="111E35"/>
          </a:solidFill>
          <a:ln w="12700">
            <a:solidFill>
              <a:srgbClr val="111E35"/>
            </a:solidFill>
            <a:prstDash val="solid"/>
          </a:ln>
        </p:spPr>
      </p:sp>
      <p:sp>
        <p:nvSpPr>
          <p:cNvPr id="42" name="Shape 39"/>
          <p:cNvSpPr/>
          <p:nvPr/>
        </p:nvSpPr>
        <p:spPr>
          <a:xfrm>
            <a:off x="7360920" y="5248656"/>
            <a:ext cx="4572000" cy="146304"/>
          </a:xfrm>
          <a:prstGeom prst="rect">
            <a:avLst/>
          </a:prstGeom>
          <a:solidFill>
            <a:srgbClr val="111E35"/>
          </a:solidFill>
          <a:ln w="12700">
            <a:solidFill>
              <a:srgbClr val="111E35"/>
            </a:solidFill>
            <a:prstDash val="solid"/>
          </a:ln>
        </p:spPr>
      </p:sp>
      <p:sp>
        <p:nvSpPr>
          <p:cNvPr id="43" name="Shape 40"/>
          <p:cNvSpPr/>
          <p:nvPr/>
        </p:nvSpPr>
        <p:spPr>
          <a:xfrm>
            <a:off x="7488936" y="5157216"/>
            <a:ext cx="146304" cy="146304"/>
          </a:xfrm>
          <a:prstGeom prst="ellipse">
            <a:avLst/>
          </a:prstGeom>
          <a:solidFill>
            <a:srgbClr val="F43F5E"/>
          </a:solidFill>
          <a:ln w="12700">
            <a:solidFill>
              <a:srgbClr val="F43F5E"/>
            </a:solidFill>
            <a:prstDash val="solid"/>
          </a:ln>
        </p:spPr>
      </p:sp>
      <p:sp>
        <p:nvSpPr>
          <p:cNvPr id="44" name="Shape 41"/>
          <p:cNvSpPr/>
          <p:nvPr/>
        </p:nvSpPr>
        <p:spPr>
          <a:xfrm>
            <a:off x="7690104" y="5157216"/>
            <a:ext cx="146304" cy="146304"/>
          </a:xfrm>
          <a:prstGeom prst="ellipse">
            <a:avLst/>
          </a:prstGeom>
          <a:solidFill>
            <a:srgbClr val="F59E0B"/>
          </a:solidFill>
          <a:ln w="12700">
            <a:solidFill>
              <a:srgbClr val="F59E0B"/>
            </a:solidFill>
            <a:prstDash val="solid"/>
          </a:ln>
        </p:spPr>
      </p:sp>
      <p:sp>
        <p:nvSpPr>
          <p:cNvPr id="45" name="Shape 42"/>
          <p:cNvSpPr/>
          <p:nvPr/>
        </p:nvSpPr>
        <p:spPr>
          <a:xfrm>
            <a:off x="7891272" y="5157216"/>
            <a:ext cx="146304" cy="146304"/>
          </a:xfrm>
          <a:prstGeom prst="ellipse">
            <a:avLst/>
          </a:prstGeom>
          <a:solidFill>
            <a:srgbClr val="70AD47"/>
          </a:solidFill>
          <a:ln w="12700">
            <a:solidFill>
              <a:srgbClr val="70AD47"/>
            </a:solidFill>
            <a:prstDash val="solid"/>
          </a:ln>
        </p:spPr>
      </p:sp>
      <p:sp>
        <p:nvSpPr>
          <p:cNvPr id="46" name="Text 43"/>
          <p:cNvSpPr/>
          <p:nvPr/>
        </p:nvSpPr>
        <p:spPr>
          <a:xfrm>
            <a:off x="8092440" y="5120640"/>
            <a:ext cx="365760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validation2.xlsx</a:t>
            </a:r>
            <a:endParaRPr lang="en-US" sz="900" dirty="0"/>
          </a:p>
        </p:txBody>
      </p:sp>
      <p:sp>
        <p:nvSpPr>
          <p:cNvPr id="47" name="Text 44"/>
          <p:cNvSpPr/>
          <p:nvPr/>
        </p:nvSpPr>
        <p:spPr>
          <a:xfrm>
            <a:off x="7507224" y="5449824"/>
            <a:ext cx="4297680" cy="1170432"/>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Dependent Dropdown Lists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List 1 (Country): Nigeria, Ghana, Kenya</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List 2 (City): INDIRECT(A2)</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Named ranges: Nigeria=Lagos,Abuja,Kano</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Ghana=Accra,Kumasi</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INDIRECT reads A2 value as range name!</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60A14"/>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85C38"/>
          </a:solidFill>
          <a:ln w="12700">
            <a:solidFill>
              <a:srgbClr val="185C3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14. EXCEL TABLES - Structured Data Management</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6858000" cy="4572000"/>
          </a:xfrm>
          <a:prstGeom prst="rect">
            <a:avLst/>
          </a:prstGeom>
        </p:spPr>
      </p:pic>
      <p:sp>
        <p:nvSpPr>
          <p:cNvPr id="5" name="Shape 2"/>
          <p:cNvSpPr/>
          <p:nvPr/>
        </p:nvSpPr>
        <p:spPr>
          <a:xfrm>
            <a:off x="411480" y="5669280"/>
            <a:ext cx="6858000" cy="1078992"/>
          </a:xfrm>
          <a:prstGeom prst="roundRect">
            <a:avLst>
              <a:gd name="adj" fmla="val 8475"/>
            </a:avLst>
          </a:prstGeom>
          <a:solidFill>
            <a:srgbClr val="0D1117"/>
          </a:solidFill>
          <a:ln w="16510">
            <a:solidFill>
              <a:srgbClr val="217346"/>
            </a:solidFill>
            <a:prstDash val="solid"/>
          </a:ln>
          <a:effectLst>
            <a:outerShdw sx="100000" sy="100000" kx="0" ky="0" algn="bl" rotWithShape="0" blurRad="127000" dist="50800" dir="2700000">
              <a:srgbClr val="000000">
                <a:alpha val="20000"/>
              </a:srgbClr>
            </a:outerShdw>
          </a:effectLst>
        </p:spPr>
      </p:sp>
      <p:sp>
        <p:nvSpPr>
          <p:cNvPr id="6" name="Shape 3"/>
          <p:cNvSpPr/>
          <p:nvPr/>
        </p:nvSpPr>
        <p:spPr>
          <a:xfrm>
            <a:off x="411480" y="5669280"/>
            <a:ext cx="6858000" cy="329184"/>
          </a:xfrm>
          <a:prstGeom prst="roundRect">
            <a:avLst>
              <a:gd name="adj" fmla="val 27778"/>
            </a:avLst>
          </a:prstGeom>
          <a:solidFill>
            <a:srgbClr val="111E35"/>
          </a:solidFill>
          <a:ln w="12700">
            <a:solidFill>
              <a:srgbClr val="111E35"/>
            </a:solidFill>
            <a:prstDash val="solid"/>
          </a:ln>
        </p:spPr>
      </p:sp>
      <p:sp>
        <p:nvSpPr>
          <p:cNvPr id="7" name="Shape 4"/>
          <p:cNvSpPr/>
          <p:nvPr/>
        </p:nvSpPr>
        <p:spPr>
          <a:xfrm>
            <a:off x="411480" y="5852160"/>
            <a:ext cx="6858000" cy="146304"/>
          </a:xfrm>
          <a:prstGeom prst="rect">
            <a:avLst/>
          </a:prstGeom>
          <a:solidFill>
            <a:srgbClr val="111E35"/>
          </a:solidFill>
          <a:ln w="12700">
            <a:solidFill>
              <a:srgbClr val="111E35"/>
            </a:solidFill>
            <a:prstDash val="solid"/>
          </a:ln>
        </p:spPr>
      </p:sp>
      <p:sp>
        <p:nvSpPr>
          <p:cNvPr id="8" name="Shape 5"/>
          <p:cNvSpPr/>
          <p:nvPr/>
        </p:nvSpPr>
        <p:spPr>
          <a:xfrm>
            <a:off x="539496" y="5760720"/>
            <a:ext cx="146304" cy="146304"/>
          </a:xfrm>
          <a:prstGeom prst="ellipse">
            <a:avLst/>
          </a:prstGeom>
          <a:solidFill>
            <a:srgbClr val="F43F5E"/>
          </a:solidFill>
          <a:ln w="12700">
            <a:solidFill>
              <a:srgbClr val="F43F5E"/>
            </a:solidFill>
            <a:prstDash val="solid"/>
          </a:ln>
        </p:spPr>
      </p:sp>
      <p:sp>
        <p:nvSpPr>
          <p:cNvPr id="9" name="Shape 6"/>
          <p:cNvSpPr/>
          <p:nvPr/>
        </p:nvSpPr>
        <p:spPr>
          <a:xfrm>
            <a:off x="740664" y="5760720"/>
            <a:ext cx="146304" cy="146304"/>
          </a:xfrm>
          <a:prstGeom prst="ellipse">
            <a:avLst/>
          </a:prstGeom>
          <a:solidFill>
            <a:srgbClr val="F59E0B"/>
          </a:solidFill>
          <a:ln w="12700">
            <a:solidFill>
              <a:srgbClr val="F59E0B"/>
            </a:solidFill>
            <a:prstDash val="solid"/>
          </a:ln>
        </p:spPr>
      </p:sp>
      <p:sp>
        <p:nvSpPr>
          <p:cNvPr id="10" name="Shape 7"/>
          <p:cNvSpPr/>
          <p:nvPr/>
        </p:nvSpPr>
        <p:spPr>
          <a:xfrm>
            <a:off x="941832" y="5760720"/>
            <a:ext cx="146304" cy="146304"/>
          </a:xfrm>
          <a:prstGeom prst="ellipse">
            <a:avLst/>
          </a:prstGeom>
          <a:solidFill>
            <a:srgbClr val="70AD47"/>
          </a:solidFill>
          <a:ln w="12700">
            <a:solidFill>
              <a:srgbClr val="70AD47"/>
            </a:solidFill>
            <a:prstDash val="solid"/>
          </a:ln>
        </p:spPr>
      </p:sp>
      <p:sp>
        <p:nvSpPr>
          <p:cNvPr id="11" name="Text 8"/>
          <p:cNvSpPr/>
          <p:nvPr/>
        </p:nvSpPr>
        <p:spPr>
          <a:xfrm>
            <a:off x="557784" y="6053328"/>
            <a:ext cx="6583680" cy="585216"/>
          </a:xfrm>
          <a:prstGeom prst="rect">
            <a:avLst/>
          </a:prstGeom>
          <a:noFill/>
          <a:ln/>
        </p:spPr>
        <p:txBody>
          <a:bodyPr wrap="square" lIns="0" tIns="0" rIns="0" bIns="0" rtlCol="0" anchor="t"/>
          <a:lstStyle/>
          <a:p>
            <a:pPr indent="0" marL="0">
              <a:buNone/>
            </a:pPr>
            <a:r>
              <a:rPr lang="en-US" sz="1050" dirty="0">
                <a:solidFill>
                  <a:srgbClr val="FFFFFF"/>
                </a:solidFill>
                <a:latin typeface="Courier New" pitchFamily="34" charset="0"/>
                <a:ea typeface="Courier New" pitchFamily="34" charset="-122"/>
                <a:cs typeface="Courier New" pitchFamily="34" charset="-120"/>
              </a:rPr>
              <a:t>Create: Click data -&amp;gt; Ctrl+T -&amp;gt; Confirm range -&amp;gt; OK. Name the table: Table Design tab -&amp;gt; Table Name box</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Structured ref: =SUM(Sales[Revenue]) instead of =SUM(C2:C1000) - reads as text, auto-adjusts range</a:t>
            </a:r>
            <a:endParaRPr lang="en-US" sz="1050" dirty="0"/>
          </a:p>
        </p:txBody>
      </p:sp>
      <p:sp>
        <p:nvSpPr>
          <p:cNvPr id="12" name="Shape 9"/>
          <p:cNvSpPr/>
          <p:nvPr/>
        </p:nvSpPr>
        <p:spPr>
          <a:xfrm>
            <a:off x="7452360" y="1024128"/>
            <a:ext cx="4572000" cy="585216"/>
          </a:xfrm>
          <a:prstGeom prst="rect">
            <a:avLst/>
          </a:prstGeom>
          <a:solidFill>
            <a:srgbClr val="217346"/>
          </a:solidFill>
          <a:ln w="3810">
            <a:solidFill>
              <a:srgbClr val="1A2845"/>
            </a:solidFill>
            <a:prstDash val="solid"/>
          </a:ln>
        </p:spPr>
      </p:sp>
      <p:sp>
        <p:nvSpPr>
          <p:cNvPr id="13" name="Shape 10"/>
          <p:cNvSpPr/>
          <p:nvPr/>
        </p:nvSpPr>
        <p:spPr>
          <a:xfrm>
            <a:off x="9372600" y="1024128"/>
            <a:ext cx="18288" cy="585216"/>
          </a:xfrm>
          <a:prstGeom prst="rect">
            <a:avLst/>
          </a:prstGeom>
          <a:solidFill>
            <a:srgbClr val="FFFFFF"/>
          </a:solidFill>
          <a:ln w="12700">
            <a:solidFill>
              <a:srgbClr val="FFFFFF"/>
            </a:solidFill>
            <a:prstDash val="solid"/>
          </a:ln>
        </p:spPr>
      </p:sp>
      <p:sp>
        <p:nvSpPr>
          <p:cNvPr id="14" name="Text 11"/>
          <p:cNvSpPr/>
          <p:nvPr/>
        </p:nvSpPr>
        <p:spPr>
          <a:xfrm>
            <a:off x="7543800" y="1069848"/>
            <a:ext cx="1792224" cy="493776"/>
          </a:xfrm>
          <a:prstGeom prst="rect">
            <a:avLst/>
          </a:prstGeom>
          <a:noFill/>
          <a:ln/>
        </p:spPr>
        <p:txBody>
          <a:bodyPr wrap="square" lIns="0" tIns="0" rIns="0" bIns="0" rtlCol="0" anchor="ctr"/>
          <a:lstStyle/>
          <a:p>
            <a:pPr indent="0" marL="0">
              <a:buNone/>
            </a:pPr>
            <a:r>
              <a:rPr lang="en-US" sz="1000" b="1" dirty="0">
                <a:solidFill>
                  <a:srgbClr val="FFFFFF"/>
                </a:solidFill>
                <a:latin typeface="Cambria" pitchFamily="34" charset="0"/>
                <a:ea typeface="Cambria" pitchFamily="34" charset="-122"/>
                <a:cs typeface="Cambria" pitchFamily="34" charset="-120"/>
              </a:rPr>
              <a:t>Feature</a:t>
            </a:r>
            <a:endParaRPr lang="en-US" sz="1000" dirty="0"/>
          </a:p>
        </p:txBody>
      </p:sp>
      <p:sp>
        <p:nvSpPr>
          <p:cNvPr id="15" name="Text 12"/>
          <p:cNvSpPr/>
          <p:nvPr/>
        </p:nvSpPr>
        <p:spPr>
          <a:xfrm>
            <a:off x="9464040" y="1069848"/>
            <a:ext cx="2468880" cy="49377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How to Use and Why It Matters</a:t>
            </a:r>
            <a:endParaRPr lang="en-US" sz="1000" dirty="0"/>
          </a:p>
        </p:txBody>
      </p:sp>
      <p:sp>
        <p:nvSpPr>
          <p:cNvPr id="16" name="Shape 13"/>
          <p:cNvSpPr/>
          <p:nvPr/>
        </p:nvSpPr>
        <p:spPr>
          <a:xfrm>
            <a:off x="7452360" y="1609344"/>
            <a:ext cx="4572000" cy="585216"/>
          </a:xfrm>
          <a:prstGeom prst="rect">
            <a:avLst/>
          </a:prstGeom>
          <a:solidFill>
            <a:srgbClr val="141E36"/>
          </a:solidFill>
          <a:ln w="3810">
            <a:solidFill>
              <a:srgbClr val="1A2845"/>
            </a:solidFill>
            <a:prstDash val="solid"/>
          </a:ln>
        </p:spPr>
      </p:sp>
      <p:sp>
        <p:nvSpPr>
          <p:cNvPr id="17" name="Shape 14"/>
          <p:cNvSpPr/>
          <p:nvPr/>
        </p:nvSpPr>
        <p:spPr>
          <a:xfrm>
            <a:off x="9372600" y="1609344"/>
            <a:ext cx="18288" cy="585216"/>
          </a:xfrm>
          <a:prstGeom prst="rect">
            <a:avLst/>
          </a:prstGeom>
          <a:solidFill>
            <a:srgbClr val="1E293B"/>
          </a:solidFill>
          <a:ln w="12700">
            <a:solidFill>
              <a:srgbClr val="1E293B"/>
            </a:solidFill>
            <a:prstDash val="solid"/>
          </a:ln>
        </p:spPr>
      </p:sp>
      <p:sp>
        <p:nvSpPr>
          <p:cNvPr id="18" name="Text 15"/>
          <p:cNvSpPr/>
          <p:nvPr/>
        </p:nvSpPr>
        <p:spPr>
          <a:xfrm>
            <a:off x="7543800" y="1655064"/>
            <a:ext cx="179222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Ctrl+T</a:t>
            </a:r>
            <a:endParaRPr lang="en-US" sz="950" dirty="0"/>
          </a:p>
        </p:txBody>
      </p:sp>
      <p:sp>
        <p:nvSpPr>
          <p:cNvPr id="19" name="Text 16"/>
          <p:cNvSpPr/>
          <p:nvPr/>
        </p:nvSpPr>
        <p:spPr>
          <a:xfrm>
            <a:off x="9464040" y="1655064"/>
            <a:ext cx="246888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Creates an Excel Table. Gives it a blue/white striped style and activates all Table features.</a:t>
            </a:r>
            <a:endParaRPr lang="en-US" sz="1000" dirty="0"/>
          </a:p>
        </p:txBody>
      </p:sp>
      <p:sp>
        <p:nvSpPr>
          <p:cNvPr id="20" name="Shape 17"/>
          <p:cNvSpPr/>
          <p:nvPr/>
        </p:nvSpPr>
        <p:spPr>
          <a:xfrm>
            <a:off x="7452360" y="2194560"/>
            <a:ext cx="4572000" cy="585216"/>
          </a:xfrm>
          <a:prstGeom prst="rect">
            <a:avLst/>
          </a:prstGeom>
          <a:solidFill>
            <a:srgbClr val="0F1D3C"/>
          </a:solidFill>
          <a:ln w="3810">
            <a:solidFill>
              <a:srgbClr val="1A2845"/>
            </a:solidFill>
            <a:prstDash val="solid"/>
          </a:ln>
        </p:spPr>
      </p:sp>
      <p:sp>
        <p:nvSpPr>
          <p:cNvPr id="21" name="Shape 18"/>
          <p:cNvSpPr/>
          <p:nvPr/>
        </p:nvSpPr>
        <p:spPr>
          <a:xfrm>
            <a:off x="9372600" y="2194560"/>
            <a:ext cx="18288" cy="585216"/>
          </a:xfrm>
          <a:prstGeom prst="rect">
            <a:avLst/>
          </a:prstGeom>
          <a:solidFill>
            <a:srgbClr val="1E293B"/>
          </a:solidFill>
          <a:ln w="12700">
            <a:solidFill>
              <a:srgbClr val="1E293B"/>
            </a:solidFill>
            <a:prstDash val="solid"/>
          </a:ln>
        </p:spPr>
      </p:sp>
      <p:sp>
        <p:nvSpPr>
          <p:cNvPr id="22" name="Text 19"/>
          <p:cNvSpPr/>
          <p:nvPr/>
        </p:nvSpPr>
        <p:spPr>
          <a:xfrm>
            <a:off x="7543800" y="2240280"/>
            <a:ext cx="179222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Auto-expansion</a:t>
            </a:r>
            <a:endParaRPr lang="en-US" sz="950" dirty="0"/>
          </a:p>
        </p:txBody>
      </p:sp>
      <p:sp>
        <p:nvSpPr>
          <p:cNvPr id="23" name="Text 20"/>
          <p:cNvSpPr/>
          <p:nvPr/>
        </p:nvSpPr>
        <p:spPr>
          <a:xfrm>
            <a:off x="9464040" y="2240280"/>
            <a:ext cx="246888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New row added below table OR new column to the right automatically joins the table. Formulas extend automatically.</a:t>
            </a:r>
            <a:endParaRPr lang="en-US" sz="1000" dirty="0"/>
          </a:p>
        </p:txBody>
      </p:sp>
      <p:sp>
        <p:nvSpPr>
          <p:cNvPr id="24" name="Shape 21"/>
          <p:cNvSpPr/>
          <p:nvPr/>
        </p:nvSpPr>
        <p:spPr>
          <a:xfrm>
            <a:off x="7452360" y="2779776"/>
            <a:ext cx="4572000" cy="585216"/>
          </a:xfrm>
          <a:prstGeom prst="rect">
            <a:avLst/>
          </a:prstGeom>
          <a:solidFill>
            <a:srgbClr val="141E36"/>
          </a:solidFill>
          <a:ln w="3810">
            <a:solidFill>
              <a:srgbClr val="1A2845"/>
            </a:solidFill>
            <a:prstDash val="solid"/>
          </a:ln>
        </p:spPr>
      </p:sp>
      <p:sp>
        <p:nvSpPr>
          <p:cNvPr id="25" name="Shape 22"/>
          <p:cNvSpPr/>
          <p:nvPr/>
        </p:nvSpPr>
        <p:spPr>
          <a:xfrm>
            <a:off x="9372600" y="2779776"/>
            <a:ext cx="18288" cy="585216"/>
          </a:xfrm>
          <a:prstGeom prst="rect">
            <a:avLst/>
          </a:prstGeom>
          <a:solidFill>
            <a:srgbClr val="1E293B"/>
          </a:solidFill>
          <a:ln w="12700">
            <a:solidFill>
              <a:srgbClr val="1E293B"/>
            </a:solidFill>
            <a:prstDash val="solid"/>
          </a:ln>
        </p:spPr>
      </p:sp>
      <p:sp>
        <p:nvSpPr>
          <p:cNvPr id="26" name="Text 23"/>
          <p:cNvSpPr/>
          <p:nvPr/>
        </p:nvSpPr>
        <p:spPr>
          <a:xfrm>
            <a:off x="7543800" y="2825496"/>
            <a:ext cx="179222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Structured references</a:t>
            </a:r>
            <a:endParaRPr lang="en-US" sz="950" dirty="0"/>
          </a:p>
        </p:txBody>
      </p:sp>
      <p:sp>
        <p:nvSpPr>
          <p:cNvPr id="27" name="Text 24"/>
          <p:cNvSpPr/>
          <p:nvPr/>
        </p:nvSpPr>
        <p:spPr>
          <a:xfrm>
            <a:off x="9464040" y="2825496"/>
            <a:ext cx="246888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=SUM(Sales[Revenue]) is more readable than =SUM(C2:C5000). Automatically adjusts when rows added. Use in formulas and PivotTables.</a:t>
            </a:r>
            <a:endParaRPr lang="en-US" sz="1000" dirty="0"/>
          </a:p>
        </p:txBody>
      </p:sp>
      <p:sp>
        <p:nvSpPr>
          <p:cNvPr id="28" name="Shape 25"/>
          <p:cNvSpPr/>
          <p:nvPr/>
        </p:nvSpPr>
        <p:spPr>
          <a:xfrm>
            <a:off x="7452360" y="3364992"/>
            <a:ext cx="4572000" cy="585216"/>
          </a:xfrm>
          <a:prstGeom prst="rect">
            <a:avLst/>
          </a:prstGeom>
          <a:solidFill>
            <a:srgbClr val="0F1D3C"/>
          </a:solidFill>
          <a:ln w="3810">
            <a:solidFill>
              <a:srgbClr val="1A2845"/>
            </a:solidFill>
            <a:prstDash val="solid"/>
          </a:ln>
        </p:spPr>
      </p:sp>
      <p:sp>
        <p:nvSpPr>
          <p:cNvPr id="29" name="Shape 26"/>
          <p:cNvSpPr/>
          <p:nvPr/>
        </p:nvSpPr>
        <p:spPr>
          <a:xfrm>
            <a:off x="9372600" y="3364992"/>
            <a:ext cx="18288" cy="585216"/>
          </a:xfrm>
          <a:prstGeom prst="rect">
            <a:avLst/>
          </a:prstGeom>
          <a:solidFill>
            <a:srgbClr val="1E293B"/>
          </a:solidFill>
          <a:ln w="12700">
            <a:solidFill>
              <a:srgbClr val="1E293B"/>
            </a:solidFill>
            <a:prstDash val="solid"/>
          </a:ln>
        </p:spPr>
      </p:sp>
      <p:sp>
        <p:nvSpPr>
          <p:cNvPr id="30" name="Text 27"/>
          <p:cNvSpPr/>
          <p:nvPr/>
        </p:nvSpPr>
        <p:spPr>
          <a:xfrm>
            <a:off x="7543800" y="3410712"/>
            <a:ext cx="179222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Total Row</a:t>
            </a:r>
            <a:endParaRPr lang="en-US" sz="950" dirty="0"/>
          </a:p>
        </p:txBody>
      </p:sp>
      <p:sp>
        <p:nvSpPr>
          <p:cNvPr id="31" name="Text 28"/>
          <p:cNvSpPr/>
          <p:nvPr/>
        </p:nvSpPr>
        <p:spPr>
          <a:xfrm>
            <a:off x="9464040" y="3410712"/>
            <a:ext cx="246888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Table Design -&amp;gt; Total Row checkbox. Adds a Total row with dropdown to choose Sum/Average/Count/Max etc. per column.</a:t>
            </a:r>
            <a:endParaRPr lang="en-US" sz="1000" dirty="0"/>
          </a:p>
        </p:txBody>
      </p:sp>
      <p:sp>
        <p:nvSpPr>
          <p:cNvPr id="32" name="Shape 29"/>
          <p:cNvSpPr/>
          <p:nvPr/>
        </p:nvSpPr>
        <p:spPr>
          <a:xfrm>
            <a:off x="7452360" y="3950208"/>
            <a:ext cx="4572000" cy="585216"/>
          </a:xfrm>
          <a:prstGeom prst="rect">
            <a:avLst/>
          </a:prstGeom>
          <a:solidFill>
            <a:srgbClr val="141E36"/>
          </a:solidFill>
          <a:ln w="3810">
            <a:solidFill>
              <a:srgbClr val="1A2845"/>
            </a:solidFill>
            <a:prstDash val="solid"/>
          </a:ln>
        </p:spPr>
      </p:sp>
      <p:sp>
        <p:nvSpPr>
          <p:cNvPr id="33" name="Shape 30"/>
          <p:cNvSpPr/>
          <p:nvPr/>
        </p:nvSpPr>
        <p:spPr>
          <a:xfrm>
            <a:off x="9372600" y="3950208"/>
            <a:ext cx="18288" cy="585216"/>
          </a:xfrm>
          <a:prstGeom prst="rect">
            <a:avLst/>
          </a:prstGeom>
          <a:solidFill>
            <a:srgbClr val="1E293B"/>
          </a:solidFill>
          <a:ln w="12700">
            <a:solidFill>
              <a:srgbClr val="1E293B"/>
            </a:solidFill>
            <a:prstDash val="solid"/>
          </a:ln>
        </p:spPr>
      </p:sp>
      <p:sp>
        <p:nvSpPr>
          <p:cNvPr id="34" name="Text 31"/>
          <p:cNvSpPr/>
          <p:nvPr/>
        </p:nvSpPr>
        <p:spPr>
          <a:xfrm>
            <a:off x="7543800" y="3995928"/>
            <a:ext cx="179222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Table Name</a:t>
            </a:r>
            <a:endParaRPr lang="en-US" sz="950" dirty="0"/>
          </a:p>
        </p:txBody>
      </p:sp>
      <p:sp>
        <p:nvSpPr>
          <p:cNvPr id="35" name="Text 32"/>
          <p:cNvSpPr/>
          <p:nvPr/>
        </p:nvSpPr>
        <p:spPr>
          <a:xfrm>
            <a:off x="9464040" y="3995928"/>
            <a:ext cx="246888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Table Design tab -&amp;gt; Table Name box (top left). Name it something meaningful: SalesData, ProductList. Used in VLOOKUP and Power Query.</a:t>
            </a:r>
            <a:endParaRPr lang="en-US" sz="1000" dirty="0"/>
          </a:p>
        </p:txBody>
      </p:sp>
      <p:sp>
        <p:nvSpPr>
          <p:cNvPr id="36" name="Shape 33"/>
          <p:cNvSpPr/>
          <p:nvPr/>
        </p:nvSpPr>
        <p:spPr>
          <a:xfrm>
            <a:off x="7452360" y="4535424"/>
            <a:ext cx="4572000" cy="585216"/>
          </a:xfrm>
          <a:prstGeom prst="rect">
            <a:avLst/>
          </a:prstGeom>
          <a:solidFill>
            <a:srgbClr val="0F1D3C"/>
          </a:solidFill>
          <a:ln w="3810">
            <a:solidFill>
              <a:srgbClr val="1A2845"/>
            </a:solidFill>
            <a:prstDash val="solid"/>
          </a:ln>
        </p:spPr>
      </p:sp>
      <p:sp>
        <p:nvSpPr>
          <p:cNvPr id="37" name="Shape 34"/>
          <p:cNvSpPr/>
          <p:nvPr/>
        </p:nvSpPr>
        <p:spPr>
          <a:xfrm>
            <a:off x="9372600" y="4535424"/>
            <a:ext cx="18288" cy="585216"/>
          </a:xfrm>
          <a:prstGeom prst="rect">
            <a:avLst/>
          </a:prstGeom>
          <a:solidFill>
            <a:srgbClr val="1E293B"/>
          </a:solidFill>
          <a:ln w="12700">
            <a:solidFill>
              <a:srgbClr val="1E293B"/>
            </a:solidFill>
            <a:prstDash val="solid"/>
          </a:ln>
        </p:spPr>
      </p:sp>
      <p:sp>
        <p:nvSpPr>
          <p:cNvPr id="38" name="Text 35"/>
          <p:cNvSpPr/>
          <p:nvPr/>
        </p:nvSpPr>
        <p:spPr>
          <a:xfrm>
            <a:off x="7543800" y="4581144"/>
            <a:ext cx="179222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Remove Duplicates</a:t>
            </a:r>
            <a:endParaRPr lang="en-US" sz="950" dirty="0"/>
          </a:p>
        </p:txBody>
      </p:sp>
      <p:sp>
        <p:nvSpPr>
          <p:cNvPr id="39" name="Text 36"/>
          <p:cNvSpPr/>
          <p:nvPr/>
        </p:nvSpPr>
        <p:spPr>
          <a:xfrm>
            <a:off x="9464040" y="4581144"/>
            <a:ext cx="246888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With table selected: Table Design -&amp;gt; Remove Duplicates. Checks selected columns and removes exact duplicate rows.</a:t>
            </a:r>
            <a:endParaRPr lang="en-US" sz="1000" dirty="0"/>
          </a:p>
        </p:txBody>
      </p:sp>
      <p:sp>
        <p:nvSpPr>
          <p:cNvPr id="40" name="Shape 37"/>
          <p:cNvSpPr/>
          <p:nvPr/>
        </p:nvSpPr>
        <p:spPr>
          <a:xfrm>
            <a:off x="7452360" y="5120640"/>
            <a:ext cx="4572000" cy="585216"/>
          </a:xfrm>
          <a:prstGeom prst="rect">
            <a:avLst/>
          </a:prstGeom>
          <a:solidFill>
            <a:srgbClr val="141E36"/>
          </a:solidFill>
          <a:ln w="3810">
            <a:solidFill>
              <a:srgbClr val="1A2845"/>
            </a:solidFill>
            <a:prstDash val="solid"/>
          </a:ln>
        </p:spPr>
      </p:sp>
      <p:sp>
        <p:nvSpPr>
          <p:cNvPr id="41" name="Shape 38"/>
          <p:cNvSpPr/>
          <p:nvPr/>
        </p:nvSpPr>
        <p:spPr>
          <a:xfrm>
            <a:off x="9372600" y="5120640"/>
            <a:ext cx="18288" cy="585216"/>
          </a:xfrm>
          <a:prstGeom prst="rect">
            <a:avLst/>
          </a:prstGeom>
          <a:solidFill>
            <a:srgbClr val="1E293B"/>
          </a:solidFill>
          <a:ln w="12700">
            <a:solidFill>
              <a:srgbClr val="1E293B"/>
            </a:solidFill>
            <a:prstDash val="solid"/>
          </a:ln>
        </p:spPr>
      </p:sp>
      <p:sp>
        <p:nvSpPr>
          <p:cNvPr id="42" name="Text 39"/>
          <p:cNvSpPr/>
          <p:nvPr/>
        </p:nvSpPr>
        <p:spPr>
          <a:xfrm>
            <a:off x="7543800" y="5166360"/>
            <a:ext cx="179222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Convert back to range</a:t>
            </a:r>
            <a:endParaRPr lang="en-US" sz="950" dirty="0"/>
          </a:p>
        </p:txBody>
      </p:sp>
      <p:sp>
        <p:nvSpPr>
          <p:cNvPr id="43" name="Text 40"/>
          <p:cNvSpPr/>
          <p:nvPr/>
        </p:nvSpPr>
        <p:spPr>
          <a:xfrm>
            <a:off x="9464040" y="5166360"/>
            <a:ext cx="246888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Table Design -&amp;gt; Convert to Range. Removes table functionality but keeps formatting. Do this before handing to Power BI.</a:t>
            </a:r>
            <a:endParaRPr lang="en-US" sz="1000" dirty="0"/>
          </a:p>
        </p:txBody>
      </p:sp>
      <p:sp>
        <p:nvSpPr>
          <p:cNvPr id="44" name="Shape 41"/>
          <p:cNvSpPr/>
          <p:nvPr/>
        </p:nvSpPr>
        <p:spPr>
          <a:xfrm>
            <a:off x="7452360" y="5065776"/>
            <a:ext cx="4572000" cy="1664208"/>
          </a:xfrm>
          <a:prstGeom prst="roundRect">
            <a:avLst>
              <a:gd name="adj" fmla="val 5495"/>
            </a:avLst>
          </a:prstGeom>
          <a:solidFill>
            <a:srgbClr val="0D1117"/>
          </a:solidFill>
          <a:ln w="16510">
            <a:solidFill>
              <a:srgbClr val="217346"/>
            </a:solidFill>
            <a:prstDash val="solid"/>
          </a:ln>
          <a:effectLst>
            <a:outerShdw sx="100000" sy="100000" kx="0" ky="0" algn="bl" rotWithShape="0" blurRad="127000" dist="50800" dir="2700000">
              <a:srgbClr val="000000">
                <a:alpha val="20000"/>
              </a:srgbClr>
            </a:outerShdw>
          </a:effectLst>
        </p:spPr>
      </p:sp>
      <p:sp>
        <p:nvSpPr>
          <p:cNvPr id="45" name="Shape 42"/>
          <p:cNvSpPr/>
          <p:nvPr/>
        </p:nvSpPr>
        <p:spPr>
          <a:xfrm>
            <a:off x="7452360" y="5065776"/>
            <a:ext cx="4572000" cy="329184"/>
          </a:xfrm>
          <a:prstGeom prst="roundRect">
            <a:avLst>
              <a:gd name="adj" fmla="val 27778"/>
            </a:avLst>
          </a:prstGeom>
          <a:solidFill>
            <a:srgbClr val="111E35"/>
          </a:solidFill>
          <a:ln w="12700">
            <a:solidFill>
              <a:srgbClr val="111E35"/>
            </a:solidFill>
            <a:prstDash val="solid"/>
          </a:ln>
        </p:spPr>
      </p:sp>
      <p:sp>
        <p:nvSpPr>
          <p:cNvPr id="46" name="Shape 43"/>
          <p:cNvSpPr/>
          <p:nvPr/>
        </p:nvSpPr>
        <p:spPr>
          <a:xfrm>
            <a:off x="7452360" y="5248656"/>
            <a:ext cx="4572000" cy="146304"/>
          </a:xfrm>
          <a:prstGeom prst="rect">
            <a:avLst/>
          </a:prstGeom>
          <a:solidFill>
            <a:srgbClr val="111E35"/>
          </a:solidFill>
          <a:ln w="12700">
            <a:solidFill>
              <a:srgbClr val="111E35"/>
            </a:solidFill>
            <a:prstDash val="solid"/>
          </a:ln>
        </p:spPr>
      </p:sp>
      <p:sp>
        <p:nvSpPr>
          <p:cNvPr id="47" name="Shape 44"/>
          <p:cNvSpPr/>
          <p:nvPr/>
        </p:nvSpPr>
        <p:spPr>
          <a:xfrm>
            <a:off x="7580376" y="5157216"/>
            <a:ext cx="146304" cy="146304"/>
          </a:xfrm>
          <a:prstGeom prst="ellipse">
            <a:avLst/>
          </a:prstGeom>
          <a:solidFill>
            <a:srgbClr val="F43F5E"/>
          </a:solidFill>
          <a:ln w="12700">
            <a:solidFill>
              <a:srgbClr val="F43F5E"/>
            </a:solidFill>
            <a:prstDash val="solid"/>
          </a:ln>
        </p:spPr>
      </p:sp>
      <p:sp>
        <p:nvSpPr>
          <p:cNvPr id="48" name="Shape 45"/>
          <p:cNvSpPr/>
          <p:nvPr/>
        </p:nvSpPr>
        <p:spPr>
          <a:xfrm>
            <a:off x="7781544" y="5157216"/>
            <a:ext cx="146304" cy="146304"/>
          </a:xfrm>
          <a:prstGeom prst="ellipse">
            <a:avLst/>
          </a:prstGeom>
          <a:solidFill>
            <a:srgbClr val="F59E0B"/>
          </a:solidFill>
          <a:ln w="12700">
            <a:solidFill>
              <a:srgbClr val="F59E0B"/>
            </a:solidFill>
            <a:prstDash val="solid"/>
          </a:ln>
        </p:spPr>
      </p:sp>
      <p:sp>
        <p:nvSpPr>
          <p:cNvPr id="49" name="Shape 46"/>
          <p:cNvSpPr/>
          <p:nvPr/>
        </p:nvSpPr>
        <p:spPr>
          <a:xfrm>
            <a:off x="7982712" y="5157216"/>
            <a:ext cx="146304" cy="146304"/>
          </a:xfrm>
          <a:prstGeom prst="ellipse">
            <a:avLst/>
          </a:prstGeom>
          <a:solidFill>
            <a:srgbClr val="70AD47"/>
          </a:solidFill>
          <a:ln w="12700">
            <a:solidFill>
              <a:srgbClr val="70AD47"/>
            </a:solidFill>
            <a:prstDash val="solid"/>
          </a:ln>
        </p:spPr>
      </p:sp>
      <p:sp>
        <p:nvSpPr>
          <p:cNvPr id="50" name="Text 47"/>
          <p:cNvSpPr/>
          <p:nvPr/>
        </p:nvSpPr>
        <p:spPr>
          <a:xfrm>
            <a:off x="8183880" y="5120640"/>
            <a:ext cx="365760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tables.xlsx</a:t>
            </a:r>
            <a:endParaRPr lang="en-US" sz="900" dirty="0"/>
          </a:p>
        </p:txBody>
      </p:sp>
      <p:sp>
        <p:nvSpPr>
          <p:cNvPr id="51" name="Text 48"/>
          <p:cNvSpPr/>
          <p:nvPr/>
        </p:nvSpPr>
        <p:spPr>
          <a:xfrm>
            <a:off x="7598664" y="5449824"/>
            <a:ext cx="4297680" cy="1170432"/>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Structured References Examples --</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=SUM(SalesData[Amount])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=SUMIF(SalesData[Region],"Lagos",SalesData[Sales])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=COUNTA(SalesData[Product])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=COUNTIF(SalesData[Region],"Lagos")</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[@Region]  &amp;lt;- current row reference in table</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C1A38"/>
          </a:solidFill>
          <a:ln w="12700">
            <a:solidFill>
              <a:srgbClr val="0C1A3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15. NAMED RANGES - Give Cells Meaningful Names</a:t>
            </a:r>
            <a:endParaRPr lang="en-US" sz="2600" dirty="0"/>
          </a:p>
        </p:txBody>
      </p:sp>
      <p:sp>
        <p:nvSpPr>
          <p:cNvPr id="4" name="Shape 2"/>
          <p:cNvSpPr/>
          <p:nvPr/>
        </p:nvSpPr>
        <p:spPr>
          <a:xfrm>
            <a:off x="411480" y="1024128"/>
            <a:ext cx="6583680" cy="3657600"/>
          </a:xfrm>
          <a:prstGeom prst="roundRect">
            <a:avLst>
              <a:gd name="adj" fmla="val 2500"/>
            </a:avLst>
          </a:prstGeom>
          <a:solidFill>
            <a:srgbClr val="0D1117"/>
          </a:solidFill>
          <a:ln w="16510">
            <a:solidFill>
              <a:srgbClr val="217346"/>
            </a:solidFill>
            <a:prstDash val="solid"/>
          </a:ln>
          <a:effectLst>
            <a:outerShdw sx="100000" sy="100000" kx="0" ky="0" algn="bl" rotWithShape="0" blurRad="127000" dist="50800" dir="2700000">
              <a:srgbClr val="000000">
                <a:alpha val="20000"/>
              </a:srgbClr>
            </a:outerShdw>
          </a:effectLst>
        </p:spPr>
      </p:sp>
      <p:sp>
        <p:nvSpPr>
          <p:cNvPr id="5" name="Shape 3"/>
          <p:cNvSpPr/>
          <p:nvPr/>
        </p:nvSpPr>
        <p:spPr>
          <a:xfrm>
            <a:off x="411480" y="1024128"/>
            <a:ext cx="6583680" cy="329184"/>
          </a:xfrm>
          <a:prstGeom prst="roundRect">
            <a:avLst>
              <a:gd name="adj" fmla="val 27778"/>
            </a:avLst>
          </a:prstGeom>
          <a:solidFill>
            <a:srgbClr val="111E35"/>
          </a:solidFill>
          <a:ln w="12700">
            <a:solidFill>
              <a:srgbClr val="111E35"/>
            </a:solidFill>
            <a:prstDash val="solid"/>
          </a:ln>
        </p:spPr>
      </p:sp>
      <p:sp>
        <p:nvSpPr>
          <p:cNvPr id="6" name="Shape 4"/>
          <p:cNvSpPr/>
          <p:nvPr/>
        </p:nvSpPr>
        <p:spPr>
          <a:xfrm>
            <a:off x="411480" y="1207008"/>
            <a:ext cx="6583680" cy="146304"/>
          </a:xfrm>
          <a:prstGeom prst="rect">
            <a:avLst/>
          </a:prstGeom>
          <a:solidFill>
            <a:srgbClr val="111E35"/>
          </a:solidFill>
          <a:ln w="12700">
            <a:solidFill>
              <a:srgbClr val="111E35"/>
            </a:solidFill>
            <a:prstDash val="solid"/>
          </a:ln>
        </p:spPr>
      </p:sp>
      <p:sp>
        <p:nvSpPr>
          <p:cNvPr id="7" name="Shape 5"/>
          <p:cNvSpPr/>
          <p:nvPr/>
        </p:nvSpPr>
        <p:spPr>
          <a:xfrm>
            <a:off x="539496" y="1115568"/>
            <a:ext cx="146304" cy="146304"/>
          </a:xfrm>
          <a:prstGeom prst="ellipse">
            <a:avLst/>
          </a:prstGeom>
          <a:solidFill>
            <a:srgbClr val="F43F5E"/>
          </a:solidFill>
          <a:ln w="12700">
            <a:solidFill>
              <a:srgbClr val="F43F5E"/>
            </a:solidFill>
            <a:prstDash val="solid"/>
          </a:ln>
        </p:spPr>
      </p:sp>
      <p:sp>
        <p:nvSpPr>
          <p:cNvPr id="8" name="Shape 6"/>
          <p:cNvSpPr/>
          <p:nvPr/>
        </p:nvSpPr>
        <p:spPr>
          <a:xfrm>
            <a:off x="740664" y="1115568"/>
            <a:ext cx="146304" cy="146304"/>
          </a:xfrm>
          <a:prstGeom prst="ellipse">
            <a:avLst/>
          </a:prstGeom>
          <a:solidFill>
            <a:srgbClr val="F59E0B"/>
          </a:solidFill>
          <a:ln w="12700">
            <a:solidFill>
              <a:srgbClr val="F59E0B"/>
            </a:solidFill>
            <a:prstDash val="solid"/>
          </a:ln>
        </p:spPr>
      </p:sp>
      <p:sp>
        <p:nvSpPr>
          <p:cNvPr id="9" name="Shape 7"/>
          <p:cNvSpPr/>
          <p:nvPr/>
        </p:nvSpPr>
        <p:spPr>
          <a:xfrm>
            <a:off x="941832" y="1115568"/>
            <a:ext cx="146304" cy="146304"/>
          </a:xfrm>
          <a:prstGeom prst="ellipse">
            <a:avLst/>
          </a:prstGeom>
          <a:solidFill>
            <a:srgbClr val="70AD47"/>
          </a:solidFill>
          <a:ln w="12700">
            <a:solidFill>
              <a:srgbClr val="70AD47"/>
            </a:solidFill>
            <a:prstDash val="solid"/>
          </a:ln>
        </p:spPr>
      </p:sp>
      <p:sp>
        <p:nvSpPr>
          <p:cNvPr id="10" name="Text 8"/>
          <p:cNvSpPr/>
          <p:nvPr/>
        </p:nvSpPr>
        <p:spPr>
          <a:xfrm>
            <a:off x="1143000" y="1078992"/>
            <a:ext cx="566928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named_ranges.xlsx</a:t>
            </a:r>
            <a:endParaRPr lang="en-US" sz="900" dirty="0"/>
          </a:p>
        </p:txBody>
      </p:sp>
      <p:sp>
        <p:nvSpPr>
          <p:cNvPr id="11" name="Text 9"/>
          <p:cNvSpPr/>
          <p:nvPr/>
        </p:nvSpPr>
        <p:spPr>
          <a:xfrm>
            <a:off x="557784" y="1408176"/>
            <a:ext cx="6309360" cy="3163824"/>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Create a Named Range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Method 1: Select cells -&amp;gt; Name Box -&amp;gt; Type name -&amp;gt; Enter</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Method 2: Formulas -&amp;gt; Define Name -&amp;gt; Set name + range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Method 3: Formulas -&amp;gt; Create from Selection -&amp;gt; use headers</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Examples --</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Name: TaxRate    Range: =Config!$D$1</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Name: Regions    Range: =Lists!$A$2:$A$7</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Name: SalesData  Range: =Sheet1!$A$1:$G$500</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Use in Formulas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=B2*TaxRate          instead of  =B2*Config!$D$1</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=SUMIF(Regions,"Lagos",Sales)  &amp;lt;- readable!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=VLOOKUP(A1, ProductTable, 2, 0)</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Manage Named Ranges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Formulas -&amp;gt; Name Manager (Ctrl+F3)</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View, edit, delete, or update scope of names</a:t>
            </a:r>
            <a:endParaRPr lang="en-US" sz="1050" dirty="0"/>
          </a:p>
        </p:txBody>
      </p:sp>
      <p:sp>
        <p:nvSpPr>
          <p:cNvPr id="12" name="Shape 10"/>
          <p:cNvSpPr/>
          <p:nvPr/>
        </p:nvSpPr>
        <p:spPr>
          <a:xfrm>
            <a:off x="7178040" y="1024128"/>
            <a:ext cx="4754880" cy="585216"/>
          </a:xfrm>
          <a:prstGeom prst="rect">
            <a:avLst/>
          </a:prstGeom>
          <a:solidFill>
            <a:srgbClr val="8B5CF6"/>
          </a:solidFill>
          <a:ln w="3810">
            <a:solidFill>
              <a:srgbClr val="1A2845"/>
            </a:solidFill>
            <a:prstDash val="solid"/>
          </a:ln>
        </p:spPr>
      </p:sp>
      <p:sp>
        <p:nvSpPr>
          <p:cNvPr id="13" name="Shape 11"/>
          <p:cNvSpPr/>
          <p:nvPr/>
        </p:nvSpPr>
        <p:spPr>
          <a:xfrm>
            <a:off x="9175090" y="1024128"/>
            <a:ext cx="18288" cy="585216"/>
          </a:xfrm>
          <a:prstGeom prst="rect">
            <a:avLst/>
          </a:prstGeom>
          <a:solidFill>
            <a:srgbClr val="FFFFFF"/>
          </a:solidFill>
          <a:ln w="12700">
            <a:solidFill>
              <a:srgbClr val="FFFFFF"/>
            </a:solidFill>
            <a:prstDash val="solid"/>
          </a:ln>
        </p:spPr>
      </p:sp>
      <p:sp>
        <p:nvSpPr>
          <p:cNvPr id="14" name="Text 12"/>
          <p:cNvSpPr/>
          <p:nvPr/>
        </p:nvSpPr>
        <p:spPr>
          <a:xfrm>
            <a:off x="7269480" y="1069848"/>
            <a:ext cx="1869034" cy="493776"/>
          </a:xfrm>
          <a:prstGeom prst="rect">
            <a:avLst/>
          </a:prstGeom>
          <a:noFill/>
          <a:ln/>
        </p:spPr>
        <p:txBody>
          <a:bodyPr wrap="square" lIns="0" tIns="0" rIns="0" bIns="0" rtlCol="0" anchor="ctr"/>
          <a:lstStyle/>
          <a:p>
            <a:pPr indent="0" marL="0">
              <a:buNone/>
            </a:pPr>
            <a:r>
              <a:rPr lang="en-US" sz="1000" b="1" dirty="0">
                <a:solidFill>
                  <a:srgbClr val="FFFFFF"/>
                </a:solidFill>
                <a:latin typeface="Cambria" pitchFamily="34" charset="0"/>
                <a:ea typeface="Cambria" pitchFamily="34" charset="-122"/>
                <a:cs typeface="Cambria" pitchFamily="34" charset="-120"/>
              </a:rPr>
              <a:t>Naming Rules</a:t>
            </a:r>
            <a:endParaRPr lang="en-US" sz="1000" dirty="0"/>
          </a:p>
        </p:txBody>
      </p:sp>
      <p:sp>
        <p:nvSpPr>
          <p:cNvPr id="15" name="Text 13"/>
          <p:cNvSpPr/>
          <p:nvPr/>
        </p:nvSpPr>
        <p:spPr>
          <a:xfrm>
            <a:off x="9266530" y="1069848"/>
            <a:ext cx="2574950" cy="49377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What Is and Is Not Allowed</a:t>
            </a:r>
            <a:endParaRPr lang="en-US" sz="1000" dirty="0"/>
          </a:p>
        </p:txBody>
      </p:sp>
      <p:sp>
        <p:nvSpPr>
          <p:cNvPr id="16" name="Shape 14"/>
          <p:cNvSpPr/>
          <p:nvPr/>
        </p:nvSpPr>
        <p:spPr>
          <a:xfrm>
            <a:off x="7178040" y="1609344"/>
            <a:ext cx="4754880" cy="585216"/>
          </a:xfrm>
          <a:prstGeom prst="rect">
            <a:avLst/>
          </a:prstGeom>
          <a:solidFill>
            <a:srgbClr val="141E36"/>
          </a:solidFill>
          <a:ln w="3810">
            <a:solidFill>
              <a:srgbClr val="1A2845"/>
            </a:solidFill>
            <a:prstDash val="solid"/>
          </a:ln>
        </p:spPr>
      </p:sp>
      <p:sp>
        <p:nvSpPr>
          <p:cNvPr id="17" name="Shape 15"/>
          <p:cNvSpPr/>
          <p:nvPr/>
        </p:nvSpPr>
        <p:spPr>
          <a:xfrm>
            <a:off x="9175090" y="1609344"/>
            <a:ext cx="18288" cy="585216"/>
          </a:xfrm>
          <a:prstGeom prst="rect">
            <a:avLst/>
          </a:prstGeom>
          <a:solidFill>
            <a:srgbClr val="1E293B"/>
          </a:solidFill>
          <a:ln w="12700">
            <a:solidFill>
              <a:srgbClr val="1E293B"/>
            </a:solidFill>
            <a:prstDash val="solid"/>
          </a:ln>
        </p:spPr>
      </p:sp>
      <p:sp>
        <p:nvSpPr>
          <p:cNvPr id="18" name="Text 16"/>
          <p:cNvSpPr/>
          <p:nvPr/>
        </p:nvSpPr>
        <p:spPr>
          <a:xfrm>
            <a:off x="7269480" y="1655064"/>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Allowed characters</a:t>
            </a:r>
            <a:endParaRPr lang="en-US" sz="950" dirty="0"/>
          </a:p>
        </p:txBody>
      </p:sp>
      <p:sp>
        <p:nvSpPr>
          <p:cNvPr id="19" name="Text 17"/>
          <p:cNvSpPr/>
          <p:nvPr/>
        </p:nvSpPr>
        <p:spPr>
          <a:xfrm>
            <a:off x="9266530" y="1655064"/>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Letters, numbers, underscores, backslashes. Example: Tax_Rate_2024, ProductList, NGN_Exchange</a:t>
            </a:r>
            <a:endParaRPr lang="en-US" sz="1000" dirty="0"/>
          </a:p>
        </p:txBody>
      </p:sp>
      <p:sp>
        <p:nvSpPr>
          <p:cNvPr id="20" name="Shape 18"/>
          <p:cNvSpPr/>
          <p:nvPr/>
        </p:nvSpPr>
        <p:spPr>
          <a:xfrm>
            <a:off x="7178040" y="2194560"/>
            <a:ext cx="4754880" cy="585216"/>
          </a:xfrm>
          <a:prstGeom prst="rect">
            <a:avLst/>
          </a:prstGeom>
          <a:solidFill>
            <a:srgbClr val="0F1D3C"/>
          </a:solidFill>
          <a:ln w="3810">
            <a:solidFill>
              <a:srgbClr val="1A2845"/>
            </a:solidFill>
            <a:prstDash val="solid"/>
          </a:ln>
        </p:spPr>
      </p:sp>
      <p:sp>
        <p:nvSpPr>
          <p:cNvPr id="21" name="Shape 19"/>
          <p:cNvSpPr/>
          <p:nvPr/>
        </p:nvSpPr>
        <p:spPr>
          <a:xfrm>
            <a:off x="9175090" y="2194560"/>
            <a:ext cx="18288" cy="585216"/>
          </a:xfrm>
          <a:prstGeom prst="rect">
            <a:avLst/>
          </a:prstGeom>
          <a:solidFill>
            <a:srgbClr val="1E293B"/>
          </a:solidFill>
          <a:ln w="12700">
            <a:solidFill>
              <a:srgbClr val="1E293B"/>
            </a:solidFill>
            <a:prstDash val="solid"/>
          </a:ln>
        </p:spPr>
      </p:sp>
      <p:sp>
        <p:nvSpPr>
          <p:cNvPr id="22" name="Text 20"/>
          <p:cNvSpPr/>
          <p:nvPr/>
        </p:nvSpPr>
        <p:spPr>
          <a:xfrm>
            <a:off x="7269480" y="2240280"/>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Not allowed</a:t>
            </a:r>
            <a:endParaRPr lang="en-US" sz="950" dirty="0"/>
          </a:p>
        </p:txBody>
      </p:sp>
      <p:sp>
        <p:nvSpPr>
          <p:cNvPr id="23" name="Text 21"/>
          <p:cNvSpPr/>
          <p:nvPr/>
        </p:nvSpPr>
        <p:spPr>
          <a:xfrm>
            <a:off x="9266530" y="2240280"/>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Spaces (use underscore instead), hyphens, special characters, names that look like cell references (A1, B100).</a:t>
            </a:r>
            <a:endParaRPr lang="en-US" sz="1000" dirty="0"/>
          </a:p>
        </p:txBody>
      </p:sp>
      <p:sp>
        <p:nvSpPr>
          <p:cNvPr id="24" name="Shape 22"/>
          <p:cNvSpPr/>
          <p:nvPr/>
        </p:nvSpPr>
        <p:spPr>
          <a:xfrm>
            <a:off x="7178040" y="2779776"/>
            <a:ext cx="4754880" cy="585216"/>
          </a:xfrm>
          <a:prstGeom prst="rect">
            <a:avLst/>
          </a:prstGeom>
          <a:solidFill>
            <a:srgbClr val="141E36"/>
          </a:solidFill>
          <a:ln w="3810">
            <a:solidFill>
              <a:srgbClr val="1A2845"/>
            </a:solidFill>
            <a:prstDash val="solid"/>
          </a:ln>
        </p:spPr>
      </p:sp>
      <p:sp>
        <p:nvSpPr>
          <p:cNvPr id="25" name="Shape 23"/>
          <p:cNvSpPr/>
          <p:nvPr/>
        </p:nvSpPr>
        <p:spPr>
          <a:xfrm>
            <a:off x="9175090" y="2779776"/>
            <a:ext cx="18288" cy="585216"/>
          </a:xfrm>
          <a:prstGeom prst="rect">
            <a:avLst/>
          </a:prstGeom>
          <a:solidFill>
            <a:srgbClr val="1E293B"/>
          </a:solidFill>
          <a:ln w="12700">
            <a:solidFill>
              <a:srgbClr val="1E293B"/>
            </a:solidFill>
            <a:prstDash val="solid"/>
          </a:ln>
        </p:spPr>
      </p:sp>
      <p:sp>
        <p:nvSpPr>
          <p:cNvPr id="26" name="Text 24"/>
          <p:cNvSpPr/>
          <p:nvPr/>
        </p:nvSpPr>
        <p:spPr>
          <a:xfrm>
            <a:off x="7269480" y="2825496"/>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Scope</a:t>
            </a:r>
            <a:endParaRPr lang="en-US" sz="950" dirty="0"/>
          </a:p>
        </p:txBody>
      </p:sp>
      <p:sp>
        <p:nvSpPr>
          <p:cNvPr id="27" name="Text 25"/>
          <p:cNvSpPr/>
          <p:nvPr/>
        </p:nvSpPr>
        <p:spPr>
          <a:xfrm>
            <a:off x="9266530" y="2825496"/>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Names can be Workbook-wide (any sheet can use) or Sheet-specific (only that sheet). Workbook scope is usually better.</a:t>
            </a:r>
            <a:endParaRPr lang="en-US" sz="1000" dirty="0"/>
          </a:p>
        </p:txBody>
      </p:sp>
      <p:sp>
        <p:nvSpPr>
          <p:cNvPr id="28" name="Shape 26"/>
          <p:cNvSpPr/>
          <p:nvPr/>
        </p:nvSpPr>
        <p:spPr>
          <a:xfrm>
            <a:off x="7178040" y="3364992"/>
            <a:ext cx="4754880" cy="585216"/>
          </a:xfrm>
          <a:prstGeom prst="rect">
            <a:avLst/>
          </a:prstGeom>
          <a:solidFill>
            <a:srgbClr val="0F1D3C"/>
          </a:solidFill>
          <a:ln w="3810">
            <a:solidFill>
              <a:srgbClr val="1A2845"/>
            </a:solidFill>
            <a:prstDash val="solid"/>
          </a:ln>
        </p:spPr>
      </p:sp>
      <p:sp>
        <p:nvSpPr>
          <p:cNvPr id="29" name="Shape 27"/>
          <p:cNvSpPr/>
          <p:nvPr/>
        </p:nvSpPr>
        <p:spPr>
          <a:xfrm>
            <a:off x="9175090" y="3364992"/>
            <a:ext cx="18288" cy="585216"/>
          </a:xfrm>
          <a:prstGeom prst="rect">
            <a:avLst/>
          </a:prstGeom>
          <a:solidFill>
            <a:srgbClr val="1E293B"/>
          </a:solidFill>
          <a:ln w="12700">
            <a:solidFill>
              <a:srgbClr val="1E293B"/>
            </a:solidFill>
            <a:prstDash val="solid"/>
          </a:ln>
        </p:spPr>
      </p:sp>
      <p:sp>
        <p:nvSpPr>
          <p:cNvPr id="30" name="Text 28"/>
          <p:cNvSpPr/>
          <p:nvPr/>
        </p:nvSpPr>
        <p:spPr>
          <a:xfrm>
            <a:off x="7269480" y="3410712"/>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Dynamic named range</a:t>
            </a:r>
            <a:endParaRPr lang="en-US" sz="950" dirty="0"/>
          </a:p>
        </p:txBody>
      </p:sp>
      <p:sp>
        <p:nvSpPr>
          <p:cNvPr id="31" name="Text 29"/>
          <p:cNvSpPr/>
          <p:nvPr/>
        </p:nvSpPr>
        <p:spPr>
          <a:xfrm>
            <a:off x="9266530" y="3410712"/>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=OFFSET(Sheet1!$A$1, 0, 0, COUNTA(Sheet1!$A:$A), 1) creates a name that expands automatically as data grows.</a:t>
            </a:r>
            <a:endParaRPr lang="en-US" sz="1000" dirty="0"/>
          </a:p>
        </p:txBody>
      </p:sp>
      <p:sp>
        <p:nvSpPr>
          <p:cNvPr id="32" name="Shape 30"/>
          <p:cNvSpPr/>
          <p:nvPr/>
        </p:nvSpPr>
        <p:spPr>
          <a:xfrm>
            <a:off x="7178040" y="3950208"/>
            <a:ext cx="4754880" cy="585216"/>
          </a:xfrm>
          <a:prstGeom prst="rect">
            <a:avLst/>
          </a:prstGeom>
          <a:solidFill>
            <a:srgbClr val="141E36"/>
          </a:solidFill>
          <a:ln w="3810">
            <a:solidFill>
              <a:srgbClr val="1A2845"/>
            </a:solidFill>
            <a:prstDash val="solid"/>
          </a:ln>
        </p:spPr>
      </p:sp>
      <p:sp>
        <p:nvSpPr>
          <p:cNvPr id="33" name="Shape 31"/>
          <p:cNvSpPr/>
          <p:nvPr/>
        </p:nvSpPr>
        <p:spPr>
          <a:xfrm>
            <a:off x="9175090" y="3950208"/>
            <a:ext cx="18288" cy="585216"/>
          </a:xfrm>
          <a:prstGeom prst="rect">
            <a:avLst/>
          </a:prstGeom>
          <a:solidFill>
            <a:srgbClr val="1E293B"/>
          </a:solidFill>
          <a:ln w="12700">
            <a:solidFill>
              <a:srgbClr val="1E293B"/>
            </a:solidFill>
            <a:prstDash val="solid"/>
          </a:ln>
        </p:spPr>
      </p:sp>
      <p:sp>
        <p:nvSpPr>
          <p:cNvPr id="34" name="Text 32"/>
          <p:cNvSpPr/>
          <p:nvPr/>
        </p:nvSpPr>
        <p:spPr>
          <a:xfrm>
            <a:off x="7269480" y="3995928"/>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Use in data validation</a:t>
            </a:r>
            <a:endParaRPr lang="en-US" sz="950" dirty="0"/>
          </a:p>
        </p:txBody>
      </p:sp>
      <p:sp>
        <p:nvSpPr>
          <p:cNvPr id="35" name="Text 33"/>
          <p:cNvSpPr/>
          <p:nvPr/>
        </p:nvSpPr>
        <p:spPr>
          <a:xfrm>
            <a:off x="9266530" y="3995928"/>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Enter a name in Data Validation -&amp;gt; Source: =RegionList. Changing the range updates all dropdowns using that name.</a:t>
            </a:r>
            <a:endParaRPr lang="en-US" sz="1000" dirty="0"/>
          </a:p>
        </p:txBody>
      </p:sp>
      <p:sp>
        <p:nvSpPr>
          <p:cNvPr id="36" name="Shape 34"/>
          <p:cNvSpPr/>
          <p:nvPr/>
        </p:nvSpPr>
        <p:spPr>
          <a:xfrm>
            <a:off x="7178040" y="4535424"/>
            <a:ext cx="4754880" cy="585216"/>
          </a:xfrm>
          <a:prstGeom prst="rect">
            <a:avLst/>
          </a:prstGeom>
          <a:solidFill>
            <a:srgbClr val="0F1D3C"/>
          </a:solidFill>
          <a:ln w="3810">
            <a:solidFill>
              <a:srgbClr val="1A2845"/>
            </a:solidFill>
            <a:prstDash val="solid"/>
          </a:ln>
        </p:spPr>
      </p:sp>
      <p:sp>
        <p:nvSpPr>
          <p:cNvPr id="37" name="Shape 35"/>
          <p:cNvSpPr/>
          <p:nvPr/>
        </p:nvSpPr>
        <p:spPr>
          <a:xfrm>
            <a:off x="9175090" y="4535424"/>
            <a:ext cx="18288" cy="585216"/>
          </a:xfrm>
          <a:prstGeom prst="rect">
            <a:avLst/>
          </a:prstGeom>
          <a:solidFill>
            <a:srgbClr val="1E293B"/>
          </a:solidFill>
          <a:ln w="12700">
            <a:solidFill>
              <a:srgbClr val="1E293B"/>
            </a:solidFill>
            <a:prstDash val="solid"/>
          </a:ln>
        </p:spPr>
      </p:sp>
      <p:sp>
        <p:nvSpPr>
          <p:cNvPr id="38" name="Text 36"/>
          <p:cNvSpPr/>
          <p:nvPr/>
        </p:nvSpPr>
        <p:spPr>
          <a:xfrm>
            <a:off x="7269480" y="4581144"/>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Use in formulas</a:t>
            </a:r>
            <a:endParaRPr lang="en-US" sz="950" dirty="0"/>
          </a:p>
        </p:txBody>
      </p:sp>
      <p:sp>
        <p:nvSpPr>
          <p:cNvPr id="39" name="Text 37"/>
          <p:cNvSpPr/>
          <p:nvPr/>
        </p:nvSpPr>
        <p:spPr>
          <a:xfrm>
            <a:off x="9266530" y="4581144"/>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=SUMIF(Regions,"Lagos",Sales) is far more readable than =SUMIF(Config!$A$2:$A$7,"Lagos",Sales!$C$2:$C$500).</a:t>
            </a:r>
            <a:endParaRPr lang="en-US" sz="1000" dirty="0"/>
          </a:p>
        </p:txBody>
      </p:sp>
      <p:sp>
        <p:nvSpPr>
          <p:cNvPr id="40" name="Shape 38"/>
          <p:cNvSpPr/>
          <p:nvPr/>
        </p:nvSpPr>
        <p:spPr>
          <a:xfrm>
            <a:off x="411480" y="4773168"/>
            <a:ext cx="6583680" cy="1938528"/>
          </a:xfrm>
          <a:prstGeom prst="roundRect">
            <a:avLst>
              <a:gd name="adj" fmla="val 4717"/>
            </a:avLst>
          </a:prstGeom>
          <a:solidFill>
            <a:srgbClr val="0D1117"/>
          </a:solidFill>
          <a:ln w="16510">
            <a:solidFill>
              <a:srgbClr val="217346"/>
            </a:solidFill>
            <a:prstDash val="solid"/>
          </a:ln>
          <a:effectLst>
            <a:outerShdw sx="100000" sy="100000" kx="0" ky="0" algn="bl" rotWithShape="0" blurRad="127000" dist="50800" dir="2700000">
              <a:srgbClr val="000000">
                <a:alpha val="20000"/>
              </a:srgbClr>
            </a:outerShdw>
          </a:effectLst>
        </p:spPr>
      </p:sp>
      <p:sp>
        <p:nvSpPr>
          <p:cNvPr id="41" name="Shape 39"/>
          <p:cNvSpPr/>
          <p:nvPr/>
        </p:nvSpPr>
        <p:spPr>
          <a:xfrm>
            <a:off x="411480" y="4773168"/>
            <a:ext cx="6583680" cy="329184"/>
          </a:xfrm>
          <a:prstGeom prst="roundRect">
            <a:avLst>
              <a:gd name="adj" fmla="val 27778"/>
            </a:avLst>
          </a:prstGeom>
          <a:solidFill>
            <a:srgbClr val="111E35"/>
          </a:solidFill>
          <a:ln w="12700">
            <a:solidFill>
              <a:srgbClr val="111E35"/>
            </a:solidFill>
            <a:prstDash val="solid"/>
          </a:ln>
        </p:spPr>
      </p:sp>
      <p:sp>
        <p:nvSpPr>
          <p:cNvPr id="42" name="Shape 40"/>
          <p:cNvSpPr/>
          <p:nvPr/>
        </p:nvSpPr>
        <p:spPr>
          <a:xfrm>
            <a:off x="411480" y="4956048"/>
            <a:ext cx="6583680" cy="146304"/>
          </a:xfrm>
          <a:prstGeom prst="rect">
            <a:avLst/>
          </a:prstGeom>
          <a:solidFill>
            <a:srgbClr val="111E35"/>
          </a:solidFill>
          <a:ln w="12700">
            <a:solidFill>
              <a:srgbClr val="111E35"/>
            </a:solidFill>
            <a:prstDash val="solid"/>
          </a:ln>
        </p:spPr>
      </p:sp>
      <p:sp>
        <p:nvSpPr>
          <p:cNvPr id="43" name="Shape 41"/>
          <p:cNvSpPr/>
          <p:nvPr/>
        </p:nvSpPr>
        <p:spPr>
          <a:xfrm>
            <a:off x="539496" y="4864608"/>
            <a:ext cx="146304" cy="146304"/>
          </a:xfrm>
          <a:prstGeom prst="ellipse">
            <a:avLst/>
          </a:prstGeom>
          <a:solidFill>
            <a:srgbClr val="F43F5E"/>
          </a:solidFill>
          <a:ln w="12700">
            <a:solidFill>
              <a:srgbClr val="F43F5E"/>
            </a:solidFill>
            <a:prstDash val="solid"/>
          </a:ln>
        </p:spPr>
      </p:sp>
      <p:sp>
        <p:nvSpPr>
          <p:cNvPr id="44" name="Shape 42"/>
          <p:cNvSpPr/>
          <p:nvPr/>
        </p:nvSpPr>
        <p:spPr>
          <a:xfrm>
            <a:off x="740664" y="4864608"/>
            <a:ext cx="146304" cy="146304"/>
          </a:xfrm>
          <a:prstGeom prst="ellipse">
            <a:avLst/>
          </a:prstGeom>
          <a:solidFill>
            <a:srgbClr val="F59E0B"/>
          </a:solidFill>
          <a:ln w="12700">
            <a:solidFill>
              <a:srgbClr val="F59E0B"/>
            </a:solidFill>
            <a:prstDash val="solid"/>
          </a:ln>
        </p:spPr>
      </p:sp>
      <p:sp>
        <p:nvSpPr>
          <p:cNvPr id="45" name="Shape 43"/>
          <p:cNvSpPr/>
          <p:nvPr/>
        </p:nvSpPr>
        <p:spPr>
          <a:xfrm>
            <a:off x="941832" y="4864608"/>
            <a:ext cx="146304" cy="146304"/>
          </a:xfrm>
          <a:prstGeom prst="ellipse">
            <a:avLst/>
          </a:prstGeom>
          <a:solidFill>
            <a:srgbClr val="70AD47"/>
          </a:solidFill>
          <a:ln w="12700">
            <a:solidFill>
              <a:srgbClr val="70AD47"/>
            </a:solidFill>
            <a:prstDash val="solid"/>
          </a:ln>
        </p:spPr>
      </p:sp>
      <p:sp>
        <p:nvSpPr>
          <p:cNvPr id="46" name="Text 44"/>
          <p:cNvSpPr/>
          <p:nvPr/>
        </p:nvSpPr>
        <p:spPr>
          <a:xfrm>
            <a:off x="1143000" y="4828032"/>
            <a:ext cx="566928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dynamic_name.xlsx</a:t>
            </a:r>
            <a:endParaRPr lang="en-US" sz="900" dirty="0"/>
          </a:p>
        </p:txBody>
      </p:sp>
      <p:sp>
        <p:nvSpPr>
          <p:cNvPr id="47" name="Text 45"/>
          <p:cNvSpPr/>
          <p:nvPr/>
        </p:nvSpPr>
        <p:spPr>
          <a:xfrm>
            <a:off x="557784" y="5157216"/>
            <a:ext cx="6309360" cy="1444752"/>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Dynamic Named Range (expands automatically)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Formulas -&amp;gt; Define Name -&amp;gt; Name: DynamicSales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Refers to: =OFFSET(Sheet1!$A$1, 0, 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COUNTA(Sheet1!$A:$A), 5)</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-&amp;gt; Range automatically includes all rows in A</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-&amp;gt; No need to update range when data grows</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60A14"/>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85C38"/>
          </a:solidFill>
          <a:ln w="12700">
            <a:solidFill>
              <a:srgbClr val="185C3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16. KEYBOARD SHORTCUTS - Work 3x Faster</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11338560" cy="539496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C1A38"/>
          </a:solidFill>
          <a:ln w="12700">
            <a:solidFill>
              <a:srgbClr val="0C1A3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17. DATA TOOLS - Sort, Filter, Remove Duplicates, Text to Columns</a:t>
            </a:r>
            <a:endParaRPr lang="en-US" sz="2600" dirty="0"/>
          </a:p>
        </p:txBody>
      </p:sp>
      <p:sp>
        <p:nvSpPr>
          <p:cNvPr id="4" name="Shape 2"/>
          <p:cNvSpPr/>
          <p:nvPr/>
        </p:nvSpPr>
        <p:spPr>
          <a:xfrm>
            <a:off x="411480" y="1024128"/>
            <a:ext cx="5943600" cy="5230368"/>
          </a:xfrm>
          <a:prstGeom prst="roundRect">
            <a:avLst>
              <a:gd name="adj" fmla="val 1748"/>
            </a:avLst>
          </a:prstGeom>
          <a:solidFill>
            <a:srgbClr val="0D1117"/>
          </a:solidFill>
          <a:ln w="16510">
            <a:solidFill>
              <a:srgbClr val="217346"/>
            </a:solidFill>
            <a:prstDash val="solid"/>
          </a:ln>
          <a:effectLst>
            <a:outerShdw sx="100000" sy="100000" kx="0" ky="0" algn="bl" rotWithShape="0" blurRad="127000" dist="50800" dir="2700000">
              <a:srgbClr val="000000">
                <a:alpha val="20000"/>
              </a:srgbClr>
            </a:outerShdw>
          </a:effectLst>
        </p:spPr>
      </p:sp>
      <p:sp>
        <p:nvSpPr>
          <p:cNvPr id="5" name="Shape 3"/>
          <p:cNvSpPr/>
          <p:nvPr/>
        </p:nvSpPr>
        <p:spPr>
          <a:xfrm>
            <a:off x="411480" y="1024128"/>
            <a:ext cx="5943600" cy="329184"/>
          </a:xfrm>
          <a:prstGeom prst="roundRect">
            <a:avLst>
              <a:gd name="adj" fmla="val 27778"/>
            </a:avLst>
          </a:prstGeom>
          <a:solidFill>
            <a:srgbClr val="111E35"/>
          </a:solidFill>
          <a:ln w="12700">
            <a:solidFill>
              <a:srgbClr val="111E35"/>
            </a:solidFill>
            <a:prstDash val="solid"/>
          </a:ln>
        </p:spPr>
      </p:sp>
      <p:sp>
        <p:nvSpPr>
          <p:cNvPr id="6" name="Shape 4"/>
          <p:cNvSpPr/>
          <p:nvPr/>
        </p:nvSpPr>
        <p:spPr>
          <a:xfrm>
            <a:off x="411480" y="1207008"/>
            <a:ext cx="5943600" cy="146304"/>
          </a:xfrm>
          <a:prstGeom prst="rect">
            <a:avLst/>
          </a:prstGeom>
          <a:solidFill>
            <a:srgbClr val="111E35"/>
          </a:solidFill>
          <a:ln w="12700">
            <a:solidFill>
              <a:srgbClr val="111E35"/>
            </a:solidFill>
            <a:prstDash val="solid"/>
          </a:ln>
        </p:spPr>
      </p:sp>
      <p:sp>
        <p:nvSpPr>
          <p:cNvPr id="7" name="Shape 5"/>
          <p:cNvSpPr/>
          <p:nvPr/>
        </p:nvSpPr>
        <p:spPr>
          <a:xfrm>
            <a:off x="539496" y="1115568"/>
            <a:ext cx="146304" cy="146304"/>
          </a:xfrm>
          <a:prstGeom prst="ellipse">
            <a:avLst/>
          </a:prstGeom>
          <a:solidFill>
            <a:srgbClr val="F43F5E"/>
          </a:solidFill>
          <a:ln w="12700">
            <a:solidFill>
              <a:srgbClr val="F43F5E"/>
            </a:solidFill>
            <a:prstDash val="solid"/>
          </a:ln>
        </p:spPr>
      </p:sp>
      <p:sp>
        <p:nvSpPr>
          <p:cNvPr id="8" name="Shape 6"/>
          <p:cNvSpPr/>
          <p:nvPr/>
        </p:nvSpPr>
        <p:spPr>
          <a:xfrm>
            <a:off x="740664" y="1115568"/>
            <a:ext cx="146304" cy="146304"/>
          </a:xfrm>
          <a:prstGeom prst="ellipse">
            <a:avLst/>
          </a:prstGeom>
          <a:solidFill>
            <a:srgbClr val="F59E0B"/>
          </a:solidFill>
          <a:ln w="12700">
            <a:solidFill>
              <a:srgbClr val="F59E0B"/>
            </a:solidFill>
            <a:prstDash val="solid"/>
          </a:ln>
        </p:spPr>
      </p:sp>
      <p:sp>
        <p:nvSpPr>
          <p:cNvPr id="9" name="Shape 7"/>
          <p:cNvSpPr/>
          <p:nvPr/>
        </p:nvSpPr>
        <p:spPr>
          <a:xfrm>
            <a:off x="941832" y="1115568"/>
            <a:ext cx="146304" cy="146304"/>
          </a:xfrm>
          <a:prstGeom prst="ellipse">
            <a:avLst/>
          </a:prstGeom>
          <a:solidFill>
            <a:srgbClr val="70AD47"/>
          </a:solidFill>
          <a:ln w="12700">
            <a:solidFill>
              <a:srgbClr val="70AD47"/>
            </a:solidFill>
            <a:prstDash val="solid"/>
          </a:ln>
        </p:spPr>
      </p:sp>
      <p:sp>
        <p:nvSpPr>
          <p:cNvPr id="10" name="Text 8"/>
          <p:cNvSpPr/>
          <p:nvPr/>
        </p:nvSpPr>
        <p:spPr>
          <a:xfrm>
            <a:off x="1143000" y="1078992"/>
            <a:ext cx="502920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data_tools.xlsx</a:t>
            </a:r>
            <a:endParaRPr lang="en-US" sz="900" dirty="0"/>
          </a:p>
        </p:txBody>
      </p:sp>
      <p:sp>
        <p:nvSpPr>
          <p:cNvPr id="11" name="Text 9"/>
          <p:cNvSpPr/>
          <p:nvPr/>
        </p:nvSpPr>
        <p:spPr>
          <a:xfrm>
            <a:off x="557784" y="1408176"/>
            <a:ext cx="5669280" cy="4736592"/>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Sort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Data -&amp;gt; Sort -&amp;gt; Sort By column -&amp;gt; Order</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Multi-level: Add Level for secondary sort</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Custom Order: Sort by Mon,Tue,Wed not A-Z</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AutoFilter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Data -&amp;gt; Filter (Ctrl+Shift+L toggles)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Click dropdown arrows on headers to filter</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Number Filters: Top 10, Greater Than, Between</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Text Filters: Contains, Begins With</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Date Filters: This Month, Last Quarter, Custom</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Clear all filters: Ctrl+Shift+L twice</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Remove Duplicates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Data -&amp;gt; Remove Duplicates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Select which columns to check for duplicates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Tip: Check all columns for exact duplicates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Tip: Check only ID column for key duplicates</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Text to Columns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Fix numbers stored as text: select col -&amp;gt;</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Data -&amp;gt; Text to Columns -&amp;gt; Finish</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Split First+Last name: delimiter = space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Split date formats: Delimited or Fixed Width</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Flash Fill (Ctrl+E)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Type the pattern in first row, press Ctrl+E</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Excel recognises pattern and fills remaining rows</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Example: A1=John Smith -&amp;gt; B1=J.Smith -&amp;gt; Ctrl+E</a:t>
            </a:r>
            <a:endParaRPr lang="en-US" sz="1050" dirty="0"/>
          </a:p>
        </p:txBody>
      </p:sp>
      <p:sp>
        <p:nvSpPr>
          <p:cNvPr id="12" name="Shape 10"/>
          <p:cNvSpPr/>
          <p:nvPr/>
        </p:nvSpPr>
        <p:spPr>
          <a:xfrm>
            <a:off x="6537960" y="1024128"/>
            <a:ext cx="5394960" cy="585216"/>
          </a:xfrm>
          <a:prstGeom prst="rect">
            <a:avLst/>
          </a:prstGeom>
          <a:solidFill>
            <a:srgbClr val="3B82F6"/>
          </a:solidFill>
          <a:ln w="3810">
            <a:solidFill>
              <a:srgbClr val="1A2845"/>
            </a:solidFill>
            <a:prstDash val="solid"/>
          </a:ln>
        </p:spPr>
      </p:sp>
      <p:sp>
        <p:nvSpPr>
          <p:cNvPr id="13" name="Shape 11"/>
          <p:cNvSpPr/>
          <p:nvPr/>
        </p:nvSpPr>
        <p:spPr>
          <a:xfrm>
            <a:off x="8803843" y="1024128"/>
            <a:ext cx="18288" cy="585216"/>
          </a:xfrm>
          <a:prstGeom prst="rect">
            <a:avLst/>
          </a:prstGeom>
          <a:solidFill>
            <a:srgbClr val="FFFFFF"/>
          </a:solidFill>
          <a:ln w="12700">
            <a:solidFill>
              <a:srgbClr val="FFFFFF"/>
            </a:solidFill>
            <a:prstDash val="solid"/>
          </a:ln>
        </p:spPr>
      </p:sp>
      <p:sp>
        <p:nvSpPr>
          <p:cNvPr id="14" name="Text 12"/>
          <p:cNvSpPr/>
          <p:nvPr/>
        </p:nvSpPr>
        <p:spPr>
          <a:xfrm>
            <a:off x="6629400" y="1069848"/>
            <a:ext cx="2137867" cy="493776"/>
          </a:xfrm>
          <a:prstGeom prst="rect">
            <a:avLst/>
          </a:prstGeom>
          <a:noFill/>
          <a:ln/>
        </p:spPr>
        <p:txBody>
          <a:bodyPr wrap="square" lIns="0" tIns="0" rIns="0" bIns="0" rtlCol="0" anchor="ctr"/>
          <a:lstStyle/>
          <a:p>
            <a:pPr indent="0" marL="0">
              <a:buNone/>
            </a:pPr>
            <a:r>
              <a:rPr lang="en-US" sz="1000" b="1" dirty="0">
                <a:solidFill>
                  <a:srgbClr val="FFFFFF"/>
                </a:solidFill>
                <a:latin typeface="Cambria" pitchFamily="34" charset="0"/>
                <a:ea typeface="Cambria" pitchFamily="34" charset="-122"/>
                <a:cs typeface="Cambria" pitchFamily="34" charset="-120"/>
              </a:rPr>
              <a:t>Tool</a:t>
            </a:r>
            <a:endParaRPr lang="en-US" sz="1000" dirty="0"/>
          </a:p>
        </p:txBody>
      </p:sp>
      <p:sp>
        <p:nvSpPr>
          <p:cNvPr id="15" name="Text 13"/>
          <p:cNvSpPr/>
          <p:nvPr/>
        </p:nvSpPr>
        <p:spPr>
          <a:xfrm>
            <a:off x="8895283" y="1069848"/>
            <a:ext cx="2946197" cy="49377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What It Does - When to Use</a:t>
            </a:r>
            <a:endParaRPr lang="en-US" sz="1000" dirty="0"/>
          </a:p>
        </p:txBody>
      </p:sp>
      <p:sp>
        <p:nvSpPr>
          <p:cNvPr id="16" name="Shape 14"/>
          <p:cNvSpPr/>
          <p:nvPr/>
        </p:nvSpPr>
        <p:spPr>
          <a:xfrm>
            <a:off x="6537960" y="1609344"/>
            <a:ext cx="5394960" cy="585216"/>
          </a:xfrm>
          <a:prstGeom prst="rect">
            <a:avLst/>
          </a:prstGeom>
          <a:solidFill>
            <a:srgbClr val="141E36"/>
          </a:solidFill>
          <a:ln w="3810">
            <a:solidFill>
              <a:srgbClr val="1A2845"/>
            </a:solidFill>
            <a:prstDash val="solid"/>
          </a:ln>
        </p:spPr>
      </p:sp>
      <p:sp>
        <p:nvSpPr>
          <p:cNvPr id="17" name="Shape 15"/>
          <p:cNvSpPr/>
          <p:nvPr/>
        </p:nvSpPr>
        <p:spPr>
          <a:xfrm>
            <a:off x="8803843" y="1609344"/>
            <a:ext cx="18288" cy="585216"/>
          </a:xfrm>
          <a:prstGeom prst="rect">
            <a:avLst/>
          </a:prstGeom>
          <a:solidFill>
            <a:srgbClr val="1E293B"/>
          </a:solidFill>
          <a:ln w="12700">
            <a:solidFill>
              <a:srgbClr val="1E293B"/>
            </a:solidFill>
            <a:prstDash val="solid"/>
          </a:ln>
        </p:spPr>
      </p:sp>
      <p:sp>
        <p:nvSpPr>
          <p:cNvPr id="18" name="Text 16"/>
          <p:cNvSpPr/>
          <p:nvPr/>
        </p:nvSpPr>
        <p:spPr>
          <a:xfrm>
            <a:off x="6629400" y="1655064"/>
            <a:ext cx="2137867"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Sort (A-Z, Z-A)</a:t>
            </a:r>
            <a:endParaRPr lang="en-US" sz="950" dirty="0"/>
          </a:p>
        </p:txBody>
      </p:sp>
      <p:sp>
        <p:nvSpPr>
          <p:cNvPr id="19" name="Text 17"/>
          <p:cNvSpPr/>
          <p:nvPr/>
        </p:nvSpPr>
        <p:spPr>
          <a:xfrm>
            <a:off x="8895283" y="1655064"/>
            <a:ext cx="2946197"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Reorders rows based on one or more columns. Multi-level sort: first by Region, then by Product within each region.</a:t>
            </a:r>
            <a:endParaRPr lang="en-US" sz="1000" dirty="0"/>
          </a:p>
        </p:txBody>
      </p:sp>
      <p:sp>
        <p:nvSpPr>
          <p:cNvPr id="20" name="Shape 18"/>
          <p:cNvSpPr/>
          <p:nvPr/>
        </p:nvSpPr>
        <p:spPr>
          <a:xfrm>
            <a:off x="6537960" y="2194560"/>
            <a:ext cx="5394960" cy="585216"/>
          </a:xfrm>
          <a:prstGeom prst="rect">
            <a:avLst/>
          </a:prstGeom>
          <a:solidFill>
            <a:srgbClr val="0F1D3C"/>
          </a:solidFill>
          <a:ln w="3810">
            <a:solidFill>
              <a:srgbClr val="1A2845"/>
            </a:solidFill>
            <a:prstDash val="solid"/>
          </a:ln>
        </p:spPr>
      </p:sp>
      <p:sp>
        <p:nvSpPr>
          <p:cNvPr id="21" name="Shape 19"/>
          <p:cNvSpPr/>
          <p:nvPr/>
        </p:nvSpPr>
        <p:spPr>
          <a:xfrm>
            <a:off x="8803843" y="2194560"/>
            <a:ext cx="18288" cy="585216"/>
          </a:xfrm>
          <a:prstGeom prst="rect">
            <a:avLst/>
          </a:prstGeom>
          <a:solidFill>
            <a:srgbClr val="1E293B"/>
          </a:solidFill>
          <a:ln w="12700">
            <a:solidFill>
              <a:srgbClr val="1E293B"/>
            </a:solidFill>
            <a:prstDash val="solid"/>
          </a:ln>
        </p:spPr>
      </p:sp>
      <p:sp>
        <p:nvSpPr>
          <p:cNvPr id="22" name="Text 20"/>
          <p:cNvSpPr/>
          <p:nvPr/>
        </p:nvSpPr>
        <p:spPr>
          <a:xfrm>
            <a:off x="6629400" y="2240280"/>
            <a:ext cx="2137867"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AutoFilter</a:t>
            </a:r>
            <a:endParaRPr lang="en-US" sz="950" dirty="0"/>
          </a:p>
        </p:txBody>
      </p:sp>
      <p:sp>
        <p:nvSpPr>
          <p:cNvPr id="23" name="Text 21"/>
          <p:cNvSpPr/>
          <p:nvPr/>
        </p:nvSpPr>
        <p:spPr>
          <a:xfrm>
            <a:off x="8895283" y="2240280"/>
            <a:ext cx="2946197"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Adds dropdown arrows to headers. Click to filter by value, condition, or custom criteria. Only matching rows shown. Others hidden (not deleted).</a:t>
            </a:r>
            <a:endParaRPr lang="en-US" sz="1000" dirty="0"/>
          </a:p>
        </p:txBody>
      </p:sp>
      <p:sp>
        <p:nvSpPr>
          <p:cNvPr id="24" name="Shape 22"/>
          <p:cNvSpPr/>
          <p:nvPr/>
        </p:nvSpPr>
        <p:spPr>
          <a:xfrm>
            <a:off x="6537960" y="2779776"/>
            <a:ext cx="5394960" cy="585216"/>
          </a:xfrm>
          <a:prstGeom prst="rect">
            <a:avLst/>
          </a:prstGeom>
          <a:solidFill>
            <a:srgbClr val="141E36"/>
          </a:solidFill>
          <a:ln w="3810">
            <a:solidFill>
              <a:srgbClr val="1A2845"/>
            </a:solidFill>
            <a:prstDash val="solid"/>
          </a:ln>
        </p:spPr>
      </p:sp>
      <p:sp>
        <p:nvSpPr>
          <p:cNvPr id="25" name="Shape 23"/>
          <p:cNvSpPr/>
          <p:nvPr/>
        </p:nvSpPr>
        <p:spPr>
          <a:xfrm>
            <a:off x="8803843" y="2779776"/>
            <a:ext cx="18288" cy="585216"/>
          </a:xfrm>
          <a:prstGeom prst="rect">
            <a:avLst/>
          </a:prstGeom>
          <a:solidFill>
            <a:srgbClr val="1E293B"/>
          </a:solidFill>
          <a:ln w="12700">
            <a:solidFill>
              <a:srgbClr val="1E293B"/>
            </a:solidFill>
            <a:prstDash val="solid"/>
          </a:ln>
        </p:spPr>
      </p:sp>
      <p:sp>
        <p:nvSpPr>
          <p:cNvPr id="26" name="Text 24"/>
          <p:cNvSpPr/>
          <p:nvPr/>
        </p:nvSpPr>
        <p:spPr>
          <a:xfrm>
            <a:off x="6629400" y="2825496"/>
            <a:ext cx="2137867"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Advanced Filter</a:t>
            </a:r>
            <a:endParaRPr lang="en-US" sz="950" dirty="0"/>
          </a:p>
        </p:txBody>
      </p:sp>
      <p:sp>
        <p:nvSpPr>
          <p:cNvPr id="27" name="Text 25"/>
          <p:cNvSpPr/>
          <p:nvPr/>
        </p:nvSpPr>
        <p:spPr>
          <a:xfrm>
            <a:off x="8895283" y="2825496"/>
            <a:ext cx="2946197"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Data -&amp;gt; Advanced. Filter to a different location. Filter by complex criteria in a separate criteria range. Extract unique values.</a:t>
            </a:r>
            <a:endParaRPr lang="en-US" sz="1000" dirty="0"/>
          </a:p>
        </p:txBody>
      </p:sp>
      <p:sp>
        <p:nvSpPr>
          <p:cNvPr id="28" name="Shape 26"/>
          <p:cNvSpPr/>
          <p:nvPr/>
        </p:nvSpPr>
        <p:spPr>
          <a:xfrm>
            <a:off x="6537960" y="3364992"/>
            <a:ext cx="5394960" cy="585216"/>
          </a:xfrm>
          <a:prstGeom prst="rect">
            <a:avLst/>
          </a:prstGeom>
          <a:solidFill>
            <a:srgbClr val="0F1D3C"/>
          </a:solidFill>
          <a:ln w="3810">
            <a:solidFill>
              <a:srgbClr val="1A2845"/>
            </a:solidFill>
            <a:prstDash val="solid"/>
          </a:ln>
        </p:spPr>
      </p:sp>
      <p:sp>
        <p:nvSpPr>
          <p:cNvPr id="29" name="Shape 27"/>
          <p:cNvSpPr/>
          <p:nvPr/>
        </p:nvSpPr>
        <p:spPr>
          <a:xfrm>
            <a:off x="8803843" y="3364992"/>
            <a:ext cx="18288" cy="585216"/>
          </a:xfrm>
          <a:prstGeom prst="rect">
            <a:avLst/>
          </a:prstGeom>
          <a:solidFill>
            <a:srgbClr val="1E293B"/>
          </a:solidFill>
          <a:ln w="12700">
            <a:solidFill>
              <a:srgbClr val="1E293B"/>
            </a:solidFill>
            <a:prstDash val="solid"/>
          </a:ln>
        </p:spPr>
      </p:sp>
      <p:sp>
        <p:nvSpPr>
          <p:cNvPr id="30" name="Text 28"/>
          <p:cNvSpPr/>
          <p:nvPr/>
        </p:nvSpPr>
        <p:spPr>
          <a:xfrm>
            <a:off x="6629400" y="3410712"/>
            <a:ext cx="2137867"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Remove Duplicates</a:t>
            </a:r>
            <a:endParaRPr lang="en-US" sz="950" dirty="0"/>
          </a:p>
        </p:txBody>
      </p:sp>
      <p:sp>
        <p:nvSpPr>
          <p:cNvPr id="31" name="Text 29"/>
          <p:cNvSpPr/>
          <p:nvPr/>
        </p:nvSpPr>
        <p:spPr>
          <a:xfrm>
            <a:off x="8895283" y="3410712"/>
            <a:ext cx="2946197"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Permanently deletes duplicate rows. Always copy data first. Choose columns to define what 'duplicate' means - just the ID? All columns?</a:t>
            </a:r>
            <a:endParaRPr lang="en-US" sz="1000" dirty="0"/>
          </a:p>
        </p:txBody>
      </p:sp>
      <p:sp>
        <p:nvSpPr>
          <p:cNvPr id="32" name="Shape 30"/>
          <p:cNvSpPr/>
          <p:nvPr/>
        </p:nvSpPr>
        <p:spPr>
          <a:xfrm>
            <a:off x="6537960" y="3950208"/>
            <a:ext cx="5394960" cy="585216"/>
          </a:xfrm>
          <a:prstGeom prst="rect">
            <a:avLst/>
          </a:prstGeom>
          <a:solidFill>
            <a:srgbClr val="141E36"/>
          </a:solidFill>
          <a:ln w="3810">
            <a:solidFill>
              <a:srgbClr val="1A2845"/>
            </a:solidFill>
            <a:prstDash val="solid"/>
          </a:ln>
        </p:spPr>
      </p:sp>
      <p:sp>
        <p:nvSpPr>
          <p:cNvPr id="33" name="Shape 31"/>
          <p:cNvSpPr/>
          <p:nvPr/>
        </p:nvSpPr>
        <p:spPr>
          <a:xfrm>
            <a:off x="8803843" y="3950208"/>
            <a:ext cx="18288" cy="585216"/>
          </a:xfrm>
          <a:prstGeom prst="rect">
            <a:avLst/>
          </a:prstGeom>
          <a:solidFill>
            <a:srgbClr val="1E293B"/>
          </a:solidFill>
          <a:ln w="12700">
            <a:solidFill>
              <a:srgbClr val="1E293B"/>
            </a:solidFill>
            <a:prstDash val="solid"/>
          </a:ln>
        </p:spPr>
      </p:sp>
      <p:sp>
        <p:nvSpPr>
          <p:cNvPr id="34" name="Text 32"/>
          <p:cNvSpPr/>
          <p:nvPr/>
        </p:nvSpPr>
        <p:spPr>
          <a:xfrm>
            <a:off x="6629400" y="3995928"/>
            <a:ext cx="2137867"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Text to Columns</a:t>
            </a:r>
            <a:endParaRPr lang="en-US" sz="950" dirty="0"/>
          </a:p>
        </p:txBody>
      </p:sp>
      <p:sp>
        <p:nvSpPr>
          <p:cNvPr id="35" name="Text 33"/>
          <p:cNvSpPr/>
          <p:nvPr/>
        </p:nvSpPr>
        <p:spPr>
          <a:xfrm>
            <a:off x="8895283" y="3995928"/>
            <a:ext cx="2946197"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Splits one column into multiple OR fixes numbers stored as text (run with no delimiter, just click Finish). Also converts date formats.</a:t>
            </a:r>
            <a:endParaRPr lang="en-US" sz="1000" dirty="0"/>
          </a:p>
        </p:txBody>
      </p:sp>
      <p:sp>
        <p:nvSpPr>
          <p:cNvPr id="36" name="Shape 34"/>
          <p:cNvSpPr/>
          <p:nvPr/>
        </p:nvSpPr>
        <p:spPr>
          <a:xfrm>
            <a:off x="6537960" y="4535424"/>
            <a:ext cx="5394960" cy="585216"/>
          </a:xfrm>
          <a:prstGeom prst="rect">
            <a:avLst/>
          </a:prstGeom>
          <a:solidFill>
            <a:srgbClr val="0F1D3C"/>
          </a:solidFill>
          <a:ln w="3810">
            <a:solidFill>
              <a:srgbClr val="1A2845"/>
            </a:solidFill>
            <a:prstDash val="solid"/>
          </a:ln>
        </p:spPr>
      </p:sp>
      <p:sp>
        <p:nvSpPr>
          <p:cNvPr id="37" name="Shape 35"/>
          <p:cNvSpPr/>
          <p:nvPr/>
        </p:nvSpPr>
        <p:spPr>
          <a:xfrm>
            <a:off x="8803843" y="4535424"/>
            <a:ext cx="18288" cy="585216"/>
          </a:xfrm>
          <a:prstGeom prst="rect">
            <a:avLst/>
          </a:prstGeom>
          <a:solidFill>
            <a:srgbClr val="1E293B"/>
          </a:solidFill>
          <a:ln w="12700">
            <a:solidFill>
              <a:srgbClr val="1E293B"/>
            </a:solidFill>
            <a:prstDash val="solid"/>
          </a:ln>
        </p:spPr>
      </p:sp>
      <p:sp>
        <p:nvSpPr>
          <p:cNvPr id="38" name="Text 36"/>
          <p:cNvSpPr/>
          <p:nvPr/>
        </p:nvSpPr>
        <p:spPr>
          <a:xfrm>
            <a:off x="6629400" y="4581144"/>
            <a:ext cx="2137867"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Flash Fill (Ctrl+E)</a:t>
            </a:r>
            <a:endParaRPr lang="en-US" sz="950" dirty="0"/>
          </a:p>
        </p:txBody>
      </p:sp>
      <p:sp>
        <p:nvSpPr>
          <p:cNvPr id="39" name="Text 37"/>
          <p:cNvSpPr/>
          <p:nvPr/>
        </p:nvSpPr>
        <p:spPr>
          <a:xfrm>
            <a:off x="8895283" y="4581144"/>
            <a:ext cx="2946197"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Pattern-matching fill. Show Excel one example (e.g. extract first name from full name) and press Ctrl+E. Excel fills the pattern for all rows.</a:t>
            </a:r>
            <a:endParaRPr lang="en-US" sz="1000" dirty="0"/>
          </a:p>
        </p:txBody>
      </p:sp>
      <p:sp>
        <p:nvSpPr>
          <p:cNvPr id="40" name="Shape 38"/>
          <p:cNvSpPr/>
          <p:nvPr/>
        </p:nvSpPr>
        <p:spPr>
          <a:xfrm>
            <a:off x="6537960" y="5120640"/>
            <a:ext cx="5394960" cy="585216"/>
          </a:xfrm>
          <a:prstGeom prst="rect">
            <a:avLst/>
          </a:prstGeom>
          <a:solidFill>
            <a:srgbClr val="141E36"/>
          </a:solidFill>
          <a:ln w="3810">
            <a:solidFill>
              <a:srgbClr val="1A2845"/>
            </a:solidFill>
            <a:prstDash val="solid"/>
          </a:ln>
        </p:spPr>
      </p:sp>
      <p:sp>
        <p:nvSpPr>
          <p:cNvPr id="41" name="Shape 39"/>
          <p:cNvSpPr/>
          <p:nvPr/>
        </p:nvSpPr>
        <p:spPr>
          <a:xfrm>
            <a:off x="8803843" y="5120640"/>
            <a:ext cx="18288" cy="585216"/>
          </a:xfrm>
          <a:prstGeom prst="rect">
            <a:avLst/>
          </a:prstGeom>
          <a:solidFill>
            <a:srgbClr val="1E293B"/>
          </a:solidFill>
          <a:ln w="12700">
            <a:solidFill>
              <a:srgbClr val="1E293B"/>
            </a:solidFill>
            <a:prstDash val="solid"/>
          </a:ln>
        </p:spPr>
      </p:sp>
      <p:sp>
        <p:nvSpPr>
          <p:cNvPr id="42" name="Text 40"/>
          <p:cNvSpPr/>
          <p:nvPr/>
        </p:nvSpPr>
        <p:spPr>
          <a:xfrm>
            <a:off x="6629400" y="5166360"/>
            <a:ext cx="2137867"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Subtotals</a:t>
            </a:r>
            <a:endParaRPr lang="en-US" sz="950" dirty="0"/>
          </a:p>
        </p:txBody>
      </p:sp>
      <p:sp>
        <p:nvSpPr>
          <p:cNvPr id="43" name="Text 41"/>
          <p:cNvSpPr/>
          <p:nvPr/>
        </p:nvSpPr>
        <p:spPr>
          <a:xfrm>
            <a:off x="8895283" y="5166360"/>
            <a:ext cx="2946197"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Data -&amp;gt; Subtotals. Adds automatic sum/count/average rows when the Sort column changes. Creates collapsible outline groups.</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60A14"/>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85C38"/>
          </a:solidFill>
          <a:ln w="12700">
            <a:solidFill>
              <a:srgbClr val="185C3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18. POWER QUERY - Automate Data Import and Cleaning</a:t>
            </a:r>
            <a:endParaRPr lang="en-US" sz="2600" dirty="0"/>
          </a:p>
        </p:txBody>
      </p:sp>
      <p:sp>
        <p:nvSpPr>
          <p:cNvPr id="4" name="Shape 2"/>
          <p:cNvSpPr/>
          <p:nvPr/>
        </p:nvSpPr>
        <p:spPr>
          <a:xfrm>
            <a:off x="411480" y="1024128"/>
            <a:ext cx="6583680" cy="5230368"/>
          </a:xfrm>
          <a:prstGeom prst="roundRect">
            <a:avLst>
              <a:gd name="adj" fmla="val 1748"/>
            </a:avLst>
          </a:prstGeom>
          <a:solidFill>
            <a:srgbClr val="0D1117"/>
          </a:solidFill>
          <a:ln w="16510">
            <a:solidFill>
              <a:srgbClr val="217346"/>
            </a:solidFill>
            <a:prstDash val="solid"/>
          </a:ln>
          <a:effectLst>
            <a:outerShdw sx="100000" sy="100000" kx="0" ky="0" algn="bl" rotWithShape="0" blurRad="127000" dist="50800" dir="2700000">
              <a:srgbClr val="000000">
                <a:alpha val="20000"/>
              </a:srgbClr>
            </a:outerShdw>
          </a:effectLst>
        </p:spPr>
      </p:sp>
      <p:sp>
        <p:nvSpPr>
          <p:cNvPr id="5" name="Shape 3"/>
          <p:cNvSpPr/>
          <p:nvPr/>
        </p:nvSpPr>
        <p:spPr>
          <a:xfrm>
            <a:off x="411480" y="1024128"/>
            <a:ext cx="6583680" cy="329184"/>
          </a:xfrm>
          <a:prstGeom prst="roundRect">
            <a:avLst>
              <a:gd name="adj" fmla="val 27778"/>
            </a:avLst>
          </a:prstGeom>
          <a:solidFill>
            <a:srgbClr val="111E35"/>
          </a:solidFill>
          <a:ln w="12700">
            <a:solidFill>
              <a:srgbClr val="111E35"/>
            </a:solidFill>
            <a:prstDash val="solid"/>
          </a:ln>
        </p:spPr>
      </p:sp>
      <p:sp>
        <p:nvSpPr>
          <p:cNvPr id="6" name="Shape 4"/>
          <p:cNvSpPr/>
          <p:nvPr/>
        </p:nvSpPr>
        <p:spPr>
          <a:xfrm>
            <a:off x="411480" y="1207008"/>
            <a:ext cx="6583680" cy="146304"/>
          </a:xfrm>
          <a:prstGeom prst="rect">
            <a:avLst/>
          </a:prstGeom>
          <a:solidFill>
            <a:srgbClr val="111E35"/>
          </a:solidFill>
          <a:ln w="12700">
            <a:solidFill>
              <a:srgbClr val="111E35"/>
            </a:solidFill>
            <a:prstDash val="solid"/>
          </a:ln>
        </p:spPr>
      </p:sp>
      <p:sp>
        <p:nvSpPr>
          <p:cNvPr id="7" name="Shape 5"/>
          <p:cNvSpPr/>
          <p:nvPr/>
        </p:nvSpPr>
        <p:spPr>
          <a:xfrm>
            <a:off x="539496" y="1115568"/>
            <a:ext cx="146304" cy="146304"/>
          </a:xfrm>
          <a:prstGeom prst="ellipse">
            <a:avLst/>
          </a:prstGeom>
          <a:solidFill>
            <a:srgbClr val="F43F5E"/>
          </a:solidFill>
          <a:ln w="12700">
            <a:solidFill>
              <a:srgbClr val="F43F5E"/>
            </a:solidFill>
            <a:prstDash val="solid"/>
          </a:ln>
        </p:spPr>
      </p:sp>
      <p:sp>
        <p:nvSpPr>
          <p:cNvPr id="8" name="Shape 6"/>
          <p:cNvSpPr/>
          <p:nvPr/>
        </p:nvSpPr>
        <p:spPr>
          <a:xfrm>
            <a:off x="740664" y="1115568"/>
            <a:ext cx="146304" cy="146304"/>
          </a:xfrm>
          <a:prstGeom prst="ellipse">
            <a:avLst/>
          </a:prstGeom>
          <a:solidFill>
            <a:srgbClr val="F59E0B"/>
          </a:solidFill>
          <a:ln w="12700">
            <a:solidFill>
              <a:srgbClr val="F59E0B"/>
            </a:solidFill>
            <a:prstDash val="solid"/>
          </a:ln>
        </p:spPr>
      </p:sp>
      <p:sp>
        <p:nvSpPr>
          <p:cNvPr id="9" name="Shape 7"/>
          <p:cNvSpPr/>
          <p:nvPr/>
        </p:nvSpPr>
        <p:spPr>
          <a:xfrm>
            <a:off x="941832" y="1115568"/>
            <a:ext cx="146304" cy="146304"/>
          </a:xfrm>
          <a:prstGeom prst="ellipse">
            <a:avLst/>
          </a:prstGeom>
          <a:solidFill>
            <a:srgbClr val="70AD47"/>
          </a:solidFill>
          <a:ln w="12700">
            <a:solidFill>
              <a:srgbClr val="70AD47"/>
            </a:solidFill>
            <a:prstDash val="solid"/>
          </a:ln>
        </p:spPr>
      </p:sp>
      <p:sp>
        <p:nvSpPr>
          <p:cNvPr id="10" name="Text 8"/>
          <p:cNvSpPr/>
          <p:nvPr/>
        </p:nvSpPr>
        <p:spPr>
          <a:xfrm>
            <a:off x="1143000" y="1078992"/>
            <a:ext cx="566928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power_query.xlsx</a:t>
            </a:r>
            <a:endParaRPr lang="en-US" sz="900" dirty="0"/>
          </a:p>
        </p:txBody>
      </p:sp>
      <p:sp>
        <p:nvSpPr>
          <p:cNvPr id="11" name="Text 9"/>
          <p:cNvSpPr/>
          <p:nvPr/>
        </p:nvSpPr>
        <p:spPr>
          <a:xfrm>
            <a:off x="557784" y="1408176"/>
            <a:ext cx="6309360" cy="4736592"/>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What is Power Query?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Power Query records every cleaning step as a query.</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When new data arrives, click Refresh - steps run again.</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Available: Data tab -&amp;gt; Get Data / Get and Transform</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Common Power Query Steps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1. Get Data -&amp;gt; From File -&amp;gt; From CSV/Excel</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2. Remove Columns: select col -&amp;gt; Right-click -&amp;gt; Remove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3. Filter Rows: click dropdown on column header</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4. Change Type: Transform -&amp;gt; Data Type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5. Add Column: Transform -&amp;gt; Custom Column</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6. Group By: Transform -&amp;gt; Group By</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7. Merge Queries: Home -&amp;gt; Merge Queries (like SQL JOIN)</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8. Append Queries: Home -&amp;gt; Append (stack tables)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9. Unpivot: Transform -&amp;gt; Unpivot Columns</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10. Close and Load -&amp;gt; To Table</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Key Power Query Advantages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Connects to CSV, Excel, Web, Database, SharePoint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M language is recorded automatically (no coding)</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Every step is reversible in the Applied Steps pane</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Refresh updates everything with one click</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Refresh All Data --</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Data tab -&amp;gt; Refresh All  (Ctrl+Alt+F5)</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Or: each query -&amp;gt; Right-click -&amp;gt; Refresh</a:t>
            </a:r>
            <a:endParaRPr lang="en-US" sz="1050" dirty="0"/>
          </a:p>
        </p:txBody>
      </p:sp>
      <p:sp>
        <p:nvSpPr>
          <p:cNvPr id="12" name="Shape 10"/>
          <p:cNvSpPr/>
          <p:nvPr/>
        </p:nvSpPr>
        <p:spPr>
          <a:xfrm>
            <a:off x="7360920" y="1024128"/>
            <a:ext cx="2359152" cy="2011680"/>
          </a:xfrm>
          <a:prstGeom prst="roundRect">
            <a:avLst>
              <a:gd name="adj" fmla="val 4545"/>
            </a:avLst>
          </a:prstGeom>
          <a:solidFill>
            <a:srgbClr val="111E35"/>
          </a:solidFill>
          <a:ln w="13970">
            <a:solidFill>
              <a:srgbClr val="217346"/>
            </a:solidFill>
            <a:prstDash val="solid"/>
          </a:ln>
          <a:effectLst>
            <a:outerShdw sx="100000" sy="100000" kx="0" ky="0" algn="bl" rotWithShape="0" blurRad="63500" dist="25400" dir="2700000">
              <a:srgbClr val="000000">
                <a:alpha val="12000"/>
              </a:srgbClr>
            </a:outerShdw>
          </a:effectLst>
        </p:spPr>
      </p:sp>
      <p:sp>
        <p:nvSpPr>
          <p:cNvPr id="13" name="Shape 11"/>
          <p:cNvSpPr/>
          <p:nvPr/>
        </p:nvSpPr>
        <p:spPr>
          <a:xfrm>
            <a:off x="7360920" y="1024128"/>
            <a:ext cx="2359152" cy="402336"/>
          </a:xfrm>
          <a:prstGeom prst="roundRect">
            <a:avLst>
              <a:gd name="adj" fmla="val 22727"/>
            </a:avLst>
          </a:prstGeom>
          <a:solidFill>
            <a:srgbClr val="217346"/>
          </a:solidFill>
          <a:ln w="12700">
            <a:solidFill>
              <a:srgbClr val="217346"/>
            </a:solidFill>
            <a:prstDash val="solid"/>
          </a:ln>
        </p:spPr>
      </p:sp>
      <p:sp>
        <p:nvSpPr>
          <p:cNvPr id="14" name="Shape 12"/>
          <p:cNvSpPr/>
          <p:nvPr/>
        </p:nvSpPr>
        <p:spPr>
          <a:xfrm>
            <a:off x="7360920" y="1261872"/>
            <a:ext cx="2359152" cy="164592"/>
          </a:xfrm>
          <a:prstGeom prst="rect">
            <a:avLst/>
          </a:prstGeom>
          <a:solidFill>
            <a:srgbClr val="217346"/>
          </a:solidFill>
          <a:ln w="12700">
            <a:solidFill>
              <a:srgbClr val="217346"/>
            </a:solidFill>
            <a:prstDash val="solid"/>
          </a:ln>
        </p:spPr>
      </p:sp>
      <p:sp>
        <p:nvSpPr>
          <p:cNvPr id="15" name="Text 13"/>
          <p:cNvSpPr/>
          <p:nvPr/>
        </p:nvSpPr>
        <p:spPr>
          <a:xfrm>
            <a:off x="7470648" y="1097280"/>
            <a:ext cx="2139696" cy="274320"/>
          </a:xfrm>
          <a:prstGeom prst="rect">
            <a:avLst/>
          </a:prstGeom>
          <a:noFill/>
          <a:ln/>
        </p:spPr>
        <p:txBody>
          <a:bodyPr wrap="square" lIns="0" tIns="0" rIns="0" bIns="0" rtlCol="0" anchor="ctr"/>
          <a:lstStyle/>
          <a:p>
            <a:pPr indent="0" marL="0">
              <a:buNone/>
            </a:pPr>
            <a:r>
              <a:rPr lang="en-US" sz="1100" b="1" dirty="0">
                <a:solidFill>
                  <a:srgbClr val="FFFFFF"/>
                </a:solidFill>
                <a:latin typeface="Cambria" pitchFamily="34" charset="0"/>
                <a:ea typeface="Cambria" pitchFamily="34" charset="-122"/>
                <a:cs typeface="Cambria" pitchFamily="34" charset="-120"/>
              </a:rPr>
              <a:t>vs. Manual cleaning</a:t>
            </a:r>
            <a:endParaRPr lang="en-US" sz="1100" dirty="0"/>
          </a:p>
        </p:txBody>
      </p:sp>
      <p:sp>
        <p:nvSpPr>
          <p:cNvPr id="16" name="Text 14"/>
          <p:cNvSpPr/>
          <p:nvPr/>
        </p:nvSpPr>
        <p:spPr>
          <a:xfrm>
            <a:off x="7470648" y="1499616"/>
            <a:ext cx="2139696" cy="1426464"/>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Manual: open CSV, delete columns, fix formats, save. Do it again next month. Power Query: set it up once, click Refresh each month. Saves hours.</a:t>
            </a:r>
            <a:endParaRPr lang="en-US" sz="1000" dirty="0"/>
          </a:p>
        </p:txBody>
      </p:sp>
      <p:sp>
        <p:nvSpPr>
          <p:cNvPr id="17" name="Shape 15"/>
          <p:cNvSpPr/>
          <p:nvPr/>
        </p:nvSpPr>
        <p:spPr>
          <a:xfrm>
            <a:off x="7360920" y="3200400"/>
            <a:ext cx="2359152" cy="2011680"/>
          </a:xfrm>
          <a:prstGeom prst="roundRect">
            <a:avLst>
              <a:gd name="adj" fmla="val 4545"/>
            </a:avLst>
          </a:prstGeom>
          <a:solidFill>
            <a:srgbClr val="111E35"/>
          </a:solidFill>
          <a:ln w="13970">
            <a:solidFill>
              <a:srgbClr val="3B82F6"/>
            </a:solidFill>
            <a:prstDash val="solid"/>
          </a:ln>
          <a:effectLst>
            <a:outerShdw sx="100000" sy="100000" kx="0" ky="0" algn="bl" rotWithShape="0" blurRad="63500" dist="25400" dir="2700000">
              <a:srgbClr val="000000">
                <a:alpha val="12000"/>
              </a:srgbClr>
            </a:outerShdw>
          </a:effectLst>
        </p:spPr>
      </p:sp>
      <p:sp>
        <p:nvSpPr>
          <p:cNvPr id="18" name="Shape 16"/>
          <p:cNvSpPr/>
          <p:nvPr/>
        </p:nvSpPr>
        <p:spPr>
          <a:xfrm>
            <a:off x="7360920" y="3200400"/>
            <a:ext cx="2359152" cy="402336"/>
          </a:xfrm>
          <a:prstGeom prst="roundRect">
            <a:avLst>
              <a:gd name="adj" fmla="val 22727"/>
            </a:avLst>
          </a:prstGeom>
          <a:solidFill>
            <a:srgbClr val="3B82F6"/>
          </a:solidFill>
          <a:ln w="12700">
            <a:solidFill>
              <a:srgbClr val="3B82F6"/>
            </a:solidFill>
            <a:prstDash val="solid"/>
          </a:ln>
        </p:spPr>
      </p:sp>
      <p:sp>
        <p:nvSpPr>
          <p:cNvPr id="19" name="Shape 17"/>
          <p:cNvSpPr/>
          <p:nvPr/>
        </p:nvSpPr>
        <p:spPr>
          <a:xfrm>
            <a:off x="7360920" y="3438144"/>
            <a:ext cx="2359152" cy="164592"/>
          </a:xfrm>
          <a:prstGeom prst="rect">
            <a:avLst/>
          </a:prstGeom>
          <a:solidFill>
            <a:srgbClr val="3B82F6"/>
          </a:solidFill>
          <a:ln w="12700">
            <a:solidFill>
              <a:srgbClr val="3B82F6"/>
            </a:solidFill>
            <a:prstDash val="solid"/>
          </a:ln>
        </p:spPr>
      </p:sp>
      <p:sp>
        <p:nvSpPr>
          <p:cNvPr id="20" name="Text 18"/>
          <p:cNvSpPr/>
          <p:nvPr/>
        </p:nvSpPr>
        <p:spPr>
          <a:xfrm>
            <a:off x="7470648" y="3273552"/>
            <a:ext cx="2139696" cy="274320"/>
          </a:xfrm>
          <a:prstGeom prst="rect">
            <a:avLst/>
          </a:prstGeom>
          <a:noFill/>
          <a:ln/>
        </p:spPr>
        <p:txBody>
          <a:bodyPr wrap="square" lIns="0" tIns="0" rIns="0" bIns="0" rtlCol="0" anchor="ctr"/>
          <a:lstStyle/>
          <a:p>
            <a:pPr indent="0" marL="0">
              <a:buNone/>
            </a:pPr>
            <a:r>
              <a:rPr lang="en-US" sz="1100" b="1" dirty="0">
                <a:solidFill>
                  <a:srgbClr val="FFFFFF"/>
                </a:solidFill>
                <a:latin typeface="Cambria" pitchFamily="34" charset="0"/>
                <a:ea typeface="Cambria" pitchFamily="34" charset="-122"/>
                <a:cs typeface="Cambria" pitchFamily="34" charset="-120"/>
              </a:rPr>
              <a:t>Merge = SQL JOIN</a:t>
            </a:r>
            <a:endParaRPr lang="en-US" sz="1100" dirty="0"/>
          </a:p>
        </p:txBody>
      </p:sp>
      <p:sp>
        <p:nvSpPr>
          <p:cNvPr id="21" name="Text 19"/>
          <p:cNvSpPr/>
          <p:nvPr/>
        </p:nvSpPr>
        <p:spPr>
          <a:xfrm>
            <a:off x="7470648" y="3675888"/>
            <a:ext cx="2139696" cy="1426464"/>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Home -&amp;gt; Merge Queries merges two tables on a common column. Choose: Left Outer, Inner, Full Outer. Same as VLOOKUP but more powerful.</a:t>
            </a:r>
            <a:endParaRPr lang="en-US" sz="1000" dirty="0"/>
          </a:p>
        </p:txBody>
      </p:sp>
      <p:sp>
        <p:nvSpPr>
          <p:cNvPr id="22" name="Shape 20"/>
          <p:cNvSpPr/>
          <p:nvPr/>
        </p:nvSpPr>
        <p:spPr>
          <a:xfrm>
            <a:off x="9829800" y="1024128"/>
            <a:ext cx="2359152" cy="2011680"/>
          </a:xfrm>
          <a:prstGeom prst="roundRect">
            <a:avLst>
              <a:gd name="adj" fmla="val 4545"/>
            </a:avLst>
          </a:prstGeom>
          <a:solidFill>
            <a:srgbClr val="111E35"/>
          </a:solidFill>
          <a:ln w="13970">
            <a:solidFill>
              <a:srgbClr val="8B5CF6"/>
            </a:solidFill>
            <a:prstDash val="solid"/>
          </a:ln>
          <a:effectLst>
            <a:outerShdw sx="100000" sy="100000" kx="0" ky="0" algn="bl" rotWithShape="0" blurRad="63500" dist="25400" dir="2700000">
              <a:srgbClr val="000000">
                <a:alpha val="12000"/>
              </a:srgbClr>
            </a:outerShdw>
          </a:effectLst>
        </p:spPr>
      </p:sp>
      <p:sp>
        <p:nvSpPr>
          <p:cNvPr id="23" name="Shape 21"/>
          <p:cNvSpPr/>
          <p:nvPr/>
        </p:nvSpPr>
        <p:spPr>
          <a:xfrm>
            <a:off x="9829800" y="1024128"/>
            <a:ext cx="2359152" cy="402336"/>
          </a:xfrm>
          <a:prstGeom prst="roundRect">
            <a:avLst>
              <a:gd name="adj" fmla="val 22727"/>
            </a:avLst>
          </a:prstGeom>
          <a:solidFill>
            <a:srgbClr val="8B5CF6"/>
          </a:solidFill>
          <a:ln w="12700">
            <a:solidFill>
              <a:srgbClr val="8B5CF6"/>
            </a:solidFill>
            <a:prstDash val="solid"/>
          </a:ln>
        </p:spPr>
      </p:sp>
      <p:sp>
        <p:nvSpPr>
          <p:cNvPr id="24" name="Shape 22"/>
          <p:cNvSpPr/>
          <p:nvPr/>
        </p:nvSpPr>
        <p:spPr>
          <a:xfrm>
            <a:off x="9829800" y="1261872"/>
            <a:ext cx="2359152" cy="164592"/>
          </a:xfrm>
          <a:prstGeom prst="rect">
            <a:avLst/>
          </a:prstGeom>
          <a:solidFill>
            <a:srgbClr val="8B5CF6"/>
          </a:solidFill>
          <a:ln w="12700">
            <a:solidFill>
              <a:srgbClr val="8B5CF6"/>
            </a:solidFill>
            <a:prstDash val="solid"/>
          </a:ln>
        </p:spPr>
      </p:sp>
      <p:sp>
        <p:nvSpPr>
          <p:cNvPr id="25" name="Text 23"/>
          <p:cNvSpPr/>
          <p:nvPr/>
        </p:nvSpPr>
        <p:spPr>
          <a:xfrm>
            <a:off x="9939528" y="1097280"/>
            <a:ext cx="2139696" cy="274320"/>
          </a:xfrm>
          <a:prstGeom prst="rect">
            <a:avLst/>
          </a:prstGeom>
          <a:noFill/>
          <a:ln/>
        </p:spPr>
        <p:txBody>
          <a:bodyPr wrap="square" lIns="0" tIns="0" rIns="0" bIns="0" rtlCol="0" anchor="ctr"/>
          <a:lstStyle/>
          <a:p>
            <a:pPr indent="0" marL="0">
              <a:buNone/>
            </a:pPr>
            <a:r>
              <a:rPr lang="en-US" sz="1100" b="1" dirty="0">
                <a:solidFill>
                  <a:srgbClr val="FFFFFF"/>
                </a:solidFill>
                <a:latin typeface="Cambria" pitchFamily="34" charset="0"/>
                <a:ea typeface="Cambria" pitchFamily="34" charset="-122"/>
                <a:cs typeface="Cambria" pitchFamily="34" charset="-120"/>
              </a:rPr>
              <a:t>Append = Stack rows</a:t>
            </a:r>
            <a:endParaRPr lang="en-US" sz="1100" dirty="0"/>
          </a:p>
        </p:txBody>
      </p:sp>
      <p:sp>
        <p:nvSpPr>
          <p:cNvPr id="26" name="Text 24"/>
          <p:cNvSpPr/>
          <p:nvPr/>
        </p:nvSpPr>
        <p:spPr>
          <a:xfrm>
            <a:off x="9939528" y="1499616"/>
            <a:ext cx="2139696" cy="1426464"/>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Home -&amp;gt; Append Queries stacks multiple tables vertically. Combine Jan, Feb, Mar files into one table automatically.</a:t>
            </a:r>
            <a:endParaRPr lang="en-US" sz="1000" dirty="0"/>
          </a:p>
        </p:txBody>
      </p:sp>
      <p:sp>
        <p:nvSpPr>
          <p:cNvPr id="27" name="Shape 25"/>
          <p:cNvSpPr/>
          <p:nvPr/>
        </p:nvSpPr>
        <p:spPr>
          <a:xfrm>
            <a:off x="9829800" y="3200400"/>
            <a:ext cx="2359152" cy="2011680"/>
          </a:xfrm>
          <a:prstGeom prst="roundRect">
            <a:avLst>
              <a:gd name="adj" fmla="val 4545"/>
            </a:avLst>
          </a:prstGeom>
          <a:solidFill>
            <a:srgbClr val="111E35"/>
          </a:solidFill>
          <a:ln w="13970">
            <a:solidFill>
              <a:srgbClr val="F59E0B"/>
            </a:solidFill>
            <a:prstDash val="solid"/>
          </a:ln>
          <a:effectLst>
            <a:outerShdw sx="100000" sy="100000" kx="0" ky="0" algn="bl" rotWithShape="0" blurRad="63500" dist="25400" dir="2700000">
              <a:srgbClr val="000000">
                <a:alpha val="12000"/>
              </a:srgbClr>
            </a:outerShdw>
          </a:effectLst>
        </p:spPr>
      </p:sp>
      <p:sp>
        <p:nvSpPr>
          <p:cNvPr id="28" name="Shape 26"/>
          <p:cNvSpPr/>
          <p:nvPr/>
        </p:nvSpPr>
        <p:spPr>
          <a:xfrm>
            <a:off x="9829800" y="3200400"/>
            <a:ext cx="2359152" cy="402336"/>
          </a:xfrm>
          <a:prstGeom prst="roundRect">
            <a:avLst>
              <a:gd name="adj" fmla="val 22727"/>
            </a:avLst>
          </a:prstGeom>
          <a:solidFill>
            <a:srgbClr val="F59E0B"/>
          </a:solidFill>
          <a:ln w="12700">
            <a:solidFill>
              <a:srgbClr val="F59E0B"/>
            </a:solidFill>
            <a:prstDash val="solid"/>
          </a:ln>
        </p:spPr>
      </p:sp>
      <p:sp>
        <p:nvSpPr>
          <p:cNvPr id="29" name="Shape 27"/>
          <p:cNvSpPr/>
          <p:nvPr/>
        </p:nvSpPr>
        <p:spPr>
          <a:xfrm>
            <a:off x="9829800" y="3438144"/>
            <a:ext cx="2359152" cy="164592"/>
          </a:xfrm>
          <a:prstGeom prst="rect">
            <a:avLst/>
          </a:prstGeom>
          <a:solidFill>
            <a:srgbClr val="F59E0B"/>
          </a:solidFill>
          <a:ln w="12700">
            <a:solidFill>
              <a:srgbClr val="F59E0B"/>
            </a:solidFill>
            <a:prstDash val="solid"/>
          </a:ln>
        </p:spPr>
      </p:sp>
      <p:sp>
        <p:nvSpPr>
          <p:cNvPr id="30" name="Text 28"/>
          <p:cNvSpPr/>
          <p:nvPr/>
        </p:nvSpPr>
        <p:spPr>
          <a:xfrm>
            <a:off x="9939528" y="3273552"/>
            <a:ext cx="2139696" cy="274320"/>
          </a:xfrm>
          <a:prstGeom prst="rect">
            <a:avLst/>
          </a:prstGeom>
          <a:noFill/>
          <a:ln/>
        </p:spPr>
        <p:txBody>
          <a:bodyPr wrap="square" lIns="0" tIns="0" rIns="0" bIns="0" rtlCol="0" anchor="ctr"/>
          <a:lstStyle/>
          <a:p>
            <a:pPr indent="0" marL="0">
              <a:buNone/>
            </a:pPr>
            <a:r>
              <a:rPr lang="en-US" sz="1100" b="1" dirty="0">
                <a:solidFill>
                  <a:srgbClr val="FFFFFF"/>
                </a:solidFill>
                <a:latin typeface="Cambria" pitchFamily="34" charset="0"/>
                <a:ea typeface="Cambria" pitchFamily="34" charset="-122"/>
                <a:cs typeface="Cambria" pitchFamily="34" charset="-120"/>
              </a:rPr>
              <a:t>Unpivot columns</a:t>
            </a:r>
            <a:endParaRPr lang="en-US" sz="1100" dirty="0"/>
          </a:p>
        </p:txBody>
      </p:sp>
      <p:sp>
        <p:nvSpPr>
          <p:cNvPr id="31" name="Text 29"/>
          <p:cNvSpPr/>
          <p:nvPr/>
        </p:nvSpPr>
        <p:spPr>
          <a:xfrm>
            <a:off x="9939528" y="3675888"/>
            <a:ext cx="2139696" cy="1426464"/>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Converts wide format (months as columns) to long format (one row per month). Required for PivotTables and Power BI.</a:t>
            </a:r>
            <a:endParaRPr lang="en-US" sz="1000" dirty="0"/>
          </a:p>
        </p:txBody>
      </p:sp>
      <p:sp>
        <p:nvSpPr>
          <p:cNvPr id="32" name="Shape 30"/>
          <p:cNvSpPr/>
          <p:nvPr/>
        </p:nvSpPr>
        <p:spPr>
          <a:xfrm>
            <a:off x="7178040" y="5193792"/>
            <a:ext cx="4754880" cy="1517904"/>
          </a:xfrm>
          <a:prstGeom prst="roundRect">
            <a:avLst>
              <a:gd name="adj" fmla="val 6024"/>
            </a:avLst>
          </a:prstGeom>
          <a:solidFill>
            <a:srgbClr val="0D1117"/>
          </a:solidFill>
          <a:ln w="16510">
            <a:solidFill>
              <a:srgbClr val="217346"/>
            </a:solidFill>
            <a:prstDash val="solid"/>
          </a:ln>
          <a:effectLst>
            <a:outerShdw sx="100000" sy="100000" kx="0" ky="0" algn="bl" rotWithShape="0" blurRad="127000" dist="50800" dir="2700000">
              <a:srgbClr val="000000">
                <a:alpha val="20000"/>
              </a:srgbClr>
            </a:outerShdw>
          </a:effectLst>
        </p:spPr>
      </p:sp>
      <p:sp>
        <p:nvSpPr>
          <p:cNvPr id="33" name="Shape 31"/>
          <p:cNvSpPr/>
          <p:nvPr/>
        </p:nvSpPr>
        <p:spPr>
          <a:xfrm>
            <a:off x="7178040" y="5193792"/>
            <a:ext cx="4754880" cy="329184"/>
          </a:xfrm>
          <a:prstGeom prst="roundRect">
            <a:avLst>
              <a:gd name="adj" fmla="val 27778"/>
            </a:avLst>
          </a:prstGeom>
          <a:solidFill>
            <a:srgbClr val="111E35"/>
          </a:solidFill>
          <a:ln w="12700">
            <a:solidFill>
              <a:srgbClr val="111E35"/>
            </a:solidFill>
            <a:prstDash val="solid"/>
          </a:ln>
        </p:spPr>
      </p:sp>
      <p:sp>
        <p:nvSpPr>
          <p:cNvPr id="34" name="Shape 32"/>
          <p:cNvSpPr/>
          <p:nvPr/>
        </p:nvSpPr>
        <p:spPr>
          <a:xfrm>
            <a:off x="7178040" y="5376672"/>
            <a:ext cx="4754880" cy="146304"/>
          </a:xfrm>
          <a:prstGeom prst="rect">
            <a:avLst/>
          </a:prstGeom>
          <a:solidFill>
            <a:srgbClr val="111E35"/>
          </a:solidFill>
          <a:ln w="12700">
            <a:solidFill>
              <a:srgbClr val="111E35"/>
            </a:solidFill>
            <a:prstDash val="solid"/>
          </a:ln>
        </p:spPr>
      </p:sp>
      <p:sp>
        <p:nvSpPr>
          <p:cNvPr id="35" name="Shape 33"/>
          <p:cNvSpPr/>
          <p:nvPr/>
        </p:nvSpPr>
        <p:spPr>
          <a:xfrm>
            <a:off x="7306056" y="5285232"/>
            <a:ext cx="146304" cy="146304"/>
          </a:xfrm>
          <a:prstGeom prst="ellipse">
            <a:avLst/>
          </a:prstGeom>
          <a:solidFill>
            <a:srgbClr val="F43F5E"/>
          </a:solidFill>
          <a:ln w="12700">
            <a:solidFill>
              <a:srgbClr val="F43F5E"/>
            </a:solidFill>
            <a:prstDash val="solid"/>
          </a:ln>
        </p:spPr>
      </p:sp>
      <p:sp>
        <p:nvSpPr>
          <p:cNvPr id="36" name="Shape 34"/>
          <p:cNvSpPr/>
          <p:nvPr/>
        </p:nvSpPr>
        <p:spPr>
          <a:xfrm>
            <a:off x="7507224" y="5285232"/>
            <a:ext cx="146304" cy="146304"/>
          </a:xfrm>
          <a:prstGeom prst="ellipse">
            <a:avLst/>
          </a:prstGeom>
          <a:solidFill>
            <a:srgbClr val="F59E0B"/>
          </a:solidFill>
          <a:ln w="12700">
            <a:solidFill>
              <a:srgbClr val="F59E0B"/>
            </a:solidFill>
            <a:prstDash val="solid"/>
          </a:ln>
        </p:spPr>
      </p:sp>
      <p:sp>
        <p:nvSpPr>
          <p:cNvPr id="37" name="Shape 35"/>
          <p:cNvSpPr/>
          <p:nvPr/>
        </p:nvSpPr>
        <p:spPr>
          <a:xfrm>
            <a:off x="7708392" y="5285232"/>
            <a:ext cx="146304" cy="146304"/>
          </a:xfrm>
          <a:prstGeom prst="ellipse">
            <a:avLst/>
          </a:prstGeom>
          <a:solidFill>
            <a:srgbClr val="70AD47"/>
          </a:solidFill>
          <a:ln w="12700">
            <a:solidFill>
              <a:srgbClr val="70AD47"/>
            </a:solidFill>
            <a:prstDash val="solid"/>
          </a:ln>
        </p:spPr>
      </p:sp>
      <p:sp>
        <p:nvSpPr>
          <p:cNvPr id="38" name="Text 36"/>
          <p:cNvSpPr/>
          <p:nvPr/>
        </p:nvSpPr>
        <p:spPr>
          <a:xfrm>
            <a:off x="7909560" y="5248656"/>
            <a:ext cx="384048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pq_when.xlsx</a:t>
            </a:r>
            <a:endParaRPr lang="en-US" sz="900" dirty="0"/>
          </a:p>
        </p:txBody>
      </p:sp>
      <p:sp>
        <p:nvSpPr>
          <p:cNvPr id="39" name="Text 37"/>
          <p:cNvSpPr/>
          <p:nvPr/>
        </p:nvSpPr>
        <p:spPr>
          <a:xfrm>
            <a:off x="7324344" y="5577840"/>
            <a:ext cx="4480560" cy="1024128"/>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When to use Power Query vs Formulas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FORMULAS: Dynamic calculations that update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with each cell change (real-time).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POWER QUERY: Batch data import/clean from</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external sources. Refresh = reprocess all.</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Both can work together in the same workbook.</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C1A38"/>
          </a:solidFill>
          <a:ln w="12700">
            <a:solidFill>
              <a:srgbClr val="0C1A3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19. WHAT-IF ANALYSIS - Scenarios, Goal Seek, Data Tables</a:t>
            </a:r>
            <a:endParaRPr lang="en-US" sz="2600" dirty="0"/>
          </a:p>
        </p:txBody>
      </p:sp>
      <p:sp>
        <p:nvSpPr>
          <p:cNvPr id="4" name="Shape 2"/>
          <p:cNvSpPr/>
          <p:nvPr/>
        </p:nvSpPr>
        <p:spPr>
          <a:xfrm>
            <a:off x="411480" y="1024128"/>
            <a:ext cx="6583680" cy="3986784"/>
          </a:xfrm>
          <a:prstGeom prst="roundRect">
            <a:avLst>
              <a:gd name="adj" fmla="val 2294"/>
            </a:avLst>
          </a:prstGeom>
          <a:solidFill>
            <a:srgbClr val="0D1117"/>
          </a:solidFill>
          <a:ln w="16510">
            <a:solidFill>
              <a:srgbClr val="217346"/>
            </a:solidFill>
            <a:prstDash val="solid"/>
          </a:ln>
          <a:effectLst>
            <a:outerShdw sx="100000" sy="100000" kx="0" ky="0" algn="bl" rotWithShape="0" blurRad="127000" dist="50800" dir="2700000">
              <a:srgbClr val="000000">
                <a:alpha val="20000"/>
              </a:srgbClr>
            </a:outerShdw>
          </a:effectLst>
        </p:spPr>
      </p:sp>
      <p:sp>
        <p:nvSpPr>
          <p:cNvPr id="5" name="Shape 3"/>
          <p:cNvSpPr/>
          <p:nvPr/>
        </p:nvSpPr>
        <p:spPr>
          <a:xfrm>
            <a:off x="411480" y="1024128"/>
            <a:ext cx="6583680" cy="329184"/>
          </a:xfrm>
          <a:prstGeom prst="roundRect">
            <a:avLst>
              <a:gd name="adj" fmla="val 27778"/>
            </a:avLst>
          </a:prstGeom>
          <a:solidFill>
            <a:srgbClr val="111E35"/>
          </a:solidFill>
          <a:ln w="12700">
            <a:solidFill>
              <a:srgbClr val="111E35"/>
            </a:solidFill>
            <a:prstDash val="solid"/>
          </a:ln>
        </p:spPr>
      </p:sp>
      <p:sp>
        <p:nvSpPr>
          <p:cNvPr id="6" name="Shape 4"/>
          <p:cNvSpPr/>
          <p:nvPr/>
        </p:nvSpPr>
        <p:spPr>
          <a:xfrm>
            <a:off x="411480" y="1207008"/>
            <a:ext cx="6583680" cy="146304"/>
          </a:xfrm>
          <a:prstGeom prst="rect">
            <a:avLst/>
          </a:prstGeom>
          <a:solidFill>
            <a:srgbClr val="111E35"/>
          </a:solidFill>
          <a:ln w="12700">
            <a:solidFill>
              <a:srgbClr val="111E35"/>
            </a:solidFill>
            <a:prstDash val="solid"/>
          </a:ln>
        </p:spPr>
      </p:sp>
      <p:sp>
        <p:nvSpPr>
          <p:cNvPr id="7" name="Shape 5"/>
          <p:cNvSpPr/>
          <p:nvPr/>
        </p:nvSpPr>
        <p:spPr>
          <a:xfrm>
            <a:off x="539496" y="1115568"/>
            <a:ext cx="146304" cy="146304"/>
          </a:xfrm>
          <a:prstGeom prst="ellipse">
            <a:avLst/>
          </a:prstGeom>
          <a:solidFill>
            <a:srgbClr val="F43F5E"/>
          </a:solidFill>
          <a:ln w="12700">
            <a:solidFill>
              <a:srgbClr val="F43F5E"/>
            </a:solidFill>
            <a:prstDash val="solid"/>
          </a:ln>
        </p:spPr>
      </p:sp>
      <p:sp>
        <p:nvSpPr>
          <p:cNvPr id="8" name="Shape 6"/>
          <p:cNvSpPr/>
          <p:nvPr/>
        </p:nvSpPr>
        <p:spPr>
          <a:xfrm>
            <a:off x="740664" y="1115568"/>
            <a:ext cx="146304" cy="146304"/>
          </a:xfrm>
          <a:prstGeom prst="ellipse">
            <a:avLst/>
          </a:prstGeom>
          <a:solidFill>
            <a:srgbClr val="F59E0B"/>
          </a:solidFill>
          <a:ln w="12700">
            <a:solidFill>
              <a:srgbClr val="F59E0B"/>
            </a:solidFill>
            <a:prstDash val="solid"/>
          </a:ln>
        </p:spPr>
      </p:sp>
      <p:sp>
        <p:nvSpPr>
          <p:cNvPr id="9" name="Shape 7"/>
          <p:cNvSpPr/>
          <p:nvPr/>
        </p:nvSpPr>
        <p:spPr>
          <a:xfrm>
            <a:off x="941832" y="1115568"/>
            <a:ext cx="146304" cy="146304"/>
          </a:xfrm>
          <a:prstGeom prst="ellipse">
            <a:avLst/>
          </a:prstGeom>
          <a:solidFill>
            <a:srgbClr val="70AD47"/>
          </a:solidFill>
          <a:ln w="12700">
            <a:solidFill>
              <a:srgbClr val="70AD47"/>
            </a:solidFill>
            <a:prstDash val="solid"/>
          </a:ln>
        </p:spPr>
      </p:sp>
      <p:sp>
        <p:nvSpPr>
          <p:cNvPr id="10" name="Text 8"/>
          <p:cNvSpPr/>
          <p:nvPr/>
        </p:nvSpPr>
        <p:spPr>
          <a:xfrm>
            <a:off x="1143000" y="1078992"/>
            <a:ext cx="566928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what_if.xlsx</a:t>
            </a:r>
            <a:endParaRPr lang="en-US" sz="900" dirty="0"/>
          </a:p>
        </p:txBody>
      </p:sp>
      <p:sp>
        <p:nvSpPr>
          <p:cNvPr id="11" name="Text 9"/>
          <p:cNvSpPr/>
          <p:nvPr/>
        </p:nvSpPr>
        <p:spPr>
          <a:xfrm>
            <a:off x="557784" y="1408176"/>
            <a:ext cx="6309360" cy="3493008"/>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Goal Seek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Data -&amp;gt; What-If Analysis -&amp;gt; Goal Seek</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Set Cell: the formula cell (e.g. Profit formula)</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To Value: your target (e.g. 1,000,000)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By Changing Cell: input cell (e.g. Price)</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Excel reverse-engineers the required input</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Example: At what price do I reach NGN 1M profit?</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Scenario Manager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Data -&amp;gt; What-If Analysis -&amp;gt; Scenario Manager</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Add -&amp;gt; Name: 'Optimistic' -&amp;gt; Change cells -&amp;gt; Values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Add multiple scenarios: Base, Optimistic, Pessimistic</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Show -&amp;gt; switches workbook to that scenario</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Summary -&amp;gt; creates comparison table on new sheet</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One-Variable Data Table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Set up formula at top of column</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List input values down the left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Select range -&amp;gt; Data -&amp;gt; What-If -&amp;gt; Data Table</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Column input cell: the changing variable cell</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Result: formula result for each input value</a:t>
            </a:r>
            <a:endParaRPr lang="en-US" sz="1050" dirty="0"/>
          </a:p>
        </p:txBody>
      </p:sp>
      <p:sp>
        <p:nvSpPr>
          <p:cNvPr id="12" name="Shape 10"/>
          <p:cNvSpPr/>
          <p:nvPr/>
        </p:nvSpPr>
        <p:spPr>
          <a:xfrm>
            <a:off x="7178040" y="1024128"/>
            <a:ext cx="4754880" cy="585216"/>
          </a:xfrm>
          <a:prstGeom prst="rect">
            <a:avLst/>
          </a:prstGeom>
          <a:solidFill>
            <a:srgbClr val="3B82F6"/>
          </a:solidFill>
          <a:ln w="3810">
            <a:solidFill>
              <a:srgbClr val="1A2845"/>
            </a:solidFill>
            <a:prstDash val="solid"/>
          </a:ln>
        </p:spPr>
      </p:sp>
      <p:sp>
        <p:nvSpPr>
          <p:cNvPr id="13" name="Shape 11"/>
          <p:cNvSpPr/>
          <p:nvPr/>
        </p:nvSpPr>
        <p:spPr>
          <a:xfrm>
            <a:off x="9175090" y="1024128"/>
            <a:ext cx="18288" cy="585216"/>
          </a:xfrm>
          <a:prstGeom prst="rect">
            <a:avLst/>
          </a:prstGeom>
          <a:solidFill>
            <a:srgbClr val="FFFFFF"/>
          </a:solidFill>
          <a:ln w="12700">
            <a:solidFill>
              <a:srgbClr val="FFFFFF"/>
            </a:solidFill>
            <a:prstDash val="solid"/>
          </a:ln>
        </p:spPr>
      </p:sp>
      <p:sp>
        <p:nvSpPr>
          <p:cNvPr id="14" name="Text 12"/>
          <p:cNvSpPr/>
          <p:nvPr/>
        </p:nvSpPr>
        <p:spPr>
          <a:xfrm>
            <a:off x="7269480" y="1069848"/>
            <a:ext cx="1869034" cy="493776"/>
          </a:xfrm>
          <a:prstGeom prst="rect">
            <a:avLst/>
          </a:prstGeom>
          <a:noFill/>
          <a:ln/>
        </p:spPr>
        <p:txBody>
          <a:bodyPr wrap="square" lIns="0" tIns="0" rIns="0" bIns="0" rtlCol="0" anchor="ctr"/>
          <a:lstStyle/>
          <a:p>
            <a:pPr indent="0" marL="0">
              <a:buNone/>
            </a:pPr>
            <a:r>
              <a:rPr lang="en-US" sz="1000" b="1" dirty="0">
                <a:solidFill>
                  <a:srgbClr val="FFFFFF"/>
                </a:solidFill>
                <a:latin typeface="Cambria" pitchFamily="34" charset="0"/>
                <a:ea typeface="Cambria" pitchFamily="34" charset="-122"/>
                <a:cs typeface="Cambria" pitchFamily="34" charset="-120"/>
              </a:rPr>
              <a:t>Tool</a:t>
            </a:r>
            <a:endParaRPr lang="en-US" sz="1000" dirty="0"/>
          </a:p>
        </p:txBody>
      </p:sp>
      <p:sp>
        <p:nvSpPr>
          <p:cNvPr id="15" name="Text 13"/>
          <p:cNvSpPr/>
          <p:nvPr/>
        </p:nvSpPr>
        <p:spPr>
          <a:xfrm>
            <a:off x="9266530" y="1069848"/>
            <a:ext cx="2574950" cy="49377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Business Use and Example</a:t>
            </a:r>
            <a:endParaRPr lang="en-US" sz="1000" dirty="0"/>
          </a:p>
        </p:txBody>
      </p:sp>
      <p:sp>
        <p:nvSpPr>
          <p:cNvPr id="16" name="Shape 14"/>
          <p:cNvSpPr/>
          <p:nvPr/>
        </p:nvSpPr>
        <p:spPr>
          <a:xfrm>
            <a:off x="7178040" y="1609344"/>
            <a:ext cx="4754880" cy="585216"/>
          </a:xfrm>
          <a:prstGeom prst="rect">
            <a:avLst/>
          </a:prstGeom>
          <a:solidFill>
            <a:srgbClr val="141E36"/>
          </a:solidFill>
          <a:ln w="3810">
            <a:solidFill>
              <a:srgbClr val="1A2845"/>
            </a:solidFill>
            <a:prstDash val="solid"/>
          </a:ln>
        </p:spPr>
      </p:sp>
      <p:sp>
        <p:nvSpPr>
          <p:cNvPr id="17" name="Shape 15"/>
          <p:cNvSpPr/>
          <p:nvPr/>
        </p:nvSpPr>
        <p:spPr>
          <a:xfrm>
            <a:off x="9175090" y="1609344"/>
            <a:ext cx="18288" cy="585216"/>
          </a:xfrm>
          <a:prstGeom prst="rect">
            <a:avLst/>
          </a:prstGeom>
          <a:solidFill>
            <a:srgbClr val="1E293B"/>
          </a:solidFill>
          <a:ln w="12700">
            <a:solidFill>
              <a:srgbClr val="1E293B"/>
            </a:solidFill>
            <a:prstDash val="solid"/>
          </a:ln>
        </p:spPr>
      </p:sp>
      <p:sp>
        <p:nvSpPr>
          <p:cNvPr id="18" name="Text 16"/>
          <p:cNvSpPr/>
          <p:nvPr/>
        </p:nvSpPr>
        <p:spPr>
          <a:xfrm>
            <a:off x="7269480" y="1655064"/>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Goal Seek</a:t>
            </a:r>
            <a:endParaRPr lang="en-US" sz="950" dirty="0"/>
          </a:p>
        </p:txBody>
      </p:sp>
      <p:sp>
        <p:nvSpPr>
          <p:cNvPr id="19" name="Text 17"/>
          <p:cNvSpPr/>
          <p:nvPr/>
        </p:nvSpPr>
        <p:spPr>
          <a:xfrm>
            <a:off x="9266530" y="1655064"/>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Find the input value needed to reach a target. 'What sales volume do I need to break even?' Set Profit=0, change Units Sold.</a:t>
            </a:r>
            <a:endParaRPr lang="en-US" sz="1000" dirty="0"/>
          </a:p>
        </p:txBody>
      </p:sp>
      <p:sp>
        <p:nvSpPr>
          <p:cNvPr id="20" name="Shape 18"/>
          <p:cNvSpPr/>
          <p:nvPr/>
        </p:nvSpPr>
        <p:spPr>
          <a:xfrm>
            <a:off x="7178040" y="2194560"/>
            <a:ext cx="4754880" cy="585216"/>
          </a:xfrm>
          <a:prstGeom prst="rect">
            <a:avLst/>
          </a:prstGeom>
          <a:solidFill>
            <a:srgbClr val="0F1D3C"/>
          </a:solidFill>
          <a:ln w="3810">
            <a:solidFill>
              <a:srgbClr val="1A2845"/>
            </a:solidFill>
            <a:prstDash val="solid"/>
          </a:ln>
        </p:spPr>
      </p:sp>
      <p:sp>
        <p:nvSpPr>
          <p:cNvPr id="21" name="Shape 19"/>
          <p:cNvSpPr/>
          <p:nvPr/>
        </p:nvSpPr>
        <p:spPr>
          <a:xfrm>
            <a:off x="9175090" y="2194560"/>
            <a:ext cx="18288" cy="585216"/>
          </a:xfrm>
          <a:prstGeom prst="rect">
            <a:avLst/>
          </a:prstGeom>
          <a:solidFill>
            <a:srgbClr val="1E293B"/>
          </a:solidFill>
          <a:ln w="12700">
            <a:solidFill>
              <a:srgbClr val="1E293B"/>
            </a:solidFill>
            <a:prstDash val="solid"/>
          </a:ln>
        </p:spPr>
      </p:sp>
      <p:sp>
        <p:nvSpPr>
          <p:cNvPr id="22" name="Text 20"/>
          <p:cNvSpPr/>
          <p:nvPr/>
        </p:nvSpPr>
        <p:spPr>
          <a:xfrm>
            <a:off x="7269480" y="2240280"/>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Scenario Manager</a:t>
            </a:r>
            <a:endParaRPr lang="en-US" sz="950" dirty="0"/>
          </a:p>
        </p:txBody>
      </p:sp>
      <p:sp>
        <p:nvSpPr>
          <p:cNvPr id="23" name="Text 21"/>
          <p:cNvSpPr/>
          <p:nvPr/>
        </p:nvSpPr>
        <p:spPr>
          <a:xfrm>
            <a:off x="9266530" y="2240280"/>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Compare multiple sets of assumptions. 'If oil price rises by 20% vs 50% vs 100%, what happens to our margins?' Store and switch scenarios.</a:t>
            </a:r>
            <a:endParaRPr lang="en-US" sz="1000" dirty="0"/>
          </a:p>
        </p:txBody>
      </p:sp>
      <p:sp>
        <p:nvSpPr>
          <p:cNvPr id="24" name="Shape 22"/>
          <p:cNvSpPr/>
          <p:nvPr/>
        </p:nvSpPr>
        <p:spPr>
          <a:xfrm>
            <a:off x="7178040" y="2779776"/>
            <a:ext cx="4754880" cy="585216"/>
          </a:xfrm>
          <a:prstGeom prst="rect">
            <a:avLst/>
          </a:prstGeom>
          <a:solidFill>
            <a:srgbClr val="141E36"/>
          </a:solidFill>
          <a:ln w="3810">
            <a:solidFill>
              <a:srgbClr val="1A2845"/>
            </a:solidFill>
            <a:prstDash val="solid"/>
          </a:ln>
        </p:spPr>
      </p:sp>
      <p:sp>
        <p:nvSpPr>
          <p:cNvPr id="25" name="Shape 23"/>
          <p:cNvSpPr/>
          <p:nvPr/>
        </p:nvSpPr>
        <p:spPr>
          <a:xfrm>
            <a:off x="9175090" y="2779776"/>
            <a:ext cx="18288" cy="585216"/>
          </a:xfrm>
          <a:prstGeom prst="rect">
            <a:avLst/>
          </a:prstGeom>
          <a:solidFill>
            <a:srgbClr val="1E293B"/>
          </a:solidFill>
          <a:ln w="12700">
            <a:solidFill>
              <a:srgbClr val="1E293B"/>
            </a:solidFill>
            <a:prstDash val="solid"/>
          </a:ln>
        </p:spPr>
      </p:sp>
      <p:sp>
        <p:nvSpPr>
          <p:cNvPr id="26" name="Text 24"/>
          <p:cNvSpPr/>
          <p:nvPr/>
        </p:nvSpPr>
        <p:spPr>
          <a:xfrm>
            <a:off x="7269480" y="2825496"/>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Data Table (1 variable)</a:t>
            </a:r>
            <a:endParaRPr lang="en-US" sz="950" dirty="0"/>
          </a:p>
        </p:txBody>
      </p:sp>
      <p:sp>
        <p:nvSpPr>
          <p:cNvPr id="27" name="Text 25"/>
          <p:cNvSpPr/>
          <p:nvPr/>
        </p:nvSpPr>
        <p:spPr>
          <a:xfrm>
            <a:off x="9266530" y="2825496"/>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Tests a formula for a range of input values. Shows how profit changes as price varies from NGN 50K to 500K in steps of 50K.</a:t>
            </a:r>
            <a:endParaRPr lang="en-US" sz="1000" dirty="0"/>
          </a:p>
        </p:txBody>
      </p:sp>
      <p:sp>
        <p:nvSpPr>
          <p:cNvPr id="28" name="Shape 26"/>
          <p:cNvSpPr/>
          <p:nvPr/>
        </p:nvSpPr>
        <p:spPr>
          <a:xfrm>
            <a:off x="7178040" y="3364992"/>
            <a:ext cx="4754880" cy="585216"/>
          </a:xfrm>
          <a:prstGeom prst="rect">
            <a:avLst/>
          </a:prstGeom>
          <a:solidFill>
            <a:srgbClr val="0F1D3C"/>
          </a:solidFill>
          <a:ln w="3810">
            <a:solidFill>
              <a:srgbClr val="1A2845"/>
            </a:solidFill>
            <a:prstDash val="solid"/>
          </a:ln>
        </p:spPr>
      </p:sp>
      <p:sp>
        <p:nvSpPr>
          <p:cNvPr id="29" name="Shape 27"/>
          <p:cNvSpPr/>
          <p:nvPr/>
        </p:nvSpPr>
        <p:spPr>
          <a:xfrm>
            <a:off x="9175090" y="3364992"/>
            <a:ext cx="18288" cy="585216"/>
          </a:xfrm>
          <a:prstGeom prst="rect">
            <a:avLst/>
          </a:prstGeom>
          <a:solidFill>
            <a:srgbClr val="1E293B"/>
          </a:solidFill>
          <a:ln w="12700">
            <a:solidFill>
              <a:srgbClr val="1E293B"/>
            </a:solidFill>
            <a:prstDash val="solid"/>
          </a:ln>
        </p:spPr>
      </p:sp>
      <p:sp>
        <p:nvSpPr>
          <p:cNvPr id="30" name="Text 28"/>
          <p:cNvSpPr/>
          <p:nvPr/>
        </p:nvSpPr>
        <p:spPr>
          <a:xfrm>
            <a:off x="7269480" y="3410712"/>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Data Table (2 variable)</a:t>
            </a:r>
            <a:endParaRPr lang="en-US" sz="950" dirty="0"/>
          </a:p>
        </p:txBody>
      </p:sp>
      <p:sp>
        <p:nvSpPr>
          <p:cNvPr id="31" name="Text 29"/>
          <p:cNvSpPr/>
          <p:nvPr/>
        </p:nvSpPr>
        <p:spPr>
          <a:xfrm>
            <a:off x="9266530" y="3410712"/>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Tests two inputs simultaneously. Creates a matrix showing profit for every combination of Price x Units. The most powerful what-if tool.</a:t>
            </a:r>
            <a:endParaRPr lang="en-US" sz="1000" dirty="0"/>
          </a:p>
        </p:txBody>
      </p:sp>
      <p:sp>
        <p:nvSpPr>
          <p:cNvPr id="32" name="Shape 30"/>
          <p:cNvSpPr/>
          <p:nvPr/>
        </p:nvSpPr>
        <p:spPr>
          <a:xfrm>
            <a:off x="7178040" y="3950208"/>
            <a:ext cx="4754880" cy="585216"/>
          </a:xfrm>
          <a:prstGeom prst="rect">
            <a:avLst/>
          </a:prstGeom>
          <a:solidFill>
            <a:srgbClr val="141E36"/>
          </a:solidFill>
          <a:ln w="3810">
            <a:solidFill>
              <a:srgbClr val="1A2845"/>
            </a:solidFill>
            <a:prstDash val="solid"/>
          </a:ln>
        </p:spPr>
      </p:sp>
      <p:sp>
        <p:nvSpPr>
          <p:cNvPr id="33" name="Shape 31"/>
          <p:cNvSpPr/>
          <p:nvPr/>
        </p:nvSpPr>
        <p:spPr>
          <a:xfrm>
            <a:off x="9175090" y="3950208"/>
            <a:ext cx="18288" cy="585216"/>
          </a:xfrm>
          <a:prstGeom prst="rect">
            <a:avLst/>
          </a:prstGeom>
          <a:solidFill>
            <a:srgbClr val="1E293B"/>
          </a:solidFill>
          <a:ln w="12700">
            <a:solidFill>
              <a:srgbClr val="1E293B"/>
            </a:solidFill>
            <a:prstDash val="solid"/>
          </a:ln>
        </p:spPr>
      </p:sp>
      <p:sp>
        <p:nvSpPr>
          <p:cNvPr id="34" name="Text 32"/>
          <p:cNvSpPr/>
          <p:nvPr/>
        </p:nvSpPr>
        <p:spPr>
          <a:xfrm>
            <a:off x="7269480" y="3995928"/>
            <a:ext cx="1869034" cy="493776"/>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Solver</a:t>
            </a:r>
            <a:endParaRPr lang="en-US" sz="950" dirty="0"/>
          </a:p>
        </p:txBody>
      </p:sp>
      <p:sp>
        <p:nvSpPr>
          <p:cNvPr id="35" name="Text 33"/>
          <p:cNvSpPr/>
          <p:nvPr/>
        </p:nvSpPr>
        <p:spPr>
          <a:xfrm>
            <a:off x="9266530" y="3995928"/>
            <a:ext cx="257495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Excel add-in for optimisation. Find the combination of variables that maximises/minimises a target subject to constraints. More powerful than Goal Seek.</a:t>
            </a:r>
            <a:endParaRPr lang="en-US" sz="1000" dirty="0"/>
          </a:p>
        </p:txBody>
      </p:sp>
      <p:sp>
        <p:nvSpPr>
          <p:cNvPr id="36" name="Shape 34"/>
          <p:cNvSpPr/>
          <p:nvPr/>
        </p:nvSpPr>
        <p:spPr>
          <a:xfrm>
            <a:off x="411480" y="5102352"/>
            <a:ext cx="6583680" cy="1627632"/>
          </a:xfrm>
          <a:prstGeom prst="roundRect">
            <a:avLst>
              <a:gd name="adj" fmla="val 5618"/>
            </a:avLst>
          </a:prstGeom>
          <a:solidFill>
            <a:srgbClr val="0D1117"/>
          </a:solidFill>
          <a:ln w="16510">
            <a:solidFill>
              <a:srgbClr val="217346"/>
            </a:solidFill>
            <a:prstDash val="solid"/>
          </a:ln>
          <a:effectLst>
            <a:outerShdw sx="100000" sy="100000" kx="0" ky="0" algn="bl" rotWithShape="0" blurRad="127000" dist="50800" dir="2700000">
              <a:srgbClr val="000000">
                <a:alpha val="20000"/>
              </a:srgbClr>
            </a:outerShdw>
          </a:effectLst>
        </p:spPr>
      </p:sp>
      <p:sp>
        <p:nvSpPr>
          <p:cNvPr id="37" name="Shape 35"/>
          <p:cNvSpPr/>
          <p:nvPr/>
        </p:nvSpPr>
        <p:spPr>
          <a:xfrm>
            <a:off x="411480" y="5102352"/>
            <a:ext cx="6583680" cy="329184"/>
          </a:xfrm>
          <a:prstGeom prst="roundRect">
            <a:avLst>
              <a:gd name="adj" fmla="val 27778"/>
            </a:avLst>
          </a:prstGeom>
          <a:solidFill>
            <a:srgbClr val="111E35"/>
          </a:solidFill>
          <a:ln w="12700">
            <a:solidFill>
              <a:srgbClr val="111E35"/>
            </a:solidFill>
            <a:prstDash val="solid"/>
          </a:ln>
        </p:spPr>
      </p:sp>
      <p:sp>
        <p:nvSpPr>
          <p:cNvPr id="38" name="Shape 36"/>
          <p:cNvSpPr/>
          <p:nvPr/>
        </p:nvSpPr>
        <p:spPr>
          <a:xfrm>
            <a:off x="411480" y="5285232"/>
            <a:ext cx="6583680" cy="146304"/>
          </a:xfrm>
          <a:prstGeom prst="rect">
            <a:avLst/>
          </a:prstGeom>
          <a:solidFill>
            <a:srgbClr val="111E35"/>
          </a:solidFill>
          <a:ln w="12700">
            <a:solidFill>
              <a:srgbClr val="111E35"/>
            </a:solidFill>
            <a:prstDash val="solid"/>
          </a:ln>
        </p:spPr>
      </p:sp>
      <p:sp>
        <p:nvSpPr>
          <p:cNvPr id="39" name="Shape 37"/>
          <p:cNvSpPr/>
          <p:nvPr/>
        </p:nvSpPr>
        <p:spPr>
          <a:xfrm>
            <a:off x="539496" y="5193792"/>
            <a:ext cx="146304" cy="146304"/>
          </a:xfrm>
          <a:prstGeom prst="ellipse">
            <a:avLst/>
          </a:prstGeom>
          <a:solidFill>
            <a:srgbClr val="F43F5E"/>
          </a:solidFill>
          <a:ln w="12700">
            <a:solidFill>
              <a:srgbClr val="F43F5E"/>
            </a:solidFill>
            <a:prstDash val="solid"/>
          </a:ln>
        </p:spPr>
      </p:sp>
      <p:sp>
        <p:nvSpPr>
          <p:cNvPr id="40" name="Shape 38"/>
          <p:cNvSpPr/>
          <p:nvPr/>
        </p:nvSpPr>
        <p:spPr>
          <a:xfrm>
            <a:off x="740664" y="5193792"/>
            <a:ext cx="146304" cy="146304"/>
          </a:xfrm>
          <a:prstGeom prst="ellipse">
            <a:avLst/>
          </a:prstGeom>
          <a:solidFill>
            <a:srgbClr val="F59E0B"/>
          </a:solidFill>
          <a:ln w="12700">
            <a:solidFill>
              <a:srgbClr val="F59E0B"/>
            </a:solidFill>
            <a:prstDash val="solid"/>
          </a:ln>
        </p:spPr>
      </p:sp>
      <p:sp>
        <p:nvSpPr>
          <p:cNvPr id="41" name="Shape 39"/>
          <p:cNvSpPr/>
          <p:nvPr/>
        </p:nvSpPr>
        <p:spPr>
          <a:xfrm>
            <a:off x="941832" y="5193792"/>
            <a:ext cx="146304" cy="146304"/>
          </a:xfrm>
          <a:prstGeom prst="ellipse">
            <a:avLst/>
          </a:prstGeom>
          <a:solidFill>
            <a:srgbClr val="70AD47"/>
          </a:solidFill>
          <a:ln w="12700">
            <a:solidFill>
              <a:srgbClr val="70AD47"/>
            </a:solidFill>
            <a:prstDash val="solid"/>
          </a:ln>
        </p:spPr>
      </p:sp>
      <p:sp>
        <p:nvSpPr>
          <p:cNvPr id="42" name="Text 40"/>
          <p:cNvSpPr/>
          <p:nvPr/>
        </p:nvSpPr>
        <p:spPr>
          <a:xfrm>
            <a:off x="1143000" y="5157216"/>
            <a:ext cx="566928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2var.xlsx</a:t>
            </a:r>
            <a:endParaRPr lang="en-US" sz="900" dirty="0"/>
          </a:p>
        </p:txBody>
      </p:sp>
      <p:sp>
        <p:nvSpPr>
          <p:cNvPr id="43" name="Text 41"/>
          <p:cNvSpPr/>
          <p:nvPr/>
        </p:nvSpPr>
        <p:spPr>
          <a:xfrm>
            <a:off x="557784" y="5486400"/>
            <a:ext cx="6309360" cy="1133856"/>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Two-Variable Data Table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Row input (column B: Price values): 100K, 200K, 300K, 400K, 500K</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Col input (row 2: Units values): 50, 100, 150, 200, 250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Formula at intersection: =B1*C1 (profit formula)</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Data -&amp;gt; Data Table -&amp;gt; Row input cell: Price cell, Column input: Units cell</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Result: Profit matrix for every Price x Units combination</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60A14"/>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85C38"/>
          </a:solidFill>
          <a:ln w="12700">
            <a:solidFill>
              <a:srgbClr val="185C3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20. BEST PRACTICES - Professional Excel Standards</a:t>
            </a:r>
            <a:endParaRPr lang="en-US" sz="2600" dirty="0"/>
          </a:p>
        </p:txBody>
      </p:sp>
      <p:sp>
        <p:nvSpPr>
          <p:cNvPr id="4" name="Shape 2"/>
          <p:cNvSpPr/>
          <p:nvPr/>
        </p:nvSpPr>
        <p:spPr>
          <a:xfrm>
            <a:off x="411480" y="1042416"/>
            <a:ext cx="5650992" cy="1298448"/>
          </a:xfrm>
          <a:prstGeom prst="roundRect">
            <a:avLst>
              <a:gd name="adj" fmla="val 7042"/>
            </a:avLst>
          </a:prstGeom>
          <a:solidFill>
            <a:srgbClr val="111E35"/>
          </a:solidFill>
          <a:ln w="12700">
            <a:solidFill>
              <a:srgbClr val="217346"/>
            </a:solidFill>
            <a:prstDash val="solid"/>
          </a:ln>
          <a:effectLst>
            <a:outerShdw sx="100000" sy="100000" kx="0" ky="0" algn="bl" rotWithShape="0" blurRad="63500" dist="25400" dir="2700000">
              <a:srgbClr val="000000">
                <a:alpha val="12000"/>
              </a:srgbClr>
            </a:outerShdw>
          </a:effectLst>
        </p:spPr>
      </p:sp>
      <p:sp>
        <p:nvSpPr>
          <p:cNvPr id="5" name="Shape 3"/>
          <p:cNvSpPr/>
          <p:nvPr/>
        </p:nvSpPr>
        <p:spPr>
          <a:xfrm>
            <a:off x="411480" y="1042416"/>
            <a:ext cx="3657600" cy="1298448"/>
          </a:xfrm>
          <a:prstGeom prst="rect">
            <a:avLst>
              <a:gd name="adj" fmla="val 7042"/>
            </a:avLst>
          </a:prstGeom>
          <a:solidFill>
            <a:srgbClr val="217346"/>
          </a:solidFill>
          <a:ln w="12700">
            <a:solidFill>
              <a:srgbClr val="217346"/>
            </a:solidFill>
            <a:prstDash val="solid"/>
          </a:ln>
        </p:spPr>
      </p:sp>
      <p:sp>
        <p:nvSpPr>
          <p:cNvPr id="6" name="Shape 4"/>
          <p:cNvSpPr/>
          <p:nvPr/>
        </p:nvSpPr>
        <p:spPr>
          <a:xfrm>
            <a:off x="411480" y="1042416"/>
            <a:ext cx="54864" cy="1298448"/>
          </a:xfrm>
          <a:prstGeom prst="rect">
            <a:avLst/>
          </a:prstGeom>
          <a:solidFill>
            <a:srgbClr val="217346"/>
          </a:solidFill>
          <a:ln w="12700">
            <a:solidFill>
              <a:srgbClr val="217346"/>
            </a:solidFill>
            <a:prstDash val="solid"/>
          </a:ln>
        </p:spPr>
      </p:sp>
      <p:sp>
        <p:nvSpPr>
          <p:cNvPr id="7" name="Text 5"/>
          <p:cNvSpPr/>
          <p:nvPr/>
        </p:nvSpPr>
        <p:spPr>
          <a:xfrm>
            <a:off x="576072" y="1133856"/>
            <a:ext cx="5358384" cy="274320"/>
          </a:xfrm>
          <a:prstGeom prst="rect">
            <a:avLst/>
          </a:prstGeom>
          <a:noFill/>
          <a:ln/>
        </p:spPr>
        <p:txBody>
          <a:bodyPr wrap="square" lIns="0" tIns="0" rIns="0" bIns="0" rtlCol="0" anchor="ctr"/>
          <a:lstStyle/>
          <a:p>
            <a:pPr indent="0" marL="0">
              <a:buNone/>
            </a:pPr>
            <a:r>
              <a:rPr lang="en-US" sz="1150" b="1" dirty="0">
                <a:solidFill>
                  <a:srgbClr val="217346"/>
                </a:solidFill>
                <a:latin typeface="Cambria" pitchFamily="34" charset="0"/>
                <a:ea typeface="Cambria" pitchFamily="34" charset="-122"/>
                <a:cs typeface="Cambria" pitchFamily="34" charset="-120"/>
              </a:rPr>
              <a:t>Structure your workbook</a:t>
            </a:r>
            <a:endParaRPr lang="en-US" sz="1150" dirty="0"/>
          </a:p>
        </p:txBody>
      </p:sp>
      <p:sp>
        <p:nvSpPr>
          <p:cNvPr id="8" name="Text 6"/>
          <p:cNvSpPr/>
          <p:nvPr/>
        </p:nvSpPr>
        <p:spPr>
          <a:xfrm>
            <a:off x="576072" y="1463040"/>
            <a:ext cx="5358384" cy="80467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Use separate sheets: Data (raw), Calculations (formulas), Output (charts and tables), Config (rates, dates, settings). Never mix raw data with calculations.</a:t>
            </a:r>
            <a:endParaRPr lang="en-US" sz="1000" dirty="0"/>
          </a:p>
        </p:txBody>
      </p:sp>
      <p:sp>
        <p:nvSpPr>
          <p:cNvPr id="9" name="Shape 7"/>
          <p:cNvSpPr/>
          <p:nvPr/>
        </p:nvSpPr>
        <p:spPr>
          <a:xfrm>
            <a:off x="6309360" y="1042416"/>
            <a:ext cx="5650992" cy="1298448"/>
          </a:xfrm>
          <a:prstGeom prst="roundRect">
            <a:avLst>
              <a:gd name="adj" fmla="val 7042"/>
            </a:avLst>
          </a:prstGeom>
          <a:solidFill>
            <a:srgbClr val="111E35"/>
          </a:solidFill>
          <a:ln w="12700">
            <a:solidFill>
              <a:srgbClr val="3B82F6"/>
            </a:solidFill>
            <a:prstDash val="solid"/>
          </a:ln>
          <a:effectLst>
            <a:outerShdw sx="100000" sy="100000" kx="0" ky="0" algn="bl" rotWithShape="0" blurRad="63500" dist="25400" dir="2700000">
              <a:srgbClr val="000000">
                <a:alpha val="12000"/>
              </a:srgbClr>
            </a:outerShdw>
          </a:effectLst>
        </p:spPr>
      </p:sp>
      <p:sp>
        <p:nvSpPr>
          <p:cNvPr id="10" name="Shape 8"/>
          <p:cNvSpPr/>
          <p:nvPr/>
        </p:nvSpPr>
        <p:spPr>
          <a:xfrm>
            <a:off x="6309360" y="1042416"/>
            <a:ext cx="3657600" cy="1298448"/>
          </a:xfrm>
          <a:prstGeom prst="rect">
            <a:avLst>
              <a:gd name="adj" fmla="val 7042"/>
            </a:avLst>
          </a:prstGeom>
          <a:solidFill>
            <a:srgbClr val="3B82F6"/>
          </a:solidFill>
          <a:ln w="12700">
            <a:solidFill>
              <a:srgbClr val="3B82F6"/>
            </a:solidFill>
            <a:prstDash val="solid"/>
          </a:ln>
        </p:spPr>
      </p:sp>
      <p:sp>
        <p:nvSpPr>
          <p:cNvPr id="11" name="Shape 9"/>
          <p:cNvSpPr/>
          <p:nvPr/>
        </p:nvSpPr>
        <p:spPr>
          <a:xfrm>
            <a:off x="6309360" y="1042416"/>
            <a:ext cx="54864" cy="1298448"/>
          </a:xfrm>
          <a:prstGeom prst="rect">
            <a:avLst/>
          </a:prstGeom>
          <a:solidFill>
            <a:srgbClr val="3B82F6"/>
          </a:solidFill>
          <a:ln w="12700">
            <a:solidFill>
              <a:srgbClr val="3B82F6"/>
            </a:solidFill>
            <a:prstDash val="solid"/>
          </a:ln>
        </p:spPr>
      </p:sp>
      <p:sp>
        <p:nvSpPr>
          <p:cNvPr id="12" name="Text 10"/>
          <p:cNvSpPr/>
          <p:nvPr/>
        </p:nvSpPr>
        <p:spPr>
          <a:xfrm>
            <a:off x="6473952" y="1133856"/>
            <a:ext cx="5358384" cy="274320"/>
          </a:xfrm>
          <a:prstGeom prst="rect">
            <a:avLst/>
          </a:prstGeom>
          <a:noFill/>
          <a:ln/>
        </p:spPr>
        <p:txBody>
          <a:bodyPr wrap="square" lIns="0" tIns="0" rIns="0" bIns="0" rtlCol="0" anchor="ctr"/>
          <a:lstStyle/>
          <a:p>
            <a:pPr indent="0" marL="0">
              <a:buNone/>
            </a:pPr>
            <a:r>
              <a:rPr lang="en-US" sz="1150" b="1" dirty="0">
                <a:solidFill>
                  <a:srgbClr val="3B82F6"/>
                </a:solidFill>
                <a:latin typeface="Cambria" pitchFamily="34" charset="0"/>
                <a:ea typeface="Cambria" pitchFamily="34" charset="-122"/>
                <a:cs typeface="Cambria" pitchFamily="34" charset="-120"/>
              </a:rPr>
              <a:t>Never modify raw data</a:t>
            </a:r>
            <a:endParaRPr lang="en-US" sz="1150" dirty="0"/>
          </a:p>
        </p:txBody>
      </p:sp>
      <p:sp>
        <p:nvSpPr>
          <p:cNvPr id="13" name="Text 11"/>
          <p:cNvSpPr/>
          <p:nvPr/>
        </p:nvSpPr>
        <p:spPr>
          <a:xfrm>
            <a:off x="6473952" y="1463040"/>
            <a:ext cx="5358384" cy="80467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Import raw data to a 'Data' sheet. Copy to another sheet for cleaning and analysis. Original data stays intact for reference.</a:t>
            </a:r>
            <a:endParaRPr lang="en-US" sz="1000" dirty="0"/>
          </a:p>
        </p:txBody>
      </p:sp>
      <p:sp>
        <p:nvSpPr>
          <p:cNvPr id="14" name="Shape 12"/>
          <p:cNvSpPr/>
          <p:nvPr/>
        </p:nvSpPr>
        <p:spPr>
          <a:xfrm>
            <a:off x="411480" y="2468880"/>
            <a:ext cx="5650992" cy="1298448"/>
          </a:xfrm>
          <a:prstGeom prst="roundRect">
            <a:avLst>
              <a:gd name="adj" fmla="val 7042"/>
            </a:avLst>
          </a:prstGeom>
          <a:solidFill>
            <a:srgbClr val="111E35"/>
          </a:solidFill>
          <a:ln w="12700">
            <a:solidFill>
              <a:srgbClr val="8B5CF6"/>
            </a:solidFill>
            <a:prstDash val="solid"/>
          </a:ln>
          <a:effectLst>
            <a:outerShdw sx="100000" sy="100000" kx="0" ky="0" algn="bl" rotWithShape="0" blurRad="63500" dist="25400" dir="2700000">
              <a:srgbClr val="000000">
                <a:alpha val="12000"/>
              </a:srgbClr>
            </a:outerShdw>
          </a:effectLst>
        </p:spPr>
      </p:sp>
      <p:sp>
        <p:nvSpPr>
          <p:cNvPr id="15" name="Shape 13"/>
          <p:cNvSpPr/>
          <p:nvPr/>
        </p:nvSpPr>
        <p:spPr>
          <a:xfrm>
            <a:off x="411480" y="2468880"/>
            <a:ext cx="3657600" cy="1298448"/>
          </a:xfrm>
          <a:prstGeom prst="rect">
            <a:avLst>
              <a:gd name="adj" fmla="val 7042"/>
            </a:avLst>
          </a:prstGeom>
          <a:solidFill>
            <a:srgbClr val="8B5CF6"/>
          </a:solidFill>
          <a:ln w="12700">
            <a:solidFill>
              <a:srgbClr val="8B5CF6"/>
            </a:solidFill>
            <a:prstDash val="solid"/>
          </a:ln>
        </p:spPr>
      </p:sp>
      <p:sp>
        <p:nvSpPr>
          <p:cNvPr id="16" name="Shape 14"/>
          <p:cNvSpPr/>
          <p:nvPr/>
        </p:nvSpPr>
        <p:spPr>
          <a:xfrm>
            <a:off x="411480" y="2468880"/>
            <a:ext cx="54864" cy="1298448"/>
          </a:xfrm>
          <a:prstGeom prst="rect">
            <a:avLst/>
          </a:prstGeom>
          <a:solidFill>
            <a:srgbClr val="8B5CF6"/>
          </a:solidFill>
          <a:ln w="12700">
            <a:solidFill>
              <a:srgbClr val="8B5CF6"/>
            </a:solidFill>
            <a:prstDash val="solid"/>
          </a:ln>
        </p:spPr>
      </p:sp>
      <p:sp>
        <p:nvSpPr>
          <p:cNvPr id="17" name="Text 15"/>
          <p:cNvSpPr/>
          <p:nvPr/>
        </p:nvSpPr>
        <p:spPr>
          <a:xfrm>
            <a:off x="576072" y="2560320"/>
            <a:ext cx="5358384" cy="274320"/>
          </a:xfrm>
          <a:prstGeom prst="rect">
            <a:avLst/>
          </a:prstGeom>
          <a:noFill/>
          <a:ln/>
        </p:spPr>
        <p:txBody>
          <a:bodyPr wrap="square" lIns="0" tIns="0" rIns="0" bIns="0" rtlCol="0" anchor="ctr"/>
          <a:lstStyle/>
          <a:p>
            <a:pPr indent="0" marL="0">
              <a:buNone/>
            </a:pPr>
            <a:r>
              <a:rPr lang="en-US" sz="1150" b="1" dirty="0">
                <a:solidFill>
                  <a:srgbClr val="8B5CF6"/>
                </a:solidFill>
                <a:latin typeface="Cambria" pitchFamily="34" charset="0"/>
                <a:ea typeface="Cambria" pitchFamily="34" charset="-122"/>
                <a:cs typeface="Cambria" pitchFamily="34" charset="-120"/>
              </a:rPr>
              <a:t>Use Tables (Ctrl+T)</a:t>
            </a:r>
            <a:endParaRPr lang="en-US" sz="1150" dirty="0"/>
          </a:p>
        </p:txBody>
      </p:sp>
      <p:sp>
        <p:nvSpPr>
          <p:cNvPr id="18" name="Text 16"/>
          <p:cNvSpPr/>
          <p:nvPr/>
        </p:nvSpPr>
        <p:spPr>
          <a:xfrm>
            <a:off x="576072" y="2889504"/>
            <a:ext cx="5358384" cy="80467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Convert all data ranges to Excel Tables immediately. Formulas auto-extend. PivotTables auto-refresh. Charts auto-update. Always use Tables.</a:t>
            </a:r>
            <a:endParaRPr lang="en-US" sz="1000" dirty="0"/>
          </a:p>
        </p:txBody>
      </p:sp>
      <p:sp>
        <p:nvSpPr>
          <p:cNvPr id="19" name="Shape 17"/>
          <p:cNvSpPr/>
          <p:nvPr/>
        </p:nvSpPr>
        <p:spPr>
          <a:xfrm>
            <a:off x="6309360" y="2468880"/>
            <a:ext cx="5650992" cy="1298448"/>
          </a:xfrm>
          <a:prstGeom prst="roundRect">
            <a:avLst>
              <a:gd name="adj" fmla="val 7042"/>
            </a:avLst>
          </a:prstGeom>
          <a:solidFill>
            <a:srgbClr val="111E35"/>
          </a:solidFill>
          <a:ln w="12700">
            <a:solidFill>
              <a:srgbClr val="F59E0B"/>
            </a:solidFill>
            <a:prstDash val="solid"/>
          </a:ln>
          <a:effectLst>
            <a:outerShdw sx="100000" sy="100000" kx="0" ky="0" algn="bl" rotWithShape="0" blurRad="63500" dist="25400" dir="2700000">
              <a:srgbClr val="000000">
                <a:alpha val="12000"/>
              </a:srgbClr>
            </a:outerShdw>
          </a:effectLst>
        </p:spPr>
      </p:sp>
      <p:sp>
        <p:nvSpPr>
          <p:cNvPr id="20" name="Shape 18"/>
          <p:cNvSpPr/>
          <p:nvPr/>
        </p:nvSpPr>
        <p:spPr>
          <a:xfrm>
            <a:off x="6309360" y="2468880"/>
            <a:ext cx="3657600" cy="1298448"/>
          </a:xfrm>
          <a:prstGeom prst="rect">
            <a:avLst>
              <a:gd name="adj" fmla="val 7042"/>
            </a:avLst>
          </a:prstGeom>
          <a:solidFill>
            <a:srgbClr val="F59E0B"/>
          </a:solidFill>
          <a:ln w="12700">
            <a:solidFill>
              <a:srgbClr val="F59E0B"/>
            </a:solidFill>
            <a:prstDash val="solid"/>
          </a:ln>
        </p:spPr>
      </p:sp>
      <p:sp>
        <p:nvSpPr>
          <p:cNvPr id="21" name="Shape 19"/>
          <p:cNvSpPr/>
          <p:nvPr/>
        </p:nvSpPr>
        <p:spPr>
          <a:xfrm>
            <a:off x="6309360" y="2468880"/>
            <a:ext cx="54864" cy="1298448"/>
          </a:xfrm>
          <a:prstGeom prst="rect">
            <a:avLst/>
          </a:prstGeom>
          <a:solidFill>
            <a:srgbClr val="F59E0B"/>
          </a:solidFill>
          <a:ln w="12700">
            <a:solidFill>
              <a:srgbClr val="F59E0B"/>
            </a:solidFill>
            <a:prstDash val="solid"/>
          </a:ln>
        </p:spPr>
      </p:sp>
      <p:sp>
        <p:nvSpPr>
          <p:cNvPr id="22" name="Text 20"/>
          <p:cNvSpPr/>
          <p:nvPr/>
        </p:nvSpPr>
        <p:spPr>
          <a:xfrm>
            <a:off x="6473952" y="2560320"/>
            <a:ext cx="5358384" cy="274320"/>
          </a:xfrm>
          <a:prstGeom prst="rect">
            <a:avLst/>
          </a:prstGeom>
          <a:noFill/>
          <a:ln/>
        </p:spPr>
        <p:txBody>
          <a:bodyPr wrap="square" lIns="0" tIns="0" rIns="0" bIns="0" rtlCol="0" anchor="ctr"/>
          <a:lstStyle/>
          <a:p>
            <a:pPr indent="0" marL="0">
              <a:buNone/>
            </a:pPr>
            <a:r>
              <a:rPr lang="en-US" sz="1150" b="1" dirty="0">
                <a:solidFill>
                  <a:srgbClr val="F59E0B"/>
                </a:solidFill>
                <a:latin typeface="Cambria" pitchFamily="34" charset="0"/>
                <a:ea typeface="Cambria" pitchFamily="34" charset="-122"/>
                <a:cs typeface="Cambria" pitchFamily="34" charset="-120"/>
              </a:rPr>
              <a:t>No merged cells in data</a:t>
            </a:r>
            <a:endParaRPr lang="en-US" sz="1150" dirty="0"/>
          </a:p>
        </p:txBody>
      </p:sp>
      <p:sp>
        <p:nvSpPr>
          <p:cNvPr id="23" name="Text 21"/>
          <p:cNvSpPr/>
          <p:nvPr/>
        </p:nvSpPr>
        <p:spPr>
          <a:xfrm>
            <a:off x="6473952" y="2889504"/>
            <a:ext cx="5358384" cy="80467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Merged cells break sorting, filtering, PivotTables, and VLOOKUP. Use Center Across Selection instead: Format Cells -&amp;gt; Alignment -&amp;gt; Horizontal: Center Across Selection.</a:t>
            </a:r>
            <a:endParaRPr lang="en-US" sz="1000" dirty="0"/>
          </a:p>
        </p:txBody>
      </p:sp>
      <p:sp>
        <p:nvSpPr>
          <p:cNvPr id="24" name="Shape 22"/>
          <p:cNvSpPr/>
          <p:nvPr/>
        </p:nvSpPr>
        <p:spPr>
          <a:xfrm>
            <a:off x="411480" y="3895344"/>
            <a:ext cx="5650992" cy="1298448"/>
          </a:xfrm>
          <a:prstGeom prst="roundRect">
            <a:avLst>
              <a:gd name="adj" fmla="val 7042"/>
            </a:avLst>
          </a:prstGeom>
          <a:solidFill>
            <a:srgbClr val="111E35"/>
          </a:solidFill>
          <a:ln w="12700">
            <a:solidFill>
              <a:srgbClr val="F97316"/>
            </a:solidFill>
            <a:prstDash val="solid"/>
          </a:ln>
          <a:effectLst>
            <a:outerShdw sx="100000" sy="100000" kx="0" ky="0" algn="bl" rotWithShape="0" blurRad="63500" dist="25400" dir="2700000">
              <a:srgbClr val="000000">
                <a:alpha val="12000"/>
              </a:srgbClr>
            </a:outerShdw>
          </a:effectLst>
        </p:spPr>
      </p:sp>
      <p:sp>
        <p:nvSpPr>
          <p:cNvPr id="25" name="Shape 23"/>
          <p:cNvSpPr/>
          <p:nvPr/>
        </p:nvSpPr>
        <p:spPr>
          <a:xfrm>
            <a:off x="411480" y="3895344"/>
            <a:ext cx="3657600" cy="1298448"/>
          </a:xfrm>
          <a:prstGeom prst="rect">
            <a:avLst>
              <a:gd name="adj" fmla="val 7042"/>
            </a:avLst>
          </a:prstGeom>
          <a:solidFill>
            <a:srgbClr val="F97316"/>
          </a:solidFill>
          <a:ln w="12700">
            <a:solidFill>
              <a:srgbClr val="F97316"/>
            </a:solidFill>
            <a:prstDash val="solid"/>
          </a:ln>
        </p:spPr>
      </p:sp>
      <p:sp>
        <p:nvSpPr>
          <p:cNvPr id="26" name="Shape 24"/>
          <p:cNvSpPr/>
          <p:nvPr/>
        </p:nvSpPr>
        <p:spPr>
          <a:xfrm>
            <a:off x="411480" y="3895344"/>
            <a:ext cx="54864" cy="1298448"/>
          </a:xfrm>
          <a:prstGeom prst="rect">
            <a:avLst/>
          </a:prstGeom>
          <a:solidFill>
            <a:srgbClr val="F97316"/>
          </a:solidFill>
          <a:ln w="12700">
            <a:solidFill>
              <a:srgbClr val="F97316"/>
            </a:solidFill>
            <a:prstDash val="solid"/>
          </a:ln>
        </p:spPr>
      </p:sp>
      <p:sp>
        <p:nvSpPr>
          <p:cNvPr id="27" name="Text 25"/>
          <p:cNvSpPr/>
          <p:nvPr/>
        </p:nvSpPr>
        <p:spPr>
          <a:xfrm>
            <a:off x="576072" y="3986784"/>
            <a:ext cx="5358384" cy="274320"/>
          </a:xfrm>
          <a:prstGeom prst="rect">
            <a:avLst/>
          </a:prstGeom>
          <a:noFill/>
          <a:ln/>
        </p:spPr>
        <p:txBody>
          <a:bodyPr wrap="square" lIns="0" tIns="0" rIns="0" bIns="0" rtlCol="0" anchor="ctr"/>
          <a:lstStyle/>
          <a:p>
            <a:pPr indent="0" marL="0">
              <a:buNone/>
            </a:pPr>
            <a:r>
              <a:rPr lang="en-US" sz="1150" b="1" dirty="0">
                <a:solidFill>
                  <a:srgbClr val="F97316"/>
                </a:solidFill>
                <a:latin typeface="Cambria" pitchFamily="34" charset="0"/>
                <a:ea typeface="Cambria" pitchFamily="34" charset="-122"/>
                <a:cs typeface="Cambria" pitchFamily="34" charset="-120"/>
              </a:rPr>
              <a:t>Hardcoded values in one place</a:t>
            </a:r>
            <a:endParaRPr lang="en-US" sz="1150" dirty="0"/>
          </a:p>
        </p:txBody>
      </p:sp>
      <p:sp>
        <p:nvSpPr>
          <p:cNvPr id="28" name="Text 26"/>
          <p:cNvSpPr/>
          <p:nvPr/>
        </p:nvSpPr>
        <p:spPr>
          <a:xfrm>
            <a:off x="576072" y="4315968"/>
            <a:ext cx="5358384" cy="80467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Put tax rates, exchange rates, targets, dates in a Config sheet. Reference them absolutely. Change once, updates everywhere.</a:t>
            </a:r>
            <a:endParaRPr lang="en-US" sz="1000" dirty="0"/>
          </a:p>
        </p:txBody>
      </p:sp>
      <p:sp>
        <p:nvSpPr>
          <p:cNvPr id="29" name="Shape 27"/>
          <p:cNvSpPr/>
          <p:nvPr/>
        </p:nvSpPr>
        <p:spPr>
          <a:xfrm>
            <a:off x="6309360" y="3895344"/>
            <a:ext cx="5650992" cy="1298448"/>
          </a:xfrm>
          <a:prstGeom prst="roundRect">
            <a:avLst>
              <a:gd name="adj" fmla="val 7042"/>
            </a:avLst>
          </a:prstGeom>
          <a:solidFill>
            <a:srgbClr val="111E35"/>
          </a:solidFill>
          <a:ln w="12700">
            <a:solidFill>
              <a:srgbClr val="06B6D4"/>
            </a:solidFill>
            <a:prstDash val="solid"/>
          </a:ln>
          <a:effectLst>
            <a:outerShdw sx="100000" sy="100000" kx="0" ky="0" algn="bl" rotWithShape="0" blurRad="63500" dist="25400" dir="2700000">
              <a:srgbClr val="000000">
                <a:alpha val="12000"/>
              </a:srgbClr>
            </a:outerShdw>
          </a:effectLst>
        </p:spPr>
      </p:sp>
      <p:sp>
        <p:nvSpPr>
          <p:cNvPr id="30" name="Shape 28"/>
          <p:cNvSpPr/>
          <p:nvPr/>
        </p:nvSpPr>
        <p:spPr>
          <a:xfrm>
            <a:off x="6309360" y="3895344"/>
            <a:ext cx="3657600" cy="1298448"/>
          </a:xfrm>
          <a:prstGeom prst="rect">
            <a:avLst>
              <a:gd name="adj" fmla="val 7042"/>
            </a:avLst>
          </a:prstGeom>
          <a:solidFill>
            <a:srgbClr val="06B6D4"/>
          </a:solidFill>
          <a:ln w="12700">
            <a:solidFill>
              <a:srgbClr val="06B6D4"/>
            </a:solidFill>
            <a:prstDash val="solid"/>
          </a:ln>
        </p:spPr>
      </p:sp>
      <p:sp>
        <p:nvSpPr>
          <p:cNvPr id="31" name="Shape 29"/>
          <p:cNvSpPr/>
          <p:nvPr/>
        </p:nvSpPr>
        <p:spPr>
          <a:xfrm>
            <a:off x="6309360" y="3895344"/>
            <a:ext cx="54864" cy="1298448"/>
          </a:xfrm>
          <a:prstGeom prst="rect">
            <a:avLst/>
          </a:prstGeom>
          <a:solidFill>
            <a:srgbClr val="06B6D4"/>
          </a:solidFill>
          <a:ln w="12700">
            <a:solidFill>
              <a:srgbClr val="06B6D4"/>
            </a:solidFill>
            <a:prstDash val="solid"/>
          </a:ln>
        </p:spPr>
      </p:sp>
      <p:sp>
        <p:nvSpPr>
          <p:cNvPr id="32" name="Text 30"/>
          <p:cNvSpPr/>
          <p:nvPr/>
        </p:nvSpPr>
        <p:spPr>
          <a:xfrm>
            <a:off x="6473952" y="3986784"/>
            <a:ext cx="5358384" cy="274320"/>
          </a:xfrm>
          <a:prstGeom prst="rect">
            <a:avLst/>
          </a:prstGeom>
          <a:noFill/>
          <a:ln/>
        </p:spPr>
        <p:txBody>
          <a:bodyPr wrap="square" lIns="0" tIns="0" rIns="0" bIns="0" rtlCol="0" anchor="ctr"/>
          <a:lstStyle/>
          <a:p>
            <a:pPr indent="0" marL="0">
              <a:buNone/>
            </a:pPr>
            <a:r>
              <a:rPr lang="en-US" sz="1150" b="1" dirty="0">
                <a:solidFill>
                  <a:srgbClr val="06B6D4"/>
                </a:solidFill>
                <a:latin typeface="Cambria" pitchFamily="34" charset="0"/>
                <a:ea typeface="Cambria" pitchFamily="34" charset="-122"/>
                <a:cs typeface="Cambria" pitchFamily="34" charset="-120"/>
              </a:rPr>
              <a:t>Document your formulas</a:t>
            </a:r>
            <a:endParaRPr lang="en-US" sz="1150" dirty="0"/>
          </a:p>
        </p:txBody>
      </p:sp>
      <p:sp>
        <p:nvSpPr>
          <p:cNvPr id="33" name="Text 31"/>
          <p:cNvSpPr/>
          <p:nvPr/>
        </p:nvSpPr>
        <p:spPr>
          <a:xfrm>
            <a:off x="6473952" y="4315968"/>
            <a:ext cx="5358384" cy="80467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Add column to the right with a plain English description of what the formula does. Use Cell Comments (Shift+F2) for complex formulas.</a:t>
            </a:r>
            <a:endParaRPr lang="en-US" sz="1000" dirty="0"/>
          </a:p>
        </p:txBody>
      </p:sp>
      <p:sp>
        <p:nvSpPr>
          <p:cNvPr id="34" name="Shape 32"/>
          <p:cNvSpPr/>
          <p:nvPr/>
        </p:nvSpPr>
        <p:spPr>
          <a:xfrm>
            <a:off x="411480" y="5321808"/>
            <a:ext cx="5650992" cy="1298448"/>
          </a:xfrm>
          <a:prstGeom prst="roundRect">
            <a:avLst>
              <a:gd name="adj" fmla="val 7042"/>
            </a:avLst>
          </a:prstGeom>
          <a:solidFill>
            <a:srgbClr val="111E35"/>
          </a:solidFill>
          <a:ln w="12700">
            <a:solidFill>
              <a:srgbClr val="F43F5E"/>
            </a:solidFill>
            <a:prstDash val="solid"/>
          </a:ln>
          <a:effectLst>
            <a:outerShdw sx="100000" sy="100000" kx="0" ky="0" algn="bl" rotWithShape="0" blurRad="63500" dist="25400" dir="2700000">
              <a:srgbClr val="000000">
                <a:alpha val="12000"/>
              </a:srgbClr>
            </a:outerShdw>
          </a:effectLst>
        </p:spPr>
      </p:sp>
      <p:sp>
        <p:nvSpPr>
          <p:cNvPr id="35" name="Shape 33"/>
          <p:cNvSpPr/>
          <p:nvPr/>
        </p:nvSpPr>
        <p:spPr>
          <a:xfrm>
            <a:off x="411480" y="5321808"/>
            <a:ext cx="3657600" cy="1298448"/>
          </a:xfrm>
          <a:prstGeom prst="rect">
            <a:avLst>
              <a:gd name="adj" fmla="val 7042"/>
            </a:avLst>
          </a:prstGeom>
          <a:solidFill>
            <a:srgbClr val="F43F5E"/>
          </a:solidFill>
          <a:ln w="12700">
            <a:solidFill>
              <a:srgbClr val="F43F5E"/>
            </a:solidFill>
            <a:prstDash val="solid"/>
          </a:ln>
        </p:spPr>
      </p:sp>
      <p:sp>
        <p:nvSpPr>
          <p:cNvPr id="36" name="Shape 34"/>
          <p:cNvSpPr/>
          <p:nvPr/>
        </p:nvSpPr>
        <p:spPr>
          <a:xfrm>
            <a:off x="411480" y="5321808"/>
            <a:ext cx="54864" cy="1298448"/>
          </a:xfrm>
          <a:prstGeom prst="rect">
            <a:avLst/>
          </a:prstGeom>
          <a:solidFill>
            <a:srgbClr val="F43F5E"/>
          </a:solidFill>
          <a:ln w="12700">
            <a:solidFill>
              <a:srgbClr val="F43F5E"/>
            </a:solidFill>
            <a:prstDash val="solid"/>
          </a:ln>
        </p:spPr>
      </p:sp>
      <p:sp>
        <p:nvSpPr>
          <p:cNvPr id="37" name="Text 35"/>
          <p:cNvSpPr/>
          <p:nvPr/>
        </p:nvSpPr>
        <p:spPr>
          <a:xfrm>
            <a:off x="576072" y="5413248"/>
            <a:ext cx="5358384" cy="274320"/>
          </a:xfrm>
          <a:prstGeom prst="rect">
            <a:avLst/>
          </a:prstGeom>
          <a:noFill/>
          <a:ln/>
        </p:spPr>
        <p:txBody>
          <a:bodyPr wrap="square" lIns="0" tIns="0" rIns="0" bIns="0" rtlCol="0" anchor="ctr"/>
          <a:lstStyle/>
          <a:p>
            <a:pPr indent="0" marL="0">
              <a:buNone/>
            </a:pPr>
            <a:r>
              <a:rPr lang="en-US" sz="1150" b="1" dirty="0">
                <a:solidFill>
                  <a:srgbClr val="F43F5E"/>
                </a:solidFill>
                <a:latin typeface="Cambria" pitchFamily="34" charset="0"/>
                <a:ea typeface="Cambria" pitchFamily="34" charset="-122"/>
                <a:cs typeface="Cambria" pitchFamily="34" charset="-120"/>
              </a:rPr>
              <a:t>Protect sheets and cells</a:t>
            </a:r>
            <a:endParaRPr lang="en-US" sz="1150" dirty="0"/>
          </a:p>
        </p:txBody>
      </p:sp>
      <p:sp>
        <p:nvSpPr>
          <p:cNvPr id="38" name="Text 36"/>
          <p:cNvSpPr/>
          <p:nvPr/>
        </p:nvSpPr>
        <p:spPr>
          <a:xfrm>
            <a:off x="576072" y="5742432"/>
            <a:ext cx="5358384" cy="80467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Review -&amp;gt; Protect Sheet to prevent accidental edits. Unlock input cells first (Ctrl+1 -&amp;gt; Protection -&amp;gt; uncheck Locked) before protecting the sheet.</a:t>
            </a:r>
            <a:endParaRPr lang="en-US" sz="1000" dirty="0"/>
          </a:p>
        </p:txBody>
      </p:sp>
      <p:sp>
        <p:nvSpPr>
          <p:cNvPr id="39" name="Shape 37"/>
          <p:cNvSpPr/>
          <p:nvPr/>
        </p:nvSpPr>
        <p:spPr>
          <a:xfrm>
            <a:off x="6309360" y="5321808"/>
            <a:ext cx="5650992" cy="1298448"/>
          </a:xfrm>
          <a:prstGeom prst="roundRect">
            <a:avLst>
              <a:gd name="adj" fmla="val 7042"/>
            </a:avLst>
          </a:prstGeom>
          <a:solidFill>
            <a:srgbClr val="111E35"/>
          </a:solidFill>
          <a:ln w="12700">
            <a:solidFill>
              <a:srgbClr val="EC4899"/>
            </a:solidFill>
            <a:prstDash val="solid"/>
          </a:ln>
          <a:effectLst>
            <a:outerShdw sx="100000" sy="100000" kx="0" ky="0" algn="bl" rotWithShape="0" blurRad="63500" dist="25400" dir="2700000">
              <a:srgbClr val="000000">
                <a:alpha val="12000"/>
              </a:srgbClr>
            </a:outerShdw>
          </a:effectLst>
        </p:spPr>
      </p:sp>
      <p:sp>
        <p:nvSpPr>
          <p:cNvPr id="40" name="Shape 38"/>
          <p:cNvSpPr/>
          <p:nvPr/>
        </p:nvSpPr>
        <p:spPr>
          <a:xfrm>
            <a:off x="6309360" y="5321808"/>
            <a:ext cx="3657600" cy="1298448"/>
          </a:xfrm>
          <a:prstGeom prst="rect">
            <a:avLst>
              <a:gd name="adj" fmla="val 7042"/>
            </a:avLst>
          </a:prstGeom>
          <a:solidFill>
            <a:srgbClr val="EC4899"/>
          </a:solidFill>
          <a:ln w="12700">
            <a:solidFill>
              <a:srgbClr val="EC4899"/>
            </a:solidFill>
            <a:prstDash val="solid"/>
          </a:ln>
        </p:spPr>
      </p:sp>
      <p:sp>
        <p:nvSpPr>
          <p:cNvPr id="41" name="Shape 39"/>
          <p:cNvSpPr/>
          <p:nvPr/>
        </p:nvSpPr>
        <p:spPr>
          <a:xfrm>
            <a:off x="6309360" y="5321808"/>
            <a:ext cx="54864" cy="1298448"/>
          </a:xfrm>
          <a:prstGeom prst="rect">
            <a:avLst/>
          </a:prstGeom>
          <a:solidFill>
            <a:srgbClr val="EC4899"/>
          </a:solidFill>
          <a:ln w="12700">
            <a:solidFill>
              <a:srgbClr val="EC4899"/>
            </a:solidFill>
            <a:prstDash val="solid"/>
          </a:ln>
        </p:spPr>
      </p:sp>
      <p:sp>
        <p:nvSpPr>
          <p:cNvPr id="42" name="Text 40"/>
          <p:cNvSpPr/>
          <p:nvPr/>
        </p:nvSpPr>
        <p:spPr>
          <a:xfrm>
            <a:off x="6473952" y="5413248"/>
            <a:ext cx="5358384" cy="274320"/>
          </a:xfrm>
          <a:prstGeom prst="rect">
            <a:avLst/>
          </a:prstGeom>
          <a:noFill/>
          <a:ln/>
        </p:spPr>
        <p:txBody>
          <a:bodyPr wrap="square" lIns="0" tIns="0" rIns="0" bIns="0" rtlCol="0" anchor="ctr"/>
          <a:lstStyle/>
          <a:p>
            <a:pPr indent="0" marL="0">
              <a:buNone/>
            </a:pPr>
            <a:r>
              <a:rPr lang="en-US" sz="1150" b="1" dirty="0">
                <a:solidFill>
                  <a:srgbClr val="EC4899"/>
                </a:solidFill>
                <a:latin typeface="Cambria" pitchFamily="34" charset="0"/>
                <a:ea typeface="Cambria" pitchFamily="34" charset="-122"/>
                <a:cs typeface="Cambria" pitchFamily="34" charset="-120"/>
              </a:rPr>
              <a:t>Save as .xlsx not .xls</a:t>
            </a:r>
            <a:endParaRPr lang="en-US" sz="1150" dirty="0"/>
          </a:p>
        </p:txBody>
      </p:sp>
      <p:sp>
        <p:nvSpPr>
          <p:cNvPr id="43" name="Text 41"/>
          <p:cNvSpPr/>
          <p:nvPr/>
        </p:nvSpPr>
        <p:spPr>
          <a:xfrm>
            <a:off x="6473952" y="5742432"/>
            <a:ext cx="5358384" cy="80467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.xls is the old 1997-2003 format. Limits of 65,536 rows and 256 columns. .xlsx supports 1,048,576 rows and 16,384 columns. Always save as .xlsx.</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85C38"/>
          </a:solidFill>
          <a:ln w="12700">
            <a:solidFill>
              <a:srgbClr val="185C3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EXCEL QUICK REFERENCE CHEAT SHEET</a:t>
            </a:r>
            <a:endParaRPr lang="en-US" sz="2600" dirty="0"/>
          </a:p>
        </p:txBody>
      </p:sp>
      <p:sp>
        <p:nvSpPr>
          <p:cNvPr id="4" name="Shape 2"/>
          <p:cNvSpPr/>
          <p:nvPr/>
        </p:nvSpPr>
        <p:spPr>
          <a:xfrm>
            <a:off x="411480" y="1078992"/>
            <a:ext cx="2907792" cy="1335024"/>
          </a:xfrm>
          <a:prstGeom prst="roundRect">
            <a:avLst>
              <a:gd name="adj" fmla="val 6849"/>
            </a:avLst>
          </a:prstGeom>
          <a:solidFill>
            <a:srgbClr val="F1F5F9"/>
          </a:solidFill>
          <a:ln w="13970">
            <a:solidFill>
              <a:srgbClr val="217346"/>
            </a:solidFill>
            <a:prstDash val="solid"/>
          </a:ln>
          <a:effectLst>
            <a:outerShdw sx="100000" sy="100000" kx="0" ky="0" algn="bl" rotWithShape="0" blurRad="63500" dist="25400" dir="2700000">
              <a:srgbClr val="000000">
                <a:alpha val="12000"/>
              </a:srgbClr>
            </a:outerShdw>
          </a:effectLst>
        </p:spPr>
      </p:sp>
      <p:sp>
        <p:nvSpPr>
          <p:cNvPr id="5" name="Shape 3"/>
          <p:cNvSpPr/>
          <p:nvPr/>
        </p:nvSpPr>
        <p:spPr>
          <a:xfrm>
            <a:off x="411480" y="1078992"/>
            <a:ext cx="2907792" cy="36576"/>
          </a:xfrm>
          <a:prstGeom prst="rect">
            <a:avLst>
              <a:gd name="adj" fmla="val 250000"/>
            </a:avLst>
          </a:prstGeom>
          <a:solidFill>
            <a:srgbClr val="217346"/>
          </a:solidFill>
          <a:ln w="12700">
            <a:solidFill>
              <a:srgbClr val="217346"/>
            </a:solidFill>
            <a:prstDash val="solid"/>
          </a:ln>
        </p:spPr>
      </p:sp>
      <p:sp>
        <p:nvSpPr>
          <p:cNvPr id="6" name="Text 4"/>
          <p:cNvSpPr/>
          <p:nvPr/>
        </p:nvSpPr>
        <p:spPr>
          <a:xfrm>
            <a:off x="521208" y="1170432"/>
            <a:ext cx="2688336" cy="274320"/>
          </a:xfrm>
          <a:prstGeom prst="rect">
            <a:avLst/>
          </a:prstGeom>
          <a:noFill/>
          <a:ln/>
        </p:spPr>
        <p:txBody>
          <a:bodyPr wrap="square" lIns="0" tIns="0" rIns="0" bIns="0" rtlCol="0" anchor="ctr"/>
          <a:lstStyle/>
          <a:p>
            <a:pPr indent="0" marL="0">
              <a:buNone/>
            </a:pPr>
            <a:r>
              <a:rPr lang="en-US" sz="1050" b="1" dirty="0">
                <a:solidFill>
                  <a:srgbClr val="217346"/>
                </a:solidFill>
                <a:latin typeface="Cambria" pitchFamily="34" charset="0"/>
                <a:ea typeface="Cambria" pitchFamily="34" charset="-122"/>
                <a:cs typeface="Cambria" pitchFamily="34" charset="-120"/>
              </a:rPr>
              <a:t>Essential Shortcuts</a:t>
            </a:r>
            <a:endParaRPr lang="en-US" sz="1050" dirty="0"/>
          </a:p>
        </p:txBody>
      </p:sp>
      <p:sp>
        <p:nvSpPr>
          <p:cNvPr id="7" name="Text 5"/>
          <p:cNvSpPr/>
          <p:nvPr/>
        </p:nvSpPr>
        <p:spPr>
          <a:xfrm>
            <a:off x="521208" y="1499616"/>
            <a:ext cx="2688336" cy="841248"/>
          </a:xfrm>
          <a:prstGeom prst="rect">
            <a:avLst/>
          </a:prstGeom>
          <a:noFill/>
          <a:ln/>
        </p:spPr>
        <p:txBody>
          <a:bodyPr wrap="square" lIns="0" tIns="0" rIns="0" bIns="0" rtlCol="0" anchor="ctr"/>
          <a:lstStyle/>
          <a:p>
            <a:pPr indent="0" marL="0">
              <a:buNone/>
            </a:pPr>
            <a:r>
              <a:rPr lang="en-US" sz="850" dirty="0">
                <a:solidFill>
                  <a:srgbClr val="172041"/>
                </a:solidFill>
                <a:latin typeface="Courier New" pitchFamily="34" charset="0"/>
                <a:ea typeface="Courier New" pitchFamily="34" charset="-122"/>
                <a:cs typeface="Courier New" pitchFamily="34" charset="-120"/>
              </a:rPr>
              <a:t>Ctrl+S=Save  Ctrl+Z=Undo  Ctrl+F=Find</a:t>
            </a:r>
            <a:endParaRPr lang="en-US" sz="850" dirty="0"/>
          </a:p>
          <a:p>
            <a:pPr indent="0" marL="0">
              <a:buNone/>
            </a:pPr>
            <a:r>
              <a:rPr lang="en-US" sz="850" dirty="0">
                <a:solidFill>
                  <a:srgbClr val="172041"/>
                </a:solidFill>
                <a:latin typeface="Courier New" pitchFamily="34" charset="0"/>
                <a:ea typeface="Courier New" pitchFamily="34" charset="-122"/>
                <a:cs typeface="Courier New" pitchFamily="34" charset="-120"/>
              </a:rPr>
              <a:t>F2=Edit cell  F4=Toggle $  Ctrl+1=Format</a:t>
            </a:r>
            <a:endParaRPr lang="en-US" sz="850" dirty="0"/>
          </a:p>
        </p:txBody>
      </p:sp>
      <p:sp>
        <p:nvSpPr>
          <p:cNvPr id="8" name="Shape 6"/>
          <p:cNvSpPr/>
          <p:nvPr/>
        </p:nvSpPr>
        <p:spPr>
          <a:xfrm>
            <a:off x="3429000" y="1078992"/>
            <a:ext cx="2907792" cy="1335024"/>
          </a:xfrm>
          <a:prstGeom prst="roundRect">
            <a:avLst>
              <a:gd name="adj" fmla="val 6849"/>
            </a:avLst>
          </a:prstGeom>
          <a:solidFill>
            <a:srgbClr val="F1F5F9"/>
          </a:solidFill>
          <a:ln w="13970">
            <a:solidFill>
              <a:srgbClr val="3B82F6"/>
            </a:solidFill>
            <a:prstDash val="solid"/>
          </a:ln>
          <a:effectLst>
            <a:outerShdw sx="100000" sy="100000" kx="0" ky="0" algn="bl" rotWithShape="0" blurRad="63500" dist="25400" dir="2700000">
              <a:srgbClr val="000000">
                <a:alpha val="12000"/>
              </a:srgbClr>
            </a:outerShdw>
          </a:effectLst>
        </p:spPr>
      </p:sp>
      <p:sp>
        <p:nvSpPr>
          <p:cNvPr id="9" name="Shape 7"/>
          <p:cNvSpPr/>
          <p:nvPr/>
        </p:nvSpPr>
        <p:spPr>
          <a:xfrm>
            <a:off x="3429000" y="1078992"/>
            <a:ext cx="2907792" cy="36576"/>
          </a:xfrm>
          <a:prstGeom prst="rect">
            <a:avLst>
              <a:gd name="adj" fmla="val 250000"/>
            </a:avLst>
          </a:prstGeom>
          <a:solidFill>
            <a:srgbClr val="3B82F6"/>
          </a:solidFill>
          <a:ln w="12700">
            <a:solidFill>
              <a:srgbClr val="3B82F6"/>
            </a:solidFill>
            <a:prstDash val="solid"/>
          </a:ln>
        </p:spPr>
      </p:sp>
      <p:sp>
        <p:nvSpPr>
          <p:cNvPr id="10" name="Text 8"/>
          <p:cNvSpPr/>
          <p:nvPr/>
        </p:nvSpPr>
        <p:spPr>
          <a:xfrm>
            <a:off x="3538728" y="1170432"/>
            <a:ext cx="2688336" cy="274320"/>
          </a:xfrm>
          <a:prstGeom prst="rect">
            <a:avLst/>
          </a:prstGeom>
          <a:noFill/>
          <a:ln/>
        </p:spPr>
        <p:txBody>
          <a:bodyPr wrap="square" lIns="0" tIns="0" rIns="0" bIns="0" rtlCol="0" anchor="ctr"/>
          <a:lstStyle/>
          <a:p>
            <a:pPr indent="0" marL="0">
              <a:buNone/>
            </a:pPr>
            <a:r>
              <a:rPr lang="en-US" sz="1050" b="1" dirty="0">
                <a:solidFill>
                  <a:srgbClr val="3B82F6"/>
                </a:solidFill>
                <a:latin typeface="Cambria" pitchFamily="34" charset="0"/>
                <a:ea typeface="Cambria" pitchFamily="34" charset="-122"/>
                <a:cs typeface="Cambria" pitchFamily="34" charset="-120"/>
              </a:rPr>
              <a:t>Navigation</a:t>
            </a:r>
            <a:endParaRPr lang="en-US" sz="1050" dirty="0"/>
          </a:p>
        </p:txBody>
      </p:sp>
      <p:sp>
        <p:nvSpPr>
          <p:cNvPr id="11" name="Text 9"/>
          <p:cNvSpPr/>
          <p:nvPr/>
        </p:nvSpPr>
        <p:spPr>
          <a:xfrm>
            <a:off x="3538728" y="1499616"/>
            <a:ext cx="2688336" cy="841248"/>
          </a:xfrm>
          <a:prstGeom prst="rect">
            <a:avLst/>
          </a:prstGeom>
          <a:noFill/>
          <a:ln/>
        </p:spPr>
        <p:txBody>
          <a:bodyPr wrap="square" lIns="0" tIns="0" rIns="0" bIns="0" rtlCol="0" anchor="ctr"/>
          <a:lstStyle/>
          <a:p>
            <a:pPr indent="0" marL="0">
              <a:buNone/>
            </a:pPr>
            <a:r>
              <a:rPr lang="en-US" sz="850" dirty="0">
                <a:solidFill>
                  <a:srgbClr val="172041"/>
                </a:solidFill>
                <a:latin typeface="Courier New" pitchFamily="34" charset="0"/>
                <a:ea typeface="Courier New" pitchFamily="34" charset="-122"/>
                <a:cs typeface="Courier New" pitchFamily="34" charset="-120"/>
              </a:rPr>
              <a:t>Ctrl+End=Last cell  Ctrl+Home=A1</a:t>
            </a:r>
            <a:endParaRPr lang="en-US" sz="850" dirty="0"/>
          </a:p>
          <a:p>
            <a:pPr indent="0" marL="0">
              <a:buNone/>
            </a:pPr>
            <a:r>
              <a:rPr lang="en-US" sz="850" dirty="0">
                <a:solidFill>
                  <a:srgbClr val="172041"/>
                </a:solidFill>
                <a:latin typeface="Courier New" pitchFamily="34" charset="0"/>
                <a:ea typeface="Courier New" pitchFamily="34" charset="-122"/>
                <a:cs typeface="Courier New" pitchFamily="34" charset="-120"/>
              </a:rPr>
              <a:t>Ctrl+Arrow=Data edge  Ctrl+G=Go To</a:t>
            </a:r>
            <a:endParaRPr lang="en-US" sz="850" dirty="0"/>
          </a:p>
        </p:txBody>
      </p:sp>
      <p:sp>
        <p:nvSpPr>
          <p:cNvPr id="12" name="Shape 10"/>
          <p:cNvSpPr/>
          <p:nvPr/>
        </p:nvSpPr>
        <p:spPr>
          <a:xfrm>
            <a:off x="6446520" y="1078992"/>
            <a:ext cx="2907792" cy="1335024"/>
          </a:xfrm>
          <a:prstGeom prst="roundRect">
            <a:avLst>
              <a:gd name="adj" fmla="val 6849"/>
            </a:avLst>
          </a:prstGeom>
          <a:solidFill>
            <a:srgbClr val="F1F5F9"/>
          </a:solidFill>
          <a:ln w="13970">
            <a:solidFill>
              <a:srgbClr val="8B5CF6"/>
            </a:solidFill>
            <a:prstDash val="solid"/>
          </a:ln>
          <a:effectLst>
            <a:outerShdw sx="100000" sy="100000" kx="0" ky="0" algn="bl" rotWithShape="0" blurRad="63500" dist="25400" dir="2700000">
              <a:srgbClr val="000000">
                <a:alpha val="12000"/>
              </a:srgbClr>
            </a:outerShdw>
          </a:effectLst>
        </p:spPr>
      </p:sp>
      <p:sp>
        <p:nvSpPr>
          <p:cNvPr id="13" name="Shape 11"/>
          <p:cNvSpPr/>
          <p:nvPr/>
        </p:nvSpPr>
        <p:spPr>
          <a:xfrm>
            <a:off x="6446520" y="1078992"/>
            <a:ext cx="2907792" cy="36576"/>
          </a:xfrm>
          <a:prstGeom prst="rect">
            <a:avLst>
              <a:gd name="adj" fmla="val 250000"/>
            </a:avLst>
          </a:prstGeom>
          <a:solidFill>
            <a:srgbClr val="8B5CF6"/>
          </a:solidFill>
          <a:ln w="12700">
            <a:solidFill>
              <a:srgbClr val="8B5CF6"/>
            </a:solidFill>
            <a:prstDash val="solid"/>
          </a:ln>
        </p:spPr>
      </p:sp>
      <p:sp>
        <p:nvSpPr>
          <p:cNvPr id="14" name="Text 12"/>
          <p:cNvSpPr/>
          <p:nvPr/>
        </p:nvSpPr>
        <p:spPr>
          <a:xfrm>
            <a:off x="6556248" y="1170432"/>
            <a:ext cx="2688336" cy="274320"/>
          </a:xfrm>
          <a:prstGeom prst="rect">
            <a:avLst/>
          </a:prstGeom>
          <a:noFill/>
          <a:ln/>
        </p:spPr>
        <p:txBody>
          <a:bodyPr wrap="square" lIns="0" tIns="0" rIns="0" bIns="0" rtlCol="0" anchor="ctr"/>
          <a:lstStyle/>
          <a:p>
            <a:pPr indent="0" marL="0">
              <a:buNone/>
            </a:pPr>
            <a:r>
              <a:rPr lang="en-US" sz="1050" b="1" dirty="0">
                <a:solidFill>
                  <a:srgbClr val="8B5CF6"/>
                </a:solidFill>
                <a:latin typeface="Cambria" pitchFamily="34" charset="0"/>
                <a:ea typeface="Cambria" pitchFamily="34" charset="-122"/>
                <a:cs typeface="Cambria" pitchFamily="34" charset="-120"/>
              </a:rPr>
              <a:t>Selection</a:t>
            </a:r>
            <a:endParaRPr lang="en-US" sz="1050" dirty="0"/>
          </a:p>
        </p:txBody>
      </p:sp>
      <p:sp>
        <p:nvSpPr>
          <p:cNvPr id="15" name="Text 13"/>
          <p:cNvSpPr/>
          <p:nvPr/>
        </p:nvSpPr>
        <p:spPr>
          <a:xfrm>
            <a:off x="6556248" y="1499616"/>
            <a:ext cx="2688336" cy="841248"/>
          </a:xfrm>
          <a:prstGeom prst="rect">
            <a:avLst/>
          </a:prstGeom>
          <a:noFill/>
          <a:ln/>
        </p:spPr>
        <p:txBody>
          <a:bodyPr wrap="square" lIns="0" tIns="0" rIns="0" bIns="0" rtlCol="0" anchor="ctr"/>
          <a:lstStyle/>
          <a:p>
            <a:pPr indent="0" marL="0">
              <a:buNone/>
            </a:pPr>
            <a:r>
              <a:rPr lang="en-US" sz="850" dirty="0">
                <a:solidFill>
                  <a:srgbClr val="172041"/>
                </a:solidFill>
                <a:latin typeface="Courier New" pitchFamily="34" charset="0"/>
                <a:ea typeface="Courier New" pitchFamily="34" charset="-122"/>
                <a:cs typeface="Courier New" pitchFamily="34" charset="-120"/>
              </a:rPr>
              <a:t>Ctrl+A=Select all  Ctrl+Space=Column</a:t>
            </a:r>
            <a:endParaRPr lang="en-US" sz="850" dirty="0"/>
          </a:p>
          <a:p>
            <a:pPr indent="0" marL="0">
              <a:buNone/>
            </a:pPr>
            <a:r>
              <a:rPr lang="en-US" sz="850" dirty="0">
                <a:solidFill>
                  <a:srgbClr val="172041"/>
                </a:solidFill>
                <a:latin typeface="Courier New" pitchFamily="34" charset="0"/>
                <a:ea typeface="Courier New" pitchFamily="34" charset="-122"/>
                <a:cs typeface="Courier New" pitchFamily="34" charset="-120"/>
              </a:rPr>
              <a:t>Shift+Space=Row  Ctrl+Shift+End=To last</a:t>
            </a:r>
            <a:endParaRPr lang="en-US" sz="850" dirty="0"/>
          </a:p>
        </p:txBody>
      </p:sp>
      <p:sp>
        <p:nvSpPr>
          <p:cNvPr id="16" name="Shape 14"/>
          <p:cNvSpPr/>
          <p:nvPr/>
        </p:nvSpPr>
        <p:spPr>
          <a:xfrm>
            <a:off x="9464040" y="1078992"/>
            <a:ext cx="2907792" cy="1335024"/>
          </a:xfrm>
          <a:prstGeom prst="roundRect">
            <a:avLst>
              <a:gd name="adj" fmla="val 6849"/>
            </a:avLst>
          </a:prstGeom>
          <a:solidFill>
            <a:srgbClr val="F1F5F9"/>
          </a:solidFill>
          <a:ln w="13970">
            <a:solidFill>
              <a:srgbClr val="217346"/>
            </a:solidFill>
            <a:prstDash val="solid"/>
          </a:ln>
          <a:effectLst>
            <a:outerShdw sx="100000" sy="100000" kx="0" ky="0" algn="bl" rotWithShape="0" blurRad="63500" dist="25400" dir="2700000">
              <a:srgbClr val="000000">
                <a:alpha val="12000"/>
              </a:srgbClr>
            </a:outerShdw>
          </a:effectLst>
        </p:spPr>
      </p:sp>
      <p:sp>
        <p:nvSpPr>
          <p:cNvPr id="17" name="Shape 15"/>
          <p:cNvSpPr/>
          <p:nvPr/>
        </p:nvSpPr>
        <p:spPr>
          <a:xfrm>
            <a:off x="9464040" y="1078992"/>
            <a:ext cx="2907792" cy="36576"/>
          </a:xfrm>
          <a:prstGeom prst="rect">
            <a:avLst>
              <a:gd name="adj" fmla="val 250000"/>
            </a:avLst>
          </a:prstGeom>
          <a:solidFill>
            <a:srgbClr val="217346"/>
          </a:solidFill>
          <a:ln w="12700">
            <a:solidFill>
              <a:srgbClr val="217346"/>
            </a:solidFill>
            <a:prstDash val="solid"/>
          </a:ln>
        </p:spPr>
      </p:sp>
      <p:sp>
        <p:nvSpPr>
          <p:cNvPr id="18" name="Text 16"/>
          <p:cNvSpPr/>
          <p:nvPr/>
        </p:nvSpPr>
        <p:spPr>
          <a:xfrm>
            <a:off x="9573768" y="1170432"/>
            <a:ext cx="2688336" cy="274320"/>
          </a:xfrm>
          <a:prstGeom prst="rect">
            <a:avLst/>
          </a:prstGeom>
          <a:noFill/>
          <a:ln/>
        </p:spPr>
        <p:txBody>
          <a:bodyPr wrap="square" lIns="0" tIns="0" rIns="0" bIns="0" rtlCol="0" anchor="ctr"/>
          <a:lstStyle/>
          <a:p>
            <a:pPr indent="0" marL="0">
              <a:buNone/>
            </a:pPr>
            <a:r>
              <a:rPr lang="en-US" sz="1050" b="1" dirty="0">
                <a:solidFill>
                  <a:srgbClr val="217346"/>
                </a:solidFill>
                <a:latin typeface="Cambria" pitchFamily="34" charset="0"/>
                <a:ea typeface="Cambria" pitchFamily="34" charset="-122"/>
                <a:cs typeface="Cambria" pitchFamily="34" charset="-120"/>
              </a:rPr>
              <a:t>SUM / COUNT</a:t>
            </a:r>
            <a:endParaRPr lang="en-US" sz="1050" dirty="0"/>
          </a:p>
        </p:txBody>
      </p:sp>
      <p:sp>
        <p:nvSpPr>
          <p:cNvPr id="19" name="Text 17"/>
          <p:cNvSpPr/>
          <p:nvPr/>
        </p:nvSpPr>
        <p:spPr>
          <a:xfrm>
            <a:off x="9573768" y="1499616"/>
            <a:ext cx="2688336" cy="841248"/>
          </a:xfrm>
          <a:prstGeom prst="rect">
            <a:avLst/>
          </a:prstGeom>
          <a:noFill/>
          <a:ln/>
        </p:spPr>
        <p:txBody>
          <a:bodyPr wrap="square" lIns="0" tIns="0" rIns="0" bIns="0" rtlCol="0" anchor="ctr"/>
          <a:lstStyle/>
          <a:p>
            <a:pPr indent="0" marL="0">
              <a:buNone/>
            </a:pPr>
            <a:r>
              <a:rPr lang="en-US" sz="850" dirty="0">
                <a:solidFill>
                  <a:srgbClr val="172041"/>
                </a:solidFill>
                <a:latin typeface="Courier New" pitchFamily="34" charset="0"/>
                <a:ea typeface="Courier New" pitchFamily="34" charset="-122"/>
                <a:cs typeface="Courier New" pitchFamily="34" charset="-120"/>
              </a:rPr>
              <a:t>=SUM(B2:B100)  =AVERAGE(B:B)</a:t>
            </a:r>
            <a:endParaRPr lang="en-US" sz="850" dirty="0"/>
          </a:p>
          <a:p>
            <a:pPr indent="0" marL="0">
              <a:buNone/>
            </a:pPr>
            <a:r>
              <a:rPr lang="en-US" sz="850" dirty="0">
                <a:solidFill>
                  <a:srgbClr val="172041"/>
                </a:solidFill>
                <a:latin typeface="Courier New" pitchFamily="34" charset="0"/>
                <a:ea typeface="Courier New" pitchFamily="34" charset="-122"/>
                <a:cs typeface="Courier New" pitchFamily="34" charset="-120"/>
              </a:rPr>
              <a:t>=COUNT(B:B)  =COUNTA(A:A)  =MAX(B:B)</a:t>
            </a:r>
            <a:endParaRPr lang="en-US" sz="850" dirty="0"/>
          </a:p>
        </p:txBody>
      </p:sp>
      <p:sp>
        <p:nvSpPr>
          <p:cNvPr id="20" name="Shape 18"/>
          <p:cNvSpPr/>
          <p:nvPr/>
        </p:nvSpPr>
        <p:spPr>
          <a:xfrm>
            <a:off x="411480" y="2505456"/>
            <a:ext cx="2907792" cy="1335024"/>
          </a:xfrm>
          <a:prstGeom prst="roundRect">
            <a:avLst>
              <a:gd name="adj" fmla="val 6849"/>
            </a:avLst>
          </a:prstGeom>
          <a:solidFill>
            <a:srgbClr val="F1F5F9"/>
          </a:solidFill>
          <a:ln w="13970">
            <a:solidFill>
              <a:srgbClr val="217346"/>
            </a:solidFill>
            <a:prstDash val="solid"/>
          </a:ln>
          <a:effectLst>
            <a:outerShdw sx="100000" sy="100000" kx="0" ky="0" algn="bl" rotWithShape="0" blurRad="63500" dist="25400" dir="2700000">
              <a:srgbClr val="000000">
                <a:alpha val="12000"/>
              </a:srgbClr>
            </a:outerShdw>
          </a:effectLst>
        </p:spPr>
      </p:sp>
      <p:sp>
        <p:nvSpPr>
          <p:cNvPr id="21" name="Shape 19"/>
          <p:cNvSpPr/>
          <p:nvPr/>
        </p:nvSpPr>
        <p:spPr>
          <a:xfrm>
            <a:off x="411480" y="2505456"/>
            <a:ext cx="2907792" cy="36576"/>
          </a:xfrm>
          <a:prstGeom prst="rect">
            <a:avLst>
              <a:gd name="adj" fmla="val 250000"/>
            </a:avLst>
          </a:prstGeom>
          <a:solidFill>
            <a:srgbClr val="217346"/>
          </a:solidFill>
          <a:ln w="12700">
            <a:solidFill>
              <a:srgbClr val="217346"/>
            </a:solidFill>
            <a:prstDash val="solid"/>
          </a:ln>
        </p:spPr>
      </p:sp>
      <p:sp>
        <p:nvSpPr>
          <p:cNvPr id="22" name="Text 20"/>
          <p:cNvSpPr/>
          <p:nvPr/>
        </p:nvSpPr>
        <p:spPr>
          <a:xfrm>
            <a:off x="521208" y="2596896"/>
            <a:ext cx="2688336" cy="274320"/>
          </a:xfrm>
          <a:prstGeom prst="rect">
            <a:avLst/>
          </a:prstGeom>
          <a:noFill/>
          <a:ln/>
        </p:spPr>
        <p:txBody>
          <a:bodyPr wrap="square" lIns="0" tIns="0" rIns="0" bIns="0" rtlCol="0" anchor="ctr"/>
          <a:lstStyle/>
          <a:p>
            <a:pPr indent="0" marL="0">
              <a:buNone/>
            </a:pPr>
            <a:r>
              <a:rPr lang="en-US" sz="1050" b="1" dirty="0">
                <a:solidFill>
                  <a:srgbClr val="217346"/>
                </a:solidFill>
                <a:latin typeface="Cambria" pitchFamily="34" charset="0"/>
                <a:ea typeface="Cambria" pitchFamily="34" charset="-122"/>
                <a:cs typeface="Cambria" pitchFamily="34" charset="-120"/>
              </a:rPr>
              <a:t>Conditional Sum</a:t>
            </a:r>
            <a:endParaRPr lang="en-US" sz="1050" dirty="0"/>
          </a:p>
        </p:txBody>
      </p:sp>
      <p:sp>
        <p:nvSpPr>
          <p:cNvPr id="23" name="Text 21"/>
          <p:cNvSpPr/>
          <p:nvPr/>
        </p:nvSpPr>
        <p:spPr>
          <a:xfrm>
            <a:off x="521208" y="2926080"/>
            <a:ext cx="2688336" cy="841248"/>
          </a:xfrm>
          <a:prstGeom prst="rect">
            <a:avLst/>
          </a:prstGeom>
          <a:noFill/>
          <a:ln/>
        </p:spPr>
        <p:txBody>
          <a:bodyPr wrap="square" lIns="0" tIns="0" rIns="0" bIns="0" rtlCol="0" anchor="ctr"/>
          <a:lstStyle/>
          <a:p>
            <a:pPr indent="0" marL="0">
              <a:buNone/>
            </a:pPr>
            <a:r>
              <a:rPr lang="en-US" sz="850" dirty="0">
                <a:solidFill>
                  <a:srgbClr val="172041"/>
                </a:solidFill>
                <a:latin typeface="Courier New" pitchFamily="34" charset="0"/>
                <a:ea typeface="Courier New" pitchFamily="34" charset="-122"/>
                <a:cs typeface="Courier New" pitchFamily="34" charset="-120"/>
              </a:rPr>
              <a:t>=SUMIF(A:A,"X",B:B)</a:t>
            </a:r>
            <a:endParaRPr lang="en-US" sz="850" dirty="0"/>
          </a:p>
          <a:p>
            <a:pPr indent="0" marL="0">
              <a:buNone/>
            </a:pPr>
            <a:r>
              <a:rPr lang="en-US" sz="850" dirty="0">
                <a:solidFill>
                  <a:srgbClr val="172041"/>
                </a:solidFill>
                <a:latin typeface="Courier New" pitchFamily="34" charset="0"/>
                <a:ea typeface="Courier New" pitchFamily="34" charset="-122"/>
                <a:cs typeface="Courier New" pitchFamily="34" charset="-120"/>
              </a:rPr>
              <a:t>=SUMIFS(C:C,A:A,"X",B:B,"&amp;gt;0")</a:t>
            </a:r>
            <a:endParaRPr lang="en-US" sz="850" dirty="0"/>
          </a:p>
        </p:txBody>
      </p:sp>
      <p:sp>
        <p:nvSpPr>
          <p:cNvPr id="24" name="Shape 22"/>
          <p:cNvSpPr/>
          <p:nvPr/>
        </p:nvSpPr>
        <p:spPr>
          <a:xfrm>
            <a:off x="3429000" y="2505456"/>
            <a:ext cx="2907792" cy="1335024"/>
          </a:xfrm>
          <a:prstGeom prst="roundRect">
            <a:avLst>
              <a:gd name="adj" fmla="val 6849"/>
            </a:avLst>
          </a:prstGeom>
          <a:solidFill>
            <a:srgbClr val="F1F5F9"/>
          </a:solidFill>
          <a:ln w="13970">
            <a:solidFill>
              <a:srgbClr val="F59E0B"/>
            </a:solidFill>
            <a:prstDash val="solid"/>
          </a:ln>
          <a:effectLst>
            <a:outerShdw sx="100000" sy="100000" kx="0" ky="0" algn="bl" rotWithShape="0" blurRad="63500" dist="25400" dir="2700000">
              <a:srgbClr val="000000">
                <a:alpha val="12000"/>
              </a:srgbClr>
            </a:outerShdw>
          </a:effectLst>
        </p:spPr>
      </p:sp>
      <p:sp>
        <p:nvSpPr>
          <p:cNvPr id="25" name="Shape 23"/>
          <p:cNvSpPr/>
          <p:nvPr/>
        </p:nvSpPr>
        <p:spPr>
          <a:xfrm>
            <a:off x="3429000" y="2505456"/>
            <a:ext cx="2907792" cy="36576"/>
          </a:xfrm>
          <a:prstGeom prst="rect">
            <a:avLst>
              <a:gd name="adj" fmla="val 250000"/>
            </a:avLst>
          </a:prstGeom>
          <a:solidFill>
            <a:srgbClr val="F59E0B"/>
          </a:solidFill>
          <a:ln w="12700">
            <a:solidFill>
              <a:srgbClr val="F59E0B"/>
            </a:solidFill>
            <a:prstDash val="solid"/>
          </a:ln>
        </p:spPr>
      </p:sp>
      <p:sp>
        <p:nvSpPr>
          <p:cNvPr id="26" name="Text 24"/>
          <p:cNvSpPr/>
          <p:nvPr/>
        </p:nvSpPr>
        <p:spPr>
          <a:xfrm>
            <a:off x="3538728" y="2596896"/>
            <a:ext cx="2688336" cy="274320"/>
          </a:xfrm>
          <a:prstGeom prst="rect">
            <a:avLst/>
          </a:prstGeom>
          <a:noFill/>
          <a:ln/>
        </p:spPr>
        <p:txBody>
          <a:bodyPr wrap="square" lIns="0" tIns="0" rIns="0" bIns="0" rtlCol="0" anchor="ctr"/>
          <a:lstStyle/>
          <a:p>
            <a:pPr indent="0" marL="0">
              <a:buNone/>
            </a:pPr>
            <a:r>
              <a:rPr lang="en-US" sz="1050" b="1" dirty="0">
                <a:solidFill>
                  <a:srgbClr val="F59E0B"/>
                </a:solidFill>
                <a:latin typeface="Cambria" pitchFamily="34" charset="0"/>
                <a:ea typeface="Cambria" pitchFamily="34" charset="-122"/>
                <a:cs typeface="Cambria" pitchFamily="34" charset="-120"/>
              </a:rPr>
              <a:t>IF Logic</a:t>
            </a:r>
            <a:endParaRPr lang="en-US" sz="1050" dirty="0"/>
          </a:p>
        </p:txBody>
      </p:sp>
      <p:sp>
        <p:nvSpPr>
          <p:cNvPr id="27" name="Text 25"/>
          <p:cNvSpPr/>
          <p:nvPr/>
        </p:nvSpPr>
        <p:spPr>
          <a:xfrm>
            <a:off x="3538728" y="2926080"/>
            <a:ext cx="2688336" cy="841248"/>
          </a:xfrm>
          <a:prstGeom prst="rect">
            <a:avLst/>
          </a:prstGeom>
          <a:noFill/>
          <a:ln/>
        </p:spPr>
        <p:txBody>
          <a:bodyPr wrap="square" lIns="0" tIns="0" rIns="0" bIns="0" rtlCol="0" anchor="ctr"/>
          <a:lstStyle/>
          <a:p>
            <a:pPr indent="0" marL="0">
              <a:buNone/>
            </a:pPr>
            <a:r>
              <a:rPr lang="en-US" sz="850" dirty="0">
                <a:solidFill>
                  <a:srgbClr val="172041"/>
                </a:solidFill>
                <a:latin typeface="Courier New" pitchFamily="34" charset="0"/>
                <a:ea typeface="Courier New" pitchFamily="34" charset="-122"/>
                <a:cs typeface="Courier New" pitchFamily="34" charset="-120"/>
              </a:rPr>
              <a:t>=IF(A1&amp;gt;100,"High","Low")</a:t>
            </a:r>
            <a:endParaRPr lang="en-US" sz="850" dirty="0"/>
          </a:p>
          <a:p>
            <a:pPr indent="0" marL="0">
              <a:buNone/>
            </a:pPr>
            <a:r>
              <a:rPr lang="en-US" sz="850" dirty="0">
                <a:solidFill>
                  <a:srgbClr val="172041"/>
                </a:solidFill>
                <a:latin typeface="Courier New" pitchFamily="34" charset="0"/>
                <a:ea typeface="Courier New" pitchFamily="34" charset="-122"/>
                <a:cs typeface="Courier New" pitchFamily="34" charset="-120"/>
              </a:rPr>
              <a:t>=IFS(A1&amp;gt;90,"A",A1&amp;gt;70,"B",TRUE,"C")</a:t>
            </a:r>
            <a:endParaRPr lang="en-US" sz="850" dirty="0"/>
          </a:p>
        </p:txBody>
      </p:sp>
      <p:sp>
        <p:nvSpPr>
          <p:cNvPr id="28" name="Shape 26"/>
          <p:cNvSpPr/>
          <p:nvPr/>
        </p:nvSpPr>
        <p:spPr>
          <a:xfrm>
            <a:off x="6446520" y="2505456"/>
            <a:ext cx="2907792" cy="1335024"/>
          </a:xfrm>
          <a:prstGeom prst="roundRect">
            <a:avLst>
              <a:gd name="adj" fmla="val 6849"/>
            </a:avLst>
          </a:prstGeom>
          <a:solidFill>
            <a:srgbClr val="F1F5F9"/>
          </a:solidFill>
          <a:ln w="13970">
            <a:solidFill>
              <a:srgbClr val="F97316"/>
            </a:solidFill>
            <a:prstDash val="solid"/>
          </a:ln>
          <a:effectLst>
            <a:outerShdw sx="100000" sy="100000" kx="0" ky="0" algn="bl" rotWithShape="0" blurRad="63500" dist="25400" dir="2700000">
              <a:srgbClr val="000000">
                <a:alpha val="12000"/>
              </a:srgbClr>
            </a:outerShdw>
          </a:effectLst>
        </p:spPr>
      </p:sp>
      <p:sp>
        <p:nvSpPr>
          <p:cNvPr id="29" name="Shape 27"/>
          <p:cNvSpPr/>
          <p:nvPr/>
        </p:nvSpPr>
        <p:spPr>
          <a:xfrm>
            <a:off x="6446520" y="2505456"/>
            <a:ext cx="2907792" cy="36576"/>
          </a:xfrm>
          <a:prstGeom prst="rect">
            <a:avLst>
              <a:gd name="adj" fmla="val 250000"/>
            </a:avLst>
          </a:prstGeom>
          <a:solidFill>
            <a:srgbClr val="F97316"/>
          </a:solidFill>
          <a:ln w="12700">
            <a:solidFill>
              <a:srgbClr val="F97316"/>
            </a:solidFill>
            <a:prstDash val="solid"/>
          </a:ln>
        </p:spPr>
      </p:sp>
      <p:sp>
        <p:nvSpPr>
          <p:cNvPr id="30" name="Text 28"/>
          <p:cNvSpPr/>
          <p:nvPr/>
        </p:nvSpPr>
        <p:spPr>
          <a:xfrm>
            <a:off x="6556248" y="2596896"/>
            <a:ext cx="2688336" cy="274320"/>
          </a:xfrm>
          <a:prstGeom prst="rect">
            <a:avLst/>
          </a:prstGeom>
          <a:noFill/>
          <a:ln/>
        </p:spPr>
        <p:txBody>
          <a:bodyPr wrap="square" lIns="0" tIns="0" rIns="0" bIns="0" rtlCol="0" anchor="ctr"/>
          <a:lstStyle/>
          <a:p>
            <a:pPr indent="0" marL="0">
              <a:buNone/>
            </a:pPr>
            <a:r>
              <a:rPr lang="en-US" sz="1050" b="1" dirty="0">
                <a:solidFill>
                  <a:srgbClr val="F97316"/>
                </a:solidFill>
                <a:latin typeface="Cambria" pitchFamily="34" charset="0"/>
                <a:ea typeface="Cambria" pitchFamily="34" charset="-122"/>
                <a:cs typeface="Cambria" pitchFamily="34" charset="-120"/>
              </a:rPr>
              <a:t>VLOOKUP</a:t>
            </a:r>
            <a:endParaRPr lang="en-US" sz="1050" dirty="0"/>
          </a:p>
        </p:txBody>
      </p:sp>
      <p:sp>
        <p:nvSpPr>
          <p:cNvPr id="31" name="Text 29"/>
          <p:cNvSpPr/>
          <p:nvPr/>
        </p:nvSpPr>
        <p:spPr>
          <a:xfrm>
            <a:off x="6556248" y="2926080"/>
            <a:ext cx="2688336" cy="841248"/>
          </a:xfrm>
          <a:prstGeom prst="rect">
            <a:avLst/>
          </a:prstGeom>
          <a:noFill/>
          <a:ln/>
        </p:spPr>
        <p:txBody>
          <a:bodyPr wrap="square" lIns="0" tIns="0" rIns="0" bIns="0" rtlCol="0" anchor="ctr"/>
          <a:lstStyle/>
          <a:p>
            <a:pPr indent="0" marL="0">
              <a:buNone/>
            </a:pPr>
            <a:r>
              <a:rPr lang="en-US" sz="850" dirty="0">
                <a:solidFill>
                  <a:srgbClr val="172041"/>
                </a:solidFill>
                <a:latin typeface="Courier New" pitchFamily="34" charset="0"/>
                <a:ea typeface="Courier New" pitchFamily="34" charset="-122"/>
                <a:cs typeface="Courier New" pitchFamily="34" charset="-120"/>
              </a:rPr>
              <a:t>=VLOOKUP(A1,Table,3,0)</a:t>
            </a:r>
            <a:endParaRPr lang="en-US" sz="850" dirty="0"/>
          </a:p>
          <a:p>
            <a:pPr indent="0" marL="0">
              <a:buNone/>
            </a:pPr>
            <a:r>
              <a:rPr lang="en-US" sz="850" dirty="0">
                <a:solidFill>
                  <a:srgbClr val="172041"/>
                </a:solidFill>
                <a:latin typeface="Courier New" pitchFamily="34" charset="0"/>
                <a:ea typeface="Courier New" pitchFamily="34" charset="-122"/>
                <a:cs typeface="Courier New" pitchFamily="34" charset="-120"/>
              </a:rPr>
              <a:t>=IFERROR(VLOOKUP(A1,T,2,0),"?")</a:t>
            </a:r>
            <a:endParaRPr lang="en-US" sz="850" dirty="0"/>
          </a:p>
        </p:txBody>
      </p:sp>
      <p:sp>
        <p:nvSpPr>
          <p:cNvPr id="32" name="Shape 30"/>
          <p:cNvSpPr/>
          <p:nvPr/>
        </p:nvSpPr>
        <p:spPr>
          <a:xfrm>
            <a:off x="9464040" y="2505456"/>
            <a:ext cx="2907792" cy="1335024"/>
          </a:xfrm>
          <a:prstGeom prst="roundRect">
            <a:avLst>
              <a:gd name="adj" fmla="val 6849"/>
            </a:avLst>
          </a:prstGeom>
          <a:solidFill>
            <a:srgbClr val="F1F5F9"/>
          </a:solidFill>
          <a:ln w="13970">
            <a:solidFill>
              <a:srgbClr val="22C55E"/>
            </a:solidFill>
            <a:prstDash val="solid"/>
          </a:ln>
          <a:effectLst>
            <a:outerShdw sx="100000" sy="100000" kx="0" ky="0" algn="bl" rotWithShape="0" blurRad="63500" dist="25400" dir="2700000">
              <a:srgbClr val="000000">
                <a:alpha val="12000"/>
              </a:srgbClr>
            </a:outerShdw>
          </a:effectLst>
        </p:spPr>
      </p:sp>
      <p:sp>
        <p:nvSpPr>
          <p:cNvPr id="33" name="Shape 31"/>
          <p:cNvSpPr/>
          <p:nvPr/>
        </p:nvSpPr>
        <p:spPr>
          <a:xfrm>
            <a:off x="9464040" y="2505456"/>
            <a:ext cx="2907792" cy="36576"/>
          </a:xfrm>
          <a:prstGeom prst="rect">
            <a:avLst>
              <a:gd name="adj" fmla="val 250000"/>
            </a:avLst>
          </a:prstGeom>
          <a:solidFill>
            <a:srgbClr val="22C55E"/>
          </a:solidFill>
          <a:ln w="12700">
            <a:solidFill>
              <a:srgbClr val="22C55E"/>
            </a:solidFill>
            <a:prstDash val="solid"/>
          </a:ln>
        </p:spPr>
      </p:sp>
      <p:sp>
        <p:nvSpPr>
          <p:cNvPr id="34" name="Text 32"/>
          <p:cNvSpPr/>
          <p:nvPr/>
        </p:nvSpPr>
        <p:spPr>
          <a:xfrm>
            <a:off x="9573768" y="2596896"/>
            <a:ext cx="2688336" cy="274320"/>
          </a:xfrm>
          <a:prstGeom prst="rect">
            <a:avLst/>
          </a:prstGeom>
          <a:noFill/>
          <a:ln/>
        </p:spPr>
        <p:txBody>
          <a:bodyPr wrap="square" lIns="0" tIns="0" rIns="0" bIns="0" rtlCol="0" anchor="ctr"/>
          <a:lstStyle/>
          <a:p>
            <a:pPr indent="0" marL="0">
              <a:buNone/>
            </a:pPr>
            <a:r>
              <a:rPr lang="en-US" sz="1050" b="1" dirty="0">
                <a:solidFill>
                  <a:srgbClr val="22C55E"/>
                </a:solidFill>
                <a:latin typeface="Cambria" pitchFamily="34" charset="0"/>
                <a:ea typeface="Cambria" pitchFamily="34" charset="-122"/>
                <a:cs typeface="Cambria" pitchFamily="34" charset="-120"/>
              </a:rPr>
              <a:t>XLOOKUP</a:t>
            </a:r>
            <a:endParaRPr lang="en-US" sz="1050" dirty="0"/>
          </a:p>
        </p:txBody>
      </p:sp>
      <p:sp>
        <p:nvSpPr>
          <p:cNvPr id="35" name="Text 33"/>
          <p:cNvSpPr/>
          <p:nvPr/>
        </p:nvSpPr>
        <p:spPr>
          <a:xfrm>
            <a:off x="9573768" y="2926080"/>
            <a:ext cx="2688336" cy="841248"/>
          </a:xfrm>
          <a:prstGeom prst="rect">
            <a:avLst/>
          </a:prstGeom>
          <a:noFill/>
          <a:ln/>
        </p:spPr>
        <p:txBody>
          <a:bodyPr wrap="square" lIns="0" tIns="0" rIns="0" bIns="0" rtlCol="0" anchor="ctr"/>
          <a:lstStyle/>
          <a:p>
            <a:pPr indent="0" marL="0">
              <a:buNone/>
            </a:pPr>
            <a:r>
              <a:rPr lang="en-US" sz="850" dirty="0">
                <a:solidFill>
                  <a:srgbClr val="172041"/>
                </a:solidFill>
                <a:latin typeface="Courier New" pitchFamily="34" charset="0"/>
                <a:ea typeface="Courier New" pitchFamily="34" charset="-122"/>
                <a:cs typeface="Courier New" pitchFamily="34" charset="-120"/>
              </a:rPr>
              <a:t>=XLOOKUP(A1,B:B,C:C,"Not found")</a:t>
            </a:r>
            <a:endParaRPr lang="en-US" sz="850" dirty="0"/>
          </a:p>
          <a:p>
            <a:pPr indent="0" marL="0">
              <a:buNone/>
            </a:pPr>
            <a:r>
              <a:rPr lang="en-US" sz="850" dirty="0">
                <a:solidFill>
                  <a:srgbClr val="172041"/>
                </a:solidFill>
                <a:latin typeface="Courier New" pitchFamily="34" charset="0"/>
                <a:ea typeface="Courier New" pitchFamily="34" charset="-122"/>
                <a:cs typeface="Courier New" pitchFamily="34" charset="-120"/>
              </a:rPr>
              <a:t>(Excel 365/2021 only)</a:t>
            </a:r>
            <a:endParaRPr lang="en-US" sz="850" dirty="0"/>
          </a:p>
        </p:txBody>
      </p:sp>
      <p:sp>
        <p:nvSpPr>
          <p:cNvPr id="36" name="Shape 34"/>
          <p:cNvSpPr/>
          <p:nvPr/>
        </p:nvSpPr>
        <p:spPr>
          <a:xfrm>
            <a:off x="411480" y="3931920"/>
            <a:ext cx="2907792" cy="1335024"/>
          </a:xfrm>
          <a:prstGeom prst="roundRect">
            <a:avLst>
              <a:gd name="adj" fmla="val 6849"/>
            </a:avLst>
          </a:prstGeom>
          <a:solidFill>
            <a:srgbClr val="F1F5F9"/>
          </a:solidFill>
          <a:ln w="13970">
            <a:solidFill>
              <a:srgbClr val="8B5CF6"/>
            </a:solidFill>
            <a:prstDash val="solid"/>
          </a:ln>
          <a:effectLst>
            <a:outerShdw sx="100000" sy="100000" kx="0" ky="0" algn="bl" rotWithShape="0" blurRad="63500" dist="25400" dir="2700000">
              <a:srgbClr val="000000">
                <a:alpha val="12000"/>
              </a:srgbClr>
            </a:outerShdw>
          </a:effectLst>
        </p:spPr>
      </p:sp>
      <p:sp>
        <p:nvSpPr>
          <p:cNvPr id="37" name="Shape 35"/>
          <p:cNvSpPr/>
          <p:nvPr/>
        </p:nvSpPr>
        <p:spPr>
          <a:xfrm>
            <a:off x="411480" y="3931920"/>
            <a:ext cx="2907792" cy="36576"/>
          </a:xfrm>
          <a:prstGeom prst="rect">
            <a:avLst>
              <a:gd name="adj" fmla="val 250000"/>
            </a:avLst>
          </a:prstGeom>
          <a:solidFill>
            <a:srgbClr val="8B5CF6"/>
          </a:solidFill>
          <a:ln w="12700">
            <a:solidFill>
              <a:srgbClr val="8B5CF6"/>
            </a:solidFill>
            <a:prstDash val="solid"/>
          </a:ln>
        </p:spPr>
      </p:sp>
      <p:sp>
        <p:nvSpPr>
          <p:cNvPr id="38" name="Text 36"/>
          <p:cNvSpPr/>
          <p:nvPr/>
        </p:nvSpPr>
        <p:spPr>
          <a:xfrm>
            <a:off x="521208" y="4023360"/>
            <a:ext cx="2688336" cy="274320"/>
          </a:xfrm>
          <a:prstGeom prst="rect">
            <a:avLst/>
          </a:prstGeom>
          <a:noFill/>
          <a:ln/>
        </p:spPr>
        <p:txBody>
          <a:bodyPr wrap="square" lIns="0" tIns="0" rIns="0" bIns="0" rtlCol="0" anchor="ctr"/>
          <a:lstStyle/>
          <a:p>
            <a:pPr indent="0" marL="0">
              <a:buNone/>
            </a:pPr>
            <a:r>
              <a:rPr lang="en-US" sz="1050" b="1" dirty="0">
                <a:solidFill>
                  <a:srgbClr val="8B5CF6"/>
                </a:solidFill>
                <a:latin typeface="Cambria" pitchFamily="34" charset="0"/>
                <a:ea typeface="Cambria" pitchFamily="34" charset="-122"/>
                <a:cs typeface="Cambria" pitchFamily="34" charset="-120"/>
              </a:rPr>
              <a:t>INDEX MATCH</a:t>
            </a:r>
            <a:endParaRPr lang="en-US" sz="1050" dirty="0"/>
          </a:p>
        </p:txBody>
      </p:sp>
      <p:sp>
        <p:nvSpPr>
          <p:cNvPr id="39" name="Text 37"/>
          <p:cNvSpPr/>
          <p:nvPr/>
        </p:nvSpPr>
        <p:spPr>
          <a:xfrm>
            <a:off x="521208" y="4352544"/>
            <a:ext cx="2688336" cy="841248"/>
          </a:xfrm>
          <a:prstGeom prst="rect">
            <a:avLst/>
          </a:prstGeom>
          <a:noFill/>
          <a:ln/>
        </p:spPr>
        <p:txBody>
          <a:bodyPr wrap="square" lIns="0" tIns="0" rIns="0" bIns="0" rtlCol="0" anchor="ctr"/>
          <a:lstStyle/>
          <a:p>
            <a:pPr indent="0" marL="0">
              <a:buNone/>
            </a:pPr>
            <a:r>
              <a:rPr lang="en-US" sz="850" dirty="0">
                <a:solidFill>
                  <a:srgbClr val="172041"/>
                </a:solidFill>
                <a:latin typeface="Courier New" pitchFamily="34" charset="0"/>
                <a:ea typeface="Courier New" pitchFamily="34" charset="-122"/>
                <a:cs typeface="Courier New" pitchFamily="34" charset="-120"/>
              </a:rPr>
              <a:t>=INDEX(C:C,MATCH(A1,B:B,0))</a:t>
            </a:r>
            <a:endParaRPr lang="en-US" sz="850" dirty="0"/>
          </a:p>
          <a:p>
            <a:pPr indent="0" marL="0">
              <a:buNone/>
            </a:pPr>
            <a:r>
              <a:rPr lang="en-US" sz="850" dirty="0">
                <a:solidFill>
                  <a:srgbClr val="172041"/>
                </a:solidFill>
                <a:latin typeface="Courier New" pitchFamily="34" charset="0"/>
                <a:ea typeface="Courier New" pitchFamily="34" charset="-122"/>
                <a:cs typeface="Courier New" pitchFamily="34" charset="-120"/>
              </a:rPr>
              <a:t>Can look in any direction</a:t>
            </a:r>
            <a:endParaRPr lang="en-US" sz="850" dirty="0"/>
          </a:p>
        </p:txBody>
      </p:sp>
      <p:sp>
        <p:nvSpPr>
          <p:cNvPr id="40" name="Shape 38"/>
          <p:cNvSpPr/>
          <p:nvPr/>
        </p:nvSpPr>
        <p:spPr>
          <a:xfrm>
            <a:off x="3429000" y="3931920"/>
            <a:ext cx="2907792" cy="1335024"/>
          </a:xfrm>
          <a:prstGeom prst="roundRect">
            <a:avLst>
              <a:gd name="adj" fmla="val 6849"/>
            </a:avLst>
          </a:prstGeom>
          <a:solidFill>
            <a:srgbClr val="F1F5F9"/>
          </a:solidFill>
          <a:ln w="13970">
            <a:solidFill>
              <a:srgbClr val="06B6D4"/>
            </a:solidFill>
            <a:prstDash val="solid"/>
          </a:ln>
          <a:effectLst>
            <a:outerShdw sx="100000" sy="100000" kx="0" ky="0" algn="bl" rotWithShape="0" blurRad="63500" dist="25400" dir="2700000">
              <a:srgbClr val="000000">
                <a:alpha val="12000"/>
              </a:srgbClr>
            </a:outerShdw>
          </a:effectLst>
        </p:spPr>
      </p:sp>
      <p:sp>
        <p:nvSpPr>
          <p:cNvPr id="41" name="Shape 39"/>
          <p:cNvSpPr/>
          <p:nvPr/>
        </p:nvSpPr>
        <p:spPr>
          <a:xfrm>
            <a:off x="3429000" y="3931920"/>
            <a:ext cx="2907792" cy="36576"/>
          </a:xfrm>
          <a:prstGeom prst="rect">
            <a:avLst>
              <a:gd name="adj" fmla="val 250000"/>
            </a:avLst>
          </a:prstGeom>
          <a:solidFill>
            <a:srgbClr val="06B6D4"/>
          </a:solidFill>
          <a:ln w="12700">
            <a:solidFill>
              <a:srgbClr val="06B6D4"/>
            </a:solidFill>
            <a:prstDash val="solid"/>
          </a:ln>
        </p:spPr>
      </p:sp>
      <p:sp>
        <p:nvSpPr>
          <p:cNvPr id="42" name="Text 40"/>
          <p:cNvSpPr/>
          <p:nvPr/>
        </p:nvSpPr>
        <p:spPr>
          <a:xfrm>
            <a:off x="3538728" y="4023360"/>
            <a:ext cx="2688336" cy="274320"/>
          </a:xfrm>
          <a:prstGeom prst="rect">
            <a:avLst/>
          </a:prstGeom>
          <a:noFill/>
          <a:ln/>
        </p:spPr>
        <p:txBody>
          <a:bodyPr wrap="square" lIns="0" tIns="0" rIns="0" bIns="0" rtlCol="0" anchor="ctr"/>
          <a:lstStyle/>
          <a:p>
            <a:pPr indent="0" marL="0">
              <a:buNone/>
            </a:pPr>
            <a:r>
              <a:rPr lang="en-US" sz="1050" b="1" dirty="0">
                <a:solidFill>
                  <a:srgbClr val="06B6D4"/>
                </a:solidFill>
                <a:latin typeface="Cambria" pitchFamily="34" charset="0"/>
                <a:ea typeface="Cambria" pitchFamily="34" charset="-122"/>
                <a:cs typeface="Cambria" pitchFamily="34" charset="-120"/>
              </a:rPr>
              <a:t>Text Functions</a:t>
            </a:r>
            <a:endParaRPr lang="en-US" sz="1050" dirty="0"/>
          </a:p>
        </p:txBody>
      </p:sp>
      <p:sp>
        <p:nvSpPr>
          <p:cNvPr id="43" name="Text 41"/>
          <p:cNvSpPr/>
          <p:nvPr/>
        </p:nvSpPr>
        <p:spPr>
          <a:xfrm>
            <a:off x="3538728" y="4352544"/>
            <a:ext cx="2688336" cy="841248"/>
          </a:xfrm>
          <a:prstGeom prst="rect">
            <a:avLst/>
          </a:prstGeom>
          <a:noFill/>
          <a:ln/>
        </p:spPr>
        <p:txBody>
          <a:bodyPr wrap="square" lIns="0" tIns="0" rIns="0" bIns="0" rtlCol="0" anchor="ctr"/>
          <a:lstStyle/>
          <a:p>
            <a:pPr indent="0" marL="0">
              <a:buNone/>
            </a:pPr>
            <a:r>
              <a:rPr lang="en-US" sz="850" dirty="0">
                <a:solidFill>
                  <a:srgbClr val="172041"/>
                </a:solidFill>
                <a:latin typeface="Courier New" pitchFamily="34" charset="0"/>
                <a:ea typeface="Courier New" pitchFamily="34" charset="-122"/>
                <a:cs typeface="Courier New" pitchFamily="34" charset="-120"/>
              </a:rPr>
              <a:t>=TRIM(A1)  =PROPER(A1)  =LEN(A1)</a:t>
            </a:r>
            <a:endParaRPr lang="en-US" sz="850" dirty="0"/>
          </a:p>
          <a:p>
            <a:pPr indent="0" marL="0">
              <a:buNone/>
            </a:pPr>
            <a:r>
              <a:rPr lang="en-US" sz="850" dirty="0">
                <a:solidFill>
                  <a:srgbClr val="172041"/>
                </a:solidFill>
                <a:latin typeface="Courier New" pitchFamily="34" charset="0"/>
                <a:ea typeface="Courier New" pitchFamily="34" charset="-122"/>
                <a:cs typeface="Courier New" pitchFamily="34" charset="-120"/>
              </a:rPr>
              <a:t>=LEFT(A1,5)  =MID(A1,3,4)  =CONCAT(A1,B1)</a:t>
            </a:r>
            <a:endParaRPr lang="en-US" sz="850" dirty="0"/>
          </a:p>
        </p:txBody>
      </p:sp>
      <p:sp>
        <p:nvSpPr>
          <p:cNvPr id="44" name="Shape 42"/>
          <p:cNvSpPr/>
          <p:nvPr/>
        </p:nvSpPr>
        <p:spPr>
          <a:xfrm>
            <a:off x="6446520" y="3931920"/>
            <a:ext cx="2907792" cy="1335024"/>
          </a:xfrm>
          <a:prstGeom prst="roundRect">
            <a:avLst>
              <a:gd name="adj" fmla="val 6849"/>
            </a:avLst>
          </a:prstGeom>
          <a:solidFill>
            <a:srgbClr val="F1F5F9"/>
          </a:solidFill>
          <a:ln w="13970">
            <a:solidFill>
              <a:srgbClr val="3B82F6"/>
            </a:solidFill>
            <a:prstDash val="solid"/>
          </a:ln>
          <a:effectLst>
            <a:outerShdw sx="100000" sy="100000" kx="0" ky="0" algn="bl" rotWithShape="0" blurRad="63500" dist="25400" dir="2700000">
              <a:srgbClr val="000000">
                <a:alpha val="12000"/>
              </a:srgbClr>
            </a:outerShdw>
          </a:effectLst>
        </p:spPr>
      </p:sp>
      <p:sp>
        <p:nvSpPr>
          <p:cNvPr id="45" name="Shape 43"/>
          <p:cNvSpPr/>
          <p:nvPr/>
        </p:nvSpPr>
        <p:spPr>
          <a:xfrm>
            <a:off x="6446520" y="3931920"/>
            <a:ext cx="2907792" cy="36576"/>
          </a:xfrm>
          <a:prstGeom prst="rect">
            <a:avLst>
              <a:gd name="adj" fmla="val 250000"/>
            </a:avLst>
          </a:prstGeom>
          <a:solidFill>
            <a:srgbClr val="3B82F6"/>
          </a:solidFill>
          <a:ln w="12700">
            <a:solidFill>
              <a:srgbClr val="3B82F6"/>
            </a:solidFill>
            <a:prstDash val="solid"/>
          </a:ln>
        </p:spPr>
      </p:sp>
      <p:sp>
        <p:nvSpPr>
          <p:cNvPr id="46" name="Text 44"/>
          <p:cNvSpPr/>
          <p:nvPr/>
        </p:nvSpPr>
        <p:spPr>
          <a:xfrm>
            <a:off x="6556248" y="4023360"/>
            <a:ext cx="2688336" cy="274320"/>
          </a:xfrm>
          <a:prstGeom prst="rect">
            <a:avLst/>
          </a:prstGeom>
          <a:noFill/>
          <a:ln/>
        </p:spPr>
        <p:txBody>
          <a:bodyPr wrap="square" lIns="0" tIns="0" rIns="0" bIns="0" rtlCol="0" anchor="ctr"/>
          <a:lstStyle/>
          <a:p>
            <a:pPr indent="0" marL="0">
              <a:buNone/>
            </a:pPr>
            <a:r>
              <a:rPr lang="en-US" sz="1050" b="1" dirty="0">
                <a:solidFill>
                  <a:srgbClr val="3B82F6"/>
                </a:solidFill>
                <a:latin typeface="Cambria" pitchFamily="34" charset="0"/>
                <a:ea typeface="Cambria" pitchFamily="34" charset="-122"/>
                <a:cs typeface="Cambria" pitchFamily="34" charset="-120"/>
              </a:rPr>
              <a:t>Date Functions</a:t>
            </a:r>
            <a:endParaRPr lang="en-US" sz="1050" dirty="0"/>
          </a:p>
        </p:txBody>
      </p:sp>
      <p:sp>
        <p:nvSpPr>
          <p:cNvPr id="47" name="Text 45"/>
          <p:cNvSpPr/>
          <p:nvPr/>
        </p:nvSpPr>
        <p:spPr>
          <a:xfrm>
            <a:off x="6556248" y="4352544"/>
            <a:ext cx="2688336" cy="841248"/>
          </a:xfrm>
          <a:prstGeom prst="rect">
            <a:avLst/>
          </a:prstGeom>
          <a:noFill/>
          <a:ln/>
        </p:spPr>
        <p:txBody>
          <a:bodyPr wrap="square" lIns="0" tIns="0" rIns="0" bIns="0" rtlCol="0" anchor="ctr"/>
          <a:lstStyle/>
          <a:p>
            <a:pPr indent="0" marL="0">
              <a:buNone/>
            </a:pPr>
            <a:r>
              <a:rPr lang="en-US" sz="850" dirty="0">
                <a:solidFill>
                  <a:srgbClr val="172041"/>
                </a:solidFill>
                <a:latin typeface="Courier New" pitchFamily="34" charset="0"/>
                <a:ea typeface="Courier New" pitchFamily="34" charset="-122"/>
                <a:cs typeface="Courier New" pitchFamily="34" charset="-120"/>
              </a:rPr>
              <a:t>=TODAY()  =YEAR(A1)  =MONTH(A1)</a:t>
            </a:r>
            <a:endParaRPr lang="en-US" sz="850" dirty="0"/>
          </a:p>
          <a:p>
            <a:pPr indent="0" marL="0">
              <a:buNone/>
            </a:pPr>
            <a:r>
              <a:rPr lang="en-US" sz="850" dirty="0">
                <a:solidFill>
                  <a:srgbClr val="172041"/>
                </a:solidFill>
                <a:latin typeface="Courier New" pitchFamily="34" charset="0"/>
                <a:ea typeface="Courier New" pitchFamily="34" charset="-122"/>
                <a:cs typeface="Courier New" pitchFamily="34" charset="-120"/>
              </a:rPr>
              <a:t>=DATEDIF(A1,B1,"Y")  =EDATE(A1,3)</a:t>
            </a:r>
            <a:endParaRPr lang="en-US" sz="850" dirty="0"/>
          </a:p>
        </p:txBody>
      </p:sp>
      <p:sp>
        <p:nvSpPr>
          <p:cNvPr id="48" name="Shape 46"/>
          <p:cNvSpPr/>
          <p:nvPr/>
        </p:nvSpPr>
        <p:spPr>
          <a:xfrm>
            <a:off x="9464040" y="3931920"/>
            <a:ext cx="2907792" cy="1335024"/>
          </a:xfrm>
          <a:prstGeom prst="roundRect">
            <a:avLst>
              <a:gd name="adj" fmla="val 6849"/>
            </a:avLst>
          </a:prstGeom>
          <a:solidFill>
            <a:srgbClr val="F1F5F9"/>
          </a:solidFill>
          <a:ln w="13970">
            <a:solidFill>
              <a:srgbClr val="F43F5E"/>
            </a:solidFill>
            <a:prstDash val="solid"/>
          </a:ln>
          <a:effectLst>
            <a:outerShdw sx="100000" sy="100000" kx="0" ky="0" algn="bl" rotWithShape="0" blurRad="63500" dist="25400" dir="2700000">
              <a:srgbClr val="000000">
                <a:alpha val="12000"/>
              </a:srgbClr>
            </a:outerShdw>
          </a:effectLst>
        </p:spPr>
      </p:sp>
      <p:sp>
        <p:nvSpPr>
          <p:cNvPr id="49" name="Shape 47"/>
          <p:cNvSpPr/>
          <p:nvPr/>
        </p:nvSpPr>
        <p:spPr>
          <a:xfrm>
            <a:off x="9464040" y="3931920"/>
            <a:ext cx="2907792" cy="36576"/>
          </a:xfrm>
          <a:prstGeom prst="rect">
            <a:avLst>
              <a:gd name="adj" fmla="val 250000"/>
            </a:avLst>
          </a:prstGeom>
          <a:solidFill>
            <a:srgbClr val="F43F5E"/>
          </a:solidFill>
          <a:ln w="12700">
            <a:solidFill>
              <a:srgbClr val="F43F5E"/>
            </a:solidFill>
            <a:prstDash val="solid"/>
          </a:ln>
        </p:spPr>
      </p:sp>
      <p:sp>
        <p:nvSpPr>
          <p:cNvPr id="50" name="Text 48"/>
          <p:cNvSpPr/>
          <p:nvPr/>
        </p:nvSpPr>
        <p:spPr>
          <a:xfrm>
            <a:off x="9573768" y="4023360"/>
            <a:ext cx="2688336" cy="274320"/>
          </a:xfrm>
          <a:prstGeom prst="rect">
            <a:avLst/>
          </a:prstGeom>
          <a:noFill/>
          <a:ln/>
        </p:spPr>
        <p:txBody>
          <a:bodyPr wrap="square" lIns="0" tIns="0" rIns="0" bIns="0" rtlCol="0" anchor="ctr"/>
          <a:lstStyle/>
          <a:p>
            <a:pPr indent="0" marL="0">
              <a:buNone/>
            </a:pPr>
            <a:r>
              <a:rPr lang="en-US" sz="1050" b="1" dirty="0">
                <a:solidFill>
                  <a:srgbClr val="F43F5E"/>
                </a:solidFill>
                <a:latin typeface="Cambria" pitchFamily="34" charset="0"/>
                <a:ea typeface="Cambria" pitchFamily="34" charset="-122"/>
                <a:cs typeface="Cambria" pitchFamily="34" charset="-120"/>
              </a:rPr>
              <a:t>Error Handling</a:t>
            </a:r>
            <a:endParaRPr lang="en-US" sz="1050" dirty="0"/>
          </a:p>
        </p:txBody>
      </p:sp>
      <p:sp>
        <p:nvSpPr>
          <p:cNvPr id="51" name="Text 49"/>
          <p:cNvSpPr/>
          <p:nvPr/>
        </p:nvSpPr>
        <p:spPr>
          <a:xfrm>
            <a:off x="9573768" y="4352544"/>
            <a:ext cx="2688336" cy="841248"/>
          </a:xfrm>
          <a:prstGeom prst="rect">
            <a:avLst/>
          </a:prstGeom>
          <a:noFill/>
          <a:ln/>
        </p:spPr>
        <p:txBody>
          <a:bodyPr wrap="square" lIns="0" tIns="0" rIns="0" bIns="0" rtlCol="0" anchor="ctr"/>
          <a:lstStyle/>
          <a:p>
            <a:pPr indent="0" marL="0">
              <a:buNone/>
            </a:pPr>
            <a:r>
              <a:rPr lang="en-US" sz="850" dirty="0">
                <a:solidFill>
                  <a:srgbClr val="172041"/>
                </a:solidFill>
                <a:latin typeface="Courier New" pitchFamily="34" charset="0"/>
                <a:ea typeface="Courier New" pitchFamily="34" charset="-122"/>
                <a:cs typeface="Courier New" pitchFamily="34" charset="-120"/>
              </a:rPr>
              <a:t>=IFERROR(formula, 0)</a:t>
            </a:r>
            <a:endParaRPr lang="en-US" sz="850" dirty="0"/>
          </a:p>
          <a:p>
            <a:pPr indent="0" marL="0">
              <a:buNone/>
            </a:pPr>
            <a:r>
              <a:rPr lang="en-US" sz="850" dirty="0">
                <a:solidFill>
                  <a:srgbClr val="172041"/>
                </a:solidFill>
                <a:latin typeface="Courier New" pitchFamily="34" charset="0"/>
                <a:ea typeface="Courier New" pitchFamily="34" charset="-122"/>
                <a:cs typeface="Courier New" pitchFamily="34" charset="-120"/>
              </a:rPr>
              <a:t>=IFNA(VLOOKUP(...),"Missing")</a:t>
            </a:r>
            <a:endParaRPr lang="en-US" sz="850" dirty="0"/>
          </a:p>
        </p:txBody>
      </p:sp>
      <p:sp>
        <p:nvSpPr>
          <p:cNvPr id="52" name="Shape 50"/>
          <p:cNvSpPr/>
          <p:nvPr/>
        </p:nvSpPr>
        <p:spPr>
          <a:xfrm>
            <a:off x="411480" y="5358384"/>
            <a:ext cx="2907792" cy="1335024"/>
          </a:xfrm>
          <a:prstGeom prst="roundRect">
            <a:avLst>
              <a:gd name="adj" fmla="val 6849"/>
            </a:avLst>
          </a:prstGeom>
          <a:solidFill>
            <a:srgbClr val="F1F5F9"/>
          </a:solidFill>
          <a:ln w="13970">
            <a:solidFill>
              <a:srgbClr val="F59E0B"/>
            </a:solidFill>
            <a:prstDash val="solid"/>
          </a:ln>
          <a:effectLst>
            <a:outerShdw sx="100000" sy="100000" kx="0" ky="0" algn="bl" rotWithShape="0" blurRad="63500" dist="25400" dir="2700000">
              <a:srgbClr val="000000">
                <a:alpha val="12000"/>
              </a:srgbClr>
            </a:outerShdw>
          </a:effectLst>
        </p:spPr>
      </p:sp>
      <p:sp>
        <p:nvSpPr>
          <p:cNvPr id="53" name="Shape 51"/>
          <p:cNvSpPr/>
          <p:nvPr/>
        </p:nvSpPr>
        <p:spPr>
          <a:xfrm>
            <a:off x="411480" y="5358384"/>
            <a:ext cx="2907792" cy="36576"/>
          </a:xfrm>
          <a:prstGeom prst="rect">
            <a:avLst>
              <a:gd name="adj" fmla="val 250000"/>
            </a:avLst>
          </a:prstGeom>
          <a:solidFill>
            <a:srgbClr val="F59E0B"/>
          </a:solidFill>
          <a:ln w="12700">
            <a:solidFill>
              <a:srgbClr val="F59E0B"/>
            </a:solidFill>
            <a:prstDash val="solid"/>
          </a:ln>
        </p:spPr>
      </p:sp>
      <p:sp>
        <p:nvSpPr>
          <p:cNvPr id="54" name="Text 52"/>
          <p:cNvSpPr/>
          <p:nvPr/>
        </p:nvSpPr>
        <p:spPr>
          <a:xfrm>
            <a:off x="521208" y="5449824"/>
            <a:ext cx="2688336" cy="274320"/>
          </a:xfrm>
          <a:prstGeom prst="rect">
            <a:avLst/>
          </a:prstGeom>
          <a:noFill/>
          <a:ln/>
        </p:spPr>
        <p:txBody>
          <a:bodyPr wrap="square" lIns="0" tIns="0" rIns="0" bIns="0" rtlCol="0" anchor="ctr"/>
          <a:lstStyle/>
          <a:p>
            <a:pPr indent="0" marL="0">
              <a:buNone/>
            </a:pPr>
            <a:r>
              <a:rPr lang="en-US" sz="1050" b="1" dirty="0">
                <a:solidFill>
                  <a:srgbClr val="F59E0B"/>
                </a:solidFill>
                <a:latin typeface="Cambria" pitchFamily="34" charset="0"/>
                <a:ea typeface="Cambria" pitchFamily="34" charset="-122"/>
                <a:cs typeface="Cambria" pitchFamily="34" charset="-120"/>
              </a:rPr>
              <a:t>Conditional Formatting</a:t>
            </a:r>
            <a:endParaRPr lang="en-US" sz="1050" dirty="0"/>
          </a:p>
        </p:txBody>
      </p:sp>
      <p:sp>
        <p:nvSpPr>
          <p:cNvPr id="55" name="Text 53"/>
          <p:cNvSpPr/>
          <p:nvPr/>
        </p:nvSpPr>
        <p:spPr>
          <a:xfrm>
            <a:off x="521208" y="5779008"/>
            <a:ext cx="2688336" cy="841248"/>
          </a:xfrm>
          <a:prstGeom prst="rect">
            <a:avLst/>
          </a:prstGeom>
          <a:noFill/>
          <a:ln/>
        </p:spPr>
        <p:txBody>
          <a:bodyPr wrap="square" lIns="0" tIns="0" rIns="0" bIns="0" rtlCol="0" anchor="ctr"/>
          <a:lstStyle/>
          <a:p>
            <a:pPr indent="0" marL="0">
              <a:buNone/>
            </a:pPr>
            <a:r>
              <a:rPr lang="en-US" sz="850" dirty="0">
                <a:solidFill>
                  <a:srgbClr val="172041"/>
                </a:solidFill>
                <a:latin typeface="Courier New" pitchFamily="34" charset="0"/>
                <a:ea typeface="Courier New" pitchFamily="34" charset="-122"/>
                <a:cs typeface="Courier New" pitchFamily="34" charset="-120"/>
              </a:rPr>
              <a:t>Home -&amp;gt; Conditional Formatting</a:t>
            </a:r>
            <a:endParaRPr lang="en-US" sz="850" dirty="0"/>
          </a:p>
          <a:p>
            <a:pPr indent="0" marL="0">
              <a:buNone/>
            </a:pPr>
            <a:r>
              <a:rPr lang="en-US" sz="850" dirty="0">
                <a:solidFill>
                  <a:srgbClr val="172041"/>
                </a:solidFill>
                <a:latin typeface="Courier New" pitchFamily="34" charset="0"/>
                <a:ea typeface="Courier New" pitchFamily="34" charset="-122"/>
                <a:cs typeface="Courier New" pitchFamily="34" charset="-120"/>
              </a:rPr>
              <a:t>Data Bars, Colour Scales, Icon Sets, Custom</a:t>
            </a:r>
            <a:endParaRPr lang="en-US" sz="850" dirty="0"/>
          </a:p>
        </p:txBody>
      </p:sp>
      <p:sp>
        <p:nvSpPr>
          <p:cNvPr id="56" name="Shape 54"/>
          <p:cNvSpPr/>
          <p:nvPr/>
        </p:nvSpPr>
        <p:spPr>
          <a:xfrm>
            <a:off x="3429000" y="5358384"/>
            <a:ext cx="2907792" cy="1335024"/>
          </a:xfrm>
          <a:prstGeom prst="roundRect">
            <a:avLst>
              <a:gd name="adj" fmla="val 6849"/>
            </a:avLst>
          </a:prstGeom>
          <a:solidFill>
            <a:srgbClr val="F1F5F9"/>
          </a:solidFill>
          <a:ln w="13970">
            <a:solidFill>
              <a:srgbClr val="3B82F6"/>
            </a:solidFill>
            <a:prstDash val="solid"/>
          </a:ln>
          <a:effectLst>
            <a:outerShdw sx="100000" sy="100000" kx="0" ky="0" algn="bl" rotWithShape="0" blurRad="63500" dist="25400" dir="2700000">
              <a:srgbClr val="000000">
                <a:alpha val="12000"/>
              </a:srgbClr>
            </a:outerShdw>
          </a:effectLst>
        </p:spPr>
      </p:sp>
      <p:sp>
        <p:nvSpPr>
          <p:cNvPr id="57" name="Shape 55"/>
          <p:cNvSpPr/>
          <p:nvPr/>
        </p:nvSpPr>
        <p:spPr>
          <a:xfrm>
            <a:off x="3429000" y="5358384"/>
            <a:ext cx="2907792" cy="36576"/>
          </a:xfrm>
          <a:prstGeom prst="rect">
            <a:avLst>
              <a:gd name="adj" fmla="val 250000"/>
            </a:avLst>
          </a:prstGeom>
          <a:solidFill>
            <a:srgbClr val="3B82F6"/>
          </a:solidFill>
          <a:ln w="12700">
            <a:solidFill>
              <a:srgbClr val="3B82F6"/>
            </a:solidFill>
            <a:prstDash val="solid"/>
          </a:ln>
        </p:spPr>
      </p:sp>
      <p:sp>
        <p:nvSpPr>
          <p:cNvPr id="58" name="Text 56"/>
          <p:cNvSpPr/>
          <p:nvPr/>
        </p:nvSpPr>
        <p:spPr>
          <a:xfrm>
            <a:off x="3538728" y="5449824"/>
            <a:ext cx="2688336" cy="274320"/>
          </a:xfrm>
          <a:prstGeom prst="rect">
            <a:avLst/>
          </a:prstGeom>
          <a:noFill/>
          <a:ln/>
        </p:spPr>
        <p:txBody>
          <a:bodyPr wrap="square" lIns="0" tIns="0" rIns="0" bIns="0" rtlCol="0" anchor="ctr"/>
          <a:lstStyle/>
          <a:p>
            <a:pPr indent="0" marL="0">
              <a:buNone/>
            </a:pPr>
            <a:r>
              <a:rPr lang="en-US" sz="1050" b="1" dirty="0">
                <a:solidFill>
                  <a:srgbClr val="3B82F6"/>
                </a:solidFill>
                <a:latin typeface="Cambria" pitchFamily="34" charset="0"/>
                <a:ea typeface="Cambria" pitchFamily="34" charset="-122"/>
                <a:cs typeface="Cambria" pitchFamily="34" charset="-120"/>
              </a:rPr>
              <a:t>PivotTable</a:t>
            </a:r>
            <a:endParaRPr lang="en-US" sz="1050" dirty="0"/>
          </a:p>
        </p:txBody>
      </p:sp>
      <p:sp>
        <p:nvSpPr>
          <p:cNvPr id="59" name="Text 57"/>
          <p:cNvSpPr/>
          <p:nvPr/>
        </p:nvSpPr>
        <p:spPr>
          <a:xfrm>
            <a:off x="3538728" y="5779008"/>
            <a:ext cx="2688336" cy="841248"/>
          </a:xfrm>
          <a:prstGeom prst="rect">
            <a:avLst/>
          </a:prstGeom>
          <a:noFill/>
          <a:ln/>
        </p:spPr>
        <p:txBody>
          <a:bodyPr wrap="square" lIns="0" tIns="0" rIns="0" bIns="0" rtlCol="0" anchor="ctr"/>
          <a:lstStyle/>
          <a:p>
            <a:pPr indent="0" marL="0">
              <a:buNone/>
            </a:pPr>
            <a:r>
              <a:rPr lang="en-US" sz="850" dirty="0">
                <a:solidFill>
                  <a:srgbClr val="172041"/>
                </a:solidFill>
                <a:latin typeface="Courier New" pitchFamily="34" charset="0"/>
                <a:ea typeface="Courier New" pitchFamily="34" charset="-122"/>
                <a:cs typeface="Courier New" pitchFamily="34" charset="-120"/>
              </a:rPr>
              <a:t>Insert -&amp;gt; PivotTable</a:t>
            </a:r>
            <a:endParaRPr lang="en-US" sz="850" dirty="0"/>
          </a:p>
          <a:p>
            <a:pPr indent="0" marL="0">
              <a:buNone/>
            </a:pPr>
            <a:r>
              <a:rPr lang="en-US" sz="850" dirty="0">
                <a:solidFill>
                  <a:srgbClr val="172041"/>
                </a:solidFill>
                <a:latin typeface="Courier New" pitchFamily="34" charset="0"/>
                <a:ea typeface="Courier New" pitchFamily="34" charset="-122"/>
                <a:cs typeface="Courier New" pitchFamily="34" charset="-120"/>
              </a:rPr>
              <a:t>Drag: Rows / Columns / Values / Filters</a:t>
            </a:r>
            <a:endParaRPr lang="en-US" sz="850" dirty="0"/>
          </a:p>
        </p:txBody>
      </p:sp>
      <p:sp>
        <p:nvSpPr>
          <p:cNvPr id="60" name="Shape 58"/>
          <p:cNvSpPr/>
          <p:nvPr/>
        </p:nvSpPr>
        <p:spPr>
          <a:xfrm>
            <a:off x="6446520" y="5358384"/>
            <a:ext cx="2907792" cy="1335024"/>
          </a:xfrm>
          <a:prstGeom prst="roundRect">
            <a:avLst>
              <a:gd name="adj" fmla="val 6849"/>
            </a:avLst>
          </a:prstGeom>
          <a:solidFill>
            <a:srgbClr val="F1F5F9"/>
          </a:solidFill>
          <a:ln w="13970">
            <a:solidFill>
              <a:srgbClr val="217346"/>
            </a:solidFill>
            <a:prstDash val="solid"/>
          </a:ln>
          <a:effectLst>
            <a:outerShdw sx="100000" sy="100000" kx="0" ky="0" algn="bl" rotWithShape="0" blurRad="63500" dist="25400" dir="2700000">
              <a:srgbClr val="000000">
                <a:alpha val="12000"/>
              </a:srgbClr>
            </a:outerShdw>
          </a:effectLst>
        </p:spPr>
      </p:sp>
      <p:sp>
        <p:nvSpPr>
          <p:cNvPr id="61" name="Shape 59"/>
          <p:cNvSpPr/>
          <p:nvPr/>
        </p:nvSpPr>
        <p:spPr>
          <a:xfrm>
            <a:off x="6446520" y="5358384"/>
            <a:ext cx="2907792" cy="36576"/>
          </a:xfrm>
          <a:prstGeom prst="rect">
            <a:avLst>
              <a:gd name="adj" fmla="val 250000"/>
            </a:avLst>
          </a:prstGeom>
          <a:solidFill>
            <a:srgbClr val="217346"/>
          </a:solidFill>
          <a:ln w="12700">
            <a:solidFill>
              <a:srgbClr val="217346"/>
            </a:solidFill>
            <a:prstDash val="solid"/>
          </a:ln>
        </p:spPr>
      </p:sp>
      <p:sp>
        <p:nvSpPr>
          <p:cNvPr id="62" name="Text 60"/>
          <p:cNvSpPr/>
          <p:nvPr/>
        </p:nvSpPr>
        <p:spPr>
          <a:xfrm>
            <a:off x="6556248" y="5449824"/>
            <a:ext cx="2688336" cy="274320"/>
          </a:xfrm>
          <a:prstGeom prst="rect">
            <a:avLst/>
          </a:prstGeom>
          <a:noFill/>
          <a:ln/>
        </p:spPr>
        <p:txBody>
          <a:bodyPr wrap="square" lIns="0" tIns="0" rIns="0" bIns="0" rtlCol="0" anchor="ctr"/>
          <a:lstStyle/>
          <a:p>
            <a:pPr indent="0" marL="0">
              <a:buNone/>
            </a:pPr>
            <a:r>
              <a:rPr lang="en-US" sz="1050" b="1" dirty="0">
                <a:solidFill>
                  <a:srgbClr val="217346"/>
                </a:solidFill>
                <a:latin typeface="Cambria" pitchFamily="34" charset="0"/>
                <a:ea typeface="Cambria" pitchFamily="34" charset="-122"/>
                <a:cs typeface="Cambria" pitchFamily="34" charset="-120"/>
              </a:rPr>
              <a:t>Excel Table</a:t>
            </a:r>
            <a:endParaRPr lang="en-US" sz="1050" dirty="0"/>
          </a:p>
        </p:txBody>
      </p:sp>
      <p:sp>
        <p:nvSpPr>
          <p:cNvPr id="63" name="Text 61"/>
          <p:cNvSpPr/>
          <p:nvPr/>
        </p:nvSpPr>
        <p:spPr>
          <a:xfrm>
            <a:off x="6556248" y="5779008"/>
            <a:ext cx="2688336" cy="841248"/>
          </a:xfrm>
          <a:prstGeom prst="rect">
            <a:avLst/>
          </a:prstGeom>
          <a:noFill/>
          <a:ln/>
        </p:spPr>
        <p:txBody>
          <a:bodyPr wrap="square" lIns="0" tIns="0" rIns="0" bIns="0" rtlCol="0" anchor="ctr"/>
          <a:lstStyle/>
          <a:p>
            <a:pPr indent="0" marL="0">
              <a:buNone/>
            </a:pPr>
            <a:r>
              <a:rPr lang="en-US" sz="850" dirty="0">
                <a:solidFill>
                  <a:srgbClr val="172041"/>
                </a:solidFill>
                <a:latin typeface="Courier New" pitchFamily="34" charset="0"/>
                <a:ea typeface="Courier New" pitchFamily="34" charset="-122"/>
                <a:cs typeface="Courier New" pitchFamily="34" charset="-120"/>
              </a:rPr>
              <a:t>Ctrl+T = Create Table</a:t>
            </a:r>
            <a:endParaRPr lang="en-US" sz="850" dirty="0"/>
          </a:p>
          <a:p>
            <a:pPr indent="0" marL="0">
              <a:buNone/>
            </a:pPr>
            <a:r>
              <a:rPr lang="en-US" sz="850" dirty="0">
                <a:solidFill>
                  <a:srgbClr val="172041"/>
                </a:solidFill>
                <a:latin typeface="Courier New" pitchFamily="34" charset="0"/>
                <a:ea typeface="Courier New" pitchFamily="34" charset="-122"/>
                <a:cs typeface="Courier New" pitchFamily="34" charset="-120"/>
              </a:rPr>
              <a:t>Structured ref: =SUM(Table1[Sales])</a:t>
            </a:r>
            <a:endParaRPr lang="en-US" sz="850" dirty="0"/>
          </a:p>
        </p:txBody>
      </p:sp>
      <p:sp>
        <p:nvSpPr>
          <p:cNvPr id="64" name="Shape 62"/>
          <p:cNvSpPr/>
          <p:nvPr/>
        </p:nvSpPr>
        <p:spPr>
          <a:xfrm>
            <a:off x="9464040" y="5358384"/>
            <a:ext cx="2907792" cy="1335024"/>
          </a:xfrm>
          <a:prstGeom prst="roundRect">
            <a:avLst>
              <a:gd name="adj" fmla="val 6849"/>
            </a:avLst>
          </a:prstGeom>
          <a:solidFill>
            <a:srgbClr val="F1F5F9"/>
          </a:solidFill>
          <a:ln w="13970">
            <a:solidFill>
              <a:srgbClr val="06B6D4"/>
            </a:solidFill>
            <a:prstDash val="solid"/>
          </a:ln>
          <a:effectLst>
            <a:outerShdw sx="100000" sy="100000" kx="0" ky="0" algn="bl" rotWithShape="0" blurRad="63500" dist="25400" dir="2700000">
              <a:srgbClr val="000000">
                <a:alpha val="12000"/>
              </a:srgbClr>
            </a:outerShdw>
          </a:effectLst>
        </p:spPr>
      </p:sp>
      <p:sp>
        <p:nvSpPr>
          <p:cNvPr id="65" name="Shape 63"/>
          <p:cNvSpPr/>
          <p:nvPr/>
        </p:nvSpPr>
        <p:spPr>
          <a:xfrm>
            <a:off x="9464040" y="5358384"/>
            <a:ext cx="2907792" cy="36576"/>
          </a:xfrm>
          <a:prstGeom prst="rect">
            <a:avLst>
              <a:gd name="adj" fmla="val 250000"/>
            </a:avLst>
          </a:prstGeom>
          <a:solidFill>
            <a:srgbClr val="06B6D4"/>
          </a:solidFill>
          <a:ln w="12700">
            <a:solidFill>
              <a:srgbClr val="06B6D4"/>
            </a:solidFill>
            <a:prstDash val="solid"/>
          </a:ln>
        </p:spPr>
      </p:sp>
      <p:sp>
        <p:nvSpPr>
          <p:cNvPr id="66" name="Text 64"/>
          <p:cNvSpPr/>
          <p:nvPr/>
        </p:nvSpPr>
        <p:spPr>
          <a:xfrm>
            <a:off x="9573768" y="5449824"/>
            <a:ext cx="2688336" cy="274320"/>
          </a:xfrm>
          <a:prstGeom prst="rect">
            <a:avLst/>
          </a:prstGeom>
          <a:noFill/>
          <a:ln/>
        </p:spPr>
        <p:txBody>
          <a:bodyPr wrap="square" lIns="0" tIns="0" rIns="0" bIns="0" rtlCol="0" anchor="ctr"/>
          <a:lstStyle/>
          <a:p>
            <a:pPr indent="0" marL="0">
              <a:buNone/>
            </a:pPr>
            <a:r>
              <a:rPr lang="en-US" sz="1050" b="1" dirty="0">
                <a:solidFill>
                  <a:srgbClr val="06B6D4"/>
                </a:solidFill>
                <a:latin typeface="Cambria" pitchFamily="34" charset="0"/>
                <a:ea typeface="Cambria" pitchFamily="34" charset="-122"/>
                <a:cs typeface="Cambria" pitchFamily="34" charset="-120"/>
              </a:rPr>
              <a:t>Power Query</a:t>
            </a:r>
            <a:endParaRPr lang="en-US" sz="1050" dirty="0"/>
          </a:p>
        </p:txBody>
      </p:sp>
      <p:sp>
        <p:nvSpPr>
          <p:cNvPr id="67" name="Text 65"/>
          <p:cNvSpPr/>
          <p:nvPr/>
        </p:nvSpPr>
        <p:spPr>
          <a:xfrm>
            <a:off x="9573768" y="5779008"/>
            <a:ext cx="2688336" cy="841248"/>
          </a:xfrm>
          <a:prstGeom prst="rect">
            <a:avLst/>
          </a:prstGeom>
          <a:noFill/>
          <a:ln/>
        </p:spPr>
        <p:txBody>
          <a:bodyPr wrap="square" lIns="0" tIns="0" rIns="0" bIns="0" rtlCol="0" anchor="ctr"/>
          <a:lstStyle/>
          <a:p>
            <a:pPr indent="0" marL="0">
              <a:buNone/>
            </a:pPr>
            <a:r>
              <a:rPr lang="en-US" sz="850" dirty="0">
                <a:solidFill>
                  <a:srgbClr val="172041"/>
                </a:solidFill>
                <a:latin typeface="Courier New" pitchFamily="34" charset="0"/>
                <a:ea typeface="Courier New" pitchFamily="34" charset="-122"/>
                <a:cs typeface="Courier New" pitchFamily="34" charset="-120"/>
              </a:rPr>
              <a:t>Data -&amp;gt; Get Data -&amp;gt; From File</a:t>
            </a:r>
            <a:endParaRPr lang="en-US" sz="850" dirty="0"/>
          </a:p>
          <a:p>
            <a:pPr indent="0" marL="0">
              <a:buNone/>
            </a:pPr>
            <a:r>
              <a:rPr lang="en-US" sz="850" dirty="0">
                <a:solidFill>
                  <a:srgbClr val="172041"/>
                </a:solidFill>
                <a:latin typeface="Courier New" pitchFamily="34" charset="0"/>
                <a:ea typeface="Courier New" pitchFamily="34" charset="-122"/>
                <a:cs typeface="Courier New" pitchFamily="34" charset="-120"/>
              </a:rPr>
              <a:t>Refresh All = Ctrl+Alt+F5</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60A14"/>
        </a:solidFill>
      </p:bgPr>
    </p:bg>
    <p:spTree>
      <p:nvGrpSpPr>
        <p:cNvPr id="1" name=""/>
        <p:cNvGrpSpPr/>
        <p:nvPr/>
      </p:nvGrpSpPr>
      <p:grpSpPr>
        <a:xfrm>
          <a:off x="0" y="0"/>
          <a:ext cx="0" cy="0"/>
          <a:chOff x="0" y="0"/>
          <a:chExt cx="0" cy="0"/>
        </a:xfrm>
      </p:grpSpPr>
      <p:sp>
        <p:nvSpPr>
          <p:cNvPr id="2" name="Shape 0"/>
          <p:cNvSpPr/>
          <p:nvPr/>
        </p:nvSpPr>
        <p:spPr>
          <a:xfrm>
            <a:off x="0" y="0"/>
            <a:ext cx="4937760" cy="6858000"/>
          </a:xfrm>
          <a:prstGeom prst="rect">
            <a:avLst/>
          </a:prstGeom>
          <a:solidFill>
            <a:srgbClr val="185C38"/>
          </a:solidFill>
          <a:ln w="12700">
            <a:solidFill>
              <a:srgbClr val="185C38"/>
            </a:solidFill>
            <a:prstDash val="solid"/>
          </a:ln>
        </p:spPr>
      </p:sp>
      <p:sp>
        <p:nvSpPr>
          <p:cNvPr id="3" name="Shape 1"/>
          <p:cNvSpPr/>
          <p:nvPr/>
        </p:nvSpPr>
        <p:spPr>
          <a:xfrm>
            <a:off x="402336" y="402336"/>
            <a:ext cx="1773936" cy="1773936"/>
          </a:xfrm>
          <a:prstGeom prst="roundRect">
            <a:avLst>
              <a:gd name="adj" fmla="val 7216"/>
            </a:avLst>
          </a:prstGeom>
          <a:solidFill>
            <a:srgbClr val="217346"/>
          </a:solidFill>
          <a:ln w="12700">
            <a:solidFill>
              <a:srgbClr val="217346"/>
            </a:solidFill>
            <a:prstDash val="solid"/>
          </a:ln>
          <a:effectLst>
            <a:outerShdw sx="100000" sy="100000" kx="0" ky="0" algn="bl" rotWithShape="0" blurRad="127000" dist="50800" dir="2700000">
              <a:srgbClr val="000000">
                <a:alpha val="20000"/>
              </a:srgbClr>
            </a:outerShdw>
          </a:effectLst>
        </p:spPr>
      </p:sp>
      <p:sp>
        <p:nvSpPr>
          <p:cNvPr id="4" name="Shape 2"/>
          <p:cNvSpPr/>
          <p:nvPr/>
        </p:nvSpPr>
        <p:spPr>
          <a:xfrm>
            <a:off x="2377440" y="402336"/>
            <a:ext cx="1773936" cy="1773936"/>
          </a:xfrm>
          <a:prstGeom prst="roundRect">
            <a:avLst>
              <a:gd name="adj" fmla="val 7216"/>
            </a:avLst>
          </a:prstGeom>
          <a:solidFill>
            <a:srgbClr val="70AD47"/>
          </a:solidFill>
          <a:ln w="12700">
            <a:solidFill>
              <a:srgbClr val="70AD47"/>
            </a:solidFill>
            <a:prstDash val="solid"/>
          </a:ln>
          <a:effectLst>
            <a:outerShdw sx="100000" sy="100000" kx="0" ky="0" algn="bl" rotWithShape="0" blurRad="127000" dist="50800" dir="2700000">
              <a:srgbClr val="000000">
                <a:alpha val="20000"/>
              </a:srgbClr>
            </a:outerShdw>
          </a:effectLst>
        </p:spPr>
      </p:sp>
      <p:sp>
        <p:nvSpPr>
          <p:cNvPr id="5" name="Shape 3"/>
          <p:cNvSpPr/>
          <p:nvPr/>
        </p:nvSpPr>
        <p:spPr>
          <a:xfrm>
            <a:off x="402336" y="2377440"/>
            <a:ext cx="1773936" cy="1773936"/>
          </a:xfrm>
          <a:prstGeom prst="roundRect">
            <a:avLst>
              <a:gd name="adj" fmla="val 7216"/>
            </a:avLst>
          </a:prstGeom>
          <a:solidFill>
            <a:srgbClr val="70AD47"/>
          </a:solidFill>
          <a:ln w="12700">
            <a:solidFill>
              <a:srgbClr val="70AD47"/>
            </a:solidFill>
            <a:prstDash val="solid"/>
          </a:ln>
          <a:effectLst>
            <a:outerShdw sx="100000" sy="100000" kx="0" ky="0" algn="bl" rotWithShape="0" blurRad="127000" dist="50800" dir="2700000">
              <a:srgbClr val="000000">
                <a:alpha val="20000"/>
              </a:srgbClr>
            </a:outerShdw>
          </a:effectLst>
        </p:spPr>
      </p:sp>
      <p:sp>
        <p:nvSpPr>
          <p:cNvPr id="6" name="Shape 4"/>
          <p:cNvSpPr/>
          <p:nvPr/>
        </p:nvSpPr>
        <p:spPr>
          <a:xfrm>
            <a:off x="2377440" y="2377440"/>
            <a:ext cx="1773936" cy="1773936"/>
          </a:xfrm>
          <a:prstGeom prst="roundRect">
            <a:avLst>
              <a:gd name="adj" fmla="val 7216"/>
            </a:avLst>
          </a:prstGeom>
          <a:solidFill>
            <a:srgbClr val="217346"/>
          </a:solidFill>
          <a:ln w="12700">
            <a:solidFill>
              <a:srgbClr val="217346"/>
            </a:solidFill>
            <a:prstDash val="solid"/>
          </a:ln>
          <a:effectLst>
            <a:outerShdw sx="100000" sy="100000" kx="0" ky="0" algn="bl" rotWithShape="0" blurRad="127000" dist="50800" dir="2700000">
              <a:srgbClr val="000000">
                <a:alpha val="20000"/>
              </a:srgbClr>
            </a:outerShdw>
          </a:effectLst>
        </p:spPr>
      </p:sp>
      <p:sp>
        <p:nvSpPr>
          <p:cNvPr id="7" name="Text 5"/>
          <p:cNvSpPr/>
          <p:nvPr/>
        </p:nvSpPr>
        <p:spPr>
          <a:xfrm>
            <a:off x="402336" y="402336"/>
            <a:ext cx="3749040" cy="3749040"/>
          </a:xfrm>
          <a:prstGeom prst="rect">
            <a:avLst/>
          </a:prstGeom>
          <a:noFill/>
          <a:ln/>
        </p:spPr>
        <p:txBody>
          <a:bodyPr wrap="square" lIns="0" tIns="0" rIns="0" bIns="0" rtlCol="0" anchor="ctr"/>
          <a:lstStyle/>
          <a:p>
            <a:pPr algn="ctr" indent="0" marL="0">
              <a:buNone/>
            </a:pPr>
            <a:r>
              <a:rPr lang="en-US" sz="8200" dirty="0">
                <a:solidFill>
                  <a:srgbClr val="000000"/>
                </a:solidFill>
              </a:rPr>
              <a:t>📊</a:t>
            </a:r>
            <a:endParaRPr lang="en-US" sz="8200" dirty="0"/>
          </a:p>
        </p:txBody>
      </p:sp>
      <p:sp>
        <p:nvSpPr>
          <p:cNvPr id="8" name="Shape 6"/>
          <p:cNvSpPr/>
          <p:nvPr/>
        </p:nvSpPr>
        <p:spPr>
          <a:xfrm>
            <a:off x="0" y="4370832"/>
            <a:ext cx="4937760" cy="2487168"/>
          </a:xfrm>
          <a:prstGeom prst="rect">
            <a:avLst/>
          </a:prstGeom>
          <a:solidFill>
            <a:srgbClr val="0A1E12"/>
          </a:solidFill>
          <a:ln w="12700">
            <a:solidFill>
              <a:srgbClr val="0A1E12"/>
            </a:solidFill>
            <a:prstDash val="solid"/>
          </a:ln>
        </p:spPr>
      </p:sp>
      <p:sp>
        <p:nvSpPr>
          <p:cNvPr id="9" name="Text 7"/>
          <p:cNvSpPr/>
          <p:nvPr/>
        </p:nvSpPr>
        <p:spPr>
          <a:xfrm>
            <a:off x="274320" y="4480560"/>
            <a:ext cx="4480560" cy="914400"/>
          </a:xfrm>
          <a:prstGeom prst="rect">
            <a:avLst/>
          </a:prstGeom>
          <a:noFill/>
          <a:ln/>
        </p:spPr>
        <p:txBody>
          <a:bodyPr wrap="square" lIns="0" tIns="0" rIns="0" bIns="0" rtlCol="0" anchor="ctr"/>
          <a:lstStyle/>
          <a:p>
            <a:pPr algn="ctr" indent="0" marL="0">
              <a:buNone/>
            </a:pPr>
            <a:r>
              <a:rPr lang="en-US" sz="1100" i="1" dirty="0">
                <a:solidFill>
                  <a:srgbClr val="FFFFFF"/>
                </a:solidFill>
                <a:latin typeface="Calibri" pitchFamily="34" charset="0"/>
                <a:ea typeface="Calibri" pitchFamily="34" charset="-122"/>
                <a:cs typeface="Calibri" pitchFamily="34" charset="-120"/>
              </a:rPr>
              <a:t>Excel is the world's most widely used data analysis tool. Master it and every other tool becomes easier.</a:t>
            </a:r>
            <a:endParaRPr lang="en-US" sz="1100" dirty="0"/>
          </a:p>
        </p:txBody>
      </p:sp>
      <p:sp>
        <p:nvSpPr>
          <p:cNvPr id="10" name="Text 8"/>
          <p:cNvSpPr/>
          <p:nvPr/>
        </p:nvSpPr>
        <p:spPr>
          <a:xfrm>
            <a:off x="274320" y="5468112"/>
            <a:ext cx="448056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Kajola Gbenga Adewale</a:t>
            </a:r>
            <a:endParaRPr lang="en-US" sz="1400" dirty="0"/>
          </a:p>
        </p:txBody>
      </p:sp>
      <p:sp>
        <p:nvSpPr>
          <p:cNvPr id="11" name="Text 9"/>
          <p:cNvSpPr/>
          <p:nvPr/>
        </p:nvSpPr>
        <p:spPr>
          <a:xfrm>
            <a:off x="274320" y="5907024"/>
            <a:ext cx="4480560" cy="274320"/>
          </a:xfrm>
          <a:prstGeom prst="rect">
            <a:avLst/>
          </a:prstGeom>
          <a:noFill/>
          <a:ln/>
        </p:spPr>
        <p:txBody>
          <a:bodyPr wrap="square" lIns="0" tIns="0" rIns="0" bIns="0"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Data Analytics Expert</a:t>
            </a:r>
            <a:endParaRPr lang="en-US" sz="1100" dirty="0"/>
          </a:p>
        </p:txBody>
      </p:sp>
      <p:sp>
        <p:nvSpPr>
          <p:cNvPr id="12" name="Text 10"/>
          <p:cNvSpPr/>
          <p:nvPr/>
        </p:nvSpPr>
        <p:spPr>
          <a:xfrm>
            <a:off x="5074920" y="457200"/>
            <a:ext cx="6858000" cy="118872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Microsoft Excel</a:t>
            </a:r>
            <a:endParaRPr lang="en-US" sz="4800" dirty="0"/>
          </a:p>
        </p:txBody>
      </p:sp>
      <p:sp>
        <p:nvSpPr>
          <p:cNvPr id="13" name="Text 11"/>
          <p:cNvSpPr/>
          <p:nvPr/>
        </p:nvSpPr>
        <p:spPr>
          <a:xfrm>
            <a:off x="5074920" y="1627632"/>
            <a:ext cx="6858000" cy="475488"/>
          </a:xfrm>
          <a:prstGeom prst="rect">
            <a:avLst/>
          </a:prstGeom>
          <a:noFill/>
          <a:ln/>
        </p:spPr>
        <p:txBody>
          <a:bodyPr wrap="square" lIns="0" tIns="0" rIns="0" bIns="0" rtlCol="0" anchor="ctr"/>
          <a:lstStyle/>
          <a:p>
            <a:pPr indent="0" marL="0">
              <a:buNone/>
            </a:pPr>
            <a:r>
              <a:rPr lang="en-US" sz="1800" b="1" dirty="0">
                <a:solidFill>
                  <a:srgbClr val="70AD47"/>
                </a:solidFill>
                <a:latin typeface="Calibri" pitchFamily="34" charset="0"/>
                <a:ea typeface="Calibri" pitchFamily="34" charset="-122"/>
                <a:cs typeface="Calibri" pitchFamily="34" charset="-120"/>
              </a:rPr>
              <a:t>Complete Teaching Deck</a:t>
            </a:r>
            <a:endParaRPr lang="en-US" sz="1800" dirty="0"/>
          </a:p>
        </p:txBody>
      </p:sp>
      <p:sp>
        <p:nvSpPr>
          <p:cNvPr id="14" name="Shape 12"/>
          <p:cNvSpPr/>
          <p:nvPr/>
        </p:nvSpPr>
        <p:spPr>
          <a:xfrm>
            <a:off x="5074920" y="2212848"/>
            <a:ext cx="6766560" cy="36576"/>
          </a:xfrm>
          <a:prstGeom prst="rect">
            <a:avLst/>
          </a:prstGeom>
          <a:solidFill>
            <a:srgbClr val="217346"/>
          </a:solidFill>
          <a:ln w="12700">
            <a:solidFill>
              <a:srgbClr val="217346"/>
            </a:solidFill>
            <a:prstDash val="solid"/>
          </a:ln>
        </p:spPr>
      </p:sp>
      <p:sp>
        <p:nvSpPr>
          <p:cNvPr id="15" name="Text 13"/>
          <p:cNvSpPr/>
          <p:nvPr/>
        </p:nvSpPr>
        <p:spPr>
          <a:xfrm>
            <a:off x="5074920" y="2377440"/>
            <a:ext cx="6766560" cy="274320"/>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20 Topics Covered:</a:t>
            </a:r>
            <a:endParaRPr lang="en-US" sz="1200" dirty="0"/>
          </a:p>
        </p:txBody>
      </p:sp>
      <p:sp>
        <p:nvSpPr>
          <p:cNvPr id="16" name="Shape 14"/>
          <p:cNvSpPr/>
          <p:nvPr/>
        </p:nvSpPr>
        <p:spPr>
          <a:xfrm>
            <a:off x="5074920" y="2761488"/>
            <a:ext cx="1298448" cy="420624"/>
          </a:xfrm>
          <a:prstGeom prst="roundRect">
            <a:avLst>
              <a:gd name="adj" fmla="val 15217"/>
            </a:avLst>
          </a:prstGeom>
          <a:solidFill>
            <a:srgbClr val="217346"/>
          </a:solidFill>
          <a:ln w="12700">
            <a:solidFill>
              <a:srgbClr val="217346"/>
            </a:solidFill>
            <a:prstDash val="solid"/>
          </a:ln>
        </p:spPr>
      </p:sp>
      <p:sp>
        <p:nvSpPr>
          <p:cNvPr id="17" name="Text 15"/>
          <p:cNvSpPr/>
          <p:nvPr/>
        </p:nvSpPr>
        <p:spPr>
          <a:xfrm>
            <a:off x="5074920" y="2761488"/>
            <a:ext cx="1298448"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Interface</a:t>
            </a:r>
            <a:endParaRPr lang="en-US" sz="900" dirty="0"/>
          </a:p>
        </p:txBody>
      </p:sp>
      <p:sp>
        <p:nvSpPr>
          <p:cNvPr id="18" name="Shape 16"/>
          <p:cNvSpPr/>
          <p:nvPr/>
        </p:nvSpPr>
        <p:spPr>
          <a:xfrm>
            <a:off x="6446520" y="2761488"/>
            <a:ext cx="1298448" cy="420624"/>
          </a:xfrm>
          <a:prstGeom prst="roundRect">
            <a:avLst>
              <a:gd name="adj" fmla="val 15217"/>
            </a:avLst>
          </a:prstGeom>
          <a:solidFill>
            <a:srgbClr val="3B82F6"/>
          </a:solidFill>
          <a:ln w="12700">
            <a:solidFill>
              <a:srgbClr val="3B82F6"/>
            </a:solidFill>
            <a:prstDash val="solid"/>
          </a:ln>
        </p:spPr>
      </p:sp>
      <p:sp>
        <p:nvSpPr>
          <p:cNvPr id="19" name="Text 17"/>
          <p:cNvSpPr/>
          <p:nvPr/>
        </p:nvSpPr>
        <p:spPr>
          <a:xfrm>
            <a:off x="6446520" y="2761488"/>
            <a:ext cx="1298448"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Navigation</a:t>
            </a:r>
            <a:endParaRPr lang="en-US" sz="900" dirty="0"/>
          </a:p>
        </p:txBody>
      </p:sp>
      <p:sp>
        <p:nvSpPr>
          <p:cNvPr id="20" name="Shape 18"/>
          <p:cNvSpPr/>
          <p:nvPr/>
        </p:nvSpPr>
        <p:spPr>
          <a:xfrm>
            <a:off x="7818120" y="2761488"/>
            <a:ext cx="1298448" cy="420624"/>
          </a:xfrm>
          <a:prstGeom prst="roundRect">
            <a:avLst>
              <a:gd name="adj" fmla="val 15217"/>
            </a:avLst>
          </a:prstGeom>
          <a:solidFill>
            <a:srgbClr val="22C55E"/>
          </a:solidFill>
          <a:ln w="12700">
            <a:solidFill>
              <a:srgbClr val="22C55E"/>
            </a:solidFill>
            <a:prstDash val="solid"/>
          </a:ln>
        </p:spPr>
      </p:sp>
      <p:sp>
        <p:nvSpPr>
          <p:cNvPr id="21" name="Text 19"/>
          <p:cNvSpPr/>
          <p:nvPr/>
        </p:nvSpPr>
        <p:spPr>
          <a:xfrm>
            <a:off x="7818120" y="2761488"/>
            <a:ext cx="1298448"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Data Entry</a:t>
            </a:r>
            <a:endParaRPr lang="en-US" sz="900" dirty="0"/>
          </a:p>
        </p:txBody>
      </p:sp>
      <p:sp>
        <p:nvSpPr>
          <p:cNvPr id="22" name="Shape 20"/>
          <p:cNvSpPr/>
          <p:nvPr/>
        </p:nvSpPr>
        <p:spPr>
          <a:xfrm>
            <a:off x="9189720" y="2761488"/>
            <a:ext cx="1298448" cy="420624"/>
          </a:xfrm>
          <a:prstGeom prst="roundRect">
            <a:avLst>
              <a:gd name="adj" fmla="val 15217"/>
            </a:avLst>
          </a:prstGeom>
          <a:solidFill>
            <a:srgbClr val="F59E0B"/>
          </a:solidFill>
          <a:ln w="12700">
            <a:solidFill>
              <a:srgbClr val="F59E0B"/>
            </a:solidFill>
            <a:prstDash val="solid"/>
          </a:ln>
        </p:spPr>
      </p:sp>
      <p:sp>
        <p:nvSpPr>
          <p:cNvPr id="23" name="Text 21"/>
          <p:cNvSpPr/>
          <p:nvPr/>
        </p:nvSpPr>
        <p:spPr>
          <a:xfrm>
            <a:off x="9189720" y="2761488"/>
            <a:ext cx="1298448"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Formulas</a:t>
            </a:r>
            <a:endParaRPr lang="en-US" sz="900" dirty="0"/>
          </a:p>
        </p:txBody>
      </p:sp>
      <p:sp>
        <p:nvSpPr>
          <p:cNvPr id="24" name="Shape 22"/>
          <p:cNvSpPr/>
          <p:nvPr/>
        </p:nvSpPr>
        <p:spPr>
          <a:xfrm>
            <a:off x="10561320" y="2761488"/>
            <a:ext cx="1298448" cy="420624"/>
          </a:xfrm>
          <a:prstGeom prst="roundRect">
            <a:avLst>
              <a:gd name="adj" fmla="val 15217"/>
            </a:avLst>
          </a:prstGeom>
          <a:solidFill>
            <a:srgbClr val="8B5CF6"/>
          </a:solidFill>
          <a:ln w="12700">
            <a:solidFill>
              <a:srgbClr val="8B5CF6"/>
            </a:solidFill>
            <a:prstDash val="solid"/>
          </a:ln>
        </p:spPr>
      </p:sp>
      <p:sp>
        <p:nvSpPr>
          <p:cNvPr id="25" name="Text 23"/>
          <p:cNvSpPr/>
          <p:nvPr/>
        </p:nvSpPr>
        <p:spPr>
          <a:xfrm>
            <a:off x="10561320" y="2761488"/>
            <a:ext cx="1298448"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Cell References</a:t>
            </a:r>
            <a:endParaRPr lang="en-US" sz="900" dirty="0"/>
          </a:p>
        </p:txBody>
      </p:sp>
      <p:sp>
        <p:nvSpPr>
          <p:cNvPr id="26" name="Shape 24"/>
          <p:cNvSpPr/>
          <p:nvPr/>
        </p:nvSpPr>
        <p:spPr>
          <a:xfrm>
            <a:off x="5074920" y="3255264"/>
            <a:ext cx="1298448" cy="420624"/>
          </a:xfrm>
          <a:prstGeom prst="roundRect">
            <a:avLst>
              <a:gd name="adj" fmla="val 15217"/>
            </a:avLst>
          </a:prstGeom>
          <a:solidFill>
            <a:srgbClr val="217346"/>
          </a:solidFill>
          <a:ln w="12700">
            <a:solidFill>
              <a:srgbClr val="217346"/>
            </a:solidFill>
            <a:prstDash val="solid"/>
          </a:ln>
        </p:spPr>
      </p:sp>
      <p:sp>
        <p:nvSpPr>
          <p:cNvPr id="27" name="Text 25"/>
          <p:cNvSpPr/>
          <p:nvPr/>
        </p:nvSpPr>
        <p:spPr>
          <a:xfrm>
            <a:off x="5074920" y="3255264"/>
            <a:ext cx="1298448"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Math Functions</a:t>
            </a:r>
            <a:endParaRPr lang="en-US" sz="900" dirty="0"/>
          </a:p>
        </p:txBody>
      </p:sp>
      <p:sp>
        <p:nvSpPr>
          <p:cNvPr id="28" name="Shape 26"/>
          <p:cNvSpPr/>
          <p:nvPr/>
        </p:nvSpPr>
        <p:spPr>
          <a:xfrm>
            <a:off x="6446520" y="3255264"/>
            <a:ext cx="1298448" cy="420624"/>
          </a:xfrm>
          <a:prstGeom prst="roundRect">
            <a:avLst>
              <a:gd name="adj" fmla="val 15217"/>
            </a:avLst>
          </a:prstGeom>
          <a:solidFill>
            <a:srgbClr val="F97316"/>
          </a:solidFill>
          <a:ln w="12700">
            <a:solidFill>
              <a:srgbClr val="F97316"/>
            </a:solidFill>
            <a:prstDash val="solid"/>
          </a:ln>
        </p:spPr>
      </p:sp>
      <p:sp>
        <p:nvSpPr>
          <p:cNvPr id="29" name="Text 27"/>
          <p:cNvSpPr/>
          <p:nvPr/>
        </p:nvSpPr>
        <p:spPr>
          <a:xfrm>
            <a:off x="6446520" y="3255264"/>
            <a:ext cx="1298448"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IF and Logic</a:t>
            </a:r>
            <a:endParaRPr lang="en-US" sz="900" dirty="0"/>
          </a:p>
        </p:txBody>
      </p:sp>
      <p:sp>
        <p:nvSpPr>
          <p:cNvPr id="30" name="Shape 28"/>
          <p:cNvSpPr/>
          <p:nvPr/>
        </p:nvSpPr>
        <p:spPr>
          <a:xfrm>
            <a:off x="7818120" y="3255264"/>
            <a:ext cx="1298448" cy="420624"/>
          </a:xfrm>
          <a:prstGeom prst="roundRect">
            <a:avLst>
              <a:gd name="adj" fmla="val 15217"/>
            </a:avLst>
          </a:prstGeom>
          <a:solidFill>
            <a:srgbClr val="F43F5E"/>
          </a:solidFill>
          <a:ln w="12700">
            <a:solidFill>
              <a:srgbClr val="F43F5E"/>
            </a:solidFill>
            <a:prstDash val="solid"/>
          </a:ln>
        </p:spPr>
      </p:sp>
      <p:sp>
        <p:nvSpPr>
          <p:cNvPr id="31" name="Text 29"/>
          <p:cNvSpPr/>
          <p:nvPr/>
        </p:nvSpPr>
        <p:spPr>
          <a:xfrm>
            <a:off x="7818120" y="3255264"/>
            <a:ext cx="1298448"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Lookup Functions</a:t>
            </a:r>
            <a:endParaRPr lang="en-US" sz="900" dirty="0"/>
          </a:p>
        </p:txBody>
      </p:sp>
      <p:sp>
        <p:nvSpPr>
          <p:cNvPr id="32" name="Shape 30"/>
          <p:cNvSpPr/>
          <p:nvPr/>
        </p:nvSpPr>
        <p:spPr>
          <a:xfrm>
            <a:off x="9189720" y="3255264"/>
            <a:ext cx="1298448" cy="420624"/>
          </a:xfrm>
          <a:prstGeom prst="roundRect">
            <a:avLst>
              <a:gd name="adj" fmla="val 15217"/>
            </a:avLst>
          </a:prstGeom>
          <a:solidFill>
            <a:srgbClr val="06B6D4"/>
          </a:solidFill>
          <a:ln w="12700">
            <a:solidFill>
              <a:srgbClr val="06B6D4"/>
            </a:solidFill>
            <a:prstDash val="solid"/>
          </a:ln>
        </p:spPr>
      </p:sp>
      <p:sp>
        <p:nvSpPr>
          <p:cNvPr id="33" name="Text 31"/>
          <p:cNvSpPr/>
          <p:nvPr/>
        </p:nvSpPr>
        <p:spPr>
          <a:xfrm>
            <a:off x="9189720" y="3255264"/>
            <a:ext cx="1298448"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Text Functions</a:t>
            </a:r>
            <a:endParaRPr lang="en-US" sz="900" dirty="0"/>
          </a:p>
        </p:txBody>
      </p:sp>
      <p:sp>
        <p:nvSpPr>
          <p:cNvPr id="34" name="Shape 32"/>
          <p:cNvSpPr/>
          <p:nvPr/>
        </p:nvSpPr>
        <p:spPr>
          <a:xfrm>
            <a:off x="10561320" y="3255264"/>
            <a:ext cx="1298448" cy="420624"/>
          </a:xfrm>
          <a:prstGeom prst="roundRect">
            <a:avLst>
              <a:gd name="adj" fmla="val 15217"/>
            </a:avLst>
          </a:prstGeom>
          <a:solidFill>
            <a:srgbClr val="EC4899"/>
          </a:solidFill>
          <a:ln w="12700">
            <a:solidFill>
              <a:srgbClr val="EC4899"/>
            </a:solidFill>
            <a:prstDash val="solid"/>
          </a:ln>
        </p:spPr>
      </p:sp>
      <p:sp>
        <p:nvSpPr>
          <p:cNvPr id="35" name="Text 33"/>
          <p:cNvSpPr/>
          <p:nvPr/>
        </p:nvSpPr>
        <p:spPr>
          <a:xfrm>
            <a:off x="10561320" y="3255264"/>
            <a:ext cx="1298448"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Date Functions</a:t>
            </a:r>
            <a:endParaRPr lang="en-US" sz="900" dirty="0"/>
          </a:p>
        </p:txBody>
      </p:sp>
      <p:sp>
        <p:nvSpPr>
          <p:cNvPr id="36" name="Shape 34"/>
          <p:cNvSpPr/>
          <p:nvPr/>
        </p:nvSpPr>
        <p:spPr>
          <a:xfrm>
            <a:off x="5074920" y="3749040"/>
            <a:ext cx="1298448" cy="420624"/>
          </a:xfrm>
          <a:prstGeom prst="roundRect">
            <a:avLst>
              <a:gd name="adj" fmla="val 15217"/>
            </a:avLst>
          </a:prstGeom>
          <a:solidFill>
            <a:srgbClr val="EAB308"/>
          </a:solidFill>
          <a:ln w="12700">
            <a:solidFill>
              <a:srgbClr val="EAB308"/>
            </a:solidFill>
            <a:prstDash val="solid"/>
          </a:ln>
        </p:spPr>
      </p:sp>
      <p:sp>
        <p:nvSpPr>
          <p:cNvPr id="37" name="Text 35"/>
          <p:cNvSpPr/>
          <p:nvPr/>
        </p:nvSpPr>
        <p:spPr>
          <a:xfrm>
            <a:off x="5074920" y="3749040"/>
            <a:ext cx="1298448"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Charts</a:t>
            </a:r>
            <a:endParaRPr lang="en-US" sz="900" dirty="0"/>
          </a:p>
        </p:txBody>
      </p:sp>
      <p:sp>
        <p:nvSpPr>
          <p:cNvPr id="38" name="Shape 36"/>
          <p:cNvSpPr/>
          <p:nvPr/>
        </p:nvSpPr>
        <p:spPr>
          <a:xfrm>
            <a:off x="6446520" y="3749040"/>
            <a:ext cx="1298448" cy="420624"/>
          </a:xfrm>
          <a:prstGeom prst="roundRect">
            <a:avLst>
              <a:gd name="adj" fmla="val 15217"/>
            </a:avLst>
          </a:prstGeom>
          <a:solidFill>
            <a:srgbClr val="3B82F6"/>
          </a:solidFill>
          <a:ln w="12700">
            <a:solidFill>
              <a:srgbClr val="3B82F6"/>
            </a:solidFill>
            <a:prstDash val="solid"/>
          </a:ln>
        </p:spPr>
      </p:sp>
      <p:sp>
        <p:nvSpPr>
          <p:cNvPr id="39" name="Text 37"/>
          <p:cNvSpPr/>
          <p:nvPr/>
        </p:nvSpPr>
        <p:spPr>
          <a:xfrm>
            <a:off x="6446520" y="3749040"/>
            <a:ext cx="1298448"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PivotTables</a:t>
            </a:r>
            <a:endParaRPr lang="en-US" sz="900" dirty="0"/>
          </a:p>
        </p:txBody>
      </p:sp>
      <p:sp>
        <p:nvSpPr>
          <p:cNvPr id="40" name="Shape 38"/>
          <p:cNvSpPr/>
          <p:nvPr/>
        </p:nvSpPr>
        <p:spPr>
          <a:xfrm>
            <a:off x="7818120" y="3749040"/>
            <a:ext cx="1298448" cy="420624"/>
          </a:xfrm>
          <a:prstGeom prst="roundRect">
            <a:avLst>
              <a:gd name="adj" fmla="val 15217"/>
            </a:avLst>
          </a:prstGeom>
          <a:solidFill>
            <a:srgbClr val="217346"/>
          </a:solidFill>
          <a:ln w="12700">
            <a:solidFill>
              <a:srgbClr val="217346"/>
            </a:solidFill>
            <a:prstDash val="solid"/>
          </a:ln>
        </p:spPr>
      </p:sp>
      <p:sp>
        <p:nvSpPr>
          <p:cNvPr id="41" name="Text 39"/>
          <p:cNvSpPr/>
          <p:nvPr/>
        </p:nvSpPr>
        <p:spPr>
          <a:xfrm>
            <a:off x="7818120" y="3749040"/>
            <a:ext cx="1298448"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Conditional Format</a:t>
            </a:r>
            <a:endParaRPr lang="en-US" sz="900" dirty="0"/>
          </a:p>
        </p:txBody>
      </p:sp>
      <p:sp>
        <p:nvSpPr>
          <p:cNvPr id="42" name="Shape 40"/>
          <p:cNvSpPr/>
          <p:nvPr/>
        </p:nvSpPr>
        <p:spPr>
          <a:xfrm>
            <a:off x="9189720" y="3749040"/>
            <a:ext cx="1298448" cy="420624"/>
          </a:xfrm>
          <a:prstGeom prst="roundRect">
            <a:avLst>
              <a:gd name="adj" fmla="val 15217"/>
            </a:avLst>
          </a:prstGeom>
          <a:solidFill>
            <a:srgbClr val="8B5CF6"/>
          </a:solidFill>
          <a:ln w="12700">
            <a:solidFill>
              <a:srgbClr val="8B5CF6"/>
            </a:solidFill>
            <a:prstDash val="solid"/>
          </a:ln>
        </p:spPr>
      </p:sp>
      <p:sp>
        <p:nvSpPr>
          <p:cNvPr id="43" name="Text 41"/>
          <p:cNvSpPr/>
          <p:nvPr/>
        </p:nvSpPr>
        <p:spPr>
          <a:xfrm>
            <a:off x="9189720" y="3749040"/>
            <a:ext cx="1298448"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Data Validation</a:t>
            </a:r>
            <a:endParaRPr lang="en-US" sz="900" dirty="0"/>
          </a:p>
        </p:txBody>
      </p:sp>
      <p:sp>
        <p:nvSpPr>
          <p:cNvPr id="44" name="Shape 42"/>
          <p:cNvSpPr/>
          <p:nvPr/>
        </p:nvSpPr>
        <p:spPr>
          <a:xfrm>
            <a:off x="10561320" y="3749040"/>
            <a:ext cx="1298448" cy="420624"/>
          </a:xfrm>
          <a:prstGeom prst="roundRect">
            <a:avLst>
              <a:gd name="adj" fmla="val 15217"/>
            </a:avLst>
          </a:prstGeom>
          <a:solidFill>
            <a:srgbClr val="22C55E"/>
          </a:solidFill>
          <a:ln w="12700">
            <a:solidFill>
              <a:srgbClr val="22C55E"/>
            </a:solidFill>
            <a:prstDash val="solid"/>
          </a:ln>
        </p:spPr>
      </p:sp>
      <p:sp>
        <p:nvSpPr>
          <p:cNvPr id="45" name="Text 43"/>
          <p:cNvSpPr/>
          <p:nvPr/>
        </p:nvSpPr>
        <p:spPr>
          <a:xfrm>
            <a:off x="10561320" y="3749040"/>
            <a:ext cx="1298448"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Excel Tables</a:t>
            </a:r>
            <a:endParaRPr lang="en-US" sz="900" dirty="0"/>
          </a:p>
        </p:txBody>
      </p:sp>
      <p:sp>
        <p:nvSpPr>
          <p:cNvPr id="46" name="Shape 44"/>
          <p:cNvSpPr/>
          <p:nvPr/>
        </p:nvSpPr>
        <p:spPr>
          <a:xfrm>
            <a:off x="5074920" y="4242816"/>
            <a:ext cx="1298448" cy="420624"/>
          </a:xfrm>
          <a:prstGeom prst="roundRect">
            <a:avLst>
              <a:gd name="adj" fmla="val 15217"/>
            </a:avLst>
          </a:prstGeom>
          <a:solidFill>
            <a:srgbClr val="F59E0B"/>
          </a:solidFill>
          <a:ln w="12700">
            <a:solidFill>
              <a:srgbClr val="F59E0B"/>
            </a:solidFill>
            <a:prstDash val="solid"/>
          </a:ln>
        </p:spPr>
      </p:sp>
      <p:sp>
        <p:nvSpPr>
          <p:cNvPr id="47" name="Text 45"/>
          <p:cNvSpPr/>
          <p:nvPr/>
        </p:nvSpPr>
        <p:spPr>
          <a:xfrm>
            <a:off x="5074920" y="4242816"/>
            <a:ext cx="1298448"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Named Ranges</a:t>
            </a:r>
            <a:endParaRPr lang="en-US" sz="900" dirty="0"/>
          </a:p>
        </p:txBody>
      </p:sp>
      <p:sp>
        <p:nvSpPr>
          <p:cNvPr id="48" name="Shape 46"/>
          <p:cNvSpPr/>
          <p:nvPr/>
        </p:nvSpPr>
        <p:spPr>
          <a:xfrm>
            <a:off x="6446520" y="4242816"/>
            <a:ext cx="1298448" cy="420624"/>
          </a:xfrm>
          <a:prstGeom prst="roundRect">
            <a:avLst>
              <a:gd name="adj" fmla="val 15217"/>
            </a:avLst>
          </a:prstGeom>
          <a:solidFill>
            <a:srgbClr val="F43F5E"/>
          </a:solidFill>
          <a:ln w="12700">
            <a:solidFill>
              <a:srgbClr val="F43F5E"/>
            </a:solidFill>
            <a:prstDash val="solid"/>
          </a:ln>
        </p:spPr>
      </p:sp>
      <p:sp>
        <p:nvSpPr>
          <p:cNvPr id="49" name="Text 47"/>
          <p:cNvSpPr/>
          <p:nvPr/>
        </p:nvSpPr>
        <p:spPr>
          <a:xfrm>
            <a:off x="6446520" y="4242816"/>
            <a:ext cx="1298448"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Shortcuts</a:t>
            </a:r>
            <a:endParaRPr lang="en-US" sz="900" dirty="0"/>
          </a:p>
        </p:txBody>
      </p:sp>
      <p:sp>
        <p:nvSpPr>
          <p:cNvPr id="50" name="Shape 48"/>
          <p:cNvSpPr/>
          <p:nvPr/>
        </p:nvSpPr>
        <p:spPr>
          <a:xfrm>
            <a:off x="7818120" y="4242816"/>
            <a:ext cx="1298448" cy="420624"/>
          </a:xfrm>
          <a:prstGeom prst="roundRect">
            <a:avLst>
              <a:gd name="adj" fmla="val 15217"/>
            </a:avLst>
          </a:prstGeom>
          <a:solidFill>
            <a:srgbClr val="06B6D4"/>
          </a:solidFill>
          <a:ln w="12700">
            <a:solidFill>
              <a:srgbClr val="06B6D4"/>
            </a:solidFill>
            <a:prstDash val="solid"/>
          </a:ln>
        </p:spPr>
      </p:sp>
      <p:sp>
        <p:nvSpPr>
          <p:cNvPr id="51" name="Text 49"/>
          <p:cNvSpPr/>
          <p:nvPr/>
        </p:nvSpPr>
        <p:spPr>
          <a:xfrm>
            <a:off x="7818120" y="4242816"/>
            <a:ext cx="1298448"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Data Tools</a:t>
            </a:r>
            <a:endParaRPr lang="en-US" sz="900" dirty="0"/>
          </a:p>
        </p:txBody>
      </p:sp>
      <p:sp>
        <p:nvSpPr>
          <p:cNvPr id="52" name="Shape 50"/>
          <p:cNvSpPr/>
          <p:nvPr/>
        </p:nvSpPr>
        <p:spPr>
          <a:xfrm>
            <a:off x="9189720" y="4242816"/>
            <a:ext cx="1298448" cy="420624"/>
          </a:xfrm>
          <a:prstGeom prst="roundRect">
            <a:avLst>
              <a:gd name="adj" fmla="val 15217"/>
            </a:avLst>
          </a:prstGeom>
          <a:solidFill>
            <a:srgbClr val="217346"/>
          </a:solidFill>
          <a:ln w="12700">
            <a:solidFill>
              <a:srgbClr val="217346"/>
            </a:solidFill>
            <a:prstDash val="solid"/>
          </a:ln>
        </p:spPr>
      </p:sp>
      <p:sp>
        <p:nvSpPr>
          <p:cNvPr id="53" name="Text 51"/>
          <p:cNvSpPr/>
          <p:nvPr/>
        </p:nvSpPr>
        <p:spPr>
          <a:xfrm>
            <a:off x="9189720" y="4242816"/>
            <a:ext cx="1298448"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Power Query</a:t>
            </a:r>
            <a:endParaRPr lang="en-US" sz="900" dirty="0"/>
          </a:p>
        </p:txBody>
      </p:sp>
      <p:sp>
        <p:nvSpPr>
          <p:cNvPr id="54" name="Shape 52"/>
          <p:cNvSpPr/>
          <p:nvPr/>
        </p:nvSpPr>
        <p:spPr>
          <a:xfrm>
            <a:off x="10561320" y="4242816"/>
            <a:ext cx="1298448" cy="420624"/>
          </a:xfrm>
          <a:prstGeom prst="roundRect">
            <a:avLst>
              <a:gd name="adj" fmla="val 15217"/>
            </a:avLst>
          </a:prstGeom>
          <a:solidFill>
            <a:srgbClr val="F97316"/>
          </a:solidFill>
          <a:ln w="12700">
            <a:solidFill>
              <a:srgbClr val="F97316"/>
            </a:solidFill>
            <a:prstDash val="solid"/>
          </a:ln>
        </p:spPr>
      </p:sp>
      <p:sp>
        <p:nvSpPr>
          <p:cNvPr id="55" name="Text 53"/>
          <p:cNvSpPr/>
          <p:nvPr/>
        </p:nvSpPr>
        <p:spPr>
          <a:xfrm>
            <a:off x="10561320" y="4242816"/>
            <a:ext cx="1298448"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Best Practices</a:t>
            </a:r>
            <a:endParaRPr lang="en-US" sz="900" dirty="0"/>
          </a:p>
        </p:txBody>
      </p:sp>
      <p:sp>
        <p:nvSpPr>
          <p:cNvPr id="56" name="Text 54"/>
          <p:cNvSpPr/>
          <p:nvPr/>
        </p:nvSpPr>
        <p:spPr>
          <a:xfrm>
            <a:off x="5074920" y="5138928"/>
            <a:ext cx="6766560" cy="329184"/>
          </a:xfrm>
          <a:prstGeom prst="rect">
            <a:avLst/>
          </a:prstGeom>
          <a:noFill/>
          <a:ln/>
        </p:spPr>
        <p:txBody>
          <a:bodyPr wrap="square" lIns="0" tIns="0" rIns="0" bIns="0"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Next: Microsoft Power BI - Build Interactive Dashboards from Excel Data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Excel - Complete Teaching Deck</dc:title>
  <dc:subject>PptxGenJS Presentation</dc:subject>
  <dc:creator>Kajola Gbenga Adewale</dc:creator>
  <cp:lastModifiedBy>Kajola Gbenga Adewale</cp:lastModifiedBy>
  <cp:revision>1</cp:revision>
  <dcterms:created xsi:type="dcterms:W3CDTF">2026-06-25T10:31:35Z</dcterms:created>
  <dcterms:modified xsi:type="dcterms:W3CDTF">2026-06-25T10:31:35Z</dcterms:modified>
</cp:coreProperties>
</file>
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</p:sldIdLst>
  <p:notesMasterIdLst>
    <p:notesMasterId r:id="rId6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notesMaster" Target="notesMasters/notesMaster1.xml"/><Relationship Id="rId62" Type="http://schemas.openxmlformats.org/officeDocument/2006/relationships/presProps" Target="presProps.xml"/><Relationship Id="rId63" Type="http://schemas.openxmlformats.org/officeDocument/2006/relationships/viewProps" Target="viewProps.xml"/><Relationship Id="rId64" Type="http://schemas.openxmlformats.org/officeDocument/2006/relationships/theme" Target="theme/theme1.xml"/><Relationship Id="rId6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E3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03120"/>
            <a:ext cx="107259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PRODIGY BANK CUSTOMER SURVEY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306324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8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Teaching Guide to Every SPSS Statistical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754880" y="3794760"/>
            <a:ext cx="274320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02336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prodigy_bank_survey.xlsx  |  N = 300 Customers  |  18 Variables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classroom use -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Deck Covers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11887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and Descriptive Statistics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52704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values, frequencies, descriptives, normality (Sections 1-4)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21488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and Reliability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48716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Chi-square, Cronbach's alpha, correlation (Sections 5-7)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1546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31089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Comparison Tests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44728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T-test, Mann-Whitney, ANOVA, Kruskal-Wallis (Sections 8-11)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40690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440740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linear regression, logistic regression (Sections 12-13)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074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371600" y="50292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Reduction and Classification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536752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analysis, cluster analysis, discriminant analysis (Sections 14-16)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 Bank Customer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 at a Glance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37560" y="118872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3337560" y="12801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337560" y="1965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18872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6035040" y="12801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035040" y="1965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732520" y="118872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8732520" y="12801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732520" y="1965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Types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880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Groups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3337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Demographics: Branch, Gender, Age, Education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7947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profile: Account Type, Years With Bank, Monthly Income, Transactions/Month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2519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Perceptions (5-point Likert): Service Quality, Staff Friendliness, App Usability, Wait Time, Overall Satisfaction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47091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and risk: Complaint Filed, Credit Score, Loan Default, Churn Risk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52578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teaching: this is a clean, complete dataset (zero missing values) that still contains real statistical variety: a reliable Likert scale, a strong education-income effect, a weak-but-real credit model, and a highly significant complaint-to-churn link, making it ideal for showing students both strong and weak findings honestly.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 Bank Customer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 and Descriptive Statistics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4160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to know the data before testing anything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63040" y="27432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Screening and Missing Value Analysis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data quality before running any test: find missing values, confirm variable types and sample size per variable.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MENU PATH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5176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 &gt; Missing Value Analysis (or Analyze &gt; Descriptive Statistics &gt; Frequencies)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/ COLUMNS INVOLVED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18 variables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PROCEDURE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75488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the file, check each variable type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Analyze &gt; Missing Value Analysis on all variables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run Frequencies and read the Missing row in each table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whether any treatment strategy is needed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Data Preparation and Descriptive Statistics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 Bank Customer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Screening and Missing Value Analysis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OUTPUT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0881360" cy="914400"/>
        </p:xfrm>
        <a:graphic>
          <a:graphicData uri="http://schemas.openxmlformats.org/drawingml/2006/table">
            <a:tbl>
              <a:tblPr/>
              <a:tblGrid>
                <a:gridCol w="2720340"/>
                <a:gridCol w="2720340"/>
                <a:gridCol w="2720340"/>
                <a:gridCol w="27203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Valid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Missing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Missing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18 variables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514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OUTPUT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28346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significance (Sig.) column to the .05 threshold: values below .05 indicate a statistically significant result.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Data Preparation and Descriptive Statistics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 Bank Customer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Screening and Missing Value Analysis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349240" cy="5029200"/>
          </a:xfrm>
          <a:prstGeom prst="roundRect">
            <a:avLst>
              <a:gd name="adj" fmla="val 1455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484632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 300 customers answered every field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data anywhere in the dataset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imputation or deletion strategy is required for any analysis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80760" y="105156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0B2E33"/>
          </a:solidFill>
          <a:ln/>
        </p:spPr>
      </p:sp>
      <p:sp>
        <p:nvSpPr>
          <p:cNvPr id="7" name="Text 5"/>
          <p:cNvSpPr/>
          <p:nvPr/>
        </p:nvSpPr>
        <p:spPr>
          <a:xfrm>
            <a:off x="6355080" y="1234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FOR PRODIGY BANK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55080" y="1737360"/>
            <a:ext cx="4983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statistic in this study uses the full N=300 sample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strong benchmark for future survey administration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Data Preparation and Descriptive Statistics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 Bank Customer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63040" y="27432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Frequency Analysis (Categorical and Likert Variables)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how many customers fall into each category, for demographics, outcomes, and the 5 Likert ratings.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MENU PATH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5176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 &gt; Descriptive Statistics &gt; Frequencies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/ COLUMNS INVOLVED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Branch, Gender, Education, AccountType, ComplaintFiled, LoanDefault, ChurnRisk, Q1-Q5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PROCEDURE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75488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all listed variables into the Variable(s) box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Display frequency tables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Bar Charts or Histograms as needed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OK; one table is produced per variable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Data Preparation and Descriptive Statistics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 Bank Customer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Frequency Analysis (Categorical and Likert Variables)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OUTPUT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0881360" cy="914400"/>
        </p:xfrm>
        <a:graphic>
          <a:graphicData uri="http://schemas.openxmlformats.org/drawingml/2006/table">
            <a:tbl>
              <a:tblPr/>
              <a:tblGrid>
                <a:gridCol w="2720340"/>
                <a:gridCol w="2720340"/>
                <a:gridCol w="2720340"/>
                <a:gridCol w="27203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Category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Bachelor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ComplaintFiled = 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LoanDefault = 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ChurnRisk = 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526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OUTPUT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48463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significance (Sig.) column to the .05 threshold: values below .05 indicate a statistically significant result.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Data Preparation and Descriptive Statistics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 Bank Customer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Frequency Analysis (Categorical and Likert Variables)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349240" cy="5029200"/>
          </a:xfrm>
          <a:prstGeom prst="roundRect">
            <a:avLst>
              <a:gd name="adj" fmla="val 1455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484632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Lagos is the largest branch (29.3%); Bachelor is the most common education level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38.7% of customers have filed a complaint, a substantial minority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28.7% default rate is materially high and worth modelling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Time Satisfaction is the only Likert item with a mean below the midpoint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80760" y="105156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0B2E33"/>
          </a:solidFill>
          <a:ln/>
        </p:spPr>
      </p:sp>
      <p:sp>
        <p:nvSpPr>
          <p:cNvPr id="7" name="Text 5"/>
          <p:cNvSpPr/>
          <p:nvPr/>
        </p:nvSpPr>
        <p:spPr>
          <a:xfrm>
            <a:off x="6355080" y="1234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FOR PRODIGY BANK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55080" y="1737360"/>
            <a:ext cx="4983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handling and credit risk both deserve focused management attention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time is the clearest single target for a service improvement initiative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Data Preparation and Descriptive Statistics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 Bank Customer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63040" y="27432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Descriptive Statistics (Continuous Variables)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central tendency, spread, and shape of each scale variable using mean, SD, range, skewness, kurtosis.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MENU PATH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5176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 &gt; Descriptive Statistics &gt; Descriptives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/ COLUMNS INVOLVED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YearsWithBank, MonthlyIncome, NumTransactionsMonth, CreditScore, and the 5 Likert items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PROCEDURE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75488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10 variables into the Variable(s) box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Options, tick Mean, SD, Range, Skewness, Kurtosis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OK to produce the Descriptives table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Data Preparation and Descriptive Statistics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 Bank Customer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Descriptive Statistics (Continuous Variables)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OUTPUT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0881360" cy="914400"/>
        </p:xfrm>
        <a:graphic>
          <a:graphicData uri="http://schemas.openxmlformats.org/drawingml/2006/table">
            <a:tbl>
              <a:tblPr/>
              <a:tblGrid>
                <a:gridCol w="1813560"/>
                <a:gridCol w="1813560"/>
                <a:gridCol w="1813560"/>
                <a:gridCol w="1813560"/>
                <a:gridCol w="1813560"/>
                <a:gridCol w="18135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Skewness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36.057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Years With Bank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Income (NGN)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207755.88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94966.075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538075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645.713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72.585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023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OUTPUT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43434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significance (Sig.) column to the .05 threshold: values below .05 indicate a statistically significant result.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Data Preparation and Descriptive Statistics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 Bank Customer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Descriptive Statistics (Continuous Variables)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349240" cy="5029200"/>
          </a:xfrm>
          <a:prstGeom prst="roundRect">
            <a:avLst>
              <a:gd name="adj" fmla="val 1455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484632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is fairly symmetric; income has a positive skew (a tail of higher earners)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With Bank is right-skewed; most customers are newer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 has skew and kurtosis both near zero, the most normal variable in the set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80760" y="105156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0B2E33"/>
          </a:solidFill>
          <a:ln/>
        </p:spPr>
      </p:sp>
      <p:sp>
        <p:nvSpPr>
          <p:cNvPr id="7" name="Text 5"/>
          <p:cNvSpPr/>
          <p:nvPr/>
        </p:nvSpPr>
        <p:spPr>
          <a:xfrm>
            <a:off x="6355080" y="1234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FOR PRODIGY BANK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55080" y="1737360"/>
            <a:ext cx="4983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Score's clean distribution makes it an excellent regression target (Section 12)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income range signals a segmentation opportunity (Section 15)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Data Preparation and Descriptive Statistics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 Bank Customer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63040" y="27432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Procedure and Tests of Normality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Formally test whether each variable is normally distributed, to guide the choice of parametric vs non-parametric tests.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MENU PATH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5176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 &gt; Descriptive Statistics &gt; Explore (Plots &gt; Normality plots with tests)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/ COLUMNS INVOLVED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Years With Bank, Income, Transactions, Credit Score, and the 5 Likert items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PROCEDURE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75488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all 10 variables into the Dependent List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Plots, tick Normality plots with tests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Continue, then OK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Shapiro-Wilk statistic and significance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Data Preparation and Descriptive Statistics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 Bank Customer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Procedure and Tests of Normality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OUTPUT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0881360" cy="914400"/>
        </p:xfrm>
        <a:graphic>
          <a:graphicData uri="http://schemas.openxmlformats.org/drawingml/2006/table">
            <a:tbl>
              <a:tblPr/>
              <a:tblGrid>
                <a:gridCol w="2720340"/>
                <a:gridCol w="2720340"/>
                <a:gridCol w="2720340"/>
                <a:gridCol w="27203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Shapiro-Wilk 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Income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0.9694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&lt;.001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Q5 Overall Satisfaction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&lt;.001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023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OUTPUT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43434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significance (Sig.) column to the .05 threshold: values below .05 indicate a statistically significant result.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Data Preparation and Descriptive Statistics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 Bank Customer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Procedure and Tests of Normality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349240" cy="5029200"/>
          </a:xfrm>
          <a:prstGeom prst="roundRect">
            <a:avLst>
              <a:gd name="adj" fmla="val 1455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484632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 is the only variable to pass the normality test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variable is significantly non-normal (p &lt; .05)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5-point Likert items are non-normal by construction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80760" y="105156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0B2E33"/>
          </a:solidFill>
          <a:ln/>
        </p:spPr>
      </p:sp>
      <p:sp>
        <p:nvSpPr>
          <p:cNvPr id="7" name="Text 5"/>
          <p:cNvSpPr/>
          <p:nvPr/>
        </p:nvSpPr>
        <p:spPr>
          <a:xfrm>
            <a:off x="6355080" y="1234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FOR PRODIGY BANK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55080" y="1737360"/>
            <a:ext cx="4983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 can be used confidently in standard OLS regression (Section 12)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Likert comparisons should lead with non-parametric tests as a primary method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Data Preparation and Descriptive Statistics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 Bank Customer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Association and Reliability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4160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variables move together, and can items be combined into a scale?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63040" y="27432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 Tabulation and Chi-Square Test of Independence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two categorical variables are statistically associated, for example complaint history and churn risk.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MENU PATH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5176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 &gt; Descriptive Statistics &gt; Crosstabs (Statistics: Chi-square, Cramer's V)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/ COLUMNS INVOLVED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Branch, Education, AccountType with ComplaintFiled/LoanDefault/ChurnRisk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PROCEDURE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75488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the grouping variable in Row(s), the outcome in Column(s)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Statistics, tick Chi-square and Cramer's V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Cells, tick Observed counts and Row percentages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OK; repeat for each variable pair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Association and Reliability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 Bank Customer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 Tabulation and Chi-Square Test of Independence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OUTPUT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0881360" cy="914400"/>
        </p:xfrm>
        <a:graphic>
          <a:graphicData uri="http://schemas.openxmlformats.org/drawingml/2006/table">
            <a:tbl>
              <a:tblPr/>
              <a:tblGrid>
                <a:gridCol w="2720340"/>
                <a:gridCol w="2720340"/>
                <a:gridCol w="2720340"/>
                <a:gridCol w="27203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 Tabulation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Chi-square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Cramer's 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 x ComplaintFiled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x ChurnRisk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ComplaintFiled x ChurnRisk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47.466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&lt;.001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520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OUTPUT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3840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significance (Sig.) column to the .05 threshold: values below .05 indicate a statistically significant result.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Association and Reliability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 Bank Customer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 Tabulation and Chi-Square Test of Independence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349240" cy="5029200"/>
          </a:xfrm>
          <a:prstGeom prst="roundRect">
            <a:avLst>
              <a:gd name="adj" fmla="val 1455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484632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show no significant link to complaints, default, or churn risk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Filed x Churn Risk is highly significant with a medium-large effect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Complainants are disproportionately Medium/High churn risk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80760" y="105156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0B2E33"/>
          </a:solidFill>
          <a:ln/>
        </p:spPr>
      </p:sp>
      <p:sp>
        <p:nvSpPr>
          <p:cNvPr id="7" name="Text 5"/>
          <p:cNvSpPr/>
          <p:nvPr/>
        </p:nvSpPr>
        <p:spPr>
          <a:xfrm>
            <a:off x="6355080" y="1234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FOR PRODIGY BANK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55080" y="1737360"/>
            <a:ext cx="4983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history is the strongest categorical predictor of churn risk found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resolution should be treated as a frontline retention lever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Association and Reliability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 Bank Customer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63040" y="27432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 Analysis (Cronbach's Alpha)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whether the 5 Likert items reliably measure one 'Customer Experience' construct that can be combined into one scale.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MENU PATH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5176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 &gt; Scale &gt; Reliability Analysis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/ COLUMNS INVOLVED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Q1_ServiceQuality, Q2_StaffFriendliness, Q3_AppUsability, Q4_WaitTimeSatisfaction, Q5_OverallSatisfaction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PROCEDURE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75488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all 5 items into the Items box, set Model to Alpha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Statistics, tick 'Scale if item deleted'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OK to view the Reliability Statistics table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Association and Reliability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 Bank Customer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 Analysis (Cronbach's Alpha)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OUTPUT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0881360" cy="914400"/>
        </p:xfrm>
        <a:graphic>
          <a:graphicData uri="http://schemas.openxmlformats.org/drawingml/2006/table">
            <a:tbl>
              <a:tblPr/>
              <a:tblGrid>
                <a:gridCol w="3627120"/>
                <a:gridCol w="3627120"/>
                <a:gridCol w="36271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Cronbach's Alpha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5 Likert items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514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OUTPUT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28346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significance (Sig.) column to the .05 threshold: values below .05 indicate a statistically significant result.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Association and Reliability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 Bank Customer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 Analysis (Cronbach's Alpha)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349240" cy="5029200"/>
          </a:xfrm>
          <a:prstGeom prst="roundRect">
            <a:avLst>
              <a:gd name="adj" fmla="val 1455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484632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= .79, comfortably above the .70 acceptable threshold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shows a healthy item-total correlation (.53 to .65)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Dropping any item would not meaningfully improve reliability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80760" y="105156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0B2E33"/>
          </a:solidFill>
          <a:ln/>
        </p:spPr>
      </p:sp>
      <p:sp>
        <p:nvSpPr>
          <p:cNvPr id="7" name="Text 5"/>
          <p:cNvSpPr/>
          <p:nvPr/>
        </p:nvSpPr>
        <p:spPr>
          <a:xfrm>
            <a:off x="6355080" y="1234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FOR PRODIGY BANK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55080" y="1737360"/>
            <a:ext cx="4983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5 items can be responsibly combined into one Customer Experience Index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weak-scale cases, this scale is genuinely fit for a single composite score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Association and Reliability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 Bank Customer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63040" y="27432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Analysis (Pearson)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strength and direction of relationships between pairs of continuous and ordinal variables.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MENU PATH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5176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 &gt; Correlate &gt; Bivariate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/ COLUMNS INVOLVED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Years With Bank, Income, Transactions, Credit Score, and the 5 Likert items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PROCEDURE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75488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all 10 variables into the Variables box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Pearson, select Two-tailed test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'Flag significant correlations'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OK to produce the correlation matrix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Association and Reliability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 Bank Customer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Analysis (Pearson)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OUTPUT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0881360" cy="914400"/>
        </p:xfrm>
        <a:graphic>
          <a:graphicData uri="http://schemas.openxmlformats.org/drawingml/2006/table">
            <a:tbl>
              <a:tblPr/>
              <a:tblGrid>
                <a:gridCol w="2720340"/>
                <a:gridCol w="2720340"/>
                <a:gridCol w="2720340"/>
                <a:gridCol w="27203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Pearson 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 Wait Time x Credit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Small, significant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Q5 Satisfaction x Credit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Small, significant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x Credit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Negligible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520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OUTPUT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3840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significance (Sig.) column to the .05 threshold: values below .05 indicate a statistically significant result.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Association and Reliability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 Bank Customer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Analysis (Pearson)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349240" cy="5029200"/>
          </a:xfrm>
          <a:prstGeom prst="roundRect">
            <a:avLst>
              <a:gd name="adj" fmla="val 1455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484632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 Likert items correlate moderately with each other, confirming Section 6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Demographic/account variables barely correlate with credit score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time and overall satisfaction show small but real links to credit score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80760" y="105156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0B2E33"/>
          </a:solidFill>
          <a:ln/>
        </p:spPr>
      </p:sp>
      <p:sp>
        <p:nvSpPr>
          <p:cNvPr id="7" name="Text 5"/>
          <p:cNvSpPr/>
          <p:nvPr/>
        </p:nvSpPr>
        <p:spPr>
          <a:xfrm>
            <a:off x="6355080" y="1234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FOR PRODIGY BANK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55080" y="1737360"/>
            <a:ext cx="4983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coherence supports one composite Customer Experience Index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satisfaction-credit score link is worth testing formally via regression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Association and Reliability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 Bank Customer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Comparison Tests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4160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averages differ between two or more groups?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63040" y="27432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Samples T-Test (Gender)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the average of a continuous variable differs between Male and Female customers.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MENU PATH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5176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 &gt; Compare Means &gt; Independent-Samples T Test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/ COLUMNS INVOLVED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Grouping: Gender. Test variables: Income, Credit Score, Transactions, Q5, Q1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PROCEDURE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75488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test variables into Test Variable(s), Gender into Grouping Variable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groups (Male / Female)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OK; check Levene's test first, then read the matching t row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Group Comparison Tests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 Bank Customer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Samples T-Test (Gender)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OUTPUT</a:t>
            </a:r>
            <a:endParaRPr lang="en-US" sz="13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0881360" cy="914400"/>
        </p:xfrm>
        <a:graphic>
          <a:graphicData uri="http://schemas.openxmlformats.org/drawingml/2006/table">
            <a:tbl>
              <a:tblPr/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 Mean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 Mean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Income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205059.958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211095.604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-0.547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648.217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642.612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017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OUTPUT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33375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significance (Sig.) column to the .05 threshold: values below .05 indicate a statistically significant result.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Group Comparison Tests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 Bank Customer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Samples T-Test (Gender)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349240" cy="5029200"/>
          </a:xfrm>
          <a:prstGeom prst="roundRect">
            <a:avLst>
              <a:gd name="adj" fmla="val 1455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484632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Levene's test is non-significant throughout; equal variances assumed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variable tested differs significantly by gender (all p &gt; .05)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effect sizes are negligible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80760" y="105156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0B2E33"/>
          </a:solidFill>
          <a:ln/>
        </p:spPr>
      </p:sp>
      <p:sp>
        <p:nvSpPr>
          <p:cNvPr id="7" name="Text 5"/>
          <p:cNvSpPr/>
          <p:nvPr/>
        </p:nvSpPr>
        <p:spPr>
          <a:xfrm>
            <a:off x="6355080" y="1234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FOR PRODIGY BANK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55080" y="1737360"/>
            <a:ext cx="4983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gender-differentiated pricing or credit policy is supported by this data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resources on variables shown to matter, like complaint history and credit score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Group Comparison Tests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 Bank Customer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63040" y="27432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Mann-Whitney U Test (Non-Parametric Alternative)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Re-test the gender comparisons on the Likert items using ranks, appropriate given non-normal distributions.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MENU PATH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5176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 &gt; Nonparametric Tests &gt; Legacy Dialogs &gt; 2 Independent Samples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/ COLUMNS INVOLVED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Grouping: Gender. Test variables: Q1 to Q5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PROCEDURE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75488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5 Likert items into Test Variable List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Gender into Grouping Variable and define groups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Mann-Whitney U under Test Type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OK; read the Ranks and Test Statistics tables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Group Comparison Tests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 Bank Customer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Mann-Whitney U Test (Non-Parametric Alternative)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OUTPUT</a:t>
            </a:r>
            <a:endParaRPr lang="en-US" sz="13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0881360" cy="914400"/>
        </p:xfrm>
        <a:graphic>
          <a:graphicData uri="http://schemas.openxmlformats.org/drawingml/2006/table">
            <a:tbl>
              <a:tblPr/>
              <a:tblGrid>
                <a:gridCol w="2720340"/>
                <a:gridCol w="2720340"/>
                <a:gridCol w="2720340"/>
                <a:gridCol w="27203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 Mean Rank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 Mean Rank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Service Quality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157.73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141.55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Q5 Overall Satisfaction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153.04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147.35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0.5443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017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OUTPUT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33375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significance (Sig.) column to the .05 threshold: values below .05 indicate a statistically significant result.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Group Comparison Tests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 Bank Customer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Mann-Whitney U Test (Non-Parametric Alternative)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349240" cy="5029200"/>
          </a:xfrm>
          <a:prstGeom prst="roundRect">
            <a:avLst>
              <a:gd name="adj" fmla="val 1455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484632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item differs significantly by gender (all p &gt; .05)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t-test conclusion using a method that assumes no normality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80760" y="105156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0B2E33"/>
          </a:solidFill>
          <a:ln/>
        </p:spPr>
      </p:sp>
      <p:sp>
        <p:nvSpPr>
          <p:cNvPr id="7" name="Text 5"/>
          <p:cNvSpPr/>
          <p:nvPr/>
        </p:nvSpPr>
        <p:spPr>
          <a:xfrm>
            <a:off x="6355080" y="1234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FOR PRODIGY BANK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55080" y="1737360"/>
            <a:ext cx="4983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'no gender difference' finding is robust across two statistical methods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Group Comparison Tests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 Bank Customer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63040" y="27432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One-Way ANOVA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a continuous variable's mean differs across 3+ groups: Churn Risk, Branch, Education, Account Type.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MENU PATH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5176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 &gt; Compare Means &gt; One-Way ANOVA (Post Hoc: Tukey)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/ COLUMNS INVOLVED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Factors: ChurnRisk, Branch, Education, AccountType. DVs: CreditScore, MonthlyIncome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PROCEDURE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75488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dependent variable into Dependent List, the factor into Factor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Options, tick Descriptive and Homogeneity of variance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Post Hoc, tick Tukey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OK; repeat for each pairing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Group Comparison Tests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 Bank Customer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One-Way ANOVA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OUTPUT</a:t>
            </a:r>
            <a:endParaRPr lang="en-US" sz="13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0881360" cy="914400"/>
        </p:xfrm>
        <a:graphic>
          <a:graphicData uri="http://schemas.openxmlformats.org/drawingml/2006/table">
            <a:tbl>
              <a:tblPr/>
              <a:tblGrid>
                <a:gridCol w="2720340"/>
                <a:gridCol w="2720340"/>
                <a:gridCol w="2720340"/>
                <a:gridCol w="27203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 squared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Score by Churn Risk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 by Branch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 by Education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169.856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&lt;.001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Score by Account 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023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OUTPUT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43434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significance (Sig.) column to the .05 threshold: values below .05 indicate a statistically significant result.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Group Comparison Tests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 Bank Customer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One-Way ANOVA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349240" cy="5029200"/>
          </a:xfrm>
          <a:prstGeom prst="roundRect">
            <a:avLst>
              <a:gd name="adj" fmla="val 1455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484632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risk, branch, and account type show no significant effect on credit score or income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has a large, highly significant effect on income (eta sq = .63)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Tukey post hoc: every education level differs significantly from every other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80760" y="105156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0B2E33"/>
          </a:solidFill>
          <a:ln/>
        </p:spPr>
      </p:sp>
      <p:sp>
        <p:nvSpPr>
          <p:cNvPr id="7" name="Text 5"/>
          <p:cNvSpPr/>
          <p:nvPr/>
        </p:nvSpPr>
        <p:spPr>
          <a:xfrm>
            <a:off x="6355080" y="1234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FOR PRODIGY BANK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55080" y="1737360"/>
            <a:ext cx="4983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and churn risk appear to be driven by largely separate factors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is the dominant demographic lever for income-based product strategy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Group Comparison Tests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 Bank Customer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63040" y="27432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Kruskal-Wallis H Test (Non-Parametric ANOVA Alternative)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Re-test the Churn Risk and Branch group comparisons using ranks, appropriate for non-normal data.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MENU PATH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5176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 &gt; Nonparametric Tests &gt; Legacy Dialogs &gt; K Independent Samples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/ COLUMNS INVOLVED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Factors: ChurnRisk, Branch. Test variables: CreditScore, MonthlyIncome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PROCEDURE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75488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test variable into Test Variable List, the factor into Grouping Variable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Define Range and set min/max group codes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Kruskal-Wallis H under Test Type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OK; read the Ranks and Test Statistics tables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Group Comparison Tests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 Bank Customer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Kruskal-Wallis H Test (Non-Parametric ANOVA Alternative)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OUTPUT</a:t>
            </a:r>
            <a:endParaRPr lang="en-US" sz="13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0881360" cy="914400"/>
        </p:xfrm>
        <a:graphic>
          <a:graphicData uri="http://schemas.openxmlformats.org/drawingml/2006/table">
            <a:tbl>
              <a:tblPr/>
              <a:tblGrid>
                <a:gridCol w="3627120"/>
                <a:gridCol w="3627120"/>
                <a:gridCol w="36271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Score by Churn Risk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 by Branch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017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OUTPUT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33375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significance (Sig.) column to the .05 threshold: values below .05 indicate a statistically significant result.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Group Comparison Tests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 Bank Customer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Kruskal-Wallis H Test (Non-Parametric ANOVA Alternative)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349240" cy="5029200"/>
          </a:xfrm>
          <a:prstGeom prst="roundRect">
            <a:avLst>
              <a:gd name="adj" fmla="val 1455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484632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tests are non-significant, matching the parametric ANOVA results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ranks cluster closely around the overall average for all groups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80760" y="105156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0B2E33"/>
          </a:solidFill>
          <a:ln/>
        </p:spPr>
      </p:sp>
      <p:sp>
        <p:nvSpPr>
          <p:cNvPr id="7" name="Text 5"/>
          <p:cNvSpPr/>
          <p:nvPr/>
        </p:nvSpPr>
        <p:spPr>
          <a:xfrm>
            <a:off x="6355080" y="1234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FOR PRODIGY BANK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55080" y="1737360"/>
            <a:ext cx="4983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 of churn/branch homogeneity on credit score and income is robust to test choice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Group Comparison Tests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 Bank Customer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Models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4160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variables predict credit score and loan default?</a:t>
            </a:r>
            <a:endParaRPr lang="en-US" sz="1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63040" y="27432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Linear Regression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variables significantly predict Credit Score and quantify how much variance they jointly explain.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MENU PATH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5176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 &gt; Regression &gt; Linear (Method: Enter)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/ COLUMNS INVOLVED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Dependent: CreditScore. Predictors: Age, Tenure, Income, Transactions, Q1-Q5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PROCEDURE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75488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Credit Score into Dependent, the 9 predictors into Independent(s)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Statistics, tick Estimates, Model fit, Collinearity diagnostics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OK; review Model Summary, ANOVA, and Coefficients tables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Predictive Models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 Bank Customer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Linear Regression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OUTPUT</a:t>
            </a:r>
            <a:endParaRPr lang="en-US" sz="13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0881360" cy="914400"/>
        </p:xfrm>
        <a:graphic>
          <a:graphicData uri="http://schemas.openxmlformats.org/drawingml/2006/table">
            <a:tbl>
              <a:tblPr/>
              <a:tblGrid>
                <a:gridCol w="5440680"/>
                <a:gridCol w="54406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squared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(model)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2.652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 Wait Time: B (significant)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8.9065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Q5 Satisfaction: B (significant)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15.3058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526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OUTPUT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48463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significance (Sig.) column to the .05 threshold: values below .05 indicate a statistically significant result.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Predictive Models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 Bank Customer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Linear Regression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349240" cy="5029200"/>
          </a:xfrm>
          <a:prstGeom prst="roundRect">
            <a:avLst>
              <a:gd name="adj" fmla="val 1455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484632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squared = .08; a modest but statistically significant model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Wait Time Satisfaction and Overall Satisfaction are significant predictors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tenure, income, and transactions are not significant once these are included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VIF values are low; multicollinearity is not a problem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80760" y="105156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0B2E33"/>
          </a:solidFill>
          <a:ln/>
        </p:spPr>
      </p:sp>
      <p:sp>
        <p:nvSpPr>
          <p:cNvPr id="7" name="Text 5"/>
          <p:cNvSpPr/>
          <p:nvPr/>
        </p:nvSpPr>
        <p:spPr>
          <a:xfrm>
            <a:off x="6355080" y="1234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FOR PRODIGY BANK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55080" y="1737360"/>
            <a:ext cx="4983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 needs richer financial variables for a strong predictive model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satisfaction to credit score link is real but small; treat as association, not proven cause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Predictive Models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 Bank Customer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63040" y="27432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Logistic Regression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variables predict whether a customer defaults on a loan (Yes / No).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MENU PATH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5176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 &gt; Regression &gt; Binary Logistic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/ COLUMNS INVOLVED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Dependent: LoanDefault. Predictors: CreditScore, Income, Tenure, Transactions, Age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PROCEDURE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75488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LoanDefault into Dependent, the 5 predictors into Covariates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Options, tick Hosmer-Lemeshow test and CI for Exp(B)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OK; review Model Summary, Classification Table, Variables in the Equation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Predictive Models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 Bank Customer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Logistic Regression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OUTPUT</a:t>
            </a:r>
            <a:endParaRPr lang="en-US" sz="13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0881360" cy="914400"/>
        </p:xfrm>
        <a:graphic>
          <a:graphicData uri="http://schemas.openxmlformats.org/drawingml/2006/table">
            <a:tbl>
              <a:tblPr/>
              <a:tblGrid>
                <a:gridCol w="5440680"/>
                <a:gridCol w="54406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chi-square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17.285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Nagelkerke R squared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0.0481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Score Odds Ratio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classification 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526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OUTPUT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48463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significance (Sig.) column to the .05 threshold: values below .05 indicate a statistically significant result.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Predictive Models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 Bank Customer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Logistic Regression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349240" cy="5029200"/>
          </a:xfrm>
          <a:prstGeom prst="roundRect">
            <a:avLst>
              <a:gd name="adj" fmla="val 1455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484632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model is statistically significant (p = .004)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 is the only significant predictor; higher score means lower default odds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Nagelkerke R squared is modest at .05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catches very few actual defaulters despite decent overall accuracy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80760" y="105156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0B2E33"/>
          </a:solidFill>
          <a:ln/>
        </p:spPr>
      </p:sp>
      <p:sp>
        <p:nvSpPr>
          <p:cNvPr id="7" name="Text 5"/>
          <p:cNvSpPr/>
          <p:nvPr/>
        </p:nvSpPr>
        <p:spPr>
          <a:xfrm>
            <a:off x="6355080" y="1234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FOR PRODIGY BANK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55080" y="1737360"/>
            <a:ext cx="4983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 is a validated, real predictor of default, reassuring for scoring practice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lower cut-off or richer data is needed to actually catch more defaulters proactively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Predictive Models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 Bank Customer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Reduction and Classification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4160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Simplifying variables and classifying respondents into groups</a:t>
            </a:r>
            <a:endParaRPr lang="en-US" sz="16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63040" y="27432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 Analysis (Principal Component / EFA)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the 5 Likert items reduce to fewer underlying dimensions, and confirm suitability for factor analysis.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MENU PATH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5176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 &gt; Dimension Reduction &gt; Factor (Extraction: Principal Components)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/ COLUMNS INVOLVED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Q1_ServiceQuality, Q2_StaffFriendliness, Q3_AppUsability, Q4_WaitTimeSatisfaction, Q5_OverallSatisfaction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PROCEDURE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75488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all 5 items into Variables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Descriptives, tick KMO and Bartlett's Test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Extraction, use Eigenvalues greater than 1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OK; review KMO, Total Variance Explained, Component Matrix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Data Reduction and Classification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 Bank Customer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 Analysis (Principal Component / EFA)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OUTPUT</a:t>
            </a:r>
            <a:endParaRPr lang="en-US" sz="13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0881360" cy="914400"/>
        </p:xfrm>
        <a:graphic>
          <a:graphicData uri="http://schemas.openxmlformats.org/drawingml/2006/table">
            <a:tbl>
              <a:tblPr/>
              <a:tblGrid>
                <a:gridCol w="5440680"/>
                <a:gridCol w="54406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KMO measure of sampling adequacy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Bartlett's test chi-square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409.867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Bartlett's test Sig.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&lt;.001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Components with eigenvalue &gt;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Variance explained by Component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526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OUTPUT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48463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significance (Sig.) column to the .05 threshold: values below .05 indicate a statistically significant result.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Data Reduction and Classification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 Bank Customer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 Analysis (Principal Component / EFA)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349240" cy="5029200"/>
          </a:xfrm>
          <a:prstGeom prst="roundRect">
            <a:avLst>
              <a:gd name="adj" fmla="val 1455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484632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KMO = .84, an excellent, 'meritorious' level of sampling adequacy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 component has an eigenvalue above 1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loads strongly onto this single component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confirms one coherent Customer Experience construct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80760" y="105156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0B2E33"/>
          </a:solidFill>
          <a:ln/>
        </p:spPr>
      </p:sp>
      <p:sp>
        <p:nvSpPr>
          <p:cNvPr id="7" name="Text 5"/>
          <p:cNvSpPr/>
          <p:nvPr/>
        </p:nvSpPr>
        <p:spPr>
          <a:xfrm>
            <a:off x="6355080" y="1234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FOR PRODIGY BANK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55080" y="1737360"/>
            <a:ext cx="4983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Customer Experience Index is statistically justified for reporting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future survey could shorten this scale without losing much information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Data Reduction and Classification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 Bank Customer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63040" y="27432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 Analysis (K-Means)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customers into distinct behavioral and financial groups for targeted relationship management.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MENU PATH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5176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 &gt; Classify &gt; K-Means Cluster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/ COLUMNS INVOLVED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Transactions, Years With Bank, Monthly Income, Credit Score (standardized to Z-scores)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PROCEDURE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75488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the 4 variables to Z-scores first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standardized variables into Variables in K-Means Cluster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Number of Clusters to 3 (based on the elbow method)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Save, tick Cluster Membership; click OK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Data Reduction and Classification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 Bank Customer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 Analysis (K-Means)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OUTPUT</a:t>
            </a:r>
            <a:endParaRPr lang="en-US" sz="13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0881360" cy="914400"/>
        </p:xfrm>
        <a:graphic>
          <a:graphicData uri="http://schemas.openxmlformats.org/drawingml/2006/table">
            <a:tbl>
              <a:tblPr/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Tenure (yrs)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 (NGN)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 0: Established Mid-Income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133331.94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657.21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 1: Long-Tenured Lower-Credit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17.59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215394.27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618.91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 2: Newer High-Activity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271082.53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520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OUTPUT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3840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significance (Sig.) column to the .05 threshold: values below .05 indicate a statistically significant result.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Data Reduction and Classification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 Bank Customer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 Analysis (K-Means)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349240" cy="5029200"/>
          </a:xfrm>
          <a:prstGeom prst="roundRect">
            <a:avLst>
              <a:gd name="adj" fmla="val 1455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484632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clusters emerge, validated by a significant ANOVA on credit score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 has the longest tenure and highest income, but the lowest credit score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2 is newer but highly active with high income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0 is the most creditworthy, stable segment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80760" y="105156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0B2E33"/>
          </a:solidFill>
          <a:ln/>
        </p:spPr>
      </p:sp>
      <p:sp>
        <p:nvSpPr>
          <p:cNvPr id="7" name="Text 5"/>
          <p:cNvSpPr/>
          <p:nvPr/>
        </p:nvSpPr>
        <p:spPr>
          <a:xfrm>
            <a:off x="6355080" y="1234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FOR PRODIGY BANK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55080" y="1737360"/>
            <a:ext cx="4983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1's tenure/income/credit mismatch is a red flag worth individual review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2 is a high-value new-customer segment worth nurturing early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0 is a natural base for cross-selling additional products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Data Reduction and Classification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 Bank Customer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63040" y="27432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Discriminant Analysis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which variables best separate customers who default from those who do not, cross-checking the logistic regression.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MENU PATH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5176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 &gt; Classify &gt; Discriminant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/ COLUMNS INVOLVED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Grouping: LoanDefault. Predictors: Credit Score, Income, Tenure, Q1-Q5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PROCEDURE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75488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LoanDefault into Grouping Variable, define range 0 to 1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8 predictors into Independents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Statistics, tick Univariate ANOVAs and Fisher's function coefficients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Classify, tick Summary table; click OK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Data Reduction and Classification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 Bank Customer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Discriminant Analysis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OUTPUT</a:t>
            </a:r>
            <a:endParaRPr lang="en-US" sz="13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0881360" cy="914400"/>
        </p:xfrm>
        <a:graphic>
          <a:graphicData uri="http://schemas.openxmlformats.org/drawingml/2006/table">
            <a:tbl>
              <a:tblPr/>
              <a:tblGrid>
                <a:gridCol w="5440680"/>
                <a:gridCol w="54406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classification 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Score: No Default group mean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655.12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Score: Default group mean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622.3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520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OUTPUT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3840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significance (Sig.) column to the .05 threshold: values below .05 indicate a statistically significant result.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Data Reduction and Classification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 Bank Customer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Discriminant Analysis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349240" cy="5029200"/>
          </a:xfrm>
          <a:prstGeom prst="roundRect">
            <a:avLst>
              <a:gd name="adj" fmla="val 1455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484632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Non-defaulters have a noticeably higher average credit score than defaulters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largest group difference among all 8 predictors tested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model, like logistic regression, under-detects actual defaulters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80760" y="105156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0B2E33"/>
          </a:solidFill>
          <a:ln/>
        </p:spPr>
      </p:sp>
      <p:sp>
        <p:nvSpPr>
          <p:cNvPr id="7" name="Text 5"/>
          <p:cNvSpPr/>
          <p:nvPr/>
        </p:nvSpPr>
        <p:spPr>
          <a:xfrm>
            <a:off x="6355080" y="1234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FOR PRODIGY BANK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55080" y="1737360"/>
            <a:ext cx="4983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methods agree: Credit Score is the key default differentiator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repayment-history data is needed before automating lending decisions on this model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Data Reduction and Classification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 Bank Customer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Summary: Every Analysis in One Table</a:t>
            </a:r>
            <a:endParaRPr lang="en-US" sz="26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108813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657600"/>
                <a:gridCol w="6309360"/>
              </a:tblGrid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prep, frequencies, descriptives, normality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missing data; 38.7% complaint rate, 28.7% default rate; Credit Score is normally distributed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Chi-square, reliability, correlation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Complaints strongly linked to churn risk; the 5 Likert items form one reliable scale (alpha=.79)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8-11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T-test, Mann-Whitney, ANOVA, Kruskal-Wallis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gender/churn/branch effects on credit or income; education strongly predicts income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12-13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and logistic regression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Score weakly linked to satisfaction (R2=.08); Credit Score predicts default (p=.004)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14-16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Factor, cluster, discriminant analysis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clear Customer Experience factor; 3 segments; Credit Score confirmed as key default signal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Summary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 Bank Customer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Next Steps for Prodigy Bank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34440" y="123444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complaint-triggered retention workflows; complaint history is the strongest predictor of churn risk found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219456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the five-item Customer Experience Index as an official KPI, tracked by branch and over time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15468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richer credit-risk data (debt load, repayment history, employment type) to strengthen default prediction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41148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long-tenured, high-income, lower-credit customer segment individually rather than assuming tenure implies low risk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51206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5120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507492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a wait-time improvement initiative; it is the single weakest-rated customer experience dimension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 Bank Customer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and Discussion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35661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test in this deck was run on the actual Prodigy Bank dataset, not illustrative numbers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59</Slides>
  <Notes>59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2026-07-18T21:32:04Z</dcterms:created>
  <dcterms:modified xsi:type="dcterms:W3CDTF">2026-07-18T21:32:04Z</dcterms:modified>
</cp:coreProperties>
</file>
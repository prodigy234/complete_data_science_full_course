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</p:sldIdLst>
  <p:notesMasterIdLst>
    <p:notesMasterId r:id="rId6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notesMaster" Target="notesMasters/notesMaster1.xml"/><Relationship Id="rId62" Type="http://schemas.openxmlformats.org/officeDocument/2006/relationships/presProps" Target="presProps.xml"/><Relationship Id="rId63" Type="http://schemas.openxmlformats.org/officeDocument/2006/relationships/viewProps" Target="viewProps.xml"/><Relationship Id="rId64" Type="http://schemas.openxmlformats.org/officeDocument/2006/relationships/theme" Target="theme/theme1.xml"/><Relationship Id="rId6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103120"/>
            <a:ext cx="1072591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UAC FOODS CONSUMER SURVEY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3063240"/>
            <a:ext cx="10725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9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Teaching Guide to Every SPSS Statistical Analysis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754880" y="3794760"/>
            <a:ext cx="274320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4023360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UAC_Foods_Survey.csv  |  N = 250 Respondents  |  16 Variables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4389120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classroom use - July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Deck Covers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34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71600" y="118872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 and Descriptive Statistics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1527048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values, frequencies, descriptives, normality (Sections 1-4)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19456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194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371600" y="214884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Association and Reliability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71600" y="2487168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Chi-square, Cronbach's alpha, correlation (Sections 5-7)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15468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154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371600" y="310896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Comparison Tests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71600" y="3447288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T-test, Mann-Whitney, ANOVA, Kruskal-Wallis (Sections 8-11)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411480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114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371600" y="406908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Models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71600" y="4407408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linear regression, logistic regression (Sections 12-13)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5074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371600" y="502920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Reduction and Classification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371600" y="5367528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 analysis, cluster analysis, discriminant analysis (Sections 14-16)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245352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UAC Foods Consumer Survey - SPSS Teaching Deck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Dataset at a Glance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2468880" cy="1371600"/>
          </a:xfrm>
          <a:prstGeom prst="roundRect">
            <a:avLst>
              <a:gd name="adj" fmla="val 6667"/>
            </a:avLst>
          </a:prstGeom>
          <a:solidFill>
            <a:srgbClr val="F2F2F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8016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Respondents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337560" y="1188720"/>
            <a:ext cx="2468880" cy="1371600"/>
          </a:xfrm>
          <a:prstGeom prst="roundRect">
            <a:avLst>
              <a:gd name="adj" fmla="val 6667"/>
            </a:avLst>
          </a:prstGeom>
          <a:solidFill>
            <a:srgbClr val="F2F2F2"/>
          </a:solidFill>
          <a:ln/>
        </p:spPr>
      </p:sp>
      <p:sp>
        <p:nvSpPr>
          <p:cNvPr id="7" name="Text 5"/>
          <p:cNvSpPr/>
          <p:nvPr/>
        </p:nvSpPr>
        <p:spPr>
          <a:xfrm>
            <a:off x="3337560" y="128016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337560" y="19659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035040" y="1188720"/>
            <a:ext cx="2468880" cy="1371600"/>
          </a:xfrm>
          <a:prstGeom prst="roundRect">
            <a:avLst>
              <a:gd name="adj" fmla="val 6667"/>
            </a:avLst>
          </a:prstGeom>
          <a:solidFill>
            <a:srgbClr val="F2F2F2"/>
          </a:solidFill>
          <a:ln/>
        </p:spPr>
      </p:sp>
      <p:sp>
        <p:nvSpPr>
          <p:cNvPr id="10" name="Text 8"/>
          <p:cNvSpPr/>
          <p:nvPr/>
        </p:nvSpPr>
        <p:spPr>
          <a:xfrm>
            <a:off x="6035040" y="128016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6035040" y="19659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732520" y="1188720"/>
            <a:ext cx="2468880" cy="1371600"/>
          </a:xfrm>
          <a:prstGeom prst="roundRect">
            <a:avLst>
              <a:gd name="adj" fmla="val 6667"/>
            </a:avLst>
          </a:prstGeom>
          <a:solidFill>
            <a:srgbClr val="F2F2F2"/>
          </a:solidFill>
          <a:ln/>
        </p:spPr>
      </p:sp>
      <p:sp>
        <p:nvSpPr>
          <p:cNvPr id="13" name="Text 11"/>
          <p:cNvSpPr/>
          <p:nvPr/>
        </p:nvSpPr>
        <p:spPr>
          <a:xfrm>
            <a:off x="8732520" y="128016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8732520" y="19659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28803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Groups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" y="333756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Demographics: Region, Gender, Age, Education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379476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Behavior: Purchase Frequency, Loyalty Years, Monthly Spend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425196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Perceptions (5-point Likert): Taste, Price, Packaging, Availability, Overall Satisfaction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" y="470916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Would Recommend (Yes / No)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" y="525780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 for teaching: this is a realistic, moderately messy survey dataset with a mix of nominal, ordinal, and scale variables, small amounts of missing data, and both significant and non-significant results, making it ideal for demonstrating the full SPSS toolkit honestly.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245352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UAC Foods Consumer Survey - SPSS Teaching Deck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9000" dirty="0"/>
          </a:p>
        </p:txBody>
      </p:sp>
      <p:sp>
        <p:nvSpPr>
          <p:cNvPr id="3" name="Text 1"/>
          <p:cNvSpPr/>
          <p:nvPr/>
        </p:nvSpPr>
        <p:spPr>
          <a:xfrm>
            <a:off x="731520" y="338328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Preparation and Descriptive Statistics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41605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to know the data before testing anything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777240" cy="502920"/>
          </a:xfrm>
          <a:prstGeom prst="roundRect">
            <a:avLst>
              <a:gd name="adj" fmla="val 14545"/>
            </a:avLst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463040" y="274320"/>
            <a:ext cx="10149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Screening and Missing Value Analysis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data quality before running any test: find missing values, confirm variable types, confirm sample size per variable.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331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SPSS MENU PATH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651760"/>
            <a:ext cx="10881360" cy="502920"/>
          </a:xfrm>
          <a:prstGeom prst="roundRect">
            <a:avLst>
              <a:gd name="adj" fmla="val 10909"/>
            </a:avLst>
          </a:prstGeom>
          <a:solidFill>
            <a:srgbClr val="F2F2F2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651760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Analyze &gt; Missing Value Analysis (or Analyze &gt; Descriptive Statistics &gt; Frequencies)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33375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/ COLUMNS INVOLVED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3657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16 variables; focus on Age and MonthlyIncome_NGN000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44348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PROCEDURE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4754880"/>
            <a:ext cx="10881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the file, check each variable type (String vs Numeric)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Analyze &gt; Missing Value Analysis on all variables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run Frequencies and read the Missing row in each table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 treatment: listwise deletion, imputation, or pairwise deletion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Data Preparation and Descriptive Statistics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245352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UAC Foods Consumer Survey - SPSS Teaching Deck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149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Screening and Missing Value Analysis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SPSS OUTPUT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0881360" cy="914400"/>
        </p:xfrm>
        <a:graphic>
          <a:graphicData uri="http://schemas.openxmlformats.org/drawingml/2006/table">
            <a:tbl>
              <a:tblPr/>
              <a:tblGrid>
                <a:gridCol w="2720340"/>
                <a:gridCol w="2720340"/>
                <a:gridCol w="2720340"/>
                <a:gridCol w="272034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 Valid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 Missing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Missing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MonthlyIncome_NGN000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other variables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5204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THIS OUTPUT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48640" y="3840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the significance (Sig.) column to the .05 threshold: values below .05 indicate a statistically significant result.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Data Preparation and Descriptive Statistics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245352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UAC Foods Consumer Survey - SPSS Teaching Deck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149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Screening and Missing Value Analysis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5349240" cy="5029200"/>
          </a:xfrm>
          <a:prstGeom prst="roundRect">
            <a:avLst>
              <a:gd name="adj" fmla="val 1455"/>
            </a:avLst>
          </a:prstGeom>
          <a:solidFill>
            <a:srgbClr val="F2F2F2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2344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1691640"/>
            <a:ext cx="484632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Age (2.4%) and Income (2.0%) have missing data, both under the 5% caution threshold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missingness pattern was detected; listwise deletion is safe to use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completeness is high across the whole survey (250 respondents)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080760" y="1051560"/>
            <a:ext cx="5532120" cy="5029200"/>
          </a:xfrm>
          <a:prstGeom prst="roundRect">
            <a:avLst>
              <a:gd name="adj" fmla="val 1455"/>
            </a:avLst>
          </a:prstGeom>
          <a:solidFill>
            <a:srgbClr val="21295C"/>
          </a:solidFill>
          <a:ln/>
        </p:spPr>
      </p:sp>
      <p:sp>
        <p:nvSpPr>
          <p:cNvPr id="7" name="Text 5"/>
          <p:cNvSpPr/>
          <p:nvPr/>
        </p:nvSpPr>
        <p:spPr>
          <a:xfrm>
            <a:off x="6355080" y="12344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FOR UAC FOODS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355080" y="1737360"/>
            <a:ext cx="498348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in this study rest on a near complete, high quality dataset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imputation model was needed for this analysis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Data Preparation and Descriptive Statistics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245352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UAC Foods Consumer Survey - SPSS Teaching Deck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777240" cy="502920"/>
          </a:xfrm>
          <a:prstGeom prst="roundRect">
            <a:avLst>
              <a:gd name="adj" fmla="val 14545"/>
            </a:avLst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463040" y="274320"/>
            <a:ext cx="10149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Frequency Analysis (Categorical and Likert Variables)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 how many respondents fall into each category, for both nominal variables and the 5 point Likert ratings.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331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SPSS MENU PATH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651760"/>
            <a:ext cx="10881360" cy="502920"/>
          </a:xfrm>
          <a:prstGeom prst="roundRect">
            <a:avLst>
              <a:gd name="adj" fmla="val 10909"/>
            </a:avLst>
          </a:prstGeom>
          <a:solidFill>
            <a:srgbClr val="F2F2F2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651760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Analyze &gt; Descriptive Statistics &gt; Frequencies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33375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/ COLUMNS INVOLVED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3657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Region, Gender, Education, Product, WouldRecommend, Taste, Price, Packaging, Availability, OverallSatisfaction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44348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PROCEDURE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4754880"/>
            <a:ext cx="10881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all listed variables into the Variable(s) box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 'Display frequency tables'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Bar Charts for nominal variables, Histograms for Likert items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OK; one table is produced per variable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Data Preparation and Descriptive Statistics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245352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UAC Foods Consumer Survey - SPSS Teaching Deck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149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Frequency Analysis (Categorical and Likert Variables)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SPSS OUTPUT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0881360" cy="914400"/>
        </p:xfrm>
        <a:graphic>
          <a:graphicData uri="http://schemas.openxmlformats.org/drawingml/2006/table">
            <a:tbl>
              <a:tblPr/>
              <a:tblGrid>
                <a:gridCol w="2720340"/>
                <a:gridCol w="2720340"/>
                <a:gridCol w="2720340"/>
                <a:gridCol w="272034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Category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Frequency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Percent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Lagos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34.8%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Gender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Female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52.0%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Education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Bachelor's Degree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37.2%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Gala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WouldRecommend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78.4%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Taste (rating 4 or 5)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56.0%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029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THIS OUTPUT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48640" y="534924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the significance (Sig.) column to the .05 threshold: values below .05 indicate a statistically significant result.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Data Preparation and Descriptive Statistics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245352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UAC Foods Consumer Survey - SPSS Teaching Deck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149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Frequency Analysis (Categorical and Likert Variables)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5349240" cy="5029200"/>
          </a:xfrm>
          <a:prstGeom prst="roundRect">
            <a:avLst>
              <a:gd name="adj" fmla="val 1455"/>
            </a:avLst>
          </a:prstGeom>
          <a:solidFill>
            <a:srgbClr val="F2F2F2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2344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1691640"/>
            <a:ext cx="484632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Lagos dominates the sample (34.8%); results skew toward this market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split is close to even, supporting fair later comparisons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78.4% would recommend their product; a strong headline number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Taste is the most positively rated attribute; Price is more mixed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080760" y="1051560"/>
            <a:ext cx="5532120" cy="5029200"/>
          </a:xfrm>
          <a:prstGeom prst="roundRect">
            <a:avLst>
              <a:gd name="adj" fmla="val 1455"/>
            </a:avLst>
          </a:prstGeom>
          <a:solidFill>
            <a:srgbClr val="21295C"/>
          </a:solidFill>
          <a:ln/>
        </p:spPr>
      </p:sp>
      <p:sp>
        <p:nvSpPr>
          <p:cNvPr id="7" name="Text 5"/>
          <p:cNvSpPr/>
          <p:nvPr/>
        </p:nvSpPr>
        <p:spPr>
          <a:xfrm>
            <a:off x="6355080" y="12344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FOR UAC FOODS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355080" y="1737360"/>
            <a:ext cx="498348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Generalize findings with care given the Lagos heavy sample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78.4% recommend rate is a strong brand asset to test further with regression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Data Preparation and Descriptive Statistics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245352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UAC Foods Consumer Survey - SPSS Teaching Deck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777240" cy="502920"/>
          </a:xfrm>
          <a:prstGeom prst="roundRect">
            <a:avLst>
              <a:gd name="adj" fmla="val 14545"/>
            </a:avLst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463040" y="274320"/>
            <a:ext cx="10149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Descriptive Statistics (Continuous Variables)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central tendency, spread, and shape of each scale variable using mean, SD, variance, range, skewness, kurtosis.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331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SPSS MENU PATH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651760"/>
            <a:ext cx="10881360" cy="502920"/>
          </a:xfrm>
          <a:prstGeom prst="roundRect">
            <a:avLst>
              <a:gd name="adj" fmla="val 10909"/>
            </a:avLst>
          </a:prstGeom>
          <a:solidFill>
            <a:srgbClr val="F2F2F2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651760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Analyze &gt; Descriptive Statistics &gt; Descriptives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33375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/ COLUMNS INVOLVED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3657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MonthlyIncome_NGN000, PurchaseFrequency, LoyaltyYears, MonthlySpend_NGN, and the 5 Likert items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44348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PROCEDURE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4754880"/>
            <a:ext cx="10881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the 10 variables into the Variable(s) box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Options, tick Mean, SD, Variance, Range, Min, Max, Skewness, Kurtosis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OK to produce the Descriptives table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Data Preparation and Descriptive Statistics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245352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UAC Foods Consumer Survey - SPSS Teaching Deck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149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Descriptive Statistics (Continuous Variables)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SPSS OUTPUT</a:t>
            </a:r>
            <a:endParaRPr lang="en-US" sz="1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0881360" cy="914400"/>
        </p:xfrm>
        <a:graphic>
          <a:graphicData uri="http://schemas.openxmlformats.org/drawingml/2006/table">
            <a:tbl>
              <a:tblPr/>
              <a:tblGrid>
                <a:gridCol w="1813560"/>
                <a:gridCol w="1813560"/>
                <a:gridCol w="1813560"/>
                <a:gridCol w="1813560"/>
                <a:gridCol w="1813560"/>
                <a:gridCol w="181356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Skewness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42.807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13.874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-0.14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Income (NGN'000)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120.192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52.276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0.339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Spend (NGN)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1651.884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894.937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3564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Purchase Frequency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10.812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5.837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-0.027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0233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THIS OUTPUT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48640" y="43434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the significance (Sig.) column to the .05 threshold: values below .05 indicate a statistically significant result.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Data Preparation and Descriptive Statistics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245352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UAC Foods Consumer Survey - SPSS Teaching Deck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149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Descriptive Statistics (Continuous Variables)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5349240" cy="5029200"/>
          </a:xfrm>
          <a:prstGeom prst="roundRect">
            <a:avLst>
              <a:gd name="adj" fmla="val 1455"/>
            </a:avLst>
          </a:prstGeom>
          <a:solidFill>
            <a:srgbClr val="F2F2F2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2344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1691640"/>
            <a:ext cx="484632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is fairly symmetric (skew near 0); income has a longer right tail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spend ranges very widely (NGN 200 to NGN 3,564), hinting at customer segments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Likert items show negative kurtosis: flatter, more spread out than a bell curve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080760" y="1051560"/>
            <a:ext cx="5532120" cy="5029200"/>
          </a:xfrm>
          <a:prstGeom prst="roundRect">
            <a:avLst>
              <a:gd name="adj" fmla="val 1455"/>
            </a:avLst>
          </a:prstGeom>
          <a:solidFill>
            <a:srgbClr val="21295C"/>
          </a:solidFill>
          <a:ln/>
        </p:spPr>
      </p:sp>
      <p:sp>
        <p:nvSpPr>
          <p:cNvPr id="7" name="Text 5"/>
          <p:cNvSpPr/>
          <p:nvPr/>
        </p:nvSpPr>
        <p:spPr>
          <a:xfrm>
            <a:off x="6355080" y="12344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FOR UAC FOODS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355080" y="1737360"/>
            <a:ext cx="498348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wide spend range is a strong candidate for cluster segmentation (see Section 15)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7 years average loyalty tenure signals a strongly retained customer base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Data Preparation and Descriptive Statistics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245352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UAC Foods Consumer Survey - SPSS Teaching Deck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777240" cy="502920"/>
          </a:xfrm>
          <a:prstGeom prst="roundRect">
            <a:avLst>
              <a:gd name="adj" fmla="val 14545"/>
            </a:avLst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463040" y="274320"/>
            <a:ext cx="10149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Explore Procedure and Tests of Normality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Formally test whether each variable is normally distributed, to decide between parametric and non-parametric tests later.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331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SPSS MENU PATH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651760"/>
            <a:ext cx="10881360" cy="502920"/>
          </a:xfrm>
          <a:prstGeom prst="roundRect">
            <a:avLst>
              <a:gd name="adj" fmla="val 10909"/>
            </a:avLst>
          </a:prstGeom>
          <a:solidFill>
            <a:srgbClr val="F2F2F2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651760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Analyze &gt; Descriptive Statistics &gt; Explore (Plots &gt; Normality plots with tests)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33375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/ COLUMNS INVOLVED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3657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Income, Purchase Frequency, Loyalty Years, Monthly Spend, and all 5 Likert items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44348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PROCEDURE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4754880"/>
            <a:ext cx="10881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all 10 variables into the Dependent List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Plots, tick 'Normality plots with tests'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Continue, then OK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Shapiro-Wilk and Kolmogorov-Smirnov rows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Data Preparation and Descriptive Statistics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245352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UAC Foods Consumer Survey - SPSS Teaching Deck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149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Explore Procedure and Tests of Normality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SPSS OUTPUT</a:t>
            </a:r>
            <a:endParaRPr lang="en-US" sz="13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0881360" cy="914400"/>
        </p:xfrm>
        <a:graphic>
          <a:graphicData uri="http://schemas.openxmlformats.org/drawingml/2006/table">
            <a:tbl>
              <a:tblPr/>
              <a:tblGrid>
                <a:gridCol w="2720340"/>
                <a:gridCol w="2720340"/>
                <a:gridCol w="2720340"/>
                <a:gridCol w="272034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Shapiro-Wilk 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0.9541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Spend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0.9618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&lt;.001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OverallSatisfaction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&lt;.001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0233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THIS OUTPUT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48640" y="43434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the significance (Sig.) column to the .05 threshold: values below .05 indicate a statistically significant result.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Data Preparation and Descriptive Statistics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245352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UAC Foods Consumer Survey - SPSS Teaching Deck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149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Explore Procedure and Tests of Normality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5349240" cy="5029200"/>
          </a:xfrm>
          <a:prstGeom prst="roundRect">
            <a:avLst>
              <a:gd name="adj" fmla="val 1455"/>
            </a:avLst>
          </a:prstGeom>
          <a:solidFill>
            <a:srgbClr val="F2F2F2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2344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1691640"/>
            <a:ext cx="484632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variable is significantly non-normal (p &lt; .05) by Shapiro-Wilk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for the bounded 5-point Likert items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variables (Age, Income, Spend) are only mildly skewed; large N keeps parametric tests reasonably robust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080760" y="1051560"/>
            <a:ext cx="5532120" cy="5029200"/>
          </a:xfrm>
          <a:prstGeom prst="roundRect">
            <a:avLst>
              <a:gd name="adj" fmla="val 1455"/>
            </a:avLst>
          </a:prstGeom>
          <a:solidFill>
            <a:srgbClr val="21295C"/>
          </a:solidFill>
          <a:ln/>
        </p:spPr>
      </p:sp>
      <p:sp>
        <p:nvSpPr>
          <p:cNvPr id="7" name="Text 5"/>
          <p:cNvSpPr/>
          <p:nvPr/>
        </p:nvSpPr>
        <p:spPr>
          <a:xfrm>
            <a:off x="6355080" y="12344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FOR UAC FOODS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355080" y="1737360"/>
            <a:ext cx="498348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non-parametric tests as the primary method for Likert items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both parametric and non-parametric results for the scale variables as a robustness check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Data Preparation and Descriptive Statistics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245352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UAC Foods Consumer Survey - SPSS Teaching Deck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9000" dirty="0"/>
          </a:p>
        </p:txBody>
      </p:sp>
      <p:sp>
        <p:nvSpPr>
          <p:cNvPr id="3" name="Text 1"/>
          <p:cNvSpPr/>
          <p:nvPr/>
        </p:nvSpPr>
        <p:spPr>
          <a:xfrm>
            <a:off x="731520" y="338328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Association and Reliability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41605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variables move together, and can items be combined into a scale?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777240" cy="502920"/>
          </a:xfrm>
          <a:prstGeom prst="roundRect">
            <a:avLst>
              <a:gd name="adj" fmla="val 14545"/>
            </a:avLst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463040" y="274320"/>
            <a:ext cx="10149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 Tabulation and Chi-Square Test of Independence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whether two categorical variables are statistically associated, for example gender and willingness to recommend.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331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SPSS MENU PATH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651760"/>
            <a:ext cx="10881360" cy="502920"/>
          </a:xfrm>
          <a:prstGeom prst="roundRect">
            <a:avLst>
              <a:gd name="adj" fmla="val 10909"/>
            </a:avLst>
          </a:prstGeom>
          <a:solidFill>
            <a:srgbClr val="F2F2F2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651760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Analyze &gt; Descriptive Statistics &gt; Crosstabs (Statistics: Chi-square, Cramer's V)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33375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/ COLUMNS INVOLVED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3657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Region, Gender, Education, Product crossed with WouldRecommend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44348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PROCEDURE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4754880"/>
            <a:ext cx="10881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the grouping variable in Row(s), the outcome in Column(s)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Statistics, tick Chi-square and Cramer's V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Cells, tick Observed counts and Row percentages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OK; repeat for each variable pair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Association and Reliability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245352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UAC Foods Consumer Survey - SPSS Teaching Deck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149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 Tabulation and Chi-Square Test of Independence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SPSS OUTPUT</a:t>
            </a:r>
            <a:endParaRPr lang="en-US" sz="13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0881360" cy="914400"/>
        </p:xfrm>
        <a:graphic>
          <a:graphicData uri="http://schemas.openxmlformats.org/drawingml/2006/table">
            <a:tbl>
              <a:tblPr/>
              <a:tblGrid>
                <a:gridCol w="2176272"/>
                <a:gridCol w="2176272"/>
                <a:gridCol w="2176272"/>
                <a:gridCol w="2176272"/>
                <a:gridCol w="2176272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 Tabulation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Chi-square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Cramer's V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Gender x WouldRecommend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0.8584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 x WouldRecommend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8.963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0.189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Education x WouldRecommend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0.7963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x WouldRecommend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5.139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0.2734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0.143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0233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THIS OUTPUT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48640" y="43434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the significance (Sig.) column to the .05 threshold: values below .05 indicate a statistically significant result.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Association and Reliability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245352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UAC Foods Consumer Survey - SPSS Teaching Deck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149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 Tabulation and Chi-Square Test of Independence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5349240" cy="5029200"/>
          </a:xfrm>
          <a:prstGeom prst="roundRect">
            <a:avLst>
              <a:gd name="adj" fmla="val 1455"/>
            </a:avLst>
          </a:prstGeom>
          <a:solidFill>
            <a:srgbClr val="F2F2F2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2344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1691640"/>
            <a:ext cx="484632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tests are non-significant (p &gt; .05); no meaningful association found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 sizes (Cramer's V) are all negligible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behavior is consistent across gender, region, education, and product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080760" y="1051560"/>
            <a:ext cx="5532120" cy="5029200"/>
          </a:xfrm>
          <a:prstGeom prst="roundRect">
            <a:avLst>
              <a:gd name="adj" fmla="val 1455"/>
            </a:avLst>
          </a:prstGeom>
          <a:solidFill>
            <a:srgbClr val="21295C"/>
          </a:solidFill>
          <a:ln/>
        </p:spPr>
      </p:sp>
      <p:sp>
        <p:nvSpPr>
          <p:cNvPr id="7" name="Text 5"/>
          <p:cNvSpPr/>
          <p:nvPr/>
        </p:nvSpPr>
        <p:spPr>
          <a:xfrm>
            <a:off x="6355080" y="12344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FOR UAC FOODS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355080" y="1737360"/>
            <a:ext cx="498348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78.4% recommend rate is a company-wide strength, not tied to one group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 do not explain who recommends; look to attitudinal variables instead (Section 13-14)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Association and Reliability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245352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UAC Foods Consumer Survey - SPSS Teaching Deck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777240" cy="502920"/>
          </a:xfrm>
          <a:prstGeom prst="roundRect">
            <a:avLst>
              <a:gd name="adj" fmla="val 14545"/>
            </a:avLst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463040" y="274320"/>
            <a:ext cx="10149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Reliability Analysis (Cronbach's Alpha)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whether Taste, Price, Packaging, Availability, and OverallSatisfaction can be combined into one reliable composite scale.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331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SPSS MENU PATH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651760"/>
            <a:ext cx="10881360" cy="502920"/>
          </a:xfrm>
          <a:prstGeom prst="roundRect">
            <a:avLst>
              <a:gd name="adj" fmla="val 10909"/>
            </a:avLst>
          </a:prstGeom>
          <a:solidFill>
            <a:srgbClr val="F2F2F2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651760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Analyze &gt; Scale &gt; Reliability Analysis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33375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/ COLUMNS INVOLVED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3657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Taste, Price, Packaging, Availability, OverallSatisfaction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44348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PROCEDURE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4754880"/>
            <a:ext cx="10881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all 5 items into the Items box, set Model to Alpha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Statistics, tick 'Scale if item deleted'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OK to view the Reliability Statistics table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using only the 4 attribute items (excluding OverallSatisfaction)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Association and Reliability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245352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UAC Foods Consumer Survey - SPSS Teaching Deck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149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Reliability Analysis (Cronbach's Alpha)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SPSS OUTPUT</a:t>
            </a:r>
            <a:endParaRPr lang="en-US" sz="13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0881360" cy="914400"/>
        </p:xfrm>
        <a:graphic>
          <a:graphicData uri="http://schemas.openxmlformats.org/drawingml/2006/table">
            <a:tbl>
              <a:tblPr/>
              <a:tblGrid>
                <a:gridCol w="3627120"/>
                <a:gridCol w="3627120"/>
                <a:gridCol w="362712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Cronbach's Alpha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5 items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0.363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attribute items only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-0.016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017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THIS OUTPUT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48640" y="33375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the significance (Sig.) column to the .05 threshold: values below .05 indicate a statistically significant result.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Association and Reliability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245352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UAC Foods Consumer Survey - SPSS Teaching Deck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149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Reliability Analysis (Cronbach's Alpha)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5349240" cy="5029200"/>
          </a:xfrm>
          <a:prstGeom prst="roundRect">
            <a:avLst>
              <a:gd name="adj" fmla="val 1455"/>
            </a:avLst>
          </a:prstGeom>
          <a:solidFill>
            <a:srgbClr val="F2F2F2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2344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1691640"/>
            <a:ext cx="484632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alphas fall far below the 0.70 acceptable threshold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4 item scale alpha is even negative, a warning sign in SPSS output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Item-total correlations are near zero, some negative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attributes behave as independent judgments, not one construct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080760" y="1051560"/>
            <a:ext cx="5532120" cy="5029200"/>
          </a:xfrm>
          <a:prstGeom prst="roundRect">
            <a:avLst>
              <a:gd name="adj" fmla="val 1455"/>
            </a:avLst>
          </a:prstGeom>
          <a:solidFill>
            <a:srgbClr val="21295C"/>
          </a:solidFill>
          <a:ln/>
        </p:spPr>
      </p:sp>
      <p:sp>
        <p:nvSpPr>
          <p:cNvPr id="7" name="Text 5"/>
          <p:cNvSpPr/>
          <p:nvPr/>
        </p:nvSpPr>
        <p:spPr>
          <a:xfrm>
            <a:off x="6355080" y="12344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FOR UAC FOODS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355080" y="1737360"/>
            <a:ext cx="498348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average these items into a single 'satisfaction score'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Taste, Price, Packaging, and Availability as four separate KPIs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Association and Reliability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245352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UAC Foods Consumer Survey - SPSS Teaching Deck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777240" cy="502920"/>
          </a:xfrm>
          <a:prstGeom prst="roundRect">
            <a:avLst>
              <a:gd name="adj" fmla="val 14545"/>
            </a:avLst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463040" y="274320"/>
            <a:ext cx="10149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Correlation Analysis (Pearson and Spearman)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the strength and direction of relationships between pairs of continuous and ordinal variables.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331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SPSS MENU PATH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651760"/>
            <a:ext cx="10881360" cy="502920"/>
          </a:xfrm>
          <a:prstGeom prst="roundRect">
            <a:avLst>
              <a:gd name="adj" fmla="val 10909"/>
            </a:avLst>
          </a:prstGeom>
          <a:solidFill>
            <a:srgbClr val="F2F2F2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651760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Analyze &gt; Correlate &gt; Bivariate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33375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/ COLUMNS INVOLVED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3657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Income, Purchase Frequency, Loyalty Years, Monthly Spend, and the 5 Likert items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44348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PROCEDURE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4754880"/>
            <a:ext cx="10881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all 10 variables into the Variables box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 Pearson and Spearman, select Two-tailed test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 'Flag significant correlations'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OK to produce the correlation matrix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Association and Reliability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245352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UAC Foods Consumer Survey - SPSS Teaching Deck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149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Correlation Analysis (Pearson and Spearman)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SPSS OUTPUT</a:t>
            </a:r>
            <a:endParaRPr lang="en-US" sz="13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0881360" cy="914400"/>
        </p:xfrm>
        <a:graphic>
          <a:graphicData uri="http://schemas.openxmlformats.org/drawingml/2006/table">
            <a:tbl>
              <a:tblPr/>
              <a:tblGrid>
                <a:gridCol w="2720340"/>
                <a:gridCol w="2720340"/>
                <a:gridCol w="2720340"/>
                <a:gridCol w="272034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Pearson 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Strength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Spend x Purchase Frequency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&lt;.001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strong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 x Income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-0.089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0.1693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Negligible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Taste x OverallSatisfaction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0.369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Negligible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5204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THIS OUTPUT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48640" y="3840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the significance (Sig.) column to the .05 threshold: values below .05 indicate a statistically significant result.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Association and Reliability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245352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UAC Foods Consumer Survey - SPSS Teaching Deck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149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Correlation Analysis (Pearson and Spearman)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5349240" cy="5029200"/>
          </a:xfrm>
          <a:prstGeom prst="roundRect">
            <a:avLst>
              <a:gd name="adj" fmla="val 1455"/>
            </a:avLst>
          </a:prstGeom>
          <a:solidFill>
            <a:srgbClr val="F2F2F2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2344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1691640"/>
            <a:ext cx="484632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and Purchase Frequency correlate almost perfectly (r = .94)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and Income are essentially unrelated in this sample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five Likert items barely correlate with each other, echoing Section 6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080760" y="1051560"/>
            <a:ext cx="5532120" cy="5029200"/>
          </a:xfrm>
          <a:prstGeom prst="roundRect">
            <a:avLst>
              <a:gd name="adj" fmla="val 1455"/>
            </a:avLst>
          </a:prstGeom>
          <a:solidFill>
            <a:srgbClr val="21295C"/>
          </a:solidFill>
          <a:ln/>
        </p:spPr>
      </p:sp>
      <p:sp>
        <p:nvSpPr>
          <p:cNvPr id="7" name="Text 5"/>
          <p:cNvSpPr/>
          <p:nvPr/>
        </p:nvSpPr>
        <p:spPr>
          <a:xfrm>
            <a:off x="6355080" y="12344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FOR UAC FOODS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355080" y="1737360"/>
            <a:ext cx="498348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frequency is the single strongest lever on revenue per customer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 perceptions are independent; manage and report them separately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Association and Reliability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245352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UAC Foods Consumer Survey - SPSS Teaching Deck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9000" dirty="0"/>
          </a:p>
        </p:txBody>
      </p:sp>
      <p:sp>
        <p:nvSpPr>
          <p:cNvPr id="3" name="Text 1"/>
          <p:cNvSpPr/>
          <p:nvPr/>
        </p:nvSpPr>
        <p:spPr>
          <a:xfrm>
            <a:off x="731520" y="338328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Group Comparison Tests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41605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averages differ between two or more groups?</a:t>
            </a:r>
            <a:endParaRPr lang="en-US" sz="16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777240" cy="502920"/>
          </a:xfrm>
          <a:prstGeom prst="roundRect">
            <a:avLst>
              <a:gd name="adj" fmla="val 14545"/>
            </a:avLst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463040" y="274320"/>
            <a:ext cx="10149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Independent Samples T-Test (Gender)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whether the average of a continuous or Likert variable differs between Male and Female respondents.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331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SPSS MENU PATH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651760"/>
            <a:ext cx="10881360" cy="502920"/>
          </a:xfrm>
          <a:prstGeom prst="roundRect">
            <a:avLst>
              <a:gd name="adj" fmla="val 10909"/>
            </a:avLst>
          </a:prstGeom>
          <a:solidFill>
            <a:srgbClr val="F2F2F2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651760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Analyze &gt; Compare Means &gt; Independent-Samples T Test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33375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/ COLUMNS INVOLVED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3657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Grouping: Gender. Test variables: Monthly Spend, Overall Satisfaction, Taste, Price, Packaging, Availability, Purchase Frequency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44348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PROCEDURE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4754880"/>
            <a:ext cx="10881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test variables into Test Variable(s), Gender into Grouping Variable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groups (Male / Female)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OK; check Levene's test first, then read the matching t row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Group Comparison Tests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245352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UAC Foods Consumer Survey - SPSS Teaching Deck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149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Independent Samples T-Test (Gender)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SPSS OUTPUT</a:t>
            </a:r>
            <a:endParaRPr lang="en-US" sz="13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0881360" cy="914400"/>
        </p:xfrm>
        <a:graphic>
          <a:graphicData uri="http://schemas.openxmlformats.org/drawingml/2006/table">
            <a:tbl>
              <a:tblPr/>
              <a:tblGrid>
                <a:gridCol w="2176272"/>
                <a:gridCol w="2176272"/>
                <a:gridCol w="2176272"/>
                <a:gridCol w="2176272"/>
                <a:gridCol w="2176272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Male Mean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Female Mean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Spend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1682.508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1623.615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0.519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0.6042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Overall Satisfaction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3.367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3.446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-0.952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0.3423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3.492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3.662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-1.505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0.1335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5204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THIS OUTPUT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48640" y="3840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the significance (Sig.) column to the .05 threshold: values below .05 indicate a statistically significant result.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Group Comparison Tests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245352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UAC Foods Consumer Survey - SPSS Teaching Deck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149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Independent Samples T-Test (Gender)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5349240" cy="5029200"/>
          </a:xfrm>
          <a:prstGeom prst="roundRect">
            <a:avLst>
              <a:gd name="adj" fmla="val 1455"/>
            </a:avLst>
          </a:prstGeom>
          <a:solidFill>
            <a:srgbClr val="F2F2F2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2344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1691640"/>
            <a:ext cx="484632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Levene's test is non-significant throughout; equal variances assumed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 tested variables differ significantly by gender (all p &gt; .05)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 sizes (Cohen's d) are all negligible to small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080760" y="1051560"/>
            <a:ext cx="5532120" cy="5029200"/>
          </a:xfrm>
          <a:prstGeom prst="roundRect">
            <a:avLst>
              <a:gd name="adj" fmla="val 1455"/>
            </a:avLst>
          </a:prstGeom>
          <a:solidFill>
            <a:srgbClr val="21295C"/>
          </a:solidFill>
          <a:ln/>
        </p:spPr>
      </p:sp>
      <p:sp>
        <p:nvSpPr>
          <p:cNvPr id="7" name="Text 5"/>
          <p:cNvSpPr/>
          <p:nvPr/>
        </p:nvSpPr>
        <p:spPr>
          <a:xfrm>
            <a:off x="6355080" y="12344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FOR UAC FOODS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355080" y="1737360"/>
            <a:ext cx="498348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need for gender-differentiated pricing or satisfaction strategy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 are better spent on factors shown to matter, like purchase frequency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Group Comparison Tests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245352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UAC Foods Consumer Survey - SPSS Teaching Deck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777240" cy="502920"/>
          </a:xfrm>
          <a:prstGeom prst="roundRect">
            <a:avLst>
              <a:gd name="adj" fmla="val 14545"/>
            </a:avLst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463040" y="274320"/>
            <a:ext cx="10149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Mann-Whitney U Test (Non-Parametric Alternative)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Re-test the gender comparisons on the Likert items using ranks, appropriate given their non-normal distributions.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331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SPSS MENU PATH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651760"/>
            <a:ext cx="10881360" cy="502920"/>
          </a:xfrm>
          <a:prstGeom prst="roundRect">
            <a:avLst>
              <a:gd name="adj" fmla="val 10909"/>
            </a:avLst>
          </a:prstGeom>
          <a:solidFill>
            <a:srgbClr val="F2F2F2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651760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Analyze &gt; Nonparametric Tests &gt; Legacy Dialogs &gt; 2 Independent Samples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33375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/ COLUMNS INVOLVED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3657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Grouping: Gender. Test variables: Taste, Price, Packaging, Availability, OverallSatisfaction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44348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PROCEDURE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4754880"/>
            <a:ext cx="10881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the 5 Likert items into Test Variable List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Gender into Grouping Variable and define groups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 Mann-Whitney U under Test Type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OK; read the Ranks and Test Statistics tables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Group Comparison Tests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245352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UAC Foods Consumer Survey - SPSS Teaching Deck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149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Mann-Whitney U Test (Non-Parametric Alternative)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SPSS OUTPUT</a:t>
            </a:r>
            <a:endParaRPr lang="en-US" sz="13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0881360" cy="914400"/>
        </p:xfrm>
        <a:graphic>
          <a:graphicData uri="http://schemas.openxmlformats.org/drawingml/2006/table">
            <a:tbl>
              <a:tblPr/>
              <a:tblGrid>
                <a:gridCol w="2720340"/>
                <a:gridCol w="2720340"/>
                <a:gridCol w="2720340"/>
                <a:gridCol w="272034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Male Mean Rank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Female Mean Rank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118.18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132.25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0.1034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125.89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125.14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0.9323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OverallSatisfaction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121.52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129.17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0.3547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5204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THIS OUTPUT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48640" y="3840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the significance (Sig.) column to the .05 threshold: values below .05 indicate a statistically significant result.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Group Comparison Tests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245352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UAC Foods Consumer Survey - SPSS Teaching Deck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149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Mann-Whitney U Test (Non-Parametric Alternative)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5349240" cy="5029200"/>
          </a:xfrm>
          <a:prstGeom prst="roundRect">
            <a:avLst>
              <a:gd name="adj" fmla="val 1455"/>
            </a:avLst>
          </a:prstGeom>
          <a:solidFill>
            <a:srgbClr val="F2F2F2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2344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1691640"/>
            <a:ext cx="484632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attribute rating differs significantly by gender (all p &gt; .05)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confirms the t-test conclusion using a method that does not assume normality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080760" y="1051560"/>
            <a:ext cx="5532120" cy="5029200"/>
          </a:xfrm>
          <a:prstGeom prst="roundRect">
            <a:avLst>
              <a:gd name="adj" fmla="val 1455"/>
            </a:avLst>
          </a:prstGeom>
          <a:solidFill>
            <a:srgbClr val="21295C"/>
          </a:solidFill>
          <a:ln/>
        </p:spPr>
      </p:sp>
      <p:sp>
        <p:nvSpPr>
          <p:cNvPr id="7" name="Text 5"/>
          <p:cNvSpPr/>
          <p:nvPr/>
        </p:nvSpPr>
        <p:spPr>
          <a:xfrm>
            <a:off x="6355080" y="12344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FOR UAC FOODS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355080" y="1737360"/>
            <a:ext cx="498348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'no gender difference' finding is robust across two different statistical methods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Group Comparison Tests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245352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UAC Foods Consumer Survey - SPSS Teaching Deck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777240" cy="502920"/>
          </a:xfrm>
          <a:prstGeom prst="roundRect">
            <a:avLst>
              <a:gd name="adj" fmla="val 14545"/>
            </a:avLst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463040" y="274320"/>
            <a:ext cx="10149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One-Way ANOVA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whether a continuous variable's mean differs across 3 or more groups: Region, Product, and Education.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331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SPSS MENU PATH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651760"/>
            <a:ext cx="10881360" cy="502920"/>
          </a:xfrm>
          <a:prstGeom prst="roundRect">
            <a:avLst>
              <a:gd name="adj" fmla="val 10909"/>
            </a:avLst>
          </a:prstGeom>
          <a:solidFill>
            <a:srgbClr val="F2F2F2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651760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Analyze &gt; Compare Means &gt; One-Way ANOVA (Post Hoc: Tukey)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33375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/ COLUMNS INVOLVED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3657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Factors: Region, Product, Education. Dependent variables: Monthly Spend, Overall Satisfaction, Monthly Income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44348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PROCEDURE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4754880"/>
            <a:ext cx="10881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the dependent variable into Dependent List, the factor into Factor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Options, tick Descriptive and Homogeneity of variance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Post Hoc, tick Tukey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OK; repeat for each dependent and factor pair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Group Comparison Tests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245352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UAC Foods Consumer Survey - SPSS Teaching Deck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149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One-Way ANOVA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SPSS OUTPUT</a:t>
            </a:r>
            <a:endParaRPr lang="en-US" sz="13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0881360" cy="914400"/>
        </p:xfrm>
        <a:graphic>
          <a:graphicData uri="http://schemas.openxmlformats.org/drawingml/2006/table">
            <a:tbl>
              <a:tblPr/>
              <a:tblGrid>
                <a:gridCol w="2176272"/>
                <a:gridCol w="2176272"/>
                <a:gridCol w="2176272"/>
                <a:gridCol w="2176272"/>
                <a:gridCol w="2176272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Comparison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Eta squared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Spend by Region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4,245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0.7913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Overall Satisfaction by Product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0.454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4,245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0.7696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Income by Education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154.434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3,241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&lt;.001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5204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THIS OUTPUT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48640" y="3840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the significance (Sig.) column to the .05 threshold: values below .05 indicate a statistically significant result.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Group Comparison Tests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245352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UAC Foods Consumer Survey - SPSS Teaching Deck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149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One-Way ANOVA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5349240" cy="5029200"/>
          </a:xfrm>
          <a:prstGeom prst="roundRect">
            <a:avLst>
              <a:gd name="adj" fmla="val 1455"/>
            </a:avLst>
          </a:prstGeom>
          <a:solidFill>
            <a:srgbClr val="F2F2F2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2344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1691640"/>
            <a:ext cx="484632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and Product show no significant effect on spend or satisfaction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has a large, highly significant effect on income (eta squared = .72)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Tukey post hoc confirms every education level differs significantly from every other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080760" y="1051560"/>
            <a:ext cx="5532120" cy="5029200"/>
          </a:xfrm>
          <a:prstGeom prst="roundRect">
            <a:avLst>
              <a:gd name="adj" fmla="val 1455"/>
            </a:avLst>
          </a:prstGeom>
          <a:solidFill>
            <a:srgbClr val="21295C"/>
          </a:solidFill>
          <a:ln/>
        </p:spPr>
      </p:sp>
      <p:sp>
        <p:nvSpPr>
          <p:cNvPr id="7" name="Text 5"/>
          <p:cNvSpPr/>
          <p:nvPr/>
        </p:nvSpPr>
        <p:spPr>
          <a:xfrm>
            <a:off x="6355080" y="12344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FOR UAC FOODS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355080" y="1737360"/>
            <a:ext cx="498348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uniform national strategy is defensible: region and product line do not create real differences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is the strongest demographic lever for income based, tiered product strategy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Group Comparison Tests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245352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UAC Foods Consumer Survey - SPSS Teaching Deck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777240" cy="502920"/>
          </a:xfrm>
          <a:prstGeom prst="roundRect">
            <a:avLst>
              <a:gd name="adj" fmla="val 14545"/>
            </a:avLst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463040" y="274320"/>
            <a:ext cx="10149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Kruskal-Wallis H Test (Non-Parametric ANOVA Alternative)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Re-test the Region and Product group comparisons using ranks, appropriate for non-normal data.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331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SPSS MENU PATH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651760"/>
            <a:ext cx="10881360" cy="502920"/>
          </a:xfrm>
          <a:prstGeom prst="roundRect">
            <a:avLst>
              <a:gd name="adj" fmla="val 10909"/>
            </a:avLst>
          </a:prstGeom>
          <a:solidFill>
            <a:srgbClr val="F2F2F2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651760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Analyze &gt; Nonparametric Tests &gt; Legacy Dialogs &gt; K Independent Samples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33375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/ COLUMNS INVOLVED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3657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Factors: Product, Region. Test variables: Overall Satisfaction, Monthly Spend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44348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PROCEDURE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4754880"/>
            <a:ext cx="10881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the test variable into Test Variable List, the factor into Grouping Variable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Define Range and set min and max group codes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 Kruskal-Wallis H under Test Type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OK; read the Ranks and Test Statistics tables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Group Comparison Tests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245352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UAC Foods Consumer Survey - SPSS Teaching Deck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149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Kruskal-Wallis H Test (Non-Parametric ANOVA Alternative)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SPSS OUTPUT</a:t>
            </a:r>
            <a:endParaRPr lang="en-US" sz="130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0881360" cy="914400"/>
        </p:xfrm>
        <a:graphic>
          <a:graphicData uri="http://schemas.openxmlformats.org/drawingml/2006/table">
            <a:tbl>
              <a:tblPr/>
              <a:tblGrid>
                <a:gridCol w="2720340"/>
                <a:gridCol w="2720340"/>
                <a:gridCol w="2720340"/>
                <a:gridCol w="272034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Comparison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Overall Satisfaction by Product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2.268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0.6867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Spend by Region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1.584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0.8117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017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THIS OUTPUT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48640" y="33375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the significance (Sig.) column to the .05 threshold: values below .05 indicate a statistically significant result.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Group Comparison Tests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245352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UAC Foods Consumer Survey - SPSS Teaching Deck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149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Kruskal-Wallis H Test (Non-Parametric ANOVA Alternative)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5349240" cy="5029200"/>
          </a:xfrm>
          <a:prstGeom prst="roundRect">
            <a:avLst>
              <a:gd name="adj" fmla="val 1455"/>
            </a:avLst>
          </a:prstGeom>
          <a:solidFill>
            <a:srgbClr val="F2F2F2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2344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1691640"/>
            <a:ext cx="484632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tests are non-significant, matching the parametric ANOVA results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ranks cluster tightly around the overall average for all groups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080760" y="1051560"/>
            <a:ext cx="5532120" cy="5029200"/>
          </a:xfrm>
          <a:prstGeom prst="roundRect">
            <a:avLst>
              <a:gd name="adj" fmla="val 1455"/>
            </a:avLst>
          </a:prstGeom>
          <a:solidFill>
            <a:srgbClr val="21295C"/>
          </a:solidFill>
          <a:ln/>
        </p:spPr>
      </p:sp>
      <p:sp>
        <p:nvSpPr>
          <p:cNvPr id="7" name="Text 5"/>
          <p:cNvSpPr/>
          <p:nvPr/>
        </p:nvSpPr>
        <p:spPr>
          <a:xfrm>
            <a:off x="6355080" y="12344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FOR UAC FOODS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355080" y="1737360"/>
            <a:ext cx="498348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finding of regional and product-line homogeneity holds regardless of test choice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Group Comparison Tests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245352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UAC Foods Consumer Survey - SPSS Teaching Deck</a:t>
            </a:r>
            <a:endParaRPr lang="en-US" sz="1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9000" dirty="0"/>
          </a:p>
        </p:txBody>
      </p:sp>
      <p:sp>
        <p:nvSpPr>
          <p:cNvPr id="3" name="Text 1"/>
          <p:cNvSpPr/>
          <p:nvPr/>
        </p:nvSpPr>
        <p:spPr>
          <a:xfrm>
            <a:off x="731520" y="338328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Predictive Models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41605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variables predict spend and recommendation behavior?</a:t>
            </a:r>
            <a:endParaRPr lang="en-US" sz="16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777240" cy="502920"/>
          </a:xfrm>
          <a:prstGeom prst="roundRect">
            <a:avLst>
              <a:gd name="adj" fmla="val 14545"/>
            </a:avLst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463040" y="274320"/>
            <a:ext cx="10149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Multiple Linear Regression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which variables significantly predict Monthly Spend and quantify how much variance they explain together.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331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SPSS MENU PATH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651760"/>
            <a:ext cx="10881360" cy="502920"/>
          </a:xfrm>
          <a:prstGeom prst="roundRect">
            <a:avLst>
              <a:gd name="adj" fmla="val 10909"/>
            </a:avLst>
          </a:prstGeom>
          <a:solidFill>
            <a:srgbClr val="F2F2F2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651760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Analyze &gt; Regression &gt; Linear (Method: Enter)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33375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/ COLUMNS INVOLVED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3657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Dependent: Monthly Spend. Predictors: Income, Age, Purchase Frequency, Loyalty Years, Taste, Price, Packaging, Availability, Overall Satisfaction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44348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PROCEDURE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4754880"/>
            <a:ext cx="10881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Monthly Spend into Dependent, the 9 predictors into Independent(s)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Statistics, tick Estimates, Model fit, Confidence intervals, Collinearity diagnostics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OK; review Model Summary, ANOVA, and Coefficients tables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Predictive Models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245352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UAC Foods Consumer Survey - SPSS Teaching Deck</a:t>
            </a:r>
            <a:endParaRPr lang="en-US" sz="1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149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Multiple Linear Regression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SPSS OUTPUT</a:t>
            </a:r>
            <a:endParaRPr lang="en-US" sz="130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0881360" cy="914400"/>
        </p:xfrm>
        <a:graphic>
          <a:graphicData uri="http://schemas.openxmlformats.org/drawingml/2006/table">
            <a:tbl>
              <a:tblPr/>
              <a:tblGrid>
                <a:gridCol w="5440680"/>
                <a:gridCol w="544068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Statistic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 squared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0.8954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Adjusted R squared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0.8913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 (model)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217.832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&lt;.001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Purchase Frequency: B (strongest predictor)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144.8994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Purchase Frequency: Sig.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&lt;.001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029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THIS OUTPUT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48640" y="534924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the significance (Sig.) column to the .05 threshold: values below .05 indicate a statistically significant result.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Predictive Models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245352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UAC Foods Consumer Survey - SPSS Teaching Deck</a:t>
            </a:r>
            <a:endParaRPr lang="en-US" sz="1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149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Multiple Linear Regression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5349240" cy="5029200"/>
          </a:xfrm>
          <a:prstGeom prst="roundRect">
            <a:avLst>
              <a:gd name="adj" fmla="val 1455"/>
            </a:avLst>
          </a:prstGeom>
          <a:solidFill>
            <a:srgbClr val="F2F2F2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2344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1691640"/>
            <a:ext cx="484632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squared = .90; the model explains about 90% of variance in spend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Frequency alone drives nearly all of this predictive power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other predictor (income, attributes, satisfaction) is significant once frequency is included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VIF values are low; multicollinearity is not a problem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080760" y="1051560"/>
            <a:ext cx="5532120" cy="5029200"/>
          </a:xfrm>
          <a:prstGeom prst="roundRect">
            <a:avLst>
              <a:gd name="adj" fmla="val 1455"/>
            </a:avLst>
          </a:prstGeom>
          <a:solidFill>
            <a:srgbClr val="21295C"/>
          </a:solidFill>
          <a:ln/>
        </p:spPr>
      </p:sp>
      <p:sp>
        <p:nvSpPr>
          <p:cNvPr id="7" name="Text 5"/>
          <p:cNvSpPr/>
          <p:nvPr/>
        </p:nvSpPr>
        <p:spPr>
          <a:xfrm>
            <a:off x="6355080" y="12344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FOR UAC FOODS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355080" y="1737360"/>
            <a:ext cx="498348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Frequency-boosting programs (loyalty points, subscriptions, multi-buy deals) are the highest leverage revenue action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 and satisfaction scores likely act indirectly, through frequency, rather than directly on spend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Predictive Models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245352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UAC Foods Consumer Survey - SPSS Teaching Deck</a:t>
            </a:r>
            <a:endParaRPr lang="en-US" sz="1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777240" cy="502920"/>
          </a:xfrm>
          <a:prstGeom prst="roundRect">
            <a:avLst>
              <a:gd name="adj" fmla="val 14545"/>
            </a:avLst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463040" y="274320"/>
            <a:ext cx="10149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Binary Logistic Regression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which variables predict whether a respondent would recommend the product (Yes / No).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331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SPSS MENU PATH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651760"/>
            <a:ext cx="10881360" cy="502920"/>
          </a:xfrm>
          <a:prstGeom prst="roundRect">
            <a:avLst>
              <a:gd name="adj" fmla="val 10909"/>
            </a:avLst>
          </a:prstGeom>
          <a:solidFill>
            <a:srgbClr val="F2F2F2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651760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Analyze &gt; Regression &gt; Binary Logistic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33375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/ COLUMNS INVOLVED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3657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Dependent: WouldRecommend. Predictors: Overall Satisfaction, Taste, Price, Packaging, Availability, Income, Monthly Spend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44348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PROCEDURE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4754880"/>
            <a:ext cx="10881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WouldRecommend into Dependent, the 7 predictors into Covariates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Options, tick Hosmer-Lemeshow test and CI for Exp(B)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OK; review Model Summary, Classification Table, Variables in the Equation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Predictive Models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245352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UAC Foods Consumer Survey - SPSS Teaching Deck</a:t>
            </a:r>
            <a:endParaRPr lang="en-US" sz="1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149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Binary Logistic Regression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SPSS OUTPUT</a:t>
            </a:r>
            <a:endParaRPr lang="en-US" sz="1300" dirty="0"/>
          </a:p>
        </p:txBody>
      </p:sp>
      <p:graphicFrame>
        <p:nvGraphicFramePr>
          <p:cNvPr id="4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0881360" cy="914400"/>
        </p:xfrm>
        <a:graphic>
          <a:graphicData uri="http://schemas.openxmlformats.org/drawingml/2006/table">
            <a:tbl>
              <a:tblPr/>
              <a:tblGrid>
                <a:gridCol w="5440680"/>
                <a:gridCol w="544068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Statistic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chi-square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5.194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0.636314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Nagelkerke R squared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0.0201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Overall classification accuracy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0233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THIS OUTPUT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48640" y="43434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the significance (Sig.) column to the .05 threshold: values below .05 indicate a statistically significant result.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Predictive Models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245352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UAC Foods Consumer Survey - SPSS Teaching Deck</a:t>
            </a:r>
            <a:endParaRPr lang="en-US" sz="1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149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Binary Logistic Regression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5349240" cy="5029200"/>
          </a:xfrm>
          <a:prstGeom prst="roundRect">
            <a:avLst>
              <a:gd name="adj" fmla="val 1455"/>
            </a:avLst>
          </a:prstGeom>
          <a:solidFill>
            <a:srgbClr val="F2F2F2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2344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1691640"/>
            <a:ext cx="484632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overall model is not statistically significant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Nagelkerke R squared is only about .02; almost no explanatory power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of 78.0% barely beats always predicting Yes (78.4% base rate)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 7 predictors reach significance individually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080760" y="1051560"/>
            <a:ext cx="5532120" cy="5029200"/>
          </a:xfrm>
          <a:prstGeom prst="roundRect">
            <a:avLst>
              <a:gd name="adj" fmla="val 1455"/>
            </a:avLst>
          </a:prstGeom>
          <a:solidFill>
            <a:srgbClr val="21295C"/>
          </a:solidFill>
          <a:ln/>
        </p:spPr>
      </p:sp>
      <p:sp>
        <p:nvSpPr>
          <p:cNvPr id="7" name="Text 5"/>
          <p:cNvSpPr/>
          <p:nvPr/>
        </p:nvSpPr>
        <p:spPr>
          <a:xfrm>
            <a:off x="6355080" y="12344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FOR UAC FOODS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355080" y="1737360"/>
            <a:ext cx="498348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Willingness to recommend cannot be predicted from current survey variables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 collecting new data: brand trust, service incidents, competitor comparisons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Predictive Models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245352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UAC Foods Consumer Survey - SPSS Teaching Deck</a:t>
            </a:r>
            <a:endParaRPr lang="en-US" sz="1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9000" dirty="0"/>
          </a:p>
        </p:txBody>
      </p:sp>
      <p:sp>
        <p:nvSpPr>
          <p:cNvPr id="3" name="Text 1"/>
          <p:cNvSpPr/>
          <p:nvPr/>
        </p:nvSpPr>
        <p:spPr>
          <a:xfrm>
            <a:off x="731520" y="338328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Reduction and Classification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41605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Simplifying variables and classifying respondents into groups</a:t>
            </a:r>
            <a:endParaRPr lang="en-US" sz="16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777240" cy="502920"/>
          </a:xfrm>
          <a:prstGeom prst="roundRect">
            <a:avLst>
              <a:gd name="adj" fmla="val 14545"/>
            </a:avLst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463040" y="274320"/>
            <a:ext cx="10149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Factor Analysis (Principal Component / EFA)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whether the 5 Likert items reduce to fewer underlying dimensions, and whether the data even support factor analysis.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331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SPSS MENU PATH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651760"/>
            <a:ext cx="10881360" cy="502920"/>
          </a:xfrm>
          <a:prstGeom prst="roundRect">
            <a:avLst>
              <a:gd name="adj" fmla="val 10909"/>
            </a:avLst>
          </a:prstGeom>
          <a:solidFill>
            <a:srgbClr val="F2F2F2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651760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Analyze &gt; Dimension Reduction &gt; Factor (Extraction: Principal Components, Rotation: Varimax)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33375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/ COLUMNS INVOLVED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3657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Taste, Price, Packaging, Availability, OverallSatisfaction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44348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PROCEDURE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4754880"/>
            <a:ext cx="10881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all 5 items into Variables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Descriptives, tick KMO and Bartlett's Test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Extraction, use Eigenvalues greater than 1; click Rotation, select Varimax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OK; review KMO, Total Variance Explained, Rotated Component Matrix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Data Reduction and Classification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245352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UAC Foods Consumer Survey - SPSS Teaching Deck</a:t>
            </a:r>
            <a:endParaRPr lang="en-US" sz="10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149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Factor Analysis (Principal Component / EFA)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SPSS OUTPUT</a:t>
            </a:r>
            <a:endParaRPr lang="en-US" sz="1300" dirty="0"/>
          </a:p>
        </p:txBody>
      </p:sp>
      <p:graphicFrame>
        <p:nvGraphicFramePr>
          <p:cNvPr id="5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0881360" cy="914400"/>
        </p:xfrm>
        <a:graphic>
          <a:graphicData uri="http://schemas.openxmlformats.org/drawingml/2006/table">
            <a:tbl>
              <a:tblPr/>
              <a:tblGrid>
                <a:gridCol w="5440680"/>
                <a:gridCol w="544068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Statistic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KMO measure of sampling adequacy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0.347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Bartlett's test chi-square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150.475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Bartlett's test Sig.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&lt;.001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Components with eigenvalue &gt; 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0233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THIS OUTPUT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48640" y="43434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the significance (Sig.) column to the .05 threshold: values below .05 indicate a statistically significant result.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Data Reduction and Classification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245352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UAC Foods Consumer Survey - SPSS Teaching Deck</a:t>
            </a:r>
            <a:endParaRPr lang="en-US" sz="10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149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Factor Analysis (Principal Component / EFA)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5349240" cy="5029200"/>
          </a:xfrm>
          <a:prstGeom prst="roundRect">
            <a:avLst>
              <a:gd name="adj" fmla="val 1455"/>
            </a:avLst>
          </a:prstGeom>
          <a:solidFill>
            <a:srgbClr val="F2F2F2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2344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1691640"/>
            <a:ext cx="484632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KMO = .35, well below the .60 minimum; sampling adequacy is unacceptable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of 5 possible components have eigenvalue above 1, a sign items do not share variance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item loads on its own separate component with little overlap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080760" y="1051560"/>
            <a:ext cx="5532120" cy="5029200"/>
          </a:xfrm>
          <a:prstGeom prst="roundRect">
            <a:avLst>
              <a:gd name="adj" fmla="val 1455"/>
            </a:avLst>
          </a:prstGeom>
          <a:solidFill>
            <a:srgbClr val="21295C"/>
          </a:solidFill>
          <a:ln/>
        </p:spPr>
      </p:sp>
      <p:sp>
        <p:nvSpPr>
          <p:cNvPr id="7" name="Text 5"/>
          <p:cNvSpPr/>
          <p:nvPr/>
        </p:nvSpPr>
        <p:spPr>
          <a:xfrm>
            <a:off x="6355080" y="12344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FOR UAC FOODS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355080" y="1737360"/>
            <a:ext cx="498348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Taste, Price, Packaging, and Availability are confirmed as distinct constructs, not one factor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future 'Satisfaction Index' would need multiple items per construct, not one item each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Data Reduction and Classification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245352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UAC Foods Consumer Survey - SPSS Teaching Deck</a:t>
            </a:r>
            <a:endParaRPr lang="en-US" sz="10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777240" cy="502920"/>
          </a:xfrm>
          <a:prstGeom prst="roundRect">
            <a:avLst>
              <a:gd name="adj" fmla="val 14545"/>
            </a:avLst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463040" y="274320"/>
            <a:ext cx="10149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Cluster Analysis (K-Means)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respondents into distinct behavioral groups for targeted marketing, based on purchasing patterns.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331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SPSS MENU PATH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651760"/>
            <a:ext cx="10881360" cy="502920"/>
          </a:xfrm>
          <a:prstGeom prst="roundRect">
            <a:avLst>
              <a:gd name="adj" fmla="val 10909"/>
            </a:avLst>
          </a:prstGeom>
          <a:solidFill>
            <a:srgbClr val="F2F2F2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651760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Analyze &gt; Classify &gt; K-Means Cluster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33375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/ COLUMNS INVOLVED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3657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Frequency, Loyalty Years, Monthly Spend, Overall Satisfaction (standardized to Z-scores)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44348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PROCEDURE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4754880"/>
            <a:ext cx="10881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the 4 variables to Z-scores first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the standardized variables into Variables in K-Means Cluster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Number of Clusters to 3 (based on the elbow method)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Save, tick Cluster Membership; click OK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Data Reduction and Classification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245352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UAC Foods Consumer Survey - SPSS Teaching Deck</a:t>
            </a:r>
            <a:endParaRPr lang="en-US" sz="10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149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Cluster Analysis (K-Means)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SPSS OUTPUT</a:t>
            </a:r>
            <a:endParaRPr lang="en-US" sz="1300" dirty="0"/>
          </a:p>
        </p:txBody>
      </p:sp>
      <p:graphicFrame>
        <p:nvGraphicFramePr>
          <p:cNvPr id="5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0881360" cy="914400"/>
        </p:xfrm>
        <a:graphic>
          <a:graphicData uri="http://schemas.openxmlformats.org/drawingml/2006/table">
            <a:tbl>
              <a:tblPr/>
              <a:tblGrid>
                <a:gridCol w="2176272"/>
                <a:gridCol w="2176272"/>
                <a:gridCol w="2176272"/>
                <a:gridCol w="2176272"/>
                <a:gridCol w="2176272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Purchase Freq.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Spend (NGN)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Satisfaction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Cluster 0: Occasional Low-Spenders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5.84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890.05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Cluster 1: Frequent High-Value Buyers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16.26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2471.19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Cluster 2: Satisfied Light Buyers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6.88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1074.25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5204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THIS OUTPUT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48640" y="3840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the significance (Sig.) column to the .05 threshold: values below .05 indicate a statistically significant result.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Data Reduction and Classification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245352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UAC Foods Consumer Survey - SPSS Teaching Deck</a:t>
            </a:r>
            <a:endParaRPr lang="en-US" sz="10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149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Cluster Analysis (K-Means)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5349240" cy="5029200"/>
          </a:xfrm>
          <a:prstGeom prst="roundRect">
            <a:avLst>
              <a:gd name="adj" fmla="val 1455"/>
            </a:avLst>
          </a:prstGeom>
          <a:solidFill>
            <a:srgbClr val="F2F2F2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2344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1691640"/>
            <a:ext cx="484632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clusters emerge, validated by a significant ANOVA on spend across clusters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1 buys most often and spends the most, despite only moderate satisfaction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2 is the happiest but buys the least often, a clear growth opportunity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0 spends least and is least satisfied, the highest churn risk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080760" y="1051560"/>
            <a:ext cx="5532120" cy="5029200"/>
          </a:xfrm>
          <a:prstGeom prst="roundRect">
            <a:avLst>
              <a:gd name="adj" fmla="val 1455"/>
            </a:avLst>
          </a:prstGeom>
          <a:solidFill>
            <a:srgbClr val="21295C"/>
          </a:solidFill>
          <a:ln/>
        </p:spPr>
      </p:sp>
      <p:sp>
        <p:nvSpPr>
          <p:cNvPr id="7" name="Text 5"/>
          <p:cNvSpPr/>
          <p:nvPr/>
        </p:nvSpPr>
        <p:spPr>
          <a:xfrm>
            <a:off x="6355080" y="12344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FOR UAC FOODS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355080" y="1737360"/>
            <a:ext cx="498348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Cluster 1 with loyalty rewards; it drives disproportionate revenue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Cluster 2 with frequency boosting promotions to grow their spend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Cluster 0 to find the root cause of low satisfaction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Data Reduction and Classification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245352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UAC Foods Consumer Survey - SPSS Teaching Deck</a:t>
            </a:r>
            <a:endParaRPr lang="en-US" sz="10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777240" cy="502920"/>
          </a:xfrm>
          <a:prstGeom prst="roundRect">
            <a:avLst>
              <a:gd name="adj" fmla="val 14545"/>
            </a:avLst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463040" y="274320"/>
            <a:ext cx="10149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Discriminant Analysis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 which variables best separate respondents who would recommend the product from those who would not.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331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SPSS MENU PATH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651760"/>
            <a:ext cx="10881360" cy="502920"/>
          </a:xfrm>
          <a:prstGeom prst="roundRect">
            <a:avLst>
              <a:gd name="adj" fmla="val 10909"/>
            </a:avLst>
          </a:prstGeom>
          <a:solidFill>
            <a:srgbClr val="F2F2F2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651760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Analyze &gt; Classify &gt; Discriminant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33375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/ COLUMNS INVOLVED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3657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Grouping: WouldRecommend. Predictors: Monthly Spend, Overall Satisfaction, Taste, Price, Packaging, Availability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44348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PROCEDURE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4754880"/>
            <a:ext cx="10881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WouldRecommend into Grouping Variable, define range 0 to 1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the 6 predictors into Independents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Statistics, tick Univariate ANOVAs and Fisher's function coefficients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Classify, tick Summary table; click OK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Data Reduction and Classification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245352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UAC Foods Consumer Survey - SPSS Teaching Deck</a:t>
            </a:r>
            <a:endParaRPr lang="en-US" sz="10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149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Discriminant Analysis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SPSS OUTPUT</a:t>
            </a:r>
            <a:endParaRPr lang="en-US" sz="1300" dirty="0"/>
          </a:p>
        </p:txBody>
      </p:sp>
      <p:graphicFrame>
        <p:nvGraphicFramePr>
          <p:cNvPr id="5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0881360" cy="914400"/>
        </p:xfrm>
        <a:graphic>
          <a:graphicData uri="http://schemas.openxmlformats.org/drawingml/2006/table">
            <a:tbl>
              <a:tblPr/>
              <a:tblGrid>
                <a:gridCol w="5440680"/>
                <a:gridCol w="544068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Statistic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Overall classification accuracy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78.4%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Largest predictor weight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Overall Satisfaction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Second largest predictor weight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5204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THIS OUTPUT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48640" y="3840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the significance (Sig.) column to the .05 threshold: values below .05 indicate a statistically significant result.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Data Reduction and Classification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245352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UAC Foods Consumer Survey - SPSS Teaching Deck</a:t>
            </a:r>
            <a:endParaRPr lang="en-US" sz="10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149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Discriminant Analysis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5349240" cy="5029200"/>
          </a:xfrm>
          <a:prstGeom prst="roundRect">
            <a:avLst>
              <a:gd name="adj" fmla="val 1455"/>
            </a:avLst>
          </a:prstGeom>
          <a:solidFill>
            <a:srgbClr val="F2F2F2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2344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1691640"/>
            <a:ext cx="484632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means barely differ between recommenders and non-recommenders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classifies almost entirely by guessing the majority 'Yes' class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'No' cases are correctly classified, confirming very weak separation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080760" y="1051560"/>
            <a:ext cx="5532120" cy="5029200"/>
          </a:xfrm>
          <a:prstGeom prst="roundRect">
            <a:avLst>
              <a:gd name="adj" fmla="val 1455"/>
            </a:avLst>
          </a:prstGeom>
          <a:solidFill>
            <a:srgbClr val="21295C"/>
          </a:solidFill>
          <a:ln/>
        </p:spPr>
      </p:sp>
      <p:sp>
        <p:nvSpPr>
          <p:cNvPr id="7" name="Text 5"/>
          <p:cNvSpPr/>
          <p:nvPr/>
        </p:nvSpPr>
        <p:spPr>
          <a:xfrm>
            <a:off x="6355080" y="12344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FOR UAC FOODS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355080" y="1737360"/>
            <a:ext cx="498348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independent methods (logistic regression and discriminant analysis) agree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data on service incidents or brand trust is needed to identify at-risk customers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Data Reduction and Classification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245352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UAC Foods Consumer Survey - SPSS Teaching Deck</a:t>
            </a:r>
            <a:endParaRPr lang="en-US" sz="10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Summary: Every Analysis in One Table</a:t>
            </a:r>
            <a:endParaRPr lang="en-US" sz="2600" dirty="0"/>
          </a:p>
        </p:txBody>
      </p:sp>
      <p:graphicFrame>
        <p:nvGraphicFramePr>
          <p:cNvPr id="5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51560"/>
          <a:ext cx="1088136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3657600"/>
                <a:gridCol w="6309360"/>
              </a:tblGrid>
              <a:tr h="7498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Analysis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Finding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1-4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prep, frequencies, descriptives, normality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Clean data; 78.4% recommend; all variables non-normal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5-7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Chi-square, reliability, correlation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demographic links to recommending; attributes are independent; spend follows frequency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8-11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T-test, Mann-Whitney, ANOVA, Kruskal-Wallis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gender/region/product effects; education strongly predicts income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12-13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and logistic regression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Frequency drives spend (R2=.90); recommending is unpredictable from current data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14-16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Factor, cluster, discriminant analysis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shared factor; 3 clear customer segments; cannot classify recommenders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Consolidated Summary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6245352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UAC Foods Consumer Survey - SPSS Teaching Deck</a:t>
            </a:r>
            <a:endParaRPr lang="en-US" sz="10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Recommended Next Steps for UAC Foods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280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34440" y="1234440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a frequency-boosting loyalty program (points, subscriptions, multi-buy deals) targeted first at Satisfied Light Buyers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240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34440" y="2194560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and reward the Frequent High-Value Buyer segment with priority offers and premium loyalty tiers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320040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34440" y="3154680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new research on brand trust and service incidents to finally explain what drives recommendation behavior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48640" y="416052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4160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34440" y="4114800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Taste, Price, Packaging, and Availability as four separate KPIs, never as one blended score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548640" y="512064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5120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34440" y="5074920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Education, not Age, Gender, or Region, as the primary variable for income-tiered product strategy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245352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UAC Foods Consumer Survey - SPSS Teaching Deck</a:t>
            </a:r>
            <a:endParaRPr lang="en-US" sz="10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and Discussion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356616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9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test in this deck was run on the actual UAC Foods dataset, not illustrative numbers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59</Slides>
  <Notes>59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59</vt:i4>
      </vt:variant>
    </vt:vector>
  </HeadingPairs>
  <TitlesOfParts>
    <vt:vector size="6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2026-07-18T10:02:53Z</dcterms:created>
  <dcterms:modified xsi:type="dcterms:W3CDTF">2026-07-18T10:02:53Z</dcterms:modified>
</cp:coreProperties>
</file>
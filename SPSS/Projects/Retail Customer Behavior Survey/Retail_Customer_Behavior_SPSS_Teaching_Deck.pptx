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DECK  -  STATISTICS WITH SPSS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SPSS Statistical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worked example using the Retail Customer Behavior dataset (N = 250)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SPSS procedures  |  Descriptive, inferential, predictive and multivariate methods  |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SPSS Analyze menu, applied end to end on one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572000"/>
          </a:xfrm>
          <a:prstGeom prst="roundRect">
            <a:avLst>
              <a:gd name="adj" fmla="val 177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Descriptive &amp; Reliability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(Normality)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(Cronbach's Alpha)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611880" cy="4572000"/>
          </a:xfrm>
          <a:prstGeom prst="roundRect">
            <a:avLst>
              <a:gd name="adj" fmla="val 1772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83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2 - Comparative &amp; Association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17720" y="242316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Crosstabs &amp; Chi-Square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&amp; Spearman Correlation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&amp; Paired T-Tests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+ Post Hoc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Mann-Whitney, Kruskal-Wallis, Wilcoxon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Goodness-of-Fit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611880" cy="4572000"/>
          </a:xfrm>
          <a:prstGeom prst="roundRect">
            <a:avLst>
              <a:gd name="adj" fmla="val 177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7830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3 - Predictive &amp; Multivariate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58200" y="2423160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Logistic Regression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 (PCA)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Hierarchical Clustering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 Analysis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MANOVA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Dataset: Retail Customer Behavior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Open Data  |  retail_customer_behavior.csv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customers across 5 store locations were surveyed on demographics, shopping habits, five service-quality items, spend, and loyalty.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MaritalStatus, EmploymentStatus, MonthlyIncome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9077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17520" y="2907792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StoreLocation, PreferredShoppingChannel, VisitsPerMonth, YearsAsCustomer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2958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(1-5 Likert)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17520" y="352958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Product Availability, Q2 Staff Helpfulness, Q3 Cleanliness, Q4 Checkout Speed, Q5 Value for Money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15137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0" y="4151376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MembershipTier: Regular, Silver, Gold, Platinum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7731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17520" y="477316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MonthlySpend, OverallSatisfaction (0-10), LikelihoodToRecommend (0-10), ReturnsPast6Months, WouldShopAgain (Yes/No)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417320"/>
            <a:ext cx="4023360" cy="480060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863840" y="25420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surveyed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3063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863840" y="35935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recorded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863840" y="46451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 (cities)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63840" y="5166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44.4%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863840" y="56967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NOT shop again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&amp; Reliability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875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Frequencies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- Tests of Normality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Analysis (Cronbach's Alpha)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Frequencies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sample - count and percentage every category of each nominal variable.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8595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Gender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Female 54.0% / Male 46.0%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Marital 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Married 52.0% / Single 40.8% / Divorced 5.2% / Widowed 2.0%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Employment 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Employed 48.8% / Self-employed 25.2% / Student 12.4% / Unemployed 8.0% / Retired 5.6%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Store Location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Lagos 34.8% / Abuja 23.2% / Ibadan 17.2% / Port Harcourt 15.2% / Kano 9.6%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Shopping Channel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In-Store 38.8% / Mobile App 30.0% / Website 17.2% / Social Media 14.0%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Membership Tier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Regular 43.2% / Silver 27.2% / Gold 21.6% / Platinum 8.0%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Would Shop Again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Yes 55.6% / No 44.4%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349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Key Insight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56509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45% of customers would NOT shop again - the single most urgent signal in the dataset.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Digital/social channels (61.2%) already outweigh in-store (38.8%), and the loyalty pyramid narrows sharply toward Platinum (8.0%).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Descriptives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central tendency, spread, and shape for every scale variable.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371600"/>
                <a:gridCol w="2011680"/>
                <a:gridCol w="2011680"/>
                <a:gridCol w="1920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Skew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42.80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13.98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-0.15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Monthly Income (Naira)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186,894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87,339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Years as Customer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4.76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3.57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0.64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Visits per Month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2.45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1.86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0.98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Monthly Spend (Naira)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29,643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17,655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1.14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Overall Satisfaction (0-10)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5.50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2.12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Likelihood to Recommend (0-10)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5.00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2.25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Returns (6 months)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1.57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1.44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3492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Key Insight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56509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(5.50/10) and recommendation (5.00/10) sit right at the scale midpoint - a base that is ambivalent, not delighted.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right-skewed (1.14): most customers spend modestly while a minority of big spenders pull the mean up - use the median for planning, not the mean.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- Tests of Normality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Explore &gt; Plots &gt; Normality plots with tests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key scale variables are normally distributed, to decide between parametric and non-parametric tests later.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MonthlySpend, OverallSatisfaction, MonthlyIncome, Age, YearsAsCustomer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Shapiro-Wilk: all 5 variables significant at p &lt; .001 (normality rejected). Kolmogorov-Smirnov agrees for Spend, Satisfaction and Tenure (p &lt; .05); Income and Age are borderline (p = .114 and .080).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five variables can be safely assumed normal. With N &gt; 200, parametric tests remain reasonably robust (Central Limit Theorem), so this report runs BOTH parametric and non-parametric versions of every comparison as a cross-check.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7424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Spend and Satisfaction are confirmed non-normal, Mann-Whitney, Kruskal-Wallis and Spearman results (Sections 12, 13, 8) are reported alongside their parametric twins for robustness.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Analysis - Cronbach's Alpha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Scale &gt; Reliability Analysis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five satisfaction items (Q1-Q5) reliably measure one construct before combining them.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8580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Item-Total 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Alpha if Deleted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Q1 Product Availability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0.801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0.887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Q2 Staff Helpfulness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0.799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0.887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Q3 Store Cleanliness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0.766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0.894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Q4 Checkout Speed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0.712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0.905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Q5 Value for Money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0.803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0.886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41732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1691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0.912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863840" y="2468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Cronbach's Alpha (N = 239) - "Excellent" internal consistency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6177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Key Insight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correlates strongly with the rest of the scale, and deleting any item would only lower alpha - all five items belong together.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justifies building a single Service Quality Index from Q1-Q5 for use in later regression and segmentation work. Q4 Checkout Speed is the (still strong) weakest link.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&amp; Association Tests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875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Crosstabs &amp; Chi-Square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&amp; Spearman Correlation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&amp; Paired T-Tests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+ Post Hoc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Mann-Whitney, Kruskal-Wallis, Wilcoxon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Goodness-of-Fit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Crosstabs &amp; Chi-Square Test of Independence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Descriptive Statistics &gt; Crosstabs &gt; Statistics &gt; Chi-square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pairs of categorical variables are statistically associated.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828800"/>
                <a:gridCol w="1097280"/>
                <a:gridCol w="1463040"/>
                <a:gridCol w="2194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Crosstab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Chi-Square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df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Sig.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Cramer's 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Gender x Would Shop Again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0.427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.513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0.041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Membership Tier x Would Shop Again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2.922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.404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0.108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Employment Status x Would Shop Again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1.182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.881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0.069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Marital Status x Would Shop Again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2.371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.499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0.097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Store Location x Shopping Channel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8.755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.724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0.108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434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Key Insight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4645152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five tests is significant (all p &gt; .05) and all effect sizes are small (Cramer's V &lt; 0.11).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Repurchase intention cannot be explained by simple demographics or tier alone - this rules out a purely demographic churn strategy. Note: the Regular-to-Platinum "Yes" rate still climbs from 50.9% to 70.0% descriptively, a gap worth re-testing with more data.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Correlation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Correlate &gt; Bivariate &gt; Pearson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linear association between key continuous variables (N = 214).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Pair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Sig.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Overall Satisfaction &lt;&gt; Likelihood to Recommend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0.813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Monthly Income &lt;&gt; Monthly Spend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0.786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Age &lt;&gt; Years as Customer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0.779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Satisfaction &lt;&gt; Returns (6 mo.)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-0.286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Visits per Month &lt;&gt; Monthly Spend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0.258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Recommend &lt;&gt; Returns (6 mo.)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-0.200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.003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Monthly Spend &lt;&gt; Satisfaction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0.177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.010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Age &lt;&gt; Monthly Income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-0.035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.610 (ns)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5321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Key Insight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583387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a real early-warning signal of dissatisfaction (r = -0.286).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barely relates to satisfaction (r = -0.04, ns) - service quality, not price, is the lever for happiness across all income bands.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 Correlation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Correlate &gt; Bivariate &gt; Spearman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monotonic association among the ordinal Q1-Q5 items and the two attitudinal outcomes (N = 226).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OverallSat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Q2 Staff Helpfulness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0.723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Q3 Store Cleanliness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Q4 Checkout Speed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Q5 Value for Money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0.715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0.700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0.706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Overall Satisfaction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0.705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0.705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0.736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Likelihood to Recommend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0.525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0.607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0.793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160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coefficients shown are significant at p &lt; .001.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Key Insight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4828032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Value for Money has the strongest link to Overall Satisfaction (rho = 0.736) - the single highest-leverage service dimension.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Checkout Speed is consistently the weakest link. Results closely match the Pearson analysis, confirming findings are not an artifact of scale assumptions.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Independent-Samples T-Test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Compare Means &gt; Independent-Samples T Test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Male and Female customers differ in mean spend, satisfaction, recommendation and visit frequency.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Gender. Test variables: MonthlySpend, OverallSatisfaction, LikelihoodToRecommend, VisitsPerMonth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Levene's test non-significant for all 4 outcomes (equal variances assumed). None of the 4 t-tests is significant: Spend t(231)=1.61, p=.109; Satisfaction t(234)=-0.40, p=.691; Recommend t(248)=-0.14, p=.890; Visits t(248)=1.64, p=.102.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has no detectable effect on spend, satisfaction, recommendation, or visit frequency in this sample. The largest (still non-significant) gap is spend, where men average about 3,723 Naira more per month than women.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7424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marketing segmentation is not statistically supported by this data - budget spent on gender-differentiated campaigns could be reallocated to segments proven to matter (e.g., satisfaction tier).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Paired-Samples T-Test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Compare Means &gt; Paired-Samples T Test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customers rate OverallSatisfaction differently from LikelihoodToRecommend, since both use the same 0-10 scale on the same respondents.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Pair: OverallSatisfaction (M=5.50) vs LikelihoodToRecommend (M=5.01)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the pair: r = 0.815 (p &lt; .001). Mean difference = 0.492, SD diff = 1.342, t(235) = 5.628, p &lt; .001.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variables move together strongly, yet customers still rate their own satisfaction about half a point higher, on average, than their willingness to recommend - a small but statistically reliable gap.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7424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"satisfaction-to-advocacy gap" exists: satisfied customers do not automatically translate that into an equally strong willingness to recommend. Referral/NPS KPIs should not be assumed interchangeable with satisfaction KPIs.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 - Spend by Membership Tier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Compare Means &gt; One-Way ANOVA &gt; Post Hoc &gt; Tukey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mean MonthlySpend differs across the four Membership Tiers.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20116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 Spend (Naira)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Regular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22,044.79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10,693.63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Silver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65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29,816.92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13,735.76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Gold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53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38,398.11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21,220.16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Platinum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43,021.05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26,825.12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949440" y="1828800"/>
            <a:ext cx="470916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78040" y="20116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F(3, 229) = 16.74, p &lt; .001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78040" y="2514600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Eta-squared = 0.180 (large effect) - tier explains 18% of spend variance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(Bonferroni-adjusted): Regular differs significantly from every higher tier; Silver differs from Gold and Platinum; Gold vs Platinum is NOT significant (p = 1.00).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892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Key Insight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193792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rises monotonically from Regular to Platinum, but Gold and Platinum are statistically indistinguishable on spend alone.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tier is a powerful, confirmed lever on revenue - but Platinum's value proposition should target advocacy/retention, not just further discounting, since it adds little extra spend discrimination beyond Gold.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 - Satisfaction by Store Location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Compare Means &gt; One-Way ANOVA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mean OverallSatisfaction differs across the five store locations.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OverallSatisfaction. Factor: StoreLocation (Kano, Abuja, Ibadan, Lagos, Port Harcourt)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range from Kano (6.48, highest) to Port Harcourt (5.22, lowest), a 1.26-point spread. F(4, 231) = 1.541, p = .191 (not significant). Eta-squared = 0.026 (small effect). No post-hoc pair reaches significance.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membership tier, store location does NOT significantly drive satisfaction. The numeric spread looks interesting but is not large or consistent enough, relative to within-group variability, to be a real effect.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7424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Service-quality problems (if any) are company-wide, not site-specific - improvement initiatives should be designed once and rolled out identically across all five cities rather than customized by location.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Nonparametric Tests &gt; Legacy Dialogs &gt; 2 Independent Samples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the Gender effect on VisitsPerMonth with a rank-based, distribution-free method (Visits is right-skewed, skew = 0.98).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VisitsPerMonth. Grouping: Gender (Male n=115, Female n=135)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visits: Male = 2.0, Female = 2.0 (identical). Mann-Whitney U = 8,699.5, p = .094 (not significant).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and reinforces the parametric t-test result (Section 8, p = .102) - men and women do not differ in visit frequency, whether tested by means or by ranks.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7424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the parametric and non-parametric test strengthens confidence that gender genuinely has no effect on shopping frequency, independent of distributional assumptions.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Kruskal-Wallis H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Nonparametric Tests &gt; Legacy Dialogs &gt; K Independent Samples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MonthlySpend differs across the five Employment Status categories (rank-based alternative to ANOVA, since Spend is non-normal).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MonthlySpend. Grouping: EmploymentStatus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spend (Naira): Employed 31,500; Self-employed 29,900; Retired 17,600; Student 12,150; Unemployed 11,800. H(4) = 86.55, p &lt; .001.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strongest effects in the whole dataset. Employed and Self-employed customers spend roughly 2.5 to 2.7 times more per month than Students or the Unemployed.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7424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 is a powerful, easily-collected proxy for spend potential and should be built into customer value scoring. Students/unemployed are lower-spend today but may be high future lifetime value - nurture with starter offers rather than judging on current spend alone.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Wilcoxon Signed-Rank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Nonparametric Tests &gt; Legacy Dialogs &gt; 2 Related Samples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counterpart to a paired t-test - test whether Q1 Product Availability is rated differently from Q4 Checkout Speed.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Pair: Q1_ProductAvailability (M=3.02) vs Q4_CheckoutSpeed (M=2.97), N=250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statistic W = 4,737.0, p = .457 (not significant).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difference between how customers rate product availability versus checkout speed - the two dimensions are perceived at essentially the same level.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7424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dimensions should be treated as roughly equal priorities in service-improvement planning; neither is a stand-out weak point relative to the other.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Goodness-of-Fit Test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Nonparametric Tests &gt; Legacy Dialogs &gt; Chi-square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customers are evenly distributed across the four Membership Tiers, versus an equal 25/25/25/25 split.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MembershipTier: Regular (108), Silver (68), Gold (54), Platinum (20); Expected = 62.5 each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Chi-square(3) = 63.664, p &lt; .001. Regular (+45.5 residual) is far above expected; Platinum (-42.5 residual) is far below.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tiers are significantly unevenly distributed - the loyalty programme forms a genuine pyramid, not a flat/arbitrary tier system.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7424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8% of customers reaching Platinum, a targeted "path-to-Platinum" campaign for high-potential Gold members could meaningfully grow the most valuable tier.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&amp; Multivariate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875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Logistic Regression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 (PCA)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Hierarchical Clustering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 Analysis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MANOVA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Regression &gt; Linear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customer characteristics jointly and independently predict MonthlySpend, and quantify how much variance they explain together.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MonthlySpend. Independents (Method: Enter): Age, MonthlyIncome, VisitsPerMonth, YearsAsCustomer, OverallSatisfaction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Regression &gt; Linear.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= MonthlySpend; Independents = the five predictors, Method = Enter.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tick Estimates, Model fit, Collinearity diagnostics, Durbin-Watson.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Plots: *ZRESID vs *ZPRED for residual diagnostics.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1417320"/>
            <a:ext cx="4023360" cy="480060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 AT A GLANCE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2057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= .723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863840" y="2532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 of spend variance explained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108.81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863840" y="3584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(5, 208), p &lt; .001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0" y="4160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 = 2.01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863840" y="46360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autocorrelation concern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 - Output &amp;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variable: MonthlySpend  |  N = 214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4241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737360"/>
                <a:gridCol w="1737360"/>
                <a:gridCol w="1463040"/>
                <a:gridCol w="146304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Predictor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Std. Beta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(Constant)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-17,515.02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-5.418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Age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34.91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.027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0.462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.645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2.645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Monthly Income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0.165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.794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21.738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1.004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Visits per Month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2,230.75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.243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6.618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1.014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Years as Customer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95.48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.019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0.328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.743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2.636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Overall Satisfaction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1,633.81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.195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5.261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1.036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2062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= Variance Inflation Factor (all well below the 5.0 concern threshold - no multicollinearity problem).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45262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48463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is by far the strongest predictor (Beta = .794): each extra Naira of income predicts 0.165 Naira more spend. Visits per Month (Beta = .243) and Overall Satisfaction (Beta = .195) are also significant, independent predictors. Age and tenure add nothing once income and visits are controlled for.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8064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126480"/>
            <a:ext cx="110642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levers the retailer directly controls - visit frequency and satisfaction - independently drive spend, on top of income.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1-point rise in satisfaction (0-10 scale) is worth about 1,634 Naira more monthly spend per customer, holding income and visits constant - a quantifiable ROI case for service-quality investment.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programmes built around tenure alone are not targeting what actually drives spend.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Logistic Regression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Regression &gt; Binary Logistic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probability that a customer would shop again (Yes/No) as a function of satisfaction, recommendation, spend and returns.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WouldShopAgain (Yes=1/No=0). Covariates: OverallSatisfaction, LikelihoodToRecommend, MonthlySpend, ReturnsPast6Months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Regression &gt; Binary Logistic.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= WouldShopAgain; Covariates = the four predictors, Method = Enter.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tick Classification plots, Hosmer-Lemeshow test, CI for Exp(B).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1417320"/>
            <a:ext cx="4023360" cy="480060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 AT A GLANCE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2057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863840" y="2532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classification accuracy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Nagelkerke R2 = .653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863840" y="3584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pseudo-variance explained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0" y="4160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chi2 = 152.0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863840" y="46360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4, p &lt; .001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Logistic Regression - Output &amp;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WouldShopAgain  |  N = 221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645920"/>
                <a:gridCol w="1463040"/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Predictor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Exp(B) [Odds Ratio]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Overall Satisfaction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1.031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32.49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2.803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Likelihood to Recommend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-0.163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1.45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.229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0.850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Monthly Spend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0.001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3.45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.063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1.000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Returns (6 months)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-0.021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.865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0.979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Constant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-4.928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35.43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&lt; .001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0.007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0448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4224528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Overall Satisfaction is an independently significant predictor. Its odds ratio of 2.803 means each one-point rise in satisfaction (0-10 scale) nearly triples the odds a customer will shop again, holding the other variables constant. Spend and returns add no independent predictive power once satisfaction is in the model.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518464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5504688"/>
            <a:ext cx="110642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is, by a wide margin, the single most important churn lever - it can be operationalized directly as a retention target.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level and prior returns do NOT independently predict repurchase once satisfaction is known - retention efforts should be satisfaction-tiered, not spend-tiered.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~79% accuracy, this model is good enough to run as an early-warning "at risk" score: flag any customer with satisfaction &lt;= 4 for proactive outreach.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Analysis (Principal Components)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Dimension Reduction &gt; Factor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five satisfaction items reduce statistically to one underlying "Service Quality" dimension.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Q1_ProductAvailability, Q2_StaffHelpfulness, Q3_StoreCleanliness, Q4_CheckoutSpeed, Q5_ValueForMoney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Dimension Reduction &gt; Factor.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Q1-Q5 into Variables.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Descriptives: tick KMO and Bartlett's Test of Sphericity.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Extraction: Method = Principal Components, Extract Eigenvalues over 1.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1417320"/>
            <a:ext cx="4023360" cy="480060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 AT A GLANCE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2057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= .896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863840" y="2532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"Excellent" sampling adequacy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factor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863840" y="3584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73.9% of variance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63840" y="4160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Bartlett p &lt; .001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863840" y="46360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Factorable correlation matrix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Analysis (Principal Components) - Output &amp;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component retained (Kaiser criterion, eigenvalue = 3.712)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Loading on Factor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Communality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Q5 Value for Money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0.881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0.775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Q1 Product Availability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0.879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0.773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Q2 Staff Helpfulness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0.879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0.772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Q3 Store Cleanliness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0.854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0.730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Q4 Checkout Speed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0.813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0.662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0448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4224528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component is extracted (eigenvalue 3.712, 73.9% of variance) - all four other components have eigenvalues below 1 and are discarded as noise. Every item loads strongly (0.81 to 0.88) onto this single factor, confirming the Reliability Analysis finding of one shared construct.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518464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5504688"/>
            <a:ext cx="110642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"Service Quality Score" (average or weighted sum of Q1-Q5) can replace all five items in any dashboard or model with negligible information loss.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Checkout Speed has the lowest loading and communality - the item most likely to break off as its own factor if the survey is expanded with more operational-efficiency questions.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Classify &gt; K-Means Cluster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into distinct, actionable behavioral groups rather than relying on demographic labels.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MonthlySpend, VisitsPerMonth, OverallSatisfaction, LikelihoodToRecommend, YearsAsCustomer (Z-scored)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the five clustering variables (Descriptives &gt; Save standardized values).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Classify &gt; K-Means Cluster.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5 Z-scored variables into Variables; set Number of Clusters = 3.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 Cluster Membership. Options: ANOVA table, Cluster information.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1417320"/>
            <a:ext cx="4023360" cy="480060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 AT A GLANCE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2057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863840" y="2532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chosen (compared k=2 to 5)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214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863840" y="3584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complete data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 Analysis - Output &amp;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Cluster Profiles (k = 3, mean values)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45920"/>
                <a:gridCol w="1828800"/>
                <a:gridCol w="146304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 (%)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 (Naira)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Visits/Mo.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Satisfaction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Recommend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1 - At-Risk Low Engagers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91 (42.5%)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23,074.73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1.74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4.01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3.25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2 - High-Value Frequent Shoppers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46 (21.5%)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42,963.04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5.37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5.65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5.24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3 - Happy Advocates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77 (36.0%)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29,764.94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1.82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7.31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7.05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3639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4564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Low Engagers (42.5%) show the lowest spend, satisfaction and recommendation - the segment most likely to churn. High-Value Frequent Shoppers (21.5%) visit and spend the most but are only moderately satisfied. Happy Advocates (36.0%) have the highest satisfaction and recommend scores despite modest spend and low visit frequency.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41655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4736592"/>
            <a:ext cx="110642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42.5% At-Risk segment is the single biggest priority - it is both the largest cluster and the least satisfied, matching the 44.4% "would not shop again" figure.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Frequent Shoppers are valuable today but a retention risk - their loyalty looks behavioral (frequent visits), not attitudinal (only moderate satisfaction).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Advocates are the ideal segment for referral/word-of-mouth campaigns and have untapped upsell potential given their modest current spend.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Cluster Analysis (Ward's Method) - Output &amp;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Classify &gt; Hierarchical Cluster  |  validates the K-Means solution with a different algorithm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2286000"/>
                <a:gridCol w="1828800"/>
                <a:gridCol w="182880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 (Naira)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Satisfaction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Recommend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Tenure (yrs)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64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40,385.94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5.73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5.27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7.95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67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21,879.10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3.64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2.91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3.93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83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27,920.48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6.95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6.60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3.19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13639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45643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Ward's-method solution reproduces the same story as K-Means using a completely different algorithm: an unhappy low-spend group (B), a satisfied high-recommend group (C), and a longer-tenured higher-spend group (A). Cross-tabulating the two solutions shows 62 of 91 K-Means "At-Risk" customers land in Hierarchical B, and 62 of 77 "Happy Advocates" land in Hierarchical C - about 70-80% agreement.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41655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4736592"/>
            <a:ext cx="1106424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clustering algorithms converge on the same "unhappy/low-value" and "happy/high-recommend" archetypes - strong evidence these are real customer segments, not a one-method artifact.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plays a bigger role in the hierarchical solution, suggesting a follow-up 4-cluster model splitting on tenure may add further insight.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Discriminant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Classify &gt; Discriminant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linear combination of variables that best separates Would-Shop-Again customers from those who would not, cross-validating the logistic regression.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WouldShopAgain. Discriminators: OverallSatisfaction, MonthlySpend, VisitsPerMonth, LikelihoodToRecommend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Classify &gt; Discriminant.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Variable = WouldShopAgain (range 0-1); Independents = the four discriminators.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tick Means, Univariate ANOVAs, Fisher's classification function coefficients.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tick Summary table.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1417320"/>
            <a:ext cx="4023360" cy="480060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 AT A GLANCE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2057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863840" y="25328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classification accuracy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1.038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863840" y="35844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coefficient on Satisfaction (dominant)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Discriminant Analysis - Output &amp;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accuracy: 79.2% (N = 221) - nearly identical to the 78.7% from Logistic Regression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 (Group Mean)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Yes (Group Mean)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Overall Satisfaction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4.07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6.61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Monthly Spend (Naira)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25,459.57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32,729.92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Visits per Month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2.59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2.48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Likelihood to Recommend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3.87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5.91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5204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would shop again have markedly higher satisfaction and recommendation scores, and modestly higher spend; visit frequency is essentially identical between groups. The discriminant function is dominated by Overall Satisfaction (coefficient 1.038); spend contributes almost nothing once satisfaction is included.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8006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classification methods (logistic regression and discriminant analysis) agree almost exactly on which variable matters and how well it predicts - strong triangulated evidence, not a single-method artifact.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operational retention-scoring model can safely drop spend and visit frequency and be built primarily around the satisfaction score.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MANOVA - Q1-Q5 by Store Location - Output &amp;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&gt; General Linear Model &gt; Multivariate  |  Dependents: Q1-Q5 combined  |  Factor: StoreLocation (N=239)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Approx. 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Pillai's Trace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0.061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~1.44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.098 (ns)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Wilks' Lambda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0.940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~1.45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.095 (ns)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Hotelling's Trace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0.063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~1.46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.090 (ns)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Roy's Largest Root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0.032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~1.47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.200 (ns)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5204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all 5 satisfaction items jointly is more powerful and controls Type-I error better than 5 separate ANOVAs.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4160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multivariate tests agree: Store Location has no statistically significant effect on the combined profile of the five satisfaction items (Wilks' Lambda = .940, p = .095). This confirms and extends the single-outcome ANOVA result from Section 11b.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1206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Service-quality perceptions are consistent nationally - there is no statistical basis for treating any city's stores as systematically better or worse run on these five dimensions.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service-improvement initiative can be designed once and deployed identically across Lagos, Abuja, Port Harcourt, Kano, and Ibadan.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34440" y="29260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Findings That Matter Most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896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across all 21 SPSS procedures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Satisfaction, not demographics or spend, drives repurchase - Logistic Regression and Discriminant Analysis both converge on Overall Satisfaction as the dominant predictor (~79% accuracy either way).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the customer base is disengaged - 44.4% would not shop again, matching a 42.5% "At-Risk Low Engagers" cluster with the lowest satisfaction and spend.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tier is a genuinely powerful, confirmed lever on spend (eta-squared = .18) - but Gold and Platinum are not significantly different, so Platinum's value proposition should target advocacy, not just discounting.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satisfaction items measure one construct (Cronbach's alpha = .912; single-factor PCA explains 73.9% of variance) - Value for Money is the most influential single item.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and visit frequency both independently predict spend even after controlling for income (R2 = .723) - spend is not just a function of who can afford it, but how the retailer makes customers feel.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satisfaction-based "at-risk" flag (score &lt;= 4 of 10) from the logistic regression model and route it to proactive retention outreach.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Value-for-Money initiatives - the single highest-leverage service dimension for lifting overall satisfaction.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service and channel investments once, nationally - location is not a meaningful differentiator of satisfaction or channel preference.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three behavioral clusters, not demographics, for CRM campaigns: win-back for At-Risk, retention focus for High-Value Frequent Shoppers, referral programs for Happy Advocates.</a:t>
            </a:r>
            <a:endParaRPr lang="en-US" sz="1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Re-position the Platinum tier around experience and advocacy rather than further discounting, since Gold and Platinum do not differ significantly in spend.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SPSS Statistical Analysis  -  Retail Customer Behavior Dataset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2026-07-18T10:02:36Z</dcterms:created>
  <dcterms:modified xsi:type="dcterms:W3CDTF">2026-07-18T10:02:36Z</dcterms:modified>
</cp:coreProperties>
</file>
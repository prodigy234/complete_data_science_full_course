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is where the statistical toolkit grows to full power. Every test here builds on Module 3 descriptive analysis. Participants must have their clean UAC Foods dataset open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is the heart of inferential statistics. Participants should have UAC Foods dataset ready (N=450, sat_mean computed, normality results from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as a laminated reference card for participants. When they are confused about which test to run, this framework is their first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value (3.5) is set BEFORE running the test based on the benchmark or theory, not after seeing the data. Changing the test value after seeing results to get p &lt; .05 is p-hacking.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Levene's Test decision live. Most beginners ignore Levene's and just read the first row. Demo: what changes between the two rows, and when the difference matters (when variances are very unequal).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Paired Samples Correlation: r = .724 means the same consumers who scored high at Time 1 tended to score high at Time 2. High correlation is expected in paired designs - it is not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ANOVA table logic: F = Between Groups Mean Square / Within Groups Mean Square. Large F = between-group variance is large relative to within-group noise. Then show the Tukey table - only youth vs. senior is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rule for post-hoc selection: (1) Start with Tukey for equal groups. (2) If Levene's p &lt; .05, use Games-Howell. (3) If only testing specific pairs, use Bonferroni. Never use LSD for exploratory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Wilks' Lambda is the most commonly reported multivariate statistic. Pillai's Trace is more robust when assumptions are violated. Most journals accept either, but request the reviewer's preference when in doubt.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Greenhouse-Geisser correction adjusts the df downward (2.35 instead of 3 here), making the test more conservative. Emphasise: the decision to use G-G correction is based on Mauchly's result, not on whether we prefer a certain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lines in the profile plot = no interaction (main effects only). Crossing or diverging lines = interaction. If lines diverge: the gap between male and female grows for some products. If lines cross: the direction reverses.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effects analysis requires using SPSS syntax (EMMEANS tables) because the GUI doesn't directly support simple effects. Show the syntax for: /EMMEANS = TABLES(gender*uac_product_pref) COMPARE(gender).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2×2 tables, Fisher's Exact Test is automatically provided by SPSS. For larger tables with small expected counts, combine categories to meet the assumption. SPSS reports the exact footnote - always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adjusted residual approach is the key skill for interpreting significant chi-square results. Without it, students can only say 'there is an association' but not WHERE the association lies. With residuals, they can pinpoint exactly which cells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question is always: is the DV ordinal, or does it violate normality badly enough that the parametric test is unreliable? For the UAC Foods sat_mean (which passed Shapiro-Wilk), parametric tests are fine. For repurchase_intention (ordinal), non-parametric is more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Mann-Whitney and Kruskal-Wallis compare DISTRIBUTIONS (via ranks), not means. So we say 'Females tend to have higher repurchase intentions' not 'Female mean repurchase is higher'. Report Mean Rank from output, not the arithmetic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Friedman mean rank represents the average position across all time points for each quarter. A mean rank of 3.48 for Q4 means consumers consistently ranked Q4 repurchase intention the highest across all quarterly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B and C form the core of most UAC Foods analyses. Task H (Factorial ANOVA) shows the gender×product interaction. Task J (effect size comparison) is a critical thinking exercise that many participants find most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4 (Levene's), 5 (post-hoc choice), and 8 (interaction interpretation) are the most tested in assessments. Takeaway 9 (adjusted residuals) is the most underused skill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(Levene's decision), Q3 (interaction vs main effect), and Q4 (effect size calculation) are the most discriminating questions for advanced understanding. Q2 tests a very common student misconception.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4. Prerequisite for Module 5: participants should have completed the Module 4 practice exercise. Module 5 builds on the clean dataset and requires understanding of correlation (Module 3) as the basis for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4. The H.G. Wells quote is a reminder that statistical literacy is a fundamental life skill, not just a technical competence. Module 5 continues with the advanced methods that make professional data analysts.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5943600" y="-1645920"/>
            <a:ext cx="5486400" cy="5486400"/>
          </a:xfrm>
          <a:prstGeom prst="ellipse">
            <a:avLst/>
          </a:prstGeom>
          <a:solidFill>
            <a:srgbClr val="0E6B78">
              <a:alpha val="24000"/>
            </a:srgbClr>
          </a:solidFill>
          <a:ln w="12700">
            <a:solidFill>
              <a:srgbClr val="0E6B78"/>
            </a:solidFill>
            <a:prstDash val="solid"/>
          </a:ln>
        </p:spPr>
      </p:sp>
      <p:sp>
        <p:nvSpPr>
          <p:cNvPr id="3" name="Shape 1"/>
          <p:cNvSpPr/>
          <p:nvPr/>
        </p:nvSpPr>
        <p:spPr>
          <a:xfrm>
            <a:off x="-1371600" y="2926080"/>
            <a:ext cx="4114800" cy="4114800"/>
          </a:xfrm>
          <a:prstGeom prst="ellipse">
            <a:avLst/>
          </a:prstGeom>
          <a:solidFill>
            <a:srgbClr val="D4A017">
              <a:alpha val="15000"/>
            </a:srgbClr>
          </a:solidFill>
          <a:ln w="12700">
            <a:solidFill>
              <a:srgbClr val="D4A017"/>
            </a:solidFill>
            <a:prstDash val="solid"/>
          </a:ln>
        </p:spPr>
      </p:sp>
      <p:sp>
        <p:nvSpPr>
          <p:cNvPr id="4" name="Shape 2"/>
          <p:cNvSpPr/>
          <p:nvPr/>
        </p:nvSpPr>
        <p:spPr>
          <a:xfrm>
            <a:off x="3474720" y="3840480"/>
            <a:ext cx="2286000" cy="2286000"/>
          </a:xfrm>
          <a:prstGeom prst="ellipse">
            <a:avLst/>
          </a:prstGeom>
          <a:solidFill>
            <a:srgbClr val="7B1728">
              <a:alpha val="12000"/>
            </a:srgbClr>
          </a:solidFill>
          <a:ln w="12700">
            <a:solidFill>
              <a:srgbClr val="7B1728"/>
            </a:solidFill>
            <a:prstDash val="solid"/>
          </a:ln>
        </p:spPr>
      </p:sp>
      <p:sp>
        <p:nvSpPr>
          <p:cNvPr id="5" name="Text 3"/>
          <p:cNvSpPr/>
          <p:nvPr/>
        </p:nvSpPr>
        <p:spPr>
          <a:xfrm>
            <a:off x="594360" y="914400"/>
            <a:ext cx="5486400" cy="384048"/>
          </a:xfrm>
          <a:prstGeom prst="rect">
            <a:avLst/>
          </a:prstGeom>
          <a:noFill/>
          <a:ln/>
        </p:spPr>
        <p:txBody>
          <a:bodyPr wrap="square" lIns="0" tIns="0" rIns="0" bIns="0" rtlCol="0" anchor="ctr"/>
          <a:lstStyle/>
          <a:p>
            <a:pPr indent="0" marL="0">
              <a:buNone/>
            </a:pPr>
            <a:r>
              <a:rPr lang="en-US" sz="1300" b="1" spc="400" kern="0" dirty="0">
                <a:solidFill>
                  <a:srgbClr val="D4A017"/>
                </a:solidFill>
                <a:latin typeface="Calibri" pitchFamily="34" charset="0"/>
                <a:ea typeface="Calibri" pitchFamily="34" charset="-122"/>
                <a:cs typeface="Calibri" pitchFamily="34" charset="-120"/>
              </a:rPr>
              <a:t>MODULE 4</a:t>
            </a:r>
            <a:endParaRPr lang="en-US" sz="1300" dirty="0"/>
          </a:p>
        </p:txBody>
      </p:sp>
      <p:sp>
        <p:nvSpPr>
          <p:cNvPr id="6" name="Text 4"/>
          <p:cNvSpPr/>
          <p:nvPr/>
        </p:nvSpPr>
        <p:spPr>
          <a:xfrm>
            <a:off x="594360" y="1353312"/>
            <a:ext cx="841248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Test Statistics and</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Tests of Association</a:t>
            </a:r>
            <a:endParaRPr lang="en-US" sz="4200" dirty="0"/>
          </a:p>
        </p:txBody>
      </p:sp>
      <p:sp>
        <p:nvSpPr>
          <p:cNvPr id="7" name="Text 5"/>
          <p:cNvSpPr/>
          <p:nvPr/>
        </p:nvSpPr>
        <p:spPr>
          <a:xfrm>
            <a:off x="594360" y="2852928"/>
            <a:ext cx="6858000" cy="713232"/>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Comparing Means - T-Tests - ANOVA - Chi-Square -</a:t>
            </a:r>
            <a:endParaRPr lang="en-US" sz="1500" dirty="0"/>
          </a:p>
          <a:p>
            <a:pPr indent="0" marL="0">
              <a:buNone/>
            </a:pPr>
            <a:r>
              <a:rPr lang="en-US" sz="1500" dirty="0">
                <a:solidFill>
                  <a:srgbClr val="90D4E0"/>
                </a:solidFill>
                <a:latin typeface="Calibri" pitchFamily="34" charset="0"/>
                <a:ea typeface="Calibri" pitchFamily="34" charset="-122"/>
                <a:cs typeface="Calibri" pitchFamily="34" charset="-120"/>
              </a:rPr>
              <a:t>Non-Parametric Statistics - Factorial and Repeated Measures</a:t>
            </a:r>
            <a:endParaRPr lang="en-US" sz="1500" dirty="0"/>
          </a:p>
        </p:txBody>
      </p:sp>
      <p:sp>
        <p:nvSpPr>
          <p:cNvPr id="8" name="Text 6"/>
          <p:cNvSpPr/>
          <p:nvPr/>
        </p:nvSpPr>
        <p:spPr>
          <a:xfrm>
            <a:off x="594360" y="3611880"/>
            <a:ext cx="6400800" cy="320040"/>
          </a:xfrm>
          <a:prstGeom prst="rect">
            <a:avLst/>
          </a:prstGeom>
          <a:noFill/>
          <a:ln/>
        </p:spPr>
        <p:txBody>
          <a:bodyPr wrap="square" lIns="0" tIns="0" rIns="0" bIns="0" rtlCol="0" anchor="ctr"/>
          <a:lstStyle/>
          <a:p>
            <a:pPr indent="0" marL="0">
              <a:buNone/>
            </a:pPr>
            <a:r>
              <a:rPr lang="en-US" sz="1200" i="1" dirty="0">
                <a:solidFill>
                  <a:srgbClr val="F0C040"/>
                </a:solidFill>
                <a:latin typeface="Calibri" pitchFamily="34" charset="0"/>
                <a:ea typeface="Calibri" pitchFamily="34" charset="-122"/>
                <a:cs typeface="Calibri" pitchFamily="34" charset="-120"/>
              </a:rPr>
              <a:t>IBM SPSS Statistics Training  -  UAC Foods Limited</a:t>
            </a:r>
            <a:endParaRPr lang="en-US" sz="1200" dirty="0"/>
          </a:p>
        </p:txBody>
      </p:sp>
      <p:sp>
        <p:nvSpPr>
          <p:cNvPr id="9" name="Shape 7"/>
          <p:cNvSpPr/>
          <p:nvPr/>
        </p:nvSpPr>
        <p:spPr>
          <a:xfrm>
            <a:off x="594360" y="3931920"/>
            <a:ext cx="3657600" cy="896112"/>
          </a:xfrm>
          <a:prstGeom prst="roundRect">
            <a:avLst>
              <a:gd name="adj" fmla="val 10204"/>
            </a:avLst>
          </a:prstGeom>
          <a:solidFill>
            <a:srgbClr val="0E6B78">
              <a:alpha val="85000"/>
            </a:srgbClr>
          </a:solidFill>
          <a:ln w="12700">
            <a:solidFill>
              <a:srgbClr val="17A2B8"/>
            </a:solidFill>
            <a:prstDash val="solid"/>
          </a:ln>
        </p:spPr>
      </p:sp>
      <p:sp>
        <p:nvSpPr>
          <p:cNvPr id="10" name="Text 8"/>
          <p:cNvSpPr/>
          <p:nvPr/>
        </p:nvSpPr>
        <p:spPr>
          <a:xfrm>
            <a:off x="594360" y="3977640"/>
            <a:ext cx="3657600" cy="8046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Kajola Gbenga Adewale</a:t>
            </a:r>
            <a:endParaRPr lang="en-US" sz="1400" dirty="0"/>
          </a:p>
          <a:p>
            <a:pPr algn="ctr" indent="0" marL="0">
              <a:buNone/>
            </a:pPr>
            <a:r>
              <a:rPr lang="en-US" sz="1200" dirty="0">
                <a:solidFill>
                  <a:srgbClr val="F0C040"/>
                </a:solidFill>
                <a:latin typeface="Calibri" pitchFamily="34" charset="0"/>
                <a:ea typeface="Calibri" pitchFamily="34" charset="-122"/>
                <a:cs typeface="Calibri" pitchFamily="34" charset="-120"/>
              </a:rPr>
              <a:t>Data Expert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61A24"/>
          </a:solidFill>
          <a:ln w="12700">
            <a:solidFill>
              <a:srgbClr val="061A24"/>
            </a:solidFill>
            <a:prstDash val="solid"/>
          </a:ln>
        </p:spPr>
      </p:sp>
      <p:sp>
        <p:nvSpPr>
          <p:cNvPr id="3" name="Text 1"/>
          <p:cNvSpPr/>
          <p:nvPr/>
        </p:nvSpPr>
        <p:spPr>
          <a:xfrm>
            <a:off x="137160" y="1097280"/>
            <a:ext cx="2633472"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MODULE 4</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COMPLETE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AGENDA</a:t>
            </a:r>
            <a:endParaRPr lang="en-US" sz="2200" dirty="0"/>
          </a:p>
        </p:txBody>
      </p:sp>
      <p:sp>
        <p:nvSpPr>
          <p:cNvPr id="4" name="Shape 2"/>
          <p:cNvSpPr/>
          <p:nvPr/>
        </p:nvSpPr>
        <p:spPr>
          <a:xfrm>
            <a:off x="365760" y="2697480"/>
            <a:ext cx="2194560" cy="45720"/>
          </a:xfrm>
          <a:prstGeom prst="rect">
            <a:avLst/>
          </a:prstGeom>
          <a:solidFill>
            <a:srgbClr val="D4A017"/>
          </a:solidFill>
          <a:ln w="12700">
            <a:solidFill>
              <a:srgbClr val="D4A017"/>
            </a:solidFill>
            <a:prstDash val="solid"/>
          </a:ln>
        </p:spPr>
      </p:sp>
      <p:sp>
        <p:nvSpPr>
          <p:cNvPr id="5" name="Text 3"/>
          <p:cNvSpPr/>
          <p:nvPr/>
        </p:nvSpPr>
        <p:spPr>
          <a:xfrm>
            <a:off x="137160" y="2834640"/>
            <a:ext cx="2633472" cy="365760"/>
          </a:xfrm>
          <a:prstGeom prst="rect">
            <a:avLst/>
          </a:prstGeom>
          <a:noFill/>
          <a:ln/>
        </p:spPr>
        <p:txBody>
          <a:bodyPr wrap="square" lIns="0" tIns="0" rIns="0" bIns="0" rtlCol="0" anchor="ctr"/>
          <a:lstStyle/>
          <a:p>
            <a:pPr algn="ctr" indent="0" marL="0">
              <a:buNone/>
            </a:pPr>
            <a:r>
              <a:rPr lang="en-US" sz="1200" dirty="0">
                <a:solidFill>
                  <a:srgbClr val="F0C040"/>
                </a:solidFill>
                <a:latin typeface="Calibri" pitchFamily="34" charset="0"/>
                <a:ea typeface="Calibri" pitchFamily="34" charset="-122"/>
                <a:cs typeface="Calibri" pitchFamily="34" charset="-120"/>
              </a:rPr>
              <a:t>12 Core Topics</a:t>
            </a:r>
            <a:endParaRPr lang="en-US" sz="1200" dirty="0"/>
          </a:p>
        </p:txBody>
      </p:sp>
      <p:sp>
        <p:nvSpPr>
          <p:cNvPr id="6" name="Shape 4"/>
          <p:cNvSpPr/>
          <p:nvPr/>
        </p:nvSpPr>
        <p:spPr>
          <a:xfrm>
            <a:off x="3063240" y="201168"/>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54680" y="384048"/>
            <a:ext cx="347472" cy="347472"/>
          </a:xfrm>
          <a:prstGeom prst="roundRect">
            <a:avLst>
              <a:gd name="adj" fmla="val 13158"/>
            </a:avLst>
          </a:prstGeom>
          <a:solidFill>
            <a:srgbClr val="061A24"/>
          </a:solidFill>
          <a:ln w="12700">
            <a:solidFill>
              <a:srgbClr val="061A24"/>
            </a:solidFill>
            <a:prstDash val="solid"/>
          </a:ln>
        </p:spPr>
      </p:sp>
      <p:sp>
        <p:nvSpPr>
          <p:cNvPr id="8" name="Text 6"/>
          <p:cNvSpPr/>
          <p:nvPr/>
        </p:nvSpPr>
        <p:spPr>
          <a:xfrm>
            <a:off x="3154680" y="38404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3593592" y="292608"/>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Comparing Means - Overview</a:t>
            </a:r>
            <a:endParaRPr lang="en-US" sz="1050" dirty="0"/>
          </a:p>
        </p:txBody>
      </p:sp>
      <p:sp>
        <p:nvSpPr>
          <p:cNvPr id="10" name="Text 8"/>
          <p:cNvSpPr/>
          <p:nvPr/>
        </p:nvSpPr>
        <p:spPr>
          <a:xfrm>
            <a:off x="3593592" y="621792"/>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When and how to compare group means</a:t>
            </a:r>
            <a:endParaRPr lang="en-US" sz="900" dirty="0"/>
          </a:p>
        </p:txBody>
      </p:sp>
      <p:sp>
        <p:nvSpPr>
          <p:cNvPr id="11" name="Shape 9"/>
          <p:cNvSpPr/>
          <p:nvPr/>
        </p:nvSpPr>
        <p:spPr>
          <a:xfrm>
            <a:off x="3063240" y="1042416"/>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54680" y="1225296"/>
            <a:ext cx="347472" cy="347472"/>
          </a:xfrm>
          <a:prstGeom prst="roundRect">
            <a:avLst>
              <a:gd name="adj" fmla="val 13158"/>
            </a:avLst>
          </a:prstGeom>
          <a:solidFill>
            <a:srgbClr val="061A24"/>
          </a:solidFill>
          <a:ln w="12700">
            <a:solidFill>
              <a:srgbClr val="061A24"/>
            </a:solidFill>
            <a:prstDash val="solid"/>
          </a:ln>
        </p:spPr>
      </p:sp>
      <p:sp>
        <p:nvSpPr>
          <p:cNvPr id="13" name="Text 11"/>
          <p:cNvSpPr/>
          <p:nvPr/>
        </p:nvSpPr>
        <p:spPr>
          <a:xfrm>
            <a:off x="3154680" y="122529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3593592" y="1133856"/>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One-Sample T-Test</a:t>
            </a:r>
            <a:endParaRPr lang="en-US" sz="1050" dirty="0"/>
          </a:p>
        </p:txBody>
      </p:sp>
      <p:sp>
        <p:nvSpPr>
          <p:cNvPr id="15" name="Text 13"/>
          <p:cNvSpPr/>
          <p:nvPr/>
        </p:nvSpPr>
        <p:spPr>
          <a:xfrm>
            <a:off x="3593592" y="1463040"/>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Comparing sample mean to a known value</a:t>
            </a:r>
            <a:endParaRPr lang="en-US" sz="900" dirty="0"/>
          </a:p>
        </p:txBody>
      </p:sp>
      <p:sp>
        <p:nvSpPr>
          <p:cNvPr id="16" name="Shape 14"/>
          <p:cNvSpPr/>
          <p:nvPr/>
        </p:nvSpPr>
        <p:spPr>
          <a:xfrm>
            <a:off x="3063240" y="1883664"/>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54680" y="2066544"/>
            <a:ext cx="347472" cy="347472"/>
          </a:xfrm>
          <a:prstGeom prst="roundRect">
            <a:avLst>
              <a:gd name="adj" fmla="val 13158"/>
            </a:avLst>
          </a:prstGeom>
          <a:solidFill>
            <a:srgbClr val="061A24"/>
          </a:solidFill>
          <a:ln w="12700">
            <a:solidFill>
              <a:srgbClr val="061A24"/>
            </a:solidFill>
            <a:prstDash val="solid"/>
          </a:ln>
        </p:spPr>
      </p:sp>
      <p:sp>
        <p:nvSpPr>
          <p:cNvPr id="18" name="Text 16"/>
          <p:cNvSpPr/>
          <p:nvPr/>
        </p:nvSpPr>
        <p:spPr>
          <a:xfrm>
            <a:off x="3154680" y="206654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03</a:t>
            </a:r>
            <a:endParaRPr lang="en-US" sz="900" dirty="0"/>
          </a:p>
        </p:txBody>
      </p:sp>
      <p:sp>
        <p:nvSpPr>
          <p:cNvPr id="19" name="Text 17"/>
          <p:cNvSpPr/>
          <p:nvPr/>
        </p:nvSpPr>
        <p:spPr>
          <a:xfrm>
            <a:off x="3593592" y="1975104"/>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Independent Samples T-Test</a:t>
            </a:r>
            <a:endParaRPr lang="en-US" sz="1050" dirty="0"/>
          </a:p>
        </p:txBody>
      </p:sp>
      <p:sp>
        <p:nvSpPr>
          <p:cNvPr id="20" name="Text 18"/>
          <p:cNvSpPr/>
          <p:nvPr/>
        </p:nvSpPr>
        <p:spPr>
          <a:xfrm>
            <a:off x="3593592" y="2304288"/>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Two independent groups compared</a:t>
            </a:r>
            <a:endParaRPr lang="en-US" sz="900" dirty="0"/>
          </a:p>
        </p:txBody>
      </p:sp>
      <p:sp>
        <p:nvSpPr>
          <p:cNvPr id="21" name="Shape 19"/>
          <p:cNvSpPr/>
          <p:nvPr/>
        </p:nvSpPr>
        <p:spPr>
          <a:xfrm>
            <a:off x="3063240" y="2724912"/>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54680" y="2907792"/>
            <a:ext cx="347472" cy="347472"/>
          </a:xfrm>
          <a:prstGeom prst="roundRect">
            <a:avLst>
              <a:gd name="adj" fmla="val 13158"/>
            </a:avLst>
          </a:prstGeom>
          <a:solidFill>
            <a:srgbClr val="061A24"/>
          </a:solidFill>
          <a:ln w="12700">
            <a:solidFill>
              <a:srgbClr val="061A24"/>
            </a:solidFill>
            <a:prstDash val="solid"/>
          </a:ln>
        </p:spPr>
      </p:sp>
      <p:sp>
        <p:nvSpPr>
          <p:cNvPr id="23" name="Text 21"/>
          <p:cNvSpPr/>
          <p:nvPr/>
        </p:nvSpPr>
        <p:spPr>
          <a:xfrm>
            <a:off x="3154680" y="290779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04</a:t>
            </a:r>
            <a:endParaRPr lang="en-US" sz="900" dirty="0"/>
          </a:p>
        </p:txBody>
      </p:sp>
      <p:sp>
        <p:nvSpPr>
          <p:cNvPr id="24" name="Text 22"/>
          <p:cNvSpPr/>
          <p:nvPr/>
        </p:nvSpPr>
        <p:spPr>
          <a:xfrm>
            <a:off x="3593592" y="2816352"/>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Paired Samples T-Test</a:t>
            </a:r>
            <a:endParaRPr lang="en-US" sz="1050" dirty="0"/>
          </a:p>
        </p:txBody>
      </p:sp>
      <p:sp>
        <p:nvSpPr>
          <p:cNvPr id="25" name="Text 23"/>
          <p:cNvSpPr/>
          <p:nvPr/>
        </p:nvSpPr>
        <p:spPr>
          <a:xfrm>
            <a:off x="3593592" y="3145536"/>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Same group at two time points</a:t>
            </a:r>
            <a:endParaRPr lang="en-US" sz="900" dirty="0"/>
          </a:p>
        </p:txBody>
      </p:sp>
      <p:sp>
        <p:nvSpPr>
          <p:cNvPr id="26" name="Shape 24"/>
          <p:cNvSpPr/>
          <p:nvPr/>
        </p:nvSpPr>
        <p:spPr>
          <a:xfrm>
            <a:off x="3063240" y="3566160"/>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54680" y="3749040"/>
            <a:ext cx="347472" cy="347472"/>
          </a:xfrm>
          <a:prstGeom prst="roundRect">
            <a:avLst>
              <a:gd name="adj" fmla="val 13158"/>
            </a:avLst>
          </a:prstGeom>
          <a:solidFill>
            <a:srgbClr val="061A24"/>
          </a:solidFill>
          <a:ln w="12700">
            <a:solidFill>
              <a:srgbClr val="061A24"/>
            </a:solidFill>
            <a:prstDash val="solid"/>
          </a:ln>
        </p:spPr>
      </p:sp>
      <p:sp>
        <p:nvSpPr>
          <p:cNvPr id="28" name="Text 26"/>
          <p:cNvSpPr/>
          <p:nvPr/>
        </p:nvSpPr>
        <p:spPr>
          <a:xfrm>
            <a:off x="3154680" y="374904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05</a:t>
            </a:r>
            <a:endParaRPr lang="en-US" sz="900" dirty="0"/>
          </a:p>
        </p:txBody>
      </p:sp>
      <p:sp>
        <p:nvSpPr>
          <p:cNvPr id="29" name="Text 27"/>
          <p:cNvSpPr/>
          <p:nvPr/>
        </p:nvSpPr>
        <p:spPr>
          <a:xfrm>
            <a:off x="3593592" y="3657600"/>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One-Way ANOVA</a:t>
            </a:r>
            <a:endParaRPr lang="en-US" sz="1050" dirty="0"/>
          </a:p>
        </p:txBody>
      </p:sp>
      <p:sp>
        <p:nvSpPr>
          <p:cNvPr id="30" name="Text 28"/>
          <p:cNvSpPr/>
          <p:nvPr/>
        </p:nvSpPr>
        <p:spPr>
          <a:xfrm>
            <a:off x="3593592" y="3986784"/>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3+ groups with post-hoc tests</a:t>
            </a:r>
            <a:endParaRPr lang="en-US" sz="900" dirty="0"/>
          </a:p>
        </p:txBody>
      </p:sp>
      <p:sp>
        <p:nvSpPr>
          <p:cNvPr id="31" name="Shape 29"/>
          <p:cNvSpPr/>
          <p:nvPr/>
        </p:nvSpPr>
        <p:spPr>
          <a:xfrm>
            <a:off x="3063240" y="4407408"/>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3154680" y="4590288"/>
            <a:ext cx="347472" cy="347472"/>
          </a:xfrm>
          <a:prstGeom prst="roundRect">
            <a:avLst>
              <a:gd name="adj" fmla="val 13158"/>
            </a:avLst>
          </a:prstGeom>
          <a:solidFill>
            <a:srgbClr val="061A24"/>
          </a:solidFill>
          <a:ln w="12700">
            <a:solidFill>
              <a:srgbClr val="061A24"/>
            </a:solidFill>
            <a:prstDash val="solid"/>
          </a:ln>
        </p:spPr>
      </p:sp>
      <p:sp>
        <p:nvSpPr>
          <p:cNvPr id="33" name="Text 31"/>
          <p:cNvSpPr/>
          <p:nvPr/>
        </p:nvSpPr>
        <p:spPr>
          <a:xfrm>
            <a:off x="3154680" y="459028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06</a:t>
            </a:r>
            <a:endParaRPr lang="en-US" sz="900" dirty="0"/>
          </a:p>
        </p:txBody>
      </p:sp>
      <p:sp>
        <p:nvSpPr>
          <p:cNvPr id="34" name="Text 32"/>
          <p:cNvSpPr/>
          <p:nvPr/>
        </p:nvSpPr>
        <p:spPr>
          <a:xfrm>
            <a:off x="3593592" y="4498848"/>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MANOVA</a:t>
            </a:r>
            <a:endParaRPr lang="en-US" sz="1050" dirty="0"/>
          </a:p>
        </p:txBody>
      </p:sp>
      <p:sp>
        <p:nvSpPr>
          <p:cNvPr id="35" name="Text 33"/>
          <p:cNvSpPr/>
          <p:nvPr/>
        </p:nvSpPr>
        <p:spPr>
          <a:xfrm>
            <a:off x="3593592" y="4828032"/>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Multiple DVs compared simultaneously</a:t>
            </a:r>
            <a:endParaRPr lang="en-US" sz="900" dirty="0"/>
          </a:p>
        </p:txBody>
      </p:sp>
      <p:sp>
        <p:nvSpPr>
          <p:cNvPr id="36" name="Shape 34"/>
          <p:cNvSpPr/>
          <p:nvPr/>
        </p:nvSpPr>
        <p:spPr>
          <a:xfrm>
            <a:off x="6080760" y="201168"/>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6172200" y="384048"/>
            <a:ext cx="347472" cy="347472"/>
          </a:xfrm>
          <a:prstGeom prst="roundRect">
            <a:avLst>
              <a:gd name="adj" fmla="val 13158"/>
            </a:avLst>
          </a:prstGeom>
          <a:solidFill>
            <a:srgbClr val="061A24"/>
          </a:solidFill>
          <a:ln w="12700">
            <a:solidFill>
              <a:srgbClr val="061A24"/>
            </a:solidFill>
            <a:prstDash val="solid"/>
          </a:ln>
        </p:spPr>
      </p:sp>
      <p:sp>
        <p:nvSpPr>
          <p:cNvPr id="38" name="Text 36"/>
          <p:cNvSpPr/>
          <p:nvPr/>
        </p:nvSpPr>
        <p:spPr>
          <a:xfrm>
            <a:off x="6172200" y="38404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07</a:t>
            </a:r>
            <a:endParaRPr lang="en-US" sz="900" dirty="0"/>
          </a:p>
        </p:txBody>
      </p:sp>
      <p:sp>
        <p:nvSpPr>
          <p:cNvPr id="39" name="Text 37"/>
          <p:cNvSpPr/>
          <p:nvPr/>
        </p:nvSpPr>
        <p:spPr>
          <a:xfrm>
            <a:off x="6611112" y="292608"/>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Repeated Measures ANOVA</a:t>
            </a:r>
            <a:endParaRPr lang="en-US" sz="1050" dirty="0"/>
          </a:p>
        </p:txBody>
      </p:sp>
      <p:sp>
        <p:nvSpPr>
          <p:cNvPr id="40" name="Text 38"/>
          <p:cNvSpPr/>
          <p:nvPr/>
        </p:nvSpPr>
        <p:spPr>
          <a:xfrm>
            <a:off x="6611112" y="621792"/>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Same group across 3+ time points</a:t>
            </a:r>
            <a:endParaRPr lang="en-US" sz="900" dirty="0"/>
          </a:p>
        </p:txBody>
      </p:sp>
      <p:sp>
        <p:nvSpPr>
          <p:cNvPr id="41" name="Shape 39"/>
          <p:cNvSpPr/>
          <p:nvPr/>
        </p:nvSpPr>
        <p:spPr>
          <a:xfrm>
            <a:off x="6080760" y="1042416"/>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6172200" y="1225296"/>
            <a:ext cx="347472" cy="347472"/>
          </a:xfrm>
          <a:prstGeom prst="roundRect">
            <a:avLst>
              <a:gd name="adj" fmla="val 13158"/>
            </a:avLst>
          </a:prstGeom>
          <a:solidFill>
            <a:srgbClr val="061A24"/>
          </a:solidFill>
          <a:ln w="12700">
            <a:solidFill>
              <a:srgbClr val="061A24"/>
            </a:solidFill>
            <a:prstDash val="solid"/>
          </a:ln>
        </p:spPr>
      </p:sp>
      <p:sp>
        <p:nvSpPr>
          <p:cNvPr id="43" name="Text 41"/>
          <p:cNvSpPr/>
          <p:nvPr/>
        </p:nvSpPr>
        <p:spPr>
          <a:xfrm>
            <a:off x="6172200" y="122529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08</a:t>
            </a:r>
            <a:endParaRPr lang="en-US" sz="900" dirty="0"/>
          </a:p>
        </p:txBody>
      </p:sp>
      <p:sp>
        <p:nvSpPr>
          <p:cNvPr id="44" name="Text 42"/>
          <p:cNvSpPr/>
          <p:nvPr/>
        </p:nvSpPr>
        <p:spPr>
          <a:xfrm>
            <a:off x="6611112" y="1133856"/>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Factorial ANOVA (GLM Univariate)</a:t>
            </a:r>
            <a:endParaRPr lang="en-US" sz="1050" dirty="0"/>
          </a:p>
        </p:txBody>
      </p:sp>
      <p:sp>
        <p:nvSpPr>
          <p:cNvPr id="45" name="Text 43"/>
          <p:cNvSpPr/>
          <p:nvPr/>
        </p:nvSpPr>
        <p:spPr>
          <a:xfrm>
            <a:off x="6611112" y="1463040"/>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Two-way ANOVA with interactions</a:t>
            </a:r>
            <a:endParaRPr lang="en-US" sz="900" dirty="0"/>
          </a:p>
        </p:txBody>
      </p:sp>
      <p:sp>
        <p:nvSpPr>
          <p:cNvPr id="46" name="Shape 44"/>
          <p:cNvSpPr/>
          <p:nvPr/>
        </p:nvSpPr>
        <p:spPr>
          <a:xfrm>
            <a:off x="6080760" y="1883664"/>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6172200" y="2066544"/>
            <a:ext cx="347472" cy="347472"/>
          </a:xfrm>
          <a:prstGeom prst="roundRect">
            <a:avLst>
              <a:gd name="adj" fmla="val 13158"/>
            </a:avLst>
          </a:prstGeom>
          <a:solidFill>
            <a:srgbClr val="061A24"/>
          </a:solidFill>
          <a:ln w="12700">
            <a:solidFill>
              <a:srgbClr val="061A24"/>
            </a:solidFill>
            <a:prstDash val="solid"/>
          </a:ln>
        </p:spPr>
      </p:sp>
      <p:sp>
        <p:nvSpPr>
          <p:cNvPr id="48" name="Text 46"/>
          <p:cNvSpPr/>
          <p:nvPr/>
        </p:nvSpPr>
        <p:spPr>
          <a:xfrm>
            <a:off x="6172200" y="206654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09</a:t>
            </a:r>
            <a:endParaRPr lang="en-US" sz="900" dirty="0"/>
          </a:p>
        </p:txBody>
      </p:sp>
      <p:sp>
        <p:nvSpPr>
          <p:cNvPr id="49" name="Text 47"/>
          <p:cNvSpPr/>
          <p:nvPr/>
        </p:nvSpPr>
        <p:spPr>
          <a:xfrm>
            <a:off x="6611112" y="1975104"/>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Chi-Square Tests</a:t>
            </a:r>
            <a:endParaRPr lang="en-US" sz="1050" dirty="0"/>
          </a:p>
        </p:txBody>
      </p:sp>
      <p:sp>
        <p:nvSpPr>
          <p:cNvPr id="50" name="Text 48"/>
          <p:cNvSpPr/>
          <p:nvPr/>
        </p:nvSpPr>
        <p:spPr>
          <a:xfrm>
            <a:off x="6611112" y="2304288"/>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Goodness of Fit and Test of Independence</a:t>
            </a:r>
            <a:endParaRPr lang="en-US" sz="900" dirty="0"/>
          </a:p>
        </p:txBody>
      </p:sp>
      <p:sp>
        <p:nvSpPr>
          <p:cNvPr id="51" name="Shape 49"/>
          <p:cNvSpPr/>
          <p:nvPr/>
        </p:nvSpPr>
        <p:spPr>
          <a:xfrm>
            <a:off x="6080760" y="2724912"/>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6172200" y="2907792"/>
            <a:ext cx="347472" cy="347472"/>
          </a:xfrm>
          <a:prstGeom prst="roundRect">
            <a:avLst>
              <a:gd name="adj" fmla="val 13158"/>
            </a:avLst>
          </a:prstGeom>
          <a:solidFill>
            <a:srgbClr val="061A24"/>
          </a:solidFill>
          <a:ln w="12700">
            <a:solidFill>
              <a:srgbClr val="061A24"/>
            </a:solidFill>
            <a:prstDash val="solid"/>
          </a:ln>
        </p:spPr>
      </p:sp>
      <p:sp>
        <p:nvSpPr>
          <p:cNvPr id="53" name="Text 51"/>
          <p:cNvSpPr/>
          <p:nvPr/>
        </p:nvSpPr>
        <p:spPr>
          <a:xfrm>
            <a:off x="6172200" y="290779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10</a:t>
            </a:r>
            <a:endParaRPr lang="en-US" sz="900" dirty="0"/>
          </a:p>
        </p:txBody>
      </p:sp>
      <p:sp>
        <p:nvSpPr>
          <p:cNvPr id="54" name="Text 52"/>
          <p:cNvSpPr/>
          <p:nvPr/>
        </p:nvSpPr>
        <p:spPr>
          <a:xfrm>
            <a:off x="6611112" y="2816352"/>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Non-Parametric Statistics</a:t>
            </a:r>
            <a:endParaRPr lang="en-US" sz="1050" dirty="0"/>
          </a:p>
        </p:txBody>
      </p:sp>
      <p:sp>
        <p:nvSpPr>
          <p:cNvPr id="55" name="Text 53"/>
          <p:cNvSpPr/>
          <p:nvPr/>
        </p:nvSpPr>
        <p:spPr>
          <a:xfrm>
            <a:off x="6611112" y="3145536"/>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Mann-Whitney, Wilcoxon, Kruskal-Wallis</a:t>
            </a:r>
            <a:endParaRPr lang="en-US" sz="900" dirty="0"/>
          </a:p>
        </p:txBody>
      </p:sp>
      <p:sp>
        <p:nvSpPr>
          <p:cNvPr id="56" name="Shape 54"/>
          <p:cNvSpPr/>
          <p:nvPr/>
        </p:nvSpPr>
        <p:spPr>
          <a:xfrm>
            <a:off x="6080760" y="3566160"/>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7" name="Shape 55"/>
          <p:cNvSpPr/>
          <p:nvPr/>
        </p:nvSpPr>
        <p:spPr>
          <a:xfrm>
            <a:off x="6172200" y="3749040"/>
            <a:ext cx="347472" cy="347472"/>
          </a:xfrm>
          <a:prstGeom prst="roundRect">
            <a:avLst>
              <a:gd name="adj" fmla="val 13158"/>
            </a:avLst>
          </a:prstGeom>
          <a:solidFill>
            <a:srgbClr val="061A24"/>
          </a:solidFill>
          <a:ln w="12700">
            <a:solidFill>
              <a:srgbClr val="061A24"/>
            </a:solidFill>
            <a:prstDash val="solid"/>
          </a:ln>
        </p:spPr>
      </p:sp>
      <p:sp>
        <p:nvSpPr>
          <p:cNvPr id="58" name="Text 56"/>
          <p:cNvSpPr/>
          <p:nvPr/>
        </p:nvSpPr>
        <p:spPr>
          <a:xfrm>
            <a:off x="6172200" y="374904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11</a:t>
            </a:r>
            <a:endParaRPr lang="en-US" sz="900" dirty="0"/>
          </a:p>
        </p:txBody>
      </p:sp>
      <p:sp>
        <p:nvSpPr>
          <p:cNvPr id="59" name="Text 57"/>
          <p:cNvSpPr/>
          <p:nvPr/>
        </p:nvSpPr>
        <p:spPr>
          <a:xfrm>
            <a:off x="6611112" y="3657600"/>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Friedman and Further Tests</a:t>
            </a:r>
            <a:endParaRPr lang="en-US" sz="1050" dirty="0"/>
          </a:p>
        </p:txBody>
      </p:sp>
      <p:sp>
        <p:nvSpPr>
          <p:cNvPr id="60" name="Text 58"/>
          <p:cNvSpPr/>
          <p:nvPr/>
        </p:nvSpPr>
        <p:spPr>
          <a:xfrm>
            <a:off x="6611112" y="3986784"/>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Ranked alternatives to Repeated Measures</a:t>
            </a:r>
            <a:endParaRPr lang="en-US" sz="900" dirty="0"/>
          </a:p>
        </p:txBody>
      </p:sp>
      <p:sp>
        <p:nvSpPr>
          <p:cNvPr id="61" name="Shape 59"/>
          <p:cNvSpPr/>
          <p:nvPr/>
        </p:nvSpPr>
        <p:spPr>
          <a:xfrm>
            <a:off x="6080760" y="4407408"/>
            <a:ext cx="2880360" cy="768096"/>
          </a:xfrm>
          <a:prstGeom prst="roundRect">
            <a:avLst>
              <a:gd name="adj" fmla="val 833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62" name="Shape 60"/>
          <p:cNvSpPr/>
          <p:nvPr/>
        </p:nvSpPr>
        <p:spPr>
          <a:xfrm>
            <a:off x="6172200" y="4590288"/>
            <a:ext cx="347472" cy="347472"/>
          </a:xfrm>
          <a:prstGeom prst="roundRect">
            <a:avLst>
              <a:gd name="adj" fmla="val 13158"/>
            </a:avLst>
          </a:prstGeom>
          <a:solidFill>
            <a:srgbClr val="061A24"/>
          </a:solidFill>
          <a:ln w="12700">
            <a:solidFill>
              <a:srgbClr val="061A24"/>
            </a:solidFill>
            <a:prstDash val="solid"/>
          </a:ln>
        </p:spPr>
      </p:sp>
      <p:sp>
        <p:nvSpPr>
          <p:cNvPr id="63" name="Text 61"/>
          <p:cNvSpPr/>
          <p:nvPr/>
        </p:nvSpPr>
        <p:spPr>
          <a:xfrm>
            <a:off x="6172200" y="459028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12</a:t>
            </a:r>
            <a:endParaRPr lang="en-US" sz="900" dirty="0"/>
          </a:p>
        </p:txBody>
      </p:sp>
      <p:sp>
        <p:nvSpPr>
          <p:cNvPr id="64" name="Text 62"/>
          <p:cNvSpPr/>
          <p:nvPr/>
        </p:nvSpPr>
        <p:spPr>
          <a:xfrm>
            <a:off x="6611112" y="4498848"/>
            <a:ext cx="2286000" cy="274320"/>
          </a:xfrm>
          <a:prstGeom prst="rect">
            <a:avLst/>
          </a:prstGeom>
          <a:noFill/>
          <a:ln/>
        </p:spPr>
        <p:txBody>
          <a:bodyPr wrap="square" lIns="0" tIns="0" rIns="0" bIns="0" rtlCol="0" anchor="ctr"/>
          <a:lstStyle/>
          <a:p>
            <a:pPr indent="0" marL="0">
              <a:buNone/>
            </a:pPr>
            <a:r>
              <a:rPr lang="en-US" sz="1050" b="1" dirty="0">
                <a:solidFill>
                  <a:srgbClr val="061A24"/>
                </a:solidFill>
                <a:latin typeface="Calibri" pitchFamily="34" charset="0"/>
                <a:ea typeface="Calibri" pitchFamily="34" charset="-122"/>
                <a:cs typeface="Calibri" pitchFamily="34" charset="-120"/>
              </a:rPr>
              <a:t>Simple Effects and Multiple Comparisons</a:t>
            </a:r>
            <a:endParaRPr lang="en-US" sz="1050" dirty="0"/>
          </a:p>
        </p:txBody>
      </p:sp>
      <p:sp>
        <p:nvSpPr>
          <p:cNvPr id="65" name="Text 63"/>
          <p:cNvSpPr/>
          <p:nvPr/>
        </p:nvSpPr>
        <p:spPr>
          <a:xfrm>
            <a:off x="6611112" y="4828032"/>
            <a:ext cx="22860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Post-hoc analysis and contrasts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Comparing Means - Overview</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Choosing the right test for your research question - the decision framework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Test Do I Use? - The Complete Decision Framework</a:t>
            </a:r>
            <a:endParaRPr lang="en-US" sz="2100" dirty="0"/>
          </a:p>
        </p:txBody>
      </p:sp>
      <p:sp>
        <p:nvSpPr>
          <p:cNvPr id="4" name="Shape 2"/>
          <p:cNvSpPr/>
          <p:nvPr/>
        </p:nvSpPr>
        <p:spPr>
          <a:xfrm>
            <a:off x="3474720" y="1005840"/>
            <a:ext cx="2194560" cy="457200"/>
          </a:xfrm>
          <a:prstGeom prst="roundRect">
            <a:avLst>
              <a:gd name="adj" fmla="val 14000"/>
            </a:avLst>
          </a:prstGeom>
          <a:solidFill>
            <a:srgbClr val="061A24"/>
          </a:solidFill>
          <a:ln w="12700">
            <a:solidFill>
              <a:srgbClr val="061A24"/>
            </a:solidFill>
            <a:prstDash val="solid"/>
          </a:ln>
        </p:spPr>
      </p:sp>
      <p:sp>
        <p:nvSpPr>
          <p:cNvPr id="5" name="Text 3"/>
          <p:cNvSpPr/>
          <p:nvPr/>
        </p:nvSpPr>
        <p:spPr>
          <a:xfrm>
            <a:off x="3474720" y="1005840"/>
            <a:ext cx="2194560" cy="457200"/>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Is DV Scale level?</a:t>
            </a:r>
            <a:endParaRPr lang="en-US" sz="1100" dirty="0"/>
          </a:p>
        </p:txBody>
      </p:sp>
      <p:sp>
        <p:nvSpPr>
          <p:cNvPr id="6" name="Shape 4"/>
          <p:cNvSpPr/>
          <p:nvPr/>
        </p:nvSpPr>
        <p:spPr>
          <a:xfrm>
            <a:off x="3108960" y="1243584"/>
            <a:ext cx="-731520" cy="0"/>
          </a:xfrm>
          <a:prstGeom prst="line">
            <a:avLst/>
          </a:prstGeom>
          <a:noFill/>
          <a:ln w="19050">
            <a:solidFill>
              <a:srgbClr val="0E6B78"/>
            </a:solidFill>
            <a:prstDash val="solid"/>
          </a:ln>
        </p:spPr>
      </p:sp>
      <p:sp>
        <p:nvSpPr>
          <p:cNvPr id="7" name="Text 5"/>
          <p:cNvSpPr/>
          <p:nvPr/>
        </p:nvSpPr>
        <p:spPr>
          <a:xfrm>
            <a:off x="1920240" y="1115568"/>
            <a:ext cx="457200" cy="219456"/>
          </a:xfrm>
          <a:prstGeom prst="rect">
            <a:avLst/>
          </a:prstGeom>
          <a:noFill/>
          <a:ln/>
        </p:spPr>
        <p:txBody>
          <a:bodyPr wrap="square" lIns="0" tIns="0" rIns="0" bIns="0" rtlCol="0" anchor="ctr"/>
          <a:lstStyle/>
          <a:p>
            <a:pPr indent="0" marL="0">
              <a:buNone/>
            </a:pPr>
            <a:r>
              <a:rPr lang="en-US" sz="900" b="1" dirty="0">
                <a:solidFill>
                  <a:srgbClr val="0E6B78"/>
                </a:solidFill>
                <a:latin typeface="Calibri" pitchFamily="34" charset="0"/>
                <a:ea typeface="Calibri" pitchFamily="34" charset="-122"/>
                <a:cs typeface="Calibri" pitchFamily="34" charset="-120"/>
              </a:rPr>
              <a:t>YES</a:t>
            </a:r>
            <a:endParaRPr lang="en-US" sz="900" dirty="0"/>
          </a:p>
        </p:txBody>
      </p:sp>
      <p:sp>
        <p:nvSpPr>
          <p:cNvPr id="8" name="Shape 6"/>
          <p:cNvSpPr/>
          <p:nvPr/>
        </p:nvSpPr>
        <p:spPr>
          <a:xfrm>
            <a:off x="2377440" y="1243584"/>
            <a:ext cx="0" cy="292608"/>
          </a:xfrm>
          <a:prstGeom prst="line">
            <a:avLst/>
          </a:prstGeom>
          <a:noFill/>
          <a:ln w="19050">
            <a:solidFill>
              <a:srgbClr val="0E6B78"/>
            </a:solidFill>
            <a:prstDash val="solid"/>
          </a:ln>
        </p:spPr>
      </p:sp>
      <p:sp>
        <p:nvSpPr>
          <p:cNvPr id="9" name="Shape 7"/>
          <p:cNvSpPr/>
          <p:nvPr/>
        </p:nvSpPr>
        <p:spPr>
          <a:xfrm>
            <a:off x="1097280" y="1554480"/>
            <a:ext cx="2560320" cy="384048"/>
          </a:xfrm>
          <a:prstGeom prst="roundRect">
            <a:avLst>
              <a:gd name="adj" fmla="val 16667"/>
            </a:avLst>
          </a:prstGeom>
          <a:solidFill>
            <a:srgbClr val="0E6B78"/>
          </a:solidFill>
          <a:ln w="12700">
            <a:solidFill>
              <a:srgbClr val="0E6B78"/>
            </a:solidFill>
            <a:prstDash val="solid"/>
          </a:ln>
        </p:spPr>
      </p:sp>
      <p:sp>
        <p:nvSpPr>
          <p:cNvPr id="10" name="Text 8"/>
          <p:cNvSpPr/>
          <p:nvPr/>
        </p:nvSpPr>
        <p:spPr>
          <a:xfrm>
            <a:off x="1097280" y="1554480"/>
            <a:ext cx="25603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many groups / time points?</a:t>
            </a:r>
            <a:endParaRPr lang="en-US" sz="1000" dirty="0"/>
          </a:p>
        </p:txBody>
      </p:sp>
      <p:sp>
        <p:nvSpPr>
          <p:cNvPr id="11" name="Shape 9"/>
          <p:cNvSpPr/>
          <p:nvPr/>
        </p:nvSpPr>
        <p:spPr>
          <a:xfrm>
            <a:off x="137160" y="2103120"/>
            <a:ext cx="1920240" cy="512064"/>
          </a:xfrm>
          <a:prstGeom prst="roundRect">
            <a:avLst>
              <a:gd name="adj" fmla="val 12500"/>
            </a:avLst>
          </a:prstGeom>
          <a:solidFill>
            <a:srgbClr val="0E6B78"/>
          </a:solidFill>
          <a:ln w="12700">
            <a:solidFill>
              <a:srgbClr val="0E6B78"/>
            </a:solidFill>
            <a:prstDash val="solid"/>
          </a:ln>
        </p:spPr>
      </p:sp>
      <p:sp>
        <p:nvSpPr>
          <p:cNvPr id="12" name="Text 10"/>
          <p:cNvSpPr/>
          <p:nvPr/>
        </p:nvSpPr>
        <p:spPr>
          <a:xfrm>
            <a:off x="137160" y="2103120"/>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Compare to benchmark</a:t>
            </a:r>
            <a:endParaRPr lang="en-US" sz="850" dirty="0"/>
          </a:p>
        </p:txBody>
      </p:sp>
      <p:sp>
        <p:nvSpPr>
          <p:cNvPr id="13" name="Text 11"/>
          <p:cNvSpPr/>
          <p:nvPr/>
        </p:nvSpPr>
        <p:spPr>
          <a:xfrm>
            <a:off x="137160" y="235915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One-Sample T-Test</a:t>
            </a:r>
            <a:endParaRPr lang="en-US" sz="900" dirty="0"/>
          </a:p>
        </p:txBody>
      </p:sp>
      <p:sp>
        <p:nvSpPr>
          <p:cNvPr id="14" name="Shape 12"/>
          <p:cNvSpPr/>
          <p:nvPr/>
        </p:nvSpPr>
        <p:spPr>
          <a:xfrm>
            <a:off x="137160" y="2743200"/>
            <a:ext cx="1920240" cy="512064"/>
          </a:xfrm>
          <a:prstGeom prst="roundRect">
            <a:avLst>
              <a:gd name="adj" fmla="val 12500"/>
            </a:avLst>
          </a:prstGeom>
          <a:solidFill>
            <a:srgbClr val="17A2B8"/>
          </a:solidFill>
          <a:ln w="12700">
            <a:solidFill>
              <a:srgbClr val="17A2B8"/>
            </a:solidFill>
            <a:prstDash val="solid"/>
          </a:ln>
        </p:spPr>
      </p:sp>
      <p:sp>
        <p:nvSpPr>
          <p:cNvPr id="15" name="Text 13"/>
          <p:cNvSpPr/>
          <p:nvPr/>
        </p:nvSpPr>
        <p:spPr>
          <a:xfrm>
            <a:off x="137160" y="2743200"/>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2 Independent groups</a:t>
            </a:r>
            <a:endParaRPr lang="en-US" sz="850" dirty="0"/>
          </a:p>
        </p:txBody>
      </p:sp>
      <p:sp>
        <p:nvSpPr>
          <p:cNvPr id="16" name="Text 14"/>
          <p:cNvSpPr/>
          <p:nvPr/>
        </p:nvSpPr>
        <p:spPr>
          <a:xfrm>
            <a:off x="137160" y="299923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Independent T-Test</a:t>
            </a:r>
            <a:endParaRPr lang="en-US" sz="900" dirty="0"/>
          </a:p>
        </p:txBody>
      </p:sp>
      <p:sp>
        <p:nvSpPr>
          <p:cNvPr id="17" name="Shape 15"/>
          <p:cNvSpPr/>
          <p:nvPr/>
        </p:nvSpPr>
        <p:spPr>
          <a:xfrm>
            <a:off x="137160" y="3383280"/>
            <a:ext cx="1920240" cy="512064"/>
          </a:xfrm>
          <a:prstGeom prst="roundRect">
            <a:avLst>
              <a:gd name="adj" fmla="val 12500"/>
            </a:avLst>
          </a:prstGeom>
          <a:solidFill>
            <a:srgbClr val="0E8F9C"/>
          </a:solidFill>
          <a:ln w="12700">
            <a:solidFill>
              <a:srgbClr val="0E8F9C"/>
            </a:solidFill>
            <a:prstDash val="solid"/>
          </a:ln>
        </p:spPr>
      </p:sp>
      <p:sp>
        <p:nvSpPr>
          <p:cNvPr id="18" name="Text 16"/>
          <p:cNvSpPr/>
          <p:nvPr/>
        </p:nvSpPr>
        <p:spPr>
          <a:xfrm>
            <a:off x="137160" y="3383280"/>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Same group, 2 points</a:t>
            </a:r>
            <a:endParaRPr lang="en-US" sz="850" dirty="0"/>
          </a:p>
        </p:txBody>
      </p:sp>
      <p:sp>
        <p:nvSpPr>
          <p:cNvPr id="19" name="Text 17"/>
          <p:cNvSpPr/>
          <p:nvPr/>
        </p:nvSpPr>
        <p:spPr>
          <a:xfrm>
            <a:off x="137160" y="363931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Paired T-Test</a:t>
            </a:r>
            <a:endParaRPr lang="en-US" sz="900" dirty="0"/>
          </a:p>
        </p:txBody>
      </p:sp>
      <p:sp>
        <p:nvSpPr>
          <p:cNvPr id="20" name="Shape 18"/>
          <p:cNvSpPr/>
          <p:nvPr/>
        </p:nvSpPr>
        <p:spPr>
          <a:xfrm>
            <a:off x="137160" y="4023360"/>
            <a:ext cx="1920240" cy="512064"/>
          </a:xfrm>
          <a:prstGeom prst="roundRect">
            <a:avLst>
              <a:gd name="adj" fmla="val 12500"/>
            </a:avLst>
          </a:prstGeom>
          <a:solidFill>
            <a:srgbClr val="1B5CA0"/>
          </a:solidFill>
          <a:ln w="12700">
            <a:solidFill>
              <a:srgbClr val="1B5CA0"/>
            </a:solidFill>
            <a:prstDash val="solid"/>
          </a:ln>
        </p:spPr>
      </p:sp>
      <p:sp>
        <p:nvSpPr>
          <p:cNvPr id="21" name="Text 19"/>
          <p:cNvSpPr/>
          <p:nvPr/>
        </p:nvSpPr>
        <p:spPr>
          <a:xfrm>
            <a:off x="137160" y="4023360"/>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3+ independent groups</a:t>
            </a:r>
            <a:endParaRPr lang="en-US" sz="850" dirty="0"/>
          </a:p>
        </p:txBody>
      </p:sp>
      <p:sp>
        <p:nvSpPr>
          <p:cNvPr id="22" name="Text 20"/>
          <p:cNvSpPr/>
          <p:nvPr/>
        </p:nvSpPr>
        <p:spPr>
          <a:xfrm>
            <a:off x="137160" y="427939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One-Way ANOVA</a:t>
            </a:r>
            <a:endParaRPr lang="en-US" sz="900" dirty="0"/>
          </a:p>
        </p:txBody>
      </p:sp>
      <p:sp>
        <p:nvSpPr>
          <p:cNvPr id="23" name="Shape 21"/>
          <p:cNvSpPr/>
          <p:nvPr/>
        </p:nvSpPr>
        <p:spPr>
          <a:xfrm>
            <a:off x="137160" y="4645152"/>
            <a:ext cx="1920240" cy="512064"/>
          </a:xfrm>
          <a:prstGeom prst="roundRect">
            <a:avLst>
              <a:gd name="adj" fmla="val 12500"/>
            </a:avLst>
          </a:prstGeom>
          <a:solidFill>
            <a:srgbClr val="1A4080"/>
          </a:solidFill>
          <a:ln w="12700">
            <a:solidFill>
              <a:srgbClr val="1A4080"/>
            </a:solidFill>
            <a:prstDash val="solid"/>
          </a:ln>
        </p:spPr>
      </p:sp>
      <p:sp>
        <p:nvSpPr>
          <p:cNvPr id="24" name="Text 22"/>
          <p:cNvSpPr/>
          <p:nvPr/>
        </p:nvSpPr>
        <p:spPr>
          <a:xfrm>
            <a:off x="137160" y="4645152"/>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2 categorical IVs</a:t>
            </a:r>
            <a:endParaRPr lang="en-US" sz="850" dirty="0"/>
          </a:p>
        </p:txBody>
      </p:sp>
      <p:sp>
        <p:nvSpPr>
          <p:cNvPr id="25" name="Text 23"/>
          <p:cNvSpPr/>
          <p:nvPr/>
        </p:nvSpPr>
        <p:spPr>
          <a:xfrm>
            <a:off x="137160" y="4901184"/>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Factorial ANOVA (GLM)</a:t>
            </a:r>
            <a:endParaRPr lang="en-US" sz="900" dirty="0"/>
          </a:p>
        </p:txBody>
      </p:sp>
      <p:sp>
        <p:nvSpPr>
          <p:cNvPr id="26" name="Shape 24"/>
          <p:cNvSpPr/>
          <p:nvPr/>
        </p:nvSpPr>
        <p:spPr>
          <a:xfrm>
            <a:off x="2121408" y="2103120"/>
            <a:ext cx="1920240" cy="512064"/>
          </a:xfrm>
          <a:prstGeom prst="roundRect">
            <a:avLst>
              <a:gd name="adj" fmla="val 12500"/>
            </a:avLst>
          </a:prstGeom>
          <a:solidFill>
            <a:srgbClr val="0A6070"/>
          </a:solidFill>
          <a:ln w="12700">
            <a:solidFill>
              <a:srgbClr val="0A6070"/>
            </a:solidFill>
            <a:prstDash val="solid"/>
          </a:ln>
        </p:spPr>
      </p:sp>
      <p:sp>
        <p:nvSpPr>
          <p:cNvPr id="27" name="Text 25"/>
          <p:cNvSpPr/>
          <p:nvPr/>
        </p:nvSpPr>
        <p:spPr>
          <a:xfrm>
            <a:off x="2121408" y="2103120"/>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Same group, 3+ points</a:t>
            </a:r>
            <a:endParaRPr lang="en-US" sz="850" dirty="0"/>
          </a:p>
        </p:txBody>
      </p:sp>
      <p:sp>
        <p:nvSpPr>
          <p:cNvPr id="28" name="Text 26"/>
          <p:cNvSpPr/>
          <p:nvPr/>
        </p:nvSpPr>
        <p:spPr>
          <a:xfrm>
            <a:off x="2121408" y="235915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Repeated Measures ANOVA</a:t>
            </a:r>
            <a:endParaRPr lang="en-US" sz="900" dirty="0"/>
          </a:p>
        </p:txBody>
      </p:sp>
      <p:sp>
        <p:nvSpPr>
          <p:cNvPr id="29" name="Shape 27"/>
          <p:cNvSpPr/>
          <p:nvPr/>
        </p:nvSpPr>
        <p:spPr>
          <a:xfrm>
            <a:off x="2121408" y="2743200"/>
            <a:ext cx="1920240" cy="512064"/>
          </a:xfrm>
          <a:prstGeom prst="roundRect">
            <a:avLst>
              <a:gd name="adj" fmla="val 12500"/>
            </a:avLst>
          </a:prstGeom>
          <a:solidFill>
            <a:srgbClr val="5B2D8E"/>
          </a:solidFill>
          <a:ln w="12700">
            <a:solidFill>
              <a:srgbClr val="5B2D8E"/>
            </a:solidFill>
            <a:prstDash val="solid"/>
          </a:ln>
        </p:spPr>
      </p:sp>
      <p:sp>
        <p:nvSpPr>
          <p:cNvPr id="30" name="Text 28"/>
          <p:cNvSpPr/>
          <p:nvPr/>
        </p:nvSpPr>
        <p:spPr>
          <a:xfrm>
            <a:off x="2121408" y="2743200"/>
            <a:ext cx="1920240" cy="237744"/>
          </a:xfrm>
          <a:prstGeom prst="rect">
            <a:avLst/>
          </a:prstGeom>
          <a:noFill/>
          <a:ln/>
        </p:spPr>
        <p:txBody>
          <a:bodyPr wrap="square" lIns="0" tIns="0" rIns="0" bIns="0" rtlCol="0" anchor="ctr"/>
          <a:lstStyle/>
          <a:p>
            <a:pPr algn="ctr" indent="0" marL="0">
              <a:buNone/>
            </a:pPr>
            <a:r>
              <a:rPr lang="en-US" sz="850" dirty="0">
                <a:solidFill>
                  <a:srgbClr val="90D4E0"/>
                </a:solidFill>
                <a:latin typeface="Calibri" pitchFamily="34" charset="0"/>
                <a:ea typeface="Calibri" pitchFamily="34" charset="-122"/>
                <a:cs typeface="Calibri" pitchFamily="34" charset="-120"/>
              </a:rPr>
              <a:t>Multiple DVs</a:t>
            </a:r>
            <a:endParaRPr lang="en-US" sz="850" dirty="0"/>
          </a:p>
        </p:txBody>
      </p:sp>
      <p:sp>
        <p:nvSpPr>
          <p:cNvPr id="31" name="Text 29"/>
          <p:cNvSpPr/>
          <p:nvPr/>
        </p:nvSpPr>
        <p:spPr>
          <a:xfrm>
            <a:off x="2121408" y="299923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MANOVA</a:t>
            </a:r>
            <a:endParaRPr lang="en-US" sz="900" dirty="0"/>
          </a:p>
        </p:txBody>
      </p:sp>
      <p:sp>
        <p:nvSpPr>
          <p:cNvPr id="32" name="Shape 30"/>
          <p:cNvSpPr/>
          <p:nvPr/>
        </p:nvSpPr>
        <p:spPr>
          <a:xfrm>
            <a:off x="5669280" y="1243584"/>
            <a:ext cx="731520" cy="0"/>
          </a:xfrm>
          <a:prstGeom prst="line">
            <a:avLst/>
          </a:prstGeom>
          <a:noFill/>
          <a:ln w="19050">
            <a:solidFill>
              <a:srgbClr val="E67E22"/>
            </a:solidFill>
            <a:prstDash val="solid"/>
          </a:ln>
        </p:spPr>
      </p:sp>
      <p:sp>
        <p:nvSpPr>
          <p:cNvPr id="33" name="Text 31"/>
          <p:cNvSpPr/>
          <p:nvPr/>
        </p:nvSpPr>
        <p:spPr>
          <a:xfrm>
            <a:off x="5925312" y="1115568"/>
            <a:ext cx="365760" cy="219456"/>
          </a:xfrm>
          <a:prstGeom prst="rect">
            <a:avLst/>
          </a:prstGeom>
          <a:noFill/>
          <a:ln/>
        </p:spPr>
        <p:txBody>
          <a:bodyPr wrap="square" lIns="0" tIns="0" rIns="0" bIns="0" rtlCol="0" anchor="ctr"/>
          <a:lstStyle/>
          <a:p>
            <a:pPr indent="0" marL="0">
              <a:buNone/>
            </a:pPr>
            <a:r>
              <a:rPr lang="en-US" sz="900" b="1" dirty="0">
                <a:solidFill>
                  <a:srgbClr val="E67E22"/>
                </a:solidFill>
                <a:latin typeface="Calibri" pitchFamily="34" charset="0"/>
                <a:ea typeface="Calibri" pitchFamily="34" charset="-122"/>
                <a:cs typeface="Calibri" pitchFamily="34" charset="-120"/>
              </a:rPr>
              <a:t>NO</a:t>
            </a:r>
            <a:endParaRPr lang="en-US" sz="900" dirty="0"/>
          </a:p>
        </p:txBody>
      </p:sp>
      <p:sp>
        <p:nvSpPr>
          <p:cNvPr id="34" name="Shape 32"/>
          <p:cNvSpPr/>
          <p:nvPr/>
        </p:nvSpPr>
        <p:spPr>
          <a:xfrm>
            <a:off x="6400800" y="1243584"/>
            <a:ext cx="0" cy="292608"/>
          </a:xfrm>
          <a:prstGeom prst="line">
            <a:avLst/>
          </a:prstGeom>
          <a:noFill/>
          <a:ln w="19050">
            <a:solidFill>
              <a:srgbClr val="E67E22"/>
            </a:solidFill>
            <a:prstDash val="solid"/>
          </a:ln>
        </p:spPr>
      </p:sp>
      <p:sp>
        <p:nvSpPr>
          <p:cNvPr id="35" name="Shape 33"/>
          <p:cNvSpPr/>
          <p:nvPr/>
        </p:nvSpPr>
        <p:spPr>
          <a:xfrm>
            <a:off x="5394960" y="1554480"/>
            <a:ext cx="2560320" cy="384048"/>
          </a:xfrm>
          <a:prstGeom prst="roundRect">
            <a:avLst>
              <a:gd name="adj" fmla="val 16667"/>
            </a:avLst>
          </a:prstGeom>
          <a:solidFill>
            <a:srgbClr val="E67E22"/>
          </a:solidFill>
          <a:ln w="12700">
            <a:solidFill>
              <a:srgbClr val="E67E22"/>
            </a:solidFill>
            <a:prstDash val="solid"/>
          </a:ln>
        </p:spPr>
      </p:sp>
      <p:sp>
        <p:nvSpPr>
          <p:cNvPr id="36" name="Text 34"/>
          <p:cNvSpPr/>
          <p:nvPr/>
        </p:nvSpPr>
        <p:spPr>
          <a:xfrm>
            <a:off x="5394960" y="1554480"/>
            <a:ext cx="25603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is the data structure?</a:t>
            </a:r>
            <a:endParaRPr lang="en-US" sz="1000" dirty="0"/>
          </a:p>
        </p:txBody>
      </p:sp>
      <p:sp>
        <p:nvSpPr>
          <p:cNvPr id="37" name="Shape 35"/>
          <p:cNvSpPr/>
          <p:nvPr/>
        </p:nvSpPr>
        <p:spPr>
          <a:xfrm>
            <a:off x="5349240" y="2103120"/>
            <a:ext cx="1920240" cy="512064"/>
          </a:xfrm>
          <a:prstGeom prst="roundRect">
            <a:avLst>
              <a:gd name="adj" fmla="val 12500"/>
            </a:avLst>
          </a:prstGeom>
          <a:solidFill>
            <a:srgbClr val="E67E22"/>
          </a:solidFill>
          <a:ln w="12700">
            <a:solidFill>
              <a:srgbClr val="E67E22"/>
            </a:solidFill>
            <a:prstDash val="solid"/>
          </a:ln>
        </p:spPr>
      </p:sp>
      <p:sp>
        <p:nvSpPr>
          <p:cNvPr id="38" name="Text 36"/>
          <p:cNvSpPr/>
          <p:nvPr/>
        </p:nvSpPr>
        <p:spPr>
          <a:xfrm>
            <a:off x="5349240" y="2103120"/>
            <a:ext cx="1920240" cy="237744"/>
          </a:xfrm>
          <a:prstGeom prst="rect">
            <a:avLst/>
          </a:prstGeom>
          <a:noFill/>
          <a:ln/>
        </p:spPr>
        <p:txBody>
          <a:bodyPr wrap="square" lIns="0" tIns="0" rIns="0" bIns="0" rtlCol="0" anchor="ctr"/>
          <a:lstStyle/>
          <a:p>
            <a:pPr algn="ctr" indent="0" marL="0">
              <a:buNone/>
            </a:pPr>
            <a:r>
              <a:rPr lang="en-US" sz="850" dirty="0">
                <a:solidFill>
                  <a:srgbClr val="FFD0A0"/>
                </a:solidFill>
                <a:latin typeface="Calibri" pitchFamily="34" charset="0"/>
                <a:ea typeface="Calibri" pitchFamily="34" charset="-122"/>
                <a:cs typeface="Calibri" pitchFamily="34" charset="-120"/>
              </a:rPr>
              <a:t>2 categories (nominal)</a:t>
            </a:r>
            <a:endParaRPr lang="en-US" sz="850" dirty="0"/>
          </a:p>
        </p:txBody>
      </p:sp>
      <p:sp>
        <p:nvSpPr>
          <p:cNvPr id="39" name="Text 37"/>
          <p:cNvSpPr/>
          <p:nvPr/>
        </p:nvSpPr>
        <p:spPr>
          <a:xfrm>
            <a:off x="5349240" y="235915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Chi-Square Test</a:t>
            </a:r>
            <a:endParaRPr lang="en-US" sz="900" dirty="0"/>
          </a:p>
        </p:txBody>
      </p:sp>
      <p:sp>
        <p:nvSpPr>
          <p:cNvPr id="40" name="Shape 38"/>
          <p:cNvSpPr/>
          <p:nvPr/>
        </p:nvSpPr>
        <p:spPr>
          <a:xfrm>
            <a:off x="5349240" y="2743200"/>
            <a:ext cx="1920240" cy="512064"/>
          </a:xfrm>
          <a:prstGeom prst="roundRect">
            <a:avLst>
              <a:gd name="adj" fmla="val 12500"/>
            </a:avLst>
          </a:prstGeom>
          <a:solidFill>
            <a:srgbClr val="B06010"/>
          </a:solidFill>
          <a:ln w="12700">
            <a:solidFill>
              <a:srgbClr val="B06010"/>
            </a:solidFill>
            <a:prstDash val="solid"/>
          </a:ln>
        </p:spPr>
      </p:sp>
      <p:sp>
        <p:nvSpPr>
          <p:cNvPr id="41" name="Text 39"/>
          <p:cNvSpPr/>
          <p:nvPr/>
        </p:nvSpPr>
        <p:spPr>
          <a:xfrm>
            <a:off x="5349240" y="2743200"/>
            <a:ext cx="1920240" cy="237744"/>
          </a:xfrm>
          <a:prstGeom prst="rect">
            <a:avLst/>
          </a:prstGeom>
          <a:noFill/>
          <a:ln/>
        </p:spPr>
        <p:txBody>
          <a:bodyPr wrap="square" lIns="0" tIns="0" rIns="0" bIns="0" rtlCol="0" anchor="ctr"/>
          <a:lstStyle/>
          <a:p>
            <a:pPr algn="ctr" indent="0" marL="0">
              <a:buNone/>
            </a:pPr>
            <a:r>
              <a:rPr lang="en-US" sz="850" dirty="0">
                <a:solidFill>
                  <a:srgbClr val="FFD0A0"/>
                </a:solidFill>
                <a:latin typeface="Calibri" pitchFamily="34" charset="0"/>
                <a:ea typeface="Calibri" pitchFamily="34" charset="-122"/>
                <a:cs typeface="Calibri" pitchFamily="34" charset="-120"/>
              </a:rPr>
              <a:t>2 independent groups</a:t>
            </a:r>
            <a:endParaRPr lang="en-US" sz="850" dirty="0"/>
          </a:p>
        </p:txBody>
      </p:sp>
      <p:sp>
        <p:nvSpPr>
          <p:cNvPr id="42" name="Text 40"/>
          <p:cNvSpPr/>
          <p:nvPr/>
        </p:nvSpPr>
        <p:spPr>
          <a:xfrm>
            <a:off x="5349240" y="299923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Mann-Whitney U</a:t>
            </a:r>
            <a:endParaRPr lang="en-US" sz="900" dirty="0"/>
          </a:p>
        </p:txBody>
      </p:sp>
      <p:sp>
        <p:nvSpPr>
          <p:cNvPr id="43" name="Shape 41"/>
          <p:cNvSpPr/>
          <p:nvPr/>
        </p:nvSpPr>
        <p:spPr>
          <a:xfrm>
            <a:off x="5349240" y="3383280"/>
            <a:ext cx="1920240" cy="512064"/>
          </a:xfrm>
          <a:prstGeom prst="roundRect">
            <a:avLst>
              <a:gd name="adj" fmla="val 12500"/>
            </a:avLst>
          </a:prstGeom>
          <a:solidFill>
            <a:srgbClr val="904020"/>
          </a:solidFill>
          <a:ln w="12700">
            <a:solidFill>
              <a:srgbClr val="904020"/>
            </a:solidFill>
            <a:prstDash val="solid"/>
          </a:ln>
        </p:spPr>
      </p:sp>
      <p:sp>
        <p:nvSpPr>
          <p:cNvPr id="44" name="Text 42"/>
          <p:cNvSpPr/>
          <p:nvPr/>
        </p:nvSpPr>
        <p:spPr>
          <a:xfrm>
            <a:off x="5349240" y="3383280"/>
            <a:ext cx="1920240" cy="237744"/>
          </a:xfrm>
          <a:prstGeom prst="rect">
            <a:avLst/>
          </a:prstGeom>
          <a:noFill/>
          <a:ln/>
        </p:spPr>
        <p:txBody>
          <a:bodyPr wrap="square" lIns="0" tIns="0" rIns="0" bIns="0" rtlCol="0" anchor="ctr"/>
          <a:lstStyle/>
          <a:p>
            <a:pPr algn="ctr" indent="0" marL="0">
              <a:buNone/>
            </a:pPr>
            <a:r>
              <a:rPr lang="en-US" sz="850" dirty="0">
                <a:solidFill>
                  <a:srgbClr val="FFD0A0"/>
                </a:solidFill>
                <a:latin typeface="Calibri" pitchFamily="34" charset="0"/>
                <a:ea typeface="Calibri" pitchFamily="34" charset="-122"/>
                <a:cs typeface="Calibri" pitchFamily="34" charset="-120"/>
              </a:rPr>
              <a:t>2 related measurements</a:t>
            </a:r>
            <a:endParaRPr lang="en-US" sz="850" dirty="0"/>
          </a:p>
        </p:txBody>
      </p:sp>
      <p:sp>
        <p:nvSpPr>
          <p:cNvPr id="45" name="Text 43"/>
          <p:cNvSpPr/>
          <p:nvPr/>
        </p:nvSpPr>
        <p:spPr>
          <a:xfrm>
            <a:off x="5349240" y="363931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Wilcoxon Signed-Rank</a:t>
            </a:r>
            <a:endParaRPr lang="en-US" sz="900" dirty="0"/>
          </a:p>
        </p:txBody>
      </p:sp>
      <p:sp>
        <p:nvSpPr>
          <p:cNvPr id="46" name="Shape 44"/>
          <p:cNvSpPr/>
          <p:nvPr/>
        </p:nvSpPr>
        <p:spPr>
          <a:xfrm>
            <a:off x="5349240" y="4023360"/>
            <a:ext cx="1920240" cy="512064"/>
          </a:xfrm>
          <a:prstGeom prst="roundRect">
            <a:avLst>
              <a:gd name="adj" fmla="val 12500"/>
            </a:avLst>
          </a:prstGeom>
          <a:solidFill>
            <a:srgbClr val="7B1728"/>
          </a:solidFill>
          <a:ln w="12700">
            <a:solidFill>
              <a:srgbClr val="7B1728"/>
            </a:solidFill>
            <a:prstDash val="solid"/>
          </a:ln>
        </p:spPr>
      </p:sp>
      <p:sp>
        <p:nvSpPr>
          <p:cNvPr id="47" name="Text 45"/>
          <p:cNvSpPr/>
          <p:nvPr/>
        </p:nvSpPr>
        <p:spPr>
          <a:xfrm>
            <a:off x="5349240" y="4023360"/>
            <a:ext cx="1920240" cy="237744"/>
          </a:xfrm>
          <a:prstGeom prst="rect">
            <a:avLst/>
          </a:prstGeom>
          <a:noFill/>
          <a:ln/>
        </p:spPr>
        <p:txBody>
          <a:bodyPr wrap="square" lIns="0" tIns="0" rIns="0" bIns="0" rtlCol="0" anchor="ctr"/>
          <a:lstStyle/>
          <a:p>
            <a:pPr algn="ctr" indent="0" marL="0">
              <a:buNone/>
            </a:pPr>
            <a:r>
              <a:rPr lang="en-US" sz="850" dirty="0">
                <a:solidFill>
                  <a:srgbClr val="FFD0A0"/>
                </a:solidFill>
                <a:latin typeface="Calibri" pitchFamily="34" charset="0"/>
                <a:ea typeface="Calibri" pitchFamily="34" charset="-122"/>
                <a:cs typeface="Calibri" pitchFamily="34" charset="-120"/>
              </a:rPr>
              <a:t>3+ independent groups</a:t>
            </a:r>
            <a:endParaRPr lang="en-US" sz="850" dirty="0"/>
          </a:p>
        </p:txBody>
      </p:sp>
      <p:sp>
        <p:nvSpPr>
          <p:cNvPr id="48" name="Text 46"/>
          <p:cNvSpPr/>
          <p:nvPr/>
        </p:nvSpPr>
        <p:spPr>
          <a:xfrm>
            <a:off x="5349240" y="4279392"/>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Kruskal-Wallis</a:t>
            </a:r>
            <a:endParaRPr lang="en-US" sz="900" dirty="0"/>
          </a:p>
        </p:txBody>
      </p:sp>
      <p:sp>
        <p:nvSpPr>
          <p:cNvPr id="49" name="Shape 47"/>
          <p:cNvSpPr/>
          <p:nvPr/>
        </p:nvSpPr>
        <p:spPr>
          <a:xfrm>
            <a:off x="5349240" y="4645152"/>
            <a:ext cx="1920240" cy="512064"/>
          </a:xfrm>
          <a:prstGeom prst="roundRect">
            <a:avLst>
              <a:gd name="adj" fmla="val 12500"/>
            </a:avLst>
          </a:prstGeom>
          <a:solidFill>
            <a:srgbClr val="6A1010"/>
          </a:solidFill>
          <a:ln w="12700">
            <a:solidFill>
              <a:srgbClr val="6A1010"/>
            </a:solidFill>
            <a:prstDash val="solid"/>
          </a:ln>
        </p:spPr>
      </p:sp>
      <p:sp>
        <p:nvSpPr>
          <p:cNvPr id="50" name="Text 48"/>
          <p:cNvSpPr/>
          <p:nvPr/>
        </p:nvSpPr>
        <p:spPr>
          <a:xfrm>
            <a:off x="5349240" y="4645152"/>
            <a:ext cx="1920240" cy="237744"/>
          </a:xfrm>
          <a:prstGeom prst="rect">
            <a:avLst/>
          </a:prstGeom>
          <a:noFill/>
          <a:ln/>
        </p:spPr>
        <p:txBody>
          <a:bodyPr wrap="square" lIns="0" tIns="0" rIns="0" bIns="0" rtlCol="0" anchor="ctr"/>
          <a:lstStyle/>
          <a:p>
            <a:pPr algn="ctr" indent="0" marL="0">
              <a:buNone/>
            </a:pPr>
            <a:r>
              <a:rPr lang="en-US" sz="850" dirty="0">
                <a:solidFill>
                  <a:srgbClr val="FFD0A0"/>
                </a:solidFill>
                <a:latin typeface="Calibri" pitchFamily="34" charset="0"/>
                <a:ea typeface="Calibri" pitchFamily="34" charset="-122"/>
                <a:cs typeface="Calibri" pitchFamily="34" charset="-120"/>
              </a:rPr>
              <a:t>3+ related measurements</a:t>
            </a:r>
            <a:endParaRPr lang="en-US" sz="850" dirty="0"/>
          </a:p>
        </p:txBody>
      </p:sp>
      <p:sp>
        <p:nvSpPr>
          <p:cNvPr id="51" name="Text 49"/>
          <p:cNvSpPr/>
          <p:nvPr/>
        </p:nvSpPr>
        <p:spPr>
          <a:xfrm>
            <a:off x="5349240" y="4901184"/>
            <a:ext cx="1920240" cy="237744"/>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Friedman's Test</a:t>
            </a:r>
            <a:endParaRPr lang="en-US" sz="900" dirty="0"/>
          </a:p>
        </p:txBody>
      </p:sp>
      <p:sp>
        <p:nvSpPr>
          <p:cNvPr id="52" name="Text 50"/>
          <p:cNvSpPr/>
          <p:nvPr/>
        </p:nvSpPr>
        <p:spPr>
          <a:xfrm>
            <a:off x="5349240" y="5230368"/>
            <a:ext cx="3520440" cy="365760"/>
          </a:xfrm>
          <a:prstGeom prst="rect">
            <a:avLst/>
          </a:prstGeom>
          <a:noFill/>
          <a:ln/>
        </p:spPr>
        <p:txBody>
          <a:bodyPr wrap="square" lIns="0" tIns="0" rIns="0" bIns="0" rtlCol="0" anchor="ctr"/>
          <a:lstStyle/>
          <a:p>
            <a:pPr indent="0" marL="0">
              <a:buNone/>
            </a:pPr>
            <a:r>
              <a:rPr lang="en-US" sz="900" i="1" dirty="0">
                <a:solidFill>
                  <a:srgbClr val="E67E22"/>
                </a:solidFill>
                <a:latin typeface="Calibri" pitchFamily="34" charset="0"/>
                <a:ea typeface="Calibri" pitchFamily="34" charset="-122"/>
                <a:cs typeface="Calibri" pitchFamily="34" charset="-120"/>
              </a:rPr>
              <a:t>Also use non-parametric when: normality assumption is violated (Shapiro-Wilk p &lt; .05) even for scale DVs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T-Tests - Comparing Means</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One-Sample, Independent Samples and Paired T-Tests with full output interpretation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E6B78"/>
          </a:solidFill>
          <a:ln w="12700">
            <a:solidFill>
              <a:srgbClr val="0E6B7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One-Sample T-Test - Comparing Sample Mean to a Known Benchmark</a:t>
            </a:r>
            <a:endParaRPr lang="en-US" sz="2100" dirty="0"/>
          </a:p>
        </p:txBody>
      </p:sp>
      <p:sp>
        <p:nvSpPr>
          <p:cNvPr id="4" name="Shape 2"/>
          <p:cNvSpPr/>
          <p:nvPr/>
        </p:nvSpPr>
        <p:spPr>
          <a:xfrm>
            <a:off x="256032" y="1005840"/>
            <a:ext cx="8631936" cy="658368"/>
          </a:xfrm>
          <a:prstGeom prst="roundRect">
            <a:avLst>
              <a:gd name="adj" fmla="val 11111"/>
            </a:avLst>
          </a:prstGeom>
          <a:solidFill>
            <a:srgbClr val="E0F7FA"/>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94360"/>
          </a:xfrm>
          <a:prstGeom prst="rect">
            <a:avLst/>
          </a:prstGeom>
          <a:noFill/>
          <a:ln/>
        </p:spPr>
        <p:txBody>
          <a:bodyPr wrap="square" lIns="0" tIns="0" rIns="0" bIns="0" rtlCol="0" anchor="ctr"/>
          <a:lstStyle/>
          <a:p>
            <a:pPr indent="0" marL="0">
              <a:buNone/>
            </a:pPr>
            <a:r>
              <a:rPr lang="en-US" sz="1050" b="1" dirty="0">
                <a:solidFill>
                  <a:srgbClr val="0E6B78"/>
                </a:solidFill>
                <a:latin typeface="Calibri" pitchFamily="34" charset="0"/>
                <a:ea typeface="Calibri" pitchFamily="34" charset="-122"/>
                <a:cs typeface="Calibri" pitchFamily="34" charset="-120"/>
              </a:rPr>
              <a:t>Purpose: </a:t>
            </a:r>
            <a:pPr indent="0" marL="0">
              <a:buNone/>
            </a:pPr>
            <a:r>
              <a:rPr lang="en-US" sz="1050" dirty="0">
                <a:solidFill>
                  <a:srgbClr val="1A2E38"/>
                </a:solidFill>
                <a:latin typeface="Calibri" pitchFamily="34" charset="0"/>
                <a:ea typeface="Calibri" pitchFamily="34" charset="-122"/>
                <a:cs typeface="Calibri" pitchFamily="34" charset="-120"/>
              </a:rPr>
              <a:t>Tests whether the mean of a single sample differs significantly from a hypothesised population value (test value). The test value is usually a known benchmark, standard, target, or published norm.</a:t>
            </a:r>
            <a:endParaRPr lang="en-US" sz="1050" dirty="0"/>
          </a:p>
        </p:txBody>
      </p:sp>
      <p:sp>
        <p:nvSpPr>
          <p:cNvPr id="6" name="Shape 4"/>
          <p:cNvSpPr/>
          <p:nvPr/>
        </p:nvSpPr>
        <p:spPr>
          <a:xfrm>
            <a:off x="256032" y="1737360"/>
            <a:ext cx="4160520" cy="3337560"/>
          </a:xfrm>
          <a:prstGeom prst="roundRect">
            <a:avLst>
              <a:gd name="adj" fmla="val 246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810512"/>
            <a:ext cx="4005072" cy="329184"/>
          </a:xfrm>
          <a:prstGeom prst="roundRect">
            <a:avLst>
              <a:gd name="adj" fmla="val 16667"/>
            </a:avLst>
          </a:prstGeom>
          <a:solidFill>
            <a:srgbClr val="0E6B78"/>
          </a:solidFill>
          <a:ln w="12700">
            <a:solidFill>
              <a:srgbClr val="0E6B78"/>
            </a:solidFill>
            <a:prstDash val="solid"/>
          </a:ln>
        </p:spPr>
      </p:sp>
      <p:sp>
        <p:nvSpPr>
          <p:cNvPr id="8" name="Text 6"/>
          <p:cNvSpPr/>
          <p:nvPr/>
        </p:nvSpPr>
        <p:spPr>
          <a:xfrm>
            <a:off x="329184" y="181051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Steps and UAC Foods Example</a:t>
            </a:r>
            <a:endParaRPr lang="en-US" sz="1100" dirty="0"/>
          </a:p>
        </p:txBody>
      </p:sp>
      <p:sp>
        <p:nvSpPr>
          <p:cNvPr id="9" name="Text 7"/>
          <p:cNvSpPr/>
          <p:nvPr/>
        </p:nvSpPr>
        <p:spPr>
          <a:xfrm>
            <a:off x="365760" y="2194560"/>
            <a:ext cx="3950208" cy="548640"/>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Research Question: </a:t>
            </a:r>
            <a:pPr indent="0" marL="0">
              <a:buNone/>
            </a:pPr>
            <a:r>
              <a:rPr lang="en-US" sz="950" dirty="0">
                <a:solidFill>
                  <a:srgbClr val="1A2E38"/>
                </a:solidFill>
                <a:latin typeface="Calibri" pitchFamily="34" charset="0"/>
                <a:ea typeface="Calibri" pitchFamily="34" charset="-122"/>
                <a:cs typeface="Calibri" pitchFamily="34" charset="-120"/>
              </a:rPr>
              <a:t>Is the mean UAC Foods consumer satisfaction score (sat_mean) significantly different from the FMCG sector benchmark of 3.5 out of 5?</a:t>
            </a:r>
            <a:endParaRPr lang="en-US" sz="950" dirty="0"/>
          </a:p>
        </p:txBody>
      </p:sp>
      <p:sp>
        <p:nvSpPr>
          <p:cNvPr id="10" name="Text 8"/>
          <p:cNvSpPr/>
          <p:nvPr/>
        </p:nvSpPr>
        <p:spPr>
          <a:xfrm>
            <a:off x="365760" y="2798064"/>
            <a:ext cx="3950208" cy="256032"/>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H0: </a:t>
            </a:r>
            <a:pPr indent="0" marL="0">
              <a:buNone/>
            </a:pPr>
            <a:r>
              <a:rPr lang="en-US" sz="950" dirty="0">
                <a:solidFill>
                  <a:srgbClr val="1A2E38"/>
                </a:solidFill>
                <a:latin typeface="Calibri" pitchFamily="34" charset="0"/>
                <a:ea typeface="Calibri" pitchFamily="34" charset="-122"/>
                <a:cs typeface="Calibri" pitchFamily="34" charset="-120"/>
              </a:rPr>
              <a:t>Population mean sat_mean = 3.5 (no difference from benchmark)</a:t>
            </a:r>
            <a:endParaRPr lang="en-US" sz="950" dirty="0"/>
          </a:p>
        </p:txBody>
      </p:sp>
      <p:sp>
        <p:nvSpPr>
          <p:cNvPr id="11" name="Text 9"/>
          <p:cNvSpPr/>
          <p:nvPr/>
        </p:nvSpPr>
        <p:spPr>
          <a:xfrm>
            <a:off x="365760" y="3072384"/>
            <a:ext cx="3950208" cy="256032"/>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H1: </a:t>
            </a:r>
            <a:pPr indent="0" marL="0">
              <a:buNone/>
            </a:pPr>
            <a:r>
              <a:rPr lang="en-US" sz="950" dirty="0">
                <a:solidFill>
                  <a:srgbClr val="1A2E38"/>
                </a:solidFill>
                <a:latin typeface="Calibri" pitchFamily="34" charset="0"/>
                <a:ea typeface="Calibri" pitchFamily="34" charset="-122"/>
                <a:cs typeface="Calibri" pitchFamily="34" charset="-120"/>
              </a:rPr>
              <a:t>Population mean sat_mean ≠ 3.5 (differs from benchmark)</a:t>
            </a:r>
            <a:endParaRPr lang="en-US" sz="950" dirty="0"/>
          </a:p>
        </p:txBody>
      </p:sp>
      <p:sp>
        <p:nvSpPr>
          <p:cNvPr id="12" name="Shape 10"/>
          <p:cNvSpPr/>
          <p:nvPr/>
        </p:nvSpPr>
        <p:spPr>
          <a:xfrm>
            <a:off x="365760" y="3401568"/>
            <a:ext cx="256032" cy="256032"/>
          </a:xfrm>
          <a:prstGeom prst="ellipse">
            <a:avLst/>
          </a:prstGeom>
          <a:solidFill>
            <a:srgbClr val="0E6B78"/>
          </a:solidFill>
          <a:ln w="12700">
            <a:solidFill>
              <a:srgbClr val="0E6B78"/>
            </a:solidFill>
            <a:prstDash val="solid"/>
          </a:ln>
        </p:spPr>
      </p:sp>
      <p:sp>
        <p:nvSpPr>
          <p:cNvPr id="13" name="Text 11"/>
          <p:cNvSpPr/>
          <p:nvPr/>
        </p:nvSpPr>
        <p:spPr>
          <a:xfrm>
            <a:off x="365760" y="3401568"/>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14" name="Text 12"/>
          <p:cNvSpPr/>
          <p:nvPr/>
        </p:nvSpPr>
        <p:spPr>
          <a:xfrm>
            <a:off x="694944" y="3419856"/>
            <a:ext cx="3657600" cy="256032"/>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Analyze &gt; Compare Means &gt; One-Sample T-Test</a:t>
            </a:r>
            <a:endParaRPr lang="en-US" sz="950" dirty="0"/>
          </a:p>
        </p:txBody>
      </p:sp>
      <p:sp>
        <p:nvSpPr>
          <p:cNvPr id="15" name="Shape 13"/>
          <p:cNvSpPr/>
          <p:nvPr/>
        </p:nvSpPr>
        <p:spPr>
          <a:xfrm>
            <a:off x="365760" y="3749040"/>
            <a:ext cx="256032" cy="256032"/>
          </a:xfrm>
          <a:prstGeom prst="ellipse">
            <a:avLst/>
          </a:prstGeom>
          <a:solidFill>
            <a:srgbClr val="0E6B78"/>
          </a:solidFill>
          <a:ln w="12700">
            <a:solidFill>
              <a:srgbClr val="0E6B78"/>
            </a:solidFill>
            <a:prstDash val="solid"/>
          </a:ln>
        </p:spPr>
      </p:sp>
      <p:sp>
        <p:nvSpPr>
          <p:cNvPr id="16" name="Text 14"/>
          <p:cNvSpPr/>
          <p:nvPr/>
        </p:nvSpPr>
        <p:spPr>
          <a:xfrm>
            <a:off x="365760" y="374904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7" name="Text 15"/>
          <p:cNvSpPr/>
          <p:nvPr/>
        </p:nvSpPr>
        <p:spPr>
          <a:xfrm>
            <a:off x="694944" y="3767328"/>
            <a:ext cx="3657600" cy="256032"/>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Move sat_mean to the Test Variable(s) box</a:t>
            </a:r>
            <a:endParaRPr lang="en-US" sz="950" dirty="0"/>
          </a:p>
        </p:txBody>
      </p:sp>
      <p:sp>
        <p:nvSpPr>
          <p:cNvPr id="18" name="Shape 16"/>
          <p:cNvSpPr/>
          <p:nvPr/>
        </p:nvSpPr>
        <p:spPr>
          <a:xfrm>
            <a:off x="365760" y="4096512"/>
            <a:ext cx="256032" cy="256032"/>
          </a:xfrm>
          <a:prstGeom prst="ellipse">
            <a:avLst/>
          </a:prstGeom>
          <a:solidFill>
            <a:srgbClr val="0E6B78"/>
          </a:solidFill>
          <a:ln w="12700">
            <a:solidFill>
              <a:srgbClr val="0E6B78"/>
            </a:solidFill>
            <a:prstDash val="solid"/>
          </a:ln>
        </p:spPr>
      </p:sp>
      <p:sp>
        <p:nvSpPr>
          <p:cNvPr id="19" name="Text 17"/>
          <p:cNvSpPr/>
          <p:nvPr/>
        </p:nvSpPr>
        <p:spPr>
          <a:xfrm>
            <a:off x="365760" y="4096512"/>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20" name="Text 18"/>
          <p:cNvSpPr/>
          <p:nvPr/>
        </p:nvSpPr>
        <p:spPr>
          <a:xfrm>
            <a:off x="694944" y="4114800"/>
            <a:ext cx="3657600" cy="256032"/>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Type 3.5 in the Test Value field</a:t>
            </a:r>
            <a:endParaRPr lang="en-US" sz="950" dirty="0"/>
          </a:p>
        </p:txBody>
      </p:sp>
      <p:sp>
        <p:nvSpPr>
          <p:cNvPr id="21" name="Shape 19"/>
          <p:cNvSpPr/>
          <p:nvPr/>
        </p:nvSpPr>
        <p:spPr>
          <a:xfrm>
            <a:off x="365760" y="4443984"/>
            <a:ext cx="256032" cy="256032"/>
          </a:xfrm>
          <a:prstGeom prst="ellipse">
            <a:avLst/>
          </a:prstGeom>
          <a:solidFill>
            <a:srgbClr val="0E6B78"/>
          </a:solidFill>
          <a:ln w="12700">
            <a:solidFill>
              <a:srgbClr val="0E6B78"/>
            </a:solidFill>
            <a:prstDash val="solid"/>
          </a:ln>
        </p:spPr>
      </p:sp>
      <p:sp>
        <p:nvSpPr>
          <p:cNvPr id="22" name="Text 20"/>
          <p:cNvSpPr/>
          <p:nvPr/>
        </p:nvSpPr>
        <p:spPr>
          <a:xfrm>
            <a:off x="365760" y="4443984"/>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23" name="Text 21"/>
          <p:cNvSpPr/>
          <p:nvPr/>
        </p:nvSpPr>
        <p:spPr>
          <a:xfrm>
            <a:off x="694944" y="4462272"/>
            <a:ext cx="3657600" cy="256032"/>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Click Options: 95% confidence interval</a:t>
            </a:r>
            <a:endParaRPr lang="en-US" sz="950" dirty="0"/>
          </a:p>
        </p:txBody>
      </p:sp>
      <p:sp>
        <p:nvSpPr>
          <p:cNvPr id="24" name="Shape 22"/>
          <p:cNvSpPr/>
          <p:nvPr/>
        </p:nvSpPr>
        <p:spPr>
          <a:xfrm>
            <a:off x="365760" y="4791456"/>
            <a:ext cx="256032" cy="256032"/>
          </a:xfrm>
          <a:prstGeom prst="ellipse">
            <a:avLst/>
          </a:prstGeom>
          <a:solidFill>
            <a:srgbClr val="0E6B78"/>
          </a:solidFill>
          <a:ln w="12700">
            <a:solidFill>
              <a:srgbClr val="0E6B78"/>
            </a:solidFill>
            <a:prstDash val="solid"/>
          </a:ln>
        </p:spPr>
      </p:sp>
      <p:sp>
        <p:nvSpPr>
          <p:cNvPr id="25" name="Text 23"/>
          <p:cNvSpPr/>
          <p:nvPr/>
        </p:nvSpPr>
        <p:spPr>
          <a:xfrm>
            <a:off x="365760" y="4791456"/>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26" name="Text 24"/>
          <p:cNvSpPr/>
          <p:nvPr/>
        </p:nvSpPr>
        <p:spPr>
          <a:xfrm>
            <a:off x="694944" y="4809744"/>
            <a:ext cx="3657600" cy="256032"/>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Click OK</a:t>
            </a:r>
            <a:endParaRPr lang="en-US" sz="950" dirty="0"/>
          </a:p>
        </p:txBody>
      </p:sp>
      <p:sp>
        <p:nvSpPr>
          <p:cNvPr id="27" name="Shape 25"/>
          <p:cNvSpPr/>
          <p:nvPr/>
        </p:nvSpPr>
        <p:spPr>
          <a:xfrm>
            <a:off x="4681728" y="1737360"/>
            <a:ext cx="4160520" cy="3337560"/>
          </a:xfrm>
          <a:prstGeom prst="roundRect">
            <a:avLst>
              <a:gd name="adj" fmla="val 246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4754880" y="1810512"/>
            <a:ext cx="4005072" cy="329184"/>
          </a:xfrm>
          <a:prstGeom prst="roundRect">
            <a:avLst>
              <a:gd name="adj" fmla="val 16667"/>
            </a:avLst>
          </a:prstGeom>
          <a:solidFill>
            <a:srgbClr val="061A24"/>
          </a:solidFill>
          <a:ln w="12700">
            <a:solidFill>
              <a:srgbClr val="061A24"/>
            </a:solidFill>
            <a:prstDash val="solid"/>
          </a:ln>
        </p:spPr>
      </p:sp>
      <p:sp>
        <p:nvSpPr>
          <p:cNvPr id="29" name="Text 27"/>
          <p:cNvSpPr/>
          <p:nvPr/>
        </p:nvSpPr>
        <p:spPr>
          <a:xfrm>
            <a:off x="4754880" y="181051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SPSS Output Interpretation</a:t>
            </a:r>
            <a:endParaRPr lang="en-US" sz="1100" dirty="0"/>
          </a:p>
        </p:txBody>
      </p:sp>
      <p:sp>
        <p:nvSpPr>
          <p:cNvPr id="30" name="Text 28"/>
          <p:cNvSpPr/>
          <p:nvPr/>
        </p:nvSpPr>
        <p:spPr>
          <a:xfrm>
            <a:off x="4773168" y="2212848"/>
            <a:ext cx="3931920" cy="256032"/>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One-Sample Statistics</a:t>
            </a:r>
            <a:endParaRPr lang="en-US" sz="1000" dirty="0"/>
          </a:p>
        </p:txBody>
      </p:sp>
      <p:sp>
        <p:nvSpPr>
          <p:cNvPr id="31" name="Shape 29"/>
          <p:cNvSpPr/>
          <p:nvPr/>
        </p:nvSpPr>
        <p:spPr>
          <a:xfrm>
            <a:off x="4773168" y="2487168"/>
            <a:ext cx="914400" cy="292608"/>
          </a:xfrm>
          <a:prstGeom prst="rect">
            <a:avLst/>
          </a:prstGeom>
          <a:solidFill>
            <a:srgbClr val="061A24"/>
          </a:solidFill>
          <a:ln w="12700">
            <a:solidFill>
              <a:srgbClr val="061A24"/>
            </a:solidFill>
            <a:prstDash val="solid"/>
          </a:ln>
        </p:spPr>
      </p:sp>
      <p:sp>
        <p:nvSpPr>
          <p:cNvPr id="32" name="Text 30"/>
          <p:cNvSpPr/>
          <p:nvPr/>
        </p:nvSpPr>
        <p:spPr>
          <a:xfrm>
            <a:off x="4773168" y="2487168"/>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Variable</a:t>
            </a:r>
            <a:endParaRPr lang="en-US" sz="850" dirty="0"/>
          </a:p>
        </p:txBody>
      </p:sp>
      <p:sp>
        <p:nvSpPr>
          <p:cNvPr id="33" name="Shape 31"/>
          <p:cNvSpPr/>
          <p:nvPr/>
        </p:nvSpPr>
        <p:spPr>
          <a:xfrm>
            <a:off x="5687568" y="2487168"/>
            <a:ext cx="640080" cy="292608"/>
          </a:xfrm>
          <a:prstGeom prst="rect">
            <a:avLst/>
          </a:prstGeom>
          <a:solidFill>
            <a:srgbClr val="061A24"/>
          </a:solidFill>
          <a:ln w="12700">
            <a:solidFill>
              <a:srgbClr val="061A24"/>
            </a:solidFill>
            <a:prstDash val="solid"/>
          </a:ln>
        </p:spPr>
      </p:sp>
      <p:sp>
        <p:nvSpPr>
          <p:cNvPr id="34" name="Text 32"/>
          <p:cNvSpPr/>
          <p:nvPr/>
        </p:nvSpPr>
        <p:spPr>
          <a:xfrm>
            <a:off x="5687568" y="2487168"/>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35" name="Shape 33"/>
          <p:cNvSpPr/>
          <p:nvPr/>
        </p:nvSpPr>
        <p:spPr>
          <a:xfrm>
            <a:off x="6327648" y="2487168"/>
            <a:ext cx="658368" cy="292608"/>
          </a:xfrm>
          <a:prstGeom prst="rect">
            <a:avLst/>
          </a:prstGeom>
          <a:solidFill>
            <a:srgbClr val="061A24"/>
          </a:solidFill>
          <a:ln w="12700">
            <a:solidFill>
              <a:srgbClr val="061A24"/>
            </a:solidFill>
            <a:prstDash val="solid"/>
          </a:ln>
        </p:spPr>
      </p:sp>
      <p:sp>
        <p:nvSpPr>
          <p:cNvPr id="36" name="Text 34"/>
          <p:cNvSpPr/>
          <p:nvPr/>
        </p:nvSpPr>
        <p:spPr>
          <a:xfrm>
            <a:off x="6327648" y="2487168"/>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a:t>
            </a:r>
            <a:endParaRPr lang="en-US" sz="850" dirty="0"/>
          </a:p>
        </p:txBody>
      </p:sp>
      <p:sp>
        <p:nvSpPr>
          <p:cNvPr id="37" name="Shape 35"/>
          <p:cNvSpPr/>
          <p:nvPr/>
        </p:nvSpPr>
        <p:spPr>
          <a:xfrm>
            <a:off x="6986016" y="2487168"/>
            <a:ext cx="640080" cy="292608"/>
          </a:xfrm>
          <a:prstGeom prst="rect">
            <a:avLst/>
          </a:prstGeom>
          <a:solidFill>
            <a:srgbClr val="061A24"/>
          </a:solidFill>
          <a:ln w="12700">
            <a:solidFill>
              <a:srgbClr val="061A24"/>
            </a:solidFill>
            <a:prstDash val="solid"/>
          </a:ln>
        </p:spPr>
      </p:sp>
      <p:sp>
        <p:nvSpPr>
          <p:cNvPr id="38" name="Text 36"/>
          <p:cNvSpPr/>
          <p:nvPr/>
        </p:nvSpPr>
        <p:spPr>
          <a:xfrm>
            <a:off x="6986016" y="2487168"/>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Std Dev</a:t>
            </a:r>
            <a:endParaRPr lang="en-US" sz="850" dirty="0"/>
          </a:p>
        </p:txBody>
      </p:sp>
      <p:sp>
        <p:nvSpPr>
          <p:cNvPr id="39" name="Shape 37"/>
          <p:cNvSpPr/>
          <p:nvPr/>
        </p:nvSpPr>
        <p:spPr>
          <a:xfrm>
            <a:off x="7626096" y="2487168"/>
            <a:ext cx="640080" cy="292608"/>
          </a:xfrm>
          <a:prstGeom prst="rect">
            <a:avLst/>
          </a:prstGeom>
          <a:solidFill>
            <a:srgbClr val="061A24"/>
          </a:solidFill>
          <a:ln w="12700">
            <a:solidFill>
              <a:srgbClr val="061A24"/>
            </a:solidFill>
            <a:prstDash val="solid"/>
          </a:ln>
        </p:spPr>
      </p:sp>
      <p:sp>
        <p:nvSpPr>
          <p:cNvPr id="40" name="Text 38"/>
          <p:cNvSpPr/>
          <p:nvPr/>
        </p:nvSpPr>
        <p:spPr>
          <a:xfrm>
            <a:off x="7626096" y="2487168"/>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Std Error</a:t>
            </a:r>
            <a:endParaRPr lang="en-US" sz="850" dirty="0"/>
          </a:p>
        </p:txBody>
      </p:sp>
      <p:sp>
        <p:nvSpPr>
          <p:cNvPr id="41" name="Shape 39"/>
          <p:cNvSpPr/>
          <p:nvPr/>
        </p:nvSpPr>
        <p:spPr>
          <a:xfrm>
            <a:off x="4773168" y="2779776"/>
            <a:ext cx="914400" cy="292608"/>
          </a:xfrm>
          <a:prstGeom prst="rect">
            <a:avLst/>
          </a:prstGeom>
          <a:solidFill>
            <a:srgbClr val="EAF6FA"/>
          </a:solidFill>
          <a:ln w="6350">
            <a:solidFill>
              <a:srgbClr val="C0DEE8"/>
            </a:solidFill>
            <a:prstDash val="solid"/>
          </a:ln>
        </p:spPr>
      </p:sp>
      <p:sp>
        <p:nvSpPr>
          <p:cNvPr id="42" name="Text 40"/>
          <p:cNvSpPr/>
          <p:nvPr/>
        </p:nvSpPr>
        <p:spPr>
          <a:xfrm>
            <a:off x="4773168" y="2779776"/>
            <a:ext cx="91440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sat_mean</a:t>
            </a:r>
            <a:endParaRPr lang="en-US" sz="850" dirty="0"/>
          </a:p>
        </p:txBody>
      </p:sp>
      <p:sp>
        <p:nvSpPr>
          <p:cNvPr id="43" name="Shape 41"/>
          <p:cNvSpPr/>
          <p:nvPr/>
        </p:nvSpPr>
        <p:spPr>
          <a:xfrm>
            <a:off x="5687568" y="2779776"/>
            <a:ext cx="640080" cy="292608"/>
          </a:xfrm>
          <a:prstGeom prst="rect">
            <a:avLst/>
          </a:prstGeom>
          <a:solidFill>
            <a:srgbClr val="EAF6FA"/>
          </a:solidFill>
          <a:ln w="6350">
            <a:solidFill>
              <a:srgbClr val="C0DEE8"/>
            </a:solidFill>
            <a:prstDash val="solid"/>
          </a:ln>
        </p:spPr>
      </p:sp>
      <p:sp>
        <p:nvSpPr>
          <p:cNvPr id="44" name="Text 42"/>
          <p:cNvSpPr/>
          <p:nvPr/>
        </p:nvSpPr>
        <p:spPr>
          <a:xfrm>
            <a:off x="5687568" y="2779776"/>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450</a:t>
            </a:r>
            <a:endParaRPr lang="en-US" sz="850" dirty="0"/>
          </a:p>
        </p:txBody>
      </p:sp>
      <p:sp>
        <p:nvSpPr>
          <p:cNvPr id="45" name="Shape 43"/>
          <p:cNvSpPr/>
          <p:nvPr/>
        </p:nvSpPr>
        <p:spPr>
          <a:xfrm>
            <a:off x="6327648" y="2779776"/>
            <a:ext cx="658368" cy="292608"/>
          </a:xfrm>
          <a:prstGeom prst="rect">
            <a:avLst/>
          </a:prstGeom>
          <a:solidFill>
            <a:srgbClr val="EAF6FA"/>
          </a:solidFill>
          <a:ln w="6350">
            <a:solidFill>
              <a:srgbClr val="C0DEE8"/>
            </a:solidFill>
            <a:prstDash val="solid"/>
          </a:ln>
        </p:spPr>
      </p:sp>
      <p:sp>
        <p:nvSpPr>
          <p:cNvPr id="46" name="Text 44"/>
          <p:cNvSpPr/>
          <p:nvPr/>
        </p:nvSpPr>
        <p:spPr>
          <a:xfrm>
            <a:off x="6327648" y="2779776"/>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3.72</a:t>
            </a:r>
            <a:endParaRPr lang="en-US" sz="850" dirty="0"/>
          </a:p>
        </p:txBody>
      </p:sp>
      <p:sp>
        <p:nvSpPr>
          <p:cNvPr id="47" name="Shape 45"/>
          <p:cNvSpPr/>
          <p:nvPr/>
        </p:nvSpPr>
        <p:spPr>
          <a:xfrm>
            <a:off x="6986016" y="2779776"/>
            <a:ext cx="640080" cy="292608"/>
          </a:xfrm>
          <a:prstGeom prst="rect">
            <a:avLst/>
          </a:prstGeom>
          <a:solidFill>
            <a:srgbClr val="EAF6FA"/>
          </a:solidFill>
          <a:ln w="6350">
            <a:solidFill>
              <a:srgbClr val="C0DEE8"/>
            </a:solidFill>
            <a:prstDash val="solid"/>
          </a:ln>
        </p:spPr>
      </p:sp>
      <p:sp>
        <p:nvSpPr>
          <p:cNvPr id="48" name="Text 46"/>
          <p:cNvSpPr/>
          <p:nvPr/>
        </p:nvSpPr>
        <p:spPr>
          <a:xfrm>
            <a:off x="6986016" y="2779776"/>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0.84</a:t>
            </a:r>
            <a:endParaRPr lang="en-US" sz="850" dirty="0"/>
          </a:p>
        </p:txBody>
      </p:sp>
      <p:sp>
        <p:nvSpPr>
          <p:cNvPr id="49" name="Shape 47"/>
          <p:cNvSpPr/>
          <p:nvPr/>
        </p:nvSpPr>
        <p:spPr>
          <a:xfrm>
            <a:off x="7626096" y="2779776"/>
            <a:ext cx="640080" cy="292608"/>
          </a:xfrm>
          <a:prstGeom prst="rect">
            <a:avLst/>
          </a:prstGeom>
          <a:solidFill>
            <a:srgbClr val="EAF6FA"/>
          </a:solidFill>
          <a:ln w="6350">
            <a:solidFill>
              <a:srgbClr val="C0DEE8"/>
            </a:solidFill>
            <a:prstDash val="solid"/>
          </a:ln>
        </p:spPr>
      </p:sp>
      <p:sp>
        <p:nvSpPr>
          <p:cNvPr id="50" name="Text 48"/>
          <p:cNvSpPr/>
          <p:nvPr/>
        </p:nvSpPr>
        <p:spPr>
          <a:xfrm>
            <a:off x="7626096" y="2779776"/>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0.040</a:t>
            </a:r>
            <a:endParaRPr lang="en-US" sz="850" dirty="0"/>
          </a:p>
        </p:txBody>
      </p:sp>
      <p:sp>
        <p:nvSpPr>
          <p:cNvPr id="51" name="Text 49"/>
          <p:cNvSpPr/>
          <p:nvPr/>
        </p:nvSpPr>
        <p:spPr>
          <a:xfrm>
            <a:off x="4773168" y="3145536"/>
            <a:ext cx="3931920" cy="256032"/>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One-Sample Test  (Test Value = 3.5)</a:t>
            </a:r>
            <a:endParaRPr lang="en-US" sz="1000" dirty="0"/>
          </a:p>
        </p:txBody>
      </p:sp>
      <p:sp>
        <p:nvSpPr>
          <p:cNvPr id="52" name="Shape 50"/>
          <p:cNvSpPr/>
          <p:nvPr/>
        </p:nvSpPr>
        <p:spPr>
          <a:xfrm>
            <a:off x="4773168" y="3419856"/>
            <a:ext cx="548640" cy="292608"/>
          </a:xfrm>
          <a:prstGeom prst="rect">
            <a:avLst/>
          </a:prstGeom>
          <a:solidFill>
            <a:srgbClr val="061A24"/>
          </a:solidFill>
          <a:ln w="12700">
            <a:solidFill>
              <a:srgbClr val="061A24"/>
            </a:solidFill>
            <a:prstDash val="solid"/>
          </a:ln>
        </p:spPr>
      </p:sp>
      <p:sp>
        <p:nvSpPr>
          <p:cNvPr id="53" name="Text 51"/>
          <p:cNvSpPr/>
          <p:nvPr/>
        </p:nvSpPr>
        <p:spPr>
          <a:xfrm>
            <a:off x="4773168" y="3419856"/>
            <a:ext cx="5486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t>
            </a:r>
            <a:endParaRPr lang="en-US" sz="850" dirty="0"/>
          </a:p>
        </p:txBody>
      </p:sp>
      <p:sp>
        <p:nvSpPr>
          <p:cNvPr id="54" name="Shape 52"/>
          <p:cNvSpPr/>
          <p:nvPr/>
        </p:nvSpPr>
        <p:spPr>
          <a:xfrm>
            <a:off x="5321808" y="3419856"/>
            <a:ext cx="457200" cy="292608"/>
          </a:xfrm>
          <a:prstGeom prst="rect">
            <a:avLst/>
          </a:prstGeom>
          <a:solidFill>
            <a:srgbClr val="061A24"/>
          </a:solidFill>
          <a:ln w="12700">
            <a:solidFill>
              <a:srgbClr val="061A24"/>
            </a:solidFill>
            <a:prstDash val="solid"/>
          </a:ln>
        </p:spPr>
      </p:sp>
      <p:sp>
        <p:nvSpPr>
          <p:cNvPr id="55" name="Text 53"/>
          <p:cNvSpPr/>
          <p:nvPr/>
        </p:nvSpPr>
        <p:spPr>
          <a:xfrm>
            <a:off x="5321808" y="3419856"/>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56" name="Shape 54"/>
          <p:cNvSpPr/>
          <p:nvPr/>
        </p:nvSpPr>
        <p:spPr>
          <a:xfrm>
            <a:off x="5779008" y="3419856"/>
            <a:ext cx="804672" cy="292608"/>
          </a:xfrm>
          <a:prstGeom prst="rect">
            <a:avLst/>
          </a:prstGeom>
          <a:solidFill>
            <a:srgbClr val="061A24"/>
          </a:solidFill>
          <a:ln w="12700">
            <a:solidFill>
              <a:srgbClr val="061A24"/>
            </a:solidFill>
            <a:prstDash val="solid"/>
          </a:ln>
        </p:spPr>
      </p:sp>
      <p:sp>
        <p:nvSpPr>
          <p:cNvPr id="57" name="Text 55"/>
          <p:cNvSpPr/>
          <p:nvPr/>
        </p:nvSpPr>
        <p:spPr>
          <a:xfrm>
            <a:off x="5779008" y="3419856"/>
            <a:ext cx="80467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Sig.(2-tail)</a:t>
            </a:r>
            <a:endParaRPr lang="en-US" sz="850" dirty="0"/>
          </a:p>
        </p:txBody>
      </p:sp>
      <p:sp>
        <p:nvSpPr>
          <p:cNvPr id="58" name="Shape 56"/>
          <p:cNvSpPr/>
          <p:nvPr/>
        </p:nvSpPr>
        <p:spPr>
          <a:xfrm>
            <a:off x="6583680" y="3419856"/>
            <a:ext cx="749808" cy="292608"/>
          </a:xfrm>
          <a:prstGeom prst="rect">
            <a:avLst/>
          </a:prstGeom>
          <a:solidFill>
            <a:srgbClr val="061A24"/>
          </a:solidFill>
          <a:ln w="12700">
            <a:solidFill>
              <a:srgbClr val="061A24"/>
            </a:solidFill>
            <a:prstDash val="solid"/>
          </a:ln>
        </p:spPr>
      </p:sp>
      <p:sp>
        <p:nvSpPr>
          <p:cNvPr id="59" name="Text 57"/>
          <p:cNvSpPr/>
          <p:nvPr/>
        </p:nvSpPr>
        <p:spPr>
          <a:xfrm>
            <a:off x="6583680" y="3419856"/>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Diff</a:t>
            </a:r>
            <a:endParaRPr lang="en-US" sz="850" dirty="0"/>
          </a:p>
        </p:txBody>
      </p:sp>
      <p:sp>
        <p:nvSpPr>
          <p:cNvPr id="60" name="Shape 58"/>
          <p:cNvSpPr/>
          <p:nvPr/>
        </p:nvSpPr>
        <p:spPr>
          <a:xfrm>
            <a:off x="7333488" y="3419856"/>
            <a:ext cx="932688" cy="292608"/>
          </a:xfrm>
          <a:prstGeom prst="rect">
            <a:avLst/>
          </a:prstGeom>
          <a:solidFill>
            <a:srgbClr val="061A24"/>
          </a:solidFill>
          <a:ln w="12700">
            <a:solidFill>
              <a:srgbClr val="061A24"/>
            </a:solidFill>
            <a:prstDash val="solid"/>
          </a:ln>
        </p:spPr>
      </p:sp>
      <p:sp>
        <p:nvSpPr>
          <p:cNvPr id="61" name="Text 59"/>
          <p:cNvSpPr/>
          <p:nvPr/>
        </p:nvSpPr>
        <p:spPr>
          <a:xfrm>
            <a:off x="7333488" y="3419856"/>
            <a:ext cx="9326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95% CI</a:t>
            </a:r>
            <a:endParaRPr lang="en-US" sz="850" dirty="0"/>
          </a:p>
        </p:txBody>
      </p:sp>
      <p:sp>
        <p:nvSpPr>
          <p:cNvPr id="62" name="Shape 60"/>
          <p:cNvSpPr/>
          <p:nvPr/>
        </p:nvSpPr>
        <p:spPr>
          <a:xfrm>
            <a:off x="4773168" y="3712464"/>
            <a:ext cx="548640" cy="292608"/>
          </a:xfrm>
          <a:prstGeom prst="rect">
            <a:avLst/>
          </a:prstGeom>
          <a:solidFill>
            <a:srgbClr val="D0EEF4"/>
          </a:solidFill>
          <a:ln w="6350">
            <a:solidFill>
              <a:srgbClr val="C0DEE8"/>
            </a:solidFill>
            <a:prstDash val="solid"/>
          </a:ln>
        </p:spPr>
      </p:sp>
      <p:sp>
        <p:nvSpPr>
          <p:cNvPr id="63" name="Text 61"/>
          <p:cNvSpPr/>
          <p:nvPr/>
        </p:nvSpPr>
        <p:spPr>
          <a:xfrm>
            <a:off x="4773168" y="3712464"/>
            <a:ext cx="54864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5.50</a:t>
            </a:r>
            <a:endParaRPr lang="en-US" sz="850" dirty="0"/>
          </a:p>
        </p:txBody>
      </p:sp>
      <p:sp>
        <p:nvSpPr>
          <p:cNvPr id="64" name="Shape 62"/>
          <p:cNvSpPr/>
          <p:nvPr/>
        </p:nvSpPr>
        <p:spPr>
          <a:xfrm>
            <a:off x="5321808" y="3712464"/>
            <a:ext cx="457200" cy="292608"/>
          </a:xfrm>
          <a:prstGeom prst="rect">
            <a:avLst/>
          </a:prstGeom>
          <a:solidFill>
            <a:srgbClr val="EAF6FA"/>
          </a:solidFill>
          <a:ln w="6350">
            <a:solidFill>
              <a:srgbClr val="C0DEE8"/>
            </a:solidFill>
            <a:prstDash val="solid"/>
          </a:ln>
        </p:spPr>
      </p:sp>
      <p:sp>
        <p:nvSpPr>
          <p:cNvPr id="65" name="Text 63"/>
          <p:cNvSpPr/>
          <p:nvPr/>
        </p:nvSpPr>
        <p:spPr>
          <a:xfrm>
            <a:off x="5321808" y="3712464"/>
            <a:ext cx="4572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449</a:t>
            </a:r>
            <a:endParaRPr lang="en-US" sz="850" dirty="0"/>
          </a:p>
        </p:txBody>
      </p:sp>
      <p:sp>
        <p:nvSpPr>
          <p:cNvPr id="66" name="Shape 64"/>
          <p:cNvSpPr/>
          <p:nvPr/>
        </p:nvSpPr>
        <p:spPr>
          <a:xfrm>
            <a:off x="5779008" y="3712464"/>
            <a:ext cx="804672" cy="292608"/>
          </a:xfrm>
          <a:prstGeom prst="rect">
            <a:avLst/>
          </a:prstGeom>
          <a:solidFill>
            <a:srgbClr val="D0EEF4"/>
          </a:solidFill>
          <a:ln w="6350">
            <a:solidFill>
              <a:srgbClr val="C0DEE8"/>
            </a:solidFill>
            <a:prstDash val="solid"/>
          </a:ln>
        </p:spPr>
      </p:sp>
      <p:sp>
        <p:nvSpPr>
          <p:cNvPr id="67" name="Text 65"/>
          <p:cNvSpPr/>
          <p:nvPr/>
        </p:nvSpPr>
        <p:spPr>
          <a:xfrm>
            <a:off x="5779008" y="3712464"/>
            <a:ext cx="80467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.000</a:t>
            </a:r>
            <a:endParaRPr lang="en-US" sz="850" dirty="0"/>
          </a:p>
        </p:txBody>
      </p:sp>
      <p:sp>
        <p:nvSpPr>
          <p:cNvPr id="68" name="Shape 66"/>
          <p:cNvSpPr/>
          <p:nvPr/>
        </p:nvSpPr>
        <p:spPr>
          <a:xfrm>
            <a:off x="6583680" y="3712464"/>
            <a:ext cx="749808" cy="292608"/>
          </a:xfrm>
          <a:prstGeom prst="rect">
            <a:avLst/>
          </a:prstGeom>
          <a:solidFill>
            <a:srgbClr val="EAF6FA"/>
          </a:solidFill>
          <a:ln w="6350">
            <a:solidFill>
              <a:srgbClr val="C0DEE8"/>
            </a:solidFill>
            <a:prstDash val="solid"/>
          </a:ln>
        </p:spPr>
      </p:sp>
      <p:sp>
        <p:nvSpPr>
          <p:cNvPr id="69" name="Text 67"/>
          <p:cNvSpPr/>
          <p:nvPr/>
        </p:nvSpPr>
        <p:spPr>
          <a:xfrm>
            <a:off x="6583680" y="3712464"/>
            <a:ext cx="74980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.220</a:t>
            </a:r>
            <a:endParaRPr lang="en-US" sz="850" dirty="0"/>
          </a:p>
        </p:txBody>
      </p:sp>
      <p:sp>
        <p:nvSpPr>
          <p:cNvPr id="70" name="Shape 68"/>
          <p:cNvSpPr/>
          <p:nvPr/>
        </p:nvSpPr>
        <p:spPr>
          <a:xfrm>
            <a:off x="7333488" y="3712464"/>
            <a:ext cx="932688" cy="292608"/>
          </a:xfrm>
          <a:prstGeom prst="rect">
            <a:avLst/>
          </a:prstGeom>
          <a:solidFill>
            <a:srgbClr val="EAF6FA"/>
          </a:solidFill>
          <a:ln w="6350">
            <a:solidFill>
              <a:srgbClr val="C0DEE8"/>
            </a:solidFill>
            <a:prstDash val="solid"/>
          </a:ln>
        </p:spPr>
      </p:sp>
      <p:sp>
        <p:nvSpPr>
          <p:cNvPr id="71" name="Text 69"/>
          <p:cNvSpPr/>
          <p:nvPr/>
        </p:nvSpPr>
        <p:spPr>
          <a:xfrm>
            <a:off x="7333488" y="3712464"/>
            <a:ext cx="9326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 .298]</a:t>
            </a:r>
            <a:endParaRPr lang="en-US" sz="850" dirty="0"/>
          </a:p>
        </p:txBody>
      </p:sp>
      <p:sp>
        <p:nvSpPr>
          <p:cNvPr id="72" name="Text 70"/>
          <p:cNvSpPr/>
          <p:nvPr/>
        </p:nvSpPr>
        <p:spPr>
          <a:xfrm>
            <a:off x="4773168" y="4059936"/>
            <a:ext cx="3931920" cy="219456"/>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Interpretation:</a:t>
            </a:r>
            <a:endParaRPr lang="en-US" sz="1000" dirty="0"/>
          </a:p>
        </p:txBody>
      </p:sp>
      <p:sp>
        <p:nvSpPr>
          <p:cNvPr id="73" name="Text 71"/>
          <p:cNvSpPr/>
          <p:nvPr/>
        </p:nvSpPr>
        <p:spPr>
          <a:xfrm>
            <a:off x="4773168" y="4315968"/>
            <a:ext cx="3931920" cy="69494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t(449) = 5.50, p &lt; .001. Since p &lt; .05, REJECT H0. The mean satisfaction score (M = 3.72, SD = 0.84) is significantly HIGHER than the sector benchmark of 3.5. The 95% CI [.142, .298] confirms the difference is positive and does not include zero.</a:t>
            </a:r>
            <a:endParaRPr lang="en-US" sz="900" dirty="0"/>
          </a:p>
        </p:txBody>
      </p:sp>
      <p:sp>
        <p:nvSpPr>
          <p:cNvPr id="74" name="Shape 72"/>
          <p:cNvSpPr/>
          <p:nvPr/>
        </p:nvSpPr>
        <p:spPr>
          <a:xfrm>
            <a:off x="256032" y="5120640"/>
            <a:ext cx="8631936" cy="384048"/>
          </a:xfrm>
          <a:prstGeom prst="roundRect">
            <a:avLst>
              <a:gd name="adj" fmla="val 14286"/>
            </a:avLst>
          </a:prstGeom>
          <a:solidFill>
            <a:srgbClr val="FFFBEC"/>
          </a:solidFill>
          <a:ln w="19050">
            <a:solidFill>
              <a:srgbClr val="D4A017"/>
            </a:solidFill>
            <a:prstDash val="solid"/>
          </a:ln>
        </p:spPr>
      </p:sp>
      <p:sp>
        <p:nvSpPr>
          <p:cNvPr id="75" name="Text 73"/>
          <p:cNvSpPr/>
          <p:nvPr/>
        </p:nvSpPr>
        <p:spPr>
          <a:xfrm>
            <a:off x="384048" y="5120640"/>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APA Write-Up: A one-sample t-test indicated that UAC Foods consumer satisfaction (M = 3.72, SD = 0.84) was significantly higher than the FMCG sector benchmark of 3.5, t(449) = 5.50, p &lt; .001, 95% CI [0.14, 0.30].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Independent Samples T-Test - Comparing Two Independent Groups</a:t>
            </a:r>
            <a:endParaRPr lang="en-US" sz="2100" dirty="0"/>
          </a:p>
        </p:txBody>
      </p:sp>
      <p:sp>
        <p:nvSpPr>
          <p:cNvPr id="4" name="Shape 2"/>
          <p:cNvSpPr/>
          <p:nvPr/>
        </p:nvSpPr>
        <p:spPr>
          <a:xfrm>
            <a:off x="256032" y="1005840"/>
            <a:ext cx="8631936" cy="594360"/>
          </a:xfrm>
          <a:prstGeom prst="roundRect">
            <a:avLst>
              <a:gd name="adj" fmla="val 12308"/>
            </a:avLst>
          </a:prstGeom>
          <a:solidFill>
            <a:srgbClr val="E0F7FA"/>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48640"/>
          </a:xfrm>
          <a:prstGeom prst="rect">
            <a:avLst/>
          </a:prstGeom>
          <a:noFill/>
          <a:ln/>
        </p:spPr>
        <p:txBody>
          <a:bodyPr wrap="square" lIns="0" tIns="0" rIns="0" bIns="0" rtlCol="0" anchor="ctr"/>
          <a:lstStyle/>
          <a:p>
            <a:pPr indent="0" marL="0">
              <a:buNone/>
            </a:pPr>
            <a:r>
              <a:rPr lang="en-US" sz="1050" dirty="0">
                <a:solidFill>
                  <a:srgbClr val="1A2E38"/>
                </a:solidFill>
                <a:latin typeface="Calibri" pitchFamily="34" charset="0"/>
                <a:ea typeface="Calibri" pitchFamily="34" charset="-122"/>
                <a:cs typeface="Calibri" pitchFamily="34" charset="-120"/>
              </a:rPr>
              <a:t>Purpose: Tests whether the means of a scale DV differ significantly between two independent (unrelated) groups defined by a categorical IV. The most commonly used inferential test in social research.</a:t>
            </a:r>
            <a:endParaRPr lang="en-US" sz="1050" dirty="0"/>
          </a:p>
        </p:txBody>
      </p:sp>
      <p:sp>
        <p:nvSpPr>
          <p:cNvPr id="6" name="Shape 4"/>
          <p:cNvSpPr/>
          <p:nvPr/>
        </p:nvSpPr>
        <p:spPr>
          <a:xfrm>
            <a:off x="256032" y="1682496"/>
            <a:ext cx="2560320" cy="1874520"/>
          </a:xfrm>
          <a:prstGeom prst="roundRect">
            <a:avLst>
              <a:gd name="adj" fmla="val 3902"/>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7" name="Text 5"/>
          <p:cNvSpPr/>
          <p:nvPr/>
        </p:nvSpPr>
        <p:spPr>
          <a:xfrm>
            <a:off x="365760" y="1737360"/>
            <a:ext cx="2340864" cy="256032"/>
          </a:xfrm>
          <a:prstGeom prst="rect">
            <a:avLst/>
          </a:prstGeom>
          <a:noFill/>
          <a:ln/>
        </p:spPr>
        <p:txBody>
          <a:bodyPr wrap="square" lIns="0" tIns="0" rIns="0" bIns="0" rtlCol="0" anchor="ctr"/>
          <a:lstStyle/>
          <a:p>
            <a:pPr indent="0" marL="0">
              <a:buNone/>
            </a:pPr>
            <a:r>
              <a:rPr lang="en-US" sz="1050" b="1" dirty="0">
                <a:solidFill>
                  <a:srgbClr val="0E6B78"/>
                </a:solidFill>
                <a:latin typeface="Calibri" pitchFamily="34" charset="0"/>
                <a:ea typeface="Calibri" pitchFamily="34" charset="-122"/>
                <a:cs typeface="Calibri" pitchFamily="34" charset="-120"/>
              </a:rPr>
              <a:t>Assumptions</a:t>
            </a:r>
            <a:endParaRPr lang="en-US" sz="1050" dirty="0"/>
          </a:p>
        </p:txBody>
      </p:sp>
      <p:sp>
        <p:nvSpPr>
          <p:cNvPr id="8" name="Text 6"/>
          <p:cNvSpPr/>
          <p:nvPr/>
        </p:nvSpPr>
        <p:spPr>
          <a:xfrm>
            <a:off x="365760" y="2029968"/>
            <a:ext cx="2340864"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DV is scale (interval/ratio)</a:t>
            </a:r>
            <a:endParaRPr lang="en-US" sz="900" dirty="0"/>
          </a:p>
        </p:txBody>
      </p:sp>
      <p:sp>
        <p:nvSpPr>
          <p:cNvPr id="9" name="Text 7"/>
          <p:cNvSpPr/>
          <p:nvPr/>
        </p:nvSpPr>
        <p:spPr>
          <a:xfrm>
            <a:off x="365760" y="2322576"/>
            <a:ext cx="2340864"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IV has exactly 2 independent groups</a:t>
            </a:r>
            <a:endParaRPr lang="en-US" sz="900" dirty="0"/>
          </a:p>
        </p:txBody>
      </p:sp>
      <p:sp>
        <p:nvSpPr>
          <p:cNvPr id="10" name="Text 8"/>
          <p:cNvSpPr/>
          <p:nvPr/>
        </p:nvSpPr>
        <p:spPr>
          <a:xfrm>
            <a:off x="365760" y="2615184"/>
            <a:ext cx="2340864"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Cases in Group 1 are different from Group 2</a:t>
            </a:r>
            <a:endParaRPr lang="en-US" sz="900" dirty="0"/>
          </a:p>
        </p:txBody>
      </p:sp>
      <p:sp>
        <p:nvSpPr>
          <p:cNvPr id="11" name="Text 9"/>
          <p:cNvSpPr/>
          <p:nvPr/>
        </p:nvSpPr>
        <p:spPr>
          <a:xfrm>
            <a:off x="365760" y="2907792"/>
            <a:ext cx="2340864"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DV approximately normal in each group</a:t>
            </a:r>
            <a:endParaRPr lang="en-US" sz="900" dirty="0"/>
          </a:p>
        </p:txBody>
      </p:sp>
      <p:sp>
        <p:nvSpPr>
          <p:cNvPr id="12" name="Text 10"/>
          <p:cNvSpPr/>
          <p:nvPr/>
        </p:nvSpPr>
        <p:spPr>
          <a:xfrm>
            <a:off x="365760" y="3200400"/>
            <a:ext cx="2340864"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Homogeneity of variance (tested by Levene's)</a:t>
            </a:r>
            <a:endParaRPr lang="en-US" sz="900" dirty="0"/>
          </a:p>
        </p:txBody>
      </p:sp>
      <p:sp>
        <p:nvSpPr>
          <p:cNvPr id="13" name="Text 11"/>
          <p:cNvSpPr/>
          <p:nvPr/>
        </p:nvSpPr>
        <p:spPr>
          <a:xfrm>
            <a:off x="365760" y="3364992"/>
            <a:ext cx="2340864" cy="384048"/>
          </a:xfrm>
          <a:prstGeom prst="rect">
            <a:avLst/>
          </a:prstGeom>
          <a:noFill/>
          <a:ln/>
        </p:spPr>
        <p:txBody>
          <a:bodyPr wrap="square" lIns="0" tIns="0" rIns="0" bIns="0" rtlCol="0" anchor="ctr"/>
          <a:lstStyle/>
          <a:p>
            <a:pPr indent="0" marL="0">
              <a:buNone/>
            </a:pPr>
            <a:r>
              <a:rPr lang="en-US" sz="850" i="1" dirty="0">
                <a:solidFill>
                  <a:srgbClr val="0E6B78"/>
                </a:solidFill>
                <a:latin typeface="Calibri" pitchFamily="34" charset="0"/>
                <a:ea typeface="Calibri" pitchFamily="34" charset="-122"/>
                <a:cs typeface="Calibri" pitchFamily="34" charset="-120"/>
              </a:rPr>
              <a:t>Check normality: Explore &gt; Normality (Shapiro-Wilk). Levene's Test is automatic in output.</a:t>
            </a:r>
            <a:endParaRPr lang="en-US" sz="850" dirty="0"/>
          </a:p>
        </p:txBody>
      </p:sp>
      <p:sp>
        <p:nvSpPr>
          <p:cNvPr id="14" name="Shape 12"/>
          <p:cNvSpPr/>
          <p:nvPr/>
        </p:nvSpPr>
        <p:spPr>
          <a:xfrm>
            <a:off x="2944368" y="1682496"/>
            <a:ext cx="5943600" cy="3310128"/>
          </a:xfrm>
          <a:prstGeom prst="roundRect">
            <a:avLst>
              <a:gd name="adj" fmla="val 248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3017520" y="1755648"/>
            <a:ext cx="5797296" cy="329184"/>
          </a:xfrm>
          <a:prstGeom prst="roundRect">
            <a:avLst>
              <a:gd name="adj" fmla="val 16667"/>
            </a:avLst>
          </a:prstGeom>
          <a:solidFill>
            <a:srgbClr val="061A24"/>
          </a:solidFill>
          <a:ln w="12700">
            <a:solidFill>
              <a:srgbClr val="061A24"/>
            </a:solidFill>
            <a:prstDash val="solid"/>
          </a:ln>
        </p:spPr>
      </p:sp>
      <p:sp>
        <p:nvSpPr>
          <p:cNvPr id="16" name="Text 14"/>
          <p:cNvSpPr/>
          <p:nvPr/>
        </p:nvSpPr>
        <p:spPr>
          <a:xfrm>
            <a:off x="3017520" y="1755648"/>
            <a:ext cx="5797296" cy="329184"/>
          </a:xfrm>
          <a:prstGeom prst="rect">
            <a:avLst/>
          </a:prstGeom>
          <a:noFill/>
          <a:ln/>
        </p:spPr>
        <p:txBody>
          <a:bodyPr wrap="square" lIns="0" tIns="0" rIns="0" bIns="0" rtlCol="0" anchor="ctr"/>
          <a:lstStyle/>
          <a:p>
            <a:pPr algn="ctr" indent="0" marL="0">
              <a:buNone/>
            </a:pPr>
            <a:r>
              <a:rPr lang="en-US" sz="950" b="1" dirty="0">
                <a:solidFill>
                  <a:srgbClr val="F0C040"/>
                </a:solidFill>
                <a:latin typeface="Calibri" pitchFamily="34" charset="0"/>
                <a:ea typeface="Calibri" pitchFamily="34" charset="-122"/>
                <a:cs typeface="Calibri" pitchFamily="34" charset="-120"/>
              </a:rPr>
              <a:t>UAC Foods: Does sat_mean differ by gender?  (Analyze &gt; Compare Means &gt; Independent Samples T-Test)</a:t>
            </a:r>
            <a:endParaRPr lang="en-US" sz="950" dirty="0"/>
          </a:p>
        </p:txBody>
      </p:sp>
      <p:sp>
        <p:nvSpPr>
          <p:cNvPr id="17" name="Text 15"/>
          <p:cNvSpPr/>
          <p:nvPr/>
        </p:nvSpPr>
        <p:spPr>
          <a:xfrm>
            <a:off x="3035808" y="2139696"/>
            <a:ext cx="5760720" cy="237744"/>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Group Statistics</a:t>
            </a:r>
            <a:endParaRPr lang="en-US" sz="950" dirty="0"/>
          </a:p>
        </p:txBody>
      </p:sp>
      <p:sp>
        <p:nvSpPr>
          <p:cNvPr id="18" name="Shape 16"/>
          <p:cNvSpPr/>
          <p:nvPr/>
        </p:nvSpPr>
        <p:spPr>
          <a:xfrm>
            <a:off x="3035808" y="2395728"/>
            <a:ext cx="914400" cy="292608"/>
          </a:xfrm>
          <a:prstGeom prst="rect">
            <a:avLst/>
          </a:prstGeom>
          <a:solidFill>
            <a:srgbClr val="061A24"/>
          </a:solidFill>
          <a:ln w="12700">
            <a:solidFill>
              <a:srgbClr val="061A24"/>
            </a:solidFill>
            <a:prstDash val="solid"/>
          </a:ln>
        </p:spPr>
      </p:sp>
      <p:sp>
        <p:nvSpPr>
          <p:cNvPr id="19" name="Text 17"/>
          <p:cNvSpPr/>
          <p:nvPr/>
        </p:nvSpPr>
        <p:spPr>
          <a:xfrm>
            <a:off x="3035808" y="2395728"/>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Gender</a:t>
            </a:r>
            <a:endParaRPr lang="en-US" sz="850" dirty="0"/>
          </a:p>
        </p:txBody>
      </p:sp>
      <p:sp>
        <p:nvSpPr>
          <p:cNvPr id="20" name="Shape 18"/>
          <p:cNvSpPr/>
          <p:nvPr/>
        </p:nvSpPr>
        <p:spPr>
          <a:xfrm>
            <a:off x="3950208" y="2395728"/>
            <a:ext cx="566928" cy="292608"/>
          </a:xfrm>
          <a:prstGeom prst="rect">
            <a:avLst/>
          </a:prstGeom>
          <a:solidFill>
            <a:srgbClr val="061A24"/>
          </a:solidFill>
          <a:ln w="12700">
            <a:solidFill>
              <a:srgbClr val="061A24"/>
            </a:solidFill>
            <a:prstDash val="solid"/>
          </a:ln>
        </p:spPr>
      </p:sp>
      <p:sp>
        <p:nvSpPr>
          <p:cNvPr id="21" name="Text 19"/>
          <p:cNvSpPr/>
          <p:nvPr/>
        </p:nvSpPr>
        <p:spPr>
          <a:xfrm>
            <a:off x="3950208" y="2395728"/>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22" name="Shape 20"/>
          <p:cNvSpPr/>
          <p:nvPr/>
        </p:nvSpPr>
        <p:spPr>
          <a:xfrm>
            <a:off x="4517136" y="2395728"/>
            <a:ext cx="621792" cy="292608"/>
          </a:xfrm>
          <a:prstGeom prst="rect">
            <a:avLst/>
          </a:prstGeom>
          <a:solidFill>
            <a:srgbClr val="061A24"/>
          </a:solidFill>
          <a:ln w="12700">
            <a:solidFill>
              <a:srgbClr val="061A24"/>
            </a:solidFill>
            <a:prstDash val="solid"/>
          </a:ln>
        </p:spPr>
      </p:sp>
      <p:sp>
        <p:nvSpPr>
          <p:cNvPr id="23" name="Text 21"/>
          <p:cNvSpPr/>
          <p:nvPr/>
        </p:nvSpPr>
        <p:spPr>
          <a:xfrm>
            <a:off x="4517136" y="2395728"/>
            <a:ext cx="62179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a:t>
            </a:r>
            <a:endParaRPr lang="en-US" sz="850" dirty="0"/>
          </a:p>
        </p:txBody>
      </p:sp>
      <p:sp>
        <p:nvSpPr>
          <p:cNvPr id="24" name="Shape 22"/>
          <p:cNvSpPr/>
          <p:nvPr/>
        </p:nvSpPr>
        <p:spPr>
          <a:xfrm>
            <a:off x="5138928" y="2395728"/>
            <a:ext cx="658368" cy="292608"/>
          </a:xfrm>
          <a:prstGeom prst="rect">
            <a:avLst/>
          </a:prstGeom>
          <a:solidFill>
            <a:srgbClr val="061A24"/>
          </a:solidFill>
          <a:ln w="12700">
            <a:solidFill>
              <a:srgbClr val="061A24"/>
            </a:solidFill>
            <a:prstDash val="solid"/>
          </a:ln>
        </p:spPr>
      </p:sp>
      <p:sp>
        <p:nvSpPr>
          <p:cNvPr id="25" name="Text 23"/>
          <p:cNvSpPr/>
          <p:nvPr/>
        </p:nvSpPr>
        <p:spPr>
          <a:xfrm>
            <a:off x="5138928" y="2395728"/>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Std Dev</a:t>
            </a:r>
            <a:endParaRPr lang="en-US" sz="850" dirty="0"/>
          </a:p>
        </p:txBody>
      </p:sp>
      <p:sp>
        <p:nvSpPr>
          <p:cNvPr id="26" name="Shape 24"/>
          <p:cNvSpPr/>
          <p:nvPr/>
        </p:nvSpPr>
        <p:spPr>
          <a:xfrm>
            <a:off x="5797296" y="2395728"/>
            <a:ext cx="749808" cy="292608"/>
          </a:xfrm>
          <a:prstGeom prst="rect">
            <a:avLst/>
          </a:prstGeom>
          <a:solidFill>
            <a:srgbClr val="061A24"/>
          </a:solidFill>
          <a:ln w="12700">
            <a:solidFill>
              <a:srgbClr val="061A24"/>
            </a:solidFill>
            <a:prstDash val="solid"/>
          </a:ln>
        </p:spPr>
      </p:sp>
      <p:sp>
        <p:nvSpPr>
          <p:cNvPr id="27" name="Text 25"/>
          <p:cNvSpPr/>
          <p:nvPr/>
        </p:nvSpPr>
        <p:spPr>
          <a:xfrm>
            <a:off x="5797296" y="2395728"/>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Std Error</a:t>
            </a:r>
            <a:endParaRPr lang="en-US" sz="850" dirty="0"/>
          </a:p>
        </p:txBody>
      </p:sp>
      <p:sp>
        <p:nvSpPr>
          <p:cNvPr id="28" name="Shape 26"/>
          <p:cNvSpPr/>
          <p:nvPr/>
        </p:nvSpPr>
        <p:spPr>
          <a:xfrm>
            <a:off x="3035808" y="2688336"/>
            <a:ext cx="914400" cy="292608"/>
          </a:xfrm>
          <a:prstGeom prst="rect">
            <a:avLst/>
          </a:prstGeom>
          <a:solidFill>
            <a:srgbClr val="EAF6FA"/>
          </a:solidFill>
          <a:ln w="6350">
            <a:solidFill>
              <a:srgbClr val="C0DEE8"/>
            </a:solidFill>
            <a:prstDash val="solid"/>
          </a:ln>
        </p:spPr>
      </p:sp>
      <p:sp>
        <p:nvSpPr>
          <p:cNvPr id="29" name="Text 27"/>
          <p:cNvSpPr/>
          <p:nvPr/>
        </p:nvSpPr>
        <p:spPr>
          <a:xfrm>
            <a:off x="3035808" y="2688336"/>
            <a:ext cx="91440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Male (1)</a:t>
            </a:r>
            <a:endParaRPr lang="en-US" sz="850" dirty="0"/>
          </a:p>
        </p:txBody>
      </p:sp>
      <p:sp>
        <p:nvSpPr>
          <p:cNvPr id="30" name="Shape 28"/>
          <p:cNvSpPr/>
          <p:nvPr/>
        </p:nvSpPr>
        <p:spPr>
          <a:xfrm>
            <a:off x="3950208" y="2688336"/>
            <a:ext cx="566928" cy="292608"/>
          </a:xfrm>
          <a:prstGeom prst="rect">
            <a:avLst/>
          </a:prstGeom>
          <a:solidFill>
            <a:srgbClr val="EAF6FA"/>
          </a:solidFill>
          <a:ln w="6350">
            <a:solidFill>
              <a:srgbClr val="C0DEE8"/>
            </a:solidFill>
            <a:prstDash val="solid"/>
          </a:ln>
        </p:spPr>
      </p:sp>
      <p:sp>
        <p:nvSpPr>
          <p:cNvPr id="31" name="Text 29"/>
          <p:cNvSpPr/>
          <p:nvPr/>
        </p:nvSpPr>
        <p:spPr>
          <a:xfrm>
            <a:off x="3950208" y="2688336"/>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268</a:t>
            </a:r>
            <a:endParaRPr lang="en-US" sz="850" dirty="0"/>
          </a:p>
        </p:txBody>
      </p:sp>
      <p:sp>
        <p:nvSpPr>
          <p:cNvPr id="32" name="Shape 30"/>
          <p:cNvSpPr/>
          <p:nvPr/>
        </p:nvSpPr>
        <p:spPr>
          <a:xfrm>
            <a:off x="4517136" y="2688336"/>
            <a:ext cx="621792" cy="292608"/>
          </a:xfrm>
          <a:prstGeom prst="rect">
            <a:avLst/>
          </a:prstGeom>
          <a:solidFill>
            <a:srgbClr val="EAF6FA"/>
          </a:solidFill>
          <a:ln w="6350">
            <a:solidFill>
              <a:srgbClr val="C0DEE8"/>
            </a:solidFill>
            <a:prstDash val="solid"/>
          </a:ln>
        </p:spPr>
      </p:sp>
      <p:sp>
        <p:nvSpPr>
          <p:cNvPr id="33" name="Text 31"/>
          <p:cNvSpPr/>
          <p:nvPr/>
        </p:nvSpPr>
        <p:spPr>
          <a:xfrm>
            <a:off x="4517136" y="2688336"/>
            <a:ext cx="62179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3.64</a:t>
            </a:r>
            <a:endParaRPr lang="en-US" sz="850" dirty="0"/>
          </a:p>
        </p:txBody>
      </p:sp>
      <p:sp>
        <p:nvSpPr>
          <p:cNvPr id="34" name="Shape 32"/>
          <p:cNvSpPr/>
          <p:nvPr/>
        </p:nvSpPr>
        <p:spPr>
          <a:xfrm>
            <a:off x="5138928" y="2688336"/>
            <a:ext cx="658368" cy="292608"/>
          </a:xfrm>
          <a:prstGeom prst="rect">
            <a:avLst/>
          </a:prstGeom>
          <a:solidFill>
            <a:srgbClr val="EAF6FA"/>
          </a:solidFill>
          <a:ln w="6350">
            <a:solidFill>
              <a:srgbClr val="C0DEE8"/>
            </a:solidFill>
            <a:prstDash val="solid"/>
          </a:ln>
        </p:spPr>
      </p:sp>
      <p:sp>
        <p:nvSpPr>
          <p:cNvPr id="35" name="Text 33"/>
          <p:cNvSpPr/>
          <p:nvPr/>
        </p:nvSpPr>
        <p:spPr>
          <a:xfrm>
            <a:off x="5138928" y="2688336"/>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0.82</a:t>
            </a:r>
            <a:endParaRPr lang="en-US" sz="850" dirty="0"/>
          </a:p>
        </p:txBody>
      </p:sp>
      <p:sp>
        <p:nvSpPr>
          <p:cNvPr id="36" name="Shape 34"/>
          <p:cNvSpPr/>
          <p:nvPr/>
        </p:nvSpPr>
        <p:spPr>
          <a:xfrm>
            <a:off x="5797296" y="2688336"/>
            <a:ext cx="749808" cy="292608"/>
          </a:xfrm>
          <a:prstGeom prst="rect">
            <a:avLst/>
          </a:prstGeom>
          <a:solidFill>
            <a:srgbClr val="EAF6FA"/>
          </a:solidFill>
          <a:ln w="6350">
            <a:solidFill>
              <a:srgbClr val="C0DEE8"/>
            </a:solidFill>
            <a:prstDash val="solid"/>
          </a:ln>
        </p:spPr>
      </p:sp>
      <p:sp>
        <p:nvSpPr>
          <p:cNvPr id="37" name="Text 35"/>
          <p:cNvSpPr/>
          <p:nvPr/>
        </p:nvSpPr>
        <p:spPr>
          <a:xfrm>
            <a:off x="5797296" y="2688336"/>
            <a:ext cx="74980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0.050</a:t>
            </a:r>
            <a:endParaRPr lang="en-US" sz="850" dirty="0"/>
          </a:p>
        </p:txBody>
      </p:sp>
      <p:sp>
        <p:nvSpPr>
          <p:cNvPr id="38" name="Shape 36"/>
          <p:cNvSpPr/>
          <p:nvPr/>
        </p:nvSpPr>
        <p:spPr>
          <a:xfrm>
            <a:off x="3035808" y="2980944"/>
            <a:ext cx="914400" cy="292608"/>
          </a:xfrm>
          <a:prstGeom prst="rect">
            <a:avLst/>
          </a:prstGeom>
          <a:solidFill>
            <a:srgbClr val="FFFFFF"/>
          </a:solidFill>
          <a:ln w="6350">
            <a:solidFill>
              <a:srgbClr val="C0DEE8"/>
            </a:solidFill>
            <a:prstDash val="solid"/>
          </a:ln>
        </p:spPr>
      </p:sp>
      <p:sp>
        <p:nvSpPr>
          <p:cNvPr id="39" name="Text 37"/>
          <p:cNvSpPr/>
          <p:nvPr/>
        </p:nvSpPr>
        <p:spPr>
          <a:xfrm>
            <a:off x="3035808" y="2980944"/>
            <a:ext cx="91440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Female (2)</a:t>
            </a:r>
            <a:endParaRPr lang="en-US" sz="850" dirty="0"/>
          </a:p>
        </p:txBody>
      </p:sp>
      <p:sp>
        <p:nvSpPr>
          <p:cNvPr id="40" name="Shape 38"/>
          <p:cNvSpPr/>
          <p:nvPr/>
        </p:nvSpPr>
        <p:spPr>
          <a:xfrm>
            <a:off x="3950208" y="2980944"/>
            <a:ext cx="566928" cy="292608"/>
          </a:xfrm>
          <a:prstGeom prst="rect">
            <a:avLst/>
          </a:prstGeom>
          <a:solidFill>
            <a:srgbClr val="FFFFFF"/>
          </a:solidFill>
          <a:ln w="6350">
            <a:solidFill>
              <a:srgbClr val="C0DEE8"/>
            </a:solidFill>
            <a:prstDash val="solid"/>
          </a:ln>
        </p:spPr>
      </p:sp>
      <p:sp>
        <p:nvSpPr>
          <p:cNvPr id="41" name="Text 39"/>
          <p:cNvSpPr/>
          <p:nvPr/>
        </p:nvSpPr>
        <p:spPr>
          <a:xfrm>
            <a:off x="3950208" y="2980944"/>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182</a:t>
            </a:r>
            <a:endParaRPr lang="en-US" sz="850" dirty="0"/>
          </a:p>
        </p:txBody>
      </p:sp>
      <p:sp>
        <p:nvSpPr>
          <p:cNvPr id="42" name="Shape 40"/>
          <p:cNvSpPr/>
          <p:nvPr/>
        </p:nvSpPr>
        <p:spPr>
          <a:xfrm>
            <a:off x="4517136" y="2980944"/>
            <a:ext cx="621792" cy="292608"/>
          </a:xfrm>
          <a:prstGeom prst="rect">
            <a:avLst/>
          </a:prstGeom>
          <a:solidFill>
            <a:srgbClr val="FFFFFF"/>
          </a:solidFill>
          <a:ln w="6350">
            <a:solidFill>
              <a:srgbClr val="C0DEE8"/>
            </a:solidFill>
            <a:prstDash val="solid"/>
          </a:ln>
        </p:spPr>
      </p:sp>
      <p:sp>
        <p:nvSpPr>
          <p:cNvPr id="43" name="Text 41"/>
          <p:cNvSpPr/>
          <p:nvPr/>
        </p:nvSpPr>
        <p:spPr>
          <a:xfrm>
            <a:off x="4517136" y="2980944"/>
            <a:ext cx="62179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3.84</a:t>
            </a:r>
            <a:endParaRPr lang="en-US" sz="850" dirty="0"/>
          </a:p>
        </p:txBody>
      </p:sp>
      <p:sp>
        <p:nvSpPr>
          <p:cNvPr id="44" name="Shape 42"/>
          <p:cNvSpPr/>
          <p:nvPr/>
        </p:nvSpPr>
        <p:spPr>
          <a:xfrm>
            <a:off x="5138928" y="2980944"/>
            <a:ext cx="658368" cy="292608"/>
          </a:xfrm>
          <a:prstGeom prst="rect">
            <a:avLst/>
          </a:prstGeom>
          <a:solidFill>
            <a:srgbClr val="FFFFFF"/>
          </a:solidFill>
          <a:ln w="6350">
            <a:solidFill>
              <a:srgbClr val="C0DEE8"/>
            </a:solidFill>
            <a:prstDash val="solid"/>
          </a:ln>
        </p:spPr>
      </p:sp>
      <p:sp>
        <p:nvSpPr>
          <p:cNvPr id="45" name="Text 43"/>
          <p:cNvSpPr/>
          <p:nvPr/>
        </p:nvSpPr>
        <p:spPr>
          <a:xfrm>
            <a:off x="5138928" y="2980944"/>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0.86</a:t>
            </a:r>
            <a:endParaRPr lang="en-US" sz="850" dirty="0"/>
          </a:p>
        </p:txBody>
      </p:sp>
      <p:sp>
        <p:nvSpPr>
          <p:cNvPr id="46" name="Shape 44"/>
          <p:cNvSpPr/>
          <p:nvPr/>
        </p:nvSpPr>
        <p:spPr>
          <a:xfrm>
            <a:off x="5797296" y="2980944"/>
            <a:ext cx="749808" cy="292608"/>
          </a:xfrm>
          <a:prstGeom prst="rect">
            <a:avLst/>
          </a:prstGeom>
          <a:solidFill>
            <a:srgbClr val="FFFFFF"/>
          </a:solidFill>
          <a:ln w="6350">
            <a:solidFill>
              <a:srgbClr val="C0DEE8"/>
            </a:solidFill>
            <a:prstDash val="solid"/>
          </a:ln>
        </p:spPr>
      </p:sp>
      <p:sp>
        <p:nvSpPr>
          <p:cNvPr id="47" name="Text 45"/>
          <p:cNvSpPr/>
          <p:nvPr/>
        </p:nvSpPr>
        <p:spPr>
          <a:xfrm>
            <a:off x="5797296" y="2980944"/>
            <a:ext cx="74980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0.064</a:t>
            </a:r>
            <a:endParaRPr lang="en-US" sz="850" dirty="0"/>
          </a:p>
        </p:txBody>
      </p:sp>
      <p:sp>
        <p:nvSpPr>
          <p:cNvPr id="48" name="Text 46"/>
          <p:cNvSpPr/>
          <p:nvPr/>
        </p:nvSpPr>
        <p:spPr>
          <a:xfrm>
            <a:off x="3035808" y="3291840"/>
            <a:ext cx="5760720" cy="237744"/>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Independent Samples Test</a:t>
            </a:r>
            <a:endParaRPr lang="en-US" sz="950" dirty="0"/>
          </a:p>
        </p:txBody>
      </p:sp>
      <p:sp>
        <p:nvSpPr>
          <p:cNvPr id="49" name="Shape 47"/>
          <p:cNvSpPr/>
          <p:nvPr/>
        </p:nvSpPr>
        <p:spPr>
          <a:xfrm>
            <a:off x="3035808" y="3547872"/>
            <a:ext cx="1371600" cy="292608"/>
          </a:xfrm>
          <a:prstGeom prst="rect">
            <a:avLst/>
          </a:prstGeom>
          <a:solidFill>
            <a:srgbClr val="061A24"/>
          </a:solidFill>
          <a:ln w="12700">
            <a:solidFill>
              <a:srgbClr val="061A24"/>
            </a:solidFill>
            <a:prstDash val="solid"/>
          </a:ln>
        </p:spPr>
      </p:sp>
      <p:sp>
        <p:nvSpPr>
          <p:cNvPr id="50" name="Text 48"/>
          <p:cNvSpPr/>
          <p:nvPr/>
        </p:nvSpPr>
        <p:spPr>
          <a:xfrm>
            <a:off x="3035808" y="3547872"/>
            <a:ext cx="13716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Levene F</a:t>
            </a:r>
            <a:endParaRPr lang="en-US" sz="850" dirty="0"/>
          </a:p>
        </p:txBody>
      </p:sp>
      <p:sp>
        <p:nvSpPr>
          <p:cNvPr id="51" name="Shape 49"/>
          <p:cNvSpPr/>
          <p:nvPr/>
        </p:nvSpPr>
        <p:spPr>
          <a:xfrm>
            <a:off x="4407408" y="3547872"/>
            <a:ext cx="475488" cy="292608"/>
          </a:xfrm>
          <a:prstGeom prst="rect">
            <a:avLst/>
          </a:prstGeom>
          <a:solidFill>
            <a:srgbClr val="061A24"/>
          </a:solidFill>
          <a:ln w="12700">
            <a:solidFill>
              <a:srgbClr val="061A24"/>
            </a:solidFill>
            <a:prstDash val="solid"/>
          </a:ln>
        </p:spPr>
      </p:sp>
      <p:sp>
        <p:nvSpPr>
          <p:cNvPr id="52" name="Text 50"/>
          <p:cNvSpPr/>
          <p:nvPr/>
        </p:nvSpPr>
        <p:spPr>
          <a:xfrm>
            <a:off x="4407408" y="3547872"/>
            <a:ext cx="4754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Lev Sig</a:t>
            </a:r>
            <a:endParaRPr lang="en-US" sz="850" dirty="0"/>
          </a:p>
        </p:txBody>
      </p:sp>
      <p:sp>
        <p:nvSpPr>
          <p:cNvPr id="53" name="Shape 51"/>
          <p:cNvSpPr/>
          <p:nvPr/>
        </p:nvSpPr>
        <p:spPr>
          <a:xfrm>
            <a:off x="4882896" y="3547872"/>
            <a:ext cx="457200" cy="292608"/>
          </a:xfrm>
          <a:prstGeom prst="rect">
            <a:avLst/>
          </a:prstGeom>
          <a:solidFill>
            <a:srgbClr val="061A24"/>
          </a:solidFill>
          <a:ln w="12700">
            <a:solidFill>
              <a:srgbClr val="061A24"/>
            </a:solidFill>
            <a:prstDash val="solid"/>
          </a:ln>
        </p:spPr>
      </p:sp>
      <p:sp>
        <p:nvSpPr>
          <p:cNvPr id="54" name="Text 52"/>
          <p:cNvSpPr/>
          <p:nvPr/>
        </p:nvSpPr>
        <p:spPr>
          <a:xfrm>
            <a:off x="4882896" y="3547872"/>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t>
            </a:r>
            <a:endParaRPr lang="en-US" sz="850" dirty="0"/>
          </a:p>
        </p:txBody>
      </p:sp>
      <p:sp>
        <p:nvSpPr>
          <p:cNvPr id="55" name="Shape 53"/>
          <p:cNvSpPr/>
          <p:nvPr/>
        </p:nvSpPr>
        <p:spPr>
          <a:xfrm>
            <a:off x="5340096" y="3547872"/>
            <a:ext cx="475488" cy="292608"/>
          </a:xfrm>
          <a:prstGeom prst="rect">
            <a:avLst/>
          </a:prstGeom>
          <a:solidFill>
            <a:srgbClr val="061A24"/>
          </a:solidFill>
          <a:ln w="12700">
            <a:solidFill>
              <a:srgbClr val="061A24"/>
            </a:solidFill>
            <a:prstDash val="solid"/>
          </a:ln>
        </p:spPr>
      </p:sp>
      <p:sp>
        <p:nvSpPr>
          <p:cNvPr id="56" name="Text 54"/>
          <p:cNvSpPr/>
          <p:nvPr/>
        </p:nvSpPr>
        <p:spPr>
          <a:xfrm>
            <a:off x="5340096" y="3547872"/>
            <a:ext cx="4754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57" name="Shape 55"/>
          <p:cNvSpPr/>
          <p:nvPr/>
        </p:nvSpPr>
        <p:spPr>
          <a:xfrm>
            <a:off x="5815584" y="3547872"/>
            <a:ext cx="566928" cy="292608"/>
          </a:xfrm>
          <a:prstGeom prst="rect">
            <a:avLst/>
          </a:prstGeom>
          <a:solidFill>
            <a:srgbClr val="061A24"/>
          </a:solidFill>
          <a:ln w="12700">
            <a:solidFill>
              <a:srgbClr val="061A24"/>
            </a:solidFill>
            <a:prstDash val="solid"/>
          </a:ln>
        </p:spPr>
      </p:sp>
      <p:sp>
        <p:nvSpPr>
          <p:cNvPr id="58" name="Text 56"/>
          <p:cNvSpPr/>
          <p:nvPr/>
        </p:nvSpPr>
        <p:spPr>
          <a:xfrm>
            <a:off x="5815584" y="3547872"/>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Sig(2-tail)</a:t>
            </a:r>
            <a:endParaRPr lang="en-US" sz="850" dirty="0"/>
          </a:p>
        </p:txBody>
      </p:sp>
      <p:sp>
        <p:nvSpPr>
          <p:cNvPr id="59" name="Shape 57"/>
          <p:cNvSpPr/>
          <p:nvPr/>
        </p:nvSpPr>
        <p:spPr>
          <a:xfrm>
            <a:off x="6382512" y="3547872"/>
            <a:ext cx="749808" cy="292608"/>
          </a:xfrm>
          <a:prstGeom prst="rect">
            <a:avLst/>
          </a:prstGeom>
          <a:solidFill>
            <a:srgbClr val="061A24"/>
          </a:solidFill>
          <a:ln w="12700">
            <a:solidFill>
              <a:srgbClr val="061A24"/>
            </a:solidFill>
            <a:prstDash val="solid"/>
          </a:ln>
        </p:spPr>
      </p:sp>
      <p:sp>
        <p:nvSpPr>
          <p:cNvPr id="60" name="Text 58"/>
          <p:cNvSpPr/>
          <p:nvPr/>
        </p:nvSpPr>
        <p:spPr>
          <a:xfrm>
            <a:off x="6382512" y="3547872"/>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Diff</a:t>
            </a:r>
            <a:endParaRPr lang="en-US" sz="850" dirty="0"/>
          </a:p>
        </p:txBody>
      </p:sp>
      <p:sp>
        <p:nvSpPr>
          <p:cNvPr id="61" name="Shape 59"/>
          <p:cNvSpPr/>
          <p:nvPr/>
        </p:nvSpPr>
        <p:spPr>
          <a:xfrm>
            <a:off x="7132320" y="3547872"/>
            <a:ext cx="731520" cy="292608"/>
          </a:xfrm>
          <a:prstGeom prst="rect">
            <a:avLst/>
          </a:prstGeom>
          <a:solidFill>
            <a:srgbClr val="061A24"/>
          </a:solidFill>
          <a:ln w="12700">
            <a:solidFill>
              <a:srgbClr val="061A24"/>
            </a:solidFill>
            <a:prstDash val="solid"/>
          </a:ln>
        </p:spPr>
      </p:sp>
      <p:sp>
        <p:nvSpPr>
          <p:cNvPr id="62" name="Text 60"/>
          <p:cNvSpPr/>
          <p:nvPr/>
        </p:nvSpPr>
        <p:spPr>
          <a:xfrm>
            <a:off x="7132320" y="3547872"/>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95% CI</a:t>
            </a:r>
            <a:endParaRPr lang="en-US" sz="850" dirty="0"/>
          </a:p>
        </p:txBody>
      </p:sp>
      <p:sp>
        <p:nvSpPr>
          <p:cNvPr id="63" name="Shape 61"/>
          <p:cNvSpPr/>
          <p:nvPr/>
        </p:nvSpPr>
        <p:spPr>
          <a:xfrm>
            <a:off x="3035808" y="3840480"/>
            <a:ext cx="1371600" cy="292608"/>
          </a:xfrm>
          <a:prstGeom prst="rect">
            <a:avLst/>
          </a:prstGeom>
          <a:solidFill>
            <a:srgbClr val="EAF6FA"/>
          </a:solidFill>
          <a:ln w="6350">
            <a:solidFill>
              <a:srgbClr val="C0DEE8"/>
            </a:solidFill>
            <a:prstDash val="solid"/>
          </a:ln>
        </p:spPr>
      </p:sp>
      <p:sp>
        <p:nvSpPr>
          <p:cNvPr id="64" name="Text 62"/>
          <p:cNvSpPr/>
          <p:nvPr/>
        </p:nvSpPr>
        <p:spPr>
          <a:xfrm>
            <a:off x="3035808" y="3840480"/>
            <a:ext cx="137160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Equal var assumed</a:t>
            </a:r>
            <a:endParaRPr lang="en-US" sz="850" dirty="0"/>
          </a:p>
        </p:txBody>
      </p:sp>
      <p:sp>
        <p:nvSpPr>
          <p:cNvPr id="65" name="Shape 63"/>
          <p:cNvSpPr/>
          <p:nvPr/>
        </p:nvSpPr>
        <p:spPr>
          <a:xfrm>
            <a:off x="4407408" y="3840480"/>
            <a:ext cx="475488" cy="292608"/>
          </a:xfrm>
          <a:prstGeom prst="rect">
            <a:avLst/>
          </a:prstGeom>
          <a:solidFill>
            <a:srgbClr val="EAF6FA"/>
          </a:solidFill>
          <a:ln w="6350">
            <a:solidFill>
              <a:srgbClr val="C0DEE8"/>
            </a:solidFill>
            <a:prstDash val="solid"/>
          </a:ln>
        </p:spPr>
      </p:sp>
      <p:sp>
        <p:nvSpPr>
          <p:cNvPr id="66" name="Text 64"/>
          <p:cNvSpPr/>
          <p:nvPr/>
        </p:nvSpPr>
        <p:spPr>
          <a:xfrm>
            <a:off x="4407408" y="3840480"/>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0.42</a:t>
            </a:r>
            <a:endParaRPr lang="en-US" sz="850" dirty="0"/>
          </a:p>
        </p:txBody>
      </p:sp>
      <p:sp>
        <p:nvSpPr>
          <p:cNvPr id="67" name="Shape 65"/>
          <p:cNvSpPr/>
          <p:nvPr/>
        </p:nvSpPr>
        <p:spPr>
          <a:xfrm>
            <a:off x="4882896" y="3840480"/>
            <a:ext cx="457200" cy="292608"/>
          </a:xfrm>
          <a:prstGeom prst="rect">
            <a:avLst/>
          </a:prstGeom>
          <a:solidFill>
            <a:srgbClr val="EAF6FA"/>
          </a:solidFill>
          <a:ln w="6350">
            <a:solidFill>
              <a:srgbClr val="C0DEE8"/>
            </a:solidFill>
            <a:prstDash val="solid"/>
          </a:ln>
        </p:spPr>
      </p:sp>
      <p:sp>
        <p:nvSpPr>
          <p:cNvPr id="68" name="Text 66"/>
          <p:cNvSpPr/>
          <p:nvPr/>
        </p:nvSpPr>
        <p:spPr>
          <a:xfrm>
            <a:off x="4882896" y="3840480"/>
            <a:ext cx="4572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.518</a:t>
            </a:r>
            <a:endParaRPr lang="en-US" sz="850" dirty="0"/>
          </a:p>
        </p:txBody>
      </p:sp>
      <p:sp>
        <p:nvSpPr>
          <p:cNvPr id="69" name="Shape 67"/>
          <p:cNvSpPr/>
          <p:nvPr/>
        </p:nvSpPr>
        <p:spPr>
          <a:xfrm>
            <a:off x="5340096" y="3840480"/>
            <a:ext cx="475488" cy="292608"/>
          </a:xfrm>
          <a:prstGeom prst="rect">
            <a:avLst/>
          </a:prstGeom>
          <a:solidFill>
            <a:srgbClr val="D0EEF4"/>
          </a:solidFill>
          <a:ln w="6350">
            <a:solidFill>
              <a:srgbClr val="C0DEE8"/>
            </a:solidFill>
            <a:prstDash val="solid"/>
          </a:ln>
        </p:spPr>
      </p:sp>
      <p:sp>
        <p:nvSpPr>
          <p:cNvPr id="70" name="Text 68"/>
          <p:cNvSpPr/>
          <p:nvPr/>
        </p:nvSpPr>
        <p:spPr>
          <a:xfrm>
            <a:off x="5340096" y="3840480"/>
            <a:ext cx="47548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-2.47</a:t>
            </a:r>
            <a:endParaRPr lang="en-US" sz="850" dirty="0"/>
          </a:p>
        </p:txBody>
      </p:sp>
      <p:sp>
        <p:nvSpPr>
          <p:cNvPr id="71" name="Shape 69"/>
          <p:cNvSpPr/>
          <p:nvPr/>
        </p:nvSpPr>
        <p:spPr>
          <a:xfrm>
            <a:off x="5815584" y="3840480"/>
            <a:ext cx="566928" cy="292608"/>
          </a:xfrm>
          <a:prstGeom prst="rect">
            <a:avLst/>
          </a:prstGeom>
          <a:solidFill>
            <a:srgbClr val="EAF6FA"/>
          </a:solidFill>
          <a:ln w="6350">
            <a:solidFill>
              <a:srgbClr val="C0DEE8"/>
            </a:solidFill>
            <a:prstDash val="solid"/>
          </a:ln>
        </p:spPr>
      </p:sp>
      <p:sp>
        <p:nvSpPr>
          <p:cNvPr id="72" name="Text 70"/>
          <p:cNvSpPr/>
          <p:nvPr/>
        </p:nvSpPr>
        <p:spPr>
          <a:xfrm>
            <a:off x="5815584" y="3840480"/>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448</a:t>
            </a:r>
            <a:endParaRPr lang="en-US" sz="850" dirty="0"/>
          </a:p>
        </p:txBody>
      </p:sp>
      <p:sp>
        <p:nvSpPr>
          <p:cNvPr id="73" name="Shape 71"/>
          <p:cNvSpPr/>
          <p:nvPr/>
        </p:nvSpPr>
        <p:spPr>
          <a:xfrm>
            <a:off x="6382512" y="3840480"/>
            <a:ext cx="749808" cy="292608"/>
          </a:xfrm>
          <a:prstGeom prst="rect">
            <a:avLst/>
          </a:prstGeom>
          <a:solidFill>
            <a:srgbClr val="D0EEF4"/>
          </a:solidFill>
          <a:ln w="6350">
            <a:solidFill>
              <a:srgbClr val="C0DEE8"/>
            </a:solidFill>
            <a:prstDash val="solid"/>
          </a:ln>
        </p:spPr>
      </p:sp>
      <p:sp>
        <p:nvSpPr>
          <p:cNvPr id="74" name="Text 72"/>
          <p:cNvSpPr/>
          <p:nvPr/>
        </p:nvSpPr>
        <p:spPr>
          <a:xfrm>
            <a:off x="6382512" y="3840480"/>
            <a:ext cx="74980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.014</a:t>
            </a:r>
            <a:endParaRPr lang="en-US" sz="850" dirty="0"/>
          </a:p>
        </p:txBody>
      </p:sp>
      <p:sp>
        <p:nvSpPr>
          <p:cNvPr id="75" name="Shape 73"/>
          <p:cNvSpPr/>
          <p:nvPr/>
        </p:nvSpPr>
        <p:spPr>
          <a:xfrm>
            <a:off x="7132320" y="3840480"/>
            <a:ext cx="731520" cy="292608"/>
          </a:xfrm>
          <a:prstGeom prst="rect">
            <a:avLst/>
          </a:prstGeom>
          <a:solidFill>
            <a:srgbClr val="EAF6FA"/>
          </a:solidFill>
          <a:ln w="6350">
            <a:solidFill>
              <a:srgbClr val="C0DEE8"/>
            </a:solidFill>
            <a:prstDash val="solid"/>
          </a:ln>
        </p:spPr>
      </p:sp>
      <p:sp>
        <p:nvSpPr>
          <p:cNvPr id="76" name="Text 74"/>
          <p:cNvSpPr/>
          <p:nvPr/>
        </p:nvSpPr>
        <p:spPr>
          <a:xfrm>
            <a:off x="7132320" y="3840480"/>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-.200</a:t>
            </a:r>
            <a:endParaRPr lang="en-US" sz="850" dirty="0"/>
          </a:p>
        </p:txBody>
      </p:sp>
      <p:sp>
        <p:nvSpPr>
          <p:cNvPr id="77" name="Shape 75"/>
          <p:cNvSpPr/>
          <p:nvPr/>
        </p:nvSpPr>
        <p:spPr>
          <a:xfrm>
            <a:off x="7863840" y="3840480"/>
            <a:ext cx="1042416" cy="292608"/>
          </a:xfrm>
          <a:prstGeom prst="rect">
            <a:avLst/>
          </a:prstGeom>
          <a:solidFill>
            <a:srgbClr val="EAF6FA"/>
          </a:solidFill>
          <a:ln w="6350">
            <a:solidFill>
              <a:srgbClr val="C0DEE8"/>
            </a:solidFill>
            <a:prstDash val="solid"/>
          </a:ln>
        </p:spPr>
      </p:sp>
      <p:sp>
        <p:nvSpPr>
          <p:cNvPr id="78" name="Text 76"/>
          <p:cNvSpPr/>
          <p:nvPr/>
        </p:nvSpPr>
        <p:spPr>
          <a:xfrm>
            <a:off x="7863840" y="3840480"/>
            <a:ext cx="10424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[-.356, -.044]</a:t>
            </a:r>
            <a:endParaRPr lang="en-US" sz="850" dirty="0"/>
          </a:p>
        </p:txBody>
      </p:sp>
      <p:sp>
        <p:nvSpPr>
          <p:cNvPr id="79" name="Shape 77"/>
          <p:cNvSpPr/>
          <p:nvPr/>
        </p:nvSpPr>
        <p:spPr>
          <a:xfrm>
            <a:off x="3035808" y="4133088"/>
            <a:ext cx="1371600" cy="292608"/>
          </a:xfrm>
          <a:prstGeom prst="rect">
            <a:avLst/>
          </a:prstGeom>
          <a:solidFill>
            <a:srgbClr val="FFFFFF"/>
          </a:solidFill>
          <a:ln w="6350">
            <a:solidFill>
              <a:srgbClr val="C0DEE8"/>
            </a:solidFill>
            <a:prstDash val="solid"/>
          </a:ln>
        </p:spPr>
      </p:sp>
      <p:sp>
        <p:nvSpPr>
          <p:cNvPr id="80" name="Text 78"/>
          <p:cNvSpPr/>
          <p:nvPr/>
        </p:nvSpPr>
        <p:spPr>
          <a:xfrm>
            <a:off x="3035808" y="4133088"/>
            <a:ext cx="137160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Equal var NOT assumed</a:t>
            </a:r>
            <a:endParaRPr lang="en-US" sz="850" dirty="0"/>
          </a:p>
        </p:txBody>
      </p:sp>
      <p:sp>
        <p:nvSpPr>
          <p:cNvPr id="81" name="Shape 79"/>
          <p:cNvSpPr/>
          <p:nvPr/>
        </p:nvSpPr>
        <p:spPr>
          <a:xfrm>
            <a:off x="4407408" y="4133088"/>
            <a:ext cx="475488" cy="292608"/>
          </a:xfrm>
          <a:prstGeom prst="rect">
            <a:avLst/>
          </a:prstGeom>
          <a:solidFill>
            <a:srgbClr val="FFFFFF"/>
          </a:solidFill>
          <a:ln w="6350">
            <a:solidFill>
              <a:srgbClr val="C0DEE8"/>
            </a:solidFill>
            <a:prstDash val="solid"/>
          </a:ln>
        </p:spPr>
      </p:sp>
      <p:sp>
        <p:nvSpPr>
          <p:cNvPr id="82" name="Text 80"/>
          <p:cNvSpPr/>
          <p:nvPr/>
        </p:nvSpPr>
        <p:spPr>
          <a:xfrm>
            <a:off x="4407408" y="4133088"/>
            <a:ext cx="475488" cy="292608"/>
          </a:xfrm>
          <a:prstGeom prst="rect">
            <a:avLst/>
          </a:prstGeom>
          <a:noFill/>
          <a:ln/>
        </p:spPr>
        <p:txBody>
          <a:bodyPr wrap="square" lIns="0" tIns="0" rIns="0" bIns="0" rtlCol="0" anchor="ctr"/>
          <a:lstStyle/>
          <a:p>
            <a:pPr algn="ctr" indent="0" marL="0">
              <a:buNone/>
            </a:pPr>
            <a:endParaRPr lang="en-US" sz="850" dirty="0"/>
          </a:p>
        </p:txBody>
      </p:sp>
      <p:sp>
        <p:nvSpPr>
          <p:cNvPr id="83" name="Shape 81"/>
          <p:cNvSpPr/>
          <p:nvPr/>
        </p:nvSpPr>
        <p:spPr>
          <a:xfrm>
            <a:off x="4882896" y="4133088"/>
            <a:ext cx="457200" cy="292608"/>
          </a:xfrm>
          <a:prstGeom prst="rect">
            <a:avLst/>
          </a:prstGeom>
          <a:solidFill>
            <a:srgbClr val="FFFFFF"/>
          </a:solidFill>
          <a:ln w="6350">
            <a:solidFill>
              <a:srgbClr val="C0DEE8"/>
            </a:solidFill>
            <a:prstDash val="solid"/>
          </a:ln>
        </p:spPr>
      </p:sp>
      <p:sp>
        <p:nvSpPr>
          <p:cNvPr id="84" name="Text 82"/>
          <p:cNvSpPr/>
          <p:nvPr/>
        </p:nvSpPr>
        <p:spPr>
          <a:xfrm>
            <a:off x="4882896" y="4133088"/>
            <a:ext cx="457200" cy="292608"/>
          </a:xfrm>
          <a:prstGeom prst="rect">
            <a:avLst/>
          </a:prstGeom>
          <a:noFill/>
          <a:ln/>
        </p:spPr>
        <p:txBody>
          <a:bodyPr wrap="square" lIns="0" tIns="0" rIns="0" bIns="0" rtlCol="0" anchor="ctr"/>
          <a:lstStyle/>
          <a:p>
            <a:pPr algn="ctr" indent="0" marL="0">
              <a:buNone/>
            </a:pPr>
            <a:endParaRPr lang="en-US" sz="850" dirty="0"/>
          </a:p>
        </p:txBody>
      </p:sp>
      <p:sp>
        <p:nvSpPr>
          <p:cNvPr id="85" name="Shape 83"/>
          <p:cNvSpPr/>
          <p:nvPr/>
        </p:nvSpPr>
        <p:spPr>
          <a:xfrm>
            <a:off x="5340096" y="4133088"/>
            <a:ext cx="475488" cy="292608"/>
          </a:xfrm>
          <a:prstGeom prst="rect">
            <a:avLst/>
          </a:prstGeom>
          <a:solidFill>
            <a:srgbClr val="FFFFFF"/>
          </a:solidFill>
          <a:ln w="6350">
            <a:solidFill>
              <a:srgbClr val="C0DEE8"/>
            </a:solidFill>
            <a:prstDash val="solid"/>
          </a:ln>
        </p:spPr>
      </p:sp>
      <p:sp>
        <p:nvSpPr>
          <p:cNvPr id="86" name="Text 84"/>
          <p:cNvSpPr/>
          <p:nvPr/>
        </p:nvSpPr>
        <p:spPr>
          <a:xfrm>
            <a:off x="5340096" y="4133088"/>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-2.44</a:t>
            </a:r>
            <a:endParaRPr lang="en-US" sz="850" dirty="0"/>
          </a:p>
        </p:txBody>
      </p:sp>
      <p:sp>
        <p:nvSpPr>
          <p:cNvPr id="87" name="Shape 85"/>
          <p:cNvSpPr/>
          <p:nvPr/>
        </p:nvSpPr>
        <p:spPr>
          <a:xfrm>
            <a:off x="5815584" y="4133088"/>
            <a:ext cx="566928" cy="292608"/>
          </a:xfrm>
          <a:prstGeom prst="rect">
            <a:avLst/>
          </a:prstGeom>
          <a:solidFill>
            <a:srgbClr val="FFFFFF"/>
          </a:solidFill>
          <a:ln w="6350">
            <a:solidFill>
              <a:srgbClr val="C0DEE8"/>
            </a:solidFill>
            <a:prstDash val="solid"/>
          </a:ln>
        </p:spPr>
      </p:sp>
      <p:sp>
        <p:nvSpPr>
          <p:cNvPr id="88" name="Text 86"/>
          <p:cNvSpPr/>
          <p:nvPr/>
        </p:nvSpPr>
        <p:spPr>
          <a:xfrm>
            <a:off x="5815584" y="4133088"/>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357.2</a:t>
            </a:r>
            <a:endParaRPr lang="en-US" sz="850" dirty="0"/>
          </a:p>
        </p:txBody>
      </p:sp>
      <p:sp>
        <p:nvSpPr>
          <p:cNvPr id="89" name="Shape 87"/>
          <p:cNvSpPr/>
          <p:nvPr/>
        </p:nvSpPr>
        <p:spPr>
          <a:xfrm>
            <a:off x="6382512" y="4133088"/>
            <a:ext cx="749808" cy="292608"/>
          </a:xfrm>
          <a:prstGeom prst="rect">
            <a:avLst/>
          </a:prstGeom>
          <a:solidFill>
            <a:srgbClr val="FFFFFF"/>
          </a:solidFill>
          <a:ln w="6350">
            <a:solidFill>
              <a:srgbClr val="C0DEE8"/>
            </a:solidFill>
            <a:prstDash val="solid"/>
          </a:ln>
        </p:spPr>
      </p:sp>
      <p:sp>
        <p:nvSpPr>
          <p:cNvPr id="90" name="Text 88"/>
          <p:cNvSpPr/>
          <p:nvPr/>
        </p:nvSpPr>
        <p:spPr>
          <a:xfrm>
            <a:off x="6382512" y="4133088"/>
            <a:ext cx="74980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.015</a:t>
            </a:r>
            <a:endParaRPr lang="en-US" sz="850" dirty="0"/>
          </a:p>
        </p:txBody>
      </p:sp>
      <p:sp>
        <p:nvSpPr>
          <p:cNvPr id="91" name="Shape 89"/>
          <p:cNvSpPr/>
          <p:nvPr/>
        </p:nvSpPr>
        <p:spPr>
          <a:xfrm>
            <a:off x="7132320" y="4133088"/>
            <a:ext cx="731520" cy="292608"/>
          </a:xfrm>
          <a:prstGeom prst="rect">
            <a:avLst/>
          </a:prstGeom>
          <a:solidFill>
            <a:srgbClr val="FFFFFF"/>
          </a:solidFill>
          <a:ln w="6350">
            <a:solidFill>
              <a:srgbClr val="C0DEE8"/>
            </a:solidFill>
            <a:prstDash val="solid"/>
          </a:ln>
        </p:spPr>
      </p:sp>
      <p:sp>
        <p:nvSpPr>
          <p:cNvPr id="92" name="Text 90"/>
          <p:cNvSpPr/>
          <p:nvPr/>
        </p:nvSpPr>
        <p:spPr>
          <a:xfrm>
            <a:off x="7132320" y="4133088"/>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-.200</a:t>
            </a:r>
            <a:endParaRPr lang="en-US" sz="850" dirty="0"/>
          </a:p>
        </p:txBody>
      </p:sp>
      <p:sp>
        <p:nvSpPr>
          <p:cNvPr id="93" name="Shape 91"/>
          <p:cNvSpPr/>
          <p:nvPr/>
        </p:nvSpPr>
        <p:spPr>
          <a:xfrm>
            <a:off x="7863840" y="4133088"/>
            <a:ext cx="1042416" cy="292608"/>
          </a:xfrm>
          <a:prstGeom prst="rect">
            <a:avLst/>
          </a:prstGeom>
          <a:solidFill>
            <a:srgbClr val="FFFFFF"/>
          </a:solidFill>
          <a:ln w="6350">
            <a:solidFill>
              <a:srgbClr val="C0DEE8"/>
            </a:solidFill>
            <a:prstDash val="solid"/>
          </a:ln>
        </p:spPr>
      </p:sp>
      <p:sp>
        <p:nvSpPr>
          <p:cNvPr id="94" name="Text 92"/>
          <p:cNvSpPr/>
          <p:nvPr/>
        </p:nvSpPr>
        <p:spPr>
          <a:xfrm>
            <a:off x="7863840" y="4133088"/>
            <a:ext cx="10424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[-.361, -.039]</a:t>
            </a:r>
            <a:endParaRPr lang="en-US" sz="850" dirty="0"/>
          </a:p>
        </p:txBody>
      </p:sp>
      <p:sp>
        <p:nvSpPr>
          <p:cNvPr id="95" name="Text 93"/>
          <p:cNvSpPr/>
          <p:nvPr/>
        </p:nvSpPr>
        <p:spPr>
          <a:xfrm>
            <a:off x="3035808" y="4700016"/>
            <a:ext cx="5760720" cy="438912"/>
          </a:xfrm>
          <a:prstGeom prst="rect">
            <a:avLst/>
          </a:prstGeom>
          <a:noFill/>
          <a:ln/>
        </p:spPr>
        <p:txBody>
          <a:bodyPr wrap="square" lIns="0" tIns="0" rIns="0" bIns="0" rtlCol="0" anchor="ctr"/>
          <a:lstStyle/>
          <a:p>
            <a:pPr indent="0" marL="0">
              <a:buNone/>
            </a:pPr>
            <a:r>
              <a:rPr lang="en-US" sz="900" b="1" dirty="0">
                <a:solidFill>
                  <a:srgbClr val="0E6B78"/>
                </a:solidFill>
                <a:latin typeface="Calibri" pitchFamily="34" charset="0"/>
                <a:ea typeface="Calibri" pitchFamily="34" charset="-122"/>
                <a:cs typeface="Calibri" pitchFamily="34" charset="-120"/>
              </a:rPr>
              <a:t>Step 1 - Check Levene's: </a:t>
            </a:r>
            <a:pPr indent="0" marL="0">
              <a:buNone/>
            </a:pPr>
            <a:r>
              <a:rPr lang="en-US" sz="900" dirty="0">
                <a:solidFill>
                  <a:srgbClr val="1A2E38"/>
                </a:solidFill>
                <a:latin typeface="Calibri" pitchFamily="34" charset="0"/>
                <a:ea typeface="Calibri" pitchFamily="34" charset="-122"/>
                <a:cs typeface="Calibri" pitchFamily="34" charset="-120"/>
              </a:rPr>
              <a:t>F = 0.42, Sig = .518 &gt; .05 → use Equal variances assumed row.  </a:t>
            </a:r>
            <a:pPr indent="0" marL="0">
              <a:buNone/>
            </a:pPr>
            <a:r>
              <a:rPr lang="en-US" sz="900" b="1" dirty="0">
                <a:solidFill>
                  <a:srgbClr val="0E6B78"/>
                </a:solidFill>
                <a:latin typeface="Calibri" pitchFamily="34" charset="0"/>
                <a:ea typeface="Calibri" pitchFamily="34" charset="-122"/>
                <a:cs typeface="Calibri" pitchFamily="34" charset="-120"/>
              </a:rPr>
              <a:t>Step 2 - Check Sig.(2-tail): </a:t>
            </a:r>
            <a:pPr indent="0" marL="0">
              <a:buNone/>
            </a:pPr>
            <a:r>
              <a:rPr lang="en-US" sz="900" dirty="0">
                <a:solidFill>
                  <a:srgbClr val="1A2E38"/>
                </a:solidFill>
                <a:latin typeface="Calibri" pitchFamily="34" charset="0"/>
                <a:ea typeface="Calibri" pitchFamily="34" charset="-122"/>
                <a:cs typeface="Calibri" pitchFamily="34" charset="-120"/>
              </a:rPr>
              <a:t>p = .014 &lt; .05 → REJECT H0. Female consumers are significantly more satisfied than male consumers.</a:t>
            </a:r>
            <a:endParaRPr lang="en-US" sz="900" dirty="0"/>
          </a:p>
        </p:txBody>
      </p:sp>
      <p:sp>
        <p:nvSpPr>
          <p:cNvPr id="96" name="Shape 94"/>
          <p:cNvSpPr/>
          <p:nvPr/>
        </p:nvSpPr>
        <p:spPr>
          <a:xfrm>
            <a:off x="256032" y="5157216"/>
            <a:ext cx="8631936" cy="347472"/>
          </a:xfrm>
          <a:prstGeom prst="roundRect">
            <a:avLst>
              <a:gd name="adj" fmla="val 15789"/>
            </a:avLst>
          </a:prstGeom>
          <a:solidFill>
            <a:srgbClr val="E0F7FA"/>
          </a:solidFill>
          <a:ln w="19050">
            <a:solidFill>
              <a:srgbClr val="17A2B8"/>
            </a:solidFill>
            <a:prstDash val="solid"/>
          </a:ln>
        </p:spPr>
      </p:sp>
      <p:sp>
        <p:nvSpPr>
          <p:cNvPr id="97" name="Text 95"/>
          <p:cNvSpPr/>
          <p:nvPr/>
        </p:nvSpPr>
        <p:spPr>
          <a:xfrm>
            <a:off x="384048" y="5157216"/>
            <a:ext cx="8449056" cy="347472"/>
          </a:xfrm>
          <a:prstGeom prst="rect">
            <a:avLst/>
          </a:prstGeom>
          <a:noFill/>
          <a:ln/>
        </p:spPr>
        <p:txBody>
          <a:bodyPr wrap="square" lIns="0" tIns="0" rIns="0" bIns="0" rtlCol="0" anchor="ctr"/>
          <a:lstStyle/>
          <a:p>
            <a:pPr indent="0" marL="0">
              <a:buNone/>
            </a:pPr>
            <a:r>
              <a:rPr lang="en-US" sz="1000" dirty="0">
                <a:solidFill>
                  <a:srgbClr val="005662"/>
                </a:solidFill>
                <a:latin typeface="Calibri" pitchFamily="34" charset="0"/>
                <a:ea typeface="Calibri" pitchFamily="34" charset="-122"/>
                <a:cs typeface="Calibri" pitchFamily="34" charset="-120"/>
              </a:rPr>
              <a:t>APA: An independent t-test found female UAC consumers (M=3.84, SD=0.86) scored significantly higher in satisfaction than males (M=3.64, SD=0.82), t(448)=-2.47, p=.014, d=0.24 (small effect).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E6B78"/>
          </a:solidFill>
          <a:ln w="12700">
            <a:solidFill>
              <a:srgbClr val="0E6B7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Paired Samples T-Test - Same Group Measured at Two Points</a:t>
            </a:r>
            <a:endParaRPr lang="en-US" sz="2100" dirty="0"/>
          </a:p>
        </p:txBody>
      </p:sp>
      <p:sp>
        <p:nvSpPr>
          <p:cNvPr id="4" name="Shape 2"/>
          <p:cNvSpPr/>
          <p:nvPr/>
        </p:nvSpPr>
        <p:spPr>
          <a:xfrm>
            <a:off x="256032" y="1005840"/>
            <a:ext cx="8631936" cy="594360"/>
          </a:xfrm>
          <a:prstGeom prst="roundRect">
            <a:avLst>
              <a:gd name="adj" fmla="val 12308"/>
            </a:avLst>
          </a:prstGeom>
          <a:solidFill>
            <a:srgbClr val="E0F7FA"/>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48640"/>
          </a:xfrm>
          <a:prstGeom prst="rect">
            <a:avLst/>
          </a:prstGeom>
          <a:noFill/>
          <a:ln/>
        </p:spPr>
        <p:txBody>
          <a:bodyPr wrap="square" lIns="0" tIns="0" rIns="0" bIns="0" rtlCol="0" anchor="ctr"/>
          <a:lstStyle/>
          <a:p>
            <a:pPr indent="0" marL="0">
              <a:buNone/>
            </a:pPr>
            <a:r>
              <a:rPr lang="en-US" sz="1050" dirty="0">
                <a:solidFill>
                  <a:srgbClr val="1A2E38"/>
                </a:solidFill>
                <a:latin typeface="Calibri" pitchFamily="34" charset="0"/>
                <a:ea typeface="Calibri" pitchFamily="34" charset="-122"/>
                <a:cs typeface="Calibri" pitchFamily="34" charset="-120"/>
              </a:rPr>
              <a:t>Purpose: Tests whether the mean of a scale DV changes significantly between two related measurements from the SAME participants. Used for pre-test/post-test designs, before/after interventions, or two matched conditions.</a:t>
            </a:r>
            <a:endParaRPr lang="en-US" sz="1050" dirty="0"/>
          </a:p>
        </p:txBody>
      </p:sp>
      <p:sp>
        <p:nvSpPr>
          <p:cNvPr id="6" name="Shape 4"/>
          <p:cNvSpPr/>
          <p:nvPr/>
        </p:nvSpPr>
        <p:spPr>
          <a:xfrm>
            <a:off x="256032" y="1682496"/>
            <a:ext cx="4160520" cy="3337560"/>
          </a:xfrm>
          <a:prstGeom prst="roundRect">
            <a:avLst>
              <a:gd name="adj" fmla="val 246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55648"/>
            <a:ext cx="4005072" cy="329184"/>
          </a:xfrm>
          <a:prstGeom prst="roundRect">
            <a:avLst>
              <a:gd name="adj" fmla="val 16667"/>
            </a:avLst>
          </a:prstGeom>
          <a:solidFill>
            <a:srgbClr val="0E6B78"/>
          </a:solidFill>
          <a:ln w="12700">
            <a:solidFill>
              <a:srgbClr val="0E6B78"/>
            </a:solidFill>
            <a:prstDash val="solid"/>
          </a:ln>
        </p:spPr>
      </p:sp>
      <p:sp>
        <p:nvSpPr>
          <p:cNvPr id="8" name="Text 6"/>
          <p:cNvSpPr/>
          <p:nvPr/>
        </p:nvSpPr>
        <p:spPr>
          <a:xfrm>
            <a:off x="329184" y="1755648"/>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When to Use + UAC Foods Example</a:t>
            </a:r>
            <a:endParaRPr lang="en-US" sz="1100" dirty="0"/>
          </a:p>
        </p:txBody>
      </p:sp>
      <p:sp>
        <p:nvSpPr>
          <p:cNvPr id="9" name="Text 7"/>
          <p:cNvSpPr/>
          <p:nvPr/>
        </p:nvSpPr>
        <p:spPr>
          <a:xfrm>
            <a:off x="365760" y="2157984"/>
            <a:ext cx="3950208" cy="219456"/>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Common applications:</a:t>
            </a:r>
            <a:endParaRPr lang="en-US" sz="1000" dirty="0"/>
          </a:p>
        </p:txBody>
      </p:sp>
      <p:sp>
        <p:nvSpPr>
          <p:cNvPr id="10" name="Text 8"/>
          <p:cNvSpPr/>
          <p:nvPr/>
        </p:nvSpPr>
        <p:spPr>
          <a:xfrm>
            <a:off x="365760" y="2414016"/>
            <a:ext cx="3950208" cy="29260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 Training effect: quality scores before and after training programme</a:t>
            </a:r>
            <a:endParaRPr lang="en-US" sz="950" dirty="0"/>
          </a:p>
        </p:txBody>
      </p:sp>
      <p:sp>
        <p:nvSpPr>
          <p:cNvPr id="11" name="Text 9"/>
          <p:cNvSpPr/>
          <p:nvPr/>
        </p:nvSpPr>
        <p:spPr>
          <a:xfrm>
            <a:off x="365760" y="2743200"/>
            <a:ext cx="3950208" cy="29260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 Intervention: customer satisfaction before and after a service redesign</a:t>
            </a:r>
            <a:endParaRPr lang="en-US" sz="950" dirty="0"/>
          </a:p>
        </p:txBody>
      </p:sp>
      <p:sp>
        <p:nvSpPr>
          <p:cNvPr id="12" name="Text 10"/>
          <p:cNvSpPr/>
          <p:nvPr/>
        </p:nvSpPr>
        <p:spPr>
          <a:xfrm>
            <a:off x="365760" y="3072384"/>
            <a:ext cx="3950208" cy="29260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 Product trial: preference ratings for Product A then Product B (same consumers)</a:t>
            </a:r>
            <a:endParaRPr lang="en-US" sz="950" dirty="0"/>
          </a:p>
        </p:txBody>
      </p:sp>
      <p:sp>
        <p:nvSpPr>
          <p:cNvPr id="13" name="Text 11"/>
          <p:cNvSpPr/>
          <p:nvPr/>
        </p:nvSpPr>
        <p:spPr>
          <a:xfrm>
            <a:off x="365760" y="3401568"/>
            <a:ext cx="3950208" cy="29260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 Longitudinal panel: same consumers surveyed in Wave 1 and Wave 2</a:t>
            </a:r>
            <a:endParaRPr lang="en-US" sz="950" dirty="0"/>
          </a:p>
        </p:txBody>
      </p:sp>
      <p:sp>
        <p:nvSpPr>
          <p:cNvPr id="14" name="Text 12"/>
          <p:cNvSpPr/>
          <p:nvPr/>
        </p:nvSpPr>
        <p:spPr>
          <a:xfrm>
            <a:off x="365760" y="3767328"/>
            <a:ext cx="3950208" cy="6583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UAC Example: </a:t>
            </a:r>
            <a:pPr indent="0" marL="0">
              <a:buNone/>
            </a:pPr>
            <a:r>
              <a:rPr lang="en-US" sz="950" dirty="0">
                <a:solidFill>
                  <a:srgbClr val="1A2E38"/>
                </a:solidFill>
                <a:latin typeface="Calibri" pitchFamily="34" charset="0"/>
                <a:ea typeface="Calibri" pitchFamily="34" charset="-122"/>
                <a:cs typeface="Calibri" pitchFamily="34" charset="-120"/>
              </a:rPr>
              <a:t>UAC Foods relaunched Deli Foods packaging in Q3. 120 consumers rated product quality BEFORE (pre_score) and AFTER (post_score) the relaunch. Did quality perception improve significantly?</a:t>
            </a:r>
            <a:endParaRPr lang="en-US" sz="950" dirty="0"/>
          </a:p>
        </p:txBody>
      </p:sp>
      <p:sp>
        <p:nvSpPr>
          <p:cNvPr id="15" name="Text 13"/>
          <p:cNvSpPr/>
          <p:nvPr/>
        </p:nvSpPr>
        <p:spPr>
          <a:xfrm>
            <a:off x="365760" y="4480560"/>
            <a:ext cx="3950208" cy="457200"/>
          </a:xfrm>
          <a:prstGeom prst="rect">
            <a:avLst/>
          </a:prstGeom>
          <a:noFill/>
          <a:ln/>
        </p:spPr>
        <p:txBody>
          <a:bodyPr wrap="square" lIns="0" tIns="0" rIns="0" bIns="0" rtlCol="0" anchor="ctr"/>
          <a:lstStyle/>
          <a:p>
            <a:pPr indent="0" marL="0">
              <a:buNone/>
            </a:pPr>
            <a:r>
              <a:rPr lang="en-US" sz="900" i="1" dirty="0">
                <a:solidFill>
                  <a:srgbClr val="0E6B78"/>
                </a:solidFill>
                <a:latin typeface="Calibri" pitchFamily="34" charset="0"/>
                <a:ea typeface="Calibri" pitchFamily="34" charset="-122"/>
                <a:cs typeface="Calibri" pitchFamily="34" charset="-120"/>
              </a:rPr>
              <a:t>Steps: Analyze &gt; Compare Means &gt; Paired Samples T-Test &gt; select pre_score, then Ctrl+click post_score &gt; arrow to move as a pair &gt; OK</a:t>
            </a:r>
            <a:endParaRPr lang="en-US" sz="900" dirty="0"/>
          </a:p>
        </p:txBody>
      </p:sp>
      <p:sp>
        <p:nvSpPr>
          <p:cNvPr id="16" name="Shape 14"/>
          <p:cNvSpPr/>
          <p:nvPr/>
        </p:nvSpPr>
        <p:spPr>
          <a:xfrm>
            <a:off x="4681728" y="1682496"/>
            <a:ext cx="4160520" cy="3337560"/>
          </a:xfrm>
          <a:prstGeom prst="roundRect">
            <a:avLst>
              <a:gd name="adj" fmla="val 246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4754880" y="1755648"/>
            <a:ext cx="4005072" cy="329184"/>
          </a:xfrm>
          <a:prstGeom prst="roundRect">
            <a:avLst>
              <a:gd name="adj" fmla="val 16667"/>
            </a:avLst>
          </a:prstGeom>
          <a:solidFill>
            <a:srgbClr val="061A24"/>
          </a:solidFill>
          <a:ln w="12700">
            <a:solidFill>
              <a:srgbClr val="061A24"/>
            </a:solidFill>
            <a:prstDash val="solid"/>
          </a:ln>
        </p:spPr>
      </p:sp>
      <p:sp>
        <p:nvSpPr>
          <p:cNvPr id="18" name="Text 16"/>
          <p:cNvSpPr/>
          <p:nvPr/>
        </p:nvSpPr>
        <p:spPr>
          <a:xfrm>
            <a:off x="4754880" y="1755648"/>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Reading Paired T-Test Output</a:t>
            </a:r>
            <a:endParaRPr lang="en-US" sz="1100" dirty="0"/>
          </a:p>
        </p:txBody>
      </p:sp>
      <p:sp>
        <p:nvSpPr>
          <p:cNvPr id="19" name="Text 17"/>
          <p:cNvSpPr/>
          <p:nvPr/>
        </p:nvSpPr>
        <p:spPr>
          <a:xfrm>
            <a:off x="4773168" y="2157984"/>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Paired Samples Statistics</a:t>
            </a:r>
            <a:endParaRPr lang="en-US" sz="950" dirty="0"/>
          </a:p>
        </p:txBody>
      </p:sp>
      <p:sp>
        <p:nvSpPr>
          <p:cNvPr id="20" name="Shape 18"/>
          <p:cNvSpPr/>
          <p:nvPr/>
        </p:nvSpPr>
        <p:spPr>
          <a:xfrm>
            <a:off x="4773168" y="2395728"/>
            <a:ext cx="1261872" cy="292608"/>
          </a:xfrm>
          <a:prstGeom prst="rect">
            <a:avLst/>
          </a:prstGeom>
          <a:solidFill>
            <a:srgbClr val="061A24"/>
          </a:solidFill>
          <a:ln w="12700">
            <a:solidFill>
              <a:srgbClr val="061A24"/>
            </a:solidFill>
            <a:prstDash val="solid"/>
          </a:ln>
        </p:spPr>
      </p:sp>
      <p:sp>
        <p:nvSpPr>
          <p:cNvPr id="21" name="Text 19"/>
          <p:cNvSpPr/>
          <p:nvPr/>
        </p:nvSpPr>
        <p:spPr>
          <a:xfrm>
            <a:off x="4773168" y="2395728"/>
            <a:ext cx="126187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Variable</a:t>
            </a:r>
            <a:endParaRPr lang="en-US" sz="850" dirty="0"/>
          </a:p>
        </p:txBody>
      </p:sp>
      <p:sp>
        <p:nvSpPr>
          <p:cNvPr id="22" name="Shape 20"/>
          <p:cNvSpPr/>
          <p:nvPr/>
        </p:nvSpPr>
        <p:spPr>
          <a:xfrm>
            <a:off x="6035040" y="2395728"/>
            <a:ext cx="585216" cy="292608"/>
          </a:xfrm>
          <a:prstGeom prst="rect">
            <a:avLst/>
          </a:prstGeom>
          <a:solidFill>
            <a:srgbClr val="061A24"/>
          </a:solidFill>
          <a:ln w="12700">
            <a:solidFill>
              <a:srgbClr val="061A24"/>
            </a:solidFill>
            <a:prstDash val="solid"/>
          </a:ln>
        </p:spPr>
      </p:sp>
      <p:sp>
        <p:nvSpPr>
          <p:cNvPr id="23" name="Text 21"/>
          <p:cNvSpPr/>
          <p:nvPr/>
        </p:nvSpPr>
        <p:spPr>
          <a:xfrm>
            <a:off x="6035040" y="2395728"/>
            <a:ext cx="58521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24" name="Shape 22"/>
          <p:cNvSpPr/>
          <p:nvPr/>
        </p:nvSpPr>
        <p:spPr>
          <a:xfrm>
            <a:off x="6620256" y="2395728"/>
            <a:ext cx="640080" cy="292608"/>
          </a:xfrm>
          <a:prstGeom prst="rect">
            <a:avLst/>
          </a:prstGeom>
          <a:solidFill>
            <a:srgbClr val="061A24"/>
          </a:solidFill>
          <a:ln w="12700">
            <a:solidFill>
              <a:srgbClr val="061A24"/>
            </a:solidFill>
            <a:prstDash val="solid"/>
          </a:ln>
        </p:spPr>
      </p:sp>
      <p:sp>
        <p:nvSpPr>
          <p:cNvPr id="25" name="Text 23"/>
          <p:cNvSpPr/>
          <p:nvPr/>
        </p:nvSpPr>
        <p:spPr>
          <a:xfrm>
            <a:off x="6620256" y="2395728"/>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a:t>
            </a:r>
            <a:endParaRPr lang="en-US" sz="850" dirty="0"/>
          </a:p>
        </p:txBody>
      </p:sp>
      <p:sp>
        <p:nvSpPr>
          <p:cNvPr id="26" name="Shape 24"/>
          <p:cNvSpPr/>
          <p:nvPr/>
        </p:nvSpPr>
        <p:spPr>
          <a:xfrm>
            <a:off x="7260336" y="2395728"/>
            <a:ext cx="640080" cy="292608"/>
          </a:xfrm>
          <a:prstGeom prst="rect">
            <a:avLst/>
          </a:prstGeom>
          <a:solidFill>
            <a:srgbClr val="061A24"/>
          </a:solidFill>
          <a:ln w="12700">
            <a:solidFill>
              <a:srgbClr val="061A24"/>
            </a:solidFill>
            <a:prstDash val="solid"/>
          </a:ln>
        </p:spPr>
      </p:sp>
      <p:sp>
        <p:nvSpPr>
          <p:cNvPr id="27" name="Text 25"/>
          <p:cNvSpPr/>
          <p:nvPr/>
        </p:nvSpPr>
        <p:spPr>
          <a:xfrm>
            <a:off x="7260336" y="2395728"/>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Std Dev</a:t>
            </a:r>
            <a:endParaRPr lang="en-US" sz="850" dirty="0"/>
          </a:p>
        </p:txBody>
      </p:sp>
      <p:sp>
        <p:nvSpPr>
          <p:cNvPr id="28" name="Shape 26"/>
          <p:cNvSpPr/>
          <p:nvPr/>
        </p:nvSpPr>
        <p:spPr>
          <a:xfrm>
            <a:off x="4773168" y="2688336"/>
            <a:ext cx="1261872" cy="292608"/>
          </a:xfrm>
          <a:prstGeom prst="rect">
            <a:avLst/>
          </a:prstGeom>
          <a:solidFill>
            <a:srgbClr val="EAF6FA"/>
          </a:solidFill>
          <a:ln w="6350">
            <a:solidFill>
              <a:srgbClr val="C0DEE8"/>
            </a:solidFill>
            <a:prstDash val="solid"/>
          </a:ln>
        </p:spPr>
      </p:sp>
      <p:sp>
        <p:nvSpPr>
          <p:cNvPr id="29" name="Text 27"/>
          <p:cNvSpPr/>
          <p:nvPr/>
        </p:nvSpPr>
        <p:spPr>
          <a:xfrm>
            <a:off x="4773168" y="2688336"/>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Pre-score</a:t>
            </a:r>
            <a:endParaRPr lang="en-US" sz="850" dirty="0"/>
          </a:p>
        </p:txBody>
      </p:sp>
      <p:sp>
        <p:nvSpPr>
          <p:cNvPr id="30" name="Shape 28"/>
          <p:cNvSpPr/>
          <p:nvPr/>
        </p:nvSpPr>
        <p:spPr>
          <a:xfrm>
            <a:off x="6035040" y="2688336"/>
            <a:ext cx="585216" cy="292608"/>
          </a:xfrm>
          <a:prstGeom prst="rect">
            <a:avLst/>
          </a:prstGeom>
          <a:solidFill>
            <a:srgbClr val="EAF6FA"/>
          </a:solidFill>
          <a:ln w="6350">
            <a:solidFill>
              <a:srgbClr val="C0DEE8"/>
            </a:solidFill>
            <a:prstDash val="solid"/>
          </a:ln>
        </p:spPr>
      </p:sp>
      <p:sp>
        <p:nvSpPr>
          <p:cNvPr id="31" name="Text 29"/>
          <p:cNvSpPr/>
          <p:nvPr/>
        </p:nvSpPr>
        <p:spPr>
          <a:xfrm>
            <a:off x="6035040" y="2688336"/>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120</a:t>
            </a:r>
            <a:endParaRPr lang="en-US" sz="850" dirty="0"/>
          </a:p>
        </p:txBody>
      </p:sp>
      <p:sp>
        <p:nvSpPr>
          <p:cNvPr id="32" name="Shape 30"/>
          <p:cNvSpPr/>
          <p:nvPr/>
        </p:nvSpPr>
        <p:spPr>
          <a:xfrm>
            <a:off x="6620256" y="2688336"/>
            <a:ext cx="640080" cy="292608"/>
          </a:xfrm>
          <a:prstGeom prst="rect">
            <a:avLst/>
          </a:prstGeom>
          <a:solidFill>
            <a:srgbClr val="EAF6FA"/>
          </a:solidFill>
          <a:ln w="6350">
            <a:solidFill>
              <a:srgbClr val="C0DEE8"/>
            </a:solidFill>
            <a:prstDash val="solid"/>
          </a:ln>
        </p:spPr>
      </p:sp>
      <p:sp>
        <p:nvSpPr>
          <p:cNvPr id="33" name="Text 31"/>
          <p:cNvSpPr/>
          <p:nvPr/>
        </p:nvSpPr>
        <p:spPr>
          <a:xfrm>
            <a:off x="6620256" y="2688336"/>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3.42</a:t>
            </a:r>
            <a:endParaRPr lang="en-US" sz="850" dirty="0"/>
          </a:p>
        </p:txBody>
      </p:sp>
      <p:sp>
        <p:nvSpPr>
          <p:cNvPr id="34" name="Shape 32"/>
          <p:cNvSpPr/>
          <p:nvPr/>
        </p:nvSpPr>
        <p:spPr>
          <a:xfrm>
            <a:off x="7260336" y="2688336"/>
            <a:ext cx="640080" cy="292608"/>
          </a:xfrm>
          <a:prstGeom prst="rect">
            <a:avLst/>
          </a:prstGeom>
          <a:solidFill>
            <a:srgbClr val="EAF6FA"/>
          </a:solidFill>
          <a:ln w="6350">
            <a:solidFill>
              <a:srgbClr val="C0DEE8"/>
            </a:solidFill>
            <a:prstDash val="solid"/>
          </a:ln>
        </p:spPr>
      </p:sp>
      <p:sp>
        <p:nvSpPr>
          <p:cNvPr id="35" name="Text 33"/>
          <p:cNvSpPr/>
          <p:nvPr/>
        </p:nvSpPr>
        <p:spPr>
          <a:xfrm>
            <a:off x="7260336" y="2688336"/>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0.78</a:t>
            </a:r>
            <a:endParaRPr lang="en-US" sz="850" dirty="0"/>
          </a:p>
        </p:txBody>
      </p:sp>
      <p:sp>
        <p:nvSpPr>
          <p:cNvPr id="36" name="Shape 34"/>
          <p:cNvSpPr/>
          <p:nvPr/>
        </p:nvSpPr>
        <p:spPr>
          <a:xfrm>
            <a:off x="4773168" y="2980944"/>
            <a:ext cx="1261872" cy="292608"/>
          </a:xfrm>
          <a:prstGeom prst="rect">
            <a:avLst/>
          </a:prstGeom>
          <a:solidFill>
            <a:srgbClr val="FFFFFF"/>
          </a:solidFill>
          <a:ln w="6350">
            <a:solidFill>
              <a:srgbClr val="C0DEE8"/>
            </a:solidFill>
            <a:prstDash val="solid"/>
          </a:ln>
        </p:spPr>
      </p:sp>
      <p:sp>
        <p:nvSpPr>
          <p:cNvPr id="37" name="Text 35"/>
          <p:cNvSpPr/>
          <p:nvPr/>
        </p:nvSpPr>
        <p:spPr>
          <a:xfrm>
            <a:off x="4773168" y="2980944"/>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Post-score</a:t>
            </a:r>
            <a:endParaRPr lang="en-US" sz="850" dirty="0"/>
          </a:p>
        </p:txBody>
      </p:sp>
      <p:sp>
        <p:nvSpPr>
          <p:cNvPr id="38" name="Shape 36"/>
          <p:cNvSpPr/>
          <p:nvPr/>
        </p:nvSpPr>
        <p:spPr>
          <a:xfrm>
            <a:off x="6035040" y="2980944"/>
            <a:ext cx="585216" cy="292608"/>
          </a:xfrm>
          <a:prstGeom prst="rect">
            <a:avLst/>
          </a:prstGeom>
          <a:solidFill>
            <a:srgbClr val="FFFFFF"/>
          </a:solidFill>
          <a:ln w="6350">
            <a:solidFill>
              <a:srgbClr val="C0DEE8"/>
            </a:solidFill>
            <a:prstDash val="solid"/>
          </a:ln>
        </p:spPr>
      </p:sp>
      <p:sp>
        <p:nvSpPr>
          <p:cNvPr id="39" name="Text 37"/>
          <p:cNvSpPr/>
          <p:nvPr/>
        </p:nvSpPr>
        <p:spPr>
          <a:xfrm>
            <a:off x="6035040" y="2980944"/>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120</a:t>
            </a:r>
            <a:endParaRPr lang="en-US" sz="850" dirty="0"/>
          </a:p>
        </p:txBody>
      </p:sp>
      <p:sp>
        <p:nvSpPr>
          <p:cNvPr id="40" name="Shape 38"/>
          <p:cNvSpPr/>
          <p:nvPr/>
        </p:nvSpPr>
        <p:spPr>
          <a:xfrm>
            <a:off x="6620256" y="2980944"/>
            <a:ext cx="640080" cy="292608"/>
          </a:xfrm>
          <a:prstGeom prst="rect">
            <a:avLst/>
          </a:prstGeom>
          <a:solidFill>
            <a:srgbClr val="FFFFFF"/>
          </a:solidFill>
          <a:ln w="6350">
            <a:solidFill>
              <a:srgbClr val="C0DEE8"/>
            </a:solidFill>
            <a:prstDash val="solid"/>
          </a:ln>
        </p:spPr>
      </p:sp>
      <p:sp>
        <p:nvSpPr>
          <p:cNvPr id="41" name="Text 39"/>
          <p:cNvSpPr/>
          <p:nvPr/>
        </p:nvSpPr>
        <p:spPr>
          <a:xfrm>
            <a:off x="6620256" y="2980944"/>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3.89</a:t>
            </a:r>
            <a:endParaRPr lang="en-US" sz="850" dirty="0"/>
          </a:p>
        </p:txBody>
      </p:sp>
      <p:sp>
        <p:nvSpPr>
          <p:cNvPr id="42" name="Shape 40"/>
          <p:cNvSpPr/>
          <p:nvPr/>
        </p:nvSpPr>
        <p:spPr>
          <a:xfrm>
            <a:off x="7260336" y="2980944"/>
            <a:ext cx="640080" cy="292608"/>
          </a:xfrm>
          <a:prstGeom prst="rect">
            <a:avLst/>
          </a:prstGeom>
          <a:solidFill>
            <a:srgbClr val="FFFFFF"/>
          </a:solidFill>
          <a:ln w="6350">
            <a:solidFill>
              <a:srgbClr val="C0DEE8"/>
            </a:solidFill>
            <a:prstDash val="solid"/>
          </a:ln>
        </p:spPr>
      </p:sp>
      <p:sp>
        <p:nvSpPr>
          <p:cNvPr id="43" name="Text 41"/>
          <p:cNvSpPr/>
          <p:nvPr/>
        </p:nvSpPr>
        <p:spPr>
          <a:xfrm>
            <a:off x="7260336" y="2980944"/>
            <a:ext cx="64008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0.74</a:t>
            </a:r>
            <a:endParaRPr lang="en-US" sz="850" dirty="0"/>
          </a:p>
        </p:txBody>
      </p:sp>
      <p:sp>
        <p:nvSpPr>
          <p:cNvPr id="44" name="Text 42"/>
          <p:cNvSpPr/>
          <p:nvPr/>
        </p:nvSpPr>
        <p:spPr>
          <a:xfrm>
            <a:off x="4773168" y="3054096"/>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Paired Samples Correlation</a:t>
            </a:r>
            <a:endParaRPr lang="en-US" sz="950" dirty="0"/>
          </a:p>
        </p:txBody>
      </p:sp>
      <p:sp>
        <p:nvSpPr>
          <p:cNvPr id="45" name="Shape 43"/>
          <p:cNvSpPr/>
          <p:nvPr/>
        </p:nvSpPr>
        <p:spPr>
          <a:xfrm>
            <a:off x="4773168" y="3291840"/>
            <a:ext cx="987552" cy="292608"/>
          </a:xfrm>
          <a:prstGeom prst="rect">
            <a:avLst/>
          </a:prstGeom>
          <a:solidFill>
            <a:srgbClr val="061A24"/>
          </a:solidFill>
          <a:ln w="12700">
            <a:solidFill>
              <a:srgbClr val="061A24"/>
            </a:solidFill>
            <a:prstDash val="solid"/>
          </a:ln>
        </p:spPr>
      </p:sp>
      <p:sp>
        <p:nvSpPr>
          <p:cNvPr id="46" name="Text 44"/>
          <p:cNvSpPr/>
          <p:nvPr/>
        </p:nvSpPr>
        <p:spPr>
          <a:xfrm>
            <a:off x="4773168" y="3291840"/>
            <a:ext cx="9875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47" name="Shape 45"/>
          <p:cNvSpPr/>
          <p:nvPr/>
        </p:nvSpPr>
        <p:spPr>
          <a:xfrm>
            <a:off x="5760720" y="3291840"/>
            <a:ext cx="1133856" cy="292608"/>
          </a:xfrm>
          <a:prstGeom prst="rect">
            <a:avLst/>
          </a:prstGeom>
          <a:solidFill>
            <a:srgbClr val="061A24"/>
          </a:solidFill>
          <a:ln w="12700">
            <a:solidFill>
              <a:srgbClr val="061A24"/>
            </a:solidFill>
            <a:prstDash val="solid"/>
          </a:ln>
        </p:spPr>
      </p:sp>
      <p:sp>
        <p:nvSpPr>
          <p:cNvPr id="48" name="Text 46"/>
          <p:cNvSpPr/>
          <p:nvPr/>
        </p:nvSpPr>
        <p:spPr>
          <a:xfrm>
            <a:off x="5760720" y="3291840"/>
            <a:ext cx="113385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Correlation</a:t>
            </a:r>
            <a:endParaRPr lang="en-US" sz="850" dirty="0"/>
          </a:p>
        </p:txBody>
      </p:sp>
      <p:sp>
        <p:nvSpPr>
          <p:cNvPr id="49" name="Shape 47"/>
          <p:cNvSpPr/>
          <p:nvPr/>
        </p:nvSpPr>
        <p:spPr>
          <a:xfrm>
            <a:off x="6894576" y="3291840"/>
            <a:ext cx="1005840" cy="292608"/>
          </a:xfrm>
          <a:prstGeom prst="rect">
            <a:avLst/>
          </a:prstGeom>
          <a:solidFill>
            <a:srgbClr val="061A24"/>
          </a:solidFill>
          <a:ln w="12700">
            <a:solidFill>
              <a:srgbClr val="061A24"/>
            </a:solidFill>
            <a:prstDash val="solid"/>
          </a:ln>
        </p:spPr>
      </p:sp>
      <p:sp>
        <p:nvSpPr>
          <p:cNvPr id="50" name="Text 48"/>
          <p:cNvSpPr/>
          <p:nvPr/>
        </p:nvSpPr>
        <p:spPr>
          <a:xfrm>
            <a:off x="6894576" y="3291840"/>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51" name="Shape 49"/>
          <p:cNvSpPr/>
          <p:nvPr/>
        </p:nvSpPr>
        <p:spPr>
          <a:xfrm>
            <a:off x="4773168" y="3584448"/>
            <a:ext cx="987552" cy="292608"/>
          </a:xfrm>
          <a:prstGeom prst="rect">
            <a:avLst/>
          </a:prstGeom>
          <a:solidFill>
            <a:srgbClr val="EAF6FA"/>
          </a:solidFill>
          <a:ln w="6350">
            <a:solidFill>
              <a:srgbClr val="C0DEE8"/>
            </a:solidFill>
            <a:prstDash val="solid"/>
          </a:ln>
        </p:spPr>
      </p:sp>
      <p:sp>
        <p:nvSpPr>
          <p:cNvPr id="52" name="Text 50"/>
          <p:cNvSpPr/>
          <p:nvPr/>
        </p:nvSpPr>
        <p:spPr>
          <a:xfrm>
            <a:off x="4773168" y="3584448"/>
            <a:ext cx="98755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120</a:t>
            </a:r>
            <a:endParaRPr lang="en-US" sz="850" dirty="0"/>
          </a:p>
        </p:txBody>
      </p:sp>
      <p:sp>
        <p:nvSpPr>
          <p:cNvPr id="53" name="Shape 51"/>
          <p:cNvSpPr/>
          <p:nvPr/>
        </p:nvSpPr>
        <p:spPr>
          <a:xfrm>
            <a:off x="5760720" y="3584448"/>
            <a:ext cx="1133856" cy="292608"/>
          </a:xfrm>
          <a:prstGeom prst="rect">
            <a:avLst/>
          </a:prstGeom>
          <a:solidFill>
            <a:srgbClr val="D0EEF4"/>
          </a:solidFill>
          <a:ln w="6350">
            <a:solidFill>
              <a:srgbClr val="C0DEE8"/>
            </a:solidFill>
            <a:prstDash val="solid"/>
          </a:ln>
        </p:spPr>
      </p:sp>
      <p:sp>
        <p:nvSpPr>
          <p:cNvPr id="54" name="Text 52"/>
          <p:cNvSpPr/>
          <p:nvPr/>
        </p:nvSpPr>
        <p:spPr>
          <a:xfrm>
            <a:off x="5760720" y="3584448"/>
            <a:ext cx="113385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.724</a:t>
            </a:r>
            <a:endParaRPr lang="en-US" sz="850" dirty="0"/>
          </a:p>
        </p:txBody>
      </p:sp>
      <p:sp>
        <p:nvSpPr>
          <p:cNvPr id="55" name="Shape 53"/>
          <p:cNvSpPr/>
          <p:nvPr/>
        </p:nvSpPr>
        <p:spPr>
          <a:xfrm>
            <a:off x="6894576" y="3584448"/>
            <a:ext cx="1005840" cy="292608"/>
          </a:xfrm>
          <a:prstGeom prst="rect">
            <a:avLst/>
          </a:prstGeom>
          <a:solidFill>
            <a:srgbClr val="EAF6FA"/>
          </a:solidFill>
          <a:ln w="6350">
            <a:solidFill>
              <a:srgbClr val="C0DEE8"/>
            </a:solidFill>
            <a:prstDash val="solid"/>
          </a:ln>
        </p:spPr>
      </p:sp>
      <p:sp>
        <p:nvSpPr>
          <p:cNvPr id="56" name="Text 54"/>
          <p:cNvSpPr/>
          <p:nvPr/>
        </p:nvSpPr>
        <p:spPr>
          <a:xfrm>
            <a:off x="6894576" y="3584448"/>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&lt;.001</a:t>
            </a:r>
            <a:endParaRPr lang="en-US" sz="850" dirty="0"/>
          </a:p>
        </p:txBody>
      </p:sp>
      <p:sp>
        <p:nvSpPr>
          <p:cNvPr id="57" name="Text 55"/>
          <p:cNvSpPr/>
          <p:nvPr/>
        </p:nvSpPr>
        <p:spPr>
          <a:xfrm>
            <a:off x="4773168" y="3712464"/>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Paired Samples Test</a:t>
            </a:r>
            <a:endParaRPr lang="en-US" sz="950" dirty="0"/>
          </a:p>
        </p:txBody>
      </p:sp>
      <p:sp>
        <p:nvSpPr>
          <p:cNvPr id="58" name="Shape 56"/>
          <p:cNvSpPr/>
          <p:nvPr/>
        </p:nvSpPr>
        <p:spPr>
          <a:xfrm>
            <a:off x="4773168" y="3950208"/>
            <a:ext cx="658368" cy="292608"/>
          </a:xfrm>
          <a:prstGeom prst="rect">
            <a:avLst/>
          </a:prstGeom>
          <a:solidFill>
            <a:srgbClr val="061A24"/>
          </a:solidFill>
          <a:ln w="12700">
            <a:solidFill>
              <a:srgbClr val="061A24"/>
            </a:solidFill>
            <a:prstDash val="solid"/>
          </a:ln>
        </p:spPr>
      </p:sp>
      <p:sp>
        <p:nvSpPr>
          <p:cNvPr id="59" name="Text 57"/>
          <p:cNvSpPr/>
          <p:nvPr/>
        </p:nvSpPr>
        <p:spPr>
          <a:xfrm>
            <a:off x="4773168" y="3950208"/>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Diff</a:t>
            </a:r>
            <a:endParaRPr lang="en-US" sz="850" dirty="0"/>
          </a:p>
        </p:txBody>
      </p:sp>
      <p:sp>
        <p:nvSpPr>
          <p:cNvPr id="60" name="Shape 58"/>
          <p:cNvSpPr/>
          <p:nvPr/>
        </p:nvSpPr>
        <p:spPr>
          <a:xfrm>
            <a:off x="5431536" y="3950208"/>
            <a:ext cx="658368" cy="292608"/>
          </a:xfrm>
          <a:prstGeom prst="rect">
            <a:avLst/>
          </a:prstGeom>
          <a:solidFill>
            <a:srgbClr val="061A24"/>
          </a:solidFill>
          <a:ln w="12700">
            <a:solidFill>
              <a:srgbClr val="061A24"/>
            </a:solidFill>
            <a:prstDash val="solid"/>
          </a:ln>
        </p:spPr>
      </p:sp>
      <p:sp>
        <p:nvSpPr>
          <p:cNvPr id="61" name="Text 59"/>
          <p:cNvSpPr/>
          <p:nvPr/>
        </p:nvSpPr>
        <p:spPr>
          <a:xfrm>
            <a:off x="5431536" y="3950208"/>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SD Diff</a:t>
            </a:r>
            <a:endParaRPr lang="en-US" sz="850" dirty="0"/>
          </a:p>
        </p:txBody>
      </p:sp>
      <p:sp>
        <p:nvSpPr>
          <p:cNvPr id="62" name="Shape 60"/>
          <p:cNvSpPr/>
          <p:nvPr/>
        </p:nvSpPr>
        <p:spPr>
          <a:xfrm>
            <a:off x="6089904" y="3950208"/>
            <a:ext cx="548640" cy="292608"/>
          </a:xfrm>
          <a:prstGeom prst="rect">
            <a:avLst/>
          </a:prstGeom>
          <a:solidFill>
            <a:srgbClr val="061A24"/>
          </a:solidFill>
          <a:ln w="12700">
            <a:solidFill>
              <a:srgbClr val="061A24"/>
            </a:solidFill>
            <a:prstDash val="solid"/>
          </a:ln>
        </p:spPr>
      </p:sp>
      <p:sp>
        <p:nvSpPr>
          <p:cNvPr id="63" name="Text 61"/>
          <p:cNvSpPr/>
          <p:nvPr/>
        </p:nvSpPr>
        <p:spPr>
          <a:xfrm>
            <a:off x="6089904" y="3950208"/>
            <a:ext cx="5486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t>
            </a:r>
            <a:endParaRPr lang="en-US" sz="850" dirty="0"/>
          </a:p>
        </p:txBody>
      </p:sp>
      <p:sp>
        <p:nvSpPr>
          <p:cNvPr id="64" name="Shape 62"/>
          <p:cNvSpPr/>
          <p:nvPr/>
        </p:nvSpPr>
        <p:spPr>
          <a:xfrm>
            <a:off x="6638544" y="3950208"/>
            <a:ext cx="457200" cy="292608"/>
          </a:xfrm>
          <a:prstGeom prst="rect">
            <a:avLst/>
          </a:prstGeom>
          <a:solidFill>
            <a:srgbClr val="061A24"/>
          </a:solidFill>
          <a:ln w="12700">
            <a:solidFill>
              <a:srgbClr val="061A24"/>
            </a:solidFill>
            <a:prstDash val="solid"/>
          </a:ln>
        </p:spPr>
      </p:sp>
      <p:sp>
        <p:nvSpPr>
          <p:cNvPr id="65" name="Text 63"/>
          <p:cNvSpPr/>
          <p:nvPr/>
        </p:nvSpPr>
        <p:spPr>
          <a:xfrm>
            <a:off x="6638544" y="3950208"/>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66" name="Shape 64"/>
          <p:cNvSpPr/>
          <p:nvPr/>
        </p:nvSpPr>
        <p:spPr>
          <a:xfrm>
            <a:off x="7095744" y="3950208"/>
            <a:ext cx="713232" cy="292608"/>
          </a:xfrm>
          <a:prstGeom prst="rect">
            <a:avLst/>
          </a:prstGeom>
          <a:solidFill>
            <a:srgbClr val="061A24"/>
          </a:solidFill>
          <a:ln w="12700">
            <a:solidFill>
              <a:srgbClr val="061A24"/>
            </a:solidFill>
            <a:prstDash val="solid"/>
          </a:ln>
        </p:spPr>
      </p:sp>
      <p:sp>
        <p:nvSpPr>
          <p:cNvPr id="67" name="Text 65"/>
          <p:cNvSpPr/>
          <p:nvPr/>
        </p:nvSpPr>
        <p:spPr>
          <a:xfrm>
            <a:off x="7095744" y="3950208"/>
            <a:ext cx="7132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Sig.(2-tail)</a:t>
            </a:r>
            <a:endParaRPr lang="en-US" sz="850" dirty="0"/>
          </a:p>
        </p:txBody>
      </p:sp>
      <p:sp>
        <p:nvSpPr>
          <p:cNvPr id="68" name="Shape 66"/>
          <p:cNvSpPr/>
          <p:nvPr/>
        </p:nvSpPr>
        <p:spPr>
          <a:xfrm>
            <a:off x="7808976" y="3950208"/>
            <a:ext cx="1005840" cy="292608"/>
          </a:xfrm>
          <a:prstGeom prst="rect">
            <a:avLst/>
          </a:prstGeom>
          <a:solidFill>
            <a:srgbClr val="061A24"/>
          </a:solidFill>
          <a:ln w="12700">
            <a:solidFill>
              <a:srgbClr val="061A24"/>
            </a:solidFill>
            <a:prstDash val="solid"/>
          </a:ln>
        </p:spPr>
      </p:sp>
      <p:sp>
        <p:nvSpPr>
          <p:cNvPr id="69" name="Text 67"/>
          <p:cNvSpPr/>
          <p:nvPr/>
        </p:nvSpPr>
        <p:spPr>
          <a:xfrm>
            <a:off x="7808976" y="3950208"/>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95% CI</a:t>
            </a:r>
            <a:endParaRPr lang="en-US" sz="850" dirty="0"/>
          </a:p>
        </p:txBody>
      </p:sp>
      <p:sp>
        <p:nvSpPr>
          <p:cNvPr id="70" name="Shape 68"/>
          <p:cNvSpPr/>
          <p:nvPr/>
        </p:nvSpPr>
        <p:spPr>
          <a:xfrm>
            <a:off x="4773168" y="4242816"/>
            <a:ext cx="658368" cy="292608"/>
          </a:xfrm>
          <a:prstGeom prst="rect">
            <a:avLst/>
          </a:prstGeom>
          <a:solidFill>
            <a:srgbClr val="D0EEF4"/>
          </a:solidFill>
          <a:ln w="6350">
            <a:solidFill>
              <a:srgbClr val="C0DEE8"/>
            </a:solidFill>
            <a:prstDash val="solid"/>
          </a:ln>
        </p:spPr>
      </p:sp>
      <p:sp>
        <p:nvSpPr>
          <p:cNvPr id="71" name="Text 69"/>
          <p:cNvSpPr/>
          <p:nvPr/>
        </p:nvSpPr>
        <p:spPr>
          <a:xfrm>
            <a:off x="4773168" y="4242816"/>
            <a:ext cx="65836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-.470</a:t>
            </a:r>
            <a:endParaRPr lang="en-US" sz="850" dirty="0"/>
          </a:p>
        </p:txBody>
      </p:sp>
      <p:sp>
        <p:nvSpPr>
          <p:cNvPr id="72" name="Shape 70"/>
          <p:cNvSpPr/>
          <p:nvPr/>
        </p:nvSpPr>
        <p:spPr>
          <a:xfrm>
            <a:off x="5431536" y="4242816"/>
            <a:ext cx="658368" cy="292608"/>
          </a:xfrm>
          <a:prstGeom prst="rect">
            <a:avLst/>
          </a:prstGeom>
          <a:solidFill>
            <a:srgbClr val="EAF6FA"/>
          </a:solidFill>
          <a:ln w="6350">
            <a:solidFill>
              <a:srgbClr val="C0DEE8"/>
            </a:solidFill>
            <a:prstDash val="solid"/>
          </a:ln>
        </p:spPr>
      </p:sp>
      <p:sp>
        <p:nvSpPr>
          <p:cNvPr id="73" name="Text 71"/>
          <p:cNvSpPr/>
          <p:nvPr/>
        </p:nvSpPr>
        <p:spPr>
          <a:xfrm>
            <a:off x="5431536" y="4242816"/>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0.62</a:t>
            </a:r>
            <a:endParaRPr lang="en-US" sz="850" dirty="0"/>
          </a:p>
        </p:txBody>
      </p:sp>
      <p:sp>
        <p:nvSpPr>
          <p:cNvPr id="74" name="Shape 72"/>
          <p:cNvSpPr/>
          <p:nvPr/>
        </p:nvSpPr>
        <p:spPr>
          <a:xfrm>
            <a:off x="6089904" y="4242816"/>
            <a:ext cx="548640" cy="292608"/>
          </a:xfrm>
          <a:prstGeom prst="rect">
            <a:avLst/>
          </a:prstGeom>
          <a:solidFill>
            <a:srgbClr val="D0EEF4"/>
          </a:solidFill>
          <a:ln w="6350">
            <a:solidFill>
              <a:srgbClr val="C0DEE8"/>
            </a:solidFill>
            <a:prstDash val="solid"/>
          </a:ln>
        </p:spPr>
      </p:sp>
      <p:sp>
        <p:nvSpPr>
          <p:cNvPr id="75" name="Text 73"/>
          <p:cNvSpPr/>
          <p:nvPr/>
        </p:nvSpPr>
        <p:spPr>
          <a:xfrm>
            <a:off x="6089904" y="4242816"/>
            <a:ext cx="54864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-8.31</a:t>
            </a:r>
            <a:endParaRPr lang="en-US" sz="850" dirty="0"/>
          </a:p>
        </p:txBody>
      </p:sp>
      <p:sp>
        <p:nvSpPr>
          <p:cNvPr id="76" name="Shape 74"/>
          <p:cNvSpPr/>
          <p:nvPr/>
        </p:nvSpPr>
        <p:spPr>
          <a:xfrm>
            <a:off x="6638544" y="4242816"/>
            <a:ext cx="457200" cy="292608"/>
          </a:xfrm>
          <a:prstGeom prst="rect">
            <a:avLst/>
          </a:prstGeom>
          <a:solidFill>
            <a:srgbClr val="EAF6FA"/>
          </a:solidFill>
          <a:ln w="6350">
            <a:solidFill>
              <a:srgbClr val="C0DEE8"/>
            </a:solidFill>
            <a:prstDash val="solid"/>
          </a:ln>
        </p:spPr>
      </p:sp>
      <p:sp>
        <p:nvSpPr>
          <p:cNvPr id="77" name="Text 75"/>
          <p:cNvSpPr/>
          <p:nvPr/>
        </p:nvSpPr>
        <p:spPr>
          <a:xfrm>
            <a:off x="6638544" y="4242816"/>
            <a:ext cx="4572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119</a:t>
            </a:r>
            <a:endParaRPr lang="en-US" sz="850" dirty="0"/>
          </a:p>
        </p:txBody>
      </p:sp>
      <p:sp>
        <p:nvSpPr>
          <p:cNvPr id="78" name="Shape 76"/>
          <p:cNvSpPr/>
          <p:nvPr/>
        </p:nvSpPr>
        <p:spPr>
          <a:xfrm>
            <a:off x="7095744" y="4242816"/>
            <a:ext cx="713232" cy="292608"/>
          </a:xfrm>
          <a:prstGeom prst="rect">
            <a:avLst/>
          </a:prstGeom>
          <a:solidFill>
            <a:srgbClr val="D0EEF4"/>
          </a:solidFill>
          <a:ln w="6350">
            <a:solidFill>
              <a:srgbClr val="C0DEE8"/>
            </a:solidFill>
            <a:prstDash val="solid"/>
          </a:ln>
        </p:spPr>
      </p:sp>
      <p:sp>
        <p:nvSpPr>
          <p:cNvPr id="79" name="Text 77"/>
          <p:cNvSpPr/>
          <p:nvPr/>
        </p:nvSpPr>
        <p:spPr>
          <a:xfrm>
            <a:off x="7095744" y="4242816"/>
            <a:ext cx="71323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80" name="Shape 78"/>
          <p:cNvSpPr/>
          <p:nvPr/>
        </p:nvSpPr>
        <p:spPr>
          <a:xfrm>
            <a:off x="7808976" y="4242816"/>
            <a:ext cx="1005840" cy="292608"/>
          </a:xfrm>
          <a:prstGeom prst="rect">
            <a:avLst/>
          </a:prstGeom>
          <a:solidFill>
            <a:srgbClr val="EAF6FA"/>
          </a:solidFill>
          <a:ln w="6350">
            <a:solidFill>
              <a:srgbClr val="C0DEE8"/>
            </a:solidFill>
            <a:prstDash val="solid"/>
          </a:ln>
        </p:spPr>
      </p:sp>
      <p:sp>
        <p:nvSpPr>
          <p:cNvPr id="81" name="Text 79"/>
          <p:cNvSpPr/>
          <p:nvPr/>
        </p:nvSpPr>
        <p:spPr>
          <a:xfrm>
            <a:off x="7808976" y="4242816"/>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[-.582, -.358]</a:t>
            </a:r>
            <a:endParaRPr lang="en-US" sz="850" dirty="0"/>
          </a:p>
        </p:txBody>
      </p:sp>
      <p:sp>
        <p:nvSpPr>
          <p:cNvPr id="82" name="Text 80"/>
          <p:cNvSpPr/>
          <p:nvPr/>
        </p:nvSpPr>
        <p:spPr>
          <a:xfrm>
            <a:off x="4773168" y="4462272"/>
            <a:ext cx="3931920" cy="49377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Interpretation: Mean difference = -0.47 (post &gt; pre since difference is Pre minus Post). t(119) = -8.31, p &lt; .001. Significant improvement in perceived quality after packaging relaunch.</a:t>
            </a:r>
            <a:endParaRPr lang="en-US" sz="900" dirty="0"/>
          </a:p>
        </p:txBody>
      </p:sp>
      <p:sp>
        <p:nvSpPr>
          <p:cNvPr id="83" name="Shape 81"/>
          <p:cNvSpPr/>
          <p:nvPr/>
        </p:nvSpPr>
        <p:spPr>
          <a:xfrm>
            <a:off x="256032" y="5120640"/>
            <a:ext cx="8631936" cy="384048"/>
          </a:xfrm>
          <a:prstGeom prst="roundRect">
            <a:avLst>
              <a:gd name="adj" fmla="val 14286"/>
            </a:avLst>
          </a:prstGeom>
          <a:solidFill>
            <a:srgbClr val="FFFBEC"/>
          </a:solidFill>
          <a:ln w="19050">
            <a:solidFill>
              <a:srgbClr val="D4A017"/>
            </a:solidFill>
            <a:prstDash val="solid"/>
          </a:ln>
        </p:spPr>
      </p:sp>
      <p:sp>
        <p:nvSpPr>
          <p:cNvPr id="84" name="Text 82"/>
          <p:cNvSpPr/>
          <p:nvPr/>
        </p:nvSpPr>
        <p:spPr>
          <a:xfrm>
            <a:off x="384048" y="5120640"/>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APA: A paired t-test showed a significant increase in quality perception following the Deli Foods relaunch (Pre: M=3.42; Post: M=3.89), t(119)=-8.31, p&lt;.001, d=0.62 (medium effect).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One-Way ANOVA</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Comparing three or more independent groups while controlling Type I error rate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One-Way ANOVA - Comparing 3+ Independent Groups with Post-Hoc Tests</a:t>
            </a:r>
            <a:endParaRPr lang="en-US" sz="2100" dirty="0"/>
          </a:p>
        </p:txBody>
      </p:sp>
      <p:sp>
        <p:nvSpPr>
          <p:cNvPr id="4" name="Shape 2"/>
          <p:cNvSpPr/>
          <p:nvPr/>
        </p:nvSpPr>
        <p:spPr>
          <a:xfrm>
            <a:off x="256032" y="1005840"/>
            <a:ext cx="4160520" cy="4023360"/>
          </a:xfrm>
          <a:prstGeom prst="roundRect">
            <a:avLst>
              <a:gd name="adj" fmla="val 2045"/>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061A24"/>
          </a:solidFill>
          <a:ln w="12700">
            <a:solidFill>
              <a:srgbClr val="061A24"/>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Why Not Multiple T-Tests?</a:t>
            </a:r>
            <a:endParaRPr lang="en-US" sz="1100" dirty="0"/>
          </a:p>
        </p:txBody>
      </p:sp>
      <p:sp>
        <p:nvSpPr>
          <p:cNvPr id="7" name="Text 5"/>
          <p:cNvSpPr/>
          <p:nvPr/>
        </p:nvSpPr>
        <p:spPr>
          <a:xfrm>
            <a:off x="365760" y="1481328"/>
            <a:ext cx="3950208" cy="621792"/>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With 4 groups you would need 6 pairwise t-tests. Each at α=.05. Probability of AT LEAST ONE false positive = 1-(0.95)^6 = 26.5% - NOT 5%. ANOVA tests all groups simultaneously maintaining α = .05.</a:t>
            </a:r>
            <a:endParaRPr lang="en-US" sz="950" dirty="0"/>
          </a:p>
        </p:txBody>
      </p:sp>
      <p:sp>
        <p:nvSpPr>
          <p:cNvPr id="8" name="Text 6"/>
          <p:cNvSpPr/>
          <p:nvPr/>
        </p:nvSpPr>
        <p:spPr>
          <a:xfrm>
            <a:off x="365760" y="2176272"/>
            <a:ext cx="3950208" cy="40233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UAC Example: </a:t>
            </a:r>
            <a:pPr indent="0" marL="0">
              <a:buNone/>
            </a:pPr>
            <a:r>
              <a:rPr lang="en-US" sz="950" dirty="0">
                <a:solidFill>
                  <a:srgbClr val="1A2E38"/>
                </a:solidFill>
                <a:latin typeface="Calibri" pitchFamily="34" charset="0"/>
                <a:ea typeface="Calibri" pitchFamily="34" charset="-122"/>
                <a:cs typeface="Calibri" pitchFamily="34" charset="-120"/>
              </a:rPr>
              <a:t>Does sat_mean differ across the four age groups (18-30, 31-45, 46-60, 60+)?</a:t>
            </a:r>
            <a:endParaRPr lang="en-US" sz="950" dirty="0"/>
          </a:p>
        </p:txBody>
      </p:sp>
      <p:sp>
        <p:nvSpPr>
          <p:cNvPr id="9" name="Text 7"/>
          <p:cNvSpPr/>
          <p:nvPr/>
        </p:nvSpPr>
        <p:spPr>
          <a:xfrm>
            <a:off x="365760" y="2651760"/>
            <a:ext cx="3950208" cy="566928"/>
          </a:xfrm>
          <a:prstGeom prst="rect">
            <a:avLst/>
          </a:prstGeom>
          <a:noFill/>
          <a:ln/>
        </p:spPr>
        <p:txBody>
          <a:bodyPr wrap="square" lIns="0" tIns="0" rIns="0" bIns="0" rtlCol="0" anchor="ctr"/>
          <a:lstStyle/>
          <a:p>
            <a:pPr indent="0" marL="0">
              <a:buNone/>
            </a:pPr>
            <a:r>
              <a:rPr lang="en-US" sz="900" i="1" dirty="0">
                <a:solidFill>
                  <a:srgbClr val="0E6B78"/>
                </a:solidFill>
                <a:latin typeface="Calibri" pitchFamily="34" charset="0"/>
                <a:ea typeface="Calibri" pitchFamily="34" charset="-122"/>
                <a:cs typeface="Calibri" pitchFamily="34" charset="-120"/>
              </a:rPr>
              <a:t>Steps: Analyze &gt; Compare Means &gt; One-Way ANOVA &gt; sat_mean to Dependent List &gt; age_group to Factor &gt; Options: Descriptive + Homogeneity test + Means plot &gt; Post Hoc: Tukey &gt; OK</a:t>
            </a:r>
            <a:endParaRPr lang="en-US" sz="900" dirty="0"/>
          </a:p>
        </p:txBody>
      </p:sp>
      <p:sp>
        <p:nvSpPr>
          <p:cNvPr id="10" name="Text 8"/>
          <p:cNvSpPr/>
          <p:nvPr/>
        </p:nvSpPr>
        <p:spPr>
          <a:xfrm>
            <a:off x="365760" y="3291840"/>
            <a:ext cx="3950208" cy="219456"/>
          </a:xfrm>
          <a:prstGeom prst="rect">
            <a:avLst/>
          </a:prstGeom>
          <a:noFill/>
          <a:ln/>
        </p:spPr>
        <p:txBody>
          <a:bodyPr wrap="square" lIns="0" tIns="0" rIns="0" bIns="0" rtlCol="0" anchor="ctr"/>
          <a:lstStyle/>
          <a:p>
            <a:pPr indent="0" marL="0">
              <a:buNone/>
            </a:pPr>
            <a:r>
              <a:rPr lang="en-US" sz="1000" b="1" dirty="0">
                <a:solidFill>
                  <a:srgbClr val="061A24"/>
                </a:solidFill>
                <a:latin typeface="Calibri" pitchFamily="34" charset="0"/>
                <a:ea typeface="Calibri" pitchFamily="34" charset="-122"/>
                <a:cs typeface="Calibri" pitchFamily="34" charset="-120"/>
              </a:rPr>
              <a:t>Assumptions:</a:t>
            </a:r>
            <a:endParaRPr lang="en-US" sz="1000" dirty="0"/>
          </a:p>
        </p:txBody>
      </p:sp>
      <p:sp>
        <p:nvSpPr>
          <p:cNvPr id="11" name="Text 9"/>
          <p:cNvSpPr/>
          <p:nvPr/>
        </p:nvSpPr>
        <p:spPr>
          <a:xfrm>
            <a:off x="365760" y="3529584"/>
            <a:ext cx="3950208" cy="23774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DV is scale level (sat_mean)</a:t>
            </a:r>
            <a:endParaRPr lang="en-US" sz="900" dirty="0"/>
          </a:p>
        </p:txBody>
      </p:sp>
      <p:sp>
        <p:nvSpPr>
          <p:cNvPr id="12" name="Text 10"/>
          <p:cNvSpPr/>
          <p:nvPr/>
        </p:nvSpPr>
        <p:spPr>
          <a:xfrm>
            <a:off x="365760" y="3785616"/>
            <a:ext cx="3950208" cy="23774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IV has 3+ independent groups (age_group, 4 groups)</a:t>
            </a:r>
            <a:endParaRPr lang="en-US" sz="900" dirty="0"/>
          </a:p>
        </p:txBody>
      </p:sp>
      <p:sp>
        <p:nvSpPr>
          <p:cNvPr id="13" name="Text 11"/>
          <p:cNvSpPr/>
          <p:nvPr/>
        </p:nvSpPr>
        <p:spPr>
          <a:xfrm>
            <a:off x="365760" y="4041648"/>
            <a:ext cx="3950208" cy="23774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DV approximately normal in each group</a:t>
            </a:r>
            <a:endParaRPr lang="en-US" sz="900" dirty="0"/>
          </a:p>
        </p:txBody>
      </p:sp>
      <p:sp>
        <p:nvSpPr>
          <p:cNvPr id="14" name="Text 12"/>
          <p:cNvSpPr/>
          <p:nvPr/>
        </p:nvSpPr>
        <p:spPr>
          <a:xfrm>
            <a:off x="365760" y="4297680"/>
            <a:ext cx="3950208" cy="23774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Homogeneity of variance: Levene's test non-significant (p &gt; .05)</a:t>
            </a:r>
            <a:endParaRPr lang="en-US" sz="900" dirty="0"/>
          </a:p>
        </p:txBody>
      </p:sp>
      <p:sp>
        <p:nvSpPr>
          <p:cNvPr id="15" name="Text 13"/>
          <p:cNvSpPr/>
          <p:nvPr/>
        </p:nvSpPr>
        <p:spPr>
          <a:xfrm>
            <a:off x="365760" y="4553712"/>
            <a:ext cx="3950208" cy="23774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Independence of observations</a:t>
            </a:r>
            <a:endParaRPr lang="en-US" sz="900" dirty="0"/>
          </a:p>
        </p:txBody>
      </p:sp>
      <p:sp>
        <p:nvSpPr>
          <p:cNvPr id="16" name="Shape 14"/>
          <p:cNvSpPr/>
          <p:nvPr/>
        </p:nvSpPr>
        <p:spPr>
          <a:xfrm>
            <a:off x="4681728" y="1005840"/>
            <a:ext cx="4160520" cy="4023360"/>
          </a:xfrm>
          <a:prstGeom prst="roundRect">
            <a:avLst>
              <a:gd name="adj" fmla="val 2045"/>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4754880" y="1078992"/>
            <a:ext cx="4005072" cy="329184"/>
          </a:xfrm>
          <a:prstGeom prst="roundRect">
            <a:avLst>
              <a:gd name="adj" fmla="val 16667"/>
            </a:avLst>
          </a:prstGeom>
          <a:solidFill>
            <a:srgbClr val="061A24"/>
          </a:solidFill>
          <a:ln w="12700">
            <a:solidFill>
              <a:srgbClr val="061A24"/>
            </a:solidFill>
            <a:prstDash val="solid"/>
          </a:ln>
        </p:spPr>
      </p:sp>
      <p:sp>
        <p:nvSpPr>
          <p:cNvPr id="18" name="Text 16"/>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ANOVA Output and Interpretation</a:t>
            </a:r>
            <a:endParaRPr lang="en-US" sz="1100" dirty="0"/>
          </a:p>
        </p:txBody>
      </p:sp>
      <p:sp>
        <p:nvSpPr>
          <p:cNvPr id="19" name="Text 17"/>
          <p:cNvSpPr/>
          <p:nvPr/>
        </p:nvSpPr>
        <p:spPr>
          <a:xfrm>
            <a:off x="4773168" y="1481328"/>
            <a:ext cx="3931920" cy="2011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Descriptives</a:t>
            </a:r>
            <a:endParaRPr lang="en-US" sz="950" dirty="0"/>
          </a:p>
        </p:txBody>
      </p:sp>
      <p:sp>
        <p:nvSpPr>
          <p:cNvPr id="20" name="Shape 18"/>
          <p:cNvSpPr/>
          <p:nvPr/>
        </p:nvSpPr>
        <p:spPr>
          <a:xfrm>
            <a:off x="4773168" y="1700784"/>
            <a:ext cx="1170432" cy="292608"/>
          </a:xfrm>
          <a:prstGeom prst="rect">
            <a:avLst/>
          </a:prstGeom>
          <a:solidFill>
            <a:srgbClr val="061A24"/>
          </a:solidFill>
          <a:ln w="12700">
            <a:solidFill>
              <a:srgbClr val="061A24"/>
            </a:solidFill>
            <a:prstDash val="solid"/>
          </a:ln>
        </p:spPr>
      </p:sp>
      <p:sp>
        <p:nvSpPr>
          <p:cNvPr id="21" name="Text 19"/>
          <p:cNvSpPr/>
          <p:nvPr/>
        </p:nvSpPr>
        <p:spPr>
          <a:xfrm>
            <a:off x="4773168" y="1700784"/>
            <a:ext cx="11704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Age Group</a:t>
            </a:r>
            <a:endParaRPr lang="en-US" sz="850" dirty="0"/>
          </a:p>
        </p:txBody>
      </p:sp>
      <p:sp>
        <p:nvSpPr>
          <p:cNvPr id="22" name="Shape 20"/>
          <p:cNvSpPr/>
          <p:nvPr/>
        </p:nvSpPr>
        <p:spPr>
          <a:xfrm>
            <a:off x="5943600" y="1700784"/>
            <a:ext cx="493776" cy="292608"/>
          </a:xfrm>
          <a:prstGeom prst="rect">
            <a:avLst/>
          </a:prstGeom>
          <a:solidFill>
            <a:srgbClr val="061A24"/>
          </a:solidFill>
          <a:ln w="12700">
            <a:solidFill>
              <a:srgbClr val="061A24"/>
            </a:solidFill>
            <a:prstDash val="solid"/>
          </a:ln>
        </p:spPr>
      </p:sp>
      <p:sp>
        <p:nvSpPr>
          <p:cNvPr id="23" name="Text 21"/>
          <p:cNvSpPr/>
          <p:nvPr/>
        </p:nvSpPr>
        <p:spPr>
          <a:xfrm>
            <a:off x="5943600" y="1700784"/>
            <a:ext cx="4937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24" name="Shape 22"/>
          <p:cNvSpPr/>
          <p:nvPr/>
        </p:nvSpPr>
        <p:spPr>
          <a:xfrm>
            <a:off x="6437376" y="1700784"/>
            <a:ext cx="603504" cy="292608"/>
          </a:xfrm>
          <a:prstGeom prst="rect">
            <a:avLst/>
          </a:prstGeom>
          <a:solidFill>
            <a:srgbClr val="061A24"/>
          </a:solidFill>
          <a:ln w="12700">
            <a:solidFill>
              <a:srgbClr val="061A24"/>
            </a:solidFill>
            <a:prstDash val="solid"/>
          </a:ln>
        </p:spPr>
      </p:sp>
      <p:sp>
        <p:nvSpPr>
          <p:cNvPr id="25" name="Text 23"/>
          <p:cNvSpPr/>
          <p:nvPr/>
        </p:nvSpPr>
        <p:spPr>
          <a:xfrm>
            <a:off x="6437376" y="1700784"/>
            <a:ext cx="60350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a:t>
            </a:r>
            <a:endParaRPr lang="en-US" sz="850" dirty="0"/>
          </a:p>
        </p:txBody>
      </p:sp>
      <p:sp>
        <p:nvSpPr>
          <p:cNvPr id="26" name="Shape 24"/>
          <p:cNvSpPr/>
          <p:nvPr/>
        </p:nvSpPr>
        <p:spPr>
          <a:xfrm>
            <a:off x="7040880" y="1700784"/>
            <a:ext cx="585216" cy="292608"/>
          </a:xfrm>
          <a:prstGeom prst="rect">
            <a:avLst/>
          </a:prstGeom>
          <a:solidFill>
            <a:srgbClr val="061A24"/>
          </a:solidFill>
          <a:ln w="12700">
            <a:solidFill>
              <a:srgbClr val="061A24"/>
            </a:solidFill>
            <a:prstDash val="solid"/>
          </a:ln>
        </p:spPr>
      </p:sp>
      <p:sp>
        <p:nvSpPr>
          <p:cNvPr id="27" name="Text 25"/>
          <p:cNvSpPr/>
          <p:nvPr/>
        </p:nvSpPr>
        <p:spPr>
          <a:xfrm>
            <a:off x="7040880" y="1700784"/>
            <a:ext cx="58521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SD</a:t>
            </a:r>
            <a:endParaRPr lang="en-US" sz="850" dirty="0"/>
          </a:p>
        </p:txBody>
      </p:sp>
      <p:sp>
        <p:nvSpPr>
          <p:cNvPr id="28" name="Shape 26"/>
          <p:cNvSpPr/>
          <p:nvPr/>
        </p:nvSpPr>
        <p:spPr>
          <a:xfrm>
            <a:off x="4773168" y="1993392"/>
            <a:ext cx="1170432" cy="292608"/>
          </a:xfrm>
          <a:prstGeom prst="rect">
            <a:avLst/>
          </a:prstGeom>
          <a:solidFill>
            <a:srgbClr val="EAF6FA"/>
          </a:solidFill>
          <a:ln w="6350">
            <a:solidFill>
              <a:srgbClr val="C0DEE8"/>
            </a:solidFill>
            <a:prstDash val="solid"/>
          </a:ln>
        </p:spPr>
      </p:sp>
      <p:sp>
        <p:nvSpPr>
          <p:cNvPr id="29" name="Text 27"/>
          <p:cNvSpPr/>
          <p:nvPr/>
        </p:nvSpPr>
        <p:spPr>
          <a:xfrm>
            <a:off x="4773168" y="1993392"/>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18-30 (Youth)</a:t>
            </a:r>
            <a:endParaRPr lang="en-US" sz="850" dirty="0"/>
          </a:p>
        </p:txBody>
      </p:sp>
      <p:sp>
        <p:nvSpPr>
          <p:cNvPr id="30" name="Shape 28"/>
          <p:cNvSpPr/>
          <p:nvPr/>
        </p:nvSpPr>
        <p:spPr>
          <a:xfrm>
            <a:off x="5943600" y="1993392"/>
            <a:ext cx="493776" cy="292608"/>
          </a:xfrm>
          <a:prstGeom prst="rect">
            <a:avLst/>
          </a:prstGeom>
          <a:solidFill>
            <a:srgbClr val="EAF6FA"/>
          </a:solidFill>
          <a:ln w="6350">
            <a:solidFill>
              <a:srgbClr val="C0DEE8"/>
            </a:solidFill>
            <a:prstDash val="solid"/>
          </a:ln>
        </p:spPr>
      </p:sp>
      <p:sp>
        <p:nvSpPr>
          <p:cNvPr id="31" name="Text 29"/>
          <p:cNvSpPr/>
          <p:nvPr/>
        </p:nvSpPr>
        <p:spPr>
          <a:xfrm>
            <a:off x="5943600" y="1993392"/>
            <a:ext cx="4937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a:t>
            </a:r>
            <a:endParaRPr lang="en-US" sz="850" dirty="0"/>
          </a:p>
        </p:txBody>
      </p:sp>
      <p:sp>
        <p:nvSpPr>
          <p:cNvPr id="32" name="Shape 30"/>
          <p:cNvSpPr/>
          <p:nvPr/>
        </p:nvSpPr>
        <p:spPr>
          <a:xfrm>
            <a:off x="6437376" y="1993392"/>
            <a:ext cx="603504" cy="292608"/>
          </a:xfrm>
          <a:prstGeom prst="rect">
            <a:avLst/>
          </a:prstGeom>
          <a:solidFill>
            <a:srgbClr val="EAF6FA"/>
          </a:solidFill>
          <a:ln w="6350">
            <a:solidFill>
              <a:srgbClr val="C0DEE8"/>
            </a:solidFill>
            <a:prstDash val="solid"/>
          </a:ln>
        </p:spPr>
      </p:sp>
      <p:sp>
        <p:nvSpPr>
          <p:cNvPr id="33" name="Text 31"/>
          <p:cNvSpPr/>
          <p:nvPr/>
        </p:nvSpPr>
        <p:spPr>
          <a:xfrm>
            <a:off x="6437376" y="1993392"/>
            <a:ext cx="60350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3.52</a:t>
            </a:r>
            <a:endParaRPr lang="en-US" sz="850" dirty="0"/>
          </a:p>
        </p:txBody>
      </p:sp>
      <p:sp>
        <p:nvSpPr>
          <p:cNvPr id="34" name="Shape 32"/>
          <p:cNvSpPr/>
          <p:nvPr/>
        </p:nvSpPr>
        <p:spPr>
          <a:xfrm>
            <a:off x="7040880" y="1993392"/>
            <a:ext cx="585216" cy="292608"/>
          </a:xfrm>
          <a:prstGeom prst="rect">
            <a:avLst/>
          </a:prstGeom>
          <a:solidFill>
            <a:srgbClr val="EAF6FA"/>
          </a:solidFill>
          <a:ln w="6350">
            <a:solidFill>
              <a:srgbClr val="C0DEE8"/>
            </a:solidFill>
            <a:prstDash val="solid"/>
          </a:ln>
        </p:spPr>
      </p:sp>
      <p:sp>
        <p:nvSpPr>
          <p:cNvPr id="35" name="Text 33"/>
          <p:cNvSpPr/>
          <p:nvPr/>
        </p:nvSpPr>
        <p:spPr>
          <a:xfrm>
            <a:off x="7040880" y="1993392"/>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0.81</a:t>
            </a:r>
            <a:endParaRPr lang="en-US" sz="850" dirty="0"/>
          </a:p>
        </p:txBody>
      </p:sp>
      <p:sp>
        <p:nvSpPr>
          <p:cNvPr id="36" name="Shape 34"/>
          <p:cNvSpPr/>
          <p:nvPr/>
        </p:nvSpPr>
        <p:spPr>
          <a:xfrm>
            <a:off x="4773168" y="2286000"/>
            <a:ext cx="1170432" cy="292608"/>
          </a:xfrm>
          <a:prstGeom prst="rect">
            <a:avLst/>
          </a:prstGeom>
          <a:solidFill>
            <a:srgbClr val="FFFFFF"/>
          </a:solidFill>
          <a:ln w="6350">
            <a:solidFill>
              <a:srgbClr val="C0DEE8"/>
            </a:solidFill>
            <a:prstDash val="solid"/>
          </a:ln>
        </p:spPr>
      </p:sp>
      <p:sp>
        <p:nvSpPr>
          <p:cNvPr id="37" name="Text 35"/>
          <p:cNvSpPr/>
          <p:nvPr/>
        </p:nvSpPr>
        <p:spPr>
          <a:xfrm>
            <a:off x="4773168" y="2286000"/>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31-45 (Adult)</a:t>
            </a:r>
            <a:endParaRPr lang="en-US" sz="850" dirty="0"/>
          </a:p>
        </p:txBody>
      </p:sp>
      <p:sp>
        <p:nvSpPr>
          <p:cNvPr id="38" name="Shape 36"/>
          <p:cNvSpPr/>
          <p:nvPr/>
        </p:nvSpPr>
        <p:spPr>
          <a:xfrm>
            <a:off x="5943600" y="2286000"/>
            <a:ext cx="493776" cy="292608"/>
          </a:xfrm>
          <a:prstGeom prst="rect">
            <a:avLst/>
          </a:prstGeom>
          <a:solidFill>
            <a:srgbClr val="FFFFFF"/>
          </a:solidFill>
          <a:ln w="6350">
            <a:solidFill>
              <a:srgbClr val="C0DEE8"/>
            </a:solidFill>
            <a:prstDash val="solid"/>
          </a:ln>
        </p:spPr>
      </p:sp>
      <p:sp>
        <p:nvSpPr>
          <p:cNvPr id="39" name="Text 37"/>
          <p:cNvSpPr/>
          <p:nvPr/>
        </p:nvSpPr>
        <p:spPr>
          <a:xfrm>
            <a:off x="5943600" y="2286000"/>
            <a:ext cx="4937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168</a:t>
            </a:r>
            <a:endParaRPr lang="en-US" sz="850" dirty="0"/>
          </a:p>
        </p:txBody>
      </p:sp>
      <p:sp>
        <p:nvSpPr>
          <p:cNvPr id="40" name="Shape 38"/>
          <p:cNvSpPr/>
          <p:nvPr/>
        </p:nvSpPr>
        <p:spPr>
          <a:xfrm>
            <a:off x="6437376" y="2286000"/>
            <a:ext cx="603504" cy="292608"/>
          </a:xfrm>
          <a:prstGeom prst="rect">
            <a:avLst/>
          </a:prstGeom>
          <a:solidFill>
            <a:srgbClr val="FFFFFF"/>
          </a:solidFill>
          <a:ln w="6350">
            <a:solidFill>
              <a:srgbClr val="C0DEE8"/>
            </a:solidFill>
            <a:prstDash val="solid"/>
          </a:ln>
        </p:spPr>
      </p:sp>
      <p:sp>
        <p:nvSpPr>
          <p:cNvPr id="41" name="Text 39"/>
          <p:cNvSpPr/>
          <p:nvPr/>
        </p:nvSpPr>
        <p:spPr>
          <a:xfrm>
            <a:off x="6437376" y="2286000"/>
            <a:ext cx="60350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3.78</a:t>
            </a:r>
            <a:endParaRPr lang="en-US" sz="850" dirty="0"/>
          </a:p>
        </p:txBody>
      </p:sp>
      <p:sp>
        <p:nvSpPr>
          <p:cNvPr id="42" name="Shape 40"/>
          <p:cNvSpPr/>
          <p:nvPr/>
        </p:nvSpPr>
        <p:spPr>
          <a:xfrm>
            <a:off x="7040880" y="2286000"/>
            <a:ext cx="585216" cy="292608"/>
          </a:xfrm>
          <a:prstGeom prst="rect">
            <a:avLst/>
          </a:prstGeom>
          <a:solidFill>
            <a:srgbClr val="FFFFFF"/>
          </a:solidFill>
          <a:ln w="6350">
            <a:solidFill>
              <a:srgbClr val="C0DEE8"/>
            </a:solidFill>
            <a:prstDash val="solid"/>
          </a:ln>
        </p:spPr>
      </p:sp>
      <p:sp>
        <p:nvSpPr>
          <p:cNvPr id="43" name="Text 41"/>
          <p:cNvSpPr/>
          <p:nvPr/>
        </p:nvSpPr>
        <p:spPr>
          <a:xfrm>
            <a:off x="7040880" y="2286000"/>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0.82</a:t>
            </a:r>
            <a:endParaRPr lang="en-US" sz="850" dirty="0"/>
          </a:p>
        </p:txBody>
      </p:sp>
      <p:sp>
        <p:nvSpPr>
          <p:cNvPr id="44" name="Shape 42"/>
          <p:cNvSpPr/>
          <p:nvPr/>
        </p:nvSpPr>
        <p:spPr>
          <a:xfrm>
            <a:off x="4773168" y="2578608"/>
            <a:ext cx="1170432" cy="292608"/>
          </a:xfrm>
          <a:prstGeom prst="rect">
            <a:avLst/>
          </a:prstGeom>
          <a:solidFill>
            <a:srgbClr val="EAF6FA"/>
          </a:solidFill>
          <a:ln w="6350">
            <a:solidFill>
              <a:srgbClr val="C0DEE8"/>
            </a:solidFill>
            <a:prstDash val="solid"/>
          </a:ln>
        </p:spPr>
      </p:sp>
      <p:sp>
        <p:nvSpPr>
          <p:cNvPr id="45" name="Text 43"/>
          <p:cNvSpPr/>
          <p:nvPr/>
        </p:nvSpPr>
        <p:spPr>
          <a:xfrm>
            <a:off x="4773168" y="2578608"/>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46-60 (Mature)</a:t>
            </a:r>
            <a:endParaRPr lang="en-US" sz="850" dirty="0"/>
          </a:p>
        </p:txBody>
      </p:sp>
      <p:sp>
        <p:nvSpPr>
          <p:cNvPr id="46" name="Shape 44"/>
          <p:cNvSpPr/>
          <p:nvPr/>
        </p:nvSpPr>
        <p:spPr>
          <a:xfrm>
            <a:off x="5943600" y="2578608"/>
            <a:ext cx="493776" cy="292608"/>
          </a:xfrm>
          <a:prstGeom prst="rect">
            <a:avLst/>
          </a:prstGeom>
          <a:solidFill>
            <a:srgbClr val="EAF6FA"/>
          </a:solidFill>
          <a:ln w="6350">
            <a:solidFill>
              <a:srgbClr val="C0DEE8"/>
            </a:solidFill>
            <a:prstDash val="solid"/>
          </a:ln>
        </p:spPr>
      </p:sp>
      <p:sp>
        <p:nvSpPr>
          <p:cNvPr id="47" name="Text 45"/>
          <p:cNvSpPr/>
          <p:nvPr/>
        </p:nvSpPr>
        <p:spPr>
          <a:xfrm>
            <a:off x="5943600" y="2578608"/>
            <a:ext cx="4937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98</a:t>
            </a:r>
            <a:endParaRPr lang="en-US" sz="850" dirty="0"/>
          </a:p>
        </p:txBody>
      </p:sp>
      <p:sp>
        <p:nvSpPr>
          <p:cNvPr id="48" name="Shape 46"/>
          <p:cNvSpPr/>
          <p:nvPr/>
        </p:nvSpPr>
        <p:spPr>
          <a:xfrm>
            <a:off x="6437376" y="2578608"/>
            <a:ext cx="603504" cy="292608"/>
          </a:xfrm>
          <a:prstGeom prst="rect">
            <a:avLst/>
          </a:prstGeom>
          <a:solidFill>
            <a:srgbClr val="EAF6FA"/>
          </a:solidFill>
          <a:ln w="6350">
            <a:solidFill>
              <a:srgbClr val="C0DEE8"/>
            </a:solidFill>
            <a:prstDash val="solid"/>
          </a:ln>
        </p:spPr>
      </p:sp>
      <p:sp>
        <p:nvSpPr>
          <p:cNvPr id="49" name="Text 47"/>
          <p:cNvSpPr/>
          <p:nvPr/>
        </p:nvSpPr>
        <p:spPr>
          <a:xfrm>
            <a:off x="6437376" y="2578608"/>
            <a:ext cx="60350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3.86</a:t>
            </a:r>
            <a:endParaRPr lang="en-US" sz="850" dirty="0"/>
          </a:p>
        </p:txBody>
      </p:sp>
      <p:sp>
        <p:nvSpPr>
          <p:cNvPr id="50" name="Shape 48"/>
          <p:cNvSpPr/>
          <p:nvPr/>
        </p:nvSpPr>
        <p:spPr>
          <a:xfrm>
            <a:off x="7040880" y="2578608"/>
            <a:ext cx="585216" cy="292608"/>
          </a:xfrm>
          <a:prstGeom prst="rect">
            <a:avLst/>
          </a:prstGeom>
          <a:solidFill>
            <a:srgbClr val="EAF6FA"/>
          </a:solidFill>
          <a:ln w="6350">
            <a:solidFill>
              <a:srgbClr val="C0DEE8"/>
            </a:solidFill>
            <a:prstDash val="solid"/>
          </a:ln>
        </p:spPr>
      </p:sp>
      <p:sp>
        <p:nvSpPr>
          <p:cNvPr id="51" name="Text 49"/>
          <p:cNvSpPr/>
          <p:nvPr/>
        </p:nvSpPr>
        <p:spPr>
          <a:xfrm>
            <a:off x="7040880" y="2578608"/>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0.88</a:t>
            </a:r>
            <a:endParaRPr lang="en-US" sz="850" dirty="0"/>
          </a:p>
        </p:txBody>
      </p:sp>
      <p:sp>
        <p:nvSpPr>
          <p:cNvPr id="52" name="Shape 50"/>
          <p:cNvSpPr/>
          <p:nvPr/>
        </p:nvSpPr>
        <p:spPr>
          <a:xfrm>
            <a:off x="4773168" y="2871216"/>
            <a:ext cx="1170432" cy="292608"/>
          </a:xfrm>
          <a:prstGeom prst="rect">
            <a:avLst/>
          </a:prstGeom>
          <a:solidFill>
            <a:srgbClr val="FFFFFF"/>
          </a:solidFill>
          <a:ln w="6350">
            <a:solidFill>
              <a:srgbClr val="C0DEE8"/>
            </a:solidFill>
            <a:prstDash val="solid"/>
          </a:ln>
        </p:spPr>
      </p:sp>
      <p:sp>
        <p:nvSpPr>
          <p:cNvPr id="53" name="Text 51"/>
          <p:cNvSpPr/>
          <p:nvPr/>
        </p:nvSpPr>
        <p:spPr>
          <a:xfrm>
            <a:off x="4773168" y="2871216"/>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60+ (Senior)</a:t>
            </a:r>
            <a:endParaRPr lang="en-US" sz="850" dirty="0"/>
          </a:p>
        </p:txBody>
      </p:sp>
      <p:sp>
        <p:nvSpPr>
          <p:cNvPr id="54" name="Shape 52"/>
          <p:cNvSpPr/>
          <p:nvPr/>
        </p:nvSpPr>
        <p:spPr>
          <a:xfrm>
            <a:off x="5943600" y="2871216"/>
            <a:ext cx="493776" cy="292608"/>
          </a:xfrm>
          <a:prstGeom prst="rect">
            <a:avLst/>
          </a:prstGeom>
          <a:solidFill>
            <a:srgbClr val="FFFFFF"/>
          </a:solidFill>
          <a:ln w="6350">
            <a:solidFill>
              <a:srgbClr val="C0DEE8"/>
            </a:solidFill>
            <a:prstDash val="solid"/>
          </a:ln>
        </p:spPr>
      </p:sp>
      <p:sp>
        <p:nvSpPr>
          <p:cNvPr id="55" name="Text 53"/>
          <p:cNvSpPr/>
          <p:nvPr/>
        </p:nvSpPr>
        <p:spPr>
          <a:xfrm>
            <a:off x="5943600" y="2871216"/>
            <a:ext cx="4937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42</a:t>
            </a:r>
            <a:endParaRPr lang="en-US" sz="850" dirty="0"/>
          </a:p>
        </p:txBody>
      </p:sp>
      <p:sp>
        <p:nvSpPr>
          <p:cNvPr id="56" name="Shape 54"/>
          <p:cNvSpPr/>
          <p:nvPr/>
        </p:nvSpPr>
        <p:spPr>
          <a:xfrm>
            <a:off x="6437376" y="2871216"/>
            <a:ext cx="603504" cy="292608"/>
          </a:xfrm>
          <a:prstGeom prst="rect">
            <a:avLst/>
          </a:prstGeom>
          <a:solidFill>
            <a:srgbClr val="FFFFFF"/>
          </a:solidFill>
          <a:ln w="6350">
            <a:solidFill>
              <a:srgbClr val="C0DEE8"/>
            </a:solidFill>
            <a:prstDash val="solid"/>
          </a:ln>
        </p:spPr>
      </p:sp>
      <p:sp>
        <p:nvSpPr>
          <p:cNvPr id="57" name="Text 55"/>
          <p:cNvSpPr/>
          <p:nvPr/>
        </p:nvSpPr>
        <p:spPr>
          <a:xfrm>
            <a:off x="6437376" y="2871216"/>
            <a:ext cx="60350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4.12</a:t>
            </a:r>
            <a:endParaRPr lang="en-US" sz="850" dirty="0"/>
          </a:p>
        </p:txBody>
      </p:sp>
      <p:sp>
        <p:nvSpPr>
          <p:cNvPr id="58" name="Shape 56"/>
          <p:cNvSpPr/>
          <p:nvPr/>
        </p:nvSpPr>
        <p:spPr>
          <a:xfrm>
            <a:off x="7040880" y="2871216"/>
            <a:ext cx="585216" cy="292608"/>
          </a:xfrm>
          <a:prstGeom prst="rect">
            <a:avLst/>
          </a:prstGeom>
          <a:solidFill>
            <a:srgbClr val="FFFFFF"/>
          </a:solidFill>
          <a:ln w="6350">
            <a:solidFill>
              <a:srgbClr val="C0DEE8"/>
            </a:solidFill>
            <a:prstDash val="solid"/>
          </a:ln>
        </p:spPr>
      </p:sp>
      <p:sp>
        <p:nvSpPr>
          <p:cNvPr id="59" name="Text 57"/>
          <p:cNvSpPr/>
          <p:nvPr/>
        </p:nvSpPr>
        <p:spPr>
          <a:xfrm>
            <a:off x="7040880" y="2871216"/>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0.76</a:t>
            </a:r>
            <a:endParaRPr lang="en-US" sz="850" dirty="0"/>
          </a:p>
        </p:txBody>
      </p:sp>
      <p:sp>
        <p:nvSpPr>
          <p:cNvPr id="60" name="Text 58"/>
          <p:cNvSpPr/>
          <p:nvPr/>
        </p:nvSpPr>
        <p:spPr>
          <a:xfrm>
            <a:off x="4773168" y="2944368"/>
            <a:ext cx="3931920" cy="2011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ANOVA Table</a:t>
            </a:r>
            <a:endParaRPr lang="en-US" sz="950" dirty="0"/>
          </a:p>
        </p:txBody>
      </p:sp>
      <p:sp>
        <p:nvSpPr>
          <p:cNvPr id="61" name="Shape 59"/>
          <p:cNvSpPr/>
          <p:nvPr/>
        </p:nvSpPr>
        <p:spPr>
          <a:xfrm>
            <a:off x="4773168" y="3163824"/>
            <a:ext cx="1170432" cy="292608"/>
          </a:xfrm>
          <a:prstGeom prst="rect">
            <a:avLst/>
          </a:prstGeom>
          <a:solidFill>
            <a:srgbClr val="061A24"/>
          </a:solidFill>
          <a:ln w="12700">
            <a:solidFill>
              <a:srgbClr val="061A24"/>
            </a:solidFill>
            <a:prstDash val="solid"/>
          </a:ln>
        </p:spPr>
      </p:sp>
      <p:sp>
        <p:nvSpPr>
          <p:cNvPr id="62" name="Text 60"/>
          <p:cNvSpPr/>
          <p:nvPr/>
        </p:nvSpPr>
        <p:spPr>
          <a:xfrm>
            <a:off x="4773168" y="3163824"/>
            <a:ext cx="1170432" cy="292608"/>
          </a:xfrm>
          <a:prstGeom prst="rect">
            <a:avLst/>
          </a:prstGeom>
          <a:noFill/>
          <a:ln/>
        </p:spPr>
        <p:txBody>
          <a:bodyPr wrap="square" lIns="0" tIns="0" rIns="0" bIns="0" rtlCol="0" anchor="ctr"/>
          <a:lstStyle/>
          <a:p>
            <a:pPr algn="ctr" indent="0" marL="0">
              <a:buNone/>
            </a:pPr>
            <a:endParaRPr lang="en-US" sz="850" dirty="0"/>
          </a:p>
        </p:txBody>
      </p:sp>
      <p:sp>
        <p:nvSpPr>
          <p:cNvPr id="63" name="Shape 61"/>
          <p:cNvSpPr/>
          <p:nvPr/>
        </p:nvSpPr>
        <p:spPr>
          <a:xfrm>
            <a:off x="5943600" y="3163824"/>
            <a:ext cx="676656" cy="292608"/>
          </a:xfrm>
          <a:prstGeom prst="rect">
            <a:avLst/>
          </a:prstGeom>
          <a:solidFill>
            <a:srgbClr val="061A24"/>
          </a:solidFill>
          <a:ln w="12700">
            <a:solidFill>
              <a:srgbClr val="061A24"/>
            </a:solidFill>
            <a:prstDash val="solid"/>
          </a:ln>
        </p:spPr>
      </p:sp>
      <p:sp>
        <p:nvSpPr>
          <p:cNvPr id="64" name="Text 62"/>
          <p:cNvSpPr/>
          <p:nvPr/>
        </p:nvSpPr>
        <p:spPr>
          <a:xfrm>
            <a:off x="5943600" y="3163824"/>
            <a:ext cx="67665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Sum Sq</a:t>
            </a:r>
            <a:endParaRPr lang="en-US" sz="850" dirty="0"/>
          </a:p>
        </p:txBody>
      </p:sp>
      <p:sp>
        <p:nvSpPr>
          <p:cNvPr id="65" name="Shape 63"/>
          <p:cNvSpPr/>
          <p:nvPr/>
        </p:nvSpPr>
        <p:spPr>
          <a:xfrm>
            <a:off x="6620256" y="3163824"/>
            <a:ext cx="438912" cy="292608"/>
          </a:xfrm>
          <a:prstGeom prst="rect">
            <a:avLst/>
          </a:prstGeom>
          <a:solidFill>
            <a:srgbClr val="061A24"/>
          </a:solidFill>
          <a:ln w="12700">
            <a:solidFill>
              <a:srgbClr val="061A24"/>
            </a:solidFill>
            <a:prstDash val="solid"/>
          </a:ln>
        </p:spPr>
      </p:sp>
      <p:sp>
        <p:nvSpPr>
          <p:cNvPr id="66" name="Text 64"/>
          <p:cNvSpPr/>
          <p:nvPr/>
        </p:nvSpPr>
        <p:spPr>
          <a:xfrm>
            <a:off x="6620256" y="3163824"/>
            <a:ext cx="4389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67" name="Shape 65"/>
          <p:cNvSpPr/>
          <p:nvPr/>
        </p:nvSpPr>
        <p:spPr>
          <a:xfrm>
            <a:off x="7059168" y="3163824"/>
            <a:ext cx="694944" cy="292608"/>
          </a:xfrm>
          <a:prstGeom prst="rect">
            <a:avLst/>
          </a:prstGeom>
          <a:solidFill>
            <a:srgbClr val="061A24"/>
          </a:solidFill>
          <a:ln w="12700">
            <a:solidFill>
              <a:srgbClr val="061A24"/>
            </a:solidFill>
            <a:prstDash val="solid"/>
          </a:ln>
        </p:spPr>
      </p:sp>
      <p:sp>
        <p:nvSpPr>
          <p:cNvPr id="68" name="Text 66"/>
          <p:cNvSpPr/>
          <p:nvPr/>
        </p:nvSpPr>
        <p:spPr>
          <a:xfrm>
            <a:off x="7059168" y="3163824"/>
            <a:ext cx="69494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Sq</a:t>
            </a:r>
            <a:endParaRPr lang="en-US" sz="850" dirty="0"/>
          </a:p>
        </p:txBody>
      </p:sp>
      <p:sp>
        <p:nvSpPr>
          <p:cNvPr id="69" name="Shape 67"/>
          <p:cNvSpPr/>
          <p:nvPr/>
        </p:nvSpPr>
        <p:spPr>
          <a:xfrm>
            <a:off x="7754112" y="3163824"/>
            <a:ext cx="530352" cy="292608"/>
          </a:xfrm>
          <a:prstGeom prst="rect">
            <a:avLst/>
          </a:prstGeom>
          <a:solidFill>
            <a:srgbClr val="061A24"/>
          </a:solidFill>
          <a:ln w="12700">
            <a:solidFill>
              <a:srgbClr val="061A24"/>
            </a:solidFill>
            <a:prstDash val="solid"/>
          </a:ln>
        </p:spPr>
      </p:sp>
      <p:sp>
        <p:nvSpPr>
          <p:cNvPr id="70" name="Text 68"/>
          <p:cNvSpPr/>
          <p:nvPr/>
        </p:nvSpPr>
        <p:spPr>
          <a:xfrm>
            <a:off x="7754112" y="3163824"/>
            <a:ext cx="5303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71" name="Shape 69"/>
          <p:cNvSpPr/>
          <p:nvPr/>
        </p:nvSpPr>
        <p:spPr>
          <a:xfrm>
            <a:off x="8284464" y="3163824"/>
            <a:ext cx="530352" cy="292608"/>
          </a:xfrm>
          <a:prstGeom prst="rect">
            <a:avLst/>
          </a:prstGeom>
          <a:solidFill>
            <a:srgbClr val="061A24"/>
          </a:solidFill>
          <a:ln w="12700">
            <a:solidFill>
              <a:srgbClr val="061A24"/>
            </a:solidFill>
            <a:prstDash val="solid"/>
          </a:ln>
        </p:spPr>
      </p:sp>
      <p:sp>
        <p:nvSpPr>
          <p:cNvPr id="72" name="Text 70"/>
          <p:cNvSpPr/>
          <p:nvPr/>
        </p:nvSpPr>
        <p:spPr>
          <a:xfrm>
            <a:off x="8284464" y="3163824"/>
            <a:ext cx="5303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73" name="Shape 71"/>
          <p:cNvSpPr/>
          <p:nvPr/>
        </p:nvSpPr>
        <p:spPr>
          <a:xfrm>
            <a:off x="4773168" y="3456432"/>
            <a:ext cx="1170432" cy="292608"/>
          </a:xfrm>
          <a:prstGeom prst="rect">
            <a:avLst/>
          </a:prstGeom>
          <a:solidFill>
            <a:srgbClr val="EAF6FA"/>
          </a:solidFill>
          <a:ln w="6350">
            <a:solidFill>
              <a:srgbClr val="C0DEE8"/>
            </a:solidFill>
            <a:prstDash val="solid"/>
          </a:ln>
        </p:spPr>
      </p:sp>
      <p:sp>
        <p:nvSpPr>
          <p:cNvPr id="74" name="Text 72"/>
          <p:cNvSpPr/>
          <p:nvPr/>
        </p:nvSpPr>
        <p:spPr>
          <a:xfrm>
            <a:off x="4773168" y="3456432"/>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Between Groups</a:t>
            </a:r>
            <a:endParaRPr lang="en-US" sz="850" dirty="0"/>
          </a:p>
        </p:txBody>
      </p:sp>
      <p:sp>
        <p:nvSpPr>
          <p:cNvPr id="75" name="Shape 73"/>
          <p:cNvSpPr/>
          <p:nvPr/>
        </p:nvSpPr>
        <p:spPr>
          <a:xfrm>
            <a:off x="5943600" y="3456432"/>
            <a:ext cx="676656" cy="292608"/>
          </a:xfrm>
          <a:prstGeom prst="rect">
            <a:avLst/>
          </a:prstGeom>
          <a:solidFill>
            <a:srgbClr val="EAF6FA"/>
          </a:solidFill>
          <a:ln w="6350">
            <a:solidFill>
              <a:srgbClr val="C0DEE8"/>
            </a:solidFill>
            <a:prstDash val="solid"/>
          </a:ln>
        </p:spPr>
      </p:sp>
      <p:sp>
        <p:nvSpPr>
          <p:cNvPr id="76" name="Text 74"/>
          <p:cNvSpPr/>
          <p:nvPr/>
        </p:nvSpPr>
        <p:spPr>
          <a:xfrm>
            <a:off x="5943600" y="3456432"/>
            <a:ext cx="67665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10.34</a:t>
            </a:r>
            <a:endParaRPr lang="en-US" sz="850" dirty="0"/>
          </a:p>
        </p:txBody>
      </p:sp>
      <p:sp>
        <p:nvSpPr>
          <p:cNvPr id="77" name="Shape 75"/>
          <p:cNvSpPr/>
          <p:nvPr/>
        </p:nvSpPr>
        <p:spPr>
          <a:xfrm>
            <a:off x="6620256" y="3456432"/>
            <a:ext cx="438912" cy="292608"/>
          </a:xfrm>
          <a:prstGeom prst="rect">
            <a:avLst/>
          </a:prstGeom>
          <a:solidFill>
            <a:srgbClr val="EAF6FA"/>
          </a:solidFill>
          <a:ln w="6350">
            <a:solidFill>
              <a:srgbClr val="C0DEE8"/>
            </a:solidFill>
            <a:prstDash val="solid"/>
          </a:ln>
        </p:spPr>
      </p:sp>
      <p:sp>
        <p:nvSpPr>
          <p:cNvPr id="78" name="Text 76"/>
          <p:cNvSpPr/>
          <p:nvPr/>
        </p:nvSpPr>
        <p:spPr>
          <a:xfrm>
            <a:off x="6620256" y="3456432"/>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a:t>
            </a:r>
            <a:endParaRPr lang="en-US" sz="850" dirty="0"/>
          </a:p>
        </p:txBody>
      </p:sp>
      <p:sp>
        <p:nvSpPr>
          <p:cNvPr id="79" name="Shape 77"/>
          <p:cNvSpPr/>
          <p:nvPr/>
        </p:nvSpPr>
        <p:spPr>
          <a:xfrm>
            <a:off x="7059168" y="3456432"/>
            <a:ext cx="694944" cy="292608"/>
          </a:xfrm>
          <a:prstGeom prst="rect">
            <a:avLst/>
          </a:prstGeom>
          <a:solidFill>
            <a:srgbClr val="EAF6FA"/>
          </a:solidFill>
          <a:ln w="6350">
            <a:solidFill>
              <a:srgbClr val="C0DEE8"/>
            </a:solidFill>
            <a:prstDash val="solid"/>
          </a:ln>
        </p:spPr>
      </p:sp>
      <p:sp>
        <p:nvSpPr>
          <p:cNvPr id="80" name="Text 78"/>
          <p:cNvSpPr/>
          <p:nvPr/>
        </p:nvSpPr>
        <p:spPr>
          <a:xfrm>
            <a:off x="7059168" y="3456432"/>
            <a:ext cx="69494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3.45</a:t>
            </a:r>
            <a:endParaRPr lang="en-US" sz="850" dirty="0"/>
          </a:p>
        </p:txBody>
      </p:sp>
      <p:sp>
        <p:nvSpPr>
          <p:cNvPr id="81" name="Shape 79"/>
          <p:cNvSpPr/>
          <p:nvPr/>
        </p:nvSpPr>
        <p:spPr>
          <a:xfrm>
            <a:off x="7754112" y="3456432"/>
            <a:ext cx="530352" cy="292608"/>
          </a:xfrm>
          <a:prstGeom prst="rect">
            <a:avLst/>
          </a:prstGeom>
          <a:solidFill>
            <a:srgbClr val="D0EEF4"/>
          </a:solidFill>
          <a:ln w="6350">
            <a:solidFill>
              <a:srgbClr val="C0DEE8"/>
            </a:solidFill>
            <a:prstDash val="solid"/>
          </a:ln>
        </p:spPr>
      </p:sp>
      <p:sp>
        <p:nvSpPr>
          <p:cNvPr id="82" name="Text 80"/>
          <p:cNvSpPr/>
          <p:nvPr/>
        </p:nvSpPr>
        <p:spPr>
          <a:xfrm>
            <a:off x="7754112" y="3456432"/>
            <a:ext cx="53035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5.14</a:t>
            </a:r>
            <a:endParaRPr lang="en-US" sz="850" dirty="0"/>
          </a:p>
        </p:txBody>
      </p:sp>
      <p:sp>
        <p:nvSpPr>
          <p:cNvPr id="83" name="Shape 81"/>
          <p:cNvSpPr/>
          <p:nvPr/>
        </p:nvSpPr>
        <p:spPr>
          <a:xfrm>
            <a:off x="8284464" y="3456432"/>
            <a:ext cx="530352" cy="292608"/>
          </a:xfrm>
          <a:prstGeom prst="rect">
            <a:avLst/>
          </a:prstGeom>
          <a:solidFill>
            <a:srgbClr val="D0EEF4"/>
          </a:solidFill>
          <a:ln w="6350">
            <a:solidFill>
              <a:srgbClr val="C0DEE8"/>
            </a:solidFill>
            <a:prstDash val="solid"/>
          </a:ln>
        </p:spPr>
      </p:sp>
      <p:sp>
        <p:nvSpPr>
          <p:cNvPr id="84" name="Text 82"/>
          <p:cNvSpPr/>
          <p:nvPr/>
        </p:nvSpPr>
        <p:spPr>
          <a:xfrm>
            <a:off x="8284464" y="3456432"/>
            <a:ext cx="53035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.002</a:t>
            </a:r>
            <a:endParaRPr lang="en-US" sz="850" dirty="0"/>
          </a:p>
        </p:txBody>
      </p:sp>
      <p:sp>
        <p:nvSpPr>
          <p:cNvPr id="85" name="Shape 83"/>
          <p:cNvSpPr/>
          <p:nvPr/>
        </p:nvSpPr>
        <p:spPr>
          <a:xfrm>
            <a:off x="4773168" y="3749040"/>
            <a:ext cx="1170432" cy="292608"/>
          </a:xfrm>
          <a:prstGeom prst="rect">
            <a:avLst/>
          </a:prstGeom>
          <a:solidFill>
            <a:srgbClr val="FFFFFF"/>
          </a:solidFill>
          <a:ln w="6350">
            <a:solidFill>
              <a:srgbClr val="C0DEE8"/>
            </a:solidFill>
            <a:prstDash val="solid"/>
          </a:ln>
        </p:spPr>
      </p:sp>
      <p:sp>
        <p:nvSpPr>
          <p:cNvPr id="86" name="Text 84"/>
          <p:cNvSpPr/>
          <p:nvPr/>
        </p:nvSpPr>
        <p:spPr>
          <a:xfrm>
            <a:off x="4773168" y="3749040"/>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Within Groups</a:t>
            </a:r>
            <a:endParaRPr lang="en-US" sz="850" dirty="0"/>
          </a:p>
        </p:txBody>
      </p:sp>
      <p:sp>
        <p:nvSpPr>
          <p:cNvPr id="87" name="Shape 85"/>
          <p:cNvSpPr/>
          <p:nvPr/>
        </p:nvSpPr>
        <p:spPr>
          <a:xfrm>
            <a:off x="5943600" y="3749040"/>
            <a:ext cx="676656" cy="292608"/>
          </a:xfrm>
          <a:prstGeom prst="rect">
            <a:avLst/>
          </a:prstGeom>
          <a:solidFill>
            <a:srgbClr val="FFFFFF"/>
          </a:solidFill>
          <a:ln w="6350">
            <a:solidFill>
              <a:srgbClr val="C0DEE8"/>
            </a:solidFill>
            <a:prstDash val="solid"/>
          </a:ln>
        </p:spPr>
      </p:sp>
      <p:sp>
        <p:nvSpPr>
          <p:cNvPr id="88" name="Text 86"/>
          <p:cNvSpPr/>
          <p:nvPr/>
        </p:nvSpPr>
        <p:spPr>
          <a:xfrm>
            <a:off x="5943600" y="3749040"/>
            <a:ext cx="67665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298.1</a:t>
            </a:r>
            <a:endParaRPr lang="en-US" sz="850" dirty="0"/>
          </a:p>
        </p:txBody>
      </p:sp>
      <p:sp>
        <p:nvSpPr>
          <p:cNvPr id="89" name="Shape 87"/>
          <p:cNvSpPr/>
          <p:nvPr/>
        </p:nvSpPr>
        <p:spPr>
          <a:xfrm>
            <a:off x="6620256" y="3749040"/>
            <a:ext cx="438912" cy="292608"/>
          </a:xfrm>
          <a:prstGeom prst="rect">
            <a:avLst/>
          </a:prstGeom>
          <a:solidFill>
            <a:srgbClr val="FFFFFF"/>
          </a:solidFill>
          <a:ln w="6350">
            <a:solidFill>
              <a:srgbClr val="C0DEE8"/>
            </a:solidFill>
            <a:prstDash val="solid"/>
          </a:ln>
        </p:spPr>
      </p:sp>
      <p:sp>
        <p:nvSpPr>
          <p:cNvPr id="90" name="Text 88"/>
          <p:cNvSpPr/>
          <p:nvPr/>
        </p:nvSpPr>
        <p:spPr>
          <a:xfrm>
            <a:off x="6620256" y="3749040"/>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446</a:t>
            </a:r>
            <a:endParaRPr lang="en-US" sz="850" dirty="0"/>
          </a:p>
        </p:txBody>
      </p:sp>
      <p:sp>
        <p:nvSpPr>
          <p:cNvPr id="91" name="Shape 89"/>
          <p:cNvSpPr/>
          <p:nvPr/>
        </p:nvSpPr>
        <p:spPr>
          <a:xfrm>
            <a:off x="7059168" y="3749040"/>
            <a:ext cx="694944" cy="292608"/>
          </a:xfrm>
          <a:prstGeom prst="rect">
            <a:avLst/>
          </a:prstGeom>
          <a:solidFill>
            <a:srgbClr val="FFFFFF"/>
          </a:solidFill>
          <a:ln w="6350">
            <a:solidFill>
              <a:srgbClr val="C0DEE8"/>
            </a:solidFill>
            <a:prstDash val="solid"/>
          </a:ln>
        </p:spPr>
      </p:sp>
      <p:sp>
        <p:nvSpPr>
          <p:cNvPr id="92" name="Text 90"/>
          <p:cNvSpPr/>
          <p:nvPr/>
        </p:nvSpPr>
        <p:spPr>
          <a:xfrm>
            <a:off x="7059168" y="3749040"/>
            <a:ext cx="69494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0.668</a:t>
            </a:r>
            <a:endParaRPr lang="en-US" sz="850" dirty="0"/>
          </a:p>
        </p:txBody>
      </p:sp>
      <p:sp>
        <p:nvSpPr>
          <p:cNvPr id="93" name="Shape 91"/>
          <p:cNvSpPr/>
          <p:nvPr/>
        </p:nvSpPr>
        <p:spPr>
          <a:xfrm>
            <a:off x="7754112" y="3749040"/>
            <a:ext cx="530352" cy="292608"/>
          </a:xfrm>
          <a:prstGeom prst="rect">
            <a:avLst/>
          </a:prstGeom>
          <a:solidFill>
            <a:srgbClr val="FFFFFF"/>
          </a:solidFill>
          <a:ln w="6350">
            <a:solidFill>
              <a:srgbClr val="C0DEE8"/>
            </a:solidFill>
            <a:prstDash val="solid"/>
          </a:ln>
        </p:spPr>
      </p:sp>
      <p:sp>
        <p:nvSpPr>
          <p:cNvPr id="94" name="Text 92"/>
          <p:cNvSpPr/>
          <p:nvPr/>
        </p:nvSpPr>
        <p:spPr>
          <a:xfrm>
            <a:off x="7754112" y="3749040"/>
            <a:ext cx="530352" cy="292608"/>
          </a:xfrm>
          <a:prstGeom prst="rect">
            <a:avLst/>
          </a:prstGeom>
          <a:noFill/>
          <a:ln/>
        </p:spPr>
        <p:txBody>
          <a:bodyPr wrap="square" lIns="0" tIns="0" rIns="0" bIns="0" rtlCol="0" anchor="ctr"/>
          <a:lstStyle/>
          <a:p>
            <a:pPr algn="ctr" indent="0" marL="0">
              <a:buNone/>
            </a:pPr>
            <a:endParaRPr lang="en-US" sz="850" dirty="0"/>
          </a:p>
        </p:txBody>
      </p:sp>
      <p:sp>
        <p:nvSpPr>
          <p:cNvPr id="95" name="Shape 93"/>
          <p:cNvSpPr/>
          <p:nvPr/>
        </p:nvSpPr>
        <p:spPr>
          <a:xfrm>
            <a:off x="8284464" y="3749040"/>
            <a:ext cx="530352" cy="292608"/>
          </a:xfrm>
          <a:prstGeom prst="rect">
            <a:avLst/>
          </a:prstGeom>
          <a:solidFill>
            <a:srgbClr val="FFFFFF"/>
          </a:solidFill>
          <a:ln w="6350">
            <a:solidFill>
              <a:srgbClr val="C0DEE8"/>
            </a:solidFill>
            <a:prstDash val="solid"/>
          </a:ln>
        </p:spPr>
      </p:sp>
      <p:sp>
        <p:nvSpPr>
          <p:cNvPr id="96" name="Text 94"/>
          <p:cNvSpPr/>
          <p:nvPr/>
        </p:nvSpPr>
        <p:spPr>
          <a:xfrm>
            <a:off x="8284464" y="3749040"/>
            <a:ext cx="530352" cy="292608"/>
          </a:xfrm>
          <a:prstGeom prst="rect">
            <a:avLst/>
          </a:prstGeom>
          <a:noFill/>
          <a:ln/>
        </p:spPr>
        <p:txBody>
          <a:bodyPr wrap="square" lIns="0" tIns="0" rIns="0" bIns="0" rtlCol="0" anchor="ctr"/>
          <a:lstStyle/>
          <a:p>
            <a:pPr algn="ctr" indent="0" marL="0">
              <a:buNone/>
            </a:pPr>
            <a:endParaRPr lang="en-US" sz="850" dirty="0"/>
          </a:p>
        </p:txBody>
      </p:sp>
      <p:sp>
        <p:nvSpPr>
          <p:cNvPr id="97" name="Shape 95"/>
          <p:cNvSpPr/>
          <p:nvPr/>
        </p:nvSpPr>
        <p:spPr>
          <a:xfrm>
            <a:off x="4773168" y="4041648"/>
            <a:ext cx="1170432" cy="292608"/>
          </a:xfrm>
          <a:prstGeom prst="rect">
            <a:avLst/>
          </a:prstGeom>
          <a:solidFill>
            <a:srgbClr val="EAF6FA"/>
          </a:solidFill>
          <a:ln w="6350">
            <a:solidFill>
              <a:srgbClr val="C0DEE8"/>
            </a:solidFill>
            <a:prstDash val="solid"/>
          </a:ln>
        </p:spPr>
      </p:sp>
      <p:sp>
        <p:nvSpPr>
          <p:cNvPr id="98" name="Text 96"/>
          <p:cNvSpPr/>
          <p:nvPr/>
        </p:nvSpPr>
        <p:spPr>
          <a:xfrm>
            <a:off x="4773168" y="4041648"/>
            <a:ext cx="11704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Total</a:t>
            </a:r>
            <a:endParaRPr lang="en-US" sz="850" dirty="0"/>
          </a:p>
        </p:txBody>
      </p:sp>
      <p:sp>
        <p:nvSpPr>
          <p:cNvPr id="99" name="Shape 97"/>
          <p:cNvSpPr/>
          <p:nvPr/>
        </p:nvSpPr>
        <p:spPr>
          <a:xfrm>
            <a:off x="5943600" y="4041648"/>
            <a:ext cx="676656" cy="292608"/>
          </a:xfrm>
          <a:prstGeom prst="rect">
            <a:avLst/>
          </a:prstGeom>
          <a:solidFill>
            <a:srgbClr val="EAF6FA"/>
          </a:solidFill>
          <a:ln w="6350">
            <a:solidFill>
              <a:srgbClr val="C0DEE8"/>
            </a:solidFill>
            <a:prstDash val="solid"/>
          </a:ln>
        </p:spPr>
      </p:sp>
      <p:sp>
        <p:nvSpPr>
          <p:cNvPr id="100" name="Text 98"/>
          <p:cNvSpPr/>
          <p:nvPr/>
        </p:nvSpPr>
        <p:spPr>
          <a:xfrm>
            <a:off x="5943600" y="4041648"/>
            <a:ext cx="67665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308.4</a:t>
            </a:r>
            <a:endParaRPr lang="en-US" sz="850" dirty="0"/>
          </a:p>
        </p:txBody>
      </p:sp>
      <p:sp>
        <p:nvSpPr>
          <p:cNvPr id="101" name="Shape 99"/>
          <p:cNvSpPr/>
          <p:nvPr/>
        </p:nvSpPr>
        <p:spPr>
          <a:xfrm>
            <a:off x="6620256" y="4041648"/>
            <a:ext cx="438912" cy="292608"/>
          </a:xfrm>
          <a:prstGeom prst="rect">
            <a:avLst/>
          </a:prstGeom>
          <a:solidFill>
            <a:srgbClr val="EAF6FA"/>
          </a:solidFill>
          <a:ln w="6350">
            <a:solidFill>
              <a:srgbClr val="C0DEE8"/>
            </a:solidFill>
            <a:prstDash val="solid"/>
          </a:ln>
        </p:spPr>
      </p:sp>
      <p:sp>
        <p:nvSpPr>
          <p:cNvPr id="102" name="Text 100"/>
          <p:cNvSpPr/>
          <p:nvPr/>
        </p:nvSpPr>
        <p:spPr>
          <a:xfrm>
            <a:off x="6620256" y="4041648"/>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449</a:t>
            </a:r>
            <a:endParaRPr lang="en-US" sz="850" dirty="0"/>
          </a:p>
        </p:txBody>
      </p:sp>
      <p:sp>
        <p:nvSpPr>
          <p:cNvPr id="103" name="Shape 101"/>
          <p:cNvSpPr/>
          <p:nvPr/>
        </p:nvSpPr>
        <p:spPr>
          <a:xfrm>
            <a:off x="7059168" y="4041648"/>
            <a:ext cx="694944" cy="292608"/>
          </a:xfrm>
          <a:prstGeom prst="rect">
            <a:avLst/>
          </a:prstGeom>
          <a:solidFill>
            <a:srgbClr val="EAF6FA"/>
          </a:solidFill>
          <a:ln w="6350">
            <a:solidFill>
              <a:srgbClr val="C0DEE8"/>
            </a:solidFill>
            <a:prstDash val="solid"/>
          </a:ln>
        </p:spPr>
      </p:sp>
      <p:sp>
        <p:nvSpPr>
          <p:cNvPr id="104" name="Text 102"/>
          <p:cNvSpPr/>
          <p:nvPr/>
        </p:nvSpPr>
        <p:spPr>
          <a:xfrm>
            <a:off x="7059168" y="4041648"/>
            <a:ext cx="694944" cy="292608"/>
          </a:xfrm>
          <a:prstGeom prst="rect">
            <a:avLst/>
          </a:prstGeom>
          <a:noFill/>
          <a:ln/>
        </p:spPr>
        <p:txBody>
          <a:bodyPr wrap="square" lIns="0" tIns="0" rIns="0" bIns="0" rtlCol="0" anchor="ctr"/>
          <a:lstStyle/>
          <a:p>
            <a:pPr algn="ctr" indent="0" marL="0">
              <a:buNone/>
            </a:pPr>
            <a:endParaRPr lang="en-US" sz="850" dirty="0"/>
          </a:p>
        </p:txBody>
      </p:sp>
      <p:sp>
        <p:nvSpPr>
          <p:cNvPr id="105" name="Shape 103"/>
          <p:cNvSpPr/>
          <p:nvPr/>
        </p:nvSpPr>
        <p:spPr>
          <a:xfrm>
            <a:off x="7754112" y="4041648"/>
            <a:ext cx="530352" cy="292608"/>
          </a:xfrm>
          <a:prstGeom prst="rect">
            <a:avLst/>
          </a:prstGeom>
          <a:solidFill>
            <a:srgbClr val="EAF6FA"/>
          </a:solidFill>
          <a:ln w="6350">
            <a:solidFill>
              <a:srgbClr val="C0DEE8"/>
            </a:solidFill>
            <a:prstDash val="solid"/>
          </a:ln>
        </p:spPr>
      </p:sp>
      <p:sp>
        <p:nvSpPr>
          <p:cNvPr id="106" name="Text 104"/>
          <p:cNvSpPr/>
          <p:nvPr/>
        </p:nvSpPr>
        <p:spPr>
          <a:xfrm>
            <a:off x="7754112" y="4041648"/>
            <a:ext cx="530352" cy="292608"/>
          </a:xfrm>
          <a:prstGeom prst="rect">
            <a:avLst/>
          </a:prstGeom>
          <a:noFill/>
          <a:ln/>
        </p:spPr>
        <p:txBody>
          <a:bodyPr wrap="square" lIns="0" tIns="0" rIns="0" bIns="0" rtlCol="0" anchor="ctr"/>
          <a:lstStyle/>
          <a:p>
            <a:pPr algn="ctr" indent="0" marL="0">
              <a:buNone/>
            </a:pPr>
            <a:endParaRPr lang="en-US" sz="850" dirty="0"/>
          </a:p>
        </p:txBody>
      </p:sp>
      <p:sp>
        <p:nvSpPr>
          <p:cNvPr id="107" name="Shape 105"/>
          <p:cNvSpPr/>
          <p:nvPr/>
        </p:nvSpPr>
        <p:spPr>
          <a:xfrm>
            <a:off x="8284464" y="4041648"/>
            <a:ext cx="530352" cy="292608"/>
          </a:xfrm>
          <a:prstGeom prst="rect">
            <a:avLst/>
          </a:prstGeom>
          <a:solidFill>
            <a:srgbClr val="EAF6FA"/>
          </a:solidFill>
          <a:ln w="6350">
            <a:solidFill>
              <a:srgbClr val="C0DEE8"/>
            </a:solidFill>
            <a:prstDash val="solid"/>
          </a:ln>
        </p:spPr>
      </p:sp>
      <p:sp>
        <p:nvSpPr>
          <p:cNvPr id="108" name="Text 106"/>
          <p:cNvSpPr/>
          <p:nvPr/>
        </p:nvSpPr>
        <p:spPr>
          <a:xfrm>
            <a:off x="8284464" y="4041648"/>
            <a:ext cx="530352" cy="292608"/>
          </a:xfrm>
          <a:prstGeom prst="rect">
            <a:avLst/>
          </a:prstGeom>
          <a:noFill/>
          <a:ln/>
        </p:spPr>
        <p:txBody>
          <a:bodyPr wrap="square" lIns="0" tIns="0" rIns="0" bIns="0" rtlCol="0" anchor="ctr"/>
          <a:lstStyle/>
          <a:p>
            <a:pPr algn="ctr" indent="0" marL="0">
              <a:buNone/>
            </a:pPr>
            <a:endParaRPr lang="en-US" sz="850" dirty="0"/>
          </a:p>
        </p:txBody>
      </p:sp>
      <p:sp>
        <p:nvSpPr>
          <p:cNvPr id="109" name="Text 107"/>
          <p:cNvSpPr/>
          <p:nvPr/>
        </p:nvSpPr>
        <p:spPr>
          <a:xfrm>
            <a:off x="4773168" y="4005072"/>
            <a:ext cx="3931920" cy="40233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F(3, 446) = 5.14, p = .002 → SIGNIFICANT. </a:t>
            </a:r>
            <a:pPr indent="0" marL="0">
              <a:buNone/>
            </a:pPr>
            <a:r>
              <a:rPr lang="en-US" sz="950" dirty="0">
                <a:solidFill>
                  <a:srgbClr val="1A2E38"/>
                </a:solidFill>
                <a:latin typeface="Calibri" pitchFamily="34" charset="0"/>
                <a:ea typeface="Calibri" pitchFamily="34" charset="-122"/>
                <a:cs typeface="Calibri" pitchFamily="34" charset="-120"/>
              </a:rPr>
              <a:t>At least one age group differs. Now run Post Hoc to find which pairs.</a:t>
            </a:r>
            <a:endParaRPr lang="en-US" sz="950" dirty="0"/>
          </a:p>
        </p:txBody>
      </p:sp>
      <p:sp>
        <p:nvSpPr>
          <p:cNvPr id="110" name="Text 108"/>
          <p:cNvSpPr/>
          <p:nvPr/>
        </p:nvSpPr>
        <p:spPr>
          <a:xfrm>
            <a:off x="4773168" y="4462272"/>
            <a:ext cx="3931920" cy="2011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Tukey Post Hoc (Multiple Comparisons):</a:t>
            </a:r>
            <a:endParaRPr lang="en-US" sz="950" dirty="0"/>
          </a:p>
        </p:txBody>
      </p:sp>
      <p:sp>
        <p:nvSpPr>
          <p:cNvPr id="111" name="Shape 109"/>
          <p:cNvSpPr/>
          <p:nvPr/>
        </p:nvSpPr>
        <p:spPr>
          <a:xfrm>
            <a:off x="4773168" y="4681728"/>
            <a:ext cx="2011680" cy="292608"/>
          </a:xfrm>
          <a:prstGeom prst="rect">
            <a:avLst/>
          </a:prstGeom>
          <a:solidFill>
            <a:srgbClr val="061A24"/>
          </a:solidFill>
          <a:ln w="12700">
            <a:solidFill>
              <a:srgbClr val="061A24"/>
            </a:solidFill>
            <a:prstDash val="solid"/>
          </a:ln>
        </p:spPr>
      </p:sp>
      <p:sp>
        <p:nvSpPr>
          <p:cNvPr id="112" name="Text 110"/>
          <p:cNvSpPr/>
          <p:nvPr/>
        </p:nvSpPr>
        <p:spPr>
          <a:xfrm>
            <a:off x="4773168" y="468172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Group I vs J</a:t>
            </a:r>
            <a:endParaRPr lang="en-US" sz="850" dirty="0"/>
          </a:p>
        </p:txBody>
      </p:sp>
      <p:sp>
        <p:nvSpPr>
          <p:cNvPr id="113" name="Shape 111"/>
          <p:cNvSpPr/>
          <p:nvPr/>
        </p:nvSpPr>
        <p:spPr>
          <a:xfrm>
            <a:off x="6784848" y="4681728"/>
            <a:ext cx="914400" cy="292608"/>
          </a:xfrm>
          <a:prstGeom prst="rect">
            <a:avLst/>
          </a:prstGeom>
          <a:solidFill>
            <a:srgbClr val="061A24"/>
          </a:solidFill>
          <a:ln w="12700">
            <a:solidFill>
              <a:srgbClr val="061A24"/>
            </a:solidFill>
            <a:prstDash val="solid"/>
          </a:ln>
        </p:spPr>
      </p:sp>
      <p:sp>
        <p:nvSpPr>
          <p:cNvPr id="114" name="Text 112"/>
          <p:cNvSpPr/>
          <p:nvPr/>
        </p:nvSpPr>
        <p:spPr>
          <a:xfrm>
            <a:off x="6784848" y="4681728"/>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Diff</a:t>
            </a:r>
            <a:endParaRPr lang="en-US" sz="850" dirty="0"/>
          </a:p>
        </p:txBody>
      </p:sp>
      <p:sp>
        <p:nvSpPr>
          <p:cNvPr id="115" name="Shape 113"/>
          <p:cNvSpPr/>
          <p:nvPr/>
        </p:nvSpPr>
        <p:spPr>
          <a:xfrm>
            <a:off x="7699248" y="4681728"/>
            <a:ext cx="658368" cy="292608"/>
          </a:xfrm>
          <a:prstGeom prst="rect">
            <a:avLst/>
          </a:prstGeom>
          <a:solidFill>
            <a:srgbClr val="061A24"/>
          </a:solidFill>
          <a:ln w="12700">
            <a:solidFill>
              <a:srgbClr val="061A24"/>
            </a:solidFill>
            <a:prstDash val="solid"/>
          </a:ln>
        </p:spPr>
      </p:sp>
      <p:sp>
        <p:nvSpPr>
          <p:cNvPr id="116" name="Text 114"/>
          <p:cNvSpPr/>
          <p:nvPr/>
        </p:nvSpPr>
        <p:spPr>
          <a:xfrm>
            <a:off x="7699248" y="4681728"/>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117" name="Shape 115"/>
          <p:cNvSpPr/>
          <p:nvPr/>
        </p:nvSpPr>
        <p:spPr>
          <a:xfrm>
            <a:off x="4773168" y="4974336"/>
            <a:ext cx="2011680" cy="292608"/>
          </a:xfrm>
          <a:prstGeom prst="rect">
            <a:avLst/>
          </a:prstGeom>
          <a:solidFill>
            <a:srgbClr val="EAF6FA"/>
          </a:solidFill>
          <a:ln w="6350">
            <a:solidFill>
              <a:srgbClr val="C0DEE8"/>
            </a:solidFill>
            <a:prstDash val="solid"/>
          </a:ln>
        </p:spPr>
      </p:sp>
      <p:sp>
        <p:nvSpPr>
          <p:cNvPr id="118" name="Text 116"/>
          <p:cNvSpPr/>
          <p:nvPr/>
        </p:nvSpPr>
        <p:spPr>
          <a:xfrm>
            <a:off x="4773168" y="4974336"/>
            <a:ext cx="201168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Youth vs Senior</a:t>
            </a:r>
            <a:endParaRPr lang="en-US" sz="850" dirty="0"/>
          </a:p>
        </p:txBody>
      </p:sp>
      <p:sp>
        <p:nvSpPr>
          <p:cNvPr id="119" name="Shape 117"/>
          <p:cNvSpPr/>
          <p:nvPr/>
        </p:nvSpPr>
        <p:spPr>
          <a:xfrm>
            <a:off x="6784848" y="4974336"/>
            <a:ext cx="914400" cy="292608"/>
          </a:xfrm>
          <a:prstGeom prst="rect">
            <a:avLst/>
          </a:prstGeom>
          <a:solidFill>
            <a:srgbClr val="EAF6FA"/>
          </a:solidFill>
          <a:ln w="6350">
            <a:solidFill>
              <a:srgbClr val="C0DEE8"/>
            </a:solidFill>
            <a:prstDash val="solid"/>
          </a:ln>
        </p:spPr>
      </p:sp>
      <p:sp>
        <p:nvSpPr>
          <p:cNvPr id="120" name="Text 118"/>
          <p:cNvSpPr/>
          <p:nvPr/>
        </p:nvSpPr>
        <p:spPr>
          <a:xfrm>
            <a:off x="6784848" y="4974336"/>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-.600</a:t>
            </a:r>
            <a:endParaRPr lang="en-US" sz="850" dirty="0"/>
          </a:p>
        </p:txBody>
      </p:sp>
      <p:sp>
        <p:nvSpPr>
          <p:cNvPr id="121" name="Shape 119"/>
          <p:cNvSpPr/>
          <p:nvPr/>
        </p:nvSpPr>
        <p:spPr>
          <a:xfrm>
            <a:off x="7699248" y="4974336"/>
            <a:ext cx="658368" cy="292608"/>
          </a:xfrm>
          <a:prstGeom prst="rect">
            <a:avLst/>
          </a:prstGeom>
          <a:solidFill>
            <a:srgbClr val="D0EEF4"/>
          </a:solidFill>
          <a:ln w="6350">
            <a:solidFill>
              <a:srgbClr val="C0DEE8"/>
            </a:solidFill>
            <a:prstDash val="solid"/>
          </a:ln>
        </p:spPr>
      </p:sp>
      <p:sp>
        <p:nvSpPr>
          <p:cNvPr id="122" name="Text 120"/>
          <p:cNvSpPr/>
          <p:nvPr/>
        </p:nvSpPr>
        <p:spPr>
          <a:xfrm>
            <a:off x="7699248" y="4974336"/>
            <a:ext cx="65836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.006</a:t>
            </a:r>
            <a:endParaRPr lang="en-US" sz="850" dirty="0"/>
          </a:p>
        </p:txBody>
      </p:sp>
      <p:sp>
        <p:nvSpPr>
          <p:cNvPr id="123" name="Shape 121"/>
          <p:cNvSpPr/>
          <p:nvPr/>
        </p:nvSpPr>
        <p:spPr>
          <a:xfrm>
            <a:off x="4773168" y="5266944"/>
            <a:ext cx="2011680" cy="292608"/>
          </a:xfrm>
          <a:prstGeom prst="rect">
            <a:avLst/>
          </a:prstGeom>
          <a:solidFill>
            <a:srgbClr val="FFFFFF"/>
          </a:solidFill>
          <a:ln w="6350">
            <a:solidFill>
              <a:srgbClr val="C0DEE8"/>
            </a:solidFill>
            <a:prstDash val="solid"/>
          </a:ln>
        </p:spPr>
      </p:sp>
      <p:sp>
        <p:nvSpPr>
          <p:cNvPr id="124" name="Text 122"/>
          <p:cNvSpPr/>
          <p:nvPr/>
        </p:nvSpPr>
        <p:spPr>
          <a:xfrm>
            <a:off x="4773168" y="5266944"/>
            <a:ext cx="201168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Adult vs Senior</a:t>
            </a:r>
            <a:endParaRPr lang="en-US" sz="850" dirty="0"/>
          </a:p>
        </p:txBody>
      </p:sp>
      <p:sp>
        <p:nvSpPr>
          <p:cNvPr id="125" name="Shape 123"/>
          <p:cNvSpPr/>
          <p:nvPr/>
        </p:nvSpPr>
        <p:spPr>
          <a:xfrm>
            <a:off x="6784848" y="5266944"/>
            <a:ext cx="914400" cy="292608"/>
          </a:xfrm>
          <a:prstGeom prst="rect">
            <a:avLst/>
          </a:prstGeom>
          <a:solidFill>
            <a:srgbClr val="FFFFFF"/>
          </a:solidFill>
          <a:ln w="6350">
            <a:solidFill>
              <a:srgbClr val="C0DEE8"/>
            </a:solidFill>
            <a:prstDash val="solid"/>
          </a:ln>
        </p:spPr>
      </p:sp>
      <p:sp>
        <p:nvSpPr>
          <p:cNvPr id="126" name="Text 124"/>
          <p:cNvSpPr/>
          <p:nvPr/>
        </p:nvSpPr>
        <p:spPr>
          <a:xfrm>
            <a:off x="6784848" y="5266944"/>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-.340</a:t>
            </a:r>
            <a:endParaRPr lang="en-US" sz="850" dirty="0"/>
          </a:p>
        </p:txBody>
      </p:sp>
      <p:sp>
        <p:nvSpPr>
          <p:cNvPr id="127" name="Shape 125"/>
          <p:cNvSpPr/>
          <p:nvPr/>
        </p:nvSpPr>
        <p:spPr>
          <a:xfrm>
            <a:off x="7699248" y="5266944"/>
            <a:ext cx="658368" cy="292608"/>
          </a:xfrm>
          <a:prstGeom prst="rect">
            <a:avLst/>
          </a:prstGeom>
          <a:solidFill>
            <a:srgbClr val="FFFFFF"/>
          </a:solidFill>
          <a:ln w="6350">
            <a:solidFill>
              <a:srgbClr val="C0DEE8"/>
            </a:solidFill>
            <a:prstDash val="solid"/>
          </a:ln>
        </p:spPr>
      </p:sp>
      <p:sp>
        <p:nvSpPr>
          <p:cNvPr id="128" name="Text 126"/>
          <p:cNvSpPr/>
          <p:nvPr/>
        </p:nvSpPr>
        <p:spPr>
          <a:xfrm>
            <a:off x="7699248" y="5266944"/>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.158</a:t>
            </a:r>
            <a:endParaRPr lang="en-US" sz="850" dirty="0"/>
          </a:p>
        </p:txBody>
      </p:sp>
      <p:sp>
        <p:nvSpPr>
          <p:cNvPr id="129" name="Shape 127"/>
          <p:cNvSpPr/>
          <p:nvPr/>
        </p:nvSpPr>
        <p:spPr>
          <a:xfrm>
            <a:off x="4773168" y="5559552"/>
            <a:ext cx="2011680" cy="292608"/>
          </a:xfrm>
          <a:prstGeom prst="rect">
            <a:avLst/>
          </a:prstGeom>
          <a:solidFill>
            <a:srgbClr val="EAF6FA"/>
          </a:solidFill>
          <a:ln w="6350">
            <a:solidFill>
              <a:srgbClr val="C0DEE8"/>
            </a:solidFill>
            <a:prstDash val="solid"/>
          </a:ln>
        </p:spPr>
      </p:sp>
      <p:sp>
        <p:nvSpPr>
          <p:cNvPr id="130" name="Text 128"/>
          <p:cNvSpPr/>
          <p:nvPr/>
        </p:nvSpPr>
        <p:spPr>
          <a:xfrm>
            <a:off x="4773168" y="5559552"/>
            <a:ext cx="201168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Youth vs Mature</a:t>
            </a:r>
            <a:endParaRPr lang="en-US" sz="850" dirty="0"/>
          </a:p>
        </p:txBody>
      </p:sp>
      <p:sp>
        <p:nvSpPr>
          <p:cNvPr id="131" name="Shape 129"/>
          <p:cNvSpPr/>
          <p:nvPr/>
        </p:nvSpPr>
        <p:spPr>
          <a:xfrm>
            <a:off x="6784848" y="5559552"/>
            <a:ext cx="914400" cy="292608"/>
          </a:xfrm>
          <a:prstGeom prst="rect">
            <a:avLst/>
          </a:prstGeom>
          <a:solidFill>
            <a:srgbClr val="EAF6FA"/>
          </a:solidFill>
          <a:ln w="6350">
            <a:solidFill>
              <a:srgbClr val="C0DEE8"/>
            </a:solidFill>
            <a:prstDash val="solid"/>
          </a:ln>
        </p:spPr>
      </p:sp>
      <p:sp>
        <p:nvSpPr>
          <p:cNvPr id="132" name="Text 130"/>
          <p:cNvSpPr/>
          <p:nvPr/>
        </p:nvSpPr>
        <p:spPr>
          <a:xfrm>
            <a:off x="6784848" y="5559552"/>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-.340</a:t>
            </a:r>
            <a:endParaRPr lang="en-US" sz="850" dirty="0"/>
          </a:p>
        </p:txBody>
      </p:sp>
      <p:sp>
        <p:nvSpPr>
          <p:cNvPr id="133" name="Shape 131"/>
          <p:cNvSpPr/>
          <p:nvPr/>
        </p:nvSpPr>
        <p:spPr>
          <a:xfrm>
            <a:off x="7699248" y="5559552"/>
            <a:ext cx="658368" cy="292608"/>
          </a:xfrm>
          <a:prstGeom prst="rect">
            <a:avLst/>
          </a:prstGeom>
          <a:solidFill>
            <a:srgbClr val="EAF6FA"/>
          </a:solidFill>
          <a:ln w="6350">
            <a:solidFill>
              <a:srgbClr val="C0DEE8"/>
            </a:solidFill>
            <a:prstDash val="solid"/>
          </a:ln>
        </p:spPr>
      </p:sp>
      <p:sp>
        <p:nvSpPr>
          <p:cNvPr id="134" name="Text 132"/>
          <p:cNvSpPr/>
          <p:nvPr/>
        </p:nvSpPr>
        <p:spPr>
          <a:xfrm>
            <a:off x="7699248" y="5559552"/>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a:t>
            </a:r>
            <a:endParaRPr lang="en-US" sz="850" dirty="0"/>
          </a:p>
        </p:txBody>
      </p:sp>
      <p:sp>
        <p:nvSpPr>
          <p:cNvPr id="135" name="Shape 133"/>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136" name="Text 134"/>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Eta-squared = Between Groups SS / Total SS = 10.34 / 308.4 = .034 (small effect). Report: F(3, 446) = 5.14, p = .002, η² = .034. Youth consumers significantly less satisfied than Seniors.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E6B78">
              <a:alpha val="16000"/>
            </a:srgbClr>
          </a:solidFill>
          <a:ln w="12700">
            <a:solidFill>
              <a:srgbClr val="0E6B78"/>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Post-Hoc Tests - Which Pairs Differ?</a:t>
            </a:r>
            <a:endParaRPr lang="en-US" sz="2800" dirty="0"/>
          </a:p>
        </p:txBody>
      </p:sp>
      <p:sp>
        <p:nvSpPr>
          <p:cNvPr id="4" name="Text 2"/>
          <p:cNvSpPr/>
          <p:nvPr/>
        </p:nvSpPr>
        <p:spPr>
          <a:xfrm>
            <a:off x="457200" y="868680"/>
            <a:ext cx="7772400" cy="320040"/>
          </a:xfrm>
          <a:prstGeom prst="rect">
            <a:avLst/>
          </a:prstGeom>
          <a:noFill/>
          <a:ln/>
        </p:spPr>
        <p:txBody>
          <a:bodyPr wrap="square" lIns="0" tIns="0" rIns="0" bIns="0" rtlCol="0" anchor="ctr"/>
          <a:lstStyle/>
          <a:p>
            <a:pPr indent="0" marL="0">
              <a:buNone/>
            </a:pPr>
            <a:r>
              <a:rPr lang="en-US" sz="1200" i="1" dirty="0">
                <a:solidFill>
                  <a:srgbClr val="90D4E0"/>
                </a:solidFill>
                <a:latin typeface="Calibri" pitchFamily="34" charset="0"/>
                <a:ea typeface="Calibri" pitchFamily="34" charset="-122"/>
                <a:cs typeface="Calibri" pitchFamily="34" charset="-120"/>
              </a:rPr>
              <a:t>Run post-hoc tests ONLY when the overall ANOVA F-test is statistically significant (p &lt; .05)</a:t>
            </a:r>
            <a:endParaRPr lang="en-US" sz="1200" dirty="0"/>
          </a:p>
        </p:txBody>
      </p:sp>
      <p:sp>
        <p:nvSpPr>
          <p:cNvPr id="5" name="Shape 3"/>
          <p:cNvSpPr/>
          <p:nvPr/>
        </p:nvSpPr>
        <p:spPr>
          <a:xfrm>
            <a:off x="274320" y="987552"/>
            <a:ext cx="4160520" cy="1298448"/>
          </a:xfrm>
          <a:prstGeom prst="roundRect">
            <a:avLst>
              <a:gd name="adj" fmla="val 5634"/>
            </a:avLst>
          </a:prstGeom>
          <a:solidFill>
            <a:srgbClr val="0B2030"/>
          </a:solidFill>
          <a:ln w="12700">
            <a:solidFill>
              <a:srgbClr val="0E6B78"/>
            </a:solidFill>
            <a:prstDash val="solid"/>
          </a:ln>
        </p:spPr>
      </p:sp>
      <p:sp>
        <p:nvSpPr>
          <p:cNvPr id="6" name="Shape 4"/>
          <p:cNvSpPr/>
          <p:nvPr/>
        </p:nvSpPr>
        <p:spPr>
          <a:xfrm>
            <a:off x="365760" y="1060704"/>
            <a:ext cx="1234440" cy="274320"/>
          </a:xfrm>
          <a:prstGeom prst="roundRect">
            <a:avLst>
              <a:gd name="adj" fmla="val 16667"/>
            </a:avLst>
          </a:prstGeom>
          <a:solidFill>
            <a:srgbClr val="0E6B78"/>
          </a:solidFill>
          <a:ln w="12700">
            <a:solidFill>
              <a:srgbClr val="0E6B78"/>
            </a:solidFill>
            <a:prstDash val="solid"/>
          </a:ln>
        </p:spPr>
      </p:sp>
      <p:sp>
        <p:nvSpPr>
          <p:cNvPr id="7" name="Text 5"/>
          <p:cNvSpPr/>
          <p:nvPr/>
        </p:nvSpPr>
        <p:spPr>
          <a:xfrm>
            <a:off x="365760" y="1060704"/>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Tukey HSD</a:t>
            </a:r>
            <a:endParaRPr lang="en-US" sz="1000" dirty="0"/>
          </a:p>
        </p:txBody>
      </p:sp>
      <p:sp>
        <p:nvSpPr>
          <p:cNvPr id="8" name="Text 6"/>
          <p:cNvSpPr/>
          <p:nvPr/>
        </p:nvSpPr>
        <p:spPr>
          <a:xfrm>
            <a:off x="384048" y="1389888"/>
            <a:ext cx="3913632" cy="347472"/>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Use when: Equal or approximately equal group sizes. Most commonly used in social science research.</a:t>
            </a:r>
            <a:endParaRPr lang="en-US" sz="850" dirty="0"/>
          </a:p>
        </p:txBody>
      </p:sp>
      <p:sp>
        <p:nvSpPr>
          <p:cNvPr id="9" name="Text 7"/>
          <p:cNvSpPr/>
          <p:nvPr/>
        </p:nvSpPr>
        <p:spPr>
          <a:xfrm>
            <a:off x="384048" y="1773936"/>
            <a:ext cx="3913632" cy="438912"/>
          </a:xfrm>
          <a:prstGeom prst="rect">
            <a:avLst/>
          </a:prstGeom>
          <a:noFill/>
          <a:ln/>
        </p:spPr>
        <p:txBody>
          <a:bodyPr wrap="square" lIns="0" tIns="0" rIns="0" bIns="0" rtlCol="0" anchor="ctr"/>
          <a:lstStyle/>
          <a:p>
            <a:pPr indent="0" marL="0">
              <a:buNone/>
            </a:pPr>
            <a:r>
              <a:rPr lang="en-US" sz="850" b="1" dirty="0">
                <a:solidFill>
                  <a:srgbClr val="0E6B78"/>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UAC default choice when comparing sat_mean across 4-5 groups of similar size.</a:t>
            </a:r>
            <a:endParaRPr lang="en-US" sz="850" dirty="0"/>
          </a:p>
        </p:txBody>
      </p:sp>
      <p:sp>
        <p:nvSpPr>
          <p:cNvPr id="10" name="Shape 8"/>
          <p:cNvSpPr/>
          <p:nvPr/>
        </p:nvSpPr>
        <p:spPr>
          <a:xfrm>
            <a:off x="274320" y="2377440"/>
            <a:ext cx="4160520" cy="1298448"/>
          </a:xfrm>
          <a:prstGeom prst="roundRect">
            <a:avLst>
              <a:gd name="adj" fmla="val 5634"/>
            </a:avLst>
          </a:prstGeom>
          <a:solidFill>
            <a:srgbClr val="0B2030"/>
          </a:solidFill>
          <a:ln w="12700">
            <a:solidFill>
              <a:srgbClr val="D4A017"/>
            </a:solidFill>
            <a:prstDash val="solid"/>
          </a:ln>
        </p:spPr>
      </p:sp>
      <p:sp>
        <p:nvSpPr>
          <p:cNvPr id="11" name="Shape 9"/>
          <p:cNvSpPr/>
          <p:nvPr/>
        </p:nvSpPr>
        <p:spPr>
          <a:xfrm>
            <a:off x="365760" y="2450592"/>
            <a:ext cx="1234440" cy="274320"/>
          </a:xfrm>
          <a:prstGeom prst="roundRect">
            <a:avLst>
              <a:gd name="adj" fmla="val 16667"/>
            </a:avLst>
          </a:prstGeom>
          <a:solidFill>
            <a:srgbClr val="D4A017"/>
          </a:solidFill>
          <a:ln w="12700">
            <a:solidFill>
              <a:srgbClr val="D4A017"/>
            </a:solidFill>
            <a:prstDash val="solid"/>
          </a:ln>
        </p:spPr>
      </p:sp>
      <p:sp>
        <p:nvSpPr>
          <p:cNvPr id="12" name="Text 10"/>
          <p:cNvSpPr/>
          <p:nvPr/>
        </p:nvSpPr>
        <p:spPr>
          <a:xfrm>
            <a:off x="365760" y="2450592"/>
            <a:ext cx="1234440" cy="274320"/>
          </a:xfrm>
          <a:prstGeom prst="rect">
            <a:avLst/>
          </a:prstGeom>
          <a:noFill/>
          <a:ln/>
        </p:spPr>
        <p:txBody>
          <a:bodyPr wrap="square" lIns="0" tIns="0" rIns="0" bIns="0" rtlCol="0" anchor="ctr"/>
          <a:lstStyle/>
          <a:p>
            <a:pPr algn="ctr" indent="0" marL="0">
              <a:buNone/>
            </a:pPr>
            <a:r>
              <a:rPr lang="en-US" sz="1000" b="1" dirty="0">
                <a:solidFill>
                  <a:srgbClr val="061A24"/>
                </a:solidFill>
                <a:latin typeface="Calibri" pitchFamily="34" charset="0"/>
                <a:ea typeface="Calibri" pitchFamily="34" charset="-122"/>
                <a:cs typeface="Calibri" pitchFamily="34" charset="-120"/>
              </a:rPr>
              <a:t>Bonferroni</a:t>
            </a:r>
            <a:endParaRPr lang="en-US" sz="1000" dirty="0"/>
          </a:p>
        </p:txBody>
      </p:sp>
      <p:sp>
        <p:nvSpPr>
          <p:cNvPr id="13" name="Text 11"/>
          <p:cNvSpPr/>
          <p:nvPr/>
        </p:nvSpPr>
        <p:spPr>
          <a:xfrm>
            <a:off x="384048" y="2779776"/>
            <a:ext cx="3913632" cy="347472"/>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Use when: Small number of specific planned pairwise comparisons (not all possible pairs).</a:t>
            </a:r>
            <a:endParaRPr lang="en-US" sz="850" dirty="0"/>
          </a:p>
        </p:txBody>
      </p:sp>
      <p:sp>
        <p:nvSpPr>
          <p:cNvPr id="14" name="Text 12"/>
          <p:cNvSpPr/>
          <p:nvPr/>
        </p:nvSpPr>
        <p:spPr>
          <a:xfrm>
            <a:off x="384048" y="3163824"/>
            <a:ext cx="3913632" cy="438912"/>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Use when comparing specific hypothesis-driven pairs: Youth vs Adult only.</a:t>
            </a:r>
            <a:endParaRPr lang="en-US" sz="850" dirty="0"/>
          </a:p>
        </p:txBody>
      </p:sp>
      <p:sp>
        <p:nvSpPr>
          <p:cNvPr id="15" name="Shape 13"/>
          <p:cNvSpPr/>
          <p:nvPr/>
        </p:nvSpPr>
        <p:spPr>
          <a:xfrm>
            <a:off x="274320" y="3767328"/>
            <a:ext cx="4160520" cy="1298448"/>
          </a:xfrm>
          <a:prstGeom prst="roundRect">
            <a:avLst>
              <a:gd name="adj" fmla="val 5634"/>
            </a:avLst>
          </a:prstGeom>
          <a:solidFill>
            <a:srgbClr val="0B2030"/>
          </a:solidFill>
          <a:ln w="12700">
            <a:solidFill>
              <a:srgbClr val="E67E22"/>
            </a:solidFill>
            <a:prstDash val="solid"/>
          </a:ln>
        </p:spPr>
      </p:sp>
      <p:sp>
        <p:nvSpPr>
          <p:cNvPr id="16" name="Shape 14"/>
          <p:cNvSpPr/>
          <p:nvPr/>
        </p:nvSpPr>
        <p:spPr>
          <a:xfrm>
            <a:off x="365760" y="3840480"/>
            <a:ext cx="1234440" cy="274320"/>
          </a:xfrm>
          <a:prstGeom prst="roundRect">
            <a:avLst>
              <a:gd name="adj" fmla="val 16667"/>
            </a:avLst>
          </a:prstGeom>
          <a:solidFill>
            <a:srgbClr val="E67E22"/>
          </a:solidFill>
          <a:ln w="12700">
            <a:solidFill>
              <a:srgbClr val="E67E22"/>
            </a:solidFill>
            <a:prstDash val="solid"/>
          </a:ln>
        </p:spPr>
      </p:sp>
      <p:sp>
        <p:nvSpPr>
          <p:cNvPr id="17" name="Text 15"/>
          <p:cNvSpPr/>
          <p:nvPr/>
        </p:nvSpPr>
        <p:spPr>
          <a:xfrm>
            <a:off x="365760" y="3840480"/>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Scheffe</a:t>
            </a:r>
            <a:endParaRPr lang="en-US" sz="1000" dirty="0"/>
          </a:p>
        </p:txBody>
      </p:sp>
      <p:sp>
        <p:nvSpPr>
          <p:cNvPr id="18" name="Text 16"/>
          <p:cNvSpPr/>
          <p:nvPr/>
        </p:nvSpPr>
        <p:spPr>
          <a:xfrm>
            <a:off x="384048" y="4169664"/>
            <a:ext cx="3913632" cy="347472"/>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Use when: Complex contrasts beyond simple pairwise (e.g., compare (Youth+Adult) vs (Mature+Senior)).</a:t>
            </a:r>
            <a:endParaRPr lang="en-US" sz="850" dirty="0"/>
          </a:p>
        </p:txBody>
      </p:sp>
      <p:sp>
        <p:nvSpPr>
          <p:cNvPr id="19" name="Text 17"/>
          <p:cNvSpPr/>
          <p:nvPr/>
        </p:nvSpPr>
        <p:spPr>
          <a:xfrm>
            <a:off x="384048" y="4553712"/>
            <a:ext cx="3913632" cy="438912"/>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Use when comparing combined age group categories as a research question.</a:t>
            </a:r>
            <a:endParaRPr lang="en-US" sz="850" dirty="0"/>
          </a:p>
        </p:txBody>
      </p:sp>
      <p:sp>
        <p:nvSpPr>
          <p:cNvPr id="20" name="Shape 18"/>
          <p:cNvSpPr/>
          <p:nvPr/>
        </p:nvSpPr>
        <p:spPr>
          <a:xfrm>
            <a:off x="4736592" y="987552"/>
            <a:ext cx="4160520" cy="1298448"/>
          </a:xfrm>
          <a:prstGeom prst="roundRect">
            <a:avLst>
              <a:gd name="adj" fmla="val 5634"/>
            </a:avLst>
          </a:prstGeom>
          <a:solidFill>
            <a:srgbClr val="0B2030"/>
          </a:solidFill>
          <a:ln w="12700">
            <a:solidFill>
              <a:srgbClr val="7B1728"/>
            </a:solidFill>
            <a:prstDash val="solid"/>
          </a:ln>
        </p:spPr>
      </p:sp>
      <p:sp>
        <p:nvSpPr>
          <p:cNvPr id="21" name="Shape 19"/>
          <p:cNvSpPr/>
          <p:nvPr/>
        </p:nvSpPr>
        <p:spPr>
          <a:xfrm>
            <a:off x="4828032" y="1060704"/>
            <a:ext cx="1234440" cy="274320"/>
          </a:xfrm>
          <a:prstGeom prst="roundRect">
            <a:avLst>
              <a:gd name="adj" fmla="val 16667"/>
            </a:avLst>
          </a:prstGeom>
          <a:solidFill>
            <a:srgbClr val="7B1728"/>
          </a:solidFill>
          <a:ln w="12700">
            <a:solidFill>
              <a:srgbClr val="7B1728"/>
            </a:solidFill>
            <a:prstDash val="solid"/>
          </a:ln>
        </p:spPr>
      </p:sp>
      <p:sp>
        <p:nvSpPr>
          <p:cNvPr id="22" name="Text 20"/>
          <p:cNvSpPr/>
          <p:nvPr/>
        </p:nvSpPr>
        <p:spPr>
          <a:xfrm>
            <a:off x="4828032" y="1060704"/>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Games-Howell</a:t>
            </a:r>
            <a:endParaRPr lang="en-US" sz="1000" dirty="0"/>
          </a:p>
        </p:txBody>
      </p:sp>
      <p:sp>
        <p:nvSpPr>
          <p:cNvPr id="23" name="Text 21"/>
          <p:cNvSpPr/>
          <p:nvPr/>
        </p:nvSpPr>
        <p:spPr>
          <a:xfrm>
            <a:off x="4846320" y="1389888"/>
            <a:ext cx="3913632" cy="347472"/>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Use when: When Levene's Test is significant (p &lt; .05) indicating unequal variances across groups.</a:t>
            </a:r>
            <a:endParaRPr lang="en-US" sz="850" dirty="0"/>
          </a:p>
        </p:txBody>
      </p:sp>
      <p:sp>
        <p:nvSpPr>
          <p:cNvPr id="24" name="Text 22"/>
          <p:cNvSpPr/>
          <p:nvPr/>
        </p:nvSpPr>
        <p:spPr>
          <a:xfrm>
            <a:off x="4846320" y="1773936"/>
            <a:ext cx="3913632" cy="438912"/>
          </a:xfrm>
          <a:prstGeom prst="rect">
            <a:avLst/>
          </a:prstGeom>
          <a:noFill/>
          <a:ln/>
        </p:spPr>
        <p:txBody>
          <a:bodyPr wrap="square" lIns="0" tIns="0" rIns="0" bIns="0" rtlCol="0" anchor="ctr"/>
          <a:lstStyle/>
          <a:p>
            <a:pPr indent="0" marL="0">
              <a:buNone/>
            </a:pPr>
            <a:r>
              <a:rPr lang="en-US" sz="850" b="1" dirty="0">
                <a:solidFill>
                  <a:srgbClr val="7B1728"/>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Use when ANOVA assumption of equal variances is violated for UAC product type comparison.</a:t>
            </a:r>
            <a:endParaRPr lang="en-US" sz="850" dirty="0"/>
          </a:p>
        </p:txBody>
      </p:sp>
      <p:sp>
        <p:nvSpPr>
          <p:cNvPr id="25" name="Shape 23"/>
          <p:cNvSpPr/>
          <p:nvPr/>
        </p:nvSpPr>
        <p:spPr>
          <a:xfrm>
            <a:off x="4736592" y="2377440"/>
            <a:ext cx="4160520" cy="1298448"/>
          </a:xfrm>
          <a:prstGeom prst="roundRect">
            <a:avLst>
              <a:gd name="adj" fmla="val 5634"/>
            </a:avLst>
          </a:prstGeom>
          <a:solidFill>
            <a:srgbClr val="0B2030"/>
          </a:solidFill>
          <a:ln w="12700">
            <a:solidFill>
              <a:srgbClr val="5B2D8E"/>
            </a:solidFill>
            <a:prstDash val="solid"/>
          </a:ln>
        </p:spPr>
      </p:sp>
      <p:sp>
        <p:nvSpPr>
          <p:cNvPr id="26" name="Shape 24"/>
          <p:cNvSpPr/>
          <p:nvPr/>
        </p:nvSpPr>
        <p:spPr>
          <a:xfrm>
            <a:off x="4828032" y="2450592"/>
            <a:ext cx="1234440" cy="274320"/>
          </a:xfrm>
          <a:prstGeom prst="roundRect">
            <a:avLst>
              <a:gd name="adj" fmla="val 16667"/>
            </a:avLst>
          </a:prstGeom>
          <a:solidFill>
            <a:srgbClr val="5B2D8E"/>
          </a:solidFill>
          <a:ln w="12700">
            <a:solidFill>
              <a:srgbClr val="5B2D8E"/>
            </a:solidFill>
            <a:prstDash val="solid"/>
          </a:ln>
        </p:spPr>
      </p:sp>
      <p:sp>
        <p:nvSpPr>
          <p:cNvPr id="27" name="Text 25"/>
          <p:cNvSpPr/>
          <p:nvPr/>
        </p:nvSpPr>
        <p:spPr>
          <a:xfrm>
            <a:off x="4828032" y="2450592"/>
            <a:ext cx="12344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LSD</a:t>
            </a:r>
            <a:endParaRPr lang="en-US" sz="1000" dirty="0"/>
          </a:p>
        </p:txBody>
      </p:sp>
      <p:sp>
        <p:nvSpPr>
          <p:cNvPr id="28" name="Text 26"/>
          <p:cNvSpPr/>
          <p:nvPr/>
        </p:nvSpPr>
        <p:spPr>
          <a:xfrm>
            <a:off x="4846320" y="2779776"/>
            <a:ext cx="3913632" cy="347472"/>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Use when: Only if you have specific a priori hypotheses. Never use for exploratory analyses.</a:t>
            </a:r>
            <a:endParaRPr lang="en-US" sz="850" dirty="0"/>
          </a:p>
        </p:txBody>
      </p:sp>
      <p:sp>
        <p:nvSpPr>
          <p:cNvPr id="29" name="Text 27"/>
          <p:cNvSpPr/>
          <p:nvPr/>
        </p:nvSpPr>
        <p:spPr>
          <a:xfrm>
            <a:off x="4846320" y="3163824"/>
            <a:ext cx="3913632" cy="438912"/>
          </a:xfrm>
          <a:prstGeom prst="rect">
            <a:avLst/>
          </a:prstGeom>
          <a:noFill/>
          <a:ln/>
        </p:spPr>
        <p:txBody>
          <a:bodyPr wrap="square" lIns="0" tIns="0" rIns="0" bIns="0" rtlCol="0" anchor="ctr"/>
          <a:lstStyle/>
          <a:p>
            <a:pPr indent="0" marL="0">
              <a:buNone/>
            </a:pPr>
            <a:r>
              <a:rPr lang="en-US" sz="850" b="1" dirty="0">
                <a:solidFill>
                  <a:srgbClr val="5B2D8E"/>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Avoid for UAC analyses unless testing only 3 groups with specific directional hypotheses.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MANOVA - Multivariate Analysis of Variance</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Testing group differences on multiple dependent variables simultaneously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MANOVA - Analyze &gt; General Linear Model &gt; Multivariate</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0E6B78"/>
          </a:solidFill>
          <a:ln w="12700">
            <a:solidFill>
              <a:srgbClr val="0E6B78"/>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MANOVA Does and Why Use It</a:t>
            </a:r>
            <a:endParaRPr lang="en-US" sz="1100" dirty="0"/>
          </a:p>
        </p:txBody>
      </p:sp>
      <p:sp>
        <p:nvSpPr>
          <p:cNvPr id="7" name="Text 5"/>
          <p:cNvSpPr/>
          <p:nvPr/>
        </p:nvSpPr>
        <p:spPr>
          <a:xfrm>
            <a:off x="365760" y="1481328"/>
            <a:ext cx="3950208" cy="585216"/>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MANOVA extends ANOVA by testing whether groups differ on a COMBINATION of dependent variables simultaneously. It protects against inflated Type I error from running multiple separate ANOVAs on related DVs.</a:t>
            </a:r>
            <a:endParaRPr lang="en-US" sz="950" dirty="0"/>
          </a:p>
        </p:txBody>
      </p:sp>
      <p:sp>
        <p:nvSpPr>
          <p:cNvPr id="8" name="Text 6"/>
          <p:cNvSpPr/>
          <p:nvPr/>
        </p:nvSpPr>
        <p:spPr>
          <a:xfrm>
            <a:off x="365760" y="2139696"/>
            <a:ext cx="3950208" cy="7132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UAC Foods Example: </a:t>
            </a:r>
            <a:pPr indent="0" marL="0">
              <a:buNone/>
            </a:pPr>
            <a:r>
              <a:rPr lang="en-US" sz="950" dirty="0">
                <a:solidFill>
                  <a:srgbClr val="1A2E38"/>
                </a:solidFill>
                <a:latin typeface="Calibri" pitchFamily="34" charset="0"/>
                <a:ea typeface="Calibri" pitchFamily="34" charset="-122"/>
                <a:cs typeface="Calibri" pitchFamily="34" charset="-120"/>
              </a:rPr>
              <a:t>Do consumers of different UAC products differ simultaneously on sat_mean, repurchase_intention, AND monthly_salary? Testing each separately would require 3 ANOVAs - increasing false positive risk to 14.3%.</a:t>
            </a:r>
            <a:endParaRPr lang="en-US" sz="950" dirty="0"/>
          </a:p>
        </p:txBody>
      </p:sp>
      <p:sp>
        <p:nvSpPr>
          <p:cNvPr id="9" name="Text 7"/>
          <p:cNvSpPr/>
          <p:nvPr/>
        </p:nvSpPr>
        <p:spPr>
          <a:xfrm>
            <a:off x="365760" y="2926080"/>
            <a:ext cx="3950208" cy="219456"/>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Steps:</a:t>
            </a:r>
            <a:endParaRPr lang="en-US" sz="1000" dirty="0"/>
          </a:p>
        </p:txBody>
      </p:sp>
      <p:sp>
        <p:nvSpPr>
          <p:cNvPr id="10" name="Shape 8"/>
          <p:cNvSpPr/>
          <p:nvPr/>
        </p:nvSpPr>
        <p:spPr>
          <a:xfrm>
            <a:off x="365760" y="3218688"/>
            <a:ext cx="256032" cy="256032"/>
          </a:xfrm>
          <a:prstGeom prst="ellipse">
            <a:avLst/>
          </a:prstGeom>
          <a:solidFill>
            <a:srgbClr val="0E6B78"/>
          </a:solidFill>
          <a:ln w="12700">
            <a:solidFill>
              <a:srgbClr val="0E6B78"/>
            </a:solidFill>
            <a:prstDash val="solid"/>
          </a:ln>
        </p:spPr>
      </p:sp>
      <p:sp>
        <p:nvSpPr>
          <p:cNvPr id="11" name="Text 9"/>
          <p:cNvSpPr/>
          <p:nvPr/>
        </p:nvSpPr>
        <p:spPr>
          <a:xfrm>
            <a:off x="365760" y="321868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2" name="Text 10"/>
          <p:cNvSpPr/>
          <p:nvPr/>
        </p:nvSpPr>
        <p:spPr>
          <a:xfrm>
            <a:off x="694944" y="3236976"/>
            <a:ext cx="365760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Analyze &gt; General Linear Model &gt; Multivariate</a:t>
            </a:r>
            <a:endParaRPr lang="en-US" sz="900" dirty="0"/>
          </a:p>
        </p:txBody>
      </p:sp>
      <p:sp>
        <p:nvSpPr>
          <p:cNvPr id="13" name="Shape 11"/>
          <p:cNvSpPr/>
          <p:nvPr/>
        </p:nvSpPr>
        <p:spPr>
          <a:xfrm>
            <a:off x="365760" y="3547872"/>
            <a:ext cx="256032" cy="256032"/>
          </a:xfrm>
          <a:prstGeom prst="ellipse">
            <a:avLst/>
          </a:prstGeom>
          <a:solidFill>
            <a:srgbClr val="0E6B78"/>
          </a:solidFill>
          <a:ln w="12700">
            <a:solidFill>
              <a:srgbClr val="0E6B78"/>
            </a:solidFill>
            <a:prstDash val="solid"/>
          </a:ln>
        </p:spPr>
      </p:sp>
      <p:sp>
        <p:nvSpPr>
          <p:cNvPr id="14" name="Text 12"/>
          <p:cNvSpPr/>
          <p:nvPr/>
        </p:nvSpPr>
        <p:spPr>
          <a:xfrm>
            <a:off x="365760" y="354787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Text 13"/>
          <p:cNvSpPr/>
          <p:nvPr/>
        </p:nvSpPr>
        <p:spPr>
          <a:xfrm>
            <a:off x="694944" y="3566160"/>
            <a:ext cx="365760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Move all scale DVs to Dependent Variables box (sat_mean, repurchase_intention, monthly_salary)</a:t>
            </a:r>
            <a:endParaRPr lang="en-US" sz="900" dirty="0"/>
          </a:p>
        </p:txBody>
      </p:sp>
      <p:sp>
        <p:nvSpPr>
          <p:cNvPr id="16" name="Shape 14"/>
          <p:cNvSpPr/>
          <p:nvPr/>
        </p:nvSpPr>
        <p:spPr>
          <a:xfrm>
            <a:off x="365760" y="3877056"/>
            <a:ext cx="256032" cy="256032"/>
          </a:xfrm>
          <a:prstGeom prst="ellipse">
            <a:avLst/>
          </a:prstGeom>
          <a:solidFill>
            <a:srgbClr val="0E6B78"/>
          </a:solidFill>
          <a:ln w="12700">
            <a:solidFill>
              <a:srgbClr val="0E6B78"/>
            </a:solidFill>
            <a:prstDash val="solid"/>
          </a:ln>
        </p:spPr>
      </p:sp>
      <p:sp>
        <p:nvSpPr>
          <p:cNvPr id="17" name="Text 15"/>
          <p:cNvSpPr/>
          <p:nvPr/>
        </p:nvSpPr>
        <p:spPr>
          <a:xfrm>
            <a:off x="365760" y="387705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8" name="Text 16"/>
          <p:cNvSpPr/>
          <p:nvPr/>
        </p:nvSpPr>
        <p:spPr>
          <a:xfrm>
            <a:off x="694944" y="3895344"/>
            <a:ext cx="365760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Move the categorical IV to Fixed Factor(s) box (uac_product_pref)</a:t>
            </a:r>
            <a:endParaRPr lang="en-US" sz="900" dirty="0"/>
          </a:p>
        </p:txBody>
      </p:sp>
      <p:sp>
        <p:nvSpPr>
          <p:cNvPr id="19" name="Shape 17"/>
          <p:cNvSpPr/>
          <p:nvPr/>
        </p:nvSpPr>
        <p:spPr>
          <a:xfrm>
            <a:off x="365760" y="4206240"/>
            <a:ext cx="256032" cy="256032"/>
          </a:xfrm>
          <a:prstGeom prst="ellipse">
            <a:avLst/>
          </a:prstGeom>
          <a:solidFill>
            <a:srgbClr val="0E6B78"/>
          </a:solidFill>
          <a:ln w="12700">
            <a:solidFill>
              <a:srgbClr val="0E6B78"/>
            </a:solidFill>
            <a:prstDash val="solid"/>
          </a:ln>
        </p:spPr>
      </p:sp>
      <p:sp>
        <p:nvSpPr>
          <p:cNvPr id="20" name="Text 18"/>
          <p:cNvSpPr/>
          <p:nvPr/>
        </p:nvSpPr>
        <p:spPr>
          <a:xfrm>
            <a:off x="365760" y="4206240"/>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1" name="Text 19"/>
          <p:cNvSpPr/>
          <p:nvPr/>
        </p:nvSpPr>
        <p:spPr>
          <a:xfrm>
            <a:off x="694944" y="4224528"/>
            <a:ext cx="365760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Click Options: Descriptive statistics, Estimates of effect size, Observed power</a:t>
            </a:r>
            <a:endParaRPr lang="en-US" sz="900" dirty="0"/>
          </a:p>
        </p:txBody>
      </p:sp>
      <p:sp>
        <p:nvSpPr>
          <p:cNvPr id="22" name="Shape 20"/>
          <p:cNvSpPr/>
          <p:nvPr/>
        </p:nvSpPr>
        <p:spPr>
          <a:xfrm>
            <a:off x="365760" y="4535424"/>
            <a:ext cx="256032" cy="256032"/>
          </a:xfrm>
          <a:prstGeom prst="ellipse">
            <a:avLst/>
          </a:prstGeom>
          <a:solidFill>
            <a:srgbClr val="0E6B78"/>
          </a:solidFill>
          <a:ln w="12700">
            <a:solidFill>
              <a:srgbClr val="0E6B78"/>
            </a:solidFill>
            <a:prstDash val="solid"/>
          </a:ln>
        </p:spPr>
      </p:sp>
      <p:sp>
        <p:nvSpPr>
          <p:cNvPr id="23" name="Text 21"/>
          <p:cNvSpPr/>
          <p:nvPr/>
        </p:nvSpPr>
        <p:spPr>
          <a:xfrm>
            <a:off x="365760" y="4535424"/>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694944" y="4553712"/>
            <a:ext cx="365760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Click Post Hoc for follow-up if significant</a:t>
            </a:r>
            <a:endParaRPr lang="en-US" sz="900" dirty="0"/>
          </a:p>
        </p:txBody>
      </p:sp>
      <p:sp>
        <p:nvSpPr>
          <p:cNvPr id="25" name="Shape 23"/>
          <p:cNvSpPr/>
          <p:nvPr/>
        </p:nvSpPr>
        <p:spPr>
          <a:xfrm>
            <a:off x="365760" y="4864608"/>
            <a:ext cx="256032" cy="256032"/>
          </a:xfrm>
          <a:prstGeom prst="ellipse">
            <a:avLst/>
          </a:prstGeom>
          <a:solidFill>
            <a:srgbClr val="0E6B78"/>
          </a:solidFill>
          <a:ln w="12700">
            <a:solidFill>
              <a:srgbClr val="0E6B78"/>
            </a:solidFill>
            <a:prstDash val="solid"/>
          </a:ln>
        </p:spPr>
      </p:sp>
      <p:sp>
        <p:nvSpPr>
          <p:cNvPr id="26" name="Text 24"/>
          <p:cNvSpPr/>
          <p:nvPr/>
        </p:nvSpPr>
        <p:spPr>
          <a:xfrm>
            <a:off x="365760" y="486460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7" name="Text 25"/>
          <p:cNvSpPr/>
          <p:nvPr/>
        </p:nvSpPr>
        <p:spPr>
          <a:xfrm>
            <a:off x="694944" y="4882896"/>
            <a:ext cx="365760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Click OK</a:t>
            </a:r>
            <a:endParaRPr lang="en-US" sz="900" dirty="0"/>
          </a:p>
        </p:txBody>
      </p:sp>
      <p:sp>
        <p:nvSpPr>
          <p:cNvPr id="28" name="Shape 26"/>
          <p:cNvSpPr/>
          <p:nvPr/>
        </p:nvSpPr>
        <p:spPr>
          <a:xfrm>
            <a:off x="4681728"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4754880" y="1078992"/>
            <a:ext cx="4005072" cy="329184"/>
          </a:xfrm>
          <a:prstGeom prst="roundRect">
            <a:avLst>
              <a:gd name="adj" fmla="val 16667"/>
            </a:avLst>
          </a:prstGeom>
          <a:solidFill>
            <a:srgbClr val="061A24"/>
          </a:solidFill>
          <a:ln w="12700">
            <a:solidFill>
              <a:srgbClr val="061A24"/>
            </a:solidFill>
            <a:prstDash val="solid"/>
          </a:ln>
        </p:spPr>
      </p:sp>
      <p:sp>
        <p:nvSpPr>
          <p:cNvPr id="30" name="Text 28"/>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Key MANOVA Output and Interpretation</a:t>
            </a:r>
            <a:endParaRPr lang="en-US" sz="1100" dirty="0"/>
          </a:p>
        </p:txBody>
      </p:sp>
      <p:sp>
        <p:nvSpPr>
          <p:cNvPr id="31" name="Text 29"/>
          <p:cNvSpPr/>
          <p:nvPr/>
        </p:nvSpPr>
        <p:spPr>
          <a:xfrm>
            <a:off x="4773168" y="1481328"/>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Multivariate Tests (Wilks' Lambda)</a:t>
            </a:r>
            <a:endParaRPr lang="en-US" sz="950" dirty="0"/>
          </a:p>
        </p:txBody>
      </p:sp>
      <p:sp>
        <p:nvSpPr>
          <p:cNvPr id="32" name="Shape 30"/>
          <p:cNvSpPr/>
          <p:nvPr/>
        </p:nvSpPr>
        <p:spPr>
          <a:xfrm>
            <a:off x="4773168" y="1719072"/>
            <a:ext cx="1024128" cy="292608"/>
          </a:xfrm>
          <a:prstGeom prst="rect">
            <a:avLst/>
          </a:prstGeom>
          <a:solidFill>
            <a:srgbClr val="061A24"/>
          </a:solidFill>
          <a:ln w="12700">
            <a:solidFill>
              <a:srgbClr val="061A24"/>
            </a:solidFill>
            <a:prstDash val="solid"/>
          </a:ln>
        </p:spPr>
      </p:sp>
      <p:sp>
        <p:nvSpPr>
          <p:cNvPr id="33" name="Text 31"/>
          <p:cNvSpPr/>
          <p:nvPr/>
        </p:nvSpPr>
        <p:spPr>
          <a:xfrm>
            <a:off x="4773168" y="1719072"/>
            <a:ext cx="10241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Test Statistic</a:t>
            </a:r>
            <a:endParaRPr lang="en-US" sz="850" dirty="0"/>
          </a:p>
        </p:txBody>
      </p:sp>
      <p:sp>
        <p:nvSpPr>
          <p:cNvPr id="34" name="Shape 32"/>
          <p:cNvSpPr/>
          <p:nvPr/>
        </p:nvSpPr>
        <p:spPr>
          <a:xfrm>
            <a:off x="5797296" y="1719072"/>
            <a:ext cx="566928" cy="292608"/>
          </a:xfrm>
          <a:prstGeom prst="rect">
            <a:avLst/>
          </a:prstGeom>
          <a:solidFill>
            <a:srgbClr val="061A24"/>
          </a:solidFill>
          <a:ln w="12700">
            <a:solidFill>
              <a:srgbClr val="061A24"/>
            </a:solidFill>
            <a:prstDash val="solid"/>
          </a:ln>
        </p:spPr>
      </p:sp>
      <p:sp>
        <p:nvSpPr>
          <p:cNvPr id="35" name="Text 33"/>
          <p:cNvSpPr/>
          <p:nvPr/>
        </p:nvSpPr>
        <p:spPr>
          <a:xfrm>
            <a:off x="5797296" y="1719072"/>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p>
        </p:txBody>
      </p:sp>
      <p:sp>
        <p:nvSpPr>
          <p:cNvPr id="36" name="Shape 34"/>
          <p:cNvSpPr/>
          <p:nvPr/>
        </p:nvSpPr>
        <p:spPr>
          <a:xfrm>
            <a:off x="6364224" y="1719072"/>
            <a:ext cx="475488" cy="292608"/>
          </a:xfrm>
          <a:prstGeom prst="rect">
            <a:avLst/>
          </a:prstGeom>
          <a:solidFill>
            <a:srgbClr val="061A24"/>
          </a:solidFill>
          <a:ln w="12700">
            <a:solidFill>
              <a:srgbClr val="061A24"/>
            </a:solidFill>
            <a:prstDash val="solid"/>
          </a:ln>
        </p:spPr>
      </p:sp>
      <p:sp>
        <p:nvSpPr>
          <p:cNvPr id="37" name="Text 35"/>
          <p:cNvSpPr/>
          <p:nvPr/>
        </p:nvSpPr>
        <p:spPr>
          <a:xfrm>
            <a:off x="6364224" y="1719072"/>
            <a:ext cx="4754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38" name="Shape 36"/>
          <p:cNvSpPr/>
          <p:nvPr/>
        </p:nvSpPr>
        <p:spPr>
          <a:xfrm>
            <a:off x="6839712" y="1719072"/>
            <a:ext cx="493776" cy="292608"/>
          </a:xfrm>
          <a:prstGeom prst="rect">
            <a:avLst/>
          </a:prstGeom>
          <a:solidFill>
            <a:srgbClr val="061A24"/>
          </a:solidFill>
          <a:ln w="12700">
            <a:solidFill>
              <a:srgbClr val="061A24"/>
            </a:solidFill>
            <a:prstDash val="solid"/>
          </a:ln>
        </p:spPr>
      </p:sp>
      <p:sp>
        <p:nvSpPr>
          <p:cNvPr id="39" name="Text 37"/>
          <p:cNvSpPr/>
          <p:nvPr/>
        </p:nvSpPr>
        <p:spPr>
          <a:xfrm>
            <a:off x="6839712" y="1719072"/>
            <a:ext cx="4937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Hyp df</a:t>
            </a:r>
            <a:endParaRPr lang="en-US" sz="850" dirty="0"/>
          </a:p>
        </p:txBody>
      </p:sp>
      <p:sp>
        <p:nvSpPr>
          <p:cNvPr id="40" name="Shape 38"/>
          <p:cNvSpPr/>
          <p:nvPr/>
        </p:nvSpPr>
        <p:spPr>
          <a:xfrm>
            <a:off x="7333488" y="1719072"/>
            <a:ext cx="658368" cy="292608"/>
          </a:xfrm>
          <a:prstGeom prst="rect">
            <a:avLst/>
          </a:prstGeom>
          <a:solidFill>
            <a:srgbClr val="061A24"/>
          </a:solidFill>
          <a:ln w="12700">
            <a:solidFill>
              <a:srgbClr val="061A24"/>
            </a:solidFill>
            <a:prstDash val="solid"/>
          </a:ln>
        </p:spPr>
      </p:sp>
      <p:sp>
        <p:nvSpPr>
          <p:cNvPr id="41" name="Text 39"/>
          <p:cNvSpPr/>
          <p:nvPr/>
        </p:nvSpPr>
        <p:spPr>
          <a:xfrm>
            <a:off x="7333488" y="1719072"/>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Error df</a:t>
            </a:r>
            <a:endParaRPr lang="en-US" sz="850" dirty="0"/>
          </a:p>
        </p:txBody>
      </p:sp>
      <p:sp>
        <p:nvSpPr>
          <p:cNvPr id="42" name="Shape 40"/>
          <p:cNvSpPr/>
          <p:nvPr/>
        </p:nvSpPr>
        <p:spPr>
          <a:xfrm>
            <a:off x="7991856" y="1719072"/>
            <a:ext cx="548640" cy="292608"/>
          </a:xfrm>
          <a:prstGeom prst="rect">
            <a:avLst/>
          </a:prstGeom>
          <a:solidFill>
            <a:srgbClr val="061A24"/>
          </a:solidFill>
          <a:ln w="12700">
            <a:solidFill>
              <a:srgbClr val="061A24"/>
            </a:solidFill>
            <a:prstDash val="solid"/>
          </a:ln>
        </p:spPr>
      </p:sp>
      <p:sp>
        <p:nvSpPr>
          <p:cNvPr id="43" name="Text 41"/>
          <p:cNvSpPr/>
          <p:nvPr/>
        </p:nvSpPr>
        <p:spPr>
          <a:xfrm>
            <a:off x="7991856" y="1719072"/>
            <a:ext cx="5486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44" name="Shape 42"/>
          <p:cNvSpPr/>
          <p:nvPr/>
        </p:nvSpPr>
        <p:spPr>
          <a:xfrm>
            <a:off x="8540496" y="1719072"/>
            <a:ext cx="493776" cy="292608"/>
          </a:xfrm>
          <a:prstGeom prst="rect">
            <a:avLst/>
          </a:prstGeom>
          <a:solidFill>
            <a:srgbClr val="061A24"/>
          </a:solidFill>
          <a:ln w="12700">
            <a:solidFill>
              <a:srgbClr val="061A24"/>
            </a:solidFill>
            <a:prstDash val="solid"/>
          </a:ln>
        </p:spPr>
      </p:sp>
      <p:sp>
        <p:nvSpPr>
          <p:cNvPr id="45" name="Text 43"/>
          <p:cNvSpPr/>
          <p:nvPr/>
        </p:nvSpPr>
        <p:spPr>
          <a:xfrm>
            <a:off x="8540496" y="1719072"/>
            <a:ext cx="4937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η²</a:t>
            </a:r>
            <a:endParaRPr lang="en-US" sz="850" dirty="0"/>
          </a:p>
        </p:txBody>
      </p:sp>
      <p:sp>
        <p:nvSpPr>
          <p:cNvPr id="46" name="Shape 44"/>
          <p:cNvSpPr/>
          <p:nvPr/>
        </p:nvSpPr>
        <p:spPr>
          <a:xfrm>
            <a:off x="4773168" y="2011680"/>
            <a:ext cx="1024128" cy="292608"/>
          </a:xfrm>
          <a:prstGeom prst="rect">
            <a:avLst/>
          </a:prstGeom>
          <a:solidFill>
            <a:srgbClr val="EAF6FA"/>
          </a:solidFill>
          <a:ln w="6350">
            <a:solidFill>
              <a:srgbClr val="C0DEE8"/>
            </a:solidFill>
            <a:prstDash val="solid"/>
          </a:ln>
        </p:spPr>
      </p:sp>
      <p:sp>
        <p:nvSpPr>
          <p:cNvPr id="47" name="Text 45"/>
          <p:cNvSpPr/>
          <p:nvPr/>
        </p:nvSpPr>
        <p:spPr>
          <a:xfrm>
            <a:off x="4773168" y="2011680"/>
            <a:ext cx="1024128"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Pillai's Trace</a:t>
            </a:r>
            <a:endParaRPr lang="en-US" sz="850" dirty="0"/>
          </a:p>
        </p:txBody>
      </p:sp>
      <p:sp>
        <p:nvSpPr>
          <p:cNvPr id="48" name="Shape 46"/>
          <p:cNvSpPr/>
          <p:nvPr/>
        </p:nvSpPr>
        <p:spPr>
          <a:xfrm>
            <a:off x="5797296" y="2011680"/>
            <a:ext cx="566928" cy="292608"/>
          </a:xfrm>
          <a:prstGeom prst="rect">
            <a:avLst/>
          </a:prstGeom>
          <a:solidFill>
            <a:srgbClr val="EAF6FA"/>
          </a:solidFill>
          <a:ln w="6350">
            <a:solidFill>
              <a:srgbClr val="C0DEE8"/>
            </a:solidFill>
            <a:prstDash val="solid"/>
          </a:ln>
        </p:spPr>
      </p:sp>
      <p:sp>
        <p:nvSpPr>
          <p:cNvPr id="49" name="Text 47"/>
          <p:cNvSpPr/>
          <p:nvPr/>
        </p:nvSpPr>
        <p:spPr>
          <a:xfrm>
            <a:off x="5797296" y="2011680"/>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a:t>
            </a:r>
            <a:endParaRPr lang="en-US" sz="850" dirty="0"/>
          </a:p>
        </p:txBody>
      </p:sp>
      <p:sp>
        <p:nvSpPr>
          <p:cNvPr id="50" name="Shape 48"/>
          <p:cNvSpPr/>
          <p:nvPr/>
        </p:nvSpPr>
        <p:spPr>
          <a:xfrm>
            <a:off x="6364224" y="2011680"/>
            <a:ext cx="475488" cy="292608"/>
          </a:xfrm>
          <a:prstGeom prst="rect">
            <a:avLst/>
          </a:prstGeom>
          <a:solidFill>
            <a:srgbClr val="D0EEF4"/>
          </a:solidFill>
          <a:ln w="6350">
            <a:solidFill>
              <a:srgbClr val="C0DEE8"/>
            </a:solidFill>
            <a:prstDash val="solid"/>
          </a:ln>
        </p:spPr>
      </p:sp>
      <p:sp>
        <p:nvSpPr>
          <p:cNvPr id="51" name="Text 49"/>
          <p:cNvSpPr/>
          <p:nvPr/>
        </p:nvSpPr>
        <p:spPr>
          <a:xfrm>
            <a:off x="6364224" y="2011680"/>
            <a:ext cx="47548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6.24</a:t>
            </a:r>
            <a:endParaRPr lang="en-US" sz="850" dirty="0"/>
          </a:p>
        </p:txBody>
      </p:sp>
      <p:sp>
        <p:nvSpPr>
          <p:cNvPr id="52" name="Shape 50"/>
          <p:cNvSpPr/>
          <p:nvPr/>
        </p:nvSpPr>
        <p:spPr>
          <a:xfrm>
            <a:off x="6839712" y="2011680"/>
            <a:ext cx="493776" cy="292608"/>
          </a:xfrm>
          <a:prstGeom prst="rect">
            <a:avLst/>
          </a:prstGeom>
          <a:solidFill>
            <a:srgbClr val="EAF6FA"/>
          </a:solidFill>
          <a:ln w="6350">
            <a:solidFill>
              <a:srgbClr val="C0DEE8"/>
            </a:solidFill>
            <a:prstDash val="solid"/>
          </a:ln>
        </p:spPr>
      </p:sp>
      <p:sp>
        <p:nvSpPr>
          <p:cNvPr id="53" name="Text 51"/>
          <p:cNvSpPr/>
          <p:nvPr/>
        </p:nvSpPr>
        <p:spPr>
          <a:xfrm>
            <a:off x="6839712" y="2011680"/>
            <a:ext cx="4937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a:t>
            </a:r>
            <a:endParaRPr lang="en-US" sz="850" dirty="0"/>
          </a:p>
        </p:txBody>
      </p:sp>
      <p:sp>
        <p:nvSpPr>
          <p:cNvPr id="54" name="Shape 52"/>
          <p:cNvSpPr/>
          <p:nvPr/>
        </p:nvSpPr>
        <p:spPr>
          <a:xfrm>
            <a:off x="7333488" y="2011680"/>
            <a:ext cx="658368" cy="292608"/>
          </a:xfrm>
          <a:prstGeom prst="rect">
            <a:avLst/>
          </a:prstGeom>
          <a:solidFill>
            <a:srgbClr val="EAF6FA"/>
          </a:solidFill>
          <a:ln w="6350">
            <a:solidFill>
              <a:srgbClr val="C0DEE8"/>
            </a:solidFill>
            <a:prstDash val="solid"/>
          </a:ln>
        </p:spPr>
      </p:sp>
      <p:sp>
        <p:nvSpPr>
          <p:cNvPr id="55" name="Text 53"/>
          <p:cNvSpPr/>
          <p:nvPr/>
        </p:nvSpPr>
        <p:spPr>
          <a:xfrm>
            <a:off x="7333488" y="2011680"/>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1326</a:t>
            </a:r>
            <a:endParaRPr lang="en-US" sz="850" dirty="0"/>
          </a:p>
        </p:txBody>
      </p:sp>
      <p:sp>
        <p:nvSpPr>
          <p:cNvPr id="56" name="Shape 54"/>
          <p:cNvSpPr/>
          <p:nvPr/>
        </p:nvSpPr>
        <p:spPr>
          <a:xfrm>
            <a:off x="7991856" y="2011680"/>
            <a:ext cx="548640" cy="292608"/>
          </a:xfrm>
          <a:prstGeom prst="rect">
            <a:avLst/>
          </a:prstGeom>
          <a:solidFill>
            <a:srgbClr val="D0EEF4"/>
          </a:solidFill>
          <a:ln w="6350">
            <a:solidFill>
              <a:srgbClr val="C0DEE8"/>
            </a:solidFill>
            <a:prstDash val="solid"/>
          </a:ln>
        </p:spPr>
      </p:sp>
      <p:sp>
        <p:nvSpPr>
          <p:cNvPr id="57" name="Text 55"/>
          <p:cNvSpPr/>
          <p:nvPr/>
        </p:nvSpPr>
        <p:spPr>
          <a:xfrm>
            <a:off x="7991856" y="2011680"/>
            <a:ext cx="54864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58" name="Shape 56"/>
          <p:cNvSpPr/>
          <p:nvPr/>
        </p:nvSpPr>
        <p:spPr>
          <a:xfrm>
            <a:off x="8540496" y="2011680"/>
            <a:ext cx="493776" cy="292608"/>
          </a:xfrm>
          <a:prstGeom prst="rect">
            <a:avLst/>
          </a:prstGeom>
          <a:solidFill>
            <a:srgbClr val="D0EEF4"/>
          </a:solidFill>
          <a:ln w="6350">
            <a:solidFill>
              <a:srgbClr val="C0DEE8"/>
            </a:solidFill>
            <a:prstDash val="solid"/>
          </a:ln>
        </p:spPr>
      </p:sp>
      <p:sp>
        <p:nvSpPr>
          <p:cNvPr id="59" name="Text 57"/>
          <p:cNvSpPr/>
          <p:nvPr/>
        </p:nvSpPr>
        <p:spPr>
          <a:xfrm>
            <a:off x="8540496" y="2011680"/>
            <a:ext cx="49377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.047</a:t>
            </a:r>
            <a:endParaRPr lang="en-US" sz="850" dirty="0"/>
          </a:p>
        </p:txBody>
      </p:sp>
      <p:sp>
        <p:nvSpPr>
          <p:cNvPr id="60" name="Shape 58"/>
          <p:cNvSpPr/>
          <p:nvPr/>
        </p:nvSpPr>
        <p:spPr>
          <a:xfrm>
            <a:off x="4773168" y="2304288"/>
            <a:ext cx="1024128" cy="292608"/>
          </a:xfrm>
          <a:prstGeom prst="rect">
            <a:avLst/>
          </a:prstGeom>
          <a:solidFill>
            <a:srgbClr val="FFFFFF"/>
          </a:solidFill>
          <a:ln w="6350">
            <a:solidFill>
              <a:srgbClr val="C0DEE8"/>
            </a:solidFill>
            <a:prstDash val="solid"/>
          </a:ln>
        </p:spPr>
      </p:sp>
      <p:sp>
        <p:nvSpPr>
          <p:cNvPr id="61" name="Text 59"/>
          <p:cNvSpPr/>
          <p:nvPr/>
        </p:nvSpPr>
        <p:spPr>
          <a:xfrm>
            <a:off x="4773168" y="2304288"/>
            <a:ext cx="1024128"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Wilks' Lambda</a:t>
            </a:r>
            <a:endParaRPr lang="en-US" sz="850" dirty="0"/>
          </a:p>
        </p:txBody>
      </p:sp>
      <p:sp>
        <p:nvSpPr>
          <p:cNvPr id="62" name="Shape 60"/>
          <p:cNvSpPr/>
          <p:nvPr/>
        </p:nvSpPr>
        <p:spPr>
          <a:xfrm>
            <a:off x="5797296" y="2304288"/>
            <a:ext cx="566928" cy="292608"/>
          </a:xfrm>
          <a:prstGeom prst="rect">
            <a:avLst/>
          </a:prstGeom>
          <a:solidFill>
            <a:srgbClr val="D0EEF4"/>
          </a:solidFill>
          <a:ln w="6350">
            <a:solidFill>
              <a:srgbClr val="C0DEE8"/>
            </a:solidFill>
            <a:prstDash val="solid"/>
          </a:ln>
        </p:spPr>
      </p:sp>
      <p:sp>
        <p:nvSpPr>
          <p:cNvPr id="63" name="Text 61"/>
          <p:cNvSpPr/>
          <p:nvPr/>
        </p:nvSpPr>
        <p:spPr>
          <a:xfrm>
            <a:off x="5797296" y="2304288"/>
            <a:ext cx="56692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.862</a:t>
            </a:r>
            <a:endParaRPr lang="en-US" sz="850" dirty="0"/>
          </a:p>
        </p:txBody>
      </p:sp>
      <p:sp>
        <p:nvSpPr>
          <p:cNvPr id="64" name="Shape 62"/>
          <p:cNvSpPr/>
          <p:nvPr/>
        </p:nvSpPr>
        <p:spPr>
          <a:xfrm>
            <a:off x="6364224" y="2304288"/>
            <a:ext cx="475488" cy="292608"/>
          </a:xfrm>
          <a:prstGeom prst="rect">
            <a:avLst/>
          </a:prstGeom>
          <a:solidFill>
            <a:srgbClr val="D0EEF4"/>
          </a:solidFill>
          <a:ln w="6350">
            <a:solidFill>
              <a:srgbClr val="C0DEE8"/>
            </a:solidFill>
            <a:prstDash val="solid"/>
          </a:ln>
        </p:spPr>
      </p:sp>
      <p:sp>
        <p:nvSpPr>
          <p:cNvPr id="65" name="Text 63"/>
          <p:cNvSpPr/>
          <p:nvPr/>
        </p:nvSpPr>
        <p:spPr>
          <a:xfrm>
            <a:off x="6364224" y="2304288"/>
            <a:ext cx="47548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6.30</a:t>
            </a:r>
            <a:endParaRPr lang="en-US" sz="850" dirty="0"/>
          </a:p>
        </p:txBody>
      </p:sp>
      <p:sp>
        <p:nvSpPr>
          <p:cNvPr id="66" name="Shape 64"/>
          <p:cNvSpPr/>
          <p:nvPr/>
        </p:nvSpPr>
        <p:spPr>
          <a:xfrm>
            <a:off x="6839712" y="2304288"/>
            <a:ext cx="493776" cy="292608"/>
          </a:xfrm>
          <a:prstGeom prst="rect">
            <a:avLst/>
          </a:prstGeom>
          <a:solidFill>
            <a:srgbClr val="FFFFFF"/>
          </a:solidFill>
          <a:ln w="6350">
            <a:solidFill>
              <a:srgbClr val="C0DEE8"/>
            </a:solidFill>
            <a:prstDash val="solid"/>
          </a:ln>
        </p:spPr>
      </p:sp>
      <p:sp>
        <p:nvSpPr>
          <p:cNvPr id="67" name="Text 65"/>
          <p:cNvSpPr/>
          <p:nvPr/>
        </p:nvSpPr>
        <p:spPr>
          <a:xfrm>
            <a:off x="6839712" y="2304288"/>
            <a:ext cx="4937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a:t>
            </a:r>
            <a:endParaRPr lang="en-US" sz="850" dirty="0"/>
          </a:p>
        </p:txBody>
      </p:sp>
      <p:sp>
        <p:nvSpPr>
          <p:cNvPr id="68" name="Shape 66"/>
          <p:cNvSpPr/>
          <p:nvPr/>
        </p:nvSpPr>
        <p:spPr>
          <a:xfrm>
            <a:off x="7333488" y="2304288"/>
            <a:ext cx="658368" cy="292608"/>
          </a:xfrm>
          <a:prstGeom prst="rect">
            <a:avLst/>
          </a:prstGeom>
          <a:solidFill>
            <a:srgbClr val="FFFFFF"/>
          </a:solidFill>
          <a:ln w="6350">
            <a:solidFill>
              <a:srgbClr val="C0DEE8"/>
            </a:solidFill>
            <a:prstDash val="solid"/>
          </a:ln>
        </p:spPr>
      </p:sp>
      <p:sp>
        <p:nvSpPr>
          <p:cNvPr id="69" name="Text 67"/>
          <p:cNvSpPr/>
          <p:nvPr/>
        </p:nvSpPr>
        <p:spPr>
          <a:xfrm>
            <a:off x="7333488" y="2304288"/>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1236</a:t>
            </a:r>
            <a:endParaRPr lang="en-US" sz="850" dirty="0"/>
          </a:p>
        </p:txBody>
      </p:sp>
      <p:sp>
        <p:nvSpPr>
          <p:cNvPr id="70" name="Shape 68"/>
          <p:cNvSpPr/>
          <p:nvPr/>
        </p:nvSpPr>
        <p:spPr>
          <a:xfrm>
            <a:off x="7991856" y="2304288"/>
            <a:ext cx="548640" cy="292608"/>
          </a:xfrm>
          <a:prstGeom prst="rect">
            <a:avLst/>
          </a:prstGeom>
          <a:solidFill>
            <a:srgbClr val="D0EEF4"/>
          </a:solidFill>
          <a:ln w="6350">
            <a:solidFill>
              <a:srgbClr val="C0DEE8"/>
            </a:solidFill>
            <a:prstDash val="solid"/>
          </a:ln>
        </p:spPr>
      </p:sp>
      <p:sp>
        <p:nvSpPr>
          <p:cNvPr id="71" name="Text 69"/>
          <p:cNvSpPr/>
          <p:nvPr/>
        </p:nvSpPr>
        <p:spPr>
          <a:xfrm>
            <a:off x="7991856" y="2304288"/>
            <a:ext cx="54864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72" name="Shape 70"/>
          <p:cNvSpPr/>
          <p:nvPr/>
        </p:nvSpPr>
        <p:spPr>
          <a:xfrm>
            <a:off x="8540496" y="2304288"/>
            <a:ext cx="493776" cy="292608"/>
          </a:xfrm>
          <a:prstGeom prst="rect">
            <a:avLst/>
          </a:prstGeom>
          <a:solidFill>
            <a:srgbClr val="D0EEF4"/>
          </a:solidFill>
          <a:ln w="6350">
            <a:solidFill>
              <a:srgbClr val="C0DEE8"/>
            </a:solidFill>
            <a:prstDash val="solid"/>
          </a:ln>
        </p:spPr>
      </p:sp>
      <p:sp>
        <p:nvSpPr>
          <p:cNvPr id="73" name="Text 71"/>
          <p:cNvSpPr/>
          <p:nvPr/>
        </p:nvSpPr>
        <p:spPr>
          <a:xfrm>
            <a:off x="8540496" y="2304288"/>
            <a:ext cx="49377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.048</a:t>
            </a:r>
            <a:endParaRPr lang="en-US" sz="850" dirty="0"/>
          </a:p>
        </p:txBody>
      </p:sp>
      <p:sp>
        <p:nvSpPr>
          <p:cNvPr id="74" name="Text 72"/>
          <p:cNvSpPr/>
          <p:nvPr/>
        </p:nvSpPr>
        <p:spPr>
          <a:xfrm>
            <a:off x="4773168" y="2615184"/>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Interpreting Wilks' Lambda:</a:t>
            </a:r>
            <a:endParaRPr lang="en-US" sz="950" dirty="0"/>
          </a:p>
        </p:txBody>
      </p:sp>
      <p:sp>
        <p:nvSpPr>
          <p:cNvPr id="75" name="Text 73"/>
          <p:cNvSpPr/>
          <p:nvPr/>
        </p:nvSpPr>
        <p:spPr>
          <a:xfrm>
            <a:off x="4773168" y="2871216"/>
            <a:ext cx="393192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Wilks' Lambda = 0.862. Ranges 0 to 1.</a:t>
            </a:r>
            <a:endParaRPr lang="en-US" sz="900" dirty="0"/>
          </a:p>
        </p:txBody>
      </p:sp>
      <p:sp>
        <p:nvSpPr>
          <p:cNvPr id="76" name="Text 74"/>
          <p:cNvSpPr/>
          <p:nvPr/>
        </p:nvSpPr>
        <p:spPr>
          <a:xfrm>
            <a:off x="4773168" y="3145536"/>
            <a:ext cx="393192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Closer to 0 = stronger group separation</a:t>
            </a:r>
            <a:endParaRPr lang="en-US" sz="900" dirty="0"/>
          </a:p>
        </p:txBody>
      </p:sp>
      <p:sp>
        <p:nvSpPr>
          <p:cNvPr id="77" name="Text 75"/>
          <p:cNvSpPr/>
          <p:nvPr/>
        </p:nvSpPr>
        <p:spPr>
          <a:xfrm>
            <a:off x="4773168" y="3419856"/>
            <a:ext cx="393192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Closer to 1 = groups not well separated</a:t>
            </a:r>
            <a:endParaRPr lang="en-US" sz="900" dirty="0"/>
          </a:p>
        </p:txBody>
      </p:sp>
      <p:sp>
        <p:nvSpPr>
          <p:cNvPr id="78" name="Text 76"/>
          <p:cNvSpPr/>
          <p:nvPr/>
        </p:nvSpPr>
        <p:spPr>
          <a:xfrm>
            <a:off x="4773168" y="3694176"/>
            <a:ext cx="393192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F(12, 1236) = 6.30, p &lt; .001 → SIGNIFICANT</a:t>
            </a:r>
            <a:endParaRPr lang="en-US" sz="900" dirty="0"/>
          </a:p>
        </p:txBody>
      </p:sp>
      <p:sp>
        <p:nvSpPr>
          <p:cNvPr id="79" name="Text 77"/>
          <p:cNvSpPr/>
          <p:nvPr/>
        </p:nvSpPr>
        <p:spPr>
          <a:xfrm>
            <a:off x="4773168" y="3968496"/>
            <a:ext cx="393192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Groups differ on combined DV set</a:t>
            </a:r>
            <a:endParaRPr lang="en-US" sz="900" dirty="0"/>
          </a:p>
        </p:txBody>
      </p:sp>
      <p:sp>
        <p:nvSpPr>
          <p:cNvPr id="80" name="Text 78"/>
          <p:cNvSpPr/>
          <p:nvPr/>
        </p:nvSpPr>
        <p:spPr>
          <a:xfrm>
            <a:off x="4773168" y="4242816"/>
            <a:ext cx="3931920"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 η² = .048 = small effect (Cohen's benchmark: .01=small, .06=medium)</a:t>
            </a:r>
            <a:endParaRPr lang="en-US" sz="900" dirty="0"/>
          </a:p>
        </p:txBody>
      </p:sp>
      <p:sp>
        <p:nvSpPr>
          <p:cNvPr id="81" name="Text 79"/>
          <p:cNvSpPr/>
          <p:nvPr/>
        </p:nvSpPr>
        <p:spPr>
          <a:xfrm>
            <a:off x="4773168" y="4572000"/>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Follow-up Univariate ANOVAs:</a:t>
            </a:r>
            <a:endParaRPr lang="en-US" sz="950" dirty="0"/>
          </a:p>
        </p:txBody>
      </p:sp>
      <p:sp>
        <p:nvSpPr>
          <p:cNvPr id="82" name="Text 80"/>
          <p:cNvSpPr/>
          <p:nvPr/>
        </p:nvSpPr>
        <p:spPr>
          <a:xfrm>
            <a:off x="4773168" y="4828032"/>
            <a:ext cx="3931920" cy="43891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After significant MANOVA, examine the Tests of Between-Subjects Effects table. This shows which specific DVs drive the multivariate difference. Only interpret if overall MANOVA is significant.</a:t>
            </a:r>
            <a:endParaRPr lang="en-US" sz="900" dirty="0"/>
          </a:p>
        </p:txBody>
      </p:sp>
      <p:sp>
        <p:nvSpPr>
          <p:cNvPr id="83" name="Shape 81"/>
          <p:cNvSpPr/>
          <p:nvPr/>
        </p:nvSpPr>
        <p:spPr>
          <a:xfrm>
            <a:off x="256032" y="5120640"/>
            <a:ext cx="8631936" cy="347472"/>
          </a:xfrm>
          <a:prstGeom prst="roundRect">
            <a:avLst>
              <a:gd name="adj" fmla="val 15789"/>
            </a:avLst>
          </a:prstGeom>
          <a:solidFill>
            <a:srgbClr val="FEF0ED"/>
          </a:solidFill>
          <a:ln w="19050">
            <a:solidFill>
              <a:srgbClr val="C0392B"/>
            </a:solidFill>
            <a:prstDash val="solid"/>
          </a:ln>
        </p:spPr>
      </p:sp>
      <p:sp>
        <p:nvSpPr>
          <p:cNvPr id="84" name="Text 82"/>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Never run multiple separate ANOVAs when DVs are correlated - use MANOVA. But if DVs are theoretically unrelated, separate ANOVAs are appropriate.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Repeated Measures ANOVA</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Tracking changes across three or more time points or conditions for the same participants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Repeated Measures ANOVA - GLM Repeated Measures</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0E6B78"/>
          </a:solidFill>
          <a:ln w="12700">
            <a:solidFill>
              <a:srgbClr val="0E6B78"/>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Purpose and UAC Foods Scenario</a:t>
            </a:r>
            <a:endParaRPr lang="en-US" sz="1100" dirty="0"/>
          </a:p>
        </p:txBody>
      </p:sp>
      <p:sp>
        <p:nvSpPr>
          <p:cNvPr id="7" name="Text 5"/>
          <p:cNvSpPr/>
          <p:nvPr/>
        </p:nvSpPr>
        <p:spPr>
          <a:xfrm>
            <a:off x="365760" y="1481328"/>
            <a:ext cx="3950208" cy="47548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The extension of the paired t-test to THREE OR MORE time points. Tests whether the DV changes significantly across repeated measurements from the same participants.</a:t>
            </a:r>
            <a:endParaRPr lang="en-US" sz="950" dirty="0"/>
          </a:p>
        </p:txBody>
      </p:sp>
      <p:sp>
        <p:nvSpPr>
          <p:cNvPr id="8" name="Text 6"/>
          <p:cNvSpPr/>
          <p:nvPr/>
        </p:nvSpPr>
        <p:spPr>
          <a:xfrm>
            <a:off x="365760" y="2029968"/>
            <a:ext cx="3950208" cy="6583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UAC Scenario: </a:t>
            </a:r>
            <a:pPr indent="0" marL="0">
              <a:buNone/>
            </a:pPr>
            <a:r>
              <a:rPr lang="en-US" sz="950" dirty="0">
                <a:solidFill>
                  <a:srgbClr val="1A2E38"/>
                </a:solidFill>
                <a:latin typeface="Calibri" pitchFamily="34" charset="0"/>
                <a:ea typeface="Calibri" pitchFamily="34" charset="-122"/>
                <a:cs typeface="Calibri" pitchFamily="34" charset="-120"/>
              </a:rPr>
              <a:t>200 UAC Foods loyal customers were surveyed quarterly on satisfaction (Q1_2025, Q2_2025, Q3_2025, Q4_2025). Did satisfaction change significantly across the four quarters after the new quality initiative?</a:t>
            </a:r>
            <a:endParaRPr lang="en-US" sz="950" dirty="0"/>
          </a:p>
        </p:txBody>
      </p:sp>
      <p:sp>
        <p:nvSpPr>
          <p:cNvPr id="9" name="Text 7"/>
          <p:cNvSpPr/>
          <p:nvPr/>
        </p:nvSpPr>
        <p:spPr>
          <a:xfrm>
            <a:off x="365760" y="2761488"/>
            <a:ext cx="3950208" cy="256032"/>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Steps (Analyze &gt; General Linear Model &gt; Repeated Measures):</a:t>
            </a:r>
            <a:endParaRPr lang="en-US" sz="1000" dirty="0"/>
          </a:p>
        </p:txBody>
      </p:sp>
      <p:sp>
        <p:nvSpPr>
          <p:cNvPr id="10" name="Shape 8"/>
          <p:cNvSpPr/>
          <p:nvPr/>
        </p:nvSpPr>
        <p:spPr>
          <a:xfrm>
            <a:off x="365760" y="3072384"/>
            <a:ext cx="256032" cy="256032"/>
          </a:xfrm>
          <a:prstGeom prst="ellipse">
            <a:avLst/>
          </a:prstGeom>
          <a:solidFill>
            <a:srgbClr val="0E6B78"/>
          </a:solidFill>
          <a:ln w="12700">
            <a:solidFill>
              <a:srgbClr val="0E6B78"/>
            </a:solidFill>
            <a:prstDash val="solid"/>
          </a:ln>
        </p:spPr>
      </p:sp>
      <p:sp>
        <p:nvSpPr>
          <p:cNvPr id="11" name="Text 9"/>
          <p:cNvSpPr/>
          <p:nvPr/>
        </p:nvSpPr>
        <p:spPr>
          <a:xfrm>
            <a:off x="365760" y="3072384"/>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2" name="Text 10"/>
          <p:cNvSpPr/>
          <p:nvPr/>
        </p:nvSpPr>
        <p:spPr>
          <a:xfrm>
            <a:off x="694944" y="3090672"/>
            <a:ext cx="3657600" cy="34747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Name the within-subject factor (e.g., 'Quarter'), set levels = 4, click Add, then Define</a:t>
            </a:r>
            <a:endParaRPr lang="en-US" sz="900" dirty="0"/>
          </a:p>
        </p:txBody>
      </p:sp>
      <p:sp>
        <p:nvSpPr>
          <p:cNvPr id="13" name="Shape 11"/>
          <p:cNvSpPr/>
          <p:nvPr/>
        </p:nvSpPr>
        <p:spPr>
          <a:xfrm>
            <a:off x="365760" y="3474720"/>
            <a:ext cx="256032" cy="256032"/>
          </a:xfrm>
          <a:prstGeom prst="ellipse">
            <a:avLst/>
          </a:prstGeom>
          <a:solidFill>
            <a:srgbClr val="0E6B78"/>
          </a:solidFill>
          <a:ln w="12700">
            <a:solidFill>
              <a:srgbClr val="0E6B78"/>
            </a:solidFill>
            <a:prstDash val="solid"/>
          </a:ln>
        </p:spPr>
      </p:sp>
      <p:sp>
        <p:nvSpPr>
          <p:cNvPr id="14" name="Text 12"/>
          <p:cNvSpPr/>
          <p:nvPr/>
        </p:nvSpPr>
        <p:spPr>
          <a:xfrm>
            <a:off x="365760" y="3474720"/>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5" name="Text 13"/>
          <p:cNvSpPr/>
          <p:nvPr/>
        </p:nvSpPr>
        <p:spPr>
          <a:xfrm>
            <a:off x="694944" y="3493008"/>
            <a:ext cx="3657600" cy="34747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Assign Q1_sat, Q2_sat, Q3_sat, Q4_sat to the four Within-Subjects Variables boxes</a:t>
            </a:r>
            <a:endParaRPr lang="en-US" sz="900" dirty="0"/>
          </a:p>
        </p:txBody>
      </p:sp>
      <p:sp>
        <p:nvSpPr>
          <p:cNvPr id="16" name="Shape 14"/>
          <p:cNvSpPr/>
          <p:nvPr/>
        </p:nvSpPr>
        <p:spPr>
          <a:xfrm>
            <a:off x="365760" y="3877056"/>
            <a:ext cx="256032" cy="256032"/>
          </a:xfrm>
          <a:prstGeom prst="ellipse">
            <a:avLst/>
          </a:prstGeom>
          <a:solidFill>
            <a:srgbClr val="0E6B78"/>
          </a:solidFill>
          <a:ln w="12700">
            <a:solidFill>
              <a:srgbClr val="0E6B78"/>
            </a:solidFill>
            <a:prstDash val="solid"/>
          </a:ln>
        </p:spPr>
      </p:sp>
      <p:sp>
        <p:nvSpPr>
          <p:cNvPr id="17" name="Text 15"/>
          <p:cNvSpPr/>
          <p:nvPr/>
        </p:nvSpPr>
        <p:spPr>
          <a:xfrm>
            <a:off x="365760" y="387705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8" name="Text 16"/>
          <p:cNvSpPr/>
          <p:nvPr/>
        </p:nvSpPr>
        <p:spPr>
          <a:xfrm>
            <a:off x="694944" y="3895344"/>
            <a:ext cx="3657600" cy="34747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Click Options: Descriptive statistics, Estimates of effect size, Compare main effects</a:t>
            </a:r>
            <a:endParaRPr lang="en-US" sz="900" dirty="0"/>
          </a:p>
        </p:txBody>
      </p:sp>
      <p:sp>
        <p:nvSpPr>
          <p:cNvPr id="19" name="Shape 17"/>
          <p:cNvSpPr/>
          <p:nvPr/>
        </p:nvSpPr>
        <p:spPr>
          <a:xfrm>
            <a:off x="365760" y="4279392"/>
            <a:ext cx="256032" cy="256032"/>
          </a:xfrm>
          <a:prstGeom prst="ellipse">
            <a:avLst/>
          </a:prstGeom>
          <a:solidFill>
            <a:srgbClr val="0E6B78"/>
          </a:solidFill>
          <a:ln w="12700">
            <a:solidFill>
              <a:srgbClr val="0E6B78"/>
            </a:solidFill>
            <a:prstDash val="solid"/>
          </a:ln>
        </p:spPr>
      </p:sp>
      <p:sp>
        <p:nvSpPr>
          <p:cNvPr id="20" name="Text 18"/>
          <p:cNvSpPr/>
          <p:nvPr/>
        </p:nvSpPr>
        <p:spPr>
          <a:xfrm>
            <a:off x="365760" y="427939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1" name="Text 19"/>
          <p:cNvSpPr/>
          <p:nvPr/>
        </p:nvSpPr>
        <p:spPr>
          <a:xfrm>
            <a:off x="694944" y="4297680"/>
            <a:ext cx="3657600" cy="34747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Click Plots: add Factor to Horizontal Axis &gt; Add &gt; to show profile plot</a:t>
            </a:r>
            <a:endParaRPr lang="en-US" sz="900" dirty="0"/>
          </a:p>
        </p:txBody>
      </p:sp>
      <p:sp>
        <p:nvSpPr>
          <p:cNvPr id="22" name="Shape 20"/>
          <p:cNvSpPr/>
          <p:nvPr/>
        </p:nvSpPr>
        <p:spPr>
          <a:xfrm>
            <a:off x="365760" y="4681728"/>
            <a:ext cx="256032" cy="256032"/>
          </a:xfrm>
          <a:prstGeom prst="ellipse">
            <a:avLst/>
          </a:prstGeom>
          <a:solidFill>
            <a:srgbClr val="0E6B78"/>
          </a:solidFill>
          <a:ln w="12700">
            <a:solidFill>
              <a:srgbClr val="0E6B78"/>
            </a:solidFill>
            <a:prstDash val="solid"/>
          </a:ln>
        </p:spPr>
      </p:sp>
      <p:sp>
        <p:nvSpPr>
          <p:cNvPr id="23" name="Text 21"/>
          <p:cNvSpPr/>
          <p:nvPr/>
        </p:nvSpPr>
        <p:spPr>
          <a:xfrm>
            <a:off x="365760" y="468172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694944" y="4700016"/>
            <a:ext cx="3657600" cy="34747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Click OK</a:t>
            </a:r>
            <a:endParaRPr lang="en-US" sz="900" dirty="0"/>
          </a:p>
        </p:txBody>
      </p:sp>
      <p:sp>
        <p:nvSpPr>
          <p:cNvPr id="25" name="Shape 23"/>
          <p:cNvSpPr/>
          <p:nvPr/>
        </p:nvSpPr>
        <p:spPr>
          <a:xfrm>
            <a:off x="4681728"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754880" y="1078992"/>
            <a:ext cx="4005072" cy="329184"/>
          </a:xfrm>
          <a:prstGeom prst="roundRect">
            <a:avLst>
              <a:gd name="adj" fmla="val 16667"/>
            </a:avLst>
          </a:prstGeom>
          <a:solidFill>
            <a:srgbClr val="061A24"/>
          </a:solidFill>
          <a:ln w="12700">
            <a:solidFill>
              <a:srgbClr val="061A24"/>
            </a:solidFill>
            <a:prstDash val="solid"/>
          </a:ln>
        </p:spPr>
      </p:sp>
      <p:sp>
        <p:nvSpPr>
          <p:cNvPr id="27" name="Text 25"/>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Key Output: Mauchly's Test + Results</a:t>
            </a:r>
            <a:endParaRPr lang="en-US" sz="1100" dirty="0"/>
          </a:p>
        </p:txBody>
      </p:sp>
      <p:sp>
        <p:nvSpPr>
          <p:cNvPr id="28" name="Text 26"/>
          <p:cNvSpPr/>
          <p:nvPr/>
        </p:nvSpPr>
        <p:spPr>
          <a:xfrm>
            <a:off x="4773168" y="1481328"/>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Step 1 - Check Mauchly's Test of Sphericity:</a:t>
            </a:r>
            <a:endParaRPr lang="en-US" sz="950" dirty="0"/>
          </a:p>
        </p:txBody>
      </p:sp>
      <p:sp>
        <p:nvSpPr>
          <p:cNvPr id="29" name="Shape 27"/>
          <p:cNvSpPr/>
          <p:nvPr/>
        </p:nvSpPr>
        <p:spPr>
          <a:xfrm>
            <a:off x="4773168" y="1719072"/>
            <a:ext cx="603504" cy="292608"/>
          </a:xfrm>
          <a:prstGeom prst="rect">
            <a:avLst/>
          </a:prstGeom>
          <a:solidFill>
            <a:srgbClr val="061A24"/>
          </a:solidFill>
          <a:ln w="12700">
            <a:solidFill>
              <a:srgbClr val="061A24"/>
            </a:solidFill>
            <a:prstDash val="solid"/>
          </a:ln>
        </p:spPr>
      </p:sp>
      <p:sp>
        <p:nvSpPr>
          <p:cNvPr id="30" name="Text 28"/>
          <p:cNvSpPr/>
          <p:nvPr/>
        </p:nvSpPr>
        <p:spPr>
          <a:xfrm>
            <a:off x="4773168" y="1719072"/>
            <a:ext cx="60350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a:t>
            </a:r>
            <a:endParaRPr lang="en-US" sz="850" dirty="0"/>
          </a:p>
        </p:txBody>
      </p:sp>
      <p:sp>
        <p:nvSpPr>
          <p:cNvPr id="31" name="Shape 29"/>
          <p:cNvSpPr/>
          <p:nvPr/>
        </p:nvSpPr>
        <p:spPr>
          <a:xfrm>
            <a:off x="5376672" y="1719072"/>
            <a:ext cx="694944" cy="292608"/>
          </a:xfrm>
          <a:prstGeom prst="rect">
            <a:avLst/>
          </a:prstGeom>
          <a:solidFill>
            <a:srgbClr val="061A24"/>
          </a:solidFill>
          <a:ln w="12700">
            <a:solidFill>
              <a:srgbClr val="061A24"/>
            </a:solidFill>
            <a:prstDash val="solid"/>
          </a:ln>
        </p:spPr>
      </p:sp>
      <p:sp>
        <p:nvSpPr>
          <p:cNvPr id="32" name="Text 30"/>
          <p:cNvSpPr/>
          <p:nvPr/>
        </p:nvSpPr>
        <p:spPr>
          <a:xfrm>
            <a:off x="5376672" y="1719072"/>
            <a:ext cx="69494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Chi-Sq</a:t>
            </a:r>
            <a:endParaRPr lang="en-US" sz="850" dirty="0"/>
          </a:p>
        </p:txBody>
      </p:sp>
      <p:sp>
        <p:nvSpPr>
          <p:cNvPr id="33" name="Shape 31"/>
          <p:cNvSpPr/>
          <p:nvPr/>
        </p:nvSpPr>
        <p:spPr>
          <a:xfrm>
            <a:off x="6071616" y="1719072"/>
            <a:ext cx="402336" cy="292608"/>
          </a:xfrm>
          <a:prstGeom prst="rect">
            <a:avLst/>
          </a:prstGeom>
          <a:solidFill>
            <a:srgbClr val="061A24"/>
          </a:solidFill>
          <a:ln w="12700">
            <a:solidFill>
              <a:srgbClr val="061A24"/>
            </a:solidFill>
            <a:prstDash val="solid"/>
          </a:ln>
        </p:spPr>
      </p:sp>
      <p:sp>
        <p:nvSpPr>
          <p:cNvPr id="34" name="Text 32"/>
          <p:cNvSpPr/>
          <p:nvPr/>
        </p:nvSpPr>
        <p:spPr>
          <a:xfrm>
            <a:off x="6071616" y="1719072"/>
            <a:ext cx="40233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35" name="Shape 33"/>
          <p:cNvSpPr/>
          <p:nvPr/>
        </p:nvSpPr>
        <p:spPr>
          <a:xfrm>
            <a:off x="6473952" y="1719072"/>
            <a:ext cx="530352" cy="292608"/>
          </a:xfrm>
          <a:prstGeom prst="rect">
            <a:avLst/>
          </a:prstGeom>
          <a:solidFill>
            <a:srgbClr val="061A24"/>
          </a:solidFill>
          <a:ln w="12700">
            <a:solidFill>
              <a:srgbClr val="061A24"/>
            </a:solidFill>
            <a:prstDash val="solid"/>
          </a:ln>
        </p:spPr>
      </p:sp>
      <p:sp>
        <p:nvSpPr>
          <p:cNvPr id="36" name="Text 34"/>
          <p:cNvSpPr/>
          <p:nvPr/>
        </p:nvSpPr>
        <p:spPr>
          <a:xfrm>
            <a:off x="6473952" y="1719072"/>
            <a:ext cx="5303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37" name="Shape 35"/>
          <p:cNvSpPr/>
          <p:nvPr/>
        </p:nvSpPr>
        <p:spPr>
          <a:xfrm>
            <a:off x="7004304" y="1719072"/>
            <a:ext cx="914400" cy="292608"/>
          </a:xfrm>
          <a:prstGeom prst="rect">
            <a:avLst/>
          </a:prstGeom>
          <a:solidFill>
            <a:srgbClr val="061A24"/>
          </a:solidFill>
          <a:ln w="12700">
            <a:solidFill>
              <a:srgbClr val="061A24"/>
            </a:solidFill>
            <a:prstDash val="solid"/>
          </a:ln>
        </p:spPr>
      </p:sp>
      <p:sp>
        <p:nvSpPr>
          <p:cNvPr id="38" name="Text 36"/>
          <p:cNvSpPr/>
          <p:nvPr/>
        </p:nvSpPr>
        <p:spPr>
          <a:xfrm>
            <a:off x="7004304" y="1719072"/>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Epsilon (G-G)</a:t>
            </a:r>
            <a:endParaRPr lang="en-US" sz="850" dirty="0"/>
          </a:p>
        </p:txBody>
      </p:sp>
      <p:sp>
        <p:nvSpPr>
          <p:cNvPr id="39" name="Shape 37"/>
          <p:cNvSpPr/>
          <p:nvPr/>
        </p:nvSpPr>
        <p:spPr>
          <a:xfrm>
            <a:off x="4773168" y="2011680"/>
            <a:ext cx="603504" cy="292608"/>
          </a:xfrm>
          <a:prstGeom prst="rect">
            <a:avLst/>
          </a:prstGeom>
          <a:solidFill>
            <a:srgbClr val="D0EEF4"/>
          </a:solidFill>
          <a:ln w="6350">
            <a:solidFill>
              <a:srgbClr val="C0DEE8"/>
            </a:solidFill>
            <a:prstDash val="solid"/>
          </a:ln>
        </p:spPr>
      </p:sp>
      <p:sp>
        <p:nvSpPr>
          <p:cNvPr id="40" name="Text 38"/>
          <p:cNvSpPr/>
          <p:nvPr/>
        </p:nvSpPr>
        <p:spPr>
          <a:xfrm>
            <a:off x="4773168" y="2011680"/>
            <a:ext cx="60350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.621</a:t>
            </a:r>
            <a:endParaRPr lang="en-US" sz="850" dirty="0"/>
          </a:p>
        </p:txBody>
      </p:sp>
      <p:sp>
        <p:nvSpPr>
          <p:cNvPr id="41" name="Shape 39"/>
          <p:cNvSpPr/>
          <p:nvPr/>
        </p:nvSpPr>
        <p:spPr>
          <a:xfrm>
            <a:off x="5376672" y="2011680"/>
            <a:ext cx="694944" cy="292608"/>
          </a:xfrm>
          <a:prstGeom prst="rect">
            <a:avLst/>
          </a:prstGeom>
          <a:solidFill>
            <a:srgbClr val="EAF6FA"/>
          </a:solidFill>
          <a:ln w="6350">
            <a:solidFill>
              <a:srgbClr val="C0DEE8"/>
            </a:solidFill>
            <a:prstDash val="solid"/>
          </a:ln>
        </p:spPr>
      </p:sp>
      <p:sp>
        <p:nvSpPr>
          <p:cNvPr id="42" name="Text 40"/>
          <p:cNvSpPr/>
          <p:nvPr/>
        </p:nvSpPr>
        <p:spPr>
          <a:xfrm>
            <a:off x="5376672" y="2011680"/>
            <a:ext cx="69494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89.4</a:t>
            </a:r>
            <a:endParaRPr lang="en-US" sz="850" dirty="0"/>
          </a:p>
        </p:txBody>
      </p:sp>
      <p:sp>
        <p:nvSpPr>
          <p:cNvPr id="43" name="Shape 41"/>
          <p:cNvSpPr/>
          <p:nvPr/>
        </p:nvSpPr>
        <p:spPr>
          <a:xfrm>
            <a:off x="6071616" y="2011680"/>
            <a:ext cx="402336" cy="292608"/>
          </a:xfrm>
          <a:prstGeom prst="rect">
            <a:avLst/>
          </a:prstGeom>
          <a:solidFill>
            <a:srgbClr val="EAF6FA"/>
          </a:solidFill>
          <a:ln w="6350">
            <a:solidFill>
              <a:srgbClr val="C0DEE8"/>
            </a:solidFill>
            <a:prstDash val="solid"/>
          </a:ln>
        </p:spPr>
      </p:sp>
      <p:sp>
        <p:nvSpPr>
          <p:cNvPr id="44" name="Text 42"/>
          <p:cNvSpPr/>
          <p:nvPr/>
        </p:nvSpPr>
        <p:spPr>
          <a:xfrm>
            <a:off x="6071616" y="2011680"/>
            <a:ext cx="40233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a:t>
            </a:r>
            <a:endParaRPr lang="en-US" sz="850" dirty="0"/>
          </a:p>
        </p:txBody>
      </p:sp>
      <p:sp>
        <p:nvSpPr>
          <p:cNvPr id="45" name="Shape 43"/>
          <p:cNvSpPr/>
          <p:nvPr/>
        </p:nvSpPr>
        <p:spPr>
          <a:xfrm>
            <a:off x="6473952" y="2011680"/>
            <a:ext cx="530352" cy="292608"/>
          </a:xfrm>
          <a:prstGeom prst="rect">
            <a:avLst/>
          </a:prstGeom>
          <a:solidFill>
            <a:srgbClr val="D0EEF4"/>
          </a:solidFill>
          <a:ln w="6350">
            <a:solidFill>
              <a:srgbClr val="C0DEE8"/>
            </a:solidFill>
            <a:prstDash val="solid"/>
          </a:ln>
        </p:spPr>
      </p:sp>
      <p:sp>
        <p:nvSpPr>
          <p:cNvPr id="46" name="Text 44"/>
          <p:cNvSpPr/>
          <p:nvPr/>
        </p:nvSpPr>
        <p:spPr>
          <a:xfrm>
            <a:off x="6473952" y="2011680"/>
            <a:ext cx="53035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47" name="Shape 45"/>
          <p:cNvSpPr/>
          <p:nvPr/>
        </p:nvSpPr>
        <p:spPr>
          <a:xfrm>
            <a:off x="7004304" y="2011680"/>
            <a:ext cx="914400" cy="292608"/>
          </a:xfrm>
          <a:prstGeom prst="rect">
            <a:avLst/>
          </a:prstGeom>
          <a:solidFill>
            <a:srgbClr val="D0EEF4"/>
          </a:solidFill>
          <a:ln w="6350">
            <a:solidFill>
              <a:srgbClr val="C0DEE8"/>
            </a:solidFill>
            <a:prstDash val="solid"/>
          </a:ln>
        </p:spPr>
      </p:sp>
      <p:sp>
        <p:nvSpPr>
          <p:cNvPr id="48" name="Text 46"/>
          <p:cNvSpPr/>
          <p:nvPr/>
        </p:nvSpPr>
        <p:spPr>
          <a:xfrm>
            <a:off x="7004304" y="2011680"/>
            <a:ext cx="91440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.782</a:t>
            </a:r>
            <a:endParaRPr lang="en-US" sz="850" dirty="0"/>
          </a:p>
        </p:txBody>
      </p:sp>
      <p:sp>
        <p:nvSpPr>
          <p:cNvPr id="49" name="Text 47"/>
          <p:cNvSpPr/>
          <p:nvPr/>
        </p:nvSpPr>
        <p:spPr>
          <a:xfrm>
            <a:off x="4773168" y="2176272"/>
            <a:ext cx="3931920" cy="256032"/>
          </a:xfrm>
          <a:prstGeom prst="rect">
            <a:avLst/>
          </a:prstGeom>
          <a:noFill/>
          <a:ln/>
        </p:spPr>
        <p:txBody>
          <a:bodyPr wrap="square" lIns="0" tIns="0" rIns="0" bIns="0" rtlCol="0" anchor="ctr"/>
          <a:lstStyle/>
          <a:p>
            <a:pPr indent="0" marL="0">
              <a:buNone/>
            </a:pPr>
            <a:r>
              <a:rPr lang="en-US" sz="900" i="1" dirty="0">
                <a:solidFill>
                  <a:srgbClr val="C0392B"/>
                </a:solidFill>
                <a:latin typeface="Calibri" pitchFamily="34" charset="0"/>
                <a:ea typeface="Calibri" pitchFamily="34" charset="-122"/>
                <a:cs typeface="Calibri" pitchFamily="34" charset="-120"/>
              </a:rPr>
              <a:t>p &lt; .001 → Sphericity VIOLATED → Use Greenhouse-Geisser corrected row</a:t>
            </a:r>
            <a:endParaRPr lang="en-US" sz="900" dirty="0"/>
          </a:p>
        </p:txBody>
      </p:sp>
      <p:sp>
        <p:nvSpPr>
          <p:cNvPr id="50" name="Text 48"/>
          <p:cNvSpPr/>
          <p:nvPr/>
        </p:nvSpPr>
        <p:spPr>
          <a:xfrm>
            <a:off x="4773168" y="2487168"/>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Step 2 - Tests of Within-Subjects Effects:</a:t>
            </a:r>
            <a:endParaRPr lang="en-US" sz="950" dirty="0"/>
          </a:p>
        </p:txBody>
      </p:sp>
      <p:sp>
        <p:nvSpPr>
          <p:cNvPr id="51" name="Shape 49"/>
          <p:cNvSpPr/>
          <p:nvPr/>
        </p:nvSpPr>
        <p:spPr>
          <a:xfrm>
            <a:off x="4773168" y="2724912"/>
            <a:ext cx="1097280" cy="292608"/>
          </a:xfrm>
          <a:prstGeom prst="rect">
            <a:avLst/>
          </a:prstGeom>
          <a:solidFill>
            <a:srgbClr val="061A24"/>
          </a:solidFill>
          <a:ln w="12700">
            <a:solidFill>
              <a:srgbClr val="061A24"/>
            </a:solidFill>
            <a:prstDash val="solid"/>
          </a:ln>
        </p:spPr>
      </p:sp>
      <p:sp>
        <p:nvSpPr>
          <p:cNvPr id="52" name="Text 50"/>
          <p:cNvSpPr/>
          <p:nvPr/>
        </p:nvSpPr>
        <p:spPr>
          <a:xfrm>
            <a:off x="4773168" y="2724912"/>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Source</a:t>
            </a:r>
            <a:endParaRPr lang="en-US" sz="850" dirty="0"/>
          </a:p>
        </p:txBody>
      </p:sp>
      <p:sp>
        <p:nvSpPr>
          <p:cNvPr id="53" name="Shape 51"/>
          <p:cNvSpPr/>
          <p:nvPr/>
        </p:nvSpPr>
        <p:spPr>
          <a:xfrm>
            <a:off x="5870448" y="2724912"/>
            <a:ext cx="512064" cy="292608"/>
          </a:xfrm>
          <a:prstGeom prst="rect">
            <a:avLst/>
          </a:prstGeom>
          <a:solidFill>
            <a:srgbClr val="061A24"/>
          </a:solidFill>
          <a:ln w="12700">
            <a:solidFill>
              <a:srgbClr val="061A24"/>
            </a:solidFill>
            <a:prstDash val="solid"/>
          </a:ln>
        </p:spPr>
      </p:sp>
      <p:sp>
        <p:nvSpPr>
          <p:cNvPr id="54" name="Text 52"/>
          <p:cNvSpPr/>
          <p:nvPr/>
        </p:nvSpPr>
        <p:spPr>
          <a:xfrm>
            <a:off x="5870448" y="2724912"/>
            <a:ext cx="5120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SS</a:t>
            </a:r>
            <a:endParaRPr lang="en-US" sz="850" dirty="0"/>
          </a:p>
        </p:txBody>
      </p:sp>
      <p:sp>
        <p:nvSpPr>
          <p:cNvPr id="55" name="Shape 53"/>
          <p:cNvSpPr/>
          <p:nvPr/>
        </p:nvSpPr>
        <p:spPr>
          <a:xfrm>
            <a:off x="6382512" y="2724912"/>
            <a:ext cx="585216" cy="292608"/>
          </a:xfrm>
          <a:prstGeom prst="rect">
            <a:avLst/>
          </a:prstGeom>
          <a:solidFill>
            <a:srgbClr val="061A24"/>
          </a:solidFill>
          <a:ln w="12700">
            <a:solidFill>
              <a:srgbClr val="061A24"/>
            </a:solidFill>
            <a:prstDash val="solid"/>
          </a:ln>
        </p:spPr>
      </p:sp>
      <p:sp>
        <p:nvSpPr>
          <p:cNvPr id="56" name="Text 54"/>
          <p:cNvSpPr/>
          <p:nvPr/>
        </p:nvSpPr>
        <p:spPr>
          <a:xfrm>
            <a:off x="6382512" y="2724912"/>
            <a:ext cx="58521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df(G-G)</a:t>
            </a:r>
            <a:endParaRPr lang="en-US" sz="850" dirty="0"/>
          </a:p>
        </p:txBody>
      </p:sp>
      <p:sp>
        <p:nvSpPr>
          <p:cNvPr id="57" name="Shape 55"/>
          <p:cNvSpPr/>
          <p:nvPr/>
        </p:nvSpPr>
        <p:spPr>
          <a:xfrm>
            <a:off x="6967728" y="2724912"/>
            <a:ext cx="512064" cy="292608"/>
          </a:xfrm>
          <a:prstGeom prst="rect">
            <a:avLst/>
          </a:prstGeom>
          <a:solidFill>
            <a:srgbClr val="061A24"/>
          </a:solidFill>
          <a:ln w="12700">
            <a:solidFill>
              <a:srgbClr val="061A24"/>
            </a:solidFill>
            <a:prstDash val="solid"/>
          </a:ln>
        </p:spPr>
      </p:sp>
      <p:sp>
        <p:nvSpPr>
          <p:cNvPr id="58" name="Text 56"/>
          <p:cNvSpPr/>
          <p:nvPr/>
        </p:nvSpPr>
        <p:spPr>
          <a:xfrm>
            <a:off x="6967728" y="2724912"/>
            <a:ext cx="5120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MS</a:t>
            </a:r>
            <a:endParaRPr lang="en-US" sz="850" dirty="0"/>
          </a:p>
        </p:txBody>
      </p:sp>
      <p:sp>
        <p:nvSpPr>
          <p:cNvPr id="59" name="Shape 57"/>
          <p:cNvSpPr/>
          <p:nvPr/>
        </p:nvSpPr>
        <p:spPr>
          <a:xfrm>
            <a:off x="7479792" y="2724912"/>
            <a:ext cx="457200" cy="292608"/>
          </a:xfrm>
          <a:prstGeom prst="rect">
            <a:avLst/>
          </a:prstGeom>
          <a:solidFill>
            <a:srgbClr val="061A24"/>
          </a:solidFill>
          <a:ln w="12700">
            <a:solidFill>
              <a:srgbClr val="061A24"/>
            </a:solidFill>
            <a:prstDash val="solid"/>
          </a:ln>
        </p:spPr>
      </p:sp>
      <p:sp>
        <p:nvSpPr>
          <p:cNvPr id="60" name="Text 58"/>
          <p:cNvSpPr/>
          <p:nvPr/>
        </p:nvSpPr>
        <p:spPr>
          <a:xfrm>
            <a:off x="7479792" y="2724912"/>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61" name="Shape 59"/>
          <p:cNvSpPr/>
          <p:nvPr/>
        </p:nvSpPr>
        <p:spPr>
          <a:xfrm>
            <a:off x="7936992" y="2724912"/>
            <a:ext cx="530352" cy="292608"/>
          </a:xfrm>
          <a:prstGeom prst="rect">
            <a:avLst/>
          </a:prstGeom>
          <a:solidFill>
            <a:srgbClr val="061A24"/>
          </a:solidFill>
          <a:ln w="12700">
            <a:solidFill>
              <a:srgbClr val="061A24"/>
            </a:solidFill>
            <a:prstDash val="solid"/>
          </a:ln>
        </p:spPr>
      </p:sp>
      <p:sp>
        <p:nvSpPr>
          <p:cNvPr id="62" name="Text 60"/>
          <p:cNvSpPr/>
          <p:nvPr/>
        </p:nvSpPr>
        <p:spPr>
          <a:xfrm>
            <a:off x="7936992" y="2724912"/>
            <a:ext cx="5303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63" name="Shape 61"/>
          <p:cNvSpPr/>
          <p:nvPr/>
        </p:nvSpPr>
        <p:spPr>
          <a:xfrm>
            <a:off x="8467344" y="2724912"/>
            <a:ext cx="457200" cy="292608"/>
          </a:xfrm>
          <a:prstGeom prst="rect">
            <a:avLst/>
          </a:prstGeom>
          <a:solidFill>
            <a:srgbClr val="061A24"/>
          </a:solidFill>
          <a:ln w="12700">
            <a:solidFill>
              <a:srgbClr val="061A24"/>
            </a:solidFill>
            <a:prstDash val="solid"/>
          </a:ln>
        </p:spPr>
      </p:sp>
      <p:sp>
        <p:nvSpPr>
          <p:cNvPr id="64" name="Text 62"/>
          <p:cNvSpPr/>
          <p:nvPr/>
        </p:nvSpPr>
        <p:spPr>
          <a:xfrm>
            <a:off x="8467344" y="2724912"/>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η²</a:t>
            </a:r>
            <a:endParaRPr lang="en-US" sz="850" dirty="0"/>
          </a:p>
        </p:txBody>
      </p:sp>
      <p:sp>
        <p:nvSpPr>
          <p:cNvPr id="65" name="Shape 63"/>
          <p:cNvSpPr/>
          <p:nvPr/>
        </p:nvSpPr>
        <p:spPr>
          <a:xfrm>
            <a:off x="4773168" y="3017520"/>
            <a:ext cx="1097280" cy="292608"/>
          </a:xfrm>
          <a:prstGeom prst="rect">
            <a:avLst/>
          </a:prstGeom>
          <a:solidFill>
            <a:srgbClr val="EAF6FA"/>
          </a:solidFill>
          <a:ln w="6350">
            <a:solidFill>
              <a:srgbClr val="C0DEE8"/>
            </a:solidFill>
            <a:prstDash val="solid"/>
          </a:ln>
        </p:spPr>
      </p:sp>
      <p:sp>
        <p:nvSpPr>
          <p:cNvPr id="66" name="Text 64"/>
          <p:cNvSpPr/>
          <p:nvPr/>
        </p:nvSpPr>
        <p:spPr>
          <a:xfrm>
            <a:off x="4773168" y="3017520"/>
            <a:ext cx="109728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Quarter (G-G)</a:t>
            </a:r>
            <a:endParaRPr lang="en-US" sz="850" dirty="0"/>
          </a:p>
        </p:txBody>
      </p:sp>
      <p:sp>
        <p:nvSpPr>
          <p:cNvPr id="67" name="Shape 65"/>
          <p:cNvSpPr/>
          <p:nvPr/>
        </p:nvSpPr>
        <p:spPr>
          <a:xfrm>
            <a:off x="5870448" y="3017520"/>
            <a:ext cx="512064" cy="292608"/>
          </a:xfrm>
          <a:prstGeom prst="rect">
            <a:avLst/>
          </a:prstGeom>
          <a:solidFill>
            <a:srgbClr val="EAF6FA"/>
          </a:solidFill>
          <a:ln w="6350">
            <a:solidFill>
              <a:srgbClr val="C0DEE8"/>
            </a:solidFill>
            <a:prstDash val="solid"/>
          </a:ln>
        </p:spPr>
      </p:sp>
      <p:sp>
        <p:nvSpPr>
          <p:cNvPr id="68" name="Text 66"/>
          <p:cNvSpPr/>
          <p:nvPr/>
        </p:nvSpPr>
        <p:spPr>
          <a:xfrm>
            <a:off x="5870448" y="3017520"/>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42.6</a:t>
            </a:r>
            <a:endParaRPr lang="en-US" sz="850" dirty="0"/>
          </a:p>
        </p:txBody>
      </p:sp>
      <p:sp>
        <p:nvSpPr>
          <p:cNvPr id="69" name="Shape 67"/>
          <p:cNvSpPr/>
          <p:nvPr/>
        </p:nvSpPr>
        <p:spPr>
          <a:xfrm>
            <a:off x="6382512" y="3017520"/>
            <a:ext cx="585216" cy="292608"/>
          </a:xfrm>
          <a:prstGeom prst="rect">
            <a:avLst/>
          </a:prstGeom>
          <a:solidFill>
            <a:srgbClr val="D0EEF4"/>
          </a:solidFill>
          <a:ln w="6350">
            <a:solidFill>
              <a:srgbClr val="C0DEE8"/>
            </a:solidFill>
            <a:prstDash val="solid"/>
          </a:ln>
        </p:spPr>
      </p:sp>
      <p:sp>
        <p:nvSpPr>
          <p:cNvPr id="70" name="Text 68"/>
          <p:cNvSpPr/>
          <p:nvPr/>
        </p:nvSpPr>
        <p:spPr>
          <a:xfrm>
            <a:off x="6382512" y="3017520"/>
            <a:ext cx="58521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2.35</a:t>
            </a:r>
            <a:endParaRPr lang="en-US" sz="850" dirty="0"/>
          </a:p>
        </p:txBody>
      </p:sp>
      <p:sp>
        <p:nvSpPr>
          <p:cNvPr id="71" name="Shape 69"/>
          <p:cNvSpPr/>
          <p:nvPr/>
        </p:nvSpPr>
        <p:spPr>
          <a:xfrm>
            <a:off x="6967728" y="3017520"/>
            <a:ext cx="512064" cy="292608"/>
          </a:xfrm>
          <a:prstGeom prst="rect">
            <a:avLst/>
          </a:prstGeom>
          <a:solidFill>
            <a:srgbClr val="EAF6FA"/>
          </a:solidFill>
          <a:ln w="6350">
            <a:solidFill>
              <a:srgbClr val="C0DEE8"/>
            </a:solidFill>
            <a:prstDash val="solid"/>
          </a:ln>
        </p:spPr>
      </p:sp>
      <p:sp>
        <p:nvSpPr>
          <p:cNvPr id="72" name="Text 70"/>
          <p:cNvSpPr/>
          <p:nvPr/>
        </p:nvSpPr>
        <p:spPr>
          <a:xfrm>
            <a:off x="6967728" y="3017520"/>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18.1</a:t>
            </a:r>
            <a:endParaRPr lang="en-US" sz="850" dirty="0"/>
          </a:p>
        </p:txBody>
      </p:sp>
      <p:sp>
        <p:nvSpPr>
          <p:cNvPr id="73" name="Shape 71"/>
          <p:cNvSpPr/>
          <p:nvPr/>
        </p:nvSpPr>
        <p:spPr>
          <a:xfrm>
            <a:off x="7479792" y="3017520"/>
            <a:ext cx="457200" cy="292608"/>
          </a:xfrm>
          <a:prstGeom prst="rect">
            <a:avLst/>
          </a:prstGeom>
          <a:solidFill>
            <a:srgbClr val="D0EEF4"/>
          </a:solidFill>
          <a:ln w="6350">
            <a:solidFill>
              <a:srgbClr val="C0DEE8"/>
            </a:solidFill>
            <a:prstDash val="solid"/>
          </a:ln>
        </p:spPr>
      </p:sp>
      <p:sp>
        <p:nvSpPr>
          <p:cNvPr id="74" name="Text 72"/>
          <p:cNvSpPr/>
          <p:nvPr/>
        </p:nvSpPr>
        <p:spPr>
          <a:xfrm>
            <a:off x="7479792" y="3017520"/>
            <a:ext cx="45720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24.3</a:t>
            </a:r>
            <a:endParaRPr lang="en-US" sz="850" dirty="0"/>
          </a:p>
        </p:txBody>
      </p:sp>
      <p:sp>
        <p:nvSpPr>
          <p:cNvPr id="75" name="Shape 73"/>
          <p:cNvSpPr/>
          <p:nvPr/>
        </p:nvSpPr>
        <p:spPr>
          <a:xfrm>
            <a:off x="7936992" y="3017520"/>
            <a:ext cx="530352" cy="292608"/>
          </a:xfrm>
          <a:prstGeom prst="rect">
            <a:avLst/>
          </a:prstGeom>
          <a:solidFill>
            <a:srgbClr val="D0EEF4"/>
          </a:solidFill>
          <a:ln w="6350">
            <a:solidFill>
              <a:srgbClr val="C0DEE8"/>
            </a:solidFill>
            <a:prstDash val="solid"/>
          </a:ln>
        </p:spPr>
      </p:sp>
      <p:sp>
        <p:nvSpPr>
          <p:cNvPr id="76" name="Text 74"/>
          <p:cNvSpPr/>
          <p:nvPr/>
        </p:nvSpPr>
        <p:spPr>
          <a:xfrm>
            <a:off x="7936992" y="3017520"/>
            <a:ext cx="53035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77" name="Shape 75"/>
          <p:cNvSpPr/>
          <p:nvPr/>
        </p:nvSpPr>
        <p:spPr>
          <a:xfrm>
            <a:off x="8467344" y="3017520"/>
            <a:ext cx="457200" cy="292608"/>
          </a:xfrm>
          <a:prstGeom prst="rect">
            <a:avLst/>
          </a:prstGeom>
          <a:solidFill>
            <a:srgbClr val="D0EEF4"/>
          </a:solidFill>
          <a:ln w="6350">
            <a:solidFill>
              <a:srgbClr val="C0DEE8"/>
            </a:solidFill>
            <a:prstDash val="solid"/>
          </a:ln>
        </p:spPr>
      </p:sp>
      <p:sp>
        <p:nvSpPr>
          <p:cNvPr id="78" name="Text 76"/>
          <p:cNvSpPr/>
          <p:nvPr/>
        </p:nvSpPr>
        <p:spPr>
          <a:xfrm>
            <a:off x="8467344" y="3017520"/>
            <a:ext cx="45720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.107</a:t>
            </a:r>
            <a:endParaRPr lang="en-US" sz="850" dirty="0"/>
          </a:p>
        </p:txBody>
      </p:sp>
      <p:sp>
        <p:nvSpPr>
          <p:cNvPr id="79" name="Text 77"/>
          <p:cNvSpPr/>
          <p:nvPr/>
        </p:nvSpPr>
        <p:spPr>
          <a:xfrm>
            <a:off x="4773168" y="3218688"/>
            <a:ext cx="3931920" cy="40233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F(2.35, 466) = 24.3, p &lt; .001, η² = .107 (medium-large). Significant change across quarters.</a:t>
            </a:r>
            <a:endParaRPr lang="en-US" sz="900" dirty="0"/>
          </a:p>
        </p:txBody>
      </p:sp>
      <p:sp>
        <p:nvSpPr>
          <p:cNvPr id="80" name="Text 78"/>
          <p:cNvSpPr/>
          <p:nvPr/>
        </p:nvSpPr>
        <p:spPr>
          <a:xfrm>
            <a:off x="4773168" y="3675888"/>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Step 3 - Descriptives across time:</a:t>
            </a:r>
            <a:endParaRPr lang="en-US" sz="950" dirty="0"/>
          </a:p>
        </p:txBody>
      </p:sp>
      <p:sp>
        <p:nvSpPr>
          <p:cNvPr id="81" name="Shape 79"/>
          <p:cNvSpPr/>
          <p:nvPr/>
        </p:nvSpPr>
        <p:spPr>
          <a:xfrm>
            <a:off x="4773168" y="3913632"/>
            <a:ext cx="1444752" cy="292608"/>
          </a:xfrm>
          <a:prstGeom prst="rect">
            <a:avLst/>
          </a:prstGeom>
          <a:solidFill>
            <a:srgbClr val="061A24"/>
          </a:solidFill>
          <a:ln w="12700">
            <a:solidFill>
              <a:srgbClr val="061A24"/>
            </a:solidFill>
            <a:prstDash val="solid"/>
          </a:ln>
        </p:spPr>
      </p:sp>
      <p:sp>
        <p:nvSpPr>
          <p:cNvPr id="82" name="Text 80"/>
          <p:cNvSpPr/>
          <p:nvPr/>
        </p:nvSpPr>
        <p:spPr>
          <a:xfrm>
            <a:off x="4773168" y="3913632"/>
            <a:ext cx="14447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Quarter</a:t>
            </a:r>
            <a:endParaRPr lang="en-US" sz="850" dirty="0"/>
          </a:p>
        </p:txBody>
      </p:sp>
      <p:sp>
        <p:nvSpPr>
          <p:cNvPr id="83" name="Shape 81"/>
          <p:cNvSpPr/>
          <p:nvPr/>
        </p:nvSpPr>
        <p:spPr>
          <a:xfrm>
            <a:off x="6217920" y="3913632"/>
            <a:ext cx="914400" cy="292608"/>
          </a:xfrm>
          <a:prstGeom prst="rect">
            <a:avLst/>
          </a:prstGeom>
          <a:solidFill>
            <a:srgbClr val="061A24"/>
          </a:solidFill>
          <a:ln w="12700">
            <a:solidFill>
              <a:srgbClr val="061A24"/>
            </a:solidFill>
            <a:prstDash val="solid"/>
          </a:ln>
        </p:spPr>
      </p:sp>
      <p:sp>
        <p:nvSpPr>
          <p:cNvPr id="84" name="Text 82"/>
          <p:cNvSpPr/>
          <p:nvPr/>
        </p:nvSpPr>
        <p:spPr>
          <a:xfrm>
            <a:off x="6217920" y="3913632"/>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a:t>
            </a:r>
            <a:endParaRPr lang="en-US" sz="850" dirty="0"/>
          </a:p>
        </p:txBody>
      </p:sp>
      <p:sp>
        <p:nvSpPr>
          <p:cNvPr id="85" name="Shape 83"/>
          <p:cNvSpPr/>
          <p:nvPr/>
        </p:nvSpPr>
        <p:spPr>
          <a:xfrm>
            <a:off x="7132320" y="3913632"/>
            <a:ext cx="768096" cy="292608"/>
          </a:xfrm>
          <a:prstGeom prst="rect">
            <a:avLst/>
          </a:prstGeom>
          <a:solidFill>
            <a:srgbClr val="061A24"/>
          </a:solidFill>
          <a:ln w="12700">
            <a:solidFill>
              <a:srgbClr val="061A24"/>
            </a:solidFill>
            <a:prstDash val="solid"/>
          </a:ln>
        </p:spPr>
      </p:sp>
      <p:sp>
        <p:nvSpPr>
          <p:cNvPr id="86" name="Text 84"/>
          <p:cNvSpPr/>
          <p:nvPr/>
        </p:nvSpPr>
        <p:spPr>
          <a:xfrm>
            <a:off x="7132320" y="3913632"/>
            <a:ext cx="7680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SD</a:t>
            </a:r>
            <a:endParaRPr lang="en-US" sz="850" dirty="0"/>
          </a:p>
        </p:txBody>
      </p:sp>
      <p:sp>
        <p:nvSpPr>
          <p:cNvPr id="87" name="Shape 85"/>
          <p:cNvSpPr/>
          <p:nvPr/>
        </p:nvSpPr>
        <p:spPr>
          <a:xfrm>
            <a:off x="4773168" y="4206240"/>
            <a:ext cx="1444752" cy="292608"/>
          </a:xfrm>
          <a:prstGeom prst="rect">
            <a:avLst/>
          </a:prstGeom>
          <a:solidFill>
            <a:srgbClr val="EAF6FA"/>
          </a:solidFill>
          <a:ln w="6350">
            <a:solidFill>
              <a:srgbClr val="C0DEE8"/>
            </a:solidFill>
            <a:prstDash val="solid"/>
          </a:ln>
        </p:spPr>
      </p:sp>
      <p:sp>
        <p:nvSpPr>
          <p:cNvPr id="88" name="Text 86"/>
          <p:cNvSpPr/>
          <p:nvPr/>
        </p:nvSpPr>
        <p:spPr>
          <a:xfrm>
            <a:off x="4773168" y="4206240"/>
            <a:ext cx="144475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Q1 2025</a:t>
            </a:r>
            <a:endParaRPr lang="en-US" sz="850" dirty="0"/>
          </a:p>
        </p:txBody>
      </p:sp>
      <p:sp>
        <p:nvSpPr>
          <p:cNvPr id="89" name="Shape 87"/>
          <p:cNvSpPr/>
          <p:nvPr/>
        </p:nvSpPr>
        <p:spPr>
          <a:xfrm>
            <a:off x="6217920" y="4206240"/>
            <a:ext cx="914400" cy="292608"/>
          </a:xfrm>
          <a:prstGeom prst="rect">
            <a:avLst/>
          </a:prstGeom>
          <a:solidFill>
            <a:srgbClr val="EAF6FA"/>
          </a:solidFill>
          <a:ln w="6350">
            <a:solidFill>
              <a:srgbClr val="C0DEE8"/>
            </a:solidFill>
            <a:prstDash val="solid"/>
          </a:ln>
        </p:spPr>
      </p:sp>
      <p:sp>
        <p:nvSpPr>
          <p:cNvPr id="90" name="Text 88"/>
          <p:cNvSpPr/>
          <p:nvPr/>
        </p:nvSpPr>
        <p:spPr>
          <a:xfrm>
            <a:off x="6217920" y="4206240"/>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3.42</a:t>
            </a:r>
            <a:endParaRPr lang="en-US" sz="850" dirty="0"/>
          </a:p>
        </p:txBody>
      </p:sp>
      <p:sp>
        <p:nvSpPr>
          <p:cNvPr id="91" name="Shape 89"/>
          <p:cNvSpPr/>
          <p:nvPr/>
        </p:nvSpPr>
        <p:spPr>
          <a:xfrm>
            <a:off x="7132320" y="4206240"/>
            <a:ext cx="768096" cy="292608"/>
          </a:xfrm>
          <a:prstGeom prst="rect">
            <a:avLst/>
          </a:prstGeom>
          <a:solidFill>
            <a:srgbClr val="EAF6FA"/>
          </a:solidFill>
          <a:ln w="6350">
            <a:solidFill>
              <a:srgbClr val="C0DEE8"/>
            </a:solidFill>
            <a:prstDash val="solid"/>
          </a:ln>
        </p:spPr>
      </p:sp>
      <p:sp>
        <p:nvSpPr>
          <p:cNvPr id="92" name="Text 90"/>
          <p:cNvSpPr/>
          <p:nvPr/>
        </p:nvSpPr>
        <p:spPr>
          <a:xfrm>
            <a:off x="7132320" y="4206240"/>
            <a:ext cx="76809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0.81</a:t>
            </a:r>
            <a:endParaRPr lang="en-US" sz="850" dirty="0"/>
          </a:p>
        </p:txBody>
      </p:sp>
      <p:sp>
        <p:nvSpPr>
          <p:cNvPr id="93" name="Shape 91"/>
          <p:cNvSpPr/>
          <p:nvPr/>
        </p:nvSpPr>
        <p:spPr>
          <a:xfrm>
            <a:off x="4773168" y="4498848"/>
            <a:ext cx="1444752" cy="292608"/>
          </a:xfrm>
          <a:prstGeom prst="rect">
            <a:avLst/>
          </a:prstGeom>
          <a:solidFill>
            <a:srgbClr val="FFFFFF"/>
          </a:solidFill>
          <a:ln w="6350">
            <a:solidFill>
              <a:srgbClr val="C0DEE8"/>
            </a:solidFill>
            <a:prstDash val="solid"/>
          </a:ln>
        </p:spPr>
      </p:sp>
      <p:sp>
        <p:nvSpPr>
          <p:cNvPr id="94" name="Text 92"/>
          <p:cNvSpPr/>
          <p:nvPr/>
        </p:nvSpPr>
        <p:spPr>
          <a:xfrm>
            <a:off x="4773168" y="4498848"/>
            <a:ext cx="144475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Q2 2025</a:t>
            </a:r>
            <a:endParaRPr lang="en-US" sz="850" dirty="0"/>
          </a:p>
        </p:txBody>
      </p:sp>
      <p:sp>
        <p:nvSpPr>
          <p:cNvPr id="95" name="Shape 93"/>
          <p:cNvSpPr/>
          <p:nvPr/>
        </p:nvSpPr>
        <p:spPr>
          <a:xfrm>
            <a:off x="6217920" y="4498848"/>
            <a:ext cx="914400" cy="292608"/>
          </a:xfrm>
          <a:prstGeom prst="rect">
            <a:avLst/>
          </a:prstGeom>
          <a:solidFill>
            <a:srgbClr val="FFFFFF"/>
          </a:solidFill>
          <a:ln w="6350">
            <a:solidFill>
              <a:srgbClr val="C0DEE8"/>
            </a:solidFill>
            <a:prstDash val="solid"/>
          </a:ln>
        </p:spPr>
      </p:sp>
      <p:sp>
        <p:nvSpPr>
          <p:cNvPr id="96" name="Text 94"/>
          <p:cNvSpPr/>
          <p:nvPr/>
        </p:nvSpPr>
        <p:spPr>
          <a:xfrm>
            <a:off x="6217920" y="4498848"/>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3.58</a:t>
            </a:r>
            <a:endParaRPr lang="en-US" sz="850" dirty="0"/>
          </a:p>
        </p:txBody>
      </p:sp>
      <p:sp>
        <p:nvSpPr>
          <p:cNvPr id="97" name="Shape 95"/>
          <p:cNvSpPr/>
          <p:nvPr/>
        </p:nvSpPr>
        <p:spPr>
          <a:xfrm>
            <a:off x="7132320" y="4498848"/>
            <a:ext cx="768096" cy="292608"/>
          </a:xfrm>
          <a:prstGeom prst="rect">
            <a:avLst/>
          </a:prstGeom>
          <a:solidFill>
            <a:srgbClr val="FFFFFF"/>
          </a:solidFill>
          <a:ln w="6350">
            <a:solidFill>
              <a:srgbClr val="C0DEE8"/>
            </a:solidFill>
            <a:prstDash val="solid"/>
          </a:ln>
        </p:spPr>
      </p:sp>
      <p:sp>
        <p:nvSpPr>
          <p:cNvPr id="98" name="Text 96"/>
          <p:cNvSpPr/>
          <p:nvPr/>
        </p:nvSpPr>
        <p:spPr>
          <a:xfrm>
            <a:off x="7132320" y="4498848"/>
            <a:ext cx="76809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0.78</a:t>
            </a:r>
            <a:endParaRPr lang="en-US" sz="850" dirty="0"/>
          </a:p>
        </p:txBody>
      </p:sp>
      <p:sp>
        <p:nvSpPr>
          <p:cNvPr id="99" name="Shape 97"/>
          <p:cNvSpPr/>
          <p:nvPr/>
        </p:nvSpPr>
        <p:spPr>
          <a:xfrm>
            <a:off x="4773168" y="4791456"/>
            <a:ext cx="1444752" cy="292608"/>
          </a:xfrm>
          <a:prstGeom prst="rect">
            <a:avLst/>
          </a:prstGeom>
          <a:solidFill>
            <a:srgbClr val="EAF6FA"/>
          </a:solidFill>
          <a:ln w="6350">
            <a:solidFill>
              <a:srgbClr val="C0DEE8"/>
            </a:solidFill>
            <a:prstDash val="solid"/>
          </a:ln>
        </p:spPr>
      </p:sp>
      <p:sp>
        <p:nvSpPr>
          <p:cNvPr id="100" name="Text 98"/>
          <p:cNvSpPr/>
          <p:nvPr/>
        </p:nvSpPr>
        <p:spPr>
          <a:xfrm>
            <a:off x="4773168" y="4791456"/>
            <a:ext cx="144475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Q3 2025</a:t>
            </a:r>
            <a:endParaRPr lang="en-US" sz="850" dirty="0"/>
          </a:p>
        </p:txBody>
      </p:sp>
      <p:sp>
        <p:nvSpPr>
          <p:cNvPr id="101" name="Shape 99"/>
          <p:cNvSpPr/>
          <p:nvPr/>
        </p:nvSpPr>
        <p:spPr>
          <a:xfrm>
            <a:off x="6217920" y="4791456"/>
            <a:ext cx="914400" cy="292608"/>
          </a:xfrm>
          <a:prstGeom prst="rect">
            <a:avLst/>
          </a:prstGeom>
          <a:solidFill>
            <a:srgbClr val="EAF6FA"/>
          </a:solidFill>
          <a:ln w="6350">
            <a:solidFill>
              <a:srgbClr val="C0DEE8"/>
            </a:solidFill>
            <a:prstDash val="solid"/>
          </a:ln>
        </p:spPr>
      </p:sp>
      <p:sp>
        <p:nvSpPr>
          <p:cNvPr id="102" name="Text 100"/>
          <p:cNvSpPr/>
          <p:nvPr/>
        </p:nvSpPr>
        <p:spPr>
          <a:xfrm>
            <a:off x="6217920" y="4791456"/>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3.74</a:t>
            </a:r>
            <a:endParaRPr lang="en-US" sz="850" dirty="0"/>
          </a:p>
        </p:txBody>
      </p:sp>
      <p:sp>
        <p:nvSpPr>
          <p:cNvPr id="103" name="Shape 101"/>
          <p:cNvSpPr/>
          <p:nvPr/>
        </p:nvSpPr>
        <p:spPr>
          <a:xfrm>
            <a:off x="7132320" y="4791456"/>
            <a:ext cx="768096" cy="292608"/>
          </a:xfrm>
          <a:prstGeom prst="rect">
            <a:avLst/>
          </a:prstGeom>
          <a:solidFill>
            <a:srgbClr val="EAF6FA"/>
          </a:solidFill>
          <a:ln w="6350">
            <a:solidFill>
              <a:srgbClr val="C0DEE8"/>
            </a:solidFill>
            <a:prstDash val="solid"/>
          </a:ln>
        </p:spPr>
      </p:sp>
      <p:sp>
        <p:nvSpPr>
          <p:cNvPr id="104" name="Text 102"/>
          <p:cNvSpPr/>
          <p:nvPr/>
        </p:nvSpPr>
        <p:spPr>
          <a:xfrm>
            <a:off x="7132320" y="4791456"/>
            <a:ext cx="76809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0.80</a:t>
            </a:r>
            <a:endParaRPr lang="en-US" sz="850" dirty="0"/>
          </a:p>
        </p:txBody>
      </p:sp>
      <p:sp>
        <p:nvSpPr>
          <p:cNvPr id="105" name="Shape 103"/>
          <p:cNvSpPr/>
          <p:nvPr/>
        </p:nvSpPr>
        <p:spPr>
          <a:xfrm>
            <a:off x="4773168" y="5084064"/>
            <a:ext cx="1444752" cy="292608"/>
          </a:xfrm>
          <a:prstGeom prst="rect">
            <a:avLst/>
          </a:prstGeom>
          <a:solidFill>
            <a:srgbClr val="D0EEF4"/>
          </a:solidFill>
          <a:ln w="6350">
            <a:solidFill>
              <a:srgbClr val="C0DEE8"/>
            </a:solidFill>
            <a:prstDash val="solid"/>
          </a:ln>
        </p:spPr>
      </p:sp>
      <p:sp>
        <p:nvSpPr>
          <p:cNvPr id="106" name="Text 104"/>
          <p:cNvSpPr/>
          <p:nvPr/>
        </p:nvSpPr>
        <p:spPr>
          <a:xfrm>
            <a:off x="4773168" y="5084064"/>
            <a:ext cx="144475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Q4 2025</a:t>
            </a:r>
            <a:endParaRPr lang="en-US" sz="850" dirty="0"/>
          </a:p>
        </p:txBody>
      </p:sp>
      <p:sp>
        <p:nvSpPr>
          <p:cNvPr id="107" name="Shape 105"/>
          <p:cNvSpPr/>
          <p:nvPr/>
        </p:nvSpPr>
        <p:spPr>
          <a:xfrm>
            <a:off x="6217920" y="5084064"/>
            <a:ext cx="914400" cy="292608"/>
          </a:xfrm>
          <a:prstGeom prst="rect">
            <a:avLst/>
          </a:prstGeom>
          <a:solidFill>
            <a:srgbClr val="D0EEF4"/>
          </a:solidFill>
          <a:ln w="6350">
            <a:solidFill>
              <a:srgbClr val="C0DEE8"/>
            </a:solidFill>
            <a:prstDash val="solid"/>
          </a:ln>
        </p:spPr>
      </p:sp>
      <p:sp>
        <p:nvSpPr>
          <p:cNvPr id="108" name="Text 106"/>
          <p:cNvSpPr/>
          <p:nvPr/>
        </p:nvSpPr>
        <p:spPr>
          <a:xfrm>
            <a:off x="6217920" y="5084064"/>
            <a:ext cx="91440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3.88</a:t>
            </a:r>
            <a:endParaRPr lang="en-US" sz="850" dirty="0"/>
          </a:p>
        </p:txBody>
      </p:sp>
      <p:sp>
        <p:nvSpPr>
          <p:cNvPr id="109" name="Shape 107"/>
          <p:cNvSpPr/>
          <p:nvPr/>
        </p:nvSpPr>
        <p:spPr>
          <a:xfrm>
            <a:off x="7132320" y="5084064"/>
            <a:ext cx="768096" cy="292608"/>
          </a:xfrm>
          <a:prstGeom prst="rect">
            <a:avLst/>
          </a:prstGeom>
          <a:solidFill>
            <a:srgbClr val="D0EEF4"/>
          </a:solidFill>
          <a:ln w="6350">
            <a:solidFill>
              <a:srgbClr val="C0DEE8"/>
            </a:solidFill>
            <a:prstDash val="solid"/>
          </a:ln>
        </p:spPr>
      </p:sp>
      <p:sp>
        <p:nvSpPr>
          <p:cNvPr id="110" name="Text 108"/>
          <p:cNvSpPr/>
          <p:nvPr/>
        </p:nvSpPr>
        <p:spPr>
          <a:xfrm>
            <a:off x="7132320" y="5084064"/>
            <a:ext cx="76809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0.76</a:t>
            </a:r>
            <a:endParaRPr lang="en-US" sz="850" dirty="0"/>
          </a:p>
        </p:txBody>
      </p:sp>
      <p:sp>
        <p:nvSpPr>
          <p:cNvPr id="111" name="Text 109"/>
          <p:cNvSpPr/>
          <p:nvPr/>
        </p:nvSpPr>
        <p:spPr>
          <a:xfrm>
            <a:off x="4773168" y="4608576"/>
            <a:ext cx="3931920" cy="347472"/>
          </a:xfrm>
          <a:prstGeom prst="rect">
            <a:avLst/>
          </a:prstGeom>
          <a:noFill/>
          <a:ln/>
        </p:spPr>
        <p:txBody>
          <a:bodyPr wrap="square" lIns="0" tIns="0" rIns="0" bIns="0" rtlCol="0" anchor="ctr"/>
          <a:lstStyle/>
          <a:p>
            <a:pPr indent="0" marL="0">
              <a:buNone/>
            </a:pPr>
            <a:r>
              <a:rPr lang="en-US" sz="850" i="1" dirty="0">
                <a:solidFill>
                  <a:srgbClr val="1A2E38"/>
                </a:solidFill>
                <a:latin typeface="Calibri" pitchFamily="34" charset="0"/>
                <a:ea typeface="Calibri" pitchFamily="34" charset="-122"/>
                <a:cs typeface="Calibri" pitchFamily="34" charset="-120"/>
              </a:rPr>
              <a:t>Profile: Consistent upward trend. Follow up with pairwise comparisons or polynomial contrasts.</a:t>
            </a:r>
            <a:endParaRPr lang="en-US" sz="850" dirty="0"/>
          </a:p>
        </p:txBody>
      </p:sp>
      <p:sp>
        <p:nvSpPr>
          <p:cNvPr id="112" name="Shape 110"/>
          <p:cNvSpPr/>
          <p:nvPr/>
        </p:nvSpPr>
        <p:spPr>
          <a:xfrm>
            <a:off x="256032" y="5120640"/>
            <a:ext cx="8631936" cy="365760"/>
          </a:xfrm>
          <a:prstGeom prst="roundRect">
            <a:avLst>
              <a:gd name="adj" fmla="val 15000"/>
            </a:avLst>
          </a:prstGeom>
          <a:solidFill>
            <a:srgbClr val="FFFBEC"/>
          </a:solidFill>
          <a:ln w="19050">
            <a:solidFill>
              <a:srgbClr val="D4A017"/>
            </a:solidFill>
            <a:prstDash val="solid"/>
          </a:ln>
        </p:spPr>
      </p:sp>
      <p:sp>
        <p:nvSpPr>
          <p:cNvPr id="113" name="Text 111"/>
          <p:cNvSpPr/>
          <p:nvPr/>
        </p:nvSpPr>
        <p:spPr>
          <a:xfrm>
            <a:off x="384048" y="5120640"/>
            <a:ext cx="8449056" cy="365760"/>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Sphericity rule: If Mauchly's p &lt; .05, use the Greenhouse-Geisser corrected F and df. Epsilon &lt; .75 → Greenhouse-Geisser. Epsilon ≥ .75 → Huynh-Feldt correction.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Factorial ANOVA - GLM Univariate</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Two-way ANOVA with interaction effects - testing whether one factor's effect depends on another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E6B78"/>
          </a:solidFill>
          <a:ln w="12700">
            <a:solidFill>
              <a:srgbClr val="0E6B7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Factorial ANOVA - Two-Way ANOVA with Main Effects and Interaction</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0E6B78"/>
          </a:solidFill>
          <a:ln w="12700">
            <a:solidFill>
              <a:srgbClr val="0E6B78"/>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Main Effects vs. Interaction Effects</a:t>
            </a:r>
            <a:endParaRPr lang="en-US" sz="1100" dirty="0"/>
          </a:p>
        </p:txBody>
      </p:sp>
      <p:sp>
        <p:nvSpPr>
          <p:cNvPr id="7" name="Text 5"/>
          <p:cNvSpPr/>
          <p:nvPr/>
        </p:nvSpPr>
        <p:spPr>
          <a:xfrm>
            <a:off x="365760" y="1481328"/>
            <a:ext cx="3950208" cy="56692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Factorial ANOVA tests two categorical IVs against one scale DV simultaneously. Beyond main effects (effect of each IV alone), it tests whether the effect of one IV depends on the level of the other (interaction).</a:t>
            </a:r>
            <a:endParaRPr lang="en-US" sz="950" dirty="0"/>
          </a:p>
        </p:txBody>
      </p:sp>
      <p:sp>
        <p:nvSpPr>
          <p:cNvPr id="8" name="Text 6"/>
          <p:cNvSpPr/>
          <p:nvPr/>
        </p:nvSpPr>
        <p:spPr>
          <a:xfrm>
            <a:off x="365760" y="2121408"/>
            <a:ext cx="3950208" cy="6583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UAC Example: </a:t>
            </a:r>
            <a:pPr indent="0" marL="0">
              <a:buNone/>
            </a:pPr>
            <a:r>
              <a:rPr lang="en-US" sz="950" dirty="0">
                <a:solidFill>
                  <a:srgbClr val="1A2E38"/>
                </a:solidFill>
                <a:latin typeface="Calibri" pitchFamily="34" charset="0"/>
                <a:ea typeface="Calibri" pitchFamily="34" charset="-122"/>
                <a:cs typeface="Calibri" pitchFamily="34" charset="-120"/>
              </a:rPr>
              <a:t>Does sat_mean differ by gender (IV1) AND by uac_product_pref (IV2)? Is the gender gap in satisfaction the same for all products, or does it vary? (The interaction question)</a:t>
            </a:r>
            <a:endParaRPr lang="en-US" sz="950" dirty="0"/>
          </a:p>
        </p:txBody>
      </p:sp>
      <p:sp>
        <p:nvSpPr>
          <p:cNvPr id="9" name="Text 7"/>
          <p:cNvSpPr/>
          <p:nvPr/>
        </p:nvSpPr>
        <p:spPr>
          <a:xfrm>
            <a:off x="365760" y="2852928"/>
            <a:ext cx="3950208" cy="219456"/>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Steps:</a:t>
            </a:r>
            <a:endParaRPr lang="en-US" sz="1000" dirty="0"/>
          </a:p>
        </p:txBody>
      </p:sp>
      <p:sp>
        <p:nvSpPr>
          <p:cNvPr id="10" name="Shape 8"/>
          <p:cNvSpPr/>
          <p:nvPr/>
        </p:nvSpPr>
        <p:spPr>
          <a:xfrm>
            <a:off x="365760" y="3127248"/>
            <a:ext cx="237744" cy="237744"/>
          </a:xfrm>
          <a:prstGeom prst="ellipse">
            <a:avLst/>
          </a:prstGeom>
          <a:solidFill>
            <a:srgbClr val="0E6B78"/>
          </a:solidFill>
          <a:ln w="12700">
            <a:solidFill>
              <a:srgbClr val="0E6B78"/>
            </a:solidFill>
            <a:prstDash val="solid"/>
          </a:ln>
        </p:spPr>
      </p:sp>
      <p:sp>
        <p:nvSpPr>
          <p:cNvPr id="11" name="Text 9"/>
          <p:cNvSpPr/>
          <p:nvPr/>
        </p:nvSpPr>
        <p:spPr>
          <a:xfrm>
            <a:off x="365760" y="3127248"/>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2" name="Text 10"/>
          <p:cNvSpPr/>
          <p:nvPr/>
        </p:nvSpPr>
        <p:spPr>
          <a:xfrm>
            <a:off x="676656" y="3145536"/>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Analyze &gt; General Linear Model &gt; Univariate</a:t>
            </a:r>
            <a:endParaRPr lang="en-US" sz="850" dirty="0"/>
          </a:p>
        </p:txBody>
      </p:sp>
      <p:sp>
        <p:nvSpPr>
          <p:cNvPr id="13" name="Shape 11"/>
          <p:cNvSpPr/>
          <p:nvPr/>
        </p:nvSpPr>
        <p:spPr>
          <a:xfrm>
            <a:off x="365760" y="3456432"/>
            <a:ext cx="237744" cy="237744"/>
          </a:xfrm>
          <a:prstGeom prst="ellipse">
            <a:avLst/>
          </a:prstGeom>
          <a:solidFill>
            <a:srgbClr val="0E6B78"/>
          </a:solidFill>
          <a:ln w="12700">
            <a:solidFill>
              <a:srgbClr val="0E6B78"/>
            </a:solidFill>
            <a:prstDash val="solid"/>
          </a:ln>
        </p:spPr>
      </p:sp>
      <p:sp>
        <p:nvSpPr>
          <p:cNvPr id="14" name="Text 12"/>
          <p:cNvSpPr/>
          <p:nvPr/>
        </p:nvSpPr>
        <p:spPr>
          <a:xfrm>
            <a:off x="365760" y="3456432"/>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5" name="Text 13"/>
          <p:cNvSpPr/>
          <p:nvPr/>
        </p:nvSpPr>
        <p:spPr>
          <a:xfrm>
            <a:off x="676656" y="3474720"/>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Move sat_mean to Dependent Variable</a:t>
            </a:r>
            <a:endParaRPr lang="en-US" sz="850" dirty="0"/>
          </a:p>
        </p:txBody>
      </p:sp>
      <p:sp>
        <p:nvSpPr>
          <p:cNvPr id="16" name="Shape 14"/>
          <p:cNvSpPr/>
          <p:nvPr/>
        </p:nvSpPr>
        <p:spPr>
          <a:xfrm>
            <a:off x="365760" y="3785616"/>
            <a:ext cx="237744" cy="237744"/>
          </a:xfrm>
          <a:prstGeom prst="ellipse">
            <a:avLst/>
          </a:prstGeom>
          <a:solidFill>
            <a:srgbClr val="0E6B78"/>
          </a:solidFill>
          <a:ln w="12700">
            <a:solidFill>
              <a:srgbClr val="0E6B78"/>
            </a:solidFill>
            <a:prstDash val="solid"/>
          </a:ln>
        </p:spPr>
      </p:sp>
      <p:sp>
        <p:nvSpPr>
          <p:cNvPr id="17" name="Text 15"/>
          <p:cNvSpPr/>
          <p:nvPr/>
        </p:nvSpPr>
        <p:spPr>
          <a:xfrm>
            <a:off x="365760" y="3785616"/>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18" name="Text 16"/>
          <p:cNvSpPr/>
          <p:nvPr/>
        </p:nvSpPr>
        <p:spPr>
          <a:xfrm>
            <a:off x="676656" y="3803904"/>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Move gender AND uac_product_pref to Fixed Factors</a:t>
            </a:r>
            <a:endParaRPr lang="en-US" sz="850" dirty="0"/>
          </a:p>
        </p:txBody>
      </p:sp>
      <p:sp>
        <p:nvSpPr>
          <p:cNvPr id="19" name="Shape 17"/>
          <p:cNvSpPr/>
          <p:nvPr/>
        </p:nvSpPr>
        <p:spPr>
          <a:xfrm>
            <a:off x="365760" y="4114800"/>
            <a:ext cx="237744" cy="237744"/>
          </a:xfrm>
          <a:prstGeom prst="ellipse">
            <a:avLst/>
          </a:prstGeom>
          <a:solidFill>
            <a:srgbClr val="0E6B78"/>
          </a:solidFill>
          <a:ln w="12700">
            <a:solidFill>
              <a:srgbClr val="0E6B78"/>
            </a:solidFill>
            <a:prstDash val="solid"/>
          </a:ln>
        </p:spPr>
      </p:sp>
      <p:sp>
        <p:nvSpPr>
          <p:cNvPr id="20" name="Text 18"/>
          <p:cNvSpPr/>
          <p:nvPr/>
        </p:nvSpPr>
        <p:spPr>
          <a:xfrm>
            <a:off x="365760" y="4114800"/>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1" name="Text 19"/>
          <p:cNvSpPr/>
          <p:nvPr/>
        </p:nvSpPr>
        <p:spPr>
          <a:xfrm>
            <a:off x="676656" y="4133088"/>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Click Plots: Factor1 on Horizontal Axis, Factor2 as Separate Lines &gt; Add</a:t>
            </a:r>
            <a:endParaRPr lang="en-US" sz="850" dirty="0"/>
          </a:p>
        </p:txBody>
      </p:sp>
      <p:sp>
        <p:nvSpPr>
          <p:cNvPr id="22" name="Shape 20"/>
          <p:cNvSpPr/>
          <p:nvPr/>
        </p:nvSpPr>
        <p:spPr>
          <a:xfrm>
            <a:off x="365760" y="4443984"/>
            <a:ext cx="237744" cy="237744"/>
          </a:xfrm>
          <a:prstGeom prst="ellipse">
            <a:avLst/>
          </a:prstGeom>
          <a:solidFill>
            <a:srgbClr val="0E6B78"/>
          </a:solidFill>
          <a:ln w="12700">
            <a:solidFill>
              <a:srgbClr val="0E6B78"/>
            </a:solidFill>
            <a:prstDash val="solid"/>
          </a:ln>
        </p:spPr>
      </p:sp>
      <p:sp>
        <p:nvSpPr>
          <p:cNvPr id="23" name="Text 21"/>
          <p:cNvSpPr/>
          <p:nvPr/>
        </p:nvSpPr>
        <p:spPr>
          <a:xfrm>
            <a:off x="365760" y="4443984"/>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24" name="Text 22"/>
          <p:cNvSpPr/>
          <p:nvPr/>
        </p:nvSpPr>
        <p:spPr>
          <a:xfrm>
            <a:off x="676656" y="4462272"/>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Click Options: Descriptives, Effect size, Homogeneity tests</a:t>
            </a:r>
            <a:endParaRPr lang="en-US" sz="850" dirty="0"/>
          </a:p>
        </p:txBody>
      </p:sp>
      <p:sp>
        <p:nvSpPr>
          <p:cNvPr id="25" name="Shape 23"/>
          <p:cNvSpPr/>
          <p:nvPr/>
        </p:nvSpPr>
        <p:spPr>
          <a:xfrm>
            <a:off x="365760" y="4773168"/>
            <a:ext cx="237744" cy="237744"/>
          </a:xfrm>
          <a:prstGeom prst="ellipse">
            <a:avLst/>
          </a:prstGeom>
          <a:solidFill>
            <a:srgbClr val="0E6B78"/>
          </a:solidFill>
          <a:ln w="12700">
            <a:solidFill>
              <a:srgbClr val="0E6B78"/>
            </a:solidFill>
            <a:prstDash val="solid"/>
          </a:ln>
        </p:spPr>
      </p:sp>
      <p:sp>
        <p:nvSpPr>
          <p:cNvPr id="26" name="Text 24"/>
          <p:cNvSpPr/>
          <p:nvPr/>
        </p:nvSpPr>
        <p:spPr>
          <a:xfrm>
            <a:off x="365760" y="4773168"/>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27" name="Text 25"/>
          <p:cNvSpPr/>
          <p:nvPr/>
        </p:nvSpPr>
        <p:spPr>
          <a:xfrm>
            <a:off x="676656" y="4791456"/>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Click Post Hoc for main effects with 3+ levels</a:t>
            </a:r>
            <a:endParaRPr lang="en-US" sz="850" dirty="0"/>
          </a:p>
        </p:txBody>
      </p:sp>
      <p:sp>
        <p:nvSpPr>
          <p:cNvPr id="28" name="Shape 26"/>
          <p:cNvSpPr/>
          <p:nvPr/>
        </p:nvSpPr>
        <p:spPr>
          <a:xfrm>
            <a:off x="365760" y="5102352"/>
            <a:ext cx="237744" cy="237744"/>
          </a:xfrm>
          <a:prstGeom prst="ellipse">
            <a:avLst/>
          </a:prstGeom>
          <a:solidFill>
            <a:srgbClr val="0E6B78"/>
          </a:solidFill>
          <a:ln w="12700">
            <a:solidFill>
              <a:srgbClr val="0E6B78"/>
            </a:solidFill>
            <a:prstDash val="solid"/>
          </a:ln>
        </p:spPr>
      </p:sp>
      <p:sp>
        <p:nvSpPr>
          <p:cNvPr id="29" name="Text 27"/>
          <p:cNvSpPr/>
          <p:nvPr/>
        </p:nvSpPr>
        <p:spPr>
          <a:xfrm>
            <a:off x="365760" y="5102352"/>
            <a:ext cx="237744"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p>
        </p:txBody>
      </p:sp>
      <p:sp>
        <p:nvSpPr>
          <p:cNvPr id="30" name="Text 28"/>
          <p:cNvSpPr/>
          <p:nvPr/>
        </p:nvSpPr>
        <p:spPr>
          <a:xfrm>
            <a:off x="676656" y="5120640"/>
            <a:ext cx="3730752" cy="274320"/>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Click OK</a:t>
            </a:r>
            <a:endParaRPr lang="en-US" sz="850" dirty="0"/>
          </a:p>
        </p:txBody>
      </p:sp>
      <p:sp>
        <p:nvSpPr>
          <p:cNvPr id="31" name="Shape 29"/>
          <p:cNvSpPr/>
          <p:nvPr/>
        </p:nvSpPr>
        <p:spPr>
          <a:xfrm>
            <a:off x="4681728"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4754880" y="1078992"/>
            <a:ext cx="4005072" cy="329184"/>
          </a:xfrm>
          <a:prstGeom prst="roundRect">
            <a:avLst>
              <a:gd name="adj" fmla="val 16667"/>
            </a:avLst>
          </a:prstGeom>
          <a:solidFill>
            <a:srgbClr val="061A24"/>
          </a:solidFill>
          <a:ln w="12700">
            <a:solidFill>
              <a:srgbClr val="061A24"/>
            </a:solidFill>
            <a:prstDash val="solid"/>
          </a:ln>
        </p:spPr>
      </p:sp>
      <p:sp>
        <p:nvSpPr>
          <p:cNvPr id="33" name="Text 31"/>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Interpreting Factorial ANOVA Output</a:t>
            </a:r>
            <a:endParaRPr lang="en-US" sz="1100" dirty="0"/>
          </a:p>
        </p:txBody>
      </p:sp>
      <p:sp>
        <p:nvSpPr>
          <p:cNvPr id="34" name="Text 32"/>
          <p:cNvSpPr/>
          <p:nvPr/>
        </p:nvSpPr>
        <p:spPr>
          <a:xfrm>
            <a:off x="4773168" y="1481328"/>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Tests of Between-Subjects Effects:</a:t>
            </a:r>
            <a:endParaRPr lang="en-US" sz="950" dirty="0"/>
          </a:p>
        </p:txBody>
      </p:sp>
      <p:sp>
        <p:nvSpPr>
          <p:cNvPr id="35" name="Shape 33"/>
          <p:cNvSpPr/>
          <p:nvPr/>
        </p:nvSpPr>
        <p:spPr>
          <a:xfrm>
            <a:off x="4773168" y="1719072"/>
            <a:ext cx="1645920" cy="292608"/>
          </a:xfrm>
          <a:prstGeom prst="rect">
            <a:avLst/>
          </a:prstGeom>
          <a:solidFill>
            <a:srgbClr val="061A24"/>
          </a:solidFill>
          <a:ln w="12700">
            <a:solidFill>
              <a:srgbClr val="061A24"/>
            </a:solidFill>
            <a:prstDash val="solid"/>
          </a:ln>
        </p:spPr>
      </p:sp>
      <p:sp>
        <p:nvSpPr>
          <p:cNvPr id="36" name="Text 34"/>
          <p:cNvSpPr/>
          <p:nvPr/>
        </p:nvSpPr>
        <p:spPr>
          <a:xfrm>
            <a:off x="4773168" y="1719072"/>
            <a:ext cx="16459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Source</a:t>
            </a:r>
            <a:endParaRPr lang="en-US" sz="850" dirty="0"/>
          </a:p>
        </p:txBody>
      </p:sp>
      <p:sp>
        <p:nvSpPr>
          <p:cNvPr id="37" name="Shape 35"/>
          <p:cNvSpPr/>
          <p:nvPr/>
        </p:nvSpPr>
        <p:spPr>
          <a:xfrm>
            <a:off x="6419088" y="1719072"/>
            <a:ext cx="768096" cy="292608"/>
          </a:xfrm>
          <a:prstGeom prst="rect">
            <a:avLst/>
          </a:prstGeom>
          <a:solidFill>
            <a:srgbClr val="061A24"/>
          </a:solidFill>
          <a:ln w="12700">
            <a:solidFill>
              <a:srgbClr val="061A24"/>
            </a:solidFill>
            <a:prstDash val="solid"/>
          </a:ln>
        </p:spPr>
      </p:sp>
      <p:sp>
        <p:nvSpPr>
          <p:cNvPr id="38" name="Text 36"/>
          <p:cNvSpPr/>
          <p:nvPr/>
        </p:nvSpPr>
        <p:spPr>
          <a:xfrm>
            <a:off x="6419088" y="1719072"/>
            <a:ext cx="7680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39" name="Shape 37"/>
          <p:cNvSpPr/>
          <p:nvPr/>
        </p:nvSpPr>
        <p:spPr>
          <a:xfrm>
            <a:off x="7187184" y="1719072"/>
            <a:ext cx="694944" cy="292608"/>
          </a:xfrm>
          <a:prstGeom prst="rect">
            <a:avLst/>
          </a:prstGeom>
          <a:solidFill>
            <a:srgbClr val="061A24"/>
          </a:solidFill>
          <a:ln w="12700">
            <a:solidFill>
              <a:srgbClr val="061A24"/>
            </a:solidFill>
            <a:prstDash val="solid"/>
          </a:ln>
        </p:spPr>
      </p:sp>
      <p:sp>
        <p:nvSpPr>
          <p:cNvPr id="40" name="Text 38"/>
          <p:cNvSpPr/>
          <p:nvPr/>
        </p:nvSpPr>
        <p:spPr>
          <a:xfrm>
            <a:off x="7187184" y="1719072"/>
            <a:ext cx="69494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41" name="Shape 39"/>
          <p:cNvSpPr/>
          <p:nvPr/>
        </p:nvSpPr>
        <p:spPr>
          <a:xfrm>
            <a:off x="7882128" y="1719072"/>
            <a:ext cx="749808" cy="292608"/>
          </a:xfrm>
          <a:prstGeom prst="rect">
            <a:avLst/>
          </a:prstGeom>
          <a:solidFill>
            <a:srgbClr val="061A24"/>
          </a:solidFill>
          <a:ln w="12700">
            <a:solidFill>
              <a:srgbClr val="061A24"/>
            </a:solidFill>
            <a:prstDash val="solid"/>
          </a:ln>
        </p:spPr>
      </p:sp>
      <p:sp>
        <p:nvSpPr>
          <p:cNvPr id="42" name="Text 40"/>
          <p:cNvSpPr/>
          <p:nvPr/>
        </p:nvSpPr>
        <p:spPr>
          <a:xfrm>
            <a:off x="7882128" y="1719072"/>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Partial η²</a:t>
            </a:r>
            <a:endParaRPr lang="en-US" sz="850" dirty="0"/>
          </a:p>
        </p:txBody>
      </p:sp>
      <p:sp>
        <p:nvSpPr>
          <p:cNvPr id="43" name="Shape 41"/>
          <p:cNvSpPr/>
          <p:nvPr/>
        </p:nvSpPr>
        <p:spPr>
          <a:xfrm>
            <a:off x="4773168" y="2011680"/>
            <a:ext cx="1645920" cy="292608"/>
          </a:xfrm>
          <a:prstGeom prst="rect">
            <a:avLst/>
          </a:prstGeom>
          <a:solidFill>
            <a:srgbClr val="EAF6FA"/>
          </a:solidFill>
          <a:ln w="6350">
            <a:solidFill>
              <a:srgbClr val="C0DEE8"/>
            </a:solidFill>
            <a:prstDash val="solid"/>
          </a:ln>
        </p:spPr>
      </p:sp>
      <p:sp>
        <p:nvSpPr>
          <p:cNvPr id="44" name="Text 42"/>
          <p:cNvSpPr/>
          <p:nvPr/>
        </p:nvSpPr>
        <p:spPr>
          <a:xfrm>
            <a:off x="4773168" y="2011680"/>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Gender</a:t>
            </a:r>
            <a:endParaRPr lang="en-US" sz="850" dirty="0"/>
          </a:p>
        </p:txBody>
      </p:sp>
      <p:sp>
        <p:nvSpPr>
          <p:cNvPr id="45" name="Shape 43"/>
          <p:cNvSpPr/>
          <p:nvPr/>
        </p:nvSpPr>
        <p:spPr>
          <a:xfrm>
            <a:off x="6419088" y="2011680"/>
            <a:ext cx="768096" cy="292608"/>
          </a:xfrm>
          <a:prstGeom prst="rect">
            <a:avLst/>
          </a:prstGeom>
          <a:solidFill>
            <a:srgbClr val="D0EEF4"/>
          </a:solidFill>
          <a:ln w="6350">
            <a:solidFill>
              <a:srgbClr val="C0DEE8"/>
            </a:solidFill>
            <a:prstDash val="solid"/>
          </a:ln>
        </p:spPr>
      </p:sp>
      <p:sp>
        <p:nvSpPr>
          <p:cNvPr id="46" name="Text 44"/>
          <p:cNvSpPr/>
          <p:nvPr/>
        </p:nvSpPr>
        <p:spPr>
          <a:xfrm>
            <a:off x="6419088" y="2011680"/>
            <a:ext cx="76809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6.10</a:t>
            </a:r>
            <a:endParaRPr lang="en-US" sz="850" dirty="0"/>
          </a:p>
        </p:txBody>
      </p:sp>
      <p:sp>
        <p:nvSpPr>
          <p:cNvPr id="47" name="Shape 45"/>
          <p:cNvSpPr/>
          <p:nvPr/>
        </p:nvSpPr>
        <p:spPr>
          <a:xfrm>
            <a:off x="7187184" y="2011680"/>
            <a:ext cx="694944" cy="292608"/>
          </a:xfrm>
          <a:prstGeom prst="rect">
            <a:avLst/>
          </a:prstGeom>
          <a:solidFill>
            <a:srgbClr val="D0EEF4"/>
          </a:solidFill>
          <a:ln w="6350">
            <a:solidFill>
              <a:srgbClr val="C0DEE8"/>
            </a:solidFill>
            <a:prstDash val="solid"/>
          </a:ln>
        </p:spPr>
      </p:sp>
      <p:sp>
        <p:nvSpPr>
          <p:cNvPr id="48" name="Text 46"/>
          <p:cNvSpPr/>
          <p:nvPr/>
        </p:nvSpPr>
        <p:spPr>
          <a:xfrm>
            <a:off x="7187184" y="2011680"/>
            <a:ext cx="69494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.014</a:t>
            </a:r>
            <a:endParaRPr lang="en-US" sz="850" dirty="0"/>
          </a:p>
        </p:txBody>
      </p:sp>
      <p:sp>
        <p:nvSpPr>
          <p:cNvPr id="49" name="Shape 47"/>
          <p:cNvSpPr/>
          <p:nvPr/>
        </p:nvSpPr>
        <p:spPr>
          <a:xfrm>
            <a:off x="7882128" y="2011680"/>
            <a:ext cx="749808" cy="292608"/>
          </a:xfrm>
          <a:prstGeom prst="rect">
            <a:avLst/>
          </a:prstGeom>
          <a:solidFill>
            <a:srgbClr val="D0EEF4"/>
          </a:solidFill>
          <a:ln w="6350">
            <a:solidFill>
              <a:srgbClr val="C0DEE8"/>
            </a:solidFill>
            <a:prstDash val="solid"/>
          </a:ln>
        </p:spPr>
      </p:sp>
      <p:sp>
        <p:nvSpPr>
          <p:cNvPr id="50" name="Text 48"/>
          <p:cNvSpPr/>
          <p:nvPr/>
        </p:nvSpPr>
        <p:spPr>
          <a:xfrm>
            <a:off x="7882128" y="2011680"/>
            <a:ext cx="74980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.013</a:t>
            </a:r>
            <a:endParaRPr lang="en-US" sz="850" dirty="0"/>
          </a:p>
        </p:txBody>
      </p:sp>
      <p:sp>
        <p:nvSpPr>
          <p:cNvPr id="51" name="Shape 49"/>
          <p:cNvSpPr/>
          <p:nvPr/>
        </p:nvSpPr>
        <p:spPr>
          <a:xfrm>
            <a:off x="4773168" y="2304288"/>
            <a:ext cx="1645920" cy="292608"/>
          </a:xfrm>
          <a:prstGeom prst="rect">
            <a:avLst/>
          </a:prstGeom>
          <a:solidFill>
            <a:srgbClr val="FFFFFF"/>
          </a:solidFill>
          <a:ln w="6350">
            <a:solidFill>
              <a:srgbClr val="C0DEE8"/>
            </a:solidFill>
            <a:prstDash val="solid"/>
          </a:ln>
        </p:spPr>
      </p:sp>
      <p:sp>
        <p:nvSpPr>
          <p:cNvPr id="52" name="Text 50"/>
          <p:cNvSpPr/>
          <p:nvPr/>
        </p:nvSpPr>
        <p:spPr>
          <a:xfrm>
            <a:off x="4773168" y="2304288"/>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Product (UAC)</a:t>
            </a:r>
            <a:endParaRPr lang="en-US" sz="850" dirty="0"/>
          </a:p>
        </p:txBody>
      </p:sp>
      <p:sp>
        <p:nvSpPr>
          <p:cNvPr id="53" name="Shape 51"/>
          <p:cNvSpPr/>
          <p:nvPr/>
        </p:nvSpPr>
        <p:spPr>
          <a:xfrm>
            <a:off x="6419088" y="2304288"/>
            <a:ext cx="768096" cy="292608"/>
          </a:xfrm>
          <a:prstGeom prst="rect">
            <a:avLst/>
          </a:prstGeom>
          <a:solidFill>
            <a:srgbClr val="D0EEF4"/>
          </a:solidFill>
          <a:ln w="6350">
            <a:solidFill>
              <a:srgbClr val="C0DEE8"/>
            </a:solidFill>
            <a:prstDash val="solid"/>
          </a:ln>
        </p:spPr>
      </p:sp>
      <p:sp>
        <p:nvSpPr>
          <p:cNvPr id="54" name="Text 52"/>
          <p:cNvSpPr/>
          <p:nvPr/>
        </p:nvSpPr>
        <p:spPr>
          <a:xfrm>
            <a:off x="6419088" y="2304288"/>
            <a:ext cx="76809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8.34</a:t>
            </a:r>
            <a:endParaRPr lang="en-US" sz="850" dirty="0"/>
          </a:p>
        </p:txBody>
      </p:sp>
      <p:sp>
        <p:nvSpPr>
          <p:cNvPr id="55" name="Shape 53"/>
          <p:cNvSpPr/>
          <p:nvPr/>
        </p:nvSpPr>
        <p:spPr>
          <a:xfrm>
            <a:off x="7187184" y="2304288"/>
            <a:ext cx="694944" cy="292608"/>
          </a:xfrm>
          <a:prstGeom prst="rect">
            <a:avLst/>
          </a:prstGeom>
          <a:solidFill>
            <a:srgbClr val="D0EEF4"/>
          </a:solidFill>
          <a:ln w="6350">
            <a:solidFill>
              <a:srgbClr val="C0DEE8"/>
            </a:solidFill>
            <a:prstDash val="solid"/>
          </a:ln>
        </p:spPr>
      </p:sp>
      <p:sp>
        <p:nvSpPr>
          <p:cNvPr id="56" name="Text 54"/>
          <p:cNvSpPr/>
          <p:nvPr/>
        </p:nvSpPr>
        <p:spPr>
          <a:xfrm>
            <a:off x="7187184" y="2304288"/>
            <a:ext cx="69494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57" name="Shape 55"/>
          <p:cNvSpPr/>
          <p:nvPr/>
        </p:nvSpPr>
        <p:spPr>
          <a:xfrm>
            <a:off x="7882128" y="2304288"/>
            <a:ext cx="749808" cy="292608"/>
          </a:xfrm>
          <a:prstGeom prst="rect">
            <a:avLst/>
          </a:prstGeom>
          <a:solidFill>
            <a:srgbClr val="D0EEF4"/>
          </a:solidFill>
          <a:ln w="6350">
            <a:solidFill>
              <a:srgbClr val="C0DEE8"/>
            </a:solidFill>
            <a:prstDash val="solid"/>
          </a:ln>
        </p:spPr>
      </p:sp>
      <p:sp>
        <p:nvSpPr>
          <p:cNvPr id="58" name="Text 56"/>
          <p:cNvSpPr/>
          <p:nvPr/>
        </p:nvSpPr>
        <p:spPr>
          <a:xfrm>
            <a:off x="7882128" y="2304288"/>
            <a:ext cx="74980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.069</a:t>
            </a:r>
            <a:endParaRPr lang="en-US" sz="850" dirty="0"/>
          </a:p>
        </p:txBody>
      </p:sp>
      <p:sp>
        <p:nvSpPr>
          <p:cNvPr id="59" name="Shape 57"/>
          <p:cNvSpPr/>
          <p:nvPr/>
        </p:nvSpPr>
        <p:spPr>
          <a:xfrm>
            <a:off x="4773168" y="2596896"/>
            <a:ext cx="1645920" cy="292608"/>
          </a:xfrm>
          <a:prstGeom prst="rect">
            <a:avLst/>
          </a:prstGeom>
          <a:solidFill>
            <a:srgbClr val="EAF6FA"/>
          </a:solidFill>
          <a:ln w="6350">
            <a:solidFill>
              <a:srgbClr val="C0DEE8"/>
            </a:solidFill>
            <a:prstDash val="solid"/>
          </a:ln>
        </p:spPr>
      </p:sp>
      <p:sp>
        <p:nvSpPr>
          <p:cNvPr id="60" name="Text 58"/>
          <p:cNvSpPr/>
          <p:nvPr/>
        </p:nvSpPr>
        <p:spPr>
          <a:xfrm>
            <a:off x="4773168" y="2596896"/>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Gender × Product</a:t>
            </a:r>
            <a:endParaRPr lang="en-US" sz="850" dirty="0"/>
          </a:p>
        </p:txBody>
      </p:sp>
      <p:sp>
        <p:nvSpPr>
          <p:cNvPr id="61" name="Shape 59"/>
          <p:cNvSpPr/>
          <p:nvPr/>
        </p:nvSpPr>
        <p:spPr>
          <a:xfrm>
            <a:off x="6419088" y="2596896"/>
            <a:ext cx="768096" cy="292608"/>
          </a:xfrm>
          <a:prstGeom prst="rect">
            <a:avLst/>
          </a:prstGeom>
          <a:solidFill>
            <a:srgbClr val="D0EEF4"/>
          </a:solidFill>
          <a:ln w="6350">
            <a:solidFill>
              <a:srgbClr val="C0DEE8"/>
            </a:solidFill>
            <a:prstDash val="solid"/>
          </a:ln>
        </p:spPr>
      </p:sp>
      <p:sp>
        <p:nvSpPr>
          <p:cNvPr id="62" name="Text 60"/>
          <p:cNvSpPr/>
          <p:nvPr/>
        </p:nvSpPr>
        <p:spPr>
          <a:xfrm>
            <a:off x="6419088" y="2596896"/>
            <a:ext cx="76809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2.84</a:t>
            </a:r>
            <a:endParaRPr lang="en-US" sz="850" dirty="0"/>
          </a:p>
        </p:txBody>
      </p:sp>
      <p:sp>
        <p:nvSpPr>
          <p:cNvPr id="63" name="Shape 61"/>
          <p:cNvSpPr/>
          <p:nvPr/>
        </p:nvSpPr>
        <p:spPr>
          <a:xfrm>
            <a:off x="7187184" y="2596896"/>
            <a:ext cx="694944" cy="292608"/>
          </a:xfrm>
          <a:prstGeom prst="rect">
            <a:avLst/>
          </a:prstGeom>
          <a:solidFill>
            <a:srgbClr val="D0EEF4"/>
          </a:solidFill>
          <a:ln w="6350">
            <a:solidFill>
              <a:srgbClr val="C0DEE8"/>
            </a:solidFill>
            <a:prstDash val="solid"/>
          </a:ln>
        </p:spPr>
      </p:sp>
      <p:sp>
        <p:nvSpPr>
          <p:cNvPr id="64" name="Text 62"/>
          <p:cNvSpPr/>
          <p:nvPr/>
        </p:nvSpPr>
        <p:spPr>
          <a:xfrm>
            <a:off x="7187184" y="2596896"/>
            <a:ext cx="69494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.023</a:t>
            </a:r>
            <a:endParaRPr lang="en-US" sz="850" dirty="0"/>
          </a:p>
        </p:txBody>
      </p:sp>
      <p:sp>
        <p:nvSpPr>
          <p:cNvPr id="65" name="Shape 63"/>
          <p:cNvSpPr/>
          <p:nvPr/>
        </p:nvSpPr>
        <p:spPr>
          <a:xfrm>
            <a:off x="7882128" y="2596896"/>
            <a:ext cx="749808" cy="292608"/>
          </a:xfrm>
          <a:prstGeom prst="rect">
            <a:avLst/>
          </a:prstGeom>
          <a:solidFill>
            <a:srgbClr val="D0EEF4"/>
          </a:solidFill>
          <a:ln w="6350">
            <a:solidFill>
              <a:srgbClr val="C0DEE8"/>
            </a:solidFill>
            <a:prstDash val="solid"/>
          </a:ln>
        </p:spPr>
      </p:sp>
      <p:sp>
        <p:nvSpPr>
          <p:cNvPr id="66" name="Text 64"/>
          <p:cNvSpPr/>
          <p:nvPr/>
        </p:nvSpPr>
        <p:spPr>
          <a:xfrm>
            <a:off x="7882128" y="2596896"/>
            <a:ext cx="74980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.025</a:t>
            </a:r>
            <a:endParaRPr lang="en-US" sz="850" dirty="0"/>
          </a:p>
        </p:txBody>
      </p:sp>
      <p:sp>
        <p:nvSpPr>
          <p:cNvPr id="67" name="Text 65"/>
          <p:cNvSpPr/>
          <p:nvPr/>
        </p:nvSpPr>
        <p:spPr>
          <a:xfrm>
            <a:off x="4773168" y="2651760"/>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Interaction Effect Analysis:</a:t>
            </a:r>
            <a:endParaRPr lang="en-US" sz="950" dirty="0"/>
          </a:p>
        </p:txBody>
      </p:sp>
      <p:sp>
        <p:nvSpPr>
          <p:cNvPr id="68" name="Text 66"/>
          <p:cNvSpPr/>
          <p:nvPr/>
        </p:nvSpPr>
        <p:spPr>
          <a:xfrm>
            <a:off x="4773168" y="2907792"/>
            <a:ext cx="3931920" cy="566928"/>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Gender × Product: F(4,440) = 2.84, p = .023. SIGNIFICANT INTERACTION. The gender gap in satisfaction is NOT the same across all products. Examine the profile plot to understand the pattern.</a:t>
            </a:r>
            <a:endParaRPr lang="en-US" sz="900" dirty="0"/>
          </a:p>
        </p:txBody>
      </p:sp>
      <p:sp>
        <p:nvSpPr>
          <p:cNvPr id="69" name="Shape 67"/>
          <p:cNvSpPr/>
          <p:nvPr/>
        </p:nvSpPr>
        <p:spPr>
          <a:xfrm>
            <a:off x="4773168" y="3529584"/>
            <a:ext cx="3931920" cy="1508760"/>
          </a:xfrm>
          <a:prstGeom prst="roundRect">
            <a:avLst>
              <a:gd name="adj" fmla="val 4242"/>
            </a:avLst>
          </a:prstGeom>
          <a:solidFill>
            <a:srgbClr val="F0F8FA"/>
          </a:solidFill>
          <a:ln w="10160">
            <a:solidFill>
              <a:srgbClr val="C0DEE8"/>
            </a:solidFill>
            <a:prstDash val="solid"/>
          </a:ln>
        </p:spPr>
      </p:sp>
      <p:sp>
        <p:nvSpPr>
          <p:cNvPr id="70" name="Text 68"/>
          <p:cNvSpPr/>
          <p:nvPr/>
        </p:nvSpPr>
        <p:spPr>
          <a:xfrm>
            <a:off x="4846320" y="3584448"/>
            <a:ext cx="3785616" cy="201168"/>
          </a:xfrm>
          <a:prstGeom prst="rect">
            <a:avLst/>
          </a:prstGeom>
          <a:noFill/>
          <a:ln/>
        </p:spPr>
        <p:txBody>
          <a:bodyPr wrap="square" lIns="0" tIns="0" rIns="0" bIns="0" rtlCol="0" anchor="ctr"/>
          <a:lstStyle/>
          <a:p>
            <a:pPr indent="0" marL="0">
              <a:buNone/>
            </a:pPr>
            <a:r>
              <a:rPr lang="en-US" sz="900" b="1" dirty="0">
                <a:solidFill>
                  <a:srgbClr val="0E6B78"/>
                </a:solidFill>
                <a:latin typeface="Calibri" pitchFamily="34" charset="0"/>
                <a:ea typeface="Calibri" pitchFamily="34" charset="-122"/>
                <a:cs typeface="Calibri" pitchFamily="34" charset="-120"/>
              </a:rPr>
              <a:t>Profile Plot: Interaction Pattern</a:t>
            </a:r>
            <a:endParaRPr lang="en-US" sz="900" dirty="0"/>
          </a:p>
        </p:txBody>
      </p:sp>
      <p:sp>
        <p:nvSpPr>
          <p:cNvPr id="71" name="Shape 69"/>
          <p:cNvSpPr/>
          <p:nvPr/>
        </p:nvSpPr>
        <p:spPr>
          <a:xfrm>
            <a:off x="4937760" y="4462272"/>
            <a:ext cx="176662" cy="292608"/>
          </a:xfrm>
          <a:prstGeom prst="rect">
            <a:avLst/>
          </a:prstGeom>
          <a:solidFill>
            <a:srgbClr val="0E6B78"/>
          </a:solidFill>
          <a:ln w="12700">
            <a:solidFill>
              <a:srgbClr val="0E6B78"/>
            </a:solidFill>
            <a:prstDash val="solid"/>
          </a:ln>
        </p:spPr>
      </p:sp>
      <p:sp>
        <p:nvSpPr>
          <p:cNvPr id="72" name="Shape 70"/>
          <p:cNvSpPr/>
          <p:nvPr/>
        </p:nvSpPr>
        <p:spPr>
          <a:xfrm>
            <a:off x="5129784" y="4267200"/>
            <a:ext cx="176662" cy="487680"/>
          </a:xfrm>
          <a:prstGeom prst="rect">
            <a:avLst/>
          </a:prstGeom>
          <a:solidFill>
            <a:srgbClr val="7B1728"/>
          </a:solidFill>
          <a:ln w="12700">
            <a:solidFill>
              <a:srgbClr val="7B1728"/>
            </a:solidFill>
            <a:prstDash val="solid"/>
          </a:ln>
        </p:spPr>
      </p:sp>
      <p:sp>
        <p:nvSpPr>
          <p:cNvPr id="73" name="Text 71"/>
          <p:cNvSpPr/>
          <p:nvPr/>
        </p:nvSpPr>
        <p:spPr>
          <a:xfrm>
            <a:off x="4901184" y="4791456"/>
            <a:ext cx="457200" cy="182880"/>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Gala</a:t>
            </a:r>
            <a:endParaRPr lang="en-US" sz="700" dirty="0"/>
          </a:p>
        </p:txBody>
      </p:sp>
      <p:sp>
        <p:nvSpPr>
          <p:cNvPr id="74" name="Shape 72"/>
          <p:cNvSpPr/>
          <p:nvPr/>
        </p:nvSpPr>
        <p:spPr>
          <a:xfrm>
            <a:off x="5687568" y="4255008"/>
            <a:ext cx="176662" cy="499872"/>
          </a:xfrm>
          <a:prstGeom prst="rect">
            <a:avLst/>
          </a:prstGeom>
          <a:solidFill>
            <a:srgbClr val="0E6B78"/>
          </a:solidFill>
          <a:ln w="12700">
            <a:solidFill>
              <a:srgbClr val="0E6B78"/>
            </a:solidFill>
            <a:prstDash val="solid"/>
          </a:ln>
        </p:spPr>
      </p:sp>
      <p:sp>
        <p:nvSpPr>
          <p:cNvPr id="75" name="Shape 73"/>
          <p:cNvSpPr/>
          <p:nvPr/>
        </p:nvSpPr>
        <p:spPr>
          <a:xfrm>
            <a:off x="5879592" y="4230624"/>
            <a:ext cx="176662" cy="524256"/>
          </a:xfrm>
          <a:prstGeom prst="rect">
            <a:avLst/>
          </a:prstGeom>
          <a:solidFill>
            <a:srgbClr val="7B1728"/>
          </a:solidFill>
          <a:ln w="12700">
            <a:solidFill>
              <a:srgbClr val="7B1728"/>
            </a:solidFill>
            <a:prstDash val="solid"/>
          </a:ln>
        </p:spPr>
      </p:sp>
      <p:sp>
        <p:nvSpPr>
          <p:cNvPr id="76" name="Text 74"/>
          <p:cNvSpPr/>
          <p:nvPr/>
        </p:nvSpPr>
        <p:spPr>
          <a:xfrm>
            <a:off x="5650992" y="4791456"/>
            <a:ext cx="457200" cy="182880"/>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Deli</a:t>
            </a:r>
            <a:endParaRPr lang="en-US" sz="700" dirty="0"/>
          </a:p>
        </p:txBody>
      </p:sp>
      <p:sp>
        <p:nvSpPr>
          <p:cNvPr id="77" name="Shape 75"/>
          <p:cNvSpPr/>
          <p:nvPr/>
        </p:nvSpPr>
        <p:spPr>
          <a:xfrm>
            <a:off x="6437376" y="4376928"/>
            <a:ext cx="176662" cy="377952"/>
          </a:xfrm>
          <a:prstGeom prst="rect">
            <a:avLst/>
          </a:prstGeom>
          <a:solidFill>
            <a:srgbClr val="0E6B78"/>
          </a:solidFill>
          <a:ln w="12700">
            <a:solidFill>
              <a:srgbClr val="0E6B78"/>
            </a:solidFill>
            <a:prstDash val="solid"/>
          </a:ln>
        </p:spPr>
      </p:sp>
      <p:sp>
        <p:nvSpPr>
          <p:cNvPr id="78" name="Shape 76"/>
          <p:cNvSpPr/>
          <p:nvPr/>
        </p:nvSpPr>
        <p:spPr>
          <a:xfrm>
            <a:off x="6629400" y="4437888"/>
            <a:ext cx="176662" cy="316992"/>
          </a:xfrm>
          <a:prstGeom prst="rect">
            <a:avLst/>
          </a:prstGeom>
          <a:solidFill>
            <a:srgbClr val="7B1728"/>
          </a:solidFill>
          <a:ln w="12700">
            <a:solidFill>
              <a:srgbClr val="7B1728"/>
            </a:solidFill>
            <a:prstDash val="solid"/>
          </a:ln>
        </p:spPr>
      </p:sp>
      <p:sp>
        <p:nvSpPr>
          <p:cNvPr id="79" name="Text 77"/>
          <p:cNvSpPr/>
          <p:nvPr/>
        </p:nvSpPr>
        <p:spPr>
          <a:xfrm>
            <a:off x="6400800" y="4791456"/>
            <a:ext cx="457200" cy="182880"/>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Mr.B</a:t>
            </a:r>
            <a:endParaRPr lang="en-US" sz="700" dirty="0"/>
          </a:p>
        </p:txBody>
      </p:sp>
      <p:sp>
        <p:nvSpPr>
          <p:cNvPr id="80" name="Shape 78"/>
          <p:cNvSpPr/>
          <p:nvPr/>
        </p:nvSpPr>
        <p:spPr>
          <a:xfrm>
            <a:off x="7187184" y="4291584"/>
            <a:ext cx="176662" cy="463296"/>
          </a:xfrm>
          <a:prstGeom prst="rect">
            <a:avLst/>
          </a:prstGeom>
          <a:solidFill>
            <a:srgbClr val="0E6B78"/>
          </a:solidFill>
          <a:ln w="12700">
            <a:solidFill>
              <a:srgbClr val="0E6B78"/>
            </a:solidFill>
            <a:prstDash val="solid"/>
          </a:ln>
        </p:spPr>
      </p:sp>
      <p:sp>
        <p:nvSpPr>
          <p:cNvPr id="81" name="Shape 79"/>
          <p:cNvSpPr/>
          <p:nvPr/>
        </p:nvSpPr>
        <p:spPr>
          <a:xfrm>
            <a:off x="7379208" y="4175760"/>
            <a:ext cx="176662" cy="579120"/>
          </a:xfrm>
          <a:prstGeom prst="rect">
            <a:avLst/>
          </a:prstGeom>
          <a:solidFill>
            <a:srgbClr val="7B1728"/>
          </a:solidFill>
          <a:ln w="12700">
            <a:solidFill>
              <a:srgbClr val="7B1728"/>
            </a:solidFill>
            <a:prstDash val="solid"/>
          </a:ln>
        </p:spPr>
      </p:sp>
      <p:sp>
        <p:nvSpPr>
          <p:cNvPr id="82" name="Text 80"/>
          <p:cNvSpPr/>
          <p:nvPr/>
        </p:nvSpPr>
        <p:spPr>
          <a:xfrm>
            <a:off x="7150608" y="4791456"/>
            <a:ext cx="457200" cy="182880"/>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Sup</a:t>
            </a:r>
            <a:endParaRPr lang="en-US" sz="700" dirty="0"/>
          </a:p>
        </p:txBody>
      </p:sp>
      <p:sp>
        <p:nvSpPr>
          <p:cNvPr id="83" name="Shape 81"/>
          <p:cNvSpPr/>
          <p:nvPr/>
        </p:nvSpPr>
        <p:spPr>
          <a:xfrm>
            <a:off x="7936992" y="4425696"/>
            <a:ext cx="176662" cy="329184"/>
          </a:xfrm>
          <a:prstGeom prst="rect">
            <a:avLst/>
          </a:prstGeom>
          <a:solidFill>
            <a:srgbClr val="0E6B78"/>
          </a:solidFill>
          <a:ln w="12700">
            <a:solidFill>
              <a:srgbClr val="0E6B78"/>
            </a:solidFill>
            <a:prstDash val="solid"/>
          </a:ln>
        </p:spPr>
      </p:sp>
      <p:sp>
        <p:nvSpPr>
          <p:cNvPr id="84" name="Shape 82"/>
          <p:cNvSpPr/>
          <p:nvPr/>
        </p:nvSpPr>
        <p:spPr>
          <a:xfrm>
            <a:off x="8129016" y="4255008"/>
            <a:ext cx="176662" cy="499872"/>
          </a:xfrm>
          <a:prstGeom prst="rect">
            <a:avLst/>
          </a:prstGeom>
          <a:solidFill>
            <a:srgbClr val="7B1728"/>
          </a:solidFill>
          <a:ln w="12700">
            <a:solidFill>
              <a:srgbClr val="7B1728"/>
            </a:solidFill>
            <a:prstDash val="solid"/>
          </a:ln>
        </p:spPr>
      </p:sp>
      <p:sp>
        <p:nvSpPr>
          <p:cNvPr id="85" name="Text 83"/>
          <p:cNvSpPr/>
          <p:nvPr/>
        </p:nvSpPr>
        <p:spPr>
          <a:xfrm>
            <a:off x="7900416" y="4791456"/>
            <a:ext cx="457200" cy="182880"/>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Other</a:t>
            </a:r>
            <a:endParaRPr lang="en-US" sz="700" dirty="0"/>
          </a:p>
        </p:txBody>
      </p:sp>
      <p:sp>
        <p:nvSpPr>
          <p:cNvPr id="86" name="Shape 84"/>
          <p:cNvSpPr/>
          <p:nvPr/>
        </p:nvSpPr>
        <p:spPr>
          <a:xfrm>
            <a:off x="4864608" y="4818888"/>
            <a:ext cx="146304" cy="109728"/>
          </a:xfrm>
          <a:prstGeom prst="rect">
            <a:avLst/>
          </a:prstGeom>
          <a:solidFill>
            <a:srgbClr val="0E6B78"/>
          </a:solidFill>
          <a:ln w="12700">
            <a:solidFill>
              <a:srgbClr val="0E6B78"/>
            </a:solidFill>
            <a:prstDash val="solid"/>
          </a:ln>
        </p:spPr>
      </p:sp>
      <p:sp>
        <p:nvSpPr>
          <p:cNvPr id="87" name="Text 85"/>
          <p:cNvSpPr/>
          <p:nvPr/>
        </p:nvSpPr>
        <p:spPr>
          <a:xfrm>
            <a:off x="5047488" y="4800600"/>
            <a:ext cx="548640" cy="128016"/>
          </a:xfrm>
          <a:prstGeom prst="rect">
            <a:avLst/>
          </a:prstGeom>
          <a:noFill/>
          <a:ln/>
        </p:spPr>
        <p:txBody>
          <a:bodyPr wrap="square" lIns="0" tIns="0" rIns="0" bIns="0" rtlCol="0" anchor="ctr"/>
          <a:lstStyle/>
          <a:p>
            <a:pPr indent="0" marL="0">
              <a:buNone/>
            </a:pPr>
            <a:r>
              <a:rPr lang="en-US" sz="750" dirty="0">
                <a:solidFill>
                  <a:srgbClr val="0E6B78"/>
                </a:solidFill>
                <a:latin typeface="Calibri" pitchFamily="34" charset="0"/>
                <a:ea typeface="Calibri" pitchFamily="34" charset="-122"/>
                <a:cs typeface="Calibri" pitchFamily="34" charset="-120"/>
              </a:rPr>
              <a:t>Male</a:t>
            </a:r>
            <a:endParaRPr lang="en-US" sz="750" dirty="0"/>
          </a:p>
        </p:txBody>
      </p:sp>
      <p:sp>
        <p:nvSpPr>
          <p:cNvPr id="88" name="Shape 86"/>
          <p:cNvSpPr/>
          <p:nvPr/>
        </p:nvSpPr>
        <p:spPr>
          <a:xfrm>
            <a:off x="5687568" y="4818888"/>
            <a:ext cx="146304" cy="109728"/>
          </a:xfrm>
          <a:prstGeom prst="rect">
            <a:avLst/>
          </a:prstGeom>
          <a:solidFill>
            <a:srgbClr val="7B1728"/>
          </a:solidFill>
          <a:ln w="12700">
            <a:solidFill>
              <a:srgbClr val="7B1728"/>
            </a:solidFill>
            <a:prstDash val="solid"/>
          </a:ln>
        </p:spPr>
      </p:sp>
      <p:sp>
        <p:nvSpPr>
          <p:cNvPr id="89" name="Text 87"/>
          <p:cNvSpPr/>
          <p:nvPr/>
        </p:nvSpPr>
        <p:spPr>
          <a:xfrm>
            <a:off x="5870448" y="4800600"/>
            <a:ext cx="640080" cy="128016"/>
          </a:xfrm>
          <a:prstGeom prst="rect">
            <a:avLst/>
          </a:prstGeom>
          <a:noFill/>
          <a:ln/>
        </p:spPr>
        <p:txBody>
          <a:bodyPr wrap="square" lIns="0" tIns="0" rIns="0" bIns="0" rtlCol="0" anchor="ctr"/>
          <a:lstStyle/>
          <a:p>
            <a:pPr indent="0" marL="0">
              <a:buNone/>
            </a:pPr>
            <a:r>
              <a:rPr lang="en-US" sz="750" dirty="0">
                <a:solidFill>
                  <a:srgbClr val="7B1728"/>
                </a:solidFill>
                <a:latin typeface="Calibri" pitchFamily="34" charset="0"/>
                <a:ea typeface="Calibri" pitchFamily="34" charset="-122"/>
                <a:cs typeface="Calibri" pitchFamily="34" charset="-120"/>
              </a:rPr>
              <a:t>Female</a:t>
            </a:r>
            <a:endParaRPr lang="en-US" sz="750" dirty="0"/>
          </a:p>
        </p:txBody>
      </p:sp>
      <p:sp>
        <p:nvSpPr>
          <p:cNvPr id="90" name="Shape 88"/>
          <p:cNvSpPr/>
          <p:nvPr/>
        </p:nvSpPr>
        <p:spPr>
          <a:xfrm>
            <a:off x="256032" y="5102352"/>
            <a:ext cx="8631936" cy="365760"/>
          </a:xfrm>
          <a:prstGeom prst="roundRect">
            <a:avLst>
              <a:gd name="adj" fmla="val 15000"/>
            </a:avLst>
          </a:prstGeom>
          <a:solidFill>
            <a:srgbClr val="FFFBEC"/>
          </a:solidFill>
          <a:ln w="19050">
            <a:solidFill>
              <a:srgbClr val="D4A017"/>
            </a:solidFill>
            <a:prstDash val="solid"/>
          </a:ln>
        </p:spPr>
      </p:sp>
      <p:sp>
        <p:nvSpPr>
          <p:cNvPr id="91" name="Text 89"/>
          <p:cNvSpPr/>
          <p:nvPr/>
        </p:nvSpPr>
        <p:spPr>
          <a:xfrm>
            <a:off x="384048" y="5102352"/>
            <a:ext cx="8449056" cy="365760"/>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When a significant interaction exists, interpret main effects with caution. The interaction MODIFIES the main effect interpretation. Focus on simple effects: the effect of gender AT EACH product level.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E6B78">
              <a:alpha val="16000"/>
            </a:srgbClr>
          </a:solidFill>
          <a:ln w="12700">
            <a:solidFill>
              <a:srgbClr val="0E6B78"/>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Simple Effects and Multiple Comparisons</a:t>
            </a:r>
            <a:endParaRPr lang="en-US" sz="2800" dirty="0"/>
          </a:p>
        </p:txBody>
      </p:sp>
      <p:sp>
        <p:nvSpPr>
          <p:cNvPr id="4" name="Text 2"/>
          <p:cNvSpPr/>
          <p:nvPr/>
        </p:nvSpPr>
        <p:spPr>
          <a:xfrm>
            <a:off x="457200" y="868680"/>
            <a:ext cx="7772400" cy="320040"/>
          </a:xfrm>
          <a:prstGeom prst="rect">
            <a:avLst/>
          </a:prstGeom>
          <a:noFill/>
          <a:ln/>
        </p:spPr>
        <p:txBody>
          <a:bodyPr wrap="square" lIns="0" tIns="0" rIns="0" bIns="0" rtlCol="0" anchor="ctr"/>
          <a:lstStyle/>
          <a:p>
            <a:pPr indent="0" marL="0">
              <a:buNone/>
            </a:pPr>
            <a:r>
              <a:rPr lang="en-US" sz="1200" i="1" dirty="0">
                <a:solidFill>
                  <a:srgbClr val="90D4E0"/>
                </a:solidFill>
                <a:latin typeface="Calibri" pitchFamily="34" charset="0"/>
                <a:ea typeface="Calibri" pitchFamily="34" charset="-122"/>
                <a:cs typeface="Calibri" pitchFamily="34" charset="-120"/>
              </a:rPr>
              <a:t>When the interaction in Factorial ANOVA is significant, we investigate Simple Effects and Planned Contrasts</a:t>
            </a:r>
            <a:endParaRPr lang="en-US" sz="1200" dirty="0"/>
          </a:p>
        </p:txBody>
      </p:sp>
      <p:sp>
        <p:nvSpPr>
          <p:cNvPr id="5" name="Shape 3"/>
          <p:cNvSpPr/>
          <p:nvPr/>
        </p:nvSpPr>
        <p:spPr>
          <a:xfrm>
            <a:off x="274320" y="987552"/>
            <a:ext cx="8595360" cy="1298448"/>
          </a:xfrm>
          <a:prstGeom prst="roundRect">
            <a:avLst>
              <a:gd name="adj" fmla="val 5634"/>
            </a:avLst>
          </a:prstGeom>
          <a:solidFill>
            <a:srgbClr val="0B2030"/>
          </a:solidFill>
          <a:ln w="12700">
            <a:solidFill>
              <a:srgbClr val="0E6B78"/>
            </a:solidFill>
            <a:prstDash val="solid"/>
          </a:ln>
        </p:spPr>
      </p:sp>
      <p:sp>
        <p:nvSpPr>
          <p:cNvPr id="6" name="Shape 4"/>
          <p:cNvSpPr/>
          <p:nvPr/>
        </p:nvSpPr>
        <p:spPr>
          <a:xfrm>
            <a:off x="347472" y="1060704"/>
            <a:ext cx="1325880" cy="274320"/>
          </a:xfrm>
          <a:prstGeom prst="roundRect">
            <a:avLst>
              <a:gd name="adj" fmla="val 16667"/>
            </a:avLst>
          </a:prstGeom>
          <a:solidFill>
            <a:srgbClr val="0E6B78"/>
          </a:solidFill>
          <a:ln w="12700">
            <a:solidFill>
              <a:srgbClr val="0E6B78"/>
            </a:solidFill>
            <a:prstDash val="solid"/>
          </a:ln>
        </p:spPr>
      </p:sp>
      <p:sp>
        <p:nvSpPr>
          <p:cNvPr id="7" name="Text 5"/>
          <p:cNvSpPr/>
          <p:nvPr/>
        </p:nvSpPr>
        <p:spPr>
          <a:xfrm>
            <a:off x="347472" y="1060704"/>
            <a:ext cx="13258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Simple Effects</a:t>
            </a:r>
            <a:endParaRPr lang="en-US" sz="1000" dirty="0"/>
          </a:p>
        </p:txBody>
      </p:sp>
      <p:sp>
        <p:nvSpPr>
          <p:cNvPr id="8" name="Text 6"/>
          <p:cNvSpPr/>
          <p:nvPr/>
        </p:nvSpPr>
        <p:spPr>
          <a:xfrm>
            <a:off x="1755648" y="1078992"/>
            <a:ext cx="3200400" cy="731520"/>
          </a:xfrm>
          <a:prstGeom prst="rect">
            <a:avLst/>
          </a:prstGeom>
          <a:noFill/>
          <a:ln/>
        </p:spPr>
        <p:txBody>
          <a:bodyPr wrap="square" lIns="0" tIns="0" rIns="0" bIns="0" rtlCol="0" anchor="ctr"/>
          <a:lstStyle/>
          <a:p>
            <a:pPr indent="0" marL="0">
              <a:buNone/>
            </a:pPr>
            <a:r>
              <a:rPr lang="en-US" sz="900" dirty="0">
                <a:solidFill>
                  <a:srgbClr val="90D4E0"/>
                </a:solidFill>
                <a:latin typeface="Calibri" pitchFamily="34" charset="0"/>
                <a:ea typeface="Calibri" pitchFamily="34" charset="-122"/>
                <a:cs typeface="Calibri" pitchFamily="34" charset="-120"/>
              </a:rPr>
              <a:t>The effect of one factor AT EACH LEVEL of the other factor. After a significant Gender × Product interaction, test the gender effect separately within each product category.</a:t>
            </a:r>
            <a:endParaRPr lang="en-US" sz="900" dirty="0"/>
          </a:p>
        </p:txBody>
      </p:sp>
      <p:sp>
        <p:nvSpPr>
          <p:cNvPr id="9" name="Text 7"/>
          <p:cNvSpPr/>
          <p:nvPr/>
        </p:nvSpPr>
        <p:spPr>
          <a:xfrm>
            <a:off x="5047488" y="1078992"/>
            <a:ext cx="3712464" cy="548640"/>
          </a:xfrm>
          <a:prstGeom prst="rect">
            <a:avLst/>
          </a:prstGeom>
          <a:noFill/>
          <a:ln/>
        </p:spPr>
        <p:txBody>
          <a:bodyPr wrap="square" lIns="0" tIns="0" rIns="0" bIns="0" rtlCol="0" anchor="ctr"/>
          <a:lstStyle/>
          <a:p>
            <a:pPr indent="0" marL="0">
              <a:buNone/>
            </a:pPr>
            <a:r>
              <a:rPr lang="en-US" sz="850" i="1" dirty="0">
                <a:solidFill>
                  <a:srgbClr val="0E6B78"/>
                </a:solidFill>
                <a:latin typeface="Calibri" pitchFamily="34" charset="0"/>
                <a:ea typeface="Calibri" pitchFamily="34" charset="-122"/>
                <a:cs typeface="Calibri" pitchFamily="34" charset="-120"/>
              </a:rPr>
              <a:t>In SPSS: Use Syntax (EMMEANS) or split the dataset by product and run separate t-tests. Within Gala: t(170) = -2.44, p = .016. Within Deli: t(106) = -0.18, p = .857 (not significant).</a:t>
            </a:r>
            <a:endParaRPr lang="en-US" sz="850" dirty="0"/>
          </a:p>
        </p:txBody>
      </p:sp>
      <p:sp>
        <p:nvSpPr>
          <p:cNvPr id="10" name="Text 8"/>
          <p:cNvSpPr/>
          <p:nvPr/>
        </p:nvSpPr>
        <p:spPr>
          <a:xfrm>
            <a:off x="1755648" y="1847088"/>
            <a:ext cx="7004304" cy="365760"/>
          </a:xfrm>
          <a:prstGeom prst="rect">
            <a:avLst/>
          </a:prstGeom>
          <a:noFill/>
          <a:ln/>
        </p:spPr>
        <p:txBody>
          <a:bodyPr wrap="square" lIns="0" tIns="0" rIns="0" bIns="0" rtlCol="0" anchor="ctr"/>
          <a:lstStyle/>
          <a:p>
            <a:pPr indent="0" marL="0">
              <a:buNone/>
            </a:pPr>
            <a:r>
              <a:rPr lang="en-US" sz="850" b="1" dirty="0">
                <a:solidFill>
                  <a:srgbClr val="0E6B78"/>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Interpretation: Gender gap in satisfaction is significant for Gala but NOT for Deli Foods. Simple effect reveals that the interaction is driven by Gala consumers, not Deli consumers.</a:t>
            </a:r>
            <a:endParaRPr lang="en-US" sz="850" dirty="0"/>
          </a:p>
        </p:txBody>
      </p:sp>
      <p:sp>
        <p:nvSpPr>
          <p:cNvPr id="11" name="Shape 9"/>
          <p:cNvSpPr/>
          <p:nvPr/>
        </p:nvSpPr>
        <p:spPr>
          <a:xfrm>
            <a:off x="274320" y="2377440"/>
            <a:ext cx="8595360" cy="1298448"/>
          </a:xfrm>
          <a:prstGeom prst="roundRect">
            <a:avLst>
              <a:gd name="adj" fmla="val 5634"/>
            </a:avLst>
          </a:prstGeom>
          <a:solidFill>
            <a:srgbClr val="0B2030"/>
          </a:solidFill>
          <a:ln w="12700">
            <a:solidFill>
              <a:srgbClr val="D4A017"/>
            </a:solidFill>
            <a:prstDash val="solid"/>
          </a:ln>
        </p:spPr>
      </p:sp>
      <p:sp>
        <p:nvSpPr>
          <p:cNvPr id="12" name="Shape 10"/>
          <p:cNvSpPr/>
          <p:nvPr/>
        </p:nvSpPr>
        <p:spPr>
          <a:xfrm>
            <a:off x="347472" y="2450592"/>
            <a:ext cx="1325880" cy="274320"/>
          </a:xfrm>
          <a:prstGeom prst="roundRect">
            <a:avLst>
              <a:gd name="adj" fmla="val 16667"/>
            </a:avLst>
          </a:prstGeom>
          <a:solidFill>
            <a:srgbClr val="D4A017"/>
          </a:solidFill>
          <a:ln w="12700">
            <a:solidFill>
              <a:srgbClr val="D4A017"/>
            </a:solidFill>
            <a:prstDash val="solid"/>
          </a:ln>
        </p:spPr>
      </p:sp>
      <p:sp>
        <p:nvSpPr>
          <p:cNvPr id="13" name="Text 11"/>
          <p:cNvSpPr/>
          <p:nvPr/>
        </p:nvSpPr>
        <p:spPr>
          <a:xfrm>
            <a:off x="347472" y="2450592"/>
            <a:ext cx="1325880" cy="274320"/>
          </a:xfrm>
          <a:prstGeom prst="rect">
            <a:avLst/>
          </a:prstGeom>
          <a:noFill/>
          <a:ln/>
        </p:spPr>
        <p:txBody>
          <a:bodyPr wrap="square" lIns="0" tIns="0" rIns="0" bIns="0" rtlCol="0" anchor="ctr"/>
          <a:lstStyle/>
          <a:p>
            <a:pPr algn="ctr" indent="0" marL="0">
              <a:buNone/>
            </a:pPr>
            <a:r>
              <a:rPr lang="en-US" sz="1000" b="1" dirty="0">
                <a:solidFill>
                  <a:srgbClr val="061A24"/>
                </a:solidFill>
                <a:latin typeface="Calibri" pitchFamily="34" charset="0"/>
                <a:ea typeface="Calibri" pitchFamily="34" charset="-122"/>
                <a:cs typeface="Calibri" pitchFamily="34" charset="-120"/>
              </a:rPr>
              <a:t>Planned Contrasts</a:t>
            </a:r>
            <a:endParaRPr lang="en-US" sz="1000" dirty="0"/>
          </a:p>
        </p:txBody>
      </p:sp>
      <p:sp>
        <p:nvSpPr>
          <p:cNvPr id="14" name="Text 12"/>
          <p:cNvSpPr/>
          <p:nvPr/>
        </p:nvSpPr>
        <p:spPr>
          <a:xfrm>
            <a:off x="1755648" y="2468880"/>
            <a:ext cx="3200400" cy="731520"/>
          </a:xfrm>
          <a:prstGeom prst="rect">
            <a:avLst/>
          </a:prstGeom>
          <a:noFill/>
          <a:ln/>
        </p:spPr>
        <p:txBody>
          <a:bodyPr wrap="square" lIns="0" tIns="0" rIns="0" bIns="0" rtlCol="0" anchor="ctr"/>
          <a:lstStyle/>
          <a:p>
            <a:pPr indent="0" marL="0">
              <a:buNone/>
            </a:pPr>
            <a:r>
              <a:rPr lang="en-US" sz="900" dirty="0">
                <a:solidFill>
                  <a:srgbClr val="90D4E0"/>
                </a:solidFill>
                <a:latin typeface="Calibri" pitchFamily="34" charset="0"/>
                <a:ea typeface="Calibri" pitchFamily="34" charset="-122"/>
                <a:cs typeface="Calibri" pitchFamily="34" charset="-120"/>
              </a:rPr>
              <a:t>A priori (pre-planned) comparisons between specific groups or combinations of groups. More powerful than post-hoc tests because they test specific theoretically driven hypotheses.</a:t>
            </a:r>
            <a:endParaRPr lang="en-US" sz="900" dirty="0"/>
          </a:p>
        </p:txBody>
      </p:sp>
      <p:sp>
        <p:nvSpPr>
          <p:cNvPr id="15" name="Text 13"/>
          <p:cNvSpPr/>
          <p:nvPr/>
        </p:nvSpPr>
        <p:spPr>
          <a:xfrm>
            <a:off x="5047488" y="2468880"/>
            <a:ext cx="3712464" cy="548640"/>
          </a:xfrm>
          <a:prstGeom prst="rect">
            <a:avLst/>
          </a:prstGeom>
          <a:noFill/>
          <a:ln/>
        </p:spPr>
        <p:txBody>
          <a:bodyPr wrap="square" lIns="0" tIns="0" rIns="0" bIns="0" rtlCol="0" anchor="ctr"/>
          <a:lstStyle/>
          <a:p>
            <a:pPr indent="0" marL="0">
              <a:buNone/>
            </a:pPr>
            <a:r>
              <a:rPr lang="en-US" sz="850" i="1" dirty="0">
                <a:solidFill>
                  <a:srgbClr val="D4A017"/>
                </a:solidFill>
                <a:latin typeface="Calibri" pitchFamily="34" charset="0"/>
                <a:ea typeface="Calibri" pitchFamily="34" charset="-122"/>
                <a:cs typeface="Calibri" pitchFamily="34" charset="-120"/>
              </a:rPr>
              <a:t>In GLM Univariate: Click Contrasts &gt; choose contrast type: Simple (compare each group to first or last), Deviation (compare each to grand mean), Polynomial (test linear/quadratic trend).</a:t>
            </a:r>
            <a:endParaRPr lang="en-US" sz="850" dirty="0"/>
          </a:p>
        </p:txBody>
      </p:sp>
      <p:sp>
        <p:nvSpPr>
          <p:cNvPr id="16" name="Text 14"/>
          <p:cNvSpPr/>
          <p:nvPr/>
        </p:nvSpPr>
        <p:spPr>
          <a:xfrm>
            <a:off x="1755648" y="3236976"/>
            <a:ext cx="7004304" cy="365760"/>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UAC: Polynomial contrast tests whether satisfaction follows a linear trend across age groups: Youth &lt; Adult &lt; Mature &lt; Senior. A significant linear contrast confirms monotonic increase with age.</a:t>
            </a:r>
            <a:endParaRPr lang="en-US" sz="850" dirty="0"/>
          </a:p>
        </p:txBody>
      </p:sp>
      <p:sp>
        <p:nvSpPr>
          <p:cNvPr id="17" name="Shape 15"/>
          <p:cNvSpPr/>
          <p:nvPr/>
        </p:nvSpPr>
        <p:spPr>
          <a:xfrm>
            <a:off x="274320" y="3767328"/>
            <a:ext cx="8595360" cy="1298448"/>
          </a:xfrm>
          <a:prstGeom prst="roundRect">
            <a:avLst>
              <a:gd name="adj" fmla="val 5634"/>
            </a:avLst>
          </a:prstGeom>
          <a:solidFill>
            <a:srgbClr val="0B2030"/>
          </a:solidFill>
          <a:ln w="12700">
            <a:solidFill>
              <a:srgbClr val="7B1728"/>
            </a:solidFill>
            <a:prstDash val="solid"/>
          </a:ln>
        </p:spPr>
      </p:sp>
      <p:sp>
        <p:nvSpPr>
          <p:cNvPr id="18" name="Shape 16"/>
          <p:cNvSpPr/>
          <p:nvPr/>
        </p:nvSpPr>
        <p:spPr>
          <a:xfrm>
            <a:off x="347472" y="3840480"/>
            <a:ext cx="1325880" cy="274320"/>
          </a:xfrm>
          <a:prstGeom prst="roundRect">
            <a:avLst>
              <a:gd name="adj" fmla="val 16667"/>
            </a:avLst>
          </a:prstGeom>
          <a:solidFill>
            <a:srgbClr val="7B1728"/>
          </a:solidFill>
          <a:ln w="12700">
            <a:solidFill>
              <a:srgbClr val="7B1728"/>
            </a:solidFill>
            <a:prstDash val="solid"/>
          </a:ln>
        </p:spPr>
      </p:sp>
      <p:sp>
        <p:nvSpPr>
          <p:cNvPr id="19" name="Text 17"/>
          <p:cNvSpPr/>
          <p:nvPr/>
        </p:nvSpPr>
        <p:spPr>
          <a:xfrm>
            <a:off x="347472" y="3840480"/>
            <a:ext cx="13258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Multiple Comparison Correction</a:t>
            </a:r>
            <a:endParaRPr lang="en-US" sz="1000" dirty="0"/>
          </a:p>
        </p:txBody>
      </p:sp>
      <p:sp>
        <p:nvSpPr>
          <p:cNvPr id="20" name="Text 18"/>
          <p:cNvSpPr/>
          <p:nvPr/>
        </p:nvSpPr>
        <p:spPr>
          <a:xfrm>
            <a:off x="1755648" y="3858768"/>
            <a:ext cx="3200400" cy="731520"/>
          </a:xfrm>
          <a:prstGeom prst="rect">
            <a:avLst/>
          </a:prstGeom>
          <a:noFill/>
          <a:ln/>
        </p:spPr>
        <p:txBody>
          <a:bodyPr wrap="square" lIns="0" tIns="0" rIns="0" bIns="0" rtlCol="0" anchor="ctr"/>
          <a:lstStyle/>
          <a:p>
            <a:pPr indent="0" marL="0">
              <a:buNone/>
            </a:pPr>
            <a:r>
              <a:rPr lang="en-US" sz="900" dirty="0">
                <a:solidFill>
                  <a:srgbClr val="90D4E0"/>
                </a:solidFill>
                <a:latin typeface="Calibri" pitchFamily="34" charset="0"/>
                <a:ea typeface="Calibri" pitchFamily="34" charset="-122"/>
                <a:cs typeface="Calibri" pitchFamily="34" charset="-120"/>
              </a:rPr>
              <a:t>When testing many comparisons, the probability of finding at least one false positive increases. Corrections: Bonferroni (divide α by number of comparisons), Holm-Bonferroni (step-down approach), FDR (False Discovery Rate).</a:t>
            </a:r>
            <a:endParaRPr lang="en-US" sz="900" dirty="0"/>
          </a:p>
        </p:txBody>
      </p:sp>
      <p:sp>
        <p:nvSpPr>
          <p:cNvPr id="21" name="Text 19"/>
          <p:cNvSpPr/>
          <p:nvPr/>
        </p:nvSpPr>
        <p:spPr>
          <a:xfrm>
            <a:off x="5047488" y="3858768"/>
            <a:ext cx="3712464" cy="548640"/>
          </a:xfrm>
          <a:prstGeom prst="rect">
            <a:avLst/>
          </a:prstGeom>
          <a:noFill/>
          <a:ln/>
        </p:spPr>
        <p:txBody>
          <a:bodyPr wrap="square" lIns="0" tIns="0" rIns="0" bIns="0" rtlCol="0" anchor="ctr"/>
          <a:lstStyle/>
          <a:p>
            <a:pPr indent="0" marL="0">
              <a:buNone/>
            </a:pPr>
            <a:r>
              <a:rPr lang="en-US" sz="850" i="1" dirty="0">
                <a:solidFill>
                  <a:srgbClr val="7B1728"/>
                </a:solidFill>
                <a:latin typeface="Calibri" pitchFamily="34" charset="0"/>
                <a:ea typeface="Calibri" pitchFamily="34" charset="-122"/>
                <a:cs typeface="Calibri" pitchFamily="34" charset="-120"/>
              </a:rPr>
              <a:t>GLM Post Hoc options provide Bonferroni, Tukey, Scheffe. For custom contrasts in syntax: use /CRITERIA=ALPHA(0.0083) for 6 comparisons with Bonferroni correction.</a:t>
            </a:r>
            <a:endParaRPr lang="en-US" sz="850" dirty="0"/>
          </a:p>
        </p:txBody>
      </p:sp>
      <p:sp>
        <p:nvSpPr>
          <p:cNvPr id="22" name="Text 20"/>
          <p:cNvSpPr/>
          <p:nvPr/>
        </p:nvSpPr>
        <p:spPr>
          <a:xfrm>
            <a:off x="1755648" y="4626864"/>
            <a:ext cx="7004304" cy="365760"/>
          </a:xfrm>
          <a:prstGeom prst="rect">
            <a:avLst/>
          </a:prstGeom>
          <a:noFill/>
          <a:ln/>
        </p:spPr>
        <p:txBody>
          <a:bodyPr wrap="square" lIns="0" tIns="0" rIns="0" bIns="0" rtlCol="0" anchor="ctr"/>
          <a:lstStyle/>
          <a:p>
            <a:pPr indent="0" marL="0">
              <a:buNone/>
            </a:pPr>
            <a:r>
              <a:rPr lang="en-US" sz="850" b="1" dirty="0">
                <a:solidFill>
                  <a:srgbClr val="7B1728"/>
                </a:solidFill>
                <a:latin typeface="Calibri" pitchFamily="34" charset="0"/>
                <a:ea typeface="Calibri" pitchFamily="34" charset="-122"/>
                <a:cs typeface="Calibri" pitchFamily="34" charset="-120"/>
              </a:rPr>
              <a:t>UAC: </a:t>
            </a:r>
            <a:pPr indent="0" marL="0">
              <a:buNone/>
            </a:pPr>
            <a:r>
              <a:rPr lang="en-US" sz="850" dirty="0">
                <a:solidFill>
                  <a:srgbClr val="7ABCCA"/>
                </a:solidFill>
                <a:latin typeface="Calibri" pitchFamily="34" charset="0"/>
                <a:ea typeface="Calibri" pitchFamily="34" charset="-122"/>
                <a:cs typeface="Calibri" pitchFamily="34" charset="-120"/>
              </a:rPr>
              <a:t>Rule: For 3 groups (3 pairs): Bonferroni α = .05/3 = .017 per test. For 5 groups (10 pairs): α = .05/10 = .005. Never just run multiple uncorrected comparisons.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Chi-Square Tests</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Testing associations and goodness of fit for categorical variables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Chi-Square Tests - Goodness of Fit and Test of Independence</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0E6B78"/>
          </a:solidFill>
          <a:ln w="12700">
            <a:solidFill>
              <a:srgbClr val="0E6B78"/>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Goodness of Fit Chi-Square</a:t>
            </a:r>
            <a:endParaRPr lang="en-US" sz="1100" dirty="0"/>
          </a:p>
        </p:txBody>
      </p:sp>
      <p:sp>
        <p:nvSpPr>
          <p:cNvPr id="7" name="Text 5"/>
          <p:cNvSpPr/>
          <p:nvPr/>
        </p:nvSpPr>
        <p:spPr>
          <a:xfrm>
            <a:off x="365760" y="1481328"/>
            <a:ext cx="3950208" cy="402336"/>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Tests whether the distribution of a SINGLE categorical variable matches a hypothesised distribution.</a:t>
            </a:r>
            <a:endParaRPr lang="en-US" sz="950" dirty="0"/>
          </a:p>
        </p:txBody>
      </p:sp>
      <p:sp>
        <p:nvSpPr>
          <p:cNvPr id="8" name="Text 6"/>
          <p:cNvSpPr/>
          <p:nvPr/>
        </p:nvSpPr>
        <p:spPr>
          <a:xfrm>
            <a:off x="365760" y="1956816"/>
            <a:ext cx="3950208" cy="80467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ALL EQUAL: </a:t>
            </a:r>
            <a:pPr indent="0" marL="0">
              <a:buNone/>
            </a:pPr>
            <a:r>
              <a:rPr lang="en-US" sz="950" dirty="0">
                <a:solidFill>
                  <a:srgbClr val="1A2E38"/>
                </a:solidFill>
                <a:latin typeface="Calibri" pitchFamily="34" charset="0"/>
                <a:ea typeface="Calibri" pitchFamily="34" charset="-122"/>
                <a:cs typeface="Calibri" pitchFamily="34" charset="-120"/>
              </a:rPr>
              <a:t>H0: All categories equally likely. UAC: Are the 5 product preferences equally distributed (each = 20%)? Steps: Analyze &gt; Nonparametric Tests &gt; Legacy Dialogs &gt; Chi-Square &gt; move uac_product_pref to Test Variable &gt; All categories equal &gt; OK.</a:t>
            </a:r>
            <a:endParaRPr lang="en-US" sz="950" dirty="0"/>
          </a:p>
        </p:txBody>
      </p:sp>
      <p:sp>
        <p:nvSpPr>
          <p:cNvPr id="9" name="Text 7"/>
          <p:cNvSpPr/>
          <p:nvPr/>
        </p:nvSpPr>
        <p:spPr>
          <a:xfrm>
            <a:off x="365760" y="2834640"/>
            <a:ext cx="3950208" cy="91440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UNEQUAL: </a:t>
            </a:r>
            <a:pPr indent="0" marL="0">
              <a:buNone/>
            </a:pPr>
            <a:r>
              <a:rPr lang="en-US" sz="950" dirty="0">
                <a:solidFill>
                  <a:srgbClr val="1A2E38"/>
                </a:solidFill>
                <a:latin typeface="Calibri" pitchFamily="34" charset="0"/>
                <a:ea typeface="Calibri" pitchFamily="34" charset="-122"/>
                <a:cs typeface="Calibri" pitchFamily="34" charset="-120"/>
              </a:rPr>
              <a:t>H0: Categories follow a specified distribution. UAC: Based on national FMCG data, expected shares are Gala=35%, Deli=28%, Mr.Biggs=20%, Supreme=12%, Other=5%. Does our sample match? Enter expected frequencies in Values box.</a:t>
            </a:r>
            <a:endParaRPr lang="en-US" sz="950" dirty="0"/>
          </a:p>
        </p:txBody>
      </p:sp>
      <p:sp>
        <p:nvSpPr>
          <p:cNvPr id="10" name="Text 8"/>
          <p:cNvSpPr/>
          <p:nvPr/>
        </p:nvSpPr>
        <p:spPr>
          <a:xfrm>
            <a:off x="365760" y="3822192"/>
            <a:ext cx="3950208"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GoF Output:</a:t>
            </a:r>
            <a:endParaRPr lang="en-US" sz="950" dirty="0"/>
          </a:p>
        </p:txBody>
      </p:sp>
      <p:sp>
        <p:nvSpPr>
          <p:cNvPr id="11" name="Shape 9"/>
          <p:cNvSpPr/>
          <p:nvPr/>
        </p:nvSpPr>
        <p:spPr>
          <a:xfrm>
            <a:off x="365760" y="4059936"/>
            <a:ext cx="1481328" cy="292608"/>
          </a:xfrm>
          <a:prstGeom prst="rect">
            <a:avLst/>
          </a:prstGeom>
          <a:solidFill>
            <a:srgbClr val="061A24"/>
          </a:solidFill>
          <a:ln w="12700">
            <a:solidFill>
              <a:srgbClr val="061A24"/>
            </a:solidFill>
            <a:prstDash val="solid"/>
          </a:ln>
        </p:spPr>
      </p:sp>
      <p:sp>
        <p:nvSpPr>
          <p:cNvPr id="12" name="Text 10"/>
          <p:cNvSpPr/>
          <p:nvPr/>
        </p:nvSpPr>
        <p:spPr>
          <a:xfrm>
            <a:off x="365760" y="4059936"/>
            <a:ext cx="14813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p>
        </p:txBody>
      </p:sp>
      <p:sp>
        <p:nvSpPr>
          <p:cNvPr id="13" name="Shape 11"/>
          <p:cNvSpPr/>
          <p:nvPr/>
        </p:nvSpPr>
        <p:spPr>
          <a:xfrm>
            <a:off x="1847088" y="4059936"/>
            <a:ext cx="914400" cy="292608"/>
          </a:xfrm>
          <a:prstGeom prst="rect">
            <a:avLst/>
          </a:prstGeom>
          <a:solidFill>
            <a:srgbClr val="061A24"/>
          </a:solidFill>
          <a:ln w="12700">
            <a:solidFill>
              <a:srgbClr val="061A24"/>
            </a:solidFill>
            <a:prstDash val="solid"/>
          </a:ln>
        </p:spPr>
      </p:sp>
      <p:sp>
        <p:nvSpPr>
          <p:cNvPr id="14" name="Text 12"/>
          <p:cNvSpPr/>
          <p:nvPr/>
        </p:nvSpPr>
        <p:spPr>
          <a:xfrm>
            <a:off x="1847088" y="4059936"/>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15" name="Shape 13"/>
          <p:cNvSpPr/>
          <p:nvPr/>
        </p:nvSpPr>
        <p:spPr>
          <a:xfrm>
            <a:off x="2761488" y="4059936"/>
            <a:ext cx="1737360" cy="292608"/>
          </a:xfrm>
          <a:prstGeom prst="rect">
            <a:avLst/>
          </a:prstGeom>
          <a:solidFill>
            <a:srgbClr val="061A24"/>
          </a:solidFill>
          <a:ln w="12700">
            <a:solidFill>
              <a:srgbClr val="061A24"/>
            </a:solidFill>
            <a:prstDash val="solid"/>
          </a:ln>
        </p:spPr>
      </p:sp>
      <p:sp>
        <p:nvSpPr>
          <p:cNvPr id="16" name="Text 14"/>
          <p:cNvSpPr/>
          <p:nvPr/>
        </p:nvSpPr>
        <p:spPr>
          <a:xfrm>
            <a:off x="2761488" y="4059936"/>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Asymp. Sig.</a:t>
            </a:r>
            <a:endParaRPr lang="en-US" sz="850" dirty="0"/>
          </a:p>
        </p:txBody>
      </p:sp>
      <p:sp>
        <p:nvSpPr>
          <p:cNvPr id="17" name="Shape 15"/>
          <p:cNvSpPr/>
          <p:nvPr/>
        </p:nvSpPr>
        <p:spPr>
          <a:xfrm>
            <a:off x="365760" y="4352544"/>
            <a:ext cx="1481328" cy="292608"/>
          </a:xfrm>
          <a:prstGeom prst="rect">
            <a:avLst/>
          </a:prstGeom>
          <a:solidFill>
            <a:srgbClr val="D0EEF4"/>
          </a:solidFill>
          <a:ln w="6350">
            <a:solidFill>
              <a:srgbClr val="C0DEE8"/>
            </a:solidFill>
            <a:prstDash val="solid"/>
          </a:ln>
        </p:spPr>
      </p:sp>
      <p:sp>
        <p:nvSpPr>
          <p:cNvPr id="18" name="Text 16"/>
          <p:cNvSpPr/>
          <p:nvPr/>
        </p:nvSpPr>
        <p:spPr>
          <a:xfrm>
            <a:off x="365760" y="4352544"/>
            <a:ext cx="148132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18.43</a:t>
            </a:r>
            <a:endParaRPr lang="en-US" sz="850" dirty="0"/>
          </a:p>
        </p:txBody>
      </p:sp>
      <p:sp>
        <p:nvSpPr>
          <p:cNvPr id="19" name="Shape 17"/>
          <p:cNvSpPr/>
          <p:nvPr/>
        </p:nvSpPr>
        <p:spPr>
          <a:xfrm>
            <a:off x="1847088" y="4352544"/>
            <a:ext cx="914400" cy="292608"/>
          </a:xfrm>
          <a:prstGeom prst="rect">
            <a:avLst/>
          </a:prstGeom>
          <a:solidFill>
            <a:srgbClr val="EAF6FA"/>
          </a:solidFill>
          <a:ln w="6350">
            <a:solidFill>
              <a:srgbClr val="C0DEE8"/>
            </a:solidFill>
            <a:prstDash val="solid"/>
          </a:ln>
        </p:spPr>
      </p:sp>
      <p:sp>
        <p:nvSpPr>
          <p:cNvPr id="20" name="Text 18"/>
          <p:cNvSpPr/>
          <p:nvPr/>
        </p:nvSpPr>
        <p:spPr>
          <a:xfrm>
            <a:off x="1847088" y="4352544"/>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a:t>
            </a:r>
            <a:endParaRPr lang="en-US" sz="850" dirty="0"/>
          </a:p>
        </p:txBody>
      </p:sp>
      <p:sp>
        <p:nvSpPr>
          <p:cNvPr id="21" name="Shape 19"/>
          <p:cNvSpPr/>
          <p:nvPr/>
        </p:nvSpPr>
        <p:spPr>
          <a:xfrm>
            <a:off x="2761488" y="4352544"/>
            <a:ext cx="1737360" cy="292608"/>
          </a:xfrm>
          <a:prstGeom prst="rect">
            <a:avLst/>
          </a:prstGeom>
          <a:solidFill>
            <a:srgbClr val="D0EEF4"/>
          </a:solidFill>
          <a:ln w="6350">
            <a:solidFill>
              <a:srgbClr val="C0DEE8"/>
            </a:solidFill>
            <a:prstDash val="solid"/>
          </a:ln>
        </p:spPr>
      </p:sp>
      <p:sp>
        <p:nvSpPr>
          <p:cNvPr id="22" name="Text 20"/>
          <p:cNvSpPr/>
          <p:nvPr/>
        </p:nvSpPr>
        <p:spPr>
          <a:xfrm>
            <a:off x="2761488" y="4352544"/>
            <a:ext cx="173736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.001</a:t>
            </a:r>
            <a:endParaRPr lang="en-US" sz="850" dirty="0"/>
          </a:p>
        </p:txBody>
      </p:sp>
      <p:sp>
        <p:nvSpPr>
          <p:cNvPr id="23" name="Text 21"/>
          <p:cNvSpPr/>
          <p:nvPr/>
        </p:nvSpPr>
        <p:spPr>
          <a:xfrm>
            <a:off x="365760" y="4645152"/>
            <a:ext cx="3950208" cy="292608"/>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p = .001 &lt; .05 → Reject H0. Distribution DOES NOT match national benchmarks.</a:t>
            </a:r>
            <a:endParaRPr lang="en-US" sz="900" dirty="0"/>
          </a:p>
        </p:txBody>
      </p:sp>
      <p:sp>
        <p:nvSpPr>
          <p:cNvPr id="24" name="Shape 22"/>
          <p:cNvSpPr/>
          <p:nvPr/>
        </p:nvSpPr>
        <p:spPr>
          <a:xfrm>
            <a:off x="4681728"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4754880" y="1078992"/>
            <a:ext cx="4005072" cy="329184"/>
          </a:xfrm>
          <a:prstGeom prst="roundRect">
            <a:avLst>
              <a:gd name="adj" fmla="val 16667"/>
            </a:avLst>
          </a:prstGeom>
          <a:solidFill>
            <a:srgbClr val="061A24"/>
          </a:solidFill>
          <a:ln w="12700">
            <a:solidFill>
              <a:srgbClr val="061A24"/>
            </a:solidFill>
            <a:prstDash val="solid"/>
          </a:ln>
        </p:spPr>
      </p:sp>
      <p:sp>
        <p:nvSpPr>
          <p:cNvPr id="26" name="Text 24"/>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Chi-Square Test of Independence</a:t>
            </a:r>
            <a:endParaRPr lang="en-US" sz="1100" dirty="0"/>
          </a:p>
        </p:txBody>
      </p:sp>
      <p:sp>
        <p:nvSpPr>
          <p:cNvPr id="27" name="Text 25"/>
          <p:cNvSpPr/>
          <p:nvPr/>
        </p:nvSpPr>
        <p:spPr>
          <a:xfrm>
            <a:off x="4773168" y="1481328"/>
            <a:ext cx="3931920" cy="457200"/>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Tests whether TWO categorical variables are statistically independent (not associated). H0: Variables are independent. H1: Variables are associated.</a:t>
            </a:r>
            <a:endParaRPr lang="en-US" sz="950" dirty="0"/>
          </a:p>
        </p:txBody>
      </p:sp>
      <p:sp>
        <p:nvSpPr>
          <p:cNvPr id="28" name="Text 26"/>
          <p:cNvSpPr/>
          <p:nvPr/>
        </p:nvSpPr>
        <p:spPr>
          <a:xfrm>
            <a:off x="4773168" y="2011680"/>
            <a:ext cx="3931920" cy="566928"/>
          </a:xfrm>
          <a:prstGeom prst="rect">
            <a:avLst/>
          </a:prstGeom>
          <a:noFill/>
          <a:ln/>
        </p:spPr>
        <p:txBody>
          <a:bodyPr wrap="square" lIns="0" tIns="0" rIns="0" bIns="0" rtlCol="0" anchor="ctr"/>
          <a:lstStyle/>
          <a:p>
            <a:pPr indent="0" marL="0">
              <a:buNone/>
            </a:pPr>
            <a:r>
              <a:rPr lang="en-US" sz="900" i="1" dirty="0">
                <a:solidFill>
                  <a:srgbClr val="0E6B78"/>
                </a:solidFill>
                <a:latin typeface="Calibri" pitchFamily="34" charset="0"/>
                <a:ea typeface="Calibri" pitchFamily="34" charset="-122"/>
                <a:cs typeface="Calibri" pitchFamily="34" charset="-120"/>
              </a:rPr>
              <a:t>Steps: Analyze &gt; Descriptive Statistics &gt; Crosstabs &gt; Row: uac_product_pref &gt; Column: gender &gt; Statistics: Chi-square, Phi, Cramer's V &gt; Cells: Observed, Expected, Column % &gt; OK</a:t>
            </a:r>
            <a:endParaRPr lang="en-US" sz="900" dirty="0"/>
          </a:p>
        </p:txBody>
      </p:sp>
      <p:sp>
        <p:nvSpPr>
          <p:cNvPr id="29" name="Text 27"/>
          <p:cNvSpPr/>
          <p:nvPr/>
        </p:nvSpPr>
        <p:spPr>
          <a:xfrm>
            <a:off x="4773168" y="2651760"/>
            <a:ext cx="3931920" cy="219456"/>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Output:</a:t>
            </a:r>
            <a:endParaRPr lang="en-US" sz="950" dirty="0"/>
          </a:p>
        </p:txBody>
      </p:sp>
      <p:sp>
        <p:nvSpPr>
          <p:cNvPr id="30" name="Shape 28"/>
          <p:cNvSpPr/>
          <p:nvPr/>
        </p:nvSpPr>
        <p:spPr>
          <a:xfrm>
            <a:off x="4773168" y="2889504"/>
            <a:ext cx="1627632" cy="292608"/>
          </a:xfrm>
          <a:prstGeom prst="rect">
            <a:avLst/>
          </a:prstGeom>
          <a:solidFill>
            <a:srgbClr val="061A24"/>
          </a:solidFill>
          <a:ln w="12700">
            <a:solidFill>
              <a:srgbClr val="061A24"/>
            </a:solidFill>
            <a:prstDash val="solid"/>
          </a:ln>
        </p:spPr>
      </p:sp>
      <p:sp>
        <p:nvSpPr>
          <p:cNvPr id="31" name="Text 29"/>
          <p:cNvSpPr/>
          <p:nvPr/>
        </p:nvSpPr>
        <p:spPr>
          <a:xfrm>
            <a:off x="4773168" y="2889504"/>
            <a:ext cx="1627632" cy="292608"/>
          </a:xfrm>
          <a:prstGeom prst="rect">
            <a:avLst/>
          </a:prstGeom>
          <a:noFill/>
          <a:ln/>
        </p:spPr>
        <p:txBody>
          <a:bodyPr wrap="square" lIns="0" tIns="0" rIns="0" bIns="0" rtlCol="0" anchor="ctr"/>
          <a:lstStyle/>
          <a:p>
            <a:pPr algn="ctr" indent="0" marL="0">
              <a:buNone/>
            </a:pPr>
            <a:endParaRPr lang="en-US" sz="850" dirty="0"/>
          </a:p>
        </p:txBody>
      </p:sp>
      <p:sp>
        <p:nvSpPr>
          <p:cNvPr id="32" name="Shape 30"/>
          <p:cNvSpPr/>
          <p:nvPr/>
        </p:nvSpPr>
        <p:spPr>
          <a:xfrm>
            <a:off x="6400800" y="2889504"/>
            <a:ext cx="822960" cy="292608"/>
          </a:xfrm>
          <a:prstGeom prst="rect">
            <a:avLst/>
          </a:prstGeom>
          <a:solidFill>
            <a:srgbClr val="061A24"/>
          </a:solidFill>
          <a:ln w="12700">
            <a:solidFill>
              <a:srgbClr val="061A24"/>
            </a:solidFill>
            <a:prstDash val="solid"/>
          </a:ln>
        </p:spPr>
      </p:sp>
      <p:sp>
        <p:nvSpPr>
          <p:cNvPr id="33" name="Text 31"/>
          <p:cNvSpPr/>
          <p:nvPr/>
        </p:nvSpPr>
        <p:spPr>
          <a:xfrm>
            <a:off x="6400800" y="2889504"/>
            <a:ext cx="82296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p>
        </p:txBody>
      </p:sp>
      <p:sp>
        <p:nvSpPr>
          <p:cNvPr id="34" name="Shape 32"/>
          <p:cNvSpPr/>
          <p:nvPr/>
        </p:nvSpPr>
        <p:spPr>
          <a:xfrm>
            <a:off x="7223760" y="2889504"/>
            <a:ext cx="457200" cy="292608"/>
          </a:xfrm>
          <a:prstGeom prst="rect">
            <a:avLst/>
          </a:prstGeom>
          <a:solidFill>
            <a:srgbClr val="061A24"/>
          </a:solidFill>
          <a:ln w="12700">
            <a:solidFill>
              <a:srgbClr val="061A24"/>
            </a:solidFill>
            <a:prstDash val="solid"/>
          </a:ln>
        </p:spPr>
      </p:sp>
      <p:sp>
        <p:nvSpPr>
          <p:cNvPr id="35" name="Text 33"/>
          <p:cNvSpPr/>
          <p:nvPr/>
        </p:nvSpPr>
        <p:spPr>
          <a:xfrm>
            <a:off x="7223760" y="2889504"/>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36" name="Shape 34"/>
          <p:cNvSpPr/>
          <p:nvPr/>
        </p:nvSpPr>
        <p:spPr>
          <a:xfrm>
            <a:off x="7680960" y="2889504"/>
            <a:ext cx="676656" cy="292608"/>
          </a:xfrm>
          <a:prstGeom prst="rect">
            <a:avLst/>
          </a:prstGeom>
          <a:solidFill>
            <a:srgbClr val="061A24"/>
          </a:solidFill>
          <a:ln w="12700">
            <a:solidFill>
              <a:srgbClr val="061A24"/>
            </a:solidFill>
            <a:prstDash val="solid"/>
          </a:ln>
        </p:spPr>
      </p:sp>
      <p:sp>
        <p:nvSpPr>
          <p:cNvPr id="37" name="Text 35"/>
          <p:cNvSpPr/>
          <p:nvPr/>
        </p:nvSpPr>
        <p:spPr>
          <a:xfrm>
            <a:off x="7680960" y="2889504"/>
            <a:ext cx="67665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38" name="Shape 36"/>
          <p:cNvSpPr/>
          <p:nvPr/>
        </p:nvSpPr>
        <p:spPr>
          <a:xfrm>
            <a:off x="4773168" y="3182112"/>
            <a:ext cx="1627632" cy="292608"/>
          </a:xfrm>
          <a:prstGeom prst="rect">
            <a:avLst/>
          </a:prstGeom>
          <a:solidFill>
            <a:srgbClr val="EAF6FA"/>
          </a:solidFill>
          <a:ln w="6350">
            <a:solidFill>
              <a:srgbClr val="C0DEE8"/>
            </a:solidFill>
            <a:prstDash val="solid"/>
          </a:ln>
        </p:spPr>
      </p:sp>
      <p:sp>
        <p:nvSpPr>
          <p:cNvPr id="39" name="Text 37"/>
          <p:cNvSpPr/>
          <p:nvPr/>
        </p:nvSpPr>
        <p:spPr>
          <a:xfrm>
            <a:off x="4773168" y="3182112"/>
            <a:ext cx="16276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Pearson Chi-Square</a:t>
            </a:r>
            <a:endParaRPr lang="en-US" sz="850" dirty="0"/>
          </a:p>
        </p:txBody>
      </p:sp>
      <p:sp>
        <p:nvSpPr>
          <p:cNvPr id="40" name="Shape 38"/>
          <p:cNvSpPr/>
          <p:nvPr/>
        </p:nvSpPr>
        <p:spPr>
          <a:xfrm>
            <a:off x="6400800" y="3182112"/>
            <a:ext cx="822960" cy="292608"/>
          </a:xfrm>
          <a:prstGeom prst="rect">
            <a:avLst/>
          </a:prstGeom>
          <a:solidFill>
            <a:srgbClr val="D0EEF4"/>
          </a:solidFill>
          <a:ln w="6350">
            <a:solidFill>
              <a:srgbClr val="C0DEE8"/>
            </a:solidFill>
            <a:prstDash val="solid"/>
          </a:ln>
        </p:spPr>
      </p:sp>
      <p:sp>
        <p:nvSpPr>
          <p:cNvPr id="41" name="Text 39"/>
          <p:cNvSpPr/>
          <p:nvPr/>
        </p:nvSpPr>
        <p:spPr>
          <a:xfrm>
            <a:off x="6400800" y="3182112"/>
            <a:ext cx="82296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24.83</a:t>
            </a:r>
            <a:endParaRPr lang="en-US" sz="850" dirty="0"/>
          </a:p>
        </p:txBody>
      </p:sp>
      <p:sp>
        <p:nvSpPr>
          <p:cNvPr id="42" name="Shape 40"/>
          <p:cNvSpPr/>
          <p:nvPr/>
        </p:nvSpPr>
        <p:spPr>
          <a:xfrm>
            <a:off x="7223760" y="3182112"/>
            <a:ext cx="457200" cy="292608"/>
          </a:xfrm>
          <a:prstGeom prst="rect">
            <a:avLst/>
          </a:prstGeom>
          <a:solidFill>
            <a:srgbClr val="EAF6FA"/>
          </a:solidFill>
          <a:ln w="6350">
            <a:solidFill>
              <a:srgbClr val="C0DEE8"/>
            </a:solidFill>
            <a:prstDash val="solid"/>
          </a:ln>
        </p:spPr>
      </p:sp>
      <p:sp>
        <p:nvSpPr>
          <p:cNvPr id="43" name="Text 41"/>
          <p:cNvSpPr/>
          <p:nvPr/>
        </p:nvSpPr>
        <p:spPr>
          <a:xfrm>
            <a:off x="7223760" y="3182112"/>
            <a:ext cx="4572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a:t>
            </a:r>
            <a:endParaRPr lang="en-US" sz="850" dirty="0"/>
          </a:p>
        </p:txBody>
      </p:sp>
      <p:sp>
        <p:nvSpPr>
          <p:cNvPr id="44" name="Shape 42"/>
          <p:cNvSpPr/>
          <p:nvPr/>
        </p:nvSpPr>
        <p:spPr>
          <a:xfrm>
            <a:off x="7680960" y="3182112"/>
            <a:ext cx="676656" cy="292608"/>
          </a:xfrm>
          <a:prstGeom prst="rect">
            <a:avLst/>
          </a:prstGeom>
          <a:solidFill>
            <a:srgbClr val="D0EEF4"/>
          </a:solidFill>
          <a:ln w="6350">
            <a:solidFill>
              <a:srgbClr val="C0DEE8"/>
            </a:solidFill>
            <a:prstDash val="solid"/>
          </a:ln>
        </p:spPr>
      </p:sp>
      <p:sp>
        <p:nvSpPr>
          <p:cNvPr id="45" name="Text 43"/>
          <p:cNvSpPr/>
          <p:nvPr/>
        </p:nvSpPr>
        <p:spPr>
          <a:xfrm>
            <a:off x="7680960" y="3182112"/>
            <a:ext cx="67665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.000</a:t>
            </a:r>
            <a:endParaRPr lang="en-US" sz="850" dirty="0"/>
          </a:p>
        </p:txBody>
      </p:sp>
      <p:sp>
        <p:nvSpPr>
          <p:cNvPr id="46" name="Shape 44"/>
          <p:cNvSpPr/>
          <p:nvPr/>
        </p:nvSpPr>
        <p:spPr>
          <a:xfrm>
            <a:off x="4773168" y="3474720"/>
            <a:ext cx="1627632" cy="292608"/>
          </a:xfrm>
          <a:prstGeom prst="rect">
            <a:avLst/>
          </a:prstGeom>
          <a:solidFill>
            <a:srgbClr val="FFFFFF"/>
          </a:solidFill>
          <a:ln w="6350">
            <a:solidFill>
              <a:srgbClr val="C0DEE8"/>
            </a:solidFill>
            <a:prstDash val="solid"/>
          </a:ln>
        </p:spPr>
      </p:sp>
      <p:sp>
        <p:nvSpPr>
          <p:cNvPr id="47" name="Text 45"/>
          <p:cNvSpPr/>
          <p:nvPr/>
        </p:nvSpPr>
        <p:spPr>
          <a:xfrm>
            <a:off x="4773168" y="3474720"/>
            <a:ext cx="16276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Likelihood Ratio</a:t>
            </a:r>
            <a:endParaRPr lang="en-US" sz="850" dirty="0"/>
          </a:p>
        </p:txBody>
      </p:sp>
      <p:sp>
        <p:nvSpPr>
          <p:cNvPr id="48" name="Shape 46"/>
          <p:cNvSpPr/>
          <p:nvPr/>
        </p:nvSpPr>
        <p:spPr>
          <a:xfrm>
            <a:off x="6400800" y="3474720"/>
            <a:ext cx="822960" cy="292608"/>
          </a:xfrm>
          <a:prstGeom prst="rect">
            <a:avLst/>
          </a:prstGeom>
          <a:solidFill>
            <a:srgbClr val="FFFFFF"/>
          </a:solidFill>
          <a:ln w="6350">
            <a:solidFill>
              <a:srgbClr val="C0DEE8"/>
            </a:solidFill>
            <a:prstDash val="solid"/>
          </a:ln>
        </p:spPr>
      </p:sp>
      <p:sp>
        <p:nvSpPr>
          <p:cNvPr id="49" name="Text 47"/>
          <p:cNvSpPr/>
          <p:nvPr/>
        </p:nvSpPr>
        <p:spPr>
          <a:xfrm>
            <a:off x="6400800" y="3474720"/>
            <a:ext cx="82296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24.92</a:t>
            </a:r>
            <a:endParaRPr lang="en-US" sz="850" dirty="0"/>
          </a:p>
        </p:txBody>
      </p:sp>
      <p:sp>
        <p:nvSpPr>
          <p:cNvPr id="50" name="Shape 48"/>
          <p:cNvSpPr/>
          <p:nvPr/>
        </p:nvSpPr>
        <p:spPr>
          <a:xfrm>
            <a:off x="7223760" y="3474720"/>
            <a:ext cx="457200" cy="292608"/>
          </a:xfrm>
          <a:prstGeom prst="rect">
            <a:avLst/>
          </a:prstGeom>
          <a:solidFill>
            <a:srgbClr val="FFFFFF"/>
          </a:solidFill>
          <a:ln w="6350">
            <a:solidFill>
              <a:srgbClr val="C0DEE8"/>
            </a:solidFill>
            <a:prstDash val="solid"/>
          </a:ln>
        </p:spPr>
      </p:sp>
      <p:sp>
        <p:nvSpPr>
          <p:cNvPr id="51" name="Text 49"/>
          <p:cNvSpPr/>
          <p:nvPr/>
        </p:nvSpPr>
        <p:spPr>
          <a:xfrm>
            <a:off x="7223760" y="3474720"/>
            <a:ext cx="4572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a:t>
            </a:r>
            <a:endParaRPr lang="en-US" sz="850" dirty="0"/>
          </a:p>
        </p:txBody>
      </p:sp>
      <p:sp>
        <p:nvSpPr>
          <p:cNvPr id="52" name="Shape 50"/>
          <p:cNvSpPr/>
          <p:nvPr/>
        </p:nvSpPr>
        <p:spPr>
          <a:xfrm>
            <a:off x="7680960" y="3474720"/>
            <a:ext cx="676656" cy="292608"/>
          </a:xfrm>
          <a:prstGeom prst="rect">
            <a:avLst/>
          </a:prstGeom>
          <a:solidFill>
            <a:srgbClr val="FFFFFF"/>
          </a:solidFill>
          <a:ln w="6350">
            <a:solidFill>
              <a:srgbClr val="C0DEE8"/>
            </a:solidFill>
            <a:prstDash val="solid"/>
          </a:ln>
        </p:spPr>
      </p:sp>
      <p:sp>
        <p:nvSpPr>
          <p:cNvPr id="53" name="Text 51"/>
          <p:cNvSpPr/>
          <p:nvPr/>
        </p:nvSpPr>
        <p:spPr>
          <a:xfrm>
            <a:off x="7680960" y="3474720"/>
            <a:ext cx="67665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.000</a:t>
            </a:r>
            <a:endParaRPr lang="en-US" sz="850" dirty="0"/>
          </a:p>
        </p:txBody>
      </p:sp>
      <p:sp>
        <p:nvSpPr>
          <p:cNvPr id="54" name="Shape 52"/>
          <p:cNvSpPr/>
          <p:nvPr/>
        </p:nvSpPr>
        <p:spPr>
          <a:xfrm>
            <a:off x="4773168" y="3767328"/>
            <a:ext cx="1627632" cy="292608"/>
          </a:xfrm>
          <a:prstGeom prst="rect">
            <a:avLst/>
          </a:prstGeom>
          <a:solidFill>
            <a:srgbClr val="EAF6FA"/>
          </a:solidFill>
          <a:ln w="6350">
            <a:solidFill>
              <a:srgbClr val="C0DEE8"/>
            </a:solidFill>
            <a:prstDash val="solid"/>
          </a:ln>
        </p:spPr>
      </p:sp>
      <p:sp>
        <p:nvSpPr>
          <p:cNvPr id="55" name="Text 53"/>
          <p:cNvSpPr/>
          <p:nvPr/>
        </p:nvSpPr>
        <p:spPr>
          <a:xfrm>
            <a:off x="4773168" y="3767328"/>
            <a:ext cx="162763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N of Valid Cases</a:t>
            </a:r>
            <a:endParaRPr lang="en-US" sz="850" dirty="0"/>
          </a:p>
        </p:txBody>
      </p:sp>
      <p:sp>
        <p:nvSpPr>
          <p:cNvPr id="56" name="Shape 54"/>
          <p:cNvSpPr/>
          <p:nvPr/>
        </p:nvSpPr>
        <p:spPr>
          <a:xfrm>
            <a:off x="6400800" y="3767328"/>
            <a:ext cx="822960" cy="292608"/>
          </a:xfrm>
          <a:prstGeom prst="rect">
            <a:avLst/>
          </a:prstGeom>
          <a:solidFill>
            <a:srgbClr val="EAF6FA"/>
          </a:solidFill>
          <a:ln w="6350">
            <a:solidFill>
              <a:srgbClr val="C0DEE8"/>
            </a:solidFill>
            <a:prstDash val="solid"/>
          </a:ln>
        </p:spPr>
      </p:sp>
      <p:sp>
        <p:nvSpPr>
          <p:cNvPr id="57" name="Text 55"/>
          <p:cNvSpPr/>
          <p:nvPr/>
        </p:nvSpPr>
        <p:spPr>
          <a:xfrm>
            <a:off x="6400800" y="3767328"/>
            <a:ext cx="82296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450</a:t>
            </a:r>
            <a:endParaRPr lang="en-US" sz="850" dirty="0"/>
          </a:p>
        </p:txBody>
      </p:sp>
      <p:sp>
        <p:nvSpPr>
          <p:cNvPr id="58" name="Shape 56"/>
          <p:cNvSpPr/>
          <p:nvPr/>
        </p:nvSpPr>
        <p:spPr>
          <a:xfrm>
            <a:off x="7223760" y="3767328"/>
            <a:ext cx="457200" cy="292608"/>
          </a:xfrm>
          <a:prstGeom prst="rect">
            <a:avLst/>
          </a:prstGeom>
          <a:solidFill>
            <a:srgbClr val="EAF6FA"/>
          </a:solidFill>
          <a:ln w="6350">
            <a:solidFill>
              <a:srgbClr val="C0DEE8"/>
            </a:solidFill>
            <a:prstDash val="solid"/>
          </a:ln>
        </p:spPr>
      </p:sp>
      <p:sp>
        <p:nvSpPr>
          <p:cNvPr id="59" name="Text 57"/>
          <p:cNvSpPr/>
          <p:nvPr/>
        </p:nvSpPr>
        <p:spPr>
          <a:xfrm>
            <a:off x="7223760" y="3767328"/>
            <a:ext cx="457200" cy="292608"/>
          </a:xfrm>
          <a:prstGeom prst="rect">
            <a:avLst/>
          </a:prstGeom>
          <a:noFill/>
          <a:ln/>
        </p:spPr>
        <p:txBody>
          <a:bodyPr wrap="square" lIns="0" tIns="0" rIns="0" bIns="0" rtlCol="0" anchor="ctr"/>
          <a:lstStyle/>
          <a:p>
            <a:pPr algn="ctr" indent="0" marL="0">
              <a:buNone/>
            </a:pPr>
            <a:endParaRPr lang="en-US" sz="850" dirty="0"/>
          </a:p>
        </p:txBody>
      </p:sp>
      <p:sp>
        <p:nvSpPr>
          <p:cNvPr id="60" name="Shape 58"/>
          <p:cNvSpPr/>
          <p:nvPr/>
        </p:nvSpPr>
        <p:spPr>
          <a:xfrm>
            <a:off x="7680960" y="3767328"/>
            <a:ext cx="676656" cy="292608"/>
          </a:xfrm>
          <a:prstGeom prst="rect">
            <a:avLst/>
          </a:prstGeom>
          <a:solidFill>
            <a:srgbClr val="EAF6FA"/>
          </a:solidFill>
          <a:ln w="6350">
            <a:solidFill>
              <a:srgbClr val="C0DEE8"/>
            </a:solidFill>
            <a:prstDash val="solid"/>
          </a:ln>
        </p:spPr>
      </p:sp>
      <p:sp>
        <p:nvSpPr>
          <p:cNvPr id="61" name="Text 59"/>
          <p:cNvSpPr/>
          <p:nvPr/>
        </p:nvSpPr>
        <p:spPr>
          <a:xfrm>
            <a:off x="7680960" y="3767328"/>
            <a:ext cx="676656" cy="292608"/>
          </a:xfrm>
          <a:prstGeom prst="rect">
            <a:avLst/>
          </a:prstGeom>
          <a:noFill/>
          <a:ln/>
        </p:spPr>
        <p:txBody>
          <a:bodyPr wrap="square" lIns="0" tIns="0" rIns="0" bIns="0" rtlCol="0" anchor="ctr"/>
          <a:lstStyle/>
          <a:p>
            <a:pPr algn="ctr" indent="0" marL="0">
              <a:buNone/>
            </a:pPr>
            <a:endParaRPr lang="en-US" sz="850" dirty="0"/>
          </a:p>
        </p:txBody>
      </p:sp>
      <p:sp>
        <p:nvSpPr>
          <p:cNvPr id="62" name="Text 60"/>
          <p:cNvSpPr/>
          <p:nvPr/>
        </p:nvSpPr>
        <p:spPr>
          <a:xfrm>
            <a:off x="4773168" y="3602736"/>
            <a:ext cx="3931920" cy="2011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Effect Size:</a:t>
            </a:r>
            <a:endParaRPr lang="en-US" sz="950" dirty="0"/>
          </a:p>
        </p:txBody>
      </p:sp>
      <p:sp>
        <p:nvSpPr>
          <p:cNvPr id="63" name="Shape 61"/>
          <p:cNvSpPr/>
          <p:nvPr/>
        </p:nvSpPr>
        <p:spPr>
          <a:xfrm>
            <a:off x="4773168" y="3822192"/>
            <a:ext cx="2011680" cy="292608"/>
          </a:xfrm>
          <a:prstGeom prst="rect">
            <a:avLst/>
          </a:prstGeom>
          <a:solidFill>
            <a:srgbClr val="061A24"/>
          </a:solidFill>
          <a:ln w="12700">
            <a:solidFill>
              <a:srgbClr val="061A24"/>
            </a:solidFill>
            <a:prstDash val="solid"/>
          </a:ln>
        </p:spPr>
      </p:sp>
      <p:sp>
        <p:nvSpPr>
          <p:cNvPr id="64" name="Text 62"/>
          <p:cNvSpPr/>
          <p:nvPr/>
        </p:nvSpPr>
        <p:spPr>
          <a:xfrm>
            <a:off x="4773168" y="3822192"/>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Measure</a:t>
            </a:r>
            <a:endParaRPr lang="en-US" sz="850" dirty="0"/>
          </a:p>
        </p:txBody>
      </p:sp>
      <p:sp>
        <p:nvSpPr>
          <p:cNvPr id="65" name="Shape 63"/>
          <p:cNvSpPr/>
          <p:nvPr/>
        </p:nvSpPr>
        <p:spPr>
          <a:xfrm>
            <a:off x="6784848" y="3822192"/>
            <a:ext cx="1938528" cy="292608"/>
          </a:xfrm>
          <a:prstGeom prst="rect">
            <a:avLst/>
          </a:prstGeom>
          <a:solidFill>
            <a:srgbClr val="061A24"/>
          </a:solidFill>
          <a:ln w="12700">
            <a:solidFill>
              <a:srgbClr val="061A24"/>
            </a:solidFill>
            <a:prstDash val="solid"/>
          </a:ln>
        </p:spPr>
      </p:sp>
      <p:sp>
        <p:nvSpPr>
          <p:cNvPr id="66" name="Text 64"/>
          <p:cNvSpPr/>
          <p:nvPr/>
        </p:nvSpPr>
        <p:spPr>
          <a:xfrm>
            <a:off x="6784848" y="3822192"/>
            <a:ext cx="19385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p>
        </p:txBody>
      </p:sp>
      <p:sp>
        <p:nvSpPr>
          <p:cNvPr id="67" name="Shape 65"/>
          <p:cNvSpPr/>
          <p:nvPr/>
        </p:nvSpPr>
        <p:spPr>
          <a:xfrm>
            <a:off x="4773168" y="4114800"/>
            <a:ext cx="2011680" cy="292608"/>
          </a:xfrm>
          <a:prstGeom prst="rect">
            <a:avLst/>
          </a:prstGeom>
          <a:solidFill>
            <a:srgbClr val="EAF6FA"/>
          </a:solidFill>
          <a:ln w="6350">
            <a:solidFill>
              <a:srgbClr val="C0DEE8"/>
            </a:solidFill>
            <a:prstDash val="solid"/>
          </a:ln>
        </p:spPr>
      </p:sp>
      <p:sp>
        <p:nvSpPr>
          <p:cNvPr id="68" name="Text 66"/>
          <p:cNvSpPr/>
          <p:nvPr/>
        </p:nvSpPr>
        <p:spPr>
          <a:xfrm>
            <a:off x="4773168" y="4114800"/>
            <a:ext cx="201168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Phi</a:t>
            </a:r>
            <a:endParaRPr lang="en-US" sz="850" dirty="0"/>
          </a:p>
        </p:txBody>
      </p:sp>
      <p:sp>
        <p:nvSpPr>
          <p:cNvPr id="69" name="Shape 67"/>
          <p:cNvSpPr/>
          <p:nvPr/>
        </p:nvSpPr>
        <p:spPr>
          <a:xfrm>
            <a:off x="6784848" y="4114800"/>
            <a:ext cx="1938528" cy="292608"/>
          </a:xfrm>
          <a:prstGeom prst="rect">
            <a:avLst/>
          </a:prstGeom>
          <a:solidFill>
            <a:srgbClr val="EAF6FA"/>
          </a:solidFill>
          <a:ln w="6350">
            <a:solidFill>
              <a:srgbClr val="C0DEE8"/>
            </a:solidFill>
            <a:prstDash val="solid"/>
          </a:ln>
        </p:spPr>
      </p:sp>
      <p:sp>
        <p:nvSpPr>
          <p:cNvPr id="70" name="Text 68"/>
          <p:cNvSpPr/>
          <p:nvPr/>
        </p:nvSpPr>
        <p:spPr>
          <a:xfrm>
            <a:off x="6784848" y="4114800"/>
            <a:ext cx="19385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.235</a:t>
            </a:r>
            <a:endParaRPr lang="en-US" sz="850" dirty="0"/>
          </a:p>
        </p:txBody>
      </p:sp>
      <p:sp>
        <p:nvSpPr>
          <p:cNvPr id="71" name="Shape 69"/>
          <p:cNvSpPr/>
          <p:nvPr/>
        </p:nvSpPr>
        <p:spPr>
          <a:xfrm>
            <a:off x="4773168" y="4407408"/>
            <a:ext cx="2011680" cy="292608"/>
          </a:xfrm>
          <a:prstGeom prst="rect">
            <a:avLst/>
          </a:prstGeom>
          <a:solidFill>
            <a:srgbClr val="FFFFFF"/>
          </a:solidFill>
          <a:ln w="6350">
            <a:solidFill>
              <a:srgbClr val="C0DEE8"/>
            </a:solidFill>
            <a:prstDash val="solid"/>
          </a:ln>
        </p:spPr>
      </p:sp>
      <p:sp>
        <p:nvSpPr>
          <p:cNvPr id="72" name="Text 70"/>
          <p:cNvSpPr/>
          <p:nvPr/>
        </p:nvSpPr>
        <p:spPr>
          <a:xfrm>
            <a:off x="4773168" y="4407408"/>
            <a:ext cx="201168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Cramer's V</a:t>
            </a:r>
            <a:endParaRPr lang="en-US" sz="850" dirty="0"/>
          </a:p>
        </p:txBody>
      </p:sp>
      <p:sp>
        <p:nvSpPr>
          <p:cNvPr id="73" name="Shape 71"/>
          <p:cNvSpPr/>
          <p:nvPr/>
        </p:nvSpPr>
        <p:spPr>
          <a:xfrm>
            <a:off x="6784848" y="4407408"/>
            <a:ext cx="1938528" cy="292608"/>
          </a:xfrm>
          <a:prstGeom prst="rect">
            <a:avLst/>
          </a:prstGeom>
          <a:solidFill>
            <a:srgbClr val="D0EEF4"/>
          </a:solidFill>
          <a:ln w="6350">
            <a:solidFill>
              <a:srgbClr val="C0DEE8"/>
            </a:solidFill>
            <a:prstDash val="solid"/>
          </a:ln>
        </p:spPr>
      </p:sp>
      <p:sp>
        <p:nvSpPr>
          <p:cNvPr id="74" name="Text 72"/>
          <p:cNvSpPr/>
          <p:nvPr/>
        </p:nvSpPr>
        <p:spPr>
          <a:xfrm>
            <a:off x="6784848" y="4407408"/>
            <a:ext cx="193852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.235</a:t>
            </a:r>
            <a:endParaRPr lang="en-US" sz="850" dirty="0"/>
          </a:p>
        </p:txBody>
      </p:sp>
      <p:sp>
        <p:nvSpPr>
          <p:cNvPr id="75" name="Text 73"/>
          <p:cNvSpPr/>
          <p:nvPr/>
        </p:nvSpPr>
        <p:spPr>
          <a:xfrm>
            <a:off x="4773168" y="4334256"/>
            <a:ext cx="3931920" cy="566928"/>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Interpretation: χ²(4, N=450) = 24.83, p &lt; .001, Cramer's V = .235 (small-medium). Gender and product preference are significantly associated. Female consumers notably prefer Deli Foods; males prefer Gala.</a:t>
            </a:r>
            <a:endParaRPr lang="en-US" sz="900" dirty="0"/>
          </a:p>
        </p:txBody>
      </p:sp>
      <p:sp>
        <p:nvSpPr>
          <p:cNvPr id="76" name="Shape 74"/>
          <p:cNvSpPr/>
          <p:nvPr/>
        </p:nvSpPr>
        <p:spPr>
          <a:xfrm>
            <a:off x="256032" y="5102352"/>
            <a:ext cx="8631936" cy="365760"/>
          </a:xfrm>
          <a:prstGeom prst="roundRect">
            <a:avLst>
              <a:gd name="adj" fmla="val 15000"/>
            </a:avLst>
          </a:prstGeom>
          <a:solidFill>
            <a:srgbClr val="FEF0ED"/>
          </a:solidFill>
          <a:ln w="19050">
            <a:solidFill>
              <a:srgbClr val="C0392B"/>
            </a:solidFill>
            <a:prstDash val="solid"/>
          </a:ln>
        </p:spPr>
      </p:sp>
      <p:sp>
        <p:nvSpPr>
          <p:cNvPr id="77" name="Text 75"/>
          <p:cNvSpPr/>
          <p:nvPr/>
        </p:nvSpPr>
        <p:spPr>
          <a:xfrm>
            <a:off x="384048" y="5102352"/>
            <a:ext cx="8449056" cy="365760"/>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Assumption: No cell should have expected count &lt; 5 (and ideally 0 cells &lt; 5). Check the footnote below the Chi-Square table. If violated, collapse categories or use Fisher's Exact Test.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7">
              <a:alpha val="14000"/>
            </a:srgbClr>
          </a:solidFill>
          <a:ln w="12700">
            <a:solidFill>
              <a:srgbClr val="D4A017"/>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Reading Chi-Square Output - Adjusted Residuals and Write-Up</a:t>
            </a:r>
            <a:endParaRPr lang="en-US" sz="2600" dirty="0"/>
          </a:p>
        </p:txBody>
      </p:sp>
      <p:sp>
        <p:nvSpPr>
          <p:cNvPr id="4" name="Shape 2"/>
          <p:cNvSpPr/>
          <p:nvPr/>
        </p:nvSpPr>
        <p:spPr>
          <a:xfrm>
            <a:off x="274320" y="914400"/>
            <a:ext cx="5029200" cy="4133088"/>
          </a:xfrm>
          <a:prstGeom prst="roundRect">
            <a:avLst>
              <a:gd name="adj" fmla="val 2212"/>
            </a:avLst>
          </a:prstGeom>
          <a:solidFill>
            <a:srgbClr val="0B2E40"/>
          </a:solidFill>
          <a:ln w="12700">
            <a:solidFill>
              <a:srgbClr val="17A2B8"/>
            </a:solidFill>
            <a:prstDash val="solid"/>
          </a:ln>
        </p:spPr>
      </p:sp>
      <p:sp>
        <p:nvSpPr>
          <p:cNvPr id="5" name="Text 3"/>
          <p:cNvSpPr/>
          <p:nvPr/>
        </p:nvSpPr>
        <p:spPr>
          <a:xfrm>
            <a:off x="384048" y="987552"/>
            <a:ext cx="4791456"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Identifying Which Cells Drive Significance</a:t>
            </a:r>
            <a:endParaRPr lang="en-US" sz="1100" dirty="0"/>
          </a:p>
        </p:txBody>
      </p:sp>
      <p:sp>
        <p:nvSpPr>
          <p:cNvPr id="6" name="Text 4"/>
          <p:cNvSpPr/>
          <p:nvPr/>
        </p:nvSpPr>
        <p:spPr>
          <a:xfrm>
            <a:off x="384048" y="1316736"/>
            <a:ext cx="4791456" cy="475488"/>
          </a:xfrm>
          <a:prstGeom prst="rect">
            <a:avLst/>
          </a:prstGeom>
          <a:noFill/>
          <a:ln/>
        </p:spPr>
        <p:txBody>
          <a:bodyPr wrap="square" lIns="0" tIns="0" rIns="0" bIns="0" rtlCol="0" anchor="ctr"/>
          <a:lstStyle/>
          <a:p>
            <a:pPr indent="0" marL="0">
              <a:buNone/>
            </a:pPr>
            <a:r>
              <a:rPr lang="en-US" sz="950" dirty="0">
                <a:solidFill>
                  <a:srgbClr val="90D4E0"/>
                </a:solidFill>
                <a:latin typeface="Calibri" pitchFamily="34" charset="0"/>
                <a:ea typeface="Calibri" pitchFamily="34" charset="-122"/>
                <a:cs typeface="Calibri" pitchFamily="34" charset="-120"/>
              </a:rPr>
              <a:t>After a significant chi-square, use ADJUSTED STANDARDISED RESIDUALS to find which specific cells contribute most. Values &gt; +1.96 or &lt; -1.96 are significantly over- or under-represented.</a:t>
            </a:r>
            <a:endParaRPr lang="en-US" sz="950" dirty="0"/>
          </a:p>
        </p:txBody>
      </p:sp>
      <p:sp>
        <p:nvSpPr>
          <p:cNvPr id="7" name="Text 5"/>
          <p:cNvSpPr/>
          <p:nvPr/>
        </p:nvSpPr>
        <p:spPr>
          <a:xfrm>
            <a:off x="384048" y="1828800"/>
            <a:ext cx="4791456" cy="256032"/>
          </a:xfrm>
          <a:prstGeom prst="rect">
            <a:avLst/>
          </a:prstGeom>
          <a:noFill/>
          <a:ln/>
        </p:spPr>
        <p:txBody>
          <a:bodyPr wrap="square" lIns="0" tIns="0" rIns="0" bIns="0" rtlCol="0" anchor="ctr"/>
          <a:lstStyle/>
          <a:p>
            <a:pPr indent="0" marL="0">
              <a:buNone/>
            </a:pPr>
            <a:r>
              <a:rPr lang="en-US" sz="900" i="1" dirty="0">
                <a:solidFill>
                  <a:srgbClr val="17A2B8"/>
                </a:solidFill>
                <a:latin typeface="Calibri" pitchFamily="34" charset="0"/>
                <a:ea typeface="Calibri" pitchFamily="34" charset="-122"/>
                <a:cs typeface="Calibri" pitchFamily="34" charset="-120"/>
              </a:rPr>
              <a:t>Request residuals: Crosstabs &gt; Cells &gt; check Adjusted Standardised residuals</a:t>
            </a:r>
            <a:endParaRPr lang="en-US" sz="900" dirty="0"/>
          </a:p>
        </p:txBody>
      </p:sp>
      <p:sp>
        <p:nvSpPr>
          <p:cNvPr id="8" name="Text 6"/>
          <p:cNvSpPr/>
          <p:nvPr/>
        </p:nvSpPr>
        <p:spPr>
          <a:xfrm>
            <a:off x="384048" y="2139696"/>
            <a:ext cx="4791456" cy="237744"/>
          </a:xfrm>
          <a:prstGeom prst="rect">
            <a:avLst/>
          </a:prstGeom>
          <a:noFill/>
          <a:ln/>
        </p:spPr>
        <p:txBody>
          <a:bodyPr wrap="square" lIns="0" tIns="0" rIns="0" bIns="0" rtlCol="0" anchor="ctr"/>
          <a:lstStyle/>
          <a:p>
            <a:pPr indent="0" marL="0">
              <a:buNone/>
            </a:pPr>
            <a:r>
              <a:rPr lang="en-US" sz="950" b="1" dirty="0">
                <a:solidFill>
                  <a:srgbClr val="17A2B8"/>
                </a:solidFill>
                <a:latin typeface="Calibri" pitchFamily="34" charset="0"/>
                <a:ea typeface="Calibri" pitchFamily="34" charset="-122"/>
                <a:cs typeface="Calibri" pitchFamily="34" charset="-120"/>
              </a:rPr>
              <a:t>Product × Gender - Adjusted Residuals</a:t>
            </a:r>
            <a:endParaRPr lang="en-US" sz="950" dirty="0"/>
          </a:p>
        </p:txBody>
      </p:sp>
      <p:sp>
        <p:nvSpPr>
          <p:cNvPr id="9" name="Shape 7"/>
          <p:cNvSpPr/>
          <p:nvPr/>
        </p:nvSpPr>
        <p:spPr>
          <a:xfrm>
            <a:off x="384048" y="2395728"/>
            <a:ext cx="1005840" cy="292608"/>
          </a:xfrm>
          <a:prstGeom prst="rect">
            <a:avLst/>
          </a:prstGeom>
          <a:solidFill>
            <a:srgbClr val="061A24"/>
          </a:solidFill>
          <a:ln w="12700">
            <a:solidFill>
              <a:srgbClr val="061A24"/>
            </a:solidFill>
            <a:prstDash val="solid"/>
          </a:ln>
        </p:spPr>
      </p:sp>
      <p:sp>
        <p:nvSpPr>
          <p:cNvPr id="10" name="Text 8"/>
          <p:cNvSpPr/>
          <p:nvPr/>
        </p:nvSpPr>
        <p:spPr>
          <a:xfrm>
            <a:off x="384048" y="2395728"/>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Product</a:t>
            </a:r>
            <a:endParaRPr lang="en-US" sz="850" dirty="0"/>
          </a:p>
        </p:txBody>
      </p:sp>
      <p:sp>
        <p:nvSpPr>
          <p:cNvPr id="11" name="Shape 9"/>
          <p:cNvSpPr/>
          <p:nvPr/>
        </p:nvSpPr>
        <p:spPr>
          <a:xfrm>
            <a:off x="1389888" y="2395728"/>
            <a:ext cx="1828800" cy="292608"/>
          </a:xfrm>
          <a:prstGeom prst="rect">
            <a:avLst/>
          </a:prstGeom>
          <a:solidFill>
            <a:srgbClr val="061A24"/>
          </a:solidFill>
          <a:ln w="12700">
            <a:solidFill>
              <a:srgbClr val="061A24"/>
            </a:solidFill>
            <a:prstDash val="solid"/>
          </a:ln>
        </p:spPr>
      </p:sp>
      <p:sp>
        <p:nvSpPr>
          <p:cNvPr id="12" name="Text 10"/>
          <p:cNvSpPr/>
          <p:nvPr/>
        </p:nvSpPr>
        <p:spPr>
          <a:xfrm>
            <a:off x="1389888" y="2395728"/>
            <a:ext cx="18288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Male: N (Adj R)</a:t>
            </a:r>
            <a:endParaRPr lang="en-US" sz="850" dirty="0"/>
          </a:p>
        </p:txBody>
      </p:sp>
      <p:sp>
        <p:nvSpPr>
          <p:cNvPr id="13" name="Shape 11"/>
          <p:cNvSpPr/>
          <p:nvPr/>
        </p:nvSpPr>
        <p:spPr>
          <a:xfrm>
            <a:off x="3218688" y="2395728"/>
            <a:ext cx="1828800" cy="292608"/>
          </a:xfrm>
          <a:prstGeom prst="rect">
            <a:avLst/>
          </a:prstGeom>
          <a:solidFill>
            <a:srgbClr val="061A24"/>
          </a:solidFill>
          <a:ln w="12700">
            <a:solidFill>
              <a:srgbClr val="061A24"/>
            </a:solidFill>
            <a:prstDash val="solid"/>
          </a:ln>
        </p:spPr>
      </p:sp>
      <p:sp>
        <p:nvSpPr>
          <p:cNvPr id="14" name="Text 12"/>
          <p:cNvSpPr/>
          <p:nvPr/>
        </p:nvSpPr>
        <p:spPr>
          <a:xfrm>
            <a:off x="3218688" y="2395728"/>
            <a:ext cx="18288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Female: N (Adj R)</a:t>
            </a:r>
            <a:endParaRPr lang="en-US" sz="850" dirty="0"/>
          </a:p>
        </p:txBody>
      </p:sp>
      <p:sp>
        <p:nvSpPr>
          <p:cNvPr id="15" name="Shape 13"/>
          <p:cNvSpPr/>
          <p:nvPr/>
        </p:nvSpPr>
        <p:spPr>
          <a:xfrm>
            <a:off x="384048" y="2688336"/>
            <a:ext cx="1005840" cy="292608"/>
          </a:xfrm>
          <a:prstGeom prst="rect">
            <a:avLst/>
          </a:prstGeom>
          <a:solidFill>
            <a:srgbClr val="0B2030"/>
          </a:solidFill>
          <a:ln w="6350">
            <a:solidFill>
              <a:srgbClr val="C0DEE8"/>
            </a:solidFill>
            <a:prstDash val="solid"/>
          </a:ln>
        </p:spPr>
      </p:sp>
      <p:sp>
        <p:nvSpPr>
          <p:cNvPr id="16" name="Text 14"/>
          <p:cNvSpPr/>
          <p:nvPr/>
        </p:nvSpPr>
        <p:spPr>
          <a:xfrm>
            <a:off x="384048" y="2688336"/>
            <a:ext cx="100584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Gala</a:t>
            </a:r>
            <a:endParaRPr lang="en-US" sz="850" dirty="0"/>
          </a:p>
        </p:txBody>
      </p:sp>
      <p:sp>
        <p:nvSpPr>
          <p:cNvPr id="17" name="Shape 15"/>
          <p:cNvSpPr/>
          <p:nvPr/>
        </p:nvSpPr>
        <p:spPr>
          <a:xfrm>
            <a:off x="1389888" y="2688336"/>
            <a:ext cx="1828800" cy="292608"/>
          </a:xfrm>
          <a:prstGeom prst="rect">
            <a:avLst/>
          </a:prstGeom>
          <a:solidFill>
            <a:srgbClr val="0B2030"/>
          </a:solidFill>
          <a:ln w="6350">
            <a:solidFill>
              <a:srgbClr val="C0DEE8"/>
            </a:solidFill>
            <a:prstDash val="solid"/>
          </a:ln>
        </p:spPr>
      </p:sp>
      <p:sp>
        <p:nvSpPr>
          <p:cNvPr id="18" name="Text 16"/>
          <p:cNvSpPr/>
          <p:nvPr/>
        </p:nvSpPr>
        <p:spPr>
          <a:xfrm>
            <a:off x="1389888" y="2688336"/>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111 (+2.8*)</a:t>
            </a:r>
            <a:endParaRPr lang="en-US" sz="850" dirty="0"/>
          </a:p>
        </p:txBody>
      </p:sp>
      <p:sp>
        <p:nvSpPr>
          <p:cNvPr id="19" name="Shape 17"/>
          <p:cNvSpPr/>
          <p:nvPr/>
        </p:nvSpPr>
        <p:spPr>
          <a:xfrm>
            <a:off x="3218688" y="2688336"/>
            <a:ext cx="1828800" cy="292608"/>
          </a:xfrm>
          <a:prstGeom prst="rect">
            <a:avLst/>
          </a:prstGeom>
          <a:solidFill>
            <a:srgbClr val="0B2030"/>
          </a:solidFill>
          <a:ln w="6350">
            <a:solidFill>
              <a:srgbClr val="C0DEE8"/>
            </a:solidFill>
            <a:prstDash val="solid"/>
          </a:ln>
        </p:spPr>
      </p:sp>
      <p:sp>
        <p:nvSpPr>
          <p:cNvPr id="20" name="Text 18"/>
          <p:cNvSpPr/>
          <p:nvPr/>
        </p:nvSpPr>
        <p:spPr>
          <a:xfrm>
            <a:off x="3218688" y="2688336"/>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61 (-2.8*)</a:t>
            </a:r>
            <a:endParaRPr lang="en-US" sz="850" dirty="0"/>
          </a:p>
        </p:txBody>
      </p:sp>
      <p:sp>
        <p:nvSpPr>
          <p:cNvPr id="21" name="Shape 19"/>
          <p:cNvSpPr/>
          <p:nvPr/>
        </p:nvSpPr>
        <p:spPr>
          <a:xfrm>
            <a:off x="384048" y="2980944"/>
            <a:ext cx="1005840" cy="292608"/>
          </a:xfrm>
          <a:prstGeom prst="rect">
            <a:avLst/>
          </a:prstGeom>
          <a:solidFill>
            <a:srgbClr val="0B2E40"/>
          </a:solidFill>
          <a:ln w="6350">
            <a:solidFill>
              <a:srgbClr val="C0DEE8"/>
            </a:solidFill>
            <a:prstDash val="solid"/>
          </a:ln>
        </p:spPr>
      </p:sp>
      <p:sp>
        <p:nvSpPr>
          <p:cNvPr id="22" name="Text 20"/>
          <p:cNvSpPr/>
          <p:nvPr/>
        </p:nvSpPr>
        <p:spPr>
          <a:xfrm>
            <a:off x="384048" y="2980944"/>
            <a:ext cx="100584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Deli</a:t>
            </a:r>
            <a:endParaRPr lang="en-US" sz="850" dirty="0"/>
          </a:p>
        </p:txBody>
      </p:sp>
      <p:sp>
        <p:nvSpPr>
          <p:cNvPr id="23" name="Shape 21"/>
          <p:cNvSpPr/>
          <p:nvPr/>
        </p:nvSpPr>
        <p:spPr>
          <a:xfrm>
            <a:off x="1389888" y="2980944"/>
            <a:ext cx="1828800" cy="292608"/>
          </a:xfrm>
          <a:prstGeom prst="rect">
            <a:avLst/>
          </a:prstGeom>
          <a:solidFill>
            <a:srgbClr val="0B2E40"/>
          </a:solidFill>
          <a:ln w="6350">
            <a:solidFill>
              <a:srgbClr val="C0DEE8"/>
            </a:solidFill>
            <a:prstDash val="solid"/>
          </a:ln>
        </p:spPr>
      </p:sp>
      <p:sp>
        <p:nvSpPr>
          <p:cNvPr id="24" name="Text 22"/>
          <p:cNvSpPr/>
          <p:nvPr/>
        </p:nvSpPr>
        <p:spPr>
          <a:xfrm>
            <a:off x="1389888" y="2980944"/>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49 (-3.1*)</a:t>
            </a:r>
            <a:endParaRPr lang="en-US" sz="850" dirty="0"/>
          </a:p>
        </p:txBody>
      </p:sp>
      <p:sp>
        <p:nvSpPr>
          <p:cNvPr id="25" name="Shape 23"/>
          <p:cNvSpPr/>
          <p:nvPr/>
        </p:nvSpPr>
        <p:spPr>
          <a:xfrm>
            <a:off x="3218688" y="2980944"/>
            <a:ext cx="1828800" cy="292608"/>
          </a:xfrm>
          <a:prstGeom prst="rect">
            <a:avLst/>
          </a:prstGeom>
          <a:solidFill>
            <a:srgbClr val="0B2E40"/>
          </a:solidFill>
          <a:ln w="6350">
            <a:solidFill>
              <a:srgbClr val="C0DEE8"/>
            </a:solidFill>
            <a:prstDash val="solid"/>
          </a:ln>
        </p:spPr>
      </p:sp>
      <p:sp>
        <p:nvSpPr>
          <p:cNvPr id="26" name="Text 24"/>
          <p:cNvSpPr/>
          <p:nvPr/>
        </p:nvSpPr>
        <p:spPr>
          <a:xfrm>
            <a:off x="3218688" y="2980944"/>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59 (+3.1*)</a:t>
            </a:r>
            <a:endParaRPr lang="en-US" sz="850" dirty="0"/>
          </a:p>
        </p:txBody>
      </p:sp>
      <p:sp>
        <p:nvSpPr>
          <p:cNvPr id="27" name="Shape 25"/>
          <p:cNvSpPr/>
          <p:nvPr/>
        </p:nvSpPr>
        <p:spPr>
          <a:xfrm>
            <a:off x="384048" y="3273552"/>
            <a:ext cx="1005840" cy="292608"/>
          </a:xfrm>
          <a:prstGeom prst="rect">
            <a:avLst/>
          </a:prstGeom>
          <a:solidFill>
            <a:srgbClr val="0B2030"/>
          </a:solidFill>
          <a:ln w="6350">
            <a:solidFill>
              <a:srgbClr val="C0DEE8"/>
            </a:solidFill>
            <a:prstDash val="solid"/>
          </a:ln>
        </p:spPr>
      </p:sp>
      <p:sp>
        <p:nvSpPr>
          <p:cNvPr id="28" name="Text 26"/>
          <p:cNvSpPr/>
          <p:nvPr/>
        </p:nvSpPr>
        <p:spPr>
          <a:xfrm>
            <a:off x="384048" y="3273552"/>
            <a:ext cx="100584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Mr. Biggs</a:t>
            </a:r>
            <a:endParaRPr lang="en-US" sz="850" dirty="0"/>
          </a:p>
        </p:txBody>
      </p:sp>
      <p:sp>
        <p:nvSpPr>
          <p:cNvPr id="29" name="Shape 27"/>
          <p:cNvSpPr/>
          <p:nvPr/>
        </p:nvSpPr>
        <p:spPr>
          <a:xfrm>
            <a:off x="1389888" y="3273552"/>
            <a:ext cx="1828800" cy="292608"/>
          </a:xfrm>
          <a:prstGeom prst="rect">
            <a:avLst/>
          </a:prstGeom>
          <a:solidFill>
            <a:srgbClr val="0B2030"/>
          </a:solidFill>
          <a:ln w="6350">
            <a:solidFill>
              <a:srgbClr val="C0DEE8"/>
            </a:solidFill>
            <a:prstDash val="solid"/>
          </a:ln>
        </p:spPr>
      </p:sp>
      <p:sp>
        <p:nvSpPr>
          <p:cNvPr id="30" name="Text 28"/>
          <p:cNvSpPr/>
          <p:nvPr/>
        </p:nvSpPr>
        <p:spPr>
          <a:xfrm>
            <a:off x="1389888" y="3273552"/>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59 (+1.7)</a:t>
            </a:r>
            <a:endParaRPr lang="en-US" sz="850" dirty="0"/>
          </a:p>
        </p:txBody>
      </p:sp>
      <p:sp>
        <p:nvSpPr>
          <p:cNvPr id="31" name="Shape 29"/>
          <p:cNvSpPr/>
          <p:nvPr/>
        </p:nvSpPr>
        <p:spPr>
          <a:xfrm>
            <a:off x="3218688" y="3273552"/>
            <a:ext cx="1828800" cy="292608"/>
          </a:xfrm>
          <a:prstGeom prst="rect">
            <a:avLst/>
          </a:prstGeom>
          <a:solidFill>
            <a:srgbClr val="0B2030"/>
          </a:solidFill>
          <a:ln w="6350">
            <a:solidFill>
              <a:srgbClr val="C0DEE8"/>
            </a:solidFill>
            <a:prstDash val="solid"/>
          </a:ln>
        </p:spPr>
      </p:sp>
      <p:sp>
        <p:nvSpPr>
          <p:cNvPr id="32" name="Text 30"/>
          <p:cNvSpPr/>
          <p:nvPr/>
        </p:nvSpPr>
        <p:spPr>
          <a:xfrm>
            <a:off x="3218688" y="3273552"/>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27 (-1.7)</a:t>
            </a:r>
            <a:endParaRPr lang="en-US" sz="850" dirty="0"/>
          </a:p>
        </p:txBody>
      </p:sp>
      <p:sp>
        <p:nvSpPr>
          <p:cNvPr id="33" name="Shape 31"/>
          <p:cNvSpPr/>
          <p:nvPr/>
        </p:nvSpPr>
        <p:spPr>
          <a:xfrm>
            <a:off x="384048" y="3566160"/>
            <a:ext cx="1005840" cy="292608"/>
          </a:xfrm>
          <a:prstGeom prst="rect">
            <a:avLst/>
          </a:prstGeom>
          <a:solidFill>
            <a:srgbClr val="0B2E40"/>
          </a:solidFill>
          <a:ln w="6350">
            <a:solidFill>
              <a:srgbClr val="C0DEE8"/>
            </a:solidFill>
            <a:prstDash val="solid"/>
          </a:ln>
        </p:spPr>
      </p:sp>
      <p:sp>
        <p:nvSpPr>
          <p:cNvPr id="34" name="Text 32"/>
          <p:cNvSpPr/>
          <p:nvPr/>
        </p:nvSpPr>
        <p:spPr>
          <a:xfrm>
            <a:off x="384048" y="3566160"/>
            <a:ext cx="100584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Supreme</a:t>
            </a:r>
            <a:endParaRPr lang="en-US" sz="850" dirty="0"/>
          </a:p>
        </p:txBody>
      </p:sp>
      <p:sp>
        <p:nvSpPr>
          <p:cNvPr id="35" name="Shape 33"/>
          <p:cNvSpPr/>
          <p:nvPr/>
        </p:nvSpPr>
        <p:spPr>
          <a:xfrm>
            <a:off x="1389888" y="3566160"/>
            <a:ext cx="1828800" cy="292608"/>
          </a:xfrm>
          <a:prstGeom prst="rect">
            <a:avLst/>
          </a:prstGeom>
          <a:solidFill>
            <a:srgbClr val="0B2E40"/>
          </a:solidFill>
          <a:ln w="6350">
            <a:solidFill>
              <a:srgbClr val="C0DEE8"/>
            </a:solidFill>
            <a:prstDash val="solid"/>
          </a:ln>
        </p:spPr>
      </p:sp>
      <p:sp>
        <p:nvSpPr>
          <p:cNvPr id="36" name="Text 34"/>
          <p:cNvSpPr/>
          <p:nvPr/>
        </p:nvSpPr>
        <p:spPr>
          <a:xfrm>
            <a:off x="1389888" y="3566160"/>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28 (-0.8)</a:t>
            </a:r>
            <a:endParaRPr lang="en-US" sz="850" dirty="0"/>
          </a:p>
        </p:txBody>
      </p:sp>
      <p:sp>
        <p:nvSpPr>
          <p:cNvPr id="37" name="Shape 35"/>
          <p:cNvSpPr/>
          <p:nvPr/>
        </p:nvSpPr>
        <p:spPr>
          <a:xfrm>
            <a:off x="3218688" y="3566160"/>
            <a:ext cx="1828800" cy="292608"/>
          </a:xfrm>
          <a:prstGeom prst="rect">
            <a:avLst/>
          </a:prstGeom>
          <a:solidFill>
            <a:srgbClr val="0B2E40"/>
          </a:solidFill>
          <a:ln w="6350">
            <a:solidFill>
              <a:srgbClr val="C0DEE8"/>
            </a:solidFill>
            <a:prstDash val="solid"/>
          </a:ln>
        </p:spPr>
      </p:sp>
      <p:sp>
        <p:nvSpPr>
          <p:cNvPr id="38" name="Text 36"/>
          <p:cNvSpPr/>
          <p:nvPr/>
        </p:nvSpPr>
        <p:spPr>
          <a:xfrm>
            <a:off x="3218688" y="3566160"/>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26 (+0.8)</a:t>
            </a:r>
            <a:endParaRPr lang="en-US" sz="850" dirty="0"/>
          </a:p>
        </p:txBody>
      </p:sp>
      <p:sp>
        <p:nvSpPr>
          <p:cNvPr id="39" name="Shape 37"/>
          <p:cNvSpPr/>
          <p:nvPr/>
        </p:nvSpPr>
        <p:spPr>
          <a:xfrm>
            <a:off x="384048" y="3858768"/>
            <a:ext cx="1005840" cy="292608"/>
          </a:xfrm>
          <a:prstGeom prst="rect">
            <a:avLst/>
          </a:prstGeom>
          <a:solidFill>
            <a:srgbClr val="0B2030"/>
          </a:solidFill>
          <a:ln w="6350">
            <a:solidFill>
              <a:srgbClr val="C0DEE8"/>
            </a:solidFill>
            <a:prstDash val="solid"/>
          </a:ln>
        </p:spPr>
      </p:sp>
      <p:sp>
        <p:nvSpPr>
          <p:cNvPr id="40" name="Text 38"/>
          <p:cNvSpPr/>
          <p:nvPr/>
        </p:nvSpPr>
        <p:spPr>
          <a:xfrm>
            <a:off x="384048" y="3858768"/>
            <a:ext cx="100584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Other</a:t>
            </a:r>
            <a:endParaRPr lang="en-US" sz="850" dirty="0"/>
          </a:p>
        </p:txBody>
      </p:sp>
      <p:sp>
        <p:nvSpPr>
          <p:cNvPr id="41" name="Shape 39"/>
          <p:cNvSpPr/>
          <p:nvPr/>
        </p:nvSpPr>
        <p:spPr>
          <a:xfrm>
            <a:off x="1389888" y="3858768"/>
            <a:ext cx="1828800" cy="292608"/>
          </a:xfrm>
          <a:prstGeom prst="rect">
            <a:avLst/>
          </a:prstGeom>
          <a:solidFill>
            <a:srgbClr val="0B2030"/>
          </a:solidFill>
          <a:ln w="6350">
            <a:solidFill>
              <a:srgbClr val="C0DEE8"/>
            </a:solidFill>
            <a:prstDash val="solid"/>
          </a:ln>
        </p:spPr>
      </p:sp>
      <p:sp>
        <p:nvSpPr>
          <p:cNvPr id="42" name="Text 40"/>
          <p:cNvSpPr/>
          <p:nvPr/>
        </p:nvSpPr>
        <p:spPr>
          <a:xfrm>
            <a:off x="1389888" y="3858768"/>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21 (+1.2)</a:t>
            </a:r>
            <a:endParaRPr lang="en-US" sz="850" dirty="0"/>
          </a:p>
        </p:txBody>
      </p:sp>
      <p:sp>
        <p:nvSpPr>
          <p:cNvPr id="43" name="Shape 41"/>
          <p:cNvSpPr/>
          <p:nvPr/>
        </p:nvSpPr>
        <p:spPr>
          <a:xfrm>
            <a:off x="3218688" y="3858768"/>
            <a:ext cx="1828800" cy="292608"/>
          </a:xfrm>
          <a:prstGeom prst="rect">
            <a:avLst/>
          </a:prstGeom>
          <a:solidFill>
            <a:srgbClr val="0B2030"/>
          </a:solidFill>
          <a:ln w="6350">
            <a:solidFill>
              <a:srgbClr val="C0DEE8"/>
            </a:solidFill>
            <a:prstDash val="solid"/>
          </a:ln>
        </p:spPr>
      </p:sp>
      <p:sp>
        <p:nvSpPr>
          <p:cNvPr id="44" name="Text 42"/>
          <p:cNvSpPr/>
          <p:nvPr/>
        </p:nvSpPr>
        <p:spPr>
          <a:xfrm>
            <a:off x="3218688" y="3858768"/>
            <a:ext cx="18288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 (-1.2)</a:t>
            </a:r>
            <a:endParaRPr lang="en-US" sz="850" dirty="0"/>
          </a:p>
        </p:txBody>
      </p:sp>
      <p:sp>
        <p:nvSpPr>
          <p:cNvPr id="45" name="Text 43"/>
          <p:cNvSpPr/>
          <p:nvPr/>
        </p:nvSpPr>
        <p:spPr>
          <a:xfrm>
            <a:off x="384048" y="4133088"/>
            <a:ext cx="4791456" cy="201168"/>
          </a:xfrm>
          <a:prstGeom prst="rect">
            <a:avLst/>
          </a:prstGeom>
          <a:noFill/>
          <a:ln/>
        </p:spPr>
        <p:txBody>
          <a:bodyPr wrap="square" lIns="0" tIns="0" rIns="0" bIns="0" rtlCol="0" anchor="ctr"/>
          <a:lstStyle/>
          <a:p>
            <a:pPr indent="0" marL="0">
              <a:buNone/>
            </a:pPr>
            <a:r>
              <a:rPr lang="en-US" sz="850" i="1" dirty="0">
                <a:solidFill>
                  <a:srgbClr val="D4A017"/>
                </a:solidFill>
                <a:latin typeface="Calibri" pitchFamily="34" charset="0"/>
                <a:ea typeface="Calibri" pitchFamily="34" charset="-122"/>
                <a:cs typeface="Calibri" pitchFamily="34" charset="-120"/>
              </a:rPr>
              <a:t>* = Adj. Residual &gt; ±1.96 (significant at p &lt; .05)</a:t>
            </a:r>
            <a:endParaRPr lang="en-US" sz="850" dirty="0"/>
          </a:p>
        </p:txBody>
      </p:sp>
      <p:sp>
        <p:nvSpPr>
          <p:cNvPr id="46" name="Text 44"/>
          <p:cNvSpPr/>
          <p:nvPr/>
        </p:nvSpPr>
        <p:spPr>
          <a:xfrm>
            <a:off x="384048" y="4370832"/>
            <a:ext cx="4791456" cy="347472"/>
          </a:xfrm>
          <a:prstGeom prst="rect">
            <a:avLst/>
          </a:prstGeom>
          <a:noFill/>
          <a:ln/>
        </p:spPr>
        <p:txBody>
          <a:bodyPr wrap="square" lIns="0" tIns="0" rIns="0" bIns="0" rtlCol="0" anchor="ctr"/>
          <a:lstStyle/>
          <a:p>
            <a:pPr indent="0" marL="0">
              <a:buNone/>
            </a:pPr>
            <a:r>
              <a:rPr lang="en-US" sz="900" dirty="0">
                <a:solidFill>
                  <a:srgbClr val="90D4E0"/>
                </a:solidFill>
                <a:latin typeface="Calibri" pitchFamily="34" charset="0"/>
                <a:ea typeface="Calibri" pitchFamily="34" charset="-122"/>
                <a:cs typeface="Calibri" pitchFamily="34" charset="-120"/>
              </a:rPr>
              <a:t>Insight: Male Gala (+2.8) and Female Deli (+3.1) are the driving cells. Gender difference is significant for Gala and Deli but not for other products.</a:t>
            </a:r>
            <a:endParaRPr lang="en-US" sz="900" dirty="0"/>
          </a:p>
        </p:txBody>
      </p:sp>
      <p:sp>
        <p:nvSpPr>
          <p:cNvPr id="47" name="Shape 45"/>
          <p:cNvSpPr/>
          <p:nvPr/>
        </p:nvSpPr>
        <p:spPr>
          <a:xfrm>
            <a:off x="5486400" y="914400"/>
            <a:ext cx="3383280" cy="4133088"/>
          </a:xfrm>
          <a:prstGeom prst="roundRect">
            <a:avLst>
              <a:gd name="adj" fmla="val 2703"/>
            </a:avLst>
          </a:prstGeom>
          <a:solidFill>
            <a:srgbClr val="0B2E40"/>
          </a:solidFill>
          <a:ln w="12700">
            <a:solidFill>
              <a:srgbClr val="D4A017"/>
            </a:solidFill>
            <a:prstDash val="solid"/>
          </a:ln>
        </p:spPr>
      </p:sp>
      <p:sp>
        <p:nvSpPr>
          <p:cNvPr id="48" name="Text 46"/>
          <p:cNvSpPr/>
          <p:nvPr/>
        </p:nvSpPr>
        <p:spPr>
          <a:xfrm>
            <a:off x="5596128" y="987552"/>
            <a:ext cx="3154680"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Complete APA Write-Up</a:t>
            </a:r>
            <a:endParaRPr lang="en-US" sz="1100" dirty="0"/>
          </a:p>
        </p:txBody>
      </p:sp>
      <p:sp>
        <p:nvSpPr>
          <p:cNvPr id="49" name="Text 47"/>
          <p:cNvSpPr/>
          <p:nvPr/>
        </p:nvSpPr>
        <p:spPr>
          <a:xfrm>
            <a:off x="5596128" y="1316736"/>
            <a:ext cx="3163824" cy="822960"/>
          </a:xfrm>
          <a:prstGeom prst="rect">
            <a:avLst/>
          </a:prstGeom>
          <a:noFill/>
          <a:ln/>
        </p:spPr>
        <p:txBody>
          <a:bodyPr wrap="square" lIns="0" tIns="0" rIns="0" bIns="0" rtlCol="0" anchor="ctr"/>
          <a:lstStyle/>
          <a:p>
            <a:pPr indent="0" marL="0">
              <a:buNone/>
            </a:pPr>
            <a:r>
              <a:rPr lang="en-US" sz="900" i="1" dirty="0">
                <a:solidFill>
                  <a:srgbClr val="90D4E0"/>
                </a:solidFill>
                <a:latin typeface="Calibri" pitchFamily="34" charset="0"/>
                <a:ea typeface="Calibri" pitchFamily="34" charset="-122"/>
                <a:cs typeface="Calibri" pitchFamily="34" charset="-120"/>
              </a:rPr>
              <a:t>A chi-square test of independence was conducted to examine the association between gender and preferred UAC Foods product. The association was statistically significant, χ²(4, N = 450) = 24.83, p &lt; .001, Cramer's V = .235, indicating a small-to-medium effect.</a:t>
            </a:r>
            <a:endParaRPr lang="en-US" sz="900" dirty="0"/>
          </a:p>
        </p:txBody>
      </p:sp>
      <p:sp>
        <p:nvSpPr>
          <p:cNvPr id="50" name="Text 48"/>
          <p:cNvSpPr/>
          <p:nvPr/>
        </p:nvSpPr>
        <p:spPr>
          <a:xfrm>
            <a:off x="5596128" y="2194560"/>
            <a:ext cx="3163824" cy="1005840"/>
          </a:xfrm>
          <a:prstGeom prst="rect">
            <a:avLst/>
          </a:prstGeom>
          <a:noFill/>
          <a:ln/>
        </p:spPr>
        <p:txBody>
          <a:bodyPr wrap="square" lIns="0" tIns="0" rIns="0" bIns="0" rtlCol="0" anchor="ctr"/>
          <a:lstStyle/>
          <a:p>
            <a:pPr indent="0" marL="0">
              <a:buNone/>
            </a:pPr>
            <a:r>
              <a:rPr lang="en-US" sz="900" i="1" dirty="0">
                <a:solidFill>
                  <a:srgbClr val="90D4E0"/>
                </a:solidFill>
                <a:latin typeface="Calibri" pitchFamily="34" charset="0"/>
                <a:ea typeface="Calibri" pitchFamily="34" charset="-122"/>
                <a:cs typeface="Calibri" pitchFamily="34" charset="-120"/>
              </a:rPr>
              <a:t>Male consumers were significantly more likely to prefer Gala Sausage Roll (41.4% vs 33.5%, adjusted residual = +2.8) while female consumers were significantly more likely to prefer Deli Foods (32.4% vs 18.3%, adjusted residual = +3.1). Preferences for Mr. Biggs, Supreme Ice Cream, and other products did not differ significantly by gender.</a:t>
            </a:r>
            <a:endParaRPr lang="en-US" sz="900" dirty="0"/>
          </a:p>
        </p:txBody>
      </p:sp>
      <p:sp>
        <p:nvSpPr>
          <p:cNvPr id="51" name="Text 49"/>
          <p:cNvSpPr/>
          <p:nvPr/>
        </p:nvSpPr>
        <p:spPr>
          <a:xfrm>
            <a:off x="5596128" y="3273552"/>
            <a:ext cx="3163824" cy="219456"/>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Key reporting elements:</a:t>
            </a:r>
            <a:endParaRPr lang="en-US" sz="950" dirty="0"/>
          </a:p>
        </p:txBody>
      </p:sp>
      <p:sp>
        <p:nvSpPr>
          <p:cNvPr id="52" name="Text 50"/>
          <p:cNvSpPr/>
          <p:nvPr/>
        </p:nvSpPr>
        <p:spPr>
          <a:xfrm>
            <a:off x="5596128" y="3529584"/>
            <a:ext cx="3163824" cy="237744"/>
          </a:xfrm>
          <a:prstGeom prst="rect">
            <a:avLst/>
          </a:prstGeom>
          <a:noFill/>
          <a:ln/>
        </p:spPr>
        <p:txBody>
          <a:bodyPr wrap="square" lIns="0" tIns="0" rIns="0" bIns="0" rtlCol="0" anchor="ctr"/>
          <a:lstStyle/>
          <a:p>
            <a:pPr indent="0" marL="0">
              <a:buNone/>
            </a:pPr>
            <a:r>
              <a:rPr lang="en-US" sz="900" dirty="0">
                <a:solidFill>
                  <a:srgbClr val="7ABCCA"/>
                </a:solidFill>
                <a:latin typeface="Calibri" pitchFamily="34" charset="0"/>
                <a:ea typeface="Calibri" pitchFamily="34" charset="-122"/>
                <a:cs typeface="Calibri" pitchFamily="34" charset="-120"/>
              </a:rPr>
              <a:t>- χ²(df, N=n) = value</a:t>
            </a:r>
            <a:endParaRPr lang="en-US" sz="900" dirty="0"/>
          </a:p>
        </p:txBody>
      </p:sp>
      <p:sp>
        <p:nvSpPr>
          <p:cNvPr id="53" name="Text 51"/>
          <p:cNvSpPr/>
          <p:nvPr/>
        </p:nvSpPr>
        <p:spPr>
          <a:xfrm>
            <a:off x="5596128" y="3803904"/>
            <a:ext cx="3163824" cy="237744"/>
          </a:xfrm>
          <a:prstGeom prst="rect">
            <a:avLst/>
          </a:prstGeom>
          <a:noFill/>
          <a:ln/>
        </p:spPr>
        <p:txBody>
          <a:bodyPr wrap="square" lIns="0" tIns="0" rIns="0" bIns="0" rtlCol="0" anchor="ctr"/>
          <a:lstStyle/>
          <a:p>
            <a:pPr indent="0" marL="0">
              <a:buNone/>
            </a:pPr>
            <a:r>
              <a:rPr lang="en-US" sz="900" dirty="0">
                <a:solidFill>
                  <a:srgbClr val="7ABCCA"/>
                </a:solidFill>
                <a:latin typeface="Calibri" pitchFamily="34" charset="0"/>
                <a:ea typeface="Calibri" pitchFamily="34" charset="-122"/>
                <a:cs typeface="Calibri" pitchFamily="34" charset="-120"/>
              </a:rPr>
              <a:t>- Report Cramer's V or Phi</a:t>
            </a:r>
            <a:endParaRPr lang="en-US" sz="900" dirty="0"/>
          </a:p>
        </p:txBody>
      </p:sp>
      <p:sp>
        <p:nvSpPr>
          <p:cNvPr id="54" name="Text 52"/>
          <p:cNvSpPr/>
          <p:nvPr/>
        </p:nvSpPr>
        <p:spPr>
          <a:xfrm>
            <a:off x="5596128" y="4078224"/>
            <a:ext cx="3163824" cy="237744"/>
          </a:xfrm>
          <a:prstGeom prst="rect">
            <a:avLst/>
          </a:prstGeom>
          <a:noFill/>
          <a:ln/>
        </p:spPr>
        <p:txBody>
          <a:bodyPr wrap="square" lIns="0" tIns="0" rIns="0" bIns="0" rtlCol="0" anchor="ctr"/>
          <a:lstStyle/>
          <a:p>
            <a:pPr indent="0" marL="0">
              <a:buNone/>
            </a:pPr>
            <a:r>
              <a:rPr lang="en-US" sz="900" dirty="0">
                <a:solidFill>
                  <a:srgbClr val="7ABCCA"/>
                </a:solidFill>
                <a:latin typeface="Calibri" pitchFamily="34" charset="0"/>
                <a:ea typeface="Calibri" pitchFamily="34" charset="-122"/>
                <a:cs typeface="Calibri" pitchFamily="34" charset="-120"/>
              </a:rPr>
              <a:t>- Use column percentages</a:t>
            </a:r>
            <a:endParaRPr lang="en-US" sz="900" dirty="0"/>
          </a:p>
        </p:txBody>
      </p:sp>
      <p:sp>
        <p:nvSpPr>
          <p:cNvPr id="55" name="Text 53"/>
          <p:cNvSpPr/>
          <p:nvPr/>
        </p:nvSpPr>
        <p:spPr>
          <a:xfrm>
            <a:off x="5596128" y="4352544"/>
            <a:ext cx="3163824" cy="237744"/>
          </a:xfrm>
          <a:prstGeom prst="rect">
            <a:avLst/>
          </a:prstGeom>
          <a:noFill/>
          <a:ln/>
        </p:spPr>
        <p:txBody>
          <a:bodyPr wrap="square" lIns="0" tIns="0" rIns="0" bIns="0" rtlCol="0" anchor="ctr"/>
          <a:lstStyle/>
          <a:p>
            <a:pPr indent="0" marL="0">
              <a:buNone/>
            </a:pPr>
            <a:r>
              <a:rPr lang="en-US" sz="900" dirty="0">
                <a:solidFill>
                  <a:srgbClr val="7ABCCA"/>
                </a:solidFill>
                <a:latin typeface="Calibri" pitchFamily="34" charset="0"/>
                <a:ea typeface="Calibri" pitchFamily="34" charset="-122"/>
                <a:cs typeface="Calibri" pitchFamily="34" charset="-120"/>
              </a:rPr>
              <a:t>- Report adjusted residuals</a:t>
            </a:r>
            <a:endParaRPr lang="en-US" sz="900" dirty="0"/>
          </a:p>
        </p:txBody>
      </p:sp>
      <p:sp>
        <p:nvSpPr>
          <p:cNvPr id="56" name="Text 54"/>
          <p:cNvSpPr/>
          <p:nvPr/>
        </p:nvSpPr>
        <p:spPr>
          <a:xfrm>
            <a:off x="5596128" y="4626864"/>
            <a:ext cx="3163824" cy="237744"/>
          </a:xfrm>
          <a:prstGeom prst="rect">
            <a:avLst/>
          </a:prstGeom>
          <a:noFill/>
          <a:ln/>
        </p:spPr>
        <p:txBody>
          <a:bodyPr wrap="square" lIns="0" tIns="0" rIns="0" bIns="0" rtlCol="0" anchor="ctr"/>
          <a:lstStyle/>
          <a:p>
            <a:pPr indent="0" marL="0">
              <a:buNone/>
            </a:pPr>
            <a:r>
              <a:rPr lang="en-US" sz="900" dirty="0">
                <a:solidFill>
                  <a:srgbClr val="7ABCCA"/>
                </a:solidFill>
                <a:latin typeface="Calibri" pitchFamily="34" charset="0"/>
                <a:ea typeface="Calibri" pitchFamily="34" charset="-122"/>
                <a:cs typeface="Calibri" pitchFamily="34" charset="-120"/>
              </a:rPr>
              <a:t>- Note which cells drive significance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E6B78">
              <a:alpha val="20000"/>
            </a:srgbClr>
          </a:solidFill>
          <a:ln w="12700">
            <a:solidFill>
              <a:srgbClr val="0E6B78"/>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4  |  SECTION 08</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Non-Parametric Statistics</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4E0"/>
                </a:solidFill>
                <a:latin typeface="Calibri" pitchFamily="34" charset="0"/>
                <a:ea typeface="Calibri" pitchFamily="34" charset="-122"/>
                <a:cs typeface="Calibri" pitchFamily="34" charset="-120"/>
              </a:rPr>
              <a:t>Distribution-free tests for ordinal data or when normality assumptions are violated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When and Why to Use Non-Parametric Tests</a:t>
            </a:r>
            <a:endParaRPr lang="en-US" sz="2100" dirty="0"/>
          </a:p>
        </p:txBody>
      </p:sp>
      <p:sp>
        <p:nvSpPr>
          <p:cNvPr id="4" name="Shape 2"/>
          <p:cNvSpPr/>
          <p:nvPr/>
        </p:nvSpPr>
        <p:spPr>
          <a:xfrm>
            <a:off x="256032" y="1005840"/>
            <a:ext cx="8631936" cy="658368"/>
          </a:xfrm>
          <a:prstGeom prst="roundRect">
            <a:avLst>
              <a:gd name="adj" fmla="val 11111"/>
            </a:avLst>
          </a:prstGeom>
          <a:solidFill>
            <a:srgbClr val="E0F7FA"/>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94360"/>
          </a:xfrm>
          <a:prstGeom prst="rect">
            <a:avLst/>
          </a:prstGeom>
          <a:noFill/>
          <a:ln/>
        </p:spPr>
        <p:txBody>
          <a:bodyPr wrap="square" lIns="0" tIns="0" rIns="0" bIns="0" rtlCol="0" anchor="ctr"/>
          <a:lstStyle/>
          <a:p>
            <a:pPr indent="0" marL="0">
              <a:buNone/>
            </a:pPr>
            <a:r>
              <a:rPr lang="en-US" sz="1050" dirty="0">
                <a:solidFill>
                  <a:srgbClr val="1A2E38"/>
                </a:solidFill>
                <a:latin typeface="Calibri" pitchFamily="34" charset="0"/>
                <a:ea typeface="Calibri" pitchFamily="34" charset="-122"/>
                <a:cs typeface="Calibri" pitchFamily="34" charset="-120"/>
              </a:rPr>
              <a:t>Non-parametric tests make fewer assumptions about the data distribution. Use when: (1) DV is ordinal (Likert scale items, ranked data). (2) Scale DV violates normality (Shapiro-Wilk p &lt; .05, n &lt; 30). (3) Very small sample sizes (&lt; 15 per group). They test RANK ORDER rather than arithmetic means.</a:t>
            </a:r>
            <a:endParaRPr lang="en-US" sz="1050" dirty="0"/>
          </a:p>
        </p:txBody>
      </p:sp>
      <p:sp>
        <p:nvSpPr>
          <p:cNvPr id="6" name="Shape 4"/>
          <p:cNvSpPr/>
          <p:nvPr/>
        </p:nvSpPr>
        <p:spPr>
          <a:xfrm>
            <a:off x="228600" y="1737360"/>
            <a:ext cx="4160520" cy="1024128"/>
          </a:xfrm>
          <a:prstGeom prst="roundRect">
            <a:avLst>
              <a:gd name="adj" fmla="val 714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01752" y="1810512"/>
            <a:ext cx="1691640" cy="256032"/>
          </a:xfrm>
          <a:prstGeom prst="roundRect">
            <a:avLst>
              <a:gd name="adj" fmla="val 17857"/>
            </a:avLst>
          </a:prstGeom>
          <a:solidFill>
            <a:srgbClr val="0E6B78"/>
          </a:solidFill>
          <a:ln w="12700">
            <a:solidFill>
              <a:srgbClr val="0E6B78"/>
            </a:solidFill>
            <a:prstDash val="solid"/>
          </a:ln>
        </p:spPr>
      </p:sp>
      <p:sp>
        <p:nvSpPr>
          <p:cNvPr id="8" name="Text 6"/>
          <p:cNvSpPr/>
          <p:nvPr/>
        </p:nvSpPr>
        <p:spPr>
          <a:xfrm>
            <a:off x="301752" y="1810512"/>
            <a:ext cx="1691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Wilcoxon Signed-Rank (vs median)</a:t>
            </a:r>
            <a:endParaRPr lang="en-US" sz="850" dirty="0"/>
          </a:p>
        </p:txBody>
      </p:sp>
      <p:sp>
        <p:nvSpPr>
          <p:cNvPr id="9" name="Text 7"/>
          <p:cNvSpPr/>
          <p:nvPr/>
        </p:nvSpPr>
        <p:spPr>
          <a:xfrm>
            <a:off x="2057400" y="1810512"/>
            <a:ext cx="2231136"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Instead of: One-Sample T-Test</a:t>
            </a:r>
            <a:endParaRPr lang="en-US" sz="850" dirty="0"/>
          </a:p>
        </p:txBody>
      </p:sp>
      <p:sp>
        <p:nvSpPr>
          <p:cNvPr id="10" name="Text 8"/>
          <p:cNvSpPr/>
          <p:nvPr/>
        </p:nvSpPr>
        <p:spPr>
          <a:xfrm>
            <a:off x="320040" y="2139696"/>
            <a:ext cx="3950208"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Non-normal DV compared to a hypothesised median value</a:t>
            </a:r>
            <a:endParaRPr lang="en-US" sz="900" dirty="0"/>
          </a:p>
        </p:txBody>
      </p:sp>
      <p:sp>
        <p:nvSpPr>
          <p:cNvPr id="11" name="Text 9"/>
          <p:cNvSpPr/>
          <p:nvPr/>
        </p:nvSpPr>
        <p:spPr>
          <a:xfrm>
            <a:off x="320040" y="2414016"/>
            <a:ext cx="3950208" cy="292608"/>
          </a:xfrm>
          <a:prstGeom prst="rect">
            <a:avLst/>
          </a:prstGeom>
          <a:noFill/>
          <a:ln/>
        </p:spPr>
        <p:txBody>
          <a:bodyPr wrap="square" lIns="0" tIns="0" rIns="0" bIns="0" rtlCol="0" anchor="ctr"/>
          <a:lstStyle/>
          <a:p>
            <a:pPr indent="0" marL="0">
              <a:buNone/>
            </a:pPr>
            <a:r>
              <a:rPr lang="en-US" sz="850" b="1" dirty="0">
                <a:solidFill>
                  <a:srgbClr val="0E6B78"/>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Is the median repurchase_intention score significantly different from the neutral midpoint of 3.0? (5-point ordinal scale)</a:t>
            </a:r>
            <a:endParaRPr lang="en-US" sz="850" dirty="0"/>
          </a:p>
        </p:txBody>
      </p:sp>
      <p:sp>
        <p:nvSpPr>
          <p:cNvPr id="12" name="Shape 10"/>
          <p:cNvSpPr/>
          <p:nvPr/>
        </p:nvSpPr>
        <p:spPr>
          <a:xfrm>
            <a:off x="228600" y="2852928"/>
            <a:ext cx="4160520" cy="1024128"/>
          </a:xfrm>
          <a:prstGeom prst="roundRect">
            <a:avLst>
              <a:gd name="adj" fmla="val 714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301752" y="2926080"/>
            <a:ext cx="1691640" cy="256032"/>
          </a:xfrm>
          <a:prstGeom prst="roundRect">
            <a:avLst>
              <a:gd name="adj" fmla="val 17857"/>
            </a:avLst>
          </a:prstGeom>
          <a:solidFill>
            <a:srgbClr val="1B5CA0"/>
          </a:solidFill>
          <a:ln w="12700">
            <a:solidFill>
              <a:srgbClr val="1B5CA0"/>
            </a:solidFill>
            <a:prstDash val="solid"/>
          </a:ln>
        </p:spPr>
      </p:sp>
      <p:sp>
        <p:nvSpPr>
          <p:cNvPr id="14" name="Text 12"/>
          <p:cNvSpPr/>
          <p:nvPr/>
        </p:nvSpPr>
        <p:spPr>
          <a:xfrm>
            <a:off x="301752" y="2926080"/>
            <a:ext cx="1691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Mann-Whitney U Test</a:t>
            </a:r>
            <a:endParaRPr lang="en-US" sz="850" dirty="0"/>
          </a:p>
        </p:txBody>
      </p:sp>
      <p:sp>
        <p:nvSpPr>
          <p:cNvPr id="15" name="Text 13"/>
          <p:cNvSpPr/>
          <p:nvPr/>
        </p:nvSpPr>
        <p:spPr>
          <a:xfrm>
            <a:off x="2057400" y="2926080"/>
            <a:ext cx="2231136"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Instead of: Independent T-Test (2 groups)</a:t>
            </a:r>
            <a:endParaRPr lang="en-US" sz="850" dirty="0"/>
          </a:p>
        </p:txBody>
      </p:sp>
      <p:sp>
        <p:nvSpPr>
          <p:cNvPr id="16" name="Text 14"/>
          <p:cNvSpPr/>
          <p:nvPr/>
        </p:nvSpPr>
        <p:spPr>
          <a:xfrm>
            <a:off x="320040" y="3255264"/>
            <a:ext cx="3950208"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Ordinal DV or non-normal scale DV. 2 independent groups.</a:t>
            </a:r>
            <a:endParaRPr lang="en-US" sz="900" dirty="0"/>
          </a:p>
        </p:txBody>
      </p:sp>
      <p:sp>
        <p:nvSpPr>
          <p:cNvPr id="17" name="Text 15"/>
          <p:cNvSpPr/>
          <p:nvPr/>
        </p:nvSpPr>
        <p:spPr>
          <a:xfrm>
            <a:off x="320040" y="3529584"/>
            <a:ext cx="3950208" cy="29260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Do male and female consumers differ in repurchase_intention (ordinal 1-5)? Use Mann-Whitney because repurchase_intention is ordinal, not scale.</a:t>
            </a:r>
            <a:endParaRPr lang="en-US" sz="850" dirty="0"/>
          </a:p>
        </p:txBody>
      </p:sp>
      <p:sp>
        <p:nvSpPr>
          <p:cNvPr id="18" name="Shape 16"/>
          <p:cNvSpPr/>
          <p:nvPr/>
        </p:nvSpPr>
        <p:spPr>
          <a:xfrm>
            <a:off x="228600" y="3968496"/>
            <a:ext cx="4160520" cy="1024128"/>
          </a:xfrm>
          <a:prstGeom prst="roundRect">
            <a:avLst>
              <a:gd name="adj" fmla="val 714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01752" y="4041648"/>
            <a:ext cx="1691640" cy="256032"/>
          </a:xfrm>
          <a:prstGeom prst="roundRect">
            <a:avLst>
              <a:gd name="adj" fmla="val 17857"/>
            </a:avLst>
          </a:prstGeom>
          <a:solidFill>
            <a:srgbClr val="0A5070"/>
          </a:solidFill>
          <a:ln w="12700">
            <a:solidFill>
              <a:srgbClr val="0A5070"/>
            </a:solidFill>
            <a:prstDash val="solid"/>
          </a:ln>
        </p:spPr>
      </p:sp>
      <p:sp>
        <p:nvSpPr>
          <p:cNvPr id="20" name="Text 18"/>
          <p:cNvSpPr/>
          <p:nvPr/>
        </p:nvSpPr>
        <p:spPr>
          <a:xfrm>
            <a:off x="301752" y="4041648"/>
            <a:ext cx="1691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Wilcoxon Matched-Pairs Signed-Rank</a:t>
            </a:r>
            <a:endParaRPr lang="en-US" sz="850" dirty="0"/>
          </a:p>
        </p:txBody>
      </p:sp>
      <p:sp>
        <p:nvSpPr>
          <p:cNvPr id="21" name="Text 19"/>
          <p:cNvSpPr/>
          <p:nvPr/>
        </p:nvSpPr>
        <p:spPr>
          <a:xfrm>
            <a:off x="2057400" y="4041648"/>
            <a:ext cx="2231136"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Instead of: Paired T-Test</a:t>
            </a:r>
            <a:endParaRPr lang="en-US" sz="850" dirty="0"/>
          </a:p>
        </p:txBody>
      </p:sp>
      <p:sp>
        <p:nvSpPr>
          <p:cNvPr id="22" name="Text 20"/>
          <p:cNvSpPr/>
          <p:nvPr/>
        </p:nvSpPr>
        <p:spPr>
          <a:xfrm>
            <a:off x="320040" y="4370832"/>
            <a:ext cx="3950208"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Ordinal DV or non-normal scale DV. Same participants, 2 conditions.</a:t>
            </a:r>
            <a:endParaRPr lang="en-US" sz="900" dirty="0"/>
          </a:p>
        </p:txBody>
      </p:sp>
      <p:sp>
        <p:nvSpPr>
          <p:cNvPr id="23" name="Text 21"/>
          <p:cNvSpPr/>
          <p:nvPr/>
        </p:nvSpPr>
        <p:spPr>
          <a:xfrm>
            <a:off x="320040" y="4645152"/>
            <a:ext cx="3950208" cy="292608"/>
          </a:xfrm>
          <a:prstGeom prst="rect">
            <a:avLst/>
          </a:prstGeom>
          <a:noFill/>
          <a:ln/>
        </p:spPr>
        <p:txBody>
          <a:bodyPr wrap="square" lIns="0" tIns="0" rIns="0" bIns="0" rtlCol="0" anchor="ctr"/>
          <a:lstStyle/>
          <a:p>
            <a:pPr indent="0" marL="0">
              <a:buNone/>
            </a:pPr>
            <a:r>
              <a:rPr lang="en-US" sz="850" b="1" dirty="0">
                <a:solidFill>
                  <a:srgbClr val="0A5070"/>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Did the same 120 consumers rate repurchase_intention differently before vs after the Deli packaging relaunch?</a:t>
            </a:r>
            <a:endParaRPr lang="en-US" sz="850" dirty="0"/>
          </a:p>
        </p:txBody>
      </p:sp>
      <p:sp>
        <p:nvSpPr>
          <p:cNvPr id="24" name="Shape 22"/>
          <p:cNvSpPr/>
          <p:nvPr/>
        </p:nvSpPr>
        <p:spPr>
          <a:xfrm>
            <a:off x="4690872" y="1737360"/>
            <a:ext cx="4160520" cy="1024128"/>
          </a:xfrm>
          <a:prstGeom prst="roundRect">
            <a:avLst>
              <a:gd name="adj" fmla="val 714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4764024" y="1810512"/>
            <a:ext cx="1691640" cy="256032"/>
          </a:xfrm>
          <a:prstGeom prst="roundRect">
            <a:avLst>
              <a:gd name="adj" fmla="val 17857"/>
            </a:avLst>
          </a:prstGeom>
          <a:solidFill>
            <a:srgbClr val="D4A017"/>
          </a:solidFill>
          <a:ln w="12700">
            <a:solidFill>
              <a:srgbClr val="D4A017"/>
            </a:solidFill>
            <a:prstDash val="solid"/>
          </a:ln>
        </p:spPr>
      </p:sp>
      <p:sp>
        <p:nvSpPr>
          <p:cNvPr id="26" name="Text 24"/>
          <p:cNvSpPr/>
          <p:nvPr/>
        </p:nvSpPr>
        <p:spPr>
          <a:xfrm>
            <a:off x="4764024" y="1810512"/>
            <a:ext cx="1691640" cy="256032"/>
          </a:xfrm>
          <a:prstGeom prst="rect">
            <a:avLst/>
          </a:prstGeom>
          <a:noFill/>
          <a:ln/>
        </p:spPr>
        <p:txBody>
          <a:bodyPr wrap="square" lIns="0" tIns="0" rIns="0" bIns="0" rtlCol="0" anchor="ctr"/>
          <a:lstStyle/>
          <a:p>
            <a:pPr algn="ctr" indent="0" marL="0">
              <a:buNone/>
            </a:pPr>
            <a:r>
              <a:rPr lang="en-US" sz="850" b="1" dirty="0">
                <a:solidFill>
                  <a:srgbClr val="061A24"/>
                </a:solidFill>
                <a:latin typeface="Calibri" pitchFamily="34" charset="0"/>
                <a:ea typeface="Calibri" pitchFamily="34" charset="-122"/>
                <a:cs typeface="Calibri" pitchFamily="34" charset="-120"/>
              </a:rPr>
              <a:t>Kruskal-Wallis H Test</a:t>
            </a:r>
            <a:endParaRPr lang="en-US" sz="850" dirty="0"/>
          </a:p>
        </p:txBody>
      </p:sp>
      <p:sp>
        <p:nvSpPr>
          <p:cNvPr id="27" name="Text 25"/>
          <p:cNvSpPr/>
          <p:nvPr/>
        </p:nvSpPr>
        <p:spPr>
          <a:xfrm>
            <a:off x="6519672" y="1810512"/>
            <a:ext cx="2231136"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Instead of: One-Way ANOVA (3+ groups)</a:t>
            </a:r>
            <a:endParaRPr lang="en-US" sz="850" dirty="0"/>
          </a:p>
        </p:txBody>
      </p:sp>
      <p:sp>
        <p:nvSpPr>
          <p:cNvPr id="28" name="Text 26"/>
          <p:cNvSpPr/>
          <p:nvPr/>
        </p:nvSpPr>
        <p:spPr>
          <a:xfrm>
            <a:off x="4782312" y="2139696"/>
            <a:ext cx="3950208"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Ordinal DV or non-normal scale DV. 3+ independent groups.</a:t>
            </a:r>
            <a:endParaRPr lang="en-US" sz="900" dirty="0"/>
          </a:p>
        </p:txBody>
      </p:sp>
      <p:sp>
        <p:nvSpPr>
          <p:cNvPr id="29" name="Text 27"/>
          <p:cNvSpPr/>
          <p:nvPr/>
        </p:nvSpPr>
        <p:spPr>
          <a:xfrm>
            <a:off x="4782312" y="2414016"/>
            <a:ext cx="3950208" cy="292608"/>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Do repurchase_intention scores differ across 4 age groups? Kruskal-Wallis since repurchase is ordinal.</a:t>
            </a:r>
            <a:endParaRPr lang="en-US" sz="850" dirty="0"/>
          </a:p>
        </p:txBody>
      </p:sp>
      <p:sp>
        <p:nvSpPr>
          <p:cNvPr id="30" name="Shape 28"/>
          <p:cNvSpPr/>
          <p:nvPr/>
        </p:nvSpPr>
        <p:spPr>
          <a:xfrm>
            <a:off x="4690872" y="2852928"/>
            <a:ext cx="4160520" cy="1024128"/>
          </a:xfrm>
          <a:prstGeom prst="roundRect">
            <a:avLst>
              <a:gd name="adj" fmla="val 714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1" name="Shape 29"/>
          <p:cNvSpPr/>
          <p:nvPr/>
        </p:nvSpPr>
        <p:spPr>
          <a:xfrm>
            <a:off x="4764024" y="2926080"/>
            <a:ext cx="1691640" cy="256032"/>
          </a:xfrm>
          <a:prstGeom prst="roundRect">
            <a:avLst>
              <a:gd name="adj" fmla="val 17857"/>
            </a:avLst>
          </a:prstGeom>
          <a:solidFill>
            <a:srgbClr val="E67E22"/>
          </a:solidFill>
          <a:ln w="12700">
            <a:solidFill>
              <a:srgbClr val="E67E22"/>
            </a:solidFill>
            <a:prstDash val="solid"/>
          </a:ln>
        </p:spPr>
      </p:sp>
      <p:sp>
        <p:nvSpPr>
          <p:cNvPr id="32" name="Text 30"/>
          <p:cNvSpPr/>
          <p:nvPr/>
        </p:nvSpPr>
        <p:spPr>
          <a:xfrm>
            <a:off x="4764024" y="2926080"/>
            <a:ext cx="1691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Friedman's Rank Test</a:t>
            </a:r>
            <a:endParaRPr lang="en-US" sz="850" dirty="0"/>
          </a:p>
        </p:txBody>
      </p:sp>
      <p:sp>
        <p:nvSpPr>
          <p:cNvPr id="33" name="Text 31"/>
          <p:cNvSpPr/>
          <p:nvPr/>
        </p:nvSpPr>
        <p:spPr>
          <a:xfrm>
            <a:off x="6519672" y="2926080"/>
            <a:ext cx="2231136"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Instead of: Repeated Measures ANOVA</a:t>
            </a:r>
            <a:endParaRPr lang="en-US" sz="850" dirty="0"/>
          </a:p>
        </p:txBody>
      </p:sp>
      <p:sp>
        <p:nvSpPr>
          <p:cNvPr id="34" name="Text 32"/>
          <p:cNvSpPr/>
          <p:nvPr/>
        </p:nvSpPr>
        <p:spPr>
          <a:xfrm>
            <a:off x="4782312" y="3255264"/>
            <a:ext cx="3950208"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Ordinal DV or non-normal scale DV. 3+ related (within-subject) conditions.</a:t>
            </a:r>
            <a:endParaRPr lang="en-US" sz="900" dirty="0"/>
          </a:p>
        </p:txBody>
      </p:sp>
      <p:sp>
        <p:nvSpPr>
          <p:cNvPr id="35" name="Text 33"/>
          <p:cNvSpPr/>
          <p:nvPr/>
        </p:nvSpPr>
        <p:spPr>
          <a:xfrm>
            <a:off x="4782312" y="3529584"/>
            <a:ext cx="3950208" cy="292608"/>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Did repurchase_intention change significantly across 4 quarterly surveys? Friedman's for ordinal DV.</a:t>
            </a:r>
            <a:endParaRPr lang="en-US" sz="850" dirty="0"/>
          </a:p>
        </p:txBody>
      </p:sp>
      <p:sp>
        <p:nvSpPr>
          <p:cNvPr id="36" name="Shape 34"/>
          <p:cNvSpPr/>
          <p:nvPr/>
        </p:nvSpPr>
        <p:spPr>
          <a:xfrm>
            <a:off x="4690872" y="3968496"/>
            <a:ext cx="4160520" cy="1024128"/>
          </a:xfrm>
          <a:prstGeom prst="roundRect">
            <a:avLst>
              <a:gd name="adj" fmla="val 7143"/>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4764024" y="4041648"/>
            <a:ext cx="1691640" cy="256032"/>
          </a:xfrm>
          <a:prstGeom prst="roundRect">
            <a:avLst>
              <a:gd name="adj" fmla="val 17857"/>
            </a:avLst>
          </a:prstGeom>
          <a:solidFill>
            <a:srgbClr val="7B1728"/>
          </a:solidFill>
          <a:ln w="12700">
            <a:solidFill>
              <a:srgbClr val="7B1728"/>
            </a:solidFill>
            <a:prstDash val="solid"/>
          </a:ln>
        </p:spPr>
      </p:sp>
      <p:sp>
        <p:nvSpPr>
          <p:cNvPr id="38" name="Text 36"/>
          <p:cNvSpPr/>
          <p:nvPr/>
        </p:nvSpPr>
        <p:spPr>
          <a:xfrm>
            <a:off x="4764024" y="4041648"/>
            <a:ext cx="16916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Spearman Rank Correlation</a:t>
            </a:r>
            <a:endParaRPr lang="en-US" sz="850" dirty="0"/>
          </a:p>
        </p:txBody>
      </p:sp>
      <p:sp>
        <p:nvSpPr>
          <p:cNvPr id="39" name="Text 37"/>
          <p:cNvSpPr/>
          <p:nvPr/>
        </p:nvSpPr>
        <p:spPr>
          <a:xfrm>
            <a:off x="6519672" y="4041648"/>
            <a:ext cx="2231136"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Instead of: Pearson Correlation</a:t>
            </a:r>
            <a:endParaRPr lang="en-US" sz="850" dirty="0"/>
          </a:p>
        </p:txBody>
      </p:sp>
      <p:sp>
        <p:nvSpPr>
          <p:cNvPr id="40" name="Text 38"/>
          <p:cNvSpPr/>
          <p:nvPr/>
        </p:nvSpPr>
        <p:spPr>
          <a:xfrm>
            <a:off x="4782312" y="4370832"/>
            <a:ext cx="3950208" cy="256032"/>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Ordinal variables, non-linear monotonic relationship, or non-normal scale data.</a:t>
            </a:r>
            <a:endParaRPr lang="en-US" sz="900" dirty="0"/>
          </a:p>
        </p:txBody>
      </p:sp>
      <p:sp>
        <p:nvSpPr>
          <p:cNvPr id="41" name="Text 39"/>
          <p:cNvSpPr/>
          <p:nvPr/>
        </p:nvSpPr>
        <p:spPr>
          <a:xfrm>
            <a:off x="4782312" y="4645152"/>
            <a:ext cx="3950208" cy="292608"/>
          </a:xfrm>
          <a:prstGeom prst="rect">
            <a:avLst/>
          </a:prstGeom>
          <a:noFill/>
          <a:ln/>
        </p:spPr>
        <p:txBody>
          <a:bodyPr wrap="square" lIns="0" tIns="0" rIns="0" bIns="0" rtlCol="0" anchor="ctr"/>
          <a:lstStyle/>
          <a:p>
            <a:pPr indent="0" marL="0">
              <a:buNone/>
            </a:pPr>
            <a:r>
              <a:rPr lang="en-US" sz="850" b="1" dirty="0">
                <a:solidFill>
                  <a:srgbClr val="7B1728"/>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Correlation between education_level (ordinal) and repurchase_intention (ordinal). Use Spearman, not Pearson.</a:t>
            </a:r>
            <a:endParaRPr lang="en-US" sz="850" dirty="0"/>
          </a:p>
        </p:txBody>
      </p:sp>
      <p:sp>
        <p:nvSpPr>
          <p:cNvPr id="42" name="Shape 40"/>
          <p:cNvSpPr/>
          <p:nvPr/>
        </p:nvSpPr>
        <p:spPr>
          <a:xfrm>
            <a:off x="256032" y="5102352"/>
            <a:ext cx="8631936" cy="365760"/>
          </a:xfrm>
          <a:prstGeom prst="roundRect">
            <a:avLst>
              <a:gd name="adj" fmla="val 15000"/>
            </a:avLst>
          </a:prstGeom>
          <a:solidFill>
            <a:srgbClr val="FFFBEC"/>
          </a:solidFill>
          <a:ln w="19050">
            <a:solidFill>
              <a:srgbClr val="D4A017"/>
            </a:solidFill>
            <a:prstDash val="solid"/>
          </a:ln>
        </p:spPr>
      </p:sp>
      <p:sp>
        <p:nvSpPr>
          <p:cNvPr id="43" name="Text 41"/>
          <p:cNvSpPr/>
          <p:nvPr/>
        </p:nvSpPr>
        <p:spPr>
          <a:xfrm>
            <a:off x="384048" y="5102352"/>
            <a:ext cx="8449056" cy="365760"/>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Trade-off: Non-parametric tests are less powerful than parametric tests when assumptions are met. Use parametric tests when justified. Use non-parametric when clearly needed.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E6B78"/>
          </a:solidFill>
          <a:ln w="12700">
            <a:solidFill>
              <a:srgbClr val="0E6B7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Mann-Whitney U Test and Kruskal-Wallis - In Depth</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0E6B78"/>
          </a:solidFill>
          <a:ln w="12700">
            <a:solidFill>
              <a:srgbClr val="0E6B78"/>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Mann-Whitney U Test</a:t>
            </a:r>
            <a:endParaRPr lang="en-US" sz="1200" dirty="0"/>
          </a:p>
        </p:txBody>
      </p:sp>
      <p:sp>
        <p:nvSpPr>
          <p:cNvPr id="7" name="Text 5"/>
          <p:cNvSpPr/>
          <p:nvPr/>
        </p:nvSpPr>
        <p:spPr>
          <a:xfrm>
            <a:off x="365760" y="1481328"/>
            <a:ext cx="3950208" cy="566928"/>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Non-parametric equivalent of the Independent T-Test. Compares rank distributions between 2 independent groups. Tests whether values in Group 1 tend to be larger/smaller than Group 2.</a:t>
            </a:r>
            <a:endParaRPr lang="en-US" sz="950" dirty="0"/>
          </a:p>
        </p:txBody>
      </p:sp>
      <p:sp>
        <p:nvSpPr>
          <p:cNvPr id="8" name="Text 6"/>
          <p:cNvSpPr/>
          <p:nvPr/>
        </p:nvSpPr>
        <p:spPr>
          <a:xfrm>
            <a:off x="365760" y="2121408"/>
            <a:ext cx="3950208" cy="47548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UAC Example: </a:t>
            </a:r>
            <a:pPr indent="0" marL="0">
              <a:buNone/>
            </a:pPr>
            <a:r>
              <a:rPr lang="en-US" sz="950" dirty="0">
                <a:solidFill>
                  <a:srgbClr val="1A2E38"/>
                </a:solidFill>
                <a:latin typeface="Calibri" pitchFamily="34" charset="0"/>
                <a:ea typeface="Calibri" pitchFamily="34" charset="-122"/>
                <a:cs typeface="Calibri" pitchFamily="34" charset="-120"/>
              </a:rPr>
              <a:t>Do male and female consumers differ in repurchase_intention (1-5 ordinal scale)? Cannot use t-test because DV is ordinal.</a:t>
            </a:r>
            <a:endParaRPr lang="en-US" sz="950" dirty="0"/>
          </a:p>
        </p:txBody>
      </p:sp>
      <p:sp>
        <p:nvSpPr>
          <p:cNvPr id="9" name="Text 7"/>
          <p:cNvSpPr/>
          <p:nvPr/>
        </p:nvSpPr>
        <p:spPr>
          <a:xfrm>
            <a:off x="365760" y="2670048"/>
            <a:ext cx="3950208" cy="201168"/>
          </a:xfrm>
          <a:prstGeom prst="rect">
            <a:avLst/>
          </a:prstGeom>
          <a:noFill/>
          <a:ln/>
        </p:spPr>
        <p:txBody>
          <a:bodyPr wrap="square" lIns="0" tIns="0" rIns="0" bIns="0" rtlCol="0" anchor="ctr"/>
          <a:lstStyle/>
          <a:p>
            <a:pPr indent="0" marL="0">
              <a:buNone/>
            </a:pPr>
            <a:r>
              <a:rPr lang="en-US" sz="1000" b="1" dirty="0">
                <a:solidFill>
                  <a:srgbClr val="0E6B78"/>
                </a:solidFill>
                <a:latin typeface="Calibri" pitchFamily="34" charset="0"/>
                <a:ea typeface="Calibri" pitchFamily="34" charset="-122"/>
                <a:cs typeface="Calibri" pitchFamily="34" charset="-120"/>
              </a:rPr>
              <a:t>Steps:</a:t>
            </a:r>
            <a:endParaRPr lang="en-US" sz="1000" dirty="0"/>
          </a:p>
        </p:txBody>
      </p:sp>
      <p:sp>
        <p:nvSpPr>
          <p:cNvPr id="10" name="Text 8"/>
          <p:cNvSpPr/>
          <p:nvPr/>
        </p:nvSpPr>
        <p:spPr>
          <a:xfrm>
            <a:off x="365760" y="2907792"/>
            <a:ext cx="3950208" cy="31089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1. Analyze &gt; Nonparametric Tests &gt; Legacy Dialogs &gt; 2 Independent Samples</a:t>
            </a:r>
            <a:endParaRPr lang="en-US" sz="900" dirty="0"/>
          </a:p>
        </p:txBody>
      </p:sp>
      <p:sp>
        <p:nvSpPr>
          <p:cNvPr id="11" name="Text 9"/>
          <p:cNvSpPr/>
          <p:nvPr/>
        </p:nvSpPr>
        <p:spPr>
          <a:xfrm>
            <a:off x="365760" y="3255264"/>
            <a:ext cx="3950208" cy="31089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2. Move repurchase_intention to Test Variable List</a:t>
            </a:r>
            <a:endParaRPr lang="en-US" sz="900" dirty="0"/>
          </a:p>
        </p:txBody>
      </p:sp>
      <p:sp>
        <p:nvSpPr>
          <p:cNvPr id="12" name="Text 10"/>
          <p:cNvSpPr/>
          <p:nvPr/>
        </p:nvSpPr>
        <p:spPr>
          <a:xfrm>
            <a:off x="365760" y="3602736"/>
            <a:ext cx="3950208" cy="31089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3. Move gender to Grouping Variable, click Define Groups: 1 and 2</a:t>
            </a:r>
            <a:endParaRPr lang="en-US" sz="900" dirty="0"/>
          </a:p>
        </p:txBody>
      </p:sp>
      <p:sp>
        <p:nvSpPr>
          <p:cNvPr id="13" name="Text 11"/>
          <p:cNvSpPr/>
          <p:nvPr/>
        </p:nvSpPr>
        <p:spPr>
          <a:xfrm>
            <a:off x="365760" y="3950208"/>
            <a:ext cx="3950208" cy="31089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4. Ensure Mann-Whitney U is ticked</a:t>
            </a:r>
            <a:endParaRPr lang="en-US" sz="900" dirty="0"/>
          </a:p>
        </p:txBody>
      </p:sp>
      <p:sp>
        <p:nvSpPr>
          <p:cNvPr id="14" name="Text 12"/>
          <p:cNvSpPr/>
          <p:nvPr/>
        </p:nvSpPr>
        <p:spPr>
          <a:xfrm>
            <a:off x="365760" y="4297680"/>
            <a:ext cx="3950208" cy="310896"/>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5. Click OK</a:t>
            </a:r>
            <a:endParaRPr lang="en-US" sz="900" dirty="0"/>
          </a:p>
        </p:txBody>
      </p:sp>
      <p:sp>
        <p:nvSpPr>
          <p:cNvPr id="15" name="Text 13"/>
          <p:cNvSpPr/>
          <p:nvPr/>
        </p:nvSpPr>
        <p:spPr>
          <a:xfrm>
            <a:off x="365760" y="4681728"/>
            <a:ext cx="3950208" cy="201168"/>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Output:</a:t>
            </a:r>
            <a:endParaRPr lang="en-US" sz="950" dirty="0"/>
          </a:p>
        </p:txBody>
      </p:sp>
      <p:sp>
        <p:nvSpPr>
          <p:cNvPr id="16" name="Shape 14"/>
          <p:cNvSpPr/>
          <p:nvPr/>
        </p:nvSpPr>
        <p:spPr>
          <a:xfrm>
            <a:off x="365760" y="4901184"/>
            <a:ext cx="1261872" cy="292608"/>
          </a:xfrm>
          <a:prstGeom prst="rect">
            <a:avLst/>
          </a:prstGeom>
          <a:solidFill>
            <a:srgbClr val="061A24"/>
          </a:solidFill>
          <a:ln w="12700">
            <a:solidFill>
              <a:srgbClr val="061A24"/>
            </a:solidFill>
            <a:prstDash val="solid"/>
          </a:ln>
        </p:spPr>
      </p:sp>
      <p:sp>
        <p:nvSpPr>
          <p:cNvPr id="17" name="Text 15"/>
          <p:cNvSpPr/>
          <p:nvPr/>
        </p:nvSpPr>
        <p:spPr>
          <a:xfrm>
            <a:off x="365760" y="4901184"/>
            <a:ext cx="1261872" cy="292608"/>
          </a:xfrm>
          <a:prstGeom prst="rect">
            <a:avLst/>
          </a:prstGeom>
          <a:noFill/>
          <a:ln/>
        </p:spPr>
        <p:txBody>
          <a:bodyPr wrap="square" lIns="0" tIns="0" rIns="0" bIns="0" rtlCol="0" anchor="ctr"/>
          <a:lstStyle/>
          <a:p>
            <a:pPr algn="ctr" indent="0" marL="0">
              <a:buNone/>
            </a:pPr>
            <a:endParaRPr lang="en-US" sz="850" dirty="0"/>
          </a:p>
        </p:txBody>
      </p:sp>
      <p:sp>
        <p:nvSpPr>
          <p:cNvPr id="18" name="Shape 16"/>
          <p:cNvSpPr/>
          <p:nvPr/>
        </p:nvSpPr>
        <p:spPr>
          <a:xfrm>
            <a:off x="1627632" y="4901184"/>
            <a:ext cx="1426464" cy="292608"/>
          </a:xfrm>
          <a:prstGeom prst="rect">
            <a:avLst/>
          </a:prstGeom>
          <a:solidFill>
            <a:srgbClr val="061A24"/>
          </a:solidFill>
          <a:ln w="12700">
            <a:solidFill>
              <a:srgbClr val="061A24"/>
            </a:solidFill>
            <a:prstDash val="solid"/>
          </a:ln>
        </p:spPr>
      </p:sp>
      <p:sp>
        <p:nvSpPr>
          <p:cNvPr id="19" name="Text 17"/>
          <p:cNvSpPr/>
          <p:nvPr/>
        </p:nvSpPr>
        <p:spPr>
          <a:xfrm>
            <a:off x="1627632" y="4901184"/>
            <a:ext cx="14264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Male</a:t>
            </a:r>
            <a:endParaRPr lang="en-US" sz="850" dirty="0"/>
          </a:p>
        </p:txBody>
      </p:sp>
      <p:sp>
        <p:nvSpPr>
          <p:cNvPr id="20" name="Shape 18"/>
          <p:cNvSpPr/>
          <p:nvPr/>
        </p:nvSpPr>
        <p:spPr>
          <a:xfrm>
            <a:off x="3054096" y="4901184"/>
            <a:ext cx="1389888" cy="292608"/>
          </a:xfrm>
          <a:prstGeom prst="rect">
            <a:avLst/>
          </a:prstGeom>
          <a:solidFill>
            <a:srgbClr val="061A24"/>
          </a:solidFill>
          <a:ln w="12700">
            <a:solidFill>
              <a:srgbClr val="061A24"/>
            </a:solidFill>
            <a:prstDash val="solid"/>
          </a:ln>
        </p:spPr>
      </p:sp>
      <p:sp>
        <p:nvSpPr>
          <p:cNvPr id="21" name="Text 19"/>
          <p:cNvSpPr/>
          <p:nvPr/>
        </p:nvSpPr>
        <p:spPr>
          <a:xfrm>
            <a:off x="3054096" y="4901184"/>
            <a:ext cx="13898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Female</a:t>
            </a:r>
            <a:endParaRPr lang="en-US" sz="850" dirty="0"/>
          </a:p>
        </p:txBody>
      </p:sp>
      <p:sp>
        <p:nvSpPr>
          <p:cNvPr id="22" name="Shape 20"/>
          <p:cNvSpPr/>
          <p:nvPr/>
        </p:nvSpPr>
        <p:spPr>
          <a:xfrm>
            <a:off x="365760" y="5193792"/>
            <a:ext cx="1261872" cy="292608"/>
          </a:xfrm>
          <a:prstGeom prst="rect">
            <a:avLst/>
          </a:prstGeom>
          <a:solidFill>
            <a:srgbClr val="EAF6FA"/>
          </a:solidFill>
          <a:ln w="6350">
            <a:solidFill>
              <a:srgbClr val="C0DEE8"/>
            </a:solidFill>
            <a:prstDash val="solid"/>
          </a:ln>
        </p:spPr>
      </p:sp>
      <p:sp>
        <p:nvSpPr>
          <p:cNvPr id="23" name="Text 21"/>
          <p:cNvSpPr/>
          <p:nvPr/>
        </p:nvSpPr>
        <p:spPr>
          <a:xfrm>
            <a:off x="365760" y="5193792"/>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Mean Rank</a:t>
            </a:r>
            <a:endParaRPr lang="en-US" sz="850" dirty="0"/>
          </a:p>
        </p:txBody>
      </p:sp>
      <p:sp>
        <p:nvSpPr>
          <p:cNvPr id="24" name="Shape 22"/>
          <p:cNvSpPr/>
          <p:nvPr/>
        </p:nvSpPr>
        <p:spPr>
          <a:xfrm>
            <a:off x="1627632" y="5193792"/>
            <a:ext cx="1426464" cy="292608"/>
          </a:xfrm>
          <a:prstGeom prst="rect">
            <a:avLst/>
          </a:prstGeom>
          <a:solidFill>
            <a:srgbClr val="EAF6FA"/>
          </a:solidFill>
          <a:ln w="6350">
            <a:solidFill>
              <a:srgbClr val="C0DEE8"/>
            </a:solidFill>
            <a:prstDash val="solid"/>
          </a:ln>
        </p:spPr>
      </p:sp>
      <p:sp>
        <p:nvSpPr>
          <p:cNvPr id="25" name="Text 23"/>
          <p:cNvSpPr/>
          <p:nvPr/>
        </p:nvSpPr>
        <p:spPr>
          <a:xfrm>
            <a:off x="1627632" y="5193792"/>
            <a:ext cx="14264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207.4</a:t>
            </a:r>
            <a:endParaRPr lang="en-US" sz="850" dirty="0"/>
          </a:p>
        </p:txBody>
      </p:sp>
      <p:sp>
        <p:nvSpPr>
          <p:cNvPr id="26" name="Shape 24"/>
          <p:cNvSpPr/>
          <p:nvPr/>
        </p:nvSpPr>
        <p:spPr>
          <a:xfrm>
            <a:off x="3054096" y="5193792"/>
            <a:ext cx="1389888" cy="292608"/>
          </a:xfrm>
          <a:prstGeom prst="rect">
            <a:avLst/>
          </a:prstGeom>
          <a:solidFill>
            <a:srgbClr val="EAF6FA"/>
          </a:solidFill>
          <a:ln w="6350">
            <a:solidFill>
              <a:srgbClr val="C0DEE8"/>
            </a:solidFill>
            <a:prstDash val="solid"/>
          </a:ln>
        </p:spPr>
      </p:sp>
      <p:sp>
        <p:nvSpPr>
          <p:cNvPr id="27" name="Text 25"/>
          <p:cNvSpPr/>
          <p:nvPr/>
        </p:nvSpPr>
        <p:spPr>
          <a:xfrm>
            <a:off x="3054096" y="5193792"/>
            <a:ext cx="13898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249.8</a:t>
            </a:r>
            <a:endParaRPr lang="en-US" sz="850" dirty="0"/>
          </a:p>
        </p:txBody>
      </p:sp>
      <p:sp>
        <p:nvSpPr>
          <p:cNvPr id="28" name="Shape 26"/>
          <p:cNvSpPr/>
          <p:nvPr/>
        </p:nvSpPr>
        <p:spPr>
          <a:xfrm>
            <a:off x="365760" y="5486400"/>
            <a:ext cx="1261872" cy="292608"/>
          </a:xfrm>
          <a:prstGeom prst="rect">
            <a:avLst/>
          </a:prstGeom>
          <a:solidFill>
            <a:srgbClr val="FFFFFF"/>
          </a:solidFill>
          <a:ln w="6350">
            <a:solidFill>
              <a:srgbClr val="C0DEE8"/>
            </a:solidFill>
            <a:prstDash val="solid"/>
          </a:ln>
        </p:spPr>
      </p:sp>
      <p:sp>
        <p:nvSpPr>
          <p:cNvPr id="29" name="Text 27"/>
          <p:cNvSpPr/>
          <p:nvPr/>
        </p:nvSpPr>
        <p:spPr>
          <a:xfrm>
            <a:off x="365760" y="5486400"/>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N</a:t>
            </a:r>
            <a:endParaRPr lang="en-US" sz="850" dirty="0"/>
          </a:p>
        </p:txBody>
      </p:sp>
      <p:sp>
        <p:nvSpPr>
          <p:cNvPr id="30" name="Shape 28"/>
          <p:cNvSpPr/>
          <p:nvPr/>
        </p:nvSpPr>
        <p:spPr>
          <a:xfrm>
            <a:off x="1627632" y="5486400"/>
            <a:ext cx="1426464" cy="292608"/>
          </a:xfrm>
          <a:prstGeom prst="rect">
            <a:avLst/>
          </a:prstGeom>
          <a:solidFill>
            <a:srgbClr val="FFFFFF"/>
          </a:solidFill>
          <a:ln w="6350">
            <a:solidFill>
              <a:srgbClr val="C0DEE8"/>
            </a:solidFill>
            <a:prstDash val="solid"/>
          </a:ln>
        </p:spPr>
      </p:sp>
      <p:sp>
        <p:nvSpPr>
          <p:cNvPr id="31" name="Text 29"/>
          <p:cNvSpPr/>
          <p:nvPr/>
        </p:nvSpPr>
        <p:spPr>
          <a:xfrm>
            <a:off x="1627632" y="5486400"/>
            <a:ext cx="14264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268</a:t>
            </a:r>
            <a:endParaRPr lang="en-US" sz="850" dirty="0"/>
          </a:p>
        </p:txBody>
      </p:sp>
      <p:sp>
        <p:nvSpPr>
          <p:cNvPr id="32" name="Shape 30"/>
          <p:cNvSpPr/>
          <p:nvPr/>
        </p:nvSpPr>
        <p:spPr>
          <a:xfrm>
            <a:off x="3054096" y="5486400"/>
            <a:ext cx="1389888" cy="292608"/>
          </a:xfrm>
          <a:prstGeom prst="rect">
            <a:avLst/>
          </a:prstGeom>
          <a:solidFill>
            <a:srgbClr val="FFFFFF"/>
          </a:solidFill>
          <a:ln w="6350">
            <a:solidFill>
              <a:srgbClr val="C0DEE8"/>
            </a:solidFill>
            <a:prstDash val="solid"/>
          </a:ln>
        </p:spPr>
      </p:sp>
      <p:sp>
        <p:nvSpPr>
          <p:cNvPr id="33" name="Text 31"/>
          <p:cNvSpPr/>
          <p:nvPr/>
        </p:nvSpPr>
        <p:spPr>
          <a:xfrm>
            <a:off x="3054096" y="5486400"/>
            <a:ext cx="13898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182</a:t>
            </a:r>
            <a:endParaRPr lang="en-US" sz="850" dirty="0"/>
          </a:p>
        </p:txBody>
      </p:sp>
      <p:sp>
        <p:nvSpPr>
          <p:cNvPr id="34" name="Shape 32"/>
          <p:cNvSpPr/>
          <p:nvPr/>
        </p:nvSpPr>
        <p:spPr>
          <a:xfrm>
            <a:off x="365760" y="5779008"/>
            <a:ext cx="1261872" cy="292608"/>
          </a:xfrm>
          <a:prstGeom prst="rect">
            <a:avLst/>
          </a:prstGeom>
          <a:solidFill>
            <a:srgbClr val="EAF6FA"/>
          </a:solidFill>
          <a:ln w="6350">
            <a:solidFill>
              <a:srgbClr val="C0DEE8"/>
            </a:solidFill>
            <a:prstDash val="solid"/>
          </a:ln>
        </p:spPr>
      </p:sp>
      <p:sp>
        <p:nvSpPr>
          <p:cNvPr id="35" name="Text 33"/>
          <p:cNvSpPr/>
          <p:nvPr/>
        </p:nvSpPr>
        <p:spPr>
          <a:xfrm>
            <a:off x="365760" y="5779008"/>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U</a:t>
            </a:r>
            <a:endParaRPr lang="en-US" sz="850" dirty="0"/>
          </a:p>
        </p:txBody>
      </p:sp>
      <p:sp>
        <p:nvSpPr>
          <p:cNvPr id="36" name="Shape 34"/>
          <p:cNvSpPr/>
          <p:nvPr/>
        </p:nvSpPr>
        <p:spPr>
          <a:xfrm>
            <a:off x="1627632" y="5779008"/>
            <a:ext cx="1426464" cy="292608"/>
          </a:xfrm>
          <a:prstGeom prst="rect">
            <a:avLst/>
          </a:prstGeom>
          <a:solidFill>
            <a:srgbClr val="D0EEF4"/>
          </a:solidFill>
          <a:ln w="6350">
            <a:solidFill>
              <a:srgbClr val="C0DEE8"/>
            </a:solidFill>
            <a:prstDash val="solid"/>
          </a:ln>
        </p:spPr>
      </p:sp>
      <p:sp>
        <p:nvSpPr>
          <p:cNvPr id="37" name="Text 35"/>
          <p:cNvSpPr/>
          <p:nvPr/>
        </p:nvSpPr>
        <p:spPr>
          <a:xfrm>
            <a:off x="1627632" y="5779008"/>
            <a:ext cx="142646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20,486</a:t>
            </a:r>
            <a:endParaRPr lang="en-US" sz="850" dirty="0"/>
          </a:p>
        </p:txBody>
      </p:sp>
      <p:sp>
        <p:nvSpPr>
          <p:cNvPr id="38" name="Shape 36"/>
          <p:cNvSpPr/>
          <p:nvPr/>
        </p:nvSpPr>
        <p:spPr>
          <a:xfrm>
            <a:off x="3054096" y="5779008"/>
            <a:ext cx="1389888" cy="292608"/>
          </a:xfrm>
          <a:prstGeom prst="rect">
            <a:avLst/>
          </a:prstGeom>
          <a:solidFill>
            <a:srgbClr val="EAF6FA"/>
          </a:solidFill>
          <a:ln w="6350">
            <a:solidFill>
              <a:srgbClr val="C0DEE8"/>
            </a:solidFill>
            <a:prstDash val="solid"/>
          </a:ln>
        </p:spPr>
      </p:sp>
      <p:sp>
        <p:nvSpPr>
          <p:cNvPr id="39" name="Text 37"/>
          <p:cNvSpPr/>
          <p:nvPr/>
        </p:nvSpPr>
        <p:spPr>
          <a:xfrm>
            <a:off x="3054096" y="5779008"/>
            <a:ext cx="1389888" cy="292608"/>
          </a:xfrm>
          <a:prstGeom prst="rect">
            <a:avLst/>
          </a:prstGeom>
          <a:noFill/>
          <a:ln/>
        </p:spPr>
        <p:txBody>
          <a:bodyPr wrap="square" lIns="0" tIns="0" rIns="0" bIns="0" rtlCol="0" anchor="ctr"/>
          <a:lstStyle/>
          <a:p>
            <a:pPr algn="ctr" indent="0" marL="0">
              <a:buNone/>
            </a:pPr>
            <a:endParaRPr lang="en-US" sz="850" dirty="0"/>
          </a:p>
        </p:txBody>
      </p:sp>
      <p:sp>
        <p:nvSpPr>
          <p:cNvPr id="40" name="Shape 38"/>
          <p:cNvSpPr/>
          <p:nvPr/>
        </p:nvSpPr>
        <p:spPr>
          <a:xfrm>
            <a:off x="365760" y="6071616"/>
            <a:ext cx="1261872" cy="292608"/>
          </a:xfrm>
          <a:prstGeom prst="rect">
            <a:avLst/>
          </a:prstGeom>
          <a:solidFill>
            <a:srgbClr val="FFFFFF"/>
          </a:solidFill>
          <a:ln w="6350">
            <a:solidFill>
              <a:srgbClr val="C0DEE8"/>
            </a:solidFill>
            <a:prstDash val="solid"/>
          </a:ln>
        </p:spPr>
      </p:sp>
      <p:sp>
        <p:nvSpPr>
          <p:cNvPr id="41" name="Text 39"/>
          <p:cNvSpPr/>
          <p:nvPr/>
        </p:nvSpPr>
        <p:spPr>
          <a:xfrm>
            <a:off x="365760" y="6071616"/>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Z</a:t>
            </a:r>
            <a:endParaRPr lang="en-US" sz="850" dirty="0"/>
          </a:p>
        </p:txBody>
      </p:sp>
      <p:sp>
        <p:nvSpPr>
          <p:cNvPr id="42" name="Shape 40"/>
          <p:cNvSpPr/>
          <p:nvPr/>
        </p:nvSpPr>
        <p:spPr>
          <a:xfrm>
            <a:off x="1627632" y="6071616"/>
            <a:ext cx="1426464" cy="292608"/>
          </a:xfrm>
          <a:prstGeom prst="rect">
            <a:avLst/>
          </a:prstGeom>
          <a:solidFill>
            <a:srgbClr val="D0EEF4"/>
          </a:solidFill>
          <a:ln w="6350">
            <a:solidFill>
              <a:srgbClr val="C0DEE8"/>
            </a:solidFill>
            <a:prstDash val="solid"/>
          </a:ln>
        </p:spPr>
      </p:sp>
      <p:sp>
        <p:nvSpPr>
          <p:cNvPr id="43" name="Text 41"/>
          <p:cNvSpPr/>
          <p:nvPr/>
        </p:nvSpPr>
        <p:spPr>
          <a:xfrm>
            <a:off x="1627632" y="6071616"/>
            <a:ext cx="142646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-3.24</a:t>
            </a:r>
            <a:endParaRPr lang="en-US" sz="850" dirty="0"/>
          </a:p>
        </p:txBody>
      </p:sp>
      <p:sp>
        <p:nvSpPr>
          <p:cNvPr id="44" name="Shape 42"/>
          <p:cNvSpPr/>
          <p:nvPr/>
        </p:nvSpPr>
        <p:spPr>
          <a:xfrm>
            <a:off x="3054096" y="6071616"/>
            <a:ext cx="1389888" cy="292608"/>
          </a:xfrm>
          <a:prstGeom prst="rect">
            <a:avLst/>
          </a:prstGeom>
          <a:solidFill>
            <a:srgbClr val="FFFFFF"/>
          </a:solidFill>
          <a:ln w="6350">
            <a:solidFill>
              <a:srgbClr val="C0DEE8"/>
            </a:solidFill>
            <a:prstDash val="solid"/>
          </a:ln>
        </p:spPr>
      </p:sp>
      <p:sp>
        <p:nvSpPr>
          <p:cNvPr id="45" name="Text 43"/>
          <p:cNvSpPr/>
          <p:nvPr/>
        </p:nvSpPr>
        <p:spPr>
          <a:xfrm>
            <a:off x="3054096" y="6071616"/>
            <a:ext cx="1389888" cy="292608"/>
          </a:xfrm>
          <a:prstGeom prst="rect">
            <a:avLst/>
          </a:prstGeom>
          <a:noFill/>
          <a:ln/>
        </p:spPr>
        <p:txBody>
          <a:bodyPr wrap="square" lIns="0" tIns="0" rIns="0" bIns="0" rtlCol="0" anchor="ctr"/>
          <a:lstStyle/>
          <a:p>
            <a:pPr algn="ctr" indent="0" marL="0">
              <a:buNone/>
            </a:pPr>
            <a:endParaRPr lang="en-US" sz="850" dirty="0"/>
          </a:p>
        </p:txBody>
      </p:sp>
      <p:sp>
        <p:nvSpPr>
          <p:cNvPr id="46" name="Shape 44"/>
          <p:cNvSpPr/>
          <p:nvPr/>
        </p:nvSpPr>
        <p:spPr>
          <a:xfrm>
            <a:off x="365760" y="6364224"/>
            <a:ext cx="1261872" cy="292608"/>
          </a:xfrm>
          <a:prstGeom prst="rect">
            <a:avLst/>
          </a:prstGeom>
          <a:solidFill>
            <a:srgbClr val="EAF6FA"/>
          </a:solidFill>
          <a:ln w="6350">
            <a:solidFill>
              <a:srgbClr val="C0DEE8"/>
            </a:solidFill>
            <a:prstDash val="solid"/>
          </a:ln>
        </p:spPr>
      </p:sp>
      <p:sp>
        <p:nvSpPr>
          <p:cNvPr id="47" name="Text 45"/>
          <p:cNvSpPr/>
          <p:nvPr/>
        </p:nvSpPr>
        <p:spPr>
          <a:xfrm>
            <a:off x="365760" y="6364224"/>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Sig.</a:t>
            </a:r>
            <a:endParaRPr lang="en-US" sz="850" dirty="0"/>
          </a:p>
        </p:txBody>
      </p:sp>
      <p:sp>
        <p:nvSpPr>
          <p:cNvPr id="48" name="Shape 46"/>
          <p:cNvSpPr/>
          <p:nvPr/>
        </p:nvSpPr>
        <p:spPr>
          <a:xfrm>
            <a:off x="1627632" y="6364224"/>
            <a:ext cx="1426464" cy="292608"/>
          </a:xfrm>
          <a:prstGeom prst="rect">
            <a:avLst/>
          </a:prstGeom>
          <a:solidFill>
            <a:srgbClr val="D0EEF4"/>
          </a:solidFill>
          <a:ln w="6350">
            <a:solidFill>
              <a:srgbClr val="C0DEE8"/>
            </a:solidFill>
            <a:prstDash val="solid"/>
          </a:ln>
        </p:spPr>
      </p:sp>
      <p:sp>
        <p:nvSpPr>
          <p:cNvPr id="49" name="Text 47"/>
          <p:cNvSpPr/>
          <p:nvPr/>
        </p:nvSpPr>
        <p:spPr>
          <a:xfrm>
            <a:off x="1627632" y="6364224"/>
            <a:ext cx="142646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.001</a:t>
            </a:r>
            <a:endParaRPr lang="en-US" sz="850" dirty="0"/>
          </a:p>
        </p:txBody>
      </p:sp>
      <p:sp>
        <p:nvSpPr>
          <p:cNvPr id="50" name="Shape 48"/>
          <p:cNvSpPr/>
          <p:nvPr/>
        </p:nvSpPr>
        <p:spPr>
          <a:xfrm>
            <a:off x="3054096" y="6364224"/>
            <a:ext cx="1389888" cy="292608"/>
          </a:xfrm>
          <a:prstGeom prst="rect">
            <a:avLst/>
          </a:prstGeom>
          <a:solidFill>
            <a:srgbClr val="EAF6FA"/>
          </a:solidFill>
          <a:ln w="6350">
            <a:solidFill>
              <a:srgbClr val="C0DEE8"/>
            </a:solidFill>
            <a:prstDash val="solid"/>
          </a:ln>
        </p:spPr>
      </p:sp>
      <p:sp>
        <p:nvSpPr>
          <p:cNvPr id="51" name="Text 49"/>
          <p:cNvSpPr/>
          <p:nvPr/>
        </p:nvSpPr>
        <p:spPr>
          <a:xfrm>
            <a:off x="3054096" y="6364224"/>
            <a:ext cx="1389888" cy="292608"/>
          </a:xfrm>
          <a:prstGeom prst="rect">
            <a:avLst/>
          </a:prstGeom>
          <a:noFill/>
          <a:ln/>
        </p:spPr>
        <p:txBody>
          <a:bodyPr wrap="square" lIns="0" tIns="0" rIns="0" bIns="0" rtlCol="0" anchor="ctr"/>
          <a:lstStyle/>
          <a:p>
            <a:pPr algn="ctr" indent="0" marL="0">
              <a:buNone/>
            </a:pPr>
            <a:endParaRPr lang="en-US" sz="850" dirty="0"/>
          </a:p>
        </p:txBody>
      </p:sp>
      <p:sp>
        <p:nvSpPr>
          <p:cNvPr id="52" name="Shape 50"/>
          <p:cNvSpPr/>
          <p:nvPr/>
        </p:nvSpPr>
        <p:spPr>
          <a:xfrm>
            <a:off x="365760" y="6656832"/>
            <a:ext cx="1261872" cy="292608"/>
          </a:xfrm>
          <a:prstGeom prst="rect">
            <a:avLst/>
          </a:prstGeom>
          <a:solidFill>
            <a:srgbClr val="FFFFFF"/>
          </a:solidFill>
          <a:ln w="6350">
            <a:solidFill>
              <a:srgbClr val="C0DEE8"/>
            </a:solidFill>
            <a:prstDash val="solid"/>
          </a:ln>
        </p:spPr>
      </p:sp>
      <p:sp>
        <p:nvSpPr>
          <p:cNvPr id="53" name="Text 51"/>
          <p:cNvSpPr/>
          <p:nvPr/>
        </p:nvSpPr>
        <p:spPr>
          <a:xfrm>
            <a:off x="365760" y="6656832"/>
            <a:ext cx="1261872"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Effect r</a:t>
            </a:r>
            <a:endParaRPr lang="en-US" sz="850" dirty="0"/>
          </a:p>
        </p:txBody>
      </p:sp>
      <p:sp>
        <p:nvSpPr>
          <p:cNvPr id="54" name="Shape 52"/>
          <p:cNvSpPr/>
          <p:nvPr/>
        </p:nvSpPr>
        <p:spPr>
          <a:xfrm>
            <a:off x="1627632" y="6656832"/>
            <a:ext cx="1426464" cy="292608"/>
          </a:xfrm>
          <a:prstGeom prst="rect">
            <a:avLst/>
          </a:prstGeom>
          <a:solidFill>
            <a:srgbClr val="D0EEF4"/>
          </a:solidFill>
          <a:ln w="6350">
            <a:solidFill>
              <a:srgbClr val="C0DEE8"/>
            </a:solidFill>
            <a:prstDash val="solid"/>
          </a:ln>
        </p:spPr>
      </p:sp>
      <p:sp>
        <p:nvSpPr>
          <p:cNvPr id="55" name="Text 53"/>
          <p:cNvSpPr/>
          <p:nvPr/>
        </p:nvSpPr>
        <p:spPr>
          <a:xfrm>
            <a:off x="1627632" y="6656832"/>
            <a:ext cx="142646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.18</a:t>
            </a:r>
            <a:endParaRPr lang="en-US" sz="850" dirty="0"/>
          </a:p>
        </p:txBody>
      </p:sp>
      <p:sp>
        <p:nvSpPr>
          <p:cNvPr id="56" name="Shape 54"/>
          <p:cNvSpPr/>
          <p:nvPr/>
        </p:nvSpPr>
        <p:spPr>
          <a:xfrm>
            <a:off x="3054096" y="6656832"/>
            <a:ext cx="1389888" cy="292608"/>
          </a:xfrm>
          <a:prstGeom prst="rect">
            <a:avLst/>
          </a:prstGeom>
          <a:solidFill>
            <a:srgbClr val="FFFFFF"/>
          </a:solidFill>
          <a:ln w="6350">
            <a:solidFill>
              <a:srgbClr val="C0DEE8"/>
            </a:solidFill>
            <a:prstDash val="solid"/>
          </a:ln>
        </p:spPr>
      </p:sp>
      <p:sp>
        <p:nvSpPr>
          <p:cNvPr id="57" name="Text 55"/>
          <p:cNvSpPr/>
          <p:nvPr/>
        </p:nvSpPr>
        <p:spPr>
          <a:xfrm>
            <a:off x="3054096" y="6656832"/>
            <a:ext cx="1389888" cy="292608"/>
          </a:xfrm>
          <a:prstGeom prst="rect">
            <a:avLst/>
          </a:prstGeom>
          <a:noFill/>
          <a:ln/>
        </p:spPr>
        <p:txBody>
          <a:bodyPr wrap="square" lIns="0" tIns="0" rIns="0" bIns="0" rtlCol="0" anchor="ctr"/>
          <a:lstStyle/>
          <a:p>
            <a:pPr algn="ctr" indent="0" marL="0">
              <a:buNone/>
            </a:pPr>
            <a:endParaRPr lang="en-US" sz="850" dirty="0"/>
          </a:p>
        </p:txBody>
      </p:sp>
      <p:sp>
        <p:nvSpPr>
          <p:cNvPr id="58" name="Shape 56"/>
          <p:cNvSpPr/>
          <p:nvPr/>
        </p:nvSpPr>
        <p:spPr>
          <a:xfrm>
            <a:off x="4681728" y="1005840"/>
            <a:ext cx="4160520" cy="4041648"/>
          </a:xfrm>
          <a:prstGeom prst="roundRect">
            <a:avLst>
              <a:gd name="adj" fmla="val 2036"/>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9" name="Shape 57"/>
          <p:cNvSpPr/>
          <p:nvPr/>
        </p:nvSpPr>
        <p:spPr>
          <a:xfrm>
            <a:off x="4754880" y="1078992"/>
            <a:ext cx="4005072" cy="329184"/>
          </a:xfrm>
          <a:prstGeom prst="roundRect">
            <a:avLst>
              <a:gd name="adj" fmla="val 16667"/>
            </a:avLst>
          </a:prstGeom>
          <a:solidFill>
            <a:srgbClr val="061A24"/>
          </a:solidFill>
          <a:ln w="12700">
            <a:solidFill>
              <a:srgbClr val="061A24"/>
            </a:solidFill>
            <a:prstDash val="solid"/>
          </a:ln>
        </p:spPr>
      </p:sp>
      <p:sp>
        <p:nvSpPr>
          <p:cNvPr id="60" name="Text 58"/>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200" b="1" dirty="0">
                <a:solidFill>
                  <a:srgbClr val="F0C040"/>
                </a:solidFill>
                <a:latin typeface="Calibri" pitchFamily="34" charset="0"/>
                <a:ea typeface="Calibri" pitchFamily="34" charset="-122"/>
                <a:cs typeface="Calibri" pitchFamily="34" charset="-120"/>
              </a:rPr>
              <a:t>Kruskal-Wallis H Test (3+ Groups)</a:t>
            </a:r>
            <a:endParaRPr lang="en-US" sz="1200" dirty="0"/>
          </a:p>
        </p:txBody>
      </p:sp>
      <p:sp>
        <p:nvSpPr>
          <p:cNvPr id="61" name="Text 59"/>
          <p:cNvSpPr/>
          <p:nvPr/>
        </p:nvSpPr>
        <p:spPr>
          <a:xfrm>
            <a:off x="4773168" y="1481328"/>
            <a:ext cx="3931920" cy="512064"/>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Non-parametric equivalent of One-Way ANOVA. Tests whether any of 3+ independent groups have a different distribution from the others. Uses rank ordering.</a:t>
            </a:r>
            <a:endParaRPr lang="en-US" sz="950" dirty="0"/>
          </a:p>
        </p:txBody>
      </p:sp>
      <p:sp>
        <p:nvSpPr>
          <p:cNvPr id="62" name="Text 60"/>
          <p:cNvSpPr/>
          <p:nvPr/>
        </p:nvSpPr>
        <p:spPr>
          <a:xfrm>
            <a:off x="4773168" y="2066544"/>
            <a:ext cx="3931920" cy="329184"/>
          </a:xfrm>
          <a:prstGeom prst="rect">
            <a:avLst/>
          </a:prstGeom>
          <a:noFill/>
          <a:ln/>
        </p:spPr>
        <p:txBody>
          <a:bodyPr wrap="square" lIns="0" tIns="0" rIns="0" bIns="0" rtlCol="0" anchor="ctr"/>
          <a:lstStyle/>
          <a:p>
            <a:pPr indent="0" marL="0">
              <a:buNone/>
            </a:pPr>
            <a:r>
              <a:rPr lang="en-US" sz="950" b="1" dirty="0">
                <a:solidFill>
                  <a:srgbClr val="17A2B8"/>
                </a:solidFill>
                <a:latin typeface="Calibri" pitchFamily="34" charset="0"/>
                <a:ea typeface="Calibri" pitchFamily="34" charset="-122"/>
                <a:cs typeface="Calibri" pitchFamily="34" charset="-120"/>
              </a:rPr>
              <a:t>UAC Example: </a:t>
            </a:r>
            <a:pPr indent="0" marL="0">
              <a:buNone/>
            </a:pPr>
            <a:r>
              <a:rPr lang="en-US" sz="950" dirty="0">
                <a:solidFill>
                  <a:srgbClr val="1A2E38"/>
                </a:solidFill>
                <a:latin typeface="Calibri" pitchFamily="34" charset="0"/>
                <a:ea typeface="Calibri" pitchFamily="34" charset="-122"/>
                <a:cs typeface="Calibri" pitchFamily="34" charset="-120"/>
              </a:rPr>
              <a:t>Do repurchase_intention scores differ across the 4 age groups?</a:t>
            </a:r>
            <a:endParaRPr lang="en-US" sz="950" dirty="0"/>
          </a:p>
        </p:txBody>
      </p:sp>
      <p:sp>
        <p:nvSpPr>
          <p:cNvPr id="63" name="Text 61"/>
          <p:cNvSpPr/>
          <p:nvPr/>
        </p:nvSpPr>
        <p:spPr>
          <a:xfrm>
            <a:off x="4773168" y="2468880"/>
            <a:ext cx="3931920" cy="566928"/>
          </a:xfrm>
          <a:prstGeom prst="rect">
            <a:avLst/>
          </a:prstGeom>
          <a:noFill/>
          <a:ln/>
        </p:spPr>
        <p:txBody>
          <a:bodyPr wrap="square" lIns="0" tIns="0" rIns="0" bIns="0" rtlCol="0" anchor="ctr"/>
          <a:lstStyle/>
          <a:p>
            <a:pPr indent="0" marL="0">
              <a:buNone/>
            </a:pPr>
            <a:r>
              <a:rPr lang="en-US" sz="900" i="1" dirty="0">
                <a:solidFill>
                  <a:srgbClr val="17A2B8"/>
                </a:solidFill>
                <a:latin typeface="Calibri" pitchFamily="34" charset="0"/>
                <a:ea typeface="Calibri" pitchFamily="34" charset="-122"/>
                <a:cs typeface="Calibri" pitchFamily="34" charset="-120"/>
              </a:rPr>
              <a:t>Steps: Analyze &gt; Nonparametric Tests &gt; Legacy Dialogs &gt; K Independent Samples &gt; repurchase_intention to Test Variable &gt; age_group to Grouping Variable &gt; define 1 and 4 &gt; Kruskal-Wallis ticked &gt; OK</a:t>
            </a:r>
            <a:endParaRPr lang="en-US" sz="900" dirty="0"/>
          </a:p>
        </p:txBody>
      </p:sp>
      <p:sp>
        <p:nvSpPr>
          <p:cNvPr id="64" name="Text 62"/>
          <p:cNvSpPr/>
          <p:nvPr/>
        </p:nvSpPr>
        <p:spPr>
          <a:xfrm>
            <a:off x="4773168" y="3108960"/>
            <a:ext cx="3931920" cy="201168"/>
          </a:xfrm>
          <a:prstGeom prst="rect">
            <a:avLst/>
          </a:prstGeom>
          <a:noFill/>
          <a:ln/>
        </p:spPr>
        <p:txBody>
          <a:bodyPr wrap="square" lIns="0" tIns="0" rIns="0" bIns="0" rtlCol="0" anchor="ctr"/>
          <a:lstStyle/>
          <a:p>
            <a:pPr indent="0" marL="0">
              <a:buNone/>
            </a:pPr>
            <a:r>
              <a:rPr lang="en-US" sz="950" b="1" dirty="0">
                <a:solidFill>
                  <a:srgbClr val="17A2B8"/>
                </a:solidFill>
                <a:latin typeface="Calibri" pitchFamily="34" charset="0"/>
                <a:ea typeface="Calibri" pitchFamily="34" charset="-122"/>
                <a:cs typeface="Calibri" pitchFamily="34" charset="-120"/>
              </a:rPr>
              <a:t>Output:</a:t>
            </a:r>
            <a:endParaRPr lang="en-US" sz="950" dirty="0"/>
          </a:p>
        </p:txBody>
      </p:sp>
      <p:sp>
        <p:nvSpPr>
          <p:cNvPr id="65" name="Shape 63"/>
          <p:cNvSpPr/>
          <p:nvPr/>
        </p:nvSpPr>
        <p:spPr>
          <a:xfrm>
            <a:off x="4773168" y="3328416"/>
            <a:ext cx="1645920" cy="292608"/>
          </a:xfrm>
          <a:prstGeom prst="rect">
            <a:avLst/>
          </a:prstGeom>
          <a:solidFill>
            <a:srgbClr val="061A24"/>
          </a:solidFill>
          <a:ln w="12700">
            <a:solidFill>
              <a:srgbClr val="061A24"/>
            </a:solidFill>
            <a:prstDash val="solid"/>
          </a:ln>
        </p:spPr>
      </p:sp>
      <p:sp>
        <p:nvSpPr>
          <p:cNvPr id="66" name="Text 64"/>
          <p:cNvSpPr/>
          <p:nvPr/>
        </p:nvSpPr>
        <p:spPr>
          <a:xfrm>
            <a:off x="4773168" y="3328416"/>
            <a:ext cx="16459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Age Group</a:t>
            </a:r>
            <a:endParaRPr lang="en-US" sz="850" dirty="0"/>
          </a:p>
        </p:txBody>
      </p:sp>
      <p:sp>
        <p:nvSpPr>
          <p:cNvPr id="67" name="Shape 65"/>
          <p:cNvSpPr/>
          <p:nvPr/>
        </p:nvSpPr>
        <p:spPr>
          <a:xfrm>
            <a:off x="6419088" y="3328416"/>
            <a:ext cx="585216" cy="292608"/>
          </a:xfrm>
          <a:prstGeom prst="rect">
            <a:avLst/>
          </a:prstGeom>
          <a:solidFill>
            <a:srgbClr val="061A24"/>
          </a:solidFill>
          <a:ln w="12700">
            <a:solidFill>
              <a:srgbClr val="061A24"/>
            </a:solidFill>
            <a:prstDash val="solid"/>
          </a:ln>
        </p:spPr>
      </p:sp>
      <p:sp>
        <p:nvSpPr>
          <p:cNvPr id="68" name="Text 66"/>
          <p:cNvSpPr/>
          <p:nvPr/>
        </p:nvSpPr>
        <p:spPr>
          <a:xfrm>
            <a:off x="6419088" y="3328416"/>
            <a:ext cx="58521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69" name="Shape 67"/>
          <p:cNvSpPr/>
          <p:nvPr/>
        </p:nvSpPr>
        <p:spPr>
          <a:xfrm>
            <a:off x="7004304" y="3328416"/>
            <a:ext cx="1627632" cy="292608"/>
          </a:xfrm>
          <a:prstGeom prst="rect">
            <a:avLst/>
          </a:prstGeom>
          <a:solidFill>
            <a:srgbClr val="061A24"/>
          </a:solidFill>
          <a:ln w="12700">
            <a:solidFill>
              <a:srgbClr val="061A24"/>
            </a:solidFill>
            <a:prstDash val="solid"/>
          </a:ln>
        </p:spPr>
      </p:sp>
      <p:sp>
        <p:nvSpPr>
          <p:cNvPr id="70" name="Text 68"/>
          <p:cNvSpPr/>
          <p:nvPr/>
        </p:nvSpPr>
        <p:spPr>
          <a:xfrm>
            <a:off x="7004304" y="3328416"/>
            <a:ext cx="16276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Rank</a:t>
            </a:r>
            <a:endParaRPr lang="en-US" sz="850" dirty="0"/>
          </a:p>
        </p:txBody>
      </p:sp>
      <p:sp>
        <p:nvSpPr>
          <p:cNvPr id="71" name="Shape 69"/>
          <p:cNvSpPr/>
          <p:nvPr/>
        </p:nvSpPr>
        <p:spPr>
          <a:xfrm>
            <a:off x="4773168" y="3621024"/>
            <a:ext cx="1645920" cy="292608"/>
          </a:xfrm>
          <a:prstGeom prst="rect">
            <a:avLst/>
          </a:prstGeom>
          <a:solidFill>
            <a:srgbClr val="EAF6FA"/>
          </a:solidFill>
          <a:ln w="6350">
            <a:solidFill>
              <a:srgbClr val="C0DEE8"/>
            </a:solidFill>
            <a:prstDash val="solid"/>
          </a:ln>
        </p:spPr>
      </p:sp>
      <p:sp>
        <p:nvSpPr>
          <p:cNvPr id="72" name="Text 70"/>
          <p:cNvSpPr/>
          <p:nvPr/>
        </p:nvSpPr>
        <p:spPr>
          <a:xfrm>
            <a:off x="4773168" y="3621024"/>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18-30 (Youth)</a:t>
            </a:r>
            <a:endParaRPr lang="en-US" sz="850" dirty="0"/>
          </a:p>
        </p:txBody>
      </p:sp>
      <p:sp>
        <p:nvSpPr>
          <p:cNvPr id="73" name="Shape 71"/>
          <p:cNvSpPr/>
          <p:nvPr/>
        </p:nvSpPr>
        <p:spPr>
          <a:xfrm>
            <a:off x="6419088" y="3621024"/>
            <a:ext cx="585216" cy="292608"/>
          </a:xfrm>
          <a:prstGeom prst="rect">
            <a:avLst/>
          </a:prstGeom>
          <a:solidFill>
            <a:srgbClr val="EAF6FA"/>
          </a:solidFill>
          <a:ln w="6350">
            <a:solidFill>
              <a:srgbClr val="C0DEE8"/>
            </a:solidFill>
            <a:prstDash val="solid"/>
          </a:ln>
        </p:spPr>
      </p:sp>
      <p:sp>
        <p:nvSpPr>
          <p:cNvPr id="74" name="Text 72"/>
          <p:cNvSpPr/>
          <p:nvPr/>
        </p:nvSpPr>
        <p:spPr>
          <a:xfrm>
            <a:off x="6419088" y="3621024"/>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a:t>
            </a:r>
            <a:endParaRPr lang="en-US" sz="850" dirty="0"/>
          </a:p>
        </p:txBody>
      </p:sp>
      <p:sp>
        <p:nvSpPr>
          <p:cNvPr id="75" name="Shape 73"/>
          <p:cNvSpPr/>
          <p:nvPr/>
        </p:nvSpPr>
        <p:spPr>
          <a:xfrm>
            <a:off x="7004304" y="3621024"/>
            <a:ext cx="1627632" cy="292608"/>
          </a:xfrm>
          <a:prstGeom prst="rect">
            <a:avLst/>
          </a:prstGeom>
          <a:solidFill>
            <a:srgbClr val="EAF6FA"/>
          </a:solidFill>
          <a:ln w="6350">
            <a:solidFill>
              <a:srgbClr val="C0DEE8"/>
            </a:solidFill>
            <a:prstDash val="solid"/>
          </a:ln>
        </p:spPr>
      </p:sp>
      <p:sp>
        <p:nvSpPr>
          <p:cNvPr id="76" name="Text 74"/>
          <p:cNvSpPr/>
          <p:nvPr/>
        </p:nvSpPr>
        <p:spPr>
          <a:xfrm>
            <a:off x="7004304" y="3621024"/>
            <a:ext cx="162763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198.4</a:t>
            </a:r>
            <a:endParaRPr lang="en-US" sz="850" dirty="0"/>
          </a:p>
        </p:txBody>
      </p:sp>
      <p:sp>
        <p:nvSpPr>
          <p:cNvPr id="77" name="Shape 75"/>
          <p:cNvSpPr/>
          <p:nvPr/>
        </p:nvSpPr>
        <p:spPr>
          <a:xfrm>
            <a:off x="4773168" y="3913632"/>
            <a:ext cx="1645920" cy="292608"/>
          </a:xfrm>
          <a:prstGeom prst="rect">
            <a:avLst/>
          </a:prstGeom>
          <a:solidFill>
            <a:srgbClr val="FFFFFF"/>
          </a:solidFill>
          <a:ln w="6350">
            <a:solidFill>
              <a:srgbClr val="C0DEE8"/>
            </a:solidFill>
            <a:prstDash val="solid"/>
          </a:ln>
        </p:spPr>
      </p:sp>
      <p:sp>
        <p:nvSpPr>
          <p:cNvPr id="78" name="Text 76"/>
          <p:cNvSpPr/>
          <p:nvPr/>
        </p:nvSpPr>
        <p:spPr>
          <a:xfrm>
            <a:off x="4773168" y="3913632"/>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31-45 (Adult)</a:t>
            </a:r>
            <a:endParaRPr lang="en-US" sz="850" dirty="0"/>
          </a:p>
        </p:txBody>
      </p:sp>
      <p:sp>
        <p:nvSpPr>
          <p:cNvPr id="79" name="Shape 77"/>
          <p:cNvSpPr/>
          <p:nvPr/>
        </p:nvSpPr>
        <p:spPr>
          <a:xfrm>
            <a:off x="6419088" y="3913632"/>
            <a:ext cx="585216" cy="292608"/>
          </a:xfrm>
          <a:prstGeom prst="rect">
            <a:avLst/>
          </a:prstGeom>
          <a:solidFill>
            <a:srgbClr val="FFFFFF"/>
          </a:solidFill>
          <a:ln w="6350">
            <a:solidFill>
              <a:srgbClr val="C0DEE8"/>
            </a:solidFill>
            <a:prstDash val="solid"/>
          </a:ln>
        </p:spPr>
      </p:sp>
      <p:sp>
        <p:nvSpPr>
          <p:cNvPr id="80" name="Text 78"/>
          <p:cNvSpPr/>
          <p:nvPr/>
        </p:nvSpPr>
        <p:spPr>
          <a:xfrm>
            <a:off x="6419088" y="3913632"/>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168</a:t>
            </a:r>
            <a:endParaRPr lang="en-US" sz="850" dirty="0"/>
          </a:p>
        </p:txBody>
      </p:sp>
      <p:sp>
        <p:nvSpPr>
          <p:cNvPr id="81" name="Shape 79"/>
          <p:cNvSpPr/>
          <p:nvPr/>
        </p:nvSpPr>
        <p:spPr>
          <a:xfrm>
            <a:off x="7004304" y="3913632"/>
            <a:ext cx="1627632" cy="292608"/>
          </a:xfrm>
          <a:prstGeom prst="rect">
            <a:avLst/>
          </a:prstGeom>
          <a:solidFill>
            <a:srgbClr val="FFFFFF"/>
          </a:solidFill>
          <a:ln w="6350">
            <a:solidFill>
              <a:srgbClr val="C0DEE8"/>
            </a:solidFill>
            <a:prstDash val="solid"/>
          </a:ln>
        </p:spPr>
      </p:sp>
      <p:sp>
        <p:nvSpPr>
          <p:cNvPr id="82" name="Text 80"/>
          <p:cNvSpPr/>
          <p:nvPr/>
        </p:nvSpPr>
        <p:spPr>
          <a:xfrm>
            <a:off x="7004304" y="3913632"/>
            <a:ext cx="162763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224.6</a:t>
            </a:r>
            <a:endParaRPr lang="en-US" sz="850" dirty="0"/>
          </a:p>
        </p:txBody>
      </p:sp>
      <p:sp>
        <p:nvSpPr>
          <p:cNvPr id="83" name="Shape 81"/>
          <p:cNvSpPr/>
          <p:nvPr/>
        </p:nvSpPr>
        <p:spPr>
          <a:xfrm>
            <a:off x="4773168" y="4206240"/>
            <a:ext cx="1645920" cy="292608"/>
          </a:xfrm>
          <a:prstGeom prst="rect">
            <a:avLst/>
          </a:prstGeom>
          <a:solidFill>
            <a:srgbClr val="EAF6FA"/>
          </a:solidFill>
          <a:ln w="6350">
            <a:solidFill>
              <a:srgbClr val="C0DEE8"/>
            </a:solidFill>
            <a:prstDash val="solid"/>
          </a:ln>
        </p:spPr>
      </p:sp>
      <p:sp>
        <p:nvSpPr>
          <p:cNvPr id="84" name="Text 82"/>
          <p:cNvSpPr/>
          <p:nvPr/>
        </p:nvSpPr>
        <p:spPr>
          <a:xfrm>
            <a:off x="4773168" y="4206240"/>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46-60 (Mature)</a:t>
            </a:r>
            <a:endParaRPr lang="en-US" sz="850" dirty="0"/>
          </a:p>
        </p:txBody>
      </p:sp>
      <p:sp>
        <p:nvSpPr>
          <p:cNvPr id="85" name="Shape 83"/>
          <p:cNvSpPr/>
          <p:nvPr/>
        </p:nvSpPr>
        <p:spPr>
          <a:xfrm>
            <a:off x="6419088" y="4206240"/>
            <a:ext cx="585216" cy="292608"/>
          </a:xfrm>
          <a:prstGeom prst="rect">
            <a:avLst/>
          </a:prstGeom>
          <a:solidFill>
            <a:srgbClr val="EAF6FA"/>
          </a:solidFill>
          <a:ln w="6350">
            <a:solidFill>
              <a:srgbClr val="C0DEE8"/>
            </a:solidFill>
            <a:prstDash val="solid"/>
          </a:ln>
        </p:spPr>
      </p:sp>
      <p:sp>
        <p:nvSpPr>
          <p:cNvPr id="86" name="Text 84"/>
          <p:cNvSpPr/>
          <p:nvPr/>
        </p:nvSpPr>
        <p:spPr>
          <a:xfrm>
            <a:off x="6419088" y="4206240"/>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98</a:t>
            </a:r>
            <a:endParaRPr lang="en-US" sz="850" dirty="0"/>
          </a:p>
        </p:txBody>
      </p:sp>
      <p:sp>
        <p:nvSpPr>
          <p:cNvPr id="87" name="Shape 85"/>
          <p:cNvSpPr/>
          <p:nvPr/>
        </p:nvSpPr>
        <p:spPr>
          <a:xfrm>
            <a:off x="7004304" y="4206240"/>
            <a:ext cx="1627632" cy="292608"/>
          </a:xfrm>
          <a:prstGeom prst="rect">
            <a:avLst/>
          </a:prstGeom>
          <a:solidFill>
            <a:srgbClr val="EAF6FA"/>
          </a:solidFill>
          <a:ln w="6350">
            <a:solidFill>
              <a:srgbClr val="C0DEE8"/>
            </a:solidFill>
            <a:prstDash val="solid"/>
          </a:ln>
        </p:spPr>
      </p:sp>
      <p:sp>
        <p:nvSpPr>
          <p:cNvPr id="88" name="Text 86"/>
          <p:cNvSpPr/>
          <p:nvPr/>
        </p:nvSpPr>
        <p:spPr>
          <a:xfrm>
            <a:off x="7004304" y="4206240"/>
            <a:ext cx="162763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231.8</a:t>
            </a:r>
            <a:endParaRPr lang="en-US" sz="850" dirty="0"/>
          </a:p>
        </p:txBody>
      </p:sp>
      <p:sp>
        <p:nvSpPr>
          <p:cNvPr id="89" name="Shape 87"/>
          <p:cNvSpPr/>
          <p:nvPr/>
        </p:nvSpPr>
        <p:spPr>
          <a:xfrm>
            <a:off x="4773168" y="4498848"/>
            <a:ext cx="1645920" cy="292608"/>
          </a:xfrm>
          <a:prstGeom prst="rect">
            <a:avLst/>
          </a:prstGeom>
          <a:solidFill>
            <a:srgbClr val="FFFFFF"/>
          </a:solidFill>
          <a:ln w="6350">
            <a:solidFill>
              <a:srgbClr val="C0DEE8"/>
            </a:solidFill>
            <a:prstDash val="solid"/>
          </a:ln>
        </p:spPr>
      </p:sp>
      <p:sp>
        <p:nvSpPr>
          <p:cNvPr id="90" name="Text 88"/>
          <p:cNvSpPr/>
          <p:nvPr/>
        </p:nvSpPr>
        <p:spPr>
          <a:xfrm>
            <a:off x="4773168" y="4498848"/>
            <a:ext cx="1645920"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60+ (Senior)</a:t>
            </a:r>
            <a:endParaRPr lang="en-US" sz="850" dirty="0"/>
          </a:p>
        </p:txBody>
      </p:sp>
      <p:sp>
        <p:nvSpPr>
          <p:cNvPr id="91" name="Shape 89"/>
          <p:cNvSpPr/>
          <p:nvPr/>
        </p:nvSpPr>
        <p:spPr>
          <a:xfrm>
            <a:off x="6419088" y="4498848"/>
            <a:ext cx="585216" cy="292608"/>
          </a:xfrm>
          <a:prstGeom prst="rect">
            <a:avLst/>
          </a:prstGeom>
          <a:solidFill>
            <a:srgbClr val="FFFFFF"/>
          </a:solidFill>
          <a:ln w="6350">
            <a:solidFill>
              <a:srgbClr val="C0DEE8"/>
            </a:solidFill>
            <a:prstDash val="solid"/>
          </a:ln>
        </p:spPr>
      </p:sp>
      <p:sp>
        <p:nvSpPr>
          <p:cNvPr id="92" name="Text 90"/>
          <p:cNvSpPr/>
          <p:nvPr/>
        </p:nvSpPr>
        <p:spPr>
          <a:xfrm>
            <a:off x="6419088" y="4498848"/>
            <a:ext cx="58521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42</a:t>
            </a:r>
            <a:endParaRPr lang="en-US" sz="850" dirty="0"/>
          </a:p>
        </p:txBody>
      </p:sp>
      <p:sp>
        <p:nvSpPr>
          <p:cNvPr id="93" name="Shape 91"/>
          <p:cNvSpPr/>
          <p:nvPr/>
        </p:nvSpPr>
        <p:spPr>
          <a:xfrm>
            <a:off x="7004304" y="4498848"/>
            <a:ext cx="1627632" cy="292608"/>
          </a:xfrm>
          <a:prstGeom prst="rect">
            <a:avLst/>
          </a:prstGeom>
          <a:solidFill>
            <a:srgbClr val="FFFFFF"/>
          </a:solidFill>
          <a:ln w="6350">
            <a:solidFill>
              <a:srgbClr val="C0DEE8"/>
            </a:solidFill>
            <a:prstDash val="solid"/>
          </a:ln>
        </p:spPr>
      </p:sp>
      <p:sp>
        <p:nvSpPr>
          <p:cNvPr id="94" name="Text 92"/>
          <p:cNvSpPr/>
          <p:nvPr/>
        </p:nvSpPr>
        <p:spPr>
          <a:xfrm>
            <a:off x="7004304" y="4498848"/>
            <a:ext cx="162763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262.1</a:t>
            </a:r>
            <a:endParaRPr lang="en-US" sz="850" dirty="0"/>
          </a:p>
        </p:txBody>
      </p:sp>
      <p:sp>
        <p:nvSpPr>
          <p:cNvPr id="95" name="Shape 93"/>
          <p:cNvSpPr/>
          <p:nvPr/>
        </p:nvSpPr>
        <p:spPr>
          <a:xfrm>
            <a:off x="4773168" y="4297680"/>
            <a:ext cx="1426464" cy="292608"/>
          </a:xfrm>
          <a:prstGeom prst="rect">
            <a:avLst/>
          </a:prstGeom>
          <a:solidFill>
            <a:srgbClr val="061A24"/>
          </a:solidFill>
          <a:ln w="12700">
            <a:solidFill>
              <a:srgbClr val="061A24"/>
            </a:solidFill>
            <a:prstDash val="solid"/>
          </a:ln>
        </p:spPr>
      </p:sp>
      <p:sp>
        <p:nvSpPr>
          <p:cNvPr id="96" name="Text 94"/>
          <p:cNvSpPr/>
          <p:nvPr/>
        </p:nvSpPr>
        <p:spPr>
          <a:xfrm>
            <a:off x="4773168" y="4297680"/>
            <a:ext cx="14264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97" name="Shape 95"/>
          <p:cNvSpPr/>
          <p:nvPr/>
        </p:nvSpPr>
        <p:spPr>
          <a:xfrm>
            <a:off x="6199632" y="4297680"/>
            <a:ext cx="914400" cy="292608"/>
          </a:xfrm>
          <a:prstGeom prst="rect">
            <a:avLst/>
          </a:prstGeom>
          <a:solidFill>
            <a:srgbClr val="061A24"/>
          </a:solidFill>
          <a:ln w="12700">
            <a:solidFill>
              <a:srgbClr val="061A24"/>
            </a:solidFill>
            <a:prstDash val="solid"/>
          </a:ln>
        </p:spPr>
      </p:sp>
      <p:sp>
        <p:nvSpPr>
          <p:cNvPr id="98" name="Text 96"/>
          <p:cNvSpPr/>
          <p:nvPr/>
        </p:nvSpPr>
        <p:spPr>
          <a:xfrm>
            <a:off x="6199632" y="4297680"/>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99" name="Shape 97"/>
          <p:cNvSpPr/>
          <p:nvPr/>
        </p:nvSpPr>
        <p:spPr>
          <a:xfrm>
            <a:off x="7114032" y="4297680"/>
            <a:ext cx="1517904" cy="292608"/>
          </a:xfrm>
          <a:prstGeom prst="rect">
            <a:avLst/>
          </a:prstGeom>
          <a:solidFill>
            <a:srgbClr val="061A24"/>
          </a:solidFill>
          <a:ln w="12700">
            <a:solidFill>
              <a:srgbClr val="061A24"/>
            </a:solidFill>
            <a:prstDash val="solid"/>
          </a:ln>
        </p:spPr>
      </p:sp>
      <p:sp>
        <p:nvSpPr>
          <p:cNvPr id="100" name="Text 98"/>
          <p:cNvSpPr/>
          <p:nvPr/>
        </p:nvSpPr>
        <p:spPr>
          <a:xfrm>
            <a:off x="7114032" y="4297680"/>
            <a:ext cx="151790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101" name="Shape 99"/>
          <p:cNvSpPr/>
          <p:nvPr/>
        </p:nvSpPr>
        <p:spPr>
          <a:xfrm>
            <a:off x="4773168" y="4590288"/>
            <a:ext cx="1426464" cy="292608"/>
          </a:xfrm>
          <a:prstGeom prst="rect">
            <a:avLst/>
          </a:prstGeom>
          <a:solidFill>
            <a:srgbClr val="D0EEF4"/>
          </a:solidFill>
          <a:ln w="6350">
            <a:solidFill>
              <a:srgbClr val="C0DEE8"/>
            </a:solidFill>
            <a:prstDash val="solid"/>
          </a:ln>
        </p:spPr>
      </p:sp>
      <p:sp>
        <p:nvSpPr>
          <p:cNvPr id="102" name="Text 100"/>
          <p:cNvSpPr/>
          <p:nvPr/>
        </p:nvSpPr>
        <p:spPr>
          <a:xfrm>
            <a:off x="4773168" y="4590288"/>
            <a:ext cx="142646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14.82</a:t>
            </a:r>
            <a:endParaRPr lang="en-US" sz="850" dirty="0"/>
          </a:p>
        </p:txBody>
      </p:sp>
      <p:sp>
        <p:nvSpPr>
          <p:cNvPr id="103" name="Shape 101"/>
          <p:cNvSpPr/>
          <p:nvPr/>
        </p:nvSpPr>
        <p:spPr>
          <a:xfrm>
            <a:off x="6199632" y="4590288"/>
            <a:ext cx="914400" cy="292608"/>
          </a:xfrm>
          <a:prstGeom prst="rect">
            <a:avLst/>
          </a:prstGeom>
          <a:solidFill>
            <a:srgbClr val="EAF6FA"/>
          </a:solidFill>
          <a:ln w="6350">
            <a:solidFill>
              <a:srgbClr val="C0DEE8"/>
            </a:solidFill>
            <a:prstDash val="solid"/>
          </a:ln>
        </p:spPr>
      </p:sp>
      <p:sp>
        <p:nvSpPr>
          <p:cNvPr id="104" name="Text 102"/>
          <p:cNvSpPr/>
          <p:nvPr/>
        </p:nvSpPr>
        <p:spPr>
          <a:xfrm>
            <a:off x="6199632" y="4590288"/>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a:t>
            </a:r>
            <a:endParaRPr lang="en-US" sz="850" dirty="0"/>
          </a:p>
        </p:txBody>
      </p:sp>
      <p:sp>
        <p:nvSpPr>
          <p:cNvPr id="105" name="Shape 103"/>
          <p:cNvSpPr/>
          <p:nvPr/>
        </p:nvSpPr>
        <p:spPr>
          <a:xfrm>
            <a:off x="7114032" y="4590288"/>
            <a:ext cx="1517904" cy="292608"/>
          </a:xfrm>
          <a:prstGeom prst="rect">
            <a:avLst/>
          </a:prstGeom>
          <a:solidFill>
            <a:srgbClr val="D0EEF4"/>
          </a:solidFill>
          <a:ln w="6350">
            <a:solidFill>
              <a:srgbClr val="C0DEE8"/>
            </a:solidFill>
            <a:prstDash val="solid"/>
          </a:ln>
        </p:spPr>
      </p:sp>
      <p:sp>
        <p:nvSpPr>
          <p:cNvPr id="106" name="Text 104"/>
          <p:cNvSpPr/>
          <p:nvPr/>
        </p:nvSpPr>
        <p:spPr>
          <a:xfrm>
            <a:off x="7114032" y="4590288"/>
            <a:ext cx="151790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.002</a:t>
            </a:r>
            <a:endParaRPr lang="en-US" sz="850" dirty="0"/>
          </a:p>
        </p:txBody>
      </p:sp>
      <p:sp>
        <p:nvSpPr>
          <p:cNvPr id="107" name="Text 105"/>
          <p:cNvSpPr/>
          <p:nvPr/>
        </p:nvSpPr>
        <p:spPr>
          <a:xfrm>
            <a:off x="4773168" y="4681728"/>
            <a:ext cx="3931920" cy="420624"/>
          </a:xfrm>
          <a:prstGeom prst="rect">
            <a:avLst/>
          </a:prstGeom>
          <a:noFill/>
          <a:ln/>
        </p:spPr>
        <p:txBody>
          <a:bodyPr wrap="square" lIns="0" tIns="0" rIns="0" bIns="0" rtlCol="0" anchor="ctr"/>
          <a:lstStyle/>
          <a:p>
            <a:pPr indent="0" marL="0">
              <a:buNone/>
            </a:pPr>
            <a:r>
              <a:rPr lang="en-US" sz="900" dirty="0">
                <a:solidFill>
                  <a:srgbClr val="1A2E38"/>
                </a:solidFill>
                <a:latin typeface="Calibri" pitchFamily="34" charset="0"/>
                <a:ea typeface="Calibri" pitchFamily="34" charset="-122"/>
                <a:cs typeface="Calibri" pitchFamily="34" charset="-120"/>
              </a:rPr>
              <a:t>H(3) = 14.82, p = .002. Significant. Senior consumers have highest repurchase rank. Follow up: pairwise Mann-Whitney with Bonferroni correction (α = .05/6 = .0083).</a:t>
            </a:r>
            <a:endParaRPr lang="en-US" sz="900" dirty="0"/>
          </a:p>
        </p:txBody>
      </p:sp>
      <p:sp>
        <p:nvSpPr>
          <p:cNvPr id="108" name="Shape 106"/>
          <p:cNvSpPr/>
          <p:nvPr/>
        </p:nvSpPr>
        <p:spPr>
          <a:xfrm>
            <a:off x="256032" y="5102352"/>
            <a:ext cx="8631936" cy="365760"/>
          </a:xfrm>
          <a:prstGeom prst="roundRect">
            <a:avLst>
              <a:gd name="adj" fmla="val 15000"/>
            </a:avLst>
          </a:prstGeom>
          <a:solidFill>
            <a:srgbClr val="E0F7FA"/>
          </a:solidFill>
          <a:ln w="19050">
            <a:solidFill>
              <a:srgbClr val="17A2B8"/>
            </a:solidFill>
            <a:prstDash val="solid"/>
          </a:ln>
        </p:spPr>
      </p:sp>
      <p:sp>
        <p:nvSpPr>
          <p:cNvPr id="109" name="Text 107"/>
          <p:cNvSpPr/>
          <p:nvPr/>
        </p:nvSpPr>
        <p:spPr>
          <a:xfrm>
            <a:off x="384048" y="5102352"/>
            <a:ext cx="8449056" cy="365760"/>
          </a:xfrm>
          <a:prstGeom prst="rect">
            <a:avLst/>
          </a:prstGeom>
          <a:noFill/>
          <a:ln/>
        </p:spPr>
        <p:txBody>
          <a:bodyPr wrap="square" lIns="0" tIns="0" rIns="0" bIns="0" rtlCol="0" anchor="ctr"/>
          <a:lstStyle/>
          <a:p>
            <a:pPr indent="0" marL="0">
              <a:buNone/>
            </a:pPr>
            <a:r>
              <a:rPr lang="en-US" sz="1000" dirty="0">
                <a:solidFill>
                  <a:srgbClr val="005662"/>
                </a:solidFill>
                <a:latin typeface="Calibri" pitchFamily="34" charset="0"/>
                <a:ea typeface="Calibri" pitchFamily="34" charset="-122"/>
                <a:cs typeface="Calibri" pitchFamily="34" charset="-120"/>
              </a:rPr>
              <a:t>Effect size for Mann-Whitney: r = |Z| / √N. r = 3.24 / √450 = .153. Small effect. Interpret: female consumers tend to report higher repurchase intentions than male consumers.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E6B78">
              <a:alpha val="16000"/>
            </a:srgbClr>
          </a:solidFill>
          <a:ln w="12700">
            <a:solidFill>
              <a:srgbClr val="0E6B78"/>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Wilcoxon Signed-Rank Test and Friedman's Rank Test</a:t>
            </a:r>
            <a:endParaRPr lang="en-US" sz="2600" dirty="0"/>
          </a:p>
        </p:txBody>
      </p:sp>
      <p:sp>
        <p:nvSpPr>
          <p:cNvPr id="4" name="Shape 2"/>
          <p:cNvSpPr/>
          <p:nvPr/>
        </p:nvSpPr>
        <p:spPr>
          <a:xfrm>
            <a:off x="274320" y="932688"/>
            <a:ext cx="4160520" cy="4133088"/>
          </a:xfrm>
          <a:prstGeom prst="roundRect">
            <a:avLst>
              <a:gd name="adj" fmla="val 2212"/>
            </a:avLst>
          </a:prstGeom>
          <a:solidFill>
            <a:srgbClr val="0B2E40"/>
          </a:solidFill>
          <a:ln w="12700">
            <a:solidFill>
              <a:srgbClr val="17A2B8"/>
            </a:solidFill>
            <a:prstDash val="solid"/>
          </a:ln>
        </p:spPr>
      </p:sp>
      <p:sp>
        <p:nvSpPr>
          <p:cNvPr id="5" name="Text 3"/>
          <p:cNvSpPr/>
          <p:nvPr/>
        </p:nvSpPr>
        <p:spPr>
          <a:xfrm>
            <a:off x="384048" y="1005840"/>
            <a:ext cx="3913632" cy="274320"/>
          </a:xfrm>
          <a:prstGeom prst="rect">
            <a:avLst/>
          </a:prstGeom>
          <a:noFill/>
          <a:ln/>
        </p:spPr>
        <p:txBody>
          <a:bodyPr wrap="square" lIns="0" tIns="0" rIns="0" bIns="0" rtlCol="0" anchor="ctr"/>
          <a:lstStyle/>
          <a:p>
            <a:pPr indent="0" marL="0">
              <a:buNone/>
            </a:pPr>
            <a:r>
              <a:rPr lang="en-US" sz="1050" b="1" dirty="0">
                <a:solidFill>
                  <a:srgbClr val="F0C040"/>
                </a:solidFill>
                <a:latin typeface="Calibri" pitchFamily="34" charset="0"/>
                <a:ea typeface="Calibri" pitchFamily="34" charset="-122"/>
                <a:cs typeface="Calibri" pitchFamily="34" charset="-120"/>
              </a:rPr>
              <a:t>WILCOXON MATCHED-PAIRS SIGNED-RANK TEST</a:t>
            </a:r>
            <a:endParaRPr lang="en-US" sz="1050" dirty="0"/>
          </a:p>
        </p:txBody>
      </p:sp>
      <p:sp>
        <p:nvSpPr>
          <p:cNvPr id="6" name="Text 4"/>
          <p:cNvSpPr/>
          <p:nvPr/>
        </p:nvSpPr>
        <p:spPr>
          <a:xfrm>
            <a:off x="384048" y="1353312"/>
            <a:ext cx="3913632" cy="475488"/>
          </a:xfrm>
          <a:prstGeom prst="rect">
            <a:avLst/>
          </a:prstGeom>
          <a:noFill/>
          <a:ln/>
        </p:spPr>
        <p:txBody>
          <a:bodyPr wrap="square" lIns="0" tIns="0" rIns="0" bIns="0" rtlCol="0" anchor="ctr"/>
          <a:lstStyle/>
          <a:p>
            <a:pPr indent="0" marL="0">
              <a:buNone/>
            </a:pPr>
            <a:r>
              <a:rPr lang="en-US" sz="950" dirty="0">
                <a:solidFill>
                  <a:srgbClr val="90D4E0"/>
                </a:solidFill>
                <a:latin typeface="Calibri" pitchFamily="34" charset="0"/>
                <a:ea typeface="Calibri" pitchFamily="34" charset="-122"/>
                <a:cs typeface="Calibri" pitchFamily="34" charset="-120"/>
              </a:rPr>
              <a:t>Non-parametric equivalent of the PAIRED T-TEST. Compares two related measurements from the same participants using rank of differences rather than arithmetic differences.</a:t>
            </a:r>
            <a:endParaRPr lang="en-US" sz="950" dirty="0"/>
          </a:p>
        </p:txBody>
      </p:sp>
      <p:sp>
        <p:nvSpPr>
          <p:cNvPr id="7" name="Text 5"/>
          <p:cNvSpPr/>
          <p:nvPr/>
        </p:nvSpPr>
        <p:spPr>
          <a:xfrm>
            <a:off x="384048" y="1901952"/>
            <a:ext cx="3913632" cy="512064"/>
          </a:xfrm>
          <a:prstGeom prst="rect">
            <a:avLst/>
          </a:prstGeom>
          <a:noFill/>
          <a:ln/>
        </p:spPr>
        <p:txBody>
          <a:bodyPr wrap="square" lIns="0" tIns="0" rIns="0" bIns="0" rtlCol="0" anchor="ctr"/>
          <a:lstStyle/>
          <a:p>
            <a:pPr indent="0" marL="0">
              <a:buNone/>
            </a:pPr>
            <a:r>
              <a:rPr lang="en-US" sz="950" b="1" dirty="0">
                <a:solidFill>
                  <a:srgbClr val="17A2B8"/>
                </a:solidFill>
                <a:latin typeface="Calibri" pitchFamily="34" charset="0"/>
                <a:ea typeface="Calibri" pitchFamily="34" charset="-122"/>
                <a:cs typeface="Calibri" pitchFamily="34" charset="-120"/>
              </a:rPr>
              <a:t>UAC Scenario: </a:t>
            </a:r>
            <a:pPr indent="0" marL="0">
              <a:buNone/>
            </a:pPr>
            <a:r>
              <a:rPr lang="en-US" sz="950" dirty="0">
                <a:solidFill>
                  <a:srgbClr val="90D4E0"/>
                </a:solidFill>
                <a:latin typeface="Calibri" pitchFamily="34" charset="0"/>
                <a:ea typeface="Calibri" pitchFamily="34" charset="-122"/>
                <a:cs typeface="Calibri" pitchFamily="34" charset="-120"/>
              </a:rPr>
              <a:t>120 consumers rated repurchase_intention (1-5 ordinal) before and after Deli Foods relaunch. Was there a significant improvement?</a:t>
            </a:r>
            <a:endParaRPr lang="en-US" sz="950" dirty="0"/>
          </a:p>
        </p:txBody>
      </p:sp>
      <p:sp>
        <p:nvSpPr>
          <p:cNvPr id="8" name="Text 6"/>
          <p:cNvSpPr/>
          <p:nvPr/>
        </p:nvSpPr>
        <p:spPr>
          <a:xfrm>
            <a:off x="384048" y="2487168"/>
            <a:ext cx="3913632" cy="566928"/>
          </a:xfrm>
          <a:prstGeom prst="rect">
            <a:avLst/>
          </a:prstGeom>
          <a:noFill/>
          <a:ln/>
        </p:spPr>
        <p:txBody>
          <a:bodyPr wrap="square" lIns="0" tIns="0" rIns="0" bIns="0" rtlCol="0" anchor="ctr"/>
          <a:lstStyle/>
          <a:p>
            <a:pPr indent="0" marL="0">
              <a:buNone/>
            </a:pPr>
            <a:r>
              <a:rPr lang="en-US" sz="900" i="1" dirty="0">
                <a:solidFill>
                  <a:srgbClr val="17A2B8"/>
                </a:solidFill>
                <a:latin typeface="Calibri" pitchFamily="34" charset="0"/>
                <a:ea typeface="Calibri" pitchFamily="34" charset="-122"/>
                <a:cs typeface="Calibri" pitchFamily="34" charset="-120"/>
              </a:rPr>
              <a:t>Steps: Analyze &gt; Nonparametric Tests &gt; Legacy Dialogs &gt; 2 Related Samples &gt; select pre_repurchase then Ctrl+click post_repurchase &gt; arrow to move as pair &gt; Wilcoxon ticked &gt; OK</a:t>
            </a:r>
            <a:endParaRPr lang="en-US" sz="900" dirty="0"/>
          </a:p>
        </p:txBody>
      </p:sp>
      <p:sp>
        <p:nvSpPr>
          <p:cNvPr id="9" name="Text 7"/>
          <p:cNvSpPr/>
          <p:nvPr/>
        </p:nvSpPr>
        <p:spPr>
          <a:xfrm>
            <a:off x="384048" y="3127248"/>
            <a:ext cx="3913632" cy="219456"/>
          </a:xfrm>
          <a:prstGeom prst="rect">
            <a:avLst/>
          </a:prstGeom>
          <a:noFill/>
          <a:ln/>
        </p:spPr>
        <p:txBody>
          <a:bodyPr wrap="square" lIns="0" tIns="0" rIns="0" bIns="0" rtlCol="0" anchor="ctr"/>
          <a:lstStyle/>
          <a:p>
            <a:pPr indent="0" marL="0">
              <a:buNone/>
            </a:pPr>
            <a:r>
              <a:rPr lang="en-US" sz="950" b="1" dirty="0">
                <a:solidFill>
                  <a:srgbClr val="17A2B8"/>
                </a:solidFill>
                <a:latin typeface="Calibri" pitchFamily="34" charset="0"/>
                <a:ea typeface="Calibri" pitchFamily="34" charset="-122"/>
                <a:cs typeface="Calibri" pitchFamily="34" charset="-120"/>
              </a:rPr>
              <a:t>Ranks Output:</a:t>
            </a:r>
            <a:endParaRPr lang="en-US" sz="950" dirty="0"/>
          </a:p>
        </p:txBody>
      </p:sp>
      <p:sp>
        <p:nvSpPr>
          <p:cNvPr id="10" name="Shape 8"/>
          <p:cNvSpPr/>
          <p:nvPr/>
        </p:nvSpPr>
        <p:spPr>
          <a:xfrm>
            <a:off x="384048" y="3364992"/>
            <a:ext cx="1298448" cy="292608"/>
          </a:xfrm>
          <a:prstGeom prst="rect">
            <a:avLst/>
          </a:prstGeom>
          <a:solidFill>
            <a:srgbClr val="061A24"/>
          </a:solidFill>
          <a:ln w="12700">
            <a:solidFill>
              <a:srgbClr val="061A24"/>
            </a:solidFill>
            <a:prstDash val="solid"/>
          </a:ln>
        </p:spPr>
      </p:sp>
      <p:sp>
        <p:nvSpPr>
          <p:cNvPr id="11" name="Text 9"/>
          <p:cNvSpPr/>
          <p:nvPr/>
        </p:nvSpPr>
        <p:spPr>
          <a:xfrm>
            <a:off x="384048" y="3364992"/>
            <a:ext cx="1298448" cy="292608"/>
          </a:xfrm>
          <a:prstGeom prst="rect">
            <a:avLst/>
          </a:prstGeom>
          <a:noFill/>
          <a:ln/>
        </p:spPr>
        <p:txBody>
          <a:bodyPr wrap="square" lIns="0" tIns="0" rIns="0" bIns="0" rtlCol="0" anchor="ctr"/>
          <a:lstStyle/>
          <a:p>
            <a:pPr algn="ctr" indent="0" marL="0">
              <a:buNone/>
            </a:pPr>
            <a:endParaRPr lang="en-US" sz="850" dirty="0"/>
          </a:p>
        </p:txBody>
      </p:sp>
      <p:sp>
        <p:nvSpPr>
          <p:cNvPr id="12" name="Shape 10"/>
          <p:cNvSpPr/>
          <p:nvPr/>
        </p:nvSpPr>
        <p:spPr>
          <a:xfrm>
            <a:off x="1682496" y="3364992"/>
            <a:ext cx="530352" cy="292608"/>
          </a:xfrm>
          <a:prstGeom prst="rect">
            <a:avLst/>
          </a:prstGeom>
          <a:solidFill>
            <a:srgbClr val="061A24"/>
          </a:solidFill>
          <a:ln w="12700">
            <a:solidFill>
              <a:srgbClr val="061A24"/>
            </a:solidFill>
            <a:prstDash val="solid"/>
          </a:ln>
        </p:spPr>
      </p:sp>
      <p:sp>
        <p:nvSpPr>
          <p:cNvPr id="13" name="Text 11"/>
          <p:cNvSpPr/>
          <p:nvPr/>
        </p:nvSpPr>
        <p:spPr>
          <a:xfrm>
            <a:off x="1682496" y="3364992"/>
            <a:ext cx="5303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14" name="Shape 12"/>
          <p:cNvSpPr/>
          <p:nvPr/>
        </p:nvSpPr>
        <p:spPr>
          <a:xfrm>
            <a:off x="2212848" y="3364992"/>
            <a:ext cx="804672" cy="292608"/>
          </a:xfrm>
          <a:prstGeom prst="rect">
            <a:avLst/>
          </a:prstGeom>
          <a:solidFill>
            <a:srgbClr val="061A24"/>
          </a:solidFill>
          <a:ln w="12700">
            <a:solidFill>
              <a:srgbClr val="061A24"/>
            </a:solidFill>
            <a:prstDash val="solid"/>
          </a:ln>
        </p:spPr>
      </p:sp>
      <p:sp>
        <p:nvSpPr>
          <p:cNvPr id="15" name="Text 13"/>
          <p:cNvSpPr/>
          <p:nvPr/>
        </p:nvSpPr>
        <p:spPr>
          <a:xfrm>
            <a:off x="2212848" y="3364992"/>
            <a:ext cx="80467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Rank</a:t>
            </a:r>
            <a:endParaRPr lang="en-US" sz="850" dirty="0"/>
          </a:p>
        </p:txBody>
      </p:sp>
      <p:sp>
        <p:nvSpPr>
          <p:cNvPr id="16" name="Shape 14"/>
          <p:cNvSpPr/>
          <p:nvPr/>
        </p:nvSpPr>
        <p:spPr>
          <a:xfrm>
            <a:off x="3017520" y="3364992"/>
            <a:ext cx="932688" cy="292608"/>
          </a:xfrm>
          <a:prstGeom prst="rect">
            <a:avLst/>
          </a:prstGeom>
          <a:solidFill>
            <a:srgbClr val="061A24"/>
          </a:solidFill>
          <a:ln w="12700">
            <a:solidFill>
              <a:srgbClr val="061A24"/>
            </a:solidFill>
            <a:prstDash val="solid"/>
          </a:ln>
        </p:spPr>
      </p:sp>
      <p:sp>
        <p:nvSpPr>
          <p:cNvPr id="17" name="Text 15"/>
          <p:cNvSpPr/>
          <p:nvPr/>
        </p:nvSpPr>
        <p:spPr>
          <a:xfrm>
            <a:off x="3017520" y="3364992"/>
            <a:ext cx="9326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Sum Ranks</a:t>
            </a:r>
            <a:endParaRPr lang="en-US" sz="850" dirty="0"/>
          </a:p>
        </p:txBody>
      </p:sp>
      <p:sp>
        <p:nvSpPr>
          <p:cNvPr id="18" name="Shape 16"/>
          <p:cNvSpPr/>
          <p:nvPr/>
        </p:nvSpPr>
        <p:spPr>
          <a:xfrm>
            <a:off x="384048" y="3657600"/>
            <a:ext cx="1298448" cy="292608"/>
          </a:xfrm>
          <a:prstGeom prst="rect">
            <a:avLst/>
          </a:prstGeom>
          <a:solidFill>
            <a:srgbClr val="0B2030"/>
          </a:solidFill>
          <a:ln w="6350">
            <a:solidFill>
              <a:srgbClr val="C0DEE8"/>
            </a:solidFill>
            <a:prstDash val="solid"/>
          </a:ln>
        </p:spPr>
      </p:sp>
      <p:sp>
        <p:nvSpPr>
          <p:cNvPr id="19" name="Text 17"/>
          <p:cNvSpPr/>
          <p:nvPr/>
        </p:nvSpPr>
        <p:spPr>
          <a:xfrm>
            <a:off x="384048" y="3657600"/>
            <a:ext cx="1298448"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Negative Ranks</a:t>
            </a:r>
            <a:endParaRPr lang="en-US" sz="850" dirty="0"/>
          </a:p>
        </p:txBody>
      </p:sp>
      <p:sp>
        <p:nvSpPr>
          <p:cNvPr id="20" name="Shape 18"/>
          <p:cNvSpPr/>
          <p:nvPr/>
        </p:nvSpPr>
        <p:spPr>
          <a:xfrm>
            <a:off x="1682496" y="3657600"/>
            <a:ext cx="530352" cy="292608"/>
          </a:xfrm>
          <a:prstGeom prst="rect">
            <a:avLst/>
          </a:prstGeom>
          <a:solidFill>
            <a:srgbClr val="0B2030"/>
          </a:solidFill>
          <a:ln w="6350">
            <a:solidFill>
              <a:srgbClr val="C0DEE8"/>
            </a:solidFill>
            <a:prstDash val="solid"/>
          </a:ln>
        </p:spPr>
      </p:sp>
      <p:sp>
        <p:nvSpPr>
          <p:cNvPr id="21" name="Text 19"/>
          <p:cNvSpPr/>
          <p:nvPr/>
        </p:nvSpPr>
        <p:spPr>
          <a:xfrm>
            <a:off x="1682496" y="3657600"/>
            <a:ext cx="5303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a:t>
            </a:r>
            <a:endParaRPr lang="en-US" sz="850" dirty="0"/>
          </a:p>
        </p:txBody>
      </p:sp>
      <p:sp>
        <p:nvSpPr>
          <p:cNvPr id="22" name="Shape 20"/>
          <p:cNvSpPr/>
          <p:nvPr/>
        </p:nvSpPr>
        <p:spPr>
          <a:xfrm>
            <a:off x="2212848" y="3657600"/>
            <a:ext cx="804672" cy="292608"/>
          </a:xfrm>
          <a:prstGeom prst="rect">
            <a:avLst/>
          </a:prstGeom>
          <a:solidFill>
            <a:srgbClr val="0B2030"/>
          </a:solidFill>
          <a:ln w="6350">
            <a:solidFill>
              <a:srgbClr val="C0DEE8"/>
            </a:solidFill>
            <a:prstDash val="solid"/>
          </a:ln>
        </p:spPr>
      </p:sp>
      <p:sp>
        <p:nvSpPr>
          <p:cNvPr id="23" name="Text 21"/>
          <p:cNvSpPr/>
          <p:nvPr/>
        </p:nvSpPr>
        <p:spPr>
          <a:xfrm>
            <a:off x="2212848" y="3657600"/>
            <a:ext cx="80467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38.4</a:t>
            </a:r>
            <a:endParaRPr lang="en-US" sz="850" dirty="0"/>
          </a:p>
        </p:txBody>
      </p:sp>
      <p:sp>
        <p:nvSpPr>
          <p:cNvPr id="24" name="Shape 22"/>
          <p:cNvSpPr/>
          <p:nvPr/>
        </p:nvSpPr>
        <p:spPr>
          <a:xfrm>
            <a:off x="3017520" y="3657600"/>
            <a:ext cx="932688" cy="292608"/>
          </a:xfrm>
          <a:prstGeom prst="rect">
            <a:avLst/>
          </a:prstGeom>
          <a:solidFill>
            <a:srgbClr val="0B2030"/>
          </a:solidFill>
          <a:ln w="6350">
            <a:solidFill>
              <a:srgbClr val="C0DEE8"/>
            </a:solidFill>
            <a:prstDash val="solid"/>
          </a:ln>
        </p:spPr>
      </p:sp>
      <p:sp>
        <p:nvSpPr>
          <p:cNvPr id="25" name="Text 23"/>
          <p:cNvSpPr/>
          <p:nvPr/>
        </p:nvSpPr>
        <p:spPr>
          <a:xfrm>
            <a:off x="3017520" y="3657600"/>
            <a:ext cx="9326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922</a:t>
            </a:r>
            <a:endParaRPr lang="en-US" sz="850" dirty="0"/>
          </a:p>
        </p:txBody>
      </p:sp>
      <p:sp>
        <p:nvSpPr>
          <p:cNvPr id="26" name="Shape 24"/>
          <p:cNvSpPr/>
          <p:nvPr/>
        </p:nvSpPr>
        <p:spPr>
          <a:xfrm>
            <a:off x="384048" y="3950208"/>
            <a:ext cx="1298448" cy="292608"/>
          </a:xfrm>
          <a:prstGeom prst="rect">
            <a:avLst/>
          </a:prstGeom>
          <a:solidFill>
            <a:srgbClr val="0E2838"/>
          </a:solidFill>
          <a:ln w="6350">
            <a:solidFill>
              <a:srgbClr val="C0DEE8"/>
            </a:solidFill>
            <a:prstDash val="solid"/>
          </a:ln>
        </p:spPr>
      </p:sp>
      <p:sp>
        <p:nvSpPr>
          <p:cNvPr id="27" name="Text 25"/>
          <p:cNvSpPr/>
          <p:nvPr/>
        </p:nvSpPr>
        <p:spPr>
          <a:xfrm>
            <a:off x="384048" y="3950208"/>
            <a:ext cx="1298448"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Positive Ranks</a:t>
            </a:r>
            <a:endParaRPr lang="en-US" sz="850" dirty="0"/>
          </a:p>
        </p:txBody>
      </p:sp>
      <p:sp>
        <p:nvSpPr>
          <p:cNvPr id="28" name="Shape 26"/>
          <p:cNvSpPr/>
          <p:nvPr/>
        </p:nvSpPr>
        <p:spPr>
          <a:xfrm>
            <a:off x="1682496" y="3950208"/>
            <a:ext cx="530352" cy="292608"/>
          </a:xfrm>
          <a:prstGeom prst="rect">
            <a:avLst/>
          </a:prstGeom>
          <a:solidFill>
            <a:srgbClr val="0E2838"/>
          </a:solidFill>
          <a:ln w="6350">
            <a:solidFill>
              <a:srgbClr val="C0DEE8"/>
            </a:solidFill>
            <a:prstDash val="solid"/>
          </a:ln>
        </p:spPr>
      </p:sp>
      <p:sp>
        <p:nvSpPr>
          <p:cNvPr id="29" name="Text 27"/>
          <p:cNvSpPr/>
          <p:nvPr/>
        </p:nvSpPr>
        <p:spPr>
          <a:xfrm>
            <a:off x="1682496" y="3950208"/>
            <a:ext cx="5303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88</a:t>
            </a:r>
            <a:endParaRPr lang="en-US" sz="850" dirty="0"/>
          </a:p>
        </p:txBody>
      </p:sp>
      <p:sp>
        <p:nvSpPr>
          <p:cNvPr id="30" name="Shape 28"/>
          <p:cNvSpPr/>
          <p:nvPr/>
        </p:nvSpPr>
        <p:spPr>
          <a:xfrm>
            <a:off x="2212848" y="3950208"/>
            <a:ext cx="804672" cy="292608"/>
          </a:xfrm>
          <a:prstGeom prst="rect">
            <a:avLst/>
          </a:prstGeom>
          <a:solidFill>
            <a:srgbClr val="0E2838"/>
          </a:solidFill>
          <a:ln w="6350">
            <a:solidFill>
              <a:srgbClr val="C0DEE8"/>
            </a:solidFill>
            <a:prstDash val="solid"/>
          </a:ln>
        </p:spPr>
      </p:sp>
      <p:sp>
        <p:nvSpPr>
          <p:cNvPr id="31" name="Text 29"/>
          <p:cNvSpPr/>
          <p:nvPr/>
        </p:nvSpPr>
        <p:spPr>
          <a:xfrm>
            <a:off x="2212848" y="3950208"/>
            <a:ext cx="80467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59.2</a:t>
            </a:r>
            <a:endParaRPr lang="en-US" sz="850" dirty="0"/>
          </a:p>
        </p:txBody>
      </p:sp>
      <p:sp>
        <p:nvSpPr>
          <p:cNvPr id="32" name="Shape 30"/>
          <p:cNvSpPr/>
          <p:nvPr/>
        </p:nvSpPr>
        <p:spPr>
          <a:xfrm>
            <a:off x="3017520" y="3950208"/>
            <a:ext cx="932688" cy="292608"/>
          </a:xfrm>
          <a:prstGeom prst="rect">
            <a:avLst/>
          </a:prstGeom>
          <a:solidFill>
            <a:srgbClr val="0E2838"/>
          </a:solidFill>
          <a:ln w="6350">
            <a:solidFill>
              <a:srgbClr val="C0DEE8"/>
            </a:solidFill>
            <a:prstDash val="solid"/>
          </a:ln>
        </p:spPr>
      </p:sp>
      <p:sp>
        <p:nvSpPr>
          <p:cNvPr id="33" name="Text 31"/>
          <p:cNvSpPr/>
          <p:nvPr/>
        </p:nvSpPr>
        <p:spPr>
          <a:xfrm>
            <a:off x="3017520" y="3950208"/>
            <a:ext cx="9326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5210</a:t>
            </a:r>
            <a:endParaRPr lang="en-US" sz="850" dirty="0"/>
          </a:p>
        </p:txBody>
      </p:sp>
      <p:sp>
        <p:nvSpPr>
          <p:cNvPr id="34" name="Shape 32"/>
          <p:cNvSpPr/>
          <p:nvPr/>
        </p:nvSpPr>
        <p:spPr>
          <a:xfrm>
            <a:off x="384048" y="4242816"/>
            <a:ext cx="1298448" cy="292608"/>
          </a:xfrm>
          <a:prstGeom prst="rect">
            <a:avLst/>
          </a:prstGeom>
          <a:solidFill>
            <a:srgbClr val="0B2030"/>
          </a:solidFill>
          <a:ln w="6350">
            <a:solidFill>
              <a:srgbClr val="C0DEE8"/>
            </a:solidFill>
            <a:prstDash val="solid"/>
          </a:ln>
        </p:spPr>
      </p:sp>
      <p:sp>
        <p:nvSpPr>
          <p:cNvPr id="35" name="Text 33"/>
          <p:cNvSpPr/>
          <p:nvPr/>
        </p:nvSpPr>
        <p:spPr>
          <a:xfrm>
            <a:off x="384048" y="4242816"/>
            <a:ext cx="1298448"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Ties</a:t>
            </a:r>
            <a:endParaRPr lang="en-US" sz="850" dirty="0"/>
          </a:p>
        </p:txBody>
      </p:sp>
      <p:sp>
        <p:nvSpPr>
          <p:cNvPr id="36" name="Shape 34"/>
          <p:cNvSpPr/>
          <p:nvPr/>
        </p:nvSpPr>
        <p:spPr>
          <a:xfrm>
            <a:off x="1682496" y="4242816"/>
            <a:ext cx="530352" cy="292608"/>
          </a:xfrm>
          <a:prstGeom prst="rect">
            <a:avLst/>
          </a:prstGeom>
          <a:solidFill>
            <a:srgbClr val="0B2030"/>
          </a:solidFill>
          <a:ln w="6350">
            <a:solidFill>
              <a:srgbClr val="C0DEE8"/>
            </a:solidFill>
            <a:prstDash val="solid"/>
          </a:ln>
        </p:spPr>
      </p:sp>
      <p:sp>
        <p:nvSpPr>
          <p:cNvPr id="37" name="Text 35"/>
          <p:cNvSpPr/>
          <p:nvPr/>
        </p:nvSpPr>
        <p:spPr>
          <a:xfrm>
            <a:off x="1682496" y="4242816"/>
            <a:ext cx="5303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a:t>
            </a:r>
            <a:endParaRPr lang="en-US" sz="850" dirty="0"/>
          </a:p>
        </p:txBody>
      </p:sp>
      <p:sp>
        <p:nvSpPr>
          <p:cNvPr id="38" name="Shape 36"/>
          <p:cNvSpPr/>
          <p:nvPr/>
        </p:nvSpPr>
        <p:spPr>
          <a:xfrm>
            <a:off x="2212848" y="4242816"/>
            <a:ext cx="804672" cy="292608"/>
          </a:xfrm>
          <a:prstGeom prst="rect">
            <a:avLst/>
          </a:prstGeom>
          <a:solidFill>
            <a:srgbClr val="0B2030"/>
          </a:solidFill>
          <a:ln w="6350">
            <a:solidFill>
              <a:srgbClr val="C0DEE8"/>
            </a:solidFill>
            <a:prstDash val="solid"/>
          </a:ln>
        </p:spPr>
      </p:sp>
      <p:sp>
        <p:nvSpPr>
          <p:cNvPr id="39" name="Text 37"/>
          <p:cNvSpPr/>
          <p:nvPr/>
        </p:nvSpPr>
        <p:spPr>
          <a:xfrm>
            <a:off x="2212848" y="4242816"/>
            <a:ext cx="804672" cy="292608"/>
          </a:xfrm>
          <a:prstGeom prst="rect">
            <a:avLst/>
          </a:prstGeom>
          <a:noFill/>
          <a:ln/>
        </p:spPr>
        <p:txBody>
          <a:bodyPr wrap="square" lIns="0" tIns="0" rIns="0" bIns="0" rtlCol="0" anchor="ctr"/>
          <a:lstStyle/>
          <a:p>
            <a:pPr algn="ctr" indent="0" marL="0">
              <a:buNone/>
            </a:pPr>
            <a:endParaRPr lang="en-US" sz="850" dirty="0"/>
          </a:p>
        </p:txBody>
      </p:sp>
      <p:sp>
        <p:nvSpPr>
          <p:cNvPr id="40" name="Shape 38"/>
          <p:cNvSpPr/>
          <p:nvPr/>
        </p:nvSpPr>
        <p:spPr>
          <a:xfrm>
            <a:off x="3017520" y="4242816"/>
            <a:ext cx="932688" cy="292608"/>
          </a:xfrm>
          <a:prstGeom prst="rect">
            <a:avLst/>
          </a:prstGeom>
          <a:solidFill>
            <a:srgbClr val="0B2030"/>
          </a:solidFill>
          <a:ln w="6350">
            <a:solidFill>
              <a:srgbClr val="C0DEE8"/>
            </a:solidFill>
            <a:prstDash val="solid"/>
          </a:ln>
        </p:spPr>
      </p:sp>
      <p:sp>
        <p:nvSpPr>
          <p:cNvPr id="41" name="Text 39"/>
          <p:cNvSpPr/>
          <p:nvPr/>
        </p:nvSpPr>
        <p:spPr>
          <a:xfrm>
            <a:off x="3017520" y="4242816"/>
            <a:ext cx="932688" cy="292608"/>
          </a:xfrm>
          <a:prstGeom prst="rect">
            <a:avLst/>
          </a:prstGeom>
          <a:noFill/>
          <a:ln/>
        </p:spPr>
        <p:txBody>
          <a:bodyPr wrap="square" lIns="0" tIns="0" rIns="0" bIns="0" rtlCol="0" anchor="ctr"/>
          <a:lstStyle/>
          <a:p>
            <a:pPr algn="ctr" indent="0" marL="0">
              <a:buNone/>
            </a:pPr>
            <a:endParaRPr lang="en-US" sz="850" dirty="0"/>
          </a:p>
        </p:txBody>
      </p:sp>
      <p:sp>
        <p:nvSpPr>
          <p:cNvPr id="42" name="Shape 40"/>
          <p:cNvSpPr/>
          <p:nvPr/>
        </p:nvSpPr>
        <p:spPr>
          <a:xfrm>
            <a:off x="384048" y="4279392"/>
            <a:ext cx="1316736" cy="292608"/>
          </a:xfrm>
          <a:prstGeom prst="rect">
            <a:avLst/>
          </a:prstGeom>
          <a:solidFill>
            <a:srgbClr val="061A24"/>
          </a:solidFill>
          <a:ln w="12700">
            <a:solidFill>
              <a:srgbClr val="061A24"/>
            </a:solidFill>
            <a:prstDash val="solid"/>
          </a:ln>
        </p:spPr>
      </p:sp>
      <p:sp>
        <p:nvSpPr>
          <p:cNvPr id="43" name="Text 41"/>
          <p:cNvSpPr/>
          <p:nvPr/>
        </p:nvSpPr>
        <p:spPr>
          <a:xfrm>
            <a:off x="384048" y="4279392"/>
            <a:ext cx="131673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Z</a:t>
            </a:r>
            <a:endParaRPr lang="en-US" sz="850" dirty="0"/>
          </a:p>
        </p:txBody>
      </p:sp>
      <p:sp>
        <p:nvSpPr>
          <p:cNvPr id="44" name="Shape 42"/>
          <p:cNvSpPr/>
          <p:nvPr/>
        </p:nvSpPr>
        <p:spPr>
          <a:xfrm>
            <a:off x="1700784" y="4279392"/>
            <a:ext cx="1426464" cy="292608"/>
          </a:xfrm>
          <a:prstGeom prst="rect">
            <a:avLst/>
          </a:prstGeom>
          <a:solidFill>
            <a:srgbClr val="061A24"/>
          </a:solidFill>
          <a:ln w="12700">
            <a:solidFill>
              <a:srgbClr val="061A24"/>
            </a:solidFill>
            <a:prstDash val="solid"/>
          </a:ln>
        </p:spPr>
      </p:sp>
      <p:sp>
        <p:nvSpPr>
          <p:cNvPr id="45" name="Text 43"/>
          <p:cNvSpPr/>
          <p:nvPr/>
        </p:nvSpPr>
        <p:spPr>
          <a:xfrm>
            <a:off x="1700784" y="4279392"/>
            <a:ext cx="14264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Sig.(2-tail)</a:t>
            </a:r>
            <a:endParaRPr lang="en-US" sz="850" dirty="0"/>
          </a:p>
        </p:txBody>
      </p:sp>
      <p:sp>
        <p:nvSpPr>
          <p:cNvPr id="46" name="Shape 44"/>
          <p:cNvSpPr/>
          <p:nvPr/>
        </p:nvSpPr>
        <p:spPr>
          <a:xfrm>
            <a:off x="3127248" y="4279392"/>
            <a:ext cx="1298448" cy="292608"/>
          </a:xfrm>
          <a:prstGeom prst="rect">
            <a:avLst/>
          </a:prstGeom>
          <a:solidFill>
            <a:srgbClr val="061A24"/>
          </a:solidFill>
          <a:ln w="12700">
            <a:solidFill>
              <a:srgbClr val="061A24"/>
            </a:solidFill>
            <a:prstDash val="solid"/>
          </a:ln>
        </p:spPr>
      </p:sp>
      <p:sp>
        <p:nvSpPr>
          <p:cNvPr id="47" name="Text 45"/>
          <p:cNvSpPr/>
          <p:nvPr/>
        </p:nvSpPr>
        <p:spPr>
          <a:xfrm>
            <a:off x="3127248" y="4279392"/>
            <a:ext cx="129844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Effect r</a:t>
            </a:r>
            <a:endParaRPr lang="en-US" sz="850" dirty="0"/>
          </a:p>
        </p:txBody>
      </p:sp>
      <p:sp>
        <p:nvSpPr>
          <p:cNvPr id="48" name="Shape 46"/>
          <p:cNvSpPr/>
          <p:nvPr/>
        </p:nvSpPr>
        <p:spPr>
          <a:xfrm>
            <a:off x="384048" y="4572000"/>
            <a:ext cx="1316736" cy="292608"/>
          </a:xfrm>
          <a:prstGeom prst="rect">
            <a:avLst/>
          </a:prstGeom>
          <a:solidFill>
            <a:srgbClr val="D0EEF4"/>
          </a:solidFill>
          <a:ln w="6350">
            <a:solidFill>
              <a:srgbClr val="C0DEE8"/>
            </a:solidFill>
            <a:prstDash val="solid"/>
          </a:ln>
        </p:spPr>
      </p:sp>
      <p:sp>
        <p:nvSpPr>
          <p:cNvPr id="49" name="Text 47"/>
          <p:cNvSpPr/>
          <p:nvPr/>
        </p:nvSpPr>
        <p:spPr>
          <a:xfrm>
            <a:off x="384048" y="4572000"/>
            <a:ext cx="1316736"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-7.14</a:t>
            </a:r>
            <a:endParaRPr lang="en-US" sz="850" dirty="0"/>
          </a:p>
        </p:txBody>
      </p:sp>
      <p:sp>
        <p:nvSpPr>
          <p:cNvPr id="50" name="Shape 48"/>
          <p:cNvSpPr/>
          <p:nvPr/>
        </p:nvSpPr>
        <p:spPr>
          <a:xfrm>
            <a:off x="1700784" y="4572000"/>
            <a:ext cx="1426464" cy="292608"/>
          </a:xfrm>
          <a:prstGeom prst="rect">
            <a:avLst/>
          </a:prstGeom>
          <a:solidFill>
            <a:srgbClr val="D0EEF4"/>
          </a:solidFill>
          <a:ln w="6350">
            <a:solidFill>
              <a:srgbClr val="C0DEE8"/>
            </a:solidFill>
            <a:prstDash val="solid"/>
          </a:ln>
        </p:spPr>
      </p:sp>
      <p:sp>
        <p:nvSpPr>
          <p:cNvPr id="51" name="Text 49"/>
          <p:cNvSpPr/>
          <p:nvPr/>
        </p:nvSpPr>
        <p:spPr>
          <a:xfrm>
            <a:off x="1700784" y="4572000"/>
            <a:ext cx="1426464"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52" name="Shape 50"/>
          <p:cNvSpPr/>
          <p:nvPr/>
        </p:nvSpPr>
        <p:spPr>
          <a:xfrm>
            <a:off x="3127248" y="4572000"/>
            <a:ext cx="1298448" cy="292608"/>
          </a:xfrm>
          <a:prstGeom prst="rect">
            <a:avLst/>
          </a:prstGeom>
          <a:solidFill>
            <a:srgbClr val="D0EEF4"/>
          </a:solidFill>
          <a:ln w="6350">
            <a:solidFill>
              <a:srgbClr val="C0DEE8"/>
            </a:solidFill>
            <a:prstDash val="solid"/>
          </a:ln>
        </p:spPr>
      </p:sp>
      <p:sp>
        <p:nvSpPr>
          <p:cNvPr id="53" name="Text 51"/>
          <p:cNvSpPr/>
          <p:nvPr/>
        </p:nvSpPr>
        <p:spPr>
          <a:xfrm>
            <a:off x="3127248" y="4572000"/>
            <a:ext cx="1298448"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.652</a:t>
            </a:r>
            <a:endParaRPr lang="en-US" sz="850" dirty="0"/>
          </a:p>
        </p:txBody>
      </p:sp>
      <p:sp>
        <p:nvSpPr>
          <p:cNvPr id="54" name="Text 52"/>
          <p:cNvSpPr/>
          <p:nvPr/>
        </p:nvSpPr>
        <p:spPr>
          <a:xfrm>
            <a:off x="384048" y="4645152"/>
            <a:ext cx="3913632" cy="347472"/>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88 positive ranks (improved) vs 24 negative (declined). Z = -7.14, p &lt; .001. Significant improvement. r = .652 = large effect.</a:t>
            </a:r>
            <a:endParaRPr lang="en-US" sz="850" dirty="0"/>
          </a:p>
        </p:txBody>
      </p:sp>
      <p:sp>
        <p:nvSpPr>
          <p:cNvPr id="55" name="Shape 53"/>
          <p:cNvSpPr/>
          <p:nvPr/>
        </p:nvSpPr>
        <p:spPr>
          <a:xfrm>
            <a:off x="4681728" y="932688"/>
            <a:ext cx="4160520" cy="4133088"/>
          </a:xfrm>
          <a:prstGeom prst="roundRect">
            <a:avLst>
              <a:gd name="adj" fmla="val 2212"/>
            </a:avLst>
          </a:prstGeom>
          <a:solidFill>
            <a:srgbClr val="0B2E40"/>
          </a:solidFill>
          <a:ln w="12700">
            <a:solidFill>
              <a:srgbClr val="D4A017"/>
            </a:solidFill>
            <a:prstDash val="solid"/>
          </a:ln>
        </p:spPr>
      </p:sp>
      <p:sp>
        <p:nvSpPr>
          <p:cNvPr id="56" name="Text 54"/>
          <p:cNvSpPr/>
          <p:nvPr/>
        </p:nvSpPr>
        <p:spPr>
          <a:xfrm>
            <a:off x="4791456" y="1005840"/>
            <a:ext cx="3913632" cy="274320"/>
          </a:xfrm>
          <a:prstGeom prst="rect">
            <a:avLst/>
          </a:prstGeom>
          <a:noFill/>
          <a:ln/>
        </p:spPr>
        <p:txBody>
          <a:bodyPr wrap="square" lIns="0" tIns="0" rIns="0" bIns="0" rtlCol="0" anchor="ctr"/>
          <a:lstStyle/>
          <a:p>
            <a:pPr indent="0" marL="0">
              <a:buNone/>
            </a:pPr>
            <a:r>
              <a:rPr lang="en-US" sz="1050" b="1" dirty="0">
                <a:solidFill>
                  <a:srgbClr val="F0C040"/>
                </a:solidFill>
                <a:latin typeface="Calibri" pitchFamily="34" charset="0"/>
                <a:ea typeface="Calibri" pitchFamily="34" charset="-122"/>
                <a:cs typeface="Calibri" pitchFamily="34" charset="-120"/>
              </a:rPr>
              <a:t>FRIEDMAN'S RANK TEST FOR k RELATED SAMPLES</a:t>
            </a:r>
            <a:endParaRPr lang="en-US" sz="1050" dirty="0"/>
          </a:p>
        </p:txBody>
      </p:sp>
      <p:sp>
        <p:nvSpPr>
          <p:cNvPr id="57" name="Text 55"/>
          <p:cNvSpPr/>
          <p:nvPr/>
        </p:nvSpPr>
        <p:spPr>
          <a:xfrm>
            <a:off x="4791456" y="1353312"/>
            <a:ext cx="3913632" cy="475488"/>
          </a:xfrm>
          <a:prstGeom prst="rect">
            <a:avLst/>
          </a:prstGeom>
          <a:noFill/>
          <a:ln/>
        </p:spPr>
        <p:txBody>
          <a:bodyPr wrap="square" lIns="0" tIns="0" rIns="0" bIns="0" rtlCol="0" anchor="ctr"/>
          <a:lstStyle/>
          <a:p>
            <a:pPr indent="0" marL="0">
              <a:buNone/>
            </a:pPr>
            <a:r>
              <a:rPr lang="en-US" sz="950" dirty="0">
                <a:solidFill>
                  <a:srgbClr val="90D4E0"/>
                </a:solidFill>
                <a:latin typeface="Calibri" pitchFamily="34" charset="0"/>
                <a:ea typeface="Calibri" pitchFamily="34" charset="-122"/>
                <a:cs typeface="Calibri" pitchFamily="34" charset="-120"/>
              </a:rPr>
              <a:t>Non-parametric equivalent of REPEATED MEASURES ANOVA. Tests whether distributions of 3+ related measurements from the same participants are the same or different.</a:t>
            </a:r>
            <a:endParaRPr lang="en-US" sz="950" dirty="0"/>
          </a:p>
        </p:txBody>
      </p:sp>
      <p:sp>
        <p:nvSpPr>
          <p:cNvPr id="58" name="Text 56"/>
          <p:cNvSpPr/>
          <p:nvPr/>
        </p:nvSpPr>
        <p:spPr>
          <a:xfrm>
            <a:off x="4791456" y="1901952"/>
            <a:ext cx="3913632" cy="475488"/>
          </a:xfrm>
          <a:prstGeom prst="rect">
            <a:avLst/>
          </a:prstGeom>
          <a:noFill/>
          <a:ln/>
        </p:spPr>
        <p:txBody>
          <a:bodyPr wrap="square" lIns="0" tIns="0" rIns="0" bIns="0"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UAC Scenario: </a:t>
            </a:r>
            <a:pPr indent="0" marL="0">
              <a:buNone/>
            </a:pPr>
            <a:r>
              <a:rPr lang="en-US" sz="950" dirty="0">
                <a:solidFill>
                  <a:srgbClr val="90D4E0"/>
                </a:solidFill>
                <a:latin typeface="Calibri" pitchFamily="34" charset="0"/>
                <a:ea typeface="Calibri" pitchFamily="34" charset="-122"/>
                <a:cs typeface="Calibri" pitchFamily="34" charset="-120"/>
              </a:rPr>
              <a:t>200 consumers rated repurchase_intention (ordinal 1-5) in each of 4 quarters. Did it change significantly?</a:t>
            </a:r>
            <a:endParaRPr lang="en-US" sz="950" dirty="0"/>
          </a:p>
        </p:txBody>
      </p:sp>
      <p:sp>
        <p:nvSpPr>
          <p:cNvPr id="59" name="Text 57"/>
          <p:cNvSpPr/>
          <p:nvPr/>
        </p:nvSpPr>
        <p:spPr>
          <a:xfrm>
            <a:off x="4791456" y="2450592"/>
            <a:ext cx="3913632" cy="512064"/>
          </a:xfrm>
          <a:prstGeom prst="rect">
            <a:avLst/>
          </a:prstGeom>
          <a:noFill/>
          <a:ln/>
        </p:spPr>
        <p:txBody>
          <a:bodyPr wrap="square" lIns="0" tIns="0" rIns="0" bIns="0" rtlCol="0" anchor="ctr"/>
          <a:lstStyle/>
          <a:p>
            <a:pPr indent="0" marL="0">
              <a:buNone/>
            </a:pPr>
            <a:r>
              <a:rPr lang="en-US" sz="900" i="1" dirty="0">
                <a:solidFill>
                  <a:srgbClr val="D4A017"/>
                </a:solidFill>
                <a:latin typeface="Calibri" pitchFamily="34" charset="0"/>
                <a:ea typeface="Calibri" pitchFamily="34" charset="-122"/>
                <a:cs typeface="Calibri" pitchFamily="34" charset="-120"/>
              </a:rPr>
              <a:t>Steps: Analyze &gt; Nonparametric Tests &gt; Legacy Dialogs &gt; K Related Samples &gt; move Q1_rep, Q2_rep, Q3_rep, Q4_rep to Test Variables &gt; Friedman ticked &gt; OK</a:t>
            </a:r>
            <a:endParaRPr lang="en-US" sz="900" dirty="0"/>
          </a:p>
        </p:txBody>
      </p:sp>
      <p:sp>
        <p:nvSpPr>
          <p:cNvPr id="60" name="Text 58"/>
          <p:cNvSpPr/>
          <p:nvPr/>
        </p:nvSpPr>
        <p:spPr>
          <a:xfrm>
            <a:off x="4791456" y="3035808"/>
            <a:ext cx="3913632" cy="219456"/>
          </a:xfrm>
          <a:prstGeom prst="rect">
            <a:avLst/>
          </a:prstGeom>
          <a:noFill/>
          <a:ln/>
        </p:spPr>
        <p:txBody>
          <a:bodyPr wrap="square" lIns="0" tIns="0" rIns="0" bIns="0"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Output:</a:t>
            </a:r>
            <a:endParaRPr lang="en-US" sz="950" dirty="0"/>
          </a:p>
        </p:txBody>
      </p:sp>
      <p:sp>
        <p:nvSpPr>
          <p:cNvPr id="61" name="Shape 59"/>
          <p:cNvSpPr/>
          <p:nvPr/>
        </p:nvSpPr>
        <p:spPr>
          <a:xfrm>
            <a:off x="4791456" y="3273552"/>
            <a:ext cx="2340864" cy="292608"/>
          </a:xfrm>
          <a:prstGeom prst="rect">
            <a:avLst/>
          </a:prstGeom>
          <a:solidFill>
            <a:srgbClr val="061A24"/>
          </a:solidFill>
          <a:ln w="12700">
            <a:solidFill>
              <a:srgbClr val="061A24"/>
            </a:solidFill>
            <a:prstDash val="solid"/>
          </a:ln>
        </p:spPr>
      </p:sp>
      <p:sp>
        <p:nvSpPr>
          <p:cNvPr id="62" name="Text 60"/>
          <p:cNvSpPr/>
          <p:nvPr/>
        </p:nvSpPr>
        <p:spPr>
          <a:xfrm>
            <a:off x="4791456" y="3273552"/>
            <a:ext cx="23408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Quarter</a:t>
            </a:r>
            <a:endParaRPr lang="en-US" sz="850" dirty="0"/>
          </a:p>
        </p:txBody>
      </p:sp>
      <p:sp>
        <p:nvSpPr>
          <p:cNvPr id="63" name="Shape 61"/>
          <p:cNvSpPr/>
          <p:nvPr/>
        </p:nvSpPr>
        <p:spPr>
          <a:xfrm>
            <a:off x="7132320" y="3273552"/>
            <a:ext cx="1572768" cy="292608"/>
          </a:xfrm>
          <a:prstGeom prst="rect">
            <a:avLst/>
          </a:prstGeom>
          <a:solidFill>
            <a:srgbClr val="061A24"/>
          </a:solidFill>
          <a:ln w="12700">
            <a:solidFill>
              <a:srgbClr val="061A24"/>
            </a:solidFill>
            <a:prstDash val="solid"/>
          </a:ln>
        </p:spPr>
      </p:sp>
      <p:sp>
        <p:nvSpPr>
          <p:cNvPr id="64" name="Text 62"/>
          <p:cNvSpPr/>
          <p:nvPr/>
        </p:nvSpPr>
        <p:spPr>
          <a:xfrm>
            <a:off x="7132320" y="3273552"/>
            <a:ext cx="15727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Rank</a:t>
            </a:r>
            <a:endParaRPr lang="en-US" sz="850" dirty="0"/>
          </a:p>
        </p:txBody>
      </p:sp>
      <p:sp>
        <p:nvSpPr>
          <p:cNvPr id="65" name="Shape 63"/>
          <p:cNvSpPr/>
          <p:nvPr/>
        </p:nvSpPr>
        <p:spPr>
          <a:xfrm>
            <a:off x="4791456" y="3566160"/>
            <a:ext cx="2340864" cy="292608"/>
          </a:xfrm>
          <a:prstGeom prst="rect">
            <a:avLst/>
          </a:prstGeom>
          <a:solidFill>
            <a:srgbClr val="0B2030"/>
          </a:solidFill>
          <a:ln w="6350">
            <a:solidFill>
              <a:srgbClr val="C0DEE8"/>
            </a:solidFill>
            <a:prstDash val="solid"/>
          </a:ln>
        </p:spPr>
      </p:sp>
      <p:sp>
        <p:nvSpPr>
          <p:cNvPr id="66" name="Text 64"/>
          <p:cNvSpPr/>
          <p:nvPr/>
        </p:nvSpPr>
        <p:spPr>
          <a:xfrm>
            <a:off x="4791456" y="3566160"/>
            <a:ext cx="2340864"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Q1 2025</a:t>
            </a:r>
            <a:endParaRPr lang="en-US" sz="850" dirty="0"/>
          </a:p>
        </p:txBody>
      </p:sp>
      <p:sp>
        <p:nvSpPr>
          <p:cNvPr id="67" name="Shape 65"/>
          <p:cNvSpPr/>
          <p:nvPr/>
        </p:nvSpPr>
        <p:spPr>
          <a:xfrm>
            <a:off x="7132320" y="3566160"/>
            <a:ext cx="1572768" cy="292608"/>
          </a:xfrm>
          <a:prstGeom prst="rect">
            <a:avLst/>
          </a:prstGeom>
          <a:solidFill>
            <a:srgbClr val="0B2030"/>
          </a:solidFill>
          <a:ln w="6350">
            <a:solidFill>
              <a:srgbClr val="C0DEE8"/>
            </a:solidFill>
            <a:prstDash val="solid"/>
          </a:ln>
        </p:spPr>
      </p:sp>
      <p:sp>
        <p:nvSpPr>
          <p:cNvPr id="68" name="Text 66"/>
          <p:cNvSpPr/>
          <p:nvPr/>
        </p:nvSpPr>
        <p:spPr>
          <a:xfrm>
            <a:off x="7132320" y="3566160"/>
            <a:ext cx="15727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1.84</a:t>
            </a:r>
            <a:endParaRPr lang="en-US" sz="850" dirty="0"/>
          </a:p>
        </p:txBody>
      </p:sp>
      <p:sp>
        <p:nvSpPr>
          <p:cNvPr id="69" name="Shape 67"/>
          <p:cNvSpPr/>
          <p:nvPr/>
        </p:nvSpPr>
        <p:spPr>
          <a:xfrm>
            <a:off x="4791456" y="3858768"/>
            <a:ext cx="2340864" cy="292608"/>
          </a:xfrm>
          <a:prstGeom prst="rect">
            <a:avLst/>
          </a:prstGeom>
          <a:solidFill>
            <a:srgbClr val="0E2838"/>
          </a:solidFill>
          <a:ln w="6350">
            <a:solidFill>
              <a:srgbClr val="C0DEE8"/>
            </a:solidFill>
            <a:prstDash val="solid"/>
          </a:ln>
        </p:spPr>
      </p:sp>
      <p:sp>
        <p:nvSpPr>
          <p:cNvPr id="70" name="Text 68"/>
          <p:cNvSpPr/>
          <p:nvPr/>
        </p:nvSpPr>
        <p:spPr>
          <a:xfrm>
            <a:off x="4791456" y="3858768"/>
            <a:ext cx="2340864"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Q2 2025</a:t>
            </a:r>
            <a:endParaRPr lang="en-US" sz="850" dirty="0"/>
          </a:p>
        </p:txBody>
      </p:sp>
      <p:sp>
        <p:nvSpPr>
          <p:cNvPr id="71" name="Shape 69"/>
          <p:cNvSpPr/>
          <p:nvPr/>
        </p:nvSpPr>
        <p:spPr>
          <a:xfrm>
            <a:off x="7132320" y="3858768"/>
            <a:ext cx="1572768" cy="292608"/>
          </a:xfrm>
          <a:prstGeom prst="rect">
            <a:avLst/>
          </a:prstGeom>
          <a:solidFill>
            <a:srgbClr val="0E2838"/>
          </a:solidFill>
          <a:ln w="6350">
            <a:solidFill>
              <a:srgbClr val="C0DEE8"/>
            </a:solidFill>
            <a:prstDash val="solid"/>
          </a:ln>
        </p:spPr>
      </p:sp>
      <p:sp>
        <p:nvSpPr>
          <p:cNvPr id="72" name="Text 70"/>
          <p:cNvSpPr/>
          <p:nvPr/>
        </p:nvSpPr>
        <p:spPr>
          <a:xfrm>
            <a:off x="7132320" y="3858768"/>
            <a:ext cx="15727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2.20</a:t>
            </a:r>
            <a:endParaRPr lang="en-US" sz="850" dirty="0"/>
          </a:p>
        </p:txBody>
      </p:sp>
      <p:sp>
        <p:nvSpPr>
          <p:cNvPr id="73" name="Shape 71"/>
          <p:cNvSpPr/>
          <p:nvPr/>
        </p:nvSpPr>
        <p:spPr>
          <a:xfrm>
            <a:off x="4791456" y="4151376"/>
            <a:ext cx="2340864" cy="292608"/>
          </a:xfrm>
          <a:prstGeom prst="rect">
            <a:avLst/>
          </a:prstGeom>
          <a:solidFill>
            <a:srgbClr val="0B2030"/>
          </a:solidFill>
          <a:ln w="6350">
            <a:solidFill>
              <a:srgbClr val="C0DEE8"/>
            </a:solidFill>
            <a:prstDash val="solid"/>
          </a:ln>
        </p:spPr>
      </p:sp>
      <p:sp>
        <p:nvSpPr>
          <p:cNvPr id="74" name="Text 72"/>
          <p:cNvSpPr/>
          <p:nvPr/>
        </p:nvSpPr>
        <p:spPr>
          <a:xfrm>
            <a:off x="4791456" y="4151376"/>
            <a:ext cx="2340864"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Q3 2025</a:t>
            </a:r>
            <a:endParaRPr lang="en-US" sz="850" dirty="0"/>
          </a:p>
        </p:txBody>
      </p:sp>
      <p:sp>
        <p:nvSpPr>
          <p:cNvPr id="75" name="Shape 73"/>
          <p:cNvSpPr/>
          <p:nvPr/>
        </p:nvSpPr>
        <p:spPr>
          <a:xfrm>
            <a:off x="7132320" y="4151376"/>
            <a:ext cx="1572768" cy="292608"/>
          </a:xfrm>
          <a:prstGeom prst="rect">
            <a:avLst/>
          </a:prstGeom>
          <a:solidFill>
            <a:srgbClr val="0B2030"/>
          </a:solidFill>
          <a:ln w="6350">
            <a:solidFill>
              <a:srgbClr val="C0DEE8"/>
            </a:solidFill>
            <a:prstDash val="solid"/>
          </a:ln>
        </p:spPr>
      </p:sp>
      <p:sp>
        <p:nvSpPr>
          <p:cNvPr id="76" name="Text 74"/>
          <p:cNvSpPr/>
          <p:nvPr/>
        </p:nvSpPr>
        <p:spPr>
          <a:xfrm>
            <a:off x="7132320" y="4151376"/>
            <a:ext cx="15727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2.48</a:t>
            </a:r>
            <a:endParaRPr lang="en-US" sz="850" dirty="0"/>
          </a:p>
        </p:txBody>
      </p:sp>
      <p:sp>
        <p:nvSpPr>
          <p:cNvPr id="77" name="Shape 75"/>
          <p:cNvSpPr/>
          <p:nvPr/>
        </p:nvSpPr>
        <p:spPr>
          <a:xfrm>
            <a:off x="4791456" y="4443984"/>
            <a:ext cx="2340864" cy="292608"/>
          </a:xfrm>
          <a:prstGeom prst="rect">
            <a:avLst/>
          </a:prstGeom>
          <a:solidFill>
            <a:srgbClr val="0E2838"/>
          </a:solidFill>
          <a:ln w="6350">
            <a:solidFill>
              <a:srgbClr val="C0DEE8"/>
            </a:solidFill>
            <a:prstDash val="solid"/>
          </a:ln>
        </p:spPr>
      </p:sp>
      <p:sp>
        <p:nvSpPr>
          <p:cNvPr id="78" name="Text 76"/>
          <p:cNvSpPr/>
          <p:nvPr/>
        </p:nvSpPr>
        <p:spPr>
          <a:xfrm>
            <a:off x="4791456" y="4443984"/>
            <a:ext cx="2340864"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Q4 2025</a:t>
            </a:r>
            <a:endParaRPr lang="en-US" sz="850" dirty="0"/>
          </a:p>
        </p:txBody>
      </p:sp>
      <p:sp>
        <p:nvSpPr>
          <p:cNvPr id="79" name="Shape 77"/>
          <p:cNvSpPr/>
          <p:nvPr/>
        </p:nvSpPr>
        <p:spPr>
          <a:xfrm>
            <a:off x="7132320" y="4443984"/>
            <a:ext cx="1572768" cy="292608"/>
          </a:xfrm>
          <a:prstGeom prst="rect">
            <a:avLst/>
          </a:prstGeom>
          <a:solidFill>
            <a:srgbClr val="0E2838"/>
          </a:solidFill>
          <a:ln w="6350">
            <a:solidFill>
              <a:srgbClr val="C0DEE8"/>
            </a:solidFill>
            <a:prstDash val="solid"/>
          </a:ln>
        </p:spPr>
      </p:sp>
      <p:sp>
        <p:nvSpPr>
          <p:cNvPr id="80" name="Text 78"/>
          <p:cNvSpPr/>
          <p:nvPr/>
        </p:nvSpPr>
        <p:spPr>
          <a:xfrm>
            <a:off x="7132320" y="4443984"/>
            <a:ext cx="15727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3.48</a:t>
            </a:r>
            <a:endParaRPr lang="en-US" sz="850" dirty="0"/>
          </a:p>
        </p:txBody>
      </p:sp>
      <p:sp>
        <p:nvSpPr>
          <p:cNvPr id="81" name="Shape 79"/>
          <p:cNvSpPr/>
          <p:nvPr/>
        </p:nvSpPr>
        <p:spPr>
          <a:xfrm>
            <a:off x="4791456" y="4224528"/>
            <a:ext cx="658368" cy="292608"/>
          </a:xfrm>
          <a:prstGeom prst="rect">
            <a:avLst/>
          </a:prstGeom>
          <a:solidFill>
            <a:srgbClr val="061A24"/>
          </a:solidFill>
          <a:ln w="12700">
            <a:solidFill>
              <a:srgbClr val="061A24"/>
            </a:solidFill>
            <a:prstDash val="solid"/>
          </a:ln>
        </p:spPr>
      </p:sp>
      <p:sp>
        <p:nvSpPr>
          <p:cNvPr id="82" name="Text 80"/>
          <p:cNvSpPr/>
          <p:nvPr/>
        </p:nvSpPr>
        <p:spPr>
          <a:xfrm>
            <a:off x="4791456" y="4224528"/>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t>
            </a:r>
            <a:endParaRPr lang="en-US" sz="850" dirty="0"/>
          </a:p>
        </p:txBody>
      </p:sp>
      <p:sp>
        <p:nvSpPr>
          <p:cNvPr id="83" name="Shape 81"/>
          <p:cNvSpPr/>
          <p:nvPr/>
        </p:nvSpPr>
        <p:spPr>
          <a:xfrm>
            <a:off x="5449824" y="4224528"/>
            <a:ext cx="896112" cy="292608"/>
          </a:xfrm>
          <a:prstGeom prst="rect">
            <a:avLst/>
          </a:prstGeom>
          <a:solidFill>
            <a:srgbClr val="061A24"/>
          </a:solidFill>
          <a:ln w="12700">
            <a:solidFill>
              <a:srgbClr val="061A24"/>
            </a:solidFill>
            <a:prstDash val="solid"/>
          </a:ln>
        </p:spPr>
      </p:sp>
      <p:sp>
        <p:nvSpPr>
          <p:cNvPr id="84" name="Text 82"/>
          <p:cNvSpPr/>
          <p:nvPr/>
        </p:nvSpPr>
        <p:spPr>
          <a:xfrm>
            <a:off x="5449824" y="4224528"/>
            <a:ext cx="8961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Chi-Sq</a:t>
            </a:r>
            <a:endParaRPr lang="en-US" sz="850" dirty="0"/>
          </a:p>
        </p:txBody>
      </p:sp>
      <p:sp>
        <p:nvSpPr>
          <p:cNvPr id="85" name="Shape 83"/>
          <p:cNvSpPr/>
          <p:nvPr/>
        </p:nvSpPr>
        <p:spPr>
          <a:xfrm>
            <a:off x="6345936" y="4224528"/>
            <a:ext cx="457200" cy="292608"/>
          </a:xfrm>
          <a:prstGeom prst="rect">
            <a:avLst/>
          </a:prstGeom>
          <a:solidFill>
            <a:srgbClr val="061A24"/>
          </a:solidFill>
          <a:ln w="12700">
            <a:solidFill>
              <a:srgbClr val="061A24"/>
            </a:solidFill>
            <a:prstDash val="solid"/>
          </a:ln>
        </p:spPr>
      </p:sp>
      <p:sp>
        <p:nvSpPr>
          <p:cNvPr id="86" name="Text 84"/>
          <p:cNvSpPr/>
          <p:nvPr/>
        </p:nvSpPr>
        <p:spPr>
          <a:xfrm>
            <a:off x="6345936" y="4224528"/>
            <a:ext cx="4572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87" name="Shape 85"/>
          <p:cNvSpPr/>
          <p:nvPr/>
        </p:nvSpPr>
        <p:spPr>
          <a:xfrm>
            <a:off x="6803136" y="4224528"/>
            <a:ext cx="640080" cy="292608"/>
          </a:xfrm>
          <a:prstGeom prst="rect">
            <a:avLst/>
          </a:prstGeom>
          <a:solidFill>
            <a:srgbClr val="061A24"/>
          </a:solidFill>
          <a:ln w="12700">
            <a:solidFill>
              <a:srgbClr val="061A24"/>
            </a:solidFill>
            <a:prstDash val="solid"/>
          </a:ln>
        </p:spPr>
      </p:sp>
      <p:sp>
        <p:nvSpPr>
          <p:cNvPr id="88" name="Text 86"/>
          <p:cNvSpPr/>
          <p:nvPr/>
        </p:nvSpPr>
        <p:spPr>
          <a:xfrm>
            <a:off x="6803136" y="4224528"/>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89" name="Shape 87"/>
          <p:cNvSpPr/>
          <p:nvPr/>
        </p:nvSpPr>
        <p:spPr>
          <a:xfrm>
            <a:off x="4791456" y="4517136"/>
            <a:ext cx="658368" cy="292608"/>
          </a:xfrm>
          <a:prstGeom prst="rect">
            <a:avLst/>
          </a:prstGeom>
          <a:solidFill>
            <a:srgbClr val="0B2030"/>
          </a:solidFill>
          <a:ln w="6350">
            <a:solidFill>
              <a:srgbClr val="C0DEE8"/>
            </a:solidFill>
            <a:prstDash val="solid"/>
          </a:ln>
        </p:spPr>
      </p:sp>
      <p:sp>
        <p:nvSpPr>
          <p:cNvPr id="90" name="Text 88"/>
          <p:cNvSpPr/>
          <p:nvPr/>
        </p:nvSpPr>
        <p:spPr>
          <a:xfrm>
            <a:off x="4791456" y="4517136"/>
            <a:ext cx="658368" cy="292608"/>
          </a:xfrm>
          <a:prstGeom prst="rect">
            <a:avLst/>
          </a:prstGeom>
          <a:noFill/>
          <a:ln/>
        </p:spPr>
        <p:txBody>
          <a:bodyPr wrap="square" lIns="0" tIns="0" rIns="0" bIns="0" rtlCol="0" anchor="ctr"/>
          <a:lstStyle/>
          <a:p>
            <a:pPr algn="ctr" indent="0" marL="0">
              <a:buNone/>
            </a:pPr>
            <a:r>
              <a:rPr lang="en-US" sz="850" dirty="0">
                <a:solidFill>
                  <a:srgbClr val="1A2E38"/>
                </a:solidFill>
                <a:latin typeface="Calibri" pitchFamily="34" charset="0"/>
                <a:ea typeface="Calibri" pitchFamily="34" charset="-122"/>
                <a:cs typeface="Calibri" pitchFamily="34" charset="-120"/>
              </a:rPr>
              <a:t>200</a:t>
            </a:r>
            <a:endParaRPr lang="en-US" sz="850" dirty="0"/>
          </a:p>
        </p:txBody>
      </p:sp>
      <p:sp>
        <p:nvSpPr>
          <p:cNvPr id="91" name="Shape 89"/>
          <p:cNvSpPr/>
          <p:nvPr/>
        </p:nvSpPr>
        <p:spPr>
          <a:xfrm>
            <a:off x="5449824" y="4517136"/>
            <a:ext cx="896112" cy="292608"/>
          </a:xfrm>
          <a:prstGeom prst="rect">
            <a:avLst/>
          </a:prstGeom>
          <a:solidFill>
            <a:srgbClr val="D0EEF4"/>
          </a:solidFill>
          <a:ln w="6350">
            <a:solidFill>
              <a:srgbClr val="C0DEE8"/>
            </a:solidFill>
            <a:prstDash val="solid"/>
          </a:ln>
        </p:spPr>
      </p:sp>
      <p:sp>
        <p:nvSpPr>
          <p:cNvPr id="92" name="Text 90"/>
          <p:cNvSpPr/>
          <p:nvPr/>
        </p:nvSpPr>
        <p:spPr>
          <a:xfrm>
            <a:off x="5449824" y="4517136"/>
            <a:ext cx="896112"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67.4</a:t>
            </a:r>
            <a:endParaRPr lang="en-US" sz="850" dirty="0"/>
          </a:p>
        </p:txBody>
      </p:sp>
      <p:sp>
        <p:nvSpPr>
          <p:cNvPr id="93" name="Shape 91"/>
          <p:cNvSpPr/>
          <p:nvPr/>
        </p:nvSpPr>
        <p:spPr>
          <a:xfrm>
            <a:off x="6345936" y="4517136"/>
            <a:ext cx="457200" cy="292608"/>
          </a:xfrm>
          <a:prstGeom prst="rect">
            <a:avLst/>
          </a:prstGeom>
          <a:solidFill>
            <a:srgbClr val="0B2030"/>
          </a:solidFill>
          <a:ln w="6350">
            <a:solidFill>
              <a:srgbClr val="C0DEE8"/>
            </a:solidFill>
            <a:prstDash val="solid"/>
          </a:ln>
        </p:spPr>
      </p:sp>
      <p:sp>
        <p:nvSpPr>
          <p:cNvPr id="94" name="Text 92"/>
          <p:cNvSpPr/>
          <p:nvPr/>
        </p:nvSpPr>
        <p:spPr>
          <a:xfrm>
            <a:off x="6345936" y="4517136"/>
            <a:ext cx="4572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a:t>
            </a:r>
            <a:endParaRPr lang="en-US" sz="850" dirty="0"/>
          </a:p>
        </p:txBody>
      </p:sp>
      <p:sp>
        <p:nvSpPr>
          <p:cNvPr id="95" name="Shape 93"/>
          <p:cNvSpPr/>
          <p:nvPr/>
        </p:nvSpPr>
        <p:spPr>
          <a:xfrm>
            <a:off x="6803136" y="4517136"/>
            <a:ext cx="640080" cy="292608"/>
          </a:xfrm>
          <a:prstGeom prst="rect">
            <a:avLst/>
          </a:prstGeom>
          <a:solidFill>
            <a:srgbClr val="D0EEF4"/>
          </a:solidFill>
          <a:ln w="6350">
            <a:solidFill>
              <a:srgbClr val="C0DEE8"/>
            </a:solidFill>
            <a:prstDash val="solid"/>
          </a:ln>
        </p:spPr>
      </p:sp>
      <p:sp>
        <p:nvSpPr>
          <p:cNvPr id="96" name="Text 94"/>
          <p:cNvSpPr/>
          <p:nvPr/>
        </p:nvSpPr>
        <p:spPr>
          <a:xfrm>
            <a:off x="6803136" y="4517136"/>
            <a:ext cx="640080" cy="292608"/>
          </a:xfrm>
          <a:prstGeom prst="rect">
            <a:avLst/>
          </a:prstGeom>
          <a:noFill/>
          <a:ln/>
        </p:spPr>
        <p:txBody>
          <a:bodyPr wrap="square" lIns="0" tIns="0" rIns="0" bIns="0" rtlCol="0" anchor="ctr"/>
          <a:lstStyle/>
          <a:p>
            <a:pPr algn="ctr" indent="0" marL="0">
              <a:buNone/>
            </a:pPr>
            <a:r>
              <a:rPr lang="en-US" sz="850" b="1" dirty="0">
                <a:solidFill>
                  <a:srgbClr val="0E6B78"/>
                </a:solidFill>
                <a:latin typeface="Calibri" pitchFamily="34" charset="0"/>
                <a:ea typeface="Calibri" pitchFamily="34" charset="-122"/>
                <a:cs typeface="Calibri" pitchFamily="34" charset="-120"/>
              </a:rPr>
              <a:t>&lt;.001</a:t>
            </a:r>
            <a:endParaRPr lang="en-US" sz="850" dirty="0"/>
          </a:p>
        </p:txBody>
      </p:sp>
      <p:sp>
        <p:nvSpPr>
          <p:cNvPr id="97" name="Text 95"/>
          <p:cNvSpPr/>
          <p:nvPr/>
        </p:nvSpPr>
        <p:spPr>
          <a:xfrm>
            <a:off x="4791456" y="4645152"/>
            <a:ext cx="3913632" cy="384048"/>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χ²(3) = 67.4, p &lt; .001. Significant. Q4 has highest mean rank (most repurchase). Follow up: pairwise Wilcoxon with Bonferroni correction.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E6B78"/>
          </a:solidFill>
          <a:ln w="12700">
            <a:solidFill>
              <a:srgbClr val="0E6B78"/>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4 Comprehensive Practice Exercise - UAC Foods Statistical Tests</a:t>
            </a:r>
            <a:endParaRPr lang="en-US" sz="2100" dirty="0"/>
          </a:p>
        </p:txBody>
      </p:sp>
      <p:sp>
        <p:nvSpPr>
          <p:cNvPr id="4" name="Shape 2"/>
          <p:cNvSpPr/>
          <p:nvPr/>
        </p:nvSpPr>
        <p:spPr>
          <a:xfrm>
            <a:off x="256032" y="1024128"/>
            <a:ext cx="8631936" cy="749808"/>
          </a:xfrm>
          <a:prstGeom prst="roundRect">
            <a:avLst>
              <a:gd name="adj" fmla="val 10976"/>
            </a:avLst>
          </a:prstGeom>
          <a:solidFill>
            <a:srgbClr val="0B2E40"/>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78992"/>
            <a:ext cx="1143000" cy="256032"/>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SCENARIO:</a:t>
            </a:r>
            <a:endParaRPr lang="en-US" sz="1100" dirty="0"/>
          </a:p>
        </p:txBody>
      </p:sp>
      <p:sp>
        <p:nvSpPr>
          <p:cNvPr id="6" name="Text 4"/>
          <p:cNvSpPr/>
          <p:nvPr/>
        </p:nvSpPr>
        <p:spPr>
          <a:xfrm>
            <a:off x="384048" y="1353312"/>
            <a:ext cx="822960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Using the clean UAC Foods dataset (N=450), complete all 10 tasks. For each: run the analysis, check assumptions, interpret the key output, and write a 2-3 sentence APA-style results statement. The tasks mirror a real research report structure.</a:t>
            </a:r>
            <a:endParaRPr lang="en-US" sz="1050" dirty="0"/>
          </a:p>
        </p:txBody>
      </p:sp>
      <p:sp>
        <p:nvSpPr>
          <p:cNvPr id="7" name="Shape 5"/>
          <p:cNvSpPr/>
          <p:nvPr/>
        </p:nvSpPr>
        <p:spPr>
          <a:xfrm>
            <a:off x="201168" y="1865376"/>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8" name="Shape 6"/>
          <p:cNvSpPr/>
          <p:nvPr/>
        </p:nvSpPr>
        <p:spPr>
          <a:xfrm>
            <a:off x="292608" y="1938528"/>
            <a:ext cx="347472" cy="347472"/>
          </a:xfrm>
          <a:prstGeom prst="ellipse">
            <a:avLst/>
          </a:prstGeom>
          <a:solidFill>
            <a:srgbClr val="0E6B78"/>
          </a:solidFill>
          <a:ln w="12700">
            <a:solidFill>
              <a:srgbClr val="0E6B78"/>
            </a:solidFill>
            <a:prstDash val="solid"/>
          </a:ln>
        </p:spPr>
      </p:sp>
      <p:sp>
        <p:nvSpPr>
          <p:cNvPr id="9" name="Text 7"/>
          <p:cNvSpPr/>
          <p:nvPr/>
        </p:nvSpPr>
        <p:spPr>
          <a:xfrm>
            <a:off x="292608"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0" name="Text 8"/>
          <p:cNvSpPr/>
          <p:nvPr/>
        </p:nvSpPr>
        <p:spPr>
          <a:xfrm>
            <a:off x="713232" y="1956816"/>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Decision Framework</a:t>
            </a:r>
            <a:endParaRPr lang="en-US" sz="900" dirty="0"/>
          </a:p>
        </p:txBody>
      </p:sp>
      <p:sp>
        <p:nvSpPr>
          <p:cNvPr id="11" name="Text 9"/>
          <p:cNvSpPr/>
          <p:nvPr/>
        </p:nvSpPr>
        <p:spPr>
          <a:xfrm>
            <a:off x="292608" y="2340864"/>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For each question below, state the correct SPSS test: (1) Does sat_mean = 3.5? (2) Does sat_mean differ by gender? (3) Did sat_mean change across 4 quarters for the same consumers? (4) Does uac_product_pref differ by education level?</a:t>
            </a:r>
            <a:endParaRPr lang="en-US" sz="750" dirty="0"/>
          </a:p>
        </p:txBody>
      </p:sp>
      <p:sp>
        <p:nvSpPr>
          <p:cNvPr id="12" name="Shape 10"/>
          <p:cNvSpPr/>
          <p:nvPr/>
        </p:nvSpPr>
        <p:spPr>
          <a:xfrm>
            <a:off x="1975104" y="1865376"/>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2066544" y="1938528"/>
            <a:ext cx="347472" cy="347472"/>
          </a:xfrm>
          <a:prstGeom prst="ellipse">
            <a:avLst/>
          </a:prstGeom>
          <a:solidFill>
            <a:srgbClr val="17A2B8"/>
          </a:solidFill>
          <a:ln w="12700">
            <a:solidFill>
              <a:srgbClr val="17A2B8"/>
            </a:solidFill>
            <a:prstDash val="solid"/>
          </a:ln>
        </p:spPr>
      </p:sp>
      <p:sp>
        <p:nvSpPr>
          <p:cNvPr id="14" name="Text 12"/>
          <p:cNvSpPr/>
          <p:nvPr/>
        </p:nvSpPr>
        <p:spPr>
          <a:xfrm>
            <a:off x="2066544"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3"/>
          <p:cNvSpPr/>
          <p:nvPr/>
        </p:nvSpPr>
        <p:spPr>
          <a:xfrm>
            <a:off x="2487168" y="1956816"/>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One-Sample T-Test</a:t>
            </a:r>
            <a:endParaRPr lang="en-US" sz="900" dirty="0"/>
          </a:p>
        </p:txBody>
      </p:sp>
      <p:sp>
        <p:nvSpPr>
          <p:cNvPr id="16" name="Text 14"/>
          <p:cNvSpPr/>
          <p:nvPr/>
        </p:nvSpPr>
        <p:spPr>
          <a:xfrm>
            <a:off x="2066544" y="2340864"/>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Test whether UAC Foods sat_mean (scale) differs significantly from a sector benchmark of 3.6. Report: t, df, p, mean difference, and 95% CI. State your decision on H0.</a:t>
            </a:r>
            <a:endParaRPr lang="en-US" sz="750" dirty="0"/>
          </a:p>
        </p:txBody>
      </p:sp>
      <p:sp>
        <p:nvSpPr>
          <p:cNvPr id="17" name="Shape 15"/>
          <p:cNvSpPr/>
          <p:nvPr/>
        </p:nvSpPr>
        <p:spPr>
          <a:xfrm>
            <a:off x="3749040" y="1865376"/>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840480" y="1938528"/>
            <a:ext cx="347472" cy="347472"/>
          </a:xfrm>
          <a:prstGeom prst="ellipse">
            <a:avLst/>
          </a:prstGeom>
          <a:solidFill>
            <a:srgbClr val="0A5070"/>
          </a:solidFill>
          <a:ln w="12700">
            <a:solidFill>
              <a:srgbClr val="0A5070"/>
            </a:solidFill>
            <a:prstDash val="solid"/>
          </a:ln>
        </p:spPr>
      </p:sp>
      <p:sp>
        <p:nvSpPr>
          <p:cNvPr id="19" name="Text 17"/>
          <p:cNvSpPr/>
          <p:nvPr/>
        </p:nvSpPr>
        <p:spPr>
          <a:xfrm>
            <a:off x="3840480"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0" name="Text 18"/>
          <p:cNvSpPr/>
          <p:nvPr/>
        </p:nvSpPr>
        <p:spPr>
          <a:xfrm>
            <a:off x="4261104" y="1956816"/>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Independent T-Test</a:t>
            </a:r>
            <a:endParaRPr lang="en-US" sz="900" dirty="0"/>
          </a:p>
        </p:txBody>
      </p:sp>
      <p:sp>
        <p:nvSpPr>
          <p:cNvPr id="21" name="Text 19"/>
          <p:cNvSpPr/>
          <p:nvPr/>
        </p:nvSpPr>
        <p:spPr>
          <a:xfrm>
            <a:off x="3840480" y="2340864"/>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Test whether sat_mean differs between male and female consumers. Check Levene's Test first. Report the correct row. State effect size (Cohen's d). Write APA result sentence.</a:t>
            </a:r>
            <a:endParaRPr lang="en-US" sz="750" dirty="0"/>
          </a:p>
        </p:txBody>
      </p:sp>
      <p:sp>
        <p:nvSpPr>
          <p:cNvPr id="22" name="Shape 20"/>
          <p:cNvSpPr/>
          <p:nvPr/>
        </p:nvSpPr>
        <p:spPr>
          <a:xfrm>
            <a:off x="5522976" y="1865376"/>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5614416" y="1938528"/>
            <a:ext cx="347472" cy="347472"/>
          </a:xfrm>
          <a:prstGeom prst="ellipse">
            <a:avLst/>
          </a:prstGeom>
          <a:solidFill>
            <a:srgbClr val="D4A017"/>
          </a:solidFill>
          <a:ln w="12700">
            <a:solidFill>
              <a:srgbClr val="D4A017"/>
            </a:solidFill>
            <a:prstDash val="solid"/>
          </a:ln>
        </p:spPr>
      </p:sp>
      <p:sp>
        <p:nvSpPr>
          <p:cNvPr id="24" name="Text 22"/>
          <p:cNvSpPr/>
          <p:nvPr/>
        </p:nvSpPr>
        <p:spPr>
          <a:xfrm>
            <a:off x="5614416"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5" name="Text 23"/>
          <p:cNvSpPr/>
          <p:nvPr/>
        </p:nvSpPr>
        <p:spPr>
          <a:xfrm>
            <a:off x="6035040" y="1956816"/>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One-Way ANOVA</a:t>
            </a:r>
            <a:endParaRPr lang="en-US" sz="900" dirty="0"/>
          </a:p>
        </p:txBody>
      </p:sp>
      <p:sp>
        <p:nvSpPr>
          <p:cNvPr id="26" name="Text 24"/>
          <p:cNvSpPr/>
          <p:nvPr/>
        </p:nvSpPr>
        <p:spPr>
          <a:xfrm>
            <a:off x="5614416" y="2340864"/>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Test whether sat_mean differs across the 4 age groups. Check homogeneity (Levene's). Run Tukey post-hoc. Which specific age groups differ? Report F, df, p, eta-squared. Draw the means plot interpretation.</a:t>
            </a:r>
            <a:endParaRPr lang="en-US" sz="750" dirty="0"/>
          </a:p>
        </p:txBody>
      </p:sp>
      <p:sp>
        <p:nvSpPr>
          <p:cNvPr id="27" name="Shape 25"/>
          <p:cNvSpPr/>
          <p:nvPr/>
        </p:nvSpPr>
        <p:spPr>
          <a:xfrm>
            <a:off x="7296912" y="1865376"/>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7388352" y="1938528"/>
            <a:ext cx="347472" cy="347472"/>
          </a:xfrm>
          <a:prstGeom prst="ellipse">
            <a:avLst/>
          </a:prstGeom>
          <a:solidFill>
            <a:srgbClr val="E67E22"/>
          </a:solidFill>
          <a:ln w="12700">
            <a:solidFill>
              <a:srgbClr val="E67E22"/>
            </a:solidFill>
            <a:prstDash val="solid"/>
          </a:ln>
        </p:spPr>
      </p:sp>
      <p:sp>
        <p:nvSpPr>
          <p:cNvPr id="29" name="Text 27"/>
          <p:cNvSpPr/>
          <p:nvPr/>
        </p:nvSpPr>
        <p:spPr>
          <a:xfrm>
            <a:off x="7388352"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30" name="Text 28"/>
          <p:cNvSpPr/>
          <p:nvPr/>
        </p:nvSpPr>
        <p:spPr>
          <a:xfrm>
            <a:off x="7808976" y="1956816"/>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Chi-Square Test</a:t>
            </a:r>
            <a:endParaRPr lang="en-US" sz="900" dirty="0"/>
          </a:p>
        </p:txBody>
      </p:sp>
      <p:sp>
        <p:nvSpPr>
          <p:cNvPr id="31" name="Text 29"/>
          <p:cNvSpPr/>
          <p:nvPr/>
        </p:nvSpPr>
        <p:spPr>
          <a:xfrm>
            <a:off x="7388352" y="2340864"/>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Test whether uac_product_pref is associated with gender. Request adjusted residuals. Which 2 cells are most significant? Report χ², df, N, p, Cramer's V. Write interpretation paragraph.</a:t>
            </a:r>
            <a:endParaRPr lang="en-US" sz="750" dirty="0"/>
          </a:p>
        </p:txBody>
      </p:sp>
      <p:sp>
        <p:nvSpPr>
          <p:cNvPr id="32" name="Shape 30"/>
          <p:cNvSpPr/>
          <p:nvPr/>
        </p:nvSpPr>
        <p:spPr>
          <a:xfrm>
            <a:off x="201168" y="3401568"/>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292608" y="3474720"/>
            <a:ext cx="347472" cy="347472"/>
          </a:xfrm>
          <a:prstGeom prst="ellipse">
            <a:avLst/>
          </a:prstGeom>
          <a:solidFill>
            <a:srgbClr val="7B1728"/>
          </a:solidFill>
          <a:ln w="12700">
            <a:solidFill>
              <a:srgbClr val="7B1728"/>
            </a:solidFill>
            <a:prstDash val="solid"/>
          </a:ln>
        </p:spPr>
      </p:sp>
      <p:sp>
        <p:nvSpPr>
          <p:cNvPr id="34" name="Text 32"/>
          <p:cNvSpPr/>
          <p:nvPr/>
        </p:nvSpPr>
        <p:spPr>
          <a:xfrm>
            <a:off x="292608"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35" name="Text 33"/>
          <p:cNvSpPr/>
          <p:nvPr/>
        </p:nvSpPr>
        <p:spPr>
          <a:xfrm>
            <a:off x="713232" y="3493008"/>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Mann-Whitney U</a:t>
            </a:r>
            <a:endParaRPr lang="en-US" sz="900" dirty="0"/>
          </a:p>
        </p:txBody>
      </p:sp>
      <p:sp>
        <p:nvSpPr>
          <p:cNvPr id="36" name="Text 34"/>
          <p:cNvSpPr/>
          <p:nvPr/>
        </p:nvSpPr>
        <p:spPr>
          <a:xfrm>
            <a:off x="292608" y="3877056"/>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Test whether repurchase_intention (ordinal 1-5) differs between male and female consumers. Report: U statistic, Z, p-value, effect size r. Compare findings to the parametric t-test result if you had used that.</a:t>
            </a:r>
            <a:endParaRPr lang="en-US" sz="750" dirty="0"/>
          </a:p>
        </p:txBody>
      </p:sp>
      <p:sp>
        <p:nvSpPr>
          <p:cNvPr id="37" name="Shape 35"/>
          <p:cNvSpPr/>
          <p:nvPr/>
        </p:nvSpPr>
        <p:spPr>
          <a:xfrm>
            <a:off x="1975104" y="3401568"/>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8" name="Shape 36"/>
          <p:cNvSpPr/>
          <p:nvPr/>
        </p:nvSpPr>
        <p:spPr>
          <a:xfrm>
            <a:off x="2066544" y="3474720"/>
            <a:ext cx="347472" cy="347472"/>
          </a:xfrm>
          <a:prstGeom prst="ellipse">
            <a:avLst/>
          </a:prstGeom>
          <a:solidFill>
            <a:srgbClr val="5B2D8E"/>
          </a:solidFill>
          <a:ln w="12700">
            <a:solidFill>
              <a:srgbClr val="5B2D8E"/>
            </a:solidFill>
            <a:prstDash val="solid"/>
          </a:ln>
        </p:spPr>
      </p:sp>
      <p:sp>
        <p:nvSpPr>
          <p:cNvPr id="39" name="Text 37"/>
          <p:cNvSpPr/>
          <p:nvPr/>
        </p:nvSpPr>
        <p:spPr>
          <a:xfrm>
            <a:off x="2066544"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40" name="Text 38"/>
          <p:cNvSpPr/>
          <p:nvPr/>
        </p:nvSpPr>
        <p:spPr>
          <a:xfrm>
            <a:off x="2487168" y="3493008"/>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Kruskal-Wallis</a:t>
            </a:r>
            <a:endParaRPr lang="en-US" sz="900" dirty="0"/>
          </a:p>
        </p:txBody>
      </p:sp>
      <p:sp>
        <p:nvSpPr>
          <p:cNvPr id="41" name="Text 39"/>
          <p:cNvSpPr/>
          <p:nvPr/>
        </p:nvSpPr>
        <p:spPr>
          <a:xfrm>
            <a:off x="2066544" y="3877056"/>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Test whether repurchase_intention differs across 4 age groups. Report H(df) = value, p. If significant, run pairwise Mann-Whitney with Bonferroni correction (α = .05/6 = .0083). Identify which pairs differ.</a:t>
            </a:r>
            <a:endParaRPr lang="en-US" sz="750" dirty="0"/>
          </a:p>
        </p:txBody>
      </p:sp>
      <p:sp>
        <p:nvSpPr>
          <p:cNvPr id="42" name="Shape 40"/>
          <p:cNvSpPr/>
          <p:nvPr/>
        </p:nvSpPr>
        <p:spPr>
          <a:xfrm>
            <a:off x="3749040" y="3401568"/>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43" name="Shape 41"/>
          <p:cNvSpPr/>
          <p:nvPr/>
        </p:nvSpPr>
        <p:spPr>
          <a:xfrm>
            <a:off x="3840480" y="3474720"/>
            <a:ext cx="347472" cy="347472"/>
          </a:xfrm>
          <a:prstGeom prst="ellipse">
            <a:avLst/>
          </a:prstGeom>
          <a:solidFill>
            <a:srgbClr val="1B5CA0"/>
          </a:solidFill>
          <a:ln w="12700">
            <a:solidFill>
              <a:srgbClr val="1B5CA0"/>
            </a:solidFill>
            <a:prstDash val="solid"/>
          </a:ln>
        </p:spPr>
      </p:sp>
      <p:sp>
        <p:nvSpPr>
          <p:cNvPr id="44" name="Text 42"/>
          <p:cNvSpPr/>
          <p:nvPr/>
        </p:nvSpPr>
        <p:spPr>
          <a:xfrm>
            <a:off x="3840480"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45" name="Text 43"/>
          <p:cNvSpPr/>
          <p:nvPr/>
        </p:nvSpPr>
        <p:spPr>
          <a:xfrm>
            <a:off x="4261104" y="3493008"/>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Factorial ANOVA</a:t>
            </a:r>
            <a:endParaRPr lang="en-US" sz="900" dirty="0"/>
          </a:p>
        </p:txBody>
      </p:sp>
      <p:sp>
        <p:nvSpPr>
          <p:cNvPr id="46" name="Text 44"/>
          <p:cNvSpPr/>
          <p:nvPr/>
        </p:nvSpPr>
        <p:spPr>
          <a:xfrm>
            <a:off x="3840480" y="3877056"/>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a two-way factorial ANOVA with sat_mean as DV, and gender + uac_product_pref as IVs. Report: Main effect of gender (F, p, η²), main effect of product (F, p, η²), and interaction (F, p, η²). Is the interaction significant? What does that mean?</a:t>
            </a:r>
            <a:endParaRPr lang="en-US" sz="750" dirty="0"/>
          </a:p>
        </p:txBody>
      </p:sp>
      <p:sp>
        <p:nvSpPr>
          <p:cNvPr id="47" name="Shape 45"/>
          <p:cNvSpPr/>
          <p:nvPr/>
        </p:nvSpPr>
        <p:spPr>
          <a:xfrm>
            <a:off x="5522976" y="3401568"/>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48" name="Shape 46"/>
          <p:cNvSpPr/>
          <p:nvPr/>
        </p:nvSpPr>
        <p:spPr>
          <a:xfrm>
            <a:off x="5614416" y="3474720"/>
            <a:ext cx="347472" cy="347472"/>
          </a:xfrm>
          <a:prstGeom prst="ellipse">
            <a:avLst/>
          </a:prstGeom>
          <a:solidFill>
            <a:srgbClr val="1A4080"/>
          </a:solidFill>
          <a:ln w="12700">
            <a:solidFill>
              <a:srgbClr val="1A4080"/>
            </a:solidFill>
            <a:prstDash val="solid"/>
          </a:ln>
        </p:spPr>
      </p:sp>
      <p:sp>
        <p:nvSpPr>
          <p:cNvPr id="49" name="Text 47"/>
          <p:cNvSpPr/>
          <p:nvPr/>
        </p:nvSpPr>
        <p:spPr>
          <a:xfrm>
            <a:off x="5614416"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50" name="Text 48"/>
          <p:cNvSpPr/>
          <p:nvPr/>
        </p:nvSpPr>
        <p:spPr>
          <a:xfrm>
            <a:off x="6035040" y="3493008"/>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MANOVA</a:t>
            </a:r>
            <a:endParaRPr lang="en-US" sz="900" dirty="0"/>
          </a:p>
        </p:txBody>
      </p:sp>
      <p:sp>
        <p:nvSpPr>
          <p:cNvPr id="51" name="Text 49"/>
          <p:cNvSpPr/>
          <p:nvPr/>
        </p:nvSpPr>
        <p:spPr>
          <a:xfrm>
            <a:off x="5614416" y="3877056"/>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MANOVA with gender as IV and three DVs: sat_mean, repurchase_intention (treated as continuous for this exercise), monthly_salary_ngn. Report Wilks' Lambda, F, and significance. Which specific DVs show group differences?</a:t>
            </a:r>
            <a:endParaRPr lang="en-US" sz="750" dirty="0"/>
          </a:p>
        </p:txBody>
      </p:sp>
      <p:sp>
        <p:nvSpPr>
          <p:cNvPr id="52" name="Shape 50"/>
          <p:cNvSpPr/>
          <p:nvPr/>
        </p:nvSpPr>
        <p:spPr>
          <a:xfrm>
            <a:off x="7296912" y="3401568"/>
            <a:ext cx="1645920" cy="1444752"/>
          </a:xfrm>
          <a:prstGeom prst="roundRect">
            <a:avLst>
              <a:gd name="adj" fmla="val 443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3" name="Shape 51"/>
          <p:cNvSpPr/>
          <p:nvPr/>
        </p:nvSpPr>
        <p:spPr>
          <a:xfrm>
            <a:off x="7388352" y="3474720"/>
            <a:ext cx="347472" cy="347472"/>
          </a:xfrm>
          <a:prstGeom prst="ellipse">
            <a:avLst/>
          </a:prstGeom>
          <a:solidFill>
            <a:srgbClr val="061A24"/>
          </a:solidFill>
          <a:ln w="12700">
            <a:solidFill>
              <a:srgbClr val="061A24"/>
            </a:solidFill>
            <a:prstDash val="solid"/>
          </a:ln>
        </p:spPr>
      </p:sp>
      <p:sp>
        <p:nvSpPr>
          <p:cNvPr id="54" name="Text 52"/>
          <p:cNvSpPr/>
          <p:nvPr/>
        </p:nvSpPr>
        <p:spPr>
          <a:xfrm>
            <a:off x="7388352"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a:t>
            </a:r>
            <a:endParaRPr lang="en-US" sz="1100" dirty="0"/>
          </a:p>
        </p:txBody>
      </p:sp>
      <p:sp>
        <p:nvSpPr>
          <p:cNvPr id="55" name="Text 53"/>
          <p:cNvSpPr/>
          <p:nvPr/>
        </p:nvSpPr>
        <p:spPr>
          <a:xfrm>
            <a:off x="7808976" y="3493008"/>
            <a:ext cx="1060704" cy="310896"/>
          </a:xfrm>
          <a:prstGeom prst="rect">
            <a:avLst/>
          </a:prstGeom>
          <a:noFill/>
          <a:ln/>
        </p:spPr>
        <p:txBody>
          <a:bodyPr wrap="square" lIns="0" tIns="0" rIns="0" bIns="0" rtlCol="0" anchor="ctr"/>
          <a:lstStyle/>
          <a:p>
            <a:pPr indent="0" marL="0">
              <a:buNone/>
            </a:pPr>
            <a:r>
              <a:rPr lang="en-US" sz="900" b="1" dirty="0">
                <a:solidFill>
                  <a:srgbClr val="061A24"/>
                </a:solidFill>
                <a:latin typeface="Calibri" pitchFamily="34" charset="0"/>
                <a:ea typeface="Calibri" pitchFamily="34" charset="-122"/>
                <a:cs typeface="Calibri" pitchFamily="34" charset="-120"/>
              </a:rPr>
              <a:t>Effect Size Summary</a:t>
            </a:r>
            <a:endParaRPr lang="en-US" sz="900" dirty="0"/>
          </a:p>
        </p:txBody>
      </p:sp>
      <p:sp>
        <p:nvSpPr>
          <p:cNvPr id="56" name="Text 54"/>
          <p:cNvSpPr/>
          <p:nvPr/>
        </p:nvSpPr>
        <p:spPr>
          <a:xfrm>
            <a:off x="7388352" y="3877056"/>
            <a:ext cx="1463040"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Create a summary table comparing the effect sizes from Tasks B-D. Which analysis revealed the largest practical effect? Which finding has the smallest effect despite being statistically significant? What does this tell us?</a:t>
            </a:r>
            <a:endParaRPr lang="en-US" sz="750" dirty="0"/>
          </a:p>
        </p:txBody>
      </p:sp>
      <p:sp>
        <p:nvSpPr>
          <p:cNvPr id="57" name="Shape 55"/>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58" name="Text 56"/>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Allow 75-90 minutes. Tasks A-E are foundational (all participants). Tasks F-J are advanced. Task J (effect size summary) is the capstone discussion - connects all Module 4 findings.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7">
              <a:alpha val="12000"/>
            </a:srgbClr>
          </a:solidFill>
          <a:ln w="12700">
            <a:solidFill>
              <a:srgbClr val="D4A017"/>
            </a:solidFill>
            <a:prstDash val="solid"/>
          </a:ln>
        </p:spPr>
      </p:sp>
      <p:sp>
        <p:nvSpPr>
          <p:cNvPr id="3" name="Shape 1"/>
          <p:cNvSpPr/>
          <p:nvPr/>
        </p:nvSpPr>
        <p:spPr>
          <a:xfrm>
            <a:off x="6858000" y="3200400"/>
            <a:ext cx="3657600" cy="3657600"/>
          </a:xfrm>
          <a:prstGeom prst="ellipse">
            <a:avLst/>
          </a:prstGeom>
          <a:solidFill>
            <a:srgbClr val="0E6B78">
              <a:alpha val="16000"/>
            </a:srgbClr>
          </a:solidFill>
          <a:ln w="12700">
            <a:solidFill>
              <a:srgbClr val="0E6B78"/>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4 - Key Takeaways</a:t>
            </a:r>
            <a:endParaRPr lang="en-US" sz="3000" dirty="0"/>
          </a:p>
        </p:txBody>
      </p:sp>
      <p:sp>
        <p:nvSpPr>
          <p:cNvPr id="5" name="Shape 3"/>
          <p:cNvSpPr/>
          <p:nvPr/>
        </p:nvSpPr>
        <p:spPr>
          <a:xfrm>
            <a:off x="320040" y="932688"/>
            <a:ext cx="4160520" cy="731520"/>
          </a:xfrm>
          <a:prstGeom prst="roundRect">
            <a:avLst>
              <a:gd name="adj" fmla="val 8750"/>
            </a:avLst>
          </a:prstGeom>
          <a:solidFill>
            <a:srgbClr val="0B2E40"/>
          </a:solidFill>
          <a:ln w="6350">
            <a:solidFill>
              <a:srgbClr val="17A2B8"/>
            </a:solidFill>
            <a:prstDash val="solid"/>
          </a:ln>
        </p:spPr>
      </p:sp>
      <p:sp>
        <p:nvSpPr>
          <p:cNvPr id="6" name="Shape 4"/>
          <p:cNvSpPr/>
          <p:nvPr/>
        </p:nvSpPr>
        <p:spPr>
          <a:xfrm>
            <a:off x="411480" y="1133856"/>
            <a:ext cx="292608" cy="292608"/>
          </a:xfrm>
          <a:prstGeom prst="ellipse">
            <a:avLst/>
          </a:prstGeom>
          <a:solidFill>
            <a:srgbClr val="F0C040"/>
          </a:solidFill>
          <a:ln w="12700">
            <a:solidFill>
              <a:srgbClr val="F0C0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The choice of statistical test depends on: (1) DV measurement level, (2) number of groups, (3) whether subjects are independent or related. Master the decision framework.</a:t>
            </a:r>
            <a:endParaRPr lang="en-US" sz="850" dirty="0"/>
          </a:p>
        </p:txBody>
      </p:sp>
      <p:sp>
        <p:nvSpPr>
          <p:cNvPr id="9" name="Shape 7"/>
          <p:cNvSpPr/>
          <p:nvPr/>
        </p:nvSpPr>
        <p:spPr>
          <a:xfrm>
            <a:off x="320040" y="1755648"/>
            <a:ext cx="4160520" cy="731520"/>
          </a:xfrm>
          <a:prstGeom prst="roundRect">
            <a:avLst>
              <a:gd name="adj" fmla="val 8750"/>
            </a:avLst>
          </a:prstGeom>
          <a:solidFill>
            <a:srgbClr val="0B2E40"/>
          </a:solidFill>
          <a:ln w="6350">
            <a:solidFill>
              <a:srgbClr val="17A2B8"/>
            </a:solidFill>
            <a:prstDash val="solid"/>
          </a:ln>
        </p:spPr>
      </p:sp>
      <p:sp>
        <p:nvSpPr>
          <p:cNvPr id="10" name="Shape 8"/>
          <p:cNvSpPr/>
          <p:nvPr/>
        </p:nvSpPr>
        <p:spPr>
          <a:xfrm>
            <a:off x="411480" y="1956816"/>
            <a:ext cx="292608" cy="292608"/>
          </a:xfrm>
          <a:prstGeom prst="ellipse">
            <a:avLst/>
          </a:prstGeom>
          <a:solidFill>
            <a:srgbClr val="F0C040"/>
          </a:solidFill>
          <a:ln w="12700">
            <a:solidFill>
              <a:srgbClr val="F0C0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Always check statistical assumptions BEFORE running a test. For t-tests and ANOVA: check normality (Explore) and homogeneity (Levene's). Wrong test on violated assumptions = invalid results.</a:t>
            </a:r>
            <a:endParaRPr lang="en-US" sz="850" dirty="0"/>
          </a:p>
        </p:txBody>
      </p:sp>
      <p:sp>
        <p:nvSpPr>
          <p:cNvPr id="13" name="Shape 11"/>
          <p:cNvSpPr/>
          <p:nvPr/>
        </p:nvSpPr>
        <p:spPr>
          <a:xfrm>
            <a:off x="320040" y="2578608"/>
            <a:ext cx="4160520" cy="731520"/>
          </a:xfrm>
          <a:prstGeom prst="roundRect">
            <a:avLst>
              <a:gd name="adj" fmla="val 8750"/>
            </a:avLst>
          </a:prstGeom>
          <a:solidFill>
            <a:srgbClr val="0B2E40"/>
          </a:solidFill>
          <a:ln w="6350">
            <a:solidFill>
              <a:srgbClr val="17A2B8"/>
            </a:solidFill>
            <a:prstDash val="solid"/>
          </a:ln>
        </p:spPr>
      </p:sp>
      <p:sp>
        <p:nvSpPr>
          <p:cNvPr id="14" name="Shape 12"/>
          <p:cNvSpPr/>
          <p:nvPr/>
        </p:nvSpPr>
        <p:spPr>
          <a:xfrm>
            <a:off x="411480" y="2779776"/>
            <a:ext cx="292608" cy="292608"/>
          </a:xfrm>
          <a:prstGeom prst="ellipse">
            <a:avLst/>
          </a:prstGeom>
          <a:solidFill>
            <a:srgbClr val="F0C040"/>
          </a:solidFill>
          <a:ln w="12700">
            <a:solidFill>
              <a:srgbClr val="F0C0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The One-Sample T-Test compares a sample mean to a known benchmark. The test value is set BEFORE the analysis based on theory or published norms - not after seeing results.</a:t>
            </a:r>
            <a:endParaRPr lang="en-US" sz="850" dirty="0"/>
          </a:p>
        </p:txBody>
      </p:sp>
      <p:sp>
        <p:nvSpPr>
          <p:cNvPr id="17" name="Shape 15"/>
          <p:cNvSpPr/>
          <p:nvPr/>
        </p:nvSpPr>
        <p:spPr>
          <a:xfrm>
            <a:off x="320040" y="3401568"/>
            <a:ext cx="4160520" cy="731520"/>
          </a:xfrm>
          <a:prstGeom prst="roundRect">
            <a:avLst>
              <a:gd name="adj" fmla="val 8750"/>
            </a:avLst>
          </a:prstGeom>
          <a:solidFill>
            <a:srgbClr val="0B2E40"/>
          </a:solidFill>
          <a:ln w="6350">
            <a:solidFill>
              <a:srgbClr val="17A2B8"/>
            </a:solidFill>
            <a:prstDash val="solid"/>
          </a:ln>
        </p:spPr>
      </p:sp>
      <p:sp>
        <p:nvSpPr>
          <p:cNvPr id="18" name="Shape 16"/>
          <p:cNvSpPr/>
          <p:nvPr/>
        </p:nvSpPr>
        <p:spPr>
          <a:xfrm>
            <a:off x="411480" y="3602736"/>
            <a:ext cx="292608" cy="292608"/>
          </a:xfrm>
          <a:prstGeom prst="ellipse">
            <a:avLst/>
          </a:prstGeom>
          <a:solidFill>
            <a:srgbClr val="F0C040"/>
          </a:solidFill>
          <a:ln w="12700">
            <a:solidFill>
              <a:srgbClr val="F0C0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In the Independent T-Test output, ALWAYS check Levene's Sig. first. If &gt; .05, use Equal variances assumed row. If &lt; .05, use Equal variances not assumed. This is not optional.</a:t>
            </a:r>
            <a:endParaRPr lang="en-US" sz="850" dirty="0"/>
          </a:p>
        </p:txBody>
      </p:sp>
      <p:sp>
        <p:nvSpPr>
          <p:cNvPr id="21" name="Shape 19"/>
          <p:cNvSpPr/>
          <p:nvPr/>
        </p:nvSpPr>
        <p:spPr>
          <a:xfrm>
            <a:off x="320040" y="4224528"/>
            <a:ext cx="4160520" cy="731520"/>
          </a:xfrm>
          <a:prstGeom prst="roundRect">
            <a:avLst>
              <a:gd name="adj" fmla="val 8750"/>
            </a:avLst>
          </a:prstGeom>
          <a:solidFill>
            <a:srgbClr val="0B2E40"/>
          </a:solidFill>
          <a:ln w="6350">
            <a:solidFill>
              <a:srgbClr val="17A2B8"/>
            </a:solidFill>
            <a:prstDash val="solid"/>
          </a:ln>
        </p:spPr>
      </p:sp>
      <p:sp>
        <p:nvSpPr>
          <p:cNvPr id="22" name="Shape 20"/>
          <p:cNvSpPr/>
          <p:nvPr/>
        </p:nvSpPr>
        <p:spPr>
          <a:xfrm>
            <a:off x="411480" y="4425696"/>
            <a:ext cx="292608" cy="292608"/>
          </a:xfrm>
          <a:prstGeom prst="ellipse">
            <a:avLst/>
          </a:prstGeom>
          <a:solidFill>
            <a:srgbClr val="F0C040"/>
          </a:solidFill>
          <a:ln w="12700">
            <a:solidFill>
              <a:srgbClr val="F0C0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One-Way ANOVA tests if ANY group differs - not which ones. A significant F requires Post-Hoc tests. Choose Tukey for equal groups, Games-Howell if Levene's is significant.</a:t>
            </a:r>
            <a:endParaRPr lang="en-US" sz="850" dirty="0"/>
          </a:p>
        </p:txBody>
      </p:sp>
      <p:sp>
        <p:nvSpPr>
          <p:cNvPr id="25" name="Shape 23"/>
          <p:cNvSpPr/>
          <p:nvPr/>
        </p:nvSpPr>
        <p:spPr>
          <a:xfrm>
            <a:off x="4782312" y="932688"/>
            <a:ext cx="4160520" cy="731520"/>
          </a:xfrm>
          <a:prstGeom prst="roundRect">
            <a:avLst>
              <a:gd name="adj" fmla="val 8750"/>
            </a:avLst>
          </a:prstGeom>
          <a:solidFill>
            <a:srgbClr val="0B2E40"/>
          </a:solidFill>
          <a:ln w="6350">
            <a:solidFill>
              <a:srgbClr val="17A2B8"/>
            </a:solidFill>
            <a:prstDash val="solid"/>
          </a:ln>
        </p:spPr>
      </p:sp>
      <p:sp>
        <p:nvSpPr>
          <p:cNvPr id="26" name="Shape 24"/>
          <p:cNvSpPr/>
          <p:nvPr/>
        </p:nvSpPr>
        <p:spPr>
          <a:xfrm>
            <a:off x="4873752" y="1133856"/>
            <a:ext cx="292608" cy="292608"/>
          </a:xfrm>
          <a:prstGeom prst="ellipse">
            <a:avLst/>
          </a:prstGeom>
          <a:solidFill>
            <a:srgbClr val="F0C040"/>
          </a:solidFill>
          <a:ln w="12700">
            <a:solidFill>
              <a:srgbClr val="F0C0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MANOVA tests multiple DVs simultaneously, controlling Type I error. After significant MANOVA, examine univariate ANOVAs to identify which specific DVs drive the difference.</a:t>
            </a:r>
            <a:endParaRPr lang="en-US" sz="850" dirty="0"/>
          </a:p>
        </p:txBody>
      </p:sp>
      <p:sp>
        <p:nvSpPr>
          <p:cNvPr id="29" name="Shape 27"/>
          <p:cNvSpPr/>
          <p:nvPr/>
        </p:nvSpPr>
        <p:spPr>
          <a:xfrm>
            <a:off x="4782312" y="1755648"/>
            <a:ext cx="4160520" cy="731520"/>
          </a:xfrm>
          <a:prstGeom prst="roundRect">
            <a:avLst>
              <a:gd name="adj" fmla="val 8750"/>
            </a:avLst>
          </a:prstGeom>
          <a:solidFill>
            <a:srgbClr val="0B2E40"/>
          </a:solidFill>
          <a:ln w="6350">
            <a:solidFill>
              <a:srgbClr val="17A2B8"/>
            </a:solidFill>
            <a:prstDash val="solid"/>
          </a:ln>
        </p:spPr>
      </p:sp>
      <p:sp>
        <p:nvSpPr>
          <p:cNvPr id="30" name="Shape 28"/>
          <p:cNvSpPr/>
          <p:nvPr/>
        </p:nvSpPr>
        <p:spPr>
          <a:xfrm>
            <a:off x="4873752" y="1956816"/>
            <a:ext cx="292608" cy="292608"/>
          </a:xfrm>
          <a:prstGeom prst="ellipse">
            <a:avLst/>
          </a:prstGeom>
          <a:solidFill>
            <a:srgbClr val="F0C040"/>
          </a:solidFill>
          <a:ln w="12700">
            <a:solidFill>
              <a:srgbClr val="F0C0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In Repeated Measures ANOVA, always check Mauchly's Test. If sphericity is violated (p &lt; .05), use Greenhouse-Geisser corrected F statistics in your results.</a:t>
            </a:r>
            <a:endParaRPr lang="en-US" sz="850" dirty="0"/>
          </a:p>
        </p:txBody>
      </p:sp>
      <p:sp>
        <p:nvSpPr>
          <p:cNvPr id="33" name="Shape 31"/>
          <p:cNvSpPr/>
          <p:nvPr/>
        </p:nvSpPr>
        <p:spPr>
          <a:xfrm>
            <a:off x="4782312" y="2578608"/>
            <a:ext cx="4160520" cy="731520"/>
          </a:xfrm>
          <a:prstGeom prst="roundRect">
            <a:avLst>
              <a:gd name="adj" fmla="val 8750"/>
            </a:avLst>
          </a:prstGeom>
          <a:solidFill>
            <a:srgbClr val="0B2E40"/>
          </a:solidFill>
          <a:ln w="6350">
            <a:solidFill>
              <a:srgbClr val="17A2B8"/>
            </a:solidFill>
            <a:prstDash val="solid"/>
          </a:ln>
        </p:spPr>
      </p:sp>
      <p:sp>
        <p:nvSpPr>
          <p:cNvPr id="34" name="Shape 32"/>
          <p:cNvSpPr/>
          <p:nvPr/>
        </p:nvSpPr>
        <p:spPr>
          <a:xfrm>
            <a:off x="4873752" y="2779776"/>
            <a:ext cx="292608" cy="292608"/>
          </a:xfrm>
          <a:prstGeom prst="ellipse">
            <a:avLst/>
          </a:prstGeom>
          <a:solidFill>
            <a:srgbClr val="F0C040"/>
          </a:solidFill>
          <a:ln w="12700">
            <a:solidFill>
              <a:srgbClr val="F0C0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Factorial ANOVA interaction means the effect of one factor DEPENDS on the level of the other. When interaction is significant, interpret main effects with caution.</a:t>
            </a:r>
            <a:endParaRPr lang="en-US" sz="850" dirty="0"/>
          </a:p>
        </p:txBody>
      </p:sp>
      <p:sp>
        <p:nvSpPr>
          <p:cNvPr id="37" name="Shape 35"/>
          <p:cNvSpPr/>
          <p:nvPr/>
        </p:nvSpPr>
        <p:spPr>
          <a:xfrm>
            <a:off x="4782312" y="3401568"/>
            <a:ext cx="4160520" cy="731520"/>
          </a:xfrm>
          <a:prstGeom prst="roundRect">
            <a:avLst>
              <a:gd name="adj" fmla="val 8750"/>
            </a:avLst>
          </a:prstGeom>
          <a:solidFill>
            <a:srgbClr val="0B2E40"/>
          </a:solidFill>
          <a:ln w="6350">
            <a:solidFill>
              <a:srgbClr val="17A2B8"/>
            </a:solidFill>
            <a:prstDash val="solid"/>
          </a:ln>
        </p:spPr>
      </p:sp>
      <p:sp>
        <p:nvSpPr>
          <p:cNvPr id="38" name="Shape 36"/>
          <p:cNvSpPr/>
          <p:nvPr/>
        </p:nvSpPr>
        <p:spPr>
          <a:xfrm>
            <a:off x="4873752" y="3602736"/>
            <a:ext cx="292608" cy="292608"/>
          </a:xfrm>
          <a:prstGeom prst="ellipse">
            <a:avLst/>
          </a:prstGeom>
          <a:solidFill>
            <a:srgbClr val="F0C040"/>
          </a:solidFill>
          <a:ln w="12700">
            <a:solidFill>
              <a:srgbClr val="F0C0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Chi-Square tests are for categorical variables only. Always check expected cell counts. Report Cramer's V as effect size. Use adjusted residuals to find which cells drive significance.</a:t>
            </a:r>
            <a:endParaRPr lang="en-US" sz="850" dirty="0"/>
          </a:p>
        </p:txBody>
      </p:sp>
      <p:sp>
        <p:nvSpPr>
          <p:cNvPr id="41" name="Shape 39"/>
          <p:cNvSpPr/>
          <p:nvPr/>
        </p:nvSpPr>
        <p:spPr>
          <a:xfrm>
            <a:off x="4782312" y="4224528"/>
            <a:ext cx="4160520" cy="731520"/>
          </a:xfrm>
          <a:prstGeom prst="roundRect">
            <a:avLst>
              <a:gd name="adj" fmla="val 8750"/>
            </a:avLst>
          </a:prstGeom>
          <a:solidFill>
            <a:srgbClr val="0B2E40"/>
          </a:solidFill>
          <a:ln w="6350">
            <a:solidFill>
              <a:srgbClr val="17A2B8"/>
            </a:solidFill>
            <a:prstDash val="solid"/>
          </a:ln>
        </p:spPr>
      </p:sp>
      <p:sp>
        <p:nvSpPr>
          <p:cNvPr id="42" name="Shape 40"/>
          <p:cNvSpPr/>
          <p:nvPr/>
        </p:nvSpPr>
        <p:spPr>
          <a:xfrm>
            <a:off x="4873752" y="4425696"/>
            <a:ext cx="292608" cy="292608"/>
          </a:xfrm>
          <a:prstGeom prst="ellipse">
            <a:avLst/>
          </a:prstGeom>
          <a:solidFill>
            <a:srgbClr val="F0C040"/>
          </a:solidFill>
          <a:ln w="12700">
            <a:solidFill>
              <a:srgbClr val="F0C0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61A24"/>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90D4E0"/>
                </a:solidFill>
                <a:latin typeface="Calibri" pitchFamily="34" charset="0"/>
                <a:ea typeface="Calibri" pitchFamily="34" charset="-122"/>
                <a:cs typeface="Calibri" pitchFamily="34" charset="-120"/>
              </a:rPr>
              <a:t>Non-parametric tests are not inferior to parametric - they are appropriate tools for ordinal data or when normality is violated. Always report effect size (r = |Z|/√N for Mann-Whitney).</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4 Assessment - Statistical Test Selection and Interpretation</a:t>
            </a:r>
            <a:endParaRPr lang="en-US" sz="2100" dirty="0"/>
          </a:p>
        </p:txBody>
      </p:sp>
      <p:sp>
        <p:nvSpPr>
          <p:cNvPr id="4" name="Shape 2"/>
          <p:cNvSpPr/>
          <p:nvPr/>
        </p:nvSpPr>
        <p:spPr>
          <a:xfrm>
            <a:off x="256032" y="1024128"/>
            <a:ext cx="8631936" cy="950976"/>
          </a:xfrm>
          <a:prstGeom prst="roundRect">
            <a:avLst>
              <a:gd name="adj" fmla="val 7692"/>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115568"/>
            <a:ext cx="347472" cy="347472"/>
          </a:xfrm>
          <a:prstGeom prst="ellipse">
            <a:avLst/>
          </a:prstGeom>
          <a:solidFill>
            <a:srgbClr val="061A24"/>
          </a:solidFill>
          <a:ln w="12700">
            <a:solidFill>
              <a:srgbClr val="061A24"/>
            </a:solidFill>
            <a:prstDash val="solid"/>
          </a:ln>
        </p:spPr>
      </p:sp>
      <p:sp>
        <p:nvSpPr>
          <p:cNvPr id="6" name="Text 4"/>
          <p:cNvSpPr/>
          <p:nvPr/>
        </p:nvSpPr>
        <p:spPr>
          <a:xfrm>
            <a:off x="329184" y="1115568"/>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768096" y="1078992"/>
            <a:ext cx="5321808" cy="822960"/>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A researcher runs an Independent T-Test comparing sat_mean by gender. Levene's Test: F = 4.82, p = .028. Which row of the T-Test output should she report, and why? She finds t = -2.22, p = .027 in the 'Equal variances assumed' row and t = -2.19, p = .029 in the 'Equal variances not assumed' row. Write the complete APA result.</a:t>
            </a:r>
            <a:endParaRPr lang="en-US" sz="950" dirty="0"/>
          </a:p>
        </p:txBody>
      </p:sp>
      <p:sp>
        <p:nvSpPr>
          <p:cNvPr id="8" name="Shape 6"/>
          <p:cNvSpPr/>
          <p:nvPr/>
        </p:nvSpPr>
        <p:spPr>
          <a:xfrm>
            <a:off x="6199632" y="1078992"/>
            <a:ext cx="2578608" cy="822960"/>
          </a:xfrm>
          <a:prstGeom prst="roundRect">
            <a:avLst>
              <a:gd name="adj" fmla="val 6667"/>
            </a:avLst>
          </a:prstGeom>
          <a:solidFill>
            <a:srgbClr val="E0F7FA"/>
          </a:solidFill>
          <a:ln w="10160">
            <a:solidFill>
              <a:srgbClr val="0E6B78"/>
            </a:solidFill>
            <a:prstDash val="solid"/>
          </a:ln>
        </p:spPr>
      </p:sp>
      <p:sp>
        <p:nvSpPr>
          <p:cNvPr id="9" name="Text 7"/>
          <p:cNvSpPr/>
          <p:nvPr/>
        </p:nvSpPr>
        <p:spPr>
          <a:xfrm>
            <a:off x="6272784" y="1115568"/>
            <a:ext cx="2432304" cy="749808"/>
          </a:xfrm>
          <a:prstGeom prst="rect">
            <a:avLst/>
          </a:prstGeom>
          <a:noFill/>
          <a:ln/>
        </p:spPr>
        <p:txBody>
          <a:bodyPr wrap="square" lIns="0" tIns="0" rIns="0" bIns="0" rtlCol="0" anchor="ctr"/>
          <a:lstStyle/>
          <a:p>
            <a:pPr indent="0" marL="0">
              <a:buNone/>
            </a:pPr>
            <a:r>
              <a:rPr lang="en-US" sz="750" b="1" dirty="0">
                <a:solidFill>
                  <a:srgbClr val="0E6B78"/>
                </a:solidFill>
                <a:latin typeface="Calibri" pitchFamily="34" charset="0"/>
                <a:ea typeface="Calibri" pitchFamily="34" charset="-122"/>
                <a:cs typeface="Calibri" pitchFamily="34" charset="-120"/>
              </a:rPr>
              <a:t>Answer: </a:t>
            </a:r>
            <a:pPr indent="0" marL="0">
              <a:buNone/>
            </a:pPr>
            <a:r>
              <a:rPr lang="en-US" sz="750" dirty="0">
                <a:solidFill>
                  <a:srgbClr val="1A2E38"/>
                </a:solidFill>
                <a:latin typeface="Calibri" pitchFamily="34" charset="0"/>
                <a:ea typeface="Calibri" pitchFamily="34" charset="-122"/>
                <a:cs typeface="Calibri" pitchFamily="34" charset="-120"/>
              </a:rPr>
              <a:t>Levene's p = .028 &lt; .05 → variances are SIGNIFICANTLY different → use 'Equal variances NOT assumed' row. APA: An independent t-test (Welch's) found female consumers (M=3.84) scored significantly higher in satisfaction than males (M=3.64), t(df) = -2.19, p = .029. The Welch correction is required because Levene's test was significant (F=4.82, p=.028).</a:t>
            </a:r>
            <a:endParaRPr lang="en-US" sz="750" dirty="0"/>
          </a:p>
        </p:txBody>
      </p:sp>
      <p:sp>
        <p:nvSpPr>
          <p:cNvPr id="10" name="Shape 8"/>
          <p:cNvSpPr/>
          <p:nvPr/>
        </p:nvSpPr>
        <p:spPr>
          <a:xfrm>
            <a:off x="256032" y="2048256"/>
            <a:ext cx="8631936" cy="950976"/>
          </a:xfrm>
          <a:prstGeom prst="roundRect">
            <a:avLst>
              <a:gd name="adj" fmla="val 7692"/>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9184" y="2139696"/>
            <a:ext cx="347472" cy="347472"/>
          </a:xfrm>
          <a:prstGeom prst="ellipse">
            <a:avLst/>
          </a:prstGeom>
          <a:solidFill>
            <a:srgbClr val="061A24"/>
          </a:solidFill>
          <a:ln w="12700">
            <a:solidFill>
              <a:srgbClr val="061A24"/>
            </a:solidFill>
            <a:prstDash val="solid"/>
          </a:ln>
        </p:spPr>
      </p:sp>
      <p:sp>
        <p:nvSpPr>
          <p:cNvPr id="12" name="Text 10"/>
          <p:cNvSpPr/>
          <p:nvPr/>
        </p:nvSpPr>
        <p:spPr>
          <a:xfrm>
            <a:off x="329184" y="2139696"/>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Q2</a:t>
            </a:r>
            <a:endParaRPr lang="en-US" sz="1000" dirty="0"/>
          </a:p>
        </p:txBody>
      </p:sp>
      <p:sp>
        <p:nvSpPr>
          <p:cNvPr id="13" name="Text 11"/>
          <p:cNvSpPr/>
          <p:nvPr/>
        </p:nvSpPr>
        <p:spPr>
          <a:xfrm>
            <a:off x="768096" y="2103120"/>
            <a:ext cx="5321808" cy="822960"/>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One-Way ANOVA comparing sat_mean across 4 age groups: F(3, 446) = 5.14, p = .002, η² = .034. A student concludes: 'All four age groups are significantly different from each other.' What is wrong with this statement, and what must the student do next?</a:t>
            </a:r>
            <a:endParaRPr lang="en-US" sz="950" dirty="0"/>
          </a:p>
        </p:txBody>
      </p:sp>
      <p:sp>
        <p:nvSpPr>
          <p:cNvPr id="14" name="Shape 12"/>
          <p:cNvSpPr/>
          <p:nvPr/>
        </p:nvSpPr>
        <p:spPr>
          <a:xfrm>
            <a:off x="6199632" y="2103120"/>
            <a:ext cx="2578608" cy="822960"/>
          </a:xfrm>
          <a:prstGeom prst="roundRect">
            <a:avLst>
              <a:gd name="adj" fmla="val 6667"/>
            </a:avLst>
          </a:prstGeom>
          <a:solidFill>
            <a:srgbClr val="E0F7FA"/>
          </a:solidFill>
          <a:ln w="10160">
            <a:solidFill>
              <a:srgbClr val="0E6B78"/>
            </a:solidFill>
            <a:prstDash val="solid"/>
          </a:ln>
        </p:spPr>
      </p:sp>
      <p:sp>
        <p:nvSpPr>
          <p:cNvPr id="15" name="Text 13"/>
          <p:cNvSpPr/>
          <p:nvPr/>
        </p:nvSpPr>
        <p:spPr>
          <a:xfrm>
            <a:off x="6272784" y="2139696"/>
            <a:ext cx="2432304" cy="749808"/>
          </a:xfrm>
          <a:prstGeom prst="rect">
            <a:avLst/>
          </a:prstGeom>
          <a:noFill/>
          <a:ln/>
        </p:spPr>
        <p:txBody>
          <a:bodyPr wrap="square" lIns="0" tIns="0" rIns="0" bIns="0" rtlCol="0" anchor="ctr"/>
          <a:lstStyle/>
          <a:p>
            <a:pPr indent="0" marL="0">
              <a:buNone/>
            </a:pPr>
            <a:r>
              <a:rPr lang="en-US" sz="750" b="1" dirty="0">
                <a:solidFill>
                  <a:srgbClr val="0E6B78"/>
                </a:solidFill>
                <a:latin typeface="Calibri" pitchFamily="34" charset="0"/>
                <a:ea typeface="Calibri" pitchFamily="34" charset="-122"/>
                <a:cs typeface="Calibri" pitchFamily="34" charset="-120"/>
              </a:rPr>
              <a:t>Answer: </a:t>
            </a:r>
            <a:pPr indent="0" marL="0">
              <a:buNone/>
            </a:pPr>
            <a:r>
              <a:rPr lang="en-US" sz="750" dirty="0">
                <a:solidFill>
                  <a:srgbClr val="1A2E38"/>
                </a:solidFill>
                <a:latin typeface="Calibri" pitchFamily="34" charset="0"/>
                <a:ea typeface="Calibri" pitchFamily="34" charset="-122"/>
                <a:cs typeface="Calibri" pitchFamily="34" charset="-120"/>
              </a:rPr>
              <a:t>Wrong: ANOVA only tells us AT LEAST ONE pair differs - not which pairs or how many. The student MUST run Post-Hoc tests (Tukey HSD or Games-Howell if Levene's significant). Additionally, η² = .034 is a SMALL effect, suggesting limited practical importance despite statistical significance. The write-up must include: which specific pairs differ (from Tukey), effect size, and note that the overall group pattern shows Youth consumers less satisfied than Seniors.</a:t>
            </a:r>
            <a:endParaRPr lang="en-US" sz="750" dirty="0"/>
          </a:p>
        </p:txBody>
      </p:sp>
      <p:sp>
        <p:nvSpPr>
          <p:cNvPr id="16" name="Shape 14"/>
          <p:cNvSpPr/>
          <p:nvPr/>
        </p:nvSpPr>
        <p:spPr>
          <a:xfrm>
            <a:off x="256032" y="3072384"/>
            <a:ext cx="8631936" cy="950976"/>
          </a:xfrm>
          <a:prstGeom prst="roundRect">
            <a:avLst>
              <a:gd name="adj" fmla="val 7692"/>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9184" y="3163824"/>
            <a:ext cx="347472" cy="347472"/>
          </a:xfrm>
          <a:prstGeom prst="ellipse">
            <a:avLst/>
          </a:prstGeom>
          <a:solidFill>
            <a:srgbClr val="061A24"/>
          </a:solidFill>
          <a:ln w="12700">
            <a:solidFill>
              <a:srgbClr val="061A24"/>
            </a:solidFill>
            <a:prstDash val="solid"/>
          </a:ln>
        </p:spPr>
      </p:sp>
      <p:sp>
        <p:nvSpPr>
          <p:cNvPr id="18" name="Text 16"/>
          <p:cNvSpPr/>
          <p:nvPr/>
        </p:nvSpPr>
        <p:spPr>
          <a:xfrm>
            <a:off x="329184" y="3163824"/>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Q3</a:t>
            </a:r>
            <a:endParaRPr lang="en-US" sz="1000" dirty="0"/>
          </a:p>
        </p:txBody>
      </p:sp>
      <p:sp>
        <p:nvSpPr>
          <p:cNvPr id="19" name="Text 17"/>
          <p:cNvSpPr/>
          <p:nvPr/>
        </p:nvSpPr>
        <p:spPr>
          <a:xfrm>
            <a:off x="768096" y="3127248"/>
            <a:ext cx="5321808" cy="822960"/>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Factorial ANOVA: Gender main effect F(1,440) = 6.10, p = .014. Product main effect F(4,440) = 8.34, p &lt; .001. Interaction: F(4,440) = 2.84, p = .023. A colleague says: 'Since the main effect of gender is significant, we can conclude female consumers are always more satisfied than males across all products.' Is this correct?</a:t>
            </a:r>
            <a:endParaRPr lang="en-US" sz="950" dirty="0"/>
          </a:p>
        </p:txBody>
      </p:sp>
      <p:sp>
        <p:nvSpPr>
          <p:cNvPr id="20" name="Shape 18"/>
          <p:cNvSpPr/>
          <p:nvPr/>
        </p:nvSpPr>
        <p:spPr>
          <a:xfrm>
            <a:off x="6199632" y="3127248"/>
            <a:ext cx="2578608" cy="822960"/>
          </a:xfrm>
          <a:prstGeom prst="roundRect">
            <a:avLst>
              <a:gd name="adj" fmla="val 6667"/>
            </a:avLst>
          </a:prstGeom>
          <a:solidFill>
            <a:srgbClr val="E0F7FA"/>
          </a:solidFill>
          <a:ln w="10160">
            <a:solidFill>
              <a:srgbClr val="0E6B78"/>
            </a:solidFill>
            <a:prstDash val="solid"/>
          </a:ln>
        </p:spPr>
      </p:sp>
      <p:sp>
        <p:nvSpPr>
          <p:cNvPr id="21" name="Text 19"/>
          <p:cNvSpPr/>
          <p:nvPr/>
        </p:nvSpPr>
        <p:spPr>
          <a:xfrm>
            <a:off x="6272784" y="3163824"/>
            <a:ext cx="2432304" cy="749808"/>
          </a:xfrm>
          <a:prstGeom prst="rect">
            <a:avLst/>
          </a:prstGeom>
          <a:noFill/>
          <a:ln/>
        </p:spPr>
        <p:txBody>
          <a:bodyPr wrap="square" lIns="0" tIns="0" rIns="0" bIns="0" rtlCol="0" anchor="ctr"/>
          <a:lstStyle/>
          <a:p>
            <a:pPr indent="0" marL="0">
              <a:buNone/>
            </a:pPr>
            <a:r>
              <a:rPr lang="en-US" sz="750" b="1" dirty="0">
                <a:solidFill>
                  <a:srgbClr val="0E6B78"/>
                </a:solidFill>
                <a:latin typeface="Calibri" pitchFamily="34" charset="0"/>
                <a:ea typeface="Calibri" pitchFamily="34" charset="-122"/>
                <a:cs typeface="Calibri" pitchFamily="34" charset="-120"/>
              </a:rPr>
              <a:t>Answer: </a:t>
            </a:r>
            <a:pPr indent="0" marL="0">
              <a:buNone/>
            </a:pPr>
            <a:r>
              <a:rPr lang="en-US" sz="750" dirty="0">
                <a:solidFill>
                  <a:srgbClr val="1A2E38"/>
                </a:solidFill>
                <a:latin typeface="Calibri" pitchFamily="34" charset="0"/>
                <a:ea typeface="Calibri" pitchFamily="34" charset="-122"/>
                <a:cs typeface="Calibri" pitchFamily="34" charset="-120"/>
              </a:rPr>
              <a:t>INCORRECT. A significant interaction (p = .023) means the gender effect is NOT consistent across product types. The main effect statement is misleading when the interaction is significant. The colleague must examine SIMPLE EFFECTS: the gender difference at EACH product level separately. Profile plots may show the gender gap reverses or disappears for some products. When an interaction is significant, focus on interpreting the interaction pattern, not the main effects in isolation.</a:t>
            </a:r>
            <a:endParaRPr lang="en-US" sz="750" dirty="0"/>
          </a:p>
        </p:txBody>
      </p:sp>
      <p:sp>
        <p:nvSpPr>
          <p:cNvPr id="22" name="Shape 20"/>
          <p:cNvSpPr/>
          <p:nvPr/>
        </p:nvSpPr>
        <p:spPr>
          <a:xfrm>
            <a:off x="256032" y="4096512"/>
            <a:ext cx="8631936" cy="950976"/>
          </a:xfrm>
          <a:prstGeom prst="roundRect">
            <a:avLst>
              <a:gd name="adj" fmla="val 7692"/>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29184" y="4187952"/>
            <a:ext cx="347472" cy="347472"/>
          </a:xfrm>
          <a:prstGeom prst="ellipse">
            <a:avLst/>
          </a:prstGeom>
          <a:solidFill>
            <a:srgbClr val="061A24"/>
          </a:solidFill>
          <a:ln w="12700">
            <a:solidFill>
              <a:srgbClr val="061A24"/>
            </a:solidFill>
            <a:prstDash val="solid"/>
          </a:ln>
        </p:spPr>
      </p:sp>
      <p:sp>
        <p:nvSpPr>
          <p:cNvPr id="24" name="Text 22"/>
          <p:cNvSpPr/>
          <p:nvPr/>
        </p:nvSpPr>
        <p:spPr>
          <a:xfrm>
            <a:off x="329184" y="4187952"/>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Q4</a:t>
            </a:r>
            <a:endParaRPr lang="en-US" sz="1000" dirty="0"/>
          </a:p>
        </p:txBody>
      </p:sp>
      <p:sp>
        <p:nvSpPr>
          <p:cNvPr id="25" name="Text 23"/>
          <p:cNvSpPr/>
          <p:nvPr/>
        </p:nvSpPr>
        <p:spPr>
          <a:xfrm>
            <a:off x="768096" y="4151376"/>
            <a:ext cx="5321808" cy="822960"/>
          </a:xfrm>
          <a:prstGeom prst="rect">
            <a:avLst/>
          </a:prstGeom>
          <a:noFill/>
          <a:ln/>
        </p:spPr>
        <p:txBody>
          <a:bodyPr wrap="square" lIns="0" tIns="0" rIns="0" bIns="0" rtlCol="0" anchor="ctr"/>
          <a:lstStyle/>
          <a:p>
            <a:pPr indent="0" marL="0">
              <a:buNone/>
            </a:pPr>
            <a:r>
              <a:rPr lang="en-US" sz="950" dirty="0">
                <a:solidFill>
                  <a:srgbClr val="1A2E38"/>
                </a:solidFill>
                <a:latin typeface="Calibri" pitchFamily="34" charset="0"/>
                <a:ea typeface="Calibri" pitchFamily="34" charset="-122"/>
                <a:cs typeface="Calibri" pitchFamily="34" charset="-120"/>
              </a:rPr>
              <a:t>Wilcoxon Signed-Rank Test comparing pre/post repurchase_intention: Z = -7.14, p &lt; .001. N = 120. Calculate the effect size r and interpret it. Then explain why a Paired T-Test would NOT be appropriate for this analysis.</a:t>
            </a:r>
            <a:endParaRPr lang="en-US" sz="950" dirty="0"/>
          </a:p>
        </p:txBody>
      </p:sp>
      <p:sp>
        <p:nvSpPr>
          <p:cNvPr id="26" name="Shape 24"/>
          <p:cNvSpPr/>
          <p:nvPr/>
        </p:nvSpPr>
        <p:spPr>
          <a:xfrm>
            <a:off x="6199632" y="4151376"/>
            <a:ext cx="2578608" cy="822960"/>
          </a:xfrm>
          <a:prstGeom prst="roundRect">
            <a:avLst>
              <a:gd name="adj" fmla="val 6667"/>
            </a:avLst>
          </a:prstGeom>
          <a:solidFill>
            <a:srgbClr val="E0F7FA"/>
          </a:solidFill>
          <a:ln w="10160">
            <a:solidFill>
              <a:srgbClr val="0E6B78"/>
            </a:solidFill>
            <a:prstDash val="solid"/>
          </a:ln>
        </p:spPr>
      </p:sp>
      <p:sp>
        <p:nvSpPr>
          <p:cNvPr id="27" name="Text 25"/>
          <p:cNvSpPr/>
          <p:nvPr/>
        </p:nvSpPr>
        <p:spPr>
          <a:xfrm>
            <a:off x="6272784" y="4187952"/>
            <a:ext cx="2432304" cy="749808"/>
          </a:xfrm>
          <a:prstGeom prst="rect">
            <a:avLst/>
          </a:prstGeom>
          <a:noFill/>
          <a:ln/>
        </p:spPr>
        <p:txBody>
          <a:bodyPr wrap="square" lIns="0" tIns="0" rIns="0" bIns="0" rtlCol="0" anchor="ctr"/>
          <a:lstStyle/>
          <a:p>
            <a:pPr indent="0" marL="0">
              <a:buNone/>
            </a:pPr>
            <a:r>
              <a:rPr lang="en-US" sz="750" b="1" dirty="0">
                <a:solidFill>
                  <a:srgbClr val="0E6B78"/>
                </a:solidFill>
                <a:latin typeface="Calibri" pitchFamily="34" charset="0"/>
                <a:ea typeface="Calibri" pitchFamily="34" charset="-122"/>
                <a:cs typeface="Calibri" pitchFamily="34" charset="-120"/>
              </a:rPr>
              <a:t>Answer: </a:t>
            </a:r>
            <a:pPr indent="0" marL="0">
              <a:buNone/>
            </a:pPr>
            <a:r>
              <a:rPr lang="en-US" sz="750" dirty="0">
                <a:solidFill>
                  <a:srgbClr val="1A2E38"/>
                </a:solidFill>
                <a:latin typeface="Calibri" pitchFamily="34" charset="0"/>
                <a:ea typeface="Calibri" pitchFamily="34" charset="-122"/>
                <a:cs typeface="Calibri" pitchFamily="34" charset="-120"/>
              </a:rPr>
              <a:t>Effect size r = |Z| / √N = |-7.14| / √120 = 7.14 / 10.95 = 0.652. Large effect (Cohen's benchmarks: small r = .10, medium r = .30, large r = .50). Interpretation: There was a large significant increase in repurchase intention after the relaunch. Paired T-Test is not appropriate because: repurchase_intention is measured on an ordinal 1-5 scale. Arithmetic means are not meaningful for ordinal data. The parametric test assumes interval-level measurement which ordinal data does not meet.</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1A24"/>
          </a:solidFill>
          <a:ln w="12700">
            <a:solidFill>
              <a:srgbClr val="061A24"/>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4 Complete - Bridge to Module 5: Advanced Statistical Methods</a:t>
            </a:r>
            <a:endParaRPr lang="en-US" sz="2100" dirty="0"/>
          </a:p>
        </p:txBody>
      </p:sp>
      <p:sp>
        <p:nvSpPr>
          <p:cNvPr id="4" name="Shape 2"/>
          <p:cNvSpPr/>
          <p:nvPr/>
        </p:nvSpPr>
        <p:spPr>
          <a:xfrm>
            <a:off x="201168" y="1005840"/>
            <a:ext cx="1645920" cy="1755648"/>
          </a:xfrm>
          <a:prstGeom prst="roundRect">
            <a:avLst>
              <a:gd name="adj" fmla="val 500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56032" y="1078992"/>
            <a:ext cx="1536192" cy="457200"/>
          </a:xfrm>
          <a:prstGeom prst="roundRect">
            <a:avLst>
              <a:gd name="adj" fmla="val 14000"/>
            </a:avLst>
          </a:prstGeom>
          <a:solidFill>
            <a:srgbClr val="2471A3"/>
          </a:solidFill>
          <a:ln w="12700">
            <a:solidFill>
              <a:srgbClr val="2471A3"/>
            </a:solidFill>
            <a:prstDash val="solid"/>
          </a:ln>
        </p:spPr>
      </p:sp>
      <p:sp>
        <p:nvSpPr>
          <p:cNvPr id="6" name="Text 4"/>
          <p:cNvSpPr/>
          <p:nvPr/>
        </p:nvSpPr>
        <p:spPr>
          <a:xfrm>
            <a:off x="256032"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1</a:t>
            </a:r>
            <a:endParaRPr lang="en-US" sz="1100" dirty="0"/>
          </a:p>
        </p:txBody>
      </p:sp>
      <p:sp>
        <p:nvSpPr>
          <p:cNvPr id="7" name="Text 5"/>
          <p:cNvSpPr/>
          <p:nvPr/>
        </p:nvSpPr>
        <p:spPr>
          <a:xfrm>
            <a:off x="256032"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Research Design</a:t>
            </a:r>
            <a:endParaRPr lang="en-US" sz="850" dirty="0"/>
          </a:p>
        </p:txBody>
      </p:sp>
      <p:sp>
        <p:nvSpPr>
          <p:cNvPr id="8" name="Text 6"/>
          <p:cNvSpPr/>
          <p:nvPr/>
        </p:nvSpPr>
        <p:spPr>
          <a:xfrm>
            <a:off x="292608" y="1609344"/>
            <a:ext cx="1463040" cy="749808"/>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Research questions, hypotheses, sampling</a:t>
            </a:r>
            <a:endParaRPr lang="en-US" sz="850" dirty="0"/>
          </a:p>
        </p:txBody>
      </p:sp>
      <p:sp>
        <p:nvSpPr>
          <p:cNvPr id="9" name="Text 7"/>
          <p:cNvSpPr/>
          <p:nvPr/>
        </p:nvSpPr>
        <p:spPr>
          <a:xfrm>
            <a:off x="1865376" y="1719072"/>
            <a:ext cx="91440" cy="365760"/>
          </a:xfrm>
          <a:prstGeom prst="rect">
            <a:avLst/>
          </a:prstGeom>
          <a:noFill/>
          <a:ln/>
        </p:spPr>
        <p:txBody>
          <a:bodyPr wrap="square" lIns="0" tIns="0" rIns="0" bIns="0" rtlCol="0" anchor="ctr"/>
          <a:lstStyle/>
          <a:p>
            <a:pPr algn="ctr" indent="0" marL="0">
              <a:buNone/>
            </a:pPr>
            <a:r>
              <a:rPr lang="en-US" sz="1800" b="1" dirty="0">
                <a:solidFill>
                  <a:srgbClr val="0E6B78"/>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1975104" y="1005840"/>
            <a:ext cx="1645920" cy="1755648"/>
          </a:xfrm>
          <a:prstGeom prst="roundRect">
            <a:avLst>
              <a:gd name="adj" fmla="val 500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2029968" y="1078992"/>
            <a:ext cx="1536192" cy="457200"/>
          </a:xfrm>
          <a:prstGeom prst="roundRect">
            <a:avLst>
              <a:gd name="adj" fmla="val 14000"/>
            </a:avLst>
          </a:prstGeom>
          <a:solidFill>
            <a:srgbClr val="1A7A4A"/>
          </a:solidFill>
          <a:ln w="12700">
            <a:solidFill>
              <a:srgbClr val="1A7A4A"/>
            </a:solidFill>
            <a:prstDash val="solid"/>
          </a:ln>
        </p:spPr>
      </p:sp>
      <p:sp>
        <p:nvSpPr>
          <p:cNvPr id="12" name="Text 10"/>
          <p:cNvSpPr/>
          <p:nvPr/>
        </p:nvSpPr>
        <p:spPr>
          <a:xfrm>
            <a:off x="2029968"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2</a:t>
            </a:r>
            <a:endParaRPr lang="en-US" sz="1100" dirty="0"/>
          </a:p>
        </p:txBody>
      </p:sp>
      <p:sp>
        <p:nvSpPr>
          <p:cNvPr id="13" name="Text 11"/>
          <p:cNvSpPr/>
          <p:nvPr/>
        </p:nvSpPr>
        <p:spPr>
          <a:xfrm>
            <a:off x="2029968"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Data Management</a:t>
            </a:r>
            <a:endParaRPr lang="en-US" sz="850" dirty="0"/>
          </a:p>
        </p:txBody>
      </p:sp>
      <p:sp>
        <p:nvSpPr>
          <p:cNvPr id="14" name="Text 12"/>
          <p:cNvSpPr/>
          <p:nvPr/>
        </p:nvSpPr>
        <p:spPr>
          <a:xfrm>
            <a:off x="2066544" y="1609344"/>
            <a:ext cx="1463040" cy="749808"/>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Entry, validation, recoding, merging</a:t>
            </a:r>
            <a:endParaRPr lang="en-US" sz="850" dirty="0"/>
          </a:p>
        </p:txBody>
      </p:sp>
      <p:sp>
        <p:nvSpPr>
          <p:cNvPr id="15" name="Text 13"/>
          <p:cNvSpPr/>
          <p:nvPr/>
        </p:nvSpPr>
        <p:spPr>
          <a:xfrm>
            <a:off x="3639312" y="1719072"/>
            <a:ext cx="91440" cy="365760"/>
          </a:xfrm>
          <a:prstGeom prst="rect">
            <a:avLst/>
          </a:prstGeom>
          <a:noFill/>
          <a:ln/>
        </p:spPr>
        <p:txBody>
          <a:bodyPr wrap="square" lIns="0" tIns="0" rIns="0" bIns="0" rtlCol="0" anchor="ctr"/>
          <a:lstStyle/>
          <a:p>
            <a:pPr algn="ctr" indent="0" marL="0">
              <a:buNone/>
            </a:pPr>
            <a:r>
              <a:rPr lang="en-US" sz="1800" b="1" dirty="0">
                <a:solidFill>
                  <a:srgbClr val="0E6B7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3749040" y="1005840"/>
            <a:ext cx="1645920" cy="1755648"/>
          </a:xfrm>
          <a:prstGeom prst="roundRect">
            <a:avLst>
              <a:gd name="adj" fmla="val 5000"/>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803904" y="1078992"/>
            <a:ext cx="1536192" cy="457200"/>
          </a:xfrm>
          <a:prstGeom prst="roundRect">
            <a:avLst>
              <a:gd name="adj" fmla="val 14000"/>
            </a:avLst>
          </a:prstGeom>
          <a:solidFill>
            <a:srgbClr val="5B2D8E"/>
          </a:solidFill>
          <a:ln w="12700">
            <a:solidFill>
              <a:srgbClr val="5B2D8E"/>
            </a:solidFill>
            <a:prstDash val="solid"/>
          </a:ln>
        </p:spPr>
      </p:sp>
      <p:sp>
        <p:nvSpPr>
          <p:cNvPr id="18" name="Text 16"/>
          <p:cNvSpPr/>
          <p:nvPr/>
        </p:nvSpPr>
        <p:spPr>
          <a:xfrm>
            <a:off x="3803904"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3</a:t>
            </a:r>
            <a:endParaRPr lang="en-US" sz="1100" dirty="0"/>
          </a:p>
        </p:txBody>
      </p:sp>
      <p:sp>
        <p:nvSpPr>
          <p:cNvPr id="19" name="Text 17"/>
          <p:cNvSpPr/>
          <p:nvPr/>
        </p:nvSpPr>
        <p:spPr>
          <a:xfrm>
            <a:off x="3803904"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Descriptive Stats</a:t>
            </a:r>
            <a:endParaRPr lang="en-US" sz="850" dirty="0"/>
          </a:p>
        </p:txBody>
      </p:sp>
      <p:sp>
        <p:nvSpPr>
          <p:cNvPr id="20" name="Text 18"/>
          <p:cNvSpPr/>
          <p:nvPr/>
        </p:nvSpPr>
        <p:spPr>
          <a:xfrm>
            <a:off x="3840480" y="1609344"/>
            <a:ext cx="1463040" cy="749808"/>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Frequencies, means, charts, correlation</a:t>
            </a:r>
            <a:endParaRPr lang="en-US" sz="850" dirty="0"/>
          </a:p>
        </p:txBody>
      </p:sp>
      <p:sp>
        <p:nvSpPr>
          <p:cNvPr id="21" name="Text 19"/>
          <p:cNvSpPr/>
          <p:nvPr/>
        </p:nvSpPr>
        <p:spPr>
          <a:xfrm>
            <a:off x="5413248" y="1719072"/>
            <a:ext cx="91440" cy="365760"/>
          </a:xfrm>
          <a:prstGeom prst="rect">
            <a:avLst/>
          </a:prstGeom>
          <a:noFill/>
          <a:ln/>
        </p:spPr>
        <p:txBody>
          <a:bodyPr wrap="square" lIns="0" tIns="0" rIns="0" bIns="0" rtlCol="0" anchor="ctr"/>
          <a:lstStyle/>
          <a:p>
            <a:pPr algn="ctr" indent="0" marL="0">
              <a:buNone/>
            </a:pPr>
            <a:r>
              <a:rPr lang="en-US" sz="1800" b="1" dirty="0">
                <a:solidFill>
                  <a:srgbClr val="0E6B78"/>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5522976" y="1005840"/>
            <a:ext cx="1645920" cy="2121408"/>
          </a:xfrm>
          <a:prstGeom prst="roundRect">
            <a:avLst>
              <a:gd name="adj" fmla="val 5000"/>
            </a:avLst>
          </a:prstGeom>
          <a:solidFill>
            <a:srgbClr val="E0F7FA"/>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5577840" y="1078992"/>
            <a:ext cx="1536192" cy="457200"/>
          </a:xfrm>
          <a:prstGeom prst="roundRect">
            <a:avLst>
              <a:gd name="adj" fmla="val 14000"/>
            </a:avLst>
          </a:prstGeom>
          <a:solidFill>
            <a:srgbClr val="0E6B78"/>
          </a:solidFill>
          <a:ln w="12700">
            <a:solidFill>
              <a:srgbClr val="0E6B78"/>
            </a:solidFill>
            <a:prstDash val="solid"/>
          </a:ln>
        </p:spPr>
      </p:sp>
      <p:sp>
        <p:nvSpPr>
          <p:cNvPr id="24" name="Text 22"/>
          <p:cNvSpPr/>
          <p:nvPr/>
        </p:nvSpPr>
        <p:spPr>
          <a:xfrm>
            <a:off x="5577840"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4</a:t>
            </a:r>
            <a:endParaRPr lang="en-US" sz="1100" dirty="0"/>
          </a:p>
        </p:txBody>
      </p:sp>
      <p:sp>
        <p:nvSpPr>
          <p:cNvPr id="25" name="Text 23"/>
          <p:cNvSpPr/>
          <p:nvPr/>
        </p:nvSpPr>
        <p:spPr>
          <a:xfrm>
            <a:off x="5577840"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Inferential Stats</a:t>
            </a:r>
            <a:endParaRPr lang="en-US" sz="850" dirty="0"/>
          </a:p>
        </p:txBody>
      </p:sp>
      <p:sp>
        <p:nvSpPr>
          <p:cNvPr id="26" name="Text 24"/>
          <p:cNvSpPr/>
          <p:nvPr/>
        </p:nvSpPr>
        <p:spPr>
          <a:xfrm>
            <a:off x="5614416" y="1609344"/>
            <a:ext cx="1463040" cy="749808"/>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T-tests, ANOVA, chi-square, non-parametric</a:t>
            </a:r>
            <a:endParaRPr lang="en-US" sz="850" dirty="0"/>
          </a:p>
        </p:txBody>
      </p:sp>
      <p:sp>
        <p:nvSpPr>
          <p:cNvPr id="27" name="Text 25"/>
          <p:cNvSpPr/>
          <p:nvPr/>
        </p:nvSpPr>
        <p:spPr>
          <a:xfrm>
            <a:off x="5614416" y="2395728"/>
            <a:ext cx="1463040" cy="347472"/>
          </a:xfrm>
          <a:prstGeom prst="rect">
            <a:avLst/>
          </a:prstGeom>
          <a:noFill/>
          <a:ln/>
        </p:spPr>
        <p:txBody>
          <a:bodyPr wrap="square" lIns="0" tIns="0" rIns="0" bIns="0" rtlCol="0" anchor="ctr"/>
          <a:lstStyle/>
          <a:p>
            <a:pPr algn="ctr" indent="0" marL="0">
              <a:buNone/>
            </a:pPr>
            <a:r>
              <a:rPr lang="en-US" sz="900" b="1" dirty="0">
                <a:solidFill>
                  <a:srgbClr val="0E6B78"/>
                </a:solidFill>
                <a:latin typeface="Calibri" pitchFamily="34" charset="0"/>
                <a:ea typeface="Calibri" pitchFamily="34" charset="-122"/>
                <a:cs typeface="Calibri" pitchFamily="34" charset="-120"/>
              </a:rPr>
              <a:t>YOU ARE</a:t>
            </a:r>
            <a:endParaRPr lang="en-US" sz="900" dirty="0"/>
          </a:p>
          <a:p>
            <a:pPr algn="ctr" indent="0" marL="0">
              <a:buNone/>
            </a:pPr>
            <a:r>
              <a:rPr lang="en-US" sz="900" b="1" dirty="0">
                <a:solidFill>
                  <a:srgbClr val="0E6B78"/>
                </a:solidFill>
                <a:latin typeface="Calibri" pitchFamily="34" charset="0"/>
                <a:ea typeface="Calibri" pitchFamily="34" charset="-122"/>
                <a:cs typeface="Calibri" pitchFamily="34" charset="-120"/>
              </a:rPr>
              <a:t>HERE</a:t>
            </a:r>
            <a:endParaRPr lang="en-US" sz="900" dirty="0"/>
          </a:p>
        </p:txBody>
      </p:sp>
      <p:sp>
        <p:nvSpPr>
          <p:cNvPr id="28" name="Text 26"/>
          <p:cNvSpPr/>
          <p:nvPr/>
        </p:nvSpPr>
        <p:spPr>
          <a:xfrm>
            <a:off x="7187184" y="1719072"/>
            <a:ext cx="91440" cy="365760"/>
          </a:xfrm>
          <a:prstGeom prst="rect">
            <a:avLst/>
          </a:prstGeom>
          <a:noFill/>
          <a:ln/>
        </p:spPr>
        <p:txBody>
          <a:bodyPr wrap="square" lIns="0" tIns="0" rIns="0" bIns="0" rtlCol="0" anchor="ctr"/>
          <a:lstStyle/>
          <a:p>
            <a:pPr algn="ctr" indent="0" marL="0">
              <a:buNone/>
            </a:pPr>
            <a:r>
              <a:rPr lang="en-US" sz="1800" b="1" dirty="0">
                <a:solidFill>
                  <a:srgbClr val="0E6B78"/>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7296912" y="1005840"/>
            <a:ext cx="1645920" cy="1536192"/>
          </a:xfrm>
          <a:prstGeom prst="roundRect">
            <a:avLst>
              <a:gd name="adj" fmla="val 5357"/>
            </a:avLst>
          </a:prstGeom>
          <a:solidFill>
            <a:srgbClr val="FFFFFF"/>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7351776" y="1078992"/>
            <a:ext cx="1536192" cy="457200"/>
          </a:xfrm>
          <a:prstGeom prst="roundRect">
            <a:avLst>
              <a:gd name="adj" fmla="val 14000"/>
            </a:avLst>
          </a:prstGeom>
          <a:solidFill>
            <a:srgbClr val="D4A017"/>
          </a:solidFill>
          <a:ln w="12700">
            <a:solidFill>
              <a:srgbClr val="D4A017"/>
            </a:solidFill>
            <a:prstDash val="solid"/>
          </a:ln>
        </p:spPr>
      </p:sp>
      <p:sp>
        <p:nvSpPr>
          <p:cNvPr id="31" name="Text 29"/>
          <p:cNvSpPr/>
          <p:nvPr/>
        </p:nvSpPr>
        <p:spPr>
          <a:xfrm>
            <a:off x="7351776"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5</a:t>
            </a:r>
            <a:endParaRPr lang="en-US" sz="1100" dirty="0"/>
          </a:p>
        </p:txBody>
      </p:sp>
      <p:sp>
        <p:nvSpPr>
          <p:cNvPr id="32" name="Text 30"/>
          <p:cNvSpPr/>
          <p:nvPr/>
        </p:nvSpPr>
        <p:spPr>
          <a:xfrm>
            <a:off x="7351776"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Advanced Methods</a:t>
            </a:r>
            <a:endParaRPr lang="en-US" sz="850" dirty="0"/>
          </a:p>
        </p:txBody>
      </p:sp>
      <p:sp>
        <p:nvSpPr>
          <p:cNvPr id="33" name="Text 31"/>
          <p:cNvSpPr/>
          <p:nvPr/>
        </p:nvSpPr>
        <p:spPr>
          <a:xfrm>
            <a:off x="7388352" y="1609344"/>
            <a:ext cx="1463040" cy="749808"/>
          </a:xfrm>
          <a:prstGeom prst="rect">
            <a:avLst/>
          </a:prstGeom>
          <a:noFill/>
          <a:ln/>
        </p:spPr>
        <p:txBody>
          <a:bodyPr wrap="square" lIns="0" tIns="0" rIns="0" bIns="0" rtlCol="0" anchor="ctr"/>
          <a:lstStyle/>
          <a:p>
            <a:pPr indent="0" marL="0">
              <a:buNone/>
            </a:pPr>
            <a:r>
              <a:rPr lang="en-US" sz="850" dirty="0">
                <a:solidFill>
                  <a:srgbClr val="1A2E38"/>
                </a:solidFill>
                <a:latin typeface="Calibri" pitchFamily="34" charset="0"/>
                <a:ea typeface="Calibri" pitchFamily="34" charset="-122"/>
                <a:cs typeface="Calibri" pitchFamily="34" charset="-120"/>
              </a:rPr>
              <a:t>Regression, factor analysis, cluster, logistic</a:t>
            </a:r>
            <a:endParaRPr lang="en-US" sz="850" dirty="0"/>
          </a:p>
        </p:txBody>
      </p:sp>
      <p:sp>
        <p:nvSpPr>
          <p:cNvPr id="34" name="Shape 32"/>
          <p:cNvSpPr/>
          <p:nvPr/>
        </p:nvSpPr>
        <p:spPr>
          <a:xfrm>
            <a:off x="256032" y="3218688"/>
            <a:ext cx="8631936" cy="1883664"/>
          </a:xfrm>
          <a:prstGeom prst="roundRect">
            <a:avLst>
              <a:gd name="adj" fmla="val 4369"/>
            </a:avLst>
          </a:prstGeom>
          <a:solidFill>
            <a:srgbClr val="E0F7FA"/>
          </a:solidFill>
          <a:ln w="6350">
            <a:solidFill>
              <a:srgbClr val="C0DEE8"/>
            </a:solidFill>
            <a:prstDash val="solid"/>
          </a:ln>
          <a:effectLst>
            <a:outerShdw sx="100000" sy="100000" kx="0" ky="0" algn="bl" rotWithShape="0" blurRad="76200" dist="25400" dir="2700000">
              <a:srgbClr val="000000">
                <a:alpha val="12000"/>
              </a:srgbClr>
            </a:outerShdw>
          </a:effectLst>
        </p:spPr>
      </p:sp>
      <p:sp>
        <p:nvSpPr>
          <p:cNvPr id="35" name="Text 33"/>
          <p:cNvSpPr/>
          <p:nvPr/>
        </p:nvSpPr>
        <p:spPr>
          <a:xfrm>
            <a:off x="384048" y="3310128"/>
            <a:ext cx="8321040" cy="256032"/>
          </a:xfrm>
          <a:prstGeom prst="rect">
            <a:avLst/>
          </a:prstGeom>
          <a:noFill/>
          <a:ln/>
        </p:spPr>
        <p:txBody>
          <a:bodyPr wrap="square" lIns="0" tIns="0" rIns="0" bIns="0" rtlCol="0" anchor="ctr"/>
          <a:lstStyle/>
          <a:p>
            <a:pPr indent="0" marL="0">
              <a:buNone/>
            </a:pPr>
            <a:r>
              <a:rPr lang="en-US" sz="1200" b="1" dirty="0">
                <a:solidFill>
                  <a:srgbClr val="061A24"/>
                </a:solidFill>
                <a:latin typeface="Calibri" pitchFamily="34" charset="0"/>
                <a:ea typeface="Calibri" pitchFamily="34" charset="-122"/>
                <a:cs typeface="Calibri" pitchFamily="34" charset="-120"/>
              </a:rPr>
              <a:t>Module 5 will cover - GLM Repeated Measures, Multiple Comparisons and Other Topics:</a:t>
            </a:r>
            <a:endParaRPr lang="en-US" sz="1200" dirty="0"/>
          </a:p>
        </p:txBody>
      </p:sp>
      <p:sp>
        <p:nvSpPr>
          <p:cNvPr id="36" name="Shape 34"/>
          <p:cNvSpPr/>
          <p:nvPr/>
        </p:nvSpPr>
        <p:spPr>
          <a:xfrm>
            <a:off x="365760" y="3639312"/>
            <a:ext cx="2779776" cy="585216"/>
          </a:xfrm>
          <a:prstGeom prst="roundRect">
            <a:avLst>
              <a:gd name="adj" fmla="val 7813"/>
            </a:avLst>
          </a:prstGeom>
          <a:solidFill>
            <a:srgbClr val="FFFFFF"/>
          </a:solidFill>
          <a:ln w="10160">
            <a:solidFill>
              <a:srgbClr val="C0DEE8"/>
            </a:solidFill>
            <a:prstDash val="solid"/>
          </a:ln>
        </p:spPr>
      </p:sp>
      <p:sp>
        <p:nvSpPr>
          <p:cNvPr id="37" name="Text 35"/>
          <p:cNvSpPr/>
          <p:nvPr/>
        </p:nvSpPr>
        <p:spPr>
          <a:xfrm>
            <a:off x="457200" y="3675888"/>
            <a:ext cx="2596896" cy="2560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Multiple Linear Regression</a:t>
            </a:r>
            <a:endParaRPr lang="en-US" sz="950" dirty="0"/>
          </a:p>
        </p:txBody>
      </p:sp>
      <p:sp>
        <p:nvSpPr>
          <p:cNvPr id="38" name="Text 36"/>
          <p:cNvSpPr/>
          <p:nvPr/>
        </p:nvSpPr>
        <p:spPr>
          <a:xfrm>
            <a:off x="457200" y="3950208"/>
            <a:ext cx="259689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Predicting sat_mean from multiple predictors simultaneously</a:t>
            </a:r>
            <a:endParaRPr lang="en-US" sz="850" dirty="0"/>
          </a:p>
        </p:txBody>
      </p:sp>
      <p:sp>
        <p:nvSpPr>
          <p:cNvPr id="39" name="Shape 37"/>
          <p:cNvSpPr/>
          <p:nvPr/>
        </p:nvSpPr>
        <p:spPr>
          <a:xfrm>
            <a:off x="3273552" y="3639312"/>
            <a:ext cx="2779776" cy="585216"/>
          </a:xfrm>
          <a:prstGeom prst="roundRect">
            <a:avLst>
              <a:gd name="adj" fmla="val 7813"/>
            </a:avLst>
          </a:prstGeom>
          <a:solidFill>
            <a:srgbClr val="FFFFFF"/>
          </a:solidFill>
          <a:ln w="10160">
            <a:solidFill>
              <a:srgbClr val="C0DEE8"/>
            </a:solidFill>
            <a:prstDash val="solid"/>
          </a:ln>
        </p:spPr>
      </p:sp>
      <p:sp>
        <p:nvSpPr>
          <p:cNvPr id="40" name="Text 38"/>
          <p:cNvSpPr/>
          <p:nvPr/>
        </p:nvSpPr>
        <p:spPr>
          <a:xfrm>
            <a:off x="3364992" y="3675888"/>
            <a:ext cx="2596896" cy="2560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Binary Logistic Regression</a:t>
            </a:r>
            <a:endParaRPr lang="en-US" sz="950" dirty="0"/>
          </a:p>
        </p:txBody>
      </p:sp>
      <p:sp>
        <p:nvSpPr>
          <p:cNvPr id="41" name="Text 39"/>
          <p:cNvSpPr/>
          <p:nvPr/>
        </p:nvSpPr>
        <p:spPr>
          <a:xfrm>
            <a:off x="3364992" y="3950208"/>
            <a:ext cx="259689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Predicting repurchase (yes/no) from demographic and satisfaction predictors</a:t>
            </a:r>
            <a:endParaRPr lang="en-US" sz="850" dirty="0"/>
          </a:p>
        </p:txBody>
      </p:sp>
      <p:sp>
        <p:nvSpPr>
          <p:cNvPr id="42" name="Shape 40"/>
          <p:cNvSpPr/>
          <p:nvPr/>
        </p:nvSpPr>
        <p:spPr>
          <a:xfrm>
            <a:off x="6181344" y="3639312"/>
            <a:ext cx="2779776" cy="585216"/>
          </a:xfrm>
          <a:prstGeom prst="roundRect">
            <a:avLst>
              <a:gd name="adj" fmla="val 7813"/>
            </a:avLst>
          </a:prstGeom>
          <a:solidFill>
            <a:srgbClr val="FFFFFF"/>
          </a:solidFill>
          <a:ln w="10160">
            <a:solidFill>
              <a:srgbClr val="C0DEE8"/>
            </a:solidFill>
            <a:prstDash val="solid"/>
          </a:ln>
        </p:spPr>
      </p:sp>
      <p:sp>
        <p:nvSpPr>
          <p:cNvPr id="43" name="Text 41"/>
          <p:cNvSpPr/>
          <p:nvPr/>
        </p:nvSpPr>
        <p:spPr>
          <a:xfrm>
            <a:off x="6272784" y="3675888"/>
            <a:ext cx="2596896" cy="2560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Exploratory Factor Analysis</a:t>
            </a:r>
            <a:endParaRPr lang="en-US" sz="950" dirty="0"/>
          </a:p>
        </p:txBody>
      </p:sp>
      <p:sp>
        <p:nvSpPr>
          <p:cNvPr id="44" name="Text 42"/>
          <p:cNvSpPr/>
          <p:nvPr/>
        </p:nvSpPr>
        <p:spPr>
          <a:xfrm>
            <a:off x="6272784" y="3950208"/>
            <a:ext cx="259689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Reducing 6 satisfaction items to underlying dimensions</a:t>
            </a:r>
            <a:endParaRPr lang="en-US" sz="850" dirty="0"/>
          </a:p>
        </p:txBody>
      </p:sp>
      <p:sp>
        <p:nvSpPr>
          <p:cNvPr id="45" name="Shape 43"/>
          <p:cNvSpPr/>
          <p:nvPr/>
        </p:nvSpPr>
        <p:spPr>
          <a:xfrm>
            <a:off x="365760" y="4297680"/>
            <a:ext cx="2779776" cy="585216"/>
          </a:xfrm>
          <a:prstGeom prst="roundRect">
            <a:avLst>
              <a:gd name="adj" fmla="val 7813"/>
            </a:avLst>
          </a:prstGeom>
          <a:solidFill>
            <a:srgbClr val="FFFFFF"/>
          </a:solidFill>
          <a:ln w="10160">
            <a:solidFill>
              <a:srgbClr val="C0DEE8"/>
            </a:solidFill>
            <a:prstDash val="solid"/>
          </a:ln>
        </p:spPr>
      </p:sp>
      <p:sp>
        <p:nvSpPr>
          <p:cNvPr id="46" name="Text 44"/>
          <p:cNvSpPr/>
          <p:nvPr/>
        </p:nvSpPr>
        <p:spPr>
          <a:xfrm>
            <a:off x="457200" y="4334256"/>
            <a:ext cx="2596896" cy="2560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Reliability Analysis (Cronbach α)</a:t>
            </a:r>
            <a:endParaRPr lang="en-US" sz="950" dirty="0"/>
          </a:p>
        </p:txBody>
      </p:sp>
      <p:sp>
        <p:nvSpPr>
          <p:cNvPr id="47" name="Text 45"/>
          <p:cNvSpPr/>
          <p:nvPr/>
        </p:nvSpPr>
        <p:spPr>
          <a:xfrm>
            <a:off x="457200" y="4608576"/>
            <a:ext cx="259689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Testing internal consistency of the satisfaction scale</a:t>
            </a:r>
            <a:endParaRPr lang="en-US" sz="850" dirty="0"/>
          </a:p>
        </p:txBody>
      </p:sp>
      <p:sp>
        <p:nvSpPr>
          <p:cNvPr id="48" name="Shape 46"/>
          <p:cNvSpPr/>
          <p:nvPr/>
        </p:nvSpPr>
        <p:spPr>
          <a:xfrm>
            <a:off x="3273552" y="4297680"/>
            <a:ext cx="2779776" cy="585216"/>
          </a:xfrm>
          <a:prstGeom prst="roundRect">
            <a:avLst>
              <a:gd name="adj" fmla="val 7813"/>
            </a:avLst>
          </a:prstGeom>
          <a:solidFill>
            <a:srgbClr val="FFFFFF"/>
          </a:solidFill>
          <a:ln w="10160">
            <a:solidFill>
              <a:srgbClr val="C0DEE8"/>
            </a:solidFill>
            <a:prstDash val="solid"/>
          </a:ln>
        </p:spPr>
      </p:sp>
      <p:sp>
        <p:nvSpPr>
          <p:cNvPr id="49" name="Text 47"/>
          <p:cNvSpPr/>
          <p:nvPr/>
        </p:nvSpPr>
        <p:spPr>
          <a:xfrm>
            <a:off x="3364992" y="4334256"/>
            <a:ext cx="2596896" cy="2560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K-Means Cluster Analysis</a:t>
            </a:r>
            <a:endParaRPr lang="en-US" sz="950" dirty="0"/>
          </a:p>
        </p:txBody>
      </p:sp>
      <p:sp>
        <p:nvSpPr>
          <p:cNvPr id="50" name="Text 48"/>
          <p:cNvSpPr/>
          <p:nvPr/>
        </p:nvSpPr>
        <p:spPr>
          <a:xfrm>
            <a:off x="3364992" y="4608576"/>
            <a:ext cx="259689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Segmenting 450 UAC consumers into distinct profiles</a:t>
            </a:r>
            <a:endParaRPr lang="en-US" sz="850" dirty="0"/>
          </a:p>
        </p:txBody>
      </p:sp>
      <p:sp>
        <p:nvSpPr>
          <p:cNvPr id="51" name="Shape 49"/>
          <p:cNvSpPr/>
          <p:nvPr/>
        </p:nvSpPr>
        <p:spPr>
          <a:xfrm>
            <a:off x="6181344" y="4297680"/>
            <a:ext cx="2779776" cy="585216"/>
          </a:xfrm>
          <a:prstGeom prst="roundRect">
            <a:avLst>
              <a:gd name="adj" fmla="val 7813"/>
            </a:avLst>
          </a:prstGeom>
          <a:solidFill>
            <a:srgbClr val="FFFFFF"/>
          </a:solidFill>
          <a:ln w="10160">
            <a:solidFill>
              <a:srgbClr val="C0DEE8"/>
            </a:solidFill>
            <a:prstDash val="solid"/>
          </a:ln>
        </p:spPr>
      </p:sp>
      <p:sp>
        <p:nvSpPr>
          <p:cNvPr id="52" name="Text 50"/>
          <p:cNvSpPr/>
          <p:nvPr/>
        </p:nvSpPr>
        <p:spPr>
          <a:xfrm>
            <a:off x="6272784" y="4334256"/>
            <a:ext cx="2596896" cy="256032"/>
          </a:xfrm>
          <a:prstGeom prst="rect">
            <a:avLst/>
          </a:prstGeom>
          <a:noFill/>
          <a:ln/>
        </p:spPr>
        <p:txBody>
          <a:bodyPr wrap="square" lIns="0" tIns="0" rIns="0" bIns="0" rtlCol="0" anchor="ctr"/>
          <a:lstStyle/>
          <a:p>
            <a:pPr indent="0" marL="0">
              <a:buNone/>
            </a:pPr>
            <a:r>
              <a:rPr lang="en-US" sz="950" b="1" dirty="0">
                <a:solidFill>
                  <a:srgbClr val="0E6B78"/>
                </a:solidFill>
                <a:latin typeface="Calibri" pitchFamily="34" charset="0"/>
                <a:ea typeface="Calibri" pitchFamily="34" charset="-122"/>
                <a:cs typeface="Calibri" pitchFamily="34" charset="-120"/>
              </a:rPr>
              <a:t>Multinomial Logistic Regression</a:t>
            </a:r>
            <a:endParaRPr lang="en-US" sz="950" dirty="0"/>
          </a:p>
        </p:txBody>
      </p:sp>
      <p:sp>
        <p:nvSpPr>
          <p:cNvPr id="53" name="Text 51"/>
          <p:cNvSpPr/>
          <p:nvPr/>
        </p:nvSpPr>
        <p:spPr>
          <a:xfrm>
            <a:off x="6272784" y="4608576"/>
            <a:ext cx="259689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Predicting preferred product (5 categories) from demographics</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61A24"/>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0E6B78">
              <a:alpha val="18000"/>
            </a:srgbClr>
          </a:solidFill>
          <a:ln w="12700">
            <a:solidFill>
              <a:srgbClr val="0E6B78"/>
            </a:solidFill>
            <a:prstDash val="solid"/>
          </a:ln>
        </p:spPr>
      </p:sp>
      <p:sp>
        <p:nvSpPr>
          <p:cNvPr id="3" name="Shape 1"/>
          <p:cNvSpPr/>
          <p:nvPr/>
        </p:nvSpPr>
        <p:spPr>
          <a:xfrm>
            <a:off x="6400800" y="2560320"/>
            <a:ext cx="4572000" cy="4572000"/>
          </a:xfrm>
          <a:prstGeom prst="ellipse">
            <a:avLst/>
          </a:prstGeom>
          <a:solidFill>
            <a:srgbClr val="D4A017">
              <a:alpha val="12000"/>
            </a:srgbClr>
          </a:solidFill>
          <a:ln w="12700">
            <a:solidFill>
              <a:srgbClr val="D4A017"/>
            </a:solidFill>
            <a:prstDash val="solid"/>
          </a:ln>
        </p:spPr>
      </p:sp>
      <p:sp>
        <p:nvSpPr>
          <p:cNvPr id="4" name="Shape 2"/>
          <p:cNvSpPr/>
          <p:nvPr/>
        </p:nvSpPr>
        <p:spPr>
          <a:xfrm>
            <a:off x="3840480" y="-1371600"/>
            <a:ext cx="2286000" cy="2286000"/>
          </a:xfrm>
          <a:prstGeom prst="ellipse">
            <a:avLst/>
          </a:prstGeom>
          <a:solidFill>
            <a:srgbClr val="7B1728">
              <a:alpha val="10000"/>
            </a:srgbClr>
          </a:solidFill>
          <a:ln w="12700">
            <a:solidFill>
              <a:srgbClr val="7B1728"/>
            </a:solidFill>
            <a:prstDash val="solid"/>
          </a:ln>
        </p:spPr>
      </p:sp>
      <p:sp>
        <p:nvSpPr>
          <p:cNvPr id="5" name="Text 3"/>
          <p:cNvSpPr/>
          <p:nvPr/>
        </p:nvSpPr>
        <p:spPr>
          <a:xfrm>
            <a:off x="731520" y="594360"/>
            <a:ext cx="7680960" cy="1417320"/>
          </a:xfrm>
          <a:prstGeom prst="rect">
            <a:avLst/>
          </a:prstGeom>
          <a:noFill/>
          <a:ln/>
        </p:spPr>
        <p:txBody>
          <a:bodyPr wrap="square" lIns="0" tIns="0" rIns="0" bIns="0" rtlCol="0" anchor="ctr"/>
          <a:lstStyle/>
          <a:p>
            <a:pPr algn="ctr" indent="0" marL="0">
              <a:buNone/>
            </a:pPr>
            <a:r>
              <a:rPr lang="en-US" sz="2300" b="1" i="1" dirty="0">
                <a:solidFill>
                  <a:srgbClr val="FFFFFF"/>
                </a:solidFill>
                <a:latin typeface="Cambria" pitchFamily="34" charset="0"/>
                <a:ea typeface="Cambria" pitchFamily="34" charset="-122"/>
                <a:cs typeface="Cambria" pitchFamily="34" charset="-120"/>
              </a:rPr>
              <a:t>"Statistical thinking will one day</a:t>
            </a:r>
            <a:endParaRPr lang="en-US" sz="2300" dirty="0"/>
          </a:p>
          <a:p>
            <a:pPr algn="ctr" indent="0" marL="0">
              <a:buNone/>
            </a:pPr>
            <a:r>
              <a:rPr lang="en-US" sz="2300" b="1" i="1" dirty="0">
                <a:solidFill>
                  <a:srgbClr val="FFFFFF"/>
                </a:solidFill>
                <a:latin typeface="Cambria" pitchFamily="34" charset="0"/>
                <a:ea typeface="Cambria" pitchFamily="34" charset="-122"/>
                <a:cs typeface="Cambria" pitchFamily="34" charset="-120"/>
              </a:rPr>
              <a:t>be as necessary for efficient citizenship</a:t>
            </a:r>
            <a:endParaRPr lang="en-US" sz="2300" dirty="0"/>
          </a:p>
          <a:p>
            <a:pPr algn="ctr" indent="0" marL="0">
              <a:buNone/>
            </a:pPr>
            <a:r>
              <a:rPr lang="en-US" sz="2300" b="1" i="1" dirty="0">
                <a:solidFill>
                  <a:srgbClr val="FFFFFF"/>
                </a:solidFill>
                <a:latin typeface="Cambria" pitchFamily="34" charset="0"/>
                <a:ea typeface="Cambria" pitchFamily="34" charset="-122"/>
                <a:cs typeface="Cambria" pitchFamily="34" charset="-120"/>
              </a:rPr>
              <a:t>as the ability to read and write."</a:t>
            </a:r>
            <a:endParaRPr lang="en-US" sz="2300" dirty="0"/>
          </a:p>
        </p:txBody>
      </p:sp>
      <p:sp>
        <p:nvSpPr>
          <p:cNvPr id="6" name="Text 4"/>
          <p:cNvSpPr/>
          <p:nvPr/>
        </p:nvSpPr>
        <p:spPr>
          <a:xfrm>
            <a:off x="1371600" y="2121408"/>
            <a:ext cx="6400800" cy="347472"/>
          </a:xfrm>
          <a:prstGeom prst="rect">
            <a:avLst/>
          </a:prstGeom>
          <a:noFill/>
          <a:ln/>
        </p:spPr>
        <p:txBody>
          <a:bodyPr wrap="square" lIns="0" tIns="0" rIns="0" bIns="0" rtlCol="0" anchor="ctr"/>
          <a:lstStyle/>
          <a:p>
            <a:pPr algn="ctr" indent="0" marL="0">
              <a:buNone/>
            </a:pPr>
            <a:r>
              <a:rPr lang="en-US" sz="1300" dirty="0">
                <a:solidFill>
                  <a:srgbClr val="90D4E0"/>
                </a:solidFill>
                <a:latin typeface="Calibri" pitchFamily="34" charset="0"/>
                <a:ea typeface="Calibri" pitchFamily="34" charset="-122"/>
                <a:cs typeface="Calibri" pitchFamily="34" charset="-120"/>
              </a:rPr>
              <a:t>- H.G. Wells</a:t>
            </a:r>
            <a:endParaRPr lang="en-US" sz="1300" dirty="0"/>
          </a:p>
        </p:txBody>
      </p:sp>
      <p:sp>
        <p:nvSpPr>
          <p:cNvPr id="7" name="Shape 5"/>
          <p:cNvSpPr/>
          <p:nvPr/>
        </p:nvSpPr>
        <p:spPr>
          <a:xfrm>
            <a:off x="3200400" y="2578608"/>
            <a:ext cx="2743200" cy="0"/>
          </a:xfrm>
          <a:prstGeom prst="line">
            <a:avLst/>
          </a:prstGeom>
          <a:noFill/>
          <a:ln w="19050">
            <a:solidFill>
              <a:srgbClr val="F0C040"/>
            </a:solidFill>
            <a:prstDash val="solid"/>
          </a:ln>
        </p:spPr>
      </p:sp>
      <p:sp>
        <p:nvSpPr>
          <p:cNvPr id="8" name="Text 6"/>
          <p:cNvSpPr/>
          <p:nvPr/>
        </p:nvSpPr>
        <p:spPr>
          <a:xfrm>
            <a:off x="914400" y="2724912"/>
            <a:ext cx="7315200" cy="7772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9" name="Text 7"/>
          <p:cNvSpPr/>
          <p:nvPr/>
        </p:nvSpPr>
        <p:spPr>
          <a:xfrm>
            <a:off x="914400" y="3547872"/>
            <a:ext cx="7315200" cy="384048"/>
          </a:xfrm>
          <a:prstGeom prst="rect">
            <a:avLst/>
          </a:prstGeom>
          <a:noFill/>
          <a:ln/>
        </p:spPr>
        <p:txBody>
          <a:bodyPr wrap="square" lIns="0" tIns="0" rIns="0" bIns="0" rtlCol="0" anchor="ctr"/>
          <a:lstStyle/>
          <a:p>
            <a:pPr algn="ctr" indent="0" marL="0">
              <a:buNone/>
            </a:pPr>
            <a:r>
              <a:rPr lang="en-US" sz="1600" dirty="0">
                <a:solidFill>
                  <a:srgbClr val="90D4E0"/>
                </a:solidFill>
                <a:latin typeface="Calibri" pitchFamily="34" charset="0"/>
                <a:ea typeface="Calibri" pitchFamily="34" charset="-122"/>
                <a:cs typeface="Calibri" pitchFamily="34" charset="-120"/>
              </a:rPr>
              <a:t>Questions  -  Discussion  -  Next Steps</a:t>
            </a:r>
            <a:endParaRPr lang="en-US" sz="1600" dirty="0"/>
          </a:p>
        </p:txBody>
      </p:sp>
      <p:sp>
        <p:nvSpPr>
          <p:cNvPr id="10" name="Shape 8"/>
          <p:cNvSpPr/>
          <p:nvPr/>
        </p:nvSpPr>
        <p:spPr>
          <a:xfrm>
            <a:off x="2834640" y="4041648"/>
            <a:ext cx="3474720" cy="960120"/>
          </a:xfrm>
          <a:prstGeom prst="roundRect">
            <a:avLst>
              <a:gd name="adj" fmla="val 11429"/>
            </a:avLst>
          </a:prstGeom>
          <a:solidFill>
            <a:srgbClr val="0E6B78">
              <a:alpha val="85000"/>
            </a:srgbClr>
          </a:solidFill>
          <a:ln w="12700">
            <a:solidFill>
              <a:srgbClr val="17A2B8"/>
            </a:solidFill>
            <a:prstDash val="solid"/>
          </a:ln>
        </p:spPr>
      </p:sp>
      <p:sp>
        <p:nvSpPr>
          <p:cNvPr id="11" name="Text 9"/>
          <p:cNvSpPr/>
          <p:nvPr/>
        </p:nvSpPr>
        <p:spPr>
          <a:xfrm>
            <a:off x="2834640" y="4096512"/>
            <a:ext cx="347472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0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SPSS Module 4 - Test Statistics and Tests of Association</dc:title>
  <dc:subject>PptxGenJS Presentation</dc:subject>
  <dc:creator>Kajola Gbenga Adewale</dc:creator>
  <cp:lastModifiedBy>Kajola Gbenga Adewale</cp:lastModifiedBy>
  <cp:revision>1</cp:revision>
  <dcterms:created xsi:type="dcterms:W3CDTF">2026-06-27T18:23:05Z</dcterms:created>
  <dcterms:modified xsi:type="dcterms:W3CDTF">2026-06-27T18:23:05Z</dcterms:modified>
</cp:coreProperties>
</file>
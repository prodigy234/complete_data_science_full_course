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is where statistics comes alive. Participants apply what they learned in Modules 1-2 to their clean UAC Foods dataset. Every section should include live SPSS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connects research design (Module 1) and clean data (Module 2) to actual statistical analysis. Every topic produces SPSS output that participants will interpret.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every analysis with this question: am I asking whether two things are related, or whether two groups are different? The answer determines the entire analytical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7-step framework applies to EVERY inferential test in SPSS. When students get confused about output, ask them: which step are you on? The framework is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p-value is the most misunderstood concept in statistics. Use the analogy: imagine flipping a coin 10 times and getting 9 heads. The p-value answers: how surprising would that be if the coin were fair? p = .011 means very surprising - evidence the coin is biased.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for UAC Foods monthly salary data, which measure best represents a typical salary - mean or median? Answer: median, because salary data is almost always right-skewed. This is a classic statistical reasoning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for participants: SD describes spread for normally distributed data; IQR describes spread for skewed data. When in doubt, report both. The boxplot visually shows both the IQR (box) and the full range (whiskers).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all three in sequence using the UAC Foods dataset. Show how Explore gives the Shapiro-Wilk test and the Q-Q plot side by side. Participants should run Explore on sat_mean split by gender as preparation for the t-test in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report Valid Percent - NOT Percent. The Percent column includes missing cases in the denominator and will give a lower percentage. This is a common error in student and professional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Limit Theorem means that with n &gt; 30 per group, the sampling distribution of the mean is approximately normal regardless of the raw data distribution. For large samples (n &gt; 100 per group), normality violations rarely affect parametric test validity.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choose Column Percentages in the Cells dialog so you can compare the column profiles. Ask: within each gender, what proportion chose each product? That is a column percentage comparison. Row percentages would answer a different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both: run Frequencies on sat_mean and tick Histogram with normal curve. Then run Graphs &gt; Legacy Dialogs &gt; Boxplot to show outliers. Ask participants to describe the distribution shape from the histogram before showing the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clustered bar chart live in SPSS for the UAC Foods gender x product preference crosstab. Demonstrate how a visual immediately communicates the gender difference in Deli Foods preference that the table showed numerically.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Chart Builder live: drag sat_mean to Y axis, department to X axis. Then drag gender to 'Set Color'. SPSS produces a clustered error bar chart showing mean satisfaction by department AND gender in one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are often the first thing a client or journal reviewer looks at. Professional, consistent charts signal analytical rigour. Demo creating a chart template from the UAC Foods satisfaction bar chart and applying it to the boxplot.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diagonal (r = 1.000 for each variable with itself - always). The matrix is symmetric: r(Age, Salary) = r(Salary, Age). Highlight the sat_mean to repurchase r = .614 - this is the most important finding for UAC Foods business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produce a scatterplot BEFORE running Pearson correlation. A scatterplot may reveal: non-linear relationship (Pearson would underestimate), curved relationship (Spearman more appropriate), or a clear outlier pulling the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correlation-causation distinction is critical. Ask: if we could somehow force sat_mean to be higher, would repurchase definitely increase? Not necessarily - maybe both are caused by product quality. This motivates the regression analysis in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exercise produces the descriptive statistics section of the UAC Foods research report. Tasks B and G will appear verbatim in the final report. Task C (normality) is the gateway assumption check required before Module 4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each takeaway. Key discussion: #3 (significance vs. effect size) and #9 (correlation causation) consistently generate the most questions from participants with prior exposure to basic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(incomplete reporting), Q2 (normality implications), and Q4 (Valid Percent) are the most commonly misunderstood concepts in Module 3. These are real errors that appear in published student dissertations and professional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Module 3. Prerequisites for Module 4: each participant needs the clean UAC Foods dataset (N=450) with sat_mean computed and normality tests completed. The normality results from Module 3 directly determine which Module 4 tests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Module 3. The Coase quote is a reminder that statistical tests will always find significance if you torture the data - p-hacking, multiple comparisons without correction, and post-hoc hypothesis selection. Module 3 teaches the rigorous approach that prevents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5943600" y="-1645920"/>
            <a:ext cx="5486400" cy="5486400"/>
          </a:xfrm>
          <a:prstGeom prst="ellipse">
            <a:avLst/>
          </a:prstGeom>
          <a:solidFill>
            <a:srgbClr val="5C1A6B">
              <a:alpha val="24000"/>
            </a:srgbClr>
          </a:solidFill>
          <a:ln w="12700">
            <a:solidFill>
              <a:srgbClr val="5C1A6B"/>
            </a:solidFill>
            <a:prstDash val="solid"/>
          </a:ln>
        </p:spPr>
      </p:sp>
      <p:sp>
        <p:nvSpPr>
          <p:cNvPr id="3" name="Shape 1"/>
          <p:cNvSpPr/>
          <p:nvPr/>
        </p:nvSpPr>
        <p:spPr>
          <a:xfrm>
            <a:off x="-1371600" y="2926080"/>
            <a:ext cx="4114800" cy="4114800"/>
          </a:xfrm>
          <a:prstGeom prst="ellipse">
            <a:avLst/>
          </a:prstGeom>
          <a:solidFill>
            <a:srgbClr val="D4A017">
              <a:alpha val="15000"/>
            </a:srgbClr>
          </a:solidFill>
          <a:ln w="12700">
            <a:solidFill>
              <a:srgbClr val="D4A017"/>
            </a:solidFill>
            <a:prstDash val="solid"/>
          </a:ln>
        </p:spPr>
      </p:sp>
      <p:sp>
        <p:nvSpPr>
          <p:cNvPr id="4" name="Shape 2"/>
          <p:cNvSpPr/>
          <p:nvPr/>
        </p:nvSpPr>
        <p:spPr>
          <a:xfrm>
            <a:off x="3474720" y="3840480"/>
            <a:ext cx="2286000" cy="2286000"/>
          </a:xfrm>
          <a:prstGeom prst="ellipse">
            <a:avLst/>
          </a:prstGeom>
          <a:solidFill>
            <a:srgbClr val="2471A3">
              <a:alpha val="12000"/>
            </a:srgbClr>
          </a:solidFill>
          <a:ln w="12700">
            <a:solidFill>
              <a:srgbClr val="2471A3"/>
            </a:solidFill>
            <a:prstDash val="solid"/>
          </a:ln>
        </p:spPr>
      </p:sp>
      <p:sp>
        <p:nvSpPr>
          <p:cNvPr id="5" name="Text 3"/>
          <p:cNvSpPr/>
          <p:nvPr/>
        </p:nvSpPr>
        <p:spPr>
          <a:xfrm>
            <a:off x="594360" y="914400"/>
            <a:ext cx="5486400" cy="384048"/>
          </a:xfrm>
          <a:prstGeom prst="rect">
            <a:avLst/>
          </a:prstGeom>
          <a:noFill/>
          <a:ln/>
        </p:spPr>
        <p:txBody>
          <a:bodyPr wrap="square" lIns="0" tIns="0" rIns="0" bIns="0" rtlCol="0" anchor="ctr"/>
          <a:lstStyle/>
          <a:p>
            <a:pPr indent="0" marL="0">
              <a:buNone/>
            </a:pPr>
            <a:r>
              <a:rPr lang="en-US" sz="1300" b="1" spc="400" kern="0" dirty="0">
                <a:solidFill>
                  <a:srgbClr val="D4A017"/>
                </a:solidFill>
                <a:latin typeface="Calibri" pitchFamily="34" charset="0"/>
                <a:ea typeface="Calibri" pitchFamily="34" charset="-122"/>
                <a:cs typeface="Calibri" pitchFamily="34" charset="-120"/>
              </a:rPr>
              <a:t>MODULE 3</a:t>
            </a:r>
            <a:endParaRPr lang="en-US" sz="1300" dirty="0"/>
          </a:p>
        </p:txBody>
      </p:sp>
      <p:sp>
        <p:nvSpPr>
          <p:cNvPr id="6" name="Text 4"/>
          <p:cNvSpPr/>
          <p:nvPr/>
        </p:nvSpPr>
        <p:spPr>
          <a:xfrm>
            <a:off x="594360" y="1353312"/>
            <a:ext cx="841248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Statistical Inference and</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Descriptive Statistics</a:t>
            </a:r>
            <a:endParaRPr lang="en-US" sz="4200" dirty="0"/>
          </a:p>
        </p:txBody>
      </p:sp>
      <p:sp>
        <p:nvSpPr>
          <p:cNvPr id="7" name="Text 5"/>
          <p:cNvSpPr/>
          <p:nvPr/>
        </p:nvSpPr>
        <p:spPr>
          <a:xfrm>
            <a:off x="594360" y="2852928"/>
            <a:ext cx="6858000" cy="713232"/>
          </a:xfrm>
          <a:prstGeom prst="rect">
            <a:avLst/>
          </a:prstGeom>
          <a:noFill/>
          <a:ln/>
        </p:spPr>
        <p:txBody>
          <a:bodyPr wrap="square" lIns="0" tIns="0" rIns="0" bIns="0" rtlCol="0" anchor="ctr"/>
          <a:lstStyle/>
          <a:p>
            <a:pPr indent="0" marL="0">
              <a:buNone/>
            </a:pPr>
            <a:r>
              <a:rPr lang="en-US" sz="1500" dirty="0">
                <a:solidFill>
                  <a:srgbClr val="C8A8E8"/>
                </a:solidFill>
                <a:latin typeface="Calibri" pitchFamily="34" charset="0"/>
                <a:ea typeface="Calibri" pitchFamily="34" charset="-122"/>
                <a:cs typeface="Calibri" pitchFamily="34" charset="-120"/>
              </a:rPr>
              <a:t>Tests of Association, Tests of Difference, Hypothesis Testing,</a:t>
            </a:r>
            <a:endParaRPr lang="en-US" sz="1500" dirty="0"/>
          </a:p>
          <a:p>
            <a:pPr indent="0" marL="0">
              <a:buNone/>
            </a:pPr>
            <a:r>
              <a:rPr lang="en-US" sz="1500" dirty="0">
                <a:solidFill>
                  <a:srgbClr val="C8A8E8"/>
                </a:solidFill>
                <a:latin typeface="Calibri" pitchFamily="34" charset="0"/>
                <a:ea typeface="Calibri" pitchFamily="34" charset="-122"/>
                <a:cs typeface="Calibri" pitchFamily="34" charset="-120"/>
              </a:rPr>
              <a:t>Descriptive Analysis, Graphics and Correlation</a:t>
            </a:r>
            <a:endParaRPr lang="en-US" sz="1500" dirty="0"/>
          </a:p>
        </p:txBody>
      </p:sp>
      <p:sp>
        <p:nvSpPr>
          <p:cNvPr id="8" name="Text 6"/>
          <p:cNvSpPr/>
          <p:nvPr/>
        </p:nvSpPr>
        <p:spPr>
          <a:xfrm>
            <a:off x="594360" y="3611880"/>
            <a:ext cx="6400800" cy="320040"/>
          </a:xfrm>
          <a:prstGeom prst="rect">
            <a:avLst/>
          </a:prstGeom>
          <a:noFill/>
          <a:ln/>
        </p:spPr>
        <p:txBody>
          <a:bodyPr wrap="square" lIns="0" tIns="0" rIns="0" bIns="0" rtlCol="0" anchor="ctr"/>
          <a:lstStyle/>
          <a:p>
            <a:pPr indent="0" marL="0">
              <a:buNone/>
            </a:pPr>
            <a:r>
              <a:rPr lang="en-US" sz="1200" i="1" dirty="0">
                <a:solidFill>
                  <a:srgbClr val="F0C040"/>
                </a:solidFill>
                <a:latin typeface="Calibri" pitchFamily="34" charset="0"/>
                <a:ea typeface="Calibri" pitchFamily="34" charset="-122"/>
                <a:cs typeface="Calibri" pitchFamily="34" charset="-120"/>
              </a:rPr>
              <a:t>IBM SPSS Statistics Training  -  UAC Foods Limited</a:t>
            </a:r>
            <a:endParaRPr lang="en-US" sz="1200" dirty="0"/>
          </a:p>
        </p:txBody>
      </p:sp>
      <p:sp>
        <p:nvSpPr>
          <p:cNvPr id="9" name="Shape 7"/>
          <p:cNvSpPr/>
          <p:nvPr/>
        </p:nvSpPr>
        <p:spPr>
          <a:xfrm>
            <a:off x="594360" y="3931920"/>
            <a:ext cx="3657600" cy="896112"/>
          </a:xfrm>
          <a:prstGeom prst="roundRect">
            <a:avLst>
              <a:gd name="adj" fmla="val 10204"/>
            </a:avLst>
          </a:prstGeom>
          <a:solidFill>
            <a:srgbClr val="5C1A6B">
              <a:alpha val="85000"/>
            </a:srgbClr>
          </a:solidFill>
          <a:ln w="12700">
            <a:solidFill>
              <a:srgbClr val="7B2D8B"/>
            </a:solidFill>
            <a:prstDash val="solid"/>
          </a:ln>
        </p:spPr>
      </p:sp>
      <p:sp>
        <p:nvSpPr>
          <p:cNvPr id="10" name="Text 8"/>
          <p:cNvSpPr/>
          <p:nvPr/>
        </p:nvSpPr>
        <p:spPr>
          <a:xfrm>
            <a:off x="594360" y="3977640"/>
            <a:ext cx="3657600" cy="8046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Kajola Gbenga Adewale</a:t>
            </a:r>
            <a:endParaRPr lang="en-US" sz="1400" dirty="0"/>
          </a:p>
          <a:p>
            <a:pPr algn="ctr" indent="0" marL="0">
              <a:buNone/>
            </a:pPr>
            <a:r>
              <a:rPr lang="en-US" sz="1200" dirty="0">
                <a:solidFill>
                  <a:srgbClr val="F0C040"/>
                </a:solidFill>
                <a:latin typeface="Calibri" pitchFamily="34" charset="0"/>
                <a:ea typeface="Calibri" pitchFamily="34" charset="-122"/>
                <a:cs typeface="Calibri" pitchFamily="34" charset="-120"/>
              </a:rPr>
              <a:t>Data Expert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1A0A1E"/>
          </a:solidFill>
          <a:ln w="12700">
            <a:solidFill>
              <a:srgbClr val="1A0A1E"/>
            </a:solidFill>
            <a:prstDash val="solid"/>
          </a:ln>
        </p:spPr>
      </p:sp>
      <p:sp>
        <p:nvSpPr>
          <p:cNvPr id="3" name="Text 1"/>
          <p:cNvSpPr/>
          <p:nvPr/>
        </p:nvSpPr>
        <p:spPr>
          <a:xfrm>
            <a:off x="137160" y="1097280"/>
            <a:ext cx="2633472" cy="14630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MODULE 3</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COMPLETE</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AGENDA</a:t>
            </a:r>
            <a:endParaRPr lang="en-US" sz="2200" dirty="0"/>
          </a:p>
        </p:txBody>
      </p:sp>
      <p:sp>
        <p:nvSpPr>
          <p:cNvPr id="4" name="Shape 2"/>
          <p:cNvSpPr/>
          <p:nvPr/>
        </p:nvSpPr>
        <p:spPr>
          <a:xfrm>
            <a:off x="365760" y="2697480"/>
            <a:ext cx="2194560" cy="45720"/>
          </a:xfrm>
          <a:prstGeom prst="rect">
            <a:avLst/>
          </a:prstGeom>
          <a:solidFill>
            <a:srgbClr val="D4A017"/>
          </a:solidFill>
          <a:ln w="12700">
            <a:solidFill>
              <a:srgbClr val="D4A017"/>
            </a:solidFill>
            <a:prstDash val="solid"/>
          </a:ln>
        </p:spPr>
      </p:sp>
      <p:sp>
        <p:nvSpPr>
          <p:cNvPr id="5" name="Text 3"/>
          <p:cNvSpPr/>
          <p:nvPr/>
        </p:nvSpPr>
        <p:spPr>
          <a:xfrm>
            <a:off x="137160" y="2834640"/>
            <a:ext cx="2633472" cy="365760"/>
          </a:xfrm>
          <a:prstGeom prst="rect">
            <a:avLst/>
          </a:prstGeom>
          <a:noFill/>
          <a:ln/>
        </p:spPr>
        <p:txBody>
          <a:bodyPr wrap="square" lIns="0" tIns="0" rIns="0" bIns="0" rtlCol="0" anchor="ctr"/>
          <a:lstStyle/>
          <a:p>
            <a:pPr algn="ctr" indent="0" marL="0">
              <a:buNone/>
            </a:pPr>
            <a:r>
              <a:rPr lang="en-US" sz="1200" dirty="0">
                <a:solidFill>
                  <a:srgbClr val="F0C040"/>
                </a:solidFill>
                <a:latin typeface="Calibri" pitchFamily="34" charset="0"/>
                <a:ea typeface="Calibri" pitchFamily="34" charset="-122"/>
                <a:cs typeface="Calibri" pitchFamily="34" charset="-120"/>
              </a:rPr>
              <a:t>10 Core Topics</a:t>
            </a:r>
            <a:endParaRPr lang="en-US" sz="1200" dirty="0"/>
          </a:p>
        </p:txBody>
      </p:sp>
      <p:sp>
        <p:nvSpPr>
          <p:cNvPr id="6" name="Shape 4"/>
          <p:cNvSpPr/>
          <p:nvPr/>
        </p:nvSpPr>
        <p:spPr>
          <a:xfrm>
            <a:off x="3063240" y="201168"/>
            <a:ext cx="2880360" cy="877824"/>
          </a:xfrm>
          <a:prstGeom prst="roundRect">
            <a:avLst>
              <a:gd name="adj" fmla="val 72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154680" y="420624"/>
            <a:ext cx="347472" cy="347472"/>
          </a:xfrm>
          <a:prstGeom prst="roundRect">
            <a:avLst>
              <a:gd name="adj" fmla="val 13158"/>
            </a:avLst>
          </a:prstGeom>
          <a:solidFill>
            <a:srgbClr val="1A0A1E"/>
          </a:solidFill>
          <a:ln w="12700">
            <a:solidFill>
              <a:srgbClr val="1A0A1E"/>
            </a:solidFill>
            <a:prstDash val="solid"/>
          </a:ln>
        </p:spPr>
      </p:sp>
      <p:sp>
        <p:nvSpPr>
          <p:cNvPr id="8" name="Text 6"/>
          <p:cNvSpPr/>
          <p:nvPr/>
        </p:nvSpPr>
        <p:spPr>
          <a:xfrm>
            <a:off x="3154680" y="420624"/>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01</a:t>
            </a:r>
            <a:endParaRPr lang="en-US" sz="900" dirty="0"/>
          </a:p>
        </p:txBody>
      </p:sp>
      <p:sp>
        <p:nvSpPr>
          <p:cNvPr id="9" name="Text 7"/>
          <p:cNvSpPr/>
          <p:nvPr/>
        </p:nvSpPr>
        <p:spPr>
          <a:xfrm>
            <a:off x="3593592" y="310896"/>
            <a:ext cx="2286000" cy="329184"/>
          </a:xfrm>
          <a:prstGeom prst="rect">
            <a:avLst/>
          </a:prstGeom>
          <a:noFill/>
          <a:ln/>
        </p:spPr>
        <p:txBody>
          <a:bodyPr wrap="square" lIns="0" tIns="0" rIns="0" bIns="0" rtlCol="0" anchor="ctr"/>
          <a:lstStyle/>
          <a:p>
            <a:pPr indent="0" marL="0">
              <a:buNone/>
            </a:pPr>
            <a:r>
              <a:rPr lang="en-US" sz="1050" b="1" dirty="0">
                <a:solidFill>
                  <a:srgbClr val="1A0A1E"/>
                </a:solidFill>
                <a:latin typeface="Calibri" pitchFamily="34" charset="0"/>
                <a:ea typeface="Calibri" pitchFamily="34" charset="-122"/>
                <a:cs typeface="Calibri" pitchFamily="34" charset="-120"/>
              </a:rPr>
              <a:t>Tests of Association vs. Tests of Difference</a:t>
            </a:r>
            <a:endParaRPr lang="en-US" sz="1050" dirty="0"/>
          </a:p>
        </p:txBody>
      </p:sp>
      <p:sp>
        <p:nvSpPr>
          <p:cNvPr id="10" name="Text 8"/>
          <p:cNvSpPr/>
          <p:nvPr/>
        </p:nvSpPr>
        <p:spPr>
          <a:xfrm>
            <a:off x="3593592" y="676656"/>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What each category tests and when to choose</a:t>
            </a:r>
            <a:endParaRPr lang="en-US" sz="900" dirty="0"/>
          </a:p>
        </p:txBody>
      </p:sp>
      <p:sp>
        <p:nvSpPr>
          <p:cNvPr id="11" name="Shape 9"/>
          <p:cNvSpPr/>
          <p:nvPr/>
        </p:nvSpPr>
        <p:spPr>
          <a:xfrm>
            <a:off x="3063240" y="1188720"/>
            <a:ext cx="2880360" cy="877824"/>
          </a:xfrm>
          <a:prstGeom prst="roundRect">
            <a:avLst>
              <a:gd name="adj" fmla="val 72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154680" y="1408176"/>
            <a:ext cx="347472" cy="347472"/>
          </a:xfrm>
          <a:prstGeom prst="roundRect">
            <a:avLst>
              <a:gd name="adj" fmla="val 13158"/>
            </a:avLst>
          </a:prstGeom>
          <a:solidFill>
            <a:srgbClr val="1A0A1E"/>
          </a:solidFill>
          <a:ln w="12700">
            <a:solidFill>
              <a:srgbClr val="1A0A1E"/>
            </a:solidFill>
            <a:prstDash val="solid"/>
          </a:ln>
        </p:spPr>
      </p:sp>
      <p:sp>
        <p:nvSpPr>
          <p:cNvPr id="13" name="Text 11"/>
          <p:cNvSpPr/>
          <p:nvPr/>
        </p:nvSpPr>
        <p:spPr>
          <a:xfrm>
            <a:off x="3154680" y="1408176"/>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3593592" y="1298448"/>
            <a:ext cx="2286000" cy="329184"/>
          </a:xfrm>
          <a:prstGeom prst="rect">
            <a:avLst/>
          </a:prstGeom>
          <a:noFill/>
          <a:ln/>
        </p:spPr>
        <p:txBody>
          <a:bodyPr wrap="square" lIns="0" tIns="0" rIns="0" bIns="0" rtlCol="0" anchor="ctr"/>
          <a:lstStyle/>
          <a:p>
            <a:pPr indent="0" marL="0">
              <a:buNone/>
            </a:pPr>
            <a:r>
              <a:rPr lang="en-US" sz="1050" b="1" dirty="0">
                <a:solidFill>
                  <a:srgbClr val="1A0A1E"/>
                </a:solidFill>
                <a:latin typeface="Calibri" pitchFamily="34" charset="0"/>
                <a:ea typeface="Calibri" pitchFamily="34" charset="-122"/>
                <a:cs typeface="Calibri" pitchFamily="34" charset="-120"/>
              </a:rPr>
              <a:t>Hypothesis Testing - The Full Logic</a:t>
            </a:r>
            <a:endParaRPr lang="en-US" sz="1050" dirty="0"/>
          </a:p>
        </p:txBody>
      </p:sp>
      <p:sp>
        <p:nvSpPr>
          <p:cNvPr id="15" name="Text 13"/>
          <p:cNvSpPr/>
          <p:nvPr/>
        </p:nvSpPr>
        <p:spPr>
          <a:xfrm>
            <a:off x="3593592" y="1664208"/>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H0, H1, p-value, alpha, power, effect size</a:t>
            </a:r>
            <a:endParaRPr lang="en-US" sz="900" dirty="0"/>
          </a:p>
        </p:txBody>
      </p:sp>
      <p:sp>
        <p:nvSpPr>
          <p:cNvPr id="16" name="Shape 14"/>
          <p:cNvSpPr/>
          <p:nvPr/>
        </p:nvSpPr>
        <p:spPr>
          <a:xfrm>
            <a:off x="3063240" y="2176272"/>
            <a:ext cx="2880360" cy="877824"/>
          </a:xfrm>
          <a:prstGeom prst="roundRect">
            <a:avLst>
              <a:gd name="adj" fmla="val 72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154680" y="2395728"/>
            <a:ext cx="347472" cy="347472"/>
          </a:xfrm>
          <a:prstGeom prst="roundRect">
            <a:avLst>
              <a:gd name="adj" fmla="val 13158"/>
            </a:avLst>
          </a:prstGeom>
          <a:solidFill>
            <a:srgbClr val="1A0A1E"/>
          </a:solidFill>
          <a:ln w="12700">
            <a:solidFill>
              <a:srgbClr val="1A0A1E"/>
            </a:solidFill>
            <a:prstDash val="solid"/>
          </a:ln>
        </p:spPr>
      </p:sp>
      <p:sp>
        <p:nvSpPr>
          <p:cNvPr id="18" name="Text 16"/>
          <p:cNvSpPr/>
          <p:nvPr/>
        </p:nvSpPr>
        <p:spPr>
          <a:xfrm>
            <a:off x="3154680" y="2395728"/>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03</a:t>
            </a:r>
            <a:endParaRPr lang="en-US" sz="900" dirty="0"/>
          </a:p>
        </p:txBody>
      </p:sp>
      <p:sp>
        <p:nvSpPr>
          <p:cNvPr id="19" name="Text 17"/>
          <p:cNvSpPr/>
          <p:nvPr/>
        </p:nvSpPr>
        <p:spPr>
          <a:xfrm>
            <a:off x="3593592" y="2286000"/>
            <a:ext cx="2286000" cy="329184"/>
          </a:xfrm>
          <a:prstGeom prst="rect">
            <a:avLst/>
          </a:prstGeom>
          <a:noFill/>
          <a:ln/>
        </p:spPr>
        <p:txBody>
          <a:bodyPr wrap="square" lIns="0" tIns="0" rIns="0" bIns="0" rtlCol="0" anchor="ctr"/>
          <a:lstStyle/>
          <a:p>
            <a:pPr indent="0" marL="0">
              <a:buNone/>
            </a:pPr>
            <a:r>
              <a:rPr lang="en-US" sz="1050" b="1" dirty="0">
                <a:solidFill>
                  <a:srgbClr val="1A0A1E"/>
                </a:solidFill>
                <a:latin typeface="Calibri" pitchFamily="34" charset="0"/>
                <a:ea typeface="Calibri" pitchFamily="34" charset="-122"/>
                <a:cs typeface="Calibri" pitchFamily="34" charset="-120"/>
              </a:rPr>
              <a:t>Measures of Central Tendency</a:t>
            </a:r>
            <a:endParaRPr lang="en-US" sz="1050" dirty="0"/>
          </a:p>
        </p:txBody>
      </p:sp>
      <p:sp>
        <p:nvSpPr>
          <p:cNvPr id="20" name="Text 18"/>
          <p:cNvSpPr/>
          <p:nvPr/>
        </p:nvSpPr>
        <p:spPr>
          <a:xfrm>
            <a:off x="3593592" y="2651760"/>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Mean, median, mode - in depth with examples</a:t>
            </a:r>
            <a:endParaRPr lang="en-US" sz="900" dirty="0"/>
          </a:p>
        </p:txBody>
      </p:sp>
      <p:sp>
        <p:nvSpPr>
          <p:cNvPr id="21" name="Shape 19"/>
          <p:cNvSpPr/>
          <p:nvPr/>
        </p:nvSpPr>
        <p:spPr>
          <a:xfrm>
            <a:off x="3063240" y="3163824"/>
            <a:ext cx="2880360" cy="877824"/>
          </a:xfrm>
          <a:prstGeom prst="roundRect">
            <a:avLst>
              <a:gd name="adj" fmla="val 72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2" name="Shape 20"/>
          <p:cNvSpPr/>
          <p:nvPr/>
        </p:nvSpPr>
        <p:spPr>
          <a:xfrm>
            <a:off x="3154680" y="3383280"/>
            <a:ext cx="347472" cy="347472"/>
          </a:xfrm>
          <a:prstGeom prst="roundRect">
            <a:avLst>
              <a:gd name="adj" fmla="val 13158"/>
            </a:avLst>
          </a:prstGeom>
          <a:solidFill>
            <a:srgbClr val="1A0A1E"/>
          </a:solidFill>
          <a:ln w="12700">
            <a:solidFill>
              <a:srgbClr val="1A0A1E"/>
            </a:solidFill>
            <a:prstDash val="solid"/>
          </a:ln>
        </p:spPr>
      </p:sp>
      <p:sp>
        <p:nvSpPr>
          <p:cNvPr id="23" name="Text 21"/>
          <p:cNvSpPr/>
          <p:nvPr/>
        </p:nvSpPr>
        <p:spPr>
          <a:xfrm>
            <a:off x="3154680" y="3383280"/>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04</a:t>
            </a:r>
            <a:endParaRPr lang="en-US" sz="900" dirty="0"/>
          </a:p>
        </p:txBody>
      </p:sp>
      <p:sp>
        <p:nvSpPr>
          <p:cNvPr id="24" name="Text 22"/>
          <p:cNvSpPr/>
          <p:nvPr/>
        </p:nvSpPr>
        <p:spPr>
          <a:xfrm>
            <a:off x="3593592" y="3273552"/>
            <a:ext cx="2286000" cy="329184"/>
          </a:xfrm>
          <a:prstGeom prst="rect">
            <a:avLst/>
          </a:prstGeom>
          <a:noFill/>
          <a:ln/>
        </p:spPr>
        <p:txBody>
          <a:bodyPr wrap="square" lIns="0" tIns="0" rIns="0" bIns="0" rtlCol="0" anchor="ctr"/>
          <a:lstStyle/>
          <a:p>
            <a:pPr indent="0" marL="0">
              <a:buNone/>
            </a:pPr>
            <a:r>
              <a:rPr lang="en-US" sz="1050" b="1" dirty="0">
                <a:solidFill>
                  <a:srgbClr val="1A0A1E"/>
                </a:solidFill>
                <a:latin typeface="Calibri" pitchFamily="34" charset="0"/>
                <a:ea typeface="Calibri" pitchFamily="34" charset="-122"/>
                <a:cs typeface="Calibri" pitchFamily="34" charset="-120"/>
              </a:rPr>
              <a:t>Measures of Variability</a:t>
            </a:r>
            <a:endParaRPr lang="en-US" sz="1050" dirty="0"/>
          </a:p>
        </p:txBody>
      </p:sp>
      <p:sp>
        <p:nvSpPr>
          <p:cNvPr id="25" name="Text 23"/>
          <p:cNvSpPr/>
          <p:nvPr/>
        </p:nvSpPr>
        <p:spPr>
          <a:xfrm>
            <a:off x="3593592" y="3639312"/>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SD, variance, range, IQR, skewness, kurtosis</a:t>
            </a:r>
            <a:endParaRPr lang="en-US" sz="900" dirty="0"/>
          </a:p>
        </p:txBody>
      </p:sp>
      <p:sp>
        <p:nvSpPr>
          <p:cNvPr id="26" name="Shape 24"/>
          <p:cNvSpPr/>
          <p:nvPr/>
        </p:nvSpPr>
        <p:spPr>
          <a:xfrm>
            <a:off x="3063240" y="4151376"/>
            <a:ext cx="2880360" cy="877824"/>
          </a:xfrm>
          <a:prstGeom prst="roundRect">
            <a:avLst>
              <a:gd name="adj" fmla="val 72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7" name="Shape 25"/>
          <p:cNvSpPr/>
          <p:nvPr/>
        </p:nvSpPr>
        <p:spPr>
          <a:xfrm>
            <a:off x="3154680" y="4370832"/>
            <a:ext cx="347472" cy="347472"/>
          </a:xfrm>
          <a:prstGeom prst="roundRect">
            <a:avLst>
              <a:gd name="adj" fmla="val 13158"/>
            </a:avLst>
          </a:prstGeom>
          <a:solidFill>
            <a:srgbClr val="1A0A1E"/>
          </a:solidFill>
          <a:ln w="12700">
            <a:solidFill>
              <a:srgbClr val="1A0A1E"/>
            </a:solidFill>
            <a:prstDash val="solid"/>
          </a:ln>
        </p:spPr>
      </p:sp>
      <p:sp>
        <p:nvSpPr>
          <p:cNvPr id="28" name="Text 26"/>
          <p:cNvSpPr/>
          <p:nvPr/>
        </p:nvSpPr>
        <p:spPr>
          <a:xfrm>
            <a:off x="3154680" y="4370832"/>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05</a:t>
            </a:r>
            <a:endParaRPr lang="en-US" sz="900" dirty="0"/>
          </a:p>
        </p:txBody>
      </p:sp>
      <p:sp>
        <p:nvSpPr>
          <p:cNvPr id="29" name="Text 27"/>
          <p:cNvSpPr/>
          <p:nvPr/>
        </p:nvSpPr>
        <p:spPr>
          <a:xfrm>
            <a:off x="3593592" y="4261104"/>
            <a:ext cx="2286000" cy="329184"/>
          </a:xfrm>
          <a:prstGeom prst="rect">
            <a:avLst/>
          </a:prstGeom>
          <a:noFill/>
          <a:ln/>
        </p:spPr>
        <p:txBody>
          <a:bodyPr wrap="square" lIns="0" tIns="0" rIns="0" bIns="0" rtlCol="0" anchor="ctr"/>
          <a:lstStyle/>
          <a:p>
            <a:pPr indent="0" marL="0">
              <a:buNone/>
            </a:pPr>
            <a:r>
              <a:rPr lang="en-US" sz="1050" b="1" dirty="0">
                <a:solidFill>
                  <a:srgbClr val="1A0A1E"/>
                </a:solidFill>
                <a:latin typeface="Calibri" pitchFamily="34" charset="0"/>
                <a:ea typeface="Calibri" pitchFamily="34" charset="-122"/>
                <a:cs typeface="Calibri" pitchFamily="34" charset="-120"/>
              </a:rPr>
              <a:t>Describing Quantitative Data</a:t>
            </a:r>
            <a:endParaRPr lang="en-US" sz="1050" dirty="0"/>
          </a:p>
        </p:txBody>
      </p:sp>
      <p:sp>
        <p:nvSpPr>
          <p:cNvPr id="30" name="Text 28"/>
          <p:cNvSpPr/>
          <p:nvPr/>
        </p:nvSpPr>
        <p:spPr>
          <a:xfrm>
            <a:off x="3593592" y="4626864"/>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Frequencies, descriptives, explore - complete output</a:t>
            </a:r>
            <a:endParaRPr lang="en-US" sz="900" dirty="0"/>
          </a:p>
        </p:txBody>
      </p:sp>
      <p:sp>
        <p:nvSpPr>
          <p:cNvPr id="31" name="Shape 29"/>
          <p:cNvSpPr/>
          <p:nvPr/>
        </p:nvSpPr>
        <p:spPr>
          <a:xfrm>
            <a:off x="6080760" y="201168"/>
            <a:ext cx="2880360" cy="877824"/>
          </a:xfrm>
          <a:prstGeom prst="roundRect">
            <a:avLst>
              <a:gd name="adj" fmla="val 72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32" name="Shape 30"/>
          <p:cNvSpPr/>
          <p:nvPr/>
        </p:nvSpPr>
        <p:spPr>
          <a:xfrm>
            <a:off x="6172200" y="420624"/>
            <a:ext cx="347472" cy="347472"/>
          </a:xfrm>
          <a:prstGeom prst="roundRect">
            <a:avLst>
              <a:gd name="adj" fmla="val 13158"/>
            </a:avLst>
          </a:prstGeom>
          <a:solidFill>
            <a:srgbClr val="1A0A1E"/>
          </a:solidFill>
          <a:ln w="12700">
            <a:solidFill>
              <a:srgbClr val="1A0A1E"/>
            </a:solidFill>
            <a:prstDash val="solid"/>
          </a:ln>
        </p:spPr>
      </p:sp>
      <p:sp>
        <p:nvSpPr>
          <p:cNvPr id="33" name="Text 31"/>
          <p:cNvSpPr/>
          <p:nvPr/>
        </p:nvSpPr>
        <p:spPr>
          <a:xfrm>
            <a:off x="6172200" y="420624"/>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06</a:t>
            </a:r>
            <a:endParaRPr lang="en-US" sz="900" dirty="0"/>
          </a:p>
        </p:txBody>
      </p:sp>
      <p:sp>
        <p:nvSpPr>
          <p:cNvPr id="34" name="Text 32"/>
          <p:cNvSpPr/>
          <p:nvPr/>
        </p:nvSpPr>
        <p:spPr>
          <a:xfrm>
            <a:off x="6611112" y="310896"/>
            <a:ext cx="2286000" cy="329184"/>
          </a:xfrm>
          <a:prstGeom prst="rect">
            <a:avLst/>
          </a:prstGeom>
          <a:noFill/>
          <a:ln/>
        </p:spPr>
        <p:txBody>
          <a:bodyPr wrap="square" lIns="0" tIns="0" rIns="0" bIns="0" rtlCol="0" anchor="ctr"/>
          <a:lstStyle/>
          <a:p>
            <a:pPr indent="0" marL="0">
              <a:buNone/>
            </a:pPr>
            <a:r>
              <a:rPr lang="en-US" sz="1050" b="1" dirty="0">
                <a:solidFill>
                  <a:srgbClr val="1A0A1E"/>
                </a:solidFill>
                <a:latin typeface="Calibri" pitchFamily="34" charset="0"/>
                <a:ea typeface="Calibri" pitchFamily="34" charset="-122"/>
                <a:cs typeface="Calibri" pitchFamily="34" charset="-120"/>
              </a:rPr>
              <a:t>Describing Qualitative Data</a:t>
            </a:r>
            <a:endParaRPr lang="en-US" sz="1050" dirty="0"/>
          </a:p>
        </p:txBody>
      </p:sp>
      <p:sp>
        <p:nvSpPr>
          <p:cNvPr id="35" name="Text 33"/>
          <p:cNvSpPr/>
          <p:nvPr/>
        </p:nvSpPr>
        <p:spPr>
          <a:xfrm>
            <a:off x="6611112" y="676656"/>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Crosstabs, frequency tables, percentages</a:t>
            </a:r>
            <a:endParaRPr lang="en-US" sz="900" dirty="0"/>
          </a:p>
        </p:txBody>
      </p:sp>
      <p:sp>
        <p:nvSpPr>
          <p:cNvPr id="36" name="Shape 34"/>
          <p:cNvSpPr/>
          <p:nvPr/>
        </p:nvSpPr>
        <p:spPr>
          <a:xfrm>
            <a:off x="6080760" y="1188720"/>
            <a:ext cx="2880360" cy="877824"/>
          </a:xfrm>
          <a:prstGeom prst="roundRect">
            <a:avLst>
              <a:gd name="adj" fmla="val 72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37" name="Shape 35"/>
          <p:cNvSpPr/>
          <p:nvPr/>
        </p:nvSpPr>
        <p:spPr>
          <a:xfrm>
            <a:off x="6172200" y="1408176"/>
            <a:ext cx="347472" cy="347472"/>
          </a:xfrm>
          <a:prstGeom prst="roundRect">
            <a:avLst>
              <a:gd name="adj" fmla="val 13158"/>
            </a:avLst>
          </a:prstGeom>
          <a:solidFill>
            <a:srgbClr val="1A0A1E"/>
          </a:solidFill>
          <a:ln w="12700">
            <a:solidFill>
              <a:srgbClr val="1A0A1E"/>
            </a:solidFill>
            <a:prstDash val="solid"/>
          </a:ln>
        </p:spPr>
      </p:sp>
      <p:sp>
        <p:nvSpPr>
          <p:cNvPr id="38" name="Text 36"/>
          <p:cNvSpPr/>
          <p:nvPr/>
        </p:nvSpPr>
        <p:spPr>
          <a:xfrm>
            <a:off x="6172200" y="1408176"/>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07</a:t>
            </a:r>
            <a:endParaRPr lang="en-US" sz="900" dirty="0"/>
          </a:p>
        </p:txBody>
      </p:sp>
      <p:sp>
        <p:nvSpPr>
          <p:cNvPr id="39" name="Text 37"/>
          <p:cNvSpPr/>
          <p:nvPr/>
        </p:nvSpPr>
        <p:spPr>
          <a:xfrm>
            <a:off x="6611112" y="1298448"/>
            <a:ext cx="2286000" cy="329184"/>
          </a:xfrm>
          <a:prstGeom prst="rect">
            <a:avLst/>
          </a:prstGeom>
          <a:noFill/>
          <a:ln/>
        </p:spPr>
        <p:txBody>
          <a:bodyPr wrap="square" lIns="0" tIns="0" rIns="0" bIns="0" rtlCol="0" anchor="ctr"/>
          <a:lstStyle/>
          <a:p>
            <a:pPr indent="0" marL="0">
              <a:buNone/>
            </a:pPr>
            <a:r>
              <a:rPr lang="en-US" sz="1050" b="1" dirty="0">
                <a:solidFill>
                  <a:srgbClr val="1A0A1E"/>
                </a:solidFill>
                <a:latin typeface="Calibri" pitchFamily="34" charset="0"/>
                <a:ea typeface="Calibri" pitchFamily="34" charset="-122"/>
                <a:cs typeface="Calibri" pitchFamily="34" charset="-120"/>
              </a:rPr>
              <a:t>Graphing Quantitative Data</a:t>
            </a:r>
            <a:endParaRPr lang="en-US" sz="1050" dirty="0"/>
          </a:p>
        </p:txBody>
      </p:sp>
      <p:sp>
        <p:nvSpPr>
          <p:cNvPr id="40" name="Text 38"/>
          <p:cNvSpPr/>
          <p:nvPr/>
        </p:nvSpPr>
        <p:spPr>
          <a:xfrm>
            <a:off x="6611112" y="1664208"/>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Histograms, boxplots, error bars, scatterplots</a:t>
            </a:r>
            <a:endParaRPr lang="en-US" sz="900" dirty="0"/>
          </a:p>
        </p:txBody>
      </p:sp>
      <p:sp>
        <p:nvSpPr>
          <p:cNvPr id="41" name="Shape 39"/>
          <p:cNvSpPr/>
          <p:nvPr/>
        </p:nvSpPr>
        <p:spPr>
          <a:xfrm>
            <a:off x="6080760" y="2176272"/>
            <a:ext cx="2880360" cy="877824"/>
          </a:xfrm>
          <a:prstGeom prst="roundRect">
            <a:avLst>
              <a:gd name="adj" fmla="val 72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42" name="Shape 40"/>
          <p:cNvSpPr/>
          <p:nvPr/>
        </p:nvSpPr>
        <p:spPr>
          <a:xfrm>
            <a:off x="6172200" y="2395728"/>
            <a:ext cx="347472" cy="347472"/>
          </a:xfrm>
          <a:prstGeom prst="roundRect">
            <a:avLst>
              <a:gd name="adj" fmla="val 13158"/>
            </a:avLst>
          </a:prstGeom>
          <a:solidFill>
            <a:srgbClr val="1A0A1E"/>
          </a:solidFill>
          <a:ln w="12700">
            <a:solidFill>
              <a:srgbClr val="1A0A1E"/>
            </a:solidFill>
            <a:prstDash val="solid"/>
          </a:ln>
        </p:spPr>
      </p:sp>
      <p:sp>
        <p:nvSpPr>
          <p:cNvPr id="43" name="Text 41"/>
          <p:cNvSpPr/>
          <p:nvPr/>
        </p:nvSpPr>
        <p:spPr>
          <a:xfrm>
            <a:off x="6172200" y="2395728"/>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08</a:t>
            </a:r>
            <a:endParaRPr lang="en-US" sz="900" dirty="0"/>
          </a:p>
        </p:txBody>
      </p:sp>
      <p:sp>
        <p:nvSpPr>
          <p:cNvPr id="44" name="Text 42"/>
          <p:cNvSpPr/>
          <p:nvPr/>
        </p:nvSpPr>
        <p:spPr>
          <a:xfrm>
            <a:off x="6611112" y="2286000"/>
            <a:ext cx="2286000" cy="329184"/>
          </a:xfrm>
          <a:prstGeom prst="rect">
            <a:avLst/>
          </a:prstGeom>
          <a:noFill/>
          <a:ln/>
        </p:spPr>
        <p:txBody>
          <a:bodyPr wrap="square" lIns="0" tIns="0" rIns="0" bIns="0" rtlCol="0" anchor="ctr"/>
          <a:lstStyle/>
          <a:p>
            <a:pPr indent="0" marL="0">
              <a:buNone/>
            </a:pPr>
            <a:r>
              <a:rPr lang="en-US" sz="1050" b="1" dirty="0">
                <a:solidFill>
                  <a:srgbClr val="1A0A1E"/>
                </a:solidFill>
                <a:latin typeface="Calibri" pitchFamily="34" charset="0"/>
                <a:ea typeface="Calibri" pitchFamily="34" charset="-122"/>
                <a:cs typeface="Calibri" pitchFamily="34" charset="-120"/>
              </a:rPr>
              <a:t>Graphing Qualitative Data</a:t>
            </a:r>
            <a:endParaRPr lang="en-US" sz="1050" dirty="0"/>
          </a:p>
        </p:txBody>
      </p:sp>
      <p:sp>
        <p:nvSpPr>
          <p:cNvPr id="45" name="Text 43"/>
          <p:cNvSpPr/>
          <p:nvPr/>
        </p:nvSpPr>
        <p:spPr>
          <a:xfrm>
            <a:off x="6611112" y="2651760"/>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Bar charts, pie charts, clustered charts</a:t>
            </a:r>
            <a:endParaRPr lang="en-US" sz="900" dirty="0"/>
          </a:p>
        </p:txBody>
      </p:sp>
      <p:sp>
        <p:nvSpPr>
          <p:cNvPr id="46" name="Shape 44"/>
          <p:cNvSpPr/>
          <p:nvPr/>
        </p:nvSpPr>
        <p:spPr>
          <a:xfrm>
            <a:off x="6080760" y="3163824"/>
            <a:ext cx="2880360" cy="877824"/>
          </a:xfrm>
          <a:prstGeom prst="roundRect">
            <a:avLst>
              <a:gd name="adj" fmla="val 72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47" name="Shape 45"/>
          <p:cNvSpPr/>
          <p:nvPr/>
        </p:nvSpPr>
        <p:spPr>
          <a:xfrm>
            <a:off x="6172200" y="3383280"/>
            <a:ext cx="347472" cy="347472"/>
          </a:xfrm>
          <a:prstGeom prst="roundRect">
            <a:avLst>
              <a:gd name="adj" fmla="val 13158"/>
            </a:avLst>
          </a:prstGeom>
          <a:solidFill>
            <a:srgbClr val="1A0A1E"/>
          </a:solidFill>
          <a:ln w="12700">
            <a:solidFill>
              <a:srgbClr val="1A0A1E"/>
            </a:solidFill>
            <a:prstDash val="solid"/>
          </a:ln>
        </p:spPr>
      </p:sp>
      <p:sp>
        <p:nvSpPr>
          <p:cNvPr id="48" name="Text 46"/>
          <p:cNvSpPr/>
          <p:nvPr/>
        </p:nvSpPr>
        <p:spPr>
          <a:xfrm>
            <a:off x="6172200" y="3383280"/>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09</a:t>
            </a:r>
            <a:endParaRPr lang="en-US" sz="900" dirty="0"/>
          </a:p>
        </p:txBody>
      </p:sp>
      <p:sp>
        <p:nvSpPr>
          <p:cNvPr id="49" name="Text 47"/>
          <p:cNvSpPr/>
          <p:nvPr/>
        </p:nvSpPr>
        <p:spPr>
          <a:xfrm>
            <a:off x="6611112" y="3273552"/>
            <a:ext cx="2286000" cy="329184"/>
          </a:xfrm>
          <a:prstGeom prst="rect">
            <a:avLst/>
          </a:prstGeom>
          <a:noFill/>
          <a:ln/>
        </p:spPr>
        <p:txBody>
          <a:bodyPr wrap="square" lIns="0" tIns="0" rIns="0" bIns="0" rtlCol="0" anchor="ctr"/>
          <a:lstStyle/>
          <a:p>
            <a:pPr indent="0" marL="0">
              <a:buNone/>
            </a:pPr>
            <a:r>
              <a:rPr lang="en-US" sz="1050" b="1" dirty="0">
                <a:solidFill>
                  <a:srgbClr val="1A0A1E"/>
                </a:solidFill>
                <a:latin typeface="Calibri" pitchFamily="34" charset="0"/>
                <a:ea typeface="Calibri" pitchFamily="34" charset="-122"/>
                <a:cs typeface="Calibri" pitchFamily="34" charset="-120"/>
              </a:rPr>
              <a:t>Advanced Graphics Options</a:t>
            </a:r>
            <a:endParaRPr lang="en-US" sz="1050" dirty="0"/>
          </a:p>
        </p:txBody>
      </p:sp>
      <p:sp>
        <p:nvSpPr>
          <p:cNvPr id="50" name="Text 48"/>
          <p:cNvSpPr/>
          <p:nvPr/>
        </p:nvSpPr>
        <p:spPr>
          <a:xfrm>
            <a:off x="6611112" y="3639312"/>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Chart Editor, templates, Chart Builder</a:t>
            </a:r>
            <a:endParaRPr lang="en-US" sz="900" dirty="0"/>
          </a:p>
        </p:txBody>
      </p:sp>
      <p:sp>
        <p:nvSpPr>
          <p:cNvPr id="51" name="Shape 49"/>
          <p:cNvSpPr/>
          <p:nvPr/>
        </p:nvSpPr>
        <p:spPr>
          <a:xfrm>
            <a:off x="6080760" y="4151376"/>
            <a:ext cx="2880360" cy="877824"/>
          </a:xfrm>
          <a:prstGeom prst="roundRect">
            <a:avLst>
              <a:gd name="adj" fmla="val 72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2" name="Shape 50"/>
          <p:cNvSpPr/>
          <p:nvPr/>
        </p:nvSpPr>
        <p:spPr>
          <a:xfrm>
            <a:off x="6172200" y="4370832"/>
            <a:ext cx="347472" cy="347472"/>
          </a:xfrm>
          <a:prstGeom prst="roundRect">
            <a:avLst>
              <a:gd name="adj" fmla="val 13158"/>
            </a:avLst>
          </a:prstGeom>
          <a:solidFill>
            <a:srgbClr val="1A0A1E"/>
          </a:solidFill>
          <a:ln w="12700">
            <a:solidFill>
              <a:srgbClr val="1A0A1E"/>
            </a:solidFill>
            <a:prstDash val="solid"/>
          </a:ln>
        </p:spPr>
      </p:sp>
      <p:sp>
        <p:nvSpPr>
          <p:cNvPr id="53" name="Text 51"/>
          <p:cNvSpPr/>
          <p:nvPr/>
        </p:nvSpPr>
        <p:spPr>
          <a:xfrm>
            <a:off x="6172200" y="4370832"/>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10</a:t>
            </a:r>
            <a:endParaRPr lang="en-US" sz="900" dirty="0"/>
          </a:p>
        </p:txBody>
      </p:sp>
      <p:sp>
        <p:nvSpPr>
          <p:cNvPr id="54" name="Text 52"/>
          <p:cNvSpPr/>
          <p:nvPr/>
        </p:nvSpPr>
        <p:spPr>
          <a:xfrm>
            <a:off x="6611112" y="4261104"/>
            <a:ext cx="2286000" cy="329184"/>
          </a:xfrm>
          <a:prstGeom prst="rect">
            <a:avLst/>
          </a:prstGeom>
          <a:noFill/>
          <a:ln/>
        </p:spPr>
        <p:txBody>
          <a:bodyPr wrap="square" lIns="0" tIns="0" rIns="0" bIns="0" rtlCol="0" anchor="ctr"/>
          <a:lstStyle/>
          <a:p>
            <a:pPr indent="0" marL="0">
              <a:buNone/>
            </a:pPr>
            <a:r>
              <a:rPr lang="en-US" sz="1050" b="1" dirty="0">
                <a:solidFill>
                  <a:srgbClr val="1A0A1E"/>
                </a:solidFill>
                <a:latin typeface="Calibri" pitchFamily="34" charset="0"/>
                <a:ea typeface="Calibri" pitchFamily="34" charset="-122"/>
                <a:cs typeface="Calibri" pitchFamily="34" charset="-120"/>
              </a:rPr>
              <a:t>Correlation Analysis</a:t>
            </a:r>
            <a:endParaRPr lang="en-US" sz="1050" dirty="0"/>
          </a:p>
        </p:txBody>
      </p:sp>
      <p:sp>
        <p:nvSpPr>
          <p:cNvPr id="55" name="Text 53"/>
          <p:cNvSpPr/>
          <p:nvPr/>
        </p:nvSpPr>
        <p:spPr>
          <a:xfrm>
            <a:off x="6611112" y="4626864"/>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Pearson, Spearman, subgroup, overlay scatterplots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5C1A6B">
              <a:alpha val="20000"/>
            </a:srgbClr>
          </a:solidFill>
          <a:ln w="12700">
            <a:solidFill>
              <a:srgbClr val="5C1A6B"/>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3  |  SECTION 01</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Tests of Association vs. Tests of Difference</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C8A8E8"/>
                </a:solidFill>
                <a:latin typeface="Calibri" pitchFamily="34" charset="0"/>
                <a:ea typeface="Calibri" pitchFamily="34" charset="-122"/>
                <a:cs typeface="Calibri" pitchFamily="34" charset="-120"/>
              </a:rPr>
              <a:t>Choosing the right analytical framework - the first decision in every inferential analysis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0A1E"/>
          </a:solidFill>
          <a:ln w="12700">
            <a:solidFill>
              <a:srgbClr val="1A0A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Tests of Association vs. Tests of Difference - The Fundamental Distinction</a:t>
            </a:r>
            <a:endParaRPr lang="en-US" sz="2100" dirty="0"/>
          </a:p>
        </p:txBody>
      </p:sp>
      <p:sp>
        <p:nvSpPr>
          <p:cNvPr id="4" name="Shape 2"/>
          <p:cNvSpPr/>
          <p:nvPr/>
        </p:nvSpPr>
        <p:spPr>
          <a:xfrm>
            <a:off x="256032" y="1024128"/>
            <a:ext cx="4160520" cy="3977640"/>
          </a:xfrm>
          <a:prstGeom prst="roundRect">
            <a:avLst>
              <a:gd name="adj" fmla="val 2069"/>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4005072" cy="384048"/>
          </a:xfrm>
          <a:prstGeom prst="roundRect">
            <a:avLst>
              <a:gd name="adj" fmla="val 16667"/>
            </a:avLst>
          </a:prstGeom>
          <a:solidFill>
            <a:srgbClr val="1A0A1E"/>
          </a:solidFill>
          <a:ln w="12700">
            <a:solidFill>
              <a:srgbClr val="1A0A1E"/>
            </a:solidFill>
            <a:prstDash val="solid"/>
          </a:ln>
        </p:spPr>
      </p:sp>
      <p:sp>
        <p:nvSpPr>
          <p:cNvPr id="6" name="Text 4"/>
          <p:cNvSpPr/>
          <p:nvPr/>
        </p:nvSpPr>
        <p:spPr>
          <a:xfrm>
            <a:off x="329184" y="1097280"/>
            <a:ext cx="4005072" cy="384048"/>
          </a:xfrm>
          <a:prstGeom prst="rect">
            <a:avLst/>
          </a:prstGeom>
          <a:noFill/>
          <a:ln/>
        </p:spPr>
        <p:txBody>
          <a:bodyPr wrap="square" lIns="0" tIns="0" rIns="0" bIns="0" rtlCol="0" anchor="ctr"/>
          <a:lstStyle/>
          <a:p>
            <a:pPr algn="ctr" indent="0" marL="0">
              <a:buNone/>
            </a:pPr>
            <a:r>
              <a:rPr lang="en-US" sz="1300" b="1" dirty="0">
                <a:solidFill>
                  <a:srgbClr val="F0C040"/>
                </a:solidFill>
                <a:latin typeface="Cambria" pitchFamily="34" charset="0"/>
                <a:ea typeface="Cambria" pitchFamily="34" charset="-122"/>
                <a:cs typeface="Cambria" pitchFamily="34" charset="-120"/>
              </a:rPr>
              <a:t>TESTS OF ASSOCIATION</a:t>
            </a:r>
            <a:endParaRPr lang="en-US" sz="1300" dirty="0"/>
          </a:p>
        </p:txBody>
      </p:sp>
      <p:sp>
        <p:nvSpPr>
          <p:cNvPr id="7" name="Text 5"/>
          <p:cNvSpPr/>
          <p:nvPr/>
        </p:nvSpPr>
        <p:spPr>
          <a:xfrm>
            <a:off x="365760" y="1572768"/>
            <a:ext cx="3913632" cy="594360"/>
          </a:xfrm>
          <a:prstGeom prst="rect">
            <a:avLst/>
          </a:prstGeom>
          <a:noFill/>
          <a:ln/>
        </p:spPr>
        <p:txBody>
          <a:bodyPr wrap="square" lIns="0" tIns="0" rIns="0" bIns="0" rtlCol="0" anchor="ctr"/>
          <a:lstStyle/>
          <a:p>
            <a:pPr indent="0" marL="0">
              <a:buNone/>
            </a:pPr>
            <a:r>
              <a:rPr lang="en-US" sz="1050" dirty="0">
                <a:solidFill>
                  <a:srgbClr val="2C1F3E"/>
                </a:solidFill>
                <a:latin typeface="Calibri" pitchFamily="34" charset="0"/>
                <a:ea typeface="Calibri" pitchFamily="34" charset="-122"/>
                <a:cs typeface="Calibri" pitchFamily="34" charset="-120"/>
              </a:rPr>
              <a:t>Do two variables move together? Is there a relationship between them? As one variable changes, does the other change predictably?</a:t>
            </a:r>
            <a:endParaRPr lang="en-US" sz="1050" dirty="0"/>
          </a:p>
        </p:txBody>
      </p:sp>
      <p:sp>
        <p:nvSpPr>
          <p:cNvPr id="8" name="Shape 6"/>
          <p:cNvSpPr/>
          <p:nvPr/>
        </p:nvSpPr>
        <p:spPr>
          <a:xfrm>
            <a:off x="365760" y="2249424"/>
            <a:ext cx="3931920" cy="365760"/>
          </a:xfrm>
          <a:prstGeom prst="roundRect">
            <a:avLst>
              <a:gd name="adj" fmla="val 10000"/>
            </a:avLst>
          </a:prstGeom>
          <a:solidFill>
            <a:srgbClr val="F8F0FF"/>
          </a:solidFill>
          <a:ln w="6350">
            <a:solidFill>
              <a:srgbClr val="D8C8ED"/>
            </a:solidFill>
            <a:prstDash val="solid"/>
          </a:ln>
        </p:spPr>
      </p:sp>
      <p:sp>
        <p:nvSpPr>
          <p:cNvPr id="9" name="Text 7"/>
          <p:cNvSpPr/>
          <p:nvPr/>
        </p:nvSpPr>
        <p:spPr>
          <a:xfrm>
            <a:off x="475488" y="2286000"/>
            <a:ext cx="1389888" cy="292608"/>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Pearson Correlation</a:t>
            </a:r>
            <a:endParaRPr lang="en-US" sz="950" dirty="0"/>
          </a:p>
        </p:txBody>
      </p:sp>
      <p:sp>
        <p:nvSpPr>
          <p:cNvPr id="10" name="Text 8"/>
          <p:cNvSpPr/>
          <p:nvPr/>
        </p:nvSpPr>
        <p:spPr>
          <a:xfrm>
            <a:off x="1901952" y="2286000"/>
            <a:ext cx="2322576"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Scale IV - Scale DV. Strength of linear relationship.</a:t>
            </a:r>
            <a:endParaRPr lang="en-US" sz="900" dirty="0"/>
          </a:p>
        </p:txBody>
      </p:sp>
      <p:sp>
        <p:nvSpPr>
          <p:cNvPr id="11" name="Shape 9"/>
          <p:cNvSpPr/>
          <p:nvPr/>
        </p:nvSpPr>
        <p:spPr>
          <a:xfrm>
            <a:off x="365760" y="2670048"/>
            <a:ext cx="3931920" cy="365760"/>
          </a:xfrm>
          <a:prstGeom prst="roundRect">
            <a:avLst>
              <a:gd name="adj" fmla="val 10000"/>
            </a:avLst>
          </a:prstGeom>
          <a:solidFill>
            <a:srgbClr val="FFFFFF"/>
          </a:solidFill>
          <a:ln w="6350">
            <a:solidFill>
              <a:srgbClr val="D8C8ED"/>
            </a:solidFill>
            <a:prstDash val="solid"/>
          </a:ln>
        </p:spPr>
      </p:sp>
      <p:sp>
        <p:nvSpPr>
          <p:cNvPr id="12" name="Text 10"/>
          <p:cNvSpPr/>
          <p:nvPr/>
        </p:nvSpPr>
        <p:spPr>
          <a:xfrm>
            <a:off x="475488" y="2706624"/>
            <a:ext cx="1389888" cy="292608"/>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Spearman Correlation</a:t>
            </a:r>
            <a:endParaRPr lang="en-US" sz="950" dirty="0"/>
          </a:p>
        </p:txBody>
      </p:sp>
      <p:sp>
        <p:nvSpPr>
          <p:cNvPr id="13" name="Text 11"/>
          <p:cNvSpPr/>
          <p:nvPr/>
        </p:nvSpPr>
        <p:spPr>
          <a:xfrm>
            <a:off x="1901952" y="2706624"/>
            <a:ext cx="2322576"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Ordinal or non-normal. Monotonic relationship.</a:t>
            </a:r>
            <a:endParaRPr lang="en-US" sz="900" dirty="0"/>
          </a:p>
        </p:txBody>
      </p:sp>
      <p:sp>
        <p:nvSpPr>
          <p:cNvPr id="14" name="Shape 12"/>
          <p:cNvSpPr/>
          <p:nvPr/>
        </p:nvSpPr>
        <p:spPr>
          <a:xfrm>
            <a:off x="365760" y="3090672"/>
            <a:ext cx="3931920" cy="365760"/>
          </a:xfrm>
          <a:prstGeom prst="roundRect">
            <a:avLst>
              <a:gd name="adj" fmla="val 10000"/>
            </a:avLst>
          </a:prstGeom>
          <a:solidFill>
            <a:srgbClr val="F8F0FF"/>
          </a:solidFill>
          <a:ln w="6350">
            <a:solidFill>
              <a:srgbClr val="D8C8ED"/>
            </a:solidFill>
            <a:prstDash val="solid"/>
          </a:ln>
        </p:spPr>
      </p:sp>
      <p:sp>
        <p:nvSpPr>
          <p:cNvPr id="15" name="Text 13"/>
          <p:cNvSpPr/>
          <p:nvPr/>
        </p:nvSpPr>
        <p:spPr>
          <a:xfrm>
            <a:off x="475488" y="3127248"/>
            <a:ext cx="1389888" cy="292608"/>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Chi-Square Test</a:t>
            </a:r>
            <a:endParaRPr lang="en-US" sz="950" dirty="0"/>
          </a:p>
        </p:txBody>
      </p:sp>
      <p:sp>
        <p:nvSpPr>
          <p:cNvPr id="16" name="Text 14"/>
          <p:cNvSpPr/>
          <p:nvPr/>
        </p:nvSpPr>
        <p:spPr>
          <a:xfrm>
            <a:off x="1901952" y="3127248"/>
            <a:ext cx="2322576"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Nominal IV - Nominal DV. Association between categories.</a:t>
            </a:r>
            <a:endParaRPr lang="en-US" sz="900" dirty="0"/>
          </a:p>
        </p:txBody>
      </p:sp>
      <p:sp>
        <p:nvSpPr>
          <p:cNvPr id="17" name="Shape 15"/>
          <p:cNvSpPr/>
          <p:nvPr/>
        </p:nvSpPr>
        <p:spPr>
          <a:xfrm>
            <a:off x="365760" y="3511296"/>
            <a:ext cx="3931920" cy="365760"/>
          </a:xfrm>
          <a:prstGeom prst="roundRect">
            <a:avLst>
              <a:gd name="adj" fmla="val 10000"/>
            </a:avLst>
          </a:prstGeom>
          <a:solidFill>
            <a:srgbClr val="FFFFFF"/>
          </a:solidFill>
          <a:ln w="6350">
            <a:solidFill>
              <a:srgbClr val="D8C8ED"/>
            </a:solidFill>
            <a:prstDash val="solid"/>
          </a:ln>
        </p:spPr>
      </p:sp>
      <p:sp>
        <p:nvSpPr>
          <p:cNvPr id="18" name="Text 16"/>
          <p:cNvSpPr/>
          <p:nvPr/>
        </p:nvSpPr>
        <p:spPr>
          <a:xfrm>
            <a:off x="475488" y="3547872"/>
            <a:ext cx="1389888" cy="292608"/>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Phi / Cramer's V</a:t>
            </a:r>
            <a:endParaRPr lang="en-US" sz="950" dirty="0"/>
          </a:p>
        </p:txBody>
      </p:sp>
      <p:sp>
        <p:nvSpPr>
          <p:cNvPr id="19" name="Text 17"/>
          <p:cNvSpPr/>
          <p:nvPr/>
        </p:nvSpPr>
        <p:spPr>
          <a:xfrm>
            <a:off x="1901952" y="3547872"/>
            <a:ext cx="2322576"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Effect size for chi-square association tests.</a:t>
            </a:r>
            <a:endParaRPr lang="en-US" sz="900" dirty="0"/>
          </a:p>
        </p:txBody>
      </p:sp>
      <p:sp>
        <p:nvSpPr>
          <p:cNvPr id="20" name="Shape 18"/>
          <p:cNvSpPr/>
          <p:nvPr/>
        </p:nvSpPr>
        <p:spPr>
          <a:xfrm>
            <a:off x="365760" y="3931920"/>
            <a:ext cx="3931920" cy="365760"/>
          </a:xfrm>
          <a:prstGeom prst="roundRect">
            <a:avLst>
              <a:gd name="adj" fmla="val 10000"/>
            </a:avLst>
          </a:prstGeom>
          <a:solidFill>
            <a:srgbClr val="F8F0FF"/>
          </a:solidFill>
          <a:ln w="6350">
            <a:solidFill>
              <a:srgbClr val="D8C8ED"/>
            </a:solidFill>
            <a:prstDash val="solid"/>
          </a:ln>
        </p:spPr>
      </p:sp>
      <p:sp>
        <p:nvSpPr>
          <p:cNvPr id="21" name="Text 19"/>
          <p:cNvSpPr/>
          <p:nvPr/>
        </p:nvSpPr>
        <p:spPr>
          <a:xfrm>
            <a:off x="475488" y="3968496"/>
            <a:ext cx="1389888" cy="292608"/>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Linear Regression</a:t>
            </a:r>
            <a:endParaRPr lang="en-US" sz="950" dirty="0"/>
          </a:p>
        </p:txBody>
      </p:sp>
      <p:sp>
        <p:nvSpPr>
          <p:cNvPr id="22" name="Text 20"/>
          <p:cNvSpPr/>
          <p:nvPr/>
        </p:nvSpPr>
        <p:spPr>
          <a:xfrm>
            <a:off x="1901952" y="3968496"/>
            <a:ext cx="2322576"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Scale/Nominal IV predicting Scale DV outcome.</a:t>
            </a:r>
            <a:endParaRPr lang="en-US" sz="900" dirty="0"/>
          </a:p>
        </p:txBody>
      </p:sp>
      <p:sp>
        <p:nvSpPr>
          <p:cNvPr id="23" name="Shape 21"/>
          <p:cNvSpPr/>
          <p:nvPr/>
        </p:nvSpPr>
        <p:spPr>
          <a:xfrm>
            <a:off x="365760" y="4352544"/>
            <a:ext cx="3931920" cy="365760"/>
          </a:xfrm>
          <a:prstGeom prst="roundRect">
            <a:avLst>
              <a:gd name="adj" fmla="val 10000"/>
            </a:avLst>
          </a:prstGeom>
          <a:solidFill>
            <a:srgbClr val="FFFFFF"/>
          </a:solidFill>
          <a:ln w="6350">
            <a:solidFill>
              <a:srgbClr val="D8C8ED"/>
            </a:solidFill>
            <a:prstDash val="solid"/>
          </a:ln>
        </p:spPr>
      </p:sp>
      <p:sp>
        <p:nvSpPr>
          <p:cNvPr id="24" name="Text 22"/>
          <p:cNvSpPr/>
          <p:nvPr/>
        </p:nvSpPr>
        <p:spPr>
          <a:xfrm>
            <a:off x="475488" y="4389120"/>
            <a:ext cx="1389888" cy="292608"/>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Logistic Regression</a:t>
            </a:r>
            <a:endParaRPr lang="en-US" sz="950" dirty="0"/>
          </a:p>
        </p:txBody>
      </p:sp>
      <p:sp>
        <p:nvSpPr>
          <p:cNvPr id="25" name="Text 23"/>
          <p:cNvSpPr/>
          <p:nvPr/>
        </p:nvSpPr>
        <p:spPr>
          <a:xfrm>
            <a:off x="1901952" y="4389120"/>
            <a:ext cx="2322576"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Predictors for Binary or Nominal DV.</a:t>
            </a:r>
            <a:endParaRPr lang="en-US" sz="900" dirty="0"/>
          </a:p>
        </p:txBody>
      </p:sp>
      <p:sp>
        <p:nvSpPr>
          <p:cNvPr id="26" name="Shape 24"/>
          <p:cNvSpPr/>
          <p:nvPr/>
        </p:nvSpPr>
        <p:spPr>
          <a:xfrm>
            <a:off x="365760" y="4754880"/>
            <a:ext cx="3931920" cy="256032"/>
          </a:xfrm>
          <a:prstGeom prst="roundRect">
            <a:avLst>
              <a:gd name="adj" fmla="val 14286"/>
            </a:avLst>
          </a:prstGeom>
          <a:solidFill>
            <a:srgbClr val="F8F0FF"/>
          </a:solidFill>
          <a:ln w="10160">
            <a:solidFill>
              <a:srgbClr val="5C1A6B"/>
            </a:solidFill>
            <a:prstDash val="solid"/>
          </a:ln>
        </p:spPr>
      </p:sp>
      <p:sp>
        <p:nvSpPr>
          <p:cNvPr id="27" name="Text 25"/>
          <p:cNvSpPr/>
          <p:nvPr/>
        </p:nvSpPr>
        <p:spPr>
          <a:xfrm>
            <a:off x="475488" y="4773168"/>
            <a:ext cx="3749040" cy="219456"/>
          </a:xfrm>
          <a:prstGeom prst="rect">
            <a:avLst/>
          </a:prstGeom>
          <a:noFill/>
          <a:ln/>
        </p:spPr>
        <p:txBody>
          <a:bodyPr wrap="square" lIns="0" tIns="0" rIns="0" bIns="0" rtlCol="0" anchor="ctr"/>
          <a:lstStyle/>
          <a:p>
            <a:pPr indent="0" marL="0">
              <a:buNone/>
            </a:pPr>
            <a:r>
              <a:rPr lang="en-US" sz="900" i="1" dirty="0">
                <a:solidFill>
                  <a:srgbClr val="5C1A6B"/>
                </a:solidFill>
                <a:latin typeface="Calibri" pitchFamily="34" charset="0"/>
                <a:ea typeface="Calibri" pitchFamily="34" charset="-122"/>
                <a:cs typeface="Calibri" pitchFamily="34" charset="-120"/>
              </a:rPr>
              <a:t>UAC: Is advertising spend associated with repeat purchase rate?</a:t>
            </a:r>
            <a:endParaRPr lang="en-US" sz="900" dirty="0"/>
          </a:p>
        </p:txBody>
      </p:sp>
      <p:sp>
        <p:nvSpPr>
          <p:cNvPr id="28" name="Shape 26"/>
          <p:cNvSpPr/>
          <p:nvPr/>
        </p:nvSpPr>
        <p:spPr>
          <a:xfrm>
            <a:off x="4681728" y="1024128"/>
            <a:ext cx="4160520" cy="3977640"/>
          </a:xfrm>
          <a:prstGeom prst="roundRect">
            <a:avLst>
              <a:gd name="adj" fmla="val 2069"/>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9" name="Shape 27"/>
          <p:cNvSpPr/>
          <p:nvPr/>
        </p:nvSpPr>
        <p:spPr>
          <a:xfrm>
            <a:off x="4754880" y="1097280"/>
            <a:ext cx="4005072" cy="384048"/>
          </a:xfrm>
          <a:prstGeom prst="roundRect">
            <a:avLst>
              <a:gd name="adj" fmla="val 16667"/>
            </a:avLst>
          </a:prstGeom>
          <a:solidFill>
            <a:srgbClr val="2471A3"/>
          </a:solidFill>
          <a:ln w="12700">
            <a:solidFill>
              <a:srgbClr val="2471A3"/>
            </a:solidFill>
            <a:prstDash val="solid"/>
          </a:ln>
        </p:spPr>
      </p:sp>
      <p:sp>
        <p:nvSpPr>
          <p:cNvPr id="30" name="Text 28"/>
          <p:cNvSpPr/>
          <p:nvPr/>
        </p:nvSpPr>
        <p:spPr>
          <a:xfrm>
            <a:off x="4754880" y="1097280"/>
            <a:ext cx="4005072"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TESTS OF DIFFERENCE</a:t>
            </a:r>
            <a:endParaRPr lang="en-US" sz="1300" dirty="0"/>
          </a:p>
        </p:txBody>
      </p:sp>
      <p:sp>
        <p:nvSpPr>
          <p:cNvPr id="31" name="Text 29"/>
          <p:cNvSpPr/>
          <p:nvPr/>
        </p:nvSpPr>
        <p:spPr>
          <a:xfrm>
            <a:off x="4773168" y="1572768"/>
            <a:ext cx="3913632" cy="594360"/>
          </a:xfrm>
          <a:prstGeom prst="rect">
            <a:avLst/>
          </a:prstGeom>
          <a:noFill/>
          <a:ln/>
        </p:spPr>
        <p:txBody>
          <a:bodyPr wrap="square" lIns="0" tIns="0" rIns="0" bIns="0" rtlCol="0" anchor="ctr"/>
          <a:lstStyle/>
          <a:p>
            <a:pPr indent="0" marL="0">
              <a:buNone/>
            </a:pPr>
            <a:r>
              <a:rPr lang="en-US" sz="1050" dirty="0">
                <a:solidFill>
                  <a:srgbClr val="2C1F3E"/>
                </a:solidFill>
                <a:latin typeface="Calibri" pitchFamily="34" charset="0"/>
                <a:ea typeface="Calibri" pitchFamily="34" charset="-122"/>
                <a:cs typeface="Calibri" pitchFamily="34" charset="-120"/>
              </a:rPr>
              <a:t>Do two or more groups differ on a measured variable? Is the mean score in Group A significantly higher or lower than in Group B?</a:t>
            </a:r>
            <a:endParaRPr lang="en-US" sz="1050" dirty="0"/>
          </a:p>
        </p:txBody>
      </p:sp>
      <p:sp>
        <p:nvSpPr>
          <p:cNvPr id="32" name="Shape 30"/>
          <p:cNvSpPr/>
          <p:nvPr/>
        </p:nvSpPr>
        <p:spPr>
          <a:xfrm>
            <a:off x="4773168" y="2249424"/>
            <a:ext cx="3931920" cy="365760"/>
          </a:xfrm>
          <a:prstGeom prst="roundRect">
            <a:avLst>
              <a:gd name="adj" fmla="val 10000"/>
            </a:avLst>
          </a:prstGeom>
          <a:solidFill>
            <a:srgbClr val="EBF5FB"/>
          </a:solidFill>
          <a:ln w="6350">
            <a:solidFill>
              <a:srgbClr val="C8DCEA"/>
            </a:solidFill>
            <a:prstDash val="solid"/>
          </a:ln>
        </p:spPr>
      </p:sp>
      <p:sp>
        <p:nvSpPr>
          <p:cNvPr id="33" name="Text 31"/>
          <p:cNvSpPr/>
          <p:nvPr/>
        </p:nvSpPr>
        <p:spPr>
          <a:xfrm>
            <a:off x="4882896" y="2286000"/>
            <a:ext cx="1481328" cy="292608"/>
          </a:xfrm>
          <a:prstGeom prst="rect">
            <a:avLst/>
          </a:prstGeom>
          <a:noFill/>
          <a:ln/>
        </p:spPr>
        <p:txBody>
          <a:bodyPr wrap="square" lIns="0" tIns="0" rIns="0" bIns="0" rtlCol="0" anchor="ctr"/>
          <a:lstStyle/>
          <a:p>
            <a:pPr indent="0" marL="0">
              <a:buNone/>
            </a:pPr>
            <a:r>
              <a:rPr lang="en-US" sz="950" b="1" dirty="0">
                <a:solidFill>
                  <a:srgbClr val="2471A3"/>
                </a:solidFill>
                <a:latin typeface="Calibri" pitchFamily="34" charset="0"/>
                <a:ea typeface="Calibri" pitchFamily="34" charset="-122"/>
                <a:cs typeface="Calibri" pitchFamily="34" charset="-120"/>
              </a:rPr>
              <a:t>One-Sample T-Test</a:t>
            </a:r>
            <a:endParaRPr lang="en-US" sz="950" dirty="0"/>
          </a:p>
        </p:txBody>
      </p:sp>
      <p:sp>
        <p:nvSpPr>
          <p:cNvPr id="34" name="Text 32"/>
          <p:cNvSpPr/>
          <p:nvPr/>
        </p:nvSpPr>
        <p:spPr>
          <a:xfrm>
            <a:off x="6400800" y="2286000"/>
            <a:ext cx="2212848"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Does sample mean differ from known benchmark value?</a:t>
            </a:r>
            <a:endParaRPr lang="en-US" sz="900" dirty="0"/>
          </a:p>
        </p:txBody>
      </p:sp>
      <p:sp>
        <p:nvSpPr>
          <p:cNvPr id="35" name="Shape 33"/>
          <p:cNvSpPr/>
          <p:nvPr/>
        </p:nvSpPr>
        <p:spPr>
          <a:xfrm>
            <a:off x="4773168" y="2670048"/>
            <a:ext cx="3931920" cy="365760"/>
          </a:xfrm>
          <a:prstGeom prst="roundRect">
            <a:avLst>
              <a:gd name="adj" fmla="val 10000"/>
            </a:avLst>
          </a:prstGeom>
          <a:solidFill>
            <a:srgbClr val="FFFFFF"/>
          </a:solidFill>
          <a:ln w="6350">
            <a:solidFill>
              <a:srgbClr val="C8DCEA"/>
            </a:solidFill>
            <a:prstDash val="solid"/>
          </a:ln>
        </p:spPr>
      </p:sp>
      <p:sp>
        <p:nvSpPr>
          <p:cNvPr id="36" name="Text 34"/>
          <p:cNvSpPr/>
          <p:nvPr/>
        </p:nvSpPr>
        <p:spPr>
          <a:xfrm>
            <a:off x="4882896" y="2706624"/>
            <a:ext cx="1481328" cy="292608"/>
          </a:xfrm>
          <a:prstGeom prst="rect">
            <a:avLst/>
          </a:prstGeom>
          <a:noFill/>
          <a:ln/>
        </p:spPr>
        <p:txBody>
          <a:bodyPr wrap="square" lIns="0" tIns="0" rIns="0" bIns="0" rtlCol="0" anchor="ctr"/>
          <a:lstStyle/>
          <a:p>
            <a:pPr indent="0" marL="0">
              <a:buNone/>
            </a:pPr>
            <a:r>
              <a:rPr lang="en-US" sz="950" b="1" dirty="0">
                <a:solidFill>
                  <a:srgbClr val="2471A3"/>
                </a:solidFill>
                <a:latin typeface="Calibri" pitchFamily="34" charset="0"/>
                <a:ea typeface="Calibri" pitchFamily="34" charset="-122"/>
                <a:cs typeface="Calibri" pitchFamily="34" charset="-120"/>
              </a:rPr>
              <a:t>Independent T-Test</a:t>
            </a:r>
            <a:endParaRPr lang="en-US" sz="950" dirty="0"/>
          </a:p>
        </p:txBody>
      </p:sp>
      <p:sp>
        <p:nvSpPr>
          <p:cNvPr id="37" name="Text 35"/>
          <p:cNvSpPr/>
          <p:nvPr/>
        </p:nvSpPr>
        <p:spPr>
          <a:xfrm>
            <a:off x="6400800" y="2706624"/>
            <a:ext cx="2212848"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Do 2 independent groups differ on scale DV?</a:t>
            </a:r>
            <a:endParaRPr lang="en-US" sz="900" dirty="0"/>
          </a:p>
        </p:txBody>
      </p:sp>
      <p:sp>
        <p:nvSpPr>
          <p:cNvPr id="38" name="Shape 36"/>
          <p:cNvSpPr/>
          <p:nvPr/>
        </p:nvSpPr>
        <p:spPr>
          <a:xfrm>
            <a:off x="4773168" y="3090672"/>
            <a:ext cx="3931920" cy="365760"/>
          </a:xfrm>
          <a:prstGeom prst="roundRect">
            <a:avLst>
              <a:gd name="adj" fmla="val 10000"/>
            </a:avLst>
          </a:prstGeom>
          <a:solidFill>
            <a:srgbClr val="EBF5FB"/>
          </a:solidFill>
          <a:ln w="6350">
            <a:solidFill>
              <a:srgbClr val="C8DCEA"/>
            </a:solidFill>
            <a:prstDash val="solid"/>
          </a:ln>
        </p:spPr>
      </p:sp>
      <p:sp>
        <p:nvSpPr>
          <p:cNvPr id="39" name="Text 37"/>
          <p:cNvSpPr/>
          <p:nvPr/>
        </p:nvSpPr>
        <p:spPr>
          <a:xfrm>
            <a:off x="4882896" y="3127248"/>
            <a:ext cx="1481328" cy="292608"/>
          </a:xfrm>
          <a:prstGeom prst="rect">
            <a:avLst/>
          </a:prstGeom>
          <a:noFill/>
          <a:ln/>
        </p:spPr>
        <p:txBody>
          <a:bodyPr wrap="square" lIns="0" tIns="0" rIns="0" bIns="0" rtlCol="0" anchor="ctr"/>
          <a:lstStyle/>
          <a:p>
            <a:pPr indent="0" marL="0">
              <a:buNone/>
            </a:pPr>
            <a:r>
              <a:rPr lang="en-US" sz="950" b="1" dirty="0">
                <a:solidFill>
                  <a:srgbClr val="2471A3"/>
                </a:solidFill>
                <a:latin typeface="Calibri" pitchFamily="34" charset="0"/>
                <a:ea typeface="Calibri" pitchFamily="34" charset="-122"/>
                <a:cs typeface="Calibri" pitchFamily="34" charset="-120"/>
              </a:rPr>
              <a:t>Paired T-Test</a:t>
            </a:r>
            <a:endParaRPr lang="en-US" sz="950" dirty="0"/>
          </a:p>
        </p:txBody>
      </p:sp>
      <p:sp>
        <p:nvSpPr>
          <p:cNvPr id="40" name="Text 38"/>
          <p:cNvSpPr/>
          <p:nvPr/>
        </p:nvSpPr>
        <p:spPr>
          <a:xfrm>
            <a:off x="6400800" y="3127248"/>
            <a:ext cx="2212848"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Does same group differ between 2 time points?</a:t>
            </a:r>
            <a:endParaRPr lang="en-US" sz="900" dirty="0"/>
          </a:p>
        </p:txBody>
      </p:sp>
      <p:sp>
        <p:nvSpPr>
          <p:cNvPr id="41" name="Shape 39"/>
          <p:cNvSpPr/>
          <p:nvPr/>
        </p:nvSpPr>
        <p:spPr>
          <a:xfrm>
            <a:off x="4773168" y="3511296"/>
            <a:ext cx="3931920" cy="365760"/>
          </a:xfrm>
          <a:prstGeom prst="roundRect">
            <a:avLst>
              <a:gd name="adj" fmla="val 10000"/>
            </a:avLst>
          </a:prstGeom>
          <a:solidFill>
            <a:srgbClr val="FFFFFF"/>
          </a:solidFill>
          <a:ln w="6350">
            <a:solidFill>
              <a:srgbClr val="C8DCEA"/>
            </a:solidFill>
            <a:prstDash val="solid"/>
          </a:ln>
        </p:spPr>
      </p:sp>
      <p:sp>
        <p:nvSpPr>
          <p:cNvPr id="42" name="Text 40"/>
          <p:cNvSpPr/>
          <p:nvPr/>
        </p:nvSpPr>
        <p:spPr>
          <a:xfrm>
            <a:off x="4882896" y="3547872"/>
            <a:ext cx="1481328" cy="292608"/>
          </a:xfrm>
          <a:prstGeom prst="rect">
            <a:avLst/>
          </a:prstGeom>
          <a:noFill/>
          <a:ln/>
        </p:spPr>
        <p:txBody>
          <a:bodyPr wrap="square" lIns="0" tIns="0" rIns="0" bIns="0" rtlCol="0" anchor="ctr"/>
          <a:lstStyle/>
          <a:p>
            <a:pPr indent="0" marL="0">
              <a:buNone/>
            </a:pPr>
            <a:r>
              <a:rPr lang="en-US" sz="950" b="1" dirty="0">
                <a:solidFill>
                  <a:srgbClr val="2471A3"/>
                </a:solidFill>
                <a:latin typeface="Calibri" pitchFamily="34" charset="0"/>
                <a:ea typeface="Calibri" pitchFamily="34" charset="-122"/>
                <a:cs typeface="Calibri" pitchFamily="34" charset="-120"/>
              </a:rPr>
              <a:t>One-Way ANOVA</a:t>
            </a:r>
            <a:endParaRPr lang="en-US" sz="950" dirty="0"/>
          </a:p>
        </p:txBody>
      </p:sp>
      <p:sp>
        <p:nvSpPr>
          <p:cNvPr id="43" name="Text 41"/>
          <p:cNvSpPr/>
          <p:nvPr/>
        </p:nvSpPr>
        <p:spPr>
          <a:xfrm>
            <a:off x="6400800" y="3547872"/>
            <a:ext cx="2212848"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Do 3+ independent groups differ on scale DV?</a:t>
            </a:r>
            <a:endParaRPr lang="en-US" sz="900" dirty="0"/>
          </a:p>
        </p:txBody>
      </p:sp>
      <p:sp>
        <p:nvSpPr>
          <p:cNvPr id="44" name="Shape 42"/>
          <p:cNvSpPr/>
          <p:nvPr/>
        </p:nvSpPr>
        <p:spPr>
          <a:xfrm>
            <a:off x="4773168" y="3931920"/>
            <a:ext cx="3931920" cy="365760"/>
          </a:xfrm>
          <a:prstGeom prst="roundRect">
            <a:avLst>
              <a:gd name="adj" fmla="val 10000"/>
            </a:avLst>
          </a:prstGeom>
          <a:solidFill>
            <a:srgbClr val="EBF5FB"/>
          </a:solidFill>
          <a:ln w="6350">
            <a:solidFill>
              <a:srgbClr val="C8DCEA"/>
            </a:solidFill>
            <a:prstDash val="solid"/>
          </a:ln>
        </p:spPr>
      </p:sp>
      <p:sp>
        <p:nvSpPr>
          <p:cNvPr id="45" name="Text 43"/>
          <p:cNvSpPr/>
          <p:nvPr/>
        </p:nvSpPr>
        <p:spPr>
          <a:xfrm>
            <a:off x="4882896" y="3968496"/>
            <a:ext cx="1481328" cy="292608"/>
          </a:xfrm>
          <a:prstGeom prst="rect">
            <a:avLst/>
          </a:prstGeom>
          <a:noFill/>
          <a:ln/>
        </p:spPr>
        <p:txBody>
          <a:bodyPr wrap="square" lIns="0" tIns="0" rIns="0" bIns="0" rtlCol="0" anchor="ctr"/>
          <a:lstStyle/>
          <a:p>
            <a:pPr indent="0" marL="0">
              <a:buNone/>
            </a:pPr>
            <a:r>
              <a:rPr lang="en-US" sz="950" b="1" dirty="0">
                <a:solidFill>
                  <a:srgbClr val="2471A3"/>
                </a:solidFill>
                <a:latin typeface="Calibri" pitchFamily="34" charset="0"/>
                <a:ea typeface="Calibri" pitchFamily="34" charset="-122"/>
                <a:cs typeface="Calibri" pitchFamily="34" charset="-120"/>
              </a:rPr>
              <a:t>Factorial ANOVA</a:t>
            </a:r>
            <a:endParaRPr lang="en-US" sz="950" dirty="0"/>
          </a:p>
        </p:txBody>
      </p:sp>
      <p:sp>
        <p:nvSpPr>
          <p:cNvPr id="46" name="Text 44"/>
          <p:cNvSpPr/>
          <p:nvPr/>
        </p:nvSpPr>
        <p:spPr>
          <a:xfrm>
            <a:off x="6400800" y="3968496"/>
            <a:ext cx="2212848"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2+ categorical IVs effect on scale DV.</a:t>
            </a:r>
            <a:endParaRPr lang="en-US" sz="900" dirty="0"/>
          </a:p>
        </p:txBody>
      </p:sp>
      <p:sp>
        <p:nvSpPr>
          <p:cNvPr id="47" name="Shape 45"/>
          <p:cNvSpPr/>
          <p:nvPr/>
        </p:nvSpPr>
        <p:spPr>
          <a:xfrm>
            <a:off x="4773168" y="4352544"/>
            <a:ext cx="3931920" cy="365760"/>
          </a:xfrm>
          <a:prstGeom prst="roundRect">
            <a:avLst>
              <a:gd name="adj" fmla="val 10000"/>
            </a:avLst>
          </a:prstGeom>
          <a:solidFill>
            <a:srgbClr val="FFFFFF"/>
          </a:solidFill>
          <a:ln w="6350">
            <a:solidFill>
              <a:srgbClr val="C8DCEA"/>
            </a:solidFill>
            <a:prstDash val="solid"/>
          </a:ln>
        </p:spPr>
      </p:sp>
      <p:sp>
        <p:nvSpPr>
          <p:cNvPr id="48" name="Text 46"/>
          <p:cNvSpPr/>
          <p:nvPr/>
        </p:nvSpPr>
        <p:spPr>
          <a:xfrm>
            <a:off x="4882896" y="4389120"/>
            <a:ext cx="1481328" cy="292608"/>
          </a:xfrm>
          <a:prstGeom prst="rect">
            <a:avLst/>
          </a:prstGeom>
          <a:noFill/>
          <a:ln/>
        </p:spPr>
        <p:txBody>
          <a:bodyPr wrap="square" lIns="0" tIns="0" rIns="0" bIns="0" rtlCol="0" anchor="ctr"/>
          <a:lstStyle/>
          <a:p>
            <a:pPr indent="0" marL="0">
              <a:buNone/>
            </a:pPr>
            <a:r>
              <a:rPr lang="en-US" sz="950" b="1" dirty="0">
                <a:solidFill>
                  <a:srgbClr val="2471A3"/>
                </a:solidFill>
                <a:latin typeface="Calibri" pitchFamily="34" charset="0"/>
                <a:ea typeface="Calibri" pitchFamily="34" charset="-122"/>
                <a:cs typeface="Calibri" pitchFamily="34" charset="-120"/>
              </a:rPr>
              <a:t>Repeated Measures ANOVA</a:t>
            </a:r>
            <a:endParaRPr lang="en-US" sz="950" dirty="0"/>
          </a:p>
        </p:txBody>
      </p:sp>
      <p:sp>
        <p:nvSpPr>
          <p:cNvPr id="49" name="Text 47"/>
          <p:cNvSpPr/>
          <p:nvPr/>
        </p:nvSpPr>
        <p:spPr>
          <a:xfrm>
            <a:off x="6400800" y="4389120"/>
            <a:ext cx="2212848" cy="29260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Same group across 3+ time points.</a:t>
            </a:r>
            <a:endParaRPr lang="en-US" sz="900" dirty="0"/>
          </a:p>
        </p:txBody>
      </p:sp>
      <p:sp>
        <p:nvSpPr>
          <p:cNvPr id="50" name="Shape 48"/>
          <p:cNvSpPr/>
          <p:nvPr/>
        </p:nvSpPr>
        <p:spPr>
          <a:xfrm>
            <a:off x="4773168" y="4754880"/>
            <a:ext cx="3931920" cy="256032"/>
          </a:xfrm>
          <a:prstGeom prst="roundRect">
            <a:avLst>
              <a:gd name="adj" fmla="val 14286"/>
            </a:avLst>
          </a:prstGeom>
          <a:solidFill>
            <a:srgbClr val="EBF5FB"/>
          </a:solidFill>
          <a:ln w="10160">
            <a:solidFill>
              <a:srgbClr val="2471A3"/>
            </a:solidFill>
            <a:prstDash val="solid"/>
          </a:ln>
        </p:spPr>
      </p:sp>
      <p:sp>
        <p:nvSpPr>
          <p:cNvPr id="51" name="Text 49"/>
          <p:cNvSpPr/>
          <p:nvPr/>
        </p:nvSpPr>
        <p:spPr>
          <a:xfrm>
            <a:off x="4882896" y="4773168"/>
            <a:ext cx="3749040" cy="219456"/>
          </a:xfrm>
          <a:prstGeom prst="rect">
            <a:avLst/>
          </a:prstGeom>
          <a:noFill/>
          <a:ln/>
        </p:spPr>
        <p:txBody>
          <a:bodyPr wrap="square" lIns="0" tIns="0" rIns="0" bIns="0" rtlCol="0" anchor="ctr"/>
          <a:lstStyle/>
          <a:p>
            <a:pPr indent="0" marL="0">
              <a:buNone/>
            </a:pPr>
            <a:r>
              <a:rPr lang="en-US" sz="900" i="1" dirty="0">
                <a:solidFill>
                  <a:srgbClr val="2471A3"/>
                </a:solidFill>
                <a:latin typeface="Calibri" pitchFamily="34" charset="0"/>
                <a:ea typeface="Calibri" pitchFamily="34" charset="-122"/>
                <a:cs typeface="Calibri" pitchFamily="34" charset="-120"/>
              </a:rPr>
              <a:t>UAC: Do male and female consumers differ in mean satisfaction score?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5C1A6B">
              <a:alpha val="20000"/>
            </a:srgbClr>
          </a:solidFill>
          <a:ln w="12700">
            <a:solidFill>
              <a:srgbClr val="5C1A6B"/>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3  |  SECTION 02</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Hypothesis Testing - The Full Logic</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C8A8E8"/>
                </a:solidFill>
                <a:latin typeface="Calibri" pitchFamily="34" charset="0"/>
                <a:ea typeface="Calibri" pitchFamily="34" charset="-122"/>
                <a:cs typeface="Calibri" pitchFamily="34" charset="-120"/>
              </a:rPr>
              <a:t>The formal framework that connects your research question to your SPSS output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5C1A6B"/>
          </a:solidFill>
          <a:ln w="12700">
            <a:solidFill>
              <a:srgbClr val="5C1A6B"/>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7-Step Hypothesis Testing Process</a:t>
            </a:r>
            <a:endParaRPr lang="en-US" sz="2100" dirty="0"/>
          </a:p>
        </p:txBody>
      </p:sp>
      <p:sp>
        <p:nvSpPr>
          <p:cNvPr id="4" name="Shape 2"/>
          <p:cNvSpPr/>
          <p:nvPr/>
        </p:nvSpPr>
        <p:spPr>
          <a:xfrm>
            <a:off x="228600" y="1005840"/>
            <a:ext cx="4160520" cy="1261872"/>
          </a:xfrm>
          <a:prstGeom prst="roundRect">
            <a:avLst>
              <a:gd name="adj" fmla="val 5797"/>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0040" y="1115568"/>
            <a:ext cx="384048" cy="384048"/>
          </a:xfrm>
          <a:prstGeom prst="ellipse">
            <a:avLst/>
          </a:prstGeom>
          <a:solidFill>
            <a:srgbClr val="5C1A6B"/>
          </a:solidFill>
          <a:ln w="12700">
            <a:solidFill>
              <a:srgbClr val="5C1A6B"/>
            </a:solidFill>
            <a:prstDash val="solid"/>
          </a:ln>
        </p:spPr>
      </p:sp>
      <p:sp>
        <p:nvSpPr>
          <p:cNvPr id="6" name="Text 4"/>
          <p:cNvSpPr/>
          <p:nvPr/>
        </p:nvSpPr>
        <p:spPr>
          <a:xfrm>
            <a:off x="320040" y="111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795528" y="1097280"/>
            <a:ext cx="3474720" cy="274320"/>
          </a:xfrm>
          <a:prstGeom prst="rect">
            <a:avLst/>
          </a:prstGeom>
          <a:noFill/>
          <a:ln/>
        </p:spPr>
        <p:txBody>
          <a:bodyPr wrap="square" lIns="0" tIns="0" rIns="0" bIns="0" rtlCol="0" anchor="ctr"/>
          <a:lstStyle/>
          <a:p>
            <a:pPr indent="0" marL="0">
              <a:buNone/>
            </a:pPr>
            <a:r>
              <a:rPr lang="en-US" sz="1100" b="1" dirty="0">
                <a:solidFill>
                  <a:srgbClr val="5C1A6B"/>
                </a:solidFill>
                <a:latin typeface="Calibri" pitchFamily="34" charset="0"/>
                <a:ea typeface="Calibri" pitchFamily="34" charset="-122"/>
                <a:cs typeface="Calibri" pitchFamily="34" charset="-120"/>
              </a:rPr>
              <a:t>State H0 and H1</a:t>
            </a:r>
            <a:endParaRPr lang="en-US" sz="1100" dirty="0"/>
          </a:p>
        </p:txBody>
      </p:sp>
      <p:sp>
        <p:nvSpPr>
          <p:cNvPr id="8" name="Text 6"/>
          <p:cNvSpPr/>
          <p:nvPr/>
        </p:nvSpPr>
        <p:spPr>
          <a:xfrm>
            <a:off x="338328" y="1426464"/>
            <a:ext cx="3995928" cy="502920"/>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H0: There is no significant difference in satisfaction scores between male and female UAC Foods consumers. H1: There is a significant difference in satisfaction scores by gender.</a:t>
            </a:r>
            <a:endParaRPr lang="en-US" sz="850" dirty="0"/>
          </a:p>
        </p:txBody>
      </p:sp>
      <p:sp>
        <p:nvSpPr>
          <p:cNvPr id="9" name="Text 7"/>
          <p:cNvSpPr/>
          <p:nvPr/>
        </p:nvSpPr>
        <p:spPr>
          <a:xfrm>
            <a:off x="338328" y="1956816"/>
            <a:ext cx="3995928" cy="256032"/>
          </a:xfrm>
          <a:prstGeom prst="rect">
            <a:avLst/>
          </a:prstGeom>
          <a:noFill/>
          <a:ln/>
        </p:spPr>
        <p:txBody>
          <a:bodyPr wrap="square" lIns="0" tIns="0" rIns="0" bIns="0" rtlCol="0" anchor="ctr"/>
          <a:lstStyle/>
          <a:p>
            <a:pPr indent="0" marL="0">
              <a:buNone/>
            </a:pPr>
            <a:r>
              <a:rPr lang="en-US" sz="800" i="1" dirty="0">
                <a:solidFill>
                  <a:srgbClr val="5C1A6B"/>
                </a:solidFill>
                <a:latin typeface="Calibri" pitchFamily="34" charset="0"/>
                <a:ea typeface="Calibri" pitchFamily="34" charset="-122"/>
                <a:cs typeface="Calibri" pitchFamily="34" charset="-120"/>
              </a:rPr>
              <a:t>Rule: H0 always states NO effect. H1 is what you expect to find. Both stated BEFORE data collection.</a:t>
            </a:r>
            <a:endParaRPr lang="en-US" sz="800" dirty="0"/>
          </a:p>
        </p:txBody>
      </p:sp>
      <p:sp>
        <p:nvSpPr>
          <p:cNvPr id="10" name="Shape 8"/>
          <p:cNvSpPr/>
          <p:nvPr/>
        </p:nvSpPr>
        <p:spPr>
          <a:xfrm>
            <a:off x="4690872" y="1005840"/>
            <a:ext cx="4160520" cy="1261872"/>
          </a:xfrm>
          <a:prstGeom prst="roundRect">
            <a:avLst>
              <a:gd name="adj" fmla="val 5797"/>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4782312" y="1115568"/>
            <a:ext cx="384048" cy="384048"/>
          </a:xfrm>
          <a:prstGeom prst="ellipse">
            <a:avLst/>
          </a:prstGeom>
          <a:solidFill>
            <a:srgbClr val="2471A3"/>
          </a:solidFill>
          <a:ln w="12700">
            <a:solidFill>
              <a:srgbClr val="2471A3"/>
            </a:solidFill>
            <a:prstDash val="solid"/>
          </a:ln>
        </p:spPr>
      </p:sp>
      <p:sp>
        <p:nvSpPr>
          <p:cNvPr id="12" name="Text 10"/>
          <p:cNvSpPr/>
          <p:nvPr/>
        </p:nvSpPr>
        <p:spPr>
          <a:xfrm>
            <a:off x="4782312" y="111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5257800" y="1097280"/>
            <a:ext cx="3474720" cy="274320"/>
          </a:xfrm>
          <a:prstGeom prst="rect">
            <a:avLst/>
          </a:prstGeom>
          <a:noFill/>
          <a:ln/>
        </p:spPr>
        <p:txBody>
          <a:bodyPr wrap="square" lIns="0" tIns="0" rIns="0" bIns="0" rtlCol="0" anchor="ctr"/>
          <a:lstStyle/>
          <a:p>
            <a:pPr indent="0" marL="0">
              <a:buNone/>
            </a:pPr>
            <a:r>
              <a:rPr lang="en-US" sz="1100" b="1" dirty="0">
                <a:solidFill>
                  <a:srgbClr val="2471A3"/>
                </a:solidFill>
                <a:latin typeface="Calibri" pitchFamily="34" charset="0"/>
                <a:ea typeface="Calibri" pitchFamily="34" charset="-122"/>
                <a:cs typeface="Calibri" pitchFamily="34" charset="-120"/>
              </a:rPr>
              <a:t>Set Alpha Level (α)</a:t>
            </a:r>
            <a:endParaRPr lang="en-US" sz="1100" dirty="0"/>
          </a:p>
        </p:txBody>
      </p:sp>
      <p:sp>
        <p:nvSpPr>
          <p:cNvPr id="14" name="Text 12"/>
          <p:cNvSpPr/>
          <p:nvPr/>
        </p:nvSpPr>
        <p:spPr>
          <a:xfrm>
            <a:off x="4800600" y="1426464"/>
            <a:ext cx="3995928" cy="502920"/>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Alpha = .05 (conventional in most social science research). Means we accept a 5% chance of false positive. Medical/pharmaceutical research often uses α = .01 or α = .001.</a:t>
            </a:r>
            <a:endParaRPr lang="en-US" sz="850" dirty="0"/>
          </a:p>
        </p:txBody>
      </p:sp>
      <p:sp>
        <p:nvSpPr>
          <p:cNvPr id="15" name="Text 13"/>
          <p:cNvSpPr/>
          <p:nvPr/>
        </p:nvSpPr>
        <p:spPr>
          <a:xfrm>
            <a:off x="4800600" y="1956816"/>
            <a:ext cx="3995928" cy="256032"/>
          </a:xfrm>
          <a:prstGeom prst="rect">
            <a:avLst/>
          </a:prstGeom>
          <a:noFill/>
          <a:ln/>
        </p:spPr>
        <p:txBody>
          <a:bodyPr wrap="square" lIns="0" tIns="0" rIns="0" bIns="0" rtlCol="0" anchor="ctr"/>
          <a:lstStyle/>
          <a:p>
            <a:pPr indent="0" marL="0">
              <a:buNone/>
            </a:pPr>
            <a:r>
              <a:rPr lang="en-US" sz="800" i="1" dirty="0">
                <a:solidFill>
                  <a:srgbClr val="2471A3"/>
                </a:solidFill>
                <a:latin typeface="Calibri" pitchFamily="34" charset="0"/>
                <a:ea typeface="Calibri" pitchFamily="34" charset="-122"/>
                <a:cs typeface="Calibri" pitchFamily="34" charset="-120"/>
              </a:rPr>
              <a:t>Rule: DECLARE alpha before running analysis. Changing it after seeing results is p-hacking.</a:t>
            </a:r>
            <a:endParaRPr lang="en-US" sz="800" dirty="0"/>
          </a:p>
        </p:txBody>
      </p:sp>
      <p:sp>
        <p:nvSpPr>
          <p:cNvPr id="16" name="Shape 14"/>
          <p:cNvSpPr/>
          <p:nvPr/>
        </p:nvSpPr>
        <p:spPr>
          <a:xfrm>
            <a:off x="228600" y="2359152"/>
            <a:ext cx="4160520" cy="1261872"/>
          </a:xfrm>
          <a:prstGeom prst="roundRect">
            <a:avLst>
              <a:gd name="adj" fmla="val 5797"/>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20040" y="2468880"/>
            <a:ext cx="384048" cy="384048"/>
          </a:xfrm>
          <a:prstGeom prst="ellipse">
            <a:avLst/>
          </a:prstGeom>
          <a:solidFill>
            <a:srgbClr val="0E7C7B"/>
          </a:solidFill>
          <a:ln w="12700">
            <a:solidFill>
              <a:srgbClr val="0E7C7B"/>
            </a:solidFill>
            <a:prstDash val="solid"/>
          </a:ln>
        </p:spPr>
      </p:sp>
      <p:sp>
        <p:nvSpPr>
          <p:cNvPr id="18" name="Text 16"/>
          <p:cNvSpPr/>
          <p:nvPr/>
        </p:nvSpPr>
        <p:spPr>
          <a:xfrm>
            <a:off x="320040" y="2468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795528" y="2450592"/>
            <a:ext cx="3474720"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Check Assumptions</a:t>
            </a:r>
            <a:endParaRPr lang="en-US" sz="1100" dirty="0"/>
          </a:p>
        </p:txBody>
      </p:sp>
      <p:sp>
        <p:nvSpPr>
          <p:cNvPr id="20" name="Text 18"/>
          <p:cNvSpPr/>
          <p:nvPr/>
        </p:nvSpPr>
        <p:spPr>
          <a:xfrm>
            <a:off x="338328" y="2779776"/>
            <a:ext cx="3995928" cy="502920"/>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For t-test: check normality (Shapiro-Wilk, histograms) and homogeneity of variance (Levene's Test). Assumptions determine which test row to read in SPSS output.</a:t>
            </a:r>
            <a:endParaRPr lang="en-US" sz="850" dirty="0"/>
          </a:p>
        </p:txBody>
      </p:sp>
      <p:sp>
        <p:nvSpPr>
          <p:cNvPr id="21" name="Text 19"/>
          <p:cNvSpPr/>
          <p:nvPr/>
        </p:nvSpPr>
        <p:spPr>
          <a:xfrm>
            <a:off x="338328" y="3310128"/>
            <a:ext cx="3995928" cy="256032"/>
          </a:xfrm>
          <a:prstGeom prst="rect">
            <a:avLst/>
          </a:prstGeom>
          <a:noFill/>
          <a:ln/>
        </p:spPr>
        <p:txBody>
          <a:bodyPr wrap="square" lIns="0" tIns="0" rIns="0" bIns="0" rtlCol="0" anchor="ctr"/>
          <a:lstStyle/>
          <a:p>
            <a:pPr indent="0" marL="0">
              <a:buNone/>
            </a:pPr>
            <a:r>
              <a:rPr lang="en-US" sz="800" i="1" dirty="0">
                <a:solidFill>
                  <a:srgbClr val="0E7C7B"/>
                </a:solidFill>
                <a:latin typeface="Calibri" pitchFamily="34" charset="0"/>
                <a:ea typeface="Calibri" pitchFamily="34" charset="-122"/>
                <a:cs typeface="Calibri" pitchFamily="34" charset="-120"/>
              </a:rPr>
              <a:t>Rule: Analyze &gt; Descriptive Statistics &gt; Explore &gt; Normality plots with tests.</a:t>
            </a:r>
            <a:endParaRPr lang="en-US" sz="800" dirty="0"/>
          </a:p>
        </p:txBody>
      </p:sp>
      <p:sp>
        <p:nvSpPr>
          <p:cNvPr id="22" name="Shape 20"/>
          <p:cNvSpPr/>
          <p:nvPr/>
        </p:nvSpPr>
        <p:spPr>
          <a:xfrm>
            <a:off x="4690872" y="2359152"/>
            <a:ext cx="4160520" cy="1261872"/>
          </a:xfrm>
          <a:prstGeom prst="roundRect">
            <a:avLst>
              <a:gd name="adj" fmla="val 5797"/>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4782312" y="2468880"/>
            <a:ext cx="384048" cy="384048"/>
          </a:xfrm>
          <a:prstGeom prst="ellipse">
            <a:avLst/>
          </a:prstGeom>
          <a:solidFill>
            <a:srgbClr val="E67E22"/>
          </a:solidFill>
          <a:ln w="12700">
            <a:solidFill>
              <a:srgbClr val="E67E22"/>
            </a:solidFill>
            <a:prstDash val="solid"/>
          </a:ln>
        </p:spPr>
      </p:sp>
      <p:sp>
        <p:nvSpPr>
          <p:cNvPr id="24" name="Text 22"/>
          <p:cNvSpPr/>
          <p:nvPr/>
        </p:nvSpPr>
        <p:spPr>
          <a:xfrm>
            <a:off x="4782312" y="2468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5" name="Text 23"/>
          <p:cNvSpPr/>
          <p:nvPr/>
        </p:nvSpPr>
        <p:spPr>
          <a:xfrm>
            <a:off x="5257800" y="2450592"/>
            <a:ext cx="3474720" cy="274320"/>
          </a:xfrm>
          <a:prstGeom prst="rect">
            <a:avLst/>
          </a:prstGeom>
          <a:noFill/>
          <a:ln/>
        </p:spPr>
        <p:txBody>
          <a:bodyPr wrap="square" lIns="0" tIns="0" rIns="0" bIns="0" rtlCol="0" anchor="ctr"/>
          <a:lstStyle/>
          <a:p>
            <a:pPr indent="0" marL="0">
              <a:buNone/>
            </a:pPr>
            <a:r>
              <a:rPr lang="en-US" sz="1100" b="1" dirty="0">
                <a:solidFill>
                  <a:srgbClr val="E67E22"/>
                </a:solidFill>
                <a:latin typeface="Calibri" pitchFamily="34" charset="0"/>
                <a:ea typeface="Calibri" pitchFamily="34" charset="-122"/>
                <a:cs typeface="Calibri" pitchFamily="34" charset="-120"/>
              </a:rPr>
              <a:t>Select and Run the Test</a:t>
            </a:r>
            <a:endParaRPr lang="en-US" sz="1100" dirty="0"/>
          </a:p>
        </p:txBody>
      </p:sp>
      <p:sp>
        <p:nvSpPr>
          <p:cNvPr id="26" name="Text 24"/>
          <p:cNvSpPr/>
          <p:nvPr/>
        </p:nvSpPr>
        <p:spPr>
          <a:xfrm>
            <a:off x="4800600" y="2779776"/>
            <a:ext cx="3995928" cy="502920"/>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Choose the test based on: DV measurement level, number of groups, whether same or different subjects. Run the analysis in SPSS and generate output.</a:t>
            </a:r>
            <a:endParaRPr lang="en-US" sz="850" dirty="0"/>
          </a:p>
        </p:txBody>
      </p:sp>
      <p:sp>
        <p:nvSpPr>
          <p:cNvPr id="27" name="Text 25"/>
          <p:cNvSpPr/>
          <p:nvPr/>
        </p:nvSpPr>
        <p:spPr>
          <a:xfrm>
            <a:off x="4800600" y="3310128"/>
            <a:ext cx="3995928" cy="256032"/>
          </a:xfrm>
          <a:prstGeom prst="rect">
            <a:avLst/>
          </a:prstGeom>
          <a:noFill/>
          <a:ln/>
        </p:spPr>
        <p:txBody>
          <a:bodyPr wrap="square" lIns="0" tIns="0" rIns="0" bIns="0" rtlCol="0" anchor="ctr"/>
          <a:lstStyle/>
          <a:p>
            <a:pPr indent="0" marL="0">
              <a:buNone/>
            </a:pPr>
            <a:r>
              <a:rPr lang="en-US" sz="800" i="1" dirty="0">
                <a:solidFill>
                  <a:srgbClr val="E67E22"/>
                </a:solidFill>
                <a:latin typeface="Calibri" pitchFamily="34" charset="0"/>
                <a:ea typeface="Calibri" pitchFamily="34" charset="-122"/>
                <a:cs typeface="Calibri" pitchFamily="34" charset="-120"/>
              </a:rPr>
              <a:t>Rule: For gender comparison of sat_mean: Analyze &gt; Compare Means &gt; Independent Samples T-Test.</a:t>
            </a:r>
            <a:endParaRPr lang="en-US" sz="800" dirty="0"/>
          </a:p>
        </p:txBody>
      </p:sp>
      <p:sp>
        <p:nvSpPr>
          <p:cNvPr id="28" name="Shape 26"/>
          <p:cNvSpPr/>
          <p:nvPr/>
        </p:nvSpPr>
        <p:spPr>
          <a:xfrm>
            <a:off x="228600" y="3712464"/>
            <a:ext cx="4160520" cy="1261872"/>
          </a:xfrm>
          <a:prstGeom prst="roundRect">
            <a:avLst>
              <a:gd name="adj" fmla="val 5797"/>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9" name="Shape 27"/>
          <p:cNvSpPr/>
          <p:nvPr/>
        </p:nvSpPr>
        <p:spPr>
          <a:xfrm>
            <a:off x="320040" y="3822192"/>
            <a:ext cx="384048" cy="384048"/>
          </a:xfrm>
          <a:prstGeom prst="ellipse">
            <a:avLst/>
          </a:prstGeom>
          <a:solidFill>
            <a:srgbClr val="1A7A4A"/>
          </a:solidFill>
          <a:ln w="12700">
            <a:solidFill>
              <a:srgbClr val="1A7A4A"/>
            </a:solidFill>
            <a:prstDash val="solid"/>
          </a:ln>
        </p:spPr>
      </p:sp>
      <p:sp>
        <p:nvSpPr>
          <p:cNvPr id="30" name="Text 28"/>
          <p:cNvSpPr/>
          <p:nvPr/>
        </p:nvSpPr>
        <p:spPr>
          <a:xfrm>
            <a:off x="320040" y="3822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1" name="Text 29"/>
          <p:cNvSpPr/>
          <p:nvPr/>
        </p:nvSpPr>
        <p:spPr>
          <a:xfrm>
            <a:off x="795528" y="3803904"/>
            <a:ext cx="3474720" cy="274320"/>
          </a:xfrm>
          <a:prstGeom prst="rect">
            <a:avLst/>
          </a:prstGeom>
          <a:noFill/>
          <a:ln/>
        </p:spPr>
        <p:txBody>
          <a:bodyPr wrap="square" lIns="0" tIns="0" rIns="0" bIns="0" rtlCol="0" anchor="ctr"/>
          <a:lstStyle/>
          <a:p>
            <a:pPr indent="0" marL="0">
              <a:buNone/>
            </a:pPr>
            <a:r>
              <a:rPr lang="en-US" sz="1100" b="1" dirty="0">
                <a:solidFill>
                  <a:srgbClr val="1A7A4A"/>
                </a:solidFill>
                <a:latin typeface="Calibri" pitchFamily="34" charset="0"/>
                <a:ea typeface="Calibri" pitchFamily="34" charset="-122"/>
                <a:cs typeface="Calibri" pitchFamily="34" charset="-120"/>
              </a:rPr>
              <a:t>Find the p-Value</a:t>
            </a:r>
            <a:endParaRPr lang="en-US" sz="1100" dirty="0"/>
          </a:p>
        </p:txBody>
      </p:sp>
      <p:sp>
        <p:nvSpPr>
          <p:cNvPr id="32" name="Text 30"/>
          <p:cNvSpPr/>
          <p:nvPr/>
        </p:nvSpPr>
        <p:spPr>
          <a:xfrm>
            <a:off x="338328" y="4133088"/>
            <a:ext cx="3995928" cy="502920"/>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In SPSS output: look for 'Sig.' or 'Sig. (2-tailed)'. This is your p-value. Compare to alpha. In t-test output, FIRST check Levene's Sig. to choose correct row.</a:t>
            </a:r>
            <a:endParaRPr lang="en-US" sz="850" dirty="0"/>
          </a:p>
        </p:txBody>
      </p:sp>
      <p:sp>
        <p:nvSpPr>
          <p:cNvPr id="33" name="Text 31"/>
          <p:cNvSpPr/>
          <p:nvPr/>
        </p:nvSpPr>
        <p:spPr>
          <a:xfrm>
            <a:off x="338328" y="4663440"/>
            <a:ext cx="3995928" cy="256032"/>
          </a:xfrm>
          <a:prstGeom prst="rect">
            <a:avLst/>
          </a:prstGeom>
          <a:noFill/>
          <a:ln/>
        </p:spPr>
        <p:txBody>
          <a:bodyPr wrap="square" lIns="0" tIns="0" rIns="0" bIns="0" rtlCol="0" anchor="ctr"/>
          <a:lstStyle/>
          <a:p>
            <a:pPr indent="0" marL="0">
              <a:buNone/>
            </a:pPr>
            <a:r>
              <a:rPr lang="en-US" sz="800" i="1" dirty="0">
                <a:solidFill>
                  <a:srgbClr val="1A7A4A"/>
                </a:solidFill>
                <a:latin typeface="Calibri" pitchFamily="34" charset="0"/>
                <a:ea typeface="Calibri" pitchFamily="34" charset="-122"/>
                <a:cs typeface="Calibri" pitchFamily="34" charset="-120"/>
              </a:rPr>
              <a:t>Rule: If Levene's Sig. &gt; .05 → use Equal variances assumed row. If &lt; .05 → use Not assumed.</a:t>
            </a:r>
            <a:endParaRPr lang="en-US" sz="800" dirty="0"/>
          </a:p>
        </p:txBody>
      </p:sp>
      <p:sp>
        <p:nvSpPr>
          <p:cNvPr id="34" name="Shape 32"/>
          <p:cNvSpPr/>
          <p:nvPr/>
        </p:nvSpPr>
        <p:spPr>
          <a:xfrm>
            <a:off x="4690872" y="3712464"/>
            <a:ext cx="4160520" cy="1261872"/>
          </a:xfrm>
          <a:prstGeom prst="roundRect">
            <a:avLst>
              <a:gd name="adj" fmla="val 5797"/>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35" name="Shape 33"/>
          <p:cNvSpPr/>
          <p:nvPr/>
        </p:nvSpPr>
        <p:spPr>
          <a:xfrm>
            <a:off x="4782312" y="3822192"/>
            <a:ext cx="384048" cy="384048"/>
          </a:xfrm>
          <a:prstGeom prst="ellipse">
            <a:avLst/>
          </a:prstGeom>
          <a:solidFill>
            <a:srgbClr val="C0392B"/>
          </a:solidFill>
          <a:ln w="12700">
            <a:solidFill>
              <a:srgbClr val="C0392B"/>
            </a:solidFill>
            <a:prstDash val="solid"/>
          </a:ln>
        </p:spPr>
      </p:sp>
      <p:sp>
        <p:nvSpPr>
          <p:cNvPr id="36" name="Text 34"/>
          <p:cNvSpPr/>
          <p:nvPr/>
        </p:nvSpPr>
        <p:spPr>
          <a:xfrm>
            <a:off x="4782312" y="3822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7" name="Text 35"/>
          <p:cNvSpPr/>
          <p:nvPr/>
        </p:nvSpPr>
        <p:spPr>
          <a:xfrm>
            <a:off x="5257800" y="3803904"/>
            <a:ext cx="3474720" cy="274320"/>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Make the Decision</a:t>
            </a:r>
            <a:endParaRPr lang="en-US" sz="1100" dirty="0"/>
          </a:p>
        </p:txBody>
      </p:sp>
      <p:sp>
        <p:nvSpPr>
          <p:cNvPr id="38" name="Text 36"/>
          <p:cNvSpPr/>
          <p:nvPr/>
        </p:nvSpPr>
        <p:spPr>
          <a:xfrm>
            <a:off x="4800600" y="4133088"/>
            <a:ext cx="3995928" cy="502920"/>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p &lt; α (e.g., .031 &lt; .05): REJECT H0. Evidence supports H1 - a significant difference exists. p ≥ α (e.g., .203 ≥ .05): FAIL TO REJECT H0. Insufficient evidence for H1.</a:t>
            </a:r>
            <a:endParaRPr lang="en-US" sz="850" dirty="0"/>
          </a:p>
        </p:txBody>
      </p:sp>
      <p:sp>
        <p:nvSpPr>
          <p:cNvPr id="39" name="Text 37"/>
          <p:cNvSpPr/>
          <p:nvPr/>
        </p:nvSpPr>
        <p:spPr>
          <a:xfrm>
            <a:off x="4800600" y="4663440"/>
            <a:ext cx="3995928" cy="256032"/>
          </a:xfrm>
          <a:prstGeom prst="rect">
            <a:avLst/>
          </a:prstGeom>
          <a:noFill/>
          <a:ln/>
        </p:spPr>
        <p:txBody>
          <a:bodyPr wrap="square" lIns="0" tIns="0" rIns="0" bIns="0" rtlCol="0" anchor="ctr"/>
          <a:lstStyle/>
          <a:p>
            <a:pPr indent="0" marL="0">
              <a:buNone/>
            </a:pPr>
            <a:r>
              <a:rPr lang="en-US" sz="800" i="1" dirty="0">
                <a:solidFill>
                  <a:srgbClr val="C0392B"/>
                </a:solidFill>
                <a:latin typeface="Calibri" pitchFamily="34" charset="0"/>
                <a:ea typeface="Calibri" pitchFamily="34" charset="-122"/>
                <a:cs typeface="Calibri" pitchFamily="34" charset="-120"/>
              </a:rPr>
              <a:t>Rule: We NEVER 'accept' H0. We only fail to reject it. Absence of evidence is not evidence of absence.</a:t>
            </a:r>
            <a:endParaRPr lang="en-US" sz="800" dirty="0"/>
          </a:p>
        </p:txBody>
      </p:sp>
      <p:sp>
        <p:nvSpPr>
          <p:cNvPr id="40" name="Shape 38"/>
          <p:cNvSpPr/>
          <p:nvPr/>
        </p:nvSpPr>
        <p:spPr>
          <a:xfrm>
            <a:off x="2286000" y="5065776"/>
            <a:ext cx="4572000" cy="1261872"/>
          </a:xfrm>
          <a:prstGeom prst="roundRect">
            <a:avLst>
              <a:gd name="adj" fmla="val 5797"/>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41" name="Shape 39"/>
          <p:cNvSpPr/>
          <p:nvPr/>
        </p:nvSpPr>
        <p:spPr>
          <a:xfrm>
            <a:off x="2377440" y="5175504"/>
            <a:ext cx="384048" cy="384048"/>
          </a:xfrm>
          <a:prstGeom prst="ellipse">
            <a:avLst/>
          </a:prstGeom>
          <a:solidFill>
            <a:srgbClr val="7B2D8B"/>
          </a:solidFill>
          <a:ln w="12700">
            <a:solidFill>
              <a:srgbClr val="7B2D8B"/>
            </a:solidFill>
            <a:prstDash val="solid"/>
          </a:ln>
        </p:spPr>
      </p:sp>
      <p:sp>
        <p:nvSpPr>
          <p:cNvPr id="42" name="Text 40"/>
          <p:cNvSpPr/>
          <p:nvPr/>
        </p:nvSpPr>
        <p:spPr>
          <a:xfrm>
            <a:off x="2377440" y="51755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43" name="Text 41"/>
          <p:cNvSpPr/>
          <p:nvPr/>
        </p:nvSpPr>
        <p:spPr>
          <a:xfrm>
            <a:off x="2852928" y="5157216"/>
            <a:ext cx="3886200" cy="274320"/>
          </a:xfrm>
          <a:prstGeom prst="rect">
            <a:avLst/>
          </a:prstGeom>
          <a:noFill/>
          <a:ln/>
        </p:spPr>
        <p:txBody>
          <a:bodyPr wrap="square" lIns="0" tIns="0" rIns="0" bIns="0" rtlCol="0" anchor="ctr"/>
          <a:lstStyle/>
          <a:p>
            <a:pPr indent="0" marL="0">
              <a:buNone/>
            </a:pPr>
            <a:r>
              <a:rPr lang="en-US" sz="1100" b="1" dirty="0">
                <a:solidFill>
                  <a:srgbClr val="7B2D8B"/>
                </a:solidFill>
                <a:latin typeface="Calibri" pitchFamily="34" charset="0"/>
                <a:ea typeface="Calibri" pitchFamily="34" charset="-122"/>
                <a:cs typeface="Calibri" pitchFamily="34" charset="-120"/>
              </a:rPr>
              <a:t>Report with Effect Size</a:t>
            </a:r>
            <a:endParaRPr lang="en-US" sz="1100" dirty="0"/>
          </a:p>
        </p:txBody>
      </p:sp>
      <p:sp>
        <p:nvSpPr>
          <p:cNvPr id="44" name="Text 42"/>
          <p:cNvSpPr/>
          <p:nvPr/>
        </p:nvSpPr>
        <p:spPr>
          <a:xfrm>
            <a:off x="2395728" y="5486400"/>
            <a:ext cx="4407408" cy="502920"/>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t(298) = 2.86, p = .004, Cohen's d = 0.42. Report test statistic, df, p-value, AND effect size. Significant p without effect size is an incomplete result.</a:t>
            </a:r>
            <a:endParaRPr lang="en-US" sz="850" dirty="0"/>
          </a:p>
        </p:txBody>
      </p:sp>
      <p:sp>
        <p:nvSpPr>
          <p:cNvPr id="45" name="Text 43"/>
          <p:cNvSpPr/>
          <p:nvPr/>
        </p:nvSpPr>
        <p:spPr>
          <a:xfrm>
            <a:off x="2395728" y="6016752"/>
            <a:ext cx="4407408" cy="256032"/>
          </a:xfrm>
          <a:prstGeom prst="rect">
            <a:avLst/>
          </a:prstGeom>
          <a:noFill/>
          <a:ln/>
        </p:spPr>
        <p:txBody>
          <a:bodyPr wrap="square" lIns="0" tIns="0" rIns="0" bIns="0" rtlCol="0" anchor="ctr"/>
          <a:lstStyle/>
          <a:p>
            <a:pPr indent="0" marL="0">
              <a:buNone/>
            </a:pPr>
            <a:r>
              <a:rPr lang="en-US" sz="800" i="1" dirty="0">
                <a:solidFill>
                  <a:srgbClr val="7B2D8B"/>
                </a:solidFill>
                <a:latin typeface="Calibri" pitchFamily="34" charset="0"/>
                <a:ea typeface="Calibri" pitchFamily="34" charset="-122"/>
                <a:cs typeface="Calibri" pitchFamily="34" charset="-120"/>
              </a:rPr>
              <a:t>Rule: Effect size shows practical importance, independent of sample size. Always include it.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5C1A6B">
              <a:alpha val="18000"/>
            </a:srgbClr>
          </a:solidFill>
          <a:ln w="12700">
            <a:solidFill>
              <a:srgbClr val="5C1A6B"/>
            </a:solidFill>
            <a:prstDash val="solid"/>
          </a:ln>
        </p:spPr>
      </p:sp>
      <p:sp>
        <p:nvSpPr>
          <p:cNvPr id="3" name="Text 1"/>
          <p:cNvSpPr/>
          <p:nvPr/>
        </p:nvSpPr>
        <p:spPr>
          <a:xfrm>
            <a:off x="457200" y="201168"/>
            <a:ext cx="8229600" cy="62179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p-Value and Effect Size - Understanding Both Together</a:t>
            </a:r>
            <a:endParaRPr lang="en-US" sz="2700" dirty="0"/>
          </a:p>
        </p:txBody>
      </p:sp>
      <p:sp>
        <p:nvSpPr>
          <p:cNvPr id="4" name="Shape 2"/>
          <p:cNvSpPr/>
          <p:nvPr/>
        </p:nvSpPr>
        <p:spPr>
          <a:xfrm>
            <a:off x="274320" y="914400"/>
            <a:ext cx="1920240" cy="3520440"/>
          </a:xfrm>
          <a:prstGeom prst="roundRect">
            <a:avLst>
              <a:gd name="adj" fmla="val 5714"/>
            </a:avLst>
          </a:prstGeom>
          <a:solidFill>
            <a:srgbClr val="2D1135"/>
          </a:solidFill>
          <a:ln w="12700">
            <a:solidFill>
              <a:srgbClr val="7B2D8B"/>
            </a:solidFill>
            <a:prstDash val="solid"/>
          </a:ln>
        </p:spPr>
      </p:sp>
      <p:sp>
        <p:nvSpPr>
          <p:cNvPr id="5" name="Text 3"/>
          <p:cNvSpPr/>
          <p:nvPr/>
        </p:nvSpPr>
        <p:spPr>
          <a:xfrm>
            <a:off x="274320" y="1005840"/>
            <a:ext cx="1920240" cy="1188720"/>
          </a:xfrm>
          <a:prstGeom prst="rect">
            <a:avLst/>
          </a:prstGeom>
          <a:noFill/>
          <a:ln/>
        </p:spPr>
        <p:txBody>
          <a:bodyPr wrap="square" lIns="0" tIns="0" rIns="0" bIns="0" rtlCol="0" anchor="ctr"/>
          <a:lstStyle/>
          <a:p>
            <a:pPr algn="ctr" indent="0" marL="0">
              <a:buNone/>
            </a:pPr>
            <a:r>
              <a:rPr lang="en-US" sz="8800" b="1" i="1" dirty="0">
                <a:solidFill>
                  <a:srgbClr val="F0C040"/>
                </a:solidFill>
                <a:latin typeface="Cambria" pitchFamily="34" charset="0"/>
                <a:ea typeface="Cambria" pitchFamily="34" charset="-122"/>
                <a:cs typeface="Cambria" pitchFamily="34" charset="-120"/>
              </a:rPr>
              <a:t>p</a:t>
            </a:r>
            <a:endParaRPr lang="en-US" sz="8800" dirty="0"/>
          </a:p>
        </p:txBody>
      </p:sp>
      <p:sp>
        <p:nvSpPr>
          <p:cNvPr id="6" name="Text 4"/>
          <p:cNvSpPr/>
          <p:nvPr/>
        </p:nvSpPr>
        <p:spPr>
          <a:xfrm>
            <a:off x="274320" y="2304288"/>
            <a:ext cx="1920240" cy="45720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Probability</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Value</a:t>
            </a:r>
            <a:endParaRPr lang="en-US" sz="1300" dirty="0"/>
          </a:p>
        </p:txBody>
      </p:sp>
      <p:sp>
        <p:nvSpPr>
          <p:cNvPr id="7" name="Text 5"/>
          <p:cNvSpPr/>
          <p:nvPr/>
        </p:nvSpPr>
        <p:spPr>
          <a:xfrm>
            <a:off x="274320" y="2816352"/>
            <a:ext cx="1920240" cy="274320"/>
          </a:xfrm>
          <a:prstGeom prst="rect">
            <a:avLst/>
          </a:prstGeom>
          <a:noFill/>
          <a:ln/>
        </p:spPr>
        <p:txBody>
          <a:bodyPr wrap="square" lIns="0" tIns="0" rIns="0" bIns="0" rtlCol="0" anchor="ctr"/>
          <a:lstStyle/>
          <a:p>
            <a:pPr algn="ctr" indent="0" marL="0">
              <a:buNone/>
            </a:pPr>
            <a:r>
              <a:rPr lang="en-US" sz="1000" dirty="0">
                <a:solidFill>
                  <a:srgbClr val="C8A8E8"/>
                </a:solidFill>
                <a:latin typeface="Calibri" pitchFamily="34" charset="0"/>
                <a:ea typeface="Calibri" pitchFamily="34" charset="-122"/>
                <a:cs typeface="Calibri" pitchFamily="34" charset="-120"/>
              </a:rPr>
              <a:t>Range: 0.000 to 1.000</a:t>
            </a:r>
            <a:endParaRPr lang="en-US" sz="1000" dirty="0"/>
          </a:p>
        </p:txBody>
      </p:sp>
      <p:sp>
        <p:nvSpPr>
          <p:cNvPr id="8" name="Text 6"/>
          <p:cNvSpPr/>
          <p:nvPr/>
        </p:nvSpPr>
        <p:spPr>
          <a:xfrm>
            <a:off x="274320" y="3163824"/>
            <a:ext cx="1920240" cy="292608"/>
          </a:xfrm>
          <a:prstGeom prst="rect">
            <a:avLst/>
          </a:prstGeom>
          <a:noFill/>
          <a:ln/>
        </p:spPr>
        <p:txBody>
          <a:bodyPr wrap="square" lIns="0" tIns="0" rIns="0" bIns="0" rtlCol="0" anchor="ctr"/>
          <a:lstStyle/>
          <a:p>
            <a:pPr algn="ctr" indent="0" marL="0">
              <a:buNone/>
            </a:pPr>
            <a:r>
              <a:rPr lang="en-US" sz="1100" b="1" dirty="0">
                <a:solidFill>
                  <a:srgbClr val="D4A017"/>
                </a:solidFill>
                <a:latin typeface="Calibri" pitchFamily="34" charset="0"/>
                <a:ea typeface="Calibri" pitchFamily="34" charset="-122"/>
                <a:cs typeface="Calibri" pitchFamily="34" charset="-120"/>
              </a:rPr>
              <a:t>Threshold α = .05</a:t>
            </a:r>
            <a:endParaRPr lang="en-US" sz="1100" dirty="0"/>
          </a:p>
        </p:txBody>
      </p:sp>
      <p:sp>
        <p:nvSpPr>
          <p:cNvPr id="9" name="Shape 7"/>
          <p:cNvSpPr/>
          <p:nvPr/>
        </p:nvSpPr>
        <p:spPr>
          <a:xfrm>
            <a:off x="2359152" y="932688"/>
            <a:ext cx="6492240" cy="1078992"/>
          </a:xfrm>
          <a:prstGeom prst="roundRect">
            <a:avLst>
              <a:gd name="adj" fmla="val 6780"/>
            </a:avLst>
          </a:prstGeom>
          <a:solidFill>
            <a:srgbClr val="1A3020"/>
          </a:solidFill>
          <a:ln w="15240">
            <a:solidFill>
              <a:srgbClr val="27AE60"/>
            </a:solidFill>
            <a:prstDash val="solid"/>
          </a:ln>
        </p:spPr>
      </p:sp>
      <p:sp>
        <p:nvSpPr>
          <p:cNvPr id="10" name="Shape 8"/>
          <p:cNvSpPr/>
          <p:nvPr/>
        </p:nvSpPr>
        <p:spPr>
          <a:xfrm>
            <a:off x="2432304" y="1024128"/>
            <a:ext cx="804672" cy="502920"/>
          </a:xfrm>
          <a:prstGeom prst="roundRect">
            <a:avLst>
              <a:gd name="adj" fmla="val 10909"/>
            </a:avLst>
          </a:prstGeom>
          <a:solidFill>
            <a:srgbClr val="27AE60"/>
          </a:solidFill>
          <a:ln w="12700">
            <a:solidFill>
              <a:srgbClr val="27AE60"/>
            </a:solidFill>
            <a:prstDash val="solid"/>
          </a:ln>
        </p:spPr>
      </p:sp>
      <p:sp>
        <p:nvSpPr>
          <p:cNvPr id="11" name="Text 9"/>
          <p:cNvSpPr/>
          <p:nvPr/>
        </p:nvSpPr>
        <p:spPr>
          <a:xfrm>
            <a:off x="2432304" y="1024128"/>
            <a:ext cx="804672" cy="502920"/>
          </a:xfrm>
          <a:prstGeom prst="rect">
            <a:avLst/>
          </a:prstGeom>
          <a:noFill/>
          <a:ln/>
        </p:spPr>
        <p:txBody>
          <a:bodyPr wrap="square" lIns="0" tIns="0" rIns="0" bIns="0" rtlCol="0" anchor="ctr"/>
          <a:lstStyle/>
          <a:p>
            <a:pPr algn="ctr" indent="0" marL="0">
              <a:buNone/>
            </a:pPr>
            <a:r>
              <a:rPr lang="en-US" sz="950" b="1" dirty="0">
                <a:solidFill>
                  <a:srgbClr val="1A0A1E"/>
                </a:solidFill>
                <a:latin typeface="Calibri" pitchFamily="34" charset="0"/>
                <a:ea typeface="Calibri" pitchFamily="34" charset="-122"/>
                <a:cs typeface="Calibri" pitchFamily="34" charset="-120"/>
              </a:rPr>
              <a:t>p &lt; .05</a:t>
            </a:r>
            <a:endParaRPr lang="en-US" sz="950" dirty="0"/>
          </a:p>
        </p:txBody>
      </p:sp>
      <p:sp>
        <p:nvSpPr>
          <p:cNvPr id="12" name="Text 10"/>
          <p:cNvSpPr/>
          <p:nvPr/>
        </p:nvSpPr>
        <p:spPr>
          <a:xfrm>
            <a:off x="3328416" y="1024128"/>
            <a:ext cx="5340096" cy="274320"/>
          </a:xfrm>
          <a:prstGeom prst="rect">
            <a:avLst/>
          </a:prstGeom>
          <a:noFill/>
          <a:ln/>
        </p:spPr>
        <p:txBody>
          <a:bodyPr wrap="square" lIns="0" tIns="0" rIns="0" bIns="0" rtlCol="0" anchor="ctr"/>
          <a:lstStyle/>
          <a:p>
            <a:pPr indent="0" marL="0">
              <a:buNone/>
            </a:pPr>
            <a:r>
              <a:rPr lang="en-US" sz="1200" b="1" dirty="0">
                <a:solidFill>
                  <a:srgbClr val="27AE60"/>
                </a:solidFill>
                <a:latin typeface="Calibri" pitchFamily="34" charset="0"/>
                <a:ea typeface="Calibri" pitchFamily="34" charset="-122"/>
                <a:cs typeface="Calibri" pitchFamily="34" charset="-120"/>
              </a:rPr>
              <a:t>STATISTICALLY SIGNIFICANT</a:t>
            </a:r>
            <a:endParaRPr lang="en-US" sz="1200" dirty="0"/>
          </a:p>
        </p:txBody>
      </p:sp>
      <p:sp>
        <p:nvSpPr>
          <p:cNvPr id="13" name="Text 11"/>
          <p:cNvSpPr/>
          <p:nvPr/>
        </p:nvSpPr>
        <p:spPr>
          <a:xfrm>
            <a:off x="3328416" y="1335024"/>
            <a:ext cx="5340096" cy="603504"/>
          </a:xfrm>
          <a:prstGeom prst="rect">
            <a:avLst/>
          </a:prstGeom>
          <a:noFill/>
          <a:ln/>
        </p:spPr>
        <p:txBody>
          <a:bodyPr wrap="square" lIns="0" tIns="0" rIns="0" bIns="0" rtlCol="0" anchor="ctr"/>
          <a:lstStyle/>
          <a:p>
            <a:pPr indent="0" marL="0">
              <a:buNone/>
            </a:pPr>
            <a:r>
              <a:rPr lang="en-US" sz="950" dirty="0">
                <a:solidFill>
                  <a:srgbClr val="C8A8E8"/>
                </a:solidFill>
                <a:latin typeface="Calibri" pitchFamily="34" charset="0"/>
                <a:ea typeface="Calibri" pitchFamily="34" charset="-122"/>
                <a:cs typeface="Calibri" pitchFamily="34" charset="-120"/>
              </a:rPr>
              <a:t>The probability of getting this result by chance (assuming H0 is true) is less than 5%. REJECT H0. Evidence supports that a real difference or relationship exists in the population.</a:t>
            </a:r>
            <a:endParaRPr lang="en-US" sz="950" dirty="0"/>
          </a:p>
        </p:txBody>
      </p:sp>
      <p:sp>
        <p:nvSpPr>
          <p:cNvPr id="14" name="Shape 12"/>
          <p:cNvSpPr/>
          <p:nvPr/>
        </p:nvSpPr>
        <p:spPr>
          <a:xfrm>
            <a:off x="2359152" y="2103120"/>
            <a:ext cx="6492240" cy="1078992"/>
          </a:xfrm>
          <a:prstGeom prst="roundRect">
            <a:avLst>
              <a:gd name="adj" fmla="val 6780"/>
            </a:avLst>
          </a:prstGeom>
          <a:solidFill>
            <a:srgbClr val="3A1010"/>
          </a:solidFill>
          <a:ln w="15240">
            <a:solidFill>
              <a:srgbClr val="C0392B"/>
            </a:solidFill>
            <a:prstDash val="solid"/>
          </a:ln>
        </p:spPr>
      </p:sp>
      <p:sp>
        <p:nvSpPr>
          <p:cNvPr id="15" name="Shape 13"/>
          <p:cNvSpPr/>
          <p:nvPr/>
        </p:nvSpPr>
        <p:spPr>
          <a:xfrm>
            <a:off x="2432304" y="2194560"/>
            <a:ext cx="804672" cy="502920"/>
          </a:xfrm>
          <a:prstGeom prst="roundRect">
            <a:avLst>
              <a:gd name="adj" fmla="val 10909"/>
            </a:avLst>
          </a:prstGeom>
          <a:solidFill>
            <a:srgbClr val="C0392B"/>
          </a:solidFill>
          <a:ln w="12700">
            <a:solidFill>
              <a:srgbClr val="C0392B"/>
            </a:solidFill>
            <a:prstDash val="solid"/>
          </a:ln>
        </p:spPr>
      </p:sp>
      <p:sp>
        <p:nvSpPr>
          <p:cNvPr id="16" name="Text 14"/>
          <p:cNvSpPr/>
          <p:nvPr/>
        </p:nvSpPr>
        <p:spPr>
          <a:xfrm>
            <a:off x="2432304" y="2194560"/>
            <a:ext cx="804672" cy="502920"/>
          </a:xfrm>
          <a:prstGeom prst="rect">
            <a:avLst/>
          </a:prstGeom>
          <a:noFill/>
          <a:ln/>
        </p:spPr>
        <p:txBody>
          <a:bodyPr wrap="square" lIns="0" tIns="0" rIns="0" bIns="0" rtlCol="0" anchor="ctr"/>
          <a:lstStyle/>
          <a:p>
            <a:pPr algn="ctr" indent="0" marL="0">
              <a:buNone/>
            </a:pPr>
            <a:r>
              <a:rPr lang="en-US" sz="950" b="1" dirty="0">
                <a:solidFill>
                  <a:srgbClr val="1A0A1E"/>
                </a:solidFill>
                <a:latin typeface="Calibri" pitchFamily="34" charset="0"/>
                <a:ea typeface="Calibri" pitchFamily="34" charset="-122"/>
                <a:cs typeface="Calibri" pitchFamily="34" charset="-120"/>
              </a:rPr>
              <a:t>p &gt; .05</a:t>
            </a:r>
            <a:endParaRPr lang="en-US" sz="950" dirty="0"/>
          </a:p>
        </p:txBody>
      </p:sp>
      <p:sp>
        <p:nvSpPr>
          <p:cNvPr id="17" name="Text 15"/>
          <p:cNvSpPr/>
          <p:nvPr/>
        </p:nvSpPr>
        <p:spPr>
          <a:xfrm>
            <a:off x="3328416" y="2194560"/>
            <a:ext cx="5340096"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NOT STATISTICALLY SIGNIFICANT</a:t>
            </a:r>
            <a:endParaRPr lang="en-US" sz="1200" dirty="0"/>
          </a:p>
        </p:txBody>
      </p:sp>
      <p:sp>
        <p:nvSpPr>
          <p:cNvPr id="18" name="Text 16"/>
          <p:cNvSpPr/>
          <p:nvPr/>
        </p:nvSpPr>
        <p:spPr>
          <a:xfrm>
            <a:off x="3328416" y="2505456"/>
            <a:ext cx="5340096" cy="603504"/>
          </a:xfrm>
          <a:prstGeom prst="rect">
            <a:avLst/>
          </a:prstGeom>
          <a:noFill/>
          <a:ln/>
        </p:spPr>
        <p:txBody>
          <a:bodyPr wrap="square" lIns="0" tIns="0" rIns="0" bIns="0" rtlCol="0" anchor="ctr"/>
          <a:lstStyle/>
          <a:p>
            <a:pPr indent="0" marL="0">
              <a:buNone/>
            </a:pPr>
            <a:r>
              <a:rPr lang="en-US" sz="950" dirty="0">
                <a:solidFill>
                  <a:srgbClr val="C8A8E8"/>
                </a:solidFill>
                <a:latin typeface="Calibri" pitchFamily="34" charset="0"/>
                <a:ea typeface="Calibri" pitchFamily="34" charset="-122"/>
                <a:cs typeface="Calibri" pitchFamily="34" charset="-120"/>
              </a:rPr>
              <a:t>More than 5% probability that the result occurred by random sampling variation. FAIL TO REJECT H0. Insufficient evidence to conclude the effect is real - does NOT mean the effect is zero.</a:t>
            </a:r>
            <a:endParaRPr lang="en-US" sz="950" dirty="0"/>
          </a:p>
        </p:txBody>
      </p:sp>
      <p:sp>
        <p:nvSpPr>
          <p:cNvPr id="19" name="Shape 17"/>
          <p:cNvSpPr/>
          <p:nvPr/>
        </p:nvSpPr>
        <p:spPr>
          <a:xfrm>
            <a:off x="2359152" y="3273552"/>
            <a:ext cx="6492240" cy="1078992"/>
          </a:xfrm>
          <a:prstGeom prst="roundRect">
            <a:avLst>
              <a:gd name="adj" fmla="val 6780"/>
            </a:avLst>
          </a:prstGeom>
          <a:solidFill>
            <a:srgbClr val="0F2040"/>
          </a:solidFill>
          <a:ln w="15240">
            <a:solidFill>
              <a:srgbClr val="2471A3"/>
            </a:solidFill>
            <a:prstDash val="solid"/>
          </a:ln>
        </p:spPr>
      </p:sp>
      <p:sp>
        <p:nvSpPr>
          <p:cNvPr id="20" name="Shape 18"/>
          <p:cNvSpPr/>
          <p:nvPr/>
        </p:nvSpPr>
        <p:spPr>
          <a:xfrm>
            <a:off x="2432304" y="3364992"/>
            <a:ext cx="804672" cy="502920"/>
          </a:xfrm>
          <a:prstGeom prst="roundRect">
            <a:avLst>
              <a:gd name="adj" fmla="val 10909"/>
            </a:avLst>
          </a:prstGeom>
          <a:solidFill>
            <a:srgbClr val="2471A3"/>
          </a:solidFill>
          <a:ln w="12700">
            <a:solidFill>
              <a:srgbClr val="2471A3"/>
            </a:solidFill>
            <a:prstDash val="solid"/>
          </a:ln>
        </p:spPr>
      </p:sp>
      <p:sp>
        <p:nvSpPr>
          <p:cNvPr id="21" name="Text 19"/>
          <p:cNvSpPr/>
          <p:nvPr/>
        </p:nvSpPr>
        <p:spPr>
          <a:xfrm>
            <a:off x="2432304" y="3364992"/>
            <a:ext cx="804672" cy="502920"/>
          </a:xfrm>
          <a:prstGeom prst="rect">
            <a:avLst/>
          </a:prstGeom>
          <a:noFill/>
          <a:ln/>
        </p:spPr>
        <p:txBody>
          <a:bodyPr wrap="square" lIns="0" tIns="0" rIns="0" bIns="0" rtlCol="0" anchor="ctr"/>
          <a:lstStyle/>
          <a:p>
            <a:pPr algn="ctr" indent="0" marL="0">
              <a:buNone/>
            </a:pPr>
            <a:r>
              <a:rPr lang="en-US" sz="950" b="1" dirty="0">
                <a:solidFill>
                  <a:srgbClr val="1A0A1E"/>
                </a:solidFill>
                <a:latin typeface="Calibri" pitchFamily="34" charset="0"/>
                <a:ea typeface="Calibri" pitchFamily="34" charset="-122"/>
                <a:cs typeface="Calibri" pitchFamily="34" charset="-120"/>
              </a:rPr>
              <a:t>p = .001</a:t>
            </a:r>
            <a:endParaRPr lang="en-US" sz="950" dirty="0"/>
          </a:p>
        </p:txBody>
      </p:sp>
      <p:sp>
        <p:nvSpPr>
          <p:cNvPr id="22" name="Text 20"/>
          <p:cNvSpPr/>
          <p:nvPr/>
        </p:nvSpPr>
        <p:spPr>
          <a:xfrm>
            <a:off x="3328416" y="3364992"/>
            <a:ext cx="5340096"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HIGHLY SIGNIFICANT</a:t>
            </a:r>
            <a:endParaRPr lang="en-US" sz="1200" dirty="0"/>
          </a:p>
        </p:txBody>
      </p:sp>
      <p:sp>
        <p:nvSpPr>
          <p:cNvPr id="23" name="Text 21"/>
          <p:cNvSpPr/>
          <p:nvPr/>
        </p:nvSpPr>
        <p:spPr>
          <a:xfrm>
            <a:off x="3328416" y="3675888"/>
            <a:ext cx="5340096" cy="603504"/>
          </a:xfrm>
          <a:prstGeom prst="rect">
            <a:avLst/>
          </a:prstGeom>
          <a:noFill/>
          <a:ln/>
        </p:spPr>
        <p:txBody>
          <a:bodyPr wrap="square" lIns="0" tIns="0" rIns="0" bIns="0" rtlCol="0" anchor="ctr"/>
          <a:lstStyle/>
          <a:p>
            <a:pPr indent="0" marL="0">
              <a:buNone/>
            </a:pPr>
            <a:r>
              <a:rPr lang="en-US" sz="950" dirty="0">
                <a:solidFill>
                  <a:srgbClr val="C8A8E8"/>
                </a:solidFill>
                <a:latin typeface="Calibri" pitchFamily="34" charset="0"/>
                <a:ea typeface="Calibri" pitchFamily="34" charset="-122"/>
                <a:cs typeface="Calibri" pitchFamily="34" charset="-120"/>
              </a:rPr>
              <a:t>Used in medical and clinical research with stricter thresholds (α = .01 or α = .001). Always declare your significance level BEFORE seeing results - not after.</a:t>
            </a:r>
            <a:endParaRPr lang="en-US" sz="950" dirty="0"/>
          </a:p>
        </p:txBody>
      </p:sp>
      <p:sp>
        <p:nvSpPr>
          <p:cNvPr id="24" name="Shape 22"/>
          <p:cNvSpPr/>
          <p:nvPr/>
        </p:nvSpPr>
        <p:spPr>
          <a:xfrm>
            <a:off x="274320" y="4498848"/>
            <a:ext cx="8595360" cy="566928"/>
          </a:xfrm>
          <a:prstGeom prst="roundRect">
            <a:avLst>
              <a:gd name="adj" fmla="val 11290"/>
            </a:avLst>
          </a:prstGeom>
          <a:solidFill>
            <a:srgbClr val="2D1135"/>
          </a:solidFill>
          <a:ln w="12700">
            <a:solidFill>
              <a:srgbClr val="D4A017"/>
            </a:solidFill>
            <a:prstDash val="solid"/>
          </a:ln>
        </p:spPr>
      </p:sp>
      <p:sp>
        <p:nvSpPr>
          <p:cNvPr id="25" name="Text 23"/>
          <p:cNvSpPr/>
          <p:nvPr/>
        </p:nvSpPr>
        <p:spPr>
          <a:xfrm>
            <a:off x="402336" y="4535424"/>
            <a:ext cx="1645920" cy="256032"/>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Effect Size Reference:</a:t>
            </a:r>
            <a:endParaRPr lang="en-US" sz="1000" dirty="0"/>
          </a:p>
        </p:txBody>
      </p:sp>
      <p:sp>
        <p:nvSpPr>
          <p:cNvPr id="26" name="Text 24"/>
          <p:cNvSpPr/>
          <p:nvPr/>
        </p:nvSpPr>
        <p:spPr>
          <a:xfrm>
            <a:off x="2103120" y="4517136"/>
            <a:ext cx="1133856" cy="128016"/>
          </a:xfrm>
          <a:prstGeom prst="rect">
            <a:avLst/>
          </a:prstGeom>
          <a:noFill/>
          <a:ln/>
        </p:spPr>
        <p:txBody>
          <a:bodyPr wrap="square" lIns="0" tIns="0" rIns="0" bIns="0" rtlCol="0" anchor="ctr"/>
          <a:lstStyle/>
          <a:p>
            <a:pPr algn="ctr" indent="0" marL="0">
              <a:buNone/>
            </a:pPr>
            <a:r>
              <a:rPr lang="en-US" sz="750" b="1" dirty="0">
                <a:solidFill>
                  <a:srgbClr val="D4A017"/>
                </a:solidFill>
                <a:latin typeface="Calibri" pitchFamily="34" charset="0"/>
                <a:ea typeface="Calibri" pitchFamily="34" charset="-122"/>
                <a:cs typeface="Calibri" pitchFamily="34" charset="-120"/>
              </a:rPr>
              <a:t>T-Test</a:t>
            </a:r>
            <a:endParaRPr lang="en-US" sz="750" dirty="0"/>
          </a:p>
        </p:txBody>
      </p:sp>
      <p:sp>
        <p:nvSpPr>
          <p:cNvPr id="27" name="Text 25"/>
          <p:cNvSpPr/>
          <p:nvPr/>
        </p:nvSpPr>
        <p:spPr>
          <a:xfrm>
            <a:off x="3273552" y="4517136"/>
            <a:ext cx="1261872" cy="128016"/>
          </a:xfrm>
          <a:prstGeom prst="rect">
            <a:avLst/>
          </a:prstGeom>
          <a:noFill/>
          <a:ln/>
        </p:spPr>
        <p:txBody>
          <a:bodyPr wrap="square" lIns="0" tIns="0" rIns="0" bIns="0" rtlCol="0" anchor="ctr"/>
          <a:lstStyle/>
          <a:p>
            <a:pPr algn="ctr" indent="0" marL="0">
              <a:buNone/>
            </a:pPr>
            <a:r>
              <a:rPr lang="en-US" sz="750" b="1" dirty="0">
                <a:solidFill>
                  <a:srgbClr val="D4A017"/>
                </a:solidFill>
                <a:latin typeface="Calibri" pitchFamily="34" charset="0"/>
                <a:ea typeface="Calibri" pitchFamily="34" charset="-122"/>
                <a:cs typeface="Calibri" pitchFamily="34" charset="-120"/>
              </a:rPr>
              <a:t>Cohen's d</a:t>
            </a:r>
            <a:endParaRPr lang="en-US" sz="750" dirty="0"/>
          </a:p>
        </p:txBody>
      </p:sp>
      <p:sp>
        <p:nvSpPr>
          <p:cNvPr id="28" name="Text 26"/>
          <p:cNvSpPr/>
          <p:nvPr/>
        </p:nvSpPr>
        <p:spPr>
          <a:xfrm>
            <a:off x="4572000" y="4517136"/>
            <a:ext cx="1335024"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Small d=.20</a:t>
            </a:r>
            <a:endParaRPr lang="en-US" sz="750" dirty="0"/>
          </a:p>
        </p:txBody>
      </p:sp>
      <p:sp>
        <p:nvSpPr>
          <p:cNvPr id="29" name="Text 27"/>
          <p:cNvSpPr/>
          <p:nvPr/>
        </p:nvSpPr>
        <p:spPr>
          <a:xfrm>
            <a:off x="5943600" y="4517136"/>
            <a:ext cx="1335024"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Medium d=.50</a:t>
            </a:r>
            <a:endParaRPr lang="en-US" sz="750" dirty="0"/>
          </a:p>
        </p:txBody>
      </p:sp>
      <p:sp>
        <p:nvSpPr>
          <p:cNvPr id="30" name="Text 28"/>
          <p:cNvSpPr/>
          <p:nvPr/>
        </p:nvSpPr>
        <p:spPr>
          <a:xfrm>
            <a:off x="7315200" y="4517136"/>
            <a:ext cx="1371600"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Large d=.80</a:t>
            </a:r>
            <a:endParaRPr lang="en-US" sz="750" dirty="0"/>
          </a:p>
        </p:txBody>
      </p:sp>
      <p:sp>
        <p:nvSpPr>
          <p:cNvPr id="31" name="Text 29"/>
          <p:cNvSpPr/>
          <p:nvPr/>
        </p:nvSpPr>
        <p:spPr>
          <a:xfrm>
            <a:off x="2103120" y="4645152"/>
            <a:ext cx="1133856" cy="128016"/>
          </a:xfrm>
          <a:prstGeom prst="rect">
            <a:avLst/>
          </a:prstGeom>
          <a:noFill/>
          <a:ln/>
        </p:spPr>
        <p:txBody>
          <a:bodyPr wrap="square" lIns="0" tIns="0" rIns="0" bIns="0" rtlCol="0" anchor="ctr"/>
          <a:lstStyle/>
          <a:p>
            <a:pPr algn="ctr" indent="0" marL="0">
              <a:buNone/>
            </a:pPr>
            <a:r>
              <a:rPr lang="en-US" sz="750" b="1" dirty="0">
                <a:solidFill>
                  <a:srgbClr val="D4A017"/>
                </a:solidFill>
                <a:latin typeface="Calibri" pitchFamily="34" charset="0"/>
                <a:ea typeface="Calibri" pitchFamily="34" charset="-122"/>
                <a:cs typeface="Calibri" pitchFamily="34" charset="-120"/>
              </a:rPr>
              <a:t>ANOVA</a:t>
            </a:r>
            <a:endParaRPr lang="en-US" sz="750" dirty="0"/>
          </a:p>
        </p:txBody>
      </p:sp>
      <p:sp>
        <p:nvSpPr>
          <p:cNvPr id="32" name="Text 30"/>
          <p:cNvSpPr/>
          <p:nvPr/>
        </p:nvSpPr>
        <p:spPr>
          <a:xfrm>
            <a:off x="3273552" y="4645152"/>
            <a:ext cx="1261872" cy="128016"/>
          </a:xfrm>
          <a:prstGeom prst="rect">
            <a:avLst/>
          </a:prstGeom>
          <a:noFill/>
          <a:ln/>
        </p:spPr>
        <p:txBody>
          <a:bodyPr wrap="square" lIns="0" tIns="0" rIns="0" bIns="0" rtlCol="0" anchor="ctr"/>
          <a:lstStyle/>
          <a:p>
            <a:pPr algn="ctr" indent="0" marL="0">
              <a:buNone/>
            </a:pPr>
            <a:r>
              <a:rPr lang="en-US" sz="750" b="1" dirty="0">
                <a:solidFill>
                  <a:srgbClr val="D4A017"/>
                </a:solidFill>
                <a:latin typeface="Calibri" pitchFamily="34" charset="0"/>
                <a:ea typeface="Calibri" pitchFamily="34" charset="-122"/>
                <a:cs typeface="Calibri" pitchFamily="34" charset="-120"/>
              </a:rPr>
              <a:t>Eta-squared</a:t>
            </a:r>
            <a:endParaRPr lang="en-US" sz="750" dirty="0"/>
          </a:p>
        </p:txBody>
      </p:sp>
      <p:sp>
        <p:nvSpPr>
          <p:cNvPr id="33" name="Text 31"/>
          <p:cNvSpPr/>
          <p:nvPr/>
        </p:nvSpPr>
        <p:spPr>
          <a:xfrm>
            <a:off x="4572000" y="4645152"/>
            <a:ext cx="1335024"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Small η²=.01</a:t>
            </a:r>
            <a:endParaRPr lang="en-US" sz="750" dirty="0"/>
          </a:p>
        </p:txBody>
      </p:sp>
      <p:sp>
        <p:nvSpPr>
          <p:cNvPr id="34" name="Text 32"/>
          <p:cNvSpPr/>
          <p:nvPr/>
        </p:nvSpPr>
        <p:spPr>
          <a:xfrm>
            <a:off x="5943600" y="4645152"/>
            <a:ext cx="1335024"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Medium η²=.06</a:t>
            </a:r>
            <a:endParaRPr lang="en-US" sz="750" dirty="0"/>
          </a:p>
        </p:txBody>
      </p:sp>
      <p:sp>
        <p:nvSpPr>
          <p:cNvPr id="35" name="Text 33"/>
          <p:cNvSpPr/>
          <p:nvPr/>
        </p:nvSpPr>
        <p:spPr>
          <a:xfrm>
            <a:off x="7315200" y="4645152"/>
            <a:ext cx="1371600"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Large η²=.14</a:t>
            </a:r>
            <a:endParaRPr lang="en-US" sz="750" dirty="0"/>
          </a:p>
        </p:txBody>
      </p:sp>
      <p:sp>
        <p:nvSpPr>
          <p:cNvPr id="36" name="Text 34"/>
          <p:cNvSpPr/>
          <p:nvPr/>
        </p:nvSpPr>
        <p:spPr>
          <a:xfrm>
            <a:off x="2103120" y="4773168"/>
            <a:ext cx="1133856" cy="128016"/>
          </a:xfrm>
          <a:prstGeom prst="rect">
            <a:avLst/>
          </a:prstGeom>
          <a:noFill/>
          <a:ln/>
        </p:spPr>
        <p:txBody>
          <a:bodyPr wrap="square" lIns="0" tIns="0" rIns="0" bIns="0" rtlCol="0" anchor="ctr"/>
          <a:lstStyle/>
          <a:p>
            <a:pPr algn="ctr" indent="0" marL="0">
              <a:buNone/>
            </a:pPr>
            <a:r>
              <a:rPr lang="en-US" sz="750" b="1" dirty="0">
                <a:solidFill>
                  <a:srgbClr val="D4A017"/>
                </a:solidFill>
                <a:latin typeface="Calibri" pitchFamily="34" charset="0"/>
                <a:ea typeface="Calibri" pitchFamily="34" charset="-122"/>
                <a:cs typeface="Calibri" pitchFamily="34" charset="-120"/>
              </a:rPr>
              <a:t>Correlation</a:t>
            </a:r>
            <a:endParaRPr lang="en-US" sz="750" dirty="0"/>
          </a:p>
        </p:txBody>
      </p:sp>
      <p:sp>
        <p:nvSpPr>
          <p:cNvPr id="37" name="Text 35"/>
          <p:cNvSpPr/>
          <p:nvPr/>
        </p:nvSpPr>
        <p:spPr>
          <a:xfrm>
            <a:off x="3273552" y="4773168"/>
            <a:ext cx="1261872" cy="128016"/>
          </a:xfrm>
          <a:prstGeom prst="rect">
            <a:avLst/>
          </a:prstGeom>
          <a:noFill/>
          <a:ln/>
        </p:spPr>
        <p:txBody>
          <a:bodyPr wrap="square" lIns="0" tIns="0" rIns="0" bIns="0" rtlCol="0" anchor="ctr"/>
          <a:lstStyle/>
          <a:p>
            <a:pPr algn="ctr" indent="0" marL="0">
              <a:buNone/>
            </a:pPr>
            <a:r>
              <a:rPr lang="en-US" sz="750" b="1" dirty="0">
                <a:solidFill>
                  <a:srgbClr val="D4A017"/>
                </a:solidFill>
                <a:latin typeface="Calibri" pitchFamily="34" charset="0"/>
                <a:ea typeface="Calibri" pitchFamily="34" charset="-122"/>
                <a:cs typeface="Calibri" pitchFamily="34" charset="-120"/>
              </a:rPr>
              <a:t>Pearson r</a:t>
            </a:r>
            <a:endParaRPr lang="en-US" sz="750" dirty="0"/>
          </a:p>
        </p:txBody>
      </p:sp>
      <p:sp>
        <p:nvSpPr>
          <p:cNvPr id="38" name="Text 36"/>
          <p:cNvSpPr/>
          <p:nvPr/>
        </p:nvSpPr>
        <p:spPr>
          <a:xfrm>
            <a:off x="4572000" y="4773168"/>
            <a:ext cx="1335024"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Small r=.10</a:t>
            </a:r>
            <a:endParaRPr lang="en-US" sz="750" dirty="0"/>
          </a:p>
        </p:txBody>
      </p:sp>
      <p:sp>
        <p:nvSpPr>
          <p:cNvPr id="39" name="Text 37"/>
          <p:cNvSpPr/>
          <p:nvPr/>
        </p:nvSpPr>
        <p:spPr>
          <a:xfrm>
            <a:off x="5943600" y="4773168"/>
            <a:ext cx="1335024"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Medium r=.30</a:t>
            </a:r>
            <a:endParaRPr lang="en-US" sz="750" dirty="0"/>
          </a:p>
        </p:txBody>
      </p:sp>
      <p:sp>
        <p:nvSpPr>
          <p:cNvPr id="40" name="Text 38"/>
          <p:cNvSpPr/>
          <p:nvPr/>
        </p:nvSpPr>
        <p:spPr>
          <a:xfrm>
            <a:off x="7315200" y="4773168"/>
            <a:ext cx="1371600"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Large r=.50</a:t>
            </a:r>
            <a:endParaRPr lang="en-US" sz="750" dirty="0"/>
          </a:p>
        </p:txBody>
      </p:sp>
      <p:sp>
        <p:nvSpPr>
          <p:cNvPr id="41" name="Text 39"/>
          <p:cNvSpPr/>
          <p:nvPr/>
        </p:nvSpPr>
        <p:spPr>
          <a:xfrm>
            <a:off x="2103120" y="4901184"/>
            <a:ext cx="1133856" cy="128016"/>
          </a:xfrm>
          <a:prstGeom prst="rect">
            <a:avLst/>
          </a:prstGeom>
          <a:noFill/>
          <a:ln/>
        </p:spPr>
        <p:txBody>
          <a:bodyPr wrap="square" lIns="0" tIns="0" rIns="0" bIns="0" rtlCol="0" anchor="ctr"/>
          <a:lstStyle/>
          <a:p>
            <a:pPr algn="ctr" indent="0" marL="0">
              <a:buNone/>
            </a:pPr>
            <a:r>
              <a:rPr lang="en-US" sz="750" b="1" dirty="0">
                <a:solidFill>
                  <a:srgbClr val="D4A017"/>
                </a:solidFill>
                <a:latin typeface="Calibri" pitchFamily="34" charset="0"/>
                <a:ea typeface="Calibri" pitchFamily="34" charset="-122"/>
                <a:cs typeface="Calibri" pitchFamily="34" charset="-120"/>
              </a:rPr>
              <a:t>Chi-Square</a:t>
            </a:r>
            <a:endParaRPr lang="en-US" sz="750" dirty="0"/>
          </a:p>
        </p:txBody>
      </p:sp>
      <p:sp>
        <p:nvSpPr>
          <p:cNvPr id="42" name="Text 40"/>
          <p:cNvSpPr/>
          <p:nvPr/>
        </p:nvSpPr>
        <p:spPr>
          <a:xfrm>
            <a:off x="3273552" y="4901184"/>
            <a:ext cx="1261872" cy="128016"/>
          </a:xfrm>
          <a:prstGeom prst="rect">
            <a:avLst/>
          </a:prstGeom>
          <a:noFill/>
          <a:ln/>
        </p:spPr>
        <p:txBody>
          <a:bodyPr wrap="square" lIns="0" tIns="0" rIns="0" bIns="0" rtlCol="0" anchor="ctr"/>
          <a:lstStyle/>
          <a:p>
            <a:pPr algn="ctr" indent="0" marL="0">
              <a:buNone/>
            </a:pPr>
            <a:r>
              <a:rPr lang="en-US" sz="750" b="1" dirty="0">
                <a:solidFill>
                  <a:srgbClr val="D4A017"/>
                </a:solidFill>
                <a:latin typeface="Calibri" pitchFamily="34" charset="0"/>
                <a:ea typeface="Calibri" pitchFamily="34" charset="-122"/>
                <a:cs typeface="Calibri" pitchFamily="34" charset="-120"/>
              </a:rPr>
              <a:t>Cramer's V</a:t>
            </a:r>
            <a:endParaRPr lang="en-US" sz="750" dirty="0"/>
          </a:p>
        </p:txBody>
      </p:sp>
      <p:sp>
        <p:nvSpPr>
          <p:cNvPr id="43" name="Text 41"/>
          <p:cNvSpPr/>
          <p:nvPr/>
        </p:nvSpPr>
        <p:spPr>
          <a:xfrm>
            <a:off x="4572000" y="4901184"/>
            <a:ext cx="1335024"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Small V=.10</a:t>
            </a:r>
            <a:endParaRPr lang="en-US" sz="750" dirty="0"/>
          </a:p>
        </p:txBody>
      </p:sp>
      <p:sp>
        <p:nvSpPr>
          <p:cNvPr id="44" name="Text 42"/>
          <p:cNvSpPr/>
          <p:nvPr/>
        </p:nvSpPr>
        <p:spPr>
          <a:xfrm>
            <a:off x="5943600" y="4901184"/>
            <a:ext cx="1335024"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Medium V=.30</a:t>
            </a:r>
            <a:endParaRPr lang="en-US" sz="750" dirty="0"/>
          </a:p>
        </p:txBody>
      </p:sp>
      <p:sp>
        <p:nvSpPr>
          <p:cNvPr id="45" name="Text 43"/>
          <p:cNvSpPr/>
          <p:nvPr/>
        </p:nvSpPr>
        <p:spPr>
          <a:xfrm>
            <a:off x="7315200" y="4901184"/>
            <a:ext cx="1371600" cy="128016"/>
          </a:xfrm>
          <a:prstGeom prst="rect">
            <a:avLst/>
          </a:prstGeom>
          <a:noFill/>
          <a:ln/>
        </p:spPr>
        <p:txBody>
          <a:bodyPr wrap="square" lIns="0" tIns="0" rIns="0" bIns="0" rtlCol="0" anchor="ctr"/>
          <a:lstStyle/>
          <a:p>
            <a:pPr algn="ctr" indent="0" marL="0">
              <a:buNone/>
            </a:pPr>
            <a:r>
              <a:rPr lang="en-US" sz="750" dirty="0">
                <a:solidFill>
                  <a:srgbClr val="A8C8E8"/>
                </a:solidFill>
                <a:latin typeface="Calibri" pitchFamily="34" charset="0"/>
                <a:ea typeface="Calibri" pitchFamily="34" charset="-122"/>
                <a:cs typeface="Calibri" pitchFamily="34" charset="-120"/>
              </a:rPr>
              <a:t>Large V=.50</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5C1A6B">
              <a:alpha val="20000"/>
            </a:srgbClr>
          </a:solidFill>
          <a:ln w="12700">
            <a:solidFill>
              <a:srgbClr val="5C1A6B"/>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3  |  SECTION 03</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Measures of Central Tendency</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C8A8E8"/>
                </a:solidFill>
                <a:latin typeface="Calibri" pitchFamily="34" charset="0"/>
                <a:ea typeface="Calibri" pitchFamily="34" charset="-122"/>
                <a:cs typeface="Calibri" pitchFamily="34" charset="-120"/>
              </a:rPr>
              <a:t>Mean, median, and mode - the three ways to describe the centre of a distribution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0A1E"/>
          </a:solidFill>
          <a:ln w="12700">
            <a:solidFill>
              <a:srgbClr val="1A0A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Mean, Median and Mode - Complete Guide with UAC Foods Examples</a:t>
            </a:r>
            <a:endParaRPr lang="en-US" sz="2100" dirty="0"/>
          </a:p>
        </p:txBody>
      </p:sp>
      <p:sp>
        <p:nvSpPr>
          <p:cNvPr id="4" name="Shape 2"/>
          <p:cNvSpPr/>
          <p:nvPr/>
        </p:nvSpPr>
        <p:spPr>
          <a:xfrm>
            <a:off x="228600" y="1024128"/>
            <a:ext cx="2834640" cy="4005072"/>
          </a:xfrm>
          <a:prstGeom prst="roundRect">
            <a:avLst>
              <a:gd name="adj" fmla="val 2903"/>
            </a:avLst>
          </a:prstGeom>
          <a:solidFill>
            <a:srgbClr val="F8F0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283464" y="1078992"/>
            <a:ext cx="2724912" cy="566928"/>
          </a:xfrm>
          <a:prstGeom prst="roundRect">
            <a:avLst>
              <a:gd name="adj" fmla="val 11290"/>
            </a:avLst>
          </a:prstGeom>
          <a:solidFill>
            <a:srgbClr val="5C1A6B"/>
          </a:solidFill>
          <a:ln w="12700">
            <a:solidFill>
              <a:srgbClr val="5C1A6B"/>
            </a:solidFill>
            <a:prstDash val="solid"/>
          </a:ln>
        </p:spPr>
      </p:sp>
      <p:sp>
        <p:nvSpPr>
          <p:cNvPr id="6" name="Text 4"/>
          <p:cNvSpPr/>
          <p:nvPr/>
        </p:nvSpPr>
        <p:spPr>
          <a:xfrm>
            <a:off x="283464" y="1078992"/>
            <a:ext cx="272491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MEAN</a:t>
            </a:r>
            <a:endParaRPr lang="en-US" sz="1600" dirty="0"/>
          </a:p>
        </p:txBody>
      </p:sp>
      <p:sp>
        <p:nvSpPr>
          <p:cNvPr id="7" name="Text 5"/>
          <p:cNvSpPr/>
          <p:nvPr/>
        </p:nvSpPr>
        <p:spPr>
          <a:xfrm>
            <a:off x="283464" y="1426464"/>
            <a:ext cx="2724912" cy="20116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SPSS: Mean</a:t>
            </a:r>
            <a:endParaRPr lang="en-US" sz="850" dirty="0"/>
          </a:p>
        </p:txBody>
      </p:sp>
      <p:sp>
        <p:nvSpPr>
          <p:cNvPr id="8" name="Text 6"/>
          <p:cNvSpPr/>
          <p:nvPr/>
        </p:nvSpPr>
        <p:spPr>
          <a:xfrm>
            <a:off x="320040" y="1700784"/>
            <a:ext cx="2633472" cy="402336"/>
          </a:xfrm>
          <a:prstGeom prst="rect">
            <a:avLst/>
          </a:prstGeom>
          <a:noFill/>
          <a:ln/>
        </p:spPr>
        <p:txBody>
          <a:bodyPr wrap="square" lIns="0" tIns="0" rIns="0" bIns="0" rtlCol="0" anchor="ctr"/>
          <a:lstStyle/>
          <a:p>
            <a:pPr indent="0" marL="0">
              <a:buNone/>
            </a:pPr>
            <a:r>
              <a:rPr lang="en-US" sz="900" b="1" dirty="0">
                <a:solidFill>
                  <a:srgbClr val="5C1A6B"/>
                </a:solidFill>
                <a:latin typeface="Calibri" pitchFamily="34" charset="0"/>
                <a:ea typeface="Calibri" pitchFamily="34" charset="-122"/>
                <a:cs typeface="Calibri" pitchFamily="34" charset="-120"/>
              </a:rPr>
              <a:t>Formula: </a:t>
            </a:r>
            <a:pPr indent="0" marL="0">
              <a:buNone/>
            </a:pPr>
            <a:r>
              <a:rPr lang="en-US" sz="900" dirty="0">
                <a:solidFill>
                  <a:srgbClr val="2C1F3E"/>
                </a:solidFill>
                <a:latin typeface="Calibri" pitchFamily="34" charset="0"/>
                <a:ea typeface="Calibri" pitchFamily="34" charset="-122"/>
                <a:cs typeface="Calibri" pitchFamily="34" charset="-120"/>
              </a:rPr>
              <a:t>Sum of all values ÷ Number of valid cases</a:t>
            </a:r>
            <a:endParaRPr lang="en-US" sz="900" dirty="0"/>
          </a:p>
        </p:txBody>
      </p:sp>
      <p:sp>
        <p:nvSpPr>
          <p:cNvPr id="9" name="Text 7"/>
          <p:cNvSpPr/>
          <p:nvPr/>
        </p:nvSpPr>
        <p:spPr>
          <a:xfrm>
            <a:off x="320040" y="2139696"/>
            <a:ext cx="2633472" cy="402336"/>
          </a:xfrm>
          <a:prstGeom prst="rect">
            <a:avLst/>
          </a:prstGeom>
          <a:noFill/>
          <a:ln/>
        </p:spPr>
        <p:txBody>
          <a:bodyPr wrap="square" lIns="0" tIns="0" rIns="0" bIns="0" rtlCol="0" anchor="ctr"/>
          <a:lstStyle/>
          <a:p>
            <a:pPr indent="0" marL="0">
              <a:buNone/>
            </a:pPr>
            <a:r>
              <a:rPr lang="en-US" sz="900" b="1" dirty="0">
                <a:solidFill>
                  <a:srgbClr val="5C1A6B"/>
                </a:solidFill>
                <a:latin typeface="Calibri" pitchFamily="34" charset="0"/>
                <a:ea typeface="Calibri" pitchFamily="34" charset="-122"/>
                <a:cs typeface="Calibri" pitchFamily="34" charset="-120"/>
              </a:rPr>
              <a:t>Use when: </a:t>
            </a:r>
            <a:pPr indent="0" marL="0">
              <a:buNone/>
            </a:pPr>
            <a:r>
              <a:rPr lang="en-US" sz="900" dirty="0">
                <a:solidFill>
                  <a:srgbClr val="2C1F3E"/>
                </a:solidFill>
                <a:latin typeface="Calibri" pitchFamily="34" charset="0"/>
                <a:ea typeface="Calibri" pitchFamily="34" charset="-122"/>
                <a:cs typeface="Calibri" pitchFamily="34" charset="-120"/>
              </a:rPr>
              <a:t>Scale (interval/ratio) data without extreme outliers</a:t>
            </a:r>
            <a:endParaRPr lang="en-US" sz="900" dirty="0"/>
          </a:p>
        </p:txBody>
      </p:sp>
      <p:sp>
        <p:nvSpPr>
          <p:cNvPr id="10" name="Text 8"/>
          <p:cNvSpPr/>
          <p:nvPr/>
        </p:nvSpPr>
        <p:spPr>
          <a:xfrm>
            <a:off x="320040" y="2578608"/>
            <a:ext cx="2633472" cy="402336"/>
          </a:xfrm>
          <a:prstGeom prst="rect">
            <a:avLst/>
          </a:prstGeom>
          <a:noFill/>
          <a:ln/>
        </p:spPr>
        <p:txBody>
          <a:bodyPr wrap="square" lIns="0" tIns="0" rIns="0" bIns="0" rtlCol="0" anchor="ctr"/>
          <a:lstStyle/>
          <a:p>
            <a:pPr indent="0" marL="0">
              <a:buNone/>
            </a:pPr>
            <a:r>
              <a:rPr lang="en-US" sz="900" b="1" dirty="0">
                <a:solidFill>
                  <a:srgbClr val="5C1A6B"/>
                </a:solidFill>
                <a:latin typeface="Calibri" pitchFamily="34" charset="0"/>
                <a:ea typeface="Calibri" pitchFamily="34" charset="-122"/>
                <a:cs typeface="Calibri" pitchFamily="34" charset="-120"/>
              </a:rPr>
              <a:t>UAC Example: </a:t>
            </a:r>
            <a:pPr indent="0" marL="0">
              <a:buNone/>
            </a:pPr>
            <a:r>
              <a:rPr lang="en-US" sz="900" dirty="0">
                <a:solidFill>
                  <a:srgbClr val="2C1F3E"/>
                </a:solidFill>
                <a:latin typeface="Calibri" pitchFamily="34" charset="0"/>
                <a:ea typeface="Calibri" pitchFamily="34" charset="-122"/>
                <a:cs typeface="Calibri" pitchFamily="34" charset="-120"/>
              </a:rPr>
              <a:t>Mean satisfaction score across 450 UAC Foods consumers: x̄ = 3.72 (on 1-5 scale)</a:t>
            </a:r>
            <a:endParaRPr lang="en-US" sz="900" dirty="0"/>
          </a:p>
        </p:txBody>
      </p:sp>
      <p:sp>
        <p:nvSpPr>
          <p:cNvPr id="11" name="Shape 9"/>
          <p:cNvSpPr/>
          <p:nvPr/>
        </p:nvSpPr>
        <p:spPr>
          <a:xfrm>
            <a:off x="320040" y="3017520"/>
            <a:ext cx="2633472" cy="18288"/>
          </a:xfrm>
          <a:prstGeom prst="rect">
            <a:avLst/>
          </a:prstGeom>
          <a:solidFill>
            <a:srgbClr val="5C1A6B"/>
          </a:solidFill>
          <a:ln w="12700">
            <a:solidFill>
              <a:srgbClr val="5C1A6B"/>
            </a:solidFill>
            <a:prstDash val="solid"/>
          </a:ln>
        </p:spPr>
      </p:sp>
      <p:sp>
        <p:nvSpPr>
          <p:cNvPr id="12" name="Text 10"/>
          <p:cNvSpPr/>
          <p:nvPr/>
        </p:nvSpPr>
        <p:spPr>
          <a:xfrm>
            <a:off x="320040" y="3072384"/>
            <a:ext cx="2633472" cy="493776"/>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Watch out: </a:t>
            </a:r>
            <a:pPr indent="0" marL="0">
              <a:buNone/>
            </a:pPr>
            <a:r>
              <a:rPr lang="en-US" sz="850" dirty="0">
                <a:solidFill>
                  <a:srgbClr val="2C1F3E"/>
                </a:solidFill>
                <a:latin typeface="Calibri" pitchFamily="34" charset="0"/>
                <a:ea typeface="Calibri" pitchFamily="34" charset="-122"/>
                <a:cs typeface="Calibri" pitchFamily="34" charset="-120"/>
              </a:rPr>
              <a:t>One extreme outlier (e.g., a N5,000,000 salary) can pull the mean away from typical values. Always check alongside median.</a:t>
            </a:r>
            <a:endParaRPr lang="en-US" sz="850" dirty="0"/>
          </a:p>
        </p:txBody>
      </p:sp>
      <p:sp>
        <p:nvSpPr>
          <p:cNvPr id="13" name="Text 11"/>
          <p:cNvSpPr/>
          <p:nvPr/>
        </p:nvSpPr>
        <p:spPr>
          <a:xfrm>
            <a:off x="320040" y="3602736"/>
            <a:ext cx="2633472" cy="475488"/>
          </a:xfrm>
          <a:prstGeom prst="rect">
            <a:avLst/>
          </a:prstGeom>
          <a:noFill/>
          <a:ln/>
        </p:spPr>
        <p:txBody>
          <a:bodyPr wrap="square" lIns="0" tIns="0" rIns="0" bIns="0" rtlCol="0" anchor="ctr"/>
          <a:lstStyle/>
          <a:p>
            <a:pPr indent="0" marL="0">
              <a:buNone/>
            </a:pPr>
            <a:r>
              <a:rPr lang="en-US" sz="850" b="1" dirty="0">
                <a:solidFill>
                  <a:srgbClr val="5C1A6B"/>
                </a:solidFill>
                <a:latin typeface="Calibri" pitchFamily="34" charset="0"/>
                <a:ea typeface="Calibri" pitchFamily="34" charset="-122"/>
                <a:cs typeface="Calibri" pitchFamily="34" charset="-120"/>
              </a:rPr>
              <a:t>UAC insight: </a:t>
            </a:r>
            <a:pPr indent="0" marL="0">
              <a:buNone/>
            </a:pPr>
            <a:r>
              <a:rPr lang="en-US" sz="850" i="1" dirty="0">
                <a:solidFill>
                  <a:srgbClr val="64748B"/>
                </a:solidFill>
                <a:latin typeface="Calibri" pitchFamily="34" charset="0"/>
                <a:ea typeface="Calibri" pitchFamily="34" charset="-122"/>
                <a:cs typeface="Calibri" pitchFamily="34" charset="-120"/>
              </a:rPr>
              <a:t>Mean monthly salary = N287,400 but median = N195,000 → heavily right-skewed due to a few very high earners</a:t>
            </a:r>
            <a:endParaRPr lang="en-US" sz="850" dirty="0"/>
          </a:p>
        </p:txBody>
      </p:sp>
      <p:sp>
        <p:nvSpPr>
          <p:cNvPr id="14" name="Shape 12"/>
          <p:cNvSpPr/>
          <p:nvPr/>
        </p:nvSpPr>
        <p:spPr>
          <a:xfrm>
            <a:off x="3200400" y="1024128"/>
            <a:ext cx="2834640" cy="4005072"/>
          </a:xfrm>
          <a:prstGeom prst="roundRect">
            <a:avLst>
              <a:gd name="adj" fmla="val 2903"/>
            </a:avLst>
          </a:prstGeom>
          <a:solidFill>
            <a:srgbClr val="EBF5FB"/>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5" name="Shape 13"/>
          <p:cNvSpPr/>
          <p:nvPr/>
        </p:nvSpPr>
        <p:spPr>
          <a:xfrm>
            <a:off x="3255264" y="1078992"/>
            <a:ext cx="2724912" cy="566928"/>
          </a:xfrm>
          <a:prstGeom prst="roundRect">
            <a:avLst>
              <a:gd name="adj" fmla="val 11290"/>
            </a:avLst>
          </a:prstGeom>
          <a:solidFill>
            <a:srgbClr val="2471A3"/>
          </a:solidFill>
          <a:ln w="12700">
            <a:solidFill>
              <a:srgbClr val="2471A3"/>
            </a:solidFill>
            <a:prstDash val="solid"/>
          </a:ln>
        </p:spPr>
      </p:sp>
      <p:sp>
        <p:nvSpPr>
          <p:cNvPr id="16" name="Text 14"/>
          <p:cNvSpPr/>
          <p:nvPr/>
        </p:nvSpPr>
        <p:spPr>
          <a:xfrm>
            <a:off x="3255264" y="1078992"/>
            <a:ext cx="272491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MEDIAN</a:t>
            </a:r>
            <a:endParaRPr lang="en-US" sz="1600" dirty="0"/>
          </a:p>
        </p:txBody>
      </p:sp>
      <p:sp>
        <p:nvSpPr>
          <p:cNvPr id="17" name="Text 15"/>
          <p:cNvSpPr/>
          <p:nvPr/>
        </p:nvSpPr>
        <p:spPr>
          <a:xfrm>
            <a:off x="3255264" y="1426464"/>
            <a:ext cx="2724912" cy="20116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SPSS: Median</a:t>
            </a:r>
            <a:endParaRPr lang="en-US" sz="850" dirty="0"/>
          </a:p>
        </p:txBody>
      </p:sp>
      <p:sp>
        <p:nvSpPr>
          <p:cNvPr id="18" name="Text 16"/>
          <p:cNvSpPr/>
          <p:nvPr/>
        </p:nvSpPr>
        <p:spPr>
          <a:xfrm>
            <a:off x="3291840" y="1700784"/>
            <a:ext cx="2633472" cy="402336"/>
          </a:xfrm>
          <a:prstGeom prst="rect">
            <a:avLst/>
          </a:prstGeom>
          <a:noFill/>
          <a:ln/>
        </p:spPr>
        <p:txBody>
          <a:bodyPr wrap="square" lIns="0" tIns="0" rIns="0" bIns="0" rtlCol="0" anchor="ctr"/>
          <a:lstStyle/>
          <a:p>
            <a:pPr indent="0" marL="0">
              <a:buNone/>
            </a:pPr>
            <a:r>
              <a:rPr lang="en-US" sz="900" b="1" dirty="0">
                <a:solidFill>
                  <a:srgbClr val="2471A3"/>
                </a:solidFill>
                <a:latin typeface="Calibri" pitchFamily="34" charset="0"/>
                <a:ea typeface="Calibri" pitchFamily="34" charset="-122"/>
                <a:cs typeface="Calibri" pitchFamily="34" charset="-120"/>
              </a:rPr>
              <a:t>Formula: </a:t>
            </a:r>
            <a:pPr indent="0" marL="0">
              <a:buNone/>
            </a:pPr>
            <a:r>
              <a:rPr lang="en-US" sz="900" dirty="0">
                <a:solidFill>
                  <a:srgbClr val="2C1F3E"/>
                </a:solidFill>
                <a:latin typeface="Calibri" pitchFamily="34" charset="0"/>
                <a:ea typeface="Calibri" pitchFamily="34" charset="-122"/>
                <a:cs typeface="Calibri" pitchFamily="34" charset="-120"/>
              </a:rPr>
              <a:t>Middle value when all values sorted ascending. For even N, average the two middle values.</a:t>
            </a:r>
            <a:endParaRPr lang="en-US" sz="900" dirty="0"/>
          </a:p>
        </p:txBody>
      </p:sp>
      <p:sp>
        <p:nvSpPr>
          <p:cNvPr id="19" name="Text 17"/>
          <p:cNvSpPr/>
          <p:nvPr/>
        </p:nvSpPr>
        <p:spPr>
          <a:xfrm>
            <a:off x="3291840" y="2139696"/>
            <a:ext cx="2633472" cy="402336"/>
          </a:xfrm>
          <a:prstGeom prst="rect">
            <a:avLst/>
          </a:prstGeom>
          <a:noFill/>
          <a:ln/>
        </p:spPr>
        <p:txBody>
          <a:bodyPr wrap="square" lIns="0" tIns="0" rIns="0" bIns="0" rtlCol="0" anchor="ctr"/>
          <a:lstStyle/>
          <a:p>
            <a:pPr indent="0" marL="0">
              <a:buNone/>
            </a:pPr>
            <a:r>
              <a:rPr lang="en-US" sz="900" b="1" dirty="0">
                <a:solidFill>
                  <a:srgbClr val="2471A3"/>
                </a:solidFill>
                <a:latin typeface="Calibri" pitchFamily="34" charset="0"/>
                <a:ea typeface="Calibri" pitchFamily="34" charset="-122"/>
                <a:cs typeface="Calibri" pitchFamily="34" charset="-120"/>
              </a:rPr>
              <a:t>Use when: </a:t>
            </a:r>
            <a:pPr indent="0" marL="0">
              <a:buNone/>
            </a:pPr>
            <a:r>
              <a:rPr lang="en-US" sz="900" dirty="0">
                <a:solidFill>
                  <a:srgbClr val="2C1F3E"/>
                </a:solidFill>
                <a:latin typeface="Calibri" pitchFamily="34" charset="0"/>
                <a:ea typeface="Calibri" pitchFamily="34" charset="-122"/>
                <a:cs typeface="Calibri" pitchFamily="34" charset="-120"/>
              </a:rPr>
              <a:t>Ordinal data. Scale data with outliers or skewed distribution (income, salary, house prices).</a:t>
            </a:r>
            <a:endParaRPr lang="en-US" sz="900" dirty="0"/>
          </a:p>
        </p:txBody>
      </p:sp>
      <p:sp>
        <p:nvSpPr>
          <p:cNvPr id="20" name="Text 18"/>
          <p:cNvSpPr/>
          <p:nvPr/>
        </p:nvSpPr>
        <p:spPr>
          <a:xfrm>
            <a:off x="3291840" y="2578608"/>
            <a:ext cx="2633472" cy="402336"/>
          </a:xfrm>
          <a:prstGeom prst="rect">
            <a:avLst/>
          </a:prstGeom>
          <a:noFill/>
          <a:ln/>
        </p:spPr>
        <p:txBody>
          <a:bodyPr wrap="square" lIns="0" tIns="0" rIns="0" bIns="0" rtlCol="0" anchor="ctr"/>
          <a:lstStyle/>
          <a:p>
            <a:pPr indent="0" marL="0">
              <a:buNone/>
            </a:pPr>
            <a:r>
              <a:rPr lang="en-US" sz="900" b="1" dirty="0">
                <a:solidFill>
                  <a:srgbClr val="2471A3"/>
                </a:solidFill>
                <a:latin typeface="Calibri" pitchFamily="34" charset="0"/>
                <a:ea typeface="Calibri" pitchFamily="34" charset="-122"/>
                <a:cs typeface="Calibri" pitchFamily="34" charset="-120"/>
              </a:rPr>
              <a:t>UAC Example: </a:t>
            </a:r>
            <a:pPr indent="0" marL="0">
              <a:buNone/>
            </a:pPr>
            <a:r>
              <a:rPr lang="en-US" sz="900" dirty="0">
                <a:solidFill>
                  <a:srgbClr val="2C1F3E"/>
                </a:solidFill>
                <a:latin typeface="Calibri" pitchFamily="34" charset="0"/>
                <a:ea typeface="Calibri" pitchFamily="34" charset="-122"/>
                <a:cs typeface="Calibri" pitchFamily="34" charset="-120"/>
              </a:rPr>
              <a:t>Median satisfaction: 4.0 (exactly half of 450 consumers rated satisfaction at 4 or above)</a:t>
            </a:r>
            <a:endParaRPr lang="en-US" sz="900" dirty="0"/>
          </a:p>
        </p:txBody>
      </p:sp>
      <p:sp>
        <p:nvSpPr>
          <p:cNvPr id="21" name="Shape 19"/>
          <p:cNvSpPr/>
          <p:nvPr/>
        </p:nvSpPr>
        <p:spPr>
          <a:xfrm>
            <a:off x="3291840" y="3017520"/>
            <a:ext cx="2633472" cy="18288"/>
          </a:xfrm>
          <a:prstGeom prst="rect">
            <a:avLst/>
          </a:prstGeom>
          <a:solidFill>
            <a:srgbClr val="2471A3"/>
          </a:solidFill>
          <a:ln w="12700">
            <a:solidFill>
              <a:srgbClr val="2471A3"/>
            </a:solidFill>
            <a:prstDash val="solid"/>
          </a:ln>
        </p:spPr>
      </p:sp>
      <p:sp>
        <p:nvSpPr>
          <p:cNvPr id="22" name="Text 20"/>
          <p:cNvSpPr/>
          <p:nvPr/>
        </p:nvSpPr>
        <p:spPr>
          <a:xfrm>
            <a:off x="3291840" y="3072384"/>
            <a:ext cx="2633472" cy="493776"/>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Watch out: </a:t>
            </a:r>
            <a:pPr indent="0" marL="0">
              <a:buNone/>
            </a:pPr>
            <a:r>
              <a:rPr lang="en-US" sz="850" dirty="0">
                <a:solidFill>
                  <a:srgbClr val="2C1F3E"/>
                </a:solidFill>
                <a:latin typeface="Calibri" pitchFamily="34" charset="0"/>
                <a:ea typeface="Calibri" pitchFamily="34" charset="-122"/>
                <a:cs typeface="Calibri" pitchFamily="34" charset="-120"/>
              </a:rPr>
              <a:t>When mean and median are very different, the distribution is skewed. Report BOTH and note the discrepancy.</a:t>
            </a:r>
            <a:endParaRPr lang="en-US" sz="850" dirty="0"/>
          </a:p>
        </p:txBody>
      </p:sp>
      <p:sp>
        <p:nvSpPr>
          <p:cNvPr id="23" name="Text 21"/>
          <p:cNvSpPr/>
          <p:nvPr/>
        </p:nvSpPr>
        <p:spPr>
          <a:xfrm>
            <a:off x="3291840" y="3602736"/>
            <a:ext cx="2633472" cy="475488"/>
          </a:xfrm>
          <a:prstGeom prst="rect">
            <a:avLst/>
          </a:prstGeom>
          <a:noFill/>
          <a:ln/>
        </p:spPr>
        <p:txBody>
          <a:bodyPr wrap="square" lIns="0" tIns="0" rIns="0" bIns="0" rtlCol="0" anchor="ctr"/>
          <a:lstStyle/>
          <a:p>
            <a:pPr indent="0" marL="0">
              <a:buNone/>
            </a:pPr>
            <a:r>
              <a:rPr lang="en-US" sz="850" b="1" dirty="0">
                <a:solidFill>
                  <a:srgbClr val="2471A3"/>
                </a:solidFill>
                <a:latin typeface="Calibri" pitchFamily="34" charset="0"/>
                <a:ea typeface="Calibri" pitchFamily="34" charset="-122"/>
                <a:cs typeface="Calibri" pitchFamily="34" charset="-120"/>
              </a:rPr>
              <a:t>UAC insight: </a:t>
            </a:r>
            <a:pPr indent="0" marL="0">
              <a:buNone/>
            </a:pPr>
            <a:r>
              <a:rPr lang="en-US" sz="850" i="1" dirty="0">
                <a:solidFill>
                  <a:srgbClr val="64748B"/>
                </a:solidFill>
                <a:latin typeface="Calibri" pitchFamily="34" charset="0"/>
                <a:ea typeface="Calibri" pitchFamily="34" charset="-122"/>
                <a:cs typeface="Calibri" pitchFamily="34" charset="-120"/>
              </a:rPr>
              <a:t>Mean sat = 3.72 but Median = 4.0 → distribution is negatively skewed, more consumers at the higher end</a:t>
            </a:r>
            <a:endParaRPr lang="en-US" sz="850" dirty="0"/>
          </a:p>
        </p:txBody>
      </p:sp>
      <p:sp>
        <p:nvSpPr>
          <p:cNvPr id="24" name="Shape 22"/>
          <p:cNvSpPr/>
          <p:nvPr/>
        </p:nvSpPr>
        <p:spPr>
          <a:xfrm>
            <a:off x="6172200" y="1024128"/>
            <a:ext cx="2834640" cy="4005072"/>
          </a:xfrm>
          <a:prstGeom prst="roundRect">
            <a:avLst>
              <a:gd name="adj" fmla="val 2903"/>
            </a:avLst>
          </a:prstGeom>
          <a:solidFill>
            <a:srgbClr val="E0F7F7"/>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5" name="Shape 23"/>
          <p:cNvSpPr/>
          <p:nvPr/>
        </p:nvSpPr>
        <p:spPr>
          <a:xfrm>
            <a:off x="6227064" y="1078992"/>
            <a:ext cx="2724912" cy="566928"/>
          </a:xfrm>
          <a:prstGeom prst="roundRect">
            <a:avLst>
              <a:gd name="adj" fmla="val 11290"/>
            </a:avLst>
          </a:prstGeom>
          <a:solidFill>
            <a:srgbClr val="0E7C7B"/>
          </a:solidFill>
          <a:ln w="12700">
            <a:solidFill>
              <a:srgbClr val="0E7C7B"/>
            </a:solidFill>
            <a:prstDash val="solid"/>
          </a:ln>
        </p:spPr>
      </p:sp>
      <p:sp>
        <p:nvSpPr>
          <p:cNvPr id="26" name="Text 24"/>
          <p:cNvSpPr/>
          <p:nvPr/>
        </p:nvSpPr>
        <p:spPr>
          <a:xfrm>
            <a:off x="6227064" y="1078992"/>
            <a:ext cx="272491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MODE</a:t>
            </a:r>
            <a:endParaRPr lang="en-US" sz="1600" dirty="0"/>
          </a:p>
        </p:txBody>
      </p:sp>
      <p:sp>
        <p:nvSpPr>
          <p:cNvPr id="27" name="Text 25"/>
          <p:cNvSpPr/>
          <p:nvPr/>
        </p:nvSpPr>
        <p:spPr>
          <a:xfrm>
            <a:off x="6227064" y="1426464"/>
            <a:ext cx="2724912" cy="20116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SPSS: Mode</a:t>
            </a:r>
            <a:endParaRPr lang="en-US" sz="850" dirty="0"/>
          </a:p>
        </p:txBody>
      </p:sp>
      <p:sp>
        <p:nvSpPr>
          <p:cNvPr id="28" name="Text 26"/>
          <p:cNvSpPr/>
          <p:nvPr/>
        </p:nvSpPr>
        <p:spPr>
          <a:xfrm>
            <a:off x="6263640" y="1700784"/>
            <a:ext cx="2633472" cy="402336"/>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Formula: </a:t>
            </a:r>
            <a:pPr indent="0" marL="0">
              <a:buNone/>
            </a:pPr>
            <a:r>
              <a:rPr lang="en-US" sz="900" dirty="0">
                <a:solidFill>
                  <a:srgbClr val="2C1F3E"/>
                </a:solidFill>
                <a:latin typeface="Calibri" pitchFamily="34" charset="0"/>
                <a:ea typeface="Calibri" pitchFamily="34" charset="-122"/>
                <a:cs typeface="Calibri" pitchFamily="34" charset="-120"/>
              </a:rPr>
              <a:t>The value that appears most frequently. There can be multiple modes (bimodal, multimodal).</a:t>
            </a:r>
            <a:endParaRPr lang="en-US" sz="900" dirty="0"/>
          </a:p>
        </p:txBody>
      </p:sp>
      <p:sp>
        <p:nvSpPr>
          <p:cNvPr id="29" name="Text 27"/>
          <p:cNvSpPr/>
          <p:nvPr/>
        </p:nvSpPr>
        <p:spPr>
          <a:xfrm>
            <a:off x="6263640" y="2139696"/>
            <a:ext cx="2633472" cy="402336"/>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Use when: </a:t>
            </a:r>
            <a:pPr indent="0" marL="0">
              <a:buNone/>
            </a:pPr>
            <a:r>
              <a:rPr lang="en-US" sz="900" dirty="0">
                <a:solidFill>
                  <a:srgbClr val="2C1F3E"/>
                </a:solidFill>
                <a:latin typeface="Calibri" pitchFamily="34" charset="0"/>
                <a:ea typeface="Calibri" pitchFamily="34" charset="-122"/>
                <a:cs typeface="Calibri" pitchFamily="34" charset="-120"/>
              </a:rPr>
              <a:t>Nominal data (ONLY valid measure). All data types for identifying most common response.</a:t>
            </a:r>
            <a:endParaRPr lang="en-US" sz="900" dirty="0"/>
          </a:p>
        </p:txBody>
      </p:sp>
      <p:sp>
        <p:nvSpPr>
          <p:cNvPr id="30" name="Text 28"/>
          <p:cNvSpPr/>
          <p:nvPr/>
        </p:nvSpPr>
        <p:spPr>
          <a:xfrm>
            <a:off x="6263640" y="2578608"/>
            <a:ext cx="2633472" cy="402336"/>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UAC Example: </a:t>
            </a:r>
            <a:pPr indent="0" marL="0">
              <a:buNone/>
            </a:pPr>
            <a:r>
              <a:rPr lang="en-US" sz="900" dirty="0">
                <a:solidFill>
                  <a:srgbClr val="2C1F3E"/>
                </a:solidFill>
                <a:latin typeface="Calibri" pitchFamily="34" charset="0"/>
                <a:ea typeface="Calibri" pitchFamily="34" charset="-122"/>
                <a:cs typeface="Calibri" pitchFamily="34" charset="-120"/>
              </a:rPr>
              <a:t>Modal preferred UAC product = Gala Sausage Roll (chosen by 38.2% of consumers, N=172)</a:t>
            </a:r>
            <a:endParaRPr lang="en-US" sz="900" dirty="0"/>
          </a:p>
        </p:txBody>
      </p:sp>
      <p:sp>
        <p:nvSpPr>
          <p:cNvPr id="31" name="Shape 29"/>
          <p:cNvSpPr/>
          <p:nvPr/>
        </p:nvSpPr>
        <p:spPr>
          <a:xfrm>
            <a:off x="6263640" y="3017520"/>
            <a:ext cx="2633472" cy="18288"/>
          </a:xfrm>
          <a:prstGeom prst="rect">
            <a:avLst/>
          </a:prstGeom>
          <a:solidFill>
            <a:srgbClr val="0E7C7B"/>
          </a:solidFill>
          <a:ln w="12700">
            <a:solidFill>
              <a:srgbClr val="0E7C7B"/>
            </a:solidFill>
            <a:prstDash val="solid"/>
          </a:ln>
        </p:spPr>
      </p:sp>
      <p:sp>
        <p:nvSpPr>
          <p:cNvPr id="32" name="Text 30"/>
          <p:cNvSpPr/>
          <p:nvPr/>
        </p:nvSpPr>
        <p:spPr>
          <a:xfrm>
            <a:off x="6263640" y="3072384"/>
            <a:ext cx="2633472" cy="493776"/>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Watch out: </a:t>
            </a:r>
            <a:pPr indent="0" marL="0">
              <a:buNone/>
            </a:pPr>
            <a:r>
              <a:rPr lang="en-US" sz="850" dirty="0">
                <a:solidFill>
                  <a:srgbClr val="2C1F3E"/>
                </a:solidFill>
                <a:latin typeface="Calibri" pitchFamily="34" charset="0"/>
                <a:ea typeface="Calibri" pitchFamily="34" charset="-122"/>
                <a:cs typeface="Calibri" pitchFamily="34" charset="-120"/>
              </a:rPr>
              <a:t>SPSS reports only the LOWEST mode when multiple modes exist. Check the Frequencies table to see all peaks.</a:t>
            </a:r>
            <a:endParaRPr lang="en-US" sz="850" dirty="0"/>
          </a:p>
        </p:txBody>
      </p:sp>
      <p:sp>
        <p:nvSpPr>
          <p:cNvPr id="33" name="Text 31"/>
          <p:cNvSpPr/>
          <p:nvPr/>
        </p:nvSpPr>
        <p:spPr>
          <a:xfrm>
            <a:off x="6263640" y="3602736"/>
            <a:ext cx="2633472" cy="475488"/>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UAC insight: </a:t>
            </a:r>
            <a:pPr indent="0" marL="0">
              <a:buNone/>
            </a:pPr>
            <a:r>
              <a:rPr lang="en-US" sz="850" i="1" dirty="0">
                <a:solidFill>
                  <a:srgbClr val="64748B"/>
                </a:solidFill>
                <a:latin typeface="Calibri" pitchFamily="34" charset="0"/>
                <a:ea typeface="Calibri" pitchFamily="34" charset="-122"/>
                <a:cs typeface="Calibri" pitchFamily="34" charset="-120"/>
              </a:rPr>
              <a:t>Gender mode = Male (1) appearing 268 times. This means more male consumers in the sample.</a:t>
            </a:r>
            <a:endParaRPr lang="en-US" sz="850" dirty="0"/>
          </a:p>
        </p:txBody>
      </p:sp>
      <p:sp>
        <p:nvSpPr>
          <p:cNvPr id="34" name="Shape 32"/>
          <p:cNvSpPr/>
          <p:nvPr/>
        </p:nvSpPr>
        <p:spPr>
          <a:xfrm>
            <a:off x="256032" y="5102352"/>
            <a:ext cx="8631936" cy="384048"/>
          </a:xfrm>
          <a:prstGeom prst="roundRect">
            <a:avLst>
              <a:gd name="adj" fmla="val 14286"/>
            </a:avLst>
          </a:prstGeom>
          <a:solidFill>
            <a:srgbClr val="FFFBEC"/>
          </a:solidFill>
          <a:ln w="19050">
            <a:solidFill>
              <a:srgbClr val="D4A017"/>
            </a:solidFill>
            <a:prstDash val="solid"/>
          </a:ln>
        </p:spPr>
      </p:sp>
      <p:sp>
        <p:nvSpPr>
          <p:cNvPr id="35" name="Text 33"/>
          <p:cNvSpPr/>
          <p:nvPr/>
        </p:nvSpPr>
        <p:spPr>
          <a:xfrm>
            <a:off x="384048" y="5102352"/>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SPSS path for all three: Analyze &gt; Descriptive Statistics &gt; Frequencies &gt; Statistics. Tick Mean, Median, Mode simultaneously. One dialog - one click - all three.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5C1A6B">
              <a:alpha val="20000"/>
            </a:srgbClr>
          </a:solidFill>
          <a:ln w="12700">
            <a:solidFill>
              <a:srgbClr val="5C1A6B"/>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3  |  SECTION 04</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Measures of Variability</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C8A8E8"/>
                </a:solidFill>
                <a:latin typeface="Calibri" pitchFamily="34" charset="0"/>
                <a:ea typeface="Calibri" pitchFamily="34" charset="-122"/>
                <a:cs typeface="Calibri" pitchFamily="34" charset="-120"/>
              </a:rPr>
              <a:t>Standard deviation, variance, range, IQR - how spread out is your data?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2471A3"/>
          </a:solidFill>
          <a:ln w="12700">
            <a:solidFill>
              <a:srgbClr val="2471A3"/>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Measures of Variability - Standard Deviation, IQR, Skewness and Kurtosis</a:t>
            </a:r>
            <a:endParaRPr lang="en-US" sz="2100" dirty="0"/>
          </a:p>
        </p:txBody>
      </p:sp>
      <p:sp>
        <p:nvSpPr>
          <p:cNvPr id="4" name="Shape 2"/>
          <p:cNvSpPr/>
          <p:nvPr/>
        </p:nvSpPr>
        <p:spPr>
          <a:xfrm>
            <a:off x="228600" y="1005840"/>
            <a:ext cx="4160520" cy="1280160"/>
          </a:xfrm>
          <a:prstGeom prst="roundRect">
            <a:avLst>
              <a:gd name="adj" fmla="val 571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01752" y="1078992"/>
            <a:ext cx="960120" cy="256032"/>
          </a:xfrm>
          <a:prstGeom prst="roundRect">
            <a:avLst>
              <a:gd name="adj" fmla="val 17857"/>
            </a:avLst>
          </a:prstGeom>
          <a:solidFill>
            <a:srgbClr val="5C1A6B"/>
          </a:solidFill>
          <a:ln w="12700">
            <a:solidFill>
              <a:srgbClr val="5C1A6B"/>
            </a:solidFill>
            <a:prstDash val="solid"/>
          </a:ln>
        </p:spPr>
      </p:sp>
      <p:sp>
        <p:nvSpPr>
          <p:cNvPr id="6" name="Text 4"/>
          <p:cNvSpPr/>
          <p:nvPr/>
        </p:nvSpPr>
        <p:spPr>
          <a:xfrm>
            <a:off x="301752" y="1078992"/>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Standard Deviation (SD)</a:t>
            </a:r>
            <a:endParaRPr lang="en-US" sz="800" dirty="0"/>
          </a:p>
        </p:txBody>
      </p:sp>
      <p:sp>
        <p:nvSpPr>
          <p:cNvPr id="7" name="Text 5"/>
          <p:cNvSpPr/>
          <p:nvPr/>
        </p:nvSpPr>
        <p:spPr>
          <a:xfrm>
            <a:off x="1325880" y="1078992"/>
            <a:ext cx="2962656" cy="256032"/>
          </a:xfrm>
          <a:prstGeom prst="rect">
            <a:avLst/>
          </a:prstGeom>
          <a:noFill/>
          <a:ln/>
        </p:spPr>
        <p:txBody>
          <a:bodyPr wrap="square" lIns="0" tIns="0" rIns="0" bIns="0" rtlCol="0" anchor="ctr"/>
          <a:lstStyle/>
          <a:p>
            <a:pPr indent="0" marL="0">
              <a:buNone/>
            </a:pPr>
            <a:r>
              <a:rPr lang="en-US" sz="850" i="1" dirty="0">
                <a:solidFill>
                  <a:srgbClr val="5C1A6B"/>
                </a:solidFill>
                <a:latin typeface="Calibri" pitchFamily="34" charset="0"/>
                <a:ea typeface="Calibri" pitchFamily="34" charset="-122"/>
                <a:cs typeface="Calibri" pitchFamily="34" charset="-120"/>
              </a:rPr>
              <a:t>√[Σ(x - x̄)² / (n-1)]  -  Average distance of each value from the mean</a:t>
            </a:r>
            <a:endParaRPr lang="en-US" sz="850" dirty="0"/>
          </a:p>
        </p:txBody>
      </p:sp>
      <p:sp>
        <p:nvSpPr>
          <p:cNvPr id="8" name="Text 6"/>
          <p:cNvSpPr/>
          <p:nvPr/>
        </p:nvSpPr>
        <p:spPr>
          <a:xfrm>
            <a:off x="320040" y="1389888"/>
            <a:ext cx="3950208" cy="49377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Small SD = values cluster tightly around mean (consistent data). Large SD = values spread widely (variable data). Same units as the original variable.</a:t>
            </a:r>
            <a:endParaRPr lang="en-US" sz="850" dirty="0"/>
          </a:p>
        </p:txBody>
      </p:sp>
      <p:sp>
        <p:nvSpPr>
          <p:cNvPr id="9" name="Text 7"/>
          <p:cNvSpPr/>
          <p:nvPr/>
        </p:nvSpPr>
        <p:spPr>
          <a:xfrm>
            <a:off x="320040" y="1920240"/>
            <a:ext cx="3950208" cy="310896"/>
          </a:xfrm>
          <a:prstGeom prst="rect">
            <a:avLst/>
          </a:prstGeom>
          <a:noFill/>
          <a:ln/>
        </p:spPr>
        <p:txBody>
          <a:bodyPr wrap="square" lIns="0" tIns="0" rIns="0" bIns="0" rtlCol="0" anchor="ctr"/>
          <a:lstStyle/>
          <a:p>
            <a:pPr indent="0" marL="0">
              <a:buNone/>
            </a:pPr>
            <a:r>
              <a:rPr lang="en-US" sz="800" b="1" dirty="0">
                <a:solidFill>
                  <a:srgbClr val="5C1A6B"/>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sat_mean SD = 0.84. Most consumers fall between 3.72-0.84 = 2.88 and 3.72+0.84 = 4.56. A fairly consistent range of satisfaction.</a:t>
            </a:r>
            <a:endParaRPr lang="en-US" sz="800" dirty="0"/>
          </a:p>
        </p:txBody>
      </p:sp>
      <p:sp>
        <p:nvSpPr>
          <p:cNvPr id="10" name="Shape 8"/>
          <p:cNvSpPr/>
          <p:nvPr/>
        </p:nvSpPr>
        <p:spPr>
          <a:xfrm>
            <a:off x="4690872" y="1005840"/>
            <a:ext cx="4160520" cy="1280160"/>
          </a:xfrm>
          <a:prstGeom prst="roundRect">
            <a:avLst>
              <a:gd name="adj" fmla="val 571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4764024" y="1078992"/>
            <a:ext cx="960120" cy="256032"/>
          </a:xfrm>
          <a:prstGeom prst="roundRect">
            <a:avLst>
              <a:gd name="adj" fmla="val 17857"/>
            </a:avLst>
          </a:prstGeom>
          <a:solidFill>
            <a:srgbClr val="2471A3"/>
          </a:solidFill>
          <a:ln w="12700">
            <a:solidFill>
              <a:srgbClr val="2471A3"/>
            </a:solidFill>
            <a:prstDash val="solid"/>
          </a:ln>
        </p:spPr>
      </p:sp>
      <p:sp>
        <p:nvSpPr>
          <p:cNvPr id="12" name="Text 10"/>
          <p:cNvSpPr/>
          <p:nvPr/>
        </p:nvSpPr>
        <p:spPr>
          <a:xfrm>
            <a:off x="4764024" y="1078992"/>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Variance (s²)</a:t>
            </a:r>
            <a:endParaRPr lang="en-US" sz="800" dirty="0"/>
          </a:p>
        </p:txBody>
      </p:sp>
      <p:sp>
        <p:nvSpPr>
          <p:cNvPr id="13" name="Text 11"/>
          <p:cNvSpPr/>
          <p:nvPr/>
        </p:nvSpPr>
        <p:spPr>
          <a:xfrm>
            <a:off x="5788152" y="1078992"/>
            <a:ext cx="2962656" cy="256032"/>
          </a:xfrm>
          <a:prstGeom prst="rect">
            <a:avLst/>
          </a:prstGeom>
          <a:noFill/>
          <a:ln/>
        </p:spPr>
        <p:txBody>
          <a:bodyPr wrap="square" lIns="0" tIns="0" rIns="0" bIns="0" rtlCol="0" anchor="ctr"/>
          <a:lstStyle/>
          <a:p>
            <a:pPr indent="0" marL="0">
              <a:buNone/>
            </a:pPr>
            <a:r>
              <a:rPr lang="en-US" sz="850" i="1" dirty="0">
                <a:solidFill>
                  <a:srgbClr val="2471A3"/>
                </a:solidFill>
                <a:latin typeface="Calibri" pitchFamily="34" charset="0"/>
                <a:ea typeface="Calibri" pitchFamily="34" charset="-122"/>
                <a:cs typeface="Calibri" pitchFamily="34" charset="-120"/>
              </a:rPr>
              <a:t>Σ(x - x̄)² / (n-1)  -  Square of the standard deviation</a:t>
            </a:r>
            <a:endParaRPr lang="en-US" sz="850" dirty="0"/>
          </a:p>
        </p:txBody>
      </p:sp>
      <p:sp>
        <p:nvSpPr>
          <p:cNvPr id="14" name="Text 12"/>
          <p:cNvSpPr/>
          <p:nvPr/>
        </p:nvSpPr>
        <p:spPr>
          <a:xfrm>
            <a:off x="4782312" y="1389888"/>
            <a:ext cx="3950208" cy="49377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The 'raw' measure of spread in squared units. Foundational in ANOVA (partitioning variance) and regression. Not intuitive on its own - always convert back to SD for reporting.</a:t>
            </a:r>
            <a:endParaRPr lang="en-US" sz="850" dirty="0"/>
          </a:p>
        </p:txBody>
      </p:sp>
      <p:sp>
        <p:nvSpPr>
          <p:cNvPr id="15" name="Text 13"/>
          <p:cNvSpPr/>
          <p:nvPr/>
        </p:nvSpPr>
        <p:spPr>
          <a:xfrm>
            <a:off x="4782312" y="1920240"/>
            <a:ext cx="3950208" cy="310896"/>
          </a:xfrm>
          <a:prstGeom prst="rect">
            <a:avLst/>
          </a:prstGeom>
          <a:noFill/>
          <a:ln/>
        </p:spPr>
        <p:txBody>
          <a:bodyPr wrap="square" lIns="0" tIns="0" rIns="0" bIns="0" rtlCol="0" anchor="ctr"/>
          <a:lstStyle/>
          <a:p>
            <a:pPr indent="0" marL="0">
              <a:buNone/>
            </a:pPr>
            <a:r>
              <a:rPr lang="en-US" sz="800" b="1" dirty="0">
                <a:solidFill>
                  <a:srgbClr val="2471A3"/>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sat_mean variance = 0.71. Rarely reported directly. SPSS reports it in ANOVA tables as 'Mean Square'.</a:t>
            </a:r>
            <a:endParaRPr lang="en-US" sz="800" dirty="0"/>
          </a:p>
        </p:txBody>
      </p:sp>
      <p:sp>
        <p:nvSpPr>
          <p:cNvPr id="16" name="Shape 14"/>
          <p:cNvSpPr/>
          <p:nvPr/>
        </p:nvSpPr>
        <p:spPr>
          <a:xfrm>
            <a:off x="228600" y="2377440"/>
            <a:ext cx="4160520" cy="1280160"/>
          </a:xfrm>
          <a:prstGeom prst="roundRect">
            <a:avLst>
              <a:gd name="adj" fmla="val 571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01752" y="2450592"/>
            <a:ext cx="960120" cy="256032"/>
          </a:xfrm>
          <a:prstGeom prst="roundRect">
            <a:avLst>
              <a:gd name="adj" fmla="val 17857"/>
            </a:avLst>
          </a:prstGeom>
          <a:solidFill>
            <a:srgbClr val="0E7C7B"/>
          </a:solidFill>
          <a:ln w="12700">
            <a:solidFill>
              <a:srgbClr val="0E7C7B"/>
            </a:solidFill>
            <a:prstDash val="solid"/>
          </a:ln>
        </p:spPr>
      </p:sp>
      <p:sp>
        <p:nvSpPr>
          <p:cNvPr id="18" name="Text 16"/>
          <p:cNvSpPr/>
          <p:nvPr/>
        </p:nvSpPr>
        <p:spPr>
          <a:xfrm>
            <a:off x="301752" y="2450592"/>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Range</a:t>
            </a:r>
            <a:endParaRPr lang="en-US" sz="800" dirty="0"/>
          </a:p>
        </p:txBody>
      </p:sp>
      <p:sp>
        <p:nvSpPr>
          <p:cNvPr id="19" name="Text 17"/>
          <p:cNvSpPr/>
          <p:nvPr/>
        </p:nvSpPr>
        <p:spPr>
          <a:xfrm>
            <a:off x="1325880" y="2450592"/>
            <a:ext cx="2962656" cy="256032"/>
          </a:xfrm>
          <a:prstGeom prst="rect">
            <a:avLst/>
          </a:prstGeom>
          <a:noFill/>
          <a:ln/>
        </p:spPr>
        <p:txBody>
          <a:bodyPr wrap="square" lIns="0" tIns="0" rIns="0" bIns="0" rtlCol="0" anchor="ctr"/>
          <a:lstStyle/>
          <a:p>
            <a:pPr indent="0" marL="0">
              <a:buNone/>
            </a:pPr>
            <a:r>
              <a:rPr lang="en-US" sz="850" i="1" dirty="0">
                <a:solidFill>
                  <a:srgbClr val="0E7C7B"/>
                </a:solidFill>
                <a:latin typeface="Calibri" pitchFamily="34" charset="0"/>
                <a:ea typeface="Calibri" pitchFamily="34" charset="-122"/>
                <a:cs typeface="Calibri" pitchFamily="34" charset="-120"/>
              </a:rPr>
              <a:t>Maximum value - Minimum value</a:t>
            </a:r>
            <a:endParaRPr lang="en-US" sz="850" dirty="0"/>
          </a:p>
        </p:txBody>
      </p:sp>
      <p:sp>
        <p:nvSpPr>
          <p:cNvPr id="20" name="Text 18"/>
          <p:cNvSpPr/>
          <p:nvPr/>
        </p:nvSpPr>
        <p:spPr>
          <a:xfrm>
            <a:off x="320040" y="2761488"/>
            <a:ext cx="3950208" cy="49377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Quick spread indicator. EXTREMELY sensitive to outliers. A single extreme value changes the range dramatically. Use as preliminary check, supplement with IQR.</a:t>
            </a:r>
            <a:endParaRPr lang="en-US" sz="850" dirty="0"/>
          </a:p>
        </p:txBody>
      </p:sp>
      <p:sp>
        <p:nvSpPr>
          <p:cNvPr id="21" name="Text 19"/>
          <p:cNvSpPr/>
          <p:nvPr/>
        </p:nvSpPr>
        <p:spPr>
          <a:xfrm>
            <a:off x="320040" y="3291840"/>
            <a:ext cx="3950208" cy="310896"/>
          </a:xfrm>
          <a:prstGeom prst="rect">
            <a:avLst/>
          </a:prstGeom>
          <a:noFill/>
          <a:ln/>
        </p:spPr>
        <p:txBody>
          <a:bodyPr wrap="square" lIns="0" tIns="0" rIns="0" bIns="0" rtlCol="0" anchor="ctr"/>
          <a:lstStyle/>
          <a:p>
            <a:pPr indent="0" marL="0">
              <a:buNone/>
            </a:pPr>
            <a:r>
              <a:rPr lang="en-US" sz="800" b="1" dirty="0">
                <a:solidFill>
                  <a:srgbClr val="0E7C7B"/>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monthly_salary range: Max 2,450,000 - Min 45,000 = N2,405,000. Wide range driven by 2-3 very high earners.</a:t>
            </a:r>
            <a:endParaRPr lang="en-US" sz="800" dirty="0"/>
          </a:p>
        </p:txBody>
      </p:sp>
      <p:sp>
        <p:nvSpPr>
          <p:cNvPr id="22" name="Shape 20"/>
          <p:cNvSpPr/>
          <p:nvPr/>
        </p:nvSpPr>
        <p:spPr>
          <a:xfrm>
            <a:off x="4690872" y="2377440"/>
            <a:ext cx="4160520" cy="1280160"/>
          </a:xfrm>
          <a:prstGeom prst="roundRect">
            <a:avLst>
              <a:gd name="adj" fmla="val 571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4764024" y="2450592"/>
            <a:ext cx="960120" cy="256032"/>
          </a:xfrm>
          <a:prstGeom prst="roundRect">
            <a:avLst>
              <a:gd name="adj" fmla="val 17857"/>
            </a:avLst>
          </a:prstGeom>
          <a:solidFill>
            <a:srgbClr val="E67E22"/>
          </a:solidFill>
          <a:ln w="12700">
            <a:solidFill>
              <a:srgbClr val="E67E22"/>
            </a:solidFill>
            <a:prstDash val="solid"/>
          </a:ln>
        </p:spPr>
      </p:sp>
      <p:sp>
        <p:nvSpPr>
          <p:cNvPr id="24" name="Text 22"/>
          <p:cNvSpPr/>
          <p:nvPr/>
        </p:nvSpPr>
        <p:spPr>
          <a:xfrm>
            <a:off x="4764024" y="2450592"/>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Interquartile Range (IQR)</a:t>
            </a:r>
            <a:endParaRPr lang="en-US" sz="800" dirty="0"/>
          </a:p>
        </p:txBody>
      </p:sp>
      <p:sp>
        <p:nvSpPr>
          <p:cNvPr id="25" name="Text 23"/>
          <p:cNvSpPr/>
          <p:nvPr/>
        </p:nvSpPr>
        <p:spPr>
          <a:xfrm>
            <a:off x="5788152" y="2450592"/>
            <a:ext cx="2962656" cy="256032"/>
          </a:xfrm>
          <a:prstGeom prst="rect">
            <a:avLst/>
          </a:prstGeom>
          <a:noFill/>
          <a:ln/>
        </p:spPr>
        <p:txBody>
          <a:bodyPr wrap="square" lIns="0" tIns="0" rIns="0" bIns="0" rtlCol="0" anchor="ctr"/>
          <a:lstStyle/>
          <a:p>
            <a:pPr indent="0" marL="0">
              <a:buNone/>
            </a:pPr>
            <a:r>
              <a:rPr lang="en-US" sz="850" i="1" dirty="0">
                <a:solidFill>
                  <a:srgbClr val="E67E22"/>
                </a:solidFill>
                <a:latin typeface="Calibri" pitchFamily="34" charset="0"/>
                <a:ea typeface="Calibri" pitchFamily="34" charset="-122"/>
                <a:cs typeface="Calibri" pitchFamily="34" charset="-120"/>
              </a:rPr>
              <a:t>Q3 (75th percentile) - Q1 (25th percentile)  -  Middle 50% spread</a:t>
            </a:r>
            <a:endParaRPr lang="en-US" sz="850" dirty="0"/>
          </a:p>
        </p:txBody>
      </p:sp>
      <p:sp>
        <p:nvSpPr>
          <p:cNvPr id="26" name="Text 24"/>
          <p:cNvSpPr/>
          <p:nvPr/>
        </p:nvSpPr>
        <p:spPr>
          <a:xfrm>
            <a:off x="4782312" y="2761488"/>
            <a:ext cx="3950208" cy="49377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Robust to outliers - describes the spread of the middle 50% of data. Shown as the BOX in a boxplot. Better than range for skewed data or data with outliers.</a:t>
            </a:r>
            <a:endParaRPr lang="en-US" sz="850" dirty="0"/>
          </a:p>
        </p:txBody>
      </p:sp>
      <p:sp>
        <p:nvSpPr>
          <p:cNvPr id="27" name="Text 25"/>
          <p:cNvSpPr/>
          <p:nvPr/>
        </p:nvSpPr>
        <p:spPr>
          <a:xfrm>
            <a:off x="4782312" y="3291840"/>
            <a:ext cx="3950208" cy="310896"/>
          </a:xfrm>
          <a:prstGeom prst="rect">
            <a:avLst/>
          </a:prstGeom>
          <a:noFill/>
          <a:ln/>
        </p:spPr>
        <p:txBody>
          <a:bodyPr wrap="square" lIns="0" tIns="0" rIns="0" bIns="0" rtlCol="0" anchor="ctr"/>
          <a:lstStyle/>
          <a:p>
            <a:pPr indent="0" marL="0">
              <a:buNone/>
            </a:pPr>
            <a:r>
              <a:rPr lang="en-US" sz="800" b="1" dirty="0">
                <a:solidFill>
                  <a:srgbClr val="E67E22"/>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monthly_salary IQR: Q3=N340,000 - Q1=N142,000 = N198,000. Middle 50% of UAC consumers earn between N142k and N340k.</a:t>
            </a:r>
            <a:endParaRPr lang="en-US" sz="800" dirty="0"/>
          </a:p>
        </p:txBody>
      </p:sp>
      <p:sp>
        <p:nvSpPr>
          <p:cNvPr id="28" name="Shape 26"/>
          <p:cNvSpPr/>
          <p:nvPr/>
        </p:nvSpPr>
        <p:spPr>
          <a:xfrm>
            <a:off x="228600" y="3749040"/>
            <a:ext cx="4160520" cy="1280160"/>
          </a:xfrm>
          <a:prstGeom prst="roundRect">
            <a:avLst>
              <a:gd name="adj" fmla="val 571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9" name="Shape 27"/>
          <p:cNvSpPr/>
          <p:nvPr/>
        </p:nvSpPr>
        <p:spPr>
          <a:xfrm>
            <a:off x="301752" y="3822192"/>
            <a:ext cx="960120" cy="256032"/>
          </a:xfrm>
          <a:prstGeom prst="roundRect">
            <a:avLst>
              <a:gd name="adj" fmla="val 17857"/>
            </a:avLst>
          </a:prstGeom>
          <a:solidFill>
            <a:srgbClr val="1A7A4A"/>
          </a:solidFill>
          <a:ln w="12700">
            <a:solidFill>
              <a:srgbClr val="1A7A4A"/>
            </a:solidFill>
            <a:prstDash val="solid"/>
          </a:ln>
        </p:spPr>
      </p:sp>
      <p:sp>
        <p:nvSpPr>
          <p:cNvPr id="30" name="Text 28"/>
          <p:cNvSpPr/>
          <p:nvPr/>
        </p:nvSpPr>
        <p:spPr>
          <a:xfrm>
            <a:off x="301752" y="3822192"/>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Skewness</a:t>
            </a:r>
            <a:endParaRPr lang="en-US" sz="800" dirty="0"/>
          </a:p>
        </p:txBody>
      </p:sp>
      <p:sp>
        <p:nvSpPr>
          <p:cNvPr id="31" name="Text 29"/>
          <p:cNvSpPr/>
          <p:nvPr/>
        </p:nvSpPr>
        <p:spPr>
          <a:xfrm>
            <a:off x="1325880" y="3822192"/>
            <a:ext cx="2962656" cy="256032"/>
          </a:xfrm>
          <a:prstGeom prst="rect">
            <a:avLst/>
          </a:prstGeom>
          <a:noFill/>
          <a:ln/>
        </p:spPr>
        <p:txBody>
          <a:bodyPr wrap="square" lIns="0" tIns="0" rIns="0" bIns="0" rtlCol="0" anchor="ctr"/>
          <a:lstStyle/>
          <a:p>
            <a:pPr indent="0" marL="0">
              <a:buNone/>
            </a:pPr>
            <a:r>
              <a:rPr lang="en-US" sz="850" i="1" dirty="0">
                <a:solidFill>
                  <a:srgbClr val="1A7A4A"/>
                </a:solidFill>
                <a:latin typeface="Calibri" pitchFamily="34" charset="0"/>
                <a:ea typeface="Calibri" pitchFamily="34" charset="-122"/>
                <a:cs typeface="Calibri" pitchFamily="34" charset="-120"/>
              </a:rPr>
              <a:t>Measures asymmetry of distribution. Rule: |skewness| &gt; 1.0 = significant skew</a:t>
            </a:r>
            <a:endParaRPr lang="en-US" sz="850" dirty="0"/>
          </a:p>
        </p:txBody>
      </p:sp>
      <p:sp>
        <p:nvSpPr>
          <p:cNvPr id="32" name="Text 30"/>
          <p:cNvSpPr/>
          <p:nvPr/>
        </p:nvSpPr>
        <p:spPr>
          <a:xfrm>
            <a:off x="320040" y="4133088"/>
            <a:ext cx="3950208" cy="49377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Positive skew (&gt;0): long tail to the RIGHT. Values cluster on the left, outliers pull right. Income/salary data is typically positively skewed. Negative skew: tail to the left.</a:t>
            </a:r>
            <a:endParaRPr lang="en-US" sz="850" dirty="0"/>
          </a:p>
        </p:txBody>
      </p:sp>
      <p:sp>
        <p:nvSpPr>
          <p:cNvPr id="33" name="Text 31"/>
          <p:cNvSpPr/>
          <p:nvPr/>
        </p:nvSpPr>
        <p:spPr>
          <a:xfrm>
            <a:off x="320040" y="4663440"/>
            <a:ext cx="3950208" cy="310896"/>
          </a:xfrm>
          <a:prstGeom prst="rect">
            <a:avLst/>
          </a:prstGeom>
          <a:noFill/>
          <a:ln/>
        </p:spPr>
        <p:txBody>
          <a:bodyPr wrap="square" lIns="0" tIns="0" rIns="0" bIns="0" rtlCol="0" anchor="ctr"/>
          <a:lstStyle/>
          <a:p>
            <a:pPr indent="0" marL="0">
              <a:buNone/>
            </a:pPr>
            <a:r>
              <a:rPr lang="en-US" sz="800" b="1" dirty="0">
                <a:solidFill>
                  <a:srgbClr val="1A7A4A"/>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sat_mean skewness = -0.42 (slight negative skew: more consumers at higher satisfaction). monthly_salary skewness = +2.18 (strong positive skew: most salaries low, few very high).</a:t>
            </a:r>
            <a:endParaRPr lang="en-US" sz="800" dirty="0"/>
          </a:p>
        </p:txBody>
      </p:sp>
      <p:sp>
        <p:nvSpPr>
          <p:cNvPr id="34" name="Shape 32"/>
          <p:cNvSpPr/>
          <p:nvPr/>
        </p:nvSpPr>
        <p:spPr>
          <a:xfrm>
            <a:off x="4690872" y="3749040"/>
            <a:ext cx="4160520" cy="1280160"/>
          </a:xfrm>
          <a:prstGeom prst="roundRect">
            <a:avLst>
              <a:gd name="adj" fmla="val 571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35" name="Shape 33"/>
          <p:cNvSpPr/>
          <p:nvPr/>
        </p:nvSpPr>
        <p:spPr>
          <a:xfrm>
            <a:off x="4764024" y="3822192"/>
            <a:ext cx="960120" cy="256032"/>
          </a:xfrm>
          <a:prstGeom prst="roundRect">
            <a:avLst>
              <a:gd name="adj" fmla="val 17857"/>
            </a:avLst>
          </a:prstGeom>
          <a:solidFill>
            <a:srgbClr val="7B2D8B"/>
          </a:solidFill>
          <a:ln w="12700">
            <a:solidFill>
              <a:srgbClr val="7B2D8B"/>
            </a:solidFill>
            <a:prstDash val="solid"/>
          </a:ln>
        </p:spPr>
      </p:sp>
      <p:sp>
        <p:nvSpPr>
          <p:cNvPr id="36" name="Text 34"/>
          <p:cNvSpPr/>
          <p:nvPr/>
        </p:nvSpPr>
        <p:spPr>
          <a:xfrm>
            <a:off x="4764024" y="3822192"/>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Kurtosis</a:t>
            </a:r>
            <a:endParaRPr lang="en-US" sz="800" dirty="0"/>
          </a:p>
        </p:txBody>
      </p:sp>
      <p:sp>
        <p:nvSpPr>
          <p:cNvPr id="37" name="Text 35"/>
          <p:cNvSpPr/>
          <p:nvPr/>
        </p:nvSpPr>
        <p:spPr>
          <a:xfrm>
            <a:off x="5788152" y="3822192"/>
            <a:ext cx="2962656" cy="256032"/>
          </a:xfrm>
          <a:prstGeom prst="rect">
            <a:avLst/>
          </a:prstGeom>
          <a:noFill/>
          <a:ln/>
        </p:spPr>
        <p:txBody>
          <a:bodyPr wrap="square" lIns="0" tIns="0" rIns="0" bIns="0" rtlCol="0" anchor="ctr"/>
          <a:lstStyle/>
          <a:p>
            <a:pPr indent="0" marL="0">
              <a:buNone/>
            </a:pPr>
            <a:r>
              <a:rPr lang="en-US" sz="850" i="1" dirty="0">
                <a:solidFill>
                  <a:srgbClr val="7B2D8B"/>
                </a:solidFill>
                <a:latin typeface="Calibri" pitchFamily="34" charset="0"/>
                <a:ea typeface="Calibri" pitchFamily="34" charset="-122"/>
                <a:cs typeface="Calibri" pitchFamily="34" charset="-120"/>
              </a:rPr>
              <a:t>Measures peakedness relative to normal distribution. Normal kurtosis = 0</a:t>
            </a:r>
            <a:endParaRPr lang="en-US" sz="850" dirty="0"/>
          </a:p>
        </p:txBody>
      </p:sp>
      <p:sp>
        <p:nvSpPr>
          <p:cNvPr id="38" name="Text 36"/>
          <p:cNvSpPr/>
          <p:nvPr/>
        </p:nvSpPr>
        <p:spPr>
          <a:xfrm>
            <a:off x="4782312" y="4133088"/>
            <a:ext cx="3950208" cy="49377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Positive (leptokurtic): sharper peak than normal, heavier tails. Negative (platykurtic): flatter than normal. Relevant when checking normality assumption before parametric tests.</a:t>
            </a:r>
            <a:endParaRPr lang="en-US" sz="850" dirty="0"/>
          </a:p>
        </p:txBody>
      </p:sp>
      <p:sp>
        <p:nvSpPr>
          <p:cNvPr id="39" name="Text 37"/>
          <p:cNvSpPr/>
          <p:nvPr/>
        </p:nvSpPr>
        <p:spPr>
          <a:xfrm>
            <a:off x="4782312" y="4663440"/>
            <a:ext cx="3950208" cy="310896"/>
          </a:xfrm>
          <a:prstGeom prst="rect">
            <a:avLst/>
          </a:prstGeom>
          <a:noFill/>
          <a:ln/>
        </p:spPr>
        <p:txBody>
          <a:bodyPr wrap="square" lIns="0" tIns="0" rIns="0" bIns="0" rtlCol="0" anchor="ctr"/>
          <a:lstStyle/>
          <a:p>
            <a:pPr indent="0" marL="0">
              <a:buNone/>
            </a:pPr>
            <a:r>
              <a:rPr lang="en-US" sz="800" b="1" dirty="0">
                <a:solidFill>
                  <a:srgbClr val="7B2D8B"/>
                </a:solidFill>
                <a:latin typeface="Calibri" pitchFamily="34" charset="0"/>
                <a:ea typeface="Calibri" pitchFamily="34" charset="-122"/>
                <a:cs typeface="Calibri" pitchFamily="34" charset="-120"/>
              </a:rPr>
              <a:t>UAC: </a:t>
            </a:r>
            <a:pPr indent="0" marL="0">
              <a:buNone/>
            </a:pPr>
            <a:r>
              <a:rPr lang="en-US" sz="800" i="1" dirty="0">
                <a:solidFill>
                  <a:srgbClr val="64748B"/>
                </a:solidFill>
                <a:latin typeface="Calibri" pitchFamily="34" charset="0"/>
                <a:ea typeface="Calibri" pitchFamily="34" charset="-122"/>
                <a:cs typeface="Calibri" pitchFamily="34" charset="-120"/>
              </a:rPr>
              <a:t>sat_mean kurtosis = 0.28 (near normal peakedness - supports using parametric tests). monthly_salary kurtosis = 6.42 (very heavy tails - non-normal, use non-parametric tests).</a:t>
            </a:r>
            <a:endParaRPr lang="en-US" sz="800" dirty="0"/>
          </a:p>
        </p:txBody>
      </p:sp>
      <p:sp>
        <p:nvSpPr>
          <p:cNvPr id="40" name="Shape 38"/>
          <p:cNvSpPr/>
          <p:nvPr/>
        </p:nvSpPr>
        <p:spPr>
          <a:xfrm>
            <a:off x="256032" y="5084064"/>
            <a:ext cx="8631936" cy="384048"/>
          </a:xfrm>
          <a:prstGeom prst="roundRect">
            <a:avLst>
              <a:gd name="adj" fmla="val 14286"/>
            </a:avLst>
          </a:prstGeom>
          <a:solidFill>
            <a:srgbClr val="FFFBEC"/>
          </a:solidFill>
          <a:ln w="19050">
            <a:solidFill>
              <a:srgbClr val="D4A017"/>
            </a:solidFill>
            <a:prstDash val="solid"/>
          </a:ln>
        </p:spPr>
      </p:sp>
      <p:sp>
        <p:nvSpPr>
          <p:cNvPr id="41" name="Text 39"/>
          <p:cNvSpPr/>
          <p:nvPr/>
        </p:nvSpPr>
        <p:spPr>
          <a:xfrm>
            <a:off x="384048" y="5084064"/>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SPSS path: Analyze &gt; Descriptive Statistics &gt; Explore &gt; Statistics. Tick Descriptives (gives SD, Variance, Range, IQR) AND Normality plots with tests (gives Skewness, Kurtosis, Shapiro-Wilk).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5C1A6B">
              <a:alpha val="20000"/>
            </a:srgbClr>
          </a:solidFill>
          <a:ln w="12700">
            <a:solidFill>
              <a:srgbClr val="5C1A6B"/>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3  |  SECTION 05</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Describing Quantitative Data</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C8A8E8"/>
                </a:solidFill>
                <a:latin typeface="Calibri" pitchFamily="34" charset="0"/>
                <a:ea typeface="Calibri" pitchFamily="34" charset="-122"/>
                <a:cs typeface="Calibri" pitchFamily="34" charset="-120"/>
              </a:rPr>
              <a:t>Frequencies, Descriptives and Explore - the three SPSS descriptive procedures in depth</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0A1E"/>
          </a:solidFill>
          <a:ln w="12700">
            <a:solidFill>
              <a:srgbClr val="1A0A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Frequencies, Descriptives and Explore - When to Use Each</a:t>
            </a:r>
            <a:endParaRPr lang="en-US" sz="2100" dirty="0"/>
          </a:p>
        </p:txBody>
      </p:sp>
      <p:sp>
        <p:nvSpPr>
          <p:cNvPr id="4" name="Shape 2"/>
          <p:cNvSpPr/>
          <p:nvPr/>
        </p:nvSpPr>
        <p:spPr>
          <a:xfrm>
            <a:off x="228600" y="1024128"/>
            <a:ext cx="2834640" cy="4005072"/>
          </a:xfrm>
          <a:prstGeom prst="roundRect">
            <a:avLst>
              <a:gd name="adj" fmla="val 2903"/>
            </a:avLst>
          </a:prstGeom>
          <a:solidFill>
            <a:srgbClr val="F8F0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283464" y="1078992"/>
            <a:ext cx="2724912" cy="457200"/>
          </a:xfrm>
          <a:prstGeom prst="roundRect">
            <a:avLst>
              <a:gd name="adj" fmla="val 14000"/>
            </a:avLst>
          </a:prstGeom>
          <a:solidFill>
            <a:srgbClr val="5C1A6B"/>
          </a:solidFill>
          <a:ln w="12700">
            <a:solidFill>
              <a:srgbClr val="5C1A6B"/>
            </a:solidFill>
            <a:prstDash val="solid"/>
          </a:ln>
        </p:spPr>
      </p:sp>
      <p:sp>
        <p:nvSpPr>
          <p:cNvPr id="6" name="Text 4"/>
          <p:cNvSpPr/>
          <p:nvPr/>
        </p:nvSpPr>
        <p:spPr>
          <a:xfrm>
            <a:off x="283464" y="1078992"/>
            <a:ext cx="2724912"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FREQUENCIES</a:t>
            </a:r>
            <a:endParaRPr lang="en-US" sz="1400" dirty="0"/>
          </a:p>
        </p:txBody>
      </p:sp>
      <p:sp>
        <p:nvSpPr>
          <p:cNvPr id="7" name="Text 5"/>
          <p:cNvSpPr/>
          <p:nvPr/>
        </p:nvSpPr>
        <p:spPr>
          <a:xfrm>
            <a:off x="283464" y="1371600"/>
            <a:ext cx="2724912" cy="16459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Frequencies</a:t>
            </a:r>
            <a:endParaRPr lang="en-US" sz="850" dirty="0"/>
          </a:p>
        </p:txBody>
      </p:sp>
      <p:sp>
        <p:nvSpPr>
          <p:cNvPr id="8" name="Text 6"/>
          <p:cNvSpPr/>
          <p:nvPr/>
        </p:nvSpPr>
        <p:spPr>
          <a:xfrm>
            <a:off x="320040" y="1609344"/>
            <a:ext cx="2633472" cy="347472"/>
          </a:xfrm>
          <a:prstGeom prst="rect">
            <a:avLst/>
          </a:prstGeom>
          <a:noFill/>
          <a:ln/>
        </p:spPr>
        <p:txBody>
          <a:bodyPr wrap="square" lIns="0" tIns="0" rIns="0" bIns="0" rtlCol="0" anchor="ctr"/>
          <a:lstStyle/>
          <a:p>
            <a:pPr indent="0" marL="0">
              <a:buNone/>
            </a:pPr>
            <a:r>
              <a:rPr lang="en-US" sz="900" b="1" dirty="0">
                <a:solidFill>
                  <a:srgbClr val="5C1A6B"/>
                </a:solidFill>
                <a:latin typeface="Calibri" pitchFamily="34" charset="0"/>
                <a:ea typeface="Calibri" pitchFamily="34" charset="-122"/>
                <a:cs typeface="Calibri" pitchFamily="34" charset="-120"/>
              </a:rPr>
              <a:t>Best for: ALL variable types. The essential first analysis for every variable.</a:t>
            </a:r>
            <a:endParaRPr lang="en-US" sz="900" dirty="0"/>
          </a:p>
        </p:txBody>
      </p:sp>
      <p:sp>
        <p:nvSpPr>
          <p:cNvPr id="9" name="Text 7"/>
          <p:cNvSpPr/>
          <p:nvPr/>
        </p:nvSpPr>
        <p:spPr>
          <a:xfrm>
            <a:off x="320040" y="1993392"/>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Frequency table: exact count per value</a:t>
            </a:r>
            <a:endParaRPr lang="en-US" sz="850" dirty="0"/>
          </a:p>
        </p:txBody>
      </p:sp>
      <p:sp>
        <p:nvSpPr>
          <p:cNvPr id="10" name="Text 8"/>
          <p:cNvSpPr/>
          <p:nvPr/>
        </p:nvSpPr>
        <p:spPr>
          <a:xfrm>
            <a:off x="320040" y="2322576"/>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Valid and cumulative percentages</a:t>
            </a:r>
            <a:endParaRPr lang="en-US" sz="850" dirty="0"/>
          </a:p>
        </p:txBody>
      </p:sp>
      <p:sp>
        <p:nvSpPr>
          <p:cNvPr id="11" name="Text 9"/>
          <p:cNvSpPr/>
          <p:nvPr/>
        </p:nvSpPr>
        <p:spPr>
          <a:xfrm>
            <a:off x="320040" y="2651760"/>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Optional statistics: Mean, Median, Mode, SD, Skewness, Kurtosis</a:t>
            </a:r>
            <a:endParaRPr lang="en-US" sz="850" dirty="0"/>
          </a:p>
        </p:txBody>
      </p:sp>
      <p:sp>
        <p:nvSpPr>
          <p:cNvPr id="12" name="Text 10"/>
          <p:cNvSpPr/>
          <p:nvPr/>
        </p:nvSpPr>
        <p:spPr>
          <a:xfrm>
            <a:off x="320040" y="2980944"/>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Charts: Bar chart, Pie chart, Histogram with normal curve</a:t>
            </a:r>
            <a:endParaRPr lang="en-US" sz="850" dirty="0"/>
          </a:p>
        </p:txBody>
      </p:sp>
      <p:sp>
        <p:nvSpPr>
          <p:cNvPr id="13" name="Shape 11"/>
          <p:cNvSpPr/>
          <p:nvPr/>
        </p:nvSpPr>
        <p:spPr>
          <a:xfrm>
            <a:off x="320040" y="3383280"/>
            <a:ext cx="2633472" cy="18288"/>
          </a:xfrm>
          <a:prstGeom prst="rect">
            <a:avLst/>
          </a:prstGeom>
          <a:solidFill>
            <a:srgbClr val="5C1A6B"/>
          </a:solidFill>
          <a:ln w="12700">
            <a:solidFill>
              <a:srgbClr val="5C1A6B"/>
            </a:solidFill>
            <a:prstDash val="solid"/>
          </a:ln>
        </p:spPr>
      </p:sp>
      <p:sp>
        <p:nvSpPr>
          <p:cNvPr id="14" name="Text 12"/>
          <p:cNvSpPr/>
          <p:nvPr/>
        </p:nvSpPr>
        <p:spPr>
          <a:xfrm>
            <a:off x="320040" y="3438144"/>
            <a:ext cx="2633472" cy="530352"/>
          </a:xfrm>
          <a:prstGeom prst="rect">
            <a:avLst/>
          </a:prstGeom>
          <a:noFill/>
          <a:ln/>
        </p:spPr>
        <p:txBody>
          <a:bodyPr wrap="square" lIns="0" tIns="0" rIns="0" bIns="0" rtlCol="0" anchor="ctr"/>
          <a:lstStyle/>
          <a:p>
            <a:pPr indent="0" marL="0">
              <a:buNone/>
            </a:pPr>
            <a:r>
              <a:rPr lang="en-US" sz="850" b="1" dirty="0">
                <a:solidFill>
                  <a:srgbClr val="5C1A6B"/>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Run for gender, education, uac_product_pref (nominal/ordinal) AND sat_mean, age_in_years (scale). Different statistics selected for each.</a:t>
            </a:r>
            <a:endParaRPr lang="en-US" sz="850" dirty="0"/>
          </a:p>
        </p:txBody>
      </p:sp>
      <p:sp>
        <p:nvSpPr>
          <p:cNvPr id="15" name="Shape 13"/>
          <p:cNvSpPr/>
          <p:nvPr/>
        </p:nvSpPr>
        <p:spPr>
          <a:xfrm>
            <a:off x="3200400" y="1024128"/>
            <a:ext cx="2834640" cy="4005072"/>
          </a:xfrm>
          <a:prstGeom prst="roundRect">
            <a:avLst>
              <a:gd name="adj" fmla="val 2903"/>
            </a:avLst>
          </a:prstGeom>
          <a:solidFill>
            <a:srgbClr val="EBF5FB"/>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6" name="Shape 14"/>
          <p:cNvSpPr/>
          <p:nvPr/>
        </p:nvSpPr>
        <p:spPr>
          <a:xfrm>
            <a:off x="3255264" y="1078992"/>
            <a:ext cx="2724912" cy="457200"/>
          </a:xfrm>
          <a:prstGeom prst="roundRect">
            <a:avLst>
              <a:gd name="adj" fmla="val 14000"/>
            </a:avLst>
          </a:prstGeom>
          <a:solidFill>
            <a:srgbClr val="2471A3"/>
          </a:solidFill>
          <a:ln w="12700">
            <a:solidFill>
              <a:srgbClr val="2471A3"/>
            </a:solidFill>
            <a:prstDash val="solid"/>
          </a:ln>
        </p:spPr>
      </p:sp>
      <p:sp>
        <p:nvSpPr>
          <p:cNvPr id="17" name="Text 15"/>
          <p:cNvSpPr/>
          <p:nvPr/>
        </p:nvSpPr>
        <p:spPr>
          <a:xfrm>
            <a:off x="3255264" y="1078992"/>
            <a:ext cx="2724912"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DESCRIPTIVES</a:t>
            </a:r>
            <a:endParaRPr lang="en-US" sz="1400" dirty="0"/>
          </a:p>
        </p:txBody>
      </p:sp>
      <p:sp>
        <p:nvSpPr>
          <p:cNvPr id="18" name="Text 16"/>
          <p:cNvSpPr/>
          <p:nvPr/>
        </p:nvSpPr>
        <p:spPr>
          <a:xfrm>
            <a:off x="3255264" y="1371600"/>
            <a:ext cx="2724912" cy="16459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Descriptives</a:t>
            </a:r>
            <a:endParaRPr lang="en-US" sz="850" dirty="0"/>
          </a:p>
        </p:txBody>
      </p:sp>
      <p:sp>
        <p:nvSpPr>
          <p:cNvPr id="19" name="Text 17"/>
          <p:cNvSpPr/>
          <p:nvPr/>
        </p:nvSpPr>
        <p:spPr>
          <a:xfrm>
            <a:off x="3291840" y="1609344"/>
            <a:ext cx="2633472" cy="347472"/>
          </a:xfrm>
          <a:prstGeom prst="rect">
            <a:avLst/>
          </a:prstGeom>
          <a:noFill/>
          <a:ln/>
        </p:spPr>
        <p:txBody>
          <a:bodyPr wrap="square" lIns="0" tIns="0" rIns="0" bIns="0" rtlCol="0" anchor="ctr"/>
          <a:lstStyle/>
          <a:p>
            <a:pPr indent="0" marL="0">
              <a:buNone/>
            </a:pPr>
            <a:r>
              <a:rPr lang="en-US" sz="900" b="1" dirty="0">
                <a:solidFill>
                  <a:srgbClr val="2471A3"/>
                </a:solidFill>
                <a:latin typeface="Calibri" pitchFamily="34" charset="0"/>
                <a:ea typeface="Calibri" pitchFamily="34" charset="-122"/>
                <a:cs typeface="Calibri" pitchFamily="34" charset="-120"/>
              </a:rPr>
              <a:t>Best for: Multiple scale variables simultaneously. Compact summary table.</a:t>
            </a:r>
            <a:endParaRPr lang="en-US" sz="900" dirty="0"/>
          </a:p>
        </p:txBody>
      </p:sp>
      <p:sp>
        <p:nvSpPr>
          <p:cNvPr id="20" name="Text 18"/>
          <p:cNvSpPr/>
          <p:nvPr/>
        </p:nvSpPr>
        <p:spPr>
          <a:xfrm>
            <a:off x="3291840" y="1993392"/>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N (valid cases)</a:t>
            </a:r>
            <a:endParaRPr lang="en-US" sz="850" dirty="0"/>
          </a:p>
        </p:txBody>
      </p:sp>
      <p:sp>
        <p:nvSpPr>
          <p:cNvPr id="21" name="Text 19"/>
          <p:cNvSpPr/>
          <p:nvPr/>
        </p:nvSpPr>
        <p:spPr>
          <a:xfrm>
            <a:off x="3291840" y="2322576"/>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Mean and Standard Deviation</a:t>
            </a:r>
            <a:endParaRPr lang="en-US" sz="850" dirty="0"/>
          </a:p>
        </p:txBody>
      </p:sp>
      <p:sp>
        <p:nvSpPr>
          <p:cNvPr id="22" name="Text 20"/>
          <p:cNvSpPr/>
          <p:nvPr/>
        </p:nvSpPr>
        <p:spPr>
          <a:xfrm>
            <a:off x="3291840" y="2651760"/>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Minimum and Maximum</a:t>
            </a:r>
            <a:endParaRPr lang="en-US" sz="850" dirty="0"/>
          </a:p>
        </p:txBody>
      </p:sp>
      <p:sp>
        <p:nvSpPr>
          <p:cNvPr id="23" name="Text 21"/>
          <p:cNvSpPr/>
          <p:nvPr/>
        </p:nvSpPr>
        <p:spPr>
          <a:xfrm>
            <a:off x="3291840" y="2980944"/>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Skewness and Kurtosis</a:t>
            </a:r>
            <a:endParaRPr lang="en-US" sz="850" dirty="0"/>
          </a:p>
        </p:txBody>
      </p:sp>
      <p:sp>
        <p:nvSpPr>
          <p:cNvPr id="24" name="Text 22"/>
          <p:cNvSpPr/>
          <p:nvPr/>
        </p:nvSpPr>
        <p:spPr>
          <a:xfrm>
            <a:off x="3291840" y="3310128"/>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Saves standardised Z-scores as new variables (Checkbox option)</a:t>
            </a:r>
            <a:endParaRPr lang="en-US" sz="850" dirty="0"/>
          </a:p>
        </p:txBody>
      </p:sp>
      <p:sp>
        <p:nvSpPr>
          <p:cNvPr id="25" name="Shape 23"/>
          <p:cNvSpPr/>
          <p:nvPr/>
        </p:nvSpPr>
        <p:spPr>
          <a:xfrm>
            <a:off x="3291840" y="3383280"/>
            <a:ext cx="2633472" cy="18288"/>
          </a:xfrm>
          <a:prstGeom prst="rect">
            <a:avLst/>
          </a:prstGeom>
          <a:solidFill>
            <a:srgbClr val="2471A3"/>
          </a:solidFill>
          <a:ln w="12700">
            <a:solidFill>
              <a:srgbClr val="2471A3"/>
            </a:solidFill>
            <a:prstDash val="solid"/>
          </a:ln>
        </p:spPr>
      </p:sp>
      <p:sp>
        <p:nvSpPr>
          <p:cNvPr id="26" name="Text 24"/>
          <p:cNvSpPr/>
          <p:nvPr/>
        </p:nvSpPr>
        <p:spPr>
          <a:xfrm>
            <a:off x="3291840" y="3438144"/>
            <a:ext cx="2633472" cy="530352"/>
          </a:xfrm>
          <a:prstGeom prst="rect">
            <a:avLst/>
          </a:prstGeom>
          <a:noFill/>
          <a:ln/>
        </p:spPr>
        <p:txBody>
          <a:bodyPr wrap="square" lIns="0" tIns="0" rIns="0" bIns="0" rtlCol="0" anchor="ctr"/>
          <a:lstStyle/>
          <a:p>
            <a:pPr indent="0" marL="0">
              <a:buNone/>
            </a:pPr>
            <a:r>
              <a:rPr lang="en-US" sz="850" b="1" dirty="0">
                <a:solidFill>
                  <a:srgbClr val="2471A3"/>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Run on: age_in_years, monthly_salary_ngn, sat_mean. One compact table shows all three variables side by side for quick comparison.</a:t>
            </a:r>
            <a:endParaRPr lang="en-US" sz="850" dirty="0"/>
          </a:p>
        </p:txBody>
      </p:sp>
      <p:sp>
        <p:nvSpPr>
          <p:cNvPr id="27" name="Shape 25"/>
          <p:cNvSpPr/>
          <p:nvPr/>
        </p:nvSpPr>
        <p:spPr>
          <a:xfrm>
            <a:off x="6172200" y="1024128"/>
            <a:ext cx="2834640" cy="4005072"/>
          </a:xfrm>
          <a:prstGeom prst="roundRect">
            <a:avLst>
              <a:gd name="adj" fmla="val 2903"/>
            </a:avLst>
          </a:prstGeom>
          <a:solidFill>
            <a:srgbClr val="E0F7F7"/>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8" name="Shape 26"/>
          <p:cNvSpPr/>
          <p:nvPr/>
        </p:nvSpPr>
        <p:spPr>
          <a:xfrm>
            <a:off x="6227064" y="1078992"/>
            <a:ext cx="2724912" cy="457200"/>
          </a:xfrm>
          <a:prstGeom prst="roundRect">
            <a:avLst>
              <a:gd name="adj" fmla="val 14000"/>
            </a:avLst>
          </a:prstGeom>
          <a:solidFill>
            <a:srgbClr val="0E7C7B"/>
          </a:solidFill>
          <a:ln w="12700">
            <a:solidFill>
              <a:srgbClr val="0E7C7B"/>
            </a:solidFill>
            <a:prstDash val="solid"/>
          </a:ln>
        </p:spPr>
      </p:sp>
      <p:sp>
        <p:nvSpPr>
          <p:cNvPr id="29" name="Text 27"/>
          <p:cNvSpPr/>
          <p:nvPr/>
        </p:nvSpPr>
        <p:spPr>
          <a:xfrm>
            <a:off x="6227064" y="1078992"/>
            <a:ext cx="2724912"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EXPLORE</a:t>
            </a:r>
            <a:endParaRPr lang="en-US" sz="1400" dirty="0"/>
          </a:p>
        </p:txBody>
      </p:sp>
      <p:sp>
        <p:nvSpPr>
          <p:cNvPr id="30" name="Text 28"/>
          <p:cNvSpPr/>
          <p:nvPr/>
        </p:nvSpPr>
        <p:spPr>
          <a:xfrm>
            <a:off x="6227064" y="1371600"/>
            <a:ext cx="2724912" cy="16459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Explore</a:t>
            </a:r>
            <a:endParaRPr lang="en-US" sz="850" dirty="0"/>
          </a:p>
        </p:txBody>
      </p:sp>
      <p:sp>
        <p:nvSpPr>
          <p:cNvPr id="31" name="Text 29"/>
          <p:cNvSpPr/>
          <p:nvPr/>
        </p:nvSpPr>
        <p:spPr>
          <a:xfrm>
            <a:off x="6263640" y="1609344"/>
            <a:ext cx="2633472" cy="347472"/>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Best for: Deep single-variable investigation including formal normality testing.</a:t>
            </a:r>
            <a:endParaRPr lang="en-US" sz="900" dirty="0"/>
          </a:p>
        </p:txBody>
      </p:sp>
      <p:sp>
        <p:nvSpPr>
          <p:cNvPr id="32" name="Text 30"/>
          <p:cNvSpPr/>
          <p:nvPr/>
        </p:nvSpPr>
        <p:spPr>
          <a:xfrm>
            <a:off x="6263640" y="1993392"/>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Full descriptive statistics table (mean, SD, CI, IQR, skewness, kurtosis)</a:t>
            </a:r>
            <a:endParaRPr lang="en-US" sz="850" dirty="0"/>
          </a:p>
        </p:txBody>
      </p:sp>
      <p:sp>
        <p:nvSpPr>
          <p:cNvPr id="33" name="Text 31"/>
          <p:cNvSpPr/>
          <p:nvPr/>
        </p:nvSpPr>
        <p:spPr>
          <a:xfrm>
            <a:off x="6263640" y="2322576"/>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Tests of normality: Shapiro-Wilk (n&lt;50) and Kolmogorov-Smirnov</a:t>
            </a:r>
            <a:endParaRPr lang="en-US" sz="850" dirty="0"/>
          </a:p>
        </p:txBody>
      </p:sp>
      <p:sp>
        <p:nvSpPr>
          <p:cNvPr id="34" name="Text 32"/>
          <p:cNvSpPr/>
          <p:nvPr/>
        </p:nvSpPr>
        <p:spPr>
          <a:xfrm>
            <a:off x="6263640" y="2651760"/>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Stem-and-leaf plot, Boxplot, Histogram</a:t>
            </a:r>
            <a:endParaRPr lang="en-US" sz="850" dirty="0"/>
          </a:p>
        </p:txBody>
      </p:sp>
      <p:sp>
        <p:nvSpPr>
          <p:cNvPr id="35" name="Text 33"/>
          <p:cNvSpPr/>
          <p:nvPr/>
        </p:nvSpPr>
        <p:spPr>
          <a:xfrm>
            <a:off x="6263640" y="2980944"/>
            <a:ext cx="2633472" cy="31089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Separate output per group if factor specified</a:t>
            </a:r>
            <a:endParaRPr lang="en-US" sz="850" dirty="0"/>
          </a:p>
        </p:txBody>
      </p:sp>
      <p:sp>
        <p:nvSpPr>
          <p:cNvPr id="36" name="Shape 34"/>
          <p:cNvSpPr/>
          <p:nvPr/>
        </p:nvSpPr>
        <p:spPr>
          <a:xfrm>
            <a:off x="6263640" y="3383280"/>
            <a:ext cx="2633472" cy="18288"/>
          </a:xfrm>
          <a:prstGeom prst="rect">
            <a:avLst/>
          </a:prstGeom>
          <a:solidFill>
            <a:srgbClr val="0E7C7B"/>
          </a:solidFill>
          <a:ln w="12700">
            <a:solidFill>
              <a:srgbClr val="0E7C7B"/>
            </a:solidFill>
            <a:prstDash val="solid"/>
          </a:ln>
        </p:spPr>
      </p:sp>
      <p:sp>
        <p:nvSpPr>
          <p:cNvPr id="37" name="Text 35"/>
          <p:cNvSpPr/>
          <p:nvPr/>
        </p:nvSpPr>
        <p:spPr>
          <a:xfrm>
            <a:off x="6263640" y="3438144"/>
            <a:ext cx="2633472" cy="530352"/>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Run sat_mean with gender as Factor → separate descriptive stats AND normality tests for male vs. female consumers before running t-test.</a:t>
            </a:r>
            <a:endParaRPr lang="en-US" sz="850" dirty="0"/>
          </a:p>
        </p:txBody>
      </p:sp>
      <p:sp>
        <p:nvSpPr>
          <p:cNvPr id="38" name="Shape 36"/>
          <p:cNvSpPr/>
          <p:nvPr/>
        </p:nvSpPr>
        <p:spPr>
          <a:xfrm>
            <a:off x="256032" y="5102352"/>
            <a:ext cx="8631936" cy="384048"/>
          </a:xfrm>
          <a:prstGeom prst="roundRect">
            <a:avLst>
              <a:gd name="adj" fmla="val 14286"/>
            </a:avLst>
          </a:prstGeom>
          <a:solidFill>
            <a:srgbClr val="FFFBEC"/>
          </a:solidFill>
          <a:ln w="19050">
            <a:solidFill>
              <a:srgbClr val="D4A017"/>
            </a:solidFill>
            <a:prstDash val="solid"/>
          </a:ln>
        </p:spPr>
      </p:sp>
      <p:sp>
        <p:nvSpPr>
          <p:cNvPr id="39" name="Text 37"/>
          <p:cNvSpPr/>
          <p:nvPr/>
        </p:nvSpPr>
        <p:spPr>
          <a:xfrm>
            <a:off x="384048" y="5102352"/>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Recommended sequence: (1) Frequencies first for data validation and all variable types. (2) Descriptives for compact scale variable summary. (3) Explore before every parametric test.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5C1A6B">
              <a:alpha val="16000"/>
            </a:srgbClr>
          </a:solidFill>
          <a:ln w="12700">
            <a:solidFill>
              <a:srgbClr val="5C1A6B"/>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Reading Frequencies Output - UAC Foods Consumer Survey</a:t>
            </a:r>
            <a:endParaRPr lang="en-US" sz="2700" dirty="0"/>
          </a:p>
        </p:txBody>
      </p:sp>
      <p:sp>
        <p:nvSpPr>
          <p:cNvPr id="4" name="Shape 2"/>
          <p:cNvSpPr/>
          <p:nvPr/>
        </p:nvSpPr>
        <p:spPr>
          <a:xfrm>
            <a:off x="274320" y="914400"/>
            <a:ext cx="4892040" cy="3246120"/>
          </a:xfrm>
          <a:prstGeom prst="roundRect">
            <a:avLst>
              <a:gd name="adj" fmla="val 2817"/>
            </a:avLst>
          </a:prstGeom>
          <a:solidFill>
            <a:srgbClr val="2D1135"/>
          </a:solidFill>
          <a:ln w="12700">
            <a:solidFill>
              <a:srgbClr val="7B2D8B"/>
            </a:solidFill>
            <a:prstDash val="solid"/>
          </a:ln>
        </p:spPr>
      </p:sp>
      <p:sp>
        <p:nvSpPr>
          <p:cNvPr id="5" name="Text 3"/>
          <p:cNvSpPr/>
          <p:nvPr/>
        </p:nvSpPr>
        <p:spPr>
          <a:xfrm>
            <a:off x="384048" y="987552"/>
            <a:ext cx="4663440" cy="256032"/>
          </a:xfrm>
          <a:prstGeom prst="rect">
            <a:avLst/>
          </a:prstGeom>
          <a:noFill/>
          <a:ln/>
        </p:spPr>
        <p:txBody>
          <a:bodyPr wrap="square" lIns="0" tIns="0" rIns="0" bIns="0" rtlCol="0" anchor="ctr"/>
          <a:lstStyle/>
          <a:p>
            <a:pPr indent="0" marL="0">
              <a:buNone/>
            </a:pPr>
            <a:r>
              <a:rPr lang="en-US" sz="1000" b="1" dirty="0">
                <a:solidFill>
                  <a:srgbClr val="F0C040"/>
                </a:solidFill>
                <a:latin typeface="Calibri" pitchFamily="34" charset="0"/>
                <a:ea typeface="Calibri" pitchFamily="34" charset="-122"/>
                <a:cs typeface="Calibri" pitchFamily="34" charset="-120"/>
              </a:rPr>
              <a:t>Preferred UAC Foods Product  -  Frequency Table</a:t>
            </a:r>
            <a:endParaRPr lang="en-US" sz="1000" dirty="0"/>
          </a:p>
        </p:txBody>
      </p:sp>
      <p:sp>
        <p:nvSpPr>
          <p:cNvPr id="6" name="Shape 4"/>
          <p:cNvSpPr/>
          <p:nvPr/>
        </p:nvSpPr>
        <p:spPr>
          <a:xfrm>
            <a:off x="347472" y="1280160"/>
            <a:ext cx="1005840" cy="256032"/>
          </a:xfrm>
          <a:prstGeom prst="rect">
            <a:avLst/>
          </a:prstGeom>
          <a:solidFill>
            <a:srgbClr val="5C1A6B"/>
          </a:solidFill>
          <a:ln w="12700">
            <a:solidFill>
              <a:srgbClr val="5C1A6B"/>
            </a:solidFill>
            <a:prstDash val="solid"/>
          </a:ln>
        </p:spPr>
      </p:sp>
      <p:sp>
        <p:nvSpPr>
          <p:cNvPr id="7" name="Text 5"/>
          <p:cNvSpPr/>
          <p:nvPr/>
        </p:nvSpPr>
        <p:spPr>
          <a:xfrm>
            <a:off x="347472" y="1280160"/>
            <a:ext cx="10058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Product</a:t>
            </a:r>
            <a:endParaRPr lang="en-US" sz="850" dirty="0"/>
          </a:p>
        </p:txBody>
      </p:sp>
      <p:sp>
        <p:nvSpPr>
          <p:cNvPr id="8" name="Shape 6"/>
          <p:cNvSpPr/>
          <p:nvPr/>
        </p:nvSpPr>
        <p:spPr>
          <a:xfrm>
            <a:off x="1389888" y="1280160"/>
            <a:ext cx="621792" cy="256032"/>
          </a:xfrm>
          <a:prstGeom prst="rect">
            <a:avLst/>
          </a:prstGeom>
          <a:solidFill>
            <a:srgbClr val="5C1A6B"/>
          </a:solidFill>
          <a:ln w="12700">
            <a:solidFill>
              <a:srgbClr val="5C1A6B"/>
            </a:solidFill>
            <a:prstDash val="solid"/>
          </a:ln>
        </p:spPr>
      </p:sp>
      <p:sp>
        <p:nvSpPr>
          <p:cNvPr id="9" name="Text 7"/>
          <p:cNvSpPr/>
          <p:nvPr/>
        </p:nvSpPr>
        <p:spPr>
          <a:xfrm>
            <a:off x="1389888" y="1280160"/>
            <a:ext cx="62179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Frequency</a:t>
            </a:r>
            <a:endParaRPr lang="en-US" sz="850" dirty="0"/>
          </a:p>
        </p:txBody>
      </p:sp>
      <p:sp>
        <p:nvSpPr>
          <p:cNvPr id="10" name="Shape 8"/>
          <p:cNvSpPr/>
          <p:nvPr/>
        </p:nvSpPr>
        <p:spPr>
          <a:xfrm>
            <a:off x="2048256" y="1280160"/>
            <a:ext cx="658368" cy="256032"/>
          </a:xfrm>
          <a:prstGeom prst="rect">
            <a:avLst/>
          </a:prstGeom>
          <a:solidFill>
            <a:srgbClr val="5C1A6B"/>
          </a:solidFill>
          <a:ln w="12700">
            <a:solidFill>
              <a:srgbClr val="5C1A6B"/>
            </a:solidFill>
            <a:prstDash val="solid"/>
          </a:ln>
        </p:spPr>
      </p:sp>
      <p:sp>
        <p:nvSpPr>
          <p:cNvPr id="11" name="Text 9"/>
          <p:cNvSpPr/>
          <p:nvPr/>
        </p:nvSpPr>
        <p:spPr>
          <a:xfrm>
            <a:off x="2048256" y="1280160"/>
            <a:ext cx="65836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Percent</a:t>
            </a:r>
            <a:endParaRPr lang="en-US" sz="850" dirty="0"/>
          </a:p>
        </p:txBody>
      </p:sp>
      <p:sp>
        <p:nvSpPr>
          <p:cNvPr id="12" name="Shape 10"/>
          <p:cNvSpPr/>
          <p:nvPr/>
        </p:nvSpPr>
        <p:spPr>
          <a:xfrm>
            <a:off x="2743200" y="1280160"/>
            <a:ext cx="713232" cy="256032"/>
          </a:xfrm>
          <a:prstGeom prst="rect">
            <a:avLst/>
          </a:prstGeom>
          <a:solidFill>
            <a:srgbClr val="5C1A6B"/>
          </a:solidFill>
          <a:ln w="12700">
            <a:solidFill>
              <a:srgbClr val="5C1A6B"/>
            </a:solidFill>
            <a:prstDash val="solid"/>
          </a:ln>
        </p:spPr>
      </p:sp>
      <p:sp>
        <p:nvSpPr>
          <p:cNvPr id="13" name="Text 11"/>
          <p:cNvSpPr/>
          <p:nvPr/>
        </p:nvSpPr>
        <p:spPr>
          <a:xfrm>
            <a:off x="2743200" y="1280160"/>
            <a:ext cx="7132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Valid %</a:t>
            </a:r>
            <a:endParaRPr lang="en-US" sz="850" dirty="0"/>
          </a:p>
        </p:txBody>
      </p:sp>
      <p:sp>
        <p:nvSpPr>
          <p:cNvPr id="14" name="Shape 12"/>
          <p:cNvSpPr/>
          <p:nvPr/>
        </p:nvSpPr>
        <p:spPr>
          <a:xfrm>
            <a:off x="3493008" y="1280160"/>
            <a:ext cx="658368" cy="256032"/>
          </a:xfrm>
          <a:prstGeom prst="rect">
            <a:avLst/>
          </a:prstGeom>
          <a:solidFill>
            <a:srgbClr val="5C1A6B"/>
          </a:solidFill>
          <a:ln w="12700">
            <a:solidFill>
              <a:srgbClr val="5C1A6B"/>
            </a:solidFill>
            <a:prstDash val="solid"/>
          </a:ln>
        </p:spPr>
      </p:sp>
      <p:sp>
        <p:nvSpPr>
          <p:cNvPr id="15" name="Text 13"/>
          <p:cNvSpPr/>
          <p:nvPr/>
        </p:nvSpPr>
        <p:spPr>
          <a:xfrm>
            <a:off x="3493008" y="1280160"/>
            <a:ext cx="65836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Cumul. %</a:t>
            </a:r>
            <a:endParaRPr lang="en-US" sz="850" dirty="0"/>
          </a:p>
        </p:txBody>
      </p:sp>
      <p:sp>
        <p:nvSpPr>
          <p:cNvPr id="16" name="Shape 14"/>
          <p:cNvSpPr/>
          <p:nvPr/>
        </p:nvSpPr>
        <p:spPr>
          <a:xfrm>
            <a:off x="347472" y="1554480"/>
            <a:ext cx="1005840" cy="329184"/>
          </a:xfrm>
          <a:prstGeom prst="rect">
            <a:avLst/>
          </a:prstGeom>
          <a:solidFill>
            <a:srgbClr val="2D1550"/>
          </a:solidFill>
          <a:ln w="6350">
            <a:solidFill>
              <a:srgbClr val="3A2060"/>
            </a:solidFill>
            <a:prstDash val="solid"/>
          </a:ln>
        </p:spPr>
      </p:sp>
      <p:sp>
        <p:nvSpPr>
          <p:cNvPr id="17" name="Text 15"/>
          <p:cNvSpPr/>
          <p:nvPr/>
        </p:nvSpPr>
        <p:spPr>
          <a:xfrm>
            <a:off x="347472" y="1554480"/>
            <a:ext cx="1005840" cy="329184"/>
          </a:xfrm>
          <a:prstGeom prst="rect">
            <a:avLst/>
          </a:prstGeom>
          <a:noFill/>
          <a:ln/>
        </p:spPr>
        <p:txBody>
          <a:bodyPr wrap="square" lIns="0" tIns="0" rIns="0" bIns="0" rtlCol="0" anchor="ctr"/>
          <a:lstStyle/>
          <a:p>
            <a:pPr algn="ctr" indent="0" marL="0">
              <a:buNone/>
            </a:pPr>
            <a:r>
              <a:rPr lang="en-US" sz="850" dirty="0">
                <a:solidFill>
                  <a:srgbClr val="F0C040"/>
                </a:solidFill>
                <a:latin typeface="Calibri" pitchFamily="34" charset="0"/>
                <a:ea typeface="Calibri" pitchFamily="34" charset="-122"/>
                <a:cs typeface="Calibri" pitchFamily="34" charset="-120"/>
              </a:rPr>
              <a:t>Gala Sausage</a:t>
            </a:r>
            <a:endParaRPr lang="en-US" sz="850" dirty="0"/>
          </a:p>
        </p:txBody>
      </p:sp>
      <p:sp>
        <p:nvSpPr>
          <p:cNvPr id="18" name="Shape 16"/>
          <p:cNvSpPr/>
          <p:nvPr/>
        </p:nvSpPr>
        <p:spPr>
          <a:xfrm>
            <a:off x="1389888" y="1554480"/>
            <a:ext cx="621792" cy="329184"/>
          </a:xfrm>
          <a:prstGeom prst="rect">
            <a:avLst/>
          </a:prstGeom>
          <a:solidFill>
            <a:srgbClr val="2D1550"/>
          </a:solidFill>
          <a:ln w="6350">
            <a:solidFill>
              <a:srgbClr val="3A2060"/>
            </a:solidFill>
            <a:prstDash val="solid"/>
          </a:ln>
        </p:spPr>
      </p:sp>
      <p:sp>
        <p:nvSpPr>
          <p:cNvPr id="19" name="Text 17"/>
          <p:cNvSpPr/>
          <p:nvPr/>
        </p:nvSpPr>
        <p:spPr>
          <a:xfrm>
            <a:off x="1389888" y="1554480"/>
            <a:ext cx="621792" cy="329184"/>
          </a:xfrm>
          <a:prstGeom prst="rect">
            <a:avLst/>
          </a:prstGeom>
          <a:noFill/>
          <a:ln/>
        </p:spPr>
        <p:txBody>
          <a:bodyPr wrap="square" lIns="0" tIns="0" rIns="0" bIns="0" rtlCol="0" anchor="ctr"/>
          <a:lstStyle/>
          <a:p>
            <a:pPr algn="ctr" indent="0" marL="0">
              <a:buNone/>
            </a:pPr>
            <a:r>
              <a:rPr lang="en-US" sz="850" dirty="0">
                <a:solidFill>
                  <a:srgbClr val="F0C040"/>
                </a:solidFill>
                <a:latin typeface="Calibri" pitchFamily="34" charset="0"/>
                <a:ea typeface="Calibri" pitchFamily="34" charset="-122"/>
                <a:cs typeface="Calibri" pitchFamily="34" charset="-120"/>
              </a:rPr>
              <a:t>172</a:t>
            </a:r>
            <a:endParaRPr lang="en-US" sz="850" dirty="0"/>
          </a:p>
        </p:txBody>
      </p:sp>
      <p:sp>
        <p:nvSpPr>
          <p:cNvPr id="20" name="Shape 18"/>
          <p:cNvSpPr/>
          <p:nvPr/>
        </p:nvSpPr>
        <p:spPr>
          <a:xfrm>
            <a:off x="2048256" y="1554480"/>
            <a:ext cx="658368" cy="329184"/>
          </a:xfrm>
          <a:prstGeom prst="rect">
            <a:avLst/>
          </a:prstGeom>
          <a:solidFill>
            <a:srgbClr val="2D1550"/>
          </a:solidFill>
          <a:ln w="6350">
            <a:solidFill>
              <a:srgbClr val="3A2060"/>
            </a:solidFill>
            <a:prstDash val="solid"/>
          </a:ln>
        </p:spPr>
      </p:sp>
      <p:sp>
        <p:nvSpPr>
          <p:cNvPr id="21" name="Text 19"/>
          <p:cNvSpPr/>
          <p:nvPr/>
        </p:nvSpPr>
        <p:spPr>
          <a:xfrm>
            <a:off x="2048256" y="1554480"/>
            <a:ext cx="658368" cy="329184"/>
          </a:xfrm>
          <a:prstGeom prst="rect">
            <a:avLst/>
          </a:prstGeom>
          <a:noFill/>
          <a:ln/>
        </p:spPr>
        <p:txBody>
          <a:bodyPr wrap="square" lIns="0" tIns="0" rIns="0" bIns="0" rtlCol="0" anchor="ctr"/>
          <a:lstStyle/>
          <a:p>
            <a:pPr algn="ctr" indent="0" marL="0">
              <a:buNone/>
            </a:pPr>
            <a:r>
              <a:rPr lang="en-US" sz="850" dirty="0">
                <a:solidFill>
                  <a:srgbClr val="F0C040"/>
                </a:solidFill>
                <a:latin typeface="Calibri" pitchFamily="34" charset="0"/>
                <a:ea typeface="Calibri" pitchFamily="34" charset="-122"/>
                <a:cs typeface="Calibri" pitchFamily="34" charset="-120"/>
              </a:rPr>
              <a:t>38.2</a:t>
            </a:r>
            <a:endParaRPr lang="en-US" sz="850" dirty="0"/>
          </a:p>
        </p:txBody>
      </p:sp>
      <p:sp>
        <p:nvSpPr>
          <p:cNvPr id="22" name="Shape 20"/>
          <p:cNvSpPr/>
          <p:nvPr/>
        </p:nvSpPr>
        <p:spPr>
          <a:xfrm>
            <a:off x="2743200" y="1554480"/>
            <a:ext cx="713232" cy="329184"/>
          </a:xfrm>
          <a:prstGeom prst="rect">
            <a:avLst/>
          </a:prstGeom>
          <a:solidFill>
            <a:srgbClr val="2D1550"/>
          </a:solidFill>
          <a:ln w="6350">
            <a:solidFill>
              <a:srgbClr val="3A2060"/>
            </a:solidFill>
            <a:prstDash val="solid"/>
          </a:ln>
        </p:spPr>
      </p:sp>
      <p:sp>
        <p:nvSpPr>
          <p:cNvPr id="23" name="Text 21"/>
          <p:cNvSpPr/>
          <p:nvPr/>
        </p:nvSpPr>
        <p:spPr>
          <a:xfrm>
            <a:off x="2743200" y="1554480"/>
            <a:ext cx="713232" cy="329184"/>
          </a:xfrm>
          <a:prstGeom prst="rect">
            <a:avLst/>
          </a:prstGeom>
          <a:noFill/>
          <a:ln/>
        </p:spPr>
        <p:txBody>
          <a:bodyPr wrap="square" lIns="0" tIns="0" rIns="0" bIns="0" rtlCol="0" anchor="ctr"/>
          <a:lstStyle/>
          <a:p>
            <a:pPr algn="ctr" indent="0" marL="0">
              <a:buNone/>
            </a:pPr>
            <a:r>
              <a:rPr lang="en-US" sz="850" dirty="0">
                <a:solidFill>
                  <a:srgbClr val="F0C040"/>
                </a:solidFill>
                <a:latin typeface="Calibri" pitchFamily="34" charset="0"/>
                <a:ea typeface="Calibri" pitchFamily="34" charset="-122"/>
                <a:cs typeface="Calibri" pitchFamily="34" charset="-120"/>
              </a:rPr>
              <a:t>38.2</a:t>
            </a:r>
            <a:endParaRPr lang="en-US" sz="850" dirty="0"/>
          </a:p>
        </p:txBody>
      </p:sp>
      <p:sp>
        <p:nvSpPr>
          <p:cNvPr id="24" name="Shape 22"/>
          <p:cNvSpPr/>
          <p:nvPr/>
        </p:nvSpPr>
        <p:spPr>
          <a:xfrm>
            <a:off x="3493008" y="1554480"/>
            <a:ext cx="658368" cy="329184"/>
          </a:xfrm>
          <a:prstGeom prst="rect">
            <a:avLst/>
          </a:prstGeom>
          <a:solidFill>
            <a:srgbClr val="2D1550"/>
          </a:solidFill>
          <a:ln w="6350">
            <a:solidFill>
              <a:srgbClr val="3A2060"/>
            </a:solidFill>
            <a:prstDash val="solid"/>
          </a:ln>
        </p:spPr>
      </p:sp>
      <p:sp>
        <p:nvSpPr>
          <p:cNvPr id="25" name="Text 23"/>
          <p:cNvSpPr/>
          <p:nvPr/>
        </p:nvSpPr>
        <p:spPr>
          <a:xfrm>
            <a:off x="3493008" y="1554480"/>
            <a:ext cx="658368" cy="329184"/>
          </a:xfrm>
          <a:prstGeom prst="rect">
            <a:avLst/>
          </a:prstGeom>
          <a:noFill/>
          <a:ln/>
        </p:spPr>
        <p:txBody>
          <a:bodyPr wrap="square" lIns="0" tIns="0" rIns="0" bIns="0" rtlCol="0" anchor="ctr"/>
          <a:lstStyle/>
          <a:p>
            <a:pPr algn="ctr" indent="0" marL="0">
              <a:buNone/>
            </a:pPr>
            <a:r>
              <a:rPr lang="en-US" sz="850" dirty="0">
                <a:solidFill>
                  <a:srgbClr val="F0C040"/>
                </a:solidFill>
                <a:latin typeface="Calibri" pitchFamily="34" charset="0"/>
                <a:ea typeface="Calibri" pitchFamily="34" charset="-122"/>
                <a:cs typeface="Calibri" pitchFamily="34" charset="-120"/>
              </a:rPr>
              <a:t>38.2</a:t>
            </a:r>
            <a:endParaRPr lang="en-US" sz="850" dirty="0"/>
          </a:p>
        </p:txBody>
      </p:sp>
      <p:sp>
        <p:nvSpPr>
          <p:cNvPr id="26" name="Shape 24"/>
          <p:cNvSpPr/>
          <p:nvPr/>
        </p:nvSpPr>
        <p:spPr>
          <a:xfrm>
            <a:off x="347472" y="1901952"/>
            <a:ext cx="1005840" cy="329184"/>
          </a:xfrm>
          <a:prstGeom prst="rect">
            <a:avLst/>
          </a:prstGeom>
          <a:solidFill>
            <a:srgbClr val="2D1135"/>
          </a:solidFill>
          <a:ln w="6350">
            <a:solidFill>
              <a:srgbClr val="3A2060"/>
            </a:solidFill>
            <a:prstDash val="solid"/>
          </a:ln>
        </p:spPr>
      </p:sp>
      <p:sp>
        <p:nvSpPr>
          <p:cNvPr id="27" name="Text 25"/>
          <p:cNvSpPr/>
          <p:nvPr/>
        </p:nvSpPr>
        <p:spPr>
          <a:xfrm>
            <a:off x="347472" y="1901952"/>
            <a:ext cx="1005840"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Deli Foods</a:t>
            </a:r>
            <a:endParaRPr lang="en-US" sz="850" dirty="0"/>
          </a:p>
        </p:txBody>
      </p:sp>
      <p:sp>
        <p:nvSpPr>
          <p:cNvPr id="28" name="Shape 26"/>
          <p:cNvSpPr/>
          <p:nvPr/>
        </p:nvSpPr>
        <p:spPr>
          <a:xfrm>
            <a:off x="1389888" y="1901952"/>
            <a:ext cx="621792" cy="329184"/>
          </a:xfrm>
          <a:prstGeom prst="rect">
            <a:avLst/>
          </a:prstGeom>
          <a:solidFill>
            <a:srgbClr val="2D1135"/>
          </a:solidFill>
          <a:ln w="6350">
            <a:solidFill>
              <a:srgbClr val="3A2060"/>
            </a:solidFill>
            <a:prstDash val="solid"/>
          </a:ln>
        </p:spPr>
      </p:sp>
      <p:sp>
        <p:nvSpPr>
          <p:cNvPr id="29" name="Text 27"/>
          <p:cNvSpPr/>
          <p:nvPr/>
        </p:nvSpPr>
        <p:spPr>
          <a:xfrm>
            <a:off x="1389888" y="1901952"/>
            <a:ext cx="621792"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108</a:t>
            </a:r>
            <a:endParaRPr lang="en-US" sz="850" dirty="0"/>
          </a:p>
        </p:txBody>
      </p:sp>
      <p:sp>
        <p:nvSpPr>
          <p:cNvPr id="30" name="Shape 28"/>
          <p:cNvSpPr/>
          <p:nvPr/>
        </p:nvSpPr>
        <p:spPr>
          <a:xfrm>
            <a:off x="2048256" y="1901952"/>
            <a:ext cx="658368" cy="329184"/>
          </a:xfrm>
          <a:prstGeom prst="rect">
            <a:avLst/>
          </a:prstGeom>
          <a:solidFill>
            <a:srgbClr val="2D1135"/>
          </a:solidFill>
          <a:ln w="6350">
            <a:solidFill>
              <a:srgbClr val="3A2060"/>
            </a:solidFill>
            <a:prstDash val="solid"/>
          </a:ln>
        </p:spPr>
      </p:sp>
      <p:sp>
        <p:nvSpPr>
          <p:cNvPr id="31" name="Text 29"/>
          <p:cNvSpPr/>
          <p:nvPr/>
        </p:nvSpPr>
        <p:spPr>
          <a:xfrm>
            <a:off x="2048256" y="1901952"/>
            <a:ext cx="658368"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24.0</a:t>
            </a:r>
            <a:endParaRPr lang="en-US" sz="850" dirty="0"/>
          </a:p>
        </p:txBody>
      </p:sp>
      <p:sp>
        <p:nvSpPr>
          <p:cNvPr id="32" name="Shape 30"/>
          <p:cNvSpPr/>
          <p:nvPr/>
        </p:nvSpPr>
        <p:spPr>
          <a:xfrm>
            <a:off x="2743200" y="1901952"/>
            <a:ext cx="713232" cy="329184"/>
          </a:xfrm>
          <a:prstGeom prst="rect">
            <a:avLst/>
          </a:prstGeom>
          <a:solidFill>
            <a:srgbClr val="2D1135"/>
          </a:solidFill>
          <a:ln w="6350">
            <a:solidFill>
              <a:srgbClr val="3A2060"/>
            </a:solidFill>
            <a:prstDash val="solid"/>
          </a:ln>
        </p:spPr>
      </p:sp>
      <p:sp>
        <p:nvSpPr>
          <p:cNvPr id="33" name="Text 31"/>
          <p:cNvSpPr/>
          <p:nvPr/>
        </p:nvSpPr>
        <p:spPr>
          <a:xfrm>
            <a:off x="2743200" y="1901952"/>
            <a:ext cx="713232"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24.0</a:t>
            </a:r>
            <a:endParaRPr lang="en-US" sz="850" dirty="0"/>
          </a:p>
        </p:txBody>
      </p:sp>
      <p:sp>
        <p:nvSpPr>
          <p:cNvPr id="34" name="Shape 32"/>
          <p:cNvSpPr/>
          <p:nvPr/>
        </p:nvSpPr>
        <p:spPr>
          <a:xfrm>
            <a:off x="3493008" y="1901952"/>
            <a:ext cx="658368" cy="329184"/>
          </a:xfrm>
          <a:prstGeom prst="rect">
            <a:avLst/>
          </a:prstGeom>
          <a:solidFill>
            <a:srgbClr val="2D1135"/>
          </a:solidFill>
          <a:ln w="6350">
            <a:solidFill>
              <a:srgbClr val="3A2060"/>
            </a:solidFill>
            <a:prstDash val="solid"/>
          </a:ln>
        </p:spPr>
      </p:sp>
      <p:sp>
        <p:nvSpPr>
          <p:cNvPr id="35" name="Text 33"/>
          <p:cNvSpPr/>
          <p:nvPr/>
        </p:nvSpPr>
        <p:spPr>
          <a:xfrm>
            <a:off x="3493008" y="1901952"/>
            <a:ext cx="658368"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62.2</a:t>
            </a:r>
            <a:endParaRPr lang="en-US" sz="850" dirty="0"/>
          </a:p>
        </p:txBody>
      </p:sp>
      <p:sp>
        <p:nvSpPr>
          <p:cNvPr id="36" name="Shape 34"/>
          <p:cNvSpPr/>
          <p:nvPr/>
        </p:nvSpPr>
        <p:spPr>
          <a:xfrm>
            <a:off x="347472" y="2249424"/>
            <a:ext cx="1005840" cy="329184"/>
          </a:xfrm>
          <a:prstGeom prst="rect">
            <a:avLst/>
          </a:prstGeom>
          <a:solidFill>
            <a:srgbClr val="1A0A2E"/>
          </a:solidFill>
          <a:ln w="6350">
            <a:solidFill>
              <a:srgbClr val="3A2060"/>
            </a:solidFill>
            <a:prstDash val="solid"/>
          </a:ln>
        </p:spPr>
      </p:sp>
      <p:sp>
        <p:nvSpPr>
          <p:cNvPr id="37" name="Text 35"/>
          <p:cNvSpPr/>
          <p:nvPr/>
        </p:nvSpPr>
        <p:spPr>
          <a:xfrm>
            <a:off x="347472" y="2249424"/>
            <a:ext cx="1005840"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Mr. Biggs</a:t>
            </a:r>
            <a:endParaRPr lang="en-US" sz="850" dirty="0"/>
          </a:p>
        </p:txBody>
      </p:sp>
      <p:sp>
        <p:nvSpPr>
          <p:cNvPr id="38" name="Shape 36"/>
          <p:cNvSpPr/>
          <p:nvPr/>
        </p:nvSpPr>
        <p:spPr>
          <a:xfrm>
            <a:off x="1389888" y="2249424"/>
            <a:ext cx="621792" cy="329184"/>
          </a:xfrm>
          <a:prstGeom prst="rect">
            <a:avLst/>
          </a:prstGeom>
          <a:solidFill>
            <a:srgbClr val="1A0A2E"/>
          </a:solidFill>
          <a:ln w="6350">
            <a:solidFill>
              <a:srgbClr val="3A2060"/>
            </a:solidFill>
            <a:prstDash val="solid"/>
          </a:ln>
        </p:spPr>
      </p:sp>
      <p:sp>
        <p:nvSpPr>
          <p:cNvPr id="39" name="Text 37"/>
          <p:cNvSpPr/>
          <p:nvPr/>
        </p:nvSpPr>
        <p:spPr>
          <a:xfrm>
            <a:off x="1389888" y="2249424"/>
            <a:ext cx="621792"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86</a:t>
            </a:r>
            <a:endParaRPr lang="en-US" sz="850" dirty="0"/>
          </a:p>
        </p:txBody>
      </p:sp>
      <p:sp>
        <p:nvSpPr>
          <p:cNvPr id="40" name="Shape 38"/>
          <p:cNvSpPr/>
          <p:nvPr/>
        </p:nvSpPr>
        <p:spPr>
          <a:xfrm>
            <a:off x="2048256" y="2249424"/>
            <a:ext cx="658368" cy="329184"/>
          </a:xfrm>
          <a:prstGeom prst="rect">
            <a:avLst/>
          </a:prstGeom>
          <a:solidFill>
            <a:srgbClr val="1A0A2E"/>
          </a:solidFill>
          <a:ln w="6350">
            <a:solidFill>
              <a:srgbClr val="3A2060"/>
            </a:solidFill>
            <a:prstDash val="solid"/>
          </a:ln>
        </p:spPr>
      </p:sp>
      <p:sp>
        <p:nvSpPr>
          <p:cNvPr id="41" name="Text 39"/>
          <p:cNvSpPr/>
          <p:nvPr/>
        </p:nvSpPr>
        <p:spPr>
          <a:xfrm>
            <a:off x="2048256" y="2249424"/>
            <a:ext cx="658368"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19.1</a:t>
            </a:r>
            <a:endParaRPr lang="en-US" sz="850" dirty="0"/>
          </a:p>
        </p:txBody>
      </p:sp>
      <p:sp>
        <p:nvSpPr>
          <p:cNvPr id="42" name="Shape 40"/>
          <p:cNvSpPr/>
          <p:nvPr/>
        </p:nvSpPr>
        <p:spPr>
          <a:xfrm>
            <a:off x="2743200" y="2249424"/>
            <a:ext cx="713232" cy="329184"/>
          </a:xfrm>
          <a:prstGeom prst="rect">
            <a:avLst/>
          </a:prstGeom>
          <a:solidFill>
            <a:srgbClr val="1A0A2E"/>
          </a:solidFill>
          <a:ln w="6350">
            <a:solidFill>
              <a:srgbClr val="3A2060"/>
            </a:solidFill>
            <a:prstDash val="solid"/>
          </a:ln>
        </p:spPr>
      </p:sp>
      <p:sp>
        <p:nvSpPr>
          <p:cNvPr id="43" name="Text 41"/>
          <p:cNvSpPr/>
          <p:nvPr/>
        </p:nvSpPr>
        <p:spPr>
          <a:xfrm>
            <a:off x="2743200" y="2249424"/>
            <a:ext cx="713232"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19.1</a:t>
            </a:r>
            <a:endParaRPr lang="en-US" sz="850" dirty="0"/>
          </a:p>
        </p:txBody>
      </p:sp>
      <p:sp>
        <p:nvSpPr>
          <p:cNvPr id="44" name="Shape 42"/>
          <p:cNvSpPr/>
          <p:nvPr/>
        </p:nvSpPr>
        <p:spPr>
          <a:xfrm>
            <a:off x="3493008" y="2249424"/>
            <a:ext cx="658368" cy="329184"/>
          </a:xfrm>
          <a:prstGeom prst="rect">
            <a:avLst/>
          </a:prstGeom>
          <a:solidFill>
            <a:srgbClr val="1A0A2E"/>
          </a:solidFill>
          <a:ln w="6350">
            <a:solidFill>
              <a:srgbClr val="3A2060"/>
            </a:solidFill>
            <a:prstDash val="solid"/>
          </a:ln>
        </p:spPr>
      </p:sp>
      <p:sp>
        <p:nvSpPr>
          <p:cNvPr id="45" name="Text 43"/>
          <p:cNvSpPr/>
          <p:nvPr/>
        </p:nvSpPr>
        <p:spPr>
          <a:xfrm>
            <a:off x="3493008" y="2249424"/>
            <a:ext cx="658368"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81.3</a:t>
            </a:r>
            <a:endParaRPr lang="en-US" sz="850" dirty="0"/>
          </a:p>
        </p:txBody>
      </p:sp>
      <p:sp>
        <p:nvSpPr>
          <p:cNvPr id="46" name="Shape 44"/>
          <p:cNvSpPr/>
          <p:nvPr/>
        </p:nvSpPr>
        <p:spPr>
          <a:xfrm>
            <a:off x="347472" y="2596896"/>
            <a:ext cx="1005840" cy="329184"/>
          </a:xfrm>
          <a:prstGeom prst="rect">
            <a:avLst/>
          </a:prstGeom>
          <a:solidFill>
            <a:srgbClr val="2D1135"/>
          </a:solidFill>
          <a:ln w="6350">
            <a:solidFill>
              <a:srgbClr val="3A2060"/>
            </a:solidFill>
            <a:prstDash val="solid"/>
          </a:ln>
        </p:spPr>
      </p:sp>
      <p:sp>
        <p:nvSpPr>
          <p:cNvPr id="47" name="Text 45"/>
          <p:cNvSpPr/>
          <p:nvPr/>
        </p:nvSpPr>
        <p:spPr>
          <a:xfrm>
            <a:off x="347472" y="2596896"/>
            <a:ext cx="1005840"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Supreme Ice Cream</a:t>
            </a:r>
            <a:endParaRPr lang="en-US" sz="850" dirty="0"/>
          </a:p>
        </p:txBody>
      </p:sp>
      <p:sp>
        <p:nvSpPr>
          <p:cNvPr id="48" name="Shape 46"/>
          <p:cNvSpPr/>
          <p:nvPr/>
        </p:nvSpPr>
        <p:spPr>
          <a:xfrm>
            <a:off x="1389888" y="2596896"/>
            <a:ext cx="621792" cy="329184"/>
          </a:xfrm>
          <a:prstGeom prst="rect">
            <a:avLst/>
          </a:prstGeom>
          <a:solidFill>
            <a:srgbClr val="2D1135"/>
          </a:solidFill>
          <a:ln w="6350">
            <a:solidFill>
              <a:srgbClr val="3A2060"/>
            </a:solidFill>
            <a:prstDash val="solid"/>
          </a:ln>
        </p:spPr>
      </p:sp>
      <p:sp>
        <p:nvSpPr>
          <p:cNvPr id="49" name="Text 47"/>
          <p:cNvSpPr/>
          <p:nvPr/>
        </p:nvSpPr>
        <p:spPr>
          <a:xfrm>
            <a:off x="1389888" y="2596896"/>
            <a:ext cx="621792"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54</a:t>
            </a:r>
            <a:endParaRPr lang="en-US" sz="850" dirty="0"/>
          </a:p>
        </p:txBody>
      </p:sp>
      <p:sp>
        <p:nvSpPr>
          <p:cNvPr id="50" name="Shape 48"/>
          <p:cNvSpPr/>
          <p:nvPr/>
        </p:nvSpPr>
        <p:spPr>
          <a:xfrm>
            <a:off x="2048256" y="2596896"/>
            <a:ext cx="658368" cy="329184"/>
          </a:xfrm>
          <a:prstGeom prst="rect">
            <a:avLst/>
          </a:prstGeom>
          <a:solidFill>
            <a:srgbClr val="2D1135"/>
          </a:solidFill>
          <a:ln w="6350">
            <a:solidFill>
              <a:srgbClr val="3A2060"/>
            </a:solidFill>
            <a:prstDash val="solid"/>
          </a:ln>
        </p:spPr>
      </p:sp>
      <p:sp>
        <p:nvSpPr>
          <p:cNvPr id="51" name="Text 49"/>
          <p:cNvSpPr/>
          <p:nvPr/>
        </p:nvSpPr>
        <p:spPr>
          <a:xfrm>
            <a:off x="2048256" y="2596896"/>
            <a:ext cx="658368"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12.0</a:t>
            </a:r>
            <a:endParaRPr lang="en-US" sz="850" dirty="0"/>
          </a:p>
        </p:txBody>
      </p:sp>
      <p:sp>
        <p:nvSpPr>
          <p:cNvPr id="52" name="Shape 50"/>
          <p:cNvSpPr/>
          <p:nvPr/>
        </p:nvSpPr>
        <p:spPr>
          <a:xfrm>
            <a:off x="2743200" y="2596896"/>
            <a:ext cx="713232" cy="329184"/>
          </a:xfrm>
          <a:prstGeom prst="rect">
            <a:avLst/>
          </a:prstGeom>
          <a:solidFill>
            <a:srgbClr val="2D1135"/>
          </a:solidFill>
          <a:ln w="6350">
            <a:solidFill>
              <a:srgbClr val="3A2060"/>
            </a:solidFill>
            <a:prstDash val="solid"/>
          </a:ln>
        </p:spPr>
      </p:sp>
      <p:sp>
        <p:nvSpPr>
          <p:cNvPr id="53" name="Text 51"/>
          <p:cNvSpPr/>
          <p:nvPr/>
        </p:nvSpPr>
        <p:spPr>
          <a:xfrm>
            <a:off x="2743200" y="2596896"/>
            <a:ext cx="713232"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12.0</a:t>
            </a:r>
            <a:endParaRPr lang="en-US" sz="850" dirty="0"/>
          </a:p>
        </p:txBody>
      </p:sp>
      <p:sp>
        <p:nvSpPr>
          <p:cNvPr id="54" name="Shape 52"/>
          <p:cNvSpPr/>
          <p:nvPr/>
        </p:nvSpPr>
        <p:spPr>
          <a:xfrm>
            <a:off x="3493008" y="2596896"/>
            <a:ext cx="658368" cy="329184"/>
          </a:xfrm>
          <a:prstGeom prst="rect">
            <a:avLst/>
          </a:prstGeom>
          <a:solidFill>
            <a:srgbClr val="2D1135"/>
          </a:solidFill>
          <a:ln w="6350">
            <a:solidFill>
              <a:srgbClr val="3A2060"/>
            </a:solidFill>
            <a:prstDash val="solid"/>
          </a:ln>
        </p:spPr>
      </p:sp>
      <p:sp>
        <p:nvSpPr>
          <p:cNvPr id="55" name="Text 53"/>
          <p:cNvSpPr/>
          <p:nvPr/>
        </p:nvSpPr>
        <p:spPr>
          <a:xfrm>
            <a:off x="3493008" y="2596896"/>
            <a:ext cx="658368"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93.3</a:t>
            </a:r>
            <a:endParaRPr lang="en-US" sz="850" dirty="0"/>
          </a:p>
        </p:txBody>
      </p:sp>
      <p:sp>
        <p:nvSpPr>
          <p:cNvPr id="56" name="Shape 54"/>
          <p:cNvSpPr/>
          <p:nvPr/>
        </p:nvSpPr>
        <p:spPr>
          <a:xfrm>
            <a:off x="347472" y="2944368"/>
            <a:ext cx="1005840" cy="329184"/>
          </a:xfrm>
          <a:prstGeom prst="rect">
            <a:avLst/>
          </a:prstGeom>
          <a:solidFill>
            <a:srgbClr val="1A0A2E"/>
          </a:solidFill>
          <a:ln w="6350">
            <a:solidFill>
              <a:srgbClr val="3A2060"/>
            </a:solidFill>
            <a:prstDash val="solid"/>
          </a:ln>
        </p:spPr>
      </p:sp>
      <p:sp>
        <p:nvSpPr>
          <p:cNvPr id="57" name="Text 55"/>
          <p:cNvSpPr/>
          <p:nvPr/>
        </p:nvSpPr>
        <p:spPr>
          <a:xfrm>
            <a:off x="347472" y="2944368"/>
            <a:ext cx="1005840"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Other UAC product</a:t>
            </a:r>
            <a:endParaRPr lang="en-US" sz="850" dirty="0"/>
          </a:p>
        </p:txBody>
      </p:sp>
      <p:sp>
        <p:nvSpPr>
          <p:cNvPr id="58" name="Shape 56"/>
          <p:cNvSpPr/>
          <p:nvPr/>
        </p:nvSpPr>
        <p:spPr>
          <a:xfrm>
            <a:off x="1389888" y="2944368"/>
            <a:ext cx="621792" cy="329184"/>
          </a:xfrm>
          <a:prstGeom prst="rect">
            <a:avLst/>
          </a:prstGeom>
          <a:solidFill>
            <a:srgbClr val="1A0A2E"/>
          </a:solidFill>
          <a:ln w="6350">
            <a:solidFill>
              <a:srgbClr val="3A2060"/>
            </a:solidFill>
            <a:prstDash val="solid"/>
          </a:ln>
        </p:spPr>
      </p:sp>
      <p:sp>
        <p:nvSpPr>
          <p:cNvPr id="59" name="Text 57"/>
          <p:cNvSpPr/>
          <p:nvPr/>
        </p:nvSpPr>
        <p:spPr>
          <a:xfrm>
            <a:off x="1389888" y="2944368"/>
            <a:ext cx="621792"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30</a:t>
            </a:r>
            <a:endParaRPr lang="en-US" sz="850" dirty="0"/>
          </a:p>
        </p:txBody>
      </p:sp>
      <p:sp>
        <p:nvSpPr>
          <p:cNvPr id="60" name="Shape 58"/>
          <p:cNvSpPr/>
          <p:nvPr/>
        </p:nvSpPr>
        <p:spPr>
          <a:xfrm>
            <a:off x="2048256" y="2944368"/>
            <a:ext cx="658368" cy="329184"/>
          </a:xfrm>
          <a:prstGeom prst="rect">
            <a:avLst/>
          </a:prstGeom>
          <a:solidFill>
            <a:srgbClr val="1A0A2E"/>
          </a:solidFill>
          <a:ln w="6350">
            <a:solidFill>
              <a:srgbClr val="3A2060"/>
            </a:solidFill>
            <a:prstDash val="solid"/>
          </a:ln>
        </p:spPr>
      </p:sp>
      <p:sp>
        <p:nvSpPr>
          <p:cNvPr id="61" name="Text 59"/>
          <p:cNvSpPr/>
          <p:nvPr/>
        </p:nvSpPr>
        <p:spPr>
          <a:xfrm>
            <a:off x="2048256" y="2944368"/>
            <a:ext cx="658368"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6.7</a:t>
            </a:r>
            <a:endParaRPr lang="en-US" sz="850" dirty="0"/>
          </a:p>
        </p:txBody>
      </p:sp>
      <p:sp>
        <p:nvSpPr>
          <p:cNvPr id="62" name="Shape 60"/>
          <p:cNvSpPr/>
          <p:nvPr/>
        </p:nvSpPr>
        <p:spPr>
          <a:xfrm>
            <a:off x="2743200" y="2944368"/>
            <a:ext cx="713232" cy="329184"/>
          </a:xfrm>
          <a:prstGeom prst="rect">
            <a:avLst/>
          </a:prstGeom>
          <a:solidFill>
            <a:srgbClr val="1A0A2E"/>
          </a:solidFill>
          <a:ln w="6350">
            <a:solidFill>
              <a:srgbClr val="3A2060"/>
            </a:solidFill>
            <a:prstDash val="solid"/>
          </a:ln>
        </p:spPr>
      </p:sp>
      <p:sp>
        <p:nvSpPr>
          <p:cNvPr id="63" name="Text 61"/>
          <p:cNvSpPr/>
          <p:nvPr/>
        </p:nvSpPr>
        <p:spPr>
          <a:xfrm>
            <a:off x="2743200" y="2944368"/>
            <a:ext cx="713232"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6.7</a:t>
            </a:r>
            <a:endParaRPr lang="en-US" sz="850" dirty="0"/>
          </a:p>
        </p:txBody>
      </p:sp>
      <p:sp>
        <p:nvSpPr>
          <p:cNvPr id="64" name="Shape 62"/>
          <p:cNvSpPr/>
          <p:nvPr/>
        </p:nvSpPr>
        <p:spPr>
          <a:xfrm>
            <a:off x="3493008" y="2944368"/>
            <a:ext cx="658368" cy="329184"/>
          </a:xfrm>
          <a:prstGeom prst="rect">
            <a:avLst/>
          </a:prstGeom>
          <a:solidFill>
            <a:srgbClr val="1A0A2E"/>
          </a:solidFill>
          <a:ln w="6350">
            <a:solidFill>
              <a:srgbClr val="3A2060"/>
            </a:solidFill>
            <a:prstDash val="solid"/>
          </a:ln>
        </p:spPr>
      </p:sp>
      <p:sp>
        <p:nvSpPr>
          <p:cNvPr id="65" name="Text 63"/>
          <p:cNvSpPr/>
          <p:nvPr/>
        </p:nvSpPr>
        <p:spPr>
          <a:xfrm>
            <a:off x="3493008" y="2944368"/>
            <a:ext cx="658368" cy="329184"/>
          </a:xfrm>
          <a:prstGeom prst="rect">
            <a:avLst/>
          </a:prstGeom>
          <a:noFill/>
          <a:ln/>
        </p:spPr>
        <p:txBody>
          <a:bodyPr wrap="square" lIns="0" tIns="0" rIns="0" bIns="0" rtlCol="0" anchor="ctr"/>
          <a:lstStyle/>
          <a:p>
            <a:pPr algn="ctr" indent="0" marL="0">
              <a:buNone/>
            </a:pPr>
            <a:r>
              <a:rPr lang="en-US" sz="850" dirty="0">
                <a:solidFill>
                  <a:srgbClr val="C8A8E8"/>
                </a:solidFill>
                <a:latin typeface="Calibri" pitchFamily="34" charset="0"/>
                <a:ea typeface="Calibri" pitchFamily="34" charset="-122"/>
                <a:cs typeface="Calibri" pitchFamily="34" charset="-120"/>
              </a:rPr>
              <a:t>100.0</a:t>
            </a:r>
            <a:endParaRPr lang="en-US" sz="850" dirty="0"/>
          </a:p>
        </p:txBody>
      </p:sp>
      <p:sp>
        <p:nvSpPr>
          <p:cNvPr id="66" name="Shape 64"/>
          <p:cNvSpPr/>
          <p:nvPr/>
        </p:nvSpPr>
        <p:spPr>
          <a:xfrm>
            <a:off x="347472" y="3291840"/>
            <a:ext cx="1005840" cy="329184"/>
          </a:xfrm>
          <a:prstGeom prst="rect">
            <a:avLst/>
          </a:prstGeom>
          <a:solidFill>
            <a:srgbClr val="2D1135"/>
          </a:solidFill>
          <a:ln w="6350">
            <a:solidFill>
              <a:srgbClr val="3A2060"/>
            </a:solidFill>
            <a:prstDash val="solid"/>
          </a:ln>
        </p:spPr>
      </p:sp>
      <p:sp>
        <p:nvSpPr>
          <p:cNvPr id="67" name="Text 65"/>
          <p:cNvSpPr/>
          <p:nvPr/>
        </p:nvSpPr>
        <p:spPr>
          <a:xfrm>
            <a:off x="347472" y="3291840"/>
            <a:ext cx="1005840" cy="329184"/>
          </a:xfrm>
          <a:prstGeom prst="rect">
            <a:avLst/>
          </a:prstGeom>
          <a:noFill/>
          <a:ln/>
        </p:spPr>
        <p:txBody>
          <a:bodyPr wrap="square" lIns="0" tIns="0" rIns="0" bIns="0" rtlCol="0" anchor="ctr"/>
          <a:lstStyle/>
          <a:p>
            <a:pPr algn="ctr" indent="0" marL="0">
              <a:buNone/>
            </a:pPr>
            <a:r>
              <a:rPr lang="en-US" sz="850" b="1" dirty="0">
                <a:solidFill>
                  <a:srgbClr val="C8A8E8"/>
                </a:solidFill>
                <a:latin typeface="Calibri" pitchFamily="34" charset="0"/>
                <a:ea typeface="Calibri" pitchFamily="34" charset="-122"/>
                <a:cs typeface="Calibri" pitchFamily="34" charset="-120"/>
              </a:rPr>
              <a:t>Total</a:t>
            </a:r>
            <a:endParaRPr lang="en-US" sz="850" dirty="0"/>
          </a:p>
        </p:txBody>
      </p:sp>
      <p:sp>
        <p:nvSpPr>
          <p:cNvPr id="68" name="Shape 66"/>
          <p:cNvSpPr/>
          <p:nvPr/>
        </p:nvSpPr>
        <p:spPr>
          <a:xfrm>
            <a:off x="1389888" y="3291840"/>
            <a:ext cx="621792" cy="329184"/>
          </a:xfrm>
          <a:prstGeom prst="rect">
            <a:avLst/>
          </a:prstGeom>
          <a:solidFill>
            <a:srgbClr val="2D1135"/>
          </a:solidFill>
          <a:ln w="6350">
            <a:solidFill>
              <a:srgbClr val="3A2060"/>
            </a:solidFill>
            <a:prstDash val="solid"/>
          </a:ln>
        </p:spPr>
      </p:sp>
      <p:sp>
        <p:nvSpPr>
          <p:cNvPr id="69" name="Text 67"/>
          <p:cNvSpPr/>
          <p:nvPr/>
        </p:nvSpPr>
        <p:spPr>
          <a:xfrm>
            <a:off x="1389888" y="3291840"/>
            <a:ext cx="621792" cy="329184"/>
          </a:xfrm>
          <a:prstGeom prst="rect">
            <a:avLst/>
          </a:prstGeom>
          <a:noFill/>
          <a:ln/>
        </p:spPr>
        <p:txBody>
          <a:bodyPr wrap="square" lIns="0" tIns="0" rIns="0" bIns="0" rtlCol="0" anchor="ctr"/>
          <a:lstStyle/>
          <a:p>
            <a:pPr algn="ctr" indent="0" marL="0">
              <a:buNone/>
            </a:pPr>
            <a:r>
              <a:rPr lang="en-US" sz="850" b="1" dirty="0">
                <a:solidFill>
                  <a:srgbClr val="C8A8E8"/>
                </a:solidFill>
                <a:latin typeface="Calibri" pitchFamily="34" charset="0"/>
                <a:ea typeface="Calibri" pitchFamily="34" charset="-122"/>
                <a:cs typeface="Calibri" pitchFamily="34" charset="-120"/>
              </a:rPr>
              <a:t>450</a:t>
            </a:r>
            <a:endParaRPr lang="en-US" sz="850" dirty="0"/>
          </a:p>
        </p:txBody>
      </p:sp>
      <p:sp>
        <p:nvSpPr>
          <p:cNvPr id="70" name="Shape 68"/>
          <p:cNvSpPr/>
          <p:nvPr/>
        </p:nvSpPr>
        <p:spPr>
          <a:xfrm>
            <a:off x="2048256" y="3291840"/>
            <a:ext cx="658368" cy="329184"/>
          </a:xfrm>
          <a:prstGeom prst="rect">
            <a:avLst/>
          </a:prstGeom>
          <a:solidFill>
            <a:srgbClr val="2D1135"/>
          </a:solidFill>
          <a:ln w="6350">
            <a:solidFill>
              <a:srgbClr val="3A2060"/>
            </a:solidFill>
            <a:prstDash val="solid"/>
          </a:ln>
        </p:spPr>
      </p:sp>
      <p:sp>
        <p:nvSpPr>
          <p:cNvPr id="71" name="Text 69"/>
          <p:cNvSpPr/>
          <p:nvPr/>
        </p:nvSpPr>
        <p:spPr>
          <a:xfrm>
            <a:off x="2048256" y="3291840"/>
            <a:ext cx="658368" cy="329184"/>
          </a:xfrm>
          <a:prstGeom prst="rect">
            <a:avLst/>
          </a:prstGeom>
          <a:noFill/>
          <a:ln/>
        </p:spPr>
        <p:txBody>
          <a:bodyPr wrap="square" lIns="0" tIns="0" rIns="0" bIns="0" rtlCol="0" anchor="ctr"/>
          <a:lstStyle/>
          <a:p>
            <a:pPr algn="ctr" indent="0" marL="0">
              <a:buNone/>
            </a:pPr>
            <a:r>
              <a:rPr lang="en-US" sz="850" b="1" dirty="0">
                <a:solidFill>
                  <a:srgbClr val="C8A8E8"/>
                </a:solidFill>
                <a:latin typeface="Calibri" pitchFamily="34" charset="0"/>
                <a:ea typeface="Calibri" pitchFamily="34" charset="-122"/>
                <a:cs typeface="Calibri" pitchFamily="34" charset="-120"/>
              </a:rPr>
              <a:t>100.0</a:t>
            </a:r>
            <a:endParaRPr lang="en-US" sz="850" dirty="0"/>
          </a:p>
        </p:txBody>
      </p:sp>
      <p:sp>
        <p:nvSpPr>
          <p:cNvPr id="72" name="Shape 70"/>
          <p:cNvSpPr/>
          <p:nvPr/>
        </p:nvSpPr>
        <p:spPr>
          <a:xfrm>
            <a:off x="2743200" y="3291840"/>
            <a:ext cx="713232" cy="329184"/>
          </a:xfrm>
          <a:prstGeom prst="rect">
            <a:avLst/>
          </a:prstGeom>
          <a:solidFill>
            <a:srgbClr val="2D1135"/>
          </a:solidFill>
          <a:ln w="6350">
            <a:solidFill>
              <a:srgbClr val="3A2060"/>
            </a:solidFill>
            <a:prstDash val="solid"/>
          </a:ln>
        </p:spPr>
      </p:sp>
      <p:sp>
        <p:nvSpPr>
          <p:cNvPr id="73" name="Text 71"/>
          <p:cNvSpPr/>
          <p:nvPr/>
        </p:nvSpPr>
        <p:spPr>
          <a:xfrm>
            <a:off x="2743200" y="3291840"/>
            <a:ext cx="713232" cy="329184"/>
          </a:xfrm>
          <a:prstGeom prst="rect">
            <a:avLst/>
          </a:prstGeom>
          <a:noFill/>
          <a:ln/>
        </p:spPr>
        <p:txBody>
          <a:bodyPr wrap="square" lIns="0" tIns="0" rIns="0" bIns="0" rtlCol="0" anchor="ctr"/>
          <a:lstStyle/>
          <a:p>
            <a:pPr algn="ctr" indent="0" marL="0">
              <a:buNone/>
            </a:pPr>
            <a:r>
              <a:rPr lang="en-US" sz="850" b="1" dirty="0">
                <a:solidFill>
                  <a:srgbClr val="C8A8E8"/>
                </a:solidFill>
                <a:latin typeface="Calibri" pitchFamily="34" charset="0"/>
                <a:ea typeface="Calibri" pitchFamily="34" charset="-122"/>
                <a:cs typeface="Calibri" pitchFamily="34" charset="-120"/>
              </a:rPr>
              <a:t>100.0</a:t>
            </a:r>
            <a:endParaRPr lang="en-US" sz="850" dirty="0"/>
          </a:p>
        </p:txBody>
      </p:sp>
      <p:sp>
        <p:nvSpPr>
          <p:cNvPr id="74" name="Shape 72"/>
          <p:cNvSpPr/>
          <p:nvPr/>
        </p:nvSpPr>
        <p:spPr>
          <a:xfrm>
            <a:off x="3493008" y="3291840"/>
            <a:ext cx="658368" cy="329184"/>
          </a:xfrm>
          <a:prstGeom prst="rect">
            <a:avLst/>
          </a:prstGeom>
          <a:solidFill>
            <a:srgbClr val="2D1135"/>
          </a:solidFill>
          <a:ln w="6350">
            <a:solidFill>
              <a:srgbClr val="3A2060"/>
            </a:solidFill>
            <a:prstDash val="solid"/>
          </a:ln>
        </p:spPr>
      </p:sp>
      <p:sp>
        <p:nvSpPr>
          <p:cNvPr id="75" name="Text 73"/>
          <p:cNvSpPr/>
          <p:nvPr/>
        </p:nvSpPr>
        <p:spPr>
          <a:xfrm>
            <a:off x="3493008" y="3291840"/>
            <a:ext cx="658368" cy="329184"/>
          </a:xfrm>
          <a:prstGeom prst="rect">
            <a:avLst/>
          </a:prstGeom>
          <a:noFill/>
          <a:ln/>
        </p:spPr>
        <p:txBody>
          <a:bodyPr wrap="square" lIns="0" tIns="0" rIns="0" bIns="0" rtlCol="0" anchor="ctr"/>
          <a:lstStyle/>
          <a:p>
            <a:pPr algn="ctr" indent="0" marL="0">
              <a:buNone/>
            </a:pPr>
            <a:endParaRPr lang="en-US" sz="850" dirty="0"/>
          </a:p>
        </p:txBody>
      </p:sp>
      <p:sp>
        <p:nvSpPr>
          <p:cNvPr id="76" name="Shape 74"/>
          <p:cNvSpPr/>
          <p:nvPr/>
        </p:nvSpPr>
        <p:spPr>
          <a:xfrm>
            <a:off x="5321808" y="932688"/>
            <a:ext cx="3520440" cy="868680"/>
          </a:xfrm>
          <a:prstGeom prst="roundRect">
            <a:avLst>
              <a:gd name="adj" fmla="val 7368"/>
            </a:avLst>
          </a:prstGeom>
          <a:solidFill>
            <a:srgbClr val="0D0820"/>
          </a:solidFill>
          <a:ln w="12700">
            <a:solidFill>
              <a:srgbClr val="D4A017"/>
            </a:solidFill>
            <a:prstDash val="solid"/>
          </a:ln>
        </p:spPr>
      </p:sp>
      <p:sp>
        <p:nvSpPr>
          <p:cNvPr id="77" name="Text 75"/>
          <p:cNvSpPr/>
          <p:nvPr/>
        </p:nvSpPr>
        <p:spPr>
          <a:xfrm>
            <a:off x="5413248" y="1005840"/>
            <a:ext cx="3346704" cy="237744"/>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FREQUENCY</a:t>
            </a:r>
            <a:endParaRPr lang="en-US" sz="1000" dirty="0"/>
          </a:p>
        </p:txBody>
      </p:sp>
      <p:sp>
        <p:nvSpPr>
          <p:cNvPr id="78" name="Text 76"/>
          <p:cNvSpPr/>
          <p:nvPr/>
        </p:nvSpPr>
        <p:spPr>
          <a:xfrm>
            <a:off x="5413248" y="1280160"/>
            <a:ext cx="3346704" cy="438912"/>
          </a:xfrm>
          <a:prstGeom prst="rect">
            <a:avLst/>
          </a:prstGeom>
          <a:noFill/>
          <a:ln/>
        </p:spPr>
        <p:txBody>
          <a:bodyPr wrap="square" lIns="0" tIns="0" rIns="0" bIns="0" rtlCol="0" anchor="ctr"/>
          <a:lstStyle/>
          <a:p>
            <a:pPr indent="0" marL="0">
              <a:buNone/>
            </a:pPr>
            <a:r>
              <a:rPr lang="en-US" sz="950" dirty="0">
                <a:solidFill>
                  <a:srgbClr val="C8A8E8"/>
                </a:solidFill>
                <a:latin typeface="Calibri" pitchFamily="34" charset="0"/>
                <a:ea typeface="Calibri" pitchFamily="34" charset="-122"/>
                <a:cs typeface="Calibri" pitchFamily="34" charset="-120"/>
              </a:rPr>
              <a:t>Raw count of cases in each category. 172 respondents prefer Gala.</a:t>
            </a:r>
            <a:endParaRPr lang="en-US" sz="950" dirty="0"/>
          </a:p>
        </p:txBody>
      </p:sp>
      <p:sp>
        <p:nvSpPr>
          <p:cNvPr id="79" name="Shape 77"/>
          <p:cNvSpPr/>
          <p:nvPr/>
        </p:nvSpPr>
        <p:spPr>
          <a:xfrm>
            <a:off x="5321808" y="1920240"/>
            <a:ext cx="3520440" cy="868680"/>
          </a:xfrm>
          <a:prstGeom prst="roundRect">
            <a:avLst>
              <a:gd name="adj" fmla="val 7368"/>
            </a:avLst>
          </a:prstGeom>
          <a:solidFill>
            <a:srgbClr val="0D0820"/>
          </a:solidFill>
          <a:ln w="12700">
            <a:solidFill>
              <a:srgbClr val="E67E22"/>
            </a:solidFill>
            <a:prstDash val="solid"/>
          </a:ln>
        </p:spPr>
      </p:sp>
      <p:sp>
        <p:nvSpPr>
          <p:cNvPr id="80" name="Text 78"/>
          <p:cNvSpPr/>
          <p:nvPr/>
        </p:nvSpPr>
        <p:spPr>
          <a:xfrm>
            <a:off x="5413248" y="1993392"/>
            <a:ext cx="3346704" cy="237744"/>
          </a:xfrm>
          <a:prstGeom prst="rect">
            <a:avLst/>
          </a:prstGeom>
          <a:noFill/>
          <a:ln/>
        </p:spPr>
        <p:txBody>
          <a:bodyPr wrap="square" lIns="0" tIns="0" rIns="0" bIns="0" rtlCol="0" anchor="ctr"/>
          <a:lstStyle/>
          <a:p>
            <a:pPr indent="0" marL="0">
              <a:buNone/>
            </a:pPr>
            <a:r>
              <a:rPr lang="en-US" sz="1000" b="1" dirty="0">
                <a:solidFill>
                  <a:srgbClr val="E67E22"/>
                </a:solidFill>
                <a:latin typeface="Calibri" pitchFamily="34" charset="0"/>
                <a:ea typeface="Calibri" pitchFamily="34" charset="-122"/>
                <a:cs typeface="Calibri" pitchFamily="34" charset="-120"/>
              </a:rPr>
              <a:t>PERCENT</a:t>
            </a:r>
            <a:endParaRPr lang="en-US" sz="1000" dirty="0"/>
          </a:p>
        </p:txBody>
      </p:sp>
      <p:sp>
        <p:nvSpPr>
          <p:cNvPr id="81" name="Text 79"/>
          <p:cNvSpPr/>
          <p:nvPr/>
        </p:nvSpPr>
        <p:spPr>
          <a:xfrm>
            <a:off x="5413248" y="2267712"/>
            <a:ext cx="3346704" cy="438912"/>
          </a:xfrm>
          <a:prstGeom prst="rect">
            <a:avLst/>
          </a:prstGeom>
          <a:noFill/>
          <a:ln/>
        </p:spPr>
        <p:txBody>
          <a:bodyPr wrap="square" lIns="0" tIns="0" rIns="0" bIns="0" rtlCol="0" anchor="ctr"/>
          <a:lstStyle/>
          <a:p>
            <a:pPr indent="0" marL="0">
              <a:buNone/>
            </a:pPr>
            <a:r>
              <a:rPr lang="en-US" sz="950" dirty="0">
                <a:solidFill>
                  <a:srgbClr val="C8A8E8"/>
                </a:solidFill>
                <a:latin typeface="Calibri" pitchFamily="34" charset="0"/>
                <a:ea typeface="Calibri" pitchFamily="34" charset="-122"/>
                <a:cs typeface="Calibri" pitchFamily="34" charset="-120"/>
              </a:rPr>
              <a:t>% including any missing cases in denominator. Use VALID PERCENT instead.</a:t>
            </a:r>
            <a:endParaRPr lang="en-US" sz="950" dirty="0"/>
          </a:p>
        </p:txBody>
      </p:sp>
      <p:sp>
        <p:nvSpPr>
          <p:cNvPr id="82" name="Shape 80"/>
          <p:cNvSpPr/>
          <p:nvPr/>
        </p:nvSpPr>
        <p:spPr>
          <a:xfrm>
            <a:off x="5321808" y="2907792"/>
            <a:ext cx="3520440" cy="868680"/>
          </a:xfrm>
          <a:prstGeom prst="roundRect">
            <a:avLst>
              <a:gd name="adj" fmla="val 7368"/>
            </a:avLst>
          </a:prstGeom>
          <a:solidFill>
            <a:srgbClr val="0D0820"/>
          </a:solidFill>
          <a:ln w="12700">
            <a:solidFill>
              <a:srgbClr val="27AE60"/>
            </a:solidFill>
            <a:prstDash val="solid"/>
          </a:ln>
        </p:spPr>
      </p:sp>
      <p:sp>
        <p:nvSpPr>
          <p:cNvPr id="83" name="Text 81"/>
          <p:cNvSpPr/>
          <p:nvPr/>
        </p:nvSpPr>
        <p:spPr>
          <a:xfrm>
            <a:off x="5413248" y="2980944"/>
            <a:ext cx="3346704" cy="237744"/>
          </a:xfrm>
          <a:prstGeom prst="rect">
            <a:avLst/>
          </a:prstGeom>
          <a:noFill/>
          <a:ln/>
        </p:spPr>
        <p:txBody>
          <a:bodyPr wrap="square" lIns="0" tIns="0" rIns="0" bIns="0" rtlCol="0" anchor="ctr"/>
          <a:lstStyle/>
          <a:p>
            <a:pPr indent="0" marL="0">
              <a:buNone/>
            </a:pPr>
            <a:r>
              <a:rPr lang="en-US" sz="1000" b="1" dirty="0">
                <a:solidFill>
                  <a:srgbClr val="27AE60"/>
                </a:solidFill>
                <a:latin typeface="Calibri" pitchFamily="34" charset="0"/>
                <a:ea typeface="Calibri" pitchFamily="34" charset="-122"/>
                <a:cs typeface="Calibri" pitchFamily="34" charset="-120"/>
              </a:rPr>
              <a:t>VALID PERCENT</a:t>
            </a:r>
            <a:endParaRPr lang="en-US" sz="1000" dirty="0"/>
          </a:p>
        </p:txBody>
      </p:sp>
      <p:sp>
        <p:nvSpPr>
          <p:cNvPr id="84" name="Text 82"/>
          <p:cNvSpPr/>
          <p:nvPr/>
        </p:nvSpPr>
        <p:spPr>
          <a:xfrm>
            <a:off x="5413248" y="3255264"/>
            <a:ext cx="3346704" cy="438912"/>
          </a:xfrm>
          <a:prstGeom prst="rect">
            <a:avLst/>
          </a:prstGeom>
          <a:noFill/>
          <a:ln/>
        </p:spPr>
        <p:txBody>
          <a:bodyPr wrap="square" lIns="0" tIns="0" rIns="0" bIns="0" rtlCol="0" anchor="ctr"/>
          <a:lstStyle/>
          <a:p>
            <a:pPr indent="0" marL="0">
              <a:buNone/>
            </a:pPr>
            <a:r>
              <a:rPr lang="en-US" sz="950" dirty="0">
                <a:solidFill>
                  <a:srgbClr val="C8A8E8"/>
                </a:solidFill>
                <a:latin typeface="Calibri" pitchFamily="34" charset="0"/>
                <a:ea typeface="Calibri" pitchFamily="34" charset="-122"/>
                <a:cs typeface="Calibri" pitchFamily="34" charset="-120"/>
              </a:rPr>
              <a:t>% calculated from valid cases ONLY. This is what you report in your results.</a:t>
            </a:r>
            <a:endParaRPr lang="en-US" sz="950" dirty="0"/>
          </a:p>
        </p:txBody>
      </p:sp>
      <p:sp>
        <p:nvSpPr>
          <p:cNvPr id="85" name="Shape 83"/>
          <p:cNvSpPr/>
          <p:nvPr/>
        </p:nvSpPr>
        <p:spPr>
          <a:xfrm>
            <a:off x="5321808" y="3895344"/>
            <a:ext cx="3520440" cy="868680"/>
          </a:xfrm>
          <a:prstGeom prst="roundRect">
            <a:avLst>
              <a:gd name="adj" fmla="val 7368"/>
            </a:avLst>
          </a:prstGeom>
          <a:solidFill>
            <a:srgbClr val="0D0820"/>
          </a:solidFill>
          <a:ln w="12700">
            <a:solidFill>
              <a:srgbClr val="3498DB"/>
            </a:solidFill>
            <a:prstDash val="solid"/>
          </a:ln>
        </p:spPr>
      </p:sp>
      <p:sp>
        <p:nvSpPr>
          <p:cNvPr id="86" name="Text 84"/>
          <p:cNvSpPr/>
          <p:nvPr/>
        </p:nvSpPr>
        <p:spPr>
          <a:xfrm>
            <a:off x="5413248" y="3968496"/>
            <a:ext cx="3346704" cy="237744"/>
          </a:xfrm>
          <a:prstGeom prst="rect">
            <a:avLst/>
          </a:prstGeom>
          <a:noFill/>
          <a:ln/>
        </p:spPr>
        <p:txBody>
          <a:bodyPr wrap="square" lIns="0" tIns="0" rIns="0" bIns="0" rtlCol="0" anchor="ctr"/>
          <a:lstStyle/>
          <a:p>
            <a:pPr indent="0" marL="0">
              <a:buNone/>
            </a:pPr>
            <a:r>
              <a:rPr lang="en-US" sz="1000" b="1" dirty="0">
                <a:solidFill>
                  <a:srgbClr val="3498DB"/>
                </a:solidFill>
                <a:latin typeface="Calibri" pitchFamily="34" charset="0"/>
                <a:ea typeface="Calibri" pitchFamily="34" charset="-122"/>
                <a:cs typeface="Calibri" pitchFamily="34" charset="-120"/>
              </a:rPr>
              <a:t>CUMULATIVE %</a:t>
            </a:r>
            <a:endParaRPr lang="en-US" sz="1000" dirty="0"/>
          </a:p>
        </p:txBody>
      </p:sp>
      <p:sp>
        <p:nvSpPr>
          <p:cNvPr id="87" name="Text 85"/>
          <p:cNvSpPr/>
          <p:nvPr/>
        </p:nvSpPr>
        <p:spPr>
          <a:xfrm>
            <a:off x="5413248" y="4242816"/>
            <a:ext cx="3346704" cy="438912"/>
          </a:xfrm>
          <a:prstGeom prst="rect">
            <a:avLst/>
          </a:prstGeom>
          <a:noFill/>
          <a:ln/>
        </p:spPr>
        <p:txBody>
          <a:bodyPr wrap="square" lIns="0" tIns="0" rIns="0" bIns="0" rtlCol="0" anchor="ctr"/>
          <a:lstStyle/>
          <a:p>
            <a:pPr indent="0" marL="0">
              <a:buNone/>
            </a:pPr>
            <a:r>
              <a:rPr lang="en-US" sz="950" dirty="0">
                <a:solidFill>
                  <a:srgbClr val="C8A8E8"/>
                </a:solidFill>
                <a:latin typeface="Calibri" pitchFamily="34" charset="0"/>
                <a:ea typeface="Calibri" pitchFamily="34" charset="-122"/>
                <a:cs typeface="Calibri" pitchFamily="34" charset="-120"/>
              </a:rPr>
              <a:t>Running total of Valid Percent. 81.3% prefer one of the top 3 products.</a:t>
            </a:r>
            <a:endParaRPr lang="en-US" sz="950" dirty="0"/>
          </a:p>
        </p:txBody>
      </p:sp>
      <p:sp>
        <p:nvSpPr>
          <p:cNvPr id="88" name="Shape 86"/>
          <p:cNvSpPr/>
          <p:nvPr/>
        </p:nvSpPr>
        <p:spPr>
          <a:xfrm>
            <a:off x="274320" y="4224528"/>
            <a:ext cx="8595360" cy="868680"/>
          </a:xfrm>
          <a:prstGeom prst="roundRect">
            <a:avLst>
              <a:gd name="adj" fmla="val 8421"/>
            </a:avLst>
          </a:prstGeom>
          <a:solidFill>
            <a:srgbClr val="0D0820"/>
          </a:solidFill>
          <a:ln w="12700">
            <a:solidFill>
              <a:srgbClr val="D4A017"/>
            </a:solidFill>
            <a:prstDash val="solid"/>
          </a:ln>
        </p:spPr>
      </p:sp>
      <p:sp>
        <p:nvSpPr>
          <p:cNvPr id="89" name="Text 87"/>
          <p:cNvSpPr/>
          <p:nvPr/>
        </p:nvSpPr>
        <p:spPr>
          <a:xfrm>
            <a:off x="402336" y="4279392"/>
            <a:ext cx="1828800" cy="237744"/>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How to Write Up:</a:t>
            </a:r>
            <a:endParaRPr lang="en-US" sz="1000" dirty="0"/>
          </a:p>
        </p:txBody>
      </p:sp>
      <p:sp>
        <p:nvSpPr>
          <p:cNvPr id="90" name="Text 88"/>
          <p:cNvSpPr/>
          <p:nvPr/>
        </p:nvSpPr>
        <p:spPr>
          <a:xfrm>
            <a:off x="402336" y="4535424"/>
            <a:ext cx="8229600" cy="493776"/>
          </a:xfrm>
          <a:prstGeom prst="rect">
            <a:avLst/>
          </a:prstGeom>
          <a:noFill/>
          <a:ln/>
        </p:spPr>
        <p:txBody>
          <a:bodyPr wrap="square" lIns="0" tIns="0" rIns="0" bIns="0" rtlCol="0" anchor="ctr"/>
          <a:lstStyle/>
          <a:p>
            <a:pPr indent="0" marL="0">
              <a:buNone/>
            </a:pPr>
            <a:r>
              <a:rPr lang="en-US" sz="950" i="1" dirty="0">
                <a:solidFill>
                  <a:srgbClr val="C8A8E8"/>
                </a:solidFill>
                <a:latin typeface="Calibri" pitchFamily="34" charset="0"/>
                <a:ea typeface="Calibri" pitchFamily="34" charset="-122"/>
                <a:cs typeface="Calibri" pitchFamily="34" charset="-120"/>
              </a:rPr>
              <a:t>The most frequently preferred UAC Foods product was Gala Sausage Roll, chosen by 172 respondents (38.2% of valid responses). Deli Foods was second (24.0%), followed by Mr. Biggs (19.1%). Combined, the top three products accounted for 81.3% of consumer preferences.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0A1E"/>
          </a:solidFill>
          <a:ln w="12700">
            <a:solidFill>
              <a:srgbClr val="1A0A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Testing for Normality - The Assumption Check Before Every Parametric Test</a:t>
            </a:r>
            <a:endParaRPr lang="en-US" sz="2100" dirty="0"/>
          </a:p>
        </p:txBody>
      </p:sp>
      <p:sp>
        <p:nvSpPr>
          <p:cNvPr id="4" name="Shape 2"/>
          <p:cNvSpPr/>
          <p:nvPr/>
        </p:nvSpPr>
        <p:spPr>
          <a:xfrm>
            <a:off x="256032" y="1024128"/>
            <a:ext cx="8631936" cy="594360"/>
          </a:xfrm>
          <a:prstGeom prst="roundRect">
            <a:avLst>
              <a:gd name="adj" fmla="val 12308"/>
            </a:avLst>
          </a:prstGeom>
          <a:solidFill>
            <a:srgbClr val="F8F0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42416"/>
            <a:ext cx="8321040" cy="548640"/>
          </a:xfrm>
          <a:prstGeom prst="rect">
            <a:avLst/>
          </a:prstGeom>
          <a:noFill/>
          <a:ln/>
        </p:spPr>
        <p:txBody>
          <a:bodyPr wrap="square" lIns="0" tIns="0" rIns="0" bIns="0" rtlCol="0" anchor="ctr"/>
          <a:lstStyle/>
          <a:p>
            <a:pPr indent="0" marL="0">
              <a:buNone/>
            </a:pPr>
            <a:r>
              <a:rPr lang="en-US" sz="1050" dirty="0">
                <a:solidFill>
                  <a:srgbClr val="2C1F3E"/>
                </a:solidFill>
                <a:latin typeface="Calibri" pitchFamily="34" charset="0"/>
                <a:ea typeface="Calibri" pitchFamily="34" charset="-122"/>
                <a:cs typeface="Calibri" pitchFamily="34" charset="-120"/>
              </a:rPr>
              <a:t>Most parametric tests (t-test, ANOVA, Pearson correlation, regression) assume the dependent variable is approximately normally distributed within groups. Testing this assumption is REQUIRED before running inferential tests.</a:t>
            </a:r>
            <a:endParaRPr lang="en-US" sz="1050" dirty="0"/>
          </a:p>
        </p:txBody>
      </p:sp>
      <p:sp>
        <p:nvSpPr>
          <p:cNvPr id="6" name="Shape 4"/>
          <p:cNvSpPr/>
          <p:nvPr/>
        </p:nvSpPr>
        <p:spPr>
          <a:xfrm>
            <a:off x="256032" y="1719072"/>
            <a:ext cx="8631936" cy="1627632"/>
          </a:xfrm>
          <a:prstGeom prst="roundRect">
            <a:avLst>
              <a:gd name="adj" fmla="val 5056"/>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29184" y="1792224"/>
            <a:ext cx="2240280" cy="310896"/>
          </a:xfrm>
          <a:prstGeom prst="roundRect">
            <a:avLst>
              <a:gd name="adj" fmla="val 17647"/>
            </a:avLst>
          </a:prstGeom>
          <a:solidFill>
            <a:srgbClr val="5C1A6B"/>
          </a:solidFill>
          <a:ln w="12700">
            <a:solidFill>
              <a:srgbClr val="5C1A6B"/>
            </a:solidFill>
            <a:prstDash val="solid"/>
          </a:ln>
        </p:spPr>
      </p:sp>
      <p:sp>
        <p:nvSpPr>
          <p:cNvPr id="8" name="Text 6"/>
          <p:cNvSpPr/>
          <p:nvPr/>
        </p:nvSpPr>
        <p:spPr>
          <a:xfrm>
            <a:off x="329184" y="1792224"/>
            <a:ext cx="22402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Shapiro-Wilk Test</a:t>
            </a:r>
            <a:endParaRPr lang="en-US" sz="1100" dirty="0"/>
          </a:p>
        </p:txBody>
      </p:sp>
      <p:sp>
        <p:nvSpPr>
          <p:cNvPr id="9" name="Text 7"/>
          <p:cNvSpPr/>
          <p:nvPr/>
        </p:nvSpPr>
        <p:spPr>
          <a:xfrm>
            <a:off x="2651760" y="1810512"/>
            <a:ext cx="3840480" cy="274320"/>
          </a:xfrm>
          <a:prstGeom prst="rect">
            <a:avLst/>
          </a:prstGeom>
          <a:noFill/>
          <a:ln/>
        </p:spPr>
        <p:txBody>
          <a:bodyPr wrap="square" lIns="0" tIns="0" rIns="0" bIns="0" rtlCol="0" anchor="ctr"/>
          <a:lstStyle/>
          <a:p>
            <a:pPr indent="0" marL="0">
              <a:buNone/>
            </a:pPr>
            <a:r>
              <a:rPr lang="en-US" sz="950" i="1" dirty="0">
                <a:solidFill>
                  <a:srgbClr val="5C1A6B"/>
                </a:solidFill>
                <a:latin typeface="Calibri" pitchFamily="34" charset="0"/>
                <a:ea typeface="Calibri" pitchFamily="34" charset="-122"/>
                <a:cs typeface="Calibri" pitchFamily="34" charset="-120"/>
              </a:rPr>
              <a:t>Use when: n &lt; 50 (or up to 2000 for reasonable power)</a:t>
            </a:r>
            <a:endParaRPr lang="en-US" sz="950" dirty="0"/>
          </a:p>
        </p:txBody>
      </p:sp>
      <p:sp>
        <p:nvSpPr>
          <p:cNvPr id="10" name="Text 8"/>
          <p:cNvSpPr/>
          <p:nvPr/>
        </p:nvSpPr>
        <p:spPr>
          <a:xfrm>
            <a:off x="365760" y="2176272"/>
            <a:ext cx="4251960" cy="47548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H0: Data is normally distributed. If Sig. &gt; .05 → FAIL to reject H0 → normality assumption satisfied. If Sig. &lt; .05 → reject H0 → normality violated.</a:t>
            </a:r>
            <a:endParaRPr lang="en-US" sz="900" dirty="0"/>
          </a:p>
        </p:txBody>
      </p:sp>
      <p:sp>
        <p:nvSpPr>
          <p:cNvPr id="11" name="Text 9"/>
          <p:cNvSpPr/>
          <p:nvPr/>
        </p:nvSpPr>
        <p:spPr>
          <a:xfrm>
            <a:off x="365760" y="2706624"/>
            <a:ext cx="8229600" cy="347472"/>
          </a:xfrm>
          <a:prstGeom prst="rect">
            <a:avLst/>
          </a:prstGeom>
          <a:noFill/>
          <a:ln/>
        </p:spPr>
        <p:txBody>
          <a:bodyPr wrap="square" lIns="0" tIns="0" rIns="0" bIns="0" rtlCol="0" anchor="ctr"/>
          <a:lstStyle/>
          <a:p>
            <a:pPr indent="0" marL="0">
              <a:buNone/>
            </a:pPr>
            <a:r>
              <a:rPr lang="en-US" sz="900" b="1" dirty="0">
                <a:solidFill>
                  <a:srgbClr val="5C1A6B"/>
                </a:solidFill>
                <a:latin typeface="Calibri" pitchFamily="34" charset="0"/>
                <a:ea typeface="Calibri" pitchFamily="34" charset="-122"/>
                <a:cs typeface="Calibri" pitchFamily="34" charset="-120"/>
              </a:rPr>
              <a:t>UAC Result: </a:t>
            </a:r>
            <a:pPr indent="0" marL="0">
              <a:buNone/>
            </a:pPr>
            <a:r>
              <a:rPr lang="en-US" sz="900" dirty="0">
                <a:solidFill>
                  <a:srgbClr val="2C1F3E"/>
                </a:solidFill>
                <a:latin typeface="Calibri" pitchFamily="34" charset="0"/>
                <a:ea typeface="Calibri" pitchFamily="34" charset="-122"/>
                <a:cs typeface="Calibri" pitchFamily="34" charset="-120"/>
              </a:rPr>
              <a:t>sat_mean Shapiro-Wilk: W(450) = .982, p = .067. Since p &gt; .05, fail to reject H0 → sat_mean is approximately normally distributed → parametric tests are appropriate.</a:t>
            </a:r>
            <a:endParaRPr lang="en-US" sz="900" dirty="0"/>
          </a:p>
        </p:txBody>
      </p:sp>
      <p:sp>
        <p:nvSpPr>
          <p:cNvPr id="12" name="Text 10"/>
          <p:cNvSpPr/>
          <p:nvPr/>
        </p:nvSpPr>
        <p:spPr>
          <a:xfrm>
            <a:off x="365760" y="3090672"/>
            <a:ext cx="8229600" cy="219456"/>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Caution: </a:t>
            </a:r>
            <a:pPr indent="0" marL="0">
              <a:buNone/>
            </a:pPr>
            <a:r>
              <a:rPr lang="en-US" sz="850" i="1" dirty="0">
                <a:solidFill>
                  <a:srgbClr val="64748B"/>
                </a:solidFill>
                <a:latin typeface="Calibri" pitchFamily="34" charset="0"/>
                <a:ea typeface="Calibri" pitchFamily="34" charset="-122"/>
                <a:cs typeface="Calibri" pitchFamily="34" charset="-120"/>
              </a:rPr>
              <a:t>With very large samples (n &gt; 200), Shapiro-Wilk is very sensitive and may flag trivial departures from normality. Always examine the histogram AND Q-Q plot.</a:t>
            </a:r>
            <a:endParaRPr lang="en-US" sz="850" dirty="0"/>
          </a:p>
        </p:txBody>
      </p:sp>
      <p:sp>
        <p:nvSpPr>
          <p:cNvPr id="13" name="Shape 11"/>
          <p:cNvSpPr/>
          <p:nvPr/>
        </p:nvSpPr>
        <p:spPr>
          <a:xfrm>
            <a:off x="256032" y="3438144"/>
            <a:ext cx="8631936" cy="1627632"/>
          </a:xfrm>
          <a:prstGeom prst="roundRect">
            <a:avLst>
              <a:gd name="adj" fmla="val 5056"/>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4" name="Shape 12"/>
          <p:cNvSpPr/>
          <p:nvPr/>
        </p:nvSpPr>
        <p:spPr>
          <a:xfrm>
            <a:off x="329184" y="3511296"/>
            <a:ext cx="2240280" cy="310896"/>
          </a:xfrm>
          <a:prstGeom prst="roundRect">
            <a:avLst>
              <a:gd name="adj" fmla="val 17647"/>
            </a:avLst>
          </a:prstGeom>
          <a:solidFill>
            <a:srgbClr val="2471A3"/>
          </a:solidFill>
          <a:ln w="12700">
            <a:solidFill>
              <a:srgbClr val="2471A3"/>
            </a:solidFill>
            <a:prstDash val="solid"/>
          </a:ln>
        </p:spPr>
      </p:sp>
      <p:sp>
        <p:nvSpPr>
          <p:cNvPr id="15" name="Text 13"/>
          <p:cNvSpPr/>
          <p:nvPr/>
        </p:nvSpPr>
        <p:spPr>
          <a:xfrm>
            <a:off x="329184" y="3511296"/>
            <a:ext cx="22402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Kolmogorov-Smirnov Test</a:t>
            </a:r>
            <a:endParaRPr lang="en-US" sz="1100" dirty="0"/>
          </a:p>
        </p:txBody>
      </p:sp>
      <p:sp>
        <p:nvSpPr>
          <p:cNvPr id="16" name="Text 14"/>
          <p:cNvSpPr/>
          <p:nvPr/>
        </p:nvSpPr>
        <p:spPr>
          <a:xfrm>
            <a:off x="2651760" y="3529584"/>
            <a:ext cx="3840480" cy="274320"/>
          </a:xfrm>
          <a:prstGeom prst="rect">
            <a:avLst/>
          </a:prstGeom>
          <a:noFill/>
          <a:ln/>
        </p:spPr>
        <p:txBody>
          <a:bodyPr wrap="square" lIns="0" tIns="0" rIns="0" bIns="0" rtlCol="0" anchor="ctr"/>
          <a:lstStyle/>
          <a:p>
            <a:pPr indent="0" marL="0">
              <a:buNone/>
            </a:pPr>
            <a:r>
              <a:rPr lang="en-US" sz="950" i="1" dirty="0">
                <a:solidFill>
                  <a:srgbClr val="2471A3"/>
                </a:solidFill>
                <a:latin typeface="Calibri" pitchFamily="34" charset="0"/>
                <a:ea typeface="Calibri" pitchFamily="34" charset="-122"/>
                <a:cs typeface="Calibri" pitchFamily="34" charset="-120"/>
              </a:rPr>
              <a:t>Use when: Large samples (n &gt; 50). Less powerful than Shapiro-Wilk.</a:t>
            </a:r>
            <a:endParaRPr lang="en-US" sz="950" dirty="0"/>
          </a:p>
        </p:txBody>
      </p:sp>
      <p:sp>
        <p:nvSpPr>
          <p:cNvPr id="17" name="Text 15"/>
          <p:cNvSpPr/>
          <p:nvPr/>
        </p:nvSpPr>
        <p:spPr>
          <a:xfrm>
            <a:off x="365760" y="3895344"/>
            <a:ext cx="4251960" cy="47548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Same interpretation as Shapiro-Wilk: p &gt; .05 means normality assumption is not rejected. SPSS reports Lilliefors significance correction by default.</a:t>
            </a:r>
            <a:endParaRPr lang="en-US" sz="900" dirty="0"/>
          </a:p>
        </p:txBody>
      </p:sp>
      <p:sp>
        <p:nvSpPr>
          <p:cNvPr id="18" name="Text 16"/>
          <p:cNvSpPr/>
          <p:nvPr/>
        </p:nvSpPr>
        <p:spPr>
          <a:xfrm>
            <a:off x="365760" y="4425696"/>
            <a:ext cx="8229600" cy="347472"/>
          </a:xfrm>
          <a:prstGeom prst="rect">
            <a:avLst/>
          </a:prstGeom>
          <a:noFill/>
          <a:ln/>
        </p:spPr>
        <p:txBody>
          <a:bodyPr wrap="square" lIns="0" tIns="0" rIns="0" bIns="0" rtlCol="0" anchor="ctr"/>
          <a:lstStyle/>
          <a:p>
            <a:pPr indent="0" marL="0">
              <a:buNone/>
            </a:pPr>
            <a:r>
              <a:rPr lang="en-US" sz="900" b="1" dirty="0">
                <a:solidFill>
                  <a:srgbClr val="2471A3"/>
                </a:solidFill>
                <a:latin typeface="Calibri" pitchFamily="34" charset="0"/>
                <a:ea typeface="Calibri" pitchFamily="34" charset="-122"/>
                <a:cs typeface="Calibri" pitchFamily="34" charset="-120"/>
              </a:rPr>
              <a:t>UAC Result: </a:t>
            </a:r>
            <a:pPr indent="0" marL="0">
              <a:buNone/>
            </a:pPr>
            <a:r>
              <a:rPr lang="en-US" sz="900" dirty="0">
                <a:solidFill>
                  <a:srgbClr val="2C1F3E"/>
                </a:solidFill>
                <a:latin typeface="Calibri" pitchFamily="34" charset="0"/>
                <a:ea typeface="Calibri" pitchFamily="34" charset="-122"/>
                <a:cs typeface="Calibri" pitchFamily="34" charset="-120"/>
              </a:rPr>
              <a:t>monthly_salary KS: D(450) = .142, p &lt; .001. Significant → normality violated. Skewness = 2.18 confirms. Use non-parametric tests for salary comparisons.</a:t>
            </a:r>
            <a:endParaRPr lang="en-US" sz="900" dirty="0"/>
          </a:p>
        </p:txBody>
      </p:sp>
      <p:sp>
        <p:nvSpPr>
          <p:cNvPr id="19" name="Text 17"/>
          <p:cNvSpPr/>
          <p:nvPr/>
        </p:nvSpPr>
        <p:spPr>
          <a:xfrm>
            <a:off x="365760" y="4809744"/>
            <a:ext cx="8229600" cy="219456"/>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Caution: </a:t>
            </a:r>
            <a:pPr indent="0" marL="0">
              <a:buNone/>
            </a:pPr>
            <a:r>
              <a:rPr lang="en-US" sz="850" i="1" dirty="0">
                <a:solidFill>
                  <a:srgbClr val="64748B"/>
                </a:solidFill>
                <a:latin typeface="Calibri" pitchFamily="34" charset="0"/>
                <a:ea typeface="Calibri" pitchFamily="34" charset="-122"/>
                <a:cs typeface="Calibri" pitchFamily="34" charset="-120"/>
              </a:rPr>
              <a:t>When K-S and Shapiro-Wilk conflict, examine the histogram visually. For large samples (n &gt; 300), both tests will almost always reject normality due to sensitivity.</a:t>
            </a:r>
            <a:endParaRPr lang="en-US" sz="850" dirty="0"/>
          </a:p>
        </p:txBody>
      </p:sp>
      <p:sp>
        <p:nvSpPr>
          <p:cNvPr id="20" name="Shape 18"/>
          <p:cNvSpPr/>
          <p:nvPr/>
        </p:nvSpPr>
        <p:spPr>
          <a:xfrm>
            <a:off x="256032" y="5102352"/>
            <a:ext cx="8631936" cy="384048"/>
          </a:xfrm>
          <a:prstGeom prst="roundRect">
            <a:avLst>
              <a:gd name="adj" fmla="val 14286"/>
            </a:avLst>
          </a:prstGeom>
          <a:solidFill>
            <a:srgbClr val="EBF5FB"/>
          </a:solidFill>
          <a:ln w="19050">
            <a:solidFill>
              <a:srgbClr val="2471A3"/>
            </a:solidFill>
            <a:prstDash val="solid"/>
          </a:ln>
        </p:spPr>
      </p:sp>
      <p:sp>
        <p:nvSpPr>
          <p:cNvPr id="21" name="Text 19"/>
          <p:cNvSpPr/>
          <p:nvPr/>
        </p:nvSpPr>
        <p:spPr>
          <a:xfrm>
            <a:off x="384048" y="5102352"/>
            <a:ext cx="8449056" cy="384048"/>
          </a:xfrm>
          <a:prstGeom prst="rect">
            <a:avLst/>
          </a:prstGeom>
          <a:noFill/>
          <a:ln/>
        </p:spPr>
        <p:txBody>
          <a:bodyPr wrap="square" lIns="0" tIns="0" rIns="0" bIns="0" rtlCol="0" anchor="ctr"/>
          <a:lstStyle/>
          <a:p>
            <a:pPr indent="0" marL="0">
              <a:buNone/>
            </a:pPr>
            <a:r>
              <a:rPr lang="en-US" sz="1000" dirty="0">
                <a:solidFill>
                  <a:srgbClr val="1A4A6E"/>
                </a:solidFill>
                <a:latin typeface="Calibri" pitchFamily="34" charset="0"/>
                <a:ea typeface="Calibri" pitchFamily="34" charset="-122"/>
                <a:cs typeface="Calibri" pitchFamily="34" charset="-120"/>
              </a:rPr>
              <a:t>Non-parametric alternatives when normality is violated: Mann-Whitney U (instead of t-test), Kruskal-Wallis (instead of ANOVA), Spearman (instead of Pearson). Covered in Module 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5C1A6B">
              <a:alpha val="20000"/>
            </a:srgbClr>
          </a:solidFill>
          <a:ln w="12700">
            <a:solidFill>
              <a:srgbClr val="5C1A6B"/>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3  |  SECTION 06</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Describing Qualitative Data</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C8A8E8"/>
                </a:solidFill>
                <a:latin typeface="Calibri" pitchFamily="34" charset="0"/>
                <a:ea typeface="Calibri" pitchFamily="34" charset="-122"/>
                <a:cs typeface="Calibri" pitchFamily="34" charset="-120"/>
              </a:rPr>
              <a:t>Cross-tabulations, frequency tables and percentage analysis for categorical variables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5C1A6B"/>
          </a:solidFill>
          <a:ln w="12700">
            <a:solidFill>
              <a:srgbClr val="5C1A6B"/>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Cross-Tabulation (Crosstabs) - Describing Two Categorical Variables Together</a:t>
            </a:r>
            <a:endParaRPr lang="en-US" sz="2100" dirty="0"/>
          </a:p>
        </p:txBody>
      </p:sp>
      <p:sp>
        <p:nvSpPr>
          <p:cNvPr id="4" name="Shape 2"/>
          <p:cNvSpPr/>
          <p:nvPr/>
        </p:nvSpPr>
        <p:spPr>
          <a:xfrm>
            <a:off x="256032" y="1005840"/>
            <a:ext cx="8631936" cy="621792"/>
          </a:xfrm>
          <a:prstGeom prst="roundRect">
            <a:avLst>
              <a:gd name="adj" fmla="val 11765"/>
            </a:avLst>
          </a:prstGeom>
          <a:solidFill>
            <a:srgbClr val="F8F0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24128"/>
            <a:ext cx="8321040" cy="566928"/>
          </a:xfrm>
          <a:prstGeom prst="rect">
            <a:avLst/>
          </a:prstGeom>
          <a:noFill/>
          <a:ln/>
        </p:spPr>
        <p:txBody>
          <a:bodyPr wrap="square" lIns="0" tIns="0" rIns="0" bIns="0" rtlCol="0" anchor="ctr"/>
          <a:lstStyle/>
          <a:p>
            <a:pPr indent="0" marL="0">
              <a:buNone/>
            </a:pPr>
            <a:r>
              <a:rPr lang="en-US" sz="1050" b="1" dirty="0">
                <a:solidFill>
                  <a:srgbClr val="5C1A6B"/>
                </a:solidFill>
                <a:latin typeface="Calibri" pitchFamily="34" charset="0"/>
                <a:ea typeface="Calibri" pitchFamily="34" charset="-122"/>
                <a:cs typeface="Calibri" pitchFamily="34" charset="-120"/>
              </a:rPr>
              <a:t>Crosstabs: </a:t>
            </a:r>
            <a:pPr indent="0" marL="0">
              <a:buNone/>
            </a:pPr>
            <a:r>
              <a:rPr lang="en-US" sz="1050" dirty="0">
                <a:solidFill>
                  <a:srgbClr val="2C1F3E"/>
                </a:solidFill>
                <a:latin typeface="Calibri" pitchFamily="34" charset="0"/>
                <a:ea typeface="Calibri" pitchFamily="34" charset="-122"/>
                <a:cs typeface="Calibri" pitchFamily="34" charset="-120"/>
              </a:rPr>
              <a:t>Displays the joint frequency distribution of two categorical variables in a contingency table. Shows how the categories of one variable are distributed across the categories of another. Path: </a:t>
            </a:r>
            <a:pPr indent="0" marL="0">
              <a:buNone/>
            </a:pPr>
            <a:r>
              <a:rPr lang="en-US" sz="1050" b="1" dirty="0">
                <a:solidFill>
                  <a:srgbClr val="5C1A6B"/>
                </a:solidFill>
                <a:latin typeface="Calibri" pitchFamily="34" charset="0"/>
                <a:ea typeface="Calibri" pitchFamily="34" charset="-122"/>
                <a:cs typeface="Calibri" pitchFamily="34" charset="-120"/>
              </a:rPr>
              <a:t>Analyze &gt; Descriptive Statistics &gt; Crosstabs</a:t>
            </a:r>
            <a:endParaRPr lang="en-US" sz="1050" dirty="0"/>
          </a:p>
        </p:txBody>
      </p:sp>
      <p:sp>
        <p:nvSpPr>
          <p:cNvPr id="6" name="Shape 4"/>
          <p:cNvSpPr/>
          <p:nvPr/>
        </p:nvSpPr>
        <p:spPr>
          <a:xfrm>
            <a:off x="256032" y="1737360"/>
            <a:ext cx="5120640" cy="3035808"/>
          </a:xfrm>
          <a:prstGeom prst="roundRect">
            <a:avLst>
              <a:gd name="adj" fmla="val 2711"/>
            </a:avLst>
          </a:prstGeom>
          <a:solidFill>
            <a:srgbClr val="F8F0FF"/>
          </a:solidFill>
          <a:ln w="12700">
            <a:solidFill>
              <a:srgbClr val="D8C8ED"/>
            </a:solidFill>
            <a:prstDash val="solid"/>
          </a:ln>
          <a:effectLst>
            <a:outerShdw sx="100000" sy="100000" kx="0" ky="0" algn="bl" rotWithShape="0" blurRad="76200" dist="25400" dir="2700000">
              <a:srgbClr val="000000">
                <a:alpha val="12000"/>
              </a:srgbClr>
            </a:outerShdw>
          </a:effectLst>
        </p:spPr>
      </p:sp>
      <p:sp>
        <p:nvSpPr>
          <p:cNvPr id="7" name="Text 5"/>
          <p:cNvSpPr/>
          <p:nvPr/>
        </p:nvSpPr>
        <p:spPr>
          <a:xfrm>
            <a:off x="365760" y="1810512"/>
            <a:ext cx="4892040" cy="256032"/>
          </a:xfrm>
          <a:prstGeom prst="rect">
            <a:avLst/>
          </a:prstGeom>
          <a:noFill/>
          <a:ln/>
        </p:spPr>
        <p:txBody>
          <a:bodyPr wrap="square" lIns="0" tIns="0" rIns="0" bIns="0" rtlCol="0" anchor="ctr"/>
          <a:lstStyle/>
          <a:p>
            <a:pPr indent="0" marL="0">
              <a:buNone/>
            </a:pPr>
            <a:r>
              <a:rPr lang="en-US" sz="1000" b="1" dirty="0">
                <a:solidFill>
                  <a:srgbClr val="5C1A6B"/>
                </a:solidFill>
                <a:latin typeface="Calibri" pitchFamily="34" charset="0"/>
                <a:ea typeface="Calibri" pitchFamily="34" charset="-122"/>
                <a:cs typeface="Calibri" pitchFamily="34" charset="-120"/>
              </a:rPr>
              <a:t>UAC Preferred Product * Gender  -  Cross-tabulation (Column %)</a:t>
            </a:r>
            <a:endParaRPr lang="en-US" sz="1000" dirty="0"/>
          </a:p>
        </p:txBody>
      </p:sp>
      <p:sp>
        <p:nvSpPr>
          <p:cNvPr id="8" name="Shape 6"/>
          <p:cNvSpPr/>
          <p:nvPr/>
        </p:nvSpPr>
        <p:spPr>
          <a:xfrm>
            <a:off x="329184" y="2121408"/>
            <a:ext cx="1152144" cy="347472"/>
          </a:xfrm>
          <a:prstGeom prst="rect">
            <a:avLst/>
          </a:prstGeom>
          <a:solidFill>
            <a:srgbClr val="5C1A6B"/>
          </a:solidFill>
          <a:ln w="12700">
            <a:solidFill>
              <a:srgbClr val="5C1A6B"/>
            </a:solidFill>
            <a:prstDash val="solid"/>
          </a:ln>
        </p:spPr>
      </p:sp>
      <p:sp>
        <p:nvSpPr>
          <p:cNvPr id="9" name="Text 7"/>
          <p:cNvSpPr/>
          <p:nvPr/>
        </p:nvSpPr>
        <p:spPr>
          <a:xfrm>
            <a:off x="329184" y="2121408"/>
            <a:ext cx="1152144"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Product</a:t>
            </a:r>
            <a:endParaRPr lang="en-US" sz="850" dirty="0"/>
          </a:p>
        </p:txBody>
      </p:sp>
      <p:sp>
        <p:nvSpPr>
          <p:cNvPr id="10" name="Shape 8"/>
          <p:cNvSpPr/>
          <p:nvPr/>
        </p:nvSpPr>
        <p:spPr>
          <a:xfrm>
            <a:off x="1517904" y="2121408"/>
            <a:ext cx="1170432" cy="347472"/>
          </a:xfrm>
          <a:prstGeom prst="rect">
            <a:avLst/>
          </a:prstGeom>
          <a:solidFill>
            <a:srgbClr val="5C1A6B"/>
          </a:solidFill>
          <a:ln w="12700">
            <a:solidFill>
              <a:srgbClr val="5C1A6B"/>
            </a:solidFill>
            <a:prstDash val="solid"/>
          </a:ln>
        </p:spPr>
      </p:sp>
      <p:sp>
        <p:nvSpPr>
          <p:cNvPr id="11" name="Text 9"/>
          <p:cNvSpPr/>
          <p:nvPr/>
        </p:nvSpPr>
        <p:spPr>
          <a:xfrm>
            <a:off x="1517904" y="2121408"/>
            <a:ext cx="1170432"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Male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(N=268)</a:t>
            </a:r>
            <a:endParaRPr lang="en-US" sz="850" dirty="0"/>
          </a:p>
        </p:txBody>
      </p:sp>
      <p:sp>
        <p:nvSpPr>
          <p:cNvPr id="12" name="Shape 10"/>
          <p:cNvSpPr/>
          <p:nvPr/>
        </p:nvSpPr>
        <p:spPr>
          <a:xfrm>
            <a:off x="2724912" y="2121408"/>
            <a:ext cx="1170432" cy="347472"/>
          </a:xfrm>
          <a:prstGeom prst="rect">
            <a:avLst/>
          </a:prstGeom>
          <a:solidFill>
            <a:srgbClr val="5C1A6B"/>
          </a:solidFill>
          <a:ln w="12700">
            <a:solidFill>
              <a:srgbClr val="5C1A6B"/>
            </a:solidFill>
            <a:prstDash val="solid"/>
          </a:ln>
        </p:spPr>
      </p:sp>
      <p:sp>
        <p:nvSpPr>
          <p:cNvPr id="13" name="Text 11"/>
          <p:cNvSpPr/>
          <p:nvPr/>
        </p:nvSpPr>
        <p:spPr>
          <a:xfrm>
            <a:off x="2724912" y="2121408"/>
            <a:ext cx="1170432"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Female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(N=182)</a:t>
            </a:r>
            <a:endParaRPr lang="en-US" sz="850" dirty="0"/>
          </a:p>
        </p:txBody>
      </p:sp>
      <p:sp>
        <p:nvSpPr>
          <p:cNvPr id="14" name="Shape 12"/>
          <p:cNvSpPr/>
          <p:nvPr/>
        </p:nvSpPr>
        <p:spPr>
          <a:xfrm>
            <a:off x="3931920" y="2121408"/>
            <a:ext cx="1005840" cy="347472"/>
          </a:xfrm>
          <a:prstGeom prst="rect">
            <a:avLst/>
          </a:prstGeom>
          <a:solidFill>
            <a:srgbClr val="5C1A6B"/>
          </a:solidFill>
          <a:ln w="12700">
            <a:solidFill>
              <a:srgbClr val="5C1A6B"/>
            </a:solidFill>
            <a:prstDash val="solid"/>
          </a:ln>
        </p:spPr>
      </p:sp>
      <p:sp>
        <p:nvSpPr>
          <p:cNvPr id="15" name="Text 13"/>
          <p:cNvSpPr/>
          <p:nvPr/>
        </p:nvSpPr>
        <p:spPr>
          <a:xfrm>
            <a:off x="3931920" y="2121408"/>
            <a:ext cx="100584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Total</a:t>
            </a:r>
            <a:endParaRPr lang="en-US" sz="850" dirty="0"/>
          </a:p>
        </p:txBody>
      </p:sp>
      <p:sp>
        <p:nvSpPr>
          <p:cNvPr id="16" name="Shape 14"/>
          <p:cNvSpPr/>
          <p:nvPr/>
        </p:nvSpPr>
        <p:spPr>
          <a:xfrm>
            <a:off x="329184" y="2487168"/>
            <a:ext cx="1152144" cy="329184"/>
          </a:xfrm>
          <a:prstGeom prst="rect">
            <a:avLst/>
          </a:prstGeom>
          <a:solidFill>
            <a:srgbClr val="F0E8FF"/>
          </a:solidFill>
          <a:ln w="6350">
            <a:solidFill>
              <a:srgbClr val="D8C8ED"/>
            </a:solidFill>
            <a:prstDash val="solid"/>
          </a:ln>
        </p:spPr>
      </p:sp>
      <p:sp>
        <p:nvSpPr>
          <p:cNvPr id="17" name="Text 15"/>
          <p:cNvSpPr/>
          <p:nvPr/>
        </p:nvSpPr>
        <p:spPr>
          <a:xfrm>
            <a:off x="329184" y="2487168"/>
            <a:ext cx="1152144"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Gala Sausage</a:t>
            </a:r>
            <a:endParaRPr lang="en-US" sz="800" dirty="0"/>
          </a:p>
        </p:txBody>
      </p:sp>
      <p:sp>
        <p:nvSpPr>
          <p:cNvPr id="18" name="Shape 16"/>
          <p:cNvSpPr/>
          <p:nvPr/>
        </p:nvSpPr>
        <p:spPr>
          <a:xfrm>
            <a:off x="1517904" y="2487168"/>
            <a:ext cx="1170432" cy="329184"/>
          </a:xfrm>
          <a:prstGeom prst="rect">
            <a:avLst/>
          </a:prstGeom>
          <a:solidFill>
            <a:srgbClr val="F0E8FF"/>
          </a:solidFill>
          <a:ln w="6350">
            <a:solidFill>
              <a:srgbClr val="D8C8ED"/>
            </a:solidFill>
            <a:prstDash val="solid"/>
          </a:ln>
        </p:spPr>
      </p:sp>
      <p:sp>
        <p:nvSpPr>
          <p:cNvPr id="19" name="Text 17"/>
          <p:cNvSpPr/>
          <p:nvPr/>
        </p:nvSpPr>
        <p:spPr>
          <a:xfrm>
            <a:off x="1517904" y="2487168"/>
            <a:ext cx="1170432"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41.4%</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(111)</a:t>
            </a:r>
            <a:endParaRPr lang="en-US" sz="800" dirty="0"/>
          </a:p>
        </p:txBody>
      </p:sp>
      <p:sp>
        <p:nvSpPr>
          <p:cNvPr id="20" name="Shape 18"/>
          <p:cNvSpPr/>
          <p:nvPr/>
        </p:nvSpPr>
        <p:spPr>
          <a:xfrm>
            <a:off x="2724912" y="2487168"/>
            <a:ext cx="1170432" cy="329184"/>
          </a:xfrm>
          <a:prstGeom prst="rect">
            <a:avLst/>
          </a:prstGeom>
          <a:solidFill>
            <a:srgbClr val="F0E8FF"/>
          </a:solidFill>
          <a:ln w="6350">
            <a:solidFill>
              <a:srgbClr val="D8C8ED"/>
            </a:solidFill>
            <a:prstDash val="solid"/>
          </a:ln>
        </p:spPr>
      </p:sp>
      <p:sp>
        <p:nvSpPr>
          <p:cNvPr id="21" name="Text 19"/>
          <p:cNvSpPr/>
          <p:nvPr/>
        </p:nvSpPr>
        <p:spPr>
          <a:xfrm>
            <a:off x="2724912" y="2487168"/>
            <a:ext cx="1170432"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33.5%</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(61)</a:t>
            </a:r>
            <a:endParaRPr lang="en-US" sz="800" dirty="0"/>
          </a:p>
        </p:txBody>
      </p:sp>
      <p:sp>
        <p:nvSpPr>
          <p:cNvPr id="22" name="Shape 20"/>
          <p:cNvSpPr/>
          <p:nvPr/>
        </p:nvSpPr>
        <p:spPr>
          <a:xfrm>
            <a:off x="3931920" y="2487168"/>
            <a:ext cx="1005840" cy="329184"/>
          </a:xfrm>
          <a:prstGeom prst="rect">
            <a:avLst/>
          </a:prstGeom>
          <a:solidFill>
            <a:srgbClr val="F0E8FF"/>
          </a:solidFill>
          <a:ln w="6350">
            <a:solidFill>
              <a:srgbClr val="D8C8ED"/>
            </a:solidFill>
            <a:prstDash val="solid"/>
          </a:ln>
        </p:spPr>
      </p:sp>
      <p:sp>
        <p:nvSpPr>
          <p:cNvPr id="23" name="Text 21"/>
          <p:cNvSpPr/>
          <p:nvPr/>
        </p:nvSpPr>
        <p:spPr>
          <a:xfrm>
            <a:off x="3931920" y="2487168"/>
            <a:ext cx="1005840"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38.2%</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(172)</a:t>
            </a:r>
            <a:endParaRPr lang="en-US" sz="800" dirty="0"/>
          </a:p>
        </p:txBody>
      </p:sp>
      <p:sp>
        <p:nvSpPr>
          <p:cNvPr id="24" name="Shape 22"/>
          <p:cNvSpPr/>
          <p:nvPr/>
        </p:nvSpPr>
        <p:spPr>
          <a:xfrm>
            <a:off x="329184" y="2834640"/>
            <a:ext cx="1152144" cy="329184"/>
          </a:xfrm>
          <a:prstGeom prst="rect">
            <a:avLst/>
          </a:prstGeom>
          <a:solidFill>
            <a:srgbClr val="FFFFFF"/>
          </a:solidFill>
          <a:ln w="6350">
            <a:solidFill>
              <a:srgbClr val="D8C8ED"/>
            </a:solidFill>
            <a:prstDash val="solid"/>
          </a:ln>
        </p:spPr>
      </p:sp>
      <p:sp>
        <p:nvSpPr>
          <p:cNvPr id="25" name="Text 23"/>
          <p:cNvSpPr/>
          <p:nvPr/>
        </p:nvSpPr>
        <p:spPr>
          <a:xfrm>
            <a:off x="329184" y="2834640"/>
            <a:ext cx="1152144"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Deli Foods</a:t>
            </a:r>
            <a:endParaRPr lang="en-US" sz="800" dirty="0"/>
          </a:p>
        </p:txBody>
      </p:sp>
      <p:sp>
        <p:nvSpPr>
          <p:cNvPr id="26" name="Shape 24"/>
          <p:cNvSpPr/>
          <p:nvPr/>
        </p:nvSpPr>
        <p:spPr>
          <a:xfrm>
            <a:off x="1517904" y="2834640"/>
            <a:ext cx="1170432" cy="329184"/>
          </a:xfrm>
          <a:prstGeom prst="rect">
            <a:avLst/>
          </a:prstGeom>
          <a:solidFill>
            <a:srgbClr val="FFFFFF"/>
          </a:solidFill>
          <a:ln w="6350">
            <a:solidFill>
              <a:srgbClr val="D8C8ED"/>
            </a:solidFill>
            <a:prstDash val="solid"/>
          </a:ln>
        </p:spPr>
      </p:sp>
      <p:sp>
        <p:nvSpPr>
          <p:cNvPr id="27" name="Text 25"/>
          <p:cNvSpPr/>
          <p:nvPr/>
        </p:nvSpPr>
        <p:spPr>
          <a:xfrm>
            <a:off x="1517904" y="2834640"/>
            <a:ext cx="1170432"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18.3%</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(49)</a:t>
            </a:r>
            <a:endParaRPr lang="en-US" sz="800" dirty="0"/>
          </a:p>
        </p:txBody>
      </p:sp>
      <p:sp>
        <p:nvSpPr>
          <p:cNvPr id="28" name="Shape 26"/>
          <p:cNvSpPr/>
          <p:nvPr/>
        </p:nvSpPr>
        <p:spPr>
          <a:xfrm>
            <a:off x="2724912" y="2834640"/>
            <a:ext cx="1170432" cy="329184"/>
          </a:xfrm>
          <a:prstGeom prst="rect">
            <a:avLst/>
          </a:prstGeom>
          <a:solidFill>
            <a:srgbClr val="D5B8F0"/>
          </a:solidFill>
          <a:ln w="6350">
            <a:solidFill>
              <a:srgbClr val="D8C8ED"/>
            </a:solidFill>
            <a:prstDash val="solid"/>
          </a:ln>
        </p:spPr>
      </p:sp>
      <p:sp>
        <p:nvSpPr>
          <p:cNvPr id="29" name="Text 27"/>
          <p:cNvSpPr/>
          <p:nvPr/>
        </p:nvSpPr>
        <p:spPr>
          <a:xfrm>
            <a:off x="2724912" y="2834640"/>
            <a:ext cx="1170432" cy="329184"/>
          </a:xfrm>
          <a:prstGeom prst="rect">
            <a:avLst/>
          </a:prstGeom>
          <a:noFill/>
          <a:ln/>
        </p:spPr>
        <p:txBody>
          <a:bodyPr wrap="square" lIns="0" tIns="0" rIns="0" bIns="0" rtlCol="0" anchor="ctr"/>
          <a:lstStyle/>
          <a:p>
            <a:pPr algn="ctr" indent="0" marL="0">
              <a:buNone/>
            </a:pPr>
            <a:r>
              <a:rPr lang="en-US" sz="800" b="1" dirty="0">
                <a:solidFill>
                  <a:srgbClr val="5C1A6B"/>
                </a:solidFill>
                <a:latin typeface="Calibri" pitchFamily="34" charset="0"/>
                <a:ea typeface="Calibri" pitchFamily="34" charset="-122"/>
                <a:cs typeface="Calibri" pitchFamily="34" charset="-120"/>
              </a:rPr>
              <a:t>32.4%</a:t>
            </a:r>
            <a:endParaRPr lang="en-US" sz="800" dirty="0"/>
          </a:p>
          <a:p>
            <a:pPr algn="ctr" indent="0" marL="0">
              <a:buNone/>
            </a:pPr>
            <a:r>
              <a:rPr lang="en-US" sz="800" b="1" dirty="0">
                <a:solidFill>
                  <a:srgbClr val="5C1A6B"/>
                </a:solidFill>
                <a:latin typeface="Calibri" pitchFamily="34" charset="0"/>
                <a:ea typeface="Calibri" pitchFamily="34" charset="-122"/>
                <a:cs typeface="Calibri" pitchFamily="34" charset="-120"/>
              </a:rPr>
              <a:t>(59)</a:t>
            </a:r>
            <a:endParaRPr lang="en-US" sz="800" dirty="0"/>
          </a:p>
        </p:txBody>
      </p:sp>
      <p:sp>
        <p:nvSpPr>
          <p:cNvPr id="30" name="Shape 28"/>
          <p:cNvSpPr/>
          <p:nvPr/>
        </p:nvSpPr>
        <p:spPr>
          <a:xfrm>
            <a:off x="3931920" y="2834640"/>
            <a:ext cx="1005840" cy="329184"/>
          </a:xfrm>
          <a:prstGeom prst="rect">
            <a:avLst/>
          </a:prstGeom>
          <a:solidFill>
            <a:srgbClr val="FFFFFF"/>
          </a:solidFill>
          <a:ln w="6350">
            <a:solidFill>
              <a:srgbClr val="D8C8ED"/>
            </a:solidFill>
            <a:prstDash val="solid"/>
          </a:ln>
        </p:spPr>
      </p:sp>
      <p:sp>
        <p:nvSpPr>
          <p:cNvPr id="31" name="Text 29"/>
          <p:cNvSpPr/>
          <p:nvPr/>
        </p:nvSpPr>
        <p:spPr>
          <a:xfrm>
            <a:off x="3931920" y="2834640"/>
            <a:ext cx="1005840"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24.0%</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(108)</a:t>
            </a:r>
            <a:endParaRPr lang="en-US" sz="800" dirty="0"/>
          </a:p>
        </p:txBody>
      </p:sp>
      <p:sp>
        <p:nvSpPr>
          <p:cNvPr id="32" name="Shape 30"/>
          <p:cNvSpPr/>
          <p:nvPr/>
        </p:nvSpPr>
        <p:spPr>
          <a:xfrm>
            <a:off x="329184" y="3182112"/>
            <a:ext cx="1152144" cy="329184"/>
          </a:xfrm>
          <a:prstGeom prst="rect">
            <a:avLst/>
          </a:prstGeom>
          <a:solidFill>
            <a:srgbClr val="F0E8FF"/>
          </a:solidFill>
          <a:ln w="6350">
            <a:solidFill>
              <a:srgbClr val="D8C8ED"/>
            </a:solidFill>
            <a:prstDash val="solid"/>
          </a:ln>
        </p:spPr>
      </p:sp>
      <p:sp>
        <p:nvSpPr>
          <p:cNvPr id="33" name="Text 31"/>
          <p:cNvSpPr/>
          <p:nvPr/>
        </p:nvSpPr>
        <p:spPr>
          <a:xfrm>
            <a:off x="329184" y="3182112"/>
            <a:ext cx="1152144"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Mr. Biggs</a:t>
            </a:r>
            <a:endParaRPr lang="en-US" sz="800" dirty="0"/>
          </a:p>
        </p:txBody>
      </p:sp>
      <p:sp>
        <p:nvSpPr>
          <p:cNvPr id="34" name="Shape 32"/>
          <p:cNvSpPr/>
          <p:nvPr/>
        </p:nvSpPr>
        <p:spPr>
          <a:xfrm>
            <a:off x="1517904" y="3182112"/>
            <a:ext cx="1170432" cy="329184"/>
          </a:xfrm>
          <a:prstGeom prst="rect">
            <a:avLst/>
          </a:prstGeom>
          <a:solidFill>
            <a:srgbClr val="F0E8FF"/>
          </a:solidFill>
          <a:ln w="6350">
            <a:solidFill>
              <a:srgbClr val="D8C8ED"/>
            </a:solidFill>
            <a:prstDash val="solid"/>
          </a:ln>
        </p:spPr>
      </p:sp>
      <p:sp>
        <p:nvSpPr>
          <p:cNvPr id="35" name="Text 33"/>
          <p:cNvSpPr/>
          <p:nvPr/>
        </p:nvSpPr>
        <p:spPr>
          <a:xfrm>
            <a:off x="1517904" y="3182112"/>
            <a:ext cx="1170432"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22.0%</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(59)</a:t>
            </a:r>
            <a:endParaRPr lang="en-US" sz="800" dirty="0"/>
          </a:p>
        </p:txBody>
      </p:sp>
      <p:sp>
        <p:nvSpPr>
          <p:cNvPr id="36" name="Shape 34"/>
          <p:cNvSpPr/>
          <p:nvPr/>
        </p:nvSpPr>
        <p:spPr>
          <a:xfrm>
            <a:off x="2724912" y="3182112"/>
            <a:ext cx="1170432" cy="329184"/>
          </a:xfrm>
          <a:prstGeom prst="rect">
            <a:avLst/>
          </a:prstGeom>
          <a:solidFill>
            <a:srgbClr val="F0E8FF"/>
          </a:solidFill>
          <a:ln w="6350">
            <a:solidFill>
              <a:srgbClr val="D8C8ED"/>
            </a:solidFill>
            <a:prstDash val="solid"/>
          </a:ln>
        </p:spPr>
      </p:sp>
      <p:sp>
        <p:nvSpPr>
          <p:cNvPr id="37" name="Text 35"/>
          <p:cNvSpPr/>
          <p:nvPr/>
        </p:nvSpPr>
        <p:spPr>
          <a:xfrm>
            <a:off x="2724912" y="3182112"/>
            <a:ext cx="1170432"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14.8%</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(27)</a:t>
            </a:r>
            <a:endParaRPr lang="en-US" sz="800" dirty="0"/>
          </a:p>
        </p:txBody>
      </p:sp>
      <p:sp>
        <p:nvSpPr>
          <p:cNvPr id="38" name="Shape 36"/>
          <p:cNvSpPr/>
          <p:nvPr/>
        </p:nvSpPr>
        <p:spPr>
          <a:xfrm>
            <a:off x="3931920" y="3182112"/>
            <a:ext cx="1005840" cy="329184"/>
          </a:xfrm>
          <a:prstGeom prst="rect">
            <a:avLst/>
          </a:prstGeom>
          <a:solidFill>
            <a:srgbClr val="F0E8FF"/>
          </a:solidFill>
          <a:ln w="6350">
            <a:solidFill>
              <a:srgbClr val="D8C8ED"/>
            </a:solidFill>
            <a:prstDash val="solid"/>
          </a:ln>
        </p:spPr>
      </p:sp>
      <p:sp>
        <p:nvSpPr>
          <p:cNvPr id="39" name="Text 37"/>
          <p:cNvSpPr/>
          <p:nvPr/>
        </p:nvSpPr>
        <p:spPr>
          <a:xfrm>
            <a:off x="3931920" y="3182112"/>
            <a:ext cx="1005840"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19.1%</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(86)</a:t>
            </a:r>
            <a:endParaRPr lang="en-US" sz="800" dirty="0"/>
          </a:p>
        </p:txBody>
      </p:sp>
      <p:sp>
        <p:nvSpPr>
          <p:cNvPr id="40" name="Shape 38"/>
          <p:cNvSpPr/>
          <p:nvPr/>
        </p:nvSpPr>
        <p:spPr>
          <a:xfrm>
            <a:off x="329184" y="3529584"/>
            <a:ext cx="1152144" cy="329184"/>
          </a:xfrm>
          <a:prstGeom prst="rect">
            <a:avLst/>
          </a:prstGeom>
          <a:solidFill>
            <a:srgbClr val="FFFFFF"/>
          </a:solidFill>
          <a:ln w="6350">
            <a:solidFill>
              <a:srgbClr val="D8C8ED"/>
            </a:solidFill>
            <a:prstDash val="solid"/>
          </a:ln>
        </p:spPr>
      </p:sp>
      <p:sp>
        <p:nvSpPr>
          <p:cNvPr id="41" name="Text 39"/>
          <p:cNvSpPr/>
          <p:nvPr/>
        </p:nvSpPr>
        <p:spPr>
          <a:xfrm>
            <a:off x="329184" y="3529584"/>
            <a:ext cx="1152144"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Supreme IC</a:t>
            </a:r>
            <a:endParaRPr lang="en-US" sz="800" dirty="0"/>
          </a:p>
        </p:txBody>
      </p:sp>
      <p:sp>
        <p:nvSpPr>
          <p:cNvPr id="42" name="Shape 40"/>
          <p:cNvSpPr/>
          <p:nvPr/>
        </p:nvSpPr>
        <p:spPr>
          <a:xfrm>
            <a:off x="1517904" y="3529584"/>
            <a:ext cx="1170432" cy="329184"/>
          </a:xfrm>
          <a:prstGeom prst="rect">
            <a:avLst/>
          </a:prstGeom>
          <a:solidFill>
            <a:srgbClr val="FFFFFF"/>
          </a:solidFill>
          <a:ln w="6350">
            <a:solidFill>
              <a:srgbClr val="D8C8ED"/>
            </a:solidFill>
            <a:prstDash val="solid"/>
          </a:ln>
        </p:spPr>
      </p:sp>
      <p:sp>
        <p:nvSpPr>
          <p:cNvPr id="43" name="Text 41"/>
          <p:cNvSpPr/>
          <p:nvPr/>
        </p:nvSpPr>
        <p:spPr>
          <a:xfrm>
            <a:off x="1517904" y="3529584"/>
            <a:ext cx="1170432"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10.4%</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(28)</a:t>
            </a:r>
            <a:endParaRPr lang="en-US" sz="800" dirty="0"/>
          </a:p>
        </p:txBody>
      </p:sp>
      <p:sp>
        <p:nvSpPr>
          <p:cNvPr id="44" name="Shape 42"/>
          <p:cNvSpPr/>
          <p:nvPr/>
        </p:nvSpPr>
        <p:spPr>
          <a:xfrm>
            <a:off x="2724912" y="3529584"/>
            <a:ext cx="1170432" cy="329184"/>
          </a:xfrm>
          <a:prstGeom prst="rect">
            <a:avLst/>
          </a:prstGeom>
          <a:solidFill>
            <a:srgbClr val="FFFFFF"/>
          </a:solidFill>
          <a:ln w="6350">
            <a:solidFill>
              <a:srgbClr val="D8C8ED"/>
            </a:solidFill>
            <a:prstDash val="solid"/>
          </a:ln>
        </p:spPr>
      </p:sp>
      <p:sp>
        <p:nvSpPr>
          <p:cNvPr id="45" name="Text 43"/>
          <p:cNvSpPr/>
          <p:nvPr/>
        </p:nvSpPr>
        <p:spPr>
          <a:xfrm>
            <a:off x="2724912" y="3529584"/>
            <a:ext cx="1170432"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14.3%</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(26)</a:t>
            </a:r>
            <a:endParaRPr lang="en-US" sz="800" dirty="0"/>
          </a:p>
        </p:txBody>
      </p:sp>
      <p:sp>
        <p:nvSpPr>
          <p:cNvPr id="46" name="Shape 44"/>
          <p:cNvSpPr/>
          <p:nvPr/>
        </p:nvSpPr>
        <p:spPr>
          <a:xfrm>
            <a:off x="3931920" y="3529584"/>
            <a:ext cx="1005840" cy="329184"/>
          </a:xfrm>
          <a:prstGeom prst="rect">
            <a:avLst/>
          </a:prstGeom>
          <a:solidFill>
            <a:srgbClr val="FFFFFF"/>
          </a:solidFill>
          <a:ln w="6350">
            <a:solidFill>
              <a:srgbClr val="D8C8ED"/>
            </a:solidFill>
            <a:prstDash val="solid"/>
          </a:ln>
        </p:spPr>
      </p:sp>
      <p:sp>
        <p:nvSpPr>
          <p:cNvPr id="47" name="Text 45"/>
          <p:cNvSpPr/>
          <p:nvPr/>
        </p:nvSpPr>
        <p:spPr>
          <a:xfrm>
            <a:off x="3931920" y="3529584"/>
            <a:ext cx="1005840"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12.0%</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(54)</a:t>
            </a:r>
            <a:endParaRPr lang="en-US" sz="800" dirty="0"/>
          </a:p>
        </p:txBody>
      </p:sp>
      <p:sp>
        <p:nvSpPr>
          <p:cNvPr id="48" name="Shape 46"/>
          <p:cNvSpPr/>
          <p:nvPr/>
        </p:nvSpPr>
        <p:spPr>
          <a:xfrm>
            <a:off x="329184" y="3877056"/>
            <a:ext cx="1152144" cy="329184"/>
          </a:xfrm>
          <a:prstGeom prst="rect">
            <a:avLst/>
          </a:prstGeom>
          <a:solidFill>
            <a:srgbClr val="F0E8FF"/>
          </a:solidFill>
          <a:ln w="6350">
            <a:solidFill>
              <a:srgbClr val="D8C8ED"/>
            </a:solidFill>
            <a:prstDash val="solid"/>
          </a:ln>
        </p:spPr>
      </p:sp>
      <p:sp>
        <p:nvSpPr>
          <p:cNvPr id="49" name="Text 47"/>
          <p:cNvSpPr/>
          <p:nvPr/>
        </p:nvSpPr>
        <p:spPr>
          <a:xfrm>
            <a:off x="329184" y="3877056"/>
            <a:ext cx="1152144"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Other UAC</a:t>
            </a:r>
            <a:endParaRPr lang="en-US" sz="800" dirty="0"/>
          </a:p>
        </p:txBody>
      </p:sp>
      <p:sp>
        <p:nvSpPr>
          <p:cNvPr id="50" name="Shape 48"/>
          <p:cNvSpPr/>
          <p:nvPr/>
        </p:nvSpPr>
        <p:spPr>
          <a:xfrm>
            <a:off x="1517904" y="3877056"/>
            <a:ext cx="1170432" cy="329184"/>
          </a:xfrm>
          <a:prstGeom prst="rect">
            <a:avLst/>
          </a:prstGeom>
          <a:solidFill>
            <a:srgbClr val="F0E8FF"/>
          </a:solidFill>
          <a:ln w="6350">
            <a:solidFill>
              <a:srgbClr val="D8C8ED"/>
            </a:solidFill>
            <a:prstDash val="solid"/>
          </a:ln>
        </p:spPr>
      </p:sp>
      <p:sp>
        <p:nvSpPr>
          <p:cNvPr id="51" name="Text 49"/>
          <p:cNvSpPr/>
          <p:nvPr/>
        </p:nvSpPr>
        <p:spPr>
          <a:xfrm>
            <a:off x="1517904" y="3877056"/>
            <a:ext cx="1170432"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7.8%</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(21)</a:t>
            </a:r>
            <a:endParaRPr lang="en-US" sz="800" dirty="0"/>
          </a:p>
        </p:txBody>
      </p:sp>
      <p:sp>
        <p:nvSpPr>
          <p:cNvPr id="52" name="Shape 50"/>
          <p:cNvSpPr/>
          <p:nvPr/>
        </p:nvSpPr>
        <p:spPr>
          <a:xfrm>
            <a:off x="2724912" y="3877056"/>
            <a:ext cx="1170432" cy="329184"/>
          </a:xfrm>
          <a:prstGeom prst="rect">
            <a:avLst/>
          </a:prstGeom>
          <a:solidFill>
            <a:srgbClr val="F0E8FF"/>
          </a:solidFill>
          <a:ln w="6350">
            <a:solidFill>
              <a:srgbClr val="D8C8ED"/>
            </a:solidFill>
            <a:prstDash val="solid"/>
          </a:ln>
        </p:spPr>
      </p:sp>
      <p:sp>
        <p:nvSpPr>
          <p:cNvPr id="53" name="Text 51"/>
          <p:cNvSpPr/>
          <p:nvPr/>
        </p:nvSpPr>
        <p:spPr>
          <a:xfrm>
            <a:off x="2724912" y="3877056"/>
            <a:ext cx="1170432"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5.0%</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(9)</a:t>
            </a:r>
            <a:endParaRPr lang="en-US" sz="800" dirty="0"/>
          </a:p>
        </p:txBody>
      </p:sp>
      <p:sp>
        <p:nvSpPr>
          <p:cNvPr id="54" name="Shape 52"/>
          <p:cNvSpPr/>
          <p:nvPr/>
        </p:nvSpPr>
        <p:spPr>
          <a:xfrm>
            <a:off x="3931920" y="3877056"/>
            <a:ext cx="1005840" cy="329184"/>
          </a:xfrm>
          <a:prstGeom prst="rect">
            <a:avLst/>
          </a:prstGeom>
          <a:solidFill>
            <a:srgbClr val="F0E8FF"/>
          </a:solidFill>
          <a:ln w="6350">
            <a:solidFill>
              <a:srgbClr val="D8C8ED"/>
            </a:solidFill>
            <a:prstDash val="solid"/>
          </a:ln>
        </p:spPr>
      </p:sp>
      <p:sp>
        <p:nvSpPr>
          <p:cNvPr id="55" name="Text 53"/>
          <p:cNvSpPr/>
          <p:nvPr/>
        </p:nvSpPr>
        <p:spPr>
          <a:xfrm>
            <a:off x="3931920" y="3877056"/>
            <a:ext cx="1005840" cy="329184"/>
          </a:xfrm>
          <a:prstGeom prst="rect">
            <a:avLst/>
          </a:prstGeom>
          <a:noFill/>
          <a:ln/>
        </p:spPr>
        <p:txBody>
          <a:bodyPr wrap="square" lIns="0" tIns="0" rIns="0" bIns="0" rtlCol="0" anchor="ctr"/>
          <a:lstStyle/>
          <a:p>
            <a:pPr algn="ctr" indent="0" marL="0">
              <a:buNone/>
            </a:pPr>
            <a:r>
              <a:rPr lang="en-US" sz="800" dirty="0">
                <a:solidFill>
                  <a:srgbClr val="2C1F3E"/>
                </a:solidFill>
                <a:latin typeface="Calibri" pitchFamily="34" charset="0"/>
                <a:ea typeface="Calibri" pitchFamily="34" charset="-122"/>
                <a:cs typeface="Calibri" pitchFamily="34" charset="-120"/>
              </a:rPr>
              <a:t>6.7%</a:t>
            </a:r>
            <a:endParaRPr lang="en-US" sz="800" dirty="0"/>
          </a:p>
          <a:p>
            <a:pPr algn="ctr" indent="0" marL="0">
              <a:buNone/>
            </a:pPr>
            <a:r>
              <a:rPr lang="en-US" sz="800" dirty="0">
                <a:solidFill>
                  <a:srgbClr val="2C1F3E"/>
                </a:solidFill>
                <a:latin typeface="Calibri" pitchFamily="34" charset="0"/>
                <a:ea typeface="Calibri" pitchFamily="34" charset="-122"/>
                <a:cs typeface="Calibri" pitchFamily="34" charset="-120"/>
              </a:rPr>
              <a:t>(30)</a:t>
            </a:r>
            <a:endParaRPr lang="en-US" sz="800" dirty="0"/>
          </a:p>
        </p:txBody>
      </p:sp>
      <p:sp>
        <p:nvSpPr>
          <p:cNvPr id="56" name="Shape 54"/>
          <p:cNvSpPr/>
          <p:nvPr/>
        </p:nvSpPr>
        <p:spPr>
          <a:xfrm>
            <a:off x="329184" y="4224528"/>
            <a:ext cx="1152144" cy="329184"/>
          </a:xfrm>
          <a:prstGeom prst="rect">
            <a:avLst/>
          </a:prstGeom>
          <a:solidFill>
            <a:srgbClr val="FFFFFF"/>
          </a:solidFill>
          <a:ln w="6350">
            <a:solidFill>
              <a:srgbClr val="D8C8ED"/>
            </a:solidFill>
            <a:prstDash val="solid"/>
          </a:ln>
        </p:spPr>
      </p:sp>
      <p:sp>
        <p:nvSpPr>
          <p:cNvPr id="57" name="Text 55"/>
          <p:cNvSpPr/>
          <p:nvPr/>
        </p:nvSpPr>
        <p:spPr>
          <a:xfrm>
            <a:off x="329184" y="4224528"/>
            <a:ext cx="1152144" cy="329184"/>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Total</a:t>
            </a:r>
            <a:endParaRPr lang="en-US" sz="800" dirty="0"/>
          </a:p>
        </p:txBody>
      </p:sp>
      <p:sp>
        <p:nvSpPr>
          <p:cNvPr id="58" name="Shape 56"/>
          <p:cNvSpPr/>
          <p:nvPr/>
        </p:nvSpPr>
        <p:spPr>
          <a:xfrm>
            <a:off x="1517904" y="4224528"/>
            <a:ext cx="1170432" cy="329184"/>
          </a:xfrm>
          <a:prstGeom prst="rect">
            <a:avLst/>
          </a:prstGeom>
          <a:solidFill>
            <a:srgbClr val="FFFFFF"/>
          </a:solidFill>
          <a:ln w="6350">
            <a:solidFill>
              <a:srgbClr val="D8C8ED"/>
            </a:solidFill>
            <a:prstDash val="solid"/>
          </a:ln>
        </p:spPr>
      </p:sp>
      <p:sp>
        <p:nvSpPr>
          <p:cNvPr id="59" name="Text 57"/>
          <p:cNvSpPr/>
          <p:nvPr/>
        </p:nvSpPr>
        <p:spPr>
          <a:xfrm>
            <a:off x="1517904" y="4224528"/>
            <a:ext cx="1170432" cy="329184"/>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100%</a:t>
            </a:r>
            <a:endParaRPr lang="en-US" sz="800" dirty="0"/>
          </a:p>
          <a:p>
            <a:pPr algn="ctr" indent="0" marL="0">
              <a:buNone/>
            </a:pPr>
            <a:r>
              <a:rPr lang="en-US" sz="800" b="1" dirty="0">
                <a:solidFill>
                  <a:srgbClr val="1A0A1E"/>
                </a:solidFill>
                <a:latin typeface="Calibri" pitchFamily="34" charset="0"/>
                <a:ea typeface="Calibri" pitchFamily="34" charset="-122"/>
                <a:cs typeface="Calibri" pitchFamily="34" charset="-120"/>
              </a:rPr>
              <a:t>(268)</a:t>
            </a:r>
            <a:endParaRPr lang="en-US" sz="800" dirty="0"/>
          </a:p>
        </p:txBody>
      </p:sp>
      <p:sp>
        <p:nvSpPr>
          <p:cNvPr id="60" name="Shape 58"/>
          <p:cNvSpPr/>
          <p:nvPr/>
        </p:nvSpPr>
        <p:spPr>
          <a:xfrm>
            <a:off x="2724912" y="4224528"/>
            <a:ext cx="1170432" cy="329184"/>
          </a:xfrm>
          <a:prstGeom prst="rect">
            <a:avLst/>
          </a:prstGeom>
          <a:solidFill>
            <a:srgbClr val="FFFFFF"/>
          </a:solidFill>
          <a:ln w="6350">
            <a:solidFill>
              <a:srgbClr val="D8C8ED"/>
            </a:solidFill>
            <a:prstDash val="solid"/>
          </a:ln>
        </p:spPr>
      </p:sp>
      <p:sp>
        <p:nvSpPr>
          <p:cNvPr id="61" name="Text 59"/>
          <p:cNvSpPr/>
          <p:nvPr/>
        </p:nvSpPr>
        <p:spPr>
          <a:xfrm>
            <a:off x="2724912" y="4224528"/>
            <a:ext cx="1170432" cy="329184"/>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100%</a:t>
            </a:r>
            <a:endParaRPr lang="en-US" sz="800" dirty="0"/>
          </a:p>
          <a:p>
            <a:pPr algn="ctr" indent="0" marL="0">
              <a:buNone/>
            </a:pPr>
            <a:r>
              <a:rPr lang="en-US" sz="800" b="1" dirty="0">
                <a:solidFill>
                  <a:srgbClr val="1A0A1E"/>
                </a:solidFill>
                <a:latin typeface="Calibri" pitchFamily="34" charset="0"/>
                <a:ea typeface="Calibri" pitchFamily="34" charset="-122"/>
                <a:cs typeface="Calibri" pitchFamily="34" charset="-120"/>
              </a:rPr>
              <a:t>(182)</a:t>
            </a:r>
            <a:endParaRPr lang="en-US" sz="800" dirty="0"/>
          </a:p>
        </p:txBody>
      </p:sp>
      <p:sp>
        <p:nvSpPr>
          <p:cNvPr id="62" name="Shape 60"/>
          <p:cNvSpPr/>
          <p:nvPr/>
        </p:nvSpPr>
        <p:spPr>
          <a:xfrm>
            <a:off x="3931920" y="4224528"/>
            <a:ext cx="1005840" cy="329184"/>
          </a:xfrm>
          <a:prstGeom prst="rect">
            <a:avLst/>
          </a:prstGeom>
          <a:solidFill>
            <a:srgbClr val="FFFFFF"/>
          </a:solidFill>
          <a:ln w="6350">
            <a:solidFill>
              <a:srgbClr val="D8C8ED"/>
            </a:solidFill>
            <a:prstDash val="solid"/>
          </a:ln>
        </p:spPr>
      </p:sp>
      <p:sp>
        <p:nvSpPr>
          <p:cNvPr id="63" name="Text 61"/>
          <p:cNvSpPr/>
          <p:nvPr/>
        </p:nvSpPr>
        <p:spPr>
          <a:xfrm>
            <a:off x="3931920" y="4224528"/>
            <a:ext cx="1005840" cy="329184"/>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100%</a:t>
            </a:r>
            <a:endParaRPr lang="en-US" sz="800" dirty="0"/>
          </a:p>
          <a:p>
            <a:pPr algn="ctr" indent="0" marL="0">
              <a:buNone/>
            </a:pPr>
            <a:r>
              <a:rPr lang="en-US" sz="800" b="1" dirty="0">
                <a:solidFill>
                  <a:srgbClr val="1A0A1E"/>
                </a:solidFill>
                <a:latin typeface="Calibri" pitchFamily="34" charset="0"/>
                <a:ea typeface="Calibri" pitchFamily="34" charset="-122"/>
                <a:cs typeface="Calibri" pitchFamily="34" charset="-120"/>
              </a:rPr>
              <a:t>(450)</a:t>
            </a:r>
            <a:endParaRPr lang="en-US" sz="800" dirty="0"/>
          </a:p>
        </p:txBody>
      </p:sp>
      <p:sp>
        <p:nvSpPr>
          <p:cNvPr id="64" name="Shape 62"/>
          <p:cNvSpPr/>
          <p:nvPr/>
        </p:nvSpPr>
        <p:spPr>
          <a:xfrm>
            <a:off x="5559552" y="1737360"/>
            <a:ext cx="3310128" cy="3035808"/>
          </a:xfrm>
          <a:prstGeom prst="roundRect">
            <a:avLst>
              <a:gd name="adj" fmla="val 3012"/>
            </a:avLst>
          </a:prstGeom>
          <a:solidFill>
            <a:srgbClr val="1A0A1E"/>
          </a:solidFill>
          <a:ln w="12700">
            <a:solidFill>
              <a:srgbClr val="7B2D8B"/>
            </a:solidFill>
            <a:prstDash val="solid"/>
          </a:ln>
        </p:spPr>
      </p:sp>
      <p:sp>
        <p:nvSpPr>
          <p:cNvPr id="65" name="Text 63"/>
          <p:cNvSpPr/>
          <p:nvPr/>
        </p:nvSpPr>
        <p:spPr>
          <a:xfrm>
            <a:off x="5669280" y="1810512"/>
            <a:ext cx="3090672" cy="292608"/>
          </a:xfrm>
          <a:prstGeom prst="rect">
            <a:avLst/>
          </a:prstGeom>
          <a:noFill/>
          <a:ln/>
        </p:spPr>
        <p:txBody>
          <a:bodyPr wrap="square" lIns="0" tIns="0" rIns="0" bIns="0" rtlCol="0" anchor="ctr"/>
          <a:lstStyle/>
          <a:p>
            <a:pPr indent="0" marL="0">
              <a:buNone/>
            </a:pPr>
            <a:r>
              <a:rPr lang="en-US" sz="1150" b="1" dirty="0">
                <a:solidFill>
                  <a:srgbClr val="F0C040"/>
                </a:solidFill>
                <a:latin typeface="Calibri" pitchFamily="34" charset="0"/>
                <a:ea typeface="Calibri" pitchFamily="34" charset="-122"/>
                <a:cs typeface="Calibri" pitchFamily="34" charset="-120"/>
              </a:rPr>
              <a:t>Key Observations</a:t>
            </a:r>
            <a:endParaRPr lang="en-US" sz="1150" dirty="0"/>
          </a:p>
        </p:txBody>
      </p:sp>
      <p:sp>
        <p:nvSpPr>
          <p:cNvPr id="66" name="Shape 64"/>
          <p:cNvSpPr/>
          <p:nvPr/>
        </p:nvSpPr>
        <p:spPr>
          <a:xfrm>
            <a:off x="5632704" y="2176272"/>
            <a:ext cx="3163824" cy="475488"/>
          </a:xfrm>
          <a:prstGeom prst="roundRect">
            <a:avLst>
              <a:gd name="adj" fmla="val 9615"/>
            </a:avLst>
          </a:prstGeom>
          <a:solidFill>
            <a:srgbClr val="0D0820"/>
          </a:solidFill>
          <a:ln w="6350">
            <a:solidFill>
              <a:srgbClr val="7B2D8B"/>
            </a:solidFill>
            <a:prstDash val="solid"/>
          </a:ln>
        </p:spPr>
      </p:sp>
      <p:sp>
        <p:nvSpPr>
          <p:cNvPr id="67" name="Text 65"/>
          <p:cNvSpPr/>
          <p:nvPr/>
        </p:nvSpPr>
        <p:spPr>
          <a:xfrm>
            <a:off x="5705856" y="2212848"/>
            <a:ext cx="3017520" cy="384048"/>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Gala preferred by more males (41.4%) than females (33.5%) - 7.9% gender gap</a:t>
            </a:r>
            <a:endParaRPr lang="en-US" sz="850" dirty="0"/>
          </a:p>
        </p:txBody>
      </p:sp>
      <p:sp>
        <p:nvSpPr>
          <p:cNvPr id="68" name="Shape 66"/>
          <p:cNvSpPr/>
          <p:nvPr/>
        </p:nvSpPr>
        <p:spPr>
          <a:xfrm>
            <a:off x="5632704" y="2706624"/>
            <a:ext cx="3163824" cy="475488"/>
          </a:xfrm>
          <a:prstGeom prst="roundRect">
            <a:avLst>
              <a:gd name="adj" fmla="val 9615"/>
            </a:avLst>
          </a:prstGeom>
          <a:solidFill>
            <a:srgbClr val="0D0820"/>
          </a:solidFill>
          <a:ln w="6350">
            <a:solidFill>
              <a:srgbClr val="7B2D8B"/>
            </a:solidFill>
            <a:prstDash val="solid"/>
          </a:ln>
        </p:spPr>
      </p:sp>
      <p:sp>
        <p:nvSpPr>
          <p:cNvPr id="69" name="Text 67"/>
          <p:cNvSpPr/>
          <p:nvPr/>
        </p:nvSpPr>
        <p:spPr>
          <a:xfrm>
            <a:off x="5705856" y="2743200"/>
            <a:ext cx="3017520" cy="384048"/>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Deli Foods shows opposite pattern: females (32.4%) &gt;&gt; males (18.3%) - 14.1% gap</a:t>
            </a:r>
            <a:endParaRPr lang="en-US" sz="850" dirty="0"/>
          </a:p>
        </p:txBody>
      </p:sp>
      <p:sp>
        <p:nvSpPr>
          <p:cNvPr id="70" name="Shape 68"/>
          <p:cNvSpPr/>
          <p:nvPr/>
        </p:nvSpPr>
        <p:spPr>
          <a:xfrm>
            <a:off x="5632704" y="3236976"/>
            <a:ext cx="3163824" cy="475488"/>
          </a:xfrm>
          <a:prstGeom prst="roundRect">
            <a:avLst>
              <a:gd name="adj" fmla="val 9615"/>
            </a:avLst>
          </a:prstGeom>
          <a:solidFill>
            <a:srgbClr val="0D0820"/>
          </a:solidFill>
          <a:ln w="6350">
            <a:solidFill>
              <a:srgbClr val="7B2D8B"/>
            </a:solidFill>
            <a:prstDash val="solid"/>
          </a:ln>
        </p:spPr>
      </p:sp>
      <p:sp>
        <p:nvSpPr>
          <p:cNvPr id="71" name="Text 69"/>
          <p:cNvSpPr/>
          <p:nvPr/>
        </p:nvSpPr>
        <p:spPr>
          <a:xfrm>
            <a:off x="5705856" y="3273552"/>
            <a:ext cx="3017520" cy="384048"/>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Highlighted cell: 32.4% of female UAC consumers prefer Deli Foods</a:t>
            </a:r>
            <a:endParaRPr lang="en-US" sz="850" dirty="0"/>
          </a:p>
        </p:txBody>
      </p:sp>
      <p:sp>
        <p:nvSpPr>
          <p:cNvPr id="72" name="Shape 70"/>
          <p:cNvSpPr/>
          <p:nvPr/>
        </p:nvSpPr>
        <p:spPr>
          <a:xfrm>
            <a:off x="5632704" y="3767328"/>
            <a:ext cx="3163824" cy="475488"/>
          </a:xfrm>
          <a:prstGeom prst="roundRect">
            <a:avLst>
              <a:gd name="adj" fmla="val 9615"/>
            </a:avLst>
          </a:prstGeom>
          <a:solidFill>
            <a:srgbClr val="0D0820"/>
          </a:solidFill>
          <a:ln w="6350">
            <a:solidFill>
              <a:srgbClr val="7B2D8B"/>
            </a:solidFill>
            <a:prstDash val="solid"/>
          </a:ln>
        </p:spPr>
      </p:sp>
      <p:sp>
        <p:nvSpPr>
          <p:cNvPr id="73" name="Text 71"/>
          <p:cNvSpPr/>
          <p:nvPr/>
        </p:nvSpPr>
        <p:spPr>
          <a:xfrm>
            <a:off x="5705856" y="3803904"/>
            <a:ext cx="3017520" cy="384048"/>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Supreme Ice Cream: females slightly higher (14.3% vs 10.4%)</a:t>
            </a:r>
            <a:endParaRPr lang="en-US" sz="850" dirty="0"/>
          </a:p>
        </p:txBody>
      </p:sp>
      <p:sp>
        <p:nvSpPr>
          <p:cNvPr id="74" name="Shape 72"/>
          <p:cNvSpPr/>
          <p:nvPr/>
        </p:nvSpPr>
        <p:spPr>
          <a:xfrm>
            <a:off x="5632704" y="4297680"/>
            <a:ext cx="3163824" cy="475488"/>
          </a:xfrm>
          <a:prstGeom prst="roundRect">
            <a:avLst>
              <a:gd name="adj" fmla="val 9615"/>
            </a:avLst>
          </a:prstGeom>
          <a:solidFill>
            <a:srgbClr val="0D0820"/>
          </a:solidFill>
          <a:ln w="6350">
            <a:solidFill>
              <a:srgbClr val="7B2D8B"/>
            </a:solidFill>
            <a:prstDash val="solid"/>
          </a:ln>
        </p:spPr>
      </p:sp>
      <p:sp>
        <p:nvSpPr>
          <p:cNvPr id="75" name="Text 73"/>
          <p:cNvSpPr/>
          <p:nvPr/>
        </p:nvSpPr>
        <p:spPr>
          <a:xfrm>
            <a:off x="5705856" y="4334256"/>
            <a:ext cx="3017520" cy="384048"/>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NEXT STEP: Run Chi-Square test to determine if these differences are statistically significant or just sampling variation</a:t>
            </a:r>
            <a:endParaRPr lang="en-US" sz="850" dirty="0"/>
          </a:p>
        </p:txBody>
      </p:sp>
      <p:sp>
        <p:nvSpPr>
          <p:cNvPr id="76" name="Shape 74"/>
          <p:cNvSpPr/>
          <p:nvPr/>
        </p:nvSpPr>
        <p:spPr>
          <a:xfrm>
            <a:off x="256032" y="4828032"/>
            <a:ext cx="8631936" cy="658368"/>
          </a:xfrm>
          <a:prstGeom prst="roundRect">
            <a:avLst>
              <a:gd name="adj" fmla="val 9722"/>
            </a:avLst>
          </a:prstGeom>
          <a:solidFill>
            <a:srgbClr val="F8F0FF"/>
          </a:solidFill>
          <a:ln w="12700">
            <a:solidFill>
              <a:srgbClr val="5C1A6B"/>
            </a:solidFill>
            <a:prstDash val="solid"/>
          </a:ln>
        </p:spPr>
      </p:sp>
      <p:sp>
        <p:nvSpPr>
          <p:cNvPr id="77" name="Text 75"/>
          <p:cNvSpPr/>
          <p:nvPr/>
        </p:nvSpPr>
        <p:spPr>
          <a:xfrm>
            <a:off x="384048" y="4864608"/>
            <a:ext cx="8321040" cy="566928"/>
          </a:xfrm>
          <a:prstGeom prst="rect">
            <a:avLst/>
          </a:prstGeom>
          <a:noFill/>
          <a:ln/>
        </p:spPr>
        <p:txBody>
          <a:bodyPr wrap="square" lIns="0" tIns="0" rIns="0" bIns="0" rtlCol="0" anchor="ctr"/>
          <a:lstStyle/>
          <a:p>
            <a:pPr indent="0" marL="0">
              <a:buNone/>
            </a:pPr>
            <a:r>
              <a:rPr lang="en-US" sz="950" dirty="0">
                <a:solidFill>
                  <a:srgbClr val="2C1F3E"/>
                </a:solidFill>
                <a:latin typeface="Calibri" pitchFamily="34" charset="0"/>
                <a:ea typeface="Calibri" pitchFamily="34" charset="-122"/>
                <a:cs typeface="Calibri" pitchFamily="34" charset="-120"/>
              </a:rPr>
              <a:t>Steps: Analyze &gt; Descriptive Statistics &gt; Crosstabs &gt; Row: uac_product_pref &gt; Column: gender &gt; Cells: Observed counts + Column percentages &gt; Statistics: Chi-square, Phi and Cramer's V &gt; OK</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5C1A6B">
              <a:alpha val="20000"/>
            </a:srgbClr>
          </a:solidFill>
          <a:ln w="12700">
            <a:solidFill>
              <a:srgbClr val="5C1A6B"/>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3  |  SECTION 07</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Graphing Quantitative Data</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C8A8E8"/>
                </a:solidFill>
                <a:latin typeface="Calibri" pitchFamily="34" charset="0"/>
                <a:ea typeface="Calibri" pitchFamily="34" charset="-122"/>
                <a:cs typeface="Calibri" pitchFamily="34" charset="-120"/>
              </a:rPr>
              <a:t>Histograms, boxplots, error bars and scatterplots - visualising scale variables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0A1E"/>
          </a:solidFill>
          <a:ln w="12700">
            <a:solidFill>
              <a:srgbClr val="1A0A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Histograms and Boxplots - Visualising the Distribution of Scale Variables</a:t>
            </a:r>
            <a:endParaRPr lang="en-US" sz="2100" dirty="0"/>
          </a:p>
        </p:txBody>
      </p:sp>
      <p:sp>
        <p:nvSpPr>
          <p:cNvPr id="4" name="Shape 2"/>
          <p:cNvSpPr/>
          <p:nvPr/>
        </p:nvSpPr>
        <p:spPr>
          <a:xfrm>
            <a:off x="256032" y="1024128"/>
            <a:ext cx="4160520" cy="3977640"/>
          </a:xfrm>
          <a:prstGeom prst="roundRect">
            <a:avLst>
              <a:gd name="adj" fmla="val 2069"/>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4005072" cy="347472"/>
          </a:xfrm>
          <a:prstGeom prst="roundRect">
            <a:avLst>
              <a:gd name="adj" fmla="val 15789"/>
            </a:avLst>
          </a:prstGeom>
          <a:solidFill>
            <a:srgbClr val="5C1A6B"/>
          </a:solidFill>
          <a:ln w="12700">
            <a:solidFill>
              <a:srgbClr val="5C1A6B"/>
            </a:solidFill>
            <a:prstDash val="solid"/>
          </a:ln>
        </p:spPr>
      </p:sp>
      <p:sp>
        <p:nvSpPr>
          <p:cNvPr id="6" name="Text 4"/>
          <p:cNvSpPr/>
          <p:nvPr/>
        </p:nvSpPr>
        <p:spPr>
          <a:xfrm>
            <a:off x="329184" y="1097280"/>
            <a:ext cx="40050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HISTOGRAM  -  Distribution Shape</a:t>
            </a:r>
            <a:endParaRPr lang="en-US" sz="1200" dirty="0"/>
          </a:p>
        </p:txBody>
      </p:sp>
      <p:sp>
        <p:nvSpPr>
          <p:cNvPr id="7" name="Shape 5"/>
          <p:cNvSpPr/>
          <p:nvPr/>
        </p:nvSpPr>
        <p:spPr>
          <a:xfrm>
            <a:off x="347472" y="3001541"/>
            <a:ext cx="713232" cy="61699"/>
          </a:xfrm>
          <a:prstGeom prst="rect">
            <a:avLst/>
          </a:prstGeom>
          <a:solidFill>
            <a:srgbClr val="D5B8F0"/>
          </a:solidFill>
          <a:ln w="6350">
            <a:solidFill>
              <a:srgbClr val="D8C8ED"/>
            </a:solidFill>
            <a:prstDash val="solid"/>
          </a:ln>
        </p:spPr>
      </p:sp>
      <p:sp>
        <p:nvSpPr>
          <p:cNvPr id="8" name="Text 6"/>
          <p:cNvSpPr/>
          <p:nvPr/>
        </p:nvSpPr>
        <p:spPr>
          <a:xfrm>
            <a:off x="347472" y="2800373"/>
            <a:ext cx="713232" cy="182880"/>
          </a:xfrm>
          <a:prstGeom prst="rect">
            <a:avLst/>
          </a:prstGeom>
          <a:noFill/>
          <a:ln/>
        </p:spPr>
        <p:txBody>
          <a:bodyPr wrap="square" lIns="0" tIns="0" rIns="0" bIns="0" rtlCol="0" anchor="ctr"/>
          <a:lstStyle/>
          <a:p>
            <a:pPr algn="ctr" indent="0" marL="0">
              <a:buNone/>
            </a:pPr>
            <a:r>
              <a:rPr lang="en-US" sz="800" b="1" dirty="0">
                <a:solidFill>
                  <a:srgbClr val="5C1A6B"/>
                </a:solidFill>
                <a:latin typeface="Calibri" pitchFamily="34" charset="0"/>
                <a:ea typeface="Calibri" pitchFamily="34" charset="-122"/>
                <a:cs typeface="Calibri" pitchFamily="34" charset="-120"/>
              </a:rPr>
              <a:t>8</a:t>
            </a:r>
            <a:endParaRPr lang="en-US" sz="800" dirty="0"/>
          </a:p>
        </p:txBody>
      </p:sp>
      <p:sp>
        <p:nvSpPr>
          <p:cNvPr id="9" name="Text 7"/>
          <p:cNvSpPr/>
          <p:nvPr/>
        </p:nvSpPr>
        <p:spPr>
          <a:xfrm>
            <a:off x="310896" y="3081528"/>
            <a:ext cx="786384" cy="219456"/>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1.0-1.8</a:t>
            </a:r>
            <a:endParaRPr lang="en-US" sz="700" dirty="0"/>
          </a:p>
        </p:txBody>
      </p:sp>
      <p:sp>
        <p:nvSpPr>
          <p:cNvPr id="10" name="Shape 8"/>
          <p:cNvSpPr/>
          <p:nvPr/>
        </p:nvSpPr>
        <p:spPr>
          <a:xfrm>
            <a:off x="1115568" y="2893568"/>
            <a:ext cx="713232" cy="169672"/>
          </a:xfrm>
          <a:prstGeom prst="rect">
            <a:avLst/>
          </a:prstGeom>
          <a:solidFill>
            <a:srgbClr val="C8A0E8"/>
          </a:solidFill>
          <a:ln w="6350">
            <a:solidFill>
              <a:srgbClr val="D8C8ED"/>
            </a:solidFill>
            <a:prstDash val="solid"/>
          </a:ln>
        </p:spPr>
      </p:sp>
      <p:sp>
        <p:nvSpPr>
          <p:cNvPr id="11" name="Text 9"/>
          <p:cNvSpPr/>
          <p:nvPr/>
        </p:nvSpPr>
        <p:spPr>
          <a:xfrm>
            <a:off x="1115568" y="2692400"/>
            <a:ext cx="713232" cy="182880"/>
          </a:xfrm>
          <a:prstGeom prst="rect">
            <a:avLst/>
          </a:prstGeom>
          <a:noFill/>
          <a:ln/>
        </p:spPr>
        <p:txBody>
          <a:bodyPr wrap="square" lIns="0" tIns="0" rIns="0" bIns="0" rtlCol="0" anchor="ctr"/>
          <a:lstStyle/>
          <a:p>
            <a:pPr algn="ctr" indent="0" marL="0">
              <a:buNone/>
            </a:pPr>
            <a:r>
              <a:rPr lang="en-US" sz="800" b="1" dirty="0">
                <a:solidFill>
                  <a:srgbClr val="5C1A6B"/>
                </a:solidFill>
                <a:latin typeface="Calibri" pitchFamily="34" charset="0"/>
                <a:ea typeface="Calibri" pitchFamily="34" charset="-122"/>
                <a:cs typeface="Calibri" pitchFamily="34" charset="-120"/>
              </a:rPr>
              <a:t>22</a:t>
            </a:r>
            <a:endParaRPr lang="en-US" sz="800" dirty="0"/>
          </a:p>
        </p:txBody>
      </p:sp>
      <p:sp>
        <p:nvSpPr>
          <p:cNvPr id="12" name="Text 10"/>
          <p:cNvSpPr/>
          <p:nvPr/>
        </p:nvSpPr>
        <p:spPr>
          <a:xfrm>
            <a:off x="1078992" y="3081528"/>
            <a:ext cx="786384" cy="219456"/>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1.8-2.6</a:t>
            </a:r>
            <a:endParaRPr lang="en-US" sz="700" dirty="0"/>
          </a:p>
        </p:txBody>
      </p:sp>
      <p:sp>
        <p:nvSpPr>
          <p:cNvPr id="13" name="Shape 11"/>
          <p:cNvSpPr/>
          <p:nvPr/>
        </p:nvSpPr>
        <p:spPr>
          <a:xfrm>
            <a:off x="1883664" y="2484813"/>
            <a:ext cx="713232" cy="578427"/>
          </a:xfrm>
          <a:prstGeom prst="rect">
            <a:avLst/>
          </a:prstGeom>
          <a:solidFill>
            <a:srgbClr val="B880E0"/>
          </a:solidFill>
          <a:ln w="6350">
            <a:solidFill>
              <a:srgbClr val="D8C8ED"/>
            </a:solidFill>
            <a:prstDash val="solid"/>
          </a:ln>
        </p:spPr>
      </p:sp>
      <p:sp>
        <p:nvSpPr>
          <p:cNvPr id="14" name="Text 12"/>
          <p:cNvSpPr/>
          <p:nvPr/>
        </p:nvSpPr>
        <p:spPr>
          <a:xfrm>
            <a:off x="1883664" y="2283645"/>
            <a:ext cx="713232" cy="182880"/>
          </a:xfrm>
          <a:prstGeom prst="rect">
            <a:avLst/>
          </a:prstGeom>
          <a:noFill/>
          <a:ln/>
        </p:spPr>
        <p:txBody>
          <a:bodyPr wrap="square" lIns="0" tIns="0" rIns="0" bIns="0" rtlCol="0" anchor="ctr"/>
          <a:lstStyle/>
          <a:p>
            <a:pPr algn="ctr" indent="0" marL="0">
              <a:buNone/>
            </a:pPr>
            <a:r>
              <a:rPr lang="en-US" sz="800" b="1" dirty="0">
                <a:solidFill>
                  <a:srgbClr val="5C1A6B"/>
                </a:solidFill>
                <a:latin typeface="Calibri" pitchFamily="34" charset="0"/>
                <a:ea typeface="Calibri" pitchFamily="34" charset="-122"/>
                <a:cs typeface="Calibri" pitchFamily="34" charset="-120"/>
              </a:rPr>
              <a:t>75</a:t>
            </a:r>
            <a:endParaRPr lang="en-US" sz="800" dirty="0"/>
          </a:p>
        </p:txBody>
      </p:sp>
      <p:sp>
        <p:nvSpPr>
          <p:cNvPr id="15" name="Text 13"/>
          <p:cNvSpPr/>
          <p:nvPr/>
        </p:nvSpPr>
        <p:spPr>
          <a:xfrm>
            <a:off x="1847088" y="3081528"/>
            <a:ext cx="786384" cy="219456"/>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2.6-3.4</a:t>
            </a:r>
            <a:endParaRPr lang="en-US" sz="700" dirty="0"/>
          </a:p>
        </p:txBody>
      </p:sp>
      <p:sp>
        <p:nvSpPr>
          <p:cNvPr id="16" name="Shape 14"/>
          <p:cNvSpPr/>
          <p:nvPr/>
        </p:nvSpPr>
        <p:spPr>
          <a:xfrm>
            <a:off x="2651760" y="1536192"/>
            <a:ext cx="713232" cy="1527048"/>
          </a:xfrm>
          <a:prstGeom prst="rect">
            <a:avLst/>
          </a:prstGeom>
          <a:solidFill>
            <a:srgbClr val="5C1A6B"/>
          </a:solidFill>
          <a:ln w="6350">
            <a:solidFill>
              <a:srgbClr val="D8C8ED"/>
            </a:solidFill>
            <a:prstDash val="solid"/>
          </a:ln>
        </p:spPr>
      </p:sp>
      <p:sp>
        <p:nvSpPr>
          <p:cNvPr id="17" name="Text 15"/>
          <p:cNvSpPr/>
          <p:nvPr/>
        </p:nvSpPr>
        <p:spPr>
          <a:xfrm>
            <a:off x="2651760" y="1335024"/>
            <a:ext cx="713232" cy="182880"/>
          </a:xfrm>
          <a:prstGeom prst="rect">
            <a:avLst/>
          </a:prstGeom>
          <a:noFill/>
          <a:ln/>
        </p:spPr>
        <p:txBody>
          <a:bodyPr wrap="square" lIns="0" tIns="0" rIns="0" bIns="0" rtlCol="0" anchor="ctr"/>
          <a:lstStyle/>
          <a:p>
            <a:pPr algn="ctr" indent="0" marL="0">
              <a:buNone/>
            </a:pPr>
            <a:r>
              <a:rPr lang="en-US" sz="800" b="1" dirty="0">
                <a:solidFill>
                  <a:srgbClr val="5C1A6B"/>
                </a:solidFill>
                <a:latin typeface="Calibri" pitchFamily="34" charset="0"/>
                <a:ea typeface="Calibri" pitchFamily="34" charset="-122"/>
                <a:cs typeface="Calibri" pitchFamily="34" charset="-120"/>
              </a:rPr>
              <a:t>198</a:t>
            </a:r>
            <a:endParaRPr lang="en-US" sz="800" dirty="0"/>
          </a:p>
        </p:txBody>
      </p:sp>
      <p:sp>
        <p:nvSpPr>
          <p:cNvPr id="18" name="Text 16"/>
          <p:cNvSpPr/>
          <p:nvPr/>
        </p:nvSpPr>
        <p:spPr>
          <a:xfrm>
            <a:off x="2615184" y="3081528"/>
            <a:ext cx="786384" cy="219456"/>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3.4-4.2</a:t>
            </a:r>
            <a:endParaRPr lang="en-US" sz="700" dirty="0"/>
          </a:p>
        </p:txBody>
      </p:sp>
      <p:sp>
        <p:nvSpPr>
          <p:cNvPr id="19" name="Shape 17"/>
          <p:cNvSpPr/>
          <p:nvPr/>
        </p:nvSpPr>
        <p:spPr>
          <a:xfrm>
            <a:off x="3419856" y="1929523"/>
            <a:ext cx="713232" cy="1133717"/>
          </a:xfrm>
          <a:prstGeom prst="rect">
            <a:avLst/>
          </a:prstGeom>
          <a:solidFill>
            <a:srgbClr val="7B2D8B"/>
          </a:solidFill>
          <a:ln w="6350">
            <a:solidFill>
              <a:srgbClr val="D8C8ED"/>
            </a:solidFill>
            <a:prstDash val="solid"/>
          </a:ln>
        </p:spPr>
      </p:sp>
      <p:sp>
        <p:nvSpPr>
          <p:cNvPr id="20" name="Text 18"/>
          <p:cNvSpPr/>
          <p:nvPr/>
        </p:nvSpPr>
        <p:spPr>
          <a:xfrm>
            <a:off x="3419856" y="1728355"/>
            <a:ext cx="713232" cy="182880"/>
          </a:xfrm>
          <a:prstGeom prst="rect">
            <a:avLst/>
          </a:prstGeom>
          <a:noFill/>
          <a:ln/>
        </p:spPr>
        <p:txBody>
          <a:bodyPr wrap="square" lIns="0" tIns="0" rIns="0" bIns="0" rtlCol="0" anchor="ctr"/>
          <a:lstStyle/>
          <a:p>
            <a:pPr algn="ctr" indent="0" marL="0">
              <a:buNone/>
            </a:pPr>
            <a:r>
              <a:rPr lang="en-US" sz="800" b="1" dirty="0">
                <a:solidFill>
                  <a:srgbClr val="5C1A6B"/>
                </a:solidFill>
                <a:latin typeface="Calibri" pitchFamily="34" charset="0"/>
                <a:ea typeface="Calibri" pitchFamily="34" charset="-122"/>
                <a:cs typeface="Calibri" pitchFamily="34" charset="-120"/>
              </a:rPr>
              <a:t>147</a:t>
            </a:r>
            <a:endParaRPr lang="en-US" sz="800" dirty="0"/>
          </a:p>
        </p:txBody>
      </p:sp>
      <p:sp>
        <p:nvSpPr>
          <p:cNvPr id="21" name="Text 19"/>
          <p:cNvSpPr/>
          <p:nvPr/>
        </p:nvSpPr>
        <p:spPr>
          <a:xfrm>
            <a:off x="3383280" y="3081528"/>
            <a:ext cx="786384" cy="219456"/>
          </a:xfrm>
          <a:prstGeom prst="rect">
            <a:avLst/>
          </a:prstGeom>
          <a:noFill/>
          <a:ln/>
        </p:spPr>
        <p:txBody>
          <a:bodyPr wrap="square" lIns="0" tIns="0" rIns="0" bIns="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4.2-5.0</a:t>
            </a:r>
            <a:endParaRPr lang="en-US" sz="700" dirty="0"/>
          </a:p>
        </p:txBody>
      </p:sp>
      <p:sp>
        <p:nvSpPr>
          <p:cNvPr id="22" name="Text 20"/>
          <p:cNvSpPr/>
          <p:nvPr/>
        </p:nvSpPr>
        <p:spPr>
          <a:xfrm>
            <a:off x="347472" y="3319272"/>
            <a:ext cx="3657600" cy="201168"/>
          </a:xfrm>
          <a:prstGeom prst="rect">
            <a:avLst/>
          </a:prstGeom>
          <a:noFill/>
          <a:ln/>
        </p:spPr>
        <p:txBody>
          <a:bodyPr wrap="square" lIns="0" tIns="0" rIns="0" bIns="0" rtlCol="0" anchor="ctr"/>
          <a:lstStyle/>
          <a:p>
            <a:pPr indent="0" marL="0">
              <a:buNone/>
            </a:pPr>
            <a:r>
              <a:rPr lang="en-US" sz="850" i="1" dirty="0">
                <a:solidFill>
                  <a:srgbClr val="2471A3"/>
                </a:solidFill>
                <a:latin typeface="Calibri" pitchFamily="34" charset="0"/>
                <a:ea typeface="Calibri" pitchFamily="34" charset="-122"/>
                <a:cs typeface="Calibri" pitchFamily="34" charset="-120"/>
              </a:rPr>
              <a:t>▲ Normal curve overlay</a:t>
            </a:r>
            <a:endParaRPr lang="en-US" sz="850" dirty="0"/>
          </a:p>
        </p:txBody>
      </p:sp>
      <p:sp>
        <p:nvSpPr>
          <p:cNvPr id="23" name="Text 21"/>
          <p:cNvSpPr/>
          <p:nvPr/>
        </p:nvSpPr>
        <p:spPr>
          <a:xfrm>
            <a:off x="347472" y="3520440"/>
            <a:ext cx="3913632" cy="219456"/>
          </a:xfrm>
          <a:prstGeom prst="rect">
            <a:avLst/>
          </a:prstGeom>
          <a:noFill/>
          <a:ln/>
        </p:spPr>
        <p:txBody>
          <a:bodyPr wrap="square" lIns="0" tIns="0" rIns="0" bIns="0" rtlCol="0" anchor="ctr"/>
          <a:lstStyle/>
          <a:p>
            <a:pPr algn="ctr" indent="0" marL="0">
              <a:buNone/>
            </a:pPr>
            <a:r>
              <a:rPr lang="en-US" sz="900" b="1" dirty="0">
                <a:solidFill>
                  <a:srgbClr val="5C1A6B"/>
                </a:solidFill>
                <a:latin typeface="Calibri" pitchFamily="34" charset="0"/>
                <a:ea typeface="Calibri" pitchFamily="34" charset="-122"/>
                <a:cs typeface="Calibri" pitchFamily="34" charset="-120"/>
              </a:rPr>
              <a:t>Satisfaction Score (sat_mean) - N=450</a:t>
            </a:r>
            <a:endParaRPr lang="en-US" sz="900" dirty="0"/>
          </a:p>
        </p:txBody>
      </p:sp>
      <p:sp>
        <p:nvSpPr>
          <p:cNvPr id="24" name="Text 22"/>
          <p:cNvSpPr/>
          <p:nvPr/>
        </p:nvSpPr>
        <p:spPr>
          <a:xfrm>
            <a:off x="365760" y="3493008"/>
            <a:ext cx="3913632" cy="237744"/>
          </a:xfrm>
          <a:prstGeom prst="rect">
            <a:avLst/>
          </a:prstGeom>
          <a:noFill/>
          <a:ln/>
        </p:spPr>
        <p:txBody>
          <a:bodyPr wrap="square" lIns="0" tIns="0" rIns="0" bIns="0" rtlCol="0" anchor="ctr"/>
          <a:lstStyle/>
          <a:p>
            <a:pPr indent="0" marL="0">
              <a:buNone/>
            </a:pPr>
            <a:r>
              <a:rPr lang="en-US" sz="1050" b="1" dirty="0">
                <a:solidFill>
                  <a:srgbClr val="5C1A6B"/>
                </a:solidFill>
                <a:latin typeface="Calibri" pitchFamily="34" charset="0"/>
                <a:ea typeface="Calibri" pitchFamily="34" charset="-122"/>
                <a:cs typeface="Calibri" pitchFamily="34" charset="-120"/>
              </a:rPr>
              <a:t>Shape interpretation:</a:t>
            </a:r>
            <a:endParaRPr lang="en-US" sz="1050" dirty="0"/>
          </a:p>
        </p:txBody>
      </p:sp>
      <p:sp>
        <p:nvSpPr>
          <p:cNvPr id="25" name="Text 23"/>
          <p:cNvSpPr/>
          <p:nvPr/>
        </p:nvSpPr>
        <p:spPr>
          <a:xfrm>
            <a:off x="365760" y="3749040"/>
            <a:ext cx="3977640" cy="237744"/>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 Approximately normal: roughly bell-shaped, tail on each side</a:t>
            </a:r>
            <a:endParaRPr lang="en-US" sz="900" dirty="0"/>
          </a:p>
        </p:txBody>
      </p:sp>
      <p:sp>
        <p:nvSpPr>
          <p:cNvPr id="26" name="Text 24"/>
          <p:cNvSpPr/>
          <p:nvPr/>
        </p:nvSpPr>
        <p:spPr>
          <a:xfrm>
            <a:off x="365760" y="4005072"/>
            <a:ext cx="3977640" cy="237744"/>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 Skewed RIGHT: long tail to the right (e.g. income data)</a:t>
            </a:r>
            <a:endParaRPr lang="en-US" sz="900" dirty="0"/>
          </a:p>
        </p:txBody>
      </p:sp>
      <p:sp>
        <p:nvSpPr>
          <p:cNvPr id="27" name="Text 25"/>
          <p:cNvSpPr/>
          <p:nvPr/>
        </p:nvSpPr>
        <p:spPr>
          <a:xfrm>
            <a:off x="365760" y="4261104"/>
            <a:ext cx="3977640" cy="237744"/>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 Skewed LEFT: long tail to the left (e.g. exam marks near ceiling)</a:t>
            </a:r>
            <a:endParaRPr lang="en-US" sz="900" dirty="0"/>
          </a:p>
        </p:txBody>
      </p:sp>
      <p:sp>
        <p:nvSpPr>
          <p:cNvPr id="28" name="Text 26"/>
          <p:cNvSpPr/>
          <p:nvPr/>
        </p:nvSpPr>
        <p:spPr>
          <a:xfrm>
            <a:off x="365760" y="4517136"/>
            <a:ext cx="3977640" cy="237744"/>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 Bimodal: two peaks - may indicate two distinct subgroups</a:t>
            </a:r>
            <a:endParaRPr lang="en-US" sz="900" dirty="0"/>
          </a:p>
        </p:txBody>
      </p:sp>
      <p:sp>
        <p:nvSpPr>
          <p:cNvPr id="29" name="Text 27"/>
          <p:cNvSpPr/>
          <p:nvPr/>
        </p:nvSpPr>
        <p:spPr>
          <a:xfrm>
            <a:off x="365760" y="4773168"/>
            <a:ext cx="3977640" cy="237744"/>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 Uniform: flat distribution - all values equally likely</a:t>
            </a:r>
            <a:endParaRPr lang="en-US" sz="900" dirty="0"/>
          </a:p>
        </p:txBody>
      </p:sp>
      <p:sp>
        <p:nvSpPr>
          <p:cNvPr id="30" name="Text 28"/>
          <p:cNvSpPr/>
          <p:nvPr/>
        </p:nvSpPr>
        <p:spPr>
          <a:xfrm>
            <a:off x="365760" y="5029200"/>
            <a:ext cx="3913632" cy="292608"/>
          </a:xfrm>
          <a:prstGeom prst="rect">
            <a:avLst/>
          </a:prstGeom>
          <a:noFill/>
          <a:ln/>
        </p:spPr>
        <p:txBody>
          <a:bodyPr wrap="square" lIns="0" tIns="0" rIns="0" bIns="0" rtlCol="0" anchor="ctr"/>
          <a:lstStyle/>
          <a:p>
            <a:pPr indent="0" marL="0">
              <a:buNone/>
            </a:pPr>
            <a:r>
              <a:rPr lang="en-US" sz="850" i="1" dirty="0">
                <a:solidFill>
                  <a:srgbClr val="5C1A6B"/>
                </a:solidFill>
                <a:latin typeface="Calibri" pitchFamily="34" charset="0"/>
                <a:ea typeface="Calibri" pitchFamily="34" charset="-122"/>
                <a:cs typeface="Calibri" pitchFamily="34" charset="-120"/>
              </a:rPr>
              <a:t>SPSS: Analyze &gt; Descriptive Statistics &gt; Frequencies &gt; Charts &gt; Histograms &gt; With normal curve</a:t>
            </a:r>
            <a:endParaRPr lang="en-US" sz="850" dirty="0"/>
          </a:p>
        </p:txBody>
      </p:sp>
      <p:sp>
        <p:nvSpPr>
          <p:cNvPr id="31" name="Shape 29"/>
          <p:cNvSpPr/>
          <p:nvPr/>
        </p:nvSpPr>
        <p:spPr>
          <a:xfrm>
            <a:off x="4681728" y="1024128"/>
            <a:ext cx="4160520" cy="3977640"/>
          </a:xfrm>
          <a:prstGeom prst="roundRect">
            <a:avLst>
              <a:gd name="adj" fmla="val 2069"/>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32" name="Shape 30"/>
          <p:cNvSpPr/>
          <p:nvPr/>
        </p:nvSpPr>
        <p:spPr>
          <a:xfrm>
            <a:off x="4754880" y="1097280"/>
            <a:ext cx="4005072" cy="347472"/>
          </a:xfrm>
          <a:prstGeom prst="roundRect">
            <a:avLst>
              <a:gd name="adj" fmla="val 15789"/>
            </a:avLst>
          </a:prstGeom>
          <a:solidFill>
            <a:srgbClr val="2471A3"/>
          </a:solidFill>
          <a:ln w="12700">
            <a:solidFill>
              <a:srgbClr val="2471A3"/>
            </a:solidFill>
            <a:prstDash val="solid"/>
          </a:ln>
        </p:spPr>
      </p:sp>
      <p:sp>
        <p:nvSpPr>
          <p:cNvPr id="33" name="Text 31"/>
          <p:cNvSpPr/>
          <p:nvPr/>
        </p:nvSpPr>
        <p:spPr>
          <a:xfrm>
            <a:off x="4754880" y="1097280"/>
            <a:ext cx="40050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BOXPLOT  -  Centre, Spread and Outliers</a:t>
            </a:r>
            <a:endParaRPr lang="en-US" sz="1200" dirty="0"/>
          </a:p>
        </p:txBody>
      </p:sp>
      <p:sp>
        <p:nvSpPr>
          <p:cNvPr id="34" name="Shape 32"/>
          <p:cNvSpPr/>
          <p:nvPr/>
        </p:nvSpPr>
        <p:spPr>
          <a:xfrm>
            <a:off x="5669280" y="1938528"/>
            <a:ext cx="1645920" cy="640080"/>
          </a:xfrm>
          <a:prstGeom prst="rect">
            <a:avLst/>
          </a:prstGeom>
          <a:solidFill>
            <a:srgbClr val="C8A0E8"/>
          </a:solidFill>
          <a:ln w="19050">
            <a:solidFill>
              <a:srgbClr val="2471A3"/>
            </a:solidFill>
            <a:prstDash val="solid"/>
          </a:ln>
        </p:spPr>
      </p:sp>
      <p:sp>
        <p:nvSpPr>
          <p:cNvPr id="35" name="Shape 33"/>
          <p:cNvSpPr/>
          <p:nvPr/>
        </p:nvSpPr>
        <p:spPr>
          <a:xfrm>
            <a:off x="5669280" y="2304288"/>
            <a:ext cx="1645920" cy="0"/>
          </a:xfrm>
          <a:prstGeom prst="line">
            <a:avLst/>
          </a:prstGeom>
          <a:noFill/>
          <a:ln w="31750">
            <a:solidFill>
              <a:srgbClr val="1A0A1E"/>
            </a:solidFill>
            <a:prstDash val="solid"/>
          </a:ln>
        </p:spPr>
      </p:sp>
      <p:sp>
        <p:nvSpPr>
          <p:cNvPr id="36" name="Shape 34"/>
          <p:cNvSpPr/>
          <p:nvPr/>
        </p:nvSpPr>
        <p:spPr>
          <a:xfrm>
            <a:off x="6492240" y="1627632"/>
            <a:ext cx="0" cy="310896"/>
          </a:xfrm>
          <a:prstGeom prst="line">
            <a:avLst/>
          </a:prstGeom>
          <a:noFill/>
          <a:ln w="15240">
            <a:solidFill>
              <a:srgbClr val="2471A3"/>
            </a:solidFill>
            <a:prstDash val="solid"/>
          </a:ln>
        </p:spPr>
      </p:sp>
      <p:sp>
        <p:nvSpPr>
          <p:cNvPr id="37" name="Shape 35"/>
          <p:cNvSpPr/>
          <p:nvPr/>
        </p:nvSpPr>
        <p:spPr>
          <a:xfrm>
            <a:off x="6492240" y="2578608"/>
            <a:ext cx="0" cy="548640"/>
          </a:xfrm>
          <a:prstGeom prst="line">
            <a:avLst/>
          </a:prstGeom>
          <a:noFill/>
          <a:ln w="15240">
            <a:solidFill>
              <a:srgbClr val="2471A3"/>
            </a:solidFill>
            <a:prstDash val="solid"/>
          </a:ln>
        </p:spPr>
      </p:sp>
      <p:sp>
        <p:nvSpPr>
          <p:cNvPr id="38" name="Shape 36"/>
          <p:cNvSpPr/>
          <p:nvPr/>
        </p:nvSpPr>
        <p:spPr>
          <a:xfrm>
            <a:off x="5852160" y="1627632"/>
            <a:ext cx="1280160" cy="0"/>
          </a:xfrm>
          <a:prstGeom prst="line">
            <a:avLst/>
          </a:prstGeom>
          <a:noFill/>
          <a:ln w="15240">
            <a:solidFill>
              <a:srgbClr val="2471A3"/>
            </a:solidFill>
            <a:prstDash val="solid"/>
          </a:ln>
        </p:spPr>
      </p:sp>
      <p:sp>
        <p:nvSpPr>
          <p:cNvPr id="39" name="Shape 37"/>
          <p:cNvSpPr/>
          <p:nvPr/>
        </p:nvSpPr>
        <p:spPr>
          <a:xfrm>
            <a:off x="5852160" y="3127248"/>
            <a:ext cx="1280160" cy="0"/>
          </a:xfrm>
          <a:prstGeom prst="line">
            <a:avLst/>
          </a:prstGeom>
          <a:noFill/>
          <a:ln w="15240">
            <a:solidFill>
              <a:srgbClr val="2471A3"/>
            </a:solidFill>
            <a:prstDash val="solid"/>
          </a:ln>
        </p:spPr>
      </p:sp>
      <p:sp>
        <p:nvSpPr>
          <p:cNvPr id="40" name="Shape 38"/>
          <p:cNvSpPr/>
          <p:nvPr/>
        </p:nvSpPr>
        <p:spPr>
          <a:xfrm>
            <a:off x="6126480" y="3383280"/>
            <a:ext cx="201168" cy="201168"/>
          </a:xfrm>
          <a:prstGeom prst="ellipse">
            <a:avLst/>
          </a:prstGeom>
          <a:solidFill>
            <a:srgbClr val="C0392B"/>
          </a:solidFill>
          <a:ln w="12700">
            <a:solidFill>
              <a:srgbClr val="C0392B"/>
            </a:solidFill>
            <a:prstDash val="solid"/>
          </a:ln>
        </p:spPr>
      </p:sp>
      <p:sp>
        <p:nvSpPr>
          <p:cNvPr id="41" name="Text 39"/>
          <p:cNvSpPr/>
          <p:nvPr/>
        </p:nvSpPr>
        <p:spPr>
          <a:xfrm>
            <a:off x="7388352" y="1499616"/>
            <a:ext cx="1417320" cy="201168"/>
          </a:xfrm>
          <a:prstGeom prst="rect">
            <a:avLst/>
          </a:prstGeom>
          <a:noFill/>
          <a:ln/>
        </p:spPr>
        <p:txBody>
          <a:bodyPr wrap="square" lIns="0" tIns="0" rIns="0" bIns="0" rtlCol="0" anchor="ctr"/>
          <a:lstStyle/>
          <a:p>
            <a:pPr indent="0" marL="0">
              <a:buNone/>
            </a:pPr>
            <a:r>
              <a:rPr lang="en-US" sz="800" dirty="0">
                <a:solidFill>
                  <a:srgbClr val="2471A3"/>
                </a:solidFill>
                <a:latin typeface="Calibri" pitchFamily="34" charset="0"/>
                <a:ea typeface="Calibri" pitchFamily="34" charset="-122"/>
                <a:cs typeface="Calibri" pitchFamily="34" charset="-120"/>
              </a:rPr>
              <a:t>Maximum (excl. outliers)</a:t>
            </a:r>
            <a:endParaRPr lang="en-US" sz="800" dirty="0"/>
          </a:p>
        </p:txBody>
      </p:sp>
      <p:sp>
        <p:nvSpPr>
          <p:cNvPr id="42" name="Shape 40"/>
          <p:cNvSpPr/>
          <p:nvPr/>
        </p:nvSpPr>
        <p:spPr>
          <a:xfrm>
            <a:off x="7315200" y="1591056"/>
            <a:ext cx="73152" cy="0"/>
          </a:xfrm>
          <a:prstGeom prst="line">
            <a:avLst/>
          </a:prstGeom>
          <a:noFill/>
          <a:ln w="6350">
            <a:solidFill>
              <a:srgbClr val="D8C8ED"/>
            </a:solidFill>
            <a:prstDash val="dash"/>
          </a:ln>
        </p:spPr>
      </p:sp>
      <p:sp>
        <p:nvSpPr>
          <p:cNvPr id="43" name="Text 41"/>
          <p:cNvSpPr/>
          <p:nvPr/>
        </p:nvSpPr>
        <p:spPr>
          <a:xfrm>
            <a:off x="7388352" y="1956816"/>
            <a:ext cx="1417320" cy="201168"/>
          </a:xfrm>
          <a:prstGeom prst="rect">
            <a:avLst/>
          </a:prstGeom>
          <a:noFill/>
          <a:ln/>
        </p:spPr>
        <p:txBody>
          <a:bodyPr wrap="square" lIns="0" tIns="0" rIns="0" bIns="0" rtlCol="0" anchor="ctr"/>
          <a:lstStyle/>
          <a:p>
            <a:pPr indent="0" marL="0">
              <a:buNone/>
            </a:pPr>
            <a:r>
              <a:rPr lang="en-US" sz="800" dirty="0">
                <a:solidFill>
                  <a:srgbClr val="2471A3"/>
                </a:solidFill>
                <a:latin typeface="Calibri" pitchFamily="34" charset="0"/>
                <a:ea typeface="Calibri" pitchFamily="34" charset="-122"/>
                <a:cs typeface="Calibri" pitchFamily="34" charset="-120"/>
              </a:rPr>
              <a:t>Q3 (75th percentile)</a:t>
            </a:r>
            <a:endParaRPr lang="en-US" sz="800" dirty="0"/>
          </a:p>
        </p:txBody>
      </p:sp>
      <p:sp>
        <p:nvSpPr>
          <p:cNvPr id="44" name="Shape 42"/>
          <p:cNvSpPr/>
          <p:nvPr/>
        </p:nvSpPr>
        <p:spPr>
          <a:xfrm>
            <a:off x="7315200" y="2048256"/>
            <a:ext cx="73152" cy="0"/>
          </a:xfrm>
          <a:prstGeom prst="line">
            <a:avLst/>
          </a:prstGeom>
          <a:noFill/>
          <a:ln w="6350">
            <a:solidFill>
              <a:srgbClr val="D8C8ED"/>
            </a:solidFill>
            <a:prstDash val="dash"/>
          </a:ln>
        </p:spPr>
      </p:sp>
      <p:sp>
        <p:nvSpPr>
          <p:cNvPr id="45" name="Text 43"/>
          <p:cNvSpPr/>
          <p:nvPr/>
        </p:nvSpPr>
        <p:spPr>
          <a:xfrm>
            <a:off x="7388352" y="2322576"/>
            <a:ext cx="1417320" cy="201168"/>
          </a:xfrm>
          <a:prstGeom prst="rect">
            <a:avLst/>
          </a:prstGeom>
          <a:noFill/>
          <a:ln/>
        </p:spPr>
        <p:txBody>
          <a:bodyPr wrap="square" lIns="0" tIns="0" rIns="0" bIns="0" rtlCol="0" anchor="ctr"/>
          <a:lstStyle/>
          <a:p>
            <a:pPr indent="0" marL="0">
              <a:buNone/>
            </a:pPr>
            <a:r>
              <a:rPr lang="en-US" sz="800" dirty="0">
                <a:solidFill>
                  <a:srgbClr val="2471A3"/>
                </a:solidFill>
                <a:latin typeface="Calibri" pitchFamily="34" charset="0"/>
                <a:ea typeface="Calibri" pitchFamily="34" charset="-122"/>
                <a:cs typeface="Calibri" pitchFamily="34" charset="-120"/>
              </a:rPr>
              <a:t>MEDIAN (Q2)</a:t>
            </a:r>
            <a:endParaRPr lang="en-US" sz="800" dirty="0"/>
          </a:p>
        </p:txBody>
      </p:sp>
      <p:sp>
        <p:nvSpPr>
          <p:cNvPr id="46" name="Shape 44"/>
          <p:cNvSpPr/>
          <p:nvPr/>
        </p:nvSpPr>
        <p:spPr>
          <a:xfrm>
            <a:off x="7315200" y="2414016"/>
            <a:ext cx="73152" cy="0"/>
          </a:xfrm>
          <a:prstGeom prst="line">
            <a:avLst/>
          </a:prstGeom>
          <a:noFill/>
          <a:ln w="6350">
            <a:solidFill>
              <a:srgbClr val="D8C8ED"/>
            </a:solidFill>
            <a:prstDash val="dash"/>
          </a:ln>
        </p:spPr>
      </p:sp>
      <p:sp>
        <p:nvSpPr>
          <p:cNvPr id="47" name="Text 45"/>
          <p:cNvSpPr/>
          <p:nvPr/>
        </p:nvSpPr>
        <p:spPr>
          <a:xfrm>
            <a:off x="7388352" y="2596896"/>
            <a:ext cx="1417320" cy="201168"/>
          </a:xfrm>
          <a:prstGeom prst="rect">
            <a:avLst/>
          </a:prstGeom>
          <a:noFill/>
          <a:ln/>
        </p:spPr>
        <p:txBody>
          <a:bodyPr wrap="square" lIns="0" tIns="0" rIns="0" bIns="0" rtlCol="0" anchor="ctr"/>
          <a:lstStyle/>
          <a:p>
            <a:pPr indent="0" marL="0">
              <a:buNone/>
            </a:pPr>
            <a:r>
              <a:rPr lang="en-US" sz="800" dirty="0">
                <a:solidFill>
                  <a:srgbClr val="2471A3"/>
                </a:solidFill>
                <a:latin typeface="Calibri" pitchFamily="34" charset="0"/>
                <a:ea typeface="Calibri" pitchFamily="34" charset="-122"/>
                <a:cs typeface="Calibri" pitchFamily="34" charset="-120"/>
              </a:rPr>
              <a:t>Q1 (25th percentile)</a:t>
            </a:r>
            <a:endParaRPr lang="en-US" sz="800" dirty="0"/>
          </a:p>
        </p:txBody>
      </p:sp>
      <p:sp>
        <p:nvSpPr>
          <p:cNvPr id="48" name="Shape 46"/>
          <p:cNvSpPr/>
          <p:nvPr/>
        </p:nvSpPr>
        <p:spPr>
          <a:xfrm>
            <a:off x="7315200" y="2688336"/>
            <a:ext cx="73152" cy="0"/>
          </a:xfrm>
          <a:prstGeom prst="line">
            <a:avLst/>
          </a:prstGeom>
          <a:noFill/>
          <a:ln w="6350">
            <a:solidFill>
              <a:srgbClr val="D8C8ED"/>
            </a:solidFill>
            <a:prstDash val="dash"/>
          </a:ln>
        </p:spPr>
      </p:sp>
      <p:sp>
        <p:nvSpPr>
          <p:cNvPr id="49" name="Text 47"/>
          <p:cNvSpPr/>
          <p:nvPr/>
        </p:nvSpPr>
        <p:spPr>
          <a:xfrm>
            <a:off x="7388352" y="2999232"/>
            <a:ext cx="1417320" cy="201168"/>
          </a:xfrm>
          <a:prstGeom prst="rect">
            <a:avLst/>
          </a:prstGeom>
          <a:noFill/>
          <a:ln/>
        </p:spPr>
        <p:txBody>
          <a:bodyPr wrap="square" lIns="0" tIns="0" rIns="0" bIns="0" rtlCol="0" anchor="ctr"/>
          <a:lstStyle/>
          <a:p>
            <a:pPr indent="0" marL="0">
              <a:buNone/>
            </a:pPr>
            <a:r>
              <a:rPr lang="en-US" sz="800" dirty="0">
                <a:solidFill>
                  <a:srgbClr val="2471A3"/>
                </a:solidFill>
                <a:latin typeface="Calibri" pitchFamily="34" charset="0"/>
                <a:ea typeface="Calibri" pitchFamily="34" charset="-122"/>
                <a:cs typeface="Calibri" pitchFamily="34" charset="-120"/>
              </a:rPr>
              <a:t>Minimum (excl. outliers)</a:t>
            </a:r>
            <a:endParaRPr lang="en-US" sz="800" dirty="0"/>
          </a:p>
        </p:txBody>
      </p:sp>
      <p:sp>
        <p:nvSpPr>
          <p:cNvPr id="50" name="Shape 48"/>
          <p:cNvSpPr/>
          <p:nvPr/>
        </p:nvSpPr>
        <p:spPr>
          <a:xfrm>
            <a:off x="7315200" y="3090672"/>
            <a:ext cx="73152" cy="0"/>
          </a:xfrm>
          <a:prstGeom prst="line">
            <a:avLst/>
          </a:prstGeom>
          <a:noFill/>
          <a:ln w="6350">
            <a:solidFill>
              <a:srgbClr val="D8C8ED"/>
            </a:solidFill>
            <a:prstDash val="dash"/>
          </a:ln>
        </p:spPr>
      </p:sp>
      <p:sp>
        <p:nvSpPr>
          <p:cNvPr id="51" name="Text 49"/>
          <p:cNvSpPr/>
          <p:nvPr/>
        </p:nvSpPr>
        <p:spPr>
          <a:xfrm>
            <a:off x="7388352" y="3337560"/>
            <a:ext cx="1417320" cy="201168"/>
          </a:xfrm>
          <a:prstGeom prst="rect">
            <a:avLst/>
          </a:prstGeom>
          <a:noFill/>
          <a:ln/>
        </p:spPr>
        <p:txBody>
          <a:bodyPr wrap="square" lIns="0" tIns="0" rIns="0" bIns="0" rtlCol="0" anchor="ctr"/>
          <a:lstStyle/>
          <a:p>
            <a:pPr indent="0" marL="0">
              <a:buNone/>
            </a:pPr>
            <a:r>
              <a:rPr lang="en-US" sz="800" dirty="0">
                <a:solidFill>
                  <a:srgbClr val="2471A3"/>
                </a:solidFill>
                <a:latin typeface="Calibri" pitchFamily="34" charset="0"/>
                <a:ea typeface="Calibri" pitchFamily="34" charset="-122"/>
                <a:cs typeface="Calibri" pitchFamily="34" charset="-120"/>
              </a:rPr>
              <a:t>● Outlier (&gt;1.5 × IQR)</a:t>
            </a:r>
            <a:endParaRPr lang="en-US" sz="800" dirty="0"/>
          </a:p>
        </p:txBody>
      </p:sp>
      <p:sp>
        <p:nvSpPr>
          <p:cNvPr id="52" name="Shape 50"/>
          <p:cNvSpPr/>
          <p:nvPr/>
        </p:nvSpPr>
        <p:spPr>
          <a:xfrm>
            <a:off x="7315200" y="3429000"/>
            <a:ext cx="73152" cy="0"/>
          </a:xfrm>
          <a:prstGeom prst="line">
            <a:avLst/>
          </a:prstGeom>
          <a:noFill/>
          <a:ln w="6350">
            <a:solidFill>
              <a:srgbClr val="D8C8ED"/>
            </a:solidFill>
            <a:prstDash val="dash"/>
          </a:ln>
        </p:spPr>
      </p:sp>
      <p:sp>
        <p:nvSpPr>
          <p:cNvPr id="53" name="Text 51"/>
          <p:cNvSpPr/>
          <p:nvPr/>
        </p:nvSpPr>
        <p:spPr>
          <a:xfrm>
            <a:off x="4773168" y="3767328"/>
            <a:ext cx="3913632" cy="219456"/>
          </a:xfrm>
          <a:prstGeom prst="rect">
            <a:avLst/>
          </a:prstGeom>
          <a:noFill/>
          <a:ln/>
        </p:spPr>
        <p:txBody>
          <a:bodyPr wrap="square" lIns="0" tIns="0" rIns="0" bIns="0" rtlCol="0" anchor="ctr"/>
          <a:lstStyle/>
          <a:p>
            <a:pPr indent="0" marL="0">
              <a:buNone/>
            </a:pPr>
            <a:r>
              <a:rPr lang="en-US" sz="900" b="1" dirty="0">
                <a:solidFill>
                  <a:srgbClr val="2471A3"/>
                </a:solidFill>
                <a:latin typeface="Calibri" pitchFamily="34" charset="0"/>
                <a:ea typeface="Calibri" pitchFamily="34" charset="-122"/>
                <a:cs typeface="Calibri" pitchFamily="34" charset="-120"/>
              </a:rPr>
              <a:t>IQR = Q3 - Q1 = the BOX</a:t>
            </a:r>
            <a:endParaRPr lang="en-US" sz="900" dirty="0"/>
          </a:p>
        </p:txBody>
      </p:sp>
      <p:sp>
        <p:nvSpPr>
          <p:cNvPr id="54" name="Text 52"/>
          <p:cNvSpPr/>
          <p:nvPr/>
        </p:nvSpPr>
        <p:spPr>
          <a:xfrm>
            <a:off x="4773168" y="4023360"/>
            <a:ext cx="3977640" cy="21945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Box spans Q1 to Q3: middle 50% of data</a:t>
            </a:r>
            <a:endParaRPr lang="en-US" sz="850" dirty="0"/>
          </a:p>
        </p:txBody>
      </p:sp>
      <p:sp>
        <p:nvSpPr>
          <p:cNvPr id="55" name="Text 53"/>
          <p:cNvSpPr/>
          <p:nvPr/>
        </p:nvSpPr>
        <p:spPr>
          <a:xfrm>
            <a:off x="4773168" y="4261104"/>
            <a:ext cx="3977640" cy="21945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Bold line = MEDIAN. If off-centre, distribution is skewed</a:t>
            </a:r>
            <a:endParaRPr lang="en-US" sz="850" dirty="0"/>
          </a:p>
        </p:txBody>
      </p:sp>
      <p:sp>
        <p:nvSpPr>
          <p:cNvPr id="56" name="Text 54"/>
          <p:cNvSpPr/>
          <p:nvPr/>
        </p:nvSpPr>
        <p:spPr>
          <a:xfrm>
            <a:off x="4773168" y="4498848"/>
            <a:ext cx="3977640" cy="21945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Whiskers = range excluding outliers (1.5 × IQR rule)</a:t>
            </a:r>
            <a:endParaRPr lang="en-US" sz="850" dirty="0"/>
          </a:p>
        </p:txBody>
      </p:sp>
      <p:sp>
        <p:nvSpPr>
          <p:cNvPr id="57" name="Text 55"/>
          <p:cNvSpPr/>
          <p:nvPr/>
        </p:nvSpPr>
        <p:spPr>
          <a:xfrm>
            <a:off x="4773168" y="4736592"/>
            <a:ext cx="3977640" cy="21945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Circles (o) = mild outliers: 1.5 to 3.0 × IQR beyond box</a:t>
            </a:r>
            <a:endParaRPr lang="en-US" sz="850" dirty="0"/>
          </a:p>
        </p:txBody>
      </p:sp>
      <p:sp>
        <p:nvSpPr>
          <p:cNvPr id="58" name="Text 56"/>
          <p:cNvSpPr/>
          <p:nvPr/>
        </p:nvSpPr>
        <p:spPr>
          <a:xfrm>
            <a:off x="4773168" y="4974336"/>
            <a:ext cx="3977640" cy="219456"/>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 Stars (*) = extreme outliers: &gt; 3.0 × IQR beyond box</a:t>
            </a:r>
            <a:endParaRPr lang="en-US" sz="850" dirty="0"/>
          </a:p>
        </p:txBody>
      </p:sp>
      <p:sp>
        <p:nvSpPr>
          <p:cNvPr id="59" name="Text 57"/>
          <p:cNvSpPr/>
          <p:nvPr/>
        </p:nvSpPr>
        <p:spPr>
          <a:xfrm>
            <a:off x="4773168" y="5029200"/>
            <a:ext cx="3977640" cy="292608"/>
          </a:xfrm>
          <a:prstGeom prst="rect">
            <a:avLst/>
          </a:prstGeom>
          <a:noFill/>
          <a:ln/>
        </p:spPr>
        <p:txBody>
          <a:bodyPr wrap="square" lIns="0" tIns="0" rIns="0" bIns="0" rtlCol="0" anchor="ctr"/>
          <a:lstStyle/>
          <a:p>
            <a:pPr indent="0" marL="0">
              <a:buNone/>
            </a:pPr>
            <a:r>
              <a:rPr lang="en-US" sz="850" i="1" dirty="0">
                <a:solidFill>
                  <a:srgbClr val="2471A3"/>
                </a:solidFill>
                <a:latin typeface="Calibri" pitchFamily="34" charset="0"/>
                <a:ea typeface="Calibri" pitchFamily="34" charset="-122"/>
                <a:cs typeface="Calibri" pitchFamily="34" charset="-120"/>
              </a:rPr>
              <a:t>SPSS: Graphs &gt; Legacy Dialogs &gt; Boxplot &gt; Simple &gt; Summaries for groups of cases</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5C1A6B">
              <a:alpha val="20000"/>
            </a:srgbClr>
          </a:solidFill>
          <a:ln w="12700">
            <a:solidFill>
              <a:srgbClr val="5C1A6B"/>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3  |  SECTION 08</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Graphing Qualitative Data</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C8A8E8"/>
                </a:solidFill>
                <a:latin typeface="Calibri" pitchFamily="34" charset="0"/>
                <a:ea typeface="Calibri" pitchFamily="34" charset="-122"/>
                <a:cs typeface="Calibri" pitchFamily="34" charset="-120"/>
              </a:rPr>
              <a:t>Bar charts, pie charts and clustered charts for categorical variables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2471A3"/>
          </a:solidFill>
          <a:ln w="12700">
            <a:solidFill>
              <a:srgbClr val="2471A3"/>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Bar Charts and Pie Charts for Categorical Variables - UAC Foods Examples</a:t>
            </a:r>
            <a:endParaRPr lang="en-US" sz="2100" dirty="0"/>
          </a:p>
        </p:txBody>
      </p:sp>
      <p:sp>
        <p:nvSpPr>
          <p:cNvPr id="4" name="Shape 2"/>
          <p:cNvSpPr/>
          <p:nvPr/>
        </p:nvSpPr>
        <p:spPr>
          <a:xfrm>
            <a:off x="256032" y="1024128"/>
            <a:ext cx="4160520" cy="4005072"/>
          </a:xfrm>
          <a:prstGeom prst="roundRect">
            <a:avLst>
              <a:gd name="adj" fmla="val 2055"/>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4005072" cy="347472"/>
          </a:xfrm>
          <a:prstGeom prst="roundRect">
            <a:avLst>
              <a:gd name="adj" fmla="val 15789"/>
            </a:avLst>
          </a:prstGeom>
          <a:solidFill>
            <a:srgbClr val="5C1A6B"/>
          </a:solidFill>
          <a:ln w="12700">
            <a:solidFill>
              <a:srgbClr val="5C1A6B"/>
            </a:solidFill>
            <a:prstDash val="solid"/>
          </a:ln>
        </p:spPr>
      </p:sp>
      <p:sp>
        <p:nvSpPr>
          <p:cNvPr id="6" name="Text 4"/>
          <p:cNvSpPr/>
          <p:nvPr/>
        </p:nvSpPr>
        <p:spPr>
          <a:xfrm>
            <a:off x="329184" y="1097280"/>
            <a:ext cx="40050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BAR CHART  -  Comparing Categories</a:t>
            </a:r>
            <a:endParaRPr lang="en-US" sz="1200" dirty="0"/>
          </a:p>
        </p:txBody>
      </p:sp>
      <p:sp>
        <p:nvSpPr>
          <p:cNvPr id="7" name="Shape 5"/>
          <p:cNvSpPr/>
          <p:nvPr/>
        </p:nvSpPr>
        <p:spPr>
          <a:xfrm>
            <a:off x="365760" y="2324771"/>
            <a:ext cx="384048" cy="1497421"/>
          </a:xfrm>
          <a:prstGeom prst="rect">
            <a:avLst/>
          </a:prstGeom>
          <a:solidFill>
            <a:srgbClr val="2471A3"/>
          </a:solidFill>
          <a:ln w="12700">
            <a:solidFill>
              <a:srgbClr val="2471A3"/>
            </a:solidFill>
            <a:prstDash val="solid"/>
          </a:ln>
        </p:spPr>
      </p:sp>
      <p:sp>
        <p:nvSpPr>
          <p:cNvPr id="8" name="Shape 6"/>
          <p:cNvSpPr/>
          <p:nvPr/>
        </p:nvSpPr>
        <p:spPr>
          <a:xfrm>
            <a:off x="768096" y="2610510"/>
            <a:ext cx="384048" cy="1211682"/>
          </a:xfrm>
          <a:prstGeom prst="rect">
            <a:avLst/>
          </a:prstGeom>
          <a:solidFill>
            <a:srgbClr val="7B2D8B"/>
          </a:solidFill>
          <a:ln w="12700">
            <a:solidFill>
              <a:srgbClr val="7B2D8B"/>
            </a:solidFill>
            <a:prstDash val="solid"/>
          </a:ln>
        </p:spPr>
      </p:sp>
      <p:sp>
        <p:nvSpPr>
          <p:cNvPr id="9" name="Text 7"/>
          <p:cNvSpPr/>
          <p:nvPr/>
        </p:nvSpPr>
        <p:spPr>
          <a:xfrm>
            <a:off x="365760" y="2123603"/>
            <a:ext cx="384048" cy="182880"/>
          </a:xfrm>
          <a:prstGeom prst="rect">
            <a:avLst/>
          </a:prstGeom>
          <a:noFill/>
          <a:ln/>
        </p:spPr>
        <p:txBody>
          <a:bodyPr wrap="square" lIns="0" tIns="0" rIns="0" bIns="0" rtlCol="0" anchor="ctr"/>
          <a:lstStyle/>
          <a:p>
            <a:pPr algn="ctr" indent="0" marL="0">
              <a:buNone/>
            </a:pPr>
            <a:r>
              <a:rPr lang="en-US" sz="750" b="1" dirty="0">
                <a:solidFill>
                  <a:srgbClr val="2471A3"/>
                </a:solidFill>
                <a:latin typeface="Calibri" pitchFamily="34" charset="0"/>
                <a:ea typeface="Calibri" pitchFamily="34" charset="-122"/>
                <a:cs typeface="Calibri" pitchFamily="34" charset="-120"/>
              </a:rPr>
              <a:t>41.4%</a:t>
            </a:r>
            <a:endParaRPr lang="en-US" sz="750" dirty="0"/>
          </a:p>
        </p:txBody>
      </p:sp>
      <p:sp>
        <p:nvSpPr>
          <p:cNvPr id="10" name="Text 8"/>
          <p:cNvSpPr/>
          <p:nvPr/>
        </p:nvSpPr>
        <p:spPr>
          <a:xfrm>
            <a:off x="768096" y="2409342"/>
            <a:ext cx="384048" cy="182880"/>
          </a:xfrm>
          <a:prstGeom prst="rect">
            <a:avLst/>
          </a:prstGeom>
          <a:noFill/>
          <a:ln/>
        </p:spPr>
        <p:txBody>
          <a:bodyPr wrap="square" lIns="0" tIns="0" rIns="0" bIns="0" rtlCol="0" anchor="ctr"/>
          <a:lstStyle/>
          <a:p>
            <a:pPr algn="ctr" indent="0" marL="0">
              <a:buNone/>
            </a:pPr>
            <a:r>
              <a:rPr lang="en-US" sz="750" b="1" dirty="0">
                <a:solidFill>
                  <a:srgbClr val="7B2D8B"/>
                </a:solidFill>
                <a:latin typeface="Calibri" pitchFamily="34" charset="0"/>
                <a:ea typeface="Calibri" pitchFamily="34" charset="-122"/>
                <a:cs typeface="Calibri" pitchFamily="34" charset="-120"/>
              </a:rPr>
              <a:t>33.5%</a:t>
            </a:r>
            <a:endParaRPr lang="en-US" sz="750" dirty="0"/>
          </a:p>
        </p:txBody>
      </p:sp>
      <p:sp>
        <p:nvSpPr>
          <p:cNvPr id="11" name="Text 9"/>
          <p:cNvSpPr/>
          <p:nvPr/>
        </p:nvSpPr>
        <p:spPr>
          <a:xfrm>
            <a:off x="347472" y="3858768"/>
            <a:ext cx="877824" cy="219456"/>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Gala</a:t>
            </a:r>
            <a:endParaRPr lang="en-US" sz="750" dirty="0"/>
          </a:p>
        </p:txBody>
      </p:sp>
      <p:sp>
        <p:nvSpPr>
          <p:cNvPr id="12" name="Shape 10"/>
          <p:cNvSpPr/>
          <p:nvPr/>
        </p:nvSpPr>
        <p:spPr>
          <a:xfrm>
            <a:off x="1353312" y="3160288"/>
            <a:ext cx="384048" cy="661904"/>
          </a:xfrm>
          <a:prstGeom prst="rect">
            <a:avLst/>
          </a:prstGeom>
          <a:solidFill>
            <a:srgbClr val="2471A3"/>
          </a:solidFill>
          <a:ln w="12700">
            <a:solidFill>
              <a:srgbClr val="2471A3"/>
            </a:solidFill>
            <a:prstDash val="solid"/>
          </a:ln>
        </p:spPr>
      </p:sp>
      <p:sp>
        <p:nvSpPr>
          <p:cNvPr id="13" name="Shape 11"/>
          <p:cNvSpPr/>
          <p:nvPr/>
        </p:nvSpPr>
        <p:spPr>
          <a:xfrm>
            <a:off x="1755648" y="2650297"/>
            <a:ext cx="384048" cy="1171895"/>
          </a:xfrm>
          <a:prstGeom prst="rect">
            <a:avLst/>
          </a:prstGeom>
          <a:solidFill>
            <a:srgbClr val="7B2D8B"/>
          </a:solidFill>
          <a:ln w="12700">
            <a:solidFill>
              <a:srgbClr val="7B2D8B"/>
            </a:solidFill>
            <a:prstDash val="solid"/>
          </a:ln>
        </p:spPr>
      </p:sp>
      <p:sp>
        <p:nvSpPr>
          <p:cNvPr id="14" name="Text 12"/>
          <p:cNvSpPr/>
          <p:nvPr/>
        </p:nvSpPr>
        <p:spPr>
          <a:xfrm>
            <a:off x="1353312" y="2959120"/>
            <a:ext cx="384048" cy="182880"/>
          </a:xfrm>
          <a:prstGeom prst="rect">
            <a:avLst/>
          </a:prstGeom>
          <a:noFill/>
          <a:ln/>
        </p:spPr>
        <p:txBody>
          <a:bodyPr wrap="square" lIns="0" tIns="0" rIns="0" bIns="0" rtlCol="0" anchor="ctr"/>
          <a:lstStyle/>
          <a:p>
            <a:pPr algn="ctr" indent="0" marL="0">
              <a:buNone/>
            </a:pPr>
            <a:r>
              <a:rPr lang="en-US" sz="750" b="1" dirty="0">
                <a:solidFill>
                  <a:srgbClr val="2471A3"/>
                </a:solidFill>
                <a:latin typeface="Calibri" pitchFamily="34" charset="0"/>
                <a:ea typeface="Calibri" pitchFamily="34" charset="-122"/>
                <a:cs typeface="Calibri" pitchFamily="34" charset="-120"/>
              </a:rPr>
              <a:t>18.3%</a:t>
            </a:r>
            <a:endParaRPr lang="en-US" sz="750" dirty="0"/>
          </a:p>
        </p:txBody>
      </p:sp>
      <p:sp>
        <p:nvSpPr>
          <p:cNvPr id="15" name="Text 13"/>
          <p:cNvSpPr/>
          <p:nvPr/>
        </p:nvSpPr>
        <p:spPr>
          <a:xfrm>
            <a:off x="1755648" y="2449129"/>
            <a:ext cx="384048" cy="182880"/>
          </a:xfrm>
          <a:prstGeom prst="rect">
            <a:avLst/>
          </a:prstGeom>
          <a:noFill/>
          <a:ln/>
        </p:spPr>
        <p:txBody>
          <a:bodyPr wrap="square" lIns="0" tIns="0" rIns="0" bIns="0" rtlCol="0" anchor="ctr"/>
          <a:lstStyle/>
          <a:p>
            <a:pPr algn="ctr" indent="0" marL="0">
              <a:buNone/>
            </a:pPr>
            <a:r>
              <a:rPr lang="en-US" sz="750" b="1" dirty="0">
                <a:solidFill>
                  <a:srgbClr val="7B2D8B"/>
                </a:solidFill>
                <a:latin typeface="Calibri" pitchFamily="34" charset="0"/>
                <a:ea typeface="Calibri" pitchFamily="34" charset="-122"/>
                <a:cs typeface="Calibri" pitchFamily="34" charset="-120"/>
              </a:rPr>
              <a:t>32.4%</a:t>
            </a:r>
            <a:endParaRPr lang="en-US" sz="750" dirty="0"/>
          </a:p>
        </p:txBody>
      </p:sp>
      <p:sp>
        <p:nvSpPr>
          <p:cNvPr id="16" name="Text 14"/>
          <p:cNvSpPr/>
          <p:nvPr/>
        </p:nvSpPr>
        <p:spPr>
          <a:xfrm>
            <a:off x="1335024" y="3858768"/>
            <a:ext cx="877824" cy="219456"/>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Deli</a:t>
            </a:r>
            <a:endParaRPr lang="en-US" sz="750" dirty="0"/>
          </a:p>
        </p:txBody>
      </p:sp>
      <p:sp>
        <p:nvSpPr>
          <p:cNvPr id="17" name="Shape 15"/>
          <p:cNvSpPr/>
          <p:nvPr/>
        </p:nvSpPr>
        <p:spPr>
          <a:xfrm>
            <a:off x="2340864" y="3026461"/>
            <a:ext cx="384048" cy="795731"/>
          </a:xfrm>
          <a:prstGeom prst="rect">
            <a:avLst/>
          </a:prstGeom>
          <a:solidFill>
            <a:srgbClr val="2471A3"/>
          </a:solidFill>
          <a:ln w="12700">
            <a:solidFill>
              <a:srgbClr val="2471A3"/>
            </a:solidFill>
            <a:prstDash val="solid"/>
          </a:ln>
        </p:spPr>
      </p:sp>
      <p:sp>
        <p:nvSpPr>
          <p:cNvPr id="18" name="Shape 16"/>
          <p:cNvSpPr/>
          <p:nvPr/>
        </p:nvSpPr>
        <p:spPr>
          <a:xfrm>
            <a:off x="2743200" y="3286882"/>
            <a:ext cx="384048" cy="535310"/>
          </a:xfrm>
          <a:prstGeom prst="rect">
            <a:avLst/>
          </a:prstGeom>
          <a:solidFill>
            <a:srgbClr val="7B2D8B"/>
          </a:solidFill>
          <a:ln w="12700">
            <a:solidFill>
              <a:srgbClr val="7B2D8B"/>
            </a:solidFill>
            <a:prstDash val="solid"/>
          </a:ln>
        </p:spPr>
      </p:sp>
      <p:sp>
        <p:nvSpPr>
          <p:cNvPr id="19" name="Text 17"/>
          <p:cNvSpPr/>
          <p:nvPr/>
        </p:nvSpPr>
        <p:spPr>
          <a:xfrm>
            <a:off x="2340864" y="2825293"/>
            <a:ext cx="384048" cy="182880"/>
          </a:xfrm>
          <a:prstGeom prst="rect">
            <a:avLst/>
          </a:prstGeom>
          <a:noFill/>
          <a:ln/>
        </p:spPr>
        <p:txBody>
          <a:bodyPr wrap="square" lIns="0" tIns="0" rIns="0" bIns="0" rtlCol="0" anchor="ctr"/>
          <a:lstStyle/>
          <a:p>
            <a:pPr algn="ctr" indent="0" marL="0">
              <a:buNone/>
            </a:pPr>
            <a:r>
              <a:rPr lang="en-US" sz="750" b="1" dirty="0">
                <a:solidFill>
                  <a:srgbClr val="2471A3"/>
                </a:solidFill>
                <a:latin typeface="Calibri" pitchFamily="34" charset="0"/>
                <a:ea typeface="Calibri" pitchFamily="34" charset="-122"/>
                <a:cs typeface="Calibri" pitchFamily="34" charset="-120"/>
              </a:rPr>
              <a:t>22%</a:t>
            </a:r>
            <a:endParaRPr lang="en-US" sz="750" dirty="0"/>
          </a:p>
        </p:txBody>
      </p:sp>
      <p:sp>
        <p:nvSpPr>
          <p:cNvPr id="20" name="Text 18"/>
          <p:cNvSpPr/>
          <p:nvPr/>
        </p:nvSpPr>
        <p:spPr>
          <a:xfrm>
            <a:off x="2743200" y="3085714"/>
            <a:ext cx="384048" cy="182880"/>
          </a:xfrm>
          <a:prstGeom prst="rect">
            <a:avLst/>
          </a:prstGeom>
          <a:noFill/>
          <a:ln/>
        </p:spPr>
        <p:txBody>
          <a:bodyPr wrap="square" lIns="0" tIns="0" rIns="0" bIns="0" rtlCol="0" anchor="ctr"/>
          <a:lstStyle/>
          <a:p>
            <a:pPr algn="ctr" indent="0" marL="0">
              <a:buNone/>
            </a:pPr>
            <a:r>
              <a:rPr lang="en-US" sz="750" b="1" dirty="0">
                <a:solidFill>
                  <a:srgbClr val="7B2D8B"/>
                </a:solidFill>
                <a:latin typeface="Calibri" pitchFamily="34" charset="0"/>
                <a:ea typeface="Calibri" pitchFamily="34" charset="-122"/>
                <a:cs typeface="Calibri" pitchFamily="34" charset="-120"/>
              </a:rPr>
              <a:t>14.8%</a:t>
            </a:r>
            <a:endParaRPr lang="en-US" sz="750" dirty="0"/>
          </a:p>
        </p:txBody>
      </p:sp>
      <p:sp>
        <p:nvSpPr>
          <p:cNvPr id="21" name="Text 19"/>
          <p:cNvSpPr/>
          <p:nvPr/>
        </p:nvSpPr>
        <p:spPr>
          <a:xfrm>
            <a:off x="2322576" y="3858768"/>
            <a:ext cx="877824" cy="219456"/>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Mr. Biggs</a:t>
            </a:r>
            <a:endParaRPr lang="en-US" sz="750" dirty="0"/>
          </a:p>
        </p:txBody>
      </p:sp>
      <p:sp>
        <p:nvSpPr>
          <p:cNvPr id="22" name="Shape 20"/>
          <p:cNvSpPr/>
          <p:nvPr/>
        </p:nvSpPr>
        <p:spPr>
          <a:xfrm>
            <a:off x="3328416" y="3446028"/>
            <a:ext cx="384048" cy="376164"/>
          </a:xfrm>
          <a:prstGeom prst="rect">
            <a:avLst/>
          </a:prstGeom>
          <a:solidFill>
            <a:srgbClr val="2471A3"/>
          </a:solidFill>
          <a:ln w="12700">
            <a:solidFill>
              <a:srgbClr val="2471A3"/>
            </a:solidFill>
            <a:prstDash val="solid"/>
          </a:ln>
        </p:spPr>
      </p:sp>
      <p:sp>
        <p:nvSpPr>
          <p:cNvPr id="23" name="Shape 21"/>
          <p:cNvSpPr/>
          <p:nvPr/>
        </p:nvSpPr>
        <p:spPr>
          <a:xfrm>
            <a:off x="3730752" y="3304967"/>
            <a:ext cx="384048" cy="517225"/>
          </a:xfrm>
          <a:prstGeom prst="rect">
            <a:avLst/>
          </a:prstGeom>
          <a:solidFill>
            <a:srgbClr val="7B2D8B"/>
          </a:solidFill>
          <a:ln w="12700">
            <a:solidFill>
              <a:srgbClr val="7B2D8B"/>
            </a:solidFill>
            <a:prstDash val="solid"/>
          </a:ln>
        </p:spPr>
      </p:sp>
      <p:sp>
        <p:nvSpPr>
          <p:cNvPr id="24" name="Text 22"/>
          <p:cNvSpPr/>
          <p:nvPr/>
        </p:nvSpPr>
        <p:spPr>
          <a:xfrm>
            <a:off x="3328416" y="3244860"/>
            <a:ext cx="384048" cy="182880"/>
          </a:xfrm>
          <a:prstGeom prst="rect">
            <a:avLst/>
          </a:prstGeom>
          <a:noFill/>
          <a:ln/>
        </p:spPr>
        <p:txBody>
          <a:bodyPr wrap="square" lIns="0" tIns="0" rIns="0" bIns="0" rtlCol="0" anchor="ctr"/>
          <a:lstStyle/>
          <a:p>
            <a:pPr algn="ctr" indent="0" marL="0">
              <a:buNone/>
            </a:pPr>
            <a:r>
              <a:rPr lang="en-US" sz="750" b="1" dirty="0">
                <a:solidFill>
                  <a:srgbClr val="2471A3"/>
                </a:solidFill>
                <a:latin typeface="Calibri" pitchFamily="34" charset="0"/>
                <a:ea typeface="Calibri" pitchFamily="34" charset="-122"/>
                <a:cs typeface="Calibri" pitchFamily="34" charset="-120"/>
              </a:rPr>
              <a:t>10.4%</a:t>
            </a:r>
            <a:endParaRPr lang="en-US" sz="750" dirty="0"/>
          </a:p>
        </p:txBody>
      </p:sp>
      <p:sp>
        <p:nvSpPr>
          <p:cNvPr id="25" name="Text 23"/>
          <p:cNvSpPr/>
          <p:nvPr/>
        </p:nvSpPr>
        <p:spPr>
          <a:xfrm>
            <a:off x="3730752" y="3103799"/>
            <a:ext cx="384048" cy="182880"/>
          </a:xfrm>
          <a:prstGeom prst="rect">
            <a:avLst/>
          </a:prstGeom>
          <a:noFill/>
          <a:ln/>
        </p:spPr>
        <p:txBody>
          <a:bodyPr wrap="square" lIns="0" tIns="0" rIns="0" bIns="0" rtlCol="0" anchor="ctr"/>
          <a:lstStyle/>
          <a:p>
            <a:pPr algn="ctr" indent="0" marL="0">
              <a:buNone/>
            </a:pPr>
            <a:r>
              <a:rPr lang="en-US" sz="750" b="1" dirty="0">
                <a:solidFill>
                  <a:srgbClr val="7B2D8B"/>
                </a:solidFill>
                <a:latin typeface="Calibri" pitchFamily="34" charset="0"/>
                <a:ea typeface="Calibri" pitchFamily="34" charset="-122"/>
                <a:cs typeface="Calibri" pitchFamily="34" charset="-120"/>
              </a:rPr>
              <a:t>14.3%</a:t>
            </a:r>
            <a:endParaRPr lang="en-US" sz="750" dirty="0"/>
          </a:p>
        </p:txBody>
      </p:sp>
      <p:sp>
        <p:nvSpPr>
          <p:cNvPr id="26" name="Text 24"/>
          <p:cNvSpPr/>
          <p:nvPr/>
        </p:nvSpPr>
        <p:spPr>
          <a:xfrm>
            <a:off x="3310128" y="3858768"/>
            <a:ext cx="877824" cy="219456"/>
          </a:xfrm>
          <a:prstGeom prst="rect">
            <a:avLst/>
          </a:prstGeom>
          <a:noFill/>
          <a:ln/>
        </p:spPr>
        <p:txBody>
          <a:bodyPr wrap="square" lIns="0" tIns="0" rIns="0" bIns="0"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Supreme</a:t>
            </a:r>
            <a:endParaRPr lang="en-US" sz="750" dirty="0"/>
          </a:p>
        </p:txBody>
      </p:sp>
      <p:sp>
        <p:nvSpPr>
          <p:cNvPr id="27" name="Shape 25"/>
          <p:cNvSpPr/>
          <p:nvPr/>
        </p:nvSpPr>
        <p:spPr>
          <a:xfrm>
            <a:off x="365760" y="3822192"/>
            <a:ext cx="3913632" cy="0"/>
          </a:xfrm>
          <a:prstGeom prst="line">
            <a:avLst/>
          </a:prstGeom>
          <a:noFill/>
          <a:ln w="12700">
            <a:solidFill>
              <a:srgbClr val="64748B"/>
            </a:solidFill>
            <a:prstDash val="solid"/>
          </a:ln>
        </p:spPr>
      </p:sp>
      <p:sp>
        <p:nvSpPr>
          <p:cNvPr id="28" name="Shape 26"/>
          <p:cNvSpPr/>
          <p:nvPr/>
        </p:nvSpPr>
        <p:spPr>
          <a:xfrm>
            <a:off x="438912" y="4059936"/>
            <a:ext cx="219456" cy="164592"/>
          </a:xfrm>
          <a:prstGeom prst="rect">
            <a:avLst/>
          </a:prstGeom>
          <a:solidFill>
            <a:srgbClr val="2471A3"/>
          </a:solidFill>
          <a:ln w="12700">
            <a:solidFill>
              <a:srgbClr val="2471A3"/>
            </a:solidFill>
            <a:prstDash val="solid"/>
          </a:ln>
        </p:spPr>
      </p:sp>
      <p:sp>
        <p:nvSpPr>
          <p:cNvPr id="29" name="Text 27"/>
          <p:cNvSpPr/>
          <p:nvPr/>
        </p:nvSpPr>
        <p:spPr>
          <a:xfrm>
            <a:off x="694944" y="4059936"/>
            <a:ext cx="731520" cy="164592"/>
          </a:xfrm>
          <a:prstGeom prst="rect">
            <a:avLst/>
          </a:prstGeom>
          <a:noFill/>
          <a:ln/>
        </p:spPr>
        <p:txBody>
          <a:bodyPr wrap="square" lIns="0" tIns="0" rIns="0" bIns="0" rtlCol="0" anchor="ctr"/>
          <a:lstStyle/>
          <a:p>
            <a:pPr indent="0" marL="0">
              <a:buNone/>
            </a:pPr>
            <a:r>
              <a:rPr lang="en-US" sz="850" dirty="0">
                <a:solidFill>
                  <a:srgbClr val="2471A3"/>
                </a:solidFill>
                <a:latin typeface="Calibri" pitchFamily="34" charset="0"/>
                <a:ea typeface="Calibri" pitchFamily="34" charset="-122"/>
                <a:cs typeface="Calibri" pitchFamily="34" charset="-120"/>
              </a:rPr>
              <a:t>Male</a:t>
            </a:r>
            <a:endParaRPr lang="en-US" sz="850" dirty="0"/>
          </a:p>
        </p:txBody>
      </p:sp>
      <p:sp>
        <p:nvSpPr>
          <p:cNvPr id="30" name="Shape 28"/>
          <p:cNvSpPr/>
          <p:nvPr/>
        </p:nvSpPr>
        <p:spPr>
          <a:xfrm>
            <a:off x="1481328" y="4059936"/>
            <a:ext cx="219456" cy="164592"/>
          </a:xfrm>
          <a:prstGeom prst="rect">
            <a:avLst/>
          </a:prstGeom>
          <a:solidFill>
            <a:srgbClr val="7B2D8B"/>
          </a:solidFill>
          <a:ln w="12700">
            <a:solidFill>
              <a:srgbClr val="7B2D8B"/>
            </a:solidFill>
            <a:prstDash val="solid"/>
          </a:ln>
        </p:spPr>
      </p:sp>
      <p:sp>
        <p:nvSpPr>
          <p:cNvPr id="31" name="Text 29"/>
          <p:cNvSpPr/>
          <p:nvPr/>
        </p:nvSpPr>
        <p:spPr>
          <a:xfrm>
            <a:off x="1737360" y="4059936"/>
            <a:ext cx="731520" cy="164592"/>
          </a:xfrm>
          <a:prstGeom prst="rect">
            <a:avLst/>
          </a:prstGeom>
          <a:noFill/>
          <a:ln/>
        </p:spPr>
        <p:txBody>
          <a:bodyPr wrap="square" lIns="0" tIns="0" rIns="0" bIns="0" rtlCol="0" anchor="ctr"/>
          <a:lstStyle/>
          <a:p>
            <a:pPr indent="0" marL="0">
              <a:buNone/>
            </a:pPr>
            <a:r>
              <a:rPr lang="en-US" sz="850" dirty="0">
                <a:solidFill>
                  <a:srgbClr val="7B2D8B"/>
                </a:solidFill>
                <a:latin typeface="Calibri" pitchFamily="34" charset="0"/>
                <a:ea typeface="Calibri" pitchFamily="34" charset="-122"/>
                <a:cs typeface="Calibri" pitchFamily="34" charset="-120"/>
              </a:rPr>
              <a:t>Female</a:t>
            </a:r>
            <a:endParaRPr lang="en-US" sz="850" dirty="0"/>
          </a:p>
        </p:txBody>
      </p:sp>
      <p:sp>
        <p:nvSpPr>
          <p:cNvPr id="32" name="Text 30"/>
          <p:cNvSpPr/>
          <p:nvPr/>
        </p:nvSpPr>
        <p:spPr>
          <a:xfrm>
            <a:off x="365760" y="4279392"/>
            <a:ext cx="3977640" cy="201168"/>
          </a:xfrm>
          <a:prstGeom prst="rect">
            <a:avLst/>
          </a:prstGeom>
          <a:noFill/>
          <a:ln/>
        </p:spPr>
        <p:txBody>
          <a:bodyPr wrap="square" lIns="0" tIns="0" rIns="0" bIns="0" rtlCol="0" anchor="ctr"/>
          <a:lstStyle/>
          <a:p>
            <a:pPr indent="0" marL="0">
              <a:buNone/>
            </a:pPr>
            <a:r>
              <a:rPr lang="en-US" sz="850" b="1" dirty="0">
                <a:solidFill>
                  <a:srgbClr val="5C1A6B"/>
                </a:solidFill>
                <a:latin typeface="Calibri" pitchFamily="34" charset="0"/>
                <a:ea typeface="Calibri" pitchFamily="34" charset="-122"/>
                <a:cs typeface="Calibri" pitchFamily="34" charset="-120"/>
              </a:rPr>
              <a:t>Simple Bar: </a:t>
            </a:r>
            <a:pPr indent="0" marL="0">
              <a:buNone/>
            </a:pPr>
            <a:r>
              <a:rPr lang="en-US" sz="850" dirty="0">
                <a:solidFill>
                  <a:srgbClr val="2C1F3E"/>
                </a:solidFill>
                <a:latin typeface="Calibri" pitchFamily="34" charset="0"/>
                <a:ea typeface="Calibri" pitchFamily="34" charset="-122"/>
                <a:cs typeface="Calibri" pitchFamily="34" charset="-120"/>
              </a:rPr>
              <a:t>One categorical variable - frequency or % per category</a:t>
            </a:r>
            <a:endParaRPr lang="en-US" sz="850" dirty="0"/>
          </a:p>
        </p:txBody>
      </p:sp>
      <p:sp>
        <p:nvSpPr>
          <p:cNvPr id="33" name="Text 31"/>
          <p:cNvSpPr/>
          <p:nvPr/>
        </p:nvSpPr>
        <p:spPr>
          <a:xfrm>
            <a:off x="365760" y="4498848"/>
            <a:ext cx="3977640" cy="201168"/>
          </a:xfrm>
          <a:prstGeom prst="rect">
            <a:avLst/>
          </a:prstGeom>
          <a:noFill/>
          <a:ln/>
        </p:spPr>
        <p:txBody>
          <a:bodyPr wrap="square" lIns="0" tIns="0" rIns="0" bIns="0" rtlCol="0" anchor="ctr"/>
          <a:lstStyle/>
          <a:p>
            <a:pPr indent="0" marL="0">
              <a:buNone/>
            </a:pPr>
            <a:r>
              <a:rPr lang="en-US" sz="850" b="1" dirty="0">
                <a:solidFill>
                  <a:srgbClr val="5C1A6B"/>
                </a:solidFill>
                <a:latin typeface="Calibri" pitchFamily="34" charset="0"/>
                <a:ea typeface="Calibri" pitchFamily="34" charset="-122"/>
                <a:cs typeface="Calibri" pitchFamily="34" charset="-120"/>
              </a:rPr>
              <a:t>Clustered Bar: </a:t>
            </a:r>
            <a:pPr indent="0" marL="0">
              <a:buNone/>
            </a:pPr>
            <a:r>
              <a:rPr lang="en-US" sz="850" dirty="0">
                <a:solidFill>
                  <a:srgbClr val="2C1F3E"/>
                </a:solidFill>
                <a:latin typeface="Calibri" pitchFamily="34" charset="0"/>
                <a:ea typeface="Calibri" pitchFamily="34" charset="-122"/>
                <a:cs typeface="Calibri" pitchFamily="34" charset="-120"/>
              </a:rPr>
              <a:t>Two categorical variables - compare groups side by side</a:t>
            </a:r>
            <a:endParaRPr lang="en-US" sz="850" dirty="0"/>
          </a:p>
        </p:txBody>
      </p:sp>
      <p:sp>
        <p:nvSpPr>
          <p:cNvPr id="34" name="Text 32"/>
          <p:cNvSpPr/>
          <p:nvPr/>
        </p:nvSpPr>
        <p:spPr>
          <a:xfrm>
            <a:off x="365760" y="4718304"/>
            <a:ext cx="3977640" cy="201168"/>
          </a:xfrm>
          <a:prstGeom prst="rect">
            <a:avLst/>
          </a:prstGeom>
          <a:noFill/>
          <a:ln/>
        </p:spPr>
        <p:txBody>
          <a:bodyPr wrap="square" lIns="0" tIns="0" rIns="0" bIns="0" rtlCol="0" anchor="ctr"/>
          <a:lstStyle/>
          <a:p>
            <a:pPr indent="0" marL="0">
              <a:buNone/>
            </a:pPr>
            <a:r>
              <a:rPr lang="en-US" sz="850" b="1" dirty="0">
                <a:solidFill>
                  <a:srgbClr val="5C1A6B"/>
                </a:solidFill>
                <a:latin typeface="Calibri" pitchFamily="34" charset="0"/>
                <a:ea typeface="Calibri" pitchFamily="34" charset="-122"/>
                <a:cs typeface="Calibri" pitchFamily="34" charset="-120"/>
              </a:rPr>
              <a:t>Stacked Bar: </a:t>
            </a:r>
            <a:pPr indent="0" marL="0">
              <a:buNone/>
            </a:pPr>
            <a:r>
              <a:rPr lang="en-US" sz="850" dirty="0">
                <a:solidFill>
                  <a:srgbClr val="2C1F3E"/>
                </a:solidFill>
                <a:latin typeface="Calibri" pitchFamily="34" charset="0"/>
                <a:ea typeface="Calibri" pitchFamily="34" charset="-122"/>
                <a:cs typeface="Calibri" pitchFamily="34" charset="-120"/>
              </a:rPr>
              <a:t>Proportion within categories - parts of a whole</a:t>
            </a:r>
            <a:endParaRPr lang="en-US" sz="850" dirty="0"/>
          </a:p>
        </p:txBody>
      </p:sp>
      <p:sp>
        <p:nvSpPr>
          <p:cNvPr id="35" name="Text 33"/>
          <p:cNvSpPr/>
          <p:nvPr/>
        </p:nvSpPr>
        <p:spPr>
          <a:xfrm>
            <a:off x="365760" y="4937760"/>
            <a:ext cx="3977640" cy="201168"/>
          </a:xfrm>
          <a:prstGeom prst="rect">
            <a:avLst/>
          </a:prstGeom>
          <a:noFill/>
          <a:ln/>
        </p:spPr>
        <p:txBody>
          <a:bodyPr wrap="square" lIns="0" tIns="0" rIns="0" bIns="0" rtlCol="0" anchor="ctr"/>
          <a:lstStyle/>
          <a:p>
            <a:pPr indent="0" marL="0">
              <a:buNone/>
            </a:pPr>
            <a:r>
              <a:rPr lang="en-US" sz="850" b="1" dirty="0">
                <a:solidFill>
                  <a:srgbClr val="5C1A6B"/>
                </a:solidFill>
                <a:latin typeface="Calibri" pitchFamily="34" charset="0"/>
                <a:ea typeface="Calibri" pitchFamily="34" charset="-122"/>
                <a:cs typeface="Calibri" pitchFamily="34" charset="-120"/>
              </a:rPr>
              <a:t>Bar of Means: </a:t>
            </a:r>
            <a:pPr indent="0" marL="0">
              <a:buNone/>
            </a:pPr>
            <a:r>
              <a:rPr lang="en-US" sz="850" dirty="0">
                <a:solidFill>
                  <a:srgbClr val="2C1F3E"/>
                </a:solidFill>
                <a:latin typeface="Calibri" pitchFamily="34" charset="0"/>
                <a:ea typeface="Calibri" pitchFamily="34" charset="-122"/>
                <a:cs typeface="Calibri" pitchFamily="34" charset="-120"/>
              </a:rPr>
              <a:t>Scale DV mean per category - with optional error bars</a:t>
            </a:r>
            <a:endParaRPr lang="en-US" sz="850" dirty="0"/>
          </a:p>
        </p:txBody>
      </p:sp>
      <p:sp>
        <p:nvSpPr>
          <p:cNvPr id="36" name="Text 34"/>
          <p:cNvSpPr/>
          <p:nvPr/>
        </p:nvSpPr>
        <p:spPr>
          <a:xfrm>
            <a:off x="365760" y="5157216"/>
            <a:ext cx="3977640" cy="256032"/>
          </a:xfrm>
          <a:prstGeom prst="rect">
            <a:avLst/>
          </a:prstGeom>
          <a:noFill/>
          <a:ln/>
        </p:spPr>
        <p:txBody>
          <a:bodyPr wrap="square" lIns="0" tIns="0" rIns="0" bIns="0" rtlCol="0" anchor="ctr"/>
          <a:lstStyle/>
          <a:p>
            <a:pPr indent="0" marL="0">
              <a:buNone/>
            </a:pPr>
            <a:r>
              <a:rPr lang="en-US" sz="850" i="1" dirty="0">
                <a:solidFill>
                  <a:srgbClr val="5C1A6B"/>
                </a:solidFill>
                <a:latin typeface="Calibri" pitchFamily="34" charset="0"/>
                <a:ea typeface="Calibri" pitchFamily="34" charset="-122"/>
                <a:cs typeface="Calibri" pitchFamily="34" charset="-120"/>
              </a:rPr>
              <a:t>SPSS: Graphs &gt; Legacy Dialogs &gt; Bar &gt; Clustered &gt; Summaries for groups</a:t>
            </a:r>
            <a:endParaRPr lang="en-US" sz="850" dirty="0"/>
          </a:p>
        </p:txBody>
      </p:sp>
      <p:sp>
        <p:nvSpPr>
          <p:cNvPr id="37" name="Shape 35"/>
          <p:cNvSpPr/>
          <p:nvPr/>
        </p:nvSpPr>
        <p:spPr>
          <a:xfrm>
            <a:off x="4681728" y="1024128"/>
            <a:ext cx="4160520" cy="4005072"/>
          </a:xfrm>
          <a:prstGeom prst="roundRect">
            <a:avLst>
              <a:gd name="adj" fmla="val 2055"/>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38" name="Shape 36"/>
          <p:cNvSpPr/>
          <p:nvPr/>
        </p:nvSpPr>
        <p:spPr>
          <a:xfrm>
            <a:off x="4754880" y="1097280"/>
            <a:ext cx="4005072" cy="347472"/>
          </a:xfrm>
          <a:prstGeom prst="roundRect">
            <a:avLst>
              <a:gd name="adj" fmla="val 15789"/>
            </a:avLst>
          </a:prstGeom>
          <a:solidFill>
            <a:srgbClr val="0E7C7B"/>
          </a:solidFill>
          <a:ln w="12700">
            <a:solidFill>
              <a:srgbClr val="0E7C7B"/>
            </a:solidFill>
            <a:prstDash val="solid"/>
          </a:ln>
        </p:spPr>
      </p:sp>
      <p:sp>
        <p:nvSpPr>
          <p:cNvPr id="39" name="Text 37"/>
          <p:cNvSpPr/>
          <p:nvPr/>
        </p:nvSpPr>
        <p:spPr>
          <a:xfrm>
            <a:off x="4754880" y="1097280"/>
            <a:ext cx="40050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PIE CHART  -  Proportions of a Whole</a:t>
            </a:r>
            <a:endParaRPr lang="en-US" sz="1200" dirty="0"/>
          </a:p>
        </p:txBody>
      </p:sp>
      <p:sp>
        <p:nvSpPr>
          <p:cNvPr id="40" name="Shape 38"/>
          <p:cNvSpPr/>
          <p:nvPr/>
        </p:nvSpPr>
        <p:spPr>
          <a:xfrm>
            <a:off x="5824728" y="1371600"/>
            <a:ext cx="1792224" cy="1792224"/>
          </a:xfrm>
          <a:prstGeom prst="ellipse">
            <a:avLst/>
          </a:prstGeom>
          <a:solidFill>
            <a:srgbClr val="5C1A6B"/>
          </a:solidFill>
          <a:ln w="12700">
            <a:solidFill>
              <a:srgbClr val="FFFFFF"/>
            </a:solidFill>
            <a:prstDash val="solid"/>
          </a:ln>
        </p:spPr>
      </p:sp>
      <p:sp>
        <p:nvSpPr>
          <p:cNvPr id="41" name="Shape 39"/>
          <p:cNvSpPr/>
          <p:nvPr/>
        </p:nvSpPr>
        <p:spPr>
          <a:xfrm>
            <a:off x="5897880" y="1408176"/>
            <a:ext cx="1792224" cy="1792224"/>
          </a:xfrm>
          <a:prstGeom prst="ellipse">
            <a:avLst/>
          </a:prstGeom>
          <a:solidFill>
            <a:srgbClr val="2471A3">
              <a:alpha val="85000"/>
            </a:srgbClr>
          </a:solidFill>
          <a:ln w="12700">
            <a:solidFill>
              <a:srgbClr val="FFFFFF"/>
            </a:solidFill>
            <a:prstDash val="solid"/>
          </a:ln>
        </p:spPr>
      </p:sp>
      <p:sp>
        <p:nvSpPr>
          <p:cNvPr id="42" name="Shape 40"/>
          <p:cNvSpPr/>
          <p:nvPr/>
        </p:nvSpPr>
        <p:spPr>
          <a:xfrm>
            <a:off x="5971032" y="1444752"/>
            <a:ext cx="1792224" cy="1792224"/>
          </a:xfrm>
          <a:prstGeom prst="ellipse">
            <a:avLst/>
          </a:prstGeom>
          <a:solidFill>
            <a:srgbClr val="0E7C7B">
              <a:alpha val="70000"/>
            </a:srgbClr>
          </a:solidFill>
          <a:ln w="12700">
            <a:solidFill>
              <a:srgbClr val="FFFFFF"/>
            </a:solidFill>
            <a:prstDash val="solid"/>
          </a:ln>
        </p:spPr>
      </p:sp>
      <p:sp>
        <p:nvSpPr>
          <p:cNvPr id="43" name="Shape 41"/>
          <p:cNvSpPr/>
          <p:nvPr/>
        </p:nvSpPr>
        <p:spPr>
          <a:xfrm>
            <a:off x="6044184" y="1481328"/>
            <a:ext cx="1792224" cy="1792224"/>
          </a:xfrm>
          <a:prstGeom prst="ellipse">
            <a:avLst/>
          </a:prstGeom>
          <a:solidFill>
            <a:srgbClr val="E67E22">
              <a:alpha val="55000"/>
            </a:srgbClr>
          </a:solidFill>
          <a:ln w="12700">
            <a:solidFill>
              <a:srgbClr val="FFFFFF"/>
            </a:solidFill>
            <a:prstDash val="solid"/>
          </a:ln>
        </p:spPr>
      </p:sp>
      <p:sp>
        <p:nvSpPr>
          <p:cNvPr id="44" name="Shape 42"/>
          <p:cNvSpPr/>
          <p:nvPr/>
        </p:nvSpPr>
        <p:spPr>
          <a:xfrm>
            <a:off x="6117336" y="1517904"/>
            <a:ext cx="1792224" cy="1792224"/>
          </a:xfrm>
          <a:prstGeom prst="ellipse">
            <a:avLst/>
          </a:prstGeom>
          <a:solidFill>
            <a:srgbClr val="D4A017">
              <a:alpha val="40000"/>
            </a:srgbClr>
          </a:solidFill>
          <a:ln w="12700">
            <a:solidFill>
              <a:srgbClr val="FFFFFF"/>
            </a:solidFill>
            <a:prstDash val="solid"/>
          </a:ln>
        </p:spPr>
      </p:sp>
      <p:sp>
        <p:nvSpPr>
          <p:cNvPr id="45" name="Text 43"/>
          <p:cNvSpPr/>
          <p:nvPr/>
        </p:nvSpPr>
        <p:spPr>
          <a:xfrm>
            <a:off x="4773168" y="4114800"/>
            <a:ext cx="3977640" cy="384048"/>
          </a:xfrm>
          <a:prstGeom prst="rect">
            <a:avLst/>
          </a:prstGeom>
          <a:noFill/>
          <a:ln/>
        </p:spPr>
        <p:txBody>
          <a:bodyPr wrap="square" lIns="0" tIns="0" rIns="0" bIns="0" rtlCol="0" anchor="ctr"/>
          <a:lstStyle/>
          <a:p>
            <a:pPr algn="ctr" indent="0" marL="0">
              <a:buNone/>
            </a:pPr>
            <a:r>
              <a:rPr lang="en-US" sz="950" b="1" dirty="0">
                <a:solidFill>
                  <a:srgbClr val="0E7C7B"/>
                </a:solidFill>
                <a:latin typeface="Calibri" pitchFamily="34" charset="0"/>
                <a:ea typeface="Calibri" pitchFamily="34" charset="-122"/>
                <a:cs typeface="Calibri" pitchFamily="34" charset="-120"/>
              </a:rPr>
              <a:t>Preferred Product Distribution</a:t>
            </a:r>
            <a:endParaRPr lang="en-US" sz="950" dirty="0"/>
          </a:p>
          <a:p>
            <a:pPr algn="ctr" indent="0" marL="0">
              <a:buNone/>
            </a:pPr>
            <a:r>
              <a:rPr lang="en-US" sz="950" b="1" dirty="0">
                <a:solidFill>
                  <a:srgbClr val="0E7C7B"/>
                </a:solidFill>
                <a:latin typeface="Calibri" pitchFamily="34" charset="0"/>
                <a:ea typeface="Calibri" pitchFamily="34" charset="-122"/>
                <a:cs typeface="Calibri" pitchFamily="34" charset="-120"/>
              </a:rPr>
              <a:t>N = 450 UAC Foods Consumers</a:t>
            </a:r>
            <a:endParaRPr lang="en-US" sz="950" dirty="0"/>
          </a:p>
        </p:txBody>
      </p:sp>
      <p:sp>
        <p:nvSpPr>
          <p:cNvPr id="46" name="Text 44"/>
          <p:cNvSpPr/>
          <p:nvPr/>
        </p:nvSpPr>
        <p:spPr>
          <a:xfrm>
            <a:off x="4773168" y="4544568"/>
            <a:ext cx="3977640" cy="219456"/>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Best for: </a:t>
            </a:r>
            <a:pPr indent="0" marL="0">
              <a:buNone/>
            </a:pPr>
            <a:r>
              <a:rPr lang="en-US" sz="850" dirty="0">
                <a:solidFill>
                  <a:srgbClr val="2C1F3E"/>
                </a:solidFill>
                <a:latin typeface="Calibri" pitchFamily="34" charset="0"/>
                <a:ea typeface="Calibri" pitchFamily="34" charset="-122"/>
                <a:cs typeface="Calibri" pitchFamily="34" charset="-120"/>
              </a:rPr>
              <a:t>Nominal categories showing proportion of a whole. Ideally 3-5 slices maximum.</a:t>
            </a:r>
            <a:endParaRPr lang="en-US" sz="850" dirty="0"/>
          </a:p>
        </p:txBody>
      </p:sp>
      <p:sp>
        <p:nvSpPr>
          <p:cNvPr id="47" name="Text 45"/>
          <p:cNvSpPr/>
          <p:nvPr/>
        </p:nvSpPr>
        <p:spPr>
          <a:xfrm>
            <a:off x="4773168" y="4782312"/>
            <a:ext cx="3977640" cy="219456"/>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Avoid when: </a:t>
            </a:r>
            <a:pPr indent="0" marL="0">
              <a:buNone/>
            </a:pPr>
            <a:r>
              <a:rPr lang="en-US" sz="850" dirty="0">
                <a:solidFill>
                  <a:srgbClr val="2C1F3E"/>
                </a:solidFill>
                <a:latin typeface="Calibri" pitchFamily="34" charset="0"/>
                <a:ea typeface="Calibri" pitchFamily="34" charset="-122"/>
                <a:cs typeface="Calibri" pitchFamily="34" charset="-120"/>
              </a:rPr>
              <a:t>More than 6 categories - slices become too small to read. Use bar chart instead.</a:t>
            </a:r>
            <a:endParaRPr lang="en-US" sz="850" dirty="0"/>
          </a:p>
        </p:txBody>
      </p:sp>
      <p:sp>
        <p:nvSpPr>
          <p:cNvPr id="48" name="Text 46"/>
          <p:cNvSpPr/>
          <p:nvPr/>
        </p:nvSpPr>
        <p:spPr>
          <a:xfrm>
            <a:off x="4773168" y="5020056"/>
            <a:ext cx="3977640" cy="219456"/>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Add labels: </a:t>
            </a:r>
            <a:pPr indent="0" marL="0">
              <a:buNone/>
            </a:pPr>
            <a:r>
              <a:rPr lang="en-US" sz="850" dirty="0">
                <a:solidFill>
                  <a:srgbClr val="2C1F3E"/>
                </a:solidFill>
                <a:latin typeface="Calibri" pitchFamily="34" charset="0"/>
                <a:ea typeface="Calibri" pitchFamily="34" charset="-122"/>
                <a:cs typeface="Calibri" pitchFamily="34" charset="-120"/>
              </a:rPr>
              <a:t>Always show percentage AND category name on each slice. Do not rely on colour-only legend.</a:t>
            </a:r>
            <a:endParaRPr lang="en-US" sz="850" dirty="0"/>
          </a:p>
        </p:txBody>
      </p:sp>
      <p:sp>
        <p:nvSpPr>
          <p:cNvPr id="49" name="Text 47"/>
          <p:cNvSpPr/>
          <p:nvPr/>
        </p:nvSpPr>
        <p:spPr>
          <a:xfrm>
            <a:off x="4773168" y="5257800"/>
            <a:ext cx="3977640" cy="219456"/>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3D pies: </a:t>
            </a:r>
            <a:pPr indent="0" marL="0">
              <a:buNone/>
            </a:pPr>
            <a:r>
              <a:rPr lang="en-US" sz="850" dirty="0">
                <a:solidFill>
                  <a:srgbClr val="2C1F3E"/>
                </a:solidFill>
                <a:latin typeface="Calibri" pitchFamily="34" charset="0"/>
                <a:ea typeface="Calibri" pitchFamily="34" charset="-122"/>
                <a:cs typeface="Calibri" pitchFamily="34" charset="-120"/>
              </a:rPr>
              <a:t>AVOID 3D pie charts - they distort proportions visually. Use flat 2D pie only.</a:t>
            </a:r>
            <a:endParaRPr lang="en-US" sz="850" dirty="0"/>
          </a:p>
        </p:txBody>
      </p:sp>
      <p:sp>
        <p:nvSpPr>
          <p:cNvPr id="50" name="Text 48"/>
          <p:cNvSpPr/>
          <p:nvPr/>
        </p:nvSpPr>
        <p:spPr>
          <a:xfrm>
            <a:off x="4773168" y="5157216"/>
            <a:ext cx="3977640" cy="256032"/>
          </a:xfrm>
          <a:prstGeom prst="rect">
            <a:avLst/>
          </a:prstGeom>
          <a:noFill/>
          <a:ln/>
        </p:spPr>
        <p:txBody>
          <a:bodyPr wrap="square" lIns="0" tIns="0" rIns="0" bIns="0" rtlCol="0" anchor="ctr"/>
          <a:lstStyle/>
          <a:p>
            <a:pPr indent="0" marL="0">
              <a:buNone/>
            </a:pPr>
            <a:r>
              <a:rPr lang="en-US" sz="850" i="1" dirty="0">
                <a:solidFill>
                  <a:srgbClr val="0E7C7B"/>
                </a:solidFill>
                <a:latin typeface="Calibri" pitchFamily="34" charset="0"/>
                <a:ea typeface="Calibri" pitchFamily="34" charset="-122"/>
                <a:cs typeface="Calibri" pitchFamily="34" charset="-120"/>
              </a:rPr>
              <a:t>SPSS: Graphs &gt; Legacy Dialogs &gt; Pie &gt; Summaries for groups of cases</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5C1A6B">
              <a:alpha val="16000"/>
            </a:srgbClr>
          </a:solidFill>
          <a:ln w="12700">
            <a:solidFill>
              <a:srgbClr val="5C1A6B"/>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Error Bar Charts and Chart Builder</a:t>
            </a:r>
            <a:endParaRPr lang="en-US" sz="2800" dirty="0"/>
          </a:p>
        </p:txBody>
      </p:sp>
      <p:sp>
        <p:nvSpPr>
          <p:cNvPr id="4" name="Shape 2"/>
          <p:cNvSpPr/>
          <p:nvPr/>
        </p:nvSpPr>
        <p:spPr>
          <a:xfrm>
            <a:off x="274320" y="932688"/>
            <a:ext cx="4572000" cy="2651760"/>
          </a:xfrm>
          <a:prstGeom prst="roundRect">
            <a:avLst>
              <a:gd name="adj" fmla="val 3448"/>
            </a:avLst>
          </a:prstGeom>
          <a:solidFill>
            <a:srgbClr val="2D1135"/>
          </a:solidFill>
          <a:ln w="12700">
            <a:solidFill>
              <a:srgbClr val="7B2D8B"/>
            </a:solidFill>
            <a:prstDash val="solid"/>
          </a:ln>
        </p:spPr>
      </p:sp>
      <p:sp>
        <p:nvSpPr>
          <p:cNvPr id="5" name="Text 3"/>
          <p:cNvSpPr/>
          <p:nvPr/>
        </p:nvSpPr>
        <p:spPr>
          <a:xfrm>
            <a:off x="384048" y="1005840"/>
            <a:ext cx="4343400" cy="27432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ERROR BAR CHART  -  Group Means with Confidence Intervals</a:t>
            </a:r>
            <a:endParaRPr lang="en-US" sz="1100" dirty="0"/>
          </a:p>
        </p:txBody>
      </p:sp>
      <p:sp>
        <p:nvSpPr>
          <p:cNvPr id="6" name="Text 4"/>
          <p:cNvSpPr/>
          <p:nvPr/>
        </p:nvSpPr>
        <p:spPr>
          <a:xfrm>
            <a:off x="384048" y="1335024"/>
            <a:ext cx="4315968" cy="438912"/>
          </a:xfrm>
          <a:prstGeom prst="rect">
            <a:avLst/>
          </a:prstGeom>
          <a:noFill/>
          <a:ln/>
        </p:spPr>
        <p:txBody>
          <a:bodyPr wrap="square" lIns="0" tIns="0" rIns="0" bIns="0" rtlCol="0" anchor="ctr"/>
          <a:lstStyle/>
          <a:p>
            <a:pPr indent="0" marL="0">
              <a:buNone/>
            </a:pPr>
            <a:r>
              <a:rPr lang="en-US" sz="950" dirty="0">
                <a:solidFill>
                  <a:srgbClr val="C8A8E8"/>
                </a:solidFill>
                <a:latin typeface="Calibri" pitchFamily="34" charset="0"/>
                <a:ea typeface="Calibri" pitchFamily="34" charset="-122"/>
                <a:cs typeface="Calibri" pitchFamily="34" charset="-120"/>
              </a:rPr>
              <a:t>Shows the mean satisfaction score per department with 95% Confidence Interval bars. Overlapping CI bars suggest groups may not differ significantly.</a:t>
            </a:r>
            <a:endParaRPr lang="en-US" sz="950" dirty="0"/>
          </a:p>
        </p:txBody>
      </p:sp>
      <p:sp>
        <p:nvSpPr>
          <p:cNvPr id="7" name="Shape 5"/>
          <p:cNvSpPr/>
          <p:nvPr/>
        </p:nvSpPr>
        <p:spPr>
          <a:xfrm>
            <a:off x="603504" y="2397008"/>
            <a:ext cx="146304" cy="146304"/>
          </a:xfrm>
          <a:prstGeom prst="ellipse">
            <a:avLst/>
          </a:prstGeom>
          <a:solidFill>
            <a:srgbClr val="5C1A6B"/>
          </a:solidFill>
          <a:ln w="12700">
            <a:solidFill>
              <a:srgbClr val="5C1A6B"/>
            </a:solidFill>
            <a:prstDash val="solid"/>
          </a:ln>
        </p:spPr>
      </p:sp>
      <p:sp>
        <p:nvSpPr>
          <p:cNvPr id="8" name="Shape 6"/>
          <p:cNvSpPr/>
          <p:nvPr/>
        </p:nvSpPr>
        <p:spPr>
          <a:xfrm>
            <a:off x="676656" y="2403775"/>
            <a:ext cx="0" cy="132771"/>
          </a:xfrm>
          <a:prstGeom prst="line">
            <a:avLst/>
          </a:prstGeom>
          <a:noFill/>
          <a:ln w="19050">
            <a:solidFill>
              <a:srgbClr val="5C1A6B"/>
            </a:solidFill>
            <a:prstDash val="solid"/>
          </a:ln>
        </p:spPr>
      </p:sp>
      <p:sp>
        <p:nvSpPr>
          <p:cNvPr id="9" name="Shape 7"/>
          <p:cNvSpPr/>
          <p:nvPr/>
        </p:nvSpPr>
        <p:spPr>
          <a:xfrm>
            <a:off x="566928" y="2403775"/>
            <a:ext cx="219456" cy="0"/>
          </a:xfrm>
          <a:prstGeom prst="line">
            <a:avLst/>
          </a:prstGeom>
          <a:noFill/>
          <a:ln w="15240">
            <a:solidFill>
              <a:srgbClr val="5C1A6B"/>
            </a:solidFill>
            <a:prstDash val="solid"/>
          </a:ln>
        </p:spPr>
      </p:sp>
      <p:sp>
        <p:nvSpPr>
          <p:cNvPr id="10" name="Shape 8"/>
          <p:cNvSpPr/>
          <p:nvPr/>
        </p:nvSpPr>
        <p:spPr>
          <a:xfrm>
            <a:off x="566928" y="2536546"/>
            <a:ext cx="219456" cy="0"/>
          </a:xfrm>
          <a:prstGeom prst="line">
            <a:avLst/>
          </a:prstGeom>
          <a:noFill/>
          <a:ln w="15240">
            <a:solidFill>
              <a:srgbClr val="5C1A6B"/>
            </a:solidFill>
            <a:prstDash val="solid"/>
          </a:ln>
        </p:spPr>
      </p:sp>
      <p:sp>
        <p:nvSpPr>
          <p:cNvPr id="11" name="Text 9"/>
          <p:cNvSpPr/>
          <p:nvPr/>
        </p:nvSpPr>
        <p:spPr>
          <a:xfrm>
            <a:off x="493776" y="3236976"/>
            <a:ext cx="402336" cy="201168"/>
          </a:xfrm>
          <a:prstGeom prst="rect">
            <a:avLst/>
          </a:prstGeom>
          <a:noFill/>
          <a:ln/>
        </p:spPr>
        <p:txBody>
          <a:bodyPr wrap="square" lIns="0" tIns="0" rIns="0" bIns="0" rtlCol="0" anchor="ctr"/>
          <a:lstStyle/>
          <a:p>
            <a:pPr algn="ctr" indent="0" marL="0">
              <a:buNone/>
            </a:pPr>
            <a:r>
              <a:rPr lang="en-US" sz="800" dirty="0">
                <a:solidFill>
                  <a:srgbClr val="C8A8E8"/>
                </a:solidFill>
                <a:latin typeface="Calibri" pitchFamily="34" charset="0"/>
                <a:ea typeface="Calibri" pitchFamily="34" charset="-122"/>
                <a:cs typeface="Calibri" pitchFamily="34" charset="-120"/>
              </a:rPr>
              <a:t>Ops</a:t>
            </a:r>
            <a:endParaRPr lang="en-US" sz="800" dirty="0"/>
          </a:p>
        </p:txBody>
      </p:sp>
      <p:sp>
        <p:nvSpPr>
          <p:cNvPr id="12" name="Text 10"/>
          <p:cNvSpPr/>
          <p:nvPr/>
        </p:nvSpPr>
        <p:spPr>
          <a:xfrm>
            <a:off x="530352" y="2159264"/>
            <a:ext cx="347472" cy="182880"/>
          </a:xfrm>
          <a:prstGeom prst="rect">
            <a:avLst/>
          </a:prstGeom>
          <a:noFill/>
          <a:ln/>
        </p:spPr>
        <p:txBody>
          <a:bodyPr wrap="square" lIns="0" tIns="0" rIns="0" bIns="0" rtlCol="0" anchor="ctr"/>
          <a:lstStyle/>
          <a:p>
            <a:pPr algn="ctr" indent="0" marL="0">
              <a:buNone/>
            </a:pPr>
            <a:r>
              <a:rPr lang="en-US" sz="800" b="1" dirty="0">
                <a:solidFill>
                  <a:srgbClr val="5C1A6B"/>
                </a:solidFill>
                <a:latin typeface="Calibri" pitchFamily="34" charset="0"/>
                <a:ea typeface="Calibri" pitchFamily="34" charset="-122"/>
                <a:cs typeface="Calibri" pitchFamily="34" charset="-120"/>
              </a:rPr>
              <a:t>3.42</a:t>
            </a:r>
            <a:endParaRPr lang="en-US" sz="800" dirty="0"/>
          </a:p>
        </p:txBody>
      </p:sp>
      <p:sp>
        <p:nvSpPr>
          <p:cNvPr id="13" name="Shape 11"/>
          <p:cNvSpPr/>
          <p:nvPr/>
        </p:nvSpPr>
        <p:spPr>
          <a:xfrm>
            <a:off x="1408176" y="2318553"/>
            <a:ext cx="146304" cy="146304"/>
          </a:xfrm>
          <a:prstGeom prst="ellipse">
            <a:avLst/>
          </a:prstGeom>
          <a:solidFill>
            <a:srgbClr val="2471A3"/>
          </a:solidFill>
          <a:ln w="12700">
            <a:solidFill>
              <a:srgbClr val="2471A3"/>
            </a:solidFill>
            <a:prstDash val="solid"/>
          </a:ln>
        </p:spPr>
      </p:sp>
      <p:sp>
        <p:nvSpPr>
          <p:cNvPr id="14" name="Shape 12"/>
          <p:cNvSpPr/>
          <p:nvPr/>
        </p:nvSpPr>
        <p:spPr>
          <a:xfrm>
            <a:off x="1481328" y="2307214"/>
            <a:ext cx="0" cy="168981"/>
          </a:xfrm>
          <a:prstGeom prst="line">
            <a:avLst/>
          </a:prstGeom>
          <a:noFill/>
          <a:ln w="19050">
            <a:solidFill>
              <a:srgbClr val="2471A3"/>
            </a:solidFill>
            <a:prstDash val="solid"/>
          </a:ln>
        </p:spPr>
      </p:sp>
      <p:sp>
        <p:nvSpPr>
          <p:cNvPr id="15" name="Shape 13"/>
          <p:cNvSpPr/>
          <p:nvPr/>
        </p:nvSpPr>
        <p:spPr>
          <a:xfrm>
            <a:off x="1371600" y="2307214"/>
            <a:ext cx="219456" cy="0"/>
          </a:xfrm>
          <a:prstGeom prst="line">
            <a:avLst/>
          </a:prstGeom>
          <a:noFill/>
          <a:ln w="15240">
            <a:solidFill>
              <a:srgbClr val="2471A3"/>
            </a:solidFill>
            <a:prstDash val="solid"/>
          </a:ln>
        </p:spPr>
      </p:sp>
      <p:sp>
        <p:nvSpPr>
          <p:cNvPr id="16" name="Shape 14"/>
          <p:cNvSpPr/>
          <p:nvPr/>
        </p:nvSpPr>
        <p:spPr>
          <a:xfrm>
            <a:off x="1371600" y="2476195"/>
            <a:ext cx="219456" cy="0"/>
          </a:xfrm>
          <a:prstGeom prst="line">
            <a:avLst/>
          </a:prstGeom>
          <a:noFill/>
          <a:ln w="15240">
            <a:solidFill>
              <a:srgbClr val="2471A3"/>
            </a:solidFill>
            <a:prstDash val="solid"/>
          </a:ln>
        </p:spPr>
      </p:sp>
      <p:sp>
        <p:nvSpPr>
          <p:cNvPr id="17" name="Text 15"/>
          <p:cNvSpPr/>
          <p:nvPr/>
        </p:nvSpPr>
        <p:spPr>
          <a:xfrm>
            <a:off x="1298448" y="3236976"/>
            <a:ext cx="402336" cy="201168"/>
          </a:xfrm>
          <a:prstGeom prst="rect">
            <a:avLst/>
          </a:prstGeom>
          <a:noFill/>
          <a:ln/>
        </p:spPr>
        <p:txBody>
          <a:bodyPr wrap="square" lIns="0" tIns="0" rIns="0" bIns="0" rtlCol="0" anchor="ctr"/>
          <a:lstStyle/>
          <a:p>
            <a:pPr algn="ctr" indent="0" marL="0">
              <a:buNone/>
            </a:pPr>
            <a:r>
              <a:rPr lang="en-US" sz="800" dirty="0">
                <a:solidFill>
                  <a:srgbClr val="C8A8E8"/>
                </a:solidFill>
                <a:latin typeface="Calibri" pitchFamily="34" charset="0"/>
                <a:ea typeface="Calibri" pitchFamily="34" charset="-122"/>
                <a:cs typeface="Calibri" pitchFamily="34" charset="-120"/>
              </a:rPr>
              <a:t>Risk</a:t>
            </a:r>
            <a:endParaRPr lang="en-US" sz="800" dirty="0"/>
          </a:p>
        </p:txBody>
      </p:sp>
      <p:sp>
        <p:nvSpPr>
          <p:cNvPr id="18" name="Text 16"/>
          <p:cNvSpPr/>
          <p:nvPr/>
        </p:nvSpPr>
        <p:spPr>
          <a:xfrm>
            <a:off x="1335024" y="2080809"/>
            <a:ext cx="347472" cy="182880"/>
          </a:xfrm>
          <a:prstGeom prst="rect">
            <a:avLst/>
          </a:prstGeom>
          <a:noFill/>
          <a:ln/>
        </p:spPr>
        <p:txBody>
          <a:bodyPr wrap="square" lIns="0" tIns="0" rIns="0" bIns="0" rtlCol="0" anchor="ctr"/>
          <a:lstStyle/>
          <a:p>
            <a:pPr algn="ctr" indent="0" marL="0">
              <a:buNone/>
            </a:pPr>
            <a:r>
              <a:rPr lang="en-US" sz="800" b="1" dirty="0">
                <a:solidFill>
                  <a:srgbClr val="2471A3"/>
                </a:solidFill>
                <a:latin typeface="Calibri" pitchFamily="34" charset="0"/>
                <a:ea typeface="Calibri" pitchFamily="34" charset="-122"/>
                <a:cs typeface="Calibri" pitchFamily="34" charset="-120"/>
              </a:rPr>
              <a:t>3.68</a:t>
            </a:r>
            <a:endParaRPr lang="en-US" sz="800" dirty="0"/>
          </a:p>
        </p:txBody>
      </p:sp>
      <p:sp>
        <p:nvSpPr>
          <p:cNvPr id="19" name="Shape 17"/>
          <p:cNvSpPr/>
          <p:nvPr/>
        </p:nvSpPr>
        <p:spPr>
          <a:xfrm>
            <a:off x="2212848" y="2297430"/>
            <a:ext cx="146304" cy="146304"/>
          </a:xfrm>
          <a:prstGeom prst="ellipse">
            <a:avLst/>
          </a:prstGeom>
          <a:solidFill>
            <a:srgbClr val="0E7C7B"/>
          </a:solidFill>
          <a:ln w="12700">
            <a:solidFill>
              <a:srgbClr val="0E7C7B"/>
            </a:solidFill>
            <a:prstDash val="solid"/>
          </a:ln>
        </p:spPr>
      </p:sp>
      <p:sp>
        <p:nvSpPr>
          <p:cNvPr id="20" name="Shape 18"/>
          <p:cNvSpPr/>
          <p:nvPr/>
        </p:nvSpPr>
        <p:spPr>
          <a:xfrm>
            <a:off x="2286000" y="2298162"/>
            <a:ext cx="0" cy="144841"/>
          </a:xfrm>
          <a:prstGeom prst="line">
            <a:avLst/>
          </a:prstGeom>
          <a:noFill/>
          <a:ln w="19050">
            <a:solidFill>
              <a:srgbClr val="0E7C7B"/>
            </a:solidFill>
            <a:prstDash val="solid"/>
          </a:ln>
        </p:spPr>
      </p:sp>
      <p:sp>
        <p:nvSpPr>
          <p:cNvPr id="21" name="Shape 19"/>
          <p:cNvSpPr/>
          <p:nvPr/>
        </p:nvSpPr>
        <p:spPr>
          <a:xfrm>
            <a:off x="2176272" y="2298162"/>
            <a:ext cx="219456" cy="0"/>
          </a:xfrm>
          <a:prstGeom prst="line">
            <a:avLst/>
          </a:prstGeom>
          <a:noFill/>
          <a:ln w="15240">
            <a:solidFill>
              <a:srgbClr val="0E7C7B"/>
            </a:solidFill>
            <a:prstDash val="solid"/>
          </a:ln>
        </p:spPr>
      </p:sp>
      <p:sp>
        <p:nvSpPr>
          <p:cNvPr id="22" name="Shape 20"/>
          <p:cNvSpPr/>
          <p:nvPr/>
        </p:nvSpPr>
        <p:spPr>
          <a:xfrm>
            <a:off x="2176272" y="2443002"/>
            <a:ext cx="219456" cy="0"/>
          </a:xfrm>
          <a:prstGeom prst="line">
            <a:avLst/>
          </a:prstGeom>
          <a:noFill/>
          <a:ln w="15240">
            <a:solidFill>
              <a:srgbClr val="0E7C7B"/>
            </a:solidFill>
            <a:prstDash val="solid"/>
          </a:ln>
        </p:spPr>
      </p:sp>
      <p:sp>
        <p:nvSpPr>
          <p:cNvPr id="23" name="Text 21"/>
          <p:cNvSpPr/>
          <p:nvPr/>
        </p:nvSpPr>
        <p:spPr>
          <a:xfrm>
            <a:off x="2103120" y="3236976"/>
            <a:ext cx="402336" cy="201168"/>
          </a:xfrm>
          <a:prstGeom prst="rect">
            <a:avLst/>
          </a:prstGeom>
          <a:noFill/>
          <a:ln/>
        </p:spPr>
        <p:txBody>
          <a:bodyPr wrap="square" lIns="0" tIns="0" rIns="0" bIns="0" rtlCol="0" anchor="ctr"/>
          <a:lstStyle/>
          <a:p>
            <a:pPr algn="ctr" indent="0" marL="0">
              <a:buNone/>
            </a:pPr>
            <a:r>
              <a:rPr lang="en-US" sz="800" dirty="0">
                <a:solidFill>
                  <a:srgbClr val="C8A8E8"/>
                </a:solidFill>
                <a:latin typeface="Calibri" pitchFamily="34" charset="0"/>
                <a:ea typeface="Calibri" pitchFamily="34" charset="-122"/>
                <a:cs typeface="Calibri" pitchFamily="34" charset="-120"/>
              </a:rPr>
              <a:t>Finance</a:t>
            </a:r>
            <a:endParaRPr lang="en-US" sz="800" dirty="0"/>
          </a:p>
        </p:txBody>
      </p:sp>
      <p:sp>
        <p:nvSpPr>
          <p:cNvPr id="24" name="Text 22"/>
          <p:cNvSpPr/>
          <p:nvPr/>
        </p:nvSpPr>
        <p:spPr>
          <a:xfrm>
            <a:off x="2139696" y="2059686"/>
            <a:ext cx="347472" cy="182880"/>
          </a:xfrm>
          <a:prstGeom prst="rect">
            <a:avLst/>
          </a:prstGeom>
          <a:noFill/>
          <a:ln/>
        </p:spPr>
        <p:txBody>
          <a:bodyPr wrap="square" lIns="0" tIns="0" rIns="0" bIns="0" rtlCol="0" anchor="ctr"/>
          <a:lstStyle/>
          <a:p>
            <a:pPr algn="ctr" indent="0" marL="0">
              <a:buNone/>
            </a:pPr>
            <a:r>
              <a:rPr lang="en-US" sz="800" b="1" dirty="0">
                <a:solidFill>
                  <a:srgbClr val="0E7C7B"/>
                </a:solidFill>
                <a:latin typeface="Calibri" pitchFamily="34" charset="0"/>
                <a:ea typeface="Calibri" pitchFamily="34" charset="-122"/>
                <a:cs typeface="Calibri" pitchFamily="34" charset="-120"/>
              </a:rPr>
              <a:t>3.75</a:t>
            </a:r>
            <a:endParaRPr lang="en-US" sz="800" dirty="0"/>
          </a:p>
        </p:txBody>
      </p:sp>
      <p:sp>
        <p:nvSpPr>
          <p:cNvPr id="25" name="Shape 23"/>
          <p:cNvSpPr/>
          <p:nvPr/>
        </p:nvSpPr>
        <p:spPr>
          <a:xfrm>
            <a:off x="3017520" y="2185782"/>
            <a:ext cx="146304" cy="146304"/>
          </a:xfrm>
          <a:prstGeom prst="ellipse">
            <a:avLst/>
          </a:prstGeom>
          <a:solidFill>
            <a:srgbClr val="1A7A4A"/>
          </a:solidFill>
          <a:ln w="12700">
            <a:solidFill>
              <a:srgbClr val="1A7A4A"/>
            </a:solidFill>
            <a:prstDash val="solid"/>
          </a:ln>
        </p:spPr>
      </p:sp>
      <p:sp>
        <p:nvSpPr>
          <p:cNvPr id="26" name="Shape 24"/>
          <p:cNvSpPr/>
          <p:nvPr/>
        </p:nvSpPr>
        <p:spPr>
          <a:xfrm>
            <a:off x="3090672" y="2162373"/>
            <a:ext cx="0" cy="193121"/>
          </a:xfrm>
          <a:prstGeom prst="line">
            <a:avLst/>
          </a:prstGeom>
          <a:noFill/>
          <a:ln w="19050">
            <a:solidFill>
              <a:srgbClr val="1A7A4A"/>
            </a:solidFill>
            <a:prstDash val="solid"/>
          </a:ln>
        </p:spPr>
      </p:sp>
      <p:sp>
        <p:nvSpPr>
          <p:cNvPr id="27" name="Shape 25"/>
          <p:cNvSpPr/>
          <p:nvPr/>
        </p:nvSpPr>
        <p:spPr>
          <a:xfrm>
            <a:off x="2980944" y="2162373"/>
            <a:ext cx="219456" cy="0"/>
          </a:xfrm>
          <a:prstGeom prst="line">
            <a:avLst/>
          </a:prstGeom>
          <a:noFill/>
          <a:ln w="15240">
            <a:solidFill>
              <a:srgbClr val="1A7A4A"/>
            </a:solidFill>
            <a:prstDash val="solid"/>
          </a:ln>
        </p:spPr>
      </p:sp>
      <p:sp>
        <p:nvSpPr>
          <p:cNvPr id="28" name="Shape 26"/>
          <p:cNvSpPr/>
          <p:nvPr/>
        </p:nvSpPr>
        <p:spPr>
          <a:xfrm>
            <a:off x="2980944" y="2355494"/>
            <a:ext cx="219456" cy="0"/>
          </a:xfrm>
          <a:prstGeom prst="line">
            <a:avLst/>
          </a:prstGeom>
          <a:noFill/>
          <a:ln w="15240">
            <a:solidFill>
              <a:srgbClr val="1A7A4A"/>
            </a:solidFill>
            <a:prstDash val="solid"/>
          </a:ln>
        </p:spPr>
      </p:sp>
      <p:sp>
        <p:nvSpPr>
          <p:cNvPr id="29" name="Text 27"/>
          <p:cNvSpPr/>
          <p:nvPr/>
        </p:nvSpPr>
        <p:spPr>
          <a:xfrm>
            <a:off x="2907792" y="3236976"/>
            <a:ext cx="402336" cy="201168"/>
          </a:xfrm>
          <a:prstGeom prst="rect">
            <a:avLst/>
          </a:prstGeom>
          <a:noFill/>
          <a:ln/>
        </p:spPr>
        <p:txBody>
          <a:bodyPr wrap="square" lIns="0" tIns="0" rIns="0" bIns="0" rtlCol="0" anchor="ctr"/>
          <a:lstStyle/>
          <a:p>
            <a:pPr algn="ctr" indent="0" marL="0">
              <a:buNone/>
            </a:pPr>
            <a:r>
              <a:rPr lang="en-US" sz="800" dirty="0">
                <a:solidFill>
                  <a:srgbClr val="C8A8E8"/>
                </a:solidFill>
                <a:latin typeface="Calibri" pitchFamily="34" charset="0"/>
                <a:ea typeface="Calibri" pitchFamily="34" charset="-122"/>
                <a:cs typeface="Calibri" pitchFamily="34" charset="-120"/>
              </a:rPr>
              <a:t>Tech</a:t>
            </a:r>
            <a:endParaRPr lang="en-US" sz="800" dirty="0"/>
          </a:p>
        </p:txBody>
      </p:sp>
      <p:sp>
        <p:nvSpPr>
          <p:cNvPr id="30" name="Text 28"/>
          <p:cNvSpPr/>
          <p:nvPr/>
        </p:nvSpPr>
        <p:spPr>
          <a:xfrm>
            <a:off x="2944368" y="1948038"/>
            <a:ext cx="347472" cy="182880"/>
          </a:xfrm>
          <a:prstGeom prst="rect">
            <a:avLst/>
          </a:prstGeom>
          <a:noFill/>
          <a:ln/>
        </p:spPr>
        <p:txBody>
          <a:bodyPr wrap="square" lIns="0" tIns="0" rIns="0" bIns="0" rtlCol="0" anchor="ctr"/>
          <a:lstStyle/>
          <a:p>
            <a:pPr algn="ctr" indent="0" marL="0">
              <a:buNone/>
            </a:pPr>
            <a:r>
              <a:rPr lang="en-US" sz="800" b="1" dirty="0">
                <a:solidFill>
                  <a:srgbClr val="1A7A4A"/>
                </a:solidFill>
                <a:latin typeface="Calibri" pitchFamily="34" charset="0"/>
                <a:ea typeface="Calibri" pitchFamily="34" charset="-122"/>
                <a:cs typeface="Calibri" pitchFamily="34" charset="-120"/>
              </a:rPr>
              <a:t>4.12</a:t>
            </a:r>
            <a:endParaRPr lang="en-US" sz="800" dirty="0"/>
          </a:p>
        </p:txBody>
      </p:sp>
      <p:sp>
        <p:nvSpPr>
          <p:cNvPr id="31" name="Shape 29"/>
          <p:cNvSpPr/>
          <p:nvPr/>
        </p:nvSpPr>
        <p:spPr>
          <a:xfrm>
            <a:off x="3822192" y="2258202"/>
            <a:ext cx="146304" cy="146304"/>
          </a:xfrm>
          <a:prstGeom prst="ellipse">
            <a:avLst/>
          </a:prstGeom>
          <a:solidFill>
            <a:srgbClr val="E67E22"/>
          </a:solidFill>
          <a:ln w="12700">
            <a:solidFill>
              <a:srgbClr val="E67E22"/>
            </a:solidFill>
            <a:prstDash val="solid"/>
          </a:ln>
        </p:spPr>
      </p:sp>
      <p:sp>
        <p:nvSpPr>
          <p:cNvPr id="32" name="Shape 30"/>
          <p:cNvSpPr/>
          <p:nvPr/>
        </p:nvSpPr>
        <p:spPr>
          <a:xfrm>
            <a:off x="3895344" y="2252899"/>
            <a:ext cx="0" cy="156911"/>
          </a:xfrm>
          <a:prstGeom prst="line">
            <a:avLst/>
          </a:prstGeom>
          <a:noFill/>
          <a:ln w="19050">
            <a:solidFill>
              <a:srgbClr val="E67E22"/>
            </a:solidFill>
            <a:prstDash val="solid"/>
          </a:ln>
        </p:spPr>
      </p:sp>
      <p:sp>
        <p:nvSpPr>
          <p:cNvPr id="33" name="Shape 31"/>
          <p:cNvSpPr/>
          <p:nvPr/>
        </p:nvSpPr>
        <p:spPr>
          <a:xfrm>
            <a:off x="3785616" y="2252899"/>
            <a:ext cx="219456" cy="0"/>
          </a:xfrm>
          <a:prstGeom prst="line">
            <a:avLst/>
          </a:prstGeom>
          <a:noFill/>
          <a:ln w="15240">
            <a:solidFill>
              <a:srgbClr val="E67E22"/>
            </a:solidFill>
            <a:prstDash val="solid"/>
          </a:ln>
        </p:spPr>
      </p:sp>
      <p:sp>
        <p:nvSpPr>
          <p:cNvPr id="34" name="Shape 32"/>
          <p:cNvSpPr/>
          <p:nvPr/>
        </p:nvSpPr>
        <p:spPr>
          <a:xfrm>
            <a:off x="3785616" y="2409810"/>
            <a:ext cx="219456" cy="0"/>
          </a:xfrm>
          <a:prstGeom prst="line">
            <a:avLst/>
          </a:prstGeom>
          <a:noFill/>
          <a:ln w="15240">
            <a:solidFill>
              <a:srgbClr val="E67E22"/>
            </a:solidFill>
            <a:prstDash val="solid"/>
          </a:ln>
        </p:spPr>
      </p:sp>
      <p:sp>
        <p:nvSpPr>
          <p:cNvPr id="35" name="Text 33"/>
          <p:cNvSpPr/>
          <p:nvPr/>
        </p:nvSpPr>
        <p:spPr>
          <a:xfrm>
            <a:off x="3712464" y="3236976"/>
            <a:ext cx="402336" cy="201168"/>
          </a:xfrm>
          <a:prstGeom prst="rect">
            <a:avLst/>
          </a:prstGeom>
          <a:noFill/>
          <a:ln/>
        </p:spPr>
        <p:txBody>
          <a:bodyPr wrap="square" lIns="0" tIns="0" rIns="0" bIns="0" rtlCol="0" anchor="ctr"/>
          <a:lstStyle/>
          <a:p>
            <a:pPr algn="ctr" indent="0" marL="0">
              <a:buNone/>
            </a:pPr>
            <a:r>
              <a:rPr lang="en-US" sz="800" dirty="0">
                <a:solidFill>
                  <a:srgbClr val="C8A8E8"/>
                </a:solidFill>
                <a:latin typeface="Calibri" pitchFamily="34" charset="0"/>
                <a:ea typeface="Calibri" pitchFamily="34" charset="-122"/>
                <a:cs typeface="Calibri" pitchFamily="34" charset="-120"/>
              </a:rPr>
              <a:t>HR</a:t>
            </a:r>
            <a:endParaRPr lang="en-US" sz="800" dirty="0"/>
          </a:p>
        </p:txBody>
      </p:sp>
      <p:sp>
        <p:nvSpPr>
          <p:cNvPr id="36" name="Text 34"/>
          <p:cNvSpPr/>
          <p:nvPr/>
        </p:nvSpPr>
        <p:spPr>
          <a:xfrm>
            <a:off x="3749040" y="2020458"/>
            <a:ext cx="347472" cy="182880"/>
          </a:xfrm>
          <a:prstGeom prst="rect">
            <a:avLst/>
          </a:prstGeom>
          <a:noFill/>
          <a:ln/>
        </p:spPr>
        <p:txBody>
          <a:bodyPr wrap="square" lIns="0" tIns="0" rIns="0" bIns="0" rtlCol="0" anchor="ctr"/>
          <a:lstStyle/>
          <a:p>
            <a:pPr algn="ctr" indent="0" marL="0">
              <a:buNone/>
            </a:pPr>
            <a:r>
              <a:rPr lang="en-US" sz="800" b="1" dirty="0">
                <a:solidFill>
                  <a:srgbClr val="E67E22"/>
                </a:solidFill>
                <a:latin typeface="Calibri" pitchFamily="34" charset="0"/>
                <a:ea typeface="Calibri" pitchFamily="34" charset="-122"/>
                <a:cs typeface="Calibri" pitchFamily="34" charset="-120"/>
              </a:rPr>
              <a:t>3.88</a:t>
            </a:r>
            <a:endParaRPr lang="en-US" sz="800" dirty="0"/>
          </a:p>
        </p:txBody>
      </p:sp>
      <p:sp>
        <p:nvSpPr>
          <p:cNvPr id="37" name="Shape 35"/>
          <p:cNvSpPr/>
          <p:nvPr/>
        </p:nvSpPr>
        <p:spPr>
          <a:xfrm>
            <a:off x="384048" y="3255264"/>
            <a:ext cx="4315968" cy="0"/>
          </a:xfrm>
          <a:prstGeom prst="line">
            <a:avLst/>
          </a:prstGeom>
          <a:noFill/>
          <a:ln w="10160">
            <a:solidFill>
              <a:srgbClr val="6A5080"/>
            </a:solidFill>
            <a:prstDash val="solid"/>
          </a:ln>
        </p:spPr>
      </p:sp>
      <p:sp>
        <p:nvSpPr>
          <p:cNvPr id="38" name="Text 36"/>
          <p:cNvSpPr/>
          <p:nvPr/>
        </p:nvSpPr>
        <p:spPr>
          <a:xfrm>
            <a:off x="384048" y="3456432"/>
            <a:ext cx="4315968" cy="256032"/>
          </a:xfrm>
          <a:prstGeom prst="rect">
            <a:avLst/>
          </a:prstGeom>
          <a:noFill/>
          <a:ln/>
        </p:spPr>
        <p:txBody>
          <a:bodyPr wrap="square" lIns="0" tIns="0" rIns="0" bIns="0" rtlCol="0" anchor="ctr"/>
          <a:lstStyle/>
          <a:p>
            <a:pPr algn="ctr" indent="0" marL="0">
              <a:buNone/>
            </a:pPr>
            <a:r>
              <a:rPr lang="en-US" sz="850" i="1" dirty="0">
                <a:solidFill>
                  <a:srgbClr val="C8A8E8"/>
                </a:solidFill>
                <a:latin typeface="Calibri" pitchFamily="34" charset="0"/>
                <a:ea typeface="Calibri" pitchFamily="34" charset="-122"/>
                <a:cs typeface="Calibri" pitchFamily="34" charset="-120"/>
              </a:rPr>
              <a:t>Mean satisfaction score (1-5 scale) by department. CI bars show 95% confidence interval.</a:t>
            </a:r>
            <a:endParaRPr lang="en-US" sz="850" dirty="0"/>
          </a:p>
        </p:txBody>
      </p:sp>
      <p:sp>
        <p:nvSpPr>
          <p:cNvPr id="39" name="Text 37"/>
          <p:cNvSpPr/>
          <p:nvPr/>
        </p:nvSpPr>
        <p:spPr>
          <a:xfrm>
            <a:off x="384048" y="3767328"/>
            <a:ext cx="4315968" cy="256032"/>
          </a:xfrm>
          <a:prstGeom prst="rect">
            <a:avLst/>
          </a:prstGeom>
          <a:noFill/>
          <a:ln/>
        </p:spPr>
        <p:txBody>
          <a:bodyPr wrap="square" lIns="0" tIns="0" rIns="0" bIns="0" rtlCol="0" anchor="ctr"/>
          <a:lstStyle/>
          <a:p>
            <a:pPr indent="0" marL="0">
              <a:buNone/>
            </a:pPr>
            <a:r>
              <a:rPr lang="en-US" sz="850" i="1" dirty="0">
                <a:solidFill>
                  <a:srgbClr val="F0C040"/>
                </a:solidFill>
                <a:latin typeface="Calibri" pitchFamily="34" charset="0"/>
                <a:ea typeface="Calibri" pitchFamily="34" charset="-122"/>
                <a:cs typeface="Calibri" pitchFamily="34" charset="-120"/>
              </a:rPr>
              <a:t>SPSS: Graphs &gt; Legacy Dialogs &gt; Error Bar &gt; Simple &gt; Confidence interval for mean</a:t>
            </a:r>
            <a:endParaRPr lang="en-US" sz="850" dirty="0"/>
          </a:p>
        </p:txBody>
      </p:sp>
      <p:sp>
        <p:nvSpPr>
          <p:cNvPr id="40" name="Shape 38"/>
          <p:cNvSpPr/>
          <p:nvPr/>
        </p:nvSpPr>
        <p:spPr>
          <a:xfrm>
            <a:off x="5010912" y="932688"/>
            <a:ext cx="3840480" cy="2651760"/>
          </a:xfrm>
          <a:prstGeom prst="roundRect">
            <a:avLst>
              <a:gd name="adj" fmla="val 3448"/>
            </a:avLst>
          </a:prstGeom>
          <a:solidFill>
            <a:srgbClr val="2D1135"/>
          </a:solidFill>
          <a:ln w="12700">
            <a:solidFill>
              <a:srgbClr val="D4A017"/>
            </a:solidFill>
            <a:prstDash val="solid"/>
          </a:ln>
        </p:spPr>
      </p:sp>
      <p:sp>
        <p:nvSpPr>
          <p:cNvPr id="41" name="Text 39"/>
          <p:cNvSpPr/>
          <p:nvPr/>
        </p:nvSpPr>
        <p:spPr>
          <a:xfrm>
            <a:off x="5120640" y="1005840"/>
            <a:ext cx="3611880" cy="256032"/>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CHART BUILDER  -  Graphs &gt; Chart Builder</a:t>
            </a:r>
            <a:endParaRPr lang="en-US" sz="1100" dirty="0"/>
          </a:p>
        </p:txBody>
      </p:sp>
      <p:sp>
        <p:nvSpPr>
          <p:cNvPr id="42" name="Text 40"/>
          <p:cNvSpPr/>
          <p:nvPr/>
        </p:nvSpPr>
        <p:spPr>
          <a:xfrm>
            <a:off x="5120640" y="1316736"/>
            <a:ext cx="3611880" cy="347472"/>
          </a:xfrm>
          <a:prstGeom prst="rect">
            <a:avLst/>
          </a:prstGeom>
          <a:noFill/>
          <a:ln/>
        </p:spPr>
        <p:txBody>
          <a:bodyPr wrap="square" lIns="0" tIns="0" rIns="0" bIns="0" rtlCol="0" anchor="ctr"/>
          <a:lstStyle/>
          <a:p>
            <a:pPr indent="0" marL="0">
              <a:buNone/>
            </a:pPr>
            <a:r>
              <a:rPr lang="en-US" sz="950" dirty="0">
                <a:solidFill>
                  <a:srgbClr val="C8A8E8"/>
                </a:solidFill>
                <a:latin typeface="Calibri" pitchFamily="34" charset="0"/>
                <a:ea typeface="Calibri" pitchFamily="34" charset="-122"/>
                <a:cs typeface="Calibri" pitchFamily="34" charset="-120"/>
              </a:rPr>
              <a:t>The Chart Builder is SPSS's drag-and-drop chart creation interface. More flexible than Legacy Dialogs.</a:t>
            </a:r>
            <a:endParaRPr lang="en-US" sz="950" dirty="0"/>
          </a:p>
        </p:txBody>
      </p:sp>
      <p:sp>
        <p:nvSpPr>
          <p:cNvPr id="43" name="Shape 41"/>
          <p:cNvSpPr/>
          <p:nvPr/>
        </p:nvSpPr>
        <p:spPr>
          <a:xfrm>
            <a:off x="5120640" y="1737360"/>
            <a:ext cx="201168" cy="201168"/>
          </a:xfrm>
          <a:prstGeom prst="ellipse">
            <a:avLst/>
          </a:prstGeom>
          <a:solidFill>
            <a:srgbClr val="D4A017"/>
          </a:solidFill>
          <a:ln w="12700">
            <a:solidFill>
              <a:srgbClr val="D4A017"/>
            </a:solidFill>
            <a:prstDash val="solid"/>
          </a:ln>
        </p:spPr>
      </p:sp>
      <p:sp>
        <p:nvSpPr>
          <p:cNvPr id="44" name="Text 42"/>
          <p:cNvSpPr/>
          <p:nvPr/>
        </p:nvSpPr>
        <p:spPr>
          <a:xfrm>
            <a:off x="5120640" y="1737360"/>
            <a:ext cx="201168" cy="201168"/>
          </a:xfrm>
          <a:prstGeom prst="rect">
            <a:avLst/>
          </a:prstGeom>
          <a:noFill/>
          <a:ln/>
        </p:spPr>
        <p:txBody>
          <a:bodyPr wrap="square" lIns="0" tIns="0" rIns="0" bIns="0" rtlCol="0" anchor="ctr"/>
          <a:lstStyle/>
          <a:p>
            <a:pPr algn="ctr" indent="0" marL="0">
              <a:buNone/>
            </a:pPr>
            <a:r>
              <a:rPr lang="en-US" sz="750" b="1" dirty="0">
                <a:solidFill>
                  <a:srgbClr val="1A0A1E"/>
                </a:solidFill>
                <a:latin typeface="Calibri" pitchFamily="34" charset="0"/>
                <a:ea typeface="Calibri" pitchFamily="34" charset="-122"/>
                <a:cs typeface="Calibri" pitchFamily="34" charset="-120"/>
              </a:rPr>
              <a:t>1</a:t>
            </a:r>
            <a:endParaRPr lang="en-US" sz="750" dirty="0"/>
          </a:p>
        </p:txBody>
      </p:sp>
      <p:sp>
        <p:nvSpPr>
          <p:cNvPr id="45" name="Text 43"/>
          <p:cNvSpPr/>
          <p:nvPr/>
        </p:nvSpPr>
        <p:spPr>
          <a:xfrm>
            <a:off x="5376672" y="1737360"/>
            <a:ext cx="3364992" cy="237744"/>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Graphs &gt; Chart Builder</a:t>
            </a:r>
            <a:endParaRPr lang="en-US" sz="850" dirty="0"/>
          </a:p>
        </p:txBody>
      </p:sp>
      <p:sp>
        <p:nvSpPr>
          <p:cNvPr id="46" name="Shape 44"/>
          <p:cNvSpPr/>
          <p:nvPr/>
        </p:nvSpPr>
        <p:spPr>
          <a:xfrm>
            <a:off x="5120640" y="1993392"/>
            <a:ext cx="201168" cy="201168"/>
          </a:xfrm>
          <a:prstGeom prst="ellipse">
            <a:avLst/>
          </a:prstGeom>
          <a:solidFill>
            <a:srgbClr val="D4A017"/>
          </a:solidFill>
          <a:ln w="12700">
            <a:solidFill>
              <a:srgbClr val="D4A017"/>
            </a:solidFill>
            <a:prstDash val="solid"/>
          </a:ln>
        </p:spPr>
      </p:sp>
      <p:sp>
        <p:nvSpPr>
          <p:cNvPr id="47" name="Text 45"/>
          <p:cNvSpPr/>
          <p:nvPr/>
        </p:nvSpPr>
        <p:spPr>
          <a:xfrm>
            <a:off x="5120640" y="1993392"/>
            <a:ext cx="201168" cy="201168"/>
          </a:xfrm>
          <a:prstGeom prst="rect">
            <a:avLst/>
          </a:prstGeom>
          <a:noFill/>
          <a:ln/>
        </p:spPr>
        <p:txBody>
          <a:bodyPr wrap="square" lIns="0" tIns="0" rIns="0" bIns="0" rtlCol="0" anchor="ctr"/>
          <a:lstStyle/>
          <a:p>
            <a:pPr algn="ctr" indent="0" marL="0">
              <a:buNone/>
            </a:pPr>
            <a:r>
              <a:rPr lang="en-US" sz="750" b="1" dirty="0">
                <a:solidFill>
                  <a:srgbClr val="1A0A1E"/>
                </a:solidFill>
                <a:latin typeface="Calibri" pitchFamily="34" charset="0"/>
                <a:ea typeface="Calibri" pitchFamily="34" charset="-122"/>
                <a:cs typeface="Calibri" pitchFamily="34" charset="-120"/>
              </a:rPr>
              <a:t>2</a:t>
            </a:r>
            <a:endParaRPr lang="en-US" sz="750" dirty="0"/>
          </a:p>
        </p:txBody>
      </p:sp>
      <p:sp>
        <p:nvSpPr>
          <p:cNvPr id="48" name="Text 46"/>
          <p:cNvSpPr/>
          <p:nvPr/>
        </p:nvSpPr>
        <p:spPr>
          <a:xfrm>
            <a:off x="5376672" y="1993392"/>
            <a:ext cx="3364992" cy="237744"/>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Choose chart type from Gallery (bar, line, scatter, etc.)</a:t>
            </a:r>
            <a:endParaRPr lang="en-US" sz="850" dirty="0"/>
          </a:p>
        </p:txBody>
      </p:sp>
      <p:sp>
        <p:nvSpPr>
          <p:cNvPr id="49" name="Shape 47"/>
          <p:cNvSpPr/>
          <p:nvPr/>
        </p:nvSpPr>
        <p:spPr>
          <a:xfrm>
            <a:off x="5120640" y="2249424"/>
            <a:ext cx="201168" cy="201168"/>
          </a:xfrm>
          <a:prstGeom prst="ellipse">
            <a:avLst/>
          </a:prstGeom>
          <a:solidFill>
            <a:srgbClr val="D4A017"/>
          </a:solidFill>
          <a:ln w="12700">
            <a:solidFill>
              <a:srgbClr val="D4A017"/>
            </a:solidFill>
            <a:prstDash val="solid"/>
          </a:ln>
        </p:spPr>
      </p:sp>
      <p:sp>
        <p:nvSpPr>
          <p:cNvPr id="50" name="Text 48"/>
          <p:cNvSpPr/>
          <p:nvPr/>
        </p:nvSpPr>
        <p:spPr>
          <a:xfrm>
            <a:off x="5120640" y="2249424"/>
            <a:ext cx="201168" cy="201168"/>
          </a:xfrm>
          <a:prstGeom prst="rect">
            <a:avLst/>
          </a:prstGeom>
          <a:noFill/>
          <a:ln/>
        </p:spPr>
        <p:txBody>
          <a:bodyPr wrap="square" lIns="0" tIns="0" rIns="0" bIns="0" rtlCol="0" anchor="ctr"/>
          <a:lstStyle/>
          <a:p>
            <a:pPr algn="ctr" indent="0" marL="0">
              <a:buNone/>
            </a:pPr>
            <a:r>
              <a:rPr lang="en-US" sz="750" b="1" dirty="0">
                <a:solidFill>
                  <a:srgbClr val="1A0A1E"/>
                </a:solidFill>
                <a:latin typeface="Calibri" pitchFamily="34" charset="0"/>
                <a:ea typeface="Calibri" pitchFamily="34" charset="-122"/>
                <a:cs typeface="Calibri" pitchFamily="34" charset="-120"/>
              </a:rPr>
              <a:t>3</a:t>
            </a:r>
            <a:endParaRPr lang="en-US" sz="750" dirty="0"/>
          </a:p>
        </p:txBody>
      </p:sp>
      <p:sp>
        <p:nvSpPr>
          <p:cNvPr id="51" name="Text 49"/>
          <p:cNvSpPr/>
          <p:nvPr/>
        </p:nvSpPr>
        <p:spPr>
          <a:xfrm>
            <a:off x="5376672" y="2249424"/>
            <a:ext cx="3364992" cy="237744"/>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Drag variables from variable list to X or Y axis drop zones</a:t>
            </a:r>
            <a:endParaRPr lang="en-US" sz="850" dirty="0"/>
          </a:p>
        </p:txBody>
      </p:sp>
      <p:sp>
        <p:nvSpPr>
          <p:cNvPr id="52" name="Shape 50"/>
          <p:cNvSpPr/>
          <p:nvPr/>
        </p:nvSpPr>
        <p:spPr>
          <a:xfrm>
            <a:off x="5120640" y="2505456"/>
            <a:ext cx="201168" cy="201168"/>
          </a:xfrm>
          <a:prstGeom prst="ellipse">
            <a:avLst/>
          </a:prstGeom>
          <a:solidFill>
            <a:srgbClr val="D4A017"/>
          </a:solidFill>
          <a:ln w="12700">
            <a:solidFill>
              <a:srgbClr val="D4A017"/>
            </a:solidFill>
            <a:prstDash val="solid"/>
          </a:ln>
        </p:spPr>
      </p:sp>
      <p:sp>
        <p:nvSpPr>
          <p:cNvPr id="53" name="Text 51"/>
          <p:cNvSpPr/>
          <p:nvPr/>
        </p:nvSpPr>
        <p:spPr>
          <a:xfrm>
            <a:off x="5120640" y="2505456"/>
            <a:ext cx="201168" cy="201168"/>
          </a:xfrm>
          <a:prstGeom prst="rect">
            <a:avLst/>
          </a:prstGeom>
          <a:noFill/>
          <a:ln/>
        </p:spPr>
        <p:txBody>
          <a:bodyPr wrap="square" lIns="0" tIns="0" rIns="0" bIns="0" rtlCol="0" anchor="ctr"/>
          <a:lstStyle/>
          <a:p>
            <a:pPr algn="ctr" indent="0" marL="0">
              <a:buNone/>
            </a:pPr>
            <a:r>
              <a:rPr lang="en-US" sz="750" b="1" dirty="0">
                <a:solidFill>
                  <a:srgbClr val="1A0A1E"/>
                </a:solidFill>
                <a:latin typeface="Calibri" pitchFamily="34" charset="0"/>
                <a:ea typeface="Calibri" pitchFamily="34" charset="-122"/>
                <a:cs typeface="Calibri" pitchFamily="34" charset="-120"/>
              </a:rPr>
              <a:t>4</a:t>
            </a:r>
            <a:endParaRPr lang="en-US" sz="750" dirty="0"/>
          </a:p>
        </p:txBody>
      </p:sp>
      <p:sp>
        <p:nvSpPr>
          <p:cNvPr id="54" name="Text 52"/>
          <p:cNvSpPr/>
          <p:nvPr/>
        </p:nvSpPr>
        <p:spPr>
          <a:xfrm>
            <a:off x="5376672" y="2505456"/>
            <a:ext cx="3364992" cy="237744"/>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Drag grouping variable to 'Set Color' or 'Cluster on X' zone</a:t>
            </a:r>
            <a:endParaRPr lang="en-US" sz="850" dirty="0"/>
          </a:p>
        </p:txBody>
      </p:sp>
      <p:sp>
        <p:nvSpPr>
          <p:cNvPr id="55" name="Shape 53"/>
          <p:cNvSpPr/>
          <p:nvPr/>
        </p:nvSpPr>
        <p:spPr>
          <a:xfrm>
            <a:off x="5120640" y="2761488"/>
            <a:ext cx="201168" cy="201168"/>
          </a:xfrm>
          <a:prstGeom prst="ellipse">
            <a:avLst/>
          </a:prstGeom>
          <a:solidFill>
            <a:srgbClr val="D4A017"/>
          </a:solidFill>
          <a:ln w="12700">
            <a:solidFill>
              <a:srgbClr val="D4A017"/>
            </a:solidFill>
            <a:prstDash val="solid"/>
          </a:ln>
        </p:spPr>
      </p:sp>
      <p:sp>
        <p:nvSpPr>
          <p:cNvPr id="56" name="Text 54"/>
          <p:cNvSpPr/>
          <p:nvPr/>
        </p:nvSpPr>
        <p:spPr>
          <a:xfrm>
            <a:off x="5120640" y="2761488"/>
            <a:ext cx="201168" cy="201168"/>
          </a:xfrm>
          <a:prstGeom prst="rect">
            <a:avLst/>
          </a:prstGeom>
          <a:noFill/>
          <a:ln/>
        </p:spPr>
        <p:txBody>
          <a:bodyPr wrap="square" lIns="0" tIns="0" rIns="0" bIns="0" rtlCol="0" anchor="ctr"/>
          <a:lstStyle/>
          <a:p>
            <a:pPr algn="ctr" indent="0" marL="0">
              <a:buNone/>
            </a:pPr>
            <a:r>
              <a:rPr lang="en-US" sz="750" b="1" dirty="0">
                <a:solidFill>
                  <a:srgbClr val="1A0A1E"/>
                </a:solidFill>
                <a:latin typeface="Calibri" pitchFamily="34" charset="0"/>
                <a:ea typeface="Calibri" pitchFamily="34" charset="-122"/>
                <a:cs typeface="Calibri" pitchFamily="34" charset="-120"/>
              </a:rPr>
              <a:t>5</a:t>
            </a:r>
            <a:endParaRPr lang="en-US" sz="750" dirty="0"/>
          </a:p>
        </p:txBody>
      </p:sp>
      <p:sp>
        <p:nvSpPr>
          <p:cNvPr id="57" name="Text 55"/>
          <p:cNvSpPr/>
          <p:nvPr/>
        </p:nvSpPr>
        <p:spPr>
          <a:xfrm>
            <a:off x="5376672" y="2761488"/>
            <a:ext cx="3364992" cy="237744"/>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Use Element Properties to add error bars (CI or SD)</a:t>
            </a:r>
            <a:endParaRPr lang="en-US" sz="850" dirty="0"/>
          </a:p>
        </p:txBody>
      </p:sp>
      <p:sp>
        <p:nvSpPr>
          <p:cNvPr id="58" name="Shape 56"/>
          <p:cNvSpPr/>
          <p:nvPr/>
        </p:nvSpPr>
        <p:spPr>
          <a:xfrm>
            <a:off x="5120640" y="3017520"/>
            <a:ext cx="201168" cy="201168"/>
          </a:xfrm>
          <a:prstGeom prst="ellipse">
            <a:avLst/>
          </a:prstGeom>
          <a:solidFill>
            <a:srgbClr val="D4A017"/>
          </a:solidFill>
          <a:ln w="12700">
            <a:solidFill>
              <a:srgbClr val="D4A017"/>
            </a:solidFill>
            <a:prstDash val="solid"/>
          </a:ln>
        </p:spPr>
      </p:sp>
      <p:sp>
        <p:nvSpPr>
          <p:cNvPr id="59" name="Text 57"/>
          <p:cNvSpPr/>
          <p:nvPr/>
        </p:nvSpPr>
        <p:spPr>
          <a:xfrm>
            <a:off x="5120640" y="3017520"/>
            <a:ext cx="201168" cy="201168"/>
          </a:xfrm>
          <a:prstGeom prst="rect">
            <a:avLst/>
          </a:prstGeom>
          <a:noFill/>
          <a:ln/>
        </p:spPr>
        <p:txBody>
          <a:bodyPr wrap="square" lIns="0" tIns="0" rIns="0" bIns="0" rtlCol="0" anchor="ctr"/>
          <a:lstStyle/>
          <a:p>
            <a:pPr algn="ctr" indent="0" marL="0">
              <a:buNone/>
            </a:pPr>
            <a:r>
              <a:rPr lang="en-US" sz="750" b="1" dirty="0">
                <a:solidFill>
                  <a:srgbClr val="1A0A1E"/>
                </a:solidFill>
                <a:latin typeface="Calibri" pitchFamily="34" charset="0"/>
                <a:ea typeface="Calibri" pitchFamily="34" charset="-122"/>
                <a:cs typeface="Calibri" pitchFamily="34" charset="-120"/>
              </a:rPr>
              <a:t>6</a:t>
            </a:r>
            <a:endParaRPr lang="en-US" sz="750" dirty="0"/>
          </a:p>
        </p:txBody>
      </p:sp>
      <p:sp>
        <p:nvSpPr>
          <p:cNvPr id="60" name="Text 58"/>
          <p:cNvSpPr/>
          <p:nvPr/>
        </p:nvSpPr>
        <p:spPr>
          <a:xfrm>
            <a:off x="5376672" y="3017520"/>
            <a:ext cx="3364992" cy="237744"/>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Click OK to generate the chart in Output Viewer</a:t>
            </a:r>
            <a:endParaRPr lang="en-US" sz="850" dirty="0"/>
          </a:p>
        </p:txBody>
      </p:sp>
      <p:sp>
        <p:nvSpPr>
          <p:cNvPr id="61" name="Shape 59"/>
          <p:cNvSpPr/>
          <p:nvPr/>
        </p:nvSpPr>
        <p:spPr>
          <a:xfrm>
            <a:off x="5120640" y="3273552"/>
            <a:ext cx="201168" cy="201168"/>
          </a:xfrm>
          <a:prstGeom prst="ellipse">
            <a:avLst/>
          </a:prstGeom>
          <a:solidFill>
            <a:srgbClr val="D4A017"/>
          </a:solidFill>
          <a:ln w="12700">
            <a:solidFill>
              <a:srgbClr val="D4A017"/>
            </a:solidFill>
            <a:prstDash val="solid"/>
          </a:ln>
        </p:spPr>
      </p:sp>
      <p:sp>
        <p:nvSpPr>
          <p:cNvPr id="62" name="Text 60"/>
          <p:cNvSpPr/>
          <p:nvPr/>
        </p:nvSpPr>
        <p:spPr>
          <a:xfrm>
            <a:off x="5120640" y="3273552"/>
            <a:ext cx="201168" cy="201168"/>
          </a:xfrm>
          <a:prstGeom prst="rect">
            <a:avLst/>
          </a:prstGeom>
          <a:noFill/>
          <a:ln/>
        </p:spPr>
        <p:txBody>
          <a:bodyPr wrap="square" lIns="0" tIns="0" rIns="0" bIns="0" rtlCol="0" anchor="ctr"/>
          <a:lstStyle/>
          <a:p>
            <a:pPr algn="ctr" indent="0" marL="0">
              <a:buNone/>
            </a:pPr>
            <a:r>
              <a:rPr lang="en-US" sz="750" b="1" dirty="0">
                <a:solidFill>
                  <a:srgbClr val="1A0A1E"/>
                </a:solidFill>
                <a:latin typeface="Calibri" pitchFamily="34" charset="0"/>
                <a:ea typeface="Calibri" pitchFamily="34" charset="-122"/>
                <a:cs typeface="Calibri" pitchFamily="34" charset="-120"/>
              </a:rPr>
              <a:t>7</a:t>
            </a:r>
            <a:endParaRPr lang="en-US" sz="750" dirty="0"/>
          </a:p>
        </p:txBody>
      </p:sp>
      <p:sp>
        <p:nvSpPr>
          <p:cNvPr id="63" name="Text 61"/>
          <p:cNvSpPr/>
          <p:nvPr/>
        </p:nvSpPr>
        <p:spPr>
          <a:xfrm>
            <a:off x="5376672" y="3273552"/>
            <a:ext cx="3364992" cy="237744"/>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Double-click in Output Viewer to open Chart Editor</a:t>
            </a:r>
            <a:endParaRPr lang="en-US" sz="850" dirty="0"/>
          </a:p>
        </p:txBody>
      </p:sp>
      <p:sp>
        <p:nvSpPr>
          <p:cNvPr id="64" name="Shape 62"/>
          <p:cNvSpPr/>
          <p:nvPr/>
        </p:nvSpPr>
        <p:spPr>
          <a:xfrm>
            <a:off x="274320" y="3675888"/>
            <a:ext cx="8595360" cy="1426464"/>
          </a:xfrm>
          <a:prstGeom prst="roundRect">
            <a:avLst>
              <a:gd name="adj" fmla="val 5128"/>
            </a:avLst>
          </a:prstGeom>
          <a:solidFill>
            <a:srgbClr val="0D0820"/>
          </a:solidFill>
          <a:ln w="12700">
            <a:solidFill>
              <a:srgbClr val="7B2D8B"/>
            </a:solidFill>
            <a:prstDash val="solid"/>
          </a:ln>
        </p:spPr>
      </p:sp>
      <p:sp>
        <p:nvSpPr>
          <p:cNvPr id="65" name="Text 63"/>
          <p:cNvSpPr/>
          <p:nvPr/>
        </p:nvSpPr>
        <p:spPr>
          <a:xfrm>
            <a:off x="402336" y="3749040"/>
            <a:ext cx="8321040" cy="256032"/>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CHART EDITOR  -  Double-click any chart in Output Viewer</a:t>
            </a:r>
            <a:endParaRPr lang="en-US" sz="1100" dirty="0"/>
          </a:p>
        </p:txBody>
      </p:sp>
      <p:sp>
        <p:nvSpPr>
          <p:cNvPr id="66" name="Text 64"/>
          <p:cNvSpPr/>
          <p:nvPr/>
        </p:nvSpPr>
        <p:spPr>
          <a:xfrm>
            <a:off x="402336" y="4041648"/>
            <a:ext cx="2834640" cy="237744"/>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 Change chart type after creation</a:t>
            </a:r>
            <a:endParaRPr lang="en-US" sz="900" dirty="0"/>
          </a:p>
        </p:txBody>
      </p:sp>
      <p:sp>
        <p:nvSpPr>
          <p:cNvPr id="67" name="Text 65"/>
          <p:cNvSpPr/>
          <p:nvPr/>
        </p:nvSpPr>
        <p:spPr>
          <a:xfrm>
            <a:off x="3310128" y="4041648"/>
            <a:ext cx="2834640" cy="237744"/>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 Add/remove reference lines</a:t>
            </a:r>
            <a:endParaRPr lang="en-US" sz="900" dirty="0"/>
          </a:p>
        </p:txBody>
      </p:sp>
      <p:sp>
        <p:nvSpPr>
          <p:cNvPr id="68" name="Text 66"/>
          <p:cNvSpPr/>
          <p:nvPr/>
        </p:nvSpPr>
        <p:spPr>
          <a:xfrm>
            <a:off x="6217920" y="4041648"/>
            <a:ext cx="2834640" cy="237744"/>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 Change bar/line colours</a:t>
            </a:r>
            <a:endParaRPr lang="en-US" sz="900" dirty="0"/>
          </a:p>
        </p:txBody>
      </p:sp>
      <p:sp>
        <p:nvSpPr>
          <p:cNvPr id="69" name="Text 67"/>
          <p:cNvSpPr/>
          <p:nvPr/>
        </p:nvSpPr>
        <p:spPr>
          <a:xfrm>
            <a:off x="402336" y="4297680"/>
            <a:ext cx="2834640" cy="237744"/>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 Add data labels (values on bars)</a:t>
            </a:r>
            <a:endParaRPr lang="en-US" sz="900" dirty="0"/>
          </a:p>
        </p:txBody>
      </p:sp>
      <p:sp>
        <p:nvSpPr>
          <p:cNvPr id="70" name="Text 68"/>
          <p:cNvSpPr/>
          <p:nvPr/>
        </p:nvSpPr>
        <p:spPr>
          <a:xfrm>
            <a:off x="3310128" y="4297680"/>
            <a:ext cx="2834640" cy="237744"/>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 Change axis scale and tick marks</a:t>
            </a:r>
            <a:endParaRPr lang="en-US" sz="900" dirty="0"/>
          </a:p>
        </p:txBody>
      </p:sp>
      <p:sp>
        <p:nvSpPr>
          <p:cNvPr id="71" name="Text 69"/>
          <p:cNvSpPr/>
          <p:nvPr/>
        </p:nvSpPr>
        <p:spPr>
          <a:xfrm>
            <a:off x="6217920" y="4297680"/>
            <a:ext cx="2834640" cy="237744"/>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 Apply chart templates for consistent style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5C1A6B">
              <a:alpha val="20000"/>
            </a:srgbClr>
          </a:solidFill>
          <a:ln w="12700">
            <a:solidFill>
              <a:srgbClr val="5C1A6B"/>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3  |  SECTION 09</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Advanced Graphics Options</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C8A8E8"/>
                </a:solidFill>
                <a:latin typeface="Calibri" pitchFamily="34" charset="0"/>
                <a:ea typeface="Calibri" pitchFamily="34" charset="-122"/>
                <a:cs typeface="Calibri" pitchFamily="34" charset="-120"/>
              </a:rPr>
              <a:t>Chart Editor, templates, and professional presentation-quality SPSS graphics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0A1E"/>
          </a:solidFill>
          <a:ln w="12700">
            <a:solidFill>
              <a:srgbClr val="1A0A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Advanced Chart Options - Professional Quality Output in SPSS</a:t>
            </a:r>
            <a:endParaRPr lang="en-US" sz="2100" dirty="0"/>
          </a:p>
        </p:txBody>
      </p:sp>
      <p:sp>
        <p:nvSpPr>
          <p:cNvPr id="4" name="Shape 2"/>
          <p:cNvSpPr/>
          <p:nvPr/>
        </p:nvSpPr>
        <p:spPr>
          <a:xfrm>
            <a:off x="228600" y="1005840"/>
            <a:ext cx="4160520" cy="1298448"/>
          </a:xfrm>
          <a:prstGeom prst="roundRect">
            <a:avLst>
              <a:gd name="adj" fmla="val 563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01752" y="1078992"/>
            <a:ext cx="4005072" cy="274320"/>
          </a:xfrm>
          <a:prstGeom prst="roundRect">
            <a:avLst>
              <a:gd name="adj" fmla="val 16667"/>
            </a:avLst>
          </a:prstGeom>
          <a:solidFill>
            <a:srgbClr val="5C1A6B"/>
          </a:solidFill>
          <a:ln w="12700">
            <a:solidFill>
              <a:srgbClr val="5C1A6B"/>
            </a:solidFill>
            <a:prstDash val="solid"/>
          </a:ln>
        </p:spPr>
      </p:sp>
      <p:sp>
        <p:nvSpPr>
          <p:cNvPr id="6" name="Text 4"/>
          <p:cNvSpPr/>
          <p:nvPr/>
        </p:nvSpPr>
        <p:spPr>
          <a:xfrm>
            <a:off x="301752" y="1078992"/>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Chart Templates (.sgt files)</a:t>
            </a:r>
            <a:endParaRPr lang="en-US" sz="1050" dirty="0"/>
          </a:p>
        </p:txBody>
      </p:sp>
      <p:sp>
        <p:nvSpPr>
          <p:cNvPr id="7" name="Text 5"/>
          <p:cNvSpPr/>
          <p:nvPr/>
        </p:nvSpPr>
        <p:spPr>
          <a:xfrm>
            <a:off x="320040" y="1408176"/>
            <a:ext cx="3950208" cy="47548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Save any chart's formatting (colours, fonts, labels, axis format) as a template. Apply to future charts for consistent visual style across all your reports.</a:t>
            </a:r>
            <a:endParaRPr lang="en-US" sz="900" dirty="0"/>
          </a:p>
        </p:txBody>
      </p:sp>
      <p:sp>
        <p:nvSpPr>
          <p:cNvPr id="8" name="Text 6"/>
          <p:cNvSpPr/>
          <p:nvPr/>
        </p:nvSpPr>
        <p:spPr>
          <a:xfrm>
            <a:off x="320040" y="1901952"/>
            <a:ext cx="3950208" cy="329184"/>
          </a:xfrm>
          <a:prstGeom prst="rect">
            <a:avLst/>
          </a:prstGeom>
          <a:noFill/>
          <a:ln/>
        </p:spPr>
        <p:txBody>
          <a:bodyPr wrap="square" lIns="0" tIns="0" rIns="0" bIns="0" rtlCol="0" anchor="ctr"/>
          <a:lstStyle/>
          <a:p>
            <a:pPr indent="0" marL="0">
              <a:buNone/>
            </a:pPr>
            <a:r>
              <a:rPr lang="en-US" sz="850" b="1" dirty="0">
                <a:solidFill>
                  <a:srgbClr val="5C1A6B"/>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Create a UAC Foods brand template with corporate colours and font. Apply to every chart in the analysis report for professional consistency.</a:t>
            </a:r>
            <a:endParaRPr lang="en-US" sz="850" dirty="0"/>
          </a:p>
        </p:txBody>
      </p:sp>
      <p:sp>
        <p:nvSpPr>
          <p:cNvPr id="9" name="Shape 7"/>
          <p:cNvSpPr/>
          <p:nvPr/>
        </p:nvSpPr>
        <p:spPr>
          <a:xfrm>
            <a:off x="4690872" y="1005840"/>
            <a:ext cx="4160520" cy="1298448"/>
          </a:xfrm>
          <a:prstGeom prst="roundRect">
            <a:avLst>
              <a:gd name="adj" fmla="val 563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0" name="Shape 8"/>
          <p:cNvSpPr/>
          <p:nvPr/>
        </p:nvSpPr>
        <p:spPr>
          <a:xfrm>
            <a:off x="4764024" y="1078992"/>
            <a:ext cx="4005072" cy="274320"/>
          </a:xfrm>
          <a:prstGeom prst="roundRect">
            <a:avLst>
              <a:gd name="adj" fmla="val 16667"/>
            </a:avLst>
          </a:prstGeom>
          <a:solidFill>
            <a:srgbClr val="2471A3"/>
          </a:solidFill>
          <a:ln w="12700">
            <a:solidFill>
              <a:srgbClr val="2471A3"/>
            </a:solidFill>
            <a:prstDash val="solid"/>
          </a:ln>
        </p:spPr>
      </p:sp>
      <p:sp>
        <p:nvSpPr>
          <p:cNvPr id="11" name="Text 9"/>
          <p:cNvSpPr/>
          <p:nvPr/>
        </p:nvSpPr>
        <p:spPr>
          <a:xfrm>
            <a:off x="4764024" y="1078992"/>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Adding Reference Lines</a:t>
            </a:r>
            <a:endParaRPr lang="en-US" sz="1050" dirty="0"/>
          </a:p>
        </p:txBody>
      </p:sp>
      <p:sp>
        <p:nvSpPr>
          <p:cNvPr id="12" name="Text 10"/>
          <p:cNvSpPr/>
          <p:nvPr/>
        </p:nvSpPr>
        <p:spPr>
          <a:xfrm>
            <a:off x="4782312" y="1408176"/>
            <a:ext cx="3950208" cy="47548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Add horizontal or vertical reference lines to charts to show benchmarks, means, or threshold values. Right-click axis in Chart Editor &gt; Add Reference Line.</a:t>
            </a:r>
            <a:endParaRPr lang="en-US" sz="900" dirty="0"/>
          </a:p>
        </p:txBody>
      </p:sp>
      <p:sp>
        <p:nvSpPr>
          <p:cNvPr id="13" name="Text 11"/>
          <p:cNvSpPr/>
          <p:nvPr/>
        </p:nvSpPr>
        <p:spPr>
          <a:xfrm>
            <a:off x="4782312" y="1901952"/>
            <a:ext cx="3950208" cy="329184"/>
          </a:xfrm>
          <a:prstGeom prst="rect">
            <a:avLst/>
          </a:prstGeom>
          <a:noFill/>
          <a:ln/>
        </p:spPr>
        <p:txBody>
          <a:bodyPr wrap="square" lIns="0" tIns="0" rIns="0" bIns="0" rtlCol="0" anchor="ctr"/>
          <a:lstStyle/>
          <a:p>
            <a:pPr indent="0" marL="0">
              <a:buNone/>
            </a:pPr>
            <a:r>
              <a:rPr lang="en-US" sz="850" b="1" dirty="0">
                <a:solidFill>
                  <a:srgbClr val="2471A3"/>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Add a horizontal line at satisfaction score = 3.5 (threshold between 'acceptable' and 'good') on bar charts comparing departments.</a:t>
            </a:r>
            <a:endParaRPr lang="en-US" sz="850" dirty="0"/>
          </a:p>
        </p:txBody>
      </p:sp>
      <p:sp>
        <p:nvSpPr>
          <p:cNvPr id="14" name="Shape 12"/>
          <p:cNvSpPr/>
          <p:nvPr/>
        </p:nvSpPr>
        <p:spPr>
          <a:xfrm>
            <a:off x="228600" y="2395728"/>
            <a:ext cx="4160520" cy="1298448"/>
          </a:xfrm>
          <a:prstGeom prst="roundRect">
            <a:avLst>
              <a:gd name="adj" fmla="val 563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5" name="Shape 13"/>
          <p:cNvSpPr/>
          <p:nvPr/>
        </p:nvSpPr>
        <p:spPr>
          <a:xfrm>
            <a:off x="301752" y="2468880"/>
            <a:ext cx="4005072" cy="274320"/>
          </a:xfrm>
          <a:prstGeom prst="roundRect">
            <a:avLst>
              <a:gd name="adj" fmla="val 16667"/>
            </a:avLst>
          </a:prstGeom>
          <a:solidFill>
            <a:srgbClr val="0E7C7B"/>
          </a:solidFill>
          <a:ln w="12700">
            <a:solidFill>
              <a:srgbClr val="0E7C7B"/>
            </a:solidFill>
            <a:prstDash val="solid"/>
          </a:ln>
        </p:spPr>
      </p:sp>
      <p:sp>
        <p:nvSpPr>
          <p:cNvPr id="16" name="Text 14"/>
          <p:cNvSpPr/>
          <p:nvPr/>
        </p:nvSpPr>
        <p:spPr>
          <a:xfrm>
            <a:off x="301752" y="2468880"/>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Editing Chart Axes</a:t>
            </a:r>
            <a:endParaRPr lang="en-US" sz="1050" dirty="0"/>
          </a:p>
        </p:txBody>
      </p:sp>
      <p:sp>
        <p:nvSpPr>
          <p:cNvPr id="17" name="Text 15"/>
          <p:cNvSpPr/>
          <p:nvPr/>
        </p:nvSpPr>
        <p:spPr>
          <a:xfrm>
            <a:off x="320040" y="2798064"/>
            <a:ext cx="3950208" cy="47548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Double-click any axis in Chart Editor to modify: scale range (minimum and maximum), tick marks, axis title, number format, gridlines.</a:t>
            </a:r>
            <a:endParaRPr lang="en-US" sz="900" dirty="0"/>
          </a:p>
        </p:txBody>
      </p:sp>
      <p:sp>
        <p:nvSpPr>
          <p:cNvPr id="18" name="Text 16"/>
          <p:cNvSpPr/>
          <p:nvPr/>
        </p:nvSpPr>
        <p:spPr>
          <a:xfrm>
            <a:off x="320040" y="3291840"/>
            <a:ext cx="3950208" cy="329184"/>
          </a:xfrm>
          <a:prstGeom prst="rect">
            <a:avLst/>
          </a:prstGeom>
          <a:noFill/>
          <a:ln/>
        </p:spPr>
        <p:txBody>
          <a:bodyPr wrap="square" lIns="0" tIns="0" rIns="0" bIns="0" rtlCol="0" anchor="ctr"/>
          <a:lstStyle/>
          <a:p>
            <a:pPr indent="0" marL="0">
              <a:buNone/>
            </a:pPr>
            <a:r>
              <a:rPr lang="en-US" sz="850" b="1" dirty="0">
                <a:solidFill>
                  <a:srgbClr val="0E7C7B"/>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Set Y axis minimum = 1.0 and maximum = 5.0 for all satisfaction charts so they are directly comparable. Add axis title: 'Mean Satisfaction Score (1-5)'.</a:t>
            </a:r>
            <a:endParaRPr lang="en-US" sz="850" dirty="0"/>
          </a:p>
        </p:txBody>
      </p:sp>
      <p:sp>
        <p:nvSpPr>
          <p:cNvPr id="19" name="Shape 17"/>
          <p:cNvSpPr/>
          <p:nvPr/>
        </p:nvSpPr>
        <p:spPr>
          <a:xfrm>
            <a:off x="4690872" y="2395728"/>
            <a:ext cx="4160520" cy="1298448"/>
          </a:xfrm>
          <a:prstGeom prst="roundRect">
            <a:avLst>
              <a:gd name="adj" fmla="val 563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0" name="Shape 18"/>
          <p:cNvSpPr/>
          <p:nvPr/>
        </p:nvSpPr>
        <p:spPr>
          <a:xfrm>
            <a:off x="4764024" y="2468880"/>
            <a:ext cx="4005072" cy="274320"/>
          </a:xfrm>
          <a:prstGeom prst="roundRect">
            <a:avLst>
              <a:gd name="adj" fmla="val 16667"/>
            </a:avLst>
          </a:prstGeom>
          <a:solidFill>
            <a:srgbClr val="E67E22"/>
          </a:solidFill>
          <a:ln w="12700">
            <a:solidFill>
              <a:srgbClr val="E67E22"/>
            </a:solidFill>
            <a:prstDash val="solid"/>
          </a:ln>
        </p:spPr>
      </p:sp>
      <p:sp>
        <p:nvSpPr>
          <p:cNvPr id="21" name="Text 19"/>
          <p:cNvSpPr/>
          <p:nvPr/>
        </p:nvSpPr>
        <p:spPr>
          <a:xfrm>
            <a:off x="4764024" y="2468880"/>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Adding Data Labels</a:t>
            </a:r>
            <a:endParaRPr lang="en-US" sz="1050" dirty="0"/>
          </a:p>
        </p:txBody>
      </p:sp>
      <p:sp>
        <p:nvSpPr>
          <p:cNvPr id="22" name="Text 20"/>
          <p:cNvSpPr/>
          <p:nvPr/>
        </p:nvSpPr>
        <p:spPr>
          <a:xfrm>
            <a:off x="4782312" y="2798064"/>
            <a:ext cx="3950208" cy="47548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Add the actual values as labels directly on bars, lines, or pie slices. Eliminate the need for the reader to approximate from the axis.</a:t>
            </a:r>
            <a:endParaRPr lang="en-US" sz="900" dirty="0"/>
          </a:p>
        </p:txBody>
      </p:sp>
      <p:sp>
        <p:nvSpPr>
          <p:cNvPr id="23" name="Text 21"/>
          <p:cNvSpPr/>
          <p:nvPr/>
        </p:nvSpPr>
        <p:spPr>
          <a:xfrm>
            <a:off x="4782312" y="3291840"/>
            <a:ext cx="3950208" cy="329184"/>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Add percentage labels directly on pie chart slices so readers see '38.2%' on the Gala Sausage slice without needing the legend.</a:t>
            </a:r>
            <a:endParaRPr lang="en-US" sz="850" dirty="0"/>
          </a:p>
        </p:txBody>
      </p:sp>
      <p:sp>
        <p:nvSpPr>
          <p:cNvPr id="24" name="Shape 22"/>
          <p:cNvSpPr/>
          <p:nvPr/>
        </p:nvSpPr>
        <p:spPr>
          <a:xfrm>
            <a:off x="228600" y="3785616"/>
            <a:ext cx="4160520" cy="1298448"/>
          </a:xfrm>
          <a:prstGeom prst="roundRect">
            <a:avLst>
              <a:gd name="adj" fmla="val 563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5" name="Shape 23"/>
          <p:cNvSpPr/>
          <p:nvPr/>
        </p:nvSpPr>
        <p:spPr>
          <a:xfrm>
            <a:off x="301752" y="3858768"/>
            <a:ext cx="4005072" cy="274320"/>
          </a:xfrm>
          <a:prstGeom prst="roundRect">
            <a:avLst>
              <a:gd name="adj" fmla="val 16667"/>
            </a:avLst>
          </a:prstGeom>
          <a:solidFill>
            <a:srgbClr val="1A7A4A"/>
          </a:solidFill>
          <a:ln w="12700">
            <a:solidFill>
              <a:srgbClr val="1A7A4A"/>
            </a:solidFill>
            <a:prstDash val="solid"/>
          </a:ln>
        </p:spPr>
      </p:sp>
      <p:sp>
        <p:nvSpPr>
          <p:cNvPr id="26" name="Text 24"/>
          <p:cNvSpPr/>
          <p:nvPr/>
        </p:nvSpPr>
        <p:spPr>
          <a:xfrm>
            <a:off x="301752" y="3858768"/>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Scatterplot with Fit Line</a:t>
            </a:r>
            <a:endParaRPr lang="en-US" sz="1050" dirty="0"/>
          </a:p>
        </p:txBody>
      </p:sp>
      <p:sp>
        <p:nvSpPr>
          <p:cNvPr id="27" name="Text 25"/>
          <p:cNvSpPr/>
          <p:nvPr/>
        </p:nvSpPr>
        <p:spPr>
          <a:xfrm>
            <a:off x="320040" y="4187952"/>
            <a:ext cx="3950208" cy="47548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Add a regression line (Linear Fit) to a scatterplot to visually show the direction and strength of the relationship before running formal correlation analysis.</a:t>
            </a:r>
            <a:endParaRPr lang="en-US" sz="900" dirty="0"/>
          </a:p>
        </p:txBody>
      </p:sp>
      <p:sp>
        <p:nvSpPr>
          <p:cNvPr id="28" name="Text 26"/>
          <p:cNvSpPr/>
          <p:nvPr/>
        </p:nvSpPr>
        <p:spPr>
          <a:xfrm>
            <a:off x="320040" y="4681728"/>
            <a:ext cx="3950208" cy="329184"/>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Scatterplot of age_in_years (X) vs sat_mean (Y) with linear fit line. Visual slope gives immediate impression of relationship direction.</a:t>
            </a:r>
            <a:endParaRPr lang="en-US" sz="850" dirty="0"/>
          </a:p>
        </p:txBody>
      </p:sp>
      <p:sp>
        <p:nvSpPr>
          <p:cNvPr id="29" name="Shape 27"/>
          <p:cNvSpPr/>
          <p:nvPr/>
        </p:nvSpPr>
        <p:spPr>
          <a:xfrm>
            <a:off x="4690872" y="3785616"/>
            <a:ext cx="4160520" cy="1298448"/>
          </a:xfrm>
          <a:prstGeom prst="roundRect">
            <a:avLst>
              <a:gd name="adj" fmla="val 5634"/>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30" name="Shape 28"/>
          <p:cNvSpPr/>
          <p:nvPr/>
        </p:nvSpPr>
        <p:spPr>
          <a:xfrm>
            <a:off x="4764024" y="3858768"/>
            <a:ext cx="4005072" cy="274320"/>
          </a:xfrm>
          <a:prstGeom prst="roundRect">
            <a:avLst>
              <a:gd name="adj" fmla="val 16667"/>
            </a:avLst>
          </a:prstGeom>
          <a:solidFill>
            <a:srgbClr val="7B2D8B"/>
          </a:solidFill>
          <a:ln w="12700">
            <a:solidFill>
              <a:srgbClr val="7B2D8B"/>
            </a:solidFill>
            <a:prstDash val="solid"/>
          </a:ln>
        </p:spPr>
      </p:sp>
      <p:sp>
        <p:nvSpPr>
          <p:cNvPr id="31" name="Text 29"/>
          <p:cNvSpPr/>
          <p:nvPr/>
        </p:nvSpPr>
        <p:spPr>
          <a:xfrm>
            <a:off x="4764024" y="3858768"/>
            <a:ext cx="4005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Exporting Charts</a:t>
            </a:r>
            <a:endParaRPr lang="en-US" sz="1050" dirty="0"/>
          </a:p>
        </p:txBody>
      </p:sp>
      <p:sp>
        <p:nvSpPr>
          <p:cNvPr id="32" name="Text 30"/>
          <p:cNvSpPr/>
          <p:nvPr/>
        </p:nvSpPr>
        <p:spPr>
          <a:xfrm>
            <a:off x="4782312" y="4187952"/>
            <a:ext cx="3950208" cy="475488"/>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Export charts from the Output Viewer as image files (.png, .jpg, .eps) for insertion into Word, PowerPoint, or PDF reports. Right-click chart &gt; Export.</a:t>
            </a:r>
            <a:endParaRPr lang="en-US" sz="900" dirty="0"/>
          </a:p>
        </p:txBody>
      </p:sp>
      <p:sp>
        <p:nvSpPr>
          <p:cNvPr id="33" name="Text 31"/>
          <p:cNvSpPr/>
          <p:nvPr/>
        </p:nvSpPr>
        <p:spPr>
          <a:xfrm>
            <a:off x="4782312" y="4681728"/>
            <a:ext cx="3950208" cy="329184"/>
          </a:xfrm>
          <a:prstGeom prst="rect">
            <a:avLst/>
          </a:prstGeom>
          <a:noFill/>
          <a:ln/>
        </p:spPr>
        <p:txBody>
          <a:bodyPr wrap="square" lIns="0" tIns="0" rIns="0" bIns="0" rtlCol="0" anchor="ctr"/>
          <a:lstStyle/>
          <a:p>
            <a:pPr indent="0" marL="0">
              <a:buNone/>
            </a:pPr>
            <a:r>
              <a:rPr lang="en-US" sz="850" b="1" dirty="0">
                <a:solidFill>
                  <a:srgbClr val="7B2D8B"/>
                </a:solidFill>
                <a:latin typeface="Calibri" pitchFamily="34" charset="0"/>
                <a:ea typeface="Calibri" pitchFamily="34" charset="-122"/>
                <a:cs typeface="Calibri" pitchFamily="34" charset="-120"/>
              </a:rPr>
              <a:t>UAC: </a:t>
            </a:r>
            <a:pPr indent="0" marL="0">
              <a:buNone/>
            </a:pPr>
            <a:r>
              <a:rPr lang="en-US" sz="850" i="1" dirty="0">
                <a:solidFill>
                  <a:srgbClr val="64748B"/>
                </a:solidFill>
                <a:latin typeface="Calibri" pitchFamily="34" charset="0"/>
                <a:ea typeface="Calibri" pitchFamily="34" charset="-122"/>
                <a:cs typeface="Calibri" pitchFamily="34" charset="-120"/>
              </a:rPr>
              <a:t>Export all 8 UAC Foods charts as high-resolution PNG files at 300 DPI for insertion into the final client report.</a:t>
            </a:r>
            <a:endParaRPr lang="en-US" sz="850" dirty="0"/>
          </a:p>
        </p:txBody>
      </p:sp>
      <p:sp>
        <p:nvSpPr>
          <p:cNvPr id="34" name="Shape 32"/>
          <p:cNvSpPr/>
          <p:nvPr/>
        </p:nvSpPr>
        <p:spPr>
          <a:xfrm>
            <a:off x="256032" y="5102352"/>
            <a:ext cx="8631936" cy="384048"/>
          </a:xfrm>
          <a:prstGeom prst="roundRect">
            <a:avLst>
              <a:gd name="adj" fmla="val 14286"/>
            </a:avLst>
          </a:prstGeom>
          <a:solidFill>
            <a:srgbClr val="FFFBEC"/>
          </a:solidFill>
          <a:ln w="19050">
            <a:solidFill>
              <a:srgbClr val="D4A017"/>
            </a:solidFill>
            <a:prstDash val="solid"/>
          </a:ln>
        </p:spPr>
      </p:sp>
      <p:sp>
        <p:nvSpPr>
          <p:cNvPr id="35" name="Text 33"/>
          <p:cNvSpPr/>
          <p:nvPr/>
        </p:nvSpPr>
        <p:spPr>
          <a:xfrm>
            <a:off x="384048" y="5102352"/>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Professional standard: All charts should have: a descriptive title, labelled axes with units, data labels OR clear scale, legend if multiple series, and N reported either in caption or title.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5C1A6B">
              <a:alpha val="20000"/>
            </a:srgbClr>
          </a:solidFill>
          <a:ln w="12700">
            <a:solidFill>
              <a:srgbClr val="5C1A6B"/>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3  |  SECTION 10</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Correlation Analysis</a:t>
            </a:r>
            <a:endParaRPr lang="en-US" sz="40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C8A8E8"/>
                </a:solidFill>
                <a:latin typeface="Calibri" pitchFamily="34" charset="0"/>
                <a:ea typeface="Calibri" pitchFamily="34" charset="-122"/>
                <a:cs typeface="Calibri" pitchFamily="34" charset="-120"/>
              </a:rPr>
              <a:t>Measuring the strength and direction of relationships between variables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5C1A6B"/>
          </a:solidFill>
          <a:ln w="12700">
            <a:solidFill>
              <a:srgbClr val="5C1A6B"/>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Pearson Correlation - Measuring Linear Relationships Between Scale Variables</a:t>
            </a:r>
            <a:endParaRPr lang="en-US" sz="2100" dirty="0"/>
          </a:p>
        </p:txBody>
      </p:sp>
      <p:sp>
        <p:nvSpPr>
          <p:cNvPr id="4" name="Shape 2"/>
          <p:cNvSpPr/>
          <p:nvPr/>
        </p:nvSpPr>
        <p:spPr>
          <a:xfrm>
            <a:off x="256032" y="1024128"/>
            <a:ext cx="8631936" cy="658368"/>
          </a:xfrm>
          <a:prstGeom prst="roundRect">
            <a:avLst>
              <a:gd name="adj" fmla="val 11111"/>
            </a:avLst>
          </a:prstGeom>
          <a:solidFill>
            <a:srgbClr val="F8F0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42416"/>
            <a:ext cx="8321040" cy="603504"/>
          </a:xfrm>
          <a:prstGeom prst="rect">
            <a:avLst/>
          </a:prstGeom>
          <a:noFill/>
          <a:ln/>
        </p:spPr>
        <p:txBody>
          <a:bodyPr wrap="square" lIns="0" tIns="0" rIns="0" bIns="0" rtlCol="0" anchor="ctr"/>
          <a:lstStyle/>
          <a:p>
            <a:pPr indent="0" marL="0">
              <a:buNone/>
            </a:pPr>
            <a:r>
              <a:rPr lang="en-US" sz="1050" b="1" dirty="0">
                <a:solidFill>
                  <a:srgbClr val="5C1A6B"/>
                </a:solidFill>
                <a:latin typeface="Calibri" pitchFamily="34" charset="0"/>
                <a:ea typeface="Calibri" pitchFamily="34" charset="-122"/>
                <a:cs typeface="Calibri" pitchFamily="34" charset="-120"/>
              </a:rPr>
              <a:t>Pearson r: </a:t>
            </a:r>
            <a:pPr indent="0" marL="0">
              <a:buNone/>
            </a:pPr>
            <a:r>
              <a:rPr lang="en-US" sz="1050" dirty="0">
                <a:solidFill>
                  <a:srgbClr val="2C1F3E"/>
                </a:solidFill>
                <a:latin typeface="Calibri" pitchFamily="34" charset="0"/>
                <a:ea typeface="Calibri" pitchFamily="34" charset="-122"/>
                <a:cs typeface="Calibri" pitchFamily="34" charset="-120"/>
              </a:rPr>
              <a:t>Measures the strength and direction of the LINEAR relationship between two scale (interval or ratio) variables. Ranges from -1.0 (perfect negative) through 0 (no relationship) to +1.0 (perfect positive). ALWAYS check a scatterplot first to confirm linearity.</a:t>
            </a:r>
            <a:endParaRPr lang="en-US" sz="1050" dirty="0"/>
          </a:p>
        </p:txBody>
      </p:sp>
      <p:sp>
        <p:nvSpPr>
          <p:cNvPr id="6" name="Shape 4"/>
          <p:cNvSpPr/>
          <p:nvPr/>
        </p:nvSpPr>
        <p:spPr>
          <a:xfrm>
            <a:off x="256032" y="1773936"/>
            <a:ext cx="2926080" cy="2359152"/>
          </a:xfrm>
          <a:prstGeom prst="roundRect">
            <a:avLst>
              <a:gd name="adj" fmla="val 3488"/>
            </a:avLst>
          </a:prstGeom>
          <a:solidFill>
            <a:srgbClr val="F8F0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7" name="Text 5"/>
          <p:cNvSpPr/>
          <p:nvPr/>
        </p:nvSpPr>
        <p:spPr>
          <a:xfrm>
            <a:off x="365760" y="1847088"/>
            <a:ext cx="2743200" cy="256032"/>
          </a:xfrm>
          <a:prstGeom prst="rect">
            <a:avLst/>
          </a:prstGeom>
          <a:noFill/>
          <a:ln/>
        </p:spPr>
        <p:txBody>
          <a:bodyPr wrap="square" lIns="0" tIns="0" rIns="0" bIns="0" rtlCol="0" anchor="ctr"/>
          <a:lstStyle/>
          <a:p>
            <a:pPr indent="0" marL="0">
              <a:buNone/>
            </a:pPr>
            <a:r>
              <a:rPr lang="en-US" sz="1100" b="1" dirty="0">
                <a:solidFill>
                  <a:srgbClr val="5C1A6B"/>
                </a:solidFill>
                <a:latin typeface="Calibri" pitchFamily="34" charset="0"/>
                <a:ea typeface="Calibri" pitchFamily="34" charset="-122"/>
                <a:cs typeface="Calibri" pitchFamily="34" charset="-120"/>
              </a:rPr>
              <a:t>Interpreting r:</a:t>
            </a:r>
            <a:endParaRPr lang="en-US" sz="1100" dirty="0"/>
          </a:p>
        </p:txBody>
      </p:sp>
      <p:sp>
        <p:nvSpPr>
          <p:cNvPr id="8" name="Shape 6"/>
          <p:cNvSpPr/>
          <p:nvPr/>
        </p:nvSpPr>
        <p:spPr>
          <a:xfrm>
            <a:off x="329184" y="2157984"/>
            <a:ext cx="2779776" cy="310896"/>
          </a:xfrm>
          <a:prstGeom prst="rect">
            <a:avLst/>
          </a:prstGeom>
          <a:solidFill>
            <a:srgbClr val="F0E8FF"/>
          </a:solidFill>
          <a:ln w="6350">
            <a:solidFill>
              <a:srgbClr val="D8C8ED"/>
            </a:solidFill>
            <a:prstDash val="solid"/>
          </a:ln>
        </p:spPr>
      </p:sp>
      <p:sp>
        <p:nvSpPr>
          <p:cNvPr id="9" name="Text 7"/>
          <p:cNvSpPr/>
          <p:nvPr/>
        </p:nvSpPr>
        <p:spPr>
          <a:xfrm>
            <a:off x="402336" y="2176272"/>
            <a:ext cx="1261872" cy="256032"/>
          </a:xfrm>
          <a:prstGeom prst="rect">
            <a:avLst/>
          </a:prstGeom>
          <a:noFill/>
          <a:ln/>
        </p:spPr>
        <p:txBody>
          <a:bodyPr wrap="square" lIns="0" tIns="0" rIns="0" bIns="0" rtlCol="0" anchor="ctr"/>
          <a:lstStyle/>
          <a:p>
            <a:pPr indent="0" marL="0">
              <a:buNone/>
            </a:pPr>
            <a:r>
              <a:rPr lang="en-US" sz="900" b="1" dirty="0">
                <a:solidFill>
                  <a:srgbClr val="4A0080"/>
                </a:solidFill>
                <a:latin typeface="Calibri" pitchFamily="34" charset="0"/>
                <a:ea typeface="Calibri" pitchFamily="34" charset="-122"/>
                <a:cs typeface="Calibri" pitchFamily="34" charset="-120"/>
              </a:rPr>
              <a:t>±0.90 to ±1.00</a:t>
            </a:r>
            <a:endParaRPr lang="en-US" sz="900" dirty="0"/>
          </a:p>
        </p:txBody>
      </p:sp>
      <p:sp>
        <p:nvSpPr>
          <p:cNvPr id="10" name="Text 8"/>
          <p:cNvSpPr/>
          <p:nvPr/>
        </p:nvSpPr>
        <p:spPr>
          <a:xfrm>
            <a:off x="1700784" y="2176272"/>
            <a:ext cx="1280160" cy="256032"/>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Very Strong</a:t>
            </a:r>
            <a:endParaRPr lang="en-US" sz="900" dirty="0"/>
          </a:p>
        </p:txBody>
      </p:sp>
      <p:sp>
        <p:nvSpPr>
          <p:cNvPr id="11" name="Shape 9"/>
          <p:cNvSpPr/>
          <p:nvPr/>
        </p:nvSpPr>
        <p:spPr>
          <a:xfrm>
            <a:off x="329184" y="2487168"/>
            <a:ext cx="2779776" cy="310896"/>
          </a:xfrm>
          <a:prstGeom prst="rect">
            <a:avLst/>
          </a:prstGeom>
          <a:solidFill>
            <a:srgbClr val="FFFFFF"/>
          </a:solidFill>
          <a:ln w="6350">
            <a:solidFill>
              <a:srgbClr val="D8C8ED"/>
            </a:solidFill>
            <a:prstDash val="solid"/>
          </a:ln>
        </p:spPr>
      </p:sp>
      <p:sp>
        <p:nvSpPr>
          <p:cNvPr id="12" name="Text 10"/>
          <p:cNvSpPr/>
          <p:nvPr/>
        </p:nvSpPr>
        <p:spPr>
          <a:xfrm>
            <a:off x="402336" y="2505456"/>
            <a:ext cx="1261872" cy="256032"/>
          </a:xfrm>
          <a:prstGeom prst="rect">
            <a:avLst/>
          </a:prstGeom>
          <a:noFill/>
          <a:ln/>
        </p:spPr>
        <p:txBody>
          <a:bodyPr wrap="square" lIns="0" tIns="0" rIns="0" bIns="0" rtlCol="0" anchor="ctr"/>
          <a:lstStyle/>
          <a:p>
            <a:pPr indent="0" marL="0">
              <a:buNone/>
            </a:pPr>
            <a:r>
              <a:rPr lang="en-US" sz="900" b="1" dirty="0">
                <a:solidFill>
                  <a:srgbClr val="5C1A6B"/>
                </a:solidFill>
                <a:latin typeface="Calibri" pitchFamily="34" charset="0"/>
                <a:ea typeface="Calibri" pitchFamily="34" charset="-122"/>
                <a:cs typeface="Calibri" pitchFamily="34" charset="-120"/>
              </a:rPr>
              <a:t>±0.70 to ±0.89</a:t>
            </a:r>
            <a:endParaRPr lang="en-US" sz="900" dirty="0"/>
          </a:p>
        </p:txBody>
      </p:sp>
      <p:sp>
        <p:nvSpPr>
          <p:cNvPr id="13" name="Text 11"/>
          <p:cNvSpPr/>
          <p:nvPr/>
        </p:nvSpPr>
        <p:spPr>
          <a:xfrm>
            <a:off x="1700784" y="2505456"/>
            <a:ext cx="1280160" cy="256032"/>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Strong</a:t>
            </a:r>
            <a:endParaRPr lang="en-US" sz="900" dirty="0"/>
          </a:p>
        </p:txBody>
      </p:sp>
      <p:sp>
        <p:nvSpPr>
          <p:cNvPr id="14" name="Shape 12"/>
          <p:cNvSpPr/>
          <p:nvPr/>
        </p:nvSpPr>
        <p:spPr>
          <a:xfrm>
            <a:off x="329184" y="2816352"/>
            <a:ext cx="2779776" cy="310896"/>
          </a:xfrm>
          <a:prstGeom prst="rect">
            <a:avLst/>
          </a:prstGeom>
          <a:solidFill>
            <a:srgbClr val="F0E8FF"/>
          </a:solidFill>
          <a:ln w="6350">
            <a:solidFill>
              <a:srgbClr val="D8C8ED"/>
            </a:solidFill>
            <a:prstDash val="solid"/>
          </a:ln>
        </p:spPr>
      </p:sp>
      <p:sp>
        <p:nvSpPr>
          <p:cNvPr id="15" name="Text 13"/>
          <p:cNvSpPr/>
          <p:nvPr/>
        </p:nvSpPr>
        <p:spPr>
          <a:xfrm>
            <a:off x="402336" y="2834640"/>
            <a:ext cx="1261872" cy="256032"/>
          </a:xfrm>
          <a:prstGeom prst="rect">
            <a:avLst/>
          </a:prstGeom>
          <a:noFill/>
          <a:ln/>
        </p:spPr>
        <p:txBody>
          <a:bodyPr wrap="square" lIns="0" tIns="0" rIns="0" bIns="0" rtlCol="0" anchor="ctr"/>
          <a:lstStyle/>
          <a:p>
            <a:pPr indent="0" marL="0">
              <a:buNone/>
            </a:pPr>
            <a:r>
              <a:rPr lang="en-US" sz="900" b="1" dirty="0">
                <a:solidFill>
                  <a:srgbClr val="7B2D8B"/>
                </a:solidFill>
                <a:latin typeface="Calibri" pitchFamily="34" charset="0"/>
                <a:ea typeface="Calibri" pitchFamily="34" charset="-122"/>
                <a:cs typeface="Calibri" pitchFamily="34" charset="-120"/>
              </a:rPr>
              <a:t>±0.50 to ±0.69</a:t>
            </a:r>
            <a:endParaRPr lang="en-US" sz="900" dirty="0"/>
          </a:p>
        </p:txBody>
      </p:sp>
      <p:sp>
        <p:nvSpPr>
          <p:cNvPr id="16" name="Text 14"/>
          <p:cNvSpPr/>
          <p:nvPr/>
        </p:nvSpPr>
        <p:spPr>
          <a:xfrm>
            <a:off x="1700784" y="2834640"/>
            <a:ext cx="1280160" cy="256032"/>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Moderate-Strong</a:t>
            </a:r>
            <a:endParaRPr lang="en-US" sz="900" dirty="0"/>
          </a:p>
        </p:txBody>
      </p:sp>
      <p:sp>
        <p:nvSpPr>
          <p:cNvPr id="17" name="Shape 15"/>
          <p:cNvSpPr/>
          <p:nvPr/>
        </p:nvSpPr>
        <p:spPr>
          <a:xfrm>
            <a:off x="329184" y="3145536"/>
            <a:ext cx="2779776" cy="310896"/>
          </a:xfrm>
          <a:prstGeom prst="rect">
            <a:avLst/>
          </a:prstGeom>
          <a:solidFill>
            <a:srgbClr val="FFFFFF"/>
          </a:solidFill>
          <a:ln w="6350">
            <a:solidFill>
              <a:srgbClr val="D8C8ED"/>
            </a:solidFill>
            <a:prstDash val="solid"/>
          </a:ln>
        </p:spPr>
      </p:sp>
      <p:sp>
        <p:nvSpPr>
          <p:cNvPr id="18" name="Text 16"/>
          <p:cNvSpPr/>
          <p:nvPr/>
        </p:nvSpPr>
        <p:spPr>
          <a:xfrm>
            <a:off x="402336" y="3163824"/>
            <a:ext cx="1261872" cy="256032"/>
          </a:xfrm>
          <a:prstGeom prst="rect">
            <a:avLst/>
          </a:prstGeom>
          <a:noFill/>
          <a:ln/>
        </p:spPr>
        <p:txBody>
          <a:bodyPr wrap="square" lIns="0" tIns="0" rIns="0" bIns="0" rtlCol="0" anchor="ctr"/>
          <a:lstStyle/>
          <a:p>
            <a:pPr indent="0" marL="0">
              <a:buNone/>
            </a:pPr>
            <a:r>
              <a:rPr lang="en-US" sz="900" b="1" dirty="0">
                <a:solidFill>
                  <a:srgbClr val="2471A3"/>
                </a:solidFill>
                <a:latin typeface="Calibri" pitchFamily="34" charset="0"/>
                <a:ea typeface="Calibri" pitchFamily="34" charset="-122"/>
                <a:cs typeface="Calibri" pitchFamily="34" charset="-120"/>
              </a:rPr>
              <a:t>±0.30 to ±0.49</a:t>
            </a:r>
            <a:endParaRPr lang="en-US" sz="900" dirty="0"/>
          </a:p>
        </p:txBody>
      </p:sp>
      <p:sp>
        <p:nvSpPr>
          <p:cNvPr id="19" name="Text 17"/>
          <p:cNvSpPr/>
          <p:nvPr/>
        </p:nvSpPr>
        <p:spPr>
          <a:xfrm>
            <a:off x="1700784" y="3163824"/>
            <a:ext cx="1280160" cy="256032"/>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Moderate</a:t>
            </a:r>
            <a:endParaRPr lang="en-US" sz="900" dirty="0"/>
          </a:p>
        </p:txBody>
      </p:sp>
      <p:sp>
        <p:nvSpPr>
          <p:cNvPr id="20" name="Shape 18"/>
          <p:cNvSpPr/>
          <p:nvPr/>
        </p:nvSpPr>
        <p:spPr>
          <a:xfrm>
            <a:off x="329184" y="3474720"/>
            <a:ext cx="2779776" cy="310896"/>
          </a:xfrm>
          <a:prstGeom prst="rect">
            <a:avLst/>
          </a:prstGeom>
          <a:solidFill>
            <a:srgbClr val="F0E8FF"/>
          </a:solidFill>
          <a:ln w="6350">
            <a:solidFill>
              <a:srgbClr val="D8C8ED"/>
            </a:solidFill>
            <a:prstDash val="solid"/>
          </a:ln>
        </p:spPr>
      </p:sp>
      <p:sp>
        <p:nvSpPr>
          <p:cNvPr id="21" name="Text 19"/>
          <p:cNvSpPr/>
          <p:nvPr/>
        </p:nvSpPr>
        <p:spPr>
          <a:xfrm>
            <a:off x="402336" y="3493008"/>
            <a:ext cx="1261872" cy="256032"/>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±0.10 to ±0.29</a:t>
            </a:r>
            <a:endParaRPr lang="en-US" sz="900" dirty="0"/>
          </a:p>
        </p:txBody>
      </p:sp>
      <p:sp>
        <p:nvSpPr>
          <p:cNvPr id="22" name="Text 20"/>
          <p:cNvSpPr/>
          <p:nvPr/>
        </p:nvSpPr>
        <p:spPr>
          <a:xfrm>
            <a:off x="1700784" y="3493008"/>
            <a:ext cx="1280160" cy="256032"/>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Weak</a:t>
            </a:r>
            <a:endParaRPr lang="en-US" sz="900" dirty="0"/>
          </a:p>
        </p:txBody>
      </p:sp>
      <p:sp>
        <p:nvSpPr>
          <p:cNvPr id="23" name="Shape 21"/>
          <p:cNvSpPr/>
          <p:nvPr/>
        </p:nvSpPr>
        <p:spPr>
          <a:xfrm>
            <a:off x="329184" y="3803904"/>
            <a:ext cx="2779776" cy="310896"/>
          </a:xfrm>
          <a:prstGeom prst="rect">
            <a:avLst/>
          </a:prstGeom>
          <a:solidFill>
            <a:srgbClr val="FFFFFF"/>
          </a:solidFill>
          <a:ln w="6350">
            <a:solidFill>
              <a:srgbClr val="D8C8ED"/>
            </a:solidFill>
            <a:prstDash val="solid"/>
          </a:ln>
        </p:spPr>
      </p:sp>
      <p:sp>
        <p:nvSpPr>
          <p:cNvPr id="24" name="Text 22"/>
          <p:cNvSpPr/>
          <p:nvPr/>
        </p:nvSpPr>
        <p:spPr>
          <a:xfrm>
            <a:off x="402336" y="3822192"/>
            <a:ext cx="1261872" cy="25603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0.00 to ±0.09</a:t>
            </a:r>
            <a:endParaRPr lang="en-US" sz="900" dirty="0"/>
          </a:p>
        </p:txBody>
      </p:sp>
      <p:sp>
        <p:nvSpPr>
          <p:cNvPr id="25" name="Text 23"/>
          <p:cNvSpPr/>
          <p:nvPr/>
        </p:nvSpPr>
        <p:spPr>
          <a:xfrm>
            <a:off x="1700784" y="3822192"/>
            <a:ext cx="1280160" cy="256032"/>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None / Negligible</a:t>
            </a:r>
            <a:endParaRPr lang="en-US" sz="900" dirty="0"/>
          </a:p>
        </p:txBody>
      </p:sp>
      <p:sp>
        <p:nvSpPr>
          <p:cNvPr id="26" name="Shape 24"/>
          <p:cNvSpPr/>
          <p:nvPr/>
        </p:nvSpPr>
        <p:spPr>
          <a:xfrm>
            <a:off x="3364992" y="1773936"/>
            <a:ext cx="5486400" cy="2359152"/>
          </a:xfrm>
          <a:prstGeom prst="roundRect">
            <a:avLst>
              <a:gd name="adj" fmla="val 3488"/>
            </a:avLst>
          </a:prstGeom>
          <a:solidFill>
            <a:srgbClr val="F8F0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7" name="Text 25"/>
          <p:cNvSpPr/>
          <p:nvPr/>
        </p:nvSpPr>
        <p:spPr>
          <a:xfrm>
            <a:off x="3474720" y="1847088"/>
            <a:ext cx="5257800" cy="256032"/>
          </a:xfrm>
          <a:prstGeom prst="rect">
            <a:avLst/>
          </a:prstGeom>
          <a:noFill/>
          <a:ln/>
        </p:spPr>
        <p:txBody>
          <a:bodyPr wrap="square" lIns="0" tIns="0" rIns="0" bIns="0" rtlCol="0" anchor="ctr"/>
          <a:lstStyle/>
          <a:p>
            <a:pPr indent="0" marL="0">
              <a:buNone/>
            </a:pPr>
            <a:r>
              <a:rPr lang="en-US" sz="1100" b="1" dirty="0">
                <a:solidFill>
                  <a:srgbClr val="5C1A6B"/>
                </a:solidFill>
                <a:latin typeface="Calibri" pitchFamily="34" charset="0"/>
                <a:ea typeface="Calibri" pitchFamily="34" charset="-122"/>
                <a:cs typeface="Calibri" pitchFamily="34" charset="-120"/>
              </a:rPr>
              <a:t>UAC Foods - Correlation Matrix Output</a:t>
            </a:r>
            <a:endParaRPr lang="en-US" sz="1100" dirty="0"/>
          </a:p>
        </p:txBody>
      </p:sp>
      <p:sp>
        <p:nvSpPr>
          <p:cNvPr id="28" name="Shape 26"/>
          <p:cNvSpPr/>
          <p:nvPr/>
        </p:nvSpPr>
        <p:spPr>
          <a:xfrm>
            <a:off x="3438144" y="2157984"/>
            <a:ext cx="713232" cy="256032"/>
          </a:xfrm>
          <a:prstGeom prst="rect">
            <a:avLst/>
          </a:prstGeom>
          <a:solidFill>
            <a:srgbClr val="5C1A6B"/>
          </a:solidFill>
          <a:ln w="12700">
            <a:solidFill>
              <a:srgbClr val="5C1A6B"/>
            </a:solidFill>
            <a:prstDash val="solid"/>
          </a:ln>
        </p:spPr>
      </p:sp>
      <p:sp>
        <p:nvSpPr>
          <p:cNvPr id="29" name="Text 27"/>
          <p:cNvSpPr/>
          <p:nvPr/>
        </p:nvSpPr>
        <p:spPr>
          <a:xfrm>
            <a:off x="3438144" y="2157984"/>
            <a:ext cx="713232" cy="256032"/>
          </a:xfrm>
          <a:prstGeom prst="rect">
            <a:avLst/>
          </a:prstGeom>
          <a:noFill/>
          <a:ln/>
        </p:spPr>
        <p:txBody>
          <a:bodyPr wrap="square" lIns="0" tIns="0" rIns="0" bIns="0" rtlCol="0" anchor="ctr"/>
          <a:lstStyle/>
          <a:p>
            <a:pPr algn="ctr" indent="0" marL="0">
              <a:buNone/>
            </a:pPr>
            <a:endParaRPr lang="en-US" sz="800" dirty="0"/>
          </a:p>
        </p:txBody>
      </p:sp>
      <p:sp>
        <p:nvSpPr>
          <p:cNvPr id="30" name="Shape 28"/>
          <p:cNvSpPr/>
          <p:nvPr/>
        </p:nvSpPr>
        <p:spPr>
          <a:xfrm>
            <a:off x="4187952" y="2157984"/>
            <a:ext cx="749808" cy="256032"/>
          </a:xfrm>
          <a:prstGeom prst="rect">
            <a:avLst/>
          </a:prstGeom>
          <a:solidFill>
            <a:srgbClr val="5C1A6B"/>
          </a:solidFill>
          <a:ln w="12700">
            <a:solidFill>
              <a:srgbClr val="5C1A6B"/>
            </a:solidFill>
            <a:prstDash val="solid"/>
          </a:ln>
        </p:spPr>
      </p:sp>
      <p:sp>
        <p:nvSpPr>
          <p:cNvPr id="31" name="Text 29"/>
          <p:cNvSpPr/>
          <p:nvPr/>
        </p:nvSpPr>
        <p:spPr>
          <a:xfrm>
            <a:off x="4187952" y="2157984"/>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Age</a:t>
            </a:r>
            <a:endParaRPr lang="en-US" sz="800" dirty="0"/>
          </a:p>
        </p:txBody>
      </p:sp>
      <p:sp>
        <p:nvSpPr>
          <p:cNvPr id="32" name="Shape 30"/>
          <p:cNvSpPr/>
          <p:nvPr/>
        </p:nvSpPr>
        <p:spPr>
          <a:xfrm>
            <a:off x="4974336" y="2157984"/>
            <a:ext cx="950976" cy="256032"/>
          </a:xfrm>
          <a:prstGeom prst="rect">
            <a:avLst/>
          </a:prstGeom>
          <a:solidFill>
            <a:srgbClr val="5C1A6B"/>
          </a:solidFill>
          <a:ln w="12700">
            <a:solidFill>
              <a:srgbClr val="5C1A6B"/>
            </a:solidFill>
            <a:prstDash val="solid"/>
          </a:ln>
        </p:spPr>
      </p:sp>
      <p:sp>
        <p:nvSpPr>
          <p:cNvPr id="33" name="Text 31"/>
          <p:cNvSpPr/>
          <p:nvPr/>
        </p:nvSpPr>
        <p:spPr>
          <a:xfrm>
            <a:off x="4974336" y="2157984"/>
            <a:ext cx="950976"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Monthly Salary</a:t>
            </a:r>
            <a:endParaRPr lang="en-US" sz="800" dirty="0"/>
          </a:p>
        </p:txBody>
      </p:sp>
      <p:sp>
        <p:nvSpPr>
          <p:cNvPr id="34" name="Shape 32"/>
          <p:cNvSpPr/>
          <p:nvPr/>
        </p:nvSpPr>
        <p:spPr>
          <a:xfrm>
            <a:off x="5961888" y="2157984"/>
            <a:ext cx="950976" cy="256032"/>
          </a:xfrm>
          <a:prstGeom prst="rect">
            <a:avLst/>
          </a:prstGeom>
          <a:solidFill>
            <a:srgbClr val="5C1A6B"/>
          </a:solidFill>
          <a:ln w="12700">
            <a:solidFill>
              <a:srgbClr val="5C1A6B"/>
            </a:solidFill>
            <a:prstDash val="solid"/>
          </a:ln>
        </p:spPr>
      </p:sp>
      <p:sp>
        <p:nvSpPr>
          <p:cNvPr id="35" name="Text 33"/>
          <p:cNvSpPr/>
          <p:nvPr/>
        </p:nvSpPr>
        <p:spPr>
          <a:xfrm>
            <a:off x="5961888" y="2157984"/>
            <a:ext cx="950976"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Mean</a:t>
            </a:r>
            <a:endParaRPr lang="en-US" sz="800" dirty="0"/>
          </a:p>
        </p:txBody>
      </p:sp>
      <p:sp>
        <p:nvSpPr>
          <p:cNvPr id="36" name="Shape 34"/>
          <p:cNvSpPr/>
          <p:nvPr/>
        </p:nvSpPr>
        <p:spPr>
          <a:xfrm>
            <a:off x="6949440" y="2157984"/>
            <a:ext cx="914400" cy="256032"/>
          </a:xfrm>
          <a:prstGeom prst="rect">
            <a:avLst/>
          </a:prstGeom>
          <a:solidFill>
            <a:srgbClr val="5C1A6B"/>
          </a:solidFill>
          <a:ln w="12700">
            <a:solidFill>
              <a:srgbClr val="5C1A6B"/>
            </a:solidFill>
            <a:prstDash val="solid"/>
          </a:ln>
        </p:spPr>
      </p:sp>
      <p:sp>
        <p:nvSpPr>
          <p:cNvPr id="37" name="Text 35"/>
          <p:cNvSpPr/>
          <p:nvPr/>
        </p:nvSpPr>
        <p:spPr>
          <a:xfrm>
            <a:off x="6949440" y="2157984"/>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Repurchase</a:t>
            </a:r>
            <a:endParaRPr lang="en-US" sz="800" dirty="0"/>
          </a:p>
        </p:txBody>
      </p:sp>
      <p:sp>
        <p:nvSpPr>
          <p:cNvPr id="38" name="Shape 36"/>
          <p:cNvSpPr/>
          <p:nvPr/>
        </p:nvSpPr>
        <p:spPr>
          <a:xfrm>
            <a:off x="3438144" y="2432304"/>
            <a:ext cx="713232" cy="310896"/>
          </a:xfrm>
          <a:prstGeom prst="rect">
            <a:avLst/>
          </a:prstGeom>
          <a:solidFill>
            <a:srgbClr val="F0E8FF"/>
          </a:solidFill>
          <a:ln w="6350">
            <a:solidFill>
              <a:srgbClr val="D8C8ED"/>
            </a:solidFill>
            <a:prstDash val="solid"/>
          </a:ln>
        </p:spPr>
      </p:sp>
      <p:sp>
        <p:nvSpPr>
          <p:cNvPr id="39" name="Text 37"/>
          <p:cNvSpPr/>
          <p:nvPr/>
        </p:nvSpPr>
        <p:spPr>
          <a:xfrm>
            <a:off x="3438144" y="2450592"/>
            <a:ext cx="713232" cy="256032"/>
          </a:xfrm>
          <a:prstGeom prst="rect">
            <a:avLst/>
          </a:prstGeom>
          <a:noFill/>
          <a:ln/>
        </p:spPr>
        <p:txBody>
          <a:bodyPr wrap="square" lIns="0" tIns="0" rIns="0" bIns="0" rtlCol="0" anchor="ctr"/>
          <a:lstStyle/>
          <a:p>
            <a:pPr algn="ctr" indent="0" marL="0">
              <a:buNone/>
            </a:pPr>
            <a:r>
              <a:rPr lang="en-US" sz="850" dirty="0">
                <a:solidFill>
                  <a:srgbClr val="2C1F3E"/>
                </a:solidFill>
                <a:latin typeface="Calibri" pitchFamily="34" charset="0"/>
                <a:ea typeface="Calibri" pitchFamily="34" charset="-122"/>
                <a:cs typeface="Calibri" pitchFamily="34" charset="-120"/>
              </a:rPr>
              <a:t>Age</a:t>
            </a:r>
            <a:endParaRPr lang="en-US" sz="850" dirty="0"/>
          </a:p>
        </p:txBody>
      </p:sp>
      <p:sp>
        <p:nvSpPr>
          <p:cNvPr id="40" name="Shape 38"/>
          <p:cNvSpPr/>
          <p:nvPr/>
        </p:nvSpPr>
        <p:spPr>
          <a:xfrm>
            <a:off x="4187952" y="2432304"/>
            <a:ext cx="749808" cy="310896"/>
          </a:xfrm>
          <a:prstGeom prst="rect">
            <a:avLst/>
          </a:prstGeom>
          <a:solidFill>
            <a:srgbClr val="F0E8FF"/>
          </a:solidFill>
          <a:ln w="6350">
            <a:solidFill>
              <a:srgbClr val="D8C8ED"/>
            </a:solidFill>
            <a:prstDash val="solid"/>
          </a:ln>
        </p:spPr>
      </p:sp>
      <p:sp>
        <p:nvSpPr>
          <p:cNvPr id="41" name="Text 39"/>
          <p:cNvSpPr/>
          <p:nvPr/>
        </p:nvSpPr>
        <p:spPr>
          <a:xfrm>
            <a:off x="4187952" y="2450592"/>
            <a:ext cx="749808" cy="256032"/>
          </a:xfrm>
          <a:prstGeom prst="rect">
            <a:avLst/>
          </a:prstGeom>
          <a:noFill/>
          <a:ln/>
        </p:spPr>
        <p:txBody>
          <a:bodyPr wrap="square" lIns="0" tIns="0" rIns="0" bIns="0" rtlCol="0" anchor="ctr"/>
          <a:lstStyle/>
          <a:p>
            <a:pPr algn="ctr" indent="0" marL="0">
              <a:buNone/>
            </a:pPr>
            <a:r>
              <a:rPr lang="en-US" sz="850" dirty="0">
                <a:solidFill>
                  <a:srgbClr val="2C1F3E"/>
                </a:solidFill>
                <a:latin typeface="Calibri" pitchFamily="34" charset="0"/>
                <a:ea typeface="Calibri" pitchFamily="34" charset="-122"/>
                <a:cs typeface="Calibri" pitchFamily="34" charset="-120"/>
              </a:rPr>
              <a:t>1.000</a:t>
            </a:r>
            <a:endParaRPr lang="en-US" sz="850" dirty="0"/>
          </a:p>
        </p:txBody>
      </p:sp>
      <p:sp>
        <p:nvSpPr>
          <p:cNvPr id="42" name="Shape 40"/>
          <p:cNvSpPr/>
          <p:nvPr/>
        </p:nvSpPr>
        <p:spPr>
          <a:xfrm>
            <a:off x="4974336" y="2432304"/>
            <a:ext cx="950976" cy="310896"/>
          </a:xfrm>
          <a:prstGeom prst="rect">
            <a:avLst/>
          </a:prstGeom>
          <a:solidFill>
            <a:srgbClr val="F0E8FF"/>
          </a:solidFill>
          <a:ln w="6350">
            <a:solidFill>
              <a:srgbClr val="D8C8ED"/>
            </a:solidFill>
            <a:prstDash val="solid"/>
          </a:ln>
        </p:spPr>
      </p:sp>
      <p:sp>
        <p:nvSpPr>
          <p:cNvPr id="43" name="Text 41"/>
          <p:cNvSpPr/>
          <p:nvPr/>
        </p:nvSpPr>
        <p:spPr>
          <a:xfrm>
            <a:off x="4974336" y="2450592"/>
            <a:ext cx="950976" cy="256032"/>
          </a:xfrm>
          <a:prstGeom prst="rect">
            <a:avLst/>
          </a:prstGeom>
          <a:noFill/>
          <a:ln/>
        </p:spPr>
        <p:txBody>
          <a:bodyPr wrap="square" lIns="0" tIns="0" rIns="0" bIns="0" rtlCol="0" anchor="ctr"/>
          <a:lstStyle/>
          <a:p>
            <a:pPr algn="ctr" indent="0" marL="0">
              <a:buNone/>
            </a:pPr>
            <a:r>
              <a:rPr lang="en-US" sz="850" dirty="0">
                <a:solidFill>
                  <a:srgbClr val="5C1A6B"/>
                </a:solidFill>
                <a:latin typeface="Calibri" pitchFamily="34" charset="0"/>
                <a:ea typeface="Calibri" pitchFamily="34" charset="-122"/>
                <a:cs typeface="Calibri" pitchFamily="34" charset="-120"/>
              </a:rPr>
              <a:t>.312**</a:t>
            </a:r>
            <a:endParaRPr lang="en-US" sz="850" dirty="0"/>
          </a:p>
        </p:txBody>
      </p:sp>
      <p:sp>
        <p:nvSpPr>
          <p:cNvPr id="44" name="Shape 42"/>
          <p:cNvSpPr/>
          <p:nvPr/>
        </p:nvSpPr>
        <p:spPr>
          <a:xfrm>
            <a:off x="5961888" y="2432304"/>
            <a:ext cx="950976" cy="310896"/>
          </a:xfrm>
          <a:prstGeom prst="rect">
            <a:avLst/>
          </a:prstGeom>
          <a:solidFill>
            <a:srgbClr val="F0E8FF"/>
          </a:solidFill>
          <a:ln w="6350">
            <a:solidFill>
              <a:srgbClr val="D8C8ED"/>
            </a:solidFill>
            <a:prstDash val="solid"/>
          </a:ln>
        </p:spPr>
      </p:sp>
      <p:sp>
        <p:nvSpPr>
          <p:cNvPr id="45" name="Text 43"/>
          <p:cNvSpPr/>
          <p:nvPr/>
        </p:nvSpPr>
        <p:spPr>
          <a:xfrm>
            <a:off x="5961888" y="2450592"/>
            <a:ext cx="950976" cy="256032"/>
          </a:xfrm>
          <a:prstGeom prst="rect">
            <a:avLst/>
          </a:prstGeom>
          <a:noFill/>
          <a:ln/>
        </p:spPr>
        <p:txBody>
          <a:bodyPr wrap="square" lIns="0" tIns="0" rIns="0" bIns="0" rtlCol="0" anchor="ctr"/>
          <a:lstStyle/>
          <a:p>
            <a:pPr algn="ctr" indent="0" marL="0">
              <a:buNone/>
            </a:pPr>
            <a:r>
              <a:rPr lang="en-US" sz="850" dirty="0">
                <a:solidFill>
                  <a:srgbClr val="5C1A6B"/>
                </a:solidFill>
                <a:latin typeface="Calibri" pitchFamily="34" charset="0"/>
                <a:ea typeface="Calibri" pitchFamily="34" charset="-122"/>
                <a:cs typeface="Calibri" pitchFamily="34" charset="-120"/>
              </a:rPr>
              <a:t>.148**</a:t>
            </a:r>
            <a:endParaRPr lang="en-US" sz="850" dirty="0"/>
          </a:p>
        </p:txBody>
      </p:sp>
      <p:sp>
        <p:nvSpPr>
          <p:cNvPr id="46" name="Shape 44"/>
          <p:cNvSpPr/>
          <p:nvPr/>
        </p:nvSpPr>
        <p:spPr>
          <a:xfrm>
            <a:off x="6949440" y="2432304"/>
            <a:ext cx="914400" cy="310896"/>
          </a:xfrm>
          <a:prstGeom prst="rect">
            <a:avLst/>
          </a:prstGeom>
          <a:solidFill>
            <a:srgbClr val="F0E8FF"/>
          </a:solidFill>
          <a:ln w="6350">
            <a:solidFill>
              <a:srgbClr val="D8C8ED"/>
            </a:solidFill>
            <a:prstDash val="solid"/>
          </a:ln>
        </p:spPr>
      </p:sp>
      <p:sp>
        <p:nvSpPr>
          <p:cNvPr id="47" name="Text 45"/>
          <p:cNvSpPr/>
          <p:nvPr/>
        </p:nvSpPr>
        <p:spPr>
          <a:xfrm>
            <a:off x="6949440" y="2450592"/>
            <a:ext cx="914400" cy="256032"/>
          </a:xfrm>
          <a:prstGeom prst="rect">
            <a:avLst/>
          </a:prstGeom>
          <a:noFill/>
          <a:ln/>
        </p:spPr>
        <p:txBody>
          <a:bodyPr wrap="square" lIns="0" tIns="0" rIns="0" bIns="0" rtlCol="0" anchor="ctr"/>
          <a:lstStyle/>
          <a:p>
            <a:pPr algn="ctr" indent="0" marL="0">
              <a:buNone/>
            </a:pPr>
            <a:r>
              <a:rPr lang="en-US" sz="850" dirty="0">
                <a:solidFill>
                  <a:srgbClr val="5C1A6B"/>
                </a:solidFill>
                <a:latin typeface="Calibri" pitchFamily="34" charset="0"/>
                <a:ea typeface="Calibri" pitchFamily="34" charset="-122"/>
                <a:cs typeface="Calibri" pitchFamily="34" charset="-120"/>
              </a:rPr>
              <a:t>.201**</a:t>
            </a:r>
            <a:endParaRPr lang="en-US" sz="850" dirty="0"/>
          </a:p>
        </p:txBody>
      </p:sp>
      <p:sp>
        <p:nvSpPr>
          <p:cNvPr id="48" name="Shape 46"/>
          <p:cNvSpPr/>
          <p:nvPr/>
        </p:nvSpPr>
        <p:spPr>
          <a:xfrm>
            <a:off x="3438144" y="2761488"/>
            <a:ext cx="713232" cy="310896"/>
          </a:xfrm>
          <a:prstGeom prst="rect">
            <a:avLst/>
          </a:prstGeom>
          <a:solidFill>
            <a:srgbClr val="FFFFFF"/>
          </a:solidFill>
          <a:ln w="6350">
            <a:solidFill>
              <a:srgbClr val="D8C8ED"/>
            </a:solidFill>
            <a:prstDash val="solid"/>
          </a:ln>
        </p:spPr>
      </p:sp>
      <p:sp>
        <p:nvSpPr>
          <p:cNvPr id="49" name="Text 47"/>
          <p:cNvSpPr/>
          <p:nvPr/>
        </p:nvSpPr>
        <p:spPr>
          <a:xfrm>
            <a:off x="3438144" y="2779776"/>
            <a:ext cx="713232" cy="256032"/>
          </a:xfrm>
          <a:prstGeom prst="rect">
            <a:avLst/>
          </a:prstGeom>
          <a:noFill/>
          <a:ln/>
        </p:spPr>
        <p:txBody>
          <a:bodyPr wrap="square" lIns="0" tIns="0" rIns="0" bIns="0" rtlCol="0" anchor="ctr"/>
          <a:lstStyle/>
          <a:p>
            <a:pPr algn="ctr" indent="0" marL="0">
              <a:buNone/>
            </a:pPr>
            <a:r>
              <a:rPr lang="en-US" sz="850" dirty="0">
                <a:solidFill>
                  <a:srgbClr val="2C1F3E"/>
                </a:solidFill>
                <a:latin typeface="Calibri" pitchFamily="34" charset="0"/>
                <a:ea typeface="Calibri" pitchFamily="34" charset="-122"/>
                <a:cs typeface="Calibri" pitchFamily="34" charset="-120"/>
              </a:rPr>
              <a:t>Monthly Salary</a:t>
            </a:r>
            <a:endParaRPr lang="en-US" sz="850" dirty="0"/>
          </a:p>
        </p:txBody>
      </p:sp>
      <p:sp>
        <p:nvSpPr>
          <p:cNvPr id="50" name="Shape 48"/>
          <p:cNvSpPr/>
          <p:nvPr/>
        </p:nvSpPr>
        <p:spPr>
          <a:xfrm>
            <a:off x="4187952" y="2761488"/>
            <a:ext cx="749808" cy="310896"/>
          </a:xfrm>
          <a:prstGeom prst="rect">
            <a:avLst/>
          </a:prstGeom>
          <a:solidFill>
            <a:srgbClr val="FFFFFF"/>
          </a:solidFill>
          <a:ln w="6350">
            <a:solidFill>
              <a:srgbClr val="D8C8ED"/>
            </a:solidFill>
            <a:prstDash val="solid"/>
          </a:ln>
        </p:spPr>
      </p:sp>
      <p:sp>
        <p:nvSpPr>
          <p:cNvPr id="51" name="Text 49"/>
          <p:cNvSpPr/>
          <p:nvPr/>
        </p:nvSpPr>
        <p:spPr>
          <a:xfrm>
            <a:off x="4187952" y="2779776"/>
            <a:ext cx="749808" cy="256032"/>
          </a:xfrm>
          <a:prstGeom prst="rect">
            <a:avLst/>
          </a:prstGeom>
          <a:noFill/>
          <a:ln/>
        </p:spPr>
        <p:txBody>
          <a:bodyPr wrap="square" lIns="0" tIns="0" rIns="0" bIns="0" rtlCol="0" anchor="ctr"/>
          <a:lstStyle/>
          <a:p>
            <a:pPr algn="ctr" indent="0" marL="0">
              <a:buNone/>
            </a:pPr>
            <a:r>
              <a:rPr lang="en-US" sz="850" dirty="0">
                <a:solidFill>
                  <a:srgbClr val="5C1A6B"/>
                </a:solidFill>
                <a:latin typeface="Calibri" pitchFamily="34" charset="0"/>
                <a:ea typeface="Calibri" pitchFamily="34" charset="-122"/>
                <a:cs typeface="Calibri" pitchFamily="34" charset="-120"/>
              </a:rPr>
              <a:t>.312**</a:t>
            </a:r>
            <a:endParaRPr lang="en-US" sz="850" dirty="0"/>
          </a:p>
        </p:txBody>
      </p:sp>
      <p:sp>
        <p:nvSpPr>
          <p:cNvPr id="52" name="Shape 50"/>
          <p:cNvSpPr/>
          <p:nvPr/>
        </p:nvSpPr>
        <p:spPr>
          <a:xfrm>
            <a:off x="4974336" y="2761488"/>
            <a:ext cx="950976" cy="310896"/>
          </a:xfrm>
          <a:prstGeom prst="rect">
            <a:avLst/>
          </a:prstGeom>
          <a:solidFill>
            <a:srgbClr val="FFFFFF"/>
          </a:solidFill>
          <a:ln w="6350">
            <a:solidFill>
              <a:srgbClr val="D8C8ED"/>
            </a:solidFill>
            <a:prstDash val="solid"/>
          </a:ln>
        </p:spPr>
      </p:sp>
      <p:sp>
        <p:nvSpPr>
          <p:cNvPr id="53" name="Text 51"/>
          <p:cNvSpPr/>
          <p:nvPr/>
        </p:nvSpPr>
        <p:spPr>
          <a:xfrm>
            <a:off x="4974336" y="2779776"/>
            <a:ext cx="950976" cy="256032"/>
          </a:xfrm>
          <a:prstGeom prst="rect">
            <a:avLst/>
          </a:prstGeom>
          <a:noFill/>
          <a:ln/>
        </p:spPr>
        <p:txBody>
          <a:bodyPr wrap="square" lIns="0" tIns="0" rIns="0" bIns="0" rtlCol="0" anchor="ctr"/>
          <a:lstStyle/>
          <a:p>
            <a:pPr algn="ctr" indent="0" marL="0">
              <a:buNone/>
            </a:pPr>
            <a:r>
              <a:rPr lang="en-US" sz="850" dirty="0">
                <a:solidFill>
                  <a:srgbClr val="2C1F3E"/>
                </a:solidFill>
                <a:latin typeface="Calibri" pitchFamily="34" charset="0"/>
                <a:ea typeface="Calibri" pitchFamily="34" charset="-122"/>
                <a:cs typeface="Calibri" pitchFamily="34" charset="-120"/>
              </a:rPr>
              <a:t>1.000</a:t>
            </a:r>
            <a:endParaRPr lang="en-US" sz="850" dirty="0"/>
          </a:p>
        </p:txBody>
      </p:sp>
      <p:sp>
        <p:nvSpPr>
          <p:cNvPr id="54" name="Shape 52"/>
          <p:cNvSpPr/>
          <p:nvPr/>
        </p:nvSpPr>
        <p:spPr>
          <a:xfrm>
            <a:off x="5961888" y="2761488"/>
            <a:ext cx="950976" cy="310896"/>
          </a:xfrm>
          <a:prstGeom prst="rect">
            <a:avLst/>
          </a:prstGeom>
          <a:solidFill>
            <a:srgbClr val="FFFFFF"/>
          </a:solidFill>
          <a:ln w="6350">
            <a:solidFill>
              <a:srgbClr val="D8C8ED"/>
            </a:solidFill>
            <a:prstDash val="solid"/>
          </a:ln>
        </p:spPr>
      </p:sp>
      <p:sp>
        <p:nvSpPr>
          <p:cNvPr id="55" name="Text 53"/>
          <p:cNvSpPr/>
          <p:nvPr/>
        </p:nvSpPr>
        <p:spPr>
          <a:xfrm>
            <a:off x="5961888" y="2779776"/>
            <a:ext cx="950976" cy="256032"/>
          </a:xfrm>
          <a:prstGeom prst="rect">
            <a:avLst/>
          </a:prstGeom>
          <a:noFill/>
          <a:ln/>
        </p:spPr>
        <p:txBody>
          <a:bodyPr wrap="square" lIns="0" tIns="0" rIns="0" bIns="0" rtlCol="0" anchor="ctr"/>
          <a:lstStyle/>
          <a:p>
            <a:pPr algn="ctr" indent="0" marL="0">
              <a:buNone/>
            </a:pPr>
            <a:r>
              <a:rPr lang="en-US" sz="850" dirty="0">
                <a:solidFill>
                  <a:srgbClr val="5C1A6B"/>
                </a:solidFill>
                <a:latin typeface="Calibri" pitchFamily="34" charset="0"/>
                <a:ea typeface="Calibri" pitchFamily="34" charset="-122"/>
                <a:cs typeface="Calibri" pitchFamily="34" charset="-120"/>
              </a:rPr>
              <a:t>.284**</a:t>
            </a:r>
            <a:endParaRPr lang="en-US" sz="850" dirty="0"/>
          </a:p>
        </p:txBody>
      </p:sp>
      <p:sp>
        <p:nvSpPr>
          <p:cNvPr id="56" name="Shape 54"/>
          <p:cNvSpPr/>
          <p:nvPr/>
        </p:nvSpPr>
        <p:spPr>
          <a:xfrm>
            <a:off x="6949440" y="2761488"/>
            <a:ext cx="914400" cy="310896"/>
          </a:xfrm>
          <a:prstGeom prst="rect">
            <a:avLst/>
          </a:prstGeom>
          <a:solidFill>
            <a:srgbClr val="FFFFFF"/>
          </a:solidFill>
          <a:ln w="6350">
            <a:solidFill>
              <a:srgbClr val="D8C8ED"/>
            </a:solidFill>
            <a:prstDash val="solid"/>
          </a:ln>
        </p:spPr>
      </p:sp>
      <p:sp>
        <p:nvSpPr>
          <p:cNvPr id="57" name="Text 55"/>
          <p:cNvSpPr/>
          <p:nvPr/>
        </p:nvSpPr>
        <p:spPr>
          <a:xfrm>
            <a:off x="6949440" y="2779776"/>
            <a:ext cx="914400" cy="256032"/>
          </a:xfrm>
          <a:prstGeom prst="rect">
            <a:avLst/>
          </a:prstGeom>
          <a:noFill/>
          <a:ln/>
        </p:spPr>
        <p:txBody>
          <a:bodyPr wrap="square" lIns="0" tIns="0" rIns="0" bIns="0" rtlCol="0" anchor="ctr"/>
          <a:lstStyle/>
          <a:p>
            <a:pPr algn="ctr" indent="0" marL="0">
              <a:buNone/>
            </a:pPr>
            <a:r>
              <a:rPr lang="en-US" sz="850" dirty="0">
                <a:solidFill>
                  <a:srgbClr val="5C1A6B"/>
                </a:solidFill>
                <a:latin typeface="Calibri" pitchFamily="34" charset="0"/>
                <a:ea typeface="Calibri" pitchFamily="34" charset="-122"/>
                <a:cs typeface="Calibri" pitchFamily="34" charset="-120"/>
              </a:rPr>
              <a:t>.318**</a:t>
            </a:r>
            <a:endParaRPr lang="en-US" sz="850" dirty="0"/>
          </a:p>
        </p:txBody>
      </p:sp>
      <p:sp>
        <p:nvSpPr>
          <p:cNvPr id="58" name="Shape 56"/>
          <p:cNvSpPr/>
          <p:nvPr/>
        </p:nvSpPr>
        <p:spPr>
          <a:xfrm>
            <a:off x="3438144" y="3090672"/>
            <a:ext cx="713232" cy="310896"/>
          </a:xfrm>
          <a:prstGeom prst="rect">
            <a:avLst/>
          </a:prstGeom>
          <a:solidFill>
            <a:srgbClr val="F0E8FF"/>
          </a:solidFill>
          <a:ln w="6350">
            <a:solidFill>
              <a:srgbClr val="D8C8ED"/>
            </a:solidFill>
            <a:prstDash val="solid"/>
          </a:ln>
        </p:spPr>
      </p:sp>
      <p:sp>
        <p:nvSpPr>
          <p:cNvPr id="59" name="Text 57"/>
          <p:cNvSpPr/>
          <p:nvPr/>
        </p:nvSpPr>
        <p:spPr>
          <a:xfrm>
            <a:off x="3438144" y="3108960"/>
            <a:ext cx="713232" cy="256032"/>
          </a:xfrm>
          <a:prstGeom prst="rect">
            <a:avLst/>
          </a:prstGeom>
          <a:noFill/>
          <a:ln/>
        </p:spPr>
        <p:txBody>
          <a:bodyPr wrap="square" lIns="0" tIns="0" rIns="0" bIns="0" rtlCol="0" anchor="ctr"/>
          <a:lstStyle/>
          <a:p>
            <a:pPr algn="ctr" indent="0" marL="0">
              <a:buNone/>
            </a:pPr>
            <a:r>
              <a:rPr lang="en-US" sz="850" dirty="0">
                <a:solidFill>
                  <a:srgbClr val="2C1F3E"/>
                </a:solidFill>
                <a:latin typeface="Calibri" pitchFamily="34" charset="0"/>
                <a:ea typeface="Calibri" pitchFamily="34" charset="-122"/>
                <a:cs typeface="Calibri" pitchFamily="34" charset="-120"/>
              </a:rPr>
              <a:t>Sat. Mean</a:t>
            </a:r>
            <a:endParaRPr lang="en-US" sz="850" dirty="0"/>
          </a:p>
        </p:txBody>
      </p:sp>
      <p:sp>
        <p:nvSpPr>
          <p:cNvPr id="60" name="Shape 58"/>
          <p:cNvSpPr/>
          <p:nvPr/>
        </p:nvSpPr>
        <p:spPr>
          <a:xfrm>
            <a:off x="4187952" y="3090672"/>
            <a:ext cx="749808" cy="310896"/>
          </a:xfrm>
          <a:prstGeom prst="rect">
            <a:avLst/>
          </a:prstGeom>
          <a:solidFill>
            <a:srgbClr val="F0E8FF"/>
          </a:solidFill>
          <a:ln w="6350">
            <a:solidFill>
              <a:srgbClr val="D8C8ED"/>
            </a:solidFill>
            <a:prstDash val="solid"/>
          </a:ln>
        </p:spPr>
      </p:sp>
      <p:sp>
        <p:nvSpPr>
          <p:cNvPr id="61" name="Text 59"/>
          <p:cNvSpPr/>
          <p:nvPr/>
        </p:nvSpPr>
        <p:spPr>
          <a:xfrm>
            <a:off x="4187952" y="3108960"/>
            <a:ext cx="749808" cy="256032"/>
          </a:xfrm>
          <a:prstGeom prst="rect">
            <a:avLst/>
          </a:prstGeom>
          <a:noFill/>
          <a:ln/>
        </p:spPr>
        <p:txBody>
          <a:bodyPr wrap="square" lIns="0" tIns="0" rIns="0" bIns="0" rtlCol="0" anchor="ctr"/>
          <a:lstStyle/>
          <a:p>
            <a:pPr algn="ctr" indent="0" marL="0">
              <a:buNone/>
            </a:pPr>
            <a:r>
              <a:rPr lang="en-US" sz="850" dirty="0">
                <a:solidFill>
                  <a:srgbClr val="5C1A6B"/>
                </a:solidFill>
                <a:latin typeface="Calibri" pitchFamily="34" charset="0"/>
                <a:ea typeface="Calibri" pitchFamily="34" charset="-122"/>
                <a:cs typeface="Calibri" pitchFamily="34" charset="-120"/>
              </a:rPr>
              <a:t>.148**</a:t>
            </a:r>
            <a:endParaRPr lang="en-US" sz="850" dirty="0"/>
          </a:p>
        </p:txBody>
      </p:sp>
      <p:sp>
        <p:nvSpPr>
          <p:cNvPr id="62" name="Shape 60"/>
          <p:cNvSpPr/>
          <p:nvPr/>
        </p:nvSpPr>
        <p:spPr>
          <a:xfrm>
            <a:off x="4974336" y="3090672"/>
            <a:ext cx="950976" cy="310896"/>
          </a:xfrm>
          <a:prstGeom prst="rect">
            <a:avLst/>
          </a:prstGeom>
          <a:solidFill>
            <a:srgbClr val="F0E8FF"/>
          </a:solidFill>
          <a:ln w="6350">
            <a:solidFill>
              <a:srgbClr val="D8C8ED"/>
            </a:solidFill>
            <a:prstDash val="solid"/>
          </a:ln>
        </p:spPr>
      </p:sp>
      <p:sp>
        <p:nvSpPr>
          <p:cNvPr id="63" name="Text 61"/>
          <p:cNvSpPr/>
          <p:nvPr/>
        </p:nvSpPr>
        <p:spPr>
          <a:xfrm>
            <a:off x="4974336" y="3108960"/>
            <a:ext cx="950976" cy="256032"/>
          </a:xfrm>
          <a:prstGeom prst="rect">
            <a:avLst/>
          </a:prstGeom>
          <a:noFill/>
          <a:ln/>
        </p:spPr>
        <p:txBody>
          <a:bodyPr wrap="square" lIns="0" tIns="0" rIns="0" bIns="0" rtlCol="0" anchor="ctr"/>
          <a:lstStyle/>
          <a:p>
            <a:pPr algn="ctr" indent="0" marL="0">
              <a:buNone/>
            </a:pPr>
            <a:r>
              <a:rPr lang="en-US" sz="850" dirty="0">
                <a:solidFill>
                  <a:srgbClr val="5C1A6B"/>
                </a:solidFill>
                <a:latin typeface="Calibri" pitchFamily="34" charset="0"/>
                <a:ea typeface="Calibri" pitchFamily="34" charset="-122"/>
                <a:cs typeface="Calibri" pitchFamily="34" charset="-120"/>
              </a:rPr>
              <a:t>.284**</a:t>
            </a:r>
            <a:endParaRPr lang="en-US" sz="850" dirty="0"/>
          </a:p>
        </p:txBody>
      </p:sp>
      <p:sp>
        <p:nvSpPr>
          <p:cNvPr id="64" name="Shape 62"/>
          <p:cNvSpPr/>
          <p:nvPr/>
        </p:nvSpPr>
        <p:spPr>
          <a:xfrm>
            <a:off x="5961888" y="3090672"/>
            <a:ext cx="950976" cy="310896"/>
          </a:xfrm>
          <a:prstGeom prst="rect">
            <a:avLst/>
          </a:prstGeom>
          <a:solidFill>
            <a:srgbClr val="F0E8FF"/>
          </a:solidFill>
          <a:ln w="6350">
            <a:solidFill>
              <a:srgbClr val="D8C8ED"/>
            </a:solidFill>
            <a:prstDash val="solid"/>
          </a:ln>
        </p:spPr>
      </p:sp>
      <p:sp>
        <p:nvSpPr>
          <p:cNvPr id="65" name="Text 63"/>
          <p:cNvSpPr/>
          <p:nvPr/>
        </p:nvSpPr>
        <p:spPr>
          <a:xfrm>
            <a:off x="5961888" y="3108960"/>
            <a:ext cx="950976" cy="256032"/>
          </a:xfrm>
          <a:prstGeom prst="rect">
            <a:avLst/>
          </a:prstGeom>
          <a:noFill/>
          <a:ln/>
        </p:spPr>
        <p:txBody>
          <a:bodyPr wrap="square" lIns="0" tIns="0" rIns="0" bIns="0" rtlCol="0" anchor="ctr"/>
          <a:lstStyle/>
          <a:p>
            <a:pPr algn="ctr" indent="0" marL="0">
              <a:buNone/>
            </a:pPr>
            <a:r>
              <a:rPr lang="en-US" sz="850" dirty="0">
                <a:solidFill>
                  <a:srgbClr val="2C1F3E"/>
                </a:solidFill>
                <a:latin typeface="Calibri" pitchFamily="34" charset="0"/>
                <a:ea typeface="Calibri" pitchFamily="34" charset="-122"/>
                <a:cs typeface="Calibri" pitchFamily="34" charset="-120"/>
              </a:rPr>
              <a:t>1.000</a:t>
            </a:r>
            <a:endParaRPr lang="en-US" sz="850" dirty="0"/>
          </a:p>
        </p:txBody>
      </p:sp>
      <p:sp>
        <p:nvSpPr>
          <p:cNvPr id="66" name="Shape 64"/>
          <p:cNvSpPr/>
          <p:nvPr/>
        </p:nvSpPr>
        <p:spPr>
          <a:xfrm>
            <a:off x="6949440" y="3090672"/>
            <a:ext cx="914400" cy="310896"/>
          </a:xfrm>
          <a:prstGeom prst="rect">
            <a:avLst/>
          </a:prstGeom>
          <a:solidFill>
            <a:srgbClr val="D5B8F0"/>
          </a:solidFill>
          <a:ln w="6350">
            <a:solidFill>
              <a:srgbClr val="D8C8ED"/>
            </a:solidFill>
            <a:prstDash val="solid"/>
          </a:ln>
        </p:spPr>
      </p:sp>
      <p:sp>
        <p:nvSpPr>
          <p:cNvPr id="67" name="Text 65"/>
          <p:cNvSpPr/>
          <p:nvPr/>
        </p:nvSpPr>
        <p:spPr>
          <a:xfrm>
            <a:off x="6949440" y="3108960"/>
            <a:ext cx="914400" cy="256032"/>
          </a:xfrm>
          <a:prstGeom prst="rect">
            <a:avLst/>
          </a:prstGeom>
          <a:noFill/>
          <a:ln/>
        </p:spPr>
        <p:txBody>
          <a:bodyPr wrap="square" lIns="0" tIns="0" rIns="0" bIns="0" rtlCol="0" anchor="ctr"/>
          <a:lstStyle/>
          <a:p>
            <a:pPr algn="ctr" indent="0" marL="0">
              <a:buNone/>
            </a:pPr>
            <a:r>
              <a:rPr lang="en-US" sz="850" b="1" dirty="0">
                <a:solidFill>
                  <a:srgbClr val="5C1A6B"/>
                </a:solidFill>
                <a:latin typeface="Calibri" pitchFamily="34" charset="0"/>
                <a:ea typeface="Calibri" pitchFamily="34" charset="-122"/>
                <a:cs typeface="Calibri" pitchFamily="34" charset="-120"/>
              </a:rPr>
              <a:t>.614**</a:t>
            </a:r>
            <a:endParaRPr lang="en-US" sz="850" dirty="0"/>
          </a:p>
        </p:txBody>
      </p:sp>
      <p:sp>
        <p:nvSpPr>
          <p:cNvPr id="68" name="Shape 66"/>
          <p:cNvSpPr/>
          <p:nvPr/>
        </p:nvSpPr>
        <p:spPr>
          <a:xfrm>
            <a:off x="3438144" y="3419856"/>
            <a:ext cx="713232" cy="310896"/>
          </a:xfrm>
          <a:prstGeom prst="rect">
            <a:avLst/>
          </a:prstGeom>
          <a:solidFill>
            <a:srgbClr val="FFFFFF"/>
          </a:solidFill>
          <a:ln w="6350">
            <a:solidFill>
              <a:srgbClr val="D8C8ED"/>
            </a:solidFill>
            <a:prstDash val="solid"/>
          </a:ln>
        </p:spPr>
      </p:sp>
      <p:sp>
        <p:nvSpPr>
          <p:cNvPr id="69" name="Text 67"/>
          <p:cNvSpPr/>
          <p:nvPr/>
        </p:nvSpPr>
        <p:spPr>
          <a:xfrm>
            <a:off x="3438144" y="3438144"/>
            <a:ext cx="713232" cy="256032"/>
          </a:xfrm>
          <a:prstGeom prst="rect">
            <a:avLst/>
          </a:prstGeom>
          <a:noFill/>
          <a:ln/>
        </p:spPr>
        <p:txBody>
          <a:bodyPr wrap="square" lIns="0" tIns="0" rIns="0" bIns="0" rtlCol="0" anchor="ctr"/>
          <a:lstStyle/>
          <a:p>
            <a:pPr algn="ctr" indent="0" marL="0">
              <a:buNone/>
            </a:pPr>
            <a:r>
              <a:rPr lang="en-US" sz="850" dirty="0">
                <a:solidFill>
                  <a:srgbClr val="2C1F3E"/>
                </a:solidFill>
                <a:latin typeface="Calibri" pitchFamily="34" charset="0"/>
                <a:ea typeface="Calibri" pitchFamily="34" charset="-122"/>
                <a:cs typeface="Calibri" pitchFamily="34" charset="-120"/>
              </a:rPr>
              <a:t>Repurchase Int.</a:t>
            </a:r>
            <a:endParaRPr lang="en-US" sz="850" dirty="0"/>
          </a:p>
        </p:txBody>
      </p:sp>
      <p:sp>
        <p:nvSpPr>
          <p:cNvPr id="70" name="Shape 68"/>
          <p:cNvSpPr/>
          <p:nvPr/>
        </p:nvSpPr>
        <p:spPr>
          <a:xfrm>
            <a:off x="4187952" y="3419856"/>
            <a:ext cx="749808" cy="310896"/>
          </a:xfrm>
          <a:prstGeom prst="rect">
            <a:avLst/>
          </a:prstGeom>
          <a:solidFill>
            <a:srgbClr val="FFFFFF"/>
          </a:solidFill>
          <a:ln w="6350">
            <a:solidFill>
              <a:srgbClr val="D8C8ED"/>
            </a:solidFill>
            <a:prstDash val="solid"/>
          </a:ln>
        </p:spPr>
      </p:sp>
      <p:sp>
        <p:nvSpPr>
          <p:cNvPr id="71" name="Text 69"/>
          <p:cNvSpPr/>
          <p:nvPr/>
        </p:nvSpPr>
        <p:spPr>
          <a:xfrm>
            <a:off x="4187952" y="3438144"/>
            <a:ext cx="749808" cy="256032"/>
          </a:xfrm>
          <a:prstGeom prst="rect">
            <a:avLst/>
          </a:prstGeom>
          <a:noFill/>
          <a:ln/>
        </p:spPr>
        <p:txBody>
          <a:bodyPr wrap="square" lIns="0" tIns="0" rIns="0" bIns="0" rtlCol="0" anchor="ctr"/>
          <a:lstStyle/>
          <a:p>
            <a:pPr algn="ctr" indent="0" marL="0">
              <a:buNone/>
            </a:pPr>
            <a:r>
              <a:rPr lang="en-US" sz="850" dirty="0">
                <a:solidFill>
                  <a:srgbClr val="5C1A6B"/>
                </a:solidFill>
                <a:latin typeface="Calibri" pitchFamily="34" charset="0"/>
                <a:ea typeface="Calibri" pitchFamily="34" charset="-122"/>
                <a:cs typeface="Calibri" pitchFamily="34" charset="-120"/>
              </a:rPr>
              <a:t>.201**</a:t>
            </a:r>
            <a:endParaRPr lang="en-US" sz="850" dirty="0"/>
          </a:p>
        </p:txBody>
      </p:sp>
      <p:sp>
        <p:nvSpPr>
          <p:cNvPr id="72" name="Shape 70"/>
          <p:cNvSpPr/>
          <p:nvPr/>
        </p:nvSpPr>
        <p:spPr>
          <a:xfrm>
            <a:off x="4974336" y="3419856"/>
            <a:ext cx="950976" cy="310896"/>
          </a:xfrm>
          <a:prstGeom prst="rect">
            <a:avLst/>
          </a:prstGeom>
          <a:solidFill>
            <a:srgbClr val="FFFFFF"/>
          </a:solidFill>
          <a:ln w="6350">
            <a:solidFill>
              <a:srgbClr val="D8C8ED"/>
            </a:solidFill>
            <a:prstDash val="solid"/>
          </a:ln>
        </p:spPr>
      </p:sp>
      <p:sp>
        <p:nvSpPr>
          <p:cNvPr id="73" name="Text 71"/>
          <p:cNvSpPr/>
          <p:nvPr/>
        </p:nvSpPr>
        <p:spPr>
          <a:xfrm>
            <a:off x="4974336" y="3438144"/>
            <a:ext cx="950976" cy="256032"/>
          </a:xfrm>
          <a:prstGeom prst="rect">
            <a:avLst/>
          </a:prstGeom>
          <a:noFill/>
          <a:ln/>
        </p:spPr>
        <p:txBody>
          <a:bodyPr wrap="square" lIns="0" tIns="0" rIns="0" bIns="0" rtlCol="0" anchor="ctr"/>
          <a:lstStyle/>
          <a:p>
            <a:pPr algn="ctr" indent="0" marL="0">
              <a:buNone/>
            </a:pPr>
            <a:r>
              <a:rPr lang="en-US" sz="850" dirty="0">
                <a:solidFill>
                  <a:srgbClr val="5C1A6B"/>
                </a:solidFill>
                <a:latin typeface="Calibri" pitchFamily="34" charset="0"/>
                <a:ea typeface="Calibri" pitchFamily="34" charset="-122"/>
                <a:cs typeface="Calibri" pitchFamily="34" charset="-120"/>
              </a:rPr>
              <a:t>.318**</a:t>
            </a:r>
            <a:endParaRPr lang="en-US" sz="850" dirty="0"/>
          </a:p>
        </p:txBody>
      </p:sp>
      <p:sp>
        <p:nvSpPr>
          <p:cNvPr id="74" name="Shape 72"/>
          <p:cNvSpPr/>
          <p:nvPr/>
        </p:nvSpPr>
        <p:spPr>
          <a:xfrm>
            <a:off x="5961888" y="3419856"/>
            <a:ext cx="950976" cy="310896"/>
          </a:xfrm>
          <a:prstGeom prst="rect">
            <a:avLst/>
          </a:prstGeom>
          <a:solidFill>
            <a:srgbClr val="D5B8F0"/>
          </a:solidFill>
          <a:ln w="6350">
            <a:solidFill>
              <a:srgbClr val="D8C8ED"/>
            </a:solidFill>
            <a:prstDash val="solid"/>
          </a:ln>
        </p:spPr>
      </p:sp>
      <p:sp>
        <p:nvSpPr>
          <p:cNvPr id="75" name="Text 73"/>
          <p:cNvSpPr/>
          <p:nvPr/>
        </p:nvSpPr>
        <p:spPr>
          <a:xfrm>
            <a:off x="5961888" y="3438144"/>
            <a:ext cx="950976" cy="256032"/>
          </a:xfrm>
          <a:prstGeom prst="rect">
            <a:avLst/>
          </a:prstGeom>
          <a:noFill/>
          <a:ln/>
        </p:spPr>
        <p:txBody>
          <a:bodyPr wrap="square" lIns="0" tIns="0" rIns="0" bIns="0" rtlCol="0" anchor="ctr"/>
          <a:lstStyle/>
          <a:p>
            <a:pPr algn="ctr" indent="0" marL="0">
              <a:buNone/>
            </a:pPr>
            <a:r>
              <a:rPr lang="en-US" sz="850" b="1" dirty="0">
                <a:solidFill>
                  <a:srgbClr val="5C1A6B"/>
                </a:solidFill>
                <a:latin typeface="Calibri" pitchFamily="34" charset="0"/>
                <a:ea typeface="Calibri" pitchFamily="34" charset="-122"/>
                <a:cs typeface="Calibri" pitchFamily="34" charset="-120"/>
              </a:rPr>
              <a:t>.614**</a:t>
            </a:r>
            <a:endParaRPr lang="en-US" sz="850" dirty="0"/>
          </a:p>
        </p:txBody>
      </p:sp>
      <p:sp>
        <p:nvSpPr>
          <p:cNvPr id="76" name="Shape 74"/>
          <p:cNvSpPr/>
          <p:nvPr/>
        </p:nvSpPr>
        <p:spPr>
          <a:xfrm>
            <a:off x="6949440" y="3419856"/>
            <a:ext cx="914400" cy="310896"/>
          </a:xfrm>
          <a:prstGeom prst="rect">
            <a:avLst/>
          </a:prstGeom>
          <a:solidFill>
            <a:srgbClr val="FFFFFF"/>
          </a:solidFill>
          <a:ln w="6350">
            <a:solidFill>
              <a:srgbClr val="D8C8ED"/>
            </a:solidFill>
            <a:prstDash val="solid"/>
          </a:ln>
        </p:spPr>
      </p:sp>
      <p:sp>
        <p:nvSpPr>
          <p:cNvPr id="77" name="Text 75"/>
          <p:cNvSpPr/>
          <p:nvPr/>
        </p:nvSpPr>
        <p:spPr>
          <a:xfrm>
            <a:off x="6949440" y="3438144"/>
            <a:ext cx="914400" cy="256032"/>
          </a:xfrm>
          <a:prstGeom prst="rect">
            <a:avLst/>
          </a:prstGeom>
          <a:noFill/>
          <a:ln/>
        </p:spPr>
        <p:txBody>
          <a:bodyPr wrap="square" lIns="0" tIns="0" rIns="0" bIns="0" rtlCol="0" anchor="ctr"/>
          <a:lstStyle/>
          <a:p>
            <a:pPr algn="ctr" indent="0" marL="0">
              <a:buNone/>
            </a:pPr>
            <a:r>
              <a:rPr lang="en-US" sz="850" dirty="0">
                <a:solidFill>
                  <a:srgbClr val="2C1F3E"/>
                </a:solidFill>
                <a:latin typeface="Calibri" pitchFamily="34" charset="0"/>
                <a:ea typeface="Calibri" pitchFamily="34" charset="-122"/>
                <a:cs typeface="Calibri" pitchFamily="34" charset="-120"/>
              </a:rPr>
              <a:t>1.000</a:t>
            </a:r>
            <a:endParaRPr lang="en-US" sz="850" dirty="0"/>
          </a:p>
        </p:txBody>
      </p:sp>
      <p:sp>
        <p:nvSpPr>
          <p:cNvPr id="78" name="Text 76"/>
          <p:cNvSpPr/>
          <p:nvPr/>
        </p:nvSpPr>
        <p:spPr>
          <a:xfrm>
            <a:off x="3474720" y="3767328"/>
            <a:ext cx="5257800" cy="20116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 Correlation is significant at the 0.01 level (2-tailed).</a:t>
            </a:r>
            <a:endParaRPr lang="en-US" sz="800" dirty="0"/>
          </a:p>
        </p:txBody>
      </p:sp>
      <p:sp>
        <p:nvSpPr>
          <p:cNvPr id="79" name="Shape 77"/>
          <p:cNvSpPr/>
          <p:nvPr/>
        </p:nvSpPr>
        <p:spPr>
          <a:xfrm>
            <a:off x="256032" y="4206240"/>
            <a:ext cx="8631936" cy="914400"/>
          </a:xfrm>
          <a:prstGeom prst="roundRect">
            <a:avLst>
              <a:gd name="adj" fmla="val 8000"/>
            </a:avLst>
          </a:prstGeom>
          <a:solidFill>
            <a:srgbClr val="F0E8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80" name="Text 78"/>
          <p:cNvSpPr/>
          <p:nvPr/>
        </p:nvSpPr>
        <p:spPr>
          <a:xfrm>
            <a:off x="384048" y="4261104"/>
            <a:ext cx="1234440" cy="256032"/>
          </a:xfrm>
          <a:prstGeom prst="rect">
            <a:avLst/>
          </a:prstGeom>
          <a:noFill/>
          <a:ln/>
        </p:spPr>
        <p:txBody>
          <a:bodyPr wrap="square" lIns="0" tIns="0" rIns="0" bIns="0" rtlCol="0" anchor="ctr"/>
          <a:lstStyle/>
          <a:p>
            <a:pPr indent="0" marL="0">
              <a:buNone/>
            </a:pPr>
            <a:r>
              <a:rPr lang="en-US" sz="1100" b="1" dirty="0">
                <a:solidFill>
                  <a:srgbClr val="5C1A6B"/>
                </a:solidFill>
                <a:latin typeface="Calibri" pitchFamily="34" charset="0"/>
                <a:ea typeface="Calibri" pitchFamily="34" charset="-122"/>
                <a:cs typeface="Calibri" pitchFamily="34" charset="-120"/>
              </a:rPr>
              <a:t>Key Finding: </a:t>
            </a:r>
            <a:endParaRPr lang="en-US" sz="1100" dirty="0"/>
          </a:p>
        </p:txBody>
      </p:sp>
      <p:sp>
        <p:nvSpPr>
          <p:cNvPr id="81" name="Text 79"/>
          <p:cNvSpPr/>
          <p:nvPr/>
        </p:nvSpPr>
        <p:spPr>
          <a:xfrm>
            <a:off x="1664208" y="4261104"/>
            <a:ext cx="7095744" cy="475488"/>
          </a:xfrm>
          <a:prstGeom prst="rect">
            <a:avLst/>
          </a:prstGeom>
          <a:noFill/>
          <a:ln/>
        </p:spPr>
        <p:txBody>
          <a:bodyPr wrap="square" lIns="0" tIns="0" rIns="0" bIns="0" rtlCol="0" anchor="ctr"/>
          <a:lstStyle/>
          <a:p>
            <a:pPr indent="0" marL="0">
              <a:buNone/>
            </a:pPr>
            <a:r>
              <a:rPr lang="en-US" sz="1000" dirty="0">
                <a:solidFill>
                  <a:srgbClr val="2C1F3E"/>
                </a:solidFill>
                <a:latin typeface="Calibri" pitchFamily="34" charset="0"/>
                <a:ea typeface="Calibri" pitchFamily="34" charset="-122"/>
                <a:cs typeface="Calibri" pitchFamily="34" charset="-120"/>
              </a:rPr>
              <a:t>The strongest correlation is between sat_mean and repurchase_intention: r(448) = .614, p &lt; .001. This is a MODERATE-STRONG positive correlation: consumers who are more satisfied are significantly more likely to repurchase. This relationship is the foundation of the regression model in Module 5.</a:t>
            </a:r>
            <a:endParaRPr lang="en-US" sz="1000" dirty="0"/>
          </a:p>
        </p:txBody>
      </p:sp>
      <p:sp>
        <p:nvSpPr>
          <p:cNvPr id="82" name="Text 80"/>
          <p:cNvSpPr/>
          <p:nvPr/>
        </p:nvSpPr>
        <p:spPr>
          <a:xfrm>
            <a:off x="384048" y="4791456"/>
            <a:ext cx="8321040" cy="256032"/>
          </a:xfrm>
          <a:prstGeom prst="rect">
            <a:avLst/>
          </a:prstGeom>
          <a:noFill/>
          <a:ln/>
        </p:spPr>
        <p:txBody>
          <a:bodyPr wrap="square" lIns="0" tIns="0" rIns="0" bIns="0" rtlCol="0" anchor="ctr"/>
          <a:lstStyle/>
          <a:p>
            <a:pPr indent="0" marL="0">
              <a:buNone/>
            </a:pPr>
            <a:r>
              <a:rPr lang="en-US" sz="950" i="1" dirty="0">
                <a:solidFill>
                  <a:srgbClr val="5C1A6B"/>
                </a:solidFill>
                <a:latin typeface="Calibri" pitchFamily="34" charset="0"/>
                <a:ea typeface="Calibri" pitchFamily="34" charset="-122"/>
                <a:cs typeface="Calibri" pitchFamily="34" charset="-120"/>
              </a:rPr>
              <a:t>Steps: Analyze &gt; Correlate &gt; Bivariate &gt; move all scale variables &gt; Pearson ticked &gt; Two-tailed &gt; Flag significant correlations &gt; OK</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914400" y="3200400"/>
            <a:ext cx="3657600" cy="3657600"/>
          </a:xfrm>
          <a:prstGeom prst="ellipse">
            <a:avLst/>
          </a:prstGeom>
          <a:solidFill>
            <a:srgbClr val="D4A017">
              <a:alpha val="14000"/>
            </a:srgbClr>
          </a:solidFill>
          <a:ln w="12700">
            <a:solidFill>
              <a:srgbClr val="D4A017"/>
            </a:solidFill>
            <a:prstDash val="solid"/>
          </a:ln>
        </p:spPr>
      </p:sp>
      <p:sp>
        <p:nvSpPr>
          <p:cNvPr id="3" name="Text 1"/>
          <p:cNvSpPr/>
          <p:nvPr/>
        </p:nvSpPr>
        <p:spPr>
          <a:xfrm>
            <a:off x="457200" y="201168"/>
            <a:ext cx="8229600" cy="62179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Spearman Correlation and Subgroup Correlations</a:t>
            </a:r>
            <a:endParaRPr lang="en-US" sz="2700" dirty="0"/>
          </a:p>
        </p:txBody>
      </p:sp>
      <p:sp>
        <p:nvSpPr>
          <p:cNvPr id="4" name="Shape 2"/>
          <p:cNvSpPr/>
          <p:nvPr/>
        </p:nvSpPr>
        <p:spPr>
          <a:xfrm>
            <a:off x="274320" y="914400"/>
            <a:ext cx="4160520" cy="2724912"/>
          </a:xfrm>
          <a:prstGeom prst="roundRect">
            <a:avLst>
              <a:gd name="adj" fmla="val 3356"/>
            </a:avLst>
          </a:prstGeom>
          <a:solidFill>
            <a:srgbClr val="2D1135"/>
          </a:solidFill>
          <a:ln w="12700">
            <a:solidFill>
              <a:srgbClr val="7B2D8B"/>
            </a:solidFill>
            <a:prstDash val="solid"/>
          </a:ln>
        </p:spPr>
      </p:sp>
      <p:sp>
        <p:nvSpPr>
          <p:cNvPr id="5" name="Text 3"/>
          <p:cNvSpPr/>
          <p:nvPr/>
        </p:nvSpPr>
        <p:spPr>
          <a:xfrm>
            <a:off x="384048" y="987552"/>
            <a:ext cx="3931920" cy="274320"/>
          </a:xfrm>
          <a:prstGeom prst="rect">
            <a:avLst/>
          </a:prstGeom>
          <a:noFill/>
          <a:ln/>
        </p:spPr>
        <p:txBody>
          <a:bodyPr wrap="square" lIns="0" tIns="0" rIns="0" bIns="0" rtlCol="0" anchor="ctr"/>
          <a:lstStyle/>
          <a:p>
            <a:pPr indent="0" marL="0">
              <a:buNone/>
            </a:pPr>
            <a:r>
              <a:rPr lang="en-US" sz="1200" b="1" dirty="0">
                <a:solidFill>
                  <a:srgbClr val="F0C040"/>
                </a:solidFill>
                <a:latin typeface="Calibri" pitchFamily="34" charset="0"/>
                <a:ea typeface="Calibri" pitchFamily="34" charset="-122"/>
                <a:cs typeface="Calibri" pitchFamily="34" charset="-120"/>
              </a:rPr>
              <a:t>SPEARMAN RANK CORRELATION (rs)</a:t>
            </a:r>
            <a:endParaRPr lang="en-US" sz="1200" dirty="0"/>
          </a:p>
        </p:txBody>
      </p:sp>
      <p:sp>
        <p:nvSpPr>
          <p:cNvPr id="6" name="Text 4"/>
          <p:cNvSpPr/>
          <p:nvPr/>
        </p:nvSpPr>
        <p:spPr>
          <a:xfrm>
            <a:off x="384048" y="1335024"/>
            <a:ext cx="1115568" cy="256032"/>
          </a:xfrm>
          <a:prstGeom prst="rect">
            <a:avLst/>
          </a:prstGeom>
          <a:noFill/>
          <a:ln/>
        </p:spPr>
        <p:txBody>
          <a:bodyPr wrap="square" lIns="0" tIns="0" rIns="0" bIns="0" rtlCol="0" anchor="ctr"/>
          <a:lstStyle/>
          <a:p>
            <a:pPr indent="0" marL="0">
              <a:buNone/>
            </a:pPr>
            <a:r>
              <a:rPr lang="en-US" sz="950" b="1" dirty="0">
                <a:solidFill>
                  <a:srgbClr val="7B2D8B"/>
                </a:solidFill>
                <a:latin typeface="Calibri" pitchFamily="34" charset="0"/>
                <a:ea typeface="Calibri" pitchFamily="34" charset="-122"/>
                <a:cs typeface="Calibri" pitchFamily="34" charset="-120"/>
              </a:rPr>
              <a:t>What it is: </a:t>
            </a:r>
            <a:endParaRPr lang="en-US" sz="950" dirty="0"/>
          </a:p>
        </p:txBody>
      </p:sp>
      <p:sp>
        <p:nvSpPr>
          <p:cNvPr id="7" name="Text 5"/>
          <p:cNvSpPr/>
          <p:nvPr/>
        </p:nvSpPr>
        <p:spPr>
          <a:xfrm>
            <a:off x="384048" y="1609344"/>
            <a:ext cx="3931920" cy="347472"/>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Non-parametric alternative to Pearson r. Measures MONOTONIC (not necessarily linear) relationship using rank ordering of data.</a:t>
            </a:r>
            <a:endParaRPr lang="en-US" sz="900" dirty="0"/>
          </a:p>
        </p:txBody>
      </p:sp>
      <p:sp>
        <p:nvSpPr>
          <p:cNvPr id="8" name="Text 6"/>
          <p:cNvSpPr/>
          <p:nvPr/>
        </p:nvSpPr>
        <p:spPr>
          <a:xfrm>
            <a:off x="384048" y="1883664"/>
            <a:ext cx="1115568" cy="256032"/>
          </a:xfrm>
          <a:prstGeom prst="rect">
            <a:avLst/>
          </a:prstGeom>
          <a:noFill/>
          <a:ln/>
        </p:spPr>
        <p:txBody>
          <a:bodyPr wrap="square" lIns="0" tIns="0" rIns="0" bIns="0" rtlCol="0" anchor="ctr"/>
          <a:lstStyle/>
          <a:p>
            <a:pPr indent="0" marL="0">
              <a:buNone/>
            </a:pPr>
            <a:r>
              <a:rPr lang="en-US" sz="950" b="1" dirty="0">
                <a:solidFill>
                  <a:srgbClr val="7B2D8B"/>
                </a:solidFill>
                <a:latin typeface="Calibri" pitchFamily="34" charset="0"/>
                <a:ea typeface="Calibri" pitchFamily="34" charset="-122"/>
                <a:cs typeface="Calibri" pitchFamily="34" charset="-120"/>
              </a:rPr>
              <a:t>Use when: </a:t>
            </a:r>
            <a:endParaRPr lang="en-US" sz="950" dirty="0"/>
          </a:p>
        </p:txBody>
      </p:sp>
      <p:sp>
        <p:nvSpPr>
          <p:cNvPr id="9" name="Text 7"/>
          <p:cNvSpPr/>
          <p:nvPr/>
        </p:nvSpPr>
        <p:spPr>
          <a:xfrm>
            <a:off x="384048" y="2157984"/>
            <a:ext cx="3931920" cy="347472"/>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One or both variables are ORDINAL (e.g., education level, Likert scale). Scale data with severe non-normality. Data with outliers that distort ranks.</a:t>
            </a:r>
            <a:endParaRPr lang="en-US" sz="900" dirty="0"/>
          </a:p>
        </p:txBody>
      </p:sp>
      <p:sp>
        <p:nvSpPr>
          <p:cNvPr id="10" name="Text 8"/>
          <p:cNvSpPr/>
          <p:nvPr/>
        </p:nvSpPr>
        <p:spPr>
          <a:xfrm>
            <a:off x="384048" y="2432304"/>
            <a:ext cx="1115568" cy="256032"/>
          </a:xfrm>
          <a:prstGeom prst="rect">
            <a:avLst/>
          </a:prstGeom>
          <a:noFill/>
          <a:ln/>
        </p:spPr>
        <p:txBody>
          <a:bodyPr wrap="square" lIns="0" tIns="0" rIns="0" bIns="0" rtlCol="0" anchor="ctr"/>
          <a:lstStyle/>
          <a:p>
            <a:pPr indent="0" marL="0">
              <a:buNone/>
            </a:pPr>
            <a:r>
              <a:rPr lang="en-US" sz="950" b="1" dirty="0">
                <a:solidFill>
                  <a:srgbClr val="7B2D8B"/>
                </a:solidFill>
                <a:latin typeface="Calibri" pitchFamily="34" charset="0"/>
                <a:ea typeface="Calibri" pitchFamily="34" charset="-122"/>
                <a:cs typeface="Calibri" pitchFamily="34" charset="-120"/>
              </a:rPr>
              <a:t>vs Pearson: </a:t>
            </a:r>
            <a:endParaRPr lang="en-US" sz="950" dirty="0"/>
          </a:p>
        </p:txBody>
      </p:sp>
      <p:sp>
        <p:nvSpPr>
          <p:cNvPr id="11" name="Text 9"/>
          <p:cNvSpPr/>
          <p:nvPr/>
        </p:nvSpPr>
        <p:spPr>
          <a:xfrm>
            <a:off x="384048" y="2706624"/>
            <a:ext cx="3931920" cy="347472"/>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Pearson: measures exact linear relationship, sensitive to outliers. Spearman: measures rank-order consistency, robust to outliers and non-linearity.</a:t>
            </a:r>
            <a:endParaRPr lang="en-US" sz="900" dirty="0"/>
          </a:p>
        </p:txBody>
      </p:sp>
      <p:sp>
        <p:nvSpPr>
          <p:cNvPr id="12" name="Text 10"/>
          <p:cNvSpPr/>
          <p:nvPr/>
        </p:nvSpPr>
        <p:spPr>
          <a:xfrm>
            <a:off x="384048" y="2980944"/>
            <a:ext cx="1115568" cy="256032"/>
          </a:xfrm>
          <a:prstGeom prst="rect">
            <a:avLst/>
          </a:prstGeom>
          <a:noFill/>
          <a:ln/>
        </p:spPr>
        <p:txBody>
          <a:bodyPr wrap="square" lIns="0" tIns="0" rIns="0" bIns="0" rtlCol="0" anchor="ctr"/>
          <a:lstStyle/>
          <a:p>
            <a:pPr indent="0" marL="0">
              <a:buNone/>
            </a:pPr>
            <a:r>
              <a:rPr lang="en-US" sz="950" b="1" dirty="0">
                <a:solidFill>
                  <a:srgbClr val="7B2D8B"/>
                </a:solidFill>
                <a:latin typeface="Calibri" pitchFamily="34" charset="0"/>
                <a:ea typeface="Calibri" pitchFamily="34" charset="-122"/>
                <a:cs typeface="Calibri" pitchFamily="34" charset="-120"/>
              </a:rPr>
              <a:t>UAC Example: </a:t>
            </a:r>
            <a:endParaRPr lang="en-US" sz="950" dirty="0"/>
          </a:p>
        </p:txBody>
      </p:sp>
      <p:sp>
        <p:nvSpPr>
          <p:cNvPr id="13" name="Text 11"/>
          <p:cNvSpPr/>
          <p:nvPr/>
        </p:nvSpPr>
        <p:spPr>
          <a:xfrm>
            <a:off x="384048" y="3255264"/>
            <a:ext cx="3931920" cy="347472"/>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Correlation between education_level (ordinal 1-6) and repurchase_intention (ordinal 1-5): rs(448) = .218, p &lt; .001, weak positive. Higher-educated consumers somewhat more likely to repurchase.</a:t>
            </a:r>
            <a:endParaRPr lang="en-US" sz="900" dirty="0"/>
          </a:p>
        </p:txBody>
      </p:sp>
      <p:sp>
        <p:nvSpPr>
          <p:cNvPr id="14" name="Text 12"/>
          <p:cNvSpPr/>
          <p:nvPr/>
        </p:nvSpPr>
        <p:spPr>
          <a:xfrm>
            <a:off x="384048" y="3310128"/>
            <a:ext cx="3931920" cy="274320"/>
          </a:xfrm>
          <a:prstGeom prst="rect">
            <a:avLst/>
          </a:prstGeom>
          <a:noFill/>
          <a:ln/>
        </p:spPr>
        <p:txBody>
          <a:bodyPr wrap="square" lIns="0" tIns="0" rIns="0" bIns="0" rtlCol="0" anchor="ctr"/>
          <a:lstStyle/>
          <a:p>
            <a:pPr indent="0" marL="0">
              <a:buNone/>
            </a:pPr>
            <a:r>
              <a:rPr lang="en-US" sz="850" i="1" dirty="0">
                <a:solidFill>
                  <a:srgbClr val="D4A017"/>
                </a:solidFill>
                <a:latin typeface="Calibri" pitchFamily="34" charset="0"/>
                <a:ea typeface="Calibri" pitchFamily="34" charset="-122"/>
                <a:cs typeface="Calibri" pitchFamily="34" charset="-120"/>
              </a:rPr>
              <a:t>SPSS: Analyze &gt; Correlate &gt; Bivariate &gt; check Spearman (can run both Pearson and Spearman simultaneously)</a:t>
            </a:r>
            <a:endParaRPr lang="en-US" sz="850" dirty="0"/>
          </a:p>
        </p:txBody>
      </p:sp>
      <p:sp>
        <p:nvSpPr>
          <p:cNvPr id="15" name="Shape 13"/>
          <p:cNvSpPr/>
          <p:nvPr/>
        </p:nvSpPr>
        <p:spPr>
          <a:xfrm>
            <a:off x="4681728" y="914400"/>
            <a:ext cx="4160520" cy="2724912"/>
          </a:xfrm>
          <a:prstGeom prst="roundRect">
            <a:avLst>
              <a:gd name="adj" fmla="val 3356"/>
            </a:avLst>
          </a:prstGeom>
          <a:solidFill>
            <a:srgbClr val="2D1135"/>
          </a:solidFill>
          <a:ln w="12700">
            <a:solidFill>
              <a:srgbClr val="2471A3"/>
            </a:solidFill>
            <a:prstDash val="solid"/>
          </a:ln>
        </p:spPr>
      </p:sp>
      <p:sp>
        <p:nvSpPr>
          <p:cNvPr id="16" name="Text 14"/>
          <p:cNvSpPr/>
          <p:nvPr/>
        </p:nvSpPr>
        <p:spPr>
          <a:xfrm>
            <a:off x="4791456" y="987552"/>
            <a:ext cx="393192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SUBGROUP CORRELATIONS</a:t>
            </a:r>
            <a:endParaRPr lang="en-US" sz="1200" dirty="0"/>
          </a:p>
        </p:txBody>
      </p:sp>
      <p:sp>
        <p:nvSpPr>
          <p:cNvPr id="17" name="Shape 15"/>
          <p:cNvSpPr/>
          <p:nvPr/>
        </p:nvSpPr>
        <p:spPr>
          <a:xfrm>
            <a:off x="4791456" y="1353312"/>
            <a:ext cx="256032" cy="256032"/>
          </a:xfrm>
          <a:prstGeom prst="ellipse">
            <a:avLst/>
          </a:prstGeom>
          <a:solidFill>
            <a:srgbClr val="2471A3"/>
          </a:solidFill>
          <a:ln w="12700">
            <a:solidFill>
              <a:srgbClr val="2471A3"/>
            </a:solidFill>
            <a:prstDash val="solid"/>
          </a:ln>
        </p:spPr>
      </p:sp>
      <p:sp>
        <p:nvSpPr>
          <p:cNvPr id="18" name="Text 16"/>
          <p:cNvSpPr/>
          <p:nvPr/>
        </p:nvSpPr>
        <p:spPr>
          <a:xfrm>
            <a:off x="4791456" y="1353312"/>
            <a:ext cx="256032" cy="256032"/>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1</a:t>
            </a:r>
            <a:endParaRPr lang="en-US" sz="800" dirty="0"/>
          </a:p>
        </p:txBody>
      </p:sp>
      <p:sp>
        <p:nvSpPr>
          <p:cNvPr id="19" name="Text 17"/>
          <p:cNvSpPr/>
          <p:nvPr/>
        </p:nvSpPr>
        <p:spPr>
          <a:xfrm>
            <a:off x="5120640" y="1353312"/>
            <a:ext cx="3639312" cy="329184"/>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Use Data &gt; Split File to stratify by a grouping variable (e.g., gender)</a:t>
            </a:r>
            <a:endParaRPr lang="en-US" sz="900" dirty="0"/>
          </a:p>
        </p:txBody>
      </p:sp>
      <p:sp>
        <p:nvSpPr>
          <p:cNvPr id="20" name="Shape 18"/>
          <p:cNvSpPr/>
          <p:nvPr/>
        </p:nvSpPr>
        <p:spPr>
          <a:xfrm>
            <a:off x="4791456" y="1737360"/>
            <a:ext cx="256032" cy="256032"/>
          </a:xfrm>
          <a:prstGeom prst="ellipse">
            <a:avLst/>
          </a:prstGeom>
          <a:solidFill>
            <a:srgbClr val="2471A3"/>
          </a:solidFill>
          <a:ln w="12700">
            <a:solidFill>
              <a:srgbClr val="2471A3"/>
            </a:solidFill>
            <a:prstDash val="solid"/>
          </a:ln>
        </p:spPr>
      </p:sp>
      <p:sp>
        <p:nvSpPr>
          <p:cNvPr id="21" name="Text 19"/>
          <p:cNvSpPr/>
          <p:nvPr/>
        </p:nvSpPr>
        <p:spPr>
          <a:xfrm>
            <a:off x="4791456" y="1737360"/>
            <a:ext cx="256032" cy="256032"/>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2</a:t>
            </a:r>
            <a:endParaRPr lang="en-US" sz="800" dirty="0"/>
          </a:p>
        </p:txBody>
      </p:sp>
      <p:sp>
        <p:nvSpPr>
          <p:cNvPr id="22" name="Text 20"/>
          <p:cNvSpPr/>
          <p:nvPr/>
        </p:nvSpPr>
        <p:spPr>
          <a:xfrm>
            <a:off x="5120640" y="1737360"/>
            <a:ext cx="3639312" cy="329184"/>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Then run Analyze &gt; Correlate &gt; Bivariate as normal</a:t>
            </a:r>
            <a:endParaRPr lang="en-US" sz="900" dirty="0"/>
          </a:p>
        </p:txBody>
      </p:sp>
      <p:sp>
        <p:nvSpPr>
          <p:cNvPr id="23" name="Shape 21"/>
          <p:cNvSpPr/>
          <p:nvPr/>
        </p:nvSpPr>
        <p:spPr>
          <a:xfrm>
            <a:off x="4791456" y="2121408"/>
            <a:ext cx="256032" cy="256032"/>
          </a:xfrm>
          <a:prstGeom prst="ellipse">
            <a:avLst/>
          </a:prstGeom>
          <a:solidFill>
            <a:srgbClr val="2471A3"/>
          </a:solidFill>
          <a:ln w="12700">
            <a:solidFill>
              <a:srgbClr val="2471A3"/>
            </a:solidFill>
            <a:prstDash val="solid"/>
          </a:ln>
        </p:spPr>
      </p:sp>
      <p:sp>
        <p:nvSpPr>
          <p:cNvPr id="24" name="Text 22"/>
          <p:cNvSpPr/>
          <p:nvPr/>
        </p:nvSpPr>
        <p:spPr>
          <a:xfrm>
            <a:off x="4791456" y="2121408"/>
            <a:ext cx="256032" cy="256032"/>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3</a:t>
            </a:r>
            <a:endParaRPr lang="en-US" sz="800" dirty="0"/>
          </a:p>
        </p:txBody>
      </p:sp>
      <p:sp>
        <p:nvSpPr>
          <p:cNvPr id="25" name="Text 23"/>
          <p:cNvSpPr/>
          <p:nvPr/>
        </p:nvSpPr>
        <p:spPr>
          <a:xfrm>
            <a:off x="5120640" y="2121408"/>
            <a:ext cx="3639312" cy="329184"/>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SPSS produces separate correlation matrices for each group</a:t>
            </a:r>
            <a:endParaRPr lang="en-US" sz="900" dirty="0"/>
          </a:p>
        </p:txBody>
      </p:sp>
      <p:sp>
        <p:nvSpPr>
          <p:cNvPr id="26" name="Shape 24"/>
          <p:cNvSpPr/>
          <p:nvPr/>
        </p:nvSpPr>
        <p:spPr>
          <a:xfrm>
            <a:off x="4791456" y="2505456"/>
            <a:ext cx="256032" cy="256032"/>
          </a:xfrm>
          <a:prstGeom prst="ellipse">
            <a:avLst/>
          </a:prstGeom>
          <a:solidFill>
            <a:srgbClr val="2471A3"/>
          </a:solidFill>
          <a:ln w="12700">
            <a:solidFill>
              <a:srgbClr val="2471A3"/>
            </a:solidFill>
            <a:prstDash val="solid"/>
          </a:ln>
        </p:spPr>
      </p:sp>
      <p:sp>
        <p:nvSpPr>
          <p:cNvPr id="27" name="Text 25"/>
          <p:cNvSpPr/>
          <p:nvPr/>
        </p:nvSpPr>
        <p:spPr>
          <a:xfrm>
            <a:off x="4791456" y="2505456"/>
            <a:ext cx="256032" cy="256032"/>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4</a:t>
            </a:r>
            <a:endParaRPr lang="en-US" sz="800" dirty="0"/>
          </a:p>
        </p:txBody>
      </p:sp>
      <p:sp>
        <p:nvSpPr>
          <p:cNvPr id="28" name="Text 26"/>
          <p:cNvSpPr/>
          <p:nvPr/>
        </p:nvSpPr>
        <p:spPr>
          <a:xfrm>
            <a:off x="5120640" y="2505456"/>
            <a:ext cx="3639312" cy="329184"/>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Turn OFF Split File: Data &gt; Split File &gt; Analyze all cases</a:t>
            </a:r>
            <a:endParaRPr lang="en-US" sz="900" dirty="0"/>
          </a:p>
        </p:txBody>
      </p:sp>
      <p:sp>
        <p:nvSpPr>
          <p:cNvPr id="29" name="Text 27"/>
          <p:cNvSpPr/>
          <p:nvPr/>
        </p:nvSpPr>
        <p:spPr>
          <a:xfrm>
            <a:off x="4791456" y="2944368"/>
            <a:ext cx="3931920" cy="219456"/>
          </a:xfrm>
          <a:prstGeom prst="rect">
            <a:avLst/>
          </a:prstGeom>
          <a:noFill/>
          <a:ln/>
        </p:spPr>
        <p:txBody>
          <a:bodyPr wrap="square" lIns="0" tIns="0" rIns="0" bIns="0" rtlCol="0" anchor="ctr"/>
          <a:lstStyle/>
          <a:p>
            <a:pPr indent="0" marL="0">
              <a:buNone/>
            </a:pPr>
            <a:r>
              <a:rPr lang="en-US" sz="1000" b="1" dirty="0">
                <a:solidFill>
                  <a:srgbClr val="2471A3"/>
                </a:solidFill>
                <a:latin typeface="Calibri" pitchFamily="34" charset="0"/>
                <a:ea typeface="Calibri" pitchFamily="34" charset="-122"/>
                <a:cs typeface="Calibri" pitchFamily="34" charset="-120"/>
              </a:rPr>
              <a:t>UAC Example:</a:t>
            </a:r>
            <a:endParaRPr lang="en-US" sz="1000" dirty="0"/>
          </a:p>
        </p:txBody>
      </p:sp>
      <p:sp>
        <p:nvSpPr>
          <p:cNvPr id="30" name="Text 28"/>
          <p:cNvSpPr/>
          <p:nvPr/>
        </p:nvSpPr>
        <p:spPr>
          <a:xfrm>
            <a:off x="4791456" y="3182112"/>
            <a:ext cx="3931920" cy="402336"/>
          </a:xfrm>
          <a:prstGeom prst="rect">
            <a:avLst/>
          </a:prstGeom>
          <a:noFill/>
          <a:ln/>
        </p:spPr>
        <p:txBody>
          <a:bodyPr wrap="square" lIns="0" tIns="0" rIns="0" bIns="0" rtlCol="0" anchor="ctr"/>
          <a:lstStyle/>
          <a:p>
            <a:pPr indent="0" marL="0">
              <a:buNone/>
            </a:pPr>
            <a:r>
              <a:rPr lang="en-US" sz="900" dirty="0">
                <a:solidFill>
                  <a:srgbClr val="C8A8E8"/>
                </a:solidFill>
                <a:latin typeface="Calibri" pitchFamily="34" charset="0"/>
                <a:ea typeface="Calibri" pitchFamily="34" charset="-122"/>
                <a:cs typeface="Calibri" pitchFamily="34" charset="-120"/>
              </a:rPr>
              <a:t>Among MALE consumers: sat_mean and repurchase_intention: r = .592 (p &lt; .001). Among FEMALE consumers: r = .648 (p &lt; .001). Slightly stronger relationship for females. Both significant, both moderate-strong.</a:t>
            </a:r>
            <a:endParaRPr lang="en-US" sz="900" dirty="0"/>
          </a:p>
        </p:txBody>
      </p:sp>
      <p:sp>
        <p:nvSpPr>
          <p:cNvPr id="31" name="Shape 29"/>
          <p:cNvSpPr/>
          <p:nvPr/>
        </p:nvSpPr>
        <p:spPr>
          <a:xfrm>
            <a:off x="274320" y="3712464"/>
            <a:ext cx="8595360" cy="1335024"/>
          </a:xfrm>
          <a:prstGeom prst="roundRect">
            <a:avLst>
              <a:gd name="adj" fmla="val 5479"/>
            </a:avLst>
          </a:prstGeom>
          <a:solidFill>
            <a:srgbClr val="0D0820"/>
          </a:solidFill>
          <a:ln w="12700">
            <a:solidFill>
              <a:srgbClr val="D4A017"/>
            </a:solidFill>
            <a:prstDash val="solid"/>
          </a:ln>
        </p:spPr>
      </p:sp>
      <p:sp>
        <p:nvSpPr>
          <p:cNvPr id="32" name="Text 30"/>
          <p:cNvSpPr/>
          <p:nvPr/>
        </p:nvSpPr>
        <p:spPr>
          <a:xfrm>
            <a:off x="402336" y="3785616"/>
            <a:ext cx="4572000" cy="27432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Scatterplots and Overlay Scatterplots</a:t>
            </a:r>
            <a:endParaRPr lang="en-US" sz="1100" dirty="0"/>
          </a:p>
        </p:txBody>
      </p:sp>
      <p:sp>
        <p:nvSpPr>
          <p:cNvPr id="33" name="Text 31"/>
          <p:cNvSpPr/>
          <p:nvPr/>
        </p:nvSpPr>
        <p:spPr>
          <a:xfrm>
            <a:off x="402336" y="4114800"/>
            <a:ext cx="8321040" cy="237744"/>
          </a:xfrm>
          <a:prstGeom prst="rect">
            <a:avLst/>
          </a:prstGeom>
          <a:noFill/>
          <a:ln/>
        </p:spPr>
        <p:txBody>
          <a:bodyPr wrap="square" lIns="0" tIns="0" rIns="0" bIns="0" rtlCol="0" anchor="ctr"/>
          <a:lstStyle/>
          <a:p>
            <a:pPr indent="0" marL="0">
              <a:buNone/>
            </a:pPr>
            <a:r>
              <a:rPr lang="en-US" sz="850" b="1" dirty="0">
                <a:solidFill>
                  <a:srgbClr val="F0C040"/>
                </a:solidFill>
                <a:latin typeface="Calibri" pitchFamily="34" charset="0"/>
                <a:ea typeface="Calibri" pitchFamily="34" charset="-122"/>
                <a:cs typeface="Calibri" pitchFamily="34" charset="-120"/>
              </a:rPr>
              <a:t>Simple Scatter: </a:t>
            </a:r>
            <a:pPr indent="0" marL="0">
              <a:buNone/>
            </a:pPr>
            <a:r>
              <a:rPr lang="en-US" sz="850" i="1" dirty="0">
                <a:solidFill>
                  <a:srgbClr val="D4A017"/>
                </a:solidFill>
                <a:latin typeface="Calibri" pitchFamily="34" charset="0"/>
                <a:ea typeface="Calibri" pitchFamily="34" charset="-122"/>
                <a:cs typeface="Calibri" pitchFamily="34" charset="-120"/>
              </a:rPr>
              <a:t>Graphs &gt; Legacy Dialogs &gt; Scatter/Dot &gt; Simple Scatter  |  </a:t>
            </a:r>
            <a:pPr indent="0" marL="0">
              <a:buNone/>
            </a:pPr>
            <a:r>
              <a:rPr lang="en-US" sz="850" dirty="0">
                <a:solidFill>
                  <a:srgbClr val="C8A8E8"/>
                </a:solidFill>
                <a:latin typeface="Calibri" pitchFamily="34" charset="0"/>
                <a:ea typeface="Calibri" pitchFamily="34" charset="-122"/>
                <a:cs typeface="Calibri" pitchFamily="34" charset="-120"/>
              </a:rPr>
              <a:t>Two scale variables. X=predictor, Y=outcome. Add fit line in Chart Editor.</a:t>
            </a:r>
            <a:endParaRPr lang="en-US" sz="850" dirty="0"/>
          </a:p>
        </p:txBody>
      </p:sp>
      <p:sp>
        <p:nvSpPr>
          <p:cNvPr id="34" name="Text 32"/>
          <p:cNvSpPr/>
          <p:nvPr/>
        </p:nvSpPr>
        <p:spPr>
          <a:xfrm>
            <a:off x="402336" y="4370832"/>
            <a:ext cx="8321040" cy="237744"/>
          </a:xfrm>
          <a:prstGeom prst="rect">
            <a:avLst/>
          </a:prstGeom>
          <a:noFill/>
          <a:ln/>
        </p:spPr>
        <p:txBody>
          <a:bodyPr wrap="square" lIns="0" tIns="0" rIns="0" bIns="0" rtlCol="0" anchor="ctr"/>
          <a:lstStyle/>
          <a:p>
            <a:pPr indent="0" marL="0">
              <a:buNone/>
            </a:pPr>
            <a:r>
              <a:rPr lang="en-US" sz="850" b="1" dirty="0">
                <a:solidFill>
                  <a:srgbClr val="F0C040"/>
                </a:solidFill>
                <a:latin typeface="Calibri" pitchFamily="34" charset="0"/>
                <a:ea typeface="Calibri" pitchFamily="34" charset="-122"/>
                <a:cs typeface="Calibri" pitchFamily="34" charset="-120"/>
              </a:rPr>
              <a:t>Overlay Scatter: </a:t>
            </a:r>
            <a:pPr indent="0" marL="0">
              <a:buNone/>
            </a:pPr>
            <a:r>
              <a:rPr lang="en-US" sz="850" i="1" dirty="0">
                <a:solidFill>
                  <a:srgbClr val="D4A017"/>
                </a:solidFill>
                <a:latin typeface="Calibri" pitchFamily="34" charset="0"/>
                <a:ea typeface="Calibri" pitchFamily="34" charset="-122"/>
                <a:cs typeface="Calibri" pitchFamily="34" charset="-120"/>
              </a:rPr>
              <a:t>Graphs &gt; Legacy Dialogs &gt; Scatter/Dot &gt; Overlay Scatter  |  </a:t>
            </a:r>
            <a:pPr indent="0" marL="0">
              <a:buNone/>
            </a:pPr>
            <a:r>
              <a:rPr lang="en-US" sz="850" dirty="0">
                <a:solidFill>
                  <a:srgbClr val="C8A8E8"/>
                </a:solidFill>
                <a:latin typeface="Calibri" pitchFamily="34" charset="0"/>
                <a:ea typeface="Calibri" pitchFamily="34" charset="-122"/>
                <a:cs typeface="Calibri" pitchFamily="34" charset="-120"/>
              </a:rPr>
              <a:t>Multiple Y variables vs same X. Compare relationships in one chart.</a:t>
            </a:r>
            <a:endParaRPr lang="en-US" sz="850" dirty="0"/>
          </a:p>
        </p:txBody>
      </p:sp>
      <p:sp>
        <p:nvSpPr>
          <p:cNvPr id="35" name="Text 33"/>
          <p:cNvSpPr/>
          <p:nvPr/>
        </p:nvSpPr>
        <p:spPr>
          <a:xfrm>
            <a:off x="402336" y="4626864"/>
            <a:ext cx="8321040" cy="237744"/>
          </a:xfrm>
          <a:prstGeom prst="rect">
            <a:avLst/>
          </a:prstGeom>
          <a:noFill/>
          <a:ln/>
        </p:spPr>
        <p:txBody>
          <a:bodyPr wrap="square" lIns="0" tIns="0" rIns="0" bIns="0" rtlCol="0" anchor="ctr"/>
          <a:lstStyle/>
          <a:p>
            <a:pPr indent="0" marL="0">
              <a:buNone/>
            </a:pPr>
            <a:r>
              <a:rPr lang="en-US" sz="850" b="1" dirty="0">
                <a:solidFill>
                  <a:srgbClr val="F0C040"/>
                </a:solidFill>
                <a:latin typeface="Calibri" pitchFamily="34" charset="0"/>
                <a:ea typeface="Calibri" pitchFamily="34" charset="-122"/>
                <a:cs typeface="Calibri" pitchFamily="34" charset="-120"/>
              </a:rPr>
              <a:t>Scatter by Group: </a:t>
            </a:r>
            <a:pPr indent="0" marL="0">
              <a:buNone/>
            </a:pPr>
            <a:r>
              <a:rPr lang="en-US" sz="850" i="1" dirty="0">
                <a:solidFill>
                  <a:srgbClr val="D4A017"/>
                </a:solidFill>
                <a:latin typeface="Calibri" pitchFamily="34" charset="0"/>
                <a:ea typeface="Calibri" pitchFamily="34" charset="-122"/>
                <a:cs typeface="Calibri" pitchFamily="34" charset="-120"/>
              </a:rPr>
              <a:t>Chart Builder: drag group variable to Set Color zone  |  </a:t>
            </a:r>
            <a:pPr indent="0" marL="0">
              <a:buNone/>
            </a:pPr>
            <a:r>
              <a:rPr lang="en-US" sz="850" dirty="0">
                <a:solidFill>
                  <a:srgbClr val="C8A8E8"/>
                </a:solidFill>
                <a:latin typeface="Calibri" pitchFamily="34" charset="0"/>
                <a:ea typeface="Calibri" pitchFamily="34" charset="-122"/>
                <a:cs typeface="Calibri" pitchFamily="34" charset="-120"/>
              </a:rPr>
              <a:t>Show separate data points per group (e.g., male vs female) on same axes.</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0A1E"/>
          </a:solidFill>
          <a:ln w="12700">
            <a:solidFill>
              <a:srgbClr val="1A0A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Correlation - Assumptions, Cautions and Complete Interpretation</a:t>
            </a:r>
            <a:endParaRPr lang="en-US" sz="2100" dirty="0"/>
          </a:p>
        </p:txBody>
      </p:sp>
      <p:sp>
        <p:nvSpPr>
          <p:cNvPr id="4" name="Shape 2"/>
          <p:cNvSpPr/>
          <p:nvPr/>
        </p:nvSpPr>
        <p:spPr>
          <a:xfrm>
            <a:off x="228600" y="1005840"/>
            <a:ext cx="4160520" cy="1325880"/>
          </a:xfrm>
          <a:prstGeom prst="roundRect">
            <a:avLst>
              <a:gd name="adj" fmla="val 5517"/>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0040" y="1097280"/>
            <a:ext cx="384048" cy="384048"/>
          </a:xfrm>
          <a:prstGeom prst="ellipse">
            <a:avLst/>
          </a:prstGeom>
          <a:solidFill>
            <a:srgbClr val="5C1A6B"/>
          </a:solidFill>
          <a:ln w="12700">
            <a:solidFill>
              <a:srgbClr val="5C1A6B"/>
            </a:solidFill>
            <a:prstDash val="solid"/>
          </a:ln>
        </p:spPr>
      </p:sp>
      <p:sp>
        <p:nvSpPr>
          <p:cNvPr id="6" name="Text 4"/>
          <p:cNvSpPr/>
          <p:nvPr/>
        </p:nvSpPr>
        <p:spPr>
          <a:xfrm>
            <a:off x="320040" y="1097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795528" y="1115568"/>
            <a:ext cx="3493008" cy="274320"/>
          </a:xfrm>
          <a:prstGeom prst="rect">
            <a:avLst/>
          </a:prstGeom>
          <a:noFill/>
          <a:ln/>
        </p:spPr>
        <p:txBody>
          <a:bodyPr wrap="square" lIns="0" tIns="0" rIns="0" bIns="0" rtlCol="0" anchor="ctr"/>
          <a:lstStyle/>
          <a:p>
            <a:pPr indent="0" marL="0">
              <a:buNone/>
            </a:pPr>
            <a:r>
              <a:rPr lang="en-US" sz="1100" b="1" dirty="0">
                <a:solidFill>
                  <a:srgbClr val="5C1A6B"/>
                </a:solidFill>
                <a:latin typeface="Calibri" pitchFamily="34" charset="0"/>
                <a:ea typeface="Calibri" pitchFamily="34" charset="-122"/>
                <a:cs typeface="Calibri" pitchFamily="34" charset="-120"/>
              </a:rPr>
              <a:t>Both Variables Scale Level</a:t>
            </a:r>
            <a:endParaRPr lang="en-US" sz="1100" dirty="0"/>
          </a:p>
        </p:txBody>
      </p:sp>
      <p:sp>
        <p:nvSpPr>
          <p:cNvPr id="8" name="Text 6"/>
          <p:cNvSpPr/>
          <p:nvPr/>
        </p:nvSpPr>
        <p:spPr>
          <a:xfrm>
            <a:off x="338328" y="1444752"/>
            <a:ext cx="3950208" cy="512064"/>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Pearson r requires both variables to be measured at interval or ratio (Scale) level. If either variable is ordinal (e.g., a Likert scale, education bracket), use Spearman rho instead.</a:t>
            </a:r>
            <a:endParaRPr lang="en-US" sz="900" dirty="0"/>
          </a:p>
        </p:txBody>
      </p:sp>
      <p:sp>
        <p:nvSpPr>
          <p:cNvPr id="9" name="Text 7"/>
          <p:cNvSpPr/>
          <p:nvPr/>
        </p:nvSpPr>
        <p:spPr>
          <a:xfrm>
            <a:off x="338328" y="1993392"/>
            <a:ext cx="3950208" cy="274320"/>
          </a:xfrm>
          <a:prstGeom prst="rect">
            <a:avLst/>
          </a:prstGeom>
          <a:noFill/>
          <a:ln/>
        </p:spPr>
        <p:txBody>
          <a:bodyPr wrap="square" lIns="0" tIns="0" rIns="0" bIns="0" rtlCol="0" anchor="ctr"/>
          <a:lstStyle/>
          <a:p>
            <a:pPr indent="0" marL="0">
              <a:buNone/>
            </a:pPr>
            <a:r>
              <a:rPr lang="en-US" sz="850" i="1" dirty="0">
                <a:solidFill>
                  <a:srgbClr val="5C1A6B"/>
                </a:solidFill>
                <a:latin typeface="Calibri" pitchFamily="34" charset="0"/>
                <a:ea typeface="Calibri" pitchFamily="34" charset="-122"/>
                <a:cs typeface="Calibri" pitchFamily="34" charset="-120"/>
              </a:rPr>
              <a:t>Check: Check Variable View: Measure column = Scale for both variables.</a:t>
            </a:r>
            <a:endParaRPr lang="en-US" sz="850" dirty="0"/>
          </a:p>
        </p:txBody>
      </p:sp>
      <p:sp>
        <p:nvSpPr>
          <p:cNvPr id="10" name="Shape 8"/>
          <p:cNvSpPr/>
          <p:nvPr/>
        </p:nvSpPr>
        <p:spPr>
          <a:xfrm>
            <a:off x="4690872" y="1005840"/>
            <a:ext cx="4160520" cy="1325880"/>
          </a:xfrm>
          <a:prstGeom prst="roundRect">
            <a:avLst>
              <a:gd name="adj" fmla="val 5517"/>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4782312" y="1097280"/>
            <a:ext cx="384048" cy="384048"/>
          </a:xfrm>
          <a:prstGeom prst="ellipse">
            <a:avLst/>
          </a:prstGeom>
          <a:solidFill>
            <a:srgbClr val="2471A3"/>
          </a:solidFill>
          <a:ln w="12700">
            <a:solidFill>
              <a:srgbClr val="2471A3"/>
            </a:solidFill>
            <a:prstDash val="solid"/>
          </a:ln>
        </p:spPr>
      </p:sp>
      <p:sp>
        <p:nvSpPr>
          <p:cNvPr id="12" name="Text 10"/>
          <p:cNvSpPr/>
          <p:nvPr/>
        </p:nvSpPr>
        <p:spPr>
          <a:xfrm>
            <a:off x="4782312" y="1097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5257800" y="1115568"/>
            <a:ext cx="3493008" cy="274320"/>
          </a:xfrm>
          <a:prstGeom prst="rect">
            <a:avLst/>
          </a:prstGeom>
          <a:noFill/>
          <a:ln/>
        </p:spPr>
        <p:txBody>
          <a:bodyPr wrap="square" lIns="0" tIns="0" rIns="0" bIns="0" rtlCol="0" anchor="ctr"/>
          <a:lstStyle/>
          <a:p>
            <a:pPr indent="0" marL="0">
              <a:buNone/>
            </a:pPr>
            <a:r>
              <a:rPr lang="en-US" sz="1100" b="1" dirty="0">
                <a:solidFill>
                  <a:srgbClr val="2471A3"/>
                </a:solidFill>
                <a:latin typeface="Calibri" pitchFamily="34" charset="0"/>
                <a:ea typeface="Calibri" pitchFamily="34" charset="-122"/>
                <a:cs typeface="Calibri" pitchFamily="34" charset="-120"/>
              </a:rPr>
              <a:t>Linear Relationship</a:t>
            </a:r>
            <a:endParaRPr lang="en-US" sz="1100" dirty="0"/>
          </a:p>
        </p:txBody>
      </p:sp>
      <p:sp>
        <p:nvSpPr>
          <p:cNvPr id="14" name="Text 12"/>
          <p:cNvSpPr/>
          <p:nvPr/>
        </p:nvSpPr>
        <p:spPr>
          <a:xfrm>
            <a:off x="4800600" y="1444752"/>
            <a:ext cx="3950208" cy="512064"/>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Pearson r measures ONLY linear relationships. A strong curved relationship will produce a low r, falsely suggesting no association. ALWAYS examine the scatterplot first.</a:t>
            </a:r>
            <a:endParaRPr lang="en-US" sz="900" dirty="0"/>
          </a:p>
        </p:txBody>
      </p:sp>
      <p:sp>
        <p:nvSpPr>
          <p:cNvPr id="15" name="Text 13"/>
          <p:cNvSpPr/>
          <p:nvPr/>
        </p:nvSpPr>
        <p:spPr>
          <a:xfrm>
            <a:off x="4800600" y="1993392"/>
            <a:ext cx="3950208" cy="274320"/>
          </a:xfrm>
          <a:prstGeom prst="rect">
            <a:avLst/>
          </a:prstGeom>
          <a:noFill/>
          <a:ln/>
        </p:spPr>
        <p:txBody>
          <a:bodyPr wrap="square" lIns="0" tIns="0" rIns="0" bIns="0" rtlCol="0" anchor="ctr"/>
          <a:lstStyle/>
          <a:p>
            <a:pPr indent="0" marL="0">
              <a:buNone/>
            </a:pPr>
            <a:r>
              <a:rPr lang="en-US" sz="850" i="1" dirty="0">
                <a:solidFill>
                  <a:srgbClr val="2471A3"/>
                </a:solidFill>
                <a:latin typeface="Calibri" pitchFamily="34" charset="0"/>
                <a:ea typeface="Calibri" pitchFamily="34" charset="-122"/>
                <a:cs typeface="Calibri" pitchFamily="34" charset="-120"/>
              </a:rPr>
              <a:t>Check: Graphs &gt; Legacy Dialogs &gt; Scatter/Dot &gt; Simple Scatter. Look for a straight-line trend.</a:t>
            </a:r>
            <a:endParaRPr lang="en-US" sz="850" dirty="0"/>
          </a:p>
        </p:txBody>
      </p:sp>
      <p:sp>
        <p:nvSpPr>
          <p:cNvPr id="16" name="Shape 14"/>
          <p:cNvSpPr/>
          <p:nvPr/>
        </p:nvSpPr>
        <p:spPr>
          <a:xfrm>
            <a:off x="228600" y="2423160"/>
            <a:ext cx="4160520" cy="1325880"/>
          </a:xfrm>
          <a:prstGeom prst="roundRect">
            <a:avLst>
              <a:gd name="adj" fmla="val 5517"/>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20040" y="2514600"/>
            <a:ext cx="384048" cy="384048"/>
          </a:xfrm>
          <a:prstGeom prst="ellipse">
            <a:avLst/>
          </a:prstGeom>
          <a:solidFill>
            <a:srgbClr val="0E7C7B"/>
          </a:solidFill>
          <a:ln w="12700">
            <a:solidFill>
              <a:srgbClr val="0E7C7B"/>
            </a:solidFill>
            <a:prstDash val="solid"/>
          </a:ln>
        </p:spPr>
      </p:sp>
      <p:sp>
        <p:nvSpPr>
          <p:cNvPr id="18" name="Text 16"/>
          <p:cNvSpPr/>
          <p:nvPr/>
        </p:nvSpPr>
        <p:spPr>
          <a:xfrm>
            <a:off x="32004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795528" y="2532888"/>
            <a:ext cx="3493008" cy="27432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No Extreme Outliers</a:t>
            </a:r>
            <a:endParaRPr lang="en-US" sz="1100" dirty="0"/>
          </a:p>
        </p:txBody>
      </p:sp>
      <p:sp>
        <p:nvSpPr>
          <p:cNvPr id="20" name="Text 18"/>
          <p:cNvSpPr/>
          <p:nvPr/>
        </p:nvSpPr>
        <p:spPr>
          <a:xfrm>
            <a:off x="338328" y="2862072"/>
            <a:ext cx="3950208" cy="512064"/>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A single extreme outlier can artificially inflate or deflate Pearson r. Identify outliers using boxplots (Explore). Consider running correlation with and without the outlier to assess impact.</a:t>
            </a:r>
            <a:endParaRPr lang="en-US" sz="900" dirty="0"/>
          </a:p>
        </p:txBody>
      </p:sp>
      <p:sp>
        <p:nvSpPr>
          <p:cNvPr id="21" name="Text 19"/>
          <p:cNvSpPr/>
          <p:nvPr/>
        </p:nvSpPr>
        <p:spPr>
          <a:xfrm>
            <a:off x="338328" y="3410712"/>
            <a:ext cx="3950208" cy="274320"/>
          </a:xfrm>
          <a:prstGeom prst="rect">
            <a:avLst/>
          </a:prstGeom>
          <a:noFill/>
          <a:ln/>
        </p:spPr>
        <p:txBody>
          <a:bodyPr wrap="square" lIns="0" tIns="0" rIns="0" bIns="0" rtlCol="0" anchor="ctr"/>
          <a:lstStyle/>
          <a:p>
            <a:pPr indent="0" marL="0">
              <a:buNone/>
            </a:pPr>
            <a:r>
              <a:rPr lang="en-US" sz="850" i="1" dirty="0">
                <a:solidFill>
                  <a:srgbClr val="0E7C7B"/>
                </a:solidFill>
                <a:latin typeface="Calibri" pitchFamily="34" charset="0"/>
                <a:ea typeface="Calibri" pitchFamily="34" charset="-122"/>
                <a:cs typeface="Calibri" pitchFamily="34" charset="-120"/>
              </a:rPr>
              <a:t>Check: Analyze &gt; Descriptive Statistics &gt; Explore &gt; Boxplots. Asterisks (*) = extreme outliers.</a:t>
            </a:r>
            <a:endParaRPr lang="en-US" sz="850" dirty="0"/>
          </a:p>
        </p:txBody>
      </p:sp>
      <p:sp>
        <p:nvSpPr>
          <p:cNvPr id="22" name="Shape 20"/>
          <p:cNvSpPr/>
          <p:nvPr/>
        </p:nvSpPr>
        <p:spPr>
          <a:xfrm>
            <a:off x="4690872" y="2423160"/>
            <a:ext cx="4160520" cy="1325880"/>
          </a:xfrm>
          <a:prstGeom prst="roundRect">
            <a:avLst>
              <a:gd name="adj" fmla="val 5517"/>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4782312" y="2514600"/>
            <a:ext cx="384048" cy="384048"/>
          </a:xfrm>
          <a:prstGeom prst="ellipse">
            <a:avLst/>
          </a:prstGeom>
          <a:solidFill>
            <a:srgbClr val="E67E22"/>
          </a:solidFill>
          <a:ln w="12700">
            <a:solidFill>
              <a:srgbClr val="E67E22"/>
            </a:solidFill>
            <a:prstDash val="solid"/>
          </a:ln>
        </p:spPr>
      </p:sp>
      <p:sp>
        <p:nvSpPr>
          <p:cNvPr id="24" name="Text 22"/>
          <p:cNvSpPr/>
          <p:nvPr/>
        </p:nvSpPr>
        <p:spPr>
          <a:xfrm>
            <a:off x="4782312"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5" name="Text 23"/>
          <p:cNvSpPr/>
          <p:nvPr/>
        </p:nvSpPr>
        <p:spPr>
          <a:xfrm>
            <a:off x="5257800" y="2532888"/>
            <a:ext cx="3493008" cy="274320"/>
          </a:xfrm>
          <a:prstGeom prst="rect">
            <a:avLst/>
          </a:prstGeom>
          <a:noFill/>
          <a:ln/>
        </p:spPr>
        <p:txBody>
          <a:bodyPr wrap="square" lIns="0" tIns="0" rIns="0" bIns="0" rtlCol="0" anchor="ctr"/>
          <a:lstStyle/>
          <a:p>
            <a:pPr indent="0" marL="0">
              <a:buNone/>
            </a:pPr>
            <a:r>
              <a:rPr lang="en-US" sz="1100" b="1" dirty="0">
                <a:solidFill>
                  <a:srgbClr val="E67E22"/>
                </a:solidFill>
                <a:latin typeface="Calibri" pitchFamily="34" charset="0"/>
                <a:ea typeface="Calibri" pitchFamily="34" charset="-122"/>
                <a:cs typeface="Calibri" pitchFamily="34" charset="-120"/>
              </a:rPr>
              <a:t>Normality (Desirable)</a:t>
            </a:r>
            <a:endParaRPr lang="en-US" sz="1100" dirty="0"/>
          </a:p>
        </p:txBody>
      </p:sp>
      <p:sp>
        <p:nvSpPr>
          <p:cNvPr id="26" name="Text 24"/>
          <p:cNvSpPr/>
          <p:nvPr/>
        </p:nvSpPr>
        <p:spPr>
          <a:xfrm>
            <a:off x="4800600" y="2862072"/>
            <a:ext cx="3950208" cy="512064"/>
          </a:xfrm>
          <a:prstGeom prst="rect">
            <a:avLst/>
          </a:prstGeom>
          <a:noFill/>
          <a:ln/>
        </p:spPr>
        <p:txBody>
          <a:bodyPr wrap="square" lIns="0" tIns="0" rIns="0" bIns="0" rtlCol="0" anchor="ctr"/>
          <a:lstStyle/>
          <a:p>
            <a:pPr indent="0" marL="0">
              <a:buNone/>
            </a:pPr>
            <a:r>
              <a:rPr lang="en-US" sz="900" dirty="0">
                <a:solidFill>
                  <a:srgbClr val="2C1F3E"/>
                </a:solidFill>
                <a:latin typeface="Calibri" pitchFamily="34" charset="0"/>
                <a:ea typeface="Calibri" pitchFamily="34" charset="-122"/>
                <a:cs typeface="Calibri" pitchFamily="34" charset="-120"/>
              </a:rPr>
              <a:t>For inferential purposes (testing whether r is significantly different from 0), approximate normality is desirable. With large samples (n &gt; 100), this assumption is less critical.</a:t>
            </a:r>
            <a:endParaRPr lang="en-US" sz="900" dirty="0"/>
          </a:p>
        </p:txBody>
      </p:sp>
      <p:sp>
        <p:nvSpPr>
          <p:cNvPr id="27" name="Text 25"/>
          <p:cNvSpPr/>
          <p:nvPr/>
        </p:nvSpPr>
        <p:spPr>
          <a:xfrm>
            <a:off x="4800600" y="3410712"/>
            <a:ext cx="3950208" cy="274320"/>
          </a:xfrm>
          <a:prstGeom prst="rect">
            <a:avLst/>
          </a:prstGeom>
          <a:noFill/>
          <a:ln/>
        </p:spPr>
        <p:txBody>
          <a:bodyPr wrap="square" lIns="0" tIns="0" rIns="0" bIns="0" rtlCol="0" anchor="ctr"/>
          <a:lstStyle/>
          <a:p>
            <a:pPr indent="0" marL="0">
              <a:buNone/>
            </a:pPr>
            <a:r>
              <a:rPr lang="en-US" sz="850" i="1" dirty="0">
                <a:solidFill>
                  <a:srgbClr val="E67E22"/>
                </a:solidFill>
                <a:latin typeface="Calibri" pitchFamily="34" charset="0"/>
                <a:ea typeface="Calibri" pitchFamily="34" charset="-122"/>
                <a:cs typeface="Calibri" pitchFamily="34" charset="-120"/>
              </a:rPr>
              <a:t>Check: Explore &gt; Normality plots with tests. Shapiro-Wilk p &gt; .05 → normality satisfied.</a:t>
            </a:r>
            <a:endParaRPr lang="en-US" sz="850" dirty="0"/>
          </a:p>
        </p:txBody>
      </p:sp>
      <p:sp>
        <p:nvSpPr>
          <p:cNvPr id="28" name="Shape 26"/>
          <p:cNvSpPr/>
          <p:nvPr/>
        </p:nvSpPr>
        <p:spPr>
          <a:xfrm>
            <a:off x="256032" y="3913632"/>
            <a:ext cx="8631936" cy="1188720"/>
          </a:xfrm>
          <a:prstGeom prst="roundRect">
            <a:avLst>
              <a:gd name="adj" fmla="val 6923"/>
            </a:avLst>
          </a:prstGeom>
          <a:solidFill>
            <a:srgbClr val="FEF0ED"/>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9" name="Text 27"/>
          <p:cNvSpPr/>
          <p:nvPr/>
        </p:nvSpPr>
        <p:spPr>
          <a:xfrm>
            <a:off x="384048" y="3986784"/>
            <a:ext cx="8321040"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CRITICAL REMINDER: Correlation Does NOT Equal Causation</a:t>
            </a:r>
            <a:endParaRPr lang="en-US" sz="1200" dirty="0"/>
          </a:p>
        </p:txBody>
      </p:sp>
      <p:sp>
        <p:nvSpPr>
          <p:cNvPr id="30" name="Text 28"/>
          <p:cNvSpPr/>
          <p:nvPr/>
        </p:nvSpPr>
        <p:spPr>
          <a:xfrm>
            <a:off x="384048" y="4297680"/>
            <a:ext cx="8321040" cy="731520"/>
          </a:xfrm>
          <a:prstGeom prst="rect">
            <a:avLst/>
          </a:prstGeom>
          <a:noFill/>
          <a:ln/>
        </p:spPr>
        <p:txBody>
          <a:bodyPr wrap="square" lIns="0" tIns="0" rIns="0" bIns="0" rtlCol="0" anchor="ctr"/>
          <a:lstStyle/>
          <a:p>
            <a:pPr indent="0" marL="0">
              <a:buNone/>
            </a:pPr>
            <a:r>
              <a:rPr lang="en-US" sz="950" dirty="0">
                <a:solidFill>
                  <a:srgbClr val="2C1F3E"/>
                </a:solidFill>
                <a:latin typeface="Calibri" pitchFamily="34" charset="0"/>
                <a:ea typeface="Calibri" pitchFamily="34" charset="-122"/>
                <a:cs typeface="Calibri" pitchFamily="34" charset="-120"/>
              </a:rPr>
              <a:t>A significant correlation between satisfaction (sat_mean) and repurchase intention only tells us the two variables are statistically related - it does NOT tell us that increasing satisfaction CAUSES higher repurchase. Both could be driven by a third variable (e.g., product quality), or the direction of causation could be reversed (loyal customers are more satisfied because they chose UAC Foods deliberately). To establish causality, we need: (1) temporal precedence, (2) a plausible mechanism, and (3) ruling out alternative explanations - which regression and experimental design help address.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5C1A6B"/>
          </a:solidFill>
          <a:ln w="12700">
            <a:solidFill>
              <a:srgbClr val="5C1A6B"/>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Module 3 Comprehensive Practice Exercise - UAC Foods Statistical Analysis</a:t>
            </a:r>
            <a:endParaRPr lang="en-US" sz="2100" dirty="0"/>
          </a:p>
        </p:txBody>
      </p:sp>
      <p:sp>
        <p:nvSpPr>
          <p:cNvPr id="4" name="Shape 2"/>
          <p:cNvSpPr/>
          <p:nvPr/>
        </p:nvSpPr>
        <p:spPr>
          <a:xfrm>
            <a:off x="256032" y="1024128"/>
            <a:ext cx="8631936" cy="804672"/>
          </a:xfrm>
          <a:prstGeom prst="roundRect">
            <a:avLst>
              <a:gd name="adj" fmla="val 10227"/>
            </a:avLst>
          </a:prstGeom>
          <a:solidFill>
            <a:srgbClr val="2D1135"/>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78992"/>
            <a:ext cx="1143000" cy="256032"/>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SCENARIO:</a:t>
            </a:r>
            <a:endParaRPr lang="en-US" sz="1100" dirty="0"/>
          </a:p>
        </p:txBody>
      </p:sp>
      <p:sp>
        <p:nvSpPr>
          <p:cNvPr id="6" name="Text 4"/>
          <p:cNvSpPr/>
          <p:nvPr/>
        </p:nvSpPr>
        <p:spPr>
          <a:xfrm>
            <a:off x="384048" y="1353312"/>
            <a:ext cx="8229600" cy="42062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Using the clean UAC Foods dataset (N=450) created in Module 2, complete all eight analytical tasks below. For each task: run the SPSS analysis, generate the output, interpret the key results, and write a 2-3 sentence results statement as it would appear in a professional report.</a:t>
            </a:r>
            <a:endParaRPr lang="en-US" sz="1050" dirty="0"/>
          </a:p>
        </p:txBody>
      </p:sp>
      <p:sp>
        <p:nvSpPr>
          <p:cNvPr id="7" name="Shape 5"/>
          <p:cNvSpPr/>
          <p:nvPr/>
        </p:nvSpPr>
        <p:spPr>
          <a:xfrm>
            <a:off x="201168" y="1920240"/>
            <a:ext cx="2121408" cy="1444752"/>
          </a:xfrm>
          <a:prstGeom prst="roundRect">
            <a:avLst>
              <a:gd name="adj" fmla="val 4430"/>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8" name="Shape 6"/>
          <p:cNvSpPr/>
          <p:nvPr/>
        </p:nvSpPr>
        <p:spPr>
          <a:xfrm>
            <a:off x="292608" y="1993392"/>
            <a:ext cx="365760" cy="365760"/>
          </a:xfrm>
          <a:prstGeom prst="ellipse">
            <a:avLst/>
          </a:prstGeom>
          <a:solidFill>
            <a:srgbClr val="5C1A6B"/>
          </a:solidFill>
          <a:ln w="12700">
            <a:solidFill>
              <a:srgbClr val="5C1A6B"/>
            </a:solidFill>
            <a:prstDash val="solid"/>
          </a:ln>
        </p:spPr>
      </p:sp>
      <p:sp>
        <p:nvSpPr>
          <p:cNvPr id="9" name="Text 7"/>
          <p:cNvSpPr/>
          <p:nvPr/>
        </p:nvSpPr>
        <p:spPr>
          <a:xfrm>
            <a:off x="292608" y="19933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0" name="Text 8"/>
          <p:cNvSpPr/>
          <p:nvPr/>
        </p:nvSpPr>
        <p:spPr>
          <a:xfrm>
            <a:off x="731520" y="2011680"/>
            <a:ext cx="1499616" cy="329184"/>
          </a:xfrm>
          <a:prstGeom prst="rect">
            <a:avLst/>
          </a:prstGeom>
          <a:noFill/>
          <a:ln/>
        </p:spPr>
        <p:txBody>
          <a:bodyPr wrap="square" lIns="0" tIns="0" rIns="0" bIns="0" rtlCol="0" anchor="ctr"/>
          <a:lstStyle/>
          <a:p>
            <a:pPr indent="0" marL="0">
              <a:buNone/>
            </a:pPr>
            <a:r>
              <a:rPr lang="en-US" sz="950" b="1" dirty="0">
                <a:solidFill>
                  <a:srgbClr val="1A0A1E"/>
                </a:solidFill>
                <a:latin typeface="Calibri" pitchFamily="34" charset="0"/>
                <a:ea typeface="Calibri" pitchFamily="34" charset="-122"/>
                <a:cs typeface="Calibri" pitchFamily="34" charset="-120"/>
              </a:rPr>
              <a:t>Association or Difference?</a:t>
            </a:r>
            <a:endParaRPr lang="en-US" sz="950" dirty="0"/>
          </a:p>
        </p:txBody>
      </p:sp>
      <p:sp>
        <p:nvSpPr>
          <p:cNvPr id="11" name="Text 9"/>
          <p:cNvSpPr/>
          <p:nvPr/>
        </p:nvSpPr>
        <p:spPr>
          <a:xfrm>
            <a:off x="292608" y="2432304"/>
            <a:ext cx="1938528" cy="87782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For each of the following research questions, state whether it requires a Test of Association or Test of Difference, and name the specific SPSS test: (1) Does advertising spend relate to repurchase? (2) Do product preferences differ by gender? (3) Does sat_mean differ across age groups?</a:t>
            </a:r>
            <a:endParaRPr lang="en-US" sz="750" dirty="0"/>
          </a:p>
        </p:txBody>
      </p:sp>
      <p:sp>
        <p:nvSpPr>
          <p:cNvPr id="12" name="Shape 10"/>
          <p:cNvSpPr/>
          <p:nvPr/>
        </p:nvSpPr>
        <p:spPr>
          <a:xfrm>
            <a:off x="2432304" y="1920240"/>
            <a:ext cx="2121408" cy="1444752"/>
          </a:xfrm>
          <a:prstGeom prst="roundRect">
            <a:avLst>
              <a:gd name="adj" fmla="val 4430"/>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3" name="Shape 11"/>
          <p:cNvSpPr/>
          <p:nvPr/>
        </p:nvSpPr>
        <p:spPr>
          <a:xfrm>
            <a:off x="2523744" y="1993392"/>
            <a:ext cx="365760" cy="365760"/>
          </a:xfrm>
          <a:prstGeom prst="ellipse">
            <a:avLst/>
          </a:prstGeom>
          <a:solidFill>
            <a:srgbClr val="2471A3"/>
          </a:solidFill>
          <a:ln w="12700">
            <a:solidFill>
              <a:srgbClr val="2471A3"/>
            </a:solidFill>
            <a:prstDash val="solid"/>
          </a:ln>
        </p:spPr>
      </p:sp>
      <p:sp>
        <p:nvSpPr>
          <p:cNvPr id="14" name="Text 12"/>
          <p:cNvSpPr/>
          <p:nvPr/>
        </p:nvSpPr>
        <p:spPr>
          <a:xfrm>
            <a:off x="2523744" y="19933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5" name="Text 13"/>
          <p:cNvSpPr/>
          <p:nvPr/>
        </p:nvSpPr>
        <p:spPr>
          <a:xfrm>
            <a:off x="2962656" y="2011680"/>
            <a:ext cx="1499616" cy="329184"/>
          </a:xfrm>
          <a:prstGeom prst="rect">
            <a:avLst/>
          </a:prstGeom>
          <a:noFill/>
          <a:ln/>
        </p:spPr>
        <p:txBody>
          <a:bodyPr wrap="square" lIns="0" tIns="0" rIns="0" bIns="0" rtlCol="0" anchor="ctr"/>
          <a:lstStyle/>
          <a:p>
            <a:pPr indent="0" marL="0">
              <a:buNone/>
            </a:pPr>
            <a:r>
              <a:rPr lang="en-US" sz="950" b="1" dirty="0">
                <a:solidFill>
                  <a:srgbClr val="1A0A1E"/>
                </a:solidFill>
                <a:latin typeface="Calibri" pitchFamily="34" charset="0"/>
                <a:ea typeface="Calibri" pitchFamily="34" charset="-122"/>
                <a:cs typeface="Calibri" pitchFamily="34" charset="-120"/>
              </a:rPr>
              <a:t>Frequencies and Descriptives</a:t>
            </a:r>
            <a:endParaRPr lang="en-US" sz="950" dirty="0"/>
          </a:p>
        </p:txBody>
      </p:sp>
      <p:sp>
        <p:nvSpPr>
          <p:cNvPr id="16" name="Text 14"/>
          <p:cNvSpPr/>
          <p:nvPr/>
        </p:nvSpPr>
        <p:spPr>
          <a:xfrm>
            <a:off x="2523744" y="2432304"/>
            <a:ext cx="1938528" cy="87782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Run Frequencies on uac_product_pref and education_level. Run Descriptives on age_in_years, monthly_salary_ngn, and sat_mean. Report minimum, maximum, mean, and SD for each scale variable in an APA-formatted table.</a:t>
            </a:r>
            <a:endParaRPr lang="en-US" sz="750" dirty="0"/>
          </a:p>
        </p:txBody>
      </p:sp>
      <p:sp>
        <p:nvSpPr>
          <p:cNvPr id="17" name="Shape 15"/>
          <p:cNvSpPr/>
          <p:nvPr/>
        </p:nvSpPr>
        <p:spPr>
          <a:xfrm>
            <a:off x="4663440" y="1920240"/>
            <a:ext cx="2121408" cy="1444752"/>
          </a:xfrm>
          <a:prstGeom prst="roundRect">
            <a:avLst>
              <a:gd name="adj" fmla="val 4430"/>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4754880" y="1993392"/>
            <a:ext cx="365760" cy="365760"/>
          </a:xfrm>
          <a:prstGeom prst="ellipse">
            <a:avLst/>
          </a:prstGeom>
          <a:solidFill>
            <a:srgbClr val="0E7C7B"/>
          </a:solidFill>
          <a:ln w="12700">
            <a:solidFill>
              <a:srgbClr val="0E7C7B"/>
            </a:solidFill>
            <a:prstDash val="solid"/>
          </a:ln>
        </p:spPr>
      </p:sp>
      <p:sp>
        <p:nvSpPr>
          <p:cNvPr id="19" name="Text 17"/>
          <p:cNvSpPr/>
          <p:nvPr/>
        </p:nvSpPr>
        <p:spPr>
          <a:xfrm>
            <a:off x="4754880" y="19933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0" name="Text 18"/>
          <p:cNvSpPr/>
          <p:nvPr/>
        </p:nvSpPr>
        <p:spPr>
          <a:xfrm>
            <a:off x="5193792" y="2011680"/>
            <a:ext cx="1499616" cy="329184"/>
          </a:xfrm>
          <a:prstGeom prst="rect">
            <a:avLst/>
          </a:prstGeom>
          <a:noFill/>
          <a:ln/>
        </p:spPr>
        <p:txBody>
          <a:bodyPr wrap="square" lIns="0" tIns="0" rIns="0" bIns="0" rtlCol="0" anchor="ctr"/>
          <a:lstStyle/>
          <a:p>
            <a:pPr indent="0" marL="0">
              <a:buNone/>
            </a:pPr>
            <a:r>
              <a:rPr lang="en-US" sz="950" b="1" dirty="0">
                <a:solidFill>
                  <a:srgbClr val="1A0A1E"/>
                </a:solidFill>
                <a:latin typeface="Calibri" pitchFamily="34" charset="0"/>
                <a:ea typeface="Calibri" pitchFamily="34" charset="-122"/>
                <a:cs typeface="Calibri" pitchFamily="34" charset="-120"/>
              </a:rPr>
              <a:t>Normality Testing</a:t>
            </a:r>
            <a:endParaRPr lang="en-US" sz="950" dirty="0"/>
          </a:p>
        </p:txBody>
      </p:sp>
      <p:sp>
        <p:nvSpPr>
          <p:cNvPr id="21" name="Text 19"/>
          <p:cNvSpPr/>
          <p:nvPr/>
        </p:nvSpPr>
        <p:spPr>
          <a:xfrm>
            <a:off x="4754880" y="2432304"/>
            <a:ext cx="1938528" cy="87782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Use Explore to test normality of sat_mean for male and female consumers separately (use gender as Factor). Report Shapiro-Wilk results. Are parametric tests appropriate for sat_mean comparisons? Justify your answer.</a:t>
            </a:r>
            <a:endParaRPr lang="en-US" sz="750" dirty="0"/>
          </a:p>
        </p:txBody>
      </p:sp>
      <p:sp>
        <p:nvSpPr>
          <p:cNvPr id="22" name="Shape 20"/>
          <p:cNvSpPr/>
          <p:nvPr/>
        </p:nvSpPr>
        <p:spPr>
          <a:xfrm>
            <a:off x="6894576" y="1920240"/>
            <a:ext cx="2121408" cy="1444752"/>
          </a:xfrm>
          <a:prstGeom prst="roundRect">
            <a:avLst>
              <a:gd name="adj" fmla="val 4430"/>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6986016" y="1993392"/>
            <a:ext cx="365760" cy="365760"/>
          </a:xfrm>
          <a:prstGeom prst="ellipse">
            <a:avLst/>
          </a:prstGeom>
          <a:solidFill>
            <a:srgbClr val="E67E22"/>
          </a:solidFill>
          <a:ln w="12700">
            <a:solidFill>
              <a:srgbClr val="E67E22"/>
            </a:solidFill>
            <a:prstDash val="solid"/>
          </a:ln>
        </p:spPr>
      </p:sp>
      <p:sp>
        <p:nvSpPr>
          <p:cNvPr id="24" name="Text 22"/>
          <p:cNvSpPr/>
          <p:nvPr/>
        </p:nvSpPr>
        <p:spPr>
          <a:xfrm>
            <a:off x="6986016" y="19933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5" name="Text 23"/>
          <p:cNvSpPr/>
          <p:nvPr/>
        </p:nvSpPr>
        <p:spPr>
          <a:xfrm>
            <a:off x="7424928" y="2011680"/>
            <a:ext cx="1499616" cy="329184"/>
          </a:xfrm>
          <a:prstGeom prst="rect">
            <a:avLst/>
          </a:prstGeom>
          <a:noFill/>
          <a:ln/>
        </p:spPr>
        <p:txBody>
          <a:bodyPr wrap="square" lIns="0" tIns="0" rIns="0" bIns="0" rtlCol="0" anchor="ctr"/>
          <a:lstStyle/>
          <a:p>
            <a:pPr indent="0" marL="0">
              <a:buNone/>
            </a:pPr>
            <a:r>
              <a:rPr lang="en-US" sz="950" b="1" dirty="0">
                <a:solidFill>
                  <a:srgbClr val="1A0A1E"/>
                </a:solidFill>
                <a:latin typeface="Calibri" pitchFamily="34" charset="0"/>
                <a:ea typeface="Calibri" pitchFamily="34" charset="-122"/>
                <a:cs typeface="Calibri" pitchFamily="34" charset="-120"/>
              </a:rPr>
              <a:t>Cross-tabulation</a:t>
            </a:r>
            <a:endParaRPr lang="en-US" sz="950" dirty="0"/>
          </a:p>
        </p:txBody>
      </p:sp>
      <p:sp>
        <p:nvSpPr>
          <p:cNvPr id="26" name="Text 24"/>
          <p:cNvSpPr/>
          <p:nvPr/>
        </p:nvSpPr>
        <p:spPr>
          <a:xfrm>
            <a:off x="6986016" y="2432304"/>
            <a:ext cx="1938528" cy="87782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Run a Crosstab of uac_product_pref (rows) by gender (columns). Request column percentages. Write a 3-sentence description of the key gender differences in product preference from the table.</a:t>
            </a:r>
            <a:endParaRPr lang="en-US" sz="750" dirty="0"/>
          </a:p>
        </p:txBody>
      </p:sp>
      <p:sp>
        <p:nvSpPr>
          <p:cNvPr id="27" name="Shape 25"/>
          <p:cNvSpPr/>
          <p:nvPr/>
        </p:nvSpPr>
        <p:spPr>
          <a:xfrm>
            <a:off x="201168" y="3456432"/>
            <a:ext cx="2121408" cy="1444752"/>
          </a:xfrm>
          <a:prstGeom prst="roundRect">
            <a:avLst>
              <a:gd name="adj" fmla="val 4430"/>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8" name="Shape 26"/>
          <p:cNvSpPr/>
          <p:nvPr/>
        </p:nvSpPr>
        <p:spPr>
          <a:xfrm>
            <a:off x="292608" y="3529584"/>
            <a:ext cx="365760" cy="365760"/>
          </a:xfrm>
          <a:prstGeom prst="ellipse">
            <a:avLst/>
          </a:prstGeom>
          <a:solidFill>
            <a:srgbClr val="1A7A4A"/>
          </a:solidFill>
          <a:ln w="12700">
            <a:solidFill>
              <a:srgbClr val="1A7A4A"/>
            </a:solidFill>
            <a:prstDash val="solid"/>
          </a:ln>
        </p:spPr>
      </p:sp>
      <p:sp>
        <p:nvSpPr>
          <p:cNvPr id="29" name="Text 27"/>
          <p:cNvSpPr/>
          <p:nvPr/>
        </p:nvSpPr>
        <p:spPr>
          <a:xfrm>
            <a:off x="292608"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a:t>
            </a:r>
            <a:endParaRPr lang="en-US" sz="1200" dirty="0"/>
          </a:p>
        </p:txBody>
      </p:sp>
      <p:sp>
        <p:nvSpPr>
          <p:cNvPr id="30" name="Text 28"/>
          <p:cNvSpPr/>
          <p:nvPr/>
        </p:nvSpPr>
        <p:spPr>
          <a:xfrm>
            <a:off x="731520" y="3547872"/>
            <a:ext cx="1499616" cy="329184"/>
          </a:xfrm>
          <a:prstGeom prst="rect">
            <a:avLst/>
          </a:prstGeom>
          <a:noFill/>
          <a:ln/>
        </p:spPr>
        <p:txBody>
          <a:bodyPr wrap="square" lIns="0" tIns="0" rIns="0" bIns="0" rtlCol="0" anchor="ctr"/>
          <a:lstStyle/>
          <a:p>
            <a:pPr indent="0" marL="0">
              <a:buNone/>
            </a:pPr>
            <a:r>
              <a:rPr lang="en-US" sz="950" b="1" dirty="0">
                <a:solidFill>
                  <a:srgbClr val="1A0A1E"/>
                </a:solidFill>
                <a:latin typeface="Calibri" pitchFamily="34" charset="0"/>
                <a:ea typeface="Calibri" pitchFamily="34" charset="-122"/>
                <a:cs typeface="Calibri" pitchFamily="34" charset="-120"/>
              </a:rPr>
              <a:t>Histogram and Boxplot</a:t>
            </a:r>
            <a:endParaRPr lang="en-US" sz="950" dirty="0"/>
          </a:p>
        </p:txBody>
      </p:sp>
      <p:sp>
        <p:nvSpPr>
          <p:cNvPr id="31" name="Text 29"/>
          <p:cNvSpPr/>
          <p:nvPr/>
        </p:nvSpPr>
        <p:spPr>
          <a:xfrm>
            <a:off x="292608" y="3968496"/>
            <a:ext cx="1938528" cy="87782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Run a histogram (with normal curve) for sat_mean. Then run boxplots of sat_mean split by gender (gender on X-axis). Describe the distribution shape and identify any outliers from the boxplot.</a:t>
            </a:r>
            <a:endParaRPr lang="en-US" sz="750" dirty="0"/>
          </a:p>
        </p:txBody>
      </p:sp>
      <p:sp>
        <p:nvSpPr>
          <p:cNvPr id="32" name="Shape 30"/>
          <p:cNvSpPr/>
          <p:nvPr/>
        </p:nvSpPr>
        <p:spPr>
          <a:xfrm>
            <a:off x="2432304" y="3456432"/>
            <a:ext cx="2121408" cy="1444752"/>
          </a:xfrm>
          <a:prstGeom prst="roundRect">
            <a:avLst>
              <a:gd name="adj" fmla="val 4430"/>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33" name="Shape 31"/>
          <p:cNvSpPr/>
          <p:nvPr/>
        </p:nvSpPr>
        <p:spPr>
          <a:xfrm>
            <a:off x="2523744" y="3529584"/>
            <a:ext cx="365760" cy="365760"/>
          </a:xfrm>
          <a:prstGeom prst="ellipse">
            <a:avLst/>
          </a:prstGeom>
          <a:solidFill>
            <a:srgbClr val="7B2D8B"/>
          </a:solidFill>
          <a:ln w="12700">
            <a:solidFill>
              <a:srgbClr val="7B2D8B"/>
            </a:solidFill>
            <a:prstDash val="solid"/>
          </a:ln>
        </p:spPr>
      </p:sp>
      <p:sp>
        <p:nvSpPr>
          <p:cNvPr id="34" name="Text 32"/>
          <p:cNvSpPr/>
          <p:nvPr/>
        </p:nvSpPr>
        <p:spPr>
          <a:xfrm>
            <a:off x="2523744"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t>
            </a:r>
            <a:endParaRPr lang="en-US" sz="1200" dirty="0"/>
          </a:p>
        </p:txBody>
      </p:sp>
      <p:sp>
        <p:nvSpPr>
          <p:cNvPr id="35" name="Text 33"/>
          <p:cNvSpPr/>
          <p:nvPr/>
        </p:nvSpPr>
        <p:spPr>
          <a:xfrm>
            <a:off x="2962656" y="3547872"/>
            <a:ext cx="1499616" cy="329184"/>
          </a:xfrm>
          <a:prstGeom prst="rect">
            <a:avLst/>
          </a:prstGeom>
          <a:noFill/>
          <a:ln/>
        </p:spPr>
        <p:txBody>
          <a:bodyPr wrap="square" lIns="0" tIns="0" rIns="0" bIns="0" rtlCol="0" anchor="ctr"/>
          <a:lstStyle/>
          <a:p>
            <a:pPr indent="0" marL="0">
              <a:buNone/>
            </a:pPr>
            <a:r>
              <a:rPr lang="en-US" sz="950" b="1" dirty="0">
                <a:solidFill>
                  <a:srgbClr val="1A0A1E"/>
                </a:solidFill>
                <a:latin typeface="Calibri" pitchFamily="34" charset="0"/>
                <a:ea typeface="Calibri" pitchFamily="34" charset="-122"/>
                <a:cs typeface="Calibri" pitchFamily="34" charset="-120"/>
              </a:rPr>
              <a:t>Clustered Bar Chart</a:t>
            </a:r>
            <a:endParaRPr lang="en-US" sz="950" dirty="0"/>
          </a:p>
        </p:txBody>
      </p:sp>
      <p:sp>
        <p:nvSpPr>
          <p:cNvPr id="36" name="Text 34"/>
          <p:cNvSpPr/>
          <p:nvPr/>
        </p:nvSpPr>
        <p:spPr>
          <a:xfrm>
            <a:off x="2523744" y="3968496"/>
            <a:ext cx="1938528" cy="87782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Create a clustered bar chart showing mean sat_mean by uac_product_pref (X-axis) with gender as the cluster. Add data labels showing mean values. Export the chart as a PNG for use in a report.</a:t>
            </a:r>
            <a:endParaRPr lang="en-US" sz="750" dirty="0"/>
          </a:p>
        </p:txBody>
      </p:sp>
      <p:sp>
        <p:nvSpPr>
          <p:cNvPr id="37" name="Shape 35"/>
          <p:cNvSpPr/>
          <p:nvPr/>
        </p:nvSpPr>
        <p:spPr>
          <a:xfrm>
            <a:off x="4663440" y="3456432"/>
            <a:ext cx="2121408" cy="1444752"/>
          </a:xfrm>
          <a:prstGeom prst="roundRect">
            <a:avLst>
              <a:gd name="adj" fmla="val 4430"/>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38" name="Shape 36"/>
          <p:cNvSpPr/>
          <p:nvPr/>
        </p:nvSpPr>
        <p:spPr>
          <a:xfrm>
            <a:off x="4754880" y="3529584"/>
            <a:ext cx="365760" cy="365760"/>
          </a:xfrm>
          <a:prstGeom prst="ellipse">
            <a:avLst/>
          </a:prstGeom>
          <a:solidFill>
            <a:srgbClr val="C0392B"/>
          </a:solidFill>
          <a:ln w="12700">
            <a:solidFill>
              <a:srgbClr val="C0392B"/>
            </a:solidFill>
            <a:prstDash val="solid"/>
          </a:ln>
        </p:spPr>
      </p:sp>
      <p:sp>
        <p:nvSpPr>
          <p:cNvPr id="39" name="Text 37"/>
          <p:cNvSpPr/>
          <p:nvPr/>
        </p:nvSpPr>
        <p:spPr>
          <a:xfrm>
            <a:off x="475488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40" name="Text 38"/>
          <p:cNvSpPr/>
          <p:nvPr/>
        </p:nvSpPr>
        <p:spPr>
          <a:xfrm>
            <a:off x="5193792" y="3547872"/>
            <a:ext cx="1499616" cy="329184"/>
          </a:xfrm>
          <a:prstGeom prst="rect">
            <a:avLst/>
          </a:prstGeom>
          <a:noFill/>
          <a:ln/>
        </p:spPr>
        <p:txBody>
          <a:bodyPr wrap="square" lIns="0" tIns="0" rIns="0" bIns="0" rtlCol="0" anchor="ctr"/>
          <a:lstStyle/>
          <a:p>
            <a:pPr indent="0" marL="0">
              <a:buNone/>
            </a:pPr>
            <a:r>
              <a:rPr lang="en-US" sz="950" b="1" dirty="0">
                <a:solidFill>
                  <a:srgbClr val="1A0A1E"/>
                </a:solidFill>
                <a:latin typeface="Calibri" pitchFamily="34" charset="0"/>
                <a:ea typeface="Calibri" pitchFamily="34" charset="-122"/>
                <a:cs typeface="Calibri" pitchFamily="34" charset="-120"/>
              </a:rPr>
              <a:t>Pearson Correlation Matrix</a:t>
            </a:r>
            <a:endParaRPr lang="en-US" sz="950" dirty="0"/>
          </a:p>
        </p:txBody>
      </p:sp>
      <p:sp>
        <p:nvSpPr>
          <p:cNvPr id="41" name="Text 39"/>
          <p:cNvSpPr/>
          <p:nvPr/>
        </p:nvSpPr>
        <p:spPr>
          <a:xfrm>
            <a:off x="4754880" y="3968496"/>
            <a:ext cx="1938528" cy="87782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Run Pearson correlations between age_in_years, monthly_salary_ngn, sat_mean, and repurchase_intention. Identify: (1) The strongest correlation. (2) Any non-significant correlations. Write a paragraph reporting all significant correlations with r values.</a:t>
            </a:r>
            <a:endParaRPr lang="en-US" sz="750" dirty="0"/>
          </a:p>
        </p:txBody>
      </p:sp>
      <p:sp>
        <p:nvSpPr>
          <p:cNvPr id="42" name="Shape 40"/>
          <p:cNvSpPr/>
          <p:nvPr/>
        </p:nvSpPr>
        <p:spPr>
          <a:xfrm>
            <a:off x="6894576" y="3456432"/>
            <a:ext cx="2121408" cy="1444752"/>
          </a:xfrm>
          <a:prstGeom prst="roundRect">
            <a:avLst>
              <a:gd name="adj" fmla="val 4430"/>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43" name="Shape 41"/>
          <p:cNvSpPr/>
          <p:nvPr/>
        </p:nvSpPr>
        <p:spPr>
          <a:xfrm>
            <a:off x="6986016" y="3529584"/>
            <a:ext cx="365760" cy="365760"/>
          </a:xfrm>
          <a:prstGeom prst="ellipse">
            <a:avLst/>
          </a:prstGeom>
          <a:solidFill>
            <a:srgbClr val="D4A017"/>
          </a:solidFill>
          <a:ln w="12700">
            <a:solidFill>
              <a:srgbClr val="D4A017"/>
            </a:solidFill>
            <a:prstDash val="solid"/>
          </a:ln>
        </p:spPr>
      </p:sp>
      <p:sp>
        <p:nvSpPr>
          <p:cNvPr id="44" name="Text 42"/>
          <p:cNvSpPr/>
          <p:nvPr/>
        </p:nvSpPr>
        <p:spPr>
          <a:xfrm>
            <a:off x="6986016"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t>
            </a:r>
            <a:endParaRPr lang="en-US" sz="1200" dirty="0"/>
          </a:p>
        </p:txBody>
      </p:sp>
      <p:sp>
        <p:nvSpPr>
          <p:cNvPr id="45" name="Text 43"/>
          <p:cNvSpPr/>
          <p:nvPr/>
        </p:nvSpPr>
        <p:spPr>
          <a:xfrm>
            <a:off x="7424928" y="3547872"/>
            <a:ext cx="1499616" cy="329184"/>
          </a:xfrm>
          <a:prstGeom prst="rect">
            <a:avLst/>
          </a:prstGeom>
          <a:noFill/>
          <a:ln/>
        </p:spPr>
        <p:txBody>
          <a:bodyPr wrap="square" lIns="0" tIns="0" rIns="0" bIns="0" rtlCol="0" anchor="ctr"/>
          <a:lstStyle/>
          <a:p>
            <a:pPr indent="0" marL="0">
              <a:buNone/>
            </a:pPr>
            <a:r>
              <a:rPr lang="en-US" sz="950" b="1" dirty="0">
                <a:solidFill>
                  <a:srgbClr val="1A0A1E"/>
                </a:solidFill>
                <a:latin typeface="Calibri" pitchFamily="34" charset="0"/>
                <a:ea typeface="Calibri" pitchFamily="34" charset="-122"/>
                <a:cs typeface="Calibri" pitchFamily="34" charset="-120"/>
              </a:rPr>
              <a:t>Spearman + Subgroup Correlation</a:t>
            </a:r>
            <a:endParaRPr lang="en-US" sz="950" dirty="0"/>
          </a:p>
        </p:txBody>
      </p:sp>
      <p:sp>
        <p:nvSpPr>
          <p:cNvPr id="46" name="Text 44"/>
          <p:cNvSpPr/>
          <p:nvPr/>
        </p:nvSpPr>
        <p:spPr>
          <a:xfrm>
            <a:off x="6986016" y="3968496"/>
            <a:ext cx="1938528" cy="877824"/>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Run Spearman correlation between education_level and repurchase_intention. Then use Split File by gender and run Pearson correlations between sat_mean and repurchase_intention separately for male and female consumers. Compare the two r values.</a:t>
            </a:r>
            <a:endParaRPr lang="en-US" sz="750" dirty="0"/>
          </a:p>
        </p:txBody>
      </p:sp>
      <p:sp>
        <p:nvSpPr>
          <p:cNvPr id="47" name="Shape 45"/>
          <p:cNvSpPr/>
          <p:nvPr/>
        </p:nvSpPr>
        <p:spPr>
          <a:xfrm>
            <a:off x="256032" y="5102352"/>
            <a:ext cx="8631936" cy="384048"/>
          </a:xfrm>
          <a:prstGeom prst="roundRect">
            <a:avLst>
              <a:gd name="adj" fmla="val 14286"/>
            </a:avLst>
          </a:prstGeom>
          <a:solidFill>
            <a:srgbClr val="FFFBEC"/>
          </a:solidFill>
          <a:ln w="19050">
            <a:solidFill>
              <a:srgbClr val="D4A017"/>
            </a:solidFill>
            <a:prstDash val="solid"/>
          </a:ln>
        </p:spPr>
      </p:sp>
      <p:sp>
        <p:nvSpPr>
          <p:cNvPr id="48" name="Text 46"/>
          <p:cNvSpPr/>
          <p:nvPr/>
        </p:nvSpPr>
        <p:spPr>
          <a:xfrm>
            <a:off x="384048" y="5102352"/>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Allow 60-75 minutes. Tasks A-D can be completed individually. Tasks E-H work well in pairs. Debrief Task G correlation matrix as a group - identify the most analytically important correlation for UAC Foods business decisions.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D4A017">
              <a:alpha val="12000"/>
            </a:srgbClr>
          </a:solidFill>
          <a:ln w="12700">
            <a:solidFill>
              <a:srgbClr val="D4A017"/>
            </a:solidFill>
            <a:prstDash val="solid"/>
          </a:ln>
        </p:spPr>
      </p:sp>
      <p:sp>
        <p:nvSpPr>
          <p:cNvPr id="3" name="Shape 1"/>
          <p:cNvSpPr/>
          <p:nvPr/>
        </p:nvSpPr>
        <p:spPr>
          <a:xfrm>
            <a:off x="6858000" y="3200400"/>
            <a:ext cx="3657600" cy="3657600"/>
          </a:xfrm>
          <a:prstGeom prst="ellipse">
            <a:avLst/>
          </a:prstGeom>
          <a:solidFill>
            <a:srgbClr val="5C1A6B">
              <a:alpha val="16000"/>
            </a:srgbClr>
          </a:solidFill>
          <a:ln w="12700">
            <a:solidFill>
              <a:srgbClr val="5C1A6B"/>
            </a:solidFill>
            <a:prstDash val="solid"/>
          </a:ln>
        </p:spPr>
      </p:sp>
      <p:sp>
        <p:nvSpPr>
          <p:cNvPr id="4" name="Text 2"/>
          <p:cNvSpPr/>
          <p:nvPr/>
        </p:nvSpPr>
        <p:spPr>
          <a:xfrm>
            <a:off x="457200" y="164592"/>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Module 3 - Key Takeaways</a:t>
            </a:r>
            <a:endParaRPr lang="en-US" sz="3000" dirty="0"/>
          </a:p>
        </p:txBody>
      </p:sp>
      <p:sp>
        <p:nvSpPr>
          <p:cNvPr id="5" name="Shape 3"/>
          <p:cNvSpPr/>
          <p:nvPr/>
        </p:nvSpPr>
        <p:spPr>
          <a:xfrm>
            <a:off x="320040" y="932688"/>
            <a:ext cx="4160520" cy="731520"/>
          </a:xfrm>
          <a:prstGeom prst="roundRect">
            <a:avLst>
              <a:gd name="adj" fmla="val 8750"/>
            </a:avLst>
          </a:prstGeom>
          <a:solidFill>
            <a:srgbClr val="0D0820"/>
          </a:solidFill>
          <a:ln w="6350">
            <a:solidFill>
              <a:srgbClr val="7B2D8B"/>
            </a:solidFill>
            <a:prstDash val="solid"/>
          </a:ln>
        </p:spPr>
      </p:sp>
      <p:sp>
        <p:nvSpPr>
          <p:cNvPr id="6" name="Shape 4"/>
          <p:cNvSpPr/>
          <p:nvPr/>
        </p:nvSpPr>
        <p:spPr>
          <a:xfrm>
            <a:off x="411480" y="1133856"/>
            <a:ext cx="292608" cy="292608"/>
          </a:xfrm>
          <a:prstGeom prst="ellipse">
            <a:avLst/>
          </a:prstGeom>
          <a:solidFill>
            <a:srgbClr val="F0C040"/>
          </a:solidFill>
          <a:ln w="12700">
            <a:solidFill>
              <a:srgbClr val="F0C040"/>
            </a:solidFill>
            <a:prstDash val="solid"/>
          </a:ln>
        </p:spPr>
      </p:sp>
      <p:sp>
        <p:nvSpPr>
          <p:cNvPr id="7" name="Text 5"/>
          <p:cNvSpPr/>
          <p:nvPr/>
        </p:nvSpPr>
        <p:spPr>
          <a:xfrm>
            <a:off x="411480" y="1133856"/>
            <a:ext cx="292608" cy="292608"/>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1</a:t>
            </a:r>
            <a:endParaRPr lang="en-US" sz="800" dirty="0"/>
          </a:p>
        </p:txBody>
      </p:sp>
      <p:sp>
        <p:nvSpPr>
          <p:cNvPr id="8" name="Text 6"/>
          <p:cNvSpPr/>
          <p:nvPr/>
        </p:nvSpPr>
        <p:spPr>
          <a:xfrm>
            <a:off x="777240" y="1005840"/>
            <a:ext cx="3611880" cy="585216"/>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Tests of Association ask whether two variables are related (correlation, chi-square, regression). Tests of Difference ask whether groups differ on a measured outcome (t-tests, ANOVA).</a:t>
            </a:r>
            <a:endParaRPr lang="en-US" sz="850" dirty="0"/>
          </a:p>
        </p:txBody>
      </p:sp>
      <p:sp>
        <p:nvSpPr>
          <p:cNvPr id="9" name="Shape 7"/>
          <p:cNvSpPr/>
          <p:nvPr/>
        </p:nvSpPr>
        <p:spPr>
          <a:xfrm>
            <a:off x="320040" y="1755648"/>
            <a:ext cx="4160520" cy="731520"/>
          </a:xfrm>
          <a:prstGeom prst="roundRect">
            <a:avLst>
              <a:gd name="adj" fmla="val 8750"/>
            </a:avLst>
          </a:prstGeom>
          <a:solidFill>
            <a:srgbClr val="0D0820"/>
          </a:solidFill>
          <a:ln w="6350">
            <a:solidFill>
              <a:srgbClr val="7B2D8B"/>
            </a:solidFill>
            <a:prstDash val="solid"/>
          </a:ln>
        </p:spPr>
      </p:sp>
      <p:sp>
        <p:nvSpPr>
          <p:cNvPr id="10" name="Shape 8"/>
          <p:cNvSpPr/>
          <p:nvPr/>
        </p:nvSpPr>
        <p:spPr>
          <a:xfrm>
            <a:off x="411480" y="1956816"/>
            <a:ext cx="292608" cy="292608"/>
          </a:xfrm>
          <a:prstGeom prst="ellipse">
            <a:avLst/>
          </a:prstGeom>
          <a:solidFill>
            <a:srgbClr val="F0C040"/>
          </a:solidFill>
          <a:ln w="12700">
            <a:solidFill>
              <a:srgbClr val="F0C040"/>
            </a:solidFill>
            <a:prstDash val="solid"/>
          </a:ln>
        </p:spPr>
      </p:sp>
      <p:sp>
        <p:nvSpPr>
          <p:cNvPr id="11" name="Text 9"/>
          <p:cNvSpPr/>
          <p:nvPr/>
        </p:nvSpPr>
        <p:spPr>
          <a:xfrm>
            <a:off x="411480" y="1956816"/>
            <a:ext cx="292608" cy="292608"/>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2</a:t>
            </a:r>
            <a:endParaRPr lang="en-US" sz="800" dirty="0"/>
          </a:p>
        </p:txBody>
      </p:sp>
      <p:sp>
        <p:nvSpPr>
          <p:cNvPr id="12" name="Text 10"/>
          <p:cNvSpPr/>
          <p:nvPr/>
        </p:nvSpPr>
        <p:spPr>
          <a:xfrm>
            <a:off x="777240" y="1828800"/>
            <a:ext cx="3611880" cy="585216"/>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The 7-step hypothesis testing process applies to EVERY inferential analysis: state H0 and H1, set alpha, check assumptions, run test, find p-value, make decision, report with effect size.</a:t>
            </a:r>
            <a:endParaRPr lang="en-US" sz="850" dirty="0"/>
          </a:p>
        </p:txBody>
      </p:sp>
      <p:sp>
        <p:nvSpPr>
          <p:cNvPr id="13" name="Shape 11"/>
          <p:cNvSpPr/>
          <p:nvPr/>
        </p:nvSpPr>
        <p:spPr>
          <a:xfrm>
            <a:off x="320040" y="2578608"/>
            <a:ext cx="4160520" cy="731520"/>
          </a:xfrm>
          <a:prstGeom prst="roundRect">
            <a:avLst>
              <a:gd name="adj" fmla="val 8750"/>
            </a:avLst>
          </a:prstGeom>
          <a:solidFill>
            <a:srgbClr val="0D0820"/>
          </a:solidFill>
          <a:ln w="6350">
            <a:solidFill>
              <a:srgbClr val="7B2D8B"/>
            </a:solidFill>
            <a:prstDash val="solid"/>
          </a:ln>
        </p:spPr>
      </p:sp>
      <p:sp>
        <p:nvSpPr>
          <p:cNvPr id="14" name="Shape 12"/>
          <p:cNvSpPr/>
          <p:nvPr/>
        </p:nvSpPr>
        <p:spPr>
          <a:xfrm>
            <a:off x="411480" y="2779776"/>
            <a:ext cx="292608" cy="292608"/>
          </a:xfrm>
          <a:prstGeom prst="ellipse">
            <a:avLst/>
          </a:prstGeom>
          <a:solidFill>
            <a:srgbClr val="F0C040"/>
          </a:solidFill>
          <a:ln w="12700">
            <a:solidFill>
              <a:srgbClr val="F0C040"/>
            </a:solidFill>
            <a:prstDash val="solid"/>
          </a:ln>
        </p:spPr>
      </p:sp>
      <p:sp>
        <p:nvSpPr>
          <p:cNvPr id="15" name="Text 13"/>
          <p:cNvSpPr/>
          <p:nvPr/>
        </p:nvSpPr>
        <p:spPr>
          <a:xfrm>
            <a:off x="411480" y="2779776"/>
            <a:ext cx="292608" cy="292608"/>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777240" y="2651760"/>
            <a:ext cx="3611880" cy="585216"/>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Statistical significance (p &lt; .05) answers IS the effect real? Effect size (Cohen's d, r, eta-squared) answers HOW LARGE is the effect? Both are required in every results section.</a:t>
            </a:r>
            <a:endParaRPr lang="en-US" sz="850" dirty="0"/>
          </a:p>
        </p:txBody>
      </p:sp>
      <p:sp>
        <p:nvSpPr>
          <p:cNvPr id="17" name="Shape 15"/>
          <p:cNvSpPr/>
          <p:nvPr/>
        </p:nvSpPr>
        <p:spPr>
          <a:xfrm>
            <a:off x="320040" y="3401568"/>
            <a:ext cx="4160520" cy="731520"/>
          </a:xfrm>
          <a:prstGeom prst="roundRect">
            <a:avLst>
              <a:gd name="adj" fmla="val 8750"/>
            </a:avLst>
          </a:prstGeom>
          <a:solidFill>
            <a:srgbClr val="0D0820"/>
          </a:solidFill>
          <a:ln w="6350">
            <a:solidFill>
              <a:srgbClr val="7B2D8B"/>
            </a:solidFill>
            <a:prstDash val="solid"/>
          </a:ln>
        </p:spPr>
      </p:sp>
      <p:sp>
        <p:nvSpPr>
          <p:cNvPr id="18" name="Shape 16"/>
          <p:cNvSpPr/>
          <p:nvPr/>
        </p:nvSpPr>
        <p:spPr>
          <a:xfrm>
            <a:off x="411480" y="3602736"/>
            <a:ext cx="292608" cy="292608"/>
          </a:xfrm>
          <a:prstGeom prst="ellipse">
            <a:avLst/>
          </a:prstGeom>
          <a:solidFill>
            <a:srgbClr val="F0C040"/>
          </a:solidFill>
          <a:ln w="12700">
            <a:solidFill>
              <a:srgbClr val="F0C040"/>
            </a:solidFill>
            <a:prstDash val="solid"/>
          </a:ln>
        </p:spPr>
      </p:sp>
      <p:sp>
        <p:nvSpPr>
          <p:cNvPr id="19" name="Text 17"/>
          <p:cNvSpPr/>
          <p:nvPr/>
        </p:nvSpPr>
        <p:spPr>
          <a:xfrm>
            <a:off x="411480" y="3602736"/>
            <a:ext cx="292608" cy="292608"/>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777240" y="3474720"/>
            <a:ext cx="3611880" cy="585216"/>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For central tendency: mean is best for symmetric scale data. Median is best for skewed data or data with outliers. Mode is the ONLY valid measure for nominal variables.</a:t>
            </a:r>
            <a:endParaRPr lang="en-US" sz="850" dirty="0"/>
          </a:p>
        </p:txBody>
      </p:sp>
      <p:sp>
        <p:nvSpPr>
          <p:cNvPr id="21" name="Shape 19"/>
          <p:cNvSpPr/>
          <p:nvPr/>
        </p:nvSpPr>
        <p:spPr>
          <a:xfrm>
            <a:off x="320040" y="4224528"/>
            <a:ext cx="4160520" cy="731520"/>
          </a:xfrm>
          <a:prstGeom prst="roundRect">
            <a:avLst>
              <a:gd name="adj" fmla="val 8750"/>
            </a:avLst>
          </a:prstGeom>
          <a:solidFill>
            <a:srgbClr val="0D0820"/>
          </a:solidFill>
          <a:ln w="6350">
            <a:solidFill>
              <a:srgbClr val="7B2D8B"/>
            </a:solidFill>
            <a:prstDash val="solid"/>
          </a:ln>
        </p:spPr>
      </p:sp>
      <p:sp>
        <p:nvSpPr>
          <p:cNvPr id="22" name="Shape 20"/>
          <p:cNvSpPr/>
          <p:nvPr/>
        </p:nvSpPr>
        <p:spPr>
          <a:xfrm>
            <a:off x="411480" y="4425696"/>
            <a:ext cx="292608" cy="292608"/>
          </a:xfrm>
          <a:prstGeom prst="ellipse">
            <a:avLst/>
          </a:prstGeom>
          <a:solidFill>
            <a:srgbClr val="F0C040"/>
          </a:solidFill>
          <a:ln w="12700">
            <a:solidFill>
              <a:srgbClr val="F0C040"/>
            </a:solidFill>
            <a:prstDash val="solid"/>
          </a:ln>
        </p:spPr>
      </p:sp>
      <p:sp>
        <p:nvSpPr>
          <p:cNvPr id="23" name="Text 21"/>
          <p:cNvSpPr/>
          <p:nvPr/>
        </p:nvSpPr>
        <p:spPr>
          <a:xfrm>
            <a:off x="411480" y="4425696"/>
            <a:ext cx="292608" cy="292608"/>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5</a:t>
            </a:r>
            <a:endParaRPr lang="en-US" sz="800" dirty="0"/>
          </a:p>
        </p:txBody>
      </p:sp>
      <p:sp>
        <p:nvSpPr>
          <p:cNvPr id="24" name="Text 22"/>
          <p:cNvSpPr/>
          <p:nvPr/>
        </p:nvSpPr>
        <p:spPr>
          <a:xfrm>
            <a:off x="777240" y="4297680"/>
            <a:ext cx="3611880" cy="585216"/>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Standard deviation describes the average spread from the mean. IQR is more robust for skewed distributions. Always check skewness and kurtosis before running parametric tests.</a:t>
            </a:r>
            <a:endParaRPr lang="en-US" sz="850" dirty="0"/>
          </a:p>
        </p:txBody>
      </p:sp>
      <p:sp>
        <p:nvSpPr>
          <p:cNvPr id="25" name="Shape 23"/>
          <p:cNvSpPr/>
          <p:nvPr/>
        </p:nvSpPr>
        <p:spPr>
          <a:xfrm>
            <a:off x="4782312" y="932688"/>
            <a:ext cx="4160520" cy="731520"/>
          </a:xfrm>
          <a:prstGeom prst="roundRect">
            <a:avLst>
              <a:gd name="adj" fmla="val 8750"/>
            </a:avLst>
          </a:prstGeom>
          <a:solidFill>
            <a:srgbClr val="0D0820"/>
          </a:solidFill>
          <a:ln w="6350">
            <a:solidFill>
              <a:srgbClr val="7B2D8B"/>
            </a:solidFill>
            <a:prstDash val="solid"/>
          </a:ln>
        </p:spPr>
      </p:sp>
      <p:sp>
        <p:nvSpPr>
          <p:cNvPr id="26" name="Shape 24"/>
          <p:cNvSpPr/>
          <p:nvPr/>
        </p:nvSpPr>
        <p:spPr>
          <a:xfrm>
            <a:off x="4873752" y="1133856"/>
            <a:ext cx="292608" cy="292608"/>
          </a:xfrm>
          <a:prstGeom prst="ellipse">
            <a:avLst/>
          </a:prstGeom>
          <a:solidFill>
            <a:srgbClr val="F0C040"/>
          </a:solidFill>
          <a:ln w="12700">
            <a:solidFill>
              <a:srgbClr val="F0C040"/>
            </a:solidFill>
            <a:prstDash val="solid"/>
          </a:ln>
        </p:spPr>
      </p:sp>
      <p:sp>
        <p:nvSpPr>
          <p:cNvPr id="27" name="Text 25"/>
          <p:cNvSpPr/>
          <p:nvPr/>
        </p:nvSpPr>
        <p:spPr>
          <a:xfrm>
            <a:off x="4873752" y="1133856"/>
            <a:ext cx="292608" cy="292608"/>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6</a:t>
            </a:r>
            <a:endParaRPr lang="en-US" sz="800" dirty="0"/>
          </a:p>
        </p:txBody>
      </p:sp>
      <p:sp>
        <p:nvSpPr>
          <p:cNvPr id="28" name="Text 26"/>
          <p:cNvSpPr/>
          <p:nvPr/>
        </p:nvSpPr>
        <p:spPr>
          <a:xfrm>
            <a:off x="5239512" y="1005840"/>
            <a:ext cx="3611880" cy="585216"/>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Analyze &gt; Descriptive Statistics &gt; Explore produces the most comprehensive output including formal normality tests (Shapiro-Wilk). Run it before every t-test, ANOVA, or correlation.</a:t>
            </a:r>
            <a:endParaRPr lang="en-US" sz="850" dirty="0"/>
          </a:p>
        </p:txBody>
      </p:sp>
      <p:sp>
        <p:nvSpPr>
          <p:cNvPr id="29" name="Shape 27"/>
          <p:cNvSpPr/>
          <p:nvPr/>
        </p:nvSpPr>
        <p:spPr>
          <a:xfrm>
            <a:off x="4782312" y="1755648"/>
            <a:ext cx="4160520" cy="731520"/>
          </a:xfrm>
          <a:prstGeom prst="roundRect">
            <a:avLst>
              <a:gd name="adj" fmla="val 8750"/>
            </a:avLst>
          </a:prstGeom>
          <a:solidFill>
            <a:srgbClr val="0D0820"/>
          </a:solidFill>
          <a:ln w="6350">
            <a:solidFill>
              <a:srgbClr val="7B2D8B"/>
            </a:solidFill>
            <a:prstDash val="solid"/>
          </a:ln>
        </p:spPr>
      </p:sp>
      <p:sp>
        <p:nvSpPr>
          <p:cNvPr id="30" name="Shape 28"/>
          <p:cNvSpPr/>
          <p:nvPr/>
        </p:nvSpPr>
        <p:spPr>
          <a:xfrm>
            <a:off x="4873752" y="1956816"/>
            <a:ext cx="292608" cy="292608"/>
          </a:xfrm>
          <a:prstGeom prst="ellipse">
            <a:avLst/>
          </a:prstGeom>
          <a:solidFill>
            <a:srgbClr val="F0C040"/>
          </a:solidFill>
          <a:ln w="12700">
            <a:solidFill>
              <a:srgbClr val="F0C040"/>
            </a:solidFill>
            <a:prstDash val="solid"/>
          </a:ln>
        </p:spPr>
      </p:sp>
      <p:sp>
        <p:nvSpPr>
          <p:cNvPr id="31" name="Text 29"/>
          <p:cNvSpPr/>
          <p:nvPr/>
        </p:nvSpPr>
        <p:spPr>
          <a:xfrm>
            <a:off x="4873752" y="1956816"/>
            <a:ext cx="292608" cy="292608"/>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7</a:t>
            </a:r>
            <a:endParaRPr lang="en-US" sz="800" dirty="0"/>
          </a:p>
        </p:txBody>
      </p:sp>
      <p:sp>
        <p:nvSpPr>
          <p:cNvPr id="32" name="Text 30"/>
          <p:cNvSpPr/>
          <p:nvPr/>
        </p:nvSpPr>
        <p:spPr>
          <a:xfrm>
            <a:off x="5239512" y="1828800"/>
            <a:ext cx="3611880" cy="585216"/>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Always report Valid Percent from Frequencies output - never Percent, which includes missing cases in the denominator.</a:t>
            </a:r>
            <a:endParaRPr lang="en-US" sz="850" dirty="0"/>
          </a:p>
        </p:txBody>
      </p:sp>
      <p:sp>
        <p:nvSpPr>
          <p:cNvPr id="33" name="Shape 31"/>
          <p:cNvSpPr/>
          <p:nvPr/>
        </p:nvSpPr>
        <p:spPr>
          <a:xfrm>
            <a:off x="4782312" y="2578608"/>
            <a:ext cx="4160520" cy="731520"/>
          </a:xfrm>
          <a:prstGeom prst="roundRect">
            <a:avLst>
              <a:gd name="adj" fmla="val 8750"/>
            </a:avLst>
          </a:prstGeom>
          <a:solidFill>
            <a:srgbClr val="0D0820"/>
          </a:solidFill>
          <a:ln w="6350">
            <a:solidFill>
              <a:srgbClr val="7B2D8B"/>
            </a:solidFill>
            <a:prstDash val="solid"/>
          </a:ln>
        </p:spPr>
      </p:sp>
      <p:sp>
        <p:nvSpPr>
          <p:cNvPr id="34" name="Shape 32"/>
          <p:cNvSpPr/>
          <p:nvPr/>
        </p:nvSpPr>
        <p:spPr>
          <a:xfrm>
            <a:off x="4873752" y="2779776"/>
            <a:ext cx="292608" cy="292608"/>
          </a:xfrm>
          <a:prstGeom prst="ellipse">
            <a:avLst/>
          </a:prstGeom>
          <a:solidFill>
            <a:srgbClr val="F0C040"/>
          </a:solidFill>
          <a:ln w="12700">
            <a:solidFill>
              <a:srgbClr val="F0C040"/>
            </a:solidFill>
            <a:prstDash val="solid"/>
          </a:ln>
        </p:spPr>
      </p:sp>
      <p:sp>
        <p:nvSpPr>
          <p:cNvPr id="35" name="Text 33"/>
          <p:cNvSpPr/>
          <p:nvPr/>
        </p:nvSpPr>
        <p:spPr>
          <a:xfrm>
            <a:off x="4873752" y="2779776"/>
            <a:ext cx="292608" cy="292608"/>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8</a:t>
            </a:r>
            <a:endParaRPr lang="en-US" sz="800" dirty="0"/>
          </a:p>
        </p:txBody>
      </p:sp>
      <p:sp>
        <p:nvSpPr>
          <p:cNvPr id="36" name="Text 34"/>
          <p:cNvSpPr/>
          <p:nvPr/>
        </p:nvSpPr>
        <p:spPr>
          <a:xfrm>
            <a:off x="5239512" y="2651760"/>
            <a:ext cx="3611880" cy="585216"/>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ALWAYS examine a scatterplot before running Pearson correlation. A significant r could reflect a non-linear relationship, or be distorted by a single outlier.</a:t>
            </a:r>
            <a:endParaRPr lang="en-US" sz="850" dirty="0"/>
          </a:p>
        </p:txBody>
      </p:sp>
      <p:sp>
        <p:nvSpPr>
          <p:cNvPr id="37" name="Shape 35"/>
          <p:cNvSpPr/>
          <p:nvPr/>
        </p:nvSpPr>
        <p:spPr>
          <a:xfrm>
            <a:off x="4782312" y="3401568"/>
            <a:ext cx="4160520" cy="731520"/>
          </a:xfrm>
          <a:prstGeom prst="roundRect">
            <a:avLst>
              <a:gd name="adj" fmla="val 8750"/>
            </a:avLst>
          </a:prstGeom>
          <a:solidFill>
            <a:srgbClr val="0D0820"/>
          </a:solidFill>
          <a:ln w="6350">
            <a:solidFill>
              <a:srgbClr val="7B2D8B"/>
            </a:solidFill>
            <a:prstDash val="solid"/>
          </a:ln>
        </p:spPr>
      </p:sp>
      <p:sp>
        <p:nvSpPr>
          <p:cNvPr id="38" name="Shape 36"/>
          <p:cNvSpPr/>
          <p:nvPr/>
        </p:nvSpPr>
        <p:spPr>
          <a:xfrm>
            <a:off x="4873752" y="3602736"/>
            <a:ext cx="292608" cy="292608"/>
          </a:xfrm>
          <a:prstGeom prst="ellipse">
            <a:avLst/>
          </a:prstGeom>
          <a:solidFill>
            <a:srgbClr val="F0C040"/>
          </a:solidFill>
          <a:ln w="12700">
            <a:solidFill>
              <a:srgbClr val="F0C040"/>
            </a:solidFill>
            <a:prstDash val="solid"/>
          </a:ln>
        </p:spPr>
      </p:sp>
      <p:sp>
        <p:nvSpPr>
          <p:cNvPr id="39" name="Text 37"/>
          <p:cNvSpPr/>
          <p:nvPr/>
        </p:nvSpPr>
        <p:spPr>
          <a:xfrm>
            <a:off x="4873752" y="3602736"/>
            <a:ext cx="292608" cy="292608"/>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9</a:t>
            </a:r>
            <a:endParaRPr lang="en-US" sz="800" dirty="0"/>
          </a:p>
        </p:txBody>
      </p:sp>
      <p:sp>
        <p:nvSpPr>
          <p:cNvPr id="40" name="Text 38"/>
          <p:cNvSpPr/>
          <p:nvPr/>
        </p:nvSpPr>
        <p:spPr>
          <a:xfrm>
            <a:off x="5239512" y="3474720"/>
            <a:ext cx="3611880" cy="585216"/>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Correlation does not imply causation. Two variables can be strongly correlated because both are caused by a third variable. Correlation quantifies relationships, not causal mechanisms.</a:t>
            </a:r>
            <a:endParaRPr lang="en-US" sz="850" dirty="0"/>
          </a:p>
        </p:txBody>
      </p:sp>
      <p:sp>
        <p:nvSpPr>
          <p:cNvPr id="41" name="Shape 39"/>
          <p:cNvSpPr/>
          <p:nvPr/>
        </p:nvSpPr>
        <p:spPr>
          <a:xfrm>
            <a:off x="4782312" y="4224528"/>
            <a:ext cx="4160520" cy="731520"/>
          </a:xfrm>
          <a:prstGeom prst="roundRect">
            <a:avLst>
              <a:gd name="adj" fmla="val 8750"/>
            </a:avLst>
          </a:prstGeom>
          <a:solidFill>
            <a:srgbClr val="0D0820"/>
          </a:solidFill>
          <a:ln w="6350">
            <a:solidFill>
              <a:srgbClr val="7B2D8B"/>
            </a:solidFill>
            <a:prstDash val="solid"/>
          </a:ln>
        </p:spPr>
      </p:sp>
      <p:sp>
        <p:nvSpPr>
          <p:cNvPr id="42" name="Shape 40"/>
          <p:cNvSpPr/>
          <p:nvPr/>
        </p:nvSpPr>
        <p:spPr>
          <a:xfrm>
            <a:off x="4873752" y="4425696"/>
            <a:ext cx="292608" cy="292608"/>
          </a:xfrm>
          <a:prstGeom prst="ellipse">
            <a:avLst/>
          </a:prstGeom>
          <a:solidFill>
            <a:srgbClr val="F0C040"/>
          </a:solidFill>
          <a:ln w="12700">
            <a:solidFill>
              <a:srgbClr val="F0C040"/>
            </a:solidFill>
            <a:prstDash val="solid"/>
          </a:ln>
        </p:spPr>
      </p:sp>
      <p:sp>
        <p:nvSpPr>
          <p:cNvPr id="43" name="Text 41"/>
          <p:cNvSpPr/>
          <p:nvPr/>
        </p:nvSpPr>
        <p:spPr>
          <a:xfrm>
            <a:off x="4873752" y="4425696"/>
            <a:ext cx="292608" cy="292608"/>
          </a:xfrm>
          <a:prstGeom prst="rect">
            <a:avLst/>
          </a:prstGeom>
          <a:noFill/>
          <a:ln/>
        </p:spPr>
        <p:txBody>
          <a:bodyPr wrap="square" lIns="0" tIns="0" rIns="0" bIns="0" rtlCol="0" anchor="ctr"/>
          <a:lstStyle/>
          <a:p>
            <a:pPr algn="ctr" indent="0" marL="0">
              <a:buNone/>
            </a:pPr>
            <a:r>
              <a:rPr lang="en-US" sz="800" b="1" dirty="0">
                <a:solidFill>
                  <a:srgbClr val="1A0A1E"/>
                </a:solidFill>
                <a:latin typeface="Calibri" pitchFamily="34" charset="0"/>
                <a:ea typeface="Calibri" pitchFamily="34" charset="-122"/>
                <a:cs typeface="Calibri" pitchFamily="34" charset="-120"/>
              </a:rPr>
              <a:t>10</a:t>
            </a:r>
            <a:endParaRPr lang="en-US" sz="800" dirty="0"/>
          </a:p>
        </p:txBody>
      </p:sp>
      <p:sp>
        <p:nvSpPr>
          <p:cNvPr id="44" name="Text 42"/>
          <p:cNvSpPr/>
          <p:nvPr/>
        </p:nvSpPr>
        <p:spPr>
          <a:xfrm>
            <a:off x="5239512" y="4297680"/>
            <a:ext cx="3611880" cy="585216"/>
          </a:xfrm>
          <a:prstGeom prst="rect">
            <a:avLst/>
          </a:prstGeom>
          <a:noFill/>
          <a:ln/>
        </p:spPr>
        <p:txBody>
          <a:bodyPr wrap="square" lIns="0" tIns="0" rIns="0" bIns="0" rtlCol="0" anchor="ctr"/>
          <a:lstStyle/>
          <a:p>
            <a:pPr indent="0" marL="0">
              <a:buNone/>
            </a:pPr>
            <a:r>
              <a:rPr lang="en-US" sz="850" dirty="0">
                <a:solidFill>
                  <a:srgbClr val="C8A8E8"/>
                </a:solidFill>
                <a:latin typeface="Calibri" pitchFamily="34" charset="0"/>
                <a:ea typeface="Calibri" pitchFamily="34" charset="-122"/>
                <a:cs typeface="Calibri" pitchFamily="34" charset="-120"/>
              </a:rPr>
              <a:t>Charts should have descriptive titles, labelled axes with units, data labels or clear scale, and N reported. Professional, consistent charts signal analytical rigour to any reader.</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0A1E"/>
          </a:solidFill>
          <a:ln w="12700">
            <a:solidFill>
              <a:srgbClr val="1A0A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Module 3 Assessment - Statistical Reasoning and Interpretation</a:t>
            </a:r>
            <a:endParaRPr lang="en-US" sz="2100" dirty="0"/>
          </a:p>
        </p:txBody>
      </p:sp>
      <p:sp>
        <p:nvSpPr>
          <p:cNvPr id="4" name="Shape 2"/>
          <p:cNvSpPr/>
          <p:nvPr/>
        </p:nvSpPr>
        <p:spPr>
          <a:xfrm>
            <a:off x="256032" y="1024128"/>
            <a:ext cx="8631936" cy="950976"/>
          </a:xfrm>
          <a:prstGeom prst="roundRect">
            <a:avLst>
              <a:gd name="adj" fmla="val 76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115568"/>
            <a:ext cx="347472" cy="347472"/>
          </a:xfrm>
          <a:prstGeom prst="ellipse">
            <a:avLst/>
          </a:prstGeom>
          <a:solidFill>
            <a:srgbClr val="1A0A1E"/>
          </a:solidFill>
          <a:ln w="12700">
            <a:solidFill>
              <a:srgbClr val="1A0A1E"/>
            </a:solidFill>
            <a:prstDash val="solid"/>
          </a:ln>
        </p:spPr>
      </p:sp>
      <p:sp>
        <p:nvSpPr>
          <p:cNvPr id="6" name="Text 4"/>
          <p:cNvSpPr/>
          <p:nvPr/>
        </p:nvSpPr>
        <p:spPr>
          <a:xfrm>
            <a:off x="329184" y="1115568"/>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Q1</a:t>
            </a:r>
            <a:endParaRPr lang="en-US" sz="1000" dirty="0"/>
          </a:p>
        </p:txBody>
      </p:sp>
      <p:sp>
        <p:nvSpPr>
          <p:cNvPr id="7" name="Text 5"/>
          <p:cNvSpPr/>
          <p:nvPr/>
        </p:nvSpPr>
        <p:spPr>
          <a:xfrm>
            <a:off x="768096" y="1078992"/>
            <a:ext cx="5321808" cy="822960"/>
          </a:xfrm>
          <a:prstGeom prst="rect">
            <a:avLst/>
          </a:prstGeom>
          <a:noFill/>
          <a:ln/>
        </p:spPr>
        <p:txBody>
          <a:bodyPr wrap="square" lIns="0" tIns="0" rIns="0" bIns="0" rtlCol="0" anchor="ctr"/>
          <a:lstStyle/>
          <a:p>
            <a:pPr indent="0" marL="0">
              <a:buNone/>
            </a:pPr>
            <a:r>
              <a:rPr lang="en-US" sz="950" dirty="0">
                <a:solidFill>
                  <a:srgbClr val="2C1F3E"/>
                </a:solidFill>
                <a:latin typeface="Calibri" pitchFamily="34" charset="0"/>
                <a:ea typeface="Calibri" pitchFamily="34" charset="-122"/>
                <a:cs typeface="Calibri" pitchFamily="34" charset="-120"/>
              </a:rPr>
              <a:t>A UAC Foods researcher reports: 'The mean satisfaction score for Gala purchasers (M=4.1) was higher than for Deli Foods purchasers (M=3.8).' What additional information MUST be reported before this finding is complete, and why?</a:t>
            </a:r>
            <a:endParaRPr lang="en-US" sz="950" dirty="0"/>
          </a:p>
        </p:txBody>
      </p:sp>
      <p:sp>
        <p:nvSpPr>
          <p:cNvPr id="8" name="Shape 6"/>
          <p:cNvSpPr/>
          <p:nvPr/>
        </p:nvSpPr>
        <p:spPr>
          <a:xfrm>
            <a:off x="6199632" y="1078992"/>
            <a:ext cx="2578608" cy="822960"/>
          </a:xfrm>
          <a:prstGeom prst="roundRect">
            <a:avLst>
              <a:gd name="adj" fmla="val 6667"/>
            </a:avLst>
          </a:prstGeom>
          <a:solidFill>
            <a:srgbClr val="F0E8FF"/>
          </a:solidFill>
          <a:ln w="10160">
            <a:solidFill>
              <a:srgbClr val="5C1A6B"/>
            </a:solidFill>
            <a:prstDash val="solid"/>
          </a:ln>
        </p:spPr>
      </p:sp>
      <p:sp>
        <p:nvSpPr>
          <p:cNvPr id="9" name="Text 7"/>
          <p:cNvSpPr/>
          <p:nvPr/>
        </p:nvSpPr>
        <p:spPr>
          <a:xfrm>
            <a:off x="6272784" y="1115568"/>
            <a:ext cx="2432304" cy="749808"/>
          </a:xfrm>
          <a:prstGeom prst="rect">
            <a:avLst/>
          </a:prstGeom>
          <a:noFill/>
          <a:ln/>
        </p:spPr>
        <p:txBody>
          <a:bodyPr wrap="square" lIns="0" tIns="0" rIns="0" bIns="0" rtlCol="0" anchor="ctr"/>
          <a:lstStyle/>
          <a:p>
            <a:pPr indent="0" marL="0">
              <a:buNone/>
            </a:pPr>
            <a:r>
              <a:rPr lang="en-US" sz="800" b="1" dirty="0">
                <a:solidFill>
                  <a:srgbClr val="5C1A6B"/>
                </a:solidFill>
                <a:latin typeface="Calibri" pitchFamily="34" charset="0"/>
                <a:ea typeface="Calibri" pitchFamily="34" charset="-122"/>
                <a:cs typeface="Calibri" pitchFamily="34" charset="-120"/>
              </a:rPr>
              <a:t>Answer: </a:t>
            </a:r>
            <a:pPr indent="0" marL="0">
              <a:buNone/>
            </a:pPr>
            <a:r>
              <a:rPr lang="en-US" sz="800" dirty="0">
                <a:solidFill>
                  <a:srgbClr val="2C1F3E"/>
                </a:solidFill>
                <a:latin typeface="Calibri" pitchFamily="34" charset="0"/>
                <a:ea typeface="Calibri" pitchFamily="34" charset="-122"/>
                <a:cs typeface="Calibri" pitchFamily="34" charset="-120"/>
              </a:rPr>
              <a:t>Missing: (1) Standard deviations for each group (how variable is the data?). (2) Sample sizes. (3) A test of statistical significance (t-test or ANOVA) with t or F statistic, df, and p-value. (4) Effect size (Cohen's d or eta-squared). The mean difference alone tells us nothing about whether this difference is statistically real or practically meaningful.</a:t>
            </a:r>
            <a:endParaRPr lang="en-US" sz="800" dirty="0"/>
          </a:p>
        </p:txBody>
      </p:sp>
      <p:sp>
        <p:nvSpPr>
          <p:cNvPr id="10" name="Shape 8"/>
          <p:cNvSpPr/>
          <p:nvPr/>
        </p:nvSpPr>
        <p:spPr>
          <a:xfrm>
            <a:off x="256032" y="2048256"/>
            <a:ext cx="8631936" cy="950976"/>
          </a:xfrm>
          <a:prstGeom prst="roundRect">
            <a:avLst>
              <a:gd name="adj" fmla="val 76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329184" y="2139696"/>
            <a:ext cx="347472" cy="347472"/>
          </a:xfrm>
          <a:prstGeom prst="ellipse">
            <a:avLst/>
          </a:prstGeom>
          <a:solidFill>
            <a:srgbClr val="1A0A1E"/>
          </a:solidFill>
          <a:ln w="12700">
            <a:solidFill>
              <a:srgbClr val="1A0A1E"/>
            </a:solidFill>
            <a:prstDash val="solid"/>
          </a:ln>
        </p:spPr>
      </p:sp>
      <p:sp>
        <p:nvSpPr>
          <p:cNvPr id="12" name="Text 10"/>
          <p:cNvSpPr/>
          <p:nvPr/>
        </p:nvSpPr>
        <p:spPr>
          <a:xfrm>
            <a:off x="329184" y="2139696"/>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Q2</a:t>
            </a:r>
            <a:endParaRPr lang="en-US" sz="1000" dirty="0"/>
          </a:p>
        </p:txBody>
      </p:sp>
      <p:sp>
        <p:nvSpPr>
          <p:cNvPr id="13" name="Text 11"/>
          <p:cNvSpPr/>
          <p:nvPr/>
        </p:nvSpPr>
        <p:spPr>
          <a:xfrm>
            <a:off x="768096" y="2103120"/>
            <a:ext cx="5321808" cy="822960"/>
          </a:xfrm>
          <a:prstGeom prst="rect">
            <a:avLst/>
          </a:prstGeom>
          <a:noFill/>
          <a:ln/>
        </p:spPr>
        <p:txBody>
          <a:bodyPr wrap="square" lIns="0" tIns="0" rIns="0" bIns="0" rtlCol="0" anchor="ctr"/>
          <a:lstStyle/>
          <a:p>
            <a:pPr indent="0" marL="0">
              <a:buNone/>
            </a:pPr>
            <a:r>
              <a:rPr lang="en-US" sz="950" dirty="0">
                <a:solidFill>
                  <a:srgbClr val="2C1F3E"/>
                </a:solidFill>
                <a:latin typeface="Calibri" pitchFamily="34" charset="0"/>
                <a:ea typeface="Calibri" pitchFamily="34" charset="-122"/>
                <a:cs typeface="Calibri" pitchFamily="34" charset="-120"/>
              </a:rPr>
              <a:t>Shapiro-Wilk test for monthly_salary_ngn: W(450) = .774, p &lt; .001. What does this result mean, and what are the implications for subsequent group comparison tests?</a:t>
            </a:r>
            <a:endParaRPr lang="en-US" sz="950" dirty="0"/>
          </a:p>
        </p:txBody>
      </p:sp>
      <p:sp>
        <p:nvSpPr>
          <p:cNvPr id="14" name="Shape 12"/>
          <p:cNvSpPr/>
          <p:nvPr/>
        </p:nvSpPr>
        <p:spPr>
          <a:xfrm>
            <a:off x="6199632" y="2103120"/>
            <a:ext cx="2578608" cy="822960"/>
          </a:xfrm>
          <a:prstGeom prst="roundRect">
            <a:avLst>
              <a:gd name="adj" fmla="val 6667"/>
            </a:avLst>
          </a:prstGeom>
          <a:solidFill>
            <a:srgbClr val="F0E8FF"/>
          </a:solidFill>
          <a:ln w="10160">
            <a:solidFill>
              <a:srgbClr val="5C1A6B"/>
            </a:solidFill>
            <a:prstDash val="solid"/>
          </a:ln>
        </p:spPr>
      </p:sp>
      <p:sp>
        <p:nvSpPr>
          <p:cNvPr id="15" name="Text 13"/>
          <p:cNvSpPr/>
          <p:nvPr/>
        </p:nvSpPr>
        <p:spPr>
          <a:xfrm>
            <a:off x="6272784" y="2139696"/>
            <a:ext cx="2432304" cy="749808"/>
          </a:xfrm>
          <a:prstGeom prst="rect">
            <a:avLst/>
          </a:prstGeom>
          <a:noFill/>
          <a:ln/>
        </p:spPr>
        <p:txBody>
          <a:bodyPr wrap="square" lIns="0" tIns="0" rIns="0" bIns="0" rtlCol="0" anchor="ctr"/>
          <a:lstStyle/>
          <a:p>
            <a:pPr indent="0" marL="0">
              <a:buNone/>
            </a:pPr>
            <a:r>
              <a:rPr lang="en-US" sz="800" b="1" dirty="0">
                <a:solidFill>
                  <a:srgbClr val="5C1A6B"/>
                </a:solidFill>
                <a:latin typeface="Calibri" pitchFamily="34" charset="0"/>
                <a:ea typeface="Calibri" pitchFamily="34" charset="-122"/>
                <a:cs typeface="Calibri" pitchFamily="34" charset="-120"/>
              </a:rPr>
              <a:t>Answer: </a:t>
            </a:r>
            <a:pPr indent="0" marL="0">
              <a:buNone/>
            </a:pPr>
            <a:r>
              <a:rPr lang="en-US" sz="800" dirty="0">
                <a:solidFill>
                  <a:srgbClr val="2C1F3E"/>
                </a:solidFill>
                <a:latin typeface="Calibri" pitchFamily="34" charset="0"/>
                <a:ea typeface="Calibri" pitchFamily="34" charset="-122"/>
                <a:cs typeface="Calibri" pitchFamily="34" charset="-120"/>
              </a:rPr>
              <a:t>p &lt; .001 means the normality assumption is REJECTED for monthly_salary_ngn. The distribution significantly deviates from normal (strong positive skew, confirmed by skewness = 2.18). Implication: parametric tests (t-test, ANOVA) are NOT appropriate for comparing monthly salary across groups. Use Mann-Whitney U (instead of t-test) or Kruskal-Wallis (instead of ANOVA) instead.</a:t>
            </a:r>
            <a:endParaRPr lang="en-US" sz="800" dirty="0"/>
          </a:p>
        </p:txBody>
      </p:sp>
      <p:sp>
        <p:nvSpPr>
          <p:cNvPr id="16" name="Shape 14"/>
          <p:cNvSpPr/>
          <p:nvPr/>
        </p:nvSpPr>
        <p:spPr>
          <a:xfrm>
            <a:off x="256032" y="3072384"/>
            <a:ext cx="8631936" cy="950976"/>
          </a:xfrm>
          <a:prstGeom prst="roundRect">
            <a:avLst>
              <a:gd name="adj" fmla="val 76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29184" y="3163824"/>
            <a:ext cx="347472" cy="347472"/>
          </a:xfrm>
          <a:prstGeom prst="ellipse">
            <a:avLst/>
          </a:prstGeom>
          <a:solidFill>
            <a:srgbClr val="1A0A1E"/>
          </a:solidFill>
          <a:ln w="12700">
            <a:solidFill>
              <a:srgbClr val="1A0A1E"/>
            </a:solidFill>
            <a:prstDash val="solid"/>
          </a:ln>
        </p:spPr>
      </p:sp>
      <p:sp>
        <p:nvSpPr>
          <p:cNvPr id="18" name="Text 16"/>
          <p:cNvSpPr/>
          <p:nvPr/>
        </p:nvSpPr>
        <p:spPr>
          <a:xfrm>
            <a:off x="329184" y="3163824"/>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Q3</a:t>
            </a:r>
            <a:endParaRPr lang="en-US" sz="1000" dirty="0"/>
          </a:p>
        </p:txBody>
      </p:sp>
      <p:sp>
        <p:nvSpPr>
          <p:cNvPr id="19" name="Text 17"/>
          <p:cNvSpPr/>
          <p:nvPr/>
        </p:nvSpPr>
        <p:spPr>
          <a:xfrm>
            <a:off x="768096" y="3127248"/>
            <a:ext cx="5321808" cy="822960"/>
          </a:xfrm>
          <a:prstGeom prst="rect">
            <a:avLst/>
          </a:prstGeom>
          <a:noFill/>
          <a:ln/>
        </p:spPr>
        <p:txBody>
          <a:bodyPr wrap="square" lIns="0" tIns="0" rIns="0" bIns="0" rtlCol="0" anchor="ctr"/>
          <a:lstStyle/>
          <a:p>
            <a:pPr indent="0" marL="0">
              <a:buNone/>
            </a:pPr>
            <a:r>
              <a:rPr lang="en-US" sz="950" dirty="0">
                <a:solidFill>
                  <a:srgbClr val="2C1F3E"/>
                </a:solidFill>
                <a:latin typeface="Calibri" pitchFamily="34" charset="0"/>
                <a:ea typeface="Calibri" pitchFamily="34" charset="-122"/>
                <a:cs typeface="Calibri" pitchFamily="34" charset="-120"/>
              </a:rPr>
              <a:t>UAC correlation: sat_mean and repurchase_intention: r = .614, p &lt; .001. A manager concludes: 'This proves that improving satisfaction will definitely increase repurchase rates.' Identify TWO problems with this conclusion.</a:t>
            </a:r>
            <a:endParaRPr lang="en-US" sz="950" dirty="0"/>
          </a:p>
        </p:txBody>
      </p:sp>
      <p:sp>
        <p:nvSpPr>
          <p:cNvPr id="20" name="Shape 18"/>
          <p:cNvSpPr/>
          <p:nvPr/>
        </p:nvSpPr>
        <p:spPr>
          <a:xfrm>
            <a:off x="6199632" y="3127248"/>
            <a:ext cx="2578608" cy="822960"/>
          </a:xfrm>
          <a:prstGeom prst="roundRect">
            <a:avLst>
              <a:gd name="adj" fmla="val 6667"/>
            </a:avLst>
          </a:prstGeom>
          <a:solidFill>
            <a:srgbClr val="F0E8FF"/>
          </a:solidFill>
          <a:ln w="10160">
            <a:solidFill>
              <a:srgbClr val="5C1A6B"/>
            </a:solidFill>
            <a:prstDash val="solid"/>
          </a:ln>
        </p:spPr>
      </p:sp>
      <p:sp>
        <p:nvSpPr>
          <p:cNvPr id="21" name="Text 19"/>
          <p:cNvSpPr/>
          <p:nvPr/>
        </p:nvSpPr>
        <p:spPr>
          <a:xfrm>
            <a:off x="6272784" y="3163824"/>
            <a:ext cx="2432304" cy="749808"/>
          </a:xfrm>
          <a:prstGeom prst="rect">
            <a:avLst/>
          </a:prstGeom>
          <a:noFill/>
          <a:ln/>
        </p:spPr>
        <p:txBody>
          <a:bodyPr wrap="square" lIns="0" tIns="0" rIns="0" bIns="0" rtlCol="0" anchor="ctr"/>
          <a:lstStyle/>
          <a:p>
            <a:pPr indent="0" marL="0">
              <a:buNone/>
            </a:pPr>
            <a:r>
              <a:rPr lang="en-US" sz="800" b="1" dirty="0">
                <a:solidFill>
                  <a:srgbClr val="5C1A6B"/>
                </a:solidFill>
                <a:latin typeface="Calibri" pitchFamily="34" charset="0"/>
                <a:ea typeface="Calibri" pitchFamily="34" charset="-122"/>
                <a:cs typeface="Calibri" pitchFamily="34" charset="-120"/>
              </a:rPr>
              <a:t>Answer: </a:t>
            </a:r>
            <a:pPr indent="0" marL="0">
              <a:buNone/>
            </a:pPr>
            <a:r>
              <a:rPr lang="en-US" sz="800" dirty="0">
                <a:solidFill>
                  <a:srgbClr val="2C1F3E"/>
                </a:solidFill>
                <a:latin typeface="Calibri" pitchFamily="34" charset="0"/>
                <a:ea typeface="Calibri" pitchFamily="34" charset="-122"/>
                <a:cs typeface="Calibri" pitchFamily="34" charset="-120"/>
              </a:rPr>
              <a:t>Problem 1 - Causation: Correlation does not prove causation. Both variables could be caused by a third factor (e.g., product quality), or loyal consumers could be more satisfied because they chose UAC deliberately (reverse causation). Problem 2 - Effect size: r = .614 means r-squared = .377, so satisfaction explains only 37.7% of variance in repurchase. 62.3% of variation is explained by other factors not measured here.</a:t>
            </a:r>
            <a:endParaRPr lang="en-US" sz="800" dirty="0"/>
          </a:p>
        </p:txBody>
      </p:sp>
      <p:sp>
        <p:nvSpPr>
          <p:cNvPr id="22" name="Shape 20"/>
          <p:cNvSpPr/>
          <p:nvPr/>
        </p:nvSpPr>
        <p:spPr>
          <a:xfrm>
            <a:off x="256032" y="4096512"/>
            <a:ext cx="8631936" cy="950976"/>
          </a:xfrm>
          <a:prstGeom prst="roundRect">
            <a:avLst>
              <a:gd name="adj" fmla="val 7692"/>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329184" y="4187952"/>
            <a:ext cx="347472" cy="347472"/>
          </a:xfrm>
          <a:prstGeom prst="ellipse">
            <a:avLst/>
          </a:prstGeom>
          <a:solidFill>
            <a:srgbClr val="1A0A1E"/>
          </a:solidFill>
          <a:ln w="12700">
            <a:solidFill>
              <a:srgbClr val="1A0A1E"/>
            </a:solidFill>
            <a:prstDash val="solid"/>
          </a:ln>
        </p:spPr>
      </p:sp>
      <p:sp>
        <p:nvSpPr>
          <p:cNvPr id="24" name="Text 22"/>
          <p:cNvSpPr/>
          <p:nvPr/>
        </p:nvSpPr>
        <p:spPr>
          <a:xfrm>
            <a:off x="329184" y="4187952"/>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Q4</a:t>
            </a:r>
            <a:endParaRPr lang="en-US" sz="1000" dirty="0"/>
          </a:p>
        </p:txBody>
      </p:sp>
      <p:sp>
        <p:nvSpPr>
          <p:cNvPr id="25" name="Text 23"/>
          <p:cNvSpPr/>
          <p:nvPr/>
        </p:nvSpPr>
        <p:spPr>
          <a:xfrm>
            <a:off x="768096" y="4151376"/>
            <a:ext cx="5321808" cy="822960"/>
          </a:xfrm>
          <a:prstGeom prst="rect">
            <a:avLst/>
          </a:prstGeom>
          <a:noFill/>
          <a:ln/>
        </p:spPr>
        <p:txBody>
          <a:bodyPr wrap="square" lIns="0" tIns="0" rIns="0" bIns="0" rtlCol="0" anchor="ctr"/>
          <a:lstStyle/>
          <a:p>
            <a:pPr indent="0" marL="0">
              <a:buNone/>
            </a:pPr>
            <a:r>
              <a:rPr lang="en-US" sz="950" dirty="0">
                <a:solidFill>
                  <a:srgbClr val="2C1F3E"/>
                </a:solidFill>
                <a:latin typeface="Calibri" pitchFamily="34" charset="0"/>
                <a:ea typeface="Calibri" pitchFamily="34" charset="-122"/>
                <a:cs typeface="Calibri" pitchFamily="34" charset="-120"/>
              </a:rPr>
              <a:t>In a Frequencies output for uac_product_pref: Frequency column shows Gala=172. Percent column shows 35.6%. Valid Percent column shows 38.2%. What explains the difference, and which percentage should you report in your research findings?</a:t>
            </a:r>
            <a:endParaRPr lang="en-US" sz="950" dirty="0"/>
          </a:p>
        </p:txBody>
      </p:sp>
      <p:sp>
        <p:nvSpPr>
          <p:cNvPr id="26" name="Shape 24"/>
          <p:cNvSpPr/>
          <p:nvPr/>
        </p:nvSpPr>
        <p:spPr>
          <a:xfrm>
            <a:off x="6199632" y="4151376"/>
            <a:ext cx="2578608" cy="822960"/>
          </a:xfrm>
          <a:prstGeom prst="roundRect">
            <a:avLst>
              <a:gd name="adj" fmla="val 6667"/>
            </a:avLst>
          </a:prstGeom>
          <a:solidFill>
            <a:srgbClr val="F0E8FF"/>
          </a:solidFill>
          <a:ln w="10160">
            <a:solidFill>
              <a:srgbClr val="5C1A6B"/>
            </a:solidFill>
            <a:prstDash val="solid"/>
          </a:ln>
        </p:spPr>
      </p:sp>
      <p:sp>
        <p:nvSpPr>
          <p:cNvPr id="27" name="Text 25"/>
          <p:cNvSpPr/>
          <p:nvPr/>
        </p:nvSpPr>
        <p:spPr>
          <a:xfrm>
            <a:off x="6272784" y="4187952"/>
            <a:ext cx="2432304" cy="749808"/>
          </a:xfrm>
          <a:prstGeom prst="rect">
            <a:avLst/>
          </a:prstGeom>
          <a:noFill/>
          <a:ln/>
        </p:spPr>
        <p:txBody>
          <a:bodyPr wrap="square" lIns="0" tIns="0" rIns="0" bIns="0" rtlCol="0" anchor="ctr"/>
          <a:lstStyle/>
          <a:p>
            <a:pPr indent="0" marL="0">
              <a:buNone/>
            </a:pPr>
            <a:r>
              <a:rPr lang="en-US" sz="800" b="1" dirty="0">
                <a:solidFill>
                  <a:srgbClr val="5C1A6B"/>
                </a:solidFill>
                <a:latin typeface="Calibri" pitchFamily="34" charset="0"/>
                <a:ea typeface="Calibri" pitchFamily="34" charset="-122"/>
                <a:cs typeface="Calibri" pitchFamily="34" charset="-120"/>
              </a:rPr>
              <a:t>Answer: </a:t>
            </a:r>
            <a:pPr indent="0" marL="0">
              <a:buNone/>
            </a:pPr>
            <a:r>
              <a:rPr lang="en-US" sz="800" dirty="0">
                <a:solidFill>
                  <a:srgbClr val="2C1F3E"/>
                </a:solidFill>
                <a:latin typeface="Calibri" pitchFamily="34" charset="0"/>
                <a:ea typeface="Calibri" pitchFamily="34" charset="-122"/>
                <a:cs typeface="Calibri" pitchFamily="34" charset="-120"/>
              </a:rPr>
              <a:t>The difference (35.6% vs 38.2%) is caused by missing data. Percent uses the total N (including missing cases, N=483) as denominator. Valid Percent uses only the valid cases (N=450) as denominator. ALWAYS report Valid Percent in research findings - Percent is misleading when missing data exists because it understates the true proportion within the responding sample.</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5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0A1E"/>
          </a:solidFill>
          <a:ln w="12700">
            <a:solidFill>
              <a:srgbClr val="1A0A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Module 3 Complete - Bridge to Module 4: Test Statistics and Tests of Association</a:t>
            </a:r>
            <a:endParaRPr lang="en-US" sz="2100" dirty="0"/>
          </a:p>
        </p:txBody>
      </p:sp>
      <p:sp>
        <p:nvSpPr>
          <p:cNvPr id="4" name="Shape 2"/>
          <p:cNvSpPr/>
          <p:nvPr/>
        </p:nvSpPr>
        <p:spPr>
          <a:xfrm>
            <a:off x="201168" y="1005840"/>
            <a:ext cx="1645920" cy="1664208"/>
          </a:xfrm>
          <a:prstGeom prst="roundRect">
            <a:avLst>
              <a:gd name="adj" fmla="val 5000"/>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256032" y="1078992"/>
            <a:ext cx="1536192" cy="457200"/>
          </a:xfrm>
          <a:prstGeom prst="roundRect">
            <a:avLst>
              <a:gd name="adj" fmla="val 14000"/>
            </a:avLst>
          </a:prstGeom>
          <a:solidFill>
            <a:srgbClr val="2471A3"/>
          </a:solidFill>
          <a:ln w="12700">
            <a:solidFill>
              <a:srgbClr val="2471A3"/>
            </a:solidFill>
            <a:prstDash val="solid"/>
          </a:ln>
        </p:spPr>
      </p:sp>
      <p:sp>
        <p:nvSpPr>
          <p:cNvPr id="6" name="Text 4"/>
          <p:cNvSpPr/>
          <p:nvPr/>
        </p:nvSpPr>
        <p:spPr>
          <a:xfrm>
            <a:off x="256032" y="1078992"/>
            <a:ext cx="15361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1</a:t>
            </a:r>
            <a:endParaRPr lang="en-US" sz="1100" dirty="0"/>
          </a:p>
        </p:txBody>
      </p:sp>
      <p:sp>
        <p:nvSpPr>
          <p:cNvPr id="7" name="Text 5"/>
          <p:cNvSpPr/>
          <p:nvPr/>
        </p:nvSpPr>
        <p:spPr>
          <a:xfrm>
            <a:off x="256032" y="1353312"/>
            <a:ext cx="1536192" cy="18288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Research Design</a:t>
            </a:r>
            <a:endParaRPr lang="en-US" sz="850" dirty="0"/>
          </a:p>
        </p:txBody>
      </p:sp>
      <p:sp>
        <p:nvSpPr>
          <p:cNvPr id="8" name="Text 6"/>
          <p:cNvSpPr/>
          <p:nvPr/>
        </p:nvSpPr>
        <p:spPr>
          <a:xfrm>
            <a:off x="292608" y="1609344"/>
            <a:ext cx="1463040" cy="749808"/>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Research questions, hypotheses, sampling - the WHY and WHO</a:t>
            </a:r>
            <a:endParaRPr lang="en-US" sz="850" dirty="0"/>
          </a:p>
        </p:txBody>
      </p:sp>
      <p:sp>
        <p:nvSpPr>
          <p:cNvPr id="9" name="Text 7"/>
          <p:cNvSpPr/>
          <p:nvPr/>
        </p:nvSpPr>
        <p:spPr>
          <a:xfrm>
            <a:off x="1865376" y="1719072"/>
            <a:ext cx="73152" cy="365760"/>
          </a:xfrm>
          <a:prstGeom prst="rect">
            <a:avLst/>
          </a:prstGeom>
          <a:noFill/>
          <a:ln/>
        </p:spPr>
        <p:txBody>
          <a:bodyPr wrap="square" lIns="0" tIns="0" rIns="0" bIns="0" rtlCol="0" anchor="ctr"/>
          <a:lstStyle/>
          <a:p>
            <a:pPr algn="ctr" indent="0" marL="0">
              <a:buNone/>
            </a:pPr>
            <a:r>
              <a:rPr lang="en-US" sz="1800" b="1" dirty="0">
                <a:solidFill>
                  <a:srgbClr val="5C1A6B"/>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1956816" y="1005840"/>
            <a:ext cx="1645920" cy="1664208"/>
          </a:xfrm>
          <a:prstGeom prst="roundRect">
            <a:avLst>
              <a:gd name="adj" fmla="val 5000"/>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2011680" y="1078992"/>
            <a:ext cx="1536192" cy="457200"/>
          </a:xfrm>
          <a:prstGeom prst="roundRect">
            <a:avLst>
              <a:gd name="adj" fmla="val 14000"/>
            </a:avLst>
          </a:prstGeom>
          <a:solidFill>
            <a:srgbClr val="1A7A4A"/>
          </a:solidFill>
          <a:ln w="12700">
            <a:solidFill>
              <a:srgbClr val="1A7A4A"/>
            </a:solidFill>
            <a:prstDash val="solid"/>
          </a:ln>
        </p:spPr>
      </p:sp>
      <p:sp>
        <p:nvSpPr>
          <p:cNvPr id="12" name="Text 10"/>
          <p:cNvSpPr/>
          <p:nvPr/>
        </p:nvSpPr>
        <p:spPr>
          <a:xfrm>
            <a:off x="2011680" y="1078992"/>
            <a:ext cx="15361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2</a:t>
            </a:r>
            <a:endParaRPr lang="en-US" sz="1100" dirty="0"/>
          </a:p>
        </p:txBody>
      </p:sp>
      <p:sp>
        <p:nvSpPr>
          <p:cNvPr id="13" name="Text 11"/>
          <p:cNvSpPr/>
          <p:nvPr/>
        </p:nvSpPr>
        <p:spPr>
          <a:xfrm>
            <a:off x="2011680" y="1353312"/>
            <a:ext cx="1536192" cy="18288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Data Management</a:t>
            </a:r>
            <a:endParaRPr lang="en-US" sz="850" dirty="0"/>
          </a:p>
        </p:txBody>
      </p:sp>
      <p:sp>
        <p:nvSpPr>
          <p:cNvPr id="14" name="Text 12"/>
          <p:cNvSpPr/>
          <p:nvPr/>
        </p:nvSpPr>
        <p:spPr>
          <a:xfrm>
            <a:off x="2048256" y="1609344"/>
            <a:ext cx="1463040" cy="749808"/>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Entry, validation, recoding - the WHAT and HOW</a:t>
            </a:r>
            <a:endParaRPr lang="en-US" sz="850" dirty="0"/>
          </a:p>
        </p:txBody>
      </p:sp>
      <p:sp>
        <p:nvSpPr>
          <p:cNvPr id="15" name="Text 13"/>
          <p:cNvSpPr/>
          <p:nvPr/>
        </p:nvSpPr>
        <p:spPr>
          <a:xfrm>
            <a:off x="3621024" y="1719072"/>
            <a:ext cx="73152" cy="365760"/>
          </a:xfrm>
          <a:prstGeom prst="rect">
            <a:avLst/>
          </a:prstGeom>
          <a:noFill/>
          <a:ln/>
        </p:spPr>
        <p:txBody>
          <a:bodyPr wrap="square" lIns="0" tIns="0" rIns="0" bIns="0" rtlCol="0" anchor="ctr"/>
          <a:lstStyle/>
          <a:p>
            <a:pPr algn="ctr" indent="0" marL="0">
              <a:buNone/>
            </a:pPr>
            <a:r>
              <a:rPr lang="en-US" sz="1800" b="1" dirty="0">
                <a:solidFill>
                  <a:srgbClr val="5C1A6B"/>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3712464" y="1005840"/>
            <a:ext cx="1645920" cy="2121408"/>
          </a:xfrm>
          <a:prstGeom prst="roundRect">
            <a:avLst>
              <a:gd name="adj" fmla="val 5000"/>
            </a:avLst>
          </a:prstGeom>
          <a:solidFill>
            <a:srgbClr val="F8F0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767328" y="1078992"/>
            <a:ext cx="1536192" cy="457200"/>
          </a:xfrm>
          <a:prstGeom prst="roundRect">
            <a:avLst>
              <a:gd name="adj" fmla="val 14000"/>
            </a:avLst>
          </a:prstGeom>
          <a:solidFill>
            <a:srgbClr val="5C1A6B"/>
          </a:solidFill>
          <a:ln w="12700">
            <a:solidFill>
              <a:srgbClr val="5C1A6B"/>
            </a:solidFill>
            <a:prstDash val="solid"/>
          </a:ln>
        </p:spPr>
      </p:sp>
      <p:sp>
        <p:nvSpPr>
          <p:cNvPr id="18" name="Text 16"/>
          <p:cNvSpPr/>
          <p:nvPr/>
        </p:nvSpPr>
        <p:spPr>
          <a:xfrm>
            <a:off x="3767328" y="1078992"/>
            <a:ext cx="15361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3</a:t>
            </a:r>
            <a:endParaRPr lang="en-US" sz="1100" dirty="0"/>
          </a:p>
        </p:txBody>
      </p:sp>
      <p:sp>
        <p:nvSpPr>
          <p:cNvPr id="19" name="Text 17"/>
          <p:cNvSpPr/>
          <p:nvPr/>
        </p:nvSpPr>
        <p:spPr>
          <a:xfrm>
            <a:off x="3767328" y="1353312"/>
            <a:ext cx="1536192" cy="18288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Descriptive Statistics</a:t>
            </a:r>
            <a:endParaRPr lang="en-US" sz="850" dirty="0"/>
          </a:p>
        </p:txBody>
      </p:sp>
      <p:sp>
        <p:nvSpPr>
          <p:cNvPr id="20" name="Text 18"/>
          <p:cNvSpPr/>
          <p:nvPr/>
        </p:nvSpPr>
        <p:spPr>
          <a:xfrm>
            <a:off x="3803904" y="1609344"/>
            <a:ext cx="1463040" cy="749808"/>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Frequencies, means, charts, correlation - DESCRIBING the data</a:t>
            </a:r>
            <a:endParaRPr lang="en-US" sz="850" dirty="0"/>
          </a:p>
        </p:txBody>
      </p:sp>
      <p:sp>
        <p:nvSpPr>
          <p:cNvPr id="21" name="Text 19"/>
          <p:cNvSpPr/>
          <p:nvPr/>
        </p:nvSpPr>
        <p:spPr>
          <a:xfrm>
            <a:off x="3803904" y="2395728"/>
            <a:ext cx="1463040" cy="347472"/>
          </a:xfrm>
          <a:prstGeom prst="rect">
            <a:avLst/>
          </a:prstGeom>
          <a:noFill/>
          <a:ln/>
        </p:spPr>
        <p:txBody>
          <a:bodyPr wrap="square" lIns="0" tIns="0" rIns="0" bIns="0" rtlCol="0" anchor="ctr"/>
          <a:lstStyle/>
          <a:p>
            <a:pPr algn="ctr" indent="0" marL="0">
              <a:buNone/>
            </a:pPr>
            <a:r>
              <a:rPr lang="en-US" sz="900" b="1" dirty="0">
                <a:solidFill>
                  <a:srgbClr val="5C1A6B"/>
                </a:solidFill>
                <a:latin typeface="Calibri" pitchFamily="34" charset="0"/>
                <a:ea typeface="Calibri" pitchFamily="34" charset="-122"/>
                <a:cs typeface="Calibri" pitchFamily="34" charset="-120"/>
              </a:rPr>
              <a:t>YOU ARE</a:t>
            </a:r>
            <a:endParaRPr lang="en-US" sz="900" dirty="0"/>
          </a:p>
          <a:p>
            <a:pPr algn="ctr" indent="0" marL="0">
              <a:buNone/>
            </a:pPr>
            <a:r>
              <a:rPr lang="en-US" sz="900" b="1" dirty="0">
                <a:solidFill>
                  <a:srgbClr val="5C1A6B"/>
                </a:solidFill>
                <a:latin typeface="Calibri" pitchFamily="34" charset="0"/>
                <a:ea typeface="Calibri" pitchFamily="34" charset="-122"/>
                <a:cs typeface="Calibri" pitchFamily="34" charset="-120"/>
              </a:rPr>
              <a:t>HERE</a:t>
            </a:r>
            <a:endParaRPr lang="en-US" sz="900" dirty="0"/>
          </a:p>
        </p:txBody>
      </p:sp>
      <p:sp>
        <p:nvSpPr>
          <p:cNvPr id="22" name="Text 20"/>
          <p:cNvSpPr/>
          <p:nvPr/>
        </p:nvSpPr>
        <p:spPr>
          <a:xfrm>
            <a:off x="5376672" y="1719072"/>
            <a:ext cx="73152" cy="365760"/>
          </a:xfrm>
          <a:prstGeom prst="rect">
            <a:avLst/>
          </a:prstGeom>
          <a:noFill/>
          <a:ln/>
        </p:spPr>
        <p:txBody>
          <a:bodyPr wrap="square" lIns="0" tIns="0" rIns="0" bIns="0" rtlCol="0" anchor="ctr"/>
          <a:lstStyle/>
          <a:p>
            <a:pPr algn="ctr" indent="0" marL="0">
              <a:buNone/>
            </a:pPr>
            <a:r>
              <a:rPr lang="en-US" sz="1800" b="1" dirty="0">
                <a:solidFill>
                  <a:srgbClr val="5C1A6B"/>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5468112" y="1005840"/>
            <a:ext cx="1645920" cy="1481328"/>
          </a:xfrm>
          <a:prstGeom prst="roundRect">
            <a:avLst>
              <a:gd name="adj" fmla="val 5556"/>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24" name="Shape 22"/>
          <p:cNvSpPr/>
          <p:nvPr/>
        </p:nvSpPr>
        <p:spPr>
          <a:xfrm>
            <a:off x="5522976" y="1078992"/>
            <a:ext cx="1536192" cy="457200"/>
          </a:xfrm>
          <a:prstGeom prst="roundRect">
            <a:avLst>
              <a:gd name="adj" fmla="val 14000"/>
            </a:avLst>
          </a:prstGeom>
          <a:solidFill>
            <a:srgbClr val="E67E22"/>
          </a:solidFill>
          <a:ln w="12700">
            <a:solidFill>
              <a:srgbClr val="E67E22"/>
            </a:solidFill>
            <a:prstDash val="solid"/>
          </a:ln>
        </p:spPr>
      </p:sp>
      <p:sp>
        <p:nvSpPr>
          <p:cNvPr id="25" name="Text 23"/>
          <p:cNvSpPr/>
          <p:nvPr/>
        </p:nvSpPr>
        <p:spPr>
          <a:xfrm>
            <a:off x="5522976" y="1078992"/>
            <a:ext cx="15361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4</a:t>
            </a:r>
            <a:endParaRPr lang="en-US" sz="1100" dirty="0"/>
          </a:p>
        </p:txBody>
      </p:sp>
      <p:sp>
        <p:nvSpPr>
          <p:cNvPr id="26" name="Text 24"/>
          <p:cNvSpPr/>
          <p:nvPr/>
        </p:nvSpPr>
        <p:spPr>
          <a:xfrm>
            <a:off x="5522976" y="1353312"/>
            <a:ext cx="1536192" cy="18288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Inferential Statistics</a:t>
            </a:r>
            <a:endParaRPr lang="en-US" sz="850" dirty="0"/>
          </a:p>
        </p:txBody>
      </p:sp>
      <p:sp>
        <p:nvSpPr>
          <p:cNvPr id="27" name="Text 25"/>
          <p:cNvSpPr/>
          <p:nvPr/>
        </p:nvSpPr>
        <p:spPr>
          <a:xfrm>
            <a:off x="5559552" y="1609344"/>
            <a:ext cx="1463040" cy="749808"/>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T-tests, ANOVA, Chi-square, non-parametric - TESTING hypotheses</a:t>
            </a:r>
            <a:endParaRPr lang="en-US" sz="850" dirty="0"/>
          </a:p>
        </p:txBody>
      </p:sp>
      <p:sp>
        <p:nvSpPr>
          <p:cNvPr id="28" name="Text 26"/>
          <p:cNvSpPr/>
          <p:nvPr/>
        </p:nvSpPr>
        <p:spPr>
          <a:xfrm>
            <a:off x="7132320" y="1719072"/>
            <a:ext cx="73152" cy="365760"/>
          </a:xfrm>
          <a:prstGeom prst="rect">
            <a:avLst/>
          </a:prstGeom>
          <a:noFill/>
          <a:ln/>
        </p:spPr>
        <p:txBody>
          <a:bodyPr wrap="square" lIns="0" tIns="0" rIns="0" bIns="0" rtlCol="0" anchor="ctr"/>
          <a:lstStyle/>
          <a:p>
            <a:pPr algn="ctr" indent="0" marL="0">
              <a:buNone/>
            </a:pPr>
            <a:r>
              <a:rPr lang="en-US" sz="1800" b="1" dirty="0">
                <a:solidFill>
                  <a:srgbClr val="5C1A6B"/>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7223760" y="1005840"/>
            <a:ext cx="1645920" cy="1481328"/>
          </a:xfrm>
          <a:prstGeom prst="roundRect">
            <a:avLst>
              <a:gd name="adj" fmla="val 5556"/>
            </a:avLst>
          </a:prstGeom>
          <a:solidFill>
            <a:srgbClr val="FFFF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30" name="Shape 28"/>
          <p:cNvSpPr/>
          <p:nvPr/>
        </p:nvSpPr>
        <p:spPr>
          <a:xfrm>
            <a:off x="7278624" y="1078992"/>
            <a:ext cx="1536192" cy="457200"/>
          </a:xfrm>
          <a:prstGeom prst="roundRect">
            <a:avLst>
              <a:gd name="adj" fmla="val 14000"/>
            </a:avLst>
          </a:prstGeom>
          <a:solidFill>
            <a:srgbClr val="7B2D8B"/>
          </a:solidFill>
          <a:ln w="12700">
            <a:solidFill>
              <a:srgbClr val="7B2D8B"/>
            </a:solidFill>
            <a:prstDash val="solid"/>
          </a:ln>
        </p:spPr>
      </p:sp>
      <p:sp>
        <p:nvSpPr>
          <p:cNvPr id="31" name="Text 29"/>
          <p:cNvSpPr/>
          <p:nvPr/>
        </p:nvSpPr>
        <p:spPr>
          <a:xfrm>
            <a:off x="7278624" y="1078992"/>
            <a:ext cx="15361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Module 5</a:t>
            </a:r>
            <a:endParaRPr lang="en-US" sz="1100" dirty="0"/>
          </a:p>
        </p:txBody>
      </p:sp>
      <p:sp>
        <p:nvSpPr>
          <p:cNvPr id="32" name="Text 30"/>
          <p:cNvSpPr/>
          <p:nvPr/>
        </p:nvSpPr>
        <p:spPr>
          <a:xfrm>
            <a:off x="7278624" y="1353312"/>
            <a:ext cx="1536192" cy="18288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Advanced Methods</a:t>
            </a:r>
            <a:endParaRPr lang="en-US" sz="850" dirty="0"/>
          </a:p>
        </p:txBody>
      </p:sp>
      <p:sp>
        <p:nvSpPr>
          <p:cNvPr id="33" name="Text 31"/>
          <p:cNvSpPr/>
          <p:nvPr/>
        </p:nvSpPr>
        <p:spPr>
          <a:xfrm>
            <a:off x="7315200" y="1609344"/>
            <a:ext cx="1463040" cy="749808"/>
          </a:xfrm>
          <a:prstGeom prst="rect">
            <a:avLst/>
          </a:prstGeom>
          <a:noFill/>
          <a:ln/>
        </p:spPr>
        <p:txBody>
          <a:bodyPr wrap="square" lIns="0" tIns="0" rIns="0" bIns="0" rtlCol="0" anchor="ctr"/>
          <a:lstStyle/>
          <a:p>
            <a:pPr indent="0" marL="0">
              <a:buNone/>
            </a:pPr>
            <a:r>
              <a:rPr lang="en-US" sz="850" dirty="0">
                <a:solidFill>
                  <a:srgbClr val="2C1F3E"/>
                </a:solidFill>
                <a:latin typeface="Calibri" pitchFamily="34" charset="0"/>
                <a:ea typeface="Calibri" pitchFamily="34" charset="-122"/>
                <a:cs typeface="Calibri" pitchFamily="34" charset="-120"/>
              </a:rPr>
              <a:t>Regression, factor analysis, cluster analysis - ADVANCED MODELLING</a:t>
            </a:r>
            <a:endParaRPr lang="en-US" sz="850" dirty="0"/>
          </a:p>
        </p:txBody>
      </p:sp>
      <p:sp>
        <p:nvSpPr>
          <p:cNvPr id="34" name="Shape 32"/>
          <p:cNvSpPr/>
          <p:nvPr/>
        </p:nvSpPr>
        <p:spPr>
          <a:xfrm>
            <a:off x="256032" y="3218688"/>
            <a:ext cx="8631936" cy="1847088"/>
          </a:xfrm>
          <a:prstGeom prst="roundRect">
            <a:avLst>
              <a:gd name="adj" fmla="val 4455"/>
            </a:avLst>
          </a:prstGeom>
          <a:solidFill>
            <a:srgbClr val="F8F0FF"/>
          </a:solidFill>
          <a:ln w="6350">
            <a:solidFill>
              <a:srgbClr val="D8C8ED"/>
            </a:solidFill>
            <a:prstDash val="solid"/>
          </a:ln>
          <a:effectLst>
            <a:outerShdw sx="100000" sy="100000" kx="0" ky="0" algn="bl" rotWithShape="0" blurRad="76200" dist="25400" dir="2700000">
              <a:srgbClr val="000000">
                <a:alpha val="12000"/>
              </a:srgbClr>
            </a:outerShdw>
          </a:effectLst>
        </p:spPr>
      </p:sp>
      <p:sp>
        <p:nvSpPr>
          <p:cNvPr id="35" name="Text 33"/>
          <p:cNvSpPr/>
          <p:nvPr/>
        </p:nvSpPr>
        <p:spPr>
          <a:xfrm>
            <a:off x="384048" y="3310128"/>
            <a:ext cx="8321040" cy="256032"/>
          </a:xfrm>
          <a:prstGeom prst="rect">
            <a:avLst/>
          </a:prstGeom>
          <a:noFill/>
          <a:ln/>
        </p:spPr>
        <p:txBody>
          <a:bodyPr wrap="square" lIns="0" tIns="0" rIns="0" bIns="0" rtlCol="0" anchor="ctr"/>
          <a:lstStyle/>
          <a:p>
            <a:pPr indent="0" marL="0">
              <a:buNone/>
            </a:pPr>
            <a:r>
              <a:rPr lang="en-US" sz="1200" b="1" dirty="0">
                <a:solidFill>
                  <a:srgbClr val="1A0A1E"/>
                </a:solidFill>
                <a:latin typeface="Calibri" pitchFamily="34" charset="0"/>
                <a:ea typeface="Calibri" pitchFamily="34" charset="-122"/>
                <a:cs typeface="Calibri" pitchFamily="34" charset="-120"/>
              </a:rPr>
              <a:t>Module 4 will cover:</a:t>
            </a:r>
            <a:endParaRPr lang="en-US" sz="1200" dirty="0"/>
          </a:p>
        </p:txBody>
      </p:sp>
      <p:sp>
        <p:nvSpPr>
          <p:cNvPr id="36" name="Shape 34"/>
          <p:cNvSpPr/>
          <p:nvPr/>
        </p:nvSpPr>
        <p:spPr>
          <a:xfrm>
            <a:off x="365760" y="3621024"/>
            <a:ext cx="2048256" cy="585216"/>
          </a:xfrm>
          <a:prstGeom prst="roundRect">
            <a:avLst>
              <a:gd name="adj" fmla="val 7813"/>
            </a:avLst>
          </a:prstGeom>
          <a:solidFill>
            <a:srgbClr val="FFFFFF"/>
          </a:solidFill>
          <a:ln w="10160">
            <a:solidFill>
              <a:srgbClr val="D8C8ED"/>
            </a:solidFill>
            <a:prstDash val="solid"/>
          </a:ln>
        </p:spPr>
      </p:sp>
      <p:sp>
        <p:nvSpPr>
          <p:cNvPr id="37" name="Text 35"/>
          <p:cNvSpPr/>
          <p:nvPr/>
        </p:nvSpPr>
        <p:spPr>
          <a:xfrm>
            <a:off x="457200" y="3657600"/>
            <a:ext cx="1865376" cy="237744"/>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One-Sample T-Test</a:t>
            </a:r>
            <a:endParaRPr lang="en-US" sz="950" dirty="0"/>
          </a:p>
        </p:txBody>
      </p:sp>
      <p:sp>
        <p:nvSpPr>
          <p:cNvPr id="38" name="Text 36"/>
          <p:cNvSpPr/>
          <p:nvPr/>
        </p:nvSpPr>
        <p:spPr>
          <a:xfrm>
            <a:off x="457200" y="3913632"/>
            <a:ext cx="186537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Comparing sample mean to known benchmark value</a:t>
            </a:r>
            <a:endParaRPr lang="en-US" sz="850" dirty="0"/>
          </a:p>
        </p:txBody>
      </p:sp>
      <p:sp>
        <p:nvSpPr>
          <p:cNvPr id="39" name="Shape 37"/>
          <p:cNvSpPr/>
          <p:nvPr/>
        </p:nvSpPr>
        <p:spPr>
          <a:xfrm>
            <a:off x="2542032" y="3621024"/>
            <a:ext cx="2048256" cy="585216"/>
          </a:xfrm>
          <a:prstGeom prst="roundRect">
            <a:avLst>
              <a:gd name="adj" fmla="val 7813"/>
            </a:avLst>
          </a:prstGeom>
          <a:solidFill>
            <a:srgbClr val="FFFFFF"/>
          </a:solidFill>
          <a:ln w="10160">
            <a:solidFill>
              <a:srgbClr val="D8C8ED"/>
            </a:solidFill>
            <a:prstDash val="solid"/>
          </a:ln>
        </p:spPr>
      </p:sp>
      <p:sp>
        <p:nvSpPr>
          <p:cNvPr id="40" name="Text 38"/>
          <p:cNvSpPr/>
          <p:nvPr/>
        </p:nvSpPr>
        <p:spPr>
          <a:xfrm>
            <a:off x="2633472" y="3657600"/>
            <a:ext cx="1865376" cy="237744"/>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Independent T-Test</a:t>
            </a:r>
            <a:endParaRPr lang="en-US" sz="950" dirty="0"/>
          </a:p>
        </p:txBody>
      </p:sp>
      <p:sp>
        <p:nvSpPr>
          <p:cNvPr id="41" name="Text 39"/>
          <p:cNvSpPr/>
          <p:nvPr/>
        </p:nvSpPr>
        <p:spPr>
          <a:xfrm>
            <a:off x="2633472" y="3913632"/>
            <a:ext cx="186537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Comparing 2 independent groups on sat_mean (male vs female)</a:t>
            </a:r>
            <a:endParaRPr lang="en-US" sz="850" dirty="0"/>
          </a:p>
        </p:txBody>
      </p:sp>
      <p:sp>
        <p:nvSpPr>
          <p:cNvPr id="42" name="Shape 40"/>
          <p:cNvSpPr/>
          <p:nvPr/>
        </p:nvSpPr>
        <p:spPr>
          <a:xfrm>
            <a:off x="4718304" y="3621024"/>
            <a:ext cx="2048256" cy="585216"/>
          </a:xfrm>
          <a:prstGeom prst="roundRect">
            <a:avLst>
              <a:gd name="adj" fmla="val 7813"/>
            </a:avLst>
          </a:prstGeom>
          <a:solidFill>
            <a:srgbClr val="FFFFFF"/>
          </a:solidFill>
          <a:ln w="10160">
            <a:solidFill>
              <a:srgbClr val="D8C8ED"/>
            </a:solidFill>
            <a:prstDash val="solid"/>
          </a:ln>
        </p:spPr>
      </p:sp>
      <p:sp>
        <p:nvSpPr>
          <p:cNvPr id="43" name="Text 41"/>
          <p:cNvSpPr/>
          <p:nvPr/>
        </p:nvSpPr>
        <p:spPr>
          <a:xfrm>
            <a:off x="4809744" y="3657600"/>
            <a:ext cx="1865376" cy="237744"/>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Paired T-Test</a:t>
            </a:r>
            <a:endParaRPr lang="en-US" sz="950" dirty="0"/>
          </a:p>
        </p:txBody>
      </p:sp>
      <p:sp>
        <p:nvSpPr>
          <p:cNvPr id="44" name="Text 42"/>
          <p:cNvSpPr/>
          <p:nvPr/>
        </p:nvSpPr>
        <p:spPr>
          <a:xfrm>
            <a:off x="4809744" y="3913632"/>
            <a:ext cx="186537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Same group at two time points (before/after training)</a:t>
            </a:r>
            <a:endParaRPr lang="en-US" sz="850" dirty="0"/>
          </a:p>
        </p:txBody>
      </p:sp>
      <p:sp>
        <p:nvSpPr>
          <p:cNvPr id="45" name="Shape 43"/>
          <p:cNvSpPr/>
          <p:nvPr/>
        </p:nvSpPr>
        <p:spPr>
          <a:xfrm>
            <a:off x="6894576" y="3621024"/>
            <a:ext cx="2048256" cy="585216"/>
          </a:xfrm>
          <a:prstGeom prst="roundRect">
            <a:avLst>
              <a:gd name="adj" fmla="val 7813"/>
            </a:avLst>
          </a:prstGeom>
          <a:solidFill>
            <a:srgbClr val="FFFFFF"/>
          </a:solidFill>
          <a:ln w="10160">
            <a:solidFill>
              <a:srgbClr val="D8C8ED"/>
            </a:solidFill>
            <a:prstDash val="solid"/>
          </a:ln>
        </p:spPr>
      </p:sp>
      <p:sp>
        <p:nvSpPr>
          <p:cNvPr id="46" name="Text 44"/>
          <p:cNvSpPr/>
          <p:nvPr/>
        </p:nvSpPr>
        <p:spPr>
          <a:xfrm>
            <a:off x="6986016" y="3657600"/>
            <a:ext cx="1865376" cy="237744"/>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One-Way ANOVA</a:t>
            </a:r>
            <a:endParaRPr lang="en-US" sz="950" dirty="0"/>
          </a:p>
        </p:txBody>
      </p:sp>
      <p:sp>
        <p:nvSpPr>
          <p:cNvPr id="47" name="Text 45"/>
          <p:cNvSpPr/>
          <p:nvPr/>
        </p:nvSpPr>
        <p:spPr>
          <a:xfrm>
            <a:off x="6986016" y="3913632"/>
            <a:ext cx="186537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Comparing sat_mean across 4+ age groups or 5 departments</a:t>
            </a:r>
            <a:endParaRPr lang="en-US" sz="850" dirty="0"/>
          </a:p>
        </p:txBody>
      </p:sp>
      <p:sp>
        <p:nvSpPr>
          <p:cNvPr id="48" name="Shape 46"/>
          <p:cNvSpPr/>
          <p:nvPr/>
        </p:nvSpPr>
        <p:spPr>
          <a:xfrm>
            <a:off x="365760" y="4279392"/>
            <a:ext cx="2048256" cy="585216"/>
          </a:xfrm>
          <a:prstGeom prst="roundRect">
            <a:avLst>
              <a:gd name="adj" fmla="val 7813"/>
            </a:avLst>
          </a:prstGeom>
          <a:solidFill>
            <a:srgbClr val="FFFFFF"/>
          </a:solidFill>
          <a:ln w="10160">
            <a:solidFill>
              <a:srgbClr val="D8C8ED"/>
            </a:solidFill>
            <a:prstDash val="solid"/>
          </a:ln>
        </p:spPr>
      </p:sp>
      <p:sp>
        <p:nvSpPr>
          <p:cNvPr id="49" name="Text 47"/>
          <p:cNvSpPr/>
          <p:nvPr/>
        </p:nvSpPr>
        <p:spPr>
          <a:xfrm>
            <a:off x="457200" y="4315968"/>
            <a:ext cx="1865376" cy="237744"/>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MANOVA</a:t>
            </a:r>
            <a:endParaRPr lang="en-US" sz="950" dirty="0"/>
          </a:p>
        </p:txBody>
      </p:sp>
      <p:sp>
        <p:nvSpPr>
          <p:cNvPr id="50" name="Text 48"/>
          <p:cNvSpPr/>
          <p:nvPr/>
        </p:nvSpPr>
        <p:spPr>
          <a:xfrm>
            <a:off x="457200" y="4572000"/>
            <a:ext cx="186537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Simultaneous comparison on multiple scale DVs</a:t>
            </a:r>
            <a:endParaRPr lang="en-US" sz="850" dirty="0"/>
          </a:p>
        </p:txBody>
      </p:sp>
      <p:sp>
        <p:nvSpPr>
          <p:cNvPr id="51" name="Shape 49"/>
          <p:cNvSpPr/>
          <p:nvPr/>
        </p:nvSpPr>
        <p:spPr>
          <a:xfrm>
            <a:off x="2542032" y="4279392"/>
            <a:ext cx="2048256" cy="585216"/>
          </a:xfrm>
          <a:prstGeom prst="roundRect">
            <a:avLst>
              <a:gd name="adj" fmla="val 7813"/>
            </a:avLst>
          </a:prstGeom>
          <a:solidFill>
            <a:srgbClr val="FFFFFF"/>
          </a:solidFill>
          <a:ln w="10160">
            <a:solidFill>
              <a:srgbClr val="D8C8ED"/>
            </a:solidFill>
            <a:prstDash val="solid"/>
          </a:ln>
        </p:spPr>
      </p:sp>
      <p:sp>
        <p:nvSpPr>
          <p:cNvPr id="52" name="Text 50"/>
          <p:cNvSpPr/>
          <p:nvPr/>
        </p:nvSpPr>
        <p:spPr>
          <a:xfrm>
            <a:off x="2633472" y="4315968"/>
            <a:ext cx="1865376" cy="237744"/>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Repeated Measures ANOVA</a:t>
            </a:r>
            <a:endParaRPr lang="en-US" sz="950" dirty="0"/>
          </a:p>
        </p:txBody>
      </p:sp>
      <p:sp>
        <p:nvSpPr>
          <p:cNvPr id="53" name="Text 51"/>
          <p:cNvSpPr/>
          <p:nvPr/>
        </p:nvSpPr>
        <p:spPr>
          <a:xfrm>
            <a:off x="2633472" y="4572000"/>
            <a:ext cx="186537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Satisfaction tracked across 4 quarterly surveys</a:t>
            </a:r>
            <a:endParaRPr lang="en-US" sz="850" dirty="0"/>
          </a:p>
        </p:txBody>
      </p:sp>
      <p:sp>
        <p:nvSpPr>
          <p:cNvPr id="54" name="Shape 52"/>
          <p:cNvSpPr/>
          <p:nvPr/>
        </p:nvSpPr>
        <p:spPr>
          <a:xfrm>
            <a:off x="4718304" y="4279392"/>
            <a:ext cx="2048256" cy="585216"/>
          </a:xfrm>
          <a:prstGeom prst="roundRect">
            <a:avLst>
              <a:gd name="adj" fmla="val 7813"/>
            </a:avLst>
          </a:prstGeom>
          <a:solidFill>
            <a:srgbClr val="FFFFFF"/>
          </a:solidFill>
          <a:ln w="10160">
            <a:solidFill>
              <a:srgbClr val="D8C8ED"/>
            </a:solidFill>
            <a:prstDash val="solid"/>
          </a:ln>
        </p:spPr>
      </p:sp>
      <p:sp>
        <p:nvSpPr>
          <p:cNvPr id="55" name="Text 53"/>
          <p:cNvSpPr/>
          <p:nvPr/>
        </p:nvSpPr>
        <p:spPr>
          <a:xfrm>
            <a:off x="4809744" y="4315968"/>
            <a:ext cx="1865376" cy="237744"/>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Chi-Square Tests</a:t>
            </a:r>
            <a:endParaRPr lang="en-US" sz="950" dirty="0"/>
          </a:p>
        </p:txBody>
      </p:sp>
      <p:sp>
        <p:nvSpPr>
          <p:cNvPr id="56" name="Text 54"/>
          <p:cNvSpPr/>
          <p:nvPr/>
        </p:nvSpPr>
        <p:spPr>
          <a:xfrm>
            <a:off x="4809744" y="4572000"/>
            <a:ext cx="186537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Product preference by gender, region by education (categorical)</a:t>
            </a:r>
            <a:endParaRPr lang="en-US" sz="850" dirty="0"/>
          </a:p>
        </p:txBody>
      </p:sp>
      <p:sp>
        <p:nvSpPr>
          <p:cNvPr id="57" name="Shape 55"/>
          <p:cNvSpPr/>
          <p:nvPr/>
        </p:nvSpPr>
        <p:spPr>
          <a:xfrm>
            <a:off x="6894576" y="4279392"/>
            <a:ext cx="2048256" cy="585216"/>
          </a:xfrm>
          <a:prstGeom prst="roundRect">
            <a:avLst>
              <a:gd name="adj" fmla="val 7813"/>
            </a:avLst>
          </a:prstGeom>
          <a:solidFill>
            <a:srgbClr val="FFFFFF"/>
          </a:solidFill>
          <a:ln w="10160">
            <a:solidFill>
              <a:srgbClr val="D8C8ED"/>
            </a:solidFill>
            <a:prstDash val="solid"/>
          </a:ln>
        </p:spPr>
      </p:sp>
      <p:sp>
        <p:nvSpPr>
          <p:cNvPr id="58" name="Text 56"/>
          <p:cNvSpPr/>
          <p:nvPr/>
        </p:nvSpPr>
        <p:spPr>
          <a:xfrm>
            <a:off x="6986016" y="4315968"/>
            <a:ext cx="1865376" cy="237744"/>
          </a:xfrm>
          <a:prstGeom prst="rect">
            <a:avLst/>
          </a:prstGeom>
          <a:noFill/>
          <a:ln/>
        </p:spPr>
        <p:txBody>
          <a:bodyPr wrap="square" lIns="0" tIns="0" rIns="0" bIns="0" rtlCol="0" anchor="ctr"/>
          <a:lstStyle/>
          <a:p>
            <a:pPr indent="0" marL="0">
              <a:buNone/>
            </a:pPr>
            <a:r>
              <a:rPr lang="en-US" sz="950" b="1" dirty="0">
                <a:solidFill>
                  <a:srgbClr val="5C1A6B"/>
                </a:solidFill>
                <a:latin typeface="Calibri" pitchFamily="34" charset="0"/>
                <a:ea typeface="Calibri" pitchFamily="34" charset="-122"/>
                <a:cs typeface="Calibri" pitchFamily="34" charset="-120"/>
              </a:rPr>
              <a:t>Non-Parametric Tests</a:t>
            </a:r>
            <a:endParaRPr lang="en-US" sz="950" dirty="0"/>
          </a:p>
        </p:txBody>
      </p:sp>
      <p:sp>
        <p:nvSpPr>
          <p:cNvPr id="59" name="Text 57"/>
          <p:cNvSpPr/>
          <p:nvPr/>
        </p:nvSpPr>
        <p:spPr>
          <a:xfrm>
            <a:off x="6986016" y="4572000"/>
            <a:ext cx="1865376" cy="237744"/>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Mann-Whitney, Kruskal-Wallis, Wilcoxon for non-normal data</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0A1E"/>
        </a:solidFill>
      </p:bgPr>
    </p:bg>
    <p:spTree>
      <p:nvGrpSpPr>
        <p:cNvPr id="1" name=""/>
        <p:cNvGrpSpPr/>
        <p:nvPr/>
      </p:nvGrpSpPr>
      <p:grpSpPr>
        <a:xfrm>
          <a:off x="0" y="0"/>
          <a:ext cx="0" cy="0"/>
          <a:chOff x="0" y="0"/>
          <a:chExt cx="0" cy="0"/>
        </a:xfrm>
      </p:grpSpPr>
      <p:sp>
        <p:nvSpPr>
          <p:cNvPr id="2" name="Shape 0"/>
          <p:cNvSpPr/>
          <p:nvPr/>
        </p:nvSpPr>
        <p:spPr>
          <a:xfrm>
            <a:off x="-1645920" y="-1645920"/>
            <a:ext cx="5486400" cy="5486400"/>
          </a:xfrm>
          <a:prstGeom prst="ellipse">
            <a:avLst/>
          </a:prstGeom>
          <a:solidFill>
            <a:srgbClr val="5C1A6B">
              <a:alpha val="18000"/>
            </a:srgbClr>
          </a:solidFill>
          <a:ln w="12700">
            <a:solidFill>
              <a:srgbClr val="5C1A6B"/>
            </a:solidFill>
            <a:prstDash val="solid"/>
          </a:ln>
        </p:spPr>
      </p:sp>
      <p:sp>
        <p:nvSpPr>
          <p:cNvPr id="3" name="Shape 1"/>
          <p:cNvSpPr/>
          <p:nvPr/>
        </p:nvSpPr>
        <p:spPr>
          <a:xfrm>
            <a:off x="6400800" y="2560320"/>
            <a:ext cx="4572000" cy="4572000"/>
          </a:xfrm>
          <a:prstGeom prst="ellipse">
            <a:avLst/>
          </a:prstGeom>
          <a:solidFill>
            <a:srgbClr val="D4A017">
              <a:alpha val="12000"/>
            </a:srgbClr>
          </a:solidFill>
          <a:ln w="12700">
            <a:solidFill>
              <a:srgbClr val="D4A017"/>
            </a:solidFill>
            <a:prstDash val="solid"/>
          </a:ln>
        </p:spPr>
      </p:sp>
      <p:sp>
        <p:nvSpPr>
          <p:cNvPr id="4" name="Shape 2"/>
          <p:cNvSpPr/>
          <p:nvPr/>
        </p:nvSpPr>
        <p:spPr>
          <a:xfrm>
            <a:off x="3840480" y="-1371600"/>
            <a:ext cx="2286000" cy="2286000"/>
          </a:xfrm>
          <a:prstGeom prst="ellipse">
            <a:avLst/>
          </a:prstGeom>
          <a:solidFill>
            <a:srgbClr val="2471A3">
              <a:alpha val="10000"/>
            </a:srgbClr>
          </a:solidFill>
          <a:ln w="12700">
            <a:solidFill>
              <a:srgbClr val="2471A3"/>
            </a:solidFill>
            <a:prstDash val="solid"/>
          </a:ln>
        </p:spPr>
      </p:sp>
      <p:sp>
        <p:nvSpPr>
          <p:cNvPr id="5" name="Text 3"/>
          <p:cNvSpPr/>
          <p:nvPr/>
        </p:nvSpPr>
        <p:spPr>
          <a:xfrm>
            <a:off x="914400" y="640080"/>
            <a:ext cx="7315200" cy="1280160"/>
          </a:xfrm>
          <a:prstGeom prst="rect">
            <a:avLst/>
          </a:prstGeom>
          <a:noFill/>
          <a:ln/>
        </p:spPr>
        <p:txBody>
          <a:bodyPr wrap="square" lIns="0" tIns="0" rIns="0" bIns="0" rtlCol="0" anchor="ctr"/>
          <a:lstStyle/>
          <a:p>
            <a:pPr algn="ctr" indent="0" marL="0">
              <a:buNone/>
            </a:pPr>
            <a:r>
              <a:rPr lang="en-US" sz="2400" b="1" i="1" dirty="0">
                <a:solidFill>
                  <a:srgbClr val="FFFFFF"/>
                </a:solidFill>
                <a:latin typeface="Cambria" pitchFamily="34" charset="0"/>
                <a:ea typeface="Cambria" pitchFamily="34" charset="-122"/>
                <a:cs typeface="Cambria" pitchFamily="34" charset="-120"/>
              </a:rPr>
              <a:t>"Torture the data enough</a:t>
            </a:r>
            <a:endParaRPr lang="en-US" sz="2400" dirty="0"/>
          </a:p>
          <a:p>
            <a:pPr algn="ctr" indent="0" marL="0">
              <a:buNone/>
            </a:pPr>
            <a:r>
              <a:rPr lang="en-US" sz="2400" b="1" i="1" dirty="0">
                <a:solidFill>
                  <a:srgbClr val="FFFFFF"/>
                </a:solidFill>
                <a:latin typeface="Cambria" pitchFamily="34" charset="0"/>
                <a:ea typeface="Cambria" pitchFamily="34" charset="-122"/>
                <a:cs typeface="Cambria" pitchFamily="34" charset="-120"/>
              </a:rPr>
              <a:t>and it will confess to anything."</a:t>
            </a:r>
            <a:endParaRPr lang="en-US" sz="2400" dirty="0"/>
          </a:p>
        </p:txBody>
      </p:sp>
      <p:sp>
        <p:nvSpPr>
          <p:cNvPr id="6" name="Text 4"/>
          <p:cNvSpPr/>
          <p:nvPr/>
        </p:nvSpPr>
        <p:spPr>
          <a:xfrm>
            <a:off x="1371600" y="2029968"/>
            <a:ext cx="6400800" cy="347472"/>
          </a:xfrm>
          <a:prstGeom prst="rect">
            <a:avLst/>
          </a:prstGeom>
          <a:noFill/>
          <a:ln/>
        </p:spPr>
        <p:txBody>
          <a:bodyPr wrap="square" lIns="0" tIns="0" rIns="0" bIns="0" rtlCol="0" anchor="ctr"/>
          <a:lstStyle/>
          <a:p>
            <a:pPr algn="ctr" indent="0" marL="0">
              <a:buNone/>
            </a:pPr>
            <a:r>
              <a:rPr lang="en-US" sz="1200" dirty="0">
                <a:solidFill>
                  <a:srgbClr val="C8A8E8"/>
                </a:solidFill>
                <a:latin typeface="Calibri" pitchFamily="34" charset="0"/>
                <a:ea typeface="Calibri" pitchFamily="34" charset="-122"/>
                <a:cs typeface="Calibri" pitchFamily="34" charset="-120"/>
              </a:rPr>
              <a:t>- Ronald Coase  (A lesson in rigorous, assumption-checked analysis)</a:t>
            </a:r>
            <a:endParaRPr lang="en-US" sz="1200" dirty="0"/>
          </a:p>
        </p:txBody>
      </p:sp>
      <p:sp>
        <p:nvSpPr>
          <p:cNvPr id="7" name="Shape 5"/>
          <p:cNvSpPr/>
          <p:nvPr/>
        </p:nvSpPr>
        <p:spPr>
          <a:xfrm>
            <a:off x="3200400" y="2487168"/>
            <a:ext cx="2743200" cy="0"/>
          </a:xfrm>
          <a:prstGeom prst="line">
            <a:avLst/>
          </a:prstGeom>
          <a:noFill/>
          <a:ln w="19050">
            <a:solidFill>
              <a:srgbClr val="F0C040"/>
            </a:solidFill>
            <a:prstDash val="solid"/>
          </a:ln>
        </p:spPr>
      </p:sp>
      <p:sp>
        <p:nvSpPr>
          <p:cNvPr id="8" name="Text 6"/>
          <p:cNvSpPr/>
          <p:nvPr/>
        </p:nvSpPr>
        <p:spPr>
          <a:xfrm>
            <a:off x="914400" y="2633472"/>
            <a:ext cx="7315200" cy="77724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9" name="Text 7"/>
          <p:cNvSpPr/>
          <p:nvPr/>
        </p:nvSpPr>
        <p:spPr>
          <a:xfrm>
            <a:off x="914400" y="3456432"/>
            <a:ext cx="7315200" cy="384048"/>
          </a:xfrm>
          <a:prstGeom prst="rect">
            <a:avLst/>
          </a:prstGeom>
          <a:noFill/>
          <a:ln/>
        </p:spPr>
        <p:txBody>
          <a:bodyPr wrap="square" lIns="0" tIns="0" rIns="0" bIns="0" rtlCol="0" anchor="ctr"/>
          <a:lstStyle/>
          <a:p>
            <a:pPr algn="ctr" indent="0" marL="0">
              <a:buNone/>
            </a:pPr>
            <a:r>
              <a:rPr lang="en-US" sz="1600" dirty="0">
                <a:solidFill>
                  <a:srgbClr val="C8A8E8"/>
                </a:solidFill>
                <a:latin typeface="Calibri" pitchFamily="34" charset="0"/>
                <a:ea typeface="Calibri" pitchFamily="34" charset="-122"/>
                <a:cs typeface="Calibri" pitchFamily="34" charset="-120"/>
              </a:rPr>
              <a:t>Questions  -  Discussion  -  Next Steps</a:t>
            </a:r>
            <a:endParaRPr lang="en-US" sz="1600" dirty="0"/>
          </a:p>
        </p:txBody>
      </p:sp>
      <p:sp>
        <p:nvSpPr>
          <p:cNvPr id="10" name="Shape 8"/>
          <p:cNvSpPr/>
          <p:nvPr/>
        </p:nvSpPr>
        <p:spPr>
          <a:xfrm>
            <a:off x="2834640" y="3968496"/>
            <a:ext cx="3474720" cy="960120"/>
          </a:xfrm>
          <a:prstGeom prst="roundRect">
            <a:avLst>
              <a:gd name="adj" fmla="val 11429"/>
            </a:avLst>
          </a:prstGeom>
          <a:solidFill>
            <a:srgbClr val="5C1A6B">
              <a:alpha val="85000"/>
            </a:srgbClr>
          </a:solidFill>
          <a:ln w="12700">
            <a:solidFill>
              <a:srgbClr val="7B2D8B"/>
            </a:solidFill>
            <a:prstDash val="solid"/>
          </a:ln>
        </p:spPr>
      </p:sp>
      <p:sp>
        <p:nvSpPr>
          <p:cNvPr id="11" name="Text 9"/>
          <p:cNvSpPr/>
          <p:nvPr/>
        </p:nvSpPr>
        <p:spPr>
          <a:xfrm>
            <a:off x="2834640" y="4023360"/>
            <a:ext cx="3474720"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Kajola Gbenga Adewale</a:t>
            </a:r>
            <a:endParaRPr lang="en-US" sz="1600" dirty="0"/>
          </a:p>
          <a:p>
            <a:pPr algn="ctr" indent="0" marL="0">
              <a:buNone/>
            </a:pPr>
            <a:r>
              <a:rPr lang="en-US" sz="1300" dirty="0">
                <a:solidFill>
                  <a:srgbClr val="F0C040"/>
                </a:solidFill>
                <a:latin typeface="Calibri" pitchFamily="34" charset="0"/>
                <a:ea typeface="Calibri" pitchFamily="34" charset="-122"/>
                <a:cs typeface="Calibri" pitchFamily="34" charset="-120"/>
              </a:rPr>
              <a:t>Data Expert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SPSS Module 3 - Statistical Inference and Descriptive Statistics</dc:title>
  <dc:subject>PptxGenJS Presentation</dc:subject>
  <dc:creator>Kajola Gbenga Adewale</dc:creator>
  <cp:lastModifiedBy>Kajola Gbenga Adewale</cp:lastModifiedBy>
  <cp:revision>1</cp:revision>
  <dcterms:created xsi:type="dcterms:W3CDTF">2026-06-27T13:13:53Z</dcterms:created>
  <dcterms:modified xsi:type="dcterms:W3CDTF">2026-06-27T13:13:53Z</dcterms:modified>
</cp:coreProperties>
</file>
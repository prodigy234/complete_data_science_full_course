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is the pinnacle of the SPSS training journey. Participants should have all previous modules completed and their clean UAC Foods dataset (N=450, sat_mean computed) ready. This module produces the most publication-ready analytical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ZPRED vs ZRESID plot is the single most important diagnostic. Teach participants to look for three problems: (1) Curve = non-linearity. (2) Fan shape = heteroscedasticity. (3) Clear outliers = influential cases. Random scatter = all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Multinomial logistic is more complex than binary because each non-reference category gets its own set of coefficients. Show participants how to read the Parameter Estimates table: each row is one comparison against the reference category for one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naming step is critical - participants must use substantive domain knowledge to interpret what each cluster MEANS for the business. Statistical clusters become business strategy when properly named and profiled. Ask participants: which segment should UAC prioritise for retention? Which for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slide of the complete 5-module SPSS training programme. Congratulate participants. Remind them that statistical skill is built through practice - using SPSS on their own real data projects is the best way to consolidate learning from this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5943600" y="-1645920"/>
            <a:ext cx="5486400" cy="5486400"/>
          </a:xfrm>
          <a:prstGeom prst="ellipse">
            <a:avLst/>
          </a:prstGeom>
          <a:solidFill>
            <a:srgbClr val="1A2D6B">
              <a:alpha val="24000"/>
            </a:srgbClr>
          </a:solidFill>
          <a:ln w="12700">
            <a:solidFill>
              <a:srgbClr val="1A2D6B"/>
            </a:solidFill>
            <a:prstDash val="solid"/>
          </a:ln>
        </p:spPr>
      </p:sp>
      <p:sp>
        <p:nvSpPr>
          <p:cNvPr id="3" name="Shape 1"/>
          <p:cNvSpPr/>
          <p:nvPr/>
        </p:nvSpPr>
        <p:spPr>
          <a:xfrm>
            <a:off x="-1371600" y="2926080"/>
            <a:ext cx="4114800" cy="4114800"/>
          </a:xfrm>
          <a:prstGeom prst="ellipse">
            <a:avLst/>
          </a:prstGeom>
          <a:solidFill>
            <a:srgbClr val="C8920A">
              <a:alpha val="15000"/>
            </a:srgbClr>
          </a:solidFill>
          <a:ln w="12700">
            <a:solidFill>
              <a:srgbClr val="C8920A"/>
            </a:solidFill>
            <a:prstDash val="solid"/>
          </a:ln>
        </p:spPr>
      </p:sp>
      <p:sp>
        <p:nvSpPr>
          <p:cNvPr id="4" name="Shape 2"/>
          <p:cNvSpPr/>
          <p:nvPr/>
        </p:nvSpPr>
        <p:spPr>
          <a:xfrm>
            <a:off x="3474720" y="3840480"/>
            <a:ext cx="2286000" cy="2286000"/>
          </a:xfrm>
          <a:prstGeom prst="ellipse">
            <a:avLst/>
          </a:prstGeom>
          <a:solidFill>
            <a:srgbClr val="0A6E4F">
              <a:alpha val="12000"/>
            </a:srgbClr>
          </a:solidFill>
          <a:ln w="12700">
            <a:solidFill>
              <a:srgbClr val="0A6E4F"/>
            </a:solidFill>
            <a:prstDash val="solid"/>
          </a:ln>
        </p:spPr>
      </p:sp>
      <p:sp>
        <p:nvSpPr>
          <p:cNvPr id="5" name="Text 3"/>
          <p:cNvSpPr/>
          <p:nvPr/>
        </p:nvSpPr>
        <p:spPr>
          <a:xfrm>
            <a:off x="594360" y="841248"/>
            <a:ext cx="7315200" cy="384048"/>
          </a:xfrm>
          <a:prstGeom prst="rect">
            <a:avLst/>
          </a:prstGeom>
          <a:noFill/>
          <a:ln/>
        </p:spPr>
        <p:txBody>
          <a:bodyPr wrap="square" lIns="0" tIns="0" rIns="0" bIns="0" rtlCol="0" anchor="ctr"/>
          <a:lstStyle/>
          <a:p>
            <a:pPr indent="0" marL="0">
              <a:buNone/>
            </a:pPr>
            <a:r>
              <a:rPr lang="en-US" sz="1300" b="1" spc="300" kern="0" dirty="0">
                <a:solidFill>
                  <a:srgbClr val="C8920A"/>
                </a:solidFill>
                <a:latin typeface="Calibri" pitchFamily="34" charset="0"/>
                <a:ea typeface="Calibri" pitchFamily="34" charset="-122"/>
                <a:cs typeface="Calibri" pitchFamily="34" charset="-120"/>
              </a:rPr>
              <a:t>MODULE 5  -  FINAL MODULE</a:t>
            </a:r>
            <a:endParaRPr lang="en-US" sz="1300" dirty="0"/>
          </a:p>
        </p:txBody>
      </p:sp>
      <p:sp>
        <p:nvSpPr>
          <p:cNvPr id="6" name="Text 4"/>
          <p:cNvSpPr/>
          <p:nvPr/>
        </p:nvSpPr>
        <p:spPr>
          <a:xfrm>
            <a:off x="594360" y="1298448"/>
            <a:ext cx="841248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Advanced Statistical</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Methods</a:t>
            </a:r>
            <a:endParaRPr lang="en-US" sz="4400" dirty="0"/>
          </a:p>
        </p:txBody>
      </p:sp>
      <p:sp>
        <p:nvSpPr>
          <p:cNvPr id="7" name="Text 5"/>
          <p:cNvSpPr/>
          <p:nvPr/>
        </p:nvSpPr>
        <p:spPr>
          <a:xfrm>
            <a:off x="594360" y="2788920"/>
            <a:ext cx="6858000" cy="713232"/>
          </a:xfrm>
          <a:prstGeom prst="rect">
            <a:avLst/>
          </a:prstGeom>
          <a:noFill/>
          <a:ln/>
        </p:spPr>
        <p:txBody>
          <a:bodyPr wrap="square" lIns="0" tIns="0" rIns="0" bIns="0" rtlCol="0" anchor="ctr"/>
          <a:lstStyle/>
          <a:p>
            <a:pPr indent="0" marL="0">
              <a:buNone/>
            </a:pPr>
            <a:r>
              <a:rPr lang="en-US" sz="1400" dirty="0">
                <a:solidFill>
                  <a:srgbClr val="B0C0E8"/>
                </a:solidFill>
                <a:latin typeface="Calibri" pitchFamily="34" charset="0"/>
                <a:ea typeface="Calibri" pitchFamily="34" charset="-122"/>
                <a:cs typeface="Calibri" pitchFamily="34" charset="-120"/>
              </a:rPr>
              <a:t>GLM Repeated Measures - Multiple Comparisons - Multiple Regression</a:t>
            </a:r>
            <a:endParaRPr lang="en-US" sz="1400" dirty="0"/>
          </a:p>
          <a:p>
            <a:pPr indent="0" marL="0">
              <a:buNone/>
            </a:pPr>
            <a:r>
              <a:rPr lang="en-US" sz="1400" dirty="0">
                <a:solidFill>
                  <a:srgbClr val="B0C0E8"/>
                </a:solidFill>
                <a:latin typeface="Calibri" pitchFamily="34" charset="0"/>
                <a:ea typeface="Calibri" pitchFamily="34" charset="-122"/>
                <a:cs typeface="Calibri" pitchFamily="34" charset="-120"/>
              </a:rPr>
              <a:t>Logistic Regression - Factor Analysis - Reliability - Cluster Analysis</a:t>
            </a:r>
            <a:endParaRPr lang="en-US" sz="1400" dirty="0"/>
          </a:p>
        </p:txBody>
      </p:sp>
      <p:sp>
        <p:nvSpPr>
          <p:cNvPr id="8" name="Text 6"/>
          <p:cNvSpPr/>
          <p:nvPr/>
        </p:nvSpPr>
        <p:spPr>
          <a:xfrm>
            <a:off x="594360" y="3547872"/>
            <a:ext cx="6400800" cy="320040"/>
          </a:xfrm>
          <a:prstGeom prst="rect">
            <a:avLst/>
          </a:prstGeom>
          <a:noFill/>
          <a:ln/>
        </p:spPr>
        <p:txBody>
          <a:bodyPr wrap="square" lIns="0" tIns="0" rIns="0" bIns="0" rtlCol="0" anchor="ctr"/>
          <a:lstStyle/>
          <a:p>
            <a:pPr indent="0" marL="0">
              <a:buNone/>
            </a:pPr>
            <a:r>
              <a:rPr lang="en-US" sz="1200" i="1" dirty="0">
                <a:solidFill>
                  <a:srgbClr val="F0C040"/>
                </a:solidFill>
                <a:latin typeface="Calibri" pitchFamily="34" charset="0"/>
                <a:ea typeface="Calibri" pitchFamily="34" charset="-122"/>
                <a:cs typeface="Calibri" pitchFamily="34" charset="-120"/>
              </a:rPr>
              <a:t>IBM SPSS Statistics Training  -  UAC Foods Limited</a:t>
            </a:r>
            <a:endParaRPr lang="en-US" sz="1200" dirty="0"/>
          </a:p>
        </p:txBody>
      </p:sp>
      <p:sp>
        <p:nvSpPr>
          <p:cNvPr id="9" name="Shape 7"/>
          <p:cNvSpPr/>
          <p:nvPr/>
        </p:nvSpPr>
        <p:spPr>
          <a:xfrm>
            <a:off x="594360" y="3913632"/>
            <a:ext cx="3931920" cy="896112"/>
          </a:xfrm>
          <a:prstGeom prst="roundRect">
            <a:avLst>
              <a:gd name="adj" fmla="val 10204"/>
            </a:avLst>
          </a:prstGeom>
          <a:solidFill>
            <a:srgbClr val="1A2D6B">
              <a:alpha val="85000"/>
            </a:srgbClr>
          </a:solidFill>
          <a:ln w="12700">
            <a:solidFill>
              <a:srgbClr val="2748A8"/>
            </a:solidFill>
            <a:prstDash val="solid"/>
          </a:ln>
        </p:spPr>
      </p:sp>
      <p:sp>
        <p:nvSpPr>
          <p:cNvPr id="10" name="Text 8"/>
          <p:cNvSpPr/>
          <p:nvPr/>
        </p:nvSpPr>
        <p:spPr>
          <a:xfrm>
            <a:off x="594360" y="3959352"/>
            <a:ext cx="3931920" cy="8046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Kajola Gbenga Adewale</a:t>
            </a:r>
            <a:endParaRPr lang="en-US" sz="1400" dirty="0"/>
          </a:p>
          <a:p>
            <a:pPr algn="ctr" indent="0" marL="0">
              <a:buNone/>
            </a:pPr>
            <a:r>
              <a:rPr lang="en-US" sz="1200" dirty="0">
                <a:solidFill>
                  <a:srgbClr val="F0C040"/>
                </a:solidFill>
                <a:latin typeface="Calibri" pitchFamily="34" charset="0"/>
                <a:ea typeface="Calibri" pitchFamily="34" charset="-122"/>
                <a:cs typeface="Calibri" pitchFamily="34" charset="-120"/>
              </a:rPr>
              <a:t>Data Expert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A0F1E"/>
          </a:solidFill>
          <a:ln w="12700">
            <a:solidFill>
              <a:srgbClr val="0A0F1E"/>
            </a:solidFill>
            <a:prstDash val="solid"/>
          </a:ln>
        </p:spPr>
      </p:sp>
      <p:sp>
        <p:nvSpPr>
          <p:cNvPr id="3" name="Text 1"/>
          <p:cNvSpPr/>
          <p:nvPr/>
        </p:nvSpPr>
        <p:spPr>
          <a:xfrm>
            <a:off x="137160" y="914400"/>
            <a:ext cx="2633472" cy="16459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MODULE 5</a:t>
            </a:r>
            <a:endParaRPr lang="en-US" sz="2400" dirty="0"/>
          </a:p>
          <a:p>
            <a:pPr algn="ctr" indent="0" marL="0">
              <a:buNone/>
            </a:pPr>
            <a:r>
              <a:rPr lang="en-US" sz="2400" b="1" dirty="0">
                <a:solidFill>
                  <a:srgbClr val="FFFFFF"/>
                </a:solidFill>
                <a:latin typeface="Cambria" pitchFamily="34" charset="0"/>
                <a:ea typeface="Cambria" pitchFamily="34" charset="-122"/>
                <a:cs typeface="Cambria" pitchFamily="34" charset="-120"/>
              </a:rPr>
              <a:t>FINAL</a:t>
            </a:r>
            <a:endParaRPr lang="en-US" sz="2400" dirty="0"/>
          </a:p>
          <a:p>
            <a:pPr algn="ctr" indent="0" marL="0">
              <a:buNone/>
            </a:pPr>
            <a:r>
              <a:rPr lang="en-US" sz="2400" b="1" dirty="0">
                <a:solidFill>
                  <a:srgbClr val="FFFFFF"/>
                </a:solidFill>
                <a:latin typeface="Cambria" pitchFamily="34" charset="0"/>
                <a:ea typeface="Cambria" pitchFamily="34" charset="-122"/>
                <a:cs typeface="Cambria" pitchFamily="34" charset="-120"/>
              </a:rPr>
              <a:t>MODULE</a:t>
            </a:r>
            <a:endParaRPr lang="en-US" sz="2400" dirty="0"/>
          </a:p>
        </p:txBody>
      </p:sp>
      <p:sp>
        <p:nvSpPr>
          <p:cNvPr id="4" name="Shape 2"/>
          <p:cNvSpPr/>
          <p:nvPr/>
        </p:nvSpPr>
        <p:spPr>
          <a:xfrm>
            <a:off x="365760" y="2633472"/>
            <a:ext cx="2194560" cy="45720"/>
          </a:xfrm>
          <a:prstGeom prst="rect">
            <a:avLst/>
          </a:prstGeom>
          <a:solidFill>
            <a:srgbClr val="C8920A"/>
          </a:solidFill>
          <a:ln w="12700">
            <a:solidFill>
              <a:srgbClr val="C8920A"/>
            </a:solidFill>
            <a:prstDash val="solid"/>
          </a:ln>
        </p:spPr>
      </p:sp>
      <p:sp>
        <p:nvSpPr>
          <p:cNvPr id="5" name="Text 3"/>
          <p:cNvSpPr/>
          <p:nvPr/>
        </p:nvSpPr>
        <p:spPr>
          <a:xfrm>
            <a:off x="137160" y="2761488"/>
            <a:ext cx="2633472" cy="365760"/>
          </a:xfrm>
          <a:prstGeom prst="rect">
            <a:avLst/>
          </a:prstGeom>
          <a:noFill/>
          <a:ln/>
        </p:spPr>
        <p:txBody>
          <a:bodyPr wrap="square" lIns="0" tIns="0" rIns="0" bIns="0" rtlCol="0" anchor="ctr"/>
          <a:lstStyle/>
          <a:p>
            <a:pPr algn="ctr" indent="0" marL="0">
              <a:buNone/>
            </a:pPr>
            <a:r>
              <a:rPr lang="en-US" sz="1200" dirty="0">
                <a:solidFill>
                  <a:srgbClr val="F0C040"/>
                </a:solidFill>
                <a:latin typeface="Calibri" pitchFamily="34" charset="0"/>
                <a:ea typeface="Calibri" pitchFamily="34" charset="-122"/>
                <a:cs typeface="Calibri" pitchFamily="34" charset="-120"/>
              </a:rPr>
              <a:t>8 Advanced Topics</a:t>
            </a:r>
            <a:endParaRPr lang="en-US" sz="1200" dirty="0"/>
          </a:p>
        </p:txBody>
      </p:sp>
      <p:sp>
        <p:nvSpPr>
          <p:cNvPr id="6" name="Shape 4"/>
          <p:cNvSpPr/>
          <p:nvPr/>
        </p:nvSpPr>
        <p:spPr>
          <a:xfrm>
            <a:off x="3063240" y="201168"/>
            <a:ext cx="2880360" cy="1133856"/>
          </a:xfrm>
          <a:prstGeom prst="roundRect">
            <a:avLst>
              <a:gd name="adj" fmla="val 5645"/>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154680" y="512064"/>
            <a:ext cx="347472" cy="347472"/>
          </a:xfrm>
          <a:prstGeom prst="roundRect">
            <a:avLst>
              <a:gd name="adj" fmla="val 13158"/>
            </a:avLst>
          </a:prstGeom>
          <a:solidFill>
            <a:srgbClr val="0A0F1E"/>
          </a:solidFill>
          <a:ln w="12700">
            <a:solidFill>
              <a:srgbClr val="0A0F1E"/>
            </a:solidFill>
            <a:prstDash val="solid"/>
          </a:ln>
        </p:spPr>
      </p:sp>
      <p:sp>
        <p:nvSpPr>
          <p:cNvPr id="8" name="Text 6"/>
          <p:cNvSpPr/>
          <p:nvPr/>
        </p:nvSpPr>
        <p:spPr>
          <a:xfrm>
            <a:off x="3154680" y="51206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3593592" y="365760"/>
            <a:ext cx="2286000" cy="329184"/>
          </a:xfrm>
          <a:prstGeom prst="rect">
            <a:avLst/>
          </a:prstGeom>
          <a:noFill/>
          <a:ln/>
        </p:spPr>
        <p:txBody>
          <a:bodyPr wrap="square" lIns="0" tIns="0" rIns="0" bIns="0"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GLM Repeated Measures - Advanced</a:t>
            </a:r>
            <a:endParaRPr lang="en-US" sz="1050" dirty="0"/>
          </a:p>
        </p:txBody>
      </p:sp>
      <p:sp>
        <p:nvSpPr>
          <p:cNvPr id="10" name="Text 8"/>
          <p:cNvSpPr/>
          <p:nvPr/>
        </p:nvSpPr>
        <p:spPr>
          <a:xfrm>
            <a:off x="3593592" y="731520"/>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Covariates, between-subjects factors, profile plots</a:t>
            </a:r>
            <a:endParaRPr lang="en-US" sz="900" dirty="0"/>
          </a:p>
        </p:txBody>
      </p:sp>
      <p:sp>
        <p:nvSpPr>
          <p:cNvPr id="11" name="Shape 9"/>
          <p:cNvSpPr/>
          <p:nvPr/>
        </p:nvSpPr>
        <p:spPr>
          <a:xfrm>
            <a:off x="3063240" y="1426464"/>
            <a:ext cx="2880360" cy="1133856"/>
          </a:xfrm>
          <a:prstGeom prst="roundRect">
            <a:avLst>
              <a:gd name="adj" fmla="val 5645"/>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154680" y="1737360"/>
            <a:ext cx="347472" cy="347472"/>
          </a:xfrm>
          <a:prstGeom prst="roundRect">
            <a:avLst>
              <a:gd name="adj" fmla="val 13158"/>
            </a:avLst>
          </a:prstGeom>
          <a:solidFill>
            <a:srgbClr val="0A0F1E"/>
          </a:solidFill>
          <a:ln w="12700">
            <a:solidFill>
              <a:srgbClr val="0A0F1E"/>
            </a:solidFill>
            <a:prstDash val="solid"/>
          </a:ln>
        </p:spPr>
      </p:sp>
      <p:sp>
        <p:nvSpPr>
          <p:cNvPr id="13" name="Text 11"/>
          <p:cNvSpPr/>
          <p:nvPr/>
        </p:nvSpPr>
        <p:spPr>
          <a:xfrm>
            <a:off x="3154680" y="173736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3593592" y="1591056"/>
            <a:ext cx="2286000" cy="329184"/>
          </a:xfrm>
          <a:prstGeom prst="rect">
            <a:avLst/>
          </a:prstGeom>
          <a:noFill/>
          <a:ln/>
        </p:spPr>
        <p:txBody>
          <a:bodyPr wrap="square" lIns="0" tIns="0" rIns="0" bIns="0"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Multiple Comparisons and Contrasts</a:t>
            </a:r>
            <a:endParaRPr lang="en-US" sz="1050" dirty="0"/>
          </a:p>
        </p:txBody>
      </p:sp>
      <p:sp>
        <p:nvSpPr>
          <p:cNvPr id="15" name="Text 13"/>
          <p:cNvSpPr/>
          <p:nvPr/>
        </p:nvSpPr>
        <p:spPr>
          <a:xfrm>
            <a:off x="3593592" y="1956816"/>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EMMEANS, polynomial contrasts, trend analysis</a:t>
            </a:r>
            <a:endParaRPr lang="en-US" sz="900" dirty="0"/>
          </a:p>
        </p:txBody>
      </p:sp>
      <p:sp>
        <p:nvSpPr>
          <p:cNvPr id="16" name="Shape 14"/>
          <p:cNvSpPr/>
          <p:nvPr/>
        </p:nvSpPr>
        <p:spPr>
          <a:xfrm>
            <a:off x="3063240" y="2651760"/>
            <a:ext cx="2880360" cy="1133856"/>
          </a:xfrm>
          <a:prstGeom prst="roundRect">
            <a:avLst>
              <a:gd name="adj" fmla="val 5645"/>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154680" y="2962656"/>
            <a:ext cx="347472" cy="347472"/>
          </a:xfrm>
          <a:prstGeom prst="roundRect">
            <a:avLst>
              <a:gd name="adj" fmla="val 13158"/>
            </a:avLst>
          </a:prstGeom>
          <a:solidFill>
            <a:srgbClr val="0A0F1E"/>
          </a:solidFill>
          <a:ln w="12700">
            <a:solidFill>
              <a:srgbClr val="0A0F1E"/>
            </a:solidFill>
            <a:prstDash val="solid"/>
          </a:ln>
        </p:spPr>
      </p:sp>
      <p:sp>
        <p:nvSpPr>
          <p:cNvPr id="18" name="Text 16"/>
          <p:cNvSpPr/>
          <p:nvPr/>
        </p:nvSpPr>
        <p:spPr>
          <a:xfrm>
            <a:off x="3154680" y="296265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03</a:t>
            </a:r>
            <a:endParaRPr lang="en-US" sz="900" dirty="0"/>
          </a:p>
        </p:txBody>
      </p:sp>
      <p:sp>
        <p:nvSpPr>
          <p:cNvPr id="19" name="Text 17"/>
          <p:cNvSpPr/>
          <p:nvPr/>
        </p:nvSpPr>
        <p:spPr>
          <a:xfrm>
            <a:off x="3593592" y="2816352"/>
            <a:ext cx="2286000" cy="329184"/>
          </a:xfrm>
          <a:prstGeom prst="rect">
            <a:avLst/>
          </a:prstGeom>
          <a:noFill/>
          <a:ln/>
        </p:spPr>
        <p:txBody>
          <a:bodyPr wrap="square" lIns="0" tIns="0" rIns="0" bIns="0"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Multiple Linear Regression</a:t>
            </a:r>
            <a:endParaRPr lang="en-US" sz="1050" dirty="0"/>
          </a:p>
        </p:txBody>
      </p:sp>
      <p:sp>
        <p:nvSpPr>
          <p:cNvPr id="20" name="Text 18"/>
          <p:cNvSpPr/>
          <p:nvPr/>
        </p:nvSpPr>
        <p:spPr>
          <a:xfrm>
            <a:off x="3593592" y="3182112"/>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Model building, diagnostics, coefficient interpretation</a:t>
            </a:r>
            <a:endParaRPr lang="en-US" sz="900" dirty="0"/>
          </a:p>
        </p:txBody>
      </p:sp>
      <p:sp>
        <p:nvSpPr>
          <p:cNvPr id="21" name="Shape 19"/>
          <p:cNvSpPr/>
          <p:nvPr/>
        </p:nvSpPr>
        <p:spPr>
          <a:xfrm>
            <a:off x="3063240" y="3877056"/>
            <a:ext cx="2880360" cy="1133856"/>
          </a:xfrm>
          <a:prstGeom prst="roundRect">
            <a:avLst>
              <a:gd name="adj" fmla="val 5645"/>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3154680" y="4187952"/>
            <a:ext cx="347472" cy="347472"/>
          </a:xfrm>
          <a:prstGeom prst="roundRect">
            <a:avLst>
              <a:gd name="adj" fmla="val 13158"/>
            </a:avLst>
          </a:prstGeom>
          <a:solidFill>
            <a:srgbClr val="0A0F1E"/>
          </a:solidFill>
          <a:ln w="12700">
            <a:solidFill>
              <a:srgbClr val="0A0F1E"/>
            </a:solidFill>
            <a:prstDash val="solid"/>
          </a:ln>
        </p:spPr>
      </p:sp>
      <p:sp>
        <p:nvSpPr>
          <p:cNvPr id="23" name="Text 21"/>
          <p:cNvSpPr/>
          <p:nvPr/>
        </p:nvSpPr>
        <p:spPr>
          <a:xfrm>
            <a:off x="3154680" y="4187952"/>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04</a:t>
            </a:r>
            <a:endParaRPr lang="en-US" sz="900" dirty="0"/>
          </a:p>
        </p:txBody>
      </p:sp>
      <p:sp>
        <p:nvSpPr>
          <p:cNvPr id="24" name="Text 22"/>
          <p:cNvSpPr/>
          <p:nvPr/>
        </p:nvSpPr>
        <p:spPr>
          <a:xfrm>
            <a:off x="3593592" y="4041648"/>
            <a:ext cx="2286000" cy="329184"/>
          </a:xfrm>
          <a:prstGeom prst="rect">
            <a:avLst/>
          </a:prstGeom>
          <a:noFill/>
          <a:ln/>
        </p:spPr>
        <p:txBody>
          <a:bodyPr wrap="square" lIns="0" tIns="0" rIns="0" bIns="0"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Binary Logistic Regression</a:t>
            </a:r>
            <a:endParaRPr lang="en-US" sz="1050" dirty="0"/>
          </a:p>
        </p:txBody>
      </p:sp>
      <p:sp>
        <p:nvSpPr>
          <p:cNvPr id="25" name="Text 23"/>
          <p:cNvSpPr/>
          <p:nvPr/>
        </p:nvSpPr>
        <p:spPr>
          <a:xfrm>
            <a:off x="3593592" y="4407408"/>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Odds ratios, classification, Hosmer-Lemeshow</a:t>
            </a:r>
            <a:endParaRPr lang="en-US" sz="900" dirty="0"/>
          </a:p>
        </p:txBody>
      </p:sp>
      <p:sp>
        <p:nvSpPr>
          <p:cNvPr id="26" name="Shape 24"/>
          <p:cNvSpPr/>
          <p:nvPr/>
        </p:nvSpPr>
        <p:spPr>
          <a:xfrm>
            <a:off x="6080760" y="201168"/>
            <a:ext cx="2880360" cy="1133856"/>
          </a:xfrm>
          <a:prstGeom prst="roundRect">
            <a:avLst>
              <a:gd name="adj" fmla="val 5645"/>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6172200" y="512064"/>
            <a:ext cx="347472" cy="347472"/>
          </a:xfrm>
          <a:prstGeom prst="roundRect">
            <a:avLst>
              <a:gd name="adj" fmla="val 13158"/>
            </a:avLst>
          </a:prstGeom>
          <a:solidFill>
            <a:srgbClr val="0A0F1E"/>
          </a:solidFill>
          <a:ln w="12700">
            <a:solidFill>
              <a:srgbClr val="0A0F1E"/>
            </a:solidFill>
            <a:prstDash val="solid"/>
          </a:ln>
        </p:spPr>
      </p:sp>
      <p:sp>
        <p:nvSpPr>
          <p:cNvPr id="28" name="Text 26"/>
          <p:cNvSpPr/>
          <p:nvPr/>
        </p:nvSpPr>
        <p:spPr>
          <a:xfrm>
            <a:off x="6172200" y="51206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05</a:t>
            </a:r>
            <a:endParaRPr lang="en-US" sz="900" dirty="0"/>
          </a:p>
        </p:txBody>
      </p:sp>
      <p:sp>
        <p:nvSpPr>
          <p:cNvPr id="29" name="Text 27"/>
          <p:cNvSpPr/>
          <p:nvPr/>
        </p:nvSpPr>
        <p:spPr>
          <a:xfrm>
            <a:off x="6611112" y="365760"/>
            <a:ext cx="2286000" cy="329184"/>
          </a:xfrm>
          <a:prstGeom prst="rect">
            <a:avLst/>
          </a:prstGeom>
          <a:noFill/>
          <a:ln/>
        </p:spPr>
        <p:txBody>
          <a:bodyPr wrap="square" lIns="0" tIns="0" rIns="0" bIns="0"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Multinomial Logistic Regression</a:t>
            </a:r>
            <a:endParaRPr lang="en-US" sz="1050" dirty="0"/>
          </a:p>
        </p:txBody>
      </p:sp>
      <p:sp>
        <p:nvSpPr>
          <p:cNvPr id="30" name="Text 28"/>
          <p:cNvSpPr/>
          <p:nvPr/>
        </p:nvSpPr>
        <p:spPr>
          <a:xfrm>
            <a:off x="6611112" y="731520"/>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Predicting 3+ category outcomes</a:t>
            </a:r>
            <a:endParaRPr lang="en-US" sz="900" dirty="0"/>
          </a:p>
        </p:txBody>
      </p:sp>
      <p:sp>
        <p:nvSpPr>
          <p:cNvPr id="31" name="Shape 29"/>
          <p:cNvSpPr/>
          <p:nvPr/>
        </p:nvSpPr>
        <p:spPr>
          <a:xfrm>
            <a:off x="6080760" y="1426464"/>
            <a:ext cx="2880360" cy="1133856"/>
          </a:xfrm>
          <a:prstGeom prst="roundRect">
            <a:avLst>
              <a:gd name="adj" fmla="val 5645"/>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6172200" y="1737360"/>
            <a:ext cx="347472" cy="347472"/>
          </a:xfrm>
          <a:prstGeom prst="roundRect">
            <a:avLst>
              <a:gd name="adj" fmla="val 13158"/>
            </a:avLst>
          </a:prstGeom>
          <a:solidFill>
            <a:srgbClr val="0A0F1E"/>
          </a:solidFill>
          <a:ln w="12700">
            <a:solidFill>
              <a:srgbClr val="0A0F1E"/>
            </a:solidFill>
            <a:prstDash val="solid"/>
          </a:ln>
        </p:spPr>
      </p:sp>
      <p:sp>
        <p:nvSpPr>
          <p:cNvPr id="33" name="Text 31"/>
          <p:cNvSpPr/>
          <p:nvPr/>
        </p:nvSpPr>
        <p:spPr>
          <a:xfrm>
            <a:off x="6172200" y="173736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06</a:t>
            </a:r>
            <a:endParaRPr lang="en-US" sz="900" dirty="0"/>
          </a:p>
        </p:txBody>
      </p:sp>
      <p:sp>
        <p:nvSpPr>
          <p:cNvPr id="34" name="Text 32"/>
          <p:cNvSpPr/>
          <p:nvPr/>
        </p:nvSpPr>
        <p:spPr>
          <a:xfrm>
            <a:off x="6611112" y="1591056"/>
            <a:ext cx="2286000" cy="329184"/>
          </a:xfrm>
          <a:prstGeom prst="rect">
            <a:avLst/>
          </a:prstGeom>
          <a:noFill/>
          <a:ln/>
        </p:spPr>
        <p:txBody>
          <a:bodyPr wrap="square" lIns="0" tIns="0" rIns="0" bIns="0"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Exploratory Factor Analysis</a:t>
            </a:r>
            <a:endParaRPr lang="en-US" sz="1050" dirty="0"/>
          </a:p>
        </p:txBody>
      </p:sp>
      <p:sp>
        <p:nvSpPr>
          <p:cNvPr id="35" name="Text 33"/>
          <p:cNvSpPr/>
          <p:nvPr/>
        </p:nvSpPr>
        <p:spPr>
          <a:xfrm>
            <a:off x="6611112" y="1956816"/>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KMO, scree plot, rotation, factor loadings</a:t>
            </a:r>
            <a:endParaRPr lang="en-US" sz="900" dirty="0"/>
          </a:p>
        </p:txBody>
      </p:sp>
      <p:sp>
        <p:nvSpPr>
          <p:cNvPr id="36" name="Shape 34"/>
          <p:cNvSpPr/>
          <p:nvPr/>
        </p:nvSpPr>
        <p:spPr>
          <a:xfrm>
            <a:off x="6080760" y="2651760"/>
            <a:ext cx="2880360" cy="1133856"/>
          </a:xfrm>
          <a:prstGeom prst="roundRect">
            <a:avLst>
              <a:gd name="adj" fmla="val 5645"/>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6172200" y="2962656"/>
            <a:ext cx="347472" cy="347472"/>
          </a:xfrm>
          <a:prstGeom prst="roundRect">
            <a:avLst>
              <a:gd name="adj" fmla="val 13158"/>
            </a:avLst>
          </a:prstGeom>
          <a:solidFill>
            <a:srgbClr val="0A0F1E"/>
          </a:solidFill>
          <a:ln w="12700">
            <a:solidFill>
              <a:srgbClr val="0A0F1E"/>
            </a:solidFill>
            <a:prstDash val="solid"/>
          </a:ln>
        </p:spPr>
      </p:sp>
      <p:sp>
        <p:nvSpPr>
          <p:cNvPr id="38" name="Text 36"/>
          <p:cNvSpPr/>
          <p:nvPr/>
        </p:nvSpPr>
        <p:spPr>
          <a:xfrm>
            <a:off x="6172200" y="296265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07</a:t>
            </a:r>
            <a:endParaRPr lang="en-US" sz="900" dirty="0"/>
          </a:p>
        </p:txBody>
      </p:sp>
      <p:sp>
        <p:nvSpPr>
          <p:cNvPr id="39" name="Text 37"/>
          <p:cNvSpPr/>
          <p:nvPr/>
        </p:nvSpPr>
        <p:spPr>
          <a:xfrm>
            <a:off x="6611112" y="2816352"/>
            <a:ext cx="2286000" cy="329184"/>
          </a:xfrm>
          <a:prstGeom prst="rect">
            <a:avLst/>
          </a:prstGeom>
          <a:noFill/>
          <a:ln/>
        </p:spPr>
        <p:txBody>
          <a:bodyPr wrap="square" lIns="0" tIns="0" rIns="0" bIns="0"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Reliability Analysis</a:t>
            </a:r>
            <a:endParaRPr lang="en-US" sz="1050" dirty="0"/>
          </a:p>
        </p:txBody>
      </p:sp>
      <p:sp>
        <p:nvSpPr>
          <p:cNvPr id="40" name="Text 38"/>
          <p:cNvSpPr/>
          <p:nvPr/>
        </p:nvSpPr>
        <p:spPr>
          <a:xfrm>
            <a:off x="6611112" y="3182112"/>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Cronbach alpha, item-total statistics, scale construction</a:t>
            </a:r>
            <a:endParaRPr lang="en-US" sz="900" dirty="0"/>
          </a:p>
        </p:txBody>
      </p:sp>
      <p:sp>
        <p:nvSpPr>
          <p:cNvPr id="41" name="Shape 39"/>
          <p:cNvSpPr/>
          <p:nvPr/>
        </p:nvSpPr>
        <p:spPr>
          <a:xfrm>
            <a:off x="6080760" y="3877056"/>
            <a:ext cx="2880360" cy="1133856"/>
          </a:xfrm>
          <a:prstGeom prst="roundRect">
            <a:avLst>
              <a:gd name="adj" fmla="val 5645"/>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42" name="Shape 40"/>
          <p:cNvSpPr/>
          <p:nvPr/>
        </p:nvSpPr>
        <p:spPr>
          <a:xfrm>
            <a:off x="6172200" y="4187952"/>
            <a:ext cx="347472" cy="347472"/>
          </a:xfrm>
          <a:prstGeom prst="roundRect">
            <a:avLst>
              <a:gd name="adj" fmla="val 13158"/>
            </a:avLst>
          </a:prstGeom>
          <a:solidFill>
            <a:srgbClr val="0A0F1E"/>
          </a:solidFill>
          <a:ln w="12700">
            <a:solidFill>
              <a:srgbClr val="0A0F1E"/>
            </a:solidFill>
            <a:prstDash val="solid"/>
          </a:ln>
        </p:spPr>
      </p:sp>
      <p:sp>
        <p:nvSpPr>
          <p:cNvPr id="43" name="Text 41"/>
          <p:cNvSpPr/>
          <p:nvPr/>
        </p:nvSpPr>
        <p:spPr>
          <a:xfrm>
            <a:off x="6172200" y="4187952"/>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08</a:t>
            </a:r>
            <a:endParaRPr lang="en-US" sz="900" dirty="0"/>
          </a:p>
        </p:txBody>
      </p:sp>
      <p:sp>
        <p:nvSpPr>
          <p:cNvPr id="44" name="Text 42"/>
          <p:cNvSpPr/>
          <p:nvPr/>
        </p:nvSpPr>
        <p:spPr>
          <a:xfrm>
            <a:off x="6611112" y="4041648"/>
            <a:ext cx="2286000" cy="329184"/>
          </a:xfrm>
          <a:prstGeom prst="rect">
            <a:avLst/>
          </a:prstGeom>
          <a:noFill/>
          <a:ln/>
        </p:spPr>
        <p:txBody>
          <a:bodyPr wrap="square" lIns="0" tIns="0" rIns="0" bIns="0" rtlCol="0" anchor="ctr"/>
          <a:lstStyle/>
          <a:p>
            <a:pPr indent="0" marL="0">
              <a:buNone/>
            </a:pPr>
            <a:r>
              <a:rPr lang="en-US" sz="1050" b="1" dirty="0">
                <a:solidFill>
                  <a:srgbClr val="0A0F1E"/>
                </a:solidFill>
                <a:latin typeface="Calibri" pitchFamily="34" charset="0"/>
                <a:ea typeface="Calibri" pitchFamily="34" charset="-122"/>
                <a:cs typeface="Calibri" pitchFamily="34" charset="-120"/>
              </a:rPr>
              <a:t>Cluster Analysis</a:t>
            </a:r>
            <a:endParaRPr lang="en-US" sz="1050" dirty="0"/>
          </a:p>
        </p:txBody>
      </p:sp>
      <p:sp>
        <p:nvSpPr>
          <p:cNvPr id="45" name="Text 43"/>
          <p:cNvSpPr/>
          <p:nvPr/>
        </p:nvSpPr>
        <p:spPr>
          <a:xfrm>
            <a:off x="6611112" y="4407408"/>
            <a:ext cx="2286000" cy="32918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K-means consumer segmentation, profiling, interpretation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2D6B">
              <a:alpha val="20000"/>
            </a:srgbClr>
          </a:solidFill>
          <a:ln w="12700">
            <a:solidFill>
              <a:srgbClr val="1A2D6B"/>
            </a:solidFill>
            <a:prstDash val="solid"/>
          </a:ln>
        </p:spPr>
      </p:sp>
      <p:sp>
        <p:nvSpPr>
          <p:cNvPr id="3" name="Shape 1"/>
          <p:cNvSpPr/>
          <p:nvPr/>
        </p:nvSpPr>
        <p:spPr>
          <a:xfrm>
            <a:off x="-1097280" y="3200400"/>
            <a:ext cx="3657600" cy="3657600"/>
          </a:xfrm>
          <a:prstGeom prst="ellipse">
            <a:avLst/>
          </a:prstGeom>
          <a:solidFill>
            <a:srgbClr val="C8920A">
              <a:alpha val="12000"/>
            </a:srgbClr>
          </a:solidFill>
          <a:ln w="12700">
            <a:solidFill>
              <a:srgbClr val="C8920A"/>
            </a:solidFill>
            <a:prstDash val="solid"/>
          </a:ln>
        </p:spPr>
      </p:sp>
      <p:sp>
        <p:nvSpPr>
          <p:cNvPr id="4" name="Shape 2"/>
          <p:cNvSpPr/>
          <p:nvPr/>
        </p:nvSpPr>
        <p:spPr>
          <a:xfrm>
            <a:off x="4114800" y="1371600"/>
            <a:ext cx="1828800" cy="1828800"/>
          </a:xfrm>
          <a:prstGeom prst="ellipse">
            <a:avLst/>
          </a:prstGeom>
          <a:solidFill>
            <a:srgbClr val="0A6E4F">
              <a:alpha val="10000"/>
            </a:srgbClr>
          </a:solidFill>
          <a:ln w="12700">
            <a:solidFill>
              <a:srgbClr val="0A6E4F"/>
            </a:solidFill>
            <a:prstDash val="solid"/>
          </a:ln>
        </p:spPr>
      </p:sp>
      <p:sp>
        <p:nvSpPr>
          <p:cNvPr id="5" name="Text 3"/>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C8920A"/>
                </a:solidFill>
                <a:latin typeface="Calibri" pitchFamily="34" charset="0"/>
                <a:ea typeface="Calibri" pitchFamily="34" charset="-122"/>
                <a:cs typeface="Calibri" pitchFamily="34" charset="-120"/>
              </a:rPr>
              <a:t>MODULE 5  |  SECTION 01</a:t>
            </a:r>
            <a:endParaRPr lang="en-US" sz="1200" dirty="0"/>
          </a:p>
        </p:txBody>
      </p:sp>
      <p:sp>
        <p:nvSpPr>
          <p:cNvPr id="6" name="Text 4"/>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GLM Repeated Measures - Advanced Application</a:t>
            </a:r>
            <a:endParaRPr lang="en-US" sz="3800" dirty="0"/>
          </a:p>
        </p:txBody>
      </p:sp>
      <p:sp>
        <p:nvSpPr>
          <p:cNvPr id="7" name="Text 5"/>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B0C0E8"/>
                </a:solidFill>
                <a:latin typeface="Calibri" pitchFamily="34" charset="0"/>
                <a:ea typeface="Calibri" pitchFamily="34" charset="-122"/>
                <a:cs typeface="Calibri" pitchFamily="34" charset="-120"/>
              </a:rPr>
              <a:t>Adding between-subjects factors and covariates to the Repeated Measures model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0F1E"/>
          </a:solidFill>
          <a:ln w="12700">
            <a:solidFill>
              <a:srgbClr val="0A0F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GLM Repeated Measures - Beyond the Basics (Analyze &gt; General Linear Model &gt; Repeated Measures)</a:t>
            </a:r>
            <a:endParaRPr lang="en-US" sz="2100" dirty="0"/>
          </a:p>
        </p:txBody>
      </p:sp>
      <p:sp>
        <p:nvSpPr>
          <p:cNvPr id="4" name="Shape 2"/>
          <p:cNvSpPr/>
          <p:nvPr/>
        </p:nvSpPr>
        <p:spPr>
          <a:xfrm>
            <a:off x="256032" y="1005840"/>
            <a:ext cx="8631936" cy="621792"/>
          </a:xfrm>
          <a:prstGeom prst="roundRect">
            <a:avLst>
              <a:gd name="adj" fmla="val 11765"/>
            </a:avLst>
          </a:prstGeom>
          <a:solidFill>
            <a:srgbClr val="E8EEF8"/>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66928"/>
          </a:xfrm>
          <a:prstGeom prst="rect">
            <a:avLst/>
          </a:prstGeom>
          <a:noFill/>
          <a:ln/>
        </p:spPr>
        <p:txBody>
          <a:bodyPr wrap="square" lIns="0" tIns="0" rIns="0" bIns="0" rtlCol="0" anchor="ctr"/>
          <a:lstStyle/>
          <a:p>
            <a:pPr indent="0" marL="0">
              <a:buNone/>
            </a:pPr>
            <a:r>
              <a:rPr lang="en-US" sz="1050" dirty="0">
                <a:solidFill>
                  <a:srgbClr val="1A2038"/>
                </a:solidFill>
                <a:latin typeface="Calibri" pitchFamily="34" charset="0"/>
                <a:ea typeface="Calibri" pitchFamily="34" charset="-122"/>
                <a:cs typeface="Calibri" pitchFamily="34" charset="-120"/>
              </a:rPr>
              <a:t>Module 4 introduced basic Repeated Measures ANOVA for a single within-subjects factor. Module 5 extends this: adding a between-subjects factor (e.g., gender) creates a MIXED ANOVA that tests both within-subject change over time AND whether that change differs by group.</a:t>
            </a:r>
            <a:endParaRPr lang="en-US" sz="1050" dirty="0"/>
          </a:p>
        </p:txBody>
      </p:sp>
      <p:sp>
        <p:nvSpPr>
          <p:cNvPr id="6" name="Shape 4"/>
          <p:cNvSpPr/>
          <p:nvPr/>
        </p:nvSpPr>
        <p:spPr>
          <a:xfrm>
            <a:off x="256032" y="1719072"/>
            <a:ext cx="4160520" cy="3337560"/>
          </a:xfrm>
          <a:prstGeom prst="roundRect">
            <a:avLst>
              <a:gd name="adj" fmla="val 246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792224"/>
            <a:ext cx="4005072" cy="329184"/>
          </a:xfrm>
          <a:prstGeom prst="roundRect">
            <a:avLst>
              <a:gd name="adj" fmla="val 16667"/>
            </a:avLst>
          </a:prstGeom>
          <a:solidFill>
            <a:srgbClr val="1A2D6B"/>
          </a:solidFill>
          <a:ln w="12700">
            <a:solidFill>
              <a:srgbClr val="1A2D6B"/>
            </a:solidFill>
            <a:prstDash val="solid"/>
          </a:ln>
        </p:spPr>
      </p:sp>
      <p:sp>
        <p:nvSpPr>
          <p:cNvPr id="8" name="Text 6"/>
          <p:cNvSpPr/>
          <p:nvPr/>
        </p:nvSpPr>
        <p:spPr>
          <a:xfrm>
            <a:off x="329184" y="1792224"/>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Mixed ANOVA: Within + Between Subjects</a:t>
            </a:r>
            <a:endParaRPr lang="en-US" sz="1100" dirty="0"/>
          </a:p>
        </p:txBody>
      </p:sp>
      <p:sp>
        <p:nvSpPr>
          <p:cNvPr id="9" name="Text 7"/>
          <p:cNvSpPr/>
          <p:nvPr/>
        </p:nvSpPr>
        <p:spPr>
          <a:xfrm>
            <a:off x="365760" y="2194560"/>
            <a:ext cx="3950208" cy="658368"/>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UAC Scenario: </a:t>
            </a:r>
            <a:pPr indent="0" marL="0">
              <a:buNone/>
            </a:pPr>
            <a:r>
              <a:rPr lang="en-US" sz="950" dirty="0">
                <a:solidFill>
                  <a:srgbClr val="1A2038"/>
                </a:solidFill>
                <a:latin typeface="Calibri" pitchFamily="34" charset="0"/>
                <a:ea typeface="Calibri" pitchFamily="34" charset="-122"/>
                <a:cs typeface="Calibri" pitchFamily="34" charset="-120"/>
              </a:rPr>
              <a:t>200 consumers rated satisfaction quarterly (Q1-Q4). 100 received a loyalty reward programme (treatment), 100 did not (control). Did satisfaction change over time differently for treatment vs. control groups?</a:t>
            </a:r>
            <a:endParaRPr lang="en-US" sz="950" dirty="0"/>
          </a:p>
        </p:txBody>
      </p:sp>
      <p:sp>
        <p:nvSpPr>
          <p:cNvPr id="10" name="Text 8"/>
          <p:cNvSpPr/>
          <p:nvPr/>
        </p:nvSpPr>
        <p:spPr>
          <a:xfrm>
            <a:off x="365760" y="2926080"/>
            <a:ext cx="3950208" cy="219456"/>
          </a:xfrm>
          <a:prstGeom prst="rect">
            <a:avLst/>
          </a:prstGeom>
          <a:noFill/>
          <a:ln/>
        </p:spPr>
        <p:txBody>
          <a:bodyPr wrap="square" lIns="0" tIns="0" rIns="0" bIns="0" rtlCol="0" anchor="ctr"/>
          <a:lstStyle/>
          <a:p>
            <a:pPr indent="0" marL="0">
              <a:buNone/>
            </a:pPr>
            <a:r>
              <a:rPr lang="en-US" sz="1000" b="1" dirty="0">
                <a:solidFill>
                  <a:srgbClr val="1A2D6B"/>
                </a:solidFill>
                <a:latin typeface="Calibri" pitchFamily="34" charset="0"/>
                <a:ea typeface="Calibri" pitchFamily="34" charset="-122"/>
                <a:cs typeface="Calibri" pitchFamily="34" charset="-120"/>
              </a:rPr>
              <a:t>This is a 4(Time) x 2(Group) Mixed ANOVA:</a:t>
            </a:r>
            <a:endParaRPr lang="en-US" sz="1000" dirty="0"/>
          </a:p>
        </p:txBody>
      </p:sp>
      <p:sp>
        <p:nvSpPr>
          <p:cNvPr id="11" name="Text 9"/>
          <p:cNvSpPr/>
          <p:nvPr/>
        </p:nvSpPr>
        <p:spPr>
          <a:xfrm>
            <a:off x="365760" y="3182112"/>
            <a:ext cx="3950208" cy="310896"/>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 Within-subjects factor: Quarter (4 levels: Q1, Q2, Q3, Q4)</a:t>
            </a:r>
            <a:endParaRPr lang="en-US" sz="950" dirty="0"/>
          </a:p>
        </p:txBody>
      </p:sp>
      <p:sp>
        <p:nvSpPr>
          <p:cNvPr id="12" name="Text 10"/>
          <p:cNvSpPr/>
          <p:nvPr/>
        </p:nvSpPr>
        <p:spPr>
          <a:xfrm>
            <a:off x="365760" y="3529584"/>
            <a:ext cx="3950208" cy="310896"/>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 Between-subjects factor: Group (2 levels: Treatment, Control)</a:t>
            </a:r>
            <a:endParaRPr lang="en-US" sz="950" dirty="0"/>
          </a:p>
        </p:txBody>
      </p:sp>
      <p:sp>
        <p:nvSpPr>
          <p:cNvPr id="13" name="Text 11"/>
          <p:cNvSpPr/>
          <p:nvPr/>
        </p:nvSpPr>
        <p:spPr>
          <a:xfrm>
            <a:off x="365760" y="3877056"/>
            <a:ext cx="3950208" cy="310896"/>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 Key interaction: Time x Group - does the rate of change differ?</a:t>
            </a:r>
            <a:endParaRPr lang="en-US" sz="950" dirty="0"/>
          </a:p>
        </p:txBody>
      </p:sp>
      <p:sp>
        <p:nvSpPr>
          <p:cNvPr id="14" name="Text 12"/>
          <p:cNvSpPr/>
          <p:nvPr/>
        </p:nvSpPr>
        <p:spPr>
          <a:xfrm>
            <a:off x="365760" y="4224528"/>
            <a:ext cx="3950208" cy="310896"/>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 Steps: Add group to Between-Subjects Factor(s) box in GLM dialog</a:t>
            </a:r>
            <a:endParaRPr lang="en-US" sz="950" dirty="0"/>
          </a:p>
        </p:txBody>
      </p:sp>
      <p:sp>
        <p:nvSpPr>
          <p:cNvPr id="15" name="Shape 13"/>
          <p:cNvSpPr/>
          <p:nvPr/>
        </p:nvSpPr>
        <p:spPr>
          <a:xfrm>
            <a:off x="4681728" y="1719072"/>
            <a:ext cx="4160520" cy="3337560"/>
          </a:xfrm>
          <a:prstGeom prst="roundRect">
            <a:avLst>
              <a:gd name="adj" fmla="val 246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6" name="Shape 14"/>
          <p:cNvSpPr/>
          <p:nvPr/>
        </p:nvSpPr>
        <p:spPr>
          <a:xfrm>
            <a:off x="4754880" y="1792224"/>
            <a:ext cx="4005072" cy="329184"/>
          </a:xfrm>
          <a:prstGeom prst="roundRect">
            <a:avLst>
              <a:gd name="adj" fmla="val 16667"/>
            </a:avLst>
          </a:prstGeom>
          <a:solidFill>
            <a:srgbClr val="0A0F1E"/>
          </a:solidFill>
          <a:ln w="12700">
            <a:solidFill>
              <a:srgbClr val="0A0F1E"/>
            </a:solidFill>
            <a:prstDash val="solid"/>
          </a:ln>
        </p:spPr>
      </p:sp>
      <p:sp>
        <p:nvSpPr>
          <p:cNvPr id="17" name="Text 15"/>
          <p:cNvSpPr/>
          <p:nvPr/>
        </p:nvSpPr>
        <p:spPr>
          <a:xfrm>
            <a:off x="4754880" y="1792224"/>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Key Output Tables</a:t>
            </a:r>
            <a:endParaRPr lang="en-US" sz="1100" dirty="0"/>
          </a:p>
        </p:txBody>
      </p:sp>
      <p:sp>
        <p:nvSpPr>
          <p:cNvPr id="18" name="Text 16"/>
          <p:cNvSpPr/>
          <p:nvPr/>
        </p:nvSpPr>
        <p:spPr>
          <a:xfrm>
            <a:off x="4773168" y="2194560"/>
            <a:ext cx="3931920" cy="219456"/>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Within-Subjects Effects (after G-G correction):</a:t>
            </a:r>
            <a:endParaRPr lang="en-US" sz="950" dirty="0"/>
          </a:p>
        </p:txBody>
      </p:sp>
      <p:sp>
        <p:nvSpPr>
          <p:cNvPr id="19" name="Shape 17"/>
          <p:cNvSpPr/>
          <p:nvPr/>
        </p:nvSpPr>
        <p:spPr>
          <a:xfrm>
            <a:off x="4773168" y="2432304"/>
            <a:ext cx="1097280" cy="292608"/>
          </a:xfrm>
          <a:prstGeom prst="rect">
            <a:avLst/>
          </a:prstGeom>
          <a:solidFill>
            <a:srgbClr val="0A0F1E"/>
          </a:solidFill>
          <a:ln w="12700">
            <a:solidFill>
              <a:srgbClr val="0A0F1E"/>
            </a:solidFill>
            <a:prstDash val="solid"/>
          </a:ln>
        </p:spPr>
      </p:sp>
      <p:sp>
        <p:nvSpPr>
          <p:cNvPr id="20" name="Text 18"/>
          <p:cNvSpPr/>
          <p:nvPr/>
        </p:nvSpPr>
        <p:spPr>
          <a:xfrm>
            <a:off x="4773168" y="2432304"/>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Source</a:t>
            </a:r>
            <a:endParaRPr lang="en-US" sz="850" dirty="0"/>
          </a:p>
        </p:txBody>
      </p:sp>
      <p:sp>
        <p:nvSpPr>
          <p:cNvPr id="21" name="Shape 19"/>
          <p:cNvSpPr/>
          <p:nvPr/>
        </p:nvSpPr>
        <p:spPr>
          <a:xfrm>
            <a:off x="5870448" y="2432304"/>
            <a:ext cx="713232" cy="292608"/>
          </a:xfrm>
          <a:prstGeom prst="rect">
            <a:avLst/>
          </a:prstGeom>
          <a:solidFill>
            <a:srgbClr val="0A0F1E"/>
          </a:solidFill>
          <a:ln w="12700">
            <a:solidFill>
              <a:srgbClr val="0A0F1E"/>
            </a:solidFill>
            <a:prstDash val="solid"/>
          </a:ln>
        </p:spPr>
      </p:sp>
      <p:sp>
        <p:nvSpPr>
          <p:cNvPr id="22" name="Text 20"/>
          <p:cNvSpPr/>
          <p:nvPr/>
        </p:nvSpPr>
        <p:spPr>
          <a:xfrm>
            <a:off x="5870448" y="2432304"/>
            <a:ext cx="71323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t>
            </a:r>
            <a:endParaRPr lang="en-US" sz="850" dirty="0"/>
          </a:p>
        </p:txBody>
      </p:sp>
      <p:sp>
        <p:nvSpPr>
          <p:cNvPr id="23" name="Shape 21"/>
          <p:cNvSpPr/>
          <p:nvPr/>
        </p:nvSpPr>
        <p:spPr>
          <a:xfrm>
            <a:off x="6583680" y="2432304"/>
            <a:ext cx="566928" cy="292608"/>
          </a:xfrm>
          <a:prstGeom prst="rect">
            <a:avLst/>
          </a:prstGeom>
          <a:solidFill>
            <a:srgbClr val="0A0F1E"/>
          </a:solidFill>
          <a:ln w="12700">
            <a:solidFill>
              <a:srgbClr val="0A0F1E"/>
            </a:solidFill>
            <a:prstDash val="solid"/>
          </a:ln>
        </p:spPr>
      </p:sp>
      <p:sp>
        <p:nvSpPr>
          <p:cNvPr id="24" name="Text 22"/>
          <p:cNvSpPr/>
          <p:nvPr/>
        </p:nvSpPr>
        <p:spPr>
          <a:xfrm>
            <a:off x="6583680" y="2432304"/>
            <a:ext cx="5669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25" name="Shape 23"/>
          <p:cNvSpPr/>
          <p:nvPr/>
        </p:nvSpPr>
        <p:spPr>
          <a:xfrm>
            <a:off x="7150608" y="2432304"/>
            <a:ext cx="640080" cy="292608"/>
          </a:xfrm>
          <a:prstGeom prst="rect">
            <a:avLst/>
          </a:prstGeom>
          <a:solidFill>
            <a:srgbClr val="0A0F1E"/>
          </a:solidFill>
          <a:ln w="12700">
            <a:solidFill>
              <a:srgbClr val="0A0F1E"/>
            </a:solidFill>
            <a:prstDash val="solid"/>
          </a:ln>
        </p:spPr>
      </p:sp>
      <p:sp>
        <p:nvSpPr>
          <p:cNvPr id="26" name="Text 24"/>
          <p:cNvSpPr/>
          <p:nvPr/>
        </p:nvSpPr>
        <p:spPr>
          <a:xfrm>
            <a:off x="7150608" y="2432304"/>
            <a:ext cx="6400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27" name="Shape 25"/>
          <p:cNvSpPr/>
          <p:nvPr/>
        </p:nvSpPr>
        <p:spPr>
          <a:xfrm>
            <a:off x="7790688" y="2432304"/>
            <a:ext cx="566928" cy="292608"/>
          </a:xfrm>
          <a:prstGeom prst="rect">
            <a:avLst/>
          </a:prstGeom>
          <a:solidFill>
            <a:srgbClr val="0A0F1E"/>
          </a:solidFill>
          <a:ln w="12700">
            <a:solidFill>
              <a:srgbClr val="0A0F1E"/>
            </a:solidFill>
            <a:prstDash val="solid"/>
          </a:ln>
        </p:spPr>
      </p:sp>
      <p:sp>
        <p:nvSpPr>
          <p:cNvPr id="28" name="Text 26"/>
          <p:cNvSpPr/>
          <p:nvPr/>
        </p:nvSpPr>
        <p:spPr>
          <a:xfrm>
            <a:off x="7790688" y="2432304"/>
            <a:ext cx="5669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η²</a:t>
            </a:r>
            <a:endParaRPr lang="en-US" sz="850" dirty="0"/>
          </a:p>
        </p:txBody>
      </p:sp>
      <p:sp>
        <p:nvSpPr>
          <p:cNvPr id="29" name="Shape 27"/>
          <p:cNvSpPr/>
          <p:nvPr/>
        </p:nvSpPr>
        <p:spPr>
          <a:xfrm>
            <a:off x="4773168" y="2724912"/>
            <a:ext cx="1097280" cy="292608"/>
          </a:xfrm>
          <a:prstGeom prst="rect">
            <a:avLst/>
          </a:prstGeom>
          <a:solidFill>
            <a:srgbClr val="EAEEF8"/>
          </a:solidFill>
          <a:ln w="6350">
            <a:solidFill>
              <a:srgbClr val="C0C8E0"/>
            </a:solidFill>
            <a:prstDash val="solid"/>
          </a:ln>
        </p:spPr>
      </p:sp>
      <p:sp>
        <p:nvSpPr>
          <p:cNvPr id="30" name="Text 28"/>
          <p:cNvSpPr/>
          <p:nvPr/>
        </p:nvSpPr>
        <p:spPr>
          <a:xfrm>
            <a:off x="4773168" y="2724912"/>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Quarter</a:t>
            </a:r>
            <a:endParaRPr lang="en-US" sz="850" dirty="0"/>
          </a:p>
        </p:txBody>
      </p:sp>
      <p:sp>
        <p:nvSpPr>
          <p:cNvPr id="31" name="Shape 29"/>
          <p:cNvSpPr/>
          <p:nvPr/>
        </p:nvSpPr>
        <p:spPr>
          <a:xfrm>
            <a:off x="5870448" y="2724912"/>
            <a:ext cx="713232" cy="292608"/>
          </a:xfrm>
          <a:prstGeom prst="rect">
            <a:avLst/>
          </a:prstGeom>
          <a:solidFill>
            <a:srgbClr val="D8E8FF"/>
          </a:solidFill>
          <a:ln w="6350">
            <a:solidFill>
              <a:srgbClr val="C0C8E0"/>
            </a:solidFill>
            <a:prstDash val="solid"/>
          </a:ln>
        </p:spPr>
      </p:sp>
      <p:sp>
        <p:nvSpPr>
          <p:cNvPr id="32" name="Text 30"/>
          <p:cNvSpPr/>
          <p:nvPr/>
        </p:nvSpPr>
        <p:spPr>
          <a:xfrm>
            <a:off x="5870448" y="2724912"/>
            <a:ext cx="71323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34.8</a:t>
            </a:r>
            <a:endParaRPr lang="en-US" sz="850" dirty="0"/>
          </a:p>
        </p:txBody>
      </p:sp>
      <p:sp>
        <p:nvSpPr>
          <p:cNvPr id="33" name="Shape 31"/>
          <p:cNvSpPr/>
          <p:nvPr/>
        </p:nvSpPr>
        <p:spPr>
          <a:xfrm>
            <a:off x="6583680" y="2724912"/>
            <a:ext cx="566928" cy="292608"/>
          </a:xfrm>
          <a:prstGeom prst="rect">
            <a:avLst/>
          </a:prstGeom>
          <a:solidFill>
            <a:srgbClr val="EAEEF8"/>
          </a:solidFill>
          <a:ln w="6350">
            <a:solidFill>
              <a:srgbClr val="C0C8E0"/>
            </a:solidFill>
            <a:prstDash val="solid"/>
          </a:ln>
        </p:spPr>
      </p:sp>
      <p:sp>
        <p:nvSpPr>
          <p:cNvPr id="34" name="Text 32"/>
          <p:cNvSpPr/>
          <p:nvPr/>
        </p:nvSpPr>
        <p:spPr>
          <a:xfrm>
            <a:off x="6583680" y="2724912"/>
            <a:ext cx="5669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2.78</a:t>
            </a:r>
            <a:endParaRPr lang="en-US" sz="850" dirty="0"/>
          </a:p>
        </p:txBody>
      </p:sp>
      <p:sp>
        <p:nvSpPr>
          <p:cNvPr id="35" name="Shape 33"/>
          <p:cNvSpPr/>
          <p:nvPr/>
        </p:nvSpPr>
        <p:spPr>
          <a:xfrm>
            <a:off x="7150608" y="2724912"/>
            <a:ext cx="640080" cy="292608"/>
          </a:xfrm>
          <a:prstGeom prst="rect">
            <a:avLst/>
          </a:prstGeom>
          <a:solidFill>
            <a:srgbClr val="D8E8FF"/>
          </a:solidFill>
          <a:ln w="6350">
            <a:solidFill>
              <a:srgbClr val="C0C8E0"/>
            </a:solidFill>
            <a:prstDash val="solid"/>
          </a:ln>
        </p:spPr>
      </p:sp>
      <p:sp>
        <p:nvSpPr>
          <p:cNvPr id="36" name="Text 34"/>
          <p:cNvSpPr/>
          <p:nvPr/>
        </p:nvSpPr>
        <p:spPr>
          <a:xfrm>
            <a:off x="7150608" y="2724912"/>
            <a:ext cx="6400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37" name="Shape 35"/>
          <p:cNvSpPr/>
          <p:nvPr/>
        </p:nvSpPr>
        <p:spPr>
          <a:xfrm>
            <a:off x="7790688" y="2724912"/>
            <a:ext cx="566928" cy="292608"/>
          </a:xfrm>
          <a:prstGeom prst="rect">
            <a:avLst/>
          </a:prstGeom>
          <a:solidFill>
            <a:srgbClr val="D8E8FF"/>
          </a:solidFill>
          <a:ln w="6350">
            <a:solidFill>
              <a:srgbClr val="C0C8E0"/>
            </a:solidFill>
            <a:prstDash val="solid"/>
          </a:ln>
        </p:spPr>
      </p:sp>
      <p:sp>
        <p:nvSpPr>
          <p:cNvPr id="38" name="Text 36"/>
          <p:cNvSpPr/>
          <p:nvPr/>
        </p:nvSpPr>
        <p:spPr>
          <a:xfrm>
            <a:off x="7790688" y="2724912"/>
            <a:ext cx="56692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.149</a:t>
            </a:r>
            <a:endParaRPr lang="en-US" sz="850" dirty="0"/>
          </a:p>
        </p:txBody>
      </p:sp>
      <p:sp>
        <p:nvSpPr>
          <p:cNvPr id="39" name="Shape 37"/>
          <p:cNvSpPr/>
          <p:nvPr/>
        </p:nvSpPr>
        <p:spPr>
          <a:xfrm>
            <a:off x="4773168" y="3017520"/>
            <a:ext cx="1097280" cy="292608"/>
          </a:xfrm>
          <a:prstGeom prst="rect">
            <a:avLst/>
          </a:prstGeom>
          <a:solidFill>
            <a:srgbClr val="FFFFFF"/>
          </a:solidFill>
          <a:ln w="6350">
            <a:solidFill>
              <a:srgbClr val="C0C8E0"/>
            </a:solidFill>
            <a:prstDash val="solid"/>
          </a:ln>
        </p:spPr>
      </p:sp>
      <p:sp>
        <p:nvSpPr>
          <p:cNvPr id="40" name="Text 38"/>
          <p:cNvSpPr/>
          <p:nvPr/>
        </p:nvSpPr>
        <p:spPr>
          <a:xfrm>
            <a:off x="4773168" y="3017520"/>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Quarter x Group</a:t>
            </a:r>
            <a:endParaRPr lang="en-US" sz="850" dirty="0"/>
          </a:p>
        </p:txBody>
      </p:sp>
      <p:sp>
        <p:nvSpPr>
          <p:cNvPr id="41" name="Shape 39"/>
          <p:cNvSpPr/>
          <p:nvPr/>
        </p:nvSpPr>
        <p:spPr>
          <a:xfrm>
            <a:off x="5870448" y="3017520"/>
            <a:ext cx="713232" cy="292608"/>
          </a:xfrm>
          <a:prstGeom prst="rect">
            <a:avLst/>
          </a:prstGeom>
          <a:solidFill>
            <a:srgbClr val="D8E8FF"/>
          </a:solidFill>
          <a:ln w="6350">
            <a:solidFill>
              <a:srgbClr val="C0C8E0"/>
            </a:solidFill>
            <a:prstDash val="solid"/>
          </a:ln>
        </p:spPr>
      </p:sp>
      <p:sp>
        <p:nvSpPr>
          <p:cNvPr id="42" name="Text 40"/>
          <p:cNvSpPr/>
          <p:nvPr/>
        </p:nvSpPr>
        <p:spPr>
          <a:xfrm>
            <a:off x="5870448" y="3017520"/>
            <a:ext cx="71323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18.2</a:t>
            </a:r>
            <a:endParaRPr lang="en-US" sz="850" dirty="0"/>
          </a:p>
        </p:txBody>
      </p:sp>
      <p:sp>
        <p:nvSpPr>
          <p:cNvPr id="43" name="Shape 41"/>
          <p:cNvSpPr/>
          <p:nvPr/>
        </p:nvSpPr>
        <p:spPr>
          <a:xfrm>
            <a:off x="6583680" y="3017520"/>
            <a:ext cx="566928" cy="292608"/>
          </a:xfrm>
          <a:prstGeom prst="rect">
            <a:avLst/>
          </a:prstGeom>
          <a:solidFill>
            <a:srgbClr val="FFFFFF"/>
          </a:solidFill>
          <a:ln w="6350">
            <a:solidFill>
              <a:srgbClr val="C0C8E0"/>
            </a:solidFill>
            <a:prstDash val="solid"/>
          </a:ln>
        </p:spPr>
      </p:sp>
      <p:sp>
        <p:nvSpPr>
          <p:cNvPr id="44" name="Text 42"/>
          <p:cNvSpPr/>
          <p:nvPr/>
        </p:nvSpPr>
        <p:spPr>
          <a:xfrm>
            <a:off x="6583680" y="3017520"/>
            <a:ext cx="5669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2.78</a:t>
            </a:r>
            <a:endParaRPr lang="en-US" sz="850" dirty="0"/>
          </a:p>
        </p:txBody>
      </p:sp>
      <p:sp>
        <p:nvSpPr>
          <p:cNvPr id="45" name="Shape 43"/>
          <p:cNvSpPr/>
          <p:nvPr/>
        </p:nvSpPr>
        <p:spPr>
          <a:xfrm>
            <a:off x="7150608" y="3017520"/>
            <a:ext cx="640080" cy="292608"/>
          </a:xfrm>
          <a:prstGeom prst="rect">
            <a:avLst/>
          </a:prstGeom>
          <a:solidFill>
            <a:srgbClr val="D8E8FF"/>
          </a:solidFill>
          <a:ln w="6350">
            <a:solidFill>
              <a:srgbClr val="C0C8E0"/>
            </a:solidFill>
            <a:prstDash val="solid"/>
          </a:ln>
        </p:spPr>
      </p:sp>
      <p:sp>
        <p:nvSpPr>
          <p:cNvPr id="46" name="Text 44"/>
          <p:cNvSpPr/>
          <p:nvPr/>
        </p:nvSpPr>
        <p:spPr>
          <a:xfrm>
            <a:off x="7150608" y="3017520"/>
            <a:ext cx="6400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47" name="Shape 45"/>
          <p:cNvSpPr/>
          <p:nvPr/>
        </p:nvSpPr>
        <p:spPr>
          <a:xfrm>
            <a:off x="7790688" y="3017520"/>
            <a:ext cx="566928" cy="292608"/>
          </a:xfrm>
          <a:prstGeom prst="rect">
            <a:avLst/>
          </a:prstGeom>
          <a:solidFill>
            <a:srgbClr val="D8E8FF"/>
          </a:solidFill>
          <a:ln w="6350">
            <a:solidFill>
              <a:srgbClr val="C0C8E0"/>
            </a:solidFill>
            <a:prstDash val="solid"/>
          </a:ln>
        </p:spPr>
      </p:sp>
      <p:sp>
        <p:nvSpPr>
          <p:cNvPr id="48" name="Text 46"/>
          <p:cNvSpPr/>
          <p:nvPr/>
        </p:nvSpPr>
        <p:spPr>
          <a:xfrm>
            <a:off x="7790688" y="3017520"/>
            <a:ext cx="56692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.084</a:t>
            </a:r>
            <a:endParaRPr lang="en-US" sz="850" dirty="0"/>
          </a:p>
        </p:txBody>
      </p:sp>
      <p:sp>
        <p:nvSpPr>
          <p:cNvPr id="49" name="Text 47"/>
          <p:cNvSpPr/>
          <p:nvPr/>
        </p:nvSpPr>
        <p:spPr>
          <a:xfrm>
            <a:off x="4773168" y="3218688"/>
            <a:ext cx="3931920" cy="219456"/>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Between-Subjects Effects:</a:t>
            </a:r>
            <a:endParaRPr lang="en-US" sz="950" dirty="0"/>
          </a:p>
        </p:txBody>
      </p:sp>
      <p:sp>
        <p:nvSpPr>
          <p:cNvPr id="50" name="Shape 48"/>
          <p:cNvSpPr/>
          <p:nvPr/>
        </p:nvSpPr>
        <p:spPr>
          <a:xfrm>
            <a:off x="4773168" y="3456432"/>
            <a:ext cx="1097280" cy="292608"/>
          </a:xfrm>
          <a:prstGeom prst="rect">
            <a:avLst/>
          </a:prstGeom>
          <a:solidFill>
            <a:srgbClr val="0A0F1E"/>
          </a:solidFill>
          <a:ln w="12700">
            <a:solidFill>
              <a:srgbClr val="0A0F1E"/>
            </a:solidFill>
            <a:prstDash val="solid"/>
          </a:ln>
        </p:spPr>
      </p:sp>
      <p:sp>
        <p:nvSpPr>
          <p:cNvPr id="51" name="Text 49"/>
          <p:cNvSpPr/>
          <p:nvPr/>
        </p:nvSpPr>
        <p:spPr>
          <a:xfrm>
            <a:off x="4773168" y="3456432"/>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Source</a:t>
            </a:r>
            <a:endParaRPr lang="en-US" sz="850" dirty="0"/>
          </a:p>
        </p:txBody>
      </p:sp>
      <p:sp>
        <p:nvSpPr>
          <p:cNvPr id="52" name="Shape 50"/>
          <p:cNvSpPr/>
          <p:nvPr/>
        </p:nvSpPr>
        <p:spPr>
          <a:xfrm>
            <a:off x="5870448" y="3456432"/>
            <a:ext cx="713232" cy="292608"/>
          </a:xfrm>
          <a:prstGeom prst="rect">
            <a:avLst/>
          </a:prstGeom>
          <a:solidFill>
            <a:srgbClr val="0A0F1E"/>
          </a:solidFill>
          <a:ln w="12700">
            <a:solidFill>
              <a:srgbClr val="0A0F1E"/>
            </a:solidFill>
            <a:prstDash val="solid"/>
          </a:ln>
        </p:spPr>
      </p:sp>
      <p:sp>
        <p:nvSpPr>
          <p:cNvPr id="53" name="Text 51"/>
          <p:cNvSpPr/>
          <p:nvPr/>
        </p:nvSpPr>
        <p:spPr>
          <a:xfrm>
            <a:off x="5870448" y="3456432"/>
            <a:ext cx="71323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t>
            </a:r>
            <a:endParaRPr lang="en-US" sz="850" dirty="0"/>
          </a:p>
        </p:txBody>
      </p:sp>
      <p:sp>
        <p:nvSpPr>
          <p:cNvPr id="54" name="Shape 52"/>
          <p:cNvSpPr/>
          <p:nvPr/>
        </p:nvSpPr>
        <p:spPr>
          <a:xfrm>
            <a:off x="6583680" y="3456432"/>
            <a:ext cx="566928" cy="292608"/>
          </a:xfrm>
          <a:prstGeom prst="rect">
            <a:avLst/>
          </a:prstGeom>
          <a:solidFill>
            <a:srgbClr val="0A0F1E"/>
          </a:solidFill>
          <a:ln w="12700">
            <a:solidFill>
              <a:srgbClr val="0A0F1E"/>
            </a:solidFill>
            <a:prstDash val="solid"/>
          </a:ln>
        </p:spPr>
      </p:sp>
      <p:sp>
        <p:nvSpPr>
          <p:cNvPr id="55" name="Text 53"/>
          <p:cNvSpPr/>
          <p:nvPr/>
        </p:nvSpPr>
        <p:spPr>
          <a:xfrm>
            <a:off x="6583680" y="3456432"/>
            <a:ext cx="5669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56" name="Shape 54"/>
          <p:cNvSpPr/>
          <p:nvPr/>
        </p:nvSpPr>
        <p:spPr>
          <a:xfrm>
            <a:off x="7150608" y="3456432"/>
            <a:ext cx="640080" cy="292608"/>
          </a:xfrm>
          <a:prstGeom prst="rect">
            <a:avLst/>
          </a:prstGeom>
          <a:solidFill>
            <a:srgbClr val="0A0F1E"/>
          </a:solidFill>
          <a:ln w="12700">
            <a:solidFill>
              <a:srgbClr val="0A0F1E"/>
            </a:solidFill>
            <a:prstDash val="solid"/>
          </a:ln>
        </p:spPr>
      </p:sp>
      <p:sp>
        <p:nvSpPr>
          <p:cNvPr id="57" name="Text 55"/>
          <p:cNvSpPr/>
          <p:nvPr/>
        </p:nvSpPr>
        <p:spPr>
          <a:xfrm>
            <a:off x="7150608" y="3456432"/>
            <a:ext cx="6400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58" name="Shape 56"/>
          <p:cNvSpPr/>
          <p:nvPr/>
        </p:nvSpPr>
        <p:spPr>
          <a:xfrm>
            <a:off x="7790688" y="3456432"/>
            <a:ext cx="566928" cy="292608"/>
          </a:xfrm>
          <a:prstGeom prst="rect">
            <a:avLst/>
          </a:prstGeom>
          <a:solidFill>
            <a:srgbClr val="0A0F1E"/>
          </a:solidFill>
          <a:ln w="12700">
            <a:solidFill>
              <a:srgbClr val="0A0F1E"/>
            </a:solidFill>
            <a:prstDash val="solid"/>
          </a:ln>
        </p:spPr>
      </p:sp>
      <p:sp>
        <p:nvSpPr>
          <p:cNvPr id="59" name="Text 57"/>
          <p:cNvSpPr/>
          <p:nvPr/>
        </p:nvSpPr>
        <p:spPr>
          <a:xfrm>
            <a:off x="7790688" y="3456432"/>
            <a:ext cx="5669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η²</a:t>
            </a:r>
            <a:endParaRPr lang="en-US" sz="850" dirty="0"/>
          </a:p>
        </p:txBody>
      </p:sp>
      <p:sp>
        <p:nvSpPr>
          <p:cNvPr id="60" name="Shape 58"/>
          <p:cNvSpPr/>
          <p:nvPr/>
        </p:nvSpPr>
        <p:spPr>
          <a:xfrm>
            <a:off x="4773168" y="3749040"/>
            <a:ext cx="1097280" cy="292608"/>
          </a:xfrm>
          <a:prstGeom prst="rect">
            <a:avLst/>
          </a:prstGeom>
          <a:solidFill>
            <a:srgbClr val="EAEEF8"/>
          </a:solidFill>
          <a:ln w="6350">
            <a:solidFill>
              <a:srgbClr val="C0C8E0"/>
            </a:solidFill>
            <a:prstDash val="solid"/>
          </a:ln>
        </p:spPr>
      </p:sp>
      <p:sp>
        <p:nvSpPr>
          <p:cNvPr id="61" name="Text 59"/>
          <p:cNvSpPr/>
          <p:nvPr/>
        </p:nvSpPr>
        <p:spPr>
          <a:xfrm>
            <a:off x="4773168" y="3749040"/>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Group</a:t>
            </a:r>
            <a:endParaRPr lang="en-US" sz="850" dirty="0"/>
          </a:p>
        </p:txBody>
      </p:sp>
      <p:sp>
        <p:nvSpPr>
          <p:cNvPr id="62" name="Shape 60"/>
          <p:cNvSpPr/>
          <p:nvPr/>
        </p:nvSpPr>
        <p:spPr>
          <a:xfrm>
            <a:off x="5870448" y="3749040"/>
            <a:ext cx="713232" cy="292608"/>
          </a:xfrm>
          <a:prstGeom prst="rect">
            <a:avLst/>
          </a:prstGeom>
          <a:solidFill>
            <a:srgbClr val="D8E8FF"/>
          </a:solidFill>
          <a:ln w="6350">
            <a:solidFill>
              <a:srgbClr val="C0C8E0"/>
            </a:solidFill>
            <a:prstDash val="solid"/>
          </a:ln>
        </p:spPr>
      </p:sp>
      <p:sp>
        <p:nvSpPr>
          <p:cNvPr id="63" name="Text 61"/>
          <p:cNvSpPr/>
          <p:nvPr/>
        </p:nvSpPr>
        <p:spPr>
          <a:xfrm>
            <a:off x="5870448" y="3749040"/>
            <a:ext cx="71323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9.62</a:t>
            </a:r>
            <a:endParaRPr lang="en-US" sz="850" dirty="0"/>
          </a:p>
        </p:txBody>
      </p:sp>
      <p:sp>
        <p:nvSpPr>
          <p:cNvPr id="64" name="Shape 62"/>
          <p:cNvSpPr/>
          <p:nvPr/>
        </p:nvSpPr>
        <p:spPr>
          <a:xfrm>
            <a:off x="6583680" y="3749040"/>
            <a:ext cx="566928" cy="292608"/>
          </a:xfrm>
          <a:prstGeom prst="rect">
            <a:avLst/>
          </a:prstGeom>
          <a:solidFill>
            <a:srgbClr val="EAEEF8"/>
          </a:solidFill>
          <a:ln w="6350">
            <a:solidFill>
              <a:srgbClr val="C0C8E0"/>
            </a:solidFill>
            <a:prstDash val="solid"/>
          </a:ln>
        </p:spPr>
      </p:sp>
      <p:sp>
        <p:nvSpPr>
          <p:cNvPr id="65" name="Text 63"/>
          <p:cNvSpPr/>
          <p:nvPr/>
        </p:nvSpPr>
        <p:spPr>
          <a:xfrm>
            <a:off x="6583680" y="3749040"/>
            <a:ext cx="5669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a:t>
            </a:r>
            <a:endParaRPr lang="en-US" sz="850" dirty="0"/>
          </a:p>
        </p:txBody>
      </p:sp>
      <p:sp>
        <p:nvSpPr>
          <p:cNvPr id="66" name="Shape 64"/>
          <p:cNvSpPr/>
          <p:nvPr/>
        </p:nvSpPr>
        <p:spPr>
          <a:xfrm>
            <a:off x="7150608" y="3749040"/>
            <a:ext cx="640080" cy="292608"/>
          </a:xfrm>
          <a:prstGeom prst="rect">
            <a:avLst/>
          </a:prstGeom>
          <a:solidFill>
            <a:srgbClr val="D8E8FF"/>
          </a:solidFill>
          <a:ln w="6350">
            <a:solidFill>
              <a:srgbClr val="C0C8E0"/>
            </a:solidFill>
            <a:prstDash val="solid"/>
          </a:ln>
        </p:spPr>
      </p:sp>
      <p:sp>
        <p:nvSpPr>
          <p:cNvPr id="67" name="Text 65"/>
          <p:cNvSpPr/>
          <p:nvPr/>
        </p:nvSpPr>
        <p:spPr>
          <a:xfrm>
            <a:off x="7150608" y="3749040"/>
            <a:ext cx="6400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.002</a:t>
            </a:r>
            <a:endParaRPr lang="en-US" sz="850" dirty="0"/>
          </a:p>
        </p:txBody>
      </p:sp>
      <p:sp>
        <p:nvSpPr>
          <p:cNvPr id="68" name="Shape 66"/>
          <p:cNvSpPr/>
          <p:nvPr/>
        </p:nvSpPr>
        <p:spPr>
          <a:xfrm>
            <a:off x="7790688" y="3749040"/>
            <a:ext cx="566928" cy="292608"/>
          </a:xfrm>
          <a:prstGeom prst="rect">
            <a:avLst/>
          </a:prstGeom>
          <a:solidFill>
            <a:srgbClr val="D8E8FF"/>
          </a:solidFill>
          <a:ln w="6350">
            <a:solidFill>
              <a:srgbClr val="C0C8E0"/>
            </a:solidFill>
            <a:prstDash val="solid"/>
          </a:ln>
        </p:spPr>
      </p:sp>
      <p:sp>
        <p:nvSpPr>
          <p:cNvPr id="69" name="Text 67"/>
          <p:cNvSpPr/>
          <p:nvPr/>
        </p:nvSpPr>
        <p:spPr>
          <a:xfrm>
            <a:off x="7790688" y="3749040"/>
            <a:ext cx="56692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.046</a:t>
            </a:r>
            <a:endParaRPr lang="en-US" sz="850" dirty="0"/>
          </a:p>
        </p:txBody>
      </p:sp>
      <p:sp>
        <p:nvSpPr>
          <p:cNvPr id="70" name="Text 68"/>
          <p:cNvSpPr/>
          <p:nvPr/>
        </p:nvSpPr>
        <p:spPr>
          <a:xfrm>
            <a:off x="4773168" y="4023360"/>
            <a:ext cx="3931920" cy="219456"/>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Estimated Marginal Means:</a:t>
            </a:r>
            <a:endParaRPr lang="en-US" sz="950" dirty="0"/>
          </a:p>
        </p:txBody>
      </p:sp>
      <p:sp>
        <p:nvSpPr>
          <p:cNvPr id="71" name="Shape 69"/>
          <p:cNvSpPr/>
          <p:nvPr/>
        </p:nvSpPr>
        <p:spPr>
          <a:xfrm>
            <a:off x="4773168" y="4261104"/>
            <a:ext cx="1005840" cy="292608"/>
          </a:xfrm>
          <a:prstGeom prst="rect">
            <a:avLst/>
          </a:prstGeom>
          <a:solidFill>
            <a:srgbClr val="0A0F1E"/>
          </a:solidFill>
          <a:ln w="12700">
            <a:solidFill>
              <a:srgbClr val="0A0F1E"/>
            </a:solidFill>
            <a:prstDash val="solid"/>
          </a:ln>
        </p:spPr>
      </p:sp>
      <p:sp>
        <p:nvSpPr>
          <p:cNvPr id="72" name="Text 70"/>
          <p:cNvSpPr/>
          <p:nvPr/>
        </p:nvSpPr>
        <p:spPr>
          <a:xfrm>
            <a:off x="4773168" y="4261104"/>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Quarter</a:t>
            </a:r>
            <a:endParaRPr lang="en-US" sz="850" dirty="0"/>
          </a:p>
        </p:txBody>
      </p:sp>
      <p:sp>
        <p:nvSpPr>
          <p:cNvPr id="73" name="Shape 71"/>
          <p:cNvSpPr/>
          <p:nvPr/>
        </p:nvSpPr>
        <p:spPr>
          <a:xfrm>
            <a:off x="5779008" y="4261104"/>
            <a:ext cx="1463040" cy="292608"/>
          </a:xfrm>
          <a:prstGeom prst="rect">
            <a:avLst/>
          </a:prstGeom>
          <a:solidFill>
            <a:srgbClr val="0A0F1E"/>
          </a:solidFill>
          <a:ln w="12700">
            <a:solidFill>
              <a:srgbClr val="0A0F1E"/>
            </a:solidFill>
            <a:prstDash val="solid"/>
          </a:ln>
        </p:spPr>
      </p:sp>
      <p:sp>
        <p:nvSpPr>
          <p:cNvPr id="74" name="Text 72"/>
          <p:cNvSpPr/>
          <p:nvPr/>
        </p:nvSpPr>
        <p:spPr>
          <a:xfrm>
            <a:off x="5779008" y="4261104"/>
            <a:ext cx="14630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Treatment M</a:t>
            </a:r>
            <a:endParaRPr lang="en-US" sz="850" dirty="0"/>
          </a:p>
        </p:txBody>
      </p:sp>
      <p:sp>
        <p:nvSpPr>
          <p:cNvPr id="75" name="Shape 73"/>
          <p:cNvSpPr/>
          <p:nvPr/>
        </p:nvSpPr>
        <p:spPr>
          <a:xfrm>
            <a:off x="7242048" y="4261104"/>
            <a:ext cx="1481328" cy="292608"/>
          </a:xfrm>
          <a:prstGeom prst="rect">
            <a:avLst/>
          </a:prstGeom>
          <a:solidFill>
            <a:srgbClr val="0A0F1E"/>
          </a:solidFill>
          <a:ln w="12700">
            <a:solidFill>
              <a:srgbClr val="0A0F1E"/>
            </a:solidFill>
            <a:prstDash val="solid"/>
          </a:ln>
        </p:spPr>
      </p:sp>
      <p:sp>
        <p:nvSpPr>
          <p:cNvPr id="76" name="Text 74"/>
          <p:cNvSpPr/>
          <p:nvPr/>
        </p:nvSpPr>
        <p:spPr>
          <a:xfrm>
            <a:off x="7242048" y="4261104"/>
            <a:ext cx="14813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Control M</a:t>
            </a:r>
            <a:endParaRPr lang="en-US" sz="850" dirty="0"/>
          </a:p>
        </p:txBody>
      </p:sp>
      <p:sp>
        <p:nvSpPr>
          <p:cNvPr id="77" name="Shape 75"/>
          <p:cNvSpPr/>
          <p:nvPr/>
        </p:nvSpPr>
        <p:spPr>
          <a:xfrm>
            <a:off x="4773168" y="4553712"/>
            <a:ext cx="1005840" cy="292608"/>
          </a:xfrm>
          <a:prstGeom prst="rect">
            <a:avLst/>
          </a:prstGeom>
          <a:solidFill>
            <a:srgbClr val="EAEEF8"/>
          </a:solidFill>
          <a:ln w="6350">
            <a:solidFill>
              <a:srgbClr val="C0C8E0"/>
            </a:solidFill>
            <a:prstDash val="solid"/>
          </a:ln>
        </p:spPr>
      </p:sp>
      <p:sp>
        <p:nvSpPr>
          <p:cNvPr id="78" name="Text 76"/>
          <p:cNvSpPr/>
          <p:nvPr/>
        </p:nvSpPr>
        <p:spPr>
          <a:xfrm>
            <a:off x="4773168" y="4553712"/>
            <a:ext cx="100584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Q1</a:t>
            </a:r>
            <a:endParaRPr lang="en-US" sz="850" dirty="0"/>
          </a:p>
        </p:txBody>
      </p:sp>
      <p:sp>
        <p:nvSpPr>
          <p:cNvPr id="79" name="Shape 77"/>
          <p:cNvSpPr/>
          <p:nvPr/>
        </p:nvSpPr>
        <p:spPr>
          <a:xfrm>
            <a:off x="5779008" y="4553712"/>
            <a:ext cx="1463040" cy="292608"/>
          </a:xfrm>
          <a:prstGeom prst="rect">
            <a:avLst/>
          </a:prstGeom>
          <a:solidFill>
            <a:srgbClr val="EAEEF8"/>
          </a:solidFill>
          <a:ln w="6350">
            <a:solidFill>
              <a:srgbClr val="C0C8E0"/>
            </a:solidFill>
            <a:prstDash val="solid"/>
          </a:ln>
        </p:spPr>
      </p:sp>
      <p:sp>
        <p:nvSpPr>
          <p:cNvPr id="80" name="Text 78"/>
          <p:cNvSpPr/>
          <p:nvPr/>
        </p:nvSpPr>
        <p:spPr>
          <a:xfrm>
            <a:off x="5779008" y="4553712"/>
            <a:ext cx="14630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3.40</a:t>
            </a:r>
            <a:endParaRPr lang="en-US" sz="850" dirty="0"/>
          </a:p>
        </p:txBody>
      </p:sp>
      <p:sp>
        <p:nvSpPr>
          <p:cNvPr id="81" name="Shape 79"/>
          <p:cNvSpPr/>
          <p:nvPr/>
        </p:nvSpPr>
        <p:spPr>
          <a:xfrm>
            <a:off x="7242048" y="4553712"/>
            <a:ext cx="1481328" cy="292608"/>
          </a:xfrm>
          <a:prstGeom prst="rect">
            <a:avLst/>
          </a:prstGeom>
          <a:solidFill>
            <a:srgbClr val="EAEEF8"/>
          </a:solidFill>
          <a:ln w="6350">
            <a:solidFill>
              <a:srgbClr val="C0C8E0"/>
            </a:solidFill>
            <a:prstDash val="solid"/>
          </a:ln>
        </p:spPr>
      </p:sp>
      <p:sp>
        <p:nvSpPr>
          <p:cNvPr id="82" name="Text 80"/>
          <p:cNvSpPr/>
          <p:nvPr/>
        </p:nvSpPr>
        <p:spPr>
          <a:xfrm>
            <a:off x="7242048" y="4553712"/>
            <a:ext cx="14813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3.38</a:t>
            </a:r>
            <a:endParaRPr lang="en-US" sz="850" dirty="0"/>
          </a:p>
        </p:txBody>
      </p:sp>
      <p:sp>
        <p:nvSpPr>
          <p:cNvPr id="83" name="Shape 81"/>
          <p:cNvSpPr/>
          <p:nvPr/>
        </p:nvSpPr>
        <p:spPr>
          <a:xfrm>
            <a:off x="4773168" y="4846320"/>
            <a:ext cx="1005840" cy="292608"/>
          </a:xfrm>
          <a:prstGeom prst="rect">
            <a:avLst/>
          </a:prstGeom>
          <a:solidFill>
            <a:srgbClr val="FFFFFF"/>
          </a:solidFill>
          <a:ln w="6350">
            <a:solidFill>
              <a:srgbClr val="C0C8E0"/>
            </a:solidFill>
            <a:prstDash val="solid"/>
          </a:ln>
        </p:spPr>
      </p:sp>
      <p:sp>
        <p:nvSpPr>
          <p:cNvPr id="84" name="Text 82"/>
          <p:cNvSpPr/>
          <p:nvPr/>
        </p:nvSpPr>
        <p:spPr>
          <a:xfrm>
            <a:off x="4773168" y="4846320"/>
            <a:ext cx="100584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Q2</a:t>
            </a:r>
            <a:endParaRPr lang="en-US" sz="850" dirty="0"/>
          </a:p>
        </p:txBody>
      </p:sp>
      <p:sp>
        <p:nvSpPr>
          <p:cNvPr id="85" name="Shape 83"/>
          <p:cNvSpPr/>
          <p:nvPr/>
        </p:nvSpPr>
        <p:spPr>
          <a:xfrm>
            <a:off x="5779008" y="4846320"/>
            <a:ext cx="1463040" cy="292608"/>
          </a:xfrm>
          <a:prstGeom prst="rect">
            <a:avLst/>
          </a:prstGeom>
          <a:solidFill>
            <a:srgbClr val="FFFFFF"/>
          </a:solidFill>
          <a:ln w="6350">
            <a:solidFill>
              <a:srgbClr val="C0C8E0"/>
            </a:solidFill>
            <a:prstDash val="solid"/>
          </a:ln>
        </p:spPr>
      </p:sp>
      <p:sp>
        <p:nvSpPr>
          <p:cNvPr id="86" name="Text 84"/>
          <p:cNvSpPr/>
          <p:nvPr/>
        </p:nvSpPr>
        <p:spPr>
          <a:xfrm>
            <a:off x="5779008" y="4846320"/>
            <a:ext cx="14630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3.68</a:t>
            </a:r>
            <a:endParaRPr lang="en-US" sz="850" dirty="0"/>
          </a:p>
        </p:txBody>
      </p:sp>
      <p:sp>
        <p:nvSpPr>
          <p:cNvPr id="87" name="Shape 85"/>
          <p:cNvSpPr/>
          <p:nvPr/>
        </p:nvSpPr>
        <p:spPr>
          <a:xfrm>
            <a:off x="7242048" y="4846320"/>
            <a:ext cx="1481328" cy="292608"/>
          </a:xfrm>
          <a:prstGeom prst="rect">
            <a:avLst/>
          </a:prstGeom>
          <a:solidFill>
            <a:srgbClr val="FFFFFF"/>
          </a:solidFill>
          <a:ln w="6350">
            <a:solidFill>
              <a:srgbClr val="C0C8E0"/>
            </a:solidFill>
            <a:prstDash val="solid"/>
          </a:ln>
        </p:spPr>
      </p:sp>
      <p:sp>
        <p:nvSpPr>
          <p:cNvPr id="88" name="Text 86"/>
          <p:cNvSpPr/>
          <p:nvPr/>
        </p:nvSpPr>
        <p:spPr>
          <a:xfrm>
            <a:off x="7242048" y="4846320"/>
            <a:ext cx="14813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3.44</a:t>
            </a:r>
            <a:endParaRPr lang="en-US" sz="850" dirty="0"/>
          </a:p>
        </p:txBody>
      </p:sp>
      <p:sp>
        <p:nvSpPr>
          <p:cNvPr id="89" name="Shape 87"/>
          <p:cNvSpPr/>
          <p:nvPr/>
        </p:nvSpPr>
        <p:spPr>
          <a:xfrm>
            <a:off x="4773168" y="5138928"/>
            <a:ext cx="1005840" cy="292608"/>
          </a:xfrm>
          <a:prstGeom prst="rect">
            <a:avLst/>
          </a:prstGeom>
          <a:solidFill>
            <a:srgbClr val="EAEEF8"/>
          </a:solidFill>
          <a:ln w="6350">
            <a:solidFill>
              <a:srgbClr val="C0C8E0"/>
            </a:solidFill>
            <a:prstDash val="solid"/>
          </a:ln>
        </p:spPr>
      </p:sp>
      <p:sp>
        <p:nvSpPr>
          <p:cNvPr id="90" name="Text 88"/>
          <p:cNvSpPr/>
          <p:nvPr/>
        </p:nvSpPr>
        <p:spPr>
          <a:xfrm>
            <a:off x="4773168" y="5138928"/>
            <a:ext cx="100584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Q3</a:t>
            </a:r>
            <a:endParaRPr lang="en-US" sz="850" dirty="0"/>
          </a:p>
        </p:txBody>
      </p:sp>
      <p:sp>
        <p:nvSpPr>
          <p:cNvPr id="91" name="Shape 89"/>
          <p:cNvSpPr/>
          <p:nvPr/>
        </p:nvSpPr>
        <p:spPr>
          <a:xfrm>
            <a:off x="5779008" y="5138928"/>
            <a:ext cx="1463040" cy="292608"/>
          </a:xfrm>
          <a:prstGeom prst="rect">
            <a:avLst/>
          </a:prstGeom>
          <a:solidFill>
            <a:srgbClr val="D8E8FF"/>
          </a:solidFill>
          <a:ln w="6350">
            <a:solidFill>
              <a:srgbClr val="C0C8E0"/>
            </a:solidFill>
            <a:prstDash val="solid"/>
          </a:ln>
        </p:spPr>
      </p:sp>
      <p:sp>
        <p:nvSpPr>
          <p:cNvPr id="92" name="Text 90"/>
          <p:cNvSpPr/>
          <p:nvPr/>
        </p:nvSpPr>
        <p:spPr>
          <a:xfrm>
            <a:off x="5779008" y="5138928"/>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3.96</a:t>
            </a:r>
            <a:endParaRPr lang="en-US" sz="850" dirty="0"/>
          </a:p>
        </p:txBody>
      </p:sp>
      <p:sp>
        <p:nvSpPr>
          <p:cNvPr id="93" name="Shape 91"/>
          <p:cNvSpPr/>
          <p:nvPr/>
        </p:nvSpPr>
        <p:spPr>
          <a:xfrm>
            <a:off x="7242048" y="5138928"/>
            <a:ext cx="1481328" cy="292608"/>
          </a:xfrm>
          <a:prstGeom prst="rect">
            <a:avLst/>
          </a:prstGeom>
          <a:solidFill>
            <a:srgbClr val="EAEEF8"/>
          </a:solidFill>
          <a:ln w="6350">
            <a:solidFill>
              <a:srgbClr val="C0C8E0"/>
            </a:solidFill>
            <a:prstDash val="solid"/>
          </a:ln>
        </p:spPr>
      </p:sp>
      <p:sp>
        <p:nvSpPr>
          <p:cNvPr id="94" name="Text 92"/>
          <p:cNvSpPr/>
          <p:nvPr/>
        </p:nvSpPr>
        <p:spPr>
          <a:xfrm>
            <a:off x="7242048" y="5138928"/>
            <a:ext cx="14813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3.52</a:t>
            </a:r>
            <a:endParaRPr lang="en-US" sz="850" dirty="0"/>
          </a:p>
        </p:txBody>
      </p:sp>
      <p:sp>
        <p:nvSpPr>
          <p:cNvPr id="95" name="Shape 93"/>
          <p:cNvSpPr/>
          <p:nvPr/>
        </p:nvSpPr>
        <p:spPr>
          <a:xfrm>
            <a:off x="4773168" y="5431536"/>
            <a:ext cx="1005840" cy="292608"/>
          </a:xfrm>
          <a:prstGeom prst="rect">
            <a:avLst/>
          </a:prstGeom>
          <a:solidFill>
            <a:srgbClr val="FFFFFF"/>
          </a:solidFill>
          <a:ln w="6350">
            <a:solidFill>
              <a:srgbClr val="C0C8E0"/>
            </a:solidFill>
            <a:prstDash val="solid"/>
          </a:ln>
        </p:spPr>
      </p:sp>
      <p:sp>
        <p:nvSpPr>
          <p:cNvPr id="96" name="Text 94"/>
          <p:cNvSpPr/>
          <p:nvPr/>
        </p:nvSpPr>
        <p:spPr>
          <a:xfrm>
            <a:off x="4773168" y="5431536"/>
            <a:ext cx="100584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Q4</a:t>
            </a:r>
            <a:endParaRPr lang="en-US" sz="850" dirty="0"/>
          </a:p>
        </p:txBody>
      </p:sp>
      <p:sp>
        <p:nvSpPr>
          <p:cNvPr id="97" name="Shape 95"/>
          <p:cNvSpPr/>
          <p:nvPr/>
        </p:nvSpPr>
        <p:spPr>
          <a:xfrm>
            <a:off x="5779008" y="5431536"/>
            <a:ext cx="1463040" cy="292608"/>
          </a:xfrm>
          <a:prstGeom prst="rect">
            <a:avLst/>
          </a:prstGeom>
          <a:solidFill>
            <a:srgbClr val="D8E8FF"/>
          </a:solidFill>
          <a:ln w="6350">
            <a:solidFill>
              <a:srgbClr val="C0C8E0"/>
            </a:solidFill>
            <a:prstDash val="solid"/>
          </a:ln>
        </p:spPr>
      </p:sp>
      <p:sp>
        <p:nvSpPr>
          <p:cNvPr id="98" name="Text 96"/>
          <p:cNvSpPr/>
          <p:nvPr/>
        </p:nvSpPr>
        <p:spPr>
          <a:xfrm>
            <a:off x="5779008" y="5431536"/>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4.24</a:t>
            </a:r>
            <a:endParaRPr lang="en-US" sz="850" dirty="0"/>
          </a:p>
        </p:txBody>
      </p:sp>
      <p:sp>
        <p:nvSpPr>
          <p:cNvPr id="99" name="Shape 97"/>
          <p:cNvSpPr/>
          <p:nvPr/>
        </p:nvSpPr>
        <p:spPr>
          <a:xfrm>
            <a:off x="7242048" y="5431536"/>
            <a:ext cx="1481328" cy="292608"/>
          </a:xfrm>
          <a:prstGeom prst="rect">
            <a:avLst/>
          </a:prstGeom>
          <a:solidFill>
            <a:srgbClr val="FFFFFF"/>
          </a:solidFill>
          <a:ln w="6350">
            <a:solidFill>
              <a:srgbClr val="C0C8E0"/>
            </a:solidFill>
            <a:prstDash val="solid"/>
          </a:ln>
        </p:spPr>
      </p:sp>
      <p:sp>
        <p:nvSpPr>
          <p:cNvPr id="100" name="Text 98"/>
          <p:cNvSpPr/>
          <p:nvPr/>
        </p:nvSpPr>
        <p:spPr>
          <a:xfrm>
            <a:off x="7242048" y="5431536"/>
            <a:ext cx="14813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3.58</a:t>
            </a:r>
            <a:endParaRPr lang="en-US" sz="850" dirty="0"/>
          </a:p>
        </p:txBody>
      </p:sp>
      <p:sp>
        <p:nvSpPr>
          <p:cNvPr id="101" name="Text 99"/>
          <p:cNvSpPr/>
          <p:nvPr/>
        </p:nvSpPr>
        <p:spPr>
          <a:xfrm>
            <a:off x="4773168" y="4828032"/>
            <a:ext cx="3931920" cy="310896"/>
          </a:xfrm>
          <a:prstGeom prst="rect">
            <a:avLst/>
          </a:prstGeom>
          <a:noFill/>
          <a:ln/>
        </p:spPr>
        <p:txBody>
          <a:bodyPr wrap="square" lIns="0" tIns="0" rIns="0" bIns="0" rtlCol="0" anchor="ctr"/>
          <a:lstStyle/>
          <a:p>
            <a:pPr indent="0" marL="0">
              <a:buNone/>
            </a:pPr>
            <a:r>
              <a:rPr lang="en-US" sz="900" i="1" dirty="0">
                <a:solidFill>
                  <a:srgbClr val="1A2038"/>
                </a:solidFill>
                <a:latin typeface="Calibri" pitchFamily="34" charset="0"/>
                <a:ea typeface="Calibri" pitchFamily="34" charset="-122"/>
                <a:cs typeface="Calibri" pitchFamily="34" charset="-120"/>
              </a:rPr>
              <a:t>Quarter x Group interaction p &lt; .001 - Treatment group improves significantly faster than Control. Difference widens over time.</a:t>
            </a:r>
            <a:endParaRPr lang="en-US" sz="900" dirty="0"/>
          </a:p>
        </p:txBody>
      </p:sp>
      <p:sp>
        <p:nvSpPr>
          <p:cNvPr id="102" name="Shape 100"/>
          <p:cNvSpPr/>
          <p:nvPr/>
        </p:nvSpPr>
        <p:spPr>
          <a:xfrm>
            <a:off x="256032" y="5120640"/>
            <a:ext cx="8631936" cy="347472"/>
          </a:xfrm>
          <a:prstGeom prst="roundRect">
            <a:avLst>
              <a:gd name="adj" fmla="val 15789"/>
            </a:avLst>
          </a:prstGeom>
          <a:solidFill>
            <a:srgbClr val="FFFBEC"/>
          </a:solidFill>
          <a:ln w="19050">
            <a:solidFill>
              <a:srgbClr val="C8920A"/>
            </a:solidFill>
            <a:prstDash val="solid"/>
          </a:ln>
        </p:spPr>
      </p:sp>
      <p:sp>
        <p:nvSpPr>
          <p:cNvPr id="103" name="Text 101"/>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Adding a covariate (e.g., baseline_sat as a covariate): in GLM Repeated Measures, move it to the Covariate(s) box. This controls for pre-existing differences, increasing sensitivity to detect the time x group interaction.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2D6B">
              <a:alpha val="20000"/>
            </a:srgbClr>
          </a:solidFill>
          <a:ln w="12700">
            <a:solidFill>
              <a:srgbClr val="1A2D6B"/>
            </a:solidFill>
            <a:prstDash val="solid"/>
          </a:ln>
        </p:spPr>
      </p:sp>
      <p:sp>
        <p:nvSpPr>
          <p:cNvPr id="3" name="Shape 1"/>
          <p:cNvSpPr/>
          <p:nvPr/>
        </p:nvSpPr>
        <p:spPr>
          <a:xfrm>
            <a:off x="-1097280" y="3200400"/>
            <a:ext cx="3657600" cy="3657600"/>
          </a:xfrm>
          <a:prstGeom prst="ellipse">
            <a:avLst/>
          </a:prstGeom>
          <a:solidFill>
            <a:srgbClr val="C8920A">
              <a:alpha val="12000"/>
            </a:srgbClr>
          </a:solidFill>
          <a:ln w="12700">
            <a:solidFill>
              <a:srgbClr val="C8920A"/>
            </a:solidFill>
            <a:prstDash val="solid"/>
          </a:ln>
        </p:spPr>
      </p:sp>
      <p:sp>
        <p:nvSpPr>
          <p:cNvPr id="4" name="Shape 2"/>
          <p:cNvSpPr/>
          <p:nvPr/>
        </p:nvSpPr>
        <p:spPr>
          <a:xfrm>
            <a:off x="4114800" y="1371600"/>
            <a:ext cx="1828800" cy="1828800"/>
          </a:xfrm>
          <a:prstGeom prst="ellipse">
            <a:avLst/>
          </a:prstGeom>
          <a:solidFill>
            <a:srgbClr val="0A6E4F">
              <a:alpha val="10000"/>
            </a:srgbClr>
          </a:solidFill>
          <a:ln w="12700">
            <a:solidFill>
              <a:srgbClr val="0A6E4F"/>
            </a:solidFill>
            <a:prstDash val="solid"/>
          </a:ln>
        </p:spPr>
      </p:sp>
      <p:sp>
        <p:nvSpPr>
          <p:cNvPr id="5" name="Text 3"/>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C8920A"/>
                </a:solidFill>
                <a:latin typeface="Calibri" pitchFamily="34" charset="0"/>
                <a:ea typeface="Calibri" pitchFamily="34" charset="-122"/>
                <a:cs typeface="Calibri" pitchFamily="34" charset="-120"/>
              </a:rPr>
              <a:t>MODULE 5  |  SECTION 02</a:t>
            </a:r>
            <a:endParaRPr lang="en-US" sz="1200" dirty="0"/>
          </a:p>
        </p:txBody>
      </p:sp>
      <p:sp>
        <p:nvSpPr>
          <p:cNvPr id="6" name="Text 4"/>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Multiple Comparisons and Contrasts</a:t>
            </a:r>
            <a:endParaRPr lang="en-US" sz="3800" dirty="0"/>
          </a:p>
        </p:txBody>
      </p:sp>
      <p:sp>
        <p:nvSpPr>
          <p:cNvPr id="7" name="Text 5"/>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B0C0E8"/>
                </a:solidFill>
                <a:latin typeface="Calibri" pitchFamily="34" charset="0"/>
                <a:ea typeface="Calibri" pitchFamily="34" charset="-122"/>
                <a:cs typeface="Calibri" pitchFamily="34" charset="-120"/>
              </a:rPr>
              <a:t>EMMEANS, polynomial contrasts and planned trend analysis for within-subjects designs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D6B"/>
          </a:solidFill>
          <a:ln w="12700">
            <a:solidFill>
              <a:srgbClr val="1A2D6B"/>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EMMEANS, Polynomial Contrasts and Multiple Comparison Correction</a:t>
            </a:r>
            <a:endParaRPr lang="en-US" sz="2100" dirty="0"/>
          </a:p>
        </p:txBody>
      </p:sp>
      <p:sp>
        <p:nvSpPr>
          <p:cNvPr id="4" name="Shape 2"/>
          <p:cNvSpPr/>
          <p:nvPr/>
        </p:nvSpPr>
        <p:spPr>
          <a:xfrm>
            <a:off x="256032" y="1005840"/>
            <a:ext cx="4160520" cy="4041648"/>
          </a:xfrm>
          <a:prstGeom prst="roundRect">
            <a:avLst>
              <a:gd name="adj" fmla="val 203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78992"/>
            <a:ext cx="4005072" cy="329184"/>
          </a:xfrm>
          <a:prstGeom prst="roundRect">
            <a:avLst>
              <a:gd name="adj" fmla="val 16667"/>
            </a:avLst>
          </a:prstGeom>
          <a:solidFill>
            <a:srgbClr val="1A2D6B"/>
          </a:solidFill>
          <a:ln w="12700">
            <a:solidFill>
              <a:srgbClr val="1A2D6B"/>
            </a:solidFill>
            <a:prstDash val="solid"/>
          </a:ln>
        </p:spPr>
      </p:sp>
      <p:sp>
        <p:nvSpPr>
          <p:cNvPr id="6" name="Text 4"/>
          <p:cNvSpPr/>
          <p:nvPr/>
        </p:nvSpPr>
        <p:spPr>
          <a:xfrm>
            <a:off x="329184" y="1078992"/>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EMMEANS - Estimated Marginal Means</a:t>
            </a:r>
            <a:endParaRPr lang="en-US" sz="1100" dirty="0"/>
          </a:p>
        </p:txBody>
      </p:sp>
      <p:sp>
        <p:nvSpPr>
          <p:cNvPr id="7" name="Text 5"/>
          <p:cNvSpPr/>
          <p:nvPr/>
        </p:nvSpPr>
        <p:spPr>
          <a:xfrm>
            <a:off x="365760" y="1481328"/>
            <a:ext cx="3950208" cy="54864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EMMEANS (Estimated Marginal Means) provides adjusted group means from GLM, controlling for other factors and covariates in the model. Also generates pairwise comparisons between levels.</a:t>
            </a:r>
            <a:endParaRPr lang="en-US" sz="950" dirty="0"/>
          </a:p>
        </p:txBody>
      </p:sp>
      <p:sp>
        <p:nvSpPr>
          <p:cNvPr id="8" name="Text 6"/>
          <p:cNvSpPr/>
          <p:nvPr/>
        </p:nvSpPr>
        <p:spPr>
          <a:xfrm>
            <a:off x="365760" y="2103120"/>
            <a:ext cx="3950208" cy="219456"/>
          </a:xfrm>
          <a:prstGeom prst="rect">
            <a:avLst/>
          </a:prstGeom>
          <a:noFill/>
          <a:ln/>
        </p:spPr>
        <p:txBody>
          <a:bodyPr wrap="square" lIns="0" tIns="0" rIns="0" bIns="0" rtlCol="0" anchor="ctr"/>
          <a:lstStyle/>
          <a:p>
            <a:pPr indent="0" marL="0">
              <a:buNone/>
            </a:pPr>
            <a:r>
              <a:rPr lang="en-US" sz="1000" b="1" dirty="0">
                <a:solidFill>
                  <a:srgbClr val="1A2D6B"/>
                </a:solidFill>
                <a:latin typeface="Calibri" pitchFamily="34" charset="0"/>
                <a:ea typeface="Calibri" pitchFamily="34" charset="-122"/>
                <a:cs typeface="Calibri" pitchFamily="34" charset="-120"/>
              </a:rPr>
              <a:t>In GLM Repeated Measures dialog &gt; Options:</a:t>
            </a:r>
            <a:endParaRPr lang="en-US" sz="1000" dirty="0"/>
          </a:p>
        </p:txBody>
      </p:sp>
      <p:sp>
        <p:nvSpPr>
          <p:cNvPr id="9" name="Text 7"/>
          <p:cNvSpPr/>
          <p:nvPr/>
        </p:nvSpPr>
        <p:spPr>
          <a:xfrm>
            <a:off x="365760" y="2359152"/>
            <a:ext cx="3950208" cy="292608"/>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1. Move Quarter to Display Means for box</a:t>
            </a:r>
            <a:endParaRPr lang="en-US" sz="950" dirty="0"/>
          </a:p>
        </p:txBody>
      </p:sp>
      <p:sp>
        <p:nvSpPr>
          <p:cNvPr id="10" name="Text 8"/>
          <p:cNvSpPr/>
          <p:nvPr/>
        </p:nvSpPr>
        <p:spPr>
          <a:xfrm>
            <a:off x="365760" y="2688336"/>
            <a:ext cx="3950208" cy="292608"/>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2. Tick Compare main effects</a:t>
            </a:r>
            <a:endParaRPr lang="en-US" sz="950" dirty="0"/>
          </a:p>
        </p:txBody>
      </p:sp>
      <p:sp>
        <p:nvSpPr>
          <p:cNvPr id="11" name="Text 9"/>
          <p:cNvSpPr/>
          <p:nvPr/>
        </p:nvSpPr>
        <p:spPr>
          <a:xfrm>
            <a:off x="365760" y="3017520"/>
            <a:ext cx="3950208" cy="292608"/>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3. Select Bonferroni from the Confidence interval adjustment dropdown</a:t>
            </a:r>
            <a:endParaRPr lang="en-US" sz="950" dirty="0"/>
          </a:p>
        </p:txBody>
      </p:sp>
      <p:sp>
        <p:nvSpPr>
          <p:cNvPr id="12" name="Text 10"/>
          <p:cNvSpPr/>
          <p:nvPr/>
        </p:nvSpPr>
        <p:spPr>
          <a:xfrm>
            <a:off x="365760" y="3346704"/>
            <a:ext cx="3950208" cy="292608"/>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4. Click Continue then OK</a:t>
            </a:r>
            <a:endParaRPr lang="en-US" sz="950" dirty="0"/>
          </a:p>
        </p:txBody>
      </p:sp>
      <p:sp>
        <p:nvSpPr>
          <p:cNvPr id="13" name="Text 11"/>
          <p:cNvSpPr/>
          <p:nvPr/>
        </p:nvSpPr>
        <p:spPr>
          <a:xfrm>
            <a:off x="365760" y="3712464"/>
            <a:ext cx="3950208" cy="219456"/>
          </a:xfrm>
          <a:prstGeom prst="rect">
            <a:avLst/>
          </a:prstGeom>
          <a:noFill/>
          <a:ln/>
        </p:spPr>
        <p:txBody>
          <a:bodyPr wrap="square" lIns="0" tIns="0" rIns="0" bIns="0" rtlCol="0" anchor="ctr"/>
          <a:lstStyle/>
          <a:p>
            <a:pPr indent="0" marL="0">
              <a:buNone/>
            </a:pPr>
            <a:r>
              <a:rPr lang="en-US" sz="950" b="1" dirty="0">
                <a:solidFill>
                  <a:srgbClr val="1A2D6B"/>
                </a:solidFill>
                <a:latin typeface="Calibri" pitchFamily="34" charset="0"/>
                <a:ea typeface="Calibri" pitchFamily="34" charset="-122"/>
                <a:cs typeface="Calibri" pitchFamily="34" charset="-120"/>
              </a:rPr>
              <a:t>EMMEANS Pairwise Comparisons (Bonferroni):</a:t>
            </a:r>
            <a:endParaRPr lang="en-US" sz="950" dirty="0"/>
          </a:p>
        </p:txBody>
      </p:sp>
      <p:sp>
        <p:nvSpPr>
          <p:cNvPr id="14" name="Shape 12"/>
          <p:cNvSpPr/>
          <p:nvPr/>
        </p:nvSpPr>
        <p:spPr>
          <a:xfrm>
            <a:off x="365760" y="3950208"/>
            <a:ext cx="1737360" cy="292608"/>
          </a:xfrm>
          <a:prstGeom prst="rect">
            <a:avLst/>
          </a:prstGeom>
          <a:solidFill>
            <a:srgbClr val="0A0F1E"/>
          </a:solidFill>
          <a:ln w="12700">
            <a:solidFill>
              <a:srgbClr val="0A0F1E"/>
            </a:solidFill>
            <a:prstDash val="solid"/>
          </a:ln>
        </p:spPr>
      </p:sp>
      <p:sp>
        <p:nvSpPr>
          <p:cNvPr id="15" name="Text 13"/>
          <p:cNvSpPr/>
          <p:nvPr/>
        </p:nvSpPr>
        <p:spPr>
          <a:xfrm>
            <a:off x="365760" y="3950208"/>
            <a:ext cx="173736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Comparison</a:t>
            </a:r>
            <a:endParaRPr lang="en-US" sz="850" dirty="0"/>
          </a:p>
        </p:txBody>
      </p:sp>
      <p:sp>
        <p:nvSpPr>
          <p:cNvPr id="16" name="Shape 14"/>
          <p:cNvSpPr/>
          <p:nvPr/>
        </p:nvSpPr>
        <p:spPr>
          <a:xfrm>
            <a:off x="2103120" y="3950208"/>
            <a:ext cx="1097280" cy="292608"/>
          </a:xfrm>
          <a:prstGeom prst="rect">
            <a:avLst/>
          </a:prstGeom>
          <a:solidFill>
            <a:srgbClr val="0A0F1E"/>
          </a:solidFill>
          <a:ln w="12700">
            <a:solidFill>
              <a:srgbClr val="0A0F1E"/>
            </a:solidFill>
            <a:prstDash val="solid"/>
          </a:ln>
        </p:spPr>
      </p:sp>
      <p:sp>
        <p:nvSpPr>
          <p:cNvPr id="17" name="Text 15"/>
          <p:cNvSpPr/>
          <p:nvPr/>
        </p:nvSpPr>
        <p:spPr>
          <a:xfrm>
            <a:off x="2103120" y="3950208"/>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Mean Diff</a:t>
            </a:r>
            <a:endParaRPr lang="en-US" sz="850" dirty="0"/>
          </a:p>
        </p:txBody>
      </p:sp>
      <p:sp>
        <p:nvSpPr>
          <p:cNvPr id="18" name="Shape 16"/>
          <p:cNvSpPr/>
          <p:nvPr/>
        </p:nvSpPr>
        <p:spPr>
          <a:xfrm>
            <a:off x="3200400" y="3950208"/>
            <a:ext cx="1207008" cy="292608"/>
          </a:xfrm>
          <a:prstGeom prst="rect">
            <a:avLst/>
          </a:prstGeom>
          <a:solidFill>
            <a:srgbClr val="0A0F1E"/>
          </a:solidFill>
          <a:ln w="12700">
            <a:solidFill>
              <a:srgbClr val="0A0F1E"/>
            </a:solidFill>
            <a:prstDash val="solid"/>
          </a:ln>
        </p:spPr>
      </p:sp>
      <p:sp>
        <p:nvSpPr>
          <p:cNvPr id="19" name="Text 17"/>
          <p:cNvSpPr/>
          <p:nvPr/>
        </p:nvSpPr>
        <p:spPr>
          <a:xfrm>
            <a:off x="3200400" y="3950208"/>
            <a:ext cx="120700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Sig.(Bonf)</a:t>
            </a:r>
            <a:endParaRPr lang="en-US" sz="850" dirty="0"/>
          </a:p>
        </p:txBody>
      </p:sp>
      <p:sp>
        <p:nvSpPr>
          <p:cNvPr id="20" name="Shape 18"/>
          <p:cNvSpPr/>
          <p:nvPr/>
        </p:nvSpPr>
        <p:spPr>
          <a:xfrm>
            <a:off x="365760" y="4242816"/>
            <a:ext cx="1737360" cy="292608"/>
          </a:xfrm>
          <a:prstGeom prst="rect">
            <a:avLst/>
          </a:prstGeom>
          <a:solidFill>
            <a:srgbClr val="EAEEF8"/>
          </a:solidFill>
          <a:ln w="6350">
            <a:solidFill>
              <a:srgbClr val="C0C8E0"/>
            </a:solidFill>
            <a:prstDash val="solid"/>
          </a:ln>
        </p:spPr>
      </p:sp>
      <p:sp>
        <p:nvSpPr>
          <p:cNvPr id="21" name="Text 19"/>
          <p:cNvSpPr/>
          <p:nvPr/>
        </p:nvSpPr>
        <p:spPr>
          <a:xfrm>
            <a:off x="365760" y="4242816"/>
            <a:ext cx="17373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Q1 vs Q2</a:t>
            </a:r>
            <a:endParaRPr lang="en-US" sz="850" dirty="0"/>
          </a:p>
        </p:txBody>
      </p:sp>
      <p:sp>
        <p:nvSpPr>
          <p:cNvPr id="22" name="Shape 20"/>
          <p:cNvSpPr/>
          <p:nvPr/>
        </p:nvSpPr>
        <p:spPr>
          <a:xfrm>
            <a:off x="2103120" y="4242816"/>
            <a:ext cx="1097280" cy="292608"/>
          </a:xfrm>
          <a:prstGeom prst="rect">
            <a:avLst/>
          </a:prstGeom>
          <a:solidFill>
            <a:srgbClr val="D8E8FF"/>
          </a:solidFill>
          <a:ln w="6350">
            <a:solidFill>
              <a:srgbClr val="C0C8E0"/>
            </a:solidFill>
            <a:prstDash val="solid"/>
          </a:ln>
        </p:spPr>
      </p:sp>
      <p:sp>
        <p:nvSpPr>
          <p:cNvPr id="23" name="Text 21"/>
          <p:cNvSpPr/>
          <p:nvPr/>
        </p:nvSpPr>
        <p:spPr>
          <a:xfrm>
            <a:off x="2103120" y="4242816"/>
            <a:ext cx="10972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-.280</a:t>
            </a:r>
            <a:endParaRPr lang="en-US" sz="850" dirty="0"/>
          </a:p>
        </p:txBody>
      </p:sp>
      <p:sp>
        <p:nvSpPr>
          <p:cNvPr id="24" name="Shape 22"/>
          <p:cNvSpPr/>
          <p:nvPr/>
        </p:nvSpPr>
        <p:spPr>
          <a:xfrm>
            <a:off x="3200400" y="4242816"/>
            <a:ext cx="1207008" cy="292608"/>
          </a:xfrm>
          <a:prstGeom prst="rect">
            <a:avLst/>
          </a:prstGeom>
          <a:solidFill>
            <a:srgbClr val="D8E8FF"/>
          </a:solidFill>
          <a:ln w="6350">
            <a:solidFill>
              <a:srgbClr val="C0C8E0"/>
            </a:solidFill>
            <a:prstDash val="solid"/>
          </a:ln>
        </p:spPr>
      </p:sp>
      <p:sp>
        <p:nvSpPr>
          <p:cNvPr id="25" name="Text 23"/>
          <p:cNvSpPr/>
          <p:nvPr/>
        </p:nvSpPr>
        <p:spPr>
          <a:xfrm>
            <a:off x="3200400" y="4242816"/>
            <a:ext cx="120700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.006</a:t>
            </a:r>
            <a:endParaRPr lang="en-US" sz="850" dirty="0"/>
          </a:p>
        </p:txBody>
      </p:sp>
      <p:sp>
        <p:nvSpPr>
          <p:cNvPr id="26" name="Shape 24"/>
          <p:cNvSpPr/>
          <p:nvPr/>
        </p:nvSpPr>
        <p:spPr>
          <a:xfrm>
            <a:off x="365760" y="4535424"/>
            <a:ext cx="1737360" cy="292608"/>
          </a:xfrm>
          <a:prstGeom prst="rect">
            <a:avLst/>
          </a:prstGeom>
          <a:solidFill>
            <a:srgbClr val="FFFFFF"/>
          </a:solidFill>
          <a:ln w="6350">
            <a:solidFill>
              <a:srgbClr val="C0C8E0"/>
            </a:solidFill>
            <a:prstDash val="solid"/>
          </a:ln>
        </p:spPr>
      </p:sp>
      <p:sp>
        <p:nvSpPr>
          <p:cNvPr id="27" name="Text 25"/>
          <p:cNvSpPr/>
          <p:nvPr/>
        </p:nvSpPr>
        <p:spPr>
          <a:xfrm>
            <a:off x="365760" y="4535424"/>
            <a:ext cx="17373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Q1 vs Q3</a:t>
            </a:r>
            <a:endParaRPr lang="en-US" sz="850" dirty="0"/>
          </a:p>
        </p:txBody>
      </p:sp>
      <p:sp>
        <p:nvSpPr>
          <p:cNvPr id="28" name="Shape 26"/>
          <p:cNvSpPr/>
          <p:nvPr/>
        </p:nvSpPr>
        <p:spPr>
          <a:xfrm>
            <a:off x="2103120" y="4535424"/>
            <a:ext cx="1097280" cy="292608"/>
          </a:xfrm>
          <a:prstGeom prst="rect">
            <a:avLst/>
          </a:prstGeom>
          <a:solidFill>
            <a:srgbClr val="D8E8FF"/>
          </a:solidFill>
          <a:ln w="6350">
            <a:solidFill>
              <a:srgbClr val="C0C8E0"/>
            </a:solidFill>
            <a:prstDash val="solid"/>
          </a:ln>
        </p:spPr>
      </p:sp>
      <p:sp>
        <p:nvSpPr>
          <p:cNvPr id="29" name="Text 27"/>
          <p:cNvSpPr/>
          <p:nvPr/>
        </p:nvSpPr>
        <p:spPr>
          <a:xfrm>
            <a:off x="2103120" y="4535424"/>
            <a:ext cx="10972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-.540</a:t>
            </a:r>
            <a:endParaRPr lang="en-US" sz="850" dirty="0"/>
          </a:p>
        </p:txBody>
      </p:sp>
      <p:sp>
        <p:nvSpPr>
          <p:cNvPr id="30" name="Shape 28"/>
          <p:cNvSpPr/>
          <p:nvPr/>
        </p:nvSpPr>
        <p:spPr>
          <a:xfrm>
            <a:off x="3200400" y="4535424"/>
            <a:ext cx="1207008" cy="292608"/>
          </a:xfrm>
          <a:prstGeom prst="rect">
            <a:avLst/>
          </a:prstGeom>
          <a:solidFill>
            <a:srgbClr val="D8E8FF"/>
          </a:solidFill>
          <a:ln w="6350">
            <a:solidFill>
              <a:srgbClr val="C0C8E0"/>
            </a:solidFill>
            <a:prstDash val="solid"/>
          </a:ln>
        </p:spPr>
      </p:sp>
      <p:sp>
        <p:nvSpPr>
          <p:cNvPr id="31" name="Text 29"/>
          <p:cNvSpPr/>
          <p:nvPr/>
        </p:nvSpPr>
        <p:spPr>
          <a:xfrm>
            <a:off x="3200400" y="4535424"/>
            <a:ext cx="120700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32" name="Shape 30"/>
          <p:cNvSpPr/>
          <p:nvPr/>
        </p:nvSpPr>
        <p:spPr>
          <a:xfrm>
            <a:off x="365760" y="4828032"/>
            <a:ext cx="1737360" cy="292608"/>
          </a:xfrm>
          <a:prstGeom prst="rect">
            <a:avLst/>
          </a:prstGeom>
          <a:solidFill>
            <a:srgbClr val="EAEEF8"/>
          </a:solidFill>
          <a:ln w="6350">
            <a:solidFill>
              <a:srgbClr val="C0C8E0"/>
            </a:solidFill>
            <a:prstDash val="solid"/>
          </a:ln>
        </p:spPr>
      </p:sp>
      <p:sp>
        <p:nvSpPr>
          <p:cNvPr id="33" name="Text 31"/>
          <p:cNvSpPr/>
          <p:nvPr/>
        </p:nvSpPr>
        <p:spPr>
          <a:xfrm>
            <a:off x="365760" y="4828032"/>
            <a:ext cx="17373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Q1 vs Q4</a:t>
            </a:r>
            <a:endParaRPr lang="en-US" sz="850" dirty="0"/>
          </a:p>
        </p:txBody>
      </p:sp>
      <p:sp>
        <p:nvSpPr>
          <p:cNvPr id="34" name="Shape 32"/>
          <p:cNvSpPr/>
          <p:nvPr/>
        </p:nvSpPr>
        <p:spPr>
          <a:xfrm>
            <a:off x="2103120" y="4828032"/>
            <a:ext cx="1097280" cy="292608"/>
          </a:xfrm>
          <a:prstGeom prst="rect">
            <a:avLst/>
          </a:prstGeom>
          <a:solidFill>
            <a:srgbClr val="D8E8FF"/>
          </a:solidFill>
          <a:ln w="6350">
            <a:solidFill>
              <a:srgbClr val="C0C8E0"/>
            </a:solidFill>
            <a:prstDash val="solid"/>
          </a:ln>
        </p:spPr>
      </p:sp>
      <p:sp>
        <p:nvSpPr>
          <p:cNvPr id="35" name="Text 33"/>
          <p:cNvSpPr/>
          <p:nvPr/>
        </p:nvSpPr>
        <p:spPr>
          <a:xfrm>
            <a:off x="2103120" y="4828032"/>
            <a:ext cx="10972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-.840</a:t>
            </a:r>
            <a:endParaRPr lang="en-US" sz="850" dirty="0"/>
          </a:p>
        </p:txBody>
      </p:sp>
      <p:sp>
        <p:nvSpPr>
          <p:cNvPr id="36" name="Shape 34"/>
          <p:cNvSpPr/>
          <p:nvPr/>
        </p:nvSpPr>
        <p:spPr>
          <a:xfrm>
            <a:off x="3200400" y="4828032"/>
            <a:ext cx="1207008" cy="292608"/>
          </a:xfrm>
          <a:prstGeom prst="rect">
            <a:avLst/>
          </a:prstGeom>
          <a:solidFill>
            <a:srgbClr val="D8E8FF"/>
          </a:solidFill>
          <a:ln w="6350">
            <a:solidFill>
              <a:srgbClr val="C0C8E0"/>
            </a:solidFill>
            <a:prstDash val="solid"/>
          </a:ln>
        </p:spPr>
      </p:sp>
      <p:sp>
        <p:nvSpPr>
          <p:cNvPr id="37" name="Text 35"/>
          <p:cNvSpPr/>
          <p:nvPr/>
        </p:nvSpPr>
        <p:spPr>
          <a:xfrm>
            <a:off x="3200400" y="4828032"/>
            <a:ext cx="120700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38" name="Shape 36"/>
          <p:cNvSpPr/>
          <p:nvPr/>
        </p:nvSpPr>
        <p:spPr>
          <a:xfrm>
            <a:off x="365760" y="5120640"/>
            <a:ext cx="1737360" cy="292608"/>
          </a:xfrm>
          <a:prstGeom prst="rect">
            <a:avLst/>
          </a:prstGeom>
          <a:solidFill>
            <a:srgbClr val="FFFFFF"/>
          </a:solidFill>
          <a:ln w="6350">
            <a:solidFill>
              <a:srgbClr val="C0C8E0"/>
            </a:solidFill>
            <a:prstDash val="solid"/>
          </a:ln>
        </p:spPr>
      </p:sp>
      <p:sp>
        <p:nvSpPr>
          <p:cNvPr id="39" name="Text 37"/>
          <p:cNvSpPr/>
          <p:nvPr/>
        </p:nvSpPr>
        <p:spPr>
          <a:xfrm>
            <a:off x="365760" y="5120640"/>
            <a:ext cx="17373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Q2 vs Q3</a:t>
            </a:r>
            <a:endParaRPr lang="en-US" sz="850" dirty="0"/>
          </a:p>
        </p:txBody>
      </p:sp>
      <p:sp>
        <p:nvSpPr>
          <p:cNvPr id="40" name="Shape 38"/>
          <p:cNvSpPr/>
          <p:nvPr/>
        </p:nvSpPr>
        <p:spPr>
          <a:xfrm>
            <a:off x="2103120" y="5120640"/>
            <a:ext cx="1097280" cy="292608"/>
          </a:xfrm>
          <a:prstGeom prst="rect">
            <a:avLst/>
          </a:prstGeom>
          <a:solidFill>
            <a:srgbClr val="D8E8FF"/>
          </a:solidFill>
          <a:ln w="6350">
            <a:solidFill>
              <a:srgbClr val="C0C8E0"/>
            </a:solidFill>
            <a:prstDash val="solid"/>
          </a:ln>
        </p:spPr>
      </p:sp>
      <p:sp>
        <p:nvSpPr>
          <p:cNvPr id="41" name="Text 39"/>
          <p:cNvSpPr/>
          <p:nvPr/>
        </p:nvSpPr>
        <p:spPr>
          <a:xfrm>
            <a:off x="2103120" y="5120640"/>
            <a:ext cx="10972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-.260</a:t>
            </a:r>
            <a:endParaRPr lang="en-US" sz="850" dirty="0"/>
          </a:p>
        </p:txBody>
      </p:sp>
      <p:sp>
        <p:nvSpPr>
          <p:cNvPr id="42" name="Shape 40"/>
          <p:cNvSpPr/>
          <p:nvPr/>
        </p:nvSpPr>
        <p:spPr>
          <a:xfrm>
            <a:off x="3200400" y="5120640"/>
            <a:ext cx="1207008" cy="292608"/>
          </a:xfrm>
          <a:prstGeom prst="rect">
            <a:avLst/>
          </a:prstGeom>
          <a:solidFill>
            <a:srgbClr val="D8E8FF"/>
          </a:solidFill>
          <a:ln w="6350">
            <a:solidFill>
              <a:srgbClr val="C0C8E0"/>
            </a:solidFill>
            <a:prstDash val="solid"/>
          </a:ln>
        </p:spPr>
      </p:sp>
      <p:sp>
        <p:nvSpPr>
          <p:cNvPr id="43" name="Text 41"/>
          <p:cNvSpPr/>
          <p:nvPr/>
        </p:nvSpPr>
        <p:spPr>
          <a:xfrm>
            <a:off x="3200400" y="5120640"/>
            <a:ext cx="120700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.018</a:t>
            </a:r>
            <a:endParaRPr lang="en-US" sz="850" dirty="0"/>
          </a:p>
        </p:txBody>
      </p:sp>
      <p:sp>
        <p:nvSpPr>
          <p:cNvPr id="44" name="Shape 42"/>
          <p:cNvSpPr/>
          <p:nvPr/>
        </p:nvSpPr>
        <p:spPr>
          <a:xfrm>
            <a:off x="365760" y="5413248"/>
            <a:ext cx="1737360" cy="292608"/>
          </a:xfrm>
          <a:prstGeom prst="rect">
            <a:avLst/>
          </a:prstGeom>
          <a:solidFill>
            <a:srgbClr val="EAEEF8"/>
          </a:solidFill>
          <a:ln w="6350">
            <a:solidFill>
              <a:srgbClr val="C0C8E0"/>
            </a:solidFill>
            <a:prstDash val="solid"/>
          </a:ln>
        </p:spPr>
      </p:sp>
      <p:sp>
        <p:nvSpPr>
          <p:cNvPr id="45" name="Text 43"/>
          <p:cNvSpPr/>
          <p:nvPr/>
        </p:nvSpPr>
        <p:spPr>
          <a:xfrm>
            <a:off x="365760" y="5413248"/>
            <a:ext cx="17373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Q2 vs Q4</a:t>
            </a:r>
            <a:endParaRPr lang="en-US" sz="850" dirty="0"/>
          </a:p>
        </p:txBody>
      </p:sp>
      <p:sp>
        <p:nvSpPr>
          <p:cNvPr id="46" name="Shape 44"/>
          <p:cNvSpPr/>
          <p:nvPr/>
        </p:nvSpPr>
        <p:spPr>
          <a:xfrm>
            <a:off x="2103120" y="5413248"/>
            <a:ext cx="1097280" cy="292608"/>
          </a:xfrm>
          <a:prstGeom prst="rect">
            <a:avLst/>
          </a:prstGeom>
          <a:solidFill>
            <a:srgbClr val="D8E8FF"/>
          </a:solidFill>
          <a:ln w="6350">
            <a:solidFill>
              <a:srgbClr val="C0C8E0"/>
            </a:solidFill>
            <a:prstDash val="solid"/>
          </a:ln>
        </p:spPr>
      </p:sp>
      <p:sp>
        <p:nvSpPr>
          <p:cNvPr id="47" name="Text 45"/>
          <p:cNvSpPr/>
          <p:nvPr/>
        </p:nvSpPr>
        <p:spPr>
          <a:xfrm>
            <a:off x="2103120" y="5413248"/>
            <a:ext cx="10972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-.560</a:t>
            </a:r>
            <a:endParaRPr lang="en-US" sz="850" dirty="0"/>
          </a:p>
        </p:txBody>
      </p:sp>
      <p:sp>
        <p:nvSpPr>
          <p:cNvPr id="48" name="Shape 46"/>
          <p:cNvSpPr/>
          <p:nvPr/>
        </p:nvSpPr>
        <p:spPr>
          <a:xfrm>
            <a:off x="3200400" y="5413248"/>
            <a:ext cx="1207008" cy="292608"/>
          </a:xfrm>
          <a:prstGeom prst="rect">
            <a:avLst/>
          </a:prstGeom>
          <a:solidFill>
            <a:srgbClr val="D8E8FF"/>
          </a:solidFill>
          <a:ln w="6350">
            <a:solidFill>
              <a:srgbClr val="C0C8E0"/>
            </a:solidFill>
            <a:prstDash val="solid"/>
          </a:ln>
        </p:spPr>
      </p:sp>
      <p:sp>
        <p:nvSpPr>
          <p:cNvPr id="49" name="Text 47"/>
          <p:cNvSpPr/>
          <p:nvPr/>
        </p:nvSpPr>
        <p:spPr>
          <a:xfrm>
            <a:off x="3200400" y="5413248"/>
            <a:ext cx="120700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50" name="Shape 48"/>
          <p:cNvSpPr/>
          <p:nvPr/>
        </p:nvSpPr>
        <p:spPr>
          <a:xfrm>
            <a:off x="365760" y="5705856"/>
            <a:ext cx="1737360" cy="292608"/>
          </a:xfrm>
          <a:prstGeom prst="rect">
            <a:avLst/>
          </a:prstGeom>
          <a:solidFill>
            <a:srgbClr val="FFFFFF"/>
          </a:solidFill>
          <a:ln w="6350">
            <a:solidFill>
              <a:srgbClr val="C0C8E0"/>
            </a:solidFill>
            <a:prstDash val="solid"/>
          </a:ln>
        </p:spPr>
      </p:sp>
      <p:sp>
        <p:nvSpPr>
          <p:cNvPr id="51" name="Text 49"/>
          <p:cNvSpPr/>
          <p:nvPr/>
        </p:nvSpPr>
        <p:spPr>
          <a:xfrm>
            <a:off x="365760" y="5705856"/>
            <a:ext cx="17373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Q3 vs Q4</a:t>
            </a:r>
            <a:endParaRPr lang="en-US" sz="850" dirty="0"/>
          </a:p>
        </p:txBody>
      </p:sp>
      <p:sp>
        <p:nvSpPr>
          <p:cNvPr id="52" name="Shape 50"/>
          <p:cNvSpPr/>
          <p:nvPr/>
        </p:nvSpPr>
        <p:spPr>
          <a:xfrm>
            <a:off x="2103120" y="5705856"/>
            <a:ext cx="1097280" cy="292608"/>
          </a:xfrm>
          <a:prstGeom prst="rect">
            <a:avLst/>
          </a:prstGeom>
          <a:solidFill>
            <a:srgbClr val="D8E8FF"/>
          </a:solidFill>
          <a:ln w="6350">
            <a:solidFill>
              <a:srgbClr val="C0C8E0"/>
            </a:solidFill>
            <a:prstDash val="solid"/>
          </a:ln>
        </p:spPr>
      </p:sp>
      <p:sp>
        <p:nvSpPr>
          <p:cNvPr id="53" name="Text 51"/>
          <p:cNvSpPr/>
          <p:nvPr/>
        </p:nvSpPr>
        <p:spPr>
          <a:xfrm>
            <a:off x="2103120" y="5705856"/>
            <a:ext cx="10972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-.300</a:t>
            </a:r>
            <a:endParaRPr lang="en-US" sz="850" dirty="0"/>
          </a:p>
        </p:txBody>
      </p:sp>
      <p:sp>
        <p:nvSpPr>
          <p:cNvPr id="54" name="Shape 52"/>
          <p:cNvSpPr/>
          <p:nvPr/>
        </p:nvSpPr>
        <p:spPr>
          <a:xfrm>
            <a:off x="3200400" y="5705856"/>
            <a:ext cx="1207008" cy="292608"/>
          </a:xfrm>
          <a:prstGeom prst="rect">
            <a:avLst/>
          </a:prstGeom>
          <a:solidFill>
            <a:srgbClr val="D8E8FF"/>
          </a:solidFill>
          <a:ln w="6350">
            <a:solidFill>
              <a:srgbClr val="C0C8E0"/>
            </a:solidFill>
            <a:prstDash val="solid"/>
          </a:ln>
        </p:spPr>
      </p:sp>
      <p:sp>
        <p:nvSpPr>
          <p:cNvPr id="55" name="Text 53"/>
          <p:cNvSpPr/>
          <p:nvPr/>
        </p:nvSpPr>
        <p:spPr>
          <a:xfrm>
            <a:off x="3200400" y="5705856"/>
            <a:ext cx="120700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.004</a:t>
            </a:r>
            <a:endParaRPr lang="en-US" sz="850" dirty="0"/>
          </a:p>
        </p:txBody>
      </p:sp>
      <p:sp>
        <p:nvSpPr>
          <p:cNvPr id="56" name="Shape 54"/>
          <p:cNvSpPr/>
          <p:nvPr/>
        </p:nvSpPr>
        <p:spPr>
          <a:xfrm>
            <a:off x="4681728" y="1005840"/>
            <a:ext cx="4160520" cy="4041648"/>
          </a:xfrm>
          <a:prstGeom prst="roundRect">
            <a:avLst>
              <a:gd name="adj" fmla="val 203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7" name="Shape 55"/>
          <p:cNvSpPr/>
          <p:nvPr/>
        </p:nvSpPr>
        <p:spPr>
          <a:xfrm>
            <a:off x="4754880" y="1078992"/>
            <a:ext cx="4005072" cy="329184"/>
          </a:xfrm>
          <a:prstGeom prst="roundRect">
            <a:avLst>
              <a:gd name="adj" fmla="val 16667"/>
            </a:avLst>
          </a:prstGeom>
          <a:solidFill>
            <a:srgbClr val="0A0F1E"/>
          </a:solidFill>
          <a:ln w="12700">
            <a:solidFill>
              <a:srgbClr val="0A0F1E"/>
            </a:solidFill>
            <a:prstDash val="solid"/>
          </a:ln>
        </p:spPr>
      </p:sp>
      <p:sp>
        <p:nvSpPr>
          <p:cNvPr id="58" name="Text 56"/>
          <p:cNvSpPr/>
          <p:nvPr/>
        </p:nvSpPr>
        <p:spPr>
          <a:xfrm>
            <a:off x="4754880" y="1078992"/>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Polynomial Contrasts - Trend Analysis</a:t>
            </a:r>
            <a:endParaRPr lang="en-US" sz="1100" dirty="0"/>
          </a:p>
        </p:txBody>
      </p:sp>
      <p:sp>
        <p:nvSpPr>
          <p:cNvPr id="59" name="Text 57"/>
          <p:cNvSpPr/>
          <p:nvPr/>
        </p:nvSpPr>
        <p:spPr>
          <a:xfrm>
            <a:off x="4773168" y="1481328"/>
            <a:ext cx="3931920" cy="54864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Polynomial contrasts test whether the pattern of change across time points follows a LINEAR, QUADRATIC, or CUBIC trend. More specific and powerful than pairwise comparisons when trend shape matters.</a:t>
            </a:r>
            <a:endParaRPr lang="en-US" sz="950" dirty="0"/>
          </a:p>
        </p:txBody>
      </p:sp>
      <p:sp>
        <p:nvSpPr>
          <p:cNvPr id="60" name="Shape 58"/>
          <p:cNvSpPr/>
          <p:nvPr/>
        </p:nvSpPr>
        <p:spPr>
          <a:xfrm>
            <a:off x="4773168" y="2103120"/>
            <a:ext cx="3931920" cy="868680"/>
          </a:xfrm>
          <a:prstGeom prst="roundRect">
            <a:avLst>
              <a:gd name="adj" fmla="val 6316"/>
            </a:avLst>
          </a:prstGeom>
          <a:solidFill>
            <a:srgbClr val="F0F4FF"/>
          </a:solidFill>
          <a:ln w="12700">
            <a:solidFill>
              <a:srgbClr val="12A374"/>
            </a:solidFill>
            <a:prstDash val="solid"/>
          </a:ln>
        </p:spPr>
      </p:sp>
      <p:sp>
        <p:nvSpPr>
          <p:cNvPr id="61" name="Shape 59"/>
          <p:cNvSpPr/>
          <p:nvPr/>
        </p:nvSpPr>
        <p:spPr>
          <a:xfrm>
            <a:off x="4846320" y="2176272"/>
            <a:ext cx="658368" cy="237744"/>
          </a:xfrm>
          <a:prstGeom prst="roundRect">
            <a:avLst>
              <a:gd name="adj" fmla="val 15385"/>
            </a:avLst>
          </a:prstGeom>
          <a:solidFill>
            <a:srgbClr val="12A374"/>
          </a:solidFill>
          <a:ln w="12700">
            <a:solidFill>
              <a:srgbClr val="12A374"/>
            </a:solidFill>
            <a:prstDash val="solid"/>
          </a:ln>
        </p:spPr>
      </p:sp>
      <p:sp>
        <p:nvSpPr>
          <p:cNvPr id="62" name="Text 60"/>
          <p:cNvSpPr/>
          <p:nvPr/>
        </p:nvSpPr>
        <p:spPr>
          <a:xfrm>
            <a:off x="4846320" y="2176272"/>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Linear</a:t>
            </a:r>
            <a:endParaRPr lang="en-US" sz="900" dirty="0"/>
          </a:p>
        </p:txBody>
      </p:sp>
      <p:sp>
        <p:nvSpPr>
          <p:cNvPr id="63" name="Text 61"/>
          <p:cNvSpPr/>
          <p:nvPr/>
        </p:nvSpPr>
        <p:spPr>
          <a:xfrm>
            <a:off x="5577840" y="2157984"/>
            <a:ext cx="3035808" cy="402336"/>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Satisfaction increases/decreases at a constant rate across quarters. If significant: consistent improvement trend over time.</a:t>
            </a:r>
            <a:endParaRPr lang="en-US" sz="900" dirty="0"/>
          </a:p>
        </p:txBody>
      </p:sp>
      <p:sp>
        <p:nvSpPr>
          <p:cNvPr id="64" name="Text 62"/>
          <p:cNvSpPr/>
          <p:nvPr/>
        </p:nvSpPr>
        <p:spPr>
          <a:xfrm>
            <a:off x="4846320" y="2523744"/>
            <a:ext cx="3749040" cy="201168"/>
          </a:xfrm>
          <a:prstGeom prst="rect">
            <a:avLst/>
          </a:prstGeom>
          <a:noFill/>
          <a:ln/>
        </p:spPr>
        <p:txBody>
          <a:bodyPr wrap="square" lIns="0" tIns="0" rIns="0" bIns="0" rtlCol="0" anchor="ctr"/>
          <a:lstStyle/>
          <a:p>
            <a:pPr indent="0" marL="0">
              <a:buNone/>
            </a:pPr>
            <a:r>
              <a:rPr lang="en-US" sz="850" i="1" dirty="0">
                <a:solidFill>
                  <a:srgbClr val="12A374"/>
                </a:solidFill>
                <a:latin typeface="Calibri" pitchFamily="34" charset="0"/>
                <a:ea typeface="Calibri" pitchFamily="34" charset="-122"/>
                <a:cs typeface="Calibri" pitchFamily="34" charset="-120"/>
              </a:rPr>
              <a:t>Contrast Type = Polynomial &gt; Linear</a:t>
            </a:r>
            <a:endParaRPr lang="en-US" sz="850" dirty="0"/>
          </a:p>
        </p:txBody>
      </p:sp>
      <p:sp>
        <p:nvSpPr>
          <p:cNvPr id="65" name="Shape 63"/>
          <p:cNvSpPr/>
          <p:nvPr/>
        </p:nvSpPr>
        <p:spPr>
          <a:xfrm>
            <a:off x="4773168" y="3063240"/>
            <a:ext cx="3931920" cy="868680"/>
          </a:xfrm>
          <a:prstGeom prst="roundRect">
            <a:avLst>
              <a:gd name="adj" fmla="val 6316"/>
            </a:avLst>
          </a:prstGeom>
          <a:solidFill>
            <a:srgbClr val="F0F4FF"/>
          </a:solidFill>
          <a:ln w="12700">
            <a:solidFill>
              <a:srgbClr val="C8920A"/>
            </a:solidFill>
            <a:prstDash val="solid"/>
          </a:ln>
        </p:spPr>
      </p:sp>
      <p:sp>
        <p:nvSpPr>
          <p:cNvPr id="66" name="Shape 64"/>
          <p:cNvSpPr/>
          <p:nvPr/>
        </p:nvSpPr>
        <p:spPr>
          <a:xfrm>
            <a:off x="4846320" y="3136392"/>
            <a:ext cx="658368" cy="237744"/>
          </a:xfrm>
          <a:prstGeom prst="roundRect">
            <a:avLst>
              <a:gd name="adj" fmla="val 15385"/>
            </a:avLst>
          </a:prstGeom>
          <a:solidFill>
            <a:srgbClr val="C8920A"/>
          </a:solidFill>
          <a:ln w="12700">
            <a:solidFill>
              <a:srgbClr val="C8920A"/>
            </a:solidFill>
            <a:prstDash val="solid"/>
          </a:ln>
        </p:spPr>
      </p:sp>
      <p:sp>
        <p:nvSpPr>
          <p:cNvPr id="67" name="Text 65"/>
          <p:cNvSpPr/>
          <p:nvPr/>
        </p:nvSpPr>
        <p:spPr>
          <a:xfrm>
            <a:off x="4846320" y="3136392"/>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Quadratic</a:t>
            </a:r>
            <a:endParaRPr lang="en-US" sz="900" dirty="0"/>
          </a:p>
        </p:txBody>
      </p:sp>
      <p:sp>
        <p:nvSpPr>
          <p:cNvPr id="68" name="Text 66"/>
          <p:cNvSpPr/>
          <p:nvPr/>
        </p:nvSpPr>
        <p:spPr>
          <a:xfrm>
            <a:off x="5577840" y="3118104"/>
            <a:ext cx="3035808" cy="402336"/>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Satisfaction increases then levels off (inverted U) or dips then recovers (U-shape). Common in training and intervention studies.</a:t>
            </a:r>
            <a:endParaRPr lang="en-US" sz="900" dirty="0"/>
          </a:p>
        </p:txBody>
      </p:sp>
      <p:sp>
        <p:nvSpPr>
          <p:cNvPr id="69" name="Text 67"/>
          <p:cNvSpPr/>
          <p:nvPr/>
        </p:nvSpPr>
        <p:spPr>
          <a:xfrm>
            <a:off x="4846320" y="3483864"/>
            <a:ext cx="3749040" cy="201168"/>
          </a:xfrm>
          <a:prstGeom prst="rect">
            <a:avLst/>
          </a:prstGeom>
          <a:noFill/>
          <a:ln/>
        </p:spPr>
        <p:txBody>
          <a:bodyPr wrap="square" lIns="0" tIns="0" rIns="0" bIns="0" rtlCol="0" anchor="ctr"/>
          <a:lstStyle/>
          <a:p>
            <a:pPr indent="0" marL="0">
              <a:buNone/>
            </a:pPr>
            <a:r>
              <a:rPr lang="en-US" sz="850" i="1" dirty="0">
                <a:solidFill>
                  <a:srgbClr val="C8920A"/>
                </a:solidFill>
                <a:latin typeface="Calibri" pitchFamily="34" charset="0"/>
                <a:ea typeface="Calibri" pitchFamily="34" charset="-122"/>
                <a:cs typeface="Calibri" pitchFamily="34" charset="-120"/>
              </a:rPr>
              <a:t>Contrast Type = Polynomial &gt; Quadratic</a:t>
            </a:r>
            <a:endParaRPr lang="en-US" sz="850" dirty="0"/>
          </a:p>
        </p:txBody>
      </p:sp>
      <p:sp>
        <p:nvSpPr>
          <p:cNvPr id="70" name="Shape 68"/>
          <p:cNvSpPr/>
          <p:nvPr/>
        </p:nvSpPr>
        <p:spPr>
          <a:xfrm>
            <a:off x="4773168" y="4023360"/>
            <a:ext cx="3931920" cy="868680"/>
          </a:xfrm>
          <a:prstGeom prst="roundRect">
            <a:avLst>
              <a:gd name="adj" fmla="val 6316"/>
            </a:avLst>
          </a:prstGeom>
          <a:solidFill>
            <a:srgbClr val="F0F4FF"/>
          </a:solidFill>
          <a:ln w="12700">
            <a:solidFill>
              <a:srgbClr val="6B52C8"/>
            </a:solidFill>
            <a:prstDash val="solid"/>
          </a:ln>
        </p:spPr>
      </p:sp>
      <p:sp>
        <p:nvSpPr>
          <p:cNvPr id="71" name="Shape 69"/>
          <p:cNvSpPr/>
          <p:nvPr/>
        </p:nvSpPr>
        <p:spPr>
          <a:xfrm>
            <a:off x="4846320" y="4096512"/>
            <a:ext cx="658368" cy="237744"/>
          </a:xfrm>
          <a:prstGeom prst="roundRect">
            <a:avLst>
              <a:gd name="adj" fmla="val 15385"/>
            </a:avLst>
          </a:prstGeom>
          <a:solidFill>
            <a:srgbClr val="6B52C8"/>
          </a:solidFill>
          <a:ln w="12700">
            <a:solidFill>
              <a:srgbClr val="6B52C8"/>
            </a:solidFill>
            <a:prstDash val="solid"/>
          </a:ln>
        </p:spPr>
      </p:sp>
      <p:sp>
        <p:nvSpPr>
          <p:cNvPr id="72" name="Text 70"/>
          <p:cNvSpPr/>
          <p:nvPr/>
        </p:nvSpPr>
        <p:spPr>
          <a:xfrm>
            <a:off x="4846320" y="4096512"/>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Cubic</a:t>
            </a:r>
            <a:endParaRPr lang="en-US" sz="900" dirty="0"/>
          </a:p>
        </p:txBody>
      </p:sp>
      <p:sp>
        <p:nvSpPr>
          <p:cNvPr id="73" name="Text 71"/>
          <p:cNvSpPr/>
          <p:nvPr/>
        </p:nvSpPr>
        <p:spPr>
          <a:xfrm>
            <a:off x="5577840" y="4078224"/>
            <a:ext cx="3035808" cy="402336"/>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More complex S-curve or double-bend pattern. Rarely meaningful in business - often noise. Interpret cautiously.</a:t>
            </a:r>
            <a:endParaRPr lang="en-US" sz="900" dirty="0"/>
          </a:p>
        </p:txBody>
      </p:sp>
      <p:sp>
        <p:nvSpPr>
          <p:cNvPr id="74" name="Text 72"/>
          <p:cNvSpPr/>
          <p:nvPr/>
        </p:nvSpPr>
        <p:spPr>
          <a:xfrm>
            <a:off x="4846320" y="4443984"/>
            <a:ext cx="3749040" cy="201168"/>
          </a:xfrm>
          <a:prstGeom prst="rect">
            <a:avLst/>
          </a:prstGeom>
          <a:noFill/>
          <a:ln/>
        </p:spPr>
        <p:txBody>
          <a:bodyPr wrap="square" lIns="0" tIns="0" rIns="0" bIns="0" rtlCol="0" anchor="ctr"/>
          <a:lstStyle/>
          <a:p>
            <a:pPr indent="0" marL="0">
              <a:buNone/>
            </a:pPr>
            <a:r>
              <a:rPr lang="en-US" sz="850" i="1" dirty="0">
                <a:solidFill>
                  <a:srgbClr val="6B52C8"/>
                </a:solidFill>
                <a:latin typeface="Calibri" pitchFamily="34" charset="0"/>
                <a:ea typeface="Calibri" pitchFamily="34" charset="-122"/>
                <a:cs typeface="Calibri" pitchFamily="34" charset="-120"/>
              </a:rPr>
              <a:t>Contrast Type = Polynomial &gt; Cubic</a:t>
            </a:r>
            <a:endParaRPr lang="en-US" sz="850" dirty="0"/>
          </a:p>
        </p:txBody>
      </p:sp>
      <p:sp>
        <p:nvSpPr>
          <p:cNvPr id="75" name="Text 73"/>
          <p:cNvSpPr/>
          <p:nvPr/>
        </p:nvSpPr>
        <p:spPr>
          <a:xfrm>
            <a:off x="4773168" y="4773168"/>
            <a:ext cx="3931920" cy="365760"/>
          </a:xfrm>
          <a:prstGeom prst="rect">
            <a:avLst/>
          </a:prstGeom>
          <a:noFill/>
          <a:ln/>
        </p:spPr>
        <p:txBody>
          <a:bodyPr wrap="square" lIns="0" tIns="0" rIns="0" bIns="0" rtlCol="0" anchor="ctr"/>
          <a:lstStyle/>
          <a:p>
            <a:pPr indent="0" marL="0">
              <a:buNone/>
            </a:pPr>
            <a:r>
              <a:rPr lang="en-US" sz="900" i="1" dirty="0">
                <a:solidFill>
                  <a:srgbClr val="1A2D6B"/>
                </a:solidFill>
                <a:latin typeface="Calibri" pitchFamily="34" charset="0"/>
                <a:ea typeface="Calibri" pitchFamily="34" charset="-122"/>
                <a:cs typeface="Calibri" pitchFamily="34" charset="-120"/>
              </a:rPr>
              <a:t>UAC Result: Linear F(1,199)=84.2, p&lt;.001, η²=.297 - STRONG. Quadratic F(1,199)=2.14, p=.145 - non-significant. Satisfaction follows a consistent linear upward trend - no plateau or reversal.</a:t>
            </a:r>
            <a:endParaRPr lang="en-US" sz="900" dirty="0"/>
          </a:p>
        </p:txBody>
      </p:sp>
      <p:sp>
        <p:nvSpPr>
          <p:cNvPr id="76" name="Shape 74"/>
          <p:cNvSpPr/>
          <p:nvPr/>
        </p:nvSpPr>
        <p:spPr>
          <a:xfrm>
            <a:off x="256032" y="5120640"/>
            <a:ext cx="8631936" cy="347472"/>
          </a:xfrm>
          <a:prstGeom prst="roundRect">
            <a:avLst>
              <a:gd name="adj" fmla="val 15789"/>
            </a:avLst>
          </a:prstGeom>
          <a:solidFill>
            <a:srgbClr val="FFFBEC"/>
          </a:solidFill>
          <a:ln w="19050">
            <a:solidFill>
              <a:srgbClr val="C8920A"/>
            </a:solidFill>
            <a:prstDash val="solid"/>
          </a:ln>
        </p:spPr>
      </p:sp>
      <p:sp>
        <p:nvSpPr>
          <p:cNvPr id="77" name="Text 75"/>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Contrasts in GLM: Click the Contrasts button in the GLM Repeated Measures dialog. Select the within-subjects factor and choose Polynomial. Request Linear, Quadratic, and Cubic simultaneously.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2D6B">
              <a:alpha val="20000"/>
            </a:srgbClr>
          </a:solidFill>
          <a:ln w="12700">
            <a:solidFill>
              <a:srgbClr val="1A2D6B"/>
            </a:solidFill>
            <a:prstDash val="solid"/>
          </a:ln>
        </p:spPr>
      </p:sp>
      <p:sp>
        <p:nvSpPr>
          <p:cNvPr id="3" name="Shape 1"/>
          <p:cNvSpPr/>
          <p:nvPr/>
        </p:nvSpPr>
        <p:spPr>
          <a:xfrm>
            <a:off x="-1097280" y="3200400"/>
            <a:ext cx="3657600" cy="3657600"/>
          </a:xfrm>
          <a:prstGeom prst="ellipse">
            <a:avLst/>
          </a:prstGeom>
          <a:solidFill>
            <a:srgbClr val="C8920A">
              <a:alpha val="12000"/>
            </a:srgbClr>
          </a:solidFill>
          <a:ln w="12700">
            <a:solidFill>
              <a:srgbClr val="C8920A"/>
            </a:solidFill>
            <a:prstDash val="solid"/>
          </a:ln>
        </p:spPr>
      </p:sp>
      <p:sp>
        <p:nvSpPr>
          <p:cNvPr id="4" name="Shape 2"/>
          <p:cNvSpPr/>
          <p:nvPr/>
        </p:nvSpPr>
        <p:spPr>
          <a:xfrm>
            <a:off x="4114800" y="1371600"/>
            <a:ext cx="1828800" cy="1828800"/>
          </a:xfrm>
          <a:prstGeom prst="ellipse">
            <a:avLst/>
          </a:prstGeom>
          <a:solidFill>
            <a:srgbClr val="0A6E4F">
              <a:alpha val="10000"/>
            </a:srgbClr>
          </a:solidFill>
          <a:ln w="12700">
            <a:solidFill>
              <a:srgbClr val="0A6E4F"/>
            </a:solidFill>
            <a:prstDash val="solid"/>
          </a:ln>
        </p:spPr>
      </p:sp>
      <p:sp>
        <p:nvSpPr>
          <p:cNvPr id="5" name="Text 3"/>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C8920A"/>
                </a:solidFill>
                <a:latin typeface="Calibri" pitchFamily="34" charset="0"/>
                <a:ea typeface="Calibri" pitchFamily="34" charset="-122"/>
                <a:cs typeface="Calibri" pitchFamily="34" charset="-120"/>
              </a:rPr>
              <a:t>MODULE 5  |  SECTION 03</a:t>
            </a:r>
            <a:endParaRPr lang="en-US" sz="1200" dirty="0"/>
          </a:p>
        </p:txBody>
      </p:sp>
      <p:sp>
        <p:nvSpPr>
          <p:cNvPr id="6" name="Text 4"/>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Multiple Linear Regression</a:t>
            </a:r>
            <a:endParaRPr lang="en-US" sz="3800" dirty="0"/>
          </a:p>
        </p:txBody>
      </p:sp>
      <p:sp>
        <p:nvSpPr>
          <p:cNvPr id="7" name="Text 5"/>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B0C0E8"/>
                </a:solidFill>
                <a:latin typeface="Calibri" pitchFamily="34" charset="0"/>
                <a:ea typeface="Calibri" pitchFamily="34" charset="-122"/>
                <a:cs typeface="Calibri" pitchFamily="34" charset="-120"/>
              </a:rPr>
              <a:t>Predicting a scale outcome from multiple predictor variables simultaneously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0F1E"/>
          </a:solidFill>
          <a:ln w="12700">
            <a:solidFill>
              <a:srgbClr val="0A0F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Multiple Linear Regression - Analyze &gt; Regression &gt; Linear</a:t>
            </a:r>
            <a:endParaRPr lang="en-US" sz="2100" dirty="0"/>
          </a:p>
        </p:txBody>
      </p:sp>
      <p:sp>
        <p:nvSpPr>
          <p:cNvPr id="4" name="Shape 2"/>
          <p:cNvSpPr/>
          <p:nvPr/>
        </p:nvSpPr>
        <p:spPr>
          <a:xfrm>
            <a:off x="256032" y="1005840"/>
            <a:ext cx="8631936" cy="658368"/>
          </a:xfrm>
          <a:prstGeom prst="roundRect">
            <a:avLst>
              <a:gd name="adj" fmla="val 11111"/>
            </a:avLst>
          </a:prstGeom>
          <a:solidFill>
            <a:srgbClr val="E8EEF8"/>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94360"/>
          </a:xfrm>
          <a:prstGeom prst="rect">
            <a:avLst/>
          </a:prstGeom>
          <a:noFill/>
          <a:ln/>
        </p:spPr>
        <p:txBody>
          <a:bodyPr wrap="square" lIns="0" tIns="0" rIns="0" bIns="0" rtlCol="0" anchor="ctr"/>
          <a:lstStyle/>
          <a:p>
            <a:pPr indent="0" marL="0">
              <a:buNone/>
            </a:pPr>
            <a:r>
              <a:rPr lang="en-US" sz="1050" b="1" dirty="0">
                <a:solidFill>
                  <a:srgbClr val="1A2D6B"/>
                </a:solidFill>
                <a:latin typeface="Calibri" pitchFamily="34" charset="0"/>
                <a:ea typeface="Calibri" pitchFamily="34" charset="-122"/>
                <a:cs typeface="Calibri" pitchFamily="34" charset="-120"/>
              </a:rPr>
              <a:t>Purpose: </a:t>
            </a:r>
            <a:pPr indent="0" marL="0">
              <a:buNone/>
            </a:pPr>
            <a:r>
              <a:rPr lang="en-US" sz="1050" dirty="0">
                <a:solidFill>
                  <a:srgbClr val="1A2038"/>
                </a:solidFill>
                <a:latin typeface="Calibri" pitchFamily="34" charset="0"/>
                <a:ea typeface="Calibri" pitchFamily="34" charset="-122"/>
                <a:cs typeface="Calibri" pitchFamily="34" charset="-120"/>
              </a:rPr>
              <a:t>Identifies which combination of predictor variables (IVs) best predicts a scale outcome variable (DV), and quantifies each predictor's unique contribution while controlling for all others. Answer: What predicts UAC Foods consumer satisfaction?</a:t>
            </a:r>
            <a:endParaRPr lang="en-US" sz="1050" dirty="0"/>
          </a:p>
        </p:txBody>
      </p:sp>
      <p:sp>
        <p:nvSpPr>
          <p:cNvPr id="6" name="Shape 4"/>
          <p:cNvSpPr/>
          <p:nvPr/>
        </p:nvSpPr>
        <p:spPr>
          <a:xfrm>
            <a:off x="256032" y="1737360"/>
            <a:ext cx="2651760" cy="3337560"/>
          </a:xfrm>
          <a:prstGeom prst="roundRect">
            <a:avLst>
              <a:gd name="adj" fmla="val 3103"/>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810512"/>
            <a:ext cx="2505456" cy="329184"/>
          </a:xfrm>
          <a:prstGeom prst="roundRect">
            <a:avLst>
              <a:gd name="adj" fmla="val 16667"/>
            </a:avLst>
          </a:prstGeom>
          <a:solidFill>
            <a:srgbClr val="1A2D6B"/>
          </a:solidFill>
          <a:ln w="12700">
            <a:solidFill>
              <a:srgbClr val="1A2D6B"/>
            </a:solidFill>
            <a:prstDash val="solid"/>
          </a:ln>
        </p:spPr>
      </p:sp>
      <p:sp>
        <p:nvSpPr>
          <p:cNvPr id="8" name="Text 6"/>
          <p:cNvSpPr/>
          <p:nvPr/>
        </p:nvSpPr>
        <p:spPr>
          <a:xfrm>
            <a:off x="329184" y="1810512"/>
            <a:ext cx="250545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Steps</a:t>
            </a:r>
            <a:endParaRPr lang="en-US" sz="1100" dirty="0"/>
          </a:p>
        </p:txBody>
      </p:sp>
      <p:sp>
        <p:nvSpPr>
          <p:cNvPr id="9" name="Shape 7"/>
          <p:cNvSpPr/>
          <p:nvPr/>
        </p:nvSpPr>
        <p:spPr>
          <a:xfrm>
            <a:off x="347472" y="2231136"/>
            <a:ext cx="256032" cy="256032"/>
          </a:xfrm>
          <a:prstGeom prst="ellipse">
            <a:avLst/>
          </a:prstGeom>
          <a:solidFill>
            <a:srgbClr val="1A2D6B"/>
          </a:solidFill>
          <a:ln w="12700">
            <a:solidFill>
              <a:srgbClr val="1A2D6B"/>
            </a:solidFill>
            <a:prstDash val="solid"/>
          </a:ln>
        </p:spPr>
      </p:sp>
      <p:sp>
        <p:nvSpPr>
          <p:cNvPr id="10" name="Text 8"/>
          <p:cNvSpPr/>
          <p:nvPr/>
        </p:nvSpPr>
        <p:spPr>
          <a:xfrm>
            <a:off x="347472" y="2231136"/>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1" name="Text 9"/>
          <p:cNvSpPr/>
          <p:nvPr/>
        </p:nvSpPr>
        <p:spPr>
          <a:xfrm>
            <a:off x="676656" y="2249424"/>
            <a:ext cx="2121408" cy="347472"/>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Analyze &gt; Regression &gt; Linear</a:t>
            </a:r>
            <a:endParaRPr lang="en-US" sz="850" dirty="0"/>
          </a:p>
        </p:txBody>
      </p:sp>
      <p:sp>
        <p:nvSpPr>
          <p:cNvPr id="12" name="Shape 10"/>
          <p:cNvSpPr/>
          <p:nvPr/>
        </p:nvSpPr>
        <p:spPr>
          <a:xfrm>
            <a:off x="347472" y="2633472"/>
            <a:ext cx="256032" cy="256032"/>
          </a:xfrm>
          <a:prstGeom prst="ellipse">
            <a:avLst/>
          </a:prstGeom>
          <a:solidFill>
            <a:srgbClr val="1A2D6B"/>
          </a:solidFill>
          <a:ln w="12700">
            <a:solidFill>
              <a:srgbClr val="1A2D6B"/>
            </a:solidFill>
            <a:prstDash val="solid"/>
          </a:ln>
        </p:spPr>
      </p:sp>
      <p:sp>
        <p:nvSpPr>
          <p:cNvPr id="13" name="Text 11"/>
          <p:cNvSpPr/>
          <p:nvPr/>
        </p:nvSpPr>
        <p:spPr>
          <a:xfrm>
            <a:off x="347472" y="2633472"/>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4" name="Text 12"/>
          <p:cNvSpPr/>
          <p:nvPr/>
        </p:nvSpPr>
        <p:spPr>
          <a:xfrm>
            <a:off x="676656" y="2651760"/>
            <a:ext cx="2121408" cy="347472"/>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Move sat_mean to Dependent box</a:t>
            </a:r>
            <a:endParaRPr lang="en-US" sz="850" dirty="0"/>
          </a:p>
        </p:txBody>
      </p:sp>
      <p:sp>
        <p:nvSpPr>
          <p:cNvPr id="15" name="Shape 13"/>
          <p:cNvSpPr/>
          <p:nvPr/>
        </p:nvSpPr>
        <p:spPr>
          <a:xfrm>
            <a:off x="347472" y="3035808"/>
            <a:ext cx="256032" cy="256032"/>
          </a:xfrm>
          <a:prstGeom prst="ellipse">
            <a:avLst/>
          </a:prstGeom>
          <a:solidFill>
            <a:srgbClr val="1A2D6B"/>
          </a:solidFill>
          <a:ln w="12700">
            <a:solidFill>
              <a:srgbClr val="1A2D6B"/>
            </a:solidFill>
            <a:prstDash val="solid"/>
          </a:ln>
        </p:spPr>
      </p:sp>
      <p:sp>
        <p:nvSpPr>
          <p:cNvPr id="16" name="Text 14"/>
          <p:cNvSpPr/>
          <p:nvPr/>
        </p:nvSpPr>
        <p:spPr>
          <a:xfrm>
            <a:off x="347472" y="3035808"/>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7" name="Text 15"/>
          <p:cNvSpPr/>
          <p:nvPr/>
        </p:nvSpPr>
        <p:spPr>
          <a:xfrm>
            <a:off x="676656" y="3054096"/>
            <a:ext cx="2121408" cy="347472"/>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Move predictors to Independent(s): age_in_years, monthly_salary_ngn, gender (dummy), edu_3cat, uac_product_pref (dummies)</a:t>
            </a:r>
            <a:endParaRPr lang="en-US" sz="850" dirty="0"/>
          </a:p>
        </p:txBody>
      </p:sp>
      <p:sp>
        <p:nvSpPr>
          <p:cNvPr id="18" name="Shape 16"/>
          <p:cNvSpPr/>
          <p:nvPr/>
        </p:nvSpPr>
        <p:spPr>
          <a:xfrm>
            <a:off x="347472" y="3438144"/>
            <a:ext cx="256032" cy="256032"/>
          </a:xfrm>
          <a:prstGeom prst="ellipse">
            <a:avLst/>
          </a:prstGeom>
          <a:solidFill>
            <a:srgbClr val="1A2D6B"/>
          </a:solidFill>
          <a:ln w="12700">
            <a:solidFill>
              <a:srgbClr val="1A2D6B"/>
            </a:solidFill>
            <a:prstDash val="solid"/>
          </a:ln>
        </p:spPr>
      </p:sp>
      <p:sp>
        <p:nvSpPr>
          <p:cNvPr id="19" name="Text 17"/>
          <p:cNvSpPr/>
          <p:nvPr/>
        </p:nvSpPr>
        <p:spPr>
          <a:xfrm>
            <a:off x="347472" y="3438144"/>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676656" y="3456432"/>
            <a:ext cx="2121408" cy="347472"/>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Click Statistics: Estimates, CI, Model fit, Descriptives, Collinearity diagnostics</a:t>
            </a:r>
            <a:endParaRPr lang="en-US" sz="850" dirty="0"/>
          </a:p>
        </p:txBody>
      </p:sp>
      <p:sp>
        <p:nvSpPr>
          <p:cNvPr id="21" name="Shape 19"/>
          <p:cNvSpPr/>
          <p:nvPr/>
        </p:nvSpPr>
        <p:spPr>
          <a:xfrm>
            <a:off x="347472" y="3840480"/>
            <a:ext cx="256032" cy="256032"/>
          </a:xfrm>
          <a:prstGeom prst="ellipse">
            <a:avLst/>
          </a:prstGeom>
          <a:solidFill>
            <a:srgbClr val="1A2D6B"/>
          </a:solidFill>
          <a:ln w="12700">
            <a:solidFill>
              <a:srgbClr val="1A2D6B"/>
            </a:solidFill>
            <a:prstDash val="solid"/>
          </a:ln>
        </p:spPr>
      </p:sp>
      <p:sp>
        <p:nvSpPr>
          <p:cNvPr id="22" name="Text 20"/>
          <p:cNvSpPr/>
          <p:nvPr/>
        </p:nvSpPr>
        <p:spPr>
          <a:xfrm>
            <a:off x="347472" y="3840480"/>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3" name="Text 21"/>
          <p:cNvSpPr/>
          <p:nvPr/>
        </p:nvSpPr>
        <p:spPr>
          <a:xfrm>
            <a:off x="676656" y="3858768"/>
            <a:ext cx="2121408" cy="347472"/>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Click Plots: Histogram + Normal P-P of residuals. ZPRED (x) vs ZRESID (y) scatterplot</a:t>
            </a:r>
            <a:endParaRPr lang="en-US" sz="850" dirty="0"/>
          </a:p>
        </p:txBody>
      </p:sp>
      <p:sp>
        <p:nvSpPr>
          <p:cNvPr id="24" name="Shape 22"/>
          <p:cNvSpPr/>
          <p:nvPr/>
        </p:nvSpPr>
        <p:spPr>
          <a:xfrm>
            <a:off x="347472" y="4242816"/>
            <a:ext cx="256032" cy="256032"/>
          </a:xfrm>
          <a:prstGeom prst="ellipse">
            <a:avLst/>
          </a:prstGeom>
          <a:solidFill>
            <a:srgbClr val="1A2D6B"/>
          </a:solidFill>
          <a:ln w="12700">
            <a:solidFill>
              <a:srgbClr val="1A2D6B"/>
            </a:solidFill>
            <a:prstDash val="solid"/>
          </a:ln>
        </p:spPr>
      </p:sp>
      <p:sp>
        <p:nvSpPr>
          <p:cNvPr id="25" name="Text 23"/>
          <p:cNvSpPr/>
          <p:nvPr/>
        </p:nvSpPr>
        <p:spPr>
          <a:xfrm>
            <a:off x="347472" y="4242816"/>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6" name="Text 24"/>
          <p:cNvSpPr/>
          <p:nvPr/>
        </p:nvSpPr>
        <p:spPr>
          <a:xfrm>
            <a:off x="676656" y="4261104"/>
            <a:ext cx="2121408" cy="347472"/>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Click Save: Predicted values, Standardised residuals</a:t>
            </a:r>
            <a:endParaRPr lang="en-US" sz="850" dirty="0"/>
          </a:p>
        </p:txBody>
      </p:sp>
      <p:sp>
        <p:nvSpPr>
          <p:cNvPr id="27" name="Shape 25"/>
          <p:cNvSpPr/>
          <p:nvPr/>
        </p:nvSpPr>
        <p:spPr>
          <a:xfrm>
            <a:off x="347472" y="4645152"/>
            <a:ext cx="256032" cy="256032"/>
          </a:xfrm>
          <a:prstGeom prst="ellipse">
            <a:avLst/>
          </a:prstGeom>
          <a:solidFill>
            <a:srgbClr val="1A2D6B"/>
          </a:solidFill>
          <a:ln w="12700">
            <a:solidFill>
              <a:srgbClr val="1A2D6B"/>
            </a:solidFill>
            <a:prstDash val="solid"/>
          </a:ln>
        </p:spPr>
      </p:sp>
      <p:sp>
        <p:nvSpPr>
          <p:cNvPr id="28" name="Text 26"/>
          <p:cNvSpPr/>
          <p:nvPr/>
        </p:nvSpPr>
        <p:spPr>
          <a:xfrm>
            <a:off x="347472" y="4645152"/>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29" name="Text 27"/>
          <p:cNvSpPr/>
          <p:nvPr/>
        </p:nvSpPr>
        <p:spPr>
          <a:xfrm>
            <a:off x="676656" y="4663440"/>
            <a:ext cx="2121408" cy="347472"/>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Click OK</a:t>
            </a:r>
            <a:endParaRPr lang="en-US" sz="850" dirty="0"/>
          </a:p>
        </p:txBody>
      </p:sp>
      <p:sp>
        <p:nvSpPr>
          <p:cNvPr id="30" name="Shape 28"/>
          <p:cNvSpPr/>
          <p:nvPr/>
        </p:nvSpPr>
        <p:spPr>
          <a:xfrm>
            <a:off x="3035808" y="1737360"/>
            <a:ext cx="5852160" cy="3337560"/>
          </a:xfrm>
          <a:prstGeom prst="roundRect">
            <a:avLst>
              <a:gd name="adj" fmla="val 246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31" name="Shape 29"/>
          <p:cNvSpPr/>
          <p:nvPr/>
        </p:nvSpPr>
        <p:spPr>
          <a:xfrm>
            <a:off x="3108960" y="1810512"/>
            <a:ext cx="5687568" cy="329184"/>
          </a:xfrm>
          <a:prstGeom prst="roundRect">
            <a:avLst>
              <a:gd name="adj" fmla="val 16667"/>
            </a:avLst>
          </a:prstGeom>
          <a:solidFill>
            <a:srgbClr val="0A0F1E"/>
          </a:solidFill>
          <a:ln w="12700">
            <a:solidFill>
              <a:srgbClr val="0A0F1E"/>
            </a:solidFill>
            <a:prstDash val="solid"/>
          </a:ln>
        </p:spPr>
      </p:sp>
      <p:sp>
        <p:nvSpPr>
          <p:cNvPr id="32" name="Text 30"/>
          <p:cNvSpPr/>
          <p:nvPr/>
        </p:nvSpPr>
        <p:spPr>
          <a:xfrm>
            <a:off x="3108960" y="1810512"/>
            <a:ext cx="5687568" cy="329184"/>
          </a:xfrm>
          <a:prstGeom prst="rect">
            <a:avLst/>
          </a:prstGeom>
          <a:noFill/>
          <a:ln/>
        </p:spPr>
        <p:txBody>
          <a:bodyPr wrap="square" lIns="0" tIns="0" rIns="0" bIns="0" rtlCol="0" anchor="ctr"/>
          <a:lstStyle/>
          <a:p>
            <a:pPr algn="ctr" indent="0" marL="0">
              <a:buNone/>
            </a:pPr>
            <a:r>
              <a:rPr lang="en-US" sz="1050" b="1" dirty="0">
                <a:solidFill>
                  <a:srgbClr val="F0C040"/>
                </a:solidFill>
                <a:latin typeface="Calibri" pitchFamily="34" charset="0"/>
                <a:ea typeface="Calibri" pitchFamily="34" charset="-122"/>
                <a:cs typeface="Calibri" pitchFamily="34" charset="-120"/>
              </a:rPr>
              <a:t>UAC Foods Regression Output - Predictors of sat_mean</a:t>
            </a:r>
            <a:endParaRPr lang="en-US" sz="1050" dirty="0"/>
          </a:p>
        </p:txBody>
      </p:sp>
      <p:sp>
        <p:nvSpPr>
          <p:cNvPr id="33" name="Text 31"/>
          <p:cNvSpPr/>
          <p:nvPr/>
        </p:nvSpPr>
        <p:spPr>
          <a:xfrm>
            <a:off x="3145536" y="2212848"/>
            <a:ext cx="5577840" cy="219456"/>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Model Summary:</a:t>
            </a:r>
            <a:endParaRPr lang="en-US" sz="950" dirty="0"/>
          </a:p>
        </p:txBody>
      </p:sp>
      <p:sp>
        <p:nvSpPr>
          <p:cNvPr id="34" name="Shape 32"/>
          <p:cNvSpPr/>
          <p:nvPr/>
        </p:nvSpPr>
        <p:spPr>
          <a:xfrm>
            <a:off x="3145536" y="2450592"/>
            <a:ext cx="731520" cy="292608"/>
          </a:xfrm>
          <a:prstGeom prst="rect">
            <a:avLst/>
          </a:prstGeom>
          <a:solidFill>
            <a:srgbClr val="0A0F1E"/>
          </a:solidFill>
          <a:ln w="12700">
            <a:solidFill>
              <a:srgbClr val="0A0F1E"/>
            </a:solidFill>
            <a:prstDash val="solid"/>
          </a:ln>
        </p:spPr>
      </p:sp>
      <p:sp>
        <p:nvSpPr>
          <p:cNvPr id="35" name="Text 33"/>
          <p:cNvSpPr/>
          <p:nvPr/>
        </p:nvSpPr>
        <p:spPr>
          <a:xfrm>
            <a:off x="3145536" y="2450592"/>
            <a:ext cx="7315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a:t>
            </a:r>
            <a:endParaRPr lang="en-US" sz="850" dirty="0"/>
          </a:p>
        </p:txBody>
      </p:sp>
      <p:sp>
        <p:nvSpPr>
          <p:cNvPr id="36" name="Shape 34"/>
          <p:cNvSpPr/>
          <p:nvPr/>
        </p:nvSpPr>
        <p:spPr>
          <a:xfrm>
            <a:off x="3877056" y="2450592"/>
            <a:ext cx="658368" cy="292608"/>
          </a:xfrm>
          <a:prstGeom prst="rect">
            <a:avLst/>
          </a:prstGeom>
          <a:solidFill>
            <a:srgbClr val="0A0F1E"/>
          </a:solidFill>
          <a:ln w="12700">
            <a:solidFill>
              <a:srgbClr val="0A0F1E"/>
            </a:solidFill>
            <a:prstDash val="solid"/>
          </a:ln>
        </p:spPr>
      </p:sp>
      <p:sp>
        <p:nvSpPr>
          <p:cNvPr id="37" name="Text 35"/>
          <p:cNvSpPr/>
          <p:nvPr/>
        </p:nvSpPr>
        <p:spPr>
          <a:xfrm>
            <a:off x="3877056" y="2450592"/>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R²</a:t>
            </a:r>
            <a:endParaRPr lang="en-US" sz="850" dirty="0"/>
          </a:p>
        </p:txBody>
      </p:sp>
      <p:sp>
        <p:nvSpPr>
          <p:cNvPr id="38" name="Shape 36"/>
          <p:cNvSpPr/>
          <p:nvPr/>
        </p:nvSpPr>
        <p:spPr>
          <a:xfrm>
            <a:off x="4535424" y="2450592"/>
            <a:ext cx="658368" cy="292608"/>
          </a:xfrm>
          <a:prstGeom prst="rect">
            <a:avLst/>
          </a:prstGeom>
          <a:solidFill>
            <a:srgbClr val="0A0F1E"/>
          </a:solidFill>
          <a:ln w="12700">
            <a:solidFill>
              <a:srgbClr val="0A0F1E"/>
            </a:solidFill>
            <a:prstDash val="solid"/>
          </a:ln>
        </p:spPr>
      </p:sp>
      <p:sp>
        <p:nvSpPr>
          <p:cNvPr id="39" name="Text 37"/>
          <p:cNvSpPr/>
          <p:nvPr/>
        </p:nvSpPr>
        <p:spPr>
          <a:xfrm>
            <a:off x="4535424" y="2450592"/>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Adj. R²</a:t>
            </a:r>
            <a:endParaRPr lang="en-US" sz="850" dirty="0"/>
          </a:p>
        </p:txBody>
      </p:sp>
      <p:sp>
        <p:nvSpPr>
          <p:cNvPr id="40" name="Shape 38"/>
          <p:cNvSpPr/>
          <p:nvPr/>
        </p:nvSpPr>
        <p:spPr>
          <a:xfrm>
            <a:off x="5193792" y="2450592"/>
            <a:ext cx="658368" cy="292608"/>
          </a:xfrm>
          <a:prstGeom prst="rect">
            <a:avLst/>
          </a:prstGeom>
          <a:solidFill>
            <a:srgbClr val="0A0F1E"/>
          </a:solidFill>
          <a:ln w="12700">
            <a:solidFill>
              <a:srgbClr val="0A0F1E"/>
            </a:solidFill>
            <a:prstDash val="solid"/>
          </a:ln>
        </p:spPr>
      </p:sp>
      <p:sp>
        <p:nvSpPr>
          <p:cNvPr id="41" name="Text 39"/>
          <p:cNvSpPr/>
          <p:nvPr/>
        </p:nvSpPr>
        <p:spPr>
          <a:xfrm>
            <a:off x="5193792" y="2450592"/>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Std Error</a:t>
            </a:r>
            <a:endParaRPr lang="en-US" sz="850" dirty="0"/>
          </a:p>
        </p:txBody>
      </p:sp>
      <p:sp>
        <p:nvSpPr>
          <p:cNvPr id="42" name="Shape 40"/>
          <p:cNvSpPr/>
          <p:nvPr/>
        </p:nvSpPr>
        <p:spPr>
          <a:xfrm>
            <a:off x="5852160" y="2450592"/>
            <a:ext cx="658368" cy="292608"/>
          </a:xfrm>
          <a:prstGeom prst="rect">
            <a:avLst/>
          </a:prstGeom>
          <a:solidFill>
            <a:srgbClr val="0A0F1E"/>
          </a:solidFill>
          <a:ln w="12700">
            <a:solidFill>
              <a:srgbClr val="0A0F1E"/>
            </a:solidFill>
            <a:prstDash val="solid"/>
          </a:ln>
        </p:spPr>
      </p:sp>
      <p:sp>
        <p:nvSpPr>
          <p:cNvPr id="43" name="Text 41"/>
          <p:cNvSpPr/>
          <p:nvPr/>
        </p:nvSpPr>
        <p:spPr>
          <a:xfrm>
            <a:off x="5852160" y="2450592"/>
            <a:ext cx="6583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t>
            </a:r>
            <a:endParaRPr lang="en-US" sz="850" dirty="0"/>
          </a:p>
        </p:txBody>
      </p:sp>
      <p:sp>
        <p:nvSpPr>
          <p:cNvPr id="44" name="Shape 42"/>
          <p:cNvSpPr/>
          <p:nvPr/>
        </p:nvSpPr>
        <p:spPr>
          <a:xfrm>
            <a:off x="6510528" y="2450592"/>
            <a:ext cx="731520" cy="292608"/>
          </a:xfrm>
          <a:prstGeom prst="rect">
            <a:avLst/>
          </a:prstGeom>
          <a:solidFill>
            <a:srgbClr val="0A0F1E"/>
          </a:solidFill>
          <a:ln w="12700">
            <a:solidFill>
              <a:srgbClr val="0A0F1E"/>
            </a:solidFill>
            <a:prstDash val="solid"/>
          </a:ln>
        </p:spPr>
      </p:sp>
      <p:sp>
        <p:nvSpPr>
          <p:cNvPr id="45" name="Text 43"/>
          <p:cNvSpPr/>
          <p:nvPr/>
        </p:nvSpPr>
        <p:spPr>
          <a:xfrm>
            <a:off x="6510528" y="2450592"/>
            <a:ext cx="7315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46" name="Shape 44"/>
          <p:cNvSpPr/>
          <p:nvPr/>
        </p:nvSpPr>
        <p:spPr>
          <a:xfrm>
            <a:off x="3145536" y="2743200"/>
            <a:ext cx="731520" cy="292608"/>
          </a:xfrm>
          <a:prstGeom prst="rect">
            <a:avLst/>
          </a:prstGeom>
          <a:solidFill>
            <a:srgbClr val="D8E8FF"/>
          </a:solidFill>
          <a:ln w="6350">
            <a:solidFill>
              <a:srgbClr val="C0C8E0"/>
            </a:solidFill>
            <a:prstDash val="solid"/>
          </a:ln>
        </p:spPr>
      </p:sp>
      <p:sp>
        <p:nvSpPr>
          <p:cNvPr id="47" name="Text 45"/>
          <p:cNvSpPr/>
          <p:nvPr/>
        </p:nvSpPr>
        <p:spPr>
          <a:xfrm>
            <a:off x="3145536" y="2743200"/>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.742</a:t>
            </a:r>
            <a:endParaRPr lang="en-US" sz="850" dirty="0"/>
          </a:p>
        </p:txBody>
      </p:sp>
      <p:sp>
        <p:nvSpPr>
          <p:cNvPr id="48" name="Shape 46"/>
          <p:cNvSpPr/>
          <p:nvPr/>
        </p:nvSpPr>
        <p:spPr>
          <a:xfrm>
            <a:off x="3877056" y="2743200"/>
            <a:ext cx="658368" cy="292608"/>
          </a:xfrm>
          <a:prstGeom prst="rect">
            <a:avLst/>
          </a:prstGeom>
          <a:solidFill>
            <a:srgbClr val="D8E8FF"/>
          </a:solidFill>
          <a:ln w="6350">
            <a:solidFill>
              <a:srgbClr val="C0C8E0"/>
            </a:solidFill>
            <a:prstDash val="solid"/>
          </a:ln>
        </p:spPr>
      </p:sp>
      <p:sp>
        <p:nvSpPr>
          <p:cNvPr id="49" name="Text 47"/>
          <p:cNvSpPr/>
          <p:nvPr/>
        </p:nvSpPr>
        <p:spPr>
          <a:xfrm>
            <a:off x="3877056" y="2743200"/>
            <a:ext cx="65836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.551</a:t>
            </a:r>
            <a:endParaRPr lang="en-US" sz="850" dirty="0"/>
          </a:p>
        </p:txBody>
      </p:sp>
      <p:sp>
        <p:nvSpPr>
          <p:cNvPr id="50" name="Shape 48"/>
          <p:cNvSpPr/>
          <p:nvPr/>
        </p:nvSpPr>
        <p:spPr>
          <a:xfrm>
            <a:off x="4535424" y="2743200"/>
            <a:ext cx="658368" cy="292608"/>
          </a:xfrm>
          <a:prstGeom prst="rect">
            <a:avLst/>
          </a:prstGeom>
          <a:solidFill>
            <a:srgbClr val="D8E8FF"/>
          </a:solidFill>
          <a:ln w="6350">
            <a:solidFill>
              <a:srgbClr val="C0C8E0"/>
            </a:solidFill>
            <a:prstDash val="solid"/>
          </a:ln>
        </p:spPr>
      </p:sp>
      <p:sp>
        <p:nvSpPr>
          <p:cNvPr id="51" name="Text 49"/>
          <p:cNvSpPr/>
          <p:nvPr/>
        </p:nvSpPr>
        <p:spPr>
          <a:xfrm>
            <a:off x="4535424" y="2743200"/>
            <a:ext cx="65836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.544</a:t>
            </a:r>
            <a:endParaRPr lang="en-US" sz="850" dirty="0"/>
          </a:p>
        </p:txBody>
      </p:sp>
      <p:sp>
        <p:nvSpPr>
          <p:cNvPr id="52" name="Shape 50"/>
          <p:cNvSpPr/>
          <p:nvPr/>
        </p:nvSpPr>
        <p:spPr>
          <a:xfrm>
            <a:off x="5193792" y="2743200"/>
            <a:ext cx="658368" cy="292608"/>
          </a:xfrm>
          <a:prstGeom prst="rect">
            <a:avLst/>
          </a:prstGeom>
          <a:solidFill>
            <a:srgbClr val="EAEEF8"/>
          </a:solidFill>
          <a:ln w="6350">
            <a:solidFill>
              <a:srgbClr val="C0C8E0"/>
            </a:solidFill>
            <a:prstDash val="solid"/>
          </a:ln>
        </p:spPr>
      </p:sp>
      <p:sp>
        <p:nvSpPr>
          <p:cNvPr id="53" name="Text 51"/>
          <p:cNvSpPr/>
          <p:nvPr/>
        </p:nvSpPr>
        <p:spPr>
          <a:xfrm>
            <a:off x="5193792" y="2743200"/>
            <a:ext cx="65836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.567</a:t>
            </a:r>
            <a:endParaRPr lang="en-US" sz="850" dirty="0"/>
          </a:p>
        </p:txBody>
      </p:sp>
      <p:sp>
        <p:nvSpPr>
          <p:cNvPr id="54" name="Shape 52"/>
          <p:cNvSpPr/>
          <p:nvPr/>
        </p:nvSpPr>
        <p:spPr>
          <a:xfrm>
            <a:off x="5852160" y="2743200"/>
            <a:ext cx="658368" cy="292608"/>
          </a:xfrm>
          <a:prstGeom prst="rect">
            <a:avLst/>
          </a:prstGeom>
          <a:solidFill>
            <a:srgbClr val="D8E8FF"/>
          </a:solidFill>
          <a:ln w="6350">
            <a:solidFill>
              <a:srgbClr val="C0C8E0"/>
            </a:solidFill>
            <a:prstDash val="solid"/>
          </a:ln>
        </p:spPr>
      </p:sp>
      <p:sp>
        <p:nvSpPr>
          <p:cNvPr id="55" name="Text 53"/>
          <p:cNvSpPr/>
          <p:nvPr/>
        </p:nvSpPr>
        <p:spPr>
          <a:xfrm>
            <a:off x="5852160" y="2743200"/>
            <a:ext cx="65836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72.4</a:t>
            </a:r>
            <a:endParaRPr lang="en-US" sz="850" dirty="0"/>
          </a:p>
        </p:txBody>
      </p:sp>
      <p:sp>
        <p:nvSpPr>
          <p:cNvPr id="56" name="Shape 54"/>
          <p:cNvSpPr/>
          <p:nvPr/>
        </p:nvSpPr>
        <p:spPr>
          <a:xfrm>
            <a:off x="6510528" y="2743200"/>
            <a:ext cx="731520" cy="292608"/>
          </a:xfrm>
          <a:prstGeom prst="rect">
            <a:avLst/>
          </a:prstGeom>
          <a:solidFill>
            <a:srgbClr val="D8E8FF"/>
          </a:solidFill>
          <a:ln w="6350">
            <a:solidFill>
              <a:srgbClr val="C0C8E0"/>
            </a:solidFill>
            <a:prstDash val="solid"/>
          </a:ln>
        </p:spPr>
      </p:sp>
      <p:sp>
        <p:nvSpPr>
          <p:cNvPr id="57" name="Text 55"/>
          <p:cNvSpPr/>
          <p:nvPr/>
        </p:nvSpPr>
        <p:spPr>
          <a:xfrm>
            <a:off x="6510528" y="2743200"/>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58" name="Text 56"/>
          <p:cNvSpPr/>
          <p:nvPr/>
        </p:nvSpPr>
        <p:spPr>
          <a:xfrm>
            <a:off x="3145536" y="3054096"/>
            <a:ext cx="5577840" cy="219456"/>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Coefficients Table:</a:t>
            </a:r>
            <a:endParaRPr lang="en-US" sz="950" dirty="0"/>
          </a:p>
        </p:txBody>
      </p:sp>
      <p:sp>
        <p:nvSpPr>
          <p:cNvPr id="59" name="Shape 57"/>
          <p:cNvSpPr/>
          <p:nvPr/>
        </p:nvSpPr>
        <p:spPr>
          <a:xfrm>
            <a:off x="3145536" y="3291840"/>
            <a:ext cx="1389888" cy="292608"/>
          </a:xfrm>
          <a:prstGeom prst="rect">
            <a:avLst/>
          </a:prstGeom>
          <a:solidFill>
            <a:srgbClr val="0A0F1E"/>
          </a:solidFill>
          <a:ln w="12700">
            <a:solidFill>
              <a:srgbClr val="0A0F1E"/>
            </a:solidFill>
            <a:prstDash val="solid"/>
          </a:ln>
        </p:spPr>
      </p:sp>
      <p:sp>
        <p:nvSpPr>
          <p:cNvPr id="60" name="Text 58"/>
          <p:cNvSpPr/>
          <p:nvPr/>
        </p:nvSpPr>
        <p:spPr>
          <a:xfrm>
            <a:off x="3145536" y="3291840"/>
            <a:ext cx="13898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Predictor</a:t>
            </a:r>
            <a:endParaRPr lang="en-US" sz="850" dirty="0"/>
          </a:p>
        </p:txBody>
      </p:sp>
      <p:sp>
        <p:nvSpPr>
          <p:cNvPr id="61" name="Shape 59"/>
          <p:cNvSpPr/>
          <p:nvPr/>
        </p:nvSpPr>
        <p:spPr>
          <a:xfrm>
            <a:off x="4535424" y="3291840"/>
            <a:ext cx="475488" cy="292608"/>
          </a:xfrm>
          <a:prstGeom prst="rect">
            <a:avLst/>
          </a:prstGeom>
          <a:solidFill>
            <a:srgbClr val="0A0F1E"/>
          </a:solidFill>
          <a:ln w="12700">
            <a:solidFill>
              <a:srgbClr val="0A0F1E"/>
            </a:solidFill>
            <a:prstDash val="solid"/>
          </a:ln>
        </p:spPr>
      </p:sp>
      <p:sp>
        <p:nvSpPr>
          <p:cNvPr id="62" name="Text 60"/>
          <p:cNvSpPr/>
          <p:nvPr/>
        </p:nvSpPr>
        <p:spPr>
          <a:xfrm>
            <a:off x="4535424" y="3291840"/>
            <a:ext cx="4754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t>
            </a:r>
            <a:endParaRPr lang="en-US" sz="850" dirty="0"/>
          </a:p>
        </p:txBody>
      </p:sp>
      <p:sp>
        <p:nvSpPr>
          <p:cNvPr id="63" name="Shape 61"/>
          <p:cNvSpPr/>
          <p:nvPr/>
        </p:nvSpPr>
        <p:spPr>
          <a:xfrm>
            <a:off x="5010912" y="3291840"/>
            <a:ext cx="438912" cy="292608"/>
          </a:xfrm>
          <a:prstGeom prst="rect">
            <a:avLst/>
          </a:prstGeom>
          <a:solidFill>
            <a:srgbClr val="0A0F1E"/>
          </a:solidFill>
          <a:ln w="12700">
            <a:solidFill>
              <a:srgbClr val="0A0F1E"/>
            </a:solidFill>
            <a:prstDash val="solid"/>
          </a:ln>
        </p:spPr>
      </p:sp>
      <p:sp>
        <p:nvSpPr>
          <p:cNvPr id="64" name="Text 62"/>
          <p:cNvSpPr/>
          <p:nvPr/>
        </p:nvSpPr>
        <p:spPr>
          <a:xfrm>
            <a:off x="5010912" y="3291840"/>
            <a:ext cx="43891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a:t>
            </a:r>
            <a:endParaRPr lang="en-US" sz="850" dirty="0"/>
          </a:p>
        </p:txBody>
      </p:sp>
      <p:sp>
        <p:nvSpPr>
          <p:cNvPr id="65" name="Shape 63"/>
          <p:cNvSpPr/>
          <p:nvPr/>
        </p:nvSpPr>
        <p:spPr>
          <a:xfrm>
            <a:off x="5449824" y="3291840"/>
            <a:ext cx="512064" cy="292608"/>
          </a:xfrm>
          <a:prstGeom prst="rect">
            <a:avLst/>
          </a:prstGeom>
          <a:solidFill>
            <a:srgbClr val="0A0F1E"/>
          </a:solidFill>
          <a:ln w="12700">
            <a:solidFill>
              <a:srgbClr val="0A0F1E"/>
            </a:solidFill>
            <a:prstDash val="solid"/>
          </a:ln>
        </p:spPr>
      </p:sp>
      <p:sp>
        <p:nvSpPr>
          <p:cNvPr id="66" name="Text 64"/>
          <p:cNvSpPr/>
          <p:nvPr/>
        </p:nvSpPr>
        <p:spPr>
          <a:xfrm>
            <a:off x="5449824" y="3291840"/>
            <a:ext cx="5120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Beta</a:t>
            </a:r>
            <a:endParaRPr lang="en-US" sz="850" dirty="0"/>
          </a:p>
        </p:txBody>
      </p:sp>
      <p:sp>
        <p:nvSpPr>
          <p:cNvPr id="67" name="Shape 65"/>
          <p:cNvSpPr/>
          <p:nvPr/>
        </p:nvSpPr>
        <p:spPr>
          <a:xfrm>
            <a:off x="5961888" y="3291840"/>
            <a:ext cx="512064" cy="292608"/>
          </a:xfrm>
          <a:prstGeom prst="rect">
            <a:avLst/>
          </a:prstGeom>
          <a:solidFill>
            <a:srgbClr val="0A0F1E"/>
          </a:solidFill>
          <a:ln w="12700">
            <a:solidFill>
              <a:srgbClr val="0A0F1E"/>
            </a:solidFill>
            <a:prstDash val="solid"/>
          </a:ln>
        </p:spPr>
      </p:sp>
      <p:sp>
        <p:nvSpPr>
          <p:cNvPr id="68" name="Text 66"/>
          <p:cNvSpPr/>
          <p:nvPr/>
        </p:nvSpPr>
        <p:spPr>
          <a:xfrm>
            <a:off x="5961888" y="3291840"/>
            <a:ext cx="5120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a:t>
            </a:r>
            <a:endParaRPr lang="en-US" sz="850" dirty="0"/>
          </a:p>
        </p:txBody>
      </p:sp>
      <p:sp>
        <p:nvSpPr>
          <p:cNvPr id="69" name="Shape 67"/>
          <p:cNvSpPr/>
          <p:nvPr/>
        </p:nvSpPr>
        <p:spPr>
          <a:xfrm>
            <a:off x="6473952" y="3291840"/>
            <a:ext cx="512064" cy="292608"/>
          </a:xfrm>
          <a:prstGeom prst="rect">
            <a:avLst/>
          </a:prstGeom>
          <a:solidFill>
            <a:srgbClr val="0A0F1E"/>
          </a:solidFill>
          <a:ln w="12700">
            <a:solidFill>
              <a:srgbClr val="0A0F1E"/>
            </a:solidFill>
            <a:prstDash val="solid"/>
          </a:ln>
        </p:spPr>
      </p:sp>
      <p:sp>
        <p:nvSpPr>
          <p:cNvPr id="70" name="Text 68"/>
          <p:cNvSpPr/>
          <p:nvPr/>
        </p:nvSpPr>
        <p:spPr>
          <a:xfrm>
            <a:off x="6473952" y="3291840"/>
            <a:ext cx="5120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71" name="Shape 69"/>
          <p:cNvSpPr/>
          <p:nvPr/>
        </p:nvSpPr>
        <p:spPr>
          <a:xfrm>
            <a:off x="6986016" y="3291840"/>
            <a:ext cx="1005840" cy="292608"/>
          </a:xfrm>
          <a:prstGeom prst="rect">
            <a:avLst/>
          </a:prstGeom>
          <a:solidFill>
            <a:srgbClr val="0A0F1E"/>
          </a:solidFill>
          <a:ln w="12700">
            <a:solidFill>
              <a:srgbClr val="0A0F1E"/>
            </a:solidFill>
            <a:prstDash val="solid"/>
          </a:ln>
        </p:spPr>
      </p:sp>
      <p:sp>
        <p:nvSpPr>
          <p:cNvPr id="72" name="Text 70"/>
          <p:cNvSpPr/>
          <p:nvPr/>
        </p:nvSpPr>
        <p:spPr>
          <a:xfrm>
            <a:off x="6986016" y="3291840"/>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95% CI</a:t>
            </a:r>
            <a:endParaRPr lang="en-US" sz="850" dirty="0"/>
          </a:p>
        </p:txBody>
      </p:sp>
      <p:sp>
        <p:nvSpPr>
          <p:cNvPr id="73" name="Shape 71"/>
          <p:cNvSpPr/>
          <p:nvPr/>
        </p:nvSpPr>
        <p:spPr>
          <a:xfrm>
            <a:off x="7991856" y="3291840"/>
            <a:ext cx="475488" cy="292608"/>
          </a:xfrm>
          <a:prstGeom prst="rect">
            <a:avLst/>
          </a:prstGeom>
          <a:solidFill>
            <a:srgbClr val="0A0F1E"/>
          </a:solidFill>
          <a:ln w="12700">
            <a:solidFill>
              <a:srgbClr val="0A0F1E"/>
            </a:solidFill>
            <a:prstDash val="solid"/>
          </a:ln>
        </p:spPr>
      </p:sp>
      <p:sp>
        <p:nvSpPr>
          <p:cNvPr id="74" name="Text 72"/>
          <p:cNvSpPr/>
          <p:nvPr/>
        </p:nvSpPr>
        <p:spPr>
          <a:xfrm>
            <a:off x="7991856" y="3291840"/>
            <a:ext cx="4754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VIF</a:t>
            </a:r>
            <a:endParaRPr lang="en-US" sz="850" dirty="0"/>
          </a:p>
        </p:txBody>
      </p:sp>
      <p:sp>
        <p:nvSpPr>
          <p:cNvPr id="75" name="Shape 73"/>
          <p:cNvSpPr/>
          <p:nvPr/>
        </p:nvSpPr>
        <p:spPr>
          <a:xfrm>
            <a:off x="3145536" y="3584448"/>
            <a:ext cx="1389888" cy="292608"/>
          </a:xfrm>
          <a:prstGeom prst="rect">
            <a:avLst/>
          </a:prstGeom>
          <a:solidFill>
            <a:srgbClr val="EAEEF8"/>
          </a:solidFill>
          <a:ln w="6350">
            <a:solidFill>
              <a:srgbClr val="C0C8E0"/>
            </a:solidFill>
            <a:prstDash val="solid"/>
          </a:ln>
        </p:spPr>
      </p:sp>
      <p:sp>
        <p:nvSpPr>
          <p:cNvPr id="76" name="Text 74"/>
          <p:cNvSpPr/>
          <p:nvPr/>
        </p:nvSpPr>
        <p:spPr>
          <a:xfrm>
            <a:off x="3145536" y="3584448"/>
            <a:ext cx="1389888"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(Constant)</a:t>
            </a:r>
            <a:endParaRPr lang="en-US" sz="850" dirty="0"/>
          </a:p>
        </p:txBody>
      </p:sp>
      <p:sp>
        <p:nvSpPr>
          <p:cNvPr id="77" name="Shape 75"/>
          <p:cNvSpPr/>
          <p:nvPr/>
        </p:nvSpPr>
        <p:spPr>
          <a:xfrm>
            <a:off x="4535424" y="3584448"/>
            <a:ext cx="475488" cy="292608"/>
          </a:xfrm>
          <a:prstGeom prst="rect">
            <a:avLst/>
          </a:prstGeom>
          <a:solidFill>
            <a:srgbClr val="EAEEF8"/>
          </a:solidFill>
          <a:ln w="6350">
            <a:solidFill>
              <a:srgbClr val="C0C8E0"/>
            </a:solidFill>
            <a:prstDash val="solid"/>
          </a:ln>
        </p:spPr>
      </p:sp>
      <p:sp>
        <p:nvSpPr>
          <p:cNvPr id="78" name="Text 76"/>
          <p:cNvSpPr/>
          <p:nvPr/>
        </p:nvSpPr>
        <p:spPr>
          <a:xfrm>
            <a:off x="4535424" y="3584448"/>
            <a:ext cx="4754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1.248</a:t>
            </a:r>
            <a:endParaRPr lang="en-US" sz="850" dirty="0"/>
          </a:p>
        </p:txBody>
      </p:sp>
      <p:sp>
        <p:nvSpPr>
          <p:cNvPr id="79" name="Shape 77"/>
          <p:cNvSpPr/>
          <p:nvPr/>
        </p:nvSpPr>
        <p:spPr>
          <a:xfrm>
            <a:off x="5010912" y="3584448"/>
            <a:ext cx="438912" cy="292608"/>
          </a:xfrm>
          <a:prstGeom prst="rect">
            <a:avLst/>
          </a:prstGeom>
          <a:solidFill>
            <a:srgbClr val="EAEEF8"/>
          </a:solidFill>
          <a:ln w="6350">
            <a:solidFill>
              <a:srgbClr val="C0C8E0"/>
            </a:solidFill>
            <a:prstDash val="solid"/>
          </a:ln>
        </p:spPr>
      </p:sp>
      <p:sp>
        <p:nvSpPr>
          <p:cNvPr id="80" name="Text 78"/>
          <p:cNvSpPr/>
          <p:nvPr/>
        </p:nvSpPr>
        <p:spPr>
          <a:xfrm>
            <a:off x="5010912" y="3584448"/>
            <a:ext cx="4389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.210</a:t>
            </a:r>
            <a:endParaRPr lang="en-US" sz="850" dirty="0"/>
          </a:p>
        </p:txBody>
      </p:sp>
      <p:sp>
        <p:nvSpPr>
          <p:cNvPr id="81" name="Shape 79"/>
          <p:cNvSpPr/>
          <p:nvPr/>
        </p:nvSpPr>
        <p:spPr>
          <a:xfrm>
            <a:off x="5449824" y="3584448"/>
            <a:ext cx="512064" cy="292608"/>
          </a:xfrm>
          <a:prstGeom prst="rect">
            <a:avLst/>
          </a:prstGeom>
          <a:solidFill>
            <a:srgbClr val="EAEEF8"/>
          </a:solidFill>
          <a:ln w="6350">
            <a:solidFill>
              <a:srgbClr val="C0C8E0"/>
            </a:solidFill>
            <a:prstDash val="solid"/>
          </a:ln>
        </p:spPr>
      </p:sp>
      <p:sp>
        <p:nvSpPr>
          <p:cNvPr id="82" name="Text 80"/>
          <p:cNvSpPr/>
          <p:nvPr/>
        </p:nvSpPr>
        <p:spPr>
          <a:xfrm>
            <a:off x="5449824" y="3584448"/>
            <a:ext cx="512064" cy="292608"/>
          </a:xfrm>
          <a:prstGeom prst="rect">
            <a:avLst/>
          </a:prstGeom>
          <a:noFill/>
          <a:ln/>
        </p:spPr>
        <p:txBody>
          <a:bodyPr wrap="square" lIns="0" tIns="0" rIns="0" bIns="0" rtlCol="0" anchor="ctr"/>
          <a:lstStyle/>
          <a:p>
            <a:pPr algn="ctr" indent="0" marL="0">
              <a:buNone/>
            </a:pPr>
            <a:endParaRPr lang="en-US" sz="850" dirty="0"/>
          </a:p>
        </p:txBody>
      </p:sp>
      <p:sp>
        <p:nvSpPr>
          <p:cNvPr id="83" name="Shape 81"/>
          <p:cNvSpPr/>
          <p:nvPr/>
        </p:nvSpPr>
        <p:spPr>
          <a:xfrm>
            <a:off x="5961888" y="3584448"/>
            <a:ext cx="512064" cy="292608"/>
          </a:xfrm>
          <a:prstGeom prst="rect">
            <a:avLst/>
          </a:prstGeom>
          <a:solidFill>
            <a:srgbClr val="EAEEF8"/>
          </a:solidFill>
          <a:ln w="6350">
            <a:solidFill>
              <a:srgbClr val="C0C8E0"/>
            </a:solidFill>
            <a:prstDash val="solid"/>
          </a:ln>
        </p:spPr>
      </p:sp>
      <p:sp>
        <p:nvSpPr>
          <p:cNvPr id="84" name="Text 82"/>
          <p:cNvSpPr/>
          <p:nvPr/>
        </p:nvSpPr>
        <p:spPr>
          <a:xfrm>
            <a:off x="5961888" y="3584448"/>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5.94</a:t>
            </a:r>
            <a:endParaRPr lang="en-US" sz="850" dirty="0"/>
          </a:p>
        </p:txBody>
      </p:sp>
      <p:sp>
        <p:nvSpPr>
          <p:cNvPr id="85" name="Shape 83"/>
          <p:cNvSpPr/>
          <p:nvPr/>
        </p:nvSpPr>
        <p:spPr>
          <a:xfrm>
            <a:off x="6473952" y="3584448"/>
            <a:ext cx="512064" cy="292608"/>
          </a:xfrm>
          <a:prstGeom prst="rect">
            <a:avLst/>
          </a:prstGeom>
          <a:solidFill>
            <a:srgbClr val="EAEEF8"/>
          </a:solidFill>
          <a:ln w="6350">
            <a:solidFill>
              <a:srgbClr val="C0C8E0"/>
            </a:solidFill>
            <a:prstDash val="solid"/>
          </a:ln>
        </p:spPr>
      </p:sp>
      <p:sp>
        <p:nvSpPr>
          <p:cNvPr id="86" name="Text 84"/>
          <p:cNvSpPr/>
          <p:nvPr/>
        </p:nvSpPr>
        <p:spPr>
          <a:xfrm>
            <a:off x="6473952" y="3584448"/>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&lt;.001</a:t>
            </a:r>
            <a:endParaRPr lang="en-US" sz="850" dirty="0"/>
          </a:p>
        </p:txBody>
      </p:sp>
      <p:sp>
        <p:nvSpPr>
          <p:cNvPr id="87" name="Shape 85"/>
          <p:cNvSpPr/>
          <p:nvPr/>
        </p:nvSpPr>
        <p:spPr>
          <a:xfrm>
            <a:off x="6986016" y="3584448"/>
            <a:ext cx="1005840" cy="292608"/>
          </a:xfrm>
          <a:prstGeom prst="rect">
            <a:avLst/>
          </a:prstGeom>
          <a:solidFill>
            <a:srgbClr val="EAEEF8"/>
          </a:solidFill>
          <a:ln w="6350">
            <a:solidFill>
              <a:srgbClr val="C0C8E0"/>
            </a:solidFill>
            <a:prstDash val="solid"/>
          </a:ln>
        </p:spPr>
      </p:sp>
      <p:sp>
        <p:nvSpPr>
          <p:cNvPr id="88" name="Text 86"/>
          <p:cNvSpPr/>
          <p:nvPr/>
        </p:nvSpPr>
        <p:spPr>
          <a:xfrm>
            <a:off x="6986016" y="3584448"/>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[.835,1.661]</a:t>
            </a:r>
            <a:endParaRPr lang="en-US" sz="850" dirty="0"/>
          </a:p>
        </p:txBody>
      </p:sp>
      <p:sp>
        <p:nvSpPr>
          <p:cNvPr id="89" name="Shape 87"/>
          <p:cNvSpPr/>
          <p:nvPr/>
        </p:nvSpPr>
        <p:spPr>
          <a:xfrm>
            <a:off x="7991856" y="3584448"/>
            <a:ext cx="475488" cy="292608"/>
          </a:xfrm>
          <a:prstGeom prst="rect">
            <a:avLst/>
          </a:prstGeom>
          <a:solidFill>
            <a:srgbClr val="EAEEF8"/>
          </a:solidFill>
          <a:ln w="6350">
            <a:solidFill>
              <a:srgbClr val="C0C8E0"/>
            </a:solidFill>
            <a:prstDash val="solid"/>
          </a:ln>
        </p:spPr>
      </p:sp>
      <p:sp>
        <p:nvSpPr>
          <p:cNvPr id="90" name="Text 88"/>
          <p:cNvSpPr/>
          <p:nvPr/>
        </p:nvSpPr>
        <p:spPr>
          <a:xfrm>
            <a:off x="7991856" y="3584448"/>
            <a:ext cx="475488" cy="292608"/>
          </a:xfrm>
          <a:prstGeom prst="rect">
            <a:avLst/>
          </a:prstGeom>
          <a:noFill/>
          <a:ln/>
        </p:spPr>
        <p:txBody>
          <a:bodyPr wrap="square" lIns="0" tIns="0" rIns="0" bIns="0" rtlCol="0" anchor="ctr"/>
          <a:lstStyle/>
          <a:p>
            <a:pPr algn="ctr" indent="0" marL="0">
              <a:buNone/>
            </a:pPr>
            <a:endParaRPr lang="en-US" sz="850" dirty="0"/>
          </a:p>
        </p:txBody>
      </p:sp>
      <p:sp>
        <p:nvSpPr>
          <p:cNvPr id="91" name="Shape 89"/>
          <p:cNvSpPr/>
          <p:nvPr/>
        </p:nvSpPr>
        <p:spPr>
          <a:xfrm>
            <a:off x="3145536" y="3877056"/>
            <a:ext cx="1389888" cy="292608"/>
          </a:xfrm>
          <a:prstGeom prst="rect">
            <a:avLst/>
          </a:prstGeom>
          <a:solidFill>
            <a:srgbClr val="D8E8FF"/>
          </a:solidFill>
          <a:ln w="6350">
            <a:solidFill>
              <a:srgbClr val="C0C8E0"/>
            </a:solidFill>
            <a:prstDash val="solid"/>
          </a:ln>
        </p:spPr>
      </p:sp>
      <p:sp>
        <p:nvSpPr>
          <p:cNvPr id="92" name="Text 90"/>
          <p:cNvSpPr/>
          <p:nvPr/>
        </p:nvSpPr>
        <p:spPr>
          <a:xfrm>
            <a:off x="3145536" y="3877056"/>
            <a:ext cx="13898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repurchase_intention</a:t>
            </a:r>
            <a:endParaRPr lang="en-US" sz="850" dirty="0"/>
          </a:p>
        </p:txBody>
      </p:sp>
      <p:sp>
        <p:nvSpPr>
          <p:cNvPr id="93" name="Shape 91"/>
          <p:cNvSpPr/>
          <p:nvPr/>
        </p:nvSpPr>
        <p:spPr>
          <a:xfrm>
            <a:off x="4535424" y="3877056"/>
            <a:ext cx="475488" cy="292608"/>
          </a:xfrm>
          <a:prstGeom prst="rect">
            <a:avLst/>
          </a:prstGeom>
          <a:solidFill>
            <a:srgbClr val="D8E8FF"/>
          </a:solidFill>
          <a:ln w="6350">
            <a:solidFill>
              <a:srgbClr val="C0C8E0"/>
            </a:solidFill>
            <a:prstDash val="solid"/>
          </a:ln>
        </p:spPr>
      </p:sp>
      <p:sp>
        <p:nvSpPr>
          <p:cNvPr id="94" name="Text 92"/>
          <p:cNvSpPr/>
          <p:nvPr/>
        </p:nvSpPr>
        <p:spPr>
          <a:xfrm>
            <a:off x="4535424" y="3877056"/>
            <a:ext cx="4754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.612</a:t>
            </a:r>
            <a:endParaRPr lang="en-US" sz="850" dirty="0"/>
          </a:p>
        </p:txBody>
      </p:sp>
      <p:sp>
        <p:nvSpPr>
          <p:cNvPr id="95" name="Shape 93"/>
          <p:cNvSpPr/>
          <p:nvPr/>
        </p:nvSpPr>
        <p:spPr>
          <a:xfrm>
            <a:off x="5010912" y="3877056"/>
            <a:ext cx="438912" cy="292608"/>
          </a:xfrm>
          <a:prstGeom prst="rect">
            <a:avLst/>
          </a:prstGeom>
          <a:solidFill>
            <a:srgbClr val="FFFFFF"/>
          </a:solidFill>
          <a:ln w="6350">
            <a:solidFill>
              <a:srgbClr val="C0C8E0"/>
            </a:solidFill>
            <a:prstDash val="solid"/>
          </a:ln>
        </p:spPr>
      </p:sp>
      <p:sp>
        <p:nvSpPr>
          <p:cNvPr id="96" name="Text 94"/>
          <p:cNvSpPr/>
          <p:nvPr/>
        </p:nvSpPr>
        <p:spPr>
          <a:xfrm>
            <a:off x="5010912" y="3877056"/>
            <a:ext cx="4389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.038</a:t>
            </a:r>
            <a:endParaRPr lang="en-US" sz="850" dirty="0"/>
          </a:p>
        </p:txBody>
      </p:sp>
      <p:sp>
        <p:nvSpPr>
          <p:cNvPr id="97" name="Shape 95"/>
          <p:cNvSpPr/>
          <p:nvPr/>
        </p:nvSpPr>
        <p:spPr>
          <a:xfrm>
            <a:off x="5449824" y="3877056"/>
            <a:ext cx="512064" cy="292608"/>
          </a:xfrm>
          <a:prstGeom prst="rect">
            <a:avLst/>
          </a:prstGeom>
          <a:solidFill>
            <a:srgbClr val="D8E8FF"/>
          </a:solidFill>
          <a:ln w="6350">
            <a:solidFill>
              <a:srgbClr val="C0C8E0"/>
            </a:solidFill>
            <a:prstDash val="solid"/>
          </a:ln>
        </p:spPr>
      </p:sp>
      <p:sp>
        <p:nvSpPr>
          <p:cNvPr id="98" name="Text 96"/>
          <p:cNvSpPr/>
          <p:nvPr/>
        </p:nvSpPr>
        <p:spPr>
          <a:xfrm>
            <a:off x="5449824" y="3877056"/>
            <a:ext cx="512064"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.548</a:t>
            </a:r>
            <a:endParaRPr lang="en-US" sz="850" dirty="0"/>
          </a:p>
        </p:txBody>
      </p:sp>
      <p:sp>
        <p:nvSpPr>
          <p:cNvPr id="99" name="Shape 97"/>
          <p:cNvSpPr/>
          <p:nvPr/>
        </p:nvSpPr>
        <p:spPr>
          <a:xfrm>
            <a:off x="5961888" y="3877056"/>
            <a:ext cx="512064" cy="292608"/>
          </a:xfrm>
          <a:prstGeom prst="rect">
            <a:avLst/>
          </a:prstGeom>
          <a:solidFill>
            <a:srgbClr val="D8E8FF"/>
          </a:solidFill>
          <a:ln w="6350">
            <a:solidFill>
              <a:srgbClr val="C0C8E0"/>
            </a:solidFill>
            <a:prstDash val="solid"/>
          </a:ln>
        </p:spPr>
      </p:sp>
      <p:sp>
        <p:nvSpPr>
          <p:cNvPr id="100" name="Text 98"/>
          <p:cNvSpPr/>
          <p:nvPr/>
        </p:nvSpPr>
        <p:spPr>
          <a:xfrm>
            <a:off x="5961888" y="3877056"/>
            <a:ext cx="512064"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16.1</a:t>
            </a:r>
            <a:endParaRPr lang="en-US" sz="850" dirty="0"/>
          </a:p>
        </p:txBody>
      </p:sp>
      <p:sp>
        <p:nvSpPr>
          <p:cNvPr id="101" name="Shape 99"/>
          <p:cNvSpPr/>
          <p:nvPr/>
        </p:nvSpPr>
        <p:spPr>
          <a:xfrm>
            <a:off x="6473952" y="3877056"/>
            <a:ext cx="512064" cy="292608"/>
          </a:xfrm>
          <a:prstGeom prst="rect">
            <a:avLst/>
          </a:prstGeom>
          <a:solidFill>
            <a:srgbClr val="D8E8FF"/>
          </a:solidFill>
          <a:ln w="6350">
            <a:solidFill>
              <a:srgbClr val="C0C8E0"/>
            </a:solidFill>
            <a:prstDash val="solid"/>
          </a:ln>
        </p:spPr>
      </p:sp>
      <p:sp>
        <p:nvSpPr>
          <p:cNvPr id="102" name="Text 100"/>
          <p:cNvSpPr/>
          <p:nvPr/>
        </p:nvSpPr>
        <p:spPr>
          <a:xfrm>
            <a:off x="6473952" y="3877056"/>
            <a:ext cx="512064"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103" name="Shape 101"/>
          <p:cNvSpPr/>
          <p:nvPr/>
        </p:nvSpPr>
        <p:spPr>
          <a:xfrm>
            <a:off x="6986016" y="3877056"/>
            <a:ext cx="1005840" cy="292608"/>
          </a:xfrm>
          <a:prstGeom prst="rect">
            <a:avLst/>
          </a:prstGeom>
          <a:solidFill>
            <a:srgbClr val="FFFFFF"/>
          </a:solidFill>
          <a:ln w="6350">
            <a:solidFill>
              <a:srgbClr val="C0C8E0"/>
            </a:solidFill>
            <a:prstDash val="solid"/>
          </a:ln>
        </p:spPr>
      </p:sp>
      <p:sp>
        <p:nvSpPr>
          <p:cNvPr id="104" name="Text 102"/>
          <p:cNvSpPr/>
          <p:nvPr/>
        </p:nvSpPr>
        <p:spPr>
          <a:xfrm>
            <a:off x="6986016" y="3877056"/>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[.537,.687]</a:t>
            </a:r>
            <a:endParaRPr lang="en-US" sz="850" dirty="0"/>
          </a:p>
        </p:txBody>
      </p:sp>
      <p:sp>
        <p:nvSpPr>
          <p:cNvPr id="105" name="Shape 103"/>
          <p:cNvSpPr/>
          <p:nvPr/>
        </p:nvSpPr>
        <p:spPr>
          <a:xfrm>
            <a:off x="7991856" y="3877056"/>
            <a:ext cx="475488" cy="292608"/>
          </a:xfrm>
          <a:prstGeom prst="rect">
            <a:avLst/>
          </a:prstGeom>
          <a:solidFill>
            <a:srgbClr val="D8E8FF"/>
          </a:solidFill>
          <a:ln w="6350">
            <a:solidFill>
              <a:srgbClr val="C0C8E0"/>
            </a:solidFill>
            <a:prstDash val="solid"/>
          </a:ln>
        </p:spPr>
      </p:sp>
      <p:sp>
        <p:nvSpPr>
          <p:cNvPr id="106" name="Text 104"/>
          <p:cNvSpPr/>
          <p:nvPr/>
        </p:nvSpPr>
        <p:spPr>
          <a:xfrm>
            <a:off x="7991856" y="3877056"/>
            <a:ext cx="4754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1.42</a:t>
            </a:r>
            <a:endParaRPr lang="en-US" sz="850" dirty="0"/>
          </a:p>
        </p:txBody>
      </p:sp>
      <p:sp>
        <p:nvSpPr>
          <p:cNvPr id="107" name="Shape 105"/>
          <p:cNvSpPr/>
          <p:nvPr/>
        </p:nvSpPr>
        <p:spPr>
          <a:xfrm>
            <a:off x="3145536" y="4169664"/>
            <a:ext cx="1389888" cy="292608"/>
          </a:xfrm>
          <a:prstGeom prst="rect">
            <a:avLst/>
          </a:prstGeom>
          <a:solidFill>
            <a:srgbClr val="D8E8FF"/>
          </a:solidFill>
          <a:ln w="6350">
            <a:solidFill>
              <a:srgbClr val="C0C8E0"/>
            </a:solidFill>
            <a:prstDash val="solid"/>
          </a:ln>
        </p:spPr>
      </p:sp>
      <p:sp>
        <p:nvSpPr>
          <p:cNvPr id="108" name="Text 106"/>
          <p:cNvSpPr/>
          <p:nvPr/>
        </p:nvSpPr>
        <p:spPr>
          <a:xfrm>
            <a:off x="3145536" y="4169664"/>
            <a:ext cx="13898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monthly_salary_ngn</a:t>
            </a:r>
            <a:endParaRPr lang="en-US" sz="850" dirty="0"/>
          </a:p>
        </p:txBody>
      </p:sp>
      <p:sp>
        <p:nvSpPr>
          <p:cNvPr id="109" name="Shape 107"/>
          <p:cNvSpPr/>
          <p:nvPr/>
        </p:nvSpPr>
        <p:spPr>
          <a:xfrm>
            <a:off x="4535424" y="4169664"/>
            <a:ext cx="475488" cy="292608"/>
          </a:xfrm>
          <a:prstGeom prst="rect">
            <a:avLst/>
          </a:prstGeom>
          <a:solidFill>
            <a:srgbClr val="D8E8FF"/>
          </a:solidFill>
          <a:ln w="6350">
            <a:solidFill>
              <a:srgbClr val="C0C8E0"/>
            </a:solidFill>
            <a:prstDash val="solid"/>
          </a:ln>
        </p:spPr>
      </p:sp>
      <p:sp>
        <p:nvSpPr>
          <p:cNvPr id="110" name="Text 108"/>
          <p:cNvSpPr/>
          <p:nvPr/>
        </p:nvSpPr>
        <p:spPr>
          <a:xfrm>
            <a:off x="4535424" y="4169664"/>
            <a:ext cx="4754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.000001</a:t>
            </a:r>
            <a:endParaRPr lang="en-US" sz="850" dirty="0"/>
          </a:p>
        </p:txBody>
      </p:sp>
      <p:sp>
        <p:nvSpPr>
          <p:cNvPr id="111" name="Shape 109"/>
          <p:cNvSpPr/>
          <p:nvPr/>
        </p:nvSpPr>
        <p:spPr>
          <a:xfrm>
            <a:off x="5010912" y="4169664"/>
            <a:ext cx="438912" cy="292608"/>
          </a:xfrm>
          <a:prstGeom prst="rect">
            <a:avLst/>
          </a:prstGeom>
          <a:solidFill>
            <a:srgbClr val="EAEEF8"/>
          </a:solidFill>
          <a:ln w="6350">
            <a:solidFill>
              <a:srgbClr val="C0C8E0"/>
            </a:solidFill>
            <a:prstDash val="solid"/>
          </a:ln>
        </p:spPr>
      </p:sp>
      <p:sp>
        <p:nvSpPr>
          <p:cNvPr id="112" name="Text 110"/>
          <p:cNvSpPr/>
          <p:nvPr/>
        </p:nvSpPr>
        <p:spPr>
          <a:xfrm>
            <a:off x="5010912" y="4169664"/>
            <a:ext cx="4389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.0000</a:t>
            </a:r>
            <a:endParaRPr lang="en-US" sz="850" dirty="0"/>
          </a:p>
        </p:txBody>
      </p:sp>
      <p:sp>
        <p:nvSpPr>
          <p:cNvPr id="113" name="Shape 111"/>
          <p:cNvSpPr/>
          <p:nvPr/>
        </p:nvSpPr>
        <p:spPr>
          <a:xfrm>
            <a:off x="5449824" y="4169664"/>
            <a:ext cx="512064" cy="292608"/>
          </a:xfrm>
          <a:prstGeom prst="rect">
            <a:avLst/>
          </a:prstGeom>
          <a:solidFill>
            <a:srgbClr val="EAEEF8"/>
          </a:solidFill>
          <a:ln w="6350">
            <a:solidFill>
              <a:srgbClr val="C0C8E0"/>
            </a:solidFill>
            <a:prstDash val="solid"/>
          </a:ln>
        </p:spPr>
      </p:sp>
      <p:sp>
        <p:nvSpPr>
          <p:cNvPr id="114" name="Text 112"/>
          <p:cNvSpPr/>
          <p:nvPr/>
        </p:nvSpPr>
        <p:spPr>
          <a:xfrm>
            <a:off x="5449824" y="4169664"/>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.218</a:t>
            </a:r>
            <a:endParaRPr lang="en-US" sz="850" dirty="0"/>
          </a:p>
        </p:txBody>
      </p:sp>
      <p:sp>
        <p:nvSpPr>
          <p:cNvPr id="115" name="Shape 113"/>
          <p:cNvSpPr/>
          <p:nvPr/>
        </p:nvSpPr>
        <p:spPr>
          <a:xfrm>
            <a:off x="5961888" y="4169664"/>
            <a:ext cx="512064" cy="292608"/>
          </a:xfrm>
          <a:prstGeom prst="rect">
            <a:avLst/>
          </a:prstGeom>
          <a:solidFill>
            <a:srgbClr val="D8E8FF"/>
          </a:solidFill>
          <a:ln w="6350">
            <a:solidFill>
              <a:srgbClr val="C0C8E0"/>
            </a:solidFill>
            <a:prstDash val="solid"/>
          </a:ln>
        </p:spPr>
      </p:sp>
      <p:sp>
        <p:nvSpPr>
          <p:cNvPr id="116" name="Text 114"/>
          <p:cNvSpPr/>
          <p:nvPr/>
        </p:nvSpPr>
        <p:spPr>
          <a:xfrm>
            <a:off x="5961888" y="4169664"/>
            <a:ext cx="512064"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6.24</a:t>
            </a:r>
            <a:endParaRPr lang="en-US" sz="850" dirty="0"/>
          </a:p>
        </p:txBody>
      </p:sp>
      <p:sp>
        <p:nvSpPr>
          <p:cNvPr id="117" name="Shape 115"/>
          <p:cNvSpPr/>
          <p:nvPr/>
        </p:nvSpPr>
        <p:spPr>
          <a:xfrm>
            <a:off x="6473952" y="4169664"/>
            <a:ext cx="512064" cy="292608"/>
          </a:xfrm>
          <a:prstGeom prst="rect">
            <a:avLst/>
          </a:prstGeom>
          <a:solidFill>
            <a:srgbClr val="D8E8FF"/>
          </a:solidFill>
          <a:ln w="6350">
            <a:solidFill>
              <a:srgbClr val="C0C8E0"/>
            </a:solidFill>
            <a:prstDash val="solid"/>
          </a:ln>
        </p:spPr>
      </p:sp>
      <p:sp>
        <p:nvSpPr>
          <p:cNvPr id="118" name="Text 116"/>
          <p:cNvSpPr/>
          <p:nvPr/>
        </p:nvSpPr>
        <p:spPr>
          <a:xfrm>
            <a:off x="6473952" y="4169664"/>
            <a:ext cx="512064"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119" name="Shape 117"/>
          <p:cNvSpPr/>
          <p:nvPr/>
        </p:nvSpPr>
        <p:spPr>
          <a:xfrm>
            <a:off x="6986016" y="4169664"/>
            <a:ext cx="1005840" cy="292608"/>
          </a:xfrm>
          <a:prstGeom prst="rect">
            <a:avLst/>
          </a:prstGeom>
          <a:solidFill>
            <a:srgbClr val="EAEEF8"/>
          </a:solidFill>
          <a:ln w="6350">
            <a:solidFill>
              <a:srgbClr val="C0C8E0"/>
            </a:solidFill>
            <a:prstDash val="solid"/>
          </a:ln>
        </p:spPr>
      </p:sp>
      <p:sp>
        <p:nvSpPr>
          <p:cNvPr id="120" name="Text 118"/>
          <p:cNvSpPr/>
          <p:nvPr/>
        </p:nvSpPr>
        <p:spPr>
          <a:xfrm>
            <a:off x="6986016" y="4169664"/>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[.000,.000]</a:t>
            </a:r>
            <a:endParaRPr lang="en-US" sz="850" dirty="0"/>
          </a:p>
        </p:txBody>
      </p:sp>
      <p:sp>
        <p:nvSpPr>
          <p:cNvPr id="121" name="Shape 119"/>
          <p:cNvSpPr/>
          <p:nvPr/>
        </p:nvSpPr>
        <p:spPr>
          <a:xfrm>
            <a:off x="7991856" y="4169664"/>
            <a:ext cx="475488" cy="292608"/>
          </a:xfrm>
          <a:prstGeom prst="rect">
            <a:avLst/>
          </a:prstGeom>
          <a:solidFill>
            <a:srgbClr val="D8E8FF"/>
          </a:solidFill>
          <a:ln w="6350">
            <a:solidFill>
              <a:srgbClr val="C0C8E0"/>
            </a:solidFill>
            <a:prstDash val="solid"/>
          </a:ln>
        </p:spPr>
      </p:sp>
      <p:sp>
        <p:nvSpPr>
          <p:cNvPr id="122" name="Text 120"/>
          <p:cNvSpPr/>
          <p:nvPr/>
        </p:nvSpPr>
        <p:spPr>
          <a:xfrm>
            <a:off x="7991856" y="4169664"/>
            <a:ext cx="4754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1.38</a:t>
            </a:r>
            <a:endParaRPr lang="en-US" sz="850" dirty="0"/>
          </a:p>
        </p:txBody>
      </p:sp>
      <p:sp>
        <p:nvSpPr>
          <p:cNvPr id="123" name="Shape 121"/>
          <p:cNvSpPr/>
          <p:nvPr/>
        </p:nvSpPr>
        <p:spPr>
          <a:xfrm>
            <a:off x="3145536" y="4462272"/>
            <a:ext cx="1389888" cy="292608"/>
          </a:xfrm>
          <a:prstGeom prst="rect">
            <a:avLst/>
          </a:prstGeom>
          <a:solidFill>
            <a:srgbClr val="FFFFFF"/>
          </a:solidFill>
          <a:ln w="6350">
            <a:solidFill>
              <a:srgbClr val="C0C8E0"/>
            </a:solidFill>
            <a:prstDash val="solid"/>
          </a:ln>
        </p:spPr>
      </p:sp>
      <p:sp>
        <p:nvSpPr>
          <p:cNvPr id="124" name="Text 122"/>
          <p:cNvSpPr/>
          <p:nvPr/>
        </p:nvSpPr>
        <p:spPr>
          <a:xfrm>
            <a:off x="3145536" y="4462272"/>
            <a:ext cx="1389888"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age_in_years</a:t>
            </a:r>
            <a:endParaRPr lang="en-US" sz="850" dirty="0"/>
          </a:p>
        </p:txBody>
      </p:sp>
      <p:sp>
        <p:nvSpPr>
          <p:cNvPr id="125" name="Shape 123"/>
          <p:cNvSpPr/>
          <p:nvPr/>
        </p:nvSpPr>
        <p:spPr>
          <a:xfrm>
            <a:off x="4535424" y="4462272"/>
            <a:ext cx="475488" cy="292608"/>
          </a:xfrm>
          <a:prstGeom prst="rect">
            <a:avLst/>
          </a:prstGeom>
          <a:solidFill>
            <a:srgbClr val="FFFFFF"/>
          </a:solidFill>
          <a:ln w="6350">
            <a:solidFill>
              <a:srgbClr val="C0C8E0"/>
            </a:solidFill>
            <a:prstDash val="solid"/>
          </a:ln>
        </p:spPr>
      </p:sp>
      <p:sp>
        <p:nvSpPr>
          <p:cNvPr id="126" name="Text 124"/>
          <p:cNvSpPr/>
          <p:nvPr/>
        </p:nvSpPr>
        <p:spPr>
          <a:xfrm>
            <a:off x="4535424" y="4462272"/>
            <a:ext cx="4754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.008</a:t>
            </a:r>
            <a:endParaRPr lang="en-US" sz="850" dirty="0"/>
          </a:p>
        </p:txBody>
      </p:sp>
      <p:sp>
        <p:nvSpPr>
          <p:cNvPr id="127" name="Shape 125"/>
          <p:cNvSpPr/>
          <p:nvPr/>
        </p:nvSpPr>
        <p:spPr>
          <a:xfrm>
            <a:off x="5010912" y="4462272"/>
            <a:ext cx="438912" cy="292608"/>
          </a:xfrm>
          <a:prstGeom prst="rect">
            <a:avLst/>
          </a:prstGeom>
          <a:solidFill>
            <a:srgbClr val="FFFFFF"/>
          </a:solidFill>
          <a:ln w="6350">
            <a:solidFill>
              <a:srgbClr val="C0C8E0"/>
            </a:solidFill>
            <a:prstDash val="solid"/>
          </a:ln>
        </p:spPr>
      </p:sp>
      <p:sp>
        <p:nvSpPr>
          <p:cNvPr id="128" name="Text 126"/>
          <p:cNvSpPr/>
          <p:nvPr/>
        </p:nvSpPr>
        <p:spPr>
          <a:xfrm>
            <a:off x="5010912" y="4462272"/>
            <a:ext cx="4389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.004</a:t>
            </a:r>
            <a:endParaRPr lang="en-US" sz="850" dirty="0"/>
          </a:p>
        </p:txBody>
      </p:sp>
      <p:sp>
        <p:nvSpPr>
          <p:cNvPr id="129" name="Shape 127"/>
          <p:cNvSpPr/>
          <p:nvPr/>
        </p:nvSpPr>
        <p:spPr>
          <a:xfrm>
            <a:off x="5449824" y="4462272"/>
            <a:ext cx="512064" cy="292608"/>
          </a:xfrm>
          <a:prstGeom prst="rect">
            <a:avLst/>
          </a:prstGeom>
          <a:solidFill>
            <a:srgbClr val="FFFFFF"/>
          </a:solidFill>
          <a:ln w="6350">
            <a:solidFill>
              <a:srgbClr val="C0C8E0"/>
            </a:solidFill>
            <a:prstDash val="solid"/>
          </a:ln>
        </p:spPr>
      </p:sp>
      <p:sp>
        <p:nvSpPr>
          <p:cNvPr id="130" name="Text 128"/>
          <p:cNvSpPr/>
          <p:nvPr/>
        </p:nvSpPr>
        <p:spPr>
          <a:xfrm>
            <a:off x="5449824" y="4462272"/>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.082</a:t>
            </a:r>
            <a:endParaRPr lang="en-US" sz="850" dirty="0"/>
          </a:p>
        </p:txBody>
      </p:sp>
      <p:sp>
        <p:nvSpPr>
          <p:cNvPr id="131" name="Shape 129"/>
          <p:cNvSpPr/>
          <p:nvPr/>
        </p:nvSpPr>
        <p:spPr>
          <a:xfrm>
            <a:off x="5961888" y="4462272"/>
            <a:ext cx="512064" cy="292608"/>
          </a:xfrm>
          <a:prstGeom prst="rect">
            <a:avLst/>
          </a:prstGeom>
          <a:solidFill>
            <a:srgbClr val="FFFFFF"/>
          </a:solidFill>
          <a:ln w="6350">
            <a:solidFill>
              <a:srgbClr val="C0C8E0"/>
            </a:solidFill>
            <a:prstDash val="solid"/>
          </a:ln>
        </p:spPr>
      </p:sp>
      <p:sp>
        <p:nvSpPr>
          <p:cNvPr id="132" name="Text 130"/>
          <p:cNvSpPr/>
          <p:nvPr/>
        </p:nvSpPr>
        <p:spPr>
          <a:xfrm>
            <a:off x="5961888" y="4462272"/>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1.96</a:t>
            </a:r>
            <a:endParaRPr lang="en-US" sz="850" dirty="0"/>
          </a:p>
        </p:txBody>
      </p:sp>
      <p:sp>
        <p:nvSpPr>
          <p:cNvPr id="133" name="Shape 131"/>
          <p:cNvSpPr/>
          <p:nvPr/>
        </p:nvSpPr>
        <p:spPr>
          <a:xfrm>
            <a:off x="6473952" y="4462272"/>
            <a:ext cx="512064" cy="292608"/>
          </a:xfrm>
          <a:prstGeom prst="rect">
            <a:avLst/>
          </a:prstGeom>
          <a:solidFill>
            <a:srgbClr val="FFFFFF"/>
          </a:solidFill>
          <a:ln w="6350">
            <a:solidFill>
              <a:srgbClr val="C0C8E0"/>
            </a:solidFill>
            <a:prstDash val="solid"/>
          </a:ln>
        </p:spPr>
      </p:sp>
      <p:sp>
        <p:nvSpPr>
          <p:cNvPr id="134" name="Text 132"/>
          <p:cNvSpPr/>
          <p:nvPr/>
        </p:nvSpPr>
        <p:spPr>
          <a:xfrm>
            <a:off x="6473952" y="4462272"/>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.050</a:t>
            </a:r>
            <a:endParaRPr lang="en-US" sz="850" dirty="0"/>
          </a:p>
        </p:txBody>
      </p:sp>
      <p:sp>
        <p:nvSpPr>
          <p:cNvPr id="135" name="Shape 133"/>
          <p:cNvSpPr/>
          <p:nvPr/>
        </p:nvSpPr>
        <p:spPr>
          <a:xfrm>
            <a:off x="6986016" y="4462272"/>
            <a:ext cx="1005840" cy="292608"/>
          </a:xfrm>
          <a:prstGeom prst="rect">
            <a:avLst/>
          </a:prstGeom>
          <a:solidFill>
            <a:srgbClr val="FFFFFF"/>
          </a:solidFill>
          <a:ln w="6350">
            <a:solidFill>
              <a:srgbClr val="C0C8E0"/>
            </a:solidFill>
            <a:prstDash val="solid"/>
          </a:ln>
        </p:spPr>
      </p:sp>
      <p:sp>
        <p:nvSpPr>
          <p:cNvPr id="136" name="Text 134"/>
          <p:cNvSpPr/>
          <p:nvPr/>
        </p:nvSpPr>
        <p:spPr>
          <a:xfrm>
            <a:off x="6986016" y="4462272"/>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[.000,.016]</a:t>
            </a:r>
            <a:endParaRPr lang="en-US" sz="850" dirty="0"/>
          </a:p>
        </p:txBody>
      </p:sp>
      <p:sp>
        <p:nvSpPr>
          <p:cNvPr id="137" name="Shape 135"/>
          <p:cNvSpPr/>
          <p:nvPr/>
        </p:nvSpPr>
        <p:spPr>
          <a:xfrm>
            <a:off x="7991856" y="4462272"/>
            <a:ext cx="475488" cy="292608"/>
          </a:xfrm>
          <a:prstGeom prst="rect">
            <a:avLst/>
          </a:prstGeom>
          <a:solidFill>
            <a:srgbClr val="FFFFFF"/>
          </a:solidFill>
          <a:ln w="6350">
            <a:solidFill>
              <a:srgbClr val="C0C8E0"/>
            </a:solidFill>
            <a:prstDash val="solid"/>
          </a:ln>
        </p:spPr>
      </p:sp>
      <p:sp>
        <p:nvSpPr>
          <p:cNvPr id="138" name="Text 136"/>
          <p:cNvSpPr/>
          <p:nvPr/>
        </p:nvSpPr>
        <p:spPr>
          <a:xfrm>
            <a:off x="7991856" y="4462272"/>
            <a:ext cx="4754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1.22</a:t>
            </a:r>
            <a:endParaRPr lang="en-US" sz="850" dirty="0"/>
          </a:p>
        </p:txBody>
      </p:sp>
      <p:sp>
        <p:nvSpPr>
          <p:cNvPr id="139" name="Shape 137"/>
          <p:cNvSpPr/>
          <p:nvPr/>
        </p:nvSpPr>
        <p:spPr>
          <a:xfrm>
            <a:off x="3145536" y="4754880"/>
            <a:ext cx="1389888" cy="292608"/>
          </a:xfrm>
          <a:prstGeom prst="rect">
            <a:avLst/>
          </a:prstGeom>
          <a:solidFill>
            <a:srgbClr val="EAEEF8"/>
          </a:solidFill>
          <a:ln w="6350">
            <a:solidFill>
              <a:srgbClr val="C0C8E0"/>
            </a:solidFill>
            <a:prstDash val="solid"/>
          </a:ln>
        </p:spPr>
      </p:sp>
      <p:sp>
        <p:nvSpPr>
          <p:cNvPr id="140" name="Text 138"/>
          <p:cNvSpPr/>
          <p:nvPr/>
        </p:nvSpPr>
        <p:spPr>
          <a:xfrm>
            <a:off x="3145536" y="4754880"/>
            <a:ext cx="1389888"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gender (female=1)</a:t>
            </a:r>
            <a:endParaRPr lang="en-US" sz="850" dirty="0"/>
          </a:p>
        </p:txBody>
      </p:sp>
      <p:sp>
        <p:nvSpPr>
          <p:cNvPr id="141" name="Shape 139"/>
          <p:cNvSpPr/>
          <p:nvPr/>
        </p:nvSpPr>
        <p:spPr>
          <a:xfrm>
            <a:off x="4535424" y="4754880"/>
            <a:ext cx="475488" cy="292608"/>
          </a:xfrm>
          <a:prstGeom prst="rect">
            <a:avLst/>
          </a:prstGeom>
          <a:solidFill>
            <a:srgbClr val="D8E8FF"/>
          </a:solidFill>
          <a:ln w="6350">
            <a:solidFill>
              <a:srgbClr val="C0C8E0"/>
            </a:solidFill>
            <a:prstDash val="solid"/>
          </a:ln>
        </p:spPr>
      </p:sp>
      <p:sp>
        <p:nvSpPr>
          <p:cNvPr id="142" name="Text 140"/>
          <p:cNvSpPr/>
          <p:nvPr/>
        </p:nvSpPr>
        <p:spPr>
          <a:xfrm>
            <a:off x="4535424" y="4754880"/>
            <a:ext cx="4754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.128</a:t>
            </a:r>
            <a:endParaRPr lang="en-US" sz="850" dirty="0"/>
          </a:p>
        </p:txBody>
      </p:sp>
      <p:sp>
        <p:nvSpPr>
          <p:cNvPr id="143" name="Shape 141"/>
          <p:cNvSpPr/>
          <p:nvPr/>
        </p:nvSpPr>
        <p:spPr>
          <a:xfrm>
            <a:off x="5010912" y="4754880"/>
            <a:ext cx="438912" cy="292608"/>
          </a:xfrm>
          <a:prstGeom prst="rect">
            <a:avLst/>
          </a:prstGeom>
          <a:solidFill>
            <a:srgbClr val="EAEEF8"/>
          </a:solidFill>
          <a:ln w="6350">
            <a:solidFill>
              <a:srgbClr val="C0C8E0"/>
            </a:solidFill>
            <a:prstDash val="solid"/>
          </a:ln>
        </p:spPr>
      </p:sp>
      <p:sp>
        <p:nvSpPr>
          <p:cNvPr id="144" name="Text 142"/>
          <p:cNvSpPr/>
          <p:nvPr/>
        </p:nvSpPr>
        <p:spPr>
          <a:xfrm>
            <a:off x="5010912" y="4754880"/>
            <a:ext cx="4389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.048</a:t>
            </a:r>
            <a:endParaRPr lang="en-US" sz="850" dirty="0"/>
          </a:p>
        </p:txBody>
      </p:sp>
      <p:sp>
        <p:nvSpPr>
          <p:cNvPr id="145" name="Shape 143"/>
          <p:cNvSpPr/>
          <p:nvPr/>
        </p:nvSpPr>
        <p:spPr>
          <a:xfrm>
            <a:off x="5449824" y="4754880"/>
            <a:ext cx="512064" cy="292608"/>
          </a:xfrm>
          <a:prstGeom prst="rect">
            <a:avLst/>
          </a:prstGeom>
          <a:solidFill>
            <a:srgbClr val="EAEEF8"/>
          </a:solidFill>
          <a:ln w="6350">
            <a:solidFill>
              <a:srgbClr val="C0C8E0"/>
            </a:solidFill>
            <a:prstDash val="solid"/>
          </a:ln>
        </p:spPr>
      </p:sp>
      <p:sp>
        <p:nvSpPr>
          <p:cNvPr id="146" name="Text 144"/>
          <p:cNvSpPr/>
          <p:nvPr/>
        </p:nvSpPr>
        <p:spPr>
          <a:xfrm>
            <a:off x="5449824" y="4754880"/>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.089</a:t>
            </a:r>
            <a:endParaRPr lang="en-US" sz="850" dirty="0"/>
          </a:p>
        </p:txBody>
      </p:sp>
      <p:sp>
        <p:nvSpPr>
          <p:cNvPr id="147" name="Shape 145"/>
          <p:cNvSpPr/>
          <p:nvPr/>
        </p:nvSpPr>
        <p:spPr>
          <a:xfrm>
            <a:off x="5961888" y="4754880"/>
            <a:ext cx="512064" cy="292608"/>
          </a:xfrm>
          <a:prstGeom prst="rect">
            <a:avLst/>
          </a:prstGeom>
          <a:solidFill>
            <a:srgbClr val="D8E8FF"/>
          </a:solidFill>
          <a:ln w="6350">
            <a:solidFill>
              <a:srgbClr val="C0C8E0"/>
            </a:solidFill>
            <a:prstDash val="solid"/>
          </a:ln>
        </p:spPr>
      </p:sp>
      <p:sp>
        <p:nvSpPr>
          <p:cNvPr id="148" name="Text 146"/>
          <p:cNvSpPr/>
          <p:nvPr/>
        </p:nvSpPr>
        <p:spPr>
          <a:xfrm>
            <a:off x="5961888" y="4754880"/>
            <a:ext cx="512064"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2.67</a:t>
            </a:r>
            <a:endParaRPr lang="en-US" sz="850" dirty="0"/>
          </a:p>
        </p:txBody>
      </p:sp>
      <p:sp>
        <p:nvSpPr>
          <p:cNvPr id="149" name="Shape 147"/>
          <p:cNvSpPr/>
          <p:nvPr/>
        </p:nvSpPr>
        <p:spPr>
          <a:xfrm>
            <a:off x="6473952" y="4754880"/>
            <a:ext cx="512064" cy="292608"/>
          </a:xfrm>
          <a:prstGeom prst="rect">
            <a:avLst/>
          </a:prstGeom>
          <a:solidFill>
            <a:srgbClr val="D8E8FF"/>
          </a:solidFill>
          <a:ln w="6350">
            <a:solidFill>
              <a:srgbClr val="C0C8E0"/>
            </a:solidFill>
            <a:prstDash val="solid"/>
          </a:ln>
        </p:spPr>
      </p:sp>
      <p:sp>
        <p:nvSpPr>
          <p:cNvPr id="150" name="Text 148"/>
          <p:cNvSpPr/>
          <p:nvPr/>
        </p:nvSpPr>
        <p:spPr>
          <a:xfrm>
            <a:off x="6473952" y="4754880"/>
            <a:ext cx="512064"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.008</a:t>
            </a:r>
            <a:endParaRPr lang="en-US" sz="850" dirty="0"/>
          </a:p>
        </p:txBody>
      </p:sp>
      <p:sp>
        <p:nvSpPr>
          <p:cNvPr id="151" name="Shape 149"/>
          <p:cNvSpPr/>
          <p:nvPr/>
        </p:nvSpPr>
        <p:spPr>
          <a:xfrm>
            <a:off x="6986016" y="4754880"/>
            <a:ext cx="1005840" cy="292608"/>
          </a:xfrm>
          <a:prstGeom prst="rect">
            <a:avLst/>
          </a:prstGeom>
          <a:solidFill>
            <a:srgbClr val="EAEEF8"/>
          </a:solidFill>
          <a:ln w="6350">
            <a:solidFill>
              <a:srgbClr val="C0C8E0"/>
            </a:solidFill>
            <a:prstDash val="solid"/>
          </a:ln>
        </p:spPr>
      </p:sp>
      <p:sp>
        <p:nvSpPr>
          <p:cNvPr id="152" name="Text 150"/>
          <p:cNvSpPr/>
          <p:nvPr/>
        </p:nvSpPr>
        <p:spPr>
          <a:xfrm>
            <a:off x="6986016" y="4754880"/>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[.034,.222]</a:t>
            </a:r>
            <a:endParaRPr lang="en-US" sz="850" dirty="0"/>
          </a:p>
        </p:txBody>
      </p:sp>
      <p:sp>
        <p:nvSpPr>
          <p:cNvPr id="153" name="Shape 151"/>
          <p:cNvSpPr/>
          <p:nvPr/>
        </p:nvSpPr>
        <p:spPr>
          <a:xfrm>
            <a:off x="7991856" y="4754880"/>
            <a:ext cx="475488" cy="292608"/>
          </a:xfrm>
          <a:prstGeom prst="rect">
            <a:avLst/>
          </a:prstGeom>
          <a:solidFill>
            <a:srgbClr val="EAEEF8"/>
          </a:solidFill>
          <a:ln w="6350">
            <a:solidFill>
              <a:srgbClr val="C0C8E0"/>
            </a:solidFill>
            <a:prstDash val="solid"/>
          </a:ln>
        </p:spPr>
      </p:sp>
      <p:sp>
        <p:nvSpPr>
          <p:cNvPr id="154" name="Text 152"/>
          <p:cNvSpPr/>
          <p:nvPr/>
        </p:nvSpPr>
        <p:spPr>
          <a:xfrm>
            <a:off x="7991856" y="4754880"/>
            <a:ext cx="4754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1.08</a:t>
            </a:r>
            <a:endParaRPr lang="en-US" sz="850" dirty="0"/>
          </a:p>
        </p:txBody>
      </p:sp>
      <p:sp>
        <p:nvSpPr>
          <p:cNvPr id="155" name="Shape 153"/>
          <p:cNvSpPr/>
          <p:nvPr/>
        </p:nvSpPr>
        <p:spPr>
          <a:xfrm>
            <a:off x="3145536" y="5047488"/>
            <a:ext cx="1389888" cy="292608"/>
          </a:xfrm>
          <a:prstGeom prst="rect">
            <a:avLst/>
          </a:prstGeom>
          <a:solidFill>
            <a:srgbClr val="FFFFFF"/>
          </a:solidFill>
          <a:ln w="6350">
            <a:solidFill>
              <a:srgbClr val="C0C8E0"/>
            </a:solidFill>
            <a:prstDash val="solid"/>
          </a:ln>
        </p:spPr>
      </p:sp>
      <p:sp>
        <p:nvSpPr>
          <p:cNvPr id="156" name="Text 154"/>
          <p:cNvSpPr/>
          <p:nvPr/>
        </p:nvSpPr>
        <p:spPr>
          <a:xfrm>
            <a:off x="3145536" y="5047488"/>
            <a:ext cx="1389888"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edu_3cat (High)</a:t>
            </a:r>
            <a:endParaRPr lang="en-US" sz="850" dirty="0"/>
          </a:p>
        </p:txBody>
      </p:sp>
      <p:sp>
        <p:nvSpPr>
          <p:cNvPr id="157" name="Shape 155"/>
          <p:cNvSpPr/>
          <p:nvPr/>
        </p:nvSpPr>
        <p:spPr>
          <a:xfrm>
            <a:off x="4535424" y="5047488"/>
            <a:ext cx="475488" cy="292608"/>
          </a:xfrm>
          <a:prstGeom prst="rect">
            <a:avLst/>
          </a:prstGeom>
          <a:solidFill>
            <a:srgbClr val="FFFFFF"/>
          </a:solidFill>
          <a:ln w="6350">
            <a:solidFill>
              <a:srgbClr val="C0C8E0"/>
            </a:solidFill>
            <a:prstDash val="solid"/>
          </a:ln>
        </p:spPr>
      </p:sp>
      <p:sp>
        <p:nvSpPr>
          <p:cNvPr id="158" name="Text 156"/>
          <p:cNvSpPr/>
          <p:nvPr/>
        </p:nvSpPr>
        <p:spPr>
          <a:xfrm>
            <a:off x="4535424" y="5047488"/>
            <a:ext cx="4754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.092</a:t>
            </a:r>
            <a:endParaRPr lang="en-US" sz="850" dirty="0"/>
          </a:p>
        </p:txBody>
      </p:sp>
      <p:sp>
        <p:nvSpPr>
          <p:cNvPr id="159" name="Shape 157"/>
          <p:cNvSpPr/>
          <p:nvPr/>
        </p:nvSpPr>
        <p:spPr>
          <a:xfrm>
            <a:off x="5010912" y="5047488"/>
            <a:ext cx="438912" cy="292608"/>
          </a:xfrm>
          <a:prstGeom prst="rect">
            <a:avLst/>
          </a:prstGeom>
          <a:solidFill>
            <a:srgbClr val="FFFFFF"/>
          </a:solidFill>
          <a:ln w="6350">
            <a:solidFill>
              <a:srgbClr val="C0C8E0"/>
            </a:solidFill>
            <a:prstDash val="solid"/>
          </a:ln>
        </p:spPr>
      </p:sp>
      <p:sp>
        <p:nvSpPr>
          <p:cNvPr id="160" name="Text 158"/>
          <p:cNvSpPr/>
          <p:nvPr/>
        </p:nvSpPr>
        <p:spPr>
          <a:xfrm>
            <a:off x="5010912" y="5047488"/>
            <a:ext cx="4389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.058</a:t>
            </a:r>
            <a:endParaRPr lang="en-US" sz="850" dirty="0"/>
          </a:p>
        </p:txBody>
      </p:sp>
      <p:sp>
        <p:nvSpPr>
          <p:cNvPr id="161" name="Shape 159"/>
          <p:cNvSpPr/>
          <p:nvPr/>
        </p:nvSpPr>
        <p:spPr>
          <a:xfrm>
            <a:off x="5449824" y="5047488"/>
            <a:ext cx="512064" cy="292608"/>
          </a:xfrm>
          <a:prstGeom prst="rect">
            <a:avLst/>
          </a:prstGeom>
          <a:solidFill>
            <a:srgbClr val="FFFFFF"/>
          </a:solidFill>
          <a:ln w="6350">
            <a:solidFill>
              <a:srgbClr val="C0C8E0"/>
            </a:solidFill>
            <a:prstDash val="solid"/>
          </a:ln>
        </p:spPr>
      </p:sp>
      <p:sp>
        <p:nvSpPr>
          <p:cNvPr id="162" name="Text 160"/>
          <p:cNvSpPr/>
          <p:nvPr/>
        </p:nvSpPr>
        <p:spPr>
          <a:xfrm>
            <a:off x="5449824" y="5047488"/>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.064</a:t>
            </a:r>
            <a:endParaRPr lang="en-US" sz="850" dirty="0"/>
          </a:p>
        </p:txBody>
      </p:sp>
      <p:sp>
        <p:nvSpPr>
          <p:cNvPr id="163" name="Shape 161"/>
          <p:cNvSpPr/>
          <p:nvPr/>
        </p:nvSpPr>
        <p:spPr>
          <a:xfrm>
            <a:off x="5961888" y="5047488"/>
            <a:ext cx="512064" cy="292608"/>
          </a:xfrm>
          <a:prstGeom prst="rect">
            <a:avLst/>
          </a:prstGeom>
          <a:solidFill>
            <a:srgbClr val="FFFFFF"/>
          </a:solidFill>
          <a:ln w="6350">
            <a:solidFill>
              <a:srgbClr val="C0C8E0"/>
            </a:solidFill>
            <a:prstDash val="solid"/>
          </a:ln>
        </p:spPr>
      </p:sp>
      <p:sp>
        <p:nvSpPr>
          <p:cNvPr id="164" name="Text 162"/>
          <p:cNvSpPr/>
          <p:nvPr/>
        </p:nvSpPr>
        <p:spPr>
          <a:xfrm>
            <a:off x="5961888" y="5047488"/>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1.59</a:t>
            </a:r>
            <a:endParaRPr lang="en-US" sz="850" dirty="0"/>
          </a:p>
        </p:txBody>
      </p:sp>
      <p:sp>
        <p:nvSpPr>
          <p:cNvPr id="165" name="Shape 163"/>
          <p:cNvSpPr/>
          <p:nvPr/>
        </p:nvSpPr>
        <p:spPr>
          <a:xfrm>
            <a:off x="6473952" y="5047488"/>
            <a:ext cx="512064" cy="292608"/>
          </a:xfrm>
          <a:prstGeom prst="rect">
            <a:avLst/>
          </a:prstGeom>
          <a:solidFill>
            <a:srgbClr val="FFFFFF"/>
          </a:solidFill>
          <a:ln w="6350">
            <a:solidFill>
              <a:srgbClr val="C0C8E0"/>
            </a:solidFill>
            <a:prstDash val="solid"/>
          </a:ln>
        </p:spPr>
      </p:sp>
      <p:sp>
        <p:nvSpPr>
          <p:cNvPr id="166" name="Text 164"/>
          <p:cNvSpPr/>
          <p:nvPr/>
        </p:nvSpPr>
        <p:spPr>
          <a:xfrm>
            <a:off x="6473952" y="5047488"/>
            <a:ext cx="5120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.113</a:t>
            </a:r>
            <a:endParaRPr lang="en-US" sz="850" dirty="0"/>
          </a:p>
        </p:txBody>
      </p:sp>
      <p:sp>
        <p:nvSpPr>
          <p:cNvPr id="167" name="Shape 165"/>
          <p:cNvSpPr/>
          <p:nvPr/>
        </p:nvSpPr>
        <p:spPr>
          <a:xfrm>
            <a:off x="6986016" y="5047488"/>
            <a:ext cx="1005840" cy="292608"/>
          </a:xfrm>
          <a:prstGeom prst="rect">
            <a:avLst/>
          </a:prstGeom>
          <a:solidFill>
            <a:srgbClr val="FFFFFF"/>
          </a:solidFill>
          <a:ln w="6350">
            <a:solidFill>
              <a:srgbClr val="C0C8E0"/>
            </a:solidFill>
            <a:prstDash val="solid"/>
          </a:ln>
        </p:spPr>
      </p:sp>
      <p:sp>
        <p:nvSpPr>
          <p:cNvPr id="168" name="Text 166"/>
          <p:cNvSpPr/>
          <p:nvPr/>
        </p:nvSpPr>
        <p:spPr>
          <a:xfrm>
            <a:off x="6986016" y="5047488"/>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[-.022,.206]</a:t>
            </a:r>
            <a:endParaRPr lang="en-US" sz="850" dirty="0"/>
          </a:p>
        </p:txBody>
      </p:sp>
      <p:sp>
        <p:nvSpPr>
          <p:cNvPr id="169" name="Shape 167"/>
          <p:cNvSpPr/>
          <p:nvPr/>
        </p:nvSpPr>
        <p:spPr>
          <a:xfrm>
            <a:off x="7991856" y="5047488"/>
            <a:ext cx="475488" cy="292608"/>
          </a:xfrm>
          <a:prstGeom prst="rect">
            <a:avLst/>
          </a:prstGeom>
          <a:solidFill>
            <a:srgbClr val="FFFFFF"/>
          </a:solidFill>
          <a:ln w="6350">
            <a:solidFill>
              <a:srgbClr val="C0C8E0"/>
            </a:solidFill>
            <a:prstDash val="solid"/>
          </a:ln>
        </p:spPr>
      </p:sp>
      <p:sp>
        <p:nvSpPr>
          <p:cNvPr id="170" name="Text 168"/>
          <p:cNvSpPr/>
          <p:nvPr/>
        </p:nvSpPr>
        <p:spPr>
          <a:xfrm>
            <a:off x="7991856" y="5047488"/>
            <a:ext cx="4754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1.34</a:t>
            </a:r>
            <a:endParaRPr lang="en-US" sz="850" dirty="0"/>
          </a:p>
        </p:txBody>
      </p:sp>
      <p:sp>
        <p:nvSpPr>
          <p:cNvPr id="171" name="Text 169"/>
          <p:cNvSpPr/>
          <p:nvPr/>
        </p:nvSpPr>
        <p:spPr>
          <a:xfrm>
            <a:off x="3145536" y="4864608"/>
            <a:ext cx="5577840" cy="347472"/>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R² = .551: The model explains 55.1% of variance in sat_mean. Significant predictors: repurchase_intention (strongest, Beta=.548), monthly_salary_ngn (Beta=.218), gender (Beta=.089). Education not significant (p=.113).</a:t>
            </a:r>
            <a:endParaRPr lang="en-US" sz="900" dirty="0"/>
          </a:p>
        </p:txBody>
      </p:sp>
      <p:sp>
        <p:nvSpPr>
          <p:cNvPr id="172" name="Shape 170"/>
          <p:cNvSpPr/>
          <p:nvPr/>
        </p:nvSpPr>
        <p:spPr>
          <a:xfrm>
            <a:off x="256032" y="5230368"/>
            <a:ext cx="8631936" cy="347472"/>
          </a:xfrm>
          <a:prstGeom prst="roundRect">
            <a:avLst>
              <a:gd name="adj" fmla="val 15789"/>
            </a:avLst>
          </a:prstGeom>
          <a:solidFill>
            <a:srgbClr val="FFFBEC"/>
          </a:solidFill>
          <a:ln w="19050">
            <a:solidFill>
              <a:srgbClr val="C8920A"/>
            </a:solidFill>
            <a:prstDash val="solid"/>
          </a:ln>
        </p:spPr>
      </p:sp>
      <p:sp>
        <p:nvSpPr>
          <p:cNvPr id="173" name="Text 171"/>
          <p:cNvSpPr/>
          <p:nvPr/>
        </p:nvSpPr>
        <p:spPr>
          <a:xfrm>
            <a:off x="384048" y="5230368"/>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APA Report: Multiple regression revealed that repurchase intention, monthly salary, and gender significantly predicted consumer satisfaction, R²=.551, F(5,444)=72.4, p&lt;.001. Repurchase intention was the strongest predictor (Beta=.548, p&lt;.001).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1A2D6B">
              <a:alpha val="16000"/>
            </a:srgbClr>
          </a:solidFill>
          <a:ln w="12700">
            <a:solidFill>
              <a:srgbClr val="1A2D6B"/>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Regression Assumptions - Checking Diagnostics in SPSS</a:t>
            </a:r>
            <a:endParaRPr lang="en-US" sz="2700" dirty="0"/>
          </a:p>
        </p:txBody>
      </p:sp>
      <p:sp>
        <p:nvSpPr>
          <p:cNvPr id="4" name="Shape 2"/>
          <p:cNvSpPr/>
          <p:nvPr/>
        </p:nvSpPr>
        <p:spPr>
          <a:xfrm>
            <a:off x="274320" y="932688"/>
            <a:ext cx="4160520" cy="1298448"/>
          </a:xfrm>
          <a:prstGeom prst="roundRect">
            <a:avLst>
              <a:gd name="adj" fmla="val 5634"/>
            </a:avLst>
          </a:prstGeom>
          <a:solidFill>
            <a:srgbClr val="111A30"/>
          </a:solidFill>
          <a:ln w="12700">
            <a:solidFill>
              <a:srgbClr val="2748A8"/>
            </a:solidFill>
            <a:prstDash val="solid"/>
          </a:ln>
        </p:spPr>
      </p:sp>
      <p:sp>
        <p:nvSpPr>
          <p:cNvPr id="5" name="Shape 3"/>
          <p:cNvSpPr/>
          <p:nvPr/>
        </p:nvSpPr>
        <p:spPr>
          <a:xfrm>
            <a:off x="365760" y="1005840"/>
            <a:ext cx="1417320" cy="256032"/>
          </a:xfrm>
          <a:prstGeom prst="roundRect">
            <a:avLst>
              <a:gd name="adj" fmla="val 17857"/>
            </a:avLst>
          </a:prstGeom>
          <a:solidFill>
            <a:srgbClr val="2748A8"/>
          </a:solidFill>
          <a:ln w="12700">
            <a:solidFill>
              <a:srgbClr val="2748A8"/>
            </a:solidFill>
            <a:prstDash val="solid"/>
          </a:ln>
        </p:spPr>
      </p:sp>
      <p:sp>
        <p:nvSpPr>
          <p:cNvPr id="6" name="Text 4"/>
          <p:cNvSpPr/>
          <p:nvPr/>
        </p:nvSpPr>
        <p:spPr>
          <a:xfrm>
            <a:off x="365760" y="1005840"/>
            <a:ext cx="1417320" cy="256032"/>
          </a:xfrm>
          <a:prstGeom prst="rect">
            <a:avLst/>
          </a:prstGeom>
          <a:noFill/>
          <a:ln/>
        </p:spPr>
        <p:txBody>
          <a:bodyPr wrap="square" lIns="0" tIns="0" rIns="0" bIns="0" rtlCol="0" anchor="ctr"/>
          <a:lstStyle/>
          <a:p>
            <a:pPr algn="ctr" indent="0" marL="0">
              <a:buNone/>
            </a:pPr>
            <a:r>
              <a:rPr lang="en-US" sz="950" b="1" dirty="0">
                <a:solidFill>
                  <a:srgbClr val="0A0F1E"/>
                </a:solidFill>
                <a:latin typeface="Calibri" pitchFamily="34" charset="0"/>
                <a:ea typeface="Calibri" pitchFamily="34" charset="-122"/>
                <a:cs typeface="Calibri" pitchFamily="34" charset="-120"/>
              </a:rPr>
              <a:t>Linearity</a:t>
            </a:r>
            <a:endParaRPr lang="en-US" sz="950" dirty="0"/>
          </a:p>
        </p:txBody>
      </p:sp>
      <p:sp>
        <p:nvSpPr>
          <p:cNvPr id="7" name="Text 5"/>
          <p:cNvSpPr/>
          <p:nvPr/>
        </p:nvSpPr>
        <p:spPr>
          <a:xfrm>
            <a:off x="384048" y="1335024"/>
            <a:ext cx="3913632" cy="365760"/>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Examine scatterplots of residuals vs. each predictor. Residuals should show random scatter (no curve).</a:t>
            </a:r>
            <a:endParaRPr lang="en-US" sz="850" dirty="0"/>
          </a:p>
        </p:txBody>
      </p:sp>
      <p:sp>
        <p:nvSpPr>
          <p:cNvPr id="8" name="Text 6"/>
          <p:cNvSpPr/>
          <p:nvPr/>
        </p:nvSpPr>
        <p:spPr>
          <a:xfrm>
            <a:off x="384048" y="1719072"/>
            <a:ext cx="3913632" cy="274320"/>
          </a:xfrm>
          <a:prstGeom prst="rect">
            <a:avLst/>
          </a:prstGeom>
          <a:noFill/>
          <a:ln/>
        </p:spPr>
        <p:txBody>
          <a:bodyPr wrap="square" lIns="0" tIns="0" rIns="0" bIns="0" rtlCol="0" anchor="ctr"/>
          <a:lstStyle/>
          <a:p>
            <a:pPr indent="0" marL="0">
              <a:buNone/>
            </a:pPr>
            <a:r>
              <a:rPr lang="en-US" sz="850" b="1" dirty="0">
                <a:solidFill>
                  <a:srgbClr val="2748A8"/>
                </a:solidFill>
                <a:latin typeface="Calibri" pitchFamily="34" charset="0"/>
                <a:ea typeface="Calibri" pitchFamily="34" charset="-122"/>
                <a:cs typeface="Calibri" pitchFamily="34" charset="-120"/>
              </a:rPr>
              <a:t>SPSS: </a:t>
            </a:r>
            <a:pPr indent="0" marL="0">
              <a:buNone/>
            </a:pPr>
            <a:r>
              <a:rPr lang="en-US" sz="850" dirty="0">
                <a:solidFill>
                  <a:srgbClr val="7890C8"/>
                </a:solidFill>
                <a:latin typeface="Calibri" pitchFamily="34" charset="0"/>
                <a:ea typeface="Calibri" pitchFamily="34" charset="-122"/>
                <a:cs typeface="Calibri" pitchFamily="34" charset="-120"/>
              </a:rPr>
              <a:t>Plots dialog: ZPRED (X) vs ZRESID (Y). If curved pattern - transformation needed.</a:t>
            </a:r>
            <a:endParaRPr lang="en-US" sz="850" dirty="0"/>
          </a:p>
        </p:txBody>
      </p:sp>
      <p:sp>
        <p:nvSpPr>
          <p:cNvPr id="9" name="Text 7"/>
          <p:cNvSpPr/>
          <p:nvPr/>
        </p:nvSpPr>
        <p:spPr>
          <a:xfrm>
            <a:off x="384048" y="2011680"/>
            <a:ext cx="3913632" cy="182880"/>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Fix: Transform predictor using LN() or SQRT() if curved relationship detected.</a:t>
            </a:r>
            <a:endParaRPr lang="en-US" sz="800" dirty="0"/>
          </a:p>
        </p:txBody>
      </p:sp>
      <p:sp>
        <p:nvSpPr>
          <p:cNvPr id="10" name="Shape 8"/>
          <p:cNvSpPr/>
          <p:nvPr/>
        </p:nvSpPr>
        <p:spPr>
          <a:xfrm>
            <a:off x="274320" y="2322576"/>
            <a:ext cx="4160520" cy="1298448"/>
          </a:xfrm>
          <a:prstGeom prst="roundRect">
            <a:avLst>
              <a:gd name="adj" fmla="val 5634"/>
            </a:avLst>
          </a:prstGeom>
          <a:solidFill>
            <a:srgbClr val="111A30"/>
          </a:solidFill>
          <a:ln w="12700">
            <a:solidFill>
              <a:srgbClr val="12A374"/>
            </a:solidFill>
            <a:prstDash val="solid"/>
          </a:ln>
        </p:spPr>
      </p:sp>
      <p:sp>
        <p:nvSpPr>
          <p:cNvPr id="11" name="Shape 9"/>
          <p:cNvSpPr/>
          <p:nvPr/>
        </p:nvSpPr>
        <p:spPr>
          <a:xfrm>
            <a:off x="365760" y="2395728"/>
            <a:ext cx="1417320" cy="256032"/>
          </a:xfrm>
          <a:prstGeom prst="roundRect">
            <a:avLst>
              <a:gd name="adj" fmla="val 17857"/>
            </a:avLst>
          </a:prstGeom>
          <a:solidFill>
            <a:srgbClr val="12A374"/>
          </a:solidFill>
          <a:ln w="12700">
            <a:solidFill>
              <a:srgbClr val="12A374"/>
            </a:solidFill>
            <a:prstDash val="solid"/>
          </a:ln>
        </p:spPr>
      </p:sp>
      <p:sp>
        <p:nvSpPr>
          <p:cNvPr id="12" name="Text 10"/>
          <p:cNvSpPr/>
          <p:nvPr/>
        </p:nvSpPr>
        <p:spPr>
          <a:xfrm>
            <a:off x="365760" y="2395728"/>
            <a:ext cx="1417320" cy="256032"/>
          </a:xfrm>
          <a:prstGeom prst="rect">
            <a:avLst/>
          </a:prstGeom>
          <a:noFill/>
          <a:ln/>
        </p:spPr>
        <p:txBody>
          <a:bodyPr wrap="square" lIns="0" tIns="0" rIns="0" bIns="0" rtlCol="0" anchor="ctr"/>
          <a:lstStyle/>
          <a:p>
            <a:pPr algn="ctr" indent="0" marL="0">
              <a:buNone/>
            </a:pPr>
            <a:r>
              <a:rPr lang="en-US" sz="950" b="1" dirty="0">
                <a:solidFill>
                  <a:srgbClr val="0A0F1E"/>
                </a:solidFill>
                <a:latin typeface="Calibri" pitchFamily="34" charset="0"/>
                <a:ea typeface="Calibri" pitchFamily="34" charset="-122"/>
                <a:cs typeface="Calibri" pitchFamily="34" charset="-120"/>
              </a:rPr>
              <a:t>Independence of Residuals</a:t>
            </a:r>
            <a:endParaRPr lang="en-US" sz="950" dirty="0"/>
          </a:p>
        </p:txBody>
      </p:sp>
      <p:sp>
        <p:nvSpPr>
          <p:cNvPr id="13" name="Text 11"/>
          <p:cNvSpPr/>
          <p:nvPr/>
        </p:nvSpPr>
        <p:spPr>
          <a:xfrm>
            <a:off x="384048" y="2724912"/>
            <a:ext cx="3913632" cy="365760"/>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Each observation is independent. Residuals show no autocorrelation. Durbin-Watson statistic should be near 2.0.</a:t>
            </a:r>
            <a:endParaRPr lang="en-US" sz="850" dirty="0"/>
          </a:p>
        </p:txBody>
      </p:sp>
      <p:sp>
        <p:nvSpPr>
          <p:cNvPr id="14" name="Text 12"/>
          <p:cNvSpPr/>
          <p:nvPr/>
        </p:nvSpPr>
        <p:spPr>
          <a:xfrm>
            <a:off x="384048" y="3108960"/>
            <a:ext cx="3913632" cy="274320"/>
          </a:xfrm>
          <a:prstGeom prst="rect">
            <a:avLst/>
          </a:prstGeom>
          <a:noFill/>
          <a:ln/>
        </p:spPr>
        <p:txBody>
          <a:bodyPr wrap="square" lIns="0" tIns="0" rIns="0" bIns="0" rtlCol="0" anchor="ctr"/>
          <a:lstStyle/>
          <a:p>
            <a:pPr indent="0" marL="0">
              <a:buNone/>
            </a:pPr>
            <a:r>
              <a:rPr lang="en-US" sz="850" b="1" dirty="0">
                <a:solidFill>
                  <a:srgbClr val="12A374"/>
                </a:solidFill>
                <a:latin typeface="Calibri" pitchFamily="34" charset="0"/>
                <a:ea typeface="Calibri" pitchFamily="34" charset="-122"/>
                <a:cs typeface="Calibri" pitchFamily="34" charset="-120"/>
              </a:rPr>
              <a:t>SPSS: </a:t>
            </a:r>
            <a:pPr indent="0" marL="0">
              <a:buNone/>
            </a:pPr>
            <a:r>
              <a:rPr lang="en-US" sz="850" dirty="0">
                <a:solidFill>
                  <a:srgbClr val="7890C8"/>
                </a:solidFill>
                <a:latin typeface="Calibri" pitchFamily="34" charset="0"/>
                <a:ea typeface="Calibri" pitchFamily="34" charset="-122"/>
                <a:cs typeface="Calibri" pitchFamily="34" charset="-120"/>
              </a:rPr>
              <a:t>Statistics dialog: check Durbin-Watson. Values &lt; 1.5 or &gt; 2.5 indicate autocorrelation.</a:t>
            </a:r>
            <a:endParaRPr lang="en-US" sz="850" dirty="0"/>
          </a:p>
        </p:txBody>
      </p:sp>
      <p:sp>
        <p:nvSpPr>
          <p:cNvPr id="15" name="Text 13"/>
          <p:cNvSpPr/>
          <p:nvPr/>
        </p:nvSpPr>
        <p:spPr>
          <a:xfrm>
            <a:off x="384048" y="3401568"/>
            <a:ext cx="3913632" cy="182880"/>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Fix: For longitudinal data, add lag variables. For clustered data, use multilevel modelling.</a:t>
            </a:r>
            <a:endParaRPr lang="en-US" sz="800" dirty="0"/>
          </a:p>
        </p:txBody>
      </p:sp>
      <p:sp>
        <p:nvSpPr>
          <p:cNvPr id="16" name="Shape 14"/>
          <p:cNvSpPr/>
          <p:nvPr/>
        </p:nvSpPr>
        <p:spPr>
          <a:xfrm>
            <a:off x="274320" y="3712464"/>
            <a:ext cx="4160520" cy="1298448"/>
          </a:xfrm>
          <a:prstGeom prst="roundRect">
            <a:avLst>
              <a:gd name="adj" fmla="val 5634"/>
            </a:avLst>
          </a:prstGeom>
          <a:solidFill>
            <a:srgbClr val="111A30"/>
          </a:solidFill>
          <a:ln w="12700">
            <a:solidFill>
              <a:srgbClr val="C8920A"/>
            </a:solidFill>
            <a:prstDash val="solid"/>
          </a:ln>
        </p:spPr>
      </p:sp>
      <p:sp>
        <p:nvSpPr>
          <p:cNvPr id="17" name="Shape 15"/>
          <p:cNvSpPr/>
          <p:nvPr/>
        </p:nvSpPr>
        <p:spPr>
          <a:xfrm>
            <a:off x="365760" y="3785616"/>
            <a:ext cx="1417320" cy="256032"/>
          </a:xfrm>
          <a:prstGeom prst="roundRect">
            <a:avLst>
              <a:gd name="adj" fmla="val 17857"/>
            </a:avLst>
          </a:prstGeom>
          <a:solidFill>
            <a:srgbClr val="C8920A"/>
          </a:solidFill>
          <a:ln w="12700">
            <a:solidFill>
              <a:srgbClr val="C8920A"/>
            </a:solidFill>
            <a:prstDash val="solid"/>
          </a:ln>
        </p:spPr>
      </p:sp>
      <p:sp>
        <p:nvSpPr>
          <p:cNvPr id="18" name="Text 16"/>
          <p:cNvSpPr/>
          <p:nvPr/>
        </p:nvSpPr>
        <p:spPr>
          <a:xfrm>
            <a:off x="365760" y="3785616"/>
            <a:ext cx="1417320" cy="256032"/>
          </a:xfrm>
          <a:prstGeom prst="rect">
            <a:avLst/>
          </a:prstGeom>
          <a:noFill/>
          <a:ln/>
        </p:spPr>
        <p:txBody>
          <a:bodyPr wrap="square" lIns="0" tIns="0" rIns="0" bIns="0" rtlCol="0" anchor="ctr"/>
          <a:lstStyle/>
          <a:p>
            <a:pPr algn="ctr" indent="0" marL="0">
              <a:buNone/>
            </a:pPr>
            <a:r>
              <a:rPr lang="en-US" sz="950" b="1" dirty="0">
                <a:solidFill>
                  <a:srgbClr val="0A0F1E"/>
                </a:solidFill>
                <a:latin typeface="Calibri" pitchFamily="34" charset="0"/>
                <a:ea typeface="Calibri" pitchFamily="34" charset="-122"/>
                <a:cs typeface="Calibri" pitchFamily="34" charset="-120"/>
              </a:rPr>
              <a:t>Homoscedasticity</a:t>
            </a:r>
            <a:endParaRPr lang="en-US" sz="950" dirty="0"/>
          </a:p>
        </p:txBody>
      </p:sp>
      <p:sp>
        <p:nvSpPr>
          <p:cNvPr id="19" name="Text 17"/>
          <p:cNvSpPr/>
          <p:nvPr/>
        </p:nvSpPr>
        <p:spPr>
          <a:xfrm>
            <a:off x="384048" y="4114800"/>
            <a:ext cx="3913632" cy="365760"/>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Residuals have constant variance across all fitted values. ZPRED vs ZRESID plot shows horizontal band of random scatter.</a:t>
            </a:r>
            <a:endParaRPr lang="en-US" sz="850" dirty="0"/>
          </a:p>
        </p:txBody>
      </p:sp>
      <p:sp>
        <p:nvSpPr>
          <p:cNvPr id="20" name="Text 18"/>
          <p:cNvSpPr/>
          <p:nvPr/>
        </p:nvSpPr>
        <p:spPr>
          <a:xfrm>
            <a:off x="384048" y="4498848"/>
            <a:ext cx="3913632" cy="274320"/>
          </a:xfrm>
          <a:prstGeom prst="rect">
            <a:avLst/>
          </a:prstGeom>
          <a:noFill/>
          <a:ln/>
        </p:spPr>
        <p:txBody>
          <a:bodyPr wrap="square" lIns="0" tIns="0" rIns="0" bIns="0" rtlCol="0" anchor="ctr"/>
          <a:lstStyle/>
          <a:p>
            <a:pPr indent="0" marL="0">
              <a:buNone/>
            </a:pPr>
            <a:r>
              <a:rPr lang="en-US" sz="850" b="1" dirty="0">
                <a:solidFill>
                  <a:srgbClr val="C8920A"/>
                </a:solidFill>
                <a:latin typeface="Calibri" pitchFamily="34" charset="0"/>
                <a:ea typeface="Calibri" pitchFamily="34" charset="-122"/>
                <a:cs typeface="Calibri" pitchFamily="34" charset="-120"/>
              </a:rPr>
              <a:t>SPSS: </a:t>
            </a:r>
            <a:pPr indent="0" marL="0">
              <a:buNone/>
            </a:pPr>
            <a:r>
              <a:rPr lang="en-US" sz="850" dirty="0">
                <a:solidFill>
                  <a:srgbClr val="7890C8"/>
                </a:solidFill>
                <a:latin typeface="Calibri" pitchFamily="34" charset="0"/>
                <a:ea typeface="Calibri" pitchFamily="34" charset="-122"/>
                <a:cs typeface="Calibri" pitchFamily="34" charset="-120"/>
              </a:rPr>
              <a:t>ZPRED vs ZRESID scatterplot. If fan-shaped pattern (variance increases with predicted values) - heteroscedasticity.</a:t>
            </a:r>
            <a:endParaRPr lang="en-US" sz="850" dirty="0"/>
          </a:p>
        </p:txBody>
      </p:sp>
      <p:sp>
        <p:nvSpPr>
          <p:cNvPr id="21" name="Text 19"/>
          <p:cNvSpPr/>
          <p:nvPr/>
        </p:nvSpPr>
        <p:spPr>
          <a:xfrm>
            <a:off x="384048" y="4791456"/>
            <a:ext cx="3913632" cy="182880"/>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Fix: Transform DV using LN() or SQRT(). Or use weighted least squares regression.</a:t>
            </a:r>
            <a:endParaRPr lang="en-US" sz="800" dirty="0"/>
          </a:p>
        </p:txBody>
      </p:sp>
      <p:sp>
        <p:nvSpPr>
          <p:cNvPr id="22" name="Shape 20"/>
          <p:cNvSpPr/>
          <p:nvPr/>
        </p:nvSpPr>
        <p:spPr>
          <a:xfrm>
            <a:off x="4736592" y="932688"/>
            <a:ext cx="4160520" cy="1298448"/>
          </a:xfrm>
          <a:prstGeom prst="roundRect">
            <a:avLst>
              <a:gd name="adj" fmla="val 5634"/>
            </a:avLst>
          </a:prstGeom>
          <a:solidFill>
            <a:srgbClr val="111A30"/>
          </a:solidFill>
          <a:ln w="12700">
            <a:solidFill>
              <a:srgbClr val="6B52C8"/>
            </a:solidFill>
            <a:prstDash val="solid"/>
          </a:ln>
        </p:spPr>
      </p:sp>
      <p:sp>
        <p:nvSpPr>
          <p:cNvPr id="23" name="Shape 21"/>
          <p:cNvSpPr/>
          <p:nvPr/>
        </p:nvSpPr>
        <p:spPr>
          <a:xfrm>
            <a:off x="4828032" y="1005840"/>
            <a:ext cx="1417320" cy="256032"/>
          </a:xfrm>
          <a:prstGeom prst="roundRect">
            <a:avLst>
              <a:gd name="adj" fmla="val 17857"/>
            </a:avLst>
          </a:prstGeom>
          <a:solidFill>
            <a:srgbClr val="6B52C8"/>
          </a:solidFill>
          <a:ln w="12700">
            <a:solidFill>
              <a:srgbClr val="6B52C8"/>
            </a:solidFill>
            <a:prstDash val="solid"/>
          </a:ln>
        </p:spPr>
      </p:sp>
      <p:sp>
        <p:nvSpPr>
          <p:cNvPr id="24" name="Text 22"/>
          <p:cNvSpPr/>
          <p:nvPr/>
        </p:nvSpPr>
        <p:spPr>
          <a:xfrm>
            <a:off x="4828032" y="1005840"/>
            <a:ext cx="141732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Normality of Residuals</a:t>
            </a:r>
            <a:endParaRPr lang="en-US" sz="950" dirty="0"/>
          </a:p>
        </p:txBody>
      </p:sp>
      <p:sp>
        <p:nvSpPr>
          <p:cNvPr id="25" name="Text 23"/>
          <p:cNvSpPr/>
          <p:nvPr/>
        </p:nvSpPr>
        <p:spPr>
          <a:xfrm>
            <a:off x="4846320" y="1335024"/>
            <a:ext cx="3913632" cy="365760"/>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Residuals are approximately normally distributed. Not the DV itself - the residuals from the model.</a:t>
            </a:r>
            <a:endParaRPr lang="en-US" sz="850" dirty="0"/>
          </a:p>
        </p:txBody>
      </p:sp>
      <p:sp>
        <p:nvSpPr>
          <p:cNvPr id="26" name="Text 24"/>
          <p:cNvSpPr/>
          <p:nvPr/>
        </p:nvSpPr>
        <p:spPr>
          <a:xfrm>
            <a:off x="4846320" y="1719072"/>
            <a:ext cx="3913632" cy="274320"/>
          </a:xfrm>
          <a:prstGeom prst="rect">
            <a:avLst/>
          </a:prstGeom>
          <a:noFill/>
          <a:ln/>
        </p:spPr>
        <p:txBody>
          <a:bodyPr wrap="square" lIns="0" tIns="0" rIns="0" bIns="0" rtlCol="0" anchor="ctr"/>
          <a:lstStyle/>
          <a:p>
            <a:pPr indent="0" marL="0">
              <a:buNone/>
            </a:pPr>
            <a:r>
              <a:rPr lang="en-US" sz="850" b="1" dirty="0">
                <a:solidFill>
                  <a:srgbClr val="6B52C8"/>
                </a:solidFill>
                <a:latin typeface="Calibri" pitchFamily="34" charset="0"/>
                <a:ea typeface="Calibri" pitchFamily="34" charset="-122"/>
                <a:cs typeface="Calibri" pitchFamily="34" charset="-120"/>
              </a:rPr>
              <a:t>SPSS: </a:t>
            </a:r>
            <a:pPr indent="0" marL="0">
              <a:buNone/>
            </a:pPr>
            <a:r>
              <a:rPr lang="en-US" sz="850" dirty="0">
                <a:solidFill>
                  <a:srgbClr val="7890C8"/>
                </a:solidFill>
                <a:latin typeface="Calibri" pitchFamily="34" charset="0"/>
                <a:ea typeface="Calibri" pitchFamily="34" charset="-122"/>
                <a:cs typeface="Calibri" pitchFamily="34" charset="-120"/>
              </a:rPr>
              <a:t>Plots dialog: Histogram of standardised residuals (should be bell-shaped) AND Normal P-P plot (points near diagonal).</a:t>
            </a:r>
            <a:endParaRPr lang="en-US" sz="850" dirty="0"/>
          </a:p>
        </p:txBody>
      </p:sp>
      <p:sp>
        <p:nvSpPr>
          <p:cNvPr id="27" name="Text 25"/>
          <p:cNvSpPr/>
          <p:nvPr/>
        </p:nvSpPr>
        <p:spPr>
          <a:xfrm>
            <a:off x="4846320" y="2011680"/>
            <a:ext cx="3913632" cy="182880"/>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Fix: Large samples (n&gt;100): CLT makes this robust. For small samples: transform or use bootstrap.</a:t>
            </a:r>
            <a:endParaRPr lang="en-US" sz="800" dirty="0"/>
          </a:p>
        </p:txBody>
      </p:sp>
      <p:sp>
        <p:nvSpPr>
          <p:cNvPr id="28" name="Shape 26"/>
          <p:cNvSpPr/>
          <p:nvPr/>
        </p:nvSpPr>
        <p:spPr>
          <a:xfrm>
            <a:off x="4736592" y="2322576"/>
            <a:ext cx="4160520" cy="1298448"/>
          </a:xfrm>
          <a:prstGeom prst="roundRect">
            <a:avLst>
              <a:gd name="adj" fmla="val 5634"/>
            </a:avLst>
          </a:prstGeom>
          <a:solidFill>
            <a:srgbClr val="111A30"/>
          </a:solidFill>
          <a:ln w="12700">
            <a:solidFill>
              <a:srgbClr val="D4680A"/>
            </a:solidFill>
            <a:prstDash val="solid"/>
          </a:ln>
        </p:spPr>
      </p:sp>
      <p:sp>
        <p:nvSpPr>
          <p:cNvPr id="29" name="Shape 27"/>
          <p:cNvSpPr/>
          <p:nvPr/>
        </p:nvSpPr>
        <p:spPr>
          <a:xfrm>
            <a:off x="4828032" y="2395728"/>
            <a:ext cx="1417320" cy="256032"/>
          </a:xfrm>
          <a:prstGeom prst="roundRect">
            <a:avLst>
              <a:gd name="adj" fmla="val 17857"/>
            </a:avLst>
          </a:prstGeom>
          <a:solidFill>
            <a:srgbClr val="D4680A"/>
          </a:solidFill>
          <a:ln w="12700">
            <a:solidFill>
              <a:srgbClr val="D4680A"/>
            </a:solidFill>
            <a:prstDash val="solid"/>
          </a:ln>
        </p:spPr>
      </p:sp>
      <p:sp>
        <p:nvSpPr>
          <p:cNvPr id="30" name="Text 28"/>
          <p:cNvSpPr/>
          <p:nvPr/>
        </p:nvSpPr>
        <p:spPr>
          <a:xfrm>
            <a:off x="4828032" y="2395728"/>
            <a:ext cx="1417320" cy="256032"/>
          </a:xfrm>
          <a:prstGeom prst="rect">
            <a:avLst/>
          </a:prstGeom>
          <a:noFill/>
          <a:ln/>
        </p:spPr>
        <p:txBody>
          <a:bodyPr wrap="square" lIns="0" tIns="0" rIns="0" bIns="0" rtlCol="0" anchor="ctr"/>
          <a:lstStyle/>
          <a:p>
            <a:pPr algn="ctr" indent="0" marL="0">
              <a:buNone/>
            </a:pPr>
            <a:r>
              <a:rPr lang="en-US" sz="950" b="1" dirty="0">
                <a:solidFill>
                  <a:srgbClr val="0A0F1E"/>
                </a:solidFill>
                <a:latin typeface="Calibri" pitchFamily="34" charset="0"/>
                <a:ea typeface="Calibri" pitchFamily="34" charset="-122"/>
                <a:cs typeface="Calibri" pitchFamily="34" charset="-120"/>
              </a:rPr>
              <a:t>No Multicollinearity</a:t>
            </a:r>
            <a:endParaRPr lang="en-US" sz="950" dirty="0"/>
          </a:p>
        </p:txBody>
      </p:sp>
      <p:sp>
        <p:nvSpPr>
          <p:cNvPr id="31" name="Text 29"/>
          <p:cNvSpPr/>
          <p:nvPr/>
        </p:nvSpPr>
        <p:spPr>
          <a:xfrm>
            <a:off x="4846320" y="2724912"/>
            <a:ext cx="3913632" cy="365760"/>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Predictors are not highly correlated with each other. VIF &lt; 10 and Tolerance &gt; 0.10 for all predictors.</a:t>
            </a:r>
            <a:endParaRPr lang="en-US" sz="850" dirty="0"/>
          </a:p>
        </p:txBody>
      </p:sp>
      <p:sp>
        <p:nvSpPr>
          <p:cNvPr id="32" name="Text 30"/>
          <p:cNvSpPr/>
          <p:nvPr/>
        </p:nvSpPr>
        <p:spPr>
          <a:xfrm>
            <a:off x="4846320" y="3108960"/>
            <a:ext cx="3913632" cy="274320"/>
          </a:xfrm>
          <a:prstGeom prst="rect">
            <a:avLst/>
          </a:prstGeom>
          <a:noFill/>
          <a:ln/>
        </p:spPr>
        <p:txBody>
          <a:bodyPr wrap="square" lIns="0" tIns="0" rIns="0" bIns="0" rtlCol="0" anchor="ctr"/>
          <a:lstStyle/>
          <a:p>
            <a:pPr indent="0" marL="0">
              <a:buNone/>
            </a:pPr>
            <a:r>
              <a:rPr lang="en-US" sz="850" b="1" dirty="0">
                <a:solidFill>
                  <a:srgbClr val="D4680A"/>
                </a:solidFill>
                <a:latin typeface="Calibri" pitchFamily="34" charset="0"/>
                <a:ea typeface="Calibri" pitchFamily="34" charset="-122"/>
                <a:cs typeface="Calibri" pitchFamily="34" charset="-120"/>
              </a:rPr>
              <a:t>SPSS: </a:t>
            </a:r>
            <a:pPr indent="0" marL="0">
              <a:buNone/>
            </a:pPr>
            <a:r>
              <a:rPr lang="en-US" sz="850" dirty="0">
                <a:solidFill>
                  <a:srgbClr val="7890C8"/>
                </a:solidFill>
                <a:latin typeface="Calibri" pitchFamily="34" charset="0"/>
                <a:ea typeface="Calibri" pitchFamily="34" charset="-122"/>
                <a:cs typeface="Calibri" pitchFamily="34" charset="-120"/>
              </a:rPr>
              <a:t>Statistics &gt; Collinearity diagnostics. Check VIF column in Coefficients table.</a:t>
            </a:r>
            <a:endParaRPr lang="en-US" sz="850" dirty="0"/>
          </a:p>
        </p:txBody>
      </p:sp>
      <p:sp>
        <p:nvSpPr>
          <p:cNvPr id="33" name="Text 31"/>
          <p:cNvSpPr/>
          <p:nvPr/>
        </p:nvSpPr>
        <p:spPr>
          <a:xfrm>
            <a:off x="4846320" y="3401568"/>
            <a:ext cx="3913632" cy="182880"/>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Fix: Remove one of the highly correlated predictors, combine into a composite, or use Ridge regression.</a:t>
            </a:r>
            <a:endParaRPr lang="en-US" sz="800" dirty="0"/>
          </a:p>
        </p:txBody>
      </p:sp>
      <p:sp>
        <p:nvSpPr>
          <p:cNvPr id="34" name="Shape 32"/>
          <p:cNvSpPr/>
          <p:nvPr/>
        </p:nvSpPr>
        <p:spPr>
          <a:xfrm>
            <a:off x="4736592" y="3712464"/>
            <a:ext cx="4160520" cy="1298448"/>
          </a:xfrm>
          <a:prstGeom prst="roundRect">
            <a:avLst>
              <a:gd name="adj" fmla="val 5634"/>
            </a:avLst>
          </a:prstGeom>
          <a:solidFill>
            <a:srgbClr val="111A30"/>
          </a:solidFill>
          <a:ln w="12700">
            <a:solidFill>
              <a:srgbClr val="8B1A4A"/>
            </a:solidFill>
            <a:prstDash val="solid"/>
          </a:ln>
        </p:spPr>
      </p:sp>
      <p:sp>
        <p:nvSpPr>
          <p:cNvPr id="35" name="Shape 33"/>
          <p:cNvSpPr/>
          <p:nvPr/>
        </p:nvSpPr>
        <p:spPr>
          <a:xfrm>
            <a:off x="4828032" y="3785616"/>
            <a:ext cx="1417320" cy="256032"/>
          </a:xfrm>
          <a:prstGeom prst="roundRect">
            <a:avLst>
              <a:gd name="adj" fmla="val 17857"/>
            </a:avLst>
          </a:prstGeom>
          <a:solidFill>
            <a:srgbClr val="8B1A4A"/>
          </a:solidFill>
          <a:ln w="12700">
            <a:solidFill>
              <a:srgbClr val="8B1A4A"/>
            </a:solidFill>
            <a:prstDash val="solid"/>
          </a:ln>
        </p:spPr>
      </p:sp>
      <p:sp>
        <p:nvSpPr>
          <p:cNvPr id="36" name="Text 34"/>
          <p:cNvSpPr/>
          <p:nvPr/>
        </p:nvSpPr>
        <p:spPr>
          <a:xfrm>
            <a:off x="4828032" y="3785616"/>
            <a:ext cx="141732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No Influential Outliers</a:t>
            </a:r>
            <a:endParaRPr lang="en-US" sz="950" dirty="0"/>
          </a:p>
        </p:txBody>
      </p:sp>
      <p:sp>
        <p:nvSpPr>
          <p:cNvPr id="37" name="Text 35"/>
          <p:cNvSpPr/>
          <p:nvPr/>
        </p:nvSpPr>
        <p:spPr>
          <a:xfrm>
            <a:off x="4846320" y="4114800"/>
            <a:ext cx="3913632" cy="365760"/>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No single case exerts disproportionate influence on the regression equation.</a:t>
            </a:r>
            <a:endParaRPr lang="en-US" sz="850" dirty="0"/>
          </a:p>
        </p:txBody>
      </p:sp>
      <p:sp>
        <p:nvSpPr>
          <p:cNvPr id="38" name="Text 36"/>
          <p:cNvSpPr/>
          <p:nvPr/>
        </p:nvSpPr>
        <p:spPr>
          <a:xfrm>
            <a:off x="4846320" y="4498848"/>
            <a:ext cx="3913632" cy="274320"/>
          </a:xfrm>
          <a:prstGeom prst="rect">
            <a:avLst/>
          </a:prstGeom>
          <a:noFill/>
          <a:ln/>
        </p:spPr>
        <p:txBody>
          <a:bodyPr wrap="square" lIns="0" tIns="0" rIns="0" bIns="0" rtlCol="0" anchor="ctr"/>
          <a:lstStyle/>
          <a:p>
            <a:pPr indent="0" marL="0">
              <a:buNone/>
            </a:pPr>
            <a:r>
              <a:rPr lang="en-US" sz="850" b="1" dirty="0">
                <a:solidFill>
                  <a:srgbClr val="8B1A4A"/>
                </a:solidFill>
                <a:latin typeface="Calibri" pitchFamily="34" charset="0"/>
                <a:ea typeface="Calibri" pitchFamily="34" charset="-122"/>
                <a:cs typeface="Calibri" pitchFamily="34" charset="-120"/>
              </a:rPr>
              <a:t>SPSS: </a:t>
            </a:r>
            <a:pPr indent="0" marL="0">
              <a:buNone/>
            </a:pPr>
            <a:r>
              <a:rPr lang="en-US" sz="850" dirty="0">
                <a:solidFill>
                  <a:srgbClr val="7890C8"/>
                </a:solidFill>
                <a:latin typeface="Calibri" pitchFamily="34" charset="0"/>
                <a:ea typeface="Calibri" pitchFamily="34" charset="-122"/>
                <a:cs typeface="Calibri" pitchFamily="34" charset="-120"/>
              </a:rPr>
              <a:t>Save: Cook's Distance (flag if &gt; 1), Leverage (flag if &gt; 2(k+1)/n), DfBetas (flag if &gt; 2/√n).</a:t>
            </a:r>
            <a:endParaRPr lang="en-US" sz="850" dirty="0"/>
          </a:p>
        </p:txBody>
      </p:sp>
      <p:sp>
        <p:nvSpPr>
          <p:cNvPr id="39" name="Text 37"/>
          <p:cNvSpPr/>
          <p:nvPr/>
        </p:nvSpPr>
        <p:spPr>
          <a:xfrm>
            <a:off x="4846320" y="4791456"/>
            <a:ext cx="3913632" cy="182880"/>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Fix: Investigate flagged cases. If data entry error - correct. If genuine outlier - report sensitivity analysis with and without.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0F1E"/>
          </a:solidFill>
          <a:ln w="12700">
            <a:solidFill>
              <a:srgbClr val="0A0F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Regression Variable Entry Methods - Hierarchical, Enter, Stepwise</a:t>
            </a:r>
            <a:endParaRPr lang="en-US" sz="2100" dirty="0"/>
          </a:p>
        </p:txBody>
      </p:sp>
      <p:sp>
        <p:nvSpPr>
          <p:cNvPr id="4" name="Shape 2"/>
          <p:cNvSpPr/>
          <p:nvPr/>
        </p:nvSpPr>
        <p:spPr>
          <a:xfrm>
            <a:off x="228600" y="1005840"/>
            <a:ext cx="2834640" cy="4041648"/>
          </a:xfrm>
          <a:prstGeom prst="roundRect">
            <a:avLst>
              <a:gd name="adj" fmla="val 2903"/>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83464" y="1078992"/>
            <a:ext cx="2724912" cy="457200"/>
          </a:xfrm>
          <a:prstGeom prst="roundRect">
            <a:avLst>
              <a:gd name="adj" fmla="val 14000"/>
            </a:avLst>
          </a:prstGeom>
          <a:solidFill>
            <a:srgbClr val="1A2D6B"/>
          </a:solidFill>
          <a:ln w="12700">
            <a:solidFill>
              <a:srgbClr val="1A2D6B"/>
            </a:solidFill>
            <a:prstDash val="solid"/>
          </a:ln>
        </p:spPr>
      </p:sp>
      <p:sp>
        <p:nvSpPr>
          <p:cNvPr id="6" name="Text 4"/>
          <p:cNvSpPr/>
          <p:nvPr/>
        </p:nvSpPr>
        <p:spPr>
          <a:xfrm>
            <a:off x="283464" y="1078992"/>
            <a:ext cx="2724912"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Enter (Simultaneous)</a:t>
            </a:r>
            <a:endParaRPr lang="en-US" sz="1200" dirty="0"/>
          </a:p>
        </p:txBody>
      </p:sp>
      <p:sp>
        <p:nvSpPr>
          <p:cNvPr id="7" name="Text 5"/>
          <p:cNvSpPr/>
          <p:nvPr/>
        </p:nvSpPr>
        <p:spPr>
          <a:xfrm>
            <a:off x="283464" y="1371600"/>
            <a:ext cx="2724912" cy="16459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Default:  you move variables to Independent(s) box without specifying blocks</a:t>
            </a:r>
            <a:endParaRPr lang="en-US" sz="800" dirty="0"/>
          </a:p>
        </p:txBody>
      </p:sp>
      <p:sp>
        <p:nvSpPr>
          <p:cNvPr id="8" name="Text 6"/>
          <p:cNvSpPr/>
          <p:nvPr/>
        </p:nvSpPr>
        <p:spPr>
          <a:xfrm>
            <a:off x="320040" y="1609344"/>
            <a:ext cx="2633472" cy="54864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All specified predictors enter the model in ONE step simultaneously. The only method that gives correct Type III sums of squares.</a:t>
            </a:r>
            <a:endParaRPr lang="en-US" sz="950" dirty="0"/>
          </a:p>
        </p:txBody>
      </p:sp>
      <p:sp>
        <p:nvSpPr>
          <p:cNvPr id="9" name="Text 7"/>
          <p:cNvSpPr/>
          <p:nvPr/>
        </p:nvSpPr>
        <p:spPr>
          <a:xfrm>
            <a:off x="320040" y="2194560"/>
            <a:ext cx="2633472" cy="548640"/>
          </a:xfrm>
          <a:prstGeom prst="rect">
            <a:avLst/>
          </a:prstGeom>
          <a:noFill/>
          <a:ln/>
        </p:spPr>
        <p:txBody>
          <a:bodyPr wrap="square" lIns="0" tIns="0" rIns="0" bIns="0" rtlCol="0" anchor="ctr"/>
          <a:lstStyle/>
          <a:p>
            <a:pPr indent="0" marL="0">
              <a:buNone/>
            </a:pPr>
            <a:r>
              <a:rPr lang="en-US" sz="900" b="1" dirty="0">
                <a:solidFill>
                  <a:srgbClr val="1A2D6B"/>
                </a:solidFill>
                <a:latin typeface="Calibri" pitchFamily="34" charset="0"/>
                <a:ea typeface="Calibri" pitchFamily="34" charset="-122"/>
                <a:cs typeface="Calibri" pitchFamily="34" charset="-120"/>
              </a:rPr>
              <a:t>Use when: </a:t>
            </a:r>
            <a:pPr indent="0" marL="0">
              <a:buNone/>
            </a:pPr>
            <a:r>
              <a:rPr lang="en-US" sz="900" dirty="0">
                <a:solidFill>
                  <a:srgbClr val="1A2038"/>
                </a:solidFill>
                <a:latin typeface="Calibri" pitchFamily="34" charset="0"/>
                <a:ea typeface="Calibri" pitchFamily="34" charset="-122"/>
                <a:cs typeface="Calibri" pitchFamily="34" charset="-120"/>
              </a:rPr>
              <a:t>Theory-driven: you have specific hypotheses about each predictor's contribution. The default and most defensible approach for published research.</a:t>
            </a:r>
            <a:endParaRPr lang="en-US" sz="900" dirty="0"/>
          </a:p>
        </p:txBody>
      </p:sp>
      <p:sp>
        <p:nvSpPr>
          <p:cNvPr id="10" name="Shape 8"/>
          <p:cNvSpPr/>
          <p:nvPr/>
        </p:nvSpPr>
        <p:spPr>
          <a:xfrm>
            <a:off x="320040" y="2779776"/>
            <a:ext cx="2633472" cy="18288"/>
          </a:xfrm>
          <a:prstGeom prst="rect">
            <a:avLst/>
          </a:prstGeom>
          <a:solidFill>
            <a:srgbClr val="1A2D6B"/>
          </a:solidFill>
          <a:ln w="12700">
            <a:solidFill>
              <a:srgbClr val="1A2D6B"/>
            </a:solidFill>
            <a:prstDash val="solid"/>
          </a:ln>
        </p:spPr>
      </p:sp>
      <p:sp>
        <p:nvSpPr>
          <p:cNvPr id="11" name="Text 9"/>
          <p:cNvSpPr/>
          <p:nvPr/>
        </p:nvSpPr>
        <p:spPr>
          <a:xfrm>
            <a:off x="320040" y="2834640"/>
            <a:ext cx="2633472" cy="658368"/>
          </a:xfrm>
          <a:prstGeom prst="rect">
            <a:avLst/>
          </a:prstGeom>
          <a:noFill/>
          <a:ln/>
        </p:spPr>
        <p:txBody>
          <a:bodyPr wrap="square" lIns="0" tIns="0" rIns="0" bIns="0" rtlCol="0" anchor="ctr"/>
          <a:lstStyle/>
          <a:p>
            <a:pPr indent="0" marL="0">
              <a:buNone/>
            </a:pPr>
            <a:r>
              <a:rPr lang="en-US" sz="900" b="1" dirty="0">
                <a:solidFill>
                  <a:srgbClr val="1A2D6B"/>
                </a:solidFill>
                <a:latin typeface="Calibri" pitchFamily="34" charset="0"/>
                <a:ea typeface="Calibri" pitchFamily="34" charset="-122"/>
                <a:cs typeface="Calibri" pitchFamily="34" charset="-120"/>
              </a:rPr>
              <a:t>UAC: </a:t>
            </a:r>
            <a:pPr indent="0" marL="0">
              <a:buNone/>
            </a:pPr>
            <a:r>
              <a:rPr lang="en-US" sz="900" i="1" dirty="0">
                <a:solidFill>
                  <a:srgbClr val="64748B"/>
                </a:solidFill>
                <a:latin typeface="Calibri" pitchFamily="34" charset="0"/>
                <a:ea typeface="Calibri" pitchFamily="34" charset="-122"/>
                <a:cs typeface="Calibri" pitchFamily="34" charset="-120"/>
              </a:rPr>
              <a:t>Enter all 5 predictors simultaneously: repurchase, salary, gender, education, age. Each B coefficient controls for all others.</a:t>
            </a:r>
            <a:endParaRPr lang="en-US" sz="900" dirty="0"/>
          </a:p>
        </p:txBody>
      </p:sp>
      <p:sp>
        <p:nvSpPr>
          <p:cNvPr id="12" name="Shape 10"/>
          <p:cNvSpPr/>
          <p:nvPr/>
        </p:nvSpPr>
        <p:spPr>
          <a:xfrm>
            <a:off x="3200400" y="1005840"/>
            <a:ext cx="2834640" cy="4041648"/>
          </a:xfrm>
          <a:prstGeom prst="roundRect">
            <a:avLst>
              <a:gd name="adj" fmla="val 2903"/>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3" name="Shape 11"/>
          <p:cNvSpPr/>
          <p:nvPr/>
        </p:nvSpPr>
        <p:spPr>
          <a:xfrm>
            <a:off x="3255264" y="1078992"/>
            <a:ext cx="2724912" cy="457200"/>
          </a:xfrm>
          <a:prstGeom prst="roundRect">
            <a:avLst>
              <a:gd name="adj" fmla="val 14000"/>
            </a:avLst>
          </a:prstGeom>
          <a:solidFill>
            <a:srgbClr val="0A6E4F"/>
          </a:solidFill>
          <a:ln w="12700">
            <a:solidFill>
              <a:srgbClr val="0A6E4F"/>
            </a:solidFill>
            <a:prstDash val="solid"/>
          </a:ln>
        </p:spPr>
      </p:sp>
      <p:sp>
        <p:nvSpPr>
          <p:cNvPr id="14" name="Text 12"/>
          <p:cNvSpPr/>
          <p:nvPr/>
        </p:nvSpPr>
        <p:spPr>
          <a:xfrm>
            <a:off x="3255264" y="1078992"/>
            <a:ext cx="2724912"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Hierarchical (Blocks)</a:t>
            </a:r>
            <a:endParaRPr lang="en-US" sz="1200" dirty="0"/>
          </a:p>
        </p:txBody>
      </p:sp>
      <p:sp>
        <p:nvSpPr>
          <p:cNvPr id="15" name="Text 13"/>
          <p:cNvSpPr/>
          <p:nvPr/>
        </p:nvSpPr>
        <p:spPr>
          <a:xfrm>
            <a:off x="3255264" y="1371600"/>
            <a:ext cx="2724912" cy="16459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Click Next in regression dialog to add blocks. Request R Square Change.</a:t>
            </a:r>
            <a:endParaRPr lang="en-US" sz="800" dirty="0"/>
          </a:p>
        </p:txBody>
      </p:sp>
      <p:sp>
        <p:nvSpPr>
          <p:cNvPr id="16" name="Text 14"/>
          <p:cNvSpPr/>
          <p:nvPr/>
        </p:nvSpPr>
        <p:spPr>
          <a:xfrm>
            <a:off x="3291840" y="1609344"/>
            <a:ext cx="2633472" cy="54864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Researcher controls entry ORDER by specifying variables in sequenced blocks. Tests whether each block adds significant incremental prediction.</a:t>
            </a:r>
            <a:endParaRPr lang="en-US" sz="950" dirty="0"/>
          </a:p>
        </p:txBody>
      </p:sp>
      <p:sp>
        <p:nvSpPr>
          <p:cNvPr id="17" name="Text 15"/>
          <p:cNvSpPr/>
          <p:nvPr/>
        </p:nvSpPr>
        <p:spPr>
          <a:xfrm>
            <a:off x="3291840" y="2194560"/>
            <a:ext cx="2633472" cy="548640"/>
          </a:xfrm>
          <a:prstGeom prst="rect">
            <a:avLst/>
          </a:prstGeom>
          <a:noFill/>
          <a:ln/>
        </p:spPr>
        <p:txBody>
          <a:bodyPr wrap="square" lIns="0" tIns="0" rIns="0" bIns="0" rtlCol="0" anchor="ctr"/>
          <a:lstStyle/>
          <a:p>
            <a:pPr indent="0" marL="0">
              <a:buNone/>
            </a:pPr>
            <a:r>
              <a:rPr lang="en-US" sz="900" b="1" dirty="0">
                <a:solidFill>
                  <a:srgbClr val="0A6E4F"/>
                </a:solidFill>
                <a:latin typeface="Calibri" pitchFamily="34" charset="0"/>
                <a:ea typeface="Calibri" pitchFamily="34" charset="-122"/>
                <a:cs typeface="Calibri" pitchFamily="34" charset="-120"/>
              </a:rPr>
              <a:t>Use when: </a:t>
            </a:r>
            <a:pPr indent="0" marL="0">
              <a:buNone/>
            </a:pPr>
            <a:r>
              <a:rPr lang="en-US" sz="900" dirty="0">
                <a:solidFill>
                  <a:srgbClr val="1A2038"/>
                </a:solidFill>
                <a:latin typeface="Calibri" pitchFamily="34" charset="0"/>
                <a:ea typeface="Calibri" pitchFamily="34" charset="-122"/>
                <a:cs typeface="Calibri" pitchFamily="34" charset="-120"/>
              </a:rPr>
              <a:t>Theory-driven where you want to test added value: control variables first (Block 1), then your key predictors (Block 2).</a:t>
            </a:r>
            <a:endParaRPr lang="en-US" sz="900" dirty="0"/>
          </a:p>
        </p:txBody>
      </p:sp>
      <p:sp>
        <p:nvSpPr>
          <p:cNvPr id="18" name="Shape 16"/>
          <p:cNvSpPr/>
          <p:nvPr/>
        </p:nvSpPr>
        <p:spPr>
          <a:xfrm>
            <a:off x="3291840" y="2779776"/>
            <a:ext cx="2633472" cy="18288"/>
          </a:xfrm>
          <a:prstGeom prst="rect">
            <a:avLst/>
          </a:prstGeom>
          <a:solidFill>
            <a:srgbClr val="0A6E4F"/>
          </a:solidFill>
          <a:ln w="12700">
            <a:solidFill>
              <a:srgbClr val="0A6E4F"/>
            </a:solidFill>
            <a:prstDash val="solid"/>
          </a:ln>
        </p:spPr>
      </p:sp>
      <p:sp>
        <p:nvSpPr>
          <p:cNvPr id="19" name="Text 17"/>
          <p:cNvSpPr/>
          <p:nvPr/>
        </p:nvSpPr>
        <p:spPr>
          <a:xfrm>
            <a:off x="3291840" y="2834640"/>
            <a:ext cx="2633472" cy="658368"/>
          </a:xfrm>
          <a:prstGeom prst="rect">
            <a:avLst/>
          </a:prstGeom>
          <a:noFill/>
          <a:ln/>
        </p:spPr>
        <p:txBody>
          <a:bodyPr wrap="square" lIns="0" tIns="0" rIns="0" bIns="0" rtlCol="0" anchor="ctr"/>
          <a:lstStyle/>
          <a:p>
            <a:pPr indent="0" marL="0">
              <a:buNone/>
            </a:pPr>
            <a:r>
              <a:rPr lang="en-US" sz="900" b="1" dirty="0">
                <a:solidFill>
                  <a:srgbClr val="0A6E4F"/>
                </a:solidFill>
                <a:latin typeface="Calibri" pitchFamily="34" charset="0"/>
                <a:ea typeface="Calibri" pitchFamily="34" charset="-122"/>
                <a:cs typeface="Calibri" pitchFamily="34" charset="-120"/>
              </a:rPr>
              <a:t>UAC: </a:t>
            </a:r>
            <a:pPr indent="0" marL="0">
              <a:buNone/>
            </a:pPr>
            <a:r>
              <a:rPr lang="en-US" sz="900" i="1" dirty="0">
                <a:solidFill>
                  <a:srgbClr val="64748B"/>
                </a:solidFill>
                <a:latin typeface="Calibri" pitchFamily="34" charset="0"/>
                <a:ea typeface="Calibri" pitchFamily="34" charset="-122"/>
                <a:cs typeface="Calibri" pitchFamily="34" charset="-120"/>
              </a:rPr>
              <a:t>Block 1: Demographics (age, gender, education). Block 2: sat_mean and repurchase. Does Block 2 predict satisfaction OVER AND ABOVE demographics?</a:t>
            </a:r>
            <a:endParaRPr lang="en-US" sz="900" dirty="0"/>
          </a:p>
        </p:txBody>
      </p:sp>
      <p:sp>
        <p:nvSpPr>
          <p:cNvPr id="20" name="Shape 18"/>
          <p:cNvSpPr/>
          <p:nvPr/>
        </p:nvSpPr>
        <p:spPr>
          <a:xfrm>
            <a:off x="6172200" y="1005840"/>
            <a:ext cx="2834640" cy="4041648"/>
          </a:xfrm>
          <a:prstGeom prst="roundRect">
            <a:avLst>
              <a:gd name="adj" fmla="val 2903"/>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21" name="Shape 19"/>
          <p:cNvSpPr/>
          <p:nvPr/>
        </p:nvSpPr>
        <p:spPr>
          <a:xfrm>
            <a:off x="6227064" y="1078992"/>
            <a:ext cx="2724912" cy="457200"/>
          </a:xfrm>
          <a:prstGeom prst="roundRect">
            <a:avLst>
              <a:gd name="adj" fmla="val 14000"/>
            </a:avLst>
          </a:prstGeom>
          <a:solidFill>
            <a:srgbClr val="D4680A"/>
          </a:solidFill>
          <a:ln w="12700">
            <a:solidFill>
              <a:srgbClr val="D4680A"/>
            </a:solidFill>
            <a:prstDash val="solid"/>
          </a:ln>
        </p:spPr>
      </p:sp>
      <p:sp>
        <p:nvSpPr>
          <p:cNvPr id="22" name="Text 20"/>
          <p:cNvSpPr/>
          <p:nvPr/>
        </p:nvSpPr>
        <p:spPr>
          <a:xfrm>
            <a:off x="6227064" y="1078992"/>
            <a:ext cx="2724912"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Stepwise / Forward / Backward</a:t>
            </a:r>
            <a:endParaRPr lang="en-US" sz="1200" dirty="0"/>
          </a:p>
        </p:txBody>
      </p:sp>
      <p:sp>
        <p:nvSpPr>
          <p:cNvPr id="23" name="Text 21"/>
          <p:cNvSpPr/>
          <p:nvPr/>
        </p:nvSpPr>
        <p:spPr>
          <a:xfrm>
            <a:off x="6227064" y="1371600"/>
            <a:ext cx="2724912" cy="16459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Select Stepwise from Method dropdown. Set F-to-enter = 3.84 and F-to-remove = 2.71</a:t>
            </a:r>
            <a:endParaRPr lang="en-US" sz="800" dirty="0"/>
          </a:p>
        </p:txBody>
      </p:sp>
      <p:sp>
        <p:nvSpPr>
          <p:cNvPr id="24" name="Text 22"/>
          <p:cNvSpPr/>
          <p:nvPr/>
        </p:nvSpPr>
        <p:spPr>
          <a:xfrm>
            <a:off x="6263640" y="1609344"/>
            <a:ext cx="2633472" cy="54864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SPSS automatically adds or removes predictors based on statistical criteria. Exploratory only - capitalises on chance. NOT recommended for confirmatory research.</a:t>
            </a:r>
            <a:endParaRPr lang="en-US" sz="950" dirty="0"/>
          </a:p>
        </p:txBody>
      </p:sp>
      <p:sp>
        <p:nvSpPr>
          <p:cNvPr id="25" name="Text 23"/>
          <p:cNvSpPr/>
          <p:nvPr/>
        </p:nvSpPr>
        <p:spPr>
          <a:xfrm>
            <a:off x="6263640" y="2194560"/>
            <a:ext cx="2633472" cy="548640"/>
          </a:xfrm>
          <a:prstGeom prst="rect">
            <a:avLst/>
          </a:prstGeom>
          <a:noFill/>
          <a:ln/>
        </p:spPr>
        <p:txBody>
          <a:bodyPr wrap="square" lIns="0" tIns="0" rIns="0" bIns="0" rtlCol="0" anchor="ctr"/>
          <a:lstStyle/>
          <a:p>
            <a:pPr indent="0" marL="0">
              <a:buNone/>
            </a:pPr>
            <a:r>
              <a:rPr lang="en-US" sz="900" b="1" dirty="0">
                <a:solidFill>
                  <a:srgbClr val="D4680A"/>
                </a:solidFill>
                <a:latin typeface="Calibri" pitchFamily="34" charset="0"/>
                <a:ea typeface="Calibri" pitchFamily="34" charset="-122"/>
                <a:cs typeface="Calibri" pitchFamily="34" charset="-120"/>
              </a:rPr>
              <a:t>Use when: </a:t>
            </a:r>
            <a:pPr indent="0" marL="0">
              <a:buNone/>
            </a:pPr>
            <a:r>
              <a:rPr lang="en-US" sz="900" dirty="0">
                <a:solidFill>
                  <a:srgbClr val="1A2038"/>
                </a:solidFill>
                <a:latin typeface="Calibri" pitchFamily="34" charset="0"/>
                <a:ea typeface="Calibri" pitchFamily="34" charset="-122"/>
                <a:cs typeface="Calibri" pitchFamily="34" charset="-120"/>
              </a:rPr>
              <a:t>EXPLORATORY only: when you have no theory about which predictors matter and many candidates. Never use for hypothesis testing.</a:t>
            </a:r>
            <a:endParaRPr lang="en-US" sz="900" dirty="0"/>
          </a:p>
        </p:txBody>
      </p:sp>
      <p:sp>
        <p:nvSpPr>
          <p:cNvPr id="26" name="Shape 24"/>
          <p:cNvSpPr/>
          <p:nvPr/>
        </p:nvSpPr>
        <p:spPr>
          <a:xfrm>
            <a:off x="6263640" y="2779776"/>
            <a:ext cx="2633472" cy="18288"/>
          </a:xfrm>
          <a:prstGeom prst="rect">
            <a:avLst/>
          </a:prstGeom>
          <a:solidFill>
            <a:srgbClr val="D4680A"/>
          </a:solidFill>
          <a:ln w="12700">
            <a:solidFill>
              <a:srgbClr val="D4680A"/>
            </a:solidFill>
            <a:prstDash val="solid"/>
          </a:ln>
        </p:spPr>
      </p:sp>
      <p:sp>
        <p:nvSpPr>
          <p:cNvPr id="27" name="Text 25"/>
          <p:cNvSpPr/>
          <p:nvPr/>
        </p:nvSpPr>
        <p:spPr>
          <a:xfrm>
            <a:off x="6263640" y="2834640"/>
            <a:ext cx="2633472" cy="658368"/>
          </a:xfrm>
          <a:prstGeom prst="rect">
            <a:avLst/>
          </a:prstGeom>
          <a:noFill/>
          <a:ln/>
        </p:spPr>
        <p:txBody>
          <a:bodyPr wrap="square" lIns="0" tIns="0" rIns="0" bIns="0" rtlCol="0" anchor="ctr"/>
          <a:lstStyle/>
          <a:p>
            <a:pPr indent="0" marL="0">
              <a:buNone/>
            </a:pPr>
            <a:r>
              <a:rPr lang="en-US" sz="900" b="1" dirty="0">
                <a:solidFill>
                  <a:srgbClr val="D4680A"/>
                </a:solidFill>
                <a:latin typeface="Calibri" pitchFamily="34" charset="0"/>
                <a:ea typeface="Calibri" pitchFamily="34" charset="-122"/>
                <a:cs typeface="Calibri" pitchFamily="34" charset="-120"/>
              </a:rPr>
              <a:t>UAC: </a:t>
            </a:r>
            <a:pPr indent="0" marL="0">
              <a:buNone/>
            </a:pPr>
            <a:r>
              <a:rPr lang="en-US" sz="900" i="1" dirty="0">
                <a:solidFill>
                  <a:srgbClr val="64748B"/>
                </a:solidFill>
                <a:latin typeface="Calibri" pitchFamily="34" charset="0"/>
                <a:ea typeface="Calibri" pitchFamily="34" charset="-122"/>
                <a:cs typeface="Calibri" pitchFamily="34" charset="-120"/>
              </a:rPr>
              <a:t>With 12 potential predictors and no theory: stepwise may help identify candidates. Then re-test with Enter method on a fresh sample.</a:t>
            </a:r>
            <a:endParaRPr lang="en-US" sz="900" dirty="0"/>
          </a:p>
        </p:txBody>
      </p:sp>
      <p:sp>
        <p:nvSpPr>
          <p:cNvPr id="28" name="Shape 26"/>
          <p:cNvSpPr/>
          <p:nvPr/>
        </p:nvSpPr>
        <p:spPr>
          <a:xfrm>
            <a:off x="256032" y="5102352"/>
            <a:ext cx="8631936" cy="365760"/>
          </a:xfrm>
          <a:prstGeom prst="roundRect">
            <a:avLst>
              <a:gd name="adj" fmla="val 15000"/>
            </a:avLst>
          </a:prstGeom>
          <a:solidFill>
            <a:srgbClr val="FEF0ED"/>
          </a:solidFill>
          <a:ln w="19050">
            <a:solidFill>
              <a:srgbClr val="C0392B"/>
            </a:solidFill>
            <a:prstDash val="solid"/>
          </a:ln>
        </p:spPr>
      </p:sp>
      <p:sp>
        <p:nvSpPr>
          <p:cNvPr id="29" name="Text 27"/>
          <p:cNvSpPr/>
          <p:nvPr/>
        </p:nvSpPr>
        <p:spPr>
          <a:xfrm>
            <a:off x="384048" y="5102352"/>
            <a:ext cx="8449056" cy="365760"/>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Stepwise regression produces models that are overfitted to the sample and often fail to replicate. Never use for confirmatory research or journal publications. Use Enter or Hierarchical instead.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2D6B">
              <a:alpha val="20000"/>
            </a:srgbClr>
          </a:solidFill>
          <a:ln w="12700">
            <a:solidFill>
              <a:srgbClr val="1A2D6B"/>
            </a:solidFill>
            <a:prstDash val="solid"/>
          </a:ln>
        </p:spPr>
      </p:sp>
      <p:sp>
        <p:nvSpPr>
          <p:cNvPr id="3" name="Shape 1"/>
          <p:cNvSpPr/>
          <p:nvPr/>
        </p:nvSpPr>
        <p:spPr>
          <a:xfrm>
            <a:off x="-1097280" y="3200400"/>
            <a:ext cx="3657600" cy="3657600"/>
          </a:xfrm>
          <a:prstGeom prst="ellipse">
            <a:avLst/>
          </a:prstGeom>
          <a:solidFill>
            <a:srgbClr val="C8920A">
              <a:alpha val="12000"/>
            </a:srgbClr>
          </a:solidFill>
          <a:ln w="12700">
            <a:solidFill>
              <a:srgbClr val="C8920A"/>
            </a:solidFill>
            <a:prstDash val="solid"/>
          </a:ln>
        </p:spPr>
      </p:sp>
      <p:sp>
        <p:nvSpPr>
          <p:cNvPr id="4" name="Shape 2"/>
          <p:cNvSpPr/>
          <p:nvPr/>
        </p:nvSpPr>
        <p:spPr>
          <a:xfrm>
            <a:off x="4114800" y="1371600"/>
            <a:ext cx="1828800" cy="1828800"/>
          </a:xfrm>
          <a:prstGeom prst="ellipse">
            <a:avLst/>
          </a:prstGeom>
          <a:solidFill>
            <a:srgbClr val="0A6E4F">
              <a:alpha val="10000"/>
            </a:srgbClr>
          </a:solidFill>
          <a:ln w="12700">
            <a:solidFill>
              <a:srgbClr val="0A6E4F"/>
            </a:solidFill>
            <a:prstDash val="solid"/>
          </a:ln>
        </p:spPr>
      </p:sp>
      <p:sp>
        <p:nvSpPr>
          <p:cNvPr id="5" name="Text 3"/>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C8920A"/>
                </a:solidFill>
                <a:latin typeface="Calibri" pitchFamily="34" charset="0"/>
                <a:ea typeface="Calibri" pitchFamily="34" charset="-122"/>
                <a:cs typeface="Calibri" pitchFamily="34" charset="-120"/>
              </a:rPr>
              <a:t>MODULE 5  |  SECTION 04</a:t>
            </a:r>
            <a:endParaRPr lang="en-US" sz="1200" dirty="0"/>
          </a:p>
        </p:txBody>
      </p:sp>
      <p:sp>
        <p:nvSpPr>
          <p:cNvPr id="6" name="Text 4"/>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Logistic Regression</a:t>
            </a:r>
            <a:endParaRPr lang="en-US" sz="3800" dirty="0"/>
          </a:p>
        </p:txBody>
      </p:sp>
      <p:sp>
        <p:nvSpPr>
          <p:cNvPr id="7" name="Text 5"/>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B0C0E8"/>
                </a:solidFill>
                <a:latin typeface="Calibri" pitchFamily="34" charset="0"/>
                <a:ea typeface="Calibri" pitchFamily="34" charset="-122"/>
                <a:cs typeface="Calibri" pitchFamily="34" charset="-120"/>
              </a:rPr>
              <a:t>Predicting binary and multinomial outcomes from multiple predictors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0F1E"/>
          </a:solidFill>
          <a:ln w="12700">
            <a:solidFill>
              <a:srgbClr val="0A0F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Binary Logistic Regression - Analyze &gt; Regression &gt; Binary Logistic</a:t>
            </a:r>
            <a:endParaRPr lang="en-US" sz="2100" dirty="0"/>
          </a:p>
        </p:txBody>
      </p:sp>
      <p:sp>
        <p:nvSpPr>
          <p:cNvPr id="4" name="Shape 2"/>
          <p:cNvSpPr/>
          <p:nvPr/>
        </p:nvSpPr>
        <p:spPr>
          <a:xfrm>
            <a:off x="256032" y="1005840"/>
            <a:ext cx="8631936" cy="621792"/>
          </a:xfrm>
          <a:prstGeom prst="roundRect">
            <a:avLst>
              <a:gd name="adj" fmla="val 11765"/>
            </a:avLst>
          </a:prstGeom>
          <a:solidFill>
            <a:srgbClr val="E8EEF8"/>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66928"/>
          </a:xfrm>
          <a:prstGeom prst="rect">
            <a:avLst/>
          </a:prstGeom>
          <a:noFill/>
          <a:ln/>
        </p:spPr>
        <p:txBody>
          <a:bodyPr wrap="square" lIns="0" tIns="0" rIns="0" bIns="0" rtlCol="0" anchor="ctr"/>
          <a:lstStyle/>
          <a:p>
            <a:pPr indent="0" marL="0">
              <a:buNone/>
            </a:pPr>
            <a:r>
              <a:rPr lang="en-US" sz="1050" b="1" dirty="0">
                <a:solidFill>
                  <a:srgbClr val="1A2D6B"/>
                </a:solidFill>
                <a:latin typeface="Calibri" pitchFamily="34" charset="0"/>
                <a:ea typeface="Calibri" pitchFamily="34" charset="-122"/>
                <a:cs typeface="Calibri" pitchFamily="34" charset="-120"/>
              </a:rPr>
              <a:t>Purpose: </a:t>
            </a:r>
            <a:pPr indent="0" marL="0">
              <a:buNone/>
            </a:pPr>
            <a:r>
              <a:rPr lang="en-US" sz="1050" dirty="0">
                <a:solidFill>
                  <a:srgbClr val="1A2038"/>
                </a:solidFill>
                <a:latin typeface="Calibri" pitchFamily="34" charset="0"/>
                <a:ea typeface="Calibri" pitchFamily="34" charset="-122"/>
                <a:cs typeface="Calibri" pitchFamily="34" charset="-120"/>
              </a:rPr>
              <a:t>Predicts the PROBABILITY of membership in one of two outcome categories from multiple predictors. DV must be binary (0=No, 1=Yes). Produces Odds Ratios as the key interpretable output.</a:t>
            </a:r>
            <a:endParaRPr lang="en-US" sz="1050" dirty="0"/>
          </a:p>
        </p:txBody>
      </p:sp>
      <p:sp>
        <p:nvSpPr>
          <p:cNvPr id="6" name="Shape 4"/>
          <p:cNvSpPr/>
          <p:nvPr/>
        </p:nvSpPr>
        <p:spPr>
          <a:xfrm>
            <a:off x="256032" y="1719072"/>
            <a:ext cx="3200400" cy="3337560"/>
          </a:xfrm>
          <a:prstGeom prst="roundRect">
            <a:avLst>
              <a:gd name="adj" fmla="val 2571"/>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792224"/>
            <a:ext cx="3054096" cy="329184"/>
          </a:xfrm>
          <a:prstGeom prst="roundRect">
            <a:avLst>
              <a:gd name="adj" fmla="val 16667"/>
            </a:avLst>
          </a:prstGeom>
          <a:solidFill>
            <a:srgbClr val="1A2D6B"/>
          </a:solidFill>
          <a:ln w="12700">
            <a:solidFill>
              <a:srgbClr val="1A2D6B"/>
            </a:solidFill>
            <a:prstDash val="solid"/>
          </a:ln>
        </p:spPr>
      </p:sp>
      <p:sp>
        <p:nvSpPr>
          <p:cNvPr id="8" name="Text 6"/>
          <p:cNvSpPr/>
          <p:nvPr/>
        </p:nvSpPr>
        <p:spPr>
          <a:xfrm>
            <a:off x="329184" y="1792224"/>
            <a:ext cx="305409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Setup and UAC Example</a:t>
            </a:r>
            <a:endParaRPr lang="en-US" sz="1100" dirty="0"/>
          </a:p>
        </p:txBody>
      </p:sp>
      <p:sp>
        <p:nvSpPr>
          <p:cNvPr id="9" name="Text 7"/>
          <p:cNvSpPr/>
          <p:nvPr/>
        </p:nvSpPr>
        <p:spPr>
          <a:xfrm>
            <a:off x="365760" y="2194560"/>
            <a:ext cx="3017520" cy="548640"/>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UAC Scenario: </a:t>
            </a:r>
            <a:pPr indent="0" marL="0">
              <a:buNone/>
            </a:pPr>
            <a:r>
              <a:rPr lang="en-US" sz="950" dirty="0">
                <a:solidFill>
                  <a:srgbClr val="1A2038"/>
                </a:solidFill>
                <a:latin typeface="Calibri" pitchFamily="34" charset="0"/>
                <a:ea typeface="Calibri" pitchFamily="34" charset="-122"/>
                <a:cs typeface="Calibri" pitchFamily="34" charset="-120"/>
              </a:rPr>
              <a:t>Which factors predict whether a consumer will REPURCHASE a UAC Foods product? DV: will_repurchase (0=No, 1=Yes), coded from repurchase_intention (4-5=Yes, 1-3=No).</a:t>
            </a:r>
            <a:endParaRPr lang="en-US" sz="950" dirty="0"/>
          </a:p>
        </p:txBody>
      </p:sp>
      <p:sp>
        <p:nvSpPr>
          <p:cNvPr id="10" name="Text 8"/>
          <p:cNvSpPr/>
          <p:nvPr/>
        </p:nvSpPr>
        <p:spPr>
          <a:xfrm>
            <a:off x="365760" y="2816352"/>
            <a:ext cx="3017520" cy="201168"/>
          </a:xfrm>
          <a:prstGeom prst="rect">
            <a:avLst/>
          </a:prstGeom>
          <a:noFill/>
          <a:ln/>
        </p:spPr>
        <p:txBody>
          <a:bodyPr wrap="square" lIns="0" tIns="0" rIns="0" bIns="0" rtlCol="0" anchor="ctr"/>
          <a:lstStyle/>
          <a:p>
            <a:pPr indent="0" marL="0">
              <a:buNone/>
            </a:pPr>
            <a:r>
              <a:rPr lang="en-US" sz="1000" b="1" dirty="0">
                <a:solidFill>
                  <a:srgbClr val="1A2D6B"/>
                </a:solidFill>
                <a:latin typeface="Calibri" pitchFamily="34" charset="0"/>
                <a:ea typeface="Calibri" pitchFamily="34" charset="-122"/>
                <a:cs typeface="Calibri" pitchFamily="34" charset="-120"/>
              </a:rPr>
              <a:t>Steps:</a:t>
            </a:r>
            <a:endParaRPr lang="en-US" sz="1000" dirty="0"/>
          </a:p>
        </p:txBody>
      </p:sp>
      <p:sp>
        <p:nvSpPr>
          <p:cNvPr id="11" name="Text 9"/>
          <p:cNvSpPr/>
          <p:nvPr/>
        </p:nvSpPr>
        <p:spPr>
          <a:xfrm>
            <a:off x="365760" y="3054096"/>
            <a:ext cx="3017520" cy="310896"/>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1. Analyze &gt; Regression &gt; Binary Logistic</a:t>
            </a:r>
            <a:endParaRPr lang="en-US" sz="900" dirty="0"/>
          </a:p>
        </p:txBody>
      </p:sp>
      <p:sp>
        <p:nvSpPr>
          <p:cNvPr id="12" name="Text 10"/>
          <p:cNvSpPr/>
          <p:nvPr/>
        </p:nvSpPr>
        <p:spPr>
          <a:xfrm>
            <a:off x="365760" y="3401568"/>
            <a:ext cx="3017520" cy="310896"/>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2. Move will_repurchase to Dependent (must be 0 and 1)</a:t>
            </a:r>
            <a:endParaRPr lang="en-US" sz="900" dirty="0"/>
          </a:p>
        </p:txBody>
      </p:sp>
      <p:sp>
        <p:nvSpPr>
          <p:cNvPr id="13" name="Text 11"/>
          <p:cNvSpPr/>
          <p:nvPr/>
        </p:nvSpPr>
        <p:spPr>
          <a:xfrm>
            <a:off x="365760" y="3749040"/>
            <a:ext cx="3017520" cy="310896"/>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3. Move sat_mean, monthly_salary_ngn, age_in_years, gender to Covariates</a:t>
            </a:r>
            <a:endParaRPr lang="en-US" sz="900" dirty="0"/>
          </a:p>
        </p:txBody>
      </p:sp>
      <p:sp>
        <p:nvSpPr>
          <p:cNvPr id="14" name="Text 12"/>
          <p:cNvSpPr/>
          <p:nvPr/>
        </p:nvSpPr>
        <p:spPr>
          <a:xfrm>
            <a:off x="365760" y="4096512"/>
            <a:ext cx="3017520" cy="310896"/>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4. Click Options: Hosmer-Lemeshow, CI for Exp(B), Classification plots, Casewise listing</a:t>
            </a:r>
            <a:endParaRPr lang="en-US" sz="900" dirty="0"/>
          </a:p>
        </p:txBody>
      </p:sp>
      <p:sp>
        <p:nvSpPr>
          <p:cNvPr id="15" name="Text 13"/>
          <p:cNvSpPr/>
          <p:nvPr/>
        </p:nvSpPr>
        <p:spPr>
          <a:xfrm>
            <a:off x="365760" y="4443984"/>
            <a:ext cx="3017520" cy="310896"/>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5. Select Enter method</a:t>
            </a:r>
            <a:endParaRPr lang="en-US" sz="900" dirty="0"/>
          </a:p>
        </p:txBody>
      </p:sp>
      <p:sp>
        <p:nvSpPr>
          <p:cNvPr id="16" name="Text 14"/>
          <p:cNvSpPr/>
          <p:nvPr/>
        </p:nvSpPr>
        <p:spPr>
          <a:xfrm>
            <a:off x="365760" y="4791456"/>
            <a:ext cx="3017520" cy="310896"/>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6. Click OK</a:t>
            </a:r>
            <a:endParaRPr lang="en-US" sz="900" dirty="0"/>
          </a:p>
        </p:txBody>
      </p:sp>
      <p:sp>
        <p:nvSpPr>
          <p:cNvPr id="17" name="Shape 15"/>
          <p:cNvSpPr/>
          <p:nvPr/>
        </p:nvSpPr>
        <p:spPr>
          <a:xfrm>
            <a:off x="3584448" y="1719072"/>
            <a:ext cx="5303520" cy="3337560"/>
          </a:xfrm>
          <a:prstGeom prst="roundRect">
            <a:avLst>
              <a:gd name="adj" fmla="val 246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3657600" y="1792224"/>
            <a:ext cx="5138928" cy="329184"/>
          </a:xfrm>
          <a:prstGeom prst="roundRect">
            <a:avLst>
              <a:gd name="adj" fmla="val 16667"/>
            </a:avLst>
          </a:prstGeom>
          <a:solidFill>
            <a:srgbClr val="0A0F1E"/>
          </a:solidFill>
          <a:ln w="12700">
            <a:solidFill>
              <a:srgbClr val="0A0F1E"/>
            </a:solidFill>
            <a:prstDash val="solid"/>
          </a:ln>
        </p:spPr>
      </p:sp>
      <p:sp>
        <p:nvSpPr>
          <p:cNvPr id="19" name="Text 17"/>
          <p:cNvSpPr/>
          <p:nvPr/>
        </p:nvSpPr>
        <p:spPr>
          <a:xfrm>
            <a:off x="3657600" y="1792224"/>
            <a:ext cx="5138928" cy="329184"/>
          </a:xfrm>
          <a:prstGeom prst="rect">
            <a:avLst/>
          </a:prstGeom>
          <a:noFill/>
          <a:ln/>
        </p:spPr>
        <p:txBody>
          <a:bodyPr wrap="square" lIns="0" tIns="0" rIns="0" bIns="0" rtlCol="0" anchor="ctr"/>
          <a:lstStyle/>
          <a:p>
            <a:pPr algn="ctr" indent="0" marL="0">
              <a:buNone/>
            </a:pPr>
            <a:r>
              <a:rPr lang="en-US" sz="1050" b="1" dirty="0">
                <a:solidFill>
                  <a:srgbClr val="F0C040"/>
                </a:solidFill>
                <a:latin typeface="Calibri" pitchFamily="34" charset="0"/>
                <a:ea typeface="Calibri" pitchFamily="34" charset="-122"/>
                <a:cs typeface="Calibri" pitchFamily="34" charset="-120"/>
              </a:rPr>
              <a:t>Binary Logistic Regression Output</a:t>
            </a:r>
            <a:endParaRPr lang="en-US" sz="1050" dirty="0"/>
          </a:p>
        </p:txBody>
      </p:sp>
      <p:sp>
        <p:nvSpPr>
          <p:cNvPr id="20" name="Text 18"/>
          <p:cNvSpPr/>
          <p:nvPr/>
        </p:nvSpPr>
        <p:spPr>
          <a:xfrm>
            <a:off x="3657600" y="2194560"/>
            <a:ext cx="5120640" cy="201168"/>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Model Fit:</a:t>
            </a:r>
            <a:endParaRPr lang="en-US" sz="950" dirty="0"/>
          </a:p>
        </p:txBody>
      </p:sp>
      <p:sp>
        <p:nvSpPr>
          <p:cNvPr id="21" name="Shape 19"/>
          <p:cNvSpPr/>
          <p:nvPr/>
        </p:nvSpPr>
        <p:spPr>
          <a:xfrm>
            <a:off x="3657600" y="2414016"/>
            <a:ext cx="1865376" cy="292608"/>
          </a:xfrm>
          <a:prstGeom prst="rect">
            <a:avLst/>
          </a:prstGeom>
          <a:solidFill>
            <a:srgbClr val="0A0F1E"/>
          </a:solidFill>
          <a:ln w="12700">
            <a:solidFill>
              <a:srgbClr val="0A0F1E"/>
            </a:solidFill>
            <a:prstDash val="solid"/>
          </a:ln>
        </p:spPr>
      </p:sp>
      <p:sp>
        <p:nvSpPr>
          <p:cNvPr id="22" name="Text 20"/>
          <p:cNvSpPr/>
          <p:nvPr/>
        </p:nvSpPr>
        <p:spPr>
          <a:xfrm>
            <a:off x="3657600" y="2414016"/>
            <a:ext cx="186537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Hosmer-Lemeshow</a:t>
            </a:r>
            <a:endParaRPr lang="en-US" sz="850" dirty="0"/>
          </a:p>
        </p:txBody>
      </p:sp>
      <p:sp>
        <p:nvSpPr>
          <p:cNvPr id="23" name="Shape 21"/>
          <p:cNvSpPr/>
          <p:nvPr/>
        </p:nvSpPr>
        <p:spPr>
          <a:xfrm>
            <a:off x="5522976" y="2414016"/>
            <a:ext cx="1408176" cy="292608"/>
          </a:xfrm>
          <a:prstGeom prst="rect">
            <a:avLst/>
          </a:prstGeom>
          <a:solidFill>
            <a:srgbClr val="0A0F1E"/>
          </a:solidFill>
          <a:ln w="12700">
            <a:solidFill>
              <a:srgbClr val="0A0F1E"/>
            </a:solidFill>
            <a:prstDash val="solid"/>
          </a:ln>
        </p:spPr>
      </p:sp>
      <p:sp>
        <p:nvSpPr>
          <p:cNvPr id="24" name="Text 22"/>
          <p:cNvSpPr/>
          <p:nvPr/>
        </p:nvSpPr>
        <p:spPr>
          <a:xfrm>
            <a:off x="5522976" y="2414016"/>
            <a:ext cx="140817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Nagelkerke R²</a:t>
            </a:r>
            <a:endParaRPr lang="en-US" sz="850" dirty="0"/>
          </a:p>
        </p:txBody>
      </p:sp>
      <p:sp>
        <p:nvSpPr>
          <p:cNvPr id="25" name="Shape 23"/>
          <p:cNvSpPr/>
          <p:nvPr/>
        </p:nvSpPr>
        <p:spPr>
          <a:xfrm>
            <a:off x="6931152" y="2414016"/>
            <a:ext cx="1847088" cy="292608"/>
          </a:xfrm>
          <a:prstGeom prst="rect">
            <a:avLst/>
          </a:prstGeom>
          <a:solidFill>
            <a:srgbClr val="0A0F1E"/>
          </a:solidFill>
          <a:ln w="12700">
            <a:solidFill>
              <a:srgbClr val="0A0F1E"/>
            </a:solidFill>
            <a:prstDash val="solid"/>
          </a:ln>
        </p:spPr>
      </p:sp>
      <p:sp>
        <p:nvSpPr>
          <p:cNvPr id="26" name="Text 24"/>
          <p:cNvSpPr/>
          <p:nvPr/>
        </p:nvSpPr>
        <p:spPr>
          <a:xfrm>
            <a:off x="6931152" y="2414016"/>
            <a:ext cx="18470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Classification Acc.</a:t>
            </a:r>
            <a:endParaRPr lang="en-US" sz="850" dirty="0"/>
          </a:p>
        </p:txBody>
      </p:sp>
      <p:sp>
        <p:nvSpPr>
          <p:cNvPr id="27" name="Shape 25"/>
          <p:cNvSpPr/>
          <p:nvPr/>
        </p:nvSpPr>
        <p:spPr>
          <a:xfrm>
            <a:off x="3657600" y="2706624"/>
            <a:ext cx="1865376" cy="292608"/>
          </a:xfrm>
          <a:prstGeom prst="rect">
            <a:avLst/>
          </a:prstGeom>
          <a:solidFill>
            <a:srgbClr val="EAEEF8"/>
          </a:solidFill>
          <a:ln w="6350">
            <a:solidFill>
              <a:srgbClr val="C0C8E0"/>
            </a:solidFill>
            <a:prstDash val="solid"/>
          </a:ln>
        </p:spPr>
      </p:sp>
      <p:sp>
        <p:nvSpPr>
          <p:cNvPr id="28" name="Text 26"/>
          <p:cNvSpPr/>
          <p:nvPr/>
        </p:nvSpPr>
        <p:spPr>
          <a:xfrm>
            <a:off x="3657600" y="2706624"/>
            <a:ext cx="1865376"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p = .482 (good fit)</a:t>
            </a:r>
            <a:endParaRPr lang="en-US" sz="850" dirty="0"/>
          </a:p>
        </p:txBody>
      </p:sp>
      <p:sp>
        <p:nvSpPr>
          <p:cNvPr id="29" name="Shape 27"/>
          <p:cNvSpPr/>
          <p:nvPr/>
        </p:nvSpPr>
        <p:spPr>
          <a:xfrm>
            <a:off x="5522976" y="2706624"/>
            <a:ext cx="1408176" cy="292608"/>
          </a:xfrm>
          <a:prstGeom prst="rect">
            <a:avLst/>
          </a:prstGeom>
          <a:solidFill>
            <a:srgbClr val="D8E8FF"/>
          </a:solidFill>
          <a:ln w="6350">
            <a:solidFill>
              <a:srgbClr val="C0C8E0"/>
            </a:solidFill>
            <a:prstDash val="solid"/>
          </a:ln>
        </p:spPr>
      </p:sp>
      <p:sp>
        <p:nvSpPr>
          <p:cNvPr id="30" name="Text 28"/>
          <p:cNvSpPr/>
          <p:nvPr/>
        </p:nvSpPr>
        <p:spPr>
          <a:xfrm>
            <a:off x="5522976" y="2706624"/>
            <a:ext cx="140817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.461</a:t>
            </a:r>
            <a:endParaRPr lang="en-US" sz="850" dirty="0"/>
          </a:p>
        </p:txBody>
      </p:sp>
      <p:sp>
        <p:nvSpPr>
          <p:cNvPr id="31" name="Shape 29"/>
          <p:cNvSpPr/>
          <p:nvPr/>
        </p:nvSpPr>
        <p:spPr>
          <a:xfrm>
            <a:off x="6931152" y="2706624"/>
            <a:ext cx="1847088" cy="292608"/>
          </a:xfrm>
          <a:prstGeom prst="rect">
            <a:avLst/>
          </a:prstGeom>
          <a:solidFill>
            <a:srgbClr val="D8E8FF"/>
          </a:solidFill>
          <a:ln w="6350">
            <a:solidFill>
              <a:srgbClr val="C0C8E0"/>
            </a:solidFill>
            <a:prstDash val="solid"/>
          </a:ln>
        </p:spPr>
      </p:sp>
      <p:sp>
        <p:nvSpPr>
          <p:cNvPr id="32" name="Text 30"/>
          <p:cNvSpPr/>
          <p:nvPr/>
        </p:nvSpPr>
        <p:spPr>
          <a:xfrm>
            <a:off x="6931152" y="2706624"/>
            <a:ext cx="18470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83.2%</a:t>
            </a:r>
            <a:endParaRPr lang="en-US" sz="850" dirty="0"/>
          </a:p>
        </p:txBody>
      </p:sp>
      <p:sp>
        <p:nvSpPr>
          <p:cNvPr id="33" name="Text 31"/>
          <p:cNvSpPr/>
          <p:nvPr/>
        </p:nvSpPr>
        <p:spPr>
          <a:xfrm>
            <a:off x="3657600" y="2944368"/>
            <a:ext cx="5120640" cy="201168"/>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Variables in the Equation:</a:t>
            </a:r>
            <a:endParaRPr lang="en-US" sz="950" dirty="0"/>
          </a:p>
        </p:txBody>
      </p:sp>
      <p:sp>
        <p:nvSpPr>
          <p:cNvPr id="34" name="Shape 32"/>
          <p:cNvSpPr/>
          <p:nvPr/>
        </p:nvSpPr>
        <p:spPr>
          <a:xfrm>
            <a:off x="3657600" y="3163824"/>
            <a:ext cx="1097280" cy="292608"/>
          </a:xfrm>
          <a:prstGeom prst="rect">
            <a:avLst/>
          </a:prstGeom>
          <a:solidFill>
            <a:srgbClr val="0A0F1E"/>
          </a:solidFill>
          <a:ln w="12700">
            <a:solidFill>
              <a:srgbClr val="0A0F1E"/>
            </a:solidFill>
            <a:prstDash val="solid"/>
          </a:ln>
        </p:spPr>
      </p:sp>
      <p:sp>
        <p:nvSpPr>
          <p:cNvPr id="35" name="Text 33"/>
          <p:cNvSpPr/>
          <p:nvPr/>
        </p:nvSpPr>
        <p:spPr>
          <a:xfrm>
            <a:off x="3657600" y="3163824"/>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Predictor</a:t>
            </a:r>
            <a:endParaRPr lang="en-US" sz="850" dirty="0"/>
          </a:p>
        </p:txBody>
      </p:sp>
      <p:sp>
        <p:nvSpPr>
          <p:cNvPr id="36" name="Shape 34"/>
          <p:cNvSpPr/>
          <p:nvPr/>
        </p:nvSpPr>
        <p:spPr>
          <a:xfrm>
            <a:off x="4754880" y="3163824"/>
            <a:ext cx="475488" cy="292608"/>
          </a:xfrm>
          <a:prstGeom prst="rect">
            <a:avLst/>
          </a:prstGeom>
          <a:solidFill>
            <a:srgbClr val="0A0F1E"/>
          </a:solidFill>
          <a:ln w="12700">
            <a:solidFill>
              <a:srgbClr val="0A0F1E"/>
            </a:solidFill>
            <a:prstDash val="solid"/>
          </a:ln>
        </p:spPr>
      </p:sp>
      <p:sp>
        <p:nvSpPr>
          <p:cNvPr id="37" name="Text 35"/>
          <p:cNvSpPr/>
          <p:nvPr/>
        </p:nvSpPr>
        <p:spPr>
          <a:xfrm>
            <a:off x="4754880" y="3163824"/>
            <a:ext cx="47548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t>
            </a:r>
            <a:endParaRPr lang="en-US" sz="850" dirty="0"/>
          </a:p>
        </p:txBody>
      </p:sp>
      <p:sp>
        <p:nvSpPr>
          <p:cNvPr id="38" name="Shape 36"/>
          <p:cNvSpPr/>
          <p:nvPr/>
        </p:nvSpPr>
        <p:spPr>
          <a:xfrm>
            <a:off x="5230368" y="3163824"/>
            <a:ext cx="621792" cy="292608"/>
          </a:xfrm>
          <a:prstGeom prst="rect">
            <a:avLst/>
          </a:prstGeom>
          <a:solidFill>
            <a:srgbClr val="0A0F1E"/>
          </a:solidFill>
          <a:ln w="12700">
            <a:solidFill>
              <a:srgbClr val="0A0F1E"/>
            </a:solidFill>
            <a:prstDash val="solid"/>
          </a:ln>
        </p:spPr>
      </p:sp>
      <p:sp>
        <p:nvSpPr>
          <p:cNvPr id="39" name="Text 37"/>
          <p:cNvSpPr/>
          <p:nvPr/>
        </p:nvSpPr>
        <p:spPr>
          <a:xfrm>
            <a:off x="5230368" y="3163824"/>
            <a:ext cx="62179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Wald</a:t>
            </a:r>
            <a:endParaRPr lang="en-US" sz="850" dirty="0"/>
          </a:p>
        </p:txBody>
      </p:sp>
      <p:sp>
        <p:nvSpPr>
          <p:cNvPr id="40" name="Shape 38"/>
          <p:cNvSpPr/>
          <p:nvPr/>
        </p:nvSpPr>
        <p:spPr>
          <a:xfrm>
            <a:off x="5852160" y="3163824"/>
            <a:ext cx="566928" cy="292608"/>
          </a:xfrm>
          <a:prstGeom prst="rect">
            <a:avLst/>
          </a:prstGeom>
          <a:solidFill>
            <a:srgbClr val="0A0F1E"/>
          </a:solidFill>
          <a:ln w="12700">
            <a:solidFill>
              <a:srgbClr val="0A0F1E"/>
            </a:solidFill>
            <a:prstDash val="solid"/>
          </a:ln>
        </p:spPr>
      </p:sp>
      <p:sp>
        <p:nvSpPr>
          <p:cNvPr id="41" name="Text 39"/>
          <p:cNvSpPr/>
          <p:nvPr/>
        </p:nvSpPr>
        <p:spPr>
          <a:xfrm>
            <a:off x="5852160" y="3163824"/>
            <a:ext cx="5669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42" name="Shape 40"/>
          <p:cNvSpPr/>
          <p:nvPr/>
        </p:nvSpPr>
        <p:spPr>
          <a:xfrm>
            <a:off x="6419088" y="3163824"/>
            <a:ext cx="713232" cy="292608"/>
          </a:xfrm>
          <a:prstGeom prst="rect">
            <a:avLst/>
          </a:prstGeom>
          <a:solidFill>
            <a:srgbClr val="0A0F1E"/>
          </a:solidFill>
          <a:ln w="12700">
            <a:solidFill>
              <a:srgbClr val="0A0F1E"/>
            </a:solidFill>
            <a:prstDash val="solid"/>
          </a:ln>
        </p:spPr>
      </p:sp>
      <p:sp>
        <p:nvSpPr>
          <p:cNvPr id="43" name="Text 41"/>
          <p:cNvSpPr/>
          <p:nvPr/>
        </p:nvSpPr>
        <p:spPr>
          <a:xfrm>
            <a:off x="6419088" y="3163824"/>
            <a:ext cx="71323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Exp(B)</a:t>
            </a:r>
            <a:endParaRPr lang="en-US" sz="850" dirty="0"/>
          </a:p>
        </p:txBody>
      </p:sp>
      <p:sp>
        <p:nvSpPr>
          <p:cNvPr id="44" name="Shape 42"/>
          <p:cNvSpPr/>
          <p:nvPr/>
        </p:nvSpPr>
        <p:spPr>
          <a:xfrm>
            <a:off x="7132320" y="3163824"/>
            <a:ext cx="1298448" cy="292608"/>
          </a:xfrm>
          <a:prstGeom prst="rect">
            <a:avLst/>
          </a:prstGeom>
          <a:solidFill>
            <a:srgbClr val="0A0F1E"/>
          </a:solidFill>
          <a:ln w="12700">
            <a:solidFill>
              <a:srgbClr val="0A0F1E"/>
            </a:solidFill>
            <a:prstDash val="solid"/>
          </a:ln>
        </p:spPr>
      </p:sp>
      <p:sp>
        <p:nvSpPr>
          <p:cNvPr id="45" name="Text 43"/>
          <p:cNvSpPr/>
          <p:nvPr/>
        </p:nvSpPr>
        <p:spPr>
          <a:xfrm>
            <a:off x="7132320" y="3163824"/>
            <a:ext cx="129844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95% CI</a:t>
            </a:r>
            <a:endParaRPr lang="en-US" sz="850" dirty="0"/>
          </a:p>
        </p:txBody>
      </p:sp>
      <p:sp>
        <p:nvSpPr>
          <p:cNvPr id="46" name="Shape 44"/>
          <p:cNvSpPr/>
          <p:nvPr/>
        </p:nvSpPr>
        <p:spPr>
          <a:xfrm>
            <a:off x="3657600" y="3456432"/>
            <a:ext cx="1097280" cy="292608"/>
          </a:xfrm>
          <a:prstGeom prst="rect">
            <a:avLst/>
          </a:prstGeom>
          <a:solidFill>
            <a:srgbClr val="D8E8FF"/>
          </a:solidFill>
          <a:ln w="6350">
            <a:solidFill>
              <a:srgbClr val="C0C8E0"/>
            </a:solidFill>
            <a:prstDash val="solid"/>
          </a:ln>
        </p:spPr>
      </p:sp>
      <p:sp>
        <p:nvSpPr>
          <p:cNvPr id="47" name="Text 45"/>
          <p:cNvSpPr/>
          <p:nvPr/>
        </p:nvSpPr>
        <p:spPr>
          <a:xfrm>
            <a:off x="3657600" y="3456432"/>
            <a:ext cx="10972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sat_mean</a:t>
            </a:r>
            <a:endParaRPr lang="en-US" sz="850" dirty="0"/>
          </a:p>
        </p:txBody>
      </p:sp>
      <p:sp>
        <p:nvSpPr>
          <p:cNvPr id="48" name="Shape 46"/>
          <p:cNvSpPr/>
          <p:nvPr/>
        </p:nvSpPr>
        <p:spPr>
          <a:xfrm>
            <a:off x="4754880" y="3456432"/>
            <a:ext cx="475488" cy="292608"/>
          </a:xfrm>
          <a:prstGeom prst="rect">
            <a:avLst/>
          </a:prstGeom>
          <a:solidFill>
            <a:srgbClr val="D8E8FF"/>
          </a:solidFill>
          <a:ln w="6350">
            <a:solidFill>
              <a:srgbClr val="C0C8E0"/>
            </a:solidFill>
            <a:prstDash val="solid"/>
          </a:ln>
        </p:spPr>
      </p:sp>
      <p:sp>
        <p:nvSpPr>
          <p:cNvPr id="49" name="Text 47"/>
          <p:cNvSpPr/>
          <p:nvPr/>
        </p:nvSpPr>
        <p:spPr>
          <a:xfrm>
            <a:off x="4754880" y="3456432"/>
            <a:ext cx="4754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1.284</a:t>
            </a:r>
            <a:endParaRPr lang="en-US" sz="850" dirty="0"/>
          </a:p>
        </p:txBody>
      </p:sp>
      <p:sp>
        <p:nvSpPr>
          <p:cNvPr id="50" name="Shape 48"/>
          <p:cNvSpPr/>
          <p:nvPr/>
        </p:nvSpPr>
        <p:spPr>
          <a:xfrm>
            <a:off x="5230368" y="3456432"/>
            <a:ext cx="621792" cy="292608"/>
          </a:xfrm>
          <a:prstGeom prst="rect">
            <a:avLst/>
          </a:prstGeom>
          <a:solidFill>
            <a:srgbClr val="D8E8FF"/>
          </a:solidFill>
          <a:ln w="6350">
            <a:solidFill>
              <a:srgbClr val="C0C8E0"/>
            </a:solidFill>
            <a:prstDash val="solid"/>
          </a:ln>
        </p:spPr>
      </p:sp>
      <p:sp>
        <p:nvSpPr>
          <p:cNvPr id="51" name="Text 49"/>
          <p:cNvSpPr/>
          <p:nvPr/>
        </p:nvSpPr>
        <p:spPr>
          <a:xfrm>
            <a:off x="5230368" y="3456432"/>
            <a:ext cx="62179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42.6</a:t>
            </a:r>
            <a:endParaRPr lang="en-US" sz="850" dirty="0"/>
          </a:p>
        </p:txBody>
      </p:sp>
      <p:sp>
        <p:nvSpPr>
          <p:cNvPr id="52" name="Shape 50"/>
          <p:cNvSpPr/>
          <p:nvPr/>
        </p:nvSpPr>
        <p:spPr>
          <a:xfrm>
            <a:off x="5852160" y="3456432"/>
            <a:ext cx="566928" cy="292608"/>
          </a:xfrm>
          <a:prstGeom prst="rect">
            <a:avLst/>
          </a:prstGeom>
          <a:solidFill>
            <a:srgbClr val="D8E8FF"/>
          </a:solidFill>
          <a:ln w="6350">
            <a:solidFill>
              <a:srgbClr val="C0C8E0"/>
            </a:solidFill>
            <a:prstDash val="solid"/>
          </a:ln>
        </p:spPr>
      </p:sp>
      <p:sp>
        <p:nvSpPr>
          <p:cNvPr id="53" name="Text 51"/>
          <p:cNvSpPr/>
          <p:nvPr/>
        </p:nvSpPr>
        <p:spPr>
          <a:xfrm>
            <a:off x="5852160" y="3456432"/>
            <a:ext cx="56692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54" name="Shape 52"/>
          <p:cNvSpPr/>
          <p:nvPr/>
        </p:nvSpPr>
        <p:spPr>
          <a:xfrm>
            <a:off x="6419088" y="3456432"/>
            <a:ext cx="713232" cy="292608"/>
          </a:xfrm>
          <a:prstGeom prst="rect">
            <a:avLst/>
          </a:prstGeom>
          <a:solidFill>
            <a:srgbClr val="D8E8FF"/>
          </a:solidFill>
          <a:ln w="6350">
            <a:solidFill>
              <a:srgbClr val="C0C8E0"/>
            </a:solidFill>
            <a:prstDash val="solid"/>
          </a:ln>
        </p:spPr>
      </p:sp>
      <p:sp>
        <p:nvSpPr>
          <p:cNvPr id="55" name="Text 53"/>
          <p:cNvSpPr/>
          <p:nvPr/>
        </p:nvSpPr>
        <p:spPr>
          <a:xfrm>
            <a:off x="6419088" y="3456432"/>
            <a:ext cx="71323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3.611</a:t>
            </a:r>
            <a:endParaRPr lang="en-US" sz="850" dirty="0"/>
          </a:p>
        </p:txBody>
      </p:sp>
      <p:sp>
        <p:nvSpPr>
          <p:cNvPr id="56" name="Shape 54"/>
          <p:cNvSpPr/>
          <p:nvPr/>
        </p:nvSpPr>
        <p:spPr>
          <a:xfrm>
            <a:off x="7132320" y="3456432"/>
            <a:ext cx="1298448" cy="292608"/>
          </a:xfrm>
          <a:prstGeom prst="rect">
            <a:avLst/>
          </a:prstGeom>
          <a:solidFill>
            <a:srgbClr val="EAEEF8"/>
          </a:solidFill>
          <a:ln w="6350">
            <a:solidFill>
              <a:srgbClr val="C0C8E0"/>
            </a:solidFill>
            <a:prstDash val="solid"/>
          </a:ln>
        </p:spPr>
      </p:sp>
      <p:sp>
        <p:nvSpPr>
          <p:cNvPr id="57" name="Text 55"/>
          <p:cNvSpPr/>
          <p:nvPr/>
        </p:nvSpPr>
        <p:spPr>
          <a:xfrm>
            <a:off x="7132320" y="3456432"/>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[2.702,4.824]</a:t>
            </a:r>
            <a:endParaRPr lang="en-US" sz="850" dirty="0"/>
          </a:p>
        </p:txBody>
      </p:sp>
      <p:sp>
        <p:nvSpPr>
          <p:cNvPr id="58" name="Shape 56"/>
          <p:cNvSpPr/>
          <p:nvPr/>
        </p:nvSpPr>
        <p:spPr>
          <a:xfrm>
            <a:off x="3657600" y="3749040"/>
            <a:ext cx="1097280" cy="292608"/>
          </a:xfrm>
          <a:prstGeom prst="rect">
            <a:avLst/>
          </a:prstGeom>
          <a:solidFill>
            <a:srgbClr val="D8E8FF"/>
          </a:solidFill>
          <a:ln w="6350">
            <a:solidFill>
              <a:srgbClr val="C0C8E0"/>
            </a:solidFill>
            <a:prstDash val="solid"/>
          </a:ln>
        </p:spPr>
      </p:sp>
      <p:sp>
        <p:nvSpPr>
          <p:cNvPr id="59" name="Text 57"/>
          <p:cNvSpPr/>
          <p:nvPr/>
        </p:nvSpPr>
        <p:spPr>
          <a:xfrm>
            <a:off x="3657600" y="3749040"/>
            <a:ext cx="109728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monthly_salary</a:t>
            </a:r>
            <a:endParaRPr lang="en-US" sz="850" dirty="0"/>
          </a:p>
        </p:txBody>
      </p:sp>
      <p:sp>
        <p:nvSpPr>
          <p:cNvPr id="60" name="Shape 58"/>
          <p:cNvSpPr/>
          <p:nvPr/>
        </p:nvSpPr>
        <p:spPr>
          <a:xfrm>
            <a:off x="4754880" y="3749040"/>
            <a:ext cx="475488" cy="292608"/>
          </a:xfrm>
          <a:prstGeom prst="rect">
            <a:avLst/>
          </a:prstGeom>
          <a:solidFill>
            <a:srgbClr val="D8E8FF"/>
          </a:solidFill>
          <a:ln w="6350">
            <a:solidFill>
              <a:srgbClr val="C0C8E0"/>
            </a:solidFill>
            <a:prstDash val="solid"/>
          </a:ln>
        </p:spPr>
      </p:sp>
      <p:sp>
        <p:nvSpPr>
          <p:cNvPr id="61" name="Text 59"/>
          <p:cNvSpPr/>
          <p:nvPr/>
        </p:nvSpPr>
        <p:spPr>
          <a:xfrm>
            <a:off x="4754880" y="3749040"/>
            <a:ext cx="4754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.000002</a:t>
            </a:r>
            <a:endParaRPr lang="en-US" sz="850" dirty="0"/>
          </a:p>
        </p:txBody>
      </p:sp>
      <p:sp>
        <p:nvSpPr>
          <p:cNvPr id="62" name="Shape 60"/>
          <p:cNvSpPr/>
          <p:nvPr/>
        </p:nvSpPr>
        <p:spPr>
          <a:xfrm>
            <a:off x="5230368" y="3749040"/>
            <a:ext cx="621792" cy="292608"/>
          </a:xfrm>
          <a:prstGeom prst="rect">
            <a:avLst/>
          </a:prstGeom>
          <a:solidFill>
            <a:srgbClr val="D8E8FF"/>
          </a:solidFill>
          <a:ln w="6350">
            <a:solidFill>
              <a:srgbClr val="C0C8E0"/>
            </a:solidFill>
            <a:prstDash val="solid"/>
          </a:ln>
        </p:spPr>
      </p:sp>
      <p:sp>
        <p:nvSpPr>
          <p:cNvPr id="63" name="Text 61"/>
          <p:cNvSpPr/>
          <p:nvPr/>
        </p:nvSpPr>
        <p:spPr>
          <a:xfrm>
            <a:off x="5230368" y="3749040"/>
            <a:ext cx="62179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8.24</a:t>
            </a:r>
            <a:endParaRPr lang="en-US" sz="850" dirty="0"/>
          </a:p>
        </p:txBody>
      </p:sp>
      <p:sp>
        <p:nvSpPr>
          <p:cNvPr id="64" name="Shape 62"/>
          <p:cNvSpPr/>
          <p:nvPr/>
        </p:nvSpPr>
        <p:spPr>
          <a:xfrm>
            <a:off x="5852160" y="3749040"/>
            <a:ext cx="566928" cy="292608"/>
          </a:xfrm>
          <a:prstGeom prst="rect">
            <a:avLst/>
          </a:prstGeom>
          <a:solidFill>
            <a:srgbClr val="D8E8FF"/>
          </a:solidFill>
          <a:ln w="6350">
            <a:solidFill>
              <a:srgbClr val="C0C8E0"/>
            </a:solidFill>
            <a:prstDash val="solid"/>
          </a:ln>
        </p:spPr>
      </p:sp>
      <p:sp>
        <p:nvSpPr>
          <p:cNvPr id="65" name="Text 63"/>
          <p:cNvSpPr/>
          <p:nvPr/>
        </p:nvSpPr>
        <p:spPr>
          <a:xfrm>
            <a:off x="5852160" y="3749040"/>
            <a:ext cx="56692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.004</a:t>
            </a:r>
            <a:endParaRPr lang="en-US" sz="850" dirty="0"/>
          </a:p>
        </p:txBody>
      </p:sp>
      <p:sp>
        <p:nvSpPr>
          <p:cNvPr id="66" name="Shape 64"/>
          <p:cNvSpPr/>
          <p:nvPr/>
        </p:nvSpPr>
        <p:spPr>
          <a:xfrm>
            <a:off x="6419088" y="3749040"/>
            <a:ext cx="713232" cy="292608"/>
          </a:xfrm>
          <a:prstGeom prst="rect">
            <a:avLst/>
          </a:prstGeom>
          <a:solidFill>
            <a:srgbClr val="D8E8FF"/>
          </a:solidFill>
          <a:ln w="6350">
            <a:solidFill>
              <a:srgbClr val="C0C8E0"/>
            </a:solidFill>
            <a:prstDash val="solid"/>
          </a:ln>
        </p:spPr>
      </p:sp>
      <p:sp>
        <p:nvSpPr>
          <p:cNvPr id="67" name="Text 65"/>
          <p:cNvSpPr/>
          <p:nvPr/>
        </p:nvSpPr>
        <p:spPr>
          <a:xfrm>
            <a:off x="6419088" y="3749040"/>
            <a:ext cx="71323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1.000</a:t>
            </a:r>
            <a:endParaRPr lang="en-US" sz="850" dirty="0"/>
          </a:p>
        </p:txBody>
      </p:sp>
      <p:sp>
        <p:nvSpPr>
          <p:cNvPr id="68" name="Shape 66"/>
          <p:cNvSpPr/>
          <p:nvPr/>
        </p:nvSpPr>
        <p:spPr>
          <a:xfrm>
            <a:off x="7132320" y="3749040"/>
            <a:ext cx="1298448" cy="292608"/>
          </a:xfrm>
          <a:prstGeom prst="rect">
            <a:avLst/>
          </a:prstGeom>
          <a:solidFill>
            <a:srgbClr val="FFFFFF"/>
          </a:solidFill>
          <a:ln w="6350">
            <a:solidFill>
              <a:srgbClr val="C0C8E0"/>
            </a:solidFill>
            <a:prstDash val="solid"/>
          </a:ln>
        </p:spPr>
      </p:sp>
      <p:sp>
        <p:nvSpPr>
          <p:cNvPr id="69" name="Text 67"/>
          <p:cNvSpPr/>
          <p:nvPr/>
        </p:nvSpPr>
        <p:spPr>
          <a:xfrm>
            <a:off x="7132320" y="3749040"/>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[1.000,1.000]</a:t>
            </a:r>
            <a:endParaRPr lang="en-US" sz="850" dirty="0"/>
          </a:p>
        </p:txBody>
      </p:sp>
      <p:sp>
        <p:nvSpPr>
          <p:cNvPr id="70" name="Shape 68"/>
          <p:cNvSpPr/>
          <p:nvPr/>
        </p:nvSpPr>
        <p:spPr>
          <a:xfrm>
            <a:off x="3657600" y="4041648"/>
            <a:ext cx="1097280" cy="292608"/>
          </a:xfrm>
          <a:prstGeom prst="rect">
            <a:avLst/>
          </a:prstGeom>
          <a:solidFill>
            <a:srgbClr val="EAEEF8"/>
          </a:solidFill>
          <a:ln w="6350">
            <a:solidFill>
              <a:srgbClr val="C0C8E0"/>
            </a:solidFill>
            <a:prstDash val="solid"/>
          </a:ln>
        </p:spPr>
      </p:sp>
      <p:sp>
        <p:nvSpPr>
          <p:cNvPr id="71" name="Text 69"/>
          <p:cNvSpPr/>
          <p:nvPr/>
        </p:nvSpPr>
        <p:spPr>
          <a:xfrm>
            <a:off x="3657600" y="4041648"/>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age_in_years</a:t>
            </a:r>
            <a:endParaRPr lang="en-US" sz="850" dirty="0"/>
          </a:p>
        </p:txBody>
      </p:sp>
      <p:sp>
        <p:nvSpPr>
          <p:cNvPr id="72" name="Shape 70"/>
          <p:cNvSpPr/>
          <p:nvPr/>
        </p:nvSpPr>
        <p:spPr>
          <a:xfrm>
            <a:off x="4754880" y="4041648"/>
            <a:ext cx="475488" cy="292608"/>
          </a:xfrm>
          <a:prstGeom prst="rect">
            <a:avLst/>
          </a:prstGeom>
          <a:solidFill>
            <a:srgbClr val="EAEEF8"/>
          </a:solidFill>
          <a:ln w="6350">
            <a:solidFill>
              <a:srgbClr val="C0C8E0"/>
            </a:solidFill>
            <a:prstDash val="solid"/>
          </a:ln>
        </p:spPr>
      </p:sp>
      <p:sp>
        <p:nvSpPr>
          <p:cNvPr id="73" name="Text 71"/>
          <p:cNvSpPr/>
          <p:nvPr/>
        </p:nvSpPr>
        <p:spPr>
          <a:xfrm>
            <a:off x="4754880" y="4041648"/>
            <a:ext cx="47548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.012</a:t>
            </a:r>
            <a:endParaRPr lang="en-US" sz="850" dirty="0"/>
          </a:p>
        </p:txBody>
      </p:sp>
      <p:sp>
        <p:nvSpPr>
          <p:cNvPr id="74" name="Shape 72"/>
          <p:cNvSpPr/>
          <p:nvPr/>
        </p:nvSpPr>
        <p:spPr>
          <a:xfrm>
            <a:off x="5230368" y="4041648"/>
            <a:ext cx="621792" cy="292608"/>
          </a:xfrm>
          <a:prstGeom prst="rect">
            <a:avLst/>
          </a:prstGeom>
          <a:solidFill>
            <a:srgbClr val="EAEEF8"/>
          </a:solidFill>
          <a:ln w="6350">
            <a:solidFill>
              <a:srgbClr val="C0C8E0"/>
            </a:solidFill>
            <a:prstDash val="solid"/>
          </a:ln>
        </p:spPr>
      </p:sp>
      <p:sp>
        <p:nvSpPr>
          <p:cNvPr id="75" name="Text 73"/>
          <p:cNvSpPr/>
          <p:nvPr/>
        </p:nvSpPr>
        <p:spPr>
          <a:xfrm>
            <a:off x="5230368" y="4041648"/>
            <a:ext cx="62179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1.84</a:t>
            </a:r>
            <a:endParaRPr lang="en-US" sz="850" dirty="0"/>
          </a:p>
        </p:txBody>
      </p:sp>
      <p:sp>
        <p:nvSpPr>
          <p:cNvPr id="76" name="Shape 74"/>
          <p:cNvSpPr/>
          <p:nvPr/>
        </p:nvSpPr>
        <p:spPr>
          <a:xfrm>
            <a:off x="5852160" y="4041648"/>
            <a:ext cx="566928" cy="292608"/>
          </a:xfrm>
          <a:prstGeom prst="rect">
            <a:avLst/>
          </a:prstGeom>
          <a:solidFill>
            <a:srgbClr val="EAEEF8"/>
          </a:solidFill>
          <a:ln w="6350">
            <a:solidFill>
              <a:srgbClr val="C0C8E0"/>
            </a:solidFill>
            <a:prstDash val="solid"/>
          </a:ln>
        </p:spPr>
      </p:sp>
      <p:sp>
        <p:nvSpPr>
          <p:cNvPr id="77" name="Text 75"/>
          <p:cNvSpPr/>
          <p:nvPr/>
        </p:nvSpPr>
        <p:spPr>
          <a:xfrm>
            <a:off x="5852160" y="4041648"/>
            <a:ext cx="5669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.175</a:t>
            </a:r>
            <a:endParaRPr lang="en-US" sz="850" dirty="0"/>
          </a:p>
        </p:txBody>
      </p:sp>
      <p:sp>
        <p:nvSpPr>
          <p:cNvPr id="78" name="Shape 76"/>
          <p:cNvSpPr/>
          <p:nvPr/>
        </p:nvSpPr>
        <p:spPr>
          <a:xfrm>
            <a:off x="6419088" y="4041648"/>
            <a:ext cx="713232" cy="292608"/>
          </a:xfrm>
          <a:prstGeom prst="rect">
            <a:avLst/>
          </a:prstGeom>
          <a:solidFill>
            <a:srgbClr val="EAEEF8"/>
          </a:solidFill>
          <a:ln w="6350">
            <a:solidFill>
              <a:srgbClr val="C0C8E0"/>
            </a:solidFill>
            <a:prstDash val="solid"/>
          </a:ln>
        </p:spPr>
      </p:sp>
      <p:sp>
        <p:nvSpPr>
          <p:cNvPr id="79" name="Text 77"/>
          <p:cNvSpPr/>
          <p:nvPr/>
        </p:nvSpPr>
        <p:spPr>
          <a:xfrm>
            <a:off x="6419088" y="4041648"/>
            <a:ext cx="71323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1.012</a:t>
            </a:r>
            <a:endParaRPr lang="en-US" sz="850" dirty="0"/>
          </a:p>
        </p:txBody>
      </p:sp>
      <p:sp>
        <p:nvSpPr>
          <p:cNvPr id="80" name="Shape 78"/>
          <p:cNvSpPr/>
          <p:nvPr/>
        </p:nvSpPr>
        <p:spPr>
          <a:xfrm>
            <a:off x="7132320" y="4041648"/>
            <a:ext cx="1298448" cy="292608"/>
          </a:xfrm>
          <a:prstGeom prst="rect">
            <a:avLst/>
          </a:prstGeom>
          <a:solidFill>
            <a:srgbClr val="EAEEF8"/>
          </a:solidFill>
          <a:ln w="6350">
            <a:solidFill>
              <a:srgbClr val="C0C8E0"/>
            </a:solidFill>
            <a:prstDash val="solid"/>
          </a:ln>
        </p:spPr>
      </p:sp>
      <p:sp>
        <p:nvSpPr>
          <p:cNvPr id="81" name="Text 79"/>
          <p:cNvSpPr/>
          <p:nvPr/>
        </p:nvSpPr>
        <p:spPr>
          <a:xfrm>
            <a:off x="7132320" y="4041648"/>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[.995,1.030]</a:t>
            </a:r>
            <a:endParaRPr lang="en-US" sz="850" dirty="0"/>
          </a:p>
        </p:txBody>
      </p:sp>
      <p:sp>
        <p:nvSpPr>
          <p:cNvPr id="82" name="Shape 80"/>
          <p:cNvSpPr/>
          <p:nvPr/>
        </p:nvSpPr>
        <p:spPr>
          <a:xfrm>
            <a:off x="3657600" y="4334256"/>
            <a:ext cx="1097280" cy="292608"/>
          </a:xfrm>
          <a:prstGeom prst="rect">
            <a:avLst/>
          </a:prstGeom>
          <a:solidFill>
            <a:srgbClr val="FFFFFF"/>
          </a:solidFill>
          <a:ln w="6350">
            <a:solidFill>
              <a:srgbClr val="C0C8E0"/>
            </a:solidFill>
            <a:prstDash val="solid"/>
          </a:ln>
        </p:spPr>
      </p:sp>
      <p:sp>
        <p:nvSpPr>
          <p:cNvPr id="83" name="Text 81"/>
          <p:cNvSpPr/>
          <p:nvPr/>
        </p:nvSpPr>
        <p:spPr>
          <a:xfrm>
            <a:off x="3657600" y="4334256"/>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gender (1=F)</a:t>
            </a:r>
            <a:endParaRPr lang="en-US" sz="850" dirty="0"/>
          </a:p>
        </p:txBody>
      </p:sp>
      <p:sp>
        <p:nvSpPr>
          <p:cNvPr id="84" name="Shape 82"/>
          <p:cNvSpPr/>
          <p:nvPr/>
        </p:nvSpPr>
        <p:spPr>
          <a:xfrm>
            <a:off x="4754880" y="4334256"/>
            <a:ext cx="475488" cy="292608"/>
          </a:xfrm>
          <a:prstGeom prst="rect">
            <a:avLst/>
          </a:prstGeom>
          <a:solidFill>
            <a:srgbClr val="D8E8FF"/>
          </a:solidFill>
          <a:ln w="6350">
            <a:solidFill>
              <a:srgbClr val="C0C8E0"/>
            </a:solidFill>
            <a:prstDash val="solid"/>
          </a:ln>
        </p:spPr>
      </p:sp>
      <p:sp>
        <p:nvSpPr>
          <p:cNvPr id="85" name="Text 83"/>
          <p:cNvSpPr/>
          <p:nvPr/>
        </p:nvSpPr>
        <p:spPr>
          <a:xfrm>
            <a:off x="4754880" y="4334256"/>
            <a:ext cx="47548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.342</a:t>
            </a:r>
            <a:endParaRPr lang="en-US" sz="850" dirty="0"/>
          </a:p>
        </p:txBody>
      </p:sp>
      <p:sp>
        <p:nvSpPr>
          <p:cNvPr id="86" name="Shape 84"/>
          <p:cNvSpPr/>
          <p:nvPr/>
        </p:nvSpPr>
        <p:spPr>
          <a:xfrm>
            <a:off x="5230368" y="4334256"/>
            <a:ext cx="621792" cy="292608"/>
          </a:xfrm>
          <a:prstGeom prst="rect">
            <a:avLst/>
          </a:prstGeom>
          <a:solidFill>
            <a:srgbClr val="D8E8FF"/>
          </a:solidFill>
          <a:ln w="6350">
            <a:solidFill>
              <a:srgbClr val="C0C8E0"/>
            </a:solidFill>
            <a:prstDash val="solid"/>
          </a:ln>
        </p:spPr>
      </p:sp>
      <p:sp>
        <p:nvSpPr>
          <p:cNvPr id="87" name="Text 85"/>
          <p:cNvSpPr/>
          <p:nvPr/>
        </p:nvSpPr>
        <p:spPr>
          <a:xfrm>
            <a:off x="5230368" y="4334256"/>
            <a:ext cx="62179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4.82</a:t>
            </a:r>
            <a:endParaRPr lang="en-US" sz="850" dirty="0"/>
          </a:p>
        </p:txBody>
      </p:sp>
      <p:sp>
        <p:nvSpPr>
          <p:cNvPr id="88" name="Shape 86"/>
          <p:cNvSpPr/>
          <p:nvPr/>
        </p:nvSpPr>
        <p:spPr>
          <a:xfrm>
            <a:off x="5852160" y="4334256"/>
            <a:ext cx="566928" cy="292608"/>
          </a:xfrm>
          <a:prstGeom prst="rect">
            <a:avLst/>
          </a:prstGeom>
          <a:solidFill>
            <a:srgbClr val="D8E8FF"/>
          </a:solidFill>
          <a:ln w="6350">
            <a:solidFill>
              <a:srgbClr val="C0C8E0"/>
            </a:solidFill>
            <a:prstDash val="solid"/>
          </a:ln>
        </p:spPr>
      </p:sp>
      <p:sp>
        <p:nvSpPr>
          <p:cNvPr id="89" name="Text 87"/>
          <p:cNvSpPr/>
          <p:nvPr/>
        </p:nvSpPr>
        <p:spPr>
          <a:xfrm>
            <a:off x="5852160" y="4334256"/>
            <a:ext cx="56692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.028</a:t>
            </a:r>
            <a:endParaRPr lang="en-US" sz="850" dirty="0"/>
          </a:p>
        </p:txBody>
      </p:sp>
      <p:sp>
        <p:nvSpPr>
          <p:cNvPr id="90" name="Shape 88"/>
          <p:cNvSpPr/>
          <p:nvPr/>
        </p:nvSpPr>
        <p:spPr>
          <a:xfrm>
            <a:off x="6419088" y="4334256"/>
            <a:ext cx="713232" cy="292608"/>
          </a:xfrm>
          <a:prstGeom prst="rect">
            <a:avLst/>
          </a:prstGeom>
          <a:solidFill>
            <a:srgbClr val="D8E8FF"/>
          </a:solidFill>
          <a:ln w="6350">
            <a:solidFill>
              <a:srgbClr val="C0C8E0"/>
            </a:solidFill>
            <a:prstDash val="solid"/>
          </a:ln>
        </p:spPr>
      </p:sp>
      <p:sp>
        <p:nvSpPr>
          <p:cNvPr id="91" name="Text 89"/>
          <p:cNvSpPr/>
          <p:nvPr/>
        </p:nvSpPr>
        <p:spPr>
          <a:xfrm>
            <a:off x="6419088" y="4334256"/>
            <a:ext cx="71323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1.408</a:t>
            </a:r>
            <a:endParaRPr lang="en-US" sz="850" dirty="0"/>
          </a:p>
        </p:txBody>
      </p:sp>
      <p:sp>
        <p:nvSpPr>
          <p:cNvPr id="92" name="Shape 90"/>
          <p:cNvSpPr/>
          <p:nvPr/>
        </p:nvSpPr>
        <p:spPr>
          <a:xfrm>
            <a:off x="7132320" y="4334256"/>
            <a:ext cx="1298448" cy="292608"/>
          </a:xfrm>
          <a:prstGeom prst="rect">
            <a:avLst/>
          </a:prstGeom>
          <a:solidFill>
            <a:srgbClr val="FFFFFF"/>
          </a:solidFill>
          <a:ln w="6350">
            <a:solidFill>
              <a:srgbClr val="C0C8E0"/>
            </a:solidFill>
            <a:prstDash val="solid"/>
          </a:ln>
        </p:spPr>
      </p:sp>
      <p:sp>
        <p:nvSpPr>
          <p:cNvPr id="93" name="Text 91"/>
          <p:cNvSpPr/>
          <p:nvPr/>
        </p:nvSpPr>
        <p:spPr>
          <a:xfrm>
            <a:off x="7132320" y="4334256"/>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[1.039,1.908]</a:t>
            </a:r>
            <a:endParaRPr lang="en-US" sz="850" dirty="0"/>
          </a:p>
        </p:txBody>
      </p:sp>
      <p:sp>
        <p:nvSpPr>
          <p:cNvPr id="94" name="Text 92"/>
          <p:cNvSpPr/>
          <p:nvPr/>
        </p:nvSpPr>
        <p:spPr>
          <a:xfrm>
            <a:off x="3657600" y="4407408"/>
            <a:ext cx="5120640" cy="201168"/>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Interpreting Exp(B) - Odds Ratios:</a:t>
            </a:r>
            <a:endParaRPr lang="en-US" sz="950" dirty="0"/>
          </a:p>
        </p:txBody>
      </p:sp>
      <p:sp>
        <p:nvSpPr>
          <p:cNvPr id="95" name="Text 93"/>
          <p:cNvSpPr/>
          <p:nvPr/>
        </p:nvSpPr>
        <p:spPr>
          <a:xfrm>
            <a:off x="3657600" y="4645152"/>
            <a:ext cx="5120640" cy="530352"/>
          </a:xfrm>
          <a:prstGeom prst="rect">
            <a:avLst/>
          </a:prstGeom>
          <a:noFill/>
          <a:ln/>
        </p:spPr>
        <p:txBody>
          <a:bodyPr wrap="square" lIns="0" tIns="0" rIns="0" bIns="0" rtlCol="0" anchor="ctr"/>
          <a:lstStyle/>
          <a:p>
            <a:pPr indent="0" marL="0">
              <a:buNone/>
            </a:pPr>
            <a:r>
              <a:rPr lang="en-US" sz="900" b="1" dirty="0">
                <a:solidFill>
                  <a:srgbClr val="12A374"/>
                </a:solidFill>
                <a:latin typeface="Calibri" pitchFamily="34" charset="0"/>
                <a:ea typeface="Calibri" pitchFamily="34" charset="-122"/>
                <a:cs typeface="Calibri" pitchFamily="34" charset="-120"/>
              </a:rPr>
              <a:t>sat_mean Exp(B) = 3.611: </a:t>
            </a:r>
            <a:pPr indent="0" marL="0">
              <a:buNone/>
            </a:pPr>
            <a:r>
              <a:rPr lang="en-US" sz="900" dirty="0">
                <a:solidFill>
                  <a:srgbClr val="1A2038"/>
                </a:solidFill>
                <a:latin typeface="Calibri" pitchFamily="34" charset="0"/>
                <a:ea typeface="Calibri" pitchFamily="34" charset="-122"/>
                <a:cs typeface="Calibri" pitchFamily="34" charset="-120"/>
              </a:rPr>
              <a:t>Each 1-unit increase in satisfaction MULTIPLIES the odds of repurchase by 3.611 (261% increase). The strongest predictor.
</a:t>
            </a:r>
            <a:pPr indent="0" marL="0">
              <a:buNone/>
            </a:pPr>
            <a:r>
              <a:rPr lang="en-US" sz="900" b="1" dirty="0">
                <a:solidFill>
                  <a:srgbClr val="C8920A"/>
                </a:solidFill>
                <a:latin typeface="Calibri" pitchFamily="34" charset="0"/>
                <a:ea typeface="Calibri" pitchFamily="34" charset="-122"/>
                <a:cs typeface="Calibri" pitchFamily="34" charset="-120"/>
              </a:rPr>
              <a:t>gender Exp(B) = 1.408: </a:t>
            </a:r>
            <a:pPr indent="0" marL="0">
              <a:buNone/>
            </a:pPr>
            <a:r>
              <a:rPr lang="en-US" sz="900" dirty="0">
                <a:solidFill>
                  <a:srgbClr val="1A2038"/>
                </a:solidFill>
                <a:latin typeface="Calibri" pitchFamily="34" charset="0"/>
                <a:ea typeface="Calibri" pitchFamily="34" charset="-122"/>
                <a:cs typeface="Calibri" pitchFamily="34" charset="-120"/>
              </a:rPr>
              <a:t>Female consumers have 40.8% HIGHER odds of repurchasing than male consumers.</a:t>
            </a:r>
            <a:endParaRPr lang="en-US" sz="900" dirty="0"/>
          </a:p>
        </p:txBody>
      </p:sp>
      <p:sp>
        <p:nvSpPr>
          <p:cNvPr id="96" name="Shape 94"/>
          <p:cNvSpPr/>
          <p:nvPr/>
        </p:nvSpPr>
        <p:spPr>
          <a:xfrm>
            <a:off x="256032" y="5193792"/>
            <a:ext cx="8631936" cy="347472"/>
          </a:xfrm>
          <a:prstGeom prst="roundRect">
            <a:avLst>
              <a:gd name="adj" fmla="val 15789"/>
            </a:avLst>
          </a:prstGeom>
          <a:solidFill>
            <a:srgbClr val="FFFBEC"/>
          </a:solidFill>
          <a:ln w="19050">
            <a:solidFill>
              <a:srgbClr val="C8920A"/>
            </a:solidFill>
            <a:prstDash val="solid"/>
          </a:ln>
        </p:spPr>
      </p:sp>
      <p:sp>
        <p:nvSpPr>
          <p:cNvPr id="97" name="Text 95"/>
          <p:cNvSpPr/>
          <p:nvPr/>
        </p:nvSpPr>
        <p:spPr>
          <a:xfrm>
            <a:off x="384048" y="5193792"/>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Classification table: Model correctly classifies 83.2% of cases. Baseline accuracy (always predicting the majority class) would be ~62%. The model adds 21.2% improvement in accuracy.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1A2D6B">
              <a:alpha val="16000"/>
            </a:srgbClr>
          </a:solidFill>
          <a:ln w="12700">
            <a:solidFill>
              <a:srgbClr val="1A2D6B"/>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Multinomial Logistic Regression - 3+ Category Outcomes</a:t>
            </a:r>
            <a:endParaRPr lang="en-US" sz="2700" dirty="0"/>
          </a:p>
        </p:txBody>
      </p:sp>
      <p:sp>
        <p:nvSpPr>
          <p:cNvPr id="4" name="Shape 2"/>
          <p:cNvSpPr/>
          <p:nvPr/>
        </p:nvSpPr>
        <p:spPr>
          <a:xfrm>
            <a:off x="274320" y="914400"/>
            <a:ext cx="4160520" cy="4133088"/>
          </a:xfrm>
          <a:prstGeom prst="roundRect">
            <a:avLst>
              <a:gd name="adj" fmla="val 2212"/>
            </a:avLst>
          </a:prstGeom>
          <a:solidFill>
            <a:srgbClr val="111A30"/>
          </a:solidFill>
          <a:ln w="12700">
            <a:solidFill>
              <a:srgbClr val="2748A8"/>
            </a:solidFill>
            <a:prstDash val="solid"/>
          </a:ln>
        </p:spPr>
      </p:sp>
      <p:sp>
        <p:nvSpPr>
          <p:cNvPr id="5" name="Text 3"/>
          <p:cNvSpPr/>
          <p:nvPr/>
        </p:nvSpPr>
        <p:spPr>
          <a:xfrm>
            <a:off x="384048" y="987552"/>
            <a:ext cx="3913632" cy="274320"/>
          </a:xfrm>
          <a:prstGeom prst="rect">
            <a:avLst/>
          </a:prstGeom>
          <a:noFill/>
          <a:ln/>
        </p:spPr>
        <p:txBody>
          <a:bodyPr wrap="square" lIns="0" tIns="0" rIns="0" bIns="0" rtlCol="0" anchor="ctr"/>
          <a:lstStyle/>
          <a:p>
            <a:pPr indent="0" marL="0">
              <a:buNone/>
            </a:pPr>
            <a:r>
              <a:rPr lang="en-US" sz="1150" b="1" dirty="0">
                <a:solidFill>
                  <a:srgbClr val="F0C040"/>
                </a:solidFill>
                <a:latin typeface="Calibri" pitchFamily="34" charset="0"/>
                <a:ea typeface="Calibri" pitchFamily="34" charset="-122"/>
                <a:cs typeface="Calibri" pitchFamily="34" charset="-120"/>
              </a:rPr>
              <a:t>Purpose and Setup</a:t>
            </a:r>
            <a:endParaRPr lang="en-US" sz="1150" dirty="0"/>
          </a:p>
        </p:txBody>
      </p:sp>
      <p:sp>
        <p:nvSpPr>
          <p:cNvPr id="6" name="Text 4"/>
          <p:cNvSpPr/>
          <p:nvPr/>
        </p:nvSpPr>
        <p:spPr>
          <a:xfrm>
            <a:off x="384048" y="1316736"/>
            <a:ext cx="3913632" cy="475488"/>
          </a:xfrm>
          <a:prstGeom prst="rect">
            <a:avLst/>
          </a:prstGeom>
          <a:noFill/>
          <a:ln/>
        </p:spPr>
        <p:txBody>
          <a:bodyPr wrap="square" lIns="0" tIns="0" rIns="0" bIns="0" rtlCol="0" anchor="ctr"/>
          <a:lstStyle/>
          <a:p>
            <a:pPr indent="0" marL="0">
              <a:buNone/>
            </a:pPr>
            <a:r>
              <a:rPr lang="en-US" sz="950" dirty="0">
                <a:solidFill>
                  <a:srgbClr val="90A8D8"/>
                </a:solidFill>
                <a:latin typeface="Calibri" pitchFamily="34" charset="0"/>
                <a:ea typeface="Calibri" pitchFamily="34" charset="-122"/>
                <a:cs typeface="Calibri" pitchFamily="34" charset="-120"/>
              </a:rPr>
              <a:t>Extends binary logistic regression to outcomes with THREE OR MORE unordered categories. Each category is compared to a reference category.</a:t>
            </a:r>
            <a:endParaRPr lang="en-US" sz="950" dirty="0"/>
          </a:p>
        </p:txBody>
      </p:sp>
      <p:sp>
        <p:nvSpPr>
          <p:cNvPr id="7" name="Text 5"/>
          <p:cNvSpPr/>
          <p:nvPr/>
        </p:nvSpPr>
        <p:spPr>
          <a:xfrm>
            <a:off x="384048" y="1865376"/>
            <a:ext cx="3913632" cy="658368"/>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UAC Scenario: </a:t>
            </a:r>
            <a:pPr indent="0" marL="0">
              <a:buNone/>
            </a:pPr>
            <a:r>
              <a:rPr lang="en-US" sz="950" dirty="0">
                <a:solidFill>
                  <a:srgbClr val="90A8D8"/>
                </a:solidFill>
                <a:latin typeface="Calibri" pitchFamily="34" charset="0"/>
                <a:ea typeface="Calibri" pitchFamily="34" charset="-122"/>
                <a:cs typeface="Calibri" pitchFamily="34" charset="-120"/>
              </a:rPr>
              <a:t>Which demographic and attitudinal factors predict which UAC product a consumer prefers? DV: uac_product_pref (1=Gala, 2=Deli, 3=Mr.Biggs, 4=Supreme, 5=Other). Reference = Gala (most common).</a:t>
            </a:r>
            <a:endParaRPr lang="en-US" sz="950" dirty="0"/>
          </a:p>
        </p:txBody>
      </p:sp>
      <p:sp>
        <p:nvSpPr>
          <p:cNvPr id="8" name="Text 6"/>
          <p:cNvSpPr/>
          <p:nvPr/>
        </p:nvSpPr>
        <p:spPr>
          <a:xfrm>
            <a:off x="384048" y="2596896"/>
            <a:ext cx="3913632" cy="219456"/>
          </a:xfrm>
          <a:prstGeom prst="rect">
            <a:avLst/>
          </a:prstGeom>
          <a:noFill/>
          <a:ln/>
        </p:spPr>
        <p:txBody>
          <a:bodyPr wrap="square" lIns="0" tIns="0" rIns="0" bIns="0" rtlCol="0" anchor="ctr"/>
          <a:lstStyle/>
          <a:p>
            <a:pPr indent="0" marL="0">
              <a:buNone/>
            </a:pPr>
            <a:r>
              <a:rPr lang="en-US" sz="1000" b="1" dirty="0">
                <a:solidFill>
                  <a:srgbClr val="2748A8"/>
                </a:solidFill>
                <a:latin typeface="Calibri" pitchFamily="34" charset="0"/>
                <a:ea typeface="Calibri" pitchFamily="34" charset="-122"/>
                <a:cs typeface="Calibri" pitchFamily="34" charset="-120"/>
              </a:rPr>
              <a:t>Steps:</a:t>
            </a:r>
            <a:endParaRPr lang="en-US" sz="1000" dirty="0"/>
          </a:p>
        </p:txBody>
      </p:sp>
      <p:sp>
        <p:nvSpPr>
          <p:cNvPr id="9" name="Text 7"/>
          <p:cNvSpPr/>
          <p:nvPr/>
        </p:nvSpPr>
        <p:spPr>
          <a:xfrm>
            <a:off x="384048" y="2852928"/>
            <a:ext cx="3913632" cy="274320"/>
          </a:xfrm>
          <a:prstGeom prst="rect">
            <a:avLst/>
          </a:prstGeom>
          <a:noFill/>
          <a:ln/>
        </p:spPr>
        <p:txBody>
          <a:bodyPr wrap="square" lIns="0" tIns="0" rIns="0" bIns="0" rtlCol="0" anchor="ctr"/>
          <a:lstStyle/>
          <a:p>
            <a:pPr indent="0" marL="0">
              <a:buNone/>
            </a:pPr>
            <a:r>
              <a:rPr lang="en-US" sz="900" dirty="0">
                <a:solidFill>
                  <a:srgbClr val="90A8D8"/>
                </a:solidFill>
                <a:latin typeface="Calibri" pitchFamily="34" charset="0"/>
                <a:ea typeface="Calibri" pitchFamily="34" charset="-122"/>
                <a:cs typeface="Calibri" pitchFamily="34" charset="-120"/>
              </a:rPr>
              <a:t>1. Analyze &gt; Regression &gt; Multinomial Logistic</a:t>
            </a:r>
            <a:endParaRPr lang="en-US" sz="900" dirty="0"/>
          </a:p>
        </p:txBody>
      </p:sp>
      <p:sp>
        <p:nvSpPr>
          <p:cNvPr id="10" name="Text 8"/>
          <p:cNvSpPr/>
          <p:nvPr/>
        </p:nvSpPr>
        <p:spPr>
          <a:xfrm>
            <a:off x="384048" y="3163824"/>
            <a:ext cx="3913632" cy="274320"/>
          </a:xfrm>
          <a:prstGeom prst="rect">
            <a:avLst/>
          </a:prstGeom>
          <a:noFill/>
          <a:ln/>
        </p:spPr>
        <p:txBody>
          <a:bodyPr wrap="square" lIns="0" tIns="0" rIns="0" bIns="0" rtlCol="0" anchor="ctr"/>
          <a:lstStyle/>
          <a:p>
            <a:pPr indent="0" marL="0">
              <a:buNone/>
            </a:pPr>
            <a:r>
              <a:rPr lang="en-US" sz="900" dirty="0">
                <a:solidFill>
                  <a:srgbClr val="90A8D8"/>
                </a:solidFill>
                <a:latin typeface="Calibri" pitchFamily="34" charset="0"/>
                <a:ea typeface="Calibri" pitchFamily="34" charset="-122"/>
                <a:cs typeface="Calibri" pitchFamily="34" charset="-120"/>
              </a:rPr>
              <a:t>2. Move uac_product_pref to Dependent box</a:t>
            </a:r>
            <a:endParaRPr lang="en-US" sz="900" dirty="0"/>
          </a:p>
        </p:txBody>
      </p:sp>
      <p:sp>
        <p:nvSpPr>
          <p:cNvPr id="11" name="Text 9"/>
          <p:cNvSpPr/>
          <p:nvPr/>
        </p:nvSpPr>
        <p:spPr>
          <a:xfrm>
            <a:off x="384048" y="3474720"/>
            <a:ext cx="3913632" cy="274320"/>
          </a:xfrm>
          <a:prstGeom prst="rect">
            <a:avLst/>
          </a:prstGeom>
          <a:noFill/>
          <a:ln/>
        </p:spPr>
        <p:txBody>
          <a:bodyPr wrap="square" lIns="0" tIns="0" rIns="0" bIns="0" rtlCol="0" anchor="ctr"/>
          <a:lstStyle/>
          <a:p>
            <a:pPr indent="0" marL="0">
              <a:buNone/>
            </a:pPr>
            <a:r>
              <a:rPr lang="en-US" sz="900" dirty="0">
                <a:solidFill>
                  <a:srgbClr val="90A8D8"/>
                </a:solidFill>
                <a:latin typeface="Calibri" pitchFamily="34" charset="0"/>
                <a:ea typeface="Calibri" pitchFamily="34" charset="-122"/>
                <a:cs typeface="Calibri" pitchFamily="34" charset="-120"/>
              </a:rPr>
              <a:t>3. SPSS uses last category as reference OR specify: click Reference Category button</a:t>
            </a:r>
            <a:endParaRPr lang="en-US" sz="900" dirty="0"/>
          </a:p>
        </p:txBody>
      </p:sp>
      <p:sp>
        <p:nvSpPr>
          <p:cNvPr id="12" name="Text 10"/>
          <p:cNvSpPr/>
          <p:nvPr/>
        </p:nvSpPr>
        <p:spPr>
          <a:xfrm>
            <a:off x="384048" y="3785616"/>
            <a:ext cx="3913632" cy="274320"/>
          </a:xfrm>
          <a:prstGeom prst="rect">
            <a:avLst/>
          </a:prstGeom>
          <a:noFill/>
          <a:ln/>
        </p:spPr>
        <p:txBody>
          <a:bodyPr wrap="square" lIns="0" tIns="0" rIns="0" bIns="0" rtlCol="0" anchor="ctr"/>
          <a:lstStyle/>
          <a:p>
            <a:pPr indent="0" marL="0">
              <a:buNone/>
            </a:pPr>
            <a:r>
              <a:rPr lang="en-US" sz="900" dirty="0">
                <a:solidFill>
                  <a:srgbClr val="90A8D8"/>
                </a:solidFill>
                <a:latin typeface="Calibri" pitchFamily="34" charset="0"/>
                <a:ea typeface="Calibri" pitchFamily="34" charset="-122"/>
                <a:cs typeface="Calibri" pitchFamily="34" charset="-120"/>
              </a:rPr>
              <a:t>4. Move continuous predictors to Covariate(s) box</a:t>
            </a:r>
            <a:endParaRPr lang="en-US" sz="900" dirty="0"/>
          </a:p>
        </p:txBody>
      </p:sp>
      <p:sp>
        <p:nvSpPr>
          <p:cNvPr id="13" name="Text 11"/>
          <p:cNvSpPr/>
          <p:nvPr/>
        </p:nvSpPr>
        <p:spPr>
          <a:xfrm>
            <a:off x="384048" y="4096512"/>
            <a:ext cx="3913632" cy="274320"/>
          </a:xfrm>
          <a:prstGeom prst="rect">
            <a:avLst/>
          </a:prstGeom>
          <a:noFill/>
          <a:ln/>
        </p:spPr>
        <p:txBody>
          <a:bodyPr wrap="square" lIns="0" tIns="0" rIns="0" bIns="0" rtlCol="0" anchor="ctr"/>
          <a:lstStyle/>
          <a:p>
            <a:pPr indent="0" marL="0">
              <a:buNone/>
            </a:pPr>
            <a:r>
              <a:rPr lang="en-US" sz="900" dirty="0">
                <a:solidFill>
                  <a:srgbClr val="90A8D8"/>
                </a:solidFill>
                <a:latin typeface="Calibri" pitchFamily="34" charset="0"/>
                <a:ea typeface="Calibri" pitchFamily="34" charset="-122"/>
                <a:cs typeface="Calibri" pitchFamily="34" charset="-120"/>
              </a:rPr>
              <a:t>5. Move categorical predictors to Factor(s) box</a:t>
            </a:r>
            <a:endParaRPr lang="en-US" sz="900" dirty="0"/>
          </a:p>
        </p:txBody>
      </p:sp>
      <p:sp>
        <p:nvSpPr>
          <p:cNvPr id="14" name="Text 12"/>
          <p:cNvSpPr/>
          <p:nvPr/>
        </p:nvSpPr>
        <p:spPr>
          <a:xfrm>
            <a:off x="384048" y="4407408"/>
            <a:ext cx="3913632" cy="274320"/>
          </a:xfrm>
          <a:prstGeom prst="rect">
            <a:avLst/>
          </a:prstGeom>
          <a:noFill/>
          <a:ln/>
        </p:spPr>
        <p:txBody>
          <a:bodyPr wrap="square" lIns="0" tIns="0" rIns="0" bIns="0" rtlCol="0" anchor="ctr"/>
          <a:lstStyle/>
          <a:p>
            <a:pPr indent="0" marL="0">
              <a:buNone/>
            </a:pPr>
            <a:r>
              <a:rPr lang="en-US" sz="900" dirty="0">
                <a:solidFill>
                  <a:srgbClr val="90A8D8"/>
                </a:solidFill>
                <a:latin typeface="Calibri" pitchFamily="34" charset="0"/>
                <a:ea typeface="Calibri" pitchFamily="34" charset="-122"/>
                <a:cs typeface="Calibri" pitchFamily="34" charset="-120"/>
              </a:rPr>
              <a:t>6. Click Statistics: Classification table, Goodness of fit, Cell probabilities</a:t>
            </a:r>
            <a:endParaRPr lang="en-US" sz="900" dirty="0"/>
          </a:p>
        </p:txBody>
      </p:sp>
      <p:sp>
        <p:nvSpPr>
          <p:cNvPr id="15" name="Text 13"/>
          <p:cNvSpPr/>
          <p:nvPr/>
        </p:nvSpPr>
        <p:spPr>
          <a:xfrm>
            <a:off x="384048" y="4718304"/>
            <a:ext cx="3913632" cy="274320"/>
          </a:xfrm>
          <a:prstGeom prst="rect">
            <a:avLst/>
          </a:prstGeom>
          <a:noFill/>
          <a:ln/>
        </p:spPr>
        <p:txBody>
          <a:bodyPr wrap="square" lIns="0" tIns="0" rIns="0" bIns="0" rtlCol="0" anchor="ctr"/>
          <a:lstStyle/>
          <a:p>
            <a:pPr indent="0" marL="0">
              <a:buNone/>
            </a:pPr>
            <a:r>
              <a:rPr lang="en-US" sz="900" dirty="0">
                <a:solidFill>
                  <a:srgbClr val="90A8D8"/>
                </a:solidFill>
                <a:latin typeface="Calibri" pitchFamily="34" charset="0"/>
                <a:ea typeface="Calibri" pitchFamily="34" charset="-122"/>
                <a:cs typeface="Calibri" pitchFamily="34" charset="-120"/>
              </a:rPr>
              <a:t>7. Click OK</a:t>
            </a:r>
            <a:endParaRPr lang="en-US" sz="900" dirty="0"/>
          </a:p>
        </p:txBody>
      </p:sp>
      <p:sp>
        <p:nvSpPr>
          <p:cNvPr id="16" name="Shape 14"/>
          <p:cNvSpPr/>
          <p:nvPr/>
        </p:nvSpPr>
        <p:spPr>
          <a:xfrm>
            <a:off x="4681728" y="914400"/>
            <a:ext cx="4160520" cy="4133088"/>
          </a:xfrm>
          <a:prstGeom prst="roundRect">
            <a:avLst>
              <a:gd name="adj" fmla="val 2212"/>
            </a:avLst>
          </a:prstGeom>
          <a:solidFill>
            <a:srgbClr val="111A30"/>
          </a:solidFill>
          <a:ln w="12700">
            <a:solidFill>
              <a:srgbClr val="C8920A"/>
            </a:solidFill>
            <a:prstDash val="solid"/>
          </a:ln>
        </p:spPr>
      </p:sp>
      <p:sp>
        <p:nvSpPr>
          <p:cNvPr id="17" name="Text 15"/>
          <p:cNvSpPr/>
          <p:nvPr/>
        </p:nvSpPr>
        <p:spPr>
          <a:xfrm>
            <a:off x="4791456" y="987552"/>
            <a:ext cx="3913632" cy="274320"/>
          </a:xfrm>
          <a:prstGeom prst="rect">
            <a:avLst/>
          </a:prstGeom>
          <a:noFill/>
          <a:ln/>
        </p:spPr>
        <p:txBody>
          <a:bodyPr wrap="square" lIns="0" tIns="0" rIns="0" bIns="0" rtlCol="0" anchor="ctr"/>
          <a:lstStyle/>
          <a:p>
            <a:pPr indent="0" marL="0">
              <a:buNone/>
            </a:pPr>
            <a:r>
              <a:rPr lang="en-US" sz="1150" b="1" dirty="0">
                <a:solidFill>
                  <a:srgbClr val="F0C040"/>
                </a:solidFill>
                <a:latin typeface="Calibri" pitchFamily="34" charset="0"/>
                <a:ea typeface="Calibri" pitchFamily="34" charset="-122"/>
                <a:cs typeface="Calibri" pitchFamily="34" charset="-120"/>
              </a:rPr>
              <a:t>Reading Multinomial Output</a:t>
            </a:r>
            <a:endParaRPr lang="en-US" sz="1150" dirty="0"/>
          </a:p>
        </p:txBody>
      </p:sp>
      <p:sp>
        <p:nvSpPr>
          <p:cNvPr id="18" name="Text 16"/>
          <p:cNvSpPr/>
          <p:nvPr/>
        </p:nvSpPr>
        <p:spPr>
          <a:xfrm>
            <a:off x="4791456" y="1316736"/>
            <a:ext cx="3913632" cy="219456"/>
          </a:xfrm>
          <a:prstGeom prst="rect">
            <a:avLst/>
          </a:prstGeom>
          <a:noFill/>
          <a:ln/>
        </p:spPr>
        <p:txBody>
          <a:bodyPr wrap="square" lIns="0" tIns="0" rIns="0" bIns="0" rtlCol="0" anchor="ctr"/>
          <a:lstStyle/>
          <a:p>
            <a:pPr indent="0" marL="0">
              <a:buNone/>
            </a:pPr>
            <a:r>
              <a:rPr lang="en-US" sz="950" b="1" dirty="0">
                <a:solidFill>
                  <a:srgbClr val="C8920A"/>
                </a:solidFill>
                <a:latin typeface="Calibri" pitchFamily="34" charset="0"/>
                <a:ea typeface="Calibri" pitchFamily="34" charset="-122"/>
                <a:cs typeface="Calibri" pitchFamily="34" charset="-120"/>
              </a:rPr>
              <a:t>Model Fit Tests:</a:t>
            </a:r>
            <a:endParaRPr lang="en-US" sz="950" dirty="0"/>
          </a:p>
        </p:txBody>
      </p:sp>
      <p:sp>
        <p:nvSpPr>
          <p:cNvPr id="19" name="Shape 17"/>
          <p:cNvSpPr/>
          <p:nvPr/>
        </p:nvSpPr>
        <p:spPr>
          <a:xfrm>
            <a:off x="4791456" y="1554480"/>
            <a:ext cx="1901952" cy="292608"/>
          </a:xfrm>
          <a:prstGeom prst="rect">
            <a:avLst/>
          </a:prstGeom>
          <a:solidFill>
            <a:srgbClr val="0A0F1E"/>
          </a:solidFill>
          <a:ln w="12700">
            <a:solidFill>
              <a:srgbClr val="0A0F1E"/>
            </a:solidFill>
            <a:prstDash val="solid"/>
          </a:ln>
        </p:spPr>
      </p:sp>
      <p:sp>
        <p:nvSpPr>
          <p:cNvPr id="20" name="Text 18"/>
          <p:cNvSpPr/>
          <p:nvPr/>
        </p:nvSpPr>
        <p:spPr>
          <a:xfrm>
            <a:off x="4791456" y="1554480"/>
            <a:ext cx="19019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Chi-Square</a:t>
            </a:r>
            <a:endParaRPr lang="en-US" sz="850" dirty="0"/>
          </a:p>
        </p:txBody>
      </p:sp>
      <p:sp>
        <p:nvSpPr>
          <p:cNvPr id="21" name="Shape 19"/>
          <p:cNvSpPr/>
          <p:nvPr/>
        </p:nvSpPr>
        <p:spPr>
          <a:xfrm>
            <a:off x="6693408" y="1554480"/>
            <a:ext cx="914400" cy="292608"/>
          </a:xfrm>
          <a:prstGeom prst="rect">
            <a:avLst/>
          </a:prstGeom>
          <a:solidFill>
            <a:srgbClr val="0A0F1E"/>
          </a:solidFill>
          <a:ln w="12700">
            <a:solidFill>
              <a:srgbClr val="0A0F1E"/>
            </a:solidFill>
            <a:prstDash val="solid"/>
          </a:ln>
        </p:spPr>
      </p:sp>
      <p:sp>
        <p:nvSpPr>
          <p:cNvPr id="22" name="Text 20"/>
          <p:cNvSpPr/>
          <p:nvPr/>
        </p:nvSpPr>
        <p:spPr>
          <a:xfrm>
            <a:off x="6693408" y="1554480"/>
            <a:ext cx="9144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df</a:t>
            </a:r>
            <a:endParaRPr lang="en-US" sz="850" dirty="0"/>
          </a:p>
        </p:txBody>
      </p:sp>
      <p:sp>
        <p:nvSpPr>
          <p:cNvPr id="23" name="Shape 21"/>
          <p:cNvSpPr/>
          <p:nvPr/>
        </p:nvSpPr>
        <p:spPr>
          <a:xfrm>
            <a:off x="7607808" y="1554480"/>
            <a:ext cx="1024128" cy="292608"/>
          </a:xfrm>
          <a:prstGeom prst="rect">
            <a:avLst/>
          </a:prstGeom>
          <a:solidFill>
            <a:srgbClr val="0A0F1E"/>
          </a:solidFill>
          <a:ln w="12700">
            <a:solidFill>
              <a:srgbClr val="0A0F1E"/>
            </a:solidFill>
            <a:prstDash val="solid"/>
          </a:ln>
        </p:spPr>
      </p:sp>
      <p:sp>
        <p:nvSpPr>
          <p:cNvPr id="24" name="Text 22"/>
          <p:cNvSpPr/>
          <p:nvPr/>
        </p:nvSpPr>
        <p:spPr>
          <a:xfrm>
            <a:off x="7607808" y="1554480"/>
            <a:ext cx="10241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25" name="Shape 23"/>
          <p:cNvSpPr/>
          <p:nvPr/>
        </p:nvSpPr>
        <p:spPr>
          <a:xfrm>
            <a:off x="4791456" y="1847088"/>
            <a:ext cx="1901952" cy="292608"/>
          </a:xfrm>
          <a:prstGeom prst="rect">
            <a:avLst/>
          </a:prstGeom>
          <a:solidFill>
            <a:srgbClr val="D8E8FF"/>
          </a:solidFill>
          <a:ln w="6350">
            <a:solidFill>
              <a:srgbClr val="C0C8E0"/>
            </a:solidFill>
            <a:prstDash val="solid"/>
          </a:ln>
        </p:spPr>
      </p:sp>
      <p:sp>
        <p:nvSpPr>
          <p:cNvPr id="26" name="Text 24"/>
          <p:cNvSpPr/>
          <p:nvPr/>
        </p:nvSpPr>
        <p:spPr>
          <a:xfrm>
            <a:off x="4791456" y="1847088"/>
            <a:ext cx="190195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47.82</a:t>
            </a:r>
            <a:endParaRPr lang="en-US" sz="850" dirty="0"/>
          </a:p>
        </p:txBody>
      </p:sp>
      <p:sp>
        <p:nvSpPr>
          <p:cNvPr id="27" name="Shape 25"/>
          <p:cNvSpPr/>
          <p:nvPr/>
        </p:nvSpPr>
        <p:spPr>
          <a:xfrm>
            <a:off x="6693408" y="1847088"/>
            <a:ext cx="914400" cy="292608"/>
          </a:xfrm>
          <a:prstGeom prst="rect">
            <a:avLst/>
          </a:prstGeom>
          <a:solidFill>
            <a:srgbClr val="0E1C3A"/>
          </a:solidFill>
          <a:ln w="6350">
            <a:solidFill>
              <a:srgbClr val="C0C8E0"/>
            </a:solidFill>
            <a:prstDash val="solid"/>
          </a:ln>
        </p:spPr>
      </p:sp>
      <p:sp>
        <p:nvSpPr>
          <p:cNvPr id="28" name="Text 26"/>
          <p:cNvSpPr/>
          <p:nvPr/>
        </p:nvSpPr>
        <p:spPr>
          <a:xfrm>
            <a:off x="6693408" y="1847088"/>
            <a:ext cx="91440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16</a:t>
            </a:r>
            <a:endParaRPr lang="en-US" sz="850" dirty="0"/>
          </a:p>
        </p:txBody>
      </p:sp>
      <p:sp>
        <p:nvSpPr>
          <p:cNvPr id="29" name="Shape 27"/>
          <p:cNvSpPr/>
          <p:nvPr/>
        </p:nvSpPr>
        <p:spPr>
          <a:xfrm>
            <a:off x="7607808" y="1847088"/>
            <a:ext cx="1024128" cy="292608"/>
          </a:xfrm>
          <a:prstGeom prst="rect">
            <a:avLst/>
          </a:prstGeom>
          <a:solidFill>
            <a:srgbClr val="D8E8FF"/>
          </a:solidFill>
          <a:ln w="6350">
            <a:solidFill>
              <a:srgbClr val="C0C8E0"/>
            </a:solidFill>
            <a:prstDash val="solid"/>
          </a:ln>
        </p:spPr>
      </p:sp>
      <p:sp>
        <p:nvSpPr>
          <p:cNvPr id="30" name="Text 28"/>
          <p:cNvSpPr/>
          <p:nvPr/>
        </p:nvSpPr>
        <p:spPr>
          <a:xfrm>
            <a:off x="7607808" y="1847088"/>
            <a:ext cx="102412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31" name="Text 29"/>
          <p:cNvSpPr/>
          <p:nvPr/>
        </p:nvSpPr>
        <p:spPr>
          <a:xfrm>
            <a:off x="4791456" y="2011680"/>
            <a:ext cx="3913632" cy="219456"/>
          </a:xfrm>
          <a:prstGeom prst="rect">
            <a:avLst/>
          </a:prstGeom>
          <a:noFill/>
          <a:ln/>
        </p:spPr>
        <p:txBody>
          <a:bodyPr wrap="square" lIns="0" tIns="0" rIns="0" bIns="0" rtlCol="0" anchor="ctr"/>
          <a:lstStyle/>
          <a:p>
            <a:pPr indent="0" marL="0">
              <a:buNone/>
            </a:pPr>
            <a:r>
              <a:rPr lang="en-US" sz="950" b="1" dirty="0">
                <a:solidFill>
                  <a:srgbClr val="C8920A"/>
                </a:solidFill>
                <a:latin typeface="Calibri" pitchFamily="34" charset="0"/>
                <a:ea typeface="Calibri" pitchFamily="34" charset="-122"/>
                <a:cs typeface="Calibri" pitchFamily="34" charset="-120"/>
              </a:rPr>
              <a:t>Parameter Estimates (vs. Reference = Gala):</a:t>
            </a:r>
            <a:endParaRPr lang="en-US" sz="950" dirty="0"/>
          </a:p>
        </p:txBody>
      </p:sp>
      <p:sp>
        <p:nvSpPr>
          <p:cNvPr id="32" name="Shape 30"/>
          <p:cNvSpPr/>
          <p:nvPr/>
        </p:nvSpPr>
        <p:spPr>
          <a:xfrm>
            <a:off x="4791456" y="2249424"/>
            <a:ext cx="950976" cy="292608"/>
          </a:xfrm>
          <a:prstGeom prst="rect">
            <a:avLst/>
          </a:prstGeom>
          <a:solidFill>
            <a:srgbClr val="0A0F1E"/>
          </a:solidFill>
          <a:ln w="12700">
            <a:solidFill>
              <a:srgbClr val="0A0F1E"/>
            </a:solidFill>
            <a:prstDash val="solid"/>
          </a:ln>
        </p:spPr>
      </p:sp>
      <p:sp>
        <p:nvSpPr>
          <p:cNvPr id="33" name="Text 31"/>
          <p:cNvSpPr/>
          <p:nvPr/>
        </p:nvSpPr>
        <p:spPr>
          <a:xfrm>
            <a:off x="4791456" y="2249424"/>
            <a:ext cx="95097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Outcome</a:t>
            </a:r>
            <a:endParaRPr lang="en-US" sz="850" dirty="0"/>
          </a:p>
        </p:txBody>
      </p:sp>
      <p:sp>
        <p:nvSpPr>
          <p:cNvPr id="34" name="Shape 32"/>
          <p:cNvSpPr/>
          <p:nvPr/>
        </p:nvSpPr>
        <p:spPr>
          <a:xfrm>
            <a:off x="5742432" y="2249424"/>
            <a:ext cx="1005840" cy="292608"/>
          </a:xfrm>
          <a:prstGeom prst="rect">
            <a:avLst/>
          </a:prstGeom>
          <a:solidFill>
            <a:srgbClr val="0A0F1E"/>
          </a:solidFill>
          <a:ln w="12700">
            <a:solidFill>
              <a:srgbClr val="0A0F1E"/>
            </a:solidFill>
            <a:prstDash val="solid"/>
          </a:ln>
        </p:spPr>
      </p:sp>
      <p:sp>
        <p:nvSpPr>
          <p:cNvPr id="35" name="Text 33"/>
          <p:cNvSpPr/>
          <p:nvPr/>
        </p:nvSpPr>
        <p:spPr>
          <a:xfrm>
            <a:off x="5742432" y="2249424"/>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Predictor</a:t>
            </a:r>
            <a:endParaRPr lang="en-US" sz="850" dirty="0"/>
          </a:p>
        </p:txBody>
      </p:sp>
      <p:sp>
        <p:nvSpPr>
          <p:cNvPr id="36" name="Shape 34"/>
          <p:cNvSpPr/>
          <p:nvPr/>
        </p:nvSpPr>
        <p:spPr>
          <a:xfrm>
            <a:off x="6748272" y="2249424"/>
            <a:ext cx="530352" cy="292608"/>
          </a:xfrm>
          <a:prstGeom prst="rect">
            <a:avLst/>
          </a:prstGeom>
          <a:solidFill>
            <a:srgbClr val="0A0F1E"/>
          </a:solidFill>
          <a:ln w="12700">
            <a:solidFill>
              <a:srgbClr val="0A0F1E"/>
            </a:solidFill>
            <a:prstDash val="solid"/>
          </a:ln>
        </p:spPr>
      </p:sp>
      <p:sp>
        <p:nvSpPr>
          <p:cNvPr id="37" name="Text 35"/>
          <p:cNvSpPr/>
          <p:nvPr/>
        </p:nvSpPr>
        <p:spPr>
          <a:xfrm>
            <a:off x="6748272" y="2249424"/>
            <a:ext cx="5303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t>
            </a:r>
            <a:endParaRPr lang="en-US" sz="850" dirty="0"/>
          </a:p>
        </p:txBody>
      </p:sp>
      <p:sp>
        <p:nvSpPr>
          <p:cNvPr id="38" name="Shape 36"/>
          <p:cNvSpPr/>
          <p:nvPr/>
        </p:nvSpPr>
        <p:spPr>
          <a:xfrm>
            <a:off x="7278624" y="2249424"/>
            <a:ext cx="731520" cy="292608"/>
          </a:xfrm>
          <a:prstGeom prst="rect">
            <a:avLst/>
          </a:prstGeom>
          <a:solidFill>
            <a:srgbClr val="0A0F1E"/>
          </a:solidFill>
          <a:ln w="12700">
            <a:solidFill>
              <a:srgbClr val="0A0F1E"/>
            </a:solidFill>
            <a:prstDash val="solid"/>
          </a:ln>
        </p:spPr>
      </p:sp>
      <p:sp>
        <p:nvSpPr>
          <p:cNvPr id="39" name="Text 37"/>
          <p:cNvSpPr/>
          <p:nvPr/>
        </p:nvSpPr>
        <p:spPr>
          <a:xfrm>
            <a:off x="7278624" y="2249424"/>
            <a:ext cx="7315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Exp(B)</a:t>
            </a:r>
            <a:endParaRPr lang="en-US" sz="850" dirty="0"/>
          </a:p>
        </p:txBody>
      </p:sp>
      <p:sp>
        <p:nvSpPr>
          <p:cNvPr id="40" name="Shape 38"/>
          <p:cNvSpPr/>
          <p:nvPr/>
        </p:nvSpPr>
        <p:spPr>
          <a:xfrm>
            <a:off x="8010144" y="2249424"/>
            <a:ext cx="731520" cy="292608"/>
          </a:xfrm>
          <a:prstGeom prst="rect">
            <a:avLst/>
          </a:prstGeom>
          <a:solidFill>
            <a:srgbClr val="0A0F1E"/>
          </a:solidFill>
          <a:ln w="12700">
            <a:solidFill>
              <a:srgbClr val="0A0F1E"/>
            </a:solidFill>
            <a:prstDash val="solid"/>
          </a:ln>
        </p:spPr>
      </p:sp>
      <p:sp>
        <p:nvSpPr>
          <p:cNvPr id="41" name="Text 39"/>
          <p:cNvSpPr/>
          <p:nvPr/>
        </p:nvSpPr>
        <p:spPr>
          <a:xfrm>
            <a:off x="8010144" y="2249424"/>
            <a:ext cx="7315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42" name="Shape 40"/>
          <p:cNvSpPr/>
          <p:nvPr/>
        </p:nvSpPr>
        <p:spPr>
          <a:xfrm>
            <a:off x="4791456" y="2542032"/>
            <a:ext cx="950976" cy="292608"/>
          </a:xfrm>
          <a:prstGeom prst="rect">
            <a:avLst/>
          </a:prstGeom>
          <a:solidFill>
            <a:srgbClr val="0E1C3A"/>
          </a:solidFill>
          <a:ln w="6350">
            <a:solidFill>
              <a:srgbClr val="C0C8E0"/>
            </a:solidFill>
            <a:prstDash val="solid"/>
          </a:ln>
        </p:spPr>
      </p:sp>
      <p:sp>
        <p:nvSpPr>
          <p:cNvPr id="43" name="Text 41"/>
          <p:cNvSpPr/>
          <p:nvPr/>
        </p:nvSpPr>
        <p:spPr>
          <a:xfrm>
            <a:off x="4791456" y="2542032"/>
            <a:ext cx="950976"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Deli vs Gala</a:t>
            </a:r>
            <a:endParaRPr lang="en-US" sz="850" dirty="0"/>
          </a:p>
        </p:txBody>
      </p:sp>
      <p:sp>
        <p:nvSpPr>
          <p:cNvPr id="44" name="Shape 42"/>
          <p:cNvSpPr/>
          <p:nvPr/>
        </p:nvSpPr>
        <p:spPr>
          <a:xfrm>
            <a:off x="5742432" y="2542032"/>
            <a:ext cx="1005840" cy="292608"/>
          </a:xfrm>
          <a:prstGeom prst="rect">
            <a:avLst/>
          </a:prstGeom>
          <a:solidFill>
            <a:srgbClr val="0E1C3A"/>
          </a:solidFill>
          <a:ln w="6350">
            <a:solidFill>
              <a:srgbClr val="C0C8E0"/>
            </a:solidFill>
            <a:prstDash val="solid"/>
          </a:ln>
        </p:spPr>
      </p:sp>
      <p:sp>
        <p:nvSpPr>
          <p:cNvPr id="45" name="Text 43"/>
          <p:cNvSpPr/>
          <p:nvPr/>
        </p:nvSpPr>
        <p:spPr>
          <a:xfrm>
            <a:off x="5742432" y="2542032"/>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gender (F)</a:t>
            </a:r>
            <a:endParaRPr lang="en-US" sz="850" dirty="0"/>
          </a:p>
        </p:txBody>
      </p:sp>
      <p:sp>
        <p:nvSpPr>
          <p:cNvPr id="46" name="Shape 44"/>
          <p:cNvSpPr/>
          <p:nvPr/>
        </p:nvSpPr>
        <p:spPr>
          <a:xfrm>
            <a:off x="6748272" y="2542032"/>
            <a:ext cx="530352" cy="292608"/>
          </a:xfrm>
          <a:prstGeom prst="rect">
            <a:avLst/>
          </a:prstGeom>
          <a:solidFill>
            <a:srgbClr val="D8E8FF"/>
          </a:solidFill>
          <a:ln w="6350">
            <a:solidFill>
              <a:srgbClr val="C0C8E0"/>
            </a:solidFill>
            <a:prstDash val="solid"/>
          </a:ln>
        </p:spPr>
      </p:sp>
      <p:sp>
        <p:nvSpPr>
          <p:cNvPr id="47" name="Text 45"/>
          <p:cNvSpPr/>
          <p:nvPr/>
        </p:nvSpPr>
        <p:spPr>
          <a:xfrm>
            <a:off x="6748272" y="2542032"/>
            <a:ext cx="53035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.684</a:t>
            </a:r>
            <a:endParaRPr lang="en-US" sz="850" dirty="0"/>
          </a:p>
        </p:txBody>
      </p:sp>
      <p:sp>
        <p:nvSpPr>
          <p:cNvPr id="48" name="Shape 46"/>
          <p:cNvSpPr/>
          <p:nvPr/>
        </p:nvSpPr>
        <p:spPr>
          <a:xfrm>
            <a:off x="7278624" y="2542032"/>
            <a:ext cx="731520" cy="292608"/>
          </a:xfrm>
          <a:prstGeom prst="rect">
            <a:avLst/>
          </a:prstGeom>
          <a:solidFill>
            <a:srgbClr val="D8E8FF"/>
          </a:solidFill>
          <a:ln w="6350">
            <a:solidFill>
              <a:srgbClr val="C0C8E0"/>
            </a:solidFill>
            <a:prstDash val="solid"/>
          </a:ln>
        </p:spPr>
      </p:sp>
      <p:sp>
        <p:nvSpPr>
          <p:cNvPr id="49" name="Text 47"/>
          <p:cNvSpPr/>
          <p:nvPr/>
        </p:nvSpPr>
        <p:spPr>
          <a:xfrm>
            <a:off x="7278624" y="2542032"/>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1.982</a:t>
            </a:r>
            <a:endParaRPr lang="en-US" sz="850" dirty="0"/>
          </a:p>
        </p:txBody>
      </p:sp>
      <p:sp>
        <p:nvSpPr>
          <p:cNvPr id="50" name="Shape 48"/>
          <p:cNvSpPr/>
          <p:nvPr/>
        </p:nvSpPr>
        <p:spPr>
          <a:xfrm>
            <a:off x="8010144" y="2542032"/>
            <a:ext cx="731520" cy="292608"/>
          </a:xfrm>
          <a:prstGeom prst="rect">
            <a:avLst/>
          </a:prstGeom>
          <a:solidFill>
            <a:srgbClr val="D8E8FF"/>
          </a:solidFill>
          <a:ln w="6350">
            <a:solidFill>
              <a:srgbClr val="C0C8E0"/>
            </a:solidFill>
            <a:prstDash val="solid"/>
          </a:ln>
        </p:spPr>
      </p:sp>
      <p:sp>
        <p:nvSpPr>
          <p:cNvPr id="51" name="Text 49"/>
          <p:cNvSpPr/>
          <p:nvPr/>
        </p:nvSpPr>
        <p:spPr>
          <a:xfrm>
            <a:off x="8010144" y="2542032"/>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.002</a:t>
            </a:r>
            <a:endParaRPr lang="en-US" sz="850" dirty="0"/>
          </a:p>
        </p:txBody>
      </p:sp>
      <p:sp>
        <p:nvSpPr>
          <p:cNvPr id="52" name="Shape 50"/>
          <p:cNvSpPr/>
          <p:nvPr/>
        </p:nvSpPr>
        <p:spPr>
          <a:xfrm>
            <a:off x="4791456" y="2834640"/>
            <a:ext cx="950976" cy="292608"/>
          </a:xfrm>
          <a:prstGeom prst="rect">
            <a:avLst/>
          </a:prstGeom>
          <a:solidFill>
            <a:srgbClr val="101C38"/>
          </a:solidFill>
          <a:ln w="6350">
            <a:solidFill>
              <a:srgbClr val="C0C8E0"/>
            </a:solidFill>
            <a:prstDash val="solid"/>
          </a:ln>
        </p:spPr>
      </p:sp>
      <p:sp>
        <p:nvSpPr>
          <p:cNvPr id="53" name="Text 51"/>
          <p:cNvSpPr/>
          <p:nvPr/>
        </p:nvSpPr>
        <p:spPr>
          <a:xfrm>
            <a:off x="4791456" y="2834640"/>
            <a:ext cx="950976"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Deli vs Gala</a:t>
            </a:r>
            <a:endParaRPr lang="en-US" sz="850" dirty="0"/>
          </a:p>
        </p:txBody>
      </p:sp>
      <p:sp>
        <p:nvSpPr>
          <p:cNvPr id="54" name="Shape 52"/>
          <p:cNvSpPr/>
          <p:nvPr/>
        </p:nvSpPr>
        <p:spPr>
          <a:xfrm>
            <a:off x="5742432" y="2834640"/>
            <a:ext cx="1005840" cy="292608"/>
          </a:xfrm>
          <a:prstGeom prst="rect">
            <a:avLst/>
          </a:prstGeom>
          <a:solidFill>
            <a:srgbClr val="101C38"/>
          </a:solidFill>
          <a:ln w="6350">
            <a:solidFill>
              <a:srgbClr val="C0C8E0"/>
            </a:solidFill>
            <a:prstDash val="solid"/>
          </a:ln>
        </p:spPr>
      </p:sp>
      <p:sp>
        <p:nvSpPr>
          <p:cNvPr id="55" name="Text 53"/>
          <p:cNvSpPr/>
          <p:nvPr/>
        </p:nvSpPr>
        <p:spPr>
          <a:xfrm>
            <a:off x="5742432" y="2834640"/>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sat_mean</a:t>
            </a:r>
            <a:endParaRPr lang="en-US" sz="850" dirty="0"/>
          </a:p>
        </p:txBody>
      </p:sp>
      <p:sp>
        <p:nvSpPr>
          <p:cNvPr id="56" name="Shape 54"/>
          <p:cNvSpPr/>
          <p:nvPr/>
        </p:nvSpPr>
        <p:spPr>
          <a:xfrm>
            <a:off x="6748272" y="2834640"/>
            <a:ext cx="530352" cy="292608"/>
          </a:xfrm>
          <a:prstGeom prst="rect">
            <a:avLst/>
          </a:prstGeom>
          <a:solidFill>
            <a:srgbClr val="D8E8FF"/>
          </a:solidFill>
          <a:ln w="6350">
            <a:solidFill>
              <a:srgbClr val="C0C8E0"/>
            </a:solidFill>
            <a:prstDash val="solid"/>
          </a:ln>
        </p:spPr>
      </p:sp>
      <p:sp>
        <p:nvSpPr>
          <p:cNvPr id="57" name="Text 55"/>
          <p:cNvSpPr/>
          <p:nvPr/>
        </p:nvSpPr>
        <p:spPr>
          <a:xfrm>
            <a:off x="6748272" y="2834640"/>
            <a:ext cx="53035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.412</a:t>
            </a:r>
            <a:endParaRPr lang="en-US" sz="850" dirty="0"/>
          </a:p>
        </p:txBody>
      </p:sp>
      <p:sp>
        <p:nvSpPr>
          <p:cNvPr id="58" name="Shape 56"/>
          <p:cNvSpPr/>
          <p:nvPr/>
        </p:nvSpPr>
        <p:spPr>
          <a:xfrm>
            <a:off x="7278624" y="2834640"/>
            <a:ext cx="731520" cy="292608"/>
          </a:xfrm>
          <a:prstGeom prst="rect">
            <a:avLst/>
          </a:prstGeom>
          <a:solidFill>
            <a:srgbClr val="D8E8FF"/>
          </a:solidFill>
          <a:ln w="6350">
            <a:solidFill>
              <a:srgbClr val="C0C8E0"/>
            </a:solidFill>
            <a:prstDash val="solid"/>
          </a:ln>
        </p:spPr>
      </p:sp>
      <p:sp>
        <p:nvSpPr>
          <p:cNvPr id="59" name="Text 57"/>
          <p:cNvSpPr/>
          <p:nvPr/>
        </p:nvSpPr>
        <p:spPr>
          <a:xfrm>
            <a:off x="7278624" y="2834640"/>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1.510</a:t>
            </a:r>
            <a:endParaRPr lang="en-US" sz="850" dirty="0"/>
          </a:p>
        </p:txBody>
      </p:sp>
      <p:sp>
        <p:nvSpPr>
          <p:cNvPr id="60" name="Shape 58"/>
          <p:cNvSpPr/>
          <p:nvPr/>
        </p:nvSpPr>
        <p:spPr>
          <a:xfrm>
            <a:off x="8010144" y="2834640"/>
            <a:ext cx="731520" cy="292608"/>
          </a:xfrm>
          <a:prstGeom prst="rect">
            <a:avLst/>
          </a:prstGeom>
          <a:solidFill>
            <a:srgbClr val="D8E8FF"/>
          </a:solidFill>
          <a:ln w="6350">
            <a:solidFill>
              <a:srgbClr val="C0C8E0"/>
            </a:solidFill>
            <a:prstDash val="solid"/>
          </a:ln>
        </p:spPr>
      </p:sp>
      <p:sp>
        <p:nvSpPr>
          <p:cNvPr id="61" name="Text 59"/>
          <p:cNvSpPr/>
          <p:nvPr/>
        </p:nvSpPr>
        <p:spPr>
          <a:xfrm>
            <a:off x="8010144" y="2834640"/>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.018</a:t>
            </a:r>
            <a:endParaRPr lang="en-US" sz="850" dirty="0"/>
          </a:p>
        </p:txBody>
      </p:sp>
      <p:sp>
        <p:nvSpPr>
          <p:cNvPr id="62" name="Shape 60"/>
          <p:cNvSpPr/>
          <p:nvPr/>
        </p:nvSpPr>
        <p:spPr>
          <a:xfrm>
            <a:off x="4791456" y="3127248"/>
            <a:ext cx="950976" cy="292608"/>
          </a:xfrm>
          <a:prstGeom prst="rect">
            <a:avLst/>
          </a:prstGeom>
          <a:solidFill>
            <a:srgbClr val="0E1C3A"/>
          </a:solidFill>
          <a:ln w="6350">
            <a:solidFill>
              <a:srgbClr val="C0C8E0"/>
            </a:solidFill>
            <a:prstDash val="solid"/>
          </a:ln>
        </p:spPr>
      </p:sp>
      <p:sp>
        <p:nvSpPr>
          <p:cNvPr id="63" name="Text 61"/>
          <p:cNvSpPr/>
          <p:nvPr/>
        </p:nvSpPr>
        <p:spPr>
          <a:xfrm>
            <a:off x="4791456" y="3127248"/>
            <a:ext cx="950976"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Mr.B vs Gala</a:t>
            </a:r>
            <a:endParaRPr lang="en-US" sz="850" dirty="0"/>
          </a:p>
        </p:txBody>
      </p:sp>
      <p:sp>
        <p:nvSpPr>
          <p:cNvPr id="64" name="Shape 62"/>
          <p:cNvSpPr/>
          <p:nvPr/>
        </p:nvSpPr>
        <p:spPr>
          <a:xfrm>
            <a:off x="5742432" y="3127248"/>
            <a:ext cx="1005840" cy="292608"/>
          </a:xfrm>
          <a:prstGeom prst="rect">
            <a:avLst/>
          </a:prstGeom>
          <a:solidFill>
            <a:srgbClr val="0E1C3A"/>
          </a:solidFill>
          <a:ln w="6350">
            <a:solidFill>
              <a:srgbClr val="C0C8E0"/>
            </a:solidFill>
            <a:prstDash val="solid"/>
          </a:ln>
        </p:spPr>
      </p:sp>
      <p:sp>
        <p:nvSpPr>
          <p:cNvPr id="65" name="Text 63"/>
          <p:cNvSpPr/>
          <p:nvPr/>
        </p:nvSpPr>
        <p:spPr>
          <a:xfrm>
            <a:off x="5742432" y="3127248"/>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age (31-45)</a:t>
            </a:r>
            <a:endParaRPr lang="en-US" sz="850" dirty="0"/>
          </a:p>
        </p:txBody>
      </p:sp>
      <p:sp>
        <p:nvSpPr>
          <p:cNvPr id="66" name="Shape 64"/>
          <p:cNvSpPr/>
          <p:nvPr/>
        </p:nvSpPr>
        <p:spPr>
          <a:xfrm>
            <a:off x="6748272" y="3127248"/>
            <a:ext cx="530352" cy="292608"/>
          </a:xfrm>
          <a:prstGeom prst="rect">
            <a:avLst/>
          </a:prstGeom>
          <a:solidFill>
            <a:srgbClr val="D8E8FF"/>
          </a:solidFill>
          <a:ln w="6350">
            <a:solidFill>
              <a:srgbClr val="C0C8E0"/>
            </a:solidFill>
            <a:prstDash val="solid"/>
          </a:ln>
        </p:spPr>
      </p:sp>
      <p:sp>
        <p:nvSpPr>
          <p:cNvPr id="67" name="Text 65"/>
          <p:cNvSpPr/>
          <p:nvPr/>
        </p:nvSpPr>
        <p:spPr>
          <a:xfrm>
            <a:off x="6748272" y="3127248"/>
            <a:ext cx="53035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.528</a:t>
            </a:r>
            <a:endParaRPr lang="en-US" sz="850" dirty="0"/>
          </a:p>
        </p:txBody>
      </p:sp>
      <p:sp>
        <p:nvSpPr>
          <p:cNvPr id="68" name="Shape 66"/>
          <p:cNvSpPr/>
          <p:nvPr/>
        </p:nvSpPr>
        <p:spPr>
          <a:xfrm>
            <a:off x="7278624" y="3127248"/>
            <a:ext cx="731520" cy="292608"/>
          </a:xfrm>
          <a:prstGeom prst="rect">
            <a:avLst/>
          </a:prstGeom>
          <a:solidFill>
            <a:srgbClr val="D8E8FF"/>
          </a:solidFill>
          <a:ln w="6350">
            <a:solidFill>
              <a:srgbClr val="C0C8E0"/>
            </a:solidFill>
            <a:prstDash val="solid"/>
          </a:ln>
        </p:spPr>
      </p:sp>
      <p:sp>
        <p:nvSpPr>
          <p:cNvPr id="69" name="Text 67"/>
          <p:cNvSpPr/>
          <p:nvPr/>
        </p:nvSpPr>
        <p:spPr>
          <a:xfrm>
            <a:off x="7278624" y="3127248"/>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1.696</a:t>
            </a:r>
            <a:endParaRPr lang="en-US" sz="850" dirty="0"/>
          </a:p>
        </p:txBody>
      </p:sp>
      <p:sp>
        <p:nvSpPr>
          <p:cNvPr id="70" name="Shape 68"/>
          <p:cNvSpPr/>
          <p:nvPr/>
        </p:nvSpPr>
        <p:spPr>
          <a:xfrm>
            <a:off x="8010144" y="3127248"/>
            <a:ext cx="731520" cy="292608"/>
          </a:xfrm>
          <a:prstGeom prst="rect">
            <a:avLst/>
          </a:prstGeom>
          <a:solidFill>
            <a:srgbClr val="D8E8FF"/>
          </a:solidFill>
          <a:ln w="6350">
            <a:solidFill>
              <a:srgbClr val="C0C8E0"/>
            </a:solidFill>
            <a:prstDash val="solid"/>
          </a:ln>
        </p:spPr>
      </p:sp>
      <p:sp>
        <p:nvSpPr>
          <p:cNvPr id="71" name="Text 69"/>
          <p:cNvSpPr/>
          <p:nvPr/>
        </p:nvSpPr>
        <p:spPr>
          <a:xfrm>
            <a:off x="8010144" y="3127248"/>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.041</a:t>
            </a:r>
            <a:endParaRPr lang="en-US" sz="850" dirty="0"/>
          </a:p>
        </p:txBody>
      </p:sp>
      <p:sp>
        <p:nvSpPr>
          <p:cNvPr id="72" name="Shape 70"/>
          <p:cNvSpPr/>
          <p:nvPr/>
        </p:nvSpPr>
        <p:spPr>
          <a:xfrm>
            <a:off x="4791456" y="3419856"/>
            <a:ext cx="950976" cy="292608"/>
          </a:xfrm>
          <a:prstGeom prst="rect">
            <a:avLst/>
          </a:prstGeom>
          <a:solidFill>
            <a:srgbClr val="101C38"/>
          </a:solidFill>
          <a:ln w="6350">
            <a:solidFill>
              <a:srgbClr val="C0C8E0"/>
            </a:solidFill>
            <a:prstDash val="solid"/>
          </a:ln>
        </p:spPr>
      </p:sp>
      <p:sp>
        <p:nvSpPr>
          <p:cNvPr id="73" name="Text 71"/>
          <p:cNvSpPr/>
          <p:nvPr/>
        </p:nvSpPr>
        <p:spPr>
          <a:xfrm>
            <a:off x="4791456" y="3419856"/>
            <a:ext cx="950976"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Supreme vs Gala</a:t>
            </a:r>
            <a:endParaRPr lang="en-US" sz="850" dirty="0"/>
          </a:p>
        </p:txBody>
      </p:sp>
      <p:sp>
        <p:nvSpPr>
          <p:cNvPr id="74" name="Shape 72"/>
          <p:cNvSpPr/>
          <p:nvPr/>
        </p:nvSpPr>
        <p:spPr>
          <a:xfrm>
            <a:off x="5742432" y="3419856"/>
            <a:ext cx="1005840" cy="292608"/>
          </a:xfrm>
          <a:prstGeom prst="rect">
            <a:avLst/>
          </a:prstGeom>
          <a:solidFill>
            <a:srgbClr val="101C38"/>
          </a:solidFill>
          <a:ln w="6350">
            <a:solidFill>
              <a:srgbClr val="C0C8E0"/>
            </a:solidFill>
            <a:prstDash val="solid"/>
          </a:ln>
        </p:spPr>
      </p:sp>
      <p:sp>
        <p:nvSpPr>
          <p:cNvPr id="75" name="Text 73"/>
          <p:cNvSpPr/>
          <p:nvPr/>
        </p:nvSpPr>
        <p:spPr>
          <a:xfrm>
            <a:off x="5742432" y="3419856"/>
            <a:ext cx="100584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monthly_salary</a:t>
            </a:r>
            <a:endParaRPr lang="en-US" sz="850" dirty="0"/>
          </a:p>
        </p:txBody>
      </p:sp>
      <p:sp>
        <p:nvSpPr>
          <p:cNvPr id="76" name="Shape 74"/>
          <p:cNvSpPr/>
          <p:nvPr/>
        </p:nvSpPr>
        <p:spPr>
          <a:xfrm>
            <a:off x="6748272" y="3419856"/>
            <a:ext cx="530352" cy="292608"/>
          </a:xfrm>
          <a:prstGeom prst="rect">
            <a:avLst/>
          </a:prstGeom>
          <a:solidFill>
            <a:srgbClr val="D8E8FF"/>
          </a:solidFill>
          <a:ln w="6350">
            <a:solidFill>
              <a:srgbClr val="C0C8E0"/>
            </a:solidFill>
            <a:prstDash val="solid"/>
          </a:ln>
        </p:spPr>
      </p:sp>
      <p:sp>
        <p:nvSpPr>
          <p:cNvPr id="77" name="Text 75"/>
          <p:cNvSpPr/>
          <p:nvPr/>
        </p:nvSpPr>
        <p:spPr>
          <a:xfrm>
            <a:off x="6748272" y="3419856"/>
            <a:ext cx="53035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.000001</a:t>
            </a:r>
            <a:endParaRPr lang="en-US" sz="850" dirty="0"/>
          </a:p>
        </p:txBody>
      </p:sp>
      <p:sp>
        <p:nvSpPr>
          <p:cNvPr id="78" name="Shape 76"/>
          <p:cNvSpPr/>
          <p:nvPr/>
        </p:nvSpPr>
        <p:spPr>
          <a:xfrm>
            <a:off x="7278624" y="3419856"/>
            <a:ext cx="731520" cy="292608"/>
          </a:xfrm>
          <a:prstGeom prst="rect">
            <a:avLst/>
          </a:prstGeom>
          <a:solidFill>
            <a:srgbClr val="D8E8FF"/>
          </a:solidFill>
          <a:ln w="6350">
            <a:solidFill>
              <a:srgbClr val="C0C8E0"/>
            </a:solidFill>
            <a:prstDash val="solid"/>
          </a:ln>
        </p:spPr>
      </p:sp>
      <p:sp>
        <p:nvSpPr>
          <p:cNvPr id="79" name="Text 77"/>
          <p:cNvSpPr/>
          <p:nvPr/>
        </p:nvSpPr>
        <p:spPr>
          <a:xfrm>
            <a:off x="7278624" y="3419856"/>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1.000</a:t>
            </a:r>
            <a:endParaRPr lang="en-US" sz="850" dirty="0"/>
          </a:p>
        </p:txBody>
      </p:sp>
      <p:sp>
        <p:nvSpPr>
          <p:cNvPr id="80" name="Shape 78"/>
          <p:cNvSpPr/>
          <p:nvPr/>
        </p:nvSpPr>
        <p:spPr>
          <a:xfrm>
            <a:off x="8010144" y="3419856"/>
            <a:ext cx="731520" cy="292608"/>
          </a:xfrm>
          <a:prstGeom prst="rect">
            <a:avLst/>
          </a:prstGeom>
          <a:solidFill>
            <a:srgbClr val="D8E8FF"/>
          </a:solidFill>
          <a:ln w="6350">
            <a:solidFill>
              <a:srgbClr val="C0C8E0"/>
            </a:solidFill>
            <a:prstDash val="solid"/>
          </a:ln>
        </p:spPr>
      </p:sp>
      <p:sp>
        <p:nvSpPr>
          <p:cNvPr id="81" name="Text 79"/>
          <p:cNvSpPr/>
          <p:nvPr/>
        </p:nvSpPr>
        <p:spPr>
          <a:xfrm>
            <a:off x="8010144" y="3419856"/>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.034</a:t>
            </a:r>
            <a:endParaRPr lang="en-US" sz="850" dirty="0"/>
          </a:p>
        </p:txBody>
      </p:sp>
      <p:sp>
        <p:nvSpPr>
          <p:cNvPr id="82" name="Text 80"/>
          <p:cNvSpPr/>
          <p:nvPr/>
        </p:nvSpPr>
        <p:spPr>
          <a:xfrm>
            <a:off x="4791456" y="3456432"/>
            <a:ext cx="3913632" cy="219456"/>
          </a:xfrm>
          <a:prstGeom prst="rect">
            <a:avLst/>
          </a:prstGeom>
          <a:noFill/>
          <a:ln/>
        </p:spPr>
        <p:txBody>
          <a:bodyPr wrap="square" lIns="0" tIns="0" rIns="0" bIns="0" rtlCol="0" anchor="ctr"/>
          <a:lstStyle/>
          <a:p>
            <a:pPr indent="0" marL="0">
              <a:buNone/>
            </a:pPr>
            <a:r>
              <a:rPr lang="en-US" sz="950" b="1" dirty="0">
                <a:solidFill>
                  <a:srgbClr val="C8920A"/>
                </a:solidFill>
                <a:latin typeface="Calibri" pitchFamily="34" charset="0"/>
                <a:ea typeface="Calibri" pitchFamily="34" charset="-122"/>
                <a:cs typeface="Calibri" pitchFamily="34" charset="-120"/>
              </a:rPr>
              <a:t>Interpreting Each Row:</a:t>
            </a:r>
            <a:endParaRPr lang="en-US" sz="950" dirty="0"/>
          </a:p>
        </p:txBody>
      </p:sp>
      <p:sp>
        <p:nvSpPr>
          <p:cNvPr id="83" name="Text 81"/>
          <p:cNvSpPr/>
          <p:nvPr/>
        </p:nvSpPr>
        <p:spPr>
          <a:xfrm>
            <a:off x="4791456" y="3730752"/>
            <a:ext cx="3913632" cy="786384"/>
          </a:xfrm>
          <a:prstGeom prst="rect">
            <a:avLst/>
          </a:prstGeom>
          <a:noFill/>
          <a:ln/>
        </p:spPr>
        <p:txBody>
          <a:bodyPr wrap="square" lIns="0" tIns="0" rIns="0" bIns="0" rtlCol="0" anchor="ctr"/>
          <a:lstStyle/>
          <a:p>
            <a:pPr indent="0" marL="0">
              <a:buNone/>
            </a:pPr>
            <a:r>
              <a:rPr lang="en-US" sz="900" b="1" dirty="0">
                <a:solidFill>
                  <a:srgbClr val="2748A8"/>
                </a:solidFill>
                <a:latin typeface="Calibri" pitchFamily="34" charset="0"/>
                <a:ea typeface="Calibri" pitchFamily="34" charset="-122"/>
                <a:cs typeface="Calibri" pitchFamily="34" charset="-120"/>
              </a:rPr>
              <a:t>Deli vs Gala, gender: </a:t>
            </a:r>
            <a:pPr indent="0" marL="0">
              <a:buNone/>
            </a:pPr>
            <a:r>
              <a:rPr lang="en-US" sz="900" dirty="0">
                <a:solidFill>
                  <a:srgbClr val="90A8D8"/>
                </a:solidFill>
                <a:latin typeface="Calibri" pitchFamily="34" charset="0"/>
                <a:ea typeface="Calibri" pitchFamily="34" charset="-122"/>
                <a:cs typeface="Calibri" pitchFamily="34" charset="-120"/>
              </a:rPr>
              <a:t>Female consumers have 98.2% higher odds of preferring Deli over Gala compared to male consumers. (Exp(B) = 1.982)
</a:t>
            </a:r>
            <a:pPr indent="0" marL="0">
              <a:buNone/>
            </a:pPr>
            <a:r>
              <a:rPr lang="en-US" sz="900" b="1" dirty="0">
                <a:solidFill>
                  <a:srgbClr val="C8920A"/>
                </a:solidFill>
                <a:latin typeface="Calibri" pitchFamily="34" charset="0"/>
                <a:ea typeface="Calibri" pitchFamily="34" charset="-122"/>
                <a:cs typeface="Calibri" pitchFamily="34" charset="-120"/>
              </a:rPr>
              <a:t>Supreme vs Gala, salary: </a:t>
            </a:r>
            <a:pPr indent="0" marL="0">
              <a:buNone/>
            </a:pPr>
            <a:r>
              <a:rPr lang="en-US" sz="900" dirty="0">
                <a:solidFill>
                  <a:srgbClr val="90A8D8"/>
                </a:solidFill>
                <a:latin typeface="Calibri" pitchFamily="34" charset="0"/>
                <a:ea typeface="Calibri" pitchFamily="34" charset="-122"/>
                <a:cs typeface="Calibri" pitchFamily="34" charset="-120"/>
              </a:rPr>
              <a:t>Higher-income consumers are significantly more likely to prefer Supreme Ice Cream over Gala - premium positioning confirmed.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2D6B">
              <a:alpha val="20000"/>
            </a:srgbClr>
          </a:solidFill>
          <a:ln w="12700">
            <a:solidFill>
              <a:srgbClr val="1A2D6B"/>
            </a:solidFill>
            <a:prstDash val="solid"/>
          </a:ln>
        </p:spPr>
      </p:sp>
      <p:sp>
        <p:nvSpPr>
          <p:cNvPr id="3" name="Shape 1"/>
          <p:cNvSpPr/>
          <p:nvPr/>
        </p:nvSpPr>
        <p:spPr>
          <a:xfrm>
            <a:off x="-1097280" y="3200400"/>
            <a:ext cx="3657600" cy="3657600"/>
          </a:xfrm>
          <a:prstGeom prst="ellipse">
            <a:avLst/>
          </a:prstGeom>
          <a:solidFill>
            <a:srgbClr val="C8920A">
              <a:alpha val="12000"/>
            </a:srgbClr>
          </a:solidFill>
          <a:ln w="12700">
            <a:solidFill>
              <a:srgbClr val="C8920A"/>
            </a:solidFill>
            <a:prstDash val="solid"/>
          </a:ln>
        </p:spPr>
      </p:sp>
      <p:sp>
        <p:nvSpPr>
          <p:cNvPr id="4" name="Shape 2"/>
          <p:cNvSpPr/>
          <p:nvPr/>
        </p:nvSpPr>
        <p:spPr>
          <a:xfrm>
            <a:off x="4114800" y="1371600"/>
            <a:ext cx="1828800" cy="1828800"/>
          </a:xfrm>
          <a:prstGeom prst="ellipse">
            <a:avLst/>
          </a:prstGeom>
          <a:solidFill>
            <a:srgbClr val="0A6E4F">
              <a:alpha val="10000"/>
            </a:srgbClr>
          </a:solidFill>
          <a:ln w="12700">
            <a:solidFill>
              <a:srgbClr val="0A6E4F"/>
            </a:solidFill>
            <a:prstDash val="solid"/>
          </a:ln>
        </p:spPr>
      </p:sp>
      <p:sp>
        <p:nvSpPr>
          <p:cNvPr id="5" name="Text 3"/>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C8920A"/>
                </a:solidFill>
                <a:latin typeface="Calibri" pitchFamily="34" charset="0"/>
                <a:ea typeface="Calibri" pitchFamily="34" charset="-122"/>
                <a:cs typeface="Calibri" pitchFamily="34" charset="-120"/>
              </a:rPr>
              <a:t>MODULE 5  |  SECTION 05</a:t>
            </a:r>
            <a:endParaRPr lang="en-US" sz="1200" dirty="0"/>
          </a:p>
        </p:txBody>
      </p:sp>
      <p:sp>
        <p:nvSpPr>
          <p:cNvPr id="6" name="Text 4"/>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Exploratory Factor Analysis</a:t>
            </a:r>
            <a:endParaRPr lang="en-US" sz="3800" dirty="0"/>
          </a:p>
        </p:txBody>
      </p:sp>
      <p:sp>
        <p:nvSpPr>
          <p:cNvPr id="7" name="Text 5"/>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B0C0E8"/>
                </a:solidFill>
                <a:latin typeface="Calibri" pitchFamily="34" charset="0"/>
                <a:ea typeface="Calibri" pitchFamily="34" charset="-122"/>
                <a:cs typeface="Calibri" pitchFamily="34" charset="-120"/>
              </a:rPr>
              <a:t>Discovering the underlying dimensions in a set of questionnaire items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0F1E"/>
          </a:solidFill>
          <a:ln w="12700">
            <a:solidFill>
              <a:srgbClr val="0A0F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Exploratory Factor Analysis - Analyze &gt; Dimension Reduction &gt; Factor</a:t>
            </a:r>
            <a:endParaRPr lang="en-US" sz="2100" dirty="0"/>
          </a:p>
        </p:txBody>
      </p:sp>
      <p:sp>
        <p:nvSpPr>
          <p:cNvPr id="4" name="Shape 2"/>
          <p:cNvSpPr/>
          <p:nvPr/>
        </p:nvSpPr>
        <p:spPr>
          <a:xfrm>
            <a:off x="256032" y="1005840"/>
            <a:ext cx="8631936" cy="594360"/>
          </a:xfrm>
          <a:prstGeom prst="roundRect">
            <a:avLst>
              <a:gd name="adj" fmla="val 12308"/>
            </a:avLst>
          </a:prstGeom>
          <a:solidFill>
            <a:srgbClr val="E8EEF8"/>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48640"/>
          </a:xfrm>
          <a:prstGeom prst="rect">
            <a:avLst/>
          </a:prstGeom>
          <a:noFill/>
          <a:ln/>
        </p:spPr>
        <p:txBody>
          <a:bodyPr wrap="square" lIns="0" tIns="0" rIns="0" bIns="0" rtlCol="0" anchor="ctr"/>
          <a:lstStyle/>
          <a:p>
            <a:pPr indent="0" marL="0">
              <a:buNone/>
            </a:pPr>
            <a:r>
              <a:rPr lang="en-US" sz="1050" dirty="0">
                <a:solidFill>
                  <a:srgbClr val="1A2038"/>
                </a:solidFill>
                <a:latin typeface="Calibri" pitchFamily="34" charset="0"/>
                <a:ea typeface="Calibri" pitchFamily="34" charset="-122"/>
                <a:cs typeface="Calibri" pitchFamily="34" charset="-120"/>
              </a:rPr>
              <a:t>EFA identifies LATENT FACTORS - underlying dimensions that explain the correlations among observed variables. Used for scale development and data reduction. UAC scenario: 10 satisfaction items may measure 2-3 underlying constructs.</a:t>
            </a:r>
            <a:endParaRPr lang="en-US" sz="1050" dirty="0"/>
          </a:p>
        </p:txBody>
      </p:sp>
      <p:sp>
        <p:nvSpPr>
          <p:cNvPr id="6" name="Shape 4"/>
          <p:cNvSpPr/>
          <p:nvPr/>
        </p:nvSpPr>
        <p:spPr>
          <a:xfrm>
            <a:off x="256032" y="1682496"/>
            <a:ext cx="3200400" cy="3383280"/>
          </a:xfrm>
          <a:prstGeom prst="roundRect">
            <a:avLst>
              <a:gd name="adj" fmla="val 2571"/>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755648"/>
            <a:ext cx="3054096" cy="329184"/>
          </a:xfrm>
          <a:prstGeom prst="roundRect">
            <a:avLst>
              <a:gd name="adj" fmla="val 16667"/>
            </a:avLst>
          </a:prstGeom>
          <a:solidFill>
            <a:srgbClr val="1A2D6B"/>
          </a:solidFill>
          <a:ln w="12700">
            <a:solidFill>
              <a:srgbClr val="1A2D6B"/>
            </a:solidFill>
            <a:prstDash val="solid"/>
          </a:ln>
        </p:spPr>
      </p:sp>
      <p:sp>
        <p:nvSpPr>
          <p:cNvPr id="8" name="Text 6"/>
          <p:cNvSpPr/>
          <p:nvPr/>
        </p:nvSpPr>
        <p:spPr>
          <a:xfrm>
            <a:off x="329184" y="1755648"/>
            <a:ext cx="305409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Steps and Setup</a:t>
            </a:r>
            <a:endParaRPr lang="en-US" sz="1100" dirty="0"/>
          </a:p>
        </p:txBody>
      </p:sp>
      <p:sp>
        <p:nvSpPr>
          <p:cNvPr id="9" name="Shape 7"/>
          <p:cNvSpPr/>
          <p:nvPr/>
        </p:nvSpPr>
        <p:spPr>
          <a:xfrm>
            <a:off x="347472" y="2176272"/>
            <a:ext cx="256032" cy="256032"/>
          </a:xfrm>
          <a:prstGeom prst="ellipse">
            <a:avLst/>
          </a:prstGeom>
          <a:solidFill>
            <a:srgbClr val="1A2D6B"/>
          </a:solidFill>
          <a:ln w="12700">
            <a:solidFill>
              <a:srgbClr val="1A2D6B"/>
            </a:solidFill>
            <a:prstDash val="solid"/>
          </a:ln>
        </p:spPr>
      </p:sp>
      <p:sp>
        <p:nvSpPr>
          <p:cNvPr id="10" name="Text 8"/>
          <p:cNvSpPr/>
          <p:nvPr/>
        </p:nvSpPr>
        <p:spPr>
          <a:xfrm>
            <a:off x="347472" y="2176272"/>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1" name="Text 9"/>
          <p:cNvSpPr/>
          <p:nvPr/>
        </p:nvSpPr>
        <p:spPr>
          <a:xfrm>
            <a:off x="676656" y="2194560"/>
            <a:ext cx="2724912" cy="365760"/>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Analyze &gt; Dimension Reduction &gt; Factor</a:t>
            </a:r>
            <a:endParaRPr lang="en-US" sz="900" dirty="0"/>
          </a:p>
        </p:txBody>
      </p:sp>
      <p:sp>
        <p:nvSpPr>
          <p:cNvPr id="12" name="Shape 10"/>
          <p:cNvSpPr/>
          <p:nvPr/>
        </p:nvSpPr>
        <p:spPr>
          <a:xfrm>
            <a:off x="347472" y="2596896"/>
            <a:ext cx="256032" cy="256032"/>
          </a:xfrm>
          <a:prstGeom prst="ellipse">
            <a:avLst/>
          </a:prstGeom>
          <a:solidFill>
            <a:srgbClr val="1A2D6B"/>
          </a:solidFill>
          <a:ln w="12700">
            <a:solidFill>
              <a:srgbClr val="1A2D6B"/>
            </a:solidFill>
            <a:prstDash val="solid"/>
          </a:ln>
        </p:spPr>
      </p:sp>
      <p:sp>
        <p:nvSpPr>
          <p:cNvPr id="13" name="Text 11"/>
          <p:cNvSpPr/>
          <p:nvPr/>
        </p:nvSpPr>
        <p:spPr>
          <a:xfrm>
            <a:off x="347472" y="2596896"/>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4" name="Text 12"/>
          <p:cNvSpPr/>
          <p:nvPr/>
        </p:nvSpPr>
        <p:spPr>
          <a:xfrm>
            <a:off x="676656" y="2615184"/>
            <a:ext cx="2724912" cy="365760"/>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Move all 10 satisfaction items to Variables box</a:t>
            </a:r>
            <a:endParaRPr lang="en-US" sz="900" dirty="0"/>
          </a:p>
        </p:txBody>
      </p:sp>
      <p:sp>
        <p:nvSpPr>
          <p:cNvPr id="15" name="Shape 13"/>
          <p:cNvSpPr/>
          <p:nvPr/>
        </p:nvSpPr>
        <p:spPr>
          <a:xfrm>
            <a:off x="347472" y="3017520"/>
            <a:ext cx="256032" cy="256032"/>
          </a:xfrm>
          <a:prstGeom prst="ellipse">
            <a:avLst/>
          </a:prstGeom>
          <a:solidFill>
            <a:srgbClr val="1A2D6B"/>
          </a:solidFill>
          <a:ln w="12700">
            <a:solidFill>
              <a:srgbClr val="1A2D6B"/>
            </a:solidFill>
            <a:prstDash val="solid"/>
          </a:ln>
        </p:spPr>
      </p:sp>
      <p:sp>
        <p:nvSpPr>
          <p:cNvPr id="16" name="Text 14"/>
          <p:cNvSpPr/>
          <p:nvPr/>
        </p:nvSpPr>
        <p:spPr>
          <a:xfrm>
            <a:off x="347472" y="3017520"/>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7" name="Text 15"/>
          <p:cNvSpPr/>
          <p:nvPr/>
        </p:nvSpPr>
        <p:spPr>
          <a:xfrm>
            <a:off x="676656" y="3035808"/>
            <a:ext cx="2724912" cy="365760"/>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Extraction: Principal Axis Factoring. Select Scree plot. Extract Eigenvalue &gt; 1 (Kaiser criterion)</a:t>
            </a:r>
            <a:endParaRPr lang="en-US" sz="900" dirty="0"/>
          </a:p>
        </p:txBody>
      </p:sp>
      <p:sp>
        <p:nvSpPr>
          <p:cNvPr id="18" name="Shape 16"/>
          <p:cNvSpPr/>
          <p:nvPr/>
        </p:nvSpPr>
        <p:spPr>
          <a:xfrm>
            <a:off x="347472" y="3438144"/>
            <a:ext cx="256032" cy="256032"/>
          </a:xfrm>
          <a:prstGeom prst="ellipse">
            <a:avLst/>
          </a:prstGeom>
          <a:solidFill>
            <a:srgbClr val="1A2D6B"/>
          </a:solidFill>
          <a:ln w="12700">
            <a:solidFill>
              <a:srgbClr val="1A2D6B"/>
            </a:solidFill>
            <a:prstDash val="solid"/>
          </a:ln>
        </p:spPr>
      </p:sp>
      <p:sp>
        <p:nvSpPr>
          <p:cNvPr id="19" name="Text 17"/>
          <p:cNvSpPr/>
          <p:nvPr/>
        </p:nvSpPr>
        <p:spPr>
          <a:xfrm>
            <a:off x="347472" y="3438144"/>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676656" y="3456432"/>
            <a:ext cx="2724912" cy="365760"/>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Rotation: Promax (oblique - allows factors to correlate). Check Display rotated factor matrix</a:t>
            </a:r>
            <a:endParaRPr lang="en-US" sz="900" dirty="0"/>
          </a:p>
        </p:txBody>
      </p:sp>
      <p:sp>
        <p:nvSpPr>
          <p:cNvPr id="21" name="Shape 19"/>
          <p:cNvSpPr/>
          <p:nvPr/>
        </p:nvSpPr>
        <p:spPr>
          <a:xfrm>
            <a:off x="347472" y="3858768"/>
            <a:ext cx="256032" cy="256032"/>
          </a:xfrm>
          <a:prstGeom prst="ellipse">
            <a:avLst/>
          </a:prstGeom>
          <a:solidFill>
            <a:srgbClr val="1A2D6B"/>
          </a:solidFill>
          <a:ln w="12700">
            <a:solidFill>
              <a:srgbClr val="1A2D6B"/>
            </a:solidFill>
            <a:prstDash val="solid"/>
          </a:ln>
        </p:spPr>
      </p:sp>
      <p:sp>
        <p:nvSpPr>
          <p:cNvPr id="22" name="Text 20"/>
          <p:cNvSpPr/>
          <p:nvPr/>
        </p:nvSpPr>
        <p:spPr>
          <a:xfrm>
            <a:off x="347472" y="3858768"/>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3" name="Text 21"/>
          <p:cNvSpPr/>
          <p:nvPr/>
        </p:nvSpPr>
        <p:spPr>
          <a:xfrm>
            <a:off x="676656" y="3877056"/>
            <a:ext cx="2724912" cy="365760"/>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Scores: Save as variables (for use in subsequent analyses)</a:t>
            </a:r>
            <a:endParaRPr lang="en-US" sz="900" dirty="0"/>
          </a:p>
        </p:txBody>
      </p:sp>
      <p:sp>
        <p:nvSpPr>
          <p:cNvPr id="24" name="Shape 22"/>
          <p:cNvSpPr/>
          <p:nvPr/>
        </p:nvSpPr>
        <p:spPr>
          <a:xfrm>
            <a:off x="347472" y="4279392"/>
            <a:ext cx="256032" cy="256032"/>
          </a:xfrm>
          <a:prstGeom prst="ellipse">
            <a:avLst/>
          </a:prstGeom>
          <a:solidFill>
            <a:srgbClr val="1A2D6B"/>
          </a:solidFill>
          <a:ln w="12700">
            <a:solidFill>
              <a:srgbClr val="1A2D6B"/>
            </a:solidFill>
            <a:prstDash val="solid"/>
          </a:ln>
        </p:spPr>
      </p:sp>
      <p:sp>
        <p:nvSpPr>
          <p:cNvPr id="25" name="Text 23"/>
          <p:cNvSpPr/>
          <p:nvPr/>
        </p:nvSpPr>
        <p:spPr>
          <a:xfrm>
            <a:off x="347472" y="4279392"/>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6" name="Text 24"/>
          <p:cNvSpPr/>
          <p:nvPr/>
        </p:nvSpPr>
        <p:spPr>
          <a:xfrm>
            <a:off x="676656" y="4297680"/>
            <a:ext cx="2724912" cy="365760"/>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Options: Sort by size. Suppress small coefficients (absolute &lt; .30)</a:t>
            </a:r>
            <a:endParaRPr lang="en-US" sz="900" dirty="0"/>
          </a:p>
        </p:txBody>
      </p:sp>
      <p:sp>
        <p:nvSpPr>
          <p:cNvPr id="27" name="Shape 25"/>
          <p:cNvSpPr/>
          <p:nvPr/>
        </p:nvSpPr>
        <p:spPr>
          <a:xfrm>
            <a:off x="347472" y="4700016"/>
            <a:ext cx="256032" cy="256032"/>
          </a:xfrm>
          <a:prstGeom prst="ellipse">
            <a:avLst/>
          </a:prstGeom>
          <a:solidFill>
            <a:srgbClr val="1A2D6B"/>
          </a:solidFill>
          <a:ln w="12700">
            <a:solidFill>
              <a:srgbClr val="1A2D6B"/>
            </a:solidFill>
            <a:prstDash val="solid"/>
          </a:ln>
        </p:spPr>
      </p:sp>
      <p:sp>
        <p:nvSpPr>
          <p:cNvPr id="28" name="Text 26"/>
          <p:cNvSpPr/>
          <p:nvPr/>
        </p:nvSpPr>
        <p:spPr>
          <a:xfrm>
            <a:off x="347472" y="4700016"/>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29" name="Text 27"/>
          <p:cNvSpPr/>
          <p:nvPr/>
        </p:nvSpPr>
        <p:spPr>
          <a:xfrm>
            <a:off x="676656" y="4718304"/>
            <a:ext cx="2724912" cy="365760"/>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Click OK</a:t>
            </a:r>
            <a:endParaRPr lang="en-US" sz="900" dirty="0"/>
          </a:p>
        </p:txBody>
      </p:sp>
      <p:sp>
        <p:nvSpPr>
          <p:cNvPr id="30" name="Shape 28"/>
          <p:cNvSpPr/>
          <p:nvPr/>
        </p:nvSpPr>
        <p:spPr>
          <a:xfrm>
            <a:off x="3584448" y="1682496"/>
            <a:ext cx="2468880" cy="1719072"/>
          </a:xfrm>
          <a:prstGeom prst="roundRect">
            <a:avLst>
              <a:gd name="adj" fmla="val 4787"/>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31" name="Shape 29"/>
          <p:cNvSpPr/>
          <p:nvPr/>
        </p:nvSpPr>
        <p:spPr>
          <a:xfrm>
            <a:off x="3657600" y="1755648"/>
            <a:ext cx="2322576" cy="329184"/>
          </a:xfrm>
          <a:prstGeom prst="roundRect">
            <a:avLst>
              <a:gd name="adj" fmla="val 16667"/>
            </a:avLst>
          </a:prstGeom>
          <a:solidFill>
            <a:srgbClr val="0A0F1E"/>
          </a:solidFill>
          <a:ln w="12700">
            <a:solidFill>
              <a:srgbClr val="0A0F1E"/>
            </a:solidFill>
            <a:prstDash val="solid"/>
          </a:ln>
        </p:spPr>
      </p:sp>
      <p:sp>
        <p:nvSpPr>
          <p:cNvPr id="32" name="Text 30"/>
          <p:cNvSpPr/>
          <p:nvPr/>
        </p:nvSpPr>
        <p:spPr>
          <a:xfrm>
            <a:off x="3657600" y="1755648"/>
            <a:ext cx="2322576" cy="329184"/>
          </a:xfrm>
          <a:prstGeom prst="rect">
            <a:avLst/>
          </a:prstGeom>
          <a:noFill/>
          <a:ln/>
        </p:spPr>
        <p:txBody>
          <a:bodyPr wrap="square" lIns="0" tIns="0" rIns="0" bIns="0" rtlCol="0" anchor="ctr"/>
          <a:lstStyle/>
          <a:p>
            <a:pPr algn="ctr" indent="0" marL="0">
              <a:buNone/>
            </a:pPr>
            <a:r>
              <a:rPr lang="en-US" sz="1050" b="1" dirty="0">
                <a:solidFill>
                  <a:srgbClr val="F0C040"/>
                </a:solidFill>
                <a:latin typeface="Calibri" pitchFamily="34" charset="0"/>
                <a:ea typeface="Calibri" pitchFamily="34" charset="-122"/>
                <a:cs typeface="Calibri" pitchFamily="34" charset="-120"/>
              </a:rPr>
              <a:t>Check Suitability First</a:t>
            </a:r>
            <a:endParaRPr lang="en-US" sz="1050" dirty="0"/>
          </a:p>
        </p:txBody>
      </p:sp>
      <p:sp>
        <p:nvSpPr>
          <p:cNvPr id="33" name="Shape 31"/>
          <p:cNvSpPr/>
          <p:nvPr/>
        </p:nvSpPr>
        <p:spPr>
          <a:xfrm>
            <a:off x="3657600" y="2121408"/>
            <a:ext cx="987552" cy="292608"/>
          </a:xfrm>
          <a:prstGeom prst="rect">
            <a:avLst/>
          </a:prstGeom>
          <a:solidFill>
            <a:srgbClr val="0A0F1E"/>
          </a:solidFill>
          <a:ln w="12700">
            <a:solidFill>
              <a:srgbClr val="0A0F1E"/>
            </a:solidFill>
            <a:prstDash val="solid"/>
          </a:ln>
        </p:spPr>
      </p:sp>
      <p:sp>
        <p:nvSpPr>
          <p:cNvPr id="34" name="Text 32"/>
          <p:cNvSpPr/>
          <p:nvPr/>
        </p:nvSpPr>
        <p:spPr>
          <a:xfrm>
            <a:off x="3657600" y="2121408"/>
            <a:ext cx="9875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Test</a:t>
            </a:r>
            <a:endParaRPr lang="en-US" sz="850" dirty="0"/>
          </a:p>
        </p:txBody>
      </p:sp>
      <p:sp>
        <p:nvSpPr>
          <p:cNvPr id="35" name="Shape 33"/>
          <p:cNvSpPr/>
          <p:nvPr/>
        </p:nvSpPr>
        <p:spPr>
          <a:xfrm>
            <a:off x="4645152" y="2121408"/>
            <a:ext cx="749808" cy="292608"/>
          </a:xfrm>
          <a:prstGeom prst="rect">
            <a:avLst/>
          </a:prstGeom>
          <a:solidFill>
            <a:srgbClr val="0A0F1E"/>
          </a:solidFill>
          <a:ln w="12700">
            <a:solidFill>
              <a:srgbClr val="0A0F1E"/>
            </a:solidFill>
            <a:prstDash val="solid"/>
          </a:ln>
        </p:spPr>
      </p:sp>
      <p:sp>
        <p:nvSpPr>
          <p:cNvPr id="36" name="Text 34"/>
          <p:cNvSpPr/>
          <p:nvPr/>
        </p:nvSpPr>
        <p:spPr>
          <a:xfrm>
            <a:off x="4645152" y="2121408"/>
            <a:ext cx="74980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Value</a:t>
            </a:r>
            <a:endParaRPr lang="en-US" sz="850" dirty="0"/>
          </a:p>
        </p:txBody>
      </p:sp>
      <p:sp>
        <p:nvSpPr>
          <p:cNvPr id="37" name="Shape 35"/>
          <p:cNvSpPr/>
          <p:nvPr/>
        </p:nvSpPr>
        <p:spPr>
          <a:xfrm>
            <a:off x="5394960" y="2121408"/>
            <a:ext cx="731520" cy="292608"/>
          </a:xfrm>
          <a:prstGeom prst="rect">
            <a:avLst/>
          </a:prstGeom>
          <a:solidFill>
            <a:srgbClr val="0A0F1E"/>
          </a:solidFill>
          <a:ln w="12700">
            <a:solidFill>
              <a:srgbClr val="0A0F1E"/>
            </a:solidFill>
            <a:prstDash val="solid"/>
          </a:ln>
        </p:spPr>
      </p:sp>
      <p:sp>
        <p:nvSpPr>
          <p:cNvPr id="38" name="Text 36"/>
          <p:cNvSpPr/>
          <p:nvPr/>
        </p:nvSpPr>
        <p:spPr>
          <a:xfrm>
            <a:off x="5394960" y="2121408"/>
            <a:ext cx="7315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Decision</a:t>
            </a:r>
            <a:endParaRPr lang="en-US" sz="850" dirty="0"/>
          </a:p>
        </p:txBody>
      </p:sp>
      <p:sp>
        <p:nvSpPr>
          <p:cNvPr id="39" name="Shape 37"/>
          <p:cNvSpPr/>
          <p:nvPr/>
        </p:nvSpPr>
        <p:spPr>
          <a:xfrm>
            <a:off x="3657600" y="2414016"/>
            <a:ext cx="987552" cy="292608"/>
          </a:xfrm>
          <a:prstGeom prst="rect">
            <a:avLst/>
          </a:prstGeom>
          <a:solidFill>
            <a:srgbClr val="EAEEF8"/>
          </a:solidFill>
          <a:ln w="6350">
            <a:solidFill>
              <a:srgbClr val="C0C8E0"/>
            </a:solidFill>
            <a:prstDash val="solid"/>
          </a:ln>
        </p:spPr>
      </p:sp>
      <p:sp>
        <p:nvSpPr>
          <p:cNvPr id="40" name="Text 38"/>
          <p:cNvSpPr/>
          <p:nvPr/>
        </p:nvSpPr>
        <p:spPr>
          <a:xfrm>
            <a:off x="3657600" y="2414016"/>
            <a:ext cx="987552"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KMO Measure</a:t>
            </a:r>
            <a:endParaRPr lang="en-US" sz="850" dirty="0"/>
          </a:p>
        </p:txBody>
      </p:sp>
      <p:sp>
        <p:nvSpPr>
          <p:cNvPr id="41" name="Shape 39"/>
          <p:cNvSpPr/>
          <p:nvPr/>
        </p:nvSpPr>
        <p:spPr>
          <a:xfrm>
            <a:off x="4645152" y="2414016"/>
            <a:ext cx="749808" cy="292608"/>
          </a:xfrm>
          <a:prstGeom prst="rect">
            <a:avLst/>
          </a:prstGeom>
          <a:solidFill>
            <a:srgbClr val="D8E8FF"/>
          </a:solidFill>
          <a:ln w="6350">
            <a:solidFill>
              <a:srgbClr val="C0C8E0"/>
            </a:solidFill>
            <a:prstDash val="solid"/>
          </a:ln>
        </p:spPr>
      </p:sp>
      <p:sp>
        <p:nvSpPr>
          <p:cNvPr id="42" name="Text 40"/>
          <p:cNvSpPr/>
          <p:nvPr/>
        </p:nvSpPr>
        <p:spPr>
          <a:xfrm>
            <a:off x="4645152" y="2414016"/>
            <a:ext cx="74980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.842</a:t>
            </a:r>
            <a:endParaRPr lang="en-US" sz="850" dirty="0"/>
          </a:p>
        </p:txBody>
      </p:sp>
      <p:sp>
        <p:nvSpPr>
          <p:cNvPr id="43" name="Shape 41"/>
          <p:cNvSpPr/>
          <p:nvPr/>
        </p:nvSpPr>
        <p:spPr>
          <a:xfrm>
            <a:off x="5394960" y="2414016"/>
            <a:ext cx="731520" cy="292608"/>
          </a:xfrm>
          <a:prstGeom prst="rect">
            <a:avLst/>
          </a:prstGeom>
          <a:solidFill>
            <a:srgbClr val="EAEEF8"/>
          </a:solidFill>
          <a:ln w="6350">
            <a:solidFill>
              <a:srgbClr val="C0C8E0"/>
            </a:solidFill>
            <a:prstDash val="solid"/>
          </a:ln>
        </p:spPr>
      </p:sp>
      <p:sp>
        <p:nvSpPr>
          <p:cNvPr id="44" name="Text 42"/>
          <p:cNvSpPr/>
          <p:nvPr/>
        </p:nvSpPr>
        <p:spPr>
          <a:xfrm>
            <a:off x="5394960" y="2414016"/>
            <a:ext cx="73152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Meritorious</a:t>
            </a:r>
            <a:endParaRPr lang="en-US" sz="850" dirty="0"/>
          </a:p>
        </p:txBody>
      </p:sp>
      <p:sp>
        <p:nvSpPr>
          <p:cNvPr id="45" name="Shape 43"/>
          <p:cNvSpPr/>
          <p:nvPr/>
        </p:nvSpPr>
        <p:spPr>
          <a:xfrm>
            <a:off x="3657600" y="2706624"/>
            <a:ext cx="987552" cy="292608"/>
          </a:xfrm>
          <a:prstGeom prst="rect">
            <a:avLst/>
          </a:prstGeom>
          <a:solidFill>
            <a:srgbClr val="FFFFFF"/>
          </a:solidFill>
          <a:ln w="6350">
            <a:solidFill>
              <a:srgbClr val="C0C8E0"/>
            </a:solidFill>
            <a:prstDash val="solid"/>
          </a:ln>
        </p:spPr>
      </p:sp>
      <p:sp>
        <p:nvSpPr>
          <p:cNvPr id="46" name="Text 44"/>
          <p:cNvSpPr/>
          <p:nvPr/>
        </p:nvSpPr>
        <p:spPr>
          <a:xfrm>
            <a:off x="3657600" y="2706624"/>
            <a:ext cx="987552"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Bartlett's Test</a:t>
            </a:r>
            <a:endParaRPr lang="en-US" sz="850" dirty="0"/>
          </a:p>
        </p:txBody>
      </p:sp>
      <p:sp>
        <p:nvSpPr>
          <p:cNvPr id="47" name="Shape 45"/>
          <p:cNvSpPr/>
          <p:nvPr/>
        </p:nvSpPr>
        <p:spPr>
          <a:xfrm>
            <a:off x="4645152" y="2706624"/>
            <a:ext cx="749808" cy="292608"/>
          </a:xfrm>
          <a:prstGeom prst="rect">
            <a:avLst/>
          </a:prstGeom>
          <a:solidFill>
            <a:srgbClr val="FFFFFF"/>
          </a:solidFill>
          <a:ln w="6350">
            <a:solidFill>
              <a:srgbClr val="C0C8E0"/>
            </a:solidFill>
            <a:prstDash val="solid"/>
          </a:ln>
        </p:spPr>
      </p:sp>
      <p:sp>
        <p:nvSpPr>
          <p:cNvPr id="48" name="Text 46"/>
          <p:cNvSpPr/>
          <p:nvPr/>
        </p:nvSpPr>
        <p:spPr>
          <a:xfrm>
            <a:off x="4645152" y="2706624"/>
            <a:ext cx="74980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p&lt;.001</a:t>
            </a:r>
            <a:endParaRPr lang="en-US" sz="850" dirty="0"/>
          </a:p>
        </p:txBody>
      </p:sp>
      <p:sp>
        <p:nvSpPr>
          <p:cNvPr id="49" name="Shape 47"/>
          <p:cNvSpPr/>
          <p:nvPr/>
        </p:nvSpPr>
        <p:spPr>
          <a:xfrm>
            <a:off x="5394960" y="2706624"/>
            <a:ext cx="731520" cy="292608"/>
          </a:xfrm>
          <a:prstGeom prst="rect">
            <a:avLst/>
          </a:prstGeom>
          <a:solidFill>
            <a:srgbClr val="FFFFFF"/>
          </a:solidFill>
          <a:ln w="6350">
            <a:solidFill>
              <a:srgbClr val="C0C8E0"/>
            </a:solidFill>
            <a:prstDash val="solid"/>
          </a:ln>
        </p:spPr>
      </p:sp>
      <p:sp>
        <p:nvSpPr>
          <p:cNvPr id="50" name="Text 48"/>
          <p:cNvSpPr/>
          <p:nvPr/>
        </p:nvSpPr>
        <p:spPr>
          <a:xfrm>
            <a:off x="5394960" y="2706624"/>
            <a:ext cx="73152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Significant OK</a:t>
            </a:r>
            <a:endParaRPr lang="en-US" sz="850" dirty="0"/>
          </a:p>
        </p:txBody>
      </p:sp>
      <p:sp>
        <p:nvSpPr>
          <p:cNvPr id="51" name="Shape 49"/>
          <p:cNvSpPr/>
          <p:nvPr/>
        </p:nvSpPr>
        <p:spPr>
          <a:xfrm>
            <a:off x="3657600" y="2999232"/>
            <a:ext cx="987552" cy="292608"/>
          </a:xfrm>
          <a:prstGeom prst="rect">
            <a:avLst/>
          </a:prstGeom>
          <a:solidFill>
            <a:srgbClr val="EAEEF8"/>
          </a:solidFill>
          <a:ln w="6350">
            <a:solidFill>
              <a:srgbClr val="C0C8E0"/>
            </a:solidFill>
            <a:prstDash val="solid"/>
          </a:ln>
        </p:spPr>
      </p:sp>
      <p:sp>
        <p:nvSpPr>
          <p:cNvPr id="52" name="Text 50"/>
          <p:cNvSpPr/>
          <p:nvPr/>
        </p:nvSpPr>
        <p:spPr>
          <a:xfrm>
            <a:off x="3657600" y="2999232"/>
            <a:ext cx="987552"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Min. sample</a:t>
            </a:r>
            <a:endParaRPr lang="en-US" sz="850" dirty="0"/>
          </a:p>
        </p:txBody>
      </p:sp>
      <p:sp>
        <p:nvSpPr>
          <p:cNvPr id="53" name="Shape 51"/>
          <p:cNvSpPr/>
          <p:nvPr/>
        </p:nvSpPr>
        <p:spPr>
          <a:xfrm>
            <a:off x="4645152" y="2999232"/>
            <a:ext cx="749808" cy="292608"/>
          </a:xfrm>
          <a:prstGeom prst="rect">
            <a:avLst/>
          </a:prstGeom>
          <a:solidFill>
            <a:srgbClr val="EAEEF8"/>
          </a:solidFill>
          <a:ln w="6350">
            <a:solidFill>
              <a:srgbClr val="C0C8E0"/>
            </a:solidFill>
            <a:prstDash val="solid"/>
          </a:ln>
        </p:spPr>
      </p:sp>
      <p:sp>
        <p:nvSpPr>
          <p:cNvPr id="54" name="Text 52"/>
          <p:cNvSpPr/>
          <p:nvPr/>
        </p:nvSpPr>
        <p:spPr>
          <a:xfrm>
            <a:off x="4645152" y="2999232"/>
            <a:ext cx="74980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n=450</a:t>
            </a:r>
            <a:endParaRPr lang="en-US" sz="850" dirty="0"/>
          </a:p>
        </p:txBody>
      </p:sp>
      <p:sp>
        <p:nvSpPr>
          <p:cNvPr id="55" name="Shape 53"/>
          <p:cNvSpPr/>
          <p:nvPr/>
        </p:nvSpPr>
        <p:spPr>
          <a:xfrm>
            <a:off x="5394960" y="2999232"/>
            <a:ext cx="731520" cy="292608"/>
          </a:xfrm>
          <a:prstGeom prst="rect">
            <a:avLst/>
          </a:prstGeom>
          <a:solidFill>
            <a:srgbClr val="EAEEF8"/>
          </a:solidFill>
          <a:ln w="6350">
            <a:solidFill>
              <a:srgbClr val="C0C8E0"/>
            </a:solidFill>
            <a:prstDash val="solid"/>
          </a:ln>
        </p:spPr>
      </p:sp>
      <p:sp>
        <p:nvSpPr>
          <p:cNvPr id="56" name="Text 54"/>
          <p:cNvSpPr/>
          <p:nvPr/>
        </p:nvSpPr>
        <p:spPr>
          <a:xfrm>
            <a:off x="5394960" y="2999232"/>
            <a:ext cx="73152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Adequate (&gt;10/item)</a:t>
            </a:r>
            <a:endParaRPr lang="en-US" sz="850" dirty="0"/>
          </a:p>
        </p:txBody>
      </p:sp>
      <p:sp>
        <p:nvSpPr>
          <p:cNvPr id="57" name="Text 55"/>
          <p:cNvSpPr/>
          <p:nvPr/>
        </p:nvSpPr>
        <p:spPr>
          <a:xfrm>
            <a:off x="3657600" y="3127248"/>
            <a:ext cx="2322576" cy="256032"/>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KMO &gt; .80 = meritorious. Bartlett's p &lt; .001 = correlations sufficient.</a:t>
            </a:r>
            <a:endParaRPr lang="en-US" sz="900" dirty="0"/>
          </a:p>
        </p:txBody>
      </p:sp>
      <p:sp>
        <p:nvSpPr>
          <p:cNvPr id="58" name="Shape 56"/>
          <p:cNvSpPr/>
          <p:nvPr/>
        </p:nvSpPr>
        <p:spPr>
          <a:xfrm>
            <a:off x="6144768" y="1682496"/>
            <a:ext cx="2743200" cy="3383280"/>
          </a:xfrm>
          <a:prstGeom prst="roundRect">
            <a:avLst>
              <a:gd name="adj" fmla="val 300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9" name="Shape 57"/>
          <p:cNvSpPr/>
          <p:nvPr/>
        </p:nvSpPr>
        <p:spPr>
          <a:xfrm>
            <a:off x="6217920" y="1755648"/>
            <a:ext cx="2596896" cy="329184"/>
          </a:xfrm>
          <a:prstGeom prst="roundRect">
            <a:avLst>
              <a:gd name="adj" fmla="val 16667"/>
            </a:avLst>
          </a:prstGeom>
          <a:solidFill>
            <a:srgbClr val="0A0F1E"/>
          </a:solidFill>
          <a:ln w="12700">
            <a:solidFill>
              <a:srgbClr val="0A0F1E"/>
            </a:solidFill>
            <a:prstDash val="solid"/>
          </a:ln>
        </p:spPr>
      </p:sp>
      <p:sp>
        <p:nvSpPr>
          <p:cNvPr id="60" name="Text 58"/>
          <p:cNvSpPr/>
          <p:nvPr/>
        </p:nvSpPr>
        <p:spPr>
          <a:xfrm>
            <a:off x="6217920" y="1755648"/>
            <a:ext cx="2596896" cy="329184"/>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Pattern Matrix (Factor Loadings)</a:t>
            </a:r>
            <a:endParaRPr lang="en-US" sz="1000" dirty="0"/>
          </a:p>
        </p:txBody>
      </p:sp>
      <p:sp>
        <p:nvSpPr>
          <p:cNvPr id="61" name="Shape 59"/>
          <p:cNvSpPr/>
          <p:nvPr/>
        </p:nvSpPr>
        <p:spPr>
          <a:xfrm>
            <a:off x="6217920" y="2121408"/>
            <a:ext cx="914400" cy="292608"/>
          </a:xfrm>
          <a:prstGeom prst="rect">
            <a:avLst/>
          </a:prstGeom>
          <a:solidFill>
            <a:srgbClr val="0A0F1E"/>
          </a:solidFill>
          <a:ln w="12700">
            <a:solidFill>
              <a:srgbClr val="0A0F1E"/>
            </a:solidFill>
            <a:prstDash val="solid"/>
          </a:ln>
        </p:spPr>
      </p:sp>
      <p:sp>
        <p:nvSpPr>
          <p:cNvPr id="62" name="Text 60"/>
          <p:cNvSpPr/>
          <p:nvPr/>
        </p:nvSpPr>
        <p:spPr>
          <a:xfrm>
            <a:off x="6217920" y="2121408"/>
            <a:ext cx="9144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a:t>
            </a:r>
            <a:endParaRPr lang="en-US" sz="850" dirty="0"/>
          </a:p>
        </p:txBody>
      </p:sp>
      <p:sp>
        <p:nvSpPr>
          <p:cNvPr id="63" name="Shape 61"/>
          <p:cNvSpPr/>
          <p:nvPr/>
        </p:nvSpPr>
        <p:spPr>
          <a:xfrm>
            <a:off x="7132320" y="2121408"/>
            <a:ext cx="896112" cy="292608"/>
          </a:xfrm>
          <a:prstGeom prst="rect">
            <a:avLst/>
          </a:prstGeom>
          <a:solidFill>
            <a:srgbClr val="0A0F1E"/>
          </a:solidFill>
          <a:ln w="12700">
            <a:solidFill>
              <a:srgbClr val="0A0F1E"/>
            </a:solidFill>
            <a:prstDash val="solid"/>
          </a:ln>
        </p:spPr>
      </p:sp>
      <p:sp>
        <p:nvSpPr>
          <p:cNvPr id="64" name="Text 62"/>
          <p:cNvSpPr/>
          <p:nvPr/>
        </p:nvSpPr>
        <p:spPr>
          <a:xfrm>
            <a:off x="7132320" y="2121408"/>
            <a:ext cx="89611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F1 Serv</a:t>
            </a:r>
            <a:endParaRPr lang="en-US" sz="850" dirty="0"/>
          </a:p>
        </p:txBody>
      </p:sp>
      <p:sp>
        <p:nvSpPr>
          <p:cNvPr id="65" name="Shape 63"/>
          <p:cNvSpPr/>
          <p:nvPr/>
        </p:nvSpPr>
        <p:spPr>
          <a:xfrm>
            <a:off x="8028432" y="2121408"/>
            <a:ext cx="859536" cy="292608"/>
          </a:xfrm>
          <a:prstGeom prst="rect">
            <a:avLst/>
          </a:prstGeom>
          <a:solidFill>
            <a:srgbClr val="0A0F1E"/>
          </a:solidFill>
          <a:ln w="12700">
            <a:solidFill>
              <a:srgbClr val="0A0F1E"/>
            </a:solidFill>
            <a:prstDash val="solid"/>
          </a:ln>
        </p:spPr>
      </p:sp>
      <p:sp>
        <p:nvSpPr>
          <p:cNvPr id="66" name="Text 64"/>
          <p:cNvSpPr/>
          <p:nvPr/>
        </p:nvSpPr>
        <p:spPr>
          <a:xfrm>
            <a:off x="8028432" y="2121408"/>
            <a:ext cx="85953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F2 Prod</a:t>
            </a:r>
            <a:endParaRPr lang="en-US" sz="850" dirty="0"/>
          </a:p>
        </p:txBody>
      </p:sp>
      <p:sp>
        <p:nvSpPr>
          <p:cNvPr id="67" name="Shape 65"/>
          <p:cNvSpPr/>
          <p:nvPr/>
        </p:nvSpPr>
        <p:spPr>
          <a:xfrm>
            <a:off x="6217920" y="2414016"/>
            <a:ext cx="914400" cy="292608"/>
          </a:xfrm>
          <a:prstGeom prst="rect">
            <a:avLst/>
          </a:prstGeom>
          <a:solidFill>
            <a:srgbClr val="EAEEF8"/>
          </a:solidFill>
          <a:ln w="6350">
            <a:solidFill>
              <a:srgbClr val="C0C8E0"/>
            </a:solidFill>
            <a:prstDash val="solid"/>
          </a:ln>
        </p:spPr>
      </p:sp>
      <p:sp>
        <p:nvSpPr>
          <p:cNvPr id="68" name="Text 66"/>
          <p:cNvSpPr/>
          <p:nvPr/>
        </p:nvSpPr>
        <p:spPr>
          <a:xfrm>
            <a:off x="6217920" y="2414016"/>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q1_staff_resp</a:t>
            </a:r>
            <a:endParaRPr lang="en-US" sz="850" dirty="0"/>
          </a:p>
        </p:txBody>
      </p:sp>
      <p:sp>
        <p:nvSpPr>
          <p:cNvPr id="69" name="Shape 67"/>
          <p:cNvSpPr/>
          <p:nvPr/>
        </p:nvSpPr>
        <p:spPr>
          <a:xfrm>
            <a:off x="7132320" y="2414016"/>
            <a:ext cx="896112" cy="292608"/>
          </a:xfrm>
          <a:prstGeom prst="rect">
            <a:avLst/>
          </a:prstGeom>
          <a:solidFill>
            <a:srgbClr val="D8E8FF"/>
          </a:solidFill>
          <a:ln w="6350">
            <a:solidFill>
              <a:srgbClr val="C0C8E0"/>
            </a:solidFill>
            <a:prstDash val="solid"/>
          </a:ln>
        </p:spPr>
      </p:sp>
      <p:sp>
        <p:nvSpPr>
          <p:cNvPr id="70" name="Text 68"/>
          <p:cNvSpPr/>
          <p:nvPr/>
        </p:nvSpPr>
        <p:spPr>
          <a:xfrm>
            <a:off x="7132320" y="2414016"/>
            <a:ext cx="89611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.821</a:t>
            </a:r>
            <a:endParaRPr lang="en-US" sz="850" dirty="0"/>
          </a:p>
        </p:txBody>
      </p:sp>
      <p:sp>
        <p:nvSpPr>
          <p:cNvPr id="71" name="Shape 69"/>
          <p:cNvSpPr/>
          <p:nvPr/>
        </p:nvSpPr>
        <p:spPr>
          <a:xfrm>
            <a:off x="8028432" y="2414016"/>
            <a:ext cx="859536" cy="292608"/>
          </a:xfrm>
          <a:prstGeom prst="rect">
            <a:avLst/>
          </a:prstGeom>
          <a:solidFill>
            <a:srgbClr val="EAEEF8"/>
          </a:solidFill>
          <a:ln w="6350">
            <a:solidFill>
              <a:srgbClr val="C0C8E0"/>
            </a:solidFill>
            <a:prstDash val="solid"/>
          </a:ln>
        </p:spPr>
      </p:sp>
      <p:sp>
        <p:nvSpPr>
          <p:cNvPr id="72" name="Text 70"/>
          <p:cNvSpPr/>
          <p:nvPr/>
        </p:nvSpPr>
        <p:spPr>
          <a:xfrm>
            <a:off x="8028432" y="2414016"/>
            <a:ext cx="85953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.062</a:t>
            </a:r>
            <a:endParaRPr lang="en-US" sz="850" dirty="0"/>
          </a:p>
        </p:txBody>
      </p:sp>
      <p:sp>
        <p:nvSpPr>
          <p:cNvPr id="73" name="Shape 71"/>
          <p:cNvSpPr/>
          <p:nvPr/>
        </p:nvSpPr>
        <p:spPr>
          <a:xfrm>
            <a:off x="6217920" y="2706624"/>
            <a:ext cx="914400" cy="292608"/>
          </a:xfrm>
          <a:prstGeom prst="rect">
            <a:avLst/>
          </a:prstGeom>
          <a:solidFill>
            <a:srgbClr val="FFFFFF"/>
          </a:solidFill>
          <a:ln w="6350">
            <a:solidFill>
              <a:srgbClr val="C0C8E0"/>
            </a:solidFill>
            <a:prstDash val="solid"/>
          </a:ln>
        </p:spPr>
      </p:sp>
      <p:sp>
        <p:nvSpPr>
          <p:cNvPr id="74" name="Text 72"/>
          <p:cNvSpPr/>
          <p:nvPr/>
        </p:nvSpPr>
        <p:spPr>
          <a:xfrm>
            <a:off x="6217920" y="2706624"/>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q2_problem_res</a:t>
            </a:r>
            <a:endParaRPr lang="en-US" sz="850" dirty="0"/>
          </a:p>
        </p:txBody>
      </p:sp>
      <p:sp>
        <p:nvSpPr>
          <p:cNvPr id="75" name="Shape 73"/>
          <p:cNvSpPr/>
          <p:nvPr/>
        </p:nvSpPr>
        <p:spPr>
          <a:xfrm>
            <a:off x="7132320" y="2706624"/>
            <a:ext cx="896112" cy="292608"/>
          </a:xfrm>
          <a:prstGeom prst="rect">
            <a:avLst/>
          </a:prstGeom>
          <a:solidFill>
            <a:srgbClr val="D8E8FF"/>
          </a:solidFill>
          <a:ln w="6350">
            <a:solidFill>
              <a:srgbClr val="C0C8E0"/>
            </a:solidFill>
            <a:prstDash val="solid"/>
          </a:ln>
        </p:spPr>
      </p:sp>
      <p:sp>
        <p:nvSpPr>
          <p:cNvPr id="76" name="Text 74"/>
          <p:cNvSpPr/>
          <p:nvPr/>
        </p:nvSpPr>
        <p:spPr>
          <a:xfrm>
            <a:off x="7132320" y="2706624"/>
            <a:ext cx="89611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.798</a:t>
            </a:r>
            <a:endParaRPr lang="en-US" sz="850" dirty="0"/>
          </a:p>
        </p:txBody>
      </p:sp>
      <p:sp>
        <p:nvSpPr>
          <p:cNvPr id="77" name="Shape 75"/>
          <p:cNvSpPr/>
          <p:nvPr/>
        </p:nvSpPr>
        <p:spPr>
          <a:xfrm>
            <a:off x="8028432" y="2706624"/>
            <a:ext cx="859536" cy="292608"/>
          </a:xfrm>
          <a:prstGeom prst="rect">
            <a:avLst/>
          </a:prstGeom>
          <a:solidFill>
            <a:srgbClr val="FFFFFF"/>
          </a:solidFill>
          <a:ln w="6350">
            <a:solidFill>
              <a:srgbClr val="C0C8E0"/>
            </a:solidFill>
            <a:prstDash val="solid"/>
          </a:ln>
        </p:spPr>
      </p:sp>
      <p:sp>
        <p:nvSpPr>
          <p:cNvPr id="78" name="Text 76"/>
          <p:cNvSpPr/>
          <p:nvPr/>
        </p:nvSpPr>
        <p:spPr>
          <a:xfrm>
            <a:off x="8028432" y="2706624"/>
            <a:ext cx="85953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.114</a:t>
            </a:r>
            <a:endParaRPr lang="en-US" sz="850" dirty="0"/>
          </a:p>
        </p:txBody>
      </p:sp>
      <p:sp>
        <p:nvSpPr>
          <p:cNvPr id="79" name="Shape 77"/>
          <p:cNvSpPr/>
          <p:nvPr/>
        </p:nvSpPr>
        <p:spPr>
          <a:xfrm>
            <a:off x="6217920" y="2999232"/>
            <a:ext cx="914400" cy="292608"/>
          </a:xfrm>
          <a:prstGeom prst="rect">
            <a:avLst/>
          </a:prstGeom>
          <a:solidFill>
            <a:srgbClr val="EAEEF8"/>
          </a:solidFill>
          <a:ln w="6350">
            <a:solidFill>
              <a:srgbClr val="C0C8E0"/>
            </a:solidFill>
            <a:prstDash val="solid"/>
          </a:ln>
        </p:spPr>
      </p:sp>
      <p:sp>
        <p:nvSpPr>
          <p:cNvPr id="80" name="Text 78"/>
          <p:cNvSpPr/>
          <p:nvPr/>
        </p:nvSpPr>
        <p:spPr>
          <a:xfrm>
            <a:off x="6217920" y="2999232"/>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q3_waiting_time</a:t>
            </a:r>
            <a:endParaRPr lang="en-US" sz="850" dirty="0"/>
          </a:p>
        </p:txBody>
      </p:sp>
      <p:sp>
        <p:nvSpPr>
          <p:cNvPr id="81" name="Shape 79"/>
          <p:cNvSpPr/>
          <p:nvPr/>
        </p:nvSpPr>
        <p:spPr>
          <a:xfrm>
            <a:off x="7132320" y="2999232"/>
            <a:ext cx="896112" cy="292608"/>
          </a:xfrm>
          <a:prstGeom prst="rect">
            <a:avLst/>
          </a:prstGeom>
          <a:solidFill>
            <a:srgbClr val="D8E8FF"/>
          </a:solidFill>
          <a:ln w="6350">
            <a:solidFill>
              <a:srgbClr val="C0C8E0"/>
            </a:solidFill>
            <a:prstDash val="solid"/>
          </a:ln>
        </p:spPr>
      </p:sp>
      <p:sp>
        <p:nvSpPr>
          <p:cNvPr id="82" name="Text 80"/>
          <p:cNvSpPr/>
          <p:nvPr/>
        </p:nvSpPr>
        <p:spPr>
          <a:xfrm>
            <a:off x="7132320" y="2999232"/>
            <a:ext cx="89611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.712</a:t>
            </a:r>
            <a:endParaRPr lang="en-US" sz="850" dirty="0"/>
          </a:p>
        </p:txBody>
      </p:sp>
      <p:sp>
        <p:nvSpPr>
          <p:cNvPr id="83" name="Shape 81"/>
          <p:cNvSpPr/>
          <p:nvPr/>
        </p:nvSpPr>
        <p:spPr>
          <a:xfrm>
            <a:off x="8028432" y="2999232"/>
            <a:ext cx="859536" cy="292608"/>
          </a:xfrm>
          <a:prstGeom prst="rect">
            <a:avLst/>
          </a:prstGeom>
          <a:solidFill>
            <a:srgbClr val="EAEEF8"/>
          </a:solidFill>
          <a:ln w="6350">
            <a:solidFill>
              <a:srgbClr val="C0C8E0"/>
            </a:solidFill>
            <a:prstDash val="solid"/>
          </a:ln>
        </p:spPr>
      </p:sp>
      <p:sp>
        <p:nvSpPr>
          <p:cNvPr id="84" name="Text 82"/>
          <p:cNvSpPr/>
          <p:nvPr/>
        </p:nvSpPr>
        <p:spPr>
          <a:xfrm>
            <a:off x="8028432" y="2999232"/>
            <a:ext cx="85953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-.082</a:t>
            </a:r>
            <a:endParaRPr lang="en-US" sz="850" dirty="0"/>
          </a:p>
        </p:txBody>
      </p:sp>
      <p:sp>
        <p:nvSpPr>
          <p:cNvPr id="85" name="Shape 83"/>
          <p:cNvSpPr/>
          <p:nvPr/>
        </p:nvSpPr>
        <p:spPr>
          <a:xfrm>
            <a:off x="6217920" y="3291840"/>
            <a:ext cx="914400" cy="292608"/>
          </a:xfrm>
          <a:prstGeom prst="rect">
            <a:avLst/>
          </a:prstGeom>
          <a:solidFill>
            <a:srgbClr val="FFFFFF"/>
          </a:solidFill>
          <a:ln w="6350">
            <a:solidFill>
              <a:srgbClr val="C0C8E0"/>
            </a:solidFill>
            <a:prstDash val="solid"/>
          </a:ln>
        </p:spPr>
      </p:sp>
      <p:sp>
        <p:nvSpPr>
          <p:cNvPr id="86" name="Text 84"/>
          <p:cNvSpPr/>
          <p:nvPr/>
        </p:nvSpPr>
        <p:spPr>
          <a:xfrm>
            <a:off x="6217920" y="3291840"/>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q4_staff_know</a:t>
            </a:r>
            <a:endParaRPr lang="en-US" sz="850" dirty="0"/>
          </a:p>
        </p:txBody>
      </p:sp>
      <p:sp>
        <p:nvSpPr>
          <p:cNvPr id="87" name="Shape 85"/>
          <p:cNvSpPr/>
          <p:nvPr/>
        </p:nvSpPr>
        <p:spPr>
          <a:xfrm>
            <a:off x="7132320" y="3291840"/>
            <a:ext cx="896112" cy="292608"/>
          </a:xfrm>
          <a:prstGeom prst="rect">
            <a:avLst/>
          </a:prstGeom>
          <a:solidFill>
            <a:srgbClr val="D8E8FF"/>
          </a:solidFill>
          <a:ln w="6350">
            <a:solidFill>
              <a:srgbClr val="C0C8E0"/>
            </a:solidFill>
            <a:prstDash val="solid"/>
          </a:ln>
        </p:spPr>
      </p:sp>
      <p:sp>
        <p:nvSpPr>
          <p:cNvPr id="88" name="Text 86"/>
          <p:cNvSpPr/>
          <p:nvPr/>
        </p:nvSpPr>
        <p:spPr>
          <a:xfrm>
            <a:off x="7132320" y="3291840"/>
            <a:ext cx="89611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.681</a:t>
            </a:r>
            <a:endParaRPr lang="en-US" sz="850" dirty="0"/>
          </a:p>
        </p:txBody>
      </p:sp>
      <p:sp>
        <p:nvSpPr>
          <p:cNvPr id="89" name="Shape 87"/>
          <p:cNvSpPr/>
          <p:nvPr/>
        </p:nvSpPr>
        <p:spPr>
          <a:xfrm>
            <a:off x="8028432" y="3291840"/>
            <a:ext cx="859536" cy="292608"/>
          </a:xfrm>
          <a:prstGeom prst="rect">
            <a:avLst/>
          </a:prstGeom>
          <a:solidFill>
            <a:srgbClr val="FFFFFF"/>
          </a:solidFill>
          <a:ln w="6350">
            <a:solidFill>
              <a:srgbClr val="C0C8E0"/>
            </a:solidFill>
            <a:prstDash val="solid"/>
          </a:ln>
        </p:spPr>
      </p:sp>
      <p:sp>
        <p:nvSpPr>
          <p:cNvPr id="90" name="Text 88"/>
          <p:cNvSpPr/>
          <p:nvPr/>
        </p:nvSpPr>
        <p:spPr>
          <a:xfrm>
            <a:off x="8028432" y="3291840"/>
            <a:ext cx="85953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.142</a:t>
            </a:r>
            <a:endParaRPr lang="en-US" sz="850" dirty="0"/>
          </a:p>
        </p:txBody>
      </p:sp>
      <p:sp>
        <p:nvSpPr>
          <p:cNvPr id="91" name="Shape 89"/>
          <p:cNvSpPr/>
          <p:nvPr/>
        </p:nvSpPr>
        <p:spPr>
          <a:xfrm>
            <a:off x="6217920" y="3584448"/>
            <a:ext cx="914400" cy="292608"/>
          </a:xfrm>
          <a:prstGeom prst="rect">
            <a:avLst/>
          </a:prstGeom>
          <a:solidFill>
            <a:srgbClr val="EAEEF8"/>
          </a:solidFill>
          <a:ln w="6350">
            <a:solidFill>
              <a:srgbClr val="C0C8E0"/>
            </a:solidFill>
            <a:prstDash val="solid"/>
          </a:ln>
        </p:spPr>
      </p:sp>
      <p:sp>
        <p:nvSpPr>
          <p:cNvPr id="92" name="Text 90"/>
          <p:cNvSpPr/>
          <p:nvPr/>
        </p:nvSpPr>
        <p:spPr>
          <a:xfrm>
            <a:off x="6217920" y="3584448"/>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q5_complaint</a:t>
            </a:r>
            <a:endParaRPr lang="en-US" sz="850" dirty="0"/>
          </a:p>
        </p:txBody>
      </p:sp>
      <p:sp>
        <p:nvSpPr>
          <p:cNvPr id="93" name="Shape 91"/>
          <p:cNvSpPr/>
          <p:nvPr/>
        </p:nvSpPr>
        <p:spPr>
          <a:xfrm>
            <a:off x="7132320" y="3584448"/>
            <a:ext cx="896112" cy="292608"/>
          </a:xfrm>
          <a:prstGeom prst="rect">
            <a:avLst/>
          </a:prstGeom>
          <a:solidFill>
            <a:srgbClr val="D8E8FF"/>
          </a:solidFill>
          <a:ln w="6350">
            <a:solidFill>
              <a:srgbClr val="C0C8E0"/>
            </a:solidFill>
            <a:prstDash val="solid"/>
          </a:ln>
        </p:spPr>
      </p:sp>
      <p:sp>
        <p:nvSpPr>
          <p:cNvPr id="94" name="Text 92"/>
          <p:cNvSpPr/>
          <p:nvPr/>
        </p:nvSpPr>
        <p:spPr>
          <a:xfrm>
            <a:off x="7132320" y="3584448"/>
            <a:ext cx="896112"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.618</a:t>
            </a:r>
            <a:endParaRPr lang="en-US" sz="850" dirty="0"/>
          </a:p>
        </p:txBody>
      </p:sp>
      <p:sp>
        <p:nvSpPr>
          <p:cNvPr id="95" name="Shape 93"/>
          <p:cNvSpPr/>
          <p:nvPr/>
        </p:nvSpPr>
        <p:spPr>
          <a:xfrm>
            <a:off x="8028432" y="3584448"/>
            <a:ext cx="859536" cy="292608"/>
          </a:xfrm>
          <a:prstGeom prst="rect">
            <a:avLst/>
          </a:prstGeom>
          <a:solidFill>
            <a:srgbClr val="EAEEF8"/>
          </a:solidFill>
          <a:ln w="6350">
            <a:solidFill>
              <a:srgbClr val="C0C8E0"/>
            </a:solidFill>
            <a:prstDash val="solid"/>
          </a:ln>
        </p:spPr>
      </p:sp>
      <p:sp>
        <p:nvSpPr>
          <p:cNvPr id="96" name="Text 94"/>
          <p:cNvSpPr/>
          <p:nvPr/>
        </p:nvSpPr>
        <p:spPr>
          <a:xfrm>
            <a:off x="8028432" y="3584448"/>
            <a:ext cx="85953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.088</a:t>
            </a:r>
            <a:endParaRPr lang="en-US" sz="850" dirty="0"/>
          </a:p>
        </p:txBody>
      </p:sp>
      <p:sp>
        <p:nvSpPr>
          <p:cNvPr id="97" name="Shape 95"/>
          <p:cNvSpPr/>
          <p:nvPr/>
        </p:nvSpPr>
        <p:spPr>
          <a:xfrm>
            <a:off x="6217920" y="3877056"/>
            <a:ext cx="914400" cy="292608"/>
          </a:xfrm>
          <a:prstGeom prst="rect">
            <a:avLst/>
          </a:prstGeom>
          <a:solidFill>
            <a:srgbClr val="FFFFFF"/>
          </a:solidFill>
          <a:ln w="6350">
            <a:solidFill>
              <a:srgbClr val="C0C8E0"/>
            </a:solidFill>
            <a:prstDash val="solid"/>
          </a:ln>
        </p:spPr>
      </p:sp>
      <p:sp>
        <p:nvSpPr>
          <p:cNvPr id="98" name="Text 96"/>
          <p:cNvSpPr/>
          <p:nvPr/>
        </p:nvSpPr>
        <p:spPr>
          <a:xfrm>
            <a:off x="6217920" y="3877056"/>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q6_taste</a:t>
            </a:r>
            <a:endParaRPr lang="en-US" sz="850" dirty="0"/>
          </a:p>
        </p:txBody>
      </p:sp>
      <p:sp>
        <p:nvSpPr>
          <p:cNvPr id="99" name="Shape 97"/>
          <p:cNvSpPr/>
          <p:nvPr/>
        </p:nvSpPr>
        <p:spPr>
          <a:xfrm>
            <a:off x="7132320" y="3877056"/>
            <a:ext cx="896112" cy="292608"/>
          </a:xfrm>
          <a:prstGeom prst="rect">
            <a:avLst/>
          </a:prstGeom>
          <a:solidFill>
            <a:srgbClr val="FFFFFF"/>
          </a:solidFill>
          <a:ln w="6350">
            <a:solidFill>
              <a:srgbClr val="C0C8E0"/>
            </a:solidFill>
            <a:prstDash val="solid"/>
          </a:ln>
        </p:spPr>
      </p:sp>
      <p:sp>
        <p:nvSpPr>
          <p:cNvPr id="100" name="Text 98"/>
          <p:cNvSpPr/>
          <p:nvPr/>
        </p:nvSpPr>
        <p:spPr>
          <a:xfrm>
            <a:off x="7132320" y="3877056"/>
            <a:ext cx="8961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-.054</a:t>
            </a:r>
            <a:endParaRPr lang="en-US" sz="850" dirty="0"/>
          </a:p>
        </p:txBody>
      </p:sp>
      <p:sp>
        <p:nvSpPr>
          <p:cNvPr id="101" name="Shape 99"/>
          <p:cNvSpPr/>
          <p:nvPr/>
        </p:nvSpPr>
        <p:spPr>
          <a:xfrm>
            <a:off x="8028432" y="3877056"/>
            <a:ext cx="859536" cy="292608"/>
          </a:xfrm>
          <a:prstGeom prst="rect">
            <a:avLst/>
          </a:prstGeom>
          <a:solidFill>
            <a:srgbClr val="D8E8FF"/>
          </a:solidFill>
          <a:ln w="6350">
            <a:solidFill>
              <a:srgbClr val="C0C8E0"/>
            </a:solidFill>
            <a:prstDash val="solid"/>
          </a:ln>
        </p:spPr>
      </p:sp>
      <p:sp>
        <p:nvSpPr>
          <p:cNvPr id="102" name="Text 100"/>
          <p:cNvSpPr/>
          <p:nvPr/>
        </p:nvSpPr>
        <p:spPr>
          <a:xfrm>
            <a:off x="8028432" y="3877056"/>
            <a:ext cx="85953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.836</a:t>
            </a:r>
            <a:endParaRPr lang="en-US" sz="850" dirty="0"/>
          </a:p>
        </p:txBody>
      </p:sp>
      <p:sp>
        <p:nvSpPr>
          <p:cNvPr id="103" name="Shape 101"/>
          <p:cNvSpPr/>
          <p:nvPr/>
        </p:nvSpPr>
        <p:spPr>
          <a:xfrm>
            <a:off x="6217920" y="4169664"/>
            <a:ext cx="914400" cy="292608"/>
          </a:xfrm>
          <a:prstGeom prst="rect">
            <a:avLst/>
          </a:prstGeom>
          <a:solidFill>
            <a:srgbClr val="EAEEF8"/>
          </a:solidFill>
          <a:ln w="6350">
            <a:solidFill>
              <a:srgbClr val="C0C8E0"/>
            </a:solidFill>
            <a:prstDash val="solid"/>
          </a:ln>
        </p:spPr>
      </p:sp>
      <p:sp>
        <p:nvSpPr>
          <p:cNvPr id="104" name="Text 102"/>
          <p:cNvSpPr/>
          <p:nvPr/>
        </p:nvSpPr>
        <p:spPr>
          <a:xfrm>
            <a:off x="6217920" y="4169664"/>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q7_freshness</a:t>
            </a:r>
            <a:endParaRPr lang="en-US" sz="850" dirty="0"/>
          </a:p>
        </p:txBody>
      </p:sp>
      <p:sp>
        <p:nvSpPr>
          <p:cNvPr id="105" name="Shape 103"/>
          <p:cNvSpPr/>
          <p:nvPr/>
        </p:nvSpPr>
        <p:spPr>
          <a:xfrm>
            <a:off x="7132320" y="4169664"/>
            <a:ext cx="896112" cy="292608"/>
          </a:xfrm>
          <a:prstGeom prst="rect">
            <a:avLst/>
          </a:prstGeom>
          <a:solidFill>
            <a:srgbClr val="EAEEF8"/>
          </a:solidFill>
          <a:ln w="6350">
            <a:solidFill>
              <a:srgbClr val="C0C8E0"/>
            </a:solidFill>
            <a:prstDash val="solid"/>
          </a:ln>
        </p:spPr>
      </p:sp>
      <p:sp>
        <p:nvSpPr>
          <p:cNvPr id="106" name="Text 104"/>
          <p:cNvSpPr/>
          <p:nvPr/>
        </p:nvSpPr>
        <p:spPr>
          <a:xfrm>
            <a:off x="7132320" y="4169664"/>
            <a:ext cx="8961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.091</a:t>
            </a:r>
            <a:endParaRPr lang="en-US" sz="850" dirty="0"/>
          </a:p>
        </p:txBody>
      </p:sp>
      <p:sp>
        <p:nvSpPr>
          <p:cNvPr id="107" name="Shape 105"/>
          <p:cNvSpPr/>
          <p:nvPr/>
        </p:nvSpPr>
        <p:spPr>
          <a:xfrm>
            <a:off x="8028432" y="4169664"/>
            <a:ext cx="859536" cy="292608"/>
          </a:xfrm>
          <a:prstGeom prst="rect">
            <a:avLst/>
          </a:prstGeom>
          <a:solidFill>
            <a:srgbClr val="D8E8FF"/>
          </a:solidFill>
          <a:ln w="6350">
            <a:solidFill>
              <a:srgbClr val="C0C8E0"/>
            </a:solidFill>
            <a:prstDash val="solid"/>
          </a:ln>
        </p:spPr>
      </p:sp>
      <p:sp>
        <p:nvSpPr>
          <p:cNvPr id="108" name="Text 106"/>
          <p:cNvSpPr/>
          <p:nvPr/>
        </p:nvSpPr>
        <p:spPr>
          <a:xfrm>
            <a:off x="8028432" y="4169664"/>
            <a:ext cx="85953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.812</a:t>
            </a:r>
            <a:endParaRPr lang="en-US" sz="850" dirty="0"/>
          </a:p>
        </p:txBody>
      </p:sp>
      <p:sp>
        <p:nvSpPr>
          <p:cNvPr id="109" name="Shape 107"/>
          <p:cNvSpPr/>
          <p:nvPr/>
        </p:nvSpPr>
        <p:spPr>
          <a:xfrm>
            <a:off x="6217920" y="4462272"/>
            <a:ext cx="914400" cy="292608"/>
          </a:xfrm>
          <a:prstGeom prst="rect">
            <a:avLst/>
          </a:prstGeom>
          <a:solidFill>
            <a:srgbClr val="FFFFFF"/>
          </a:solidFill>
          <a:ln w="6350">
            <a:solidFill>
              <a:srgbClr val="C0C8E0"/>
            </a:solidFill>
            <a:prstDash val="solid"/>
          </a:ln>
        </p:spPr>
      </p:sp>
      <p:sp>
        <p:nvSpPr>
          <p:cNvPr id="110" name="Text 108"/>
          <p:cNvSpPr/>
          <p:nvPr/>
        </p:nvSpPr>
        <p:spPr>
          <a:xfrm>
            <a:off x="6217920" y="4462272"/>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q8_packaging</a:t>
            </a:r>
            <a:endParaRPr lang="en-US" sz="850" dirty="0"/>
          </a:p>
        </p:txBody>
      </p:sp>
      <p:sp>
        <p:nvSpPr>
          <p:cNvPr id="111" name="Shape 109"/>
          <p:cNvSpPr/>
          <p:nvPr/>
        </p:nvSpPr>
        <p:spPr>
          <a:xfrm>
            <a:off x="7132320" y="4462272"/>
            <a:ext cx="896112" cy="292608"/>
          </a:xfrm>
          <a:prstGeom prst="rect">
            <a:avLst/>
          </a:prstGeom>
          <a:solidFill>
            <a:srgbClr val="FFFFFF"/>
          </a:solidFill>
          <a:ln w="6350">
            <a:solidFill>
              <a:srgbClr val="C0C8E0"/>
            </a:solidFill>
            <a:prstDash val="solid"/>
          </a:ln>
        </p:spPr>
      </p:sp>
      <p:sp>
        <p:nvSpPr>
          <p:cNvPr id="112" name="Text 110"/>
          <p:cNvSpPr/>
          <p:nvPr/>
        </p:nvSpPr>
        <p:spPr>
          <a:xfrm>
            <a:off x="7132320" y="4462272"/>
            <a:ext cx="8961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.132</a:t>
            </a:r>
            <a:endParaRPr lang="en-US" sz="850" dirty="0"/>
          </a:p>
        </p:txBody>
      </p:sp>
      <p:sp>
        <p:nvSpPr>
          <p:cNvPr id="113" name="Shape 111"/>
          <p:cNvSpPr/>
          <p:nvPr/>
        </p:nvSpPr>
        <p:spPr>
          <a:xfrm>
            <a:off x="8028432" y="4462272"/>
            <a:ext cx="859536" cy="292608"/>
          </a:xfrm>
          <a:prstGeom prst="rect">
            <a:avLst/>
          </a:prstGeom>
          <a:solidFill>
            <a:srgbClr val="D8E8FF"/>
          </a:solidFill>
          <a:ln w="6350">
            <a:solidFill>
              <a:srgbClr val="C0C8E0"/>
            </a:solidFill>
            <a:prstDash val="solid"/>
          </a:ln>
        </p:spPr>
      </p:sp>
      <p:sp>
        <p:nvSpPr>
          <p:cNvPr id="114" name="Text 112"/>
          <p:cNvSpPr/>
          <p:nvPr/>
        </p:nvSpPr>
        <p:spPr>
          <a:xfrm>
            <a:off x="8028432" y="4462272"/>
            <a:ext cx="85953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.768</a:t>
            </a:r>
            <a:endParaRPr lang="en-US" sz="850" dirty="0"/>
          </a:p>
        </p:txBody>
      </p:sp>
      <p:sp>
        <p:nvSpPr>
          <p:cNvPr id="115" name="Shape 113"/>
          <p:cNvSpPr/>
          <p:nvPr/>
        </p:nvSpPr>
        <p:spPr>
          <a:xfrm>
            <a:off x="6217920" y="4754880"/>
            <a:ext cx="914400" cy="292608"/>
          </a:xfrm>
          <a:prstGeom prst="rect">
            <a:avLst/>
          </a:prstGeom>
          <a:solidFill>
            <a:srgbClr val="EAEEF8"/>
          </a:solidFill>
          <a:ln w="6350">
            <a:solidFill>
              <a:srgbClr val="C0C8E0"/>
            </a:solidFill>
            <a:prstDash val="solid"/>
          </a:ln>
        </p:spPr>
      </p:sp>
      <p:sp>
        <p:nvSpPr>
          <p:cNvPr id="116" name="Text 114"/>
          <p:cNvSpPr/>
          <p:nvPr/>
        </p:nvSpPr>
        <p:spPr>
          <a:xfrm>
            <a:off x="6217920" y="4754880"/>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q9_value</a:t>
            </a:r>
            <a:endParaRPr lang="en-US" sz="850" dirty="0"/>
          </a:p>
        </p:txBody>
      </p:sp>
      <p:sp>
        <p:nvSpPr>
          <p:cNvPr id="117" name="Shape 115"/>
          <p:cNvSpPr/>
          <p:nvPr/>
        </p:nvSpPr>
        <p:spPr>
          <a:xfrm>
            <a:off x="7132320" y="4754880"/>
            <a:ext cx="896112" cy="292608"/>
          </a:xfrm>
          <a:prstGeom prst="rect">
            <a:avLst/>
          </a:prstGeom>
          <a:solidFill>
            <a:srgbClr val="EAEEF8"/>
          </a:solidFill>
          <a:ln w="6350">
            <a:solidFill>
              <a:srgbClr val="C0C8E0"/>
            </a:solidFill>
            <a:prstDash val="solid"/>
          </a:ln>
        </p:spPr>
      </p:sp>
      <p:sp>
        <p:nvSpPr>
          <p:cNvPr id="118" name="Text 116"/>
          <p:cNvSpPr/>
          <p:nvPr/>
        </p:nvSpPr>
        <p:spPr>
          <a:xfrm>
            <a:off x="7132320" y="4754880"/>
            <a:ext cx="8961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.215</a:t>
            </a:r>
            <a:endParaRPr lang="en-US" sz="850" dirty="0"/>
          </a:p>
        </p:txBody>
      </p:sp>
      <p:sp>
        <p:nvSpPr>
          <p:cNvPr id="119" name="Shape 117"/>
          <p:cNvSpPr/>
          <p:nvPr/>
        </p:nvSpPr>
        <p:spPr>
          <a:xfrm>
            <a:off x="8028432" y="4754880"/>
            <a:ext cx="859536" cy="292608"/>
          </a:xfrm>
          <a:prstGeom prst="rect">
            <a:avLst/>
          </a:prstGeom>
          <a:solidFill>
            <a:srgbClr val="D8E8FF"/>
          </a:solidFill>
          <a:ln w="6350">
            <a:solidFill>
              <a:srgbClr val="C0C8E0"/>
            </a:solidFill>
            <a:prstDash val="solid"/>
          </a:ln>
        </p:spPr>
      </p:sp>
      <p:sp>
        <p:nvSpPr>
          <p:cNvPr id="120" name="Text 118"/>
          <p:cNvSpPr/>
          <p:nvPr/>
        </p:nvSpPr>
        <p:spPr>
          <a:xfrm>
            <a:off x="8028432" y="4754880"/>
            <a:ext cx="85953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.644</a:t>
            </a:r>
            <a:endParaRPr lang="en-US" sz="850" dirty="0"/>
          </a:p>
        </p:txBody>
      </p:sp>
      <p:sp>
        <p:nvSpPr>
          <p:cNvPr id="121" name="Shape 119"/>
          <p:cNvSpPr/>
          <p:nvPr/>
        </p:nvSpPr>
        <p:spPr>
          <a:xfrm>
            <a:off x="6217920" y="5047488"/>
            <a:ext cx="914400" cy="292608"/>
          </a:xfrm>
          <a:prstGeom prst="rect">
            <a:avLst/>
          </a:prstGeom>
          <a:solidFill>
            <a:srgbClr val="FFFFFF"/>
          </a:solidFill>
          <a:ln w="6350">
            <a:solidFill>
              <a:srgbClr val="C0C8E0"/>
            </a:solidFill>
            <a:prstDash val="solid"/>
          </a:ln>
        </p:spPr>
      </p:sp>
      <p:sp>
        <p:nvSpPr>
          <p:cNvPr id="122" name="Text 120"/>
          <p:cNvSpPr/>
          <p:nvPr/>
        </p:nvSpPr>
        <p:spPr>
          <a:xfrm>
            <a:off x="6217920" y="5047488"/>
            <a:ext cx="91440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q10_variety</a:t>
            </a:r>
            <a:endParaRPr lang="en-US" sz="850" dirty="0"/>
          </a:p>
        </p:txBody>
      </p:sp>
      <p:sp>
        <p:nvSpPr>
          <p:cNvPr id="123" name="Shape 121"/>
          <p:cNvSpPr/>
          <p:nvPr/>
        </p:nvSpPr>
        <p:spPr>
          <a:xfrm>
            <a:off x="7132320" y="5047488"/>
            <a:ext cx="896112" cy="292608"/>
          </a:xfrm>
          <a:prstGeom prst="rect">
            <a:avLst/>
          </a:prstGeom>
          <a:solidFill>
            <a:srgbClr val="FFFFFF"/>
          </a:solidFill>
          <a:ln w="6350">
            <a:solidFill>
              <a:srgbClr val="C0C8E0"/>
            </a:solidFill>
            <a:prstDash val="solid"/>
          </a:ln>
        </p:spPr>
      </p:sp>
      <p:sp>
        <p:nvSpPr>
          <p:cNvPr id="124" name="Text 122"/>
          <p:cNvSpPr/>
          <p:nvPr/>
        </p:nvSpPr>
        <p:spPr>
          <a:xfrm>
            <a:off x="7132320" y="5047488"/>
            <a:ext cx="89611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-.078</a:t>
            </a:r>
            <a:endParaRPr lang="en-US" sz="850" dirty="0"/>
          </a:p>
        </p:txBody>
      </p:sp>
      <p:sp>
        <p:nvSpPr>
          <p:cNvPr id="125" name="Shape 123"/>
          <p:cNvSpPr/>
          <p:nvPr/>
        </p:nvSpPr>
        <p:spPr>
          <a:xfrm>
            <a:off x="8028432" y="5047488"/>
            <a:ext cx="859536" cy="292608"/>
          </a:xfrm>
          <a:prstGeom prst="rect">
            <a:avLst/>
          </a:prstGeom>
          <a:solidFill>
            <a:srgbClr val="D8E8FF"/>
          </a:solidFill>
          <a:ln w="6350">
            <a:solidFill>
              <a:srgbClr val="C0C8E0"/>
            </a:solidFill>
            <a:prstDash val="solid"/>
          </a:ln>
        </p:spPr>
      </p:sp>
      <p:sp>
        <p:nvSpPr>
          <p:cNvPr id="126" name="Text 124"/>
          <p:cNvSpPr/>
          <p:nvPr/>
        </p:nvSpPr>
        <p:spPr>
          <a:xfrm>
            <a:off x="8028432" y="5047488"/>
            <a:ext cx="85953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.582</a:t>
            </a:r>
            <a:endParaRPr lang="en-US" sz="850" dirty="0"/>
          </a:p>
        </p:txBody>
      </p:sp>
      <p:sp>
        <p:nvSpPr>
          <p:cNvPr id="127" name="Text 125"/>
          <p:cNvSpPr/>
          <p:nvPr/>
        </p:nvSpPr>
        <p:spPr>
          <a:xfrm>
            <a:off x="6217920" y="4663440"/>
            <a:ext cx="2596896" cy="384048"/>
          </a:xfrm>
          <a:prstGeom prst="rect">
            <a:avLst/>
          </a:prstGeom>
          <a:noFill/>
          <a:ln/>
        </p:spPr>
        <p:txBody>
          <a:bodyPr wrap="square" lIns="0" tIns="0" rIns="0" bIns="0" rtlCol="0" anchor="ctr"/>
          <a:lstStyle/>
          <a:p>
            <a:pPr indent="0" marL="0">
              <a:buNone/>
            </a:pPr>
            <a:r>
              <a:rPr lang="en-US" sz="900" b="1" dirty="0">
                <a:solidFill>
                  <a:srgbClr val="1A2D6B"/>
                </a:solidFill>
                <a:latin typeface="Calibri" pitchFamily="34" charset="0"/>
                <a:ea typeface="Calibri" pitchFamily="34" charset="-122"/>
                <a:cs typeface="Calibri" pitchFamily="34" charset="-120"/>
              </a:rPr>
              <a:t>F1 = Service Quality (5 items)</a:t>
            </a:r>
            <a:endParaRPr lang="en-US" sz="900" dirty="0"/>
          </a:p>
          <a:p>
            <a:pPr indent="0" marL="0">
              <a:buNone/>
            </a:pPr>
            <a:r>
              <a:rPr lang="en-US" sz="900" b="1" dirty="0">
                <a:solidFill>
                  <a:srgbClr val="1A2D6B"/>
                </a:solidFill>
                <a:latin typeface="Calibri" pitchFamily="34" charset="0"/>
                <a:ea typeface="Calibri" pitchFamily="34" charset="-122"/>
                <a:cs typeface="Calibri" pitchFamily="34" charset="-120"/>
              </a:rPr>
              <a:t>F2 = Product Quality (5 items)</a:t>
            </a:r>
            <a:endParaRPr lang="en-US" sz="900" dirty="0"/>
          </a:p>
          <a:p>
            <a:pPr indent="0" marL="0">
              <a:buNone/>
            </a:pPr>
            <a:r>
              <a:rPr lang="en-US" sz="900" b="1" dirty="0">
                <a:solidFill>
                  <a:srgbClr val="1A2D6B"/>
                </a:solidFill>
                <a:latin typeface="Calibri" pitchFamily="34" charset="0"/>
                <a:ea typeface="Calibri" pitchFamily="34" charset="-122"/>
                <a:cs typeface="Calibri" pitchFamily="34" charset="-120"/>
              </a:rPr>
              <a:t>2 factors explain 58.4% of variance</a:t>
            </a:r>
            <a:endParaRPr lang="en-US" sz="900" dirty="0"/>
          </a:p>
        </p:txBody>
      </p:sp>
      <p:sp>
        <p:nvSpPr>
          <p:cNvPr id="128" name="Shape 126"/>
          <p:cNvSpPr/>
          <p:nvPr/>
        </p:nvSpPr>
        <p:spPr>
          <a:xfrm>
            <a:off x="3584448" y="3438144"/>
            <a:ext cx="2468880" cy="1627632"/>
          </a:xfrm>
          <a:prstGeom prst="roundRect">
            <a:avLst>
              <a:gd name="adj" fmla="val 505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29" name="Shape 127"/>
          <p:cNvSpPr/>
          <p:nvPr/>
        </p:nvSpPr>
        <p:spPr>
          <a:xfrm>
            <a:off x="3657600" y="3511296"/>
            <a:ext cx="2322576" cy="256032"/>
          </a:xfrm>
          <a:prstGeom prst="roundRect">
            <a:avLst>
              <a:gd name="adj" fmla="val 17857"/>
            </a:avLst>
          </a:prstGeom>
          <a:solidFill>
            <a:srgbClr val="1A2D6B"/>
          </a:solidFill>
          <a:ln w="12700">
            <a:solidFill>
              <a:srgbClr val="1A2D6B"/>
            </a:solidFill>
            <a:prstDash val="solid"/>
          </a:ln>
        </p:spPr>
      </p:sp>
      <p:sp>
        <p:nvSpPr>
          <p:cNvPr id="130" name="Text 128"/>
          <p:cNvSpPr/>
          <p:nvPr/>
        </p:nvSpPr>
        <p:spPr>
          <a:xfrm>
            <a:off x="3657600" y="3511296"/>
            <a:ext cx="232257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How Many Factors?</a:t>
            </a:r>
            <a:endParaRPr lang="en-US" sz="1000" dirty="0"/>
          </a:p>
        </p:txBody>
      </p:sp>
      <p:sp>
        <p:nvSpPr>
          <p:cNvPr id="131" name="Shape 129"/>
          <p:cNvSpPr/>
          <p:nvPr/>
        </p:nvSpPr>
        <p:spPr>
          <a:xfrm>
            <a:off x="3657600" y="3785616"/>
            <a:ext cx="768096" cy="292608"/>
          </a:xfrm>
          <a:prstGeom prst="rect">
            <a:avLst/>
          </a:prstGeom>
          <a:solidFill>
            <a:srgbClr val="0A0F1E"/>
          </a:solidFill>
          <a:ln w="12700">
            <a:solidFill>
              <a:srgbClr val="0A0F1E"/>
            </a:solidFill>
            <a:prstDash val="solid"/>
          </a:ln>
        </p:spPr>
      </p:sp>
      <p:sp>
        <p:nvSpPr>
          <p:cNvPr id="132" name="Text 130"/>
          <p:cNvSpPr/>
          <p:nvPr/>
        </p:nvSpPr>
        <p:spPr>
          <a:xfrm>
            <a:off x="3657600" y="3785616"/>
            <a:ext cx="76809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Factor</a:t>
            </a:r>
            <a:endParaRPr lang="en-US" sz="850" dirty="0"/>
          </a:p>
        </p:txBody>
      </p:sp>
      <p:sp>
        <p:nvSpPr>
          <p:cNvPr id="133" name="Shape 131"/>
          <p:cNvSpPr/>
          <p:nvPr/>
        </p:nvSpPr>
        <p:spPr>
          <a:xfrm>
            <a:off x="4425696" y="3785616"/>
            <a:ext cx="822960" cy="292608"/>
          </a:xfrm>
          <a:prstGeom prst="rect">
            <a:avLst/>
          </a:prstGeom>
          <a:solidFill>
            <a:srgbClr val="0A0F1E"/>
          </a:solidFill>
          <a:ln w="12700">
            <a:solidFill>
              <a:srgbClr val="0A0F1E"/>
            </a:solidFill>
            <a:prstDash val="solid"/>
          </a:ln>
        </p:spPr>
      </p:sp>
      <p:sp>
        <p:nvSpPr>
          <p:cNvPr id="134" name="Text 132"/>
          <p:cNvSpPr/>
          <p:nvPr/>
        </p:nvSpPr>
        <p:spPr>
          <a:xfrm>
            <a:off x="4425696" y="3785616"/>
            <a:ext cx="82296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Eigenvalue</a:t>
            </a:r>
            <a:endParaRPr lang="en-US" sz="850" dirty="0"/>
          </a:p>
        </p:txBody>
      </p:sp>
      <p:sp>
        <p:nvSpPr>
          <p:cNvPr id="135" name="Shape 133"/>
          <p:cNvSpPr/>
          <p:nvPr/>
        </p:nvSpPr>
        <p:spPr>
          <a:xfrm>
            <a:off x="5248656" y="3785616"/>
            <a:ext cx="731520" cy="292608"/>
          </a:xfrm>
          <a:prstGeom prst="rect">
            <a:avLst/>
          </a:prstGeom>
          <a:solidFill>
            <a:srgbClr val="0A0F1E"/>
          </a:solidFill>
          <a:ln w="12700">
            <a:solidFill>
              <a:srgbClr val="0A0F1E"/>
            </a:solidFill>
            <a:prstDash val="solid"/>
          </a:ln>
        </p:spPr>
      </p:sp>
      <p:sp>
        <p:nvSpPr>
          <p:cNvPr id="136" name="Text 134"/>
          <p:cNvSpPr/>
          <p:nvPr/>
        </p:nvSpPr>
        <p:spPr>
          <a:xfrm>
            <a:off x="5248656" y="3785616"/>
            <a:ext cx="7315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 Variance</a:t>
            </a:r>
            <a:endParaRPr lang="en-US" sz="850" dirty="0"/>
          </a:p>
        </p:txBody>
      </p:sp>
      <p:sp>
        <p:nvSpPr>
          <p:cNvPr id="137" name="Shape 135"/>
          <p:cNvSpPr/>
          <p:nvPr/>
        </p:nvSpPr>
        <p:spPr>
          <a:xfrm>
            <a:off x="3657600" y="4078224"/>
            <a:ext cx="768096" cy="292608"/>
          </a:xfrm>
          <a:prstGeom prst="rect">
            <a:avLst/>
          </a:prstGeom>
          <a:solidFill>
            <a:srgbClr val="D8E8FF"/>
          </a:solidFill>
          <a:ln w="6350">
            <a:solidFill>
              <a:srgbClr val="C0C8E0"/>
            </a:solidFill>
            <a:prstDash val="solid"/>
          </a:ln>
        </p:spPr>
      </p:sp>
      <p:sp>
        <p:nvSpPr>
          <p:cNvPr id="138" name="Text 136"/>
          <p:cNvSpPr/>
          <p:nvPr/>
        </p:nvSpPr>
        <p:spPr>
          <a:xfrm>
            <a:off x="3657600" y="4078224"/>
            <a:ext cx="76809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a:t>
            </a:r>
            <a:endParaRPr lang="en-US" sz="850" dirty="0"/>
          </a:p>
        </p:txBody>
      </p:sp>
      <p:sp>
        <p:nvSpPr>
          <p:cNvPr id="139" name="Shape 137"/>
          <p:cNvSpPr/>
          <p:nvPr/>
        </p:nvSpPr>
        <p:spPr>
          <a:xfrm>
            <a:off x="4425696" y="4078224"/>
            <a:ext cx="822960" cy="292608"/>
          </a:xfrm>
          <a:prstGeom prst="rect">
            <a:avLst/>
          </a:prstGeom>
          <a:solidFill>
            <a:srgbClr val="D8E8FF"/>
          </a:solidFill>
          <a:ln w="6350">
            <a:solidFill>
              <a:srgbClr val="C0C8E0"/>
            </a:solidFill>
            <a:prstDash val="solid"/>
          </a:ln>
        </p:spPr>
      </p:sp>
      <p:sp>
        <p:nvSpPr>
          <p:cNvPr id="140" name="Text 138"/>
          <p:cNvSpPr/>
          <p:nvPr/>
        </p:nvSpPr>
        <p:spPr>
          <a:xfrm>
            <a:off x="4425696" y="4078224"/>
            <a:ext cx="82296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4.24</a:t>
            </a:r>
            <a:endParaRPr lang="en-US" sz="850" dirty="0"/>
          </a:p>
        </p:txBody>
      </p:sp>
      <p:sp>
        <p:nvSpPr>
          <p:cNvPr id="141" name="Shape 139"/>
          <p:cNvSpPr/>
          <p:nvPr/>
        </p:nvSpPr>
        <p:spPr>
          <a:xfrm>
            <a:off x="5248656" y="4078224"/>
            <a:ext cx="731520" cy="292608"/>
          </a:xfrm>
          <a:prstGeom prst="rect">
            <a:avLst/>
          </a:prstGeom>
          <a:solidFill>
            <a:srgbClr val="D8E8FF"/>
          </a:solidFill>
          <a:ln w="6350">
            <a:solidFill>
              <a:srgbClr val="C0C8E0"/>
            </a:solidFill>
            <a:prstDash val="solid"/>
          </a:ln>
        </p:spPr>
      </p:sp>
      <p:sp>
        <p:nvSpPr>
          <p:cNvPr id="142" name="Text 140"/>
          <p:cNvSpPr/>
          <p:nvPr/>
        </p:nvSpPr>
        <p:spPr>
          <a:xfrm>
            <a:off x="5248656" y="4078224"/>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42.4%</a:t>
            </a:r>
            <a:endParaRPr lang="en-US" sz="850" dirty="0"/>
          </a:p>
        </p:txBody>
      </p:sp>
      <p:sp>
        <p:nvSpPr>
          <p:cNvPr id="143" name="Shape 141"/>
          <p:cNvSpPr/>
          <p:nvPr/>
        </p:nvSpPr>
        <p:spPr>
          <a:xfrm>
            <a:off x="3657600" y="4370832"/>
            <a:ext cx="768096" cy="292608"/>
          </a:xfrm>
          <a:prstGeom prst="rect">
            <a:avLst/>
          </a:prstGeom>
          <a:solidFill>
            <a:srgbClr val="D8E8FF"/>
          </a:solidFill>
          <a:ln w="6350">
            <a:solidFill>
              <a:srgbClr val="C0C8E0"/>
            </a:solidFill>
            <a:prstDash val="solid"/>
          </a:ln>
        </p:spPr>
      </p:sp>
      <p:sp>
        <p:nvSpPr>
          <p:cNvPr id="144" name="Text 142"/>
          <p:cNvSpPr/>
          <p:nvPr/>
        </p:nvSpPr>
        <p:spPr>
          <a:xfrm>
            <a:off x="3657600" y="4370832"/>
            <a:ext cx="76809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2</a:t>
            </a:r>
            <a:endParaRPr lang="en-US" sz="850" dirty="0"/>
          </a:p>
        </p:txBody>
      </p:sp>
      <p:sp>
        <p:nvSpPr>
          <p:cNvPr id="145" name="Shape 143"/>
          <p:cNvSpPr/>
          <p:nvPr/>
        </p:nvSpPr>
        <p:spPr>
          <a:xfrm>
            <a:off x="4425696" y="4370832"/>
            <a:ext cx="822960" cy="292608"/>
          </a:xfrm>
          <a:prstGeom prst="rect">
            <a:avLst/>
          </a:prstGeom>
          <a:solidFill>
            <a:srgbClr val="D8E8FF"/>
          </a:solidFill>
          <a:ln w="6350">
            <a:solidFill>
              <a:srgbClr val="C0C8E0"/>
            </a:solidFill>
            <a:prstDash val="solid"/>
          </a:ln>
        </p:spPr>
      </p:sp>
      <p:sp>
        <p:nvSpPr>
          <p:cNvPr id="146" name="Text 144"/>
          <p:cNvSpPr/>
          <p:nvPr/>
        </p:nvSpPr>
        <p:spPr>
          <a:xfrm>
            <a:off x="4425696" y="4370832"/>
            <a:ext cx="82296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1.60</a:t>
            </a:r>
            <a:endParaRPr lang="en-US" sz="850" dirty="0"/>
          </a:p>
        </p:txBody>
      </p:sp>
      <p:sp>
        <p:nvSpPr>
          <p:cNvPr id="147" name="Shape 145"/>
          <p:cNvSpPr/>
          <p:nvPr/>
        </p:nvSpPr>
        <p:spPr>
          <a:xfrm>
            <a:off x="5248656" y="4370832"/>
            <a:ext cx="731520" cy="292608"/>
          </a:xfrm>
          <a:prstGeom prst="rect">
            <a:avLst/>
          </a:prstGeom>
          <a:solidFill>
            <a:srgbClr val="D8E8FF"/>
          </a:solidFill>
          <a:ln w="6350">
            <a:solidFill>
              <a:srgbClr val="C0C8E0"/>
            </a:solidFill>
            <a:prstDash val="solid"/>
          </a:ln>
        </p:spPr>
      </p:sp>
      <p:sp>
        <p:nvSpPr>
          <p:cNvPr id="148" name="Text 146"/>
          <p:cNvSpPr/>
          <p:nvPr/>
        </p:nvSpPr>
        <p:spPr>
          <a:xfrm>
            <a:off x="5248656" y="4370832"/>
            <a:ext cx="73152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16.0%</a:t>
            </a:r>
            <a:endParaRPr lang="en-US" sz="850" dirty="0"/>
          </a:p>
        </p:txBody>
      </p:sp>
      <p:sp>
        <p:nvSpPr>
          <p:cNvPr id="149" name="Shape 147"/>
          <p:cNvSpPr/>
          <p:nvPr/>
        </p:nvSpPr>
        <p:spPr>
          <a:xfrm>
            <a:off x="3657600" y="4663440"/>
            <a:ext cx="768096" cy="292608"/>
          </a:xfrm>
          <a:prstGeom prst="rect">
            <a:avLst/>
          </a:prstGeom>
          <a:solidFill>
            <a:srgbClr val="EAEEF8"/>
          </a:solidFill>
          <a:ln w="6350">
            <a:solidFill>
              <a:srgbClr val="C0C8E0"/>
            </a:solidFill>
            <a:prstDash val="solid"/>
          </a:ln>
        </p:spPr>
      </p:sp>
      <p:sp>
        <p:nvSpPr>
          <p:cNvPr id="150" name="Text 148"/>
          <p:cNvSpPr/>
          <p:nvPr/>
        </p:nvSpPr>
        <p:spPr>
          <a:xfrm>
            <a:off x="3657600" y="4663440"/>
            <a:ext cx="768096"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3</a:t>
            </a:r>
            <a:endParaRPr lang="en-US" sz="850" dirty="0"/>
          </a:p>
        </p:txBody>
      </p:sp>
      <p:sp>
        <p:nvSpPr>
          <p:cNvPr id="151" name="Shape 149"/>
          <p:cNvSpPr/>
          <p:nvPr/>
        </p:nvSpPr>
        <p:spPr>
          <a:xfrm>
            <a:off x="4425696" y="4663440"/>
            <a:ext cx="822960" cy="292608"/>
          </a:xfrm>
          <a:prstGeom prst="rect">
            <a:avLst/>
          </a:prstGeom>
          <a:solidFill>
            <a:srgbClr val="EAEEF8"/>
          </a:solidFill>
          <a:ln w="6350">
            <a:solidFill>
              <a:srgbClr val="C0C8E0"/>
            </a:solidFill>
            <a:prstDash val="solid"/>
          </a:ln>
        </p:spPr>
      </p:sp>
      <p:sp>
        <p:nvSpPr>
          <p:cNvPr id="152" name="Text 150"/>
          <p:cNvSpPr/>
          <p:nvPr/>
        </p:nvSpPr>
        <p:spPr>
          <a:xfrm>
            <a:off x="4425696" y="4663440"/>
            <a:ext cx="82296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0.82</a:t>
            </a:r>
            <a:endParaRPr lang="en-US" sz="850" dirty="0"/>
          </a:p>
        </p:txBody>
      </p:sp>
      <p:sp>
        <p:nvSpPr>
          <p:cNvPr id="153" name="Shape 151"/>
          <p:cNvSpPr/>
          <p:nvPr/>
        </p:nvSpPr>
        <p:spPr>
          <a:xfrm>
            <a:off x="5248656" y="4663440"/>
            <a:ext cx="731520" cy="292608"/>
          </a:xfrm>
          <a:prstGeom prst="rect">
            <a:avLst/>
          </a:prstGeom>
          <a:solidFill>
            <a:srgbClr val="EAEEF8"/>
          </a:solidFill>
          <a:ln w="6350">
            <a:solidFill>
              <a:srgbClr val="C0C8E0"/>
            </a:solidFill>
            <a:prstDash val="solid"/>
          </a:ln>
        </p:spPr>
      </p:sp>
      <p:sp>
        <p:nvSpPr>
          <p:cNvPr id="154" name="Text 152"/>
          <p:cNvSpPr/>
          <p:nvPr/>
        </p:nvSpPr>
        <p:spPr>
          <a:xfrm>
            <a:off x="5248656" y="4663440"/>
            <a:ext cx="73152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8.2%</a:t>
            </a:r>
            <a:endParaRPr lang="en-US" sz="850" dirty="0"/>
          </a:p>
        </p:txBody>
      </p:sp>
      <p:sp>
        <p:nvSpPr>
          <p:cNvPr id="155" name="Shape 153"/>
          <p:cNvSpPr/>
          <p:nvPr/>
        </p:nvSpPr>
        <p:spPr>
          <a:xfrm>
            <a:off x="3657600" y="4956048"/>
            <a:ext cx="768096" cy="292608"/>
          </a:xfrm>
          <a:prstGeom prst="rect">
            <a:avLst/>
          </a:prstGeom>
          <a:solidFill>
            <a:srgbClr val="FFFFFF"/>
          </a:solidFill>
          <a:ln w="6350">
            <a:solidFill>
              <a:srgbClr val="C0C8E0"/>
            </a:solidFill>
            <a:prstDash val="solid"/>
          </a:ln>
        </p:spPr>
      </p:sp>
      <p:sp>
        <p:nvSpPr>
          <p:cNvPr id="156" name="Text 154"/>
          <p:cNvSpPr/>
          <p:nvPr/>
        </p:nvSpPr>
        <p:spPr>
          <a:xfrm>
            <a:off x="3657600" y="4956048"/>
            <a:ext cx="768096"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4</a:t>
            </a:r>
            <a:endParaRPr lang="en-US" sz="850" dirty="0"/>
          </a:p>
        </p:txBody>
      </p:sp>
      <p:sp>
        <p:nvSpPr>
          <p:cNvPr id="157" name="Shape 155"/>
          <p:cNvSpPr/>
          <p:nvPr/>
        </p:nvSpPr>
        <p:spPr>
          <a:xfrm>
            <a:off x="4425696" y="4956048"/>
            <a:ext cx="822960" cy="292608"/>
          </a:xfrm>
          <a:prstGeom prst="rect">
            <a:avLst/>
          </a:prstGeom>
          <a:solidFill>
            <a:srgbClr val="FFFFFF"/>
          </a:solidFill>
          <a:ln w="6350">
            <a:solidFill>
              <a:srgbClr val="C0C8E0"/>
            </a:solidFill>
            <a:prstDash val="solid"/>
          </a:ln>
        </p:spPr>
      </p:sp>
      <p:sp>
        <p:nvSpPr>
          <p:cNvPr id="158" name="Text 156"/>
          <p:cNvSpPr/>
          <p:nvPr/>
        </p:nvSpPr>
        <p:spPr>
          <a:xfrm>
            <a:off x="4425696" y="4956048"/>
            <a:ext cx="82296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0.68</a:t>
            </a:r>
            <a:endParaRPr lang="en-US" sz="850" dirty="0"/>
          </a:p>
        </p:txBody>
      </p:sp>
      <p:sp>
        <p:nvSpPr>
          <p:cNvPr id="159" name="Shape 157"/>
          <p:cNvSpPr/>
          <p:nvPr/>
        </p:nvSpPr>
        <p:spPr>
          <a:xfrm>
            <a:off x="5248656" y="4956048"/>
            <a:ext cx="731520" cy="292608"/>
          </a:xfrm>
          <a:prstGeom prst="rect">
            <a:avLst/>
          </a:prstGeom>
          <a:solidFill>
            <a:srgbClr val="FFFFFF"/>
          </a:solidFill>
          <a:ln w="6350">
            <a:solidFill>
              <a:srgbClr val="C0C8E0"/>
            </a:solidFill>
            <a:prstDash val="solid"/>
          </a:ln>
        </p:spPr>
      </p:sp>
      <p:sp>
        <p:nvSpPr>
          <p:cNvPr id="160" name="Text 158"/>
          <p:cNvSpPr/>
          <p:nvPr/>
        </p:nvSpPr>
        <p:spPr>
          <a:xfrm>
            <a:off x="5248656" y="4956048"/>
            <a:ext cx="731520"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6.8%</a:t>
            </a:r>
            <a:endParaRPr lang="en-US" sz="850" dirty="0"/>
          </a:p>
        </p:txBody>
      </p:sp>
      <p:sp>
        <p:nvSpPr>
          <p:cNvPr id="161" name="Text 159"/>
          <p:cNvSpPr/>
          <p:nvPr/>
        </p:nvSpPr>
        <p:spPr>
          <a:xfrm>
            <a:off x="3657600" y="4663440"/>
            <a:ext cx="2322576" cy="384048"/>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Kaiser: Eigenvalue &gt; 1 → 2 factors. Scree plot: elbow after factor 2. Theory: service vs. product quality = 2 dimensions.</a:t>
            </a:r>
            <a:endParaRPr lang="en-US" sz="850" dirty="0"/>
          </a:p>
        </p:txBody>
      </p:sp>
      <p:sp>
        <p:nvSpPr>
          <p:cNvPr id="162" name="Shape 160"/>
          <p:cNvSpPr/>
          <p:nvPr/>
        </p:nvSpPr>
        <p:spPr>
          <a:xfrm>
            <a:off x="256032" y="5120640"/>
            <a:ext cx="8631936" cy="347472"/>
          </a:xfrm>
          <a:prstGeom prst="roundRect">
            <a:avLst>
              <a:gd name="adj" fmla="val 15789"/>
            </a:avLst>
          </a:prstGeom>
          <a:solidFill>
            <a:srgbClr val="FFFBEC"/>
          </a:solidFill>
          <a:ln w="19050">
            <a:solidFill>
              <a:srgbClr val="C8920A"/>
            </a:solidFill>
            <a:prstDash val="solid"/>
          </a:ln>
        </p:spPr>
      </p:sp>
      <p:sp>
        <p:nvSpPr>
          <p:cNvPr id="163" name="Text 161"/>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After EFA: compute composite scores. Transform &gt; Compute: service_quality = MEAN(q1,q2,q3,q4,q5). product_quality = MEAN(q6,q7,q8,q9,q10). Then run Reliability Analysis on each factor.</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2D6B">
              <a:alpha val="20000"/>
            </a:srgbClr>
          </a:solidFill>
          <a:ln w="12700">
            <a:solidFill>
              <a:srgbClr val="1A2D6B"/>
            </a:solidFill>
            <a:prstDash val="solid"/>
          </a:ln>
        </p:spPr>
      </p:sp>
      <p:sp>
        <p:nvSpPr>
          <p:cNvPr id="3" name="Shape 1"/>
          <p:cNvSpPr/>
          <p:nvPr/>
        </p:nvSpPr>
        <p:spPr>
          <a:xfrm>
            <a:off x="-1097280" y="3200400"/>
            <a:ext cx="3657600" cy="3657600"/>
          </a:xfrm>
          <a:prstGeom prst="ellipse">
            <a:avLst/>
          </a:prstGeom>
          <a:solidFill>
            <a:srgbClr val="C8920A">
              <a:alpha val="12000"/>
            </a:srgbClr>
          </a:solidFill>
          <a:ln w="12700">
            <a:solidFill>
              <a:srgbClr val="C8920A"/>
            </a:solidFill>
            <a:prstDash val="solid"/>
          </a:ln>
        </p:spPr>
      </p:sp>
      <p:sp>
        <p:nvSpPr>
          <p:cNvPr id="4" name="Shape 2"/>
          <p:cNvSpPr/>
          <p:nvPr/>
        </p:nvSpPr>
        <p:spPr>
          <a:xfrm>
            <a:off x="4114800" y="1371600"/>
            <a:ext cx="1828800" cy="1828800"/>
          </a:xfrm>
          <a:prstGeom prst="ellipse">
            <a:avLst/>
          </a:prstGeom>
          <a:solidFill>
            <a:srgbClr val="0A6E4F">
              <a:alpha val="10000"/>
            </a:srgbClr>
          </a:solidFill>
          <a:ln w="12700">
            <a:solidFill>
              <a:srgbClr val="0A6E4F"/>
            </a:solidFill>
            <a:prstDash val="solid"/>
          </a:ln>
        </p:spPr>
      </p:sp>
      <p:sp>
        <p:nvSpPr>
          <p:cNvPr id="5" name="Text 3"/>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C8920A"/>
                </a:solidFill>
                <a:latin typeface="Calibri" pitchFamily="34" charset="0"/>
                <a:ea typeface="Calibri" pitchFamily="34" charset="-122"/>
                <a:cs typeface="Calibri" pitchFamily="34" charset="-120"/>
              </a:rPr>
              <a:t>MODULE 5  |  SECTION 06</a:t>
            </a:r>
            <a:endParaRPr lang="en-US" sz="1200" dirty="0"/>
          </a:p>
        </p:txBody>
      </p:sp>
      <p:sp>
        <p:nvSpPr>
          <p:cNvPr id="6" name="Text 4"/>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Reliability Analysis - Cronbach's Alpha</a:t>
            </a:r>
            <a:endParaRPr lang="en-US" sz="3800" dirty="0"/>
          </a:p>
        </p:txBody>
      </p:sp>
      <p:sp>
        <p:nvSpPr>
          <p:cNvPr id="7" name="Text 5"/>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B0C0E8"/>
                </a:solidFill>
                <a:latin typeface="Calibri" pitchFamily="34" charset="0"/>
                <a:ea typeface="Calibri" pitchFamily="34" charset="-122"/>
                <a:cs typeface="Calibri" pitchFamily="34" charset="-120"/>
              </a:rPr>
              <a:t>Testing the internal consistency of multi-item scales before computing composite scores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D6B"/>
          </a:solidFill>
          <a:ln w="12700">
            <a:solidFill>
              <a:srgbClr val="1A2D6B"/>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Reliability Analysis - Analyze &gt; Scale &gt; Reliability Analysis</a:t>
            </a:r>
            <a:endParaRPr lang="en-US" sz="2100" dirty="0"/>
          </a:p>
        </p:txBody>
      </p:sp>
      <p:sp>
        <p:nvSpPr>
          <p:cNvPr id="4" name="Shape 2"/>
          <p:cNvSpPr/>
          <p:nvPr/>
        </p:nvSpPr>
        <p:spPr>
          <a:xfrm>
            <a:off x="256032" y="1005840"/>
            <a:ext cx="8631936" cy="594360"/>
          </a:xfrm>
          <a:prstGeom prst="roundRect">
            <a:avLst>
              <a:gd name="adj" fmla="val 12308"/>
            </a:avLst>
          </a:prstGeom>
          <a:solidFill>
            <a:srgbClr val="E8EEF8"/>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48640"/>
          </a:xfrm>
          <a:prstGeom prst="rect">
            <a:avLst/>
          </a:prstGeom>
          <a:noFill/>
          <a:ln/>
        </p:spPr>
        <p:txBody>
          <a:bodyPr wrap="square" lIns="0" tIns="0" rIns="0" bIns="0" rtlCol="0" anchor="ctr"/>
          <a:lstStyle/>
          <a:p>
            <a:pPr indent="0" marL="0">
              <a:buNone/>
            </a:pPr>
            <a:r>
              <a:rPr lang="en-US" sz="1050" dirty="0">
                <a:solidFill>
                  <a:srgbClr val="1A2038"/>
                </a:solidFill>
                <a:latin typeface="Calibri" pitchFamily="34" charset="0"/>
                <a:ea typeface="Calibri" pitchFamily="34" charset="-122"/>
                <a:cs typeface="Calibri" pitchFamily="34" charset="-120"/>
              </a:rPr>
              <a:t>Cronbach's Alpha (alpha) measures internal consistency - whether all items in a scale consistently measure the same underlying construct. Range: 0 to 1. Higher = more consistent. Run BEFORE computing any composite score.</a:t>
            </a:r>
            <a:endParaRPr lang="en-US" sz="1050" dirty="0"/>
          </a:p>
        </p:txBody>
      </p:sp>
      <p:sp>
        <p:nvSpPr>
          <p:cNvPr id="6" name="Shape 4"/>
          <p:cNvSpPr/>
          <p:nvPr/>
        </p:nvSpPr>
        <p:spPr>
          <a:xfrm>
            <a:off x="256032" y="1682496"/>
            <a:ext cx="4160520" cy="3383280"/>
          </a:xfrm>
          <a:prstGeom prst="roundRect">
            <a:avLst>
              <a:gd name="adj" fmla="val 2432"/>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755648"/>
            <a:ext cx="4005072" cy="329184"/>
          </a:xfrm>
          <a:prstGeom prst="roundRect">
            <a:avLst>
              <a:gd name="adj" fmla="val 16667"/>
            </a:avLst>
          </a:prstGeom>
          <a:solidFill>
            <a:srgbClr val="1A2D6B"/>
          </a:solidFill>
          <a:ln w="12700">
            <a:solidFill>
              <a:srgbClr val="1A2D6B"/>
            </a:solidFill>
            <a:prstDash val="solid"/>
          </a:ln>
        </p:spPr>
      </p:sp>
      <p:sp>
        <p:nvSpPr>
          <p:cNvPr id="8" name="Text 6"/>
          <p:cNvSpPr/>
          <p:nvPr/>
        </p:nvSpPr>
        <p:spPr>
          <a:xfrm>
            <a:off x="329184" y="1755648"/>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Steps and Alpha Interpretation Scale</a:t>
            </a:r>
            <a:endParaRPr lang="en-US" sz="1100" dirty="0"/>
          </a:p>
        </p:txBody>
      </p:sp>
      <p:sp>
        <p:nvSpPr>
          <p:cNvPr id="9" name="Shape 7"/>
          <p:cNvSpPr/>
          <p:nvPr/>
        </p:nvSpPr>
        <p:spPr>
          <a:xfrm>
            <a:off x="347472" y="2176272"/>
            <a:ext cx="256032" cy="256032"/>
          </a:xfrm>
          <a:prstGeom prst="ellipse">
            <a:avLst/>
          </a:prstGeom>
          <a:solidFill>
            <a:srgbClr val="1A2D6B"/>
          </a:solidFill>
          <a:ln w="12700">
            <a:solidFill>
              <a:srgbClr val="1A2D6B"/>
            </a:solidFill>
            <a:prstDash val="solid"/>
          </a:ln>
        </p:spPr>
      </p:sp>
      <p:sp>
        <p:nvSpPr>
          <p:cNvPr id="10" name="Text 8"/>
          <p:cNvSpPr/>
          <p:nvPr/>
        </p:nvSpPr>
        <p:spPr>
          <a:xfrm>
            <a:off x="347472" y="2176272"/>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1" name="Text 9"/>
          <p:cNvSpPr/>
          <p:nvPr/>
        </p:nvSpPr>
        <p:spPr>
          <a:xfrm>
            <a:off x="676656" y="2194560"/>
            <a:ext cx="3639312" cy="329184"/>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Analyze &gt; Scale &gt; Reliability Analysis</a:t>
            </a:r>
            <a:endParaRPr lang="en-US" sz="950" dirty="0"/>
          </a:p>
        </p:txBody>
      </p:sp>
      <p:sp>
        <p:nvSpPr>
          <p:cNvPr id="12" name="Shape 10"/>
          <p:cNvSpPr/>
          <p:nvPr/>
        </p:nvSpPr>
        <p:spPr>
          <a:xfrm>
            <a:off x="347472" y="2560320"/>
            <a:ext cx="256032" cy="256032"/>
          </a:xfrm>
          <a:prstGeom prst="ellipse">
            <a:avLst/>
          </a:prstGeom>
          <a:solidFill>
            <a:srgbClr val="1A2D6B"/>
          </a:solidFill>
          <a:ln w="12700">
            <a:solidFill>
              <a:srgbClr val="1A2D6B"/>
            </a:solidFill>
            <a:prstDash val="solid"/>
          </a:ln>
        </p:spPr>
      </p:sp>
      <p:sp>
        <p:nvSpPr>
          <p:cNvPr id="13" name="Text 11"/>
          <p:cNvSpPr/>
          <p:nvPr/>
        </p:nvSpPr>
        <p:spPr>
          <a:xfrm>
            <a:off x="347472" y="2560320"/>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4" name="Text 12"/>
          <p:cNvSpPr/>
          <p:nvPr/>
        </p:nvSpPr>
        <p:spPr>
          <a:xfrm>
            <a:off x="676656" y="2578608"/>
            <a:ext cx="3639312" cy="329184"/>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Move all items of ONE subscale to Items box (e.g., q1-q5 for Service Quality)</a:t>
            </a:r>
            <a:endParaRPr lang="en-US" sz="950" dirty="0"/>
          </a:p>
        </p:txBody>
      </p:sp>
      <p:sp>
        <p:nvSpPr>
          <p:cNvPr id="15" name="Shape 13"/>
          <p:cNvSpPr/>
          <p:nvPr/>
        </p:nvSpPr>
        <p:spPr>
          <a:xfrm>
            <a:off x="347472" y="2944368"/>
            <a:ext cx="256032" cy="256032"/>
          </a:xfrm>
          <a:prstGeom prst="ellipse">
            <a:avLst/>
          </a:prstGeom>
          <a:solidFill>
            <a:srgbClr val="1A2D6B"/>
          </a:solidFill>
          <a:ln w="12700">
            <a:solidFill>
              <a:srgbClr val="1A2D6B"/>
            </a:solidFill>
            <a:prstDash val="solid"/>
          </a:ln>
        </p:spPr>
      </p:sp>
      <p:sp>
        <p:nvSpPr>
          <p:cNvPr id="16" name="Text 14"/>
          <p:cNvSpPr/>
          <p:nvPr/>
        </p:nvSpPr>
        <p:spPr>
          <a:xfrm>
            <a:off x="347472" y="2944368"/>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7" name="Text 15"/>
          <p:cNvSpPr/>
          <p:nvPr/>
        </p:nvSpPr>
        <p:spPr>
          <a:xfrm>
            <a:off x="676656" y="2962656"/>
            <a:ext cx="3639312" cy="329184"/>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Ensure Alpha is the selected Model</a:t>
            </a:r>
            <a:endParaRPr lang="en-US" sz="950" dirty="0"/>
          </a:p>
        </p:txBody>
      </p:sp>
      <p:sp>
        <p:nvSpPr>
          <p:cNvPr id="18" name="Shape 16"/>
          <p:cNvSpPr/>
          <p:nvPr/>
        </p:nvSpPr>
        <p:spPr>
          <a:xfrm>
            <a:off x="347472" y="3328416"/>
            <a:ext cx="256032" cy="256032"/>
          </a:xfrm>
          <a:prstGeom prst="ellipse">
            <a:avLst/>
          </a:prstGeom>
          <a:solidFill>
            <a:srgbClr val="1A2D6B"/>
          </a:solidFill>
          <a:ln w="12700">
            <a:solidFill>
              <a:srgbClr val="1A2D6B"/>
            </a:solidFill>
            <a:prstDash val="solid"/>
          </a:ln>
        </p:spPr>
      </p:sp>
      <p:sp>
        <p:nvSpPr>
          <p:cNvPr id="19" name="Text 17"/>
          <p:cNvSpPr/>
          <p:nvPr/>
        </p:nvSpPr>
        <p:spPr>
          <a:xfrm>
            <a:off x="347472" y="3328416"/>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676656" y="3346704"/>
            <a:ext cx="3639312" cy="329184"/>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Click Statistics: Item, Scale, Scale if item deleted, Inter-item correlations, Summaries</a:t>
            </a:r>
            <a:endParaRPr lang="en-US" sz="950" dirty="0"/>
          </a:p>
        </p:txBody>
      </p:sp>
      <p:sp>
        <p:nvSpPr>
          <p:cNvPr id="21" name="Shape 19"/>
          <p:cNvSpPr/>
          <p:nvPr/>
        </p:nvSpPr>
        <p:spPr>
          <a:xfrm>
            <a:off x="347472" y="3712464"/>
            <a:ext cx="256032" cy="256032"/>
          </a:xfrm>
          <a:prstGeom prst="ellipse">
            <a:avLst/>
          </a:prstGeom>
          <a:solidFill>
            <a:srgbClr val="1A2D6B"/>
          </a:solidFill>
          <a:ln w="12700">
            <a:solidFill>
              <a:srgbClr val="1A2D6B"/>
            </a:solidFill>
            <a:prstDash val="solid"/>
          </a:ln>
        </p:spPr>
      </p:sp>
      <p:sp>
        <p:nvSpPr>
          <p:cNvPr id="22" name="Text 20"/>
          <p:cNvSpPr/>
          <p:nvPr/>
        </p:nvSpPr>
        <p:spPr>
          <a:xfrm>
            <a:off x="347472" y="3712464"/>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3" name="Text 21"/>
          <p:cNvSpPr/>
          <p:nvPr/>
        </p:nvSpPr>
        <p:spPr>
          <a:xfrm>
            <a:off x="676656" y="3730752"/>
            <a:ext cx="3639312" cy="329184"/>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Click Continue then OK</a:t>
            </a:r>
            <a:endParaRPr lang="en-US" sz="950" dirty="0"/>
          </a:p>
        </p:txBody>
      </p:sp>
      <p:sp>
        <p:nvSpPr>
          <p:cNvPr id="24" name="Shape 22"/>
          <p:cNvSpPr/>
          <p:nvPr/>
        </p:nvSpPr>
        <p:spPr>
          <a:xfrm>
            <a:off x="347472" y="4096512"/>
            <a:ext cx="256032" cy="256032"/>
          </a:xfrm>
          <a:prstGeom prst="ellipse">
            <a:avLst/>
          </a:prstGeom>
          <a:solidFill>
            <a:srgbClr val="1A2D6B"/>
          </a:solidFill>
          <a:ln w="12700">
            <a:solidFill>
              <a:srgbClr val="1A2D6B"/>
            </a:solidFill>
            <a:prstDash val="solid"/>
          </a:ln>
        </p:spPr>
      </p:sp>
      <p:sp>
        <p:nvSpPr>
          <p:cNvPr id="25" name="Text 23"/>
          <p:cNvSpPr/>
          <p:nvPr/>
        </p:nvSpPr>
        <p:spPr>
          <a:xfrm>
            <a:off x="347472" y="4096512"/>
            <a:ext cx="25603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26" name="Text 24"/>
          <p:cNvSpPr/>
          <p:nvPr/>
        </p:nvSpPr>
        <p:spPr>
          <a:xfrm>
            <a:off x="676656" y="4114800"/>
            <a:ext cx="3639312" cy="329184"/>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Repeat for each subscale separately</a:t>
            </a:r>
            <a:endParaRPr lang="en-US" sz="950" dirty="0"/>
          </a:p>
        </p:txBody>
      </p:sp>
      <p:sp>
        <p:nvSpPr>
          <p:cNvPr id="27" name="Text 25"/>
          <p:cNvSpPr/>
          <p:nvPr/>
        </p:nvSpPr>
        <p:spPr>
          <a:xfrm>
            <a:off x="365760" y="4553712"/>
            <a:ext cx="3950208" cy="219456"/>
          </a:xfrm>
          <a:prstGeom prst="rect">
            <a:avLst/>
          </a:prstGeom>
          <a:noFill/>
          <a:ln/>
        </p:spPr>
        <p:txBody>
          <a:bodyPr wrap="square" lIns="0" tIns="0" rIns="0" bIns="0" rtlCol="0" anchor="ctr"/>
          <a:lstStyle/>
          <a:p>
            <a:pPr indent="0" marL="0">
              <a:buNone/>
            </a:pPr>
            <a:r>
              <a:rPr lang="en-US" sz="1000" b="1" dirty="0">
                <a:solidFill>
                  <a:srgbClr val="1A2D6B"/>
                </a:solidFill>
                <a:latin typeface="Calibri" pitchFamily="34" charset="0"/>
                <a:ea typeface="Calibri" pitchFamily="34" charset="-122"/>
                <a:cs typeface="Calibri" pitchFamily="34" charset="-120"/>
              </a:rPr>
              <a:t>Alpha Interpretation Guide:</a:t>
            </a:r>
            <a:endParaRPr lang="en-US" sz="1000" dirty="0"/>
          </a:p>
        </p:txBody>
      </p:sp>
      <p:sp>
        <p:nvSpPr>
          <p:cNvPr id="28" name="Shape 26"/>
          <p:cNvSpPr/>
          <p:nvPr/>
        </p:nvSpPr>
        <p:spPr>
          <a:xfrm>
            <a:off x="365760" y="4791456"/>
            <a:ext cx="804672" cy="109728"/>
          </a:xfrm>
          <a:prstGeom prst="rect">
            <a:avLst/>
          </a:prstGeom>
          <a:solidFill>
            <a:srgbClr val="12A374"/>
          </a:solidFill>
          <a:ln w="12700">
            <a:solidFill>
              <a:srgbClr val="12A374"/>
            </a:solidFill>
            <a:prstDash val="solid"/>
          </a:ln>
        </p:spPr>
      </p:sp>
      <p:sp>
        <p:nvSpPr>
          <p:cNvPr id="29" name="Text 27"/>
          <p:cNvSpPr/>
          <p:nvPr/>
        </p:nvSpPr>
        <p:spPr>
          <a:xfrm>
            <a:off x="1207008" y="4773168"/>
            <a:ext cx="2926080" cy="109728"/>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alpha &gt;= .90:  Excellent - Highly reliable. Check for item redundancy.</a:t>
            </a:r>
            <a:endParaRPr lang="en-US" sz="750" dirty="0"/>
          </a:p>
        </p:txBody>
      </p:sp>
      <p:sp>
        <p:nvSpPr>
          <p:cNvPr id="30" name="Shape 28"/>
          <p:cNvSpPr/>
          <p:nvPr/>
        </p:nvSpPr>
        <p:spPr>
          <a:xfrm>
            <a:off x="365760" y="4919472"/>
            <a:ext cx="804672" cy="109728"/>
          </a:xfrm>
          <a:prstGeom prst="rect">
            <a:avLst/>
          </a:prstGeom>
          <a:solidFill>
            <a:srgbClr val="27AE60"/>
          </a:solidFill>
          <a:ln w="12700">
            <a:solidFill>
              <a:srgbClr val="27AE60"/>
            </a:solidFill>
            <a:prstDash val="solid"/>
          </a:ln>
        </p:spPr>
      </p:sp>
      <p:sp>
        <p:nvSpPr>
          <p:cNvPr id="31" name="Text 29"/>
          <p:cNvSpPr/>
          <p:nvPr/>
        </p:nvSpPr>
        <p:spPr>
          <a:xfrm>
            <a:off x="1207008" y="4901184"/>
            <a:ext cx="2926080" cy="109728"/>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alpha .80-.89:  Good - Acceptable for published research.</a:t>
            </a:r>
            <a:endParaRPr lang="en-US" sz="750" dirty="0"/>
          </a:p>
        </p:txBody>
      </p:sp>
      <p:sp>
        <p:nvSpPr>
          <p:cNvPr id="32" name="Shape 30"/>
          <p:cNvSpPr/>
          <p:nvPr/>
        </p:nvSpPr>
        <p:spPr>
          <a:xfrm>
            <a:off x="365760" y="5047488"/>
            <a:ext cx="804672" cy="109728"/>
          </a:xfrm>
          <a:prstGeom prst="rect">
            <a:avLst/>
          </a:prstGeom>
          <a:solidFill>
            <a:srgbClr val="C8920A"/>
          </a:solidFill>
          <a:ln w="12700">
            <a:solidFill>
              <a:srgbClr val="C8920A"/>
            </a:solidFill>
            <a:prstDash val="solid"/>
          </a:ln>
        </p:spPr>
      </p:sp>
      <p:sp>
        <p:nvSpPr>
          <p:cNvPr id="33" name="Text 31"/>
          <p:cNvSpPr/>
          <p:nvPr/>
        </p:nvSpPr>
        <p:spPr>
          <a:xfrm>
            <a:off x="1207008" y="5029200"/>
            <a:ext cx="2926080" cy="109728"/>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alpha .70-.79:  Acceptable - Minimum threshold for most research.</a:t>
            </a:r>
            <a:endParaRPr lang="en-US" sz="750" dirty="0"/>
          </a:p>
        </p:txBody>
      </p:sp>
      <p:sp>
        <p:nvSpPr>
          <p:cNvPr id="34" name="Shape 32"/>
          <p:cNvSpPr/>
          <p:nvPr/>
        </p:nvSpPr>
        <p:spPr>
          <a:xfrm>
            <a:off x="365760" y="5175504"/>
            <a:ext cx="804672" cy="109728"/>
          </a:xfrm>
          <a:prstGeom prst="rect">
            <a:avLst/>
          </a:prstGeom>
          <a:solidFill>
            <a:srgbClr val="D4680A"/>
          </a:solidFill>
          <a:ln w="12700">
            <a:solidFill>
              <a:srgbClr val="D4680A"/>
            </a:solidFill>
            <a:prstDash val="solid"/>
          </a:ln>
        </p:spPr>
      </p:sp>
      <p:sp>
        <p:nvSpPr>
          <p:cNvPr id="35" name="Text 33"/>
          <p:cNvSpPr/>
          <p:nvPr/>
        </p:nvSpPr>
        <p:spPr>
          <a:xfrm>
            <a:off x="1207008" y="5157216"/>
            <a:ext cx="2926080" cy="109728"/>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alpha .60-.69:  Questionable - Review and revise items.</a:t>
            </a:r>
            <a:endParaRPr lang="en-US" sz="750" dirty="0"/>
          </a:p>
        </p:txBody>
      </p:sp>
      <p:sp>
        <p:nvSpPr>
          <p:cNvPr id="36" name="Shape 34"/>
          <p:cNvSpPr/>
          <p:nvPr/>
        </p:nvSpPr>
        <p:spPr>
          <a:xfrm>
            <a:off x="365760" y="5303520"/>
            <a:ext cx="804672" cy="109728"/>
          </a:xfrm>
          <a:prstGeom prst="rect">
            <a:avLst/>
          </a:prstGeom>
          <a:solidFill>
            <a:srgbClr val="C0392B"/>
          </a:solidFill>
          <a:ln w="12700">
            <a:solidFill>
              <a:srgbClr val="C0392B"/>
            </a:solidFill>
            <a:prstDash val="solid"/>
          </a:ln>
        </p:spPr>
      </p:sp>
      <p:sp>
        <p:nvSpPr>
          <p:cNvPr id="37" name="Text 35"/>
          <p:cNvSpPr/>
          <p:nvPr/>
        </p:nvSpPr>
        <p:spPr>
          <a:xfrm>
            <a:off x="1207008" y="5285232"/>
            <a:ext cx="2926080" cy="109728"/>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alpha &lt; .60:  Unacceptable - Major scale redesign needed.</a:t>
            </a:r>
            <a:endParaRPr lang="en-US" sz="750" dirty="0"/>
          </a:p>
        </p:txBody>
      </p:sp>
      <p:sp>
        <p:nvSpPr>
          <p:cNvPr id="38" name="Shape 36"/>
          <p:cNvSpPr/>
          <p:nvPr/>
        </p:nvSpPr>
        <p:spPr>
          <a:xfrm>
            <a:off x="4681728" y="1682496"/>
            <a:ext cx="4160520" cy="3383280"/>
          </a:xfrm>
          <a:prstGeom prst="roundRect">
            <a:avLst>
              <a:gd name="adj" fmla="val 2432"/>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39" name="Shape 37"/>
          <p:cNvSpPr/>
          <p:nvPr/>
        </p:nvSpPr>
        <p:spPr>
          <a:xfrm>
            <a:off x="4754880" y="1755648"/>
            <a:ext cx="4005072" cy="329184"/>
          </a:xfrm>
          <a:prstGeom prst="roundRect">
            <a:avLst>
              <a:gd name="adj" fmla="val 16667"/>
            </a:avLst>
          </a:prstGeom>
          <a:solidFill>
            <a:srgbClr val="0A0F1E"/>
          </a:solidFill>
          <a:ln w="12700">
            <a:solidFill>
              <a:srgbClr val="0A0F1E"/>
            </a:solidFill>
            <a:prstDash val="solid"/>
          </a:ln>
        </p:spPr>
      </p:sp>
      <p:sp>
        <p:nvSpPr>
          <p:cNvPr id="40" name="Text 38"/>
          <p:cNvSpPr/>
          <p:nvPr/>
        </p:nvSpPr>
        <p:spPr>
          <a:xfrm>
            <a:off x="4754880" y="1755648"/>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UAC Foods Reliability Output</a:t>
            </a:r>
            <a:endParaRPr lang="en-US" sz="1100" dirty="0"/>
          </a:p>
        </p:txBody>
      </p:sp>
      <p:sp>
        <p:nvSpPr>
          <p:cNvPr id="41" name="Text 39"/>
          <p:cNvSpPr/>
          <p:nvPr/>
        </p:nvSpPr>
        <p:spPr>
          <a:xfrm>
            <a:off x="4773168" y="2157984"/>
            <a:ext cx="3931920" cy="219456"/>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Reliability Statistics (Service Quality - 5 items):</a:t>
            </a:r>
            <a:endParaRPr lang="en-US" sz="950" dirty="0"/>
          </a:p>
        </p:txBody>
      </p:sp>
      <p:sp>
        <p:nvSpPr>
          <p:cNvPr id="42" name="Shape 40"/>
          <p:cNvSpPr/>
          <p:nvPr/>
        </p:nvSpPr>
        <p:spPr>
          <a:xfrm>
            <a:off x="4773168" y="2395728"/>
            <a:ext cx="2779776" cy="292608"/>
          </a:xfrm>
          <a:prstGeom prst="rect">
            <a:avLst/>
          </a:prstGeom>
          <a:solidFill>
            <a:srgbClr val="0A0F1E"/>
          </a:solidFill>
          <a:ln w="12700">
            <a:solidFill>
              <a:srgbClr val="0A0F1E"/>
            </a:solidFill>
            <a:prstDash val="solid"/>
          </a:ln>
        </p:spPr>
      </p:sp>
      <p:sp>
        <p:nvSpPr>
          <p:cNvPr id="43" name="Text 41"/>
          <p:cNvSpPr/>
          <p:nvPr/>
        </p:nvSpPr>
        <p:spPr>
          <a:xfrm>
            <a:off x="4773168" y="2395728"/>
            <a:ext cx="277977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Cronbach's Alpha</a:t>
            </a:r>
            <a:endParaRPr lang="en-US" sz="850" dirty="0"/>
          </a:p>
        </p:txBody>
      </p:sp>
      <p:sp>
        <p:nvSpPr>
          <p:cNvPr id="44" name="Shape 42"/>
          <p:cNvSpPr/>
          <p:nvPr/>
        </p:nvSpPr>
        <p:spPr>
          <a:xfrm>
            <a:off x="7552944" y="2395728"/>
            <a:ext cx="2084832" cy="292608"/>
          </a:xfrm>
          <a:prstGeom prst="rect">
            <a:avLst/>
          </a:prstGeom>
          <a:solidFill>
            <a:srgbClr val="0A0F1E"/>
          </a:solidFill>
          <a:ln w="12700">
            <a:solidFill>
              <a:srgbClr val="0A0F1E"/>
            </a:solidFill>
            <a:prstDash val="solid"/>
          </a:ln>
        </p:spPr>
      </p:sp>
      <p:sp>
        <p:nvSpPr>
          <p:cNvPr id="45" name="Text 43"/>
          <p:cNvSpPr/>
          <p:nvPr/>
        </p:nvSpPr>
        <p:spPr>
          <a:xfrm>
            <a:off x="7552944" y="2395728"/>
            <a:ext cx="208483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 of Items</a:t>
            </a:r>
            <a:endParaRPr lang="en-US" sz="850" dirty="0"/>
          </a:p>
        </p:txBody>
      </p:sp>
      <p:sp>
        <p:nvSpPr>
          <p:cNvPr id="46" name="Shape 44"/>
          <p:cNvSpPr/>
          <p:nvPr/>
        </p:nvSpPr>
        <p:spPr>
          <a:xfrm>
            <a:off x="4773168" y="2688336"/>
            <a:ext cx="2779776" cy="292608"/>
          </a:xfrm>
          <a:prstGeom prst="rect">
            <a:avLst/>
          </a:prstGeom>
          <a:solidFill>
            <a:srgbClr val="D8E8FF"/>
          </a:solidFill>
          <a:ln w="6350">
            <a:solidFill>
              <a:srgbClr val="C0C8E0"/>
            </a:solidFill>
            <a:prstDash val="solid"/>
          </a:ln>
        </p:spPr>
      </p:sp>
      <p:sp>
        <p:nvSpPr>
          <p:cNvPr id="47" name="Text 45"/>
          <p:cNvSpPr/>
          <p:nvPr/>
        </p:nvSpPr>
        <p:spPr>
          <a:xfrm>
            <a:off x="4773168" y="2688336"/>
            <a:ext cx="277977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.847</a:t>
            </a:r>
            <a:endParaRPr lang="en-US" sz="850" dirty="0"/>
          </a:p>
        </p:txBody>
      </p:sp>
      <p:sp>
        <p:nvSpPr>
          <p:cNvPr id="48" name="Shape 46"/>
          <p:cNvSpPr/>
          <p:nvPr/>
        </p:nvSpPr>
        <p:spPr>
          <a:xfrm>
            <a:off x="7552944" y="2688336"/>
            <a:ext cx="2084832" cy="292608"/>
          </a:xfrm>
          <a:prstGeom prst="rect">
            <a:avLst/>
          </a:prstGeom>
          <a:solidFill>
            <a:srgbClr val="EAEEF8"/>
          </a:solidFill>
          <a:ln w="6350">
            <a:solidFill>
              <a:srgbClr val="C0C8E0"/>
            </a:solidFill>
            <a:prstDash val="solid"/>
          </a:ln>
        </p:spPr>
      </p:sp>
      <p:sp>
        <p:nvSpPr>
          <p:cNvPr id="49" name="Text 47"/>
          <p:cNvSpPr/>
          <p:nvPr/>
        </p:nvSpPr>
        <p:spPr>
          <a:xfrm>
            <a:off x="7552944" y="2688336"/>
            <a:ext cx="208483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a:t>
            </a:r>
            <a:endParaRPr lang="en-US" sz="850" dirty="0"/>
          </a:p>
        </p:txBody>
      </p:sp>
      <p:sp>
        <p:nvSpPr>
          <p:cNvPr id="50" name="Text 48"/>
          <p:cNvSpPr/>
          <p:nvPr/>
        </p:nvSpPr>
        <p:spPr>
          <a:xfrm>
            <a:off x="4773168" y="2962656"/>
            <a:ext cx="3931920" cy="219456"/>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Item-Total Statistics (THE CRITICAL TABLE):</a:t>
            </a:r>
            <a:endParaRPr lang="en-US" sz="950" dirty="0"/>
          </a:p>
        </p:txBody>
      </p:sp>
      <p:sp>
        <p:nvSpPr>
          <p:cNvPr id="51" name="Shape 49"/>
          <p:cNvSpPr/>
          <p:nvPr/>
        </p:nvSpPr>
        <p:spPr>
          <a:xfrm>
            <a:off x="4773168" y="3200400"/>
            <a:ext cx="1115568" cy="292608"/>
          </a:xfrm>
          <a:prstGeom prst="rect">
            <a:avLst/>
          </a:prstGeom>
          <a:solidFill>
            <a:srgbClr val="0A0F1E"/>
          </a:solidFill>
          <a:ln w="12700">
            <a:solidFill>
              <a:srgbClr val="0A0F1E"/>
            </a:solidFill>
            <a:prstDash val="solid"/>
          </a:ln>
        </p:spPr>
      </p:sp>
      <p:sp>
        <p:nvSpPr>
          <p:cNvPr id="52" name="Text 50"/>
          <p:cNvSpPr/>
          <p:nvPr/>
        </p:nvSpPr>
        <p:spPr>
          <a:xfrm>
            <a:off x="4773168" y="3200400"/>
            <a:ext cx="111556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a:t>
            </a:r>
            <a:endParaRPr lang="en-US" sz="850" dirty="0"/>
          </a:p>
        </p:txBody>
      </p:sp>
      <p:sp>
        <p:nvSpPr>
          <p:cNvPr id="53" name="Shape 51"/>
          <p:cNvSpPr/>
          <p:nvPr/>
        </p:nvSpPr>
        <p:spPr>
          <a:xfrm>
            <a:off x="5888736" y="3200400"/>
            <a:ext cx="1408176" cy="292608"/>
          </a:xfrm>
          <a:prstGeom prst="rect">
            <a:avLst/>
          </a:prstGeom>
          <a:solidFill>
            <a:srgbClr val="0A0F1E"/>
          </a:solidFill>
          <a:ln w="12700">
            <a:solidFill>
              <a:srgbClr val="0A0F1E"/>
            </a:solidFill>
            <a:prstDash val="solid"/>
          </a:ln>
        </p:spPr>
      </p:sp>
      <p:sp>
        <p:nvSpPr>
          <p:cNvPr id="54" name="Text 52"/>
          <p:cNvSpPr/>
          <p:nvPr/>
        </p:nvSpPr>
        <p:spPr>
          <a:xfrm>
            <a:off x="5888736" y="3200400"/>
            <a:ext cx="140817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Corrected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Item-Total r</a:t>
            </a:r>
            <a:endParaRPr lang="en-US" sz="850" dirty="0"/>
          </a:p>
        </p:txBody>
      </p:sp>
      <p:sp>
        <p:nvSpPr>
          <p:cNvPr id="55" name="Shape 53"/>
          <p:cNvSpPr/>
          <p:nvPr/>
        </p:nvSpPr>
        <p:spPr>
          <a:xfrm>
            <a:off x="7296912" y="3200400"/>
            <a:ext cx="1426464" cy="292608"/>
          </a:xfrm>
          <a:prstGeom prst="rect">
            <a:avLst/>
          </a:prstGeom>
          <a:solidFill>
            <a:srgbClr val="0A0F1E"/>
          </a:solidFill>
          <a:ln w="12700">
            <a:solidFill>
              <a:srgbClr val="0A0F1E"/>
            </a:solidFill>
            <a:prstDash val="solid"/>
          </a:ln>
        </p:spPr>
      </p:sp>
      <p:sp>
        <p:nvSpPr>
          <p:cNvPr id="56" name="Text 54"/>
          <p:cNvSpPr/>
          <p:nvPr/>
        </p:nvSpPr>
        <p:spPr>
          <a:xfrm>
            <a:off x="7296912" y="3200400"/>
            <a:ext cx="14264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Alpha if</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Item Deleted</a:t>
            </a:r>
            <a:endParaRPr lang="en-US" sz="850" dirty="0"/>
          </a:p>
        </p:txBody>
      </p:sp>
      <p:sp>
        <p:nvSpPr>
          <p:cNvPr id="57" name="Shape 55"/>
          <p:cNvSpPr/>
          <p:nvPr/>
        </p:nvSpPr>
        <p:spPr>
          <a:xfrm>
            <a:off x="4773168" y="3493008"/>
            <a:ext cx="1115568" cy="292608"/>
          </a:xfrm>
          <a:prstGeom prst="rect">
            <a:avLst/>
          </a:prstGeom>
          <a:solidFill>
            <a:srgbClr val="EAEEF8"/>
          </a:solidFill>
          <a:ln w="6350">
            <a:solidFill>
              <a:srgbClr val="C0C8E0"/>
            </a:solidFill>
            <a:prstDash val="solid"/>
          </a:ln>
        </p:spPr>
      </p:sp>
      <p:sp>
        <p:nvSpPr>
          <p:cNvPr id="58" name="Text 56"/>
          <p:cNvSpPr/>
          <p:nvPr/>
        </p:nvSpPr>
        <p:spPr>
          <a:xfrm>
            <a:off x="4773168" y="3493008"/>
            <a:ext cx="1115568"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q1_staff_resp</a:t>
            </a:r>
            <a:endParaRPr lang="en-US" sz="850" dirty="0"/>
          </a:p>
        </p:txBody>
      </p:sp>
      <p:sp>
        <p:nvSpPr>
          <p:cNvPr id="59" name="Shape 57"/>
          <p:cNvSpPr/>
          <p:nvPr/>
        </p:nvSpPr>
        <p:spPr>
          <a:xfrm>
            <a:off x="5888736" y="3493008"/>
            <a:ext cx="1408176" cy="292608"/>
          </a:xfrm>
          <a:prstGeom prst="rect">
            <a:avLst/>
          </a:prstGeom>
          <a:solidFill>
            <a:srgbClr val="EAEEF8"/>
          </a:solidFill>
          <a:ln w="6350">
            <a:solidFill>
              <a:srgbClr val="C0C8E0"/>
            </a:solidFill>
            <a:prstDash val="solid"/>
          </a:ln>
        </p:spPr>
      </p:sp>
      <p:sp>
        <p:nvSpPr>
          <p:cNvPr id="60" name="Text 58"/>
          <p:cNvSpPr/>
          <p:nvPr/>
        </p:nvSpPr>
        <p:spPr>
          <a:xfrm>
            <a:off x="5888736" y="3493008"/>
            <a:ext cx="14081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.712</a:t>
            </a:r>
            <a:endParaRPr lang="en-US" sz="850" dirty="0"/>
          </a:p>
        </p:txBody>
      </p:sp>
      <p:sp>
        <p:nvSpPr>
          <p:cNvPr id="61" name="Shape 59"/>
          <p:cNvSpPr/>
          <p:nvPr/>
        </p:nvSpPr>
        <p:spPr>
          <a:xfrm>
            <a:off x="7296912" y="3493008"/>
            <a:ext cx="1426464" cy="292608"/>
          </a:xfrm>
          <a:prstGeom prst="rect">
            <a:avLst/>
          </a:prstGeom>
          <a:solidFill>
            <a:srgbClr val="EAEEF8"/>
          </a:solidFill>
          <a:ln w="6350">
            <a:solidFill>
              <a:srgbClr val="C0C8E0"/>
            </a:solidFill>
            <a:prstDash val="solid"/>
          </a:ln>
        </p:spPr>
      </p:sp>
      <p:sp>
        <p:nvSpPr>
          <p:cNvPr id="62" name="Text 60"/>
          <p:cNvSpPr/>
          <p:nvPr/>
        </p:nvSpPr>
        <p:spPr>
          <a:xfrm>
            <a:off x="7296912" y="3493008"/>
            <a:ext cx="14264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.812</a:t>
            </a:r>
            <a:endParaRPr lang="en-US" sz="850" dirty="0"/>
          </a:p>
        </p:txBody>
      </p:sp>
      <p:sp>
        <p:nvSpPr>
          <p:cNvPr id="63" name="Shape 61"/>
          <p:cNvSpPr/>
          <p:nvPr/>
        </p:nvSpPr>
        <p:spPr>
          <a:xfrm>
            <a:off x="4773168" y="3785616"/>
            <a:ext cx="1115568" cy="292608"/>
          </a:xfrm>
          <a:prstGeom prst="rect">
            <a:avLst/>
          </a:prstGeom>
          <a:solidFill>
            <a:srgbClr val="FFFFFF"/>
          </a:solidFill>
          <a:ln w="6350">
            <a:solidFill>
              <a:srgbClr val="C0C8E0"/>
            </a:solidFill>
            <a:prstDash val="solid"/>
          </a:ln>
        </p:spPr>
      </p:sp>
      <p:sp>
        <p:nvSpPr>
          <p:cNvPr id="64" name="Text 62"/>
          <p:cNvSpPr/>
          <p:nvPr/>
        </p:nvSpPr>
        <p:spPr>
          <a:xfrm>
            <a:off x="4773168" y="3785616"/>
            <a:ext cx="1115568"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q2_problem_res</a:t>
            </a:r>
            <a:endParaRPr lang="en-US" sz="850" dirty="0"/>
          </a:p>
        </p:txBody>
      </p:sp>
      <p:sp>
        <p:nvSpPr>
          <p:cNvPr id="65" name="Shape 63"/>
          <p:cNvSpPr/>
          <p:nvPr/>
        </p:nvSpPr>
        <p:spPr>
          <a:xfrm>
            <a:off x="5888736" y="3785616"/>
            <a:ext cx="1408176" cy="292608"/>
          </a:xfrm>
          <a:prstGeom prst="rect">
            <a:avLst/>
          </a:prstGeom>
          <a:solidFill>
            <a:srgbClr val="FFFFFF"/>
          </a:solidFill>
          <a:ln w="6350">
            <a:solidFill>
              <a:srgbClr val="C0C8E0"/>
            </a:solidFill>
            <a:prstDash val="solid"/>
          </a:ln>
        </p:spPr>
      </p:sp>
      <p:sp>
        <p:nvSpPr>
          <p:cNvPr id="66" name="Text 64"/>
          <p:cNvSpPr/>
          <p:nvPr/>
        </p:nvSpPr>
        <p:spPr>
          <a:xfrm>
            <a:off x="5888736" y="3785616"/>
            <a:ext cx="14081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.698</a:t>
            </a:r>
            <a:endParaRPr lang="en-US" sz="850" dirty="0"/>
          </a:p>
        </p:txBody>
      </p:sp>
      <p:sp>
        <p:nvSpPr>
          <p:cNvPr id="67" name="Shape 65"/>
          <p:cNvSpPr/>
          <p:nvPr/>
        </p:nvSpPr>
        <p:spPr>
          <a:xfrm>
            <a:off x="7296912" y="3785616"/>
            <a:ext cx="1426464" cy="292608"/>
          </a:xfrm>
          <a:prstGeom prst="rect">
            <a:avLst/>
          </a:prstGeom>
          <a:solidFill>
            <a:srgbClr val="FFFFFF"/>
          </a:solidFill>
          <a:ln w="6350">
            <a:solidFill>
              <a:srgbClr val="C0C8E0"/>
            </a:solidFill>
            <a:prstDash val="solid"/>
          </a:ln>
        </p:spPr>
      </p:sp>
      <p:sp>
        <p:nvSpPr>
          <p:cNvPr id="68" name="Text 66"/>
          <p:cNvSpPr/>
          <p:nvPr/>
        </p:nvSpPr>
        <p:spPr>
          <a:xfrm>
            <a:off x="7296912" y="3785616"/>
            <a:ext cx="14264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.818</a:t>
            </a:r>
            <a:endParaRPr lang="en-US" sz="850" dirty="0"/>
          </a:p>
        </p:txBody>
      </p:sp>
      <p:sp>
        <p:nvSpPr>
          <p:cNvPr id="69" name="Shape 67"/>
          <p:cNvSpPr/>
          <p:nvPr/>
        </p:nvSpPr>
        <p:spPr>
          <a:xfrm>
            <a:off x="4773168" y="4078224"/>
            <a:ext cx="1115568" cy="292608"/>
          </a:xfrm>
          <a:prstGeom prst="rect">
            <a:avLst/>
          </a:prstGeom>
          <a:solidFill>
            <a:srgbClr val="EAEEF8"/>
          </a:solidFill>
          <a:ln w="6350">
            <a:solidFill>
              <a:srgbClr val="C0C8E0"/>
            </a:solidFill>
            <a:prstDash val="solid"/>
          </a:ln>
        </p:spPr>
      </p:sp>
      <p:sp>
        <p:nvSpPr>
          <p:cNvPr id="70" name="Text 68"/>
          <p:cNvSpPr/>
          <p:nvPr/>
        </p:nvSpPr>
        <p:spPr>
          <a:xfrm>
            <a:off x="4773168" y="4078224"/>
            <a:ext cx="1115568"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q3_waiting_time</a:t>
            </a:r>
            <a:endParaRPr lang="en-US" sz="850" dirty="0"/>
          </a:p>
        </p:txBody>
      </p:sp>
      <p:sp>
        <p:nvSpPr>
          <p:cNvPr id="71" name="Shape 69"/>
          <p:cNvSpPr/>
          <p:nvPr/>
        </p:nvSpPr>
        <p:spPr>
          <a:xfrm>
            <a:off x="5888736" y="4078224"/>
            <a:ext cx="1408176" cy="292608"/>
          </a:xfrm>
          <a:prstGeom prst="rect">
            <a:avLst/>
          </a:prstGeom>
          <a:solidFill>
            <a:srgbClr val="EAEEF8"/>
          </a:solidFill>
          <a:ln w="6350">
            <a:solidFill>
              <a:srgbClr val="C0C8E0"/>
            </a:solidFill>
            <a:prstDash val="solid"/>
          </a:ln>
        </p:spPr>
      </p:sp>
      <p:sp>
        <p:nvSpPr>
          <p:cNvPr id="72" name="Text 70"/>
          <p:cNvSpPr/>
          <p:nvPr/>
        </p:nvSpPr>
        <p:spPr>
          <a:xfrm>
            <a:off x="5888736" y="4078224"/>
            <a:ext cx="14081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.648</a:t>
            </a:r>
            <a:endParaRPr lang="en-US" sz="850" dirty="0"/>
          </a:p>
        </p:txBody>
      </p:sp>
      <p:sp>
        <p:nvSpPr>
          <p:cNvPr id="73" name="Shape 71"/>
          <p:cNvSpPr/>
          <p:nvPr/>
        </p:nvSpPr>
        <p:spPr>
          <a:xfrm>
            <a:off x="7296912" y="4078224"/>
            <a:ext cx="1426464" cy="292608"/>
          </a:xfrm>
          <a:prstGeom prst="rect">
            <a:avLst/>
          </a:prstGeom>
          <a:solidFill>
            <a:srgbClr val="EAEEF8"/>
          </a:solidFill>
          <a:ln w="6350">
            <a:solidFill>
              <a:srgbClr val="C0C8E0"/>
            </a:solidFill>
            <a:prstDash val="solid"/>
          </a:ln>
        </p:spPr>
      </p:sp>
      <p:sp>
        <p:nvSpPr>
          <p:cNvPr id="74" name="Text 72"/>
          <p:cNvSpPr/>
          <p:nvPr/>
        </p:nvSpPr>
        <p:spPr>
          <a:xfrm>
            <a:off x="7296912" y="4078224"/>
            <a:ext cx="14264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.826</a:t>
            </a:r>
            <a:endParaRPr lang="en-US" sz="850" dirty="0"/>
          </a:p>
        </p:txBody>
      </p:sp>
      <p:sp>
        <p:nvSpPr>
          <p:cNvPr id="75" name="Shape 73"/>
          <p:cNvSpPr/>
          <p:nvPr/>
        </p:nvSpPr>
        <p:spPr>
          <a:xfrm>
            <a:off x="4773168" y="4370832"/>
            <a:ext cx="1115568" cy="292608"/>
          </a:xfrm>
          <a:prstGeom prst="rect">
            <a:avLst/>
          </a:prstGeom>
          <a:solidFill>
            <a:srgbClr val="FFFFFF"/>
          </a:solidFill>
          <a:ln w="6350">
            <a:solidFill>
              <a:srgbClr val="C0C8E0"/>
            </a:solidFill>
            <a:prstDash val="solid"/>
          </a:ln>
        </p:spPr>
      </p:sp>
      <p:sp>
        <p:nvSpPr>
          <p:cNvPr id="76" name="Text 74"/>
          <p:cNvSpPr/>
          <p:nvPr/>
        </p:nvSpPr>
        <p:spPr>
          <a:xfrm>
            <a:off x="4773168" y="4370832"/>
            <a:ext cx="1115568"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q4_staff_know</a:t>
            </a:r>
            <a:endParaRPr lang="en-US" sz="850" dirty="0"/>
          </a:p>
        </p:txBody>
      </p:sp>
      <p:sp>
        <p:nvSpPr>
          <p:cNvPr id="77" name="Shape 75"/>
          <p:cNvSpPr/>
          <p:nvPr/>
        </p:nvSpPr>
        <p:spPr>
          <a:xfrm>
            <a:off x="5888736" y="4370832"/>
            <a:ext cx="1408176" cy="292608"/>
          </a:xfrm>
          <a:prstGeom prst="rect">
            <a:avLst/>
          </a:prstGeom>
          <a:solidFill>
            <a:srgbClr val="D8E8FF"/>
          </a:solidFill>
          <a:ln w="6350">
            <a:solidFill>
              <a:srgbClr val="C0C8E0"/>
            </a:solidFill>
            <a:prstDash val="solid"/>
          </a:ln>
        </p:spPr>
      </p:sp>
      <p:sp>
        <p:nvSpPr>
          <p:cNvPr id="78" name="Text 76"/>
          <p:cNvSpPr/>
          <p:nvPr/>
        </p:nvSpPr>
        <p:spPr>
          <a:xfrm>
            <a:off x="5888736" y="4370832"/>
            <a:ext cx="1408176"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.724</a:t>
            </a:r>
            <a:endParaRPr lang="en-US" sz="850" dirty="0"/>
          </a:p>
        </p:txBody>
      </p:sp>
      <p:sp>
        <p:nvSpPr>
          <p:cNvPr id="79" name="Shape 77"/>
          <p:cNvSpPr/>
          <p:nvPr/>
        </p:nvSpPr>
        <p:spPr>
          <a:xfrm>
            <a:off x="7296912" y="4370832"/>
            <a:ext cx="1426464" cy="292608"/>
          </a:xfrm>
          <a:prstGeom prst="rect">
            <a:avLst/>
          </a:prstGeom>
          <a:solidFill>
            <a:srgbClr val="D8E8FF"/>
          </a:solidFill>
          <a:ln w="6350">
            <a:solidFill>
              <a:srgbClr val="C0C8E0"/>
            </a:solidFill>
            <a:prstDash val="solid"/>
          </a:ln>
        </p:spPr>
      </p:sp>
      <p:sp>
        <p:nvSpPr>
          <p:cNvPr id="80" name="Text 78"/>
          <p:cNvSpPr/>
          <p:nvPr/>
        </p:nvSpPr>
        <p:spPr>
          <a:xfrm>
            <a:off x="7296912" y="4370832"/>
            <a:ext cx="1426464"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.809</a:t>
            </a:r>
            <a:endParaRPr lang="en-US" sz="850" dirty="0"/>
          </a:p>
        </p:txBody>
      </p:sp>
      <p:sp>
        <p:nvSpPr>
          <p:cNvPr id="81" name="Shape 79"/>
          <p:cNvSpPr/>
          <p:nvPr/>
        </p:nvSpPr>
        <p:spPr>
          <a:xfrm>
            <a:off x="4773168" y="4663440"/>
            <a:ext cx="1115568" cy="292608"/>
          </a:xfrm>
          <a:prstGeom prst="rect">
            <a:avLst/>
          </a:prstGeom>
          <a:solidFill>
            <a:srgbClr val="EAEEF8"/>
          </a:solidFill>
          <a:ln w="6350">
            <a:solidFill>
              <a:srgbClr val="C0C8E0"/>
            </a:solidFill>
            <a:prstDash val="solid"/>
          </a:ln>
        </p:spPr>
      </p:sp>
      <p:sp>
        <p:nvSpPr>
          <p:cNvPr id="82" name="Text 80"/>
          <p:cNvSpPr/>
          <p:nvPr/>
        </p:nvSpPr>
        <p:spPr>
          <a:xfrm>
            <a:off x="4773168" y="4663440"/>
            <a:ext cx="1115568"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q5_complaint</a:t>
            </a:r>
            <a:endParaRPr lang="en-US" sz="850" dirty="0"/>
          </a:p>
        </p:txBody>
      </p:sp>
      <p:sp>
        <p:nvSpPr>
          <p:cNvPr id="83" name="Shape 81"/>
          <p:cNvSpPr/>
          <p:nvPr/>
        </p:nvSpPr>
        <p:spPr>
          <a:xfrm>
            <a:off x="5888736" y="4663440"/>
            <a:ext cx="1408176" cy="292608"/>
          </a:xfrm>
          <a:prstGeom prst="rect">
            <a:avLst/>
          </a:prstGeom>
          <a:solidFill>
            <a:srgbClr val="EAEEF8"/>
          </a:solidFill>
          <a:ln w="6350">
            <a:solidFill>
              <a:srgbClr val="C0C8E0"/>
            </a:solidFill>
            <a:prstDash val="solid"/>
          </a:ln>
        </p:spPr>
      </p:sp>
      <p:sp>
        <p:nvSpPr>
          <p:cNvPr id="84" name="Text 82"/>
          <p:cNvSpPr/>
          <p:nvPr/>
        </p:nvSpPr>
        <p:spPr>
          <a:xfrm>
            <a:off x="5888736" y="4663440"/>
            <a:ext cx="1408176"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.612</a:t>
            </a:r>
            <a:endParaRPr lang="en-US" sz="850" dirty="0"/>
          </a:p>
        </p:txBody>
      </p:sp>
      <p:sp>
        <p:nvSpPr>
          <p:cNvPr id="85" name="Shape 83"/>
          <p:cNvSpPr/>
          <p:nvPr/>
        </p:nvSpPr>
        <p:spPr>
          <a:xfrm>
            <a:off x="7296912" y="4663440"/>
            <a:ext cx="1426464" cy="292608"/>
          </a:xfrm>
          <a:prstGeom prst="rect">
            <a:avLst/>
          </a:prstGeom>
          <a:solidFill>
            <a:srgbClr val="EAEEF8"/>
          </a:solidFill>
          <a:ln w="6350">
            <a:solidFill>
              <a:srgbClr val="C0C8E0"/>
            </a:solidFill>
            <a:prstDash val="solid"/>
          </a:ln>
        </p:spPr>
      </p:sp>
      <p:sp>
        <p:nvSpPr>
          <p:cNvPr id="86" name="Text 84"/>
          <p:cNvSpPr/>
          <p:nvPr/>
        </p:nvSpPr>
        <p:spPr>
          <a:xfrm>
            <a:off x="7296912" y="4663440"/>
            <a:ext cx="1426464"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.836</a:t>
            </a:r>
            <a:endParaRPr lang="en-US" sz="850" dirty="0"/>
          </a:p>
        </p:txBody>
      </p:sp>
      <p:sp>
        <p:nvSpPr>
          <p:cNvPr id="87" name="Text 85"/>
          <p:cNvSpPr/>
          <p:nvPr/>
        </p:nvSpPr>
        <p:spPr>
          <a:xfrm>
            <a:off x="4773168" y="4590288"/>
            <a:ext cx="3931920" cy="475488"/>
          </a:xfrm>
          <a:prstGeom prst="rect">
            <a:avLst/>
          </a:prstGeom>
          <a:noFill/>
          <a:ln/>
        </p:spPr>
        <p:txBody>
          <a:bodyPr wrap="square" lIns="0" tIns="0" rIns="0" bIns="0" rtlCol="0" anchor="ctr"/>
          <a:lstStyle/>
          <a:p>
            <a:pPr indent="0" marL="0">
              <a:buNone/>
            </a:pPr>
            <a:r>
              <a:rPr lang="en-US" sz="900" b="1" dirty="0">
                <a:solidFill>
                  <a:srgbClr val="1A2D6B"/>
                </a:solidFill>
                <a:latin typeface="Calibri" pitchFamily="34" charset="0"/>
                <a:ea typeface="Calibri" pitchFamily="34" charset="-122"/>
                <a:cs typeface="Calibri" pitchFamily="34" charset="-120"/>
              </a:rPr>
              <a:t>Decision Rules: </a:t>
            </a:r>
            <a:pPr indent="0" marL="0">
              <a:buNone/>
            </a:pPr>
            <a:r>
              <a:rPr lang="en-US" sz="900" dirty="0">
                <a:solidFill>
                  <a:srgbClr val="1A2038"/>
                </a:solidFill>
                <a:latin typeface="Calibri" pitchFamily="34" charset="0"/>
                <a:ea typeface="Calibri" pitchFamily="34" charset="-122"/>
                <a:cs typeface="Calibri" pitchFamily="34" charset="-120"/>
              </a:rPr>
              <a:t>(1) Corrected Item-Total r &lt; .30 = weak item, consider removing. (2) Alpha if Item Deleted &gt; current alpha (.847) = removing improves reliability. All items here have r &gt; .60 and deletion would LOWER alpha. Keep all 5.</a:t>
            </a:r>
            <a:endParaRPr lang="en-US" sz="900" dirty="0"/>
          </a:p>
        </p:txBody>
      </p:sp>
      <p:sp>
        <p:nvSpPr>
          <p:cNvPr id="88" name="Shape 86"/>
          <p:cNvSpPr/>
          <p:nvPr/>
        </p:nvSpPr>
        <p:spPr>
          <a:xfrm>
            <a:off x="256032" y="5120640"/>
            <a:ext cx="8631936" cy="347472"/>
          </a:xfrm>
          <a:prstGeom prst="roundRect">
            <a:avLst>
              <a:gd name="adj" fmla="val 15789"/>
            </a:avLst>
          </a:prstGeom>
          <a:solidFill>
            <a:srgbClr val="FEF0ED"/>
          </a:solidFill>
          <a:ln w="19050">
            <a:solidFill>
              <a:srgbClr val="C0392B"/>
            </a:solidFill>
            <a:prstDash val="solid"/>
          </a:ln>
        </p:spPr>
      </p:sp>
      <p:sp>
        <p:nvSpPr>
          <p:cNvPr id="89" name="Text 87"/>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7A1A0E"/>
                </a:solidFill>
                <a:latin typeface="Calibri" pitchFamily="34" charset="0"/>
                <a:ea typeface="Calibri" pitchFamily="34" charset="-122"/>
                <a:cs typeface="Calibri" pitchFamily="34" charset="-120"/>
              </a:rPr>
              <a:t>Remove items ONE AT A TIME only. After each removal, re-run reliability and re-check. Never delete all weak items simultaneously - removing one may fix the correlation pattern for others.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A2D6B">
              <a:alpha val="20000"/>
            </a:srgbClr>
          </a:solidFill>
          <a:ln w="12700">
            <a:solidFill>
              <a:srgbClr val="1A2D6B"/>
            </a:solidFill>
            <a:prstDash val="solid"/>
          </a:ln>
        </p:spPr>
      </p:sp>
      <p:sp>
        <p:nvSpPr>
          <p:cNvPr id="3" name="Shape 1"/>
          <p:cNvSpPr/>
          <p:nvPr/>
        </p:nvSpPr>
        <p:spPr>
          <a:xfrm>
            <a:off x="-1097280" y="3200400"/>
            <a:ext cx="3657600" cy="3657600"/>
          </a:xfrm>
          <a:prstGeom prst="ellipse">
            <a:avLst/>
          </a:prstGeom>
          <a:solidFill>
            <a:srgbClr val="C8920A">
              <a:alpha val="12000"/>
            </a:srgbClr>
          </a:solidFill>
          <a:ln w="12700">
            <a:solidFill>
              <a:srgbClr val="C8920A"/>
            </a:solidFill>
            <a:prstDash val="solid"/>
          </a:ln>
        </p:spPr>
      </p:sp>
      <p:sp>
        <p:nvSpPr>
          <p:cNvPr id="4" name="Shape 2"/>
          <p:cNvSpPr/>
          <p:nvPr/>
        </p:nvSpPr>
        <p:spPr>
          <a:xfrm>
            <a:off x="4114800" y="1371600"/>
            <a:ext cx="1828800" cy="1828800"/>
          </a:xfrm>
          <a:prstGeom prst="ellipse">
            <a:avLst/>
          </a:prstGeom>
          <a:solidFill>
            <a:srgbClr val="0A6E4F">
              <a:alpha val="10000"/>
            </a:srgbClr>
          </a:solidFill>
          <a:ln w="12700">
            <a:solidFill>
              <a:srgbClr val="0A6E4F"/>
            </a:solidFill>
            <a:prstDash val="solid"/>
          </a:ln>
        </p:spPr>
      </p:sp>
      <p:sp>
        <p:nvSpPr>
          <p:cNvPr id="5" name="Text 3"/>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C8920A"/>
                </a:solidFill>
                <a:latin typeface="Calibri" pitchFamily="34" charset="0"/>
                <a:ea typeface="Calibri" pitchFamily="34" charset="-122"/>
                <a:cs typeface="Calibri" pitchFamily="34" charset="-120"/>
              </a:rPr>
              <a:t>MODULE 5  |  SECTION 07</a:t>
            </a:r>
            <a:endParaRPr lang="en-US" sz="1200" dirty="0"/>
          </a:p>
        </p:txBody>
      </p:sp>
      <p:sp>
        <p:nvSpPr>
          <p:cNvPr id="6" name="Text 4"/>
          <p:cNvSpPr/>
          <p:nvPr/>
        </p:nvSpPr>
        <p:spPr>
          <a:xfrm>
            <a:off x="548640" y="1417320"/>
            <a:ext cx="7772400" cy="11887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Cluster Analysis - Consumer Segmentation</a:t>
            </a:r>
            <a:endParaRPr lang="en-US" sz="3800" dirty="0"/>
          </a:p>
        </p:txBody>
      </p:sp>
      <p:sp>
        <p:nvSpPr>
          <p:cNvPr id="7" name="Text 5"/>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B0C0E8"/>
                </a:solidFill>
                <a:latin typeface="Calibri" pitchFamily="34" charset="0"/>
                <a:ea typeface="Calibri" pitchFamily="34" charset="-122"/>
                <a:cs typeface="Calibri" pitchFamily="34" charset="-120"/>
              </a:rPr>
              <a:t>K-means clustering to identify distinct consumer groups in the UAC Foods dataset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0F1E"/>
          </a:solidFill>
          <a:ln w="12700">
            <a:solidFill>
              <a:srgbClr val="0A0F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K-Means Cluster Analysis - Analyze &gt; Classify &gt; K-Means Cluster</a:t>
            </a:r>
            <a:endParaRPr lang="en-US" sz="2100" dirty="0"/>
          </a:p>
        </p:txBody>
      </p:sp>
      <p:sp>
        <p:nvSpPr>
          <p:cNvPr id="4" name="Shape 2"/>
          <p:cNvSpPr/>
          <p:nvPr/>
        </p:nvSpPr>
        <p:spPr>
          <a:xfrm>
            <a:off x="256032" y="1005840"/>
            <a:ext cx="8631936" cy="621792"/>
          </a:xfrm>
          <a:prstGeom prst="roundRect">
            <a:avLst>
              <a:gd name="adj" fmla="val 11765"/>
            </a:avLst>
          </a:prstGeom>
          <a:solidFill>
            <a:srgbClr val="E8EEF8"/>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24128"/>
            <a:ext cx="8321040" cy="566928"/>
          </a:xfrm>
          <a:prstGeom prst="rect">
            <a:avLst/>
          </a:prstGeom>
          <a:noFill/>
          <a:ln/>
        </p:spPr>
        <p:txBody>
          <a:bodyPr wrap="square" lIns="0" tIns="0" rIns="0" bIns="0" rtlCol="0" anchor="ctr"/>
          <a:lstStyle/>
          <a:p>
            <a:pPr indent="0" marL="0">
              <a:buNone/>
            </a:pPr>
            <a:r>
              <a:rPr lang="en-US" sz="1050" dirty="0">
                <a:solidFill>
                  <a:srgbClr val="1A2038"/>
                </a:solidFill>
                <a:latin typeface="Calibri" pitchFamily="34" charset="0"/>
                <a:ea typeface="Calibri" pitchFamily="34" charset="-122"/>
                <a:cs typeface="Calibri" pitchFamily="34" charset="-120"/>
              </a:rPr>
              <a:t>K-Means Cluster Analysis groups cases (consumers) into k clusters such that cases within each cluster are more similar to each other than to cases in other clusters. Used for consumer segmentation, market research, patient profiling, and fraud detection. Unlike all previous analyses, clustering has no DV - it is exploratory.</a:t>
            </a:r>
            <a:endParaRPr lang="en-US" sz="1050" dirty="0"/>
          </a:p>
        </p:txBody>
      </p:sp>
      <p:sp>
        <p:nvSpPr>
          <p:cNvPr id="6" name="Shape 4"/>
          <p:cNvSpPr/>
          <p:nvPr/>
        </p:nvSpPr>
        <p:spPr>
          <a:xfrm>
            <a:off x="256032" y="1719072"/>
            <a:ext cx="3200400" cy="3383280"/>
          </a:xfrm>
          <a:prstGeom prst="roundRect">
            <a:avLst>
              <a:gd name="adj" fmla="val 2571"/>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792224"/>
            <a:ext cx="3054096" cy="329184"/>
          </a:xfrm>
          <a:prstGeom prst="roundRect">
            <a:avLst>
              <a:gd name="adj" fmla="val 16667"/>
            </a:avLst>
          </a:prstGeom>
          <a:solidFill>
            <a:srgbClr val="1A2D6B"/>
          </a:solidFill>
          <a:ln w="12700">
            <a:solidFill>
              <a:srgbClr val="1A2D6B"/>
            </a:solidFill>
            <a:prstDash val="solid"/>
          </a:ln>
        </p:spPr>
      </p:sp>
      <p:sp>
        <p:nvSpPr>
          <p:cNvPr id="8" name="Text 6"/>
          <p:cNvSpPr/>
          <p:nvPr/>
        </p:nvSpPr>
        <p:spPr>
          <a:xfrm>
            <a:off x="329184" y="1792224"/>
            <a:ext cx="305409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Preparation and Steps</a:t>
            </a:r>
            <a:endParaRPr lang="en-US" sz="1100" dirty="0"/>
          </a:p>
        </p:txBody>
      </p:sp>
      <p:sp>
        <p:nvSpPr>
          <p:cNvPr id="9" name="Text 7"/>
          <p:cNvSpPr/>
          <p:nvPr/>
        </p:nvSpPr>
        <p:spPr>
          <a:xfrm>
            <a:off x="365760" y="2194560"/>
            <a:ext cx="3017520" cy="219456"/>
          </a:xfrm>
          <a:prstGeom prst="rect">
            <a:avLst/>
          </a:prstGeom>
          <a:noFill/>
          <a:ln/>
        </p:spPr>
        <p:txBody>
          <a:bodyPr wrap="square" lIns="0" tIns="0" rIns="0" bIns="0" rtlCol="0" anchor="ctr"/>
          <a:lstStyle/>
          <a:p>
            <a:pPr indent="0" marL="0">
              <a:buNone/>
            </a:pPr>
            <a:r>
              <a:rPr lang="en-US" sz="1000" b="1" dirty="0">
                <a:solidFill>
                  <a:srgbClr val="1A2D6B"/>
                </a:solidFill>
                <a:latin typeface="Calibri" pitchFamily="34" charset="0"/>
                <a:ea typeface="Calibri" pitchFamily="34" charset="-122"/>
                <a:cs typeface="Calibri" pitchFamily="34" charset="-120"/>
              </a:rPr>
              <a:t>Step 0 - Standardise variables first:</a:t>
            </a:r>
            <a:endParaRPr lang="en-US" sz="1000" dirty="0"/>
          </a:p>
        </p:txBody>
      </p:sp>
      <p:sp>
        <p:nvSpPr>
          <p:cNvPr id="10" name="Text 8"/>
          <p:cNvSpPr/>
          <p:nvPr/>
        </p:nvSpPr>
        <p:spPr>
          <a:xfrm>
            <a:off x="365760" y="2450592"/>
            <a:ext cx="3017520" cy="512064"/>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Analyze &gt; Descriptive Statistics &gt; Descriptives &gt; check 'Save standardised values as variables'. Creates Z-score variables (prefix Z). Monthly salary range is 45k-2.4M; without standardising, it would dominate the clustering.</a:t>
            </a:r>
            <a:endParaRPr lang="en-US" sz="900" dirty="0"/>
          </a:p>
        </p:txBody>
      </p:sp>
      <p:sp>
        <p:nvSpPr>
          <p:cNvPr id="11" name="Text 9"/>
          <p:cNvSpPr/>
          <p:nvPr/>
        </p:nvSpPr>
        <p:spPr>
          <a:xfrm>
            <a:off x="365760" y="3017520"/>
            <a:ext cx="3017520" cy="31089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1. Analyze &gt; Classify &gt; K-Means Cluster</a:t>
            </a:r>
            <a:endParaRPr lang="en-US" sz="850" dirty="0"/>
          </a:p>
        </p:txBody>
      </p:sp>
      <p:sp>
        <p:nvSpPr>
          <p:cNvPr id="12" name="Text 10"/>
          <p:cNvSpPr/>
          <p:nvPr/>
        </p:nvSpPr>
        <p:spPr>
          <a:xfrm>
            <a:off x="365760" y="3364992"/>
            <a:ext cx="3017520" cy="31089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2. Move Z-score variables to Variables box: Zsat_mean, Zmonthly_salary_ngn, Zage_in_years, Zrepurchase</a:t>
            </a:r>
            <a:endParaRPr lang="en-US" sz="850" dirty="0"/>
          </a:p>
        </p:txBody>
      </p:sp>
      <p:sp>
        <p:nvSpPr>
          <p:cNvPr id="13" name="Text 11"/>
          <p:cNvSpPr/>
          <p:nvPr/>
        </p:nvSpPr>
        <p:spPr>
          <a:xfrm>
            <a:off x="365760" y="3712464"/>
            <a:ext cx="3017520" cy="31089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3. Set Number of Clusters: try k=3, 4, 5</a:t>
            </a:r>
            <a:endParaRPr lang="en-US" sz="850" dirty="0"/>
          </a:p>
        </p:txBody>
      </p:sp>
      <p:sp>
        <p:nvSpPr>
          <p:cNvPr id="14" name="Text 12"/>
          <p:cNvSpPr/>
          <p:nvPr/>
        </p:nvSpPr>
        <p:spPr>
          <a:xfrm>
            <a:off x="365760" y="4059936"/>
            <a:ext cx="3017520" cy="31089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4. Click Iterate: maximum 25 iterations</a:t>
            </a:r>
            <a:endParaRPr lang="en-US" sz="850" dirty="0"/>
          </a:p>
        </p:txBody>
      </p:sp>
      <p:sp>
        <p:nvSpPr>
          <p:cNvPr id="15" name="Text 13"/>
          <p:cNvSpPr/>
          <p:nvPr/>
        </p:nvSpPr>
        <p:spPr>
          <a:xfrm>
            <a:off x="365760" y="4407408"/>
            <a:ext cx="3017520" cy="31089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5. Click Save: Cluster Membership (QCL_1), Distance from center (QCL_2)</a:t>
            </a:r>
            <a:endParaRPr lang="en-US" sz="850" dirty="0"/>
          </a:p>
        </p:txBody>
      </p:sp>
      <p:sp>
        <p:nvSpPr>
          <p:cNvPr id="16" name="Text 14"/>
          <p:cNvSpPr/>
          <p:nvPr/>
        </p:nvSpPr>
        <p:spPr>
          <a:xfrm>
            <a:off x="365760" y="4754880"/>
            <a:ext cx="3017520" cy="31089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6. Click OK. Re-run for different k values</a:t>
            </a:r>
            <a:endParaRPr lang="en-US" sz="850" dirty="0"/>
          </a:p>
        </p:txBody>
      </p:sp>
      <p:sp>
        <p:nvSpPr>
          <p:cNvPr id="17" name="Shape 15"/>
          <p:cNvSpPr/>
          <p:nvPr/>
        </p:nvSpPr>
        <p:spPr>
          <a:xfrm>
            <a:off x="3584448" y="1719072"/>
            <a:ext cx="5303520" cy="3383280"/>
          </a:xfrm>
          <a:prstGeom prst="roundRect">
            <a:avLst>
              <a:gd name="adj" fmla="val 2432"/>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3657600" y="1792224"/>
            <a:ext cx="5138928" cy="329184"/>
          </a:xfrm>
          <a:prstGeom prst="roundRect">
            <a:avLst>
              <a:gd name="adj" fmla="val 16667"/>
            </a:avLst>
          </a:prstGeom>
          <a:solidFill>
            <a:srgbClr val="0A0F1E"/>
          </a:solidFill>
          <a:ln w="12700">
            <a:solidFill>
              <a:srgbClr val="0A0F1E"/>
            </a:solidFill>
            <a:prstDash val="solid"/>
          </a:ln>
        </p:spPr>
      </p:sp>
      <p:sp>
        <p:nvSpPr>
          <p:cNvPr id="19" name="Text 17"/>
          <p:cNvSpPr/>
          <p:nvPr/>
        </p:nvSpPr>
        <p:spPr>
          <a:xfrm>
            <a:off x="3657600" y="1792224"/>
            <a:ext cx="5138928" cy="329184"/>
          </a:xfrm>
          <a:prstGeom prst="rect">
            <a:avLst/>
          </a:prstGeom>
          <a:noFill/>
          <a:ln/>
        </p:spPr>
        <p:txBody>
          <a:bodyPr wrap="square" lIns="0" tIns="0" rIns="0" bIns="0" rtlCol="0" anchor="ctr"/>
          <a:lstStyle/>
          <a:p>
            <a:pPr algn="ctr" indent="0" marL="0">
              <a:buNone/>
            </a:pPr>
            <a:r>
              <a:rPr lang="en-US" sz="1050" b="1" dirty="0">
                <a:solidFill>
                  <a:srgbClr val="F0C040"/>
                </a:solidFill>
                <a:latin typeface="Calibri" pitchFamily="34" charset="0"/>
                <a:ea typeface="Calibri" pitchFamily="34" charset="-122"/>
                <a:cs typeface="Calibri" pitchFamily="34" charset="-120"/>
              </a:rPr>
              <a:t>K-Means Output (k=4) - UAC Foods Consumer Segments</a:t>
            </a:r>
            <a:endParaRPr lang="en-US" sz="1050" dirty="0"/>
          </a:p>
        </p:txBody>
      </p:sp>
      <p:sp>
        <p:nvSpPr>
          <p:cNvPr id="20" name="Text 18"/>
          <p:cNvSpPr/>
          <p:nvPr/>
        </p:nvSpPr>
        <p:spPr>
          <a:xfrm>
            <a:off x="3657600" y="2194560"/>
            <a:ext cx="5120640" cy="201168"/>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Final Cluster Centers (unstandardised means for interpretation):</a:t>
            </a:r>
            <a:endParaRPr lang="en-US" sz="950" dirty="0"/>
          </a:p>
        </p:txBody>
      </p:sp>
      <p:sp>
        <p:nvSpPr>
          <p:cNvPr id="21" name="Shape 19"/>
          <p:cNvSpPr/>
          <p:nvPr/>
        </p:nvSpPr>
        <p:spPr>
          <a:xfrm>
            <a:off x="3657600" y="2414016"/>
            <a:ext cx="1097280" cy="292608"/>
          </a:xfrm>
          <a:prstGeom prst="rect">
            <a:avLst/>
          </a:prstGeom>
          <a:solidFill>
            <a:srgbClr val="0A0F1E"/>
          </a:solidFill>
          <a:ln w="12700">
            <a:solidFill>
              <a:srgbClr val="0A0F1E"/>
            </a:solidFill>
            <a:prstDash val="solid"/>
          </a:ln>
        </p:spPr>
      </p:sp>
      <p:sp>
        <p:nvSpPr>
          <p:cNvPr id="22" name="Text 20"/>
          <p:cNvSpPr/>
          <p:nvPr/>
        </p:nvSpPr>
        <p:spPr>
          <a:xfrm>
            <a:off x="3657600" y="2414016"/>
            <a:ext cx="109728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Variable</a:t>
            </a:r>
            <a:endParaRPr lang="en-US" sz="850" dirty="0"/>
          </a:p>
        </p:txBody>
      </p:sp>
      <p:sp>
        <p:nvSpPr>
          <p:cNvPr id="23" name="Shape 21"/>
          <p:cNvSpPr/>
          <p:nvPr/>
        </p:nvSpPr>
        <p:spPr>
          <a:xfrm>
            <a:off x="4754880" y="2414016"/>
            <a:ext cx="987552" cy="292608"/>
          </a:xfrm>
          <a:prstGeom prst="rect">
            <a:avLst/>
          </a:prstGeom>
          <a:solidFill>
            <a:srgbClr val="0A0F1E"/>
          </a:solidFill>
          <a:ln w="12700">
            <a:solidFill>
              <a:srgbClr val="0A0F1E"/>
            </a:solidFill>
            <a:prstDash val="solid"/>
          </a:ln>
        </p:spPr>
      </p:sp>
      <p:sp>
        <p:nvSpPr>
          <p:cNvPr id="24" name="Text 22"/>
          <p:cNvSpPr/>
          <p:nvPr/>
        </p:nvSpPr>
        <p:spPr>
          <a:xfrm>
            <a:off x="4754880" y="2414016"/>
            <a:ext cx="9875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Cluster 1</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'Loyal High'</a:t>
            </a:r>
            <a:endParaRPr lang="en-US" sz="850" dirty="0"/>
          </a:p>
        </p:txBody>
      </p:sp>
      <p:sp>
        <p:nvSpPr>
          <p:cNvPr id="25" name="Shape 23"/>
          <p:cNvSpPr/>
          <p:nvPr/>
        </p:nvSpPr>
        <p:spPr>
          <a:xfrm>
            <a:off x="5742432" y="2414016"/>
            <a:ext cx="987552" cy="292608"/>
          </a:xfrm>
          <a:prstGeom prst="rect">
            <a:avLst/>
          </a:prstGeom>
          <a:solidFill>
            <a:srgbClr val="0A0F1E"/>
          </a:solidFill>
          <a:ln w="12700">
            <a:solidFill>
              <a:srgbClr val="0A0F1E"/>
            </a:solidFill>
            <a:prstDash val="solid"/>
          </a:ln>
        </p:spPr>
      </p:sp>
      <p:sp>
        <p:nvSpPr>
          <p:cNvPr id="26" name="Text 24"/>
          <p:cNvSpPr/>
          <p:nvPr/>
        </p:nvSpPr>
        <p:spPr>
          <a:xfrm>
            <a:off x="5742432" y="2414016"/>
            <a:ext cx="9875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Cluster 2</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'Budget Young'</a:t>
            </a:r>
            <a:endParaRPr lang="en-US" sz="850" dirty="0"/>
          </a:p>
        </p:txBody>
      </p:sp>
      <p:sp>
        <p:nvSpPr>
          <p:cNvPr id="27" name="Shape 25"/>
          <p:cNvSpPr/>
          <p:nvPr/>
        </p:nvSpPr>
        <p:spPr>
          <a:xfrm>
            <a:off x="6729984" y="2414016"/>
            <a:ext cx="987552" cy="292608"/>
          </a:xfrm>
          <a:prstGeom prst="rect">
            <a:avLst/>
          </a:prstGeom>
          <a:solidFill>
            <a:srgbClr val="0A0F1E"/>
          </a:solidFill>
          <a:ln w="12700">
            <a:solidFill>
              <a:srgbClr val="0A0F1E"/>
            </a:solidFill>
            <a:prstDash val="solid"/>
          </a:ln>
        </p:spPr>
      </p:sp>
      <p:sp>
        <p:nvSpPr>
          <p:cNvPr id="28" name="Text 26"/>
          <p:cNvSpPr/>
          <p:nvPr/>
        </p:nvSpPr>
        <p:spPr>
          <a:xfrm>
            <a:off x="6729984" y="2414016"/>
            <a:ext cx="9875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Cluster 3</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'Mid Mass'</a:t>
            </a:r>
            <a:endParaRPr lang="en-US" sz="850" dirty="0"/>
          </a:p>
        </p:txBody>
      </p:sp>
      <p:sp>
        <p:nvSpPr>
          <p:cNvPr id="29" name="Shape 27"/>
          <p:cNvSpPr/>
          <p:nvPr/>
        </p:nvSpPr>
        <p:spPr>
          <a:xfrm>
            <a:off x="7717536" y="2414016"/>
            <a:ext cx="987552" cy="292608"/>
          </a:xfrm>
          <a:prstGeom prst="rect">
            <a:avLst/>
          </a:prstGeom>
          <a:solidFill>
            <a:srgbClr val="0A0F1E"/>
          </a:solidFill>
          <a:ln w="12700">
            <a:solidFill>
              <a:srgbClr val="0A0F1E"/>
            </a:solidFill>
            <a:prstDash val="solid"/>
          </a:ln>
        </p:spPr>
      </p:sp>
      <p:sp>
        <p:nvSpPr>
          <p:cNvPr id="30" name="Text 28"/>
          <p:cNvSpPr/>
          <p:nvPr/>
        </p:nvSpPr>
        <p:spPr>
          <a:xfrm>
            <a:off x="7717536" y="2414016"/>
            <a:ext cx="987552"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Cluster 4</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'Senior Premium'</a:t>
            </a:r>
            <a:endParaRPr lang="en-US" sz="850" dirty="0"/>
          </a:p>
        </p:txBody>
      </p:sp>
      <p:sp>
        <p:nvSpPr>
          <p:cNvPr id="31" name="Shape 29"/>
          <p:cNvSpPr/>
          <p:nvPr/>
        </p:nvSpPr>
        <p:spPr>
          <a:xfrm>
            <a:off x="3657600" y="2706624"/>
            <a:ext cx="1097280" cy="292608"/>
          </a:xfrm>
          <a:prstGeom prst="rect">
            <a:avLst/>
          </a:prstGeom>
          <a:solidFill>
            <a:srgbClr val="EAEEF8"/>
          </a:solidFill>
          <a:ln w="6350">
            <a:solidFill>
              <a:srgbClr val="C0C8E0"/>
            </a:solidFill>
            <a:prstDash val="solid"/>
          </a:ln>
        </p:spPr>
      </p:sp>
      <p:sp>
        <p:nvSpPr>
          <p:cNvPr id="32" name="Text 30"/>
          <p:cNvSpPr/>
          <p:nvPr/>
        </p:nvSpPr>
        <p:spPr>
          <a:xfrm>
            <a:off x="3657600" y="2706624"/>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sat_mean</a:t>
            </a:r>
            <a:endParaRPr lang="en-US" sz="850" dirty="0"/>
          </a:p>
        </p:txBody>
      </p:sp>
      <p:sp>
        <p:nvSpPr>
          <p:cNvPr id="33" name="Shape 31"/>
          <p:cNvSpPr/>
          <p:nvPr/>
        </p:nvSpPr>
        <p:spPr>
          <a:xfrm>
            <a:off x="4754880" y="2706624"/>
            <a:ext cx="987552" cy="292608"/>
          </a:xfrm>
          <a:prstGeom prst="rect">
            <a:avLst/>
          </a:prstGeom>
          <a:solidFill>
            <a:srgbClr val="EAEEF8"/>
          </a:solidFill>
          <a:ln w="6350">
            <a:solidFill>
              <a:srgbClr val="C0C8E0"/>
            </a:solidFill>
            <a:prstDash val="solid"/>
          </a:ln>
        </p:spPr>
      </p:sp>
      <p:sp>
        <p:nvSpPr>
          <p:cNvPr id="34" name="Text 32"/>
          <p:cNvSpPr/>
          <p:nvPr/>
        </p:nvSpPr>
        <p:spPr>
          <a:xfrm>
            <a:off x="4754880" y="2706624"/>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4.48</a:t>
            </a:r>
            <a:endParaRPr lang="en-US" sz="850" dirty="0"/>
          </a:p>
        </p:txBody>
      </p:sp>
      <p:sp>
        <p:nvSpPr>
          <p:cNvPr id="35" name="Shape 33"/>
          <p:cNvSpPr/>
          <p:nvPr/>
        </p:nvSpPr>
        <p:spPr>
          <a:xfrm>
            <a:off x="5742432" y="2706624"/>
            <a:ext cx="987552" cy="292608"/>
          </a:xfrm>
          <a:prstGeom prst="rect">
            <a:avLst/>
          </a:prstGeom>
          <a:solidFill>
            <a:srgbClr val="EAEEF8"/>
          </a:solidFill>
          <a:ln w="6350">
            <a:solidFill>
              <a:srgbClr val="C0C8E0"/>
            </a:solidFill>
            <a:prstDash val="solid"/>
          </a:ln>
        </p:spPr>
      </p:sp>
      <p:sp>
        <p:nvSpPr>
          <p:cNvPr id="36" name="Text 34"/>
          <p:cNvSpPr/>
          <p:nvPr/>
        </p:nvSpPr>
        <p:spPr>
          <a:xfrm>
            <a:off x="5742432" y="2706624"/>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3.12</a:t>
            </a:r>
            <a:endParaRPr lang="en-US" sz="850" dirty="0"/>
          </a:p>
        </p:txBody>
      </p:sp>
      <p:sp>
        <p:nvSpPr>
          <p:cNvPr id="37" name="Shape 35"/>
          <p:cNvSpPr/>
          <p:nvPr/>
        </p:nvSpPr>
        <p:spPr>
          <a:xfrm>
            <a:off x="6729984" y="2706624"/>
            <a:ext cx="987552" cy="292608"/>
          </a:xfrm>
          <a:prstGeom prst="rect">
            <a:avLst/>
          </a:prstGeom>
          <a:solidFill>
            <a:srgbClr val="EAEEF8"/>
          </a:solidFill>
          <a:ln w="6350">
            <a:solidFill>
              <a:srgbClr val="C0C8E0"/>
            </a:solidFill>
            <a:prstDash val="solid"/>
          </a:ln>
        </p:spPr>
      </p:sp>
      <p:sp>
        <p:nvSpPr>
          <p:cNvPr id="38" name="Text 36"/>
          <p:cNvSpPr/>
          <p:nvPr/>
        </p:nvSpPr>
        <p:spPr>
          <a:xfrm>
            <a:off x="6729984" y="2706624"/>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3.68</a:t>
            </a:r>
            <a:endParaRPr lang="en-US" sz="850" dirty="0"/>
          </a:p>
        </p:txBody>
      </p:sp>
      <p:sp>
        <p:nvSpPr>
          <p:cNvPr id="39" name="Shape 37"/>
          <p:cNvSpPr/>
          <p:nvPr/>
        </p:nvSpPr>
        <p:spPr>
          <a:xfrm>
            <a:off x="7717536" y="2706624"/>
            <a:ext cx="987552" cy="292608"/>
          </a:xfrm>
          <a:prstGeom prst="rect">
            <a:avLst/>
          </a:prstGeom>
          <a:solidFill>
            <a:srgbClr val="EAEEF8"/>
          </a:solidFill>
          <a:ln w="6350">
            <a:solidFill>
              <a:srgbClr val="C0C8E0"/>
            </a:solidFill>
            <a:prstDash val="solid"/>
          </a:ln>
        </p:spPr>
      </p:sp>
      <p:sp>
        <p:nvSpPr>
          <p:cNvPr id="40" name="Text 38"/>
          <p:cNvSpPr/>
          <p:nvPr/>
        </p:nvSpPr>
        <p:spPr>
          <a:xfrm>
            <a:off x="7717536" y="2706624"/>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4.22</a:t>
            </a:r>
            <a:endParaRPr lang="en-US" sz="850" dirty="0"/>
          </a:p>
        </p:txBody>
      </p:sp>
      <p:sp>
        <p:nvSpPr>
          <p:cNvPr id="41" name="Shape 39"/>
          <p:cNvSpPr/>
          <p:nvPr/>
        </p:nvSpPr>
        <p:spPr>
          <a:xfrm>
            <a:off x="3657600" y="2999232"/>
            <a:ext cx="1097280" cy="292608"/>
          </a:xfrm>
          <a:prstGeom prst="rect">
            <a:avLst/>
          </a:prstGeom>
          <a:solidFill>
            <a:srgbClr val="FFFFFF"/>
          </a:solidFill>
          <a:ln w="6350">
            <a:solidFill>
              <a:srgbClr val="C0C8E0"/>
            </a:solidFill>
            <a:prstDash val="solid"/>
          </a:ln>
        </p:spPr>
      </p:sp>
      <p:sp>
        <p:nvSpPr>
          <p:cNvPr id="42" name="Text 40"/>
          <p:cNvSpPr/>
          <p:nvPr/>
        </p:nvSpPr>
        <p:spPr>
          <a:xfrm>
            <a:off x="3657600" y="2999232"/>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monthly_salary</a:t>
            </a:r>
            <a:endParaRPr lang="en-US" sz="850" dirty="0"/>
          </a:p>
        </p:txBody>
      </p:sp>
      <p:sp>
        <p:nvSpPr>
          <p:cNvPr id="43" name="Shape 41"/>
          <p:cNvSpPr/>
          <p:nvPr/>
        </p:nvSpPr>
        <p:spPr>
          <a:xfrm>
            <a:off x="4754880" y="2999232"/>
            <a:ext cx="987552" cy="292608"/>
          </a:xfrm>
          <a:prstGeom prst="rect">
            <a:avLst/>
          </a:prstGeom>
          <a:solidFill>
            <a:srgbClr val="FFFFFF"/>
          </a:solidFill>
          <a:ln w="6350">
            <a:solidFill>
              <a:srgbClr val="C0C8E0"/>
            </a:solidFill>
            <a:prstDash val="solid"/>
          </a:ln>
        </p:spPr>
      </p:sp>
      <p:sp>
        <p:nvSpPr>
          <p:cNvPr id="44" name="Text 42"/>
          <p:cNvSpPr/>
          <p:nvPr/>
        </p:nvSpPr>
        <p:spPr>
          <a:xfrm>
            <a:off x="4754880" y="2999232"/>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N420,000</a:t>
            </a:r>
            <a:endParaRPr lang="en-US" sz="850" dirty="0"/>
          </a:p>
        </p:txBody>
      </p:sp>
      <p:sp>
        <p:nvSpPr>
          <p:cNvPr id="45" name="Shape 43"/>
          <p:cNvSpPr/>
          <p:nvPr/>
        </p:nvSpPr>
        <p:spPr>
          <a:xfrm>
            <a:off x="5742432" y="2999232"/>
            <a:ext cx="987552" cy="292608"/>
          </a:xfrm>
          <a:prstGeom prst="rect">
            <a:avLst/>
          </a:prstGeom>
          <a:solidFill>
            <a:srgbClr val="FFFFFF"/>
          </a:solidFill>
          <a:ln w="6350">
            <a:solidFill>
              <a:srgbClr val="C0C8E0"/>
            </a:solidFill>
            <a:prstDash val="solid"/>
          </a:ln>
        </p:spPr>
      </p:sp>
      <p:sp>
        <p:nvSpPr>
          <p:cNvPr id="46" name="Text 44"/>
          <p:cNvSpPr/>
          <p:nvPr/>
        </p:nvSpPr>
        <p:spPr>
          <a:xfrm>
            <a:off x="5742432" y="2999232"/>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N98,000</a:t>
            </a:r>
            <a:endParaRPr lang="en-US" sz="850" dirty="0"/>
          </a:p>
        </p:txBody>
      </p:sp>
      <p:sp>
        <p:nvSpPr>
          <p:cNvPr id="47" name="Shape 45"/>
          <p:cNvSpPr/>
          <p:nvPr/>
        </p:nvSpPr>
        <p:spPr>
          <a:xfrm>
            <a:off x="6729984" y="2999232"/>
            <a:ext cx="987552" cy="292608"/>
          </a:xfrm>
          <a:prstGeom prst="rect">
            <a:avLst/>
          </a:prstGeom>
          <a:solidFill>
            <a:srgbClr val="FFFFFF"/>
          </a:solidFill>
          <a:ln w="6350">
            <a:solidFill>
              <a:srgbClr val="C0C8E0"/>
            </a:solidFill>
            <a:prstDash val="solid"/>
          </a:ln>
        </p:spPr>
      </p:sp>
      <p:sp>
        <p:nvSpPr>
          <p:cNvPr id="48" name="Text 46"/>
          <p:cNvSpPr/>
          <p:nvPr/>
        </p:nvSpPr>
        <p:spPr>
          <a:xfrm>
            <a:off x="6729984" y="2999232"/>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N218,000</a:t>
            </a:r>
            <a:endParaRPr lang="en-US" sz="850" dirty="0"/>
          </a:p>
        </p:txBody>
      </p:sp>
      <p:sp>
        <p:nvSpPr>
          <p:cNvPr id="49" name="Shape 47"/>
          <p:cNvSpPr/>
          <p:nvPr/>
        </p:nvSpPr>
        <p:spPr>
          <a:xfrm>
            <a:off x="7717536" y="2999232"/>
            <a:ext cx="987552" cy="292608"/>
          </a:xfrm>
          <a:prstGeom prst="rect">
            <a:avLst/>
          </a:prstGeom>
          <a:solidFill>
            <a:srgbClr val="FFFFFF"/>
          </a:solidFill>
          <a:ln w="6350">
            <a:solidFill>
              <a:srgbClr val="C0C8E0"/>
            </a:solidFill>
            <a:prstDash val="solid"/>
          </a:ln>
        </p:spPr>
      </p:sp>
      <p:sp>
        <p:nvSpPr>
          <p:cNvPr id="50" name="Text 48"/>
          <p:cNvSpPr/>
          <p:nvPr/>
        </p:nvSpPr>
        <p:spPr>
          <a:xfrm>
            <a:off x="7717536" y="2999232"/>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N385,000</a:t>
            </a:r>
            <a:endParaRPr lang="en-US" sz="850" dirty="0"/>
          </a:p>
        </p:txBody>
      </p:sp>
      <p:sp>
        <p:nvSpPr>
          <p:cNvPr id="51" name="Shape 49"/>
          <p:cNvSpPr/>
          <p:nvPr/>
        </p:nvSpPr>
        <p:spPr>
          <a:xfrm>
            <a:off x="3657600" y="3291840"/>
            <a:ext cx="1097280" cy="292608"/>
          </a:xfrm>
          <a:prstGeom prst="rect">
            <a:avLst/>
          </a:prstGeom>
          <a:solidFill>
            <a:srgbClr val="EAEEF8"/>
          </a:solidFill>
          <a:ln w="6350">
            <a:solidFill>
              <a:srgbClr val="C0C8E0"/>
            </a:solidFill>
            <a:prstDash val="solid"/>
          </a:ln>
        </p:spPr>
      </p:sp>
      <p:sp>
        <p:nvSpPr>
          <p:cNvPr id="52" name="Text 50"/>
          <p:cNvSpPr/>
          <p:nvPr/>
        </p:nvSpPr>
        <p:spPr>
          <a:xfrm>
            <a:off x="3657600" y="3291840"/>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age_in_years</a:t>
            </a:r>
            <a:endParaRPr lang="en-US" sz="850" dirty="0"/>
          </a:p>
        </p:txBody>
      </p:sp>
      <p:sp>
        <p:nvSpPr>
          <p:cNvPr id="53" name="Shape 51"/>
          <p:cNvSpPr/>
          <p:nvPr/>
        </p:nvSpPr>
        <p:spPr>
          <a:xfrm>
            <a:off x="4754880" y="3291840"/>
            <a:ext cx="987552" cy="292608"/>
          </a:xfrm>
          <a:prstGeom prst="rect">
            <a:avLst/>
          </a:prstGeom>
          <a:solidFill>
            <a:srgbClr val="EAEEF8"/>
          </a:solidFill>
          <a:ln w="6350">
            <a:solidFill>
              <a:srgbClr val="C0C8E0"/>
            </a:solidFill>
            <a:prstDash val="solid"/>
          </a:ln>
        </p:spPr>
      </p:sp>
      <p:sp>
        <p:nvSpPr>
          <p:cNvPr id="54" name="Text 52"/>
          <p:cNvSpPr/>
          <p:nvPr/>
        </p:nvSpPr>
        <p:spPr>
          <a:xfrm>
            <a:off x="4754880" y="3291840"/>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38</a:t>
            </a:r>
            <a:endParaRPr lang="en-US" sz="850" dirty="0"/>
          </a:p>
        </p:txBody>
      </p:sp>
      <p:sp>
        <p:nvSpPr>
          <p:cNvPr id="55" name="Shape 53"/>
          <p:cNvSpPr/>
          <p:nvPr/>
        </p:nvSpPr>
        <p:spPr>
          <a:xfrm>
            <a:off x="5742432" y="3291840"/>
            <a:ext cx="987552" cy="292608"/>
          </a:xfrm>
          <a:prstGeom prst="rect">
            <a:avLst/>
          </a:prstGeom>
          <a:solidFill>
            <a:srgbClr val="EAEEF8"/>
          </a:solidFill>
          <a:ln w="6350">
            <a:solidFill>
              <a:srgbClr val="C0C8E0"/>
            </a:solidFill>
            <a:prstDash val="solid"/>
          </a:ln>
        </p:spPr>
      </p:sp>
      <p:sp>
        <p:nvSpPr>
          <p:cNvPr id="56" name="Text 54"/>
          <p:cNvSpPr/>
          <p:nvPr/>
        </p:nvSpPr>
        <p:spPr>
          <a:xfrm>
            <a:off x="5742432" y="3291840"/>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24</a:t>
            </a:r>
            <a:endParaRPr lang="en-US" sz="850" dirty="0"/>
          </a:p>
        </p:txBody>
      </p:sp>
      <p:sp>
        <p:nvSpPr>
          <p:cNvPr id="57" name="Shape 55"/>
          <p:cNvSpPr/>
          <p:nvPr/>
        </p:nvSpPr>
        <p:spPr>
          <a:xfrm>
            <a:off x="6729984" y="3291840"/>
            <a:ext cx="987552" cy="292608"/>
          </a:xfrm>
          <a:prstGeom prst="rect">
            <a:avLst/>
          </a:prstGeom>
          <a:solidFill>
            <a:srgbClr val="EAEEF8"/>
          </a:solidFill>
          <a:ln w="6350">
            <a:solidFill>
              <a:srgbClr val="C0C8E0"/>
            </a:solidFill>
            <a:prstDash val="solid"/>
          </a:ln>
        </p:spPr>
      </p:sp>
      <p:sp>
        <p:nvSpPr>
          <p:cNvPr id="58" name="Text 56"/>
          <p:cNvSpPr/>
          <p:nvPr/>
        </p:nvSpPr>
        <p:spPr>
          <a:xfrm>
            <a:off x="6729984" y="3291840"/>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34</a:t>
            </a:r>
            <a:endParaRPr lang="en-US" sz="850" dirty="0"/>
          </a:p>
        </p:txBody>
      </p:sp>
      <p:sp>
        <p:nvSpPr>
          <p:cNvPr id="59" name="Shape 57"/>
          <p:cNvSpPr/>
          <p:nvPr/>
        </p:nvSpPr>
        <p:spPr>
          <a:xfrm>
            <a:off x="7717536" y="3291840"/>
            <a:ext cx="987552" cy="292608"/>
          </a:xfrm>
          <a:prstGeom prst="rect">
            <a:avLst/>
          </a:prstGeom>
          <a:solidFill>
            <a:srgbClr val="EAEEF8"/>
          </a:solidFill>
          <a:ln w="6350">
            <a:solidFill>
              <a:srgbClr val="C0C8E0"/>
            </a:solidFill>
            <a:prstDash val="solid"/>
          </a:ln>
        </p:spPr>
      </p:sp>
      <p:sp>
        <p:nvSpPr>
          <p:cNvPr id="60" name="Text 58"/>
          <p:cNvSpPr/>
          <p:nvPr/>
        </p:nvSpPr>
        <p:spPr>
          <a:xfrm>
            <a:off x="7717536" y="3291840"/>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58</a:t>
            </a:r>
            <a:endParaRPr lang="en-US" sz="850" dirty="0"/>
          </a:p>
        </p:txBody>
      </p:sp>
      <p:sp>
        <p:nvSpPr>
          <p:cNvPr id="61" name="Shape 59"/>
          <p:cNvSpPr/>
          <p:nvPr/>
        </p:nvSpPr>
        <p:spPr>
          <a:xfrm>
            <a:off x="3657600" y="3584448"/>
            <a:ext cx="1097280" cy="292608"/>
          </a:xfrm>
          <a:prstGeom prst="rect">
            <a:avLst/>
          </a:prstGeom>
          <a:solidFill>
            <a:srgbClr val="FFFFFF"/>
          </a:solidFill>
          <a:ln w="6350">
            <a:solidFill>
              <a:srgbClr val="C0C8E0"/>
            </a:solidFill>
            <a:prstDash val="solid"/>
          </a:ln>
        </p:spPr>
      </p:sp>
      <p:sp>
        <p:nvSpPr>
          <p:cNvPr id="62" name="Text 60"/>
          <p:cNvSpPr/>
          <p:nvPr/>
        </p:nvSpPr>
        <p:spPr>
          <a:xfrm>
            <a:off x="3657600" y="3584448"/>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repurchase</a:t>
            </a:r>
            <a:endParaRPr lang="en-US" sz="850" dirty="0"/>
          </a:p>
        </p:txBody>
      </p:sp>
      <p:sp>
        <p:nvSpPr>
          <p:cNvPr id="63" name="Shape 61"/>
          <p:cNvSpPr/>
          <p:nvPr/>
        </p:nvSpPr>
        <p:spPr>
          <a:xfrm>
            <a:off x="4754880" y="3584448"/>
            <a:ext cx="987552" cy="292608"/>
          </a:xfrm>
          <a:prstGeom prst="rect">
            <a:avLst/>
          </a:prstGeom>
          <a:solidFill>
            <a:srgbClr val="FFFFFF"/>
          </a:solidFill>
          <a:ln w="6350">
            <a:solidFill>
              <a:srgbClr val="C0C8E0"/>
            </a:solidFill>
            <a:prstDash val="solid"/>
          </a:ln>
        </p:spPr>
      </p:sp>
      <p:sp>
        <p:nvSpPr>
          <p:cNvPr id="64" name="Text 62"/>
          <p:cNvSpPr/>
          <p:nvPr/>
        </p:nvSpPr>
        <p:spPr>
          <a:xfrm>
            <a:off x="4754880" y="3584448"/>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4.8</a:t>
            </a:r>
            <a:endParaRPr lang="en-US" sz="850" dirty="0"/>
          </a:p>
        </p:txBody>
      </p:sp>
      <p:sp>
        <p:nvSpPr>
          <p:cNvPr id="65" name="Shape 63"/>
          <p:cNvSpPr/>
          <p:nvPr/>
        </p:nvSpPr>
        <p:spPr>
          <a:xfrm>
            <a:off x="5742432" y="3584448"/>
            <a:ext cx="987552" cy="292608"/>
          </a:xfrm>
          <a:prstGeom prst="rect">
            <a:avLst/>
          </a:prstGeom>
          <a:solidFill>
            <a:srgbClr val="FFFFFF"/>
          </a:solidFill>
          <a:ln w="6350">
            <a:solidFill>
              <a:srgbClr val="C0C8E0"/>
            </a:solidFill>
            <a:prstDash val="solid"/>
          </a:ln>
        </p:spPr>
      </p:sp>
      <p:sp>
        <p:nvSpPr>
          <p:cNvPr id="66" name="Text 64"/>
          <p:cNvSpPr/>
          <p:nvPr/>
        </p:nvSpPr>
        <p:spPr>
          <a:xfrm>
            <a:off x="5742432" y="3584448"/>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2.4</a:t>
            </a:r>
            <a:endParaRPr lang="en-US" sz="850" dirty="0"/>
          </a:p>
        </p:txBody>
      </p:sp>
      <p:sp>
        <p:nvSpPr>
          <p:cNvPr id="67" name="Shape 65"/>
          <p:cNvSpPr/>
          <p:nvPr/>
        </p:nvSpPr>
        <p:spPr>
          <a:xfrm>
            <a:off x="6729984" y="3584448"/>
            <a:ext cx="987552" cy="292608"/>
          </a:xfrm>
          <a:prstGeom prst="rect">
            <a:avLst/>
          </a:prstGeom>
          <a:solidFill>
            <a:srgbClr val="FFFFFF"/>
          </a:solidFill>
          <a:ln w="6350">
            <a:solidFill>
              <a:srgbClr val="C0C8E0"/>
            </a:solidFill>
            <a:prstDash val="solid"/>
          </a:ln>
        </p:spPr>
      </p:sp>
      <p:sp>
        <p:nvSpPr>
          <p:cNvPr id="68" name="Text 66"/>
          <p:cNvSpPr/>
          <p:nvPr/>
        </p:nvSpPr>
        <p:spPr>
          <a:xfrm>
            <a:off x="6729984" y="3584448"/>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3.6</a:t>
            </a:r>
            <a:endParaRPr lang="en-US" sz="850" dirty="0"/>
          </a:p>
        </p:txBody>
      </p:sp>
      <p:sp>
        <p:nvSpPr>
          <p:cNvPr id="69" name="Shape 67"/>
          <p:cNvSpPr/>
          <p:nvPr/>
        </p:nvSpPr>
        <p:spPr>
          <a:xfrm>
            <a:off x="7717536" y="3584448"/>
            <a:ext cx="987552" cy="292608"/>
          </a:xfrm>
          <a:prstGeom prst="rect">
            <a:avLst/>
          </a:prstGeom>
          <a:solidFill>
            <a:srgbClr val="FFFFFF"/>
          </a:solidFill>
          <a:ln w="6350">
            <a:solidFill>
              <a:srgbClr val="C0C8E0"/>
            </a:solidFill>
            <a:prstDash val="solid"/>
          </a:ln>
        </p:spPr>
      </p:sp>
      <p:sp>
        <p:nvSpPr>
          <p:cNvPr id="70" name="Text 68"/>
          <p:cNvSpPr/>
          <p:nvPr/>
        </p:nvSpPr>
        <p:spPr>
          <a:xfrm>
            <a:off x="7717536" y="3584448"/>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4.6</a:t>
            </a:r>
            <a:endParaRPr lang="en-US" sz="850" dirty="0"/>
          </a:p>
        </p:txBody>
      </p:sp>
      <p:sp>
        <p:nvSpPr>
          <p:cNvPr id="71" name="Shape 69"/>
          <p:cNvSpPr/>
          <p:nvPr/>
        </p:nvSpPr>
        <p:spPr>
          <a:xfrm>
            <a:off x="3657600" y="3877056"/>
            <a:ext cx="1097280" cy="292608"/>
          </a:xfrm>
          <a:prstGeom prst="rect">
            <a:avLst/>
          </a:prstGeom>
          <a:solidFill>
            <a:srgbClr val="EAEEF8"/>
          </a:solidFill>
          <a:ln w="6350">
            <a:solidFill>
              <a:srgbClr val="C0C8E0"/>
            </a:solidFill>
            <a:prstDash val="solid"/>
          </a:ln>
        </p:spPr>
      </p:sp>
      <p:sp>
        <p:nvSpPr>
          <p:cNvPr id="72" name="Text 70"/>
          <p:cNvSpPr/>
          <p:nvPr/>
        </p:nvSpPr>
        <p:spPr>
          <a:xfrm>
            <a:off x="3657600" y="3877056"/>
            <a:ext cx="109728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N</a:t>
            </a:r>
            <a:endParaRPr lang="en-US" sz="850" dirty="0"/>
          </a:p>
        </p:txBody>
      </p:sp>
      <p:sp>
        <p:nvSpPr>
          <p:cNvPr id="73" name="Shape 71"/>
          <p:cNvSpPr/>
          <p:nvPr/>
        </p:nvSpPr>
        <p:spPr>
          <a:xfrm>
            <a:off x="4754880" y="3877056"/>
            <a:ext cx="987552" cy="292608"/>
          </a:xfrm>
          <a:prstGeom prst="rect">
            <a:avLst/>
          </a:prstGeom>
          <a:solidFill>
            <a:srgbClr val="EAEEF8"/>
          </a:solidFill>
          <a:ln w="6350">
            <a:solidFill>
              <a:srgbClr val="C0C8E0"/>
            </a:solidFill>
            <a:prstDash val="solid"/>
          </a:ln>
        </p:spPr>
      </p:sp>
      <p:sp>
        <p:nvSpPr>
          <p:cNvPr id="74" name="Text 72"/>
          <p:cNvSpPr/>
          <p:nvPr/>
        </p:nvSpPr>
        <p:spPr>
          <a:xfrm>
            <a:off x="4754880" y="3877056"/>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84</a:t>
            </a:r>
            <a:endParaRPr lang="en-US" sz="850" dirty="0"/>
          </a:p>
        </p:txBody>
      </p:sp>
      <p:sp>
        <p:nvSpPr>
          <p:cNvPr id="75" name="Shape 73"/>
          <p:cNvSpPr/>
          <p:nvPr/>
        </p:nvSpPr>
        <p:spPr>
          <a:xfrm>
            <a:off x="5742432" y="3877056"/>
            <a:ext cx="987552" cy="292608"/>
          </a:xfrm>
          <a:prstGeom prst="rect">
            <a:avLst/>
          </a:prstGeom>
          <a:solidFill>
            <a:srgbClr val="EAEEF8"/>
          </a:solidFill>
          <a:ln w="6350">
            <a:solidFill>
              <a:srgbClr val="C0C8E0"/>
            </a:solidFill>
            <a:prstDash val="solid"/>
          </a:ln>
        </p:spPr>
      </p:sp>
      <p:sp>
        <p:nvSpPr>
          <p:cNvPr id="76" name="Text 74"/>
          <p:cNvSpPr/>
          <p:nvPr/>
        </p:nvSpPr>
        <p:spPr>
          <a:xfrm>
            <a:off x="5742432" y="3877056"/>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142</a:t>
            </a:r>
            <a:endParaRPr lang="en-US" sz="850" dirty="0"/>
          </a:p>
        </p:txBody>
      </p:sp>
      <p:sp>
        <p:nvSpPr>
          <p:cNvPr id="77" name="Shape 75"/>
          <p:cNvSpPr/>
          <p:nvPr/>
        </p:nvSpPr>
        <p:spPr>
          <a:xfrm>
            <a:off x="6729984" y="3877056"/>
            <a:ext cx="987552" cy="292608"/>
          </a:xfrm>
          <a:prstGeom prst="rect">
            <a:avLst/>
          </a:prstGeom>
          <a:solidFill>
            <a:srgbClr val="EAEEF8"/>
          </a:solidFill>
          <a:ln w="6350">
            <a:solidFill>
              <a:srgbClr val="C0C8E0"/>
            </a:solidFill>
            <a:prstDash val="solid"/>
          </a:ln>
        </p:spPr>
      </p:sp>
      <p:sp>
        <p:nvSpPr>
          <p:cNvPr id="78" name="Text 76"/>
          <p:cNvSpPr/>
          <p:nvPr/>
        </p:nvSpPr>
        <p:spPr>
          <a:xfrm>
            <a:off x="6729984" y="3877056"/>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168</a:t>
            </a:r>
            <a:endParaRPr lang="en-US" sz="850" dirty="0"/>
          </a:p>
        </p:txBody>
      </p:sp>
      <p:sp>
        <p:nvSpPr>
          <p:cNvPr id="79" name="Shape 77"/>
          <p:cNvSpPr/>
          <p:nvPr/>
        </p:nvSpPr>
        <p:spPr>
          <a:xfrm>
            <a:off x="7717536" y="3877056"/>
            <a:ext cx="987552" cy="292608"/>
          </a:xfrm>
          <a:prstGeom prst="rect">
            <a:avLst/>
          </a:prstGeom>
          <a:solidFill>
            <a:srgbClr val="EAEEF8"/>
          </a:solidFill>
          <a:ln w="6350">
            <a:solidFill>
              <a:srgbClr val="C0C8E0"/>
            </a:solidFill>
            <a:prstDash val="solid"/>
          </a:ln>
        </p:spPr>
      </p:sp>
      <p:sp>
        <p:nvSpPr>
          <p:cNvPr id="80" name="Text 78"/>
          <p:cNvSpPr/>
          <p:nvPr/>
        </p:nvSpPr>
        <p:spPr>
          <a:xfrm>
            <a:off x="7717536" y="3877056"/>
            <a:ext cx="987552"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56</a:t>
            </a:r>
            <a:endParaRPr lang="en-US" sz="850" dirty="0"/>
          </a:p>
        </p:txBody>
      </p:sp>
      <p:sp>
        <p:nvSpPr>
          <p:cNvPr id="81" name="Text 79"/>
          <p:cNvSpPr/>
          <p:nvPr/>
        </p:nvSpPr>
        <p:spPr>
          <a:xfrm>
            <a:off x="3657600" y="3877056"/>
            <a:ext cx="5120640" cy="201168"/>
          </a:xfrm>
          <a:prstGeom prst="rect">
            <a:avLst/>
          </a:prstGeom>
          <a:noFill/>
          <a:ln/>
        </p:spPr>
        <p:txBody>
          <a:bodyPr wrap="square" lIns="0" tIns="0" rIns="0" bIns="0" rtlCol="0" anchor="ctr"/>
          <a:lstStyle/>
          <a:p>
            <a:pPr indent="0" marL="0">
              <a:buNone/>
            </a:pPr>
            <a:r>
              <a:rPr lang="en-US" sz="950" b="1" dirty="0">
                <a:solidFill>
                  <a:srgbClr val="2748A8"/>
                </a:solidFill>
                <a:latin typeface="Calibri" pitchFamily="34" charset="0"/>
                <a:ea typeface="Calibri" pitchFamily="34" charset="-122"/>
                <a:cs typeface="Calibri" pitchFamily="34" charset="-120"/>
              </a:rPr>
              <a:t>ANOVA (significant clustering variables):</a:t>
            </a:r>
            <a:endParaRPr lang="en-US" sz="950" dirty="0"/>
          </a:p>
        </p:txBody>
      </p:sp>
      <p:sp>
        <p:nvSpPr>
          <p:cNvPr id="82" name="Shape 80"/>
          <p:cNvSpPr/>
          <p:nvPr/>
        </p:nvSpPr>
        <p:spPr>
          <a:xfrm>
            <a:off x="3657600" y="4096512"/>
            <a:ext cx="2194560" cy="292608"/>
          </a:xfrm>
          <a:prstGeom prst="rect">
            <a:avLst/>
          </a:prstGeom>
          <a:solidFill>
            <a:srgbClr val="0A0F1E"/>
          </a:solidFill>
          <a:ln w="12700">
            <a:solidFill>
              <a:srgbClr val="0A0F1E"/>
            </a:solidFill>
            <a:prstDash val="solid"/>
          </a:ln>
        </p:spPr>
      </p:sp>
      <p:sp>
        <p:nvSpPr>
          <p:cNvPr id="83" name="Text 81"/>
          <p:cNvSpPr/>
          <p:nvPr/>
        </p:nvSpPr>
        <p:spPr>
          <a:xfrm>
            <a:off x="3657600" y="409651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Variable</a:t>
            </a:r>
            <a:endParaRPr lang="en-US" sz="850" dirty="0"/>
          </a:p>
        </p:txBody>
      </p:sp>
      <p:sp>
        <p:nvSpPr>
          <p:cNvPr id="84" name="Shape 82"/>
          <p:cNvSpPr/>
          <p:nvPr/>
        </p:nvSpPr>
        <p:spPr>
          <a:xfrm>
            <a:off x="5852160" y="4096512"/>
            <a:ext cx="1463040" cy="292608"/>
          </a:xfrm>
          <a:prstGeom prst="rect">
            <a:avLst/>
          </a:prstGeom>
          <a:solidFill>
            <a:srgbClr val="0A0F1E"/>
          </a:solidFill>
          <a:ln w="12700">
            <a:solidFill>
              <a:srgbClr val="0A0F1E"/>
            </a:solidFill>
            <a:prstDash val="solid"/>
          </a:ln>
        </p:spPr>
      </p:sp>
      <p:sp>
        <p:nvSpPr>
          <p:cNvPr id="85" name="Text 83"/>
          <p:cNvSpPr/>
          <p:nvPr/>
        </p:nvSpPr>
        <p:spPr>
          <a:xfrm>
            <a:off x="5852160" y="4096512"/>
            <a:ext cx="14630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t>
            </a:r>
            <a:endParaRPr lang="en-US" sz="850" dirty="0"/>
          </a:p>
        </p:txBody>
      </p:sp>
      <p:sp>
        <p:nvSpPr>
          <p:cNvPr id="86" name="Shape 84"/>
          <p:cNvSpPr/>
          <p:nvPr/>
        </p:nvSpPr>
        <p:spPr>
          <a:xfrm>
            <a:off x="7315200" y="4096512"/>
            <a:ext cx="1463040" cy="292608"/>
          </a:xfrm>
          <a:prstGeom prst="rect">
            <a:avLst/>
          </a:prstGeom>
          <a:solidFill>
            <a:srgbClr val="0A0F1E"/>
          </a:solidFill>
          <a:ln w="12700">
            <a:solidFill>
              <a:srgbClr val="0A0F1E"/>
            </a:solidFill>
            <a:prstDash val="solid"/>
          </a:ln>
        </p:spPr>
      </p:sp>
      <p:sp>
        <p:nvSpPr>
          <p:cNvPr id="87" name="Text 85"/>
          <p:cNvSpPr/>
          <p:nvPr/>
        </p:nvSpPr>
        <p:spPr>
          <a:xfrm>
            <a:off x="7315200" y="4096512"/>
            <a:ext cx="14630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Sig.</a:t>
            </a:r>
            <a:endParaRPr lang="en-US" sz="850" dirty="0"/>
          </a:p>
        </p:txBody>
      </p:sp>
      <p:sp>
        <p:nvSpPr>
          <p:cNvPr id="88" name="Shape 86"/>
          <p:cNvSpPr/>
          <p:nvPr/>
        </p:nvSpPr>
        <p:spPr>
          <a:xfrm>
            <a:off x="3657600" y="4389120"/>
            <a:ext cx="2194560" cy="292608"/>
          </a:xfrm>
          <a:prstGeom prst="rect">
            <a:avLst/>
          </a:prstGeom>
          <a:solidFill>
            <a:srgbClr val="EAEEF8"/>
          </a:solidFill>
          <a:ln w="6350">
            <a:solidFill>
              <a:srgbClr val="C0C8E0"/>
            </a:solidFill>
            <a:prstDash val="solid"/>
          </a:ln>
        </p:spPr>
      </p:sp>
      <p:sp>
        <p:nvSpPr>
          <p:cNvPr id="89" name="Text 87"/>
          <p:cNvSpPr/>
          <p:nvPr/>
        </p:nvSpPr>
        <p:spPr>
          <a:xfrm>
            <a:off x="3657600" y="4389120"/>
            <a:ext cx="21945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sat_mean</a:t>
            </a:r>
            <a:endParaRPr lang="en-US" sz="850" dirty="0"/>
          </a:p>
        </p:txBody>
      </p:sp>
      <p:sp>
        <p:nvSpPr>
          <p:cNvPr id="90" name="Shape 88"/>
          <p:cNvSpPr/>
          <p:nvPr/>
        </p:nvSpPr>
        <p:spPr>
          <a:xfrm>
            <a:off x="5852160" y="4389120"/>
            <a:ext cx="1463040" cy="292608"/>
          </a:xfrm>
          <a:prstGeom prst="rect">
            <a:avLst/>
          </a:prstGeom>
          <a:solidFill>
            <a:srgbClr val="D8E8FF"/>
          </a:solidFill>
          <a:ln w="6350">
            <a:solidFill>
              <a:srgbClr val="C0C8E0"/>
            </a:solidFill>
            <a:prstDash val="solid"/>
          </a:ln>
        </p:spPr>
      </p:sp>
      <p:sp>
        <p:nvSpPr>
          <p:cNvPr id="91" name="Text 89"/>
          <p:cNvSpPr/>
          <p:nvPr/>
        </p:nvSpPr>
        <p:spPr>
          <a:xfrm>
            <a:off x="5852160" y="4389120"/>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124.8</a:t>
            </a:r>
            <a:endParaRPr lang="en-US" sz="850" dirty="0"/>
          </a:p>
        </p:txBody>
      </p:sp>
      <p:sp>
        <p:nvSpPr>
          <p:cNvPr id="92" name="Shape 90"/>
          <p:cNvSpPr/>
          <p:nvPr/>
        </p:nvSpPr>
        <p:spPr>
          <a:xfrm>
            <a:off x="7315200" y="4389120"/>
            <a:ext cx="1463040" cy="292608"/>
          </a:xfrm>
          <a:prstGeom prst="rect">
            <a:avLst/>
          </a:prstGeom>
          <a:solidFill>
            <a:srgbClr val="D8E8FF"/>
          </a:solidFill>
          <a:ln w="6350">
            <a:solidFill>
              <a:srgbClr val="C0C8E0"/>
            </a:solidFill>
            <a:prstDash val="solid"/>
          </a:ln>
        </p:spPr>
      </p:sp>
      <p:sp>
        <p:nvSpPr>
          <p:cNvPr id="93" name="Text 91"/>
          <p:cNvSpPr/>
          <p:nvPr/>
        </p:nvSpPr>
        <p:spPr>
          <a:xfrm>
            <a:off x="7315200" y="4389120"/>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94" name="Shape 92"/>
          <p:cNvSpPr/>
          <p:nvPr/>
        </p:nvSpPr>
        <p:spPr>
          <a:xfrm>
            <a:off x="3657600" y="4681728"/>
            <a:ext cx="2194560" cy="292608"/>
          </a:xfrm>
          <a:prstGeom prst="rect">
            <a:avLst/>
          </a:prstGeom>
          <a:solidFill>
            <a:srgbClr val="FFFFFF"/>
          </a:solidFill>
          <a:ln w="6350">
            <a:solidFill>
              <a:srgbClr val="C0C8E0"/>
            </a:solidFill>
            <a:prstDash val="solid"/>
          </a:ln>
        </p:spPr>
      </p:sp>
      <p:sp>
        <p:nvSpPr>
          <p:cNvPr id="95" name="Text 93"/>
          <p:cNvSpPr/>
          <p:nvPr/>
        </p:nvSpPr>
        <p:spPr>
          <a:xfrm>
            <a:off x="3657600" y="4681728"/>
            <a:ext cx="21945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monthly_salary</a:t>
            </a:r>
            <a:endParaRPr lang="en-US" sz="850" dirty="0"/>
          </a:p>
        </p:txBody>
      </p:sp>
      <p:sp>
        <p:nvSpPr>
          <p:cNvPr id="96" name="Shape 94"/>
          <p:cNvSpPr/>
          <p:nvPr/>
        </p:nvSpPr>
        <p:spPr>
          <a:xfrm>
            <a:off x="5852160" y="4681728"/>
            <a:ext cx="1463040" cy="292608"/>
          </a:xfrm>
          <a:prstGeom prst="rect">
            <a:avLst/>
          </a:prstGeom>
          <a:solidFill>
            <a:srgbClr val="D8E8FF"/>
          </a:solidFill>
          <a:ln w="6350">
            <a:solidFill>
              <a:srgbClr val="C0C8E0"/>
            </a:solidFill>
            <a:prstDash val="solid"/>
          </a:ln>
        </p:spPr>
      </p:sp>
      <p:sp>
        <p:nvSpPr>
          <p:cNvPr id="97" name="Text 95"/>
          <p:cNvSpPr/>
          <p:nvPr/>
        </p:nvSpPr>
        <p:spPr>
          <a:xfrm>
            <a:off x="5852160" y="4681728"/>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98.4</a:t>
            </a:r>
            <a:endParaRPr lang="en-US" sz="850" dirty="0"/>
          </a:p>
        </p:txBody>
      </p:sp>
      <p:sp>
        <p:nvSpPr>
          <p:cNvPr id="98" name="Shape 96"/>
          <p:cNvSpPr/>
          <p:nvPr/>
        </p:nvSpPr>
        <p:spPr>
          <a:xfrm>
            <a:off x="7315200" y="4681728"/>
            <a:ext cx="1463040" cy="292608"/>
          </a:xfrm>
          <a:prstGeom prst="rect">
            <a:avLst/>
          </a:prstGeom>
          <a:solidFill>
            <a:srgbClr val="D8E8FF"/>
          </a:solidFill>
          <a:ln w="6350">
            <a:solidFill>
              <a:srgbClr val="C0C8E0"/>
            </a:solidFill>
            <a:prstDash val="solid"/>
          </a:ln>
        </p:spPr>
      </p:sp>
      <p:sp>
        <p:nvSpPr>
          <p:cNvPr id="99" name="Text 97"/>
          <p:cNvSpPr/>
          <p:nvPr/>
        </p:nvSpPr>
        <p:spPr>
          <a:xfrm>
            <a:off x="7315200" y="4681728"/>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100" name="Shape 98"/>
          <p:cNvSpPr/>
          <p:nvPr/>
        </p:nvSpPr>
        <p:spPr>
          <a:xfrm>
            <a:off x="3657600" y="4974336"/>
            <a:ext cx="2194560" cy="292608"/>
          </a:xfrm>
          <a:prstGeom prst="rect">
            <a:avLst/>
          </a:prstGeom>
          <a:solidFill>
            <a:srgbClr val="EAEEF8"/>
          </a:solidFill>
          <a:ln w="6350">
            <a:solidFill>
              <a:srgbClr val="C0C8E0"/>
            </a:solidFill>
            <a:prstDash val="solid"/>
          </a:ln>
        </p:spPr>
      </p:sp>
      <p:sp>
        <p:nvSpPr>
          <p:cNvPr id="101" name="Text 99"/>
          <p:cNvSpPr/>
          <p:nvPr/>
        </p:nvSpPr>
        <p:spPr>
          <a:xfrm>
            <a:off x="3657600" y="4974336"/>
            <a:ext cx="21945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age_in_years</a:t>
            </a:r>
            <a:endParaRPr lang="en-US" sz="850" dirty="0"/>
          </a:p>
        </p:txBody>
      </p:sp>
      <p:sp>
        <p:nvSpPr>
          <p:cNvPr id="102" name="Shape 100"/>
          <p:cNvSpPr/>
          <p:nvPr/>
        </p:nvSpPr>
        <p:spPr>
          <a:xfrm>
            <a:off x="5852160" y="4974336"/>
            <a:ext cx="1463040" cy="292608"/>
          </a:xfrm>
          <a:prstGeom prst="rect">
            <a:avLst/>
          </a:prstGeom>
          <a:solidFill>
            <a:srgbClr val="D8E8FF"/>
          </a:solidFill>
          <a:ln w="6350">
            <a:solidFill>
              <a:srgbClr val="C0C8E0"/>
            </a:solidFill>
            <a:prstDash val="solid"/>
          </a:ln>
        </p:spPr>
      </p:sp>
      <p:sp>
        <p:nvSpPr>
          <p:cNvPr id="103" name="Text 101"/>
          <p:cNvSpPr/>
          <p:nvPr/>
        </p:nvSpPr>
        <p:spPr>
          <a:xfrm>
            <a:off x="5852160" y="4974336"/>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76.2</a:t>
            </a:r>
            <a:endParaRPr lang="en-US" sz="850" dirty="0"/>
          </a:p>
        </p:txBody>
      </p:sp>
      <p:sp>
        <p:nvSpPr>
          <p:cNvPr id="104" name="Shape 102"/>
          <p:cNvSpPr/>
          <p:nvPr/>
        </p:nvSpPr>
        <p:spPr>
          <a:xfrm>
            <a:off x="7315200" y="4974336"/>
            <a:ext cx="1463040" cy="292608"/>
          </a:xfrm>
          <a:prstGeom prst="rect">
            <a:avLst/>
          </a:prstGeom>
          <a:solidFill>
            <a:srgbClr val="D8E8FF"/>
          </a:solidFill>
          <a:ln w="6350">
            <a:solidFill>
              <a:srgbClr val="C0C8E0"/>
            </a:solidFill>
            <a:prstDash val="solid"/>
          </a:ln>
        </p:spPr>
      </p:sp>
      <p:sp>
        <p:nvSpPr>
          <p:cNvPr id="105" name="Text 103"/>
          <p:cNvSpPr/>
          <p:nvPr/>
        </p:nvSpPr>
        <p:spPr>
          <a:xfrm>
            <a:off x="7315200" y="4974336"/>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106" name="Shape 104"/>
          <p:cNvSpPr/>
          <p:nvPr/>
        </p:nvSpPr>
        <p:spPr>
          <a:xfrm>
            <a:off x="3657600" y="5266944"/>
            <a:ext cx="2194560" cy="292608"/>
          </a:xfrm>
          <a:prstGeom prst="rect">
            <a:avLst/>
          </a:prstGeom>
          <a:solidFill>
            <a:srgbClr val="FFFFFF"/>
          </a:solidFill>
          <a:ln w="6350">
            <a:solidFill>
              <a:srgbClr val="C0C8E0"/>
            </a:solidFill>
            <a:prstDash val="solid"/>
          </a:ln>
        </p:spPr>
      </p:sp>
      <p:sp>
        <p:nvSpPr>
          <p:cNvPr id="107" name="Text 105"/>
          <p:cNvSpPr/>
          <p:nvPr/>
        </p:nvSpPr>
        <p:spPr>
          <a:xfrm>
            <a:off x="3657600" y="5266944"/>
            <a:ext cx="2194560"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repurchase</a:t>
            </a:r>
            <a:endParaRPr lang="en-US" sz="850" dirty="0"/>
          </a:p>
        </p:txBody>
      </p:sp>
      <p:sp>
        <p:nvSpPr>
          <p:cNvPr id="108" name="Shape 106"/>
          <p:cNvSpPr/>
          <p:nvPr/>
        </p:nvSpPr>
        <p:spPr>
          <a:xfrm>
            <a:off x="5852160" y="5266944"/>
            <a:ext cx="1463040" cy="292608"/>
          </a:xfrm>
          <a:prstGeom prst="rect">
            <a:avLst/>
          </a:prstGeom>
          <a:solidFill>
            <a:srgbClr val="D8E8FF"/>
          </a:solidFill>
          <a:ln w="6350">
            <a:solidFill>
              <a:srgbClr val="C0C8E0"/>
            </a:solidFill>
            <a:prstDash val="solid"/>
          </a:ln>
        </p:spPr>
      </p:sp>
      <p:sp>
        <p:nvSpPr>
          <p:cNvPr id="109" name="Text 107"/>
          <p:cNvSpPr/>
          <p:nvPr/>
        </p:nvSpPr>
        <p:spPr>
          <a:xfrm>
            <a:off x="5852160" y="5266944"/>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142.6</a:t>
            </a:r>
            <a:endParaRPr lang="en-US" sz="850" dirty="0"/>
          </a:p>
        </p:txBody>
      </p:sp>
      <p:sp>
        <p:nvSpPr>
          <p:cNvPr id="110" name="Shape 108"/>
          <p:cNvSpPr/>
          <p:nvPr/>
        </p:nvSpPr>
        <p:spPr>
          <a:xfrm>
            <a:off x="7315200" y="5266944"/>
            <a:ext cx="1463040" cy="292608"/>
          </a:xfrm>
          <a:prstGeom prst="rect">
            <a:avLst/>
          </a:prstGeom>
          <a:solidFill>
            <a:srgbClr val="D8E8FF"/>
          </a:solidFill>
          <a:ln w="6350">
            <a:solidFill>
              <a:srgbClr val="C0C8E0"/>
            </a:solidFill>
            <a:prstDash val="solid"/>
          </a:ln>
        </p:spPr>
      </p:sp>
      <p:sp>
        <p:nvSpPr>
          <p:cNvPr id="111" name="Text 109"/>
          <p:cNvSpPr/>
          <p:nvPr/>
        </p:nvSpPr>
        <p:spPr>
          <a:xfrm>
            <a:off x="7315200" y="5266944"/>
            <a:ext cx="1463040"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&lt;.001</a:t>
            </a:r>
            <a:endParaRPr lang="en-US" sz="850" dirty="0"/>
          </a:p>
        </p:txBody>
      </p:sp>
      <p:sp>
        <p:nvSpPr>
          <p:cNvPr id="112" name="Text 110"/>
          <p:cNvSpPr/>
          <p:nvPr/>
        </p:nvSpPr>
        <p:spPr>
          <a:xfrm>
            <a:off x="3657600" y="4718304"/>
            <a:ext cx="5120640" cy="201168"/>
          </a:xfrm>
          <a:prstGeom prst="rect">
            <a:avLst/>
          </a:prstGeom>
          <a:noFill/>
          <a:ln/>
        </p:spPr>
        <p:txBody>
          <a:bodyPr wrap="square" lIns="0" tIns="0" rIns="0" bIns="0" rtlCol="0" anchor="ctr"/>
          <a:lstStyle/>
          <a:p>
            <a:pPr indent="0" marL="0">
              <a:buNone/>
            </a:pPr>
            <a:r>
              <a:rPr lang="en-US" sz="900" i="1" dirty="0">
                <a:solidFill>
                  <a:srgbClr val="1A2038"/>
                </a:solidFill>
                <a:latin typeface="Calibri" pitchFamily="34" charset="0"/>
                <a:ea typeface="Calibri" pitchFamily="34" charset="-122"/>
                <a:cs typeface="Calibri" pitchFamily="34" charset="-120"/>
              </a:rPr>
              <a:t>All clustering variables significantly discriminate between clusters.</a:t>
            </a:r>
            <a:endParaRPr lang="en-US" sz="900" dirty="0"/>
          </a:p>
        </p:txBody>
      </p:sp>
      <p:sp>
        <p:nvSpPr>
          <p:cNvPr id="113" name="Shape 111"/>
          <p:cNvSpPr/>
          <p:nvPr/>
        </p:nvSpPr>
        <p:spPr>
          <a:xfrm>
            <a:off x="256032" y="5120640"/>
            <a:ext cx="8631936" cy="347472"/>
          </a:xfrm>
          <a:prstGeom prst="roundRect">
            <a:avLst>
              <a:gd name="adj" fmla="val 15789"/>
            </a:avLst>
          </a:prstGeom>
          <a:solidFill>
            <a:srgbClr val="FFFBEC"/>
          </a:solidFill>
          <a:ln w="19050">
            <a:solidFill>
              <a:srgbClr val="C8920A"/>
            </a:solidFill>
            <a:prstDash val="solid"/>
          </a:ln>
        </p:spPr>
      </p:sp>
      <p:sp>
        <p:nvSpPr>
          <p:cNvPr id="114" name="Text 112"/>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After clustering: Data &gt; Split File &gt; QCL_1 (cluster membership variable). Run Frequencies on demographics per cluster to build rich consumer profiles for marketing strategy.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C8920A">
              <a:alpha val="12000"/>
            </a:srgbClr>
          </a:solidFill>
          <a:ln w="12700">
            <a:solidFill>
              <a:srgbClr val="C8920A"/>
            </a:solidFill>
            <a:prstDash val="solid"/>
          </a:ln>
        </p:spPr>
      </p:sp>
      <p:sp>
        <p:nvSpPr>
          <p:cNvPr id="3" name="Shape 1"/>
          <p:cNvSpPr/>
          <p:nvPr/>
        </p:nvSpPr>
        <p:spPr>
          <a:xfrm>
            <a:off x="6858000" y="3200400"/>
            <a:ext cx="3657600" cy="3657600"/>
          </a:xfrm>
          <a:prstGeom prst="ellipse">
            <a:avLst/>
          </a:prstGeom>
          <a:solidFill>
            <a:srgbClr val="1A2D6B">
              <a:alpha val="16000"/>
            </a:srgbClr>
          </a:solidFill>
          <a:ln w="12700">
            <a:solidFill>
              <a:srgbClr val="1A2D6B"/>
            </a:solidFill>
            <a:prstDash val="solid"/>
          </a:ln>
        </p:spPr>
      </p:sp>
      <p:sp>
        <p:nvSpPr>
          <p:cNvPr id="4" name="Text 2"/>
          <p:cNvSpPr/>
          <p:nvPr/>
        </p:nvSpPr>
        <p:spPr>
          <a:xfrm>
            <a:off x="457200" y="201168"/>
            <a:ext cx="822960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Consumer Segment Profiles - Naming and Profiling Clusters</a:t>
            </a:r>
            <a:endParaRPr lang="en-US" sz="2700" dirty="0"/>
          </a:p>
        </p:txBody>
      </p:sp>
      <p:sp>
        <p:nvSpPr>
          <p:cNvPr id="5" name="Shape 3"/>
          <p:cNvSpPr/>
          <p:nvPr/>
        </p:nvSpPr>
        <p:spPr>
          <a:xfrm>
            <a:off x="274320" y="914400"/>
            <a:ext cx="4160520" cy="1993392"/>
          </a:xfrm>
          <a:prstGeom prst="roundRect">
            <a:avLst>
              <a:gd name="adj" fmla="val 4128"/>
            </a:avLst>
          </a:prstGeom>
          <a:solidFill>
            <a:srgbClr val="111A30"/>
          </a:solidFill>
          <a:ln w="15240">
            <a:solidFill>
              <a:srgbClr val="12A374"/>
            </a:solidFill>
            <a:prstDash val="solid"/>
          </a:ln>
        </p:spPr>
      </p:sp>
      <p:sp>
        <p:nvSpPr>
          <p:cNvPr id="6" name="Shape 4"/>
          <p:cNvSpPr/>
          <p:nvPr/>
        </p:nvSpPr>
        <p:spPr>
          <a:xfrm>
            <a:off x="365760" y="987552"/>
            <a:ext cx="2907792" cy="292608"/>
          </a:xfrm>
          <a:prstGeom prst="roundRect">
            <a:avLst>
              <a:gd name="adj" fmla="val 18750"/>
            </a:avLst>
          </a:prstGeom>
          <a:solidFill>
            <a:srgbClr val="12A374"/>
          </a:solidFill>
          <a:ln w="12700">
            <a:solidFill>
              <a:srgbClr val="12A374"/>
            </a:solidFill>
            <a:prstDash val="solid"/>
          </a:ln>
        </p:spPr>
      </p:sp>
      <p:sp>
        <p:nvSpPr>
          <p:cNvPr id="7" name="Text 5"/>
          <p:cNvSpPr/>
          <p:nvPr/>
        </p:nvSpPr>
        <p:spPr>
          <a:xfrm>
            <a:off x="365760" y="987552"/>
            <a:ext cx="290779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LOYAL HIGH-VALUE</a:t>
            </a:r>
            <a:endParaRPr lang="en-US" sz="1050" dirty="0"/>
          </a:p>
        </p:txBody>
      </p:sp>
      <p:sp>
        <p:nvSpPr>
          <p:cNvPr id="8" name="Text 6"/>
          <p:cNvSpPr/>
          <p:nvPr/>
        </p:nvSpPr>
        <p:spPr>
          <a:xfrm>
            <a:off x="3346704" y="987552"/>
            <a:ext cx="987552" cy="292608"/>
          </a:xfrm>
          <a:prstGeom prst="rect">
            <a:avLst/>
          </a:prstGeom>
          <a:noFill/>
          <a:ln/>
        </p:spPr>
        <p:txBody>
          <a:bodyPr wrap="square" lIns="0" tIns="0" rIns="0" bIns="0" rtlCol="0" anchor="ctr"/>
          <a:lstStyle/>
          <a:p>
            <a:pPr algn="ctr" indent="0" marL="0">
              <a:buNone/>
            </a:pPr>
            <a:r>
              <a:rPr lang="en-US" sz="950" dirty="0">
                <a:solidFill>
                  <a:srgbClr val="12A374"/>
                </a:solidFill>
                <a:latin typeface="Calibri" pitchFamily="34" charset="0"/>
                <a:ea typeface="Calibri" pitchFamily="34" charset="-122"/>
                <a:cs typeface="Calibri" pitchFamily="34" charset="-120"/>
              </a:rPr>
              <a:t>N=84 (18.7%)</a:t>
            </a:r>
            <a:endParaRPr lang="en-US" sz="950" dirty="0"/>
          </a:p>
        </p:txBody>
      </p:sp>
      <p:sp>
        <p:nvSpPr>
          <p:cNvPr id="9" name="Text 7"/>
          <p:cNvSpPr/>
          <p:nvPr/>
        </p:nvSpPr>
        <p:spPr>
          <a:xfrm>
            <a:off x="384048" y="1353312"/>
            <a:ext cx="3913632" cy="475488"/>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Highly satisfied (sat_mean=4.48), high income (N420k), middle-aged (38 years), highest repurchase intention (4.8/5). Already brand champions.</a:t>
            </a:r>
            <a:endParaRPr lang="en-US" sz="850" dirty="0"/>
          </a:p>
        </p:txBody>
      </p:sp>
      <p:sp>
        <p:nvSpPr>
          <p:cNvPr id="10" name="Text 8"/>
          <p:cNvSpPr/>
          <p:nvPr/>
        </p:nvSpPr>
        <p:spPr>
          <a:xfrm>
            <a:off x="384048" y="1847088"/>
            <a:ext cx="3913632" cy="402336"/>
          </a:xfrm>
          <a:prstGeom prst="rect">
            <a:avLst/>
          </a:prstGeom>
          <a:noFill/>
          <a:ln/>
        </p:spPr>
        <p:txBody>
          <a:bodyPr wrap="square" lIns="0" tIns="0" rIns="0" bIns="0" rtlCol="0" anchor="ctr"/>
          <a:lstStyle/>
          <a:p>
            <a:pPr indent="0" marL="0">
              <a:buNone/>
            </a:pPr>
            <a:r>
              <a:rPr lang="en-US" sz="850" b="1" dirty="0">
                <a:solidFill>
                  <a:srgbClr val="12A374"/>
                </a:solidFill>
                <a:latin typeface="Calibri" pitchFamily="34" charset="0"/>
                <a:ea typeface="Calibri" pitchFamily="34" charset="-122"/>
                <a:cs typeface="Calibri" pitchFamily="34" charset="-120"/>
              </a:rPr>
              <a:t>Strategy: </a:t>
            </a:r>
            <a:pPr indent="0" marL="0">
              <a:buNone/>
            </a:pPr>
            <a:r>
              <a:rPr lang="en-US" sz="850" dirty="0">
                <a:solidFill>
                  <a:srgbClr val="7890C8"/>
                </a:solidFill>
                <a:latin typeface="Calibri" pitchFamily="34" charset="0"/>
                <a:ea typeface="Calibri" pitchFamily="34" charset="-122"/>
                <a:cs typeface="Calibri" pitchFamily="34" charset="-120"/>
              </a:rPr>
              <a:t>Retention programme. Exclusive loyalty benefits. Premium product launches targeted at this segment. Brand ambassador recruitment.</a:t>
            </a:r>
            <a:endParaRPr lang="en-US" sz="850" dirty="0"/>
          </a:p>
        </p:txBody>
      </p:sp>
      <p:sp>
        <p:nvSpPr>
          <p:cNvPr id="11" name="Text 9"/>
          <p:cNvSpPr/>
          <p:nvPr/>
        </p:nvSpPr>
        <p:spPr>
          <a:xfrm>
            <a:off x="384048" y="2267712"/>
            <a:ext cx="3913632" cy="56692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Segment 1 is your most valuable segment. High CLV (Customer Lifetime Value). Protect at all costs.</a:t>
            </a:r>
            <a:endParaRPr lang="en-US" sz="800" dirty="0"/>
          </a:p>
        </p:txBody>
      </p:sp>
      <p:sp>
        <p:nvSpPr>
          <p:cNvPr id="12" name="Shape 10"/>
          <p:cNvSpPr/>
          <p:nvPr/>
        </p:nvSpPr>
        <p:spPr>
          <a:xfrm>
            <a:off x="4736592" y="914400"/>
            <a:ext cx="4160520" cy="1993392"/>
          </a:xfrm>
          <a:prstGeom prst="roundRect">
            <a:avLst>
              <a:gd name="adj" fmla="val 4128"/>
            </a:avLst>
          </a:prstGeom>
          <a:solidFill>
            <a:srgbClr val="111A30"/>
          </a:solidFill>
          <a:ln w="15240">
            <a:solidFill>
              <a:srgbClr val="C8920A"/>
            </a:solidFill>
            <a:prstDash val="solid"/>
          </a:ln>
        </p:spPr>
      </p:sp>
      <p:sp>
        <p:nvSpPr>
          <p:cNvPr id="13" name="Shape 11"/>
          <p:cNvSpPr/>
          <p:nvPr/>
        </p:nvSpPr>
        <p:spPr>
          <a:xfrm>
            <a:off x="4828032" y="987552"/>
            <a:ext cx="2907792" cy="292608"/>
          </a:xfrm>
          <a:prstGeom prst="roundRect">
            <a:avLst>
              <a:gd name="adj" fmla="val 18750"/>
            </a:avLst>
          </a:prstGeom>
          <a:solidFill>
            <a:srgbClr val="C8920A"/>
          </a:solidFill>
          <a:ln w="12700">
            <a:solidFill>
              <a:srgbClr val="C8920A"/>
            </a:solidFill>
            <a:prstDash val="solid"/>
          </a:ln>
        </p:spPr>
      </p:sp>
      <p:sp>
        <p:nvSpPr>
          <p:cNvPr id="14" name="Text 12"/>
          <p:cNvSpPr/>
          <p:nvPr/>
        </p:nvSpPr>
        <p:spPr>
          <a:xfrm>
            <a:off x="4828032" y="987552"/>
            <a:ext cx="2907792" cy="292608"/>
          </a:xfrm>
          <a:prstGeom prst="rect">
            <a:avLst/>
          </a:prstGeom>
          <a:noFill/>
          <a:ln/>
        </p:spPr>
        <p:txBody>
          <a:bodyPr wrap="square" lIns="0" tIns="0" rIns="0" bIns="0" rtlCol="0" anchor="ctr"/>
          <a:lstStyle/>
          <a:p>
            <a:pPr algn="ctr" indent="0" marL="0">
              <a:buNone/>
            </a:pPr>
            <a:r>
              <a:rPr lang="en-US" sz="1050" b="1" dirty="0">
                <a:solidFill>
                  <a:srgbClr val="0A0F1E"/>
                </a:solidFill>
                <a:latin typeface="Calibri" pitchFamily="34" charset="0"/>
                <a:ea typeface="Calibri" pitchFamily="34" charset="-122"/>
                <a:cs typeface="Calibri" pitchFamily="34" charset="-120"/>
              </a:rPr>
              <a:t>BUDGET-CONSCIOUS YOUTH</a:t>
            </a:r>
            <a:endParaRPr lang="en-US" sz="1050" dirty="0"/>
          </a:p>
        </p:txBody>
      </p:sp>
      <p:sp>
        <p:nvSpPr>
          <p:cNvPr id="15" name="Text 13"/>
          <p:cNvSpPr/>
          <p:nvPr/>
        </p:nvSpPr>
        <p:spPr>
          <a:xfrm>
            <a:off x="7808976" y="987552"/>
            <a:ext cx="987552" cy="292608"/>
          </a:xfrm>
          <a:prstGeom prst="rect">
            <a:avLst/>
          </a:prstGeom>
          <a:noFill/>
          <a:ln/>
        </p:spPr>
        <p:txBody>
          <a:bodyPr wrap="square" lIns="0" tIns="0" rIns="0" bIns="0" rtlCol="0" anchor="ctr"/>
          <a:lstStyle/>
          <a:p>
            <a:pPr algn="ctr" indent="0" marL="0">
              <a:buNone/>
            </a:pPr>
            <a:r>
              <a:rPr lang="en-US" sz="950" dirty="0">
                <a:solidFill>
                  <a:srgbClr val="C8920A"/>
                </a:solidFill>
                <a:latin typeface="Calibri" pitchFamily="34" charset="0"/>
                <a:ea typeface="Calibri" pitchFamily="34" charset="-122"/>
                <a:cs typeface="Calibri" pitchFamily="34" charset="-120"/>
              </a:rPr>
              <a:t>N=142 (31.6%)</a:t>
            </a:r>
            <a:endParaRPr lang="en-US" sz="950" dirty="0"/>
          </a:p>
        </p:txBody>
      </p:sp>
      <p:sp>
        <p:nvSpPr>
          <p:cNvPr id="16" name="Text 14"/>
          <p:cNvSpPr/>
          <p:nvPr/>
        </p:nvSpPr>
        <p:spPr>
          <a:xfrm>
            <a:off x="4846320" y="1353312"/>
            <a:ext cx="3913632" cy="475488"/>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Low satisfaction (3.12), low income (N98k), youngest (24 years), low repurchase (2.4). Price-sensitive and not yet loyal.</a:t>
            </a:r>
            <a:endParaRPr lang="en-US" sz="850" dirty="0"/>
          </a:p>
        </p:txBody>
      </p:sp>
      <p:sp>
        <p:nvSpPr>
          <p:cNvPr id="17" name="Text 15"/>
          <p:cNvSpPr/>
          <p:nvPr/>
        </p:nvSpPr>
        <p:spPr>
          <a:xfrm>
            <a:off x="4846320" y="1847088"/>
            <a:ext cx="3913632" cy="402336"/>
          </a:xfrm>
          <a:prstGeom prst="rect">
            <a:avLst/>
          </a:prstGeom>
          <a:noFill/>
          <a:ln/>
        </p:spPr>
        <p:txBody>
          <a:bodyPr wrap="square" lIns="0" tIns="0" rIns="0" bIns="0" rtlCol="0" anchor="ctr"/>
          <a:lstStyle/>
          <a:p>
            <a:pPr indent="0" marL="0">
              <a:buNone/>
            </a:pPr>
            <a:r>
              <a:rPr lang="en-US" sz="850" b="1" dirty="0">
                <a:solidFill>
                  <a:srgbClr val="C8920A"/>
                </a:solidFill>
                <a:latin typeface="Calibri" pitchFamily="34" charset="0"/>
                <a:ea typeface="Calibri" pitchFamily="34" charset="-122"/>
                <a:cs typeface="Calibri" pitchFamily="34" charset="-120"/>
              </a:rPr>
              <a:t>Strategy: </a:t>
            </a:r>
            <a:pPr indent="0" marL="0">
              <a:buNone/>
            </a:pPr>
            <a:r>
              <a:rPr lang="en-US" sz="850" dirty="0">
                <a:solidFill>
                  <a:srgbClr val="7890C8"/>
                </a:solidFill>
                <a:latin typeface="Calibri" pitchFamily="34" charset="0"/>
                <a:ea typeface="Calibri" pitchFamily="34" charset="-122"/>
                <a:cs typeface="Calibri" pitchFamily="34" charset="-120"/>
              </a:rPr>
              <a:t>Price promotions and bundle deals. Campus ambassador programme. Social media activation. Affordable pack sizes.</a:t>
            </a:r>
            <a:endParaRPr lang="en-US" sz="850" dirty="0"/>
          </a:p>
        </p:txBody>
      </p:sp>
      <p:sp>
        <p:nvSpPr>
          <p:cNvPr id="18" name="Text 16"/>
          <p:cNvSpPr/>
          <p:nvPr/>
        </p:nvSpPr>
        <p:spPr>
          <a:xfrm>
            <a:off x="4846320" y="2267712"/>
            <a:ext cx="3913632" cy="56692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Largest segment but lowest loyalty. High churn risk. Investment needed to convert satisfaction into loyalty before they switch brands.</a:t>
            </a:r>
            <a:endParaRPr lang="en-US" sz="800" dirty="0"/>
          </a:p>
        </p:txBody>
      </p:sp>
      <p:sp>
        <p:nvSpPr>
          <p:cNvPr id="19" name="Shape 17"/>
          <p:cNvSpPr/>
          <p:nvPr/>
        </p:nvSpPr>
        <p:spPr>
          <a:xfrm>
            <a:off x="274320" y="2999232"/>
            <a:ext cx="4160520" cy="1993392"/>
          </a:xfrm>
          <a:prstGeom prst="roundRect">
            <a:avLst>
              <a:gd name="adj" fmla="val 4128"/>
            </a:avLst>
          </a:prstGeom>
          <a:solidFill>
            <a:srgbClr val="111A30"/>
          </a:solidFill>
          <a:ln w="15240">
            <a:solidFill>
              <a:srgbClr val="2748A8"/>
            </a:solidFill>
            <a:prstDash val="solid"/>
          </a:ln>
        </p:spPr>
      </p:sp>
      <p:sp>
        <p:nvSpPr>
          <p:cNvPr id="20" name="Shape 18"/>
          <p:cNvSpPr/>
          <p:nvPr/>
        </p:nvSpPr>
        <p:spPr>
          <a:xfrm>
            <a:off x="365760" y="3072384"/>
            <a:ext cx="2907792" cy="292608"/>
          </a:xfrm>
          <a:prstGeom prst="roundRect">
            <a:avLst>
              <a:gd name="adj" fmla="val 18750"/>
            </a:avLst>
          </a:prstGeom>
          <a:solidFill>
            <a:srgbClr val="2748A8"/>
          </a:solidFill>
          <a:ln w="12700">
            <a:solidFill>
              <a:srgbClr val="2748A8"/>
            </a:solidFill>
            <a:prstDash val="solid"/>
          </a:ln>
        </p:spPr>
      </p:sp>
      <p:sp>
        <p:nvSpPr>
          <p:cNvPr id="21" name="Text 19"/>
          <p:cNvSpPr/>
          <p:nvPr/>
        </p:nvSpPr>
        <p:spPr>
          <a:xfrm>
            <a:off x="365760" y="3072384"/>
            <a:ext cx="2907792" cy="292608"/>
          </a:xfrm>
          <a:prstGeom prst="rect">
            <a:avLst/>
          </a:prstGeom>
          <a:noFill/>
          <a:ln/>
        </p:spPr>
        <p:txBody>
          <a:bodyPr wrap="square" lIns="0" tIns="0" rIns="0" bIns="0" rtlCol="0" anchor="ctr"/>
          <a:lstStyle/>
          <a:p>
            <a:pPr algn="ctr" indent="0" marL="0">
              <a:buNone/>
            </a:pPr>
            <a:r>
              <a:rPr lang="en-US" sz="1050" b="1" dirty="0">
                <a:solidFill>
                  <a:srgbClr val="0A0F1E"/>
                </a:solidFill>
                <a:latin typeface="Calibri" pitchFamily="34" charset="0"/>
                <a:ea typeface="Calibri" pitchFamily="34" charset="-122"/>
                <a:cs typeface="Calibri" pitchFamily="34" charset="-120"/>
              </a:rPr>
              <a:t>MID-MARKET MAINSTREAM</a:t>
            </a:r>
            <a:endParaRPr lang="en-US" sz="1050" dirty="0"/>
          </a:p>
        </p:txBody>
      </p:sp>
      <p:sp>
        <p:nvSpPr>
          <p:cNvPr id="22" name="Text 20"/>
          <p:cNvSpPr/>
          <p:nvPr/>
        </p:nvSpPr>
        <p:spPr>
          <a:xfrm>
            <a:off x="3346704" y="3072384"/>
            <a:ext cx="987552" cy="292608"/>
          </a:xfrm>
          <a:prstGeom prst="rect">
            <a:avLst/>
          </a:prstGeom>
          <a:noFill/>
          <a:ln/>
        </p:spPr>
        <p:txBody>
          <a:bodyPr wrap="square" lIns="0" tIns="0" rIns="0" bIns="0" rtlCol="0" anchor="ctr"/>
          <a:lstStyle/>
          <a:p>
            <a:pPr algn="ctr" indent="0" marL="0">
              <a:buNone/>
            </a:pPr>
            <a:r>
              <a:rPr lang="en-US" sz="950" dirty="0">
                <a:solidFill>
                  <a:srgbClr val="2748A8"/>
                </a:solidFill>
                <a:latin typeface="Calibri" pitchFamily="34" charset="0"/>
                <a:ea typeface="Calibri" pitchFamily="34" charset="-122"/>
                <a:cs typeface="Calibri" pitchFamily="34" charset="-120"/>
              </a:rPr>
              <a:t>N=168 (37.3%)</a:t>
            </a:r>
            <a:endParaRPr lang="en-US" sz="950" dirty="0"/>
          </a:p>
        </p:txBody>
      </p:sp>
      <p:sp>
        <p:nvSpPr>
          <p:cNvPr id="23" name="Text 21"/>
          <p:cNvSpPr/>
          <p:nvPr/>
        </p:nvSpPr>
        <p:spPr>
          <a:xfrm>
            <a:off x="384048" y="3438144"/>
            <a:ext cx="3913632" cy="475488"/>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Moderate satisfaction (3.68), moderate income (N218k), mid-thirties (34 years), moderate repurchase (3.6). The average UAC consumer.</a:t>
            </a:r>
            <a:endParaRPr lang="en-US" sz="850" dirty="0"/>
          </a:p>
        </p:txBody>
      </p:sp>
      <p:sp>
        <p:nvSpPr>
          <p:cNvPr id="24" name="Text 22"/>
          <p:cNvSpPr/>
          <p:nvPr/>
        </p:nvSpPr>
        <p:spPr>
          <a:xfrm>
            <a:off x="384048" y="3931920"/>
            <a:ext cx="3913632" cy="402336"/>
          </a:xfrm>
          <a:prstGeom prst="rect">
            <a:avLst/>
          </a:prstGeom>
          <a:noFill/>
          <a:ln/>
        </p:spPr>
        <p:txBody>
          <a:bodyPr wrap="square" lIns="0" tIns="0" rIns="0" bIns="0" rtlCol="0" anchor="ctr"/>
          <a:lstStyle/>
          <a:p>
            <a:pPr indent="0" marL="0">
              <a:buNone/>
            </a:pPr>
            <a:r>
              <a:rPr lang="en-US" sz="850" b="1" dirty="0">
                <a:solidFill>
                  <a:srgbClr val="2748A8"/>
                </a:solidFill>
                <a:latin typeface="Calibri" pitchFamily="34" charset="0"/>
                <a:ea typeface="Calibri" pitchFamily="34" charset="-122"/>
                <a:cs typeface="Calibri" pitchFamily="34" charset="-120"/>
              </a:rPr>
              <a:t>Strategy: </a:t>
            </a:r>
            <a:pPr indent="0" marL="0">
              <a:buNone/>
            </a:pPr>
            <a:r>
              <a:rPr lang="en-US" sz="850" dirty="0">
                <a:solidFill>
                  <a:srgbClr val="7890C8"/>
                </a:solidFill>
                <a:latin typeface="Calibri" pitchFamily="34" charset="0"/>
                <a:ea typeface="Calibri" pitchFamily="34" charset="-122"/>
                <a:cs typeface="Calibri" pitchFamily="34" charset="-120"/>
              </a:rPr>
              <a:t>Quality consistency messaging. Targeted promotions. Cross-sell complementary products. Grow this segment's satisfaction to transition towards Segment 1.</a:t>
            </a:r>
            <a:endParaRPr lang="en-US" sz="850" dirty="0"/>
          </a:p>
        </p:txBody>
      </p:sp>
      <p:sp>
        <p:nvSpPr>
          <p:cNvPr id="25" name="Text 23"/>
          <p:cNvSpPr/>
          <p:nvPr/>
        </p:nvSpPr>
        <p:spPr>
          <a:xfrm>
            <a:off x="384048" y="4352544"/>
            <a:ext cx="3913632" cy="56692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The battleground segment. Moving even 20% of Segment 3 to Segment 1 satisifaction levels would significantly improve overall KPIs.</a:t>
            </a:r>
            <a:endParaRPr lang="en-US" sz="800" dirty="0"/>
          </a:p>
        </p:txBody>
      </p:sp>
      <p:sp>
        <p:nvSpPr>
          <p:cNvPr id="26" name="Shape 24"/>
          <p:cNvSpPr/>
          <p:nvPr/>
        </p:nvSpPr>
        <p:spPr>
          <a:xfrm>
            <a:off x="4736592" y="2999232"/>
            <a:ext cx="4160520" cy="1993392"/>
          </a:xfrm>
          <a:prstGeom prst="roundRect">
            <a:avLst>
              <a:gd name="adj" fmla="val 4128"/>
            </a:avLst>
          </a:prstGeom>
          <a:solidFill>
            <a:srgbClr val="111A30"/>
          </a:solidFill>
          <a:ln w="15240">
            <a:solidFill>
              <a:srgbClr val="6B52C8"/>
            </a:solidFill>
            <a:prstDash val="solid"/>
          </a:ln>
        </p:spPr>
      </p:sp>
      <p:sp>
        <p:nvSpPr>
          <p:cNvPr id="27" name="Shape 25"/>
          <p:cNvSpPr/>
          <p:nvPr/>
        </p:nvSpPr>
        <p:spPr>
          <a:xfrm>
            <a:off x="4828032" y="3072384"/>
            <a:ext cx="2907792" cy="292608"/>
          </a:xfrm>
          <a:prstGeom prst="roundRect">
            <a:avLst>
              <a:gd name="adj" fmla="val 18750"/>
            </a:avLst>
          </a:prstGeom>
          <a:solidFill>
            <a:srgbClr val="6B52C8"/>
          </a:solidFill>
          <a:ln w="12700">
            <a:solidFill>
              <a:srgbClr val="6B52C8"/>
            </a:solidFill>
            <a:prstDash val="solid"/>
          </a:ln>
        </p:spPr>
      </p:sp>
      <p:sp>
        <p:nvSpPr>
          <p:cNvPr id="28" name="Text 26"/>
          <p:cNvSpPr/>
          <p:nvPr/>
        </p:nvSpPr>
        <p:spPr>
          <a:xfrm>
            <a:off x="4828032" y="3072384"/>
            <a:ext cx="2907792"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SENIOR PREMIUM</a:t>
            </a:r>
            <a:endParaRPr lang="en-US" sz="1050" dirty="0"/>
          </a:p>
        </p:txBody>
      </p:sp>
      <p:sp>
        <p:nvSpPr>
          <p:cNvPr id="29" name="Text 27"/>
          <p:cNvSpPr/>
          <p:nvPr/>
        </p:nvSpPr>
        <p:spPr>
          <a:xfrm>
            <a:off x="7808976" y="3072384"/>
            <a:ext cx="987552" cy="292608"/>
          </a:xfrm>
          <a:prstGeom prst="rect">
            <a:avLst/>
          </a:prstGeom>
          <a:noFill/>
          <a:ln/>
        </p:spPr>
        <p:txBody>
          <a:bodyPr wrap="square" lIns="0" tIns="0" rIns="0" bIns="0" rtlCol="0" anchor="ctr"/>
          <a:lstStyle/>
          <a:p>
            <a:pPr algn="ctr" indent="0" marL="0">
              <a:buNone/>
            </a:pPr>
            <a:r>
              <a:rPr lang="en-US" sz="950" dirty="0">
                <a:solidFill>
                  <a:srgbClr val="6B52C8"/>
                </a:solidFill>
                <a:latin typeface="Calibri" pitchFamily="34" charset="0"/>
                <a:ea typeface="Calibri" pitchFamily="34" charset="-122"/>
                <a:cs typeface="Calibri" pitchFamily="34" charset="-120"/>
              </a:rPr>
              <a:t>N=56 (12.4%)</a:t>
            </a:r>
            <a:endParaRPr lang="en-US" sz="950" dirty="0"/>
          </a:p>
        </p:txBody>
      </p:sp>
      <p:sp>
        <p:nvSpPr>
          <p:cNvPr id="30" name="Text 28"/>
          <p:cNvSpPr/>
          <p:nvPr/>
        </p:nvSpPr>
        <p:spPr>
          <a:xfrm>
            <a:off x="4846320" y="3438144"/>
            <a:ext cx="3913632" cy="475488"/>
          </a:xfrm>
          <a:prstGeom prst="rect">
            <a:avLst/>
          </a:prstGeom>
          <a:noFill/>
          <a:ln/>
        </p:spPr>
        <p:txBody>
          <a:bodyPr wrap="square" lIns="0" tIns="0" rIns="0" bIns="0" rtlCol="0" anchor="ctr"/>
          <a:lstStyle/>
          <a:p>
            <a:pPr indent="0" marL="0">
              <a:buNone/>
            </a:pPr>
            <a:r>
              <a:rPr lang="en-US" sz="850" dirty="0">
                <a:solidFill>
                  <a:srgbClr val="90A8D8"/>
                </a:solidFill>
                <a:latin typeface="Calibri" pitchFamily="34" charset="0"/>
                <a:ea typeface="Calibri" pitchFamily="34" charset="-122"/>
                <a:cs typeface="Calibri" pitchFamily="34" charset="-120"/>
              </a:rPr>
              <a:t>High satisfaction (4.22), high income (N385k), oldest (58 years), high repurchase (4.6). Established and loyal.</a:t>
            </a:r>
            <a:endParaRPr lang="en-US" sz="850" dirty="0"/>
          </a:p>
        </p:txBody>
      </p:sp>
      <p:sp>
        <p:nvSpPr>
          <p:cNvPr id="31" name="Text 29"/>
          <p:cNvSpPr/>
          <p:nvPr/>
        </p:nvSpPr>
        <p:spPr>
          <a:xfrm>
            <a:off x="4846320" y="3931920"/>
            <a:ext cx="3913632" cy="402336"/>
          </a:xfrm>
          <a:prstGeom prst="rect">
            <a:avLst/>
          </a:prstGeom>
          <a:noFill/>
          <a:ln/>
        </p:spPr>
        <p:txBody>
          <a:bodyPr wrap="square" lIns="0" tIns="0" rIns="0" bIns="0" rtlCol="0" anchor="ctr"/>
          <a:lstStyle/>
          <a:p>
            <a:pPr indent="0" marL="0">
              <a:buNone/>
            </a:pPr>
            <a:r>
              <a:rPr lang="en-US" sz="850" b="1" dirty="0">
                <a:solidFill>
                  <a:srgbClr val="6B52C8"/>
                </a:solidFill>
                <a:latin typeface="Calibri" pitchFamily="34" charset="0"/>
                <a:ea typeface="Calibri" pitchFamily="34" charset="-122"/>
                <a:cs typeface="Calibri" pitchFamily="34" charset="-120"/>
              </a:rPr>
              <a:t>Strategy: </a:t>
            </a:r>
            <a:pPr indent="0" marL="0">
              <a:buNone/>
            </a:pPr>
            <a:r>
              <a:rPr lang="en-US" sz="850" dirty="0">
                <a:solidFill>
                  <a:srgbClr val="7890C8"/>
                </a:solidFill>
                <a:latin typeface="Calibri" pitchFamily="34" charset="0"/>
                <a:ea typeface="Calibri" pitchFamily="34" charset="-122"/>
                <a:cs typeface="Calibri" pitchFamily="34" charset="-120"/>
              </a:rPr>
              <a:t>Premium positioning. Health-conscious product variants. Clear product quality communication. In-store promotions over digital.</a:t>
            </a:r>
            <a:endParaRPr lang="en-US" sz="850" dirty="0"/>
          </a:p>
        </p:txBody>
      </p:sp>
      <p:sp>
        <p:nvSpPr>
          <p:cNvPr id="32" name="Text 30"/>
          <p:cNvSpPr/>
          <p:nvPr/>
        </p:nvSpPr>
        <p:spPr>
          <a:xfrm>
            <a:off x="4846320" y="4352544"/>
            <a:ext cx="3913632" cy="56692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Small but high-value segment. Similar CLV to Segment 1 but different product preferences and communication channels.</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D6B"/>
          </a:solidFill>
          <a:ln w="12700">
            <a:solidFill>
              <a:srgbClr val="1A2D6B"/>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Hierarchical Cluster Analysis - Finding the Optimal Number of Clusters</a:t>
            </a:r>
            <a:endParaRPr lang="en-US" sz="2100" dirty="0"/>
          </a:p>
        </p:txBody>
      </p:sp>
      <p:sp>
        <p:nvSpPr>
          <p:cNvPr id="4" name="Shape 2"/>
          <p:cNvSpPr/>
          <p:nvPr/>
        </p:nvSpPr>
        <p:spPr>
          <a:xfrm>
            <a:off x="256032" y="1005840"/>
            <a:ext cx="4160520" cy="4041648"/>
          </a:xfrm>
          <a:prstGeom prst="roundRect">
            <a:avLst>
              <a:gd name="adj" fmla="val 203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78992"/>
            <a:ext cx="4005072" cy="329184"/>
          </a:xfrm>
          <a:prstGeom prst="roundRect">
            <a:avLst>
              <a:gd name="adj" fmla="val 16667"/>
            </a:avLst>
          </a:prstGeom>
          <a:solidFill>
            <a:srgbClr val="1A2D6B"/>
          </a:solidFill>
          <a:ln w="12700">
            <a:solidFill>
              <a:srgbClr val="1A2D6B"/>
            </a:solidFill>
            <a:prstDash val="solid"/>
          </a:ln>
        </p:spPr>
      </p:sp>
      <p:sp>
        <p:nvSpPr>
          <p:cNvPr id="6" name="Text 4"/>
          <p:cNvSpPr/>
          <p:nvPr/>
        </p:nvSpPr>
        <p:spPr>
          <a:xfrm>
            <a:off x="329184" y="1078992"/>
            <a:ext cx="400507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When to Use Hierarchical Clustering</a:t>
            </a:r>
            <a:endParaRPr lang="en-US" sz="1100" dirty="0"/>
          </a:p>
        </p:txBody>
      </p:sp>
      <p:sp>
        <p:nvSpPr>
          <p:cNvPr id="7" name="Text 5"/>
          <p:cNvSpPr/>
          <p:nvPr/>
        </p:nvSpPr>
        <p:spPr>
          <a:xfrm>
            <a:off x="365760" y="1481328"/>
            <a:ext cx="3950208" cy="54864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Run Hierarchical BEFORE K-Means to determine the optimal number of clusters. Hierarchical clustering does not require specifying k in advance. It produces a DENDROGRAM showing how clusters merge.</a:t>
            </a:r>
            <a:endParaRPr lang="en-US" sz="950" dirty="0"/>
          </a:p>
        </p:txBody>
      </p:sp>
      <p:sp>
        <p:nvSpPr>
          <p:cNvPr id="8" name="Text 6"/>
          <p:cNvSpPr/>
          <p:nvPr/>
        </p:nvSpPr>
        <p:spPr>
          <a:xfrm>
            <a:off x="365760" y="2103120"/>
            <a:ext cx="3950208" cy="566928"/>
          </a:xfrm>
          <a:prstGeom prst="rect">
            <a:avLst/>
          </a:prstGeom>
          <a:noFill/>
          <a:ln/>
        </p:spPr>
        <p:txBody>
          <a:bodyPr wrap="square" lIns="0" tIns="0" rIns="0" bIns="0" rtlCol="0" anchor="ctr"/>
          <a:lstStyle/>
          <a:p>
            <a:pPr indent="0" marL="0">
              <a:buNone/>
            </a:pPr>
            <a:r>
              <a:rPr lang="en-US" sz="950" i="1" dirty="0">
                <a:solidFill>
                  <a:srgbClr val="2748A8"/>
                </a:solidFill>
                <a:latin typeface="Calibri" pitchFamily="34" charset="0"/>
                <a:ea typeface="Calibri" pitchFamily="34" charset="-122"/>
                <a:cs typeface="Calibri" pitchFamily="34" charset="-120"/>
              </a:rPr>
              <a:t>Steps: Analyze &gt; Classify &gt; Hierarchical Cluster &gt; move Z-score variables &gt; Cluster: Cases &gt; Method: Ward's method + Squared Euclidean distance &gt; Plots: Dendrogram &gt; Statistics: Agglomeration schedule &gt; OK</a:t>
            </a:r>
            <a:endParaRPr lang="en-US" sz="950" dirty="0"/>
          </a:p>
        </p:txBody>
      </p:sp>
      <p:sp>
        <p:nvSpPr>
          <p:cNvPr id="9" name="Text 7"/>
          <p:cNvSpPr/>
          <p:nvPr/>
        </p:nvSpPr>
        <p:spPr>
          <a:xfrm>
            <a:off x="365760" y="2743200"/>
            <a:ext cx="3950208" cy="219456"/>
          </a:xfrm>
          <a:prstGeom prst="rect">
            <a:avLst/>
          </a:prstGeom>
          <a:noFill/>
          <a:ln/>
        </p:spPr>
        <p:txBody>
          <a:bodyPr wrap="square" lIns="0" tIns="0" rIns="0" bIns="0" rtlCol="0" anchor="ctr"/>
          <a:lstStyle/>
          <a:p>
            <a:pPr indent="0" marL="0">
              <a:buNone/>
            </a:pPr>
            <a:r>
              <a:rPr lang="en-US" sz="1000" b="1" dirty="0">
                <a:solidFill>
                  <a:srgbClr val="1A2D6B"/>
                </a:solidFill>
                <a:latin typeface="Calibri" pitchFamily="34" charset="0"/>
                <a:ea typeface="Calibri" pitchFamily="34" charset="-122"/>
                <a:cs typeface="Calibri" pitchFamily="34" charset="-120"/>
              </a:rPr>
              <a:t>Reading the Agglomeration Schedule:</a:t>
            </a:r>
            <a:endParaRPr lang="en-US" sz="1000" dirty="0"/>
          </a:p>
        </p:txBody>
      </p:sp>
      <p:sp>
        <p:nvSpPr>
          <p:cNvPr id="10" name="Shape 8"/>
          <p:cNvSpPr/>
          <p:nvPr/>
        </p:nvSpPr>
        <p:spPr>
          <a:xfrm>
            <a:off x="365760" y="2980944"/>
            <a:ext cx="786384" cy="292608"/>
          </a:xfrm>
          <a:prstGeom prst="rect">
            <a:avLst/>
          </a:prstGeom>
          <a:solidFill>
            <a:srgbClr val="1A2D6B"/>
          </a:solidFill>
          <a:ln w="12700">
            <a:solidFill>
              <a:srgbClr val="1A2D6B"/>
            </a:solidFill>
            <a:prstDash val="solid"/>
          </a:ln>
        </p:spPr>
      </p:sp>
      <p:sp>
        <p:nvSpPr>
          <p:cNvPr id="11" name="Text 9"/>
          <p:cNvSpPr/>
          <p:nvPr/>
        </p:nvSpPr>
        <p:spPr>
          <a:xfrm>
            <a:off x="365760" y="2980944"/>
            <a:ext cx="78638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Stage</a:t>
            </a:r>
            <a:endParaRPr lang="en-US" sz="850" dirty="0"/>
          </a:p>
        </p:txBody>
      </p:sp>
      <p:sp>
        <p:nvSpPr>
          <p:cNvPr id="12" name="Shape 10"/>
          <p:cNvSpPr/>
          <p:nvPr/>
        </p:nvSpPr>
        <p:spPr>
          <a:xfrm>
            <a:off x="1152144" y="2980944"/>
            <a:ext cx="1298448" cy="292608"/>
          </a:xfrm>
          <a:prstGeom prst="rect">
            <a:avLst/>
          </a:prstGeom>
          <a:solidFill>
            <a:srgbClr val="1A2D6B"/>
          </a:solidFill>
          <a:ln w="12700">
            <a:solidFill>
              <a:srgbClr val="1A2D6B"/>
            </a:solidFill>
            <a:prstDash val="solid"/>
          </a:ln>
        </p:spPr>
      </p:sp>
      <p:sp>
        <p:nvSpPr>
          <p:cNvPr id="13" name="Text 11"/>
          <p:cNvSpPr/>
          <p:nvPr/>
        </p:nvSpPr>
        <p:spPr>
          <a:xfrm>
            <a:off x="1152144" y="2980944"/>
            <a:ext cx="129844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Clusters</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Combined</a:t>
            </a:r>
            <a:endParaRPr lang="en-US" sz="850" dirty="0"/>
          </a:p>
        </p:txBody>
      </p:sp>
      <p:sp>
        <p:nvSpPr>
          <p:cNvPr id="14" name="Shape 12"/>
          <p:cNvSpPr/>
          <p:nvPr/>
        </p:nvSpPr>
        <p:spPr>
          <a:xfrm>
            <a:off x="2450592" y="2980944"/>
            <a:ext cx="1481328" cy="292608"/>
          </a:xfrm>
          <a:prstGeom prst="rect">
            <a:avLst/>
          </a:prstGeom>
          <a:solidFill>
            <a:srgbClr val="1A2D6B"/>
          </a:solidFill>
          <a:ln w="12700">
            <a:solidFill>
              <a:srgbClr val="1A2D6B"/>
            </a:solidFill>
            <a:prstDash val="solid"/>
          </a:ln>
        </p:spPr>
      </p:sp>
      <p:sp>
        <p:nvSpPr>
          <p:cNvPr id="15" name="Text 13"/>
          <p:cNvSpPr/>
          <p:nvPr/>
        </p:nvSpPr>
        <p:spPr>
          <a:xfrm>
            <a:off x="2450592" y="2980944"/>
            <a:ext cx="1481328"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Coefficient</a:t>
            </a:r>
            <a:endParaRPr lang="en-US" sz="850" dirty="0"/>
          </a:p>
        </p:txBody>
      </p:sp>
      <p:sp>
        <p:nvSpPr>
          <p:cNvPr id="16" name="Shape 14"/>
          <p:cNvSpPr/>
          <p:nvPr/>
        </p:nvSpPr>
        <p:spPr>
          <a:xfrm>
            <a:off x="365760" y="3273552"/>
            <a:ext cx="786384" cy="292608"/>
          </a:xfrm>
          <a:prstGeom prst="rect">
            <a:avLst/>
          </a:prstGeom>
          <a:solidFill>
            <a:srgbClr val="EAEEF8"/>
          </a:solidFill>
          <a:ln w="6350">
            <a:solidFill>
              <a:srgbClr val="C0C8E0"/>
            </a:solidFill>
            <a:prstDash val="solid"/>
          </a:ln>
        </p:spPr>
      </p:sp>
      <p:sp>
        <p:nvSpPr>
          <p:cNvPr id="17" name="Text 15"/>
          <p:cNvSpPr/>
          <p:nvPr/>
        </p:nvSpPr>
        <p:spPr>
          <a:xfrm>
            <a:off x="365760" y="3273552"/>
            <a:ext cx="786384"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447</a:t>
            </a:r>
            <a:endParaRPr lang="en-US" sz="850" dirty="0"/>
          </a:p>
        </p:txBody>
      </p:sp>
      <p:sp>
        <p:nvSpPr>
          <p:cNvPr id="18" name="Shape 16"/>
          <p:cNvSpPr/>
          <p:nvPr/>
        </p:nvSpPr>
        <p:spPr>
          <a:xfrm>
            <a:off x="1152144" y="3273552"/>
            <a:ext cx="1298448" cy="292608"/>
          </a:xfrm>
          <a:prstGeom prst="rect">
            <a:avLst/>
          </a:prstGeom>
          <a:solidFill>
            <a:srgbClr val="EAEEF8"/>
          </a:solidFill>
          <a:ln w="6350">
            <a:solidFill>
              <a:srgbClr val="C0C8E0"/>
            </a:solidFill>
            <a:prstDash val="solid"/>
          </a:ln>
        </p:spPr>
      </p:sp>
      <p:sp>
        <p:nvSpPr>
          <p:cNvPr id="19" name="Text 17"/>
          <p:cNvSpPr/>
          <p:nvPr/>
        </p:nvSpPr>
        <p:spPr>
          <a:xfrm>
            <a:off x="1152144" y="3273552"/>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1 - 3</a:t>
            </a:r>
            <a:endParaRPr lang="en-US" sz="850" dirty="0"/>
          </a:p>
        </p:txBody>
      </p:sp>
      <p:sp>
        <p:nvSpPr>
          <p:cNvPr id="20" name="Shape 18"/>
          <p:cNvSpPr/>
          <p:nvPr/>
        </p:nvSpPr>
        <p:spPr>
          <a:xfrm>
            <a:off x="2450592" y="3273552"/>
            <a:ext cx="1481328" cy="292608"/>
          </a:xfrm>
          <a:prstGeom prst="rect">
            <a:avLst/>
          </a:prstGeom>
          <a:solidFill>
            <a:srgbClr val="EAEEF8"/>
          </a:solidFill>
          <a:ln w="6350">
            <a:solidFill>
              <a:srgbClr val="C0C8E0"/>
            </a:solidFill>
            <a:prstDash val="solid"/>
          </a:ln>
        </p:spPr>
      </p:sp>
      <p:sp>
        <p:nvSpPr>
          <p:cNvPr id="21" name="Text 19"/>
          <p:cNvSpPr/>
          <p:nvPr/>
        </p:nvSpPr>
        <p:spPr>
          <a:xfrm>
            <a:off x="2450592" y="3273552"/>
            <a:ext cx="14813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0.014</a:t>
            </a:r>
            <a:endParaRPr lang="en-US" sz="850" dirty="0"/>
          </a:p>
        </p:txBody>
      </p:sp>
      <p:sp>
        <p:nvSpPr>
          <p:cNvPr id="22" name="Shape 20"/>
          <p:cNvSpPr/>
          <p:nvPr/>
        </p:nvSpPr>
        <p:spPr>
          <a:xfrm>
            <a:off x="365760" y="3566160"/>
            <a:ext cx="786384" cy="292608"/>
          </a:xfrm>
          <a:prstGeom prst="rect">
            <a:avLst/>
          </a:prstGeom>
          <a:solidFill>
            <a:srgbClr val="FFFFFF"/>
          </a:solidFill>
          <a:ln w="6350">
            <a:solidFill>
              <a:srgbClr val="C0C8E0"/>
            </a:solidFill>
            <a:prstDash val="solid"/>
          </a:ln>
        </p:spPr>
      </p:sp>
      <p:sp>
        <p:nvSpPr>
          <p:cNvPr id="23" name="Text 21"/>
          <p:cNvSpPr/>
          <p:nvPr/>
        </p:nvSpPr>
        <p:spPr>
          <a:xfrm>
            <a:off x="365760" y="3566160"/>
            <a:ext cx="786384"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448</a:t>
            </a:r>
            <a:endParaRPr lang="en-US" sz="850" dirty="0"/>
          </a:p>
        </p:txBody>
      </p:sp>
      <p:sp>
        <p:nvSpPr>
          <p:cNvPr id="24" name="Shape 22"/>
          <p:cNvSpPr/>
          <p:nvPr/>
        </p:nvSpPr>
        <p:spPr>
          <a:xfrm>
            <a:off x="1152144" y="3566160"/>
            <a:ext cx="1298448" cy="292608"/>
          </a:xfrm>
          <a:prstGeom prst="rect">
            <a:avLst/>
          </a:prstGeom>
          <a:solidFill>
            <a:srgbClr val="FFFFFF"/>
          </a:solidFill>
          <a:ln w="6350">
            <a:solidFill>
              <a:srgbClr val="C0C8E0"/>
            </a:solidFill>
            <a:prstDash val="solid"/>
          </a:ln>
        </p:spPr>
      </p:sp>
      <p:sp>
        <p:nvSpPr>
          <p:cNvPr id="25" name="Text 23"/>
          <p:cNvSpPr/>
          <p:nvPr/>
        </p:nvSpPr>
        <p:spPr>
          <a:xfrm>
            <a:off x="1152144" y="3566160"/>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2 - 447</a:t>
            </a:r>
            <a:endParaRPr lang="en-US" sz="850" dirty="0"/>
          </a:p>
        </p:txBody>
      </p:sp>
      <p:sp>
        <p:nvSpPr>
          <p:cNvPr id="26" name="Shape 24"/>
          <p:cNvSpPr/>
          <p:nvPr/>
        </p:nvSpPr>
        <p:spPr>
          <a:xfrm>
            <a:off x="2450592" y="3566160"/>
            <a:ext cx="1481328" cy="292608"/>
          </a:xfrm>
          <a:prstGeom prst="rect">
            <a:avLst/>
          </a:prstGeom>
          <a:solidFill>
            <a:srgbClr val="FFFFFF"/>
          </a:solidFill>
          <a:ln w="6350">
            <a:solidFill>
              <a:srgbClr val="C0C8E0"/>
            </a:solidFill>
            <a:prstDash val="solid"/>
          </a:ln>
        </p:spPr>
      </p:sp>
      <p:sp>
        <p:nvSpPr>
          <p:cNvPr id="27" name="Text 25"/>
          <p:cNvSpPr/>
          <p:nvPr/>
        </p:nvSpPr>
        <p:spPr>
          <a:xfrm>
            <a:off x="2450592" y="3566160"/>
            <a:ext cx="14813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0.028</a:t>
            </a:r>
            <a:endParaRPr lang="en-US" sz="850" dirty="0"/>
          </a:p>
        </p:txBody>
      </p:sp>
      <p:sp>
        <p:nvSpPr>
          <p:cNvPr id="28" name="Shape 26"/>
          <p:cNvSpPr/>
          <p:nvPr/>
        </p:nvSpPr>
        <p:spPr>
          <a:xfrm>
            <a:off x="365760" y="3858768"/>
            <a:ext cx="786384" cy="292608"/>
          </a:xfrm>
          <a:prstGeom prst="rect">
            <a:avLst/>
          </a:prstGeom>
          <a:solidFill>
            <a:srgbClr val="EAEEF8"/>
          </a:solidFill>
          <a:ln w="6350">
            <a:solidFill>
              <a:srgbClr val="C0C8E0"/>
            </a:solidFill>
            <a:prstDash val="solid"/>
          </a:ln>
        </p:spPr>
      </p:sp>
      <p:sp>
        <p:nvSpPr>
          <p:cNvPr id="29" name="Text 27"/>
          <p:cNvSpPr/>
          <p:nvPr/>
        </p:nvSpPr>
        <p:spPr>
          <a:xfrm>
            <a:off x="365760" y="3858768"/>
            <a:ext cx="786384"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a:t>
            </a:r>
            <a:endParaRPr lang="en-US" sz="850" dirty="0"/>
          </a:p>
        </p:txBody>
      </p:sp>
      <p:sp>
        <p:nvSpPr>
          <p:cNvPr id="30" name="Shape 28"/>
          <p:cNvSpPr/>
          <p:nvPr/>
        </p:nvSpPr>
        <p:spPr>
          <a:xfrm>
            <a:off x="1152144" y="3858768"/>
            <a:ext cx="1298448" cy="292608"/>
          </a:xfrm>
          <a:prstGeom prst="rect">
            <a:avLst/>
          </a:prstGeom>
          <a:solidFill>
            <a:srgbClr val="EAEEF8"/>
          </a:solidFill>
          <a:ln w="6350">
            <a:solidFill>
              <a:srgbClr val="C0C8E0"/>
            </a:solidFill>
            <a:prstDash val="solid"/>
          </a:ln>
        </p:spPr>
      </p:sp>
      <p:sp>
        <p:nvSpPr>
          <p:cNvPr id="31" name="Text 29"/>
          <p:cNvSpPr/>
          <p:nvPr/>
        </p:nvSpPr>
        <p:spPr>
          <a:xfrm>
            <a:off x="1152144" y="3858768"/>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a:t>
            </a:r>
            <a:endParaRPr lang="en-US" sz="850" dirty="0"/>
          </a:p>
        </p:txBody>
      </p:sp>
      <p:sp>
        <p:nvSpPr>
          <p:cNvPr id="32" name="Shape 30"/>
          <p:cNvSpPr/>
          <p:nvPr/>
        </p:nvSpPr>
        <p:spPr>
          <a:xfrm>
            <a:off x="2450592" y="3858768"/>
            <a:ext cx="1481328" cy="292608"/>
          </a:xfrm>
          <a:prstGeom prst="rect">
            <a:avLst/>
          </a:prstGeom>
          <a:solidFill>
            <a:srgbClr val="EAEEF8"/>
          </a:solidFill>
          <a:ln w="6350">
            <a:solidFill>
              <a:srgbClr val="C0C8E0"/>
            </a:solidFill>
            <a:prstDash val="solid"/>
          </a:ln>
        </p:spPr>
      </p:sp>
      <p:sp>
        <p:nvSpPr>
          <p:cNvPr id="33" name="Text 31"/>
          <p:cNvSpPr/>
          <p:nvPr/>
        </p:nvSpPr>
        <p:spPr>
          <a:xfrm>
            <a:off x="2450592" y="3858768"/>
            <a:ext cx="14813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a:t>
            </a:r>
            <a:endParaRPr lang="en-US" sz="850" dirty="0"/>
          </a:p>
        </p:txBody>
      </p:sp>
      <p:sp>
        <p:nvSpPr>
          <p:cNvPr id="34" name="Shape 32"/>
          <p:cNvSpPr/>
          <p:nvPr/>
        </p:nvSpPr>
        <p:spPr>
          <a:xfrm>
            <a:off x="365760" y="4151376"/>
            <a:ext cx="786384" cy="292608"/>
          </a:xfrm>
          <a:prstGeom prst="rect">
            <a:avLst/>
          </a:prstGeom>
          <a:solidFill>
            <a:srgbClr val="FFFFFF"/>
          </a:solidFill>
          <a:ln w="6350">
            <a:solidFill>
              <a:srgbClr val="C0C8E0"/>
            </a:solidFill>
            <a:prstDash val="solid"/>
          </a:ln>
        </p:spPr>
      </p:sp>
      <p:sp>
        <p:nvSpPr>
          <p:cNvPr id="35" name="Text 33"/>
          <p:cNvSpPr/>
          <p:nvPr/>
        </p:nvSpPr>
        <p:spPr>
          <a:xfrm>
            <a:off x="365760" y="4151376"/>
            <a:ext cx="786384"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446</a:t>
            </a:r>
            <a:endParaRPr lang="en-US" sz="850" dirty="0"/>
          </a:p>
        </p:txBody>
      </p:sp>
      <p:sp>
        <p:nvSpPr>
          <p:cNvPr id="36" name="Shape 34"/>
          <p:cNvSpPr/>
          <p:nvPr/>
        </p:nvSpPr>
        <p:spPr>
          <a:xfrm>
            <a:off x="1152144" y="4151376"/>
            <a:ext cx="1298448" cy="292608"/>
          </a:xfrm>
          <a:prstGeom prst="rect">
            <a:avLst/>
          </a:prstGeom>
          <a:solidFill>
            <a:srgbClr val="FFFFFF"/>
          </a:solidFill>
          <a:ln w="6350">
            <a:solidFill>
              <a:srgbClr val="C0C8E0"/>
            </a:solidFill>
            <a:prstDash val="solid"/>
          </a:ln>
        </p:spPr>
      </p:sp>
      <p:sp>
        <p:nvSpPr>
          <p:cNvPr id="37" name="Text 35"/>
          <p:cNvSpPr/>
          <p:nvPr/>
        </p:nvSpPr>
        <p:spPr>
          <a:xfrm>
            <a:off x="1152144" y="4151376"/>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(4 clusters)</a:t>
            </a:r>
            <a:endParaRPr lang="en-US" sz="850" dirty="0"/>
          </a:p>
        </p:txBody>
      </p:sp>
      <p:sp>
        <p:nvSpPr>
          <p:cNvPr id="38" name="Shape 36"/>
          <p:cNvSpPr/>
          <p:nvPr/>
        </p:nvSpPr>
        <p:spPr>
          <a:xfrm>
            <a:off x="2450592" y="4151376"/>
            <a:ext cx="1481328" cy="292608"/>
          </a:xfrm>
          <a:prstGeom prst="rect">
            <a:avLst/>
          </a:prstGeom>
          <a:solidFill>
            <a:srgbClr val="FFFFFF"/>
          </a:solidFill>
          <a:ln w="6350">
            <a:solidFill>
              <a:srgbClr val="C0C8E0"/>
            </a:solidFill>
            <a:prstDash val="solid"/>
          </a:ln>
        </p:spPr>
      </p:sp>
      <p:sp>
        <p:nvSpPr>
          <p:cNvPr id="39" name="Text 37"/>
          <p:cNvSpPr/>
          <p:nvPr/>
        </p:nvSpPr>
        <p:spPr>
          <a:xfrm>
            <a:off x="2450592" y="4151376"/>
            <a:ext cx="148132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2.84</a:t>
            </a:r>
            <a:endParaRPr lang="en-US" sz="850" dirty="0"/>
          </a:p>
        </p:txBody>
      </p:sp>
      <p:sp>
        <p:nvSpPr>
          <p:cNvPr id="40" name="Shape 38"/>
          <p:cNvSpPr/>
          <p:nvPr/>
        </p:nvSpPr>
        <p:spPr>
          <a:xfrm>
            <a:off x="365760" y="4443984"/>
            <a:ext cx="786384" cy="292608"/>
          </a:xfrm>
          <a:prstGeom prst="rect">
            <a:avLst/>
          </a:prstGeom>
          <a:solidFill>
            <a:srgbClr val="EAEEF8"/>
          </a:solidFill>
          <a:ln w="6350">
            <a:solidFill>
              <a:srgbClr val="C0C8E0"/>
            </a:solidFill>
            <a:prstDash val="solid"/>
          </a:ln>
        </p:spPr>
      </p:sp>
      <p:sp>
        <p:nvSpPr>
          <p:cNvPr id="41" name="Text 39"/>
          <p:cNvSpPr/>
          <p:nvPr/>
        </p:nvSpPr>
        <p:spPr>
          <a:xfrm>
            <a:off x="365760" y="4443984"/>
            <a:ext cx="786384"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447</a:t>
            </a:r>
            <a:endParaRPr lang="en-US" sz="850" dirty="0"/>
          </a:p>
        </p:txBody>
      </p:sp>
      <p:sp>
        <p:nvSpPr>
          <p:cNvPr id="42" name="Shape 40"/>
          <p:cNvSpPr/>
          <p:nvPr/>
        </p:nvSpPr>
        <p:spPr>
          <a:xfrm>
            <a:off x="1152144" y="4443984"/>
            <a:ext cx="1298448" cy="292608"/>
          </a:xfrm>
          <a:prstGeom prst="rect">
            <a:avLst/>
          </a:prstGeom>
          <a:solidFill>
            <a:srgbClr val="EAEEF8"/>
          </a:solidFill>
          <a:ln w="6350">
            <a:solidFill>
              <a:srgbClr val="C0C8E0"/>
            </a:solidFill>
            <a:prstDash val="solid"/>
          </a:ln>
        </p:spPr>
      </p:sp>
      <p:sp>
        <p:nvSpPr>
          <p:cNvPr id="43" name="Text 41"/>
          <p:cNvSpPr/>
          <p:nvPr/>
        </p:nvSpPr>
        <p:spPr>
          <a:xfrm>
            <a:off x="1152144" y="4443984"/>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(3 clusters)</a:t>
            </a:r>
            <a:endParaRPr lang="en-US" sz="850" dirty="0"/>
          </a:p>
        </p:txBody>
      </p:sp>
      <p:sp>
        <p:nvSpPr>
          <p:cNvPr id="44" name="Shape 42"/>
          <p:cNvSpPr/>
          <p:nvPr/>
        </p:nvSpPr>
        <p:spPr>
          <a:xfrm>
            <a:off x="2450592" y="4443984"/>
            <a:ext cx="1481328" cy="292608"/>
          </a:xfrm>
          <a:prstGeom prst="rect">
            <a:avLst/>
          </a:prstGeom>
          <a:solidFill>
            <a:srgbClr val="D8E8FF"/>
          </a:solidFill>
          <a:ln w="6350">
            <a:solidFill>
              <a:srgbClr val="C0C8E0"/>
            </a:solidFill>
            <a:prstDash val="solid"/>
          </a:ln>
        </p:spPr>
      </p:sp>
      <p:sp>
        <p:nvSpPr>
          <p:cNvPr id="45" name="Text 43"/>
          <p:cNvSpPr/>
          <p:nvPr/>
        </p:nvSpPr>
        <p:spPr>
          <a:xfrm>
            <a:off x="2450592" y="4443984"/>
            <a:ext cx="148132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5.62</a:t>
            </a:r>
            <a:endParaRPr lang="en-US" sz="850" dirty="0"/>
          </a:p>
        </p:txBody>
      </p:sp>
      <p:sp>
        <p:nvSpPr>
          <p:cNvPr id="46" name="Shape 44"/>
          <p:cNvSpPr/>
          <p:nvPr/>
        </p:nvSpPr>
        <p:spPr>
          <a:xfrm>
            <a:off x="365760" y="4736592"/>
            <a:ext cx="786384" cy="292608"/>
          </a:xfrm>
          <a:prstGeom prst="rect">
            <a:avLst/>
          </a:prstGeom>
          <a:solidFill>
            <a:srgbClr val="FFFFFF"/>
          </a:solidFill>
          <a:ln w="6350">
            <a:solidFill>
              <a:srgbClr val="C0C8E0"/>
            </a:solidFill>
            <a:prstDash val="solid"/>
          </a:ln>
        </p:spPr>
      </p:sp>
      <p:sp>
        <p:nvSpPr>
          <p:cNvPr id="47" name="Text 45"/>
          <p:cNvSpPr/>
          <p:nvPr/>
        </p:nvSpPr>
        <p:spPr>
          <a:xfrm>
            <a:off x="365760" y="4736592"/>
            <a:ext cx="786384" cy="292608"/>
          </a:xfrm>
          <a:prstGeom prst="rect">
            <a:avLst/>
          </a:prstGeom>
          <a:noFill/>
          <a:ln/>
        </p:spPr>
        <p:txBody>
          <a:bodyPr wrap="square" lIns="0" tIns="0" rIns="0" bIns="0" rtlCol="0" anchor="ctr"/>
          <a:lstStyle/>
          <a:p>
            <a:pPr algn="ctr" indent="0" marL="0">
              <a:buNone/>
            </a:pPr>
            <a:r>
              <a:rPr lang="en-US" sz="850" dirty="0">
                <a:solidFill>
                  <a:srgbClr val="1A2038"/>
                </a:solidFill>
                <a:latin typeface="Calibri" pitchFamily="34" charset="0"/>
                <a:ea typeface="Calibri" pitchFamily="34" charset="-122"/>
                <a:cs typeface="Calibri" pitchFamily="34" charset="-120"/>
              </a:rPr>
              <a:t>448</a:t>
            </a:r>
            <a:endParaRPr lang="en-US" sz="850" dirty="0"/>
          </a:p>
        </p:txBody>
      </p:sp>
      <p:sp>
        <p:nvSpPr>
          <p:cNvPr id="48" name="Shape 46"/>
          <p:cNvSpPr/>
          <p:nvPr/>
        </p:nvSpPr>
        <p:spPr>
          <a:xfrm>
            <a:off x="1152144" y="4736592"/>
            <a:ext cx="1298448" cy="292608"/>
          </a:xfrm>
          <a:prstGeom prst="rect">
            <a:avLst/>
          </a:prstGeom>
          <a:solidFill>
            <a:srgbClr val="FFFFFF"/>
          </a:solidFill>
          <a:ln w="6350">
            <a:solidFill>
              <a:srgbClr val="C0C8E0"/>
            </a:solidFill>
            <a:prstDash val="solid"/>
          </a:ln>
        </p:spPr>
      </p:sp>
      <p:sp>
        <p:nvSpPr>
          <p:cNvPr id="49" name="Text 47"/>
          <p:cNvSpPr/>
          <p:nvPr/>
        </p:nvSpPr>
        <p:spPr>
          <a:xfrm>
            <a:off x="1152144" y="4736592"/>
            <a:ext cx="1298448" cy="292608"/>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(2 clusters)</a:t>
            </a:r>
            <a:endParaRPr lang="en-US" sz="850" dirty="0"/>
          </a:p>
        </p:txBody>
      </p:sp>
      <p:sp>
        <p:nvSpPr>
          <p:cNvPr id="50" name="Shape 48"/>
          <p:cNvSpPr/>
          <p:nvPr/>
        </p:nvSpPr>
        <p:spPr>
          <a:xfrm>
            <a:off x="2450592" y="4736592"/>
            <a:ext cx="1481328" cy="292608"/>
          </a:xfrm>
          <a:prstGeom prst="rect">
            <a:avLst/>
          </a:prstGeom>
          <a:solidFill>
            <a:srgbClr val="D8E8FF"/>
          </a:solidFill>
          <a:ln w="6350">
            <a:solidFill>
              <a:srgbClr val="C0C8E0"/>
            </a:solidFill>
            <a:prstDash val="solid"/>
          </a:ln>
        </p:spPr>
      </p:sp>
      <p:sp>
        <p:nvSpPr>
          <p:cNvPr id="51" name="Text 49"/>
          <p:cNvSpPr/>
          <p:nvPr/>
        </p:nvSpPr>
        <p:spPr>
          <a:xfrm>
            <a:off x="2450592" y="4736592"/>
            <a:ext cx="1481328" cy="292608"/>
          </a:xfrm>
          <a:prstGeom prst="rect">
            <a:avLst/>
          </a:prstGeom>
          <a:noFill/>
          <a:ln/>
        </p:spPr>
        <p:txBody>
          <a:bodyPr wrap="square" lIns="0" tIns="0" rIns="0" bIns="0" rtlCol="0" anchor="ctr"/>
          <a:lstStyle/>
          <a:p>
            <a:pPr algn="ctr" indent="0" marL="0">
              <a:buNone/>
            </a:pPr>
            <a:r>
              <a:rPr lang="en-US" sz="850" b="1" dirty="0">
                <a:solidFill>
                  <a:srgbClr val="1A2D6B"/>
                </a:solidFill>
                <a:latin typeface="Calibri" pitchFamily="34" charset="0"/>
                <a:ea typeface="Calibri" pitchFamily="34" charset="-122"/>
                <a:cs typeface="Calibri" pitchFamily="34" charset="-120"/>
              </a:rPr>
              <a:t>12.38</a:t>
            </a:r>
            <a:endParaRPr lang="en-US" sz="850" dirty="0"/>
          </a:p>
        </p:txBody>
      </p:sp>
      <p:sp>
        <p:nvSpPr>
          <p:cNvPr id="52" name="Text 50"/>
          <p:cNvSpPr/>
          <p:nvPr/>
        </p:nvSpPr>
        <p:spPr>
          <a:xfrm>
            <a:off x="365760" y="4553712"/>
            <a:ext cx="3950208" cy="420624"/>
          </a:xfrm>
          <a:prstGeom prst="rect">
            <a:avLst/>
          </a:prstGeom>
          <a:noFill/>
          <a:ln/>
        </p:spPr>
        <p:txBody>
          <a:bodyPr wrap="square" lIns="0" tIns="0" rIns="0" bIns="0" rtlCol="0" anchor="ctr"/>
          <a:lstStyle/>
          <a:p>
            <a:pPr indent="0" marL="0">
              <a:buNone/>
            </a:pPr>
            <a:r>
              <a:rPr lang="en-US" sz="900" dirty="0">
                <a:solidFill>
                  <a:srgbClr val="1A2038"/>
                </a:solidFill>
                <a:latin typeface="Calibri" pitchFamily="34" charset="0"/>
                <a:ea typeface="Calibri" pitchFamily="34" charset="-122"/>
                <a:cs typeface="Calibri" pitchFamily="34" charset="-120"/>
              </a:rPr>
              <a:t>LARGE JUMP from 2.84 to 5.62 (Stage 447→448). Stop before the big jump = 4 clusters is optimal. This guides the k=4 choice in K-Means.</a:t>
            </a:r>
            <a:endParaRPr lang="en-US" sz="900" dirty="0"/>
          </a:p>
        </p:txBody>
      </p:sp>
      <p:sp>
        <p:nvSpPr>
          <p:cNvPr id="53" name="Shape 51"/>
          <p:cNvSpPr/>
          <p:nvPr/>
        </p:nvSpPr>
        <p:spPr>
          <a:xfrm>
            <a:off x="4681728" y="1005840"/>
            <a:ext cx="4160520" cy="4041648"/>
          </a:xfrm>
          <a:prstGeom prst="roundRect">
            <a:avLst>
              <a:gd name="adj" fmla="val 203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4" name="Shape 52"/>
          <p:cNvSpPr/>
          <p:nvPr/>
        </p:nvSpPr>
        <p:spPr>
          <a:xfrm>
            <a:off x="4754880" y="1078992"/>
            <a:ext cx="4005072" cy="329184"/>
          </a:xfrm>
          <a:prstGeom prst="roundRect">
            <a:avLst>
              <a:gd name="adj" fmla="val 16667"/>
            </a:avLst>
          </a:prstGeom>
          <a:solidFill>
            <a:srgbClr val="0A0F1E"/>
          </a:solidFill>
          <a:ln w="12700">
            <a:solidFill>
              <a:srgbClr val="0A0F1E"/>
            </a:solidFill>
            <a:prstDash val="solid"/>
          </a:ln>
        </p:spPr>
      </p:sp>
      <p:sp>
        <p:nvSpPr>
          <p:cNvPr id="55" name="Text 53"/>
          <p:cNvSpPr/>
          <p:nvPr/>
        </p:nvSpPr>
        <p:spPr>
          <a:xfrm>
            <a:off x="4754880" y="1078992"/>
            <a:ext cx="4005072" cy="329184"/>
          </a:xfrm>
          <a:prstGeom prst="rect">
            <a:avLst/>
          </a:prstGeom>
          <a:noFill/>
          <a:ln/>
        </p:spPr>
        <p:txBody>
          <a:bodyPr wrap="square" lIns="0" tIns="0" rIns="0" bIns="0" rtlCol="0" anchor="ctr"/>
          <a:lstStyle/>
          <a:p>
            <a:pPr algn="ctr" indent="0" marL="0">
              <a:buNone/>
            </a:pPr>
            <a:r>
              <a:rPr lang="en-US" sz="1100" b="1" dirty="0">
                <a:solidFill>
                  <a:srgbClr val="F0C040"/>
                </a:solidFill>
                <a:latin typeface="Calibri" pitchFamily="34" charset="0"/>
                <a:ea typeface="Calibri" pitchFamily="34" charset="-122"/>
                <a:cs typeface="Calibri" pitchFamily="34" charset="-120"/>
              </a:rPr>
              <a:t>Ward's Method vs. Other Linkage Methods</a:t>
            </a:r>
            <a:endParaRPr lang="en-US" sz="1100" dirty="0"/>
          </a:p>
        </p:txBody>
      </p:sp>
      <p:sp>
        <p:nvSpPr>
          <p:cNvPr id="56" name="Shape 54"/>
          <p:cNvSpPr/>
          <p:nvPr/>
        </p:nvSpPr>
        <p:spPr>
          <a:xfrm>
            <a:off x="4773168" y="1481328"/>
            <a:ext cx="3931920" cy="768096"/>
          </a:xfrm>
          <a:prstGeom prst="roundRect">
            <a:avLst>
              <a:gd name="adj" fmla="val 7143"/>
            </a:avLst>
          </a:prstGeom>
          <a:solidFill>
            <a:srgbClr val="F0F4FF"/>
          </a:solidFill>
          <a:ln w="12700">
            <a:solidFill>
              <a:srgbClr val="2748A8"/>
            </a:solidFill>
            <a:prstDash val="solid"/>
          </a:ln>
        </p:spPr>
      </p:sp>
      <p:sp>
        <p:nvSpPr>
          <p:cNvPr id="57" name="Shape 55"/>
          <p:cNvSpPr/>
          <p:nvPr/>
        </p:nvSpPr>
        <p:spPr>
          <a:xfrm>
            <a:off x="4846320" y="1554480"/>
            <a:ext cx="1005840" cy="237744"/>
          </a:xfrm>
          <a:prstGeom prst="roundRect">
            <a:avLst>
              <a:gd name="adj" fmla="val 15385"/>
            </a:avLst>
          </a:prstGeom>
          <a:solidFill>
            <a:srgbClr val="2748A8"/>
          </a:solidFill>
          <a:ln w="12700">
            <a:solidFill>
              <a:srgbClr val="2748A8"/>
            </a:solidFill>
            <a:prstDash val="solid"/>
          </a:ln>
        </p:spPr>
      </p:sp>
      <p:sp>
        <p:nvSpPr>
          <p:cNvPr id="58" name="Text 56"/>
          <p:cNvSpPr/>
          <p:nvPr/>
        </p:nvSpPr>
        <p:spPr>
          <a:xfrm>
            <a:off x="4846320" y="1554480"/>
            <a:ext cx="100584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Ward's Method</a:t>
            </a:r>
            <a:endParaRPr lang="en-US" sz="850" dirty="0"/>
          </a:p>
        </p:txBody>
      </p:sp>
      <p:sp>
        <p:nvSpPr>
          <p:cNvPr id="59" name="Text 57"/>
          <p:cNvSpPr/>
          <p:nvPr/>
        </p:nvSpPr>
        <p:spPr>
          <a:xfrm>
            <a:off x="5925312" y="1554480"/>
            <a:ext cx="2688336" cy="40233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RECOMMENDED for most research. Minimises within-cluster variance. Produces compact, similar-sized clusters. Best for finding natural groupings.</a:t>
            </a:r>
            <a:endParaRPr lang="en-US" sz="850" dirty="0"/>
          </a:p>
        </p:txBody>
      </p:sp>
      <p:sp>
        <p:nvSpPr>
          <p:cNvPr id="60" name="Text 58"/>
          <p:cNvSpPr/>
          <p:nvPr/>
        </p:nvSpPr>
        <p:spPr>
          <a:xfrm>
            <a:off x="4846320" y="1883664"/>
            <a:ext cx="3749040" cy="310896"/>
          </a:xfrm>
          <a:prstGeom prst="rect">
            <a:avLst/>
          </a:prstGeom>
          <a:noFill/>
          <a:ln/>
        </p:spPr>
        <p:txBody>
          <a:bodyPr wrap="square" lIns="0" tIns="0" rIns="0" bIns="0" rtlCol="0" anchor="ctr"/>
          <a:lstStyle/>
          <a:p>
            <a:pPr indent="0" marL="0">
              <a:buNone/>
            </a:pPr>
            <a:r>
              <a:rPr lang="en-US" sz="800" i="1" dirty="0">
                <a:solidFill>
                  <a:srgbClr val="2748A8"/>
                </a:solidFill>
                <a:latin typeface="Calibri" pitchFamily="34" charset="0"/>
                <a:ea typeface="Calibri" pitchFamily="34" charset="-122"/>
                <a:cs typeface="Calibri" pitchFamily="34" charset="-120"/>
              </a:rPr>
              <a:t>UAC: UAC Foods: Ward's will reveal 4 distinct consumer segments with minimal overlap.</a:t>
            </a:r>
            <a:endParaRPr lang="en-US" sz="800" dirty="0"/>
          </a:p>
        </p:txBody>
      </p:sp>
      <p:sp>
        <p:nvSpPr>
          <p:cNvPr id="61" name="Shape 59"/>
          <p:cNvSpPr/>
          <p:nvPr/>
        </p:nvSpPr>
        <p:spPr>
          <a:xfrm>
            <a:off x="4773168" y="2340864"/>
            <a:ext cx="3931920" cy="768096"/>
          </a:xfrm>
          <a:prstGeom prst="roundRect">
            <a:avLst>
              <a:gd name="adj" fmla="val 7143"/>
            </a:avLst>
          </a:prstGeom>
          <a:solidFill>
            <a:srgbClr val="F0F4FF"/>
          </a:solidFill>
          <a:ln w="12700">
            <a:solidFill>
              <a:srgbClr val="12A374"/>
            </a:solidFill>
            <a:prstDash val="solid"/>
          </a:ln>
        </p:spPr>
      </p:sp>
      <p:sp>
        <p:nvSpPr>
          <p:cNvPr id="62" name="Shape 60"/>
          <p:cNvSpPr/>
          <p:nvPr/>
        </p:nvSpPr>
        <p:spPr>
          <a:xfrm>
            <a:off x="4846320" y="2414016"/>
            <a:ext cx="1005840" cy="237744"/>
          </a:xfrm>
          <a:prstGeom prst="roundRect">
            <a:avLst>
              <a:gd name="adj" fmla="val 15385"/>
            </a:avLst>
          </a:prstGeom>
          <a:solidFill>
            <a:srgbClr val="12A374"/>
          </a:solidFill>
          <a:ln w="12700">
            <a:solidFill>
              <a:srgbClr val="12A374"/>
            </a:solidFill>
            <a:prstDash val="solid"/>
          </a:ln>
        </p:spPr>
      </p:sp>
      <p:sp>
        <p:nvSpPr>
          <p:cNvPr id="63" name="Text 61"/>
          <p:cNvSpPr/>
          <p:nvPr/>
        </p:nvSpPr>
        <p:spPr>
          <a:xfrm>
            <a:off x="4846320" y="2414016"/>
            <a:ext cx="1005840" cy="237744"/>
          </a:xfrm>
          <a:prstGeom prst="rect">
            <a:avLst/>
          </a:prstGeom>
          <a:noFill/>
          <a:ln/>
        </p:spPr>
        <p:txBody>
          <a:bodyPr wrap="square" lIns="0" tIns="0" rIns="0" bIns="0" rtlCol="0" anchor="ctr"/>
          <a:lstStyle/>
          <a:p>
            <a:pPr algn="ctr" indent="0" marL="0">
              <a:buNone/>
            </a:pPr>
            <a:r>
              <a:rPr lang="en-US" sz="850" b="1" dirty="0">
                <a:solidFill>
                  <a:srgbClr val="0A0F1E"/>
                </a:solidFill>
                <a:latin typeface="Calibri" pitchFamily="34" charset="0"/>
                <a:ea typeface="Calibri" pitchFamily="34" charset="-122"/>
                <a:cs typeface="Calibri" pitchFamily="34" charset="-120"/>
              </a:rPr>
              <a:t>Average Linkage</a:t>
            </a:r>
            <a:endParaRPr lang="en-US" sz="850" dirty="0"/>
          </a:p>
        </p:txBody>
      </p:sp>
      <p:sp>
        <p:nvSpPr>
          <p:cNvPr id="64" name="Text 62"/>
          <p:cNvSpPr/>
          <p:nvPr/>
        </p:nvSpPr>
        <p:spPr>
          <a:xfrm>
            <a:off x="5925312" y="2414016"/>
            <a:ext cx="2688336" cy="40233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Uses average distance between all pairs of cases in two clusters. Less sensitive to outliers than Single/Complete linkage.</a:t>
            </a:r>
            <a:endParaRPr lang="en-US" sz="850" dirty="0"/>
          </a:p>
        </p:txBody>
      </p:sp>
      <p:sp>
        <p:nvSpPr>
          <p:cNvPr id="65" name="Text 63"/>
          <p:cNvSpPr/>
          <p:nvPr/>
        </p:nvSpPr>
        <p:spPr>
          <a:xfrm>
            <a:off x="4846320" y="2743200"/>
            <a:ext cx="3749040" cy="310896"/>
          </a:xfrm>
          <a:prstGeom prst="rect">
            <a:avLst/>
          </a:prstGeom>
          <a:noFill/>
          <a:ln/>
        </p:spPr>
        <p:txBody>
          <a:bodyPr wrap="square" lIns="0" tIns="0" rIns="0" bIns="0" rtlCol="0" anchor="ctr"/>
          <a:lstStyle/>
          <a:p>
            <a:pPr indent="0" marL="0">
              <a:buNone/>
            </a:pPr>
            <a:r>
              <a:rPr lang="en-US" sz="800" i="1" dirty="0">
                <a:solidFill>
                  <a:srgbClr val="12A374"/>
                </a:solidFill>
                <a:latin typeface="Calibri" pitchFamily="34" charset="0"/>
                <a:ea typeface="Calibri" pitchFamily="34" charset="-122"/>
                <a:cs typeface="Calibri" pitchFamily="34" charset="-120"/>
              </a:rPr>
              <a:t>UAC: Good alternative to Ward's when group sizes are expected to be very unequal.</a:t>
            </a:r>
            <a:endParaRPr lang="en-US" sz="800" dirty="0"/>
          </a:p>
        </p:txBody>
      </p:sp>
      <p:sp>
        <p:nvSpPr>
          <p:cNvPr id="66" name="Shape 64"/>
          <p:cNvSpPr/>
          <p:nvPr/>
        </p:nvSpPr>
        <p:spPr>
          <a:xfrm>
            <a:off x="4773168" y="3200400"/>
            <a:ext cx="3931920" cy="768096"/>
          </a:xfrm>
          <a:prstGeom prst="roundRect">
            <a:avLst>
              <a:gd name="adj" fmla="val 7143"/>
            </a:avLst>
          </a:prstGeom>
          <a:solidFill>
            <a:srgbClr val="F0F4FF"/>
          </a:solidFill>
          <a:ln w="12700">
            <a:solidFill>
              <a:srgbClr val="C8920A"/>
            </a:solidFill>
            <a:prstDash val="solid"/>
          </a:ln>
        </p:spPr>
      </p:sp>
      <p:sp>
        <p:nvSpPr>
          <p:cNvPr id="67" name="Shape 65"/>
          <p:cNvSpPr/>
          <p:nvPr/>
        </p:nvSpPr>
        <p:spPr>
          <a:xfrm>
            <a:off x="4846320" y="3273552"/>
            <a:ext cx="1005840" cy="237744"/>
          </a:xfrm>
          <a:prstGeom prst="roundRect">
            <a:avLst>
              <a:gd name="adj" fmla="val 15385"/>
            </a:avLst>
          </a:prstGeom>
          <a:solidFill>
            <a:srgbClr val="C8920A"/>
          </a:solidFill>
          <a:ln w="12700">
            <a:solidFill>
              <a:srgbClr val="C8920A"/>
            </a:solidFill>
            <a:prstDash val="solid"/>
          </a:ln>
        </p:spPr>
      </p:sp>
      <p:sp>
        <p:nvSpPr>
          <p:cNvPr id="68" name="Text 66"/>
          <p:cNvSpPr/>
          <p:nvPr/>
        </p:nvSpPr>
        <p:spPr>
          <a:xfrm>
            <a:off x="4846320" y="3273552"/>
            <a:ext cx="1005840" cy="237744"/>
          </a:xfrm>
          <a:prstGeom prst="rect">
            <a:avLst/>
          </a:prstGeom>
          <a:noFill/>
          <a:ln/>
        </p:spPr>
        <p:txBody>
          <a:bodyPr wrap="square" lIns="0" tIns="0" rIns="0" bIns="0" rtlCol="0" anchor="ctr"/>
          <a:lstStyle/>
          <a:p>
            <a:pPr algn="ctr" indent="0" marL="0">
              <a:buNone/>
            </a:pPr>
            <a:r>
              <a:rPr lang="en-US" sz="850" b="1" dirty="0">
                <a:solidFill>
                  <a:srgbClr val="0A0F1E"/>
                </a:solidFill>
                <a:latin typeface="Calibri" pitchFamily="34" charset="0"/>
                <a:ea typeface="Calibri" pitchFamily="34" charset="-122"/>
                <a:cs typeface="Calibri" pitchFamily="34" charset="-120"/>
              </a:rPr>
              <a:t>Complete Linkage</a:t>
            </a:r>
            <a:endParaRPr lang="en-US" sz="850" dirty="0"/>
          </a:p>
        </p:txBody>
      </p:sp>
      <p:sp>
        <p:nvSpPr>
          <p:cNvPr id="69" name="Text 67"/>
          <p:cNvSpPr/>
          <p:nvPr/>
        </p:nvSpPr>
        <p:spPr>
          <a:xfrm>
            <a:off x="5925312" y="3273552"/>
            <a:ext cx="2688336" cy="40233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Uses maximum distance between clusters (opposite to Single). Produces compact clusters but sensitive to outliers.</a:t>
            </a:r>
            <a:endParaRPr lang="en-US" sz="850" dirty="0"/>
          </a:p>
        </p:txBody>
      </p:sp>
      <p:sp>
        <p:nvSpPr>
          <p:cNvPr id="70" name="Text 68"/>
          <p:cNvSpPr/>
          <p:nvPr/>
        </p:nvSpPr>
        <p:spPr>
          <a:xfrm>
            <a:off x="4846320" y="3602736"/>
            <a:ext cx="3749040" cy="310896"/>
          </a:xfrm>
          <a:prstGeom prst="rect">
            <a:avLst/>
          </a:prstGeom>
          <a:noFill/>
          <a:ln/>
        </p:spPr>
        <p:txBody>
          <a:bodyPr wrap="square" lIns="0" tIns="0" rIns="0" bIns="0" rtlCol="0" anchor="ctr"/>
          <a:lstStyle/>
          <a:p>
            <a:pPr indent="0" marL="0">
              <a:buNone/>
            </a:pPr>
            <a:r>
              <a:rPr lang="en-US" sz="800" i="1" dirty="0">
                <a:solidFill>
                  <a:srgbClr val="C8920A"/>
                </a:solidFill>
                <a:latin typeface="Calibri" pitchFamily="34" charset="0"/>
                <a:ea typeface="Calibri" pitchFamily="34" charset="-122"/>
                <a:cs typeface="Calibri" pitchFamily="34" charset="-120"/>
              </a:rPr>
              <a:t>UAC: Use when you want tight, well-separated clusters with no stragglers.</a:t>
            </a:r>
            <a:endParaRPr lang="en-US" sz="800" dirty="0"/>
          </a:p>
        </p:txBody>
      </p:sp>
      <p:sp>
        <p:nvSpPr>
          <p:cNvPr id="71" name="Shape 69"/>
          <p:cNvSpPr/>
          <p:nvPr/>
        </p:nvSpPr>
        <p:spPr>
          <a:xfrm>
            <a:off x="4773168" y="4059936"/>
            <a:ext cx="3931920" cy="768096"/>
          </a:xfrm>
          <a:prstGeom prst="roundRect">
            <a:avLst>
              <a:gd name="adj" fmla="val 7143"/>
            </a:avLst>
          </a:prstGeom>
          <a:solidFill>
            <a:srgbClr val="F0F4FF"/>
          </a:solidFill>
          <a:ln w="12700">
            <a:solidFill>
              <a:srgbClr val="D4680A"/>
            </a:solidFill>
            <a:prstDash val="solid"/>
          </a:ln>
        </p:spPr>
      </p:sp>
      <p:sp>
        <p:nvSpPr>
          <p:cNvPr id="72" name="Shape 70"/>
          <p:cNvSpPr/>
          <p:nvPr/>
        </p:nvSpPr>
        <p:spPr>
          <a:xfrm>
            <a:off x="4846320" y="4133088"/>
            <a:ext cx="1005840" cy="237744"/>
          </a:xfrm>
          <a:prstGeom prst="roundRect">
            <a:avLst>
              <a:gd name="adj" fmla="val 15385"/>
            </a:avLst>
          </a:prstGeom>
          <a:solidFill>
            <a:srgbClr val="D4680A"/>
          </a:solidFill>
          <a:ln w="12700">
            <a:solidFill>
              <a:srgbClr val="D4680A"/>
            </a:solidFill>
            <a:prstDash val="solid"/>
          </a:ln>
        </p:spPr>
      </p:sp>
      <p:sp>
        <p:nvSpPr>
          <p:cNvPr id="73" name="Text 71"/>
          <p:cNvSpPr/>
          <p:nvPr/>
        </p:nvSpPr>
        <p:spPr>
          <a:xfrm>
            <a:off x="4846320" y="4133088"/>
            <a:ext cx="100584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Single Linkage</a:t>
            </a:r>
            <a:endParaRPr lang="en-US" sz="850" dirty="0"/>
          </a:p>
        </p:txBody>
      </p:sp>
      <p:sp>
        <p:nvSpPr>
          <p:cNvPr id="74" name="Text 72"/>
          <p:cNvSpPr/>
          <p:nvPr/>
        </p:nvSpPr>
        <p:spPr>
          <a:xfrm>
            <a:off x="5925312" y="4133088"/>
            <a:ext cx="2688336" cy="402336"/>
          </a:xfrm>
          <a:prstGeom prst="rect">
            <a:avLst/>
          </a:prstGeom>
          <a:noFill/>
          <a:ln/>
        </p:spPr>
        <p:txBody>
          <a:bodyPr wrap="square" lIns="0" tIns="0" rIns="0" bIns="0" rtlCol="0" anchor="ctr"/>
          <a:lstStyle/>
          <a:p>
            <a:pPr indent="0" marL="0">
              <a:buNone/>
            </a:pPr>
            <a:r>
              <a:rPr lang="en-US" sz="850" dirty="0">
                <a:solidFill>
                  <a:srgbClr val="1A2038"/>
                </a:solidFill>
                <a:latin typeface="Calibri" pitchFamily="34" charset="0"/>
                <a:ea typeface="Calibri" pitchFamily="34" charset="-122"/>
                <a:cs typeface="Calibri" pitchFamily="34" charset="-120"/>
              </a:rPr>
              <a:t>Uses minimum distance (nearest neighbour). Prone to 'chaining' - elongated clusters. Generally NOT recommended for practical segmentation.</a:t>
            </a:r>
            <a:endParaRPr lang="en-US" sz="850" dirty="0"/>
          </a:p>
        </p:txBody>
      </p:sp>
      <p:sp>
        <p:nvSpPr>
          <p:cNvPr id="75" name="Text 73"/>
          <p:cNvSpPr/>
          <p:nvPr/>
        </p:nvSpPr>
        <p:spPr>
          <a:xfrm>
            <a:off x="4846320" y="4462272"/>
            <a:ext cx="3749040" cy="310896"/>
          </a:xfrm>
          <a:prstGeom prst="rect">
            <a:avLst/>
          </a:prstGeom>
          <a:noFill/>
          <a:ln/>
        </p:spPr>
        <p:txBody>
          <a:bodyPr wrap="square" lIns="0" tIns="0" rIns="0" bIns="0" rtlCol="0" anchor="ctr"/>
          <a:lstStyle/>
          <a:p>
            <a:pPr indent="0" marL="0">
              <a:buNone/>
            </a:pPr>
            <a:r>
              <a:rPr lang="en-US" sz="800" i="1" dirty="0">
                <a:solidFill>
                  <a:srgbClr val="D4680A"/>
                </a:solidFill>
                <a:latin typeface="Calibri" pitchFamily="34" charset="0"/>
                <a:ea typeface="Calibri" pitchFamily="34" charset="-122"/>
                <a:cs typeface="Calibri" pitchFamily="34" charset="-120"/>
              </a:rPr>
              <a:t>UAC: Useful for detecting outliers and noise, not for finding natural group structure.</a:t>
            </a:r>
            <a:endParaRPr lang="en-US" sz="800" dirty="0"/>
          </a:p>
        </p:txBody>
      </p:sp>
      <p:sp>
        <p:nvSpPr>
          <p:cNvPr id="76" name="Shape 74"/>
          <p:cNvSpPr/>
          <p:nvPr/>
        </p:nvSpPr>
        <p:spPr>
          <a:xfrm>
            <a:off x="256032" y="5120640"/>
            <a:ext cx="8631936" cy="347472"/>
          </a:xfrm>
          <a:prstGeom prst="roundRect">
            <a:avLst>
              <a:gd name="adj" fmla="val 15789"/>
            </a:avLst>
          </a:prstGeom>
          <a:solidFill>
            <a:srgbClr val="FFFBEC"/>
          </a:solidFill>
          <a:ln w="19050">
            <a:solidFill>
              <a:srgbClr val="C8920A"/>
            </a:solidFill>
            <a:prstDash val="solid"/>
          </a:ln>
        </p:spPr>
      </p:sp>
      <p:sp>
        <p:nvSpPr>
          <p:cNvPr id="77" name="Text 75"/>
          <p:cNvSpPr/>
          <p:nvPr/>
        </p:nvSpPr>
        <p:spPr>
          <a:xfrm>
            <a:off x="384048" y="5120640"/>
            <a:ext cx="8449056" cy="347472"/>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Recommended workflow: (1) Run Hierarchical Ward's to identify k. (2) Use k in K-Means for final segmentation. (3) Validate: run ANOVA on cluster variable to confirm all clustering variables are significant.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2D6B"/>
          </a:solidFill>
          <a:ln w="12700">
            <a:solidFill>
              <a:srgbClr val="1A2D6B"/>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Module 5 Final Comprehensive Exercise - UAC Foods Complete Analysis</a:t>
            </a:r>
            <a:endParaRPr lang="en-US" sz="2000" dirty="0"/>
          </a:p>
        </p:txBody>
      </p:sp>
      <p:sp>
        <p:nvSpPr>
          <p:cNvPr id="4" name="Shape 2"/>
          <p:cNvSpPr/>
          <p:nvPr/>
        </p:nvSpPr>
        <p:spPr>
          <a:xfrm>
            <a:off x="256032" y="1024128"/>
            <a:ext cx="8631936" cy="749808"/>
          </a:xfrm>
          <a:prstGeom prst="roundRect">
            <a:avLst>
              <a:gd name="adj" fmla="val 10976"/>
            </a:avLst>
          </a:prstGeom>
          <a:solidFill>
            <a:srgbClr val="111A30"/>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78992"/>
            <a:ext cx="1463040" cy="256032"/>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FINAL PROJECT:</a:t>
            </a:r>
            <a:endParaRPr lang="en-US" sz="1100" dirty="0"/>
          </a:p>
        </p:txBody>
      </p:sp>
      <p:sp>
        <p:nvSpPr>
          <p:cNvPr id="6" name="Text 4"/>
          <p:cNvSpPr/>
          <p:nvPr/>
        </p:nvSpPr>
        <p:spPr>
          <a:xfrm>
            <a:off x="384048" y="1353312"/>
            <a:ext cx="8229600" cy="36576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This exercise integrates all five modules into a complete UAC Foods research report. Work through Tasks A-J in sequence. Each builds on the previous. By Task J you will have a complete, publication-ready analysis of the UAC Foods consumer satisfaction study.</a:t>
            </a:r>
            <a:endParaRPr lang="en-US" sz="1050" dirty="0"/>
          </a:p>
        </p:txBody>
      </p:sp>
      <p:sp>
        <p:nvSpPr>
          <p:cNvPr id="7" name="Shape 5"/>
          <p:cNvSpPr/>
          <p:nvPr/>
        </p:nvSpPr>
        <p:spPr>
          <a:xfrm>
            <a:off x="201168" y="1865376"/>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8" name="Shape 6"/>
          <p:cNvSpPr/>
          <p:nvPr/>
        </p:nvSpPr>
        <p:spPr>
          <a:xfrm>
            <a:off x="292608" y="1938528"/>
            <a:ext cx="347472" cy="347472"/>
          </a:xfrm>
          <a:prstGeom prst="ellipse">
            <a:avLst/>
          </a:prstGeom>
          <a:solidFill>
            <a:srgbClr val="2748A8"/>
          </a:solidFill>
          <a:ln w="12700">
            <a:solidFill>
              <a:srgbClr val="2748A8"/>
            </a:solidFill>
            <a:prstDash val="solid"/>
          </a:ln>
        </p:spPr>
      </p:sp>
      <p:sp>
        <p:nvSpPr>
          <p:cNvPr id="9" name="Text 7"/>
          <p:cNvSpPr/>
          <p:nvPr/>
        </p:nvSpPr>
        <p:spPr>
          <a:xfrm>
            <a:off x="292608"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0" name="Text 8"/>
          <p:cNvSpPr/>
          <p:nvPr/>
        </p:nvSpPr>
        <p:spPr>
          <a:xfrm>
            <a:off x="713232" y="1956816"/>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Factor Analysis</a:t>
            </a:r>
            <a:endParaRPr lang="en-US" sz="900" dirty="0"/>
          </a:p>
        </p:txBody>
      </p:sp>
      <p:sp>
        <p:nvSpPr>
          <p:cNvPr id="11" name="Text 9"/>
          <p:cNvSpPr/>
          <p:nvPr/>
        </p:nvSpPr>
        <p:spPr>
          <a:xfrm>
            <a:off x="292608" y="2340864"/>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EFA on the 10 UAC satisfaction items. Check KMO and Bartlett's. Determine number of factors using Eigenvalue &gt;1 and Scree plot. Report Pattern Matrix. Name each factor.</a:t>
            </a:r>
            <a:endParaRPr lang="en-US" sz="750" dirty="0"/>
          </a:p>
        </p:txBody>
      </p:sp>
      <p:sp>
        <p:nvSpPr>
          <p:cNvPr id="12" name="Shape 10"/>
          <p:cNvSpPr/>
          <p:nvPr/>
        </p:nvSpPr>
        <p:spPr>
          <a:xfrm>
            <a:off x="1975104" y="1865376"/>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3" name="Shape 11"/>
          <p:cNvSpPr/>
          <p:nvPr/>
        </p:nvSpPr>
        <p:spPr>
          <a:xfrm>
            <a:off x="2066544" y="1938528"/>
            <a:ext cx="347472" cy="347472"/>
          </a:xfrm>
          <a:prstGeom prst="ellipse">
            <a:avLst/>
          </a:prstGeom>
          <a:solidFill>
            <a:srgbClr val="12A374"/>
          </a:solidFill>
          <a:ln w="12700">
            <a:solidFill>
              <a:srgbClr val="12A374"/>
            </a:solidFill>
            <a:prstDash val="solid"/>
          </a:ln>
        </p:spPr>
      </p:sp>
      <p:sp>
        <p:nvSpPr>
          <p:cNvPr id="14" name="Text 12"/>
          <p:cNvSpPr/>
          <p:nvPr/>
        </p:nvSpPr>
        <p:spPr>
          <a:xfrm>
            <a:off x="2066544"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Text 13"/>
          <p:cNvSpPr/>
          <p:nvPr/>
        </p:nvSpPr>
        <p:spPr>
          <a:xfrm>
            <a:off x="2487168" y="1956816"/>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Reliability Analysis</a:t>
            </a:r>
            <a:endParaRPr lang="en-US" sz="900" dirty="0"/>
          </a:p>
        </p:txBody>
      </p:sp>
      <p:sp>
        <p:nvSpPr>
          <p:cNvPr id="16" name="Text 14"/>
          <p:cNvSpPr/>
          <p:nvPr/>
        </p:nvSpPr>
        <p:spPr>
          <a:xfrm>
            <a:off x="2066544" y="2340864"/>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Cronbach's Alpha for each identified factor subscale. Review Item-Total Statistics. Remove any item with r &lt; .30 and Alpha if deleted &gt; current alpha. Report final alpha for each subscale.</a:t>
            </a:r>
            <a:endParaRPr lang="en-US" sz="750" dirty="0"/>
          </a:p>
        </p:txBody>
      </p:sp>
      <p:sp>
        <p:nvSpPr>
          <p:cNvPr id="17" name="Shape 15"/>
          <p:cNvSpPr/>
          <p:nvPr/>
        </p:nvSpPr>
        <p:spPr>
          <a:xfrm>
            <a:off x="3749040" y="1865376"/>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3840480" y="1938528"/>
            <a:ext cx="347472" cy="347472"/>
          </a:xfrm>
          <a:prstGeom prst="ellipse">
            <a:avLst/>
          </a:prstGeom>
          <a:solidFill>
            <a:srgbClr val="C8920A"/>
          </a:solidFill>
          <a:ln w="12700">
            <a:solidFill>
              <a:srgbClr val="C8920A"/>
            </a:solidFill>
            <a:prstDash val="solid"/>
          </a:ln>
        </p:spPr>
      </p:sp>
      <p:sp>
        <p:nvSpPr>
          <p:cNvPr id="19" name="Text 17"/>
          <p:cNvSpPr/>
          <p:nvPr/>
        </p:nvSpPr>
        <p:spPr>
          <a:xfrm>
            <a:off x="3840480"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0" name="Text 18"/>
          <p:cNvSpPr/>
          <p:nvPr/>
        </p:nvSpPr>
        <p:spPr>
          <a:xfrm>
            <a:off x="4261104" y="1956816"/>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Compute Subscale Scores</a:t>
            </a:r>
            <a:endParaRPr lang="en-US" sz="900" dirty="0"/>
          </a:p>
        </p:txBody>
      </p:sp>
      <p:sp>
        <p:nvSpPr>
          <p:cNvPr id="21" name="Text 19"/>
          <p:cNvSpPr/>
          <p:nvPr/>
        </p:nvSpPr>
        <p:spPr>
          <a:xfrm>
            <a:off x="3840480" y="2340864"/>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Compute: service_quality = MEAN of Factor 1 items. product_quality = MEAN of Factor 2 items. Add labels and set Measure = Scale. Run Descriptives on both.</a:t>
            </a:r>
            <a:endParaRPr lang="en-US" sz="750" dirty="0"/>
          </a:p>
        </p:txBody>
      </p:sp>
      <p:sp>
        <p:nvSpPr>
          <p:cNvPr id="22" name="Shape 20"/>
          <p:cNvSpPr/>
          <p:nvPr/>
        </p:nvSpPr>
        <p:spPr>
          <a:xfrm>
            <a:off x="5522976" y="1865376"/>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5614416" y="1938528"/>
            <a:ext cx="347472" cy="347472"/>
          </a:xfrm>
          <a:prstGeom prst="ellipse">
            <a:avLst/>
          </a:prstGeom>
          <a:solidFill>
            <a:srgbClr val="D4680A"/>
          </a:solidFill>
          <a:ln w="12700">
            <a:solidFill>
              <a:srgbClr val="D4680A"/>
            </a:solidFill>
            <a:prstDash val="solid"/>
          </a:ln>
        </p:spPr>
      </p:sp>
      <p:sp>
        <p:nvSpPr>
          <p:cNvPr id="24" name="Text 22"/>
          <p:cNvSpPr/>
          <p:nvPr/>
        </p:nvSpPr>
        <p:spPr>
          <a:xfrm>
            <a:off x="5614416"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5" name="Text 23"/>
          <p:cNvSpPr/>
          <p:nvPr/>
        </p:nvSpPr>
        <p:spPr>
          <a:xfrm>
            <a:off x="6035040" y="1956816"/>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Multiple Regression</a:t>
            </a:r>
            <a:endParaRPr lang="en-US" sz="900" dirty="0"/>
          </a:p>
        </p:txBody>
      </p:sp>
      <p:sp>
        <p:nvSpPr>
          <p:cNvPr id="26" name="Text 24"/>
          <p:cNvSpPr/>
          <p:nvPr/>
        </p:nvSpPr>
        <p:spPr>
          <a:xfrm>
            <a:off x="5614416" y="2340864"/>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multiple regression with sat_mean as DV. Predictors: service_quality, product_quality, age_in_years, gender, monthly_salary_ngn. Report Model Summary (R², F, p) and Coefficients (B, Beta, t, p). Check VIF for multicollinearity. Report which predictors are significant.</a:t>
            </a:r>
            <a:endParaRPr lang="en-US" sz="750" dirty="0"/>
          </a:p>
        </p:txBody>
      </p:sp>
      <p:sp>
        <p:nvSpPr>
          <p:cNvPr id="27" name="Shape 25"/>
          <p:cNvSpPr/>
          <p:nvPr/>
        </p:nvSpPr>
        <p:spPr>
          <a:xfrm>
            <a:off x="7296912" y="1865376"/>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28" name="Shape 26"/>
          <p:cNvSpPr/>
          <p:nvPr/>
        </p:nvSpPr>
        <p:spPr>
          <a:xfrm>
            <a:off x="7388352" y="1938528"/>
            <a:ext cx="347472" cy="347472"/>
          </a:xfrm>
          <a:prstGeom prst="ellipse">
            <a:avLst/>
          </a:prstGeom>
          <a:solidFill>
            <a:srgbClr val="8B1A4A"/>
          </a:solidFill>
          <a:ln w="12700">
            <a:solidFill>
              <a:srgbClr val="8B1A4A"/>
            </a:solidFill>
            <a:prstDash val="solid"/>
          </a:ln>
        </p:spPr>
      </p:sp>
      <p:sp>
        <p:nvSpPr>
          <p:cNvPr id="29" name="Text 27"/>
          <p:cNvSpPr/>
          <p:nvPr/>
        </p:nvSpPr>
        <p:spPr>
          <a:xfrm>
            <a:off x="7388352" y="1938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p>
        </p:txBody>
      </p:sp>
      <p:sp>
        <p:nvSpPr>
          <p:cNvPr id="30" name="Text 28"/>
          <p:cNvSpPr/>
          <p:nvPr/>
        </p:nvSpPr>
        <p:spPr>
          <a:xfrm>
            <a:off x="7808976" y="1956816"/>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Binary Logistic Regression</a:t>
            </a:r>
            <a:endParaRPr lang="en-US" sz="900" dirty="0"/>
          </a:p>
        </p:txBody>
      </p:sp>
      <p:sp>
        <p:nvSpPr>
          <p:cNvPr id="31" name="Text 29"/>
          <p:cNvSpPr/>
          <p:nvPr/>
        </p:nvSpPr>
        <p:spPr>
          <a:xfrm>
            <a:off x="7388352" y="2340864"/>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Create high_loyalty = (repurchase_intention &gt;= 4). Run binary logistic with high_loyalty as DV. Predictors: sat_mean, service_quality, product_quality, gender. Report Hosmer-Lemeshow, Nagelkerke R², classification accuracy, and Exp(B) for each significant predictor.</a:t>
            </a:r>
            <a:endParaRPr lang="en-US" sz="750" dirty="0"/>
          </a:p>
        </p:txBody>
      </p:sp>
      <p:sp>
        <p:nvSpPr>
          <p:cNvPr id="32" name="Shape 30"/>
          <p:cNvSpPr/>
          <p:nvPr/>
        </p:nvSpPr>
        <p:spPr>
          <a:xfrm>
            <a:off x="201168" y="3401568"/>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33" name="Shape 31"/>
          <p:cNvSpPr/>
          <p:nvPr/>
        </p:nvSpPr>
        <p:spPr>
          <a:xfrm>
            <a:off x="292608" y="3474720"/>
            <a:ext cx="347472" cy="347472"/>
          </a:xfrm>
          <a:prstGeom prst="ellipse">
            <a:avLst/>
          </a:prstGeom>
          <a:solidFill>
            <a:srgbClr val="6B52C8"/>
          </a:solidFill>
          <a:ln w="12700">
            <a:solidFill>
              <a:srgbClr val="6B52C8"/>
            </a:solidFill>
            <a:prstDash val="solid"/>
          </a:ln>
        </p:spPr>
      </p:sp>
      <p:sp>
        <p:nvSpPr>
          <p:cNvPr id="34" name="Text 32"/>
          <p:cNvSpPr/>
          <p:nvPr/>
        </p:nvSpPr>
        <p:spPr>
          <a:xfrm>
            <a:off x="292608"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35" name="Text 33"/>
          <p:cNvSpPr/>
          <p:nvPr/>
        </p:nvSpPr>
        <p:spPr>
          <a:xfrm>
            <a:off x="713232" y="3493008"/>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Cluster Analysis</a:t>
            </a:r>
            <a:endParaRPr lang="en-US" sz="900" dirty="0"/>
          </a:p>
        </p:txBody>
      </p:sp>
      <p:sp>
        <p:nvSpPr>
          <p:cNvPr id="36" name="Text 34"/>
          <p:cNvSpPr/>
          <p:nvPr/>
        </p:nvSpPr>
        <p:spPr>
          <a:xfrm>
            <a:off x="292608" y="3877056"/>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Standardise: sat_mean, monthly_salary_ngn, age_in_years, repurchase_intention. Run Hierarchical (Ward's) to identify k. Run K-Means with that k. Save cluster membership. Profile each cluster using Descriptives and Crosstabs. Name all clusters.</a:t>
            </a:r>
            <a:endParaRPr lang="en-US" sz="750" dirty="0"/>
          </a:p>
        </p:txBody>
      </p:sp>
      <p:sp>
        <p:nvSpPr>
          <p:cNvPr id="37" name="Shape 35"/>
          <p:cNvSpPr/>
          <p:nvPr/>
        </p:nvSpPr>
        <p:spPr>
          <a:xfrm>
            <a:off x="1975104" y="3401568"/>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38" name="Shape 36"/>
          <p:cNvSpPr/>
          <p:nvPr/>
        </p:nvSpPr>
        <p:spPr>
          <a:xfrm>
            <a:off x="2066544" y="3474720"/>
            <a:ext cx="347472" cy="347472"/>
          </a:xfrm>
          <a:prstGeom prst="ellipse">
            <a:avLst/>
          </a:prstGeom>
          <a:solidFill>
            <a:srgbClr val="1A2D6B"/>
          </a:solidFill>
          <a:ln w="12700">
            <a:solidFill>
              <a:srgbClr val="1A2D6B"/>
            </a:solidFill>
            <a:prstDash val="solid"/>
          </a:ln>
        </p:spPr>
      </p:sp>
      <p:sp>
        <p:nvSpPr>
          <p:cNvPr id="39" name="Text 37"/>
          <p:cNvSpPr/>
          <p:nvPr/>
        </p:nvSpPr>
        <p:spPr>
          <a:xfrm>
            <a:off x="2066544"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p>
        </p:txBody>
      </p:sp>
      <p:sp>
        <p:nvSpPr>
          <p:cNvPr id="40" name="Text 38"/>
          <p:cNvSpPr/>
          <p:nvPr/>
        </p:nvSpPr>
        <p:spPr>
          <a:xfrm>
            <a:off x="2487168" y="3493008"/>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Validate Clusters</a:t>
            </a:r>
            <a:endParaRPr lang="en-US" sz="900" dirty="0"/>
          </a:p>
        </p:txBody>
      </p:sp>
      <p:sp>
        <p:nvSpPr>
          <p:cNvPr id="41" name="Text 39"/>
          <p:cNvSpPr/>
          <p:nvPr/>
        </p:nvSpPr>
        <p:spPr>
          <a:xfrm>
            <a:off x="2066544" y="3877056"/>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Run One-Way ANOVA comparing sat_mean across your identified clusters. Run chi-square of uac_product_pref x cluster. Are cluster differences significant? Report F and chi-square results. Do the cluster profiles make business sense?</a:t>
            </a:r>
            <a:endParaRPr lang="en-US" sz="750" dirty="0"/>
          </a:p>
        </p:txBody>
      </p:sp>
      <p:sp>
        <p:nvSpPr>
          <p:cNvPr id="42" name="Shape 40"/>
          <p:cNvSpPr/>
          <p:nvPr/>
        </p:nvSpPr>
        <p:spPr>
          <a:xfrm>
            <a:off x="3749040" y="3401568"/>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43" name="Shape 41"/>
          <p:cNvSpPr/>
          <p:nvPr/>
        </p:nvSpPr>
        <p:spPr>
          <a:xfrm>
            <a:off x="3840480" y="3474720"/>
            <a:ext cx="347472" cy="347472"/>
          </a:xfrm>
          <a:prstGeom prst="ellipse">
            <a:avLst/>
          </a:prstGeom>
          <a:solidFill>
            <a:srgbClr val="0A0F1E"/>
          </a:solidFill>
          <a:ln w="12700">
            <a:solidFill>
              <a:srgbClr val="0A0F1E"/>
            </a:solidFill>
            <a:prstDash val="solid"/>
          </a:ln>
        </p:spPr>
      </p:sp>
      <p:sp>
        <p:nvSpPr>
          <p:cNvPr id="44" name="Text 42"/>
          <p:cNvSpPr/>
          <p:nvPr/>
        </p:nvSpPr>
        <p:spPr>
          <a:xfrm>
            <a:off x="3840480"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p>
        </p:txBody>
      </p:sp>
      <p:sp>
        <p:nvSpPr>
          <p:cNvPr id="45" name="Text 43"/>
          <p:cNvSpPr/>
          <p:nvPr/>
        </p:nvSpPr>
        <p:spPr>
          <a:xfrm>
            <a:off x="4261104" y="3493008"/>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Write Results Section</a:t>
            </a:r>
            <a:endParaRPr lang="en-US" sz="900" dirty="0"/>
          </a:p>
        </p:txBody>
      </p:sp>
      <p:sp>
        <p:nvSpPr>
          <p:cNvPr id="46" name="Text 44"/>
          <p:cNvSpPr/>
          <p:nvPr/>
        </p:nvSpPr>
        <p:spPr>
          <a:xfrm>
            <a:off x="3840480" y="3877056"/>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Write a complete APA Results section covering: (1) Descriptive statistics table, (2) Factor analysis findings, (3) Reliability coefficients, (4) Regression results table, (5) Logistic regression results, (6) Consumer segment profiles. 500-750 words.</a:t>
            </a:r>
            <a:endParaRPr lang="en-US" sz="750" dirty="0"/>
          </a:p>
        </p:txBody>
      </p:sp>
      <p:sp>
        <p:nvSpPr>
          <p:cNvPr id="47" name="Shape 45"/>
          <p:cNvSpPr/>
          <p:nvPr/>
        </p:nvSpPr>
        <p:spPr>
          <a:xfrm>
            <a:off x="5522976" y="3401568"/>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48" name="Shape 46"/>
          <p:cNvSpPr/>
          <p:nvPr/>
        </p:nvSpPr>
        <p:spPr>
          <a:xfrm>
            <a:off x="5614416" y="3474720"/>
            <a:ext cx="347472" cy="347472"/>
          </a:xfrm>
          <a:prstGeom prst="ellipse">
            <a:avLst/>
          </a:prstGeom>
          <a:solidFill>
            <a:srgbClr val="1A2038"/>
          </a:solidFill>
          <a:ln w="12700">
            <a:solidFill>
              <a:srgbClr val="1A2038"/>
            </a:solidFill>
            <a:prstDash val="solid"/>
          </a:ln>
        </p:spPr>
      </p:sp>
      <p:sp>
        <p:nvSpPr>
          <p:cNvPr id="49" name="Text 47"/>
          <p:cNvSpPr/>
          <p:nvPr/>
        </p:nvSpPr>
        <p:spPr>
          <a:xfrm>
            <a:off x="5614416"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a:t>
            </a:r>
            <a:endParaRPr lang="en-US" sz="1100" dirty="0"/>
          </a:p>
        </p:txBody>
      </p:sp>
      <p:sp>
        <p:nvSpPr>
          <p:cNvPr id="50" name="Text 48"/>
          <p:cNvSpPr/>
          <p:nvPr/>
        </p:nvSpPr>
        <p:spPr>
          <a:xfrm>
            <a:off x="6035040" y="3493008"/>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Write Discussion Section</a:t>
            </a:r>
            <a:endParaRPr lang="en-US" sz="900" dirty="0"/>
          </a:p>
        </p:txBody>
      </p:sp>
      <p:sp>
        <p:nvSpPr>
          <p:cNvPr id="51" name="Text 49"/>
          <p:cNvSpPr/>
          <p:nvPr/>
        </p:nvSpPr>
        <p:spPr>
          <a:xfrm>
            <a:off x="5614416" y="3877056"/>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Interpret your findings: What predicts satisfaction? What drives loyalty? Which consumer segments are most valuable? What are the practical implications for UAC Foods marketing, product development, and customer strategy? 300-400 words.</a:t>
            </a:r>
            <a:endParaRPr lang="en-US" sz="750" dirty="0"/>
          </a:p>
        </p:txBody>
      </p:sp>
      <p:sp>
        <p:nvSpPr>
          <p:cNvPr id="52" name="Shape 50"/>
          <p:cNvSpPr/>
          <p:nvPr/>
        </p:nvSpPr>
        <p:spPr>
          <a:xfrm>
            <a:off x="7296912" y="3401568"/>
            <a:ext cx="1645920" cy="1444752"/>
          </a:xfrm>
          <a:prstGeom prst="roundRect">
            <a:avLst>
              <a:gd name="adj" fmla="val 4430"/>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3" name="Shape 51"/>
          <p:cNvSpPr/>
          <p:nvPr/>
        </p:nvSpPr>
        <p:spPr>
          <a:xfrm>
            <a:off x="7388352" y="3474720"/>
            <a:ext cx="347472" cy="347472"/>
          </a:xfrm>
          <a:prstGeom prst="ellipse">
            <a:avLst/>
          </a:prstGeom>
          <a:solidFill>
            <a:srgbClr val="0A6E4F"/>
          </a:solidFill>
          <a:ln w="12700">
            <a:solidFill>
              <a:srgbClr val="0A6E4F"/>
            </a:solidFill>
            <a:prstDash val="solid"/>
          </a:ln>
        </p:spPr>
      </p:sp>
      <p:sp>
        <p:nvSpPr>
          <p:cNvPr id="54" name="Text 52"/>
          <p:cNvSpPr/>
          <p:nvPr/>
        </p:nvSpPr>
        <p:spPr>
          <a:xfrm>
            <a:off x="7388352" y="34747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a:t>
            </a:r>
            <a:endParaRPr lang="en-US" sz="1100" dirty="0"/>
          </a:p>
        </p:txBody>
      </p:sp>
      <p:sp>
        <p:nvSpPr>
          <p:cNvPr id="55" name="Text 53"/>
          <p:cNvSpPr/>
          <p:nvPr/>
        </p:nvSpPr>
        <p:spPr>
          <a:xfrm>
            <a:off x="7808976" y="3493008"/>
            <a:ext cx="1060704" cy="310896"/>
          </a:xfrm>
          <a:prstGeom prst="rect">
            <a:avLst/>
          </a:prstGeom>
          <a:noFill/>
          <a:ln/>
        </p:spPr>
        <p:txBody>
          <a:bodyPr wrap="square" lIns="0" tIns="0" rIns="0" bIns="0" rtlCol="0" anchor="ctr"/>
          <a:lstStyle/>
          <a:p>
            <a:pPr indent="0" marL="0">
              <a:buNone/>
            </a:pPr>
            <a:r>
              <a:rPr lang="en-US" sz="900" b="1" dirty="0">
                <a:solidFill>
                  <a:srgbClr val="0A0F1E"/>
                </a:solidFill>
                <a:latin typeface="Calibri" pitchFamily="34" charset="0"/>
                <a:ea typeface="Calibri" pitchFamily="34" charset="-122"/>
                <a:cs typeface="Calibri" pitchFamily="34" charset="-120"/>
              </a:rPr>
              <a:t>Executive Summary</a:t>
            </a:r>
            <a:endParaRPr lang="en-US" sz="900" dirty="0"/>
          </a:p>
        </p:txBody>
      </p:sp>
      <p:sp>
        <p:nvSpPr>
          <p:cNvPr id="56" name="Text 54"/>
          <p:cNvSpPr/>
          <p:nvPr/>
        </p:nvSpPr>
        <p:spPr>
          <a:xfrm>
            <a:off x="7388352" y="3877056"/>
            <a:ext cx="1481328" cy="896112"/>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Write a one-page Executive Summary suitable for UAC Foods management (non-statisticians): key findings, 3 strategic recommendations based on evidence, and 2 areas for further research. No technical jargon. Plain business language.</a:t>
            </a:r>
            <a:endParaRPr lang="en-US" sz="750" dirty="0"/>
          </a:p>
        </p:txBody>
      </p:sp>
      <p:sp>
        <p:nvSpPr>
          <p:cNvPr id="57" name="Shape 55"/>
          <p:cNvSpPr/>
          <p:nvPr/>
        </p:nvSpPr>
        <p:spPr>
          <a:xfrm>
            <a:off x="256032" y="5084064"/>
            <a:ext cx="8631936" cy="384048"/>
          </a:xfrm>
          <a:prstGeom prst="roundRect">
            <a:avLst>
              <a:gd name="adj" fmla="val 14286"/>
            </a:avLst>
          </a:prstGeom>
          <a:solidFill>
            <a:srgbClr val="FFFBEC"/>
          </a:solidFill>
          <a:ln w="19050">
            <a:solidFill>
              <a:srgbClr val="C8920A"/>
            </a:solidFill>
            <a:prstDash val="solid"/>
          </a:ln>
        </p:spPr>
      </p:sp>
      <p:sp>
        <p:nvSpPr>
          <p:cNvPr id="58" name="Text 56"/>
          <p:cNvSpPr/>
          <p:nvPr/>
        </p:nvSpPr>
        <p:spPr>
          <a:xfrm>
            <a:off x="384048" y="5084064"/>
            <a:ext cx="8449056" cy="384048"/>
          </a:xfrm>
          <a:prstGeom prst="rect">
            <a:avLst/>
          </a:prstGeom>
          <a:noFill/>
          <a:ln/>
        </p:spPr>
        <p:txBody>
          <a:bodyPr wrap="square" lIns="0" tIns="0" rIns="0" bIns="0" rtlCol="0" anchor="ctr"/>
          <a:lstStyle/>
          <a:p>
            <a:pPr indent="0" marL="0">
              <a:buNone/>
            </a:pPr>
            <a:r>
              <a:rPr lang="en-US" sz="1000" dirty="0">
                <a:solidFill>
                  <a:srgbClr val="6B4800"/>
                </a:solidFill>
                <a:latin typeface="Calibri" pitchFamily="34" charset="0"/>
                <a:ea typeface="Calibri" pitchFamily="34" charset="-122"/>
                <a:cs typeface="Calibri" pitchFamily="34" charset="-120"/>
              </a:rPr>
              <a:t>Allow 90-120 minutes. Tasks A-G are SPSS analyses. Tasks H-J are written interpretation. This exercise IS the final UAC Foods research report. It demonstrates mastery of the complete SPSS analytical workflow.</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C8920A">
              <a:alpha val="12000"/>
            </a:srgbClr>
          </a:solidFill>
          <a:ln w="12700">
            <a:solidFill>
              <a:srgbClr val="C8920A"/>
            </a:solidFill>
            <a:prstDash val="solid"/>
          </a:ln>
        </p:spPr>
      </p:sp>
      <p:sp>
        <p:nvSpPr>
          <p:cNvPr id="3" name="Shape 1"/>
          <p:cNvSpPr/>
          <p:nvPr/>
        </p:nvSpPr>
        <p:spPr>
          <a:xfrm>
            <a:off x="6858000" y="3200400"/>
            <a:ext cx="3657600" cy="3657600"/>
          </a:xfrm>
          <a:prstGeom prst="ellipse">
            <a:avLst/>
          </a:prstGeom>
          <a:solidFill>
            <a:srgbClr val="1A2D6B">
              <a:alpha val="16000"/>
            </a:srgbClr>
          </a:solidFill>
          <a:ln w="12700">
            <a:solidFill>
              <a:srgbClr val="1A2D6B"/>
            </a:solidFill>
            <a:prstDash val="solid"/>
          </a:ln>
        </p:spPr>
      </p:sp>
      <p:sp>
        <p:nvSpPr>
          <p:cNvPr id="4" name="Text 2"/>
          <p:cNvSpPr/>
          <p:nvPr/>
        </p:nvSpPr>
        <p:spPr>
          <a:xfrm>
            <a:off x="457200" y="164592"/>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Module 5 - Key Takeaways</a:t>
            </a:r>
            <a:endParaRPr lang="en-US" sz="3000" dirty="0"/>
          </a:p>
        </p:txBody>
      </p:sp>
      <p:sp>
        <p:nvSpPr>
          <p:cNvPr id="5" name="Shape 3"/>
          <p:cNvSpPr/>
          <p:nvPr/>
        </p:nvSpPr>
        <p:spPr>
          <a:xfrm>
            <a:off x="320040" y="932688"/>
            <a:ext cx="4160520" cy="731520"/>
          </a:xfrm>
          <a:prstGeom prst="roundRect">
            <a:avLst>
              <a:gd name="adj" fmla="val 8750"/>
            </a:avLst>
          </a:prstGeom>
          <a:solidFill>
            <a:srgbClr val="111A30"/>
          </a:solidFill>
          <a:ln w="6350">
            <a:solidFill>
              <a:srgbClr val="2748A8"/>
            </a:solidFill>
            <a:prstDash val="solid"/>
          </a:ln>
        </p:spPr>
      </p:sp>
      <p:sp>
        <p:nvSpPr>
          <p:cNvPr id="6" name="Shape 4"/>
          <p:cNvSpPr/>
          <p:nvPr/>
        </p:nvSpPr>
        <p:spPr>
          <a:xfrm>
            <a:off x="411480" y="1133856"/>
            <a:ext cx="292608" cy="292608"/>
          </a:xfrm>
          <a:prstGeom prst="ellipse">
            <a:avLst/>
          </a:prstGeom>
          <a:solidFill>
            <a:srgbClr val="F0C040"/>
          </a:solidFill>
          <a:ln w="12700">
            <a:solidFill>
              <a:srgbClr val="F0C040"/>
            </a:solidFill>
            <a:prstDash val="solid"/>
          </a:ln>
        </p:spPr>
      </p:sp>
      <p:sp>
        <p:nvSpPr>
          <p:cNvPr id="7" name="Text 5"/>
          <p:cNvSpPr/>
          <p:nvPr/>
        </p:nvSpPr>
        <p:spPr>
          <a:xfrm>
            <a:off x="411480" y="113385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1</a:t>
            </a:r>
            <a:endParaRPr lang="en-US" sz="800" dirty="0"/>
          </a:p>
        </p:txBody>
      </p:sp>
      <p:sp>
        <p:nvSpPr>
          <p:cNvPr id="8" name="Text 6"/>
          <p:cNvSpPr/>
          <p:nvPr/>
        </p:nvSpPr>
        <p:spPr>
          <a:xfrm>
            <a:off x="777240" y="100584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Mixed ANOVA (GLM Repeated Measures with a between-subjects factor) tests both within-subject change over time AND whether that change differs by group - the most powerful longitudinal design.</a:t>
            </a:r>
            <a:endParaRPr lang="en-US" sz="850" dirty="0"/>
          </a:p>
        </p:txBody>
      </p:sp>
      <p:sp>
        <p:nvSpPr>
          <p:cNvPr id="9" name="Shape 7"/>
          <p:cNvSpPr/>
          <p:nvPr/>
        </p:nvSpPr>
        <p:spPr>
          <a:xfrm>
            <a:off x="320040" y="1755648"/>
            <a:ext cx="4160520" cy="731520"/>
          </a:xfrm>
          <a:prstGeom prst="roundRect">
            <a:avLst>
              <a:gd name="adj" fmla="val 8750"/>
            </a:avLst>
          </a:prstGeom>
          <a:solidFill>
            <a:srgbClr val="111A30"/>
          </a:solidFill>
          <a:ln w="6350">
            <a:solidFill>
              <a:srgbClr val="2748A8"/>
            </a:solidFill>
            <a:prstDash val="solid"/>
          </a:ln>
        </p:spPr>
      </p:sp>
      <p:sp>
        <p:nvSpPr>
          <p:cNvPr id="10" name="Shape 8"/>
          <p:cNvSpPr/>
          <p:nvPr/>
        </p:nvSpPr>
        <p:spPr>
          <a:xfrm>
            <a:off x="411480" y="1956816"/>
            <a:ext cx="292608" cy="292608"/>
          </a:xfrm>
          <a:prstGeom prst="ellipse">
            <a:avLst/>
          </a:prstGeom>
          <a:solidFill>
            <a:srgbClr val="F0C040"/>
          </a:solidFill>
          <a:ln w="12700">
            <a:solidFill>
              <a:srgbClr val="F0C040"/>
            </a:solidFill>
            <a:prstDash val="solid"/>
          </a:ln>
        </p:spPr>
      </p:sp>
      <p:sp>
        <p:nvSpPr>
          <p:cNvPr id="11" name="Text 9"/>
          <p:cNvSpPr/>
          <p:nvPr/>
        </p:nvSpPr>
        <p:spPr>
          <a:xfrm>
            <a:off x="411480" y="195681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777240" y="182880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EMMEANS in GLM provides adjusted pairwise comparisons. Polynomial contrasts test whether change follows a linear, quadratic, or cubic trend. Linear trend analysis is most common in practice.</a:t>
            </a:r>
            <a:endParaRPr lang="en-US" sz="850" dirty="0"/>
          </a:p>
        </p:txBody>
      </p:sp>
      <p:sp>
        <p:nvSpPr>
          <p:cNvPr id="13" name="Shape 11"/>
          <p:cNvSpPr/>
          <p:nvPr/>
        </p:nvSpPr>
        <p:spPr>
          <a:xfrm>
            <a:off x="320040" y="2578608"/>
            <a:ext cx="4160520" cy="731520"/>
          </a:xfrm>
          <a:prstGeom prst="roundRect">
            <a:avLst>
              <a:gd name="adj" fmla="val 8750"/>
            </a:avLst>
          </a:prstGeom>
          <a:solidFill>
            <a:srgbClr val="111A30"/>
          </a:solidFill>
          <a:ln w="6350">
            <a:solidFill>
              <a:srgbClr val="2748A8"/>
            </a:solidFill>
            <a:prstDash val="solid"/>
          </a:ln>
        </p:spPr>
      </p:sp>
      <p:sp>
        <p:nvSpPr>
          <p:cNvPr id="14" name="Shape 12"/>
          <p:cNvSpPr/>
          <p:nvPr/>
        </p:nvSpPr>
        <p:spPr>
          <a:xfrm>
            <a:off x="411480" y="2779776"/>
            <a:ext cx="292608" cy="292608"/>
          </a:xfrm>
          <a:prstGeom prst="ellipse">
            <a:avLst/>
          </a:prstGeom>
          <a:solidFill>
            <a:srgbClr val="F0C040"/>
          </a:solidFill>
          <a:ln w="12700">
            <a:solidFill>
              <a:srgbClr val="F0C040"/>
            </a:solidFill>
            <a:prstDash val="solid"/>
          </a:ln>
        </p:spPr>
      </p:sp>
      <p:sp>
        <p:nvSpPr>
          <p:cNvPr id="15" name="Text 13"/>
          <p:cNvSpPr/>
          <p:nvPr/>
        </p:nvSpPr>
        <p:spPr>
          <a:xfrm>
            <a:off x="411480" y="277977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777240" y="265176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Multiple regression explains how much variance in a scale outcome is explained by a set of predictors (R²) and which predictors contribute uniquely after controlling for all others (Beta and t).</a:t>
            </a:r>
            <a:endParaRPr lang="en-US" sz="850" dirty="0"/>
          </a:p>
        </p:txBody>
      </p:sp>
      <p:sp>
        <p:nvSpPr>
          <p:cNvPr id="17" name="Shape 15"/>
          <p:cNvSpPr/>
          <p:nvPr/>
        </p:nvSpPr>
        <p:spPr>
          <a:xfrm>
            <a:off x="320040" y="3401568"/>
            <a:ext cx="4160520" cy="731520"/>
          </a:xfrm>
          <a:prstGeom prst="roundRect">
            <a:avLst>
              <a:gd name="adj" fmla="val 8750"/>
            </a:avLst>
          </a:prstGeom>
          <a:solidFill>
            <a:srgbClr val="111A30"/>
          </a:solidFill>
          <a:ln w="6350">
            <a:solidFill>
              <a:srgbClr val="2748A8"/>
            </a:solidFill>
            <a:prstDash val="solid"/>
          </a:ln>
        </p:spPr>
      </p:sp>
      <p:sp>
        <p:nvSpPr>
          <p:cNvPr id="18" name="Shape 16"/>
          <p:cNvSpPr/>
          <p:nvPr/>
        </p:nvSpPr>
        <p:spPr>
          <a:xfrm>
            <a:off x="411480" y="3602736"/>
            <a:ext cx="292608" cy="292608"/>
          </a:xfrm>
          <a:prstGeom prst="ellipse">
            <a:avLst/>
          </a:prstGeom>
          <a:solidFill>
            <a:srgbClr val="F0C040"/>
          </a:solidFill>
          <a:ln w="12700">
            <a:solidFill>
              <a:srgbClr val="F0C040"/>
            </a:solidFill>
            <a:prstDash val="solid"/>
          </a:ln>
        </p:spPr>
      </p:sp>
      <p:sp>
        <p:nvSpPr>
          <p:cNvPr id="19" name="Text 17"/>
          <p:cNvSpPr/>
          <p:nvPr/>
        </p:nvSpPr>
        <p:spPr>
          <a:xfrm>
            <a:off x="411480" y="360273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777240" y="347472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Always check all five regression assumptions: Linearity (ZPRED vs ZRESID), Independence (Durbin-Watson), Homoscedasticity (plot), Normality of residuals (histogram + P-P plot), No multicollinearity (VIF &lt; 10).</a:t>
            </a:r>
            <a:endParaRPr lang="en-US" sz="850" dirty="0"/>
          </a:p>
        </p:txBody>
      </p:sp>
      <p:sp>
        <p:nvSpPr>
          <p:cNvPr id="21" name="Shape 19"/>
          <p:cNvSpPr/>
          <p:nvPr/>
        </p:nvSpPr>
        <p:spPr>
          <a:xfrm>
            <a:off x="320040" y="4224528"/>
            <a:ext cx="4160520" cy="731520"/>
          </a:xfrm>
          <a:prstGeom prst="roundRect">
            <a:avLst>
              <a:gd name="adj" fmla="val 8750"/>
            </a:avLst>
          </a:prstGeom>
          <a:solidFill>
            <a:srgbClr val="111A30"/>
          </a:solidFill>
          <a:ln w="6350">
            <a:solidFill>
              <a:srgbClr val="2748A8"/>
            </a:solidFill>
            <a:prstDash val="solid"/>
          </a:ln>
        </p:spPr>
      </p:sp>
      <p:sp>
        <p:nvSpPr>
          <p:cNvPr id="22" name="Shape 20"/>
          <p:cNvSpPr/>
          <p:nvPr/>
        </p:nvSpPr>
        <p:spPr>
          <a:xfrm>
            <a:off x="411480" y="4425696"/>
            <a:ext cx="292608" cy="292608"/>
          </a:xfrm>
          <a:prstGeom prst="ellipse">
            <a:avLst/>
          </a:prstGeom>
          <a:solidFill>
            <a:srgbClr val="F0C040"/>
          </a:solidFill>
          <a:ln w="12700">
            <a:solidFill>
              <a:srgbClr val="F0C040"/>
            </a:solidFill>
            <a:prstDash val="solid"/>
          </a:ln>
        </p:spPr>
      </p:sp>
      <p:sp>
        <p:nvSpPr>
          <p:cNvPr id="23" name="Text 21"/>
          <p:cNvSpPr/>
          <p:nvPr/>
        </p:nvSpPr>
        <p:spPr>
          <a:xfrm>
            <a:off x="411480" y="442569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777240" y="429768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In binary logistic regression, Exp(B) is the Odds Ratio - the key interpretable output. Exp(B) &gt; 1 = predictor increases odds of outcome. Report with 95% CI. Hosmer-Lemeshow p &gt; .05 = good fit.</a:t>
            </a:r>
            <a:endParaRPr lang="en-US" sz="850" dirty="0"/>
          </a:p>
        </p:txBody>
      </p:sp>
      <p:sp>
        <p:nvSpPr>
          <p:cNvPr id="25" name="Shape 23"/>
          <p:cNvSpPr/>
          <p:nvPr/>
        </p:nvSpPr>
        <p:spPr>
          <a:xfrm>
            <a:off x="4782312" y="932688"/>
            <a:ext cx="4160520" cy="731520"/>
          </a:xfrm>
          <a:prstGeom prst="roundRect">
            <a:avLst>
              <a:gd name="adj" fmla="val 8750"/>
            </a:avLst>
          </a:prstGeom>
          <a:solidFill>
            <a:srgbClr val="111A30"/>
          </a:solidFill>
          <a:ln w="6350">
            <a:solidFill>
              <a:srgbClr val="2748A8"/>
            </a:solidFill>
            <a:prstDash val="solid"/>
          </a:ln>
        </p:spPr>
      </p:sp>
      <p:sp>
        <p:nvSpPr>
          <p:cNvPr id="26" name="Shape 24"/>
          <p:cNvSpPr/>
          <p:nvPr/>
        </p:nvSpPr>
        <p:spPr>
          <a:xfrm>
            <a:off x="4873752" y="1133856"/>
            <a:ext cx="292608" cy="292608"/>
          </a:xfrm>
          <a:prstGeom prst="ellipse">
            <a:avLst/>
          </a:prstGeom>
          <a:solidFill>
            <a:srgbClr val="F0C040"/>
          </a:solidFill>
          <a:ln w="12700">
            <a:solidFill>
              <a:srgbClr val="F0C040"/>
            </a:solidFill>
            <a:prstDash val="solid"/>
          </a:ln>
        </p:spPr>
      </p:sp>
      <p:sp>
        <p:nvSpPr>
          <p:cNvPr id="27" name="Text 25"/>
          <p:cNvSpPr/>
          <p:nvPr/>
        </p:nvSpPr>
        <p:spPr>
          <a:xfrm>
            <a:off x="4873752" y="113385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6</a:t>
            </a:r>
            <a:endParaRPr lang="en-US" sz="800" dirty="0"/>
          </a:p>
        </p:txBody>
      </p:sp>
      <p:sp>
        <p:nvSpPr>
          <p:cNvPr id="28" name="Text 26"/>
          <p:cNvSpPr/>
          <p:nvPr/>
        </p:nvSpPr>
        <p:spPr>
          <a:xfrm>
            <a:off x="5239512" y="100584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Exploratory Factor Analysis: check KMO &gt; .60 and Bartlett's p &lt; .001 before interpreting factors. Use Scree plot AND Eigenvalue &gt; 1 together. Promax rotation (oblique) for correlated factors.</a:t>
            </a:r>
            <a:endParaRPr lang="en-US" sz="850" dirty="0"/>
          </a:p>
        </p:txBody>
      </p:sp>
      <p:sp>
        <p:nvSpPr>
          <p:cNvPr id="29" name="Shape 27"/>
          <p:cNvSpPr/>
          <p:nvPr/>
        </p:nvSpPr>
        <p:spPr>
          <a:xfrm>
            <a:off x="4782312" y="1755648"/>
            <a:ext cx="4160520" cy="731520"/>
          </a:xfrm>
          <a:prstGeom prst="roundRect">
            <a:avLst>
              <a:gd name="adj" fmla="val 8750"/>
            </a:avLst>
          </a:prstGeom>
          <a:solidFill>
            <a:srgbClr val="111A30"/>
          </a:solidFill>
          <a:ln w="6350">
            <a:solidFill>
              <a:srgbClr val="2748A8"/>
            </a:solidFill>
            <a:prstDash val="solid"/>
          </a:ln>
        </p:spPr>
      </p:sp>
      <p:sp>
        <p:nvSpPr>
          <p:cNvPr id="30" name="Shape 28"/>
          <p:cNvSpPr/>
          <p:nvPr/>
        </p:nvSpPr>
        <p:spPr>
          <a:xfrm>
            <a:off x="4873752" y="1956816"/>
            <a:ext cx="292608" cy="292608"/>
          </a:xfrm>
          <a:prstGeom prst="ellipse">
            <a:avLst/>
          </a:prstGeom>
          <a:solidFill>
            <a:srgbClr val="F0C040"/>
          </a:solidFill>
          <a:ln w="12700">
            <a:solidFill>
              <a:srgbClr val="F0C040"/>
            </a:solidFill>
            <a:prstDash val="solid"/>
          </a:ln>
        </p:spPr>
      </p:sp>
      <p:sp>
        <p:nvSpPr>
          <p:cNvPr id="31" name="Text 29"/>
          <p:cNvSpPr/>
          <p:nvPr/>
        </p:nvSpPr>
        <p:spPr>
          <a:xfrm>
            <a:off x="4873752" y="195681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7</a:t>
            </a:r>
            <a:endParaRPr lang="en-US" sz="800" dirty="0"/>
          </a:p>
        </p:txBody>
      </p:sp>
      <p:sp>
        <p:nvSpPr>
          <p:cNvPr id="32" name="Text 30"/>
          <p:cNvSpPr/>
          <p:nvPr/>
        </p:nvSpPr>
        <p:spPr>
          <a:xfrm>
            <a:off x="5239512" y="182880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Always run Reliability Analysis (Cronbach's Alpha) for each factor subscale BEFORE computing composite scores. Target alpha &gt; .70. Remove items where corrected r &lt; .30 AND deletion improves alpha.</a:t>
            </a:r>
            <a:endParaRPr lang="en-US" sz="850" dirty="0"/>
          </a:p>
        </p:txBody>
      </p:sp>
      <p:sp>
        <p:nvSpPr>
          <p:cNvPr id="33" name="Shape 31"/>
          <p:cNvSpPr/>
          <p:nvPr/>
        </p:nvSpPr>
        <p:spPr>
          <a:xfrm>
            <a:off x="4782312" y="2578608"/>
            <a:ext cx="4160520" cy="731520"/>
          </a:xfrm>
          <a:prstGeom prst="roundRect">
            <a:avLst>
              <a:gd name="adj" fmla="val 8750"/>
            </a:avLst>
          </a:prstGeom>
          <a:solidFill>
            <a:srgbClr val="111A30"/>
          </a:solidFill>
          <a:ln w="6350">
            <a:solidFill>
              <a:srgbClr val="2748A8"/>
            </a:solidFill>
            <a:prstDash val="solid"/>
          </a:ln>
        </p:spPr>
      </p:sp>
      <p:sp>
        <p:nvSpPr>
          <p:cNvPr id="34" name="Shape 32"/>
          <p:cNvSpPr/>
          <p:nvPr/>
        </p:nvSpPr>
        <p:spPr>
          <a:xfrm>
            <a:off x="4873752" y="2779776"/>
            <a:ext cx="292608" cy="292608"/>
          </a:xfrm>
          <a:prstGeom prst="ellipse">
            <a:avLst/>
          </a:prstGeom>
          <a:solidFill>
            <a:srgbClr val="F0C040"/>
          </a:solidFill>
          <a:ln w="12700">
            <a:solidFill>
              <a:srgbClr val="F0C040"/>
            </a:solidFill>
            <a:prstDash val="solid"/>
          </a:ln>
        </p:spPr>
      </p:sp>
      <p:sp>
        <p:nvSpPr>
          <p:cNvPr id="35" name="Text 33"/>
          <p:cNvSpPr/>
          <p:nvPr/>
        </p:nvSpPr>
        <p:spPr>
          <a:xfrm>
            <a:off x="4873752" y="277977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8</a:t>
            </a:r>
            <a:endParaRPr lang="en-US" sz="800" dirty="0"/>
          </a:p>
        </p:txBody>
      </p:sp>
      <p:sp>
        <p:nvSpPr>
          <p:cNvPr id="36" name="Text 34"/>
          <p:cNvSpPr/>
          <p:nvPr/>
        </p:nvSpPr>
        <p:spPr>
          <a:xfrm>
            <a:off x="5239512" y="265176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In K-Means clustering: standardise ALL variables first. Run Hierarchical Ward's method first to identify optimal k using the Agglomeration Schedule (look for large coefficient jumps). Then use that k in K-Means.</a:t>
            </a:r>
            <a:endParaRPr lang="en-US" sz="850" dirty="0"/>
          </a:p>
        </p:txBody>
      </p:sp>
      <p:sp>
        <p:nvSpPr>
          <p:cNvPr id="37" name="Shape 35"/>
          <p:cNvSpPr/>
          <p:nvPr/>
        </p:nvSpPr>
        <p:spPr>
          <a:xfrm>
            <a:off x="4782312" y="3401568"/>
            <a:ext cx="4160520" cy="731520"/>
          </a:xfrm>
          <a:prstGeom prst="roundRect">
            <a:avLst>
              <a:gd name="adj" fmla="val 8750"/>
            </a:avLst>
          </a:prstGeom>
          <a:solidFill>
            <a:srgbClr val="111A30"/>
          </a:solidFill>
          <a:ln w="6350">
            <a:solidFill>
              <a:srgbClr val="2748A8"/>
            </a:solidFill>
            <a:prstDash val="solid"/>
          </a:ln>
        </p:spPr>
      </p:sp>
      <p:sp>
        <p:nvSpPr>
          <p:cNvPr id="38" name="Shape 36"/>
          <p:cNvSpPr/>
          <p:nvPr/>
        </p:nvSpPr>
        <p:spPr>
          <a:xfrm>
            <a:off x="4873752" y="3602736"/>
            <a:ext cx="292608" cy="292608"/>
          </a:xfrm>
          <a:prstGeom prst="ellipse">
            <a:avLst/>
          </a:prstGeom>
          <a:solidFill>
            <a:srgbClr val="F0C040"/>
          </a:solidFill>
          <a:ln w="12700">
            <a:solidFill>
              <a:srgbClr val="F0C040"/>
            </a:solidFill>
            <a:prstDash val="solid"/>
          </a:ln>
        </p:spPr>
      </p:sp>
      <p:sp>
        <p:nvSpPr>
          <p:cNvPr id="39" name="Text 37"/>
          <p:cNvSpPr/>
          <p:nvPr/>
        </p:nvSpPr>
        <p:spPr>
          <a:xfrm>
            <a:off x="4873752" y="360273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9</a:t>
            </a:r>
            <a:endParaRPr lang="en-US" sz="800" dirty="0"/>
          </a:p>
        </p:txBody>
      </p:sp>
      <p:sp>
        <p:nvSpPr>
          <p:cNvPr id="40" name="Text 38"/>
          <p:cNvSpPr/>
          <p:nvPr/>
        </p:nvSpPr>
        <p:spPr>
          <a:xfrm>
            <a:off x="5239512" y="347472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Consumer segment names come from substantive interpretation of the cluster centers and profiles - not from SPSS. Clusters are only useful when they have strategic meaning for business decisions.</a:t>
            </a:r>
            <a:endParaRPr lang="en-US" sz="850" dirty="0"/>
          </a:p>
        </p:txBody>
      </p:sp>
      <p:sp>
        <p:nvSpPr>
          <p:cNvPr id="41" name="Shape 39"/>
          <p:cNvSpPr/>
          <p:nvPr/>
        </p:nvSpPr>
        <p:spPr>
          <a:xfrm>
            <a:off x="4782312" y="4224528"/>
            <a:ext cx="4160520" cy="731520"/>
          </a:xfrm>
          <a:prstGeom prst="roundRect">
            <a:avLst>
              <a:gd name="adj" fmla="val 8750"/>
            </a:avLst>
          </a:prstGeom>
          <a:solidFill>
            <a:srgbClr val="111A30"/>
          </a:solidFill>
          <a:ln w="6350">
            <a:solidFill>
              <a:srgbClr val="2748A8"/>
            </a:solidFill>
            <a:prstDash val="solid"/>
          </a:ln>
        </p:spPr>
      </p:sp>
      <p:sp>
        <p:nvSpPr>
          <p:cNvPr id="42" name="Shape 40"/>
          <p:cNvSpPr/>
          <p:nvPr/>
        </p:nvSpPr>
        <p:spPr>
          <a:xfrm>
            <a:off x="4873752" y="4425696"/>
            <a:ext cx="292608" cy="292608"/>
          </a:xfrm>
          <a:prstGeom prst="ellipse">
            <a:avLst/>
          </a:prstGeom>
          <a:solidFill>
            <a:srgbClr val="F0C040"/>
          </a:solidFill>
          <a:ln w="12700">
            <a:solidFill>
              <a:srgbClr val="F0C040"/>
            </a:solidFill>
            <a:prstDash val="solid"/>
          </a:ln>
        </p:spPr>
      </p:sp>
      <p:sp>
        <p:nvSpPr>
          <p:cNvPr id="43" name="Text 41"/>
          <p:cNvSpPr/>
          <p:nvPr/>
        </p:nvSpPr>
        <p:spPr>
          <a:xfrm>
            <a:off x="4873752" y="4425696"/>
            <a:ext cx="292608" cy="292608"/>
          </a:xfrm>
          <a:prstGeom prst="rect">
            <a:avLst/>
          </a:prstGeom>
          <a:noFill/>
          <a:ln/>
        </p:spPr>
        <p:txBody>
          <a:bodyPr wrap="square" lIns="0" tIns="0" rIns="0" bIns="0" rtlCol="0" anchor="ctr"/>
          <a:lstStyle/>
          <a:p>
            <a:pPr algn="ctr" indent="0" marL="0">
              <a:buNone/>
            </a:pPr>
            <a:r>
              <a:rPr lang="en-US" sz="800" b="1" dirty="0">
                <a:solidFill>
                  <a:srgbClr val="0A0F1E"/>
                </a:solidFill>
                <a:latin typeface="Calibri" pitchFamily="34" charset="0"/>
                <a:ea typeface="Calibri" pitchFamily="34" charset="-122"/>
                <a:cs typeface="Calibri" pitchFamily="34" charset="-120"/>
              </a:rPr>
              <a:t>10</a:t>
            </a:r>
            <a:endParaRPr lang="en-US" sz="800" dirty="0"/>
          </a:p>
        </p:txBody>
      </p:sp>
      <p:sp>
        <p:nvSpPr>
          <p:cNvPr id="44" name="Text 42"/>
          <p:cNvSpPr/>
          <p:nvPr/>
        </p:nvSpPr>
        <p:spPr>
          <a:xfrm>
            <a:off x="5239512" y="4297680"/>
            <a:ext cx="3611880" cy="585216"/>
          </a:xfrm>
          <a:prstGeom prst="rect">
            <a:avLst/>
          </a:prstGeom>
          <a:noFill/>
          <a:ln/>
        </p:spPr>
        <p:txBody>
          <a:bodyPr wrap="square" lIns="0" tIns="0" rIns="0" bIns="0" rtlCol="0" anchor="ctr"/>
          <a:lstStyle/>
          <a:p>
            <a:pPr indent="0" marL="0">
              <a:buNone/>
            </a:pPr>
            <a:r>
              <a:rPr lang="en-US" sz="850" dirty="0">
                <a:solidFill>
                  <a:srgbClr val="B0C0E8"/>
                </a:solidFill>
                <a:latin typeface="Calibri" pitchFamily="34" charset="0"/>
                <a:ea typeface="Calibri" pitchFamily="34" charset="-122"/>
                <a:cs typeface="Calibri" pitchFamily="34" charset="-120"/>
              </a:rPr>
              <a:t>The complete analytical workflow for professional research: Describe (Module 3) &gt; Test (Module 4) &gt; Model (Module 5) &gt; Interpret and Report. Every step requires assumption checking and effect size reporting.</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0F1E"/>
          </a:solidFill>
          <a:ln w="12700">
            <a:solidFill>
              <a:srgbClr val="0A0F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Module 5 Assessment - Advanced Method Mastery</a:t>
            </a:r>
            <a:endParaRPr lang="en-US" sz="2100" dirty="0"/>
          </a:p>
        </p:txBody>
      </p:sp>
      <p:sp>
        <p:nvSpPr>
          <p:cNvPr id="4" name="Shape 2"/>
          <p:cNvSpPr/>
          <p:nvPr/>
        </p:nvSpPr>
        <p:spPr>
          <a:xfrm>
            <a:off x="256032" y="1024128"/>
            <a:ext cx="8631936" cy="950976"/>
          </a:xfrm>
          <a:prstGeom prst="roundRect">
            <a:avLst>
              <a:gd name="adj" fmla="val 7692"/>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115568"/>
            <a:ext cx="347472" cy="347472"/>
          </a:xfrm>
          <a:prstGeom prst="ellipse">
            <a:avLst/>
          </a:prstGeom>
          <a:solidFill>
            <a:srgbClr val="0A0F1E"/>
          </a:solidFill>
          <a:ln w="12700">
            <a:solidFill>
              <a:srgbClr val="0A0F1E"/>
            </a:solidFill>
            <a:prstDash val="solid"/>
          </a:ln>
        </p:spPr>
      </p:sp>
      <p:sp>
        <p:nvSpPr>
          <p:cNvPr id="6" name="Text 4"/>
          <p:cNvSpPr/>
          <p:nvPr/>
        </p:nvSpPr>
        <p:spPr>
          <a:xfrm>
            <a:off x="329184" y="1115568"/>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Q1</a:t>
            </a:r>
            <a:endParaRPr lang="en-US" sz="1000" dirty="0"/>
          </a:p>
        </p:txBody>
      </p:sp>
      <p:sp>
        <p:nvSpPr>
          <p:cNvPr id="7" name="Text 5"/>
          <p:cNvSpPr/>
          <p:nvPr/>
        </p:nvSpPr>
        <p:spPr>
          <a:xfrm>
            <a:off x="768096" y="1078992"/>
            <a:ext cx="5321808" cy="82296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A UAC Foods regression model has R²=.551, F(5,444)=72.4, p&lt;.001. The VIF values are: sat_mean=6.82, service_quality=6.74, product_quality=2.14, gender=1.08, salary=1.38. What problem does this reveal, and what are TWO ways to fix it?</a:t>
            </a:r>
            <a:endParaRPr lang="en-US" sz="950" dirty="0"/>
          </a:p>
        </p:txBody>
      </p:sp>
      <p:sp>
        <p:nvSpPr>
          <p:cNvPr id="8" name="Shape 6"/>
          <p:cNvSpPr/>
          <p:nvPr/>
        </p:nvSpPr>
        <p:spPr>
          <a:xfrm>
            <a:off x="6199632" y="1078992"/>
            <a:ext cx="2578608" cy="822960"/>
          </a:xfrm>
          <a:prstGeom prst="roundRect">
            <a:avLst>
              <a:gd name="adj" fmla="val 6667"/>
            </a:avLst>
          </a:prstGeom>
          <a:solidFill>
            <a:srgbClr val="E8EEF8"/>
          </a:solidFill>
          <a:ln w="10160">
            <a:solidFill>
              <a:srgbClr val="1A2D6B"/>
            </a:solidFill>
            <a:prstDash val="solid"/>
          </a:ln>
        </p:spPr>
      </p:sp>
      <p:sp>
        <p:nvSpPr>
          <p:cNvPr id="9" name="Text 7"/>
          <p:cNvSpPr/>
          <p:nvPr/>
        </p:nvSpPr>
        <p:spPr>
          <a:xfrm>
            <a:off x="6272784" y="1115568"/>
            <a:ext cx="2432304" cy="749808"/>
          </a:xfrm>
          <a:prstGeom prst="rect">
            <a:avLst/>
          </a:prstGeom>
          <a:noFill/>
          <a:ln/>
        </p:spPr>
        <p:txBody>
          <a:bodyPr wrap="square" lIns="0" tIns="0" rIns="0" bIns="0" rtlCol="0" anchor="ctr"/>
          <a:lstStyle/>
          <a:p>
            <a:pPr indent="0" marL="0">
              <a:buNone/>
            </a:pPr>
            <a:r>
              <a:rPr lang="en-US" sz="750" b="1" dirty="0">
                <a:solidFill>
                  <a:srgbClr val="1A2D6B"/>
                </a:solidFill>
                <a:latin typeface="Calibri" pitchFamily="34" charset="0"/>
                <a:ea typeface="Calibri" pitchFamily="34" charset="-122"/>
                <a:cs typeface="Calibri" pitchFamily="34" charset="-120"/>
              </a:rPr>
              <a:t>Answer: </a:t>
            </a:r>
            <a:pPr indent="0" marL="0">
              <a:buNone/>
            </a:pPr>
            <a:r>
              <a:rPr lang="en-US" sz="750" dirty="0">
                <a:solidFill>
                  <a:srgbClr val="1A2038"/>
                </a:solidFill>
                <a:latin typeface="Calibri" pitchFamily="34" charset="0"/>
                <a:ea typeface="Calibri" pitchFamily="34" charset="-122"/>
                <a:cs typeface="Calibri" pitchFamily="34" charset="-120"/>
              </a:rPr>
              <a:t>sat_mean and service_quality have suspiciously high VIFs (6.82 and 6.74). Since sat_mean is computed from service and product quality items, there is likely strong multicollinearity between sat_mean and service_quality (they share items). Fix 1: Remove sat_mean from the model and use only service_quality and product_quality as predictors. Fix 2: Use service_quality and product_quality as predictors without including sat_mean (which they constitute). VIF &lt; 10 is acceptable but &gt; 5 with theoretical overlap warrants review.</a:t>
            </a:r>
            <a:endParaRPr lang="en-US" sz="750" dirty="0"/>
          </a:p>
        </p:txBody>
      </p:sp>
      <p:sp>
        <p:nvSpPr>
          <p:cNvPr id="10" name="Shape 8"/>
          <p:cNvSpPr/>
          <p:nvPr/>
        </p:nvSpPr>
        <p:spPr>
          <a:xfrm>
            <a:off x="256032" y="2048256"/>
            <a:ext cx="8631936" cy="950976"/>
          </a:xfrm>
          <a:prstGeom prst="roundRect">
            <a:avLst>
              <a:gd name="adj" fmla="val 7692"/>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329184" y="2139696"/>
            <a:ext cx="347472" cy="347472"/>
          </a:xfrm>
          <a:prstGeom prst="ellipse">
            <a:avLst/>
          </a:prstGeom>
          <a:solidFill>
            <a:srgbClr val="0A0F1E"/>
          </a:solidFill>
          <a:ln w="12700">
            <a:solidFill>
              <a:srgbClr val="0A0F1E"/>
            </a:solidFill>
            <a:prstDash val="solid"/>
          </a:ln>
        </p:spPr>
      </p:sp>
      <p:sp>
        <p:nvSpPr>
          <p:cNvPr id="12" name="Text 10"/>
          <p:cNvSpPr/>
          <p:nvPr/>
        </p:nvSpPr>
        <p:spPr>
          <a:xfrm>
            <a:off x="329184" y="2139696"/>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Q2</a:t>
            </a:r>
            <a:endParaRPr lang="en-US" sz="1000" dirty="0"/>
          </a:p>
        </p:txBody>
      </p:sp>
      <p:sp>
        <p:nvSpPr>
          <p:cNvPr id="13" name="Text 11"/>
          <p:cNvSpPr/>
          <p:nvPr/>
        </p:nvSpPr>
        <p:spPr>
          <a:xfrm>
            <a:off x="768096" y="2103120"/>
            <a:ext cx="5321808" cy="82296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EFA of 10 items: KMO=.842, Bartlett's p&lt;.001. Eigenvalues: Factor 1=4.24, Factor 2=1.60, Factor 3=0.82. Pattern matrix shows q9 with loadings of .48 on Factor 1 and .44 on Factor 2. What is the problem with q9, and what are your two options?</a:t>
            </a:r>
            <a:endParaRPr lang="en-US" sz="950" dirty="0"/>
          </a:p>
        </p:txBody>
      </p:sp>
      <p:sp>
        <p:nvSpPr>
          <p:cNvPr id="14" name="Shape 12"/>
          <p:cNvSpPr/>
          <p:nvPr/>
        </p:nvSpPr>
        <p:spPr>
          <a:xfrm>
            <a:off x="6199632" y="2103120"/>
            <a:ext cx="2578608" cy="822960"/>
          </a:xfrm>
          <a:prstGeom prst="roundRect">
            <a:avLst>
              <a:gd name="adj" fmla="val 6667"/>
            </a:avLst>
          </a:prstGeom>
          <a:solidFill>
            <a:srgbClr val="E8EEF8"/>
          </a:solidFill>
          <a:ln w="10160">
            <a:solidFill>
              <a:srgbClr val="1A2D6B"/>
            </a:solidFill>
            <a:prstDash val="solid"/>
          </a:ln>
        </p:spPr>
      </p:sp>
      <p:sp>
        <p:nvSpPr>
          <p:cNvPr id="15" name="Text 13"/>
          <p:cNvSpPr/>
          <p:nvPr/>
        </p:nvSpPr>
        <p:spPr>
          <a:xfrm>
            <a:off x="6272784" y="2139696"/>
            <a:ext cx="2432304" cy="749808"/>
          </a:xfrm>
          <a:prstGeom prst="rect">
            <a:avLst/>
          </a:prstGeom>
          <a:noFill/>
          <a:ln/>
        </p:spPr>
        <p:txBody>
          <a:bodyPr wrap="square" lIns="0" tIns="0" rIns="0" bIns="0" rtlCol="0" anchor="ctr"/>
          <a:lstStyle/>
          <a:p>
            <a:pPr indent="0" marL="0">
              <a:buNone/>
            </a:pPr>
            <a:r>
              <a:rPr lang="en-US" sz="750" b="1" dirty="0">
                <a:solidFill>
                  <a:srgbClr val="1A2D6B"/>
                </a:solidFill>
                <a:latin typeface="Calibri" pitchFamily="34" charset="0"/>
                <a:ea typeface="Calibri" pitchFamily="34" charset="-122"/>
                <a:cs typeface="Calibri" pitchFamily="34" charset="-120"/>
              </a:rPr>
              <a:t>Answer: </a:t>
            </a:r>
            <a:pPr indent="0" marL="0">
              <a:buNone/>
            </a:pPr>
            <a:r>
              <a:rPr lang="en-US" sz="750" dirty="0">
                <a:solidFill>
                  <a:srgbClr val="1A2038"/>
                </a:solidFill>
                <a:latin typeface="Calibri" pitchFamily="34" charset="0"/>
                <a:ea typeface="Calibri" pitchFamily="34" charset="-122"/>
                <a:cs typeface="Calibri" pitchFamily="34" charset="-120"/>
              </a:rPr>
              <a:t>q9 is a CROSS-LOADING item - it loads substantially (&gt;.40) on TWO factors simultaneously. This means q9 is not cleanly measuring just one construct. Option 1: Remove q9 from the scale entirely (drop from all subscales). This simplifies the factor structure. Option 2: Assign q9 to the factor where it has the higher loading (.48 &gt; .44, so Factor 1) and accept minor contamination, noting the limitation. Most researchers prefer Option 1 for clean scale development.</a:t>
            </a:r>
            <a:endParaRPr lang="en-US" sz="750" dirty="0"/>
          </a:p>
        </p:txBody>
      </p:sp>
      <p:sp>
        <p:nvSpPr>
          <p:cNvPr id="16" name="Shape 14"/>
          <p:cNvSpPr/>
          <p:nvPr/>
        </p:nvSpPr>
        <p:spPr>
          <a:xfrm>
            <a:off x="256032" y="3072384"/>
            <a:ext cx="8631936" cy="950976"/>
          </a:xfrm>
          <a:prstGeom prst="roundRect">
            <a:avLst>
              <a:gd name="adj" fmla="val 7692"/>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29184" y="3163824"/>
            <a:ext cx="347472" cy="347472"/>
          </a:xfrm>
          <a:prstGeom prst="ellipse">
            <a:avLst/>
          </a:prstGeom>
          <a:solidFill>
            <a:srgbClr val="0A0F1E"/>
          </a:solidFill>
          <a:ln w="12700">
            <a:solidFill>
              <a:srgbClr val="0A0F1E"/>
            </a:solidFill>
            <a:prstDash val="solid"/>
          </a:ln>
        </p:spPr>
      </p:sp>
      <p:sp>
        <p:nvSpPr>
          <p:cNvPr id="18" name="Text 16"/>
          <p:cNvSpPr/>
          <p:nvPr/>
        </p:nvSpPr>
        <p:spPr>
          <a:xfrm>
            <a:off x="329184" y="3163824"/>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Q3</a:t>
            </a:r>
            <a:endParaRPr lang="en-US" sz="1000" dirty="0"/>
          </a:p>
        </p:txBody>
      </p:sp>
      <p:sp>
        <p:nvSpPr>
          <p:cNvPr id="19" name="Text 17"/>
          <p:cNvSpPr/>
          <p:nvPr/>
        </p:nvSpPr>
        <p:spPr>
          <a:xfrm>
            <a:off x="768096" y="3127248"/>
            <a:ext cx="5321808" cy="82296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Binary logistic regression: Exp(B) for sat_mean = 3.611. A manager concludes 'UAC consumers are 3.6 times more satisfied than non-purchasers.' What is wrong, and what does Exp(B)=3.611 actually mean?</a:t>
            </a:r>
            <a:endParaRPr lang="en-US" sz="950" dirty="0"/>
          </a:p>
        </p:txBody>
      </p:sp>
      <p:sp>
        <p:nvSpPr>
          <p:cNvPr id="20" name="Shape 18"/>
          <p:cNvSpPr/>
          <p:nvPr/>
        </p:nvSpPr>
        <p:spPr>
          <a:xfrm>
            <a:off x="6199632" y="3127248"/>
            <a:ext cx="2578608" cy="822960"/>
          </a:xfrm>
          <a:prstGeom prst="roundRect">
            <a:avLst>
              <a:gd name="adj" fmla="val 6667"/>
            </a:avLst>
          </a:prstGeom>
          <a:solidFill>
            <a:srgbClr val="E8EEF8"/>
          </a:solidFill>
          <a:ln w="10160">
            <a:solidFill>
              <a:srgbClr val="1A2D6B"/>
            </a:solidFill>
            <a:prstDash val="solid"/>
          </a:ln>
        </p:spPr>
      </p:sp>
      <p:sp>
        <p:nvSpPr>
          <p:cNvPr id="21" name="Text 19"/>
          <p:cNvSpPr/>
          <p:nvPr/>
        </p:nvSpPr>
        <p:spPr>
          <a:xfrm>
            <a:off x="6272784" y="3163824"/>
            <a:ext cx="2432304" cy="749808"/>
          </a:xfrm>
          <a:prstGeom prst="rect">
            <a:avLst/>
          </a:prstGeom>
          <a:noFill/>
          <a:ln/>
        </p:spPr>
        <p:txBody>
          <a:bodyPr wrap="square" lIns="0" tIns="0" rIns="0" bIns="0" rtlCol="0" anchor="ctr"/>
          <a:lstStyle/>
          <a:p>
            <a:pPr indent="0" marL="0">
              <a:buNone/>
            </a:pPr>
            <a:r>
              <a:rPr lang="en-US" sz="750" b="1" dirty="0">
                <a:solidFill>
                  <a:srgbClr val="1A2D6B"/>
                </a:solidFill>
                <a:latin typeface="Calibri" pitchFamily="34" charset="0"/>
                <a:ea typeface="Calibri" pitchFamily="34" charset="-122"/>
                <a:cs typeface="Calibri" pitchFamily="34" charset="-120"/>
              </a:rPr>
              <a:t>Answer: </a:t>
            </a:r>
            <a:pPr indent="0" marL="0">
              <a:buNone/>
            </a:pPr>
            <a:r>
              <a:rPr lang="en-US" sz="750" dirty="0">
                <a:solidFill>
                  <a:srgbClr val="1A2038"/>
                </a:solidFill>
                <a:latin typeface="Calibri" pitchFamily="34" charset="0"/>
                <a:ea typeface="Calibri" pitchFamily="34" charset="-122"/>
                <a:cs typeface="Calibri" pitchFamily="34" charset="-120"/>
              </a:rPr>
              <a:t>Completely wrong interpretation. Exp(B) is an ODDS RATIO, not a ratio of satisfaction scores. The correct interpretation: For each 1-unit increase in the sat_mean scale (e.g., from 3.0 to 4.0), the ODDS of repurchasing UAC products are multiplied by 3.611 - i.e., increase by 261%. This is not about comparing satisfied vs. unsatisfied consumers; it is about how much satisfaction predicts the probability of repurchase within each consumer.</a:t>
            </a:r>
            <a:endParaRPr lang="en-US" sz="750" dirty="0"/>
          </a:p>
        </p:txBody>
      </p:sp>
      <p:sp>
        <p:nvSpPr>
          <p:cNvPr id="22" name="Shape 20"/>
          <p:cNvSpPr/>
          <p:nvPr/>
        </p:nvSpPr>
        <p:spPr>
          <a:xfrm>
            <a:off x="256032" y="4096512"/>
            <a:ext cx="8631936" cy="950976"/>
          </a:xfrm>
          <a:prstGeom prst="roundRect">
            <a:avLst>
              <a:gd name="adj" fmla="val 7692"/>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329184" y="4187952"/>
            <a:ext cx="347472" cy="347472"/>
          </a:xfrm>
          <a:prstGeom prst="ellipse">
            <a:avLst/>
          </a:prstGeom>
          <a:solidFill>
            <a:srgbClr val="0A0F1E"/>
          </a:solidFill>
          <a:ln w="12700">
            <a:solidFill>
              <a:srgbClr val="0A0F1E"/>
            </a:solidFill>
            <a:prstDash val="solid"/>
          </a:ln>
        </p:spPr>
      </p:sp>
      <p:sp>
        <p:nvSpPr>
          <p:cNvPr id="24" name="Text 22"/>
          <p:cNvSpPr/>
          <p:nvPr/>
        </p:nvSpPr>
        <p:spPr>
          <a:xfrm>
            <a:off x="329184" y="4187952"/>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Q4</a:t>
            </a:r>
            <a:endParaRPr lang="en-US" sz="1000" dirty="0"/>
          </a:p>
        </p:txBody>
      </p:sp>
      <p:sp>
        <p:nvSpPr>
          <p:cNvPr id="25" name="Text 23"/>
          <p:cNvSpPr/>
          <p:nvPr/>
        </p:nvSpPr>
        <p:spPr>
          <a:xfrm>
            <a:off x="768096" y="4151376"/>
            <a:ext cx="5321808" cy="822960"/>
          </a:xfrm>
          <a:prstGeom prst="rect">
            <a:avLst/>
          </a:prstGeom>
          <a:noFill/>
          <a:ln/>
        </p:spPr>
        <p:txBody>
          <a:bodyPr wrap="square" lIns="0" tIns="0" rIns="0" bIns="0" rtlCol="0" anchor="ctr"/>
          <a:lstStyle/>
          <a:p>
            <a:pPr indent="0" marL="0">
              <a:buNone/>
            </a:pPr>
            <a:r>
              <a:rPr lang="en-US" sz="950" dirty="0">
                <a:solidFill>
                  <a:srgbClr val="1A2038"/>
                </a:solidFill>
                <a:latin typeface="Calibri" pitchFamily="34" charset="0"/>
                <a:ea typeface="Calibri" pitchFamily="34" charset="-122"/>
                <a:cs typeface="Calibri" pitchFamily="34" charset="-120"/>
              </a:rPr>
              <a:t>K-Means clustering with k=4 produces four segments. A colleague says: 'The ANOVA showed all four clustering variables are significant (p&lt;.001), so the clustering must be valid.' Is this a sufficient validation? What additional checks are needed?</a:t>
            </a:r>
            <a:endParaRPr lang="en-US" sz="950" dirty="0"/>
          </a:p>
        </p:txBody>
      </p:sp>
      <p:sp>
        <p:nvSpPr>
          <p:cNvPr id="26" name="Shape 24"/>
          <p:cNvSpPr/>
          <p:nvPr/>
        </p:nvSpPr>
        <p:spPr>
          <a:xfrm>
            <a:off x="6199632" y="4151376"/>
            <a:ext cx="2578608" cy="822960"/>
          </a:xfrm>
          <a:prstGeom prst="roundRect">
            <a:avLst>
              <a:gd name="adj" fmla="val 6667"/>
            </a:avLst>
          </a:prstGeom>
          <a:solidFill>
            <a:srgbClr val="E8EEF8"/>
          </a:solidFill>
          <a:ln w="10160">
            <a:solidFill>
              <a:srgbClr val="1A2D6B"/>
            </a:solidFill>
            <a:prstDash val="solid"/>
          </a:ln>
        </p:spPr>
      </p:sp>
      <p:sp>
        <p:nvSpPr>
          <p:cNvPr id="27" name="Text 25"/>
          <p:cNvSpPr/>
          <p:nvPr/>
        </p:nvSpPr>
        <p:spPr>
          <a:xfrm>
            <a:off x="6272784" y="4187952"/>
            <a:ext cx="2432304" cy="749808"/>
          </a:xfrm>
          <a:prstGeom prst="rect">
            <a:avLst/>
          </a:prstGeom>
          <a:noFill/>
          <a:ln/>
        </p:spPr>
        <p:txBody>
          <a:bodyPr wrap="square" lIns="0" tIns="0" rIns="0" bIns="0" rtlCol="0" anchor="ctr"/>
          <a:lstStyle/>
          <a:p>
            <a:pPr indent="0" marL="0">
              <a:buNone/>
            </a:pPr>
            <a:r>
              <a:rPr lang="en-US" sz="750" b="1" dirty="0">
                <a:solidFill>
                  <a:srgbClr val="1A2D6B"/>
                </a:solidFill>
                <a:latin typeface="Calibri" pitchFamily="34" charset="0"/>
                <a:ea typeface="Calibri" pitchFamily="34" charset="-122"/>
                <a:cs typeface="Calibri" pitchFamily="34" charset="-120"/>
              </a:rPr>
              <a:t>Answer: </a:t>
            </a:r>
            <a:pPr indent="0" marL="0">
              <a:buNone/>
            </a:pPr>
            <a:r>
              <a:rPr lang="en-US" sz="750" dirty="0">
                <a:solidFill>
                  <a:srgbClr val="1A2038"/>
                </a:solidFill>
                <a:latin typeface="Calibri" pitchFamily="34" charset="0"/>
                <a:ea typeface="Calibri" pitchFamily="34" charset="-122"/>
                <a:cs typeface="Calibri" pitchFamily="34" charset="-120"/>
              </a:rPr>
              <a:t>Insufficient. The ANOVA being significant is expected - it only confirms that the algorithm separated groups statistically. Additional validation: (1) Business interpretability - do the segments make substantive sense? Can you name them meaningfully? (2) Profile distinctiveness - examine Crosstabs of cluster x demographics to ensure each segment has a distinct real-world identity. (3) Stability - re-run K-Means with different random seeds; clusters should be similar. (4) Sample size adequacy - each cluster should have at least 30-50 cases. (5) Compare with Hierarchical solution - do they agree?</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0F1E"/>
          </a:solidFill>
          <a:ln w="12700">
            <a:solidFill>
              <a:srgbClr val="0A0F1E"/>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Complete SPSS Course Summary - All Five Modules at a Glance</a:t>
            </a:r>
            <a:endParaRPr lang="en-US" sz="2100" dirty="0"/>
          </a:p>
        </p:txBody>
      </p:sp>
      <p:sp>
        <p:nvSpPr>
          <p:cNvPr id="4" name="Shape 2"/>
          <p:cNvSpPr/>
          <p:nvPr/>
        </p:nvSpPr>
        <p:spPr>
          <a:xfrm>
            <a:off x="201168" y="1005840"/>
            <a:ext cx="1664208" cy="4005072"/>
          </a:xfrm>
          <a:prstGeom prst="roundRect">
            <a:avLst>
              <a:gd name="adj" fmla="val 439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56032" y="1078992"/>
            <a:ext cx="1554480" cy="457200"/>
          </a:xfrm>
          <a:prstGeom prst="roundRect">
            <a:avLst>
              <a:gd name="adj" fmla="val 14000"/>
            </a:avLst>
          </a:prstGeom>
          <a:solidFill>
            <a:srgbClr val="2748A8"/>
          </a:solidFill>
          <a:ln w="12700">
            <a:solidFill>
              <a:srgbClr val="2748A8"/>
            </a:solidFill>
            <a:prstDash val="solid"/>
          </a:ln>
        </p:spPr>
      </p:sp>
      <p:sp>
        <p:nvSpPr>
          <p:cNvPr id="6" name="Text 4"/>
          <p:cNvSpPr/>
          <p:nvPr/>
        </p:nvSpPr>
        <p:spPr>
          <a:xfrm>
            <a:off x="256032" y="1078992"/>
            <a:ext cx="1554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 1</a:t>
            </a:r>
            <a:endParaRPr lang="en-US" sz="1200" dirty="0"/>
          </a:p>
        </p:txBody>
      </p:sp>
      <p:sp>
        <p:nvSpPr>
          <p:cNvPr id="7" name="Text 5"/>
          <p:cNvSpPr/>
          <p:nvPr/>
        </p:nvSpPr>
        <p:spPr>
          <a:xfrm>
            <a:off x="256032" y="1335024"/>
            <a:ext cx="1554480" cy="20116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Introduction to Research</a:t>
            </a:r>
            <a:endParaRPr lang="en-US" sz="850" dirty="0"/>
          </a:p>
        </p:txBody>
      </p:sp>
      <p:sp>
        <p:nvSpPr>
          <p:cNvPr id="8" name="Shape 6"/>
          <p:cNvSpPr/>
          <p:nvPr/>
        </p:nvSpPr>
        <p:spPr>
          <a:xfrm>
            <a:off x="292608" y="1609344"/>
            <a:ext cx="54864" cy="274320"/>
          </a:xfrm>
          <a:prstGeom prst="rect">
            <a:avLst/>
          </a:prstGeom>
          <a:solidFill>
            <a:srgbClr val="2748A8"/>
          </a:solidFill>
          <a:ln w="12700">
            <a:solidFill>
              <a:srgbClr val="2748A8"/>
            </a:solidFill>
            <a:prstDash val="solid"/>
          </a:ln>
        </p:spPr>
      </p:sp>
      <p:sp>
        <p:nvSpPr>
          <p:cNvPr id="9" name="Text 7"/>
          <p:cNvSpPr/>
          <p:nvPr/>
        </p:nvSpPr>
        <p:spPr>
          <a:xfrm>
            <a:off x="402336" y="159105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Types of research and research design</a:t>
            </a:r>
            <a:endParaRPr lang="en-US" sz="750" dirty="0"/>
          </a:p>
        </p:txBody>
      </p:sp>
      <p:sp>
        <p:nvSpPr>
          <p:cNvPr id="10" name="Shape 8"/>
          <p:cNvSpPr/>
          <p:nvPr/>
        </p:nvSpPr>
        <p:spPr>
          <a:xfrm>
            <a:off x="292608" y="1956816"/>
            <a:ext cx="54864" cy="274320"/>
          </a:xfrm>
          <a:prstGeom prst="rect">
            <a:avLst/>
          </a:prstGeom>
          <a:solidFill>
            <a:srgbClr val="2748A8"/>
          </a:solidFill>
          <a:ln w="12700">
            <a:solidFill>
              <a:srgbClr val="2748A8"/>
            </a:solidFill>
            <a:prstDash val="solid"/>
          </a:ln>
        </p:spPr>
      </p:sp>
      <p:sp>
        <p:nvSpPr>
          <p:cNvPr id="11" name="Text 9"/>
          <p:cNvSpPr/>
          <p:nvPr/>
        </p:nvSpPr>
        <p:spPr>
          <a:xfrm>
            <a:off x="402336" y="1938528"/>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Problem statement and hypothesis formulation</a:t>
            </a:r>
            <a:endParaRPr lang="en-US" sz="750" dirty="0"/>
          </a:p>
        </p:txBody>
      </p:sp>
      <p:sp>
        <p:nvSpPr>
          <p:cNvPr id="12" name="Shape 10"/>
          <p:cNvSpPr/>
          <p:nvPr/>
        </p:nvSpPr>
        <p:spPr>
          <a:xfrm>
            <a:off x="292608" y="2304288"/>
            <a:ext cx="54864" cy="274320"/>
          </a:xfrm>
          <a:prstGeom prst="rect">
            <a:avLst/>
          </a:prstGeom>
          <a:solidFill>
            <a:srgbClr val="2748A8"/>
          </a:solidFill>
          <a:ln w="12700">
            <a:solidFill>
              <a:srgbClr val="2748A8"/>
            </a:solidFill>
            <a:prstDash val="solid"/>
          </a:ln>
        </p:spPr>
      </p:sp>
      <p:sp>
        <p:nvSpPr>
          <p:cNvPr id="13" name="Text 11"/>
          <p:cNvSpPr/>
          <p:nvPr/>
        </p:nvSpPr>
        <p:spPr>
          <a:xfrm>
            <a:off x="402336" y="2286000"/>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Sampling techniques and sample size determination</a:t>
            </a:r>
            <a:endParaRPr lang="en-US" sz="750" dirty="0"/>
          </a:p>
        </p:txBody>
      </p:sp>
      <p:sp>
        <p:nvSpPr>
          <p:cNvPr id="14" name="Shape 12"/>
          <p:cNvSpPr/>
          <p:nvPr/>
        </p:nvSpPr>
        <p:spPr>
          <a:xfrm>
            <a:off x="292608" y="2651760"/>
            <a:ext cx="54864" cy="274320"/>
          </a:xfrm>
          <a:prstGeom prst="rect">
            <a:avLst/>
          </a:prstGeom>
          <a:solidFill>
            <a:srgbClr val="2748A8"/>
          </a:solidFill>
          <a:ln w="12700">
            <a:solidFill>
              <a:srgbClr val="2748A8"/>
            </a:solidFill>
            <a:prstDash val="solid"/>
          </a:ln>
        </p:spPr>
      </p:sp>
      <p:sp>
        <p:nvSpPr>
          <p:cNvPr id="15" name="Text 13"/>
          <p:cNvSpPr/>
          <p:nvPr/>
        </p:nvSpPr>
        <p:spPr>
          <a:xfrm>
            <a:off x="402336" y="2633472"/>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Questionnaire, FGD, and KII guide design</a:t>
            </a:r>
            <a:endParaRPr lang="en-US" sz="750" dirty="0"/>
          </a:p>
        </p:txBody>
      </p:sp>
      <p:sp>
        <p:nvSpPr>
          <p:cNvPr id="16" name="Shape 14"/>
          <p:cNvSpPr/>
          <p:nvPr/>
        </p:nvSpPr>
        <p:spPr>
          <a:xfrm>
            <a:off x="292608" y="2999232"/>
            <a:ext cx="54864" cy="274320"/>
          </a:xfrm>
          <a:prstGeom prst="rect">
            <a:avLst/>
          </a:prstGeom>
          <a:solidFill>
            <a:srgbClr val="2748A8"/>
          </a:solidFill>
          <a:ln w="12700">
            <a:solidFill>
              <a:srgbClr val="2748A8"/>
            </a:solidFill>
            <a:prstDash val="solid"/>
          </a:ln>
        </p:spPr>
      </p:sp>
      <p:sp>
        <p:nvSpPr>
          <p:cNvPr id="17" name="Text 15"/>
          <p:cNvSpPr/>
          <p:nvPr/>
        </p:nvSpPr>
        <p:spPr>
          <a:xfrm>
            <a:off x="402336" y="2980944"/>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Research protocol (14 components)</a:t>
            </a:r>
            <a:endParaRPr lang="en-US" sz="750" dirty="0"/>
          </a:p>
        </p:txBody>
      </p:sp>
      <p:sp>
        <p:nvSpPr>
          <p:cNvPr id="18" name="Shape 16"/>
          <p:cNvSpPr/>
          <p:nvPr/>
        </p:nvSpPr>
        <p:spPr>
          <a:xfrm>
            <a:off x="292608" y="3346704"/>
            <a:ext cx="54864" cy="274320"/>
          </a:xfrm>
          <a:prstGeom prst="rect">
            <a:avLst/>
          </a:prstGeom>
          <a:solidFill>
            <a:srgbClr val="2748A8"/>
          </a:solidFill>
          <a:ln w="12700">
            <a:solidFill>
              <a:srgbClr val="2748A8"/>
            </a:solidFill>
            <a:prstDash val="solid"/>
          </a:ln>
        </p:spPr>
      </p:sp>
      <p:sp>
        <p:nvSpPr>
          <p:cNvPr id="19" name="Text 17"/>
          <p:cNvSpPr/>
          <p:nvPr/>
        </p:nvSpPr>
        <p:spPr>
          <a:xfrm>
            <a:off x="402336" y="332841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Statistical concepts and types of variables</a:t>
            </a:r>
            <a:endParaRPr lang="en-US" sz="750" dirty="0"/>
          </a:p>
        </p:txBody>
      </p:sp>
      <p:sp>
        <p:nvSpPr>
          <p:cNvPr id="20" name="Shape 18"/>
          <p:cNvSpPr/>
          <p:nvPr/>
        </p:nvSpPr>
        <p:spPr>
          <a:xfrm>
            <a:off x="292608" y="3712464"/>
            <a:ext cx="1481328" cy="18288"/>
          </a:xfrm>
          <a:prstGeom prst="rect">
            <a:avLst/>
          </a:prstGeom>
          <a:solidFill>
            <a:srgbClr val="2748A8"/>
          </a:solidFill>
          <a:ln w="12700">
            <a:solidFill>
              <a:srgbClr val="2748A8"/>
            </a:solidFill>
            <a:prstDash val="solid"/>
          </a:ln>
        </p:spPr>
      </p:sp>
      <p:sp>
        <p:nvSpPr>
          <p:cNvPr id="21" name="Text 19"/>
          <p:cNvSpPr/>
          <p:nvPr/>
        </p:nvSpPr>
        <p:spPr>
          <a:xfrm>
            <a:off x="292608" y="3767328"/>
            <a:ext cx="1481328" cy="292608"/>
          </a:xfrm>
          <a:prstGeom prst="rect">
            <a:avLst/>
          </a:prstGeom>
          <a:noFill/>
          <a:ln/>
        </p:spPr>
        <p:txBody>
          <a:bodyPr wrap="square" lIns="0" tIns="0" rIns="0" bIns="0" rtlCol="0" anchor="ctr"/>
          <a:lstStyle/>
          <a:p>
            <a:pPr indent="0" marL="0">
              <a:buNone/>
            </a:pPr>
            <a:r>
              <a:rPr lang="en-US" sz="750" i="1" dirty="0">
                <a:solidFill>
                  <a:srgbClr val="2748A8"/>
                </a:solidFill>
                <a:latin typeface="Calibri" pitchFamily="34" charset="0"/>
                <a:ea typeface="Calibri" pitchFamily="34" charset="-122"/>
                <a:cs typeface="Calibri" pitchFamily="34" charset="-120"/>
              </a:rPr>
              <a:t>Clean research design with hypotheses ready for data collection</a:t>
            </a:r>
            <a:endParaRPr lang="en-US" sz="750" dirty="0"/>
          </a:p>
        </p:txBody>
      </p:sp>
      <p:sp>
        <p:nvSpPr>
          <p:cNvPr id="22" name="Shape 20"/>
          <p:cNvSpPr/>
          <p:nvPr/>
        </p:nvSpPr>
        <p:spPr>
          <a:xfrm>
            <a:off x="1975104" y="1005840"/>
            <a:ext cx="1664208" cy="4005072"/>
          </a:xfrm>
          <a:prstGeom prst="roundRect">
            <a:avLst>
              <a:gd name="adj" fmla="val 439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2029968" y="1078992"/>
            <a:ext cx="1554480" cy="457200"/>
          </a:xfrm>
          <a:prstGeom prst="roundRect">
            <a:avLst>
              <a:gd name="adj" fmla="val 14000"/>
            </a:avLst>
          </a:prstGeom>
          <a:solidFill>
            <a:srgbClr val="12A374"/>
          </a:solidFill>
          <a:ln w="12700">
            <a:solidFill>
              <a:srgbClr val="12A374"/>
            </a:solidFill>
            <a:prstDash val="solid"/>
          </a:ln>
        </p:spPr>
      </p:sp>
      <p:sp>
        <p:nvSpPr>
          <p:cNvPr id="24" name="Text 22"/>
          <p:cNvSpPr/>
          <p:nvPr/>
        </p:nvSpPr>
        <p:spPr>
          <a:xfrm>
            <a:off x="2029968" y="1078992"/>
            <a:ext cx="1554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 2</a:t>
            </a:r>
            <a:endParaRPr lang="en-US" sz="1200" dirty="0"/>
          </a:p>
        </p:txBody>
      </p:sp>
      <p:sp>
        <p:nvSpPr>
          <p:cNvPr id="25" name="Text 23"/>
          <p:cNvSpPr/>
          <p:nvPr/>
        </p:nvSpPr>
        <p:spPr>
          <a:xfrm>
            <a:off x="2029968" y="1335024"/>
            <a:ext cx="1554480" cy="20116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Data Entry and Management</a:t>
            </a:r>
            <a:endParaRPr lang="en-US" sz="850" dirty="0"/>
          </a:p>
        </p:txBody>
      </p:sp>
      <p:sp>
        <p:nvSpPr>
          <p:cNvPr id="26" name="Shape 24"/>
          <p:cNvSpPr/>
          <p:nvPr/>
        </p:nvSpPr>
        <p:spPr>
          <a:xfrm>
            <a:off x="2066544" y="1609344"/>
            <a:ext cx="54864" cy="274320"/>
          </a:xfrm>
          <a:prstGeom prst="rect">
            <a:avLst/>
          </a:prstGeom>
          <a:solidFill>
            <a:srgbClr val="12A374"/>
          </a:solidFill>
          <a:ln w="12700">
            <a:solidFill>
              <a:srgbClr val="12A374"/>
            </a:solidFill>
            <a:prstDash val="solid"/>
          </a:ln>
        </p:spPr>
      </p:sp>
      <p:sp>
        <p:nvSpPr>
          <p:cNvPr id="27" name="Text 25"/>
          <p:cNvSpPr/>
          <p:nvPr/>
        </p:nvSpPr>
        <p:spPr>
          <a:xfrm>
            <a:off x="2176272" y="159105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Variable View complete setup (6 essential steps)</a:t>
            </a:r>
            <a:endParaRPr lang="en-US" sz="750" dirty="0"/>
          </a:p>
        </p:txBody>
      </p:sp>
      <p:sp>
        <p:nvSpPr>
          <p:cNvPr id="28" name="Shape 26"/>
          <p:cNvSpPr/>
          <p:nvPr/>
        </p:nvSpPr>
        <p:spPr>
          <a:xfrm>
            <a:off x="2066544" y="1956816"/>
            <a:ext cx="54864" cy="274320"/>
          </a:xfrm>
          <a:prstGeom prst="rect">
            <a:avLst/>
          </a:prstGeom>
          <a:solidFill>
            <a:srgbClr val="12A374"/>
          </a:solidFill>
          <a:ln w="12700">
            <a:solidFill>
              <a:srgbClr val="12A374"/>
            </a:solidFill>
            <a:prstDash val="solid"/>
          </a:ln>
        </p:spPr>
      </p:sp>
      <p:sp>
        <p:nvSpPr>
          <p:cNvPr id="29" name="Text 27"/>
          <p:cNvSpPr/>
          <p:nvPr/>
        </p:nvSpPr>
        <p:spPr>
          <a:xfrm>
            <a:off x="2176272" y="1938528"/>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Entering categorical and continuous data</a:t>
            </a:r>
            <a:endParaRPr lang="en-US" sz="750" dirty="0"/>
          </a:p>
        </p:txBody>
      </p:sp>
      <p:sp>
        <p:nvSpPr>
          <p:cNvPr id="30" name="Shape 28"/>
          <p:cNvSpPr/>
          <p:nvPr/>
        </p:nvSpPr>
        <p:spPr>
          <a:xfrm>
            <a:off x="2066544" y="2304288"/>
            <a:ext cx="54864" cy="274320"/>
          </a:xfrm>
          <a:prstGeom prst="rect">
            <a:avLst/>
          </a:prstGeom>
          <a:solidFill>
            <a:srgbClr val="12A374"/>
          </a:solidFill>
          <a:ln w="12700">
            <a:solidFill>
              <a:srgbClr val="12A374"/>
            </a:solidFill>
            <a:prstDash val="solid"/>
          </a:ln>
        </p:spPr>
      </p:sp>
      <p:sp>
        <p:nvSpPr>
          <p:cNvPr id="31" name="Text 29"/>
          <p:cNvSpPr/>
          <p:nvPr/>
        </p:nvSpPr>
        <p:spPr>
          <a:xfrm>
            <a:off x="2176272" y="2286000"/>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Data validation and quality checks</a:t>
            </a:r>
            <a:endParaRPr lang="en-US" sz="750" dirty="0"/>
          </a:p>
        </p:txBody>
      </p:sp>
      <p:sp>
        <p:nvSpPr>
          <p:cNvPr id="32" name="Shape 30"/>
          <p:cNvSpPr/>
          <p:nvPr/>
        </p:nvSpPr>
        <p:spPr>
          <a:xfrm>
            <a:off x="2066544" y="2651760"/>
            <a:ext cx="54864" cy="274320"/>
          </a:xfrm>
          <a:prstGeom prst="rect">
            <a:avLst/>
          </a:prstGeom>
          <a:solidFill>
            <a:srgbClr val="12A374"/>
          </a:solidFill>
          <a:ln w="12700">
            <a:solidFill>
              <a:srgbClr val="12A374"/>
            </a:solidFill>
            <a:prstDash val="solid"/>
          </a:ln>
        </p:spPr>
      </p:sp>
      <p:sp>
        <p:nvSpPr>
          <p:cNvPr id="33" name="Text 31"/>
          <p:cNvSpPr/>
          <p:nvPr/>
        </p:nvSpPr>
        <p:spPr>
          <a:xfrm>
            <a:off x="2176272" y="2633472"/>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Recode, Compute, and Visual Binning</a:t>
            </a:r>
            <a:endParaRPr lang="en-US" sz="750" dirty="0"/>
          </a:p>
        </p:txBody>
      </p:sp>
      <p:sp>
        <p:nvSpPr>
          <p:cNvPr id="34" name="Shape 32"/>
          <p:cNvSpPr/>
          <p:nvPr/>
        </p:nvSpPr>
        <p:spPr>
          <a:xfrm>
            <a:off x="2066544" y="2999232"/>
            <a:ext cx="54864" cy="274320"/>
          </a:xfrm>
          <a:prstGeom prst="rect">
            <a:avLst/>
          </a:prstGeom>
          <a:solidFill>
            <a:srgbClr val="12A374"/>
          </a:solidFill>
          <a:ln w="12700">
            <a:solidFill>
              <a:srgbClr val="12A374"/>
            </a:solidFill>
            <a:prstDash val="solid"/>
          </a:ln>
        </p:spPr>
      </p:sp>
      <p:sp>
        <p:nvSpPr>
          <p:cNvPr id="35" name="Text 33"/>
          <p:cNvSpPr/>
          <p:nvPr/>
        </p:nvSpPr>
        <p:spPr>
          <a:xfrm>
            <a:off x="2176272" y="2980944"/>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Missing data types and handling strategies</a:t>
            </a:r>
            <a:endParaRPr lang="en-US" sz="750" dirty="0"/>
          </a:p>
        </p:txBody>
      </p:sp>
      <p:sp>
        <p:nvSpPr>
          <p:cNvPr id="36" name="Shape 34"/>
          <p:cNvSpPr/>
          <p:nvPr/>
        </p:nvSpPr>
        <p:spPr>
          <a:xfrm>
            <a:off x="2066544" y="3346704"/>
            <a:ext cx="54864" cy="274320"/>
          </a:xfrm>
          <a:prstGeom prst="rect">
            <a:avLst/>
          </a:prstGeom>
          <a:solidFill>
            <a:srgbClr val="12A374"/>
          </a:solidFill>
          <a:ln w="12700">
            <a:solidFill>
              <a:srgbClr val="12A374"/>
            </a:solidFill>
            <a:prstDash val="solid"/>
          </a:ln>
        </p:spPr>
      </p:sp>
      <p:sp>
        <p:nvSpPr>
          <p:cNvPr id="37" name="Text 35"/>
          <p:cNvSpPr/>
          <p:nvPr/>
        </p:nvSpPr>
        <p:spPr>
          <a:xfrm>
            <a:off x="2176272" y="332841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Merging, splitting, and selecting cases</a:t>
            </a:r>
            <a:endParaRPr lang="en-US" sz="750" dirty="0"/>
          </a:p>
        </p:txBody>
      </p:sp>
      <p:sp>
        <p:nvSpPr>
          <p:cNvPr id="38" name="Shape 36"/>
          <p:cNvSpPr/>
          <p:nvPr/>
        </p:nvSpPr>
        <p:spPr>
          <a:xfrm>
            <a:off x="2066544" y="3712464"/>
            <a:ext cx="1481328" cy="18288"/>
          </a:xfrm>
          <a:prstGeom prst="rect">
            <a:avLst/>
          </a:prstGeom>
          <a:solidFill>
            <a:srgbClr val="12A374"/>
          </a:solidFill>
          <a:ln w="12700">
            <a:solidFill>
              <a:srgbClr val="12A374"/>
            </a:solidFill>
            <a:prstDash val="solid"/>
          </a:ln>
        </p:spPr>
      </p:sp>
      <p:sp>
        <p:nvSpPr>
          <p:cNvPr id="39" name="Text 37"/>
          <p:cNvSpPr/>
          <p:nvPr/>
        </p:nvSpPr>
        <p:spPr>
          <a:xfrm>
            <a:off x="2066544" y="3767328"/>
            <a:ext cx="1481328" cy="292608"/>
          </a:xfrm>
          <a:prstGeom prst="rect">
            <a:avLst/>
          </a:prstGeom>
          <a:noFill/>
          <a:ln/>
        </p:spPr>
        <p:txBody>
          <a:bodyPr wrap="square" lIns="0" tIns="0" rIns="0" bIns="0" rtlCol="0" anchor="ctr"/>
          <a:lstStyle/>
          <a:p>
            <a:pPr indent="0" marL="0">
              <a:buNone/>
            </a:pPr>
            <a:r>
              <a:rPr lang="en-US" sz="750" i="1" dirty="0">
                <a:solidFill>
                  <a:srgbClr val="12A374"/>
                </a:solidFill>
                <a:latin typeface="Calibri" pitchFamily="34" charset="0"/>
                <a:ea typeface="Calibri" pitchFamily="34" charset="-122"/>
                <a:cs typeface="Calibri" pitchFamily="34" charset="-120"/>
              </a:rPr>
              <a:t>Clean, validated dataset (N=450) with sat_mean computed</a:t>
            </a:r>
            <a:endParaRPr lang="en-US" sz="750" dirty="0"/>
          </a:p>
        </p:txBody>
      </p:sp>
      <p:sp>
        <p:nvSpPr>
          <p:cNvPr id="40" name="Shape 38"/>
          <p:cNvSpPr/>
          <p:nvPr/>
        </p:nvSpPr>
        <p:spPr>
          <a:xfrm>
            <a:off x="3749040" y="1005840"/>
            <a:ext cx="1664208" cy="4005072"/>
          </a:xfrm>
          <a:prstGeom prst="roundRect">
            <a:avLst>
              <a:gd name="adj" fmla="val 439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41" name="Shape 39"/>
          <p:cNvSpPr/>
          <p:nvPr/>
        </p:nvSpPr>
        <p:spPr>
          <a:xfrm>
            <a:off x="3803904" y="1078992"/>
            <a:ext cx="1554480" cy="457200"/>
          </a:xfrm>
          <a:prstGeom prst="roundRect">
            <a:avLst>
              <a:gd name="adj" fmla="val 14000"/>
            </a:avLst>
          </a:prstGeom>
          <a:solidFill>
            <a:srgbClr val="C8920A"/>
          </a:solidFill>
          <a:ln w="12700">
            <a:solidFill>
              <a:srgbClr val="C8920A"/>
            </a:solidFill>
            <a:prstDash val="solid"/>
          </a:ln>
        </p:spPr>
      </p:sp>
      <p:sp>
        <p:nvSpPr>
          <p:cNvPr id="42" name="Text 40"/>
          <p:cNvSpPr/>
          <p:nvPr/>
        </p:nvSpPr>
        <p:spPr>
          <a:xfrm>
            <a:off x="3803904" y="1078992"/>
            <a:ext cx="1554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 3</a:t>
            </a:r>
            <a:endParaRPr lang="en-US" sz="1200" dirty="0"/>
          </a:p>
        </p:txBody>
      </p:sp>
      <p:sp>
        <p:nvSpPr>
          <p:cNvPr id="43" name="Text 41"/>
          <p:cNvSpPr/>
          <p:nvPr/>
        </p:nvSpPr>
        <p:spPr>
          <a:xfrm>
            <a:off x="3803904" y="1335024"/>
            <a:ext cx="1554480" cy="20116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Descriptive Statistics</a:t>
            </a:r>
            <a:endParaRPr lang="en-US" sz="850" dirty="0"/>
          </a:p>
        </p:txBody>
      </p:sp>
      <p:sp>
        <p:nvSpPr>
          <p:cNvPr id="44" name="Shape 42"/>
          <p:cNvSpPr/>
          <p:nvPr/>
        </p:nvSpPr>
        <p:spPr>
          <a:xfrm>
            <a:off x="3840480" y="1609344"/>
            <a:ext cx="54864" cy="274320"/>
          </a:xfrm>
          <a:prstGeom prst="rect">
            <a:avLst/>
          </a:prstGeom>
          <a:solidFill>
            <a:srgbClr val="C8920A"/>
          </a:solidFill>
          <a:ln w="12700">
            <a:solidFill>
              <a:srgbClr val="C8920A"/>
            </a:solidFill>
            <a:prstDash val="solid"/>
          </a:ln>
        </p:spPr>
      </p:sp>
      <p:sp>
        <p:nvSpPr>
          <p:cNvPr id="45" name="Text 43"/>
          <p:cNvSpPr/>
          <p:nvPr/>
        </p:nvSpPr>
        <p:spPr>
          <a:xfrm>
            <a:off x="3950208" y="159105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Tests of Association vs. Tests of Difference</a:t>
            </a:r>
            <a:endParaRPr lang="en-US" sz="750" dirty="0"/>
          </a:p>
        </p:txBody>
      </p:sp>
      <p:sp>
        <p:nvSpPr>
          <p:cNvPr id="46" name="Shape 44"/>
          <p:cNvSpPr/>
          <p:nvPr/>
        </p:nvSpPr>
        <p:spPr>
          <a:xfrm>
            <a:off x="3840480" y="1956816"/>
            <a:ext cx="54864" cy="274320"/>
          </a:xfrm>
          <a:prstGeom prst="rect">
            <a:avLst/>
          </a:prstGeom>
          <a:solidFill>
            <a:srgbClr val="C8920A"/>
          </a:solidFill>
          <a:ln w="12700">
            <a:solidFill>
              <a:srgbClr val="C8920A"/>
            </a:solidFill>
            <a:prstDash val="solid"/>
          </a:ln>
        </p:spPr>
      </p:sp>
      <p:sp>
        <p:nvSpPr>
          <p:cNvPr id="47" name="Text 45"/>
          <p:cNvSpPr/>
          <p:nvPr/>
        </p:nvSpPr>
        <p:spPr>
          <a:xfrm>
            <a:off x="3950208" y="1938528"/>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7-step hypothesis testing framework</a:t>
            </a:r>
            <a:endParaRPr lang="en-US" sz="750" dirty="0"/>
          </a:p>
        </p:txBody>
      </p:sp>
      <p:sp>
        <p:nvSpPr>
          <p:cNvPr id="48" name="Shape 46"/>
          <p:cNvSpPr/>
          <p:nvPr/>
        </p:nvSpPr>
        <p:spPr>
          <a:xfrm>
            <a:off x="3840480" y="2304288"/>
            <a:ext cx="54864" cy="274320"/>
          </a:xfrm>
          <a:prstGeom prst="rect">
            <a:avLst/>
          </a:prstGeom>
          <a:solidFill>
            <a:srgbClr val="C8920A"/>
          </a:solidFill>
          <a:ln w="12700">
            <a:solidFill>
              <a:srgbClr val="C8920A"/>
            </a:solidFill>
            <a:prstDash val="solid"/>
          </a:ln>
        </p:spPr>
      </p:sp>
      <p:sp>
        <p:nvSpPr>
          <p:cNvPr id="49" name="Text 47"/>
          <p:cNvSpPr/>
          <p:nvPr/>
        </p:nvSpPr>
        <p:spPr>
          <a:xfrm>
            <a:off x="3950208" y="2286000"/>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Frequencies, Descriptives, and Explore</a:t>
            </a:r>
            <a:endParaRPr lang="en-US" sz="750" dirty="0"/>
          </a:p>
        </p:txBody>
      </p:sp>
      <p:sp>
        <p:nvSpPr>
          <p:cNvPr id="50" name="Shape 48"/>
          <p:cNvSpPr/>
          <p:nvPr/>
        </p:nvSpPr>
        <p:spPr>
          <a:xfrm>
            <a:off x="3840480" y="2651760"/>
            <a:ext cx="54864" cy="274320"/>
          </a:xfrm>
          <a:prstGeom prst="rect">
            <a:avLst/>
          </a:prstGeom>
          <a:solidFill>
            <a:srgbClr val="C8920A"/>
          </a:solidFill>
          <a:ln w="12700">
            <a:solidFill>
              <a:srgbClr val="C8920A"/>
            </a:solidFill>
            <a:prstDash val="solid"/>
          </a:ln>
        </p:spPr>
      </p:sp>
      <p:sp>
        <p:nvSpPr>
          <p:cNvPr id="51" name="Text 49"/>
          <p:cNvSpPr/>
          <p:nvPr/>
        </p:nvSpPr>
        <p:spPr>
          <a:xfrm>
            <a:off x="3950208" y="2633472"/>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Normality testing (Shapiro-Wilk)</a:t>
            </a:r>
            <a:endParaRPr lang="en-US" sz="750" dirty="0"/>
          </a:p>
        </p:txBody>
      </p:sp>
      <p:sp>
        <p:nvSpPr>
          <p:cNvPr id="52" name="Shape 50"/>
          <p:cNvSpPr/>
          <p:nvPr/>
        </p:nvSpPr>
        <p:spPr>
          <a:xfrm>
            <a:off x="3840480" y="2999232"/>
            <a:ext cx="54864" cy="274320"/>
          </a:xfrm>
          <a:prstGeom prst="rect">
            <a:avLst/>
          </a:prstGeom>
          <a:solidFill>
            <a:srgbClr val="C8920A"/>
          </a:solidFill>
          <a:ln w="12700">
            <a:solidFill>
              <a:srgbClr val="C8920A"/>
            </a:solidFill>
            <a:prstDash val="solid"/>
          </a:ln>
        </p:spPr>
      </p:sp>
      <p:sp>
        <p:nvSpPr>
          <p:cNvPr id="53" name="Text 51"/>
          <p:cNvSpPr/>
          <p:nvPr/>
        </p:nvSpPr>
        <p:spPr>
          <a:xfrm>
            <a:off x="3950208" y="2980944"/>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Charts: histograms, boxplots, bar charts</a:t>
            </a:r>
            <a:endParaRPr lang="en-US" sz="750" dirty="0"/>
          </a:p>
        </p:txBody>
      </p:sp>
      <p:sp>
        <p:nvSpPr>
          <p:cNvPr id="54" name="Shape 52"/>
          <p:cNvSpPr/>
          <p:nvPr/>
        </p:nvSpPr>
        <p:spPr>
          <a:xfrm>
            <a:off x="3840480" y="3346704"/>
            <a:ext cx="54864" cy="274320"/>
          </a:xfrm>
          <a:prstGeom prst="rect">
            <a:avLst/>
          </a:prstGeom>
          <a:solidFill>
            <a:srgbClr val="C8920A"/>
          </a:solidFill>
          <a:ln w="12700">
            <a:solidFill>
              <a:srgbClr val="C8920A"/>
            </a:solidFill>
            <a:prstDash val="solid"/>
          </a:ln>
        </p:spPr>
      </p:sp>
      <p:sp>
        <p:nvSpPr>
          <p:cNvPr id="55" name="Text 53"/>
          <p:cNvSpPr/>
          <p:nvPr/>
        </p:nvSpPr>
        <p:spPr>
          <a:xfrm>
            <a:off x="3950208" y="332841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Pearson and Spearman correlation</a:t>
            </a:r>
            <a:endParaRPr lang="en-US" sz="750" dirty="0"/>
          </a:p>
        </p:txBody>
      </p:sp>
      <p:sp>
        <p:nvSpPr>
          <p:cNvPr id="56" name="Shape 54"/>
          <p:cNvSpPr/>
          <p:nvPr/>
        </p:nvSpPr>
        <p:spPr>
          <a:xfrm>
            <a:off x="3840480" y="3712464"/>
            <a:ext cx="1481328" cy="18288"/>
          </a:xfrm>
          <a:prstGeom prst="rect">
            <a:avLst/>
          </a:prstGeom>
          <a:solidFill>
            <a:srgbClr val="C8920A"/>
          </a:solidFill>
          <a:ln w="12700">
            <a:solidFill>
              <a:srgbClr val="C8920A"/>
            </a:solidFill>
            <a:prstDash val="solid"/>
          </a:ln>
        </p:spPr>
      </p:sp>
      <p:sp>
        <p:nvSpPr>
          <p:cNvPr id="57" name="Text 55"/>
          <p:cNvSpPr/>
          <p:nvPr/>
        </p:nvSpPr>
        <p:spPr>
          <a:xfrm>
            <a:off x="3840480" y="3767328"/>
            <a:ext cx="1481328" cy="292608"/>
          </a:xfrm>
          <a:prstGeom prst="rect">
            <a:avLst/>
          </a:prstGeom>
          <a:noFill/>
          <a:ln/>
        </p:spPr>
        <p:txBody>
          <a:bodyPr wrap="square" lIns="0" tIns="0" rIns="0" bIns="0" rtlCol="0" anchor="ctr"/>
          <a:lstStyle/>
          <a:p>
            <a:pPr indent="0" marL="0">
              <a:buNone/>
            </a:pPr>
            <a:r>
              <a:rPr lang="en-US" sz="750" i="1" dirty="0">
                <a:solidFill>
                  <a:srgbClr val="C8920A"/>
                </a:solidFill>
                <a:latin typeface="Calibri" pitchFamily="34" charset="0"/>
                <a:ea typeface="Calibri" pitchFamily="34" charset="-122"/>
                <a:cs typeface="Calibri" pitchFamily="34" charset="-120"/>
              </a:rPr>
              <a:t>Descriptive statistics section of research report completed</a:t>
            </a:r>
            <a:endParaRPr lang="en-US" sz="750" dirty="0"/>
          </a:p>
        </p:txBody>
      </p:sp>
      <p:sp>
        <p:nvSpPr>
          <p:cNvPr id="58" name="Shape 56"/>
          <p:cNvSpPr/>
          <p:nvPr/>
        </p:nvSpPr>
        <p:spPr>
          <a:xfrm>
            <a:off x="5522976" y="1005840"/>
            <a:ext cx="1664208" cy="4005072"/>
          </a:xfrm>
          <a:prstGeom prst="roundRect">
            <a:avLst>
              <a:gd name="adj" fmla="val 439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59" name="Shape 57"/>
          <p:cNvSpPr/>
          <p:nvPr/>
        </p:nvSpPr>
        <p:spPr>
          <a:xfrm>
            <a:off x="5577840" y="1078992"/>
            <a:ext cx="1554480" cy="457200"/>
          </a:xfrm>
          <a:prstGeom prst="roundRect">
            <a:avLst>
              <a:gd name="adj" fmla="val 14000"/>
            </a:avLst>
          </a:prstGeom>
          <a:solidFill>
            <a:srgbClr val="D4680A"/>
          </a:solidFill>
          <a:ln w="12700">
            <a:solidFill>
              <a:srgbClr val="D4680A"/>
            </a:solidFill>
            <a:prstDash val="solid"/>
          </a:ln>
        </p:spPr>
      </p:sp>
      <p:sp>
        <p:nvSpPr>
          <p:cNvPr id="60" name="Text 58"/>
          <p:cNvSpPr/>
          <p:nvPr/>
        </p:nvSpPr>
        <p:spPr>
          <a:xfrm>
            <a:off x="5577840" y="1078992"/>
            <a:ext cx="1554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 4</a:t>
            </a:r>
            <a:endParaRPr lang="en-US" sz="1200" dirty="0"/>
          </a:p>
        </p:txBody>
      </p:sp>
      <p:sp>
        <p:nvSpPr>
          <p:cNvPr id="61" name="Text 59"/>
          <p:cNvSpPr/>
          <p:nvPr/>
        </p:nvSpPr>
        <p:spPr>
          <a:xfrm>
            <a:off x="5577840" y="1335024"/>
            <a:ext cx="1554480" cy="20116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Test Statistics</a:t>
            </a:r>
            <a:endParaRPr lang="en-US" sz="850" dirty="0"/>
          </a:p>
        </p:txBody>
      </p:sp>
      <p:sp>
        <p:nvSpPr>
          <p:cNvPr id="62" name="Shape 60"/>
          <p:cNvSpPr/>
          <p:nvPr/>
        </p:nvSpPr>
        <p:spPr>
          <a:xfrm>
            <a:off x="5614416" y="1609344"/>
            <a:ext cx="54864" cy="274320"/>
          </a:xfrm>
          <a:prstGeom prst="rect">
            <a:avLst/>
          </a:prstGeom>
          <a:solidFill>
            <a:srgbClr val="D4680A"/>
          </a:solidFill>
          <a:ln w="12700">
            <a:solidFill>
              <a:srgbClr val="D4680A"/>
            </a:solidFill>
            <a:prstDash val="solid"/>
          </a:ln>
        </p:spPr>
      </p:sp>
      <p:sp>
        <p:nvSpPr>
          <p:cNvPr id="63" name="Text 61"/>
          <p:cNvSpPr/>
          <p:nvPr/>
        </p:nvSpPr>
        <p:spPr>
          <a:xfrm>
            <a:off x="5724144" y="159105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One-Sample, Independent, and Paired T-Tests</a:t>
            </a:r>
            <a:endParaRPr lang="en-US" sz="750" dirty="0"/>
          </a:p>
        </p:txBody>
      </p:sp>
      <p:sp>
        <p:nvSpPr>
          <p:cNvPr id="64" name="Shape 62"/>
          <p:cNvSpPr/>
          <p:nvPr/>
        </p:nvSpPr>
        <p:spPr>
          <a:xfrm>
            <a:off x="5614416" y="1956816"/>
            <a:ext cx="54864" cy="274320"/>
          </a:xfrm>
          <a:prstGeom prst="rect">
            <a:avLst/>
          </a:prstGeom>
          <a:solidFill>
            <a:srgbClr val="D4680A"/>
          </a:solidFill>
          <a:ln w="12700">
            <a:solidFill>
              <a:srgbClr val="D4680A"/>
            </a:solidFill>
            <a:prstDash val="solid"/>
          </a:ln>
        </p:spPr>
      </p:sp>
      <p:sp>
        <p:nvSpPr>
          <p:cNvPr id="65" name="Text 63"/>
          <p:cNvSpPr/>
          <p:nvPr/>
        </p:nvSpPr>
        <p:spPr>
          <a:xfrm>
            <a:off x="5724144" y="1938528"/>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One-Way ANOVA with post-hoc tests</a:t>
            </a:r>
            <a:endParaRPr lang="en-US" sz="750" dirty="0"/>
          </a:p>
        </p:txBody>
      </p:sp>
      <p:sp>
        <p:nvSpPr>
          <p:cNvPr id="66" name="Shape 64"/>
          <p:cNvSpPr/>
          <p:nvPr/>
        </p:nvSpPr>
        <p:spPr>
          <a:xfrm>
            <a:off x="5614416" y="2304288"/>
            <a:ext cx="54864" cy="274320"/>
          </a:xfrm>
          <a:prstGeom prst="rect">
            <a:avLst/>
          </a:prstGeom>
          <a:solidFill>
            <a:srgbClr val="D4680A"/>
          </a:solidFill>
          <a:ln w="12700">
            <a:solidFill>
              <a:srgbClr val="D4680A"/>
            </a:solidFill>
            <a:prstDash val="solid"/>
          </a:ln>
        </p:spPr>
      </p:sp>
      <p:sp>
        <p:nvSpPr>
          <p:cNvPr id="67" name="Text 65"/>
          <p:cNvSpPr/>
          <p:nvPr/>
        </p:nvSpPr>
        <p:spPr>
          <a:xfrm>
            <a:off x="5724144" y="2286000"/>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MANOVA, Repeated Measures, Factorial ANOVA</a:t>
            </a:r>
            <a:endParaRPr lang="en-US" sz="750" dirty="0"/>
          </a:p>
        </p:txBody>
      </p:sp>
      <p:sp>
        <p:nvSpPr>
          <p:cNvPr id="68" name="Shape 66"/>
          <p:cNvSpPr/>
          <p:nvPr/>
        </p:nvSpPr>
        <p:spPr>
          <a:xfrm>
            <a:off x="5614416" y="2651760"/>
            <a:ext cx="54864" cy="274320"/>
          </a:xfrm>
          <a:prstGeom prst="rect">
            <a:avLst/>
          </a:prstGeom>
          <a:solidFill>
            <a:srgbClr val="D4680A"/>
          </a:solidFill>
          <a:ln w="12700">
            <a:solidFill>
              <a:srgbClr val="D4680A"/>
            </a:solidFill>
            <a:prstDash val="solid"/>
          </a:ln>
        </p:spPr>
      </p:sp>
      <p:sp>
        <p:nvSpPr>
          <p:cNvPr id="69" name="Text 67"/>
          <p:cNvSpPr/>
          <p:nvPr/>
        </p:nvSpPr>
        <p:spPr>
          <a:xfrm>
            <a:off x="5724144" y="2633472"/>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Chi-Square Goodness of Fit and Independence</a:t>
            </a:r>
            <a:endParaRPr lang="en-US" sz="750" dirty="0"/>
          </a:p>
        </p:txBody>
      </p:sp>
      <p:sp>
        <p:nvSpPr>
          <p:cNvPr id="70" name="Shape 68"/>
          <p:cNvSpPr/>
          <p:nvPr/>
        </p:nvSpPr>
        <p:spPr>
          <a:xfrm>
            <a:off x="5614416" y="2999232"/>
            <a:ext cx="54864" cy="274320"/>
          </a:xfrm>
          <a:prstGeom prst="rect">
            <a:avLst/>
          </a:prstGeom>
          <a:solidFill>
            <a:srgbClr val="D4680A"/>
          </a:solidFill>
          <a:ln w="12700">
            <a:solidFill>
              <a:srgbClr val="D4680A"/>
            </a:solidFill>
            <a:prstDash val="solid"/>
          </a:ln>
        </p:spPr>
      </p:sp>
      <p:sp>
        <p:nvSpPr>
          <p:cNvPr id="71" name="Text 69"/>
          <p:cNvSpPr/>
          <p:nvPr/>
        </p:nvSpPr>
        <p:spPr>
          <a:xfrm>
            <a:off x="5724144" y="2980944"/>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Mann-Whitney, Wilcoxon, Kruskal-Wallis, Friedman</a:t>
            </a:r>
            <a:endParaRPr lang="en-US" sz="750" dirty="0"/>
          </a:p>
        </p:txBody>
      </p:sp>
      <p:sp>
        <p:nvSpPr>
          <p:cNvPr id="72" name="Shape 70"/>
          <p:cNvSpPr/>
          <p:nvPr/>
        </p:nvSpPr>
        <p:spPr>
          <a:xfrm>
            <a:off x="5614416" y="3346704"/>
            <a:ext cx="54864" cy="274320"/>
          </a:xfrm>
          <a:prstGeom prst="rect">
            <a:avLst/>
          </a:prstGeom>
          <a:solidFill>
            <a:srgbClr val="D4680A"/>
          </a:solidFill>
          <a:ln w="12700">
            <a:solidFill>
              <a:srgbClr val="D4680A"/>
            </a:solidFill>
            <a:prstDash val="solid"/>
          </a:ln>
        </p:spPr>
      </p:sp>
      <p:sp>
        <p:nvSpPr>
          <p:cNvPr id="73" name="Text 71"/>
          <p:cNvSpPr/>
          <p:nvPr/>
        </p:nvSpPr>
        <p:spPr>
          <a:xfrm>
            <a:off x="5724144" y="332841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Simple Effects and Multiple Comparisons</a:t>
            </a:r>
            <a:endParaRPr lang="en-US" sz="750" dirty="0"/>
          </a:p>
        </p:txBody>
      </p:sp>
      <p:sp>
        <p:nvSpPr>
          <p:cNvPr id="74" name="Shape 72"/>
          <p:cNvSpPr/>
          <p:nvPr/>
        </p:nvSpPr>
        <p:spPr>
          <a:xfrm>
            <a:off x="5614416" y="3712464"/>
            <a:ext cx="1481328" cy="18288"/>
          </a:xfrm>
          <a:prstGeom prst="rect">
            <a:avLst/>
          </a:prstGeom>
          <a:solidFill>
            <a:srgbClr val="D4680A"/>
          </a:solidFill>
          <a:ln w="12700">
            <a:solidFill>
              <a:srgbClr val="D4680A"/>
            </a:solidFill>
            <a:prstDash val="solid"/>
          </a:ln>
        </p:spPr>
      </p:sp>
      <p:sp>
        <p:nvSpPr>
          <p:cNvPr id="75" name="Text 73"/>
          <p:cNvSpPr/>
          <p:nvPr/>
        </p:nvSpPr>
        <p:spPr>
          <a:xfrm>
            <a:off x="5614416" y="3767328"/>
            <a:ext cx="1481328" cy="292608"/>
          </a:xfrm>
          <a:prstGeom prst="rect">
            <a:avLst/>
          </a:prstGeom>
          <a:noFill/>
          <a:ln/>
        </p:spPr>
        <p:txBody>
          <a:bodyPr wrap="square" lIns="0" tIns="0" rIns="0" bIns="0" rtlCol="0" anchor="ctr"/>
          <a:lstStyle/>
          <a:p>
            <a:pPr indent="0" marL="0">
              <a:buNone/>
            </a:pPr>
            <a:r>
              <a:rPr lang="en-US" sz="750" i="1" dirty="0">
                <a:solidFill>
                  <a:srgbClr val="D4680A"/>
                </a:solidFill>
                <a:latin typeface="Calibri" pitchFamily="34" charset="0"/>
                <a:ea typeface="Calibri" pitchFamily="34" charset="-122"/>
                <a:cs typeface="Calibri" pitchFamily="34" charset="-120"/>
              </a:rPr>
              <a:t>Inferential statistics section completed, all hypotheses tested</a:t>
            </a:r>
            <a:endParaRPr lang="en-US" sz="750" dirty="0"/>
          </a:p>
        </p:txBody>
      </p:sp>
      <p:sp>
        <p:nvSpPr>
          <p:cNvPr id="76" name="Shape 74"/>
          <p:cNvSpPr/>
          <p:nvPr/>
        </p:nvSpPr>
        <p:spPr>
          <a:xfrm>
            <a:off x="7296912" y="1005840"/>
            <a:ext cx="1664208" cy="4005072"/>
          </a:xfrm>
          <a:prstGeom prst="roundRect">
            <a:avLst>
              <a:gd name="adj" fmla="val 4396"/>
            </a:avLst>
          </a:prstGeom>
          <a:solidFill>
            <a:srgbClr val="FFFFFF"/>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77" name="Shape 75"/>
          <p:cNvSpPr/>
          <p:nvPr/>
        </p:nvSpPr>
        <p:spPr>
          <a:xfrm>
            <a:off x="7351776" y="1078992"/>
            <a:ext cx="1554480" cy="457200"/>
          </a:xfrm>
          <a:prstGeom prst="roundRect">
            <a:avLst>
              <a:gd name="adj" fmla="val 14000"/>
            </a:avLst>
          </a:prstGeom>
          <a:solidFill>
            <a:srgbClr val="6B52C8"/>
          </a:solidFill>
          <a:ln w="12700">
            <a:solidFill>
              <a:srgbClr val="6B52C8"/>
            </a:solidFill>
            <a:prstDash val="solid"/>
          </a:ln>
        </p:spPr>
      </p:sp>
      <p:sp>
        <p:nvSpPr>
          <p:cNvPr id="78" name="Text 76"/>
          <p:cNvSpPr/>
          <p:nvPr/>
        </p:nvSpPr>
        <p:spPr>
          <a:xfrm>
            <a:off x="7351776" y="1078992"/>
            <a:ext cx="155448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 5</a:t>
            </a:r>
            <a:endParaRPr lang="en-US" sz="1200" dirty="0"/>
          </a:p>
        </p:txBody>
      </p:sp>
      <p:sp>
        <p:nvSpPr>
          <p:cNvPr id="79" name="Text 77"/>
          <p:cNvSpPr/>
          <p:nvPr/>
        </p:nvSpPr>
        <p:spPr>
          <a:xfrm>
            <a:off x="7351776" y="1335024"/>
            <a:ext cx="1554480" cy="20116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Advanced Methods</a:t>
            </a:r>
            <a:endParaRPr lang="en-US" sz="850" dirty="0"/>
          </a:p>
        </p:txBody>
      </p:sp>
      <p:sp>
        <p:nvSpPr>
          <p:cNvPr id="80" name="Shape 78"/>
          <p:cNvSpPr/>
          <p:nvPr/>
        </p:nvSpPr>
        <p:spPr>
          <a:xfrm>
            <a:off x="7388352" y="1609344"/>
            <a:ext cx="54864" cy="274320"/>
          </a:xfrm>
          <a:prstGeom prst="rect">
            <a:avLst/>
          </a:prstGeom>
          <a:solidFill>
            <a:srgbClr val="6B52C8"/>
          </a:solidFill>
          <a:ln w="12700">
            <a:solidFill>
              <a:srgbClr val="6B52C8"/>
            </a:solidFill>
            <a:prstDash val="solid"/>
          </a:ln>
        </p:spPr>
      </p:sp>
      <p:sp>
        <p:nvSpPr>
          <p:cNvPr id="81" name="Text 79"/>
          <p:cNvSpPr/>
          <p:nvPr/>
        </p:nvSpPr>
        <p:spPr>
          <a:xfrm>
            <a:off x="7498080" y="159105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GLM Repeated Measures with between-subjects factors</a:t>
            </a:r>
            <a:endParaRPr lang="en-US" sz="750" dirty="0"/>
          </a:p>
        </p:txBody>
      </p:sp>
      <p:sp>
        <p:nvSpPr>
          <p:cNvPr id="82" name="Shape 80"/>
          <p:cNvSpPr/>
          <p:nvPr/>
        </p:nvSpPr>
        <p:spPr>
          <a:xfrm>
            <a:off x="7388352" y="1956816"/>
            <a:ext cx="54864" cy="274320"/>
          </a:xfrm>
          <a:prstGeom prst="rect">
            <a:avLst/>
          </a:prstGeom>
          <a:solidFill>
            <a:srgbClr val="6B52C8"/>
          </a:solidFill>
          <a:ln w="12700">
            <a:solidFill>
              <a:srgbClr val="6B52C8"/>
            </a:solidFill>
            <a:prstDash val="solid"/>
          </a:ln>
        </p:spPr>
      </p:sp>
      <p:sp>
        <p:nvSpPr>
          <p:cNvPr id="83" name="Text 81"/>
          <p:cNvSpPr/>
          <p:nvPr/>
        </p:nvSpPr>
        <p:spPr>
          <a:xfrm>
            <a:off x="7498080" y="1938528"/>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Multiple Linear Regression with diagnostics</a:t>
            </a:r>
            <a:endParaRPr lang="en-US" sz="750" dirty="0"/>
          </a:p>
        </p:txBody>
      </p:sp>
      <p:sp>
        <p:nvSpPr>
          <p:cNvPr id="84" name="Shape 82"/>
          <p:cNvSpPr/>
          <p:nvPr/>
        </p:nvSpPr>
        <p:spPr>
          <a:xfrm>
            <a:off x="7388352" y="2304288"/>
            <a:ext cx="54864" cy="274320"/>
          </a:xfrm>
          <a:prstGeom prst="rect">
            <a:avLst/>
          </a:prstGeom>
          <a:solidFill>
            <a:srgbClr val="6B52C8"/>
          </a:solidFill>
          <a:ln w="12700">
            <a:solidFill>
              <a:srgbClr val="6B52C8"/>
            </a:solidFill>
            <a:prstDash val="solid"/>
          </a:ln>
        </p:spPr>
      </p:sp>
      <p:sp>
        <p:nvSpPr>
          <p:cNvPr id="85" name="Text 83"/>
          <p:cNvSpPr/>
          <p:nvPr/>
        </p:nvSpPr>
        <p:spPr>
          <a:xfrm>
            <a:off x="7498080" y="2286000"/>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Binary and Multinomial Logistic Regression</a:t>
            </a:r>
            <a:endParaRPr lang="en-US" sz="750" dirty="0"/>
          </a:p>
        </p:txBody>
      </p:sp>
      <p:sp>
        <p:nvSpPr>
          <p:cNvPr id="86" name="Shape 84"/>
          <p:cNvSpPr/>
          <p:nvPr/>
        </p:nvSpPr>
        <p:spPr>
          <a:xfrm>
            <a:off x="7388352" y="2651760"/>
            <a:ext cx="54864" cy="274320"/>
          </a:xfrm>
          <a:prstGeom prst="rect">
            <a:avLst/>
          </a:prstGeom>
          <a:solidFill>
            <a:srgbClr val="6B52C8"/>
          </a:solidFill>
          <a:ln w="12700">
            <a:solidFill>
              <a:srgbClr val="6B52C8"/>
            </a:solidFill>
            <a:prstDash val="solid"/>
          </a:ln>
        </p:spPr>
      </p:sp>
      <p:sp>
        <p:nvSpPr>
          <p:cNvPr id="87" name="Text 85"/>
          <p:cNvSpPr/>
          <p:nvPr/>
        </p:nvSpPr>
        <p:spPr>
          <a:xfrm>
            <a:off x="7498080" y="2633472"/>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Exploratory Factor Analysis (2-factor UAC solution)</a:t>
            </a:r>
            <a:endParaRPr lang="en-US" sz="750" dirty="0"/>
          </a:p>
        </p:txBody>
      </p:sp>
      <p:sp>
        <p:nvSpPr>
          <p:cNvPr id="88" name="Shape 86"/>
          <p:cNvSpPr/>
          <p:nvPr/>
        </p:nvSpPr>
        <p:spPr>
          <a:xfrm>
            <a:off x="7388352" y="2999232"/>
            <a:ext cx="54864" cy="274320"/>
          </a:xfrm>
          <a:prstGeom prst="rect">
            <a:avLst/>
          </a:prstGeom>
          <a:solidFill>
            <a:srgbClr val="6B52C8"/>
          </a:solidFill>
          <a:ln w="12700">
            <a:solidFill>
              <a:srgbClr val="6B52C8"/>
            </a:solidFill>
            <a:prstDash val="solid"/>
          </a:ln>
        </p:spPr>
      </p:sp>
      <p:sp>
        <p:nvSpPr>
          <p:cNvPr id="89" name="Text 87"/>
          <p:cNvSpPr/>
          <p:nvPr/>
        </p:nvSpPr>
        <p:spPr>
          <a:xfrm>
            <a:off x="7498080" y="2980944"/>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Reliability Analysis (Cronbach's Alpha)</a:t>
            </a:r>
            <a:endParaRPr lang="en-US" sz="750" dirty="0"/>
          </a:p>
        </p:txBody>
      </p:sp>
      <p:sp>
        <p:nvSpPr>
          <p:cNvPr id="90" name="Shape 88"/>
          <p:cNvSpPr/>
          <p:nvPr/>
        </p:nvSpPr>
        <p:spPr>
          <a:xfrm>
            <a:off x="7388352" y="3346704"/>
            <a:ext cx="54864" cy="274320"/>
          </a:xfrm>
          <a:prstGeom prst="rect">
            <a:avLst/>
          </a:prstGeom>
          <a:solidFill>
            <a:srgbClr val="6B52C8"/>
          </a:solidFill>
          <a:ln w="12700">
            <a:solidFill>
              <a:srgbClr val="6B52C8"/>
            </a:solidFill>
            <a:prstDash val="solid"/>
          </a:ln>
        </p:spPr>
      </p:sp>
      <p:sp>
        <p:nvSpPr>
          <p:cNvPr id="91" name="Text 89"/>
          <p:cNvSpPr/>
          <p:nvPr/>
        </p:nvSpPr>
        <p:spPr>
          <a:xfrm>
            <a:off x="7498080" y="3328416"/>
            <a:ext cx="1371600" cy="310896"/>
          </a:xfrm>
          <a:prstGeom prst="rect">
            <a:avLst/>
          </a:prstGeom>
          <a:noFill/>
          <a:ln/>
        </p:spPr>
        <p:txBody>
          <a:bodyPr wrap="square" lIns="0" tIns="0" rIns="0" bIns="0" rtlCol="0" anchor="ctr"/>
          <a:lstStyle/>
          <a:p>
            <a:pPr indent="0" marL="0">
              <a:buNone/>
            </a:pPr>
            <a:r>
              <a:rPr lang="en-US" sz="750" dirty="0">
                <a:solidFill>
                  <a:srgbClr val="1A2038"/>
                </a:solidFill>
                <a:latin typeface="Calibri" pitchFamily="34" charset="0"/>
                <a:ea typeface="Calibri" pitchFamily="34" charset="-122"/>
                <a:cs typeface="Calibri" pitchFamily="34" charset="-120"/>
              </a:rPr>
              <a:t>K-Means Cluster Analysis (4-segment consumer model)</a:t>
            </a:r>
            <a:endParaRPr lang="en-US" sz="750" dirty="0"/>
          </a:p>
        </p:txBody>
      </p:sp>
      <p:sp>
        <p:nvSpPr>
          <p:cNvPr id="92" name="Shape 90"/>
          <p:cNvSpPr/>
          <p:nvPr/>
        </p:nvSpPr>
        <p:spPr>
          <a:xfrm>
            <a:off x="7388352" y="3712464"/>
            <a:ext cx="1481328" cy="18288"/>
          </a:xfrm>
          <a:prstGeom prst="rect">
            <a:avLst/>
          </a:prstGeom>
          <a:solidFill>
            <a:srgbClr val="6B52C8"/>
          </a:solidFill>
          <a:ln w="12700">
            <a:solidFill>
              <a:srgbClr val="6B52C8"/>
            </a:solidFill>
            <a:prstDash val="solid"/>
          </a:ln>
        </p:spPr>
      </p:sp>
      <p:sp>
        <p:nvSpPr>
          <p:cNvPr id="93" name="Text 91"/>
          <p:cNvSpPr/>
          <p:nvPr/>
        </p:nvSpPr>
        <p:spPr>
          <a:xfrm>
            <a:off x="7388352" y="3767328"/>
            <a:ext cx="1481328" cy="292608"/>
          </a:xfrm>
          <a:prstGeom prst="rect">
            <a:avLst/>
          </a:prstGeom>
          <a:noFill/>
          <a:ln/>
        </p:spPr>
        <p:txBody>
          <a:bodyPr wrap="square" lIns="0" tIns="0" rIns="0" bIns="0" rtlCol="0" anchor="ctr"/>
          <a:lstStyle/>
          <a:p>
            <a:pPr indent="0" marL="0">
              <a:buNone/>
            </a:pPr>
            <a:r>
              <a:rPr lang="en-US" sz="750" i="1" dirty="0">
                <a:solidFill>
                  <a:srgbClr val="6B52C8"/>
                </a:solidFill>
                <a:latin typeface="Calibri" pitchFamily="34" charset="0"/>
                <a:ea typeface="Calibri" pitchFamily="34" charset="-122"/>
                <a:cs typeface="Calibri" pitchFamily="34" charset="-120"/>
              </a:rPr>
              <a:t>Complete analytical model, Executive Summary for UAC Foods management</a:t>
            </a:r>
            <a:endParaRPr lang="en-US" sz="750" dirty="0"/>
          </a:p>
        </p:txBody>
      </p:sp>
      <p:sp>
        <p:nvSpPr>
          <p:cNvPr id="94" name="Shape 92"/>
          <p:cNvSpPr/>
          <p:nvPr/>
        </p:nvSpPr>
        <p:spPr>
          <a:xfrm>
            <a:off x="256032" y="4114800"/>
            <a:ext cx="8631936" cy="621792"/>
          </a:xfrm>
          <a:prstGeom prst="roundRect">
            <a:avLst>
              <a:gd name="adj" fmla="val 13235"/>
            </a:avLst>
          </a:prstGeom>
          <a:solidFill>
            <a:srgbClr val="E8EEF8"/>
          </a:solidFill>
          <a:ln w="6350">
            <a:solidFill>
              <a:srgbClr val="C0C8E0"/>
            </a:solidFill>
            <a:prstDash val="solid"/>
          </a:ln>
          <a:effectLst>
            <a:outerShdw sx="100000" sy="100000" kx="0" ky="0" algn="bl" rotWithShape="0" blurRad="76200" dist="25400" dir="2700000">
              <a:srgbClr val="000000">
                <a:alpha val="12000"/>
              </a:srgbClr>
            </a:outerShdw>
          </a:effectLst>
        </p:spPr>
      </p:sp>
      <p:sp>
        <p:nvSpPr>
          <p:cNvPr id="95" name="Text 93"/>
          <p:cNvSpPr/>
          <p:nvPr/>
        </p:nvSpPr>
        <p:spPr>
          <a:xfrm>
            <a:off x="384048" y="4151376"/>
            <a:ext cx="8321040" cy="548640"/>
          </a:xfrm>
          <a:prstGeom prst="rect">
            <a:avLst/>
          </a:prstGeom>
          <a:noFill/>
          <a:ln/>
        </p:spPr>
        <p:txBody>
          <a:bodyPr wrap="square" lIns="0" tIns="0" rIns="0" bIns="0" rtlCol="0" anchor="ctr"/>
          <a:lstStyle/>
          <a:p>
            <a:pPr indent="0" marL="0">
              <a:buNone/>
            </a:pPr>
            <a:r>
              <a:rPr lang="en-US" sz="1050" b="1" dirty="0">
                <a:solidFill>
                  <a:srgbClr val="1A2D6B"/>
                </a:solidFill>
                <a:latin typeface="Calibri" pitchFamily="34" charset="0"/>
                <a:ea typeface="Calibri" pitchFamily="34" charset="-122"/>
                <a:cs typeface="Calibri" pitchFamily="34" charset="-120"/>
              </a:rPr>
              <a:t>The Complete UAC Foods Research Journey: </a:t>
            </a:r>
            <a:pPr indent="0" marL="0">
              <a:buNone/>
            </a:pPr>
            <a:r>
              <a:rPr lang="en-US" sz="1050" dirty="0">
                <a:solidFill>
                  <a:srgbClr val="1A2038"/>
                </a:solidFill>
                <a:latin typeface="Calibri" pitchFamily="34" charset="0"/>
                <a:ea typeface="Calibri" pitchFamily="34" charset="-122"/>
                <a:cs typeface="Calibri" pitchFamily="34" charset="-120"/>
              </a:rPr>
              <a:t>From a blank SPSS dataset to a fully analysed, segmented, and reported consumer satisfaction study. Every statistical test learned. Every assumption checked. Every finding interpreted. Professional analyst standard achieved.</a:t>
            </a:r>
            <a:endParaRPr lang="en-US" sz="1050" dirty="0"/>
          </a:p>
        </p:txBody>
      </p:sp>
      <p:sp>
        <p:nvSpPr>
          <p:cNvPr id="96" name="Shape 94"/>
          <p:cNvSpPr/>
          <p:nvPr/>
        </p:nvSpPr>
        <p:spPr>
          <a:xfrm>
            <a:off x="256032" y="4791456"/>
            <a:ext cx="8631936" cy="347472"/>
          </a:xfrm>
          <a:prstGeom prst="roundRect">
            <a:avLst>
              <a:gd name="adj" fmla="val 18421"/>
            </a:avLst>
          </a:prstGeom>
          <a:solidFill>
            <a:srgbClr val="1A2D6B"/>
          </a:solidFill>
          <a:ln w="12700">
            <a:solidFill>
              <a:srgbClr val="1A2D6B"/>
            </a:solidFill>
            <a:prstDash val="solid"/>
          </a:ln>
        </p:spPr>
      </p:sp>
      <p:sp>
        <p:nvSpPr>
          <p:cNvPr id="97" name="Text 95"/>
          <p:cNvSpPr/>
          <p:nvPr/>
        </p:nvSpPr>
        <p:spPr>
          <a:xfrm>
            <a:off x="384048" y="4809744"/>
            <a:ext cx="8321040" cy="310896"/>
          </a:xfrm>
          <a:prstGeom prst="rect">
            <a:avLst/>
          </a:prstGeom>
          <a:noFill/>
          <a:ln/>
        </p:spPr>
        <p:txBody>
          <a:bodyPr wrap="square" lIns="0" tIns="0" rIns="0" bIns="0" rtlCol="0" anchor="ctr"/>
          <a:lstStyle/>
          <a:p>
            <a:pPr algn="ctr" indent="0" marL="0">
              <a:buNone/>
            </a:pPr>
            <a:r>
              <a:rPr lang="en-US" sz="850" dirty="0">
                <a:solidFill>
                  <a:srgbClr val="F0C040"/>
                </a:solidFill>
                <a:latin typeface="Calibri" pitchFamily="34" charset="0"/>
                <a:ea typeface="Calibri" pitchFamily="34" charset="-122"/>
                <a:cs typeface="Calibri" pitchFamily="34" charset="-120"/>
              </a:rPr>
              <a:t>SPSS Statistical Methods Mastered: One-Sample T | Independent T | Paired T | One-Way ANOVA | MANOVA | Repeated Measures | Factorial ANOVA | Chi-Square GoF | Chi-Square Independence | Mann-Whitney U | Wilcoxon | Kruskal-Wallis | Friedman | Multiple Regression | Binary Logistic | Multinomial Logistic | EFA | Reliability | K-Means Cluster | Hierarchical Cluster</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645920" y="-1645920"/>
            <a:ext cx="5486400" cy="5486400"/>
          </a:xfrm>
          <a:prstGeom prst="ellipse">
            <a:avLst/>
          </a:prstGeom>
          <a:solidFill>
            <a:srgbClr val="1A2D6B">
              <a:alpha val="18000"/>
            </a:srgbClr>
          </a:solidFill>
          <a:ln w="12700">
            <a:solidFill>
              <a:srgbClr val="1A2D6B"/>
            </a:solidFill>
            <a:prstDash val="solid"/>
          </a:ln>
        </p:spPr>
      </p:sp>
      <p:sp>
        <p:nvSpPr>
          <p:cNvPr id="3" name="Shape 1"/>
          <p:cNvSpPr/>
          <p:nvPr/>
        </p:nvSpPr>
        <p:spPr>
          <a:xfrm>
            <a:off x="6400800" y="2560320"/>
            <a:ext cx="4572000" cy="4572000"/>
          </a:xfrm>
          <a:prstGeom prst="ellipse">
            <a:avLst/>
          </a:prstGeom>
          <a:solidFill>
            <a:srgbClr val="C8920A">
              <a:alpha val="12000"/>
            </a:srgbClr>
          </a:solidFill>
          <a:ln w="12700">
            <a:solidFill>
              <a:srgbClr val="C8920A"/>
            </a:solidFill>
            <a:prstDash val="solid"/>
          </a:ln>
        </p:spPr>
      </p:sp>
      <p:sp>
        <p:nvSpPr>
          <p:cNvPr id="4" name="Shape 2"/>
          <p:cNvSpPr/>
          <p:nvPr/>
        </p:nvSpPr>
        <p:spPr>
          <a:xfrm>
            <a:off x="3840480" y="-1371600"/>
            <a:ext cx="2286000" cy="2286000"/>
          </a:xfrm>
          <a:prstGeom prst="ellipse">
            <a:avLst/>
          </a:prstGeom>
          <a:solidFill>
            <a:srgbClr val="0A6E4F">
              <a:alpha val="10000"/>
            </a:srgbClr>
          </a:solidFill>
          <a:ln w="12700">
            <a:solidFill>
              <a:srgbClr val="0A6E4F"/>
            </a:solidFill>
            <a:prstDash val="solid"/>
          </a:ln>
        </p:spPr>
      </p:sp>
      <p:sp>
        <p:nvSpPr>
          <p:cNvPr id="5" name="Text 3"/>
          <p:cNvSpPr/>
          <p:nvPr/>
        </p:nvSpPr>
        <p:spPr>
          <a:xfrm>
            <a:off x="731520" y="566928"/>
            <a:ext cx="7680960" cy="1261872"/>
          </a:xfrm>
          <a:prstGeom prst="rect">
            <a:avLst/>
          </a:prstGeom>
          <a:noFill/>
          <a:ln/>
        </p:spPr>
        <p:txBody>
          <a:bodyPr wrap="square" lIns="0" tIns="0" rIns="0" bIns="0" rtlCol="0" anchor="ctr"/>
          <a:lstStyle/>
          <a:p>
            <a:pPr algn="ctr" indent="0" marL="0">
              <a:buNone/>
            </a:pPr>
            <a:r>
              <a:rPr lang="en-US" sz="2400" b="1" i="1" dirty="0">
                <a:solidFill>
                  <a:srgbClr val="FFFFFF"/>
                </a:solidFill>
                <a:latin typeface="Cambria" pitchFamily="34" charset="0"/>
                <a:ea typeface="Cambria" pitchFamily="34" charset="-122"/>
                <a:cs typeface="Cambria" pitchFamily="34" charset="-120"/>
              </a:rPr>
              <a:t>"The goal is to turn data into information,</a:t>
            </a:r>
            <a:endParaRPr lang="en-US" sz="2400" dirty="0"/>
          </a:p>
          <a:p>
            <a:pPr algn="ctr" indent="0" marL="0">
              <a:buNone/>
            </a:pPr>
            <a:r>
              <a:rPr lang="en-US" sz="2400" b="1" i="1" dirty="0">
                <a:solidFill>
                  <a:srgbClr val="FFFFFF"/>
                </a:solidFill>
                <a:latin typeface="Cambria" pitchFamily="34" charset="0"/>
                <a:ea typeface="Cambria" pitchFamily="34" charset="-122"/>
                <a:cs typeface="Cambria" pitchFamily="34" charset="-120"/>
              </a:rPr>
              <a:t>and information into insight."</a:t>
            </a:r>
            <a:endParaRPr lang="en-US" sz="2400" dirty="0"/>
          </a:p>
        </p:txBody>
      </p:sp>
      <p:sp>
        <p:nvSpPr>
          <p:cNvPr id="6" name="Text 4"/>
          <p:cNvSpPr/>
          <p:nvPr/>
        </p:nvSpPr>
        <p:spPr>
          <a:xfrm>
            <a:off x="1371600" y="1938528"/>
            <a:ext cx="6400800" cy="347472"/>
          </a:xfrm>
          <a:prstGeom prst="rect">
            <a:avLst/>
          </a:prstGeom>
          <a:noFill/>
          <a:ln/>
        </p:spPr>
        <p:txBody>
          <a:bodyPr wrap="square" lIns="0" tIns="0" rIns="0" bIns="0" rtlCol="0" anchor="ctr"/>
          <a:lstStyle/>
          <a:p>
            <a:pPr algn="ctr" indent="0" marL="0">
              <a:buNone/>
            </a:pPr>
            <a:r>
              <a:rPr lang="en-US" sz="1300" dirty="0">
                <a:solidFill>
                  <a:srgbClr val="B0C0E8"/>
                </a:solidFill>
                <a:latin typeface="Calibri" pitchFamily="34" charset="0"/>
                <a:ea typeface="Calibri" pitchFamily="34" charset="-122"/>
                <a:cs typeface="Calibri" pitchFamily="34" charset="-120"/>
              </a:rPr>
              <a:t>- Carly Fiorina</a:t>
            </a:r>
            <a:endParaRPr lang="en-US" sz="1300" dirty="0"/>
          </a:p>
        </p:txBody>
      </p:sp>
      <p:sp>
        <p:nvSpPr>
          <p:cNvPr id="7" name="Shape 5"/>
          <p:cNvSpPr/>
          <p:nvPr/>
        </p:nvSpPr>
        <p:spPr>
          <a:xfrm>
            <a:off x="3200400" y="2395728"/>
            <a:ext cx="2743200" cy="0"/>
          </a:xfrm>
          <a:prstGeom prst="line">
            <a:avLst/>
          </a:prstGeom>
          <a:noFill/>
          <a:ln w="19050">
            <a:solidFill>
              <a:srgbClr val="F0C040"/>
            </a:solidFill>
            <a:prstDash val="solid"/>
          </a:ln>
        </p:spPr>
      </p:sp>
      <p:sp>
        <p:nvSpPr>
          <p:cNvPr id="8" name="Text 6"/>
          <p:cNvSpPr/>
          <p:nvPr/>
        </p:nvSpPr>
        <p:spPr>
          <a:xfrm>
            <a:off x="457200" y="2542032"/>
            <a:ext cx="822960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Congratulations</a:t>
            </a:r>
            <a:endParaRPr lang="en-US" sz="4000" dirty="0"/>
          </a:p>
        </p:txBody>
      </p:sp>
      <p:sp>
        <p:nvSpPr>
          <p:cNvPr id="9" name="Text 7"/>
          <p:cNvSpPr/>
          <p:nvPr/>
        </p:nvSpPr>
        <p:spPr>
          <a:xfrm>
            <a:off x="457200" y="3364992"/>
            <a:ext cx="8229600" cy="384048"/>
          </a:xfrm>
          <a:prstGeom prst="rect">
            <a:avLst/>
          </a:prstGeom>
          <a:noFill/>
          <a:ln/>
        </p:spPr>
        <p:txBody>
          <a:bodyPr wrap="square" lIns="0" tIns="0" rIns="0" bIns="0" rtlCol="0" anchor="ctr"/>
          <a:lstStyle/>
          <a:p>
            <a:pPr algn="ctr" indent="0" marL="0">
              <a:buNone/>
            </a:pPr>
            <a:r>
              <a:rPr lang="en-US" sz="1800" b="1" dirty="0">
                <a:solidFill>
                  <a:srgbClr val="F0C040"/>
                </a:solidFill>
                <a:latin typeface="Calibri" pitchFamily="34" charset="0"/>
                <a:ea typeface="Calibri" pitchFamily="34" charset="-122"/>
                <a:cs typeface="Calibri" pitchFamily="34" charset="-120"/>
              </a:rPr>
              <a:t>SPSS Training Programme Complete</a:t>
            </a:r>
            <a:endParaRPr lang="en-US" sz="1800" dirty="0"/>
          </a:p>
        </p:txBody>
      </p:sp>
      <p:sp>
        <p:nvSpPr>
          <p:cNvPr id="10" name="Text 8"/>
          <p:cNvSpPr/>
          <p:nvPr/>
        </p:nvSpPr>
        <p:spPr>
          <a:xfrm>
            <a:off x="457200" y="3785616"/>
            <a:ext cx="8229600" cy="320040"/>
          </a:xfrm>
          <a:prstGeom prst="rect">
            <a:avLst/>
          </a:prstGeom>
          <a:noFill/>
          <a:ln/>
        </p:spPr>
        <p:txBody>
          <a:bodyPr wrap="square" lIns="0" tIns="0" rIns="0" bIns="0" rtlCol="0" anchor="ctr"/>
          <a:lstStyle/>
          <a:p>
            <a:pPr algn="ctr" indent="0" marL="0">
              <a:buNone/>
            </a:pPr>
            <a:r>
              <a:rPr lang="en-US" sz="1300" dirty="0">
                <a:solidFill>
                  <a:srgbClr val="B0C0E8"/>
                </a:solidFill>
                <a:latin typeface="Calibri" pitchFamily="34" charset="0"/>
                <a:ea typeface="Calibri" pitchFamily="34" charset="-122"/>
                <a:cs typeface="Calibri" pitchFamily="34" charset="-120"/>
              </a:rPr>
              <a:t>5 Modules  -  20 Statistical Tests  -  1 Complete Research Project</a:t>
            </a:r>
            <a:endParaRPr lang="en-US" sz="1300" dirty="0"/>
          </a:p>
        </p:txBody>
      </p:sp>
      <p:sp>
        <p:nvSpPr>
          <p:cNvPr id="11" name="Shape 9"/>
          <p:cNvSpPr/>
          <p:nvPr/>
        </p:nvSpPr>
        <p:spPr>
          <a:xfrm>
            <a:off x="2560320" y="4169664"/>
            <a:ext cx="4023360" cy="960120"/>
          </a:xfrm>
          <a:prstGeom prst="roundRect">
            <a:avLst>
              <a:gd name="adj" fmla="val 11429"/>
            </a:avLst>
          </a:prstGeom>
          <a:solidFill>
            <a:srgbClr val="1A2D6B">
              <a:alpha val="85000"/>
            </a:srgbClr>
          </a:solidFill>
          <a:ln w="12700">
            <a:solidFill>
              <a:srgbClr val="2748A8"/>
            </a:solidFill>
            <a:prstDash val="solid"/>
          </a:ln>
        </p:spPr>
      </p:sp>
      <p:sp>
        <p:nvSpPr>
          <p:cNvPr id="12" name="Text 10"/>
          <p:cNvSpPr/>
          <p:nvPr/>
        </p:nvSpPr>
        <p:spPr>
          <a:xfrm>
            <a:off x="2560320" y="4224528"/>
            <a:ext cx="4023360"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Kajola Gbenga Adewale</a:t>
            </a:r>
            <a:endParaRPr lang="en-US" sz="1600" dirty="0"/>
          </a:p>
          <a:p>
            <a:pPr algn="ctr" indent="0" marL="0">
              <a:buNone/>
            </a:pPr>
            <a:r>
              <a:rPr lang="en-US" sz="1300" dirty="0">
                <a:solidFill>
                  <a:srgbClr val="F0C040"/>
                </a:solidFill>
                <a:latin typeface="Calibri" pitchFamily="34" charset="0"/>
                <a:ea typeface="Calibri" pitchFamily="34" charset="-122"/>
                <a:cs typeface="Calibri" pitchFamily="34" charset="-120"/>
              </a:rPr>
              <a:t>Data Expert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SPSS Module 5 - Advanced Statistical Methods</dc:title>
  <dc:subject>PptxGenJS Presentation</dc:subject>
  <dc:creator>Kajola Gbenga Adewale</dc:creator>
  <cp:lastModifiedBy>Kajola Gbenga Adewale</cp:lastModifiedBy>
  <cp:revision>1</cp:revision>
  <dcterms:created xsi:type="dcterms:W3CDTF">2026-06-27T18:33:51Z</dcterms:created>
  <dcterms:modified xsi:type="dcterms:W3CDTF">2026-06-27T18:33:51Z</dcterms:modified>
</cp:coreProperties>
</file>
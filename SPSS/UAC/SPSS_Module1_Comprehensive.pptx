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Module 1. This is the foundation module. Everything in SPSS and statistics builds on understanding what research IS and why we do it. Take time here before rushing to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Let participants know this is a comprehensive session building the research foundation before they ever open SPSS.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is not just an academic exercise. Every business decision that is made on data - pricing, recruitment, customer segmentation, product launch - rests on research. SPSS is the tool that makes that analysis rigorous.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real cases to ground the training. UAC Foods is right there in the room - their product decisions are driven by exactly this kind of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Applied research is the most common type in business settings. UAC Foods primarily needs applied research to drive product and marketing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professional research uses a mixed approach. Quantitative tells you WHAT is happening; qualitative tells you WHY. SPSS handles quantitative data. Understanding qualitative methods helps students design complete research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SPSS training datasets come from cross-sectional surveys. Understanding time frame helps students properly interpret their analysis - you cannot establish causality from a cross-sectional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weak problem statement could apply to any company anywhere. A strong problem statement is specific enough that it only applies to ONE study. If you can copy-paste a problem statement into a different study, it is too vague.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statistical test in SPSS is essentially a formal test of H0. If p &lt; .05, we reject H0. Participants should always declare their hypothesis BEFORE running analysis - post-hoc hypothesis fishing is a serious research ethics violation.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Survey/Descriptive design is by far the most common in professional SPSS training. Most of the analyses in Modules 3-5 will be based on survey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between population, sampling frame, and sample is critical. The sampling frame is often smaller than the true population (not all consumers are on the loyalty database). Coverage error occurs when the sampling frame misses important segments.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Random and Stratified are the most commonly used in SPSS training contexts. Stratified is excellent when you want to compare subgroups and need guaranteed representation from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Non-probability sampling is very common in exploratory and qualitative research, and in practical business settings where time and resources are limited. The key is being honest about limitations when reporting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researchers often add 10-20% to the calculated sample size to account for non-response, incomplete questionnaires, and data quality issues. If Yamane gives you 397, target 450 completed questionnaires.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type selection determines measurement level in SPSS. Likert scale = ordinal variable. Income bracket = ordinal. Age in years = scale. Dichotomous = nominal. Getting this right is essential for correct SPSS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Double-barrelled questions are the most common questionnaire error. Train participants to identify and fix them. In SPSS, each Likert item is one variable - they must all point in the same direction (reverse-code any negatively worded items before computing a composite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FGD and KII generate qualitative data that is NOT entered into SPSS. However, in mixed methods research, the qualitative findings help interpret and explain what the SPSS analysis reveals. For example: SPSS shows satisfaction is lower in Abuja - KIIs explain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Statistical Analysis Plan (component 11) is critically important - it specifies which SPSS tests will be used for which research objectives BEFORE data is collected. This prevents outcome-switching: looking at results and then cherry-picking which test to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participants what a real protocol looks like. The Statistical Analysis Plan is the bridge between the research design and SPSS - it connects every objective to a specific SPSS procedure.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SLIDE. Wrong measurement level = wrong test = wrong conclusions = wrong decisions. Spend extra time here. Ask participants to classify 10 variables from the UAC Foods questionnaire as Nominal, Ordinal, or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IV-DV relationship is the core of every SPSS analysis. In regression, IV = predictors, DV = outcome. In t-test/ANOVA, IV = grouping variable, DV = the measured outcome. Help participants identify these in their own research before moving to SPSS.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normal distribution is WHY most parametric SPSS tests work. Many real datasets are approximately normal with sufficient sample size (Central Limit Theorem). When data is severely non-normal, use non-parametric alternatives covered in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each window live. Most beginners confuse Data View and Variable View. Emphasise the difference: Data View shows VALUES. Variable View DEFINES the structure. Switch by clicking tabs at bottom left of the Data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Measure column is the most critical. Wrong measure type means SPSS hides appropriate tests or shows inappropriate ones. Demonstrate live: set a scale variable to Nominal and watch how the analysis options change in Analyze menus.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management is a critical practical skill. Teach participants: always SAVE AS a new file before major transformations. Keep raw data separate from cleaned data. File naming convention: UAC_Foods_Survey_Raw_20251015.sav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&gt; Export to Word is the most used export function in professional settings. Show participants how to export selected objects (just one table or chart) vs. the entire output. The Pivot Table Editor is underused but powerful for publication-quality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PASTE button is the fastest way to learn SPSS syntax. In any dialog, instead of clicking OK, click PASTE. SPSS generates the exact syntax command in the Syntax Editor. Over time, patterns become familiar and syntax writing becomes natural.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View &gt; Value Labels is one of the most frequently used options - participants should know this toggle immediately. Edit &gt; Options allows customisation of output decimal places, which is important for professional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45-60 minutes for this exercise. Tasks A-E are planning exercises; Task F is the first hands-on SPSS activity. Participants who complete Task F correctly are ready for Module 2. Review Variable View setups as a group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each takeaway briefly. Ask: which of these 10 points surprised you most? Number 6 (measurement level) and Number 10 (garbage in garbage out) typically generate the most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questions as: end-of-session quiz, group discussion prompts, or written homework. Q3 (correlation vs. causation) and Q4 (double-barrelled) generate the richest group discussions.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Module 1. Before starting Module 2, ensure all participants have: (1) successfully opened SPSS, (2) created at least one variable in Variable View with correct Name, Label, Values, and Measure, and (3) exported a simple frequency table to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Module 1 presentation. Open the floor for questions. Encourage participants to review the practice exercise overnight before Module 2 begins. The foundation they build here determines how far they can go in Modules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5943600" y="-1645920"/>
            <a:ext cx="5486400" cy="5486400"/>
          </a:xfrm>
          <a:prstGeom prst="ellipse">
            <a:avLst/>
          </a:prstGeom>
          <a:solidFill>
            <a:srgbClr val="1B5CA0">
              <a:alpha val="24000"/>
            </a:srgbClr>
          </a:solidFill>
          <a:ln w="12700">
            <a:solidFill>
              <a:srgbClr val="1B5CA0"/>
            </a:solidFill>
            <a:prstDash val="solid"/>
          </a:ln>
        </p:spPr>
      </p:sp>
      <p:sp>
        <p:nvSpPr>
          <p:cNvPr id="3" name="Shape 1"/>
          <p:cNvSpPr/>
          <p:nvPr/>
        </p:nvSpPr>
        <p:spPr>
          <a:xfrm>
            <a:off x="-1371600" y="2926080"/>
            <a:ext cx="4114800" cy="4114800"/>
          </a:xfrm>
          <a:prstGeom prst="ellipse">
            <a:avLst/>
          </a:prstGeom>
          <a:solidFill>
            <a:srgbClr val="D4A017">
              <a:alpha val="15000"/>
            </a:srgbClr>
          </a:solidFill>
          <a:ln w="12700">
            <a:solidFill>
              <a:srgbClr val="D4A017"/>
            </a:solidFill>
            <a:prstDash val="solid"/>
          </a:ln>
        </p:spPr>
      </p:sp>
      <p:sp>
        <p:nvSpPr>
          <p:cNvPr id="4" name="Shape 2"/>
          <p:cNvSpPr/>
          <p:nvPr/>
        </p:nvSpPr>
        <p:spPr>
          <a:xfrm>
            <a:off x="3474720" y="3840480"/>
            <a:ext cx="2286000" cy="2286000"/>
          </a:xfrm>
          <a:prstGeom prst="ellipse">
            <a:avLst/>
          </a:prstGeom>
          <a:solidFill>
            <a:srgbClr val="2E86C1">
              <a:alpha val="12000"/>
            </a:srgbClr>
          </a:solidFill>
          <a:ln w="12700">
            <a:solidFill>
              <a:srgbClr val="2E86C1"/>
            </a:solidFill>
            <a:prstDash val="solid"/>
          </a:ln>
        </p:spPr>
      </p:sp>
      <p:sp>
        <p:nvSpPr>
          <p:cNvPr id="5" name="Text 3"/>
          <p:cNvSpPr/>
          <p:nvPr/>
        </p:nvSpPr>
        <p:spPr>
          <a:xfrm>
            <a:off x="594360" y="914400"/>
            <a:ext cx="5486400" cy="384048"/>
          </a:xfrm>
          <a:prstGeom prst="rect">
            <a:avLst/>
          </a:prstGeom>
          <a:noFill/>
          <a:ln/>
        </p:spPr>
        <p:txBody>
          <a:bodyPr wrap="square" lIns="0" tIns="0" rIns="0" bIns="0" rtlCol="0" anchor="ctr"/>
          <a:lstStyle/>
          <a:p>
            <a:pPr indent="0" marL="0">
              <a:buNone/>
            </a:pPr>
            <a:r>
              <a:rPr lang="en-US" sz="1300" b="1" spc="400" kern="0" dirty="0">
                <a:solidFill>
                  <a:srgbClr val="D4A017"/>
                </a:solidFill>
                <a:latin typeface="Calibri" pitchFamily="34" charset="0"/>
                <a:ea typeface="Calibri" pitchFamily="34" charset="-122"/>
                <a:cs typeface="Calibri" pitchFamily="34" charset="-120"/>
              </a:rPr>
              <a:t>MODULE 1</a:t>
            </a:r>
            <a:endParaRPr lang="en-US" sz="1300" dirty="0"/>
          </a:p>
        </p:txBody>
      </p:sp>
      <p:sp>
        <p:nvSpPr>
          <p:cNvPr id="6" name="Text 4"/>
          <p:cNvSpPr/>
          <p:nvPr/>
        </p:nvSpPr>
        <p:spPr>
          <a:xfrm>
            <a:off x="594360" y="1353312"/>
            <a:ext cx="8229600" cy="11430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Introduction to Research</a:t>
            </a:r>
            <a:endParaRPr lang="en-US" sz="4600" dirty="0"/>
          </a:p>
        </p:txBody>
      </p:sp>
      <p:sp>
        <p:nvSpPr>
          <p:cNvPr id="7" name="Text 5"/>
          <p:cNvSpPr/>
          <p:nvPr/>
        </p:nvSpPr>
        <p:spPr>
          <a:xfrm>
            <a:off x="594360" y="2578608"/>
            <a:ext cx="6858000" cy="713232"/>
          </a:xfrm>
          <a:prstGeom prst="rect">
            <a:avLst/>
          </a:prstGeom>
          <a:noFill/>
          <a:ln/>
        </p:spPr>
        <p:txBody>
          <a:bodyPr wrap="square" lIns="0" tIns="0" rIns="0" bIns="0" rtlCol="0" anchor="ctr"/>
          <a:lstStyle/>
          <a:p>
            <a:pPr indent="0" marL="0">
              <a:buNone/>
            </a:pPr>
            <a:r>
              <a:rPr lang="en-US" sz="1600" dirty="0">
                <a:solidFill>
                  <a:srgbClr val="A8C8E8"/>
                </a:solidFill>
                <a:latin typeface="Calibri" pitchFamily="34" charset="0"/>
                <a:ea typeface="Calibri" pitchFamily="34" charset="-122"/>
                <a:cs typeface="Calibri" pitchFamily="34" charset="-120"/>
              </a:rPr>
              <a:t>Statistical Concepts, Research Design, Sampling,</a:t>
            </a:r>
            <a:endParaRPr lang="en-US" sz="1600" dirty="0"/>
          </a:p>
          <a:p>
            <a:pPr indent="0" marL="0">
              <a:buNone/>
            </a:pPr>
            <a:r>
              <a:rPr lang="en-US" sz="1600" dirty="0">
                <a:solidFill>
                  <a:srgbClr val="A8C8E8"/>
                </a:solidFill>
                <a:latin typeface="Calibri" pitchFamily="34" charset="0"/>
                <a:ea typeface="Calibri" pitchFamily="34" charset="-122"/>
                <a:cs typeface="Calibri" pitchFamily="34" charset="-120"/>
              </a:rPr>
              <a:t>Data Collection and Research Protocols</a:t>
            </a:r>
            <a:endParaRPr lang="en-US" sz="1600" dirty="0"/>
          </a:p>
        </p:txBody>
      </p:sp>
      <p:sp>
        <p:nvSpPr>
          <p:cNvPr id="8" name="Text 6"/>
          <p:cNvSpPr/>
          <p:nvPr/>
        </p:nvSpPr>
        <p:spPr>
          <a:xfrm>
            <a:off x="594360" y="3383280"/>
            <a:ext cx="6400800" cy="320040"/>
          </a:xfrm>
          <a:prstGeom prst="rect">
            <a:avLst/>
          </a:prstGeom>
          <a:noFill/>
          <a:ln/>
        </p:spPr>
        <p:txBody>
          <a:bodyPr wrap="square" lIns="0" tIns="0" rIns="0" bIns="0" rtlCol="0" anchor="ctr"/>
          <a:lstStyle/>
          <a:p>
            <a:pPr indent="0" marL="0">
              <a:buNone/>
            </a:pPr>
            <a:r>
              <a:rPr lang="en-US" sz="1200" i="1" dirty="0">
                <a:solidFill>
                  <a:srgbClr val="F0C040"/>
                </a:solidFill>
                <a:latin typeface="Calibri" pitchFamily="34" charset="0"/>
                <a:ea typeface="Calibri" pitchFamily="34" charset="-122"/>
                <a:cs typeface="Calibri" pitchFamily="34" charset="-120"/>
              </a:rPr>
              <a:t>IBM SPSS Statistics Training  -  UAC Foods Limited</a:t>
            </a:r>
            <a:endParaRPr lang="en-US" sz="1200" dirty="0"/>
          </a:p>
        </p:txBody>
      </p:sp>
      <p:sp>
        <p:nvSpPr>
          <p:cNvPr id="9" name="Shape 7"/>
          <p:cNvSpPr/>
          <p:nvPr/>
        </p:nvSpPr>
        <p:spPr>
          <a:xfrm>
            <a:off x="594360" y="3931920"/>
            <a:ext cx="3657600" cy="896112"/>
          </a:xfrm>
          <a:prstGeom prst="roundRect">
            <a:avLst>
              <a:gd name="adj" fmla="val 10204"/>
            </a:avLst>
          </a:prstGeom>
          <a:solidFill>
            <a:srgbClr val="1B5CA0">
              <a:alpha val="85000"/>
            </a:srgbClr>
          </a:solidFill>
          <a:ln w="12700">
            <a:solidFill>
              <a:srgbClr val="2E86C1"/>
            </a:solidFill>
            <a:prstDash val="solid"/>
          </a:ln>
        </p:spPr>
      </p:sp>
      <p:sp>
        <p:nvSpPr>
          <p:cNvPr id="10" name="Text 8"/>
          <p:cNvSpPr/>
          <p:nvPr/>
        </p:nvSpPr>
        <p:spPr>
          <a:xfrm>
            <a:off x="594360" y="3968496"/>
            <a:ext cx="3657600" cy="8046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Kajola Gbenga Adewale</a:t>
            </a:r>
            <a:endParaRPr lang="en-US" sz="1400" dirty="0"/>
          </a:p>
          <a:p>
            <a:pPr algn="ctr" indent="0" marL="0">
              <a:buNone/>
            </a:pPr>
            <a:r>
              <a:rPr lang="en-US" sz="1200" dirty="0">
                <a:solidFill>
                  <a:srgbClr val="F0C040"/>
                </a:solidFill>
                <a:latin typeface="Calibri" pitchFamily="34" charset="0"/>
                <a:ea typeface="Calibri" pitchFamily="34" charset="-122"/>
                <a:cs typeface="Calibri" pitchFamily="34" charset="-120"/>
              </a:rPr>
              <a:t>Data Expert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F1E3C"/>
          </a:solidFill>
          <a:ln w="12700">
            <a:solidFill>
              <a:srgbClr val="0F1E3C"/>
            </a:solidFill>
            <a:prstDash val="solid"/>
          </a:ln>
        </p:spPr>
      </p:sp>
      <p:sp>
        <p:nvSpPr>
          <p:cNvPr id="3" name="Text 1"/>
          <p:cNvSpPr/>
          <p:nvPr/>
        </p:nvSpPr>
        <p:spPr>
          <a:xfrm>
            <a:off x="137160" y="1097280"/>
            <a:ext cx="2633472" cy="14630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MODULE 1</a:t>
            </a: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COMPLETE</a:t>
            </a: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AGENDA</a:t>
            </a:r>
            <a:endParaRPr lang="en-US" sz="2200" dirty="0"/>
          </a:p>
        </p:txBody>
      </p:sp>
      <p:sp>
        <p:nvSpPr>
          <p:cNvPr id="4" name="Shape 2"/>
          <p:cNvSpPr/>
          <p:nvPr/>
        </p:nvSpPr>
        <p:spPr>
          <a:xfrm>
            <a:off x="365760" y="2697480"/>
            <a:ext cx="2194560" cy="45720"/>
          </a:xfrm>
          <a:prstGeom prst="rect">
            <a:avLst/>
          </a:prstGeom>
          <a:solidFill>
            <a:srgbClr val="D4A017"/>
          </a:solidFill>
          <a:ln w="12700">
            <a:solidFill>
              <a:srgbClr val="D4A017"/>
            </a:solidFill>
            <a:prstDash val="solid"/>
          </a:ln>
        </p:spPr>
      </p:sp>
      <p:sp>
        <p:nvSpPr>
          <p:cNvPr id="5" name="Text 3"/>
          <p:cNvSpPr/>
          <p:nvPr/>
        </p:nvSpPr>
        <p:spPr>
          <a:xfrm>
            <a:off x="137160" y="2834640"/>
            <a:ext cx="2633472" cy="365760"/>
          </a:xfrm>
          <a:prstGeom prst="rect">
            <a:avLst/>
          </a:prstGeom>
          <a:noFill/>
          <a:ln/>
        </p:spPr>
        <p:txBody>
          <a:bodyPr wrap="square" lIns="0" tIns="0" rIns="0" bIns="0" rtlCol="0" anchor="ctr"/>
          <a:lstStyle/>
          <a:p>
            <a:pPr algn="ctr" indent="0" marL="0">
              <a:buNone/>
            </a:pPr>
            <a:r>
              <a:rPr lang="en-US" sz="1200" dirty="0">
                <a:solidFill>
                  <a:srgbClr val="F0C040"/>
                </a:solidFill>
                <a:latin typeface="Calibri" pitchFamily="34" charset="0"/>
                <a:ea typeface="Calibri" pitchFamily="34" charset="-122"/>
                <a:cs typeface="Calibri" pitchFamily="34" charset="-120"/>
              </a:rPr>
              <a:t>10 Core Topics</a:t>
            </a:r>
            <a:endParaRPr lang="en-US" sz="1200" dirty="0"/>
          </a:p>
        </p:txBody>
      </p:sp>
      <p:sp>
        <p:nvSpPr>
          <p:cNvPr id="6" name="Shape 4"/>
          <p:cNvSpPr/>
          <p:nvPr/>
        </p:nvSpPr>
        <p:spPr>
          <a:xfrm>
            <a:off x="3063240" y="256032"/>
            <a:ext cx="2880360" cy="822960"/>
          </a:xfrm>
          <a:prstGeom prst="roundRect">
            <a:avLst>
              <a:gd name="adj" fmla="val 7778"/>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3154680" y="457200"/>
            <a:ext cx="347472" cy="347472"/>
          </a:xfrm>
          <a:prstGeom prst="roundRect">
            <a:avLst>
              <a:gd name="adj" fmla="val 13158"/>
            </a:avLst>
          </a:prstGeom>
          <a:solidFill>
            <a:srgbClr val="1A3562"/>
          </a:solidFill>
          <a:ln w="12700">
            <a:solidFill>
              <a:srgbClr val="1A3562"/>
            </a:solidFill>
            <a:prstDash val="solid"/>
          </a:ln>
        </p:spPr>
      </p:sp>
      <p:sp>
        <p:nvSpPr>
          <p:cNvPr id="8" name="Text 6"/>
          <p:cNvSpPr/>
          <p:nvPr/>
        </p:nvSpPr>
        <p:spPr>
          <a:xfrm>
            <a:off x="3154680" y="457200"/>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01</a:t>
            </a:r>
            <a:endParaRPr lang="en-US" sz="900" dirty="0"/>
          </a:p>
        </p:txBody>
      </p:sp>
      <p:sp>
        <p:nvSpPr>
          <p:cNvPr id="9" name="Text 7"/>
          <p:cNvSpPr/>
          <p:nvPr/>
        </p:nvSpPr>
        <p:spPr>
          <a:xfrm>
            <a:off x="3593592" y="347472"/>
            <a:ext cx="2286000" cy="292608"/>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What is Research?</a:t>
            </a:r>
            <a:endParaRPr lang="en-US" sz="1100" dirty="0"/>
          </a:p>
        </p:txBody>
      </p:sp>
      <p:sp>
        <p:nvSpPr>
          <p:cNvPr id="10" name="Text 8"/>
          <p:cNvSpPr/>
          <p:nvPr/>
        </p:nvSpPr>
        <p:spPr>
          <a:xfrm>
            <a:off x="3593592" y="658368"/>
            <a:ext cx="228600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Definition, purpose and types</a:t>
            </a:r>
            <a:endParaRPr lang="en-US" sz="900" dirty="0"/>
          </a:p>
        </p:txBody>
      </p:sp>
      <p:sp>
        <p:nvSpPr>
          <p:cNvPr id="11" name="Shape 9"/>
          <p:cNvSpPr/>
          <p:nvPr/>
        </p:nvSpPr>
        <p:spPr>
          <a:xfrm>
            <a:off x="3063240" y="1188720"/>
            <a:ext cx="2880360" cy="822960"/>
          </a:xfrm>
          <a:prstGeom prst="roundRect">
            <a:avLst>
              <a:gd name="adj" fmla="val 7778"/>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2" name="Shape 10"/>
          <p:cNvSpPr/>
          <p:nvPr/>
        </p:nvSpPr>
        <p:spPr>
          <a:xfrm>
            <a:off x="3154680" y="1389888"/>
            <a:ext cx="347472" cy="347472"/>
          </a:xfrm>
          <a:prstGeom prst="roundRect">
            <a:avLst>
              <a:gd name="adj" fmla="val 13158"/>
            </a:avLst>
          </a:prstGeom>
          <a:solidFill>
            <a:srgbClr val="1A3562"/>
          </a:solidFill>
          <a:ln w="12700">
            <a:solidFill>
              <a:srgbClr val="1A3562"/>
            </a:solidFill>
            <a:prstDash val="solid"/>
          </a:ln>
        </p:spPr>
      </p:sp>
      <p:sp>
        <p:nvSpPr>
          <p:cNvPr id="13" name="Text 11"/>
          <p:cNvSpPr/>
          <p:nvPr/>
        </p:nvSpPr>
        <p:spPr>
          <a:xfrm>
            <a:off x="3154680" y="1389888"/>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02</a:t>
            </a:r>
            <a:endParaRPr lang="en-US" sz="900" dirty="0"/>
          </a:p>
        </p:txBody>
      </p:sp>
      <p:sp>
        <p:nvSpPr>
          <p:cNvPr id="14" name="Text 12"/>
          <p:cNvSpPr/>
          <p:nvPr/>
        </p:nvSpPr>
        <p:spPr>
          <a:xfrm>
            <a:off x="3593592" y="1280160"/>
            <a:ext cx="2286000" cy="292608"/>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Types of Research</a:t>
            </a:r>
            <a:endParaRPr lang="en-US" sz="1100" dirty="0"/>
          </a:p>
        </p:txBody>
      </p:sp>
      <p:sp>
        <p:nvSpPr>
          <p:cNvPr id="15" name="Text 13"/>
          <p:cNvSpPr/>
          <p:nvPr/>
        </p:nvSpPr>
        <p:spPr>
          <a:xfrm>
            <a:off x="3593592" y="1591056"/>
            <a:ext cx="228600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Quantitative, qualitative, mixed</a:t>
            </a:r>
            <a:endParaRPr lang="en-US" sz="900" dirty="0"/>
          </a:p>
        </p:txBody>
      </p:sp>
      <p:sp>
        <p:nvSpPr>
          <p:cNvPr id="16" name="Shape 14"/>
          <p:cNvSpPr/>
          <p:nvPr/>
        </p:nvSpPr>
        <p:spPr>
          <a:xfrm>
            <a:off x="3063240" y="2121408"/>
            <a:ext cx="2880360" cy="822960"/>
          </a:xfrm>
          <a:prstGeom prst="roundRect">
            <a:avLst>
              <a:gd name="adj" fmla="val 7778"/>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154680" y="2322576"/>
            <a:ext cx="347472" cy="347472"/>
          </a:xfrm>
          <a:prstGeom prst="roundRect">
            <a:avLst>
              <a:gd name="adj" fmla="val 13158"/>
            </a:avLst>
          </a:prstGeom>
          <a:solidFill>
            <a:srgbClr val="1A3562"/>
          </a:solidFill>
          <a:ln w="12700">
            <a:solidFill>
              <a:srgbClr val="1A3562"/>
            </a:solidFill>
            <a:prstDash val="solid"/>
          </a:ln>
        </p:spPr>
      </p:sp>
      <p:sp>
        <p:nvSpPr>
          <p:cNvPr id="18" name="Text 16"/>
          <p:cNvSpPr/>
          <p:nvPr/>
        </p:nvSpPr>
        <p:spPr>
          <a:xfrm>
            <a:off x="3154680" y="2322576"/>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03</a:t>
            </a:r>
            <a:endParaRPr lang="en-US" sz="900" dirty="0"/>
          </a:p>
        </p:txBody>
      </p:sp>
      <p:sp>
        <p:nvSpPr>
          <p:cNvPr id="19" name="Text 17"/>
          <p:cNvSpPr/>
          <p:nvPr/>
        </p:nvSpPr>
        <p:spPr>
          <a:xfrm>
            <a:off x="3593592" y="2212848"/>
            <a:ext cx="2286000" cy="292608"/>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Research Problem &amp; Hypothesis</a:t>
            </a:r>
            <a:endParaRPr lang="en-US" sz="1100" dirty="0"/>
          </a:p>
        </p:txBody>
      </p:sp>
      <p:sp>
        <p:nvSpPr>
          <p:cNvPr id="20" name="Text 18"/>
          <p:cNvSpPr/>
          <p:nvPr/>
        </p:nvSpPr>
        <p:spPr>
          <a:xfrm>
            <a:off x="3593592" y="2523744"/>
            <a:ext cx="228600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Formulation, null vs. alternative</a:t>
            </a:r>
            <a:endParaRPr lang="en-US" sz="900" dirty="0"/>
          </a:p>
        </p:txBody>
      </p:sp>
      <p:sp>
        <p:nvSpPr>
          <p:cNvPr id="21" name="Shape 19"/>
          <p:cNvSpPr/>
          <p:nvPr/>
        </p:nvSpPr>
        <p:spPr>
          <a:xfrm>
            <a:off x="3063240" y="3054096"/>
            <a:ext cx="2880360" cy="822960"/>
          </a:xfrm>
          <a:prstGeom prst="roundRect">
            <a:avLst>
              <a:gd name="adj" fmla="val 7778"/>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22" name="Shape 20"/>
          <p:cNvSpPr/>
          <p:nvPr/>
        </p:nvSpPr>
        <p:spPr>
          <a:xfrm>
            <a:off x="3154680" y="3255264"/>
            <a:ext cx="347472" cy="347472"/>
          </a:xfrm>
          <a:prstGeom prst="roundRect">
            <a:avLst>
              <a:gd name="adj" fmla="val 13158"/>
            </a:avLst>
          </a:prstGeom>
          <a:solidFill>
            <a:srgbClr val="1A3562"/>
          </a:solidFill>
          <a:ln w="12700">
            <a:solidFill>
              <a:srgbClr val="1A3562"/>
            </a:solidFill>
            <a:prstDash val="solid"/>
          </a:ln>
        </p:spPr>
      </p:sp>
      <p:sp>
        <p:nvSpPr>
          <p:cNvPr id="23" name="Text 21"/>
          <p:cNvSpPr/>
          <p:nvPr/>
        </p:nvSpPr>
        <p:spPr>
          <a:xfrm>
            <a:off x="3154680" y="3255264"/>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04</a:t>
            </a:r>
            <a:endParaRPr lang="en-US" sz="900" dirty="0"/>
          </a:p>
        </p:txBody>
      </p:sp>
      <p:sp>
        <p:nvSpPr>
          <p:cNvPr id="24" name="Text 22"/>
          <p:cNvSpPr/>
          <p:nvPr/>
        </p:nvSpPr>
        <p:spPr>
          <a:xfrm>
            <a:off x="3593592" y="3145536"/>
            <a:ext cx="2286000" cy="292608"/>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Research Design</a:t>
            </a:r>
            <a:endParaRPr lang="en-US" sz="1100" dirty="0"/>
          </a:p>
        </p:txBody>
      </p:sp>
      <p:sp>
        <p:nvSpPr>
          <p:cNvPr id="25" name="Text 23"/>
          <p:cNvSpPr/>
          <p:nvPr/>
        </p:nvSpPr>
        <p:spPr>
          <a:xfrm>
            <a:off x="3593592" y="3456432"/>
            <a:ext cx="228600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Experimental, survey, case study</a:t>
            </a:r>
            <a:endParaRPr lang="en-US" sz="900" dirty="0"/>
          </a:p>
        </p:txBody>
      </p:sp>
      <p:sp>
        <p:nvSpPr>
          <p:cNvPr id="26" name="Shape 24"/>
          <p:cNvSpPr/>
          <p:nvPr/>
        </p:nvSpPr>
        <p:spPr>
          <a:xfrm>
            <a:off x="3063240" y="3986784"/>
            <a:ext cx="2880360" cy="822960"/>
          </a:xfrm>
          <a:prstGeom prst="roundRect">
            <a:avLst>
              <a:gd name="adj" fmla="val 7778"/>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27" name="Shape 25"/>
          <p:cNvSpPr/>
          <p:nvPr/>
        </p:nvSpPr>
        <p:spPr>
          <a:xfrm>
            <a:off x="3154680" y="4187952"/>
            <a:ext cx="347472" cy="347472"/>
          </a:xfrm>
          <a:prstGeom prst="roundRect">
            <a:avLst>
              <a:gd name="adj" fmla="val 13158"/>
            </a:avLst>
          </a:prstGeom>
          <a:solidFill>
            <a:srgbClr val="1A3562"/>
          </a:solidFill>
          <a:ln w="12700">
            <a:solidFill>
              <a:srgbClr val="1A3562"/>
            </a:solidFill>
            <a:prstDash val="solid"/>
          </a:ln>
        </p:spPr>
      </p:sp>
      <p:sp>
        <p:nvSpPr>
          <p:cNvPr id="28" name="Text 26"/>
          <p:cNvSpPr/>
          <p:nvPr/>
        </p:nvSpPr>
        <p:spPr>
          <a:xfrm>
            <a:off x="3154680" y="4187952"/>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05</a:t>
            </a:r>
            <a:endParaRPr lang="en-US" sz="900" dirty="0"/>
          </a:p>
        </p:txBody>
      </p:sp>
      <p:sp>
        <p:nvSpPr>
          <p:cNvPr id="29" name="Text 27"/>
          <p:cNvSpPr/>
          <p:nvPr/>
        </p:nvSpPr>
        <p:spPr>
          <a:xfrm>
            <a:off x="3593592" y="4078224"/>
            <a:ext cx="2286000" cy="292608"/>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Sampling</a:t>
            </a:r>
            <a:endParaRPr lang="en-US" sz="1100" dirty="0"/>
          </a:p>
        </p:txBody>
      </p:sp>
      <p:sp>
        <p:nvSpPr>
          <p:cNvPr id="30" name="Text 28"/>
          <p:cNvSpPr/>
          <p:nvPr/>
        </p:nvSpPr>
        <p:spPr>
          <a:xfrm>
            <a:off x="3593592" y="4389120"/>
            <a:ext cx="228600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Techniques and sample size determination</a:t>
            </a:r>
            <a:endParaRPr lang="en-US" sz="900" dirty="0"/>
          </a:p>
        </p:txBody>
      </p:sp>
      <p:sp>
        <p:nvSpPr>
          <p:cNvPr id="31" name="Shape 29"/>
          <p:cNvSpPr/>
          <p:nvPr/>
        </p:nvSpPr>
        <p:spPr>
          <a:xfrm>
            <a:off x="6080760" y="256032"/>
            <a:ext cx="2880360" cy="822960"/>
          </a:xfrm>
          <a:prstGeom prst="roundRect">
            <a:avLst>
              <a:gd name="adj" fmla="val 7778"/>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32" name="Shape 30"/>
          <p:cNvSpPr/>
          <p:nvPr/>
        </p:nvSpPr>
        <p:spPr>
          <a:xfrm>
            <a:off x="6172200" y="457200"/>
            <a:ext cx="347472" cy="347472"/>
          </a:xfrm>
          <a:prstGeom prst="roundRect">
            <a:avLst>
              <a:gd name="adj" fmla="val 13158"/>
            </a:avLst>
          </a:prstGeom>
          <a:solidFill>
            <a:srgbClr val="1A3562"/>
          </a:solidFill>
          <a:ln w="12700">
            <a:solidFill>
              <a:srgbClr val="1A3562"/>
            </a:solidFill>
            <a:prstDash val="solid"/>
          </a:ln>
        </p:spPr>
      </p:sp>
      <p:sp>
        <p:nvSpPr>
          <p:cNvPr id="33" name="Text 31"/>
          <p:cNvSpPr/>
          <p:nvPr/>
        </p:nvSpPr>
        <p:spPr>
          <a:xfrm>
            <a:off x="6172200" y="457200"/>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06</a:t>
            </a:r>
            <a:endParaRPr lang="en-US" sz="900" dirty="0"/>
          </a:p>
        </p:txBody>
      </p:sp>
      <p:sp>
        <p:nvSpPr>
          <p:cNvPr id="34" name="Text 32"/>
          <p:cNvSpPr/>
          <p:nvPr/>
        </p:nvSpPr>
        <p:spPr>
          <a:xfrm>
            <a:off x="6611112" y="347472"/>
            <a:ext cx="2286000" cy="292608"/>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Data Collection Tools</a:t>
            </a:r>
            <a:endParaRPr lang="en-US" sz="1100" dirty="0"/>
          </a:p>
        </p:txBody>
      </p:sp>
      <p:sp>
        <p:nvSpPr>
          <p:cNvPr id="35" name="Text 33"/>
          <p:cNvSpPr/>
          <p:nvPr/>
        </p:nvSpPr>
        <p:spPr>
          <a:xfrm>
            <a:off x="6611112" y="658368"/>
            <a:ext cx="228600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Questionnaire, FGD, KII design</a:t>
            </a:r>
            <a:endParaRPr lang="en-US" sz="900" dirty="0"/>
          </a:p>
        </p:txBody>
      </p:sp>
      <p:sp>
        <p:nvSpPr>
          <p:cNvPr id="36" name="Shape 34"/>
          <p:cNvSpPr/>
          <p:nvPr/>
        </p:nvSpPr>
        <p:spPr>
          <a:xfrm>
            <a:off x="6080760" y="1188720"/>
            <a:ext cx="2880360" cy="822960"/>
          </a:xfrm>
          <a:prstGeom prst="roundRect">
            <a:avLst>
              <a:gd name="adj" fmla="val 7778"/>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37" name="Shape 35"/>
          <p:cNvSpPr/>
          <p:nvPr/>
        </p:nvSpPr>
        <p:spPr>
          <a:xfrm>
            <a:off x="6172200" y="1389888"/>
            <a:ext cx="347472" cy="347472"/>
          </a:xfrm>
          <a:prstGeom prst="roundRect">
            <a:avLst>
              <a:gd name="adj" fmla="val 13158"/>
            </a:avLst>
          </a:prstGeom>
          <a:solidFill>
            <a:srgbClr val="1A3562"/>
          </a:solidFill>
          <a:ln w="12700">
            <a:solidFill>
              <a:srgbClr val="1A3562"/>
            </a:solidFill>
            <a:prstDash val="solid"/>
          </a:ln>
        </p:spPr>
      </p:sp>
      <p:sp>
        <p:nvSpPr>
          <p:cNvPr id="38" name="Text 36"/>
          <p:cNvSpPr/>
          <p:nvPr/>
        </p:nvSpPr>
        <p:spPr>
          <a:xfrm>
            <a:off x="6172200" y="1389888"/>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07</a:t>
            </a:r>
            <a:endParaRPr lang="en-US" sz="900" dirty="0"/>
          </a:p>
        </p:txBody>
      </p:sp>
      <p:sp>
        <p:nvSpPr>
          <p:cNvPr id="39" name="Text 37"/>
          <p:cNvSpPr/>
          <p:nvPr/>
        </p:nvSpPr>
        <p:spPr>
          <a:xfrm>
            <a:off x="6611112" y="1280160"/>
            <a:ext cx="2286000" cy="292608"/>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Research Protocol</a:t>
            </a:r>
            <a:endParaRPr lang="en-US" sz="1100" dirty="0"/>
          </a:p>
        </p:txBody>
      </p:sp>
      <p:sp>
        <p:nvSpPr>
          <p:cNvPr id="40" name="Text 38"/>
          <p:cNvSpPr/>
          <p:nvPr/>
        </p:nvSpPr>
        <p:spPr>
          <a:xfrm>
            <a:off x="6611112" y="1591056"/>
            <a:ext cx="228600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Structure, concepts, development</a:t>
            </a:r>
            <a:endParaRPr lang="en-US" sz="900" dirty="0"/>
          </a:p>
        </p:txBody>
      </p:sp>
      <p:sp>
        <p:nvSpPr>
          <p:cNvPr id="41" name="Shape 39"/>
          <p:cNvSpPr/>
          <p:nvPr/>
        </p:nvSpPr>
        <p:spPr>
          <a:xfrm>
            <a:off x="6080760" y="2121408"/>
            <a:ext cx="2880360" cy="822960"/>
          </a:xfrm>
          <a:prstGeom prst="roundRect">
            <a:avLst>
              <a:gd name="adj" fmla="val 7778"/>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42" name="Shape 40"/>
          <p:cNvSpPr/>
          <p:nvPr/>
        </p:nvSpPr>
        <p:spPr>
          <a:xfrm>
            <a:off x="6172200" y="2322576"/>
            <a:ext cx="347472" cy="347472"/>
          </a:xfrm>
          <a:prstGeom prst="roundRect">
            <a:avLst>
              <a:gd name="adj" fmla="val 13158"/>
            </a:avLst>
          </a:prstGeom>
          <a:solidFill>
            <a:srgbClr val="1A3562"/>
          </a:solidFill>
          <a:ln w="12700">
            <a:solidFill>
              <a:srgbClr val="1A3562"/>
            </a:solidFill>
            <a:prstDash val="solid"/>
          </a:ln>
        </p:spPr>
      </p:sp>
      <p:sp>
        <p:nvSpPr>
          <p:cNvPr id="43" name="Text 41"/>
          <p:cNvSpPr/>
          <p:nvPr/>
        </p:nvSpPr>
        <p:spPr>
          <a:xfrm>
            <a:off x="6172200" y="2322576"/>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08</a:t>
            </a:r>
            <a:endParaRPr lang="en-US" sz="900" dirty="0"/>
          </a:p>
        </p:txBody>
      </p:sp>
      <p:sp>
        <p:nvSpPr>
          <p:cNvPr id="44" name="Text 42"/>
          <p:cNvSpPr/>
          <p:nvPr/>
        </p:nvSpPr>
        <p:spPr>
          <a:xfrm>
            <a:off x="6611112" y="2212848"/>
            <a:ext cx="2286000" cy="292608"/>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Statistical Concepts</a:t>
            </a:r>
            <a:endParaRPr lang="en-US" sz="1100" dirty="0"/>
          </a:p>
        </p:txBody>
      </p:sp>
      <p:sp>
        <p:nvSpPr>
          <p:cNvPr id="45" name="Text 43"/>
          <p:cNvSpPr/>
          <p:nvPr/>
        </p:nvSpPr>
        <p:spPr>
          <a:xfrm>
            <a:off x="6611112" y="2523744"/>
            <a:ext cx="228600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Data types, variables, distributions</a:t>
            </a:r>
            <a:endParaRPr lang="en-US" sz="900" dirty="0"/>
          </a:p>
        </p:txBody>
      </p:sp>
      <p:sp>
        <p:nvSpPr>
          <p:cNvPr id="46" name="Shape 44"/>
          <p:cNvSpPr/>
          <p:nvPr/>
        </p:nvSpPr>
        <p:spPr>
          <a:xfrm>
            <a:off x="6080760" y="3054096"/>
            <a:ext cx="2880360" cy="822960"/>
          </a:xfrm>
          <a:prstGeom prst="roundRect">
            <a:avLst>
              <a:gd name="adj" fmla="val 7778"/>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47" name="Shape 45"/>
          <p:cNvSpPr/>
          <p:nvPr/>
        </p:nvSpPr>
        <p:spPr>
          <a:xfrm>
            <a:off x="6172200" y="3255264"/>
            <a:ext cx="347472" cy="347472"/>
          </a:xfrm>
          <a:prstGeom prst="roundRect">
            <a:avLst>
              <a:gd name="adj" fmla="val 13158"/>
            </a:avLst>
          </a:prstGeom>
          <a:solidFill>
            <a:srgbClr val="1A3562"/>
          </a:solidFill>
          <a:ln w="12700">
            <a:solidFill>
              <a:srgbClr val="1A3562"/>
            </a:solidFill>
            <a:prstDash val="solid"/>
          </a:ln>
        </p:spPr>
      </p:sp>
      <p:sp>
        <p:nvSpPr>
          <p:cNvPr id="48" name="Text 46"/>
          <p:cNvSpPr/>
          <p:nvPr/>
        </p:nvSpPr>
        <p:spPr>
          <a:xfrm>
            <a:off x="6172200" y="3255264"/>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09</a:t>
            </a:r>
            <a:endParaRPr lang="en-US" sz="900" dirty="0"/>
          </a:p>
        </p:txBody>
      </p:sp>
      <p:sp>
        <p:nvSpPr>
          <p:cNvPr id="49" name="Text 47"/>
          <p:cNvSpPr/>
          <p:nvPr/>
        </p:nvSpPr>
        <p:spPr>
          <a:xfrm>
            <a:off x="6611112" y="3145536"/>
            <a:ext cx="2286000" cy="292608"/>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Overview of SPSS</a:t>
            </a:r>
            <a:endParaRPr lang="en-US" sz="1100" dirty="0"/>
          </a:p>
        </p:txBody>
      </p:sp>
      <p:sp>
        <p:nvSpPr>
          <p:cNvPr id="50" name="Text 48"/>
          <p:cNvSpPr/>
          <p:nvPr/>
        </p:nvSpPr>
        <p:spPr>
          <a:xfrm>
            <a:off x="6611112" y="3456432"/>
            <a:ext cx="228600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Interface, windows, file management</a:t>
            </a:r>
            <a:endParaRPr lang="en-US" sz="900" dirty="0"/>
          </a:p>
        </p:txBody>
      </p:sp>
      <p:sp>
        <p:nvSpPr>
          <p:cNvPr id="51" name="Shape 49"/>
          <p:cNvSpPr/>
          <p:nvPr/>
        </p:nvSpPr>
        <p:spPr>
          <a:xfrm>
            <a:off x="6080760" y="3986784"/>
            <a:ext cx="2880360" cy="822960"/>
          </a:xfrm>
          <a:prstGeom prst="roundRect">
            <a:avLst>
              <a:gd name="adj" fmla="val 7778"/>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52" name="Shape 50"/>
          <p:cNvSpPr/>
          <p:nvPr/>
        </p:nvSpPr>
        <p:spPr>
          <a:xfrm>
            <a:off x="6172200" y="4187952"/>
            <a:ext cx="347472" cy="347472"/>
          </a:xfrm>
          <a:prstGeom prst="roundRect">
            <a:avLst>
              <a:gd name="adj" fmla="val 13158"/>
            </a:avLst>
          </a:prstGeom>
          <a:solidFill>
            <a:srgbClr val="1A3562"/>
          </a:solidFill>
          <a:ln w="12700">
            <a:solidFill>
              <a:srgbClr val="1A3562"/>
            </a:solidFill>
            <a:prstDash val="solid"/>
          </a:ln>
        </p:spPr>
      </p:sp>
      <p:sp>
        <p:nvSpPr>
          <p:cNvPr id="53" name="Text 51"/>
          <p:cNvSpPr/>
          <p:nvPr/>
        </p:nvSpPr>
        <p:spPr>
          <a:xfrm>
            <a:off x="6172200" y="4187952"/>
            <a:ext cx="347472" cy="347472"/>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10</a:t>
            </a:r>
            <a:endParaRPr lang="en-US" sz="900" dirty="0"/>
          </a:p>
        </p:txBody>
      </p:sp>
      <p:sp>
        <p:nvSpPr>
          <p:cNvPr id="54" name="Text 52"/>
          <p:cNvSpPr/>
          <p:nvPr/>
        </p:nvSpPr>
        <p:spPr>
          <a:xfrm>
            <a:off x="6611112" y="4078224"/>
            <a:ext cx="2286000" cy="292608"/>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SPSS Programming Basics</a:t>
            </a:r>
            <a:endParaRPr lang="en-US" sz="1100" dirty="0"/>
          </a:p>
        </p:txBody>
      </p:sp>
      <p:sp>
        <p:nvSpPr>
          <p:cNvPr id="55" name="Text 53"/>
          <p:cNvSpPr/>
          <p:nvPr/>
        </p:nvSpPr>
        <p:spPr>
          <a:xfrm>
            <a:off x="6611112" y="4389120"/>
            <a:ext cx="2286000" cy="347472"/>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Syntax, output, editing functions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B5CA0">
              <a:alpha val="18000"/>
            </a:srgbClr>
          </a:solidFill>
          <a:ln w="12700">
            <a:solidFill>
              <a:srgbClr val="1B5CA0"/>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1  |  SECTION 01</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What is Research?</a:t>
            </a:r>
            <a:endParaRPr lang="en-US" sz="42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A8C8E8"/>
                </a:solidFill>
                <a:latin typeface="Calibri" pitchFamily="34" charset="0"/>
                <a:ea typeface="Calibri" pitchFamily="34" charset="-122"/>
                <a:cs typeface="Calibri" pitchFamily="34" charset="-120"/>
              </a:rPr>
              <a:t>Understanding the systematic process that transforms questions into evidence-based answers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562"/>
          </a:solidFill>
          <a:ln w="12700">
            <a:solidFill>
              <a:srgbClr val="1A3562"/>
            </a:solidFill>
            <a:prstDash val="solid"/>
          </a:ln>
        </p:spPr>
      </p:sp>
      <p:sp>
        <p:nvSpPr>
          <p:cNvPr id="3" name="Text 1"/>
          <p:cNvSpPr/>
          <p:nvPr/>
        </p:nvSpPr>
        <p:spPr>
          <a:xfrm>
            <a:off x="457200" y="109728"/>
            <a:ext cx="8229600" cy="713232"/>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What is Research?</a:t>
            </a:r>
            <a:endParaRPr lang="en-US" sz="2600" dirty="0"/>
          </a:p>
        </p:txBody>
      </p:sp>
      <p:sp>
        <p:nvSpPr>
          <p:cNvPr id="4" name="Shape 2"/>
          <p:cNvSpPr/>
          <p:nvPr/>
        </p:nvSpPr>
        <p:spPr>
          <a:xfrm>
            <a:off x="274320" y="1051560"/>
            <a:ext cx="8595360" cy="960120"/>
          </a:xfrm>
          <a:prstGeom prst="roundRect">
            <a:avLst>
              <a:gd name="adj" fmla="val 9524"/>
            </a:avLst>
          </a:prstGeom>
          <a:solidFill>
            <a:srgbClr val="1A3562"/>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274320" y="1051560"/>
            <a:ext cx="8595360" cy="960120"/>
          </a:xfrm>
          <a:prstGeom prst="rect">
            <a:avLst/>
          </a:prstGeom>
          <a:noFill/>
          <a:ln/>
        </p:spPr>
        <p:txBody>
          <a:bodyPr wrap="square" lIns="203200" tIns="203200" rIns="203200" bIns="203200" rtlCol="0" anchor="ctr"/>
          <a:lstStyle/>
          <a:p>
            <a:pPr indent="0" marL="0">
              <a:buNone/>
            </a:pPr>
            <a:r>
              <a:rPr lang="en-US" sz="1350" b="1" dirty="0">
                <a:solidFill>
                  <a:srgbClr val="F0C040"/>
                </a:solidFill>
                <a:latin typeface="Calibri" pitchFamily="34" charset="0"/>
                <a:ea typeface="Calibri" pitchFamily="34" charset="-122"/>
                <a:cs typeface="Calibri" pitchFamily="34" charset="-120"/>
              </a:rPr>
              <a:t>Definition: </a:t>
            </a:r>
            <a:pPr indent="0" marL="0">
              <a:buNone/>
            </a:pPr>
            <a:r>
              <a:rPr lang="en-US" sz="1350" dirty="0">
                <a:solidFill>
                  <a:srgbClr val="FFFFFF"/>
                </a:solidFill>
                <a:latin typeface="Calibri" pitchFamily="34" charset="0"/>
                <a:ea typeface="Calibri" pitchFamily="34" charset="-122"/>
                <a:cs typeface="Calibri" pitchFamily="34" charset="-120"/>
              </a:rPr>
              <a:t>Research is a </a:t>
            </a:r>
            <a:pPr indent="0" marL="0">
              <a:buNone/>
            </a:pPr>
            <a:r>
              <a:rPr lang="en-US" sz="1350" b="1" dirty="0">
                <a:solidFill>
                  <a:srgbClr val="F0C040"/>
                </a:solidFill>
                <a:latin typeface="Calibri" pitchFamily="34" charset="0"/>
                <a:ea typeface="Calibri" pitchFamily="34" charset="-122"/>
                <a:cs typeface="Calibri" pitchFamily="34" charset="-120"/>
              </a:rPr>
              <a:t>systematic, disciplined process </a:t>
            </a:r>
            <a:pPr indent="0" marL="0">
              <a:buNone/>
            </a:pPr>
            <a:r>
              <a:rPr lang="en-US" sz="1350" dirty="0">
                <a:solidFill>
                  <a:srgbClr val="C8DFF0"/>
                </a:solidFill>
                <a:latin typeface="Calibri" pitchFamily="34" charset="0"/>
                <a:ea typeface="Calibri" pitchFamily="34" charset="-122"/>
                <a:cs typeface="Calibri" pitchFamily="34" charset="-120"/>
              </a:rPr>
              <a:t>of inquiry aimed at discovering, interpreting, or revising facts, events, behaviours, or theories to generate new knowledge and support evidence-based decisions.</a:t>
            </a:r>
            <a:endParaRPr lang="en-US" sz="1350" dirty="0"/>
          </a:p>
        </p:txBody>
      </p:sp>
      <p:sp>
        <p:nvSpPr>
          <p:cNvPr id="6" name="Shape 4"/>
          <p:cNvSpPr/>
          <p:nvPr/>
        </p:nvSpPr>
        <p:spPr>
          <a:xfrm>
            <a:off x="274320" y="2148840"/>
            <a:ext cx="1554480" cy="2651760"/>
          </a:xfrm>
          <a:prstGeom prst="roundRect">
            <a:avLst>
              <a:gd name="adj" fmla="val 5294"/>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822960" y="2331720"/>
            <a:ext cx="438912" cy="438912"/>
          </a:xfrm>
          <a:prstGeom prst="ellipse">
            <a:avLst/>
          </a:prstGeom>
          <a:solidFill>
            <a:srgbClr val="1A3562"/>
          </a:solidFill>
          <a:ln w="12700">
            <a:solidFill>
              <a:srgbClr val="1A3562"/>
            </a:solidFill>
            <a:prstDash val="solid"/>
          </a:ln>
        </p:spPr>
      </p:sp>
      <p:sp>
        <p:nvSpPr>
          <p:cNvPr id="8" name="Text 6"/>
          <p:cNvSpPr/>
          <p:nvPr/>
        </p:nvSpPr>
        <p:spPr>
          <a:xfrm>
            <a:off x="822960" y="2331720"/>
            <a:ext cx="438912" cy="438912"/>
          </a:xfrm>
          <a:prstGeom prst="rect">
            <a:avLst/>
          </a:prstGeom>
          <a:noFill/>
          <a:ln/>
        </p:spPr>
        <p:txBody>
          <a:bodyPr wrap="square" lIns="0" tIns="0" rIns="0" bIns="0" rtlCol="0" anchor="ctr"/>
          <a:lstStyle/>
          <a:p>
            <a:pPr algn="ctr" indent="0" marL="0">
              <a:buNone/>
            </a:pPr>
            <a:r>
              <a:rPr lang="en-US" sz="1400" b="1" dirty="0">
                <a:solidFill>
                  <a:srgbClr val="F0C040"/>
                </a:solidFill>
                <a:latin typeface="Cambria" pitchFamily="34" charset="0"/>
                <a:ea typeface="Cambria" pitchFamily="34" charset="-122"/>
                <a:cs typeface="Cambria" pitchFamily="34" charset="-120"/>
              </a:rPr>
              <a:t>?</a:t>
            </a:r>
            <a:endParaRPr lang="en-US" sz="1400" dirty="0"/>
          </a:p>
        </p:txBody>
      </p:sp>
      <p:sp>
        <p:nvSpPr>
          <p:cNvPr id="9" name="Text 7"/>
          <p:cNvSpPr/>
          <p:nvPr/>
        </p:nvSpPr>
        <p:spPr>
          <a:xfrm>
            <a:off x="274320" y="2852928"/>
            <a:ext cx="1554480" cy="292608"/>
          </a:xfrm>
          <a:prstGeom prst="rect">
            <a:avLst/>
          </a:prstGeom>
          <a:noFill/>
          <a:ln/>
        </p:spPr>
        <p:txBody>
          <a:bodyPr wrap="square" lIns="0" tIns="0" rIns="0" bIns="0" rtlCol="0" anchor="ctr"/>
          <a:lstStyle/>
          <a:p>
            <a:pPr algn="ctr" indent="0" marL="0">
              <a:buNone/>
            </a:pPr>
            <a:r>
              <a:rPr lang="en-US" sz="1200" b="1" dirty="0">
                <a:solidFill>
                  <a:srgbClr val="0F1E3C"/>
                </a:solidFill>
                <a:latin typeface="Calibri" pitchFamily="34" charset="0"/>
                <a:ea typeface="Calibri" pitchFamily="34" charset="-122"/>
                <a:cs typeface="Calibri" pitchFamily="34" charset="-120"/>
              </a:rPr>
              <a:t>Ask</a:t>
            </a:r>
            <a:endParaRPr lang="en-US" sz="1200" dirty="0"/>
          </a:p>
        </p:txBody>
      </p:sp>
      <p:sp>
        <p:nvSpPr>
          <p:cNvPr id="10" name="Text 8"/>
          <p:cNvSpPr/>
          <p:nvPr/>
        </p:nvSpPr>
        <p:spPr>
          <a:xfrm>
            <a:off x="365760" y="3182112"/>
            <a:ext cx="1371600" cy="148132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Identify a clear question or problem that needs investigation</a:t>
            </a:r>
            <a:endParaRPr lang="en-US" sz="950" dirty="0"/>
          </a:p>
        </p:txBody>
      </p:sp>
      <p:sp>
        <p:nvSpPr>
          <p:cNvPr id="11" name="Shape 9"/>
          <p:cNvSpPr/>
          <p:nvPr/>
        </p:nvSpPr>
        <p:spPr>
          <a:xfrm>
            <a:off x="1993392" y="2148840"/>
            <a:ext cx="1554480" cy="2651760"/>
          </a:xfrm>
          <a:prstGeom prst="roundRect">
            <a:avLst>
              <a:gd name="adj" fmla="val 5294"/>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2" name="Shape 10"/>
          <p:cNvSpPr/>
          <p:nvPr/>
        </p:nvSpPr>
        <p:spPr>
          <a:xfrm>
            <a:off x="2542032" y="2331720"/>
            <a:ext cx="438912" cy="438912"/>
          </a:xfrm>
          <a:prstGeom prst="ellipse">
            <a:avLst/>
          </a:prstGeom>
          <a:solidFill>
            <a:srgbClr val="1A3562"/>
          </a:solidFill>
          <a:ln w="12700">
            <a:solidFill>
              <a:srgbClr val="1A3562"/>
            </a:solidFill>
            <a:prstDash val="solid"/>
          </a:ln>
        </p:spPr>
      </p:sp>
      <p:sp>
        <p:nvSpPr>
          <p:cNvPr id="13" name="Text 11"/>
          <p:cNvSpPr/>
          <p:nvPr/>
        </p:nvSpPr>
        <p:spPr>
          <a:xfrm>
            <a:off x="2542032" y="2331720"/>
            <a:ext cx="438912" cy="438912"/>
          </a:xfrm>
          <a:prstGeom prst="rect">
            <a:avLst/>
          </a:prstGeom>
          <a:noFill/>
          <a:ln/>
        </p:spPr>
        <p:txBody>
          <a:bodyPr wrap="square" lIns="0" tIns="0" rIns="0" bIns="0" rtlCol="0" anchor="ctr"/>
          <a:lstStyle/>
          <a:p>
            <a:pPr algn="ctr" indent="0" marL="0">
              <a:buNone/>
            </a:pPr>
            <a:r>
              <a:rPr lang="en-US" sz="1400" b="1" dirty="0">
                <a:solidFill>
                  <a:srgbClr val="F0C040"/>
                </a:solidFill>
                <a:latin typeface="Cambria" pitchFamily="34" charset="0"/>
                <a:ea typeface="Cambria" pitchFamily="34" charset="-122"/>
                <a:cs typeface="Cambria" pitchFamily="34" charset="-120"/>
              </a:rPr>
              <a:t>P</a:t>
            </a:r>
            <a:endParaRPr lang="en-US" sz="1400" dirty="0"/>
          </a:p>
        </p:txBody>
      </p:sp>
      <p:sp>
        <p:nvSpPr>
          <p:cNvPr id="14" name="Text 12"/>
          <p:cNvSpPr/>
          <p:nvPr/>
        </p:nvSpPr>
        <p:spPr>
          <a:xfrm>
            <a:off x="1993392" y="2852928"/>
            <a:ext cx="1554480" cy="292608"/>
          </a:xfrm>
          <a:prstGeom prst="rect">
            <a:avLst/>
          </a:prstGeom>
          <a:noFill/>
          <a:ln/>
        </p:spPr>
        <p:txBody>
          <a:bodyPr wrap="square" lIns="0" tIns="0" rIns="0" bIns="0" rtlCol="0" anchor="ctr"/>
          <a:lstStyle/>
          <a:p>
            <a:pPr algn="ctr" indent="0" marL="0">
              <a:buNone/>
            </a:pPr>
            <a:r>
              <a:rPr lang="en-US" sz="1200" b="1" dirty="0">
                <a:solidFill>
                  <a:srgbClr val="0F1E3C"/>
                </a:solidFill>
                <a:latin typeface="Calibri" pitchFamily="34" charset="0"/>
                <a:ea typeface="Calibri" pitchFamily="34" charset="-122"/>
                <a:cs typeface="Calibri" pitchFamily="34" charset="-120"/>
              </a:rPr>
              <a:t>Plan</a:t>
            </a:r>
            <a:endParaRPr lang="en-US" sz="1200" dirty="0"/>
          </a:p>
        </p:txBody>
      </p:sp>
      <p:sp>
        <p:nvSpPr>
          <p:cNvPr id="15" name="Text 13"/>
          <p:cNvSpPr/>
          <p:nvPr/>
        </p:nvSpPr>
        <p:spPr>
          <a:xfrm>
            <a:off x="2084832" y="3182112"/>
            <a:ext cx="1371600" cy="148132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Design the methodology - what data, from whom, how collected</a:t>
            </a:r>
            <a:endParaRPr lang="en-US" sz="950" dirty="0"/>
          </a:p>
        </p:txBody>
      </p:sp>
      <p:sp>
        <p:nvSpPr>
          <p:cNvPr id="16" name="Shape 14"/>
          <p:cNvSpPr/>
          <p:nvPr/>
        </p:nvSpPr>
        <p:spPr>
          <a:xfrm>
            <a:off x="3712464" y="2148840"/>
            <a:ext cx="1554480" cy="2651760"/>
          </a:xfrm>
          <a:prstGeom prst="roundRect">
            <a:avLst>
              <a:gd name="adj" fmla="val 5294"/>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4261104" y="2331720"/>
            <a:ext cx="438912" cy="438912"/>
          </a:xfrm>
          <a:prstGeom prst="ellipse">
            <a:avLst/>
          </a:prstGeom>
          <a:solidFill>
            <a:srgbClr val="1A3562"/>
          </a:solidFill>
          <a:ln w="12700">
            <a:solidFill>
              <a:srgbClr val="1A3562"/>
            </a:solidFill>
            <a:prstDash val="solid"/>
          </a:ln>
        </p:spPr>
      </p:sp>
      <p:sp>
        <p:nvSpPr>
          <p:cNvPr id="18" name="Text 16"/>
          <p:cNvSpPr/>
          <p:nvPr/>
        </p:nvSpPr>
        <p:spPr>
          <a:xfrm>
            <a:off x="4261104" y="2331720"/>
            <a:ext cx="438912" cy="438912"/>
          </a:xfrm>
          <a:prstGeom prst="rect">
            <a:avLst/>
          </a:prstGeom>
          <a:noFill/>
          <a:ln/>
        </p:spPr>
        <p:txBody>
          <a:bodyPr wrap="square" lIns="0" tIns="0" rIns="0" bIns="0" rtlCol="0" anchor="ctr"/>
          <a:lstStyle/>
          <a:p>
            <a:pPr algn="ctr" indent="0" marL="0">
              <a:buNone/>
            </a:pPr>
            <a:r>
              <a:rPr lang="en-US" sz="1400" b="1" dirty="0">
                <a:solidFill>
                  <a:srgbClr val="F0C040"/>
                </a:solidFill>
                <a:latin typeface="Cambria" pitchFamily="34" charset="0"/>
                <a:ea typeface="Cambria" pitchFamily="34" charset="-122"/>
                <a:cs typeface="Cambria" pitchFamily="34" charset="-120"/>
              </a:rPr>
              <a:t>D</a:t>
            </a:r>
            <a:endParaRPr lang="en-US" sz="1400" dirty="0"/>
          </a:p>
        </p:txBody>
      </p:sp>
      <p:sp>
        <p:nvSpPr>
          <p:cNvPr id="19" name="Text 17"/>
          <p:cNvSpPr/>
          <p:nvPr/>
        </p:nvSpPr>
        <p:spPr>
          <a:xfrm>
            <a:off x="3712464" y="2852928"/>
            <a:ext cx="1554480" cy="292608"/>
          </a:xfrm>
          <a:prstGeom prst="rect">
            <a:avLst/>
          </a:prstGeom>
          <a:noFill/>
          <a:ln/>
        </p:spPr>
        <p:txBody>
          <a:bodyPr wrap="square" lIns="0" tIns="0" rIns="0" bIns="0" rtlCol="0" anchor="ctr"/>
          <a:lstStyle/>
          <a:p>
            <a:pPr algn="ctr" indent="0" marL="0">
              <a:buNone/>
            </a:pPr>
            <a:r>
              <a:rPr lang="en-US" sz="1200" b="1" dirty="0">
                <a:solidFill>
                  <a:srgbClr val="0F1E3C"/>
                </a:solidFill>
                <a:latin typeface="Calibri" pitchFamily="34" charset="0"/>
                <a:ea typeface="Calibri" pitchFamily="34" charset="-122"/>
                <a:cs typeface="Calibri" pitchFamily="34" charset="-120"/>
              </a:rPr>
              <a:t>Collect</a:t>
            </a:r>
            <a:endParaRPr lang="en-US" sz="1200" dirty="0"/>
          </a:p>
        </p:txBody>
      </p:sp>
      <p:sp>
        <p:nvSpPr>
          <p:cNvPr id="20" name="Text 18"/>
          <p:cNvSpPr/>
          <p:nvPr/>
        </p:nvSpPr>
        <p:spPr>
          <a:xfrm>
            <a:off x="3803904" y="3182112"/>
            <a:ext cx="1371600" cy="148132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Gather evidence systematically using validated instruments</a:t>
            </a:r>
            <a:endParaRPr lang="en-US" sz="950" dirty="0"/>
          </a:p>
        </p:txBody>
      </p:sp>
      <p:sp>
        <p:nvSpPr>
          <p:cNvPr id="21" name="Shape 19"/>
          <p:cNvSpPr/>
          <p:nvPr/>
        </p:nvSpPr>
        <p:spPr>
          <a:xfrm>
            <a:off x="5431536" y="2148840"/>
            <a:ext cx="1554480" cy="2651760"/>
          </a:xfrm>
          <a:prstGeom prst="roundRect">
            <a:avLst>
              <a:gd name="adj" fmla="val 5294"/>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22" name="Shape 20"/>
          <p:cNvSpPr/>
          <p:nvPr/>
        </p:nvSpPr>
        <p:spPr>
          <a:xfrm>
            <a:off x="5980176" y="2331720"/>
            <a:ext cx="438912" cy="438912"/>
          </a:xfrm>
          <a:prstGeom prst="ellipse">
            <a:avLst/>
          </a:prstGeom>
          <a:solidFill>
            <a:srgbClr val="1A3562"/>
          </a:solidFill>
          <a:ln w="12700">
            <a:solidFill>
              <a:srgbClr val="1A3562"/>
            </a:solidFill>
            <a:prstDash val="solid"/>
          </a:ln>
        </p:spPr>
      </p:sp>
      <p:sp>
        <p:nvSpPr>
          <p:cNvPr id="23" name="Text 21"/>
          <p:cNvSpPr/>
          <p:nvPr/>
        </p:nvSpPr>
        <p:spPr>
          <a:xfrm>
            <a:off x="5980176" y="2331720"/>
            <a:ext cx="438912" cy="438912"/>
          </a:xfrm>
          <a:prstGeom prst="rect">
            <a:avLst/>
          </a:prstGeom>
          <a:noFill/>
          <a:ln/>
        </p:spPr>
        <p:txBody>
          <a:bodyPr wrap="square" lIns="0" tIns="0" rIns="0" bIns="0" rtlCol="0" anchor="ctr"/>
          <a:lstStyle/>
          <a:p>
            <a:pPr algn="ctr" indent="0" marL="0">
              <a:buNone/>
            </a:pPr>
            <a:r>
              <a:rPr lang="en-US" sz="1400" b="1" dirty="0">
                <a:solidFill>
                  <a:srgbClr val="F0C040"/>
                </a:solidFill>
                <a:latin typeface="Cambria" pitchFamily="34" charset="0"/>
                <a:ea typeface="Cambria" pitchFamily="34" charset="-122"/>
                <a:cs typeface="Cambria" pitchFamily="34" charset="-120"/>
              </a:rPr>
              <a:t>A</a:t>
            </a:r>
            <a:endParaRPr lang="en-US" sz="1400" dirty="0"/>
          </a:p>
        </p:txBody>
      </p:sp>
      <p:sp>
        <p:nvSpPr>
          <p:cNvPr id="24" name="Text 22"/>
          <p:cNvSpPr/>
          <p:nvPr/>
        </p:nvSpPr>
        <p:spPr>
          <a:xfrm>
            <a:off x="5431536" y="2852928"/>
            <a:ext cx="1554480" cy="292608"/>
          </a:xfrm>
          <a:prstGeom prst="rect">
            <a:avLst/>
          </a:prstGeom>
          <a:noFill/>
          <a:ln/>
        </p:spPr>
        <p:txBody>
          <a:bodyPr wrap="square" lIns="0" tIns="0" rIns="0" bIns="0" rtlCol="0" anchor="ctr"/>
          <a:lstStyle/>
          <a:p>
            <a:pPr algn="ctr" indent="0" marL="0">
              <a:buNone/>
            </a:pPr>
            <a:r>
              <a:rPr lang="en-US" sz="1200" b="1" dirty="0">
                <a:solidFill>
                  <a:srgbClr val="0F1E3C"/>
                </a:solidFill>
                <a:latin typeface="Calibri" pitchFamily="34" charset="0"/>
                <a:ea typeface="Calibri" pitchFamily="34" charset="-122"/>
                <a:cs typeface="Calibri" pitchFamily="34" charset="-120"/>
              </a:rPr>
              <a:t>Analyse</a:t>
            </a:r>
            <a:endParaRPr lang="en-US" sz="1200" dirty="0"/>
          </a:p>
        </p:txBody>
      </p:sp>
      <p:sp>
        <p:nvSpPr>
          <p:cNvPr id="25" name="Text 23"/>
          <p:cNvSpPr/>
          <p:nvPr/>
        </p:nvSpPr>
        <p:spPr>
          <a:xfrm>
            <a:off x="5522976" y="3182112"/>
            <a:ext cx="1371600" cy="148132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Process and interpret data using statistical methods (SPSS)</a:t>
            </a:r>
            <a:endParaRPr lang="en-US" sz="950" dirty="0"/>
          </a:p>
        </p:txBody>
      </p:sp>
      <p:sp>
        <p:nvSpPr>
          <p:cNvPr id="26" name="Shape 24"/>
          <p:cNvSpPr/>
          <p:nvPr/>
        </p:nvSpPr>
        <p:spPr>
          <a:xfrm>
            <a:off x="7150608" y="2148840"/>
            <a:ext cx="1554480" cy="2651760"/>
          </a:xfrm>
          <a:prstGeom prst="roundRect">
            <a:avLst>
              <a:gd name="adj" fmla="val 5294"/>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27" name="Shape 25"/>
          <p:cNvSpPr/>
          <p:nvPr/>
        </p:nvSpPr>
        <p:spPr>
          <a:xfrm>
            <a:off x="7699248" y="2331720"/>
            <a:ext cx="438912" cy="438912"/>
          </a:xfrm>
          <a:prstGeom prst="ellipse">
            <a:avLst/>
          </a:prstGeom>
          <a:solidFill>
            <a:srgbClr val="1A3562"/>
          </a:solidFill>
          <a:ln w="12700">
            <a:solidFill>
              <a:srgbClr val="1A3562"/>
            </a:solidFill>
            <a:prstDash val="solid"/>
          </a:ln>
        </p:spPr>
      </p:sp>
      <p:sp>
        <p:nvSpPr>
          <p:cNvPr id="28" name="Text 26"/>
          <p:cNvSpPr/>
          <p:nvPr/>
        </p:nvSpPr>
        <p:spPr>
          <a:xfrm>
            <a:off x="7699248" y="2331720"/>
            <a:ext cx="438912" cy="438912"/>
          </a:xfrm>
          <a:prstGeom prst="rect">
            <a:avLst/>
          </a:prstGeom>
          <a:noFill/>
          <a:ln/>
        </p:spPr>
        <p:txBody>
          <a:bodyPr wrap="square" lIns="0" tIns="0" rIns="0" bIns="0" rtlCol="0" anchor="ctr"/>
          <a:lstStyle/>
          <a:p>
            <a:pPr algn="ctr" indent="0" marL="0">
              <a:buNone/>
            </a:pPr>
            <a:r>
              <a:rPr lang="en-US" sz="1400" b="1" dirty="0">
                <a:solidFill>
                  <a:srgbClr val="F0C040"/>
                </a:solidFill>
                <a:latin typeface="Cambria" pitchFamily="34" charset="0"/>
                <a:ea typeface="Cambria" pitchFamily="34" charset="-122"/>
                <a:cs typeface="Cambria" pitchFamily="34" charset="-120"/>
              </a:rPr>
              <a:t>R</a:t>
            </a:r>
            <a:endParaRPr lang="en-US" sz="1400" dirty="0"/>
          </a:p>
        </p:txBody>
      </p:sp>
      <p:sp>
        <p:nvSpPr>
          <p:cNvPr id="29" name="Text 27"/>
          <p:cNvSpPr/>
          <p:nvPr/>
        </p:nvSpPr>
        <p:spPr>
          <a:xfrm>
            <a:off x="7150608" y="2852928"/>
            <a:ext cx="1554480" cy="292608"/>
          </a:xfrm>
          <a:prstGeom prst="rect">
            <a:avLst/>
          </a:prstGeom>
          <a:noFill/>
          <a:ln/>
        </p:spPr>
        <p:txBody>
          <a:bodyPr wrap="square" lIns="0" tIns="0" rIns="0" bIns="0" rtlCol="0" anchor="ctr"/>
          <a:lstStyle/>
          <a:p>
            <a:pPr algn="ctr" indent="0" marL="0">
              <a:buNone/>
            </a:pPr>
            <a:r>
              <a:rPr lang="en-US" sz="1200" b="1" dirty="0">
                <a:solidFill>
                  <a:srgbClr val="0F1E3C"/>
                </a:solidFill>
                <a:latin typeface="Calibri" pitchFamily="34" charset="0"/>
                <a:ea typeface="Calibri" pitchFamily="34" charset="-122"/>
                <a:cs typeface="Calibri" pitchFamily="34" charset="-120"/>
              </a:rPr>
              <a:t>Report</a:t>
            </a:r>
            <a:endParaRPr lang="en-US" sz="1200" dirty="0"/>
          </a:p>
        </p:txBody>
      </p:sp>
      <p:sp>
        <p:nvSpPr>
          <p:cNvPr id="30" name="Text 28"/>
          <p:cNvSpPr/>
          <p:nvPr/>
        </p:nvSpPr>
        <p:spPr>
          <a:xfrm>
            <a:off x="7242048" y="3182112"/>
            <a:ext cx="1371600" cy="148132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Share findings to inform decisions, policy or practice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2E86C1">
              <a:alpha val="16000"/>
            </a:srgbClr>
          </a:solidFill>
          <a:ln w="12700">
            <a:solidFill>
              <a:srgbClr val="2E86C1"/>
            </a:solidFill>
            <a:prstDash val="solid"/>
          </a:ln>
        </p:spPr>
      </p:sp>
      <p:sp>
        <p:nvSpPr>
          <p:cNvPr id="3" name="Text 1"/>
          <p:cNvSpPr/>
          <p:nvPr/>
        </p:nvSpPr>
        <p:spPr>
          <a:xfrm>
            <a:off x="457200" y="201168"/>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Why Research Matters in Business</a:t>
            </a:r>
            <a:endParaRPr lang="en-US" sz="3000" dirty="0"/>
          </a:p>
        </p:txBody>
      </p:sp>
      <p:sp>
        <p:nvSpPr>
          <p:cNvPr id="4" name="Text 2"/>
          <p:cNvSpPr/>
          <p:nvPr/>
        </p:nvSpPr>
        <p:spPr>
          <a:xfrm>
            <a:off x="457200" y="896112"/>
            <a:ext cx="7772400" cy="365760"/>
          </a:xfrm>
          <a:prstGeom prst="rect">
            <a:avLst/>
          </a:prstGeom>
          <a:noFill/>
          <a:ln/>
        </p:spPr>
        <p:txBody>
          <a:bodyPr wrap="square" lIns="0" tIns="0" rIns="0" bIns="0" rtlCol="0" anchor="ctr"/>
          <a:lstStyle/>
          <a:p>
            <a:pPr indent="0" marL="0">
              <a:buNone/>
            </a:pPr>
            <a:r>
              <a:rPr lang="en-US" sz="1300" dirty="0">
                <a:solidFill>
                  <a:srgbClr val="A8C8E8"/>
                </a:solidFill>
                <a:latin typeface="Calibri" pitchFamily="34" charset="0"/>
                <a:ea typeface="Calibri" pitchFamily="34" charset="-122"/>
                <a:cs typeface="Calibri" pitchFamily="34" charset="-120"/>
              </a:rPr>
              <a:t>Real decisions made by Nigerian organisations through evidence-based research:</a:t>
            </a:r>
            <a:endParaRPr lang="en-US" sz="1300" dirty="0"/>
          </a:p>
        </p:txBody>
      </p:sp>
      <p:sp>
        <p:nvSpPr>
          <p:cNvPr id="5" name="Shape 3"/>
          <p:cNvSpPr/>
          <p:nvPr/>
        </p:nvSpPr>
        <p:spPr>
          <a:xfrm>
            <a:off x="274320" y="1371600"/>
            <a:ext cx="4160520" cy="1115568"/>
          </a:xfrm>
          <a:prstGeom prst="roundRect">
            <a:avLst>
              <a:gd name="adj" fmla="val 5738"/>
            </a:avLst>
          </a:prstGeom>
          <a:solidFill>
            <a:srgbClr val="0E2030"/>
          </a:solidFill>
          <a:ln w="12700">
            <a:solidFill>
              <a:srgbClr val="1B5CA0"/>
            </a:solidFill>
            <a:prstDash val="solid"/>
          </a:ln>
          <a:effectLst>
            <a:outerShdw sx="100000" sy="100000" kx="0" ky="0" algn="bl" rotWithShape="0" blurRad="76200" dist="25400" dir="2700000">
              <a:srgbClr val="000000">
                <a:alpha val="12000"/>
              </a:srgbClr>
            </a:outerShdw>
          </a:effectLst>
        </p:spPr>
      </p:sp>
      <p:sp>
        <p:nvSpPr>
          <p:cNvPr id="6" name="Shape 4"/>
          <p:cNvSpPr/>
          <p:nvPr/>
        </p:nvSpPr>
        <p:spPr>
          <a:xfrm>
            <a:off x="365760" y="1463040"/>
            <a:ext cx="841248" cy="274320"/>
          </a:xfrm>
          <a:prstGeom prst="roundRect">
            <a:avLst>
              <a:gd name="adj" fmla="val 16667"/>
            </a:avLst>
          </a:prstGeom>
          <a:solidFill>
            <a:srgbClr val="1B5CA0"/>
          </a:solidFill>
          <a:ln w="12700">
            <a:solidFill>
              <a:srgbClr val="1B5CA0"/>
            </a:solidFill>
            <a:prstDash val="solid"/>
          </a:ln>
        </p:spPr>
      </p:sp>
      <p:sp>
        <p:nvSpPr>
          <p:cNvPr id="7" name="Text 5"/>
          <p:cNvSpPr/>
          <p:nvPr/>
        </p:nvSpPr>
        <p:spPr>
          <a:xfrm>
            <a:off x="365760" y="1463040"/>
            <a:ext cx="841248"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GTBank</a:t>
            </a:r>
            <a:endParaRPr lang="en-US" sz="900" dirty="0"/>
          </a:p>
        </p:txBody>
      </p:sp>
      <p:sp>
        <p:nvSpPr>
          <p:cNvPr id="8" name="Text 6"/>
          <p:cNvSpPr/>
          <p:nvPr/>
        </p:nvSpPr>
        <p:spPr>
          <a:xfrm>
            <a:off x="1280160" y="1463040"/>
            <a:ext cx="3017520" cy="274320"/>
          </a:xfrm>
          <a:prstGeom prst="rect">
            <a:avLst/>
          </a:prstGeom>
          <a:noFill/>
          <a:ln/>
        </p:spPr>
        <p:txBody>
          <a:bodyPr wrap="square" lIns="0" tIns="0" rIns="0" bIns="0" rtlCol="0" anchor="ctr"/>
          <a:lstStyle/>
          <a:p>
            <a:pPr indent="0" marL="0">
              <a:buNone/>
            </a:pPr>
            <a:r>
              <a:rPr lang="en-US" sz="1100" b="1" dirty="0">
                <a:solidFill>
                  <a:srgbClr val="1B5CA0"/>
                </a:solidFill>
                <a:latin typeface="Calibri" pitchFamily="34" charset="0"/>
                <a:ea typeface="Calibri" pitchFamily="34" charset="-122"/>
                <a:cs typeface="Calibri" pitchFamily="34" charset="-120"/>
              </a:rPr>
              <a:t>Reduced customer churn</a:t>
            </a:r>
            <a:endParaRPr lang="en-US" sz="1100" dirty="0"/>
          </a:p>
        </p:txBody>
      </p:sp>
      <p:sp>
        <p:nvSpPr>
          <p:cNvPr id="9" name="Text 7"/>
          <p:cNvSpPr/>
          <p:nvPr/>
        </p:nvSpPr>
        <p:spPr>
          <a:xfrm>
            <a:off x="384048" y="1810512"/>
            <a:ext cx="3913632" cy="594360"/>
          </a:xfrm>
          <a:prstGeom prst="rect">
            <a:avLst/>
          </a:prstGeom>
          <a:noFill/>
          <a:ln/>
        </p:spPr>
        <p:txBody>
          <a:bodyPr wrap="square" lIns="0" tIns="0" rIns="0" bIns="0" rtlCol="0" anchor="ctr"/>
          <a:lstStyle/>
          <a:p>
            <a:pPr indent="0" marL="0">
              <a:buNone/>
            </a:pPr>
            <a:r>
              <a:rPr lang="en-US" sz="900" dirty="0">
                <a:solidFill>
                  <a:srgbClr val="A8C8E8"/>
                </a:solidFill>
                <a:latin typeface="Calibri" pitchFamily="34" charset="0"/>
                <a:ea typeface="Calibri" pitchFamily="34" charset="-122"/>
                <a:cs typeface="Calibri" pitchFamily="34" charset="-120"/>
              </a:rPr>
              <a:t>Surveyed 10,000 customers, analysed satisfaction drivers in SPSS, redesigned onboarding for at-risk segments</a:t>
            </a:r>
            <a:endParaRPr lang="en-US" sz="900" dirty="0"/>
          </a:p>
        </p:txBody>
      </p:sp>
      <p:sp>
        <p:nvSpPr>
          <p:cNvPr id="10" name="Shape 8"/>
          <p:cNvSpPr/>
          <p:nvPr/>
        </p:nvSpPr>
        <p:spPr>
          <a:xfrm>
            <a:off x="4709160" y="1371600"/>
            <a:ext cx="4160520" cy="1115568"/>
          </a:xfrm>
          <a:prstGeom prst="roundRect">
            <a:avLst>
              <a:gd name="adj" fmla="val 5738"/>
            </a:avLst>
          </a:prstGeom>
          <a:solidFill>
            <a:srgbClr val="0E2030"/>
          </a:solidFill>
          <a:ln w="12700">
            <a:solidFill>
              <a:srgbClr val="1A7A4A"/>
            </a:solidFill>
            <a:prstDash val="solid"/>
          </a:ln>
          <a:effectLst>
            <a:outerShdw sx="100000" sy="100000" kx="0" ky="0" algn="bl" rotWithShape="0" blurRad="76200" dist="25400" dir="2700000">
              <a:srgbClr val="000000">
                <a:alpha val="12000"/>
              </a:srgbClr>
            </a:outerShdw>
          </a:effectLst>
        </p:spPr>
      </p:sp>
      <p:sp>
        <p:nvSpPr>
          <p:cNvPr id="11" name="Shape 9"/>
          <p:cNvSpPr/>
          <p:nvPr/>
        </p:nvSpPr>
        <p:spPr>
          <a:xfrm>
            <a:off x="4800600" y="1463040"/>
            <a:ext cx="841248" cy="274320"/>
          </a:xfrm>
          <a:prstGeom prst="roundRect">
            <a:avLst>
              <a:gd name="adj" fmla="val 16667"/>
            </a:avLst>
          </a:prstGeom>
          <a:solidFill>
            <a:srgbClr val="1A7A4A"/>
          </a:solidFill>
          <a:ln w="12700">
            <a:solidFill>
              <a:srgbClr val="1A7A4A"/>
            </a:solidFill>
            <a:prstDash val="solid"/>
          </a:ln>
        </p:spPr>
      </p:sp>
      <p:sp>
        <p:nvSpPr>
          <p:cNvPr id="12" name="Text 10"/>
          <p:cNvSpPr/>
          <p:nvPr/>
        </p:nvSpPr>
        <p:spPr>
          <a:xfrm>
            <a:off x="4800600" y="1463040"/>
            <a:ext cx="841248"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MTN Nigeria</a:t>
            </a:r>
            <a:endParaRPr lang="en-US" sz="900" dirty="0"/>
          </a:p>
        </p:txBody>
      </p:sp>
      <p:sp>
        <p:nvSpPr>
          <p:cNvPr id="13" name="Text 11"/>
          <p:cNvSpPr/>
          <p:nvPr/>
        </p:nvSpPr>
        <p:spPr>
          <a:xfrm>
            <a:off x="5715000" y="1463040"/>
            <a:ext cx="3017520" cy="274320"/>
          </a:xfrm>
          <a:prstGeom prst="rect">
            <a:avLst/>
          </a:prstGeom>
          <a:noFill/>
          <a:ln/>
        </p:spPr>
        <p:txBody>
          <a:bodyPr wrap="square" lIns="0" tIns="0" rIns="0" bIns="0" rtlCol="0" anchor="ctr"/>
          <a:lstStyle/>
          <a:p>
            <a:pPr indent="0" marL="0">
              <a:buNone/>
            </a:pPr>
            <a:r>
              <a:rPr lang="en-US" sz="1100" b="1" dirty="0">
                <a:solidFill>
                  <a:srgbClr val="1A7A4A"/>
                </a:solidFill>
                <a:latin typeface="Calibri" pitchFamily="34" charset="0"/>
                <a:ea typeface="Calibri" pitchFamily="34" charset="-122"/>
                <a:cs typeface="Calibri" pitchFamily="34" charset="-120"/>
              </a:rPr>
              <a:t>Targeted data bundle pricing</a:t>
            </a:r>
            <a:endParaRPr lang="en-US" sz="1100" dirty="0"/>
          </a:p>
        </p:txBody>
      </p:sp>
      <p:sp>
        <p:nvSpPr>
          <p:cNvPr id="14" name="Text 12"/>
          <p:cNvSpPr/>
          <p:nvPr/>
        </p:nvSpPr>
        <p:spPr>
          <a:xfrm>
            <a:off x="4818888" y="1810512"/>
            <a:ext cx="3913632" cy="594360"/>
          </a:xfrm>
          <a:prstGeom prst="rect">
            <a:avLst/>
          </a:prstGeom>
          <a:noFill/>
          <a:ln/>
        </p:spPr>
        <p:txBody>
          <a:bodyPr wrap="square" lIns="0" tIns="0" rIns="0" bIns="0" rtlCol="0" anchor="ctr"/>
          <a:lstStyle/>
          <a:p>
            <a:pPr indent="0" marL="0">
              <a:buNone/>
            </a:pPr>
            <a:r>
              <a:rPr lang="en-US" sz="900" dirty="0">
                <a:solidFill>
                  <a:srgbClr val="A8C8E8"/>
                </a:solidFill>
                <a:latin typeface="Calibri" pitchFamily="34" charset="0"/>
                <a:ea typeface="Calibri" pitchFamily="34" charset="-122"/>
                <a:cs typeface="Calibri" pitchFamily="34" charset="-120"/>
              </a:rPr>
              <a:t>Segmented 5M subscribers by usage patterns using cluster analysis; tailored plans increased ARPU by 18%</a:t>
            </a:r>
            <a:endParaRPr lang="en-US" sz="900" dirty="0"/>
          </a:p>
        </p:txBody>
      </p:sp>
      <p:sp>
        <p:nvSpPr>
          <p:cNvPr id="15" name="Shape 13"/>
          <p:cNvSpPr/>
          <p:nvPr/>
        </p:nvSpPr>
        <p:spPr>
          <a:xfrm>
            <a:off x="274320" y="2606040"/>
            <a:ext cx="4160520" cy="1115568"/>
          </a:xfrm>
          <a:prstGeom prst="roundRect">
            <a:avLst>
              <a:gd name="adj" fmla="val 5738"/>
            </a:avLst>
          </a:prstGeom>
          <a:solidFill>
            <a:srgbClr val="0E2030"/>
          </a:solidFill>
          <a:ln w="12700">
            <a:solidFill>
              <a:srgbClr val="E67E22"/>
            </a:solidFill>
            <a:prstDash val="solid"/>
          </a:ln>
          <a:effectLst>
            <a:outerShdw sx="100000" sy="100000" kx="0" ky="0" algn="bl" rotWithShape="0" blurRad="76200" dist="25400" dir="2700000">
              <a:srgbClr val="000000">
                <a:alpha val="12000"/>
              </a:srgbClr>
            </a:outerShdw>
          </a:effectLst>
        </p:spPr>
      </p:sp>
      <p:sp>
        <p:nvSpPr>
          <p:cNvPr id="16" name="Shape 14"/>
          <p:cNvSpPr/>
          <p:nvPr/>
        </p:nvSpPr>
        <p:spPr>
          <a:xfrm>
            <a:off x="365760" y="2697480"/>
            <a:ext cx="841248" cy="274320"/>
          </a:xfrm>
          <a:prstGeom prst="roundRect">
            <a:avLst>
              <a:gd name="adj" fmla="val 16667"/>
            </a:avLst>
          </a:prstGeom>
          <a:solidFill>
            <a:srgbClr val="E67E22"/>
          </a:solidFill>
          <a:ln w="12700">
            <a:solidFill>
              <a:srgbClr val="E67E22"/>
            </a:solidFill>
            <a:prstDash val="solid"/>
          </a:ln>
        </p:spPr>
      </p:sp>
      <p:sp>
        <p:nvSpPr>
          <p:cNvPr id="17" name="Text 15"/>
          <p:cNvSpPr/>
          <p:nvPr/>
        </p:nvSpPr>
        <p:spPr>
          <a:xfrm>
            <a:off x="365760" y="2697480"/>
            <a:ext cx="841248"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UAC Foods</a:t>
            </a:r>
            <a:endParaRPr lang="en-US" sz="900" dirty="0"/>
          </a:p>
        </p:txBody>
      </p:sp>
      <p:sp>
        <p:nvSpPr>
          <p:cNvPr id="18" name="Text 16"/>
          <p:cNvSpPr/>
          <p:nvPr/>
        </p:nvSpPr>
        <p:spPr>
          <a:xfrm>
            <a:off x="1280160" y="2697480"/>
            <a:ext cx="3017520" cy="274320"/>
          </a:xfrm>
          <a:prstGeom prst="rect">
            <a:avLst/>
          </a:prstGeom>
          <a:noFill/>
          <a:ln/>
        </p:spPr>
        <p:txBody>
          <a:bodyPr wrap="square" lIns="0" tIns="0" rIns="0" bIns="0" rtlCol="0" anchor="ctr"/>
          <a:lstStyle/>
          <a:p>
            <a:pPr indent="0" marL="0">
              <a:buNone/>
            </a:pPr>
            <a:r>
              <a:rPr lang="en-US" sz="1100" b="1" dirty="0">
                <a:solidFill>
                  <a:srgbClr val="E67E22"/>
                </a:solidFill>
                <a:latin typeface="Calibri" pitchFamily="34" charset="0"/>
                <a:ea typeface="Calibri" pitchFamily="34" charset="-122"/>
                <a:cs typeface="Calibri" pitchFamily="34" charset="-120"/>
              </a:rPr>
              <a:t>New product launch decision</a:t>
            </a:r>
            <a:endParaRPr lang="en-US" sz="1100" dirty="0"/>
          </a:p>
        </p:txBody>
      </p:sp>
      <p:sp>
        <p:nvSpPr>
          <p:cNvPr id="19" name="Text 17"/>
          <p:cNvSpPr/>
          <p:nvPr/>
        </p:nvSpPr>
        <p:spPr>
          <a:xfrm>
            <a:off x="384048" y="3044952"/>
            <a:ext cx="3913632" cy="594360"/>
          </a:xfrm>
          <a:prstGeom prst="rect">
            <a:avLst/>
          </a:prstGeom>
          <a:noFill/>
          <a:ln/>
        </p:spPr>
        <p:txBody>
          <a:bodyPr wrap="square" lIns="0" tIns="0" rIns="0" bIns="0" rtlCol="0" anchor="ctr"/>
          <a:lstStyle/>
          <a:p>
            <a:pPr indent="0" marL="0">
              <a:buNone/>
            </a:pPr>
            <a:r>
              <a:rPr lang="en-US" sz="900" dirty="0">
                <a:solidFill>
                  <a:srgbClr val="A8C8E8"/>
                </a:solidFill>
                <a:latin typeface="Calibri" pitchFamily="34" charset="0"/>
                <a:ea typeface="Calibri" pitchFamily="34" charset="-122"/>
                <a:cs typeface="Calibri" pitchFamily="34" charset="-120"/>
              </a:rPr>
              <a:t>Consumer preference survey of 800 respondents; SPSS analysis identified unmet snack category opportunity</a:t>
            </a:r>
            <a:endParaRPr lang="en-US" sz="900" dirty="0"/>
          </a:p>
        </p:txBody>
      </p:sp>
      <p:sp>
        <p:nvSpPr>
          <p:cNvPr id="20" name="Shape 18"/>
          <p:cNvSpPr/>
          <p:nvPr/>
        </p:nvSpPr>
        <p:spPr>
          <a:xfrm>
            <a:off x="4709160" y="2606040"/>
            <a:ext cx="4160520" cy="1115568"/>
          </a:xfrm>
          <a:prstGeom prst="roundRect">
            <a:avLst>
              <a:gd name="adj" fmla="val 5738"/>
            </a:avLst>
          </a:prstGeom>
          <a:solidFill>
            <a:srgbClr val="0E2030"/>
          </a:solidFill>
          <a:ln w="12700">
            <a:solidFill>
              <a:srgbClr val="5B2D8E"/>
            </a:solidFill>
            <a:prstDash val="solid"/>
          </a:ln>
          <a:effectLst>
            <a:outerShdw sx="100000" sy="100000" kx="0" ky="0" algn="bl" rotWithShape="0" blurRad="76200" dist="25400" dir="2700000">
              <a:srgbClr val="000000">
                <a:alpha val="12000"/>
              </a:srgbClr>
            </a:outerShdw>
          </a:effectLst>
        </p:spPr>
      </p:sp>
      <p:sp>
        <p:nvSpPr>
          <p:cNvPr id="21" name="Shape 19"/>
          <p:cNvSpPr/>
          <p:nvPr/>
        </p:nvSpPr>
        <p:spPr>
          <a:xfrm>
            <a:off x="4800600" y="2697480"/>
            <a:ext cx="841248" cy="274320"/>
          </a:xfrm>
          <a:prstGeom prst="roundRect">
            <a:avLst>
              <a:gd name="adj" fmla="val 16667"/>
            </a:avLst>
          </a:prstGeom>
          <a:solidFill>
            <a:srgbClr val="5B2D8E"/>
          </a:solidFill>
          <a:ln w="12700">
            <a:solidFill>
              <a:srgbClr val="5B2D8E"/>
            </a:solidFill>
            <a:prstDash val="solid"/>
          </a:ln>
        </p:spPr>
      </p:sp>
      <p:sp>
        <p:nvSpPr>
          <p:cNvPr id="22" name="Text 20"/>
          <p:cNvSpPr/>
          <p:nvPr/>
        </p:nvSpPr>
        <p:spPr>
          <a:xfrm>
            <a:off x="4800600" y="2697480"/>
            <a:ext cx="841248"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NAFDAC</a:t>
            </a:r>
            <a:endParaRPr lang="en-US" sz="900" dirty="0"/>
          </a:p>
        </p:txBody>
      </p:sp>
      <p:sp>
        <p:nvSpPr>
          <p:cNvPr id="23" name="Text 21"/>
          <p:cNvSpPr/>
          <p:nvPr/>
        </p:nvSpPr>
        <p:spPr>
          <a:xfrm>
            <a:off x="5715000" y="2697480"/>
            <a:ext cx="3017520" cy="274320"/>
          </a:xfrm>
          <a:prstGeom prst="rect">
            <a:avLst/>
          </a:prstGeom>
          <a:noFill/>
          <a:ln/>
        </p:spPr>
        <p:txBody>
          <a:bodyPr wrap="square" lIns="0" tIns="0" rIns="0" bIns="0" rtlCol="0" anchor="ctr"/>
          <a:lstStyle/>
          <a:p>
            <a:pPr indent="0" marL="0">
              <a:buNone/>
            </a:pPr>
            <a:r>
              <a:rPr lang="en-US" sz="1100" b="1" dirty="0">
                <a:solidFill>
                  <a:srgbClr val="5B2D8E"/>
                </a:solidFill>
                <a:latin typeface="Calibri" pitchFamily="34" charset="0"/>
                <a:ea typeface="Calibri" pitchFamily="34" charset="-122"/>
                <a:cs typeface="Calibri" pitchFamily="34" charset="-120"/>
              </a:rPr>
              <a:t>Regulatory policy on food labelling</a:t>
            </a:r>
            <a:endParaRPr lang="en-US" sz="1100" dirty="0"/>
          </a:p>
        </p:txBody>
      </p:sp>
      <p:sp>
        <p:nvSpPr>
          <p:cNvPr id="24" name="Text 22"/>
          <p:cNvSpPr/>
          <p:nvPr/>
        </p:nvSpPr>
        <p:spPr>
          <a:xfrm>
            <a:off x="4818888" y="3044952"/>
            <a:ext cx="3913632" cy="594360"/>
          </a:xfrm>
          <a:prstGeom prst="rect">
            <a:avLst/>
          </a:prstGeom>
          <a:noFill/>
          <a:ln/>
        </p:spPr>
        <p:txBody>
          <a:bodyPr wrap="square" lIns="0" tIns="0" rIns="0" bIns="0" rtlCol="0" anchor="ctr"/>
          <a:lstStyle/>
          <a:p>
            <a:pPr indent="0" marL="0">
              <a:buNone/>
            </a:pPr>
            <a:r>
              <a:rPr lang="en-US" sz="900" dirty="0">
                <a:solidFill>
                  <a:srgbClr val="A8C8E8"/>
                </a:solidFill>
                <a:latin typeface="Calibri" pitchFamily="34" charset="0"/>
                <a:ea typeface="Calibri" pitchFamily="34" charset="-122"/>
                <a:cs typeface="Calibri" pitchFamily="34" charset="-120"/>
              </a:rPr>
              <a:t>National survey of consumer awareness; statistical analysis informed evidence-based labelling policy</a:t>
            </a:r>
            <a:endParaRPr lang="en-US" sz="900" dirty="0"/>
          </a:p>
        </p:txBody>
      </p:sp>
      <p:sp>
        <p:nvSpPr>
          <p:cNvPr id="25" name="Shape 23"/>
          <p:cNvSpPr/>
          <p:nvPr/>
        </p:nvSpPr>
        <p:spPr>
          <a:xfrm>
            <a:off x="274320" y="3840480"/>
            <a:ext cx="4160520" cy="1115568"/>
          </a:xfrm>
          <a:prstGeom prst="roundRect">
            <a:avLst>
              <a:gd name="adj" fmla="val 5738"/>
            </a:avLst>
          </a:prstGeom>
          <a:solidFill>
            <a:srgbClr val="0E2030"/>
          </a:solidFill>
          <a:ln w="12700">
            <a:solidFill>
              <a:srgbClr val="C0392B"/>
            </a:solidFill>
            <a:prstDash val="solid"/>
          </a:ln>
          <a:effectLst>
            <a:outerShdw sx="100000" sy="100000" kx="0" ky="0" algn="bl" rotWithShape="0" blurRad="76200" dist="25400" dir="2700000">
              <a:srgbClr val="000000">
                <a:alpha val="12000"/>
              </a:srgbClr>
            </a:outerShdw>
          </a:effectLst>
        </p:spPr>
      </p:sp>
      <p:sp>
        <p:nvSpPr>
          <p:cNvPr id="26" name="Shape 24"/>
          <p:cNvSpPr/>
          <p:nvPr/>
        </p:nvSpPr>
        <p:spPr>
          <a:xfrm>
            <a:off x="365760" y="3931920"/>
            <a:ext cx="841248" cy="274320"/>
          </a:xfrm>
          <a:prstGeom prst="roundRect">
            <a:avLst>
              <a:gd name="adj" fmla="val 16667"/>
            </a:avLst>
          </a:prstGeom>
          <a:solidFill>
            <a:srgbClr val="C0392B"/>
          </a:solidFill>
          <a:ln w="12700">
            <a:solidFill>
              <a:srgbClr val="C0392B"/>
            </a:solidFill>
            <a:prstDash val="solid"/>
          </a:ln>
        </p:spPr>
      </p:sp>
      <p:sp>
        <p:nvSpPr>
          <p:cNvPr id="27" name="Text 25"/>
          <p:cNvSpPr/>
          <p:nvPr/>
        </p:nvSpPr>
        <p:spPr>
          <a:xfrm>
            <a:off x="365760" y="3931920"/>
            <a:ext cx="841248"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Zenith Bank</a:t>
            </a:r>
            <a:endParaRPr lang="en-US" sz="900" dirty="0"/>
          </a:p>
        </p:txBody>
      </p:sp>
      <p:sp>
        <p:nvSpPr>
          <p:cNvPr id="28" name="Text 26"/>
          <p:cNvSpPr/>
          <p:nvPr/>
        </p:nvSpPr>
        <p:spPr>
          <a:xfrm>
            <a:off x="1280160" y="3931920"/>
            <a:ext cx="3017520" cy="274320"/>
          </a:xfrm>
          <a:prstGeom prst="rect">
            <a:avLst/>
          </a:prstGeom>
          <a:noFill/>
          <a:ln/>
        </p:spPr>
        <p:txBody>
          <a:bodyPr wrap="square" lIns="0" tIns="0" rIns="0" bIns="0"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Branch expansion strategy</a:t>
            </a:r>
            <a:endParaRPr lang="en-US" sz="1100" dirty="0"/>
          </a:p>
        </p:txBody>
      </p:sp>
      <p:sp>
        <p:nvSpPr>
          <p:cNvPr id="29" name="Text 27"/>
          <p:cNvSpPr/>
          <p:nvPr/>
        </p:nvSpPr>
        <p:spPr>
          <a:xfrm>
            <a:off x="384048" y="4279392"/>
            <a:ext cx="3913632" cy="594360"/>
          </a:xfrm>
          <a:prstGeom prst="rect">
            <a:avLst/>
          </a:prstGeom>
          <a:noFill/>
          <a:ln/>
        </p:spPr>
        <p:txBody>
          <a:bodyPr wrap="square" lIns="0" tIns="0" rIns="0" bIns="0" rtlCol="0" anchor="ctr"/>
          <a:lstStyle/>
          <a:p>
            <a:pPr indent="0" marL="0">
              <a:buNone/>
            </a:pPr>
            <a:r>
              <a:rPr lang="en-US" sz="900" dirty="0">
                <a:solidFill>
                  <a:srgbClr val="A8C8E8"/>
                </a:solidFill>
                <a:latin typeface="Calibri" pitchFamily="34" charset="0"/>
                <a:ea typeface="Calibri" pitchFamily="34" charset="-122"/>
                <a:cs typeface="Calibri" pitchFamily="34" charset="-120"/>
              </a:rPr>
              <a:t>Socioeconomic research across 12 states; regression analysis predicted customer acquisition rates by location</a:t>
            </a:r>
            <a:endParaRPr lang="en-US" sz="900" dirty="0"/>
          </a:p>
        </p:txBody>
      </p:sp>
      <p:sp>
        <p:nvSpPr>
          <p:cNvPr id="30" name="Shape 28"/>
          <p:cNvSpPr/>
          <p:nvPr/>
        </p:nvSpPr>
        <p:spPr>
          <a:xfrm>
            <a:off x="4709160" y="3840480"/>
            <a:ext cx="4160520" cy="1115568"/>
          </a:xfrm>
          <a:prstGeom prst="roundRect">
            <a:avLst>
              <a:gd name="adj" fmla="val 5738"/>
            </a:avLst>
          </a:prstGeom>
          <a:solidFill>
            <a:srgbClr val="0E2030"/>
          </a:solidFill>
          <a:ln w="12700">
            <a:solidFill>
              <a:srgbClr val="D4A017"/>
            </a:solidFill>
            <a:prstDash val="solid"/>
          </a:ln>
          <a:effectLst>
            <a:outerShdw sx="100000" sy="100000" kx="0" ky="0" algn="bl" rotWithShape="0" blurRad="76200" dist="25400" dir="2700000">
              <a:srgbClr val="000000">
                <a:alpha val="12000"/>
              </a:srgbClr>
            </a:outerShdw>
          </a:effectLst>
        </p:spPr>
      </p:sp>
      <p:sp>
        <p:nvSpPr>
          <p:cNvPr id="31" name="Shape 29"/>
          <p:cNvSpPr/>
          <p:nvPr/>
        </p:nvSpPr>
        <p:spPr>
          <a:xfrm>
            <a:off x="4800600" y="3931920"/>
            <a:ext cx="841248" cy="274320"/>
          </a:xfrm>
          <a:prstGeom prst="roundRect">
            <a:avLst>
              <a:gd name="adj" fmla="val 16667"/>
            </a:avLst>
          </a:prstGeom>
          <a:solidFill>
            <a:srgbClr val="D4A017"/>
          </a:solidFill>
          <a:ln w="12700">
            <a:solidFill>
              <a:srgbClr val="D4A017"/>
            </a:solidFill>
            <a:prstDash val="solid"/>
          </a:ln>
        </p:spPr>
      </p:sp>
      <p:sp>
        <p:nvSpPr>
          <p:cNvPr id="32" name="Text 30"/>
          <p:cNvSpPr/>
          <p:nvPr/>
        </p:nvSpPr>
        <p:spPr>
          <a:xfrm>
            <a:off x="4800600" y="3931920"/>
            <a:ext cx="841248"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NBS Nigeria</a:t>
            </a:r>
            <a:endParaRPr lang="en-US" sz="900" dirty="0"/>
          </a:p>
        </p:txBody>
      </p:sp>
      <p:sp>
        <p:nvSpPr>
          <p:cNvPr id="33" name="Text 31"/>
          <p:cNvSpPr/>
          <p:nvPr/>
        </p:nvSpPr>
        <p:spPr>
          <a:xfrm>
            <a:off x="5715000" y="3931920"/>
            <a:ext cx="3017520" cy="274320"/>
          </a:xfrm>
          <a:prstGeom prst="rect">
            <a:avLst/>
          </a:prstGeom>
          <a:noFill/>
          <a:ln/>
        </p:spPr>
        <p:txBody>
          <a:bodyPr wrap="square" lIns="0" tIns="0" rIns="0" bIns="0" rtlCol="0" anchor="ctr"/>
          <a:lstStyle/>
          <a:p>
            <a:pPr indent="0" marL="0">
              <a:buNone/>
            </a:pPr>
            <a:r>
              <a:rPr lang="en-US" sz="1100" b="1" dirty="0">
                <a:solidFill>
                  <a:srgbClr val="D4A017"/>
                </a:solidFill>
                <a:latin typeface="Calibri" pitchFamily="34" charset="0"/>
                <a:ea typeface="Calibri" pitchFamily="34" charset="-122"/>
                <a:cs typeface="Calibri" pitchFamily="34" charset="-120"/>
              </a:rPr>
              <a:t>National poverty measurement</a:t>
            </a:r>
            <a:endParaRPr lang="en-US" sz="1100" dirty="0"/>
          </a:p>
        </p:txBody>
      </p:sp>
      <p:sp>
        <p:nvSpPr>
          <p:cNvPr id="34" name="Text 32"/>
          <p:cNvSpPr/>
          <p:nvPr/>
        </p:nvSpPr>
        <p:spPr>
          <a:xfrm>
            <a:off x="4818888" y="4279392"/>
            <a:ext cx="3913632" cy="594360"/>
          </a:xfrm>
          <a:prstGeom prst="rect">
            <a:avLst/>
          </a:prstGeom>
          <a:noFill/>
          <a:ln/>
        </p:spPr>
        <p:txBody>
          <a:bodyPr wrap="square" lIns="0" tIns="0" rIns="0" bIns="0" rtlCol="0" anchor="ctr"/>
          <a:lstStyle/>
          <a:p>
            <a:pPr indent="0" marL="0">
              <a:buNone/>
            </a:pPr>
            <a:r>
              <a:rPr lang="en-US" sz="900" dirty="0">
                <a:solidFill>
                  <a:srgbClr val="A8C8E8"/>
                </a:solidFill>
                <a:latin typeface="Calibri" pitchFamily="34" charset="0"/>
                <a:ea typeface="Calibri" pitchFamily="34" charset="-122"/>
                <a:cs typeface="Calibri" pitchFamily="34" charset="-120"/>
              </a:rPr>
              <a:t>Complex nationwide survey; SPSS weighted analysis produces official poverty headcount figures for policy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B5CA0">
              <a:alpha val="18000"/>
            </a:srgbClr>
          </a:solidFill>
          <a:ln w="12700">
            <a:solidFill>
              <a:srgbClr val="1B5CA0"/>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1  |  SECTION 02</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Types of Research</a:t>
            </a:r>
            <a:endParaRPr lang="en-US" sz="42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A8C8E8"/>
                </a:solidFill>
                <a:latin typeface="Calibri" pitchFamily="34" charset="0"/>
                <a:ea typeface="Calibri" pitchFamily="34" charset="-122"/>
                <a:cs typeface="Calibri" pitchFamily="34" charset="-120"/>
              </a:rPr>
              <a:t>Understanding the different research approaches and when to apply each one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562"/>
          </a:solidFill>
          <a:ln w="12700">
            <a:solidFill>
              <a:srgbClr val="1A3562"/>
            </a:solidFill>
            <a:prstDash val="solid"/>
          </a:ln>
        </p:spPr>
      </p:sp>
      <p:sp>
        <p:nvSpPr>
          <p:cNvPr id="3" name="Text 1"/>
          <p:cNvSpPr/>
          <p:nvPr/>
        </p:nvSpPr>
        <p:spPr>
          <a:xfrm>
            <a:off x="457200" y="109728"/>
            <a:ext cx="8229600" cy="713232"/>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Types of Research by Purpose</a:t>
            </a:r>
            <a:endParaRPr lang="en-US" sz="2600" dirty="0"/>
          </a:p>
        </p:txBody>
      </p:sp>
      <p:sp>
        <p:nvSpPr>
          <p:cNvPr id="4" name="Shape 2"/>
          <p:cNvSpPr/>
          <p:nvPr/>
        </p:nvSpPr>
        <p:spPr>
          <a:xfrm>
            <a:off x="274320" y="1078992"/>
            <a:ext cx="8595360" cy="1207008"/>
          </a:xfrm>
          <a:prstGeom prst="roundRect">
            <a:avLst>
              <a:gd name="adj" fmla="val 6061"/>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47472" y="1170432"/>
            <a:ext cx="1325880" cy="347472"/>
          </a:xfrm>
          <a:prstGeom prst="roundRect">
            <a:avLst>
              <a:gd name="adj" fmla="val 15789"/>
            </a:avLst>
          </a:prstGeom>
          <a:solidFill>
            <a:srgbClr val="1B5CA0"/>
          </a:solidFill>
          <a:ln w="12700">
            <a:solidFill>
              <a:srgbClr val="1B5CA0"/>
            </a:solidFill>
            <a:prstDash val="solid"/>
          </a:ln>
        </p:spPr>
      </p:sp>
      <p:sp>
        <p:nvSpPr>
          <p:cNvPr id="6" name="Text 4"/>
          <p:cNvSpPr/>
          <p:nvPr/>
        </p:nvSpPr>
        <p:spPr>
          <a:xfrm>
            <a:off x="347472" y="1170432"/>
            <a:ext cx="132588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BASIC (Pure) Research</a:t>
            </a:r>
            <a:endParaRPr lang="en-US" sz="850" dirty="0"/>
          </a:p>
        </p:txBody>
      </p:sp>
      <p:sp>
        <p:nvSpPr>
          <p:cNvPr id="7" name="Text 5"/>
          <p:cNvSpPr/>
          <p:nvPr/>
        </p:nvSpPr>
        <p:spPr>
          <a:xfrm>
            <a:off x="1755648" y="1170432"/>
            <a:ext cx="3090672" cy="45720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Expands knowledge without immediate practical application. Driven by curiosity and scientific inquiry.</a:t>
            </a:r>
            <a:endParaRPr lang="en-US" sz="1050" dirty="0"/>
          </a:p>
        </p:txBody>
      </p:sp>
      <p:sp>
        <p:nvSpPr>
          <p:cNvPr id="8" name="Shape 6"/>
          <p:cNvSpPr/>
          <p:nvPr/>
        </p:nvSpPr>
        <p:spPr>
          <a:xfrm>
            <a:off x="4956048" y="1170432"/>
            <a:ext cx="3822192" cy="822960"/>
          </a:xfrm>
          <a:prstGeom prst="roundRect">
            <a:avLst>
              <a:gd name="adj" fmla="val 6667"/>
            </a:avLst>
          </a:prstGeom>
          <a:solidFill>
            <a:srgbClr val="1B5CA0">
              <a:alpha val="8000"/>
            </a:srgbClr>
          </a:solidFill>
          <a:ln w="6350">
            <a:solidFill>
              <a:srgbClr val="1B5CA0"/>
            </a:solidFill>
            <a:prstDash val="solid"/>
          </a:ln>
        </p:spPr>
      </p:sp>
      <p:sp>
        <p:nvSpPr>
          <p:cNvPr id="9" name="Text 7"/>
          <p:cNvSpPr/>
          <p:nvPr/>
        </p:nvSpPr>
        <p:spPr>
          <a:xfrm>
            <a:off x="5047488" y="1207008"/>
            <a:ext cx="3639312" cy="749808"/>
          </a:xfrm>
          <a:prstGeom prst="rect">
            <a:avLst/>
          </a:prstGeom>
          <a:noFill/>
          <a:ln/>
        </p:spPr>
        <p:txBody>
          <a:bodyPr wrap="square" lIns="0" tIns="0" rIns="0" bIns="0" rtlCol="0" anchor="ctr"/>
          <a:lstStyle/>
          <a:p>
            <a:pPr indent="0" marL="0">
              <a:buNone/>
            </a:pPr>
            <a:r>
              <a:rPr lang="en-US" sz="900" b="1" dirty="0">
                <a:solidFill>
                  <a:srgbClr val="1B5CA0"/>
                </a:solidFill>
                <a:latin typeface="Calibri" pitchFamily="34" charset="0"/>
                <a:ea typeface="Calibri" pitchFamily="34" charset="-122"/>
                <a:cs typeface="Calibri" pitchFamily="34" charset="-120"/>
              </a:rPr>
              <a:t>UAC Foods Example: </a:t>
            </a:r>
            <a:pPr indent="0" marL="0">
              <a:buNone/>
            </a:pPr>
            <a:r>
              <a:rPr lang="en-US" sz="900" dirty="0">
                <a:solidFill>
                  <a:srgbClr val="2C3E50"/>
                </a:solidFill>
                <a:latin typeface="Calibri" pitchFamily="34" charset="0"/>
                <a:ea typeface="Calibri" pitchFamily="34" charset="-122"/>
                <a:cs typeface="Calibri" pitchFamily="34" charset="-120"/>
              </a:rPr>
              <a:t>UAC Foods funds a university study on consumer taste perception mechanisms in West African populations - no product yet, just understanding human biology.</a:t>
            </a:r>
            <a:endParaRPr lang="en-US" sz="900" dirty="0"/>
          </a:p>
        </p:txBody>
      </p:sp>
      <p:sp>
        <p:nvSpPr>
          <p:cNvPr id="10" name="Text 8"/>
          <p:cNvSpPr/>
          <p:nvPr/>
        </p:nvSpPr>
        <p:spPr>
          <a:xfrm>
            <a:off x="1755648" y="1664208"/>
            <a:ext cx="3090672" cy="530352"/>
          </a:xfrm>
          <a:prstGeom prst="rect">
            <a:avLst/>
          </a:prstGeom>
          <a:noFill/>
          <a:ln/>
        </p:spPr>
        <p:txBody>
          <a:bodyPr wrap="square" lIns="0" tIns="0" rIns="0" bIns="0" rtlCol="0" anchor="ctr"/>
          <a:lstStyle/>
          <a:p>
            <a:pPr indent="0" marL="0">
              <a:buNone/>
            </a:pPr>
            <a:r>
              <a:rPr lang="en-US" sz="950" i="1" dirty="0">
                <a:solidFill>
                  <a:srgbClr val="1B5CA0"/>
                </a:solidFill>
                <a:latin typeface="Calibri" pitchFamily="34" charset="0"/>
                <a:ea typeface="Calibri" pitchFamily="34" charset="-122"/>
                <a:cs typeface="Calibri" pitchFamily="34" charset="-120"/>
              </a:rPr>
              <a:t>Best for: Long-term R&amp;D, academic grants, foundational science</a:t>
            </a:r>
            <a:endParaRPr lang="en-US" sz="950" dirty="0"/>
          </a:p>
        </p:txBody>
      </p:sp>
      <p:sp>
        <p:nvSpPr>
          <p:cNvPr id="11" name="Shape 9"/>
          <p:cNvSpPr/>
          <p:nvPr/>
        </p:nvSpPr>
        <p:spPr>
          <a:xfrm>
            <a:off x="274320" y="2377440"/>
            <a:ext cx="8595360" cy="1207008"/>
          </a:xfrm>
          <a:prstGeom prst="roundRect">
            <a:avLst>
              <a:gd name="adj" fmla="val 6061"/>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2" name="Shape 10"/>
          <p:cNvSpPr/>
          <p:nvPr/>
        </p:nvSpPr>
        <p:spPr>
          <a:xfrm>
            <a:off x="347472" y="2468880"/>
            <a:ext cx="1325880" cy="347472"/>
          </a:xfrm>
          <a:prstGeom prst="roundRect">
            <a:avLst>
              <a:gd name="adj" fmla="val 15789"/>
            </a:avLst>
          </a:prstGeom>
          <a:solidFill>
            <a:srgbClr val="1A7A4A"/>
          </a:solidFill>
          <a:ln w="12700">
            <a:solidFill>
              <a:srgbClr val="1A7A4A"/>
            </a:solidFill>
            <a:prstDash val="solid"/>
          </a:ln>
        </p:spPr>
      </p:sp>
      <p:sp>
        <p:nvSpPr>
          <p:cNvPr id="13" name="Text 11"/>
          <p:cNvSpPr/>
          <p:nvPr/>
        </p:nvSpPr>
        <p:spPr>
          <a:xfrm>
            <a:off x="347472" y="2468880"/>
            <a:ext cx="132588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APPLIED Research</a:t>
            </a:r>
            <a:endParaRPr lang="en-US" sz="850" dirty="0"/>
          </a:p>
        </p:txBody>
      </p:sp>
      <p:sp>
        <p:nvSpPr>
          <p:cNvPr id="14" name="Text 12"/>
          <p:cNvSpPr/>
          <p:nvPr/>
        </p:nvSpPr>
        <p:spPr>
          <a:xfrm>
            <a:off x="1755648" y="2468880"/>
            <a:ext cx="3090672" cy="45720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Uses existing knowledge to solve a specific, identified real-world problem.</a:t>
            </a:r>
            <a:endParaRPr lang="en-US" sz="1050" dirty="0"/>
          </a:p>
        </p:txBody>
      </p:sp>
      <p:sp>
        <p:nvSpPr>
          <p:cNvPr id="15" name="Shape 13"/>
          <p:cNvSpPr/>
          <p:nvPr/>
        </p:nvSpPr>
        <p:spPr>
          <a:xfrm>
            <a:off x="4956048" y="2468880"/>
            <a:ext cx="3822192" cy="822960"/>
          </a:xfrm>
          <a:prstGeom prst="roundRect">
            <a:avLst>
              <a:gd name="adj" fmla="val 6667"/>
            </a:avLst>
          </a:prstGeom>
          <a:solidFill>
            <a:srgbClr val="1A7A4A">
              <a:alpha val="8000"/>
            </a:srgbClr>
          </a:solidFill>
          <a:ln w="6350">
            <a:solidFill>
              <a:srgbClr val="1A7A4A"/>
            </a:solidFill>
            <a:prstDash val="solid"/>
          </a:ln>
        </p:spPr>
      </p:sp>
      <p:sp>
        <p:nvSpPr>
          <p:cNvPr id="16" name="Text 14"/>
          <p:cNvSpPr/>
          <p:nvPr/>
        </p:nvSpPr>
        <p:spPr>
          <a:xfrm>
            <a:off x="5047488" y="2505456"/>
            <a:ext cx="3639312" cy="749808"/>
          </a:xfrm>
          <a:prstGeom prst="rect">
            <a:avLst/>
          </a:prstGeom>
          <a:noFill/>
          <a:ln/>
        </p:spPr>
        <p:txBody>
          <a:bodyPr wrap="square" lIns="0" tIns="0" rIns="0" bIns="0" rtlCol="0" anchor="ctr"/>
          <a:lstStyle/>
          <a:p>
            <a:pPr indent="0" marL="0">
              <a:buNone/>
            </a:pPr>
            <a:r>
              <a:rPr lang="en-US" sz="900" b="1" dirty="0">
                <a:solidFill>
                  <a:srgbClr val="1A7A4A"/>
                </a:solidFill>
                <a:latin typeface="Calibri" pitchFamily="34" charset="0"/>
                <a:ea typeface="Calibri" pitchFamily="34" charset="-122"/>
                <a:cs typeface="Calibri" pitchFamily="34" charset="-120"/>
              </a:rPr>
              <a:t>UAC Foods Example: </a:t>
            </a:r>
            <a:pPr indent="0" marL="0">
              <a:buNone/>
            </a:pPr>
            <a:r>
              <a:rPr lang="en-US" sz="900" dirty="0">
                <a:solidFill>
                  <a:srgbClr val="2C3E50"/>
                </a:solidFill>
                <a:latin typeface="Calibri" pitchFamily="34" charset="0"/>
                <a:ea typeface="Calibri" pitchFamily="34" charset="-122"/>
                <a:cs typeface="Calibri" pitchFamily="34" charset="-120"/>
              </a:rPr>
              <a:t>UAC Foods surveys 600 Lagos consumers to determine the optimal sugar-to-salt ratio for a new biscuit line before committing to production.</a:t>
            </a:r>
            <a:endParaRPr lang="en-US" sz="900" dirty="0"/>
          </a:p>
        </p:txBody>
      </p:sp>
      <p:sp>
        <p:nvSpPr>
          <p:cNvPr id="17" name="Text 15"/>
          <p:cNvSpPr/>
          <p:nvPr/>
        </p:nvSpPr>
        <p:spPr>
          <a:xfrm>
            <a:off x="1755648" y="2962656"/>
            <a:ext cx="3090672" cy="530352"/>
          </a:xfrm>
          <a:prstGeom prst="rect">
            <a:avLst/>
          </a:prstGeom>
          <a:noFill/>
          <a:ln/>
        </p:spPr>
        <p:txBody>
          <a:bodyPr wrap="square" lIns="0" tIns="0" rIns="0" bIns="0" rtlCol="0" anchor="ctr"/>
          <a:lstStyle/>
          <a:p>
            <a:pPr indent="0" marL="0">
              <a:buNone/>
            </a:pPr>
            <a:r>
              <a:rPr lang="en-US" sz="950" i="1" dirty="0">
                <a:solidFill>
                  <a:srgbClr val="1A7A4A"/>
                </a:solidFill>
                <a:latin typeface="Calibri" pitchFamily="34" charset="0"/>
                <a:ea typeface="Calibri" pitchFamily="34" charset="-122"/>
                <a:cs typeface="Calibri" pitchFamily="34" charset="-120"/>
              </a:rPr>
              <a:t>Best for: Product development, policy implementation, operational improvement</a:t>
            </a:r>
            <a:endParaRPr lang="en-US" sz="950" dirty="0"/>
          </a:p>
        </p:txBody>
      </p:sp>
      <p:sp>
        <p:nvSpPr>
          <p:cNvPr id="18" name="Shape 16"/>
          <p:cNvSpPr/>
          <p:nvPr/>
        </p:nvSpPr>
        <p:spPr>
          <a:xfrm>
            <a:off x="274320" y="3675888"/>
            <a:ext cx="8595360" cy="1207008"/>
          </a:xfrm>
          <a:prstGeom prst="roundRect">
            <a:avLst>
              <a:gd name="adj" fmla="val 6061"/>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9" name="Shape 17"/>
          <p:cNvSpPr/>
          <p:nvPr/>
        </p:nvSpPr>
        <p:spPr>
          <a:xfrm>
            <a:off x="347472" y="3767328"/>
            <a:ext cx="1325880" cy="347472"/>
          </a:xfrm>
          <a:prstGeom prst="roundRect">
            <a:avLst>
              <a:gd name="adj" fmla="val 15789"/>
            </a:avLst>
          </a:prstGeom>
          <a:solidFill>
            <a:srgbClr val="E67E22"/>
          </a:solidFill>
          <a:ln w="12700">
            <a:solidFill>
              <a:srgbClr val="E67E22"/>
            </a:solidFill>
            <a:prstDash val="solid"/>
          </a:ln>
        </p:spPr>
      </p:sp>
      <p:sp>
        <p:nvSpPr>
          <p:cNvPr id="20" name="Text 18"/>
          <p:cNvSpPr/>
          <p:nvPr/>
        </p:nvSpPr>
        <p:spPr>
          <a:xfrm>
            <a:off x="347472" y="3767328"/>
            <a:ext cx="132588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ACTION Research</a:t>
            </a:r>
            <a:endParaRPr lang="en-US" sz="850" dirty="0"/>
          </a:p>
        </p:txBody>
      </p:sp>
      <p:sp>
        <p:nvSpPr>
          <p:cNvPr id="21" name="Text 19"/>
          <p:cNvSpPr/>
          <p:nvPr/>
        </p:nvSpPr>
        <p:spPr>
          <a:xfrm>
            <a:off x="1755648" y="3767328"/>
            <a:ext cx="3090672" cy="457200"/>
          </a:xfrm>
          <a:prstGeom prst="rect">
            <a:avLst/>
          </a:prstGeom>
          <a:noFill/>
          <a:ln/>
        </p:spPr>
        <p:txBody>
          <a:bodyPr wrap="square" lIns="0" tIns="0" rIns="0" bIns="0" rtlCol="0" anchor="ctr"/>
          <a:lstStyle/>
          <a:p>
            <a:pPr indent="0" marL="0">
              <a:buNone/>
            </a:pPr>
            <a:r>
              <a:rPr lang="en-US" sz="1050" dirty="0">
                <a:solidFill>
                  <a:srgbClr val="2C3E50"/>
                </a:solidFill>
                <a:latin typeface="Calibri" pitchFamily="34" charset="0"/>
                <a:ea typeface="Calibri" pitchFamily="34" charset="-122"/>
                <a:cs typeface="Calibri" pitchFamily="34" charset="-120"/>
              </a:rPr>
              <a:t>Practitioner-led, cyclical process of investigating and improving a specific practice or situation.</a:t>
            </a:r>
            <a:endParaRPr lang="en-US" sz="1050" dirty="0"/>
          </a:p>
        </p:txBody>
      </p:sp>
      <p:sp>
        <p:nvSpPr>
          <p:cNvPr id="22" name="Shape 20"/>
          <p:cNvSpPr/>
          <p:nvPr/>
        </p:nvSpPr>
        <p:spPr>
          <a:xfrm>
            <a:off x="4956048" y="3767328"/>
            <a:ext cx="3822192" cy="822960"/>
          </a:xfrm>
          <a:prstGeom prst="roundRect">
            <a:avLst>
              <a:gd name="adj" fmla="val 6667"/>
            </a:avLst>
          </a:prstGeom>
          <a:solidFill>
            <a:srgbClr val="E67E22">
              <a:alpha val="8000"/>
            </a:srgbClr>
          </a:solidFill>
          <a:ln w="6350">
            <a:solidFill>
              <a:srgbClr val="E67E22"/>
            </a:solidFill>
            <a:prstDash val="solid"/>
          </a:ln>
        </p:spPr>
      </p:sp>
      <p:sp>
        <p:nvSpPr>
          <p:cNvPr id="23" name="Text 21"/>
          <p:cNvSpPr/>
          <p:nvPr/>
        </p:nvSpPr>
        <p:spPr>
          <a:xfrm>
            <a:off x="5047488" y="3803904"/>
            <a:ext cx="3639312" cy="749808"/>
          </a:xfrm>
          <a:prstGeom prst="rect">
            <a:avLst/>
          </a:prstGeom>
          <a:noFill/>
          <a:ln/>
        </p:spPr>
        <p:txBody>
          <a:bodyPr wrap="square" lIns="0" tIns="0" rIns="0" bIns="0" rtlCol="0" anchor="ctr"/>
          <a:lstStyle/>
          <a:p>
            <a:pPr indent="0" marL="0">
              <a:buNone/>
            </a:pPr>
            <a:r>
              <a:rPr lang="en-US" sz="900" b="1" dirty="0">
                <a:solidFill>
                  <a:srgbClr val="E67E22"/>
                </a:solidFill>
                <a:latin typeface="Calibri" pitchFamily="34" charset="0"/>
                <a:ea typeface="Calibri" pitchFamily="34" charset="-122"/>
                <a:cs typeface="Calibri" pitchFamily="34" charset="-120"/>
              </a:rPr>
              <a:t>UAC Foods Example: </a:t>
            </a:r>
            <a:pPr indent="0" marL="0">
              <a:buNone/>
            </a:pPr>
            <a:r>
              <a:rPr lang="en-US" sz="900" dirty="0">
                <a:solidFill>
                  <a:srgbClr val="2C3E50"/>
                </a:solidFill>
                <a:latin typeface="Calibri" pitchFamily="34" charset="0"/>
                <a:ea typeface="Calibri" pitchFamily="34" charset="-122"/>
                <a:cs typeface="Calibri" pitchFamily="34" charset="-120"/>
              </a:rPr>
              <a:t>A UAC Foods production manager investigates why rejection rates on the biscuit line increased 12% in Q3 and tests corrective interventions in real-time.</a:t>
            </a:r>
            <a:endParaRPr lang="en-US" sz="900" dirty="0"/>
          </a:p>
        </p:txBody>
      </p:sp>
      <p:sp>
        <p:nvSpPr>
          <p:cNvPr id="24" name="Text 22"/>
          <p:cNvSpPr/>
          <p:nvPr/>
        </p:nvSpPr>
        <p:spPr>
          <a:xfrm>
            <a:off x="1755648" y="4261104"/>
            <a:ext cx="3090672" cy="530352"/>
          </a:xfrm>
          <a:prstGeom prst="rect">
            <a:avLst/>
          </a:prstGeom>
          <a:noFill/>
          <a:ln/>
        </p:spPr>
        <p:txBody>
          <a:bodyPr wrap="square" lIns="0" tIns="0" rIns="0" bIns="0" rtlCol="0" anchor="ctr"/>
          <a:lstStyle/>
          <a:p>
            <a:pPr indent="0" marL="0">
              <a:buNone/>
            </a:pPr>
            <a:r>
              <a:rPr lang="en-US" sz="950" i="1" dirty="0">
                <a:solidFill>
                  <a:srgbClr val="E67E22"/>
                </a:solidFill>
                <a:latin typeface="Calibri" pitchFamily="34" charset="0"/>
                <a:ea typeface="Calibri" pitchFamily="34" charset="-122"/>
                <a:cs typeface="Calibri" pitchFamily="34" charset="-120"/>
              </a:rPr>
              <a:t>Best for: Continuous improvement, classroom practice, quality management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F1E3C"/>
          </a:solidFill>
          <a:ln w="12700">
            <a:solidFill>
              <a:srgbClr val="0F1E3C"/>
            </a:solidFill>
            <a:prstDash val="solid"/>
          </a:ln>
        </p:spPr>
      </p:sp>
      <p:sp>
        <p:nvSpPr>
          <p:cNvPr id="3" name="Text 1"/>
          <p:cNvSpPr/>
          <p:nvPr/>
        </p:nvSpPr>
        <p:spPr>
          <a:xfrm>
            <a:off x="457200" y="109728"/>
            <a:ext cx="8229600" cy="713232"/>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Quantitative, Qualitative and Mixed Methods</a:t>
            </a:r>
            <a:endParaRPr lang="en-US" sz="2400" dirty="0"/>
          </a:p>
        </p:txBody>
      </p:sp>
      <p:sp>
        <p:nvSpPr>
          <p:cNvPr id="4" name="Shape 2"/>
          <p:cNvSpPr/>
          <p:nvPr/>
        </p:nvSpPr>
        <p:spPr>
          <a:xfrm>
            <a:off x="256032" y="1024128"/>
            <a:ext cx="2834640" cy="4005072"/>
          </a:xfrm>
          <a:prstGeom prst="roundRect">
            <a:avLst>
              <a:gd name="adj" fmla="val 2903"/>
            </a:avLst>
          </a:prstGeom>
          <a:solidFill>
            <a:srgbClr val="EBF5FB"/>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10896" y="1078992"/>
            <a:ext cx="2724912" cy="502920"/>
          </a:xfrm>
          <a:prstGeom prst="roundRect">
            <a:avLst>
              <a:gd name="adj" fmla="val 12727"/>
            </a:avLst>
          </a:prstGeom>
          <a:solidFill>
            <a:srgbClr val="1B5CA0"/>
          </a:solidFill>
          <a:ln w="12700">
            <a:solidFill>
              <a:srgbClr val="1B5CA0"/>
            </a:solidFill>
            <a:prstDash val="solid"/>
          </a:ln>
        </p:spPr>
      </p:sp>
      <p:sp>
        <p:nvSpPr>
          <p:cNvPr id="6" name="Text 4"/>
          <p:cNvSpPr/>
          <p:nvPr/>
        </p:nvSpPr>
        <p:spPr>
          <a:xfrm>
            <a:off x="310896" y="1078992"/>
            <a:ext cx="2724912"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QUANTITATIVE</a:t>
            </a:r>
            <a:endParaRPr lang="en-US" sz="1300" dirty="0"/>
          </a:p>
        </p:txBody>
      </p:sp>
      <p:sp>
        <p:nvSpPr>
          <p:cNvPr id="7" name="Text 5"/>
          <p:cNvSpPr/>
          <p:nvPr/>
        </p:nvSpPr>
        <p:spPr>
          <a:xfrm>
            <a:off x="365760" y="1664208"/>
            <a:ext cx="2596896" cy="31089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Collects numerical data</a:t>
            </a:r>
            <a:endParaRPr lang="en-US" sz="950" dirty="0"/>
          </a:p>
        </p:txBody>
      </p:sp>
      <p:sp>
        <p:nvSpPr>
          <p:cNvPr id="8" name="Text 6"/>
          <p:cNvSpPr/>
          <p:nvPr/>
        </p:nvSpPr>
        <p:spPr>
          <a:xfrm>
            <a:off x="365760" y="1993392"/>
            <a:ext cx="2596896" cy="31089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Uses statistical analysis (SPSS)</a:t>
            </a:r>
            <a:endParaRPr lang="en-US" sz="950" dirty="0"/>
          </a:p>
        </p:txBody>
      </p:sp>
      <p:sp>
        <p:nvSpPr>
          <p:cNvPr id="9" name="Text 7"/>
          <p:cNvSpPr/>
          <p:nvPr/>
        </p:nvSpPr>
        <p:spPr>
          <a:xfrm>
            <a:off x="365760" y="2322576"/>
            <a:ext cx="2596896" cy="31089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Tests hypotheses</a:t>
            </a:r>
            <a:endParaRPr lang="en-US" sz="950" dirty="0"/>
          </a:p>
        </p:txBody>
      </p:sp>
      <p:sp>
        <p:nvSpPr>
          <p:cNvPr id="10" name="Text 8"/>
          <p:cNvSpPr/>
          <p:nvPr/>
        </p:nvSpPr>
        <p:spPr>
          <a:xfrm>
            <a:off x="365760" y="2651760"/>
            <a:ext cx="2596896" cy="31089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Seeks to generalise findings</a:t>
            </a:r>
            <a:endParaRPr lang="en-US" sz="950" dirty="0"/>
          </a:p>
        </p:txBody>
      </p:sp>
      <p:sp>
        <p:nvSpPr>
          <p:cNvPr id="11" name="Text 9"/>
          <p:cNvSpPr/>
          <p:nvPr/>
        </p:nvSpPr>
        <p:spPr>
          <a:xfrm>
            <a:off x="365760" y="2980944"/>
            <a:ext cx="2596896" cy="31089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Surveys, experiments, structured obs.</a:t>
            </a:r>
            <a:endParaRPr lang="en-US" sz="950" dirty="0"/>
          </a:p>
        </p:txBody>
      </p:sp>
      <p:sp>
        <p:nvSpPr>
          <p:cNvPr id="12" name="Shape 10"/>
          <p:cNvSpPr/>
          <p:nvPr/>
        </p:nvSpPr>
        <p:spPr>
          <a:xfrm>
            <a:off x="347472" y="3346704"/>
            <a:ext cx="2633472" cy="18288"/>
          </a:xfrm>
          <a:prstGeom prst="rect">
            <a:avLst/>
          </a:prstGeom>
          <a:solidFill>
            <a:srgbClr val="1B5CA0"/>
          </a:solidFill>
          <a:ln w="12700">
            <a:solidFill>
              <a:srgbClr val="1B5CA0"/>
            </a:solidFill>
            <a:prstDash val="solid"/>
          </a:ln>
        </p:spPr>
      </p:sp>
      <p:sp>
        <p:nvSpPr>
          <p:cNvPr id="13" name="Text 11"/>
          <p:cNvSpPr/>
          <p:nvPr/>
        </p:nvSpPr>
        <p:spPr>
          <a:xfrm>
            <a:off x="365760" y="3401568"/>
            <a:ext cx="2596896" cy="1097280"/>
          </a:xfrm>
          <a:prstGeom prst="rect">
            <a:avLst/>
          </a:prstGeom>
          <a:noFill/>
          <a:ln/>
        </p:spPr>
        <p:txBody>
          <a:bodyPr wrap="square" lIns="0" tIns="0" rIns="0" bIns="0" rtlCol="0" anchor="ctr"/>
          <a:lstStyle/>
          <a:p>
            <a:pPr indent="0" marL="0">
              <a:buNone/>
            </a:pPr>
            <a:r>
              <a:rPr lang="en-US" sz="850" b="1" dirty="0">
                <a:solidFill>
                  <a:srgbClr val="1B5CA0"/>
                </a:solidFill>
                <a:latin typeface="Calibri" pitchFamily="34" charset="0"/>
                <a:ea typeface="Calibri" pitchFamily="34" charset="-122"/>
                <a:cs typeface="Calibri" pitchFamily="34" charset="-120"/>
              </a:rPr>
              <a:t>UAC Example: </a:t>
            </a:r>
            <a:pPr indent="0" marL="0">
              <a:buNone/>
            </a:pPr>
            <a:r>
              <a:rPr lang="en-US" sz="850" dirty="0">
                <a:solidFill>
                  <a:srgbClr val="2C3E50"/>
                </a:solidFill>
                <a:latin typeface="Calibri" pitchFamily="34" charset="0"/>
                <a:ea typeface="Calibri" pitchFamily="34" charset="-122"/>
                <a:cs typeface="Calibri" pitchFamily="34" charset="-120"/>
              </a:rPr>
              <a:t>Survey 500 UAC Foods customers rating packaging quality 1-10. Analyse mean scores and test whether ratings differ by age group using ANOVA in SPSS.</a:t>
            </a:r>
            <a:endParaRPr lang="en-US" sz="850" dirty="0"/>
          </a:p>
        </p:txBody>
      </p:sp>
      <p:sp>
        <p:nvSpPr>
          <p:cNvPr id="14" name="Shape 12"/>
          <p:cNvSpPr/>
          <p:nvPr/>
        </p:nvSpPr>
        <p:spPr>
          <a:xfrm>
            <a:off x="3227832" y="1024128"/>
            <a:ext cx="2834640" cy="4005072"/>
          </a:xfrm>
          <a:prstGeom prst="roundRect">
            <a:avLst>
              <a:gd name="adj" fmla="val 2903"/>
            </a:avLst>
          </a:prstGeom>
          <a:solidFill>
            <a:srgbClr val="FEF3E7"/>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5" name="Shape 13"/>
          <p:cNvSpPr/>
          <p:nvPr/>
        </p:nvSpPr>
        <p:spPr>
          <a:xfrm>
            <a:off x="3282696" y="1078992"/>
            <a:ext cx="2724912" cy="502920"/>
          </a:xfrm>
          <a:prstGeom prst="roundRect">
            <a:avLst>
              <a:gd name="adj" fmla="val 12727"/>
            </a:avLst>
          </a:prstGeom>
          <a:solidFill>
            <a:srgbClr val="E67E22"/>
          </a:solidFill>
          <a:ln w="12700">
            <a:solidFill>
              <a:srgbClr val="E67E22"/>
            </a:solidFill>
            <a:prstDash val="solid"/>
          </a:ln>
        </p:spPr>
      </p:sp>
      <p:sp>
        <p:nvSpPr>
          <p:cNvPr id="16" name="Text 14"/>
          <p:cNvSpPr/>
          <p:nvPr/>
        </p:nvSpPr>
        <p:spPr>
          <a:xfrm>
            <a:off x="3282696" y="1078992"/>
            <a:ext cx="2724912"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QUALITATIVE</a:t>
            </a:r>
            <a:endParaRPr lang="en-US" sz="1300" dirty="0"/>
          </a:p>
        </p:txBody>
      </p:sp>
      <p:sp>
        <p:nvSpPr>
          <p:cNvPr id="17" name="Text 15"/>
          <p:cNvSpPr/>
          <p:nvPr/>
        </p:nvSpPr>
        <p:spPr>
          <a:xfrm>
            <a:off x="3337560" y="1664208"/>
            <a:ext cx="2596896" cy="31089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Collects text, audio, images</a:t>
            </a:r>
            <a:endParaRPr lang="en-US" sz="950" dirty="0"/>
          </a:p>
        </p:txBody>
      </p:sp>
      <p:sp>
        <p:nvSpPr>
          <p:cNvPr id="18" name="Text 16"/>
          <p:cNvSpPr/>
          <p:nvPr/>
        </p:nvSpPr>
        <p:spPr>
          <a:xfrm>
            <a:off x="3337560" y="1993392"/>
            <a:ext cx="2596896" cy="31089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Uses thematic / content analysis</a:t>
            </a:r>
            <a:endParaRPr lang="en-US" sz="950" dirty="0"/>
          </a:p>
        </p:txBody>
      </p:sp>
      <p:sp>
        <p:nvSpPr>
          <p:cNvPr id="19" name="Text 17"/>
          <p:cNvSpPr/>
          <p:nvPr/>
        </p:nvSpPr>
        <p:spPr>
          <a:xfrm>
            <a:off x="3337560" y="2322576"/>
            <a:ext cx="2596896" cy="31089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Explores meaning and experience</a:t>
            </a:r>
            <a:endParaRPr lang="en-US" sz="950" dirty="0"/>
          </a:p>
        </p:txBody>
      </p:sp>
      <p:sp>
        <p:nvSpPr>
          <p:cNvPr id="20" name="Text 18"/>
          <p:cNvSpPr/>
          <p:nvPr/>
        </p:nvSpPr>
        <p:spPr>
          <a:xfrm>
            <a:off x="3337560" y="2651760"/>
            <a:ext cx="2596896" cy="31089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Context-specific, not generalisable</a:t>
            </a:r>
            <a:endParaRPr lang="en-US" sz="950" dirty="0"/>
          </a:p>
        </p:txBody>
      </p:sp>
      <p:sp>
        <p:nvSpPr>
          <p:cNvPr id="21" name="Text 19"/>
          <p:cNvSpPr/>
          <p:nvPr/>
        </p:nvSpPr>
        <p:spPr>
          <a:xfrm>
            <a:off x="3337560" y="2980944"/>
            <a:ext cx="2596896" cy="31089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Interviews, FGDs, observation</a:t>
            </a:r>
            <a:endParaRPr lang="en-US" sz="950" dirty="0"/>
          </a:p>
        </p:txBody>
      </p:sp>
      <p:sp>
        <p:nvSpPr>
          <p:cNvPr id="22" name="Shape 20"/>
          <p:cNvSpPr/>
          <p:nvPr/>
        </p:nvSpPr>
        <p:spPr>
          <a:xfrm>
            <a:off x="3319272" y="3346704"/>
            <a:ext cx="2633472" cy="18288"/>
          </a:xfrm>
          <a:prstGeom prst="rect">
            <a:avLst/>
          </a:prstGeom>
          <a:solidFill>
            <a:srgbClr val="E67E22"/>
          </a:solidFill>
          <a:ln w="12700">
            <a:solidFill>
              <a:srgbClr val="E67E22"/>
            </a:solidFill>
            <a:prstDash val="solid"/>
          </a:ln>
        </p:spPr>
      </p:sp>
      <p:sp>
        <p:nvSpPr>
          <p:cNvPr id="23" name="Text 21"/>
          <p:cNvSpPr/>
          <p:nvPr/>
        </p:nvSpPr>
        <p:spPr>
          <a:xfrm>
            <a:off x="3337560" y="3401568"/>
            <a:ext cx="2596896" cy="1097280"/>
          </a:xfrm>
          <a:prstGeom prst="rect">
            <a:avLst/>
          </a:prstGeom>
          <a:noFill/>
          <a:ln/>
        </p:spPr>
        <p:txBody>
          <a:bodyPr wrap="square" lIns="0" tIns="0" rIns="0" bIns="0" rtlCol="0" anchor="ctr"/>
          <a:lstStyle/>
          <a:p>
            <a:pPr indent="0" marL="0">
              <a:buNone/>
            </a:pPr>
            <a:r>
              <a:rPr lang="en-US" sz="850" b="1" dirty="0">
                <a:solidFill>
                  <a:srgbClr val="E67E22"/>
                </a:solidFill>
                <a:latin typeface="Calibri" pitchFamily="34" charset="0"/>
                <a:ea typeface="Calibri" pitchFamily="34" charset="-122"/>
                <a:cs typeface="Calibri" pitchFamily="34" charset="-120"/>
              </a:rPr>
              <a:t>UAC Example: </a:t>
            </a:r>
            <a:pPr indent="0" marL="0">
              <a:buNone/>
            </a:pPr>
            <a:r>
              <a:rPr lang="en-US" sz="850" dirty="0">
                <a:solidFill>
                  <a:srgbClr val="2C3E50"/>
                </a:solidFill>
                <a:latin typeface="Calibri" pitchFamily="34" charset="0"/>
                <a:ea typeface="Calibri" pitchFamily="34" charset="-122"/>
                <a:cs typeface="Calibri" pitchFamily="34" charset="-120"/>
              </a:rPr>
              <a:t>Conduct 8 focus groups with UAC Foods customers exploring WHY they prefer competitor snacks - capturing emotional and cultural factors surveys cannot detect.</a:t>
            </a:r>
            <a:endParaRPr lang="en-US" sz="850" dirty="0"/>
          </a:p>
        </p:txBody>
      </p:sp>
      <p:sp>
        <p:nvSpPr>
          <p:cNvPr id="24" name="Shape 22"/>
          <p:cNvSpPr/>
          <p:nvPr/>
        </p:nvSpPr>
        <p:spPr>
          <a:xfrm>
            <a:off x="6199632" y="1024128"/>
            <a:ext cx="2834640" cy="4005072"/>
          </a:xfrm>
          <a:prstGeom prst="roundRect">
            <a:avLst>
              <a:gd name="adj" fmla="val 2903"/>
            </a:avLst>
          </a:prstGeom>
          <a:solidFill>
            <a:srgbClr val="EAF9F0"/>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25" name="Shape 23"/>
          <p:cNvSpPr/>
          <p:nvPr/>
        </p:nvSpPr>
        <p:spPr>
          <a:xfrm>
            <a:off x="6254496" y="1078992"/>
            <a:ext cx="2724912" cy="502920"/>
          </a:xfrm>
          <a:prstGeom prst="roundRect">
            <a:avLst>
              <a:gd name="adj" fmla="val 12727"/>
            </a:avLst>
          </a:prstGeom>
          <a:solidFill>
            <a:srgbClr val="1A7A4A"/>
          </a:solidFill>
          <a:ln w="12700">
            <a:solidFill>
              <a:srgbClr val="1A7A4A"/>
            </a:solidFill>
            <a:prstDash val="solid"/>
          </a:ln>
        </p:spPr>
      </p:sp>
      <p:sp>
        <p:nvSpPr>
          <p:cNvPr id="26" name="Text 24"/>
          <p:cNvSpPr/>
          <p:nvPr/>
        </p:nvSpPr>
        <p:spPr>
          <a:xfrm>
            <a:off x="6254496" y="1078992"/>
            <a:ext cx="2724912"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MIXED METHODS</a:t>
            </a:r>
            <a:endParaRPr lang="en-US" sz="1300" dirty="0"/>
          </a:p>
        </p:txBody>
      </p:sp>
      <p:sp>
        <p:nvSpPr>
          <p:cNvPr id="27" name="Text 25"/>
          <p:cNvSpPr/>
          <p:nvPr/>
        </p:nvSpPr>
        <p:spPr>
          <a:xfrm>
            <a:off x="6309360" y="1664208"/>
            <a:ext cx="2596896" cy="31089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Combines both approaches</a:t>
            </a:r>
            <a:endParaRPr lang="en-US" sz="950" dirty="0"/>
          </a:p>
        </p:txBody>
      </p:sp>
      <p:sp>
        <p:nvSpPr>
          <p:cNvPr id="28" name="Text 26"/>
          <p:cNvSpPr/>
          <p:nvPr/>
        </p:nvSpPr>
        <p:spPr>
          <a:xfrm>
            <a:off x="6309360" y="1993392"/>
            <a:ext cx="2596896" cy="31089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Quan validates Qual findings</a:t>
            </a:r>
            <a:endParaRPr lang="en-US" sz="950" dirty="0"/>
          </a:p>
        </p:txBody>
      </p:sp>
      <p:sp>
        <p:nvSpPr>
          <p:cNvPr id="29" name="Text 27"/>
          <p:cNvSpPr/>
          <p:nvPr/>
        </p:nvSpPr>
        <p:spPr>
          <a:xfrm>
            <a:off x="6309360" y="2322576"/>
            <a:ext cx="2596896" cy="31089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Qual explains Quan results</a:t>
            </a:r>
            <a:endParaRPr lang="en-US" sz="950" dirty="0"/>
          </a:p>
        </p:txBody>
      </p:sp>
      <p:sp>
        <p:nvSpPr>
          <p:cNvPr id="30" name="Text 28"/>
          <p:cNvSpPr/>
          <p:nvPr/>
        </p:nvSpPr>
        <p:spPr>
          <a:xfrm>
            <a:off x="6309360" y="2651760"/>
            <a:ext cx="2596896" cy="31089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More complete picture</a:t>
            </a:r>
            <a:endParaRPr lang="en-US" sz="950" dirty="0"/>
          </a:p>
        </p:txBody>
      </p:sp>
      <p:sp>
        <p:nvSpPr>
          <p:cNvPr id="31" name="Text 29"/>
          <p:cNvSpPr/>
          <p:nvPr/>
        </p:nvSpPr>
        <p:spPr>
          <a:xfrm>
            <a:off x="6309360" y="2980944"/>
            <a:ext cx="2596896" cy="310896"/>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Sequential or concurrent design</a:t>
            </a:r>
            <a:endParaRPr lang="en-US" sz="950" dirty="0"/>
          </a:p>
        </p:txBody>
      </p:sp>
      <p:sp>
        <p:nvSpPr>
          <p:cNvPr id="32" name="Shape 30"/>
          <p:cNvSpPr/>
          <p:nvPr/>
        </p:nvSpPr>
        <p:spPr>
          <a:xfrm>
            <a:off x="6291072" y="3346704"/>
            <a:ext cx="2633472" cy="18288"/>
          </a:xfrm>
          <a:prstGeom prst="rect">
            <a:avLst/>
          </a:prstGeom>
          <a:solidFill>
            <a:srgbClr val="1A7A4A"/>
          </a:solidFill>
          <a:ln w="12700">
            <a:solidFill>
              <a:srgbClr val="1A7A4A"/>
            </a:solidFill>
            <a:prstDash val="solid"/>
          </a:ln>
        </p:spPr>
      </p:sp>
      <p:sp>
        <p:nvSpPr>
          <p:cNvPr id="33" name="Text 31"/>
          <p:cNvSpPr/>
          <p:nvPr/>
        </p:nvSpPr>
        <p:spPr>
          <a:xfrm>
            <a:off x="6309360" y="3401568"/>
            <a:ext cx="2596896" cy="1097280"/>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UAC Example: </a:t>
            </a:r>
            <a:pPr indent="0" marL="0">
              <a:buNone/>
            </a:pPr>
            <a:r>
              <a:rPr lang="en-US" sz="850" dirty="0">
                <a:solidFill>
                  <a:srgbClr val="2C3E50"/>
                </a:solidFill>
                <a:latin typeface="Calibri" pitchFamily="34" charset="0"/>
                <a:ea typeface="Calibri" pitchFamily="34" charset="-122"/>
                <a:cs typeface="Calibri" pitchFamily="34" charset="-120"/>
              </a:rPr>
              <a:t>Phase 1: Survey 400 consumers (SPSS). Phase 2: FGDs with low-satisfaction group to understand ROOT CAUSES of dissatisfaction found in Phase 1.</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7132320" y="3200400"/>
            <a:ext cx="3657600" cy="3657600"/>
          </a:xfrm>
          <a:prstGeom prst="ellipse">
            <a:avLst/>
          </a:prstGeom>
          <a:solidFill>
            <a:srgbClr val="1B5CA0">
              <a:alpha val="16000"/>
            </a:srgbClr>
          </a:solidFill>
          <a:ln w="12700">
            <a:solidFill>
              <a:srgbClr val="1B5CA0"/>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Research by Time Frame</a:t>
            </a:r>
            <a:endParaRPr lang="en-US" sz="3000" dirty="0"/>
          </a:p>
        </p:txBody>
      </p:sp>
      <p:sp>
        <p:nvSpPr>
          <p:cNvPr id="4" name="Shape 2"/>
          <p:cNvSpPr/>
          <p:nvPr/>
        </p:nvSpPr>
        <p:spPr>
          <a:xfrm>
            <a:off x="274320" y="932688"/>
            <a:ext cx="4160520" cy="1828800"/>
          </a:xfrm>
          <a:prstGeom prst="roundRect">
            <a:avLst>
              <a:gd name="adj" fmla="val 4500"/>
            </a:avLst>
          </a:prstGeom>
          <a:solidFill>
            <a:srgbClr val="0D1F35"/>
          </a:solidFill>
          <a:ln w="15240">
            <a:solidFill>
              <a:srgbClr val="2E86C1"/>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65760" y="1024128"/>
            <a:ext cx="1188720" cy="292608"/>
          </a:xfrm>
          <a:prstGeom prst="roundRect">
            <a:avLst>
              <a:gd name="adj" fmla="val 15625"/>
            </a:avLst>
          </a:prstGeom>
          <a:solidFill>
            <a:srgbClr val="2E86C1"/>
          </a:solidFill>
          <a:ln w="12700">
            <a:solidFill>
              <a:srgbClr val="2E86C1"/>
            </a:solidFill>
            <a:prstDash val="solid"/>
          </a:ln>
        </p:spPr>
      </p:sp>
      <p:sp>
        <p:nvSpPr>
          <p:cNvPr id="6" name="Text 4"/>
          <p:cNvSpPr/>
          <p:nvPr/>
        </p:nvSpPr>
        <p:spPr>
          <a:xfrm>
            <a:off x="365760" y="1024128"/>
            <a:ext cx="1188720" cy="292608"/>
          </a:xfrm>
          <a:prstGeom prst="rect">
            <a:avLst/>
          </a:prstGeom>
          <a:noFill/>
          <a:ln/>
        </p:spPr>
        <p:txBody>
          <a:bodyPr wrap="square" lIns="0" tIns="0" rIns="0" bIns="0" rtlCol="0" anchor="ctr"/>
          <a:lstStyle/>
          <a:p>
            <a:pPr algn="ctr" indent="0" marL="0">
              <a:buNone/>
            </a:pPr>
            <a:r>
              <a:rPr lang="en-US" sz="850" b="1" dirty="0">
                <a:solidFill>
                  <a:srgbClr val="0F1E3C"/>
                </a:solidFill>
                <a:latin typeface="Calibri" pitchFamily="34" charset="0"/>
                <a:ea typeface="Calibri" pitchFamily="34" charset="-122"/>
                <a:cs typeface="Calibri" pitchFamily="34" charset="-120"/>
              </a:rPr>
              <a:t>Cross-Sectional</a:t>
            </a:r>
            <a:endParaRPr lang="en-US" sz="850" dirty="0"/>
          </a:p>
        </p:txBody>
      </p:sp>
      <p:sp>
        <p:nvSpPr>
          <p:cNvPr id="7" name="Text 5"/>
          <p:cNvSpPr/>
          <p:nvPr/>
        </p:nvSpPr>
        <p:spPr>
          <a:xfrm>
            <a:off x="1645920" y="1024128"/>
            <a:ext cx="2670048" cy="292608"/>
          </a:xfrm>
          <a:prstGeom prst="rect">
            <a:avLst/>
          </a:prstGeom>
          <a:noFill/>
          <a:ln/>
        </p:spPr>
        <p:txBody>
          <a:bodyPr wrap="square" lIns="0" tIns="0" rIns="0" bIns="0" rtlCol="0" anchor="ctr"/>
          <a:lstStyle/>
          <a:p>
            <a:pPr indent="0" marL="0">
              <a:buNone/>
            </a:pPr>
            <a:r>
              <a:rPr lang="en-US" sz="1050" i="1" dirty="0">
                <a:solidFill>
                  <a:srgbClr val="2E86C1"/>
                </a:solidFill>
                <a:latin typeface="Calibri" pitchFamily="34" charset="0"/>
                <a:ea typeface="Calibri" pitchFamily="34" charset="-122"/>
                <a:cs typeface="Calibri" pitchFamily="34" charset="-120"/>
              </a:rPr>
              <a:t>Single point in time</a:t>
            </a:r>
            <a:endParaRPr lang="en-US" sz="1050" dirty="0"/>
          </a:p>
        </p:txBody>
      </p:sp>
      <p:sp>
        <p:nvSpPr>
          <p:cNvPr id="8" name="Text 6"/>
          <p:cNvSpPr/>
          <p:nvPr/>
        </p:nvSpPr>
        <p:spPr>
          <a:xfrm>
            <a:off x="384048" y="1408176"/>
            <a:ext cx="3913632" cy="658368"/>
          </a:xfrm>
          <a:prstGeom prst="rect">
            <a:avLst/>
          </a:prstGeom>
          <a:noFill/>
          <a:ln/>
        </p:spPr>
        <p:txBody>
          <a:bodyPr wrap="square" lIns="0" tIns="0" rIns="0" bIns="0" rtlCol="0" anchor="ctr"/>
          <a:lstStyle/>
          <a:p>
            <a:pPr indent="0" marL="0">
              <a:buNone/>
            </a:pPr>
            <a:r>
              <a:rPr lang="en-US" sz="950" b="1" dirty="0">
                <a:solidFill>
                  <a:srgbClr val="2E86C1"/>
                </a:solidFill>
                <a:latin typeface="Calibri" pitchFamily="34" charset="0"/>
                <a:ea typeface="Calibri" pitchFamily="34" charset="-122"/>
                <a:cs typeface="Calibri" pitchFamily="34" charset="-120"/>
              </a:rPr>
              <a:t>Example: </a:t>
            </a:r>
            <a:pPr indent="0" marL="0">
              <a:buNone/>
            </a:pPr>
            <a:r>
              <a:rPr lang="en-US" sz="950" dirty="0">
                <a:solidFill>
                  <a:srgbClr val="A8C8E8"/>
                </a:solidFill>
                <a:latin typeface="Calibri" pitchFamily="34" charset="0"/>
                <a:ea typeface="Calibri" pitchFamily="34" charset="-122"/>
                <a:cs typeface="Calibri" pitchFamily="34" charset="-120"/>
              </a:rPr>
              <a:t>UAC Foods survey of 600 consumers in October 2025 - a snapshot of current preferences</a:t>
            </a:r>
            <a:endParaRPr lang="en-US" sz="950" dirty="0"/>
          </a:p>
        </p:txBody>
      </p:sp>
      <p:sp>
        <p:nvSpPr>
          <p:cNvPr id="9" name="Text 7"/>
          <p:cNvSpPr/>
          <p:nvPr/>
        </p:nvSpPr>
        <p:spPr>
          <a:xfrm>
            <a:off x="384048" y="2103120"/>
            <a:ext cx="3913632" cy="566928"/>
          </a:xfrm>
          <a:prstGeom prst="rect">
            <a:avLst/>
          </a:prstGeom>
          <a:noFill/>
          <a:ln/>
        </p:spPr>
        <p:txBody>
          <a:bodyPr wrap="square" lIns="0" tIns="0" rIns="0" bIns="0" rtlCol="0" anchor="ctr"/>
          <a:lstStyle/>
          <a:p>
            <a:pPr indent="0" marL="0">
              <a:buNone/>
            </a:pPr>
            <a:r>
              <a:rPr lang="en-US" sz="900" i="1" dirty="0">
                <a:solidFill>
                  <a:srgbClr val="6FA8DC"/>
                </a:solidFill>
                <a:latin typeface="Calibri" pitchFamily="34" charset="0"/>
                <a:ea typeface="Calibri" pitchFamily="34" charset="-122"/>
                <a:cs typeface="Calibri" pitchFamily="34" charset="-120"/>
              </a:rPr>
              <a:t>Quick, cost-effective. Best for prevalence studies and baseline measurements</a:t>
            </a:r>
            <a:endParaRPr lang="en-US" sz="900" dirty="0"/>
          </a:p>
        </p:txBody>
      </p:sp>
      <p:sp>
        <p:nvSpPr>
          <p:cNvPr id="10" name="Shape 8"/>
          <p:cNvSpPr/>
          <p:nvPr/>
        </p:nvSpPr>
        <p:spPr>
          <a:xfrm>
            <a:off x="4709160" y="932688"/>
            <a:ext cx="4160520" cy="1828800"/>
          </a:xfrm>
          <a:prstGeom prst="roundRect">
            <a:avLst>
              <a:gd name="adj" fmla="val 4500"/>
            </a:avLst>
          </a:prstGeom>
          <a:solidFill>
            <a:srgbClr val="0D1F35"/>
          </a:solidFill>
          <a:ln w="15240">
            <a:solidFill>
              <a:srgbClr val="D4A017"/>
            </a:solidFill>
            <a:prstDash val="solid"/>
          </a:ln>
          <a:effectLst>
            <a:outerShdw sx="100000" sy="100000" kx="0" ky="0" algn="bl" rotWithShape="0" blurRad="76200" dist="25400" dir="2700000">
              <a:srgbClr val="000000">
                <a:alpha val="12000"/>
              </a:srgbClr>
            </a:outerShdw>
          </a:effectLst>
        </p:spPr>
      </p:sp>
      <p:sp>
        <p:nvSpPr>
          <p:cNvPr id="11" name="Shape 9"/>
          <p:cNvSpPr/>
          <p:nvPr/>
        </p:nvSpPr>
        <p:spPr>
          <a:xfrm>
            <a:off x="4800600" y="1024128"/>
            <a:ext cx="1188720" cy="292608"/>
          </a:xfrm>
          <a:prstGeom prst="roundRect">
            <a:avLst>
              <a:gd name="adj" fmla="val 15625"/>
            </a:avLst>
          </a:prstGeom>
          <a:solidFill>
            <a:srgbClr val="D4A017"/>
          </a:solidFill>
          <a:ln w="12700">
            <a:solidFill>
              <a:srgbClr val="D4A017"/>
            </a:solidFill>
            <a:prstDash val="solid"/>
          </a:ln>
        </p:spPr>
      </p:sp>
      <p:sp>
        <p:nvSpPr>
          <p:cNvPr id="12" name="Text 10"/>
          <p:cNvSpPr/>
          <p:nvPr/>
        </p:nvSpPr>
        <p:spPr>
          <a:xfrm>
            <a:off x="4800600" y="1024128"/>
            <a:ext cx="1188720" cy="292608"/>
          </a:xfrm>
          <a:prstGeom prst="rect">
            <a:avLst/>
          </a:prstGeom>
          <a:noFill/>
          <a:ln/>
        </p:spPr>
        <p:txBody>
          <a:bodyPr wrap="square" lIns="0" tIns="0" rIns="0" bIns="0" rtlCol="0" anchor="ctr"/>
          <a:lstStyle/>
          <a:p>
            <a:pPr algn="ctr" indent="0" marL="0">
              <a:buNone/>
            </a:pPr>
            <a:r>
              <a:rPr lang="en-US" sz="850" b="1" dirty="0">
                <a:solidFill>
                  <a:srgbClr val="0F1E3C"/>
                </a:solidFill>
                <a:latin typeface="Calibri" pitchFamily="34" charset="0"/>
                <a:ea typeface="Calibri" pitchFamily="34" charset="-122"/>
                <a:cs typeface="Calibri" pitchFamily="34" charset="-120"/>
              </a:rPr>
              <a:t>Longitudinal</a:t>
            </a:r>
            <a:endParaRPr lang="en-US" sz="850" dirty="0"/>
          </a:p>
        </p:txBody>
      </p:sp>
      <p:sp>
        <p:nvSpPr>
          <p:cNvPr id="13" name="Text 11"/>
          <p:cNvSpPr/>
          <p:nvPr/>
        </p:nvSpPr>
        <p:spPr>
          <a:xfrm>
            <a:off x="6080760" y="1024128"/>
            <a:ext cx="2670048" cy="292608"/>
          </a:xfrm>
          <a:prstGeom prst="rect">
            <a:avLst/>
          </a:prstGeom>
          <a:noFill/>
          <a:ln/>
        </p:spPr>
        <p:txBody>
          <a:bodyPr wrap="square" lIns="0" tIns="0" rIns="0" bIns="0" rtlCol="0" anchor="ctr"/>
          <a:lstStyle/>
          <a:p>
            <a:pPr indent="0" marL="0">
              <a:buNone/>
            </a:pPr>
            <a:r>
              <a:rPr lang="en-US" sz="1050" i="1" dirty="0">
                <a:solidFill>
                  <a:srgbClr val="D4A017"/>
                </a:solidFill>
                <a:latin typeface="Calibri" pitchFamily="34" charset="0"/>
                <a:ea typeface="Calibri" pitchFamily="34" charset="-122"/>
                <a:cs typeface="Calibri" pitchFamily="34" charset="-120"/>
              </a:rPr>
              <a:t>Multiple time points, same subjects</a:t>
            </a:r>
            <a:endParaRPr lang="en-US" sz="1050" dirty="0"/>
          </a:p>
        </p:txBody>
      </p:sp>
      <p:sp>
        <p:nvSpPr>
          <p:cNvPr id="14" name="Text 12"/>
          <p:cNvSpPr/>
          <p:nvPr/>
        </p:nvSpPr>
        <p:spPr>
          <a:xfrm>
            <a:off x="4818888" y="1408176"/>
            <a:ext cx="3913632" cy="658368"/>
          </a:xfrm>
          <a:prstGeom prst="rect">
            <a:avLst/>
          </a:prstGeom>
          <a:noFill/>
          <a:ln/>
        </p:spPr>
        <p:txBody>
          <a:bodyPr wrap="square" lIns="0" tIns="0" rIns="0" bIns="0" rtlCol="0" anchor="ctr"/>
          <a:lstStyle/>
          <a:p>
            <a:pPr indent="0" marL="0">
              <a:buNone/>
            </a:pPr>
            <a:r>
              <a:rPr lang="en-US" sz="950" b="1" dirty="0">
                <a:solidFill>
                  <a:srgbClr val="D4A017"/>
                </a:solidFill>
                <a:latin typeface="Calibri" pitchFamily="34" charset="0"/>
                <a:ea typeface="Calibri" pitchFamily="34" charset="-122"/>
                <a:cs typeface="Calibri" pitchFamily="34" charset="-120"/>
              </a:rPr>
              <a:t>Example: </a:t>
            </a:r>
            <a:pPr indent="0" marL="0">
              <a:buNone/>
            </a:pPr>
            <a:r>
              <a:rPr lang="en-US" sz="950" dirty="0">
                <a:solidFill>
                  <a:srgbClr val="A8C8E8"/>
                </a:solidFill>
                <a:latin typeface="Calibri" pitchFamily="34" charset="0"/>
                <a:ea typeface="Calibri" pitchFamily="34" charset="-122"/>
                <a:cs typeface="Calibri" pitchFamily="34" charset="-120"/>
              </a:rPr>
              <a:t>Tracking brand loyalty of 300 UAC Foods customers quarterly for 2 years</a:t>
            </a:r>
            <a:endParaRPr lang="en-US" sz="950" dirty="0"/>
          </a:p>
        </p:txBody>
      </p:sp>
      <p:sp>
        <p:nvSpPr>
          <p:cNvPr id="15" name="Text 13"/>
          <p:cNvSpPr/>
          <p:nvPr/>
        </p:nvSpPr>
        <p:spPr>
          <a:xfrm>
            <a:off x="4818888" y="2103120"/>
            <a:ext cx="3913632" cy="566928"/>
          </a:xfrm>
          <a:prstGeom prst="rect">
            <a:avLst/>
          </a:prstGeom>
          <a:noFill/>
          <a:ln/>
        </p:spPr>
        <p:txBody>
          <a:bodyPr wrap="square" lIns="0" tIns="0" rIns="0" bIns="0" rtlCol="0" anchor="ctr"/>
          <a:lstStyle/>
          <a:p>
            <a:pPr indent="0" marL="0">
              <a:buNone/>
            </a:pPr>
            <a:r>
              <a:rPr lang="en-US" sz="900" i="1" dirty="0">
                <a:solidFill>
                  <a:srgbClr val="6FA8DC"/>
                </a:solidFill>
                <a:latin typeface="Calibri" pitchFamily="34" charset="0"/>
                <a:ea typeface="Calibri" pitchFamily="34" charset="-122"/>
                <a:cs typeface="Calibri" pitchFamily="34" charset="-120"/>
              </a:rPr>
              <a:t>Shows change over time. Essential for understanding trends and causal sequences</a:t>
            </a:r>
            <a:endParaRPr lang="en-US" sz="900" dirty="0"/>
          </a:p>
        </p:txBody>
      </p:sp>
      <p:sp>
        <p:nvSpPr>
          <p:cNvPr id="16" name="Shape 14"/>
          <p:cNvSpPr/>
          <p:nvPr/>
        </p:nvSpPr>
        <p:spPr>
          <a:xfrm>
            <a:off x="274320" y="2926080"/>
            <a:ext cx="4160520" cy="1828800"/>
          </a:xfrm>
          <a:prstGeom prst="roundRect">
            <a:avLst>
              <a:gd name="adj" fmla="val 4500"/>
            </a:avLst>
          </a:prstGeom>
          <a:solidFill>
            <a:srgbClr val="0D1F35"/>
          </a:solidFill>
          <a:ln w="15240">
            <a:solidFill>
              <a:srgbClr val="E67E22"/>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65760" y="3017520"/>
            <a:ext cx="1188720" cy="292608"/>
          </a:xfrm>
          <a:prstGeom prst="roundRect">
            <a:avLst>
              <a:gd name="adj" fmla="val 15625"/>
            </a:avLst>
          </a:prstGeom>
          <a:solidFill>
            <a:srgbClr val="E67E22"/>
          </a:solidFill>
          <a:ln w="12700">
            <a:solidFill>
              <a:srgbClr val="E67E22"/>
            </a:solidFill>
            <a:prstDash val="solid"/>
          </a:ln>
        </p:spPr>
      </p:sp>
      <p:sp>
        <p:nvSpPr>
          <p:cNvPr id="18" name="Text 16"/>
          <p:cNvSpPr/>
          <p:nvPr/>
        </p:nvSpPr>
        <p:spPr>
          <a:xfrm>
            <a:off x="365760" y="3017520"/>
            <a:ext cx="1188720" cy="292608"/>
          </a:xfrm>
          <a:prstGeom prst="rect">
            <a:avLst/>
          </a:prstGeom>
          <a:noFill/>
          <a:ln/>
        </p:spPr>
        <p:txBody>
          <a:bodyPr wrap="square" lIns="0" tIns="0" rIns="0" bIns="0" rtlCol="0" anchor="ctr"/>
          <a:lstStyle/>
          <a:p>
            <a:pPr algn="ctr" indent="0" marL="0">
              <a:buNone/>
            </a:pPr>
            <a:r>
              <a:rPr lang="en-US" sz="850" b="1" dirty="0">
                <a:solidFill>
                  <a:srgbClr val="0F1E3C"/>
                </a:solidFill>
                <a:latin typeface="Calibri" pitchFamily="34" charset="0"/>
                <a:ea typeface="Calibri" pitchFamily="34" charset="-122"/>
                <a:cs typeface="Calibri" pitchFamily="34" charset="-120"/>
              </a:rPr>
              <a:t>Retrospective</a:t>
            </a:r>
            <a:endParaRPr lang="en-US" sz="850" dirty="0"/>
          </a:p>
        </p:txBody>
      </p:sp>
      <p:sp>
        <p:nvSpPr>
          <p:cNvPr id="19" name="Text 17"/>
          <p:cNvSpPr/>
          <p:nvPr/>
        </p:nvSpPr>
        <p:spPr>
          <a:xfrm>
            <a:off x="1645920" y="3017520"/>
            <a:ext cx="2670048" cy="292608"/>
          </a:xfrm>
          <a:prstGeom prst="rect">
            <a:avLst/>
          </a:prstGeom>
          <a:noFill/>
          <a:ln/>
        </p:spPr>
        <p:txBody>
          <a:bodyPr wrap="square" lIns="0" tIns="0" rIns="0" bIns="0" rtlCol="0" anchor="ctr"/>
          <a:lstStyle/>
          <a:p>
            <a:pPr indent="0" marL="0">
              <a:buNone/>
            </a:pPr>
            <a:r>
              <a:rPr lang="en-US" sz="1050" i="1" dirty="0">
                <a:solidFill>
                  <a:srgbClr val="E67E22"/>
                </a:solidFill>
                <a:latin typeface="Calibri" pitchFamily="34" charset="0"/>
                <a:ea typeface="Calibri" pitchFamily="34" charset="-122"/>
                <a:cs typeface="Calibri" pitchFamily="34" charset="-120"/>
              </a:rPr>
              <a:t>Looks BACKWARD at past data</a:t>
            </a:r>
            <a:endParaRPr lang="en-US" sz="1050" dirty="0"/>
          </a:p>
        </p:txBody>
      </p:sp>
      <p:sp>
        <p:nvSpPr>
          <p:cNvPr id="20" name="Text 18"/>
          <p:cNvSpPr/>
          <p:nvPr/>
        </p:nvSpPr>
        <p:spPr>
          <a:xfrm>
            <a:off x="384048" y="3401568"/>
            <a:ext cx="3913632" cy="658368"/>
          </a:xfrm>
          <a:prstGeom prst="rect">
            <a:avLst/>
          </a:prstGeom>
          <a:noFill/>
          <a:ln/>
        </p:spPr>
        <p:txBody>
          <a:bodyPr wrap="square" lIns="0" tIns="0" rIns="0" bIns="0" rtlCol="0" anchor="ctr"/>
          <a:lstStyle/>
          <a:p>
            <a:pPr indent="0" marL="0">
              <a:buNone/>
            </a:pPr>
            <a:r>
              <a:rPr lang="en-US" sz="950" b="1" dirty="0">
                <a:solidFill>
                  <a:srgbClr val="E67E22"/>
                </a:solidFill>
                <a:latin typeface="Calibri" pitchFamily="34" charset="0"/>
                <a:ea typeface="Calibri" pitchFamily="34" charset="-122"/>
                <a:cs typeface="Calibri" pitchFamily="34" charset="-120"/>
              </a:rPr>
              <a:t>Example: </a:t>
            </a:r>
            <a:pPr indent="0" marL="0">
              <a:buNone/>
            </a:pPr>
            <a:r>
              <a:rPr lang="en-US" sz="950" dirty="0">
                <a:solidFill>
                  <a:srgbClr val="A8C8E8"/>
                </a:solidFill>
                <a:latin typeface="Calibri" pitchFamily="34" charset="0"/>
                <a:ea typeface="Calibri" pitchFamily="34" charset="-122"/>
                <a:cs typeface="Calibri" pitchFamily="34" charset="-120"/>
              </a:rPr>
              <a:t>Analysing UAC Foods sales transaction records from 2020 to 2024 for patterns</a:t>
            </a:r>
            <a:endParaRPr lang="en-US" sz="950" dirty="0"/>
          </a:p>
        </p:txBody>
      </p:sp>
      <p:sp>
        <p:nvSpPr>
          <p:cNvPr id="21" name="Text 19"/>
          <p:cNvSpPr/>
          <p:nvPr/>
        </p:nvSpPr>
        <p:spPr>
          <a:xfrm>
            <a:off x="384048" y="4096512"/>
            <a:ext cx="3913632" cy="566928"/>
          </a:xfrm>
          <a:prstGeom prst="rect">
            <a:avLst/>
          </a:prstGeom>
          <a:noFill/>
          <a:ln/>
        </p:spPr>
        <p:txBody>
          <a:bodyPr wrap="square" lIns="0" tIns="0" rIns="0" bIns="0" rtlCol="0" anchor="ctr"/>
          <a:lstStyle/>
          <a:p>
            <a:pPr indent="0" marL="0">
              <a:buNone/>
            </a:pPr>
            <a:r>
              <a:rPr lang="en-US" sz="900" i="1" dirty="0">
                <a:solidFill>
                  <a:srgbClr val="6FA8DC"/>
                </a:solidFill>
                <a:latin typeface="Calibri" pitchFamily="34" charset="0"/>
                <a:ea typeface="Calibri" pitchFamily="34" charset="-122"/>
                <a:cs typeface="Calibri" pitchFamily="34" charset="-120"/>
              </a:rPr>
              <a:t>Uses existing data - faster and cheaper. Cannot control data quality.</a:t>
            </a:r>
            <a:endParaRPr lang="en-US" sz="900" dirty="0"/>
          </a:p>
        </p:txBody>
      </p:sp>
      <p:sp>
        <p:nvSpPr>
          <p:cNvPr id="22" name="Shape 20"/>
          <p:cNvSpPr/>
          <p:nvPr/>
        </p:nvSpPr>
        <p:spPr>
          <a:xfrm>
            <a:off x="4709160" y="2926080"/>
            <a:ext cx="4160520" cy="1828800"/>
          </a:xfrm>
          <a:prstGeom prst="roundRect">
            <a:avLst>
              <a:gd name="adj" fmla="val 4500"/>
            </a:avLst>
          </a:prstGeom>
          <a:solidFill>
            <a:srgbClr val="0D1F35"/>
          </a:solidFill>
          <a:ln w="15240">
            <a:solidFill>
              <a:srgbClr val="1A7A4A"/>
            </a:solidFill>
            <a:prstDash val="solid"/>
          </a:ln>
          <a:effectLst>
            <a:outerShdw sx="100000" sy="100000" kx="0" ky="0" algn="bl" rotWithShape="0" blurRad="76200" dist="25400" dir="2700000">
              <a:srgbClr val="000000">
                <a:alpha val="12000"/>
              </a:srgbClr>
            </a:outerShdw>
          </a:effectLst>
        </p:spPr>
      </p:sp>
      <p:sp>
        <p:nvSpPr>
          <p:cNvPr id="23" name="Shape 21"/>
          <p:cNvSpPr/>
          <p:nvPr/>
        </p:nvSpPr>
        <p:spPr>
          <a:xfrm>
            <a:off x="4800600" y="3017520"/>
            <a:ext cx="1188720" cy="292608"/>
          </a:xfrm>
          <a:prstGeom prst="roundRect">
            <a:avLst>
              <a:gd name="adj" fmla="val 15625"/>
            </a:avLst>
          </a:prstGeom>
          <a:solidFill>
            <a:srgbClr val="1A7A4A"/>
          </a:solidFill>
          <a:ln w="12700">
            <a:solidFill>
              <a:srgbClr val="1A7A4A"/>
            </a:solidFill>
            <a:prstDash val="solid"/>
          </a:ln>
        </p:spPr>
      </p:sp>
      <p:sp>
        <p:nvSpPr>
          <p:cNvPr id="24" name="Text 22"/>
          <p:cNvSpPr/>
          <p:nvPr/>
        </p:nvSpPr>
        <p:spPr>
          <a:xfrm>
            <a:off x="4800600" y="3017520"/>
            <a:ext cx="1188720" cy="292608"/>
          </a:xfrm>
          <a:prstGeom prst="rect">
            <a:avLst/>
          </a:prstGeom>
          <a:noFill/>
          <a:ln/>
        </p:spPr>
        <p:txBody>
          <a:bodyPr wrap="square" lIns="0" tIns="0" rIns="0" bIns="0" rtlCol="0" anchor="ctr"/>
          <a:lstStyle/>
          <a:p>
            <a:pPr algn="ctr" indent="0" marL="0">
              <a:buNone/>
            </a:pPr>
            <a:r>
              <a:rPr lang="en-US" sz="850" b="1" dirty="0">
                <a:solidFill>
                  <a:srgbClr val="0F1E3C"/>
                </a:solidFill>
                <a:latin typeface="Calibri" pitchFamily="34" charset="0"/>
                <a:ea typeface="Calibri" pitchFamily="34" charset="-122"/>
                <a:cs typeface="Calibri" pitchFamily="34" charset="-120"/>
              </a:rPr>
              <a:t>Prospective</a:t>
            </a:r>
            <a:endParaRPr lang="en-US" sz="850" dirty="0"/>
          </a:p>
        </p:txBody>
      </p:sp>
      <p:sp>
        <p:nvSpPr>
          <p:cNvPr id="25" name="Text 23"/>
          <p:cNvSpPr/>
          <p:nvPr/>
        </p:nvSpPr>
        <p:spPr>
          <a:xfrm>
            <a:off x="6080760" y="3017520"/>
            <a:ext cx="2670048" cy="292608"/>
          </a:xfrm>
          <a:prstGeom prst="rect">
            <a:avLst/>
          </a:prstGeom>
          <a:noFill/>
          <a:ln/>
        </p:spPr>
        <p:txBody>
          <a:bodyPr wrap="square" lIns="0" tIns="0" rIns="0" bIns="0" rtlCol="0" anchor="ctr"/>
          <a:lstStyle/>
          <a:p>
            <a:pPr indent="0" marL="0">
              <a:buNone/>
            </a:pPr>
            <a:r>
              <a:rPr lang="en-US" sz="1050" i="1" dirty="0">
                <a:solidFill>
                  <a:srgbClr val="1A7A4A"/>
                </a:solidFill>
                <a:latin typeface="Calibri" pitchFamily="34" charset="0"/>
                <a:ea typeface="Calibri" pitchFamily="34" charset="-122"/>
                <a:cs typeface="Calibri" pitchFamily="34" charset="-120"/>
              </a:rPr>
              <a:t>Follows subjects FORWARD in time</a:t>
            </a:r>
            <a:endParaRPr lang="en-US" sz="1050" dirty="0"/>
          </a:p>
        </p:txBody>
      </p:sp>
      <p:sp>
        <p:nvSpPr>
          <p:cNvPr id="26" name="Text 24"/>
          <p:cNvSpPr/>
          <p:nvPr/>
        </p:nvSpPr>
        <p:spPr>
          <a:xfrm>
            <a:off x="4818888" y="3401568"/>
            <a:ext cx="3913632" cy="658368"/>
          </a:xfrm>
          <a:prstGeom prst="rect">
            <a:avLst/>
          </a:prstGeom>
          <a:noFill/>
          <a:ln/>
        </p:spPr>
        <p:txBody>
          <a:bodyPr wrap="square" lIns="0" tIns="0" rIns="0" bIns="0" rtlCol="0" anchor="ctr"/>
          <a:lstStyle/>
          <a:p>
            <a:pPr indent="0" marL="0">
              <a:buNone/>
            </a:pPr>
            <a:r>
              <a:rPr lang="en-US" sz="950" b="1" dirty="0">
                <a:solidFill>
                  <a:srgbClr val="1A7A4A"/>
                </a:solidFill>
                <a:latin typeface="Calibri" pitchFamily="34" charset="0"/>
                <a:ea typeface="Calibri" pitchFamily="34" charset="-122"/>
                <a:cs typeface="Calibri" pitchFamily="34" charset="-120"/>
              </a:rPr>
              <a:t>Example: </a:t>
            </a:r>
            <a:pPr indent="0" marL="0">
              <a:buNone/>
            </a:pPr>
            <a:r>
              <a:rPr lang="en-US" sz="950" dirty="0">
                <a:solidFill>
                  <a:srgbClr val="A8C8E8"/>
                </a:solidFill>
                <a:latin typeface="Calibri" pitchFamily="34" charset="0"/>
                <a:ea typeface="Calibri" pitchFamily="34" charset="-122"/>
                <a:cs typeface="Calibri" pitchFamily="34" charset="-120"/>
              </a:rPr>
              <a:t>Enrolling new UAC Foods distributors now and tracking performance for 18 months</a:t>
            </a:r>
            <a:endParaRPr lang="en-US" sz="950" dirty="0"/>
          </a:p>
        </p:txBody>
      </p:sp>
      <p:sp>
        <p:nvSpPr>
          <p:cNvPr id="27" name="Text 25"/>
          <p:cNvSpPr/>
          <p:nvPr/>
        </p:nvSpPr>
        <p:spPr>
          <a:xfrm>
            <a:off x="4818888" y="4096512"/>
            <a:ext cx="3913632" cy="566928"/>
          </a:xfrm>
          <a:prstGeom prst="rect">
            <a:avLst/>
          </a:prstGeom>
          <a:noFill/>
          <a:ln/>
        </p:spPr>
        <p:txBody>
          <a:bodyPr wrap="square" lIns="0" tIns="0" rIns="0" bIns="0" rtlCol="0" anchor="ctr"/>
          <a:lstStyle/>
          <a:p>
            <a:pPr indent="0" marL="0">
              <a:buNone/>
            </a:pPr>
            <a:r>
              <a:rPr lang="en-US" sz="900" i="1" dirty="0">
                <a:solidFill>
                  <a:srgbClr val="6FA8DC"/>
                </a:solidFill>
                <a:latin typeface="Calibri" pitchFamily="34" charset="0"/>
                <a:ea typeface="Calibri" pitchFamily="34" charset="-122"/>
                <a:cs typeface="Calibri" pitchFamily="34" charset="-120"/>
              </a:rPr>
              <a:t>Strongest for causality. Expensive and time-consuming but high quality.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B5CA0">
              <a:alpha val="18000"/>
            </a:srgbClr>
          </a:solidFill>
          <a:ln w="12700">
            <a:solidFill>
              <a:srgbClr val="1B5CA0"/>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1  |  SECTION 03</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Research Problem and Hypothesis</a:t>
            </a:r>
            <a:endParaRPr lang="en-US" sz="42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A8C8E8"/>
                </a:solidFill>
                <a:latin typeface="Calibri" pitchFamily="34" charset="0"/>
                <a:ea typeface="Calibri" pitchFamily="34" charset="-122"/>
                <a:cs typeface="Calibri" pitchFamily="34" charset="-120"/>
              </a:rPr>
              <a:t>Formulating a clear, testable research question - the compass of every study</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562"/>
          </a:solidFill>
          <a:ln w="12700">
            <a:solidFill>
              <a:srgbClr val="1A3562"/>
            </a:solidFill>
            <a:prstDash val="solid"/>
          </a:ln>
        </p:spPr>
      </p:sp>
      <p:sp>
        <p:nvSpPr>
          <p:cNvPr id="3" name="Text 1"/>
          <p:cNvSpPr/>
          <p:nvPr/>
        </p:nvSpPr>
        <p:spPr>
          <a:xfrm>
            <a:off x="457200" y="109728"/>
            <a:ext cx="8229600" cy="713232"/>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Formulating the Research Problem Statement</a:t>
            </a:r>
            <a:endParaRPr lang="en-US" sz="2400" dirty="0"/>
          </a:p>
        </p:txBody>
      </p:sp>
      <p:sp>
        <p:nvSpPr>
          <p:cNvPr id="4" name="Shape 2"/>
          <p:cNvSpPr/>
          <p:nvPr/>
        </p:nvSpPr>
        <p:spPr>
          <a:xfrm>
            <a:off x="274320" y="1051560"/>
            <a:ext cx="4023360" cy="987552"/>
          </a:xfrm>
          <a:prstGeom prst="roundRect">
            <a:avLst>
              <a:gd name="adj" fmla="val 7407"/>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97280"/>
            <a:ext cx="3840480" cy="292608"/>
          </a:xfrm>
          <a:prstGeom prst="rect">
            <a:avLst/>
          </a:prstGeom>
          <a:noFill/>
          <a:ln/>
        </p:spPr>
        <p:txBody>
          <a:bodyPr wrap="square" lIns="0" tIns="0" rIns="0" bIns="0" rtlCol="0" anchor="ctr"/>
          <a:lstStyle/>
          <a:p>
            <a:pPr indent="0" marL="0">
              <a:buNone/>
            </a:pPr>
            <a:r>
              <a:rPr lang="en-US" sz="1200" b="1" dirty="0">
                <a:solidFill>
                  <a:srgbClr val="0F1E3C"/>
                </a:solidFill>
                <a:latin typeface="Calibri" pitchFamily="34" charset="0"/>
                <a:ea typeface="Calibri" pitchFamily="34" charset="-122"/>
                <a:cs typeface="Calibri" pitchFamily="34" charset="-120"/>
              </a:rPr>
              <a:t>What is a Problem Statement?</a:t>
            </a:r>
            <a:endParaRPr lang="en-US" sz="1200" dirty="0"/>
          </a:p>
        </p:txBody>
      </p:sp>
      <p:sp>
        <p:nvSpPr>
          <p:cNvPr id="6" name="Text 4"/>
          <p:cNvSpPr/>
          <p:nvPr/>
        </p:nvSpPr>
        <p:spPr>
          <a:xfrm>
            <a:off x="384048" y="1417320"/>
            <a:ext cx="3822192" cy="566928"/>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A precise, focused articulation of the issue being investigated. It identifies a GAP between what is known and what needs to be known. Every research decision flows from it.</a:t>
            </a:r>
            <a:endParaRPr lang="en-US" sz="1000" dirty="0"/>
          </a:p>
        </p:txBody>
      </p:sp>
      <p:sp>
        <p:nvSpPr>
          <p:cNvPr id="7" name="Shape 5"/>
          <p:cNvSpPr/>
          <p:nvPr/>
        </p:nvSpPr>
        <p:spPr>
          <a:xfrm>
            <a:off x="4434840" y="1051560"/>
            <a:ext cx="2176272" cy="457200"/>
          </a:xfrm>
          <a:prstGeom prst="roundRect">
            <a:avLst>
              <a:gd name="adj" fmla="val 12000"/>
            </a:avLst>
          </a:prstGeom>
          <a:solidFill>
            <a:srgbClr val="F7F9FC"/>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8" name="Shape 6"/>
          <p:cNvSpPr/>
          <p:nvPr/>
        </p:nvSpPr>
        <p:spPr>
          <a:xfrm>
            <a:off x="4526280" y="1106424"/>
            <a:ext cx="347472" cy="347472"/>
          </a:xfrm>
          <a:prstGeom prst="ellipse">
            <a:avLst/>
          </a:prstGeom>
          <a:solidFill>
            <a:srgbClr val="1A3562"/>
          </a:solidFill>
          <a:ln w="12700">
            <a:solidFill>
              <a:srgbClr val="1A3562"/>
            </a:solidFill>
            <a:prstDash val="solid"/>
          </a:ln>
        </p:spPr>
      </p:sp>
      <p:sp>
        <p:nvSpPr>
          <p:cNvPr id="9" name="Text 7"/>
          <p:cNvSpPr/>
          <p:nvPr/>
        </p:nvSpPr>
        <p:spPr>
          <a:xfrm>
            <a:off x="4526280" y="1106424"/>
            <a:ext cx="347472" cy="347472"/>
          </a:xfrm>
          <a:prstGeom prst="rect">
            <a:avLst/>
          </a:prstGeom>
          <a:noFill/>
          <a:ln/>
        </p:spPr>
        <p:txBody>
          <a:bodyPr wrap="square" lIns="0" tIns="0" rIns="0" bIns="0" rtlCol="0" anchor="ctr"/>
          <a:lstStyle/>
          <a:p>
            <a:pPr algn="ctr" indent="0" marL="0">
              <a:buNone/>
            </a:pPr>
            <a:r>
              <a:rPr lang="en-US" sz="1100" b="1" dirty="0">
                <a:solidFill>
                  <a:srgbClr val="F0C040"/>
                </a:solidFill>
                <a:latin typeface="Cambria" pitchFamily="34" charset="0"/>
                <a:ea typeface="Cambria" pitchFamily="34" charset="-122"/>
                <a:cs typeface="Cambria" pitchFamily="34" charset="-120"/>
              </a:rPr>
              <a:t>1</a:t>
            </a:r>
            <a:endParaRPr lang="en-US" sz="1100" dirty="0"/>
          </a:p>
        </p:txBody>
      </p:sp>
      <p:sp>
        <p:nvSpPr>
          <p:cNvPr id="10" name="Text 8"/>
          <p:cNvSpPr/>
          <p:nvPr/>
        </p:nvSpPr>
        <p:spPr>
          <a:xfrm>
            <a:off x="4946904" y="1106424"/>
            <a:ext cx="1600200" cy="347472"/>
          </a:xfrm>
          <a:prstGeom prst="rect">
            <a:avLst/>
          </a:prstGeom>
          <a:noFill/>
          <a:ln/>
        </p:spPr>
        <p:txBody>
          <a:bodyPr wrap="square" lIns="0" tIns="0" rIns="0" bIns="0" rtlCol="0" anchor="ctr"/>
          <a:lstStyle/>
          <a:p>
            <a:pPr indent="0" marL="0">
              <a:buNone/>
            </a:pPr>
            <a:r>
              <a:rPr lang="en-US" sz="1000" dirty="0">
                <a:solidFill>
                  <a:srgbClr val="0F1E3C"/>
                </a:solidFill>
                <a:latin typeface="Calibri" pitchFamily="34" charset="0"/>
                <a:ea typeface="Calibri" pitchFamily="34" charset="-122"/>
                <a:cs typeface="Calibri" pitchFamily="34" charset="-120"/>
              </a:rPr>
              <a:t>Specific: Narrow enough to be testable</a:t>
            </a:r>
            <a:endParaRPr lang="en-US" sz="1000" dirty="0"/>
          </a:p>
        </p:txBody>
      </p:sp>
      <p:sp>
        <p:nvSpPr>
          <p:cNvPr id="11" name="Shape 9"/>
          <p:cNvSpPr/>
          <p:nvPr/>
        </p:nvSpPr>
        <p:spPr>
          <a:xfrm>
            <a:off x="6766560" y="1051560"/>
            <a:ext cx="2176272" cy="457200"/>
          </a:xfrm>
          <a:prstGeom prst="roundRect">
            <a:avLst>
              <a:gd name="adj" fmla="val 12000"/>
            </a:avLst>
          </a:prstGeom>
          <a:solidFill>
            <a:srgbClr val="F7F9FC"/>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2" name="Shape 10"/>
          <p:cNvSpPr/>
          <p:nvPr/>
        </p:nvSpPr>
        <p:spPr>
          <a:xfrm>
            <a:off x="6858000" y="1106424"/>
            <a:ext cx="347472" cy="347472"/>
          </a:xfrm>
          <a:prstGeom prst="ellipse">
            <a:avLst/>
          </a:prstGeom>
          <a:solidFill>
            <a:srgbClr val="1A3562"/>
          </a:solidFill>
          <a:ln w="12700">
            <a:solidFill>
              <a:srgbClr val="1A3562"/>
            </a:solidFill>
            <a:prstDash val="solid"/>
          </a:ln>
        </p:spPr>
      </p:sp>
      <p:sp>
        <p:nvSpPr>
          <p:cNvPr id="13" name="Text 11"/>
          <p:cNvSpPr/>
          <p:nvPr/>
        </p:nvSpPr>
        <p:spPr>
          <a:xfrm>
            <a:off x="6858000" y="1106424"/>
            <a:ext cx="347472" cy="347472"/>
          </a:xfrm>
          <a:prstGeom prst="rect">
            <a:avLst/>
          </a:prstGeom>
          <a:noFill/>
          <a:ln/>
        </p:spPr>
        <p:txBody>
          <a:bodyPr wrap="square" lIns="0" tIns="0" rIns="0" bIns="0" rtlCol="0" anchor="ctr"/>
          <a:lstStyle/>
          <a:p>
            <a:pPr algn="ctr" indent="0" marL="0">
              <a:buNone/>
            </a:pPr>
            <a:r>
              <a:rPr lang="en-US" sz="1100" b="1" dirty="0">
                <a:solidFill>
                  <a:srgbClr val="F0C040"/>
                </a:solidFill>
                <a:latin typeface="Cambria" pitchFamily="34" charset="0"/>
                <a:ea typeface="Cambria" pitchFamily="34" charset="-122"/>
                <a:cs typeface="Cambria" pitchFamily="34" charset="-120"/>
              </a:rPr>
              <a:t>2</a:t>
            </a:r>
            <a:endParaRPr lang="en-US" sz="1100" dirty="0"/>
          </a:p>
        </p:txBody>
      </p:sp>
      <p:sp>
        <p:nvSpPr>
          <p:cNvPr id="14" name="Text 12"/>
          <p:cNvSpPr/>
          <p:nvPr/>
        </p:nvSpPr>
        <p:spPr>
          <a:xfrm>
            <a:off x="7278624" y="1106424"/>
            <a:ext cx="1600200" cy="347472"/>
          </a:xfrm>
          <a:prstGeom prst="rect">
            <a:avLst/>
          </a:prstGeom>
          <a:noFill/>
          <a:ln/>
        </p:spPr>
        <p:txBody>
          <a:bodyPr wrap="square" lIns="0" tIns="0" rIns="0" bIns="0" rtlCol="0" anchor="ctr"/>
          <a:lstStyle/>
          <a:p>
            <a:pPr indent="0" marL="0">
              <a:buNone/>
            </a:pPr>
            <a:r>
              <a:rPr lang="en-US" sz="1000" dirty="0">
                <a:solidFill>
                  <a:srgbClr val="0F1E3C"/>
                </a:solidFill>
                <a:latin typeface="Calibri" pitchFamily="34" charset="0"/>
                <a:ea typeface="Calibri" pitchFamily="34" charset="-122"/>
                <a:cs typeface="Calibri" pitchFamily="34" charset="-120"/>
              </a:rPr>
              <a:t>Measurable: Can be quantified or observed</a:t>
            </a:r>
            <a:endParaRPr lang="en-US" sz="1000" dirty="0"/>
          </a:p>
        </p:txBody>
      </p:sp>
      <p:sp>
        <p:nvSpPr>
          <p:cNvPr id="15" name="Shape 13"/>
          <p:cNvSpPr/>
          <p:nvPr/>
        </p:nvSpPr>
        <p:spPr>
          <a:xfrm>
            <a:off x="4434840" y="1581912"/>
            <a:ext cx="2176272" cy="457200"/>
          </a:xfrm>
          <a:prstGeom prst="roundRect">
            <a:avLst>
              <a:gd name="adj" fmla="val 12000"/>
            </a:avLst>
          </a:prstGeom>
          <a:solidFill>
            <a:srgbClr val="F7F9FC"/>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6" name="Shape 14"/>
          <p:cNvSpPr/>
          <p:nvPr/>
        </p:nvSpPr>
        <p:spPr>
          <a:xfrm>
            <a:off x="4526280" y="1636776"/>
            <a:ext cx="347472" cy="347472"/>
          </a:xfrm>
          <a:prstGeom prst="ellipse">
            <a:avLst/>
          </a:prstGeom>
          <a:solidFill>
            <a:srgbClr val="1A3562"/>
          </a:solidFill>
          <a:ln w="12700">
            <a:solidFill>
              <a:srgbClr val="1A3562"/>
            </a:solidFill>
            <a:prstDash val="solid"/>
          </a:ln>
        </p:spPr>
      </p:sp>
      <p:sp>
        <p:nvSpPr>
          <p:cNvPr id="17" name="Text 15"/>
          <p:cNvSpPr/>
          <p:nvPr/>
        </p:nvSpPr>
        <p:spPr>
          <a:xfrm>
            <a:off x="4526280" y="1636776"/>
            <a:ext cx="347472" cy="347472"/>
          </a:xfrm>
          <a:prstGeom prst="rect">
            <a:avLst/>
          </a:prstGeom>
          <a:noFill/>
          <a:ln/>
        </p:spPr>
        <p:txBody>
          <a:bodyPr wrap="square" lIns="0" tIns="0" rIns="0" bIns="0" rtlCol="0" anchor="ctr"/>
          <a:lstStyle/>
          <a:p>
            <a:pPr algn="ctr" indent="0" marL="0">
              <a:buNone/>
            </a:pPr>
            <a:r>
              <a:rPr lang="en-US" sz="1100" b="1" dirty="0">
                <a:solidFill>
                  <a:srgbClr val="F0C040"/>
                </a:solidFill>
                <a:latin typeface="Cambria" pitchFamily="34" charset="0"/>
                <a:ea typeface="Cambria" pitchFamily="34" charset="-122"/>
                <a:cs typeface="Cambria" pitchFamily="34" charset="-120"/>
              </a:rPr>
              <a:t>3</a:t>
            </a:r>
            <a:endParaRPr lang="en-US" sz="1100" dirty="0"/>
          </a:p>
        </p:txBody>
      </p:sp>
      <p:sp>
        <p:nvSpPr>
          <p:cNvPr id="18" name="Text 16"/>
          <p:cNvSpPr/>
          <p:nvPr/>
        </p:nvSpPr>
        <p:spPr>
          <a:xfrm>
            <a:off x="4946904" y="1636776"/>
            <a:ext cx="1600200" cy="347472"/>
          </a:xfrm>
          <a:prstGeom prst="rect">
            <a:avLst/>
          </a:prstGeom>
          <a:noFill/>
          <a:ln/>
        </p:spPr>
        <p:txBody>
          <a:bodyPr wrap="square" lIns="0" tIns="0" rIns="0" bIns="0" rtlCol="0" anchor="ctr"/>
          <a:lstStyle/>
          <a:p>
            <a:pPr indent="0" marL="0">
              <a:buNone/>
            </a:pPr>
            <a:r>
              <a:rPr lang="en-US" sz="1000" dirty="0">
                <a:solidFill>
                  <a:srgbClr val="0F1E3C"/>
                </a:solidFill>
                <a:latin typeface="Calibri" pitchFamily="34" charset="0"/>
                <a:ea typeface="Calibri" pitchFamily="34" charset="-122"/>
                <a:cs typeface="Calibri" pitchFamily="34" charset="-120"/>
              </a:rPr>
              <a:t>Relevant: Matters to the target audience</a:t>
            </a:r>
            <a:endParaRPr lang="en-US" sz="1000" dirty="0"/>
          </a:p>
        </p:txBody>
      </p:sp>
      <p:sp>
        <p:nvSpPr>
          <p:cNvPr id="19" name="Shape 17"/>
          <p:cNvSpPr/>
          <p:nvPr/>
        </p:nvSpPr>
        <p:spPr>
          <a:xfrm>
            <a:off x="6766560" y="1581912"/>
            <a:ext cx="2176272" cy="457200"/>
          </a:xfrm>
          <a:prstGeom prst="roundRect">
            <a:avLst>
              <a:gd name="adj" fmla="val 12000"/>
            </a:avLst>
          </a:prstGeom>
          <a:solidFill>
            <a:srgbClr val="F7F9FC"/>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20" name="Shape 18"/>
          <p:cNvSpPr/>
          <p:nvPr/>
        </p:nvSpPr>
        <p:spPr>
          <a:xfrm>
            <a:off x="6858000" y="1636776"/>
            <a:ext cx="347472" cy="347472"/>
          </a:xfrm>
          <a:prstGeom prst="ellipse">
            <a:avLst/>
          </a:prstGeom>
          <a:solidFill>
            <a:srgbClr val="1A3562"/>
          </a:solidFill>
          <a:ln w="12700">
            <a:solidFill>
              <a:srgbClr val="1A3562"/>
            </a:solidFill>
            <a:prstDash val="solid"/>
          </a:ln>
        </p:spPr>
      </p:sp>
      <p:sp>
        <p:nvSpPr>
          <p:cNvPr id="21" name="Text 19"/>
          <p:cNvSpPr/>
          <p:nvPr/>
        </p:nvSpPr>
        <p:spPr>
          <a:xfrm>
            <a:off x="6858000" y="1636776"/>
            <a:ext cx="347472" cy="347472"/>
          </a:xfrm>
          <a:prstGeom prst="rect">
            <a:avLst/>
          </a:prstGeom>
          <a:noFill/>
          <a:ln/>
        </p:spPr>
        <p:txBody>
          <a:bodyPr wrap="square" lIns="0" tIns="0" rIns="0" bIns="0" rtlCol="0" anchor="ctr"/>
          <a:lstStyle/>
          <a:p>
            <a:pPr algn="ctr" indent="0" marL="0">
              <a:buNone/>
            </a:pPr>
            <a:r>
              <a:rPr lang="en-US" sz="1100" b="1" dirty="0">
                <a:solidFill>
                  <a:srgbClr val="F0C040"/>
                </a:solidFill>
                <a:latin typeface="Cambria" pitchFamily="34" charset="0"/>
                <a:ea typeface="Cambria" pitchFamily="34" charset="-122"/>
                <a:cs typeface="Cambria" pitchFamily="34" charset="-120"/>
              </a:rPr>
              <a:t>4</a:t>
            </a:r>
            <a:endParaRPr lang="en-US" sz="1100" dirty="0"/>
          </a:p>
        </p:txBody>
      </p:sp>
      <p:sp>
        <p:nvSpPr>
          <p:cNvPr id="22" name="Text 20"/>
          <p:cNvSpPr/>
          <p:nvPr/>
        </p:nvSpPr>
        <p:spPr>
          <a:xfrm>
            <a:off x="7278624" y="1636776"/>
            <a:ext cx="1600200" cy="347472"/>
          </a:xfrm>
          <a:prstGeom prst="rect">
            <a:avLst/>
          </a:prstGeom>
          <a:noFill/>
          <a:ln/>
        </p:spPr>
        <p:txBody>
          <a:bodyPr wrap="square" lIns="0" tIns="0" rIns="0" bIns="0" rtlCol="0" anchor="ctr"/>
          <a:lstStyle/>
          <a:p>
            <a:pPr indent="0" marL="0">
              <a:buNone/>
            </a:pPr>
            <a:r>
              <a:rPr lang="en-US" sz="1000" dirty="0">
                <a:solidFill>
                  <a:srgbClr val="0F1E3C"/>
                </a:solidFill>
                <a:latin typeface="Calibri" pitchFamily="34" charset="0"/>
                <a:ea typeface="Calibri" pitchFamily="34" charset="-122"/>
                <a:cs typeface="Calibri" pitchFamily="34" charset="-120"/>
              </a:rPr>
              <a:t>Feasible: Achievable with available resources</a:t>
            </a:r>
            <a:endParaRPr lang="en-US" sz="1000" dirty="0"/>
          </a:p>
        </p:txBody>
      </p:sp>
      <p:sp>
        <p:nvSpPr>
          <p:cNvPr id="23" name="Shape 21"/>
          <p:cNvSpPr/>
          <p:nvPr/>
        </p:nvSpPr>
        <p:spPr>
          <a:xfrm>
            <a:off x="274320" y="2176272"/>
            <a:ext cx="4023360" cy="804672"/>
          </a:xfrm>
          <a:prstGeom prst="roundRect">
            <a:avLst>
              <a:gd name="adj" fmla="val 7955"/>
            </a:avLst>
          </a:prstGeom>
          <a:solidFill>
            <a:srgbClr val="FDEDEC"/>
          </a:solidFill>
          <a:ln w="12700">
            <a:solidFill>
              <a:srgbClr val="C0392B"/>
            </a:solidFill>
            <a:prstDash val="solid"/>
          </a:ln>
        </p:spPr>
      </p:sp>
      <p:sp>
        <p:nvSpPr>
          <p:cNvPr id="24" name="Text 22"/>
          <p:cNvSpPr/>
          <p:nvPr/>
        </p:nvSpPr>
        <p:spPr>
          <a:xfrm>
            <a:off x="384048" y="2231136"/>
            <a:ext cx="3822192" cy="694944"/>
          </a:xfrm>
          <a:prstGeom prst="rect">
            <a:avLst/>
          </a:prstGeom>
          <a:noFill/>
          <a:ln/>
        </p:spPr>
        <p:txBody>
          <a:bodyPr wrap="square" lIns="0" tIns="0" rIns="0" bIns="0" rtlCol="0" anchor="ctr"/>
          <a:lstStyle/>
          <a:p>
            <a:pPr indent="0" marL="0">
              <a:buNone/>
            </a:pPr>
            <a:r>
              <a:rPr lang="en-US" sz="1000" b="1" dirty="0">
                <a:solidFill>
                  <a:srgbClr val="C0392B"/>
                </a:solidFill>
                <a:latin typeface="Calibri" pitchFamily="34" charset="0"/>
                <a:ea typeface="Calibri" pitchFamily="34" charset="-122"/>
                <a:cs typeface="Calibri" pitchFamily="34" charset="-120"/>
              </a:rPr>
              <a:t>WEAK: </a:t>
            </a:r>
            <a:pPr indent="0" marL="0">
              <a:buNone/>
            </a:pPr>
            <a:r>
              <a:rPr lang="en-US" sz="1000" i="1" dirty="0">
                <a:solidFill>
                  <a:srgbClr val="2C3E50"/>
                </a:solidFill>
                <a:latin typeface="Calibri" pitchFamily="34" charset="0"/>
                <a:ea typeface="Calibri" pitchFamily="34" charset="-122"/>
                <a:cs typeface="Calibri" pitchFamily="34" charset="-120"/>
              </a:rPr>
              <a:t>"This study will look at customer satisfaction in Nigerian FMCG companies."</a:t>
            </a:r>
            <a:endParaRPr lang="en-US" sz="1000" dirty="0"/>
          </a:p>
        </p:txBody>
      </p:sp>
      <p:sp>
        <p:nvSpPr>
          <p:cNvPr id="25" name="Shape 23"/>
          <p:cNvSpPr/>
          <p:nvPr/>
        </p:nvSpPr>
        <p:spPr>
          <a:xfrm>
            <a:off x="4434840" y="2176272"/>
            <a:ext cx="4434840" cy="1170432"/>
          </a:xfrm>
          <a:prstGeom prst="roundRect">
            <a:avLst>
              <a:gd name="adj" fmla="val 5469"/>
            </a:avLst>
          </a:prstGeom>
          <a:solidFill>
            <a:srgbClr val="E8F9F0"/>
          </a:solidFill>
          <a:ln w="12700">
            <a:solidFill>
              <a:srgbClr val="1A7A4A"/>
            </a:solidFill>
            <a:prstDash val="solid"/>
          </a:ln>
        </p:spPr>
      </p:sp>
      <p:sp>
        <p:nvSpPr>
          <p:cNvPr id="26" name="Text 24"/>
          <p:cNvSpPr/>
          <p:nvPr/>
        </p:nvSpPr>
        <p:spPr>
          <a:xfrm>
            <a:off x="4544568" y="2231136"/>
            <a:ext cx="4224528" cy="1060704"/>
          </a:xfrm>
          <a:prstGeom prst="rect">
            <a:avLst/>
          </a:prstGeom>
          <a:noFill/>
          <a:ln/>
        </p:spPr>
        <p:txBody>
          <a:bodyPr wrap="square" lIns="0" tIns="0" rIns="0" bIns="0" rtlCol="0" anchor="ctr"/>
          <a:lstStyle/>
          <a:p>
            <a:pPr indent="0" marL="0">
              <a:buNone/>
            </a:pPr>
            <a:r>
              <a:rPr lang="en-US" sz="950" b="1" dirty="0">
                <a:solidFill>
                  <a:srgbClr val="1A7A4A"/>
                </a:solidFill>
                <a:latin typeface="Calibri" pitchFamily="34" charset="0"/>
                <a:ea typeface="Calibri" pitchFamily="34" charset="-122"/>
                <a:cs typeface="Calibri" pitchFamily="34" charset="-120"/>
              </a:rPr>
              <a:t>STRONG: </a:t>
            </a:r>
            <a:pPr indent="0" marL="0">
              <a:buNone/>
            </a:pPr>
            <a:r>
              <a:rPr lang="en-US" sz="950" i="1" dirty="0">
                <a:solidFill>
                  <a:srgbClr val="2C3E50"/>
                </a:solidFill>
                <a:latin typeface="Calibri" pitchFamily="34" charset="0"/>
                <a:ea typeface="Calibri" pitchFamily="34" charset="-122"/>
                <a:cs typeface="Calibri" pitchFamily="34" charset="-120"/>
              </a:rPr>
              <a:t>"Despite a 15% increase in advertising spend, UAC Foods Limited recorded a 12% decline in repeat purchase rates between Q1 2024 and Q1 2025. This study investigates the specific product, pricing, and distribution factors driving reduced repeat purchases among Lagos urban consumers aged 22 to 45."</a:t>
            </a:r>
            <a:endParaRPr lang="en-US" sz="950" dirty="0"/>
          </a:p>
        </p:txBody>
      </p:sp>
      <p:sp>
        <p:nvSpPr>
          <p:cNvPr id="27" name="Shape 25"/>
          <p:cNvSpPr/>
          <p:nvPr/>
        </p:nvSpPr>
        <p:spPr>
          <a:xfrm>
            <a:off x="274320" y="3054096"/>
            <a:ext cx="8595360" cy="1810512"/>
          </a:xfrm>
          <a:prstGeom prst="roundRect">
            <a:avLst>
              <a:gd name="adj" fmla="val 4040"/>
            </a:avLst>
          </a:prstGeom>
          <a:solidFill>
            <a:srgbClr val="FFFFFF"/>
          </a:solidFill>
          <a:ln w="12700">
            <a:solidFill>
              <a:srgbClr val="D0E8F8"/>
            </a:solidFill>
            <a:prstDash val="solid"/>
          </a:ln>
        </p:spPr>
      </p:sp>
      <p:sp>
        <p:nvSpPr>
          <p:cNvPr id="28" name="Text 26"/>
          <p:cNvSpPr/>
          <p:nvPr/>
        </p:nvSpPr>
        <p:spPr>
          <a:xfrm>
            <a:off x="384048" y="3108960"/>
            <a:ext cx="3657600" cy="256032"/>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Why the Strong Version Works:</a:t>
            </a:r>
            <a:endParaRPr lang="en-US" sz="1100" dirty="0"/>
          </a:p>
        </p:txBody>
      </p:sp>
      <p:sp>
        <p:nvSpPr>
          <p:cNvPr id="29" name="Text 27"/>
          <p:cNvSpPr/>
          <p:nvPr/>
        </p:nvSpPr>
        <p:spPr>
          <a:xfrm>
            <a:off x="384048" y="3401568"/>
            <a:ext cx="8321040" cy="256032"/>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Quantified the gap (15% spend up, 12% purchases down)</a:t>
            </a:r>
            <a:endParaRPr lang="en-US" sz="950" dirty="0"/>
          </a:p>
        </p:txBody>
      </p:sp>
      <p:sp>
        <p:nvSpPr>
          <p:cNvPr id="30" name="Text 28"/>
          <p:cNvSpPr/>
          <p:nvPr/>
        </p:nvSpPr>
        <p:spPr>
          <a:xfrm>
            <a:off x="384048" y="3675888"/>
            <a:ext cx="8321040" cy="256032"/>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Specific time frame (Q1 2024 to Q1 2025)</a:t>
            </a:r>
            <a:endParaRPr lang="en-US" sz="950" dirty="0"/>
          </a:p>
        </p:txBody>
      </p:sp>
      <p:sp>
        <p:nvSpPr>
          <p:cNvPr id="31" name="Text 29"/>
          <p:cNvSpPr/>
          <p:nvPr/>
        </p:nvSpPr>
        <p:spPr>
          <a:xfrm>
            <a:off x="384048" y="3950208"/>
            <a:ext cx="8321040" cy="256032"/>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Named the company and geographic focus (Lagos urban)</a:t>
            </a:r>
            <a:endParaRPr lang="en-US" sz="950" dirty="0"/>
          </a:p>
        </p:txBody>
      </p:sp>
      <p:sp>
        <p:nvSpPr>
          <p:cNvPr id="32" name="Text 30"/>
          <p:cNvSpPr/>
          <p:nvPr/>
        </p:nvSpPr>
        <p:spPr>
          <a:xfrm>
            <a:off x="384048" y="4224528"/>
            <a:ext cx="8321040" cy="256032"/>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Defined target population (age 22-45)</a:t>
            </a:r>
            <a:endParaRPr lang="en-US" sz="950" dirty="0"/>
          </a:p>
        </p:txBody>
      </p:sp>
      <p:sp>
        <p:nvSpPr>
          <p:cNvPr id="33" name="Text 31"/>
          <p:cNvSpPr/>
          <p:nvPr/>
        </p:nvSpPr>
        <p:spPr>
          <a:xfrm>
            <a:off x="384048" y="4498848"/>
            <a:ext cx="8321040" cy="256032"/>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Identified three investigative domains (product, pricing, distribution)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F1E3C"/>
          </a:solidFill>
          <a:ln w="12700">
            <a:solidFill>
              <a:srgbClr val="0F1E3C"/>
            </a:solidFill>
            <a:prstDash val="solid"/>
          </a:ln>
        </p:spPr>
      </p:sp>
      <p:sp>
        <p:nvSpPr>
          <p:cNvPr id="3" name="Text 1"/>
          <p:cNvSpPr/>
          <p:nvPr/>
        </p:nvSpPr>
        <p:spPr>
          <a:xfrm>
            <a:off x="457200" y="109728"/>
            <a:ext cx="8229600" cy="713232"/>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Formulating Research Hypotheses</a:t>
            </a:r>
            <a:endParaRPr lang="en-US" sz="2600" dirty="0"/>
          </a:p>
        </p:txBody>
      </p:sp>
      <p:sp>
        <p:nvSpPr>
          <p:cNvPr id="4" name="Shape 2"/>
          <p:cNvSpPr/>
          <p:nvPr/>
        </p:nvSpPr>
        <p:spPr>
          <a:xfrm>
            <a:off x="274320" y="1051560"/>
            <a:ext cx="4160520" cy="2542032"/>
          </a:xfrm>
          <a:prstGeom prst="roundRect">
            <a:avLst>
              <a:gd name="adj" fmla="val 3237"/>
            </a:avLst>
          </a:prstGeom>
          <a:solidFill>
            <a:srgbClr val="FEF8F8"/>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65760" y="1115568"/>
            <a:ext cx="3977640" cy="347472"/>
          </a:xfrm>
          <a:prstGeom prst="roundRect">
            <a:avLst>
              <a:gd name="adj" fmla="val 15789"/>
            </a:avLst>
          </a:prstGeom>
          <a:solidFill>
            <a:srgbClr val="C0392B"/>
          </a:solidFill>
          <a:ln w="12700">
            <a:solidFill>
              <a:srgbClr val="C0392B"/>
            </a:solidFill>
            <a:prstDash val="solid"/>
          </a:ln>
        </p:spPr>
      </p:sp>
      <p:sp>
        <p:nvSpPr>
          <p:cNvPr id="6" name="Text 4"/>
          <p:cNvSpPr/>
          <p:nvPr/>
        </p:nvSpPr>
        <p:spPr>
          <a:xfrm>
            <a:off x="365760" y="1115568"/>
            <a:ext cx="397764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Null Hypothesis  (H0)</a:t>
            </a:r>
            <a:endParaRPr lang="en-US" sz="1200" dirty="0"/>
          </a:p>
        </p:txBody>
      </p:sp>
      <p:sp>
        <p:nvSpPr>
          <p:cNvPr id="7" name="Text 5"/>
          <p:cNvSpPr/>
          <p:nvPr/>
        </p:nvSpPr>
        <p:spPr>
          <a:xfrm>
            <a:off x="402336" y="1536192"/>
            <a:ext cx="3877056" cy="621792"/>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States that there is NO significant relationship, difference, or effect. It is the 'status quo' that statistical testing attempts to disprove.</a:t>
            </a:r>
            <a:endParaRPr lang="en-US" sz="1000" dirty="0"/>
          </a:p>
        </p:txBody>
      </p:sp>
      <p:sp>
        <p:nvSpPr>
          <p:cNvPr id="8" name="Shape 6"/>
          <p:cNvSpPr/>
          <p:nvPr/>
        </p:nvSpPr>
        <p:spPr>
          <a:xfrm>
            <a:off x="384048" y="2212848"/>
            <a:ext cx="3858768" cy="841248"/>
          </a:xfrm>
          <a:prstGeom prst="roundRect">
            <a:avLst>
              <a:gd name="adj" fmla="val 6522"/>
            </a:avLst>
          </a:prstGeom>
          <a:solidFill>
            <a:srgbClr val="C0392B">
              <a:alpha val="6000"/>
            </a:srgbClr>
          </a:solidFill>
          <a:ln w="6350">
            <a:solidFill>
              <a:srgbClr val="C0392B"/>
            </a:solidFill>
            <a:prstDash val="solid"/>
          </a:ln>
        </p:spPr>
      </p:sp>
      <p:sp>
        <p:nvSpPr>
          <p:cNvPr id="9" name="Text 7"/>
          <p:cNvSpPr/>
          <p:nvPr/>
        </p:nvSpPr>
        <p:spPr>
          <a:xfrm>
            <a:off x="457200" y="2249424"/>
            <a:ext cx="3712464" cy="768096"/>
          </a:xfrm>
          <a:prstGeom prst="rect">
            <a:avLst/>
          </a:prstGeom>
          <a:noFill/>
          <a:ln/>
        </p:spPr>
        <p:txBody>
          <a:bodyPr wrap="square" lIns="0" tIns="0" rIns="0" bIns="0" rtlCol="0" anchor="ctr"/>
          <a:lstStyle/>
          <a:p>
            <a:pPr indent="0" marL="0">
              <a:buNone/>
            </a:pPr>
            <a:r>
              <a:rPr lang="en-US" sz="950" b="1" dirty="0">
                <a:solidFill>
                  <a:srgbClr val="C0392B"/>
                </a:solidFill>
                <a:latin typeface="Calibri" pitchFamily="34" charset="0"/>
                <a:ea typeface="Calibri" pitchFamily="34" charset="-122"/>
                <a:cs typeface="Calibri" pitchFamily="34" charset="-120"/>
              </a:rPr>
              <a:t>UAC Foods: </a:t>
            </a:r>
            <a:pPr indent="0" marL="0">
              <a:buNone/>
            </a:pPr>
            <a:r>
              <a:rPr lang="en-US" sz="950" dirty="0">
                <a:solidFill>
                  <a:srgbClr val="2C3E50"/>
                </a:solidFill>
                <a:latin typeface="Calibri" pitchFamily="34" charset="0"/>
                <a:ea typeface="Calibri" pitchFamily="34" charset="-122"/>
                <a:cs typeface="Calibri" pitchFamily="34" charset="-120"/>
              </a:rPr>
              <a:t>H0: There is no significant relationship between advertising expenditure and repeat purchase rate among UAC Foods customers.</a:t>
            </a:r>
            <a:endParaRPr lang="en-US" sz="950" dirty="0"/>
          </a:p>
        </p:txBody>
      </p:sp>
      <p:sp>
        <p:nvSpPr>
          <p:cNvPr id="10" name="Shape 8"/>
          <p:cNvSpPr/>
          <p:nvPr/>
        </p:nvSpPr>
        <p:spPr>
          <a:xfrm>
            <a:off x="4736592" y="1051560"/>
            <a:ext cx="4160520" cy="2542032"/>
          </a:xfrm>
          <a:prstGeom prst="roundRect">
            <a:avLst>
              <a:gd name="adj" fmla="val 3237"/>
            </a:avLst>
          </a:prstGeom>
          <a:solidFill>
            <a:srgbClr val="EAF9F0"/>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1" name="Shape 9"/>
          <p:cNvSpPr/>
          <p:nvPr/>
        </p:nvSpPr>
        <p:spPr>
          <a:xfrm>
            <a:off x="4828032" y="1115568"/>
            <a:ext cx="3977640" cy="347472"/>
          </a:xfrm>
          <a:prstGeom prst="roundRect">
            <a:avLst>
              <a:gd name="adj" fmla="val 15789"/>
            </a:avLst>
          </a:prstGeom>
          <a:solidFill>
            <a:srgbClr val="1A7A4A"/>
          </a:solidFill>
          <a:ln w="12700">
            <a:solidFill>
              <a:srgbClr val="1A7A4A"/>
            </a:solidFill>
            <a:prstDash val="solid"/>
          </a:ln>
        </p:spPr>
      </p:sp>
      <p:sp>
        <p:nvSpPr>
          <p:cNvPr id="12" name="Text 10"/>
          <p:cNvSpPr/>
          <p:nvPr/>
        </p:nvSpPr>
        <p:spPr>
          <a:xfrm>
            <a:off x="4828032" y="1115568"/>
            <a:ext cx="397764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Alternative Hypothesis  (H1)</a:t>
            </a:r>
            <a:endParaRPr lang="en-US" sz="1200" dirty="0"/>
          </a:p>
        </p:txBody>
      </p:sp>
      <p:sp>
        <p:nvSpPr>
          <p:cNvPr id="13" name="Text 11"/>
          <p:cNvSpPr/>
          <p:nvPr/>
        </p:nvSpPr>
        <p:spPr>
          <a:xfrm>
            <a:off x="4864608" y="1536192"/>
            <a:ext cx="3877056" cy="621792"/>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States that a significant relationship, difference, or effect DOES exist. This is what the researcher expects to find based on theory or observation.</a:t>
            </a:r>
            <a:endParaRPr lang="en-US" sz="1000" dirty="0"/>
          </a:p>
        </p:txBody>
      </p:sp>
      <p:sp>
        <p:nvSpPr>
          <p:cNvPr id="14" name="Shape 12"/>
          <p:cNvSpPr/>
          <p:nvPr/>
        </p:nvSpPr>
        <p:spPr>
          <a:xfrm>
            <a:off x="4846320" y="2212848"/>
            <a:ext cx="3858768" cy="841248"/>
          </a:xfrm>
          <a:prstGeom prst="roundRect">
            <a:avLst>
              <a:gd name="adj" fmla="val 6522"/>
            </a:avLst>
          </a:prstGeom>
          <a:solidFill>
            <a:srgbClr val="1A7A4A">
              <a:alpha val="6000"/>
            </a:srgbClr>
          </a:solidFill>
          <a:ln w="6350">
            <a:solidFill>
              <a:srgbClr val="1A7A4A"/>
            </a:solidFill>
            <a:prstDash val="solid"/>
          </a:ln>
        </p:spPr>
      </p:sp>
      <p:sp>
        <p:nvSpPr>
          <p:cNvPr id="15" name="Text 13"/>
          <p:cNvSpPr/>
          <p:nvPr/>
        </p:nvSpPr>
        <p:spPr>
          <a:xfrm>
            <a:off x="4919472" y="2249424"/>
            <a:ext cx="3712464" cy="768096"/>
          </a:xfrm>
          <a:prstGeom prst="rect">
            <a:avLst/>
          </a:prstGeom>
          <a:noFill/>
          <a:ln/>
        </p:spPr>
        <p:txBody>
          <a:bodyPr wrap="square" lIns="0" tIns="0" rIns="0" bIns="0" rtlCol="0" anchor="ctr"/>
          <a:lstStyle/>
          <a:p>
            <a:pPr indent="0" marL="0">
              <a:buNone/>
            </a:pPr>
            <a:r>
              <a:rPr lang="en-US" sz="950" b="1" dirty="0">
                <a:solidFill>
                  <a:srgbClr val="1A7A4A"/>
                </a:solidFill>
                <a:latin typeface="Calibri" pitchFamily="34" charset="0"/>
                <a:ea typeface="Calibri" pitchFamily="34" charset="-122"/>
                <a:cs typeface="Calibri" pitchFamily="34" charset="-120"/>
              </a:rPr>
              <a:t>UAC Foods: </a:t>
            </a:r>
            <a:pPr indent="0" marL="0">
              <a:buNone/>
            </a:pPr>
            <a:r>
              <a:rPr lang="en-US" sz="950" dirty="0">
                <a:solidFill>
                  <a:srgbClr val="2C3E50"/>
                </a:solidFill>
                <a:latin typeface="Calibri" pitchFamily="34" charset="0"/>
                <a:ea typeface="Calibri" pitchFamily="34" charset="-122"/>
                <a:cs typeface="Calibri" pitchFamily="34" charset="-120"/>
              </a:rPr>
              <a:t>H1: There is a significant positive relationship between advertising expenditure and repeat purchase rate among UAC Foods customers.</a:t>
            </a:r>
            <a:endParaRPr lang="en-US" sz="950" dirty="0"/>
          </a:p>
        </p:txBody>
      </p:sp>
      <p:sp>
        <p:nvSpPr>
          <p:cNvPr id="16" name="Text 14"/>
          <p:cNvSpPr/>
          <p:nvPr/>
        </p:nvSpPr>
        <p:spPr>
          <a:xfrm>
            <a:off x="274320" y="3703320"/>
            <a:ext cx="8595360" cy="292608"/>
          </a:xfrm>
          <a:prstGeom prst="rect">
            <a:avLst/>
          </a:prstGeom>
          <a:noFill/>
          <a:ln/>
        </p:spPr>
        <p:txBody>
          <a:bodyPr wrap="square" lIns="0" tIns="0" rIns="0" bIns="0" rtlCol="0" anchor="ctr"/>
          <a:lstStyle/>
          <a:p>
            <a:pPr indent="0" marL="0">
              <a:buNone/>
            </a:pPr>
            <a:r>
              <a:rPr lang="en-US" sz="1300" b="1" dirty="0">
                <a:solidFill>
                  <a:srgbClr val="0F1E3C"/>
                </a:solidFill>
                <a:latin typeface="Calibri" pitchFamily="34" charset="0"/>
                <a:ea typeface="Calibri" pitchFamily="34" charset="-122"/>
                <a:cs typeface="Calibri" pitchFamily="34" charset="-120"/>
              </a:rPr>
              <a:t>Directional vs. Non-Directional Hypotheses</a:t>
            </a:r>
            <a:endParaRPr lang="en-US" sz="1300" dirty="0"/>
          </a:p>
        </p:txBody>
      </p:sp>
      <p:sp>
        <p:nvSpPr>
          <p:cNvPr id="17" name="Shape 15"/>
          <p:cNvSpPr/>
          <p:nvPr/>
        </p:nvSpPr>
        <p:spPr>
          <a:xfrm>
            <a:off x="274320" y="4023360"/>
            <a:ext cx="4160520" cy="914400"/>
          </a:xfrm>
          <a:prstGeom prst="roundRect">
            <a:avLst>
              <a:gd name="adj" fmla="val 7000"/>
            </a:avLst>
          </a:prstGeom>
          <a:solidFill>
            <a:srgbClr val="FFFFFF"/>
          </a:solidFill>
          <a:ln w="12700">
            <a:solidFill>
              <a:srgbClr val="2E86C1"/>
            </a:solidFill>
            <a:prstDash val="solid"/>
          </a:ln>
        </p:spPr>
      </p:sp>
      <p:sp>
        <p:nvSpPr>
          <p:cNvPr id="18" name="Text 16"/>
          <p:cNvSpPr/>
          <p:nvPr/>
        </p:nvSpPr>
        <p:spPr>
          <a:xfrm>
            <a:off x="384048" y="4078224"/>
            <a:ext cx="3913632" cy="256032"/>
          </a:xfrm>
          <a:prstGeom prst="rect">
            <a:avLst/>
          </a:prstGeom>
          <a:noFill/>
          <a:ln/>
        </p:spPr>
        <p:txBody>
          <a:bodyPr wrap="square" lIns="0" tIns="0" rIns="0" bIns="0" rtlCol="0" anchor="ctr"/>
          <a:lstStyle/>
          <a:p>
            <a:pPr indent="0" marL="0">
              <a:buNone/>
            </a:pPr>
            <a:r>
              <a:rPr lang="en-US" sz="1000" b="1" dirty="0">
                <a:solidFill>
                  <a:srgbClr val="2E86C1"/>
                </a:solidFill>
                <a:latin typeface="Calibri" pitchFamily="34" charset="0"/>
                <a:ea typeface="Calibri" pitchFamily="34" charset="-122"/>
                <a:cs typeface="Calibri" pitchFamily="34" charset="-120"/>
              </a:rPr>
              <a:t>Non-directional (Two-tailed)</a:t>
            </a:r>
            <a:endParaRPr lang="en-US" sz="1000" dirty="0"/>
          </a:p>
        </p:txBody>
      </p:sp>
      <p:sp>
        <p:nvSpPr>
          <p:cNvPr id="19" name="Text 17"/>
          <p:cNvSpPr/>
          <p:nvPr/>
        </p:nvSpPr>
        <p:spPr>
          <a:xfrm>
            <a:off x="384048" y="4352544"/>
            <a:ext cx="3913632" cy="530352"/>
          </a:xfrm>
          <a:prstGeom prst="rect">
            <a:avLst/>
          </a:prstGeom>
          <a:noFill/>
          <a:ln/>
        </p:spPr>
        <p:txBody>
          <a:bodyPr wrap="square" lIns="0" tIns="0" rIns="0" bIns="0" rtlCol="0" anchor="ctr"/>
          <a:lstStyle/>
          <a:p>
            <a:pPr indent="0" marL="0">
              <a:buNone/>
            </a:pPr>
            <a:r>
              <a:rPr lang="en-US" sz="950" i="1" dirty="0">
                <a:solidFill>
                  <a:srgbClr val="2C3E50"/>
                </a:solidFill>
                <a:latin typeface="Calibri" pitchFamily="34" charset="0"/>
                <a:ea typeface="Calibri" pitchFamily="34" charset="-122"/>
                <a:cs typeface="Calibri" pitchFamily="34" charset="-120"/>
              </a:rPr>
              <a:t>H1: There is a significant difference in satisfaction scores between male and female UAC Foods consumers. (Different in EITHER direction)</a:t>
            </a:r>
            <a:endParaRPr lang="en-US" sz="950" dirty="0"/>
          </a:p>
        </p:txBody>
      </p:sp>
      <p:sp>
        <p:nvSpPr>
          <p:cNvPr id="20" name="Shape 18"/>
          <p:cNvSpPr/>
          <p:nvPr/>
        </p:nvSpPr>
        <p:spPr>
          <a:xfrm>
            <a:off x="4736592" y="4023360"/>
            <a:ext cx="4160520" cy="914400"/>
          </a:xfrm>
          <a:prstGeom prst="roundRect">
            <a:avLst>
              <a:gd name="adj" fmla="val 7000"/>
            </a:avLst>
          </a:prstGeom>
          <a:solidFill>
            <a:srgbClr val="FFFFFF"/>
          </a:solidFill>
          <a:ln w="12700">
            <a:solidFill>
              <a:srgbClr val="5B2D8E"/>
            </a:solidFill>
            <a:prstDash val="solid"/>
          </a:ln>
        </p:spPr>
      </p:sp>
      <p:sp>
        <p:nvSpPr>
          <p:cNvPr id="21" name="Text 19"/>
          <p:cNvSpPr/>
          <p:nvPr/>
        </p:nvSpPr>
        <p:spPr>
          <a:xfrm>
            <a:off x="4846320" y="4078224"/>
            <a:ext cx="3913632" cy="256032"/>
          </a:xfrm>
          <a:prstGeom prst="rect">
            <a:avLst/>
          </a:prstGeom>
          <a:noFill/>
          <a:ln/>
        </p:spPr>
        <p:txBody>
          <a:bodyPr wrap="square" lIns="0" tIns="0" rIns="0" bIns="0" rtlCol="0" anchor="ctr"/>
          <a:lstStyle/>
          <a:p>
            <a:pPr indent="0" marL="0">
              <a:buNone/>
            </a:pPr>
            <a:r>
              <a:rPr lang="en-US" sz="1000" b="1" dirty="0">
                <a:solidFill>
                  <a:srgbClr val="5B2D8E"/>
                </a:solidFill>
                <a:latin typeface="Calibri" pitchFamily="34" charset="0"/>
                <a:ea typeface="Calibri" pitchFamily="34" charset="-122"/>
                <a:cs typeface="Calibri" pitchFamily="34" charset="-120"/>
              </a:rPr>
              <a:t>Directional (One-tailed)</a:t>
            </a:r>
            <a:endParaRPr lang="en-US" sz="1000" dirty="0"/>
          </a:p>
        </p:txBody>
      </p:sp>
      <p:sp>
        <p:nvSpPr>
          <p:cNvPr id="22" name="Text 20"/>
          <p:cNvSpPr/>
          <p:nvPr/>
        </p:nvSpPr>
        <p:spPr>
          <a:xfrm>
            <a:off x="4846320" y="4352544"/>
            <a:ext cx="3913632" cy="530352"/>
          </a:xfrm>
          <a:prstGeom prst="rect">
            <a:avLst/>
          </a:prstGeom>
          <a:noFill/>
          <a:ln/>
        </p:spPr>
        <p:txBody>
          <a:bodyPr wrap="square" lIns="0" tIns="0" rIns="0" bIns="0" rtlCol="0" anchor="ctr"/>
          <a:lstStyle/>
          <a:p>
            <a:pPr indent="0" marL="0">
              <a:buNone/>
            </a:pPr>
            <a:r>
              <a:rPr lang="en-US" sz="950" i="1" dirty="0">
                <a:solidFill>
                  <a:srgbClr val="2C3E50"/>
                </a:solidFill>
                <a:latin typeface="Calibri" pitchFamily="34" charset="0"/>
                <a:ea typeface="Calibri" pitchFamily="34" charset="-122"/>
                <a:cs typeface="Calibri" pitchFamily="34" charset="-120"/>
              </a:rPr>
              <a:t>H1: Female UAC Foods consumers score HIGHER in brand loyalty than male consumers. (Specific direction predicted)</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B5CA0">
              <a:alpha val="18000"/>
            </a:srgbClr>
          </a:solidFill>
          <a:ln w="12700">
            <a:solidFill>
              <a:srgbClr val="1B5CA0"/>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1  |  SECTION 04</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Research Design</a:t>
            </a:r>
            <a:endParaRPr lang="en-US" sz="42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A8C8E8"/>
                </a:solidFill>
                <a:latin typeface="Calibri" pitchFamily="34" charset="0"/>
                <a:ea typeface="Calibri" pitchFamily="34" charset="-122"/>
                <a:cs typeface="Calibri" pitchFamily="34" charset="-120"/>
              </a:rPr>
              <a:t>The blueprint that determines how you will collect, measure, and analyse your data</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562"/>
          </a:solidFill>
          <a:ln w="12700">
            <a:solidFill>
              <a:srgbClr val="1A3562"/>
            </a:solidFill>
            <a:prstDash val="solid"/>
          </a:ln>
        </p:spPr>
      </p:sp>
      <p:sp>
        <p:nvSpPr>
          <p:cNvPr id="3" name="Text 1"/>
          <p:cNvSpPr/>
          <p:nvPr/>
        </p:nvSpPr>
        <p:spPr>
          <a:xfrm>
            <a:off x="457200" y="109728"/>
            <a:ext cx="8229600" cy="713232"/>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Research Design - The Six Core Approaches</a:t>
            </a:r>
            <a:endParaRPr lang="en-US" sz="2400" dirty="0"/>
          </a:p>
        </p:txBody>
      </p:sp>
      <p:sp>
        <p:nvSpPr>
          <p:cNvPr id="4" name="Shape 2"/>
          <p:cNvSpPr/>
          <p:nvPr/>
        </p:nvSpPr>
        <p:spPr>
          <a:xfrm>
            <a:off x="228600" y="1024128"/>
            <a:ext cx="2816352" cy="1938528"/>
          </a:xfrm>
          <a:prstGeom prst="roundRect">
            <a:avLst>
              <a:gd name="adj" fmla="val 3774"/>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01752" y="1097280"/>
            <a:ext cx="2670048" cy="310896"/>
          </a:xfrm>
          <a:prstGeom prst="roundRect">
            <a:avLst>
              <a:gd name="adj" fmla="val 17647"/>
            </a:avLst>
          </a:prstGeom>
          <a:solidFill>
            <a:srgbClr val="1B5CA0"/>
          </a:solidFill>
          <a:ln w="12700">
            <a:solidFill>
              <a:srgbClr val="1B5CA0"/>
            </a:solidFill>
            <a:prstDash val="solid"/>
          </a:ln>
        </p:spPr>
      </p:sp>
      <p:sp>
        <p:nvSpPr>
          <p:cNvPr id="6" name="Text 4"/>
          <p:cNvSpPr/>
          <p:nvPr/>
        </p:nvSpPr>
        <p:spPr>
          <a:xfrm>
            <a:off x="301752" y="1097280"/>
            <a:ext cx="267004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Experimental</a:t>
            </a:r>
            <a:endParaRPr lang="en-US" sz="1100" dirty="0"/>
          </a:p>
        </p:txBody>
      </p:sp>
      <p:sp>
        <p:nvSpPr>
          <p:cNvPr id="7" name="Text 5"/>
          <p:cNvSpPr/>
          <p:nvPr/>
        </p:nvSpPr>
        <p:spPr>
          <a:xfrm>
            <a:off x="320040" y="1463040"/>
            <a:ext cx="2615184" cy="713232"/>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Researcher manipulates an IV and observes effect on DV with random assignment to conditions</a:t>
            </a:r>
            <a:endParaRPr lang="en-US" sz="900" dirty="0"/>
          </a:p>
        </p:txBody>
      </p:sp>
      <p:sp>
        <p:nvSpPr>
          <p:cNvPr id="8" name="Shape 6"/>
          <p:cNvSpPr/>
          <p:nvPr/>
        </p:nvSpPr>
        <p:spPr>
          <a:xfrm>
            <a:off x="320040" y="2194560"/>
            <a:ext cx="2615184" cy="13716"/>
          </a:xfrm>
          <a:prstGeom prst="rect">
            <a:avLst/>
          </a:prstGeom>
          <a:solidFill>
            <a:srgbClr val="1B5CA0"/>
          </a:solidFill>
          <a:ln w="12700">
            <a:solidFill>
              <a:srgbClr val="1B5CA0"/>
            </a:solidFill>
            <a:prstDash val="solid"/>
          </a:ln>
        </p:spPr>
      </p:sp>
      <p:sp>
        <p:nvSpPr>
          <p:cNvPr id="9" name="Text 7"/>
          <p:cNvSpPr/>
          <p:nvPr/>
        </p:nvSpPr>
        <p:spPr>
          <a:xfrm>
            <a:off x="320040" y="2249424"/>
            <a:ext cx="2615184" cy="658368"/>
          </a:xfrm>
          <a:prstGeom prst="rect">
            <a:avLst/>
          </a:prstGeom>
          <a:noFill/>
          <a:ln/>
        </p:spPr>
        <p:txBody>
          <a:bodyPr wrap="square" lIns="0" tIns="0" rIns="0" bIns="0" rtlCol="0" anchor="ctr"/>
          <a:lstStyle/>
          <a:p>
            <a:pPr indent="0" marL="0">
              <a:buNone/>
            </a:pPr>
            <a:r>
              <a:rPr lang="en-US" sz="850" b="1" dirty="0">
                <a:solidFill>
                  <a:srgbClr val="1B5CA0"/>
                </a:solidFill>
                <a:latin typeface="Calibri" pitchFamily="34" charset="0"/>
                <a:ea typeface="Calibri" pitchFamily="34" charset="-122"/>
                <a:cs typeface="Calibri" pitchFamily="34" charset="-120"/>
              </a:rPr>
              <a:t>e.g. </a:t>
            </a:r>
            <a:pPr indent="0" marL="0">
              <a:buNone/>
            </a:pPr>
            <a:r>
              <a:rPr lang="en-US" sz="850" dirty="0">
                <a:solidFill>
                  <a:srgbClr val="2C3E50"/>
                </a:solidFill>
                <a:latin typeface="Calibri" pitchFamily="34" charset="0"/>
                <a:ea typeface="Calibri" pitchFamily="34" charset="-122"/>
                <a:cs typeface="Calibri" pitchFamily="34" charset="-120"/>
              </a:rPr>
              <a:t>UAC Foods tests 3 packaging designs: randomly assign 300 stores to each design and compare sales after 8 weeks</a:t>
            </a:r>
            <a:endParaRPr lang="en-US" sz="850" dirty="0"/>
          </a:p>
        </p:txBody>
      </p:sp>
      <p:sp>
        <p:nvSpPr>
          <p:cNvPr id="10" name="Shape 8"/>
          <p:cNvSpPr/>
          <p:nvPr/>
        </p:nvSpPr>
        <p:spPr>
          <a:xfrm>
            <a:off x="3200400" y="1024128"/>
            <a:ext cx="2816352" cy="1938528"/>
          </a:xfrm>
          <a:prstGeom prst="roundRect">
            <a:avLst>
              <a:gd name="adj" fmla="val 3774"/>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1" name="Shape 9"/>
          <p:cNvSpPr/>
          <p:nvPr/>
        </p:nvSpPr>
        <p:spPr>
          <a:xfrm>
            <a:off x="3273552" y="1097280"/>
            <a:ext cx="2670048" cy="310896"/>
          </a:xfrm>
          <a:prstGeom prst="roundRect">
            <a:avLst>
              <a:gd name="adj" fmla="val 17647"/>
            </a:avLst>
          </a:prstGeom>
          <a:solidFill>
            <a:srgbClr val="2E86C1"/>
          </a:solidFill>
          <a:ln w="12700">
            <a:solidFill>
              <a:srgbClr val="2E86C1"/>
            </a:solidFill>
            <a:prstDash val="solid"/>
          </a:ln>
        </p:spPr>
      </p:sp>
      <p:sp>
        <p:nvSpPr>
          <p:cNvPr id="12" name="Text 10"/>
          <p:cNvSpPr/>
          <p:nvPr/>
        </p:nvSpPr>
        <p:spPr>
          <a:xfrm>
            <a:off x="3273552" y="1097280"/>
            <a:ext cx="267004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Quasi-Experimental</a:t>
            </a:r>
            <a:endParaRPr lang="en-US" sz="1100" dirty="0"/>
          </a:p>
        </p:txBody>
      </p:sp>
      <p:sp>
        <p:nvSpPr>
          <p:cNvPr id="13" name="Text 11"/>
          <p:cNvSpPr/>
          <p:nvPr/>
        </p:nvSpPr>
        <p:spPr>
          <a:xfrm>
            <a:off x="3291840" y="1463040"/>
            <a:ext cx="2615184" cy="713232"/>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Comparison groups but NO random assignment to conditions</a:t>
            </a:r>
            <a:endParaRPr lang="en-US" sz="900" dirty="0"/>
          </a:p>
        </p:txBody>
      </p:sp>
      <p:sp>
        <p:nvSpPr>
          <p:cNvPr id="14" name="Shape 12"/>
          <p:cNvSpPr/>
          <p:nvPr/>
        </p:nvSpPr>
        <p:spPr>
          <a:xfrm>
            <a:off x="3291840" y="2194560"/>
            <a:ext cx="2615184" cy="13716"/>
          </a:xfrm>
          <a:prstGeom prst="rect">
            <a:avLst/>
          </a:prstGeom>
          <a:solidFill>
            <a:srgbClr val="2E86C1"/>
          </a:solidFill>
          <a:ln w="12700">
            <a:solidFill>
              <a:srgbClr val="2E86C1"/>
            </a:solidFill>
            <a:prstDash val="solid"/>
          </a:ln>
        </p:spPr>
      </p:sp>
      <p:sp>
        <p:nvSpPr>
          <p:cNvPr id="15" name="Text 13"/>
          <p:cNvSpPr/>
          <p:nvPr/>
        </p:nvSpPr>
        <p:spPr>
          <a:xfrm>
            <a:off x="3291840" y="2249424"/>
            <a:ext cx="2615184" cy="658368"/>
          </a:xfrm>
          <a:prstGeom prst="rect">
            <a:avLst/>
          </a:prstGeom>
          <a:noFill/>
          <a:ln/>
        </p:spPr>
        <p:txBody>
          <a:bodyPr wrap="square" lIns="0" tIns="0" rIns="0" bIns="0" rtlCol="0" anchor="ctr"/>
          <a:lstStyle/>
          <a:p>
            <a:pPr indent="0" marL="0">
              <a:buNone/>
            </a:pPr>
            <a:r>
              <a:rPr lang="en-US" sz="850" b="1" dirty="0">
                <a:solidFill>
                  <a:srgbClr val="2E86C1"/>
                </a:solidFill>
                <a:latin typeface="Calibri" pitchFamily="34" charset="0"/>
                <a:ea typeface="Calibri" pitchFamily="34" charset="-122"/>
                <a:cs typeface="Calibri" pitchFamily="34" charset="-120"/>
              </a:rPr>
              <a:t>e.g. </a:t>
            </a:r>
            <a:pPr indent="0" marL="0">
              <a:buNone/>
            </a:pPr>
            <a:r>
              <a:rPr lang="en-US" sz="850" dirty="0">
                <a:solidFill>
                  <a:srgbClr val="2C3E50"/>
                </a:solidFill>
                <a:latin typeface="Calibri" pitchFamily="34" charset="0"/>
                <a:ea typeface="Calibri" pitchFamily="34" charset="-122"/>
                <a:cs typeface="Calibri" pitchFamily="34" charset="-120"/>
              </a:rPr>
              <a:t>Compare UAC Foods branch sales before vs. after a promotional campaign in Lagos vs. Abuja as control</a:t>
            </a:r>
            <a:endParaRPr lang="en-US" sz="850" dirty="0"/>
          </a:p>
        </p:txBody>
      </p:sp>
      <p:sp>
        <p:nvSpPr>
          <p:cNvPr id="16" name="Shape 14"/>
          <p:cNvSpPr/>
          <p:nvPr/>
        </p:nvSpPr>
        <p:spPr>
          <a:xfrm>
            <a:off x="6172200" y="1024128"/>
            <a:ext cx="2816352" cy="1938528"/>
          </a:xfrm>
          <a:prstGeom prst="roundRect">
            <a:avLst>
              <a:gd name="adj" fmla="val 3774"/>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6245352" y="1097280"/>
            <a:ext cx="2670048" cy="310896"/>
          </a:xfrm>
          <a:prstGeom prst="roundRect">
            <a:avLst>
              <a:gd name="adj" fmla="val 17647"/>
            </a:avLst>
          </a:prstGeom>
          <a:solidFill>
            <a:srgbClr val="1A7A4A"/>
          </a:solidFill>
          <a:ln w="12700">
            <a:solidFill>
              <a:srgbClr val="1A7A4A"/>
            </a:solidFill>
            <a:prstDash val="solid"/>
          </a:ln>
        </p:spPr>
      </p:sp>
      <p:sp>
        <p:nvSpPr>
          <p:cNvPr id="18" name="Text 16"/>
          <p:cNvSpPr/>
          <p:nvPr/>
        </p:nvSpPr>
        <p:spPr>
          <a:xfrm>
            <a:off x="6245352" y="1097280"/>
            <a:ext cx="267004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Survey / Descriptive</a:t>
            </a:r>
            <a:endParaRPr lang="en-US" sz="1100" dirty="0"/>
          </a:p>
        </p:txBody>
      </p:sp>
      <p:sp>
        <p:nvSpPr>
          <p:cNvPr id="19" name="Text 17"/>
          <p:cNvSpPr/>
          <p:nvPr/>
        </p:nvSpPr>
        <p:spPr>
          <a:xfrm>
            <a:off x="6263640" y="1463040"/>
            <a:ext cx="2615184" cy="713232"/>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Collects structured data from a sample to describe population characteristics</a:t>
            </a:r>
            <a:endParaRPr lang="en-US" sz="900" dirty="0"/>
          </a:p>
        </p:txBody>
      </p:sp>
      <p:sp>
        <p:nvSpPr>
          <p:cNvPr id="20" name="Shape 18"/>
          <p:cNvSpPr/>
          <p:nvPr/>
        </p:nvSpPr>
        <p:spPr>
          <a:xfrm>
            <a:off x="6263640" y="2194560"/>
            <a:ext cx="2615184" cy="13716"/>
          </a:xfrm>
          <a:prstGeom prst="rect">
            <a:avLst/>
          </a:prstGeom>
          <a:solidFill>
            <a:srgbClr val="1A7A4A"/>
          </a:solidFill>
          <a:ln w="12700">
            <a:solidFill>
              <a:srgbClr val="1A7A4A"/>
            </a:solidFill>
            <a:prstDash val="solid"/>
          </a:ln>
        </p:spPr>
      </p:sp>
      <p:sp>
        <p:nvSpPr>
          <p:cNvPr id="21" name="Text 19"/>
          <p:cNvSpPr/>
          <p:nvPr/>
        </p:nvSpPr>
        <p:spPr>
          <a:xfrm>
            <a:off x="6263640" y="2249424"/>
            <a:ext cx="2615184" cy="658368"/>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e.g. </a:t>
            </a:r>
            <a:pPr indent="0" marL="0">
              <a:buNone/>
            </a:pPr>
            <a:r>
              <a:rPr lang="en-US" sz="850" dirty="0">
                <a:solidFill>
                  <a:srgbClr val="2C3E50"/>
                </a:solidFill>
                <a:latin typeface="Calibri" pitchFamily="34" charset="0"/>
                <a:ea typeface="Calibri" pitchFamily="34" charset="-122"/>
                <a:cs typeface="Calibri" pitchFamily="34" charset="-120"/>
              </a:rPr>
              <a:t>Questionnaire survey of 600 UAC Foods consumers on product satisfaction and purchase frequency</a:t>
            </a:r>
            <a:endParaRPr lang="en-US" sz="850" dirty="0"/>
          </a:p>
        </p:txBody>
      </p:sp>
      <p:sp>
        <p:nvSpPr>
          <p:cNvPr id="22" name="Shape 20"/>
          <p:cNvSpPr/>
          <p:nvPr/>
        </p:nvSpPr>
        <p:spPr>
          <a:xfrm>
            <a:off x="228600" y="3054096"/>
            <a:ext cx="2816352" cy="1938528"/>
          </a:xfrm>
          <a:prstGeom prst="roundRect">
            <a:avLst>
              <a:gd name="adj" fmla="val 3774"/>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23" name="Shape 21"/>
          <p:cNvSpPr/>
          <p:nvPr/>
        </p:nvSpPr>
        <p:spPr>
          <a:xfrm>
            <a:off x="301752" y="3127248"/>
            <a:ext cx="2670048" cy="310896"/>
          </a:xfrm>
          <a:prstGeom prst="roundRect">
            <a:avLst>
              <a:gd name="adj" fmla="val 17647"/>
            </a:avLst>
          </a:prstGeom>
          <a:solidFill>
            <a:srgbClr val="D4A017"/>
          </a:solidFill>
          <a:ln w="12700">
            <a:solidFill>
              <a:srgbClr val="D4A017"/>
            </a:solidFill>
            <a:prstDash val="solid"/>
          </a:ln>
        </p:spPr>
      </p:sp>
      <p:sp>
        <p:nvSpPr>
          <p:cNvPr id="24" name="Text 22"/>
          <p:cNvSpPr/>
          <p:nvPr/>
        </p:nvSpPr>
        <p:spPr>
          <a:xfrm>
            <a:off x="301752" y="3127248"/>
            <a:ext cx="267004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Correlational</a:t>
            </a:r>
            <a:endParaRPr lang="en-US" sz="1100" dirty="0"/>
          </a:p>
        </p:txBody>
      </p:sp>
      <p:sp>
        <p:nvSpPr>
          <p:cNvPr id="25" name="Text 23"/>
          <p:cNvSpPr/>
          <p:nvPr/>
        </p:nvSpPr>
        <p:spPr>
          <a:xfrm>
            <a:off x="320040" y="3493008"/>
            <a:ext cx="2615184" cy="713232"/>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Examines whether and how strongly two or more variables are related without manipulation</a:t>
            </a:r>
            <a:endParaRPr lang="en-US" sz="900" dirty="0"/>
          </a:p>
        </p:txBody>
      </p:sp>
      <p:sp>
        <p:nvSpPr>
          <p:cNvPr id="26" name="Shape 24"/>
          <p:cNvSpPr/>
          <p:nvPr/>
        </p:nvSpPr>
        <p:spPr>
          <a:xfrm>
            <a:off x="320040" y="4224528"/>
            <a:ext cx="2615184" cy="13716"/>
          </a:xfrm>
          <a:prstGeom prst="rect">
            <a:avLst/>
          </a:prstGeom>
          <a:solidFill>
            <a:srgbClr val="D4A017"/>
          </a:solidFill>
          <a:ln w="12700">
            <a:solidFill>
              <a:srgbClr val="D4A017"/>
            </a:solidFill>
            <a:prstDash val="solid"/>
          </a:ln>
        </p:spPr>
      </p:sp>
      <p:sp>
        <p:nvSpPr>
          <p:cNvPr id="27" name="Text 25"/>
          <p:cNvSpPr/>
          <p:nvPr/>
        </p:nvSpPr>
        <p:spPr>
          <a:xfrm>
            <a:off x="320040" y="4279392"/>
            <a:ext cx="2615184" cy="658368"/>
          </a:xfrm>
          <a:prstGeom prst="rect">
            <a:avLst/>
          </a:prstGeom>
          <a:noFill/>
          <a:ln/>
        </p:spPr>
        <p:txBody>
          <a:bodyPr wrap="square" lIns="0" tIns="0" rIns="0" bIns="0" rtlCol="0" anchor="ctr"/>
          <a:lstStyle/>
          <a:p>
            <a:pPr indent="0" marL="0">
              <a:buNone/>
            </a:pPr>
            <a:r>
              <a:rPr lang="en-US" sz="850" b="1" dirty="0">
                <a:solidFill>
                  <a:srgbClr val="D4A017"/>
                </a:solidFill>
                <a:latin typeface="Calibri" pitchFamily="34" charset="0"/>
                <a:ea typeface="Calibri" pitchFamily="34" charset="-122"/>
                <a:cs typeface="Calibri" pitchFamily="34" charset="-120"/>
              </a:rPr>
              <a:t>e.g. </a:t>
            </a:r>
            <a:pPr indent="0" marL="0">
              <a:buNone/>
            </a:pPr>
            <a:r>
              <a:rPr lang="en-US" sz="850" dirty="0">
                <a:solidFill>
                  <a:srgbClr val="2C3E50"/>
                </a:solidFill>
                <a:latin typeface="Calibri" pitchFamily="34" charset="0"/>
                <a:ea typeface="Calibri" pitchFamily="34" charset="-122"/>
                <a:cs typeface="Calibri" pitchFamily="34" charset="-120"/>
              </a:rPr>
              <a:t>Examine whether advertising spend and repeat purchase rate are correlated across 24 monthly periods</a:t>
            </a:r>
            <a:endParaRPr lang="en-US" sz="850" dirty="0"/>
          </a:p>
        </p:txBody>
      </p:sp>
      <p:sp>
        <p:nvSpPr>
          <p:cNvPr id="28" name="Shape 26"/>
          <p:cNvSpPr/>
          <p:nvPr/>
        </p:nvSpPr>
        <p:spPr>
          <a:xfrm>
            <a:off x="3200400" y="3054096"/>
            <a:ext cx="2816352" cy="1938528"/>
          </a:xfrm>
          <a:prstGeom prst="roundRect">
            <a:avLst>
              <a:gd name="adj" fmla="val 3774"/>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29" name="Shape 27"/>
          <p:cNvSpPr/>
          <p:nvPr/>
        </p:nvSpPr>
        <p:spPr>
          <a:xfrm>
            <a:off x="3273552" y="3127248"/>
            <a:ext cx="2670048" cy="310896"/>
          </a:xfrm>
          <a:prstGeom prst="roundRect">
            <a:avLst>
              <a:gd name="adj" fmla="val 17647"/>
            </a:avLst>
          </a:prstGeom>
          <a:solidFill>
            <a:srgbClr val="E67E22"/>
          </a:solidFill>
          <a:ln w="12700">
            <a:solidFill>
              <a:srgbClr val="E67E22"/>
            </a:solidFill>
            <a:prstDash val="solid"/>
          </a:ln>
        </p:spPr>
      </p:sp>
      <p:sp>
        <p:nvSpPr>
          <p:cNvPr id="30" name="Text 28"/>
          <p:cNvSpPr/>
          <p:nvPr/>
        </p:nvSpPr>
        <p:spPr>
          <a:xfrm>
            <a:off x="3273552" y="3127248"/>
            <a:ext cx="267004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Case Study</a:t>
            </a:r>
            <a:endParaRPr lang="en-US" sz="1100" dirty="0"/>
          </a:p>
        </p:txBody>
      </p:sp>
      <p:sp>
        <p:nvSpPr>
          <p:cNvPr id="31" name="Text 29"/>
          <p:cNvSpPr/>
          <p:nvPr/>
        </p:nvSpPr>
        <p:spPr>
          <a:xfrm>
            <a:off x="3291840" y="3493008"/>
            <a:ext cx="2615184" cy="713232"/>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In-depth, contextualised investigation of a specific unit: person, company, event, or community</a:t>
            </a:r>
            <a:endParaRPr lang="en-US" sz="900" dirty="0"/>
          </a:p>
        </p:txBody>
      </p:sp>
      <p:sp>
        <p:nvSpPr>
          <p:cNvPr id="32" name="Shape 30"/>
          <p:cNvSpPr/>
          <p:nvPr/>
        </p:nvSpPr>
        <p:spPr>
          <a:xfrm>
            <a:off x="3291840" y="4224528"/>
            <a:ext cx="2615184" cy="13716"/>
          </a:xfrm>
          <a:prstGeom prst="rect">
            <a:avLst/>
          </a:prstGeom>
          <a:solidFill>
            <a:srgbClr val="E67E22"/>
          </a:solidFill>
          <a:ln w="12700">
            <a:solidFill>
              <a:srgbClr val="E67E22"/>
            </a:solidFill>
            <a:prstDash val="solid"/>
          </a:ln>
        </p:spPr>
      </p:sp>
      <p:sp>
        <p:nvSpPr>
          <p:cNvPr id="33" name="Text 31"/>
          <p:cNvSpPr/>
          <p:nvPr/>
        </p:nvSpPr>
        <p:spPr>
          <a:xfrm>
            <a:off x="3291840" y="4279392"/>
            <a:ext cx="2615184" cy="658368"/>
          </a:xfrm>
          <a:prstGeom prst="rect">
            <a:avLst/>
          </a:prstGeom>
          <a:noFill/>
          <a:ln/>
        </p:spPr>
        <p:txBody>
          <a:bodyPr wrap="square" lIns="0" tIns="0" rIns="0" bIns="0" rtlCol="0" anchor="ctr"/>
          <a:lstStyle/>
          <a:p>
            <a:pPr indent="0" marL="0">
              <a:buNone/>
            </a:pPr>
            <a:r>
              <a:rPr lang="en-US" sz="850" b="1" dirty="0">
                <a:solidFill>
                  <a:srgbClr val="E67E22"/>
                </a:solidFill>
                <a:latin typeface="Calibri" pitchFamily="34" charset="0"/>
                <a:ea typeface="Calibri" pitchFamily="34" charset="-122"/>
                <a:cs typeface="Calibri" pitchFamily="34" charset="-120"/>
              </a:rPr>
              <a:t>e.g. </a:t>
            </a:r>
            <a:pPr indent="0" marL="0">
              <a:buNone/>
            </a:pPr>
            <a:r>
              <a:rPr lang="en-US" sz="850" dirty="0">
                <a:solidFill>
                  <a:srgbClr val="2C3E50"/>
                </a:solidFill>
                <a:latin typeface="Calibri" pitchFamily="34" charset="0"/>
                <a:ea typeface="Calibri" pitchFamily="34" charset="-122"/>
                <a:cs typeface="Calibri" pitchFamily="34" charset="-120"/>
              </a:rPr>
              <a:t>Detailed analysis of how UAC Foods navigated supply chain disruptions during the 2022 FX crisis</a:t>
            </a:r>
            <a:endParaRPr lang="en-US" sz="850" dirty="0"/>
          </a:p>
        </p:txBody>
      </p:sp>
      <p:sp>
        <p:nvSpPr>
          <p:cNvPr id="34" name="Shape 32"/>
          <p:cNvSpPr/>
          <p:nvPr/>
        </p:nvSpPr>
        <p:spPr>
          <a:xfrm>
            <a:off x="6172200" y="3054096"/>
            <a:ext cx="2816352" cy="1938528"/>
          </a:xfrm>
          <a:prstGeom prst="roundRect">
            <a:avLst>
              <a:gd name="adj" fmla="val 3774"/>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35" name="Shape 33"/>
          <p:cNvSpPr/>
          <p:nvPr/>
        </p:nvSpPr>
        <p:spPr>
          <a:xfrm>
            <a:off x="6245352" y="3127248"/>
            <a:ext cx="2670048" cy="310896"/>
          </a:xfrm>
          <a:prstGeom prst="roundRect">
            <a:avLst>
              <a:gd name="adj" fmla="val 17647"/>
            </a:avLst>
          </a:prstGeom>
          <a:solidFill>
            <a:srgbClr val="5B2D8E"/>
          </a:solidFill>
          <a:ln w="12700">
            <a:solidFill>
              <a:srgbClr val="5B2D8E"/>
            </a:solidFill>
            <a:prstDash val="solid"/>
          </a:ln>
        </p:spPr>
      </p:sp>
      <p:sp>
        <p:nvSpPr>
          <p:cNvPr id="36" name="Text 34"/>
          <p:cNvSpPr/>
          <p:nvPr/>
        </p:nvSpPr>
        <p:spPr>
          <a:xfrm>
            <a:off x="6245352" y="3127248"/>
            <a:ext cx="267004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Content Analysis</a:t>
            </a:r>
            <a:endParaRPr lang="en-US" sz="1100" dirty="0"/>
          </a:p>
        </p:txBody>
      </p:sp>
      <p:sp>
        <p:nvSpPr>
          <p:cNvPr id="37" name="Text 35"/>
          <p:cNvSpPr/>
          <p:nvPr/>
        </p:nvSpPr>
        <p:spPr>
          <a:xfrm>
            <a:off x="6263640" y="3493008"/>
            <a:ext cx="2615184" cy="713232"/>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Systematic, replicable coding and analysis of documents, text, media, or visual content</a:t>
            </a:r>
            <a:endParaRPr lang="en-US" sz="900" dirty="0"/>
          </a:p>
        </p:txBody>
      </p:sp>
      <p:sp>
        <p:nvSpPr>
          <p:cNvPr id="38" name="Shape 36"/>
          <p:cNvSpPr/>
          <p:nvPr/>
        </p:nvSpPr>
        <p:spPr>
          <a:xfrm>
            <a:off x="6263640" y="4224528"/>
            <a:ext cx="2615184" cy="13716"/>
          </a:xfrm>
          <a:prstGeom prst="rect">
            <a:avLst/>
          </a:prstGeom>
          <a:solidFill>
            <a:srgbClr val="5B2D8E"/>
          </a:solidFill>
          <a:ln w="12700">
            <a:solidFill>
              <a:srgbClr val="5B2D8E"/>
            </a:solidFill>
            <a:prstDash val="solid"/>
          </a:ln>
        </p:spPr>
      </p:sp>
      <p:sp>
        <p:nvSpPr>
          <p:cNvPr id="39" name="Text 37"/>
          <p:cNvSpPr/>
          <p:nvPr/>
        </p:nvSpPr>
        <p:spPr>
          <a:xfrm>
            <a:off x="6263640" y="4279392"/>
            <a:ext cx="2615184" cy="658368"/>
          </a:xfrm>
          <a:prstGeom prst="rect">
            <a:avLst/>
          </a:prstGeom>
          <a:noFill/>
          <a:ln/>
        </p:spPr>
        <p:txBody>
          <a:bodyPr wrap="square" lIns="0" tIns="0" rIns="0" bIns="0" rtlCol="0" anchor="ctr"/>
          <a:lstStyle/>
          <a:p>
            <a:pPr indent="0" marL="0">
              <a:buNone/>
            </a:pPr>
            <a:r>
              <a:rPr lang="en-US" sz="850" b="1" dirty="0">
                <a:solidFill>
                  <a:srgbClr val="5B2D8E"/>
                </a:solidFill>
                <a:latin typeface="Calibri" pitchFamily="34" charset="0"/>
                <a:ea typeface="Calibri" pitchFamily="34" charset="-122"/>
                <a:cs typeface="Calibri" pitchFamily="34" charset="-120"/>
              </a:rPr>
              <a:t>e.g. </a:t>
            </a:r>
            <a:pPr indent="0" marL="0">
              <a:buNone/>
            </a:pPr>
            <a:r>
              <a:rPr lang="en-US" sz="850" dirty="0">
                <a:solidFill>
                  <a:srgbClr val="2C3E50"/>
                </a:solidFill>
                <a:latin typeface="Calibri" pitchFamily="34" charset="0"/>
                <a:ea typeface="Calibri" pitchFamily="34" charset="-122"/>
                <a:cs typeface="Calibri" pitchFamily="34" charset="-120"/>
              </a:rPr>
              <a:t>Analyse UAC Foods customer complaints on social media over 12 months to identify recurring themes</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B5CA0">
              <a:alpha val="18000"/>
            </a:srgbClr>
          </a:solidFill>
          <a:ln w="12700">
            <a:solidFill>
              <a:srgbClr val="1B5CA0"/>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1  |  SECTION 05</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Sampling</a:t>
            </a:r>
            <a:endParaRPr lang="en-US" sz="42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A8C8E8"/>
                </a:solidFill>
                <a:latin typeface="Calibri" pitchFamily="34" charset="0"/>
                <a:ea typeface="Calibri" pitchFamily="34" charset="-122"/>
                <a:cs typeface="Calibri" pitchFamily="34" charset="-120"/>
              </a:rPr>
              <a:t>Selecting the right participants - the foundation of generalisable findings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6400800" y="-1097280"/>
            <a:ext cx="4572000" cy="4572000"/>
          </a:xfrm>
          <a:prstGeom prst="ellipse">
            <a:avLst/>
          </a:prstGeom>
          <a:solidFill>
            <a:srgbClr val="1B5CA0">
              <a:alpha val="16000"/>
            </a:srgbClr>
          </a:solidFill>
          <a:ln w="12700">
            <a:solidFill>
              <a:srgbClr val="1B5CA0"/>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Population, Sample and Sampling Frame</a:t>
            </a:r>
            <a:endParaRPr lang="en-US" sz="2800" dirty="0"/>
          </a:p>
        </p:txBody>
      </p:sp>
      <p:sp>
        <p:nvSpPr>
          <p:cNvPr id="4" name="Shape 2"/>
          <p:cNvSpPr/>
          <p:nvPr/>
        </p:nvSpPr>
        <p:spPr>
          <a:xfrm>
            <a:off x="5029200" y="777240"/>
            <a:ext cx="3749040" cy="3749040"/>
          </a:xfrm>
          <a:prstGeom prst="ellipse">
            <a:avLst/>
          </a:prstGeom>
          <a:solidFill>
            <a:srgbClr val="1B5CA0">
              <a:alpha val="35000"/>
            </a:srgbClr>
          </a:solidFill>
          <a:ln w="19050">
            <a:solidFill>
              <a:srgbClr val="2E86C1"/>
            </a:solidFill>
            <a:prstDash val="solid"/>
          </a:ln>
        </p:spPr>
      </p:sp>
      <p:sp>
        <p:nvSpPr>
          <p:cNvPr id="5" name="Shape 3"/>
          <p:cNvSpPr/>
          <p:nvPr/>
        </p:nvSpPr>
        <p:spPr>
          <a:xfrm>
            <a:off x="5577840" y="1325880"/>
            <a:ext cx="2651760" cy="2651760"/>
          </a:xfrm>
          <a:prstGeom prst="ellipse">
            <a:avLst/>
          </a:prstGeom>
          <a:solidFill>
            <a:srgbClr val="1A3562">
              <a:alpha val="60000"/>
            </a:srgbClr>
          </a:solidFill>
          <a:ln w="19050">
            <a:solidFill>
              <a:srgbClr val="D4A017"/>
            </a:solidFill>
            <a:prstDash val="solid"/>
          </a:ln>
        </p:spPr>
      </p:sp>
      <p:sp>
        <p:nvSpPr>
          <p:cNvPr id="6" name="Shape 4"/>
          <p:cNvSpPr/>
          <p:nvPr/>
        </p:nvSpPr>
        <p:spPr>
          <a:xfrm>
            <a:off x="6080760" y="1828800"/>
            <a:ext cx="1645920" cy="1645920"/>
          </a:xfrm>
          <a:prstGeom prst="ellipse">
            <a:avLst/>
          </a:prstGeom>
          <a:solidFill>
            <a:srgbClr val="0F1E3C"/>
          </a:solidFill>
          <a:ln w="19050">
            <a:solidFill>
              <a:srgbClr val="FFFFFF"/>
            </a:solidFill>
            <a:prstDash val="solid"/>
          </a:ln>
        </p:spPr>
      </p:sp>
      <p:sp>
        <p:nvSpPr>
          <p:cNvPr id="7" name="Text 5"/>
          <p:cNvSpPr/>
          <p:nvPr/>
        </p:nvSpPr>
        <p:spPr>
          <a:xfrm>
            <a:off x="5029200" y="804672"/>
            <a:ext cx="1463040" cy="36576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Population</a:t>
            </a:r>
            <a:endParaRPr lang="en-US" sz="1000" dirty="0"/>
          </a:p>
        </p:txBody>
      </p:sp>
      <p:sp>
        <p:nvSpPr>
          <p:cNvPr id="8" name="Text 6"/>
          <p:cNvSpPr/>
          <p:nvPr/>
        </p:nvSpPr>
        <p:spPr>
          <a:xfrm>
            <a:off x="5532120" y="1389888"/>
            <a:ext cx="1097280" cy="457200"/>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Sampling</a:t>
            </a:r>
            <a:endParaRPr lang="en-US" sz="900" dirty="0"/>
          </a:p>
          <a:p>
            <a:pPr algn="ctr" indent="0" marL="0">
              <a:buNone/>
            </a:pPr>
            <a:r>
              <a:rPr lang="en-US" sz="900" b="1" dirty="0">
                <a:solidFill>
                  <a:srgbClr val="F0C040"/>
                </a:solidFill>
                <a:latin typeface="Calibri" pitchFamily="34" charset="0"/>
                <a:ea typeface="Calibri" pitchFamily="34" charset="-122"/>
                <a:cs typeface="Calibri" pitchFamily="34" charset="-120"/>
              </a:rPr>
              <a:t>Frame</a:t>
            </a:r>
            <a:endParaRPr lang="en-US" sz="900" dirty="0"/>
          </a:p>
        </p:txBody>
      </p:sp>
      <p:sp>
        <p:nvSpPr>
          <p:cNvPr id="9" name="Text 7"/>
          <p:cNvSpPr/>
          <p:nvPr/>
        </p:nvSpPr>
        <p:spPr>
          <a:xfrm>
            <a:off x="6108192" y="2011680"/>
            <a:ext cx="1591056"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Sample</a:t>
            </a:r>
            <a:endParaRPr lang="en-US" sz="900" dirty="0"/>
          </a:p>
        </p:txBody>
      </p:sp>
      <p:sp>
        <p:nvSpPr>
          <p:cNvPr id="10" name="Shape 8"/>
          <p:cNvSpPr/>
          <p:nvPr/>
        </p:nvSpPr>
        <p:spPr>
          <a:xfrm>
            <a:off x="274320" y="914400"/>
            <a:ext cx="4480560" cy="932688"/>
          </a:xfrm>
          <a:prstGeom prst="roundRect">
            <a:avLst>
              <a:gd name="adj" fmla="val 6863"/>
            </a:avLst>
          </a:prstGeom>
          <a:solidFill>
            <a:srgbClr val="0D1F35"/>
          </a:solidFill>
          <a:ln w="10160">
            <a:solidFill>
              <a:srgbClr val="2E86C1"/>
            </a:solidFill>
            <a:prstDash val="solid"/>
          </a:ln>
        </p:spPr>
      </p:sp>
      <p:sp>
        <p:nvSpPr>
          <p:cNvPr id="11" name="Text 9"/>
          <p:cNvSpPr/>
          <p:nvPr/>
        </p:nvSpPr>
        <p:spPr>
          <a:xfrm>
            <a:off x="384048" y="1005840"/>
            <a:ext cx="1828800" cy="274320"/>
          </a:xfrm>
          <a:prstGeom prst="rect">
            <a:avLst/>
          </a:prstGeom>
          <a:noFill/>
          <a:ln/>
        </p:spPr>
        <p:txBody>
          <a:bodyPr wrap="square" lIns="0" tIns="0" rIns="0" bIns="0" rtlCol="0" anchor="ctr"/>
          <a:lstStyle/>
          <a:p>
            <a:pPr indent="0" marL="0">
              <a:buNone/>
            </a:pPr>
            <a:r>
              <a:rPr lang="en-US" sz="1100" b="1" dirty="0">
                <a:solidFill>
                  <a:srgbClr val="2E86C1"/>
                </a:solidFill>
                <a:latin typeface="Calibri" pitchFamily="34" charset="0"/>
                <a:ea typeface="Calibri" pitchFamily="34" charset="-122"/>
                <a:cs typeface="Calibri" pitchFamily="34" charset="-120"/>
              </a:rPr>
              <a:t>Population</a:t>
            </a:r>
            <a:endParaRPr lang="en-US" sz="1100" dirty="0"/>
          </a:p>
        </p:txBody>
      </p:sp>
      <p:sp>
        <p:nvSpPr>
          <p:cNvPr id="12" name="Text 10"/>
          <p:cNvSpPr/>
          <p:nvPr/>
        </p:nvSpPr>
        <p:spPr>
          <a:xfrm>
            <a:off x="384048" y="1298448"/>
            <a:ext cx="4224528" cy="292608"/>
          </a:xfrm>
          <a:prstGeom prst="rect">
            <a:avLst/>
          </a:prstGeom>
          <a:noFill/>
          <a:ln/>
        </p:spPr>
        <p:txBody>
          <a:bodyPr wrap="square" lIns="0" tIns="0" rIns="0" bIns="0" rtlCol="0" anchor="ctr"/>
          <a:lstStyle/>
          <a:p>
            <a:pPr indent="0" marL="0">
              <a:buNone/>
            </a:pPr>
            <a:r>
              <a:rPr lang="en-US" sz="950" dirty="0">
                <a:solidFill>
                  <a:srgbClr val="A8C8E8"/>
                </a:solidFill>
                <a:latin typeface="Calibri" pitchFamily="34" charset="0"/>
                <a:ea typeface="Calibri" pitchFamily="34" charset="-122"/>
                <a:cs typeface="Calibri" pitchFamily="34" charset="-120"/>
              </a:rPr>
              <a:t>The COMPLETE set of all elements about which you want to draw conclusions.</a:t>
            </a:r>
            <a:endParaRPr lang="en-US" sz="950" dirty="0"/>
          </a:p>
        </p:txBody>
      </p:sp>
      <p:sp>
        <p:nvSpPr>
          <p:cNvPr id="13" name="Text 11"/>
          <p:cNvSpPr/>
          <p:nvPr/>
        </p:nvSpPr>
        <p:spPr>
          <a:xfrm>
            <a:off x="384048" y="1572768"/>
            <a:ext cx="4224528" cy="228600"/>
          </a:xfrm>
          <a:prstGeom prst="rect">
            <a:avLst/>
          </a:prstGeom>
          <a:noFill/>
          <a:ln/>
        </p:spPr>
        <p:txBody>
          <a:bodyPr wrap="square" lIns="0" tIns="0" rIns="0" bIns="0" rtlCol="0" anchor="ctr"/>
          <a:lstStyle/>
          <a:p>
            <a:pPr indent="0" marL="0">
              <a:buNone/>
            </a:pPr>
            <a:r>
              <a:rPr lang="en-US" sz="850" b="1" dirty="0">
                <a:solidFill>
                  <a:srgbClr val="2E86C1"/>
                </a:solidFill>
                <a:latin typeface="Calibri" pitchFamily="34" charset="0"/>
                <a:ea typeface="Calibri" pitchFamily="34" charset="-122"/>
                <a:cs typeface="Calibri" pitchFamily="34" charset="-120"/>
              </a:rPr>
              <a:t>UAC: </a:t>
            </a:r>
            <a:pPr indent="0" marL="0">
              <a:buNone/>
            </a:pPr>
            <a:r>
              <a:rPr lang="en-US" sz="850" dirty="0">
                <a:solidFill>
                  <a:srgbClr val="7FB3D3"/>
                </a:solidFill>
                <a:latin typeface="Calibri" pitchFamily="34" charset="0"/>
                <a:ea typeface="Calibri" pitchFamily="34" charset="-122"/>
                <a:cs typeface="Calibri" pitchFamily="34" charset="-120"/>
              </a:rPr>
              <a:t>ALL adult UAC Foods product consumers in Nigeria (potentially millions)</a:t>
            </a:r>
            <a:endParaRPr lang="en-US" sz="850" dirty="0"/>
          </a:p>
        </p:txBody>
      </p:sp>
      <p:sp>
        <p:nvSpPr>
          <p:cNvPr id="14" name="Shape 12"/>
          <p:cNvSpPr/>
          <p:nvPr/>
        </p:nvSpPr>
        <p:spPr>
          <a:xfrm>
            <a:off x="274320" y="1938528"/>
            <a:ext cx="4480560" cy="932688"/>
          </a:xfrm>
          <a:prstGeom prst="roundRect">
            <a:avLst>
              <a:gd name="adj" fmla="val 6863"/>
            </a:avLst>
          </a:prstGeom>
          <a:solidFill>
            <a:srgbClr val="0D1F35"/>
          </a:solidFill>
          <a:ln w="10160">
            <a:solidFill>
              <a:srgbClr val="D4A017"/>
            </a:solidFill>
            <a:prstDash val="solid"/>
          </a:ln>
        </p:spPr>
      </p:sp>
      <p:sp>
        <p:nvSpPr>
          <p:cNvPr id="15" name="Text 13"/>
          <p:cNvSpPr/>
          <p:nvPr/>
        </p:nvSpPr>
        <p:spPr>
          <a:xfrm>
            <a:off x="384048" y="2029968"/>
            <a:ext cx="1828800" cy="274320"/>
          </a:xfrm>
          <a:prstGeom prst="rect">
            <a:avLst/>
          </a:prstGeom>
          <a:noFill/>
          <a:ln/>
        </p:spPr>
        <p:txBody>
          <a:bodyPr wrap="square" lIns="0" tIns="0" rIns="0" bIns="0" rtlCol="0" anchor="ctr"/>
          <a:lstStyle/>
          <a:p>
            <a:pPr indent="0" marL="0">
              <a:buNone/>
            </a:pPr>
            <a:r>
              <a:rPr lang="en-US" sz="1100" b="1" dirty="0">
                <a:solidFill>
                  <a:srgbClr val="D4A017"/>
                </a:solidFill>
                <a:latin typeface="Calibri" pitchFamily="34" charset="0"/>
                <a:ea typeface="Calibri" pitchFamily="34" charset="-122"/>
                <a:cs typeface="Calibri" pitchFamily="34" charset="-120"/>
              </a:rPr>
              <a:t>Sampling Frame</a:t>
            </a:r>
            <a:endParaRPr lang="en-US" sz="1100" dirty="0"/>
          </a:p>
        </p:txBody>
      </p:sp>
      <p:sp>
        <p:nvSpPr>
          <p:cNvPr id="16" name="Text 14"/>
          <p:cNvSpPr/>
          <p:nvPr/>
        </p:nvSpPr>
        <p:spPr>
          <a:xfrm>
            <a:off x="384048" y="2322576"/>
            <a:ext cx="4224528" cy="292608"/>
          </a:xfrm>
          <a:prstGeom prst="rect">
            <a:avLst/>
          </a:prstGeom>
          <a:noFill/>
          <a:ln/>
        </p:spPr>
        <p:txBody>
          <a:bodyPr wrap="square" lIns="0" tIns="0" rIns="0" bIns="0" rtlCol="0" anchor="ctr"/>
          <a:lstStyle/>
          <a:p>
            <a:pPr indent="0" marL="0">
              <a:buNone/>
            </a:pPr>
            <a:r>
              <a:rPr lang="en-US" sz="950" dirty="0">
                <a:solidFill>
                  <a:srgbClr val="A8C8E8"/>
                </a:solidFill>
                <a:latin typeface="Calibri" pitchFamily="34" charset="0"/>
                <a:ea typeface="Calibri" pitchFamily="34" charset="-122"/>
                <a:cs typeface="Calibri" pitchFamily="34" charset="-120"/>
              </a:rPr>
              <a:t>The ACCESSIBLE list or source from which you will actually draw your sample.</a:t>
            </a:r>
            <a:endParaRPr lang="en-US" sz="950" dirty="0"/>
          </a:p>
        </p:txBody>
      </p:sp>
      <p:sp>
        <p:nvSpPr>
          <p:cNvPr id="17" name="Text 15"/>
          <p:cNvSpPr/>
          <p:nvPr/>
        </p:nvSpPr>
        <p:spPr>
          <a:xfrm>
            <a:off x="384048" y="2596896"/>
            <a:ext cx="4224528" cy="228600"/>
          </a:xfrm>
          <a:prstGeom prst="rect">
            <a:avLst/>
          </a:prstGeom>
          <a:noFill/>
          <a:ln/>
        </p:spPr>
        <p:txBody>
          <a:bodyPr wrap="square" lIns="0" tIns="0" rIns="0" bIns="0" rtlCol="0" anchor="ctr"/>
          <a:lstStyle/>
          <a:p>
            <a:pPr indent="0" marL="0">
              <a:buNone/>
            </a:pPr>
            <a:r>
              <a:rPr lang="en-US" sz="850" b="1" dirty="0">
                <a:solidFill>
                  <a:srgbClr val="D4A017"/>
                </a:solidFill>
                <a:latin typeface="Calibri" pitchFamily="34" charset="0"/>
                <a:ea typeface="Calibri" pitchFamily="34" charset="-122"/>
                <a:cs typeface="Calibri" pitchFamily="34" charset="-120"/>
              </a:rPr>
              <a:t>UAC: </a:t>
            </a:r>
            <a:pPr indent="0" marL="0">
              <a:buNone/>
            </a:pPr>
            <a:r>
              <a:rPr lang="en-US" sz="850" dirty="0">
                <a:solidFill>
                  <a:srgbClr val="7FB3D3"/>
                </a:solidFill>
                <a:latin typeface="Calibri" pitchFamily="34" charset="0"/>
                <a:ea typeface="Calibri" pitchFamily="34" charset="-122"/>
                <a:cs typeface="Calibri" pitchFamily="34" charset="-120"/>
              </a:rPr>
              <a:t>UAC Foods loyalty program database: 45,000 registered customers in Lagos and Abuja</a:t>
            </a:r>
            <a:endParaRPr lang="en-US" sz="850" dirty="0"/>
          </a:p>
        </p:txBody>
      </p:sp>
      <p:sp>
        <p:nvSpPr>
          <p:cNvPr id="18" name="Shape 16"/>
          <p:cNvSpPr/>
          <p:nvPr/>
        </p:nvSpPr>
        <p:spPr>
          <a:xfrm>
            <a:off x="274320" y="2962656"/>
            <a:ext cx="4480560" cy="932688"/>
          </a:xfrm>
          <a:prstGeom prst="roundRect">
            <a:avLst>
              <a:gd name="adj" fmla="val 6863"/>
            </a:avLst>
          </a:prstGeom>
          <a:solidFill>
            <a:srgbClr val="0D1F35"/>
          </a:solidFill>
          <a:ln w="10160">
            <a:solidFill>
              <a:srgbClr val="FFFFFF"/>
            </a:solidFill>
            <a:prstDash val="solid"/>
          </a:ln>
        </p:spPr>
      </p:sp>
      <p:sp>
        <p:nvSpPr>
          <p:cNvPr id="19" name="Text 17"/>
          <p:cNvSpPr/>
          <p:nvPr/>
        </p:nvSpPr>
        <p:spPr>
          <a:xfrm>
            <a:off x="384048" y="3054096"/>
            <a:ext cx="18288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Sample</a:t>
            </a:r>
            <a:endParaRPr lang="en-US" sz="1100" dirty="0"/>
          </a:p>
        </p:txBody>
      </p:sp>
      <p:sp>
        <p:nvSpPr>
          <p:cNvPr id="20" name="Text 18"/>
          <p:cNvSpPr/>
          <p:nvPr/>
        </p:nvSpPr>
        <p:spPr>
          <a:xfrm>
            <a:off x="384048" y="3346704"/>
            <a:ext cx="4224528" cy="292608"/>
          </a:xfrm>
          <a:prstGeom prst="rect">
            <a:avLst/>
          </a:prstGeom>
          <a:noFill/>
          <a:ln/>
        </p:spPr>
        <p:txBody>
          <a:bodyPr wrap="square" lIns="0" tIns="0" rIns="0" bIns="0" rtlCol="0" anchor="ctr"/>
          <a:lstStyle/>
          <a:p>
            <a:pPr indent="0" marL="0">
              <a:buNone/>
            </a:pPr>
            <a:r>
              <a:rPr lang="en-US" sz="950" dirty="0">
                <a:solidFill>
                  <a:srgbClr val="A8C8E8"/>
                </a:solidFill>
                <a:latin typeface="Calibri" pitchFamily="34" charset="0"/>
                <a:ea typeface="Calibri" pitchFamily="34" charset="-122"/>
                <a:cs typeface="Calibri" pitchFamily="34" charset="-120"/>
              </a:rPr>
              <a:t>The SUBSET of the population actually selected and studied.</a:t>
            </a:r>
            <a:endParaRPr lang="en-US" sz="950" dirty="0"/>
          </a:p>
        </p:txBody>
      </p:sp>
      <p:sp>
        <p:nvSpPr>
          <p:cNvPr id="21" name="Text 19"/>
          <p:cNvSpPr/>
          <p:nvPr/>
        </p:nvSpPr>
        <p:spPr>
          <a:xfrm>
            <a:off x="384048" y="3621024"/>
            <a:ext cx="4224528" cy="228600"/>
          </a:xfrm>
          <a:prstGeom prst="rect">
            <a:avLst/>
          </a:prstGeom>
          <a:noFill/>
          <a:ln/>
        </p:spPr>
        <p:txBody>
          <a:bodyPr wrap="square" lIns="0" tIns="0" rIns="0" bIns="0"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UAC: </a:t>
            </a:r>
            <a:pPr indent="0" marL="0">
              <a:buNone/>
            </a:pPr>
            <a:r>
              <a:rPr lang="en-US" sz="850" dirty="0">
                <a:solidFill>
                  <a:srgbClr val="7FB3D3"/>
                </a:solidFill>
                <a:latin typeface="Calibri" pitchFamily="34" charset="0"/>
                <a:ea typeface="Calibri" pitchFamily="34" charset="-122"/>
                <a:cs typeface="Calibri" pitchFamily="34" charset="-120"/>
              </a:rPr>
              <a:t>600 loyalty program members randomly selected from the 45,000-member database</a:t>
            </a:r>
            <a:endParaRPr lang="en-US" sz="850" dirty="0"/>
          </a:p>
        </p:txBody>
      </p:sp>
      <p:sp>
        <p:nvSpPr>
          <p:cNvPr id="22" name="Shape 20"/>
          <p:cNvSpPr/>
          <p:nvPr/>
        </p:nvSpPr>
        <p:spPr>
          <a:xfrm>
            <a:off x="274320" y="3986784"/>
            <a:ext cx="4480560" cy="932688"/>
          </a:xfrm>
          <a:prstGeom prst="roundRect">
            <a:avLst>
              <a:gd name="adj" fmla="val 6863"/>
            </a:avLst>
          </a:prstGeom>
          <a:solidFill>
            <a:srgbClr val="0D1F35"/>
          </a:solidFill>
          <a:ln w="10160">
            <a:solidFill>
              <a:srgbClr val="1A7A4A"/>
            </a:solidFill>
            <a:prstDash val="solid"/>
          </a:ln>
        </p:spPr>
      </p:sp>
      <p:sp>
        <p:nvSpPr>
          <p:cNvPr id="23" name="Text 21"/>
          <p:cNvSpPr/>
          <p:nvPr/>
        </p:nvSpPr>
        <p:spPr>
          <a:xfrm>
            <a:off x="384048" y="4078224"/>
            <a:ext cx="1828800" cy="274320"/>
          </a:xfrm>
          <a:prstGeom prst="rect">
            <a:avLst/>
          </a:prstGeom>
          <a:noFill/>
          <a:ln/>
        </p:spPr>
        <p:txBody>
          <a:bodyPr wrap="square" lIns="0" tIns="0" rIns="0" bIns="0" rtlCol="0" anchor="ctr"/>
          <a:lstStyle/>
          <a:p>
            <a:pPr indent="0" marL="0">
              <a:buNone/>
            </a:pPr>
            <a:r>
              <a:rPr lang="en-US" sz="1100" b="1" dirty="0">
                <a:solidFill>
                  <a:srgbClr val="1A7A4A"/>
                </a:solidFill>
                <a:latin typeface="Calibri" pitchFamily="34" charset="0"/>
                <a:ea typeface="Calibri" pitchFamily="34" charset="-122"/>
                <a:cs typeface="Calibri" pitchFamily="34" charset="-120"/>
              </a:rPr>
              <a:t>Representativeness</a:t>
            </a:r>
            <a:endParaRPr lang="en-US" sz="1100" dirty="0"/>
          </a:p>
        </p:txBody>
      </p:sp>
      <p:sp>
        <p:nvSpPr>
          <p:cNvPr id="24" name="Text 22"/>
          <p:cNvSpPr/>
          <p:nvPr/>
        </p:nvSpPr>
        <p:spPr>
          <a:xfrm>
            <a:off x="384048" y="4370832"/>
            <a:ext cx="4224528" cy="292608"/>
          </a:xfrm>
          <a:prstGeom prst="rect">
            <a:avLst/>
          </a:prstGeom>
          <a:noFill/>
          <a:ln/>
        </p:spPr>
        <p:txBody>
          <a:bodyPr wrap="square" lIns="0" tIns="0" rIns="0" bIns="0" rtlCol="0" anchor="ctr"/>
          <a:lstStyle/>
          <a:p>
            <a:pPr indent="0" marL="0">
              <a:buNone/>
            </a:pPr>
            <a:r>
              <a:rPr lang="en-US" sz="950" dirty="0">
                <a:solidFill>
                  <a:srgbClr val="A8C8E8"/>
                </a:solidFill>
                <a:latin typeface="Calibri" pitchFamily="34" charset="0"/>
                <a:ea typeface="Calibri" pitchFamily="34" charset="-122"/>
                <a:cs typeface="Calibri" pitchFamily="34" charset="-120"/>
              </a:rPr>
              <a:t>The sample must MIRROR the key characteristics of the population for findings to generalise.</a:t>
            </a:r>
            <a:endParaRPr lang="en-US" sz="950" dirty="0"/>
          </a:p>
        </p:txBody>
      </p:sp>
      <p:sp>
        <p:nvSpPr>
          <p:cNvPr id="25" name="Text 23"/>
          <p:cNvSpPr/>
          <p:nvPr/>
        </p:nvSpPr>
        <p:spPr>
          <a:xfrm>
            <a:off x="384048" y="4645152"/>
            <a:ext cx="4224528" cy="228600"/>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UAC: </a:t>
            </a:r>
            <a:pPr indent="0" marL="0">
              <a:buNone/>
            </a:pPr>
            <a:r>
              <a:rPr lang="en-US" sz="850" dirty="0">
                <a:solidFill>
                  <a:srgbClr val="7FB3D3"/>
                </a:solidFill>
                <a:latin typeface="Calibri" pitchFamily="34" charset="0"/>
                <a:ea typeface="Calibri" pitchFamily="34" charset="-122"/>
                <a:cs typeface="Calibri" pitchFamily="34" charset="-120"/>
              </a:rPr>
              <a:t>600 selected in proportion to Lagos/Abuja split and age distribution in the database</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562"/>
          </a:solidFill>
          <a:ln w="12700">
            <a:solidFill>
              <a:srgbClr val="1A3562"/>
            </a:solidFill>
            <a:prstDash val="solid"/>
          </a:ln>
        </p:spPr>
      </p:sp>
      <p:sp>
        <p:nvSpPr>
          <p:cNvPr id="3" name="Text 1"/>
          <p:cNvSpPr/>
          <p:nvPr/>
        </p:nvSpPr>
        <p:spPr>
          <a:xfrm>
            <a:off x="457200" y="109728"/>
            <a:ext cx="8229600" cy="713232"/>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Probability Sampling Techniques</a:t>
            </a:r>
            <a:endParaRPr lang="en-US" sz="2600" dirty="0"/>
          </a:p>
        </p:txBody>
      </p:sp>
      <p:sp>
        <p:nvSpPr>
          <p:cNvPr id="4" name="Shape 2"/>
          <p:cNvSpPr/>
          <p:nvPr/>
        </p:nvSpPr>
        <p:spPr>
          <a:xfrm>
            <a:off x="274320" y="1024128"/>
            <a:ext cx="8595360" cy="384048"/>
          </a:xfrm>
          <a:prstGeom prst="roundRect">
            <a:avLst>
              <a:gd name="adj" fmla="val 14286"/>
            </a:avLst>
          </a:prstGeom>
          <a:solidFill>
            <a:srgbClr val="EBF5FB"/>
          </a:solidFill>
          <a:ln w="10160">
            <a:solidFill>
              <a:srgbClr val="2E86C1"/>
            </a:solidFill>
            <a:prstDash val="solid"/>
          </a:ln>
        </p:spPr>
      </p:sp>
      <p:sp>
        <p:nvSpPr>
          <p:cNvPr id="5" name="Text 3"/>
          <p:cNvSpPr/>
          <p:nvPr/>
        </p:nvSpPr>
        <p:spPr>
          <a:xfrm>
            <a:off x="384048" y="1060704"/>
            <a:ext cx="8357616" cy="320040"/>
          </a:xfrm>
          <a:prstGeom prst="rect">
            <a:avLst/>
          </a:prstGeom>
          <a:noFill/>
          <a:ln/>
        </p:spPr>
        <p:txBody>
          <a:bodyPr wrap="square" lIns="0" tIns="0" rIns="0" bIns="0" rtlCol="0" anchor="ctr"/>
          <a:lstStyle/>
          <a:p>
            <a:pPr indent="0" marL="0">
              <a:buNone/>
            </a:pPr>
            <a:r>
              <a:rPr lang="en-US" sz="1050" dirty="0">
                <a:solidFill>
                  <a:srgbClr val="0F1E3C"/>
                </a:solidFill>
                <a:latin typeface="Calibri" pitchFamily="34" charset="0"/>
                <a:ea typeface="Calibri" pitchFamily="34" charset="-122"/>
                <a:cs typeface="Calibri" pitchFamily="34" charset="-120"/>
              </a:rPr>
              <a:t>In probability sampling, every member of the population has a KNOWN, NON-ZERO chance of selection. This is required for statistical inference and generalisation.</a:t>
            </a:r>
            <a:endParaRPr lang="en-US" sz="1050" dirty="0"/>
          </a:p>
        </p:txBody>
      </p:sp>
      <p:sp>
        <p:nvSpPr>
          <p:cNvPr id="6" name="Shape 4"/>
          <p:cNvSpPr/>
          <p:nvPr/>
        </p:nvSpPr>
        <p:spPr>
          <a:xfrm>
            <a:off x="256032" y="1508760"/>
            <a:ext cx="4160520" cy="1719072"/>
          </a:xfrm>
          <a:prstGeom prst="roundRect">
            <a:avLst>
              <a:gd name="adj" fmla="val 4255"/>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347472" y="1600200"/>
            <a:ext cx="3977640" cy="292608"/>
          </a:xfrm>
          <a:prstGeom prst="roundRect">
            <a:avLst>
              <a:gd name="adj" fmla="val 18750"/>
            </a:avLst>
          </a:prstGeom>
          <a:solidFill>
            <a:srgbClr val="1B5CA0"/>
          </a:solidFill>
          <a:ln w="12700">
            <a:solidFill>
              <a:srgbClr val="1B5CA0"/>
            </a:solidFill>
            <a:prstDash val="solid"/>
          </a:ln>
        </p:spPr>
      </p:sp>
      <p:sp>
        <p:nvSpPr>
          <p:cNvPr id="8" name="Text 6"/>
          <p:cNvSpPr/>
          <p:nvPr/>
        </p:nvSpPr>
        <p:spPr>
          <a:xfrm>
            <a:off x="347472" y="1600200"/>
            <a:ext cx="39776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Simple Random Sampling</a:t>
            </a:r>
            <a:endParaRPr lang="en-US" sz="1100" dirty="0"/>
          </a:p>
        </p:txBody>
      </p:sp>
      <p:sp>
        <p:nvSpPr>
          <p:cNvPr id="9" name="Text 7"/>
          <p:cNvSpPr/>
          <p:nvPr/>
        </p:nvSpPr>
        <p:spPr>
          <a:xfrm>
            <a:off x="365760" y="1947672"/>
            <a:ext cx="3913632" cy="566928"/>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Every member has EQUAL probability of selection. Draw names from a hat, use random number generator, or use SPSS: Data &gt; Select Cases &gt; Random Sample.</a:t>
            </a:r>
            <a:endParaRPr lang="en-US" sz="900" dirty="0"/>
          </a:p>
        </p:txBody>
      </p:sp>
      <p:sp>
        <p:nvSpPr>
          <p:cNvPr id="10" name="Text 8"/>
          <p:cNvSpPr/>
          <p:nvPr/>
        </p:nvSpPr>
        <p:spPr>
          <a:xfrm>
            <a:off x="365760" y="2532888"/>
            <a:ext cx="3913632" cy="621792"/>
          </a:xfrm>
          <a:prstGeom prst="rect">
            <a:avLst/>
          </a:prstGeom>
          <a:noFill/>
          <a:ln/>
        </p:spPr>
        <p:txBody>
          <a:bodyPr wrap="square" lIns="0" tIns="0" rIns="0" bIns="0" rtlCol="0" anchor="ctr"/>
          <a:lstStyle/>
          <a:p>
            <a:pPr indent="0" marL="0">
              <a:buNone/>
            </a:pPr>
            <a:r>
              <a:rPr lang="en-US" sz="850" b="1" dirty="0">
                <a:solidFill>
                  <a:srgbClr val="1B5CA0"/>
                </a:solidFill>
                <a:latin typeface="Calibri" pitchFamily="34" charset="0"/>
                <a:ea typeface="Calibri" pitchFamily="34" charset="-122"/>
                <a:cs typeface="Calibri" pitchFamily="34" charset="-120"/>
              </a:rPr>
              <a:t>Example: </a:t>
            </a:r>
            <a:pPr indent="0" marL="0">
              <a:buNone/>
            </a:pPr>
            <a:r>
              <a:rPr lang="en-US" sz="850" dirty="0">
                <a:solidFill>
                  <a:srgbClr val="64748B"/>
                </a:solidFill>
                <a:latin typeface="Calibri" pitchFamily="34" charset="0"/>
                <a:ea typeface="Calibri" pitchFamily="34" charset="-122"/>
                <a:cs typeface="Calibri" pitchFamily="34" charset="-120"/>
              </a:rPr>
              <a:t>From UAC Foods 45,000-customer database, use Excel RAND() function to randomly select 600 records.</a:t>
            </a:r>
            <a:endParaRPr lang="en-US" sz="850" dirty="0"/>
          </a:p>
        </p:txBody>
      </p:sp>
      <p:sp>
        <p:nvSpPr>
          <p:cNvPr id="11" name="Shape 9"/>
          <p:cNvSpPr/>
          <p:nvPr/>
        </p:nvSpPr>
        <p:spPr>
          <a:xfrm>
            <a:off x="4718304" y="1508760"/>
            <a:ext cx="4160520" cy="1719072"/>
          </a:xfrm>
          <a:prstGeom prst="roundRect">
            <a:avLst>
              <a:gd name="adj" fmla="val 4255"/>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2" name="Shape 10"/>
          <p:cNvSpPr/>
          <p:nvPr/>
        </p:nvSpPr>
        <p:spPr>
          <a:xfrm>
            <a:off x="4809744" y="1600200"/>
            <a:ext cx="3977640" cy="292608"/>
          </a:xfrm>
          <a:prstGeom prst="roundRect">
            <a:avLst>
              <a:gd name="adj" fmla="val 18750"/>
            </a:avLst>
          </a:prstGeom>
          <a:solidFill>
            <a:srgbClr val="2E86C1"/>
          </a:solidFill>
          <a:ln w="12700">
            <a:solidFill>
              <a:srgbClr val="2E86C1"/>
            </a:solidFill>
            <a:prstDash val="solid"/>
          </a:ln>
        </p:spPr>
      </p:sp>
      <p:sp>
        <p:nvSpPr>
          <p:cNvPr id="13" name="Text 11"/>
          <p:cNvSpPr/>
          <p:nvPr/>
        </p:nvSpPr>
        <p:spPr>
          <a:xfrm>
            <a:off x="4809744" y="1600200"/>
            <a:ext cx="39776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Systematic Sampling</a:t>
            </a:r>
            <a:endParaRPr lang="en-US" sz="1100" dirty="0"/>
          </a:p>
        </p:txBody>
      </p:sp>
      <p:sp>
        <p:nvSpPr>
          <p:cNvPr id="14" name="Text 12"/>
          <p:cNvSpPr/>
          <p:nvPr/>
        </p:nvSpPr>
        <p:spPr>
          <a:xfrm>
            <a:off x="4828032" y="1947672"/>
            <a:ext cx="3913632" cy="566928"/>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Select every kth element after a random start point. k = N/n = 45,000/600 = 75. Start at random position 1-75, then take every 75th record.</a:t>
            </a:r>
            <a:endParaRPr lang="en-US" sz="900" dirty="0"/>
          </a:p>
        </p:txBody>
      </p:sp>
      <p:sp>
        <p:nvSpPr>
          <p:cNvPr id="15" name="Text 13"/>
          <p:cNvSpPr/>
          <p:nvPr/>
        </p:nvSpPr>
        <p:spPr>
          <a:xfrm>
            <a:off x="4828032" y="2532888"/>
            <a:ext cx="3913632" cy="621792"/>
          </a:xfrm>
          <a:prstGeom prst="rect">
            <a:avLst/>
          </a:prstGeom>
          <a:noFill/>
          <a:ln/>
        </p:spPr>
        <p:txBody>
          <a:bodyPr wrap="square" lIns="0" tIns="0" rIns="0" bIns="0" rtlCol="0" anchor="ctr"/>
          <a:lstStyle/>
          <a:p>
            <a:pPr indent="0" marL="0">
              <a:buNone/>
            </a:pPr>
            <a:r>
              <a:rPr lang="en-US" sz="850" b="1" dirty="0">
                <a:solidFill>
                  <a:srgbClr val="2E86C1"/>
                </a:solidFill>
                <a:latin typeface="Calibri" pitchFamily="34" charset="0"/>
                <a:ea typeface="Calibri" pitchFamily="34" charset="-122"/>
                <a:cs typeface="Calibri" pitchFamily="34" charset="-120"/>
              </a:rPr>
              <a:t>Example: </a:t>
            </a:r>
            <a:pPr indent="0" marL="0">
              <a:buNone/>
            </a:pPr>
            <a:r>
              <a:rPr lang="en-US" sz="850" dirty="0">
                <a:solidFill>
                  <a:srgbClr val="64748B"/>
                </a:solidFill>
                <a:latin typeface="Calibri" pitchFamily="34" charset="0"/>
                <a:ea typeface="Calibri" pitchFamily="34" charset="-122"/>
                <a:cs typeface="Calibri" pitchFamily="34" charset="-120"/>
              </a:rPr>
              <a:t>Start at customer record #43, then select records 43, 118, 193, 268... through the sorted database.</a:t>
            </a:r>
            <a:endParaRPr lang="en-US" sz="850" dirty="0"/>
          </a:p>
        </p:txBody>
      </p:sp>
      <p:sp>
        <p:nvSpPr>
          <p:cNvPr id="16" name="Shape 14"/>
          <p:cNvSpPr/>
          <p:nvPr/>
        </p:nvSpPr>
        <p:spPr>
          <a:xfrm>
            <a:off x="256032" y="3319272"/>
            <a:ext cx="4160520" cy="1719072"/>
          </a:xfrm>
          <a:prstGeom prst="roundRect">
            <a:avLst>
              <a:gd name="adj" fmla="val 4255"/>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47472" y="3410712"/>
            <a:ext cx="3977640" cy="292608"/>
          </a:xfrm>
          <a:prstGeom prst="roundRect">
            <a:avLst>
              <a:gd name="adj" fmla="val 18750"/>
            </a:avLst>
          </a:prstGeom>
          <a:solidFill>
            <a:srgbClr val="1A7A4A"/>
          </a:solidFill>
          <a:ln w="12700">
            <a:solidFill>
              <a:srgbClr val="1A7A4A"/>
            </a:solidFill>
            <a:prstDash val="solid"/>
          </a:ln>
        </p:spPr>
      </p:sp>
      <p:sp>
        <p:nvSpPr>
          <p:cNvPr id="18" name="Text 16"/>
          <p:cNvSpPr/>
          <p:nvPr/>
        </p:nvSpPr>
        <p:spPr>
          <a:xfrm>
            <a:off x="347472" y="3410712"/>
            <a:ext cx="39776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Stratified Random Sampling</a:t>
            </a:r>
            <a:endParaRPr lang="en-US" sz="1100" dirty="0"/>
          </a:p>
        </p:txBody>
      </p:sp>
      <p:sp>
        <p:nvSpPr>
          <p:cNvPr id="19" name="Text 17"/>
          <p:cNvSpPr/>
          <p:nvPr/>
        </p:nvSpPr>
        <p:spPr>
          <a:xfrm>
            <a:off x="365760" y="3758184"/>
            <a:ext cx="3913632" cy="566928"/>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Divide population into homogeneous subgroups (strata), then randomly sample within each stratum proportionally or equally.</a:t>
            </a:r>
            <a:endParaRPr lang="en-US" sz="900" dirty="0"/>
          </a:p>
        </p:txBody>
      </p:sp>
      <p:sp>
        <p:nvSpPr>
          <p:cNvPr id="20" name="Text 18"/>
          <p:cNvSpPr/>
          <p:nvPr/>
        </p:nvSpPr>
        <p:spPr>
          <a:xfrm>
            <a:off x="365760" y="4343400"/>
            <a:ext cx="3913632" cy="621792"/>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Example: </a:t>
            </a:r>
            <a:pPr indent="0" marL="0">
              <a:buNone/>
            </a:pPr>
            <a:r>
              <a:rPr lang="en-US" sz="850" dirty="0">
                <a:solidFill>
                  <a:srgbClr val="64748B"/>
                </a:solidFill>
                <a:latin typeface="Calibri" pitchFamily="34" charset="0"/>
                <a:ea typeface="Calibri" pitchFamily="34" charset="-122"/>
                <a:cs typeface="Calibri" pitchFamily="34" charset="-120"/>
              </a:rPr>
              <a:t>Stratify UAC Foods customers by city (Lagos 60%, Abuja 25%, PH 15%), then randomly select 360, 150, 90 from each.</a:t>
            </a:r>
            <a:endParaRPr lang="en-US" sz="850" dirty="0"/>
          </a:p>
        </p:txBody>
      </p:sp>
      <p:sp>
        <p:nvSpPr>
          <p:cNvPr id="21" name="Shape 19"/>
          <p:cNvSpPr/>
          <p:nvPr/>
        </p:nvSpPr>
        <p:spPr>
          <a:xfrm>
            <a:off x="4718304" y="3319272"/>
            <a:ext cx="4160520" cy="1719072"/>
          </a:xfrm>
          <a:prstGeom prst="roundRect">
            <a:avLst>
              <a:gd name="adj" fmla="val 4255"/>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22" name="Shape 20"/>
          <p:cNvSpPr/>
          <p:nvPr/>
        </p:nvSpPr>
        <p:spPr>
          <a:xfrm>
            <a:off x="4809744" y="3410712"/>
            <a:ext cx="3977640" cy="292608"/>
          </a:xfrm>
          <a:prstGeom prst="roundRect">
            <a:avLst>
              <a:gd name="adj" fmla="val 18750"/>
            </a:avLst>
          </a:prstGeom>
          <a:solidFill>
            <a:srgbClr val="D4A017"/>
          </a:solidFill>
          <a:ln w="12700">
            <a:solidFill>
              <a:srgbClr val="D4A017"/>
            </a:solidFill>
            <a:prstDash val="solid"/>
          </a:ln>
        </p:spPr>
      </p:sp>
      <p:sp>
        <p:nvSpPr>
          <p:cNvPr id="23" name="Text 21"/>
          <p:cNvSpPr/>
          <p:nvPr/>
        </p:nvSpPr>
        <p:spPr>
          <a:xfrm>
            <a:off x="4809744" y="3410712"/>
            <a:ext cx="39776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Cluster Sampling</a:t>
            </a:r>
            <a:endParaRPr lang="en-US" sz="1100" dirty="0"/>
          </a:p>
        </p:txBody>
      </p:sp>
      <p:sp>
        <p:nvSpPr>
          <p:cNvPr id="24" name="Text 22"/>
          <p:cNvSpPr/>
          <p:nvPr/>
        </p:nvSpPr>
        <p:spPr>
          <a:xfrm>
            <a:off x="4828032" y="3758184"/>
            <a:ext cx="3913632" cy="566928"/>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Divide population into clusters (usually geographic), randomly select clusters, then study all or a random sample within selected clusters.</a:t>
            </a:r>
            <a:endParaRPr lang="en-US" sz="900" dirty="0"/>
          </a:p>
        </p:txBody>
      </p:sp>
      <p:sp>
        <p:nvSpPr>
          <p:cNvPr id="25" name="Text 23"/>
          <p:cNvSpPr/>
          <p:nvPr/>
        </p:nvSpPr>
        <p:spPr>
          <a:xfrm>
            <a:off x="4828032" y="4343400"/>
            <a:ext cx="3913632" cy="621792"/>
          </a:xfrm>
          <a:prstGeom prst="rect">
            <a:avLst/>
          </a:prstGeom>
          <a:noFill/>
          <a:ln/>
        </p:spPr>
        <p:txBody>
          <a:bodyPr wrap="square" lIns="0" tIns="0" rIns="0" bIns="0" rtlCol="0" anchor="ctr"/>
          <a:lstStyle/>
          <a:p>
            <a:pPr indent="0" marL="0">
              <a:buNone/>
            </a:pPr>
            <a:r>
              <a:rPr lang="en-US" sz="850" b="1" dirty="0">
                <a:solidFill>
                  <a:srgbClr val="D4A017"/>
                </a:solidFill>
                <a:latin typeface="Calibri" pitchFamily="34" charset="0"/>
                <a:ea typeface="Calibri" pitchFamily="34" charset="-122"/>
                <a:cs typeface="Calibri" pitchFamily="34" charset="-120"/>
              </a:rPr>
              <a:t>Example: </a:t>
            </a:r>
            <a:pPr indent="0" marL="0">
              <a:buNone/>
            </a:pPr>
            <a:r>
              <a:rPr lang="en-US" sz="850" dirty="0">
                <a:solidFill>
                  <a:srgbClr val="64748B"/>
                </a:solidFill>
                <a:latin typeface="Calibri" pitchFamily="34" charset="0"/>
                <a:ea typeface="Calibri" pitchFamily="34" charset="-122"/>
                <a:cs typeface="Calibri" pitchFamily="34" charset="-120"/>
              </a:rPr>
              <a:t>Randomly select 15 of Nigeria's 36 states, then survey all UAC Foods distributors within those 15 states.</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914400" y="3200400"/>
            <a:ext cx="3657600" cy="3657600"/>
          </a:xfrm>
          <a:prstGeom prst="ellipse">
            <a:avLst/>
          </a:prstGeom>
          <a:solidFill>
            <a:srgbClr val="D4A017">
              <a:alpha val="14000"/>
            </a:srgbClr>
          </a:solidFill>
          <a:ln w="12700">
            <a:solidFill>
              <a:srgbClr val="D4A017"/>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Non-Probability Sampling Techniques</a:t>
            </a:r>
            <a:endParaRPr lang="en-US" sz="2800" dirty="0"/>
          </a:p>
        </p:txBody>
      </p:sp>
      <p:sp>
        <p:nvSpPr>
          <p:cNvPr id="4" name="Text 2"/>
          <p:cNvSpPr/>
          <p:nvPr/>
        </p:nvSpPr>
        <p:spPr>
          <a:xfrm>
            <a:off x="457200" y="841248"/>
            <a:ext cx="7772400" cy="347472"/>
          </a:xfrm>
          <a:prstGeom prst="rect">
            <a:avLst/>
          </a:prstGeom>
          <a:noFill/>
          <a:ln/>
        </p:spPr>
        <p:txBody>
          <a:bodyPr wrap="square" lIns="0" tIns="0" rIns="0" bIns="0" rtlCol="0" anchor="ctr"/>
          <a:lstStyle/>
          <a:p>
            <a:pPr indent="0" marL="0">
              <a:buNone/>
            </a:pPr>
            <a:r>
              <a:rPr lang="en-US" sz="1200" dirty="0">
                <a:solidFill>
                  <a:srgbClr val="A8C8E8"/>
                </a:solidFill>
                <a:latin typeface="Calibri" pitchFamily="34" charset="0"/>
                <a:ea typeface="Calibri" pitchFamily="34" charset="-122"/>
                <a:cs typeface="Calibri" pitchFamily="34" charset="-120"/>
              </a:rPr>
              <a:t>Selection probability is UNKNOWN - findings cannot be statistically generalised. Faster and cheaper but limited in inferential power.</a:t>
            </a:r>
            <a:endParaRPr lang="en-US" sz="1200" dirty="0"/>
          </a:p>
        </p:txBody>
      </p:sp>
      <p:sp>
        <p:nvSpPr>
          <p:cNvPr id="5" name="Shape 3"/>
          <p:cNvSpPr/>
          <p:nvPr/>
        </p:nvSpPr>
        <p:spPr>
          <a:xfrm>
            <a:off x="274320" y="1261872"/>
            <a:ext cx="4160520" cy="1810512"/>
          </a:xfrm>
          <a:prstGeom prst="roundRect">
            <a:avLst>
              <a:gd name="adj" fmla="val 4040"/>
            </a:avLst>
          </a:prstGeom>
          <a:solidFill>
            <a:srgbClr val="0D1F35"/>
          </a:solidFill>
          <a:ln w="12700">
            <a:solidFill>
              <a:srgbClr val="E67E22"/>
            </a:solidFill>
            <a:prstDash val="solid"/>
          </a:ln>
        </p:spPr>
      </p:sp>
      <p:sp>
        <p:nvSpPr>
          <p:cNvPr id="6" name="Shape 4"/>
          <p:cNvSpPr/>
          <p:nvPr/>
        </p:nvSpPr>
        <p:spPr>
          <a:xfrm>
            <a:off x="365760" y="1353312"/>
            <a:ext cx="3977640" cy="292608"/>
          </a:xfrm>
          <a:prstGeom prst="roundRect">
            <a:avLst>
              <a:gd name="adj" fmla="val 15625"/>
            </a:avLst>
          </a:prstGeom>
          <a:solidFill>
            <a:srgbClr val="E67E22"/>
          </a:solidFill>
          <a:ln w="12700">
            <a:solidFill>
              <a:srgbClr val="E67E22"/>
            </a:solidFill>
            <a:prstDash val="solid"/>
          </a:ln>
        </p:spPr>
      </p:sp>
      <p:sp>
        <p:nvSpPr>
          <p:cNvPr id="7" name="Text 5"/>
          <p:cNvSpPr/>
          <p:nvPr/>
        </p:nvSpPr>
        <p:spPr>
          <a:xfrm>
            <a:off x="365760" y="1353312"/>
            <a:ext cx="3977640" cy="292608"/>
          </a:xfrm>
          <a:prstGeom prst="rect">
            <a:avLst/>
          </a:prstGeom>
          <a:noFill/>
          <a:ln/>
        </p:spPr>
        <p:txBody>
          <a:bodyPr wrap="square" lIns="0" tIns="0" rIns="0" bIns="0" rtlCol="0" anchor="ctr"/>
          <a:lstStyle/>
          <a:p>
            <a:pPr algn="ctr" indent="0" marL="0">
              <a:buNone/>
            </a:pPr>
            <a:r>
              <a:rPr lang="en-US" sz="1100" b="1" dirty="0">
                <a:solidFill>
                  <a:srgbClr val="0F1E3C"/>
                </a:solidFill>
                <a:latin typeface="Calibri" pitchFamily="34" charset="0"/>
                <a:ea typeface="Calibri" pitchFamily="34" charset="-122"/>
                <a:cs typeface="Calibri" pitchFamily="34" charset="-120"/>
              </a:rPr>
              <a:t>Convenience Sampling</a:t>
            </a:r>
            <a:endParaRPr lang="en-US" sz="1100" dirty="0"/>
          </a:p>
        </p:txBody>
      </p:sp>
      <p:sp>
        <p:nvSpPr>
          <p:cNvPr id="8" name="Text 6"/>
          <p:cNvSpPr/>
          <p:nvPr/>
        </p:nvSpPr>
        <p:spPr>
          <a:xfrm>
            <a:off x="384048" y="1700784"/>
            <a:ext cx="3913632" cy="38404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Select whoever is most easily accessible.</a:t>
            </a:r>
            <a:endParaRPr lang="en-US" sz="950" dirty="0"/>
          </a:p>
        </p:txBody>
      </p:sp>
      <p:sp>
        <p:nvSpPr>
          <p:cNvPr id="9" name="Text 7"/>
          <p:cNvSpPr/>
          <p:nvPr/>
        </p:nvSpPr>
        <p:spPr>
          <a:xfrm>
            <a:off x="384048" y="2121408"/>
            <a:ext cx="3913632" cy="658368"/>
          </a:xfrm>
          <a:prstGeom prst="rect">
            <a:avLst/>
          </a:prstGeom>
          <a:noFill/>
          <a:ln/>
        </p:spPr>
        <p:txBody>
          <a:bodyPr wrap="square" lIns="0" tIns="0" rIns="0" bIns="0" rtlCol="0" anchor="ctr"/>
          <a:lstStyle/>
          <a:p>
            <a:pPr indent="0" marL="0">
              <a:buNone/>
            </a:pPr>
            <a:r>
              <a:rPr lang="en-US" sz="900" b="1" dirty="0">
                <a:solidFill>
                  <a:srgbClr val="E67E22"/>
                </a:solidFill>
                <a:latin typeface="Calibri" pitchFamily="34" charset="0"/>
                <a:ea typeface="Calibri" pitchFamily="34" charset="-122"/>
                <a:cs typeface="Calibri" pitchFamily="34" charset="-120"/>
              </a:rPr>
              <a:t>UAC Example: </a:t>
            </a:r>
            <a:pPr indent="0" marL="0">
              <a:buNone/>
            </a:pPr>
            <a:r>
              <a:rPr lang="en-US" sz="900" dirty="0">
                <a:solidFill>
                  <a:srgbClr val="A8C8E8"/>
                </a:solidFill>
                <a:latin typeface="Calibri" pitchFamily="34" charset="0"/>
                <a:ea typeface="Calibri" pitchFamily="34" charset="-122"/>
                <a:cs typeface="Calibri" pitchFamily="34" charset="-120"/>
              </a:rPr>
              <a:t>Survey UAC Foods consumers at the Ikeja office canteen because it is next to the research office.</a:t>
            </a:r>
            <a:endParaRPr lang="en-US" sz="900" dirty="0"/>
          </a:p>
        </p:txBody>
      </p:sp>
      <p:sp>
        <p:nvSpPr>
          <p:cNvPr id="10" name="Text 8"/>
          <p:cNvSpPr/>
          <p:nvPr/>
        </p:nvSpPr>
        <p:spPr>
          <a:xfrm>
            <a:off x="384048" y="2798064"/>
            <a:ext cx="3913632" cy="219456"/>
          </a:xfrm>
          <a:prstGeom prst="rect">
            <a:avLst/>
          </a:prstGeom>
          <a:noFill/>
          <a:ln/>
        </p:spPr>
        <p:txBody>
          <a:bodyPr wrap="square" lIns="0" tIns="0" rIns="0" bIns="0" rtlCol="0" anchor="ctr"/>
          <a:lstStyle/>
          <a:p>
            <a:pPr indent="0" marL="0">
              <a:buNone/>
            </a:pPr>
            <a:r>
              <a:rPr lang="en-US" sz="850" i="1" dirty="0">
                <a:solidFill>
                  <a:srgbClr val="C0392B"/>
                </a:solidFill>
                <a:latin typeface="Calibri" pitchFamily="34" charset="0"/>
                <a:ea typeface="Calibri" pitchFamily="34" charset="-122"/>
                <a:cs typeface="Calibri" pitchFamily="34" charset="-120"/>
              </a:rPr>
              <a:t>Risk: HIGH BIAS - may not represent target population</a:t>
            </a:r>
            <a:endParaRPr lang="en-US" sz="850" dirty="0"/>
          </a:p>
        </p:txBody>
      </p:sp>
      <p:sp>
        <p:nvSpPr>
          <p:cNvPr id="11" name="Shape 9"/>
          <p:cNvSpPr/>
          <p:nvPr/>
        </p:nvSpPr>
        <p:spPr>
          <a:xfrm>
            <a:off x="4709160" y="1261872"/>
            <a:ext cx="4160520" cy="1810512"/>
          </a:xfrm>
          <a:prstGeom prst="roundRect">
            <a:avLst>
              <a:gd name="adj" fmla="val 4040"/>
            </a:avLst>
          </a:prstGeom>
          <a:solidFill>
            <a:srgbClr val="0D1F35"/>
          </a:solidFill>
          <a:ln w="12700">
            <a:solidFill>
              <a:srgbClr val="2E86C1"/>
            </a:solidFill>
            <a:prstDash val="solid"/>
          </a:ln>
        </p:spPr>
      </p:sp>
      <p:sp>
        <p:nvSpPr>
          <p:cNvPr id="12" name="Shape 10"/>
          <p:cNvSpPr/>
          <p:nvPr/>
        </p:nvSpPr>
        <p:spPr>
          <a:xfrm>
            <a:off x="4800600" y="1353312"/>
            <a:ext cx="3977640" cy="292608"/>
          </a:xfrm>
          <a:prstGeom prst="roundRect">
            <a:avLst>
              <a:gd name="adj" fmla="val 15625"/>
            </a:avLst>
          </a:prstGeom>
          <a:solidFill>
            <a:srgbClr val="2E86C1"/>
          </a:solidFill>
          <a:ln w="12700">
            <a:solidFill>
              <a:srgbClr val="2E86C1"/>
            </a:solidFill>
            <a:prstDash val="solid"/>
          </a:ln>
        </p:spPr>
      </p:sp>
      <p:sp>
        <p:nvSpPr>
          <p:cNvPr id="13" name="Text 11"/>
          <p:cNvSpPr/>
          <p:nvPr/>
        </p:nvSpPr>
        <p:spPr>
          <a:xfrm>
            <a:off x="4800600" y="1353312"/>
            <a:ext cx="3977640" cy="292608"/>
          </a:xfrm>
          <a:prstGeom prst="rect">
            <a:avLst/>
          </a:prstGeom>
          <a:noFill/>
          <a:ln/>
        </p:spPr>
        <p:txBody>
          <a:bodyPr wrap="square" lIns="0" tIns="0" rIns="0" bIns="0" rtlCol="0" anchor="ctr"/>
          <a:lstStyle/>
          <a:p>
            <a:pPr algn="ctr" indent="0" marL="0">
              <a:buNone/>
            </a:pPr>
            <a:r>
              <a:rPr lang="en-US" sz="1100" b="1" dirty="0">
                <a:solidFill>
                  <a:srgbClr val="0F1E3C"/>
                </a:solidFill>
                <a:latin typeface="Calibri" pitchFamily="34" charset="0"/>
                <a:ea typeface="Calibri" pitchFamily="34" charset="-122"/>
                <a:cs typeface="Calibri" pitchFamily="34" charset="-120"/>
              </a:rPr>
              <a:t>Purposive Sampling</a:t>
            </a:r>
            <a:endParaRPr lang="en-US" sz="1100" dirty="0"/>
          </a:p>
        </p:txBody>
      </p:sp>
      <p:sp>
        <p:nvSpPr>
          <p:cNvPr id="14" name="Text 12"/>
          <p:cNvSpPr/>
          <p:nvPr/>
        </p:nvSpPr>
        <p:spPr>
          <a:xfrm>
            <a:off x="4818888" y="1700784"/>
            <a:ext cx="3913632" cy="38404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Deliberately select participants based on specific criteria relevant to the research.</a:t>
            </a:r>
            <a:endParaRPr lang="en-US" sz="950" dirty="0"/>
          </a:p>
        </p:txBody>
      </p:sp>
      <p:sp>
        <p:nvSpPr>
          <p:cNvPr id="15" name="Text 13"/>
          <p:cNvSpPr/>
          <p:nvPr/>
        </p:nvSpPr>
        <p:spPr>
          <a:xfrm>
            <a:off x="4818888" y="2121408"/>
            <a:ext cx="3913632" cy="658368"/>
          </a:xfrm>
          <a:prstGeom prst="rect">
            <a:avLst/>
          </a:prstGeom>
          <a:noFill/>
          <a:ln/>
        </p:spPr>
        <p:txBody>
          <a:bodyPr wrap="square" lIns="0" tIns="0" rIns="0" bIns="0" rtlCol="0" anchor="ctr"/>
          <a:lstStyle/>
          <a:p>
            <a:pPr indent="0" marL="0">
              <a:buNone/>
            </a:pPr>
            <a:r>
              <a:rPr lang="en-US" sz="900" b="1" dirty="0">
                <a:solidFill>
                  <a:srgbClr val="2E86C1"/>
                </a:solidFill>
                <a:latin typeface="Calibri" pitchFamily="34" charset="0"/>
                <a:ea typeface="Calibri" pitchFamily="34" charset="-122"/>
                <a:cs typeface="Calibri" pitchFamily="34" charset="-120"/>
              </a:rPr>
              <a:t>UAC Example: </a:t>
            </a:r>
            <a:pPr indent="0" marL="0">
              <a:buNone/>
            </a:pPr>
            <a:r>
              <a:rPr lang="en-US" sz="900" dirty="0">
                <a:solidFill>
                  <a:srgbClr val="A8C8E8"/>
                </a:solidFill>
                <a:latin typeface="Calibri" pitchFamily="34" charset="0"/>
                <a:ea typeface="Calibri" pitchFamily="34" charset="-122"/>
                <a:cs typeface="Calibri" pitchFamily="34" charset="-120"/>
              </a:rPr>
              <a:t>Select only UAC Foods distributors who have been active for 5+ years and distribute across multiple states.</a:t>
            </a:r>
            <a:endParaRPr lang="en-US" sz="900" dirty="0"/>
          </a:p>
        </p:txBody>
      </p:sp>
      <p:sp>
        <p:nvSpPr>
          <p:cNvPr id="16" name="Text 14"/>
          <p:cNvSpPr/>
          <p:nvPr/>
        </p:nvSpPr>
        <p:spPr>
          <a:xfrm>
            <a:off x="4818888" y="2798064"/>
            <a:ext cx="3913632" cy="219456"/>
          </a:xfrm>
          <a:prstGeom prst="rect">
            <a:avLst/>
          </a:prstGeom>
          <a:noFill/>
          <a:ln/>
        </p:spPr>
        <p:txBody>
          <a:bodyPr wrap="square" lIns="0" tIns="0" rIns="0" bIns="0" rtlCol="0" anchor="ctr"/>
          <a:lstStyle/>
          <a:p>
            <a:pPr indent="0" marL="0">
              <a:buNone/>
            </a:pPr>
            <a:r>
              <a:rPr lang="en-US" sz="850" i="1" dirty="0">
                <a:solidFill>
                  <a:srgbClr val="C0392B"/>
                </a:solidFill>
                <a:latin typeface="Calibri" pitchFamily="34" charset="0"/>
                <a:ea typeface="Calibri" pitchFamily="34" charset="-122"/>
                <a:cs typeface="Calibri" pitchFamily="34" charset="-120"/>
              </a:rPr>
              <a:t>Risk: Selection bias from researcher judgment</a:t>
            </a:r>
            <a:endParaRPr lang="en-US" sz="850" dirty="0"/>
          </a:p>
        </p:txBody>
      </p:sp>
      <p:sp>
        <p:nvSpPr>
          <p:cNvPr id="17" name="Shape 15"/>
          <p:cNvSpPr/>
          <p:nvPr/>
        </p:nvSpPr>
        <p:spPr>
          <a:xfrm>
            <a:off x="274320" y="3182112"/>
            <a:ext cx="4160520" cy="1810512"/>
          </a:xfrm>
          <a:prstGeom prst="roundRect">
            <a:avLst>
              <a:gd name="adj" fmla="val 4040"/>
            </a:avLst>
          </a:prstGeom>
          <a:solidFill>
            <a:srgbClr val="0D1F35"/>
          </a:solidFill>
          <a:ln w="12700">
            <a:solidFill>
              <a:srgbClr val="D4A017"/>
            </a:solidFill>
            <a:prstDash val="solid"/>
          </a:ln>
        </p:spPr>
      </p:sp>
      <p:sp>
        <p:nvSpPr>
          <p:cNvPr id="18" name="Shape 16"/>
          <p:cNvSpPr/>
          <p:nvPr/>
        </p:nvSpPr>
        <p:spPr>
          <a:xfrm>
            <a:off x="365760" y="3273552"/>
            <a:ext cx="3977640" cy="292608"/>
          </a:xfrm>
          <a:prstGeom prst="roundRect">
            <a:avLst>
              <a:gd name="adj" fmla="val 15625"/>
            </a:avLst>
          </a:prstGeom>
          <a:solidFill>
            <a:srgbClr val="D4A017"/>
          </a:solidFill>
          <a:ln w="12700">
            <a:solidFill>
              <a:srgbClr val="D4A017"/>
            </a:solidFill>
            <a:prstDash val="solid"/>
          </a:ln>
        </p:spPr>
      </p:sp>
      <p:sp>
        <p:nvSpPr>
          <p:cNvPr id="19" name="Text 17"/>
          <p:cNvSpPr/>
          <p:nvPr/>
        </p:nvSpPr>
        <p:spPr>
          <a:xfrm>
            <a:off x="365760" y="3273552"/>
            <a:ext cx="3977640" cy="292608"/>
          </a:xfrm>
          <a:prstGeom prst="rect">
            <a:avLst/>
          </a:prstGeom>
          <a:noFill/>
          <a:ln/>
        </p:spPr>
        <p:txBody>
          <a:bodyPr wrap="square" lIns="0" tIns="0" rIns="0" bIns="0" rtlCol="0" anchor="ctr"/>
          <a:lstStyle/>
          <a:p>
            <a:pPr algn="ctr" indent="0" marL="0">
              <a:buNone/>
            </a:pPr>
            <a:r>
              <a:rPr lang="en-US" sz="1100" b="1" dirty="0">
                <a:solidFill>
                  <a:srgbClr val="0F1E3C"/>
                </a:solidFill>
                <a:latin typeface="Calibri" pitchFamily="34" charset="0"/>
                <a:ea typeface="Calibri" pitchFamily="34" charset="-122"/>
                <a:cs typeface="Calibri" pitchFamily="34" charset="-120"/>
              </a:rPr>
              <a:t>Snowball Sampling</a:t>
            </a:r>
            <a:endParaRPr lang="en-US" sz="1100" dirty="0"/>
          </a:p>
        </p:txBody>
      </p:sp>
      <p:sp>
        <p:nvSpPr>
          <p:cNvPr id="20" name="Text 18"/>
          <p:cNvSpPr/>
          <p:nvPr/>
        </p:nvSpPr>
        <p:spPr>
          <a:xfrm>
            <a:off x="384048" y="3621024"/>
            <a:ext cx="3913632" cy="38404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Existing participants recruit future participants. Grows like rolling a snowball.</a:t>
            </a:r>
            <a:endParaRPr lang="en-US" sz="950" dirty="0"/>
          </a:p>
        </p:txBody>
      </p:sp>
      <p:sp>
        <p:nvSpPr>
          <p:cNvPr id="21" name="Text 19"/>
          <p:cNvSpPr/>
          <p:nvPr/>
        </p:nvSpPr>
        <p:spPr>
          <a:xfrm>
            <a:off x="384048" y="4041648"/>
            <a:ext cx="3913632" cy="658368"/>
          </a:xfrm>
          <a:prstGeom prst="rect">
            <a:avLst/>
          </a:prstGeom>
          <a:noFill/>
          <a:ln/>
        </p:spPr>
        <p:txBody>
          <a:bodyPr wrap="square" lIns="0" tIns="0" rIns="0" bIns="0" rtlCol="0" anchor="ctr"/>
          <a:lstStyle/>
          <a:p>
            <a:pPr indent="0" marL="0">
              <a:buNone/>
            </a:pPr>
            <a:r>
              <a:rPr lang="en-US" sz="900" b="1" dirty="0">
                <a:solidFill>
                  <a:srgbClr val="D4A017"/>
                </a:solidFill>
                <a:latin typeface="Calibri" pitchFamily="34" charset="0"/>
                <a:ea typeface="Calibri" pitchFamily="34" charset="-122"/>
                <a:cs typeface="Calibri" pitchFamily="34" charset="-120"/>
              </a:rPr>
              <a:t>UAC Example: </a:t>
            </a:r>
            <a:pPr indent="0" marL="0">
              <a:buNone/>
            </a:pPr>
            <a:r>
              <a:rPr lang="en-US" sz="900" dirty="0">
                <a:solidFill>
                  <a:srgbClr val="A8C8E8"/>
                </a:solidFill>
                <a:latin typeface="Calibri" pitchFamily="34" charset="0"/>
                <a:ea typeface="Calibri" pitchFamily="34" charset="-122"/>
                <a:cs typeface="Calibri" pitchFamily="34" charset="-120"/>
              </a:rPr>
              <a:t>UAC Foods informal sector resellers are hard to find - ask 5 known ones to refer 3 colleagues each.</a:t>
            </a:r>
            <a:endParaRPr lang="en-US" sz="900" dirty="0"/>
          </a:p>
        </p:txBody>
      </p:sp>
      <p:sp>
        <p:nvSpPr>
          <p:cNvPr id="22" name="Text 20"/>
          <p:cNvSpPr/>
          <p:nvPr/>
        </p:nvSpPr>
        <p:spPr>
          <a:xfrm>
            <a:off x="384048" y="4718304"/>
            <a:ext cx="3913632" cy="219456"/>
          </a:xfrm>
          <a:prstGeom prst="rect">
            <a:avLst/>
          </a:prstGeom>
          <a:noFill/>
          <a:ln/>
        </p:spPr>
        <p:txBody>
          <a:bodyPr wrap="square" lIns="0" tIns="0" rIns="0" bIns="0" rtlCol="0" anchor="ctr"/>
          <a:lstStyle/>
          <a:p>
            <a:pPr indent="0" marL="0">
              <a:buNone/>
            </a:pPr>
            <a:r>
              <a:rPr lang="en-US" sz="850" i="1" dirty="0">
                <a:solidFill>
                  <a:srgbClr val="C0392B"/>
                </a:solidFill>
                <a:latin typeface="Calibri" pitchFamily="34" charset="0"/>
                <a:ea typeface="Calibri" pitchFamily="34" charset="-122"/>
                <a:cs typeface="Calibri" pitchFamily="34" charset="-120"/>
              </a:rPr>
              <a:t>Risk: Over-represents socially connected individuals</a:t>
            </a:r>
            <a:endParaRPr lang="en-US" sz="850" dirty="0"/>
          </a:p>
        </p:txBody>
      </p:sp>
      <p:sp>
        <p:nvSpPr>
          <p:cNvPr id="23" name="Shape 21"/>
          <p:cNvSpPr/>
          <p:nvPr/>
        </p:nvSpPr>
        <p:spPr>
          <a:xfrm>
            <a:off x="4709160" y="3182112"/>
            <a:ext cx="4160520" cy="1810512"/>
          </a:xfrm>
          <a:prstGeom prst="roundRect">
            <a:avLst>
              <a:gd name="adj" fmla="val 4040"/>
            </a:avLst>
          </a:prstGeom>
          <a:solidFill>
            <a:srgbClr val="0D1F35"/>
          </a:solidFill>
          <a:ln w="12700">
            <a:solidFill>
              <a:srgbClr val="1A7A4A"/>
            </a:solidFill>
            <a:prstDash val="solid"/>
          </a:ln>
        </p:spPr>
      </p:sp>
      <p:sp>
        <p:nvSpPr>
          <p:cNvPr id="24" name="Shape 22"/>
          <p:cNvSpPr/>
          <p:nvPr/>
        </p:nvSpPr>
        <p:spPr>
          <a:xfrm>
            <a:off x="4800600" y="3273552"/>
            <a:ext cx="3977640" cy="292608"/>
          </a:xfrm>
          <a:prstGeom prst="roundRect">
            <a:avLst>
              <a:gd name="adj" fmla="val 15625"/>
            </a:avLst>
          </a:prstGeom>
          <a:solidFill>
            <a:srgbClr val="1A7A4A"/>
          </a:solidFill>
          <a:ln w="12700">
            <a:solidFill>
              <a:srgbClr val="1A7A4A"/>
            </a:solidFill>
            <a:prstDash val="solid"/>
          </a:ln>
        </p:spPr>
      </p:sp>
      <p:sp>
        <p:nvSpPr>
          <p:cNvPr id="25" name="Text 23"/>
          <p:cNvSpPr/>
          <p:nvPr/>
        </p:nvSpPr>
        <p:spPr>
          <a:xfrm>
            <a:off x="4800600" y="3273552"/>
            <a:ext cx="3977640" cy="292608"/>
          </a:xfrm>
          <a:prstGeom prst="rect">
            <a:avLst/>
          </a:prstGeom>
          <a:noFill/>
          <a:ln/>
        </p:spPr>
        <p:txBody>
          <a:bodyPr wrap="square" lIns="0" tIns="0" rIns="0" bIns="0" rtlCol="0" anchor="ctr"/>
          <a:lstStyle/>
          <a:p>
            <a:pPr algn="ctr" indent="0" marL="0">
              <a:buNone/>
            </a:pPr>
            <a:r>
              <a:rPr lang="en-US" sz="1100" b="1" dirty="0">
                <a:solidFill>
                  <a:srgbClr val="0F1E3C"/>
                </a:solidFill>
                <a:latin typeface="Calibri" pitchFamily="34" charset="0"/>
                <a:ea typeface="Calibri" pitchFamily="34" charset="-122"/>
                <a:cs typeface="Calibri" pitchFamily="34" charset="-120"/>
              </a:rPr>
              <a:t>Quota Sampling</a:t>
            </a:r>
            <a:endParaRPr lang="en-US" sz="1100" dirty="0"/>
          </a:p>
        </p:txBody>
      </p:sp>
      <p:sp>
        <p:nvSpPr>
          <p:cNvPr id="26" name="Text 24"/>
          <p:cNvSpPr/>
          <p:nvPr/>
        </p:nvSpPr>
        <p:spPr>
          <a:xfrm>
            <a:off x="4818888" y="3621024"/>
            <a:ext cx="3913632" cy="384048"/>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Non-random version of stratified sampling. Researcher ensures specific quotas from each subgroup but selection within each group is not random.</a:t>
            </a:r>
            <a:endParaRPr lang="en-US" sz="950" dirty="0"/>
          </a:p>
        </p:txBody>
      </p:sp>
      <p:sp>
        <p:nvSpPr>
          <p:cNvPr id="27" name="Text 25"/>
          <p:cNvSpPr/>
          <p:nvPr/>
        </p:nvSpPr>
        <p:spPr>
          <a:xfrm>
            <a:off x="4818888" y="4041648"/>
            <a:ext cx="3913632" cy="658368"/>
          </a:xfrm>
          <a:prstGeom prst="rect">
            <a:avLst/>
          </a:prstGeom>
          <a:noFill/>
          <a:ln/>
        </p:spPr>
        <p:txBody>
          <a:bodyPr wrap="square" lIns="0" tIns="0" rIns="0" bIns="0" rtlCol="0" anchor="ctr"/>
          <a:lstStyle/>
          <a:p>
            <a:pPr indent="0" marL="0">
              <a:buNone/>
            </a:pPr>
            <a:r>
              <a:rPr lang="en-US" sz="900" b="1" dirty="0">
                <a:solidFill>
                  <a:srgbClr val="1A7A4A"/>
                </a:solidFill>
                <a:latin typeface="Calibri" pitchFamily="34" charset="0"/>
                <a:ea typeface="Calibri" pitchFamily="34" charset="-122"/>
                <a:cs typeface="Calibri" pitchFamily="34" charset="-120"/>
              </a:rPr>
              <a:t>UAC Example: </a:t>
            </a:r>
            <a:pPr indent="0" marL="0">
              <a:buNone/>
            </a:pPr>
            <a:r>
              <a:rPr lang="en-US" sz="900" dirty="0">
                <a:solidFill>
                  <a:srgbClr val="A8C8E8"/>
                </a:solidFill>
                <a:latin typeface="Calibri" pitchFamily="34" charset="0"/>
                <a:ea typeface="Calibri" pitchFamily="34" charset="-122"/>
                <a:cs typeface="Calibri" pitchFamily="34" charset="-120"/>
              </a:rPr>
              <a:t>Collect 200 male and 200 female UAC Foods consumers, but interviewers choose who to approach.</a:t>
            </a:r>
            <a:endParaRPr lang="en-US" sz="900" dirty="0"/>
          </a:p>
        </p:txBody>
      </p:sp>
      <p:sp>
        <p:nvSpPr>
          <p:cNvPr id="28" name="Text 26"/>
          <p:cNvSpPr/>
          <p:nvPr/>
        </p:nvSpPr>
        <p:spPr>
          <a:xfrm>
            <a:off x="4818888" y="4718304"/>
            <a:ext cx="3913632" cy="219456"/>
          </a:xfrm>
          <a:prstGeom prst="rect">
            <a:avLst/>
          </a:prstGeom>
          <a:noFill/>
          <a:ln/>
        </p:spPr>
        <p:txBody>
          <a:bodyPr wrap="square" lIns="0" tIns="0" rIns="0" bIns="0" rtlCol="0" anchor="ctr"/>
          <a:lstStyle/>
          <a:p>
            <a:pPr indent="0" marL="0">
              <a:buNone/>
            </a:pPr>
            <a:r>
              <a:rPr lang="en-US" sz="850" i="1" dirty="0">
                <a:solidFill>
                  <a:srgbClr val="C0392B"/>
                </a:solidFill>
                <a:latin typeface="Calibri" pitchFamily="34" charset="0"/>
                <a:ea typeface="Calibri" pitchFamily="34" charset="-122"/>
                <a:cs typeface="Calibri" pitchFamily="34" charset="-120"/>
              </a:rPr>
              <a:t>Risk: Non-random selection within quotas introduces bias</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562"/>
          </a:solidFill>
          <a:ln w="12700">
            <a:solidFill>
              <a:srgbClr val="1A3562"/>
            </a:solidFill>
            <a:prstDash val="solid"/>
          </a:ln>
        </p:spPr>
      </p:sp>
      <p:sp>
        <p:nvSpPr>
          <p:cNvPr id="3" name="Text 1"/>
          <p:cNvSpPr/>
          <p:nvPr/>
        </p:nvSpPr>
        <p:spPr>
          <a:xfrm>
            <a:off x="457200" y="109728"/>
            <a:ext cx="8229600" cy="713232"/>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Sample Size Determination</a:t>
            </a:r>
            <a:endParaRPr lang="en-US" sz="2600" dirty="0"/>
          </a:p>
        </p:txBody>
      </p:sp>
      <p:sp>
        <p:nvSpPr>
          <p:cNvPr id="4" name="Shape 2"/>
          <p:cNvSpPr/>
          <p:nvPr/>
        </p:nvSpPr>
        <p:spPr>
          <a:xfrm>
            <a:off x="274320" y="1051560"/>
            <a:ext cx="4160520" cy="2633472"/>
          </a:xfrm>
          <a:prstGeom prst="roundRect">
            <a:avLst>
              <a:gd name="adj" fmla="val 3125"/>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47472" y="1115568"/>
            <a:ext cx="4005072" cy="292608"/>
          </a:xfrm>
          <a:prstGeom prst="roundRect">
            <a:avLst>
              <a:gd name="adj" fmla="val 15625"/>
            </a:avLst>
          </a:prstGeom>
          <a:solidFill>
            <a:srgbClr val="1A3562"/>
          </a:solidFill>
          <a:ln w="12700">
            <a:solidFill>
              <a:srgbClr val="1A3562"/>
            </a:solidFill>
            <a:prstDash val="solid"/>
          </a:ln>
        </p:spPr>
      </p:sp>
      <p:sp>
        <p:nvSpPr>
          <p:cNvPr id="6" name="Text 4"/>
          <p:cNvSpPr/>
          <p:nvPr/>
        </p:nvSpPr>
        <p:spPr>
          <a:xfrm>
            <a:off x="347472" y="1115568"/>
            <a:ext cx="4005072" cy="292608"/>
          </a:xfrm>
          <a:prstGeom prst="rect">
            <a:avLst/>
          </a:prstGeom>
          <a:noFill/>
          <a:ln/>
        </p:spPr>
        <p:txBody>
          <a:bodyPr wrap="square" lIns="0" tIns="0" rIns="0" bIns="0" rtlCol="0" anchor="ctr"/>
          <a:lstStyle/>
          <a:p>
            <a:pPr algn="ctr" indent="0" marL="0">
              <a:buNone/>
            </a:pPr>
            <a:r>
              <a:rPr lang="en-US" sz="1100" b="1" dirty="0">
                <a:solidFill>
                  <a:srgbClr val="D4A017"/>
                </a:solidFill>
                <a:latin typeface="Calibri" pitchFamily="34" charset="0"/>
                <a:ea typeface="Calibri" pitchFamily="34" charset="-122"/>
                <a:cs typeface="Calibri" pitchFamily="34" charset="-120"/>
              </a:rPr>
              <a:t>Yamane Formula (Finite Populations)</a:t>
            </a:r>
            <a:endParaRPr lang="en-US" sz="1100" dirty="0"/>
          </a:p>
        </p:txBody>
      </p:sp>
      <p:sp>
        <p:nvSpPr>
          <p:cNvPr id="7" name="Text 5"/>
          <p:cNvSpPr/>
          <p:nvPr/>
        </p:nvSpPr>
        <p:spPr>
          <a:xfrm>
            <a:off x="411480" y="1481328"/>
            <a:ext cx="3913632" cy="438912"/>
          </a:xfrm>
          <a:prstGeom prst="rect">
            <a:avLst/>
          </a:prstGeom>
          <a:noFill/>
          <a:ln/>
        </p:spPr>
        <p:txBody>
          <a:bodyPr wrap="square" lIns="0" tIns="0" rIns="0" bIns="0" rtlCol="0" anchor="ctr"/>
          <a:lstStyle/>
          <a:p>
            <a:pPr algn="ctr" indent="0" marL="0">
              <a:buNone/>
            </a:pPr>
            <a:r>
              <a:rPr lang="en-US" sz="2200" b="1" dirty="0">
                <a:solidFill>
                  <a:srgbClr val="0F1E3C"/>
                </a:solidFill>
                <a:latin typeface="Courier New" pitchFamily="34" charset="0"/>
                <a:ea typeface="Courier New" pitchFamily="34" charset="-122"/>
                <a:cs typeface="Courier New" pitchFamily="34" charset="-120"/>
              </a:rPr>
              <a:t>n = N / (1 + N x e²)</a:t>
            </a:r>
            <a:endParaRPr lang="en-US" sz="2200" dirty="0"/>
          </a:p>
        </p:txBody>
      </p:sp>
      <p:sp>
        <p:nvSpPr>
          <p:cNvPr id="8" name="Text 6"/>
          <p:cNvSpPr/>
          <p:nvPr/>
        </p:nvSpPr>
        <p:spPr>
          <a:xfrm>
            <a:off x="384048" y="1993392"/>
            <a:ext cx="3913632" cy="621792"/>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Where:   n = sample size required</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N = total population size</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e = margin of error (usually 0.05 for 95% confidence)</a:t>
            </a:r>
            <a:endParaRPr lang="en-US" sz="1000" dirty="0"/>
          </a:p>
        </p:txBody>
      </p:sp>
      <p:sp>
        <p:nvSpPr>
          <p:cNvPr id="9" name="Shape 7"/>
          <p:cNvSpPr/>
          <p:nvPr/>
        </p:nvSpPr>
        <p:spPr>
          <a:xfrm>
            <a:off x="384048" y="2670048"/>
            <a:ext cx="3913632" cy="896112"/>
          </a:xfrm>
          <a:prstGeom prst="roundRect">
            <a:avLst>
              <a:gd name="adj" fmla="val 6122"/>
            </a:avLst>
          </a:prstGeom>
          <a:solidFill>
            <a:srgbClr val="EBF5FB"/>
          </a:solidFill>
          <a:ln w="10160">
            <a:solidFill>
              <a:srgbClr val="2E86C1"/>
            </a:solidFill>
            <a:prstDash val="solid"/>
          </a:ln>
        </p:spPr>
      </p:sp>
      <p:sp>
        <p:nvSpPr>
          <p:cNvPr id="10" name="Text 8"/>
          <p:cNvSpPr/>
          <p:nvPr/>
        </p:nvSpPr>
        <p:spPr>
          <a:xfrm>
            <a:off x="457200" y="2715768"/>
            <a:ext cx="3767328" cy="786384"/>
          </a:xfrm>
          <a:prstGeom prst="rect">
            <a:avLst/>
          </a:prstGeom>
          <a:noFill/>
          <a:ln/>
        </p:spPr>
        <p:txBody>
          <a:bodyPr wrap="square" lIns="0" tIns="0" rIns="0" bIns="0" rtlCol="0" anchor="ctr"/>
          <a:lstStyle/>
          <a:p>
            <a:pPr indent="0" marL="0">
              <a:buNone/>
            </a:pPr>
            <a:r>
              <a:rPr lang="en-US" sz="950" b="1" dirty="0">
                <a:solidFill>
                  <a:srgbClr val="0F1E3C"/>
                </a:solidFill>
                <a:latin typeface="Calibri" pitchFamily="34" charset="0"/>
                <a:ea typeface="Calibri" pitchFamily="34" charset="-122"/>
                <a:cs typeface="Calibri" pitchFamily="34" charset="-120"/>
              </a:rPr>
              <a:t>UAC Foods Example: </a:t>
            </a:r>
            <a:pPr indent="0" marL="0">
              <a:buNone/>
            </a:pPr>
            <a:r>
              <a:rPr lang="en-US" sz="950" dirty="0">
                <a:solidFill>
                  <a:srgbClr val="2C3E50"/>
                </a:solidFill>
                <a:latin typeface="Calibri" pitchFamily="34" charset="0"/>
                <a:ea typeface="Calibri" pitchFamily="34" charset="-122"/>
                <a:cs typeface="Calibri" pitchFamily="34" charset="-120"/>
              </a:rPr>
              <a:t>N = 45,000 loyalty customers, e = 0.05</a:t>
            </a:r>
            <a:endParaRPr lang="en-US" sz="950" dirty="0"/>
          </a:p>
          <a:p>
            <a:pPr indent="0" marL="0">
              <a:buNone/>
            </a:pPr>
            <a:r>
              <a:rPr lang="en-US" sz="950" dirty="0">
                <a:solidFill>
                  <a:srgbClr val="2C3E50"/>
                </a:solidFill>
                <a:latin typeface="Calibri" pitchFamily="34" charset="0"/>
                <a:ea typeface="Calibri" pitchFamily="34" charset="-122"/>
                <a:cs typeface="Calibri" pitchFamily="34" charset="-120"/>
              </a:rPr>
              <a:t>n = 45,000 / (1 + 45,000 x 0.0025)</a:t>
            </a:r>
            <a:endParaRPr lang="en-US" sz="950" dirty="0"/>
          </a:p>
          <a:p>
            <a:pPr indent="0" marL="0">
              <a:buNone/>
            </a:pPr>
            <a:r>
              <a:rPr lang="en-US" sz="950" dirty="0">
                <a:solidFill>
                  <a:srgbClr val="2C3E50"/>
                </a:solidFill>
                <a:latin typeface="Calibri" pitchFamily="34" charset="0"/>
                <a:ea typeface="Calibri" pitchFamily="34" charset="-122"/>
                <a:cs typeface="Calibri" pitchFamily="34" charset="-120"/>
              </a:rPr>
              <a:t>n = 45,000 / (1 + 112.5)  =  45,000 / 113.5  =  </a:t>
            </a:r>
            <a:endParaRPr lang="en-US" sz="950" dirty="0"/>
          </a:p>
          <a:p>
            <a:pPr indent="0" marL="0">
              <a:buNone/>
            </a:pPr>
            <a:r>
              <a:rPr lang="en-US" sz="950" b="1" dirty="0">
                <a:solidFill>
                  <a:srgbClr val="1A7A4A"/>
                </a:solidFill>
                <a:latin typeface="Calibri" pitchFamily="34" charset="0"/>
                <a:ea typeface="Calibri" pitchFamily="34" charset="-122"/>
                <a:cs typeface="Calibri" pitchFamily="34" charset="-120"/>
              </a:rPr>
              <a:t>397 customers</a:t>
            </a:r>
            <a:endParaRPr lang="en-US" sz="950" dirty="0"/>
          </a:p>
        </p:txBody>
      </p:sp>
      <p:sp>
        <p:nvSpPr>
          <p:cNvPr id="11" name="Shape 9"/>
          <p:cNvSpPr/>
          <p:nvPr/>
        </p:nvSpPr>
        <p:spPr>
          <a:xfrm>
            <a:off x="4663440" y="1051560"/>
            <a:ext cx="4160520" cy="2633472"/>
          </a:xfrm>
          <a:prstGeom prst="roundRect">
            <a:avLst>
              <a:gd name="adj" fmla="val 3125"/>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2" name="Shape 10"/>
          <p:cNvSpPr/>
          <p:nvPr/>
        </p:nvSpPr>
        <p:spPr>
          <a:xfrm>
            <a:off x="4736592" y="1115568"/>
            <a:ext cx="4005072" cy="292608"/>
          </a:xfrm>
          <a:prstGeom prst="roundRect">
            <a:avLst>
              <a:gd name="adj" fmla="val 15625"/>
            </a:avLst>
          </a:prstGeom>
          <a:solidFill>
            <a:srgbClr val="0F1E3C"/>
          </a:solidFill>
          <a:ln w="12700">
            <a:solidFill>
              <a:srgbClr val="0F1E3C"/>
            </a:solidFill>
            <a:prstDash val="solid"/>
          </a:ln>
        </p:spPr>
      </p:sp>
      <p:sp>
        <p:nvSpPr>
          <p:cNvPr id="13" name="Text 11"/>
          <p:cNvSpPr/>
          <p:nvPr/>
        </p:nvSpPr>
        <p:spPr>
          <a:xfrm>
            <a:off x="4736592" y="1115568"/>
            <a:ext cx="4005072" cy="292608"/>
          </a:xfrm>
          <a:prstGeom prst="rect">
            <a:avLst/>
          </a:prstGeom>
          <a:noFill/>
          <a:ln/>
        </p:spPr>
        <p:txBody>
          <a:bodyPr wrap="square" lIns="0" tIns="0" rIns="0" bIns="0" rtlCol="0" anchor="ctr"/>
          <a:lstStyle/>
          <a:p>
            <a:pPr algn="ctr" indent="0" marL="0">
              <a:buNone/>
            </a:pPr>
            <a:r>
              <a:rPr lang="en-US" sz="1100" b="1" dirty="0">
                <a:solidFill>
                  <a:srgbClr val="D4A017"/>
                </a:solidFill>
                <a:latin typeface="Calibri" pitchFamily="34" charset="0"/>
                <a:ea typeface="Calibri" pitchFamily="34" charset="-122"/>
                <a:cs typeface="Calibri" pitchFamily="34" charset="-120"/>
              </a:rPr>
              <a:t>Cochran Formula (Infinite / Large Populations)</a:t>
            </a:r>
            <a:endParaRPr lang="en-US" sz="1100" dirty="0"/>
          </a:p>
        </p:txBody>
      </p:sp>
      <p:sp>
        <p:nvSpPr>
          <p:cNvPr id="14" name="Text 12"/>
          <p:cNvSpPr/>
          <p:nvPr/>
        </p:nvSpPr>
        <p:spPr>
          <a:xfrm>
            <a:off x="4709160" y="1481328"/>
            <a:ext cx="4023360" cy="438912"/>
          </a:xfrm>
          <a:prstGeom prst="rect">
            <a:avLst/>
          </a:prstGeom>
          <a:noFill/>
          <a:ln/>
        </p:spPr>
        <p:txBody>
          <a:bodyPr wrap="square" lIns="0" tIns="0" rIns="0" bIns="0" rtlCol="0" anchor="ctr"/>
          <a:lstStyle/>
          <a:p>
            <a:pPr algn="ctr" indent="0" marL="0">
              <a:buNone/>
            </a:pPr>
            <a:r>
              <a:rPr lang="en-US" sz="2200" b="1" dirty="0">
                <a:solidFill>
                  <a:srgbClr val="0F1E3C"/>
                </a:solidFill>
                <a:latin typeface="Courier New" pitchFamily="34" charset="0"/>
                <a:ea typeface="Courier New" pitchFamily="34" charset="-122"/>
                <a:cs typeface="Courier New" pitchFamily="34" charset="-120"/>
              </a:rPr>
              <a:t>n = (Z² x p x q) / e²</a:t>
            </a:r>
            <a:endParaRPr lang="en-US" sz="2200" dirty="0"/>
          </a:p>
        </p:txBody>
      </p:sp>
      <p:sp>
        <p:nvSpPr>
          <p:cNvPr id="15" name="Text 13"/>
          <p:cNvSpPr/>
          <p:nvPr/>
        </p:nvSpPr>
        <p:spPr>
          <a:xfrm>
            <a:off x="4736592" y="1993392"/>
            <a:ext cx="4005072" cy="621792"/>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Where:   Z = z-score (1.96 for 95% confidence)</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p = est. proportion with characteristic (0.5 if unknown)</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q = 1 - p = 0.5</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e = margin of error (0.05)</a:t>
            </a:r>
            <a:endParaRPr lang="en-US" sz="1000" dirty="0"/>
          </a:p>
        </p:txBody>
      </p:sp>
      <p:sp>
        <p:nvSpPr>
          <p:cNvPr id="16" name="Shape 14"/>
          <p:cNvSpPr/>
          <p:nvPr/>
        </p:nvSpPr>
        <p:spPr>
          <a:xfrm>
            <a:off x="4736592" y="2670048"/>
            <a:ext cx="4005072" cy="896112"/>
          </a:xfrm>
          <a:prstGeom prst="roundRect">
            <a:avLst>
              <a:gd name="adj" fmla="val 6122"/>
            </a:avLst>
          </a:prstGeom>
          <a:solidFill>
            <a:srgbClr val="EAF9F0"/>
          </a:solidFill>
          <a:ln w="10160">
            <a:solidFill>
              <a:srgbClr val="1A7A4A"/>
            </a:solidFill>
            <a:prstDash val="solid"/>
          </a:ln>
        </p:spPr>
      </p:sp>
      <p:sp>
        <p:nvSpPr>
          <p:cNvPr id="17" name="Text 15"/>
          <p:cNvSpPr/>
          <p:nvPr/>
        </p:nvSpPr>
        <p:spPr>
          <a:xfrm>
            <a:off x="4809744" y="2715768"/>
            <a:ext cx="3840480" cy="786384"/>
          </a:xfrm>
          <a:prstGeom prst="rect">
            <a:avLst/>
          </a:prstGeom>
          <a:noFill/>
          <a:ln/>
        </p:spPr>
        <p:txBody>
          <a:bodyPr wrap="square" lIns="0" tIns="0" rIns="0" bIns="0" rtlCol="0" anchor="ctr"/>
          <a:lstStyle/>
          <a:p>
            <a:pPr indent="0" marL="0">
              <a:buNone/>
            </a:pPr>
            <a:r>
              <a:rPr lang="en-US" sz="950" b="1" dirty="0">
                <a:solidFill>
                  <a:srgbClr val="0F1E3C"/>
                </a:solidFill>
                <a:latin typeface="Calibri" pitchFamily="34" charset="0"/>
                <a:ea typeface="Calibri" pitchFamily="34" charset="-122"/>
                <a:cs typeface="Calibri" pitchFamily="34" charset="-120"/>
              </a:rPr>
              <a:t>Calculation: </a:t>
            </a:r>
            <a:pPr indent="0" marL="0">
              <a:buNone/>
            </a:pPr>
            <a:r>
              <a:rPr lang="en-US" sz="950" dirty="0">
                <a:solidFill>
                  <a:srgbClr val="2C3E50"/>
                </a:solidFill>
                <a:latin typeface="Calibri" pitchFamily="34" charset="0"/>
                <a:ea typeface="Calibri" pitchFamily="34" charset="-122"/>
                <a:cs typeface="Calibri" pitchFamily="34" charset="-120"/>
              </a:rPr>
              <a:t>n = (1.96² x 0.5 x 0.5) / 0.05²</a:t>
            </a:r>
            <a:endParaRPr lang="en-US" sz="950" dirty="0"/>
          </a:p>
          <a:p>
            <a:pPr indent="0" marL="0">
              <a:buNone/>
            </a:pPr>
            <a:r>
              <a:rPr lang="en-US" sz="950" dirty="0">
                <a:solidFill>
                  <a:srgbClr val="2C3E50"/>
                </a:solidFill>
                <a:latin typeface="Calibri" pitchFamily="34" charset="0"/>
                <a:ea typeface="Calibri" pitchFamily="34" charset="-122"/>
                <a:cs typeface="Calibri" pitchFamily="34" charset="-120"/>
              </a:rPr>
              <a:t>= (3.8416 x 0.25) / 0.0025</a:t>
            </a:r>
            <a:endParaRPr lang="en-US" sz="950" dirty="0"/>
          </a:p>
          <a:p>
            <a:pPr indent="0" marL="0">
              <a:buNone/>
            </a:pPr>
            <a:r>
              <a:rPr lang="en-US" sz="950" dirty="0">
                <a:solidFill>
                  <a:srgbClr val="2C3E50"/>
                </a:solidFill>
                <a:latin typeface="Calibri" pitchFamily="34" charset="0"/>
                <a:ea typeface="Calibri" pitchFamily="34" charset="-122"/>
                <a:cs typeface="Calibri" pitchFamily="34" charset="-120"/>
              </a:rPr>
              <a:t>= 0.9604 / 0.0025  =  </a:t>
            </a:r>
            <a:endParaRPr lang="en-US" sz="950" dirty="0"/>
          </a:p>
          <a:p>
            <a:pPr indent="0" marL="0">
              <a:buNone/>
            </a:pPr>
            <a:r>
              <a:rPr lang="en-US" sz="950" b="1" dirty="0">
                <a:solidFill>
                  <a:srgbClr val="1A7A4A"/>
                </a:solidFill>
                <a:latin typeface="Calibri" pitchFamily="34" charset="0"/>
                <a:ea typeface="Calibri" pitchFamily="34" charset="-122"/>
                <a:cs typeface="Calibri" pitchFamily="34" charset="-120"/>
              </a:rPr>
              <a:t>384 minimum  </a:t>
            </a:r>
            <a:pPr indent="0" marL="0">
              <a:buNone/>
            </a:pPr>
            <a:r>
              <a:rPr lang="en-US" sz="950" dirty="0">
                <a:solidFill>
                  <a:srgbClr val="64748B"/>
                </a:solidFill>
                <a:latin typeface="Calibri" pitchFamily="34" charset="0"/>
                <a:ea typeface="Calibri" pitchFamily="34" charset="-122"/>
                <a:cs typeface="Calibri" pitchFamily="34" charset="-120"/>
              </a:rPr>
              <a:t>(for any large population)</a:t>
            </a:r>
            <a:endParaRPr lang="en-US" sz="950" dirty="0"/>
          </a:p>
        </p:txBody>
      </p:sp>
      <p:sp>
        <p:nvSpPr>
          <p:cNvPr id="18" name="Text 16"/>
          <p:cNvSpPr/>
          <p:nvPr/>
        </p:nvSpPr>
        <p:spPr>
          <a:xfrm>
            <a:off x="274320" y="3794760"/>
            <a:ext cx="3200400" cy="256032"/>
          </a:xfrm>
          <a:prstGeom prst="rect">
            <a:avLst/>
          </a:prstGeom>
          <a:noFill/>
          <a:ln/>
        </p:spPr>
        <p:txBody>
          <a:bodyPr wrap="square" lIns="0" tIns="0" rIns="0" bIns="0" rtlCol="0" anchor="ctr"/>
          <a:lstStyle/>
          <a:p>
            <a:pPr indent="0" marL="0">
              <a:buNone/>
            </a:pPr>
            <a:r>
              <a:rPr lang="en-US" sz="1100" b="1" dirty="0">
                <a:solidFill>
                  <a:srgbClr val="0F1E3C"/>
                </a:solidFill>
                <a:latin typeface="Calibri" pitchFamily="34" charset="0"/>
                <a:ea typeface="Calibri" pitchFamily="34" charset="-122"/>
                <a:cs typeface="Calibri" pitchFamily="34" charset="-120"/>
              </a:rPr>
              <a:t>Key Factors Affecting Sample Size:</a:t>
            </a:r>
            <a:endParaRPr lang="en-US" sz="1100" dirty="0"/>
          </a:p>
        </p:txBody>
      </p:sp>
      <p:sp>
        <p:nvSpPr>
          <p:cNvPr id="19" name="Text 17"/>
          <p:cNvSpPr/>
          <p:nvPr/>
        </p:nvSpPr>
        <p:spPr>
          <a:xfrm>
            <a:off x="320040" y="4069080"/>
            <a:ext cx="8503920" cy="237744"/>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Population size (larger N = larger n required)</a:t>
            </a:r>
            <a:endParaRPr lang="en-US" sz="950" dirty="0"/>
          </a:p>
        </p:txBody>
      </p:sp>
      <p:sp>
        <p:nvSpPr>
          <p:cNvPr id="20" name="Text 18"/>
          <p:cNvSpPr/>
          <p:nvPr/>
        </p:nvSpPr>
        <p:spPr>
          <a:xfrm>
            <a:off x="320040" y="4325112"/>
            <a:ext cx="8503920" cy="237744"/>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Confidence level (95% vs 99% - higher confidence needs bigger sample)</a:t>
            </a:r>
            <a:endParaRPr lang="en-US" sz="950" dirty="0"/>
          </a:p>
        </p:txBody>
      </p:sp>
      <p:sp>
        <p:nvSpPr>
          <p:cNvPr id="21" name="Text 19"/>
          <p:cNvSpPr/>
          <p:nvPr/>
        </p:nvSpPr>
        <p:spPr>
          <a:xfrm>
            <a:off x="320040" y="4581144"/>
            <a:ext cx="8503920" cy="237744"/>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Margin of error (tighter precision needs bigger sample)</a:t>
            </a:r>
            <a:endParaRPr lang="en-US" sz="950" dirty="0"/>
          </a:p>
        </p:txBody>
      </p:sp>
      <p:sp>
        <p:nvSpPr>
          <p:cNvPr id="22" name="Text 20"/>
          <p:cNvSpPr/>
          <p:nvPr/>
        </p:nvSpPr>
        <p:spPr>
          <a:xfrm>
            <a:off x="320040" y="4837176"/>
            <a:ext cx="8503920" cy="237744"/>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 Expected variability (more heterogeneous populations need bigger sample)</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B5CA0">
              <a:alpha val="18000"/>
            </a:srgbClr>
          </a:solidFill>
          <a:ln w="12700">
            <a:solidFill>
              <a:srgbClr val="1B5CA0"/>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1  |  SECTION 06</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Data Collection Tools</a:t>
            </a:r>
            <a:endParaRPr lang="en-US" sz="42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A8C8E8"/>
                </a:solidFill>
                <a:latin typeface="Calibri" pitchFamily="34" charset="0"/>
                <a:ea typeface="Calibri" pitchFamily="34" charset="-122"/>
                <a:cs typeface="Calibri" pitchFamily="34" charset="-120"/>
              </a:rPr>
              <a:t>Survey questionnaires, FGD guides, and KII guides - designing instruments that generate reliable data</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562"/>
          </a:solidFill>
          <a:ln w="12700">
            <a:solidFill>
              <a:srgbClr val="1A3562"/>
            </a:solidFill>
            <a:prstDash val="solid"/>
          </a:ln>
        </p:spPr>
      </p:sp>
      <p:sp>
        <p:nvSpPr>
          <p:cNvPr id="3" name="Text 1"/>
          <p:cNvSpPr/>
          <p:nvPr/>
        </p:nvSpPr>
        <p:spPr>
          <a:xfrm>
            <a:off x="457200" y="109728"/>
            <a:ext cx="8229600" cy="713232"/>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Survey Questionnaire Design - Principles and Best Practice</a:t>
            </a:r>
            <a:endParaRPr lang="en-US" sz="2300" dirty="0"/>
          </a:p>
        </p:txBody>
      </p:sp>
      <p:sp>
        <p:nvSpPr>
          <p:cNvPr id="4" name="Text 2"/>
          <p:cNvSpPr/>
          <p:nvPr/>
        </p:nvSpPr>
        <p:spPr>
          <a:xfrm>
            <a:off x="274320" y="1051560"/>
            <a:ext cx="4114800" cy="274320"/>
          </a:xfrm>
          <a:prstGeom prst="rect">
            <a:avLst/>
          </a:prstGeom>
          <a:noFill/>
          <a:ln/>
        </p:spPr>
        <p:txBody>
          <a:bodyPr wrap="square" lIns="0" tIns="0" rIns="0" bIns="0" rtlCol="0" anchor="ctr"/>
          <a:lstStyle/>
          <a:p>
            <a:pPr indent="0" marL="0">
              <a:buNone/>
            </a:pPr>
            <a:r>
              <a:rPr lang="en-US" sz="1300" b="1" dirty="0">
                <a:solidFill>
                  <a:srgbClr val="0F1E3C"/>
                </a:solidFill>
                <a:latin typeface="Calibri" pitchFamily="34" charset="0"/>
                <a:ea typeface="Calibri" pitchFamily="34" charset="-122"/>
                <a:cs typeface="Calibri" pitchFamily="34" charset="-120"/>
              </a:rPr>
              <a:t>Types of Questions</a:t>
            </a:r>
            <a:endParaRPr lang="en-US" sz="1300" dirty="0"/>
          </a:p>
        </p:txBody>
      </p:sp>
      <p:sp>
        <p:nvSpPr>
          <p:cNvPr id="5" name="Shape 3"/>
          <p:cNvSpPr/>
          <p:nvPr/>
        </p:nvSpPr>
        <p:spPr>
          <a:xfrm>
            <a:off x="274320" y="1371600"/>
            <a:ext cx="4160520" cy="530352"/>
          </a:xfrm>
          <a:prstGeom prst="roundRect">
            <a:avLst>
              <a:gd name="adj" fmla="val 10345"/>
            </a:avLst>
          </a:prstGeom>
          <a:solidFill>
            <a:srgbClr val="FFFFFF"/>
          </a:solidFill>
          <a:ln w="10160">
            <a:solidFill>
              <a:srgbClr val="1B5CA0"/>
            </a:solidFill>
            <a:prstDash val="solid"/>
          </a:ln>
        </p:spPr>
      </p:sp>
      <p:sp>
        <p:nvSpPr>
          <p:cNvPr id="6" name="Shape 4"/>
          <p:cNvSpPr/>
          <p:nvPr/>
        </p:nvSpPr>
        <p:spPr>
          <a:xfrm>
            <a:off x="347472" y="1444752"/>
            <a:ext cx="1005840" cy="237744"/>
          </a:xfrm>
          <a:prstGeom prst="roundRect">
            <a:avLst>
              <a:gd name="adj" fmla="val 15385"/>
            </a:avLst>
          </a:prstGeom>
          <a:solidFill>
            <a:srgbClr val="1B5CA0"/>
          </a:solidFill>
          <a:ln w="12700">
            <a:solidFill>
              <a:srgbClr val="1B5CA0"/>
            </a:solidFill>
            <a:prstDash val="solid"/>
          </a:ln>
        </p:spPr>
      </p:sp>
      <p:sp>
        <p:nvSpPr>
          <p:cNvPr id="7" name="Text 5"/>
          <p:cNvSpPr/>
          <p:nvPr/>
        </p:nvSpPr>
        <p:spPr>
          <a:xfrm>
            <a:off x="347472" y="1444752"/>
            <a:ext cx="100584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Dichotomous</a:t>
            </a:r>
            <a:endParaRPr lang="en-US" sz="800" dirty="0"/>
          </a:p>
        </p:txBody>
      </p:sp>
      <p:sp>
        <p:nvSpPr>
          <p:cNvPr id="8" name="Text 6"/>
          <p:cNvSpPr/>
          <p:nvPr/>
        </p:nvSpPr>
        <p:spPr>
          <a:xfrm>
            <a:off x="1426464" y="1426464"/>
            <a:ext cx="2944368" cy="420624"/>
          </a:xfrm>
          <a:prstGeom prst="rect">
            <a:avLst/>
          </a:prstGeom>
          <a:noFill/>
          <a:ln/>
        </p:spPr>
        <p:txBody>
          <a:bodyPr wrap="square" lIns="0" tIns="0" rIns="0" bIns="0" rtlCol="0" anchor="ctr"/>
          <a:lstStyle/>
          <a:p>
            <a:pPr indent="0" marL="0">
              <a:buNone/>
            </a:pPr>
            <a:r>
              <a:rPr lang="en-US" sz="900" i="1" dirty="0">
                <a:solidFill>
                  <a:srgbClr val="2C3E50"/>
                </a:solidFill>
                <a:latin typeface="Calibri" pitchFamily="34" charset="0"/>
                <a:ea typeface="Calibri" pitchFamily="34" charset="-122"/>
                <a:cs typeface="Calibri" pitchFamily="34" charset="-120"/>
              </a:rPr>
              <a:t>Do you purchase UAC Foods products? Yes / No</a:t>
            </a:r>
            <a:endParaRPr lang="en-US" sz="900" dirty="0"/>
          </a:p>
        </p:txBody>
      </p:sp>
      <p:sp>
        <p:nvSpPr>
          <p:cNvPr id="9" name="Shape 7"/>
          <p:cNvSpPr/>
          <p:nvPr/>
        </p:nvSpPr>
        <p:spPr>
          <a:xfrm>
            <a:off x="274320" y="1975104"/>
            <a:ext cx="4160520" cy="530352"/>
          </a:xfrm>
          <a:prstGeom prst="roundRect">
            <a:avLst>
              <a:gd name="adj" fmla="val 10345"/>
            </a:avLst>
          </a:prstGeom>
          <a:solidFill>
            <a:srgbClr val="FFFFFF"/>
          </a:solidFill>
          <a:ln w="10160">
            <a:solidFill>
              <a:srgbClr val="2E86C1"/>
            </a:solidFill>
            <a:prstDash val="solid"/>
          </a:ln>
        </p:spPr>
      </p:sp>
      <p:sp>
        <p:nvSpPr>
          <p:cNvPr id="10" name="Shape 8"/>
          <p:cNvSpPr/>
          <p:nvPr/>
        </p:nvSpPr>
        <p:spPr>
          <a:xfrm>
            <a:off x="347472" y="2048256"/>
            <a:ext cx="1005840" cy="237744"/>
          </a:xfrm>
          <a:prstGeom prst="roundRect">
            <a:avLst>
              <a:gd name="adj" fmla="val 15385"/>
            </a:avLst>
          </a:prstGeom>
          <a:solidFill>
            <a:srgbClr val="2E86C1"/>
          </a:solidFill>
          <a:ln w="12700">
            <a:solidFill>
              <a:srgbClr val="2E86C1"/>
            </a:solidFill>
            <a:prstDash val="solid"/>
          </a:ln>
        </p:spPr>
      </p:sp>
      <p:sp>
        <p:nvSpPr>
          <p:cNvPr id="11" name="Text 9"/>
          <p:cNvSpPr/>
          <p:nvPr/>
        </p:nvSpPr>
        <p:spPr>
          <a:xfrm>
            <a:off x="347472" y="2048256"/>
            <a:ext cx="100584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Multiple Choice</a:t>
            </a:r>
            <a:endParaRPr lang="en-US" sz="800" dirty="0"/>
          </a:p>
        </p:txBody>
      </p:sp>
      <p:sp>
        <p:nvSpPr>
          <p:cNvPr id="12" name="Text 10"/>
          <p:cNvSpPr/>
          <p:nvPr/>
        </p:nvSpPr>
        <p:spPr>
          <a:xfrm>
            <a:off x="1426464" y="2029968"/>
            <a:ext cx="2944368" cy="420624"/>
          </a:xfrm>
          <a:prstGeom prst="rect">
            <a:avLst/>
          </a:prstGeom>
          <a:noFill/>
          <a:ln/>
        </p:spPr>
        <p:txBody>
          <a:bodyPr wrap="square" lIns="0" tIns="0" rIns="0" bIns="0" rtlCol="0" anchor="ctr"/>
          <a:lstStyle/>
          <a:p>
            <a:pPr indent="0" marL="0">
              <a:buNone/>
            </a:pPr>
            <a:r>
              <a:rPr lang="en-US" sz="900" i="1" dirty="0">
                <a:solidFill>
                  <a:srgbClr val="2C3E50"/>
                </a:solidFill>
                <a:latin typeface="Calibri" pitchFamily="34" charset="0"/>
                <a:ea typeface="Calibri" pitchFamily="34" charset="-122"/>
                <a:cs typeface="Calibri" pitchFamily="34" charset="-120"/>
              </a:rPr>
              <a:t>Which UAC snack do you buy most? (a) Gala (b) Mr. Biggs (c) Deli Foods (d) Other</a:t>
            </a:r>
            <a:endParaRPr lang="en-US" sz="900" dirty="0"/>
          </a:p>
        </p:txBody>
      </p:sp>
      <p:sp>
        <p:nvSpPr>
          <p:cNvPr id="13" name="Shape 11"/>
          <p:cNvSpPr/>
          <p:nvPr/>
        </p:nvSpPr>
        <p:spPr>
          <a:xfrm>
            <a:off x="274320" y="2578608"/>
            <a:ext cx="4160520" cy="530352"/>
          </a:xfrm>
          <a:prstGeom prst="roundRect">
            <a:avLst>
              <a:gd name="adj" fmla="val 10345"/>
            </a:avLst>
          </a:prstGeom>
          <a:solidFill>
            <a:srgbClr val="FFFFFF"/>
          </a:solidFill>
          <a:ln w="10160">
            <a:solidFill>
              <a:srgbClr val="1A7A4A"/>
            </a:solidFill>
            <a:prstDash val="solid"/>
          </a:ln>
        </p:spPr>
      </p:sp>
      <p:sp>
        <p:nvSpPr>
          <p:cNvPr id="14" name="Shape 12"/>
          <p:cNvSpPr/>
          <p:nvPr/>
        </p:nvSpPr>
        <p:spPr>
          <a:xfrm>
            <a:off x="347472" y="2651760"/>
            <a:ext cx="1005840" cy="237744"/>
          </a:xfrm>
          <a:prstGeom prst="roundRect">
            <a:avLst>
              <a:gd name="adj" fmla="val 15385"/>
            </a:avLst>
          </a:prstGeom>
          <a:solidFill>
            <a:srgbClr val="1A7A4A"/>
          </a:solidFill>
          <a:ln w="12700">
            <a:solidFill>
              <a:srgbClr val="1A7A4A"/>
            </a:solidFill>
            <a:prstDash val="solid"/>
          </a:ln>
        </p:spPr>
      </p:sp>
      <p:sp>
        <p:nvSpPr>
          <p:cNvPr id="15" name="Text 13"/>
          <p:cNvSpPr/>
          <p:nvPr/>
        </p:nvSpPr>
        <p:spPr>
          <a:xfrm>
            <a:off x="347472" y="2651760"/>
            <a:ext cx="100584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Likert Scale</a:t>
            </a:r>
            <a:endParaRPr lang="en-US" sz="800" dirty="0"/>
          </a:p>
        </p:txBody>
      </p:sp>
      <p:sp>
        <p:nvSpPr>
          <p:cNvPr id="16" name="Text 14"/>
          <p:cNvSpPr/>
          <p:nvPr/>
        </p:nvSpPr>
        <p:spPr>
          <a:xfrm>
            <a:off x="1426464" y="2633472"/>
            <a:ext cx="2944368" cy="420624"/>
          </a:xfrm>
          <a:prstGeom prst="rect">
            <a:avLst/>
          </a:prstGeom>
          <a:noFill/>
          <a:ln/>
        </p:spPr>
        <p:txBody>
          <a:bodyPr wrap="square" lIns="0" tIns="0" rIns="0" bIns="0" rtlCol="0" anchor="ctr"/>
          <a:lstStyle/>
          <a:p>
            <a:pPr indent="0" marL="0">
              <a:buNone/>
            </a:pPr>
            <a:r>
              <a:rPr lang="en-US" sz="900" i="1" dirty="0">
                <a:solidFill>
                  <a:srgbClr val="2C3E50"/>
                </a:solidFill>
                <a:latin typeface="Calibri" pitchFamily="34" charset="0"/>
                <a:ea typeface="Calibri" pitchFamily="34" charset="-122"/>
                <a:cs typeface="Calibri" pitchFamily="34" charset="-120"/>
              </a:rPr>
              <a:t>Rate: 'UAC Foods products offer good value for money' 1=Strongly Disagree to 5=Strongly Agree</a:t>
            </a:r>
            <a:endParaRPr lang="en-US" sz="900" dirty="0"/>
          </a:p>
        </p:txBody>
      </p:sp>
      <p:sp>
        <p:nvSpPr>
          <p:cNvPr id="17" name="Shape 15"/>
          <p:cNvSpPr/>
          <p:nvPr/>
        </p:nvSpPr>
        <p:spPr>
          <a:xfrm>
            <a:off x="274320" y="3182112"/>
            <a:ext cx="4160520" cy="530352"/>
          </a:xfrm>
          <a:prstGeom prst="roundRect">
            <a:avLst>
              <a:gd name="adj" fmla="val 10345"/>
            </a:avLst>
          </a:prstGeom>
          <a:solidFill>
            <a:srgbClr val="FFFFFF"/>
          </a:solidFill>
          <a:ln w="10160">
            <a:solidFill>
              <a:srgbClr val="E67E22"/>
            </a:solidFill>
            <a:prstDash val="solid"/>
          </a:ln>
        </p:spPr>
      </p:sp>
      <p:sp>
        <p:nvSpPr>
          <p:cNvPr id="18" name="Shape 16"/>
          <p:cNvSpPr/>
          <p:nvPr/>
        </p:nvSpPr>
        <p:spPr>
          <a:xfrm>
            <a:off x="347472" y="3255264"/>
            <a:ext cx="1005840" cy="237744"/>
          </a:xfrm>
          <a:prstGeom prst="roundRect">
            <a:avLst>
              <a:gd name="adj" fmla="val 15385"/>
            </a:avLst>
          </a:prstGeom>
          <a:solidFill>
            <a:srgbClr val="E67E22"/>
          </a:solidFill>
          <a:ln w="12700">
            <a:solidFill>
              <a:srgbClr val="E67E22"/>
            </a:solidFill>
            <a:prstDash val="solid"/>
          </a:ln>
        </p:spPr>
      </p:sp>
      <p:sp>
        <p:nvSpPr>
          <p:cNvPr id="19" name="Text 17"/>
          <p:cNvSpPr/>
          <p:nvPr/>
        </p:nvSpPr>
        <p:spPr>
          <a:xfrm>
            <a:off x="347472" y="3255264"/>
            <a:ext cx="100584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Semantic Differential</a:t>
            </a:r>
            <a:endParaRPr lang="en-US" sz="800" dirty="0"/>
          </a:p>
        </p:txBody>
      </p:sp>
      <p:sp>
        <p:nvSpPr>
          <p:cNvPr id="20" name="Text 18"/>
          <p:cNvSpPr/>
          <p:nvPr/>
        </p:nvSpPr>
        <p:spPr>
          <a:xfrm>
            <a:off x="1426464" y="3236976"/>
            <a:ext cx="2944368" cy="420624"/>
          </a:xfrm>
          <a:prstGeom prst="rect">
            <a:avLst/>
          </a:prstGeom>
          <a:noFill/>
          <a:ln/>
        </p:spPr>
        <p:txBody>
          <a:bodyPr wrap="square" lIns="0" tIns="0" rIns="0" bIns="0" rtlCol="0" anchor="ctr"/>
          <a:lstStyle/>
          <a:p>
            <a:pPr indent="0" marL="0">
              <a:buNone/>
            </a:pPr>
            <a:r>
              <a:rPr lang="en-US" sz="900" i="1" dirty="0">
                <a:solidFill>
                  <a:srgbClr val="2C3E50"/>
                </a:solidFill>
                <a:latin typeface="Calibri" pitchFamily="34" charset="0"/>
                <a:ea typeface="Calibri" pitchFamily="34" charset="-122"/>
                <a:cs typeface="Calibri" pitchFamily="34" charset="-120"/>
              </a:rPr>
              <a:t>Rate UAC packaging:   Old-fashioned 1 - 2 - 3 - 4 - 5 Modern</a:t>
            </a:r>
            <a:endParaRPr lang="en-US" sz="900" dirty="0"/>
          </a:p>
        </p:txBody>
      </p:sp>
      <p:sp>
        <p:nvSpPr>
          <p:cNvPr id="21" name="Shape 19"/>
          <p:cNvSpPr/>
          <p:nvPr/>
        </p:nvSpPr>
        <p:spPr>
          <a:xfrm>
            <a:off x="274320" y="3785616"/>
            <a:ext cx="4160520" cy="530352"/>
          </a:xfrm>
          <a:prstGeom prst="roundRect">
            <a:avLst>
              <a:gd name="adj" fmla="val 10345"/>
            </a:avLst>
          </a:prstGeom>
          <a:solidFill>
            <a:srgbClr val="FFFFFF"/>
          </a:solidFill>
          <a:ln w="10160">
            <a:solidFill>
              <a:srgbClr val="5B2D8E"/>
            </a:solidFill>
            <a:prstDash val="solid"/>
          </a:ln>
        </p:spPr>
      </p:sp>
      <p:sp>
        <p:nvSpPr>
          <p:cNvPr id="22" name="Shape 20"/>
          <p:cNvSpPr/>
          <p:nvPr/>
        </p:nvSpPr>
        <p:spPr>
          <a:xfrm>
            <a:off x="347472" y="3858768"/>
            <a:ext cx="1005840" cy="237744"/>
          </a:xfrm>
          <a:prstGeom prst="roundRect">
            <a:avLst>
              <a:gd name="adj" fmla="val 15385"/>
            </a:avLst>
          </a:prstGeom>
          <a:solidFill>
            <a:srgbClr val="5B2D8E"/>
          </a:solidFill>
          <a:ln w="12700">
            <a:solidFill>
              <a:srgbClr val="5B2D8E"/>
            </a:solidFill>
            <a:prstDash val="solid"/>
          </a:ln>
        </p:spPr>
      </p:sp>
      <p:sp>
        <p:nvSpPr>
          <p:cNvPr id="23" name="Text 21"/>
          <p:cNvSpPr/>
          <p:nvPr/>
        </p:nvSpPr>
        <p:spPr>
          <a:xfrm>
            <a:off x="347472" y="3858768"/>
            <a:ext cx="100584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Ranking</a:t>
            </a:r>
            <a:endParaRPr lang="en-US" sz="800" dirty="0"/>
          </a:p>
        </p:txBody>
      </p:sp>
      <p:sp>
        <p:nvSpPr>
          <p:cNvPr id="24" name="Text 22"/>
          <p:cNvSpPr/>
          <p:nvPr/>
        </p:nvSpPr>
        <p:spPr>
          <a:xfrm>
            <a:off x="1426464" y="3840480"/>
            <a:ext cx="2944368" cy="420624"/>
          </a:xfrm>
          <a:prstGeom prst="rect">
            <a:avLst/>
          </a:prstGeom>
          <a:noFill/>
          <a:ln/>
        </p:spPr>
        <p:txBody>
          <a:bodyPr wrap="square" lIns="0" tIns="0" rIns="0" bIns="0" rtlCol="0" anchor="ctr"/>
          <a:lstStyle/>
          <a:p>
            <a:pPr indent="0" marL="0">
              <a:buNone/>
            </a:pPr>
            <a:r>
              <a:rPr lang="en-US" sz="900" i="1" dirty="0">
                <a:solidFill>
                  <a:srgbClr val="2C3E50"/>
                </a:solidFill>
                <a:latin typeface="Calibri" pitchFamily="34" charset="0"/>
                <a:ea typeface="Calibri" pitchFamily="34" charset="-122"/>
                <a:cs typeface="Calibri" pitchFamily="34" charset="-120"/>
              </a:rPr>
              <a:t>Rank these factors (1=most important): Price / Taste / Packaging / Availability</a:t>
            </a:r>
            <a:endParaRPr lang="en-US" sz="900" dirty="0"/>
          </a:p>
        </p:txBody>
      </p:sp>
      <p:sp>
        <p:nvSpPr>
          <p:cNvPr id="25" name="Shape 23"/>
          <p:cNvSpPr/>
          <p:nvPr/>
        </p:nvSpPr>
        <p:spPr>
          <a:xfrm>
            <a:off x="274320" y="4389120"/>
            <a:ext cx="4160520" cy="530352"/>
          </a:xfrm>
          <a:prstGeom prst="roundRect">
            <a:avLst>
              <a:gd name="adj" fmla="val 10345"/>
            </a:avLst>
          </a:prstGeom>
          <a:solidFill>
            <a:srgbClr val="FFFFFF"/>
          </a:solidFill>
          <a:ln w="10160">
            <a:solidFill>
              <a:srgbClr val="64748B"/>
            </a:solidFill>
            <a:prstDash val="solid"/>
          </a:ln>
        </p:spPr>
      </p:sp>
      <p:sp>
        <p:nvSpPr>
          <p:cNvPr id="26" name="Shape 24"/>
          <p:cNvSpPr/>
          <p:nvPr/>
        </p:nvSpPr>
        <p:spPr>
          <a:xfrm>
            <a:off x="347472" y="4462272"/>
            <a:ext cx="1005840" cy="237744"/>
          </a:xfrm>
          <a:prstGeom prst="roundRect">
            <a:avLst>
              <a:gd name="adj" fmla="val 15385"/>
            </a:avLst>
          </a:prstGeom>
          <a:solidFill>
            <a:srgbClr val="64748B"/>
          </a:solidFill>
          <a:ln w="12700">
            <a:solidFill>
              <a:srgbClr val="64748B"/>
            </a:solidFill>
            <a:prstDash val="solid"/>
          </a:ln>
        </p:spPr>
      </p:sp>
      <p:sp>
        <p:nvSpPr>
          <p:cNvPr id="27" name="Text 25"/>
          <p:cNvSpPr/>
          <p:nvPr/>
        </p:nvSpPr>
        <p:spPr>
          <a:xfrm>
            <a:off x="347472" y="4462272"/>
            <a:ext cx="100584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Open-ended</a:t>
            </a:r>
            <a:endParaRPr lang="en-US" sz="800" dirty="0"/>
          </a:p>
        </p:txBody>
      </p:sp>
      <p:sp>
        <p:nvSpPr>
          <p:cNvPr id="28" name="Text 26"/>
          <p:cNvSpPr/>
          <p:nvPr/>
        </p:nvSpPr>
        <p:spPr>
          <a:xfrm>
            <a:off x="1426464" y="4443984"/>
            <a:ext cx="2944368" cy="420624"/>
          </a:xfrm>
          <a:prstGeom prst="rect">
            <a:avLst/>
          </a:prstGeom>
          <a:noFill/>
          <a:ln/>
        </p:spPr>
        <p:txBody>
          <a:bodyPr wrap="square" lIns="0" tIns="0" rIns="0" bIns="0" rtlCol="0" anchor="ctr"/>
          <a:lstStyle/>
          <a:p>
            <a:pPr indent="0" marL="0">
              <a:buNone/>
            </a:pPr>
            <a:r>
              <a:rPr lang="en-US" sz="900" i="1" dirty="0">
                <a:solidFill>
                  <a:srgbClr val="2C3E50"/>
                </a:solidFill>
                <a:latin typeface="Calibri" pitchFamily="34" charset="0"/>
                <a:ea typeface="Calibri" pitchFamily="34" charset="-122"/>
                <a:cs typeface="Calibri" pitchFamily="34" charset="-120"/>
              </a:rPr>
              <a:t>What improvements would you suggest for UAC Foods products? __________</a:t>
            </a:r>
            <a:endParaRPr lang="en-US" sz="900" dirty="0"/>
          </a:p>
        </p:txBody>
      </p:sp>
      <p:sp>
        <p:nvSpPr>
          <p:cNvPr id="29" name="Text 27"/>
          <p:cNvSpPr/>
          <p:nvPr/>
        </p:nvSpPr>
        <p:spPr>
          <a:xfrm>
            <a:off x="4663440" y="1051560"/>
            <a:ext cx="4206240" cy="274320"/>
          </a:xfrm>
          <a:prstGeom prst="rect">
            <a:avLst/>
          </a:prstGeom>
          <a:noFill/>
          <a:ln/>
        </p:spPr>
        <p:txBody>
          <a:bodyPr wrap="square" lIns="0" tIns="0" rIns="0" bIns="0" rtlCol="0" anchor="ctr"/>
          <a:lstStyle/>
          <a:p>
            <a:pPr indent="0" marL="0">
              <a:buNone/>
            </a:pPr>
            <a:r>
              <a:rPr lang="en-US" sz="1300" b="1" dirty="0">
                <a:solidFill>
                  <a:srgbClr val="0F1E3C"/>
                </a:solidFill>
                <a:latin typeface="Calibri" pitchFamily="34" charset="0"/>
                <a:ea typeface="Calibri" pitchFamily="34" charset="-122"/>
                <a:cs typeface="Calibri" pitchFamily="34" charset="-120"/>
              </a:rPr>
              <a:t>Design Principles</a:t>
            </a:r>
            <a:endParaRPr lang="en-US" sz="1300" dirty="0"/>
          </a:p>
        </p:txBody>
      </p:sp>
      <p:sp>
        <p:nvSpPr>
          <p:cNvPr id="30" name="Shape 28"/>
          <p:cNvSpPr/>
          <p:nvPr/>
        </p:nvSpPr>
        <p:spPr>
          <a:xfrm>
            <a:off x="4663440" y="1426464"/>
            <a:ext cx="292608" cy="292608"/>
          </a:xfrm>
          <a:prstGeom prst="ellipse">
            <a:avLst/>
          </a:prstGeom>
          <a:solidFill>
            <a:srgbClr val="1A3562"/>
          </a:solidFill>
          <a:ln w="12700">
            <a:solidFill>
              <a:srgbClr val="1A3562"/>
            </a:solidFill>
            <a:prstDash val="solid"/>
          </a:ln>
        </p:spPr>
      </p:sp>
      <p:sp>
        <p:nvSpPr>
          <p:cNvPr id="31" name="Text 29"/>
          <p:cNvSpPr/>
          <p:nvPr/>
        </p:nvSpPr>
        <p:spPr>
          <a:xfrm>
            <a:off x="4663440" y="1426464"/>
            <a:ext cx="292608" cy="292608"/>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1</a:t>
            </a:r>
            <a:endParaRPr lang="en-US" sz="900" dirty="0"/>
          </a:p>
        </p:txBody>
      </p:sp>
      <p:sp>
        <p:nvSpPr>
          <p:cNvPr id="32" name="Text 30"/>
          <p:cNvSpPr/>
          <p:nvPr/>
        </p:nvSpPr>
        <p:spPr>
          <a:xfrm>
            <a:off x="5029200" y="1408176"/>
            <a:ext cx="1280160" cy="292608"/>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Clear Introduction: </a:t>
            </a:r>
            <a:endParaRPr lang="en-US" sz="1000" dirty="0"/>
          </a:p>
        </p:txBody>
      </p:sp>
      <p:sp>
        <p:nvSpPr>
          <p:cNvPr id="33" name="Text 31"/>
          <p:cNvSpPr/>
          <p:nvPr/>
        </p:nvSpPr>
        <p:spPr>
          <a:xfrm>
            <a:off x="6355080" y="1408176"/>
            <a:ext cx="2487168" cy="29260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State purpose, confidentiality, and estimated time</a:t>
            </a:r>
            <a:endParaRPr lang="en-US" sz="950" dirty="0"/>
          </a:p>
        </p:txBody>
      </p:sp>
      <p:sp>
        <p:nvSpPr>
          <p:cNvPr id="34" name="Shape 32"/>
          <p:cNvSpPr/>
          <p:nvPr/>
        </p:nvSpPr>
        <p:spPr>
          <a:xfrm>
            <a:off x="4663440" y="1901952"/>
            <a:ext cx="292608" cy="292608"/>
          </a:xfrm>
          <a:prstGeom prst="ellipse">
            <a:avLst/>
          </a:prstGeom>
          <a:solidFill>
            <a:srgbClr val="1A3562"/>
          </a:solidFill>
          <a:ln w="12700">
            <a:solidFill>
              <a:srgbClr val="1A3562"/>
            </a:solidFill>
            <a:prstDash val="solid"/>
          </a:ln>
        </p:spPr>
      </p:sp>
      <p:sp>
        <p:nvSpPr>
          <p:cNvPr id="35" name="Text 33"/>
          <p:cNvSpPr/>
          <p:nvPr/>
        </p:nvSpPr>
        <p:spPr>
          <a:xfrm>
            <a:off x="4663440" y="1901952"/>
            <a:ext cx="292608" cy="292608"/>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2</a:t>
            </a:r>
            <a:endParaRPr lang="en-US" sz="900" dirty="0"/>
          </a:p>
        </p:txBody>
      </p:sp>
      <p:sp>
        <p:nvSpPr>
          <p:cNvPr id="36" name="Text 34"/>
          <p:cNvSpPr/>
          <p:nvPr/>
        </p:nvSpPr>
        <p:spPr>
          <a:xfrm>
            <a:off x="5029200" y="1883664"/>
            <a:ext cx="1280160" cy="292608"/>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Easy First Questions: </a:t>
            </a:r>
            <a:endParaRPr lang="en-US" sz="1000" dirty="0"/>
          </a:p>
        </p:txBody>
      </p:sp>
      <p:sp>
        <p:nvSpPr>
          <p:cNvPr id="37" name="Text 35"/>
          <p:cNvSpPr/>
          <p:nvPr/>
        </p:nvSpPr>
        <p:spPr>
          <a:xfrm>
            <a:off x="6355080" y="1883664"/>
            <a:ext cx="2487168" cy="29260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Non-sensitive demographics build rapport</a:t>
            </a:r>
            <a:endParaRPr lang="en-US" sz="950" dirty="0"/>
          </a:p>
        </p:txBody>
      </p:sp>
      <p:sp>
        <p:nvSpPr>
          <p:cNvPr id="38" name="Shape 36"/>
          <p:cNvSpPr/>
          <p:nvPr/>
        </p:nvSpPr>
        <p:spPr>
          <a:xfrm>
            <a:off x="4663440" y="2377440"/>
            <a:ext cx="292608" cy="292608"/>
          </a:xfrm>
          <a:prstGeom prst="ellipse">
            <a:avLst/>
          </a:prstGeom>
          <a:solidFill>
            <a:srgbClr val="1A3562"/>
          </a:solidFill>
          <a:ln w="12700">
            <a:solidFill>
              <a:srgbClr val="1A3562"/>
            </a:solidFill>
            <a:prstDash val="solid"/>
          </a:ln>
        </p:spPr>
      </p:sp>
      <p:sp>
        <p:nvSpPr>
          <p:cNvPr id="39" name="Text 37"/>
          <p:cNvSpPr/>
          <p:nvPr/>
        </p:nvSpPr>
        <p:spPr>
          <a:xfrm>
            <a:off x="4663440" y="2377440"/>
            <a:ext cx="292608" cy="292608"/>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3</a:t>
            </a:r>
            <a:endParaRPr lang="en-US" sz="900" dirty="0"/>
          </a:p>
        </p:txBody>
      </p:sp>
      <p:sp>
        <p:nvSpPr>
          <p:cNvPr id="40" name="Text 38"/>
          <p:cNvSpPr/>
          <p:nvPr/>
        </p:nvSpPr>
        <p:spPr>
          <a:xfrm>
            <a:off x="5029200" y="2359152"/>
            <a:ext cx="1280160" cy="292608"/>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Simple Language: </a:t>
            </a:r>
            <a:endParaRPr lang="en-US" sz="1000" dirty="0"/>
          </a:p>
        </p:txBody>
      </p:sp>
      <p:sp>
        <p:nvSpPr>
          <p:cNvPr id="41" name="Text 39"/>
          <p:cNvSpPr/>
          <p:nvPr/>
        </p:nvSpPr>
        <p:spPr>
          <a:xfrm>
            <a:off x="6355080" y="2359152"/>
            <a:ext cx="2487168" cy="29260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Avoid jargon, double negatives, and technical terms</a:t>
            </a:r>
            <a:endParaRPr lang="en-US" sz="950" dirty="0"/>
          </a:p>
        </p:txBody>
      </p:sp>
      <p:sp>
        <p:nvSpPr>
          <p:cNvPr id="42" name="Shape 40"/>
          <p:cNvSpPr/>
          <p:nvPr/>
        </p:nvSpPr>
        <p:spPr>
          <a:xfrm>
            <a:off x="4663440" y="2852928"/>
            <a:ext cx="292608" cy="292608"/>
          </a:xfrm>
          <a:prstGeom prst="ellipse">
            <a:avLst/>
          </a:prstGeom>
          <a:solidFill>
            <a:srgbClr val="1A3562"/>
          </a:solidFill>
          <a:ln w="12700">
            <a:solidFill>
              <a:srgbClr val="1A3562"/>
            </a:solidFill>
            <a:prstDash val="solid"/>
          </a:ln>
        </p:spPr>
      </p:sp>
      <p:sp>
        <p:nvSpPr>
          <p:cNvPr id="43" name="Text 41"/>
          <p:cNvSpPr/>
          <p:nvPr/>
        </p:nvSpPr>
        <p:spPr>
          <a:xfrm>
            <a:off x="4663440" y="2852928"/>
            <a:ext cx="292608" cy="292608"/>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4</a:t>
            </a:r>
            <a:endParaRPr lang="en-US" sz="900" dirty="0"/>
          </a:p>
        </p:txBody>
      </p:sp>
      <p:sp>
        <p:nvSpPr>
          <p:cNvPr id="44" name="Text 42"/>
          <p:cNvSpPr/>
          <p:nvPr/>
        </p:nvSpPr>
        <p:spPr>
          <a:xfrm>
            <a:off x="5029200" y="2834640"/>
            <a:ext cx="1280160" cy="292608"/>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One Concept Per Question: </a:t>
            </a:r>
            <a:endParaRPr lang="en-US" sz="1000" dirty="0"/>
          </a:p>
        </p:txBody>
      </p:sp>
      <p:sp>
        <p:nvSpPr>
          <p:cNvPr id="45" name="Text 43"/>
          <p:cNvSpPr/>
          <p:nvPr/>
        </p:nvSpPr>
        <p:spPr>
          <a:xfrm>
            <a:off x="6355080" y="2834640"/>
            <a:ext cx="2487168" cy="29260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No double-barrelled questions</a:t>
            </a:r>
            <a:endParaRPr lang="en-US" sz="950" dirty="0"/>
          </a:p>
        </p:txBody>
      </p:sp>
      <p:sp>
        <p:nvSpPr>
          <p:cNvPr id="46" name="Shape 44"/>
          <p:cNvSpPr/>
          <p:nvPr/>
        </p:nvSpPr>
        <p:spPr>
          <a:xfrm>
            <a:off x="4663440" y="3328416"/>
            <a:ext cx="292608" cy="292608"/>
          </a:xfrm>
          <a:prstGeom prst="ellipse">
            <a:avLst/>
          </a:prstGeom>
          <a:solidFill>
            <a:srgbClr val="1A3562"/>
          </a:solidFill>
          <a:ln w="12700">
            <a:solidFill>
              <a:srgbClr val="1A3562"/>
            </a:solidFill>
            <a:prstDash val="solid"/>
          </a:ln>
        </p:spPr>
      </p:sp>
      <p:sp>
        <p:nvSpPr>
          <p:cNvPr id="47" name="Text 45"/>
          <p:cNvSpPr/>
          <p:nvPr/>
        </p:nvSpPr>
        <p:spPr>
          <a:xfrm>
            <a:off x="4663440" y="3328416"/>
            <a:ext cx="292608" cy="292608"/>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5</a:t>
            </a:r>
            <a:endParaRPr lang="en-US" sz="900" dirty="0"/>
          </a:p>
        </p:txBody>
      </p:sp>
      <p:sp>
        <p:nvSpPr>
          <p:cNvPr id="48" name="Text 46"/>
          <p:cNvSpPr/>
          <p:nvPr/>
        </p:nvSpPr>
        <p:spPr>
          <a:xfrm>
            <a:off x="5029200" y="3310128"/>
            <a:ext cx="1280160" cy="292608"/>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Mutually Exclusive Options: </a:t>
            </a:r>
            <a:endParaRPr lang="en-US" sz="1000" dirty="0"/>
          </a:p>
        </p:txBody>
      </p:sp>
      <p:sp>
        <p:nvSpPr>
          <p:cNvPr id="49" name="Text 47"/>
          <p:cNvSpPr/>
          <p:nvPr/>
        </p:nvSpPr>
        <p:spPr>
          <a:xfrm>
            <a:off x="6355080" y="3310128"/>
            <a:ext cx="2487168" cy="29260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Response categories cannot overlap</a:t>
            </a:r>
            <a:endParaRPr lang="en-US" sz="950" dirty="0"/>
          </a:p>
        </p:txBody>
      </p:sp>
      <p:sp>
        <p:nvSpPr>
          <p:cNvPr id="50" name="Shape 48"/>
          <p:cNvSpPr/>
          <p:nvPr/>
        </p:nvSpPr>
        <p:spPr>
          <a:xfrm>
            <a:off x="4663440" y="3803904"/>
            <a:ext cx="292608" cy="292608"/>
          </a:xfrm>
          <a:prstGeom prst="ellipse">
            <a:avLst/>
          </a:prstGeom>
          <a:solidFill>
            <a:srgbClr val="1A3562"/>
          </a:solidFill>
          <a:ln w="12700">
            <a:solidFill>
              <a:srgbClr val="1A3562"/>
            </a:solidFill>
            <a:prstDash val="solid"/>
          </a:ln>
        </p:spPr>
      </p:sp>
      <p:sp>
        <p:nvSpPr>
          <p:cNvPr id="51" name="Text 49"/>
          <p:cNvSpPr/>
          <p:nvPr/>
        </p:nvSpPr>
        <p:spPr>
          <a:xfrm>
            <a:off x="4663440" y="3803904"/>
            <a:ext cx="292608" cy="292608"/>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6</a:t>
            </a:r>
            <a:endParaRPr lang="en-US" sz="900" dirty="0"/>
          </a:p>
        </p:txBody>
      </p:sp>
      <p:sp>
        <p:nvSpPr>
          <p:cNvPr id="52" name="Text 50"/>
          <p:cNvSpPr/>
          <p:nvPr/>
        </p:nvSpPr>
        <p:spPr>
          <a:xfrm>
            <a:off x="5029200" y="3785616"/>
            <a:ext cx="1280160" cy="292608"/>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Collectively Exhaustive: </a:t>
            </a:r>
            <a:endParaRPr lang="en-US" sz="1000" dirty="0"/>
          </a:p>
        </p:txBody>
      </p:sp>
      <p:sp>
        <p:nvSpPr>
          <p:cNvPr id="53" name="Text 51"/>
          <p:cNvSpPr/>
          <p:nvPr/>
        </p:nvSpPr>
        <p:spPr>
          <a:xfrm>
            <a:off x="6355080" y="3785616"/>
            <a:ext cx="2487168" cy="29260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All possible answers must be covered</a:t>
            </a:r>
            <a:endParaRPr lang="en-US" sz="950" dirty="0"/>
          </a:p>
        </p:txBody>
      </p:sp>
      <p:sp>
        <p:nvSpPr>
          <p:cNvPr id="54" name="Shape 52"/>
          <p:cNvSpPr/>
          <p:nvPr/>
        </p:nvSpPr>
        <p:spPr>
          <a:xfrm>
            <a:off x="4663440" y="4279392"/>
            <a:ext cx="292608" cy="292608"/>
          </a:xfrm>
          <a:prstGeom prst="ellipse">
            <a:avLst/>
          </a:prstGeom>
          <a:solidFill>
            <a:srgbClr val="1A3562"/>
          </a:solidFill>
          <a:ln w="12700">
            <a:solidFill>
              <a:srgbClr val="1A3562"/>
            </a:solidFill>
            <a:prstDash val="solid"/>
          </a:ln>
        </p:spPr>
      </p:sp>
      <p:sp>
        <p:nvSpPr>
          <p:cNvPr id="55" name="Text 53"/>
          <p:cNvSpPr/>
          <p:nvPr/>
        </p:nvSpPr>
        <p:spPr>
          <a:xfrm>
            <a:off x="4663440" y="4279392"/>
            <a:ext cx="292608" cy="292608"/>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7</a:t>
            </a:r>
            <a:endParaRPr lang="en-US" sz="900" dirty="0"/>
          </a:p>
        </p:txBody>
      </p:sp>
      <p:sp>
        <p:nvSpPr>
          <p:cNvPr id="56" name="Text 54"/>
          <p:cNvSpPr/>
          <p:nvPr/>
        </p:nvSpPr>
        <p:spPr>
          <a:xfrm>
            <a:off x="5029200" y="4261104"/>
            <a:ext cx="1280160" cy="292608"/>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Logical Grouping: </a:t>
            </a:r>
            <a:endParaRPr lang="en-US" sz="1000" dirty="0"/>
          </a:p>
        </p:txBody>
      </p:sp>
      <p:sp>
        <p:nvSpPr>
          <p:cNvPr id="57" name="Text 55"/>
          <p:cNvSpPr/>
          <p:nvPr/>
        </p:nvSpPr>
        <p:spPr>
          <a:xfrm>
            <a:off x="6355080" y="4261104"/>
            <a:ext cx="2487168" cy="29260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Related questions in coherent sections</a:t>
            </a:r>
            <a:endParaRPr lang="en-US" sz="950" dirty="0"/>
          </a:p>
        </p:txBody>
      </p:sp>
      <p:sp>
        <p:nvSpPr>
          <p:cNvPr id="58" name="Shape 56"/>
          <p:cNvSpPr/>
          <p:nvPr/>
        </p:nvSpPr>
        <p:spPr>
          <a:xfrm>
            <a:off x="4663440" y="4754880"/>
            <a:ext cx="292608" cy="292608"/>
          </a:xfrm>
          <a:prstGeom prst="ellipse">
            <a:avLst/>
          </a:prstGeom>
          <a:solidFill>
            <a:srgbClr val="1A3562"/>
          </a:solidFill>
          <a:ln w="12700">
            <a:solidFill>
              <a:srgbClr val="1A3562"/>
            </a:solidFill>
            <a:prstDash val="solid"/>
          </a:ln>
        </p:spPr>
      </p:sp>
      <p:sp>
        <p:nvSpPr>
          <p:cNvPr id="59" name="Text 57"/>
          <p:cNvSpPr/>
          <p:nvPr/>
        </p:nvSpPr>
        <p:spPr>
          <a:xfrm>
            <a:off x="4663440" y="4754880"/>
            <a:ext cx="292608" cy="292608"/>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8</a:t>
            </a:r>
            <a:endParaRPr lang="en-US" sz="900" dirty="0"/>
          </a:p>
        </p:txBody>
      </p:sp>
      <p:sp>
        <p:nvSpPr>
          <p:cNvPr id="60" name="Text 58"/>
          <p:cNvSpPr/>
          <p:nvPr/>
        </p:nvSpPr>
        <p:spPr>
          <a:xfrm>
            <a:off x="5029200" y="4736592"/>
            <a:ext cx="1280160" cy="292608"/>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Pilot Test: </a:t>
            </a:r>
            <a:endParaRPr lang="en-US" sz="1000" dirty="0"/>
          </a:p>
        </p:txBody>
      </p:sp>
      <p:sp>
        <p:nvSpPr>
          <p:cNvPr id="61" name="Text 59"/>
          <p:cNvSpPr/>
          <p:nvPr/>
        </p:nvSpPr>
        <p:spPr>
          <a:xfrm>
            <a:off x="6355080" y="4736592"/>
            <a:ext cx="2487168" cy="292608"/>
          </a:xfrm>
          <a:prstGeom prst="rect">
            <a:avLst/>
          </a:prstGeom>
          <a:noFill/>
          <a:ln/>
        </p:spPr>
        <p:txBody>
          <a:bodyPr wrap="square" lIns="0" tIns="0" rIns="0" bIns="0" rtlCol="0" anchor="ctr"/>
          <a:lstStyle/>
          <a:p>
            <a:pPr indent="0" marL="0">
              <a:buNone/>
            </a:pPr>
            <a:r>
              <a:rPr lang="en-US" sz="950" dirty="0">
                <a:solidFill>
                  <a:srgbClr val="64748B"/>
                </a:solidFill>
                <a:latin typeface="Calibri" pitchFamily="34" charset="0"/>
                <a:ea typeface="Calibri" pitchFamily="34" charset="-122"/>
                <a:cs typeface="Calibri" pitchFamily="34" charset="-120"/>
              </a:rPr>
              <a:t>Test with 5-10 representative respondents first</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F1E3C"/>
          </a:solidFill>
          <a:ln w="12700">
            <a:solidFill>
              <a:srgbClr val="0F1E3C"/>
            </a:solidFill>
            <a:prstDash val="solid"/>
          </a:ln>
        </p:spPr>
      </p:sp>
      <p:sp>
        <p:nvSpPr>
          <p:cNvPr id="3" name="Text 1"/>
          <p:cNvSpPr/>
          <p:nvPr/>
        </p:nvSpPr>
        <p:spPr>
          <a:xfrm>
            <a:off x="457200" y="109728"/>
            <a:ext cx="8229600" cy="713232"/>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Common Questionnaire Pitfalls and the Likert Scale in Depth</a:t>
            </a:r>
            <a:endParaRPr lang="en-US" sz="2300" dirty="0"/>
          </a:p>
        </p:txBody>
      </p:sp>
      <p:sp>
        <p:nvSpPr>
          <p:cNvPr id="4" name="Shape 2"/>
          <p:cNvSpPr/>
          <p:nvPr/>
        </p:nvSpPr>
        <p:spPr>
          <a:xfrm>
            <a:off x="274320" y="1051560"/>
            <a:ext cx="8595360" cy="1170432"/>
          </a:xfrm>
          <a:prstGeom prst="roundRect">
            <a:avLst>
              <a:gd name="adj" fmla="val 6250"/>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47472" y="1143000"/>
            <a:ext cx="1298448" cy="274320"/>
          </a:xfrm>
          <a:prstGeom prst="roundRect">
            <a:avLst>
              <a:gd name="adj" fmla="val 16667"/>
            </a:avLst>
          </a:prstGeom>
          <a:solidFill>
            <a:srgbClr val="C0392B"/>
          </a:solidFill>
          <a:ln w="12700">
            <a:solidFill>
              <a:srgbClr val="C0392B"/>
            </a:solidFill>
            <a:prstDash val="solid"/>
          </a:ln>
        </p:spPr>
      </p:sp>
      <p:sp>
        <p:nvSpPr>
          <p:cNvPr id="6" name="Text 4"/>
          <p:cNvSpPr/>
          <p:nvPr/>
        </p:nvSpPr>
        <p:spPr>
          <a:xfrm>
            <a:off x="347472" y="1143000"/>
            <a:ext cx="129844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DOUBLE-BARRELLED</a:t>
            </a:r>
            <a:endParaRPr lang="en-US" sz="850" dirty="0"/>
          </a:p>
        </p:txBody>
      </p:sp>
      <p:sp>
        <p:nvSpPr>
          <p:cNvPr id="7" name="Text 5"/>
          <p:cNvSpPr/>
          <p:nvPr/>
        </p:nvSpPr>
        <p:spPr>
          <a:xfrm>
            <a:off x="1737360" y="1124712"/>
            <a:ext cx="7022592" cy="310896"/>
          </a:xfrm>
          <a:prstGeom prst="rect">
            <a:avLst/>
          </a:prstGeom>
          <a:noFill/>
          <a:ln/>
        </p:spPr>
        <p:txBody>
          <a:bodyPr wrap="square" lIns="0" tIns="0" rIns="0" bIns="0" rtlCol="0" anchor="ctr"/>
          <a:lstStyle/>
          <a:p>
            <a:pPr indent="0" marL="0">
              <a:buNone/>
            </a:pPr>
            <a:r>
              <a:rPr lang="en-US" sz="1000" b="1" dirty="0">
                <a:solidFill>
                  <a:srgbClr val="C0392B"/>
                </a:solidFill>
                <a:latin typeface="Calibri" pitchFamily="34" charset="0"/>
                <a:ea typeface="Calibri" pitchFamily="34" charset="-122"/>
                <a:cs typeface="Calibri" pitchFamily="34" charset="-120"/>
              </a:rPr>
              <a:t>BAD: </a:t>
            </a:r>
            <a:pPr indent="0" marL="0">
              <a:buNone/>
            </a:pPr>
            <a:r>
              <a:rPr lang="en-US" sz="1000" i="1" dirty="0">
                <a:solidFill>
                  <a:srgbClr val="2C3E50"/>
                </a:solidFill>
                <a:latin typeface="Calibri" pitchFamily="34" charset="0"/>
                <a:ea typeface="Calibri" pitchFamily="34" charset="-122"/>
                <a:cs typeface="Calibri" pitchFamily="34" charset="-120"/>
              </a:rPr>
              <a:t>How satisfied are you with UAC Foods product quality AND pricing?</a:t>
            </a:r>
            <a:endParaRPr lang="en-US" sz="1000" dirty="0"/>
          </a:p>
        </p:txBody>
      </p:sp>
      <p:sp>
        <p:nvSpPr>
          <p:cNvPr id="8" name="Text 6"/>
          <p:cNvSpPr/>
          <p:nvPr/>
        </p:nvSpPr>
        <p:spPr>
          <a:xfrm>
            <a:off x="365760" y="1490472"/>
            <a:ext cx="8339328" cy="402336"/>
          </a:xfrm>
          <a:prstGeom prst="rect">
            <a:avLst/>
          </a:prstGeom>
          <a:noFill/>
          <a:ln/>
        </p:spPr>
        <p:txBody>
          <a:bodyPr wrap="square" lIns="0" tIns="0" rIns="0" bIns="0" rtlCol="0" anchor="ctr"/>
          <a:lstStyle/>
          <a:p>
            <a:pPr indent="0" marL="0">
              <a:buNone/>
            </a:pPr>
            <a:r>
              <a:rPr lang="en-US" sz="950" b="1" dirty="0">
                <a:solidFill>
                  <a:srgbClr val="1A7A4A"/>
                </a:solidFill>
                <a:latin typeface="Calibri" pitchFamily="34" charset="0"/>
                <a:ea typeface="Calibri" pitchFamily="34" charset="-122"/>
                <a:cs typeface="Calibri" pitchFamily="34" charset="-120"/>
              </a:rPr>
              <a:t>FIX: </a:t>
            </a:r>
            <a:pPr indent="0" marL="0">
              <a:buNone/>
            </a:pPr>
            <a:r>
              <a:rPr lang="en-US" sz="950" dirty="0">
                <a:solidFill>
                  <a:srgbClr val="2C3E50"/>
                </a:solidFill>
                <a:latin typeface="Calibri" pitchFamily="34" charset="0"/>
                <a:ea typeface="Calibri" pitchFamily="34" charset="-122"/>
                <a:cs typeface="Calibri" pitchFamily="34" charset="-120"/>
              </a:rPr>
              <a:t>Split into two separate questions: (1) How satisfied are you with product quality? (2) How satisfied are you with product pricing?</a:t>
            </a:r>
            <a:endParaRPr lang="en-US" sz="950" dirty="0"/>
          </a:p>
        </p:txBody>
      </p:sp>
      <p:sp>
        <p:nvSpPr>
          <p:cNvPr id="9" name="Text 7"/>
          <p:cNvSpPr/>
          <p:nvPr/>
        </p:nvSpPr>
        <p:spPr>
          <a:xfrm>
            <a:off x="365760" y="1911096"/>
            <a:ext cx="8339328" cy="256032"/>
          </a:xfrm>
          <a:prstGeom prst="rect">
            <a:avLst/>
          </a:prstGeom>
          <a:noFill/>
          <a:ln/>
        </p:spPr>
        <p:txBody>
          <a:bodyPr wrap="square" lIns="0" tIns="0" rIns="0" bIns="0" rtlCol="0" anchor="ctr"/>
          <a:lstStyle/>
          <a:p>
            <a:pPr indent="0" marL="0">
              <a:buNone/>
            </a:pPr>
            <a:r>
              <a:rPr lang="en-US" sz="900" b="1" dirty="0">
                <a:solidFill>
                  <a:srgbClr val="1B5CA0"/>
                </a:solidFill>
                <a:latin typeface="Calibri" pitchFamily="34" charset="0"/>
                <a:ea typeface="Calibri" pitchFamily="34" charset="-122"/>
                <a:cs typeface="Calibri" pitchFamily="34" charset="-120"/>
              </a:rPr>
              <a:t>WHY: </a:t>
            </a:r>
            <a:pPr indent="0" marL="0">
              <a:buNone/>
            </a:pPr>
            <a:r>
              <a:rPr lang="en-US" sz="900" i="1" dirty="0">
                <a:solidFill>
                  <a:srgbClr val="64748B"/>
                </a:solidFill>
                <a:latin typeface="Calibri" pitchFamily="34" charset="0"/>
                <a:ea typeface="Calibri" pitchFamily="34" charset="-122"/>
                <a:cs typeface="Calibri" pitchFamily="34" charset="-120"/>
              </a:rPr>
              <a:t>Respondent may feel differently about quality vs. pricing - one answer cannot capture both attitudes</a:t>
            </a:r>
            <a:endParaRPr lang="en-US" sz="900" dirty="0"/>
          </a:p>
        </p:txBody>
      </p:sp>
      <p:sp>
        <p:nvSpPr>
          <p:cNvPr id="10" name="Shape 8"/>
          <p:cNvSpPr/>
          <p:nvPr/>
        </p:nvSpPr>
        <p:spPr>
          <a:xfrm>
            <a:off x="274320" y="2313432"/>
            <a:ext cx="8595360" cy="1170432"/>
          </a:xfrm>
          <a:prstGeom prst="roundRect">
            <a:avLst>
              <a:gd name="adj" fmla="val 6250"/>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1" name="Shape 9"/>
          <p:cNvSpPr/>
          <p:nvPr/>
        </p:nvSpPr>
        <p:spPr>
          <a:xfrm>
            <a:off x="347472" y="2404872"/>
            <a:ext cx="1298448" cy="274320"/>
          </a:xfrm>
          <a:prstGeom prst="roundRect">
            <a:avLst>
              <a:gd name="adj" fmla="val 16667"/>
            </a:avLst>
          </a:prstGeom>
          <a:solidFill>
            <a:srgbClr val="E67E22"/>
          </a:solidFill>
          <a:ln w="12700">
            <a:solidFill>
              <a:srgbClr val="E67E22"/>
            </a:solidFill>
            <a:prstDash val="solid"/>
          </a:ln>
        </p:spPr>
      </p:sp>
      <p:sp>
        <p:nvSpPr>
          <p:cNvPr id="12" name="Text 10"/>
          <p:cNvSpPr/>
          <p:nvPr/>
        </p:nvSpPr>
        <p:spPr>
          <a:xfrm>
            <a:off x="347472" y="2404872"/>
            <a:ext cx="129844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LEADING QUESTION</a:t>
            </a:r>
            <a:endParaRPr lang="en-US" sz="850" dirty="0"/>
          </a:p>
        </p:txBody>
      </p:sp>
      <p:sp>
        <p:nvSpPr>
          <p:cNvPr id="13" name="Text 11"/>
          <p:cNvSpPr/>
          <p:nvPr/>
        </p:nvSpPr>
        <p:spPr>
          <a:xfrm>
            <a:off x="1737360" y="2386584"/>
            <a:ext cx="7022592" cy="310896"/>
          </a:xfrm>
          <a:prstGeom prst="rect">
            <a:avLst/>
          </a:prstGeom>
          <a:noFill/>
          <a:ln/>
        </p:spPr>
        <p:txBody>
          <a:bodyPr wrap="square" lIns="0" tIns="0" rIns="0" bIns="0" rtlCol="0" anchor="ctr"/>
          <a:lstStyle/>
          <a:p>
            <a:pPr indent="0" marL="0">
              <a:buNone/>
            </a:pPr>
            <a:r>
              <a:rPr lang="en-US" sz="1000" b="1" dirty="0">
                <a:solidFill>
                  <a:srgbClr val="C0392B"/>
                </a:solidFill>
                <a:latin typeface="Calibri" pitchFamily="34" charset="0"/>
                <a:ea typeface="Calibri" pitchFamily="34" charset="-122"/>
                <a:cs typeface="Calibri" pitchFamily="34" charset="-120"/>
              </a:rPr>
              <a:t>BAD: </a:t>
            </a:r>
            <a:pPr indent="0" marL="0">
              <a:buNone/>
            </a:pPr>
            <a:r>
              <a:rPr lang="en-US" sz="1000" i="1" dirty="0">
                <a:solidFill>
                  <a:srgbClr val="2C3E50"/>
                </a:solidFill>
                <a:latin typeface="Calibri" pitchFamily="34" charset="0"/>
                <a:ea typeface="Calibri" pitchFamily="34" charset="-122"/>
                <a:cs typeface="Calibri" pitchFamily="34" charset="-120"/>
              </a:rPr>
              <a:t>Don't you think UAC Foods biscuits are better than competitor brands?</a:t>
            </a:r>
            <a:endParaRPr lang="en-US" sz="1000" dirty="0"/>
          </a:p>
        </p:txBody>
      </p:sp>
      <p:sp>
        <p:nvSpPr>
          <p:cNvPr id="14" name="Text 12"/>
          <p:cNvSpPr/>
          <p:nvPr/>
        </p:nvSpPr>
        <p:spPr>
          <a:xfrm>
            <a:off x="365760" y="2752344"/>
            <a:ext cx="8339328" cy="402336"/>
          </a:xfrm>
          <a:prstGeom prst="rect">
            <a:avLst/>
          </a:prstGeom>
          <a:noFill/>
          <a:ln/>
        </p:spPr>
        <p:txBody>
          <a:bodyPr wrap="square" lIns="0" tIns="0" rIns="0" bIns="0" rtlCol="0" anchor="ctr"/>
          <a:lstStyle/>
          <a:p>
            <a:pPr indent="0" marL="0">
              <a:buNone/>
            </a:pPr>
            <a:r>
              <a:rPr lang="en-US" sz="950" b="1" dirty="0">
                <a:solidFill>
                  <a:srgbClr val="1A7A4A"/>
                </a:solidFill>
                <a:latin typeface="Calibri" pitchFamily="34" charset="0"/>
                <a:ea typeface="Calibri" pitchFamily="34" charset="-122"/>
                <a:cs typeface="Calibri" pitchFamily="34" charset="-120"/>
              </a:rPr>
              <a:t>FIX: </a:t>
            </a:r>
            <a:pPr indent="0" marL="0">
              <a:buNone/>
            </a:pPr>
            <a:r>
              <a:rPr lang="en-US" sz="950" dirty="0">
                <a:solidFill>
                  <a:srgbClr val="2C3E50"/>
                </a:solidFill>
                <a:latin typeface="Calibri" pitchFamily="34" charset="0"/>
                <a:ea typeface="Calibri" pitchFamily="34" charset="-122"/>
                <a:cs typeface="Calibri" pitchFamily="34" charset="-120"/>
              </a:rPr>
              <a:t>How do UAC Foods biscuits compare to other brands you have tried? (Much better / Better / Same / Worse / Much worse)</a:t>
            </a:r>
            <a:endParaRPr lang="en-US" sz="950" dirty="0"/>
          </a:p>
        </p:txBody>
      </p:sp>
      <p:sp>
        <p:nvSpPr>
          <p:cNvPr id="15" name="Text 13"/>
          <p:cNvSpPr/>
          <p:nvPr/>
        </p:nvSpPr>
        <p:spPr>
          <a:xfrm>
            <a:off x="365760" y="3172968"/>
            <a:ext cx="8339328" cy="256032"/>
          </a:xfrm>
          <a:prstGeom prst="rect">
            <a:avLst/>
          </a:prstGeom>
          <a:noFill/>
          <a:ln/>
        </p:spPr>
        <p:txBody>
          <a:bodyPr wrap="square" lIns="0" tIns="0" rIns="0" bIns="0" rtlCol="0" anchor="ctr"/>
          <a:lstStyle/>
          <a:p>
            <a:pPr indent="0" marL="0">
              <a:buNone/>
            </a:pPr>
            <a:r>
              <a:rPr lang="en-US" sz="900" b="1" dirty="0">
                <a:solidFill>
                  <a:srgbClr val="1B5CA0"/>
                </a:solidFill>
                <a:latin typeface="Calibri" pitchFamily="34" charset="0"/>
                <a:ea typeface="Calibri" pitchFamily="34" charset="-122"/>
                <a:cs typeface="Calibri" pitchFamily="34" charset="-120"/>
              </a:rPr>
              <a:t>WHY: </a:t>
            </a:r>
            <a:pPr indent="0" marL="0">
              <a:buNone/>
            </a:pPr>
            <a:r>
              <a:rPr lang="en-US" sz="900" i="1" dirty="0">
                <a:solidFill>
                  <a:srgbClr val="64748B"/>
                </a:solidFill>
                <a:latin typeface="Calibri" pitchFamily="34" charset="0"/>
                <a:ea typeface="Calibri" pitchFamily="34" charset="-122"/>
                <a:cs typeface="Calibri" pitchFamily="34" charset="-120"/>
              </a:rPr>
              <a:t>Leading questions prime the respondent toward a specific answer, creating response bias</a:t>
            </a:r>
            <a:endParaRPr lang="en-US" sz="900" dirty="0"/>
          </a:p>
        </p:txBody>
      </p:sp>
      <p:sp>
        <p:nvSpPr>
          <p:cNvPr id="16" name="Shape 14"/>
          <p:cNvSpPr/>
          <p:nvPr/>
        </p:nvSpPr>
        <p:spPr>
          <a:xfrm>
            <a:off x="274320" y="3575304"/>
            <a:ext cx="8595360" cy="1170432"/>
          </a:xfrm>
          <a:prstGeom prst="roundRect">
            <a:avLst>
              <a:gd name="adj" fmla="val 6250"/>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47472" y="3666744"/>
            <a:ext cx="1298448" cy="274320"/>
          </a:xfrm>
          <a:prstGeom prst="roundRect">
            <a:avLst>
              <a:gd name="adj" fmla="val 16667"/>
            </a:avLst>
          </a:prstGeom>
          <a:solidFill>
            <a:srgbClr val="5B2D8E"/>
          </a:solidFill>
          <a:ln w="12700">
            <a:solidFill>
              <a:srgbClr val="5B2D8E"/>
            </a:solidFill>
            <a:prstDash val="solid"/>
          </a:ln>
        </p:spPr>
      </p:sp>
      <p:sp>
        <p:nvSpPr>
          <p:cNvPr id="18" name="Text 16"/>
          <p:cNvSpPr/>
          <p:nvPr/>
        </p:nvSpPr>
        <p:spPr>
          <a:xfrm>
            <a:off x="347472" y="3666744"/>
            <a:ext cx="1298448" cy="27432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AMBIGUOUS QUESTION</a:t>
            </a:r>
            <a:endParaRPr lang="en-US" sz="850" dirty="0"/>
          </a:p>
        </p:txBody>
      </p:sp>
      <p:sp>
        <p:nvSpPr>
          <p:cNvPr id="19" name="Text 17"/>
          <p:cNvSpPr/>
          <p:nvPr/>
        </p:nvSpPr>
        <p:spPr>
          <a:xfrm>
            <a:off x="1737360" y="3648456"/>
            <a:ext cx="7022592" cy="310896"/>
          </a:xfrm>
          <a:prstGeom prst="rect">
            <a:avLst/>
          </a:prstGeom>
          <a:noFill/>
          <a:ln/>
        </p:spPr>
        <p:txBody>
          <a:bodyPr wrap="square" lIns="0" tIns="0" rIns="0" bIns="0" rtlCol="0" anchor="ctr"/>
          <a:lstStyle/>
          <a:p>
            <a:pPr indent="0" marL="0">
              <a:buNone/>
            </a:pPr>
            <a:r>
              <a:rPr lang="en-US" sz="1000" b="1" dirty="0">
                <a:solidFill>
                  <a:srgbClr val="C0392B"/>
                </a:solidFill>
                <a:latin typeface="Calibri" pitchFamily="34" charset="0"/>
                <a:ea typeface="Calibri" pitchFamily="34" charset="-122"/>
                <a:cs typeface="Calibri" pitchFamily="34" charset="-120"/>
              </a:rPr>
              <a:t>BAD: </a:t>
            </a:r>
            <a:pPr indent="0" marL="0">
              <a:buNone/>
            </a:pPr>
            <a:r>
              <a:rPr lang="en-US" sz="1000" i="1" dirty="0">
                <a:solidFill>
                  <a:srgbClr val="2C3E50"/>
                </a:solidFill>
                <a:latin typeface="Calibri" pitchFamily="34" charset="0"/>
                <a:ea typeface="Calibri" pitchFamily="34" charset="-122"/>
                <a:cs typeface="Calibri" pitchFamily="34" charset="-120"/>
              </a:rPr>
              <a:t>How often do you buy UAC products? (Frequently / Sometimes / Rarely)</a:t>
            </a:r>
            <a:endParaRPr lang="en-US" sz="1000" dirty="0"/>
          </a:p>
        </p:txBody>
      </p:sp>
      <p:sp>
        <p:nvSpPr>
          <p:cNvPr id="20" name="Text 18"/>
          <p:cNvSpPr/>
          <p:nvPr/>
        </p:nvSpPr>
        <p:spPr>
          <a:xfrm>
            <a:off x="365760" y="4014216"/>
            <a:ext cx="8339328" cy="402336"/>
          </a:xfrm>
          <a:prstGeom prst="rect">
            <a:avLst/>
          </a:prstGeom>
          <a:noFill/>
          <a:ln/>
        </p:spPr>
        <p:txBody>
          <a:bodyPr wrap="square" lIns="0" tIns="0" rIns="0" bIns="0" rtlCol="0" anchor="ctr"/>
          <a:lstStyle/>
          <a:p>
            <a:pPr indent="0" marL="0">
              <a:buNone/>
            </a:pPr>
            <a:r>
              <a:rPr lang="en-US" sz="950" b="1" dirty="0">
                <a:solidFill>
                  <a:srgbClr val="1A7A4A"/>
                </a:solidFill>
                <a:latin typeface="Calibri" pitchFamily="34" charset="0"/>
                <a:ea typeface="Calibri" pitchFamily="34" charset="-122"/>
                <a:cs typeface="Calibri" pitchFamily="34" charset="-120"/>
              </a:rPr>
              <a:t>FIX: </a:t>
            </a:r>
            <a:pPr indent="0" marL="0">
              <a:buNone/>
            </a:pPr>
            <a:r>
              <a:rPr lang="en-US" sz="950" dirty="0">
                <a:solidFill>
                  <a:srgbClr val="2C3E50"/>
                </a:solidFill>
                <a:latin typeface="Calibri" pitchFamily="34" charset="0"/>
                <a:ea typeface="Calibri" pitchFamily="34" charset="-122"/>
                <a:cs typeface="Calibri" pitchFamily="34" charset="-120"/>
              </a:rPr>
              <a:t>How often do you purchase UAC Foods products? Daily / Weekly / Monthly / Every 2-3 months / Less than quarterly</a:t>
            </a:r>
            <a:endParaRPr lang="en-US" sz="950" dirty="0"/>
          </a:p>
        </p:txBody>
      </p:sp>
      <p:sp>
        <p:nvSpPr>
          <p:cNvPr id="21" name="Text 19"/>
          <p:cNvSpPr/>
          <p:nvPr/>
        </p:nvSpPr>
        <p:spPr>
          <a:xfrm>
            <a:off x="365760" y="4434840"/>
            <a:ext cx="8339328" cy="256032"/>
          </a:xfrm>
          <a:prstGeom prst="rect">
            <a:avLst/>
          </a:prstGeom>
          <a:noFill/>
          <a:ln/>
        </p:spPr>
        <p:txBody>
          <a:bodyPr wrap="square" lIns="0" tIns="0" rIns="0" bIns="0" rtlCol="0" anchor="ctr"/>
          <a:lstStyle/>
          <a:p>
            <a:pPr indent="0" marL="0">
              <a:buNone/>
            </a:pPr>
            <a:r>
              <a:rPr lang="en-US" sz="900" b="1" dirty="0">
                <a:solidFill>
                  <a:srgbClr val="1B5CA0"/>
                </a:solidFill>
                <a:latin typeface="Calibri" pitchFamily="34" charset="0"/>
                <a:ea typeface="Calibri" pitchFamily="34" charset="-122"/>
                <a:cs typeface="Calibri" pitchFamily="34" charset="-120"/>
              </a:rPr>
              <a:t>WHY: </a:t>
            </a:r>
            <a:pPr indent="0" marL="0">
              <a:buNone/>
            </a:pPr>
            <a:r>
              <a:rPr lang="en-US" sz="900" i="1" dirty="0">
                <a:solidFill>
                  <a:srgbClr val="64748B"/>
                </a:solidFill>
                <a:latin typeface="Calibri" pitchFamily="34" charset="0"/>
                <a:ea typeface="Calibri" pitchFamily="34" charset="-122"/>
                <a:cs typeface="Calibri" pitchFamily="34" charset="-120"/>
              </a:rPr>
              <a:t>Frequency is relative - 'frequently' means something different to each respondent</a:t>
            </a:r>
            <a:endParaRPr lang="en-US" sz="900" dirty="0"/>
          </a:p>
        </p:txBody>
      </p:sp>
      <p:sp>
        <p:nvSpPr>
          <p:cNvPr id="22" name="Text 20"/>
          <p:cNvSpPr/>
          <p:nvPr/>
        </p:nvSpPr>
        <p:spPr>
          <a:xfrm>
            <a:off x="274320" y="4828032"/>
            <a:ext cx="4114800" cy="256032"/>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Likert Scale in SPSS - Critical Points:</a:t>
            </a:r>
            <a:endParaRPr lang="en-US" sz="1000" dirty="0"/>
          </a:p>
        </p:txBody>
      </p:sp>
      <p:sp>
        <p:nvSpPr>
          <p:cNvPr id="23" name="Text 21"/>
          <p:cNvSpPr/>
          <p:nvPr/>
        </p:nvSpPr>
        <p:spPr>
          <a:xfrm>
            <a:off x="274320" y="4828032"/>
            <a:ext cx="8686800" cy="256032"/>
          </a:xfrm>
          <a:prstGeom prst="rect">
            <a:avLst/>
          </a:prstGeom>
          <a:noFill/>
          <a:ln/>
        </p:spPr>
        <p:txBody>
          <a:bodyPr wrap="square" lIns="0" tIns="0" rIns="0" bIns="0" rtlCol="0" anchor="ctr"/>
          <a:lstStyle/>
          <a:p>
            <a:pPr indent="0" marL="0">
              <a:buNone/>
            </a:pPr>
            <a:r>
              <a:rPr lang="en-US" sz="950" dirty="0">
                <a:solidFill>
                  <a:srgbClr val="0F1E3C"/>
                </a:solidFill>
                <a:latin typeface="Calibri" pitchFamily="34" charset="0"/>
                <a:ea typeface="Calibri" pitchFamily="34" charset="-122"/>
                <a:cs typeface="Calibri" pitchFamily="34" charset="-120"/>
              </a:rPr>
              <a:t>Set Measure = ORDINAL for Likert items individually. Use Scale ONLY for computed total/mean scores.</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562"/>
          </a:solidFill>
          <a:ln w="12700">
            <a:solidFill>
              <a:srgbClr val="1A3562"/>
            </a:solidFill>
            <a:prstDash val="solid"/>
          </a:ln>
        </p:spPr>
      </p:sp>
      <p:sp>
        <p:nvSpPr>
          <p:cNvPr id="3" name="Text 1"/>
          <p:cNvSpPr/>
          <p:nvPr/>
        </p:nvSpPr>
        <p:spPr>
          <a:xfrm>
            <a:off x="457200" y="109728"/>
            <a:ext cx="8229600" cy="713232"/>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FGD Guide Design and KII Guide Design</a:t>
            </a:r>
            <a:endParaRPr lang="en-US" sz="2400" dirty="0"/>
          </a:p>
        </p:txBody>
      </p:sp>
      <p:sp>
        <p:nvSpPr>
          <p:cNvPr id="4" name="Shape 2"/>
          <p:cNvSpPr/>
          <p:nvPr/>
        </p:nvSpPr>
        <p:spPr>
          <a:xfrm>
            <a:off x="274320" y="1051560"/>
            <a:ext cx="4160520" cy="3886200"/>
          </a:xfrm>
          <a:prstGeom prst="roundRect">
            <a:avLst>
              <a:gd name="adj" fmla="val 2118"/>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47472" y="1115568"/>
            <a:ext cx="4005072" cy="347472"/>
          </a:xfrm>
          <a:prstGeom prst="roundRect">
            <a:avLst>
              <a:gd name="adj" fmla="val 15789"/>
            </a:avLst>
          </a:prstGeom>
          <a:solidFill>
            <a:srgbClr val="1B5CA0"/>
          </a:solidFill>
          <a:ln w="12700">
            <a:solidFill>
              <a:srgbClr val="1B5CA0"/>
            </a:solidFill>
            <a:prstDash val="solid"/>
          </a:ln>
        </p:spPr>
      </p:sp>
      <p:sp>
        <p:nvSpPr>
          <p:cNvPr id="6" name="Text 4"/>
          <p:cNvSpPr/>
          <p:nvPr/>
        </p:nvSpPr>
        <p:spPr>
          <a:xfrm>
            <a:off x="347472" y="1115568"/>
            <a:ext cx="40050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FOCUS GROUP DISCUSSION (FGD)</a:t>
            </a:r>
            <a:endParaRPr lang="en-US" sz="1200" dirty="0"/>
          </a:p>
        </p:txBody>
      </p:sp>
      <p:sp>
        <p:nvSpPr>
          <p:cNvPr id="7" name="Text 5"/>
          <p:cNvSpPr/>
          <p:nvPr/>
        </p:nvSpPr>
        <p:spPr>
          <a:xfrm>
            <a:off x="384048" y="1572768"/>
            <a:ext cx="1234440" cy="329184"/>
          </a:xfrm>
          <a:prstGeom prst="rect">
            <a:avLst/>
          </a:prstGeom>
          <a:noFill/>
          <a:ln/>
        </p:spPr>
        <p:txBody>
          <a:bodyPr wrap="square" lIns="0" tIns="0" rIns="0" bIns="0" rtlCol="0" anchor="ctr"/>
          <a:lstStyle/>
          <a:p>
            <a:pPr indent="0" marL="0">
              <a:buNone/>
            </a:pPr>
            <a:r>
              <a:rPr lang="en-US" sz="1000" b="1" dirty="0">
                <a:solidFill>
                  <a:srgbClr val="1B5CA0"/>
                </a:solidFill>
                <a:latin typeface="Calibri" pitchFamily="34" charset="0"/>
                <a:ea typeface="Calibri" pitchFamily="34" charset="-122"/>
                <a:cs typeface="Calibri" pitchFamily="34" charset="-120"/>
              </a:rPr>
              <a:t>Group Size: </a:t>
            </a:r>
            <a:endParaRPr lang="en-US" sz="1000" dirty="0"/>
          </a:p>
        </p:txBody>
      </p:sp>
      <p:sp>
        <p:nvSpPr>
          <p:cNvPr id="8" name="Text 6"/>
          <p:cNvSpPr/>
          <p:nvPr/>
        </p:nvSpPr>
        <p:spPr>
          <a:xfrm>
            <a:off x="1664208" y="1572768"/>
            <a:ext cx="2697480" cy="329184"/>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6 to 12 participants per session</a:t>
            </a:r>
            <a:endParaRPr lang="en-US" sz="1000" dirty="0"/>
          </a:p>
        </p:txBody>
      </p:sp>
      <p:sp>
        <p:nvSpPr>
          <p:cNvPr id="9" name="Text 7"/>
          <p:cNvSpPr/>
          <p:nvPr/>
        </p:nvSpPr>
        <p:spPr>
          <a:xfrm>
            <a:off x="384048" y="1956816"/>
            <a:ext cx="1234440" cy="329184"/>
          </a:xfrm>
          <a:prstGeom prst="rect">
            <a:avLst/>
          </a:prstGeom>
          <a:noFill/>
          <a:ln/>
        </p:spPr>
        <p:txBody>
          <a:bodyPr wrap="square" lIns="0" tIns="0" rIns="0" bIns="0" rtlCol="0" anchor="ctr"/>
          <a:lstStyle/>
          <a:p>
            <a:pPr indent="0" marL="0">
              <a:buNone/>
            </a:pPr>
            <a:r>
              <a:rPr lang="en-US" sz="1000" b="1" dirty="0">
                <a:solidFill>
                  <a:srgbClr val="1B5CA0"/>
                </a:solidFill>
                <a:latin typeface="Calibri" pitchFamily="34" charset="0"/>
                <a:ea typeface="Calibri" pitchFamily="34" charset="-122"/>
                <a:cs typeface="Calibri" pitchFamily="34" charset="-120"/>
              </a:rPr>
              <a:t>Duration: </a:t>
            </a:r>
            <a:endParaRPr lang="en-US" sz="1000" dirty="0"/>
          </a:p>
        </p:txBody>
      </p:sp>
      <p:sp>
        <p:nvSpPr>
          <p:cNvPr id="10" name="Text 8"/>
          <p:cNvSpPr/>
          <p:nvPr/>
        </p:nvSpPr>
        <p:spPr>
          <a:xfrm>
            <a:off x="1664208" y="1956816"/>
            <a:ext cx="2697480" cy="329184"/>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60 to 90 minutes per group</a:t>
            </a:r>
            <a:endParaRPr lang="en-US" sz="1000" dirty="0"/>
          </a:p>
        </p:txBody>
      </p:sp>
      <p:sp>
        <p:nvSpPr>
          <p:cNvPr id="11" name="Text 9"/>
          <p:cNvSpPr/>
          <p:nvPr/>
        </p:nvSpPr>
        <p:spPr>
          <a:xfrm>
            <a:off x="384048" y="2340864"/>
            <a:ext cx="1234440" cy="329184"/>
          </a:xfrm>
          <a:prstGeom prst="rect">
            <a:avLst/>
          </a:prstGeom>
          <a:noFill/>
          <a:ln/>
        </p:spPr>
        <p:txBody>
          <a:bodyPr wrap="square" lIns="0" tIns="0" rIns="0" bIns="0" rtlCol="0" anchor="ctr"/>
          <a:lstStyle/>
          <a:p>
            <a:pPr indent="0" marL="0">
              <a:buNone/>
            </a:pPr>
            <a:r>
              <a:rPr lang="en-US" sz="1000" b="1" dirty="0">
                <a:solidFill>
                  <a:srgbClr val="1B5CA0"/>
                </a:solidFill>
                <a:latin typeface="Calibri" pitchFamily="34" charset="0"/>
                <a:ea typeface="Calibri" pitchFamily="34" charset="-122"/>
                <a:cs typeface="Calibri" pitchFamily="34" charset="-120"/>
              </a:rPr>
              <a:t>Moderator: </a:t>
            </a:r>
            <a:endParaRPr lang="en-US" sz="1000" dirty="0"/>
          </a:p>
        </p:txBody>
      </p:sp>
      <p:sp>
        <p:nvSpPr>
          <p:cNvPr id="12" name="Text 10"/>
          <p:cNvSpPr/>
          <p:nvPr/>
        </p:nvSpPr>
        <p:spPr>
          <a:xfrm>
            <a:off x="1664208" y="2340864"/>
            <a:ext cx="2697480" cy="329184"/>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Skilled, neutral, non-judgmental facilitator</a:t>
            </a:r>
            <a:endParaRPr lang="en-US" sz="1000" dirty="0"/>
          </a:p>
        </p:txBody>
      </p:sp>
      <p:sp>
        <p:nvSpPr>
          <p:cNvPr id="13" name="Text 11"/>
          <p:cNvSpPr/>
          <p:nvPr/>
        </p:nvSpPr>
        <p:spPr>
          <a:xfrm>
            <a:off x="384048" y="2724912"/>
            <a:ext cx="1234440" cy="329184"/>
          </a:xfrm>
          <a:prstGeom prst="rect">
            <a:avLst/>
          </a:prstGeom>
          <a:noFill/>
          <a:ln/>
        </p:spPr>
        <p:txBody>
          <a:bodyPr wrap="square" lIns="0" tIns="0" rIns="0" bIns="0" rtlCol="0" anchor="ctr"/>
          <a:lstStyle/>
          <a:p>
            <a:pPr indent="0" marL="0">
              <a:buNone/>
            </a:pPr>
            <a:r>
              <a:rPr lang="en-US" sz="1000" b="1" dirty="0">
                <a:solidFill>
                  <a:srgbClr val="1B5CA0"/>
                </a:solidFill>
                <a:latin typeface="Calibri" pitchFamily="34" charset="0"/>
                <a:ea typeface="Calibri" pitchFamily="34" charset="-122"/>
                <a:cs typeface="Calibri" pitchFamily="34" charset="-120"/>
              </a:rPr>
              <a:t>Recorder: </a:t>
            </a:r>
            <a:endParaRPr lang="en-US" sz="1000" dirty="0"/>
          </a:p>
        </p:txBody>
      </p:sp>
      <p:sp>
        <p:nvSpPr>
          <p:cNvPr id="14" name="Text 12"/>
          <p:cNvSpPr/>
          <p:nvPr/>
        </p:nvSpPr>
        <p:spPr>
          <a:xfrm>
            <a:off x="1664208" y="2724912"/>
            <a:ext cx="2697480" cy="329184"/>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Note-taker AND audio recording (with consent)</a:t>
            </a:r>
            <a:endParaRPr lang="en-US" sz="1000" dirty="0"/>
          </a:p>
        </p:txBody>
      </p:sp>
      <p:sp>
        <p:nvSpPr>
          <p:cNvPr id="15" name="Text 13"/>
          <p:cNvSpPr/>
          <p:nvPr/>
        </p:nvSpPr>
        <p:spPr>
          <a:xfrm>
            <a:off x="384048" y="3108960"/>
            <a:ext cx="1234440" cy="329184"/>
          </a:xfrm>
          <a:prstGeom prst="rect">
            <a:avLst/>
          </a:prstGeom>
          <a:noFill/>
          <a:ln/>
        </p:spPr>
        <p:txBody>
          <a:bodyPr wrap="square" lIns="0" tIns="0" rIns="0" bIns="0" rtlCol="0" anchor="ctr"/>
          <a:lstStyle/>
          <a:p>
            <a:pPr indent="0" marL="0">
              <a:buNone/>
            </a:pPr>
            <a:r>
              <a:rPr lang="en-US" sz="1000" b="1" dirty="0">
                <a:solidFill>
                  <a:srgbClr val="1B5CA0"/>
                </a:solidFill>
                <a:latin typeface="Calibri" pitchFamily="34" charset="0"/>
                <a:ea typeface="Calibri" pitchFamily="34" charset="-122"/>
                <a:cs typeface="Calibri" pitchFamily="34" charset="-120"/>
              </a:rPr>
              <a:t>Output: </a:t>
            </a:r>
            <a:endParaRPr lang="en-US" sz="1000" dirty="0"/>
          </a:p>
        </p:txBody>
      </p:sp>
      <p:sp>
        <p:nvSpPr>
          <p:cNvPr id="16" name="Text 14"/>
          <p:cNvSpPr/>
          <p:nvPr/>
        </p:nvSpPr>
        <p:spPr>
          <a:xfrm>
            <a:off x="1664208" y="3108960"/>
            <a:ext cx="2697480" cy="329184"/>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Transcribed text - analysed thematically, NOT in SPSS</a:t>
            </a:r>
            <a:endParaRPr lang="en-US" sz="1000" dirty="0"/>
          </a:p>
        </p:txBody>
      </p:sp>
      <p:sp>
        <p:nvSpPr>
          <p:cNvPr id="17" name="Text 15"/>
          <p:cNvSpPr/>
          <p:nvPr/>
        </p:nvSpPr>
        <p:spPr>
          <a:xfrm>
            <a:off x="384048" y="3493008"/>
            <a:ext cx="3913632" cy="256032"/>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FGD Guide Structure:</a:t>
            </a:r>
            <a:endParaRPr lang="en-US" sz="1000" dirty="0"/>
          </a:p>
        </p:txBody>
      </p:sp>
      <p:sp>
        <p:nvSpPr>
          <p:cNvPr id="18" name="Text 16"/>
          <p:cNvSpPr/>
          <p:nvPr/>
        </p:nvSpPr>
        <p:spPr>
          <a:xfrm>
            <a:off x="384048" y="3767328"/>
            <a:ext cx="3913632" cy="201168"/>
          </a:xfrm>
          <a:prstGeom prst="rect">
            <a:avLst/>
          </a:prstGeom>
          <a:noFill/>
          <a:ln/>
        </p:spPr>
        <p:txBody>
          <a:bodyPr wrap="square" lIns="0" tIns="0" rIns="0" bIns="0" rtlCol="0" anchor="ctr"/>
          <a:lstStyle/>
          <a:p>
            <a:pPr indent="0" marL="0">
              <a:buNone/>
            </a:pPr>
            <a:r>
              <a:rPr lang="en-US" sz="850" b="1" dirty="0">
                <a:solidFill>
                  <a:srgbClr val="1B5CA0"/>
                </a:solidFill>
                <a:latin typeface="Calibri" pitchFamily="34" charset="0"/>
                <a:ea typeface="Calibri" pitchFamily="34" charset="-122"/>
                <a:cs typeface="Calibri" pitchFamily="34" charset="-120"/>
              </a:rPr>
              <a:t>Opening: </a:t>
            </a:r>
            <a:pPr indent="0" marL="0">
              <a:buNone/>
            </a:pPr>
            <a:r>
              <a:rPr lang="en-US" sz="850" i="1" dirty="0">
                <a:solidFill>
                  <a:srgbClr val="2C3E50"/>
                </a:solidFill>
                <a:latin typeface="Calibri" pitchFamily="34" charset="0"/>
                <a:ea typeface="Calibri" pitchFamily="34" charset="-122"/>
                <a:cs typeface="Calibri" pitchFamily="34" charset="-120"/>
              </a:rPr>
              <a:t>Please introduce yourself and tell us your name.</a:t>
            </a:r>
            <a:endParaRPr lang="en-US" sz="850" dirty="0"/>
          </a:p>
        </p:txBody>
      </p:sp>
      <p:sp>
        <p:nvSpPr>
          <p:cNvPr id="19" name="Text 17"/>
          <p:cNvSpPr/>
          <p:nvPr/>
        </p:nvSpPr>
        <p:spPr>
          <a:xfrm>
            <a:off x="384048" y="3986784"/>
            <a:ext cx="3913632" cy="201168"/>
          </a:xfrm>
          <a:prstGeom prst="rect">
            <a:avLst/>
          </a:prstGeom>
          <a:noFill/>
          <a:ln/>
        </p:spPr>
        <p:txBody>
          <a:bodyPr wrap="square" lIns="0" tIns="0" rIns="0" bIns="0" rtlCol="0" anchor="ctr"/>
          <a:lstStyle/>
          <a:p>
            <a:pPr indent="0" marL="0">
              <a:buNone/>
            </a:pPr>
            <a:r>
              <a:rPr lang="en-US" sz="850" b="1" dirty="0">
                <a:solidFill>
                  <a:srgbClr val="1B5CA0"/>
                </a:solidFill>
                <a:latin typeface="Calibri" pitchFamily="34" charset="0"/>
                <a:ea typeface="Calibri" pitchFamily="34" charset="-122"/>
                <a:cs typeface="Calibri" pitchFamily="34" charset="-120"/>
              </a:rPr>
              <a:t>Introductory: </a:t>
            </a:r>
            <a:pPr indent="0" marL="0">
              <a:buNone/>
            </a:pPr>
            <a:r>
              <a:rPr lang="en-US" sz="850" i="1" dirty="0">
                <a:solidFill>
                  <a:srgbClr val="2C3E50"/>
                </a:solidFill>
                <a:latin typeface="Calibri" pitchFamily="34" charset="0"/>
                <a:ea typeface="Calibri" pitchFamily="34" charset="-122"/>
                <a:cs typeface="Calibri" pitchFamily="34" charset="-120"/>
              </a:rPr>
              <a:t>What UAC Foods products have you purchased in the last 3 months?</a:t>
            </a:r>
            <a:endParaRPr lang="en-US" sz="850" dirty="0"/>
          </a:p>
        </p:txBody>
      </p:sp>
      <p:sp>
        <p:nvSpPr>
          <p:cNvPr id="20" name="Text 18"/>
          <p:cNvSpPr/>
          <p:nvPr/>
        </p:nvSpPr>
        <p:spPr>
          <a:xfrm>
            <a:off x="384048" y="4206240"/>
            <a:ext cx="3913632" cy="201168"/>
          </a:xfrm>
          <a:prstGeom prst="rect">
            <a:avLst/>
          </a:prstGeom>
          <a:noFill/>
          <a:ln/>
        </p:spPr>
        <p:txBody>
          <a:bodyPr wrap="square" lIns="0" tIns="0" rIns="0" bIns="0" rtlCol="0" anchor="ctr"/>
          <a:lstStyle/>
          <a:p>
            <a:pPr indent="0" marL="0">
              <a:buNone/>
            </a:pPr>
            <a:r>
              <a:rPr lang="en-US" sz="850" b="1" dirty="0">
                <a:solidFill>
                  <a:srgbClr val="1B5CA0"/>
                </a:solidFill>
                <a:latin typeface="Calibri" pitchFamily="34" charset="0"/>
                <a:ea typeface="Calibri" pitchFamily="34" charset="-122"/>
                <a:cs typeface="Calibri" pitchFamily="34" charset="-120"/>
              </a:rPr>
              <a:t>Transition: </a:t>
            </a:r>
            <a:pPr indent="0" marL="0">
              <a:buNone/>
            </a:pPr>
            <a:r>
              <a:rPr lang="en-US" sz="850" i="1" dirty="0">
                <a:solidFill>
                  <a:srgbClr val="2C3E50"/>
                </a:solidFill>
                <a:latin typeface="Calibri" pitchFamily="34" charset="0"/>
                <a:ea typeface="Calibri" pitchFamily="34" charset="-122"/>
                <a:cs typeface="Calibri" pitchFamily="34" charset="-120"/>
              </a:rPr>
              <a:t>When you think about snack brands in Nigeria, what comes to mind first?</a:t>
            </a:r>
            <a:endParaRPr lang="en-US" sz="850" dirty="0"/>
          </a:p>
        </p:txBody>
      </p:sp>
      <p:sp>
        <p:nvSpPr>
          <p:cNvPr id="21" name="Text 19"/>
          <p:cNvSpPr/>
          <p:nvPr/>
        </p:nvSpPr>
        <p:spPr>
          <a:xfrm>
            <a:off x="384048" y="4425696"/>
            <a:ext cx="3913632" cy="201168"/>
          </a:xfrm>
          <a:prstGeom prst="rect">
            <a:avLst/>
          </a:prstGeom>
          <a:noFill/>
          <a:ln/>
        </p:spPr>
        <p:txBody>
          <a:bodyPr wrap="square" lIns="0" tIns="0" rIns="0" bIns="0" rtlCol="0" anchor="ctr"/>
          <a:lstStyle/>
          <a:p>
            <a:pPr indent="0" marL="0">
              <a:buNone/>
            </a:pPr>
            <a:r>
              <a:rPr lang="en-US" sz="850" b="1" dirty="0">
                <a:solidFill>
                  <a:srgbClr val="1B5CA0"/>
                </a:solidFill>
                <a:latin typeface="Calibri" pitchFamily="34" charset="0"/>
                <a:ea typeface="Calibri" pitchFamily="34" charset="-122"/>
                <a:cs typeface="Calibri" pitchFamily="34" charset="-120"/>
              </a:rPr>
              <a:t>Key Questions: </a:t>
            </a:r>
            <a:pPr indent="0" marL="0">
              <a:buNone/>
            </a:pPr>
            <a:r>
              <a:rPr lang="en-US" sz="850" i="1" dirty="0">
                <a:solidFill>
                  <a:srgbClr val="2C3E50"/>
                </a:solidFill>
                <a:latin typeface="Calibri" pitchFamily="34" charset="0"/>
                <a:ea typeface="Calibri" pitchFamily="34" charset="-122"/>
                <a:cs typeface="Calibri" pitchFamily="34" charset="-120"/>
              </a:rPr>
              <a:t>What factors most influence your decision to repurchase a UAC Foods product?</a:t>
            </a:r>
            <a:endParaRPr lang="en-US" sz="850" dirty="0"/>
          </a:p>
        </p:txBody>
      </p:sp>
      <p:sp>
        <p:nvSpPr>
          <p:cNvPr id="22" name="Text 20"/>
          <p:cNvSpPr/>
          <p:nvPr/>
        </p:nvSpPr>
        <p:spPr>
          <a:xfrm>
            <a:off x="384048" y="4645152"/>
            <a:ext cx="3913632" cy="201168"/>
          </a:xfrm>
          <a:prstGeom prst="rect">
            <a:avLst/>
          </a:prstGeom>
          <a:noFill/>
          <a:ln/>
        </p:spPr>
        <p:txBody>
          <a:bodyPr wrap="square" lIns="0" tIns="0" rIns="0" bIns="0" rtlCol="0" anchor="ctr"/>
          <a:lstStyle/>
          <a:p>
            <a:pPr indent="0" marL="0">
              <a:buNone/>
            </a:pPr>
            <a:r>
              <a:rPr lang="en-US" sz="850" b="1" dirty="0">
                <a:solidFill>
                  <a:srgbClr val="1B5CA0"/>
                </a:solidFill>
                <a:latin typeface="Calibri" pitchFamily="34" charset="0"/>
                <a:ea typeface="Calibri" pitchFamily="34" charset="-122"/>
                <a:cs typeface="Calibri" pitchFamily="34" charset="-120"/>
              </a:rPr>
              <a:t>Ending: </a:t>
            </a:r>
            <a:pPr indent="0" marL="0">
              <a:buNone/>
            </a:pPr>
            <a:r>
              <a:rPr lang="en-US" sz="850" i="1" dirty="0">
                <a:solidFill>
                  <a:srgbClr val="2C3E50"/>
                </a:solidFill>
                <a:latin typeface="Calibri" pitchFamily="34" charset="0"/>
                <a:ea typeface="Calibri" pitchFamily="34" charset="-122"/>
                <a:cs typeface="Calibri" pitchFamily="34" charset="-120"/>
              </a:rPr>
              <a:t>Is there anything important about UAC Foods products we have not discussed?</a:t>
            </a:r>
            <a:endParaRPr lang="en-US" sz="850" dirty="0"/>
          </a:p>
        </p:txBody>
      </p:sp>
      <p:sp>
        <p:nvSpPr>
          <p:cNvPr id="23" name="Shape 21"/>
          <p:cNvSpPr/>
          <p:nvPr/>
        </p:nvSpPr>
        <p:spPr>
          <a:xfrm>
            <a:off x="4681728" y="1051560"/>
            <a:ext cx="4160520" cy="3886200"/>
          </a:xfrm>
          <a:prstGeom prst="roundRect">
            <a:avLst>
              <a:gd name="adj" fmla="val 2118"/>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24" name="Shape 22"/>
          <p:cNvSpPr/>
          <p:nvPr/>
        </p:nvSpPr>
        <p:spPr>
          <a:xfrm>
            <a:off x="4754880" y="1115568"/>
            <a:ext cx="4005072" cy="347472"/>
          </a:xfrm>
          <a:prstGeom prst="roundRect">
            <a:avLst>
              <a:gd name="adj" fmla="val 15789"/>
            </a:avLst>
          </a:prstGeom>
          <a:solidFill>
            <a:srgbClr val="5B2D8E"/>
          </a:solidFill>
          <a:ln w="12700">
            <a:solidFill>
              <a:srgbClr val="5B2D8E"/>
            </a:solidFill>
            <a:prstDash val="solid"/>
          </a:ln>
        </p:spPr>
      </p:sp>
      <p:sp>
        <p:nvSpPr>
          <p:cNvPr id="25" name="Text 23"/>
          <p:cNvSpPr/>
          <p:nvPr/>
        </p:nvSpPr>
        <p:spPr>
          <a:xfrm>
            <a:off x="4754880" y="1115568"/>
            <a:ext cx="40050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KEY INFORMANT INTERVIEW (KII)</a:t>
            </a:r>
            <a:endParaRPr lang="en-US" sz="1200" dirty="0"/>
          </a:p>
        </p:txBody>
      </p:sp>
      <p:sp>
        <p:nvSpPr>
          <p:cNvPr id="26" name="Text 24"/>
          <p:cNvSpPr/>
          <p:nvPr/>
        </p:nvSpPr>
        <p:spPr>
          <a:xfrm>
            <a:off x="4773168" y="1572768"/>
            <a:ext cx="1325880" cy="329184"/>
          </a:xfrm>
          <a:prstGeom prst="rect">
            <a:avLst/>
          </a:prstGeom>
          <a:noFill/>
          <a:ln/>
        </p:spPr>
        <p:txBody>
          <a:bodyPr wrap="square" lIns="0" tIns="0" rIns="0" bIns="0" rtlCol="0" anchor="ctr"/>
          <a:lstStyle/>
          <a:p>
            <a:pPr indent="0" marL="0">
              <a:buNone/>
            </a:pPr>
            <a:r>
              <a:rPr lang="en-US" sz="1000" b="1" dirty="0">
                <a:solidFill>
                  <a:srgbClr val="5B2D8E"/>
                </a:solidFill>
                <a:latin typeface="Calibri" pitchFamily="34" charset="0"/>
                <a:ea typeface="Calibri" pitchFamily="34" charset="-122"/>
                <a:cs typeface="Calibri" pitchFamily="34" charset="-120"/>
              </a:rPr>
              <a:t>Participants: </a:t>
            </a:r>
            <a:endParaRPr lang="en-US" sz="1000" dirty="0"/>
          </a:p>
        </p:txBody>
      </p:sp>
      <p:sp>
        <p:nvSpPr>
          <p:cNvPr id="27" name="Text 25"/>
          <p:cNvSpPr/>
          <p:nvPr/>
        </p:nvSpPr>
        <p:spPr>
          <a:xfrm>
            <a:off x="6144768" y="1572768"/>
            <a:ext cx="2578608" cy="329184"/>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Individual expert with unique knowledge or position</a:t>
            </a:r>
            <a:endParaRPr lang="en-US" sz="1000" dirty="0"/>
          </a:p>
        </p:txBody>
      </p:sp>
      <p:sp>
        <p:nvSpPr>
          <p:cNvPr id="28" name="Text 26"/>
          <p:cNvSpPr/>
          <p:nvPr/>
        </p:nvSpPr>
        <p:spPr>
          <a:xfrm>
            <a:off x="4773168" y="1956816"/>
            <a:ext cx="1325880" cy="329184"/>
          </a:xfrm>
          <a:prstGeom prst="rect">
            <a:avLst/>
          </a:prstGeom>
          <a:noFill/>
          <a:ln/>
        </p:spPr>
        <p:txBody>
          <a:bodyPr wrap="square" lIns="0" tIns="0" rIns="0" bIns="0" rtlCol="0" anchor="ctr"/>
          <a:lstStyle/>
          <a:p>
            <a:pPr indent="0" marL="0">
              <a:buNone/>
            </a:pPr>
            <a:r>
              <a:rPr lang="en-US" sz="1000" b="1" dirty="0">
                <a:solidFill>
                  <a:srgbClr val="5B2D8E"/>
                </a:solidFill>
                <a:latin typeface="Calibri" pitchFamily="34" charset="0"/>
                <a:ea typeface="Calibri" pitchFamily="34" charset="-122"/>
                <a:cs typeface="Calibri" pitchFamily="34" charset="-120"/>
              </a:rPr>
              <a:t>Duration: </a:t>
            </a:r>
            <a:endParaRPr lang="en-US" sz="1000" dirty="0"/>
          </a:p>
        </p:txBody>
      </p:sp>
      <p:sp>
        <p:nvSpPr>
          <p:cNvPr id="29" name="Text 27"/>
          <p:cNvSpPr/>
          <p:nvPr/>
        </p:nvSpPr>
        <p:spPr>
          <a:xfrm>
            <a:off x="6144768" y="1956816"/>
            <a:ext cx="2578608" cy="329184"/>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45 to 90 minutes per interview</a:t>
            </a:r>
            <a:endParaRPr lang="en-US" sz="1000" dirty="0"/>
          </a:p>
        </p:txBody>
      </p:sp>
      <p:sp>
        <p:nvSpPr>
          <p:cNvPr id="30" name="Text 28"/>
          <p:cNvSpPr/>
          <p:nvPr/>
        </p:nvSpPr>
        <p:spPr>
          <a:xfrm>
            <a:off x="4773168" y="2340864"/>
            <a:ext cx="1325880" cy="329184"/>
          </a:xfrm>
          <a:prstGeom prst="rect">
            <a:avLst/>
          </a:prstGeom>
          <a:noFill/>
          <a:ln/>
        </p:spPr>
        <p:txBody>
          <a:bodyPr wrap="square" lIns="0" tIns="0" rIns="0" bIns="0" rtlCol="0" anchor="ctr"/>
          <a:lstStyle/>
          <a:p>
            <a:pPr indent="0" marL="0">
              <a:buNone/>
            </a:pPr>
            <a:r>
              <a:rPr lang="en-US" sz="1000" b="1" dirty="0">
                <a:solidFill>
                  <a:srgbClr val="5B2D8E"/>
                </a:solidFill>
                <a:latin typeface="Calibri" pitchFamily="34" charset="0"/>
                <a:ea typeface="Calibri" pitchFamily="34" charset="-122"/>
                <a:cs typeface="Calibri" pitchFamily="34" charset="-120"/>
              </a:rPr>
              <a:t>Style: </a:t>
            </a:r>
            <a:endParaRPr lang="en-US" sz="1000" dirty="0"/>
          </a:p>
        </p:txBody>
      </p:sp>
      <p:sp>
        <p:nvSpPr>
          <p:cNvPr id="31" name="Text 29"/>
          <p:cNvSpPr/>
          <p:nvPr/>
        </p:nvSpPr>
        <p:spPr>
          <a:xfrm>
            <a:off x="6144768" y="2340864"/>
            <a:ext cx="2578608" cy="329184"/>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Semi-structured: open questions with probing</a:t>
            </a:r>
            <a:endParaRPr lang="en-US" sz="1000" dirty="0"/>
          </a:p>
        </p:txBody>
      </p:sp>
      <p:sp>
        <p:nvSpPr>
          <p:cNvPr id="32" name="Text 30"/>
          <p:cNvSpPr/>
          <p:nvPr/>
        </p:nvSpPr>
        <p:spPr>
          <a:xfrm>
            <a:off x="4773168" y="2724912"/>
            <a:ext cx="1325880" cy="329184"/>
          </a:xfrm>
          <a:prstGeom prst="rect">
            <a:avLst/>
          </a:prstGeom>
          <a:noFill/>
          <a:ln/>
        </p:spPr>
        <p:txBody>
          <a:bodyPr wrap="square" lIns="0" tIns="0" rIns="0" bIns="0" rtlCol="0" anchor="ctr"/>
          <a:lstStyle/>
          <a:p>
            <a:pPr indent="0" marL="0">
              <a:buNone/>
            </a:pPr>
            <a:r>
              <a:rPr lang="en-US" sz="1000" b="1" dirty="0">
                <a:solidFill>
                  <a:srgbClr val="5B2D8E"/>
                </a:solidFill>
                <a:latin typeface="Calibri" pitchFamily="34" charset="0"/>
                <a:ea typeface="Calibri" pitchFamily="34" charset="-122"/>
                <a:cs typeface="Calibri" pitchFamily="34" charset="-120"/>
              </a:rPr>
              <a:t>Recording: </a:t>
            </a:r>
            <a:endParaRPr lang="en-US" sz="1000" dirty="0"/>
          </a:p>
        </p:txBody>
      </p:sp>
      <p:sp>
        <p:nvSpPr>
          <p:cNvPr id="33" name="Text 31"/>
          <p:cNvSpPr/>
          <p:nvPr/>
        </p:nvSpPr>
        <p:spPr>
          <a:xfrm>
            <a:off x="6144768" y="2724912"/>
            <a:ext cx="2578608" cy="329184"/>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Audio + notes (with informed consent)</a:t>
            </a:r>
            <a:endParaRPr lang="en-US" sz="1000" dirty="0"/>
          </a:p>
        </p:txBody>
      </p:sp>
      <p:sp>
        <p:nvSpPr>
          <p:cNvPr id="34" name="Text 32"/>
          <p:cNvSpPr/>
          <p:nvPr/>
        </p:nvSpPr>
        <p:spPr>
          <a:xfrm>
            <a:off x="4773168" y="3108960"/>
            <a:ext cx="1325880" cy="329184"/>
          </a:xfrm>
          <a:prstGeom prst="rect">
            <a:avLst/>
          </a:prstGeom>
          <a:noFill/>
          <a:ln/>
        </p:spPr>
        <p:txBody>
          <a:bodyPr wrap="square" lIns="0" tIns="0" rIns="0" bIns="0" rtlCol="0" anchor="ctr"/>
          <a:lstStyle/>
          <a:p>
            <a:pPr indent="0" marL="0">
              <a:buNone/>
            </a:pPr>
            <a:r>
              <a:rPr lang="en-US" sz="1000" b="1" dirty="0">
                <a:solidFill>
                  <a:srgbClr val="5B2D8E"/>
                </a:solidFill>
                <a:latin typeface="Calibri" pitchFamily="34" charset="0"/>
                <a:ea typeface="Calibri" pitchFamily="34" charset="-122"/>
                <a:cs typeface="Calibri" pitchFamily="34" charset="-120"/>
              </a:rPr>
              <a:t>Output: </a:t>
            </a:r>
            <a:endParaRPr lang="en-US" sz="1000" dirty="0"/>
          </a:p>
        </p:txBody>
      </p:sp>
      <p:sp>
        <p:nvSpPr>
          <p:cNvPr id="35" name="Text 33"/>
          <p:cNvSpPr/>
          <p:nvPr/>
        </p:nvSpPr>
        <p:spPr>
          <a:xfrm>
            <a:off x="6144768" y="3108960"/>
            <a:ext cx="2578608" cy="329184"/>
          </a:xfrm>
          <a:prstGeom prst="rect">
            <a:avLst/>
          </a:prstGeom>
          <a:noFill/>
          <a:ln/>
        </p:spPr>
        <p:txBody>
          <a:bodyPr wrap="square" lIns="0" tIns="0" rIns="0" bIns="0" rtlCol="0" anchor="ctr"/>
          <a:lstStyle/>
          <a:p>
            <a:pPr indent="0" marL="0">
              <a:buNone/>
            </a:pPr>
            <a:r>
              <a:rPr lang="en-US" sz="1000" dirty="0">
                <a:solidFill>
                  <a:srgbClr val="2C3E50"/>
                </a:solidFill>
                <a:latin typeface="Calibri" pitchFamily="34" charset="0"/>
                <a:ea typeface="Calibri" pitchFamily="34" charset="-122"/>
                <a:cs typeface="Calibri" pitchFamily="34" charset="-120"/>
              </a:rPr>
              <a:t>Transcribed, thematically coded - NOT SPSS</a:t>
            </a:r>
            <a:endParaRPr lang="en-US" sz="1000" dirty="0"/>
          </a:p>
        </p:txBody>
      </p:sp>
      <p:sp>
        <p:nvSpPr>
          <p:cNvPr id="36" name="Text 34"/>
          <p:cNvSpPr/>
          <p:nvPr/>
        </p:nvSpPr>
        <p:spPr>
          <a:xfrm>
            <a:off x="4773168" y="3493008"/>
            <a:ext cx="4005072" cy="256032"/>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KII for UAC Foods Research:</a:t>
            </a:r>
            <a:endParaRPr lang="en-US" sz="1000" dirty="0"/>
          </a:p>
        </p:txBody>
      </p:sp>
      <p:sp>
        <p:nvSpPr>
          <p:cNvPr id="37" name="Text 35"/>
          <p:cNvSpPr/>
          <p:nvPr/>
        </p:nvSpPr>
        <p:spPr>
          <a:xfrm>
            <a:off x="4773168" y="3767328"/>
            <a:ext cx="4005072" cy="201168"/>
          </a:xfrm>
          <a:prstGeom prst="rect">
            <a:avLst/>
          </a:prstGeom>
          <a:noFill/>
          <a:ln/>
        </p:spPr>
        <p:txBody>
          <a:bodyPr wrap="square" lIns="0" tIns="0" rIns="0" bIns="0" rtlCol="0" anchor="ctr"/>
          <a:lstStyle/>
          <a:p>
            <a:pPr indent="0" marL="0">
              <a:buNone/>
            </a:pPr>
            <a:r>
              <a:rPr lang="en-US" sz="900" i="1" dirty="0">
                <a:solidFill>
                  <a:srgbClr val="2C3E50"/>
                </a:solidFill>
                <a:latin typeface="Calibri" pitchFamily="34" charset="0"/>
                <a:ea typeface="Calibri" pitchFamily="34" charset="-122"/>
                <a:cs typeface="Calibri" pitchFamily="34" charset="-120"/>
              </a:rPr>
              <a:t>Conduct KIIs with 8 UAC Foods distribution managers</a:t>
            </a:r>
            <a:endParaRPr lang="en-US" sz="900" dirty="0"/>
          </a:p>
        </p:txBody>
      </p:sp>
      <p:sp>
        <p:nvSpPr>
          <p:cNvPr id="38" name="Text 36"/>
          <p:cNvSpPr/>
          <p:nvPr/>
        </p:nvSpPr>
        <p:spPr>
          <a:xfrm>
            <a:off x="4773168" y="3986784"/>
            <a:ext cx="4005072" cy="201168"/>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and 5 key trade channel buyers (supermarket category managers)</a:t>
            </a:r>
            <a:endParaRPr lang="en-US" sz="900" dirty="0"/>
          </a:p>
        </p:txBody>
      </p:sp>
      <p:sp>
        <p:nvSpPr>
          <p:cNvPr id="39" name="Text 37"/>
          <p:cNvSpPr/>
          <p:nvPr/>
        </p:nvSpPr>
        <p:spPr>
          <a:xfrm>
            <a:off x="4773168" y="4206240"/>
            <a:ext cx="4005072" cy="201168"/>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to understand barriers to distribution expansion and shelf</a:t>
            </a:r>
            <a:endParaRPr lang="en-US" sz="900" dirty="0"/>
          </a:p>
        </p:txBody>
      </p:sp>
      <p:sp>
        <p:nvSpPr>
          <p:cNvPr id="40" name="Text 38"/>
          <p:cNvSpPr/>
          <p:nvPr/>
        </p:nvSpPr>
        <p:spPr>
          <a:xfrm>
            <a:off x="4773168" y="4425696"/>
            <a:ext cx="4005072" cy="201168"/>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placement challenges that the consumer survey cannot capture.</a:t>
            </a:r>
            <a:endParaRPr lang="en-US" sz="900" dirty="0"/>
          </a:p>
        </p:txBody>
      </p:sp>
      <p:sp>
        <p:nvSpPr>
          <p:cNvPr id="41" name="Text 39"/>
          <p:cNvSpPr/>
          <p:nvPr/>
        </p:nvSpPr>
        <p:spPr>
          <a:xfrm>
            <a:off x="4773168" y="4645152"/>
            <a:ext cx="4005072" cy="201168"/>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KII findings complement and help explain the quantitative</a:t>
            </a:r>
            <a:endParaRPr lang="en-US" sz="900" dirty="0"/>
          </a:p>
        </p:txBody>
      </p:sp>
      <p:sp>
        <p:nvSpPr>
          <p:cNvPr id="42" name="Text 40"/>
          <p:cNvSpPr/>
          <p:nvPr/>
        </p:nvSpPr>
        <p:spPr>
          <a:xfrm>
            <a:off x="4773168" y="4864608"/>
            <a:ext cx="4005072" cy="201168"/>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consumer survey data analysed in SPSS.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B5CA0">
              <a:alpha val="18000"/>
            </a:srgbClr>
          </a:solidFill>
          <a:ln w="12700">
            <a:solidFill>
              <a:srgbClr val="1B5CA0"/>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1  |  SECTION 07</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Developing a Research Protocol</a:t>
            </a:r>
            <a:endParaRPr lang="en-US" sz="42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A8C8E8"/>
                </a:solidFill>
                <a:latin typeface="Calibri" pitchFamily="34" charset="0"/>
                <a:ea typeface="Calibri" pitchFamily="34" charset="-122"/>
                <a:cs typeface="Calibri" pitchFamily="34" charset="-120"/>
              </a:rPr>
              <a:t>The master blueprint that guides every decision from data collection to final reporting</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F1E3C"/>
          </a:solidFill>
          <a:ln w="12700">
            <a:solidFill>
              <a:srgbClr val="0F1E3C"/>
            </a:solidFill>
            <a:prstDash val="solid"/>
          </a:ln>
        </p:spPr>
      </p:sp>
      <p:sp>
        <p:nvSpPr>
          <p:cNvPr id="3" name="Text 1"/>
          <p:cNvSpPr/>
          <p:nvPr/>
        </p:nvSpPr>
        <p:spPr>
          <a:xfrm>
            <a:off x="457200" y="109728"/>
            <a:ext cx="8229600" cy="713232"/>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Research Protocol - Complete Structure (14 Components)</a:t>
            </a:r>
            <a:endParaRPr lang="en-US" sz="2300" dirty="0"/>
          </a:p>
        </p:txBody>
      </p:sp>
      <p:sp>
        <p:nvSpPr>
          <p:cNvPr id="4" name="Shape 2"/>
          <p:cNvSpPr/>
          <p:nvPr/>
        </p:nvSpPr>
        <p:spPr>
          <a:xfrm>
            <a:off x="256032" y="1005840"/>
            <a:ext cx="4224528" cy="493776"/>
          </a:xfrm>
          <a:prstGeom prst="roundRect">
            <a:avLst>
              <a:gd name="adj" fmla="val 11111"/>
            </a:avLst>
          </a:prstGeom>
          <a:solidFill>
            <a:srgbClr val="FFFFFF"/>
          </a:solidFill>
          <a:ln w="10160">
            <a:solidFill>
              <a:srgbClr val="D0E8F8"/>
            </a:solidFill>
            <a:prstDash val="solid"/>
          </a:ln>
        </p:spPr>
      </p:sp>
      <p:sp>
        <p:nvSpPr>
          <p:cNvPr id="5" name="Shape 3"/>
          <p:cNvSpPr/>
          <p:nvPr/>
        </p:nvSpPr>
        <p:spPr>
          <a:xfrm>
            <a:off x="329184" y="1097280"/>
            <a:ext cx="310896" cy="310896"/>
          </a:xfrm>
          <a:prstGeom prst="ellipse">
            <a:avLst/>
          </a:prstGeom>
          <a:solidFill>
            <a:srgbClr val="1A3562"/>
          </a:solidFill>
          <a:ln w="12700">
            <a:solidFill>
              <a:srgbClr val="1A3562"/>
            </a:solidFill>
            <a:prstDash val="solid"/>
          </a:ln>
        </p:spPr>
      </p:sp>
      <p:sp>
        <p:nvSpPr>
          <p:cNvPr id="6" name="Text 4"/>
          <p:cNvSpPr/>
          <p:nvPr/>
        </p:nvSpPr>
        <p:spPr>
          <a:xfrm>
            <a:off x="329184" y="1097280"/>
            <a:ext cx="310896" cy="310896"/>
          </a:xfrm>
          <a:prstGeom prst="rect">
            <a:avLst/>
          </a:prstGeom>
          <a:noFill/>
          <a:ln/>
        </p:spPr>
        <p:txBody>
          <a:bodyPr wrap="square" lIns="0" tIns="0" rIns="0" bIns="0" rtlCol="0" anchor="ctr"/>
          <a:lstStyle/>
          <a:p>
            <a:pPr algn="ctr" indent="0" marL="0">
              <a:buNone/>
            </a:pPr>
            <a:r>
              <a:rPr lang="en-US" sz="800" b="1" dirty="0">
                <a:solidFill>
                  <a:srgbClr val="D4A017"/>
                </a:solidFill>
                <a:latin typeface="Calibri" pitchFamily="34" charset="0"/>
                <a:ea typeface="Calibri" pitchFamily="34" charset="-122"/>
                <a:cs typeface="Calibri" pitchFamily="34" charset="-120"/>
              </a:rPr>
              <a:t>01</a:t>
            </a:r>
            <a:endParaRPr lang="en-US" sz="800" dirty="0"/>
          </a:p>
        </p:txBody>
      </p:sp>
      <p:sp>
        <p:nvSpPr>
          <p:cNvPr id="7" name="Text 5"/>
          <p:cNvSpPr/>
          <p:nvPr/>
        </p:nvSpPr>
        <p:spPr>
          <a:xfrm>
            <a:off x="713232" y="1060704"/>
            <a:ext cx="1810512" cy="256032"/>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Title Page</a:t>
            </a:r>
            <a:endParaRPr lang="en-US" sz="1000" dirty="0"/>
          </a:p>
        </p:txBody>
      </p:sp>
      <p:sp>
        <p:nvSpPr>
          <p:cNvPr id="8" name="Text 6"/>
          <p:cNvSpPr/>
          <p:nvPr/>
        </p:nvSpPr>
        <p:spPr>
          <a:xfrm>
            <a:off x="713232" y="1316736"/>
            <a:ext cx="3657600" cy="16459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Study title, principal investigator, institution, version, date</a:t>
            </a:r>
            <a:endParaRPr lang="en-US" sz="850" dirty="0"/>
          </a:p>
        </p:txBody>
      </p:sp>
      <p:sp>
        <p:nvSpPr>
          <p:cNvPr id="9" name="Shape 7"/>
          <p:cNvSpPr/>
          <p:nvPr/>
        </p:nvSpPr>
        <p:spPr>
          <a:xfrm>
            <a:off x="4736592" y="1005840"/>
            <a:ext cx="4224528" cy="493776"/>
          </a:xfrm>
          <a:prstGeom prst="roundRect">
            <a:avLst>
              <a:gd name="adj" fmla="val 11111"/>
            </a:avLst>
          </a:prstGeom>
          <a:solidFill>
            <a:srgbClr val="FFFFFF"/>
          </a:solidFill>
          <a:ln w="10160">
            <a:solidFill>
              <a:srgbClr val="D0E8F8"/>
            </a:solidFill>
            <a:prstDash val="solid"/>
          </a:ln>
        </p:spPr>
      </p:sp>
      <p:sp>
        <p:nvSpPr>
          <p:cNvPr id="10" name="Shape 8"/>
          <p:cNvSpPr/>
          <p:nvPr/>
        </p:nvSpPr>
        <p:spPr>
          <a:xfrm>
            <a:off x="4809744" y="1097280"/>
            <a:ext cx="310896" cy="310896"/>
          </a:xfrm>
          <a:prstGeom prst="ellipse">
            <a:avLst/>
          </a:prstGeom>
          <a:solidFill>
            <a:srgbClr val="1A3562"/>
          </a:solidFill>
          <a:ln w="12700">
            <a:solidFill>
              <a:srgbClr val="1A3562"/>
            </a:solidFill>
            <a:prstDash val="solid"/>
          </a:ln>
        </p:spPr>
      </p:sp>
      <p:sp>
        <p:nvSpPr>
          <p:cNvPr id="11" name="Text 9"/>
          <p:cNvSpPr/>
          <p:nvPr/>
        </p:nvSpPr>
        <p:spPr>
          <a:xfrm>
            <a:off x="4809744" y="1097280"/>
            <a:ext cx="310896" cy="310896"/>
          </a:xfrm>
          <a:prstGeom prst="rect">
            <a:avLst/>
          </a:prstGeom>
          <a:noFill/>
          <a:ln/>
        </p:spPr>
        <p:txBody>
          <a:bodyPr wrap="square" lIns="0" tIns="0" rIns="0" bIns="0" rtlCol="0" anchor="ctr"/>
          <a:lstStyle/>
          <a:p>
            <a:pPr algn="ctr" indent="0" marL="0">
              <a:buNone/>
            </a:pPr>
            <a:r>
              <a:rPr lang="en-US" sz="800" b="1" dirty="0">
                <a:solidFill>
                  <a:srgbClr val="D4A017"/>
                </a:solidFill>
                <a:latin typeface="Calibri" pitchFamily="34" charset="0"/>
                <a:ea typeface="Calibri" pitchFamily="34" charset="-122"/>
                <a:cs typeface="Calibri" pitchFamily="34" charset="-120"/>
              </a:rPr>
              <a:t>02</a:t>
            </a:r>
            <a:endParaRPr lang="en-US" sz="800" dirty="0"/>
          </a:p>
        </p:txBody>
      </p:sp>
      <p:sp>
        <p:nvSpPr>
          <p:cNvPr id="12" name="Text 10"/>
          <p:cNvSpPr/>
          <p:nvPr/>
        </p:nvSpPr>
        <p:spPr>
          <a:xfrm>
            <a:off x="5193792" y="1060704"/>
            <a:ext cx="1810512" cy="256032"/>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Background and Rationale</a:t>
            </a:r>
            <a:endParaRPr lang="en-US" sz="1000" dirty="0"/>
          </a:p>
        </p:txBody>
      </p:sp>
      <p:sp>
        <p:nvSpPr>
          <p:cNvPr id="13" name="Text 11"/>
          <p:cNvSpPr/>
          <p:nvPr/>
        </p:nvSpPr>
        <p:spPr>
          <a:xfrm>
            <a:off x="5193792" y="1316736"/>
            <a:ext cx="3657600" cy="16459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What is known? What is the knowledge gap? Why does this study matter now?</a:t>
            </a:r>
            <a:endParaRPr lang="en-US" sz="850" dirty="0"/>
          </a:p>
        </p:txBody>
      </p:sp>
      <p:sp>
        <p:nvSpPr>
          <p:cNvPr id="14" name="Shape 12"/>
          <p:cNvSpPr/>
          <p:nvPr/>
        </p:nvSpPr>
        <p:spPr>
          <a:xfrm>
            <a:off x="256032" y="1572768"/>
            <a:ext cx="4224528" cy="493776"/>
          </a:xfrm>
          <a:prstGeom prst="roundRect">
            <a:avLst>
              <a:gd name="adj" fmla="val 11111"/>
            </a:avLst>
          </a:prstGeom>
          <a:solidFill>
            <a:srgbClr val="FFFFFF"/>
          </a:solidFill>
          <a:ln w="10160">
            <a:solidFill>
              <a:srgbClr val="D0E8F8"/>
            </a:solidFill>
            <a:prstDash val="solid"/>
          </a:ln>
        </p:spPr>
      </p:sp>
      <p:sp>
        <p:nvSpPr>
          <p:cNvPr id="15" name="Shape 13"/>
          <p:cNvSpPr/>
          <p:nvPr/>
        </p:nvSpPr>
        <p:spPr>
          <a:xfrm>
            <a:off x="329184" y="1664208"/>
            <a:ext cx="310896" cy="310896"/>
          </a:xfrm>
          <a:prstGeom prst="ellipse">
            <a:avLst/>
          </a:prstGeom>
          <a:solidFill>
            <a:srgbClr val="1A3562"/>
          </a:solidFill>
          <a:ln w="12700">
            <a:solidFill>
              <a:srgbClr val="1A3562"/>
            </a:solidFill>
            <a:prstDash val="solid"/>
          </a:ln>
        </p:spPr>
      </p:sp>
      <p:sp>
        <p:nvSpPr>
          <p:cNvPr id="16" name="Text 14"/>
          <p:cNvSpPr/>
          <p:nvPr/>
        </p:nvSpPr>
        <p:spPr>
          <a:xfrm>
            <a:off x="329184" y="1664208"/>
            <a:ext cx="310896" cy="310896"/>
          </a:xfrm>
          <a:prstGeom prst="rect">
            <a:avLst/>
          </a:prstGeom>
          <a:noFill/>
          <a:ln/>
        </p:spPr>
        <p:txBody>
          <a:bodyPr wrap="square" lIns="0" tIns="0" rIns="0" bIns="0" rtlCol="0" anchor="ctr"/>
          <a:lstStyle/>
          <a:p>
            <a:pPr algn="ctr" indent="0" marL="0">
              <a:buNone/>
            </a:pPr>
            <a:r>
              <a:rPr lang="en-US" sz="800" b="1" dirty="0">
                <a:solidFill>
                  <a:srgbClr val="D4A017"/>
                </a:solidFill>
                <a:latin typeface="Calibri" pitchFamily="34" charset="0"/>
                <a:ea typeface="Calibri" pitchFamily="34" charset="-122"/>
                <a:cs typeface="Calibri" pitchFamily="34" charset="-120"/>
              </a:rPr>
              <a:t>03</a:t>
            </a:r>
            <a:endParaRPr lang="en-US" sz="800" dirty="0"/>
          </a:p>
        </p:txBody>
      </p:sp>
      <p:sp>
        <p:nvSpPr>
          <p:cNvPr id="17" name="Text 15"/>
          <p:cNvSpPr/>
          <p:nvPr/>
        </p:nvSpPr>
        <p:spPr>
          <a:xfrm>
            <a:off x="713232" y="1627632"/>
            <a:ext cx="1810512" cy="256032"/>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Research Objectives</a:t>
            </a:r>
            <a:endParaRPr lang="en-US" sz="1000" dirty="0"/>
          </a:p>
        </p:txBody>
      </p:sp>
      <p:sp>
        <p:nvSpPr>
          <p:cNvPr id="18" name="Text 16"/>
          <p:cNvSpPr/>
          <p:nvPr/>
        </p:nvSpPr>
        <p:spPr>
          <a:xfrm>
            <a:off x="713232" y="1883664"/>
            <a:ext cx="3657600" cy="16459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Specific, measurable aims of the study (usually 3-5 objectives)</a:t>
            </a:r>
            <a:endParaRPr lang="en-US" sz="850" dirty="0"/>
          </a:p>
        </p:txBody>
      </p:sp>
      <p:sp>
        <p:nvSpPr>
          <p:cNvPr id="19" name="Shape 17"/>
          <p:cNvSpPr/>
          <p:nvPr/>
        </p:nvSpPr>
        <p:spPr>
          <a:xfrm>
            <a:off x="4736592" y="1572768"/>
            <a:ext cx="4224528" cy="493776"/>
          </a:xfrm>
          <a:prstGeom prst="roundRect">
            <a:avLst>
              <a:gd name="adj" fmla="val 11111"/>
            </a:avLst>
          </a:prstGeom>
          <a:solidFill>
            <a:srgbClr val="FFFFFF"/>
          </a:solidFill>
          <a:ln w="10160">
            <a:solidFill>
              <a:srgbClr val="D0E8F8"/>
            </a:solidFill>
            <a:prstDash val="solid"/>
          </a:ln>
        </p:spPr>
      </p:sp>
      <p:sp>
        <p:nvSpPr>
          <p:cNvPr id="20" name="Shape 18"/>
          <p:cNvSpPr/>
          <p:nvPr/>
        </p:nvSpPr>
        <p:spPr>
          <a:xfrm>
            <a:off x="4809744" y="1664208"/>
            <a:ext cx="310896" cy="310896"/>
          </a:xfrm>
          <a:prstGeom prst="ellipse">
            <a:avLst/>
          </a:prstGeom>
          <a:solidFill>
            <a:srgbClr val="1A3562"/>
          </a:solidFill>
          <a:ln w="12700">
            <a:solidFill>
              <a:srgbClr val="1A3562"/>
            </a:solidFill>
            <a:prstDash val="solid"/>
          </a:ln>
        </p:spPr>
      </p:sp>
      <p:sp>
        <p:nvSpPr>
          <p:cNvPr id="21" name="Text 19"/>
          <p:cNvSpPr/>
          <p:nvPr/>
        </p:nvSpPr>
        <p:spPr>
          <a:xfrm>
            <a:off x="4809744" y="1664208"/>
            <a:ext cx="310896" cy="310896"/>
          </a:xfrm>
          <a:prstGeom prst="rect">
            <a:avLst/>
          </a:prstGeom>
          <a:noFill/>
          <a:ln/>
        </p:spPr>
        <p:txBody>
          <a:bodyPr wrap="square" lIns="0" tIns="0" rIns="0" bIns="0" rtlCol="0" anchor="ctr"/>
          <a:lstStyle/>
          <a:p>
            <a:pPr algn="ctr" indent="0" marL="0">
              <a:buNone/>
            </a:pPr>
            <a:r>
              <a:rPr lang="en-US" sz="800" b="1" dirty="0">
                <a:solidFill>
                  <a:srgbClr val="D4A017"/>
                </a:solidFill>
                <a:latin typeface="Calibri" pitchFamily="34" charset="0"/>
                <a:ea typeface="Calibri" pitchFamily="34" charset="-122"/>
                <a:cs typeface="Calibri" pitchFamily="34" charset="-120"/>
              </a:rPr>
              <a:t>04</a:t>
            </a:r>
            <a:endParaRPr lang="en-US" sz="800" dirty="0"/>
          </a:p>
        </p:txBody>
      </p:sp>
      <p:sp>
        <p:nvSpPr>
          <p:cNvPr id="22" name="Text 20"/>
          <p:cNvSpPr/>
          <p:nvPr/>
        </p:nvSpPr>
        <p:spPr>
          <a:xfrm>
            <a:off x="5193792" y="1627632"/>
            <a:ext cx="1810512" cy="256032"/>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Research Questions and Hypotheses</a:t>
            </a:r>
            <a:endParaRPr lang="en-US" sz="1000" dirty="0"/>
          </a:p>
        </p:txBody>
      </p:sp>
      <p:sp>
        <p:nvSpPr>
          <p:cNvPr id="23" name="Text 21"/>
          <p:cNvSpPr/>
          <p:nvPr/>
        </p:nvSpPr>
        <p:spPr>
          <a:xfrm>
            <a:off x="5193792" y="1883664"/>
            <a:ext cx="3657600" cy="16459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Precise questions the study will answer; testable H0 and H1</a:t>
            </a:r>
            <a:endParaRPr lang="en-US" sz="850" dirty="0"/>
          </a:p>
        </p:txBody>
      </p:sp>
      <p:sp>
        <p:nvSpPr>
          <p:cNvPr id="24" name="Shape 22"/>
          <p:cNvSpPr/>
          <p:nvPr/>
        </p:nvSpPr>
        <p:spPr>
          <a:xfrm>
            <a:off x="256032" y="2139696"/>
            <a:ext cx="4224528" cy="493776"/>
          </a:xfrm>
          <a:prstGeom prst="roundRect">
            <a:avLst>
              <a:gd name="adj" fmla="val 11111"/>
            </a:avLst>
          </a:prstGeom>
          <a:solidFill>
            <a:srgbClr val="FFFFFF"/>
          </a:solidFill>
          <a:ln w="10160">
            <a:solidFill>
              <a:srgbClr val="D0E8F8"/>
            </a:solidFill>
            <a:prstDash val="solid"/>
          </a:ln>
        </p:spPr>
      </p:sp>
      <p:sp>
        <p:nvSpPr>
          <p:cNvPr id="25" name="Shape 23"/>
          <p:cNvSpPr/>
          <p:nvPr/>
        </p:nvSpPr>
        <p:spPr>
          <a:xfrm>
            <a:off x="329184" y="2231136"/>
            <a:ext cx="310896" cy="310896"/>
          </a:xfrm>
          <a:prstGeom prst="ellipse">
            <a:avLst/>
          </a:prstGeom>
          <a:solidFill>
            <a:srgbClr val="1A3562"/>
          </a:solidFill>
          <a:ln w="12700">
            <a:solidFill>
              <a:srgbClr val="1A3562"/>
            </a:solidFill>
            <a:prstDash val="solid"/>
          </a:ln>
        </p:spPr>
      </p:sp>
      <p:sp>
        <p:nvSpPr>
          <p:cNvPr id="26" name="Text 24"/>
          <p:cNvSpPr/>
          <p:nvPr/>
        </p:nvSpPr>
        <p:spPr>
          <a:xfrm>
            <a:off x="329184" y="2231136"/>
            <a:ext cx="310896" cy="310896"/>
          </a:xfrm>
          <a:prstGeom prst="rect">
            <a:avLst/>
          </a:prstGeom>
          <a:noFill/>
          <a:ln/>
        </p:spPr>
        <p:txBody>
          <a:bodyPr wrap="square" lIns="0" tIns="0" rIns="0" bIns="0" rtlCol="0" anchor="ctr"/>
          <a:lstStyle/>
          <a:p>
            <a:pPr algn="ctr" indent="0" marL="0">
              <a:buNone/>
            </a:pPr>
            <a:r>
              <a:rPr lang="en-US" sz="800" b="1" dirty="0">
                <a:solidFill>
                  <a:srgbClr val="D4A017"/>
                </a:solidFill>
                <a:latin typeface="Calibri" pitchFamily="34" charset="0"/>
                <a:ea typeface="Calibri" pitchFamily="34" charset="-122"/>
                <a:cs typeface="Calibri" pitchFamily="34" charset="-120"/>
              </a:rPr>
              <a:t>05</a:t>
            </a:r>
            <a:endParaRPr lang="en-US" sz="800" dirty="0"/>
          </a:p>
        </p:txBody>
      </p:sp>
      <p:sp>
        <p:nvSpPr>
          <p:cNvPr id="27" name="Text 25"/>
          <p:cNvSpPr/>
          <p:nvPr/>
        </p:nvSpPr>
        <p:spPr>
          <a:xfrm>
            <a:off x="713232" y="2194560"/>
            <a:ext cx="1810512" cy="256032"/>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Study Design</a:t>
            </a:r>
            <a:endParaRPr lang="en-US" sz="1000" dirty="0"/>
          </a:p>
        </p:txBody>
      </p:sp>
      <p:sp>
        <p:nvSpPr>
          <p:cNvPr id="28" name="Text 26"/>
          <p:cNvSpPr/>
          <p:nvPr/>
        </p:nvSpPr>
        <p:spPr>
          <a:xfrm>
            <a:off x="713232" y="2450592"/>
            <a:ext cx="3657600" cy="16459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Type of study, time frame, unit of analysis</a:t>
            </a:r>
            <a:endParaRPr lang="en-US" sz="850" dirty="0"/>
          </a:p>
        </p:txBody>
      </p:sp>
      <p:sp>
        <p:nvSpPr>
          <p:cNvPr id="29" name="Shape 27"/>
          <p:cNvSpPr/>
          <p:nvPr/>
        </p:nvSpPr>
        <p:spPr>
          <a:xfrm>
            <a:off x="4736592" y="2139696"/>
            <a:ext cx="4224528" cy="493776"/>
          </a:xfrm>
          <a:prstGeom prst="roundRect">
            <a:avLst>
              <a:gd name="adj" fmla="val 11111"/>
            </a:avLst>
          </a:prstGeom>
          <a:solidFill>
            <a:srgbClr val="FFFFFF"/>
          </a:solidFill>
          <a:ln w="10160">
            <a:solidFill>
              <a:srgbClr val="D0E8F8"/>
            </a:solidFill>
            <a:prstDash val="solid"/>
          </a:ln>
        </p:spPr>
      </p:sp>
      <p:sp>
        <p:nvSpPr>
          <p:cNvPr id="30" name="Shape 28"/>
          <p:cNvSpPr/>
          <p:nvPr/>
        </p:nvSpPr>
        <p:spPr>
          <a:xfrm>
            <a:off x="4809744" y="2231136"/>
            <a:ext cx="310896" cy="310896"/>
          </a:xfrm>
          <a:prstGeom prst="ellipse">
            <a:avLst/>
          </a:prstGeom>
          <a:solidFill>
            <a:srgbClr val="1A3562"/>
          </a:solidFill>
          <a:ln w="12700">
            <a:solidFill>
              <a:srgbClr val="1A3562"/>
            </a:solidFill>
            <a:prstDash val="solid"/>
          </a:ln>
        </p:spPr>
      </p:sp>
      <p:sp>
        <p:nvSpPr>
          <p:cNvPr id="31" name="Text 29"/>
          <p:cNvSpPr/>
          <p:nvPr/>
        </p:nvSpPr>
        <p:spPr>
          <a:xfrm>
            <a:off x="4809744" y="2231136"/>
            <a:ext cx="310896" cy="310896"/>
          </a:xfrm>
          <a:prstGeom prst="rect">
            <a:avLst/>
          </a:prstGeom>
          <a:noFill/>
          <a:ln/>
        </p:spPr>
        <p:txBody>
          <a:bodyPr wrap="square" lIns="0" tIns="0" rIns="0" bIns="0" rtlCol="0" anchor="ctr"/>
          <a:lstStyle/>
          <a:p>
            <a:pPr algn="ctr" indent="0" marL="0">
              <a:buNone/>
            </a:pPr>
            <a:r>
              <a:rPr lang="en-US" sz="800" b="1" dirty="0">
                <a:solidFill>
                  <a:srgbClr val="D4A017"/>
                </a:solidFill>
                <a:latin typeface="Calibri" pitchFamily="34" charset="0"/>
                <a:ea typeface="Calibri" pitchFamily="34" charset="-122"/>
                <a:cs typeface="Calibri" pitchFamily="34" charset="-120"/>
              </a:rPr>
              <a:t>06</a:t>
            </a:r>
            <a:endParaRPr lang="en-US" sz="800" dirty="0"/>
          </a:p>
        </p:txBody>
      </p:sp>
      <p:sp>
        <p:nvSpPr>
          <p:cNvPr id="32" name="Text 30"/>
          <p:cNvSpPr/>
          <p:nvPr/>
        </p:nvSpPr>
        <p:spPr>
          <a:xfrm>
            <a:off x="5193792" y="2194560"/>
            <a:ext cx="1810512" cy="256032"/>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Study Population</a:t>
            </a:r>
            <a:endParaRPr lang="en-US" sz="1000" dirty="0"/>
          </a:p>
        </p:txBody>
      </p:sp>
      <p:sp>
        <p:nvSpPr>
          <p:cNvPr id="33" name="Text 31"/>
          <p:cNvSpPr/>
          <p:nvPr/>
        </p:nvSpPr>
        <p:spPr>
          <a:xfrm>
            <a:off x="5193792" y="2450592"/>
            <a:ext cx="3657600" cy="16459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Target population, inclusion criteria, exclusion criteria</a:t>
            </a:r>
            <a:endParaRPr lang="en-US" sz="850" dirty="0"/>
          </a:p>
        </p:txBody>
      </p:sp>
      <p:sp>
        <p:nvSpPr>
          <p:cNvPr id="34" name="Shape 32"/>
          <p:cNvSpPr/>
          <p:nvPr/>
        </p:nvSpPr>
        <p:spPr>
          <a:xfrm>
            <a:off x="256032" y="2706624"/>
            <a:ext cx="4224528" cy="493776"/>
          </a:xfrm>
          <a:prstGeom prst="roundRect">
            <a:avLst>
              <a:gd name="adj" fmla="val 11111"/>
            </a:avLst>
          </a:prstGeom>
          <a:solidFill>
            <a:srgbClr val="FFFFFF"/>
          </a:solidFill>
          <a:ln w="10160">
            <a:solidFill>
              <a:srgbClr val="D0E8F8"/>
            </a:solidFill>
            <a:prstDash val="solid"/>
          </a:ln>
        </p:spPr>
      </p:sp>
      <p:sp>
        <p:nvSpPr>
          <p:cNvPr id="35" name="Shape 33"/>
          <p:cNvSpPr/>
          <p:nvPr/>
        </p:nvSpPr>
        <p:spPr>
          <a:xfrm>
            <a:off x="329184" y="2798064"/>
            <a:ext cx="310896" cy="310896"/>
          </a:xfrm>
          <a:prstGeom prst="ellipse">
            <a:avLst/>
          </a:prstGeom>
          <a:solidFill>
            <a:srgbClr val="1A3562"/>
          </a:solidFill>
          <a:ln w="12700">
            <a:solidFill>
              <a:srgbClr val="1A3562"/>
            </a:solidFill>
            <a:prstDash val="solid"/>
          </a:ln>
        </p:spPr>
      </p:sp>
      <p:sp>
        <p:nvSpPr>
          <p:cNvPr id="36" name="Text 34"/>
          <p:cNvSpPr/>
          <p:nvPr/>
        </p:nvSpPr>
        <p:spPr>
          <a:xfrm>
            <a:off x="329184" y="2798064"/>
            <a:ext cx="310896" cy="310896"/>
          </a:xfrm>
          <a:prstGeom prst="rect">
            <a:avLst/>
          </a:prstGeom>
          <a:noFill/>
          <a:ln/>
        </p:spPr>
        <p:txBody>
          <a:bodyPr wrap="square" lIns="0" tIns="0" rIns="0" bIns="0" rtlCol="0" anchor="ctr"/>
          <a:lstStyle/>
          <a:p>
            <a:pPr algn="ctr" indent="0" marL="0">
              <a:buNone/>
            </a:pPr>
            <a:r>
              <a:rPr lang="en-US" sz="800" b="1" dirty="0">
                <a:solidFill>
                  <a:srgbClr val="D4A017"/>
                </a:solidFill>
                <a:latin typeface="Calibri" pitchFamily="34" charset="0"/>
                <a:ea typeface="Calibri" pitchFamily="34" charset="-122"/>
                <a:cs typeface="Calibri" pitchFamily="34" charset="-120"/>
              </a:rPr>
              <a:t>07</a:t>
            </a:r>
            <a:endParaRPr lang="en-US" sz="800" dirty="0"/>
          </a:p>
        </p:txBody>
      </p:sp>
      <p:sp>
        <p:nvSpPr>
          <p:cNvPr id="37" name="Text 35"/>
          <p:cNvSpPr/>
          <p:nvPr/>
        </p:nvSpPr>
        <p:spPr>
          <a:xfrm>
            <a:off x="713232" y="2761488"/>
            <a:ext cx="1810512" cy="256032"/>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Sample Size</a:t>
            </a:r>
            <a:endParaRPr lang="en-US" sz="1000" dirty="0"/>
          </a:p>
        </p:txBody>
      </p:sp>
      <p:sp>
        <p:nvSpPr>
          <p:cNvPr id="38" name="Text 36"/>
          <p:cNvSpPr/>
          <p:nvPr/>
        </p:nvSpPr>
        <p:spPr>
          <a:xfrm>
            <a:off x="713232" y="3017520"/>
            <a:ext cx="3657600" cy="16459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Calculated with formula and justification (Yamane / Cochran)</a:t>
            </a:r>
            <a:endParaRPr lang="en-US" sz="850" dirty="0"/>
          </a:p>
        </p:txBody>
      </p:sp>
      <p:sp>
        <p:nvSpPr>
          <p:cNvPr id="39" name="Shape 37"/>
          <p:cNvSpPr/>
          <p:nvPr/>
        </p:nvSpPr>
        <p:spPr>
          <a:xfrm>
            <a:off x="4736592" y="2706624"/>
            <a:ext cx="4224528" cy="493776"/>
          </a:xfrm>
          <a:prstGeom prst="roundRect">
            <a:avLst>
              <a:gd name="adj" fmla="val 11111"/>
            </a:avLst>
          </a:prstGeom>
          <a:solidFill>
            <a:srgbClr val="FFFFFF"/>
          </a:solidFill>
          <a:ln w="10160">
            <a:solidFill>
              <a:srgbClr val="D0E8F8"/>
            </a:solidFill>
            <a:prstDash val="solid"/>
          </a:ln>
        </p:spPr>
      </p:sp>
      <p:sp>
        <p:nvSpPr>
          <p:cNvPr id="40" name="Shape 38"/>
          <p:cNvSpPr/>
          <p:nvPr/>
        </p:nvSpPr>
        <p:spPr>
          <a:xfrm>
            <a:off x="4809744" y="2798064"/>
            <a:ext cx="310896" cy="310896"/>
          </a:xfrm>
          <a:prstGeom prst="ellipse">
            <a:avLst/>
          </a:prstGeom>
          <a:solidFill>
            <a:srgbClr val="1A3562"/>
          </a:solidFill>
          <a:ln w="12700">
            <a:solidFill>
              <a:srgbClr val="1A3562"/>
            </a:solidFill>
            <a:prstDash val="solid"/>
          </a:ln>
        </p:spPr>
      </p:sp>
      <p:sp>
        <p:nvSpPr>
          <p:cNvPr id="41" name="Text 39"/>
          <p:cNvSpPr/>
          <p:nvPr/>
        </p:nvSpPr>
        <p:spPr>
          <a:xfrm>
            <a:off x="4809744" y="2798064"/>
            <a:ext cx="310896" cy="310896"/>
          </a:xfrm>
          <a:prstGeom prst="rect">
            <a:avLst/>
          </a:prstGeom>
          <a:noFill/>
          <a:ln/>
        </p:spPr>
        <p:txBody>
          <a:bodyPr wrap="square" lIns="0" tIns="0" rIns="0" bIns="0" rtlCol="0" anchor="ctr"/>
          <a:lstStyle/>
          <a:p>
            <a:pPr algn="ctr" indent="0" marL="0">
              <a:buNone/>
            </a:pPr>
            <a:r>
              <a:rPr lang="en-US" sz="800" b="1" dirty="0">
                <a:solidFill>
                  <a:srgbClr val="D4A017"/>
                </a:solidFill>
                <a:latin typeface="Calibri" pitchFamily="34" charset="0"/>
                <a:ea typeface="Calibri" pitchFamily="34" charset="-122"/>
                <a:cs typeface="Calibri" pitchFamily="34" charset="-120"/>
              </a:rPr>
              <a:t>08</a:t>
            </a:r>
            <a:endParaRPr lang="en-US" sz="800" dirty="0"/>
          </a:p>
        </p:txBody>
      </p:sp>
      <p:sp>
        <p:nvSpPr>
          <p:cNvPr id="42" name="Text 40"/>
          <p:cNvSpPr/>
          <p:nvPr/>
        </p:nvSpPr>
        <p:spPr>
          <a:xfrm>
            <a:off x="5193792" y="2761488"/>
            <a:ext cx="1810512" cy="256032"/>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Sampling Procedure</a:t>
            </a:r>
            <a:endParaRPr lang="en-US" sz="1000" dirty="0"/>
          </a:p>
        </p:txBody>
      </p:sp>
      <p:sp>
        <p:nvSpPr>
          <p:cNvPr id="43" name="Text 41"/>
          <p:cNvSpPr/>
          <p:nvPr/>
        </p:nvSpPr>
        <p:spPr>
          <a:xfrm>
            <a:off x="5193792" y="3017520"/>
            <a:ext cx="3657600" cy="16459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Method (simple random, stratified, etc.) and selection process</a:t>
            </a:r>
            <a:endParaRPr lang="en-US" sz="850" dirty="0"/>
          </a:p>
        </p:txBody>
      </p:sp>
      <p:sp>
        <p:nvSpPr>
          <p:cNvPr id="44" name="Shape 42"/>
          <p:cNvSpPr/>
          <p:nvPr/>
        </p:nvSpPr>
        <p:spPr>
          <a:xfrm>
            <a:off x="256032" y="3273552"/>
            <a:ext cx="4224528" cy="493776"/>
          </a:xfrm>
          <a:prstGeom prst="roundRect">
            <a:avLst>
              <a:gd name="adj" fmla="val 11111"/>
            </a:avLst>
          </a:prstGeom>
          <a:solidFill>
            <a:srgbClr val="FFFFFF"/>
          </a:solidFill>
          <a:ln w="10160">
            <a:solidFill>
              <a:srgbClr val="D0E8F8"/>
            </a:solidFill>
            <a:prstDash val="solid"/>
          </a:ln>
        </p:spPr>
      </p:sp>
      <p:sp>
        <p:nvSpPr>
          <p:cNvPr id="45" name="Shape 43"/>
          <p:cNvSpPr/>
          <p:nvPr/>
        </p:nvSpPr>
        <p:spPr>
          <a:xfrm>
            <a:off x="329184" y="3364992"/>
            <a:ext cx="310896" cy="310896"/>
          </a:xfrm>
          <a:prstGeom prst="ellipse">
            <a:avLst/>
          </a:prstGeom>
          <a:solidFill>
            <a:srgbClr val="1A3562"/>
          </a:solidFill>
          <a:ln w="12700">
            <a:solidFill>
              <a:srgbClr val="1A3562"/>
            </a:solidFill>
            <a:prstDash val="solid"/>
          </a:ln>
        </p:spPr>
      </p:sp>
      <p:sp>
        <p:nvSpPr>
          <p:cNvPr id="46" name="Text 44"/>
          <p:cNvSpPr/>
          <p:nvPr/>
        </p:nvSpPr>
        <p:spPr>
          <a:xfrm>
            <a:off x="329184" y="3364992"/>
            <a:ext cx="310896" cy="310896"/>
          </a:xfrm>
          <a:prstGeom prst="rect">
            <a:avLst/>
          </a:prstGeom>
          <a:noFill/>
          <a:ln/>
        </p:spPr>
        <p:txBody>
          <a:bodyPr wrap="square" lIns="0" tIns="0" rIns="0" bIns="0" rtlCol="0" anchor="ctr"/>
          <a:lstStyle/>
          <a:p>
            <a:pPr algn="ctr" indent="0" marL="0">
              <a:buNone/>
            </a:pPr>
            <a:r>
              <a:rPr lang="en-US" sz="800" b="1" dirty="0">
                <a:solidFill>
                  <a:srgbClr val="D4A017"/>
                </a:solidFill>
                <a:latin typeface="Calibri" pitchFamily="34" charset="0"/>
                <a:ea typeface="Calibri" pitchFamily="34" charset="-122"/>
                <a:cs typeface="Calibri" pitchFamily="34" charset="-120"/>
              </a:rPr>
              <a:t>09</a:t>
            </a:r>
            <a:endParaRPr lang="en-US" sz="800" dirty="0"/>
          </a:p>
        </p:txBody>
      </p:sp>
      <p:sp>
        <p:nvSpPr>
          <p:cNvPr id="47" name="Text 45"/>
          <p:cNvSpPr/>
          <p:nvPr/>
        </p:nvSpPr>
        <p:spPr>
          <a:xfrm>
            <a:off x="713232" y="3328416"/>
            <a:ext cx="1810512" cy="256032"/>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Data Collection Instruments</a:t>
            </a:r>
            <a:endParaRPr lang="en-US" sz="1000" dirty="0"/>
          </a:p>
        </p:txBody>
      </p:sp>
      <p:sp>
        <p:nvSpPr>
          <p:cNvPr id="48" name="Text 46"/>
          <p:cNvSpPr/>
          <p:nvPr/>
        </p:nvSpPr>
        <p:spPr>
          <a:xfrm>
            <a:off x="713232" y="3584448"/>
            <a:ext cx="3657600" cy="16459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Questionnaire, FGD guide, KII guide - attached as appendices</a:t>
            </a:r>
            <a:endParaRPr lang="en-US" sz="850" dirty="0"/>
          </a:p>
        </p:txBody>
      </p:sp>
      <p:sp>
        <p:nvSpPr>
          <p:cNvPr id="49" name="Shape 47"/>
          <p:cNvSpPr/>
          <p:nvPr/>
        </p:nvSpPr>
        <p:spPr>
          <a:xfrm>
            <a:off x="4736592" y="3273552"/>
            <a:ext cx="4224528" cy="493776"/>
          </a:xfrm>
          <a:prstGeom prst="roundRect">
            <a:avLst>
              <a:gd name="adj" fmla="val 11111"/>
            </a:avLst>
          </a:prstGeom>
          <a:solidFill>
            <a:srgbClr val="FFFFFF"/>
          </a:solidFill>
          <a:ln w="10160">
            <a:solidFill>
              <a:srgbClr val="D0E8F8"/>
            </a:solidFill>
            <a:prstDash val="solid"/>
          </a:ln>
        </p:spPr>
      </p:sp>
      <p:sp>
        <p:nvSpPr>
          <p:cNvPr id="50" name="Shape 48"/>
          <p:cNvSpPr/>
          <p:nvPr/>
        </p:nvSpPr>
        <p:spPr>
          <a:xfrm>
            <a:off x="4809744" y="3364992"/>
            <a:ext cx="310896" cy="310896"/>
          </a:xfrm>
          <a:prstGeom prst="ellipse">
            <a:avLst/>
          </a:prstGeom>
          <a:solidFill>
            <a:srgbClr val="1A3562"/>
          </a:solidFill>
          <a:ln w="12700">
            <a:solidFill>
              <a:srgbClr val="1A3562"/>
            </a:solidFill>
            <a:prstDash val="solid"/>
          </a:ln>
        </p:spPr>
      </p:sp>
      <p:sp>
        <p:nvSpPr>
          <p:cNvPr id="51" name="Text 49"/>
          <p:cNvSpPr/>
          <p:nvPr/>
        </p:nvSpPr>
        <p:spPr>
          <a:xfrm>
            <a:off x="4809744" y="3364992"/>
            <a:ext cx="310896" cy="310896"/>
          </a:xfrm>
          <a:prstGeom prst="rect">
            <a:avLst/>
          </a:prstGeom>
          <a:noFill/>
          <a:ln/>
        </p:spPr>
        <p:txBody>
          <a:bodyPr wrap="square" lIns="0" tIns="0" rIns="0" bIns="0" rtlCol="0" anchor="ctr"/>
          <a:lstStyle/>
          <a:p>
            <a:pPr algn="ctr" indent="0" marL="0">
              <a:buNone/>
            </a:pPr>
            <a:r>
              <a:rPr lang="en-US" sz="800" b="1" dirty="0">
                <a:solidFill>
                  <a:srgbClr val="D4A017"/>
                </a:solidFill>
                <a:latin typeface="Calibri" pitchFamily="34" charset="0"/>
                <a:ea typeface="Calibri" pitchFamily="34" charset="-122"/>
                <a:cs typeface="Calibri" pitchFamily="34" charset="-120"/>
              </a:rPr>
              <a:t>10</a:t>
            </a:r>
            <a:endParaRPr lang="en-US" sz="800" dirty="0"/>
          </a:p>
        </p:txBody>
      </p:sp>
      <p:sp>
        <p:nvSpPr>
          <p:cNvPr id="52" name="Text 50"/>
          <p:cNvSpPr/>
          <p:nvPr/>
        </p:nvSpPr>
        <p:spPr>
          <a:xfrm>
            <a:off x="5193792" y="3328416"/>
            <a:ext cx="1810512" cy="256032"/>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Data Management Plan</a:t>
            </a:r>
            <a:endParaRPr lang="en-US" sz="1000" dirty="0"/>
          </a:p>
        </p:txBody>
      </p:sp>
      <p:sp>
        <p:nvSpPr>
          <p:cNvPr id="53" name="Text 51"/>
          <p:cNvSpPr/>
          <p:nvPr/>
        </p:nvSpPr>
        <p:spPr>
          <a:xfrm>
            <a:off x="5193792" y="3584448"/>
            <a:ext cx="3657600" cy="16459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How data will be stored, cleaned, coded, protected, and backed up</a:t>
            </a:r>
            <a:endParaRPr lang="en-US" sz="850" dirty="0"/>
          </a:p>
        </p:txBody>
      </p:sp>
      <p:sp>
        <p:nvSpPr>
          <p:cNvPr id="54" name="Shape 52"/>
          <p:cNvSpPr/>
          <p:nvPr/>
        </p:nvSpPr>
        <p:spPr>
          <a:xfrm>
            <a:off x="256032" y="3840480"/>
            <a:ext cx="4224528" cy="493776"/>
          </a:xfrm>
          <a:prstGeom prst="roundRect">
            <a:avLst>
              <a:gd name="adj" fmla="val 11111"/>
            </a:avLst>
          </a:prstGeom>
          <a:solidFill>
            <a:srgbClr val="FFFFFF"/>
          </a:solidFill>
          <a:ln w="10160">
            <a:solidFill>
              <a:srgbClr val="D0E8F8"/>
            </a:solidFill>
            <a:prstDash val="solid"/>
          </a:ln>
        </p:spPr>
      </p:sp>
      <p:sp>
        <p:nvSpPr>
          <p:cNvPr id="55" name="Shape 53"/>
          <p:cNvSpPr/>
          <p:nvPr/>
        </p:nvSpPr>
        <p:spPr>
          <a:xfrm>
            <a:off x="329184" y="3931920"/>
            <a:ext cx="310896" cy="310896"/>
          </a:xfrm>
          <a:prstGeom prst="ellipse">
            <a:avLst/>
          </a:prstGeom>
          <a:solidFill>
            <a:srgbClr val="1A3562"/>
          </a:solidFill>
          <a:ln w="12700">
            <a:solidFill>
              <a:srgbClr val="1A3562"/>
            </a:solidFill>
            <a:prstDash val="solid"/>
          </a:ln>
        </p:spPr>
      </p:sp>
      <p:sp>
        <p:nvSpPr>
          <p:cNvPr id="56" name="Text 54"/>
          <p:cNvSpPr/>
          <p:nvPr/>
        </p:nvSpPr>
        <p:spPr>
          <a:xfrm>
            <a:off x="329184" y="3931920"/>
            <a:ext cx="310896" cy="310896"/>
          </a:xfrm>
          <a:prstGeom prst="rect">
            <a:avLst/>
          </a:prstGeom>
          <a:noFill/>
          <a:ln/>
        </p:spPr>
        <p:txBody>
          <a:bodyPr wrap="square" lIns="0" tIns="0" rIns="0" bIns="0" rtlCol="0" anchor="ctr"/>
          <a:lstStyle/>
          <a:p>
            <a:pPr algn="ctr" indent="0" marL="0">
              <a:buNone/>
            </a:pPr>
            <a:r>
              <a:rPr lang="en-US" sz="800" b="1" dirty="0">
                <a:solidFill>
                  <a:srgbClr val="D4A017"/>
                </a:solidFill>
                <a:latin typeface="Calibri" pitchFamily="34" charset="0"/>
                <a:ea typeface="Calibri" pitchFamily="34" charset="-122"/>
                <a:cs typeface="Calibri" pitchFamily="34" charset="-120"/>
              </a:rPr>
              <a:t>11</a:t>
            </a:r>
            <a:endParaRPr lang="en-US" sz="800" dirty="0"/>
          </a:p>
        </p:txBody>
      </p:sp>
      <p:sp>
        <p:nvSpPr>
          <p:cNvPr id="57" name="Text 55"/>
          <p:cNvSpPr/>
          <p:nvPr/>
        </p:nvSpPr>
        <p:spPr>
          <a:xfrm>
            <a:off x="713232" y="3895344"/>
            <a:ext cx="1810512" cy="256032"/>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Statistical Analysis Plan</a:t>
            </a:r>
            <a:endParaRPr lang="en-US" sz="1000" dirty="0"/>
          </a:p>
        </p:txBody>
      </p:sp>
      <p:sp>
        <p:nvSpPr>
          <p:cNvPr id="58" name="Text 56"/>
          <p:cNvSpPr/>
          <p:nvPr/>
        </p:nvSpPr>
        <p:spPr>
          <a:xfrm>
            <a:off x="713232" y="4151376"/>
            <a:ext cx="3657600" cy="16459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Which SPSS procedures for which research objectives - specified in advance</a:t>
            </a:r>
            <a:endParaRPr lang="en-US" sz="850" dirty="0"/>
          </a:p>
        </p:txBody>
      </p:sp>
      <p:sp>
        <p:nvSpPr>
          <p:cNvPr id="59" name="Shape 57"/>
          <p:cNvSpPr/>
          <p:nvPr/>
        </p:nvSpPr>
        <p:spPr>
          <a:xfrm>
            <a:off x="4736592" y="3840480"/>
            <a:ext cx="4224528" cy="493776"/>
          </a:xfrm>
          <a:prstGeom prst="roundRect">
            <a:avLst>
              <a:gd name="adj" fmla="val 11111"/>
            </a:avLst>
          </a:prstGeom>
          <a:solidFill>
            <a:srgbClr val="FFFFFF"/>
          </a:solidFill>
          <a:ln w="10160">
            <a:solidFill>
              <a:srgbClr val="D0E8F8"/>
            </a:solidFill>
            <a:prstDash val="solid"/>
          </a:ln>
        </p:spPr>
      </p:sp>
      <p:sp>
        <p:nvSpPr>
          <p:cNvPr id="60" name="Shape 58"/>
          <p:cNvSpPr/>
          <p:nvPr/>
        </p:nvSpPr>
        <p:spPr>
          <a:xfrm>
            <a:off x="4809744" y="3931920"/>
            <a:ext cx="310896" cy="310896"/>
          </a:xfrm>
          <a:prstGeom prst="ellipse">
            <a:avLst/>
          </a:prstGeom>
          <a:solidFill>
            <a:srgbClr val="1A3562"/>
          </a:solidFill>
          <a:ln w="12700">
            <a:solidFill>
              <a:srgbClr val="1A3562"/>
            </a:solidFill>
            <a:prstDash val="solid"/>
          </a:ln>
        </p:spPr>
      </p:sp>
      <p:sp>
        <p:nvSpPr>
          <p:cNvPr id="61" name="Text 59"/>
          <p:cNvSpPr/>
          <p:nvPr/>
        </p:nvSpPr>
        <p:spPr>
          <a:xfrm>
            <a:off x="4809744" y="3931920"/>
            <a:ext cx="310896" cy="310896"/>
          </a:xfrm>
          <a:prstGeom prst="rect">
            <a:avLst/>
          </a:prstGeom>
          <a:noFill/>
          <a:ln/>
        </p:spPr>
        <p:txBody>
          <a:bodyPr wrap="square" lIns="0" tIns="0" rIns="0" bIns="0" rtlCol="0" anchor="ctr"/>
          <a:lstStyle/>
          <a:p>
            <a:pPr algn="ctr" indent="0" marL="0">
              <a:buNone/>
            </a:pPr>
            <a:r>
              <a:rPr lang="en-US" sz="800" b="1" dirty="0">
                <a:solidFill>
                  <a:srgbClr val="D4A017"/>
                </a:solidFill>
                <a:latin typeface="Calibri" pitchFamily="34" charset="0"/>
                <a:ea typeface="Calibri" pitchFamily="34" charset="-122"/>
                <a:cs typeface="Calibri" pitchFamily="34" charset="-120"/>
              </a:rPr>
              <a:t>12</a:t>
            </a:r>
            <a:endParaRPr lang="en-US" sz="800" dirty="0"/>
          </a:p>
        </p:txBody>
      </p:sp>
      <p:sp>
        <p:nvSpPr>
          <p:cNvPr id="62" name="Text 60"/>
          <p:cNvSpPr/>
          <p:nvPr/>
        </p:nvSpPr>
        <p:spPr>
          <a:xfrm>
            <a:off x="5193792" y="3895344"/>
            <a:ext cx="1810512" cy="256032"/>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Ethical Considerations</a:t>
            </a:r>
            <a:endParaRPr lang="en-US" sz="1000" dirty="0"/>
          </a:p>
        </p:txBody>
      </p:sp>
      <p:sp>
        <p:nvSpPr>
          <p:cNvPr id="63" name="Text 61"/>
          <p:cNvSpPr/>
          <p:nvPr/>
        </p:nvSpPr>
        <p:spPr>
          <a:xfrm>
            <a:off x="5193792" y="4151376"/>
            <a:ext cx="3657600" cy="16459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Informed consent process, confidentiality, data anonymisation, risk-benefit</a:t>
            </a:r>
            <a:endParaRPr lang="en-US" sz="850" dirty="0"/>
          </a:p>
        </p:txBody>
      </p:sp>
      <p:sp>
        <p:nvSpPr>
          <p:cNvPr id="64" name="Shape 62"/>
          <p:cNvSpPr/>
          <p:nvPr/>
        </p:nvSpPr>
        <p:spPr>
          <a:xfrm>
            <a:off x="256032" y="4407408"/>
            <a:ext cx="4224528" cy="493776"/>
          </a:xfrm>
          <a:prstGeom prst="roundRect">
            <a:avLst>
              <a:gd name="adj" fmla="val 11111"/>
            </a:avLst>
          </a:prstGeom>
          <a:solidFill>
            <a:srgbClr val="FFFFFF"/>
          </a:solidFill>
          <a:ln w="10160">
            <a:solidFill>
              <a:srgbClr val="D0E8F8"/>
            </a:solidFill>
            <a:prstDash val="solid"/>
          </a:ln>
        </p:spPr>
      </p:sp>
      <p:sp>
        <p:nvSpPr>
          <p:cNvPr id="65" name="Shape 63"/>
          <p:cNvSpPr/>
          <p:nvPr/>
        </p:nvSpPr>
        <p:spPr>
          <a:xfrm>
            <a:off x="329184" y="4498848"/>
            <a:ext cx="310896" cy="310896"/>
          </a:xfrm>
          <a:prstGeom prst="ellipse">
            <a:avLst/>
          </a:prstGeom>
          <a:solidFill>
            <a:srgbClr val="1A3562"/>
          </a:solidFill>
          <a:ln w="12700">
            <a:solidFill>
              <a:srgbClr val="1A3562"/>
            </a:solidFill>
            <a:prstDash val="solid"/>
          </a:ln>
        </p:spPr>
      </p:sp>
      <p:sp>
        <p:nvSpPr>
          <p:cNvPr id="66" name="Text 64"/>
          <p:cNvSpPr/>
          <p:nvPr/>
        </p:nvSpPr>
        <p:spPr>
          <a:xfrm>
            <a:off x="329184" y="4498848"/>
            <a:ext cx="310896" cy="310896"/>
          </a:xfrm>
          <a:prstGeom prst="rect">
            <a:avLst/>
          </a:prstGeom>
          <a:noFill/>
          <a:ln/>
        </p:spPr>
        <p:txBody>
          <a:bodyPr wrap="square" lIns="0" tIns="0" rIns="0" bIns="0" rtlCol="0" anchor="ctr"/>
          <a:lstStyle/>
          <a:p>
            <a:pPr algn="ctr" indent="0" marL="0">
              <a:buNone/>
            </a:pPr>
            <a:r>
              <a:rPr lang="en-US" sz="800" b="1" dirty="0">
                <a:solidFill>
                  <a:srgbClr val="D4A017"/>
                </a:solidFill>
                <a:latin typeface="Calibri" pitchFamily="34" charset="0"/>
                <a:ea typeface="Calibri" pitchFamily="34" charset="-122"/>
                <a:cs typeface="Calibri" pitchFamily="34" charset="-120"/>
              </a:rPr>
              <a:t>13</a:t>
            </a:r>
            <a:endParaRPr lang="en-US" sz="800" dirty="0"/>
          </a:p>
        </p:txBody>
      </p:sp>
      <p:sp>
        <p:nvSpPr>
          <p:cNvPr id="67" name="Text 65"/>
          <p:cNvSpPr/>
          <p:nvPr/>
        </p:nvSpPr>
        <p:spPr>
          <a:xfrm>
            <a:off x="713232" y="4462272"/>
            <a:ext cx="1810512" cy="256032"/>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Timeline</a:t>
            </a:r>
            <a:endParaRPr lang="en-US" sz="1000" dirty="0"/>
          </a:p>
        </p:txBody>
      </p:sp>
      <p:sp>
        <p:nvSpPr>
          <p:cNvPr id="68" name="Text 66"/>
          <p:cNvSpPr/>
          <p:nvPr/>
        </p:nvSpPr>
        <p:spPr>
          <a:xfrm>
            <a:off x="713232" y="4718304"/>
            <a:ext cx="3657600" cy="16459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Gantt chart or milestone table from data collection to final report</a:t>
            </a:r>
            <a:endParaRPr lang="en-US" sz="850" dirty="0"/>
          </a:p>
        </p:txBody>
      </p:sp>
      <p:sp>
        <p:nvSpPr>
          <p:cNvPr id="69" name="Shape 67"/>
          <p:cNvSpPr/>
          <p:nvPr/>
        </p:nvSpPr>
        <p:spPr>
          <a:xfrm>
            <a:off x="4736592" y="4407408"/>
            <a:ext cx="4224528" cy="493776"/>
          </a:xfrm>
          <a:prstGeom prst="roundRect">
            <a:avLst>
              <a:gd name="adj" fmla="val 11111"/>
            </a:avLst>
          </a:prstGeom>
          <a:solidFill>
            <a:srgbClr val="FFFFFF"/>
          </a:solidFill>
          <a:ln w="10160">
            <a:solidFill>
              <a:srgbClr val="D0E8F8"/>
            </a:solidFill>
            <a:prstDash val="solid"/>
          </a:ln>
        </p:spPr>
      </p:sp>
      <p:sp>
        <p:nvSpPr>
          <p:cNvPr id="70" name="Shape 68"/>
          <p:cNvSpPr/>
          <p:nvPr/>
        </p:nvSpPr>
        <p:spPr>
          <a:xfrm>
            <a:off x="4809744" y="4498848"/>
            <a:ext cx="310896" cy="310896"/>
          </a:xfrm>
          <a:prstGeom prst="ellipse">
            <a:avLst/>
          </a:prstGeom>
          <a:solidFill>
            <a:srgbClr val="1A3562"/>
          </a:solidFill>
          <a:ln w="12700">
            <a:solidFill>
              <a:srgbClr val="1A3562"/>
            </a:solidFill>
            <a:prstDash val="solid"/>
          </a:ln>
        </p:spPr>
      </p:sp>
      <p:sp>
        <p:nvSpPr>
          <p:cNvPr id="71" name="Text 69"/>
          <p:cNvSpPr/>
          <p:nvPr/>
        </p:nvSpPr>
        <p:spPr>
          <a:xfrm>
            <a:off x="4809744" y="4498848"/>
            <a:ext cx="310896" cy="310896"/>
          </a:xfrm>
          <a:prstGeom prst="rect">
            <a:avLst/>
          </a:prstGeom>
          <a:noFill/>
          <a:ln/>
        </p:spPr>
        <p:txBody>
          <a:bodyPr wrap="square" lIns="0" tIns="0" rIns="0" bIns="0" rtlCol="0" anchor="ctr"/>
          <a:lstStyle/>
          <a:p>
            <a:pPr algn="ctr" indent="0" marL="0">
              <a:buNone/>
            </a:pPr>
            <a:r>
              <a:rPr lang="en-US" sz="800" b="1" dirty="0">
                <a:solidFill>
                  <a:srgbClr val="D4A017"/>
                </a:solidFill>
                <a:latin typeface="Calibri" pitchFamily="34" charset="0"/>
                <a:ea typeface="Calibri" pitchFamily="34" charset="-122"/>
                <a:cs typeface="Calibri" pitchFamily="34" charset="-120"/>
              </a:rPr>
              <a:t>14</a:t>
            </a:r>
            <a:endParaRPr lang="en-US" sz="800" dirty="0"/>
          </a:p>
        </p:txBody>
      </p:sp>
      <p:sp>
        <p:nvSpPr>
          <p:cNvPr id="72" name="Text 70"/>
          <p:cNvSpPr/>
          <p:nvPr/>
        </p:nvSpPr>
        <p:spPr>
          <a:xfrm>
            <a:off x="5193792" y="4462272"/>
            <a:ext cx="1810512" cy="256032"/>
          </a:xfrm>
          <a:prstGeom prst="rect">
            <a:avLst/>
          </a:prstGeom>
          <a:noFill/>
          <a:ln/>
        </p:spPr>
        <p:txBody>
          <a:bodyPr wrap="square" lIns="0" tIns="0" rIns="0" bIns="0" rtlCol="0" anchor="ctr"/>
          <a:lstStyle/>
          <a:p>
            <a:pPr indent="0" marL="0">
              <a:buNone/>
            </a:pPr>
            <a:r>
              <a:rPr lang="en-US" sz="1000" b="1" dirty="0">
                <a:solidFill>
                  <a:srgbClr val="0F1E3C"/>
                </a:solidFill>
                <a:latin typeface="Calibri" pitchFamily="34" charset="0"/>
                <a:ea typeface="Calibri" pitchFamily="34" charset="-122"/>
                <a:cs typeface="Calibri" pitchFamily="34" charset="-120"/>
              </a:rPr>
              <a:t>Budget</a:t>
            </a:r>
            <a:endParaRPr lang="en-US" sz="1000" dirty="0"/>
          </a:p>
        </p:txBody>
      </p:sp>
      <p:sp>
        <p:nvSpPr>
          <p:cNvPr id="73" name="Text 71"/>
          <p:cNvSpPr/>
          <p:nvPr/>
        </p:nvSpPr>
        <p:spPr>
          <a:xfrm>
            <a:off x="5193792" y="4718304"/>
            <a:ext cx="3657600" cy="164592"/>
          </a:xfrm>
          <a:prstGeom prst="rect">
            <a:avLst/>
          </a:prstGeom>
          <a:noFill/>
          <a:ln/>
        </p:spPr>
        <p:txBody>
          <a:bodyPr wrap="square" lIns="0" tIns="0" rIns="0" bIns="0" rtlCol="0" anchor="ctr"/>
          <a:lstStyle/>
          <a:p>
            <a:pPr indent="0" marL="0">
              <a:buNone/>
            </a:pPr>
            <a:r>
              <a:rPr lang="en-US" sz="850" dirty="0">
                <a:solidFill>
                  <a:srgbClr val="64748B"/>
                </a:solidFill>
                <a:latin typeface="Calibri" pitchFamily="34" charset="0"/>
                <a:ea typeface="Calibri" pitchFamily="34" charset="-122"/>
                <a:cs typeface="Calibri" pitchFamily="34" charset="-120"/>
              </a:rPr>
              <a:t>Itemised cost estimate: personnel, data collection, analysis, reporting</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D4A017">
              <a:alpha val="14000"/>
            </a:srgbClr>
          </a:solidFill>
          <a:ln w="12700">
            <a:solidFill>
              <a:srgbClr val="D4A017"/>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Research Protocol in Practice - UAC Foods Case</a:t>
            </a:r>
            <a:endParaRPr lang="en-US" sz="2600" dirty="0"/>
          </a:p>
        </p:txBody>
      </p:sp>
      <p:sp>
        <p:nvSpPr>
          <p:cNvPr id="4" name="Shape 2"/>
          <p:cNvSpPr/>
          <p:nvPr/>
        </p:nvSpPr>
        <p:spPr>
          <a:xfrm>
            <a:off x="274320" y="914400"/>
            <a:ext cx="4160520" cy="1298448"/>
          </a:xfrm>
          <a:prstGeom prst="roundRect">
            <a:avLst>
              <a:gd name="adj" fmla="val 5634"/>
            </a:avLst>
          </a:prstGeom>
          <a:solidFill>
            <a:srgbClr val="0D1F35"/>
          </a:solidFill>
          <a:ln w="10160">
            <a:solidFill>
              <a:srgbClr val="2E86C1"/>
            </a:solidFill>
            <a:prstDash val="solid"/>
          </a:ln>
        </p:spPr>
      </p:sp>
      <p:sp>
        <p:nvSpPr>
          <p:cNvPr id="5" name="Text 3"/>
          <p:cNvSpPr/>
          <p:nvPr/>
        </p:nvSpPr>
        <p:spPr>
          <a:xfrm>
            <a:off x="384048" y="1005840"/>
            <a:ext cx="3913632" cy="274320"/>
          </a:xfrm>
          <a:prstGeom prst="rect">
            <a:avLst/>
          </a:prstGeom>
          <a:noFill/>
          <a:ln/>
        </p:spPr>
        <p:txBody>
          <a:bodyPr wrap="square" lIns="0" tIns="0" rIns="0" bIns="0" rtlCol="0" anchor="ctr"/>
          <a:lstStyle/>
          <a:p>
            <a:pPr indent="0" marL="0">
              <a:buNone/>
            </a:pPr>
            <a:r>
              <a:rPr lang="en-US" sz="1100" b="1" dirty="0">
                <a:solidFill>
                  <a:srgbClr val="F0C040"/>
                </a:solidFill>
                <a:latin typeface="Calibri" pitchFamily="34" charset="0"/>
                <a:ea typeface="Calibri" pitchFamily="34" charset="-122"/>
                <a:cs typeface="Calibri" pitchFamily="34" charset="-120"/>
              </a:rPr>
              <a:t>Study Title</a:t>
            </a:r>
            <a:endParaRPr lang="en-US" sz="1100" dirty="0"/>
          </a:p>
        </p:txBody>
      </p:sp>
      <p:sp>
        <p:nvSpPr>
          <p:cNvPr id="6" name="Text 4"/>
          <p:cNvSpPr/>
          <p:nvPr/>
        </p:nvSpPr>
        <p:spPr>
          <a:xfrm>
            <a:off x="384048" y="1316736"/>
            <a:ext cx="3913632" cy="841248"/>
          </a:xfrm>
          <a:prstGeom prst="rect">
            <a:avLst/>
          </a:prstGeom>
          <a:noFill/>
          <a:ln/>
        </p:spPr>
        <p:txBody>
          <a:bodyPr wrap="square" lIns="0" tIns="0" rIns="0" bIns="0" rtlCol="0" anchor="ctr"/>
          <a:lstStyle/>
          <a:p>
            <a:pPr indent="0" marL="0">
              <a:buNone/>
            </a:pPr>
            <a:r>
              <a:rPr lang="en-US" sz="900" dirty="0">
                <a:solidFill>
                  <a:srgbClr val="A8C8E8"/>
                </a:solidFill>
                <a:latin typeface="Calibri" pitchFamily="34" charset="0"/>
                <a:ea typeface="Calibri" pitchFamily="34" charset="-122"/>
                <a:cs typeface="Calibri" pitchFamily="34" charset="-120"/>
              </a:rPr>
              <a:t>Consumer Satisfaction and Repeat Purchase Behaviour Among Urban Consumers of UAC Foods Limited Products in Lagos State (2025)</a:t>
            </a:r>
            <a:endParaRPr lang="en-US" sz="900" dirty="0"/>
          </a:p>
        </p:txBody>
      </p:sp>
      <p:sp>
        <p:nvSpPr>
          <p:cNvPr id="7" name="Shape 5"/>
          <p:cNvSpPr/>
          <p:nvPr/>
        </p:nvSpPr>
        <p:spPr>
          <a:xfrm>
            <a:off x="4736592" y="914400"/>
            <a:ext cx="4160520" cy="1298448"/>
          </a:xfrm>
          <a:prstGeom prst="roundRect">
            <a:avLst>
              <a:gd name="adj" fmla="val 5634"/>
            </a:avLst>
          </a:prstGeom>
          <a:solidFill>
            <a:srgbClr val="0D1F35"/>
          </a:solidFill>
          <a:ln w="10160">
            <a:solidFill>
              <a:srgbClr val="2E86C1"/>
            </a:solidFill>
            <a:prstDash val="solid"/>
          </a:ln>
        </p:spPr>
      </p:sp>
      <p:sp>
        <p:nvSpPr>
          <p:cNvPr id="8" name="Text 6"/>
          <p:cNvSpPr/>
          <p:nvPr/>
        </p:nvSpPr>
        <p:spPr>
          <a:xfrm>
            <a:off x="4846320" y="1005840"/>
            <a:ext cx="3913632" cy="274320"/>
          </a:xfrm>
          <a:prstGeom prst="rect">
            <a:avLst/>
          </a:prstGeom>
          <a:noFill/>
          <a:ln/>
        </p:spPr>
        <p:txBody>
          <a:bodyPr wrap="square" lIns="0" tIns="0" rIns="0" bIns="0" rtlCol="0" anchor="ctr"/>
          <a:lstStyle/>
          <a:p>
            <a:pPr indent="0" marL="0">
              <a:buNone/>
            </a:pPr>
            <a:r>
              <a:rPr lang="en-US" sz="1100" b="1" dirty="0">
                <a:solidFill>
                  <a:srgbClr val="F0C040"/>
                </a:solidFill>
                <a:latin typeface="Calibri" pitchFamily="34" charset="0"/>
                <a:ea typeface="Calibri" pitchFamily="34" charset="-122"/>
                <a:cs typeface="Calibri" pitchFamily="34" charset="-120"/>
              </a:rPr>
              <a:t>Background</a:t>
            </a:r>
            <a:endParaRPr lang="en-US" sz="1100" dirty="0"/>
          </a:p>
        </p:txBody>
      </p:sp>
      <p:sp>
        <p:nvSpPr>
          <p:cNvPr id="9" name="Text 7"/>
          <p:cNvSpPr/>
          <p:nvPr/>
        </p:nvSpPr>
        <p:spPr>
          <a:xfrm>
            <a:off x="4846320" y="1316736"/>
            <a:ext cx="3913632" cy="841248"/>
          </a:xfrm>
          <a:prstGeom prst="rect">
            <a:avLst/>
          </a:prstGeom>
          <a:noFill/>
          <a:ln/>
        </p:spPr>
        <p:txBody>
          <a:bodyPr wrap="square" lIns="0" tIns="0" rIns="0" bIns="0" rtlCol="0" anchor="ctr"/>
          <a:lstStyle/>
          <a:p>
            <a:pPr indent="0" marL="0">
              <a:buNone/>
            </a:pPr>
            <a:r>
              <a:rPr lang="en-US" sz="900" dirty="0">
                <a:solidFill>
                  <a:srgbClr val="A8C8E8"/>
                </a:solidFill>
                <a:latin typeface="Calibri" pitchFamily="34" charset="0"/>
                <a:ea typeface="Calibri" pitchFamily="34" charset="-122"/>
                <a:cs typeface="Calibri" pitchFamily="34" charset="-120"/>
              </a:rPr>
              <a:t>UAC Foods Ltd. has recorded a 12% decline in repeat purchase rates despite a 15% increase in advertising spend (2024-2025). Existing internal reports identify the problem but do not identify the specific drivers. This study fills that evidence gap.</a:t>
            </a:r>
            <a:endParaRPr lang="en-US" sz="900" dirty="0"/>
          </a:p>
        </p:txBody>
      </p:sp>
      <p:sp>
        <p:nvSpPr>
          <p:cNvPr id="10" name="Shape 8"/>
          <p:cNvSpPr/>
          <p:nvPr/>
        </p:nvSpPr>
        <p:spPr>
          <a:xfrm>
            <a:off x="274320" y="2331720"/>
            <a:ext cx="4160520" cy="1298448"/>
          </a:xfrm>
          <a:prstGeom prst="roundRect">
            <a:avLst>
              <a:gd name="adj" fmla="val 5634"/>
            </a:avLst>
          </a:prstGeom>
          <a:solidFill>
            <a:srgbClr val="0D1F35"/>
          </a:solidFill>
          <a:ln w="10160">
            <a:solidFill>
              <a:srgbClr val="2E86C1"/>
            </a:solidFill>
            <a:prstDash val="solid"/>
          </a:ln>
        </p:spPr>
      </p:sp>
      <p:sp>
        <p:nvSpPr>
          <p:cNvPr id="11" name="Text 9"/>
          <p:cNvSpPr/>
          <p:nvPr/>
        </p:nvSpPr>
        <p:spPr>
          <a:xfrm>
            <a:off x="384048" y="2423160"/>
            <a:ext cx="3913632" cy="274320"/>
          </a:xfrm>
          <a:prstGeom prst="rect">
            <a:avLst/>
          </a:prstGeom>
          <a:noFill/>
          <a:ln/>
        </p:spPr>
        <p:txBody>
          <a:bodyPr wrap="square" lIns="0" tIns="0" rIns="0" bIns="0" rtlCol="0" anchor="ctr"/>
          <a:lstStyle/>
          <a:p>
            <a:pPr indent="0" marL="0">
              <a:buNone/>
            </a:pPr>
            <a:r>
              <a:rPr lang="en-US" sz="1100" b="1" dirty="0">
                <a:solidFill>
                  <a:srgbClr val="F0C040"/>
                </a:solidFill>
                <a:latin typeface="Calibri" pitchFamily="34" charset="0"/>
                <a:ea typeface="Calibri" pitchFamily="34" charset="-122"/>
                <a:cs typeface="Calibri" pitchFamily="34" charset="-120"/>
              </a:rPr>
              <a:t>Objectives</a:t>
            </a:r>
            <a:endParaRPr lang="en-US" sz="1100" dirty="0"/>
          </a:p>
        </p:txBody>
      </p:sp>
      <p:sp>
        <p:nvSpPr>
          <p:cNvPr id="12" name="Text 10"/>
          <p:cNvSpPr/>
          <p:nvPr/>
        </p:nvSpPr>
        <p:spPr>
          <a:xfrm>
            <a:off x="384048" y="2734056"/>
            <a:ext cx="3913632" cy="841248"/>
          </a:xfrm>
          <a:prstGeom prst="rect">
            <a:avLst/>
          </a:prstGeom>
          <a:noFill/>
          <a:ln/>
        </p:spPr>
        <p:txBody>
          <a:bodyPr wrap="square" lIns="0" tIns="0" rIns="0" bIns="0" rtlCol="0" anchor="ctr"/>
          <a:lstStyle/>
          <a:p>
            <a:pPr indent="0" marL="0">
              <a:buNone/>
            </a:pPr>
            <a:r>
              <a:rPr lang="en-US" sz="900" dirty="0">
                <a:solidFill>
                  <a:srgbClr val="A8C8E8"/>
                </a:solidFill>
                <a:latin typeface="Calibri" pitchFamily="34" charset="0"/>
                <a:ea typeface="Calibri" pitchFamily="34" charset="-122"/>
                <a:cs typeface="Calibri" pitchFamily="34" charset="-120"/>
              </a:rPr>
              <a:t>(1) Describe the sociodemographic profile of UAC Foods consumers. (2) Assess consumer satisfaction across 5 product dimensions. (3) Determine which satisfaction dimensions significantly predict repeat purchase intention.</a:t>
            </a:r>
            <a:endParaRPr lang="en-US" sz="900" dirty="0"/>
          </a:p>
        </p:txBody>
      </p:sp>
      <p:sp>
        <p:nvSpPr>
          <p:cNvPr id="13" name="Shape 11"/>
          <p:cNvSpPr/>
          <p:nvPr/>
        </p:nvSpPr>
        <p:spPr>
          <a:xfrm>
            <a:off x="4736592" y="2331720"/>
            <a:ext cx="4160520" cy="1298448"/>
          </a:xfrm>
          <a:prstGeom prst="roundRect">
            <a:avLst>
              <a:gd name="adj" fmla="val 5634"/>
            </a:avLst>
          </a:prstGeom>
          <a:solidFill>
            <a:srgbClr val="0D1F35"/>
          </a:solidFill>
          <a:ln w="10160">
            <a:solidFill>
              <a:srgbClr val="2E86C1"/>
            </a:solidFill>
            <a:prstDash val="solid"/>
          </a:ln>
        </p:spPr>
      </p:sp>
      <p:sp>
        <p:nvSpPr>
          <p:cNvPr id="14" name="Text 12"/>
          <p:cNvSpPr/>
          <p:nvPr/>
        </p:nvSpPr>
        <p:spPr>
          <a:xfrm>
            <a:off x="4846320" y="2423160"/>
            <a:ext cx="3913632" cy="274320"/>
          </a:xfrm>
          <a:prstGeom prst="rect">
            <a:avLst/>
          </a:prstGeom>
          <a:noFill/>
          <a:ln/>
        </p:spPr>
        <p:txBody>
          <a:bodyPr wrap="square" lIns="0" tIns="0" rIns="0" bIns="0" rtlCol="0" anchor="ctr"/>
          <a:lstStyle/>
          <a:p>
            <a:pPr indent="0" marL="0">
              <a:buNone/>
            </a:pPr>
            <a:r>
              <a:rPr lang="en-US" sz="1100" b="1" dirty="0">
                <a:solidFill>
                  <a:srgbClr val="F0C040"/>
                </a:solidFill>
                <a:latin typeface="Calibri" pitchFamily="34" charset="0"/>
                <a:ea typeface="Calibri" pitchFamily="34" charset="-122"/>
                <a:cs typeface="Calibri" pitchFamily="34" charset="-120"/>
              </a:rPr>
              <a:t>Sample Size</a:t>
            </a:r>
            <a:endParaRPr lang="en-US" sz="1100" dirty="0"/>
          </a:p>
        </p:txBody>
      </p:sp>
      <p:sp>
        <p:nvSpPr>
          <p:cNvPr id="15" name="Text 13"/>
          <p:cNvSpPr/>
          <p:nvPr/>
        </p:nvSpPr>
        <p:spPr>
          <a:xfrm>
            <a:off x="4846320" y="2734056"/>
            <a:ext cx="3913632" cy="841248"/>
          </a:xfrm>
          <a:prstGeom prst="rect">
            <a:avLst/>
          </a:prstGeom>
          <a:noFill/>
          <a:ln/>
        </p:spPr>
        <p:txBody>
          <a:bodyPr wrap="square" lIns="0" tIns="0" rIns="0" bIns="0" rtlCol="0" anchor="ctr"/>
          <a:lstStyle/>
          <a:p>
            <a:pPr indent="0" marL="0">
              <a:buNone/>
            </a:pPr>
            <a:r>
              <a:rPr lang="en-US" sz="900" dirty="0">
                <a:solidFill>
                  <a:srgbClr val="A8C8E8"/>
                </a:solidFill>
                <a:latin typeface="Calibri" pitchFamily="34" charset="0"/>
                <a:ea typeface="Calibri" pitchFamily="34" charset="-122"/>
                <a:cs typeface="Calibri" pitchFamily="34" charset="-120"/>
              </a:rPr>
              <a:t>Using Yamane formula with N = 45,000 loyalty customers, e = 0.05: n = 397. Target n = 450 (15% buffer for non-response). Stratified random sampling proportional to Lagos LGA distribution.</a:t>
            </a:r>
            <a:endParaRPr lang="en-US" sz="900" dirty="0"/>
          </a:p>
        </p:txBody>
      </p:sp>
      <p:sp>
        <p:nvSpPr>
          <p:cNvPr id="16" name="Shape 14"/>
          <p:cNvSpPr/>
          <p:nvPr/>
        </p:nvSpPr>
        <p:spPr>
          <a:xfrm>
            <a:off x="274320" y="3749040"/>
            <a:ext cx="4160520" cy="1298448"/>
          </a:xfrm>
          <a:prstGeom prst="roundRect">
            <a:avLst>
              <a:gd name="adj" fmla="val 5634"/>
            </a:avLst>
          </a:prstGeom>
          <a:solidFill>
            <a:srgbClr val="0D1F35"/>
          </a:solidFill>
          <a:ln w="10160">
            <a:solidFill>
              <a:srgbClr val="2E86C1"/>
            </a:solidFill>
            <a:prstDash val="solid"/>
          </a:ln>
        </p:spPr>
      </p:sp>
      <p:sp>
        <p:nvSpPr>
          <p:cNvPr id="17" name="Text 15"/>
          <p:cNvSpPr/>
          <p:nvPr/>
        </p:nvSpPr>
        <p:spPr>
          <a:xfrm>
            <a:off x="384048" y="3840480"/>
            <a:ext cx="3913632" cy="274320"/>
          </a:xfrm>
          <a:prstGeom prst="rect">
            <a:avLst/>
          </a:prstGeom>
          <a:noFill/>
          <a:ln/>
        </p:spPr>
        <p:txBody>
          <a:bodyPr wrap="square" lIns="0" tIns="0" rIns="0" bIns="0" rtlCol="0" anchor="ctr"/>
          <a:lstStyle/>
          <a:p>
            <a:pPr indent="0" marL="0">
              <a:buNone/>
            </a:pPr>
            <a:r>
              <a:rPr lang="en-US" sz="1100" b="1" dirty="0">
                <a:solidFill>
                  <a:srgbClr val="F0C040"/>
                </a:solidFill>
                <a:latin typeface="Calibri" pitchFamily="34" charset="0"/>
                <a:ea typeface="Calibri" pitchFamily="34" charset="-122"/>
                <a:cs typeface="Calibri" pitchFamily="34" charset="-120"/>
              </a:rPr>
              <a:t>Analysis Plan</a:t>
            </a:r>
            <a:endParaRPr lang="en-US" sz="1100" dirty="0"/>
          </a:p>
        </p:txBody>
      </p:sp>
      <p:sp>
        <p:nvSpPr>
          <p:cNvPr id="18" name="Text 16"/>
          <p:cNvSpPr/>
          <p:nvPr/>
        </p:nvSpPr>
        <p:spPr>
          <a:xfrm>
            <a:off x="384048" y="4151376"/>
            <a:ext cx="3913632" cy="841248"/>
          </a:xfrm>
          <a:prstGeom prst="rect">
            <a:avLst/>
          </a:prstGeom>
          <a:noFill/>
          <a:ln/>
        </p:spPr>
        <p:txBody>
          <a:bodyPr wrap="square" lIns="0" tIns="0" rIns="0" bIns="0" rtlCol="0" anchor="ctr"/>
          <a:lstStyle/>
          <a:p>
            <a:pPr indent="0" marL="0">
              <a:buNone/>
            </a:pPr>
            <a:r>
              <a:rPr lang="en-US" sz="900" dirty="0">
                <a:solidFill>
                  <a:srgbClr val="A8C8E8"/>
                </a:solidFill>
                <a:latin typeface="Calibri" pitchFamily="34" charset="0"/>
                <a:ea typeface="Calibri" pitchFamily="34" charset="-122"/>
                <a:cs typeface="Calibri" pitchFamily="34" charset="-120"/>
              </a:rPr>
              <a:t>Objective 1: Frequencies and descriptive statistics (SPSS Chapter 6). Objective 2: Means and one-way ANOVA by demographic group (Chapters 8-9). Objective 3: Multiple regression analysis predicting repurchase intention (Chapter 11).</a:t>
            </a:r>
            <a:endParaRPr lang="en-US" sz="900" dirty="0"/>
          </a:p>
        </p:txBody>
      </p:sp>
      <p:sp>
        <p:nvSpPr>
          <p:cNvPr id="19" name="Shape 17"/>
          <p:cNvSpPr/>
          <p:nvPr/>
        </p:nvSpPr>
        <p:spPr>
          <a:xfrm>
            <a:off x="4736592" y="3749040"/>
            <a:ext cx="4160520" cy="1298448"/>
          </a:xfrm>
          <a:prstGeom prst="roundRect">
            <a:avLst>
              <a:gd name="adj" fmla="val 5634"/>
            </a:avLst>
          </a:prstGeom>
          <a:solidFill>
            <a:srgbClr val="0D1F35"/>
          </a:solidFill>
          <a:ln w="10160">
            <a:solidFill>
              <a:srgbClr val="2E86C1"/>
            </a:solidFill>
            <a:prstDash val="solid"/>
          </a:ln>
        </p:spPr>
      </p:sp>
      <p:sp>
        <p:nvSpPr>
          <p:cNvPr id="20" name="Text 18"/>
          <p:cNvSpPr/>
          <p:nvPr/>
        </p:nvSpPr>
        <p:spPr>
          <a:xfrm>
            <a:off x="4846320" y="3840480"/>
            <a:ext cx="3913632" cy="274320"/>
          </a:xfrm>
          <a:prstGeom prst="rect">
            <a:avLst/>
          </a:prstGeom>
          <a:noFill/>
          <a:ln/>
        </p:spPr>
        <p:txBody>
          <a:bodyPr wrap="square" lIns="0" tIns="0" rIns="0" bIns="0" rtlCol="0" anchor="ctr"/>
          <a:lstStyle/>
          <a:p>
            <a:pPr indent="0" marL="0">
              <a:buNone/>
            </a:pPr>
            <a:r>
              <a:rPr lang="en-US" sz="1100" b="1" dirty="0">
                <a:solidFill>
                  <a:srgbClr val="F0C040"/>
                </a:solidFill>
                <a:latin typeface="Calibri" pitchFamily="34" charset="0"/>
                <a:ea typeface="Calibri" pitchFamily="34" charset="-122"/>
                <a:cs typeface="Calibri" pitchFamily="34" charset="-120"/>
              </a:rPr>
              <a:t>Ethics</a:t>
            </a:r>
            <a:endParaRPr lang="en-US" sz="1100" dirty="0"/>
          </a:p>
        </p:txBody>
      </p:sp>
      <p:sp>
        <p:nvSpPr>
          <p:cNvPr id="21" name="Text 19"/>
          <p:cNvSpPr/>
          <p:nvPr/>
        </p:nvSpPr>
        <p:spPr>
          <a:xfrm>
            <a:off x="4846320" y="4151376"/>
            <a:ext cx="3913632" cy="841248"/>
          </a:xfrm>
          <a:prstGeom prst="rect">
            <a:avLst/>
          </a:prstGeom>
          <a:noFill/>
          <a:ln/>
        </p:spPr>
        <p:txBody>
          <a:bodyPr wrap="square" lIns="0" tIns="0" rIns="0" bIns="0" rtlCol="0" anchor="ctr"/>
          <a:lstStyle/>
          <a:p>
            <a:pPr indent="0" marL="0">
              <a:buNone/>
            </a:pPr>
            <a:r>
              <a:rPr lang="en-US" sz="900" dirty="0">
                <a:solidFill>
                  <a:srgbClr val="A8C8E8"/>
                </a:solidFill>
                <a:latin typeface="Calibri" pitchFamily="34" charset="0"/>
                <a:ea typeface="Calibri" pitchFamily="34" charset="-122"/>
                <a:cs typeface="Calibri" pitchFamily="34" charset="-120"/>
              </a:rPr>
              <a:t>Written informed consent from all participants. No names or identifiers in dataset. Data stored on encrypted UAC Foods server. IRB approval from Lagos State University not required for corporate market research but ethics principles followed.</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B5CA0">
              <a:alpha val="18000"/>
            </a:srgbClr>
          </a:solidFill>
          <a:ln w="12700">
            <a:solidFill>
              <a:srgbClr val="1B5CA0"/>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1  |  SECTION 08</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Statistical Concepts</a:t>
            </a:r>
            <a:endParaRPr lang="en-US" sz="42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A8C8E8"/>
                </a:solidFill>
                <a:latin typeface="Calibri" pitchFamily="34" charset="0"/>
                <a:ea typeface="Calibri" pitchFamily="34" charset="-122"/>
                <a:cs typeface="Calibri" pitchFamily="34" charset="-120"/>
              </a:rPr>
              <a:t>The theoretical foundation that makes every SPSS analysis meaningful</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562"/>
          </a:solidFill>
          <a:ln w="12700">
            <a:solidFill>
              <a:srgbClr val="1A3562"/>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Types of Data and Measurement Levels - THE Most Critical Concept</a:t>
            </a:r>
            <a:endParaRPr lang="en-US" sz="2200" dirty="0"/>
          </a:p>
        </p:txBody>
      </p:sp>
      <p:sp>
        <p:nvSpPr>
          <p:cNvPr id="4" name="Shape 2"/>
          <p:cNvSpPr/>
          <p:nvPr/>
        </p:nvSpPr>
        <p:spPr>
          <a:xfrm>
            <a:off x="228600" y="1024128"/>
            <a:ext cx="2834640" cy="4005072"/>
          </a:xfrm>
          <a:prstGeom prst="roundRect">
            <a:avLst>
              <a:gd name="adj" fmla="val 2903"/>
            </a:avLst>
          </a:prstGeom>
          <a:solidFill>
            <a:srgbClr val="FEF8F8"/>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283464" y="1078992"/>
            <a:ext cx="2724912" cy="502920"/>
          </a:xfrm>
          <a:prstGeom prst="roundRect">
            <a:avLst>
              <a:gd name="adj" fmla="val 12727"/>
            </a:avLst>
          </a:prstGeom>
          <a:solidFill>
            <a:srgbClr val="C0392B"/>
          </a:solidFill>
          <a:ln w="12700">
            <a:solidFill>
              <a:srgbClr val="C0392B"/>
            </a:solidFill>
            <a:prstDash val="solid"/>
          </a:ln>
        </p:spPr>
      </p:sp>
      <p:sp>
        <p:nvSpPr>
          <p:cNvPr id="6" name="Text 4"/>
          <p:cNvSpPr/>
          <p:nvPr/>
        </p:nvSpPr>
        <p:spPr>
          <a:xfrm>
            <a:off x="283464" y="1078992"/>
            <a:ext cx="272491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NOMINAL</a:t>
            </a:r>
            <a:endParaRPr lang="en-US" sz="1400" dirty="0"/>
          </a:p>
        </p:txBody>
      </p:sp>
      <p:sp>
        <p:nvSpPr>
          <p:cNvPr id="7" name="Text 5"/>
          <p:cNvSpPr/>
          <p:nvPr/>
        </p:nvSpPr>
        <p:spPr>
          <a:xfrm>
            <a:off x="283464" y="1417320"/>
            <a:ext cx="2724912" cy="16459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SPSS Measure: Nominal</a:t>
            </a:r>
            <a:endParaRPr lang="en-US" sz="900" dirty="0"/>
          </a:p>
        </p:txBody>
      </p:sp>
      <p:sp>
        <p:nvSpPr>
          <p:cNvPr id="8" name="Text 6"/>
          <p:cNvSpPr/>
          <p:nvPr/>
        </p:nvSpPr>
        <p:spPr>
          <a:xfrm>
            <a:off x="320040" y="1664208"/>
            <a:ext cx="2633472" cy="47548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Named categories with NO natural order. Numbers are arbitrary codes, not real quantities.</a:t>
            </a:r>
            <a:endParaRPr lang="en-US" sz="950" dirty="0"/>
          </a:p>
        </p:txBody>
      </p:sp>
      <p:sp>
        <p:nvSpPr>
          <p:cNvPr id="9" name="Text 7"/>
          <p:cNvSpPr/>
          <p:nvPr/>
        </p:nvSpPr>
        <p:spPr>
          <a:xfrm>
            <a:off x="320040" y="2176272"/>
            <a:ext cx="2633472" cy="219456"/>
          </a:xfrm>
          <a:prstGeom prst="rect">
            <a:avLst/>
          </a:prstGeom>
          <a:noFill/>
          <a:ln/>
        </p:spPr>
        <p:txBody>
          <a:bodyPr wrap="square" lIns="0" tIns="0" rIns="0" bIns="0" rtlCol="0" anchor="ctr"/>
          <a:lstStyle/>
          <a:p>
            <a:pPr indent="0" marL="0">
              <a:buNone/>
            </a:pPr>
            <a:r>
              <a:rPr lang="en-US" sz="950" b="1" dirty="0">
                <a:solidFill>
                  <a:srgbClr val="C0392B"/>
                </a:solidFill>
                <a:latin typeface="Calibri" pitchFamily="34" charset="0"/>
                <a:ea typeface="Calibri" pitchFamily="34" charset="-122"/>
                <a:cs typeface="Calibri" pitchFamily="34" charset="-120"/>
              </a:rPr>
              <a:t>UAC Foods Examples:</a:t>
            </a:r>
            <a:endParaRPr lang="en-US" sz="950" dirty="0"/>
          </a:p>
        </p:txBody>
      </p:sp>
      <p:sp>
        <p:nvSpPr>
          <p:cNvPr id="10" name="Text 8"/>
          <p:cNvSpPr/>
          <p:nvPr/>
        </p:nvSpPr>
        <p:spPr>
          <a:xfrm>
            <a:off x="338328" y="2414016"/>
            <a:ext cx="2596896" cy="274320"/>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 Gender: 1=Male, 2=Female, 3=Non-binary</a:t>
            </a:r>
            <a:endParaRPr lang="en-US" sz="900" dirty="0"/>
          </a:p>
        </p:txBody>
      </p:sp>
      <p:sp>
        <p:nvSpPr>
          <p:cNvPr id="11" name="Text 9"/>
          <p:cNvSpPr/>
          <p:nvPr/>
        </p:nvSpPr>
        <p:spPr>
          <a:xfrm>
            <a:off x="338328" y="2724912"/>
            <a:ext cx="2596896" cy="274320"/>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 Department: 1=Sales, 2=Finance, 3=HR</a:t>
            </a:r>
            <a:endParaRPr lang="en-US" sz="900" dirty="0"/>
          </a:p>
        </p:txBody>
      </p:sp>
      <p:sp>
        <p:nvSpPr>
          <p:cNvPr id="12" name="Text 10"/>
          <p:cNvSpPr/>
          <p:nvPr/>
        </p:nvSpPr>
        <p:spPr>
          <a:xfrm>
            <a:off x="338328" y="3035808"/>
            <a:ext cx="2596896" cy="274320"/>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 Payment method: 1=Cash, 2=Card, 3=Transfer</a:t>
            </a:r>
            <a:endParaRPr lang="en-US" sz="900" dirty="0"/>
          </a:p>
        </p:txBody>
      </p:sp>
      <p:sp>
        <p:nvSpPr>
          <p:cNvPr id="13" name="Text 11"/>
          <p:cNvSpPr/>
          <p:nvPr/>
        </p:nvSpPr>
        <p:spPr>
          <a:xfrm>
            <a:off x="338328" y="3346704"/>
            <a:ext cx="2596896" cy="274320"/>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 Product type: 1=Gala, 2=Deli, 3=Mr Biggs</a:t>
            </a:r>
            <a:endParaRPr lang="en-US" sz="900" dirty="0"/>
          </a:p>
        </p:txBody>
      </p:sp>
      <p:sp>
        <p:nvSpPr>
          <p:cNvPr id="14" name="Shape 12"/>
          <p:cNvSpPr/>
          <p:nvPr/>
        </p:nvSpPr>
        <p:spPr>
          <a:xfrm>
            <a:off x="320040" y="3694176"/>
            <a:ext cx="2633472" cy="18288"/>
          </a:xfrm>
          <a:prstGeom prst="rect">
            <a:avLst/>
          </a:prstGeom>
          <a:solidFill>
            <a:srgbClr val="C0392B"/>
          </a:solidFill>
          <a:ln w="12700">
            <a:solidFill>
              <a:srgbClr val="C0392B"/>
            </a:solidFill>
            <a:prstDash val="solid"/>
          </a:ln>
        </p:spPr>
      </p:sp>
      <p:sp>
        <p:nvSpPr>
          <p:cNvPr id="15" name="Text 13"/>
          <p:cNvSpPr/>
          <p:nvPr/>
        </p:nvSpPr>
        <p:spPr>
          <a:xfrm>
            <a:off x="320040" y="3749040"/>
            <a:ext cx="2633472" cy="201168"/>
          </a:xfrm>
          <a:prstGeom prst="rect">
            <a:avLst/>
          </a:prstGeom>
          <a:noFill/>
          <a:ln/>
        </p:spPr>
        <p:txBody>
          <a:bodyPr wrap="square" lIns="0" tIns="0" rIns="0" bIns="0" rtlCol="0" anchor="ctr"/>
          <a:lstStyle/>
          <a:p>
            <a:pPr indent="0" marL="0">
              <a:buNone/>
            </a:pPr>
            <a:r>
              <a:rPr lang="en-US" sz="850" b="1" dirty="0">
                <a:solidFill>
                  <a:srgbClr val="C0392B"/>
                </a:solidFill>
                <a:latin typeface="Calibri" pitchFamily="34" charset="0"/>
                <a:ea typeface="Calibri" pitchFamily="34" charset="-122"/>
                <a:cs typeface="Calibri" pitchFamily="34" charset="-120"/>
              </a:rPr>
              <a:t>Valid tests: Mode, frequency counts, Chi-square</a:t>
            </a:r>
            <a:endParaRPr lang="en-US" sz="850" dirty="0"/>
          </a:p>
        </p:txBody>
      </p:sp>
      <p:sp>
        <p:nvSpPr>
          <p:cNvPr id="16" name="Text 14"/>
          <p:cNvSpPr/>
          <p:nvPr/>
        </p:nvSpPr>
        <p:spPr>
          <a:xfrm>
            <a:off x="320040" y="3968496"/>
            <a:ext cx="2633472" cy="256032"/>
          </a:xfrm>
          <a:prstGeom prst="rect">
            <a:avLst/>
          </a:prstGeom>
          <a:noFill/>
          <a:ln/>
        </p:spPr>
        <p:txBody>
          <a:bodyPr wrap="square" lIns="0" tIns="0" rIns="0" bIns="0" rtlCol="0" anchor="ctr"/>
          <a:lstStyle/>
          <a:p>
            <a:pPr indent="0" marL="0">
              <a:buNone/>
            </a:pPr>
            <a:r>
              <a:rPr lang="en-US" sz="850" i="1" dirty="0">
                <a:solidFill>
                  <a:srgbClr val="C0392B"/>
                </a:solidFill>
                <a:latin typeface="Calibri" pitchFamily="34" charset="0"/>
                <a:ea typeface="Calibri" pitchFamily="34" charset="-122"/>
                <a:cs typeface="Calibri" pitchFamily="34" charset="-120"/>
              </a:rPr>
              <a:t>NEVER compute mean - 'average gender' is meaningless</a:t>
            </a:r>
            <a:endParaRPr lang="en-US" sz="850" dirty="0"/>
          </a:p>
        </p:txBody>
      </p:sp>
      <p:sp>
        <p:nvSpPr>
          <p:cNvPr id="17" name="Shape 15"/>
          <p:cNvSpPr/>
          <p:nvPr/>
        </p:nvSpPr>
        <p:spPr>
          <a:xfrm>
            <a:off x="3200400" y="1024128"/>
            <a:ext cx="2834640" cy="4005072"/>
          </a:xfrm>
          <a:prstGeom prst="roundRect">
            <a:avLst>
              <a:gd name="adj" fmla="val 2903"/>
            </a:avLst>
          </a:prstGeom>
          <a:solidFill>
            <a:srgbClr val="FEF3E7"/>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8" name="Shape 16"/>
          <p:cNvSpPr/>
          <p:nvPr/>
        </p:nvSpPr>
        <p:spPr>
          <a:xfrm>
            <a:off x="3255264" y="1078992"/>
            <a:ext cx="2724912" cy="502920"/>
          </a:xfrm>
          <a:prstGeom prst="roundRect">
            <a:avLst>
              <a:gd name="adj" fmla="val 12727"/>
            </a:avLst>
          </a:prstGeom>
          <a:solidFill>
            <a:srgbClr val="E67E22"/>
          </a:solidFill>
          <a:ln w="12700">
            <a:solidFill>
              <a:srgbClr val="E67E22"/>
            </a:solidFill>
            <a:prstDash val="solid"/>
          </a:ln>
        </p:spPr>
      </p:sp>
      <p:sp>
        <p:nvSpPr>
          <p:cNvPr id="19" name="Text 17"/>
          <p:cNvSpPr/>
          <p:nvPr/>
        </p:nvSpPr>
        <p:spPr>
          <a:xfrm>
            <a:off x="3255264" y="1078992"/>
            <a:ext cx="272491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ORDINAL</a:t>
            </a:r>
            <a:endParaRPr lang="en-US" sz="1400" dirty="0"/>
          </a:p>
        </p:txBody>
      </p:sp>
      <p:sp>
        <p:nvSpPr>
          <p:cNvPr id="20" name="Text 18"/>
          <p:cNvSpPr/>
          <p:nvPr/>
        </p:nvSpPr>
        <p:spPr>
          <a:xfrm>
            <a:off x="3255264" y="1417320"/>
            <a:ext cx="2724912" cy="16459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SPSS Measure: Ordinal</a:t>
            </a:r>
            <a:endParaRPr lang="en-US" sz="900" dirty="0"/>
          </a:p>
        </p:txBody>
      </p:sp>
      <p:sp>
        <p:nvSpPr>
          <p:cNvPr id="21" name="Text 19"/>
          <p:cNvSpPr/>
          <p:nvPr/>
        </p:nvSpPr>
        <p:spPr>
          <a:xfrm>
            <a:off x="3291840" y="1664208"/>
            <a:ext cx="2633472" cy="47548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Ordered categories. Rank matters but intervals are NOT equal.</a:t>
            </a:r>
            <a:endParaRPr lang="en-US" sz="950" dirty="0"/>
          </a:p>
        </p:txBody>
      </p:sp>
      <p:sp>
        <p:nvSpPr>
          <p:cNvPr id="22" name="Text 20"/>
          <p:cNvSpPr/>
          <p:nvPr/>
        </p:nvSpPr>
        <p:spPr>
          <a:xfrm>
            <a:off x="3291840" y="2176272"/>
            <a:ext cx="2633472" cy="219456"/>
          </a:xfrm>
          <a:prstGeom prst="rect">
            <a:avLst/>
          </a:prstGeom>
          <a:noFill/>
          <a:ln/>
        </p:spPr>
        <p:txBody>
          <a:bodyPr wrap="square" lIns="0" tIns="0" rIns="0" bIns="0" rtlCol="0" anchor="ctr"/>
          <a:lstStyle/>
          <a:p>
            <a:pPr indent="0" marL="0">
              <a:buNone/>
            </a:pPr>
            <a:r>
              <a:rPr lang="en-US" sz="950" b="1" dirty="0">
                <a:solidFill>
                  <a:srgbClr val="E67E22"/>
                </a:solidFill>
                <a:latin typeface="Calibri" pitchFamily="34" charset="0"/>
                <a:ea typeface="Calibri" pitchFamily="34" charset="-122"/>
                <a:cs typeface="Calibri" pitchFamily="34" charset="-120"/>
              </a:rPr>
              <a:t>UAC Foods Examples:</a:t>
            </a:r>
            <a:endParaRPr lang="en-US" sz="950" dirty="0"/>
          </a:p>
        </p:txBody>
      </p:sp>
      <p:sp>
        <p:nvSpPr>
          <p:cNvPr id="23" name="Text 21"/>
          <p:cNvSpPr/>
          <p:nvPr/>
        </p:nvSpPr>
        <p:spPr>
          <a:xfrm>
            <a:off x="3310128" y="2414016"/>
            <a:ext cx="2596896" cy="274320"/>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 Satisfaction: 1=Very Poor, 2=Poor, 3=Fair, 4=Good, 5=Excellent</a:t>
            </a:r>
            <a:endParaRPr lang="en-US" sz="900" dirty="0"/>
          </a:p>
        </p:txBody>
      </p:sp>
      <p:sp>
        <p:nvSpPr>
          <p:cNvPr id="24" name="Text 22"/>
          <p:cNvSpPr/>
          <p:nvPr/>
        </p:nvSpPr>
        <p:spPr>
          <a:xfrm>
            <a:off x="3310128" y="2724912"/>
            <a:ext cx="2596896" cy="274320"/>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 Education: 1=Primary, 2=Secondary, 3=OND, 4=BSc, 5=Masters</a:t>
            </a:r>
            <a:endParaRPr lang="en-US" sz="900" dirty="0"/>
          </a:p>
        </p:txBody>
      </p:sp>
      <p:sp>
        <p:nvSpPr>
          <p:cNvPr id="25" name="Text 23"/>
          <p:cNvSpPr/>
          <p:nvPr/>
        </p:nvSpPr>
        <p:spPr>
          <a:xfrm>
            <a:off x="3310128" y="3035808"/>
            <a:ext cx="2596896" cy="274320"/>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 Income bracket: Low / Middle / Upper Middle / High</a:t>
            </a:r>
            <a:endParaRPr lang="en-US" sz="900" dirty="0"/>
          </a:p>
        </p:txBody>
      </p:sp>
      <p:sp>
        <p:nvSpPr>
          <p:cNvPr id="26" name="Shape 24"/>
          <p:cNvSpPr/>
          <p:nvPr/>
        </p:nvSpPr>
        <p:spPr>
          <a:xfrm>
            <a:off x="3291840" y="3694176"/>
            <a:ext cx="2633472" cy="18288"/>
          </a:xfrm>
          <a:prstGeom prst="rect">
            <a:avLst/>
          </a:prstGeom>
          <a:solidFill>
            <a:srgbClr val="E67E22"/>
          </a:solidFill>
          <a:ln w="12700">
            <a:solidFill>
              <a:srgbClr val="E67E22"/>
            </a:solidFill>
            <a:prstDash val="solid"/>
          </a:ln>
        </p:spPr>
      </p:sp>
      <p:sp>
        <p:nvSpPr>
          <p:cNvPr id="27" name="Text 25"/>
          <p:cNvSpPr/>
          <p:nvPr/>
        </p:nvSpPr>
        <p:spPr>
          <a:xfrm>
            <a:off x="3291840" y="3749040"/>
            <a:ext cx="2633472" cy="201168"/>
          </a:xfrm>
          <a:prstGeom prst="rect">
            <a:avLst/>
          </a:prstGeom>
          <a:noFill/>
          <a:ln/>
        </p:spPr>
        <p:txBody>
          <a:bodyPr wrap="square" lIns="0" tIns="0" rIns="0" bIns="0" rtlCol="0" anchor="ctr"/>
          <a:lstStyle/>
          <a:p>
            <a:pPr indent="0" marL="0">
              <a:buNone/>
            </a:pPr>
            <a:r>
              <a:rPr lang="en-US" sz="850" b="1" dirty="0">
                <a:solidFill>
                  <a:srgbClr val="E67E22"/>
                </a:solidFill>
                <a:latin typeface="Calibri" pitchFamily="34" charset="0"/>
                <a:ea typeface="Calibri" pitchFamily="34" charset="-122"/>
                <a:cs typeface="Calibri" pitchFamily="34" charset="-120"/>
              </a:rPr>
              <a:t>Valid tests: Median, percentiles, Spearman correlation</a:t>
            </a:r>
            <a:endParaRPr lang="en-US" sz="850" dirty="0"/>
          </a:p>
        </p:txBody>
      </p:sp>
      <p:sp>
        <p:nvSpPr>
          <p:cNvPr id="28" name="Text 26"/>
          <p:cNvSpPr/>
          <p:nvPr/>
        </p:nvSpPr>
        <p:spPr>
          <a:xfrm>
            <a:off x="3291840" y="3968496"/>
            <a:ext cx="2633472" cy="256032"/>
          </a:xfrm>
          <a:prstGeom prst="rect">
            <a:avLst/>
          </a:prstGeom>
          <a:noFill/>
          <a:ln/>
        </p:spPr>
        <p:txBody>
          <a:bodyPr wrap="square" lIns="0" tIns="0" rIns="0" bIns="0" rtlCol="0" anchor="ctr"/>
          <a:lstStyle/>
          <a:p>
            <a:pPr indent="0" marL="0">
              <a:buNone/>
            </a:pPr>
            <a:r>
              <a:rPr lang="en-US" sz="850" i="1" dirty="0">
                <a:solidFill>
                  <a:srgbClr val="C0392B"/>
                </a:solidFill>
                <a:latin typeface="Calibri" pitchFamily="34" charset="0"/>
                <a:ea typeface="Calibri" pitchFamily="34" charset="-122"/>
                <a:cs typeface="Calibri" pitchFamily="34" charset="-120"/>
              </a:rPr>
              <a:t>Avoid arithmetic mean for purely ordinal variables</a:t>
            </a:r>
            <a:endParaRPr lang="en-US" sz="850" dirty="0"/>
          </a:p>
        </p:txBody>
      </p:sp>
      <p:sp>
        <p:nvSpPr>
          <p:cNvPr id="29" name="Shape 27"/>
          <p:cNvSpPr/>
          <p:nvPr/>
        </p:nvSpPr>
        <p:spPr>
          <a:xfrm>
            <a:off x="6172200" y="1024128"/>
            <a:ext cx="2834640" cy="4005072"/>
          </a:xfrm>
          <a:prstGeom prst="roundRect">
            <a:avLst>
              <a:gd name="adj" fmla="val 2903"/>
            </a:avLst>
          </a:prstGeom>
          <a:solidFill>
            <a:srgbClr val="EAF9F0"/>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30" name="Shape 28"/>
          <p:cNvSpPr/>
          <p:nvPr/>
        </p:nvSpPr>
        <p:spPr>
          <a:xfrm>
            <a:off x="6227064" y="1078992"/>
            <a:ext cx="2724912" cy="502920"/>
          </a:xfrm>
          <a:prstGeom prst="roundRect">
            <a:avLst>
              <a:gd name="adj" fmla="val 12727"/>
            </a:avLst>
          </a:prstGeom>
          <a:solidFill>
            <a:srgbClr val="1A7A4A"/>
          </a:solidFill>
          <a:ln w="12700">
            <a:solidFill>
              <a:srgbClr val="1A7A4A"/>
            </a:solidFill>
            <a:prstDash val="solid"/>
          </a:ln>
        </p:spPr>
      </p:sp>
      <p:sp>
        <p:nvSpPr>
          <p:cNvPr id="31" name="Text 29"/>
          <p:cNvSpPr/>
          <p:nvPr/>
        </p:nvSpPr>
        <p:spPr>
          <a:xfrm>
            <a:off x="6227064" y="1078992"/>
            <a:ext cx="272491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SCALE (Interval/Ratio)</a:t>
            </a:r>
            <a:endParaRPr lang="en-US" sz="1400" dirty="0"/>
          </a:p>
        </p:txBody>
      </p:sp>
      <p:sp>
        <p:nvSpPr>
          <p:cNvPr id="32" name="Text 30"/>
          <p:cNvSpPr/>
          <p:nvPr/>
        </p:nvSpPr>
        <p:spPr>
          <a:xfrm>
            <a:off x="6227064" y="1417320"/>
            <a:ext cx="2724912" cy="164592"/>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SPSS Measure: Scale</a:t>
            </a:r>
            <a:endParaRPr lang="en-US" sz="900" dirty="0"/>
          </a:p>
        </p:txBody>
      </p:sp>
      <p:sp>
        <p:nvSpPr>
          <p:cNvPr id="33" name="Text 31"/>
          <p:cNvSpPr/>
          <p:nvPr/>
        </p:nvSpPr>
        <p:spPr>
          <a:xfrm>
            <a:off x="6263640" y="1664208"/>
            <a:ext cx="2633472" cy="47548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Continuous numeric with EQUAL intervals. Meaningful arithmetic is valid.</a:t>
            </a:r>
            <a:endParaRPr lang="en-US" sz="950" dirty="0"/>
          </a:p>
        </p:txBody>
      </p:sp>
      <p:sp>
        <p:nvSpPr>
          <p:cNvPr id="34" name="Text 32"/>
          <p:cNvSpPr/>
          <p:nvPr/>
        </p:nvSpPr>
        <p:spPr>
          <a:xfrm>
            <a:off x="6263640" y="2176272"/>
            <a:ext cx="2633472" cy="219456"/>
          </a:xfrm>
          <a:prstGeom prst="rect">
            <a:avLst/>
          </a:prstGeom>
          <a:noFill/>
          <a:ln/>
        </p:spPr>
        <p:txBody>
          <a:bodyPr wrap="square" lIns="0" tIns="0" rIns="0" bIns="0" rtlCol="0" anchor="ctr"/>
          <a:lstStyle/>
          <a:p>
            <a:pPr indent="0" marL="0">
              <a:buNone/>
            </a:pPr>
            <a:r>
              <a:rPr lang="en-US" sz="950" b="1" dirty="0">
                <a:solidFill>
                  <a:srgbClr val="1A7A4A"/>
                </a:solidFill>
                <a:latin typeface="Calibri" pitchFamily="34" charset="0"/>
                <a:ea typeface="Calibri" pitchFamily="34" charset="-122"/>
                <a:cs typeface="Calibri" pitchFamily="34" charset="-120"/>
              </a:rPr>
              <a:t>UAC Foods Examples:</a:t>
            </a:r>
            <a:endParaRPr lang="en-US" sz="950" dirty="0"/>
          </a:p>
        </p:txBody>
      </p:sp>
      <p:sp>
        <p:nvSpPr>
          <p:cNvPr id="35" name="Text 33"/>
          <p:cNvSpPr/>
          <p:nvPr/>
        </p:nvSpPr>
        <p:spPr>
          <a:xfrm>
            <a:off x="6281928" y="2414016"/>
            <a:ext cx="2596896" cy="274320"/>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 Monthly income: N85,000 / N210,000 / N450,000</a:t>
            </a:r>
            <a:endParaRPr lang="en-US" sz="900" dirty="0"/>
          </a:p>
        </p:txBody>
      </p:sp>
      <p:sp>
        <p:nvSpPr>
          <p:cNvPr id="36" name="Text 34"/>
          <p:cNvSpPr/>
          <p:nvPr/>
        </p:nvSpPr>
        <p:spPr>
          <a:xfrm>
            <a:off x="6281928" y="2724912"/>
            <a:ext cx="2596896" cy="274320"/>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 Age in years: 25, 34, 52, 67</a:t>
            </a:r>
            <a:endParaRPr lang="en-US" sz="900" dirty="0"/>
          </a:p>
        </p:txBody>
      </p:sp>
      <p:sp>
        <p:nvSpPr>
          <p:cNvPr id="37" name="Text 35"/>
          <p:cNvSpPr/>
          <p:nvPr/>
        </p:nvSpPr>
        <p:spPr>
          <a:xfrm>
            <a:off x="6281928" y="3035808"/>
            <a:ext cx="2596896" cy="274320"/>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 Satisfaction score on 1-100 continuous scale</a:t>
            </a:r>
            <a:endParaRPr lang="en-US" sz="900" dirty="0"/>
          </a:p>
        </p:txBody>
      </p:sp>
      <p:sp>
        <p:nvSpPr>
          <p:cNvPr id="38" name="Text 36"/>
          <p:cNvSpPr/>
          <p:nvPr/>
        </p:nvSpPr>
        <p:spPr>
          <a:xfrm>
            <a:off x="6281928" y="3346704"/>
            <a:ext cx="2596896" cy="274320"/>
          </a:xfrm>
          <a:prstGeom prst="rect">
            <a:avLst/>
          </a:prstGeom>
          <a:noFill/>
          <a:ln/>
        </p:spPr>
        <p:txBody>
          <a:bodyPr wrap="square" lIns="0" tIns="0" rIns="0" bIns="0" rtlCol="0" anchor="ctr"/>
          <a:lstStyle/>
          <a:p>
            <a:pPr indent="0" marL="0">
              <a:buNone/>
            </a:pPr>
            <a:r>
              <a:rPr lang="en-US" sz="900" dirty="0">
                <a:solidFill>
                  <a:srgbClr val="2C3E50"/>
                </a:solidFill>
                <a:latin typeface="Calibri" pitchFamily="34" charset="0"/>
                <a:ea typeface="Calibri" pitchFamily="34" charset="-122"/>
                <a:cs typeface="Calibri" pitchFamily="34" charset="-120"/>
              </a:rPr>
              <a:t>- Number of UAC purchases per month: 0, 3, 12, 45</a:t>
            </a:r>
            <a:endParaRPr lang="en-US" sz="900" dirty="0"/>
          </a:p>
        </p:txBody>
      </p:sp>
      <p:sp>
        <p:nvSpPr>
          <p:cNvPr id="39" name="Shape 37"/>
          <p:cNvSpPr/>
          <p:nvPr/>
        </p:nvSpPr>
        <p:spPr>
          <a:xfrm>
            <a:off x="6263640" y="3694176"/>
            <a:ext cx="2633472" cy="18288"/>
          </a:xfrm>
          <a:prstGeom prst="rect">
            <a:avLst/>
          </a:prstGeom>
          <a:solidFill>
            <a:srgbClr val="1A7A4A"/>
          </a:solidFill>
          <a:ln w="12700">
            <a:solidFill>
              <a:srgbClr val="1A7A4A"/>
            </a:solidFill>
            <a:prstDash val="solid"/>
          </a:ln>
        </p:spPr>
      </p:sp>
      <p:sp>
        <p:nvSpPr>
          <p:cNvPr id="40" name="Text 38"/>
          <p:cNvSpPr/>
          <p:nvPr/>
        </p:nvSpPr>
        <p:spPr>
          <a:xfrm>
            <a:off x="6263640" y="3749040"/>
            <a:ext cx="2633472" cy="201168"/>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Valid tests: Mean, SD, Pearson r, t-test, ANOVA, Regression</a:t>
            </a:r>
            <a:endParaRPr lang="en-US" sz="850" dirty="0"/>
          </a:p>
        </p:txBody>
      </p:sp>
      <p:sp>
        <p:nvSpPr>
          <p:cNvPr id="41" name="Text 39"/>
          <p:cNvSpPr/>
          <p:nvPr/>
        </p:nvSpPr>
        <p:spPr>
          <a:xfrm>
            <a:off x="6263640" y="3968496"/>
            <a:ext cx="2633472" cy="256032"/>
          </a:xfrm>
          <a:prstGeom prst="rect">
            <a:avLst/>
          </a:prstGeom>
          <a:noFill/>
          <a:ln/>
        </p:spPr>
        <p:txBody>
          <a:bodyPr wrap="square" lIns="0" tIns="0" rIns="0" bIns="0" rtlCol="0" anchor="ctr"/>
          <a:lstStyle/>
          <a:p>
            <a:pPr indent="0" marL="0">
              <a:buNone/>
            </a:pPr>
            <a:r>
              <a:rPr lang="en-US" sz="850" i="1" dirty="0">
                <a:solidFill>
                  <a:srgbClr val="C0392B"/>
                </a:solidFill>
                <a:latin typeface="Calibri" pitchFamily="34" charset="0"/>
                <a:ea typeface="Calibri" pitchFamily="34" charset="-122"/>
                <a:cs typeface="Calibri" pitchFamily="34" charset="-120"/>
              </a:rPr>
              <a:t>No restrictions - full parametric toolkit available</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6400800" y="-914400"/>
            <a:ext cx="4114800" cy="4114800"/>
          </a:xfrm>
          <a:prstGeom prst="ellipse">
            <a:avLst/>
          </a:prstGeom>
          <a:solidFill>
            <a:srgbClr val="1B5CA0">
              <a:alpha val="17000"/>
            </a:srgbClr>
          </a:solidFill>
          <a:ln w="12700">
            <a:solidFill>
              <a:srgbClr val="1B5CA0"/>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Variables - Types, Roles, and Relationships</a:t>
            </a:r>
            <a:endParaRPr lang="en-US" sz="2800" dirty="0"/>
          </a:p>
        </p:txBody>
      </p:sp>
      <p:sp>
        <p:nvSpPr>
          <p:cNvPr id="4" name="Shape 2"/>
          <p:cNvSpPr/>
          <p:nvPr/>
        </p:nvSpPr>
        <p:spPr>
          <a:xfrm>
            <a:off x="274320" y="932688"/>
            <a:ext cx="4160520" cy="1298448"/>
          </a:xfrm>
          <a:prstGeom prst="roundRect">
            <a:avLst>
              <a:gd name="adj" fmla="val 5634"/>
            </a:avLst>
          </a:prstGeom>
          <a:solidFill>
            <a:srgbClr val="0D1F35"/>
          </a:solidFill>
          <a:ln w="12700">
            <a:solidFill>
              <a:srgbClr val="2E86C1"/>
            </a:solidFill>
            <a:prstDash val="solid"/>
          </a:ln>
        </p:spPr>
      </p:sp>
      <p:sp>
        <p:nvSpPr>
          <p:cNvPr id="5" name="Text 3"/>
          <p:cNvSpPr/>
          <p:nvPr/>
        </p:nvSpPr>
        <p:spPr>
          <a:xfrm>
            <a:off x="384048" y="1024128"/>
            <a:ext cx="2743200" cy="274320"/>
          </a:xfrm>
          <a:prstGeom prst="rect">
            <a:avLst/>
          </a:prstGeom>
          <a:noFill/>
          <a:ln/>
        </p:spPr>
        <p:txBody>
          <a:bodyPr wrap="square" lIns="0" tIns="0" rIns="0" bIns="0" rtlCol="0" anchor="ctr"/>
          <a:lstStyle/>
          <a:p>
            <a:pPr indent="0" marL="0">
              <a:buNone/>
            </a:pPr>
            <a:r>
              <a:rPr lang="en-US" sz="1100" b="1" dirty="0">
                <a:solidFill>
                  <a:srgbClr val="2E86C1"/>
                </a:solidFill>
                <a:latin typeface="Calibri" pitchFamily="34" charset="0"/>
                <a:ea typeface="Calibri" pitchFamily="34" charset="-122"/>
                <a:cs typeface="Calibri" pitchFamily="34" charset="-120"/>
              </a:rPr>
              <a:t>Independent Variable (IV)</a:t>
            </a:r>
            <a:endParaRPr lang="en-US" sz="1100" dirty="0"/>
          </a:p>
        </p:txBody>
      </p:sp>
      <p:sp>
        <p:nvSpPr>
          <p:cNvPr id="6" name="Text 4"/>
          <p:cNvSpPr/>
          <p:nvPr/>
        </p:nvSpPr>
        <p:spPr>
          <a:xfrm>
            <a:off x="3182112" y="1024128"/>
            <a:ext cx="1143000" cy="274320"/>
          </a:xfrm>
          <a:prstGeom prst="rect">
            <a:avLst/>
          </a:prstGeom>
          <a:noFill/>
          <a:ln/>
        </p:spPr>
        <p:txBody>
          <a:bodyPr wrap="square" lIns="0" tIns="0" rIns="0" bIns="0" rtlCol="0" anchor="ctr"/>
          <a:lstStyle/>
          <a:p>
            <a:pPr indent="0" marL="0">
              <a:buNone/>
            </a:pPr>
            <a:r>
              <a:rPr lang="en-US" sz="800" i="1" dirty="0">
                <a:solidFill>
                  <a:srgbClr val="6FA8DC"/>
                </a:solidFill>
                <a:latin typeface="Calibri" pitchFamily="34" charset="0"/>
                <a:ea typeface="Calibri" pitchFamily="34" charset="-122"/>
                <a:cs typeface="Calibri" pitchFamily="34" charset="-120"/>
              </a:rPr>
              <a:t>Predictor / Explanatory</a:t>
            </a:r>
            <a:endParaRPr lang="en-US" sz="800" dirty="0"/>
          </a:p>
        </p:txBody>
      </p:sp>
      <p:sp>
        <p:nvSpPr>
          <p:cNvPr id="7" name="Text 5"/>
          <p:cNvSpPr/>
          <p:nvPr/>
        </p:nvSpPr>
        <p:spPr>
          <a:xfrm>
            <a:off x="384048" y="1335024"/>
            <a:ext cx="3913632" cy="475488"/>
          </a:xfrm>
          <a:prstGeom prst="rect">
            <a:avLst/>
          </a:prstGeom>
          <a:noFill/>
          <a:ln/>
        </p:spPr>
        <p:txBody>
          <a:bodyPr wrap="square" lIns="0" tIns="0" rIns="0" bIns="0" rtlCol="0" anchor="ctr"/>
          <a:lstStyle/>
          <a:p>
            <a:pPr indent="0" marL="0">
              <a:buNone/>
            </a:pPr>
            <a:r>
              <a:rPr lang="en-US" sz="900" dirty="0">
                <a:solidFill>
                  <a:srgbClr val="A8C8E8"/>
                </a:solidFill>
                <a:latin typeface="Calibri" pitchFamily="34" charset="0"/>
                <a:ea typeface="Calibri" pitchFamily="34" charset="-122"/>
                <a:cs typeface="Calibri" pitchFamily="34" charset="-120"/>
              </a:rPr>
              <a:t>The variable that is manipulated, controlled, or used to predict. The 'cause' in a causal relationship.</a:t>
            </a:r>
            <a:endParaRPr lang="en-US" sz="900" dirty="0"/>
          </a:p>
        </p:txBody>
      </p:sp>
      <p:sp>
        <p:nvSpPr>
          <p:cNvPr id="8" name="Text 6"/>
          <p:cNvSpPr/>
          <p:nvPr/>
        </p:nvSpPr>
        <p:spPr>
          <a:xfrm>
            <a:off x="384048" y="1847088"/>
            <a:ext cx="3913632" cy="329184"/>
          </a:xfrm>
          <a:prstGeom prst="rect">
            <a:avLst/>
          </a:prstGeom>
          <a:noFill/>
          <a:ln/>
        </p:spPr>
        <p:txBody>
          <a:bodyPr wrap="square" lIns="0" tIns="0" rIns="0" bIns="0" rtlCol="0" anchor="ctr"/>
          <a:lstStyle/>
          <a:p>
            <a:pPr indent="0" marL="0">
              <a:buNone/>
            </a:pPr>
            <a:r>
              <a:rPr lang="en-US" sz="850" b="1" dirty="0">
                <a:solidFill>
                  <a:srgbClr val="2E86C1"/>
                </a:solidFill>
                <a:latin typeface="Calibri" pitchFamily="34" charset="0"/>
                <a:ea typeface="Calibri" pitchFamily="34" charset="-122"/>
                <a:cs typeface="Calibri" pitchFamily="34" charset="-120"/>
              </a:rPr>
              <a:t>UAC: </a:t>
            </a:r>
            <a:pPr indent="0" marL="0">
              <a:buNone/>
            </a:pPr>
            <a:r>
              <a:rPr lang="en-US" sz="850" dirty="0">
                <a:solidFill>
                  <a:srgbClr val="7FB3D3"/>
                </a:solidFill>
                <a:latin typeface="Calibri" pitchFamily="34" charset="0"/>
                <a:ea typeface="Calibri" pitchFamily="34" charset="-122"/>
                <a:cs typeface="Calibri" pitchFamily="34" charset="-120"/>
              </a:rPr>
              <a:t>Number of advertising impressions, price level, training hours received</a:t>
            </a:r>
            <a:endParaRPr lang="en-US" sz="850" dirty="0"/>
          </a:p>
        </p:txBody>
      </p:sp>
      <p:sp>
        <p:nvSpPr>
          <p:cNvPr id="9" name="Shape 7"/>
          <p:cNvSpPr/>
          <p:nvPr/>
        </p:nvSpPr>
        <p:spPr>
          <a:xfrm>
            <a:off x="4709160" y="932688"/>
            <a:ext cx="4160520" cy="1298448"/>
          </a:xfrm>
          <a:prstGeom prst="roundRect">
            <a:avLst>
              <a:gd name="adj" fmla="val 5634"/>
            </a:avLst>
          </a:prstGeom>
          <a:solidFill>
            <a:srgbClr val="0D1F35"/>
          </a:solidFill>
          <a:ln w="12700">
            <a:solidFill>
              <a:srgbClr val="D4A017"/>
            </a:solidFill>
            <a:prstDash val="solid"/>
          </a:ln>
        </p:spPr>
      </p:sp>
      <p:sp>
        <p:nvSpPr>
          <p:cNvPr id="10" name="Text 8"/>
          <p:cNvSpPr/>
          <p:nvPr/>
        </p:nvSpPr>
        <p:spPr>
          <a:xfrm>
            <a:off x="4818888" y="1024128"/>
            <a:ext cx="2743200" cy="274320"/>
          </a:xfrm>
          <a:prstGeom prst="rect">
            <a:avLst/>
          </a:prstGeom>
          <a:noFill/>
          <a:ln/>
        </p:spPr>
        <p:txBody>
          <a:bodyPr wrap="square" lIns="0" tIns="0" rIns="0" bIns="0" rtlCol="0" anchor="ctr"/>
          <a:lstStyle/>
          <a:p>
            <a:pPr indent="0" marL="0">
              <a:buNone/>
            </a:pPr>
            <a:r>
              <a:rPr lang="en-US" sz="1100" b="1" dirty="0">
                <a:solidFill>
                  <a:srgbClr val="D4A017"/>
                </a:solidFill>
                <a:latin typeface="Calibri" pitchFamily="34" charset="0"/>
                <a:ea typeface="Calibri" pitchFamily="34" charset="-122"/>
                <a:cs typeface="Calibri" pitchFamily="34" charset="-120"/>
              </a:rPr>
              <a:t>Dependent Variable (DV)</a:t>
            </a:r>
            <a:endParaRPr lang="en-US" sz="1100" dirty="0"/>
          </a:p>
        </p:txBody>
      </p:sp>
      <p:sp>
        <p:nvSpPr>
          <p:cNvPr id="11" name="Text 9"/>
          <p:cNvSpPr/>
          <p:nvPr/>
        </p:nvSpPr>
        <p:spPr>
          <a:xfrm>
            <a:off x="7616952" y="1024128"/>
            <a:ext cx="1143000" cy="274320"/>
          </a:xfrm>
          <a:prstGeom prst="rect">
            <a:avLst/>
          </a:prstGeom>
          <a:noFill/>
          <a:ln/>
        </p:spPr>
        <p:txBody>
          <a:bodyPr wrap="square" lIns="0" tIns="0" rIns="0" bIns="0" rtlCol="0" anchor="ctr"/>
          <a:lstStyle/>
          <a:p>
            <a:pPr indent="0" marL="0">
              <a:buNone/>
            </a:pPr>
            <a:r>
              <a:rPr lang="en-US" sz="800" i="1" dirty="0">
                <a:solidFill>
                  <a:srgbClr val="6FA8DC"/>
                </a:solidFill>
                <a:latin typeface="Calibri" pitchFamily="34" charset="0"/>
                <a:ea typeface="Calibri" pitchFamily="34" charset="-122"/>
                <a:cs typeface="Calibri" pitchFamily="34" charset="-120"/>
              </a:rPr>
              <a:t>Outcome / Criterion</a:t>
            </a:r>
            <a:endParaRPr lang="en-US" sz="800" dirty="0"/>
          </a:p>
        </p:txBody>
      </p:sp>
      <p:sp>
        <p:nvSpPr>
          <p:cNvPr id="12" name="Text 10"/>
          <p:cNvSpPr/>
          <p:nvPr/>
        </p:nvSpPr>
        <p:spPr>
          <a:xfrm>
            <a:off x="4818888" y="1335024"/>
            <a:ext cx="3913632" cy="475488"/>
          </a:xfrm>
          <a:prstGeom prst="rect">
            <a:avLst/>
          </a:prstGeom>
          <a:noFill/>
          <a:ln/>
        </p:spPr>
        <p:txBody>
          <a:bodyPr wrap="square" lIns="0" tIns="0" rIns="0" bIns="0" rtlCol="0" anchor="ctr"/>
          <a:lstStyle/>
          <a:p>
            <a:pPr indent="0" marL="0">
              <a:buNone/>
            </a:pPr>
            <a:r>
              <a:rPr lang="en-US" sz="900" dirty="0">
                <a:solidFill>
                  <a:srgbClr val="A8C8E8"/>
                </a:solidFill>
                <a:latin typeface="Calibri" pitchFamily="34" charset="0"/>
                <a:ea typeface="Calibri" pitchFamily="34" charset="-122"/>
                <a:cs typeface="Calibri" pitchFamily="34" charset="-120"/>
              </a:rPr>
              <a:t>The variable that is measured as the response or outcome. What changes because of the IV.</a:t>
            </a:r>
            <a:endParaRPr lang="en-US" sz="900" dirty="0"/>
          </a:p>
        </p:txBody>
      </p:sp>
      <p:sp>
        <p:nvSpPr>
          <p:cNvPr id="13" name="Text 11"/>
          <p:cNvSpPr/>
          <p:nvPr/>
        </p:nvSpPr>
        <p:spPr>
          <a:xfrm>
            <a:off x="4818888" y="1847088"/>
            <a:ext cx="3913632" cy="329184"/>
          </a:xfrm>
          <a:prstGeom prst="rect">
            <a:avLst/>
          </a:prstGeom>
          <a:noFill/>
          <a:ln/>
        </p:spPr>
        <p:txBody>
          <a:bodyPr wrap="square" lIns="0" tIns="0" rIns="0" bIns="0" rtlCol="0" anchor="ctr"/>
          <a:lstStyle/>
          <a:p>
            <a:pPr indent="0" marL="0">
              <a:buNone/>
            </a:pPr>
            <a:r>
              <a:rPr lang="en-US" sz="850" b="1" dirty="0">
                <a:solidFill>
                  <a:srgbClr val="D4A017"/>
                </a:solidFill>
                <a:latin typeface="Calibri" pitchFamily="34" charset="0"/>
                <a:ea typeface="Calibri" pitchFamily="34" charset="-122"/>
                <a:cs typeface="Calibri" pitchFamily="34" charset="-120"/>
              </a:rPr>
              <a:t>UAC: </a:t>
            </a:r>
            <a:pPr indent="0" marL="0">
              <a:buNone/>
            </a:pPr>
            <a:r>
              <a:rPr lang="en-US" sz="850" dirty="0">
                <a:solidFill>
                  <a:srgbClr val="7FB3D3"/>
                </a:solidFill>
                <a:latin typeface="Calibri" pitchFamily="34" charset="0"/>
                <a:ea typeface="Calibri" pitchFamily="34" charset="-122"/>
                <a:cs typeface="Calibri" pitchFamily="34" charset="-120"/>
              </a:rPr>
              <a:t>Repeat purchase rate, customer satisfaction score, sales revenue</a:t>
            </a:r>
            <a:endParaRPr lang="en-US" sz="850" dirty="0"/>
          </a:p>
        </p:txBody>
      </p:sp>
      <p:sp>
        <p:nvSpPr>
          <p:cNvPr id="14" name="Shape 12"/>
          <p:cNvSpPr/>
          <p:nvPr/>
        </p:nvSpPr>
        <p:spPr>
          <a:xfrm>
            <a:off x="274320" y="2340864"/>
            <a:ext cx="4160520" cy="1298448"/>
          </a:xfrm>
          <a:prstGeom prst="roundRect">
            <a:avLst>
              <a:gd name="adj" fmla="val 5634"/>
            </a:avLst>
          </a:prstGeom>
          <a:solidFill>
            <a:srgbClr val="0D1F35"/>
          </a:solidFill>
          <a:ln w="12700">
            <a:solidFill>
              <a:srgbClr val="E67E22"/>
            </a:solidFill>
            <a:prstDash val="solid"/>
          </a:ln>
        </p:spPr>
      </p:sp>
      <p:sp>
        <p:nvSpPr>
          <p:cNvPr id="15" name="Text 13"/>
          <p:cNvSpPr/>
          <p:nvPr/>
        </p:nvSpPr>
        <p:spPr>
          <a:xfrm>
            <a:off x="384048" y="2432304"/>
            <a:ext cx="2743200" cy="274320"/>
          </a:xfrm>
          <a:prstGeom prst="rect">
            <a:avLst/>
          </a:prstGeom>
          <a:noFill/>
          <a:ln/>
        </p:spPr>
        <p:txBody>
          <a:bodyPr wrap="square" lIns="0" tIns="0" rIns="0" bIns="0" rtlCol="0" anchor="ctr"/>
          <a:lstStyle/>
          <a:p>
            <a:pPr indent="0" marL="0">
              <a:buNone/>
            </a:pPr>
            <a:r>
              <a:rPr lang="en-US" sz="1100" b="1" dirty="0">
                <a:solidFill>
                  <a:srgbClr val="E67E22"/>
                </a:solidFill>
                <a:latin typeface="Calibri" pitchFamily="34" charset="0"/>
                <a:ea typeface="Calibri" pitchFamily="34" charset="-122"/>
                <a:cs typeface="Calibri" pitchFamily="34" charset="-120"/>
              </a:rPr>
              <a:t>Confounding Variable</a:t>
            </a:r>
            <a:endParaRPr lang="en-US" sz="1100" dirty="0"/>
          </a:p>
        </p:txBody>
      </p:sp>
      <p:sp>
        <p:nvSpPr>
          <p:cNvPr id="16" name="Text 14"/>
          <p:cNvSpPr/>
          <p:nvPr/>
        </p:nvSpPr>
        <p:spPr>
          <a:xfrm>
            <a:off x="3182112" y="2432304"/>
            <a:ext cx="1143000" cy="274320"/>
          </a:xfrm>
          <a:prstGeom prst="rect">
            <a:avLst/>
          </a:prstGeom>
          <a:noFill/>
          <a:ln/>
        </p:spPr>
        <p:txBody>
          <a:bodyPr wrap="square" lIns="0" tIns="0" rIns="0" bIns="0" rtlCol="0" anchor="ctr"/>
          <a:lstStyle/>
          <a:p>
            <a:pPr indent="0" marL="0">
              <a:buNone/>
            </a:pPr>
            <a:r>
              <a:rPr lang="en-US" sz="800" i="1" dirty="0">
                <a:solidFill>
                  <a:srgbClr val="6FA8DC"/>
                </a:solidFill>
                <a:latin typeface="Calibri" pitchFamily="34" charset="0"/>
                <a:ea typeface="Calibri" pitchFamily="34" charset="-122"/>
                <a:cs typeface="Calibri" pitchFamily="34" charset="-120"/>
              </a:rPr>
              <a:t>Lurking / Nuisance Variable</a:t>
            </a:r>
            <a:endParaRPr lang="en-US" sz="800" dirty="0"/>
          </a:p>
        </p:txBody>
      </p:sp>
      <p:sp>
        <p:nvSpPr>
          <p:cNvPr id="17" name="Text 15"/>
          <p:cNvSpPr/>
          <p:nvPr/>
        </p:nvSpPr>
        <p:spPr>
          <a:xfrm>
            <a:off x="384048" y="2743200"/>
            <a:ext cx="3913632" cy="475488"/>
          </a:xfrm>
          <a:prstGeom prst="rect">
            <a:avLst/>
          </a:prstGeom>
          <a:noFill/>
          <a:ln/>
        </p:spPr>
        <p:txBody>
          <a:bodyPr wrap="square" lIns="0" tIns="0" rIns="0" bIns="0" rtlCol="0" anchor="ctr"/>
          <a:lstStyle/>
          <a:p>
            <a:pPr indent="0" marL="0">
              <a:buNone/>
            </a:pPr>
            <a:r>
              <a:rPr lang="en-US" sz="900" dirty="0">
                <a:solidFill>
                  <a:srgbClr val="A8C8E8"/>
                </a:solidFill>
                <a:latin typeface="Calibri" pitchFamily="34" charset="0"/>
                <a:ea typeface="Calibri" pitchFamily="34" charset="-122"/>
                <a:cs typeface="Calibri" pitchFamily="34" charset="-120"/>
              </a:rPr>
              <a:t>A third variable related to BOTH the IV and DV that can distort the apparent relationship. Must be controlled for in analysis.</a:t>
            </a:r>
            <a:endParaRPr lang="en-US" sz="900" dirty="0"/>
          </a:p>
        </p:txBody>
      </p:sp>
      <p:sp>
        <p:nvSpPr>
          <p:cNvPr id="18" name="Text 16"/>
          <p:cNvSpPr/>
          <p:nvPr/>
        </p:nvSpPr>
        <p:spPr>
          <a:xfrm>
            <a:off x="384048" y="3255264"/>
            <a:ext cx="3913632" cy="329184"/>
          </a:xfrm>
          <a:prstGeom prst="rect">
            <a:avLst/>
          </a:prstGeom>
          <a:noFill/>
          <a:ln/>
        </p:spPr>
        <p:txBody>
          <a:bodyPr wrap="square" lIns="0" tIns="0" rIns="0" bIns="0" rtlCol="0" anchor="ctr"/>
          <a:lstStyle/>
          <a:p>
            <a:pPr indent="0" marL="0">
              <a:buNone/>
            </a:pPr>
            <a:r>
              <a:rPr lang="en-US" sz="850" b="1" dirty="0">
                <a:solidFill>
                  <a:srgbClr val="E67E22"/>
                </a:solidFill>
                <a:latin typeface="Calibri" pitchFamily="34" charset="0"/>
                <a:ea typeface="Calibri" pitchFamily="34" charset="-122"/>
                <a:cs typeface="Calibri" pitchFamily="34" charset="-120"/>
              </a:rPr>
              <a:t>UAC: </a:t>
            </a:r>
            <a:pPr indent="0" marL="0">
              <a:buNone/>
            </a:pPr>
            <a:r>
              <a:rPr lang="en-US" sz="850" dirty="0">
                <a:solidFill>
                  <a:srgbClr val="7FB3D3"/>
                </a:solidFill>
                <a:latin typeface="Calibri" pitchFamily="34" charset="0"/>
                <a:ea typeface="Calibri" pitchFamily="34" charset="-122"/>
                <a:cs typeface="Calibri" pitchFamily="34" charset="-120"/>
              </a:rPr>
              <a:t>Consumer income confounds the relationship between price and purchase - high earners buy more regardless of price</a:t>
            </a:r>
            <a:endParaRPr lang="en-US" sz="850" dirty="0"/>
          </a:p>
        </p:txBody>
      </p:sp>
      <p:sp>
        <p:nvSpPr>
          <p:cNvPr id="19" name="Shape 17"/>
          <p:cNvSpPr/>
          <p:nvPr/>
        </p:nvSpPr>
        <p:spPr>
          <a:xfrm>
            <a:off x="4709160" y="2340864"/>
            <a:ext cx="4160520" cy="1298448"/>
          </a:xfrm>
          <a:prstGeom prst="roundRect">
            <a:avLst>
              <a:gd name="adj" fmla="val 5634"/>
            </a:avLst>
          </a:prstGeom>
          <a:solidFill>
            <a:srgbClr val="0D1F35"/>
          </a:solidFill>
          <a:ln w="12700">
            <a:solidFill>
              <a:srgbClr val="1A7A4A"/>
            </a:solidFill>
            <a:prstDash val="solid"/>
          </a:ln>
        </p:spPr>
      </p:sp>
      <p:sp>
        <p:nvSpPr>
          <p:cNvPr id="20" name="Text 18"/>
          <p:cNvSpPr/>
          <p:nvPr/>
        </p:nvSpPr>
        <p:spPr>
          <a:xfrm>
            <a:off x="4818888" y="2432304"/>
            <a:ext cx="2743200" cy="274320"/>
          </a:xfrm>
          <a:prstGeom prst="rect">
            <a:avLst/>
          </a:prstGeom>
          <a:noFill/>
          <a:ln/>
        </p:spPr>
        <p:txBody>
          <a:bodyPr wrap="square" lIns="0" tIns="0" rIns="0" bIns="0" rtlCol="0" anchor="ctr"/>
          <a:lstStyle/>
          <a:p>
            <a:pPr indent="0" marL="0">
              <a:buNone/>
            </a:pPr>
            <a:r>
              <a:rPr lang="en-US" sz="1100" b="1" dirty="0">
                <a:solidFill>
                  <a:srgbClr val="1A7A4A"/>
                </a:solidFill>
                <a:latin typeface="Calibri" pitchFamily="34" charset="0"/>
                <a:ea typeface="Calibri" pitchFamily="34" charset="-122"/>
                <a:cs typeface="Calibri" pitchFamily="34" charset="-120"/>
              </a:rPr>
              <a:t>Moderator Variable</a:t>
            </a:r>
            <a:endParaRPr lang="en-US" sz="1100" dirty="0"/>
          </a:p>
        </p:txBody>
      </p:sp>
      <p:sp>
        <p:nvSpPr>
          <p:cNvPr id="21" name="Text 19"/>
          <p:cNvSpPr/>
          <p:nvPr/>
        </p:nvSpPr>
        <p:spPr>
          <a:xfrm>
            <a:off x="7616952" y="2432304"/>
            <a:ext cx="1143000" cy="274320"/>
          </a:xfrm>
          <a:prstGeom prst="rect">
            <a:avLst/>
          </a:prstGeom>
          <a:noFill/>
          <a:ln/>
        </p:spPr>
        <p:txBody>
          <a:bodyPr wrap="square" lIns="0" tIns="0" rIns="0" bIns="0" rtlCol="0" anchor="ctr"/>
          <a:lstStyle/>
          <a:p>
            <a:pPr indent="0" marL="0">
              <a:buNone/>
            </a:pPr>
            <a:r>
              <a:rPr lang="en-US" sz="800" i="1" dirty="0">
                <a:solidFill>
                  <a:srgbClr val="6FA8DC"/>
                </a:solidFill>
                <a:latin typeface="Calibri" pitchFamily="34" charset="0"/>
                <a:ea typeface="Calibri" pitchFamily="34" charset="-122"/>
                <a:cs typeface="Calibri" pitchFamily="34" charset="-120"/>
              </a:rPr>
              <a:t>Effect Modifier</a:t>
            </a:r>
            <a:endParaRPr lang="en-US" sz="800" dirty="0"/>
          </a:p>
        </p:txBody>
      </p:sp>
      <p:sp>
        <p:nvSpPr>
          <p:cNvPr id="22" name="Text 20"/>
          <p:cNvSpPr/>
          <p:nvPr/>
        </p:nvSpPr>
        <p:spPr>
          <a:xfrm>
            <a:off x="4818888" y="2743200"/>
            <a:ext cx="3913632" cy="475488"/>
          </a:xfrm>
          <a:prstGeom prst="rect">
            <a:avLst/>
          </a:prstGeom>
          <a:noFill/>
          <a:ln/>
        </p:spPr>
        <p:txBody>
          <a:bodyPr wrap="square" lIns="0" tIns="0" rIns="0" bIns="0" rtlCol="0" anchor="ctr"/>
          <a:lstStyle/>
          <a:p>
            <a:pPr indent="0" marL="0">
              <a:buNone/>
            </a:pPr>
            <a:r>
              <a:rPr lang="en-US" sz="900" dirty="0">
                <a:solidFill>
                  <a:srgbClr val="A8C8E8"/>
                </a:solidFill>
                <a:latin typeface="Calibri" pitchFamily="34" charset="0"/>
                <a:ea typeface="Calibri" pitchFamily="34" charset="-122"/>
                <a:cs typeface="Calibri" pitchFamily="34" charset="-120"/>
              </a:rPr>
              <a:t>Changes the STRENGTH or DIRECTION of the relationship between IV and DV. Creates an interaction effect.</a:t>
            </a:r>
            <a:endParaRPr lang="en-US" sz="900" dirty="0"/>
          </a:p>
        </p:txBody>
      </p:sp>
      <p:sp>
        <p:nvSpPr>
          <p:cNvPr id="23" name="Text 21"/>
          <p:cNvSpPr/>
          <p:nvPr/>
        </p:nvSpPr>
        <p:spPr>
          <a:xfrm>
            <a:off x="4818888" y="3255264"/>
            <a:ext cx="3913632" cy="329184"/>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UAC: </a:t>
            </a:r>
            <a:pPr indent="0" marL="0">
              <a:buNone/>
            </a:pPr>
            <a:r>
              <a:rPr lang="en-US" sz="850" dirty="0">
                <a:solidFill>
                  <a:srgbClr val="7FB3D3"/>
                </a:solidFill>
                <a:latin typeface="Calibri" pitchFamily="34" charset="0"/>
                <a:ea typeface="Calibri" pitchFamily="34" charset="-122"/>
                <a:cs typeface="Calibri" pitchFamily="34" charset="-120"/>
              </a:rPr>
              <a:t>Age moderates the relationship between advertising channel and purchase: social media ads work for under-35s but not for 50+</a:t>
            </a:r>
            <a:endParaRPr lang="en-US" sz="850" dirty="0"/>
          </a:p>
        </p:txBody>
      </p:sp>
      <p:sp>
        <p:nvSpPr>
          <p:cNvPr id="24" name="Shape 22"/>
          <p:cNvSpPr/>
          <p:nvPr/>
        </p:nvSpPr>
        <p:spPr>
          <a:xfrm>
            <a:off x="274320" y="3749040"/>
            <a:ext cx="4160520" cy="1298448"/>
          </a:xfrm>
          <a:prstGeom prst="roundRect">
            <a:avLst>
              <a:gd name="adj" fmla="val 5634"/>
            </a:avLst>
          </a:prstGeom>
          <a:solidFill>
            <a:srgbClr val="0D1F35"/>
          </a:solidFill>
          <a:ln w="12700">
            <a:solidFill>
              <a:srgbClr val="5B2D8E"/>
            </a:solidFill>
            <a:prstDash val="solid"/>
          </a:ln>
        </p:spPr>
      </p:sp>
      <p:sp>
        <p:nvSpPr>
          <p:cNvPr id="25" name="Text 23"/>
          <p:cNvSpPr/>
          <p:nvPr/>
        </p:nvSpPr>
        <p:spPr>
          <a:xfrm>
            <a:off x="384048" y="3840480"/>
            <a:ext cx="2743200" cy="274320"/>
          </a:xfrm>
          <a:prstGeom prst="rect">
            <a:avLst/>
          </a:prstGeom>
          <a:noFill/>
          <a:ln/>
        </p:spPr>
        <p:txBody>
          <a:bodyPr wrap="square" lIns="0" tIns="0" rIns="0" bIns="0" rtlCol="0" anchor="ctr"/>
          <a:lstStyle/>
          <a:p>
            <a:pPr indent="0" marL="0">
              <a:buNone/>
            </a:pPr>
            <a:r>
              <a:rPr lang="en-US" sz="1100" b="1" dirty="0">
                <a:solidFill>
                  <a:srgbClr val="5B2D8E"/>
                </a:solidFill>
                <a:latin typeface="Calibri" pitchFamily="34" charset="0"/>
                <a:ea typeface="Calibri" pitchFamily="34" charset="-122"/>
                <a:cs typeface="Calibri" pitchFamily="34" charset="-120"/>
              </a:rPr>
              <a:t>Mediator Variable</a:t>
            </a:r>
            <a:endParaRPr lang="en-US" sz="1100" dirty="0"/>
          </a:p>
        </p:txBody>
      </p:sp>
      <p:sp>
        <p:nvSpPr>
          <p:cNvPr id="26" name="Text 24"/>
          <p:cNvSpPr/>
          <p:nvPr/>
        </p:nvSpPr>
        <p:spPr>
          <a:xfrm>
            <a:off x="3182112" y="3840480"/>
            <a:ext cx="1143000" cy="274320"/>
          </a:xfrm>
          <a:prstGeom prst="rect">
            <a:avLst/>
          </a:prstGeom>
          <a:noFill/>
          <a:ln/>
        </p:spPr>
        <p:txBody>
          <a:bodyPr wrap="square" lIns="0" tIns="0" rIns="0" bIns="0" rtlCol="0" anchor="ctr"/>
          <a:lstStyle/>
          <a:p>
            <a:pPr indent="0" marL="0">
              <a:buNone/>
            </a:pPr>
            <a:r>
              <a:rPr lang="en-US" sz="800" i="1" dirty="0">
                <a:solidFill>
                  <a:srgbClr val="6FA8DC"/>
                </a:solidFill>
                <a:latin typeface="Calibri" pitchFamily="34" charset="0"/>
                <a:ea typeface="Calibri" pitchFamily="34" charset="-122"/>
                <a:cs typeface="Calibri" pitchFamily="34" charset="-120"/>
              </a:rPr>
              <a:t>Intervening Variable</a:t>
            </a:r>
            <a:endParaRPr lang="en-US" sz="800" dirty="0"/>
          </a:p>
        </p:txBody>
      </p:sp>
      <p:sp>
        <p:nvSpPr>
          <p:cNvPr id="27" name="Text 25"/>
          <p:cNvSpPr/>
          <p:nvPr/>
        </p:nvSpPr>
        <p:spPr>
          <a:xfrm>
            <a:off x="384048" y="4151376"/>
            <a:ext cx="3913632" cy="475488"/>
          </a:xfrm>
          <a:prstGeom prst="rect">
            <a:avLst/>
          </a:prstGeom>
          <a:noFill/>
          <a:ln/>
        </p:spPr>
        <p:txBody>
          <a:bodyPr wrap="square" lIns="0" tIns="0" rIns="0" bIns="0" rtlCol="0" anchor="ctr"/>
          <a:lstStyle/>
          <a:p>
            <a:pPr indent="0" marL="0">
              <a:buNone/>
            </a:pPr>
            <a:r>
              <a:rPr lang="en-US" sz="900" dirty="0">
                <a:solidFill>
                  <a:srgbClr val="A8C8E8"/>
                </a:solidFill>
                <a:latin typeface="Calibri" pitchFamily="34" charset="0"/>
                <a:ea typeface="Calibri" pitchFamily="34" charset="-122"/>
                <a:cs typeface="Calibri" pitchFamily="34" charset="-120"/>
              </a:rPr>
              <a:t>Explains the MECHANISM through which the IV affects the DV. The 'how' of causation.</a:t>
            </a:r>
            <a:endParaRPr lang="en-US" sz="900" dirty="0"/>
          </a:p>
        </p:txBody>
      </p:sp>
      <p:sp>
        <p:nvSpPr>
          <p:cNvPr id="28" name="Text 26"/>
          <p:cNvSpPr/>
          <p:nvPr/>
        </p:nvSpPr>
        <p:spPr>
          <a:xfrm>
            <a:off x="384048" y="4663440"/>
            <a:ext cx="3913632" cy="329184"/>
          </a:xfrm>
          <a:prstGeom prst="rect">
            <a:avLst/>
          </a:prstGeom>
          <a:noFill/>
          <a:ln/>
        </p:spPr>
        <p:txBody>
          <a:bodyPr wrap="square" lIns="0" tIns="0" rIns="0" bIns="0" rtlCol="0" anchor="ctr"/>
          <a:lstStyle/>
          <a:p>
            <a:pPr indent="0" marL="0">
              <a:buNone/>
            </a:pPr>
            <a:r>
              <a:rPr lang="en-US" sz="850" b="1" dirty="0">
                <a:solidFill>
                  <a:srgbClr val="5B2D8E"/>
                </a:solidFill>
                <a:latin typeface="Calibri" pitchFamily="34" charset="0"/>
                <a:ea typeface="Calibri" pitchFamily="34" charset="-122"/>
                <a:cs typeface="Calibri" pitchFamily="34" charset="-120"/>
              </a:rPr>
              <a:t>UAC: </a:t>
            </a:r>
            <a:pPr indent="0" marL="0">
              <a:buNone/>
            </a:pPr>
            <a:r>
              <a:rPr lang="en-US" sz="850" dirty="0">
                <a:solidFill>
                  <a:srgbClr val="7FB3D3"/>
                </a:solidFill>
                <a:latin typeface="Calibri" pitchFamily="34" charset="0"/>
                <a:ea typeface="Calibri" pitchFamily="34" charset="-122"/>
                <a:cs typeface="Calibri" pitchFamily="34" charset="-120"/>
              </a:rPr>
              <a:t>Advertising &gt; Brand Awareness (mediator) &gt; Purchase. Ads affect purchase THROUGH awareness.</a:t>
            </a:r>
            <a:endParaRPr lang="en-US" sz="850" dirty="0"/>
          </a:p>
        </p:txBody>
      </p:sp>
      <p:sp>
        <p:nvSpPr>
          <p:cNvPr id="29" name="Shape 27"/>
          <p:cNvSpPr/>
          <p:nvPr/>
        </p:nvSpPr>
        <p:spPr>
          <a:xfrm>
            <a:off x="4709160" y="3749040"/>
            <a:ext cx="4160520" cy="1298448"/>
          </a:xfrm>
          <a:prstGeom prst="roundRect">
            <a:avLst>
              <a:gd name="adj" fmla="val 5634"/>
            </a:avLst>
          </a:prstGeom>
          <a:solidFill>
            <a:srgbClr val="0D1F35"/>
          </a:solidFill>
          <a:ln w="12700">
            <a:solidFill>
              <a:srgbClr val="C0392B"/>
            </a:solidFill>
            <a:prstDash val="solid"/>
          </a:ln>
        </p:spPr>
      </p:sp>
      <p:sp>
        <p:nvSpPr>
          <p:cNvPr id="30" name="Text 28"/>
          <p:cNvSpPr/>
          <p:nvPr/>
        </p:nvSpPr>
        <p:spPr>
          <a:xfrm>
            <a:off x="4818888" y="3840480"/>
            <a:ext cx="2743200" cy="274320"/>
          </a:xfrm>
          <a:prstGeom prst="rect">
            <a:avLst/>
          </a:prstGeom>
          <a:noFill/>
          <a:ln/>
        </p:spPr>
        <p:txBody>
          <a:bodyPr wrap="square" lIns="0" tIns="0" rIns="0" bIns="0"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Control Variable</a:t>
            </a:r>
            <a:endParaRPr lang="en-US" sz="1100" dirty="0"/>
          </a:p>
        </p:txBody>
      </p:sp>
      <p:sp>
        <p:nvSpPr>
          <p:cNvPr id="31" name="Text 29"/>
          <p:cNvSpPr/>
          <p:nvPr/>
        </p:nvSpPr>
        <p:spPr>
          <a:xfrm>
            <a:off x="7616952" y="3840480"/>
            <a:ext cx="1143000" cy="274320"/>
          </a:xfrm>
          <a:prstGeom prst="rect">
            <a:avLst/>
          </a:prstGeom>
          <a:noFill/>
          <a:ln/>
        </p:spPr>
        <p:txBody>
          <a:bodyPr wrap="square" lIns="0" tIns="0" rIns="0" bIns="0" rtlCol="0" anchor="ctr"/>
          <a:lstStyle/>
          <a:p>
            <a:pPr indent="0" marL="0">
              <a:buNone/>
            </a:pPr>
            <a:r>
              <a:rPr lang="en-US" sz="800" i="1" dirty="0">
                <a:solidFill>
                  <a:srgbClr val="6FA8DC"/>
                </a:solidFill>
                <a:latin typeface="Calibri" pitchFamily="34" charset="0"/>
                <a:ea typeface="Calibri" pitchFamily="34" charset="-122"/>
                <a:cs typeface="Calibri" pitchFamily="34" charset="-120"/>
              </a:rPr>
              <a:t>Covariate</a:t>
            </a:r>
            <a:endParaRPr lang="en-US" sz="800" dirty="0"/>
          </a:p>
        </p:txBody>
      </p:sp>
      <p:sp>
        <p:nvSpPr>
          <p:cNvPr id="32" name="Text 30"/>
          <p:cNvSpPr/>
          <p:nvPr/>
        </p:nvSpPr>
        <p:spPr>
          <a:xfrm>
            <a:off x="4818888" y="4151376"/>
            <a:ext cx="3913632" cy="475488"/>
          </a:xfrm>
          <a:prstGeom prst="rect">
            <a:avLst/>
          </a:prstGeom>
          <a:noFill/>
          <a:ln/>
        </p:spPr>
        <p:txBody>
          <a:bodyPr wrap="square" lIns="0" tIns="0" rIns="0" bIns="0" rtlCol="0" anchor="ctr"/>
          <a:lstStyle/>
          <a:p>
            <a:pPr indent="0" marL="0">
              <a:buNone/>
            </a:pPr>
            <a:r>
              <a:rPr lang="en-US" sz="900" dirty="0">
                <a:solidFill>
                  <a:srgbClr val="A8C8E8"/>
                </a:solidFill>
                <a:latin typeface="Calibri" pitchFamily="34" charset="0"/>
                <a:ea typeface="Calibri" pitchFamily="34" charset="-122"/>
                <a:cs typeface="Calibri" pitchFamily="34" charset="-120"/>
              </a:rPr>
              <a:t>A variable held constant or statistically controlled to isolate the relationship of interest.</a:t>
            </a:r>
            <a:endParaRPr lang="en-US" sz="900" dirty="0"/>
          </a:p>
        </p:txBody>
      </p:sp>
      <p:sp>
        <p:nvSpPr>
          <p:cNvPr id="33" name="Text 31"/>
          <p:cNvSpPr/>
          <p:nvPr/>
        </p:nvSpPr>
        <p:spPr>
          <a:xfrm>
            <a:off x="4818888" y="4663440"/>
            <a:ext cx="3913632" cy="329184"/>
          </a:xfrm>
          <a:prstGeom prst="rect">
            <a:avLst/>
          </a:prstGeom>
          <a:noFill/>
          <a:ln/>
        </p:spPr>
        <p:txBody>
          <a:bodyPr wrap="square" lIns="0" tIns="0" rIns="0" bIns="0" rtlCol="0" anchor="ctr"/>
          <a:lstStyle/>
          <a:p>
            <a:pPr indent="0" marL="0">
              <a:buNone/>
            </a:pPr>
            <a:r>
              <a:rPr lang="en-US" sz="850" b="1" dirty="0">
                <a:solidFill>
                  <a:srgbClr val="C0392B"/>
                </a:solidFill>
                <a:latin typeface="Calibri" pitchFamily="34" charset="0"/>
                <a:ea typeface="Calibri" pitchFamily="34" charset="-122"/>
                <a:cs typeface="Calibri" pitchFamily="34" charset="-120"/>
              </a:rPr>
              <a:t>UAC: </a:t>
            </a:r>
            <a:pPr indent="0" marL="0">
              <a:buNone/>
            </a:pPr>
            <a:r>
              <a:rPr lang="en-US" sz="850" dirty="0">
                <a:solidFill>
                  <a:srgbClr val="7FB3D3"/>
                </a:solidFill>
                <a:latin typeface="Calibri" pitchFamily="34" charset="0"/>
                <a:ea typeface="Calibri" pitchFamily="34" charset="-122"/>
                <a:cs typeface="Calibri" pitchFamily="34" charset="-120"/>
              </a:rPr>
              <a:t>Control for household income when studying price sensitivity to ensure income is not driving the result</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562"/>
          </a:solidFill>
          <a:ln w="12700">
            <a:solidFill>
              <a:srgbClr val="1A3562"/>
            </a:solidFill>
            <a:prstDash val="solid"/>
          </a:ln>
        </p:spPr>
      </p:sp>
      <p:sp>
        <p:nvSpPr>
          <p:cNvPr id="3" name="Text 1"/>
          <p:cNvSpPr/>
          <p:nvPr/>
        </p:nvSpPr>
        <p:spPr>
          <a:xfrm>
            <a:off x="457200" y="109728"/>
            <a:ext cx="8229600" cy="713232"/>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Statistical Error Types and the Normal Distribution</a:t>
            </a:r>
            <a:endParaRPr lang="en-US" sz="2400" dirty="0"/>
          </a:p>
        </p:txBody>
      </p:sp>
      <p:sp>
        <p:nvSpPr>
          <p:cNvPr id="4" name="Text 2"/>
          <p:cNvSpPr/>
          <p:nvPr/>
        </p:nvSpPr>
        <p:spPr>
          <a:xfrm>
            <a:off x="274320" y="1078992"/>
            <a:ext cx="4160520" cy="274320"/>
          </a:xfrm>
          <a:prstGeom prst="rect">
            <a:avLst/>
          </a:prstGeom>
          <a:noFill/>
          <a:ln/>
        </p:spPr>
        <p:txBody>
          <a:bodyPr wrap="square" lIns="0" tIns="0" rIns="0" bIns="0" rtlCol="0" anchor="ctr"/>
          <a:lstStyle/>
          <a:p>
            <a:pPr indent="0" marL="0">
              <a:buNone/>
            </a:pPr>
            <a:r>
              <a:rPr lang="en-US" sz="1300" b="1" dirty="0">
                <a:solidFill>
                  <a:srgbClr val="0F1E3C"/>
                </a:solidFill>
                <a:latin typeface="Calibri" pitchFamily="34" charset="0"/>
                <a:ea typeface="Calibri" pitchFamily="34" charset="-122"/>
                <a:cs typeface="Calibri" pitchFamily="34" charset="-120"/>
              </a:rPr>
              <a:t>Type I and Type II Errors</a:t>
            </a:r>
            <a:endParaRPr lang="en-US" sz="1300" dirty="0"/>
          </a:p>
        </p:txBody>
      </p:sp>
      <p:sp>
        <p:nvSpPr>
          <p:cNvPr id="5" name="Shape 3"/>
          <p:cNvSpPr/>
          <p:nvPr/>
        </p:nvSpPr>
        <p:spPr>
          <a:xfrm>
            <a:off x="274320" y="1389888"/>
            <a:ext cx="1371600" cy="329184"/>
          </a:xfrm>
          <a:prstGeom prst="rect">
            <a:avLst/>
          </a:prstGeom>
          <a:solidFill>
            <a:srgbClr val="0F1E3C"/>
          </a:solidFill>
          <a:ln w="12700">
            <a:solidFill>
              <a:srgbClr val="0F1E3C"/>
            </a:solidFill>
            <a:prstDash val="solid"/>
          </a:ln>
        </p:spPr>
      </p:sp>
      <p:sp>
        <p:nvSpPr>
          <p:cNvPr id="6" name="Text 4"/>
          <p:cNvSpPr/>
          <p:nvPr/>
        </p:nvSpPr>
        <p:spPr>
          <a:xfrm>
            <a:off x="274320" y="1389888"/>
            <a:ext cx="1371600" cy="329184"/>
          </a:xfrm>
          <a:prstGeom prst="rect">
            <a:avLst/>
          </a:prstGeom>
          <a:noFill/>
          <a:ln/>
        </p:spPr>
        <p:txBody>
          <a:bodyPr wrap="square" lIns="0" tIns="0" rIns="0" bIns="0" rtlCol="0" anchor="ctr"/>
          <a:lstStyle/>
          <a:p>
            <a:pPr algn="ctr" indent="0" marL="0">
              <a:buNone/>
            </a:pPr>
            <a:endParaRPr lang="en-US" sz="950" dirty="0"/>
          </a:p>
        </p:txBody>
      </p:sp>
      <p:sp>
        <p:nvSpPr>
          <p:cNvPr id="7" name="Shape 5"/>
          <p:cNvSpPr/>
          <p:nvPr/>
        </p:nvSpPr>
        <p:spPr>
          <a:xfrm>
            <a:off x="1691640" y="1389888"/>
            <a:ext cx="1371600" cy="329184"/>
          </a:xfrm>
          <a:prstGeom prst="rect">
            <a:avLst/>
          </a:prstGeom>
          <a:solidFill>
            <a:srgbClr val="0F1E3C"/>
          </a:solidFill>
          <a:ln w="12700">
            <a:solidFill>
              <a:srgbClr val="0F1E3C"/>
            </a:solidFill>
            <a:prstDash val="solid"/>
          </a:ln>
        </p:spPr>
      </p:sp>
      <p:sp>
        <p:nvSpPr>
          <p:cNvPr id="8" name="Text 6"/>
          <p:cNvSpPr/>
          <p:nvPr/>
        </p:nvSpPr>
        <p:spPr>
          <a:xfrm>
            <a:off x="1691640" y="1389888"/>
            <a:ext cx="137160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H0 is TRUE</a:t>
            </a:r>
            <a:endParaRPr lang="en-US" sz="950" dirty="0"/>
          </a:p>
        </p:txBody>
      </p:sp>
      <p:sp>
        <p:nvSpPr>
          <p:cNvPr id="9" name="Shape 7"/>
          <p:cNvSpPr/>
          <p:nvPr/>
        </p:nvSpPr>
        <p:spPr>
          <a:xfrm>
            <a:off x="3108960" y="1389888"/>
            <a:ext cx="1371600" cy="329184"/>
          </a:xfrm>
          <a:prstGeom prst="rect">
            <a:avLst/>
          </a:prstGeom>
          <a:solidFill>
            <a:srgbClr val="0F1E3C"/>
          </a:solidFill>
          <a:ln w="12700">
            <a:solidFill>
              <a:srgbClr val="0F1E3C"/>
            </a:solidFill>
            <a:prstDash val="solid"/>
          </a:ln>
        </p:spPr>
      </p:sp>
      <p:sp>
        <p:nvSpPr>
          <p:cNvPr id="10" name="Text 8"/>
          <p:cNvSpPr/>
          <p:nvPr/>
        </p:nvSpPr>
        <p:spPr>
          <a:xfrm>
            <a:off x="3108960" y="1389888"/>
            <a:ext cx="137160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H0 is FALSE</a:t>
            </a:r>
            <a:endParaRPr lang="en-US" sz="950" dirty="0"/>
          </a:p>
        </p:txBody>
      </p:sp>
      <p:sp>
        <p:nvSpPr>
          <p:cNvPr id="11" name="Shape 9"/>
          <p:cNvSpPr/>
          <p:nvPr/>
        </p:nvSpPr>
        <p:spPr>
          <a:xfrm>
            <a:off x="274320" y="1737360"/>
            <a:ext cx="1371600" cy="621792"/>
          </a:xfrm>
          <a:prstGeom prst="rect">
            <a:avLst/>
          </a:prstGeom>
          <a:solidFill>
            <a:srgbClr val="F7F9FC"/>
          </a:solidFill>
          <a:ln w="6350">
            <a:solidFill>
              <a:srgbClr val="D0E8F8"/>
            </a:solidFill>
            <a:prstDash val="solid"/>
          </a:ln>
        </p:spPr>
      </p:sp>
      <p:sp>
        <p:nvSpPr>
          <p:cNvPr id="12" name="Text 10"/>
          <p:cNvSpPr/>
          <p:nvPr/>
        </p:nvSpPr>
        <p:spPr>
          <a:xfrm>
            <a:off x="274320" y="1737360"/>
            <a:ext cx="1371600" cy="621792"/>
          </a:xfrm>
          <a:prstGeom prst="rect">
            <a:avLst/>
          </a:prstGeom>
          <a:noFill/>
          <a:ln/>
        </p:spPr>
        <p:txBody>
          <a:bodyPr wrap="square" lIns="0" tIns="0" rIns="0" bIns="0" rtlCol="0" anchor="ctr"/>
          <a:lstStyle/>
          <a:p>
            <a:pPr algn="ctr" indent="0" marL="0">
              <a:buNone/>
            </a:pPr>
            <a:r>
              <a:rPr lang="en-US" sz="900" dirty="0">
                <a:solidFill>
                  <a:srgbClr val="0F1E3C"/>
                </a:solidFill>
                <a:latin typeface="Calibri" pitchFamily="34" charset="0"/>
                <a:ea typeface="Calibri" pitchFamily="34" charset="-122"/>
                <a:cs typeface="Calibri" pitchFamily="34" charset="-120"/>
              </a:rPr>
              <a:t>Reject H0</a:t>
            </a:r>
            <a:endParaRPr lang="en-US" sz="900" dirty="0"/>
          </a:p>
        </p:txBody>
      </p:sp>
      <p:sp>
        <p:nvSpPr>
          <p:cNvPr id="13" name="Shape 11"/>
          <p:cNvSpPr/>
          <p:nvPr/>
        </p:nvSpPr>
        <p:spPr>
          <a:xfrm>
            <a:off x="1691640" y="1737360"/>
            <a:ext cx="1371600" cy="621792"/>
          </a:xfrm>
          <a:prstGeom prst="rect">
            <a:avLst/>
          </a:prstGeom>
          <a:solidFill>
            <a:srgbClr val="FDEDEC"/>
          </a:solidFill>
          <a:ln w="6350">
            <a:solidFill>
              <a:srgbClr val="D0E8F8"/>
            </a:solidFill>
            <a:prstDash val="solid"/>
          </a:ln>
        </p:spPr>
      </p:sp>
      <p:sp>
        <p:nvSpPr>
          <p:cNvPr id="14" name="Text 12"/>
          <p:cNvSpPr/>
          <p:nvPr/>
        </p:nvSpPr>
        <p:spPr>
          <a:xfrm>
            <a:off x="1691640" y="1737360"/>
            <a:ext cx="1371600" cy="621792"/>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Type I Error (alpha)</a:t>
            </a:r>
            <a:endParaRPr lang="en-US" sz="900" dirty="0"/>
          </a:p>
          <a:p>
            <a:pPr algn="ctr" indent="0" marL="0">
              <a:buNone/>
            </a:pPr>
            <a:r>
              <a:rPr lang="en-US" sz="900" b="1" dirty="0">
                <a:solidFill>
                  <a:srgbClr val="C0392B"/>
                </a:solidFill>
                <a:latin typeface="Calibri" pitchFamily="34" charset="0"/>
                <a:ea typeface="Calibri" pitchFamily="34" charset="-122"/>
                <a:cs typeface="Calibri" pitchFamily="34" charset="-120"/>
              </a:rPr>
              <a:t>False Positive</a:t>
            </a:r>
            <a:endParaRPr lang="en-US" sz="900" dirty="0"/>
          </a:p>
        </p:txBody>
      </p:sp>
      <p:sp>
        <p:nvSpPr>
          <p:cNvPr id="15" name="Shape 13"/>
          <p:cNvSpPr/>
          <p:nvPr/>
        </p:nvSpPr>
        <p:spPr>
          <a:xfrm>
            <a:off x="3108960" y="1737360"/>
            <a:ext cx="1371600" cy="621792"/>
          </a:xfrm>
          <a:prstGeom prst="rect">
            <a:avLst/>
          </a:prstGeom>
          <a:solidFill>
            <a:srgbClr val="EAF9F0"/>
          </a:solidFill>
          <a:ln w="6350">
            <a:solidFill>
              <a:srgbClr val="D0E8F8"/>
            </a:solidFill>
            <a:prstDash val="solid"/>
          </a:ln>
        </p:spPr>
      </p:sp>
      <p:sp>
        <p:nvSpPr>
          <p:cNvPr id="16" name="Text 14"/>
          <p:cNvSpPr/>
          <p:nvPr/>
        </p:nvSpPr>
        <p:spPr>
          <a:xfrm>
            <a:off x="3108960" y="1737360"/>
            <a:ext cx="1371600" cy="621792"/>
          </a:xfrm>
          <a:prstGeom prst="rect">
            <a:avLst/>
          </a:prstGeom>
          <a:noFill/>
          <a:ln/>
        </p:spPr>
        <p:txBody>
          <a:bodyPr wrap="square" lIns="0" tIns="0" rIns="0" bIns="0" rtlCol="0" anchor="ctr"/>
          <a:lstStyle/>
          <a:p>
            <a:pPr algn="ctr" indent="0" marL="0">
              <a:buNone/>
            </a:pPr>
            <a:r>
              <a:rPr lang="en-US" sz="900" b="1" dirty="0">
                <a:solidFill>
                  <a:srgbClr val="1A7A4A"/>
                </a:solidFill>
                <a:latin typeface="Calibri" pitchFamily="34" charset="0"/>
                <a:ea typeface="Calibri" pitchFamily="34" charset="-122"/>
                <a:cs typeface="Calibri" pitchFamily="34" charset="-120"/>
              </a:rPr>
              <a:t>CORRECT</a:t>
            </a:r>
            <a:endParaRPr lang="en-US" sz="900" dirty="0"/>
          </a:p>
          <a:p>
            <a:pPr algn="ctr" indent="0" marL="0">
              <a:buNone/>
            </a:pPr>
            <a:r>
              <a:rPr lang="en-US" sz="900" b="1" dirty="0">
                <a:solidFill>
                  <a:srgbClr val="1A7A4A"/>
                </a:solidFill>
                <a:latin typeface="Calibri" pitchFamily="34" charset="0"/>
                <a:ea typeface="Calibri" pitchFamily="34" charset="-122"/>
                <a:cs typeface="Calibri" pitchFamily="34" charset="-120"/>
              </a:rPr>
              <a:t>True Positive</a:t>
            </a:r>
            <a:endParaRPr lang="en-US" sz="900" dirty="0"/>
          </a:p>
        </p:txBody>
      </p:sp>
      <p:sp>
        <p:nvSpPr>
          <p:cNvPr id="17" name="Shape 15"/>
          <p:cNvSpPr/>
          <p:nvPr/>
        </p:nvSpPr>
        <p:spPr>
          <a:xfrm>
            <a:off x="274320" y="2395728"/>
            <a:ext cx="1371600" cy="621792"/>
          </a:xfrm>
          <a:prstGeom prst="rect">
            <a:avLst/>
          </a:prstGeom>
          <a:solidFill>
            <a:srgbClr val="F7F9FC"/>
          </a:solidFill>
          <a:ln w="6350">
            <a:solidFill>
              <a:srgbClr val="D0E8F8"/>
            </a:solidFill>
            <a:prstDash val="solid"/>
          </a:ln>
        </p:spPr>
      </p:sp>
      <p:sp>
        <p:nvSpPr>
          <p:cNvPr id="18" name="Text 16"/>
          <p:cNvSpPr/>
          <p:nvPr/>
        </p:nvSpPr>
        <p:spPr>
          <a:xfrm>
            <a:off x="274320" y="2395728"/>
            <a:ext cx="1371600" cy="621792"/>
          </a:xfrm>
          <a:prstGeom prst="rect">
            <a:avLst/>
          </a:prstGeom>
          <a:noFill/>
          <a:ln/>
        </p:spPr>
        <p:txBody>
          <a:bodyPr wrap="square" lIns="0" tIns="0" rIns="0" bIns="0" rtlCol="0" anchor="ctr"/>
          <a:lstStyle/>
          <a:p>
            <a:pPr algn="ctr" indent="0" marL="0">
              <a:buNone/>
            </a:pPr>
            <a:r>
              <a:rPr lang="en-US" sz="900" dirty="0">
                <a:solidFill>
                  <a:srgbClr val="0F1E3C"/>
                </a:solidFill>
                <a:latin typeface="Calibri" pitchFamily="34" charset="0"/>
                <a:ea typeface="Calibri" pitchFamily="34" charset="-122"/>
                <a:cs typeface="Calibri" pitchFamily="34" charset="-120"/>
              </a:rPr>
              <a:t>Fail to Reject H0</a:t>
            </a:r>
            <a:endParaRPr lang="en-US" sz="900" dirty="0"/>
          </a:p>
        </p:txBody>
      </p:sp>
      <p:sp>
        <p:nvSpPr>
          <p:cNvPr id="19" name="Shape 17"/>
          <p:cNvSpPr/>
          <p:nvPr/>
        </p:nvSpPr>
        <p:spPr>
          <a:xfrm>
            <a:off x="1691640" y="2395728"/>
            <a:ext cx="1371600" cy="621792"/>
          </a:xfrm>
          <a:prstGeom prst="rect">
            <a:avLst/>
          </a:prstGeom>
          <a:solidFill>
            <a:srgbClr val="EAF9F0"/>
          </a:solidFill>
          <a:ln w="6350">
            <a:solidFill>
              <a:srgbClr val="D0E8F8"/>
            </a:solidFill>
            <a:prstDash val="solid"/>
          </a:ln>
        </p:spPr>
      </p:sp>
      <p:sp>
        <p:nvSpPr>
          <p:cNvPr id="20" name="Text 18"/>
          <p:cNvSpPr/>
          <p:nvPr/>
        </p:nvSpPr>
        <p:spPr>
          <a:xfrm>
            <a:off x="1691640" y="2395728"/>
            <a:ext cx="1371600" cy="621792"/>
          </a:xfrm>
          <a:prstGeom prst="rect">
            <a:avLst/>
          </a:prstGeom>
          <a:noFill/>
          <a:ln/>
        </p:spPr>
        <p:txBody>
          <a:bodyPr wrap="square" lIns="0" tIns="0" rIns="0" bIns="0" rtlCol="0" anchor="ctr"/>
          <a:lstStyle/>
          <a:p>
            <a:pPr algn="ctr" indent="0" marL="0">
              <a:buNone/>
            </a:pPr>
            <a:r>
              <a:rPr lang="en-US" sz="900" b="1" dirty="0">
                <a:solidFill>
                  <a:srgbClr val="1A7A4A"/>
                </a:solidFill>
                <a:latin typeface="Calibri" pitchFamily="34" charset="0"/>
                <a:ea typeface="Calibri" pitchFamily="34" charset="-122"/>
                <a:cs typeface="Calibri" pitchFamily="34" charset="-120"/>
              </a:rPr>
              <a:t>CORRECT</a:t>
            </a:r>
            <a:endParaRPr lang="en-US" sz="900" dirty="0"/>
          </a:p>
          <a:p>
            <a:pPr algn="ctr" indent="0" marL="0">
              <a:buNone/>
            </a:pPr>
            <a:r>
              <a:rPr lang="en-US" sz="900" b="1" dirty="0">
                <a:solidFill>
                  <a:srgbClr val="1A7A4A"/>
                </a:solidFill>
                <a:latin typeface="Calibri" pitchFamily="34" charset="0"/>
                <a:ea typeface="Calibri" pitchFamily="34" charset="-122"/>
                <a:cs typeface="Calibri" pitchFamily="34" charset="-120"/>
              </a:rPr>
              <a:t>True Negative</a:t>
            </a:r>
            <a:endParaRPr lang="en-US" sz="900" dirty="0"/>
          </a:p>
        </p:txBody>
      </p:sp>
      <p:sp>
        <p:nvSpPr>
          <p:cNvPr id="21" name="Shape 19"/>
          <p:cNvSpPr/>
          <p:nvPr/>
        </p:nvSpPr>
        <p:spPr>
          <a:xfrm>
            <a:off x="3108960" y="2395728"/>
            <a:ext cx="1371600" cy="621792"/>
          </a:xfrm>
          <a:prstGeom prst="rect">
            <a:avLst/>
          </a:prstGeom>
          <a:solidFill>
            <a:srgbClr val="FDEDEC"/>
          </a:solidFill>
          <a:ln w="6350">
            <a:solidFill>
              <a:srgbClr val="D0E8F8"/>
            </a:solidFill>
            <a:prstDash val="solid"/>
          </a:ln>
        </p:spPr>
      </p:sp>
      <p:sp>
        <p:nvSpPr>
          <p:cNvPr id="22" name="Text 20"/>
          <p:cNvSpPr/>
          <p:nvPr/>
        </p:nvSpPr>
        <p:spPr>
          <a:xfrm>
            <a:off x="3108960" y="2395728"/>
            <a:ext cx="1371600" cy="621792"/>
          </a:xfrm>
          <a:prstGeom prst="rect">
            <a:avLst/>
          </a:prstGeom>
          <a:noFill/>
          <a:ln/>
        </p:spPr>
        <p:txBody>
          <a:bodyPr wrap="square" lIns="0" tIns="0" rIns="0" bIns="0"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Type II Error (beta)</a:t>
            </a:r>
            <a:endParaRPr lang="en-US" sz="900" dirty="0"/>
          </a:p>
          <a:p>
            <a:pPr algn="ctr" indent="0" marL="0">
              <a:buNone/>
            </a:pPr>
            <a:r>
              <a:rPr lang="en-US" sz="900" b="1" dirty="0">
                <a:solidFill>
                  <a:srgbClr val="C0392B"/>
                </a:solidFill>
                <a:latin typeface="Calibri" pitchFamily="34" charset="0"/>
                <a:ea typeface="Calibri" pitchFamily="34" charset="-122"/>
                <a:cs typeface="Calibri" pitchFamily="34" charset="-120"/>
              </a:rPr>
              <a:t>False Negative</a:t>
            </a:r>
            <a:endParaRPr lang="en-US" sz="900" dirty="0"/>
          </a:p>
        </p:txBody>
      </p:sp>
      <p:sp>
        <p:nvSpPr>
          <p:cNvPr id="23" name="Text 21"/>
          <p:cNvSpPr/>
          <p:nvPr/>
        </p:nvSpPr>
        <p:spPr>
          <a:xfrm>
            <a:off x="274320" y="3108960"/>
            <a:ext cx="4160520" cy="411480"/>
          </a:xfrm>
          <a:prstGeom prst="rect">
            <a:avLst/>
          </a:prstGeom>
          <a:noFill/>
          <a:ln/>
        </p:spPr>
        <p:txBody>
          <a:bodyPr wrap="square" lIns="0" tIns="0" rIns="0" bIns="0" rtlCol="0" anchor="ctr"/>
          <a:lstStyle/>
          <a:p>
            <a:pPr indent="0" marL="0">
              <a:buNone/>
            </a:pPr>
            <a:r>
              <a:rPr lang="en-US" sz="950" b="1" dirty="0">
                <a:solidFill>
                  <a:srgbClr val="C0392B"/>
                </a:solidFill>
                <a:latin typeface="Calibri" pitchFamily="34" charset="0"/>
                <a:ea typeface="Calibri" pitchFamily="34" charset="-122"/>
                <a:cs typeface="Calibri" pitchFamily="34" charset="-120"/>
              </a:rPr>
              <a:t>Type I Error (alpha): </a:t>
            </a:r>
            <a:pPr indent="0" marL="0">
              <a:buNone/>
            </a:pPr>
            <a:r>
              <a:rPr lang="en-US" sz="950" dirty="0">
                <a:solidFill>
                  <a:srgbClr val="2C3E50"/>
                </a:solidFill>
                <a:latin typeface="Calibri" pitchFamily="34" charset="0"/>
                <a:ea typeface="Calibri" pitchFamily="34" charset="-122"/>
                <a:cs typeface="Calibri" pitchFamily="34" charset="-120"/>
              </a:rPr>
              <a:t>We reject H0 when it is actually true (false positive). Controlled by setting alpha = .05.</a:t>
            </a:r>
            <a:endParaRPr lang="en-US" sz="950" dirty="0"/>
          </a:p>
        </p:txBody>
      </p:sp>
      <p:sp>
        <p:nvSpPr>
          <p:cNvPr id="24" name="Text 22"/>
          <p:cNvSpPr/>
          <p:nvPr/>
        </p:nvSpPr>
        <p:spPr>
          <a:xfrm>
            <a:off x="274320" y="3547872"/>
            <a:ext cx="4160520" cy="411480"/>
          </a:xfrm>
          <a:prstGeom prst="rect">
            <a:avLst/>
          </a:prstGeom>
          <a:noFill/>
          <a:ln/>
        </p:spPr>
        <p:txBody>
          <a:bodyPr wrap="square" lIns="0" tIns="0" rIns="0" bIns="0" rtlCol="0" anchor="ctr"/>
          <a:lstStyle/>
          <a:p>
            <a:pPr indent="0" marL="0">
              <a:buNone/>
            </a:pPr>
            <a:r>
              <a:rPr lang="en-US" sz="950" b="1" dirty="0">
                <a:solidFill>
                  <a:srgbClr val="E67E22"/>
                </a:solidFill>
                <a:latin typeface="Calibri" pitchFamily="34" charset="0"/>
                <a:ea typeface="Calibri" pitchFamily="34" charset="-122"/>
                <a:cs typeface="Calibri" pitchFamily="34" charset="-120"/>
              </a:rPr>
              <a:t>Type II Error (beta): </a:t>
            </a:r>
            <a:pPr indent="0" marL="0">
              <a:buNone/>
            </a:pPr>
            <a:r>
              <a:rPr lang="en-US" sz="950" dirty="0">
                <a:solidFill>
                  <a:srgbClr val="2C3E50"/>
                </a:solidFill>
                <a:latin typeface="Calibri" pitchFamily="34" charset="0"/>
                <a:ea typeface="Calibri" pitchFamily="34" charset="-122"/>
                <a:cs typeface="Calibri" pitchFamily="34" charset="-120"/>
              </a:rPr>
              <a:t>We fail to reject H0 when it is actually false (miss a real effect). Reduced by increasing sample size.</a:t>
            </a:r>
            <a:endParaRPr lang="en-US" sz="950" dirty="0"/>
          </a:p>
        </p:txBody>
      </p:sp>
      <p:sp>
        <p:nvSpPr>
          <p:cNvPr id="25" name="Text 23"/>
          <p:cNvSpPr/>
          <p:nvPr/>
        </p:nvSpPr>
        <p:spPr>
          <a:xfrm>
            <a:off x="274320" y="3986784"/>
            <a:ext cx="4160520" cy="411480"/>
          </a:xfrm>
          <a:prstGeom prst="rect">
            <a:avLst/>
          </a:prstGeom>
          <a:noFill/>
          <a:ln/>
        </p:spPr>
        <p:txBody>
          <a:bodyPr wrap="square" lIns="0" tIns="0" rIns="0" bIns="0" rtlCol="0" anchor="ctr"/>
          <a:lstStyle/>
          <a:p>
            <a:pPr indent="0" marL="0">
              <a:buNone/>
            </a:pPr>
            <a:r>
              <a:rPr lang="en-US" sz="950" b="1" dirty="0">
                <a:solidFill>
                  <a:srgbClr val="1A7A4A"/>
                </a:solidFill>
                <a:latin typeface="Calibri" pitchFamily="34" charset="0"/>
                <a:ea typeface="Calibri" pitchFamily="34" charset="-122"/>
                <a:cs typeface="Calibri" pitchFamily="34" charset="-120"/>
              </a:rPr>
              <a:t>Statistical Power (1 - beta): </a:t>
            </a:r>
            <a:pPr indent="0" marL="0">
              <a:buNone/>
            </a:pPr>
            <a:r>
              <a:rPr lang="en-US" sz="950" dirty="0">
                <a:solidFill>
                  <a:srgbClr val="2C3E50"/>
                </a:solidFill>
                <a:latin typeface="Calibri" pitchFamily="34" charset="0"/>
                <a:ea typeface="Calibri" pitchFamily="34" charset="-122"/>
                <a:cs typeface="Calibri" pitchFamily="34" charset="-120"/>
              </a:rPr>
              <a:t>Probability of correctly detecting a real effect. Increases with larger N and larger true effect size.</a:t>
            </a:r>
            <a:endParaRPr lang="en-US" sz="950" dirty="0"/>
          </a:p>
        </p:txBody>
      </p:sp>
      <p:sp>
        <p:nvSpPr>
          <p:cNvPr id="26" name="Shape 24"/>
          <p:cNvSpPr/>
          <p:nvPr/>
        </p:nvSpPr>
        <p:spPr>
          <a:xfrm>
            <a:off x="4663440" y="1051560"/>
            <a:ext cx="4206240" cy="3822192"/>
          </a:xfrm>
          <a:prstGeom prst="roundRect">
            <a:avLst>
              <a:gd name="adj" fmla="val 2153"/>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27" name="Text 25"/>
          <p:cNvSpPr/>
          <p:nvPr/>
        </p:nvSpPr>
        <p:spPr>
          <a:xfrm>
            <a:off x="4773168" y="1115568"/>
            <a:ext cx="3977640" cy="274320"/>
          </a:xfrm>
          <a:prstGeom prst="rect">
            <a:avLst/>
          </a:prstGeom>
          <a:noFill/>
          <a:ln/>
        </p:spPr>
        <p:txBody>
          <a:bodyPr wrap="square" lIns="0" tIns="0" rIns="0" bIns="0" rtlCol="0" anchor="ctr"/>
          <a:lstStyle/>
          <a:p>
            <a:pPr algn="ctr" indent="0" marL="0">
              <a:buNone/>
            </a:pPr>
            <a:r>
              <a:rPr lang="en-US" sz="1200" b="1" dirty="0">
                <a:solidFill>
                  <a:srgbClr val="0F1E3C"/>
                </a:solidFill>
                <a:latin typeface="Calibri" pitchFamily="34" charset="0"/>
                <a:ea typeface="Calibri" pitchFamily="34" charset="-122"/>
                <a:cs typeface="Calibri" pitchFamily="34" charset="-120"/>
              </a:rPr>
              <a:t>The Normal Distribution</a:t>
            </a:r>
            <a:endParaRPr lang="en-US" sz="1200" dirty="0"/>
          </a:p>
        </p:txBody>
      </p:sp>
      <p:sp>
        <p:nvSpPr>
          <p:cNvPr id="28" name="Shape 26"/>
          <p:cNvSpPr/>
          <p:nvPr/>
        </p:nvSpPr>
        <p:spPr>
          <a:xfrm>
            <a:off x="4956048" y="3081528"/>
            <a:ext cx="274320" cy="73152"/>
          </a:xfrm>
          <a:prstGeom prst="roundRect">
            <a:avLst/>
          </a:prstGeom>
          <a:solidFill>
            <a:srgbClr val="2E86C1">
              <a:alpha val="45000"/>
            </a:srgbClr>
          </a:solidFill>
          <a:ln w="6350">
            <a:solidFill>
              <a:srgbClr val="2E86C1"/>
            </a:solidFill>
            <a:prstDash val="solid"/>
          </a:ln>
        </p:spPr>
      </p:sp>
      <p:sp>
        <p:nvSpPr>
          <p:cNvPr id="29" name="Shape 27"/>
          <p:cNvSpPr/>
          <p:nvPr/>
        </p:nvSpPr>
        <p:spPr>
          <a:xfrm>
            <a:off x="5230368" y="2971800"/>
            <a:ext cx="274320" cy="182880"/>
          </a:xfrm>
          <a:prstGeom prst="roundRect">
            <a:avLst/>
          </a:prstGeom>
          <a:solidFill>
            <a:srgbClr val="2E86C1">
              <a:alpha val="45000"/>
            </a:srgbClr>
          </a:solidFill>
          <a:ln w="6350">
            <a:solidFill>
              <a:srgbClr val="2E86C1"/>
            </a:solidFill>
            <a:prstDash val="solid"/>
          </a:ln>
        </p:spPr>
      </p:sp>
      <p:sp>
        <p:nvSpPr>
          <p:cNvPr id="30" name="Shape 28"/>
          <p:cNvSpPr/>
          <p:nvPr/>
        </p:nvSpPr>
        <p:spPr>
          <a:xfrm>
            <a:off x="5504688" y="2770632"/>
            <a:ext cx="274320" cy="384048"/>
          </a:xfrm>
          <a:prstGeom prst="roundRect">
            <a:avLst/>
          </a:prstGeom>
          <a:solidFill>
            <a:srgbClr val="2E86C1">
              <a:alpha val="45000"/>
            </a:srgbClr>
          </a:solidFill>
          <a:ln w="6350">
            <a:solidFill>
              <a:srgbClr val="2E86C1"/>
            </a:solidFill>
            <a:prstDash val="solid"/>
          </a:ln>
        </p:spPr>
      </p:sp>
      <p:sp>
        <p:nvSpPr>
          <p:cNvPr id="31" name="Shape 29"/>
          <p:cNvSpPr/>
          <p:nvPr/>
        </p:nvSpPr>
        <p:spPr>
          <a:xfrm>
            <a:off x="5779008" y="2468880"/>
            <a:ext cx="274320" cy="685800"/>
          </a:xfrm>
          <a:prstGeom prst="roundRect">
            <a:avLst/>
          </a:prstGeom>
          <a:solidFill>
            <a:srgbClr val="2E86C1">
              <a:alpha val="45000"/>
            </a:srgbClr>
          </a:solidFill>
          <a:ln w="6350">
            <a:solidFill>
              <a:srgbClr val="2E86C1"/>
            </a:solidFill>
            <a:prstDash val="solid"/>
          </a:ln>
        </p:spPr>
      </p:sp>
      <p:sp>
        <p:nvSpPr>
          <p:cNvPr id="32" name="Shape 30"/>
          <p:cNvSpPr/>
          <p:nvPr/>
        </p:nvSpPr>
        <p:spPr>
          <a:xfrm>
            <a:off x="6053328" y="2148840"/>
            <a:ext cx="274320" cy="1005840"/>
          </a:xfrm>
          <a:prstGeom prst="roundRect">
            <a:avLst/>
          </a:prstGeom>
          <a:solidFill>
            <a:srgbClr val="2E86C1">
              <a:alpha val="45000"/>
            </a:srgbClr>
          </a:solidFill>
          <a:ln w="6350">
            <a:solidFill>
              <a:srgbClr val="2E86C1"/>
            </a:solidFill>
            <a:prstDash val="solid"/>
          </a:ln>
        </p:spPr>
      </p:sp>
      <p:sp>
        <p:nvSpPr>
          <p:cNvPr id="33" name="Shape 31"/>
          <p:cNvSpPr/>
          <p:nvPr/>
        </p:nvSpPr>
        <p:spPr>
          <a:xfrm>
            <a:off x="6327648" y="1947672"/>
            <a:ext cx="274320" cy="1207008"/>
          </a:xfrm>
          <a:prstGeom prst="roundRect">
            <a:avLst/>
          </a:prstGeom>
          <a:solidFill>
            <a:srgbClr val="2E86C1">
              <a:alpha val="45000"/>
            </a:srgbClr>
          </a:solidFill>
          <a:ln w="6350">
            <a:solidFill>
              <a:srgbClr val="2E86C1"/>
            </a:solidFill>
            <a:prstDash val="solid"/>
          </a:ln>
        </p:spPr>
      </p:sp>
      <p:sp>
        <p:nvSpPr>
          <p:cNvPr id="34" name="Shape 32"/>
          <p:cNvSpPr/>
          <p:nvPr/>
        </p:nvSpPr>
        <p:spPr>
          <a:xfrm>
            <a:off x="6601968" y="2148840"/>
            <a:ext cx="274320" cy="1005840"/>
          </a:xfrm>
          <a:prstGeom prst="roundRect">
            <a:avLst/>
          </a:prstGeom>
          <a:solidFill>
            <a:srgbClr val="2E86C1">
              <a:alpha val="45000"/>
            </a:srgbClr>
          </a:solidFill>
          <a:ln w="6350">
            <a:solidFill>
              <a:srgbClr val="2E86C1"/>
            </a:solidFill>
            <a:prstDash val="solid"/>
          </a:ln>
        </p:spPr>
      </p:sp>
      <p:sp>
        <p:nvSpPr>
          <p:cNvPr id="35" name="Shape 33"/>
          <p:cNvSpPr/>
          <p:nvPr/>
        </p:nvSpPr>
        <p:spPr>
          <a:xfrm>
            <a:off x="6876288" y="2468880"/>
            <a:ext cx="274320" cy="685800"/>
          </a:xfrm>
          <a:prstGeom prst="roundRect">
            <a:avLst/>
          </a:prstGeom>
          <a:solidFill>
            <a:srgbClr val="2E86C1">
              <a:alpha val="45000"/>
            </a:srgbClr>
          </a:solidFill>
          <a:ln w="6350">
            <a:solidFill>
              <a:srgbClr val="2E86C1"/>
            </a:solidFill>
            <a:prstDash val="solid"/>
          </a:ln>
        </p:spPr>
      </p:sp>
      <p:sp>
        <p:nvSpPr>
          <p:cNvPr id="36" name="Shape 34"/>
          <p:cNvSpPr/>
          <p:nvPr/>
        </p:nvSpPr>
        <p:spPr>
          <a:xfrm>
            <a:off x="7150608" y="2770632"/>
            <a:ext cx="274320" cy="384048"/>
          </a:xfrm>
          <a:prstGeom prst="roundRect">
            <a:avLst/>
          </a:prstGeom>
          <a:solidFill>
            <a:srgbClr val="2E86C1">
              <a:alpha val="45000"/>
            </a:srgbClr>
          </a:solidFill>
          <a:ln w="6350">
            <a:solidFill>
              <a:srgbClr val="2E86C1"/>
            </a:solidFill>
            <a:prstDash val="solid"/>
          </a:ln>
        </p:spPr>
      </p:sp>
      <p:sp>
        <p:nvSpPr>
          <p:cNvPr id="37" name="Shape 35"/>
          <p:cNvSpPr/>
          <p:nvPr/>
        </p:nvSpPr>
        <p:spPr>
          <a:xfrm>
            <a:off x="7424928" y="2971800"/>
            <a:ext cx="274320" cy="182880"/>
          </a:xfrm>
          <a:prstGeom prst="roundRect">
            <a:avLst/>
          </a:prstGeom>
          <a:solidFill>
            <a:srgbClr val="2E86C1">
              <a:alpha val="45000"/>
            </a:srgbClr>
          </a:solidFill>
          <a:ln w="6350">
            <a:solidFill>
              <a:srgbClr val="2E86C1"/>
            </a:solidFill>
            <a:prstDash val="solid"/>
          </a:ln>
        </p:spPr>
      </p:sp>
      <p:sp>
        <p:nvSpPr>
          <p:cNvPr id="38" name="Shape 36"/>
          <p:cNvSpPr/>
          <p:nvPr/>
        </p:nvSpPr>
        <p:spPr>
          <a:xfrm>
            <a:off x="7699248" y="3081528"/>
            <a:ext cx="274320" cy="73152"/>
          </a:xfrm>
          <a:prstGeom prst="roundRect">
            <a:avLst/>
          </a:prstGeom>
          <a:solidFill>
            <a:srgbClr val="2E86C1">
              <a:alpha val="45000"/>
            </a:srgbClr>
          </a:solidFill>
          <a:ln w="6350">
            <a:solidFill>
              <a:srgbClr val="2E86C1"/>
            </a:solidFill>
            <a:prstDash val="solid"/>
          </a:ln>
        </p:spPr>
      </p:sp>
      <p:sp>
        <p:nvSpPr>
          <p:cNvPr id="39" name="Shape 37"/>
          <p:cNvSpPr/>
          <p:nvPr/>
        </p:nvSpPr>
        <p:spPr>
          <a:xfrm>
            <a:off x="4937760" y="3163824"/>
            <a:ext cx="3108960" cy="0"/>
          </a:xfrm>
          <a:prstGeom prst="line">
            <a:avLst/>
          </a:prstGeom>
          <a:noFill/>
          <a:ln w="12700">
            <a:solidFill>
              <a:srgbClr val="0F1E3C"/>
            </a:solidFill>
            <a:prstDash val="solid"/>
          </a:ln>
        </p:spPr>
      </p:sp>
      <p:sp>
        <p:nvSpPr>
          <p:cNvPr id="40" name="Text 38"/>
          <p:cNvSpPr/>
          <p:nvPr/>
        </p:nvSpPr>
        <p:spPr>
          <a:xfrm>
            <a:off x="6446520" y="3200400"/>
            <a:ext cx="548640" cy="219456"/>
          </a:xfrm>
          <a:prstGeom prst="rect">
            <a:avLst/>
          </a:prstGeom>
          <a:noFill/>
          <a:ln/>
        </p:spPr>
        <p:txBody>
          <a:bodyPr wrap="square" lIns="0" tIns="0" rIns="0" bIns="0" rtlCol="0" anchor="ctr"/>
          <a:lstStyle/>
          <a:p>
            <a:pPr algn="ctr" indent="0" marL="0">
              <a:buNone/>
            </a:pPr>
            <a:r>
              <a:rPr lang="en-US" sz="850" b="1" dirty="0">
                <a:solidFill>
                  <a:srgbClr val="0F1E3C"/>
                </a:solidFill>
                <a:latin typeface="Calibri" pitchFamily="34" charset="0"/>
                <a:ea typeface="Calibri" pitchFamily="34" charset="-122"/>
                <a:cs typeface="Calibri" pitchFamily="34" charset="-120"/>
              </a:rPr>
              <a:t>Mean</a:t>
            </a:r>
            <a:endParaRPr lang="en-US" sz="850" dirty="0"/>
          </a:p>
        </p:txBody>
      </p:sp>
      <p:sp>
        <p:nvSpPr>
          <p:cNvPr id="41" name="Shape 39"/>
          <p:cNvSpPr/>
          <p:nvPr/>
        </p:nvSpPr>
        <p:spPr>
          <a:xfrm>
            <a:off x="4754880" y="3493008"/>
            <a:ext cx="4005072" cy="347472"/>
          </a:xfrm>
          <a:prstGeom prst="roundRect">
            <a:avLst>
              <a:gd name="adj" fmla="val 13158"/>
            </a:avLst>
          </a:prstGeom>
          <a:solidFill>
            <a:srgbClr val="F7F9FC"/>
          </a:solidFill>
          <a:ln w="10160">
            <a:solidFill>
              <a:srgbClr val="1B5CA0"/>
            </a:solidFill>
            <a:prstDash val="solid"/>
          </a:ln>
        </p:spPr>
      </p:sp>
      <p:sp>
        <p:nvSpPr>
          <p:cNvPr id="42" name="Text 40"/>
          <p:cNvSpPr/>
          <p:nvPr/>
        </p:nvSpPr>
        <p:spPr>
          <a:xfrm>
            <a:off x="4846320" y="3511296"/>
            <a:ext cx="3822192" cy="274320"/>
          </a:xfrm>
          <a:prstGeom prst="rect">
            <a:avLst/>
          </a:prstGeom>
          <a:noFill/>
          <a:ln/>
        </p:spPr>
        <p:txBody>
          <a:bodyPr wrap="square" lIns="0" tIns="0" rIns="0" bIns="0" rtlCol="0" anchor="ctr"/>
          <a:lstStyle/>
          <a:p>
            <a:pPr indent="0" marL="0">
              <a:buNone/>
            </a:pPr>
            <a:r>
              <a:rPr lang="en-US" sz="1000" dirty="0">
                <a:solidFill>
                  <a:srgbClr val="0F1E3C"/>
                </a:solidFill>
                <a:latin typeface="Calibri" pitchFamily="34" charset="0"/>
                <a:ea typeface="Calibri" pitchFamily="34" charset="-122"/>
                <a:cs typeface="Calibri" pitchFamily="34" charset="-120"/>
              </a:rPr>
              <a:t>68% of values fall within Mean ± 1 SD</a:t>
            </a:r>
            <a:endParaRPr lang="en-US" sz="1000" dirty="0"/>
          </a:p>
        </p:txBody>
      </p:sp>
      <p:sp>
        <p:nvSpPr>
          <p:cNvPr id="43" name="Shape 41"/>
          <p:cNvSpPr/>
          <p:nvPr/>
        </p:nvSpPr>
        <p:spPr>
          <a:xfrm>
            <a:off x="4754880" y="3913632"/>
            <a:ext cx="4005072" cy="347472"/>
          </a:xfrm>
          <a:prstGeom prst="roundRect">
            <a:avLst>
              <a:gd name="adj" fmla="val 13158"/>
            </a:avLst>
          </a:prstGeom>
          <a:solidFill>
            <a:srgbClr val="F7F9FC"/>
          </a:solidFill>
          <a:ln w="10160">
            <a:solidFill>
              <a:srgbClr val="1A7A4A"/>
            </a:solidFill>
            <a:prstDash val="solid"/>
          </a:ln>
        </p:spPr>
      </p:sp>
      <p:sp>
        <p:nvSpPr>
          <p:cNvPr id="44" name="Text 42"/>
          <p:cNvSpPr/>
          <p:nvPr/>
        </p:nvSpPr>
        <p:spPr>
          <a:xfrm>
            <a:off x="4846320" y="3931920"/>
            <a:ext cx="3822192" cy="274320"/>
          </a:xfrm>
          <a:prstGeom prst="rect">
            <a:avLst/>
          </a:prstGeom>
          <a:noFill/>
          <a:ln/>
        </p:spPr>
        <p:txBody>
          <a:bodyPr wrap="square" lIns="0" tIns="0" rIns="0" bIns="0" rtlCol="0" anchor="ctr"/>
          <a:lstStyle/>
          <a:p>
            <a:pPr indent="0" marL="0">
              <a:buNone/>
            </a:pPr>
            <a:r>
              <a:rPr lang="en-US" sz="1000" dirty="0">
                <a:solidFill>
                  <a:srgbClr val="0F1E3C"/>
                </a:solidFill>
                <a:latin typeface="Calibri" pitchFamily="34" charset="0"/>
                <a:ea typeface="Calibri" pitchFamily="34" charset="-122"/>
                <a:cs typeface="Calibri" pitchFamily="34" charset="-120"/>
              </a:rPr>
              <a:t>95% of values fall within Mean ± 2 SD</a:t>
            </a:r>
            <a:endParaRPr lang="en-US" sz="1000" dirty="0"/>
          </a:p>
        </p:txBody>
      </p:sp>
      <p:sp>
        <p:nvSpPr>
          <p:cNvPr id="45" name="Shape 43"/>
          <p:cNvSpPr/>
          <p:nvPr/>
        </p:nvSpPr>
        <p:spPr>
          <a:xfrm>
            <a:off x="4754880" y="4334256"/>
            <a:ext cx="4005072" cy="347472"/>
          </a:xfrm>
          <a:prstGeom prst="roundRect">
            <a:avLst>
              <a:gd name="adj" fmla="val 13158"/>
            </a:avLst>
          </a:prstGeom>
          <a:solidFill>
            <a:srgbClr val="F7F9FC"/>
          </a:solidFill>
          <a:ln w="10160">
            <a:solidFill>
              <a:srgbClr val="D4A017"/>
            </a:solidFill>
            <a:prstDash val="solid"/>
          </a:ln>
        </p:spPr>
      </p:sp>
      <p:sp>
        <p:nvSpPr>
          <p:cNvPr id="46" name="Text 44"/>
          <p:cNvSpPr/>
          <p:nvPr/>
        </p:nvSpPr>
        <p:spPr>
          <a:xfrm>
            <a:off x="4846320" y="4352544"/>
            <a:ext cx="3822192" cy="274320"/>
          </a:xfrm>
          <a:prstGeom prst="rect">
            <a:avLst/>
          </a:prstGeom>
          <a:noFill/>
          <a:ln/>
        </p:spPr>
        <p:txBody>
          <a:bodyPr wrap="square" lIns="0" tIns="0" rIns="0" bIns="0" rtlCol="0" anchor="ctr"/>
          <a:lstStyle/>
          <a:p>
            <a:pPr indent="0" marL="0">
              <a:buNone/>
            </a:pPr>
            <a:r>
              <a:rPr lang="en-US" sz="1000" dirty="0">
                <a:solidFill>
                  <a:srgbClr val="0F1E3C"/>
                </a:solidFill>
                <a:latin typeface="Calibri" pitchFamily="34" charset="0"/>
                <a:ea typeface="Calibri" pitchFamily="34" charset="-122"/>
                <a:cs typeface="Calibri" pitchFamily="34" charset="-120"/>
              </a:rPr>
              <a:t>99.7% of values fall within Mean ± 3 SD</a:t>
            </a:r>
            <a:endParaRPr lang="en-US" sz="1000" dirty="0"/>
          </a:p>
        </p:txBody>
      </p:sp>
      <p:sp>
        <p:nvSpPr>
          <p:cNvPr id="47" name="Text 45"/>
          <p:cNvSpPr/>
          <p:nvPr/>
        </p:nvSpPr>
        <p:spPr>
          <a:xfrm>
            <a:off x="4773168" y="4773168"/>
            <a:ext cx="4005072" cy="274320"/>
          </a:xfrm>
          <a:prstGeom prst="rect">
            <a:avLst/>
          </a:prstGeom>
          <a:noFill/>
          <a:ln/>
        </p:spPr>
        <p:txBody>
          <a:bodyPr wrap="square" lIns="0" tIns="0" rIns="0" bIns="0" rtlCol="0" anchor="ctr"/>
          <a:lstStyle/>
          <a:p>
            <a:pPr indent="0" marL="0">
              <a:buNone/>
            </a:pPr>
            <a:r>
              <a:rPr lang="en-US" sz="900" i="1" dirty="0">
                <a:solidFill>
                  <a:srgbClr val="1B5CA0"/>
                </a:solidFill>
                <a:latin typeface="Calibri" pitchFamily="34" charset="0"/>
                <a:ea typeface="Calibri" pitchFamily="34" charset="-122"/>
                <a:cs typeface="Calibri" pitchFamily="34" charset="-120"/>
              </a:rPr>
              <a:t>Many SPSS tests assume approximate normality.</a:t>
            </a:r>
            <a:endParaRPr lang="en-US" sz="900" dirty="0"/>
          </a:p>
          <a:p>
            <a:pPr indent="0" marL="0">
              <a:buNone/>
            </a:pPr>
            <a:r>
              <a:rPr lang="en-US" sz="900" i="1" dirty="0">
                <a:solidFill>
                  <a:srgbClr val="1B5CA0"/>
                </a:solidFill>
                <a:latin typeface="Calibri" pitchFamily="34" charset="0"/>
                <a:ea typeface="Calibri" pitchFamily="34" charset="-122"/>
                <a:cs typeface="Calibri" pitchFamily="34" charset="-120"/>
              </a:rPr>
              <a:t>Check with Explore &gt; Normality tests (Shapiro-Wilk).</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B5CA0">
              <a:alpha val="18000"/>
            </a:srgbClr>
          </a:solidFill>
          <a:ln w="12700">
            <a:solidFill>
              <a:srgbClr val="1B5CA0"/>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1  |  SECTION 09</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Overview of IBM SPSS Statistics</a:t>
            </a:r>
            <a:endParaRPr lang="en-US" sz="42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A8C8E8"/>
                </a:solidFill>
                <a:latin typeface="Calibri" pitchFamily="34" charset="0"/>
                <a:ea typeface="Calibri" pitchFamily="34" charset="-122"/>
                <a:cs typeface="Calibri" pitchFamily="34" charset="-120"/>
              </a:rPr>
              <a:t>Your analytical environment - navigating the four windows and understanding the interface</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F1E3C"/>
          </a:solidFill>
          <a:ln w="12700">
            <a:solidFill>
              <a:srgbClr val="0F1E3C"/>
            </a:solidFill>
            <a:prstDash val="solid"/>
          </a:ln>
        </p:spPr>
      </p:sp>
      <p:sp>
        <p:nvSpPr>
          <p:cNvPr id="3" name="Text 1"/>
          <p:cNvSpPr/>
          <p:nvPr/>
        </p:nvSpPr>
        <p:spPr>
          <a:xfrm>
            <a:off x="457200" y="109728"/>
            <a:ext cx="8229600" cy="713232"/>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The Four Core Windows of IBM SPSS Statistics</a:t>
            </a:r>
            <a:endParaRPr lang="en-US" sz="2400" dirty="0"/>
          </a:p>
        </p:txBody>
      </p:sp>
      <p:sp>
        <p:nvSpPr>
          <p:cNvPr id="4" name="Shape 2"/>
          <p:cNvSpPr/>
          <p:nvPr/>
        </p:nvSpPr>
        <p:spPr>
          <a:xfrm>
            <a:off x="256032" y="1024128"/>
            <a:ext cx="4160520" cy="1938528"/>
          </a:xfrm>
          <a:prstGeom prst="roundRect">
            <a:avLst>
              <a:gd name="adj" fmla="val 4245"/>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65760" y="1188720"/>
            <a:ext cx="530352" cy="530352"/>
          </a:xfrm>
          <a:prstGeom prst="ellipse">
            <a:avLst/>
          </a:prstGeom>
          <a:solidFill>
            <a:srgbClr val="1B5CA0"/>
          </a:solidFill>
          <a:ln w="12700">
            <a:solidFill>
              <a:srgbClr val="1B5CA0"/>
            </a:solidFill>
            <a:prstDash val="solid"/>
          </a:ln>
        </p:spPr>
      </p:sp>
      <p:sp>
        <p:nvSpPr>
          <p:cNvPr id="6" name="Text 4"/>
          <p:cNvSpPr/>
          <p:nvPr/>
        </p:nvSpPr>
        <p:spPr>
          <a:xfrm>
            <a:off x="365760" y="1188720"/>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D</a:t>
            </a:r>
            <a:endParaRPr lang="en-US" sz="2000" dirty="0"/>
          </a:p>
        </p:txBody>
      </p:sp>
      <p:sp>
        <p:nvSpPr>
          <p:cNvPr id="7" name="Text 5"/>
          <p:cNvSpPr/>
          <p:nvPr/>
        </p:nvSpPr>
        <p:spPr>
          <a:xfrm>
            <a:off x="1005840" y="1188720"/>
            <a:ext cx="3310128" cy="347472"/>
          </a:xfrm>
          <a:prstGeom prst="rect">
            <a:avLst/>
          </a:prstGeom>
          <a:noFill/>
          <a:ln/>
        </p:spPr>
        <p:txBody>
          <a:bodyPr wrap="square" lIns="0" tIns="0" rIns="0" bIns="0" rtlCol="0" anchor="ctr"/>
          <a:lstStyle/>
          <a:p>
            <a:pPr indent="0" marL="0">
              <a:buNone/>
            </a:pPr>
            <a:r>
              <a:rPr lang="en-US" sz="1300" b="1" dirty="0">
                <a:solidFill>
                  <a:srgbClr val="1B5CA0"/>
                </a:solidFill>
                <a:latin typeface="Cambria" pitchFamily="34" charset="0"/>
                <a:ea typeface="Cambria" pitchFamily="34" charset="-122"/>
                <a:cs typeface="Cambria" pitchFamily="34" charset="-120"/>
              </a:rPr>
              <a:t>Window 1: DATA VIEW</a:t>
            </a:r>
            <a:endParaRPr lang="en-US" sz="1300" dirty="0"/>
          </a:p>
        </p:txBody>
      </p:sp>
      <p:sp>
        <p:nvSpPr>
          <p:cNvPr id="8" name="Text 6"/>
          <p:cNvSpPr/>
          <p:nvPr/>
        </p:nvSpPr>
        <p:spPr>
          <a:xfrm>
            <a:off x="384048" y="1792224"/>
            <a:ext cx="3913632" cy="804672"/>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Spreadsheet displaying your dataset. Rows = cases (respondents, patients, transactions). Columns = variables. This is where actual data values live.</a:t>
            </a:r>
            <a:endParaRPr lang="en-US" sz="950" dirty="0"/>
          </a:p>
        </p:txBody>
      </p:sp>
      <p:sp>
        <p:nvSpPr>
          <p:cNvPr id="9" name="Shape 7"/>
          <p:cNvSpPr/>
          <p:nvPr/>
        </p:nvSpPr>
        <p:spPr>
          <a:xfrm>
            <a:off x="384048" y="2615184"/>
            <a:ext cx="3913632" cy="18288"/>
          </a:xfrm>
          <a:prstGeom prst="rect">
            <a:avLst/>
          </a:prstGeom>
          <a:solidFill>
            <a:srgbClr val="1B5CA0"/>
          </a:solidFill>
          <a:ln w="12700">
            <a:solidFill>
              <a:srgbClr val="1B5CA0"/>
            </a:solidFill>
            <a:prstDash val="solid"/>
          </a:ln>
        </p:spPr>
      </p:sp>
      <p:sp>
        <p:nvSpPr>
          <p:cNvPr id="10" name="Text 8"/>
          <p:cNvSpPr/>
          <p:nvPr/>
        </p:nvSpPr>
        <p:spPr>
          <a:xfrm>
            <a:off x="384048" y="2670048"/>
            <a:ext cx="3913632" cy="256032"/>
          </a:xfrm>
          <a:prstGeom prst="rect">
            <a:avLst/>
          </a:prstGeom>
          <a:noFill/>
          <a:ln/>
        </p:spPr>
        <p:txBody>
          <a:bodyPr wrap="square" lIns="0" tIns="0" rIns="0" bIns="0" rtlCol="0" anchor="ctr"/>
          <a:lstStyle/>
          <a:p>
            <a:pPr indent="0" marL="0">
              <a:buNone/>
            </a:pPr>
            <a:r>
              <a:rPr lang="en-US" sz="850" i="1" dirty="0">
                <a:solidFill>
                  <a:srgbClr val="1B5CA0"/>
                </a:solidFill>
                <a:latin typeface="Calibri" pitchFamily="34" charset="0"/>
                <a:ea typeface="Calibri" pitchFamily="34" charset="-122"/>
                <a:cs typeface="Calibri" pitchFamily="34" charset="-120"/>
              </a:rPr>
              <a:t>TIP: Toggle value labels with View &gt; Value Labels. Never enter formulas - raw values only.</a:t>
            </a:r>
            <a:endParaRPr lang="en-US" sz="850" dirty="0"/>
          </a:p>
        </p:txBody>
      </p:sp>
      <p:sp>
        <p:nvSpPr>
          <p:cNvPr id="11" name="Shape 9"/>
          <p:cNvSpPr/>
          <p:nvPr/>
        </p:nvSpPr>
        <p:spPr>
          <a:xfrm>
            <a:off x="4718304" y="1024128"/>
            <a:ext cx="4160520" cy="1938528"/>
          </a:xfrm>
          <a:prstGeom prst="roundRect">
            <a:avLst>
              <a:gd name="adj" fmla="val 4245"/>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2" name="Shape 10"/>
          <p:cNvSpPr/>
          <p:nvPr/>
        </p:nvSpPr>
        <p:spPr>
          <a:xfrm>
            <a:off x="4828032" y="1188720"/>
            <a:ext cx="530352" cy="530352"/>
          </a:xfrm>
          <a:prstGeom prst="ellipse">
            <a:avLst/>
          </a:prstGeom>
          <a:solidFill>
            <a:srgbClr val="1A7A4A"/>
          </a:solidFill>
          <a:ln w="12700">
            <a:solidFill>
              <a:srgbClr val="1A7A4A"/>
            </a:solidFill>
            <a:prstDash val="solid"/>
          </a:ln>
        </p:spPr>
      </p:sp>
      <p:sp>
        <p:nvSpPr>
          <p:cNvPr id="13" name="Text 11"/>
          <p:cNvSpPr/>
          <p:nvPr/>
        </p:nvSpPr>
        <p:spPr>
          <a:xfrm>
            <a:off x="4828032" y="1188720"/>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V</a:t>
            </a:r>
            <a:endParaRPr lang="en-US" sz="2000" dirty="0"/>
          </a:p>
        </p:txBody>
      </p:sp>
      <p:sp>
        <p:nvSpPr>
          <p:cNvPr id="14" name="Text 12"/>
          <p:cNvSpPr/>
          <p:nvPr/>
        </p:nvSpPr>
        <p:spPr>
          <a:xfrm>
            <a:off x="5468112" y="1188720"/>
            <a:ext cx="3310128" cy="347472"/>
          </a:xfrm>
          <a:prstGeom prst="rect">
            <a:avLst/>
          </a:prstGeom>
          <a:noFill/>
          <a:ln/>
        </p:spPr>
        <p:txBody>
          <a:bodyPr wrap="square" lIns="0" tIns="0" rIns="0" bIns="0" rtlCol="0" anchor="ctr"/>
          <a:lstStyle/>
          <a:p>
            <a:pPr indent="0" marL="0">
              <a:buNone/>
            </a:pPr>
            <a:r>
              <a:rPr lang="en-US" sz="1300" b="1" dirty="0">
                <a:solidFill>
                  <a:srgbClr val="1A7A4A"/>
                </a:solidFill>
                <a:latin typeface="Cambria" pitchFamily="34" charset="0"/>
                <a:ea typeface="Cambria" pitchFamily="34" charset="-122"/>
                <a:cs typeface="Cambria" pitchFamily="34" charset="-120"/>
              </a:rPr>
              <a:t>Window 2: VARIABLE VIEW</a:t>
            </a:r>
            <a:endParaRPr lang="en-US" sz="1300" dirty="0"/>
          </a:p>
        </p:txBody>
      </p:sp>
      <p:sp>
        <p:nvSpPr>
          <p:cNvPr id="15" name="Text 13"/>
          <p:cNvSpPr/>
          <p:nvPr/>
        </p:nvSpPr>
        <p:spPr>
          <a:xfrm>
            <a:off x="4846320" y="1792224"/>
            <a:ext cx="3913632" cy="804672"/>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Where you DEFINE each variable: name, type, label, value codes, missing codes, and measurement level. Must be set up BEFORE entering data.</a:t>
            </a:r>
            <a:endParaRPr lang="en-US" sz="950" dirty="0"/>
          </a:p>
        </p:txBody>
      </p:sp>
      <p:sp>
        <p:nvSpPr>
          <p:cNvPr id="16" name="Shape 14"/>
          <p:cNvSpPr/>
          <p:nvPr/>
        </p:nvSpPr>
        <p:spPr>
          <a:xfrm>
            <a:off x="4846320" y="2615184"/>
            <a:ext cx="3913632" cy="18288"/>
          </a:xfrm>
          <a:prstGeom prst="rect">
            <a:avLst/>
          </a:prstGeom>
          <a:solidFill>
            <a:srgbClr val="1A7A4A"/>
          </a:solidFill>
          <a:ln w="12700">
            <a:solidFill>
              <a:srgbClr val="1A7A4A"/>
            </a:solidFill>
            <a:prstDash val="solid"/>
          </a:ln>
        </p:spPr>
      </p:sp>
      <p:sp>
        <p:nvSpPr>
          <p:cNvPr id="17" name="Text 15"/>
          <p:cNvSpPr/>
          <p:nvPr/>
        </p:nvSpPr>
        <p:spPr>
          <a:xfrm>
            <a:off x="4846320" y="2670048"/>
            <a:ext cx="3913632" cy="256032"/>
          </a:xfrm>
          <a:prstGeom prst="rect">
            <a:avLst/>
          </a:prstGeom>
          <a:noFill/>
          <a:ln/>
        </p:spPr>
        <p:txBody>
          <a:bodyPr wrap="square" lIns="0" tIns="0" rIns="0" bIns="0" rtlCol="0" anchor="ctr"/>
          <a:lstStyle/>
          <a:p>
            <a:pPr indent="0" marL="0">
              <a:buNone/>
            </a:pPr>
            <a:r>
              <a:rPr lang="en-US" sz="850" i="1" dirty="0">
                <a:solidFill>
                  <a:srgbClr val="1A7A4A"/>
                </a:solidFill>
                <a:latin typeface="Calibri" pitchFamily="34" charset="0"/>
                <a:ea typeface="Calibri" pitchFamily="34" charset="-122"/>
                <a:cs typeface="Calibri" pitchFamily="34" charset="-120"/>
              </a:rPr>
              <a:t>TIP: CRITICAL: Always complete Variable View first. Wrong Measure setting = wrong analysis options.</a:t>
            </a:r>
            <a:endParaRPr lang="en-US" sz="850" dirty="0"/>
          </a:p>
        </p:txBody>
      </p:sp>
      <p:sp>
        <p:nvSpPr>
          <p:cNvPr id="18" name="Shape 16"/>
          <p:cNvSpPr/>
          <p:nvPr/>
        </p:nvSpPr>
        <p:spPr>
          <a:xfrm>
            <a:off x="256032" y="3054096"/>
            <a:ext cx="4160520" cy="1938528"/>
          </a:xfrm>
          <a:prstGeom prst="roundRect">
            <a:avLst>
              <a:gd name="adj" fmla="val 4245"/>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9" name="Shape 17"/>
          <p:cNvSpPr/>
          <p:nvPr/>
        </p:nvSpPr>
        <p:spPr>
          <a:xfrm>
            <a:off x="365760" y="3218688"/>
            <a:ext cx="530352" cy="530352"/>
          </a:xfrm>
          <a:prstGeom prst="ellipse">
            <a:avLst/>
          </a:prstGeom>
          <a:solidFill>
            <a:srgbClr val="E67E22"/>
          </a:solidFill>
          <a:ln w="12700">
            <a:solidFill>
              <a:srgbClr val="E67E22"/>
            </a:solidFill>
            <a:prstDash val="solid"/>
          </a:ln>
        </p:spPr>
      </p:sp>
      <p:sp>
        <p:nvSpPr>
          <p:cNvPr id="20" name="Text 18"/>
          <p:cNvSpPr/>
          <p:nvPr/>
        </p:nvSpPr>
        <p:spPr>
          <a:xfrm>
            <a:off x="365760" y="3218688"/>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O</a:t>
            </a:r>
            <a:endParaRPr lang="en-US" sz="2000" dirty="0"/>
          </a:p>
        </p:txBody>
      </p:sp>
      <p:sp>
        <p:nvSpPr>
          <p:cNvPr id="21" name="Text 19"/>
          <p:cNvSpPr/>
          <p:nvPr/>
        </p:nvSpPr>
        <p:spPr>
          <a:xfrm>
            <a:off x="1005840" y="3218688"/>
            <a:ext cx="3310128" cy="347472"/>
          </a:xfrm>
          <a:prstGeom prst="rect">
            <a:avLst/>
          </a:prstGeom>
          <a:noFill/>
          <a:ln/>
        </p:spPr>
        <p:txBody>
          <a:bodyPr wrap="square" lIns="0" tIns="0" rIns="0" bIns="0" rtlCol="0" anchor="ctr"/>
          <a:lstStyle/>
          <a:p>
            <a:pPr indent="0" marL="0">
              <a:buNone/>
            </a:pPr>
            <a:r>
              <a:rPr lang="en-US" sz="1300" b="1" dirty="0">
                <a:solidFill>
                  <a:srgbClr val="E67E22"/>
                </a:solidFill>
                <a:latin typeface="Cambria" pitchFamily="34" charset="0"/>
                <a:ea typeface="Cambria" pitchFamily="34" charset="-122"/>
                <a:cs typeface="Cambria" pitchFamily="34" charset="-120"/>
              </a:rPr>
              <a:t>Window 3: OUTPUT VIEWER</a:t>
            </a:r>
            <a:endParaRPr lang="en-US" sz="1300" dirty="0"/>
          </a:p>
        </p:txBody>
      </p:sp>
      <p:sp>
        <p:nvSpPr>
          <p:cNvPr id="22" name="Text 20"/>
          <p:cNvSpPr/>
          <p:nvPr/>
        </p:nvSpPr>
        <p:spPr>
          <a:xfrm>
            <a:off x="384048" y="3822192"/>
            <a:ext cx="3913632" cy="804672"/>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All results, tables, and charts appear here automatically. Left panel = navigation tree. Right panel = actual output. Double-click any table to edit.</a:t>
            </a:r>
            <a:endParaRPr lang="en-US" sz="950" dirty="0"/>
          </a:p>
        </p:txBody>
      </p:sp>
      <p:sp>
        <p:nvSpPr>
          <p:cNvPr id="23" name="Shape 21"/>
          <p:cNvSpPr/>
          <p:nvPr/>
        </p:nvSpPr>
        <p:spPr>
          <a:xfrm>
            <a:off x="384048" y="4645152"/>
            <a:ext cx="3913632" cy="18288"/>
          </a:xfrm>
          <a:prstGeom prst="rect">
            <a:avLst/>
          </a:prstGeom>
          <a:solidFill>
            <a:srgbClr val="E67E22"/>
          </a:solidFill>
          <a:ln w="12700">
            <a:solidFill>
              <a:srgbClr val="E67E22"/>
            </a:solidFill>
            <a:prstDash val="solid"/>
          </a:ln>
        </p:spPr>
      </p:sp>
      <p:sp>
        <p:nvSpPr>
          <p:cNvPr id="24" name="Text 22"/>
          <p:cNvSpPr/>
          <p:nvPr/>
        </p:nvSpPr>
        <p:spPr>
          <a:xfrm>
            <a:off x="384048" y="4700016"/>
            <a:ext cx="3913632" cy="256032"/>
          </a:xfrm>
          <a:prstGeom prst="rect">
            <a:avLst/>
          </a:prstGeom>
          <a:noFill/>
          <a:ln/>
        </p:spPr>
        <p:txBody>
          <a:bodyPr wrap="square" lIns="0" tIns="0" rIns="0" bIns="0" rtlCol="0" anchor="ctr"/>
          <a:lstStyle/>
          <a:p>
            <a:pPr indent="0" marL="0">
              <a:buNone/>
            </a:pPr>
            <a:r>
              <a:rPr lang="en-US" sz="850" i="1" dirty="0">
                <a:solidFill>
                  <a:srgbClr val="E67E22"/>
                </a:solidFill>
                <a:latin typeface="Calibri" pitchFamily="34" charset="0"/>
                <a:ea typeface="Calibri" pitchFamily="34" charset="-122"/>
                <a:cs typeface="Calibri" pitchFamily="34" charset="-120"/>
              </a:rPr>
              <a:t>TIP: Export to Word, PDF, or Excel via File &gt; Export. Save as .spv to preserve formatting.</a:t>
            </a:r>
            <a:endParaRPr lang="en-US" sz="850" dirty="0"/>
          </a:p>
        </p:txBody>
      </p:sp>
      <p:sp>
        <p:nvSpPr>
          <p:cNvPr id="25" name="Shape 23"/>
          <p:cNvSpPr/>
          <p:nvPr/>
        </p:nvSpPr>
        <p:spPr>
          <a:xfrm>
            <a:off x="4718304" y="3054096"/>
            <a:ext cx="4160520" cy="1938528"/>
          </a:xfrm>
          <a:prstGeom prst="roundRect">
            <a:avLst>
              <a:gd name="adj" fmla="val 4245"/>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26" name="Shape 24"/>
          <p:cNvSpPr/>
          <p:nvPr/>
        </p:nvSpPr>
        <p:spPr>
          <a:xfrm>
            <a:off x="4828032" y="3218688"/>
            <a:ext cx="530352" cy="530352"/>
          </a:xfrm>
          <a:prstGeom prst="ellipse">
            <a:avLst/>
          </a:prstGeom>
          <a:solidFill>
            <a:srgbClr val="5B2D8E"/>
          </a:solidFill>
          <a:ln w="12700">
            <a:solidFill>
              <a:srgbClr val="5B2D8E"/>
            </a:solidFill>
            <a:prstDash val="solid"/>
          </a:ln>
        </p:spPr>
      </p:sp>
      <p:sp>
        <p:nvSpPr>
          <p:cNvPr id="27" name="Text 25"/>
          <p:cNvSpPr/>
          <p:nvPr/>
        </p:nvSpPr>
        <p:spPr>
          <a:xfrm>
            <a:off x="4828032" y="3218688"/>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S</a:t>
            </a:r>
            <a:endParaRPr lang="en-US" sz="2000" dirty="0"/>
          </a:p>
        </p:txBody>
      </p:sp>
      <p:sp>
        <p:nvSpPr>
          <p:cNvPr id="28" name="Text 26"/>
          <p:cNvSpPr/>
          <p:nvPr/>
        </p:nvSpPr>
        <p:spPr>
          <a:xfrm>
            <a:off x="5468112" y="3218688"/>
            <a:ext cx="3310128" cy="347472"/>
          </a:xfrm>
          <a:prstGeom prst="rect">
            <a:avLst/>
          </a:prstGeom>
          <a:noFill/>
          <a:ln/>
        </p:spPr>
        <p:txBody>
          <a:bodyPr wrap="square" lIns="0" tIns="0" rIns="0" bIns="0" rtlCol="0" anchor="ctr"/>
          <a:lstStyle/>
          <a:p>
            <a:pPr indent="0" marL="0">
              <a:buNone/>
            </a:pPr>
            <a:r>
              <a:rPr lang="en-US" sz="1300" b="1" dirty="0">
                <a:solidFill>
                  <a:srgbClr val="5B2D8E"/>
                </a:solidFill>
                <a:latin typeface="Cambria" pitchFamily="34" charset="0"/>
                <a:ea typeface="Cambria" pitchFamily="34" charset="-122"/>
                <a:cs typeface="Cambria" pitchFamily="34" charset="-120"/>
              </a:rPr>
              <a:t>Window 4: SYNTAX EDITOR</a:t>
            </a:r>
            <a:endParaRPr lang="en-US" sz="1300" dirty="0"/>
          </a:p>
        </p:txBody>
      </p:sp>
      <p:sp>
        <p:nvSpPr>
          <p:cNvPr id="29" name="Text 27"/>
          <p:cNvSpPr/>
          <p:nvPr/>
        </p:nvSpPr>
        <p:spPr>
          <a:xfrm>
            <a:off x="4846320" y="3822192"/>
            <a:ext cx="3913632" cy="804672"/>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Text-based window for writing and running SPSS command language. Every menu action has an equivalent syntax command for automation and reproducibility.</a:t>
            </a:r>
            <a:endParaRPr lang="en-US" sz="950" dirty="0"/>
          </a:p>
        </p:txBody>
      </p:sp>
      <p:sp>
        <p:nvSpPr>
          <p:cNvPr id="30" name="Shape 28"/>
          <p:cNvSpPr/>
          <p:nvPr/>
        </p:nvSpPr>
        <p:spPr>
          <a:xfrm>
            <a:off x="4846320" y="4645152"/>
            <a:ext cx="3913632" cy="18288"/>
          </a:xfrm>
          <a:prstGeom prst="rect">
            <a:avLst/>
          </a:prstGeom>
          <a:solidFill>
            <a:srgbClr val="5B2D8E"/>
          </a:solidFill>
          <a:ln w="12700">
            <a:solidFill>
              <a:srgbClr val="5B2D8E"/>
            </a:solidFill>
            <a:prstDash val="solid"/>
          </a:ln>
        </p:spPr>
      </p:sp>
      <p:sp>
        <p:nvSpPr>
          <p:cNvPr id="31" name="Text 29"/>
          <p:cNvSpPr/>
          <p:nvPr/>
        </p:nvSpPr>
        <p:spPr>
          <a:xfrm>
            <a:off x="4846320" y="4700016"/>
            <a:ext cx="3913632" cy="256032"/>
          </a:xfrm>
          <a:prstGeom prst="rect">
            <a:avLst/>
          </a:prstGeom>
          <a:noFill/>
          <a:ln/>
        </p:spPr>
        <p:txBody>
          <a:bodyPr wrap="square" lIns="0" tIns="0" rIns="0" bIns="0" rtlCol="0" anchor="ctr"/>
          <a:lstStyle/>
          <a:p>
            <a:pPr indent="0" marL="0">
              <a:buNone/>
            </a:pPr>
            <a:r>
              <a:rPr lang="en-US" sz="850" i="1" dirty="0">
                <a:solidFill>
                  <a:srgbClr val="5B2D8E"/>
                </a:solidFill>
                <a:latin typeface="Calibri" pitchFamily="34" charset="0"/>
                <a:ea typeface="Calibri" pitchFamily="34" charset="-122"/>
                <a:cs typeface="Calibri" pitchFamily="34" charset="-120"/>
              </a:rPr>
              <a:t>TIP: Click PASTE instead of OK in any dialog to auto-generate syntax. Press Ctrl+R to run.</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562"/>
          </a:solidFill>
          <a:ln w="12700">
            <a:solidFill>
              <a:srgbClr val="1A3562"/>
            </a:solidFill>
            <a:prstDash val="solid"/>
          </a:ln>
        </p:spPr>
      </p:sp>
      <p:sp>
        <p:nvSpPr>
          <p:cNvPr id="3" name="Text 1"/>
          <p:cNvSpPr/>
          <p:nvPr/>
        </p:nvSpPr>
        <p:spPr>
          <a:xfrm>
            <a:off x="457200" y="109728"/>
            <a:ext cx="8412480" cy="71323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Variable View - Complete Column Guide with UAC Foods Examples</a:t>
            </a:r>
            <a:endParaRPr lang="en-US" sz="2200" dirty="0"/>
          </a:p>
        </p:txBody>
      </p:sp>
      <p:sp>
        <p:nvSpPr>
          <p:cNvPr id="4" name="Shape 2"/>
          <p:cNvSpPr/>
          <p:nvPr/>
        </p:nvSpPr>
        <p:spPr>
          <a:xfrm>
            <a:off x="228600" y="1005840"/>
            <a:ext cx="4160520" cy="914400"/>
          </a:xfrm>
          <a:prstGeom prst="roundRect">
            <a:avLst>
              <a:gd name="adj" fmla="val 7000"/>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0040" y="1097280"/>
            <a:ext cx="749808" cy="274320"/>
          </a:xfrm>
          <a:prstGeom prst="roundRect">
            <a:avLst>
              <a:gd name="adj" fmla="val 16667"/>
            </a:avLst>
          </a:prstGeom>
          <a:solidFill>
            <a:srgbClr val="1A3562"/>
          </a:solidFill>
          <a:ln w="12700">
            <a:solidFill>
              <a:srgbClr val="1A3562"/>
            </a:solidFill>
            <a:prstDash val="solid"/>
          </a:ln>
        </p:spPr>
      </p:sp>
      <p:sp>
        <p:nvSpPr>
          <p:cNvPr id="6" name="Text 4"/>
          <p:cNvSpPr/>
          <p:nvPr/>
        </p:nvSpPr>
        <p:spPr>
          <a:xfrm>
            <a:off x="320040" y="1097280"/>
            <a:ext cx="749808" cy="274320"/>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Name</a:t>
            </a:r>
            <a:endParaRPr lang="en-US" sz="900" dirty="0"/>
          </a:p>
        </p:txBody>
      </p:sp>
      <p:sp>
        <p:nvSpPr>
          <p:cNvPr id="7" name="Text 5"/>
          <p:cNvSpPr/>
          <p:nvPr/>
        </p:nvSpPr>
        <p:spPr>
          <a:xfrm>
            <a:off x="1143000" y="1097280"/>
            <a:ext cx="3127248" cy="274320"/>
          </a:xfrm>
          <a:prstGeom prst="rect">
            <a:avLst/>
          </a:prstGeom>
          <a:noFill/>
          <a:ln/>
        </p:spPr>
        <p:txBody>
          <a:bodyPr wrap="square" lIns="0" tIns="0" rIns="0" bIns="0" rtlCol="0" anchor="ctr"/>
          <a:lstStyle/>
          <a:p>
            <a:pPr indent="0" marL="0">
              <a:buNone/>
            </a:pPr>
            <a:r>
              <a:rPr lang="en-US" sz="950" dirty="0">
                <a:solidFill>
                  <a:srgbClr val="2E86C1"/>
                </a:solidFill>
                <a:latin typeface="Calibri" pitchFamily="34" charset="0"/>
                <a:ea typeface="Calibri" pitchFamily="34" charset="-122"/>
                <a:cs typeface="Calibri" pitchFamily="34" charset="-120"/>
              </a:rPr>
              <a:t>Short ID. No spaces, no special chars, max 64. Start with letter.</a:t>
            </a:r>
            <a:endParaRPr lang="en-US" sz="950" dirty="0"/>
          </a:p>
        </p:txBody>
      </p:sp>
      <p:sp>
        <p:nvSpPr>
          <p:cNvPr id="8" name="Text 6"/>
          <p:cNvSpPr/>
          <p:nvPr/>
        </p:nvSpPr>
        <p:spPr>
          <a:xfrm>
            <a:off x="338328" y="1463040"/>
            <a:ext cx="3913632" cy="384048"/>
          </a:xfrm>
          <a:prstGeom prst="rect">
            <a:avLst/>
          </a:prstGeom>
          <a:noFill/>
          <a:ln/>
        </p:spPr>
        <p:txBody>
          <a:bodyPr wrap="square" lIns="0" tIns="0" rIns="0" bIns="0" rtlCol="0" anchor="ctr"/>
          <a:lstStyle/>
          <a:p>
            <a:pPr indent="0" marL="0">
              <a:buNone/>
            </a:pPr>
            <a:r>
              <a:rPr lang="en-US" sz="900" i="1" dirty="0">
                <a:solidFill>
                  <a:srgbClr val="2C3E50"/>
                </a:solidFill>
                <a:latin typeface="Calibri" pitchFamily="34" charset="0"/>
                <a:ea typeface="Calibri" pitchFamily="34" charset="-122"/>
                <a:cs typeface="Calibri" pitchFamily="34" charset="-120"/>
              </a:rPr>
              <a:t>e.g. gender  age  monthly_salary  q1_satisfaction  uac_product</a:t>
            </a:r>
            <a:endParaRPr lang="en-US" sz="900" dirty="0"/>
          </a:p>
        </p:txBody>
      </p:sp>
      <p:sp>
        <p:nvSpPr>
          <p:cNvPr id="9" name="Shape 7"/>
          <p:cNvSpPr/>
          <p:nvPr/>
        </p:nvSpPr>
        <p:spPr>
          <a:xfrm>
            <a:off x="4690872" y="1005840"/>
            <a:ext cx="4160520" cy="914400"/>
          </a:xfrm>
          <a:prstGeom prst="roundRect">
            <a:avLst>
              <a:gd name="adj" fmla="val 7000"/>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0" name="Shape 8"/>
          <p:cNvSpPr/>
          <p:nvPr/>
        </p:nvSpPr>
        <p:spPr>
          <a:xfrm>
            <a:off x="4782312" y="1097280"/>
            <a:ext cx="749808" cy="274320"/>
          </a:xfrm>
          <a:prstGeom prst="roundRect">
            <a:avLst>
              <a:gd name="adj" fmla="val 16667"/>
            </a:avLst>
          </a:prstGeom>
          <a:solidFill>
            <a:srgbClr val="1A3562"/>
          </a:solidFill>
          <a:ln w="12700">
            <a:solidFill>
              <a:srgbClr val="1A3562"/>
            </a:solidFill>
            <a:prstDash val="solid"/>
          </a:ln>
        </p:spPr>
      </p:sp>
      <p:sp>
        <p:nvSpPr>
          <p:cNvPr id="11" name="Text 9"/>
          <p:cNvSpPr/>
          <p:nvPr/>
        </p:nvSpPr>
        <p:spPr>
          <a:xfrm>
            <a:off x="4782312" y="1097280"/>
            <a:ext cx="749808" cy="274320"/>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Type</a:t>
            </a:r>
            <a:endParaRPr lang="en-US" sz="900" dirty="0"/>
          </a:p>
        </p:txBody>
      </p:sp>
      <p:sp>
        <p:nvSpPr>
          <p:cNvPr id="12" name="Text 10"/>
          <p:cNvSpPr/>
          <p:nvPr/>
        </p:nvSpPr>
        <p:spPr>
          <a:xfrm>
            <a:off x="5605272" y="1097280"/>
            <a:ext cx="3127248" cy="274320"/>
          </a:xfrm>
          <a:prstGeom prst="rect">
            <a:avLst/>
          </a:prstGeom>
          <a:noFill/>
          <a:ln/>
        </p:spPr>
        <p:txBody>
          <a:bodyPr wrap="square" lIns="0" tIns="0" rIns="0" bIns="0" rtlCol="0" anchor="ctr"/>
          <a:lstStyle/>
          <a:p>
            <a:pPr indent="0" marL="0">
              <a:buNone/>
            </a:pPr>
            <a:r>
              <a:rPr lang="en-US" sz="950" dirty="0">
                <a:solidFill>
                  <a:srgbClr val="2E86C1"/>
                </a:solidFill>
                <a:latin typeface="Calibri" pitchFamily="34" charset="0"/>
                <a:ea typeface="Calibri" pitchFamily="34" charset="-122"/>
                <a:cs typeface="Calibri" pitchFamily="34" charset="-120"/>
              </a:rPr>
              <a:t>Numeric for numbers and coded categories. String for text only.</a:t>
            </a:r>
            <a:endParaRPr lang="en-US" sz="950" dirty="0"/>
          </a:p>
        </p:txBody>
      </p:sp>
      <p:sp>
        <p:nvSpPr>
          <p:cNvPr id="13" name="Text 11"/>
          <p:cNvSpPr/>
          <p:nvPr/>
        </p:nvSpPr>
        <p:spPr>
          <a:xfrm>
            <a:off x="4800600" y="1463040"/>
            <a:ext cx="3913632" cy="384048"/>
          </a:xfrm>
          <a:prstGeom prst="rect">
            <a:avLst/>
          </a:prstGeom>
          <a:noFill/>
          <a:ln/>
        </p:spPr>
        <p:txBody>
          <a:bodyPr wrap="square" lIns="0" tIns="0" rIns="0" bIns="0" rtlCol="0" anchor="ctr"/>
          <a:lstStyle/>
          <a:p>
            <a:pPr indent="0" marL="0">
              <a:buNone/>
            </a:pPr>
            <a:r>
              <a:rPr lang="en-US" sz="900" i="1" dirty="0">
                <a:solidFill>
                  <a:srgbClr val="2C3E50"/>
                </a:solidFill>
                <a:latin typeface="Calibri" pitchFamily="34" charset="0"/>
                <a:ea typeface="Calibri" pitchFamily="34" charset="-122"/>
                <a:cs typeface="Calibri" pitchFamily="34" charset="-120"/>
              </a:rPr>
              <a:t>e.g. All survey codes = Numeric. Free-text response = String.</a:t>
            </a:r>
            <a:endParaRPr lang="en-US" sz="900" dirty="0"/>
          </a:p>
        </p:txBody>
      </p:sp>
      <p:sp>
        <p:nvSpPr>
          <p:cNvPr id="14" name="Shape 12"/>
          <p:cNvSpPr/>
          <p:nvPr/>
        </p:nvSpPr>
        <p:spPr>
          <a:xfrm>
            <a:off x="228600" y="2011680"/>
            <a:ext cx="4160520" cy="914400"/>
          </a:xfrm>
          <a:prstGeom prst="roundRect">
            <a:avLst>
              <a:gd name="adj" fmla="val 7000"/>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5" name="Shape 13"/>
          <p:cNvSpPr/>
          <p:nvPr/>
        </p:nvSpPr>
        <p:spPr>
          <a:xfrm>
            <a:off x="320040" y="2103120"/>
            <a:ext cx="749808" cy="274320"/>
          </a:xfrm>
          <a:prstGeom prst="roundRect">
            <a:avLst>
              <a:gd name="adj" fmla="val 16667"/>
            </a:avLst>
          </a:prstGeom>
          <a:solidFill>
            <a:srgbClr val="1A3562"/>
          </a:solidFill>
          <a:ln w="12700">
            <a:solidFill>
              <a:srgbClr val="1A3562"/>
            </a:solidFill>
            <a:prstDash val="solid"/>
          </a:ln>
        </p:spPr>
      </p:sp>
      <p:sp>
        <p:nvSpPr>
          <p:cNvPr id="16" name="Text 14"/>
          <p:cNvSpPr/>
          <p:nvPr/>
        </p:nvSpPr>
        <p:spPr>
          <a:xfrm>
            <a:off x="320040" y="2103120"/>
            <a:ext cx="749808" cy="274320"/>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Width / Decimal</a:t>
            </a:r>
            <a:endParaRPr lang="en-US" sz="900" dirty="0"/>
          </a:p>
        </p:txBody>
      </p:sp>
      <p:sp>
        <p:nvSpPr>
          <p:cNvPr id="17" name="Text 15"/>
          <p:cNvSpPr/>
          <p:nvPr/>
        </p:nvSpPr>
        <p:spPr>
          <a:xfrm>
            <a:off x="1143000" y="2103120"/>
            <a:ext cx="3127248" cy="274320"/>
          </a:xfrm>
          <a:prstGeom prst="rect">
            <a:avLst/>
          </a:prstGeom>
          <a:noFill/>
          <a:ln/>
        </p:spPr>
        <p:txBody>
          <a:bodyPr wrap="square" lIns="0" tIns="0" rIns="0" bIns="0" rtlCol="0" anchor="ctr"/>
          <a:lstStyle/>
          <a:p>
            <a:pPr indent="0" marL="0">
              <a:buNone/>
            </a:pPr>
            <a:r>
              <a:rPr lang="en-US" sz="950" dirty="0">
                <a:solidFill>
                  <a:srgbClr val="2E86C1"/>
                </a:solidFill>
                <a:latin typeface="Calibri" pitchFamily="34" charset="0"/>
                <a:ea typeface="Calibri" pitchFamily="34" charset="-122"/>
                <a:cs typeface="Calibri" pitchFamily="34" charset="-120"/>
              </a:rPr>
              <a:t>Width = total digits. Decimal = digits after decimal point.</a:t>
            </a:r>
            <a:endParaRPr lang="en-US" sz="950" dirty="0"/>
          </a:p>
        </p:txBody>
      </p:sp>
      <p:sp>
        <p:nvSpPr>
          <p:cNvPr id="18" name="Text 16"/>
          <p:cNvSpPr/>
          <p:nvPr/>
        </p:nvSpPr>
        <p:spPr>
          <a:xfrm>
            <a:off x="338328" y="2468880"/>
            <a:ext cx="3913632" cy="384048"/>
          </a:xfrm>
          <a:prstGeom prst="rect">
            <a:avLst/>
          </a:prstGeom>
          <a:noFill/>
          <a:ln/>
        </p:spPr>
        <p:txBody>
          <a:bodyPr wrap="square" lIns="0" tIns="0" rIns="0" bIns="0" rtlCol="0" anchor="ctr"/>
          <a:lstStyle/>
          <a:p>
            <a:pPr indent="0" marL="0">
              <a:buNone/>
            </a:pPr>
            <a:r>
              <a:rPr lang="en-US" sz="900" i="1" dirty="0">
                <a:solidFill>
                  <a:srgbClr val="2C3E50"/>
                </a:solidFill>
                <a:latin typeface="Calibri" pitchFamily="34" charset="0"/>
                <a:ea typeface="Calibri" pitchFamily="34" charset="-122"/>
                <a:cs typeface="Calibri" pitchFamily="34" charset="-120"/>
              </a:rPr>
              <a:t>e.g. Width 8, Decimal 0 for age or ID. Width 10, Decimal 2 for NGN salary.</a:t>
            </a:r>
            <a:endParaRPr lang="en-US" sz="900" dirty="0"/>
          </a:p>
        </p:txBody>
      </p:sp>
      <p:sp>
        <p:nvSpPr>
          <p:cNvPr id="19" name="Shape 17"/>
          <p:cNvSpPr/>
          <p:nvPr/>
        </p:nvSpPr>
        <p:spPr>
          <a:xfrm>
            <a:off x="4690872" y="2011680"/>
            <a:ext cx="4160520" cy="914400"/>
          </a:xfrm>
          <a:prstGeom prst="roundRect">
            <a:avLst>
              <a:gd name="adj" fmla="val 7000"/>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20" name="Shape 18"/>
          <p:cNvSpPr/>
          <p:nvPr/>
        </p:nvSpPr>
        <p:spPr>
          <a:xfrm>
            <a:off x="4782312" y="2103120"/>
            <a:ext cx="749808" cy="274320"/>
          </a:xfrm>
          <a:prstGeom prst="roundRect">
            <a:avLst>
              <a:gd name="adj" fmla="val 16667"/>
            </a:avLst>
          </a:prstGeom>
          <a:solidFill>
            <a:srgbClr val="1A3562"/>
          </a:solidFill>
          <a:ln w="12700">
            <a:solidFill>
              <a:srgbClr val="1A3562"/>
            </a:solidFill>
            <a:prstDash val="solid"/>
          </a:ln>
        </p:spPr>
      </p:sp>
      <p:sp>
        <p:nvSpPr>
          <p:cNvPr id="21" name="Text 19"/>
          <p:cNvSpPr/>
          <p:nvPr/>
        </p:nvSpPr>
        <p:spPr>
          <a:xfrm>
            <a:off x="4782312" y="2103120"/>
            <a:ext cx="749808" cy="274320"/>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Label</a:t>
            </a:r>
            <a:endParaRPr lang="en-US" sz="900" dirty="0"/>
          </a:p>
        </p:txBody>
      </p:sp>
      <p:sp>
        <p:nvSpPr>
          <p:cNvPr id="22" name="Text 20"/>
          <p:cNvSpPr/>
          <p:nvPr/>
        </p:nvSpPr>
        <p:spPr>
          <a:xfrm>
            <a:off x="5605272" y="2103120"/>
            <a:ext cx="3127248" cy="274320"/>
          </a:xfrm>
          <a:prstGeom prst="rect">
            <a:avLst/>
          </a:prstGeom>
          <a:noFill/>
          <a:ln/>
        </p:spPr>
        <p:txBody>
          <a:bodyPr wrap="square" lIns="0" tIns="0" rIns="0" bIns="0" rtlCol="0" anchor="ctr"/>
          <a:lstStyle/>
          <a:p>
            <a:pPr indent="0" marL="0">
              <a:buNone/>
            </a:pPr>
            <a:r>
              <a:rPr lang="en-US" sz="950" dirty="0">
                <a:solidFill>
                  <a:srgbClr val="2E86C1"/>
                </a:solidFill>
                <a:latin typeface="Calibri" pitchFamily="34" charset="0"/>
                <a:ea typeface="Calibri" pitchFamily="34" charset="-122"/>
                <a:cs typeface="Calibri" pitchFamily="34" charset="-120"/>
              </a:rPr>
              <a:t>Full descriptive name - appears in ALL output tables.</a:t>
            </a:r>
            <a:endParaRPr lang="en-US" sz="950" dirty="0"/>
          </a:p>
        </p:txBody>
      </p:sp>
      <p:sp>
        <p:nvSpPr>
          <p:cNvPr id="23" name="Text 21"/>
          <p:cNvSpPr/>
          <p:nvPr/>
        </p:nvSpPr>
        <p:spPr>
          <a:xfrm>
            <a:off x="4800600" y="2468880"/>
            <a:ext cx="3913632" cy="384048"/>
          </a:xfrm>
          <a:prstGeom prst="rect">
            <a:avLst/>
          </a:prstGeom>
          <a:noFill/>
          <a:ln/>
        </p:spPr>
        <p:txBody>
          <a:bodyPr wrap="square" lIns="0" tIns="0" rIns="0" bIns="0" rtlCol="0" anchor="ctr"/>
          <a:lstStyle/>
          <a:p>
            <a:pPr indent="0" marL="0">
              <a:buNone/>
            </a:pPr>
            <a:r>
              <a:rPr lang="en-US" sz="900" i="1" dirty="0">
                <a:solidFill>
                  <a:srgbClr val="2C3E50"/>
                </a:solidFill>
                <a:latin typeface="Calibri" pitchFamily="34" charset="0"/>
                <a:ea typeface="Calibri" pitchFamily="34" charset="-122"/>
                <a:cs typeface="Calibri" pitchFamily="34" charset="-120"/>
              </a:rPr>
              <a:t>e.g. Monthly Salary in Naira (NGN)  not just  salary</a:t>
            </a:r>
            <a:endParaRPr lang="en-US" sz="900" dirty="0"/>
          </a:p>
        </p:txBody>
      </p:sp>
      <p:sp>
        <p:nvSpPr>
          <p:cNvPr id="24" name="Shape 22"/>
          <p:cNvSpPr/>
          <p:nvPr/>
        </p:nvSpPr>
        <p:spPr>
          <a:xfrm>
            <a:off x="228600" y="3017520"/>
            <a:ext cx="4160520" cy="914400"/>
          </a:xfrm>
          <a:prstGeom prst="roundRect">
            <a:avLst>
              <a:gd name="adj" fmla="val 7000"/>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25" name="Shape 23"/>
          <p:cNvSpPr/>
          <p:nvPr/>
        </p:nvSpPr>
        <p:spPr>
          <a:xfrm>
            <a:off x="320040" y="3108960"/>
            <a:ext cx="749808" cy="274320"/>
          </a:xfrm>
          <a:prstGeom prst="roundRect">
            <a:avLst>
              <a:gd name="adj" fmla="val 16667"/>
            </a:avLst>
          </a:prstGeom>
          <a:solidFill>
            <a:srgbClr val="1A3562"/>
          </a:solidFill>
          <a:ln w="12700">
            <a:solidFill>
              <a:srgbClr val="1A3562"/>
            </a:solidFill>
            <a:prstDash val="solid"/>
          </a:ln>
        </p:spPr>
      </p:sp>
      <p:sp>
        <p:nvSpPr>
          <p:cNvPr id="26" name="Text 24"/>
          <p:cNvSpPr/>
          <p:nvPr/>
        </p:nvSpPr>
        <p:spPr>
          <a:xfrm>
            <a:off x="320040" y="3108960"/>
            <a:ext cx="749808" cy="274320"/>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Values</a:t>
            </a:r>
            <a:endParaRPr lang="en-US" sz="900" dirty="0"/>
          </a:p>
        </p:txBody>
      </p:sp>
      <p:sp>
        <p:nvSpPr>
          <p:cNvPr id="27" name="Text 25"/>
          <p:cNvSpPr/>
          <p:nvPr/>
        </p:nvSpPr>
        <p:spPr>
          <a:xfrm>
            <a:off x="1143000" y="3108960"/>
            <a:ext cx="3127248" cy="274320"/>
          </a:xfrm>
          <a:prstGeom prst="rect">
            <a:avLst/>
          </a:prstGeom>
          <a:noFill/>
          <a:ln/>
        </p:spPr>
        <p:txBody>
          <a:bodyPr wrap="square" lIns="0" tIns="0" rIns="0" bIns="0" rtlCol="0" anchor="ctr"/>
          <a:lstStyle/>
          <a:p>
            <a:pPr indent="0" marL="0">
              <a:buNone/>
            </a:pPr>
            <a:r>
              <a:rPr lang="en-US" sz="950" dirty="0">
                <a:solidFill>
                  <a:srgbClr val="2E86C1"/>
                </a:solidFill>
                <a:latin typeface="Calibri" pitchFamily="34" charset="0"/>
                <a:ea typeface="Calibri" pitchFamily="34" charset="-122"/>
                <a:cs typeface="Calibri" pitchFamily="34" charset="-120"/>
              </a:rPr>
              <a:t>Map numeric codes to category meanings (click the gray button).</a:t>
            </a:r>
            <a:endParaRPr lang="en-US" sz="950" dirty="0"/>
          </a:p>
        </p:txBody>
      </p:sp>
      <p:sp>
        <p:nvSpPr>
          <p:cNvPr id="28" name="Text 26"/>
          <p:cNvSpPr/>
          <p:nvPr/>
        </p:nvSpPr>
        <p:spPr>
          <a:xfrm>
            <a:off x="338328" y="3474720"/>
            <a:ext cx="3913632" cy="384048"/>
          </a:xfrm>
          <a:prstGeom prst="rect">
            <a:avLst/>
          </a:prstGeom>
          <a:noFill/>
          <a:ln/>
        </p:spPr>
        <p:txBody>
          <a:bodyPr wrap="square" lIns="0" tIns="0" rIns="0" bIns="0" rtlCol="0" anchor="ctr"/>
          <a:lstStyle/>
          <a:p>
            <a:pPr indent="0" marL="0">
              <a:buNone/>
            </a:pPr>
            <a:r>
              <a:rPr lang="en-US" sz="900" i="1" dirty="0">
                <a:solidFill>
                  <a:srgbClr val="2C3E50"/>
                </a:solidFill>
                <a:latin typeface="Calibri" pitchFamily="34" charset="0"/>
                <a:ea typeface="Calibri" pitchFamily="34" charset="-122"/>
                <a:cs typeface="Calibri" pitchFamily="34" charset="-120"/>
              </a:rPr>
              <a:t>e.g. 1 = Male  2 = Female  3 = Prefer not to say  9 = Not applicable</a:t>
            </a:r>
            <a:endParaRPr lang="en-US" sz="900" dirty="0"/>
          </a:p>
        </p:txBody>
      </p:sp>
      <p:sp>
        <p:nvSpPr>
          <p:cNvPr id="29" name="Shape 27"/>
          <p:cNvSpPr/>
          <p:nvPr/>
        </p:nvSpPr>
        <p:spPr>
          <a:xfrm>
            <a:off x="4690872" y="3017520"/>
            <a:ext cx="4160520" cy="914400"/>
          </a:xfrm>
          <a:prstGeom prst="roundRect">
            <a:avLst>
              <a:gd name="adj" fmla="val 7000"/>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30" name="Shape 28"/>
          <p:cNvSpPr/>
          <p:nvPr/>
        </p:nvSpPr>
        <p:spPr>
          <a:xfrm>
            <a:off x="4782312" y="3108960"/>
            <a:ext cx="749808" cy="274320"/>
          </a:xfrm>
          <a:prstGeom prst="roundRect">
            <a:avLst>
              <a:gd name="adj" fmla="val 16667"/>
            </a:avLst>
          </a:prstGeom>
          <a:solidFill>
            <a:srgbClr val="1A3562"/>
          </a:solidFill>
          <a:ln w="12700">
            <a:solidFill>
              <a:srgbClr val="1A3562"/>
            </a:solidFill>
            <a:prstDash val="solid"/>
          </a:ln>
        </p:spPr>
      </p:sp>
      <p:sp>
        <p:nvSpPr>
          <p:cNvPr id="31" name="Text 29"/>
          <p:cNvSpPr/>
          <p:nvPr/>
        </p:nvSpPr>
        <p:spPr>
          <a:xfrm>
            <a:off x="4782312" y="3108960"/>
            <a:ext cx="749808" cy="274320"/>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Missing</a:t>
            </a:r>
            <a:endParaRPr lang="en-US" sz="900" dirty="0"/>
          </a:p>
        </p:txBody>
      </p:sp>
      <p:sp>
        <p:nvSpPr>
          <p:cNvPr id="32" name="Text 30"/>
          <p:cNvSpPr/>
          <p:nvPr/>
        </p:nvSpPr>
        <p:spPr>
          <a:xfrm>
            <a:off x="5605272" y="3108960"/>
            <a:ext cx="3127248" cy="274320"/>
          </a:xfrm>
          <a:prstGeom prst="rect">
            <a:avLst/>
          </a:prstGeom>
          <a:noFill/>
          <a:ln/>
        </p:spPr>
        <p:txBody>
          <a:bodyPr wrap="square" lIns="0" tIns="0" rIns="0" bIns="0" rtlCol="0" anchor="ctr"/>
          <a:lstStyle/>
          <a:p>
            <a:pPr indent="0" marL="0">
              <a:buNone/>
            </a:pPr>
            <a:r>
              <a:rPr lang="en-US" sz="950" dirty="0">
                <a:solidFill>
                  <a:srgbClr val="2E86C1"/>
                </a:solidFill>
                <a:latin typeface="Calibri" pitchFamily="34" charset="0"/>
                <a:ea typeface="Calibri" pitchFamily="34" charset="-122"/>
                <a:cs typeface="Calibri" pitchFamily="34" charset="-120"/>
              </a:rPr>
              <a:t>Declare codes that represent missing data - SPSS excludes these.</a:t>
            </a:r>
            <a:endParaRPr lang="en-US" sz="950" dirty="0"/>
          </a:p>
        </p:txBody>
      </p:sp>
      <p:sp>
        <p:nvSpPr>
          <p:cNvPr id="33" name="Text 31"/>
          <p:cNvSpPr/>
          <p:nvPr/>
        </p:nvSpPr>
        <p:spPr>
          <a:xfrm>
            <a:off x="4800600" y="3474720"/>
            <a:ext cx="3913632" cy="384048"/>
          </a:xfrm>
          <a:prstGeom prst="rect">
            <a:avLst/>
          </a:prstGeom>
          <a:noFill/>
          <a:ln/>
        </p:spPr>
        <p:txBody>
          <a:bodyPr wrap="square" lIns="0" tIns="0" rIns="0" bIns="0" rtlCol="0" anchor="ctr"/>
          <a:lstStyle/>
          <a:p>
            <a:pPr indent="0" marL="0">
              <a:buNone/>
            </a:pPr>
            <a:r>
              <a:rPr lang="en-US" sz="900" i="1" dirty="0">
                <a:solidFill>
                  <a:srgbClr val="2C3E50"/>
                </a:solidFill>
                <a:latin typeface="Calibri" pitchFamily="34" charset="0"/>
                <a:ea typeface="Calibri" pitchFamily="34" charset="-122"/>
                <a:cs typeface="Calibri" pitchFamily="34" charset="-120"/>
              </a:rPr>
              <a:t>e.g. 99 = Refused  -1 = Not applicable  0 = Question skipped</a:t>
            </a:r>
            <a:endParaRPr lang="en-US" sz="900" dirty="0"/>
          </a:p>
        </p:txBody>
      </p:sp>
      <p:sp>
        <p:nvSpPr>
          <p:cNvPr id="34" name="Shape 32"/>
          <p:cNvSpPr/>
          <p:nvPr/>
        </p:nvSpPr>
        <p:spPr>
          <a:xfrm>
            <a:off x="228600" y="4023360"/>
            <a:ext cx="4160520" cy="914400"/>
          </a:xfrm>
          <a:prstGeom prst="roundRect">
            <a:avLst>
              <a:gd name="adj" fmla="val 7000"/>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35" name="Shape 33"/>
          <p:cNvSpPr/>
          <p:nvPr/>
        </p:nvSpPr>
        <p:spPr>
          <a:xfrm>
            <a:off x="320040" y="4114800"/>
            <a:ext cx="749808" cy="274320"/>
          </a:xfrm>
          <a:prstGeom prst="roundRect">
            <a:avLst>
              <a:gd name="adj" fmla="val 16667"/>
            </a:avLst>
          </a:prstGeom>
          <a:solidFill>
            <a:srgbClr val="1A3562"/>
          </a:solidFill>
          <a:ln w="12700">
            <a:solidFill>
              <a:srgbClr val="1A3562"/>
            </a:solidFill>
            <a:prstDash val="solid"/>
          </a:ln>
        </p:spPr>
      </p:sp>
      <p:sp>
        <p:nvSpPr>
          <p:cNvPr id="36" name="Text 34"/>
          <p:cNvSpPr/>
          <p:nvPr/>
        </p:nvSpPr>
        <p:spPr>
          <a:xfrm>
            <a:off x="320040" y="4114800"/>
            <a:ext cx="749808" cy="274320"/>
          </a:xfrm>
          <a:prstGeom prst="rect">
            <a:avLst/>
          </a:prstGeom>
          <a:noFill/>
          <a:ln/>
        </p:spPr>
        <p:txBody>
          <a:bodyPr wrap="square" lIns="0" tIns="0" rIns="0" bIns="0" rtlCol="0" anchor="ctr"/>
          <a:lstStyle/>
          <a:p>
            <a:pPr algn="ctr" indent="0" marL="0">
              <a:buNone/>
            </a:pPr>
            <a:r>
              <a:rPr lang="en-US" sz="900" b="1" dirty="0">
                <a:solidFill>
                  <a:srgbClr val="F0C040"/>
                </a:solidFill>
                <a:latin typeface="Calibri" pitchFamily="34" charset="0"/>
                <a:ea typeface="Calibri" pitchFamily="34" charset="-122"/>
                <a:cs typeface="Calibri" pitchFamily="34" charset="-120"/>
              </a:rPr>
              <a:t>Align</a:t>
            </a:r>
            <a:endParaRPr lang="en-US" sz="900" dirty="0"/>
          </a:p>
        </p:txBody>
      </p:sp>
      <p:sp>
        <p:nvSpPr>
          <p:cNvPr id="37" name="Text 35"/>
          <p:cNvSpPr/>
          <p:nvPr/>
        </p:nvSpPr>
        <p:spPr>
          <a:xfrm>
            <a:off x="1143000" y="4114800"/>
            <a:ext cx="3127248" cy="274320"/>
          </a:xfrm>
          <a:prstGeom prst="rect">
            <a:avLst/>
          </a:prstGeom>
          <a:noFill/>
          <a:ln/>
        </p:spPr>
        <p:txBody>
          <a:bodyPr wrap="square" lIns="0" tIns="0" rIns="0" bIns="0" rtlCol="0" anchor="ctr"/>
          <a:lstStyle/>
          <a:p>
            <a:pPr indent="0" marL="0">
              <a:buNone/>
            </a:pPr>
            <a:r>
              <a:rPr lang="en-US" sz="950" dirty="0">
                <a:solidFill>
                  <a:srgbClr val="2E86C1"/>
                </a:solidFill>
                <a:latin typeface="Calibri" pitchFamily="34" charset="0"/>
                <a:ea typeface="Calibri" pitchFamily="34" charset="-122"/>
                <a:cs typeface="Calibri" pitchFamily="34" charset="-120"/>
              </a:rPr>
              <a:t>Text alignment in cells. Cosmetic only - no effect on analysis.</a:t>
            </a:r>
            <a:endParaRPr lang="en-US" sz="950" dirty="0"/>
          </a:p>
        </p:txBody>
      </p:sp>
      <p:sp>
        <p:nvSpPr>
          <p:cNvPr id="38" name="Text 36"/>
          <p:cNvSpPr/>
          <p:nvPr/>
        </p:nvSpPr>
        <p:spPr>
          <a:xfrm>
            <a:off x="338328" y="4480560"/>
            <a:ext cx="3913632" cy="384048"/>
          </a:xfrm>
          <a:prstGeom prst="rect">
            <a:avLst/>
          </a:prstGeom>
          <a:noFill/>
          <a:ln/>
        </p:spPr>
        <p:txBody>
          <a:bodyPr wrap="square" lIns="0" tIns="0" rIns="0" bIns="0" rtlCol="0" anchor="ctr"/>
          <a:lstStyle/>
          <a:p>
            <a:pPr indent="0" marL="0">
              <a:buNone/>
            </a:pPr>
            <a:r>
              <a:rPr lang="en-US" sz="900" i="1" dirty="0">
                <a:solidFill>
                  <a:srgbClr val="2C3E50"/>
                </a:solidFill>
                <a:latin typeface="Calibri" pitchFamily="34" charset="0"/>
                <a:ea typeface="Calibri" pitchFamily="34" charset="-122"/>
                <a:cs typeface="Calibri" pitchFamily="34" charset="-120"/>
              </a:rPr>
              <a:t>e.g. Right for numbers  Left for string text</a:t>
            </a:r>
            <a:endParaRPr lang="en-US" sz="900" dirty="0"/>
          </a:p>
        </p:txBody>
      </p:sp>
      <p:sp>
        <p:nvSpPr>
          <p:cNvPr id="39" name="Shape 37"/>
          <p:cNvSpPr/>
          <p:nvPr/>
        </p:nvSpPr>
        <p:spPr>
          <a:xfrm>
            <a:off x="4690872" y="4023360"/>
            <a:ext cx="4160520" cy="914400"/>
          </a:xfrm>
          <a:prstGeom prst="roundRect">
            <a:avLst>
              <a:gd name="adj" fmla="val 7000"/>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40" name="Shape 38"/>
          <p:cNvSpPr/>
          <p:nvPr/>
        </p:nvSpPr>
        <p:spPr>
          <a:xfrm>
            <a:off x="4782312" y="4114800"/>
            <a:ext cx="749808" cy="274320"/>
          </a:xfrm>
          <a:prstGeom prst="roundRect">
            <a:avLst>
              <a:gd name="adj" fmla="val 16667"/>
            </a:avLst>
          </a:prstGeom>
          <a:solidFill>
            <a:srgbClr val="C0392B"/>
          </a:solidFill>
          <a:ln w="12700">
            <a:solidFill>
              <a:srgbClr val="C0392B"/>
            </a:solidFill>
            <a:prstDash val="solid"/>
          </a:ln>
        </p:spPr>
      </p:sp>
      <p:sp>
        <p:nvSpPr>
          <p:cNvPr id="41" name="Text 39"/>
          <p:cNvSpPr/>
          <p:nvPr/>
        </p:nvSpPr>
        <p:spPr>
          <a:xfrm>
            <a:off x="4782312" y="4114800"/>
            <a:ext cx="749808"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Measure</a:t>
            </a:r>
            <a:endParaRPr lang="en-US" sz="900" dirty="0"/>
          </a:p>
        </p:txBody>
      </p:sp>
      <p:sp>
        <p:nvSpPr>
          <p:cNvPr id="42" name="Text 40"/>
          <p:cNvSpPr/>
          <p:nvPr/>
        </p:nvSpPr>
        <p:spPr>
          <a:xfrm>
            <a:off x="5605272" y="4114800"/>
            <a:ext cx="3127248" cy="274320"/>
          </a:xfrm>
          <a:prstGeom prst="rect">
            <a:avLst/>
          </a:prstGeom>
          <a:noFill/>
          <a:ln/>
        </p:spPr>
        <p:txBody>
          <a:bodyPr wrap="square" lIns="0" tIns="0" rIns="0" bIns="0" rtlCol="0" anchor="ctr"/>
          <a:lstStyle/>
          <a:p>
            <a:pPr indent="0" marL="0">
              <a:buNone/>
            </a:pPr>
            <a:r>
              <a:rPr lang="en-US" sz="950" dirty="0">
                <a:solidFill>
                  <a:srgbClr val="2E86C1"/>
                </a:solidFill>
                <a:latin typeface="Calibri" pitchFamily="34" charset="0"/>
                <a:ea typeface="Calibri" pitchFamily="34" charset="-122"/>
                <a:cs typeface="Calibri" pitchFamily="34" charset="-120"/>
              </a:rPr>
              <a:t>CRITICAL: Nominal, Ordinal, or Scale. Sets valid analysis options.</a:t>
            </a:r>
            <a:endParaRPr lang="en-US" sz="950" dirty="0"/>
          </a:p>
        </p:txBody>
      </p:sp>
      <p:sp>
        <p:nvSpPr>
          <p:cNvPr id="43" name="Text 41"/>
          <p:cNvSpPr/>
          <p:nvPr/>
        </p:nvSpPr>
        <p:spPr>
          <a:xfrm>
            <a:off x="4800600" y="4480560"/>
            <a:ext cx="3913632" cy="384048"/>
          </a:xfrm>
          <a:prstGeom prst="rect">
            <a:avLst/>
          </a:prstGeom>
          <a:noFill/>
          <a:ln/>
        </p:spPr>
        <p:txBody>
          <a:bodyPr wrap="square" lIns="0" tIns="0" rIns="0" bIns="0" rtlCol="0" anchor="ctr"/>
          <a:lstStyle/>
          <a:p>
            <a:pPr indent="0" marL="0">
              <a:buNone/>
            </a:pPr>
            <a:r>
              <a:rPr lang="en-US" sz="900" i="1" dirty="0">
                <a:solidFill>
                  <a:srgbClr val="2C3E50"/>
                </a:solidFill>
                <a:latin typeface="Calibri" pitchFamily="34" charset="0"/>
                <a:ea typeface="Calibri" pitchFamily="34" charset="-122"/>
                <a:cs typeface="Calibri" pitchFamily="34" charset="-120"/>
              </a:rPr>
              <a:t>e.g. Gender = Nominal. Education level = Ordinal. Age in years = Scale.</a:t>
            </a:r>
            <a:endParaRPr lang="en-US" sz="900" dirty="0"/>
          </a:p>
        </p:txBody>
      </p:sp>
      <p:sp>
        <p:nvSpPr>
          <p:cNvPr id="44" name="Shape 42"/>
          <p:cNvSpPr/>
          <p:nvPr/>
        </p:nvSpPr>
        <p:spPr>
          <a:xfrm>
            <a:off x="256032" y="4663440"/>
            <a:ext cx="8631936" cy="365760"/>
          </a:xfrm>
          <a:prstGeom prst="roundRect">
            <a:avLst>
              <a:gd name="adj" fmla="val 15000"/>
            </a:avLst>
          </a:prstGeom>
          <a:solidFill>
            <a:srgbClr val="FEF9E7"/>
          </a:solidFill>
          <a:ln w="15240">
            <a:solidFill>
              <a:srgbClr val="D4A017"/>
            </a:solidFill>
            <a:prstDash val="solid"/>
          </a:ln>
        </p:spPr>
      </p:sp>
      <p:sp>
        <p:nvSpPr>
          <p:cNvPr id="45" name="Text 43"/>
          <p:cNvSpPr/>
          <p:nvPr/>
        </p:nvSpPr>
        <p:spPr>
          <a:xfrm>
            <a:off x="384048" y="4681728"/>
            <a:ext cx="8321040" cy="329184"/>
          </a:xfrm>
          <a:prstGeom prst="rect">
            <a:avLst/>
          </a:prstGeom>
          <a:noFill/>
          <a:ln/>
        </p:spPr>
        <p:txBody>
          <a:bodyPr wrap="square" lIns="0" tIns="0" rIns="0" bIns="0" rtlCol="0" anchor="ctr"/>
          <a:lstStyle/>
          <a:p>
            <a:pPr indent="0" marL="0">
              <a:buNone/>
            </a:pPr>
            <a:r>
              <a:rPr lang="en-US" sz="1050" dirty="0">
                <a:solidFill>
                  <a:srgbClr val="7D6608"/>
                </a:solidFill>
                <a:latin typeface="Calibri" pitchFamily="34" charset="0"/>
                <a:ea typeface="Calibri" pitchFamily="34" charset="-122"/>
                <a:cs typeface="Calibri" pitchFamily="34" charset="-120"/>
              </a:rPr>
              <a:t>GOLDEN RULE: ALWAYS complete Variable View BEFORE entering any data. Rushing past this is the single most common cause of SPSS errors by beginners.</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1B5CA0">
              <a:alpha val="16000"/>
            </a:srgbClr>
          </a:solidFill>
          <a:ln w="12700">
            <a:solidFill>
              <a:srgbClr val="1B5CA0"/>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File Management and Editing Functions in SPSS</a:t>
            </a:r>
            <a:endParaRPr lang="en-US" sz="2600" dirty="0"/>
          </a:p>
        </p:txBody>
      </p:sp>
      <p:sp>
        <p:nvSpPr>
          <p:cNvPr id="4" name="Text 2"/>
          <p:cNvSpPr/>
          <p:nvPr/>
        </p:nvSpPr>
        <p:spPr>
          <a:xfrm>
            <a:off x="457200" y="868680"/>
            <a:ext cx="8229600" cy="320040"/>
          </a:xfrm>
          <a:prstGeom prst="rect">
            <a:avLst/>
          </a:prstGeom>
          <a:noFill/>
          <a:ln/>
        </p:spPr>
        <p:txBody>
          <a:bodyPr wrap="square" lIns="0" tIns="0" rIns="0" bIns="0" rtlCol="0" anchor="ctr"/>
          <a:lstStyle/>
          <a:p>
            <a:pPr indent="0" marL="0">
              <a:buNone/>
            </a:pPr>
            <a:r>
              <a:rPr lang="en-US" sz="1400" b="1" dirty="0">
                <a:solidFill>
                  <a:srgbClr val="F0C040"/>
                </a:solidFill>
                <a:latin typeface="Calibri" pitchFamily="34" charset="0"/>
                <a:ea typeface="Calibri" pitchFamily="34" charset="-122"/>
                <a:cs typeface="Calibri" pitchFamily="34" charset="-120"/>
              </a:rPr>
              <a:t>SPSS File Types</a:t>
            </a:r>
            <a:endParaRPr lang="en-US" sz="1400" dirty="0"/>
          </a:p>
        </p:txBody>
      </p:sp>
      <p:sp>
        <p:nvSpPr>
          <p:cNvPr id="5" name="Shape 3"/>
          <p:cNvSpPr/>
          <p:nvPr/>
        </p:nvSpPr>
        <p:spPr>
          <a:xfrm>
            <a:off x="365760" y="1261872"/>
            <a:ext cx="8412480" cy="457200"/>
          </a:xfrm>
          <a:prstGeom prst="roundRect">
            <a:avLst>
              <a:gd name="adj" fmla="val 12000"/>
            </a:avLst>
          </a:prstGeom>
          <a:solidFill>
            <a:srgbClr val="0D1F35"/>
          </a:solidFill>
          <a:ln w="6350">
            <a:solidFill>
              <a:srgbClr val="2E86C1"/>
            </a:solidFill>
            <a:prstDash val="solid"/>
          </a:ln>
        </p:spPr>
      </p:sp>
      <p:sp>
        <p:nvSpPr>
          <p:cNvPr id="6" name="Shape 4"/>
          <p:cNvSpPr/>
          <p:nvPr/>
        </p:nvSpPr>
        <p:spPr>
          <a:xfrm>
            <a:off x="457200" y="1335024"/>
            <a:ext cx="566928" cy="292608"/>
          </a:xfrm>
          <a:prstGeom prst="roundRect">
            <a:avLst>
              <a:gd name="adj" fmla="val 12500"/>
            </a:avLst>
          </a:prstGeom>
          <a:solidFill>
            <a:srgbClr val="1B5CA0"/>
          </a:solidFill>
          <a:ln w="12700">
            <a:solidFill>
              <a:srgbClr val="1B5CA0"/>
            </a:solidFill>
            <a:prstDash val="solid"/>
          </a:ln>
        </p:spPr>
      </p:sp>
      <p:sp>
        <p:nvSpPr>
          <p:cNvPr id="7" name="Text 5"/>
          <p:cNvSpPr/>
          <p:nvPr/>
        </p:nvSpPr>
        <p:spPr>
          <a:xfrm>
            <a:off x="457200" y="1335024"/>
            <a:ext cx="56692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.sav</a:t>
            </a:r>
            <a:endParaRPr lang="en-US" sz="900" dirty="0"/>
          </a:p>
        </p:txBody>
      </p:sp>
      <p:sp>
        <p:nvSpPr>
          <p:cNvPr id="8" name="Text 6"/>
          <p:cNvSpPr/>
          <p:nvPr/>
        </p:nvSpPr>
        <p:spPr>
          <a:xfrm>
            <a:off x="1097280" y="1335024"/>
            <a:ext cx="2011680" cy="274320"/>
          </a:xfrm>
          <a:prstGeom prst="rect">
            <a:avLst/>
          </a:prstGeom>
          <a:noFill/>
          <a:ln/>
        </p:spPr>
        <p:txBody>
          <a:bodyPr wrap="square" lIns="0" tIns="0" rIns="0" bIns="0" rtlCol="0" anchor="ctr"/>
          <a:lstStyle/>
          <a:p>
            <a:pPr indent="0" marL="0">
              <a:buNone/>
            </a:pPr>
            <a:r>
              <a:rPr lang="en-US" sz="1000" b="1" dirty="0">
                <a:solidFill>
                  <a:srgbClr val="F0C040"/>
                </a:solidFill>
                <a:latin typeface="Calibri" pitchFamily="34" charset="0"/>
                <a:ea typeface="Calibri" pitchFamily="34" charset="-122"/>
                <a:cs typeface="Calibri" pitchFamily="34" charset="-120"/>
              </a:rPr>
              <a:t>SPSS Data File</a:t>
            </a:r>
            <a:endParaRPr lang="en-US" sz="1000" dirty="0"/>
          </a:p>
        </p:txBody>
      </p:sp>
      <p:sp>
        <p:nvSpPr>
          <p:cNvPr id="9" name="Text 7"/>
          <p:cNvSpPr/>
          <p:nvPr/>
        </p:nvSpPr>
        <p:spPr>
          <a:xfrm>
            <a:off x="3154680" y="1353312"/>
            <a:ext cx="5532120" cy="256032"/>
          </a:xfrm>
          <a:prstGeom prst="rect">
            <a:avLst/>
          </a:prstGeom>
          <a:noFill/>
          <a:ln/>
        </p:spPr>
        <p:txBody>
          <a:bodyPr wrap="square" lIns="0" tIns="0" rIns="0" bIns="0" rtlCol="0" anchor="ctr"/>
          <a:lstStyle/>
          <a:p>
            <a:pPr indent="0" marL="0">
              <a:buNone/>
            </a:pPr>
            <a:r>
              <a:rPr lang="en-US" sz="950" dirty="0">
                <a:solidFill>
                  <a:srgbClr val="A8C8E8"/>
                </a:solidFill>
                <a:latin typeface="Calibri" pitchFamily="34" charset="0"/>
                <a:ea typeface="Calibri" pitchFamily="34" charset="-122"/>
                <a:cs typeface="Calibri" pitchFamily="34" charset="-120"/>
              </a:rPr>
              <a:t>Dataset with all variable definitions and data values. Your primary working file.</a:t>
            </a:r>
            <a:endParaRPr lang="en-US" sz="950" dirty="0"/>
          </a:p>
        </p:txBody>
      </p:sp>
      <p:sp>
        <p:nvSpPr>
          <p:cNvPr id="10" name="Shape 8"/>
          <p:cNvSpPr/>
          <p:nvPr/>
        </p:nvSpPr>
        <p:spPr>
          <a:xfrm>
            <a:off x="365760" y="1792224"/>
            <a:ext cx="8412480" cy="457200"/>
          </a:xfrm>
          <a:prstGeom prst="roundRect">
            <a:avLst>
              <a:gd name="adj" fmla="val 12000"/>
            </a:avLst>
          </a:prstGeom>
          <a:solidFill>
            <a:srgbClr val="0D1F35"/>
          </a:solidFill>
          <a:ln w="6350">
            <a:solidFill>
              <a:srgbClr val="2E86C1"/>
            </a:solidFill>
            <a:prstDash val="solid"/>
          </a:ln>
        </p:spPr>
      </p:sp>
      <p:sp>
        <p:nvSpPr>
          <p:cNvPr id="11" name="Shape 9"/>
          <p:cNvSpPr/>
          <p:nvPr/>
        </p:nvSpPr>
        <p:spPr>
          <a:xfrm>
            <a:off x="457200" y="1865376"/>
            <a:ext cx="566928" cy="292608"/>
          </a:xfrm>
          <a:prstGeom prst="roundRect">
            <a:avLst>
              <a:gd name="adj" fmla="val 12500"/>
            </a:avLst>
          </a:prstGeom>
          <a:solidFill>
            <a:srgbClr val="1B5CA0"/>
          </a:solidFill>
          <a:ln w="12700">
            <a:solidFill>
              <a:srgbClr val="1B5CA0"/>
            </a:solidFill>
            <a:prstDash val="solid"/>
          </a:ln>
        </p:spPr>
      </p:sp>
      <p:sp>
        <p:nvSpPr>
          <p:cNvPr id="12" name="Text 10"/>
          <p:cNvSpPr/>
          <p:nvPr/>
        </p:nvSpPr>
        <p:spPr>
          <a:xfrm>
            <a:off x="457200" y="1865376"/>
            <a:ext cx="56692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.spv</a:t>
            </a:r>
            <a:endParaRPr lang="en-US" sz="900" dirty="0"/>
          </a:p>
        </p:txBody>
      </p:sp>
      <p:sp>
        <p:nvSpPr>
          <p:cNvPr id="13" name="Text 11"/>
          <p:cNvSpPr/>
          <p:nvPr/>
        </p:nvSpPr>
        <p:spPr>
          <a:xfrm>
            <a:off x="1097280" y="1865376"/>
            <a:ext cx="2011680" cy="274320"/>
          </a:xfrm>
          <a:prstGeom prst="rect">
            <a:avLst/>
          </a:prstGeom>
          <a:noFill/>
          <a:ln/>
        </p:spPr>
        <p:txBody>
          <a:bodyPr wrap="square" lIns="0" tIns="0" rIns="0" bIns="0" rtlCol="0" anchor="ctr"/>
          <a:lstStyle/>
          <a:p>
            <a:pPr indent="0" marL="0">
              <a:buNone/>
            </a:pPr>
            <a:r>
              <a:rPr lang="en-US" sz="1000" b="1" dirty="0">
                <a:solidFill>
                  <a:srgbClr val="F0C040"/>
                </a:solidFill>
                <a:latin typeface="Calibri" pitchFamily="34" charset="0"/>
                <a:ea typeface="Calibri" pitchFamily="34" charset="-122"/>
                <a:cs typeface="Calibri" pitchFamily="34" charset="-120"/>
              </a:rPr>
              <a:t>SPSS Output File</a:t>
            </a:r>
            <a:endParaRPr lang="en-US" sz="1000" dirty="0"/>
          </a:p>
        </p:txBody>
      </p:sp>
      <p:sp>
        <p:nvSpPr>
          <p:cNvPr id="14" name="Text 12"/>
          <p:cNvSpPr/>
          <p:nvPr/>
        </p:nvSpPr>
        <p:spPr>
          <a:xfrm>
            <a:off x="3154680" y="1883664"/>
            <a:ext cx="5532120" cy="256032"/>
          </a:xfrm>
          <a:prstGeom prst="rect">
            <a:avLst/>
          </a:prstGeom>
          <a:noFill/>
          <a:ln/>
        </p:spPr>
        <p:txBody>
          <a:bodyPr wrap="square" lIns="0" tIns="0" rIns="0" bIns="0" rtlCol="0" anchor="ctr"/>
          <a:lstStyle/>
          <a:p>
            <a:pPr indent="0" marL="0">
              <a:buNone/>
            </a:pPr>
            <a:r>
              <a:rPr lang="en-US" sz="950" dirty="0">
                <a:solidFill>
                  <a:srgbClr val="A8C8E8"/>
                </a:solidFill>
                <a:latin typeface="Calibri" pitchFamily="34" charset="0"/>
                <a:ea typeface="Calibri" pitchFamily="34" charset="-122"/>
                <a:cs typeface="Calibri" pitchFamily="34" charset="-120"/>
              </a:rPr>
              <a:t>All statistical results, tables, and charts from analysis sessions.</a:t>
            </a:r>
            <a:endParaRPr lang="en-US" sz="950" dirty="0"/>
          </a:p>
        </p:txBody>
      </p:sp>
      <p:sp>
        <p:nvSpPr>
          <p:cNvPr id="15" name="Shape 13"/>
          <p:cNvSpPr/>
          <p:nvPr/>
        </p:nvSpPr>
        <p:spPr>
          <a:xfrm>
            <a:off x="365760" y="2322576"/>
            <a:ext cx="8412480" cy="457200"/>
          </a:xfrm>
          <a:prstGeom prst="roundRect">
            <a:avLst>
              <a:gd name="adj" fmla="val 12000"/>
            </a:avLst>
          </a:prstGeom>
          <a:solidFill>
            <a:srgbClr val="0D1F35"/>
          </a:solidFill>
          <a:ln w="6350">
            <a:solidFill>
              <a:srgbClr val="2E86C1"/>
            </a:solidFill>
            <a:prstDash val="solid"/>
          </a:ln>
        </p:spPr>
      </p:sp>
      <p:sp>
        <p:nvSpPr>
          <p:cNvPr id="16" name="Shape 14"/>
          <p:cNvSpPr/>
          <p:nvPr/>
        </p:nvSpPr>
        <p:spPr>
          <a:xfrm>
            <a:off x="457200" y="2395728"/>
            <a:ext cx="566928" cy="292608"/>
          </a:xfrm>
          <a:prstGeom prst="roundRect">
            <a:avLst>
              <a:gd name="adj" fmla="val 12500"/>
            </a:avLst>
          </a:prstGeom>
          <a:solidFill>
            <a:srgbClr val="1B5CA0"/>
          </a:solidFill>
          <a:ln w="12700">
            <a:solidFill>
              <a:srgbClr val="1B5CA0"/>
            </a:solidFill>
            <a:prstDash val="solid"/>
          </a:ln>
        </p:spPr>
      </p:sp>
      <p:sp>
        <p:nvSpPr>
          <p:cNvPr id="17" name="Text 15"/>
          <p:cNvSpPr/>
          <p:nvPr/>
        </p:nvSpPr>
        <p:spPr>
          <a:xfrm>
            <a:off x="457200" y="2395728"/>
            <a:ext cx="56692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.sps</a:t>
            </a:r>
            <a:endParaRPr lang="en-US" sz="900" dirty="0"/>
          </a:p>
        </p:txBody>
      </p:sp>
      <p:sp>
        <p:nvSpPr>
          <p:cNvPr id="18" name="Text 16"/>
          <p:cNvSpPr/>
          <p:nvPr/>
        </p:nvSpPr>
        <p:spPr>
          <a:xfrm>
            <a:off x="1097280" y="2395728"/>
            <a:ext cx="2011680" cy="274320"/>
          </a:xfrm>
          <a:prstGeom prst="rect">
            <a:avLst/>
          </a:prstGeom>
          <a:noFill/>
          <a:ln/>
        </p:spPr>
        <p:txBody>
          <a:bodyPr wrap="square" lIns="0" tIns="0" rIns="0" bIns="0" rtlCol="0" anchor="ctr"/>
          <a:lstStyle/>
          <a:p>
            <a:pPr indent="0" marL="0">
              <a:buNone/>
            </a:pPr>
            <a:r>
              <a:rPr lang="en-US" sz="1000" b="1" dirty="0">
                <a:solidFill>
                  <a:srgbClr val="F0C040"/>
                </a:solidFill>
                <a:latin typeface="Calibri" pitchFamily="34" charset="0"/>
                <a:ea typeface="Calibri" pitchFamily="34" charset="-122"/>
                <a:cs typeface="Calibri" pitchFamily="34" charset="-120"/>
              </a:rPr>
              <a:t>SPSS Syntax File</a:t>
            </a:r>
            <a:endParaRPr lang="en-US" sz="1000" dirty="0"/>
          </a:p>
        </p:txBody>
      </p:sp>
      <p:sp>
        <p:nvSpPr>
          <p:cNvPr id="19" name="Text 17"/>
          <p:cNvSpPr/>
          <p:nvPr/>
        </p:nvSpPr>
        <p:spPr>
          <a:xfrm>
            <a:off x="3154680" y="2414016"/>
            <a:ext cx="5532120" cy="256032"/>
          </a:xfrm>
          <a:prstGeom prst="rect">
            <a:avLst/>
          </a:prstGeom>
          <a:noFill/>
          <a:ln/>
        </p:spPr>
        <p:txBody>
          <a:bodyPr wrap="square" lIns="0" tIns="0" rIns="0" bIns="0" rtlCol="0" anchor="ctr"/>
          <a:lstStyle/>
          <a:p>
            <a:pPr indent="0" marL="0">
              <a:buNone/>
            </a:pPr>
            <a:r>
              <a:rPr lang="en-US" sz="950" dirty="0">
                <a:solidFill>
                  <a:srgbClr val="A8C8E8"/>
                </a:solidFill>
                <a:latin typeface="Calibri" pitchFamily="34" charset="0"/>
                <a:ea typeface="Calibri" pitchFamily="34" charset="-122"/>
                <a:cs typeface="Calibri" pitchFamily="34" charset="-120"/>
              </a:rPr>
              <a:t>Saved command syntax for repeating or documenting analysis.</a:t>
            </a:r>
            <a:endParaRPr lang="en-US" sz="950" dirty="0"/>
          </a:p>
        </p:txBody>
      </p:sp>
      <p:sp>
        <p:nvSpPr>
          <p:cNvPr id="20" name="Shape 18"/>
          <p:cNvSpPr/>
          <p:nvPr/>
        </p:nvSpPr>
        <p:spPr>
          <a:xfrm>
            <a:off x="365760" y="2852928"/>
            <a:ext cx="8412480" cy="457200"/>
          </a:xfrm>
          <a:prstGeom prst="roundRect">
            <a:avLst>
              <a:gd name="adj" fmla="val 12000"/>
            </a:avLst>
          </a:prstGeom>
          <a:solidFill>
            <a:srgbClr val="0D1F35"/>
          </a:solidFill>
          <a:ln w="6350">
            <a:solidFill>
              <a:srgbClr val="2E86C1"/>
            </a:solidFill>
            <a:prstDash val="solid"/>
          </a:ln>
        </p:spPr>
      </p:sp>
      <p:sp>
        <p:nvSpPr>
          <p:cNvPr id="21" name="Shape 19"/>
          <p:cNvSpPr/>
          <p:nvPr/>
        </p:nvSpPr>
        <p:spPr>
          <a:xfrm>
            <a:off x="457200" y="2926080"/>
            <a:ext cx="566928" cy="292608"/>
          </a:xfrm>
          <a:prstGeom prst="roundRect">
            <a:avLst>
              <a:gd name="adj" fmla="val 12500"/>
            </a:avLst>
          </a:prstGeom>
          <a:solidFill>
            <a:srgbClr val="1B5CA0"/>
          </a:solidFill>
          <a:ln w="12700">
            <a:solidFill>
              <a:srgbClr val="1B5CA0"/>
            </a:solidFill>
            <a:prstDash val="solid"/>
          </a:ln>
        </p:spPr>
      </p:sp>
      <p:sp>
        <p:nvSpPr>
          <p:cNvPr id="22" name="Text 20"/>
          <p:cNvSpPr/>
          <p:nvPr/>
        </p:nvSpPr>
        <p:spPr>
          <a:xfrm>
            <a:off x="457200" y="2926080"/>
            <a:ext cx="56692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.xlsx</a:t>
            </a:r>
            <a:endParaRPr lang="en-US" sz="900" dirty="0"/>
          </a:p>
        </p:txBody>
      </p:sp>
      <p:sp>
        <p:nvSpPr>
          <p:cNvPr id="23" name="Text 21"/>
          <p:cNvSpPr/>
          <p:nvPr/>
        </p:nvSpPr>
        <p:spPr>
          <a:xfrm>
            <a:off x="1097280" y="2926080"/>
            <a:ext cx="2011680" cy="274320"/>
          </a:xfrm>
          <a:prstGeom prst="rect">
            <a:avLst/>
          </a:prstGeom>
          <a:noFill/>
          <a:ln/>
        </p:spPr>
        <p:txBody>
          <a:bodyPr wrap="square" lIns="0" tIns="0" rIns="0" bIns="0" rtlCol="0" anchor="ctr"/>
          <a:lstStyle/>
          <a:p>
            <a:pPr indent="0" marL="0">
              <a:buNone/>
            </a:pPr>
            <a:r>
              <a:rPr lang="en-US" sz="1000" b="1" dirty="0">
                <a:solidFill>
                  <a:srgbClr val="F0C040"/>
                </a:solidFill>
                <a:latin typeface="Calibri" pitchFamily="34" charset="0"/>
                <a:ea typeface="Calibri" pitchFamily="34" charset="-122"/>
                <a:cs typeface="Calibri" pitchFamily="34" charset="-120"/>
              </a:rPr>
              <a:t>Excel File</a:t>
            </a:r>
            <a:endParaRPr lang="en-US" sz="1000" dirty="0"/>
          </a:p>
        </p:txBody>
      </p:sp>
      <p:sp>
        <p:nvSpPr>
          <p:cNvPr id="24" name="Text 22"/>
          <p:cNvSpPr/>
          <p:nvPr/>
        </p:nvSpPr>
        <p:spPr>
          <a:xfrm>
            <a:off x="3154680" y="2944368"/>
            <a:ext cx="5532120" cy="256032"/>
          </a:xfrm>
          <a:prstGeom prst="rect">
            <a:avLst/>
          </a:prstGeom>
          <a:noFill/>
          <a:ln/>
        </p:spPr>
        <p:txBody>
          <a:bodyPr wrap="square" lIns="0" tIns="0" rIns="0" bIns="0" rtlCol="0" anchor="ctr"/>
          <a:lstStyle/>
          <a:p>
            <a:pPr indent="0" marL="0">
              <a:buNone/>
            </a:pPr>
            <a:r>
              <a:rPr lang="en-US" sz="950" dirty="0">
                <a:solidFill>
                  <a:srgbClr val="A8C8E8"/>
                </a:solidFill>
                <a:latin typeface="Calibri" pitchFamily="34" charset="0"/>
                <a:ea typeface="Calibri" pitchFamily="34" charset="-122"/>
                <a:cs typeface="Calibri" pitchFamily="34" charset="-120"/>
              </a:rPr>
              <a:t>Import data from Excel or export SPSS output tables to Excel.</a:t>
            </a:r>
            <a:endParaRPr lang="en-US" sz="950" dirty="0"/>
          </a:p>
        </p:txBody>
      </p:sp>
      <p:sp>
        <p:nvSpPr>
          <p:cNvPr id="25" name="Shape 23"/>
          <p:cNvSpPr/>
          <p:nvPr/>
        </p:nvSpPr>
        <p:spPr>
          <a:xfrm>
            <a:off x="365760" y="3383280"/>
            <a:ext cx="8412480" cy="457200"/>
          </a:xfrm>
          <a:prstGeom prst="roundRect">
            <a:avLst>
              <a:gd name="adj" fmla="val 12000"/>
            </a:avLst>
          </a:prstGeom>
          <a:solidFill>
            <a:srgbClr val="0D1F35"/>
          </a:solidFill>
          <a:ln w="6350">
            <a:solidFill>
              <a:srgbClr val="2E86C1"/>
            </a:solidFill>
            <a:prstDash val="solid"/>
          </a:ln>
        </p:spPr>
      </p:sp>
      <p:sp>
        <p:nvSpPr>
          <p:cNvPr id="26" name="Shape 24"/>
          <p:cNvSpPr/>
          <p:nvPr/>
        </p:nvSpPr>
        <p:spPr>
          <a:xfrm>
            <a:off x="457200" y="3456432"/>
            <a:ext cx="566928" cy="292608"/>
          </a:xfrm>
          <a:prstGeom prst="roundRect">
            <a:avLst>
              <a:gd name="adj" fmla="val 12500"/>
            </a:avLst>
          </a:prstGeom>
          <a:solidFill>
            <a:srgbClr val="1B5CA0"/>
          </a:solidFill>
          <a:ln w="12700">
            <a:solidFill>
              <a:srgbClr val="1B5CA0"/>
            </a:solidFill>
            <a:prstDash val="solid"/>
          </a:ln>
        </p:spPr>
      </p:sp>
      <p:sp>
        <p:nvSpPr>
          <p:cNvPr id="27" name="Text 25"/>
          <p:cNvSpPr/>
          <p:nvPr/>
        </p:nvSpPr>
        <p:spPr>
          <a:xfrm>
            <a:off x="457200" y="3456432"/>
            <a:ext cx="566928"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.csv</a:t>
            </a:r>
            <a:endParaRPr lang="en-US" sz="900" dirty="0"/>
          </a:p>
        </p:txBody>
      </p:sp>
      <p:sp>
        <p:nvSpPr>
          <p:cNvPr id="28" name="Text 26"/>
          <p:cNvSpPr/>
          <p:nvPr/>
        </p:nvSpPr>
        <p:spPr>
          <a:xfrm>
            <a:off x="1097280" y="3456432"/>
            <a:ext cx="2011680" cy="274320"/>
          </a:xfrm>
          <a:prstGeom prst="rect">
            <a:avLst/>
          </a:prstGeom>
          <a:noFill/>
          <a:ln/>
        </p:spPr>
        <p:txBody>
          <a:bodyPr wrap="square" lIns="0" tIns="0" rIns="0" bIns="0" rtlCol="0" anchor="ctr"/>
          <a:lstStyle/>
          <a:p>
            <a:pPr indent="0" marL="0">
              <a:buNone/>
            </a:pPr>
            <a:r>
              <a:rPr lang="en-US" sz="1000" b="1" dirty="0">
                <a:solidFill>
                  <a:srgbClr val="F0C040"/>
                </a:solidFill>
                <a:latin typeface="Calibri" pitchFamily="34" charset="0"/>
                <a:ea typeface="Calibri" pitchFamily="34" charset="-122"/>
                <a:cs typeface="Calibri" pitchFamily="34" charset="-120"/>
              </a:rPr>
              <a:t>CSV / Text File</a:t>
            </a:r>
            <a:endParaRPr lang="en-US" sz="1000" dirty="0"/>
          </a:p>
        </p:txBody>
      </p:sp>
      <p:sp>
        <p:nvSpPr>
          <p:cNvPr id="29" name="Text 27"/>
          <p:cNvSpPr/>
          <p:nvPr/>
        </p:nvSpPr>
        <p:spPr>
          <a:xfrm>
            <a:off x="3154680" y="3474720"/>
            <a:ext cx="5532120" cy="256032"/>
          </a:xfrm>
          <a:prstGeom prst="rect">
            <a:avLst/>
          </a:prstGeom>
          <a:noFill/>
          <a:ln/>
        </p:spPr>
        <p:txBody>
          <a:bodyPr wrap="square" lIns="0" tIns="0" rIns="0" bIns="0" rtlCol="0" anchor="ctr"/>
          <a:lstStyle/>
          <a:p>
            <a:pPr indent="0" marL="0">
              <a:buNone/>
            </a:pPr>
            <a:r>
              <a:rPr lang="en-US" sz="950" dirty="0">
                <a:solidFill>
                  <a:srgbClr val="A8C8E8"/>
                </a:solidFill>
                <a:latin typeface="Calibri" pitchFamily="34" charset="0"/>
                <a:ea typeface="Calibri" pitchFamily="34" charset="-122"/>
                <a:cs typeface="Calibri" pitchFamily="34" charset="-120"/>
              </a:rPr>
              <a:t>Universal format from Google Forms, KoBoToolbox, SurveyMonkey exports.</a:t>
            </a:r>
            <a:endParaRPr lang="en-US" sz="950" dirty="0"/>
          </a:p>
        </p:txBody>
      </p:sp>
      <p:sp>
        <p:nvSpPr>
          <p:cNvPr id="30" name="Text 28"/>
          <p:cNvSpPr/>
          <p:nvPr/>
        </p:nvSpPr>
        <p:spPr>
          <a:xfrm>
            <a:off x="457200" y="4023360"/>
            <a:ext cx="4114800" cy="274320"/>
          </a:xfrm>
          <a:prstGeom prst="rect">
            <a:avLst/>
          </a:prstGeom>
          <a:noFill/>
          <a:ln/>
        </p:spPr>
        <p:txBody>
          <a:bodyPr wrap="square" lIns="0" tIns="0" rIns="0" bIns="0" rtlCol="0" anchor="ctr"/>
          <a:lstStyle/>
          <a:p>
            <a:pPr indent="0" marL="0">
              <a:buNone/>
            </a:pPr>
            <a:r>
              <a:rPr lang="en-US" sz="1300" b="1" dirty="0">
                <a:solidFill>
                  <a:srgbClr val="F0C040"/>
                </a:solidFill>
                <a:latin typeface="Calibri" pitchFamily="34" charset="0"/>
                <a:ea typeface="Calibri" pitchFamily="34" charset="-122"/>
                <a:cs typeface="Calibri" pitchFamily="34" charset="-120"/>
              </a:rPr>
              <a:t>Key Menu Functions</a:t>
            </a:r>
            <a:endParaRPr lang="en-US" sz="1300" dirty="0"/>
          </a:p>
        </p:txBody>
      </p:sp>
      <p:sp>
        <p:nvSpPr>
          <p:cNvPr id="31" name="Text 29"/>
          <p:cNvSpPr/>
          <p:nvPr/>
        </p:nvSpPr>
        <p:spPr>
          <a:xfrm>
            <a:off x="365760" y="4370832"/>
            <a:ext cx="4160520" cy="237744"/>
          </a:xfrm>
          <a:prstGeom prst="rect">
            <a:avLst/>
          </a:prstGeom>
          <a:noFill/>
          <a:ln/>
        </p:spPr>
        <p:txBody>
          <a:bodyPr wrap="square" lIns="0" tIns="0" rIns="0" bIns="0" rtlCol="0" anchor="ctr"/>
          <a:lstStyle/>
          <a:p>
            <a:pPr indent="0" marL="0">
              <a:buNone/>
            </a:pPr>
            <a:r>
              <a:rPr lang="en-US" sz="900" b="1" dirty="0">
                <a:solidFill>
                  <a:srgbClr val="F0C040"/>
                </a:solidFill>
                <a:latin typeface="Calibri" pitchFamily="34" charset="0"/>
                <a:ea typeface="Calibri" pitchFamily="34" charset="-122"/>
                <a:cs typeface="Calibri" pitchFamily="34" charset="-120"/>
              </a:rPr>
              <a:t>File &gt; Open Data</a:t>
            </a:r>
            <a:pPr indent="0" marL="0">
              <a:buNone/>
            </a:pPr>
            <a:r>
              <a:rPr lang="en-US" sz="900" dirty="0">
                <a:solidFill>
                  <a:srgbClr val="A8C8E8"/>
                </a:solidFill>
                <a:latin typeface="Calibri" pitchFamily="34" charset="0"/>
                <a:ea typeface="Calibri" pitchFamily="34" charset="-122"/>
                <a:cs typeface="Calibri" pitchFamily="34" charset="-120"/>
              </a:rPr>
              <a:t> - Open an existing .sav dataset</a:t>
            </a:r>
            <a:endParaRPr lang="en-US" sz="900" dirty="0"/>
          </a:p>
        </p:txBody>
      </p:sp>
      <p:sp>
        <p:nvSpPr>
          <p:cNvPr id="32" name="Text 30"/>
          <p:cNvSpPr/>
          <p:nvPr/>
        </p:nvSpPr>
        <p:spPr>
          <a:xfrm>
            <a:off x="4828032" y="4370832"/>
            <a:ext cx="4160520" cy="237744"/>
          </a:xfrm>
          <a:prstGeom prst="rect">
            <a:avLst/>
          </a:prstGeom>
          <a:noFill/>
          <a:ln/>
        </p:spPr>
        <p:txBody>
          <a:bodyPr wrap="square" lIns="0" tIns="0" rIns="0" bIns="0" rtlCol="0" anchor="ctr"/>
          <a:lstStyle/>
          <a:p>
            <a:pPr indent="0" marL="0">
              <a:buNone/>
            </a:pPr>
            <a:r>
              <a:rPr lang="en-US" sz="900" b="1" dirty="0">
                <a:solidFill>
                  <a:srgbClr val="F0C040"/>
                </a:solidFill>
                <a:latin typeface="Calibri" pitchFamily="34" charset="0"/>
                <a:ea typeface="Calibri" pitchFamily="34" charset="-122"/>
                <a:cs typeface="Calibri" pitchFamily="34" charset="-120"/>
              </a:rPr>
              <a:t>File &gt; Import Data &gt; Excel</a:t>
            </a:r>
            <a:pPr indent="0" marL="0">
              <a:buNone/>
            </a:pPr>
            <a:r>
              <a:rPr lang="en-US" sz="900" dirty="0">
                <a:solidFill>
                  <a:srgbClr val="A8C8E8"/>
                </a:solidFill>
                <a:latin typeface="Calibri" pitchFamily="34" charset="0"/>
                <a:ea typeface="Calibri" pitchFamily="34" charset="-122"/>
                <a:cs typeface="Calibri" pitchFamily="34" charset="-120"/>
              </a:rPr>
              <a:t> - Import from Excel spreadsheet</a:t>
            </a:r>
            <a:endParaRPr lang="en-US" sz="900" dirty="0"/>
          </a:p>
        </p:txBody>
      </p:sp>
      <p:sp>
        <p:nvSpPr>
          <p:cNvPr id="33" name="Text 31"/>
          <p:cNvSpPr/>
          <p:nvPr/>
        </p:nvSpPr>
        <p:spPr>
          <a:xfrm>
            <a:off x="365760" y="4645152"/>
            <a:ext cx="4160520" cy="237744"/>
          </a:xfrm>
          <a:prstGeom prst="rect">
            <a:avLst/>
          </a:prstGeom>
          <a:noFill/>
          <a:ln/>
        </p:spPr>
        <p:txBody>
          <a:bodyPr wrap="square" lIns="0" tIns="0" rIns="0" bIns="0" rtlCol="0" anchor="ctr"/>
          <a:lstStyle/>
          <a:p>
            <a:pPr indent="0" marL="0">
              <a:buNone/>
            </a:pPr>
            <a:r>
              <a:rPr lang="en-US" sz="900" b="1" dirty="0">
                <a:solidFill>
                  <a:srgbClr val="F0C040"/>
                </a:solidFill>
                <a:latin typeface="Calibri" pitchFamily="34" charset="0"/>
                <a:ea typeface="Calibri" pitchFamily="34" charset="-122"/>
                <a:cs typeface="Calibri" pitchFamily="34" charset="-120"/>
              </a:rPr>
              <a:t>File &gt; Save As</a:t>
            </a:r>
            <a:pPr indent="0" marL="0">
              <a:buNone/>
            </a:pPr>
            <a:r>
              <a:rPr lang="en-US" sz="900" dirty="0">
                <a:solidFill>
                  <a:srgbClr val="A8C8E8"/>
                </a:solidFill>
                <a:latin typeface="Calibri" pitchFamily="34" charset="0"/>
                <a:ea typeface="Calibri" pitchFamily="34" charset="-122"/>
                <a:cs typeface="Calibri" pitchFamily="34" charset="-120"/>
              </a:rPr>
              <a:t> - Save dataset with new name - always save before major changes</a:t>
            </a:r>
            <a:endParaRPr lang="en-US" sz="900" dirty="0"/>
          </a:p>
        </p:txBody>
      </p:sp>
      <p:sp>
        <p:nvSpPr>
          <p:cNvPr id="34" name="Text 32"/>
          <p:cNvSpPr/>
          <p:nvPr/>
        </p:nvSpPr>
        <p:spPr>
          <a:xfrm>
            <a:off x="4828032" y="4645152"/>
            <a:ext cx="4160520" cy="237744"/>
          </a:xfrm>
          <a:prstGeom prst="rect">
            <a:avLst/>
          </a:prstGeom>
          <a:noFill/>
          <a:ln/>
        </p:spPr>
        <p:txBody>
          <a:bodyPr wrap="square" lIns="0" tIns="0" rIns="0" bIns="0" rtlCol="0" anchor="ctr"/>
          <a:lstStyle/>
          <a:p>
            <a:pPr indent="0" marL="0">
              <a:buNone/>
            </a:pPr>
            <a:r>
              <a:rPr lang="en-US" sz="900" b="1" dirty="0">
                <a:solidFill>
                  <a:srgbClr val="F0C040"/>
                </a:solidFill>
                <a:latin typeface="Calibri" pitchFamily="34" charset="0"/>
                <a:ea typeface="Calibri" pitchFamily="34" charset="-122"/>
                <a:cs typeface="Calibri" pitchFamily="34" charset="-120"/>
              </a:rPr>
              <a:t>Edit &gt; Find</a:t>
            </a:r>
            <a:pPr indent="0" marL="0">
              <a:buNone/>
            </a:pPr>
            <a:r>
              <a:rPr lang="en-US" sz="900" dirty="0">
                <a:solidFill>
                  <a:srgbClr val="A8C8E8"/>
                </a:solidFill>
                <a:latin typeface="Calibri" pitchFamily="34" charset="0"/>
                <a:ea typeface="Calibri" pitchFamily="34" charset="-122"/>
                <a:cs typeface="Calibri" pitchFamily="34" charset="-120"/>
              </a:rPr>
              <a:t> - Search for specific values in Data View</a:t>
            </a:r>
            <a:endParaRPr lang="en-US" sz="900" dirty="0"/>
          </a:p>
        </p:txBody>
      </p:sp>
      <p:sp>
        <p:nvSpPr>
          <p:cNvPr id="35" name="Text 33"/>
          <p:cNvSpPr/>
          <p:nvPr/>
        </p:nvSpPr>
        <p:spPr>
          <a:xfrm>
            <a:off x="365760" y="4919472"/>
            <a:ext cx="4160520" cy="237744"/>
          </a:xfrm>
          <a:prstGeom prst="rect">
            <a:avLst/>
          </a:prstGeom>
          <a:noFill/>
          <a:ln/>
        </p:spPr>
        <p:txBody>
          <a:bodyPr wrap="square" lIns="0" tIns="0" rIns="0" bIns="0" rtlCol="0" anchor="ctr"/>
          <a:lstStyle/>
          <a:p>
            <a:pPr indent="0" marL="0">
              <a:buNone/>
            </a:pPr>
            <a:r>
              <a:rPr lang="en-US" sz="900" b="1" dirty="0">
                <a:solidFill>
                  <a:srgbClr val="F0C040"/>
                </a:solidFill>
                <a:latin typeface="Calibri" pitchFamily="34" charset="0"/>
                <a:ea typeface="Calibri" pitchFamily="34" charset="-122"/>
                <a:cs typeface="Calibri" pitchFamily="34" charset="-120"/>
              </a:rPr>
              <a:t>View &gt; Value Labels</a:t>
            </a:r>
            <a:pPr indent="0" marL="0">
              <a:buNone/>
            </a:pPr>
            <a:r>
              <a:rPr lang="en-US" sz="900" dirty="0">
                <a:solidFill>
                  <a:srgbClr val="A8C8E8"/>
                </a:solidFill>
                <a:latin typeface="Calibri" pitchFamily="34" charset="0"/>
                <a:ea typeface="Calibri" pitchFamily="34" charset="-122"/>
                <a:cs typeface="Calibri" pitchFamily="34" charset="-120"/>
              </a:rPr>
              <a:t> - Toggle between numeric codes (1) and labels (Male)</a:t>
            </a:r>
            <a:endParaRPr lang="en-US" sz="900" dirty="0"/>
          </a:p>
        </p:txBody>
      </p:sp>
      <p:sp>
        <p:nvSpPr>
          <p:cNvPr id="36" name="Text 34"/>
          <p:cNvSpPr/>
          <p:nvPr/>
        </p:nvSpPr>
        <p:spPr>
          <a:xfrm>
            <a:off x="4828032" y="4919472"/>
            <a:ext cx="4160520" cy="237744"/>
          </a:xfrm>
          <a:prstGeom prst="rect">
            <a:avLst/>
          </a:prstGeom>
          <a:noFill/>
          <a:ln/>
        </p:spPr>
        <p:txBody>
          <a:bodyPr wrap="square" lIns="0" tIns="0" rIns="0" bIns="0" rtlCol="0" anchor="ctr"/>
          <a:lstStyle/>
          <a:p>
            <a:pPr indent="0" marL="0">
              <a:buNone/>
            </a:pPr>
            <a:r>
              <a:rPr lang="en-US" sz="900" b="1" dirty="0">
                <a:solidFill>
                  <a:srgbClr val="F0C040"/>
                </a:solidFill>
                <a:latin typeface="Calibri" pitchFamily="34" charset="0"/>
                <a:ea typeface="Calibri" pitchFamily="34" charset="-122"/>
                <a:cs typeface="Calibri" pitchFamily="34" charset="-120"/>
              </a:rPr>
              <a:t>Data &gt; Sort Cases</a:t>
            </a:r>
            <a:pPr indent="0" marL="0">
              <a:buNone/>
            </a:pPr>
            <a:r>
              <a:rPr lang="en-US" sz="900" dirty="0">
                <a:solidFill>
                  <a:srgbClr val="A8C8E8"/>
                </a:solidFill>
                <a:latin typeface="Calibri" pitchFamily="34" charset="0"/>
                <a:ea typeface="Calibri" pitchFamily="34" charset="-122"/>
                <a:cs typeface="Calibri" pitchFamily="34" charset="-120"/>
              </a:rPr>
              <a:t> - Sort dataset by one or more variables</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6217920" y="-1371600"/>
            <a:ext cx="5029200" cy="5029200"/>
          </a:xfrm>
          <a:prstGeom prst="ellipse">
            <a:avLst/>
          </a:prstGeom>
          <a:solidFill>
            <a:srgbClr val="1B5CA0">
              <a:alpha val="18000"/>
            </a:srgbClr>
          </a:solidFill>
          <a:ln w="12700">
            <a:solidFill>
              <a:srgbClr val="1B5CA0"/>
            </a:solidFill>
            <a:prstDash val="solid"/>
          </a:ln>
        </p:spPr>
      </p:sp>
      <p:sp>
        <p:nvSpPr>
          <p:cNvPr id="3" name="Shape 1"/>
          <p:cNvSpPr/>
          <p:nvPr/>
        </p:nvSpPr>
        <p:spPr>
          <a:xfrm>
            <a:off x="-1097280" y="3200400"/>
            <a:ext cx="3657600" cy="3657600"/>
          </a:xfrm>
          <a:prstGeom prst="ellipse">
            <a:avLst/>
          </a:prstGeom>
          <a:solidFill>
            <a:srgbClr val="D4A017">
              <a:alpha val="12000"/>
            </a:srgbClr>
          </a:solidFill>
          <a:ln w="12700">
            <a:solidFill>
              <a:srgbClr val="D4A017"/>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7"/>
                </a:solidFill>
                <a:latin typeface="Calibri" pitchFamily="34" charset="0"/>
                <a:ea typeface="Calibri" pitchFamily="34" charset="-122"/>
                <a:cs typeface="Calibri" pitchFamily="34" charset="-120"/>
              </a:rPr>
              <a:t>MODULE 1  |  SECTION 10</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Output Management and SPSS Basics</a:t>
            </a:r>
            <a:endParaRPr lang="en-US" sz="42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A8C8E8"/>
                </a:solidFill>
                <a:latin typeface="Calibri" pitchFamily="34" charset="0"/>
                <a:ea typeface="Calibri" pitchFamily="34" charset="-122"/>
                <a:cs typeface="Calibri" pitchFamily="34" charset="-120"/>
              </a:rPr>
              <a:t>Navigating the Output Viewer, managing results, and your first steps in SPSS syntax</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562"/>
          </a:solidFill>
          <a:ln w="12700">
            <a:solidFill>
              <a:srgbClr val="1A3562"/>
            </a:solidFill>
            <a:prstDash val="solid"/>
          </a:ln>
        </p:spPr>
      </p:sp>
      <p:sp>
        <p:nvSpPr>
          <p:cNvPr id="3" name="Text 1"/>
          <p:cNvSpPr/>
          <p:nvPr/>
        </p:nvSpPr>
        <p:spPr>
          <a:xfrm>
            <a:off x="457200" y="109728"/>
            <a:ext cx="8229600" cy="713232"/>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Output Viewer - Managing and Exporting Your Results</a:t>
            </a:r>
            <a:endParaRPr lang="en-US" sz="2400" dirty="0"/>
          </a:p>
        </p:txBody>
      </p:sp>
      <p:sp>
        <p:nvSpPr>
          <p:cNvPr id="4" name="Shape 2"/>
          <p:cNvSpPr/>
          <p:nvPr/>
        </p:nvSpPr>
        <p:spPr>
          <a:xfrm>
            <a:off x="274320" y="1051560"/>
            <a:ext cx="4069080" cy="3950208"/>
          </a:xfrm>
          <a:prstGeom prst="roundRect">
            <a:avLst>
              <a:gd name="adj" fmla="val 2083"/>
            </a:avLst>
          </a:prstGeom>
          <a:solidFill>
            <a:srgbClr val="F0F6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47472" y="1115568"/>
            <a:ext cx="1078992" cy="3822192"/>
          </a:xfrm>
          <a:prstGeom prst="rect">
            <a:avLst/>
          </a:prstGeom>
          <a:solidFill>
            <a:srgbClr val="E8F0FA"/>
          </a:solidFill>
          <a:ln w="6350">
            <a:solidFill>
              <a:srgbClr val="C8D8F0"/>
            </a:solidFill>
            <a:prstDash val="solid"/>
          </a:ln>
        </p:spPr>
      </p:sp>
      <p:sp>
        <p:nvSpPr>
          <p:cNvPr id="6" name="Text 4"/>
          <p:cNvSpPr/>
          <p:nvPr/>
        </p:nvSpPr>
        <p:spPr>
          <a:xfrm>
            <a:off x="365760" y="1133856"/>
            <a:ext cx="1042416" cy="256032"/>
          </a:xfrm>
          <a:prstGeom prst="rect">
            <a:avLst/>
          </a:prstGeom>
          <a:noFill/>
          <a:ln/>
        </p:spPr>
        <p:txBody>
          <a:bodyPr wrap="square" lIns="0" tIns="0" rIns="0" bIns="0" rtlCol="0" anchor="ctr"/>
          <a:lstStyle/>
          <a:p>
            <a:pPr algn="ctr" indent="0" marL="0">
              <a:buNone/>
            </a:pPr>
            <a:r>
              <a:rPr lang="en-US" sz="850" b="1" dirty="0">
                <a:solidFill>
                  <a:srgbClr val="0F1E3C"/>
                </a:solidFill>
                <a:latin typeface="Calibri" pitchFamily="34" charset="0"/>
                <a:ea typeface="Calibri" pitchFamily="34" charset="-122"/>
                <a:cs typeface="Calibri" pitchFamily="34" charset="-120"/>
              </a:rPr>
              <a:t>Outline</a:t>
            </a:r>
            <a:endParaRPr lang="en-US" sz="850" dirty="0"/>
          </a:p>
        </p:txBody>
      </p:sp>
      <p:sp>
        <p:nvSpPr>
          <p:cNvPr id="7" name="Text 5"/>
          <p:cNvSpPr/>
          <p:nvPr/>
        </p:nvSpPr>
        <p:spPr>
          <a:xfrm>
            <a:off x="384048" y="1426464"/>
            <a:ext cx="1005840" cy="274320"/>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Output</a:t>
            </a:r>
            <a:endParaRPr lang="en-US" sz="800" dirty="0"/>
          </a:p>
        </p:txBody>
      </p:sp>
      <p:sp>
        <p:nvSpPr>
          <p:cNvPr id="8" name="Text 6"/>
          <p:cNvSpPr/>
          <p:nvPr/>
        </p:nvSpPr>
        <p:spPr>
          <a:xfrm>
            <a:off x="384048" y="1755648"/>
            <a:ext cx="1005840" cy="274320"/>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 Frequencies</a:t>
            </a:r>
            <a:endParaRPr lang="en-US" sz="800" dirty="0"/>
          </a:p>
        </p:txBody>
      </p:sp>
      <p:sp>
        <p:nvSpPr>
          <p:cNvPr id="9" name="Text 7"/>
          <p:cNvSpPr/>
          <p:nvPr/>
        </p:nvSpPr>
        <p:spPr>
          <a:xfrm>
            <a:off x="384048" y="2084832"/>
            <a:ext cx="1005840" cy="274320"/>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  Notes</a:t>
            </a:r>
            <a:endParaRPr lang="en-US" sz="800" dirty="0"/>
          </a:p>
        </p:txBody>
      </p:sp>
      <p:sp>
        <p:nvSpPr>
          <p:cNvPr id="10" name="Text 8"/>
          <p:cNvSpPr/>
          <p:nvPr/>
        </p:nvSpPr>
        <p:spPr>
          <a:xfrm>
            <a:off x="384048" y="2414016"/>
            <a:ext cx="1005840" cy="274320"/>
          </a:xfrm>
          <a:prstGeom prst="rect">
            <a:avLst/>
          </a:prstGeom>
          <a:noFill/>
          <a:ln/>
        </p:spPr>
        <p:txBody>
          <a:bodyPr wrap="square" lIns="0" tIns="0" rIns="0" bIns="0" rtlCol="0" anchor="ctr"/>
          <a:lstStyle/>
          <a:p>
            <a:pPr indent="0" marL="0">
              <a:buNone/>
            </a:pPr>
            <a:r>
              <a:rPr lang="en-US" sz="800" b="1" dirty="0">
                <a:solidFill>
                  <a:srgbClr val="2E86C1"/>
                </a:solidFill>
                <a:latin typeface="Calibri" pitchFamily="34" charset="0"/>
                <a:ea typeface="Calibri" pitchFamily="34" charset="-122"/>
                <a:cs typeface="Calibri" pitchFamily="34" charset="-120"/>
              </a:rPr>
              <a:t>  Statistics</a:t>
            </a:r>
            <a:endParaRPr lang="en-US" sz="800" dirty="0"/>
          </a:p>
        </p:txBody>
      </p:sp>
      <p:sp>
        <p:nvSpPr>
          <p:cNvPr id="11" name="Text 9"/>
          <p:cNvSpPr/>
          <p:nvPr/>
        </p:nvSpPr>
        <p:spPr>
          <a:xfrm>
            <a:off x="384048" y="2743200"/>
            <a:ext cx="1005840" cy="274320"/>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  Gender</a:t>
            </a:r>
            <a:endParaRPr lang="en-US" sz="800" dirty="0"/>
          </a:p>
        </p:txBody>
      </p:sp>
      <p:sp>
        <p:nvSpPr>
          <p:cNvPr id="12" name="Text 10"/>
          <p:cNvSpPr/>
          <p:nvPr/>
        </p:nvSpPr>
        <p:spPr>
          <a:xfrm>
            <a:off x="384048" y="3072384"/>
            <a:ext cx="1005840" cy="274320"/>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  UAC Product</a:t>
            </a:r>
            <a:endParaRPr lang="en-US" sz="800" dirty="0"/>
          </a:p>
        </p:txBody>
      </p:sp>
      <p:sp>
        <p:nvSpPr>
          <p:cNvPr id="13" name="Text 11"/>
          <p:cNvSpPr/>
          <p:nvPr/>
        </p:nvSpPr>
        <p:spPr>
          <a:xfrm>
            <a:off x="384048" y="3401568"/>
            <a:ext cx="1005840" cy="274320"/>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 T-Test</a:t>
            </a:r>
            <a:endParaRPr lang="en-US" sz="800" dirty="0"/>
          </a:p>
        </p:txBody>
      </p:sp>
      <p:sp>
        <p:nvSpPr>
          <p:cNvPr id="14" name="Text 12"/>
          <p:cNvSpPr/>
          <p:nvPr/>
        </p:nvSpPr>
        <p:spPr>
          <a:xfrm>
            <a:off x="384048" y="3730752"/>
            <a:ext cx="1005840" cy="274320"/>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  Notes</a:t>
            </a:r>
            <a:endParaRPr lang="en-US" sz="800" dirty="0"/>
          </a:p>
        </p:txBody>
      </p:sp>
      <p:sp>
        <p:nvSpPr>
          <p:cNvPr id="15" name="Text 13"/>
          <p:cNvSpPr/>
          <p:nvPr/>
        </p:nvSpPr>
        <p:spPr>
          <a:xfrm>
            <a:off x="384048" y="4059936"/>
            <a:ext cx="1005840" cy="274320"/>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  Group Stats</a:t>
            </a:r>
            <a:endParaRPr lang="en-US" sz="800" dirty="0"/>
          </a:p>
        </p:txBody>
      </p:sp>
      <p:sp>
        <p:nvSpPr>
          <p:cNvPr id="16" name="Text 14"/>
          <p:cNvSpPr/>
          <p:nvPr/>
        </p:nvSpPr>
        <p:spPr>
          <a:xfrm>
            <a:off x="384048" y="4389120"/>
            <a:ext cx="1005840" cy="274320"/>
          </a:xfrm>
          <a:prstGeom prst="rect">
            <a:avLst/>
          </a:prstGeom>
          <a:noFill/>
          <a:ln/>
        </p:spPr>
        <p:txBody>
          <a:bodyPr wrap="square" lIns="0" tIns="0" rIns="0" bIns="0" rtlCol="0" anchor="ctr"/>
          <a:lstStyle/>
          <a:p>
            <a:pPr indent="0" marL="0">
              <a:buNone/>
            </a:pPr>
            <a:r>
              <a:rPr lang="en-US" sz="800" dirty="0">
                <a:solidFill>
                  <a:srgbClr val="2C3E50"/>
                </a:solidFill>
                <a:latin typeface="Calibri" pitchFamily="34" charset="0"/>
                <a:ea typeface="Calibri" pitchFamily="34" charset="-122"/>
                <a:cs typeface="Calibri" pitchFamily="34" charset="-120"/>
              </a:rPr>
              <a:t>  Results</a:t>
            </a:r>
            <a:endParaRPr lang="en-US" sz="800" dirty="0"/>
          </a:p>
        </p:txBody>
      </p:sp>
      <p:sp>
        <p:nvSpPr>
          <p:cNvPr id="17" name="Shape 15"/>
          <p:cNvSpPr/>
          <p:nvPr/>
        </p:nvSpPr>
        <p:spPr>
          <a:xfrm>
            <a:off x="1481328" y="1115568"/>
            <a:ext cx="2798064" cy="3822192"/>
          </a:xfrm>
          <a:prstGeom prst="rect">
            <a:avLst/>
          </a:prstGeom>
          <a:solidFill>
            <a:srgbClr val="FFFFFF"/>
          </a:solidFill>
          <a:ln w="6350">
            <a:solidFill>
              <a:srgbClr val="D0D8E8"/>
            </a:solidFill>
            <a:prstDash val="solid"/>
          </a:ln>
        </p:spPr>
      </p:sp>
      <p:sp>
        <p:nvSpPr>
          <p:cNvPr id="18" name="Text 16"/>
          <p:cNvSpPr/>
          <p:nvPr/>
        </p:nvSpPr>
        <p:spPr>
          <a:xfrm>
            <a:off x="1554480" y="1188720"/>
            <a:ext cx="2651760" cy="228600"/>
          </a:xfrm>
          <a:prstGeom prst="rect">
            <a:avLst/>
          </a:prstGeom>
          <a:noFill/>
          <a:ln/>
        </p:spPr>
        <p:txBody>
          <a:bodyPr wrap="square" lIns="0" tIns="0" rIns="0" bIns="0" rtlCol="0" anchor="ctr"/>
          <a:lstStyle/>
          <a:p>
            <a:pPr algn="ctr" indent="0" marL="0">
              <a:buNone/>
            </a:pPr>
            <a:r>
              <a:rPr lang="en-US" sz="1000" b="1" dirty="0">
                <a:solidFill>
                  <a:srgbClr val="0F1E3C"/>
                </a:solidFill>
                <a:latin typeface="Calibri" pitchFamily="34" charset="0"/>
                <a:ea typeface="Calibri" pitchFamily="34" charset="-122"/>
                <a:cs typeface="Calibri" pitchFamily="34" charset="-120"/>
              </a:rPr>
              <a:t>Statistics</a:t>
            </a:r>
            <a:endParaRPr lang="en-US" sz="1000" dirty="0"/>
          </a:p>
        </p:txBody>
      </p:sp>
      <p:sp>
        <p:nvSpPr>
          <p:cNvPr id="19" name="Shape 17"/>
          <p:cNvSpPr/>
          <p:nvPr/>
        </p:nvSpPr>
        <p:spPr>
          <a:xfrm>
            <a:off x="1536192" y="1463040"/>
            <a:ext cx="512064" cy="347472"/>
          </a:xfrm>
          <a:prstGeom prst="rect">
            <a:avLst/>
          </a:prstGeom>
          <a:solidFill>
            <a:srgbClr val="0F1E3C"/>
          </a:solidFill>
          <a:ln w="6350">
            <a:solidFill>
              <a:srgbClr val="D0D8E8"/>
            </a:solidFill>
            <a:prstDash val="solid"/>
          </a:ln>
        </p:spPr>
      </p:sp>
      <p:sp>
        <p:nvSpPr>
          <p:cNvPr id="20" name="Text 18"/>
          <p:cNvSpPr/>
          <p:nvPr/>
        </p:nvSpPr>
        <p:spPr>
          <a:xfrm>
            <a:off x="1536192" y="1463040"/>
            <a:ext cx="512064" cy="347472"/>
          </a:xfrm>
          <a:prstGeom prst="rect">
            <a:avLst/>
          </a:prstGeom>
          <a:noFill/>
          <a:ln/>
        </p:spPr>
        <p:txBody>
          <a:bodyPr wrap="square" lIns="0" tIns="0" rIns="0" bIns="0" rtlCol="0" anchor="ctr"/>
          <a:lstStyle/>
          <a:p>
            <a:pPr algn="ctr" indent="0" marL="0">
              <a:buNone/>
            </a:pPr>
            <a:endParaRPr lang="en-US" sz="750" dirty="0"/>
          </a:p>
        </p:txBody>
      </p:sp>
      <p:sp>
        <p:nvSpPr>
          <p:cNvPr id="21" name="Shape 19"/>
          <p:cNvSpPr/>
          <p:nvPr/>
        </p:nvSpPr>
        <p:spPr>
          <a:xfrm>
            <a:off x="2066544" y="1463040"/>
            <a:ext cx="512064" cy="347472"/>
          </a:xfrm>
          <a:prstGeom prst="rect">
            <a:avLst/>
          </a:prstGeom>
          <a:solidFill>
            <a:srgbClr val="0F1E3C"/>
          </a:solidFill>
          <a:ln w="6350">
            <a:solidFill>
              <a:srgbClr val="D0D8E8"/>
            </a:solidFill>
            <a:prstDash val="solid"/>
          </a:ln>
        </p:spPr>
      </p:sp>
      <p:sp>
        <p:nvSpPr>
          <p:cNvPr id="22" name="Text 20"/>
          <p:cNvSpPr/>
          <p:nvPr/>
        </p:nvSpPr>
        <p:spPr>
          <a:xfrm>
            <a:off x="2066544" y="1463040"/>
            <a:ext cx="512064" cy="34747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N Valid</a:t>
            </a:r>
            <a:endParaRPr lang="en-US" sz="750" dirty="0"/>
          </a:p>
        </p:txBody>
      </p:sp>
      <p:sp>
        <p:nvSpPr>
          <p:cNvPr id="23" name="Shape 21"/>
          <p:cNvSpPr/>
          <p:nvPr/>
        </p:nvSpPr>
        <p:spPr>
          <a:xfrm>
            <a:off x="2596896" y="1463040"/>
            <a:ext cx="512064" cy="347472"/>
          </a:xfrm>
          <a:prstGeom prst="rect">
            <a:avLst/>
          </a:prstGeom>
          <a:solidFill>
            <a:srgbClr val="0F1E3C"/>
          </a:solidFill>
          <a:ln w="6350">
            <a:solidFill>
              <a:srgbClr val="D0D8E8"/>
            </a:solidFill>
            <a:prstDash val="solid"/>
          </a:ln>
        </p:spPr>
      </p:sp>
      <p:sp>
        <p:nvSpPr>
          <p:cNvPr id="24" name="Text 22"/>
          <p:cNvSpPr/>
          <p:nvPr/>
        </p:nvSpPr>
        <p:spPr>
          <a:xfrm>
            <a:off x="2596896" y="1463040"/>
            <a:ext cx="512064" cy="34747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N Missing</a:t>
            </a:r>
            <a:endParaRPr lang="en-US" sz="750" dirty="0"/>
          </a:p>
        </p:txBody>
      </p:sp>
      <p:sp>
        <p:nvSpPr>
          <p:cNvPr id="25" name="Shape 23"/>
          <p:cNvSpPr/>
          <p:nvPr/>
        </p:nvSpPr>
        <p:spPr>
          <a:xfrm>
            <a:off x="3127248" y="1463040"/>
            <a:ext cx="512064" cy="347472"/>
          </a:xfrm>
          <a:prstGeom prst="rect">
            <a:avLst/>
          </a:prstGeom>
          <a:solidFill>
            <a:srgbClr val="0F1E3C"/>
          </a:solidFill>
          <a:ln w="6350">
            <a:solidFill>
              <a:srgbClr val="D0D8E8"/>
            </a:solidFill>
            <a:prstDash val="solid"/>
          </a:ln>
        </p:spPr>
      </p:sp>
      <p:sp>
        <p:nvSpPr>
          <p:cNvPr id="26" name="Text 24"/>
          <p:cNvSpPr/>
          <p:nvPr/>
        </p:nvSpPr>
        <p:spPr>
          <a:xfrm>
            <a:off x="3127248" y="1463040"/>
            <a:ext cx="512064" cy="34747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Mean</a:t>
            </a:r>
            <a:endParaRPr lang="en-US" sz="750" dirty="0"/>
          </a:p>
        </p:txBody>
      </p:sp>
      <p:sp>
        <p:nvSpPr>
          <p:cNvPr id="27" name="Shape 25"/>
          <p:cNvSpPr/>
          <p:nvPr/>
        </p:nvSpPr>
        <p:spPr>
          <a:xfrm>
            <a:off x="3657600" y="1463040"/>
            <a:ext cx="512064" cy="347472"/>
          </a:xfrm>
          <a:prstGeom prst="rect">
            <a:avLst/>
          </a:prstGeom>
          <a:solidFill>
            <a:srgbClr val="0F1E3C"/>
          </a:solidFill>
          <a:ln w="6350">
            <a:solidFill>
              <a:srgbClr val="D0D8E8"/>
            </a:solidFill>
            <a:prstDash val="solid"/>
          </a:ln>
        </p:spPr>
      </p:sp>
      <p:sp>
        <p:nvSpPr>
          <p:cNvPr id="28" name="Text 26"/>
          <p:cNvSpPr/>
          <p:nvPr/>
        </p:nvSpPr>
        <p:spPr>
          <a:xfrm>
            <a:off x="3657600" y="1463040"/>
            <a:ext cx="512064" cy="34747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Std Dev</a:t>
            </a:r>
            <a:endParaRPr lang="en-US" sz="750" dirty="0"/>
          </a:p>
        </p:txBody>
      </p:sp>
      <p:sp>
        <p:nvSpPr>
          <p:cNvPr id="29" name="Shape 27"/>
          <p:cNvSpPr/>
          <p:nvPr/>
        </p:nvSpPr>
        <p:spPr>
          <a:xfrm>
            <a:off x="1536192" y="1828800"/>
            <a:ext cx="512064" cy="347472"/>
          </a:xfrm>
          <a:prstGeom prst="rect">
            <a:avLst/>
          </a:prstGeom>
          <a:solidFill>
            <a:srgbClr val="FFFFFF"/>
          </a:solidFill>
          <a:ln w="6350">
            <a:solidFill>
              <a:srgbClr val="D0D8E8"/>
            </a:solidFill>
            <a:prstDash val="solid"/>
          </a:ln>
        </p:spPr>
      </p:sp>
      <p:sp>
        <p:nvSpPr>
          <p:cNvPr id="30" name="Text 28"/>
          <p:cNvSpPr/>
          <p:nvPr/>
        </p:nvSpPr>
        <p:spPr>
          <a:xfrm>
            <a:off x="1536192" y="1828800"/>
            <a:ext cx="512064" cy="347472"/>
          </a:xfrm>
          <a:prstGeom prst="rect">
            <a:avLst/>
          </a:prstGeom>
          <a:noFill/>
          <a:ln/>
        </p:spPr>
        <p:txBody>
          <a:bodyPr wrap="square" lIns="0" tIns="0" rIns="0" bIns="0" rtlCol="0" anchor="ctr"/>
          <a:lstStyle/>
          <a:p>
            <a:pPr algn="ctr" indent="0" marL="0">
              <a:buNone/>
            </a:pPr>
            <a:r>
              <a:rPr lang="en-US" sz="750" dirty="0">
                <a:solidFill>
                  <a:srgbClr val="2C3E50"/>
                </a:solidFill>
                <a:latin typeface="Calibri" pitchFamily="34" charset="0"/>
                <a:ea typeface="Calibri" pitchFamily="34" charset="-122"/>
                <a:cs typeface="Calibri" pitchFamily="34" charset="-120"/>
              </a:rPr>
              <a:t>Age</a:t>
            </a:r>
            <a:endParaRPr lang="en-US" sz="750" dirty="0"/>
          </a:p>
        </p:txBody>
      </p:sp>
      <p:sp>
        <p:nvSpPr>
          <p:cNvPr id="31" name="Shape 29"/>
          <p:cNvSpPr/>
          <p:nvPr/>
        </p:nvSpPr>
        <p:spPr>
          <a:xfrm>
            <a:off x="2066544" y="1828800"/>
            <a:ext cx="512064" cy="347472"/>
          </a:xfrm>
          <a:prstGeom prst="rect">
            <a:avLst/>
          </a:prstGeom>
          <a:solidFill>
            <a:srgbClr val="FFFFFF"/>
          </a:solidFill>
          <a:ln w="6350">
            <a:solidFill>
              <a:srgbClr val="D0D8E8"/>
            </a:solidFill>
            <a:prstDash val="solid"/>
          </a:ln>
        </p:spPr>
      </p:sp>
      <p:sp>
        <p:nvSpPr>
          <p:cNvPr id="32" name="Text 30"/>
          <p:cNvSpPr/>
          <p:nvPr/>
        </p:nvSpPr>
        <p:spPr>
          <a:xfrm>
            <a:off x="2066544" y="1828800"/>
            <a:ext cx="512064" cy="347472"/>
          </a:xfrm>
          <a:prstGeom prst="rect">
            <a:avLst/>
          </a:prstGeom>
          <a:noFill/>
          <a:ln/>
        </p:spPr>
        <p:txBody>
          <a:bodyPr wrap="square" lIns="0" tIns="0" rIns="0" bIns="0" rtlCol="0" anchor="ctr"/>
          <a:lstStyle/>
          <a:p>
            <a:pPr algn="ctr" indent="0" marL="0">
              <a:buNone/>
            </a:pPr>
            <a:r>
              <a:rPr lang="en-US" sz="750" dirty="0">
                <a:solidFill>
                  <a:srgbClr val="2C3E50"/>
                </a:solidFill>
                <a:latin typeface="Calibri" pitchFamily="34" charset="0"/>
                <a:ea typeface="Calibri" pitchFamily="34" charset="-122"/>
                <a:cs typeface="Calibri" pitchFamily="34" charset="-120"/>
              </a:rPr>
              <a:t>298</a:t>
            </a:r>
            <a:endParaRPr lang="en-US" sz="750" dirty="0"/>
          </a:p>
        </p:txBody>
      </p:sp>
      <p:sp>
        <p:nvSpPr>
          <p:cNvPr id="33" name="Shape 31"/>
          <p:cNvSpPr/>
          <p:nvPr/>
        </p:nvSpPr>
        <p:spPr>
          <a:xfrm>
            <a:off x="2596896" y="1828800"/>
            <a:ext cx="512064" cy="347472"/>
          </a:xfrm>
          <a:prstGeom prst="rect">
            <a:avLst/>
          </a:prstGeom>
          <a:solidFill>
            <a:srgbClr val="FFFFFF"/>
          </a:solidFill>
          <a:ln w="6350">
            <a:solidFill>
              <a:srgbClr val="D0D8E8"/>
            </a:solidFill>
            <a:prstDash val="solid"/>
          </a:ln>
        </p:spPr>
      </p:sp>
      <p:sp>
        <p:nvSpPr>
          <p:cNvPr id="34" name="Text 32"/>
          <p:cNvSpPr/>
          <p:nvPr/>
        </p:nvSpPr>
        <p:spPr>
          <a:xfrm>
            <a:off x="2596896" y="1828800"/>
            <a:ext cx="512064" cy="347472"/>
          </a:xfrm>
          <a:prstGeom prst="rect">
            <a:avLst/>
          </a:prstGeom>
          <a:noFill/>
          <a:ln/>
        </p:spPr>
        <p:txBody>
          <a:bodyPr wrap="square" lIns="0" tIns="0" rIns="0" bIns="0" rtlCol="0" anchor="ctr"/>
          <a:lstStyle/>
          <a:p>
            <a:pPr algn="ctr" indent="0" marL="0">
              <a:buNone/>
            </a:pPr>
            <a:r>
              <a:rPr lang="en-US" sz="750" dirty="0">
                <a:solidFill>
                  <a:srgbClr val="2C3E50"/>
                </a:solidFill>
                <a:latin typeface="Calibri" pitchFamily="34" charset="0"/>
                <a:ea typeface="Calibri" pitchFamily="34" charset="-122"/>
                <a:cs typeface="Calibri" pitchFamily="34" charset="-120"/>
              </a:rPr>
              <a:t>2</a:t>
            </a:r>
            <a:endParaRPr lang="en-US" sz="750" dirty="0"/>
          </a:p>
        </p:txBody>
      </p:sp>
      <p:sp>
        <p:nvSpPr>
          <p:cNvPr id="35" name="Shape 33"/>
          <p:cNvSpPr/>
          <p:nvPr/>
        </p:nvSpPr>
        <p:spPr>
          <a:xfrm>
            <a:off x="3127248" y="1828800"/>
            <a:ext cx="512064" cy="347472"/>
          </a:xfrm>
          <a:prstGeom prst="rect">
            <a:avLst/>
          </a:prstGeom>
          <a:solidFill>
            <a:srgbClr val="FFFFFF"/>
          </a:solidFill>
          <a:ln w="6350">
            <a:solidFill>
              <a:srgbClr val="D0D8E8"/>
            </a:solidFill>
            <a:prstDash val="solid"/>
          </a:ln>
        </p:spPr>
      </p:sp>
      <p:sp>
        <p:nvSpPr>
          <p:cNvPr id="36" name="Text 34"/>
          <p:cNvSpPr/>
          <p:nvPr/>
        </p:nvSpPr>
        <p:spPr>
          <a:xfrm>
            <a:off x="3127248" y="1828800"/>
            <a:ext cx="512064" cy="347472"/>
          </a:xfrm>
          <a:prstGeom prst="rect">
            <a:avLst/>
          </a:prstGeom>
          <a:noFill/>
          <a:ln/>
        </p:spPr>
        <p:txBody>
          <a:bodyPr wrap="square" lIns="0" tIns="0" rIns="0" bIns="0" rtlCol="0" anchor="ctr"/>
          <a:lstStyle/>
          <a:p>
            <a:pPr algn="ctr" indent="0" marL="0">
              <a:buNone/>
            </a:pPr>
            <a:r>
              <a:rPr lang="en-US" sz="750" dirty="0">
                <a:solidFill>
                  <a:srgbClr val="2C3E50"/>
                </a:solidFill>
                <a:latin typeface="Calibri" pitchFamily="34" charset="0"/>
                <a:ea typeface="Calibri" pitchFamily="34" charset="-122"/>
                <a:cs typeface="Calibri" pitchFamily="34" charset="-120"/>
              </a:rPr>
              <a:t>35.4</a:t>
            </a:r>
            <a:endParaRPr lang="en-US" sz="750" dirty="0"/>
          </a:p>
        </p:txBody>
      </p:sp>
      <p:sp>
        <p:nvSpPr>
          <p:cNvPr id="37" name="Shape 35"/>
          <p:cNvSpPr/>
          <p:nvPr/>
        </p:nvSpPr>
        <p:spPr>
          <a:xfrm>
            <a:off x="3657600" y="1828800"/>
            <a:ext cx="512064" cy="347472"/>
          </a:xfrm>
          <a:prstGeom prst="rect">
            <a:avLst/>
          </a:prstGeom>
          <a:solidFill>
            <a:srgbClr val="FFFFFF"/>
          </a:solidFill>
          <a:ln w="6350">
            <a:solidFill>
              <a:srgbClr val="D0D8E8"/>
            </a:solidFill>
            <a:prstDash val="solid"/>
          </a:ln>
        </p:spPr>
      </p:sp>
      <p:sp>
        <p:nvSpPr>
          <p:cNvPr id="38" name="Text 36"/>
          <p:cNvSpPr/>
          <p:nvPr/>
        </p:nvSpPr>
        <p:spPr>
          <a:xfrm>
            <a:off x="3657600" y="1828800"/>
            <a:ext cx="512064" cy="347472"/>
          </a:xfrm>
          <a:prstGeom prst="rect">
            <a:avLst/>
          </a:prstGeom>
          <a:noFill/>
          <a:ln/>
        </p:spPr>
        <p:txBody>
          <a:bodyPr wrap="square" lIns="0" tIns="0" rIns="0" bIns="0" rtlCol="0" anchor="ctr"/>
          <a:lstStyle/>
          <a:p>
            <a:pPr algn="ctr" indent="0" marL="0">
              <a:buNone/>
            </a:pPr>
            <a:r>
              <a:rPr lang="en-US" sz="750" dirty="0">
                <a:solidFill>
                  <a:srgbClr val="2C3E50"/>
                </a:solidFill>
                <a:latin typeface="Calibri" pitchFamily="34" charset="0"/>
                <a:ea typeface="Calibri" pitchFamily="34" charset="-122"/>
                <a:cs typeface="Calibri" pitchFamily="34" charset="-120"/>
              </a:rPr>
              <a:t>9.2</a:t>
            </a:r>
            <a:endParaRPr lang="en-US" sz="750" dirty="0"/>
          </a:p>
        </p:txBody>
      </p:sp>
      <p:sp>
        <p:nvSpPr>
          <p:cNvPr id="39" name="Shape 37"/>
          <p:cNvSpPr/>
          <p:nvPr/>
        </p:nvSpPr>
        <p:spPr>
          <a:xfrm>
            <a:off x="1536192" y="2194560"/>
            <a:ext cx="512064" cy="347472"/>
          </a:xfrm>
          <a:prstGeom prst="rect">
            <a:avLst/>
          </a:prstGeom>
          <a:solidFill>
            <a:srgbClr val="F2F8FF"/>
          </a:solidFill>
          <a:ln w="6350">
            <a:solidFill>
              <a:srgbClr val="D0D8E8"/>
            </a:solidFill>
            <a:prstDash val="solid"/>
          </a:ln>
        </p:spPr>
      </p:sp>
      <p:sp>
        <p:nvSpPr>
          <p:cNvPr id="40" name="Text 38"/>
          <p:cNvSpPr/>
          <p:nvPr/>
        </p:nvSpPr>
        <p:spPr>
          <a:xfrm>
            <a:off x="1536192" y="2194560"/>
            <a:ext cx="512064" cy="347472"/>
          </a:xfrm>
          <a:prstGeom prst="rect">
            <a:avLst/>
          </a:prstGeom>
          <a:noFill/>
          <a:ln/>
        </p:spPr>
        <p:txBody>
          <a:bodyPr wrap="square" lIns="0" tIns="0" rIns="0" bIns="0" rtlCol="0" anchor="ctr"/>
          <a:lstStyle/>
          <a:p>
            <a:pPr algn="ctr" indent="0" marL="0">
              <a:buNone/>
            </a:pPr>
            <a:r>
              <a:rPr lang="en-US" sz="750" dirty="0">
                <a:solidFill>
                  <a:srgbClr val="2C3E50"/>
                </a:solidFill>
                <a:latin typeface="Calibri" pitchFamily="34" charset="0"/>
                <a:ea typeface="Calibri" pitchFamily="34" charset="-122"/>
                <a:cs typeface="Calibri" pitchFamily="34" charset="-120"/>
              </a:rPr>
              <a:t>Salary</a:t>
            </a:r>
            <a:endParaRPr lang="en-US" sz="750" dirty="0"/>
          </a:p>
        </p:txBody>
      </p:sp>
      <p:sp>
        <p:nvSpPr>
          <p:cNvPr id="41" name="Shape 39"/>
          <p:cNvSpPr/>
          <p:nvPr/>
        </p:nvSpPr>
        <p:spPr>
          <a:xfrm>
            <a:off x="2066544" y="2194560"/>
            <a:ext cx="512064" cy="347472"/>
          </a:xfrm>
          <a:prstGeom prst="rect">
            <a:avLst/>
          </a:prstGeom>
          <a:solidFill>
            <a:srgbClr val="F2F8FF"/>
          </a:solidFill>
          <a:ln w="6350">
            <a:solidFill>
              <a:srgbClr val="D0D8E8"/>
            </a:solidFill>
            <a:prstDash val="solid"/>
          </a:ln>
        </p:spPr>
      </p:sp>
      <p:sp>
        <p:nvSpPr>
          <p:cNvPr id="42" name="Text 40"/>
          <p:cNvSpPr/>
          <p:nvPr/>
        </p:nvSpPr>
        <p:spPr>
          <a:xfrm>
            <a:off x="2066544" y="2194560"/>
            <a:ext cx="512064" cy="347472"/>
          </a:xfrm>
          <a:prstGeom prst="rect">
            <a:avLst/>
          </a:prstGeom>
          <a:noFill/>
          <a:ln/>
        </p:spPr>
        <p:txBody>
          <a:bodyPr wrap="square" lIns="0" tIns="0" rIns="0" bIns="0" rtlCol="0" anchor="ctr"/>
          <a:lstStyle/>
          <a:p>
            <a:pPr algn="ctr" indent="0" marL="0">
              <a:buNone/>
            </a:pPr>
            <a:r>
              <a:rPr lang="en-US" sz="750" dirty="0">
                <a:solidFill>
                  <a:srgbClr val="2C3E50"/>
                </a:solidFill>
                <a:latin typeface="Calibri" pitchFamily="34" charset="0"/>
                <a:ea typeface="Calibri" pitchFamily="34" charset="-122"/>
                <a:cs typeface="Calibri" pitchFamily="34" charset="-120"/>
              </a:rPr>
              <a:t>300</a:t>
            </a:r>
            <a:endParaRPr lang="en-US" sz="750" dirty="0"/>
          </a:p>
        </p:txBody>
      </p:sp>
      <p:sp>
        <p:nvSpPr>
          <p:cNvPr id="43" name="Shape 41"/>
          <p:cNvSpPr/>
          <p:nvPr/>
        </p:nvSpPr>
        <p:spPr>
          <a:xfrm>
            <a:off x="2596896" y="2194560"/>
            <a:ext cx="512064" cy="347472"/>
          </a:xfrm>
          <a:prstGeom prst="rect">
            <a:avLst/>
          </a:prstGeom>
          <a:solidFill>
            <a:srgbClr val="F2F8FF"/>
          </a:solidFill>
          <a:ln w="6350">
            <a:solidFill>
              <a:srgbClr val="D0D8E8"/>
            </a:solidFill>
            <a:prstDash val="solid"/>
          </a:ln>
        </p:spPr>
      </p:sp>
      <p:sp>
        <p:nvSpPr>
          <p:cNvPr id="44" name="Text 42"/>
          <p:cNvSpPr/>
          <p:nvPr/>
        </p:nvSpPr>
        <p:spPr>
          <a:xfrm>
            <a:off x="2596896" y="2194560"/>
            <a:ext cx="512064" cy="347472"/>
          </a:xfrm>
          <a:prstGeom prst="rect">
            <a:avLst/>
          </a:prstGeom>
          <a:noFill/>
          <a:ln/>
        </p:spPr>
        <p:txBody>
          <a:bodyPr wrap="square" lIns="0" tIns="0" rIns="0" bIns="0" rtlCol="0" anchor="ctr"/>
          <a:lstStyle/>
          <a:p>
            <a:pPr algn="ctr" indent="0" marL="0">
              <a:buNone/>
            </a:pPr>
            <a:r>
              <a:rPr lang="en-US" sz="750" dirty="0">
                <a:solidFill>
                  <a:srgbClr val="2C3E50"/>
                </a:solidFill>
                <a:latin typeface="Calibri" pitchFamily="34" charset="0"/>
                <a:ea typeface="Calibri" pitchFamily="34" charset="-122"/>
                <a:cs typeface="Calibri" pitchFamily="34" charset="-120"/>
              </a:rPr>
              <a:t>0</a:t>
            </a:r>
            <a:endParaRPr lang="en-US" sz="750" dirty="0"/>
          </a:p>
        </p:txBody>
      </p:sp>
      <p:sp>
        <p:nvSpPr>
          <p:cNvPr id="45" name="Shape 43"/>
          <p:cNvSpPr/>
          <p:nvPr/>
        </p:nvSpPr>
        <p:spPr>
          <a:xfrm>
            <a:off x="3127248" y="2194560"/>
            <a:ext cx="512064" cy="347472"/>
          </a:xfrm>
          <a:prstGeom prst="rect">
            <a:avLst/>
          </a:prstGeom>
          <a:solidFill>
            <a:srgbClr val="F2F8FF"/>
          </a:solidFill>
          <a:ln w="6350">
            <a:solidFill>
              <a:srgbClr val="D0D8E8"/>
            </a:solidFill>
            <a:prstDash val="solid"/>
          </a:ln>
        </p:spPr>
      </p:sp>
      <p:sp>
        <p:nvSpPr>
          <p:cNvPr id="46" name="Text 44"/>
          <p:cNvSpPr/>
          <p:nvPr/>
        </p:nvSpPr>
        <p:spPr>
          <a:xfrm>
            <a:off x="3127248" y="2194560"/>
            <a:ext cx="512064" cy="347472"/>
          </a:xfrm>
          <a:prstGeom prst="rect">
            <a:avLst/>
          </a:prstGeom>
          <a:noFill/>
          <a:ln/>
        </p:spPr>
        <p:txBody>
          <a:bodyPr wrap="square" lIns="0" tIns="0" rIns="0" bIns="0" rtlCol="0" anchor="ctr"/>
          <a:lstStyle/>
          <a:p>
            <a:pPr algn="ctr" indent="0" marL="0">
              <a:buNone/>
            </a:pPr>
            <a:r>
              <a:rPr lang="en-US" sz="750" dirty="0">
                <a:solidFill>
                  <a:srgbClr val="2C3E50"/>
                </a:solidFill>
                <a:latin typeface="Calibri" pitchFamily="34" charset="0"/>
                <a:ea typeface="Calibri" pitchFamily="34" charset="-122"/>
                <a:cs typeface="Calibri" pitchFamily="34" charset="-120"/>
              </a:rPr>
              <a:t>245,300</a:t>
            </a:r>
            <a:endParaRPr lang="en-US" sz="750" dirty="0"/>
          </a:p>
        </p:txBody>
      </p:sp>
      <p:sp>
        <p:nvSpPr>
          <p:cNvPr id="47" name="Shape 45"/>
          <p:cNvSpPr/>
          <p:nvPr/>
        </p:nvSpPr>
        <p:spPr>
          <a:xfrm>
            <a:off x="3657600" y="2194560"/>
            <a:ext cx="512064" cy="347472"/>
          </a:xfrm>
          <a:prstGeom prst="rect">
            <a:avLst/>
          </a:prstGeom>
          <a:solidFill>
            <a:srgbClr val="F2F8FF"/>
          </a:solidFill>
          <a:ln w="6350">
            <a:solidFill>
              <a:srgbClr val="D0D8E8"/>
            </a:solidFill>
            <a:prstDash val="solid"/>
          </a:ln>
        </p:spPr>
      </p:sp>
      <p:sp>
        <p:nvSpPr>
          <p:cNvPr id="48" name="Text 46"/>
          <p:cNvSpPr/>
          <p:nvPr/>
        </p:nvSpPr>
        <p:spPr>
          <a:xfrm>
            <a:off x="3657600" y="2194560"/>
            <a:ext cx="512064" cy="347472"/>
          </a:xfrm>
          <a:prstGeom prst="rect">
            <a:avLst/>
          </a:prstGeom>
          <a:noFill/>
          <a:ln/>
        </p:spPr>
        <p:txBody>
          <a:bodyPr wrap="square" lIns="0" tIns="0" rIns="0" bIns="0" rtlCol="0" anchor="ctr"/>
          <a:lstStyle/>
          <a:p>
            <a:pPr algn="ctr" indent="0" marL="0">
              <a:buNone/>
            </a:pPr>
            <a:r>
              <a:rPr lang="en-US" sz="750" dirty="0">
                <a:solidFill>
                  <a:srgbClr val="2C3E50"/>
                </a:solidFill>
                <a:latin typeface="Calibri" pitchFamily="34" charset="0"/>
                <a:ea typeface="Calibri" pitchFamily="34" charset="-122"/>
                <a:cs typeface="Calibri" pitchFamily="34" charset="-120"/>
              </a:rPr>
              <a:t>62,100</a:t>
            </a:r>
            <a:endParaRPr lang="en-US" sz="750" dirty="0"/>
          </a:p>
        </p:txBody>
      </p:sp>
      <p:sp>
        <p:nvSpPr>
          <p:cNvPr id="49" name="Text 47"/>
          <p:cNvSpPr/>
          <p:nvPr/>
        </p:nvSpPr>
        <p:spPr>
          <a:xfrm>
            <a:off x="1554480" y="2834640"/>
            <a:ext cx="2633472" cy="1664208"/>
          </a:xfrm>
          <a:prstGeom prst="rect">
            <a:avLst/>
          </a:prstGeom>
          <a:noFill/>
          <a:ln/>
        </p:spPr>
        <p:txBody>
          <a:bodyPr wrap="square" lIns="0" tIns="0" rIns="0" bIns="0" rtlCol="0" anchor="ctr"/>
          <a:lstStyle/>
          <a:p>
            <a:pPr algn="ctr" indent="0" marL="0">
              <a:buNone/>
            </a:pPr>
            <a:r>
              <a:rPr lang="en-US" sz="1100" i="1" dirty="0">
                <a:solidFill>
                  <a:srgbClr val="B0C8E8"/>
                </a:solidFill>
                <a:latin typeface="Calibri" pitchFamily="34" charset="0"/>
                <a:ea typeface="Calibri" pitchFamily="34" charset="-122"/>
                <a:cs typeface="Calibri" pitchFamily="34" charset="-120"/>
              </a:rPr>
              <a:t>[Bar chart appears here]</a:t>
            </a:r>
            <a:endParaRPr lang="en-US" sz="1100" dirty="0"/>
          </a:p>
        </p:txBody>
      </p:sp>
      <p:sp>
        <p:nvSpPr>
          <p:cNvPr id="50" name="Shape 48"/>
          <p:cNvSpPr/>
          <p:nvPr/>
        </p:nvSpPr>
        <p:spPr>
          <a:xfrm>
            <a:off x="1554480" y="2834640"/>
            <a:ext cx="2633472" cy="1664208"/>
          </a:xfrm>
          <a:prstGeom prst="rect">
            <a:avLst/>
          </a:prstGeom>
          <a:solidFill>
            <a:srgbClr val="F0F8FF"/>
          </a:solidFill>
          <a:ln w="10160">
            <a:solidFill>
              <a:srgbClr val="C0D8F0"/>
            </a:solidFill>
            <a:prstDash val="solid"/>
          </a:ln>
        </p:spPr>
      </p:sp>
      <p:sp>
        <p:nvSpPr>
          <p:cNvPr id="51" name="Shape 49"/>
          <p:cNvSpPr/>
          <p:nvPr/>
        </p:nvSpPr>
        <p:spPr>
          <a:xfrm>
            <a:off x="4572000" y="1078992"/>
            <a:ext cx="4251960" cy="585216"/>
          </a:xfrm>
          <a:prstGeom prst="roundRect">
            <a:avLst>
              <a:gd name="adj" fmla="val 10938"/>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52" name="Shape 50"/>
          <p:cNvSpPr/>
          <p:nvPr/>
        </p:nvSpPr>
        <p:spPr>
          <a:xfrm>
            <a:off x="4645152" y="1170432"/>
            <a:ext cx="1234440" cy="228600"/>
          </a:xfrm>
          <a:prstGeom prst="roundRect">
            <a:avLst>
              <a:gd name="adj" fmla="val 16000"/>
            </a:avLst>
          </a:prstGeom>
          <a:solidFill>
            <a:srgbClr val="1B5CA0"/>
          </a:solidFill>
          <a:ln w="12700">
            <a:solidFill>
              <a:srgbClr val="1B5CA0"/>
            </a:solidFill>
            <a:prstDash val="solid"/>
          </a:ln>
        </p:spPr>
      </p:sp>
      <p:sp>
        <p:nvSpPr>
          <p:cNvPr id="53" name="Text 51"/>
          <p:cNvSpPr/>
          <p:nvPr/>
        </p:nvSpPr>
        <p:spPr>
          <a:xfrm>
            <a:off x="4645152" y="1170432"/>
            <a:ext cx="123444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Export to Word</a:t>
            </a:r>
            <a:endParaRPr lang="en-US" sz="800" dirty="0"/>
          </a:p>
        </p:txBody>
      </p:sp>
      <p:sp>
        <p:nvSpPr>
          <p:cNvPr id="54" name="Text 52"/>
          <p:cNvSpPr/>
          <p:nvPr/>
        </p:nvSpPr>
        <p:spPr>
          <a:xfrm>
            <a:off x="5961888" y="1170432"/>
            <a:ext cx="2761488" cy="228600"/>
          </a:xfrm>
          <a:prstGeom prst="rect">
            <a:avLst/>
          </a:prstGeom>
          <a:noFill/>
          <a:ln/>
        </p:spPr>
        <p:txBody>
          <a:bodyPr wrap="square" lIns="0" tIns="0" rIns="0" bIns="0" rtlCol="0" anchor="ctr"/>
          <a:lstStyle/>
          <a:p>
            <a:pPr indent="0" marL="0">
              <a:buNone/>
            </a:pPr>
            <a:r>
              <a:rPr lang="en-US" sz="850" i="1" dirty="0">
                <a:solidFill>
                  <a:srgbClr val="1B5CA0"/>
                </a:solidFill>
                <a:latin typeface="Calibri" pitchFamily="34" charset="0"/>
                <a:ea typeface="Calibri" pitchFamily="34" charset="-122"/>
                <a:cs typeface="Calibri" pitchFamily="34" charset="-120"/>
              </a:rPr>
              <a:t>File &gt; Export &gt; Word / RTF</a:t>
            </a:r>
            <a:endParaRPr lang="en-US" sz="850" dirty="0"/>
          </a:p>
        </p:txBody>
      </p:sp>
      <p:sp>
        <p:nvSpPr>
          <p:cNvPr id="55" name="Text 53"/>
          <p:cNvSpPr/>
          <p:nvPr/>
        </p:nvSpPr>
        <p:spPr>
          <a:xfrm>
            <a:off x="4645152" y="1426464"/>
            <a:ext cx="4096512"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All tables and charts are embedded. Professional output ready to paste into reports.</a:t>
            </a:r>
            <a:endParaRPr lang="en-US" sz="800" dirty="0"/>
          </a:p>
        </p:txBody>
      </p:sp>
      <p:sp>
        <p:nvSpPr>
          <p:cNvPr id="56" name="Shape 54"/>
          <p:cNvSpPr/>
          <p:nvPr/>
        </p:nvSpPr>
        <p:spPr>
          <a:xfrm>
            <a:off x="4572000" y="1737360"/>
            <a:ext cx="4251960" cy="585216"/>
          </a:xfrm>
          <a:prstGeom prst="roundRect">
            <a:avLst>
              <a:gd name="adj" fmla="val 10938"/>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57" name="Shape 55"/>
          <p:cNvSpPr/>
          <p:nvPr/>
        </p:nvSpPr>
        <p:spPr>
          <a:xfrm>
            <a:off x="4645152" y="1828800"/>
            <a:ext cx="1234440" cy="228600"/>
          </a:xfrm>
          <a:prstGeom prst="roundRect">
            <a:avLst>
              <a:gd name="adj" fmla="val 16000"/>
            </a:avLst>
          </a:prstGeom>
          <a:solidFill>
            <a:srgbClr val="C0392B"/>
          </a:solidFill>
          <a:ln w="12700">
            <a:solidFill>
              <a:srgbClr val="C0392B"/>
            </a:solidFill>
            <a:prstDash val="solid"/>
          </a:ln>
        </p:spPr>
      </p:sp>
      <p:sp>
        <p:nvSpPr>
          <p:cNvPr id="58" name="Text 56"/>
          <p:cNvSpPr/>
          <p:nvPr/>
        </p:nvSpPr>
        <p:spPr>
          <a:xfrm>
            <a:off x="4645152" y="1828800"/>
            <a:ext cx="123444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Export to PDF</a:t>
            </a:r>
            <a:endParaRPr lang="en-US" sz="800" dirty="0"/>
          </a:p>
        </p:txBody>
      </p:sp>
      <p:sp>
        <p:nvSpPr>
          <p:cNvPr id="59" name="Text 57"/>
          <p:cNvSpPr/>
          <p:nvPr/>
        </p:nvSpPr>
        <p:spPr>
          <a:xfrm>
            <a:off x="5961888" y="1828800"/>
            <a:ext cx="2761488" cy="228600"/>
          </a:xfrm>
          <a:prstGeom prst="rect">
            <a:avLst/>
          </a:prstGeom>
          <a:noFill/>
          <a:ln/>
        </p:spPr>
        <p:txBody>
          <a:bodyPr wrap="square" lIns="0" tIns="0" rIns="0" bIns="0" rtlCol="0" anchor="ctr"/>
          <a:lstStyle/>
          <a:p>
            <a:pPr indent="0" marL="0">
              <a:buNone/>
            </a:pPr>
            <a:r>
              <a:rPr lang="en-US" sz="850" i="1" dirty="0">
                <a:solidFill>
                  <a:srgbClr val="C0392B"/>
                </a:solidFill>
                <a:latin typeface="Calibri" pitchFamily="34" charset="0"/>
                <a:ea typeface="Calibri" pitchFamily="34" charset="-122"/>
                <a:cs typeface="Calibri" pitchFamily="34" charset="-120"/>
              </a:rPr>
              <a:t>File &gt; Export &gt; Portable Document Format</a:t>
            </a:r>
            <a:endParaRPr lang="en-US" sz="850" dirty="0"/>
          </a:p>
        </p:txBody>
      </p:sp>
      <p:sp>
        <p:nvSpPr>
          <p:cNvPr id="60" name="Text 58"/>
          <p:cNvSpPr/>
          <p:nvPr/>
        </p:nvSpPr>
        <p:spPr>
          <a:xfrm>
            <a:off x="4645152" y="2084832"/>
            <a:ext cx="4096512"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Best for sharing read-only results. Cannot edit tables but renders identically on all devices.</a:t>
            </a:r>
            <a:endParaRPr lang="en-US" sz="800" dirty="0"/>
          </a:p>
        </p:txBody>
      </p:sp>
      <p:sp>
        <p:nvSpPr>
          <p:cNvPr id="61" name="Shape 59"/>
          <p:cNvSpPr/>
          <p:nvPr/>
        </p:nvSpPr>
        <p:spPr>
          <a:xfrm>
            <a:off x="4572000" y="2395728"/>
            <a:ext cx="4251960" cy="585216"/>
          </a:xfrm>
          <a:prstGeom prst="roundRect">
            <a:avLst>
              <a:gd name="adj" fmla="val 10938"/>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62" name="Shape 60"/>
          <p:cNvSpPr/>
          <p:nvPr/>
        </p:nvSpPr>
        <p:spPr>
          <a:xfrm>
            <a:off x="4645152" y="2487168"/>
            <a:ext cx="1234440" cy="228600"/>
          </a:xfrm>
          <a:prstGeom prst="roundRect">
            <a:avLst>
              <a:gd name="adj" fmla="val 16000"/>
            </a:avLst>
          </a:prstGeom>
          <a:solidFill>
            <a:srgbClr val="1A7A4A"/>
          </a:solidFill>
          <a:ln w="12700">
            <a:solidFill>
              <a:srgbClr val="1A7A4A"/>
            </a:solidFill>
            <a:prstDash val="solid"/>
          </a:ln>
        </p:spPr>
      </p:sp>
      <p:sp>
        <p:nvSpPr>
          <p:cNvPr id="63" name="Text 61"/>
          <p:cNvSpPr/>
          <p:nvPr/>
        </p:nvSpPr>
        <p:spPr>
          <a:xfrm>
            <a:off x="4645152" y="2487168"/>
            <a:ext cx="123444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Export to Excel</a:t>
            </a:r>
            <a:endParaRPr lang="en-US" sz="800" dirty="0"/>
          </a:p>
        </p:txBody>
      </p:sp>
      <p:sp>
        <p:nvSpPr>
          <p:cNvPr id="64" name="Text 62"/>
          <p:cNvSpPr/>
          <p:nvPr/>
        </p:nvSpPr>
        <p:spPr>
          <a:xfrm>
            <a:off x="5961888" y="2487168"/>
            <a:ext cx="2761488" cy="228600"/>
          </a:xfrm>
          <a:prstGeom prst="rect">
            <a:avLst/>
          </a:prstGeom>
          <a:noFill/>
          <a:ln/>
        </p:spPr>
        <p:txBody>
          <a:bodyPr wrap="square" lIns="0" tIns="0" rIns="0" bIns="0" rtlCol="0" anchor="ctr"/>
          <a:lstStyle/>
          <a:p>
            <a:pPr indent="0" marL="0">
              <a:buNone/>
            </a:pPr>
            <a:r>
              <a:rPr lang="en-US" sz="850" i="1" dirty="0">
                <a:solidFill>
                  <a:srgbClr val="1A7A4A"/>
                </a:solidFill>
                <a:latin typeface="Calibri" pitchFamily="34" charset="0"/>
                <a:ea typeface="Calibri" pitchFamily="34" charset="-122"/>
                <a:cs typeface="Calibri" pitchFamily="34" charset="-120"/>
              </a:rPr>
              <a:t>File &gt; Export &gt; Excel</a:t>
            </a:r>
            <a:endParaRPr lang="en-US" sz="850" dirty="0"/>
          </a:p>
        </p:txBody>
      </p:sp>
      <p:sp>
        <p:nvSpPr>
          <p:cNvPr id="65" name="Text 63"/>
          <p:cNvSpPr/>
          <p:nvPr/>
        </p:nvSpPr>
        <p:spPr>
          <a:xfrm>
            <a:off x="4645152" y="2743200"/>
            <a:ext cx="4096512"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Table data in editable spreadsheet. Useful for creating custom charts in Excel.</a:t>
            </a:r>
            <a:endParaRPr lang="en-US" sz="800" dirty="0"/>
          </a:p>
        </p:txBody>
      </p:sp>
      <p:sp>
        <p:nvSpPr>
          <p:cNvPr id="66" name="Shape 64"/>
          <p:cNvSpPr/>
          <p:nvPr/>
        </p:nvSpPr>
        <p:spPr>
          <a:xfrm>
            <a:off x="4572000" y="3054096"/>
            <a:ext cx="4251960" cy="585216"/>
          </a:xfrm>
          <a:prstGeom prst="roundRect">
            <a:avLst>
              <a:gd name="adj" fmla="val 10938"/>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67" name="Shape 65"/>
          <p:cNvSpPr/>
          <p:nvPr/>
        </p:nvSpPr>
        <p:spPr>
          <a:xfrm>
            <a:off x="4645152" y="3145536"/>
            <a:ext cx="1234440" cy="228600"/>
          </a:xfrm>
          <a:prstGeom prst="roundRect">
            <a:avLst>
              <a:gd name="adj" fmla="val 16000"/>
            </a:avLst>
          </a:prstGeom>
          <a:solidFill>
            <a:srgbClr val="E67E22"/>
          </a:solidFill>
          <a:ln w="12700">
            <a:solidFill>
              <a:srgbClr val="E67E22"/>
            </a:solidFill>
            <a:prstDash val="solid"/>
          </a:ln>
        </p:spPr>
      </p:sp>
      <p:sp>
        <p:nvSpPr>
          <p:cNvPr id="68" name="Text 66"/>
          <p:cNvSpPr/>
          <p:nvPr/>
        </p:nvSpPr>
        <p:spPr>
          <a:xfrm>
            <a:off x="4645152" y="3145536"/>
            <a:ext cx="123444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Save Output File</a:t>
            </a:r>
            <a:endParaRPr lang="en-US" sz="800" dirty="0"/>
          </a:p>
        </p:txBody>
      </p:sp>
      <p:sp>
        <p:nvSpPr>
          <p:cNvPr id="69" name="Text 67"/>
          <p:cNvSpPr/>
          <p:nvPr/>
        </p:nvSpPr>
        <p:spPr>
          <a:xfrm>
            <a:off x="5961888" y="3145536"/>
            <a:ext cx="2761488" cy="228600"/>
          </a:xfrm>
          <a:prstGeom prst="rect">
            <a:avLst/>
          </a:prstGeom>
          <a:noFill/>
          <a:ln/>
        </p:spPr>
        <p:txBody>
          <a:bodyPr wrap="square" lIns="0" tIns="0" rIns="0" bIns="0" rtlCol="0" anchor="ctr"/>
          <a:lstStyle/>
          <a:p>
            <a:pPr indent="0" marL="0">
              <a:buNone/>
            </a:pPr>
            <a:r>
              <a:rPr lang="en-US" sz="850" i="1" dirty="0">
                <a:solidFill>
                  <a:srgbClr val="E67E22"/>
                </a:solidFill>
                <a:latin typeface="Calibri" pitchFamily="34" charset="0"/>
                <a:ea typeface="Calibri" pitchFamily="34" charset="-122"/>
                <a:cs typeface="Calibri" pitchFamily="34" charset="-120"/>
              </a:rPr>
              <a:t>File &gt; Save As &gt; .spv format</a:t>
            </a:r>
            <a:endParaRPr lang="en-US" sz="850" dirty="0"/>
          </a:p>
        </p:txBody>
      </p:sp>
      <p:sp>
        <p:nvSpPr>
          <p:cNvPr id="70" name="Text 68"/>
          <p:cNvSpPr/>
          <p:nvPr/>
        </p:nvSpPr>
        <p:spPr>
          <a:xfrm>
            <a:off x="4645152" y="3401568"/>
            <a:ext cx="4096512"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Preserves the Output Viewer layout including navigation tree. Required to share editable output.</a:t>
            </a:r>
            <a:endParaRPr lang="en-US" sz="800" dirty="0"/>
          </a:p>
        </p:txBody>
      </p:sp>
      <p:sp>
        <p:nvSpPr>
          <p:cNvPr id="71" name="Shape 69"/>
          <p:cNvSpPr/>
          <p:nvPr/>
        </p:nvSpPr>
        <p:spPr>
          <a:xfrm>
            <a:off x="4572000" y="3712464"/>
            <a:ext cx="4251960" cy="585216"/>
          </a:xfrm>
          <a:prstGeom prst="roundRect">
            <a:avLst>
              <a:gd name="adj" fmla="val 10938"/>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72" name="Shape 70"/>
          <p:cNvSpPr/>
          <p:nvPr/>
        </p:nvSpPr>
        <p:spPr>
          <a:xfrm>
            <a:off x="4645152" y="3803904"/>
            <a:ext cx="1234440" cy="228600"/>
          </a:xfrm>
          <a:prstGeom prst="roundRect">
            <a:avLst>
              <a:gd name="adj" fmla="val 16000"/>
            </a:avLst>
          </a:prstGeom>
          <a:solidFill>
            <a:srgbClr val="5B2D8E"/>
          </a:solidFill>
          <a:ln w="12700">
            <a:solidFill>
              <a:srgbClr val="5B2D8E"/>
            </a:solidFill>
            <a:prstDash val="solid"/>
          </a:ln>
        </p:spPr>
      </p:sp>
      <p:sp>
        <p:nvSpPr>
          <p:cNvPr id="73" name="Text 71"/>
          <p:cNvSpPr/>
          <p:nvPr/>
        </p:nvSpPr>
        <p:spPr>
          <a:xfrm>
            <a:off x="4645152" y="3803904"/>
            <a:ext cx="123444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Edit a Table</a:t>
            </a:r>
            <a:endParaRPr lang="en-US" sz="800" dirty="0"/>
          </a:p>
        </p:txBody>
      </p:sp>
      <p:sp>
        <p:nvSpPr>
          <p:cNvPr id="74" name="Text 72"/>
          <p:cNvSpPr/>
          <p:nvPr/>
        </p:nvSpPr>
        <p:spPr>
          <a:xfrm>
            <a:off x="5961888" y="3803904"/>
            <a:ext cx="2761488" cy="228600"/>
          </a:xfrm>
          <a:prstGeom prst="rect">
            <a:avLst/>
          </a:prstGeom>
          <a:noFill/>
          <a:ln/>
        </p:spPr>
        <p:txBody>
          <a:bodyPr wrap="square" lIns="0" tIns="0" rIns="0" bIns="0" rtlCol="0" anchor="ctr"/>
          <a:lstStyle/>
          <a:p>
            <a:pPr indent="0" marL="0">
              <a:buNone/>
            </a:pPr>
            <a:r>
              <a:rPr lang="en-US" sz="850" i="1" dirty="0">
                <a:solidFill>
                  <a:srgbClr val="5B2D8E"/>
                </a:solidFill>
                <a:latin typeface="Calibri" pitchFamily="34" charset="0"/>
                <a:ea typeface="Calibri" pitchFamily="34" charset="-122"/>
                <a:cs typeface="Calibri" pitchFamily="34" charset="-120"/>
              </a:rPr>
              <a:t>Double-click any table in the Output Viewer</a:t>
            </a:r>
            <a:endParaRPr lang="en-US" sz="850" dirty="0"/>
          </a:p>
        </p:txBody>
      </p:sp>
      <p:sp>
        <p:nvSpPr>
          <p:cNvPr id="75" name="Text 73"/>
          <p:cNvSpPr/>
          <p:nvPr/>
        </p:nvSpPr>
        <p:spPr>
          <a:xfrm>
            <a:off x="4645152" y="4059936"/>
            <a:ext cx="4096512"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Opens Pivot Table Editor: change number format, fonts, colours, borders. Right-click for options.</a:t>
            </a:r>
            <a:endParaRPr lang="en-US" sz="800" dirty="0"/>
          </a:p>
        </p:txBody>
      </p:sp>
      <p:sp>
        <p:nvSpPr>
          <p:cNvPr id="76" name="Shape 74"/>
          <p:cNvSpPr/>
          <p:nvPr/>
        </p:nvSpPr>
        <p:spPr>
          <a:xfrm>
            <a:off x="4572000" y="4370832"/>
            <a:ext cx="4251960" cy="585216"/>
          </a:xfrm>
          <a:prstGeom prst="roundRect">
            <a:avLst>
              <a:gd name="adj" fmla="val 10938"/>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77" name="Shape 75"/>
          <p:cNvSpPr/>
          <p:nvPr/>
        </p:nvSpPr>
        <p:spPr>
          <a:xfrm>
            <a:off x="4645152" y="4462272"/>
            <a:ext cx="1234440" cy="228600"/>
          </a:xfrm>
          <a:prstGeom prst="roundRect">
            <a:avLst>
              <a:gd name="adj" fmla="val 16000"/>
            </a:avLst>
          </a:prstGeom>
          <a:solidFill>
            <a:srgbClr val="64748B"/>
          </a:solidFill>
          <a:ln w="12700">
            <a:solidFill>
              <a:srgbClr val="64748B"/>
            </a:solidFill>
            <a:prstDash val="solid"/>
          </a:ln>
        </p:spPr>
      </p:sp>
      <p:sp>
        <p:nvSpPr>
          <p:cNvPr id="78" name="Text 76"/>
          <p:cNvSpPr/>
          <p:nvPr/>
        </p:nvSpPr>
        <p:spPr>
          <a:xfrm>
            <a:off x="4645152" y="4462272"/>
            <a:ext cx="123444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Delete Output</a:t>
            </a:r>
            <a:endParaRPr lang="en-US" sz="800" dirty="0"/>
          </a:p>
        </p:txBody>
      </p:sp>
      <p:sp>
        <p:nvSpPr>
          <p:cNvPr id="79" name="Text 77"/>
          <p:cNvSpPr/>
          <p:nvPr/>
        </p:nvSpPr>
        <p:spPr>
          <a:xfrm>
            <a:off x="5961888" y="4462272"/>
            <a:ext cx="2761488" cy="228600"/>
          </a:xfrm>
          <a:prstGeom prst="rect">
            <a:avLst/>
          </a:prstGeom>
          <a:noFill/>
          <a:ln/>
        </p:spPr>
        <p:txBody>
          <a:bodyPr wrap="square" lIns="0" tIns="0" rIns="0" bIns="0"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Click object in outline &gt; press Delete</a:t>
            </a:r>
            <a:endParaRPr lang="en-US" sz="850" dirty="0"/>
          </a:p>
        </p:txBody>
      </p:sp>
      <p:sp>
        <p:nvSpPr>
          <p:cNvPr id="80" name="Text 78"/>
          <p:cNvSpPr/>
          <p:nvPr/>
        </p:nvSpPr>
        <p:spPr>
          <a:xfrm>
            <a:off x="4645152" y="4718304"/>
            <a:ext cx="4096512" cy="201168"/>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Keep output tidy. Delete test runs, error logs, and duplicate tables before finalising.</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7132320" y="-914400"/>
            <a:ext cx="4114800" cy="4114800"/>
          </a:xfrm>
          <a:prstGeom prst="ellipse">
            <a:avLst/>
          </a:prstGeom>
          <a:solidFill>
            <a:srgbClr val="2E86C1">
              <a:alpha val="16000"/>
            </a:srgbClr>
          </a:solidFill>
          <a:ln w="12700">
            <a:solidFill>
              <a:srgbClr val="2E86C1"/>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SPSS Syntax - Programming Basics</a:t>
            </a:r>
            <a:endParaRPr lang="en-US" sz="2800" dirty="0"/>
          </a:p>
        </p:txBody>
      </p:sp>
      <p:sp>
        <p:nvSpPr>
          <p:cNvPr id="4" name="Text 2"/>
          <p:cNvSpPr/>
          <p:nvPr/>
        </p:nvSpPr>
        <p:spPr>
          <a:xfrm>
            <a:off x="457200" y="859536"/>
            <a:ext cx="7772400" cy="347472"/>
          </a:xfrm>
          <a:prstGeom prst="rect">
            <a:avLst/>
          </a:prstGeom>
          <a:noFill/>
          <a:ln/>
        </p:spPr>
        <p:txBody>
          <a:bodyPr wrap="square" lIns="0" tIns="0" rIns="0" bIns="0" rtlCol="0" anchor="ctr"/>
          <a:lstStyle/>
          <a:p>
            <a:pPr indent="0" marL="0">
              <a:buNone/>
            </a:pPr>
            <a:r>
              <a:rPr lang="en-US" sz="1200" i="1" dirty="0">
                <a:solidFill>
                  <a:srgbClr val="A8C8E8"/>
                </a:solidFill>
                <a:latin typeface="Calibri" pitchFamily="34" charset="0"/>
                <a:ea typeface="Calibri" pitchFamily="34" charset="-122"/>
                <a:cs typeface="Calibri" pitchFamily="34" charset="-120"/>
              </a:rPr>
              <a:t>Every menu action in SPSS has an equivalent syntax command. Click PASTE instead of OK to generate syntax automatically.</a:t>
            </a:r>
            <a:endParaRPr lang="en-US" sz="1200" dirty="0"/>
          </a:p>
        </p:txBody>
      </p:sp>
      <p:sp>
        <p:nvSpPr>
          <p:cNvPr id="5" name="Shape 3"/>
          <p:cNvSpPr/>
          <p:nvPr/>
        </p:nvSpPr>
        <p:spPr>
          <a:xfrm>
            <a:off x="365760" y="1280160"/>
            <a:ext cx="5120640" cy="3657600"/>
          </a:xfrm>
          <a:prstGeom prst="roundRect">
            <a:avLst>
              <a:gd name="adj" fmla="val 2500"/>
            </a:avLst>
          </a:prstGeom>
          <a:solidFill>
            <a:srgbClr val="0A1628"/>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6" name="Text 4"/>
          <p:cNvSpPr/>
          <p:nvPr/>
        </p:nvSpPr>
        <p:spPr>
          <a:xfrm>
            <a:off x="502920" y="1353312"/>
            <a:ext cx="4828032" cy="274320"/>
          </a:xfrm>
          <a:prstGeom prst="rect">
            <a:avLst/>
          </a:prstGeom>
          <a:noFill/>
          <a:ln/>
        </p:spPr>
        <p:txBody>
          <a:bodyPr wrap="square" lIns="0" tIns="0" rIns="0" bIns="0" rtlCol="0" anchor="ctr"/>
          <a:lstStyle/>
          <a:p>
            <a:pPr indent="0" marL="0">
              <a:buNone/>
            </a:pPr>
            <a:r>
              <a:rPr lang="en-US" sz="950" b="1" dirty="0">
                <a:solidFill>
                  <a:srgbClr val="F0C040"/>
                </a:solidFill>
                <a:latin typeface="Calibri" pitchFamily="34" charset="0"/>
                <a:ea typeface="Calibri" pitchFamily="34" charset="-122"/>
                <a:cs typeface="Calibri" pitchFamily="34" charset="-120"/>
              </a:rPr>
              <a:t>SPSS Syntax Editor  (.sps file)</a:t>
            </a:r>
            <a:endParaRPr lang="en-US" sz="950" dirty="0"/>
          </a:p>
        </p:txBody>
      </p:sp>
      <p:sp>
        <p:nvSpPr>
          <p:cNvPr id="7" name="Text 5"/>
          <p:cNvSpPr/>
          <p:nvPr/>
        </p:nvSpPr>
        <p:spPr>
          <a:xfrm>
            <a:off x="502920" y="1691640"/>
            <a:ext cx="4892040" cy="192024"/>
          </a:xfrm>
          <a:prstGeom prst="rect">
            <a:avLst/>
          </a:prstGeom>
          <a:noFill/>
          <a:ln/>
        </p:spPr>
        <p:txBody>
          <a:bodyPr wrap="square" lIns="0" tIns="0" rIns="0" bIns="0" rtlCol="0" anchor="ctr"/>
          <a:lstStyle/>
          <a:p>
            <a:pPr indent="0" marL="0">
              <a:buNone/>
            </a:pPr>
            <a:r>
              <a:rPr lang="en-US" sz="900" dirty="0">
                <a:solidFill>
                  <a:srgbClr val="6A9955"/>
                </a:solidFill>
                <a:latin typeface="Courier New" pitchFamily="34" charset="0"/>
                <a:ea typeface="Courier New" pitchFamily="34" charset="-122"/>
                <a:cs typeface="Courier New" pitchFamily="34" charset="-120"/>
              </a:rPr>
              <a:t>* Author: Kajola Gbenga Adewale.</a:t>
            </a:r>
            <a:endParaRPr lang="en-US" sz="900" dirty="0"/>
          </a:p>
        </p:txBody>
      </p:sp>
      <p:sp>
        <p:nvSpPr>
          <p:cNvPr id="8" name="Text 6"/>
          <p:cNvSpPr/>
          <p:nvPr/>
        </p:nvSpPr>
        <p:spPr>
          <a:xfrm>
            <a:off x="502920" y="1879092"/>
            <a:ext cx="4892040" cy="192024"/>
          </a:xfrm>
          <a:prstGeom prst="rect">
            <a:avLst/>
          </a:prstGeom>
          <a:noFill/>
          <a:ln/>
        </p:spPr>
        <p:txBody>
          <a:bodyPr wrap="square" lIns="0" tIns="0" rIns="0" bIns="0" rtlCol="0" anchor="ctr"/>
          <a:lstStyle/>
          <a:p>
            <a:pPr indent="0" marL="0">
              <a:buNone/>
            </a:pPr>
            <a:r>
              <a:rPr lang="en-US" sz="900" dirty="0">
                <a:solidFill>
                  <a:srgbClr val="6A9955"/>
                </a:solidFill>
                <a:latin typeface="Courier New" pitchFamily="34" charset="0"/>
                <a:ea typeface="Courier New" pitchFamily="34" charset="-122"/>
                <a:cs typeface="Courier New" pitchFamily="34" charset="-120"/>
              </a:rPr>
              <a:t>* UAC Foods Consumer Survey Analysis 2025.</a:t>
            </a:r>
            <a:endParaRPr lang="en-US" sz="900" dirty="0"/>
          </a:p>
        </p:txBody>
      </p:sp>
      <p:sp>
        <p:nvSpPr>
          <p:cNvPr id="9" name="Text 7"/>
          <p:cNvSpPr/>
          <p:nvPr/>
        </p:nvSpPr>
        <p:spPr>
          <a:xfrm>
            <a:off x="502920" y="2066544"/>
            <a:ext cx="4892040" cy="192024"/>
          </a:xfrm>
          <a:prstGeom prst="rect">
            <a:avLst/>
          </a:prstGeom>
          <a:noFill/>
          <a:ln/>
        </p:spPr>
        <p:txBody>
          <a:bodyPr wrap="square" lIns="0" tIns="0" rIns="0" bIns="0" rtlCol="0" anchor="ctr"/>
          <a:lstStyle/>
          <a:p>
            <a:pPr indent="0" marL="0">
              <a:buNone/>
            </a:pPr>
            <a:endParaRPr lang="en-US" sz="900" dirty="0"/>
          </a:p>
        </p:txBody>
      </p:sp>
      <p:sp>
        <p:nvSpPr>
          <p:cNvPr id="10" name="Text 8"/>
          <p:cNvSpPr/>
          <p:nvPr/>
        </p:nvSpPr>
        <p:spPr>
          <a:xfrm>
            <a:off x="502920" y="2253996"/>
            <a:ext cx="4892040" cy="192024"/>
          </a:xfrm>
          <a:prstGeom prst="rect">
            <a:avLst/>
          </a:prstGeom>
          <a:noFill/>
          <a:ln/>
        </p:spPr>
        <p:txBody>
          <a:bodyPr wrap="square" lIns="0" tIns="0" rIns="0" bIns="0" rtlCol="0" anchor="ctr"/>
          <a:lstStyle/>
          <a:p>
            <a:pPr indent="0" marL="0">
              <a:buNone/>
            </a:pPr>
            <a:r>
              <a:rPr lang="en-US" sz="900" dirty="0">
                <a:solidFill>
                  <a:srgbClr val="6A9955"/>
                </a:solidFill>
                <a:latin typeface="Courier New" pitchFamily="34" charset="0"/>
                <a:ea typeface="Courier New" pitchFamily="34" charset="-122"/>
                <a:cs typeface="Courier New" pitchFamily="34" charset="-120"/>
              </a:rPr>
              <a:t>* Step 1: Recode age into 4 groups.</a:t>
            </a:r>
            <a:endParaRPr lang="en-US" sz="900" dirty="0"/>
          </a:p>
        </p:txBody>
      </p:sp>
      <p:sp>
        <p:nvSpPr>
          <p:cNvPr id="11" name="Text 9"/>
          <p:cNvSpPr/>
          <p:nvPr/>
        </p:nvSpPr>
        <p:spPr>
          <a:xfrm>
            <a:off x="502920" y="2441448"/>
            <a:ext cx="4892040" cy="192024"/>
          </a:xfrm>
          <a:prstGeom prst="rect">
            <a:avLst/>
          </a:prstGeom>
          <a:noFill/>
          <a:ln/>
        </p:spPr>
        <p:txBody>
          <a:bodyPr wrap="square" lIns="0" tIns="0" rIns="0" bIns="0" rtlCol="0" anchor="ctr"/>
          <a:lstStyle/>
          <a:p>
            <a:pPr indent="0" marL="0">
              <a:buNone/>
            </a:pPr>
            <a:r>
              <a:rPr lang="en-US" sz="900" dirty="0">
                <a:solidFill>
                  <a:srgbClr val="9CDCFE"/>
                </a:solidFill>
                <a:latin typeface="Courier New" pitchFamily="34" charset="0"/>
                <a:ea typeface="Courier New" pitchFamily="34" charset="-122"/>
                <a:cs typeface="Courier New" pitchFamily="34" charset="-120"/>
              </a:rPr>
              <a:t>RECODE age</a:t>
            </a:r>
            <a:endParaRPr lang="en-US" sz="900" dirty="0"/>
          </a:p>
        </p:txBody>
      </p:sp>
      <p:sp>
        <p:nvSpPr>
          <p:cNvPr id="12" name="Text 10"/>
          <p:cNvSpPr/>
          <p:nvPr/>
        </p:nvSpPr>
        <p:spPr>
          <a:xfrm>
            <a:off x="502920" y="2628900"/>
            <a:ext cx="4892040" cy="192024"/>
          </a:xfrm>
          <a:prstGeom prst="rect">
            <a:avLst/>
          </a:prstGeom>
          <a:noFill/>
          <a:ln/>
        </p:spPr>
        <p:txBody>
          <a:bodyPr wrap="square" lIns="0" tIns="0" rIns="0" bIns="0" rtlCol="0" anchor="ctr"/>
          <a:lstStyle/>
          <a:p>
            <a:pPr indent="0" marL="0">
              <a:buNone/>
            </a:pPr>
            <a:r>
              <a:rPr lang="en-US" sz="900" dirty="0">
                <a:solidFill>
                  <a:srgbClr val="9CDCFE"/>
                </a:solidFill>
                <a:latin typeface="Courier New" pitchFamily="34" charset="0"/>
                <a:ea typeface="Courier New" pitchFamily="34" charset="-122"/>
                <a:cs typeface="Courier New" pitchFamily="34" charset="-120"/>
              </a:rPr>
              <a:t>  (18 THRU 30=1)(31 THRU 45=2)</a:t>
            </a:r>
            <a:endParaRPr lang="en-US" sz="900" dirty="0"/>
          </a:p>
        </p:txBody>
      </p:sp>
      <p:sp>
        <p:nvSpPr>
          <p:cNvPr id="13" name="Text 11"/>
          <p:cNvSpPr/>
          <p:nvPr/>
        </p:nvSpPr>
        <p:spPr>
          <a:xfrm>
            <a:off x="502920" y="2816352"/>
            <a:ext cx="4892040" cy="192024"/>
          </a:xfrm>
          <a:prstGeom prst="rect">
            <a:avLst/>
          </a:prstGeom>
          <a:noFill/>
          <a:ln/>
        </p:spPr>
        <p:txBody>
          <a:bodyPr wrap="square" lIns="0" tIns="0" rIns="0" bIns="0" rtlCol="0" anchor="ctr"/>
          <a:lstStyle/>
          <a:p>
            <a:pPr indent="0" marL="0">
              <a:buNone/>
            </a:pPr>
            <a:r>
              <a:rPr lang="en-US" sz="900" dirty="0">
                <a:solidFill>
                  <a:srgbClr val="9CDCFE"/>
                </a:solidFill>
                <a:latin typeface="Courier New" pitchFamily="34" charset="0"/>
                <a:ea typeface="Courier New" pitchFamily="34" charset="-122"/>
                <a:cs typeface="Courier New" pitchFamily="34" charset="-120"/>
              </a:rPr>
              <a:t>  (46 THRU 60=3)(61 THRU HI=4)</a:t>
            </a:r>
            <a:endParaRPr lang="en-US" sz="900" dirty="0"/>
          </a:p>
        </p:txBody>
      </p:sp>
      <p:sp>
        <p:nvSpPr>
          <p:cNvPr id="14" name="Text 12"/>
          <p:cNvSpPr/>
          <p:nvPr/>
        </p:nvSpPr>
        <p:spPr>
          <a:xfrm>
            <a:off x="502920" y="3003804"/>
            <a:ext cx="4892040" cy="192024"/>
          </a:xfrm>
          <a:prstGeom prst="rect">
            <a:avLst/>
          </a:prstGeom>
          <a:noFill/>
          <a:ln/>
        </p:spPr>
        <p:txBody>
          <a:bodyPr wrap="square" lIns="0" tIns="0" rIns="0" bIns="0" rtlCol="0" anchor="ctr"/>
          <a:lstStyle/>
          <a:p>
            <a:pPr indent="0" marL="0">
              <a:buNone/>
            </a:pPr>
            <a:r>
              <a:rPr lang="en-US" sz="900" dirty="0">
                <a:solidFill>
                  <a:srgbClr val="9CDCFE"/>
                </a:solidFill>
                <a:latin typeface="Courier New" pitchFamily="34" charset="0"/>
                <a:ea typeface="Courier New" pitchFamily="34" charset="-122"/>
                <a:cs typeface="Courier New" pitchFamily="34" charset="-120"/>
              </a:rPr>
              <a:t>  INTO age_group.</a:t>
            </a:r>
            <a:endParaRPr lang="en-US" sz="900" dirty="0"/>
          </a:p>
        </p:txBody>
      </p:sp>
      <p:sp>
        <p:nvSpPr>
          <p:cNvPr id="15" name="Text 13"/>
          <p:cNvSpPr/>
          <p:nvPr/>
        </p:nvSpPr>
        <p:spPr>
          <a:xfrm>
            <a:off x="502920" y="3191256"/>
            <a:ext cx="4892040" cy="192024"/>
          </a:xfrm>
          <a:prstGeom prst="rect">
            <a:avLst/>
          </a:prstGeom>
          <a:noFill/>
          <a:ln/>
        </p:spPr>
        <p:txBody>
          <a:bodyPr wrap="square" lIns="0" tIns="0" rIns="0" bIns="0" rtlCol="0" anchor="ctr"/>
          <a:lstStyle/>
          <a:p>
            <a:pPr indent="0" marL="0">
              <a:buNone/>
            </a:pPr>
            <a:r>
              <a:rPr lang="en-US" sz="900" dirty="0">
                <a:solidFill>
                  <a:srgbClr val="CE9178"/>
                </a:solidFill>
                <a:latin typeface="Courier New" pitchFamily="34" charset="0"/>
                <a:ea typeface="Courier New" pitchFamily="34" charset="-122"/>
                <a:cs typeface="Courier New" pitchFamily="34" charset="-120"/>
              </a:rPr>
              <a:t>VARIABLE LABELS age_group 'Age Group'.</a:t>
            </a:r>
            <a:endParaRPr lang="en-US" sz="900" dirty="0"/>
          </a:p>
        </p:txBody>
      </p:sp>
      <p:sp>
        <p:nvSpPr>
          <p:cNvPr id="16" name="Text 14"/>
          <p:cNvSpPr/>
          <p:nvPr/>
        </p:nvSpPr>
        <p:spPr>
          <a:xfrm>
            <a:off x="502920" y="3378708"/>
            <a:ext cx="4892040" cy="192024"/>
          </a:xfrm>
          <a:prstGeom prst="rect">
            <a:avLst/>
          </a:prstGeom>
          <a:noFill/>
          <a:ln/>
        </p:spPr>
        <p:txBody>
          <a:bodyPr wrap="square" lIns="0" tIns="0" rIns="0" bIns="0" rtlCol="0" anchor="ctr"/>
          <a:lstStyle/>
          <a:p>
            <a:pPr indent="0" marL="0">
              <a:buNone/>
            </a:pPr>
            <a:r>
              <a:rPr lang="en-US" sz="900" dirty="0">
                <a:solidFill>
                  <a:srgbClr val="CE9178"/>
                </a:solidFill>
                <a:latin typeface="Courier New" pitchFamily="34" charset="0"/>
                <a:ea typeface="Courier New" pitchFamily="34" charset="-122"/>
                <a:cs typeface="Courier New" pitchFamily="34" charset="-120"/>
              </a:rPr>
              <a:t>VALUE LABELS age_group</a:t>
            </a:r>
            <a:endParaRPr lang="en-US" sz="900" dirty="0"/>
          </a:p>
        </p:txBody>
      </p:sp>
      <p:sp>
        <p:nvSpPr>
          <p:cNvPr id="17" name="Text 15"/>
          <p:cNvSpPr/>
          <p:nvPr/>
        </p:nvSpPr>
        <p:spPr>
          <a:xfrm>
            <a:off x="502920" y="3566160"/>
            <a:ext cx="4892040" cy="192024"/>
          </a:xfrm>
          <a:prstGeom prst="rect">
            <a:avLst/>
          </a:prstGeom>
          <a:noFill/>
          <a:ln/>
        </p:spPr>
        <p:txBody>
          <a:bodyPr wrap="square" lIns="0" tIns="0" rIns="0" bIns="0" rtlCol="0" anchor="ctr"/>
          <a:lstStyle/>
          <a:p>
            <a:pPr indent="0" marL="0">
              <a:buNone/>
            </a:pPr>
            <a:r>
              <a:rPr lang="en-US" sz="900" dirty="0">
                <a:solidFill>
                  <a:srgbClr val="CE9178"/>
                </a:solidFill>
                <a:latin typeface="Courier New" pitchFamily="34" charset="0"/>
                <a:ea typeface="Courier New" pitchFamily="34" charset="-122"/>
                <a:cs typeface="Courier New" pitchFamily="34" charset="-120"/>
              </a:rPr>
              <a:t>  1 'Youth (18-30)' 2 'Adult (31-45)'</a:t>
            </a:r>
            <a:endParaRPr lang="en-US" sz="900" dirty="0"/>
          </a:p>
        </p:txBody>
      </p:sp>
      <p:sp>
        <p:nvSpPr>
          <p:cNvPr id="18" name="Text 16"/>
          <p:cNvSpPr/>
          <p:nvPr/>
        </p:nvSpPr>
        <p:spPr>
          <a:xfrm>
            <a:off x="502920" y="3753612"/>
            <a:ext cx="4892040" cy="192024"/>
          </a:xfrm>
          <a:prstGeom prst="rect">
            <a:avLst/>
          </a:prstGeom>
          <a:noFill/>
          <a:ln/>
        </p:spPr>
        <p:txBody>
          <a:bodyPr wrap="square" lIns="0" tIns="0" rIns="0" bIns="0" rtlCol="0" anchor="ctr"/>
          <a:lstStyle/>
          <a:p>
            <a:pPr indent="0" marL="0">
              <a:buNone/>
            </a:pPr>
            <a:r>
              <a:rPr lang="en-US" sz="900" dirty="0">
                <a:solidFill>
                  <a:srgbClr val="CE9178"/>
                </a:solidFill>
                <a:latin typeface="Courier New" pitchFamily="34" charset="0"/>
                <a:ea typeface="Courier New" pitchFamily="34" charset="-122"/>
                <a:cs typeface="Courier New" pitchFamily="34" charset="-120"/>
              </a:rPr>
              <a:t>  3 'Mature (46-60)' 4 'Senior (61+)'.</a:t>
            </a:r>
            <a:endParaRPr lang="en-US" sz="900" dirty="0"/>
          </a:p>
        </p:txBody>
      </p:sp>
      <p:sp>
        <p:nvSpPr>
          <p:cNvPr id="19" name="Text 17"/>
          <p:cNvSpPr/>
          <p:nvPr/>
        </p:nvSpPr>
        <p:spPr>
          <a:xfrm>
            <a:off x="502920" y="3941064"/>
            <a:ext cx="4892040" cy="192024"/>
          </a:xfrm>
          <a:prstGeom prst="rect">
            <a:avLst/>
          </a:prstGeom>
          <a:noFill/>
          <a:ln/>
        </p:spPr>
        <p:txBody>
          <a:bodyPr wrap="square" lIns="0" tIns="0" rIns="0" bIns="0" rtlCol="0" anchor="ctr"/>
          <a:lstStyle/>
          <a:p>
            <a:pPr indent="0" marL="0">
              <a:buNone/>
            </a:pPr>
            <a:r>
              <a:rPr lang="en-US" sz="900" dirty="0">
                <a:solidFill>
                  <a:srgbClr val="569CD6"/>
                </a:solidFill>
                <a:latin typeface="Courier New" pitchFamily="34" charset="0"/>
                <a:ea typeface="Courier New" pitchFamily="34" charset="-122"/>
                <a:cs typeface="Courier New" pitchFamily="34" charset="-120"/>
              </a:rPr>
              <a:t>EXECUTE.</a:t>
            </a:r>
            <a:endParaRPr lang="en-US" sz="900" dirty="0"/>
          </a:p>
        </p:txBody>
      </p:sp>
      <p:sp>
        <p:nvSpPr>
          <p:cNvPr id="20" name="Text 18"/>
          <p:cNvSpPr/>
          <p:nvPr/>
        </p:nvSpPr>
        <p:spPr>
          <a:xfrm>
            <a:off x="502920" y="4128516"/>
            <a:ext cx="4892040" cy="192024"/>
          </a:xfrm>
          <a:prstGeom prst="rect">
            <a:avLst/>
          </a:prstGeom>
          <a:noFill/>
          <a:ln/>
        </p:spPr>
        <p:txBody>
          <a:bodyPr wrap="square" lIns="0" tIns="0" rIns="0" bIns="0" rtlCol="0" anchor="ctr"/>
          <a:lstStyle/>
          <a:p>
            <a:pPr indent="0" marL="0">
              <a:buNone/>
            </a:pPr>
            <a:endParaRPr lang="en-US" sz="900" dirty="0"/>
          </a:p>
        </p:txBody>
      </p:sp>
      <p:sp>
        <p:nvSpPr>
          <p:cNvPr id="21" name="Text 19"/>
          <p:cNvSpPr/>
          <p:nvPr/>
        </p:nvSpPr>
        <p:spPr>
          <a:xfrm>
            <a:off x="502920" y="4315968"/>
            <a:ext cx="4892040" cy="192024"/>
          </a:xfrm>
          <a:prstGeom prst="rect">
            <a:avLst/>
          </a:prstGeom>
          <a:noFill/>
          <a:ln/>
        </p:spPr>
        <p:txBody>
          <a:bodyPr wrap="square" lIns="0" tIns="0" rIns="0" bIns="0" rtlCol="0" anchor="ctr"/>
          <a:lstStyle/>
          <a:p>
            <a:pPr indent="0" marL="0">
              <a:buNone/>
            </a:pPr>
            <a:r>
              <a:rPr lang="en-US" sz="900" dirty="0">
                <a:solidFill>
                  <a:srgbClr val="6A9955"/>
                </a:solidFill>
                <a:latin typeface="Courier New" pitchFamily="34" charset="0"/>
                <a:ea typeface="Courier New" pitchFamily="34" charset="-122"/>
                <a:cs typeface="Courier New" pitchFamily="34" charset="-120"/>
              </a:rPr>
              <a:t>* Step 2: Run descriptive statistics.</a:t>
            </a:r>
            <a:endParaRPr lang="en-US" sz="900" dirty="0"/>
          </a:p>
        </p:txBody>
      </p:sp>
      <p:sp>
        <p:nvSpPr>
          <p:cNvPr id="22" name="Text 20"/>
          <p:cNvSpPr/>
          <p:nvPr/>
        </p:nvSpPr>
        <p:spPr>
          <a:xfrm>
            <a:off x="502920" y="4503420"/>
            <a:ext cx="4892040" cy="192024"/>
          </a:xfrm>
          <a:prstGeom prst="rect">
            <a:avLst/>
          </a:prstGeom>
          <a:noFill/>
          <a:ln/>
        </p:spPr>
        <p:txBody>
          <a:bodyPr wrap="square" lIns="0" tIns="0" rIns="0" bIns="0" rtlCol="0" anchor="ctr"/>
          <a:lstStyle/>
          <a:p>
            <a:pPr indent="0" marL="0">
              <a:buNone/>
            </a:pPr>
            <a:r>
              <a:rPr lang="en-US" sz="900" dirty="0">
                <a:solidFill>
                  <a:srgbClr val="9CDCFE"/>
                </a:solidFill>
                <a:latin typeface="Courier New" pitchFamily="34" charset="0"/>
                <a:ea typeface="Courier New" pitchFamily="34" charset="-122"/>
                <a:cs typeface="Courier New" pitchFamily="34" charset="-120"/>
              </a:rPr>
              <a:t>FREQUENCIES VARIABLES=gender uac_product</a:t>
            </a:r>
            <a:endParaRPr lang="en-US" sz="900" dirty="0"/>
          </a:p>
        </p:txBody>
      </p:sp>
      <p:sp>
        <p:nvSpPr>
          <p:cNvPr id="23" name="Text 21"/>
          <p:cNvSpPr/>
          <p:nvPr/>
        </p:nvSpPr>
        <p:spPr>
          <a:xfrm>
            <a:off x="502920" y="4690872"/>
            <a:ext cx="4892040" cy="192024"/>
          </a:xfrm>
          <a:prstGeom prst="rect">
            <a:avLst/>
          </a:prstGeom>
          <a:noFill/>
          <a:ln/>
        </p:spPr>
        <p:txBody>
          <a:bodyPr wrap="square" lIns="0" tIns="0" rIns="0" bIns="0" rtlCol="0" anchor="ctr"/>
          <a:lstStyle/>
          <a:p>
            <a:pPr indent="0" marL="0">
              <a:buNone/>
            </a:pPr>
            <a:r>
              <a:rPr lang="en-US" sz="900" dirty="0">
                <a:solidFill>
                  <a:srgbClr val="9CDCFE"/>
                </a:solidFill>
                <a:latin typeface="Courier New" pitchFamily="34" charset="0"/>
                <a:ea typeface="Courier New" pitchFamily="34" charset="-122"/>
                <a:cs typeface="Courier New" pitchFamily="34" charset="-120"/>
              </a:rPr>
              <a:t>  /STATISTICS=MEAN MEDIAN MODE STDDEV</a:t>
            </a:r>
            <a:endParaRPr lang="en-US" sz="900" dirty="0"/>
          </a:p>
        </p:txBody>
      </p:sp>
      <p:sp>
        <p:nvSpPr>
          <p:cNvPr id="24" name="Text 22"/>
          <p:cNvSpPr/>
          <p:nvPr/>
        </p:nvSpPr>
        <p:spPr>
          <a:xfrm>
            <a:off x="502920" y="4878324"/>
            <a:ext cx="4892040" cy="192024"/>
          </a:xfrm>
          <a:prstGeom prst="rect">
            <a:avLst/>
          </a:prstGeom>
          <a:noFill/>
          <a:ln/>
        </p:spPr>
        <p:txBody>
          <a:bodyPr wrap="square" lIns="0" tIns="0" rIns="0" bIns="0" rtlCol="0" anchor="ctr"/>
          <a:lstStyle/>
          <a:p>
            <a:pPr indent="0" marL="0">
              <a:buNone/>
            </a:pPr>
            <a:r>
              <a:rPr lang="en-US" sz="900" dirty="0">
                <a:solidFill>
                  <a:srgbClr val="9CDCFE"/>
                </a:solidFill>
                <a:latin typeface="Courier New" pitchFamily="34" charset="0"/>
                <a:ea typeface="Courier New" pitchFamily="34" charset="-122"/>
                <a:cs typeface="Courier New" pitchFamily="34" charset="-120"/>
              </a:rPr>
              <a:t>  /HISTOGRAM NORMAL</a:t>
            </a:r>
            <a:endParaRPr lang="en-US" sz="900" dirty="0"/>
          </a:p>
        </p:txBody>
      </p:sp>
      <p:sp>
        <p:nvSpPr>
          <p:cNvPr id="25" name="Text 23"/>
          <p:cNvSpPr/>
          <p:nvPr/>
        </p:nvSpPr>
        <p:spPr>
          <a:xfrm>
            <a:off x="502920" y="5065776"/>
            <a:ext cx="4892040" cy="192024"/>
          </a:xfrm>
          <a:prstGeom prst="rect">
            <a:avLst/>
          </a:prstGeom>
          <a:noFill/>
          <a:ln/>
        </p:spPr>
        <p:txBody>
          <a:bodyPr wrap="square" lIns="0" tIns="0" rIns="0" bIns="0" rtlCol="0" anchor="ctr"/>
          <a:lstStyle/>
          <a:p>
            <a:pPr indent="0" marL="0">
              <a:buNone/>
            </a:pPr>
            <a:r>
              <a:rPr lang="en-US" sz="900" dirty="0">
                <a:solidFill>
                  <a:srgbClr val="9CDCFE"/>
                </a:solidFill>
                <a:latin typeface="Courier New" pitchFamily="34" charset="0"/>
                <a:ea typeface="Courier New" pitchFamily="34" charset="-122"/>
                <a:cs typeface="Courier New" pitchFamily="34" charset="-120"/>
              </a:rPr>
              <a:t>  /ORDER=ANALYSIS.</a:t>
            </a:r>
            <a:endParaRPr lang="en-US" sz="900" dirty="0"/>
          </a:p>
        </p:txBody>
      </p:sp>
      <p:sp>
        <p:nvSpPr>
          <p:cNvPr id="26" name="Shape 24"/>
          <p:cNvSpPr/>
          <p:nvPr/>
        </p:nvSpPr>
        <p:spPr>
          <a:xfrm>
            <a:off x="5623560" y="1280160"/>
            <a:ext cx="3246120" cy="3657600"/>
          </a:xfrm>
          <a:prstGeom prst="roundRect">
            <a:avLst>
              <a:gd name="adj" fmla="val 2817"/>
            </a:avLst>
          </a:prstGeom>
          <a:solidFill>
            <a:srgbClr val="0E2030"/>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27" name="Text 25"/>
          <p:cNvSpPr/>
          <p:nvPr/>
        </p:nvSpPr>
        <p:spPr>
          <a:xfrm>
            <a:off x="5742432" y="1371600"/>
            <a:ext cx="2999232" cy="292608"/>
          </a:xfrm>
          <a:prstGeom prst="rect">
            <a:avLst/>
          </a:prstGeom>
          <a:noFill/>
          <a:ln/>
        </p:spPr>
        <p:txBody>
          <a:bodyPr wrap="square" lIns="0" tIns="0" rIns="0" bIns="0" rtlCol="0" anchor="ctr"/>
          <a:lstStyle/>
          <a:p>
            <a:pPr indent="0" marL="0">
              <a:buNone/>
            </a:pPr>
            <a:r>
              <a:rPr lang="en-US" sz="1200" b="1" dirty="0">
                <a:solidFill>
                  <a:srgbClr val="F0C040"/>
                </a:solidFill>
                <a:latin typeface="Calibri" pitchFamily="34" charset="0"/>
                <a:ea typeface="Calibri" pitchFamily="34" charset="-122"/>
                <a:cs typeface="Calibri" pitchFamily="34" charset="-120"/>
              </a:rPr>
              <a:t>Syntax Rules</a:t>
            </a:r>
            <a:endParaRPr lang="en-US" sz="1200" dirty="0"/>
          </a:p>
        </p:txBody>
      </p:sp>
      <p:sp>
        <p:nvSpPr>
          <p:cNvPr id="28" name="Shape 26"/>
          <p:cNvSpPr/>
          <p:nvPr/>
        </p:nvSpPr>
        <p:spPr>
          <a:xfrm>
            <a:off x="5687568" y="1755648"/>
            <a:ext cx="3090672" cy="402336"/>
          </a:xfrm>
          <a:prstGeom prst="roundRect">
            <a:avLst>
              <a:gd name="adj" fmla="val 11364"/>
            </a:avLst>
          </a:prstGeom>
          <a:solidFill>
            <a:srgbClr val="13253A"/>
          </a:solidFill>
          <a:ln w="6350">
            <a:solidFill>
              <a:srgbClr val="27517A"/>
            </a:solidFill>
            <a:prstDash val="solid"/>
          </a:ln>
        </p:spPr>
      </p:sp>
      <p:sp>
        <p:nvSpPr>
          <p:cNvPr id="29" name="Text 27"/>
          <p:cNvSpPr/>
          <p:nvPr/>
        </p:nvSpPr>
        <p:spPr>
          <a:xfrm>
            <a:off x="5760720" y="1792224"/>
            <a:ext cx="2944368" cy="182880"/>
          </a:xfrm>
          <a:prstGeom prst="rect">
            <a:avLst/>
          </a:prstGeom>
          <a:noFill/>
          <a:ln/>
        </p:spPr>
        <p:txBody>
          <a:bodyPr wrap="square" lIns="0" tIns="0" rIns="0" bIns="0" rtlCol="0" anchor="ctr"/>
          <a:lstStyle/>
          <a:p>
            <a:pPr indent="0" marL="0">
              <a:buNone/>
            </a:pPr>
            <a:r>
              <a:rPr lang="en-US" sz="900" b="1" dirty="0">
                <a:solidFill>
                  <a:srgbClr val="2E86C1"/>
                </a:solidFill>
                <a:latin typeface="Calibri" pitchFamily="34" charset="0"/>
                <a:ea typeface="Calibri" pitchFamily="34" charset="-122"/>
                <a:cs typeface="Calibri" pitchFamily="34" charset="-120"/>
              </a:rPr>
              <a:t>Commands start with keyword</a:t>
            </a:r>
            <a:endParaRPr lang="en-US" sz="900" dirty="0"/>
          </a:p>
        </p:txBody>
      </p:sp>
      <p:sp>
        <p:nvSpPr>
          <p:cNvPr id="30" name="Text 28"/>
          <p:cNvSpPr/>
          <p:nvPr/>
        </p:nvSpPr>
        <p:spPr>
          <a:xfrm>
            <a:off x="5760720" y="1975104"/>
            <a:ext cx="2944368" cy="164592"/>
          </a:xfrm>
          <a:prstGeom prst="rect">
            <a:avLst/>
          </a:prstGeom>
          <a:noFill/>
          <a:ln/>
        </p:spPr>
        <p:txBody>
          <a:bodyPr wrap="square" lIns="0" tIns="0" rIns="0" bIns="0" rtlCol="0" anchor="ctr"/>
          <a:lstStyle/>
          <a:p>
            <a:pPr indent="0" marL="0">
              <a:buNone/>
            </a:pPr>
            <a:r>
              <a:rPr lang="en-US" sz="850" dirty="0">
                <a:solidFill>
                  <a:srgbClr val="D4A017"/>
                </a:solidFill>
                <a:latin typeface="Courier New" pitchFamily="34" charset="0"/>
                <a:ea typeface="Courier New" pitchFamily="34" charset="-122"/>
                <a:cs typeface="Courier New" pitchFamily="34" charset="-120"/>
              </a:rPr>
              <a:t>FREQUENCIES, RECODE, COMPUTE</a:t>
            </a:r>
            <a:endParaRPr lang="en-US" sz="850" dirty="0"/>
          </a:p>
        </p:txBody>
      </p:sp>
      <p:sp>
        <p:nvSpPr>
          <p:cNvPr id="31" name="Shape 29"/>
          <p:cNvSpPr/>
          <p:nvPr/>
        </p:nvSpPr>
        <p:spPr>
          <a:xfrm>
            <a:off x="5687568" y="2212848"/>
            <a:ext cx="3090672" cy="402336"/>
          </a:xfrm>
          <a:prstGeom prst="roundRect">
            <a:avLst>
              <a:gd name="adj" fmla="val 11364"/>
            </a:avLst>
          </a:prstGeom>
          <a:solidFill>
            <a:srgbClr val="13253A"/>
          </a:solidFill>
          <a:ln w="6350">
            <a:solidFill>
              <a:srgbClr val="27517A"/>
            </a:solidFill>
            <a:prstDash val="solid"/>
          </a:ln>
        </p:spPr>
      </p:sp>
      <p:sp>
        <p:nvSpPr>
          <p:cNvPr id="32" name="Text 30"/>
          <p:cNvSpPr/>
          <p:nvPr/>
        </p:nvSpPr>
        <p:spPr>
          <a:xfrm>
            <a:off x="5760720" y="2249424"/>
            <a:ext cx="2944368" cy="182880"/>
          </a:xfrm>
          <a:prstGeom prst="rect">
            <a:avLst/>
          </a:prstGeom>
          <a:noFill/>
          <a:ln/>
        </p:spPr>
        <p:txBody>
          <a:bodyPr wrap="square" lIns="0" tIns="0" rIns="0" bIns="0" rtlCol="0" anchor="ctr"/>
          <a:lstStyle/>
          <a:p>
            <a:pPr indent="0" marL="0">
              <a:buNone/>
            </a:pPr>
            <a:r>
              <a:rPr lang="en-US" sz="900" b="1" dirty="0">
                <a:solidFill>
                  <a:srgbClr val="2E86C1"/>
                </a:solidFill>
                <a:latin typeface="Calibri" pitchFamily="34" charset="0"/>
                <a:ea typeface="Calibri" pitchFamily="34" charset="-122"/>
                <a:cs typeface="Calibri" pitchFamily="34" charset="-120"/>
              </a:rPr>
              <a:t>Each command ends with a period (.)</a:t>
            </a:r>
            <a:endParaRPr lang="en-US" sz="900" dirty="0"/>
          </a:p>
        </p:txBody>
      </p:sp>
      <p:sp>
        <p:nvSpPr>
          <p:cNvPr id="33" name="Text 31"/>
          <p:cNvSpPr/>
          <p:nvPr/>
        </p:nvSpPr>
        <p:spPr>
          <a:xfrm>
            <a:off x="5760720" y="2432304"/>
            <a:ext cx="2944368" cy="164592"/>
          </a:xfrm>
          <a:prstGeom prst="rect">
            <a:avLst/>
          </a:prstGeom>
          <a:noFill/>
          <a:ln/>
        </p:spPr>
        <p:txBody>
          <a:bodyPr wrap="square" lIns="0" tIns="0" rIns="0" bIns="0" rtlCol="0" anchor="ctr"/>
          <a:lstStyle/>
          <a:p>
            <a:pPr indent="0" marL="0">
              <a:buNone/>
            </a:pPr>
            <a:r>
              <a:rPr lang="en-US" sz="850" dirty="0">
                <a:solidFill>
                  <a:srgbClr val="D4A017"/>
                </a:solidFill>
                <a:latin typeface="Courier New" pitchFamily="34" charset="0"/>
                <a:ea typeface="Courier New" pitchFamily="34" charset="-122"/>
                <a:cs typeface="Courier New" pitchFamily="34" charset="-120"/>
              </a:rPr>
              <a:t>EXECUTE.</a:t>
            </a:r>
            <a:endParaRPr lang="en-US" sz="850" dirty="0"/>
          </a:p>
        </p:txBody>
      </p:sp>
      <p:sp>
        <p:nvSpPr>
          <p:cNvPr id="34" name="Shape 32"/>
          <p:cNvSpPr/>
          <p:nvPr/>
        </p:nvSpPr>
        <p:spPr>
          <a:xfrm>
            <a:off x="5687568" y="2670048"/>
            <a:ext cx="3090672" cy="402336"/>
          </a:xfrm>
          <a:prstGeom prst="roundRect">
            <a:avLst>
              <a:gd name="adj" fmla="val 11364"/>
            </a:avLst>
          </a:prstGeom>
          <a:solidFill>
            <a:srgbClr val="13253A"/>
          </a:solidFill>
          <a:ln w="6350">
            <a:solidFill>
              <a:srgbClr val="27517A"/>
            </a:solidFill>
            <a:prstDash val="solid"/>
          </a:ln>
        </p:spPr>
      </p:sp>
      <p:sp>
        <p:nvSpPr>
          <p:cNvPr id="35" name="Text 33"/>
          <p:cNvSpPr/>
          <p:nvPr/>
        </p:nvSpPr>
        <p:spPr>
          <a:xfrm>
            <a:off x="5760720" y="2706624"/>
            <a:ext cx="2944368" cy="182880"/>
          </a:xfrm>
          <a:prstGeom prst="rect">
            <a:avLst/>
          </a:prstGeom>
          <a:noFill/>
          <a:ln/>
        </p:spPr>
        <p:txBody>
          <a:bodyPr wrap="square" lIns="0" tIns="0" rIns="0" bIns="0" rtlCol="0" anchor="ctr"/>
          <a:lstStyle/>
          <a:p>
            <a:pPr indent="0" marL="0">
              <a:buNone/>
            </a:pPr>
            <a:r>
              <a:rPr lang="en-US" sz="900" b="1" dirty="0">
                <a:solidFill>
                  <a:srgbClr val="2E86C1"/>
                </a:solidFill>
                <a:latin typeface="Calibri" pitchFamily="34" charset="0"/>
                <a:ea typeface="Calibri" pitchFamily="34" charset="-122"/>
                <a:cs typeface="Calibri" pitchFamily="34" charset="-120"/>
              </a:rPr>
              <a:t>Subcommands begin with /</a:t>
            </a:r>
            <a:endParaRPr lang="en-US" sz="900" dirty="0"/>
          </a:p>
        </p:txBody>
      </p:sp>
      <p:sp>
        <p:nvSpPr>
          <p:cNvPr id="36" name="Text 34"/>
          <p:cNvSpPr/>
          <p:nvPr/>
        </p:nvSpPr>
        <p:spPr>
          <a:xfrm>
            <a:off x="5760720" y="2889504"/>
            <a:ext cx="2944368" cy="164592"/>
          </a:xfrm>
          <a:prstGeom prst="rect">
            <a:avLst/>
          </a:prstGeom>
          <a:noFill/>
          <a:ln/>
        </p:spPr>
        <p:txBody>
          <a:bodyPr wrap="square" lIns="0" tIns="0" rIns="0" bIns="0" rtlCol="0" anchor="ctr"/>
          <a:lstStyle/>
          <a:p>
            <a:pPr indent="0" marL="0">
              <a:buNone/>
            </a:pPr>
            <a:r>
              <a:rPr lang="en-US" sz="850" dirty="0">
                <a:solidFill>
                  <a:srgbClr val="D4A017"/>
                </a:solidFill>
                <a:latin typeface="Courier New" pitchFamily="34" charset="0"/>
                <a:ea typeface="Courier New" pitchFamily="34" charset="-122"/>
                <a:cs typeface="Courier New" pitchFamily="34" charset="-120"/>
              </a:rPr>
              <a:t>/STATISTICS=MEAN</a:t>
            </a:r>
            <a:endParaRPr lang="en-US" sz="850" dirty="0"/>
          </a:p>
        </p:txBody>
      </p:sp>
      <p:sp>
        <p:nvSpPr>
          <p:cNvPr id="37" name="Shape 35"/>
          <p:cNvSpPr/>
          <p:nvPr/>
        </p:nvSpPr>
        <p:spPr>
          <a:xfrm>
            <a:off x="5687568" y="3127248"/>
            <a:ext cx="3090672" cy="402336"/>
          </a:xfrm>
          <a:prstGeom prst="roundRect">
            <a:avLst>
              <a:gd name="adj" fmla="val 11364"/>
            </a:avLst>
          </a:prstGeom>
          <a:solidFill>
            <a:srgbClr val="13253A"/>
          </a:solidFill>
          <a:ln w="6350">
            <a:solidFill>
              <a:srgbClr val="27517A"/>
            </a:solidFill>
            <a:prstDash val="solid"/>
          </a:ln>
        </p:spPr>
      </p:sp>
      <p:sp>
        <p:nvSpPr>
          <p:cNvPr id="38" name="Text 36"/>
          <p:cNvSpPr/>
          <p:nvPr/>
        </p:nvSpPr>
        <p:spPr>
          <a:xfrm>
            <a:off x="5760720" y="3163824"/>
            <a:ext cx="2944368" cy="182880"/>
          </a:xfrm>
          <a:prstGeom prst="rect">
            <a:avLst/>
          </a:prstGeom>
          <a:noFill/>
          <a:ln/>
        </p:spPr>
        <p:txBody>
          <a:bodyPr wrap="square" lIns="0" tIns="0" rIns="0" bIns="0" rtlCol="0" anchor="ctr"/>
          <a:lstStyle/>
          <a:p>
            <a:pPr indent="0" marL="0">
              <a:buNone/>
            </a:pPr>
            <a:r>
              <a:rPr lang="en-US" sz="900" b="1" dirty="0">
                <a:solidFill>
                  <a:srgbClr val="2E86C1"/>
                </a:solidFill>
                <a:latin typeface="Calibri" pitchFamily="34" charset="0"/>
                <a:ea typeface="Calibri" pitchFamily="34" charset="-122"/>
                <a:cs typeface="Calibri" pitchFamily="34" charset="-120"/>
              </a:rPr>
              <a:t>Comments begin with *</a:t>
            </a:r>
            <a:endParaRPr lang="en-US" sz="900" dirty="0"/>
          </a:p>
        </p:txBody>
      </p:sp>
      <p:sp>
        <p:nvSpPr>
          <p:cNvPr id="39" name="Text 37"/>
          <p:cNvSpPr/>
          <p:nvPr/>
        </p:nvSpPr>
        <p:spPr>
          <a:xfrm>
            <a:off x="5760720" y="3346704"/>
            <a:ext cx="2944368" cy="164592"/>
          </a:xfrm>
          <a:prstGeom prst="rect">
            <a:avLst/>
          </a:prstGeom>
          <a:noFill/>
          <a:ln/>
        </p:spPr>
        <p:txBody>
          <a:bodyPr wrap="square" lIns="0" tIns="0" rIns="0" bIns="0" rtlCol="0" anchor="ctr"/>
          <a:lstStyle/>
          <a:p>
            <a:pPr indent="0" marL="0">
              <a:buNone/>
            </a:pPr>
            <a:r>
              <a:rPr lang="en-US" sz="850" dirty="0">
                <a:solidFill>
                  <a:srgbClr val="D4A017"/>
                </a:solidFill>
                <a:latin typeface="Courier New" pitchFamily="34" charset="0"/>
                <a:ea typeface="Courier New" pitchFamily="34" charset="-122"/>
                <a:cs typeface="Courier New" pitchFamily="34" charset="-120"/>
              </a:rPr>
              <a:t>* This is a comment.</a:t>
            </a:r>
            <a:endParaRPr lang="en-US" sz="850" dirty="0"/>
          </a:p>
        </p:txBody>
      </p:sp>
      <p:sp>
        <p:nvSpPr>
          <p:cNvPr id="40" name="Shape 38"/>
          <p:cNvSpPr/>
          <p:nvPr/>
        </p:nvSpPr>
        <p:spPr>
          <a:xfrm>
            <a:off x="5687568" y="3584448"/>
            <a:ext cx="3090672" cy="402336"/>
          </a:xfrm>
          <a:prstGeom prst="roundRect">
            <a:avLst>
              <a:gd name="adj" fmla="val 11364"/>
            </a:avLst>
          </a:prstGeom>
          <a:solidFill>
            <a:srgbClr val="13253A"/>
          </a:solidFill>
          <a:ln w="6350">
            <a:solidFill>
              <a:srgbClr val="27517A"/>
            </a:solidFill>
            <a:prstDash val="solid"/>
          </a:ln>
        </p:spPr>
      </p:sp>
      <p:sp>
        <p:nvSpPr>
          <p:cNvPr id="41" name="Text 39"/>
          <p:cNvSpPr/>
          <p:nvPr/>
        </p:nvSpPr>
        <p:spPr>
          <a:xfrm>
            <a:off x="5760720" y="3621024"/>
            <a:ext cx="2944368" cy="182880"/>
          </a:xfrm>
          <a:prstGeom prst="rect">
            <a:avLst/>
          </a:prstGeom>
          <a:noFill/>
          <a:ln/>
        </p:spPr>
        <p:txBody>
          <a:bodyPr wrap="square" lIns="0" tIns="0" rIns="0" bIns="0" rtlCol="0" anchor="ctr"/>
          <a:lstStyle/>
          <a:p>
            <a:pPr indent="0" marL="0">
              <a:buNone/>
            </a:pPr>
            <a:r>
              <a:rPr lang="en-US" sz="900" b="1" dirty="0">
                <a:solidFill>
                  <a:srgbClr val="2E86C1"/>
                </a:solidFill>
                <a:latin typeface="Calibri" pitchFamily="34" charset="0"/>
                <a:ea typeface="Calibri" pitchFamily="34" charset="-122"/>
                <a:cs typeface="Calibri" pitchFamily="34" charset="-120"/>
              </a:rPr>
              <a:t>Syntax is NOT case-sensitive</a:t>
            </a:r>
            <a:endParaRPr lang="en-US" sz="900" dirty="0"/>
          </a:p>
        </p:txBody>
      </p:sp>
      <p:sp>
        <p:nvSpPr>
          <p:cNvPr id="42" name="Text 40"/>
          <p:cNvSpPr/>
          <p:nvPr/>
        </p:nvSpPr>
        <p:spPr>
          <a:xfrm>
            <a:off x="5760720" y="3803904"/>
            <a:ext cx="2944368" cy="164592"/>
          </a:xfrm>
          <a:prstGeom prst="rect">
            <a:avLst/>
          </a:prstGeom>
          <a:noFill/>
          <a:ln/>
        </p:spPr>
        <p:txBody>
          <a:bodyPr wrap="square" lIns="0" tIns="0" rIns="0" bIns="0" rtlCol="0" anchor="ctr"/>
          <a:lstStyle/>
          <a:p>
            <a:pPr indent="0" marL="0">
              <a:buNone/>
            </a:pPr>
            <a:r>
              <a:rPr lang="en-US" sz="850" dirty="0">
                <a:solidFill>
                  <a:srgbClr val="D4A017"/>
                </a:solidFill>
                <a:latin typeface="Courier New" pitchFamily="34" charset="0"/>
                <a:ea typeface="Courier New" pitchFamily="34" charset="-122"/>
                <a:cs typeface="Courier New" pitchFamily="34" charset="-120"/>
              </a:rPr>
              <a:t>FREQUENCIES = frequencies</a:t>
            </a:r>
            <a:endParaRPr lang="en-US" sz="850" dirty="0"/>
          </a:p>
        </p:txBody>
      </p:sp>
      <p:sp>
        <p:nvSpPr>
          <p:cNvPr id="43" name="Shape 41"/>
          <p:cNvSpPr/>
          <p:nvPr/>
        </p:nvSpPr>
        <p:spPr>
          <a:xfrm>
            <a:off x="5687568" y="4041648"/>
            <a:ext cx="3090672" cy="402336"/>
          </a:xfrm>
          <a:prstGeom prst="roundRect">
            <a:avLst>
              <a:gd name="adj" fmla="val 11364"/>
            </a:avLst>
          </a:prstGeom>
          <a:solidFill>
            <a:srgbClr val="13253A"/>
          </a:solidFill>
          <a:ln w="6350">
            <a:solidFill>
              <a:srgbClr val="27517A"/>
            </a:solidFill>
            <a:prstDash val="solid"/>
          </a:ln>
        </p:spPr>
      </p:sp>
      <p:sp>
        <p:nvSpPr>
          <p:cNvPr id="44" name="Text 42"/>
          <p:cNvSpPr/>
          <p:nvPr/>
        </p:nvSpPr>
        <p:spPr>
          <a:xfrm>
            <a:off x="5760720" y="4078224"/>
            <a:ext cx="2944368" cy="182880"/>
          </a:xfrm>
          <a:prstGeom prst="rect">
            <a:avLst/>
          </a:prstGeom>
          <a:noFill/>
          <a:ln/>
        </p:spPr>
        <p:txBody>
          <a:bodyPr wrap="square" lIns="0" tIns="0" rIns="0" bIns="0" rtlCol="0" anchor="ctr"/>
          <a:lstStyle/>
          <a:p>
            <a:pPr indent="0" marL="0">
              <a:buNone/>
            </a:pPr>
            <a:r>
              <a:rPr lang="en-US" sz="900" b="1" dirty="0">
                <a:solidFill>
                  <a:srgbClr val="2E86C1"/>
                </a:solidFill>
                <a:latin typeface="Calibri" pitchFamily="34" charset="0"/>
                <a:ea typeface="Calibri" pitchFamily="34" charset="-122"/>
                <a:cs typeface="Calibri" pitchFamily="34" charset="-120"/>
              </a:rPr>
              <a:t>Select all + Ctrl+R to run</a:t>
            </a:r>
            <a:endParaRPr lang="en-US" sz="900" dirty="0"/>
          </a:p>
        </p:txBody>
      </p:sp>
      <p:sp>
        <p:nvSpPr>
          <p:cNvPr id="45" name="Text 43"/>
          <p:cNvSpPr/>
          <p:nvPr/>
        </p:nvSpPr>
        <p:spPr>
          <a:xfrm>
            <a:off x="5760720" y="4261104"/>
            <a:ext cx="2944368" cy="164592"/>
          </a:xfrm>
          <a:prstGeom prst="rect">
            <a:avLst/>
          </a:prstGeom>
          <a:noFill/>
          <a:ln/>
        </p:spPr>
        <p:txBody>
          <a:bodyPr wrap="square" lIns="0" tIns="0" rIns="0" bIns="0" rtlCol="0" anchor="ctr"/>
          <a:lstStyle/>
          <a:p>
            <a:pPr indent="0" marL="0">
              <a:buNone/>
            </a:pPr>
            <a:r>
              <a:rPr lang="en-US" sz="850" dirty="0">
                <a:solidFill>
                  <a:srgbClr val="D4A017"/>
                </a:solidFill>
                <a:latin typeface="Courier New" pitchFamily="34" charset="0"/>
                <a:ea typeface="Courier New" pitchFamily="34" charset="-122"/>
                <a:cs typeface="Courier New" pitchFamily="34" charset="-120"/>
              </a:rPr>
              <a:t>Or use Run &gt; All</a:t>
            </a:r>
            <a:endParaRPr lang="en-US" sz="850" dirty="0"/>
          </a:p>
        </p:txBody>
      </p:sp>
      <p:sp>
        <p:nvSpPr>
          <p:cNvPr id="46" name="Shape 44"/>
          <p:cNvSpPr/>
          <p:nvPr/>
        </p:nvSpPr>
        <p:spPr>
          <a:xfrm>
            <a:off x="5687568" y="4498848"/>
            <a:ext cx="3090672" cy="402336"/>
          </a:xfrm>
          <a:prstGeom prst="roundRect">
            <a:avLst>
              <a:gd name="adj" fmla="val 11364"/>
            </a:avLst>
          </a:prstGeom>
          <a:solidFill>
            <a:srgbClr val="13253A"/>
          </a:solidFill>
          <a:ln w="6350">
            <a:solidFill>
              <a:srgbClr val="27517A"/>
            </a:solidFill>
            <a:prstDash val="solid"/>
          </a:ln>
        </p:spPr>
      </p:sp>
      <p:sp>
        <p:nvSpPr>
          <p:cNvPr id="47" name="Text 45"/>
          <p:cNvSpPr/>
          <p:nvPr/>
        </p:nvSpPr>
        <p:spPr>
          <a:xfrm>
            <a:off x="5760720" y="4535424"/>
            <a:ext cx="2944368" cy="182880"/>
          </a:xfrm>
          <a:prstGeom prst="rect">
            <a:avLst/>
          </a:prstGeom>
          <a:noFill/>
          <a:ln/>
        </p:spPr>
        <p:txBody>
          <a:bodyPr wrap="square" lIns="0" tIns="0" rIns="0" bIns="0" rtlCol="0" anchor="ctr"/>
          <a:lstStyle/>
          <a:p>
            <a:pPr indent="0" marL="0">
              <a:buNone/>
            </a:pPr>
            <a:r>
              <a:rPr lang="en-US" sz="900" b="1" dirty="0">
                <a:solidFill>
                  <a:srgbClr val="2E86C1"/>
                </a:solidFill>
                <a:latin typeface="Calibri" pitchFamily="34" charset="0"/>
                <a:ea typeface="Calibri" pitchFamily="34" charset="-122"/>
                <a:cs typeface="Calibri" pitchFamily="34" charset="-120"/>
              </a:rPr>
              <a:t>PASTE button = auto-generate</a:t>
            </a:r>
            <a:endParaRPr lang="en-US" sz="900" dirty="0"/>
          </a:p>
        </p:txBody>
      </p:sp>
      <p:sp>
        <p:nvSpPr>
          <p:cNvPr id="48" name="Text 46"/>
          <p:cNvSpPr/>
          <p:nvPr/>
        </p:nvSpPr>
        <p:spPr>
          <a:xfrm>
            <a:off x="5760720" y="4718304"/>
            <a:ext cx="2944368" cy="164592"/>
          </a:xfrm>
          <a:prstGeom prst="rect">
            <a:avLst/>
          </a:prstGeom>
          <a:noFill/>
          <a:ln/>
        </p:spPr>
        <p:txBody>
          <a:bodyPr wrap="square" lIns="0" tIns="0" rIns="0" bIns="0" rtlCol="0" anchor="ctr"/>
          <a:lstStyle/>
          <a:p>
            <a:pPr indent="0" marL="0">
              <a:buNone/>
            </a:pPr>
            <a:r>
              <a:rPr lang="en-US" sz="850" dirty="0">
                <a:solidFill>
                  <a:srgbClr val="D4A017"/>
                </a:solidFill>
                <a:latin typeface="Courier New" pitchFamily="34" charset="0"/>
                <a:ea typeface="Courier New" pitchFamily="34" charset="-122"/>
                <a:cs typeface="Courier New" pitchFamily="34" charset="-120"/>
              </a:rPr>
              <a:t>In every dialog: click PASTE not OK</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F1E3C"/>
          </a:solidFill>
          <a:ln w="12700">
            <a:solidFill>
              <a:srgbClr val="0F1E3C"/>
            </a:solidFill>
            <a:prstDash val="solid"/>
          </a:ln>
        </p:spPr>
      </p:sp>
      <p:sp>
        <p:nvSpPr>
          <p:cNvPr id="3" name="Text 1"/>
          <p:cNvSpPr/>
          <p:nvPr/>
        </p:nvSpPr>
        <p:spPr>
          <a:xfrm>
            <a:off x="457200" y="109728"/>
            <a:ext cx="8229600" cy="713232"/>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Viewing Options and Editing Functions in SPSS</a:t>
            </a:r>
            <a:endParaRPr lang="en-US" sz="2400" dirty="0"/>
          </a:p>
        </p:txBody>
      </p:sp>
      <p:sp>
        <p:nvSpPr>
          <p:cNvPr id="4" name="Shape 2"/>
          <p:cNvSpPr/>
          <p:nvPr/>
        </p:nvSpPr>
        <p:spPr>
          <a:xfrm>
            <a:off x="256032" y="1005840"/>
            <a:ext cx="2834640" cy="4041648"/>
          </a:xfrm>
          <a:prstGeom prst="roundRect">
            <a:avLst>
              <a:gd name="adj" fmla="val 2581"/>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78992"/>
            <a:ext cx="2688336" cy="292608"/>
          </a:xfrm>
          <a:prstGeom prst="roundRect">
            <a:avLst>
              <a:gd name="adj" fmla="val 18750"/>
            </a:avLst>
          </a:prstGeom>
          <a:solidFill>
            <a:srgbClr val="1B5CA0"/>
          </a:solidFill>
          <a:ln w="12700">
            <a:solidFill>
              <a:srgbClr val="1B5CA0"/>
            </a:solidFill>
            <a:prstDash val="solid"/>
          </a:ln>
        </p:spPr>
      </p:sp>
      <p:sp>
        <p:nvSpPr>
          <p:cNvPr id="6" name="Text 4"/>
          <p:cNvSpPr/>
          <p:nvPr/>
        </p:nvSpPr>
        <p:spPr>
          <a:xfrm>
            <a:off x="329184" y="1078992"/>
            <a:ext cx="268833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View Menu Options</a:t>
            </a:r>
            <a:endParaRPr lang="en-US" sz="1050" dirty="0"/>
          </a:p>
        </p:txBody>
      </p:sp>
      <p:sp>
        <p:nvSpPr>
          <p:cNvPr id="7" name="Text 5"/>
          <p:cNvSpPr/>
          <p:nvPr/>
        </p:nvSpPr>
        <p:spPr>
          <a:xfrm>
            <a:off x="365760" y="1444752"/>
            <a:ext cx="2596896" cy="219456"/>
          </a:xfrm>
          <a:prstGeom prst="rect">
            <a:avLst/>
          </a:prstGeom>
          <a:noFill/>
          <a:ln/>
        </p:spPr>
        <p:txBody>
          <a:bodyPr wrap="square" lIns="0" tIns="0" rIns="0" bIns="0" rtlCol="0" anchor="ctr"/>
          <a:lstStyle/>
          <a:p>
            <a:pPr indent="0" marL="0">
              <a:buNone/>
            </a:pPr>
            <a:r>
              <a:rPr lang="en-US" sz="950" b="1" dirty="0">
                <a:solidFill>
                  <a:srgbClr val="1B5CA0"/>
                </a:solidFill>
                <a:latin typeface="Calibri" pitchFamily="34" charset="0"/>
                <a:ea typeface="Calibri" pitchFamily="34" charset="-122"/>
                <a:cs typeface="Calibri" pitchFamily="34" charset="-120"/>
              </a:rPr>
              <a:t>View &gt; Value Labels</a:t>
            </a:r>
            <a:endParaRPr lang="en-US" sz="950" dirty="0"/>
          </a:p>
        </p:txBody>
      </p:sp>
      <p:sp>
        <p:nvSpPr>
          <p:cNvPr id="8" name="Text 6"/>
          <p:cNvSpPr/>
          <p:nvPr/>
        </p:nvSpPr>
        <p:spPr>
          <a:xfrm>
            <a:off x="365760" y="1682496"/>
            <a:ext cx="2596896" cy="40233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Toggle between numeric codes (1, 2) and text labels (Male, Female) in Data View. Essential for checking your coding.</a:t>
            </a:r>
            <a:endParaRPr lang="en-US" sz="850" dirty="0"/>
          </a:p>
        </p:txBody>
      </p:sp>
      <p:sp>
        <p:nvSpPr>
          <p:cNvPr id="9" name="Text 7"/>
          <p:cNvSpPr/>
          <p:nvPr/>
        </p:nvSpPr>
        <p:spPr>
          <a:xfrm>
            <a:off x="365760" y="2121408"/>
            <a:ext cx="2596896" cy="219456"/>
          </a:xfrm>
          <a:prstGeom prst="rect">
            <a:avLst/>
          </a:prstGeom>
          <a:noFill/>
          <a:ln/>
        </p:spPr>
        <p:txBody>
          <a:bodyPr wrap="square" lIns="0" tIns="0" rIns="0" bIns="0" rtlCol="0" anchor="ctr"/>
          <a:lstStyle/>
          <a:p>
            <a:pPr indent="0" marL="0">
              <a:buNone/>
            </a:pPr>
            <a:r>
              <a:rPr lang="en-US" sz="950" b="1" dirty="0">
                <a:solidFill>
                  <a:srgbClr val="1B5CA0"/>
                </a:solidFill>
                <a:latin typeface="Calibri" pitchFamily="34" charset="0"/>
                <a:ea typeface="Calibri" pitchFamily="34" charset="-122"/>
                <a:cs typeface="Calibri" pitchFamily="34" charset="-120"/>
              </a:rPr>
              <a:t>View &gt; Variables</a:t>
            </a:r>
            <a:endParaRPr lang="en-US" sz="950" dirty="0"/>
          </a:p>
        </p:txBody>
      </p:sp>
      <p:sp>
        <p:nvSpPr>
          <p:cNvPr id="10" name="Text 8"/>
          <p:cNvSpPr/>
          <p:nvPr/>
        </p:nvSpPr>
        <p:spPr>
          <a:xfrm>
            <a:off x="365760" y="2359152"/>
            <a:ext cx="2596896" cy="40233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Opens Variable View (same as clicking the tab). Shows all variable definitions.</a:t>
            </a:r>
            <a:endParaRPr lang="en-US" sz="850" dirty="0"/>
          </a:p>
        </p:txBody>
      </p:sp>
      <p:sp>
        <p:nvSpPr>
          <p:cNvPr id="11" name="Text 9"/>
          <p:cNvSpPr/>
          <p:nvPr/>
        </p:nvSpPr>
        <p:spPr>
          <a:xfrm>
            <a:off x="365760" y="2798064"/>
            <a:ext cx="2596896" cy="219456"/>
          </a:xfrm>
          <a:prstGeom prst="rect">
            <a:avLst/>
          </a:prstGeom>
          <a:noFill/>
          <a:ln/>
        </p:spPr>
        <p:txBody>
          <a:bodyPr wrap="square" lIns="0" tIns="0" rIns="0" bIns="0" rtlCol="0" anchor="ctr"/>
          <a:lstStyle/>
          <a:p>
            <a:pPr indent="0" marL="0">
              <a:buNone/>
            </a:pPr>
            <a:r>
              <a:rPr lang="en-US" sz="950" b="1" dirty="0">
                <a:solidFill>
                  <a:srgbClr val="1B5CA0"/>
                </a:solidFill>
                <a:latin typeface="Calibri" pitchFamily="34" charset="0"/>
                <a:ea typeface="Calibri" pitchFamily="34" charset="-122"/>
                <a:cs typeface="Calibri" pitchFamily="34" charset="-120"/>
              </a:rPr>
              <a:t>View &gt; Data</a:t>
            </a:r>
            <a:endParaRPr lang="en-US" sz="950" dirty="0"/>
          </a:p>
        </p:txBody>
      </p:sp>
      <p:sp>
        <p:nvSpPr>
          <p:cNvPr id="12" name="Text 10"/>
          <p:cNvSpPr/>
          <p:nvPr/>
        </p:nvSpPr>
        <p:spPr>
          <a:xfrm>
            <a:off x="365760" y="3035808"/>
            <a:ext cx="2596896" cy="40233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Returns to Data View. Shows the actual dataset.</a:t>
            </a:r>
            <a:endParaRPr lang="en-US" sz="850" dirty="0"/>
          </a:p>
        </p:txBody>
      </p:sp>
      <p:sp>
        <p:nvSpPr>
          <p:cNvPr id="13" name="Text 11"/>
          <p:cNvSpPr/>
          <p:nvPr/>
        </p:nvSpPr>
        <p:spPr>
          <a:xfrm>
            <a:off x="365760" y="3474720"/>
            <a:ext cx="2596896" cy="219456"/>
          </a:xfrm>
          <a:prstGeom prst="rect">
            <a:avLst/>
          </a:prstGeom>
          <a:noFill/>
          <a:ln/>
        </p:spPr>
        <p:txBody>
          <a:bodyPr wrap="square" lIns="0" tIns="0" rIns="0" bIns="0" rtlCol="0" anchor="ctr"/>
          <a:lstStyle/>
          <a:p>
            <a:pPr indent="0" marL="0">
              <a:buNone/>
            </a:pPr>
            <a:r>
              <a:rPr lang="en-US" sz="950" b="1" dirty="0">
                <a:solidFill>
                  <a:srgbClr val="1B5CA0"/>
                </a:solidFill>
                <a:latin typeface="Calibri" pitchFamily="34" charset="0"/>
                <a:ea typeface="Calibri" pitchFamily="34" charset="-122"/>
                <a:cs typeface="Calibri" pitchFamily="34" charset="-120"/>
              </a:rPr>
              <a:t>View &gt; Fonts</a:t>
            </a:r>
            <a:endParaRPr lang="en-US" sz="950" dirty="0"/>
          </a:p>
        </p:txBody>
      </p:sp>
      <p:sp>
        <p:nvSpPr>
          <p:cNvPr id="14" name="Text 12"/>
          <p:cNvSpPr/>
          <p:nvPr/>
        </p:nvSpPr>
        <p:spPr>
          <a:xfrm>
            <a:off x="365760" y="3712464"/>
            <a:ext cx="2596896" cy="40233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Change font size and type in Data Editor for easier reading.</a:t>
            </a:r>
            <a:endParaRPr lang="en-US" sz="850" dirty="0"/>
          </a:p>
        </p:txBody>
      </p:sp>
      <p:sp>
        <p:nvSpPr>
          <p:cNvPr id="15" name="Text 13"/>
          <p:cNvSpPr/>
          <p:nvPr/>
        </p:nvSpPr>
        <p:spPr>
          <a:xfrm>
            <a:off x="365760" y="4151376"/>
            <a:ext cx="2596896" cy="219456"/>
          </a:xfrm>
          <a:prstGeom prst="rect">
            <a:avLst/>
          </a:prstGeom>
          <a:noFill/>
          <a:ln/>
        </p:spPr>
        <p:txBody>
          <a:bodyPr wrap="square" lIns="0" tIns="0" rIns="0" bIns="0" rtlCol="0" anchor="ctr"/>
          <a:lstStyle/>
          <a:p>
            <a:pPr indent="0" marL="0">
              <a:buNone/>
            </a:pPr>
            <a:r>
              <a:rPr lang="en-US" sz="950" b="1" dirty="0">
                <a:solidFill>
                  <a:srgbClr val="1B5CA0"/>
                </a:solidFill>
                <a:latin typeface="Calibri" pitchFamily="34" charset="0"/>
                <a:ea typeface="Calibri" pitchFamily="34" charset="-122"/>
                <a:cs typeface="Calibri" pitchFamily="34" charset="-120"/>
              </a:rPr>
              <a:t>View &gt; Grid Lines</a:t>
            </a:r>
            <a:endParaRPr lang="en-US" sz="950" dirty="0"/>
          </a:p>
        </p:txBody>
      </p:sp>
      <p:sp>
        <p:nvSpPr>
          <p:cNvPr id="16" name="Text 14"/>
          <p:cNvSpPr/>
          <p:nvPr/>
        </p:nvSpPr>
        <p:spPr>
          <a:xfrm>
            <a:off x="365760" y="4389120"/>
            <a:ext cx="2596896" cy="40233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Show or hide cell grid lines in Data View.</a:t>
            </a:r>
            <a:endParaRPr lang="en-US" sz="850" dirty="0"/>
          </a:p>
        </p:txBody>
      </p:sp>
      <p:sp>
        <p:nvSpPr>
          <p:cNvPr id="17" name="Shape 15"/>
          <p:cNvSpPr/>
          <p:nvPr/>
        </p:nvSpPr>
        <p:spPr>
          <a:xfrm>
            <a:off x="3227832" y="1005840"/>
            <a:ext cx="2834640" cy="4041648"/>
          </a:xfrm>
          <a:prstGeom prst="roundRect">
            <a:avLst>
              <a:gd name="adj" fmla="val 2581"/>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8" name="Shape 16"/>
          <p:cNvSpPr/>
          <p:nvPr/>
        </p:nvSpPr>
        <p:spPr>
          <a:xfrm>
            <a:off x="3300984" y="1078992"/>
            <a:ext cx="2688336" cy="292608"/>
          </a:xfrm>
          <a:prstGeom prst="roundRect">
            <a:avLst>
              <a:gd name="adj" fmla="val 18750"/>
            </a:avLst>
          </a:prstGeom>
          <a:solidFill>
            <a:srgbClr val="1A7A4A"/>
          </a:solidFill>
          <a:ln w="12700">
            <a:solidFill>
              <a:srgbClr val="1A7A4A"/>
            </a:solidFill>
            <a:prstDash val="solid"/>
          </a:ln>
        </p:spPr>
      </p:sp>
      <p:sp>
        <p:nvSpPr>
          <p:cNvPr id="19" name="Text 17"/>
          <p:cNvSpPr/>
          <p:nvPr/>
        </p:nvSpPr>
        <p:spPr>
          <a:xfrm>
            <a:off x="3300984" y="1078992"/>
            <a:ext cx="268833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Edit Menu Functions</a:t>
            </a:r>
            <a:endParaRPr lang="en-US" sz="1050" dirty="0"/>
          </a:p>
        </p:txBody>
      </p:sp>
      <p:sp>
        <p:nvSpPr>
          <p:cNvPr id="20" name="Text 18"/>
          <p:cNvSpPr/>
          <p:nvPr/>
        </p:nvSpPr>
        <p:spPr>
          <a:xfrm>
            <a:off x="3337560" y="1444752"/>
            <a:ext cx="2596896" cy="219456"/>
          </a:xfrm>
          <a:prstGeom prst="rect">
            <a:avLst/>
          </a:prstGeom>
          <a:noFill/>
          <a:ln/>
        </p:spPr>
        <p:txBody>
          <a:bodyPr wrap="square" lIns="0" tIns="0" rIns="0" bIns="0" rtlCol="0" anchor="ctr"/>
          <a:lstStyle/>
          <a:p>
            <a:pPr indent="0" marL="0">
              <a:buNone/>
            </a:pPr>
            <a:r>
              <a:rPr lang="en-US" sz="950" b="1" dirty="0">
                <a:solidFill>
                  <a:srgbClr val="1A7A4A"/>
                </a:solidFill>
                <a:latin typeface="Calibri" pitchFamily="34" charset="0"/>
                <a:ea typeface="Calibri" pitchFamily="34" charset="-122"/>
                <a:cs typeface="Calibri" pitchFamily="34" charset="-120"/>
              </a:rPr>
              <a:t>Edit &gt; Find (Ctrl+F)</a:t>
            </a:r>
            <a:endParaRPr lang="en-US" sz="950" dirty="0"/>
          </a:p>
        </p:txBody>
      </p:sp>
      <p:sp>
        <p:nvSpPr>
          <p:cNvPr id="21" name="Text 19"/>
          <p:cNvSpPr/>
          <p:nvPr/>
        </p:nvSpPr>
        <p:spPr>
          <a:xfrm>
            <a:off x="3337560" y="1682496"/>
            <a:ext cx="2596896" cy="40233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Search for a specific value in Data View. Useful for locating a specific respondent ID or tracking down an anomalous value.</a:t>
            </a:r>
            <a:endParaRPr lang="en-US" sz="850" dirty="0"/>
          </a:p>
        </p:txBody>
      </p:sp>
      <p:sp>
        <p:nvSpPr>
          <p:cNvPr id="22" name="Text 20"/>
          <p:cNvSpPr/>
          <p:nvPr/>
        </p:nvSpPr>
        <p:spPr>
          <a:xfrm>
            <a:off x="3337560" y="2121408"/>
            <a:ext cx="2596896" cy="219456"/>
          </a:xfrm>
          <a:prstGeom prst="rect">
            <a:avLst/>
          </a:prstGeom>
          <a:noFill/>
          <a:ln/>
        </p:spPr>
        <p:txBody>
          <a:bodyPr wrap="square" lIns="0" tIns="0" rIns="0" bIns="0" rtlCol="0" anchor="ctr"/>
          <a:lstStyle/>
          <a:p>
            <a:pPr indent="0" marL="0">
              <a:buNone/>
            </a:pPr>
            <a:r>
              <a:rPr lang="en-US" sz="950" b="1" dirty="0">
                <a:solidFill>
                  <a:srgbClr val="1A7A4A"/>
                </a:solidFill>
                <a:latin typeface="Calibri" pitchFamily="34" charset="0"/>
                <a:ea typeface="Calibri" pitchFamily="34" charset="-122"/>
                <a:cs typeface="Calibri" pitchFamily="34" charset="-120"/>
              </a:rPr>
              <a:t>Edit &gt; Replace</a:t>
            </a:r>
            <a:endParaRPr lang="en-US" sz="950" dirty="0"/>
          </a:p>
        </p:txBody>
      </p:sp>
      <p:sp>
        <p:nvSpPr>
          <p:cNvPr id="23" name="Text 21"/>
          <p:cNvSpPr/>
          <p:nvPr/>
        </p:nvSpPr>
        <p:spPr>
          <a:xfrm>
            <a:off x="3337560" y="2359152"/>
            <a:ext cx="2596896" cy="40233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Find and replace data values across the dataset. Use with caution - always save before bulk replace.</a:t>
            </a:r>
            <a:endParaRPr lang="en-US" sz="850" dirty="0"/>
          </a:p>
        </p:txBody>
      </p:sp>
      <p:sp>
        <p:nvSpPr>
          <p:cNvPr id="24" name="Text 22"/>
          <p:cNvSpPr/>
          <p:nvPr/>
        </p:nvSpPr>
        <p:spPr>
          <a:xfrm>
            <a:off x="3337560" y="2798064"/>
            <a:ext cx="2596896" cy="219456"/>
          </a:xfrm>
          <a:prstGeom prst="rect">
            <a:avLst/>
          </a:prstGeom>
          <a:noFill/>
          <a:ln/>
        </p:spPr>
        <p:txBody>
          <a:bodyPr wrap="square" lIns="0" tIns="0" rIns="0" bIns="0" rtlCol="0" anchor="ctr"/>
          <a:lstStyle/>
          <a:p>
            <a:pPr indent="0" marL="0">
              <a:buNone/>
            </a:pPr>
            <a:r>
              <a:rPr lang="en-US" sz="950" b="1" dirty="0">
                <a:solidFill>
                  <a:srgbClr val="1A7A4A"/>
                </a:solidFill>
                <a:latin typeface="Calibri" pitchFamily="34" charset="0"/>
                <a:ea typeface="Calibri" pitchFamily="34" charset="-122"/>
                <a:cs typeface="Calibri" pitchFamily="34" charset="-120"/>
              </a:rPr>
              <a:t>Edit &gt; Options</a:t>
            </a:r>
            <a:endParaRPr lang="en-US" sz="950" dirty="0"/>
          </a:p>
        </p:txBody>
      </p:sp>
      <p:sp>
        <p:nvSpPr>
          <p:cNvPr id="25" name="Text 23"/>
          <p:cNvSpPr/>
          <p:nvPr/>
        </p:nvSpPr>
        <p:spPr>
          <a:xfrm>
            <a:off x="3337560" y="3035808"/>
            <a:ext cx="2596896" cy="40233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Opens the Options dialog - configure output settings, variable list order, decimal places, missing value display, and many more preferences.</a:t>
            </a:r>
            <a:endParaRPr lang="en-US" sz="850" dirty="0"/>
          </a:p>
        </p:txBody>
      </p:sp>
      <p:sp>
        <p:nvSpPr>
          <p:cNvPr id="26" name="Text 24"/>
          <p:cNvSpPr/>
          <p:nvPr/>
        </p:nvSpPr>
        <p:spPr>
          <a:xfrm>
            <a:off x="3337560" y="3474720"/>
            <a:ext cx="2596896" cy="219456"/>
          </a:xfrm>
          <a:prstGeom prst="rect">
            <a:avLst/>
          </a:prstGeom>
          <a:noFill/>
          <a:ln/>
        </p:spPr>
        <p:txBody>
          <a:bodyPr wrap="square" lIns="0" tIns="0" rIns="0" bIns="0" rtlCol="0" anchor="ctr"/>
          <a:lstStyle/>
          <a:p>
            <a:pPr indent="0" marL="0">
              <a:buNone/>
            </a:pPr>
            <a:r>
              <a:rPr lang="en-US" sz="950" b="1" dirty="0">
                <a:solidFill>
                  <a:srgbClr val="1A7A4A"/>
                </a:solidFill>
                <a:latin typeface="Calibri" pitchFamily="34" charset="0"/>
                <a:ea typeface="Calibri" pitchFamily="34" charset="-122"/>
                <a:cs typeface="Calibri" pitchFamily="34" charset="-120"/>
              </a:rPr>
              <a:t>Edit &gt; Copy Special</a:t>
            </a:r>
            <a:endParaRPr lang="en-US" sz="950" dirty="0"/>
          </a:p>
        </p:txBody>
      </p:sp>
      <p:sp>
        <p:nvSpPr>
          <p:cNvPr id="27" name="Text 25"/>
          <p:cNvSpPr/>
          <p:nvPr/>
        </p:nvSpPr>
        <p:spPr>
          <a:xfrm>
            <a:off x="3337560" y="3712464"/>
            <a:ext cx="2596896" cy="40233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Copy table data in formats suitable for pasting into Word or other applications with formatting preserved.</a:t>
            </a:r>
            <a:endParaRPr lang="en-US" sz="850" dirty="0"/>
          </a:p>
        </p:txBody>
      </p:sp>
      <p:sp>
        <p:nvSpPr>
          <p:cNvPr id="28" name="Shape 26"/>
          <p:cNvSpPr/>
          <p:nvPr/>
        </p:nvSpPr>
        <p:spPr>
          <a:xfrm>
            <a:off x="6199632" y="1005840"/>
            <a:ext cx="2834640" cy="4041648"/>
          </a:xfrm>
          <a:prstGeom prst="roundRect">
            <a:avLst>
              <a:gd name="adj" fmla="val 2581"/>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29" name="Shape 27"/>
          <p:cNvSpPr/>
          <p:nvPr/>
        </p:nvSpPr>
        <p:spPr>
          <a:xfrm>
            <a:off x="6272784" y="1078992"/>
            <a:ext cx="2688336" cy="292608"/>
          </a:xfrm>
          <a:prstGeom prst="roundRect">
            <a:avLst>
              <a:gd name="adj" fmla="val 18750"/>
            </a:avLst>
          </a:prstGeom>
          <a:solidFill>
            <a:srgbClr val="E67E22"/>
          </a:solidFill>
          <a:ln w="12700">
            <a:solidFill>
              <a:srgbClr val="E67E22"/>
            </a:solidFill>
            <a:prstDash val="solid"/>
          </a:ln>
        </p:spPr>
      </p:sp>
      <p:sp>
        <p:nvSpPr>
          <p:cNvPr id="30" name="Text 28"/>
          <p:cNvSpPr/>
          <p:nvPr/>
        </p:nvSpPr>
        <p:spPr>
          <a:xfrm>
            <a:off x="6272784" y="1078992"/>
            <a:ext cx="268833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Data Menu Functions</a:t>
            </a:r>
            <a:endParaRPr lang="en-US" sz="1050" dirty="0"/>
          </a:p>
        </p:txBody>
      </p:sp>
      <p:sp>
        <p:nvSpPr>
          <p:cNvPr id="31" name="Text 29"/>
          <p:cNvSpPr/>
          <p:nvPr/>
        </p:nvSpPr>
        <p:spPr>
          <a:xfrm>
            <a:off x="6309360" y="1444752"/>
            <a:ext cx="2596896" cy="219456"/>
          </a:xfrm>
          <a:prstGeom prst="rect">
            <a:avLst/>
          </a:prstGeom>
          <a:noFill/>
          <a:ln/>
        </p:spPr>
        <p:txBody>
          <a:bodyPr wrap="square" lIns="0" tIns="0" rIns="0" bIns="0" rtlCol="0" anchor="ctr"/>
          <a:lstStyle/>
          <a:p>
            <a:pPr indent="0" marL="0">
              <a:buNone/>
            </a:pPr>
            <a:r>
              <a:rPr lang="en-US" sz="950" b="1" dirty="0">
                <a:solidFill>
                  <a:srgbClr val="E67E22"/>
                </a:solidFill>
                <a:latin typeface="Calibri" pitchFamily="34" charset="0"/>
                <a:ea typeface="Calibri" pitchFamily="34" charset="-122"/>
                <a:cs typeface="Calibri" pitchFamily="34" charset="-120"/>
              </a:rPr>
              <a:t>Data &gt; Define Variable Properties</a:t>
            </a:r>
            <a:endParaRPr lang="en-US" sz="950" dirty="0"/>
          </a:p>
        </p:txBody>
      </p:sp>
      <p:sp>
        <p:nvSpPr>
          <p:cNvPr id="32" name="Text 30"/>
          <p:cNvSpPr/>
          <p:nvPr/>
        </p:nvSpPr>
        <p:spPr>
          <a:xfrm>
            <a:off x="6309360" y="1682496"/>
            <a:ext cx="2596896" cy="40233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SPSS scans your data and suggests appropriate value labels and missing value codes. Excellent shortcut after importing from Excel.</a:t>
            </a:r>
            <a:endParaRPr lang="en-US" sz="850" dirty="0"/>
          </a:p>
        </p:txBody>
      </p:sp>
      <p:sp>
        <p:nvSpPr>
          <p:cNvPr id="33" name="Text 31"/>
          <p:cNvSpPr/>
          <p:nvPr/>
        </p:nvSpPr>
        <p:spPr>
          <a:xfrm>
            <a:off x="6309360" y="2121408"/>
            <a:ext cx="2596896" cy="219456"/>
          </a:xfrm>
          <a:prstGeom prst="rect">
            <a:avLst/>
          </a:prstGeom>
          <a:noFill/>
          <a:ln/>
        </p:spPr>
        <p:txBody>
          <a:bodyPr wrap="square" lIns="0" tIns="0" rIns="0" bIns="0" rtlCol="0" anchor="ctr"/>
          <a:lstStyle/>
          <a:p>
            <a:pPr indent="0" marL="0">
              <a:buNone/>
            </a:pPr>
            <a:r>
              <a:rPr lang="en-US" sz="950" b="1" dirty="0">
                <a:solidFill>
                  <a:srgbClr val="E67E22"/>
                </a:solidFill>
                <a:latin typeface="Calibri" pitchFamily="34" charset="0"/>
                <a:ea typeface="Calibri" pitchFamily="34" charset="-122"/>
                <a:cs typeface="Calibri" pitchFamily="34" charset="-120"/>
              </a:rPr>
              <a:t>Data &gt; Sort Cases</a:t>
            </a:r>
            <a:endParaRPr lang="en-US" sz="950" dirty="0"/>
          </a:p>
        </p:txBody>
      </p:sp>
      <p:sp>
        <p:nvSpPr>
          <p:cNvPr id="34" name="Text 32"/>
          <p:cNvSpPr/>
          <p:nvPr/>
        </p:nvSpPr>
        <p:spPr>
          <a:xfrm>
            <a:off x="6309360" y="2359152"/>
            <a:ext cx="2596896" cy="40233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Sort dataset ascending or descending by one or more variables. Critical before Merge Files &gt; Add Variables.</a:t>
            </a:r>
            <a:endParaRPr lang="en-US" sz="850" dirty="0"/>
          </a:p>
        </p:txBody>
      </p:sp>
      <p:sp>
        <p:nvSpPr>
          <p:cNvPr id="35" name="Text 33"/>
          <p:cNvSpPr/>
          <p:nvPr/>
        </p:nvSpPr>
        <p:spPr>
          <a:xfrm>
            <a:off x="6309360" y="2798064"/>
            <a:ext cx="2596896" cy="219456"/>
          </a:xfrm>
          <a:prstGeom prst="rect">
            <a:avLst/>
          </a:prstGeom>
          <a:noFill/>
          <a:ln/>
        </p:spPr>
        <p:txBody>
          <a:bodyPr wrap="square" lIns="0" tIns="0" rIns="0" bIns="0" rtlCol="0" anchor="ctr"/>
          <a:lstStyle/>
          <a:p>
            <a:pPr indent="0" marL="0">
              <a:buNone/>
            </a:pPr>
            <a:r>
              <a:rPr lang="en-US" sz="950" b="1" dirty="0">
                <a:solidFill>
                  <a:srgbClr val="E67E22"/>
                </a:solidFill>
                <a:latin typeface="Calibri" pitchFamily="34" charset="0"/>
                <a:ea typeface="Calibri" pitchFamily="34" charset="-122"/>
                <a:cs typeface="Calibri" pitchFamily="34" charset="-120"/>
              </a:rPr>
              <a:t>Data &gt; Transpose</a:t>
            </a:r>
            <a:endParaRPr lang="en-US" sz="950" dirty="0"/>
          </a:p>
        </p:txBody>
      </p:sp>
      <p:sp>
        <p:nvSpPr>
          <p:cNvPr id="36" name="Text 34"/>
          <p:cNvSpPr/>
          <p:nvPr/>
        </p:nvSpPr>
        <p:spPr>
          <a:xfrm>
            <a:off x="6309360" y="3035808"/>
            <a:ext cx="2596896" cy="40233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Swaps rows and columns. Useful for reshaping data when each variable is currently a row instead of a column.</a:t>
            </a:r>
            <a:endParaRPr lang="en-US" sz="850" dirty="0"/>
          </a:p>
        </p:txBody>
      </p:sp>
      <p:sp>
        <p:nvSpPr>
          <p:cNvPr id="37" name="Text 35"/>
          <p:cNvSpPr/>
          <p:nvPr/>
        </p:nvSpPr>
        <p:spPr>
          <a:xfrm>
            <a:off x="6309360" y="3474720"/>
            <a:ext cx="2596896" cy="219456"/>
          </a:xfrm>
          <a:prstGeom prst="rect">
            <a:avLst/>
          </a:prstGeom>
          <a:noFill/>
          <a:ln/>
        </p:spPr>
        <p:txBody>
          <a:bodyPr wrap="square" lIns="0" tIns="0" rIns="0" bIns="0" rtlCol="0" anchor="ctr"/>
          <a:lstStyle/>
          <a:p>
            <a:pPr indent="0" marL="0">
              <a:buNone/>
            </a:pPr>
            <a:r>
              <a:rPr lang="en-US" sz="950" b="1" dirty="0">
                <a:solidFill>
                  <a:srgbClr val="E67E22"/>
                </a:solidFill>
                <a:latin typeface="Calibri" pitchFamily="34" charset="0"/>
                <a:ea typeface="Calibri" pitchFamily="34" charset="-122"/>
                <a:cs typeface="Calibri" pitchFamily="34" charset="-120"/>
              </a:rPr>
              <a:t>Data &gt; Weight Cases</a:t>
            </a:r>
            <a:endParaRPr lang="en-US" sz="950" dirty="0"/>
          </a:p>
        </p:txBody>
      </p:sp>
      <p:sp>
        <p:nvSpPr>
          <p:cNvPr id="38" name="Text 36"/>
          <p:cNvSpPr/>
          <p:nvPr/>
        </p:nvSpPr>
        <p:spPr>
          <a:xfrm>
            <a:off x="6309360" y="3712464"/>
            <a:ext cx="2596896" cy="402336"/>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Applies survey sampling weights to correct for unequal probability of selection. Critical for nationally representative survey analysis.</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7A4A"/>
          </a:solidFill>
          <a:ln w="12700">
            <a:solidFill>
              <a:srgbClr val="1A7A4A"/>
            </a:solidFill>
            <a:prstDash val="solid"/>
          </a:ln>
        </p:spPr>
      </p:sp>
      <p:sp>
        <p:nvSpPr>
          <p:cNvPr id="3" name="Text 1"/>
          <p:cNvSpPr/>
          <p:nvPr/>
        </p:nvSpPr>
        <p:spPr>
          <a:xfrm>
            <a:off x="457200" y="109728"/>
            <a:ext cx="8229600" cy="71323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Module 1 Comprehensive Practice Exercise - UAC Foods Ltd.</a:t>
            </a:r>
            <a:endParaRPr lang="en-US" sz="2200" dirty="0"/>
          </a:p>
        </p:txBody>
      </p:sp>
      <p:sp>
        <p:nvSpPr>
          <p:cNvPr id="4" name="Shape 2"/>
          <p:cNvSpPr/>
          <p:nvPr/>
        </p:nvSpPr>
        <p:spPr>
          <a:xfrm>
            <a:off x="256032" y="1024128"/>
            <a:ext cx="8631936" cy="914400"/>
          </a:xfrm>
          <a:prstGeom prst="roundRect">
            <a:avLst>
              <a:gd name="adj" fmla="val 9000"/>
            </a:avLst>
          </a:prstGeom>
          <a:solidFill>
            <a:srgbClr val="1A3562"/>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5" name="Text 3"/>
          <p:cNvSpPr/>
          <p:nvPr/>
        </p:nvSpPr>
        <p:spPr>
          <a:xfrm>
            <a:off x="384048" y="1078992"/>
            <a:ext cx="1188720" cy="274320"/>
          </a:xfrm>
          <a:prstGeom prst="rect">
            <a:avLst/>
          </a:prstGeom>
          <a:noFill/>
          <a:ln/>
        </p:spPr>
        <p:txBody>
          <a:bodyPr wrap="square" lIns="0" tIns="0" rIns="0" bIns="0" rtlCol="0" anchor="ctr"/>
          <a:lstStyle/>
          <a:p>
            <a:pPr indent="0" marL="0">
              <a:buNone/>
            </a:pPr>
            <a:r>
              <a:rPr lang="en-US" sz="1100" b="1" dirty="0">
                <a:solidFill>
                  <a:srgbClr val="F0C040"/>
                </a:solidFill>
                <a:latin typeface="Calibri" pitchFamily="34" charset="0"/>
                <a:ea typeface="Calibri" pitchFamily="34" charset="-122"/>
                <a:cs typeface="Calibri" pitchFamily="34" charset="-120"/>
              </a:rPr>
              <a:t>SCENARIO:</a:t>
            </a:r>
            <a:endParaRPr lang="en-US" sz="1100" dirty="0"/>
          </a:p>
        </p:txBody>
      </p:sp>
      <p:sp>
        <p:nvSpPr>
          <p:cNvPr id="6" name="Text 4"/>
          <p:cNvSpPr/>
          <p:nvPr/>
        </p:nvSpPr>
        <p:spPr>
          <a:xfrm>
            <a:off x="384048" y="1371600"/>
            <a:ext cx="8357616" cy="512064"/>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UAC Foods Limited has commissioned you as a research consultant to investigate why repeat purchase rates have declined 12% over 12 months. You need to design and plan a complete research study before any SPSS analysis begins. Work through all six tasks below.</a:t>
            </a:r>
            <a:endParaRPr lang="en-US" sz="1100" dirty="0"/>
          </a:p>
        </p:txBody>
      </p:sp>
      <p:sp>
        <p:nvSpPr>
          <p:cNvPr id="7" name="Shape 5"/>
          <p:cNvSpPr/>
          <p:nvPr/>
        </p:nvSpPr>
        <p:spPr>
          <a:xfrm>
            <a:off x="201168" y="2029968"/>
            <a:ext cx="2834640" cy="1389888"/>
          </a:xfrm>
          <a:prstGeom prst="roundRect">
            <a:avLst>
              <a:gd name="adj" fmla="val 4605"/>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8" name="Shape 6"/>
          <p:cNvSpPr/>
          <p:nvPr/>
        </p:nvSpPr>
        <p:spPr>
          <a:xfrm>
            <a:off x="292608" y="2103120"/>
            <a:ext cx="384048" cy="384048"/>
          </a:xfrm>
          <a:prstGeom prst="ellipse">
            <a:avLst/>
          </a:prstGeom>
          <a:solidFill>
            <a:srgbClr val="C0392B"/>
          </a:solidFill>
          <a:ln w="12700">
            <a:solidFill>
              <a:srgbClr val="C0392B"/>
            </a:solidFill>
            <a:prstDash val="solid"/>
          </a:ln>
        </p:spPr>
      </p:sp>
      <p:sp>
        <p:nvSpPr>
          <p:cNvPr id="9" name="Text 7"/>
          <p:cNvSpPr/>
          <p:nvPr/>
        </p:nvSpPr>
        <p:spPr>
          <a:xfrm>
            <a:off x="292608" y="2103120"/>
            <a:ext cx="384048"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Task A</a:t>
            </a:r>
            <a:endParaRPr lang="en-US" sz="900" dirty="0"/>
          </a:p>
        </p:txBody>
      </p:sp>
      <p:sp>
        <p:nvSpPr>
          <p:cNvPr id="10" name="Text 8"/>
          <p:cNvSpPr/>
          <p:nvPr/>
        </p:nvSpPr>
        <p:spPr>
          <a:xfrm>
            <a:off x="749808" y="2121408"/>
            <a:ext cx="2176272" cy="347472"/>
          </a:xfrm>
          <a:prstGeom prst="rect">
            <a:avLst/>
          </a:prstGeom>
          <a:noFill/>
          <a:ln/>
        </p:spPr>
        <p:txBody>
          <a:bodyPr wrap="square" lIns="0" tIns="0" rIns="0" bIns="0" rtlCol="0" anchor="ctr"/>
          <a:lstStyle/>
          <a:p>
            <a:pPr indent="0" marL="0">
              <a:buNone/>
            </a:pPr>
            <a:r>
              <a:rPr lang="en-US" sz="1050" b="1" dirty="0">
                <a:solidFill>
                  <a:srgbClr val="0F1E3C"/>
                </a:solidFill>
                <a:latin typeface="Calibri" pitchFamily="34" charset="0"/>
                <a:ea typeface="Calibri" pitchFamily="34" charset="-122"/>
                <a:cs typeface="Calibri" pitchFamily="34" charset="-120"/>
              </a:rPr>
              <a:t>Write the Problem Statement</a:t>
            </a:r>
            <a:endParaRPr lang="en-US" sz="1050" dirty="0"/>
          </a:p>
        </p:txBody>
      </p:sp>
      <p:sp>
        <p:nvSpPr>
          <p:cNvPr id="11" name="Text 9"/>
          <p:cNvSpPr/>
          <p:nvPr/>
        </p:nvSpPr>
        <p:spPr>
          <a:xfrm>
            <a:off x="292608" y="2542032"/>
            <a:ext cx="2651760" cy="822960"/>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Write a strong, specific problem statement for the UAC Foods decline study. Include: quantified gap, time frame, target population, and investigative domains.</a:t>
            </a:r>
            <a:endParaRPr lang="en-US" sz="850" dirty="0"/>
          </a:p>
        </p:txBody>
      </p:sp>
      <p:sp>
        <p:nvSpPr>
          <p:cNvPr id="12" name="Shape 10"/>
          <p:cNvSpPr/>
          <p:nvPr/>
        </p:nvSpPr>
        <p:spPr>
          <a:xfrm>
            <a:off x="3182112" y="2029968"/>
            <a:ext cx="2834640" cy="1389888"/>
          </a:xfrm>
          <a:prstGeom prst="roundRect">
            <a:avLst>
              <a:gd name="adj" fmla="val 4605"/>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3" name="Shape 11"/>
          <p:cNvSpPr/>
          <p:nvPr/>
        </p:nvSpPr>
        <p:spPr>
          <a:xfrm>
            <a:off x="3273552" y="2103120"/>
            <a:ext cx="384048" cy="384048"/>
          </a:xfrm>
          <a:prstGeom prst="ellipse">
            <a:avLst/>
          </a:prstGeom>
          <a:solidFill>
            <a:srgbClr val="E67E22"/>
          </a:solidFill>
          <a:ln w="12700">
            <a:solidFill>
              <a:srgbClr val="E67E22"/>
            </a:solidFill>
            <a:prstDash val="solid"/>
          </a:ln>
        </p:spPr>
      </p:sp>
      <p:sp>
        <p:nvSpPr>
          <p:cNvPr id="14" name="Text 12"/>
          <p:cNvSpPr/>
          <p:nvPr/>
        </p:nvSpPr>
        <p:spPr>
          <a:xfrm>
            <a:off x="3273552" y="2103120"/>
            <a:ext cx="384048"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Task B</a:t>
            </a:r>
            <a:endParaRPr lang="en-US" sz="900" dirty="0"/>
          </a:p>
        </p:txBody>
      </p:sp>
      <p:sp>
        <p:nvSpPr>
          <p:cNvPr id="15" name="Text 13"/>
          <p:cNvSpPr/>
          <p:nvPr/>
        </p:nvSpPr>
        <p:spPr>
          <a:xfrm>
            <a:off x="3730752" y="2121408"/>
            <a:ext cx="2176272" cy="347472"/>
          </a:xfrm>
          <a:prstGeom prst="rect">
            <a:avLst/>
          </a:prstGeom>
          <a:noFill/>
          <a:ln/>
        </p:spPr>
        <p:txBody>
          <a:bodyPr wrap="square" lIns="0" tIns="0" rIns="0" bIns="0" rtlCol="0" anchor="ctr"/>
          <a:lstStyle/>
          <a:p>
            <a:pPr indent="0" marL="0">
              <a:buNone/>
            </a:pPr>
            <a:r>
              <a:rPr lang="en-US" sz="1050" b="1" dirty="0">
                <a:solidFill>
                  <a:srgbClr val="0F1E3C"/>
                </a:solidFill>
                <a:latin typeface="Calibri" pitchFamily="34" charset="0"/>
                <a:ea typeface="Calibri" pitchFamily="34" charset="-122"/>
                <a:cs typeface="Calibri" pitchFamily="34" charset="-120"/>
              </a:rPr>
              <a:t>State H0 and H1</a:t>
            </a:r>
            <a:endParaRPr lang="en-US" sz="1050" dirty="0"/>
          </a:p>
        </p:txBody>
      </p:sp>
      <p:sp>
        <p:nvSpPr>
          <p:cNvPr id="16" name="Text 14"/>
          <p:cNvSpPr/>
          <p:nvPr/>
        </p:nvSpPr>
        <p:spPr>
          <a:xfrm>
            <a:off x="3273552" y="2542032"/>
            <a:ext cx="2651760" cy="822960"/>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Formulate one null and one alternative hypothesis for studying whether advertising expenditure predicts repeat purchase rate. State whether it is directional.</a:t>
            </a:r>
            <a:endParaRPr lang="en-US" sz="850" dirty="0"/>
          </a:p>
        </p:txBody>
      </p:sp>
      <p:sp>
        <p:nvSpPr>
          <p:cNvPr id="17" name="Shape 15"/>
          <p:cNvSpPr/>
          <p:nvPr/>
        </p:nvSpPr>
        <p:spPr>
          <a:xfrm>
            <a:off x="6163056" y="2029968"/>
            <a:ext cx="2834640" cy="1389888"/>
          </a:xfrm>
          <a:prstGeom prst="roundRect">
            <a:avLst>
              <a:gd name="adj" fmla="val 4605"/>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8" name="Shape 16"/>
          <p:cNvSpPr/>
          <p:nvPr/>
        </p:nvSpPr>
        <p:spPr>
          <a:xfrm>
            <a:off x="6254496" y="2103120"/>
            <a:ext cx="384048" cy="384048"/>
          </a:xfrm>
          <a:prstGeom prst="ellipse">
            <a:avLst/>
          </a:prstGeom>
          <a:solidFill>
            <a:srgbClr val="1B5CA0"/>
          </a:solidFill>
          <a:ln w="12700">
            <a:solidFill>
              <a:srgbClr val="1B5CA0"/>
            </a:solidFill>
            <a:prstDash val="solid"/>
          </a:ln>
        </p:spPr>
      </p:sp>
      <p:sp>
        <p:nvSpPr>
          <p:cNvPr id="19" name="Text 17"/>
          <p:cNvSpPr/>
          <p:nvPr/>
        </p:nvSpPr>
        <p:spPr>
          <a:xfrm>
            <a:off x="6254496" y="2103120"/>
            <a:ext cx="384048"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Task C</a:t>
            </a:r>
            <a:endParaRPr lang="en-US" sz="900" dirty="0"/>
          </a:p>
        </p:txBody>
      </p:sp>
      <p:sp>
        <p:nvSpPr>
          <p:cNvPr id="20" name="Text 18"/>
          <p:cNvSpPr/>
          <p:nvPr/>
        </p:nvSpPr>
        <p:spPr>
          <a:xfrm>
            <a:off x="6711696" y="2121408"/>
            <a:ext cx="2176272" cy="347472"/>
          </a:xfrm>
          <a:prstGeom prst="rect">
            <a:avLst/>
          </a:prstGeom>
          <a:noFill/>
          <a:ln/>
        </p:spPr>
        <p:txBody>
          <a:bodyPr wrap="square" lIns="0" tIns="0" rIns="0" bIns="0" rtlCol="0" anchor="ctr"/>
          <a:lstStyle/>
          <a:p>
            <a:pPr indent="0" marL="0">
              <a:buNone/>
            </a:pPr>
            <a:r>
              <a:rPr lang="en-US" sz="1050" b="1" dirty="0">
                <a:solidFill>
                  <a:srgbClr val="0F1E3C"/>
                </a:solidFill>
                <a:latin typeface="Calibri" pitchFamily="34" charset="0"/>
                <a:ea typeface="Calibri" pitchFamily="34" charset="-122"/>
                <a:cs typeface="Calibri" pitchFamily="34" charset="-120"/>
              </a:rPr>
              <a:t>Choose Research Design</a:t>
            </a:r>
            <a:endParaRPr lang="en-US" sz="1050" dirty="0"/>
          </a:p>
        </p:txBody>
      </p:sp>
      <p:sp>
        <p:nvSpPr>
          <p:cNvPr id="21" name="Text 19"/>
          <p:cNvSpPr/>
          <p:nvPr/>
        </p:nvSpPr>
        <p:spPr>
          <a:xfrm>
            <a:off x="6254496" y="2542032"/>
            <a:ext cx="2651760" cy="822960"/>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Which research design is most appropriate? Justify your choice and explain what alternative design was considered and why it was rejected.</a:t>
            </a:r>
            <a:endParaRPr lang="en-US" sz="850" dirty="0"/>
          </a:p>
        </p:txBody>
      </p:sp>
      <p:sp>
        <p:nvSpPr>
          <p:cNvPr id="22" name="Shape 20"/>
          <p:cNvSpPr/>
          <p:nvPr/>
        </p:nvSpPr>
        <p:spPr>
          <a:xfrm>
            <a:off x="201168" y="3511296"/>
            <a:ext cx="2834640" cy="1389888"/>
          </a:xfrm>
          <a:prstGeom prst="roundRect">
            <a:avLst>
              <a:gd name="adj" fmla="val 4605"/>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23" name="Shape 21"/>
          <p:cNvSpPr/>
          <p:nvPr/>
        </p:nvSpPr>
        <p:spPr>
          <a:xfrm>
            <a:off x="292608" y="3584448"/>
            <a:ext cx="384048" cy="384048"/>
          </a:xfrm>
          <a:prstGeom prst="ellipse">
            <a:avLst/>
          </a:prstGeom>
          <a:solidFill>
            <a:srgbClr val="1A7A4A"/>
          </a:solidFill>
          <a:ln w="12700">
            <a:solidFill>
              <a:srgbClr val="1A7A4A"/>
            </a:solidFill>
            <a:prstDash val="solid"/>
          </a:ln>
        </p:spPr>
      </p:sp>
      <p:sp>
        <p:nvSpPr>
          <p:cNvPr id="24" name="Text 22"/>
          <p:cNvSpPr/>
          <p:nvPr/>
        </p:nvSpPr>
        <p:spPr>
          <a:xfrm>
            <a:off x="292608" y="3584448"/>
            <a:ext cx="384048"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Task D</a:t>
            </a:r>
            <a:endParaRPr lang="en-US" sz="900" dirty="0"/>
          </a:p>
        </p:txBody>
      </p:sp>
      <p:sp>
        <p:nvSpPr>
          <p:cNvPr id="25" name="Text 23"/>
          <p:cNvSpPr/>
          <p:nvPr/>
        </p:nvSpPr>
        <p:spPr>
          <a:xfrm>
            <a:off x="749808" y="3602736"/>
            <a:ext cx="2176272" cy="347472"/>
          </a:xfrm>
          <a:prstGeom prst="rect">
            <a:avLst/>
          </a:prstGeom>
          <a:noFill/>
          <a:ln/>
        </p:spPr>
        <p:txBody>
          <a:bodyPr wrap="square" lIns="0" tIns="0" rIns="0" bIns="0" rtlCol="0" anchor="ctr"/>
          <a:lstStyle/>
          <a:p>
            <a:pPr indent="0" marL="0">
              <a:buNone/>
            </a:pPr>
            <a:r>
              <a:rPr lang="en-US" sz="1050" b="1" dirty="0">
                <a:solidFill>
                  <a:srgbClr val="0F1E3C"/>
                </a:solidFill>
                <a:latin typeface="Calibri" pitchFamily="34" charset="0"/>
                <a:ea typeface="Calibri" pitchFamily="34" charset="-122"/>
                <a:cs typeface="Calibri" pitchFamily="34" charset="-120"/>
              </a:rPr>
              <a:t>Sampling Plan</a:t>
            </a:r>
            <a:endParaRPr lang="en-US" sz="1050" dirty="0"/>
          </a:p>
        </p:txBody>
      </p:sp>
      <p:sp>
        <p:nvSpPr>
          <p:cNvPr id="26" name="Text 24"/>
          <p:cNvSpPr/>
          <p:nvPr/>
        </p:nvSpPr>
        <p:spPr>
          <a:xfrm>
            <a:off x="292608" y="4023360"/>
            <a:ext cx="2651760" cy="822960"/>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Using the Yamane formula (N = 45,000, e = .05), calculate the sample size. State your sampling technique and justify why you chose it over alternatives.</a:t>
            </a:r>
            <a:endParaRPr lang="en-US" sz="850" dirty="0"/>
          </a:p>
        </p:txBody>
      </p:sp>
      <p:sp>
        <p:nvSpPr>
          <p:cNvPr id="27" name="Shape 25"/>
          <p:cNvSpPr/>
          <p:nvPr/>
        </p:nvSpPr>
        <p:spPr>
          <a:xfrm>
            <a:off x="3182112" y="3511296"/>
            <a:ext cx="2834640" cy="1389888"/>
          </a:xfrm>
          <a:prstGeom prst="roundRect">
            <a:avLst>
              <a:gd name="adj" fmla="val 4605"/>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28" name="Shape 26"/>
          <p:cNvSpPr/>
          <p:nvPr/>
        </p:nvSpPr>
        <p:spPr>
          <a:xfrm>
            <a:off x="3273552" y="3584448"/>
            <a:ext cx="384048" cy="384048"/>
          </a:xfrm>
          <a:prstGeom prst="ellipse">
            <a:avLst/>
          </a:prstGeom>
          <a:solidFill>
            <a:srgbClr val="5B2D8E"/>
          </a:solidFill>
          <a:ln w="12700">
            <a:solidFill>
              <a:srgbClr val="5B2D8E"/>
            </a:solidFill>
            <a:prstDash val="solid"/>
          </a:ln>
        </p:spPr>
      </p:sp>
      <p:sp>
        <p:nvSpPr>
          <p:cNvPr id="29" name="Text 27"/>
          <p:cNvSpPr/>
          <p:nvPr/>
        </p:nvSpPr>
        <p:spPr>
          <a:xfrm>
            <a:off x="3273552" y="3584448"/>
            <a:ext cx="384048"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Task E</a:t>
            </a:r>
            <a:endParaRPr lang="en-US" sz="900" dirty="0"/>
          </a:p>
        </p:txBody>
      </p:sp>
      <p:sp>
        <p:nvSpPr>
          <p:cNvPr id="30" name="Text 28"/>
          <p:cNvSpPr/>
          <p:nvPr/>
        </p:nvSpPr>
        <p:spPr>
          <a:xfrm>
            <a:off x="3730752" y="3602736"/>
            <a:ext cx="2176272" cy="347472"/>
          </a:xfrm>
          <a:prstGeom prst="rect">
            <a:avLst/>
          </a:prstGeom>
          <a:noFill/>
          <a:ln/>
        </p:spPr>
        <p:txBody>
          <a:bodyPr wrap="square" lIns="0" tIns="0" rIns="0" bIns="0" rtlCol="0" anchor="ctr"/>
          <a:lstStyle/>
          <a:p>
            <a:pPr indent="0" marL="0">
              <a:buNone/>
            </a:pPr>
            <a:r>
              <a:rPr lang="en-US" sz="1050" b="1" dirty="0">
                <a:solidFill>
                  <a:srgbClr val="0F1E3C"/>
                </a:solidFill>
                <a:latin typeface="Calibri" pitchFamily="34" charset="0"/>
                <a:ea typeface="Calibri" pitchFamily="34" charset="-122"/>
                <a:cs typeface="Calibri" pitchFamily="34" charset="-120"/>
              </a:rPr>
              <a:t>Design 5 Questionnaire Items</a:t>
            </a:r>
            <a:endParaRPr lang="en-US" sz="1050" dirty="0"/>
          </a:p>
        </p:txBody>
      </p:sp>
      <p:sp>
        <p:nvSpPr>
          <p:cNvPr id="31" name="Text 29"/>
          <p:cNvSpPr/>
          <p:nvPr/>
        </p:nvSpPr>
        <p:spPr>
          <a:xfrm>
            <a:off x="3273552" y="4023360"/>
            <a:ext cx="2651760" cy="822960"/>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Write 5 questionnaire items for the survey: one Likert item, one dichotomous, one multiple choice, one open-ended, and one ranking. Identify the measurement level for each.</a:t>
            </a:r>
            <a:endParaRPr lang="en-US" sz="850" dirty="0"/>
          </a:p>
        </p:txBody>
      </p:sp>
      <p:sp>
        <p:nvSpPr>
          <p:cNvPr id="32" name="Shape 30"/>
          <p:cNvSpPr/>
          <p:nvPr/>
        </p:nvSpPr>
        <p:spPr>
          <a:xfrm>
            <a:off x="6163056" y="3511296"/>
            <a:ext cx="2834640" cy="1389888"/>
          </a:xfrm>
          <a:prstGeom prst="roundRect">
            <a:avLst>
              <a:gd name="adj" fmla="val 4605"/>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33" name="Shape 31"/>
          <p:cNvSpPr/>
          <p:nvPr/>
        </p:nvSpPr>
        <p:spPr>
          <a:xfrm>
            <a:off x="6254496" y="3584448"/>
            <a:ext cx="384048" cy="384048"/>
          </a:xfrm>
          <a:prstGeom prst="ellipse">
            <a:avLst/>
          </a:prstGeom>
          <a:solidFill>
            <a:srgbClr val="2E86C1"/>
          </a:solidFill>
          <a:ln w="12700">
            <a:solidFill>
              <a:srgbClr val="2E86C1"/>
            </a:solidFill>
            <a:prstDash val="solid"/>
          </a:ln>
        </p:spPr>
      </p:sp>
      <p:sp>
        <p:nvSpPr>
          <p:cNvPr id="34" name="Text 32"/>
          <p:cNvSpPr/>
          <p:nvPr/>
        </p:nvSpPr>
        <p:spPr>
          <a:xfrm>
            <a:off x="6254496" y="3584448"/>
            <a:ext cx="384048"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Task F</a:t>
            </a:r>
            <a:endParaRPr lang="en-US" sz="900" dirty="0"/>
          </a:p>
        </p:txBody>
      </p:sp>
      <p:sp>
        <p:nvSpPr>
          <p:cNvPr id="35" name="Text 33"/>
          <p:cNvSpPr/>
          <p:nvPr/>
        </p:nvSpPr>
        <p:spPr>
          <a:xfrm>
            <a:off x="6711696" y="3602736"/>
            <a:ext cx="2176272" cy="347472"/>
          </a:xfrm>
          <a:prstGeom prst="rect">
            <a:avLst/>
          </a:prstGeom>
          <a:noFill/>
          <a:ln/>
        </p:spPr>
        <p:txBody>
          <a:bodyPr wrap="square" lIns="0" tIns="0" rIns="0" bIns="0" rtlCol="0" anchor="ctr"/>
          <a:lstStyle/>
          <a:p>
            <a:pPr indent="0" marL="0">
              <a:buNone/>
            </a:pPr>
            <a:r>
              <a:rPr lang="en-US" sz="1050" b="1" dirty="0">
                <a:solidFill>
                  <a:srgbClr val="0F1E3C"/>
                </a:solidFill>
                <a:latin typeface="Calibri" pitchFamily="34" charset="0"/>
                <a:ea typeface="Calibri" pitchFamily="34" charset="-122"/>
                <a:cs typeface="Calibri" pitchFamily="34" charset="-120"/>
              </a:rPr>
              <a:t>Open SPSS and Set Up Variables</a:t>
            </a:r>
            <a:endParaRPr lang="en-US" sz="1050" dirty="0"/>
          </a:p>
        </p:txBody>
      </p:sp>
      <p:sp>
        <p:nvSpPr>
          <p:cNvPr id="36" name="Text 34"/>
          <p:cNvSpPr/>
          <p:nvPr/>
        </p:nvSpPr>
        <p:spPr>
          <a:xfrm>
            <a:off x="6254496" y="4023360"/>
            <a:ext cx="2651760" cy="822960"/>
          </a:xfrm>
          <a:prstGeom prst="rect">
            <a:avLst/>
          </a:prstGeom>
          <a:noFill/>
          <a:ln/>
        </p:spPr>
        <p:txBody>
          <a:bodyPr wrap="square" lIns="0" tIns="0" rIns="0" bIns="0" rtlCol="0" anchor="ctr"/>
          <a:lstStyle/>
          <a:p>
            <a:pPr indent="0" marL="0">
              <a:buNone/>
            </a:pPr>
            <a:r>
              <a:rPr lang="en-US" sz="850" dirty="0">
                <a:solidFill>
                  <a:srgbClr val="2C3E50"/>
                </a:solidFill>
                <a:latin typeface="Calibri" pitchFamily="34" charset="0"/>
                <a:ea typeface="Calibri" pitchFamily="34" charset="-122"/>
                <a:cs typeface="Calibri" pitchFamily="34" charset="-120"/>
              </a:rPr>
              <a:t>Open SPSS. Create 8 variables in Variable View: respondent_id, gender, age, education, product_preference, satisfaction_score, repurchase_intention, monthly_income. Set correct Name, Label, Values, and Measure for each.</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D4A017">
              <a:alpha val="12000"/>
            </a:srgbClr>
          </a:solidFill>
          <a:ln w="12700">
            <a:solidFill>
              <a:srgbClr val="D4A017"/>
            </a:solidFill>
            <a:prstDash val="solid"/>
          </a:ln>
        </p:spPr>
      </p:sp>
      <p:sp>
        <p:nvSpPr>
          <p:cNvPr id="3" name="Shape 1"/>
          <p:cNvSpPr/>
          <p:nvPr/>
        </p:nvSpPr>
        <p:spPr>
          <a:xfrm>
            <a:off x="6858000" y="3200400"/>
            <a:ext cx="3657600" cy="3657600"/>
          </a:xfrm>
          <a:prstGeom prst="ellipse">
            <a:avLst/>
          </a:prstGeom>
          <a:solidFill>
            <a:srgbClr val="2E86C1">
              <a:alpha val="15000"/>
            </a:srgbClr>
          </a:solidFill>
          <a:ln w="12700">
            <a:solidFill>
              <a:srgbClr val="2E86C1"/>
            </a:solidFill>
            <a:prstDash val="solid"/>
          </a:ln>
        </p:spPr>
      </p:sp>
      <p:sp>
        <p:nvSpPr>
          <p:cNvPr id="4" name="Text 2"/>
          <p:cNvSpPr/>
          <p:nvPr/>
        </p:nvSpPr>
        <p:spPr>
          <a:xfrm>
            <a:off x="457200" y="164592"/>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Module 1 - Key Takeaways</a:t>
            </a:r>
            <a:endParaRPr lang="en-US" sz="3000" dirty="0"/>
          </a:p>
        </p:txBody>
      </p:sp>
      <p:sp>
        <p:nvSpPr>
          <p:cNvPr id="5" name="Shape 3"/>
          <p:cNvSpPr/>
          <p:nvPr/>
        </p:nvSpPr>
        <p:spPr>
          <a:xfrm>
            <a:off x="320040" y="932688"/>
            <a:ext cx="4160520" cy="731520"/>
          </a:xfrm>
          <a:prstGeom prst="roundRect">
            <a:avLst>
              <a:gd name="adj" fmla="val 8750"/>
            </a:avLst>
          </a:prstGeom>
          <a:solidFill>
            <a:srgbClr val="0D1F35"/>
          </a:solidFill>
          <a:ln w="6350">
            <a:solidFill>
              <a:srgbClr val="2E86C1"/>
            </a:solidFill>
            <a:prstDash val="solid"/>
          </a:ln>
        </p:spPr>
      </p:sp>
      <p:sp>
        <p:nvSpPr>
          <p:cNvPr id="6" name="Shape 4"/>
          <p:cNvSpPr/>
          <p:nvPr/>
        </p:nvSpPr>
        <p:spPr>
          <a:xfrm>
            <a:off x="411480" y="1133856"/>
            <a:ext cx="292608" cy="292608"/>
          </a:xfrm>
          <a:prstGeom prst="ellipse">
            <a:avLst/>
          </a:prstGeom>
          <a:solidFill>
            <a:srgbClr val="F0C040"/>
          </a:solidFill>
          <a:ln w="12700">
            <a:solidFill>
              <a:srgbClr val="F0C040"/>
            </a:solidFill>
            <a:prstDash val="solid"/>
          </a:ln>
        </p:spPr>
      </p:sp>
      <p:sp>
        <p:nvSpPr>
          <p:cNvPr id="7" name="Text 5"/>
          <p:cNvSpPr/>
          <p:nvPr/>
        </p:nvSpPr>
        <p:spPr>
          <a:xfrm>
            <a:off x="411480" y="1133856"/>
            <a:ext cx="292608" cy="292608"/>
          </a:xfrm>
          <a:prstGeom prst="rect">
            <a:avLst/>
          </a:prstGeom>
          <a:noFill/>
          <a:ln/>
        </p:spPr>
        <p:txBody>
          <a:bodyPr wrap="square" lIns="0" tIns="0" rIns="0" bIns="0" rtlCol="0" anchor="ctr"/>
          <a:lstStyle/>
          <a:p>
            <a:pPr algn="ctr" indent="0" marL="0">
              <a:buNone/>
            </a:pPr>
            <a:r>
              <a:rPr lang="en-US" sz="800" b="1" dirty="0">
                <a:solidFill>
                  <a:srgbClr val="0F1E3C"/>
                </a:solidFill>
                <a:latin typeface="Calibri" pitchFamily="34" charset="0"/>
                <a:ea typeface="Calibri" pitchFamily="34" charset="-122"/>
                <a:cs typeface="Calibri" pitchFamily="34" charset="-120"/>
              </a:rPr>
              <a:t>1</a:t>
            </a:r>
            <a:endParaRPr lang="en-US" sz="800" dirty="0"/>
          </a:p>
        </p:txBody>
      </p:sp>
      <p:sp>
        <p:nvSpPr>
          <p:cNvPr id="8" name="Text 6"/>
          <p:cNvSpPr/>
          <p:nvPr/>
        </p:nvSpPr>
        <p:spPr>
          <a:xfrm>
            <a:off x="777240" y="1005840"/>
            <a:ext cx="3611880" cy="585216"/>
          </a:xfrm>
          <a:prstGeom prst="rect">
            <a:avLst/>
          </a:prstGeom>
          <a:noFill/>
          <a:ln/>
        </p:spPr>
        <p:txBody>
          <a:bodyPr wrap="square" lIns="0" tIns="0" rIns="0" bIns="0" rtlCol="0" anchor="ctr"/>
          <a:lstStyle/>
          <a:p>
            <a:pPr indent="0" marL="0">
              <a:buNone/>
            </a:pPr>
            <a:r>
              <a:rPr lang="en-US" sz="850" dirty="0">
                <a:solidFill>
                  <a:srgbClr val="C5D8E6"/>
                </a:solidFill>
                <a:latin typeface="Calibri" pitchFamily="34" charset="0"/>
                <a:ea typeface="Calibri" pitchFamily="34" charset="-122"/>
                <a:cs typeface="Calibri" pitchFamily="34" charset="-120"/>
              </a:rPr>
              <a:t>Research is a systematic, disciplined process - not guesswork. Every SPSS analysis must be grounded in a clear research question and hypothesis stated in advance.</a:t>
            </a:r>
            <a:endParaRPr lang="en-US" sz="850" dirty="0"/>
          </a:p>
        </p:txBody>
      </p:sp>
      <p:sp>
        <p:nvSpPr>
          <p:cNvPr id="9" name="Shape 7"/>
          <p:cNvSpPr/>
          <p:nvPr/>
        </p:nvSpPr>
        <p:spPr>
          <a:xfrm>
            <a:off x="320040" y="1755648"/>
            <a:ext cx="4160520" cy="731520"/>
          </a:xfrm>
          <a:prstGeom prst="roundRect">
            <a:avLst>
              <a:gd name="adj" fmla="val 8750"/>
            </a:avLst>
          </a:prstGeom>
          <a:solidFill>
            <a:srgbClr val="0D1F35"/>
          </a:solidFill>
          <a:ln w="6350">
            <a:solidFill>
              <a:srgbClr val="2E86C1"/>
            </a:solidFill>
            <a:prstDash val="solid"/>
          </a:ln>
        </p:spPr>
      </p:sp>
      <p:sp>
        <p:nvSpPr>
          <p:cNvPr id="10" name="Shape 8"/>
          <p:cNvSpPr/>
          <p:nvPr/>
        </p:nvSpPr>
        <p:spPr>
          <a:xfrm>
            <a:off x="411480" y="1956816"/>
            <a:ext cx="292608" cy="292608"/>
          </a:xfrm>
          <a:prstGeom prst="ellipse">
            <a:avLst/>
          </a:prstGeom>
          <a:solidFill>
            <a:srgbClr val="F0C040"/>
          </a:solidFill>
          <a:ln w="12700">
            <a:solidFill>
              <a:srgbClr val="F0C040"/>
            </a:solidFill>
            <a:prstDash val="solid"/>
          </a:ln>
        </p:spPr>
      </p:sp>
      <p:sp>
        <p:nvSpPr>
          <p:cNvPr id="11" name="Text 9"/>
          <p:cNvSpPr/>
          <p:nvPr/>
        </p:nvSpPr>
        <p:spPr>
          <a:xfrm>
            <a:off x="411480" y="1956816"/>
            <a:ext cx="292608" cy="292608"/>
          </a:xfrm>
          <a:prstGeom prst="rect">
            <a:avLst/>
          </a:prstGeom>
          <a:noFill/>
          <a:ln/>
        </p:spPr>
        <p:txBody>
          <a:bodyPr wrap="square" lIns="0" tIns="0" rIns="0" bIns="0" rtlCol="0" anchor="ctr"/>
          <a:lstStyle/>
          <a:p>
            <a:pPr algn="ctr" indent="0" marL="0">
              <a:buNone/>
            </a:pPr>
            <a:r>
              <a:rPr lang="en-US" sz="800" b="1" dirty="0">
                <a:solidFill>
                  <a:srgbClr val="0F1E3C"/>
                </a:solidFill>
                <a:latin typeface="Calibri" pitchFamily="34" charset="0"/>
                <a:ea typeface="Calibri" pitchFamily="34" charset="-122"/>
                <a:cs typeface="Calibri" pitchFamily="34" charset="-120"/>
              </a:rPr>
              <a:t>2</a:t>
            </a:r>
            <a:endParaRPr lang="en-US" sz="800" dirty="0"/>
          </a:p>
        </p:txBody>
      </p:sp>
      <p:sp>
        <p:nvSpPr>
          <p:cNvPr id="12" name="Text 10"/>
          <p:cNvSpPr/>
          <p:nvPr/>
        </p:nvSpPr>
        <p:spPr>
          <a:xfrm>
            <a:off x="777240" y="1828800"/>
            <a:ext cx="3611880" cy="585216"/>
          </a:xfrm>
          <a:prstGeom prst="rect">
            <a:avLst/>
          </a:prstGeom>
          <a:noFill/>
          <a:ln/>
        </p:spPr>
        <p:txBody>
          <a:bodyPr wrap="square" lIns="0" tIns="0" rIns="0" bIns="0" rtlCol="0" anchor="ctr"/>
          <a:lstStyle/>
          <a:p>
            <a:pPr indent="0" marL="0">
              <a:buNone/>
            </a:pPr>
            <a:r>
              <a:rPr lang="en-US" sz="850" dirty="0">
                <a:solidFill>
                  <a:srgbClr val="C5D8E6"/>
                </a:solidFill>
                <a:latin typeface="Calibri" pitchFamily="34" charset="0"/>
                <a:ea typeface="Calibri" pitchFamily="34" charset="-122"/>
                <a:cs typeface="Calibri" pitchFamily="34" charset="-120"/>
              </a:rPr>
              <a:t>The three approaches - quantitative, qualitative, and mixed methods - serve different purposes. SPSS handles quantitative data. FGDs and KIIs generate qualitative insights.</a:t>
            </a:r>
            <a:endParaRPr lang="en-US" sz="850" dirty="0"/>
          </a:p>
        </p:txBody>
      </p:sp>
      <p:sp>
        <p:nvSpPr>
          <p:cNvPr id="13" name="Shape 11"/>
          <p:cNvSpPr/>
          <p:nvPr/>
        </p:nvSpPr>
        <p:spPr>
          <a:xfrm>
            <a:off x="320040" y="2578608"/>
            <a:ext cx="4160520" cy="731520"/>
          </a:xfrm>
          <a:prstGeom prst="roundRect">
            <a:avLst>
              <a:gd name="adj" fmla="val 8750"/>
            </a:avLst>
          </a:prstGeom>
          <a:solidFill>
            <a:srgbClr val="0D1F35"/>
          </a:solidFill>
          <a:ln w="6350">
            <a:solidFill>
              <a:srgbClr val="2E86C1"/>
            </a:solidFill>
            <a:prstDash val="solid"/>
          </a:ln>
        </p:spPr>
      </p:sp>
      <p:sp>
        <p:nvSpPr>
          <p:cNvPr id="14" name="Shape 12"/>
          <p:cNvSpPr/>
          <p:nvPr/>
        </p:nvSpPr>
        <p:spPr>
          <a:xfrm>
            <a:off x="411480" y="2779776"/>
            <a:ext cx="292608" cy="292608"/>
          </a:xfrm>
          <a:prstGeom prst="ellipse">
            <a:avLst/>
          </a:prstGeom>
          <a:solidFill>
            <a:srgbClr val="F0C040"/>
          </a:solidFill>
          <a:ln w="12700">
            <a:solidFill>
              <a:srgbClr val="F0C040"/>
            </a:solidFill>
            <a:prstDash val="solid"/>
          </a:ln>
        </p:spPr>
      </p:sp>
      <p:sp>
        <p:nvSpPr>
          <p:cNvPr id="15" name="Text 13"/>
          <p:cNvSpPr/>
          <p:nvPr/>
        </p:nvSpPr>
        <p:spPr>
          <a:xfrm>
            <a:off x="411480" y="2779776"/>
            <a:ext cx="292608" cy="292608"/>
          </a:xfrm>
          <a:prstGeom prst="rect">
            <a:avLst/>
          </a:prstGeom>
          <a:noFill/>
          <a:ln/>
        </p:spPr>
        <p:txBody>
          <a:bodyPr wrap="square" lIns="0" tIns="0" rIns="0" bIns="0" rtlCol="0" anchor="ctr"/>
          <a:lstStyle/>
          <a:p>
            <a:pPr algn="ctr" indent="0" marL="0">
              <a:buNone/>
            </a:pPr>
            <a:r>
              <a:rPr lang="en-US" sz="800" b="1" dirty="0">
                <a:solidFill>
                  <a:srgbClr val="0F1E3C"/>
                </a:solidFill>
                <a:latin typeface="Calibri" pitchFamily="34" charset="0"/>
                <a:ea typeface="Calibri" pitchFamily="34" charset="-122"/>
                <a:cs typeface="Calibri" pitchFamily="34" charset="-120"/>
              </a:rPr>
              <a:t>3</a:t>
            </a:r>
            <a:endParaRPr lang="en-US" sz="800" dirty="0"/>
          </a:p>
        </p:txBody>
      </p:sp>
      <p:sp>
        <p:nvSpPr>
          <p:cNvPr id="16" name="Text 14"/>
          <p:cNvSpPr/>
          <p:nvPr/>
        </p:nvSpPr>
        <p:spPr>
          <a:xfrm>
            <a:off x="777240" y="2651760"/>
            <a:ext cx="3611880" cy="585216"/>
          </a:xfrm>
          <a:prstGeom prst="rect">
            <a:avLst/>
          </a:prstGeom>
          <a:noFill/>
          <a:ln/>
        </p:spPr>
        <p:txBody>
          <a:bodyPr wrap="square" lIns="0" tIns="0" rIns="0" bIns="0" rtlCol="0" anchor="ctr"/>
          <a:lstStyle/>
          <a:p>
            <a:pPr indent="0" marL="0">
              <a:buNone/>
            </a:pPr>
            <a:r>
              <a:rPr lang="en-US" sz="850" dirty="0">
                <a:solidFill>
                  <a:srgbClr val="C5D8E6"/>
                </a:solidFill>
                <a:latin typeface="Calibri" pitchFamily="34" charset="0"/>
                <a:ea typeface="Calibri" pitchFamily="34" charset="-122"/>
                <a:cs typeface="Calibri" pitchFamily="34" charset="-120"/>
              </a:rPr>
              <a:t>A strong problem statement identifies a specific, quantified gap. If the same statement could appear in any other study, it is too vague.</a:t>
            </a:r>
            <a:endParaRPr lang="en-US" sz="850" dirty="0"/>
          </a:p>
        </p:txBody>
      </p:sp>
      <p:sp>
        <p:nvSpPr>
          <p:cNvPr id="17" name="Shape 15"/>
          <p:cNvSpPr/>
          <p:nvPr/>
        </p:nvSpPr>
        <p:spPr>
          <a:xfrm>
            <a:off x="320040" y="3401568"/>
            <a:ext cx="4160520" cy="731520"/>
          </a:xfrm>
          <a:prstGeom prst="roundRect">
            <a:avLst>
              <a:gd name="adj" fmla="val 8750"/>
            </a:avLst>
          </a:prstGeom>
          <a:solidFill>
            <a:srgbClr val="0D1F35"/>
          </a:solidFill>
          <a:ln w="6350">
            <a:solidFill>
              <a:srgbClr val="2E86C1"/>
            </a:solidFill>
            <a:prstDash val="solid"/>
          </a:ln>
        </p:spPr>
      </p:sp>
      <p:sp>
        <p:nvSpPr>
          <p:cNvPr id="18" name="Shape 16"/>
          <p:cNvSpPr/>
          <p:nvPr/>
        </p:nvSpPr>
        <p:spPr>
          <a:xfrm>
            <a:off x="411480" y="3602736"/>
            <a:ext cx="292608" cy="292608"/>
          </a:xfrm>
          <a:prstGeom prst="ellipse">
            <a:avLst/>
          </a:prstGeom>
          <a:solidFill>
            <a:srgbClr val="F0C040"/>
          </a:solidFill>
          <a:ln w="12700">
            <a:solidFill>
              <a:srgbClr val="F0C040"/>
            </a:solidFill>
            <a:prstDash val="solid"/>
          </a:ln>
        </p:spPr>
      </p:sp>
      <p:sp>
        <p:nvSpPr>
          <p:cNvPr id="19" name="Text 17"/>
          <p:cNvSpPr/>
          <p:nvPr/>
        </p:nvSpPr>
        <p:spPr>
          <a:xfrm>
            <a:off x="411480" y="3602736"/>
            <a:ext cx="292608" cy="292608"/>
          </a:xfrm>
          <a:prstGeom prst="rect">
            <a:avLst/>
          </a:prstGeom>
          <a:noFill/>
          <a:ln/>
        </p:spPr>
        <p:txBody>
          <a:bodyPr wrap="square" lIns="0" tIns="0" rIns="0" bIns="0" rtlCol="0" anchor="ctr"/>
          <a:lstStyle/>
          <a:p>
            <a:pPr algn="ctr" indent="0" marL="0">
              <a:buNone/>
            </a:pPr>
            <a:r>
              <a:rPr lang="en-US" sz="800" b="1" dirty="0">
                <a:solidFill>
                  <a:srgbClr val="0F1E3C"/>
                </a:solidFill>
                <a:latin typeface="Calibri" pitchFamily="34" charset="0"/>
                <a:ea typeface="Calibri" pitchFamily="34" charset="-122"/>
                <a:cs typeface="Calibri" pitchFamily="34" charset="-120"/>
              </a:rPr>
              <a:t>4</a:t>
            </a:r>
            <a:endParaRPr lang="en-US" sz="800" dirty="0"/>
          </a:p>
        </p:txBody>
      </p:sp>
      <p:sp>
        <p:nvSpPr>
          <p:cNvPr id="20" name="Text 18"/>
          <p:cNvSpPr/>
          <p:nvPr/>
        </p:nvSpPr>
        <p:spPr>
          <a:xfrm>
            <a:off x="777240" y="3474720"/>
            <a:ext cx="3611880" cy="585216"/>
          </a:xfrm>
          <a:prstGeom prst="rect">
            <a:avLst/>
          </a:prstGeom>
          <a:noFill/>
          <a:ln/>
        </p:spPr>
        <p:txBody>
          <a:bodyPr wrap="square" lIns="0" tIns="0" rIns="0" bIns="0" rtlCol="0" anchor="ctr"/>
          <a:lstStyle/>
          <a:p>
            <a:pPr indent="0" marL="0">
              <a:buNone/>
            </a:pPr>
            <a:r>
              <a:rPr lang="en-US" sz="850" dirty="0">
                <a:solidFill>
                  <a:srgbClr val="C5D8E6"/>
                </a:solidFill>
                <a:latin typeface="Calibri" pitchFamily="34" charset="0"/>
                <a:ea typeface="Calibri" pitchFamily="34" charset="-122"/>
                <a:cs typeface="Calibri" pitchFamily="34" charset="-120"/>
              </a:rPr>
              <a:t>The null hypothesis (H0) always states NO effect or relationship. SPSS tests whether the evidence is sufficient to reject H0. If p &lt; .05, reject H0.</a:t>
            </a:r>
            <a:endParaRPr lang="en-US" sz="850" dirty="0"/>
          </a:p>
        </p:txBody>
      </p:sp>
      <p:sp>
        <p:nvSpPr>
          <p:cNvPr id="21" name="Shape 19"/>
          <p:cNvSpPr/>
          <p:nvPr/>
        </p:nvSpPr>
        <p:spPr>
          <a:xfrm>
            <a:off x="320040" y="4224528"/>
            <a:ext cx="4160520" cy="731520"/>
          </a:xfrm>
          <a:prstGeom prst="roundRect">
            <a:avLst>
              <a:gd name="adj" fmla="val 8750"/>
            </a:avLst>
          </a:prstGeom>
          <a:solidFill>
            <a:srgbClr val="0D1F35"/>
          </a:solidFill>
          <a:ln w="6350">
            <a:solidFill>
              <a:srgbClr val="2E86C1"/>
            </a:solidFill>
            <a:prstDash val="solid"/>
          </a:ln>
        </p:spPr>
      </p:sp>
      <p:sp>
        <p:nvSpPr>
          <p:cNvPr id="22" name="Shape 20"/>
          <p:cNvSpPr/>
          <p:nvPr/>
        </p:nvSpPr>
        <p:spPr>
          <a:xfrm>
            <a:off x="411480" y="4425696"/>
            <a:ext cx="292608" cy="292608"/>
          </a:xfrm>
          <a:prstGeom prst="ellipse">
            <a:avLst/>
          </a:prstGeom>
          <a:solidFill>
            <a:srgbClr val="F0C040"/>
          </a:solidFill>
          <a:ln w="12700">
            <a:solidFill>
              <a:srgbClr val="F0C040"/>
            </a:solidFill>
            <a:prstDash val="solid"/>
          </a:ln>
        </p:spPr>
      </p:sp>
      <p:sp>
        <p:nvSpPr>
          <p:cNvPr id="23" name="Text 21"/>
          <p:cNvSpPr/>
          <p:nvPr/>
        </p:nvSpPr>
        <p:spPr>
          <a:xfrm>
            <a:off x="411480" y="4425696"/>
            <a:ext cx="292608" cy="292608"/>
          </a:xfrm>
          <a:prstGeom prst="rect">
            <a:avLst/>
          </a:prstGeom>
          <a:noFill/>
          <a:ln/>
        </p:spPr>
        <p:txBody>
          <a:bodyPr wrap="square" lIns="0" tIns="0" rIns="0" bIns="0" rtlCol="0" anchor="ctr"/>
          <a:lstStyle/>
          <a:p>
            <a:pPr algn="ctr" indent="0" marL="0">
              <a:buNone/>
            </a:pPr>
            <a:r>
              <a:rPr lang="en-US" sz="800" b="1" dirty="0">
                <a:solidFill>
                  <a:srgbClr val="0F1E3C"/>
                </a:solidFill>
                <a:latin typeface="Calibri" pitchFamily="34" charset="0"/>
                <a:ea typeface="Calibri" pitchFamily="34" charset="-122"/>
                <a:cs typeface="Calibri" pitchFamily="34" charset="-120"/>
              </a:rPr>
              <a:t>5</a:t>
            </a:r>
            <a:endParaRPr lang="en-US" sz="800" dirty="0"/>
          </a:p>
        </p:txBody>
      </p:sp>
      <p:sp>
        <p:nvSpPr>
          <p:cNvPr id="24" name="Text 22"/>
          <p:cNvSpPr/>
          <p:nvPr/>
        </p:nvSpPr>
        <p:spPr>
          <a:xfrm>
            <a:off x="777240" y="4297680"/>
            <a:ext cx="3611880" cy="585216"/>
          </a:xfrm>
          <a:prstGeom prst="rect">
            <a:avLst/>
          </a:prstGeom>
          <a:noFill/>
          <a:ln/>
        </p:spPr>
        <p:txBody>
          <a:bodyPr wrap="square" lIns="0" tIns="0" rIns="0" bIns="0" rtlCol="0" anchor="ctr"/>
          <a:lstStyle/>
          <a:p>
            <a:pPr indent="0" marL="0">
              <a:buNone/>
            </a:pPr>
            <a:r>
              <a:rPr lang="en-US" sz="850" dirty="0">
                <a:solidFill>
                  <a:srgbClr val="C5D8E6"/>
                </a:solidFill>
                <a:latin typeface="Calibri" pitchFamily="34" charset="0"/>
                <a:ea typeface="Calibri" pitchFamily="34" charset="-122"/>
                <a:cs typeface="Calibri" pitchFamily="34" charset="-120"/>
              </a:rPr>
              <a:t>Sample size is not arbitrary. Use the Yamane formula for finite populations or Cochran for large populations. Add 10-20% buffer for non-response.</a:t>
            </a:r>
            <a:endParaRPr lang="en-US" sz="850" dirty="0"/>
          </a:p>
        </p:txBody>
      </p:sp>
      <p:sp>
        <p:nvSpPr>
          <p:cNvPr id="25" name="Shape 23"/>
          <p:cNvSpPr/>
          <p:nvPr/>
        </p:nvSpPr>
        <p:spPr>
          <a:xfrm>
            <a:off x="4782312" y="932688"/>
            <a:ext cx="4160520" cy="731520"/>
          </a:xfrm>
          <a:prstGeom prst="roundRect">
            <a:avLst>
              <a:gd name="adj" fmla="val 8750"/>
            </a:avLst>
          </a:prstGeom>
          <a:solidFill>
            <a:srgbClr val="0D1F35"/>
          </a:solidFill>
          <a:ln w="6350">
            <a:solidFill>
              <a:srgbClr val="2E86C1"/>
            </a:solidFill>
            <a:prstDash val="solid"/>
          </a:ln>
        </p:spPr>
      </p:sp>
      <p:sp>
        <p:nvSpPr>
          <p:cNvPr id="26" name="Shape 24"/>
          <p:cNvSpPr/>
          <p:nvPr/>
        </p:nvSpPr>
        <p:spPr>
          <a:xfrm>
            <a:off x="4873752" y="1133856"/>
            <a:ext cx="292608" cy="292608"/>
          </a:xfrm>
          <a:prstGeom prst="ellipse">
            <a:avLst/>
          </a:prstGeom>
          <a:solidFill>
            <a:srgbClr val="F0C040"/>
          </a:solidFill>
          <a:ln w="12700">
            <a:solidFill>
              <a:srgbClr val="F0C040"/>
            </a:solidFill>
            <a:prstDash val="solid"/>
          </a:ln>
        </p:spPr>
      </p:sp>
      <p:sp>
        <p:nvSpPr>
          <p:cNvPr id="27" name="Text 25"/>
          <p:cNvSpPr/>
          <p:nvPr/>
        </p:nvSpPr>
        <p:spPr>
          <a:xfrm>
            <a:off x="4873752" y="1133856"/>
            <a:ext cx="292608" cy="292608"/>
          </a:xfrm>
          <a:prstGeom prst="rect">
            <a:avLst/>
          </a:prstGeom>
          <a:noFill/>
          <a:ln/>
        </p:spPr>
        <p:txBody>
          <a:bodyPr wrap="square" lIns="0" tIns="0" rIns="0" bIns="0" rtlCol="0" anchor="ctr"/>
          <a:lstStyle/>
          <a:p>
            <a:pPr algn="ctr" indent="0" marL="0">
              <a:buNone/>
            </a:pPr>
            <a:r>
              <a:rPr lang="en-US" sz="800" b="1" dirty="0">
                <a:solidFill>
                  <a:srgbClr val="0F1E3C"/>
                </a:solidFill>
                <a:latin typeface="Calibri" pitchFamily="34" charset="0"/>
                <a:ea typeface="Calibri" pitchFamily="34" charset="-122"/>
                <a:cs typeface="Calibri" pitchFamily="34" charset="-120"/>
              </a:rPr>
              <a:t>6</a:t>
            </a:r>
            <a:endParaRPr lang="en-US" sz="800" dirty="0"/>
          </a:p>
        </p:txBody>
      </p:sp>
      <p:sp>
        <p:nvSpPr>
          <p:cNvPr id="28" name="Text 26"/>
          <p:cNvSpPr/>
          <p:nvPr/>
        </p:nvSpPr>
        <p:spPr>
          <a:xfrm>
            <a:off x="5239512" y="1005840"/>
            <a:ext cx="3611880" cy="585216"/>
          </a:xfrm>
          <a:prstGeom prst="rect">
            <a:avLst/>
          </a:prstGeom>
          <a:noFill/>
          <a:ln/>
        </p:spPr>
        <p:txBody>
          <a:bodyPr wrap="square" lIns="0" tIns="0" rIns="0" bIns="0" rtlCol="0" anchor="ctr"/>
          <a:lstStyle/>
          <a:p>
            <a:pPr indent="0" marL="0">
              <a:buNone/>
            </a:pPr>
            <a:r>
              <a:rPr lang="en-US" sz="850" dirty="0">
                <a:solidFill>
                  <a:srgbClr val="C5D8E6"/>
                </a:solidFill>
                <a:latin typeface="Calibri" pitchFamily="34" charset="0"/>
                <a:ea typeface="Calibri" pitchFamily="34" charset="-122"/>
                <a:cs typeface="Calibri" pitchFamily="34" charset="-120"/>
              </a:rPr>
              <a:t>Measurement level - Nominal, Ordinal, or Scale - is the most critical setting in SPSS Variable View. Wrong level = wrong tests = wrong conclusions.</a:t>
            </a:r>
            <a:endParaRPr lang="en-US" sz="850" dirty="0"/>
          </a:p>
        </p:txBody>
      </p:sp>
      <p:sp>
        <p:nvSpPr>
          <p:cNvPr id="29" name="Shape 27"/>
          <p:cNvSpPr/>
          <p:nvPr/>
        </p:nvSpPr>
        <p:spPr>
          <a:xfrm>
            <a:off x="4782312" y="1755648"/>
            <a:ext cx="4160520" cy="731520"/>
          </a:xfrm>
          <a:prstGeom prst="roundRect">
            <a:avLst>
              <a:gd name="adj" fmla="val 8750"/>
            </a:avLst>
          </a:prstGeom>
          <a:solidFill>
            <a:srgbClr val="0D1F35"/>
          </a:solidFill>
          <a:ln w="6350">
            <a:solidFill>
              <a:srgbClr val="2E86C1"/>
            </a:solidFill>
            <a:prstDash val="solid"/>
          </a:ln>
        </p:spPr>
      </p:sp>
      <p:sp>
        <p:nvSpPr>
          <p:cNvPr id="30" name="Shape 28"/>
          <p:cNvSpPr/>
          <p:nvPr/>
        </p:nvSpPr>
        <p:spPr>
          <a:xfrm>
            <a:off x="4873752" y="1956816"/>
            <a:ext cx="292608" cy="292608"/>
          </a:xfrm>
          <a:prstGeom prst="ellipse">
            <a:avLst/>
          </a:prstGeom>
          <a:solidFill>
            <a:srgbClr val="F0C040"/>
          </a:solidFill>
          <a:ln w="12700">
            <a:solidFill>
              <a:srgbClr val="F0C040"/>
            </a:solidFill>
            <a:prstDash val="solid"/>
          </a:ln>
        </p:spPr>
      </p:sp>
      <p:sp>
        <p:nvSpPr>
          <p:cNvPr id="31" name="Text 29"/>
          <p:cNvSpPr/>
          <p:nvPr/>
        </p:nvSpPr>
        <p:spPr>
          <a:xfrm>
            <a:off x="4873752" y="1956816"/>
            <a:ext cx="292608" cy="292608"/>
          </a:xfrm>
          <a:prstGeom prst="rect">
            <a:avLst/>
          </a:prstGeom>
          <a:noFill/>
          <a:ln/>
        </p:spPr>
        <p:txBody>
          <a:bodyPr wrap="square" lIns="0" tIns="0" rIns="0" bIns="0" rtlCol="0" anchor="ctr"/>
          <a:lstStyle/>
          <a:p>
            <a:pPr algn="ctr" indent="0" marL="0">
              <a:buNone/>
            </a:pPr>
            <a:r>
              <a:rPr lang="en-US" sz="800" b="1" dirty="0">
                <a:solidFill>
                  <a:srgbClr val="0F1E3C"/>
                </a:solidFill>
                <a:latin typeface="Calibri" pitchFamily="34" charset="0"/>
                <a:ea typeface="Calibri" pitchFamily="34" charset="-122"/>
                <a:cs typeface="Calibri" pitchFamily="34" charset="-120"/>
              </a:rPr>
              <a:t>7</a:t>
            </a:r>
            <a:endParaRPr lang="en-US" sz="800" dirty="0"/>
          </a:p>
        </p:txBody>
      </p:sp>
      <p:sp>
        <p:nvSpPr>
          <p:cNvPr id="32" name="Text 30"/>
          <p:cNvSpPr/>
          <p:nvPr/>
        </p:nvSpPr>
        <p:spPr>
          <a:xfrm>
            <a:off x="5239512" y="1828800"/>
            <a:ext cx="3611880" cy="585216"/>
          </a:xfrm>
          <a:prstGeom prst="rect">
            <a:avLst/>
          </a:prstGeom>
          <a:noFill/>
          <a:ln/>
        </p:spPr>
        <p:txBody>
          <a:bodyPr wrap="square" lIns="0" tIns="0" rIns="0" bIns="0" rtlCol="0" anchor="ctr"/>
          <a:lstStyle/>
          <a:p>
            <a:pPr indent="0" marL="0">
              <a:buNone/>
            </a:pPr>
            <a:r>
              <a:rPr lang="en-US" sz="850" dirty="0">
                <a:solidFill>
                  <a:srgbClr val="C5D8E6"/>
                </a:solidFill>
                <a:latin typeface="Calibri" pitchFamily="34" charset="0"/>
                <a:ea typeface="Calibri" pitchFamily="34" charset="-122"/>
                <a:cs typeface="Calibri" pitchFamily="34" charset="-120"/>
              </a:rPr>
              <a:t>Variable View must be completed BEFORE data entry. Name, Label, Values, Missing values, and Measure must all be correct.</a:t>
            </a:r>
            <a:endParaRPr lang="en-US" sz="850" dirty="0"/>
          </a:p>
        </p:txBody>
      </p:sp>
      <p:sp>
        <p:nvSpPr>
          <p:cNvPr id="33" name="Shape 31"/>
          <p:cNvSpPr/>
          <p:nvPr/>
        </p:nvSpPr>
        <p:spPr>
          <a:xfrm>
            <a:off x="4782312" y="2578608"/>
            <a:ext cx="4160520" cy="731520"/>
          </a:xfrm>
          <a:prstGeom prst="roundRect">
            <a:avLst>
              <a:gd name="adj" fmla="val 8750"/>
            </a:avLst>
          </a:prstGeom>
          <a:solidFill>
            <a:srgbClr val="0D1F35"/>
          </a:solidFill>
          <a:ln w="6350">
            <a:solidFill>
              <a:srgbClr val="2E86C1"/>
            </a:solidFill>
            <a:prstDash val="solid"/>
          </a:ln>
        </p:spPr>
      </p:sp>
      <p:sp>
        <p:nvSpPr>
          <p:cNvPr id="34" name="Shape 32"/>
          <p:cNvSpPr/>
          <p:nvPr/>
        </p:nvSpPr>
        <p:spPr>
          <a:xfrm>
            <a:off x="4873752" y="2779776"/>
            <a:ext cx="292608" cy="292608"/>
          </a:xfrm>
          <a:prstGeom prst="ellipse">
            <a:avLst/>
          </a:prstGeom>
          <a:solidFill>
            <a:srgbClr val="F0C040"/>
          </a:solidFill>
          <a:ln w="12700">
            <a:solidFill>
              <a:srgbClr val="F0C040"/>
            </a:solidFill>
            <a:prstDash val="solid"/>
          </a:ln>
        </p:spPr>
      </p:sp>
      <p:sp>
        <p:nvSpPr>
          <p:cNvPr id="35" name="Text 33"/>
          <p:cNvSpPr/>
          <p:nvPr/>
        </p:nvSpPr>
        <p:spPr>
          <a:xfrm>
            <a:off x="4873752" y="2779776"/>
            <a:ext cx="292608" cy="292608"/>
          </a:xfrm>
          <a:prstGeom prst="rect">
            <a:avLst/>
          </a:prstGeom>
          <a:noFill/>
          <a:ln/>
        </p:spPr>
        <p:txBody>
          <a:bodyPr wrap="square" lIns="0" tIns="0" rIns="0" bIns="0" rtlCol="0" anchor="ctr"/>
          <a:lstStyle/>
          <a:p>
            <a:pPr algn="ctr" indent="0" marL="0">
              <a:buNone/>
            </a:pPr>
            <a:r>
              <a:rPr lang="en-US" sz="800" b="1" dirty="0">
                <a:solidFill>
                  <a:srgbClr val="0F1E3C"/>
                </a:solidFill>
                <a:latin typeface="Calibri" pitchFamily="34" charset="0"/>
                <a:ea typeface="Calibri" pitchFamily="34" charset="-122"/>
                <a:cs typeface="Calibri" pitchFamily="34" charset="-120"/>
              </a:rPr>
              <a:t>8</a:t>
            </a:r>
            <a:endParaRPr lang="en-US" sz="800" dirty="0"/>
          </a:p>
        </p:txBody>
      </p:sp>
      <p:sp>
        <p:nvSpPr>
          <p:cNvPr id="36" name="Text 34"/>
          <p:cNvSpPr/>
          <p:nvPr/>
        </p:nvSpPr>
        <p:spPr>
          <a:xfrm>
            <a:off x="5239512" y="2651760"/>
            <a:ext cx="3611880" cy="585216"/>
          </a:xfrm>
          <a:prstGeom prst="rect">
            <a:avLst/>
          </a:prstGeom>
          <a:noFill/>
          <a:ln/>
        </p:spPr>
        <p:txBody>
          <a:bodyPr wrap="square" lIns="0" tIns="0" rIns="0" bIns="0" rtlCol="0" anchor="ctr"/>
          <a:lstStyle/>
          <a:p>
            <a:pPr indent="0" marL="0">
              <a:buNone/>
            </a:pPr>
            <a:r>
              <a:rPr lang="en-US" sz="850" dirty="0">
                <a:solidFill>
                  <a:srgbClr val="C5D8E6"/>
                </a:solidFill>
                <a:latin typeface="Calibri" pitchFamily="34" charset="0"/>
                <a:ea typeface="Calibri" pitchFamily="34" charset="-122"/>
                <a:cs typeface="Calibri" pitchFamily="34" charset="-120"/>
              </a:rPr>
              <a:t>The Output Viewer holds all your results. Export to Word for reports, save as .spv to preserve formatting, and use the Pivot Table Editor to refine tables.</a:t>
            </a:r>
            <a:endParaRPr lang="en-US" sz="850" dirty="0"/>
          </a:p>
        </p:txBody>
      </p:sp>
      <p:sp>
        <p:nvSpPr>
          <p:cNvPr id="37" name="Shape 35"/>
          <p:cNvSpPr/>
          <p:nvPr/>
        </p:nvSpPr>
        <p:spPr>
          <a:xfrm>
            <a:off x="4782312" y="3401568"/>
            <a:ext cx="4160520" cy="731520"/>
          </a:xfrm>
          <a:prstGeom prst="roundRect">
            <a:avLst>
              <a:gd name="adj" fmla="val 8750"/>
            </a:avLst>
          </a:prstGeom>
          <a:solidFill>
            <a:srgbClr val="0D1F35"/>
          </a:solidFill>
          <a:ln w="6350">
            <a:solidFill>
              <a:srgbClr val="2E86C1"/>
            </a:solidFill>
            <a:prstDash val="solid"/>
          </a:ln>
        </p:spPr>
      </p:sp>
      <p:sp>
        <p:nvSpPr>
          <p:cNvPr id="38" name="Shape 36"/>
          <p:cNvSpPr/>
          <p:nvPr/>
        </p:nvSpPr>
        <p:spPr>
          <a:xfrm>
            <a:off x="4873752" y="3602736"/>
            <a:ext cx="292608" cy="292608"/>
          </a:xfrm>
          <a:prstGeom prst="ellipse">
            <a:avLst/>
          </a:prstGeom>
          <a:solidFill>
            <a:srgbClr val="F0C040"/>
          </a:solidFill>
          <a:ln w="12700">
            <a:solidFill>
              <a:srgbClr val="F0C040"/>
            </a:solidFill>
            <a:prstDash val="solid"/>
          </a:ln>
        </p:spPr>
      </p:sp>
      <p:sp>
        <p:nvSpPr>
          <p:cNvPr id="39" name="Text 37"/>
          <p:cNvSpPr/>
          <p:nvPr/>
        </p:nvSpPr>
        <p:spPr>
          <a:xfrm>
            <a:off x="4873752" y="3602736"/>
            <a:ext cx="292608" cy="292608"/>
          </a:xfrm>
          <a:prstGeom prst="rect">
            <a:avLst/>
          </a:prstGeom>
          <a:noFill/>
          <a:ln/>
        </p:spPr>
        <p:txBody>
          <a:bodyPr wrap="square" lIns="0" tIns="0" rIns="0" bIns="0" rtlCol="0" anchor="ctr"/>
          <a:lstStyle/>
          <a:p>
            <a:pPr algn="ctr" indent="0" marL="0">
              <a:buNone/>
            </a:pPr>
            <a:r>
              <a:rPr lang="en-US" sz="800" b="1" dirty="0">
                <a:solidFill>
                  <a:srgbClr val="0F1E3C"/>
                </a:solidFill>
                <a:latin typeface="Calibri" pitchFamily="34" charset="0"/>
                <a:ea typeface="Calibri" pitchFamily="34" charset="-122"/>
                <a:cs typeface="Calibri" pitchFamily="34" charset="-120"/>
              </a:rPr>
              <a:t>9</a:t>
            </a:r>
            <a:endParaRPr lang="en-US" sz="800" dirty="0"/>
          </a:p>
        </p:txBody>
      </p:sp>
      <p:sp>
        <p:nvSpPr>
          <p:cNvPr id="40" name="Text 38"/>
          <p:cNvSpPr/>
          <p:nvPr/>
        </p:nvSpPr>
        <p:spPr>
          <a:xfrm>
            <a:off x="5239512" y="3474720"/>
            <a:ext cx="3611880" cy="585216"/>
          </a:xfrm>
          <a:prstGeom prst="rect">
            <a:avLst/>
          </a:prstGeom>
          <a:noFill/>
          <a:ln/>
        </p:spPr>
        <p:txBody>
          <a:bodyPr wrap="square" lIns="0" tIns="0" rIns="0" bIns="0" rtlCol="0" anchor="ctr"/>
          <a:lstStyle/>
          <a:p>
            <a:pPr indent="0" marL="0">
              <a:buNone/>
            </a:pPr>
            <a:r>
              <a:rPr lang="en-US" sz="850" dirty="0">
                <a:solidFill>
                  <a:srgbClr val="C5D8E6"/>
                </a:solidFill>
                <a:latin typeface="Calibri" pitchFamily="34" charset="0"/>
                <a:ea typeface="Calibri" pitchFamily="34" charset="-122"/>
                <a:cs typeface="Calibri" pitchFamily="34" charset="-120"/>
              </a:rPr>
              <a:t>Every menu action in SPSS has an equivalent syntax command. Use PASTE instead of OK to build your syntax library automatically.</a:t>
            </a:r>
            <a:endParaRPr lang="en-US" sz="850" dirty="0"/>
          </a:p>
        </p:txBody>
      </p:sp>
      <p:sp>
        <p:nvSpPr>
          <p:cNvPr id="41" name="Shape 39"/>
          <p:cNvSpPr/>
          <p:nvPr/>
        </p:nvSpPr>
        <p:spPr>
          <a:xfrm>
            <a:off x="4782312" y="4224528"/>
            <a:ext cx="4160520" cy="731520"/>
          </a:xfrm>
          <a:prstGeom prst="roundRect">
            <a:avLst>
              <a:gd name="adj" fmla="val 8750"/>
            </a:avLst>
          </a:prstGeom>
          <a:solidFill>
            <a:srgbClr val="0D1F35"/>
          </a:solidFill>
          <a:ln w="6350">
            <a:solidFill>
              <a:srgbClr val="2E86C1"/>
            </a:solidFill>
            <a:prstDash val="solid"/>
          </a:ln>
        </p:spPr>
      </p:sp>
      <p:sp>
        <p:nvSpPr>
          <p:cNvPr id="42" name="Shape 40"/>
          <p:cNvSpPr/>
          <p:nvPr/>
        </p:nvSpPr>
        <p:spPr>
          <a:xfrm>
            <a:off x="4873752" y="4425696"/>
            <a:ext cx="292608" cy="292608"/>
          </a:xfrm>
          <a:prstGeom prst="ellipse">
            <a:avLst/>
          </a:prstGeom>
          <a:solidFill>
            <a:srgbClr val="F0C040"/>
          </a:solidFill>
          <a:ln w="12700">
            <a:solidFill>
              <a:srgbClr val="F0C040"/>
            </a:solidFill>
            <a:prstDash val="solid"/>
          </a:ln>
        </p:spPr>
      </p:sp>
      <p:sp>
        <p:nvSpPr>
          <p:cNvPr id="43" name="Text 41"/>
          <p:cNvSpPr/>
          <p:nvPr/>
        </p:nvSpPr>
        <p:spPr>
          <a:xfrm>
            <a:off x="4873752" y="4425696"/>
            <a:ext cx="292608" cy="292608"/>
          </a:xfrm>
          <a:prstGeom prst="rect">
            <a:avLst/>
          </a:prstGeom>
          <a:noFill/>
          <a:ln/>
        </p:spPr>
        <p:txBody>
          <a:bodyPr wrap="square" lIns="0" tIns="0" rIns="0" bIns="0" rtlCol="0" anchor="ctr"/>
          <a:lstStyle/>
          <a:p>
            <a:pPr algn="ctr" indent="0" marL="0">
              <a:buNone/>
            </a:pPr>
            <a:r>
              <a:rPr lang="en-US" sz="800" b="1" dirty="0">
                <a:solidFill>
                  <a:srgbClr val="0F1E3C"/>
                </a:solidFill>
                <a:latin typeface="Calibri" pitchFamily="34" charset="0"/>
                <a:ea typeface="Calibri" pitchFamily="34" charset="-122"/>
                <a:cs typeface="Calibri" pitchFamily="34" charset="-120"/>
              </a:rPr>
              <a:t>10</a:t>
            </a:r>
            <a:endParaRPr lang="en-US" sz="800" dirty="0"/>
          </a:p>
        </p:txBody>
      </p:sp>
      <p:sp>
        <p:nvSpPr>
          <p:cNvPr id="44" name="Text 42"/>
          <p:cNvSpPr/>
          <p:nvPr/>
        </p:nvSpPr>
        <p:spPr>
          <a:xfrm>
            <a:off x="5239512" y="4297680"/>
            <a:ext cx="3611880" cy="585216"/>
          </a:xfrm>
          <a:prstGeom prst="rect">
            <a:avLst/>
          </a:prstGeom>
          <a:noFill/>
          <a:ln/>
        </p:spPr>
        <p:txBody>
          <a:bodyPr wrap="square" lIns="0" tIns="0" rIns="0" bIns="0" rtlCol="0" anchor="ctr"/>
          <a:lstStyle/>
          <a:p>
            <a:pPr indent="0" marL="0">
              <a:buNone/>
            </a:pPr>
            <a:r>
              <a:rPr lang="en-US" sz="850" dirty="0">
                <a:solidFill>
                  <a:srgbClr val="C5D8E6"/>
                </a:solidFill>
                <a:latin typeface="Calibri" pitchFamily="34" charset="0"/>
                <a:ea typeface="Calibri" pitchFamily="34" charset="-122"/>
                <a:cs typeface="Calibri" pitchFamily="34" charset="-120"/>
              </a:rPr>
              <a:t>Research findings are only as valid as the research design behind them. Garbage in, garbage out - SPSS cannot fix a poorly designed study.</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A3562"/>
          </a:solidFill>
          <a:ln w="12700">
            <a:solidFill>
              <a:srgbClr val="1A3562"/>
            </a:solidFill>
            <a:prstDash val="solid"/>
          </a:ln>
        </p:spPr>
      </p:sp>
      <p:sp>
        <p:nvSpPr>
          <p:cNvPr id="3" name="Text 1"/>
          <p:cNvSpPr/>
          <p:nvPr/>
        </p:nvSpPr>
        <p:spPr>
          <a:xfrm>
            <a:off x="457200" y="109728"/>
            <a:ext cx="8229600" cy="713232"/>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Module 1 Assessment - Test Your Understanding</a:t>
            </a:r>
            <a:endParaRPr lang="en-US" sz="2400" dirty="0"/>
          </a:p>
        </p:txBody>
      </p:sp>
      <p:sp>
        <p:nvSpPr>
          <p:cNvPr id="4" name="Shape 2"/>
          <p:cNvSpPr/>
          <p:nvPr/>
        </p:nvSpPr>
        <p:spPr>
          <a:xfrm>
            <a:off x="256032" y="1051560"/>
            <a:ext cx="8631936" cy="950976"/>
          </a:xfrm>
          <a:prstGeom prst="roundRect">
            <a:avLst>
              <a:gd name="adj" fmla="val 7692"/>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143000"/>
            <a:ext cx="347472" cy="347472"/>
          </a:xfrm>
          <a:prstGeom prst="ellipse">
            <a:avLst/>
          </a:prstGeom>
          <a:solidFill>
            <a:srgbClr val="1A3562"/>
          </a:solidFill>
          <a:ln w="12700">
            <a:solidFill>
              <a:srgbClr val="1A3562"/>
            </a:solidFill>
            <a:prstDash val="solid"/>
          </a:ln>
        </p:spPr>
      </p:sp>
      <p:sp>
        <p:nvSpPr>
          <p:cNvPr id="6" name="Text 4"/>
          <p:cNvSpPr/>
          <p:nvPr/>
        </p:nvSpPr>
        <p:spPr>
          <a:xfrm>
            <a:off x="329184" y="1143000"/>
            <a:ext cx="347472" cy="347472"/>
          </a:xfrm>
          <a:prstGeom prst="rect">
            <a:avLst/>
          </a:prstGeom>
          <a:noFill/>
          <a:ln/>
        </p:spPr>
        <p:txBody>
          <a:bodyPr wrap="square" lIns="0" tIns="0" rIns="0" bIns="0" rtlCol="0" anchor="ctr"/>
          <a:lstStyle/>
          <a:p>
            <a:pPr algn="ctr" indent="0" marL="0">
              <a:buNone/>
            </a:pPr>
            <a:r>
              <a:rPr lang="en-US" sz="1000" b="1" dirty="0">
                <a:solidFill>
                  <a:srgbClr val="F0C040"/>
                </a:solidFill>
                <a:latin typeface="Calibri" pitchFamily="34" charset="0"/>
                <a:ea typeface="Calibri" pitchFamily="34" charset="-122"/>
                <a:cs typeface="Calibri" pitchFamily="34" charset="-120"/>
              </a:rPr>
              <a:t>Q1</a:t>
            </a:r>
            <a:endParaRPr lang="en-US" sz="1000" dirty="0"/>
          </a:p>
        </p:txBody>
      </p:sp>
      <p:sp>
        <p:nvSpPr>
          <p:cNvPr id="7" name="Text 5"/>
          <p:cNvSpPr/>
          <p:nvPr/>
        </p:nvSpPr>
        <p:spPr>
          <a:xfrm>
            <a:off x="768096" y="1106424"/>
            <a:ext cx="5321808" cy="822960"/>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A UAC Foods marketing analyst surveys every 50th customer from a database of 90,000. What sampling technique is this? Calculate the required sample size using Yamane at e = 0.05.</a:t>
            </a:r>
            <a:endParaRPr lang="en-US" sz="950" dirty="0"/>
          </a:p>
        </p:txBody>
      </p:sp>
      <p:sp>
        <p:nvSpPr>
          <p:cNvPr id="8" name="Shape 6"/>
          <p:cNvSpPr/>
          <p:nvPr/>
        </p:nvSpPr>
        <p:spPr>
          <a:xfrm>
            <a:off x="6199632" y="1106424"/>
            <a:ext cx="2578608" cy="822960"/>
          </a:xfrm>
          <a:prstGeom prst="roundRect">
            <a:avLst>
              <a:gd name="adj" fmla="val 6667"/>
            </a:avLst>
          </a:prstGeom>
          <a:solidFill>
            <a:srgbClr val="EAF9F0"/>
          </a:solidFill>
          <a:ln w="10160">
            <a:solidFill>
              <a:srgbClr val="1A7A4A"/>
            </a:solidFill>
            <a:prstDash val="solid"/>
          </a:ln>
        </p:spPr>
      </p:sp>
      <p:sp>
        <p:nvSpPr>
          <p:cNvPr id="9" name="Text 7"/>
          <p:cNvSpPr/>
          <p:nvPr/>
        </p:nvSpPr>
        <p:spPr>
          <a:xfrm>
            <a:off x="6272784" y="1143000"/>
            <a:ext cx="2432304" cy="749808"/>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Answer: </a:t>
            </a:r>
            <a:pPr indent="0" marL="0">
              <a:buNone/>
            </a:pPr>
            <a:r>
              <a:rPr lang="en-US" sz="850" dirty="0">
                <a:solidFill>
                  <a:srgbClr val="2C3E50"/>
                </a:solidFill>
                <a:latin typeface="Calibri" pitchFamily="34" charset="0"/>
                <a:ea typeface="Calibri" pitchFamily="34" charset="-122"/>
                <a:cs typeface="Calibri" pitchFamily="34" charset="-120"/>
              </a:rPr>
              <a:t>Systematic sampling. k = 90,000/n. Yamane: n = 90,000 / (1 + 90,000 x 0.0025) = 90,000 / 226 = 398. Round up to 400.</a:t>
            </a:r>
            <a:endParaRPr lang="en-US" sz="850" dirty="0"/>
          </a:p>
        </p:txBody>
      </p:sp>
      <p:sp>
        <p:nvSpPr>
          <p:cNvPr id="10" name="Shape 8"/>
          <p:cNvSpPr/>
          <p:nvPr/>
        </p:nvSpPr>
        <p:spPr>
          <a:xfrm>
            <a:off x="256032" y="2075688"/>
            <a:ext cx="8631936" cy="950976"/>
          </a:xfrm>
          <a:prstGeom prst="roundRect">
            <a:avLst>
              <a:gd name="adj" fmla="val 7692"/>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1" name="Shape 9"/>
          <p:cNvSpPr/>
          <p:nvPr/>
        </p:nvSpPr>
        <p:spPr>
          <a:xfrm>
            <a:off x="329184" y="2167128"/>
            <a:ext cx="347472" cy="347472"/>
          </a:xfrm>
          <a:prstGeom prst="ellipse">
            <a:avLst/>
          </a:prstGeom>
          <a:solidFill>
            <a:srgbClr val="1A3562"/>
          </a:solidFill>
          <a:ln w="12700">
            <a:solidFill>
              <a:srgbClr val="1A3562"/>
            </a:solidFill>
            <a:prstDash val="solid"/>
          </a:ln>
        </p:spPr>
      </p:sp>
      <p:sp>
        <p:nvSpPr>
          <p:cNvPr id="12" name="Text 10"/>
          <p:cNvSpPr/>
          <p:nvPr/>
        </p:nvSpPr>
        <p:spPr>
          <a:xfrm>
            <a:off x="329184" y="2167128"/>
            <a:ext cx="347472" cy="347472"/>
          </a:xfrm>
          <a:prstGeom prst="rect">
            <a:avLst/>
          </a:prstGeom>
          <a:noFill/>
          <a:ln/>
        </p:spPr>
        <p:txBody>
          <a:bodyPr wrap="square" lIns="0" tIns="0" rIns="0" bIns="0" rtlCol="0" anchor="ctr"/>
          <a:lstStyle/>
          <a:p>
            <a:pPr algn="ctr" indent="0" marL="0">
              <a:buNone/>
            </a:pPr>
            <a:r>
              <a:rPr lang="en-US" sz="1000" b="1" dirty="0">
                <a:solidFill>
                  <a:srgbClr val="F0C040"/>
                </a:solidFill>
                <a:latin typeface="Calibri" pitchFamily="34" charset="0"/>
                <a:ea typeface="Calibri" pitchFamily="34" charset="-122"/>
                <a:cs typeface="Calibri" pitchFamily="34" charset="-120"/>
              </a:rPr>
              <a:t>Q2</a:t>
            </a:r>
            <a:endParaRPr lang="en-US" sz="1000" dirty="0"/>
          </a:p>
        </p:txBody>
      </p:sp>
      <p:sp>
        <p:nvSpPr>
          <p:cNvPr id="13" name="Text 11"/>
          <p:cNvSpPr/>
          <p:nvPr/>
        </p:nvSpPr>
        <p:spPr>
          <a:xfrm>
            <a:off x="768096" y="2130552"/>
            <a:ext cx="5321808" cy="822960"/>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Classify each variable as Nominal, Ordinal, or Scale: (a) Customer gender (b) Product rating 1-5 (c) Annual salary in NGN (d) Preferred distribution channel (e) Education level.</a:t>
            </a:r>
            <a:endParaRPr lang="en-US" sz="950" dirty="0"/>
          </a:p>
        </p:txBody>
      </p:sp>
      <p:sp>
        <p:nvSpPr>
          <p:cNvPr id="14" name="Shape 12"/>
          <p:cNvSpPr/>
          <p:nvPr/>
        </p:nvSpPr>
        <p:spPr>
          <a:xfrm>
            <a:off x="6199632" y="2130552"/>
            <a:ext cx="2578608" cy="822960"/>
          </a:xfrm>
          <a:prstGeom prst="roundRect">
            <a:avLst>
              <a:gd name="adj" fmla="val 6667"/>
            </a:avLst>
          </a:prstGeom>
          <a:solidFill>
            <a:srgbClr val="EAF9F0"/>
          </a:solidFill>
          <a:ln w="10160">
            <a:solidFill>
              <a:srgbClr val="1A7A4A"/>
            </a:solidFill>
            <a:prstDash val="solid"/>
          </a:ln>
        </p:spPr>
      </p:sp>
      <p:sp>
        <p:nvSpPr>
          <p:cNvPr id="15" name="Text 13"/>
          <p:cNvSpPr/>
          <p:nvPr/>
        </p:nvSpPr>
        <p:spPr>
          <a:xfrm>
            <a:off x="6272784" y="2167128"/>
            <a:ext cx="2432304" cy="749808"/>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Answer: </a:t>
            </a:r>
            <a:pPr indent="0" marL="0">
              <a:buNone/>
            </a:pPr>
            <a:r>
              <a:rPr lang="en-US" sz="850" dirty="0">
                <a:solidFill>
                  <a:srgbClr val="2C3E50"/>
                </a:solidFill>
                <a:latin typeface="Calibri" pitchFamily="34" charset="0"/>
                <a:ea typeface="Calibri" pitchFamily="34" charset="-122"/>
                <a:cs typeface="Calibri" pitchFamily="34" charset="-120"/>
              </a:rPr>
              <a:t>(a) Nominal - categories with no order. (b) Ordinal - ranked but unequal intervals. (c) Scale - equal intervals, true zero. (d) Nominal - named categories. (e) Ordinal - ranked levels.</a:t>
            </a:r>
            <a:endParaRPr lang="en-US" sz="850" dirty="0"/>
          </a:p>
        </p:txBody>
      </p:sp>
      <p:sp>
        <p:nvSpPr>
          <p:cNvPr id="16" name="Shape 14"/>
          <p:cNvSpPr/>
          <p:nvPr/>
        </p:nvSpPr>
        <p:spPr>
          <a:xfrm>
            <a:off x="256032" y="3099816"/>
            <a:ext cx="8631936" cy="950976"/>
          </a:xfrm>
          <a:prstGeom prst="roundRect">
            <a:avLst>
              <a:gd name="adj" fmla="val 7692"/>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29184" y="3191256"/>
            <a:ext cx="347472" cy="347472"/>
          </a:xfrm>
          <a:prstGeom prst="ellipse">
            <a:avLst/>
          </a:prstGeom>
          <a:solidFill>
            <a:srgbClr val="1A3562"/>
          </a:solidFill>
          <a:ln w="12700">
            <a:solidFill>
              <a:srgbClr val="1A3562"/>
            </a:solidFill>
            <a:prstDash val="solid"/>
          </a:ln>
        </p:spPr>
      </p:sp>
      <p:sp>
        <p:nvSpPr>
          <p:cNvPr id="18" name="Text 16"/>
          <p:cNvSpPr/>
          <p:nvPr/>
        </p:nvSpPr>
        <p:spPr>
          <a:xfrm>
            <a:off x="329184" y="3191256"/>
            <a:ext cx="347472" cy="347472"/>
          </a:xfrm>
          <a:prstGeom prst="rect">
            <a:avLst/>
          </a:prstGeom>
          <a:noFill/>
          <a:ln/>
        </p:spPr>
        <p:txBody>
          <a:bodyPr wrap="square" lIns="0" tIns="0" rIns="0" bIns="0" rtlCol="0" anchor="ctr"/>
          <a:lstStyle/>
          <a:p>
            <a:pPr algn="ctr" indent="0" marL="0">
              <a:buNone/>
            </a:pPr>
            <a:r>
              <a:rPr lang="en-US" sz="1000" b="1" dirty="0">
                <a:solidFill>
                  <a:srgbClr val="F0C040"/>
                </a:solidFill>
                <a:latin typeface="Calibri" pitchFamily="34" charset="0"/>
                <a:ea typeface="Calibri" pitchFamily="34" charset="-122"/>
                <a:cs typeface="Calibri" pitchFamily="34" charset="-120"/>
              </a:rPr>
              <a:t>Q3</a:t>
            </a:r>
            <a:endParaRPr lang="en-US" sz="1000" dirty="0"/>
          </a:p>
        </p:txBody>
      </p:sp>
      <p:sp>
        <p:nvSpPr>
          <p:cNvPr id="19" name="Text 17"/>
          <p:cNvSpPr/>
          <p:nvPr/>
        </p:nvSpPr>
        <p:spPr>
          <a:xfrm>
            <a:off x="768096" y="3154680"/>
            <a:ext cx="5321808" cy="822960"/>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A researcher finds a strong positive correlation (r = .72) between advertising spend and sales. She concludes 'More advertising CAUSES higher sales.' What is wrong with this conclusion?</a:t>
            </a:r>
            <a:endParaRPr lang="en-US" sz="950" dirty="0"/>
          </a:p>
        </p:txBody>
      </p:sp>
      <p:sp>
        <p:nvSpPr>
          <p:cNvPr id="20" name="Shape 18"/>
          <p:cNvSpPr/>
          <p:nvPr/>
        </p:nvSpPr>
        <p:spPr>
          <a:xfrm>
            <a:off x="6199632" y="3154680"/>
            <a:ext cx="2578608" cy="822960"/>
          </a:xfrm>
          <a:prstGeom prst="roundRect">
            <a:avLst>
              <a:gd name="adj" fmla="val 6667"/>
            </a:avLst>
          </a:prstGeom>
          <a:solidFill>
            <a:srgbClr val="EAF9F0"/>
          </a:solidFill>
          <a:ln w="10160">
            <a:solidFill>
              <a:srgbClr val="1A7A4A"/>
            </a:solidFill>
            <a:prstDash val="solid"/>
          </a:ln>
        </p:spPr>
      </p:sp>
      <p:sp>
        <p:nvSpPr>
          <p:cNvPr id="21" name="Text 19"/>
          <p:cNvSpPr/>
          <p:nvPr/>
        </p:nvSpPr>
        <p:spPr>
          <a:xfrm>
            <a:off x="6272784" y="3191256"/>
            <a:ext cx="2432304" cy="749808"/>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Answer: </a:t>
            </a:r>
            <a:pPr indent="0" marL="0">
              <a:buNone/>
            </a:pPr>
            <a:r>
              <a:rPr lang="en-US" sz="850" dirty="0">
                <a:solidFill>
                  <a:srgbClr val="2C3E50"/>
                </a:solidFill>
                <a:latin typeface="Calibri" pitchFamily="34" charset="0"/>
                <a:ea typeface="Calibri" pitchFamily="34" charset="-122"/>
                <a:cs typeface="Calibri" pitchFamily="34" charset="-120"/>
              </a:rPr>
              <a:t>Correlation does not prove causation. The relationship may be due to: a third variable (e.g. season), reverse causation (sales success enables more ad spend), or chance. Only a controlled experiment could establish causality.</a:t>
            </a:r>
            <a:endParaRPr lang="en-US" sz="850" dirty="0"/>
          </a:p>
        </p:txBody>
      </p:sp>
      <p:sp>
        <p:nvSpPr>
          <p:cNvPr id="22" name="Shape 20"/>
          <p:cNvSpPr/>
          <p:nvPr/>
        </p:nvSpPr>
        <p:spPr>
          <a:xfrm>
            <a:off x="256032" y="4123944"/>
            <a:ext cx="8631936" cy="950976"/>
          </a:xfrm>
          <a:prstGeom prst="roundRect">
            <a:avLst>
              <a:gd name="adj" fmla="val 7692"/>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23" name="Shape 21"/>
          <p:cNvSpPr/>
          <p:nvPr/>
        </p:nvSpPr>
        <p:spPr>
          <a:xfrm>
            <a:off x="329184" y="4215384"/>
            <a:ext cx="347472" cy="347472"/>
          </a:xfrm>
          <a:prstGeom prst="ellipse">
            <a:avLst/>
          </a:prstGeom>
          <a:solidFill>
            <a:srgbClr val="1A3562"/>
          </a:solidFill>
          <a:ln w="12700">
            <a:solidFill>
              <a:srgbClr val="1A3562"/>
            </a:solidFill>
            <a:prstDash val="solid"/>
          </a:ln>
        </p:spPr>
      </p:sp>
      <p:sp>
        <p:nvSpPr>
          <p:cNvPr id="24" name="Text 22"/>
          <p:cNvSpPr/>
          <p:nvPr/>
        </p:nvSpPr>
        <p:spPr>
          <a:xfrm>
            <a:off x="329184" y="4215384"/>
            <a:ext cx="347472" cy="347472"/>
          </a:xfrm>
          <a:prstGeom prst="rect">
            <a:avLst/>
          </a:prstGeom>
          <a:noFill/>
          <a:ln/>
        </p:spPr>
        <p:txBody>
          <a:bodyPr wrap="square" lIns="0" tIns="0" rIns="0" bIns="0" rtlCol="0" anchor="ctr"/>
          <a:lstStyle/>
          <a:p>
            <a:pPr algn="ctr" indent="0" marL="0">
              <a:buNone/>
            </a:pPr>
            <a:r>
              <a:rPr lang="en-US" sz="1000" b="1" dirty="0">
                <a:solidFill>
                  <a:srgbClr val="F0C040"/>
                </a:solidFill>
                <a:latin typeface="Calibri" pitchFamily="34" charset="0"/>
                <a:ea typeface="Calibri" pitchFamily="34" charset="-122"/>
                <a:cs typeface="Calibri" pitchFamily="34" charset="-120"/>
              </a:rPr>
              <a:t>Q4</a:t>
            </a:r>
            <a:endParaRPr lang="en-US" sz="1000" dirty="0"/>
          </a:p>
        </p:txBody>
      </p:sp>
      <p:sp>
        <p:nvSpPr>
          <p:cNvPr id="25" name="Text 23"/>
          <p:cNvSpPr/>
          <p:nvPr/>
        </p:nvSpPr>
        <p:spPr>
          <a:xfrm>
            <a:off x="768096" y="4178808"/>
            <a:ext cx="5321808" cy="822960"/>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A UAC Foods questionnaire asks: 'Are you satisfied with our product quality and delivery speed?' Identify the problem and rewrite this question correctly.</a:t>
            </a:r>
            <a:endParaRPr lang="en-US" sz="950" dirty="0"/>
          </a:p>
        </p:txBody>
      </p:sp>
      <p:sp>
        <p:nvSpPr>
          <p:cNvPr id="26" name="Shape 24"/>
          <p:cNvSpPr/>
          <p:nvPr/>
        </p:nvSpPr>
        <p:spPr>
          <a:xfrm>
            <a:off x="6199632" y="4178808"/>
            <a:ext cx="2578608" cy="822960"/>
          </a:xfrm>
          <a:prstGeom prst="roundRect">
            <a:avLst>
              <a:gd name="adj" fmla="val 6667"/>
            </a:avLst>
          </a:prstGeom>
          <a:solidFill>
            <a:srgbClr val="EAF9F0"/>
          </a:solidFill>
          <a:ln w="10160">
            <a:solidFill>
              <a:srgbClr val="1A7A4A"/>
            </a:solidFill>
            <a:prstDash val="solid"/>
          </a:ln>
        </p:spPr>
      </p:sp>
      <p:sp>
        <p:nvSpPr>
          <p:cNvPr id="27" name="Text 25"/>
          <p:cNvSpPr/>
          <p:nvPr/>
        </p:nvSpPr>
        <p:spPr>
          <a:xfrm>
            <a:off x="6272784" y="4215384"/>
            <a:ext cx="2432304" cy="749808"/>
          </a:xfrm>
          <a:prstGeom prst="rect">
            <a:avLst/>
          </a:prstGeom>
          <a:noFill/>
          <a:ln/>
        </p:spPr>
        <p:txBody>
          <a:bodyPr wrap="square" lIns="0" tIns="0" rIns="0" bIns="0" rtlCol="0" anchor="ctr"/>
          <a:lstStyle/>
          <a:p>
            <a:pPr indent="0" marL="0">
              <a:buNone/>
            </a:pPr>
            <a:r>
              <a:rPr lang="en-US" sz="850" b="1" dirty="0">
                <a:solidFill>
                  <a:srgbClr val="1A7A4A"/>
                </a:solidFill>
                <a:latin typeface="Calibri" pitchFamily="34" charset="0"/>
                <a:ea typeface="Calibri" pitchFamily="34" charset="-122"/>
                <a:cs typeface="Calibri" pitchFamily="34" charset="-120"/>
              </a:rPr>
              <a:t>Answer: </a:t>
            </a:r>
            <a:pPr indent="0" marL="0">
              <a:buNone/>
            </a:pPr>
            <a:r>
              <a:rPr lang="en-US" sz="850" dirty="0">
                <a:solidFill>
                  <a:srgbClr val="2C3E50"/>
                </a:solidFill>
                <a:latin typeface="Calibri" pitchFamily="34" charset="0"/>
                <a:ea typeface="Calibri" pitchFamily="34" charset="-122"/>
                <a:cs typeface="Calibri" pitchFamily="34" charset="-120"/>
              </a:rPr>
              <a:t>Double-barrelled question - two constructs in one item. Rewrite as: (1) How satisfied are you with UAC Foods product quality? and (2) How satisfied are you with UAC Foods delivery speed? Each on a 1-5 scale.</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F1E3C"/>
          </a:solidFill>
          <a:ln w="12700">
            <a:solidFill>
              <a:srgbClr val="0F1E3C"/>
            </a:solidFill>
            <a:prstDash val="solid"/>
          </a:ln>
        </p:spPr>
      </p:sp>
      <p:sp>
        <p:nvSpPr>
          <p:cNvPr id="3" name="Text 1"/>
          <p:cNvSpPr/>
          <p:nvPr/>
        </p:nvSpPr>
        <p:spPr>
          <a:xfrm>
            <a:off x="457200" y="109728"/>
            <a:ext cx="8229600" cy="713232"/>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What Comes Next - Module 2 Preview</a:t>
            </a:r>
            <a:endParaRPr lang="en-US" sz="2400" dirty="0"/>
          </a:p>
        </p:txBody>
      </p:sp>
      <p:sp>
        <p:nvSpPr>
          <p:cNvPr id="4" name="Shape 2"/>
          <p:cNvSpPr/>
          <p:nvPr/>
        </p:nvSpPr>
        <p:spPr>
          <a:xfrm>
            <a:off x="256032" y="1051560"/>
            <a:ext cx="2834640" cy="3977640"/>
          </a:xfrm>
          <a:prstGeom prst="roundRect">
            <a:avLst>
              <a:gd name="adj" fmla="val 2903"/>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10896" y="1115568"/>
            <a:ext cx="2724912" cy="566928"/>
          </a:xfrm>
          <a:prstGeom prst="roundRect">
            <a:avLst>
              <a:gd name="adj" fmla="val 11290"/>
            </a:avLst>
          </a:prstGeom>
          <a:solidFill>
            <a:srgbClr val="1B5CA0"/>
          </a:solidFill>
          <a:ln w="12700">
            <a:solidFill>
              <a:srgbClr val="1B5CA0"/>
            </a:solidFill>
            <a:prstDash val="solid"/>
          </a:ln>
        </p:spPr>
      </p:sp>
      <p:sp>
        <p:nvSpPr>
          <p:cNvPr id="6" name="Text 4"/>
          <p:cNvSpPr/>
          <p:nvPr/>
        </p:nvSpPr>
        <p:spPr>
          <a:xfrm>
            <a:off x="310896" y="1115568"/>
            <a:ext cx="272491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Module 2</a:t>
            </a:r>
            <a:endParaRPr lang="en-US" sz="1200" dirty="0"/>
          </a:p>
        </p:txBody>
      </p:sp>
      <p:sp>
        <p:nvSpPr>
          <p:cNvPr id="7" name="Text 5"/>
          <p:cNvSpPr/>
          <p:nvPr/>
        </p:nvSpPr>
        <p:spPr>
          <a:xfrm>
            <a:off x="310896" y="1426464"/>
            <a:ext cx="2724912" cy="23774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Data Entry and Management</a:t>
            </a:r>
            <a:endParaRPr lang="en-US" sz="1000" dirty="0"/>
          </a:p>
        </p:txBody>
      </p:sp>
      <p:sp>
        <p:nvSpPr>
          <p:cNvPr id="8" name="Shape 6"/>
          <p:cNvSpPr/>
          <p:nvPr/>
        </p:nvSpPr>
        <p:spPr>
          <a:xfrm>
            <a:off x="438912" y="1810512"/>
            <a:ext cx="45720" cy="274320"/>
          </a:xfrm>
          <a:prstGeom prst="rect">
            <a:avLst/>
          </a:prstGeom>
          <a:solidFill>
            <a:srgbClr val="1B5CA0"/>
          </a:solidFill>
          <a:ln w="12700">
            <a:solidFill>
              <a:srgbClr val="1B5CA0"/>
            </a:solidFill>
            <a:prstDash val="solid"/>
          </a:ln>
        </p:spPr>
      </p:sp>
      <p:sp>
        <p:nvSpPr>
          <p:cNvPr id="9" name="Text 7"/>
          <p:cNvSpPr/>
          <p:nvPr/>
        </p:nvSpPr>
        <p:spPr>
          <a:xfrm>
            <a:off x="548640" y="1792224"/>
            <a:ext cx="2468880" cy="38404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Entering categorical and continuous data in SPSS</a:t>
            </a:r>
            <a:endParaRPr lang="en-US" sz="950" dirty="0"/>
          </a:p>
        </p:txBody>
      </p:sp>
      <p:sp>
        <p:nvSpPr>
          <p:cNvPr id="10" name="Shape 8"/>
          <p:cNvSpPr/>
          <p:nvPr/>
        </p:nvSpPr>
        <p:spPr>
          <a:xfrm>
            <a:off x="438912" y="2231136"/>
            <a:ext cx="45720" cy="274320"/>
          </a:xfrm>
          <a:prstGeom prst="rect">
            <a:avLst/>
          </a:prstGeom>
          <a:solidFill>
            <a:srgbClr val="1B5CA0"/>
          </a:solidFill>
          <a:ln w="12700">
            <a:solidFill>
              <a:srgbClr val="1B5CA0"/>
            </a:solidFill>
            <a:prstDash val="solid"/>
          </a:ln>
        </p:spPr>
      </p:sp>
      <p:sp>
        <p:nvSpPr>
          <p:cNvPr id="11" name="Text 9"/>
          <p:cNvSpPr/>
          <p:nvPr/>
        </p:nvSpPr>
        <p:spPr>
          <a:xfrm>
            <a:off x="548640" y="2212848"/>
            <a:ext cx="2468880" cy="38404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Defining and labelling all variables correctly</a:t>
            </a:r>
            <a:endParaRPr lang="en-US" sz="950" dirty="0"/>
          </a:p>
        </p:txBody>
      </p:sp>
      <p:sp>
        <p:nvSpPr>
          <p:cNvPr id="12" name="Shape 10"/>
          <p:cNvSpPr/>
          <p:nvPr/>
        </p:nvSpPr>
        <p:spPr>
          <a:xfrm>
            <a:off x="438912" y="2651760"/>
            <a:ext cx="45720" cy="274320"/>
          </a:xfrm>
          <a:prstGeom prst="rect">
            <a:avLst/>
          </a:prstGeom>
          <a:solidFill>
            <a:srgbClr val="1B5CA0"/>
          </a:solidFill>
          <a:ln w="12700">
            <a:solidFill>
              <a:srgbClr val="1B5CA0"/>
            </a:solidFill>
            <a:prstDash val="solid"/>
          </a:ln>
        </p:spPr>
      </p:sp>
      <p:sp>
        <p:nvSpPr>
          <p:cNvPr id="13" name="Text 11"/>
          <p:cNvSpPr/>
          <p:nvPr/>
        </p:nvSpPr>
        <p:spPr>
          <a:xfrm>
            <a:off x="548640" y="2633472"/>
            <a:ext cx="2468880" cy="38404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Validation, sorting, and transforming variables</a:t>
            </a:r>
            <a:endParaRPr lang="en-US" sz="950" dirty="0"/>
          </a:p>
        </p:txBody>
      </p:sp>
      <p:sp>
        <p:nvSpPr>
          <p:cNvPr id="14" name="Shape 12"/>
          <p:cNvSpPr/>
          <p:nvPr/>
        </p:nvSpPr>
        <p:spPr>
          <a:xfrm>
            <a:off x="438912" y="3072384"/>
            <a:ext cx="45720" cy="274320"/>
          </a:xfrm>
          <a:prstGeom prst="rect">
            <a:avLst/>
          </a:prstGeom>
          <a:solidFill>
            <a:srgbClr val="1B5CA0"/>
          </a:solidFill>
          <a:ln w="12700">
            <a:solidFill>
              <a:srgbClr val="1B5CA0"/>
            </a:solidFill>
            <a:prstDash val="solid"/>
          </a:ln>
        </p:spPr>
      </p:sp>
      <p:sp>
        <p:nvSpPr>
          <p:cNvPr id="15" name="Text 13"/>
          <p:cNvSpPr/>
          <p:nvPr/>
        </p:nvSpPr>
        <p:spPr>
          <a:xfrm>
            <a:off x="548640" y="3054096"/>
            <a:ext cx="2468880" cy="38404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Recoding and computing new variables</a:t>
            </a:r>
            <a:endParaRPr lang="en-US" sz="950" dirty="0"/>
          </a:p>
        </p:txBody>
      </p:sp>
      <p:sp>
        <p:nvSpPr>
          <p:cNvPr id="16" name="Shape 14"/>
          <p:cNvSpPr/>
          <p:nvPr/>
        </p:nvSpPr>
        <p:spPr>
          <a:xfrm>
            <a:off x="438912" y="3493008"/>
            <a:ext cx="45720" cy="274320"/>
          </a:xfrm>
          <a:prstGeom prst="rect">
            <a:avLst/>
          </a:prstGeom>
          <a:solidFill>
            <a:srgbClr val="1B5CA0"/>
          </a:solidFill>
          <a:ln w="12700">
            <a:solidFill>
              <a:srgbClr val="1B5CA0"/>
            </a:solidFill>
            <a:prstDash val="solid"/>
          </a:ln>
        </p:spPr>
      </p:sp>
      <p:sp>
        <p:nvSpPr>
          <p:cNvPr id="17" name="Text 15"/>
          <p:cNvSpPr/>
          <p:nvPr/>
        </p:nvSpPr>
        <p:spPr>
          <a:xfrm>
            <a:off x="548640" y="3474720"/>
            <a:ext cx="2468880" cy="38404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Replacing missing values and restructuring</a:t>
            </a:r>
            <a:endParaRPr lang="en-US" sz="950" dirty="0"/>
          </a:p>
        </p:txBody>
      </p:sp>
      <p:sp>
        <p:nvSpPr>
          <p:cNvPr id="18" name="Shape 16"/>
          <p:cNvSpPr/>
          <p:nvPr/>
        </p:nvSpPr>
        <p:spPr>
          <a:xfrm>
            <a:off x="438912" y="3913632"/>
            <a:ext cx="45720" cy="274320"/>
          </a:xfrm>
          <a:prstGeom prst="rect">
            <a:avLst/>
          </a:prstGeom>
          <a:solidFill>
            <a:srgbClr val="1B5CA0"/>
          </a:solidFill>
          <a:ln w="12700">
            <a:solidFill>
              <a:srgbClr val="1B5CA0"/>
            </a:solidFill>
            <a:prstDash val="solid"/>
          </a:ln>
        </p:spPr>
      </p:sp>
      <p:sp>
        <p:nvSpPr>
          <p:cNvPr id="19" name="Text 17"/>
          <p:cNvSpPr/>
          <p:nvPr/>
        </p:nvSpPr>
        <p:spPr>
          <a:xfrm>
            <a:off x="548640" y="3895344"/>
            <a:ext cx="2468880" cy="38404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Splitting, selecting, and weighting cases</a:t>
            </a:r>
            <a:endParaRPr lang="en-US" sz="950" dirty="0"/>
          </a:p>
        </p:txBody>
      </p:sp>
      <p:sp>
        <p:nvSpPr>
          <p:cNvPr id="20" name="Shape 18"/>
          <p:cNvSpPr/>
          <p:nvPr/>
        </p:nvSpPr>
        <p:spPr>
          <a:xfrm>
            <a:off x="438912" y="4334256"/>
            <a:ext cx="45720" cy="274320"/>
          </a:xfrm>
          <a:prstGeom prst="rect">
            <a:avLst/>
          </a:prstGeom>
          <a:solidFill>
            <a:srgbClr val="1B5CA0"/>
          </a:solidFill>
          <a:ln w="12700">
            <a:solidFill>
              <a:srgbClr val="1B5CA0"/>
            </a:solidFill>
            <a:prstDash val="solid"/>
          </a:ln>
        </p:spPr>
      </p:sp>
      <p:sp>
        <p:nvSpPr>
          <p:cNvPr id="21" name="Text 19"/>
          <p:cNvSpPr/>
          <p:nvPr/>
        </p:nvSpPr>
        <p:spPr>
          <a:xfrm>
            <a:off x="548640" y="4315968"/>
            <a:ext cx="2468880" cy="38404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Merging files from multiple sources</a:t>
            </a:r>
            <a:endParaRPr lang="en-US" sz="950" dirty="0"/>
          </a:p>
        </p:txBody>
      </p:sp>
      <p:sp>
        <p:nvSpPr>
          <p:cNvPr id="22" name="Shape 20"/>
          <p:cNvSpPr/>
          <p:nvPr/>
        </p:nvSpPr>
        <p:spPr>
          <a:xfrm>
            <a:off x="3227832" y="1051560"/>
            <a:ext cx="2834640" cy="3977640"/>
          </a:xfrm>
          <a:prstGeom prst="roundRect">
            <a:avLst>
              <a:gd name="adj" fmla="val 2903"/>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23" name="Shape 21"/>
          <p:cNvSpPr/>
          <p:nvPr/>
        </p:nvSpPr>
        <p:spPr>
          <a:xfrm>
            <a:off x="3282696" y="1115568"/>
            <a:ext cx="2724912" cy="566928"/>
          </a:xfrm>
          <a:prstGeom prst="roundRect">
            <a:avLst>
              <a:gd name="adj" fmla="val 11290"/>
            </a:avLst>
          </a:prstGeom>
          <a:solidFill>
            <a:srgbClr val="1A7A4A"/>
          </a:solidFill>
          <a:ln w="12700">
            <a:solidFill>
              <a:srgbClr val="1A7A4A"/>
            </a:solidFill>
            <a:prstDash val="solid"/>
          </a:ln>
        </p:spPr>
      </p:sp>
      <p:sp>
        <p:nvSpPr>
          <p:cNvPr id="24" name="Text 22"/>
          <p:cNvSpPr/>
          <p:nvPr/>
        </p:nvSpPr>
        <p:spPr>
          <a:xfrm>
            <a:off x="3282696" y="1115568"/>
            <a:ext cx="272491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Module 3</a:t>
            </a:r>
            <a:endParaRPr lang="en-US" sz="1200" dirty="0"/>
          </a:p>
        </p:txBody>
      </p:sp>
      <p:sp>
        <p:nvSpPr>
          <p:cNvPr id="25" name="Text 23"/>
          <p:cNvSpPr/>
          <p:nvPr/>
        </p:nvSpPr>
        <p:spPr>
          <a:xfrm>
            <a:off x="3282696" y="1426464"/>
            <a:ext cx="2724912" cy="23774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Descriptive Statistics</a:t>
            </a:r>
            <a:endParaRPr lang="en-US" sz="1000" dirty="0"/>
          </a:p>
        </p:txBody>
      </p:sp>
      <p:sp>
        <p:nvSpPr>
          <p:cNvPr id="26" name="Shape 24"/>
          <p:cNvSpPr/>
          <p:nvPr/>
        </p:nvSpPr>
        <p:spPr>
          <a:xfrm>
            <a:off x="3410712" y="1810512"/>
            <a:ext cx="45720" cy="274320"/>
          </a:xfrm>
          <a:prstGeom prst="rect">
            <a:avLst/>
          </a:prstGeom>
          <a:solidFill>
            <a:srgbClr val="1A7A4A"/>
          </a:solidFill>
          <a:ln w="12700">
            <a:solidFill>
              <a:srgbClr val="1A7A4A"/>
            </a:solidFill>
            <a:prstDash val="solid"/>
          </a:ln>
        </p:spPr>
      </p:sp>
      <p:sp>
        <p:nvSpPr>
          <p:cNvPr id="27" name="Text 25"/>
          <p:cNvSpPr/>
          <p:nvPr/>
        </p:nvSpPr>
        <p:spPr>
          <a:xfrm>
            <a:off x="3520440" y="1792224"/>
            <a:ext cx="2468880" cy="38404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Tests of association and tests of difference</a:t>
            </a:r>
            <a:endParaRPr lang="en-US" sz="950" dirty="0"/>
          </a:p>
        </p:txBody>
      </p:sp>
      <p:sp>
        <p:nvSpPr>
          <p:cNvPr id="28" name="Shape 26"/>
          <p:cNvSpPr/>
          <p:nvPr/>
        </p:nvSpPr>
        <p:spPr>
          <a:xfrm>
            <a:off x="3410712" y="2231136"/>
            <a:ext cx="45720" cy="274320"/>
          </a:xfrm>
          <a:prstGeom prst="rect">
            <a:avLst/>
          </a:prstGeom>
          <a:solidFill>
            <a:srgbClr val="1A7A4A"/>
          </a:solidFill>
          <a:ln w="12700">
            <a:solidFill>
              <a:srgbClr val="1A7A4A"/>
            </a:solidFill>
            <a:prstDash val="solid"/>
          </a:ln>
        </p:spPr>
      </p:sp>
      <p:sp>
        <p:nvSpPr>
          <p:cNvPr id="29" name="Text 27"/>
          <p:cNvSpPr/>
          <p:nvPr/>
        </p:nvSpPr>
        <p:spPr>
          <a:xfrm>
            <a:off x="3520440" y="2212848"/>
            <a:ext cx="2468880" cy="38404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Measures of central tendency and variability</a:t>
            </a:r>
            <a:endParaRPr lang="en-US" sz="950" dirty="0"/>
          </a:p>
        </p:txBody>
      </p:sp>
      <p:sp>
        <p:nvSpPr>
          <p:cNvPr id="30" name="Shape 28"/>
          <p:cNvSpPr/>
          <p:nvPr/>
        </p:nvSpPr>
        <p:spPr>
          <a:xfrm>
            <a:off x="3410712" y="2651760"/>
            <a:ext cx="45720" cy="274320"/>
          </a:xfrm>
          <a:prstGeom prst="rect">
            <a:avLst/>
          </a:prstGeom>
          <a:solidFill>
            <a:srgbClr val="1A7A4A"/>
          </a:solidFill>
          <a:ln w="12700">
            <a:solidFill>
              <a:srgbClr val="1A7A4A"/>
            </a:solidFill>
            <a:prstDash val="solid"/>
          </a:ln>
        </p:spPr>
      </p:sp>
      <p:sp>
        <p:nvSpPr>
          <p:cNvPr id="31" name="Text 29"/>
          <p:cNvSpPr/>
          <p:nvPr/>
        </p:nvSpPr>
        <p:spPr>
          <a:xfrm>
            <a:off x="3520440" y="2633472"/>
            <a:ext cx="2468880" cy="38404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Describing quantitative and qualitative data</a:t>
            </a:r>
            <a:endParaRPr lang="en-US" sz="950" dirty="0"/>
          </a:p>
        </p:txBody>
      </p:sp>
      <p:sp>
        <p:nvSpPr>
          <p:cNvPr id="32" name="Shape 30"/>
          <p:cNvSpPr/>
          <p:nvPr/>
        </p:nvSpPr>
        <p:spPr>
          <a:xfrm>
            <a:off x="3410712" y="3072384"/>
            <a:ext cx="45720" cy="274320"/>
          </a:xfrm>
          <a:prstGeom prst="rect">
            <a:avLst/>
          </a:prstGeom>
          <a:solidFill>
            <a:srgbClr val="1A7A4A"/>
          </a:solidFill>
          <a:ln w="12700">
            <a:solidFill>
              <a:srgbClr val="1A7A4A"/>
            </a:solidFill>
            <a:prstDash val="solid"/>
          </a:ln>
        </p:spPr>
      </p:sp>
      <p:sp>
        <p:nvSpPr>
          <p:cNvPr id="33" name="Text 31"/>
          <p:cNvSpPr/>
          <p:nvPr/>
        </p:nvSpPr>
        <p:spPr>
          <a:xfrm>
            <a:off x="3520440" y="3054096"/>
            <a:ext cx="2468880" cy="38404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Frequency tables and graphical displays</a:t>
            </a:r>
            <a:endParaRPr lang="en-US" sz="950" dirty="0"/>
          </a:p>
        </p:txBody>
      </p:sp>
      <p:sp>
        <p:nvSpPr>
          <p:cNvPr id="34" name="Shape 32"/>
          <p:cNvSpPr/>
          <p:nvPr/>
        </p:nvSpPr>
        <p:spPr>
          <a:xfrm>
            <a:off x="3410712" y="3493008"/>
            <a:ext cx="45720" cy="274320"/>
          </a:xfrm>
          <a:prstGeom prst="rect">
            <a:avLst/>
          </a:prstGeom>
          <a:solidFill>
            <a:srgbClr val="1A7A4A"/>
          </a:solidFill>
          <a:ln w="12700">
            <a:solidFill>
              <a:srgbClr val="1A7A4A"/>
            </a:solidFill>
            <a:prstDash val="solid"/>
          </a:ln>
        </p:spPr>
      </p:sp>
      <p:sp>
        <p:nvSpPr>
          <p:cNvPr id="35" name="Text 33"/>
          <p:cNvSpPr/>
          <p:nvPr/>
        </p:nvSpPr>
        <p:spPr>
          <a:xfrm>
            <a:off x="3520440" y="3474720"/>
            <a:ext cx="2468880" cy="38404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Correlation analysis - bivariate and subgroup</a:t>
            </a:r>
            <a:endParaRPr lang="en-US" sz="950" dirty="0"/>
          </a:p>
        </p:txBody>
      </p:sp>
      <p:sp>
        <p:nvSpPr>
          <p:cNvPr id="36" name="Shape 34"/>
          <p:cNvSpPr/>
          <p:nvPr/>
        </p:nvSpPr>
        <p:spPr>
          <a:xfrm>
            <a:off x="3410712" y="3913632"/>
            <a:ext cx="45720" cy="274320"/>
          </a:xfrm>
          <a:prstGeom prst="rect">
            <a:avLst/>
          </a:prstGeom>
          <a:solidFill>
            <a:srgbClr val="1A7A4A"/>
          </a:solidFill>
          <a:ln w="12700">
            <a:solidFill>
              <a:srgbClr val="1A7A4A"/>
            </a:solidFill>
            <a:prstDash val="solid"/>
          </a:ln>
        </p:spPr>
      </p:sp>
      <p:sp>
        <p:nvSpPr>
          <p:cNvPr id="37" name="Text 35"/>
          <p:cNvSpPr/>
          <p:nvPr/>
        </p:nvSpPr>
        <p:spPr>
          <a:xfrm>
            <a:off x="3520440" y="3895344"/>
            <a:ext cx="2468880" cy="38404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Scatterplots and overlay scatterplots</a:t>
            </a:r>
            <a:endParaRPr lang="en-US" sz="950" dirty="0"/>
          </a:p>
        </p:txBody>
      </p:sp>
      <p:sp>
        <p:nvSpPr>
          <p:cNvPr id="38" name="Shape 36"/>
          <p:cNvSpPr/>
          <p:nvPr/>
        </p:nvSpPr>
        <p:spPr>
          <a:xfrm>
            <a:off x="6199632" y="1051560"/>
            <a:ext cx="2834640" cy="3977640"/>
          </a:xfrm>
          <a:prstGeom prst="roundRect">
            <a:avLst>
              <a:gd name="adj" fmla="val 2903"/>
            </a:avLst>
          </a:prstGeom>
          <a:solidFill>
            <a:srgbClr val="FFFFFF"/>
          </a:solidFill>
          <a:ln w="6350">
            <a:solidFill>
              <a:srgbClr val="D8E8F4"/>
            </a:solidFill>
            <a:prstDash val="solid"/>
          </a:ln>
          <a:effectLst>
            <a:outerShdw sx="100000" sy="100000" kx="0" ky="0" algn="bl" rotWithShape="0" blurRad="76200" dist="25400" dir="2700000">
              <a:srgbClr val="000000">
                <a:alpha val="12000"/>
              </a:srgbClr>
            </a:outerShdw>
          </a:effectLst>
        </p:spPr>
      </p:sp>
      <p:sp>
        <p:nvSpPr>
          <p:cNvPr id="39" name="Shape 37"/>
          <p:cNvSpPr/>
          <p:nvPr/>
        </p:nvSpPr>
        <p:spPr>
          <a:xfrm>
            <a:off x="6254496" y="1115568"/>
            <a:ext cx="2724912" cy="566928"/>
          </a:xfrm>
          <a:prstGeom prst="roundRect">
            <a:avLst>
              <a:gd name="adj" fmla="val 11290"/>
            </a:avLst>
          </a:prstGeom>
          <a:solidFill>
            <a:srgbClr val="5B2D8E"/>
          </a:solidFill>
          <a:ln w="12700">
            <a:solidFill>
              <a:srgbClr val="5B2D8E"/>
            </a:solidFill>
            <a:prstDash val="solid"/>
          </a:ln>
        </p:spPr>
      </p:sp>
      <p:sp>
        <p:nvSpPr>
          <p:cNvPr id="40" name="Text 38"/>
          <p:cNvSpPr/>
          <p:nvPr/>
        </p:nvSpPr>
        <p:spPr>
          <a:xfrm>
            <a:off x="6254496" y="1115568"/>
            <a:ext cx="272491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Modules 4-5</a:t>
            </a:r>
            <a:endParaRPr lang="en-US" sz="1200" dirty="0"/>
          </a:p>
        </p:txBody>
      </p:sp>
      <p:sp>
        <p:nvSpPr>
          <p:cNvPr id="41" name="Text 39"/>
          <p:cNvSpPr/>
          <p:nvPr/>
        </p:nvSpPr>
        <p:spPr>
          <a:xfrm>
            <a:off x="6254496" y="1426464"/>
            <a:ext cx="2724912" cy="23774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Inferential Statistics and Advanced Methods</a:t>
            </a:r>
            <a:endParaRPr lang="en-US" sz="1000" dirty="0"/>
          </a:p>
        </p:txBody>
      </p:sp>
      <p:sp>
        <p:nvSpPr>
          <p:cNvPr id="42" name="Shape 40"/>
          <p:cNvSpPr/>
          <p:nvPr/>
        </p:nvSpPr>
        <p:spPr>
          <a:xfrm>
            <a:off x="6382512" y="1810512"/>
            <a:ext cx="45720" cy="274320"/>
          </a:xfrm>
          <a:prstGeom prst="rect">
            <a:avLst/>
          </a:prstGeom>
          <a:solidFill>
            <a:srgbClr val="5B2D8E"/>
          </a:solidFill>
          <a:ln w="12700">
            <a:solidFill>
              <a:srgbClr val="5B2D8E"/>
            </a:solidFill>
            <a:prstDash val="solid"/>
          </a:ln>
        </p:spPr>
      </p:sp>
      <p:sp>
        <p:nvSpPr>
          <p:cNvPr id="43" name="Text 41"/>
          <p:cNvSpPr/>
          <p:nvPr/>
        </p:nvSpPr>
        <p:spPr>
          <a:xfrm>
            <a:off x="6492240" y="1792224"/>
            <a:ext cx="2468880" cy="38404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One-sample, paired, and independent t-tests</a:t>
            </a:r>
            <a:endParaRPr lang="en-US" sz="950" dirty="0"/>
          </a:p>
        </p:txBody>
      </p:sp>
      <p:sp>
        <p:nvSpPr>
          <p:cNvPr id="44" name="Shape 42"/>
          <p:cNvSpPr/>
          <p:nvPr/>
        </p:nvSpPr>
        <p:spPr>
          <a:xfrm>
            <a:off x="6382512" y="2231136"/>
            <a:ext cx="45720" cy="274320"/>
          </a:xfrm>
          <a:prstGeom prst="rect">
            <a:avLst/>
          </a:prstGeom>
          <a:solidFill>
            <a:srgbClr val="5B2D8E"/>
          </a:solidFill>
          <a:ln w="12700">
            <a:solidFill>
              <a:srgbClr val="5B2D8E"/>
            </a:solidFill>
            <a:prstDash val="solid"/>
          </a:ln>
        </p:spPr>
      </p:sp>
      <p:sp>
        <p:nvSpPr>
          <p:cNvPr id="45" name="Text 43"/>
          <p:cNvSpPr/>
          <p:nvPr/>
        </p:nvSpPr>
        <p:spPr>
          <a:xfrm>
            <a:off x="6492240" y="2212848"/>
            <a:ext cx="2468880" cy="38404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One-Way ANOVA, MANOVA, Repeated Measures</a:t>
            </a:r>
            <a:endParaRPr lang="en-US" sz="950" dirty="0"/>
          </a:p>
        </p:txBody>
      </p:sp>
      <p:sp>
        <p:nvSpPr>
          <p:cNvPr id="46" name="Shape 44"/>
          <p:cNvSpPr/>
          <p:nvPr/>
        </p:nvSpPr>
        <p:spPr>
          <a:xfrm>
            <a:off x="6382512" y="2651760"/>
            <a:ext cx="45720" cy="274320"/>
          </a:xfrm>
          <a:prstGeom prst="rect">
            <a:avLst/>
          </a:prstGeom>
          <a:solidFill>
            <a:srgbClr val="5B2D8E"/>
          </a:solidFill>
          <a:ln w="12700">
            <a:solidFill>
              <a:srgbClr val="5B2D8E"/>
            </a:solidFill>
            <a:prstDash val="solid"/>
          </a:ln>
        </p:spPr>
      </p:sp>
      <p:sp>
        <p:nvSpPr>
          <p:cNvPr id="47" name="Text 45"/>
          <p:cNvSpPr/>
          <p:nvPr/>
        </p:nvSpPr>
        <p:spPr>
          <a:xfrm>
            <a:off x="6492240" y="2633472"/>
            <a:ext cx="2468880" cy="38404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Chi-Square tests and non-parametric methods</a:t>
            </a:r>
            <a:endParaRPr lang="en-US" sz="950" dirty="0"/>
          </a:p>
        </p:txBody>
      </p:sp>
      <p:sp>
        <p:nvSpPr>
          <p:cNvPr id="48" name="Shape 46"/>
          <p:cNvSpPr/>
          <p:nvPr/>
        </p:nvSpPr>
        <p:spPr>
          <a:xfrm>
            <a:off x="6382512" y="3072384"/>
            <a:ext cx="45720" cy="274320"/>
          </a:xfrm>
          <a:prstGeom prst="rect">
            <a:avLst/>
          </a:prstGeom>
          <a:solidFill>
            <a:srgbClr val="5B2D8E"/>
          </a:solidFill>
          <a:ln w="12700">
            <a:solidFill>
              <a:srgbClr val="5B2D8E"/>
            </a:solidFill>
            <a:prstDash val="solid"/>
          </a:ln>
        </p:spPr>
      </p:sp>
      <p:sp>
        <p:nvSpPr>
          <p:cNvPr id="49" name="Text 47"/>
          <p:cNvSpPr/>
          <p:nvPr/>
        </p:nvSpPr>
        <p:spPr>
          <a:xfrm>
            <a:off x="6492240" y="3054096"/>
            <a:ext cx="2468880" cy="38404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Multiple regression and logistic regression</a:t>
            </a:r>
            <a:endParaRPr lang="en-US" sz="950" dirty="0"/>
          </a:p>
        </p:txBody>
      </p:sp>
      <p:sp>
        <p:nvSpPr>
          <p:cNvPr id="50" name="Shape 48"/>
          <p:cNvSpPr/>
          <p:nvPr/>
        </p:nvSpPr>
        <p:spPr>
          <a:xfrm>
            <a:off x="6382512" y="3493008"/>
            <a:ext cx="45720" cy="274320"/>
          </a:xfrm>
          <a:prstGeom prst="rect">
            <a:avLst/>
          </a:prstGeom>
          <a:solidFill>
            <a:srgbClr val="5B2D8E"/>
          </a:solidFill>
          <a:ln w="12700">
            <a:solidFill>
              <a:srgbClr val="5B2D8E"/>
            </a:solidFill>
            <a:prstDash val="solid"/>
          </a:ln>
        </p:spPr>
      </p:sp>
      <p:sp>
        <p:nvSpPr>
          <p:cNvPr id="51" name="Text 49"/>
          <p:cNvSpPr/>
          <p:nvPr/>
        </p:nvSpPr>
        <p:spPr>
          <a:xfrm>
            <a:off x="6492240" y="3474720"/>
            <a:ext cx="2468880" cy="384048"/>
          </a:xfrm>
          <a:prstGeom prst="rect">
            <a:avLst/>
          </a:prstGeom>
          <a:noFill/>
          <a:ln/>
        </p:spPr>
        <p:txBody>
          <a:bodyPr wrap="square" lIns="0" tIns="0" rIns="0" bIns="0" rtlCol="0" anchor="ctr"/>
          <a:lstStyle/>
          <a:p>
            <a:pPr indent="0" marL="0">
              <a:buNone/>
            </a:pPr>
            <a:r>
              <a:rPr lang="en-US" sz="950" dirty="0">
                <a:solidFill>
                  <a:srgbClr val="2C3E50"/>
                </a:solidFill>
                <a:latin typeface="Calibri" pitchFamily="34" charset="0"/>
                <a:ea typeface="Calibri" pitchFamily="34" charset="-122"/>
                <a:cs typeface="Calibri" pitchFamily="34" charset="-120"/>
              </a:rPr>
              <a:t>Cluster analysis and factor analysis</a:t>
            </a:r>
            <a:endParaRPr lang="en-US" sz="950" dirty="0"/>
          </a:p>
        </p:txBody>
      </p:sp>
      <p:sp>
        <p:nvSpPr>
          <p:cNvPr id="52" name="Text 50"/>
          <p:cNvSpPr/>
          <p:nvPr/>
        </p:nvSpPr>
        <p:spPr>
          <a:xfrm>
            <a:off x="256032" y="5138928"/>
            <a:ext cx="8631936" cy="320040"/>
          </a:xfrm>
          <a:prstGeom prst="rect">
            <a:avLst/>
          </a:prstGeom>
          <a:noFill/>
          <a:ln/>
        </p:spPr>
        <p:txBody>
          <a:bodyPr wrap="square" lIns="0" tIns="0" rIns="0" bIns="0" rtlCol="0" anchor="ctr"/>
          <a:lstStyle/>
          <a:p>
            <a:pPr algn="ctr" indent="0" marL="0">
              <a:buNone/>
            </a:pPr>
            <a:r>
              <a:rPr lang="en-US" sz="1050" i="1" dirty="0">
                <a:solidFill>
                  <a:srgbClr val="2C3E50"/>
                </a:solidFill>
                <a:latin typeface="Calibri" pitchFamily="34" charset="0"/>
                <a:ea typeface="Calibri" pitchFamily="34" charset="-122"/>
                <a:cs typeface="Calibri" pitchFamily="34" charset="-120"/>
              </a:rPr>
              <a:t>Everything in Module 1 is foundational to every module that follows. Research design determines SPSS procedures. Measurement levels determine valid statistical tests. Well-designed data collection produces reliable data to analyse.</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1645920" y="-1645920"/>
            <a:ext cx="5486400" cy="5486400"/>
          </a:xfrm>
          <a:prstGeom prst="ellipse">
            <a:avLst/>
          </a:prstGeom>
          <a:solidFill>
            <a:srgbClr val="1B5CA0">
              <a:alpha val="18000"/>
            </a:srgbClr>
          </a:solidFill>
          <a:ln w="12700">
            <a:solidFill>
              <a:srgbClr val="1B5CA0"/>
            </a:solidFill>
            <a:prstDash val="solid"/>
          </a:ln>
        </p:spPr>
      </p:sp>
      <p:sp>
        <p:nvSpPr>
          <p:cNvPr id="3" name="Shape 1"/>
          <p:cNvSpPr/>
          <p:nvPr/>
        </p:nvSpPr>
        <p:spPr>
          <a:xfrm>
            <a:off x="6400800" y="2560320"/>
            <a:ext cx="4572000" cy="4572000"/>
          </a:xfrm>
          <a:prstGeom prst="ellipse">
            <a:avLst/>
          </a:prstGeom>
          <a:solidFill>
            <a:srgbClr val="D4A017">
              <a:alpha val="12000"/>
            </a:srgbClr>
          </a:solidFill>
          <a:ln w="12700">
            <a:solidFill>
              <a:srgbClr val="D4A017"/>
            </a:solidFill>
            <a:prstDash val="solid"/>
          </a:ln>
        </p:spPr>
      </p:sp>
      <p:sp>
        <p:nvSpPr>
          <p:cNvPr id="4" name="Shape 2"/>
          <p:cNvSpPr/>
          <p:nvPr/>
        </p:nvSpPr>
        <p:spPr>
          <a:xfrm>
            <a:off x="3840480" y="-1371600"/>
            <a:ext cx="2286000" cy="2286000"/>
          </a:xfrm>
          <a:prstGeom prst="ellipse">
            <a:avLst/>
          </a:prstGeom>
          <a:solidFill>
            <a:srgbClr val="2E86C1">
              <a:alpha val="10000"/>
            </a:srgbClr>
          </a:solidFill>
          <a:ln w="12700">
            <a:solidFill>
              <a:srgbClr val="2E86C1"/>
            </a:solidFill>
            <a:prstDash val="solid"/>
          </a:ln>
        </p:spPr>
      </p:sp>
      <p:sp>
        <p:nvSpPr>
          <p:cNvPr id="5" name="Text 3"/>
          <p:cNvSpPr/>
          <p:nvPr/>
        </p:nvSpPr>
        <p:spPr>
          <a:xfrm>
            <a:off x="1371600" y="640080"/>
            <a:ext cx="6400800" cy="1097280"/>
          </a:xfrm>
          <a:prstGeom prst="rect">
            <a:avLst/>
          </a:prstGeom>
          <a:noFill/>
          <a:ln/>
        </p:spPr>
        <p:txBody>
          <a:bodyPr wrap="square" lIns="0" tIns="0" rIns="0" bIns="0" rtlCol="0" anchor="ctr"/>
          <a:lstStyle/>
          <a:p>
            <a:pPr algn="ctr" indent="0" marL="0">
              <a:buNone/>
            </a:pPr>
            <a:r>
              <a:rPr lang="en-US" sz="2600" b="1" i="1" dirty="0">
                <a:solidFill>
                  <a:srgbClr val="FFFFFF"/>
                </a:solidFill>
                <a:latin typeface="Cambria" pitchFamily="34" charset="0"/>
                <a:ea typeface="Cambria" pitchFamily="34" charset="-122"/>
                <a:cs typeface="Cambria" pitchFamily="34" charset="-120"/>
              </a:rPr>
              <a:t>"In God we trust.</a:t>
            </a:r>
            <a:endParaRPr lang="en-US" sz="2600" dirty="0"/>
          </a:p>
          <a:p>
            <a:pPr algn="ctr" indent="0" marL="0">
              <a:buNone/>
            </a:pPr>
            <a:r>
              <a:rPr lang="en-US" sz="2600" b="1" i="1" dirty="0">
                <a:solidFill>
                  <a:srgbClr val="FFFFFF"/>
                </a:solidFill>
                <a:latin typeface="Cambria" pitchFamily="34" charset="0"/>
                <a:ea typeface="Cambria" pitchFamily="34" charset="-122"/>
                <a:cs typeface="Cambria" pitchFamily="34" charset="-120"/>
              </a:rPr>
              <a:t>All others must bring data."</a:t>
            </a:r>
            <a:endParaRPr lang="en-US" sz="2600" dirty="0"/>
          </a:p>
        </p:txBody>
      </p:sp>
      <p:sp>
        <p:nvSpPr>
          <p:cNvPr id="6" name="Text 4"/>
          <p:cNvSpPr/>
          <p:nvPr/>
        </p:nvSpPr>
        <p:spPr>
          <a:xfrm>
            <a:off x="1371600" y="1828800"/>
            <a:ext cx="6400800" cy="347472"/>
          </a:xfrm>
          <a:prstGeom prst="rect">
            <a:avLst/>
          </a:prstGeom>
          <a:noFill/>
          <a:ln/>
        </p:spPr>
        <p:txBody>
          <a:bodyPr wrap="square" lIns="0" tIns="0" rIns="0" bIns="0" rtlCol="0" anchor="ctr"/>
          <a:lstStyle/>
          <a:p>
            <a:pPr algn="ctr" indent="0" marL="0">
              <a:buNone/>
            </a:pPr>
            <a:r>
              <a:rPr lang="en-US" sz="1300" dirty="0">
                <a:solidFill>
                  <a:srgbClr val="A8C8E8"/>
                </a:solidFill>
                <a:latin typeface="Calibri" pitchFamily="34" charset="0"/>
                <a:ea typeface="Calibri" pitchFamily="34" charset="-122"/>
                <a:cs typeface="Calibri" pitchFamily="34" charset="-120"/>
              </a:rPr>
              <a:t>- W. Edwards Deming</a:t>
            </a:r>
            <a:endParaRPr lang="en-US" sz="1300" dirty="0"/>
          </a:p>
        </p:txBody>
      </p:sp>
      <p:sp>
        <p:nvSpPr>
          <p:cNvPr id="7" name="Shape 5"/>
          <p:cNvSpPr/>
          <p:nvPr/>
        </p:nvSpPr>
        <p:spPr>
          <a:xfrm>
            <a:off x="3200400" y="2304288"/>
            <a:ext cx="2743200" cy="0"/>
          </a:xfrm>
          <a:prstGeom prst="line">
            <a:avLst/>
          </a:prstGeom>
          <a:noFill/>
          <a:ln w="19050">
            <a:solidFill>
              <a:srgbClr val="F0C040"/>
            </a:solidFill>
            <a:prstDash val="solid"/>
          </a:ln>
        </p:spPr>
      </p:sp>
      <p:sp>
        <p:nvSpPr>
          <p:cNvPr id="8" name="Text 6"/>
          <p:cNvSpPr/>
          <p:nvPr/>
        </p:nvSpPr>
        <p:spPr>
          <a:xfrm>
            <a:off x="914400" y="2487168"/>
            <a:ext cx="7315200" cy="777240"/>
          </a:xfrm>
          <a:prstGeom prst="rect">
            <a:avLst/>
          </a:prstGeom>
          <a:noFill/>
          <a:ln/>
        </p:spPr>
        <p:txBody>
          <a:bodyPr wrap="square" lIns="0" tIns="0" rIns="0" bIns="0"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9" name="Text 7"/>
          <p:cNvSpPr/>
          <p:nvPr/>
        </p:nvSpPr>
        <p:spPr>
          <a:xfrm>
            <a:off x="914400" y="3310128"/>
            <a:ext cx="7315200" cy="384048"/>
          </a:xfrm>
          <a:prstGeom prst="rect">
            <a:avLst/>
          </a:prstGeom>
          <a:noFill/>
          <a:ln/>
        </p:spPr>
        <p:txBody>
          <a:bodyPr wrap="square" lIns="0" tIns="0" rIns="0" bIns="0" rtlCol="0" anchor="ctr"/>
          <a:lstStyle/>
          <a:p>
            <a:pPr algn="ctr" indent="0" marL="0">
              <a:buNone/>
            </a:pPr>
            <a:r>
              <a:rPr lang="en-US" sz="1600" dirty="0">
                <a:solidFill>
                  <a:srgbClr val="A8C8E8"/>
                </a:solidFill>
                <a:latin typeface="Calibri" pitchFamily="34" charset="0"/>
                <a:ea typeface="Calibri" pitchFamily="34" charset="-122"/>
                <a:cs typeface="Calibri" pitchFamily="34" charset="-120"/>
              </a:rPr>
              <a:t>Questions  -  Discussion  -  Next Steps</a:t>
            </a:r>
            <a:endParaRPr lang="en-US" sz="1600" dirty="0"/>
          </a:p>
        </p:txBody>
      </p:sp>
      <p:sp>
        <p:nvSpPr>
          <p:cNvPr id="10" name="Shape 8"/>
          <p:cNvSpPr/>
          <p:nvPr/>
        </p:nvSpPr>
        <p:spPr>
          <a:xfrm>
            <a:off x="2834640" y="3858768"/>
            <a:ext cx="3474720" cy="987552"/>
          </a:xfrm>
          <a:prstGeom prst="roundRect">
            <a:avLst>
              <a:gd name="adj" fmla="val 11111"/>
            </a:avLst>
          </a:prstGeom>
          <a:solidFill>
            <a:srgbClr val="1B5CA0">
              <a:alpha val="85000"/>
            </a:srgbClr>
          </a:solidFill>
          <a:ln w="12700">
            <a:solidFill>
              <a:srgbClr val="2E86C1"/>
            </a:solidFill>
            <a:prstDash val="solid"/>
          </a:ln>
        </p:spPr>
      </p:sp>
      <p:sp>
        <p:nvSpPr>
          <p:cNvPr id="11" name="Text 9"/>
          <p:cNvSpPr/>
          <p:nvPr/>
        </p:nvSpPr>
        <p:spPr>
          <a:xfrm>
            <a:off x="2834640" y="3913632"/>
            <a:ext cx="3474720" cy="8778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Kajola Gbenga Adewale</a:t>
            </a:r>
            <a:endParaRPr lang="en-US" sz="1600" dirty="0"/>
          </a:p>
          <a:p>
            <a:pPr algn="ctr" indent="0" marL="0">
              <a:buNone/>
            </a:pPr>
            <a:r>
              <a:rPr lang="en-US" sz="1300" dirty="0">
                <a:solidFill>
                  <a:srgbClr val="F0C040"/>
                </a:solidFill>
                <a:latin typeface="Calibri" pitchFamily="34" charset="0"/>
                <a:ea typeface="Calibri" pitchFamily="34" charset="-122"/>
                <a:cs typeface="Calibri" pitchFamily="34" charset="-120"/>
              </a:rPr>
              <a:t>Data Expert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SPSS Module 1 - Introduction to Research</dc:title>
  <dc:subject>PptxGenJS Presentation</dc:subject>
  <dc:creator>Kajola Gbenga Adewale</dc:creator>
  <cp:lastModifiedBy>Kajola Gbenga Adewale</cp:lastModifiedBy>
  <cp:revision>1</cp:revision>
  <dcterms:created xsi:type="dcterms:W3CDTF">2026-06-27T12:40:55Z</dcterms:created>
  <dcterms:modified xsi:type="dcterms:W3CDTF">2026-06-27T12:40:55Z</dcterms:modified>
</cp:coreProperties>
</file>